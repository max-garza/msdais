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412" r:id="rId2"/>
    <p:sldId id="260" r:id="rId3"/>
    <p:sldId id="362" r:id="rId4"/>
    <p:sldId id="417" r:id="rId5"/>
    <p:sldId id="337" r:id="rId6"/>
    <p:sldId id="339" r:id="rId7"/>
    <p:sldId id="340" r:id="rId8"/>
    <p:sldId id="341" r:id="rId9"/>
    <p:sldId id="342" r:id="rId10"/>
    <p:sldId id="343" r:id="rId11"/>
    <p:sldId id="345" r:id="rId12"/>
    <p:sldId id="346" r:id="rId13"/>
    <p:sldId id="418" r:id="rId14"/>
    <p:sldId id="348" r:id="rId15"/>
    <p:sldId id="349" r:id="rId16"/>
    <p:sldId id="350" r:id="rId17"/>
    <p:sldId id="369" r:id="rId18"/>
    <p:sldId id="351" r:id="rId19"/>
    <p:sldId id="352" r:id="rId20"/>
    <p:sldId id="353" r:id="rId21"/>
    <p:sldId id="354" r:id="rId22"/>
    <p:sldId id="355" r:id="rId23"/>
    <p:sldId id="356" r:id="rId24"/>
    <p:sldId id="357" r:id="rId25"/>
    <p:sldId id="358" r:id="rId26"/>
    <p:sldId id="359" r:id="rId27"/>
    <p:sldId id="360" r:id="rId28"/>
    <p:sldId id="419" r:id="rId29"/>
    <p:sldId id="414" r:id="rId30"/>
    <p:sldId id="363" r:id="rId31"/>
    <p:sldId id="364" r:id="rId32"/>
    <p:sldId id="365" r:id="rId33"/>
    <p:sldId id="415" r:id="rId34"/>
    <p:sldId id="366" r:id="rId35"/>
    <p:sldId id="367" r:id="rId36"/>
    <p:sldId id="399" r:id="rId37"/>
    <p:sldId id="416" r:id="rId38"/>
    <p:sldId id="370" r:id="rId39"/>
    <p:sldId id="371" r:id="rId40"/>
    <p:sldId id="372"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onurdlocal" initials="k" lastIdx="0" clrIdx="0">
    <p:extLst>
      <p:ext uri="{19B8F6BF-5375-455C-9EA6-DF929625EA0E}">
        <p15:presenceInfo xmlns:p15="http://schemas.microsoft.com/office/powerpoint/2012/main" userId="konurdloca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66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588" autoAdjust="0"/>
  </p:normalViewPr>
  <p:slideViewPr>
    <p:cSldViewPr snapToGrid="0">
      <p:cViewPr varScale="1">
        <p:scale>
          <a:sx n="144" d="100"/>
          <a:sy n="144" d="100"/>
        </p:scale>
        <p:origin x="89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ommentAuthors" Target="commentAuthors.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han Konur, Sahika" userId="739a6e03-9a4a-49c6-a350-571b31db94be" providerId="ADAL" clId="{EB98D99F-EB8C-4BB6-B4CD-ECD12417BB92}"/>
    <pc:docChg chg="custSel modSld">
      <pc:chgData name="Sahan Konur, Sahika" userId="739a6e03-9a4a-49c6-a350-571b31db94be" providerId="ADAL" clId="{EB98D99F-EB8C-4BB6-B4CD-ECD12417BB92}" dt="2024-03-29T21:16:49.511" v="21" actId="404"/>
      <pc:docMkLst>
        <pc:docMk/>
      </pc:docMkLst>
      <pc:sldChg chg="delSp modSp mod">
        <pc:chgData name="Sahan Konur, Sahika" userId="739a6e03-9a4a-49c6-a350-571b31db94be" providerId="ADAL" clId="{EB98D99F-EB8C-4BB6-B4CD-ECD12417BB92}" dt="2024-03-29T21:16:49.511" v="21" actId="404"/>
        <pc:sldMkLst>
          <pc:docMk/>
          <pc:sldMk cId="2532952277" sldId="412"/>
        </pc:sldMkLst>
        <pc:spChg chg="mod">
          <ac:chgData name="Sahan Konur, Sahika" userId="739a6e03-9a4a-49c6-a350-571b31db94be" providerId="ADAL" clId="{EB98D99F-EB8C-4BB6-B4CD-ECD12417BB92}" dt="2024-03-29T21:16:49.511" v="21" actId="404"/>
          <ac:spMkLst>
            <pc:docMk/>
            <pc:sldMk cId="2532952277" sldId="412"/>
            <ac:spMk id="2" creationId="{00000000-0000-0000-0000-000000000000}"/>
          </ac:spMkLst>
        </pc:spChg>
        <pc:spChg chg="del">
          <ac:chgData name="Sahan Konur, Sahika" userId="739a6e03-9a4a-49c6-a350-571b31db94be" providerId="ADAL" clId="{EB98D99F-EB8C-4BB6-B4CD-ECD12417BB92}" dt="2024-03-29T21:15:50.224" v="0" actId="478"/>
          <ac:spMkLst>
            <pc:docMk/>
            <pc:sldMk cId="2532952277" sldId="412"/>
            <ac:spMk id="3" creationId="{00000000-0000-0000-0000-000000000000}"/>
          </ac:spMkLst>
        </pc:spChg>
      </pc:sldChg>
    </pc:docChg>
  </pc:docChgLst>
  <pc:docChgLst>
    <pc:chgData name="dincerkonur@yahoo.com" userId="0cb337efb386619d" providerId="LiveId" clId="{8861806D-F7E8-4E44-A038-AAC51D284870}"/>
    <pc:docChg chg="undo custSel addSld delSld modSld">
      <pc:chgData name="dincerkonur@yahoo.com" userId="0cb337efb386619d" providerId="LiveId" clId="{8861806D-F7E8-4E44-A038-AAC51D284870}" dt="2019-03-19T20:02:27.801" v="3721" actId="20577"/>
      <pc:docMkLst>
        <pc:docMk/>
      </pc:docMkLst>
      <pc:sldChg chg="modSp">
        <pc:chgData name="dincerkonur@yahoo.com" userId="0cb337efb386619d" providerId="LiveId" clId="{8861806D-F7E8-4E44-A038-AAC51D284870}" dt="2019-03-19T13:45:15.038" v="21" actId="20577"/>
        <pc:sldMkLst>
          <pc:docMk/>
          <pc:sldMk cId="2541942282" sldId="256"/>
        </pc:sldMkLst>
        <pc:spChg chg="mod">
          <ac:chgData name="dincerkonur@yahoo.com" userId="0cb337efb386619d" providerId="LiveId" clId="{8861806D-F7E8-4E44-A038-AAC51D284870}" dt="2019-03-19T13:45:15.038" v="21" actId="20577"/>
          <ac:spMkLst>
            <pc:docMk/>
            <pc:sldMk cId="2541942282" sldId="256"/>
            <ac:spMk id="2" creationId="{00000000-0000-0000-0000-000000000000}"/>
          </ac:spMkLst>
        </pc:spChg>
      </pc:sldChg>
      <pc:sldChg chg="modSp">
        <pc:chgData name="dincerkonur@yahoo.com" userId="0cb337efb386619d" providerId="LiveId" clId="{8861806D-F7E8-4E44-A038-AAC51D284870}" dt="2019-03-19T14:48:09.777" v="247" actId="20577"/>
        <pc:sldMkLst>
          <pc:docMk/>
          <pc:sldMk cId="2474569206" sldId="260"/>
        </pc:sldMkLst>
        <pc:spChg chg="mod">
          <ac:chgData name="dincerkonur@yahoo.com" userId="0cb337efb386619d" providerId="LiveId" clId="{8861806D-F7E8-4E44-A038-AAC51D284870}" dt="2019-03-19T14:48:09.777" v="247" actId="20577"/>
          <ac:spMkLst>
            <pc:docMk/>
            <pc:sldMk cId="2474569206" sldId="260"/>
            <ac:spMk id="3" creationId="{00000000-0000-0000-0000-000000000000}"/>
          </ac:spMkLst>
        </pc:spChg>
      </pc:sldChg>
      <pc:sldChg chg="addSp delSp modSp">
        <pc:chgData name="dincerkonur@yahoo.com" userId="0cb337efb386619d" providerId="LiveId" clId="{8861806D-F7E8-4E44-A038-AAC51D284870}" dt="2019-03-19T14:59:26.182" v="574" actId="478"/>
        <pc:sldMkLst>
          <pc:docMk/>
          <pc:sldMk cId="914106071" sldId="337"/>
        </pc:sldMkLst>
        <pc:spChg chg="mod">
          <ac:chgData name="dincerkonur@yahoo.com" userId="0cb337efb386619d" providerId="LiveId" clId="{8861806D-F7E8-4E44-A038-AAC51D284870}" dt="2019-03-19T14:50:52.790" v="255"/>
          <ac:spMkLst>
            <pc:docMk/>
            <pc:sldMk cId="914106071" sldId="337"/>
            <ac:spMk id="2" creationId="{00000000-0000-0000-0000-000000000000}"/>
          </ac:spMkLst>
        </pc:spChg>
        <pc:spChg chg="mod">
          <ac:chgData name="dincerkonur@yahoo.com" userId="0cb337efb386619d" providerId="LiveId" clId="{8861806D-F7E8-4E44-A038-AAC51D284870}" dt="2019-03-19T14:53:29.291" v="329" actId="20577"/>
          <ac:spMkLst>
            <pc:docMk/>
            <pc:sldMk cId="914106071" sldId="337"/>
            <ac:spMk id="3" creationId="{00000000-0000-0000-0000-000000000000}"/>
          </ac:spMkLst>
        </pc:spChg>
        <pc:spChg chg="add mod">
          <ac:chgData name="dincerkonur@yahoo.com" userId="0cb337efb386619d" providerId="LiveId" clId="{8861806D-F7E8-4E44-A038-AAC51D284870}" dt="2019-03-19T14:55:19.354" v="423" actId="1076"/>
          <ac:spMkLst>
            <pc:docMk/>
            <pc:sldMk cId="914106071" sldId="337"/>
            <ac:spMk id="5" creationId="{3D174346-2B56-441C-B46C-AD85AEEB122D}"/>
          </ac:spMkLst>
        </pc:spChg>
        <pc:picChg chg="add mod">
          <ac:chgData name="dincerkonur@yahoo.com" userId="0cb337efb386619d" providerId="LiveId" clId="{8861806D-F7E8-4E44-A038-AAC51D284870}" dt="2019-03-19T14:55:02.176" v="375" actId="1076"/>
          <ac:picMkLst>
            <pc:docMk/>
            <pc:sldMk cId="914106071" sldId="337"/>
            <ac:picMk id="4" creationId="{6E1EA4DB-02D3-48DE-9DF9-E50DECC12DA8}"/>
          </ac:picMkLst>
        </pc:picChg>
        <pc:picChg chg="add del mod">
          <ac:chgData name="dincerkonur@yahoo.com" userId="0cb337efb386619d" providerId="LiveId" clId="{8861806D-F7E8-4E44-A038-AAC51D284870}" dt="2019-03-19T14:59:26.182" v="574" actId="478"/>
          <ac:picMkLst>
            <pc:docMk/>
            <pc:sldMk cId="914106071" sldId="337"/>
            <ac:picMk id="6" creationId="{0B36D863-6317-4528-9BBB-F64B3C6E9223}"/>
          </ac:picMkLst>
        </pc:picChg>
      </pc:sldChg>
      <pc:sldChg chg="modSp add">
        <pc:chgData name="dincerkonur@yahoo.com" userId="0cb337efb386619d" providerId="LiveId" clId="{8861806D-F7E8-4E44-A038-AAC51D284870}" dt="2019-03-19T14:49:12.038" v="251" actId="207"/>
        <pc:sldMkLst>
          <pc:docMk/>
          <pc:sldMk cId="2935975640" sldId="338"/>
        </pc:sldMkLst>
        <pc:spChg chg="mod">
          <ac:chgData name="dincerkonur@yahoo.com" userId="0cb337efb386619d" providerId="LiveId" clId="{8861806D-F7E8-4E44-A038-AAC51D284870}" dt="2019-03-19T14:49:12.038" v="251" actId="207"/>
          <ac:spMkLst>
            <pc:docMk/>
            <pc:sldMk cId="2935975640" sldId="338"/>
            <ac:spMk id="3" creationId="{00000000-0000-0000-0000-000000000000}"/>
          </ac:spMkLst>
        </pc:spChg>
      </pc:sldChg>
      <pc:sldChg chg="addSp delSp modSp add">
        <pc:chgData name="dincerkonur@yahoo.com" userId="0cb337efb386619d" providerId="LiveId" clId="{8861806D-F7E8-4E44-A038-AAC51D284870}" dt="2019-03-19T14:59:15.174" v="573" actId="20577"/>
        <pc:sldMkLst>
          <pc:docMk/>
          <pc:sldMk cId="4041807127" sldId="339"/>
        </pc:sldMkLst>
        <pc:spChg chg="mod">
          <ac:chgData name="dincerkonur@yahoo.com" userId="0cb337efb386619d" providerId="LiveId" clId="{8861806D-F7E8-4E44-A038-AAC51D284870}" dt="2019-03-19T14:59:15.174" v="573" actId="20577"/>
          <ac:spMkLst>
            <pc:docMk/>
            <pc:sldMk cId="4041807127" sldId="339"/>
            <ac:spMk id="3" creationId="{00000000-0000-0000-0000-000000000000}"/>
          </ac:spMkLst>
        </pc:spChg>
        <pc:spChg chg="del">
          <ac:chgData name="dincerkonur@yahoo.com" userId="0cb337efb386619d" providerId="LiveId" clId="{8861806D-F7E8-4E44-A038-AAC51D284870}" dt="2019-03-19T14:56:05.394" v="442" actId="478"/>
          <ac:spMkLst>
            <pc:docMk/>
            <pc:sldMk cId="4041807127" sldId="339"/>
            <ac:spMk id="5" creationId="{3D174346-2B56-441C-B46C-AD85AEEB122D}"/>
          </ac:spMkLst>
        </pc:spChg>
        <pc:picChg chg="del">
          <ac:chgData name="dincerkonur@yahoo.com" userId="0cb337efb386619d" providerId="LiveId" clId="{8861806D-F7E8-4E44-A038-AAC51D284870}" dt="2019-03-19T14:55:56.026" v="427" actId="478"/>
          <ac:picMkLst>
            <pc:docMk/>
            <pc:sldMk cId="4041807127" sldId="339"/>
            <ac:picMk id="4" creationId="{6E1EA4DB-02D3-48DE-9DF9-E50DECC12DA8}"/>
          </ac:picMkLst>
        </pc:picChg>
        <pc:picChg chg="mod">
          <ac:chgData name="dincerkonur@yahoo.com" userId="0cb337efb386619d" providerId="LiveId" clId="{8861806D-F7E8-4E44-A038-AAC51D284870}" dt="2019-03-19T14:56:08.590" v="443" actId="1076"/>
          <ac:picMkLst>
            <pc:docMk/>
            <pc:sldMk cId="4041807127" sldId="339"/>
            <ac:picMk id="6" creationId="{0B36D863-6317-4528-9BBB-F64B3C6E9223}"/>
          </ac:picMkLst>
        </pc:picChg>
        <pc:picChg chg="add mod">
          <ac:chgData name="dincerkonur@yahoo.com" userId="0cb337efb386619d" providerId="LiveId" clId="{8861806D-F7E8-4E44-A038-AAC51D284870}" dt="2019-03-19T14:59:03.198" v="534" actId="1076"/>
          <ac:picMkLst>
            <pc:docMk/>
            <pc:sldMk cId="4041807127" sldId="339"/>
            <ac:picMk id="7" creationId="{66651059-A100-4730-86A4-BC4E2567F004}"/>
          </ac:picMkLst>
        </pc:picChg>
      </pc:sldChg>
      <pc:sldChg chg="add del">
        <pc:chgData name="dincerkonur@yahoo.com" userId="0cb337efb386619d" providerId="LiveId" clId="{8861806D-F7E8-4E44-A038-AAC51D284870}" dt="2019-03-19T14:57:01.931" v="450"/>
        <pc:sldMkLst>
          <pc:docMk/>
          <pc:sldMk cId="340418543" sldId="340"/>
        </pc:sldMkLst>
      </pc:sldChg>
      <pc:sldChg chg="addSp delSp modSp add modAnim">
        <pc:chgData name="dincerkonur@yahoo.com" userId="0cb337efb386619d" providerId="LiveId" clId="{8861806D-F7E8-4E44-A038-AAC51D284870}" dt="2019-03-19T19:41:12.553" v="3501" actId="478"/>
        <pc:sldMkLst>
          <pc:docMk/>
          <pc:sldMk cId="2763602132" sldId="340"/>
        </pc:sldMkLst>
        <pc:spChg chg="mod">
          <ac:chgData name="dincerkonur@yahoo.com" userId="0cb337efb386619d" providerId="LiveId" clId="{8861806D-F7E8-4E44-A038-AAC51D284870}" dt="2019-03-19T15:10:34.873" v="617"/>
          <ac:spMkLst>
            <pc:docMk/>
            <pc:sldMk cId="2763602132" sldId="340"/>
            <ac:spMk id="3" creationId="{00000000-0000-0000-0000-000000000000}"/>
          </ac:spMkLst>
        </pc:spChg>
        <pc:spChg chg="add mod">
          <ac:chgData name="dincerkonur@yahoo.com" userId="0cb337efb386619d" providerId="LiveId" clId="{8861806D-F7E8-4E44-A038-AAC51D284870}" dt="2019-03-19T15:11:18.475" v="626" actId="1076"/>
          <ac:spMkLst>
            <pc:docMk/>
            <pc:sldMk cId="2763602132" sldId="340"/>
            <ac:spMk id="5" creationId="{087ABA19-A68F-4B9D-950C-EB11EFF0069F}"/>
          </ac:spMkLst>
        </pc:spChg>
        <pc:spChg chg="add del mod">
          <ac:chgData name="dincerkonur@yahoo.com" userId="0cb337efb386619d" providerId="LiveId" clId="{8861806D-F7E8-4E44-A038-AAC51D284870}" dt="2019-03-19T19:41:12.553" v="3501" actId="478"/>
          <ac:spMkLst>
            <pc:docMk/>
            <pc:sldMk cId="2763602132" sldId="340"/>
            <ac:spMk id="8" creationId="{DE5EAA26-CF5D-40FA-B458-87271B20B87D}"/>
          </ac:spMkLst>
        </pc:spChg>
        <pc:spChg chg="add mod">
          <ac:chgData name="dincerkonur@yahoo.com" userId="0cb337efb386619d" providerId="LiveId" clId="{8861806D-F7E8-4E44-A038-AAC51D284870}" dt="2019-03-19T15:11:18.475" v="626" actId="1076"/>
          <ac:spMkLst>
            <pc:docMk/>
            <pc:sldMk cId="2763602132" sldId="340"/>
            <ac:spMk id="21" creationId="{C58BF8A3-B6D6-4EC0-8297-EDE09CA3763E}"/>
          </ac:spMkLst>
        </pc:spChg>
        <pc:spChg chg="add mod">
          <ac:chgData name="dincerkonur@yahoo.com" userId="0cb337efb386619d" providerId="LiveId" clId="{8861806D-F7E8-4E44-A038-AAC51D284870}" dt="2019-03-19T15:11:18.475" v="626" actId="1076"/>
          <ac:spMkLst>
            <pc:docMk/>
            <pc:sldMk cId="2763602132" sldId="340"/>
            <ac:spMk id="23" creationId="{9E3B5A81-5397-4D44-BB9C-59546CC8607B}"/>
          </ac:spMkLst>
        </pc:spChg>
        <pc:spChg chg="add mod">
          <ac:chgData name="dincerkonur@yahoo.com" userId="0cb337efb386619d" providerId="LiveId" clId="{8861806D-F7E8-4E44-A038-AAC51D284870}" dt="2019-03-19T15:13:39.485" v="653" actId="1076"/>
          <ac:spMkLst>
            <pc:docMk/>
            <pc:sldMk cId="2763602132" sldId="340"/>
            <ac:spMk id="25" creationId="{43463FB5-21D2-4D88-AF74-34FF898A3204}"/>
          </ac:spMkLst>
        </pc:spChg>
        <pc:spChg chg="add mod">
          <ac:chgData name="dincerkonur@yahoo.com" userId="0cb337efb386619d" providerId="LiveId" clId="{8861806D-F7E8-4E44-A038-AAC51D284870}" dt="2019-03-19T15:12:31.527" v="639" actId="1076"/>
          <ac:spMkLst>
            <pc:docMk/>
            <pc:sldMk cId="2763602132" sldId="340"/>
            <ac:spMk id="28" creationId="{B7C36552-0A30-4B49-963B-D92E1C90CB71}"/>
          </ac:spMkLst>
        </pc:spChg>
        <pc:spChg chg="add mod">
          <ac:chgData name="dincerkonur@yahoo.com" userId="0cb337efb386619d" providerId="LiveId" clId="{8861806D-F7E8-4E44-A038-AAC51D284870}" dt="2019-03-19T15:12:45.669" v="645" actId="1076"/>
          <ac:spMkLst>
            <pc:docMk/>
            <pc:sldMk cId="2763602132" sldId="340"/>
            <ac:spMk id="31" creationId="{4A3606B9-5872-49AC-91C3-82B7403117FB}"/>
          </ac:spMkLst>
        </pc:spChg>
        <pc:spChg chg="add mod">
          <ac:chgData name="dincerkonur@yahoo.com" userId="0cb337efb386619d" providerId="LiveId" clId="{8861806D-F7E8-4E44-A038-AAC51D284870}" dt="2019-03-19T15:13:35.791" v="652" actId="14100"/>
          <ac:spMkLst>
            <pc:docMk/>
            <pc:sldMk cId="2763602132" sldId="340"/>
            <ac:spMk id="32" creationId="{6F778D77-F097-492E-A0EE-A757C8843075}"/>
          </ac:spMkLst>
        </pc:spChg>
        <pc:spChg chg="add mod">
          <ac:chgData name="dincerkonur@yahoo.com" userId="0cb337efb386619d" providerId="LiveId" clId="{8861806D-F7E8-4E44-A038-AAC51D284870}" dt="2019-03-19T15:13:53.496" v="657" actId="1076"/>
          <ac:spMkLst>
            <pc:docMk/>
            <pc:sldMk cId="2763602132" sldId="340"/>
            <ac:spMk id="33" creationId="{25E80DAF-1B5C-4592-8F50-2D00B3ACF258}"/>
          </ac:spMkLst>
        </pc:spChg>
        <pc:spChg chg="add mod">
          <ac:chgData name="dincerkonur@yahoo.com" userId="0cb337efb386619d" providerId="LiveId" clId="{8861806D-F7E8-4E44-A038-AAC51D284870}" dt="2019-03-19T15:14:07.692" v="664" actId="1076"/>
          <ac:spMkLst>
            <pc:docMk/>
            <pc:sldMk cId="2763602132" sldId="340"/>
            <ac:spMk id="34" creationId="{55ABB50F-7DF3-4D7C-AF3D-FB2641769BDD}"/>
          </ac:spMkLst>
        </pc:spChg>
        <pc:spChg chg="add mod">
          <ac:chgData name="dincerkonur@yahoo.com" userId="0cb337efb386619d" providerId="LiveId" clId="{8861806D-F7E8-4E44-A038-AAC51D284870}" dt="2019-03-19T15:14:38.607" v="673" actId="208"/>
          <ac:spMkLst>
            <pc:docMk/>
            <pc:sldMk cId="2763602132" sldId="340"/>
            <ac:spMk id="35" creationId="{DB9794B1-638F-4B5B-A2D7-4E3F43793B38}"/>
          </ac:spMkLst>
        </pc:spChg>
        <pc:picChg chg="del">
          <ac:chgData name="dincerkonur@yahoo.com" userId="0cb337efb386619d" providerId="LiveId" clId="{8861806D-F7E8-4E44-A038-AAC51D284870}" dt="2019-03-19T15:01:23.347" v="578" actId="478"/>
          <ac:picMkLst>
            <pc:docMk/>
            <pc:sldMk cId="2763602132" sldId="340"/>
            <ac:picMk id="6" creationId="{0B36D863-6317-4528-9BBB-F64B3C6E9223}"/>
          </ac:picMkLst>
        </pc:picChg>
        <pc:picChg chg="del">
          <ac:chgData name="dincerkonur@yahoo.com" userId="0cb337efb386619d" providerId="LiveId" clId="{8861806D-F7E8-4E44-A038-AAC51D284870}" dt="2019-03-19T15:01:20.833" v="576" actId="478"/>
          <ac:picMkLst>
            <pc:docMk/>
            <pc:sldMk cId="2763602132" sldId="340"/>
            <ac:picMk id="7" creationId="{66651059-A100-4730-86A4-BC4E2567F004}"/>
          </ac:picMkLst>
        </pc:picChg>
        <pc:picChg chg="add mod">
          <ac:chgData name="dincerkonur@yahoo.com" userId="0cb337efb386619d" providerId="LiveId" clId="{8861806D-F7E8-4E44-A038-AAC51D284870}" dt="2019-03-19T15:14:29.577" v="671" actId="1076"/>
          <ac:picMkLst>
            <pc:docMk/>
            <pc:sldMk cId="2763602132" sldId="340"/>
            <ac:picMk id="9" creationId="{88DE508F-7831-4C54-88EB-F1A8030E6B9F}"/>
          </ac:picMkLst>
        </pc:picChg>
        <pc:cxnChg chg="add mod">
          <ac:chgData name="dincerkonur@yahoo.com" userId="0cb337efb386619d" providerId="LiveId" clId="{8861806D-F7E8-4E44-A038-AAC51D284870}" dt="2019-03-19T15:11:18.475" v="626" actId="1076"/>
          <ac:cxnSpMkLst>
            <pc:docMk/>
            <pc:sldMk cId="2763602132" sldId="340"/>
            <ac:cxnSpMk id="10" creationId="{E330EC53-2AB7-4DFB-8097-336012FB92D5}"/>
          </ac:cxnSpMkLst>
        </pc:cxnChg>
        <pc:cxnChg chg="add mod">
          <ac:chgData name="dincerkonur@yahoo.com" userId="0cb337efb386619d" providerId="LiveId" clId="{8861806D-F7E8-4E44-A038-AAC51D284870}" dt="2019-03-19T15:11:18.475" v="626" actId="1076"/>
          <ac:cxnSpMkLst>
            <pc:docMk/>
            <pc:sldMk cId="2763602132" sldId="340"/>
            <ac:cxnSpMk id="11" creationId="{0FB77AAA-FA31-40BA-B241-33C30B8A32B1}"/>
          </ac:cxnSpMkLst>
        </pc:cxnChg>
        <pc:cxnChg chg="add mod">
          <ac:chgData name="dincerkonur@yahoo.com" userId="0cb337efb386619d" providerId="LiveId" clId="{8861806D-F7E8-4E44-A038-AAC51D284870}" dt="2019-03-19T15:11:18.475" v="626" actId="1076"/>
          <ac:cxnSpMkLst>
            <pc:docMk/>
            <pc:sldMk cId="2763602132" sldId="340"/>
            <ac:cxnSpMk id="12" creationId="{36E24FEF-9BCA-4CFC-9C57-7385C07CCAFB}"/>
          </ac:cxnSpMkLst>
        </pc:cxnChg>
        <pc:cxnChg chg="add del mod">
          <ac:chgData name="dincerkonur@yahoo.com" userId="0cb337efb386619d" providerId="LiveId" clId="{8861806D-F7E8-4E44-A038-AAC51D284870}" dt="2019-03-19T15:12:57.214" v="646" actId="478"/>
          <ac:cxnSpMkLst>
            <pc:docMk/>
            <pc:sldMk cId="2763602132" sldId="340"/>
            <ac:cxnSpMk id="13" creationId="{62A64ED6-080D-4DB3-9C3C-9943F0BD2239}"/>
          </ac:cxnSpMkLst>
        </pc:cxnChg>
        <pc:cxnChg chg="add mod">
          <ac:chgData name="dincerkonur@yahoo.com" userId="0cb337efb386619d" providerId="LiveId" clId="{8861806D-F7E8-4E44-A038-AAC51D284870}" dt="2019-03-19T15:12:25.260" v="636" actId="14100"/>
          <ac:cxnSpMkLst>
            <pc:docMk/>
            <pc:sldMk cId="2763602132" sldId="340"/>
            <ac:cxnSpMk id="14" creationId="{A44441D8-F0FF-4553-ACF9-6DA906DC06F2}"/>
          </ac:cxnSpMkLst>
        </pc:cxnChg>
        <pc:cxnChg chg="add mod">
          <ac:chgData name="dincerkonur@yahoo.com" userId="0cb337efb386619d" providerId="LiveId" clId="{8861806D-F7E8-4E44-A038-AAC51D284870}" dt="2019-03-19T15:12:38.674" v="642" actId="14100"/>
          <ac:cxnSpMkLst>
            <pc:docMk/>
            <pc:sldMk cId="2763602132" sldId="340"/>
            <ac:cxnSpMk id="15" creationId="{9C034DA1-DBB9-4AD8-8E36-BF94A82C1D49}"/>
          </ac:cxnSpMkLst>
        </pc:cxnChg>
        <pc:cxnChg chg="add del mod">
          <ac:chgData name="dincerkonur@yahoo.com" userId="0cb337efb386619d" providerId="LiveId" clId="{8861806D-F7E8-4E44-A038-AAC51D284870}" dt="2019-03-19T15:14:11.474" v="667" actId="478"/>
          <ac:cxnSpMkLst>
            <pc:docMk/>
            <pc:sldMk cId="2763602132" sldId="340"/>
            <ac:cxnSpMk id="16" creationId="{683840AA-A5B8-443D-9107-06BBFCAEBF88}"/>
          </ac:cxnSpMkLst>
        </pc:cxnChg>
        <pc:cxnChg chg="add del mod">
          <ac:chgData name="dincerkonur@yahoo.com" userId="0cb337efb386619d" providerId="LiveId" clId="{8861806D-F7E8-4E44-A038-AAC51D284870}" dt="2019-03-19T15:14:10.432" v="666" actId="478"/>
          <ac:cxnSpMkLst>
            <pc:docMk/>
            <pc:sldMk cId="2763602132" sldId="340"/>
            <ac:cxnSpMk id="17" creationId="{6ECE3C9C-3A4E-4140-B515-E60492B5AD88}"/>
          </ac:cxnSpMkLst>
        </pc:cxnChg>
      </pc:sldChg>
      <pc:sldChg chg="addSp delSp modSp add modAnim">
        <pc:chgData name="dincerkonur@yahoo.com" userId="0cb337efb386619d" providerId="LiveId" clId="{8861806D-F7E8-4E44-A038-AAC51D284870}" dt="2019-03-19T15:18:14.831" v="710" actId="14100"/>
        <pc:sldMkLst>
          <pc:docMk/>
          <pc:sldMk cId="1014707443" sldId="341"/>
        </pc:sldMkLst>
        <pc:spChg chg="mod">
          <ac:chgData name="dincerkonur@yahoo.com" userId="0cb337efb386619d" providerId="LiveId" clId="{8861806D-F7E8-4E44-A038-AAC51D284870}" dt="2019-03-19T15:16:41.955" v="695" actId="20577"/>
          <ac:spMkLst>
            <pc:docMk/>
            <pc:sldMk cId="1014707443" sldId="341"/>
            <ac:spMk id="3" creationId="{00000000-0000-0000-0000-000000000000}"/>
          </ac:spMkLst>
        </pc:spChg>
        <pc:spChg chg="del">
          <ac:chgData name="dincerkonur@yahoo.com" userId="0cb337efb386619d" providerId="LiveId" clId="{8861806D-F7E8-4E44-A038-AAC51D284870}" dt="2019-03-19T15:15:59.279" v="676" actId="478"/>
          <ac:spMkLst>
            <pc:docMk/>
            <pc:sldMk cId="1014707443" sldId="341"/>
            <ac:spMk id="5" creationId="{3D174346-2B56-441C-B46C-AD85AEEB122D}"/>
          </ac:spMkLst>
        </pc:spChg>
        <pc:spChg chg="add mod">
          <ac:chgData name="dincerkonur@yahoo.com" userId="0cb337efb386619d" providerId="LiveId" clId="{8861806D-F7E8-4E44-A038-AAC51D284870}" dt="2019-03-19T15:18:14.831" v="710" actId="14100"/>
          <ac:spMkLst>
            <pc:docMk/>
            <pc:sldMk cId="1014707443" sldId="341"/>
            <ac:spMk id="6" creationId="{44B0EFC1-EF21-456A-9CEE-0CAC99E74AA1}"/>
          </ac:spMkLst>
        </pc:spChg>
        <pc:spChg chg="add mod">
          <ac:chgData name="dincerkonur@yahoo.com" userId="0cb337efb386619d" providerId="LiveId" clId="{8861806D-F7E8-4E44-A038-AAC51D284870}" dt="2019-03-19T15:18:00.291" v="708" actId="14100"/>
          <ac:spMkLst>
            <pc:docMk/>
            <pc:sldMk cId="1014707443" sldId="341"/>
            <ac:spMk id="7" creationId="{C46897E6-687D-4A6A-9966-2D24BC494208}"/>
          </ac:spMkLst>
        </pc:spChg>
        <pc:spChg chg="add mod">
          <ac:chgData name="dincerkonur@yahoo.com" userId="0cb337efb386619d" providerId="LiveId" clId="{8861806D-F7E8-4E44-A038-AAC51D284870}" dt="2019-03-19T15:17:54.682" v="707" actId="14100"/>
          <ac:spMkLst>
            <pc:docMk/>
            <pc:sldMk cId="1014707443" sldId="341"/>
            <ac:spMk id="8" creationId="{91E88755-C9B1-4DEB-8F4D-B22FBF8CE28E}"/>
          </ac:spMkLst>
        </pc:spChg>
        <pc:graphicFrameChg chg="add mod modGraphic">
          <ac:chgData name="dincerkonur@yahoo.com" userId="0cb337efb386619d" providerId="LiveId" clId="{8861806D-F7E8-4E44-A038-AAC51D284870}" dt="2019-03-19T15:17:44.937" v="705" actId="1076"/>
          <ac:graphicFrameMkLst>
            <pc:docMk/>
            <pc:sldMk cId="1014707443" sldId="341"/>
            <ac:graphicFrameMk id="9" creationId="{8443693C-8E7B-4147-B08D-2D74F075E2AB}"/>
          </ac:graphicFrameMkLst>
        </pc:graphicFrameChg>
        <pc:picChg chg="del">
          <ac:chgData name="dincerkonur@yahoo.com" userId="0cb337efb386619d" providerId="LiveId" clId="{8861806D-F7E8-4E44-A038-AAC51D284870}" dt="2019-03-19T15:15:57.112" v="675" actId="478"/>
          <ac:picMkLst>
            <pc:docMk/>
            <pc:sldMk cId="1014707443" sldId="341"/>
            <ac:picMk id="4" creationId="{6E1EA4DB-02D3-48DE-9DF9-E50DECC12DA8}"/>
          </ac:picMkLst>
        </pc:picChg>
      </pc:sldChg>
      <pc:sldChg chg="addSp delSp modSp add modAnim">
        <pc:chgData name="dincerkonur@yahoo.com" userId="0cb337efb386619d" providerId="LiveId" clId="{8861806D-F7E8-4E44-A038-AAC51D284870}" dt="2019-03-19T18:55:31.264" v="3028"/>
        <pc:sldMkLst>
          <pc:docMk/>
          <pc:sldMk cId="2753905357" sldId="342"/>
        </pc:sldMkLst>
        <pc:spChg chg="mod">
          <ac:chgData name="dincerkonur@yahoo.com" userId="0cb337efb386619d" providerId="LiveId" clId="{8861806D-F7E8-4E44-A038-AAC51D284870}" dt="2019-03-19T18:54:10.623" v="3026" actId="115"/>
          <ac:spMkLst>
            <pc:docMk/>
            <pc:sldMk cId="2753905357" sldId="342"/>
            <ac:spMk id="3" creationId="{00000000-0000-0000-0000-000000000000}"/>
          </ac:spMkLst>
        </pc:spChg>
        <pc:spChg chg="del">
          <ac:chgData name="dincerkonur@yahoo.com" userId="0cb337efb386619d" providerId="LiveId" clId="{8861806D-F7E8-4E44-A038-AAC51D284870}" dt="2019-03-19T15:20:38.086" v="726" actId="478"/>
          <ac:spMkLst>
            <pc:docMk/>
            <pc:sldMk cId="2753905357" sldId="342"/>
            <ac:spMk id="5" creationId="{3D174346-2B56-441C-B46C-AD85AEEB122D}"/>
          </ac:spMkLst>
        </pc:spChg>
        <pc:picChg chg="del">
          <ac:chgData name="dincerkonur@yahoo.com" userId="0cb337efb386619d" providerId="LiveId" clId="{8861806D-F7E8-4E44-A038-AAC51D284870}" dt="2019-03-19T15:20:33.952" v="725" actId="478"/>
          <ac:picMkLst>
            <pc:docMk/>
            <pc:sldMk cId="2753905357" sldId="342"/>
            <ac:picMk id="4" creationId="{6E1EA4DB-02D3-48DE-9DF9-E50DECC12DA8}"/>
          </ac:picMkLst>
        </pc:picChg>
        <pc:picChg chg="add mod">
          <ac:chgData name="dincerkonur@yahoo.com" userId="0cb337efb386619d" providerId="LiveId" clId="{8861806D-F7E8-4E44-A038-AAC51D284870}" dt="2019-03-19T15:22:45.350" v="752" actId="1076"/>
          <ac:picMkLst>
            <pc:docMk/>
            <pc:sldMk cId="2753905357" sldId="342"/>
            <ac:picMk id="6" creationId="{4D7B01EB-0D9D-43E4-8F11-08ACB23A8393}"/>
          </ac:picMkLst>
        </pc:picChg>
        <pc:picChg chg="add mod">
          <ac:chgData name="dincerkonur@yahoo.com" userId="0cb337efb386619d" providerId="LiveId" clId="{8861806D-F7E8-4E44-A038-AAC51D284870}" dt="2019-03-19T15:22:47.035" v="753" actId="1076"/>
          <ac:picMkLst>
            <pc:docMk/>
            <pc:sldMk cId="2753905357" sldId="342"/>
            <ac:picMk id="7" creationId="{E5E8EDFB-511F-4C36-9AC3-5EE139EFD59E}"/>
          </ac:picMkLst>
        </pc:picChg>
      </pc:sldChg>
      <pc:sldChg chg="delSp modSp add">
        <pc:chgData name="dincerkonur@yahoo.com" userId="0cb337efb386619d" providerId="LiveId" clId="{8861806D-F7E8-4E44-A038-AAC51D284870}" dt="2019-03-19T15:26:13.253" v="863" actId="15"/>
        <pc:sldMkLst>
          <pc:docMk/>
          <pc:sldMk cId="2071036895" sldId="343"/>
        </pc:sldMkLst>
        <pc:spChg chg="mod">
          <ac:chgData name="dincerkonur@yahoo.com" userId="0cb337efb386619d" providerId="LiveId" clId="{8861806D-F7E8-4E44-A038-AAC51D284870}" dt="2019-03-19T15:26:13.253" v="863" actId="15"/>
          <ac:spMkLst>
            <pc:docMk/>
            <pc:sldMk cId="2071036895" sldId="343"/>
            <ac:spMk id="3" creationId="{00000000-0000-0000-0000-000000000000}"/>
          </ac:spMkLst>
        </pc:spChg>
        <pc:picChg chg="del">
          <ac:chgData name="dincerkonur@yahoo.com" userId="0cb337efb386619d" providerId="LiveId" clId="{8861806D-F7E8-4E44-A038-AAC51D284870}" dt="2019-03-19T15:25:51.345" v="849" actId="478"/>
          <ac:picMkLst>
            <pc:docMk/>
            <pc:sldMk cId="2071036895" sldId="343"/>
            <ac:picMk id="6" creationId="{4D7B01EB-0D9D-43E4-8F11-08ACB23A8393}"/>
          </ac:picMkLst>
        </pc:picChg>
        <pc:picChg chg="del">
          <ac:chgData name="dincerkonur@yahoo.com" userId="0cb337efb386619d" providerId="LiveId" clId="{8861806D-F7E8-4E44-A038-AAC51D284870}" dt="2019-03-19T15:25:52.153" v="850" actId="478"/>
          <ac:picMkLst>
            <pc:docMk/>
            <pc:sldMk cId="2071036895" sldId="343"/>
            <ac:picMk id="7" creationId="{E5E8EDFB-511F-4C36-9AC3-5EE139EFD59E}"/>
          </ac:picMkLst>
        </pc:picChg>
      </pc:sldChg>
      <pc:sldChg chg="add del">
        <pc:chgData name="dincerkonur@yahoo.com" userId="0cb337efb386619d" providerId="LiveId" clId="{8861806D-F7E8-4E44-A038-AAC51D284870}" dt="2019-03-19T15:27:56.193" v="866" actId="2696"/>
        <pc:sldMkLst>
          <pc:docMk/>
          <pc:sldMk cId="1130051732" sldId="344"/>
        </pc:sldMkLst>
      </pc:sldChg>
      <pc:sldChg chg="addSp modSp add">
        <pc:chgData name="dincerkonur@yahoo.com" userId="0cb337efb386619d" providerId="LiveId" clId="{8861806D-F7E8-4E44-A038-AAC51D284870}" dt="2019-03-19T15:29:47.087" v="893" actId="1076"/>
        <pc:sldMkLst>
          <pc:docMk/>
          <pc:sldMk cId="3076968820" sldId="345"/>
        </pc:sldMkLst>
        <pc:spChg chg="mod">
          <ac:chgData name="dincerkonur@yahoo.com" userId="0cb337efb386619d" providerId="LiveId" clId="{8861806D-F7E8-4E44-A038-AAC51D284870}" dt="2019-03-19T15:28:07.093" v="885" actId="20577"/>
          <ac:spMkLst>
            <pc:docMk/>
            <pc:sldMk cId="3076968820" sldId="345"/>
            <ac:spMk id="3" creationId="{00000000-0000-0000-0000-000000000000}"/>
          </ac:spMkLst>
        </pc:spChg>
        <pc:graphicFrameChg chg="add mod modGraphic">
          <ac:chgData name="dincerkonur@yahoo.com" userId="0cb337efb386619d" providerId="LiveId" clId="{8861806D-F7E8-4E44-A038-AAC51D284870}" dt="2019-03-19T15:29:20.609" v="890" actId="1076"/>
          <ac:graphicFrameMkLst>
            <pc:docMk/>
            <pc:sldMk cId="3076968820" sldId="345"/>
            <ac:graphicFrameMk id="4" creationId="{7345ADD3-8FB7-47EE-86C6-DDEF76FD8578}"/>
          </ac:graphicFrameMkLst>
        </pc:graphicFrameChg>
        <pc:picChg chg="add mod">
          <ac:chgData name="dincerkonur@yahoo.com" userId="0cb337efb386619d" providerId="LiveId" clId="{8861806D-F7E8-4E44-A038-AAC51D284870}" dt="2019-03-19T15:29:47.087" v="893" actId="1076"/>
          <ac:picMkLst>
            <pc:docMk/>
            <pc:sldMk cId="3076968820" sldId="345"/>
            <ac:picMk id="5" creationId="{B73B2E9B-66BD-47FA-BE4D-CE267448D40F}"/>
          </ac:picMkLst>
        </pc:picChg>
      </pc:sldChg>
      <pc:sldChg chg="addSp modSp add modAnim">
        <pc:chgData name="dincerkonur@yahoo.com" userId="0cb337efb386619d" providerId="LiveId" clId="{8861806D-F7E8-4E44-A038-AAC51D284870}" dt="2019-03-19T18:56:05.492" v="3035"/>
        <pc:sldMkLst>
          <pc:docMk/>
          <pc:sldMk cId="1214762983" sldId="346"/>
        </pc:sldMkLst>
        <pc:spChg chg="mod">
          <ac:chgData name="dincerkonur@yahoo.com" userId="0cb337efb386619d" providerId="LiveId" clId="{8861806D-F7E8-4E44-A038-AAC51D284870}" dt="2019-03-19T15:39:30.914" v="1011" actId="20577"/>
          <ac:spMkLst>
            <pc:docMk/>
            <pc:sldMk cId="1214762983" sldId="346"/>
            <ac:spMk id="3" creationId="{00000000-0000-0000-0000-000000000000}"/>
          </ac:spMkLst>
        </pc:spChg>
        <pc:spChg chg="add mod">
          <ac:chgData name="dincerkonur@yahoo.com" userId="0cb337efb386619d" providerId="LiveId" clId="{8861806D-F7E8-4E44-A038-AAC51D284870}" dt="2019-03-19T15:32:51.623" v="986" actId="20577"/>
          <ac:spMkLst>
            <pc:docMk/>
            <pc:sldMk cId="1214762983" sldId="346"/>
            <ac:spMk id="4" creationId="{2984E71D-A76B-46BF-B408-4BC3DBB18D49}"/>
          </ac:spMkLst>
        </pc:spChg>
      </pc:sldChg>
      <pc:sldChg chg="modSp add">
        <pc:chgData name="dincerkonur@yahoo.com" userId="0cb337efb386619d" providerId="LiveId" clId="{8861806D-F7E8-4E44-A038-AAC51D284870}" dt="2019-03-19T15:33:33.712" v="989" actId="207"/>
        <pc:sldMkLst>
          <pc:docMk/>
          <pc:sldMk cId="2043643252" sldId="347"/>
        </pc:sldMkLst>
        <pc:spChg chg="mod">
          <ac:chgData name="dincerkonur@yahoo.com" userId="0cb337efb386619d" providerId="LiveId" clId="{8861806D-F7E8-4E44-A038-AAC51D284870}" dt="2019-03-19T15:33:33.712" v="989" actId="207"/>
          <ac:spMkLst>
            <pc:docMk/>
            <pc:sldMk cId="2043643252" sldId="347"/>
            <ac:spMk id="3" creationId="{00000000-0000-0000-0000-000000000000}"/>
          </ac:spMkLst>
        </pc:spChg>
      </pc:sldChg>
      <pc:sldChg chg="addSp modSp add modAnim">
        <pc:chgData name="dincerkonur@yahoo.com" userId="0cb337efb386619d" providerId="LiveId" clId="{8861806D-F7E8-4E44-A038-AAC51D284870}" dt="2019-03-19T16:06:19.338" v="1643" actId="20577"/>
        <pc:sldMkLst>
          <pc:docMk/>
          <pc:sldMk cId="2204979976" sldId="348"/>
        </pc:sldMkLst>
        <pc:spChg chg="mod">
          <ac:chgData name="dincerkonur@yahoo.com" userId="0cb337efb386619d" providerId="LiveId" clId="{8861806D-F7E8-4E44-A038-AAC51D284870}" dt="2019-03-19T15:57:19.708" v="1465"/>
          <ac:spMkLst>
            <pc:docMk/>
            <pc:sldMk cId="2204979976" sldId="348"/>
            <ac:spMk id="2" creationId="{00000000-0000-0000-0000-000000000000}"/>
          </ac:spMkLst>
        </pc:spChg>
        <pc:spChg chg="mod">
          <ac:chgData name="dincerkonur@yahoo.com" userId="0cb337efb386619d" providerId="LiveId" clId="{8861806D-F7E8-4E44-A038-AAC51D284870}" dt="2019-03-19T15:57:36.438" v="1484" actId="20577"/>
          <ac:spMkLst>
            <pc:docMk/>
            <pc:sldMk cId="2204979976" sldId="348"/>
            <ac:spMk id="3" creationId="{00000000-0000-0000-0000-000000000000}"/>
          </ac:spMkLst>
        </pc:spChg>
        <pc:spChg chg="add mod">
          <ac:chgData name="dincerkonur@yahoo.com" userId="0cb337efb386619d" providerId="LiveId" clId="{8861806D-F7E8-4E44-A038-AAC51D284870}" dt="2019-03-19T15:42:44.818" v="1115" actId="207"/>
          <ac:spMkLst>
            <pc:docMk/>
            <pc:sldMk cId="2204979976" sldId="348"/>
            <ac:spMk id="5" creationId="{72D92CA1-E437-40DE-959B-97054A19D320}"/>
          </ac:spMkLst>
        </pc:spChg>
        <pc:spChg chg="add mod">
          <ac:chgData name="dincerkonur@yahoo.com" userId="0cb337efb386619d" providerId="LiveId" clId="{8861806D-F7E8-4E44-A038-AAC51D284870}" dt="2019-03-19T15:42:58.218" v="1120" actId="14100"/>
          <ac:spMkLst>
            <pc:docMk/>
            <pc:sldMk cId="2204979976" sldId="348"/>
            <ac:spMk id="6" creationId="{45356A59-318C-44DA-9395-9A89056E34D3}"/>
          </ac:spMkLst>
        </pc:spChg>
        <pc:spChg chg="add mod">
          <ac:chgData name="dincerkonur@yahoo.com" userId="0cb337efb386619d" providerId="LiveId" clId="{8861806D-F7E8-4E44-A038-AAC51D284870}" dt="2019-03-19T16:05:50.194" v="1562" actId="1076"/>
          <ac:spMkLst>
            <pc:docMk/>
            <pc:sldMk cId="2204979976" sldId="348"/>
            <ac:spMk id="7" creationId="{336B1A73-A0ED-438E-8F73-71AFCA7A0382}"/>
          </ac:spMkLst>
        </pc:spChg>
        <pc:spChg chg="add mod">
          <ac:chgData name="dincerkonur@yahoo.com" userId="0cb337efb386619d" providerId="LiveId" clId="{8861806D-F7E8-4E44-A038-AAC51D284870}" dt="2019-03-19T16:06:19.338" v="1643" actId="20577"/>
          <ac:spMkLst>
            <pc:docMk/>
            <pc:sldMk cId="2204979976" sldId="348"/>
            <ac:spMk id="9" creationId="{6D1F5008-1C08-4240-BF06-88840D51078A}"/>
          </ac:spMkLst>
        </pc:spChg>
        <pc:picChg chg="add mod">
          <ac:chgData name="dincerkonur@yahoo.com" userId="0cb337efb386619d" providerId="LiveId" clId="{8861806D-F7E8-4E44-A038-AAC51D284870}" dt="2019-03-19T15:42:09.321" v="1046" actId="1076"/>
          <ac:picMkLst>
            <pc:docMk/>
            <pc:sldMk cId="2204979976" sldId="348"/>
            <ac:picMk id="4" creationId="{C95A6459-353A-4F48-8BB6-3501C4F29973}"/>
          </ac:picMkLst>
        </pc:picChg>
        <pc:picChg chg="add mod">
          <ac:chgData name="dincerkonur@yahoo.com" userId="0cb337efb386619d" providerId="LiveId" clId="{8861806D-F7E8-4E44-A038-AAC51D284870}" dt="2019-03-19T16:05:51.756" v="1563" actId="1076"/>
          <ac:picMkLst>
            <pc:docMk/>
            <pc:sldMk cId="2204979976" sldId="348"/>
            <ac:picMk id="8" creationId="{F2C53BD5-F957-4033-98FC-0B8D29E818F8}"/>
          </ac:picMkLst>
        </pc:picChg>
      </pc:sldChg>
      <pc:sldChg chg="addSp delSp modSp add delAnim modAnim">
        <pc:chgData name="dincerkonur@yahoo.com" userId="0cb337efb386619d" providerId="LiveId" clId="{8861806D-F7E8-4E44-A038-AAC51D284870}" dt="2019-03-19T15:57:24.277" v="1466"/>
        <pc:sldMkLst>
          <pc:docMk/>
          <pc:sldMk cId="4282407933" sldId="349"/>
        </pc:sldMkLst>
        <pc:spChg chg="mod">
          <ac:chgData name="dincerkonur@yahoo.com" userId="0cb337efb386619d" providerId="LiveId" clId="{8861806D-F7E8-4E44-A038-AAC51D284870}" dt="2019-03-19T15:57:24.277" v="1466"/>
          <ac:spMkLst>
            <pc:docMk/>
            <pc:sldMk cId="4282407933" sldId="349"/>
            <ac:spMk id="2" creationId="{00000000-0000-0000-0000-000000000000}"/>
          </ac:spMkLst>
        </pc:spChg>
        <pc:spChg chg="mod">
          <ac:chgData name="dincerkonur@yahoo.com" userId="0cb337efb386619d" providerId="LiveId" clId="{8861806D-F7E8-4E44-A038-AAC51D284870}" dt="2019-03-19T15:46:49.004" v="1350" actId="20577"/>
          <ac:spMkLst>
            <pc:docMk/>
            <pc:sldMk cId="4282407933" sldId="349"/>
            <ac:spMk id="3" creationId="{00000000-0000-0000-0000-000000000000}"/>
          </ac:spMkLst>
        </pc:spChg>
        <pc:spChg chg="mod">
          <ac:chgData name="dincerkonur@yahoo.com" userId="0cb337efb386619d" providerId="LiveId" clId="{8861806D-F7E8-4E44-A038-AAC51D284870}" dt="2019-03-19T15:46:37.241" v="1302" actId="14100"/>
          <ac:spMkLst>
            <pc:docMk/>
            <pc:sldMk cId="4282407933" sldId="349"/>
            <ac:spMk id="5" creationId="{72D92CA1-E437-40DE-959B-97054A19D320}"/>
          </ac:spMkLst>
        </pc:spChg>
        <pc:spChg chg="mod">
          <ac:chgData name="dincerkonur@yahoo.com" userId="0cb337efb386619d" providerId="LiveId" clId="{8861806D-F7E8-4E44-A038-AAC51D284870}" dt="2019-03-19T15:46:27.368" v="1298" actId="14100"/>
          <ac:spMkLst>
            <pc:docMk/>
            <pc:sldMk cId="4282407933" sldId="349"/>
            <ac:spMk id="6" creationId="{45356A59-318C-44DA-9395-9A89056E34D3}"/>
          </ac:spMkLst>
        </pc:spChg>
        <pc:spChg chg="del">
          <ac:chgData name="dincerkonur@yahoo.com" userId="0cb337efb386619d" providerId="LiveId" clId="{8861806D-F7E8-4E44-A038-AAC51D284870}" dt="2019-03-19T15:46:52.314" v="1351" actId="478"/>
          <ac:spMkLst>
            <pc:docMk/>
            <pc:sldMk cId="4282407933" sldId="349"/>
            <ac:spMk id="7" creationId="{336B1A73-A0ED-438E-8F73-71AFCA7A0382}"/>
          </ac:spMkLst>
        </pc:spChg>
        <pc:spChg chg="add mod">
          <ac:chgData name="dincerkonur@yahoo.com" userId="0cb337efb386619d" providerId="LiveId" clId="{8861806D-F7E8-4E44-A038-AAC51D284870}" dt="2019-03-19T15:50:54.536" v="1463" actId="20577"/>
          <ac:spMkLst>
            <pc:docMk/>
            <pc:sldMk cId="4282407933" sldId="349"/>
            <ac:spMk id="9" creationId="{F4B4FB35-4097-488F-8814-0DDFB509BA8D}"/>
          </ac:spMkLst>
        </pc:spChg>
        <pc:picChg chg="mod">
          <ac:chgData name="dincerkonur@yahoo.com" userId="0cb337efb386619d" providerId="LiveId" clId="{8861806D-F7E8-4E44-A038-AAC51D284870}" dt="2019-03-19T15:46:58.228" v="1352" actId="1076"/>
          <ac:picMkLst>
            <pc:docMk/>
            <pc:sldMk cId="4282407933" sldId="349"/>
            <ac:picMk id="8" creationId="{F2C53BD5-F957-4033-98FC-0B8D29E818F8}"/>
          </ac:picMkLst>
        </pc:picChg>
      </pc:sldChg>
      <pc:sldChg chg="addSp modSp add">
        <pc:chgData name="dincerkonur@yahoo.com" userId="0cb337efb386619d" providerId="LiveId" clId="{8861806D-F7E8-4E44-A038-AAC51D284870}" dt="2019-03-19T19:08:00.735" v="3055" actId="20577"/>
        <pc:sldMkLst>
          <pc:docMk/>
          <pc:sldMk cId="3633599401" sldId="350"/>
        </pc:sldMkLst>
        <pc:spChg chg="mod">
          <ac:chgData name="dincerkonur@yahoo.com" userId="0cb337efb386619d" providerId="LiveId" clId="{8861806D-F7E8-4E44-A038-AAC51D284870}" dt="2019-03-19T15:58:00.868" v="1502" actId="20577"/>
          <ac:spMkLst>
            <pc:docMk/>
            <pc:sldMk cId="3633599401" sldId="350"/>
            <ac:spMk id="2" creationId="{00000000-0000-0000-0000-000000000000}"/>
          </ac:spMkLst>
        </pc:spChg>
        <pc:spChg chg="mod">
          <ac:chgData name="dincerkonur@yahoo.com" userId="0cb337efb386619d" providerId="LiveId" clId="{8861806D-F7E8-4E44-A038-AAC51D284870}" dt="2019-03-19T15:58:45.023" v="1529" actId="20577"/>
          <ac:spMkLst>
            <pc:docMk/>
            <pc:sldMk cId="3633599401" sldId="350"/>
            <ac:spMk id="3" creationId="{00000000-0000-0000-0000-000000000000}"/>
          </ac:spMkLst>
        </pc:spChg>
        <pc:spChg chg="add mod">
          <ac:chgData name="dincerkonur@yahoo.com" userId="0cb337efb386619d" providerId="LiveId" clId="{8861806D-F7E8-4E44-A038-AAC51D284870}" dt="2019-03-19T19:08:00.735" v="3055" actId="20577"/>
          <ac:spMkLst>
            <pc:docMk/>
            <pc:sldMk cId="3633599401" sldId="350"/>
            <ac:spMk id="5" creationId="{2F97B461-196C-4B95-BA8F-BC1BE0E0AB3A}"/>
          </ac:spMkLst>
        </pc:spChg>
        <pc:picChg chg="add mod">
          <ac:chgData name="dincerkonur@yahoo.com" userId="0cb337efb386619d" providerId="LiveId" clId="{8861806D-F7E8-4E44-A038-AAC51D284870}" dt="2019-03-19T15:59:45.500" v="1534" actId="1076"/>
          <ac:picMkLst>
            <pc:docMk/>
            <pc:sldMk cId="3633599401" sldId="350"/>
            <ac:picMk id="4" creationId="{CCC8D00D-444D-4556-B3F1-003B766679CE}"/>
          </ac:picMkLst>
        </pc:picChg>
      </pc:sldChg>
      <pc:sldChg chg="addSp delSp modSp add modAnim">
        <pc:chgData name="dincerkonur@yahoo.com" userId="0cb337efb386619d" providerId="LiveId" clId="{8861806D-F7E8-4E44-A038-AAC51D284870}" dt="2019-03-19T19:08:09.149" v="3062" actId="20577"/>
        <pc:sldMkLst>
          <pc:docMk/>
          <pc:sldMk cId="3114781223" sldId="351"/>
        </pc:sldMkLst>
        <pc:spChg chg="mod">
          <ac:chgData name="dincerkonur@yahoo.com" userId="0cb337efb386619d" providerId="LiveId" clId="{8861806D-F7E8-4E44-A038-AAC51D284870}" dt="2019-03-19T16:18:21.644" v="1665" actId="20577"/>
          <ac:spMkLst>
            <pc:docMk/>
            <pc:sldMk cId="3114781223" sldId="351"/>
            <ac:spMk id="3" creationId="{00000000-0000-0000-0000-000000000000}"/>
          </ac:spMkLst>
        </pc:spChg>
        <pc:spChg chg="mod">
          <ac:chgData name="dincerkonur@yahoo.com" userId="0cb337efb386619d" providerId="LiveId" clId="{8861806D-F7E8-4E44-A038-AAC51D284870}" dt="2019-03-19T19:08:09.149" v="3062" actId="20577"/>
          <ac:spMkLst>
            <pc:docMk/>
            <pc:sldMk cId="3114781223" sldId="351"/>
            <ac:spMk id="5" creationId="{2F97B461-196C-4B95-BA8F-BC1BE0E0AB3A}"/>
          </ac:spMkLst>
        </pc:spChg>
        <pc:spChg chg="add mod">
          <ac:chgData name="dincerkonur@yahoo.com" userId="0cb337efb386619d" providerId="LiveId" clId="{8861806D-F7E8-4E44-A038-AAC51D284870}" dt="2019-03-19T16:29:56.701" v="1673" actId="1076"/>
          <ac:spMkLst>
            <pc:docMk/>
            <pc:sldMk cId="3114781223" sldId="351"/>
            <ac:spMk id="7" creationId="{1C50873F-0147-491A-9904-D25339B6B782}"/>
          </ac:spMkLst>
        </pc:spChg>
        <pc:picChg chg="del">
          <ac:chgData name="dincerkonur@yahoo.com" userId="0cb337efb386619d" providerId="LiveId" clId="{8861806D-F7E8-4E44-A038-AAC51D284870}" dt="2019-03-19T16:18:13.228" v="1645" actId="478"/>
          <ac:picMkLst>
            <pc:docMk/>
            <pc:sldMk cId="3114781223" sldId="351"/>
            <ac:picMk id="4" creationId="{CCC8D00D-444D-4556-B3F1-003B766679CE}"/>
          </ac:picMkLst>
        </pc:picChg>
        <pc:picChg chg="add mod">
          <ac:chgData name="dincerkonur@yahoo.com" userId="0cb337efb386619d" providerId="LiveId" clId="{8861806D-F7E8-4E44-A038-AAC51D284870}" dt="2019-03-19T16:18:44.958" v="1668" actId="1076"/>
          <ac:picMkLst>
            <pc:docMk/>
            <pc:sldMk cId="3114781223" sldId="351"/>
            <ac:picMk id="6" creationId="{7B3CD1F2-1C57-4D43-ADB3-0D8D65BDEEC5}"/>
          </ac:picMkLst>
        </pc:picChg>
      </pc:sldChg>
      <pc:sldChg chg="addSp delSp modSp add delAnim modAnim">
        <pc:chgData name="dincerkonur@yahoo.com" userId="0cb337efb386619d" providerId="LiveId" clId="{8861806D-F7E8-4E44-A038-AAC51D284870}" dt="2019-03-19T16:51:59.512" v="1967"/>
        <pc:sldMkLst>
          <pc:docMk/>
          <pc:sldMk cId="3068082800" sldId="352"/>
        </pc:sldMkLst>
        <pc:spChg chg="mod">
          <ac:chgData name="dincerkonur@yahoo.com" userId="0cb337efb386619d" providerId="LiveId" clId="{8861806D-F7E8-4E44-A038-AAC51D284870}" dt="2019-03-19T16:38:10.843" v="1866" actId="20577"/>
          <ac:spMkLst>
            <pc:docMk/>
            <pc:sldMk cId="3068082800" sldId="352"/>
            <ac:spMk id="3" creationId="{00000000-0000-0000-0000-000000000000}"/>
          </ac:spMkLst>
        </pc:spChg>
        <pc:spChg chg="del">
          <ac:chgData name="dincerkonur@yahoo.com" userId="0cb337efb386619d" providerId="LiveId" clId="{8861806D-F7E8-4E44-A038-AAC51D284870}" dt="2019-03-19T16:38:16" v="1867" actId="478"/>
          <ac:spMkLst>
            <pc:docMk/>
            <pc:sldMk cId="3068082800" sldId="352"/>
            <ac:spMk id="5" creationId="{2F97B461-196C-4B95-BA8F-BC1BE0E0AB3A}"/>
          </ac:spMkLst>
        </pc:spChg>
        <pc:spChg chg="del">
          <ac:chgData name="dincerkonur@yahoo.com" userId="0cb337efb386619d" providerId="LiveId" clId="{8861806D-F7E8-4E44-A038-AAC51D284870}" dt="2019-03-19T16:32:36.992" v="1692" actId="478"/>
          <ac:spMkLst>
            <pc:docMk/>
            <pc:sldMk cId="3068082800" sldId="352"/>
            <ac:spMk id="7" creationId="{1C50873F-0147-491A-9904-D25339B6B782}"/>
          </ac:spMkLst>
        </pc:spChg>
        <pc:spChg chg="add mod">
          <ac:chgData name="dincerkonur@yahoo.com" userId="0cb337efb386619d" providerId="LiveId" clId="{8861806D-F7E8-4E44-A038-AAC51D284870}" dt="2019-03-19T16:33:38.880" v="1704" actId="208"/>
          <ac:spMkLst>
            <pc:docMk/>
            <pc:sldMk cId="3068082800" sldId="352"/>
            <ac:spMk id="8" creationId="{86B23E40-4F94-4DE6-923E-F631C1D8E76F}"/>
          </ac:spMkLst>
        </pc:spChg>
        <pc:spChg chg="add mod">
          <ac:chgData name="dincerkonur@yahoo.com" userId="0cb337efb386619d" providerId="LiveId" clId="{8861806D-F7E8-4E44-A038-AAC51D284870}" dt="2019-03-19T16:37:13.183" v="1837" actId="115"/>
          <ac:spMkLst>
            <pc:docMk/>
            <pc:sldMk cId="3068082800" sldId="352"/>
            <ac:spMk id="9" creationId="{6092EEB9-ECF5-4B8E-9A73-1008ACFDAD82}"/>
          </ac:spMkLst>
        </pc:spChg>
        <pc:spChg chg="add mod">
          <ac:chgData name="dincerkonur@yahoo.com" userId="0cb337efb386619d" providerId="LiveId" clId="{8861806D-F7E8-4E44-A038-AAC51D284870}" dt="2019-03-19T16:38:39.774" v="1875" actId="1076"/>
          <ac:spMkLst>
            <pc:docMk/>
            <pc:sldMk cId="3068082800" sldId="352"/>
            <ac:spMk id="10" creationId="{2958D73C-8632-4B82-8400-E2EDD5B6AC6E}"/>
          </ac:spMkLst>
        </pc:spChg>
        <pc:spChg chg="add mod">
          <ac:chgData name="dincerkonur@yahoo.com" userId="0cb337efb386619d" providerId="LiveId" clId="{8861806D-F7E8-4E44-A038-AAC51D284870}" dt="2019-03-19T16:40:39.329" v="1902" actId="1076"/>
          <ac:spMkLst>
            <pc:docMk/>
            <pc:sldMk cId="3068082800" sldId="352"/>
            <ac:spMk id="11" creationId="{65B4DA65-959E-409C-BF12-C50FE547E40E}"/>
          </ac:spMkLst>
        </pc:spChg>
        <pc:spChg chg="add mod">
          <ac:chgData name="dincerkonur@yahoo.com" userId="0cb337efb386619d" providerId="LiveId" clId="{8861806D-F7E8-4E44-A038-AAC51D284870}" dt="2019-03-19T16:41:05.307" v="1905" actId="14100"/>
          <ac:spMkLst>
            <pc:docMk/>
            <pc:sldMk cId="3068082800" sldId="352"/>
            <ac:spMk id="12" creationId="{918FDCCB-D69E-46B0-B3D7-950F6AC328B1}"/>
          </ac:spMkLst>
        </pc:spChg>
        <pc:spChg chg="add mod">
          <ac:chgData name="dincerkonur@yahoo.com" userId="0cb337efb386619d" providerId="LiveId" clId="{8861806D-F7E8-4E44-A038-AAC51D284870}" dt="2019-03-19T16:41:59.798" v="1958" actId="20577"/>
          <ac:spMkLst>
            <pc:docMk/>
            <pc:sldMk cId="3068082800" sldId="352"/>
            <ac:spMk id="13" creationId="{9CDAACD3-76A0-4E72-B806-0D2A75B71D87}"/>
          </ac:spMkLst>
        </pc:spChg>
        <pc:picChg chg="add mod">
          <ac:chgData name="dincerkonur@yahoo.com" userId="0cb337efb386619d" providerId="LiveId" clId="{8861806D-F7E8-4E44-A038-AAC51D284870}" dt="2019-03-19T16:38:27.427" v="1872" actId="1076"/>
          <ac:picMkLst>
            <pc:docMk/>
            <pc:sldMk cId="3068082800" sldId="352"/>
            <ac:picMk id="4" creationId="{AD263122-ED7E-4824-820B-2F53E781CF8D}"/>
          </ac:picMkLst>
        </pc:picChg>
        <pc:picChg chg="del">
          <ac:chgData name="dincerkonur@yahoo.com" userId="0cb337efb386619d" providerId="LiveId" clId="{8861806D-F7E8-4E44-A038-AAC51D284870}" dt="2019-03-19T16:32:34.128" v="1691" actId="478"/>
          <ac:picMkLst>
            <pc:docMk/>
            <pc:sldMk cId="3068082800" sldId="352"/>
            <ac:picMk id="6" creationId="{7B3CD1F2-1C57-4D43-ADB3-0D8D65BDEEC5}"/>
          </ac:picMkLst>
        </pc:picChg>
      </pc:sldChg>
      <pc:sldChg chg="add del">
        <pc:chgData name="dincerkonur@yahoo.com" userId="0cb337efb386619d" providerId="LiveId" clId="{8861806D-F7E8-4E44-A038-AAC51D284870}" dt="2019-03-19T16:32:39.954" v="1694"/>
        <pc:sldMkLst>
          <pc:docMk/>
          <pc:sldMk cId="1902074996" sldId="353"/>
        </pc:sldMkLst>
      </pc:sldChg>
      <pc:sldChg chg="addSp delSp modSp add modAnim">
        <pc:chgData name="dincerkonur@yahoo.com" userId="0cb337efb386619d" providerId="LiveId" clId="{8861806D-F7E8-4E44-A038-AAC51D284870}" dt="2019-03-19T19:08:17.190" v="3065" actId="20577"/>
        <pc:sldMkLst>
          <pc:docMk/>
          <pc:sldMk cId="3013913442" sldId="353"/>
        </pc:sldMkLst>
        <pc:spChg chg="mod">
          <ac:chgData name="dincerkonur@yahoo.com" userId="0cb337efb386619d" providerId="LiveId" clId="{8861806D-F7E8-4E44-A038-AAC51D284870}" dt="2019-03-19T16:52:23.164" v="1985" actId="20577"/>
          <ac:spMkLst>
            <pc:docMk/>
            <pc:sldMk cId="3013913442" sldId="353"/>
            <ac:spMk id="2" creationId="{00000000-0000-0000-0000-000000000000}"/>
          </ac:spMkLst>
        </pc:spChg>
        <pc:spChg chg="mod">
          <ac:chgData name="dincerkonur@yahoo.com" userId="0cb337efb386619d" providerId="LiveId" clId="{8861806D-F7E8-4E44-A038-AAC51D284870}" dt="2019-03-19T16:53:44.825" v="2164" actId="20577"/>
          <ac:spMkLst>
            <pc:docMk/>
            <pc:sldMk cId="3013913442" sldId="353"/>
            <ac:spMk id="3" creationId="{00000000-0000-0000-0000-000000000000}"/>
          </ac:spMkLst>
        </pc:spChg>
        <pc:spChg chg="add mod">
          <ac:chgData name="dincerkonur@yahoo.com" userId="0cb337efb386619d" providerId="LiveId" clId="{8861806D-F7E8-4E44-A038-AAC51D284870}" dt="2019-03-19T19:08:17.190" v="3065" actId="20577"/>
          <ac:spMkLst>
            <pc:docMk/>
            <pc:sldMk cId="3013913442" sldId="353"/>
            <ac:spMk id="6" creationId="{E603396A-3344-44F9-8A35-C51DD40FCFFC}"/>
          </ac:spMkLst>
        </pc:spChg>
        <pc:graphicFrameChg chg="add mod modGraphic">
          <ac:chgData name="dincerkonur@yahoo.com" userId="0cb337efb386619d" providerId="LiveId" clId="{8861806D-F7E8-4E44-A038-AAC51D284870}" dt="2019-03-19T16:54:35.573" v="2174" actId="113"/>
          <ac:graphicFrameMkLst>
            <pc:docMk/>
            <pc:sldMk cId="3013913442" sldId="353"/>
            <ac:graphicFrameMk id="4" creationId="{DF17F8AD-8A62-4821-A3D7-FEAC25E80166}"/>
          </ac:graphicFrameMkLst>
        </pc:graphicFrameChg>
        <pc:graphicFrameChg chg="add del">
          <ac:chgData name="dincerkonur@yahoo.com" userId="0cb337efb386619d" providerId="LiveId" clId="{8861806D-F7E8-4E44-A038-AAC51D284870}" dt="2019-03-19T16:56:45.738" v="2177"/>
          <ac:graphicFrameMkLst>
            <pc:docMk/>
            <pc:sldMk cId="3013913442" sldId="353"/>
            <ac:graphicFrameMk id="5" creationId="{3CE611B6-0F9A-48F1-9850-4AD2F4C94502}"/>
          </ac:graphicFrameMkLst>
        </pc:graphicFrameChg>
      </pc:sldChg>
      <pc:sldChg chg="delSp modSp add delAnim modAnim">
        <pc:chgData name="dincerkonur@yahoo.com" userId="0cb337efb386619d" providerId="LiveId" clId="{8861806D-F7E8-4E44-A038-AAC51D284870}" dt="2019-03-19T17:03:27.695" v="2480"/>
        <pc:sldMkLst>
          <pc:docMk/>
          <pc:sldMk cId="260874514" sldId="354"/>
        </pc:sldMkLst>
        <pc:spChg chg="mod">
          <ac:chgData name="dincerkonur@yahoo.com" userId="0cb337efb386619d" providerId="LiveId" clId="{8861806D-F7E8-4E44-A038-AAC51D284870}" dt="2019-03-19T17:02:39.855" v="2471" actId="20577"/>
          <ac:spMkLst>
            <pc:docMk/>
            <pc:sldMk cId="260874514" sldId="354"/>
            <ac:spMk id="3" creationId="{00000000-0000-0000-0000-000000000000}"/>
          </ac:spMkLst>
        </pc:spChg>
        <pc:graphicFrameChg chg="del">
          <ac:chgData name="dincerkonur@yahoo.com" userId="0cb337efb386619d" providerId="LiveId" clId="{8861806D-F7E8-4E44-A038-AAC51D284870}" dt="2019-03-19T16:56:51.352" v="2179" actId="478"/>
          <ac:graphicFrameMkLst>
            <pc:docMk/>
            <pc:sldMk cId="260874514" sldId="354"/>
            <ac:graphicFrameMk id="4" creationId="{DF17F8AD-8A62-4821-A3D7-FEAC25E80166}"/>
          </ac:graphicFrameMkLst>
        </pc:graphicFrameChg>
      </pc:sldChg>
      <pc:sldChg chg="addSp modSp add modAnim">
        <pc:chgData name="dincerkonur@yahoo.com" userId="0cb337efb386619d" providerId="LiveId" clId="{8861806D-F7E8-4E44-A038-AAC51D284870}" dt="2019-03-19T19:08:25.018" v="3068" actId="20577"/>
        <pc:sldMkLst>
          <pc:docMk/>
          <pc:sldMk cId="4294906267" sldId="355"/>
        </pc:sldMkLst>
        <pc:spChg chg="mod">
          <ac:chgData name="dincerkonur@yahoo.com" userId="0cb337efb386619d" providerId="LiveId" clId="{8861806D-F7E8-4E44-A038-AAC51D284870}" dt="2019-03-19T17:16:35.727" v="2587" actId="20577"/>
          <ac:spMkLst>
            <pc:docMk/>
            <pc:sldMk cId="4294906267" sldId="355"/>
            <ac:spMk id="3" creationId="{00000000-0000-0000-0000-000000000000}"/>
          </ac:spMkLst>
        </pc:spChg>
        <pc:spChg chg="add mod">
          <ac:chgData name="dincerkonur@yahoo.com" userId="0cb337efb386619d" providerId="LiveId" clId="{8861806D-F7E8-4E44-A038-AAC51D284870}" dt="2019-03-19T17:17:37.125" v="2599" actId="1076"/>
          <ac:spMkLst>
            <pc:docMk/>
            <pc:sldMk cId="4294906267" sldId="355"/>
            <ac:spMk id="5" creationId="{DA5CB0EB-C619-4BDD-BCCC-A7EDB71BB7B7}"/>
          </ac:spMkLst>
        </pc:spChg>
        <pc:spChg chg="add mod">
          <ac:chgData name="dincerkonur@yahoo.com" userId="0cb337efb386619d" providerId="LiveId" clId="{8861806D-F7E8-4E44-A038-AAC51D284870}" dt="2019-03-19T19:08:25.018" v="3068" actId="20577"/>
          <ac:spMkLst>
            <pc:docMk/>
            <pc:sldMk cId="4294906267" sldId="355"/>
            <ac:spMk id="6" creationId="{4C0824CA-DDC2-45F1-864F-5F87DC3E1DAA}"/>
          </ac:spMkLst>
        </pc:spChg>
        <pc:picChg chg="add mod">
          <ac:chgData name="dincerkonur@yahoo.com" userId="0cb337efb386619d" providerId="LiveId" clId="{8861806D-F7E8-4E44-A038-AAC51D284870}" dt="2019-03-19T17:16:51.396" v="2589" actId="1076"/>
          <ac:picMkLst>
            <pc:docMk/>
            <pc:sldMk cId="4294906267" sldId="355"/>
            <ac:picMk id="4" creationId="{DE9B7B57-A547-4032-90D7-3113395D2F0B}"/>
          </ac:picMkLst>
        </pc:picChg>
      </pc:sldChg>
      <pc:sldChg chg="addSp delSp modSp add modAnim">
        <pc:chgData name="dincerkonur@yahoo.com" userId="0cb337efb386619d" providerId="LiveId" clId="{8861806D-F7E8-4E44-A038-AAC51D284870}" dt="2019-03-19T18:56:42.079" v="3039"/>
        <pc:sldMkLst>
          <pc:docMk/>
          <pc:sldMk cId="3935855480" sldId="356"/>
        </pc:sldMkLst>
        <pc:spChg chg="mod">
          <ac:chgData name="dincerkonur@yahoo.com" userId="0cb337efb386619d" providerId="LiveId" clId="{8861806D-F7E8-4E44-A038-AAC51D284870}" dt="2019-03-19T18:18:52.680" v="2848" actId="20577"/>
          <ac:spMkLst>
            <pc:docMk/>
            <pc:sldMk cId="3935855480" sldId="356"/>
            <ac:spMk id="3" creationId="{00000000-0000-0000-0000-000000000000}"/>
          </ac:spMkLst>
        </pc:spChg>
        <pc:spChg chg="del">
          <ac:chgData name="dincerkonur@yahoo.com" userId="0cb337efb386619d" providerId="LiveId" clId="{8861806D-F7E8-4E44-A038-AAC51D284870}" dt="2019-03-19T17:18:35.128" v="2602" actId="478"/>
          <ac:spMkLst>
            <pc:docMk/>
            <pc:sldMk cId="3935855480" sldId="356"/>
            <ac:spMk id="5" creationId="{DA5CB0EB-C619-4BDD-BCCC-A7EDB71BB7B7}"/>
          </ac:spMkLst>
        </pc:spChg>
        <pc:spChg chg="add mod">
          <ac:chgData name="dincerkonur@yahoo.com" userId="0cb337efb386619d" providerId="LiveId" clId="{8861806D-F7E8-4E44-A038-AAC51D284870}" dt="2019-03-19T17:22:41.926" v="2789" actId="20577"/>
          <ac:spMkLst>
            <pc:docMk/>
            <pc:sldMk cId="3935855480" sldId="356"/>
            <ac:spMk id="7" creationId="{FE074764-F197-4134-BC55-D80D7884CD4B}"/>
          </ac:spMkLst>
        </pc:spChg>
        <pc:spChg chg="add mod">
          <ac:chgData name="dincerkonur@yahoo.com" userId="0cb337efb386619d" providerId="LiveId" clId="{8861806D-F7E8-4E44-A038-AAC51D284870}" dt="2019-03-19T17:23:35.876" v="2835" actId="20577"/>
          <ac:spMkLst>
            <pc:docMk/>
            <pc:sldMk cId="3935855480" sldId="356"/>
            <ac:spMk id="8" creationId="{04A51E72-C8E3-4767-9D67-E718CA6F4B4A}"/>
          </ac:spMkLst>
        </pc:spChg>
        <pc:spChg chg="add mod">
          <ac:chgData name="dincerkonur@yahoo.com" userId="0cb337efb386619d" providerId="LiveId" clId="{8861806D-F7E8-4E44-A038-AAC51D284870}" dt="2019-03-19T17:23:45.302" v="2845" actId="20577"/>
          <ac:spMkLst>
            <pc:docMk/>
            <pc:sldMk cId="3935855480" sldId="356"/>
            <ac:spMk id="9" creationId="{3F8C9D03-9F64-4E44-BF05-770985EF32BC}"/>
          </ac:spMkLst>
        </pc:spChg>
        <pc:picChg chg="del">
          <ac:chgData name="dincerkonur@yahoo.com" userId="0cb337efb386619d" providerId="LiveId" clId="{8861806D-F7E8-4E44-A038-AAC51D284870}" dt="2019-03-19T17:18:32.466" v="2601" actId="478"/>
          <ac:picMkLst>
            <pc:docMk/>
            <pc:sldMk cId="3935855480" sldId="356"/>
            <ac:picMk id="4" creationId="{DE9B7B57-A547-4032-90D7-3113395D2F0B}"/>
          </ac:picMkLst>
        </pc:picChg>
        <pc:picChg chg="add mod">
          <ac:chgData name="dincerkonur@yahoo.com" userId="0cb337efb386619d" providerId="LiveId" clId="{8861806D-F7E8-4E44-A038-AAC51D284870}" dt="2019-03-19T18:18:58.392" v="2849" actId="1076"/>
          <ac:picMkLst>
            <pc:docMk/>
            <pc:sldMk cId="3935855480" sldId="356"/>
            <ac:picMk id="6" creationId="{D3D7111F-6333-4762-9D32-E788099F2408}"/>
          </ac:picMkLst>
        </pc:picChg>
      </pc:sldChg>
      <pc:sldChg chg="delSp modSp add modAnim">
        <pc:chgData name="dincerkonur@yahoo.com" userId="0cb337efb386619d" providerId="LiveId" clId="{8861806D-F7E8-4E44-A038-AAC51D284870}" dt="2019-03-19T18:56:46.939" v="3040"/>
        <pc:sldMkLst>
          <pc:docMk/>
          <pc:sldMk cId="3402952667" sldId="357"/>
        </pc:sldMkLst>
        <pc:spChg chg="mod">
          <ac:chgData name="dincerkonur@yahoo.com" userId="0cb337efb386619d" providerId="LiveId" clId="{8861806D-F7E8-4E44-A038-AAC51D284870}" dt="2019-03-19T18:20:43.218" v="2869" actId="14100"/>
          <ac:spMkLst>
            <pc:docMk/>
            <pc:sldMk cId="3402952667" sldId="357"/>
            <ac:spMk id="7" creationId="{FE074764-F197-4134-BC55-D80D7884CD4B}"/>
          </ac:spMkLst>
        </pc:spChg>
        <pc:spChg chg="del">
          <ac:chgData name="dincerkonur@yahoo.com" userId="0cb337efb386619d" providerId="LiveId" clId="{8861806D-F7E8-4E44-A038-AAC51D284870}" dt="2019-03-19T18:19:24.525" v="2852" actId="478"/>
          <ac:spMkLst>
            <pc:docMk/>
            <pc:sldMk cId="3402952667" sldId="357"/>
            <ac:spMk id="8" creationId="{04A51E72-C8E3-4767-9D67-E718CA6F4B4A}"/>
          </ac:spMkLst>
        </pc:spChg>
        <pc:spChg chg="del">
          <ac:chgData name="dincerkonur@yahoo.com" userId="0cb337efb386619d" providerId="LiveId" clId="{8861806D-F7E8-4E44-A038-AAC51D284870}" dt="2019-03-19T18:19:22.550" v="2851" actId="478"/>
          <ac:spMkLst>
            <pc:docMk/>
            <pc:sldMk cId="3402952667" sldId="357"/>
            <ac:spMk id="9" creationId="{3F8C9D03-9F64-4E44-BF05-770985EF32BC}"/>
          </ac:spMkLst>
        </pc:spChg>
      </pc:sldChg>
      <pc:sldChg chg="addSp delSp modSp add modAnim">
        <pc:chgData name="dincerkonur@yahoo.com" userId="0cb337efb386619d" providerId="LiveId" clId="{8861806D-F7E8-4E44-A038-AAC51D284870}" dt="2019-03-19T18:56:58.390" v="3041"/>
        <pc:sldMkLst>
          <pc:docMk/>
          <pc:sldMk cId="2649553884" sldId="358"/>
        </pc:sldMkLst>
        <pc:spChg chg="mod">
          <ac:chgData name="dincerkonur@yahoo.com" userId="0cb337efb386619d" providerId="LiveId" clId="{8861806D-F7E8-4E44-A038-AAC51D284870}" dt="2019-03-19T18:24:45.163" v="2915" actId="20577"/>
          <ac:spMkLst>
            <pc:docMk/>
            <pc:sldMk cId="2649553884" sldId="358"/>
            <ac:spMk id="3" creationId="{00000000-0000-0000-0000-000000000000}"/>
          </ac:spMkLst>
        </pc:spChg>
        <pc:spChg chg="add mod">
          <ac:chgData name="dincerkonur@yahoo.com" userId="0cb337efb386619d" providerId="LiveId" clId="{8861806D-F7E8-4E44-A038-AAC51D284870}" dt="2019-03-19T18:24:21.599" v="2906" actId="113"/>
          <ac:spMkLst>
            <pc:docMk/>
            <pc:sldMk cId="2649553884" sldId="358"/>
            <ac:spMk id="4" creationId="{37DACF23-318B-41E3-83EA-E2DD3E934C05}"/>
          </ac:spMkLst>
        </pc:spChg>
        <pc:spChg chg="del">
          <ac:chgData name="dincerkonur@yahoo.com" userId="0cb337efb386619d" providerId="LiveId" clId="{8861806D-F7E8-4E44-A038-AAC51D284870}" dt="2019-03-19T18:22:11.236" v="2872" actId="478"/>
          <ac:spMkLst>
            <pc:docMk/>
            <pc:sldMk cId="2649553884" sldId="358"/>
            <ac:spMk id="7" creationId="{FE074764-F197-4134-BC55-D80D7884CD4B}"/>
          </ac:spMkLst>
        </pc:spChg>
        <pc:graphicFrameChg chg="add mod modGraphic">
          <ac:chgData name="dincerkonur@yahoo.com" userId="0cb337efb386619d" providerId="LiveId" clId="{8861806D-F7E8-4E44-A038-AAC51D284870}" dt="2019-03-19T18:23:45.116" v="2896" actId="1076"/>
          <ac:graphicFrameMkLst>
            <pc:docMk/>
            <pc:sldMk cId="2649553884" sldId="358"/>
            <ac:graphicFrameMk id="8" creationId="{6C86ECB3-BC35-444F-8EEC-FEE58E29CE1A}"/>
          </ac:graphicFrameMkLst>
        </pc:graphicFrameChg>
        <pc:picChg chg="del">
          <ac:chgData name="dincerkonur@yahoo.com" userId="0cb337efb386619d" providerId="LiveId" clId="{8861806D-F7E8-4E44-A038-AAC51D284870}" dt="2019-03-19T18:22:08.257" v="2871" actId="478"/>
          <ac:picMkLst>
            <pc:docMk/>
            <pc:sldMk cId="2649553884" sldId="358"/>
            <ac:picMk id="6" creationId="{D3D7111F-6333-4762-9D32-E788099F2408}"/>
          </ac:picMkLst>
        </pc:picChg>
      </pc:sldChg>
      <pc:sldChg chg="addSp delSp modSp add modAnim">
        <pc:chgData name="dincerkonur@yahoo.com" userId="0cb337efb386619d" providerId="LiveId" clId="{8861806D-F7E8-4E44-A038-AAC51D284870}" dt="2019-03-19T19:08:34.490" v="3071" actId="20577"/>
        <pc:sldMkLst>
          <pc:docMk/>
          <pc:sldMk cId="3539148286" sldId="359"/>
        </pc:sldMkLst>
        <pc:spChg chg="mod">
          <ac:chgData name="dincerkonur@yahoo.com" userId="0cb337efb386619d" providerId="LiveId" clId="{8861806D-F7E8-4E44-A038-AAC51D284870}" dt="2019-03-19T18:57:13.875" v="3044" actId="20577"/>
          <ac:spMkLst>
            <pc:docMk/>
            <pc:sldMk cId="3539148286" sldId="359"/>
            <ac:spMk id="3" creationId="{00000000-0000-0000-0000-000000000000}"/>
          </ac:spMkLst>
        </pc:spChg>
        <pc:spChg chg="del">
          <ac:chgData name="dincerkonur@yahoo.com" userId="0cb337efb386619d" providerId="LiveId" clId="{8861806D-F7E8-4E44-A038-AAC51D284870}" dt="2019-03-19T18:27:29.058" v="2960" actId="478"/>
          <ac:spMkLst>
            <pc:docMk/>
            <pc:sldMk cId="3539148286" sldId="359"/>
            <ac:spMk id="4" creationId="{37DACF23-318B-41E3-83EA-E2DD3E934C05}"/>
          </ac:spMkLst>
        </pc:spChg>
        <pc:spChg chg="add mod">
          <ac:chgData name="dincerkonur@yahoo.com" userId="0cb337efb386619d" providerId="LiveId" clId="{8861806D-F7E8-4E44-A038-AAC51D284870}" dt="2019-03-19T19:08:34.490" v="3071" actId="20577"/>
          <ac:spMkLst>
            <pc:docMk/>
            <pc:sldMk cId="3539148286" sldId="359"/>
            <ac:spMk id="6" creationId="{4426FD4C-7E42-4443-9B6B-AFA5E1C1B222}"/>
          </ac:spMkLst>
        </pc:spChg>
        <pc:graphicFrameChg chg="del">
          <ac:chgData name="dincerkonur@yahoo.com" userId="0cb337efb386619d" providerId="LiveId" clId="{8861806D-F7E8-4E44-A038-AAC51D284870}" dt="2019-03-19T18:27:24.663" v="2959" actId="478"/>
          <ac:graphicFrameMkLst>
            <pc:docMk/>
            <pc:sldMk cId="3539148286" sldId="359"/>
            <ac:graphicFrameMk id="8" creationId="{6C86ECB3-BC35-444F-8EEC-FEE58E29CE1A}"/>
          </ac:graphicFrameMkLst>
        </pc:graphicFrameChg>
      </pc:sldChg>
      <pc:sldChg chg="addSp modSp add modAnim">
        <pc:chgData name="dincerkonur@yahoo.com" userId="0cb337efb386619d" providerId="LiveId" clId="{8861806D-F7E8-4E44-A038-AAC51D284870}" dt="2019-03-19T19:08:40.576" v="3074" actId="20577"/>
        <pc:sldMkLst>
          <pc:docMk/>
          <pc:sldMk cId="891309868" sldId="360"/>
        </pc:sldMkLst>
        <pc:spChg chg="mod">
          <ac:chgData name="dincerkonur@yahoo.com" userId="0cb337efb386619d" providerId="LiveId" clId="{8861806D-F7E8-4E44-A038-AAC51D284870}" dt="2019-03-19T18:52:00.318" v="3009" actId="27636"/>
          <ac:spMkLst>
            <pc:docMk/>
            <pc:sldMk cId="891309868" sldId="360"/>
            <ac:spMk id="3" creationId="{00000000-0000-0000-0000-000000000000}"/>
          </ac:spMkLst>
        </pc:spChg>
        <pc:spChg chg="mod">
          <ac:chgData name="dincerkonur@yahoo.com" userId="0cb337efb386619d" providerId="LiveId" clId="{8861806D-F7E8-4E44-A038-AAC51D284870}" dt="2019-03-19T19:08:40.576" v="3074" actId="20577"/>
          <ac:spMkLst>
            <pc:docMk/>
            <pc:sldMk cId="891309868" sldId="360"/>
            <ac:spMk id="6" creationId="{4426FD4C-7E42-4443-9B6B-AFA5E1C1B222}"/>
          </ac:spMkLst>
        </pc:spChg>
        <pc:graphicFrameChg chg="add mod modGraphic">
          <ac:chgData name="dincerkonur@yahoo.com" userId="0cb337efb386619d" providerId="LiveId" clId="{8861806D-F7E8-4E44-A038-AAC51D284870}" dt="2019-03-19T18:52:21.884" v="3013" actId="1076"/>
          <ac:graphicFrameMkLst>
            <pc:docMk/>
            <pc:sldMk cId="891309868" sldId="360"/>
            <ac:graphicFrameMk id="5" creationId="{228928A3-1571-4914-B31E-B5B7CBCA27E3}"/>
          </ac:graphicFrameMkLst>
        </pc:graphicFrameChg>
      </pc:sldChg>
      <pc:sldChg chg="delSp modSp add delAnim modAnim">
        <pc:chgData name="dincerkonur@yahoo.com" userId="0cb337efb386619d" providerId="LiveId" clId="{8861806D-F7E8-4E44-A038-AAC51D284870}" dt="2019-03-19T20:02:27.801" v="3721" actId="20577"/>
        <pc:sldMkLst>
          <pc:docMk/>
          <pc:sldMk cId="3177436835" sldId="361"/>
        </pc:sldMkLst>
        <pc:spChg chg="mod">
          <ac:chgData name="dincerkonur@yahoo.com" userId="0cb337efb386619d" providerId="LiveId" clId="{8861806D-F7E8-4E44-A038-AAC51D284870}" dt="2019-03-19T19:13:56.303" v="3088" actId="20577"/>
          <ac:spMkLst>
            <pc:docMk/>
            <pc:sldMk cId="3177436835" sldId="361"/>
            <ac:spMk id="2" creationId="{00000000-0000-0000-0000-000000000000}"/>
          </ac:spMkLst>
        </pc:spChg>
        <pc:spChg chg="mod">
          <ac:chgData name="dincerkonur@yahoo.com" userId="0cb337efb386619d" providerId="LiveId" clId="{8861806D-F7E8-4E44-A038-AAC51D284870}" dt="2019-03-19T20:02:27.801" v="3721" actId="20577"/>
          <ac:spMkLst>
            <pc:docMk/>
            <pc:sldMk cId="3177436835" sldId="361"/>
            <ac:spMk id="3" creationId="{00000000-0000-0000-0000-000000000000}"/>
          </ac:spMkLst>
        </pc:spChg>
        <pc:spChg chg="del">
          <ac:chgData name="dincerkonur@yahoo.com" userId="0cb337efb386619d" providerId="LiveId" clId="{8861806D-F7E8-4E44-A038-AAC51D284870}" dt="2019-03-19T19:14:05.282" v="3092" actId="478"/>
          <ac:spMkLst>
            <pc:docMk/>
            <pc:sldMk cId="3177436835" sldId="361"/>
            <ac:spMk id="6" creationId="{4426FD4C-7E42-4443-9B6B-AFA5E1C1B222}"/>
          </ac:spMkLst>
        </pc:spChg>
        <pc:graphicFrameChg chg="del">
          <ac:chgData name="dincerkonur@yahoo.com" userId="0cb337efb386619d" providerId="LiveId" clId="{8861806D-F7E8-4E44-A038-AAC51D284870}" dt="2019-03-19T19:14:02.504" v="3091" actId="478"/>
          <ac:graphicFrameMkLst>
            <pc:docMk/>
            <pc:sldMk cId="3177436835" sldId="361"/>
            <ac:graphicFrameMk id="5" creationId="{228928A3-1571-4914-B31E-B5B7CBCA27E3}"/>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68A81C-13E0-402A-9BD9-36F3DFFB46F8}" type="datetimeFigureOut">
              <a:rPr lang="en-US" smtClean="0"/>
              <a:t>3/29/2024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9376B9-9838-4376-9895-3384D05A8DF5}" type="slidenum">
              <a:rPr lang="en-US" smtClean="0"/>
              <a:t>‹#›</a:t>
            </a:fld>
            <a:endParaRPr lang="en-US"/>
          </a:p>
        </p:txBody>
      </p:sp>
    </p:spTree>
    <p:extLst>
      <p:ext uri="{BB962C8B-B14F-4D97-AF65-F5344CB8AC3E}">
        <p14:creationId xmlns:p14="http://schemas.microsoft.com/office/powerpoint/2010/main" val="3997369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2</a:t>
            </a:fld>
            <a:endParaRPr lang="en-US"/>
          </a:p>
        </p:txBody>
      </p:sp>
    </p:spTree>
    <p:extLst>
      <p:ext uri="{BB962C8B-B14F-4D97-AF65-F5344CB8AC3E}">
        <p14:creationId xmlns:p14="http://schemas.microsoft.com/office/powerpoint/2010/main" val="11683819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3</a:t>
            </a:fld>
            <a:endParaRPr lang="en-US"/>
          </a:p>
        </p:txBody>
      </p:sp>
    </p:spTree>
    <p:extLst>
      <p:ext uri="{BB962C8B-B14F-4D97-AF65-F5344CB8AC3E}">
        <p14:creationId xmlns:p14="http://schemas.microsoft.com/office/powerpoint/2010/main" val="28537420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4</a:t>
            </a:fld>
            <a:endParaRPr lang="en-US"/>
          </a:p>
        </p:txBody>
      </p:sp>
    </p:spTree>
    <p:extLst>
      <p:ext uri="{BB962C8B-B14F-4D97-AF65-F5344CB8AC3E}">
        <p14:creationId xmlns:p14="http://schemas.microsoft.com/office/powerpoint/2010/main" val="2200187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13</a:t>
            </a:fld>
            <a:endParaRPr lang="en-US"/>
          </a:p>
        </p:txBody>
      </p:sp>
    </p:spTree>
    <p:extLst>
      <p:ext uri="{BB962C8B-B14F-4D97-AF65-F5344CB8AC3E}">
        <p14:creationId xmlns:p14="http://schemas.microsoft.com/office/powerpoint/2010/main" val="13111157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376B9-9838-4376-9895-3384D05A8DF5}" type="slidenum">
              <a:rPr lang="en-US" smtClean="0"/>
              <a:t>22</a:t>
            </a:fld>
            <a:endParaRPr lang="en-US"/>
          </a:p>
        </p:txBody>
      </p:sp>
    </p:spTree>
    <p:extLst>
      <p:ext uri="{BB962C8B-B14F-4D97-AF65-F5344CB8AC3E}">
        <p14:creationId xmlns:p14="http://schemas.microsoft.com/office/powerpoint/2010/main" val="4153105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376B9-9838-4376-9895-3384D05A8DF5}" type="slidenum">
              <a:rPr lang="en-US" smtClean="0"/>
              <a:t>23</a:t>
            </a:fld>
            <a:endParaRPr lang="en-US"/>
          </a:p>
        </p:txBody>
      </p:sp>
    </p:spTree>
    <p:extLst>
      <p:ext uri="{BB962C8B-B14F-4D97-AF65-F5344CB8AC3E}">
        <p14:creationId xmlns:p14="http://schemas.microsoft.com/office/powerpoint/2010/main" val="25132485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376B9-9838-4376-9895-3384D05A8DF5}" type="slidenum">
              <a:rPr lang="en-US" smtClean="0"/>
              <a:t>24</a:t>
            </a:fld>
            <a:endParaRPr lang="en-US"/>
          </a:p>
        </p:txBody>
      </p:sp>
    </p:spTree>
    <p:extLst>
      <p:ext uri="{BB962C8B-B14F-4D97-AF65-F5344CB8AC3E}">
        <p14:creationId xmlns:p14="http://schemas.microsoft.com/office/powerpoint/2010/main" val="16256723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376B9-9838-4376-9895-3384D05A8DF5}" type="slidenum">
              <a:rPr lang="en-US" smtClean="0"/>
              <a:t>25</a:t>
            </a:fld>
            <a:endParaRPr lang="en-US"/>
          </a:p>
        </p:txBody>
      </p:sp>
    </p:spTree>
    <p:extLst>
      <p:ext uri="{BB962C8B-B14F-4D97-AF65-F5344CB8AC3E}">
        <p14:creationId xmlns:p14="http://schemas.microsoft.com/office/powerpoint/2010/main" val="3967028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376B9-9838-4376-9895-3384D05A8DF5}" type="slidenum">
              <a:rPr lang="en-US" smtClean="0"/>
              <a:t>26</a:t>
            </a:fld>
            <a:endParaRPr lang="en-US"/>
          </a:p>
        </p:txBody>
      </p:sp>
    </p:spTree>
    <p:extLst>
      <p:ext uri="{BB962C8B-B14F-4D97-AF65-F5344CB8AC3E}">
        <p14:creationId xmlns:p14="http://schemas.microsoft.com/office/powerpoint/2010/main" val="8242602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376B9-9838-4376-9895-3384D05A8DF5}" type="slidenum">
              <a:rPr lang="en-US" smtClean="0"/>
              <a:t>27</a:t>
            </a:fld>
            <a:endParaRPr lang="en-US"/>
          </a:p>
        </p:txBody>
      </p:sp>
    </p:spTree>
    <p:extLst>
      <p:ext uri="{BB962C8B-B14F-4D97-AF65-F5344CB8AC3E}">
        <p14:creationId xmlns:p14="http://schemas.microsoft.com/office/powerpoint/2010/main" val="20942465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28</a:t>
            </a:fld>
            <a:endParaRPr lang="en-US"/>
          </a:p>
        </p:txBody>
      </p:sp>
    </p:spTree>
    <p:extLst>
      <p:ext uri="{BB962C8B-B14F-4D97-AF65-F5344CB8AC3E}">
        <p14:creationId xmlns:p14="http://schemas.microsoft.com/office/powerpoint/2010/main" val="4911958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376B9-9838-4376-9895-3384D05A8DF5}" type="slidenum">
              <a:rPr lang="en-US" smtClean="0"/>
              <a:t>30</a:t>
            </a:fld>
            <a:endParaRPr lang="en-US"/>
          </a:p>
        </p:txBody>
      </p:sp>
    </p:spTree>
    <p:extLst>
      <p:ext uri="{BB962C8B-B14F-4D97-AF65-F5344CB8AC3E}">
        <p14:creationId xmlns:p14="http://schemas.microsoft.com/office/powerpoint/2010/main" val="30282310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4DD3099-EF0D-4B9A-BBFF-09FBE6BF6054}" type="datetime1">
              <a:rPr lang="en-US" smtClean="0"/>
              <a:t>3/29/2024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132637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002" y="365125"/>
            <a:ext cx="11478410" cy="839731"/>
          </a:xfrm>
        </p:spPr>
        <p:txBody>
          <a:bodyPr/>
          <a:lstStyle/>
          <a:p>
            <a:r>
              <a:rPr lang="en-US"/>
              <a:t>Click to edit Master title style</a:t>
            </a:r>
          </a:p>
        </p:txBody>
      </p:sp>
      <p:sp>
        <p:nvSpPr>
          <p:cNvPr id="3" name="Content Placeholder 2"/>
          <p:cNvSpPr>
            <a:spLocks noGrp="1"/>
          </p:cNvSpPr>
          <p:nvPr>
            <p:ph idx="1"/>
          </p:nvPr>
        </p:nvSpPr>
        <p:spPr>
          <a:xfrm>
            <a:off x="355002" y="1312433"/>
            <a:ext cx="11478410" cy="48645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355002" y="6356350"/>
            <a:ext cx="3226398" cy="365125"/>
          </a:xfrm>
        </p:spPr>
        <p:txBody>
          <a:bodyPr/>
          <a:lstStyle/>
          <a:p>
            <a:fld id="{B1E3B061-4FCE-4A21-AC74-81FE2BC5CF3E}" type="datetime1">
              <a:rPr lang="en-US" smtClean="0"/>
              <a:t>3/29/2024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610600" y="6356350"/>
            <a:ext cx="3222812" cy="365125"/>
          </a:xfrm>
        </p:spPr>
        <p:txBody>
          <a:bodyPr/>
          <a:lstStyle/>
          <a:p>
            <a:fld id="{1F4BF737-9C2B-4B9F-9835-28D7237AA9BE}" type="slidenum">
              <a:rPr lang="en-US" smtClean="0"/>
              <a:t>‹#›</a:t>
            </a:fld>
            <a:endParaRPr lang="en-US"/>
          </a:p>
        </p:txBody>
      </p:sp>
      <p:cxnSp>
        <p:nvCxnSpPr>
          <p:cNvPr id="8" name="Straight Connector 7"/>
          <p:cNvCxnSpPr/>
          <p:nvPr userDrawn="1"/>
        </p:nvCxnSpPr>
        <p:spPr>
          <a:xfrm>
            <a:off x="355002" y="1193795"/>
            <a:ext cx="1147841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4795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759F54-5CF2-4FD0-836E-B479A78D51A3}" type="datetime1">
              <a:rPr lang="en-US" smtClean="0"/>
              <a:t>3/29/2024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354182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73933E6-EEC8-49F6-86B1-D403F7BCF2D7}" type="datetime1">
              <a:rPr lang="en-US" smtClean="0"/>
              <a:t>3/29/2024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3123447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77FC5F4-FF8A-4310-ACDA-118E50908757}" type="datetime1">
              <a:rPr lang="en-US" smtClean="0"/>
              <a:t>3/29/2024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459018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21ECC70-ED3C-42E3-B9D4-4CDAF46FBF6D}" type="datetime1">
              <a:rPr lang="en-US" smtClean="0"/>
              <a:t>3/29/2024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1237032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CC83FA-2A64-4953-B019-1B95DE5F0E9D}" type="datetime1">
              <a:rPr lang="en-US" smtClean="0"/>
              <a:t>3/29/2024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615553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5949A69-C0C1-4748-81A5-B3EAE2845645}" type="datetime1">
              <a:rPr lang="en-US" smtClean="0"/>
              <a:t>3/29/2024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267901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AE0C7C-8B0D-4808-9EE9-6B3127DD99F3}" type="datetime1">
              <a:rPr lang="en-US" smtClean="0"/>
              <a:t>3/29/2024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3607142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6B08BD7-923F-4248-A98A-25295194946A}" type="datetime1">
              <a:rPr lang="en-US" smtClean="0"/>
              <a:t>3/29/2024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4931673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35BBA94-316C-4F17-807F-67A425FEAD68}" type="datetime1">
              <a:rPr lang="en-US" smtClean="0"/>
              <a:t>3/29/2024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1272868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98F577-5F6A-4371-8B61-A5EB0D2162DC}" type="datetime1">
              <a:rPr lang="en-US" smtClean="0"/>
              <a:t>3/29/2024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4BF737-9C2B-4B9F-9835-28D7237AA9BE}" type="slidenum">
              <a:rPr lang="en-US" smtClean="0"/>
              <a:t>‹#›</a:t>
            </a:fld>
            <a:endParaRPr lang="en-US"/>
          </a:p>
        </p:txBody>
      </p:sp>
    </p:spTree>
    <p:extLst>
      <p:ext uri="{BB962C8B-B14F-4D97-AF65-F5344CB8AC3E}">
        <p14:creationId xmlns:p14="http://schemas.microsoft.com/office/powerpoint/2010/main" val="34313022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110.png"/><Relationship Id="rId7" Type="http://schemas.openxmlformats.org/officeDocument/2006/relationships/image" Target="../media/image50.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5.png"/><Relationship Id="rId4" Type="http://schemas.openxmlformats.org/officeDocument/2006/relationships/image" Target="../media/image210.png"/></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40.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2425" y="1298713"/>
            <a:ext cx="11487150" cy="4479235"/>
          </a:xfrm>
        </p:spPr>
        <p:txBody>
          <a:bodyPr>
            <a:normAutofit/>
          </a:bodyPr>
          <a:lstStyle/>
          <a:p>
            <a:r>
              <a:rPr lang="en-US" sz="3600" dirty="0"/>
              <a:t>QMST 5335</a:t>
            </a:r>
            <a:br>
              <a:rPr lang="en-US" sz="3200" dirty="0"/>
            </a:br>
            <a:r>
              <a:rPr lang="en-US" sz="2800" dirty="0"/>
              <a:t>Module 3.1</a:t>
            </a:r>
            <a:br>
              <a:rPr lang="en-US" sz="3200" dirty="0"/>
            </a:br>
            <a:br>
              <a:rPr lang="en-US" sz="5400" dirty="0"/>
            </a:br>
            <a:r>
              <a:rPr lang="en-US" sz="5400" b="1" dirty="0"/>
              <a:t>Introduction to </a:t>
            </a:r>
            <a:r>
              <a:rPr lang="en-US" sz="5400" b="1" dirty="0" err="1"/>
              <a:t>Simio</a:t>
            </a:r>
            <a:r>
              <a:rPr lang="en-US" sz="5400" b="1" dirty="0"/>
              <a:t> and First </a:t>
            </a:r>
            <a:r>
              <a:rPr lang="en-US" sz="5400" b="1" dirty="0" err="1"/>
              <a:t>Simio</a:t>
            </a:r>
            <a:r>
              <a:rPr lang="en-US" sz="5400" b="1" dirty="0"/>
              <a:t> Models</a:t>
            </a:r>
            <a:br>
              <a:rPr lang="en-US" sz="5400" dirty="0"/>
            </a:br>
            <a:endParaRPr lang="en-US" sz="4400" b="1" dirty="0">
              <a:solidFill>
                <a:srgbClr val="C00000"/>
              </a:solidFill>
            </a:endParaRPr>
          </a:p>
        </p:txBody>
      </p:sp>
    </p:spTree>
    <p:extLst>
      <p:ext uri="{BB962C8B-B14F-4D97-AF65-F5344CB8AC3E}">
        <p14:creationId xmlns:p14="http://schemas.microsoft.com/office/powerpoint/2010/main" val="2532952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Learning Objectives:</a:t>
            </a:r>
            <a:endParaRPr lang="en-US" dirty="0"/>
          </a:p>
        </p:txBody>
      </p:sp>
      <p:sp>
        <p:nvSpPr>
          <p:cNvPr id="3" name="Content Placeholder 2"/>
          <p:cNvSpPr>
            <a:spLocks noGrp="1"/>
          </p:cNvSpPr>
          <p:nvPr>
            <p:ph idx="1"/>
          </p:nvPr>
        </p:nvSpPr>
        <p:spPr/>
        <p:txBody>
          <a:bodyPr>
            <a:normAutofit/>
          </a:bodyPr>
          <a:lstStyle/>
          <a:p>
            <a:r>
              <a:rPr lang="en-US" dirty="0"/>
              <a:t>Understanding the basics of </a:t>
            </a:r>
            <a:r>
              <a:rPr lang="en-US" dirty="0" err="1"/>
              <a:t>Simio</a:t>
            </a:r>
            <a:r>
              <a:rPr lang="en-US" dirty="0"/>
              <a:t> to design a simulation model</a:t>
            </a:r>
          </a:p>
          <a:p>
            <a:r>
              <a:rPr lang="en-US" dirty="0"/>
              <a:t>Learning the basics of experimentation and analysis </a:t>
            </a:r>
          </a:p>
          <a:p>
            <a:r>
              <a:rPr lang="en-US" dirty="0"/>
              <a:t>Understanding the need for model verification</a:t>
            </a:r>
          </a:p>
        </p:txBody>
      </p:sp>
    </p:spTree>
    <p:extLst>
      <p:ext uri="{BB962C8B-B14F-4D97-AF65-F5344CB8AC3E}">
        <p14:creationId xmlns:p14="http://schemas.microsoft.com/office/powerpoint/2010/main" val="2474569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normAutofit/>
          </a:bodyPr>
          <a:lstStyle/>
          <a:p>
            <a:r>
              <a:rPr lang="en-US" dirty="0"/>
              <a:t>Basic </a:t>
            </a:r>
            <a:r>
              <a:rPr lang="en-US" dirty="0" err="1"/>
              <a:t>Simio</a:t>
            </a:r>
            <a:r>
              <a:rPr lang="en-US" dirty="0"/>
              <a:t> User Interface </a:t>
            </a:r>
          </a:p>
          <a:p>
            <a:endParaRPr lang="en-US" dirty="0"/>
          </a:p>
          <a:p>
            <a:r>
              <a:rPr lang="en-US" dirty="0"/>
              <a:t>First </a:t>
            </a:r>
            <a:r>
              <a:rPr lang="en-US" dirty="0" err="1"/>
              <a:t>Simio</a:t>
            </a:r>
            <a:r>
              <a:rPr lang="en-US" dirty="0"/>
              <a:t> Model</a:t>
            </a:r>
          </a:p>
          <a:p>
            <a:pPr lvl="1"/>
            <a:r>
              <a:rPr lang="en-US" dirty="0"/>
              <a:t>Modeling : An M/M/1 </a:t>
            </a:r>
          </a:p>
          <a:p>
            <a:pPr lvl="1"/>
            <a:r>
              <a:rPr lang="en-US" dirty="0"/>
              <a:t>Verification: An M/M/1</a:t>
            </a:r>
          </a:p>
          <a:p>
            <a:pPr lvl="1"/>
            <a:endParaRPr lang="en-US" dirty="0"/>
          </a:p>
          <a:p>
            <a:r>
              <a:rPr lang="en-US" dirty="0"/>
              <a:t>A Review with an Example</a:t>
            </a:r>
          </a:p>
          <a:p>
            <a:pPr marL="0" indent="0">
              <a:buNone/>
            </a:pPr>
            <a:endParaRPr lang="en-US" dirty="0"/>
          </a:p>
        </p:txBody>
      </p:sp>
    </p:spTree>
    <p:extLst>
      <p:ext uri="{BB962C8B-B14F-4D97-AF65-F5344CB8AC3E}">
        <p14:creationId xmlns:p14="http://schemas.microsoft.com/office/powerpoint/2010/main" val="169697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normAutofit/>
          </a:bodyPr>
          <a:lstStyle/>
          <a:p>
            <a:r>
              <a:rPr lang="en-US" dirty="0"/>
              <a:t>Basic </a:t>
            </a:r>
            <a:r>
              <a:rPr lang="en-US" dirty="0" err="1"/>
              <a:t>Simio</a:t>
            </a:r>
            <a:r>
              <a:rPr lang="en-US" dirty="0"/>
              <a:t> User Interface </a:t>
            </a:r>
          </a:p>
          <a:p>
            <a:endParaRPr lang="en-US" dirty="0"/>
          </a:p>
          <a:p>
            <a:r>
              <a:rPr lang="en-US" dirty="0">
                <a:solidFill>
                  <a:schemeClr val="bg2"/>
                </a:solidFill>
              </a:rPr>
              <a:t>First </a:t>
            </a:r>
            <a:r>
              <a:rPr lang="en-US" dirty="0" err="1">
                <a:solidFill>
                  <a:schemeClr val="bg2"/>
                </a:solidFill>
              </a:rPr>
              <a:t>Simio</a:t>
            </a:r>
            <a:r>
              <a:rPr lang="en-US" dirty="0">
                <a:solidFill>
                  <a:schemeClr val="bg2"/>
                </a:solidFill>
              </a:rPr>
              <a:t> Model</a:t>
            </a:r>
          </a:p>
          <a:p>
            <a:pPr lvl="1"/>
            <a:r>
              <a:rPr lang="en-US" dirty="0">
                <a:solidFill>
                  <a:schemeClr val="bg2"/>
                </a:solidFill>
              </a:rPr>
              <a:t>Modeling : An M/M/1 </a:t>
            </a:r>
          </a:p>
          <a:p>
            <a:pPr lvl="1"/>
            <a:r>
              <a:rPr lang="en-US" dirty="0">
                <a:solidFill>
                  <a:schemeClr val="bg2"/>
                </a:solidFill>
              </a:rPr>
              <a:t>Verification: An M/M/1</a:t>
            </a:r>
          </a:p>
          <a:p>
            <a:pPr lvl="1"/>
            <a:endParaRPr lang="en-US" dirty="0">
              <a:solidFill>
                <a:schemeClr val="bg2"/>
              </a:solidFill>
            </a:endParaRPr>
          </a:p>
          <a:p>
            <a:r>
              <a:rPr lang="en-US" dirty="0">
                <a:solidFill>
                  <a:schemeClr val="bg2"/>
                </a:solidFill>
              </a:rPr>
              <a:t>A Review with an Example</a:t>
            </a:r>
          </a:p>
          <a:p>
            <a:pPr marL="0" indent="0">
              <a:buNone/>
            </a:pPr>
            <a:endParaRPr lang="en-US" dirty="0"/>
          </a:p>
        </p:txBody>
      </p:sp>
    </p:spTree>
    <p:extLst>
      <p:ext uri="{BB962C8B-B14F-4D97-AF65-F5344CB8AC3E}">
        <p14:creationId xmlns:p14="http://schemas.microsoft.com/office/powerpoint/2010/main" val="1872450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a:t>
            </a:r>
            <a:r>
              <a:rPr lang="en-US" dirty="0" err="1"/>
              <a:t>Simio</a:t>
            </a:r>
            <a:r>
              <a:rPr lang="en-US" dirty="0"/>
              <a:t> User Interface</a:t>
            </a:r>
          </a:p>
        </p:txBody>
      </p:sp>
      <p:sp>
        <p:nvSpPr>
          <p:cNvPr id="3" name="Content Placeholder 2"/>
          <p:cNvSpPr>
            <a:spLocks noGrp="1"/>
          </p:cNvSpPr>
          <p:nvPr>
            <p:ph idx="1"/>
          </p:nvPr>
        </p:nvSpPr>
        <p:spPr/>
        <p:txBody>
          <a:bodyPr>
            <a:normAutofit/>
          </a:bodyPr>
          <a:lstStyle/>
          <a:p>
            <a:r>
              <a:rPr lang="en-US" dirty="0"/>
              <a:t>When you load </a:t>
            </a:r>
            <a:r>
              <a:rPr lang="en-US" dirty="0" err="1"/>
              <a:t>Simio</a:t>
            </a:r>
            <a:r>
              <a:rPr lang="en-US" dirty="0"/>
              <a:t>, you will see the Facility View</a:t>
            </a:r>
          </a:p>
          <a:p>
            <a:pPr lvl="1"/>
            <a:endParaRPr lang="en-US" dirty="0"/>
          </a:p>
        </p:txBody>
      </p:sp>
      <p:sp>
        <p:nvSpPr>
          <p:cNvPr id="5" name="TextBox 4">
            <a:extLst>
              <a:ext uri="{FF2B5EF4-FFF2-40B4-BE49-F238E27FC236}">
                <a16:creationId xmlns:a16="http://schemas.microsoft.com/office/drawing/2014/main" id="{3D174346-2B56-441C-B46C-AD85AEEB122D}"/>
              </a:ext>
            </a:extLst>
          </p:cNvPr>
          <p:cNvSpPr txBox="1"/>
          <p:nvPr/>
        </p:nvSpPr>
        <p:spPr>
          <a:xfrm>
            <a:off x="7920160" y="2675693"/>
            <a:ext cx="3218011" cy="1200329"/>
          </a:xfrm>
          <a:prstGeom prst="rect">
            <a:avLst/>
          </a:prstGeom>
          <a:noFill/>
        </p:spPr>
        <p:txBody>
          <a:bodyPr wrap="square" rtlCol="0">
            <a:spAutoFit/>
          </a:bodyPr>
          <a:lstStyle/>
          <a:p>
            <a:r>
              <a:rPr lang="en-US" dirty="0"/>
              <a:t>Organized in ‘tabs’ and ‘ribbons’</a:t>
            </a:r>
          </a:p>
          <a:p>
            <a:r>
              <a:rPr lang="en-US" dirty="0">
                <a:sym typeface="Wingdings" panose="05000000000000000000" pitchFamily="2" charset="2"/>
              </a:rPr>
              <a:t> What you see will depend on where you are</a:t>
            </a:r>
            <a:endParaRPr lang="en-US" dirty="0"/>
          </a:p>
          <a:p>
            <a:endParaRPr lang="en-US" dirty="0"/>
          </a:p>
        </p:txBody>
      </p:sp>
      <p:pic>
        <p:nvPicPr>
          <p:cNvPr id="7" name="Picture 6">
            <a:extLst>
              <a:ext uri="{FF2B5EF4-FFF2-40B4-BE49-F238E27FC236}">
                <a16:creationId xmlns:a16="http://schemas.microsoft.com/office/drawing/2014/main" id="{4784DFF8-E65E-414C-BC50-4BBA2DE1B99D}"/>
              </a:ext>
            </a:extLst>
          </p:cNvPr>
          <p:cNvPicPr>
            <a:picLocks noChangeAspect="1"/>
          </p:cNvPicPr>
          <p:nvPr/>
        </p:nvPicPr>
        <p:blipFill>
          <a:blip r:embed="rId2"/>
          <a:stretch>
            <a:fillRect/>
          </a:stretch>
        </p:blipFill>
        <p:spPr>
          <a:xfrm>
            <a:off x="431928" y="2249645"/>
            <a:ext cx="6981898" cy="3927318"/>
          </a:xfrm>
          <a:prstGeom prst="rect">
            <a:avLst/>
          </a:prstGeom>
        </p:spPr>
      </p:pic>
    </p:spTree>
    <p:extLst>
      <p:ext uri="{BB962C8B-B14F-4D97-AF65-F5344CB8AC3E}">
        <p14:creationId xmlns:p14="http://schemas.microsoft.com/office/powerpoint/2010/main" val="914106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a:t>
            </a:r>
            <a:r>
              <a:rPr lang="en-US" dirty="0" err="1"/>
              <a:t>Simio</a:t>
            </a:r>
            <a:r>
              <a:rPr lang="en-US" dirty="0"/>
              <a:t> User Interface</a:t>
            </a:r>
          </a:p>
        </p:txBody>
      </p:sp>
      <p:sp>
        <p:nvSpPr>
          <p:cNvPr id="3" name="Content Placeholder 2"/>
          <p:cNvSpPr>
            <a:spLocks noGrp="1"/>
          </p:cNvSpPr>
          <p:nvPr>
            <p:ph idx="1"/>
          </p:nvPr>
        </p:nvSpPr>
        <p:spPr/>
        <p:txBody>
          <a:bodyPr>
            <a:normAutofit/>
          </a:bodyPr>
          <a:lstStyle/>
          <a:p>
            <a:r>
              <a:rPr lang="en-US" dirty="0"/>
              <a:t>Support Ribbon</a:t>
            </a:r>
          </a:p>
          <a:p>
            <a:endParaRPr lang="en-US" dirty="0"/>
          </a:p>
          <a:p>
            <a:endParaRPr lang="en-US" dirty="0"/>
          </a:p>
          <a:p>
            <a:endParaRPr lang="en-US" dirty="0"/>
          </a:p>
          <a:p>
            <a:pPr lvl="1"/>
            <a:r>
              <a:rPr lang="en-US" dirty="0"/>
              <a:t>Multiple Video Sets and hundreds of YouTube videos</a:t>
            </a:r>
          </a:p>
          <a:p>
            <a:pPr lvl="1"/>
            <a:r>
              <a:rPr lang="en-US" dirty="0"/>
              <a:t>Other Publications for reference</a:t>
            </a:r>
          </a:p>
          <a:p>
            <a:pPr lvl="1"/>
            <a:r>
              <a:rPr lang="en-US" dirty="0" err="1"/>
              <a:t>SimBits</a:t>
            </a:r>
            <a:endParaRPr lang="en-US" dirty="0"/>
          </a:p>
          <a:p>
            <a:pPr lvl="2"/>
            <a:r>
              <a:rPr lang="en-US" dirty="0"/>
              <a:t>Small examples for a concept</a:t>
            </a:r>
          </a:p>
          <a:p>
            <a:pPr lvl="2"/>
            <a:r>
              <a:rPr lang="en-US" dirty="0"/>
              <a:t>comes with pdf and the </a:t>
            </a:r>
            <a:r>
              <a:rPr lang="en-US" dirty="0" err="1"/>
              <a:t>simio</a:t>
            </a:r>
            <a:r>
              <a:rPr lang="en-US" dirty="0"/>
              <a:t> model</a:t>
            </a:r>
          </a:p>
          <a:p>
            <a:pPr lvl="2"/>
            <a:r>
              <a:rPr lang="en-US" dirty="0"/>
              <a:t>You can search </a:t>
            </a:r>
            <a:r>
              <a:rPr lang="en-US" dirty="0" err="1"/>
              <a:t>SimBits</a:t>
            </a:r>
            <a:endParaRPr lang="en-US" dirty="0"/>
          </a:p>
          <a:p>
            <a:endParaRPr lang="en-US" dirty="0"/>
          </a:p>
          <a:p>
            <a:endParaRPr lang="en-US" dirty="0"/>
          </a:p>
          <a:p>
            <a:pPr lvl="1"/>
            <a:endParaRPr lang="en-US" dirty="0"/>
          </a:p>
        </p:txBody>
      </p:sp>
      <p:pic>
        <p:nvPicPr>
          <p:cNvPr id="5" name="Picture 4">
            <a:extLst>
              <a:ext uri="{FF2B5EF4-FFF2-40B4-BE49-F238E27FC236}">
                <a16:creationId xmlns:a16="http://schemas.microsoft.com/office/drawing/2014/main" id="{CDBDFB38-59ED-413B-BAA0-292D85CED9D1}"/>
              </a:ext>
            </a:extLst>
          </p:cNvPr>
          <p:cNvPicPr>
            <a:picLocks noChangeAspect="1"/>
          </p:cNvPicPr>
          <p:nvPr/>
        </p:nvPicPr>
        <p:blipFill>
          <a:blip r:embed="rId2"/>
          <a:stretch>
            <a:fillRect/>
          </a:stretch>
        </p:blipFill>
        <p:spPr>
          <a:xfrm>
            <a:off x="790336" y="1789804"/>
            <a:ext cx="8891276" cy="1372139"/>
          </a:xfrm>
          <a:prstGeom prst="rect">
            <a:avLst/>
          </a:prstGeom>
        </p:spPr>
      </p:pic>
      <p:pic>
        <p:nvPicPr>
          <p:cNvPr id="9" name="Picture 8">
            <a:extLst>
              <a:ext uri="{FF2B5EF4-FFF2-40B4-BE49-F238E27FC236}">
                <a16:creationId xmlns:a16="http://schemas.microsoft.com/office/drawing/2014/main" id="{8ECA1198-5DF8-4E3E-8D00-07B21E02997B}"/>
              </a:ext>
            </a:extLst>
          </p:cNvPr>
          <p:cNvPicPr>
            <a:picLocks noChangeAspect="1"/>
          </p:cNvPicPr>
          <p:nvPr/>
        </p:nvPicPr>
        <p:blipFill>
          <a:blip r:embed="rId3"/>
          <a:stretch>
            <a:fillRect/>
          </a:stretch>
        </p:blipFill>
        <p:spPr>
          <a:xfrm>
            <a:off x="6241580" y="3784772"/>
            <a:ext cx="3440032" cy="2869562"/>
          </a:xfrm>
          <a:prstGeom prst="rect">
            <a:avLst/>
          </a:prstGeom>
        </p:spPr>
      </p:pic>
    </p:spTree>
    <p:extLst>
      <p:ext uri="{BB962C8B-B14F-4D97-AF65-F5344CB8AC3E}">
        <p14:creationId xmlns:p14="http://schemas.microsoft.com/office/powerpoint/2010/main" val="4041807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B0DEF46-1CD3-477D-96B1-F225F14387C9}"/>
              </a:ext>
            </a:extLst>
          </p:cNvPr>
          <p:cNvPicPr>
            <a:picLocks noChangeAspect="1"/>
          </p:cNvPicPr>
          <p:nvPr/>
        </p:nvPicPr>
        <p:blipFill>
          <a:blip r:embed="rId2"/>
          <a:stretch>
            <a:fillRect/>
          </a:stretch>
        </p:blipFill>
        <p:spPr>
          <a:xfrm>
            <a:off x="3533537" y="1700212"/>
            <a:ext cx="5736275" cy="5157788"/>
          </a:xfrm>
          <a:prstGeom prst="rect">
            <a:avLst/>
          </a:prstGeom>
        </p:spPr>
      </p:pic>
      <p:sp>
        <p:nvSpPr>
          <p:cNvPr id="2" name="Title 1"/>
          <p:cNvSpPr>
            <a:spLocks noGrp="1"/>
          </p:cNvSpPr>
          <p:nvPr>
            <p:ph type="title"/>
          </p:nvPr>
        </p:nvSpPr>
        <p:spPr/>
        <p:txBody>
          <a:bodyPr/>
          <a:lstStyle/>
          <a:p>
            <a:r>
              <a:rPr lang="en-US" dirty="0"/>
              <a:t>Basic </a:t>
            </a:r>
            <a:r>
              <a:rPr lang="en-US" dirty="0" err="1"/>
              <a:t>Simio</a:t>
            </a:r>
            <a:r>
              <a:rPr lang="en-US" dirty="0"/>
              <a:t> User Interface</a:t>
            </a:r>
          </a:p>
        </p:txBody>
      </p:sp>
      <p:sp>
        <p:nvSpPr>
          <p:cNvPr id="3" name="Content Placeholder 2"/>
          <p:cNvSpPr>
            <a:spLocks noGrp="1"/>
          </p:cNvSpPr>
          <p:nvPr>
            <p:ph idx="1"/>
          </p:nvPr>
        </p:nvSpPr>
        <p:spPr>
          <a:xfrm>
            <a:off x="355002" y="1312433"/>
            <a:ext cx="11478410" cy="4864530"/>
          </a:xfrm>
        </p:spPr>
        <p:txBody>
          <a:bodyPr>
            <a:normAutofit/>
          </a:bodyPr>
          <a:lstStyle/>
          <a:p>
            <a:r>
              <a:rPr lang="en-US" dirty="0"/>
              <a:t>User Interface</a:t>
            </a:r>
          </a:p>
          <a:p>
            <a:endParaRPr lang="en-US" dirty="0"/>
          </a:p>
          <a:p>
            <a:endParaRPr lang="en-US" dirty="0"/>
          </a:p>
          <a:p>
            <a:endParaRPr lang="en-US" dirty="0"/>
          </a:p>
          <a:p>
            <a:endParaRPr lang="en-US" dirty="0"/>
          </a:p>
          <a:p>
            <a:pPr lvl="1"/>
            <a:endParaRPr lang="en-US" dirty="0"/>
          </a:p>
        </p:txBody>
      </p:sp>
      <p:cxnSp>
        <p:nvCxnSpPr>
          <p:cNvPr id="10" name="Straight Arrow Connector 9">
            <a:extLst>
              <a:ext uri="{FF2B5EF4-FFF2-40B4-BE49-F238E27FC236}">
                <a16:creationId xmlns:a16="http://schemas.microsoft.com/office/drawing/2014/main" id="{E330EC53-2AB7-4DFB-8097-336012FB92D5}"/>
              </a:ext>
            </a:extLst>
          </p:cNvPr>
          <p:cNvCxnSpPr>
            <a:cxnSpLocks/>
            <a:stCxn id="5" idx="3"/>
          </p:cNvCxnSpPr>
          <p:nvPr/>
        </p:nvCxnSpPr>
        <p:spPr>
          <a:xfrm flipV="1">
            <a:off x="2648731" y="1916105"/>
            <a:ext cx="926159" cy="32646"/>
          </a:xfrm>
          <a:prstGeom prst="straightConnector1">
            <a:avLst/>
          </a:prstGeom>
          <a:ln w="19050">
            <a:solidFill>
              <a:srgbClr val="FF0000"/>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FB77AAA-FA31-40BA-B241-33C30B8A32B1}"/>
              </a:ext>
            </a:extLst>
          </p:cNvPr>
          <p:cNvCxnSpPr>
            <a:cxnSpLocks/>
          </p:cNvCxnSpPr>
          <p:nvPr/>
        </p:nvCxnSpPr>
        <p:spPr>
          <a:xfrm flipV="1">
            <a:off x="1835127" y="2164644"/>
            <a:ext cx="1652459" cy="217312"/>
          </a:xfrm>
          <a:prstGeom prst="straightConnector1">
            <a:avLst/>
          </a:prstGeom>
          <a:ln w="19050">
            <a:solidFill>
              <a:srgbClr val="FF0000"/>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6E24FEF-9BCA-4CFC-9C57-7385C07CCAFB}"/>
              </a:ext>
            </a:extLst>
          </p:cNvPr>
          <p:cNvCxnSpPr>
            <a:cxnSpLocks/>
          </p:cNvCxnSpPr>
          <p:nvPr/>
        </p:nvCxnSpPr>
        <p:spPr>
          <a:xfrm flipV="1">
            <a:off x="1876071" y="2552423"/>
            <a:ext cx="1611515" cy="330338"/>
          </a:xfrm>
          <a:prstGeom prst="straightConnector1">
            <a:avLst/>
          </a:prstGeom>
          <a:ln w="19050">
            <a:solidFill>
              <a:srgbClr val="FF0000"/>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A44441D8-F0FF-4553-ACF9-6DA906DC06F2}"/>
              </a:ext>
            </a:extLst>
          </p:cNvPr>
          <p:cNvCxnSpPr>
            <a:cxnSpLocks/>
          </p:cNvCxnSpPr>
          <p:nvPr/>
        </p:nvCxnSpPr>
        <p:spPr>
          <a:xfrm flipH="1">
            <a:off x="7971503" y="2574878"/>
            <a:ext cx="2478133" cy="133392"/>
          </a:xfrm>
          <a:prstGeom prst="straightConnector1">
            <a:avLst/>
          </a:prstGeom>
          <a:ln w="19050">
            <a:solidFill>
              <a:srgbClr val="FF0000"/>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9C034DA1-DBB9-4AD8-8E36-BF94A82C1D49}"/>
              </a:ext>
            </a:extLst>
          </p:cNvPr>
          <p:cNvCxnSpPr>
            <a:cxnSpLocks/>
          </p:cNvCxnSpPr>
          <p:nvPr/>
        </p:nvCxnSpPr>
        <p:spPr>
          <a:xfrm flipH="1" flipV="1">
            <a:off x="7971503" y="2882761"/>
            <a:ext cx="1794363" cy="347964"/>
          </a:xfrm>
          <a:prstGeom prst="straightConnector1">
            <a:avLst/>
          </a:prstGeom>
          <a:ln w="19050">
            <a:solidFill>
              <a:srgbClr val="FF0000"/>
            </a:solidFill>
            <a:tailEnd type="triangle" w="lg" len="med"/>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087ABA19-A68F-4B9D-950C-EB11EFF0069F}"/>
              </a:ext>
            </a:extLst>
          </p:cNvPr>
          <p:cNvSpPr/>
          <p:nvPr/>
        </p:nvSpPr>
        <p:spPr>
          <a:xfrm>
            <a:off x="1438143" y="1764085"/>
            <a:ext cx="1210588" cy="369332"/>
          </a:xfrm>
          <a:prstGeom prst="rect">
            <a:avLst/>
          </a:prstGeom>
        </p:spPr>
        <p:txBody>
          <a:bodyPr wrap="none">
            <a:spAutoFit/>
          </a:bodyPr>
          <a:lstStyle/>
          <a:p>
            <a:r>
              <a:rPr lang="en-US" dirty="0">
                <a:solidFill>
                  <a:srgbClr val="C00000"/>
                </a:solidFill>
              </a:rPr>
              <a:t>Files Menu</a:t>
            </a:r>
          </a:p>
        </p:txBody>
      </p:sp>
      <p:sp>
        <p:nvSpPr>
          <p:cNvPr id="21" name="Rectangle 20">
            <a:extLst>
              <a:ext uri="{FF2B5EF4-FFF2-40B4-BE49-F238E27FC236}">
                <a16:creationId xmlns:a16="http://schemas.microsoft.com/office/drawing/2014/main" id="{C58BF8A3-B6D6-4EC0-8297-EDE09CA3763E}"/>
              </a:ext>
            </a:extLst>
          </p:cNvPr>
          <p:cNvSpPr/>
          <p:nvPr/>
        </p:nvSpPr>
        <p:spPr>
          <a:xfrm>
            <a:off x="853377" y="2120201"/>
            <a:ext cx="939681" cy="369332"/>
          </a:xfrm>
          <a:prstGeom prst="rect">
            <a:avLst/>
          </a:prstGeom>
        </p:spPr>
        <p:txBody>
          <a:bodyPr wrap="none">
            <a:spAutoFit/>
          </a:bodyPr>
          <a:lstStyle/>
          <a:p>
            <a:r>
              <a:rPr lang="en-US" dirty="0">
                <a:solidFill>
                  <a:srgbClr val="C00000"/>
                </a:solidFill>
              </a:rPr>
              <a:t>Ribbons</a:t>
            </a:r>
          </a:p>
        </p:txBody>
      </p:sp>
      <p:sp>
        <p:nvSpPr>
          <p:cNvPr id="23" name="Rectangle 22">
            <a:extLst>
              <a:ext uri="{FF2B5EF4-FFF2-40B4-BE49-F238E27FC236}">
                <a16:creationId xmlns:a16="http://schemas.microsoft.com/office/drawing/2014/main" id="{9E3B5A81-5397-4D44-BB9C-59546CC8607B}"/>
              </a:ext>
            </a:extLst>
          </p:cNvPr>
          <p:cNvSpPr/>
          <p:nvPr/>
        </p:nvSpPr>
        <p:spPr>
          <a:xfrm>
            <a:off x="546551" y="2663342"/>
            <a:ext cx="1314334" cy="369332"/>
          </a:xfrm>
          <a:prstGeom prst="rect">
            <a:avLst/>
          </a:prstGeom>
        </p:spPr>
        <p:txBody>
          <a:bodyPr wrap="none">
            <a:spAutoFit/>
          </a:bodyPr>
          <a:lstStyle/>
          <a:p>
            <a:r>
              <a:rPr lang="en-US" dirty="0">
                <a:solidFill>
                  <a:srgbClr val="C00000"/>
                </a:solidFill>
              </a:rPr>
              <a:t>Project Tabs</a:t>
            </a:r>
          </a:p>
        </p:txBody>
      </p:sp>
      <p:sp>
        <p:nvSpPr>
          <p:cNvPr id="25" name="Rectangle 24">
            <a:extLst>
              <a:ext uri="{FF2B5EF4-FFF2-40B4-BE49-F238E27FC236}">
                <a16:creationId xmlns:a16="http://schemas.microsoft.com/office/drawing/2014/main" id="{43463FB5-21D2-4D88-AF74-34FF898A3204}"/>
              </a:ext>
            </a:extLst>
          </p:cNvPr>
          <p:cNvSpPr/>
          <p:nvPr/>
        </p:nvSpPr>
        <p:spPr>
          <a:xfrm>
            <a:off x="1642081" y="4482927"/>
            <a:ext cx="981423" cy="369332"/>
          </a:xfrm>
          <a:prstGeom prst="rect">
            <a:avLst/>
          </a:prstGeom>
        </p:spPr>
        <p:txBody>
          <a:bodyPr wrap="none">
            <a:spAutoFit/>
          </a:bodyPr>
          <a:lstStyle/>
          <a:p>
            <a:r>
              <a:rPr lang="en-US" dirty="0">
                <a:solidFill>
                  <a:srgbClr val="C00000"/>
                </a:solidFill>
              </a:rPr>
              <a:t>Libraries</a:t>
            </a:r>
          </a:p>
        </p:txBody>
      </p:sp>
      <p:sp>
        <p:nvSpPr>
          <p:cNvPr id="28" name="Rectangle 27">
            <a:extLst>
              <a:ext uri="{FF2B5EF4-FFF2-40B4-BE49-F238E27FC236}">
                <a16:creationId xmlns:a16="http://schemas.microsoft.com/office/drawing/2014/main" id="{B7C36552-0A30-4B49-963B-D92E1C90CB71}"/>
              </a:ext>
            </a:extLst>
          </p:cNvPr>
          <p:cNvSpPr/>
          <p:nvPr/>
        </p:nvSpPr>
        <p:spPr>
          <a:xfrm>
            <a:off x="10627698" y="2366155"/>
            <a:ext cx="846194" cy="369332"/>
          </a:xfrm>
          <a:prstGeom prst="rect">
            <a:avLst/>
          </a:prstGeom>
        </p:spPr>
        <p:txBody>
          <a:bodyPr wrap="none">
            <a:spAutoFit/>
          </a:bodyPr>
          <a:lstStyle/>
          <a:p>
            <a:r>
              <a:rPr lang="en-US" dirty="0">
                <a:solidFill>
                  <a:srgbClr val="C00000"/>
                </a:solidFill>
              </a:rPr>
              <a:t>Project</a:t>
            </a:r>
          </a:p>
        </p:txBody>
      </p:sp>
      <p:sp>
        <p:nvSpPr>
          <p:cNvPr id="31" name="Rectangle 30">
            <a:extLst>
              <a:ext uri="{FF2B5EF4-FFF2-40B4-BE49-F238E27FC236}">
                <a16:creationId xmlns:a16="http://schemas.microsoft.com/office/drawing/2014/main" id="{4A3606B9-5872-49AC-91C3-82B7403117FB}"/>
              </a:ext>
            </a:extLst>
          </p:cNvPr>
          <p:cNvSpPr/>
          <p:nvPr/>
        </p:nvSpPr>
        <p:spPr>
          <a:xfrm>
            <a:off x="9998640" y="3059668"/>
            <a:ext cx="1561325" cy="369332"/>
          </a:xfrm>
          <a:prstGeom prst="rect">
            <a:avLst/>
          </a:prstGeom>
        </p:spPr>
        <p:txBody>
          <a:bodyPr wrap="none">
            <a:spAutoFit/>
          </a:bodyPr>
          <a:lstStyle/>
          <a:p>
            <a:r>
              <a:rPr lang="en-US" dirty="0">
                <a:solidFill>
                  <a:srgbClr val="C00000"/>
                </a:solidFill>
              </a:rPr>
              <a:t>Current Model</a:t>
            </a:r>
          </a:p>
        </p:txBody>
      </p:sp>
      <p:sp>
        <p:nvSpPr>
          <p:cNvPr id="32" name="Left Brace 31">
            <a:extLst>
              <a:ext uri="{FF2B5EF4-FFF2-40B4-BE49-F238E27FC236}">
                <a16:creationId xmlns:a16="http://schemas.microsoft.com/office/drawing/2014/main" id="{6F778D77-F097-492E-A0EE-A757C8843075}"/>
              </a:ext>
            </a:extLst>
          </p:cNvPr>
          <p:cNvSpPr/>
          <p:nvPr/>
        </p:nvSpPr>
        <p:spPr>
          <a:xfrm>
            <a:off x="2716335" y="2708270"/>
            <a:ext cx="681958" cy="3860014"/>
          </a:xfrm>
          <a:prstGeom prst="leftBrace">
            <a:avLst>
              <a:gd name="adj1" fmla="val 8333"/>
              <a:gd name="adj2" fmla="val 50313"/>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3" name="Left Brace 32">
            <a:extLst>
              <a:ext uri="{FF2B5EF4-FFF2-40B4-BE49-F238E27FC236}">
                <a16:creationId xmlns:a16="http://schemas.microsoft.com/office/drawing/2014/main" id="{25E80DAF-1B5C-4592-8F50-2D00B3ACF258}"/>
              </a:ext>
            </a:extLst>
          </p:cNvPr>
          <p:cNvSpPr/>
          <p:nvPr/>
        </p:nvSpPr>
        <p:spPr>
          <a:xfrm flipH="1">
            <a:off x="9405868" y="3429001"/>
            <a:ext cx="719993" cy="3139284"/>
          </a:xfrm>
          <a:prstGeom prst="leftBrace">
            <a:avLst>
              <a:gd name="adj1" fmla="val 8333"/>
              <a:gd name="adj2" fmla="val 50313"/>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4" name="Rectangle 33">
            <a:extLst>
              <a:ext uri="{FF2B5EF4-FFF2-40B4-BE49-F238E27FC236}">
                <a16:creationId xmlns:a16="http://schemas.microsoft.com/office/drawing/2014/main" id="{55ABB50F-7DF3-4D7C-AF3D-FB2641769BDD}"/>
              </a:ext>
            </a:extLst>
          </p:cNvPr>
          <p:cNvSpPr/>
          <p:nvPr/>
        </p:nvSpPr>
        <p:spPr>
          <a:xfrm>
            <a:off x="10252248" y="4852259"/>
            <a:ext cx="1153970" cy="369332"/>
          </a:xfrm>
          <a:prstGeom prst="rect">
            <a:avLst/>
          </a:prstGeom>
        </p:spPr>
        <p:txBody>
          <a:bodyPr wrap="none">
            <a:spAutoFit/>
          </a:bodyPr>
          <a:lstStyle/>
          <a:p>
            <a:r>
              <a:rPr lang="en-US" dirty="0">
                <a:solidFill>
                  <a:srgbClr val="C00000"/>
                </a:solidFill>
              </a:rPr>
              <a:t>Properties</a:t>
            </a:r>
          </a:p>
        </p:txBody>
      </p:sp>
      <p:sp>
        <p:nvSpPr>
          <p:cNvPr id="35" name="Rectangle 34">
            <a:extLst>
              <a:ext uri="{FF2B5EF4-FFF2-40B4-BE49-F238E27FC236}">
                <a16:creationId xmlns:a16="http://schemas.microsoft.com/office/drawing/2014/main" id="{DB9794B1-638F-4B5B-A2D7-4E3F43793B38}"/>
              </a:ext>
            </a:extLst>
          </p:cNvPr>
          <p:cNvSpPr/>
          <p:nvPr/>
        </p:nvSpPr>
        <p:spPr>
          <a:xfrm>
            <a:off x="4898292" y="4563617"/>
            <a:ext cx="1349087" cy="369332"/>
          </a:xfrm>
          <a:prstGeom prst="rect">
            <a:avLst/>
          </a:prstGeom>
          <a:ln>
            <a:solidFill>
              <a:srgbClr val="FF0000"/>
            </a:solidFill>
          </a:ln>
        </p:spPr>
        <p:txBody>
          <a:bodyPr wrap="none">
            <a:spAutoFit/>
          </a:bodyPr>
          <a:lstStyle/>
          <a:p>
            <a:r>
              <a:rPr lang="en-US" dirty="0">
                <a:solidFill>
                  <a:srgbClr val="C00000"/>
                </a:solidFill>
              </a:rPr>
              <a:t>Facility View</a:t>
            </a:r>
          </a:p>
        </p:txBody>
      </p:sp>
    </p:spTree>
    <p:extLst>
      <p:ext uri="{BB962C8B-B14F-4D97-AF65-F5344CB8AC3E}">
        <p14:creationId xmlns:p14="http://schemas.microsoft.com/office/powerpoint/2010/main" val="2763602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1" grpId="0"/>
      <p:bldP spid="23" grpId="0"/>
      <p:bldP spid="25" grpId="0"/>
      <p:bldP spid="28" grpId="0"/>
      <p:bldP spid="31" grpId="0"/>
      <p:bldP spid="32" grpId="0" animBg="1"/>
      <p:bldP spid="33" grpId="0" animBg="1"/>
      <p:bldP spid="34" grpId="0"/>
      <p:bldP spid="3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a:t>
            </a:r>
            <a:r>
              <a:rPr lang="en-US" dirty="0" err="1"/>
              <a:t>Simio</a:t>
            </a:r>
            <a:r>
              <a:rPr lang="en-US" dirty="0"/>
              <a:t> User Interface</a:t>
            </a:r>
          </a:p>
        </p:txBody>
      </p:sp>
      <p:sp>
        <p:nvSpPr>
          <p:cNvPr id="3" name="Content Placeholder 2"/>
          <p:cNvSpPr>
            <a:spLocks noGrp="1"/>
          </p:cNvSpPr>
          <p:nvPr>
            <p:ph idx="1"/>
          </p:nvPr>
        </p:nvSpPr>
        <p:spPr/>
        <p:txBody>
          <a:bodyPr>
            <a:normAutofit/>
          </a:bodyPr>
          <a:lstStyle/>
          <a:p>
            <a:r>
              <a:rPr lang="en-US" dirty="0"/>
              <a:t>Key </a:t>
            </a:r>
            <a:r>
              <a:rPr lang="en-US" dirty="0" err="1"/>
              <a:t>Simio</a:t>
            </a:r>
            <a:r>
              <a:rPr lang="en-US" dirty="0"/>
              <a:t> concepts:</a:t>
            </a:r>
          </a:p>
          <a:p>
            <a:pPr lvl="1"/>
            <a:endParaRPr lang="en-US" dirty="0"/>
          </a:p>
        </p:txBody>
      </p:sp>
      <p:sp>
        <p:nvSpPr>
          <p:cNvPr id="6" name="Rectangle 5">
            <a:extLst>
              <a:ext uri="{FF2B5EF4-FFF2-40B4-BE49-F238E27FC236}">
                <a16:creationId xmlns:a16="http://schemas.microsoft.com/office/drawing/2014/main" id="{44B0EFC1-EF21-456A-9CEE-0CAC99E74AA1}"/>
              </a:ext>
            </a:extLst>
          </p:cNvPr>
          <p:cNvSpPr/>
          <p:nvPr/>
        </p:nvSpPr>
        <p:spPr>
          <a:xfrm>
            <a:off x="1799277" y="4856138"/>
            <a:ext cx="9144000" cy="1942674"/>
          </a:xfrm>
          <a:prstGeom prst="rect">
            <a:avLst/>
          </a:prstGeom>
          <a:solidFill>
            <a:srgbClr val="99CC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400"/>
          </a:p>
        </p:txBody>
      </p:sp>
      <p:sp>
        <p:nvSpPr>
          <p:cNvPr id="7" name="Rectangle 6">
            <a:extLst>
              <a:ext uri="{FF2B5EF4-FFF2-40B4-BE49-F238E27FC236}">
                <a16:creationId xmlns:a16="http://schemas.microsoft.com/office/drawing/2014/main" id="{C46897E6-687D-4A6A-9966-2D24BC494208}"/>
              </a:ext>
            </a:extLst>
          </p:cNvPr>
          <p:cNvSpPr/>
          <p:nvPr/>
        </p:nvSpPr>
        <p:spPr>
          <a:xfrm>
            <a:off x="1799277" y="3370996"/>
            <a:ext cx="9144000" cy="1485142"/>
          </a:xfrm>
          <a:prstGeom prst="rect">
            <a:avLst/>
          </a:prstGeom>
          <a:solidFill>
            <a:srgbClr val="99CC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400"/>
          </a:p>
        </p:txBody>
      </p:sp>
      <p:sp>
        <p:nvSpPr>
          <p:cNvPr id="8" name="Rectangle 7">
            <a:extLst>
              <a:ext uri="{FF2B5EF4-FFF2-40B4-BE49-F238E27FC236}">
                <a16:creationId xmlns:a16="http://schemas.microsoft.com/office/drawing/2014/main" id="{91E88755-C9B1-4DEB-8F4D-B22FBF8CE28E}"/>
              </a:ext>
            </a:extLst>
          </p:cNvPr>
          <p:cNvSpPr/>
          <p:nvPr/>
        </p:nvSpPr>
        <p:spPr>
          <a:xfrm>
            <a:off x="1815152" y="1696869"/>
            <a:ext cx="9144000" cy="1674127"/>
          </a:xfrm>
          <a:prstGeom prst="rect">
            <a:avLst/>
          </a:prstGeom>
          <a:solidFill>
            <a:srgbClr val="99CCFF"/>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1400"/>
          </a:p>
        </p:txBody>
      </p:sp>
      <p:graphicFrame>
        <p:nvGraphicFramePr>
          <p:cNvPr id="9" name="Content Placeholder 4">
            <a:extLst>
              <a:ext uri="{FF2B5EF4-FFF2-40B4-BE49-F238E27FC236}">
                <a16:creationId xmlns:a16="http://schemas.microsoft.com/office/drawing/2014/main" id="{8443693C-8E7B-4147-B08D-2D74F075E2AB}"/>
              </a:ext>
            </a:extLst>
          </p:cNvPr>
          <p:cNvGraphicFramePr>
            <a:graphicFrameLocks/>
          </p:cNvGraphicFramePr>
          <p:nvPr>
            <p:extLst>
              <p:ext uri="{D42A27DB-BD31-4B8C-83A1-F6EECF244321}">
                <p14:modId xmlns:p14="http://schemas.microsoft.com/office/powerpoint/2010/main" val="1474424333"/>
              </p:ext>
            </p:extLst>
          </p:nvPr>
        </p:nvGraphicFramePr>
        <p:xfrm>
          <a:off x="2190465" y="1696870"/>
          <a:ext cx="8458200" cy="5101942"/>
        </p:xfrm>
        <a:graphic>
          <a:graphicData uri="http://schemas.openxmlformats.org/drawingml/2006/table">
            <a:tbl>
              <a:tblPr bandRow="1">
                <a:tableStyleId>{C083E6E3-FA7D-4D7B-A595-EF9225AFEA82}</a:tableStyleId>
              </a:tblPr>
              <a:tblGrid>
                <a:gridCol w="2209800">
                  <a:extLst>
                    <a:ext uri="{9D8B030D-6E8A-4147-A177-3AD203B41FA5}">
                      <a16:colId xmlns:a16="http://schemas.microsoft.com/office/drawing/2014/main" val="20000"/>
                    </a:ext>
                  </a:extLst>
                </a:gridCol>
                <a:gridCol w="6248400">
                  <a:extLst>
                    <a:ext uri="{9D8B030D-6E8A-4147-A177-3AD203B41FA5}">
                      <a16:colId xmlns:a16="http://schemas.microsoft.com/office/drawing/2014/main" val="20001"/>
                    </a:ext>
                  </a:extLst>
                </a:gridCol>
              </a:tblGrid>
              <a:tr h="657110">
                <a:tc>
                  <a:txBody>
                    <a:bodyPr/>
                    <a:lstStyle/>
                    <a:p>
                      <a:pPr algn="r"/>
                      <a:r>
                        <a:rPr lang="en-US" sz="1600" b="1" dirty="0"/>
                        <a:t>Object:</a:t>
                      </a:r>
                    </a:p>
                  </a:txBody>
                  <a:tcPr marT="45724" marB="45724"/>
                </a:tc>
                <a:tc>
                  <a:txBody>
                    <a:bodyPr/>
                    <a:lstStyle/>
                    <a:p>
                      <a:r>
                        <a:rPr lang="en-US" sz="1600" kern="1200" dirty="0">
                          <a:solidFill>
                            <a:schemeClr val="tx1"/>
                          </a:solidFill>
                          <a:latin typeface="+mn-lt"/>
                          <a:ea typeface="+mn-ea"/>
                          <a:cs typeface="+mn-cs"/>
                        </a:rPr>
                        <a:t>Defines data, logic, behavior, view, events, and interaction with other objects. </a:t>
                      </a:r>
                    </a:p>
                  </a:txBody>
                  <a:tcPr marT="45724" marB="45724"/>
                </a:tc>
                <a:extLst>
                  <a:ext uri="{0D108BD9-81ED-4DB2-BD59-A6C34878D82A}">
                    <a16:rowId xmlns:a16="http://schemas.microsoft.com/office/drawing/2014/main" val="10000"/>
                  </a:ext>
                </a:extLst>
              </a:tr>
              <a:tr h="371410">
                <a:tc>
                  <a:txBody>
                    <a:bodyPr/>
                    <a:lstStyle/>
                    <a:p>
                      <a:pPr algn="r"/>
                      <a:r>
                        <a:rPr lang="en-US" sz="1600" b="1" dirty="0"/>
                        <a:t>Model</a:t>
                      </a:r>
                      <a:r>
                        <a:rPr lang="en-US" sz="1600" dirty="0"/>
                        <a:t>:</a:t>
                      </a:r>
                      <a:endParaRPr lang="en-US" sz="1600" b="1" dirty="0"/>
                    </a:p>
                  </a:txBody>
                  <a:tcPr marT="45724" marB="45724"/>
                </a:tc>
                <a:tc>
                  <a:txBody>
                    <a:bodyPr/>
                    <a:lstStyle/>
                    <a:p>
                      <a:r>
                        <a:rPr lang="en-US" sz="1600" dirty="0"/>
                        <a:t>An object that is executable.</a:t>
                      </a:r>
                    </a:p>
                  </a:txBody>
                  <a:tcPr marT="45724" marB="45724"/>
                </a:tc>
                <a:extLst>
                  <a:ext uri="{0D108BD9-81ED-4DB2-BD59-A6C34878D82A}">
                    <a16:rowId xmlns:a16="http://schemas.microsoft.com/office/drawing/2014/main" val="10001"/>
                  </a:ext>
                </a:extLst>
              </a:tr>
              <a:tr h="657110">
                <a:tc>
                  <a:txBody>
                    <a:bodyPr/>
                    <a:lstStyle/>
                    <a:p>
                      <a:pPr algn="r"/>
                      <a:r>
                        <a:rPr lang="en-US" sz="1600" b="1" dirty="0"/>
                        <a:t>Project:</a:t>
                      </a:r>
                    </a:p>
                  </a:txBody>
                  <a:tcPr marT="45724" marB="45724"/>
                </a:tc>
                <a:tc>
                  <a:txBody>
                    <a:bodyPr/>
                    <a:lstStyle/>
                    <a:p>
                      <a:r>
                        <a:rPr lang="en-US" sz="1600" dirty="0"/>
                        <a:t>A collection of models/objects.</a:t>
                      </a:r>
                      <a:r>
                        <a:rPr lang="en-US" sz="1600" baseline="0" dirty="0"/>
                        <a:t> </a:t>
                      </a:r>
                    </a:p>
                    <a:p>
                      <a:r>
                        <a:rPr lang="en-US" sz="1600" baseline="0" dirty="0"/>
                        <a:t>A project can be loaded as a library.</a:t>
                      </a:r>
                      <a:endParaRPr lang="en-US" sz="1600" dirty="0"/>
                    </a:p>
                  </a:txBody>
                  <a:tcPr marT="45724" marB="45724"/>
                </a:tc>
                <a:extLst>
                  <a:ext uri="{0D108BD9-81ED-4DB2-BD59-A6C34878D82A}">
                    <a16:rowId xmlns:a16="http://schemas.microsoft.com/office/drawing/2014/main" val="10002"/>
                  </a:ext>
                </a:extLst>
              </a:tr>
              <a:tr h="402177">
                <a:tc>
                  <a:txBody>
                    <a:bodyPr/>
                    <a:lstStyle/>
                    <a:p>
                      <a:pPr algn="r"/>
                      <a:r>
                        <a:rPr lang="en-US" sz="1600" b="1" dirty="0"/>
                        <a:t>Properties</a:t>
                      </a:r>
                      <a:r>
                        <a:rPr lang="en-US" sz="1600" dirty="0"/>
                        <a:t>:</a:t>
                      </a:r>
                      <a:endParaRPr lang="en-US" sz="1600" b="1" dirty="0"/>
                    </a:p>
                  </a:txBody>
                  <a:tcPr marT="45724" marB="45724"/>
                </a:tc>
                <a:tc>
                  <a:txBody>
                    <a:bodyPr/>
                    <a:lstStyle/>
                    <a:p>
                      <a:r>
                        <a:rPr lang="en-US" sz="1600" dirty="0"/>
                        <a:t>Static inputs to an object.</a:t>
                      </a:r>
                    </a:p>
                  </a:txBody>
                  <a:tcPr marT="45724" marB="45724"/>
                </a:tc>
                <a:extLst>
                  <a:ext uri="{0D108BD9-81ED-4DB2-BD59-A6C34878D82A}">
                    <a16:rowId xmlns:a16="http://schemas.microsoft.com/office/drawing/2014/main" val="10003"/>
                  </a:ext>
                </a:extLst>
              </a:tr>
              <a:tr h="428550">
                <a:tc>
                  <a:txBody>
                    <a:bodyPr/>
                    <a:lstStyle/>
                    <a:p>
                      <a:pPr algn="r"/>
                      <a:r>
                        <a:rPr lang="en-US" sz="1600" b="1" dirty="0"/>
                        <a:t>States</a:t>
                      </a:r>
                      <a:r>
                        <a:rPr lang="en-US" sz="1600" dirty="0"/>
                        <a:t>:</a:t>
                      </a:r>
                      <a:endParaRPr lang="en-US" sz="1600" b="1" dirty="0"/>
                    </a:p>
                  </a:txBody>
                  <a:tcPr marT="45724" marB="45724"/>
                </a:tc>
                <a:tc>
                  <a:txBody>
                    <a:bodyPr/>
                    <a:lstStyle/>
                    <a:p>
                      <a:r>
                        <a:rPr lang="en-US" sz="1600" dirty="0"/>
                        <a:t>Changeable values associated with an object</a:t>
                      </a:r>
                    </a:p>
                  </a:txBody>
                  <a:tcPr marT="45724" marB="45724"/>
                </a:tc>
                <a:extLst>
                  <a:ext uri="{0D108BD9-81ED-4DB2-BD59-A6C34878D82A}">
                    <a16:rowId xmlns:a16="http://schemas.microsoft.com/office/drawing/2014/main" val="10004"/>
                  </a:ext>
                </a:extLst>
              </a:tr>
              <a:tr h="714250">
                <a:tc>
                  <a:txBody>
                    <a:bodyPr/>
                    <a:lstStyle/>
                    <a:p>
                      <a:pPr algn="r"/>
                      <a:r>
                        <a:rPr lang="en-US" sz="1600" b="1" dirty="0"/>
                        <a:t>Events</a:t>
                      </a:r>
                      <a:r>
                        <a:rPr lang="en-US" sz="1600" dirty="0"/>
                        <a:t>:</a:t>
                      </a:r>
                      <a:endParaRPr lang="en-US" sz="1600" b="1" dirty="0"/>
                    </a:p>
                  </a:txBody>
                  <a:tcPr marT="45724" marB="45724"/>
                </a:tc>
                <a:tc>
                  <a:txBody>
                    <a:bodyPr/>
                    <a:lstStyle/>
                    <a:p>
                      <a:r>
                        <a:rPr lang="en-US" sz="1600" dirty="0"/>
                        <a:t>Supports communication between objects. </a:t>
                      </a:r>
                      <a:br>
                        <a:rPr lang="en-US" sz="1600" dirty="0"/>
                      </a:br>
                      <a:r>
                        <a:rPr lang="en-US" sz="1600" dirty="0"/>
                        <a:t>Fired when key things happen.</a:t>
                      </a:r>
                    </a:p>
                  </a:txBody>
                  <a:tcPr marT="45724" marB="45724"/>
                </a:tc>
                <a:extLst>
                  <a:ext uri="{0D108BD9-81ED-4DB2-BD59-A6C34878D82A}">
                    <a16:rowId xmlns:a16="http://schemas.microsoft.com/office/drawing/2014/main" val="10005"/>
                  </a:ext>
                </a:extLst>
              </a:tr>
              <a:tr h="657110">
                <a:tc>
                  <a:txBody>
                    <a:bodyPr/>
                    <a:lstStyle/>
                    <a:p>
                      <a:pPr algn="r"/>
                      <a:r>
                        <a:rPr lang="en-US" sz="1600" b="1" dirty="0"/>
                        <a:t>Resource:</a:t>
                      </a:r>
                    </a:p>
                  </a:txBody>
                  <a:tcPr marT="45724" marB="45724"/>
                </a:tc>
                <a:tc>
                  <a:txBody>
                    <a:bodyPr/>
                    <a:lstStyle/>
                    <a:p>
                      <a:r>
                        <a:rPr lang="en-US" sz="1600" dirty="0"/>
                        <a:t>Constrains</a:t>
                      </a:r>
                      <a:r>
                        <a:rPr lang="en-US" sz="1600" baseline="0" dirty="0"/>
                        <a:t> the system. Any object (even an entity) may be a resource.</a:t>
                      </a:r>
                      <a:endParaRPr lang="en-US" sz="1600" dirty="0"/>
                    </a:p>
                  </a:txBody>
                  <a:tcPr marT="45724" marB="45724"/>
                </a:tc>
                <a:extLst>
                  <a:ext uri="{0D108BD9-81ED-4DB2-BD59-A6C34878D82A}">
                    <a16:rowId xmlns:a16="http://schemas.microsoft.com/office/drawing/2014/main" val="10006"/>
                  </a:ext>
                </a:extLst>
              </a:tr>
              <a:tr h="499975">
                <a:tc>
                  <a:txBody>
                    <a:bodyPr/>
                    <a:lstStyle/>
                    <a:p>
                      <a:pPr algn="r"/>
                      <a:r>
                        <a:rPr lang="en-US" sz="1600" b="1" dirty="0"/>
                        <a:t>Entity:</a:t>
                      </a:r>
                    </a:p>
                  </a:txBody>
                  <a:tcPr marT="45724" marB="45724"/>
                </a:tc>
                <a:tc>
                  <a:txBody>
                    <a:bodyPr/>
                    <a:lstStyle/>
                    <a:p>
                      <a:r>
                        <a:rPr lang="en-US" sz="1600" dirty="0"/>
                        <a:t>A dynamic object that may move through system</a:t>
                      </a:r>
                    </a:p>
                  </a:txBody>
                  <a:tcPr marT="45724" marB="45724"/>
                </a:tc>
                <a:extLst>
                  <a:ext uri="{0D108BD9-81ED-4DB2-BD59-A6C34878D82A}">
                    <a16:rowId xmlns:a16="http://schemas.microsoft.com/office/drawing/2014/main" val="10007"/>
                  </a:ext>
                </a:extLst>
              </a:tr>
              <a:tr h="714250">
                <a:tc>
                  <a:txBody>
                    <a:bodyPr/>
                    <a:lstStyle/>
                    <a:p>
                      <a:pPr algn="r"/>
                      <a:r>
                        <a:rPr lang="en-US" sz="1600" b="1" dirty="0"/>
                        <a:t>Transporter:</a:t>
                      </a:r>
                    </a:p>
                  </a:txBody>
                  <a:tcPr marT="45724" marB="45724"/>
                </a:tc>
                <a:tc>
                  <a:txBody>
                    <a:bodyPr/>
                    <a:lstStyle/>
                    <a:p>
                      <a:r>
                        <a:rPr lang="en-US" sz="1600" dirty="0"/>
                        <a:t>An entity that can “work</a:t>
                      </a:r>
                      <a:r>
                        <a:rPr lang="en-US" sz="1600" baseline="0" dirty="0"/>
                        <a:t> on” or carry other entities. Vehicles and Workers are entities (and resources).</a:t>
                      </a:r>
                      <a:endParaRPr lang="en-US" sz="1600" dirty="0"/>
                    </a:p>
                  </a:txBody>
                  <a:tcPr marT="45724" marB="45724"/>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014707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xit" presetSubtype="0" fill="hold" grpId="1" nodeType="clickEffect">
                                  <p:stCondLst>
                                    <p:cond delay="0"/>
                                  </p:stCondLst>
                                  <p:childTnLst>
                                    <p:set>
                                      <p:cBhvr>
                                        <p:cTn id="19" dur="1" fill="hold">
                                          <p:stCondLst>
                                            <p:cond delay="0"/>
                                          </p:stCondLst>
                                        </p:cTn>
                                        <p:tgtEl>
                                          <p:spTgt spid="8"/>
                                        </p:tgtEl>
                                        <p:attrNameLst>
                                          <p:attrName>style.visibility</p:attrName>
                                        </p:attrNameLst>
                                      </p:cBhvr>
                                      <p:to>
                                        <p:strVal val="hidden"/>
                                      </p:to>
                                    </p:set>
                                  </p:childTnLst>
                                </p:cTn>
                              </p:par>
                              <p:par>
                                <p:cTn id="20" presetID="10"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7"/>
                                        </p:tgtEl>
                                        <p:attrNameLst>
                                          <p:attrName>style.visibility</p:attrName>
                                        </p:attrNameLst>
                                      </p:cBhvr>
                                      <p:to>
                                        <p:strVal val="hidden"/>
                                      </p:to>
                                    </p:set>
                                  </p:childTnLst>
                                </p:cTn>
                              </p:par>
                              <p:par>
                                <p:cTn id="27" presetID="10"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7" grpId="1" animBg="1"/>
      <p:bldP spid="8" grpId="0" animBg="1"/>
      <p:bldP spid="8"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a:t>
            </a:r>
            <a:r>
              <a:rPr lang="en-US" dirty="0" err="1"/>
              <a:t>Simio</a:t>
            </a:r>
            <a:r>
              <a:rPr lang="en-US" dirty="0"/>
              <a:t> User Interface</a:t>
            </a:r>
          </a:p>
        </p:txBody>
      </p:sp>
      <p:sp>
        <p:nvSpPr>
          <p:cNvPr id="3" name="Content Placeholder 2"/>
          <p:cNvSpPr>
            <a:spLocks noGrp="1"/>
          </p:cNvSpPr>
          <p:nvPr>
            <p:ph idx="1"/>
          </p:nvPr>
        </p:nvSpPr>
        <p:spPr/>
        <p:txBody>
          <a:bodyPr>
            <a:normAutofit/>
          </a:bodyPr>
          <a:lstStyle/>
          <a:p>
            <a:r>
              <a:rPr lang="en-US" dirty="0"/>
              <a:t>Model windows:</a:t>
            </a:r>
          </a:p>
          <a:p>
            <a:endParaRPr lang="en-US" dirty="0"/>
          </a:p>
          <a:p>
            <a:endParaRPr lang="en-US" dirty="0"/>
          </a:p>
          <a:p>
            <a:pPr lvl="1">
              <a:defRPr/>
            </a:pPr>
            <a:endParaRPr lang="en-US" u="sng" dirty="0"/>
          </a:p>
          <a:p>
            <a:pPr lvl="1">
              <a:defRPr/>
            </a:pPr>
            <a:r>
              <a:rPr lang="en-US" u="sng" dirty="0"/>
              <a:t>Facility</a:t>
            </a:r>
            <a:r>
              <a:rPr lang="en-US" dirty="0"/>
              <a:t> window defines model logic in terms of animated objects.</a:t>
            </a:r>
          </a:p>
          <a:p>
            <a:pPr lvl="1">
              <a:defRPr/>
            </a:pPr>
            <a:r>
              <a:rPr lang="en-US" u="sng" dirty="0"/>
              <a:t>Processes</a:t>
            </a:r>
            <a:r>
              <a:rPr lang="en-US" dirty="0"/>
              <a:t> window defines the model logic in terms of traditional process flow </a:t>
            </a:r>
            <a:r>
              <a:rPr lang="en-US" sz="2200" dirty="0"/>
              <a:t>(not in Express Edition)</a:t>
            </a:r>
            <a:endParaRPr lang="en-US" dirty="0"/>
          </a:p>
          <a:p>
            <a:pPr lvl="1">
              <a:defRPr/>
            </a:pPr>
            <a:r>
              <a:rPr lang="en-US" u="sng" dirty="0"/>
              <a:t>Definitions</a:t>
            </a:r>
            <a:r>
              <a:rPr lang="en-US" dirty="0"/>
              <a:t> window defines an object’s properties, states, events, lists and more.</a:t>
            </a:r>
          </a:p>
          <a:p>
            <a:pPr lvl="1">
              <a:defRPr/>
            </a:pPr>
            <a:r>
              <a:rPr lang="en-US" u="sng" dirty="0"/>
              <a:t>Data</a:t>
            </a:r>
            <a:r>
              <a:rPr lang="en-US" dirty="0"/>
              <a:t> window allows you to access a number of panels to create and edit data.</a:t>
            </a:r>
          </a:p>
          <a:p>
            <a:pPr lvl="1">
              <a:defRPr/>
            </a:pPr>
            <a:r>
              <a:rPr lang="en-US" u="sng" dirty="0"/>
              <a:t>Results</a:t>
            </a:r>
            <a:r>
              <a:rPr lang="en-US" dirty="0"/>
              <a:t> window displays the results in the form of a Pivot Grid or a Report</a:t>
            </a:r>
          </a:p>
          <a:p>
            <a:pPr lvl="1">
              <a:defRPr/>
            </a:pPr>
            <a:r>
              <a:rPr lang="en-US" u="sng" dirty="0"/>
              <a:t>Planning</a:t>
            </a:r>
            <a:r>
              <a:rPr lang="en-US" dirty="0"/>
              <a:t> window displays the options to create schedules, workflows, etc.</a:t>
            </a:r>
          </a:p>
          <a:p>
            <a:pPr lvl="1"/>
            <a:endParaRPr lang="en-US" dirty="0"/>
          </a:p>
        </p:txBody>
      </p:sp>
      <p:pic>
        <p:nvPicPr>
          <p:cNvPr id="5" name="Picture 4">
            <a:extLst>
              <a:ext uri="{FF2B5EF4-FFF2-40B4-BE49-F238E27FC236}">
                <a16:creationId xmlns:a16="http://schemas.microsoft.com/office/drawing/2014/main" id="{41693BD8-30BF-4B4E-866C-AD89A3501AB7}"/>
              </a:ext>
            </a:extLst>
          </p:cNvPr>
          <p:cNvPicPr>
            <a:picLocks noChangeAspect="1"/>
          </p:cNvPicPr>
          <p:nvPr/>
        </p:nvPicPr>
        <p:blipFill>
          <a:blip r:embed="rId2"/>
          <a:stretch>
            <a:fillRect/>
          </a:stretch>
        </p:blipFill>
        <p:spPr>
          <a:xfrm>
            <a:off x="3280812" y="1353655"/>
            <a:ext cx="7462239" cy="1516758"/>
          </a:xfrm>
          <a:prstGeom prst="rect">
            <a:avLst/>
          </a:prstGeom>
        </p:spPr>
      </p:pic>
    </p:spTree>
    <p:extLst>
      <p:ext uri="{BB962C8B-B14F-4D97-AF65-F5344CB8AC3E}">
        <p14:creationId xmlns:p14="http://schemas.microsoft.com/office/powerpoint/2010/main" val="2753905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a:t>
            </a:r>
            <a:r>
              <a:rPr lang="en-US" dirty="0" err="1"/>
              <a:t>Simio</a:t>
            </a:r>
            <a:r>
              <a:rPr lang="en-US" dirty="0"/>
              <a:t> User Interface</a:t>
            </a:r>
          </a:p>
        </p:txBody>
      </p:sp>
      <p:sp>
        <p:nvSpPr>
          <p:cNvPr id="3" name="Content Placeholder 2"/>
          <p:cNvSpPr>
            <a:spLocks noGrp="1"/>
          </p:cNvSpPr>
          <p:nvPr>
            <p:ph idx="1"/>
          </p:nvPr>
        </p:nvSpPr>
        <p:spPr/>
        <p:txBody>
          <a:bodyPr>
            <a:normAutofit/>
          </a:bodyPr>
          <a:lstStyle/>
          <a:p>
            <a:r>
              <a:rPr lang="en-US" dirty="0"/>
              <a:t>More on Model windows:</a:t>
            </a:r>
          </a:p>
          <a:p>
            <a:pPr lvl="1">
              <a:defRPr/>
            </a:pPr>
            <a:r>
              <a:rPr lang="en-US" u="sng" dirty="0"/>
              <a:t>Ribbons</a:t>
            </a:r>
            <a:r>
              <a:rPr lang="en-US" dirty="0"/>
              <a:t> replace menus and toolbars and change dynamically  based on what you are doing.</a:t>
            </a:r>
          </a:p>
          <a:p>
            <a:pPr lvl="1">
              <a:defRPr/>
            </a:pPr>
            <a:r>
              <a:rPr lang="en-US" u="sng" dirty="0"/>
              <a:t>Navigation</a:t>
            </a:r>
            <a:r>
              <a:rPr lang="en-US" dirty="0"/>
              <a:t> window allows you to move between various models and other components of your project.</a:t>
            </a:r>
          </a:p>
          <a:p>
            <a:pPr lvl="1">
              <a:defRPr/>
            </a:pPr>
            <a:r>
              <a:rPr lang="en-US" u="sng" dirty="0"/>
              <a:t>Properties</a:t>
            </a:r>
            <a:r>
              <a:rPr lang="en-US" dirty="0"/>
              <a:t> window lets you set the properties of an object to customize its behavior.</a:t>
            </a:r>
          </a:p>
          <a:p>
            <a:pPr lvl="1">
              <a:defRPr/>
            </a:pPr>
            <a:r>
              <a:rPr lang="en-US" u="sng" dirty="0"/>
              <a:t>Library</a:t>
            </a:r>
            <a:r>
              <a:rPr lang="en-US" dirty="0"/>
              <a:t> displays the Standard Library, your Project Library, and other optional libraries.</a:t>
            </a:r>
          </a:p>
          <a:p>
            <a:endParaRPr lang="en-US" dirty="0"/>
          </a:p>
        </p:txBody>
      </p:sp>
    </p:spTree>
    <p:extLst>
      <p:ext uri="{BB962C8B-B14F-4D97-AF65-F5344CB8AC3E}">
        <p14:creationId xmlns:p14="http://schemas.microsoft.com/office/powerpoint/2010/main" val="2071036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a:t>
            </a:r>
            <a:r>
              <a:rPr lang="en-US" dirty="0" err="1"/>
              <a:t>Simio</a:t>
            </a:r>
            <a:r>
              <a:rPr lang="en-US" dirty="0"/>
              <a:t> User Interface</a:t>
            </a:r>
          </a:p>
        </p:txBody>
      </p:sp>
      <p:sp>
        <p:nvSpPr>
          <p:cNvPr id="3" name="Content Placeholder 2"/>
          <p:cNvSpPr>
            <a:spLocks noGrp="1"/>
          </p:cNvSpPr>
          <p:nvPr>
            <p:ph idx="1"/>
          </p:nvPr>
        </p:nvSpPr>
        <p:spPr/>
        <p:txBody>
          <a:bodyPr>
            <a:normAutofit/>
          </a:bodyPr>
          <a:lstStyle/>
          <a:p>
            <a:r>
              <a:rPr lang="en-US" dirty="0"/>
              <a:t>Standard library:</a:t>
            </a:r>
          </a:p>
          <a:p>
            <a:endParaRPr lang="en-US" dirty="0"/>
          </a:p>
        </p:txBody>
      </p:sp>
      <p:graphicFrame>
        <p:nvGraphicFramePr>
          <p:cNvPr id="4" name="Content Placeholder 7">
            <a:extLst>
              <a:ext uri="{FF2B5EF4-FFF2-40B4-BE49-F238E27FC236}">
                <a16:creationId xmlns:a16="http://schemas.microsoft.com/office/drawing/2014/main" id="{7345ADD3-8FB7-47EE-86C6-DDEF76FD8578}"/>
              </a:ext>
            </a:extLst>
          </p:cNvPr>
          <p:cNvGraphicFramePr>
            <a:graphicFrameLocks/>
          </p:cNvGraphicFramePr>
          <p:nvPr>
            <p:extLst>
              <p:ext uri="{D42A27DB-BD31-4B8C-83A1-F6EECF244321}">
                <p14:modId xmlns:p14="http://schemas.microsoft.com/office/powerpoint/2010/main" val="2055953755"/>
              </p:ext>
            </p:extLst>
          </p:nvPr>
        </p:nvGraphicFramePr>
        <p:xfrm>
          <a:off x="3299012" y="1752574"/>
          <a:ext cx="8534400" cy="5029200"/>
        </p:xfrm>
        <a:graphic>
          <a:graphicData uri="http://schemas.openxmlformats.org/drawingml/2006/table">
            <a:tbl>
              <a:tblPr bandRow="1">
                <a:tableStyleId>{C083E6E3-FA7D-4D7B-A595-EF9225AFEA82}</a:tableStyleId>
              </a:tblPr>
              <a:tblGrid>
                <a:gridCol w="1828800">
                  <a:extLst>
                    <a:ext uri="{9D8B030D-6E8A-4147-A177-3AD203B41FA5}">
                      <a16:colId xmlns:a16="http://schemas.microsoft.com/office/drawing/2014/main" val="20000"/>
                    </a:ext>
                  </a:extLst>
                </a:gridCol>
                <a:gridCol w="6705600">
                  <a:extLst>
                    <a:ext uri="{9D8B030D-6E8A-4147-A177-3AD203B41FA5}">
                      <a16:colId xmlns:a16="http://schemas.microsoft.com/office/drawing/2014/main" val="20001"/>
                    </a:ext>
                  </a:extLst>
                </a:gridCol>
              </a:tblGrid>
              <a:tr h="328985">
                <a:tc>
                  <a:txBody>
                    <a:bodyPr/>
                    <a:lstStyle/>
                    <a:p>
                      <a:pPr algn="r"/>
                      <a:r>
                        <a:rPr lang="en-US" sz="1600" b="1" dirty="0"/>
                        <a:t>Source</a:t>
                      </a:r>
                      <a:r>
                        <a:rPr lang="en-US" sz="1600" dirty="0"/>
                        <a:t>:</a:t>
                      </a:r>
                      <a:endParaRPr lang="en-US" sz="1600" b="1" dirty="0"/>
                    </a:p>
                  </a:txBody>
                  <a:tcPr/>
                </a:tc>
                <a:tc>
                  <a:txBody>
                    <a:bodyPr/>
                    <a:lstStyle/>
                    <a:p>
                      <a:r>
                        <a:rPr lang="en-US" sz="1600" dirty="0"/>
                        <a:t>Generate entities of a specified type and arrival pattern.</a:t>
                      </a:r>
                    </a:p>
                  </a:txBody>
                  <a:tcPr/>
                </a:tc>
                <a:extLst>
                  <a:ext uri="{0D108BD9-81ED-4DB2-BD59-A6C34878D82A}">
                    <a16:rowId xmlns:a16="http://schemas.microsoft.com/office/drawing/2014/main" val="10000"/>
                  </a:ext>
                </a:extLst>
              </a:tr>
              <a:tr h="328985">
                <a:tc>
                  <a:txBody>
                    <a:bodyPr/>
                    <a:lstStyle/>
                    <a:p>
                      <a:pPr algn="r"/>
                      <a:r>
                        <a:rPr lang="en-US" sz="1600" b="1" dirty="0"/>
                        <a:t>Sink</a:t>
                      </a:r>
                      <a:r>
                        <a:rPr lang="en-US" sz="1600" dirty="0"/>
                        <a:t>:</a:t>
                      </a:r>
                      <a:endParaRPr lang="en-US" sz="1600" b="1" dirty="0"/>
                    </a:p>
                  </a:txBody>
                  <a:tcPr/>
                </a:tc>
                <a:tc>
                  <a:txBody>
                    <a:bodyPr/>
                    <a:lstStyle/>
                    <a:p>
                      <a:r>
                        <a:rPr lang="en-US" sz="1600" dirty="0"/>
                        <a:t>Destroy</a:t>
                      </a:r>
                      <a:r>
                        <a:rPr lang="en-US" sz="1600" baseline="0" dirty="0"/>
                        <a:t> entities.</a:t>
                      </a:r>
                      <a:endParaRPr lang="en-US" sz="1600" dirty="0"/>
                    </a:p>
                  </a:txBody>
                  <a:tcPr/>
                </a:tc>
                <a:extLst>
                  <a:ext uri="{0D108BD9-81ED-4DB2-BD59-A6C34878D82A}">
                    <a16:rowId xmlns:a16="http://schemas.microsoft.com/office/drawing/2014/main" val="10001"/>
                  </a:ext>
                </a:extLst>
              </a:tr>
              <a:tr h="328985">
                <a:tc>
                  <a:txBody>
                    <a:bodyPr/>
                    <a:lstStyle/>
                    <a:p>
                      <a:pPr algn="r"/>
                      <a:r>
                        <a:rPr lang="en-US" sz="1600" b="1" dirty="0"/>
                        <a:t>Server</a:t>
                      </a:r>
                      <a:r>
                        <a:rPr lang="en-US" sz="1600" dirty="0"/>
                        <a:t>:</a:t>
                      </a:r>
                      <a:endParaRPr lang="en-US" sz="1600" b="1" dirty="0"/>
                    </a:p>
                  </a:txBody>
                  <a:tcPr/>
                </a:tc>
                <a:tc>
                  <a:txBody>
                    <a:bodyPr/>
                    <a:lstStyle/>
                    <a:p>
                      <a:r>
                        <a:rPr lang="en-US" sz="1600" dirty="0"/>
                        <a:t>Capacitated process, such as a machine.</a:t>
                      </a:r>
                    </a:p>
                  </a:txBody>
                  <a:tcPr/>
                </a:tc>
                <a:extLst>
                  <a:ext uri="{0D108BD9-81ED-4DB2-BD59-A6C34878D82A}">
                    <a16:rowId xmlns:a16="http://schemas.microsoft.com/office/drawing/2014/main" val="10002"/>
                  </a:ext>
                </a:extLst>
              </a:tr>
              <a:tr h="328985">
                <a:tc>
                  <a:txBody>
                    <a:bodyPr/>
                    <a:lstStyle/>
                    <a:p>
                      <a:pPr algn="r"/>
                      <a:r>
                        <a:rPr lang="en-US" sz="1600" b="1" dirty="0"/>
                        <a:t>Workstation</a:t>
                      </a:r>
                      <a:r>
                        <a:rPr lang="en-US" sz="1600" dirty="0"/>
                        <a:t>:</a:t>
                      </a:r>
                      <a:endParaRPr lang="en-US" sz="1600" b="1" dirty="0"/>
                    </a:p>
                  </a:txBody>
                  <a:tcPr/>
                </a:tc>
                <a:tc>
                  <a:txBody>
                    <a:bodyPr/>
                    <a:lstStyle/>
                    <a:p>
                      <a:r>
                        <a:rPr lang="en-US" sz="1600" dirty="0"/>
                        <a:t>Capacitated process,</a:t>
                      </a:r>
                      <a:r>
                        <a:rPr lang="en-US" sz="1600" baseline="0" dirty="0"/>
                        <a:t> includes setup, process, tear-down.</a:t>
                      </a:r>
                      <a:endParaRPr lang="en-US" sz="1600" dirty="0"/>
                    </a:p>
                  </a:txBody>
                  <a:tcPr/>
                </a:tc>
                <a:extLst>
                  <a:ext uri="{0D108BD9-81ED-4DB2-BD59-A6C34878D82A}">
                    <a16:rowId xmlns:a16="http://schemas.microsoft.com/office/drawing/2014/main" val="10003"/>
                  </a:ext>
                </a:extLst>
              </a:tr>
              <a:tr h="328985">
                <a:tc>
                  <a:txBody>
                    <a:bodyPr/>
                    <a:lstStyle/>
                    <a:p>
                      <a:pPr algn="r"/>
                      <a:r>
                        <a:rPr lang="en-US" sz="1600" b="1" dirty="0"/>
                        <a:t>Combiner</a:t>
                      </a:r>
                      <a:r>
                        <a:rPr lang="en-US" sz="1600" dirty="0"/>
                        <a:t>:</a:t>
                      </a:r>
                      <a:endParaRPr lang="en-US" sz="1600" b="1" dirty="0"/>
                    </a:p>
                  </a:txBody>
                  <a:tcPr/>
                </a:tc>
                <a:tc>
                  <a:txBody>
                    <a:bodyPr/>
                    <a:lstStyle/>
                    <a:p>
                      <a:r>
                        <a:rPr lang="en-US" sz="1600" dirty="0"/>
                        <a:t>Batches entities with a parent entity</a:t>
                      </a:r>
                      <a:r>
                        <a:rPr lang="en-US" sz="1600" baseline="0" dirty="0"/>
                        <a:t> (e.g., pallet).</a:t>
                      </a:r>
                      <a:endParaRPr lang="en-US" sz="1600" dirty="0"/>
                    </a:p>
                  </a:txBody>
                  <a:tcPr/>
                </a:tc>
                <a:extLst>
                  <a:ext uri="{0D108BD9-81ED-4DB2-BD59-A6C34878D82A}">
                    <a16:rowId xmlns:a16="http://schemas.microsoft.com/office/drawing/2014/main" val="10004"/>
                  </a:ext>
                </a:extLst>
              </a:tr>
              <a:tr h="328985">
                <a:tc>
                  <a:txBody>
                    <a:bodyPr/>
                    <a:lstStyle/>
                    <a:p>
                      <a:pPr algn="r"/>
                      <a:r>
                        <a:rPr lang="en-US" sz="1600" b="1" dirty="0"/>
                        <a:t>Separator</a:t>
                      </a:r>
                      <a:r>
                        <a:rPr lang="en-US" sz="1600" dirty="0"/>
                        <a:t>:</a:t>
                      </a:r>
                      <a:endParaRPr lang="en-US" sz="1600" b="1" dirty="0"/>
                    </a:p>
                  </a:txBody>
                  <a:tcPr/>
                </a:tc>
                <a:tc>
                  <a:txBody>
                    <a:bodyPr/>
                    <a:lstStyle/>
                    <a:p>
                      <a:r>
                        <a:rPr lang="en-US" sz="1600" dirty="0"/>
                        <a:t>Splits batches or</a:t>
                      </a:r>
                      <a:r>
                        <a:rPr lang="en-US" sz="1600" baseline="0" dirty="0"/>
                        <a:t> copies entities.</a:t>
                      </a:r>
                      <a:endParaRPr lang="en-US" sz="1600" dirty="0"/>
                    </a:p>
                  </a:txBody>
                  <a:tcPr/>
                </a:tc>
                <a:extLst>
                  <a:ext uri="{0D108BD9-81ED-4DB2-BD59-A6C34878D82A}">
                    <a16:rowId xmlns:a16="http://schemas.microsoft.com/office/drawing/2014/main" val="10005"/>
                  </a:ext>
                </a:extLst>
              </a:tr>
              <a:tr h="328985">
                <a:tc>
                  <a:txBody>
                    <a:bodyPr/>
                    <a:lstStyle/>
                    <a:p>
                      <a:pPr algn="r"/>
                      <a:r>
                        <a:rPr lang="en-US" sz="1600" b="1" dirty="0"/>
                        <a:t>Resource</a:t>
                      </a:r>
                      <a:r>
                        <a:rPr lang="en-US" sz="1600" dirty="0"/>
                        <a:t>:</a:t>
                      </a:r>
                      <a:endParaRPr lang="en-US" sz="1600" b="1" dirty="0"/>
                    </a:p>
                  </a:txBody>
                  <a:tcPr/>
                </a:tc>
                <a:tc>
                  <a:txBody>
                    <a:bodyPr/>
                    <a:lstStyle/>
                    <a:p>
                      <a:r>
                        <a:rPr lang="en-US" sz="1600" dirty="0"/>
                        <a:t>Seized/Released by objects.</a:t>
                      </a:r>
                    </a:p>
                  </a:txBody>
                  <a:tcPr/>
                </a:tc>
                <a:extLst>
                  <a:ext uri="{0D108BD9-81ED-4DB2-BD59-A6C34878D82A}">
                    <a16:rowId xmlns:a16="http://schemas.microsoft.com/office/drawing/2014/main" val="10006"/>
                  </a:ext>
                </a:extLst>
              </a:tr>
              <a:tr h="328985">
                <a:tc>
                  <a:txBody>
                    <a:bodyPr/>
                    <a:lstStyle/>
                    <a:p>
                      <a:pPr algn="r"/>
                      <a:r>
                        <a:rPr lang="en-US" sz="1600" b="1" dirty="0"/>
                        <a:t>Vehicle</a:t>
                      </a:r>
                      <a:r>
                        <a:rPr lang="en-US" sz="1600" dirty="0"/>
                        <a:t>:</a:t>
                      </a:r>
                      <a:endParaRPr lang="en-US" sz="1600" b="1" dirty="0"/>
                    </a:p>
                  </a:txBody>
                  <a:tcPr/>
                </a:tc>
                <a:tc>
                  <a:txBody>
                    <a:bodyPr/>
                    <a:lstStyle/>
                    <a:p>
                      <a:r>
                        <a:rPr lang="en-US" sz="1600" dirty="0"/>
                        <a:t>Fixed route or on-demand pickups/drop-offs.</a:t>
                      </a:r>
                    </a:p>
                  </a:txBody>
                  <a:tcPr/>
                </a:tc>
                <a:extLst>
                  <a:ext uri="{0D108BD9-81ED-4DB2-BD59-A6C34878D82A}">
                    <a16:rowId xmlns:a16="http://schemas.microsoft.com/office/drawing/2014/main" val="10007"/>
                  </a:ext>
                </a:extLst>
              </a:tr>
              <a:tr h="328985">
                <a:tc>
                  <a:txBody>
                    <a:bodyPr/>
                    <a:lstStyle/>
                    <a:p>
                      <a:pPr algn="r"/>
                      <a:r>
                        <a:rPr lang="en-US" sz="1600" b="1" dirty="0"/>
                        <a:t>Worker</a:t>
                      </a:r>
                      <a:r>
                        <a:rPr lang="en-US" sz="1600" dirty="0"/>
                        <a:t>:</a:t>
                      </a:r>
                      <a:endParaRPr lang="en-US" sz="1600" b="1" dirty="0"/>
                    </a:p>
                  </a:txBody>
                  <a:tcPr/>
                </a:tc>
                <a:tc>
                  <a:txBody>
                    <a:bodyPr/>
                    <a:lstStyle/>
                    <a:p>
                      <a:r>
                        <a:rPr lang="en-US" sz="1600" dirty="0"/>
                        <a:t>Moveable resource, for stationary and non-stationary tasks.</a:t>
                      </a:r>
                    </a:p>
                  </a:txBody>
                  <a:tcPr/>
                </a:tc>
                <a:extLst>
                  <a:ext uri="{0D108BD9-81ED-4DB2-BD59-A6C34878D82A}">
                    <a16:rowId xmlns:a16="http://schemas.microsoft.com/office/drawing/2014/main" val="10008"/>
                  </a:ext>
                </a:extLst>
              </a:tr>
              <a:tr h="328985">
                <a:tc>
                  <a:txBody>
                    <a:bodyPr/>
                    <a:lstStyle/>
                    <a:p>
                      <a:pPr algn="r"/>
                      <a:r>
                        <a:rPr lang="en-US" sz="1600" b="1" dirty="0"/>
                        <a:t>BasicNode</a:t>
                      </a:r>
                      <a:r>
                        <a:rPr lang="en-US" sz="1600" dirty="0"/>
                        <a:t>:</a:t>
                      </a:r>
                      <a:endParaRPr lang="en-US" sz="1600" b="1" dirty="0"/>
                    </a:p>
                  </a:txBody>
                  <a:tcPr/>
                </a:tc>
                <a:tc>
                  <a:txBody>
                    <a:bodyPr/>
                    <a:lstStyle/>
                    <a:p>
                      <a:r>
                        <a:rPr lang="en-US" sz="1600" dirty="0"/>
                        <a:t>Simple intersection, fixed object input.</a:t>
                      </a:r>
                    </a:p>
                  </a:txBody>
                  <a:tcPr/>
                </a:tc>
                <a:extLst>
                  <a:ext uri="{0D108BD9-81ED-4DB2-BD59-A6C34878D82A}">
                    <a16:rowId xmlns:a16="http://schemas.microsoft.com/office/drawing/2014/main" val="10009"/>
                  </a:ext>
                </a:extLst>
              </a:tr>
              <a:tr h="328985">
                <a:tc>
                  <a:txBody>
                    <a:bodyPr/>
                    <a:lstStyle/>
                    <a:p>
                      <a:pPr algn="r"/>
                      <a:r>
                        <a:rPr lang="en-US" sz="1600" b="1" dirty="0" err="1"/>
                        <a:t>TransferNode</a:t>
                      </a:r>
                      <a:r>
                        <a:rPr lang="en-US" sz="1600" dirty="0"/>
                        <a:t>:</a:t>
                      </a:r>
                      <a:endParaRPr lang="en-US" sz="1600" b="1" dirty="0"/>
                    </a:p>
                  </a:txBody>
                  <a:tcPr/>
                </a:tc>
                <a:tc>
                  <a:txBody>
                    <a:bodyPr/>
                    <a:lstStyle/>
                    <a:p>
                      <a:r>
                        <a:rPr lang="en-US" sz="1600" dirty="0"/>
                        <a:t>Change destination/get rides,</a:t>
                      </a:r>
                      <a:r>
                        <a:rPr lang="en-US" sz="1600" baseline="0" dirty="0"/>
                        <a:t> fixed object output.</a:t>
                      </a:r>
                      <a:endParaRPr lang="en-US" sz="1600" dirty="0"/>
                    </a:p>
                  </a:txBody>
                  <a:tcPr/>
                </a:tc>
                <a:extLst>
                  <a:ext uri="{0D108BD9-81ED-4DB2-BD59-A6C34878D82A}">
                    <a16:rowId xmlns:a16="http://schemas.microsoft.com/office/drawing/2014/main" val="10010"/>
                  </a:ext>
                </a:extLst>
              </a:tr>
              <a:tr h="328985">
                <a:tc>
                  <a:txBody>
                    <a:bodyPr/>
                    <a:lstStyle/>
                    <a:p>
                      <a:pPr algn="r"/>
                      <a:r>
                        <a:rPr lang="en-US" sz="1600" b="1" dirty="0"/>
                        <a:t>Connector</a:t>
                      </a:r>
                      <a:r>
                        <a:rPr lang="en-US" sz="1600" dirty="0"/>
                        <a:t>:</a:t>
                      </a:r>
                      <a:endParaRPr lang="en-US" sz="1600" b="1" dirty="0"/>
                    </a:p>
                  </a:txBody>
                  <a:tcPr/>
                </a:tc>
                <a:tc>
                  <a:txBody>
                    <a:bodyPr/>
                    <a:lstStyle/>
                    <a:p>
                      <a:r>
                        <a:rPr lang="en-US" sz="1600" dirty="0"/>
                        <a:t>Zero travel time.</a:t>
                      </a:r>
                    </a:p>
                  </a:txBody>
                  <a:tcPr/>
                </a:tc>
                <a:extLst>
                  <a:ext uri="{0D108BD9-81ED-4DB2-BD59-A6C34878D82A}">
                    <a16:rowId xmlns:a16="http://schemas.microsoft.com/office/drawing/2014/main" val="10011"/>
                  </a:ext>
                </a:extLst>
              </a:tr>
              <a:tr h="328985">
                <a:tc>
                  <a:txBody>
                    <a:bodyPr/>
                    <a:lstStyle/>
                    <a:p>
                      <a:pPr algn="r"/>
                      <a:r>
                        <a:rPr lang="en-US" sz="1600" b="1" dirty="0"/>
                        <a:t>Path</a:t>
                      </a:r>
                      <a:r>
                        <a:rPr lang="en-US" sz="1600" dirty="0"/>
                        <a:t>:</a:t>
                      </a:r>
                      <a:endParaRPr lang="en-US" sz="1600" b="1" dirty="0"/>
                    </a:p>
                  </a:txBody>
                  <a:tcPr/>
                </a:tc>
                <a:tc>
                  <a:txBody>
                    <a:bodyPr/>
                    <a:lstStyle/>
                    <a:p>
                      <a:r>
                        <a:rPr lang="en-US" sz="1600" dirty="0"/>
                        <a:t>Entities independently move at their own speeds.</a:t>
                      </a:r>
                    </a:p>
                  </a:txBody>
                  <a:tcPr/>
                </a:tc>
                <a:extLst>
                  <a:ext uri="{0D108BD9-81ED-4DB2-BD59-A6C34878D82A}">
                    <a16:rowId xmlns:a16="http://schemas.microsoft.com/office/drawing/2014/main" val="10012"/>
                  </a:ext>
                </a:extLst>
              </a:tr>
              <a:tr h="328985">
                <a:tc>
                  <a:txBody>
                    <a:bodyPr/>
                    <a:lstStyle/>
                    <a:p>
                      <a:pPr algn="r"/>
                      <a:r>
                        <a:rPr lang="en-US" sz="1600" b="1" dirty="0" err="1"/>
                        <a:t>TimePath</a:t>
                      </a:r>
                      <a:r>
                        <a:rPr lang="en-US" sz="1600" dirty="0"/>
                        <a:t>:</a:t>
                      </a:r>
                      <a:endParaRPr lang="en-US" sz="1600" b="1" dirty="0"/>
                    </a:p>
                  </a:txBody>
                  <a:tcPr/>
                </a:tc>
                <a:tc>
                  <a:txBody>
                    <a:bodyPr/>
                    <a:lstStyle/>
                    <a:p>
                      <a:r>
                        <a:rPr lang="en-US" sz="1600" dirty="0"/>
                        <a:t>Entities complete travel in</a:t>
                      </a:r>
                      <a:r>
                        <a:rPr lang="en-US" sz="1600" baseline="0" dirty="0"/>
                        <a:t> a specified time.</a:t>
                      </a:r>
                      <a:endParaRPr lang="en-US" sz="1600" dirty="0"/>
                    </a:p>
                  </a:txBody>
                  <a:tcPr/>
                </a:tc>
                <a:extLst>
                  <a:ext uri="{0D108BD9-81ED-4DB2-BD59-A6C34878D82A}">
                    <a16:rowId xmlns:a16="http://schemas.microsoft.com/office/drawing/2014/main" val="10013"/>
                  </a:ext>
                </a:extLst>
              </a:tr>
              <a:tr h="328985">
                <a:tc>
                  <a:txBody>
                    <a:bodyPr/>
                    <a:lstStyle/>
                    <a:p>
                      <a:pPr algn="r"/>
                      <a:r>
                        <a:rPr lang="en-US" sz="1600" b="1" dirty="0"/>
                        <a:t>Conveyor</a:t>
                      </a:r>
                      <a:r>
                        <a:rPr lang="en-US" sz="1600" dirty="0"/>
                        <a:t>:</a:t>
                      </a:r>
                      <a:endParaRPr lang="en-US" sz="1600" b="1" dirty="0"/>
                    </a:p>
                  </a:txBody>
                  <a:tcPr/>
                </a:tc>
                <a:tc>
                  <a:txBody>
                    <a:bodyPr/>
                    <a:lstStyle/>
                    <a:p>
                      <a:r>
                        <a:rPr lang="en-US" sz="1600" dirty="0"/>
                        <a:t>Accumulating/non-accumulating</a:t>
                      </a:r>
                      <a:r>
                        <a:rPr lang="en-US" sz="1600" baseline="0" dirty="0"/>
                        <a:t> conveyor devices.</a:t>
                      </a:r>
                      <a:endParaRPr lang="en-US" sz="1600" dirty="0"/>
                    </a:p>
                  </a:txBody>
                  <a:tcPr/>
                </a:tc>
                <a:extLst>
                  <a:ext uri="{0D108BD9-81ED-4DB2-BD59-A6C34878D82A}">
                    <a16:rowId xmlns:a16="http://schemas.microsoft.com/office/drawing/2014/main" val="10014"/>
                  </a:ext>
                </a:extLst>
              </a:tr>
            </a:tbl>
          </a:graphicData>
        </a:graphic>
      </p:graphicFrame>
      <p:pic>
        <p:nvPicPr>
          <p:cNvPr id="7" name="Picture 6">
            <a:extLst>
              <a:ext uri="{FF2B5EF4-FFF2-40B4-BE49-F238E27FC236}">
                <a16:creationId xmlns:a16="http://schemas.microsoft.com/office/drawing/2014/main" id="{6C20FEBD-3519-4F84-870D-E3C96C39E8DC}"/>
              </a:ext>
            </a:extLst>
          </p:cNvPr>
          <p:cNvPicPr>
            <a:picLocks noChangeAspect="1"/>
          </p:cNvPicPr>
          <p:nvPr/>
        </p:nvPicPr>
        <p:blipFill>
          <a:blip r:embed="rId2"/>
          <a:stretch>
            <a:fillRect/>
          </a:stretch>
        </p:blipFill>
        <p:spPr>
          <a:xfrm>
            <a:off x="914278" y="1714461"/>
            <a:ext cx="1758907" cy="5105426"/>
          </a:xfrm>
          <a:prstGeom prst="rect">
            <a:avLst/>
          </a:prstGeom>
        </p:spPr>
      </p:pic>
    </p:spTree>
    <p:extLst>
      <p:ext uri="{BB962C8B-B14F-4D97-AF65-F5344CB8AC3E}">
        <p14:creationId xmlns:p14="http://schemas.microsoft.com/office/powerpoint/2010/main" val="3076968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a:t>
            </a:r>
            <a:r>
              <a:rPr lang="en-US" dirty="0" err="1"/>
              <a:t>Simio</a:t>
            </a:r>
            <a:r>
              <a:rPr lang="en-US" dirty="0"/>
              <a:t> User Interface</a:t>
            </a:r>
          </a:p>
        </p:txBody>
      </p:sp>
      <p:sp>
        <p:nvSpPr>
          <p:cNvPr id="3" name="Content Placeholder 2"/>
          <p:cNvSpPr>
            <a:spLocks noGrp="1"/>
          </p:cNvSpPr>
          <p:nvPr>
            <p:ph idx="1"/>
          </p:nvPr>
        </p:nvSpPr>
        <p:spPr/>
        <p:txBody>
          <a:bodyPr>
            <a:normAutofit fontScale="92500" lnSpcReduction="10000"/>
          </a:bodyPr>
          <a:lstStyle/>
          <a:p>
            <a:r>
              <a:rPr lang="en-US" dirty="0"/>
              <a:t>Modeling paradigms:</a:t>
            </a:r>
          </a:p>
          <a:p>
            <a:pPr lvl="1">
              <a:defRPr/>
            </a:pPr>
            <a:r>
              <a:rPr lang="en-US" sz="2800" dirty="0"/>
              <a:t>Objects</a:t>
            </a:r>
          </a:p>
          <a:p>
            <a:pPr lvl="2">
              <a:defRPr/>
            </a:pPr>
            <a:r>
              <a:rPr lang="en-US" sz="2400" dirty="0"/>
              <a:t>Intuitive, Easy, Most commonly used</a:t>
            </a:r>
          </a:p>
          <a:p>
            <a:pPr lvl="2">
              <a:defRPr/>
            </a:pPr>
            <a:r>
              <a:rPr lang="en-US" sz="2400" dirty="0"/>
              <a:t>Facility Window</a:t>
            </a:r>
          </a:p>
          <a:p>
            <a:pPr lvl="1">
              <a:defRPr/>
            </a:pPr>
            <a:r>
              <a:rPr lang="en-US" sz="2800" dirty="0"/>
              <a:t>Processes</a:t>
            </a:r>
          </a:p>
          <a:p>
            <a:pPr lvl="2">
              <a:defRPr/>
            </a:pPr>
            <a:r>
              <a:rPr lang="en-US" sz="2400" dirty="0"/>
              <a:t>Flexible and Efficient</a:t>
            </a:r>
          </a:p>
          <a:p>
            <a:pPr lvl="2">
              <a:defRPr/>
            </a:pPr>
            <a:r>
              <a:rPr lang="en-US" sz="2400" dirty="0"/>
              <a:t>Processes Window</a:t>
            </a:r>
          </a:p>
          <a:p>
            <a:pPr lvl="1">
              <a:defRPr/>
            </a:pPr>
            <a:r>
              <a:rPr lang="en-US" sz="2800" dirty="0"/>
              <a:t>User Code</a:t>
            </a:r>
          </a:p>
          <a:p>
            <a:pPr lvl="2">
              <a:defRPr/>
            </a:pPr>
            <a:r>
              <a:rPr lang="en-US" sz="2400" dirty="0"/>
              <a:t>Very rarely used, Ultimate in flexibility</a:t>
            </a:r>
          </a:p>
          <a:p>
            <a:pPr lvl="2">
              <a:defRPr/>
            </a:pPr>
            <a:r>
              <a:rPr lang="en-US" sz="2400" dirty="0"/>
              <a:t>Lightly covered in Chapter 10</a:t>
            </a:r>
          </a:p>
          <a:p>
            <a:pPr lvl="1">
              <a:defRPr/>
            </a:pPr>
            <a:r>
              <a:rPr lang="en-US" sz="2800" dirty="0"/>
              <a:t>All three can be mixed in a single model</a:t>
            </a:r>
          </a:p>
          <a:p>
            <a:pPr lvl="1">
              <a:defRPr/>
            </a:pPr>
            <a:endParaRPr lang="en-US" sz="2800" dirty="0"/>
          </a:p>
          <a:p>
            <a:pPr lvl="1">
              <a:defRPr/>
            </a:pPr>
            <a:r>
              <a:rPr lang="en-US" sz="2800" dirty="0"/>
              <a:t>Read Chapter 4.1	</a:t>
            </a:r>
          </a:p>
          <a:p>
            <a:endParaRPr lang="en-US" dirty="0"/>
          </a:p>
        </p:txBody>
      </p:sp>
      <p:sp>
        <p:nvSpPr>
          <p:cNvPr id="4" name="Scroll: Horizontal 3">
            <a:extLst>
              <a:ext uri="{FF2B5EF4-FFF2-40B4-BE49-F238E27FC236}">
                <a16:creationId xmlns:a16="http://schemas.microsoft.com/office/drawing/2014/main" id="{2984E71D-A76B-46BF-B408-4BC3DBB18D49}"/>
              </a:ext>
            </a:extLst>
          </p:cNvPr>
          <p:cNvSpPr/>
          <p:nvPr/>
        </p:nvSpPr>
        <p:spPr>
          <a:xfrm>
            <a:off x="7610901" y="2101755"/>
            <a:ext cx="3489278" cy="2129051"/>
          </a:xfrm>
          <a:prstGeom prst="horizontalScroll">
            <a:avLst/>
          </a:prstGeom>
          <a:ln>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We will be using Objects based modeling mostly</a:t>
            </a:r>
          </a:p>
        </p:txBody>
      </p:sp>
    </p:spTree>
    <p:extLst>
      <p:ext uri="{BB962C8B-B14F-4D97-AF65-F5344CB8AC3E}">
        <p14:creationId xmlns:p14="http://schemas.microsoft.com/office/powerpoint/2010/main" val="1214762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normAutofit/>
          </a:bodyPr>
          <a:lstStyle/>
          <a:p>
            <a:r>
              <a:rPr lang="en-US" dirty="0">
                <a:solidFill>
                  <a:schemeClr val="bg2"/>
                </a:solidFill>
              </a:rPr>
              <a:t>Basic </a:t>
            </a:r>
            <a:r>
              <a:rPr lang="en-US" dirty="0" err="1">
                <a:solidFill>
                  <a:schemeClr val="bg2"/>
                </a:solidFill>
              </a:rPr>
              <a:t>Simio</a:t>
            </a:r>
            <a:r>
              <a:rPr lang="en-US" dirty="0">
                <a:solidFill>
                  <a:schemeClr val="bg2"/>
                </a:solidFill>
              </a:rPr>
              <a:t> User Interface </a:t>
            </a:r>
          </a:p>
          <a:p>
            <a:endParaRPr lang="en-US" dirty="0"/>
          </a:p>
          <a:p>
            <a:r>
              <a:rPr lang="en-US" dirty="0"/>
              <a:t>First </a:t>
            </a:r>
            <a:r>
              <a:rPr lang="en-US" dirty="0" err="1"/>
              <a:t>Simio</a:t>
            </a:r>
            <a:r>
              <a:rPr lang="en-US" dirty="0"/>
              <a:t> Model</a:t>
            </a:r>
          </a:p>
          <a:p>
            <a:pPr lvl="1"/>
            <a:r>
              <a:rPr lang="en-US" dirty="0"/>
              <a:t>Modeling : An M/M/1 </a:t>
            </a:r>
          </a:p>
          <a:p>
            <a:pPr lvl="1"/>
            <a:r>
              <a:rPr lang="en-US" dirty="0"/>
              <a:t>Verification: An M/M/1</a:t>
            </a:r>
          </a:p>
          <a:p>
            <a:pPr lvl="1"/>
            <a:endParaRPr lang="en-US" dirty="0"/>
          </a:p>
          <a:p>
            <a:r>
              <a:rPr lang="en-US" dirty="0">
                <a:solidFill>
                  <a:schemeClr val="bg2"/>
                </a:solidFill>
              </a:rPr>
              <a:t>A Review with an Example</a:t>
            </a:r>
          </a:p>
          <a:p>
            <a:pPr marL="0" indent="0">
              <a:buNone/>
            </a:pPr>
            <a:endParaRPr lang="en-US" dirty="0"/>
          </a:p>
        </p:txBody>
      </p:sp>
    </p:spTree>
    <p:extLst>
      <p:ext uri="{BB962C8B-B14F-4D97-AF65-F5344CB8AC3E}">
        <p14:creationId xmlns:p14="http://schemas.microsoft.com/office/powerpoint/2010/main" val="5567352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a:t>
            </a:r>
            <a:r>
              <a:rPr lang="en-US" dirty="0" err="1"/>
              <a:t>Simio</a:t>
            </a:r>
            <a:r>
              <a:rPr lang="en-US" dirty="0"/>
              <a:t> Model</a:t>
            </a:r>
          </a:p>
        </p:txBody>
      </p:sp>
      <p:sp>
        <p:nvSpPr>
          <p:cNvPr id="3" name="Content Placeholder 2"/>
          <p:cNvSpPr>
            <a:spLocks noGrp="1"/>
          </p:cNvSpPr>
          <p:nvPr>
            <p:ph idx="1"/>
          </p:nvPr>
        </p:nvSpPr>
        <p:spPr/>
        <p:txBody>
          <a:bodyPr>
            <a:normAutofit/>
          </a:bodyPr>
          <a:lstStyle/>
          <a:p>
            <a:r>
              <a:rPr lang="en-US" dirty="0"/>
              <a:t>Recall Simulation Process:</a:t>
            </a:r>
          </a:p>
          <a:p>
            <a:endParaRPr lang="en-US" dirty="0"/>
          </a:p>
        </p:txBody>
      </p:sp>
      <p:pic>
        <p:nvPicPr>
          <p:cNvPr id="4" name="Picture 3">
            <a:extLst>
              <a:ext uri="{FF2B5EF4-FFF2-40B4-BE49-F238E27FC236}">
                <a16:creationId xmlns:a16="http://schemas.microsoft.com/office/drawing/2014/main" id="{C95A6459-353A-4F48-8BB6-3501C4F299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329" y="2067419"/>
            <a:ext cx="4583723" cy="4109544"/>
          </a:xfrm>
          <a:prstGeom prst="rect">
            <a:avLst/>
          </a:prstGeom>
        </p:spPr>
      </p:pic>
      <p:sp>
        <p:nvSpPr>
          <p:cNvPr id="5" name="Rectangle 4">
            <a:extLst>
              <a:ext uri="{FF2B5EF4-FFF2-40B4-BE49-F238E27FC236}">
                <a16:creationId xmlns:a16="http://schemas.microsoft.com/office/drawing/2014/main" id="{72D92CA1-E437-40DE-959B-97054A19D320}"/>
              </a:ext>
            </a:extLst>
          </p:cNvPr>
          <p:cNvSpPr/>
          <p:nvPr/>
        </p:nvSpPr>
        <p:spPr>
          <a:xfrm>
            <a:off x="614149" y="2067420"/>
            <a:ext cx="4308144" cy="621190"/>
          </a:xfrm>
          <a:prstGeom prst="rect">
            <a:avLst/>
          </a:prstGeom>
          <a:solidFill>
            <a:srgbClr val="C00000">
              <a:alpha val="12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5356A59-318C-44DA-9395-9A89056E34D3}"/>
              </a:ext>
            </a:extLst>
          </p:cNvPr>
          <p:cNvSpPr/>
          <p:nvPr/>
        </p:nvSpPr>
        <p:spPr>
          <a:xfrm>
            <a:off x="614149" y="3284346"/>
            <a:ext cx="1715069" cy="1164824"/>
          </a:xfrm>
          <a:prstGeom prst="rect">
            <a:avLst/>
          </a:prstGeom>
          <a:solidFill>
            <a:srgbClr val="C00000">
              <a:alpha val="12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36B1A73-A0ED-438E-8F73-71AFCA7A0382}"/>
              </a:ext>
            </a:extLst>
          </p:cNvPr>
          <p:cNvSpPr txBox="1"/>
          <p:nvPr/>
        </p:nvSpPr>
        <p:spPr>
          <a:xfrm>
            <a:off x="5950425" y="1635974"/>
            <a:ext cx="4822209" cy="1477328"/>
          </a:xfrm>
          <a:prstGeom prst="rect">
            <a:avLst/>
          </a:prstGeom>
          <a:noFill/>
        </p:spPr>
        <p:txBody>
          <a:bodyPr wrap="square" rtlCol="0">
            <a:spAutoFit/>
          </a:bodyPr>
          <a:lstStyle/>
          <a:p>
            <a:r>
              <a:rPr lang="en-US" dirty="0"/>
              <a:t>A single server queueing system</a:t>
            </a:r>
          </a:p>
          <a:p>
            <a:r>
              <a:rPr lang="en-US" dirty="0">
                <a:sym typeface="Wingdings" panose="05000000000000000000" pitchFamily="2" charset="2"/>
              </a:rPr>
              <a:t>Arrival rate is 48/hour </a:t>
            </a:r>
          </a:p>
          <a:p>
            <a:r>
              <a:rPr lang="en-US" dirty="0">
                <a:sym typeface="Wingdings" panose="05000000000000000000" pitchFamily="2" charset="2"/>
              </a:rPr>
              <a:t>Service rate is 60/hour</a:t>
            </a:r>
          </a:p>
          <a:p>
            <a:r>
              <a:rPr lang="en-US" dirty="0">
                <a:sym typeface="Wingdings" panose="05000000000000000000" pitchFamily="2" charset="2"/>
              </a:rPr>
              <a:t> Both interarrival and service times are exponentially distributed</a:t>
            </a:r>
            <a:endParaRPr lang="en-US" dirty="0"/>
          </a:p>
        </p:txBody>
      </p:sp>
      <p:pic>
        <p:nvPicPr>
          <p:cNvPr id="8" name="Content Placeholder 6" descr="single_server.png">
            <a:extLst>
              <a:ext uri="{FF2B5EF4-FFF2-40B4-BE49-F238E27FC236}">
                <a16:creationId xmlns:a16="http://schemas.microsoft.com/office/drawing/2014/main" id="{F2C53BD5-F957-4033-98FC-0B8D29E818F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375778" y="3220879"/>
            <a:ext cx="4114800" cy="166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6D1F5008-1C08-4240-BF06-88840D51078A}"/>
              </a:ext>
            </a:extLst>
          </p:cNvPr>
          <p:cNvSpPr txBox="1"/>
          <p:nvPr/>
        </p:nvSpPr>
        <p:spPr>
          <a:xfrm>
            <a:off x="6257500" y="5159371"/>
            <a:ext cx="4822209" cy="923330"/>
          </a:xfrm>
          <a:prstGeom prst="rect">
            <a:avLst/>
          </a:prstGeom>
          <a:noFill/>
        </p:spPr>
        <p:txBody>
          <a:bodyPr wrap="square" rtlCol="0">
            <a:spAutoFit/>
          </a:bodyPr>
          <a:lstStyle/>
          <a:p>
            <a:r>
              <a:rPr lang="en-US" dirty="0"/>
              <a:t>A single server queueing system</a:t>
            </a:r>
          </a:p>
          <a:p>
            <a:r>
              <a:rPr lang="en-US" dirty="0">
                <a:sym typeface="Wingdings" panose="05000000000000000000" pitchFamily="2" charset="2"/>
              </a:rPr>
              <a:t>Mean interarrival time: 1.25 minutes</a:t>
            </a:r>
          </a:p>
          <a:p>
            <a:r>
              <a:rPr lang="en-US" dirty="0">
                <a:sym typeface="Wingdings" panose="05000000000000000000" pitchFamily="2" charset="2"/>
              </a:rPr>
              <a:t>Mean service time: 1 minute</a:t>
            </a:r>
            <a:endParaRPr lang="en-US" dirty="0"/>
          </a:p>
        </p:txBody>
      </p:sp>
    </p:spTree>
    <p:extLst>
      <p:ext uri="{BB962C8B-B14F-4D97-AF65-F5344CB8AC3E}">
        <p14:creationId xmlns:p14="http://schemas.microsoft.com/office/powerpoint/2010/main" val="2204979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a:t>
            </a:r>
            <a:r>
              <a:rPr lang="en-US" dirty="0" err="1"/>
              <a:t>Simio</a:t>
            </a:r>
            <a:r>
              <a:rPr lang="en-US" dirty="0"/>
              <a:t> Model</a:t>
            </a:r>
          </a:p>
        </p:txBody>
      </p:sp>
      <p:sp>
        <p:nvSpPr>
          <p:cNvPr id="3" name="Content Placeholder 2"/>
          <p:cNvSpPr>
            <a:spLocks noGrp="1"/>
          </p:cNvSpPr>
          <p:nvPr>
            <p:ph idx="1"/>
          </p:nvPr>
        </p:nvSpPr>
        <p:spPr/>
        <p:txBody>
          <a:bodyPr>
            <a:normAutofit/>
          </a:bodyPr>
          <a:lstStyle/>
          <a:p>
            <a:r>
              <a:rPr lang="en-US" dirty="0"/>
              <a:t>Using </a:t>
            </a:r>
            <a:r>
              <a:rPr lang="en-US" dirty="0" err="1"/>
              <a:t>Simio</a:t>
            </a:r>
            <a:r>
              <a:rPr lang="en-US" dirty="0"/>
              <a:t> and some queueing theory, we will:</a:t>
            </a:r>
          </a:p>
          <a:p>
            <a:endParaRPr lang="en-US" dirty="0"/>
          </a:p>
        </p:txBody>
      </p:sp>
      <p:pic>
        <p:nvPicPr>
          <p:cNvPr id="4" name="Picture 3">
            <a:extLst>
              <a:ext uri="{FF2B5EF4-FFF2-40B4-BE49-F238E27FC236}">
                <a16:creationId xmlns:a16="http://schemas.microsoft.com/office/drawing/2014/main" id="{C95A6459-353A-4F48-8BB6-3501C4F299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329" y="2067419"/>
            <a:ext cx="4583723" cy="4109544"/>
          </a:xfrm>
          <a:prstGeom prst="rect">
            <a:avLst/>
          </a:prstGeom>
        </p:spPr>
      </p:pic>
      <p:sp>
        <p:nvSpPr>
          <p:cNvPr id="5" name="Rectangle 4">
            <a:extLst>
              <a:ext uri="{FF2B5EF4-FFF2-40B4-BE49-F238E27FC236}">
                <a16:creationId xmlns:a16="http://schemas.microsoft.com/office/drawing/2014/main" id="{72D92CA1-E437-40DE-959B-97054A19D320}"/>
              </a:ext>
            </a:extLst>
          </p:cNvPr>
          <p:cNvSpPr/>
          <p:nvPr/>
        </p:nvSpPr>
        <p:spPr>
          <a:xfrm>
            <a:off x="3184478" y="3127547"/>
            <a:ext cx="1732463" cy="1449002"/>
          </a:xfrm>
          <a:prstGeom prst="rect">
            <a:avLst/>
          </a:prstGeom>
          <a:solidFill>
            <a:srgbClr val="C00000">
              <a:alpha val="12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5356A59-318C-44DA-9395-9A89056E34D3}"/>
              </a:ext>
            </a:extLst>
          </p:cNvPr>
          <p:cNvSpPr/>
          <p:nvPr/>
        </p:nvSpPr>
        <p:spPr>
          <a:xfrm>
            <a:off x="1860646" y="5012140"/>
            <a:ext cx="1765110" cy="1164824"/>
          </a:xfrm>
          <a:prstGeom prst="rect">
            <a:avLst/>
          </a:prstGeom>
          <a:solidFill>
            <a:srgbClr val="C00000">
              <a:alpha val="12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Content Placeholder 6" descr="single_server.png">
            <a:extLst>
              <a:ext uri="{FF2B5EF4-FFF2-40B4-BE49-F238E27FC236}">
                <a16:creationId xmlns:a16="http://schemas.microsoft.com/office/drawing/2014/main" id="{F2C53BD5-F957-4033-98FC-0B8D29E818F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07457" y="2183585"/>
            <a:ext cx="4114800" cy="166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F4B4FB35-4097-488F-8814-0DDFB509BA8D}"/>
              </a:ext>
            </a:extLst>
          </p:cNvPr>
          <p:cNvSpPr txBox="1"/>
          <p:nvPr/>
        </p:nvSpPr>
        <p:spPr>
          <a:xfrm>
            <a:off x="6096000" y="5090615"/>
            <a:ext cx="4644788" cy="923330"/>
          </a:xfrm>
          <a:prstGeom prst="rect">
            <a:avLst/>
          </a:prstGeom>
          <a:noFill/>
        </p:spPr>
        <p:txBody>
          <a:bodyPr wrap="square" rtlCol="0">
            <a:spAutoFit/>
          </a:bodyPr>
          <a:lstStyle/>
          <a:p>
            <a:r>
              <a:rPr lang="en-US" dirty="0"/>
              <a:t>See ‘</a:t>
            </a:r>
            <a:r>
              <a:rPr lang="en-US" i="1" dirty="0"/>
              <a:t>MM1.spfx</a:t>
            </a:r>
            <a:r>
              <a:rPr lang="en-US" dirty="0"/>
              <a:t>’ file for the completed model.</a:t>
            </a:r>
          </a:p>
          <a:p>
            <a:endParaRPr lang="en-US" dirty="0"/>
          </a:p>
          <a:p>
            <a:r>
              <a:rPr lang="en-US" dirty="0"/>
              <a:t>Note: File extension .</a:t>
            </a:r>
            <a:r>
              <a:rPr lang="en-US" dirty="0" err="1"/>
              <a:t>spfx</a:t>
            </a:r>
            <a:r>
              <a:rPr lang="en-US" dirty="0"/>
              <a:t> is for </a:t>
            </a:r>
            <a:r>
              <a:rPr lang="en-US" dirty="0" err="1"/>
              <a:t>Simio</a:t>
            </a:r>
            <a:r>
              <a:rPr lang="en-US" dirty="0"/>
              <a:t> files.</a:t>
            </a:r>
          </a:p>
        </p:txBody>
      </p:sp>
    </p:spTree>
    <p:extLst>
      <p:ext uri="{BB962C8B-B14F-4D97-AF65-F5344CB8AC3E}">
        <p14:creationId xmlns:p14="http://schemas.microsoft.com/office/powerpoint/2010/main" val="4282407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a:t>
            </a:r>
            <a:r>
              <a:rPr lang="en-US" dirty="0" err="1"/>
              <a:t>Simio</a:t>
            </a:r>
            <a:r>
              <a:rPr lang="en-US" dirty="0"/>
              <a:t> Model</a:t>
            </a:r>
          </a:p>
        </p:txBody>
      </p:sp>
      <p:sp>
        <p:nvSpPr>
          <p:cNvPr id="3" name="Content Placeholder 2"/>
          <p:cNvSpPr>
            <a:spLocks noGrp="1"/>
          </p:cNvSpPr>
          <p:nvPr>
            <p:ph idx="1"/>
          </p:nvPr>
        </p:nvSpPr>
        <p:spPr/>
        <p:txBody>
          <a:bodyPr>
            <a:normAutofit/>
          </a:bodyPr>
          <a:lstStyle/>
          <a:p>
            <a:r>
              <a:rPr lang="en-US" dirty="0"/>
              <a:t>Building the model:</a:t>
            </a:r>
          </a:p>
          <a:p>
            <a:endParaRPr lang="en-US" dirty="0"/>
          </a:p>
        </p:txBody>
      </p:sp>
      <p:pic>
        <p:nvPicPr>
          <p:cNvPr id="6" name="Picture 5">
            <a:extLst>
              <a:ext uri="{FF2B5EF4-FFF2-40B4-BE49-F238E27FC236}">
                <a16:creationId xmlns:a16="http://schemas.microsoft.com/office/drawing/2014/main" id="{34E7787C-7F3C-4E16-94D7-883011E58B7F}"/>
              </a:ext>
            </a:extLst>
          </p:cNvPr>
          <p:cNvPicPr>
            <a:picLocks noChangeAspect="1"/>
          </p:cNvPicPr>
          <p:nvPr/>
        </p:nvPicPr>
        <p:blipFill>
          <a:blip r:embed="rId2"/>
          <a:stretch>
            <a:fillRect/>
          </a:stretch>
        </p:blipFill>
        <p:spPr>
          <a:xfrm>
            <a:off x="854664" y="1972943"/>
            <a:ext cx="8413400" cy="4541961"/>
          </a:xfrm>
          <a:prstGeom prst="rect">
            <a:avLst/>
          </a:prstGeom>
        </p:spPr>
      </p:pic>
    </p:spTree>
    <p:extLst>
      <p:ext uri="{BB962C8B-B14F-4D97-AF65-F5344CB8AC3E}">
        <p14:creationId xmlns:p14="http://schemas.microsoft.com/office/powerpoint/2010/main" val="36335994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a:t>
            </a:r>
            <a:r>
              <a:rPr lang="en-US" dirty="0" err="1"/>
              <a:t>Simio</a:t>
            </a:r>
            <a:r>
              <a:rPr lang="en-US" dirty="0"/>
              <a:t> Model</a:t>
            </a:r>
          </a:p>
        </p:txBody>
      </p:sp>
      <p:sp>
        <p:nvSpPr>
          <p:cNvPr id="3" name="Content Placeholder 2"/>
          <p:cNvSpPr>
            <a:spLocks noGrp="1"/>
          </p:cNvSpPr>
          <p:nvPr>
            <p:ph idx="1"/>
          </p:nvPr>
        </p:nvSpPr>
        <p:spPr/>
        <p:txBody>
          <a:bodyPr>
            <a:normAutofit/>
          </a:bodyPr>
          <a:lstStyle/>
          <a:p>
            <a:r>
              <a:rPr lang="en-US" dirty="0"/>
              <a:t>We have the model:</a:t>
            </a:r>
          </a:p>
          <a:p>
            <a:endParaRPr lang="en-US" dirty="0"/>
          </a:p>
        </p:txBody>
      </p:sp>
      <p:pic>
        <p:nvPicPr>
          <p:cNvPr id="5" name="Picture 4">
            <a:extLst>
              <a:ext uri="{FF2B5EF4-FFF2-40B4-BE49-F238E27FC236}">
                <a16:creationId xmlns:a16="http://schemas.microsoft.com/office/drawing/2014/main" id="{87847AEE-EE22-4685-85F5-07D4B7A886A2}"/>
              </a:ext>
            </a:extLst>
          </p:cNvPr>
          <p:cNvPicPr>
            <a:picLocks noChangeAspect="1"/>
          </p:cNvPicPr>
          <p:nvPr/>
        </p:nvPicPr>
        <p:blipFill>
          <a:blip r:embed="rId2"/>
          <a:stretch>
            <a:fillRect/>
          </a:stretch>
        </p:blipFill>
        <p:spPr>
          <a:xfrm>
            <a:off x="854664" y="1972943"/>
            <a:ext cx="8413400" cy="4541961"/>
          </a:xfrm>
          <a:prstGeom prst="rect">
            <a:avLst/>
          </a:prstGeom>
        </p:spPr>
      </p:pic>
    </p:spTree>
    <p:extLst>
      <p:ext uri="{BB962C8B-B14F-4D97-AF65-F5344CB8AC3E}">
        <p14:creationId xmlns:p14="http://schemas.microsoft.com/office/powerpoint/2010/main" val="3816566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a:t>
            </a:r>
            <a:r>
              <a:rPr lang="en-US" dirty="0" err="1"/>
              <a:t>Simio</a:t>
            </a:r>
            <a:r>
              <a:rPr lang="en-US" dirty="0"/>
              <a:t> Model</a:t>
            </a:r>
          </a:p>
        </p:txBody>
      </p:sp>
      <p:sp>
        <p:nvSpPr>
          <p:cNvPr id="3" name="Content Placeholder 2"/>
          <p:cNvSpPr>
            <a:spLocks noGrp="1"/>
          </p:cNvSpPr>
          <p:nvPr>
            <p:ph idx="1"/>
          </p:nvPr>
        </p:nvSpPr>
        <p:spPr/>
        <p:txBody>
          <a:bodyPr>
            <a:normAutofit/>
          </a:bodyPr>
          <a:lstStyle/>
          <a:p>
            <a:r>
              <a:rPr lang="en-US" dirty="0"/>
              <a:t>Results: Pivot Table:</a:t>
            </a:r>
          </a:p>
          <a:p>
            <a:endParaRPr lang="en-US" dirty="0"/>
          </a:p>
        </p:txBody>
      </p:sp>
      <p:sp>
        <p:nvSpPr>
          <p:cNvPr id="7" name="Rectangle 6">
            <a:extLst>
              <a:ext uri="{FF2B5EF4-FFF2-40B4-BE49-F238E27FC236}">
                <a16:creationId xmlns:a16="http://schemas.microsoft.com/office/drawing/2014/main" id="{1C50873F-0147-491A-9904-D25339B6B782}"/>
              </a:ext>
            </a:extLst>
          </p:cNvPr>
          <p:cNvSpPr/>
          <p:nvPr/>
        </p:nvSpPr>
        <p:spPr>
          <a:xfrm>
            <a:off x="8347880" y="2334960"/>
            <a:ext cx="3448334" cy="3970318"/>
          </a:xfrm>
          <a:prstGeom prst="rect">
            <a:avLst/>
          </a:prstGeom>
        </p:spPr>
        <p:txBody>
          <a:bodyPr wrap="square">
            <a:spAutoFit/>
          </a:bodyPr>
          <a:lstStyle/>
          <a:p>
            <a:r>
              <a:rPr lang="en-US" dirty="0"/>
              <a:t>Manipulate, summarize, display, and explore your data.</a:t>
            </a:r>
          </a:p>
          <a:p>
            <a:endParaRPr lang="en-US" dirty="0"/>
          </a:p>
          <a:p>
            <a:r>
              <a:rPr lang="en-US" b="1" dirty="0"/>
              <a:t>Grouping:</a:t>
            </a:r>
            <a:r>
              <a:rPr lang="en-US" dirty="0"/>
              <a:t> Drag columns to different positions to cause the data to be grouped differently. </a:t>
            </a:r>
          </a:p>
          <a:p>
            <a:r>
              <a:rPr lang="en-US" b="1" dirty="0"/>
              <a:t>Sorting:</a:t>
            </a:r>
            <a:r>
              <a:rPr lang="en-US" dirty="0"/>
              <a:t> Click on triangle in column heading to toggle the column sort order between ascending and descending.</a:t>
            </a:r>
          </a:p>
          <a:p>
            <a:r>
              <a:rPr lang="en-US" b="1" dirty="0"/>
              <a:t>Filtering:</a:t>
            </a:r>
            <a:r>
              <a:rPr lang="en-US" dirty="0"/>
              <a:t> Click on the funnel in column heading for a menu to enable/disable display of any field in that column.</a:t>
            </a:r>
          </a:p>
        </p:txBody>
      </p:sp>
      <p:pic>
        <p:nvPicPr>
          <p:cNvPr id="5" name="Picture 4" descr="Graphical user interface, table&#10;&#10;Description automatically generated with medium confidence">
            <a:extLst>
              <a:ext uri="{FF2B5EF4-FFF2-40B4-BE49-F238E27FC236}">
                <a16:creationId xmlns:a16="http://schemas.microsoft.com/office/drawing/2014/main" id="{304EA90E-0E1F-42DC-8021-6D87CF5693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6342" y="1804350"/>
            <a:ext cx="5358653" cy="4372613"/>
          </a:xfrm>
          <a:prstGeom prst="rect">
            <a:avLst/>
          </a:prstGeom>
        </p:spPr>
      </p:pic>
    </p:spTree>
    <p:extLst>
      <p:ext uri="{BB962C8B-B14F-4D97-AF65-F5344CB8AC3E}">
        <p14:creationId xmlns:p14="http://schemas.microsoft.com/office/powerpoint/2010/main" val="3114781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98844D5-24FE-411A-BCD5-C1A16D209070}"/>
              </a:ext>
            </a:extLst>
          </p:cNvPr>
          <p:cNvPicPr>
            <a:picLocks noChangeAspect="1"/>
          </p:cNvPicPr>
          <p:nvPr/>
        </p:nvPicPr>
        <p:blipFill>
          <a:blip r:embed="rId2"/>
          <a:stretch>
            <a:fillRect/>
          </a:stretch>
        </p:blipFill>
        <p:spPr>
          <a:xfrm>
            <a:off x="604077" y="1787066"/>
            <a:ext cx="7888599" cy="3730843"/>
          </a:xfrm>
          <a:prstGeom prst="rect">
            <a:avLst/>
          </a:prstGeom>
        </p:spPr>
      </p:pic>
      <p:sp>
        <p:nvSpPr>
          <p:cNvPr id="2" name="Title 1"/>
          <p:cNvSpPr>
            <a:spLocks noGrp="1"/>
          </p:cNvSpPr>
          <p:nvPr>
            <p:ph type="title"/>
          </p:nvPr>
        </p:nvSpPr>
        <p:spPr/>
        <p:txBody>
          <a:bodyPr/>
          <a:lstStyle/>
          <a:p>
            <a:r>
              <a:rPr lang="en-US" dirty="0"/>
              <a:t>First </a:t>
            </a:r>
            <a:r>
              <a:rPr lang="en-US" dirty="0" err="1"/>
              <a:t>Simio</a:t>
            </a:r>
            <a:r>
              <a:rPr lang="en-US" dirty="0"/>
              <a:t> Model</a:t>
            </a:r>
          </a:p>
        </p:txBody>
      </p:sp>
      <p:sp>
        <p:nvSpPr>
          <p:cNvPr id="3" name="Content Placeholder 2"/>
          <p:cNvSpPr>
            <a:spLocks noGrp="1"/>
          </p:cNvSpPr>
          <p:nvPr>
            <p:ph idx="1"/>
          </p:nvPr>
        </p:nvSpPr>
        <p:spPr/>
        <p:txBody>
          <a:bodyPr>
            <a:normAutofit/>
          </a:bodyPr>
          <a:lstStyle/>
          <a:p>
            <a:r>
              <a:rPr lang="en-US" dirty="0"/>
              <a:t>Where are key performance measures?</a:t>
            </a:r>
          </a:p>
          <a:p>
            <a:endParaRPr lang="en-US" dirty="0"/>
          </a:p>
        </p:txBody>
      </p:sp>
      <p:sp>
        <p:nvSpPr>
          <p:cNvPr id="8" name="Speech Bubble: Rectangle 7">
            <a:extLst>
              <a:ext uri="{FF2B5EF4-FFF2-40B4-BE49-F238E27FC236}">
                <a16:creationId xmlns:a16="http://schemas.microsoft.com/office/drawing/2014/main" id="{86B23E40-4F94-4DE6-923E-F631C1D8E76F}"/>
              </a:ext>
            </a:extLst>
          </p:cNvPr>
          <p:cNvSpPr/>
          <p:nvPr/>
        </p:nvSpPr>
        <p:spPr>
          <a:xfrm>
            <a:off x="3687133" y="4570708"/>
            <a:ext cx="4815899" cy="409433"/>
          </a:xfrm>
          <a:prstGeom prst="wedgeRectCallout">
            <a:avLst>
              <a:gd name="adj1" fmla="val 75759"/>
              <a:gd name="adj2" fmla="val -70538"/>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092EEB9-ECF5-4B8E-9A73-1008ACFDAD82}"/>
                  </a:ext>
                </a:extLst>
              </p:cNvPr>
              <p:cNvSpPr txBox="1"/>
              <p:nvPr/>
            </p:nvSpPr>
            <p:spPr>
              <a:xfrm>
                <a:off x="9719481" y="3908185"/>
                <a:ext cx="2277543" cy="1180836"/>
              </a:xfrm>
              <a:prstGeom prst="rect">
                <a:avLst/>
              </a:prstGeom>
              <a:noFill/>
            </p:spPr>
            <p:txBody>
              <a:bodyPr wrap="square" rtlCol="0">
                <a:spAutoFit/>
              </a:bodyPr>
              <a:lstStyle/>
              <a:p>
                <a:r>
                  <a:rPr lang="en-US" sz="1400" dirty="0"/>
                  <a:t>InputBuffer is about the queue at that serving station</a:t>
                </a:r>
              </a:p>
              <a:p>
                <a:r>
                  <a:rPr lang="en-US" sz="1400" u="sng" dirty="0"/>
                  <a:t>So based on the run:</a:t>
                </a:r>
              </a:p>
              <a:p>
                <a14:m>
                  <m:oMath xmlns:m="http://schemas.openxmlformats.org/officeDocument/2006/math">
                    <m:acc>
                      <m:accPr>
                        <m:chr m:val="̂"/>
                        <m:ctrlPr>
                          <a:rPr lang="en-US" sz="1400" i="1" dirty="0" smtClean="0">
                            <a:latin typeface="Cambria Math" panose="02040503050406030204" pitchFamily="18" charset="0"/>
                          </a:rPr>
                        </m:ctrlPr>
                      </m:accPr>
                      <m:e>
                        <m:r>
                          <a:rPr lang="en-US" sz="1400" i="1" dirty="0">
                            <a:latin typeface="Cambria Math" panose="02040503050406030204" pitchFamily="18" charset="0"/>
                          </a:rPr>
                          <m:t>𝐿𝑞</m:t>
                        </m:r>
                      </m:e>
                    </m:acc>
                  </m:oMath>
                </a14:m>
                <a:r>
                  <a:rPr lang="en-US" sz="1400" dirty="0"/>
                  <a:t>=2.0487</a:t>
                </a:r>
              </a:p>
              <a:p>
                <a14:m>
                  <m:oMath xmlns:m="http://schemas.openxmlformats.org/officeDocument/2006/math">
                    <m:acc>
                      <m:accPr>
                        <m:chr m:val="̂"/>
                        <m:ctrlPr>
                          <a:rPr lang="en-US" sz="1400" i="1" dirty="0">
                            <a:latin typeface="Cambria Math" panose="02040503050406030204" pitchFamily="18" charset="0"/>
                          </a:rPr>
                        </m:ctrlPr>
                      </m:accPr>
                      <m:e>
                        <m:r>
                          <a:rPr lang="en-US" sz="1400" b="0" i="1" dirty="0" smtClean="0">
                            <a:latin typeface="Cambria Math" panose="02040503050406030204" pitchFamily="18" charset="0"/>
                          </a:rPr>
                          <m:t>𝑊</m:t>
                        </m:r>
                        <m:r>
                          <a:rPr lang="en-US" sz="1400" i="1" dirty="0">
                            <a:latin typeface="Cambria Math" panose="02040503050406030204" pitchFamily="18" charset="0"/>
                          </a:rPr>
                          <m:t>𝑞</m:t>
                        </m:r>
                      </m:e>
                    </m:acc>
                    <m:r>
                      <a:rPr lang="en-US" sz="1400" i="1" dirty="0">
                        <a:latin typeface="Cambria Math" panose="02040503050406030204" pitchFamily="18" charset="0"/>
                      </a:rPr>
                      <m:t> </m:t>
                    </m:r>
                  </m:oMath>
                </a14:m>
                <a:r>
                  <a:rPr lang="en-US" sz="1400" dirty="0"/>
                  <a:t>=0.0436 hours</a:t>
                </a:r>
              </a:p>
            </p:txBody>
          </p:sp>
        </mc:Choice>
        <mc:Fallback xmlns="">
          <p:sp>
            <p:nvSpPr>
              <p:cNvPr id="9" name="TextBox 8">
                <a:extLst>
                  <a:ext uri="{FF2B5EF4-FFF2-40B4-BE49-F238E27FC236}">
                    <a16:creationId xmlns:a16="http://schemas.microsoft.com/office/drawing/2014/main" id="{6092EEB9-ECF5-4B8E-9A73-1008ACFDAD82}"/>
                  </a:ext>
                </a:extLst>
              </p:cNvPr>
              <p:cNvSpPr txBox="1">
                <a:spLocks noRot="1" noChangeAspect="1" noMove="1" noResize="1" noEditPoints="1" noAdjustHandles="1" noChangeArrowheads="1" noChangeShapeType="1" noTextEdit="1"/>
              </p:cNvSpPr>
              <p:nvPr/>
            </p:nvSpPr>
            <p:spPr>
              <a:xfrm>
                <a:off x="9719481" y="3908185"/>
                <a:ext cx="2277543" cy="1180836"/>
              </a:xfrm>
              <a:prstGeom prst="rect">
                <a:avLst/>
              </a:prstGeom>
              <a:blipFill>
                <a:blip r:embed="rId3"/>
                <a:stretch>
                  <a:fillRect l="-802" t="-1031" r="-267" b="-4639"/>
                </a:stretch>
              </a:blipFill>
            </p:spPr>
            <p:txBody>
              <a:bodyPr/>
              <a:lstStyle/>
              <a:p>
                <a:r>
                  <a:rPr lang="en-US">
                    <a:noFill/>
                  </a:rPr>
                  <a:t> </a:t>
                </a:r>
              </a:p>
            </p:txBody>
          </p:sp>
        </mc:Fallback>
      </mc:AlternateContent>
      <p:sp>
        <p:nvSpPr>
          <p:cNvPr id="10" name="Speech Bubble: Rectangle 9">
            <a:extLst>
              <a:ext uri="{FF2B5EF4-FFF2-40B4-BE49-F238E27FC236}">
                <a16:creationId xmlns:a16="http://schemas.microsoft.com/office/drawing/2014/main" id="{2958D73C-8632-4B82-8400-E2EDD5B6AC6E}"/>
              </a:ext>
            </a:extLst>
          </p:cNvPr>
          <p:cNvSpPr/>
          <p:nvPr/>
        </p:nvSpPr>
        <p:spPr>
          <a:xfrm>
            <a:off x="3676780" y="3287268"/>
            <a:ext cx="4815897" cy="148843"/>
          </a:xfrm>
          <a:prstGeom prst="wedgeRectCallout">
            <a:avLst>
              <a:gd name="adj1" fmla="val 75207"/>
              <a:gd name="adj2" fmla="val 41568"/>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5B4DA65-959E-409C-BF12-C50FE547E40E}"/>
                  </a:ext>
                </a:extLst>
              </p:cNvPr>
              <p:cNvSpPr txBox="1"/>
              <p:nvPr/>
            </p:nvSpPr>
            <p:spPr>
              <a:xfrm>
                <a:off x="9637675" y="3021690"/>
                <a:ext cx="2277543" cy="985591"/>
              </a:xfrm>
              <a:prstGeom prst="rect">
                <a:avLst/>
              </a:prstGeom>
              <a:noFill/>
            </p:spPr>
            <p:txBody>
              <a:bodyPr wrap="square" rtlCol="0">
                <a:spAutoFit/>
              </a:bodyPr>
              <a:lstStyle/>
              <a:p>
                <a:r>
                  <a:rPr lang="en-US" sz="1400" dirty="0"/>
                  <a:t>Utilization is </a:t>
                </a:r>
                <a:r>
                  <a:rPr lang="el-GR" sz="1400" dirty="0"/>
                  <a:t>ρ</a:t>
                </a:r>
                <a:endParaRPr lang="en-US" sz="1400" dirty="0"/>
              </a:p>
              <a:p>
                <a:r>
                  <a:rPr lang="en-US" sz="1400" u="sng" dirty="0"/>
                  <a:t>So based on the run:</a:t>
                </a:r>
              </a:p>
              <a:p>
                <a14:m>
                  <m:oMath xmlns:m="http://schemas.openxmlformats.org/officeDocument/2006/math">
                    <m:acc>
                      <m:accPr>
                        <m:chr m:val="̂"/>
                        <m:ctrlPr>
                          <a:rPr lang="en-US" sz="1400" i="1" dirty="0" smtClean="0">
                            <a:latin typeface="Cambria Math" panose="02040503050406030204" pitchFamily="18" charset="0"/>
                          </a:rPr>
                        </m:ctrlPr>
                      </m:accPr>
                      <m:e>
                        <m:r>
                          <m:rPr>
                            <m:nor/>
                          </m:rPr>
                          <a:rPr lang="el-GR" sz="1400" dirty="0"/>
                          <m:t>ρ</m:t>
                        </m:r>
                      </m:e>
                    </m:acc>
                  </m:oMath>
                </a14:m>
                <a:r>
                  <a:rPr lang="en-US" sz="1400" dirty="0"/>
                  <a:t>=0.8303</a:t>
                </a:r>
              </a:p>
              <a:p>
                <a:endParaRPr lang="en-US" sz="1400" dirty="0"/>
              </a:p>
            </p:txBody>
          </p:sp>
        </mc:Choice>
        <mc:Fallback xmlns="">
          <p:sp>
            <p:nvSpPr>
              <p:cNvPr id="11" name="TextBox 10">
                <a:extLst>
                  <a:ext uri="{FF2B5EF4-FFF2-40B4-BE49-F238E27FC236}">
                    <a16:creationId xmlns:a16="http://schemas.microsoft.com/office/drawing/2014/main" id="{65B4DA65-959E-409C-BF12-C50FE547E40E}"/>
                  </a:ext>
                </a:extLst>
              </p:cNvPr>
              <p:cNvSpPr txBox="1">
                <a:spLocks noRot="1" noChangeAspect="1" noMove="1" noResize="1" noEditPoints="1" noAdjustHandles="1" noChangeArrowheads="1" noChangeShapeType="1" noTextEdit="1"/>
              </p:cNvSpPr>
              <p:nvPr/>
            </p:nvSpPr>
            <p:spPr>
              <a:xfrm>
                <a:off x="9637675" y="3021690"/>
                <a:ext cx="2277543" cy="985591"/>
              </a:xfrm>
              <a:prstGeom prst="rect">
                <a:avLst/>
              </a:prstGeom>
              <a:blipFill>
                <a:blip r:embed="rId4"/>
                <a:stretch>
                  <a:fillRect l="-802" t="-1242"/>
                </a:stretch>
              </a:blipFill>
            </p:spPr>
            <p:txBody>
              <a:bodyPr/>
              <a:lstStyle/>
              <a:p>
                <a:r>
                  <a:rPr lang="en-US">
                    <a:noFill/>
                  </a:rPr>
                  <a:t> </a:t>
                </a:r>
              </a:p>
            </p:txBody>
          </p:sp>
        </mc:Fallback>
      </mc:AlternateContent>
      <p:sp>
        <p:nvSpPr>
          <p:cNvPr id="12" name="Speech Bubble: Rectangle 11">
            <a:extLst>
              <a:ext uri="{FF2B5EF4-FFF2-40B4-BE49-F238E27FC236}">
                <a16:creationId xmlns:a16="http://schemas.microsoft.com/office/drawing/2014/main" id="{918FDCCB-D69E-46B0-B3D7-950F6AC328B1}"/>
              </a:ext>
            </a:extLst>
          </p:cNvPr>
          <p:cNvSpPr/>
          <p:nvPr/>
        </p:nvSpPr>
        <p:spPr>
          <a:xfrm>
            <a:off x="3676779" y="2875525"/>
            <a:ext cx="4815897" cy="399698"/>
          </a:xfrm>
          <a:prstGeom prst="wedgeRectCallout">
            <a:avLst>
              <a:gd name="adj1" fmla="val 71751"/>
              <a:gd name="adj2" fmla="val -151529"/>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CDAACD3-76A0-4E72-B806-0D2A75B71D87}"/>
                  </a:ext>
                </a:extLst>
              </p:cNvPr>
              <p:cNvSpPr txBox="1"/>
              <p:nvPr/>
            </p:nvSpPr>
            <p:spPr>
              <a:xfrm>
                <a:off x="9555869" y="1787066"/>
                <a:ext cx="2277543" cy="1180836"/>
              </a:xfrm>
              <a:prstGeom prst="rect">
                <a:avLst/>
              </a:prstGeom>
              <a:noFill/>
            </p:spPr>
            <p:txBody>
              <a:bodyPr wrap="square" rtlCol="0">
                <a:spAutoFit/>
              </a:bodyPr>
              <a:lstStyle/>
              <a:p>
                <a:r>
                  <a:rPr lang="en-US" sz="1400" dirty="0"/>
                  <a:t>About the customers in system:</a:t>
                </a:r>
              </a:p>
              <a:p>
                <a:r>
                  <a:rPr lang="en-US" sz="1400" u="sng" dirty="0"/>
                  <a:t>So based on the run:</a:t>
                </a:r>
              </a:p>
              <a:p>
                <a14:m>
                  <m:oMath xmlns:m="http://schemas.openxmlformats.org/officeDocument/2006/math">
                    <m:acc>
                      <m:accPr>
                        <m:chr m:val="̂"/>
                        <m:ctrlPr>
                          <a:rPr lang="en-US" sz="1400" i="1" dirty="0" smtClean="0">
                            <a:latin typeface="Cambria Math" panose="02040503050406030204" pitchFamily="18" charset="0"/>
                          </a:rPr>
                        </m:ctrlPr>
                      </m:accPr>
                      <m:e>
                        <m:r>
                          <a:rPr lang="en-US" sz="1400" i="1" dirty="0">
                            <a:latin typeface="Cambria Math" panose="02040503050406030204" pitchFamily="18" charset="0"/>
                          </a:rPr>
                          <m:t>𝐿</m:t>
                        </m:r>
                      </m:e>
                    </m:acc>
                  </m:oMath>
                </a14:m>
                <a:r>
                  <a:rPr lang="en-US" sz="1400" dirty="0"/>
                  <a:t>=2.8790</a:t>
                </a:r>
              </a:p>
              <a:p>
                <a14:m>
                  <m:oMath xmlns:m="http://schemas.openxmlformats.org/officeDocument/2006/math">
                    <m:acc>
                      <m:accPr>
                        <m:chr m:val="̂"/>
                        <m:ctrlPr>
                          <a:rPr lang="en-US" sz="1400" i="1" dirty="0">
                            <a:latin typeface="Cambria Math" panose="02040503050406030204" pitchFamily="18" charset="0"/>
                          </a:rPr>
                        </m:ctrlPr>
                      </m:accPr>
                      <m:e>
                        <m:r>
                          <a:rPr lang="en-US" sz="1400" b="0" i="1" dirty="0" smtClean="0">
                            <a:latin typeface="Cambria Math" panose="02040503050406030204" pitchFamily="18" charset="0"/>
                          </a:rPr>
                          <m:t>𝑊</m:t>
                        </m:r>
                      </m:e>
                    </m:acc>
                    <m:r>
                      <a:rPr lang="en-US" sz="1400" i="1" dirty="0">
                        <a:latin typeface="Cambria Math" panose="02040503050406030204" pitchFamily="18" charset="0"/>
                      </a:rPr>
                      <m:t> </m:t>
                    </m:r>
                  </m:oMath>
                </a14:m>
                <a:r>
                  <a:rPr lang="en-US" sz="1400" dirty="0"/>
                  <a:t>=0.0613 hours</a:t>
                </a:r>
              </a:p>
            </p:txBody>
          </p:sp>
        </mc:Choice>
        <mc:Fallback xmlns="">
          <p:sp>
            <p:nvSpPr>
              <p:cNvPr id="13" name="TextBox 12">
                <a:extLst>
                  <a:ext uri="{FF2B5EF4-FFF2-40B4-BE49-F238E27FC236}">
                    <a16:creationId xmlns:a16="http://schemas.microsoft.com/office/drawing/2014/main" id="{9CDAACD3-76A0-4E72-B806-0D2A75B71D87}"/>
                  </a:ext>
                </a:extLst>
              </p:cNvPr>
              <p:cNvSpPr txBox="1">
                <a:spLocks noRot="1" noChangeAspect="1" noMove="1" noResize="1" noEditPoints="1" noAdjustHandles="1" noChangeArrowheads="1" noChangeShapeType="1" noTextEdit="1"/>
              </p:cNvSpPr>
              <p:nvPr/>
            </p:nvSpPr>
            <p:spPr>
              <a:xfrm>
                <a:off x="9555869" y="1787066"/>
                <a:ext cx="2277543" cy="1180836"/>
              </a:xfrm>
              <a:prstGeom prst="rect">
                <a:avLst/>
              </a:prstGeom>
              <a:blipFill>
                <a:blip r:embed="rId5"/>
                <a:stretch>
                  <a:fillRect l="-804" t="-1031" b="-4639"/>
                </a:stretch>
              </a:blipFill>
            </p:spPr>
            <p:txBody>
              <a:bodyPr/>
              <a:lstStyle/>
              <a:p>
                <a:r>
                  <a:rPr lang="en-US">
                    <a:noFill/>
                  </a:rPr>
                  <a:t> </a:t>
                </a:r>
              </a:p>
            </p:txBody>
          </p:sp>
        </mc:Fallback>
      </mc:AlternateContent>
    </p:spTree>
    <p:extLst>
      <p:ext uri="{BB962C8B-B14F-4D97-AF65-F5344CB8AC3E}">
        <p14:creationId xmlns:p14="http://schemas.microsoft.com/office/powerpoint/2010/main" val="3068082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animBg="1"/>
      <p:bldP spid="11" grpId="0"/>
      <p:bldP spid="12" grpId="0" animBg="1"/>
      <p:bldP spid="1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a:t>
            </a:r>
            <a:r>
              <a:rPr lang="en-US" dirty="0" err="1"/>
              <a:t>Simio</a:t>
            </a:r>
            <a:r>
              <a:rPr lang="en-US" dirty="0"/>
              <a:t> Model</a:t>
            </a:r>
          </a:p>
        </p:txBody>
      </p:sp>
      <p:sp>
        <p:nvSpPr>
          <p:cNvPr id="3" name="Content Placeholder 2"/>
          <p:cNvSpPr>
            <a:spLocks noGrp="1"/>
          </p:cNvSpPr>
          <p:nvPr>
            <p:ph idx="1"/>
          </p:nvPr>
        </p:nvSpPr>
        <p:spPr/>
        <p:txBody>
          <a:bodyPr>
            <a:normAutofit/>
          </a:bodyPr>
          <a:lstStyle/>
          <a:p>
            <a:r>
              <a:rPr lang="en-US" dirty="0"/>
              <a:t>Model verification:</a:t>
            </a:r>
          </a:p>
          <a:p>
            <a:pPr lvl="1"/>
            <a:r>
              <a:rPr lang="en-US" dirty="0"/>
              <a:t>We know that the system we simulated is M/M/1</a:t>
            </a:r>
          </a:p>
          <a:p>
            <a:pPr lvl="1"/>
            <a:r>
              <a:rPr lang="en-US" dirty="0"/>
              <a:t>We have theoretical results for the system: L, </a:t>
            </a:r>
            <a:r>
              <a:rPr lang="en-US" dirty="0" err="1"/>
              <a:t>Lq</a:t>
            </a:r>
            <a:r>
              <a:rPr lang="en-US" dirty="0"/>
              <a:t>, W, </a:t>
            </a:r>
            <a:r>
              <a:rPr lang="en-US" dirty="0" err="1"/>
              <a:t>Wq</a:t>
            </a:r>
            <a:endParaRPr lang="en-US" dirty="0"/>
          </a:p>
          <a:p>
            <a:pPr lvl="1"/>
            <a:r>
              <a:rPr lang="en-US" dirty="0"/>
              <a:t>We also have some results from the simulation model</a:t>
            </a:r>
          </a:p>
          <a:p>
            <a:endParaRPr lang="en-US" dirty="0"/>
          </a:p>
        </p:txBody>
      </p:sp>
      <p:pic>
        <p:nvPicPr>
          <p:cNvPr id="6" name="Picture 5">
            <a:extLst>
              <a:ext uri="{FF2B5EF4-FFF2-40B4-BE49-F238E27FC236}">
                <a16:creationId xmlns:a16="http://schemas.microsoft.com/office/drawing/2014/main" id="{30B85CE3-ADBF-4FCD-A1E5-56BFA39F3FAC}"/>
              </a:ext>
            </a:extLst>
          </p:cNvPr>
          <p:cNvPicPr>
            <a:picLocks noChangeAspect="1"/>
          </p:cNvPicPr>
          <p:nvPr/>
        </p:nvPicPr>
        <p:blipFill>
          <a:blip r:embed="rId2"/>
          <a:stretch>
            <a:fillRect/>
          </a:stretch>
        </p:blipFill>
        <p:spPr>
          <a:xfrm>
            <a:off x="1929890" y="3161778"/>
            <a:ext cx="8050396" cy="2898805"/>
          </a:xfrm>
          <a:prstGeom prst="rect">
            <a:avLst/>
          </a:prstGeom>
        </p:spPr>
      </p:pic>
    </p:spTree>
    <p:extLst>
      <p:ext uri="{BB962C8B-B14F-4D97-AF65-F5344CB8AC3E}">
        <p14:creationId xmlns:p14="http://schemas.microsoft.com/office/powerpoint/2010/main" val="3013913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a:t>
            </a:r>
            <a:r>
              <a:rPr lang="en-US" dirty="0" err="1"/>
              <a:t>Simio</a:t>
            </a:r>
            <a:r>
              <a:rPr lang="en-US" dirty="0"/>
              <a:t> Model</a:t>
            </a:r>
          </a:p>
        </p:txBody>
      </p:sp>
      <p:sp>
        <p:nvSpPr>
          <p:cNvPr id="3" name="Content Placeholder 2"/>
          <p:cNvSpPr>
            <a:spLocks noGrp="1"/>
          </p:cNvSpPr>
          <p:nvPr>
            <p:ph idx="1"/>
          </p:nvPr>
        </p:nvSpPr>
        <p:spPr/>
        <p:txBody>
          <a:bodyPr>
            <a:normAutofit/>
          </a:bodyPr>
          <a:lstStyle/>
          <a:p>
            <a:r>
              <a:rPr lang="en-US" dirty="0"/>
              <a:t>Model verification:</a:t>
            </a:r>
          </a:p>
          <a:p>
            <a:pPr lvl="1"/>
            <a:r>
              <a:rPr lang="en-US" dirty="0"/>
              <a:t>Our simulation model results don’t match the queueing model results.</a:t>
            </a:r>
          </a:p>
          <a:p>
            <a:pPr lvl="1"/>
            <a:r>
              <a:rPr lang="en-US" dirty="0"/>
              <a:t>Possible reasons why our model results will not match our </a:t>
            </a:r>
            <a:r>
              <a:rPr lang="en-US" i="1" dirty="0"/>
              <a:t>expectations</a:t>
            </a:r>
            <a:r>
              <a:rPr lang="en-US" dirty="0"/>
              <a:t> include:</a:t>
            </a:r>
          </a:p>
          <a:p>
            <a:pPr marL="1371600" lvl="2" indent="-457200">
              <a:buFontTx/>
              <a:buAutoNum type="arabicPeriod"/>
            </a:pPr>
            <a:r>
              <a:rPr lang="en-US" dirty="0"/>
              <a:t>Our </a:t>
            </a:r>
            <a:r>
              <a:rPr lang="en-US" dirty="0" err="1"/>
              <a:t>Simio</a:t>
            </a:r>
            <a:r>
              <a:rPr lang="en-US" dirty="0"/>
              <a:t> model is wrong – i.e., we have an error somewhere in the model itself</a:t>
            </a:r>
          </a:p>
          <a:p>
            <a:pPr lvl="3"/>
            <a:r>
              <a:rPr lang="en-US" dirty="0"/>
              <a:t>Not likely the case here because the system is quite simple</a:t>
            </a:r>
          </a:p>
          <a:p>
            <a:pPr lvl="3"/>
            <a:r>
              <a:rPr lang="en-US" dirty="0"/>
              <a:t>We watch the simulation run and visually observe no problems</a:t>
            </a:r>
          </a:p>
          <a:p>
            <a:pPr marL="1371600" lvl="2" indent="-457200">
              <a:buFontTx/>
              <a:buAutoNum type="arabicPeriod"/>
            </a:pPr>
            <a:r>
              <a:rPr lang="en-US" dirty="0"/>
              <a:t>Our expectation is wrong – i.e., our assumption that the simulation results </a:t>
            </a:r>
            <a:r>
              <a:rPr lang="en-US" i="1" dirty="0"/>
              <a:t>should</a:t>
            </a:r>
            <a:r>
              <a:rPr lang="en-US" dirty="0"/>
              <a:t> match the queueing results is wrong; and/or</a:t>
            </a:r>
          </a:p>
          <a:p>
            <a:pPr lvl="3"/>
            <a:r>
              <a:rPr lang="en-US" dirty="0"/>
              <a:t>Possible; queueing results are based on ‘infinite’ run length</a:t>
            </a:r>
          </a:p>
          <a:p>
            <a:pPr lvl="3"/>
            <a:r>
              <a:rPr lang="en-US" dirty="0"/>
              <a:t>We just run the model for 24 hours</a:t>
            </a:r>
          </a:p>
          <a:p>
            <a:pPr marL="1371600" lvl="2" indent="-457200">
              <a:buFontTx/>
              <a:buAutoNum type="arabicPeriod"/>
            </a:pPr>
            <a:r>
              <a:rPr lang="en-US" dirty="0"/>
              <a:t>Sampling error – i.e., the simulation model results match the expectation in a probabilistic sense, but we either haven’t run the model long enough or for enough </a:t>
            </a:r>
            <a:r>
              <a:rPr lang="en-US" i="1" dirty="0"/>
              <a:t>replications</a:t>
            </a:r>
            <a:r>
              <a:rPr lang="en-US" dirty="0"/>
              <a:t>, or are interpreting the results incorrectly.</a:t>
            </a:r>
          </a:p>
          <a:p>
            <a:pPr lvl="3"/>
            <a:r>
              <a:rPr lang="en-US" dirty="0"/>
              <a:t>Possible: we just had one run of 10 hours</a:t>
            </a:r>
          </a:p>
          <a:p>
            <a:endParaRPr lang="en-US" dirty="0"/>
          </a:p>
        </p:txBody>
      </p:sp>
    </p:spTree>
    <p:extLst>
      <p:ext uri="{BB962C8B-B14F-4D97-AF65-F5344CB8AC3E}">
        <p14:creationId xmlns:p14="http://schemas.microsoft.com/office/powerpoint/2010/main" val="260874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a:t>
            </a:r>
            <a:r>
              <a:rPr lang="en-US" dirty="0" err="1"/>
              <a:t>Simio</a:t>
            </a:r>
            <a:r>
              <a:rPr lang="en-US" dirty="0"/>
              <a:t> Model</a:t>
            </a:r>
          </a:p>
        </p:txBody>
      </p:sp>
      <p:sp>
        <p:nvSpPr>
          <p:cNvPr id="3" name="Content Placeholder 2"/>
          <p:cNvSpPr>
            <a:spLocks noGrp="1"/>
          </p:cNvSpPr>
          <p:nvPr>
            <p:ph idx="1"/>
          </p:nvPr>
        </p:nvSpPr>
        <p:spPr/>
        <p:txBody>
          <a:bodyPr>
            <a:normAutofit/>
          </a:bodyPr>
          <a:lstStyle/>
          <a:p>
            <a:r>
              <a:rPr lang="en-US" dirty="0"/>
              <a:t>Replications and statistical analyses:</a:t>
            </a:r>
          </a:p>
          <a:p>
            <a:pPr lvl="1"/>
            <a:r>
              <a:rPr lang="en-US" dirty="0"/>
              <a:t>Experiment Window in </a:t>
            </a:r>
            <a:r>
              <a:rPr lang="en-US" dirty="0" err="1"/>
              <a:t>Simio</a:t>
            </a:r>
            <a:r>
              <a:rPr lang="en-US" dirty="0"/>
              <a:t>: helps with replications</a:t>
            </a:r>
          </a:p>
          <a:p>
            <a:endParaRPr lang="en-US" dirty="0"/>
          </a:p>
          <a:p>
            <a:endParaRPr lang="en-US" dirty="0"/>
          </a:p>
        </p:txBody>
      </p:sp>
      <p:sp>
        <p:nvSpPr>
          <p:cNvPr id="5" name="Rectangle 4">
            <a:extLst>
              <a:ext uri="{FF2B5EF4-FFF2-40B4-BE49-F238E27FC236}">
                <a16:creationId xmlns:a16="http://schemas.microsoft.com/office/drawing/2014/main" id="{DA5CB0EB-C619-4BDD-BCCC-A7EDB71BB7B7}"/>
              </a:ext>
            </a:extLst>
          </p:cNvPr>
          <p:cNvSpPr/>
          <p:nvPr/>
        </p:nvSpPr>
        <p:spPr>
          <a:xfrm>
            <a:off x="6710149" y="2749477"/>
            <a:ext cx="4317242" cy="2308324"/>
          </a:xfrm>
          <a:prstGeom prst="rect">
            <a:avLst/>
          </a:prstGeom>
        </p:spPr>
        <p:txBody>
          <a:bodyPr wrap="square">
            <a:spAutoFit/>
          </a:bodyPr>
          <a:lstStyle/>
          <a:p>
            <a:pPr marL="285750" indent="-285750">
              <a:buFont typeface="Arial" panose="020B0604020202020204" pitchFamily="34" charset="0"/>
              <a:buChar char="•"/>
            </a:pPr>
            <a:r>
              <a:rPr lang="en-US" dirty="0"/>
              <a:t>Experiment is where you run your analysis. </a:t>
            </a:r>
          </a:p>
          <a:p>
            <a:pPr marL="285750" indent="-285750">
              <a:buFont typeface="Arial" panose="020B0604020202020204" pitchFamily="34" charset="0"/>
              <a:buChar char="•"/>
            </a:pPr>
            <a:r>
              <a:rPr lang="en-US" dirty="0"/>
              <a:t>Experiment has many features, but for now we will just focus on the ability to run multiple replications.</a:t>
            </a:r>
          </a:p>
          <a:p>
            <a:pPr marL="285750" indent="-285750">
              <a:buFont typeface="Arial" panose="020B0604020202020204" pitchFamily="34" charset="0"/>
              <a:buChar char="•"/>
            </a:pPr>
            <a:r>
              <a:rPr lang="en-US" dirty="0"/>
              <a:t>A replication is a run of the model using separate and non-overlapping random number and random variates.</a:t>
            </a:r>
          </a:p>
        </p:txBody>
      </p:sp>
      <p:pic>
        <p:nvPicPr>
          <p:cNvPr id="9" name="Picture 8" descr="Graphical user interface, application, Word&#10;&#10;Description automatically generated">
            <a:extLst>
              <a:ext uri="{FF2B5EF4-FFF2-40B4-BE49-F238E27FC236}">
                <a16:creationId xmlns:a16="http://schemas.microsoft.com/office/drawing/2014/main" id="{441AF771-AC41-4A73-B672-B63F97622C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0601" y="2267079"/>
            <a:ext cx="5779860" cy="4473497"/>
          </a:xfrm>
          <a:prstGeom prst="rect">
            <a:avLst/>
          </a:prstGeom>
        </p:spPr>
      </p:pic>
    </p:spTree>
    <p:extLst>
      <p:ext uri="{BB962C8B-B14F-4D97-AF65-F5344CB8AC3E}">
        <p14:creationId xmlns:p14="http://schemas.microsoft.com/office/powerpoint/2010/main" val="4294906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Graphical user interface, table&#10;&#10;Description automatically generated">
            <a:extLst>
              <a:ext uri="{FF2B5EF4-FFF2-40B4-BE49-F238E27FC236}">
                <a16:creationId xmlns:a16="http://schemas.microsoft.com/office/drawing/2014/main" id="{6FE8144D-E686-48CB-AB2C-6D812DC800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8148" y="2270078"/>
            <a:ext cx="5982694" cy="4428494"/>
          </a:xfrm>
          <a:prstGeom prst="rect">
            <a:avLst/>
          </a:prstGeom>
        </p:spPr>
      </p:pic>
      <p:sp>
        <p:nvSpPr>
          <p:cNvPr id="2" name="Title 1"/>
          <p:cNvSpPr>
            <a:spLocks noGrp="1"/>
          </p:cNvSpPr>
          <p:nvPr>
            <p:ph type="title"/>
          </p:nvPr>
        </p:nvSpPr>
        <p:spPr/>
        <p:txBody>
          <a:bodyPr/>
          <a:lstStyle/>
          <a:p>
            <a:r>
              <a:rPr lang="en-US" dirty="0"/>
              <a:t>First </a:t>
            </a:r>
            <a:r>
              <a:rPr lang="en-US" dirty="0" err="1"/>
              <a:t>Simio</a:t>
            </a:r>
            <a:r>
              <a:rPr lang="en-US" dirty="0"/>
              <a:t> Model</a:t>
            </a:r>
          </a:p>
        </p:txBody>
      </p:sp>
      <p:sp>
        <p:nvSpPr>
          <p:cNvPr id="3" name="Content Placeholder 2"/>
          <p:cNvSpPr>
            <a:spLocks noGrp="1"/>
          </p:cNvSpPr>
          <p:nvPr>
            <p:ph idx="1"/>
          </p:nvPr>
        </p:nvSpPr>
        <p:spPr/>
        <p:txBody>
          <a:bodyPr>
            <a:normAutofit/>
          </a:bodyPr>
          <a:lstStyle/>
          <a:p>
            <a:r>
              <a:rPr lang="en-US" dirty="0"/>
              <a:t>Replications and statistical analyses:</a:t>
            </a:r>
          </a:p>
          <a:p>
            <a:pPr lvl="1"/>
            <a:r>
              <a:rPr lang="en-US" dirty="0"/>
              <a:t>Output Results window for the experiment will be slightly different</a:t>
            </a:r>
          </a:p>
          <a:p>
            <a:endParaRPr lang="en-US" dirty="0"/>
          </a:p>
        </p:txBody>
      </p:sp>
      <p:sp>
        <p:nvSpPr>
          <p:cNvPr id="7" name="Speech Bubble: Rectangle 6">
            <a:extLst>
              <a:ext uri="{FF2B5EF4-FFF2-40B4-BE49-F238E27FC236}">
                <a16:creationId xmlns:a16="http://schemas.microsoft.com/office/drawing/2014/main" id="{FE074764-F197-4134-BC55-D80D7884CD4B}"/>
              </a:ext>
            </a:extLst>
          </p:cNvPr>
          <p:cNvSpPr/>
          <p:nvPr/>
        </p:nvSpPr>
        <p:spPr>
          <a:xfrm>
            <a:off x="8153246" y="2054422"/>
            <a:ext cx="2483892" cy="914400"/>
          </a:xfrm>
          <a:prstGeom prst="wedgeRectCallout">
            <a:avLst>
              <a:gd name="adj1" fmla="val -160669"/>
              <a:gd name="adj2" fmla="val 55535"/>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Average of the specific output over the replications</a:t>
            </a:r>
          </a:p>
        </p:txBody>
      </p:sp>
      <p:sp>
        <p:nvSpPr>
          <p:cNvPr id="8" name="Speech Bubble: Rectangle 7">
            <a:extLst>
              <a:ext uri="{FF2B5EF4-FFF2-40B4-BE49-F238E27FC236}">
                <a16:creationId xmlns:a16="http://schemas.microsoft.com/office/drawing/2014/main" id="{04A51E72-C8E3-4767-9D67-E718CA6F4B4A}"/>
              </a:ext>
            </a:extLst>
          </p:cNvPr>
          <p:cNvSpPr/>
          <p:nvPr/>
        </p:nvSpPr>
        <p:spPr>
          <a:xfrm>
            <a:off x="8287540" y="3253611"/>
            <a:ext cx="2483892" cy="914400"/>
          </a:xfrm>
          <a:prstGeom prst="wedgeRectCallout">
            <a:avLst>
              <a:gd name="adj1" fmla="val -150046"/>
              <a:gd name="adj2" fmla="val -71331"/>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Minimum for the specific output observed over the replications</a:t>
            </a:r>
          </a:p>
        </p:txBody>
      </p:sp>
      <p:sp>
        <p:nvSpPr>
          <p:cNvPr id="9" name="Speech Bubble: Rectangle 8">
            <a:extLst>
              <a:ext uri="{FF2B5EF4-FFF2-40B4-BE49-F238E27FC236}">
                <a16:creationId xmlns:a16="http://schemas.microsoft.com/office/drawing/2014/main" id="{3F8C9D03-9F64-4E44-BF05-770985EF32BC}"/>
              </a:ext>
            </a:extLst>
          </p:cNvPr>
          <p:cNvSpPr/>
          <p:nvPr/>
        </p:nvSpPr>
        <p:spPr>
          <a:xfrm>
            <a:off x="8241591" y="4523192"/>
            <a:ext cx="2483892" cy="914400"/>
          </a:xfrm>
          <a:prstGeom prst="wedgeRectCallout">
            <a:avLst>
              <a:gd name="adj1" fmla="val -134112"/>
              <a:gd name="adj2" fmla="val -210635"/>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Maximum for the specific output observed over the replications</a:t>
            </a:r>
          </a:p>
        </p:txBody>
      </p:sp>
    </p:spTree>
    <p:extLst>
      <p:ext uri="{BB962C8B-B14F-4D97-AF65-F5344CB8AC3E}">
        <p14:creationId xmlns:p14="http://schemas.microsoft.com/office/powerpoint/2010/main" val="3935855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Graphical user interface, table&#10;&#10;Description automatically generated">
            <a:extLst>
              <a:ext uri="{FF2B5EF4-FFF2-40B4-BE49-F238E27FC236}">
                <a16:creationId xmlns:a16="http://schemas.microsoft.com/office/drawing/2014/main" id="{E4626751-B6E8-464D-97E3-8D06E6AE86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8148" y="2270078"/>
            <a:ext cx="5982694" cy="4428494"/>
          </a:xfrm>
          <a:prstGeom prst="rect">
            <a:avLst/>
          </a:prstGeom>
        </p:spPr>
      </p:pic>
      <p:sp>
        <p:nvSpPr>
          <p:cNvPr id="2" name="Title 1"/>
          <p:cNvSpPr>
            <a:spLocks noGrp="1"/>
          </p:cNvSpPr>
          <p:nvPr>
            <p:ph type="title"/>
          </p:nvPr>
        </p:nvSpPr>
        <p:spPr/>
        <p:txBody>
          <a:bodyPr/>
          <a:lstStyle/>
          <a:p>
            <a:r>
              <a:rPr lang="en-US" dirty="0"/>
              <a:t>First </a:t>
            </a:r>
            <a:r>
              <a:rPr lang="en-US" dirty="0" err="1"/>
              <a:t>Simio</a:t>
            </a:r>
            <a:r>
              <a:rPr lang="en-US" dirty="0"/>
              <a:t> Model</a:t>
            </a:r>
          </a:p>
        </p:txBody>
      </p:sp>
      <p:sp>
        <p:nvSpPr>
          <p:cNvPr id="3" name="Content Placeholder 2"/>
          <p:cNvSpPr>
            <a:spLocks noGrp="1"/>
          </p:cNvSpPr>
          <p:nvPr>
            <p:ph idx="1"/>
          </p:nvPr>
        </p:nvSpPr>
        <p:spPr/>
        <p:txBody>
          <a:bodyPr>
            <a:normAutofit/>
          </a:bodyPr>
          <a:lstStyle/>
          <a:p>
            <a:r>
              <a:rPr lang="en-US" dirty="0"/>
              <a:t>Replications and statistical analyses:</a:t>
            </a:r>
          </a:p>
          <a:p>
            <a:pPr lvl="1"/>
            <a:r>
              <a:rPr lang="en-US" dirty="0"/>
              <a:t>Output Results window for the experiment will be slightly different</a:t>
            </a:r>
          </a:p>
          <a:p>
            <a:endParaRPr lang="en-US" dirty="0"/>
          </a:p>
        </p:txBody>
      </p:sp>
      <p:sp>
        <p:nvSpPr>
          <p:cNvPr id="7" name="Speech Bubble: Rectangle 6">
            <a:extLst>
              <a:ext uri="{FF2B5EF4-FFF2-40B4-BE49-F238E27FC236}">
                <a16:creationId xmlns:a16="http://schemas.microsoft.com/office/drawing/2014/main" id="{FE074764-F197-4134-BC55-D80D7884CD4B}"/>
              </a:ext>
            </a:extLst>
          </p:cNvPr>
          <p:cNvSpPr/>
          <p:nvPr/>
        </p:nvSpPr>
        <p:spPr>
          <a:xfrm>
            <a:off x="7715534" y="2412321"/>
            <a:ext cx="4362735" cy="3642736"/>
          </a:xfrm>
          <a:prstGeom prst="wedgeRectCallout">
            <a:avLst>
              <a:gd name="adj1" fmla="val -74262"/>
              <a:gd name="adj2" fmla="val -32288"/>
            </a:avLst>
          </a:prstGeom>
          <a:noFill/>
          <a:ln/>
        </p:spPr>
        <p:style>
          <a:lnRef idx="2">
            <a:schemeClr val="accent2"/>
          </a:lnRef>
          <a:fillRef idx="1">
            <a:schemeClr val="lt1"/>
          </a:fillRef>
          <a:effectRef idx="0">
            <a:schemeClr val="accent2"/>
          </a:effectRef>
          <a:fontRef idx="minor">
            <a:schemeClr val="dk1"/>
          </a:fontRef>
        </p:style>
        <p:txBody>
          <a:bodyPr rtlCol="0" anchor="ctr"/>
          <a:lstStyle/>
          <a:p>
            <a:r>
              <a:rPr lang="en-US" dirty="0"/>
              <a:t>The Half-width, Average, and Confidence Level can be roughly interpreted as:</a:t>
            </a:r>
          </a:p>
          <a:p>
            <a:r>
              <a:rPr lang="en-US" dirty="0">
                <a:sym typeface="Wingdings" panose="05000000000000000000" pitchFamily="2" charset="2"/>
              </a:rPr>
              <a:t></a:t>
            </a:r>
            <a:r>
              <a:rPr lang="en-US" dirty="0"/>
              <a:t>With the specified Confidence level, I am confident that the true result is within half-width of the average.</a:t>
            </a:r>
          </a:p>
          <a:p>
            <a:r>
              <a:rPr lang="en-US" dirty="0">
                <a:sym typeface="Wingdings" panose="05000000000000000000" pitchFamily="2" charset="2"/>
              </a:rPr>
              <a:t></a:t>
            </a:r>
            <a:r>
              <a:rPr lang="en-US" dirty="0" err="1"/>
              <a:t>E.g</a:t>
            </a:r>
            <a:r>
              <a:rPr lang="en-US" dirty="0"/>
              <a:t>, I am 95% confident that the true Average Number in System is within the range 3.659 +/- 2.203 or [1.456 to 5.862, a pretty wide range]</a:t>
            </a:r>
          </a:p>
        </p:txBody>
      </p:sp>
    </p:spTree>
    <p:extLst>
      <p:ext uri="{BB962C8B-B14F-4D97-AF65-F5344CB8AC3E}">
        <p14:creationId xmlns:p14="http://schemas.microsoft.com/office/powerpoint/2010/main" val="3402952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a:t>
            </a:r>
            <a:r>
              <a:rPr lang="en-US" dirty="0" err="1"/>
              <a:t>Simio</a:t>
            </a:r>
            <a:r>
              <a:rPr lang="en-US" dirty="0"/>
              <a:t> Model</a:t>
            </a:r>
          </a:p>
        </p:txBody>
      </p:sp>
      <p:sp>
        <p:nvSpPr>
          <p:cNvPr id="3" name="Content Placeholder 2"/>
          <p:cNvSpPr>
            <a:spLocks noGrp="1"/>
          </p:cNvSpPr>
          <p:nvPr>
            <p:ph idx="1"/>
          </p:nvPr>
        </p:nvSpPr>
        <p:spPr/>
        <p:txBody>
          <a:bodyPr>
            <a:normAutofit/>
          </a:bodyPr>
          <a:lstStyle/>
          <a:p>
            <a:r>
              <a:rPr lang="en-US" dirty="0"/>
              <a:t>Replications and statistical analyses:</a:t>
            </a:r>
          </a:p>
          <a:p>
            <a:pPr lvl="1"/>
            <a:r>
              <a:rPr lang="en-US" dirty="0"/>
              <a:t>Running 5 replications provides better results, but note the large half widths.  </a:t>
            </a:r>
          </a:p>
          <a:p>
            <a:pPr lvl="1"/>
            <a:r>
              <a:rPr lang="en-US" dirty="0"/>
              <a:t>50 reps is still better, with much smaller half widths.</a:t>
            </a:r>
          </a:p>
          <a:p>
            <a:endParaRPr lang="en-US" dirty="0"/>
          </a:p>
        </p:txBody>
      </p:sp>
      <p:sp>
        <p:nvSpPr>
          <p:cNvPr id="4" name="Rectangle 3">
            <a:extLst>
              <a:ext uri="{FF2B5EF4-FFF2-40B4-BE49-F238E27FC236}">
                <a16:creationId xmlns:a16="http://schemas.microsoft.com/office/drawing/2014/main" id="{37DACF23-318B-41E3-83EA-E2DD3E934C05}"/>
              </a:ext>
            </a:extLst>
          </p:cNvPr>
          <p:cNvSpPr/>
          <p:nvPr/>
        </p:nvSpPr>
        <p:spPr>
          <a:xfrm>
            <a:off x="9304028" y="3281093"/>
            <a:ext cx="2529384" cy="2031325"/>
          </a:xfrm>
          <a:prstGeom prst="rect">
            <a:avLst/>
          </a:prstGeom>
        </p:spPr>
        <p:txBody>
          <a:bodyPr wrap="square">
            <a:spAutoFit/>
          </a:bodyPr>
          <a:lstStyle/>
          <a:p>
            <a:r>
              <a:rPr lang="en-US" dirty="0"/>
              <a:t>We could keep running more and more replications (and maybe we should) but there is another problem we are still overlooking – </a:t>
            </a:r>
            <a:r>
              <a:rPr lang="en-US" b="1" dirty="0">
                <a:solidFill>
                  <a:srgbClr val="C00000"/>
                </a:solidFill>
              </a:rPr>
              <a:t>startup bias. </a:t>
            </a:r>
          </a:p>
        </p:txBody>
      </p:sp>
      <p:pic>
        <p:nvPicPr>
          <p:cNvPr id="6" name="Picture 5">
            <a:extLst>
              <a:ext uri="{FF2B5EF4-FFF2-40B4-BE49-F238E27FC236}">
                <a16:creationId xmlns:a16="http://schemas.microsoft.com/office/drawing/2014/main" id="{86AD94F7-7CEF-4A50-8734-22DF907F4F4D}"/>
              </a:ext>
            </a:extLst>
          </p:cNvPr>
          <p:cNvPicPr>
            <a:picLocks noChangeAspect="1"/>
          </p:cNvPicPr>
          <p:nvPr/>
        </p:nvPicPr>
        <p:blipFill>
          <a:blip r:embed="rId3"/>
          <a:stretch>
            <a:fillRect/>
          </a:stretch>
        </p:blipFill>
        <p:spPr>
          <a:xfrm>
            <a:off x="744385" y="2894297"/>
            <a:ext cx="7868141" cy="2973488"/>
          </a:xfrm>
          <a:prstGeom prst="rect">
            <a:avLst/>
          </a:prstGeom>
        </p:spPr>
      </p:pic>
    </p:spTree>
    <p:extLst>
      <p:ext uri="{BB962C8B-B14F-4D97-AF65-F5344CB8AC3E}">
        <p14:creationId xmlns:p14="http://schemas.microsoft.com/office/powerpoint/2010/main" val="2649553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a:t>
            </a:r>
            <a:r>
              <a:rPr lang="en-US" dirty="0" err="1"/>
              <a:t>Simio</a:t>
            </a:r>
            <a:r>
              <a:rPr lang="en-US" dirty="0"/>
              <a:t> Model</a:t>
            </a:r>
          </a:p>
        </p:txBody>
      </p:sp>
      <p:sp>
        <p:nvSpPr>
          <p:cNvPr id="3" name="Content Placeholder 2"/>
          <p:cNvSpPr>
            <a:spLocks noGrp="1"/>
          </p:cNvSpPr>
          <p:nvPr>
            <p:ph idx="1"/>
          </p:nvPr>
        </p:nvSpPr>
        <p:spPr/>
        <p:txBody>
          <a:bodyPr>
            <a:normAutofit/>
          </a:bodyPr>
          <a:lstStyle/>
          <a:p>
            <a:r>
              <a:rPr lang="en-US" dirty="0"/>
              <a:t>Steady-State vs. Terminating Simulations</a:t>
            </a:r>
          </a:p>
          <a:p>
            <a:pPr lvl="1">
              <a:defRPr/>
            </a:pPr>
            <a:r>
              <a:rPr lang="en-US" dirty="0"/>
              <a:t>Initial transient period – The time between the start of a run and the time when a model reaches </a:t>
            </a:r>
            <a:r>
              <a:rPr lang="en-US" i="1" dirty="0"/>
              <a:t>steady state</a:t>
            </a:r>
            <a:r>
              <a:rPr lang="en-US" dirty="0"/>
              <a:t>.</a:t>
            </a:r>
          </a:p>
          <a:p>
            <a:pPr lvl="1">
              <a:defRPr/>
            </a:pPr>
            <a:r>
              <a:rPr lang="en-US" dirty="0"/>
              <a:t>Steady-state model – We are interested in the long-term steady-state performance of the model.</a:t>
            </a:r>
          </a:p>
          <a:p>
            <a:pPr lvl="2">
              <a:defRPr/>
            </a:pPr>
            <a:r>
              <a:rPr lang="en-US" dirty="0"/>
              <a:t>Would like to ignore the initial transient period.  </a:t>
            </a:r>
          </a:p>
          <a:p>
            <a:pPr lvl="2">
              <a:defRPr/>
            </a:pPr>
            <a:r>
              <a:rPr lang="en-US" dirty="0"/>
              <a:t>Options:</a:t>
            </a:r>
          </a:p>
          <a:p>
            <a:pPr lvl="3">
              <a:defRPr/>
            </a:pPr>
            <a:r>
              <a:rPr lang="en-US" sz="2000" dirty="0"/>
              <a:t>Use a </a:t>
            </a:r>
            <a:r>
              <a:rPr lang="en-US" sz="2000" i="1" dirty="0"/>
              <a:t>warm-up period</a:t>
            </a:r>
          </a:p>
          <a:p>
            <a:pPr lvl="3">
              <a:defRPr/>
            </a:pPr>
            <a:r>
              <a:rPr lang="en-US" sz="2000" dirty="0"/>
              <a:t>Initialize the model to start “close” to steady state</a:t>
            </a:r>
          </a:p>
          <a:p>
            <a:pPr lvl="3">
              <a:defRPr/>
            </a:pPr>
            <a:r>
              <a:rPr lang="en-US" sz="2000" dirty="0"/>
              <a:t>Run the model long enough to dilute the initial bias caused by including data from the transient period</a:t>
            </a:r>
          </a:p>
          <a:p>
            <a:pPr lvl="1">
              <a:defRPr/>
            </a:pPr>
            <a:r>
              <a:rPr lang="en-US" dirty="0"/>
              <a:t>Terminating model – we would like to include the initial transient period in our analysis.</a:t>
            </a:r>
          </a:p>
          <a:p>
            <a:endParaRPr lang="en-US" dirty="0"/>
          </a:p>
        </p:txBody>
      </p:sp>
    </p:spTree>
    <p:extLst>
      <p:ext uri="{BB962C8B-B14F-4D97-AF65-F5344CB8AC3E}">
        <p14:creationId xmlns:p14="http://schemas.microsoft.com/office/powerpoint/2010/main" val="3539148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a:t>
            </a:r>
            <a:r>
              <a:rPr lang="en-US" dirty="0" err="1"/>
              <a:t>Simio</a:t>
            </a:r>
            <a:r>
              <a:rPr lang="en-US" dirty="0"/>
              <a:t> Model</a:t>
            </a:r>
          </a:p>
        </p:txBody>
      </p:sp>
      <p:sp>
        <p:nvSpPr>
          <p:cNvPr id="3" name="Content Placeholder 2"/>
          <p:cNvSpPr>
            <a:spLocks noGrp="1"/>
          </p:cNvSpPr>
          <p:nvPr>
            <p:ph idx="1"/>
          </p:nvPr>
        </p:nvSpPr>
        <p:spPr/>
        <p:txBody>
          <a:bodyPr>
            <a:normAutofit lnSpcReduction="10000"/>
          </a:bodyPr>
          <a:lstStyle/>
          <a:p>
            <a:r>
              <a:rPr lang="en-US" dirty="0"/>
              <a:t>Model Verification:</a:t>
            </a:r>
          </a:p>
          <a:p>
            <a:pPr lvl="1"/>
            <a:r>
              <a:rPr lang="en-US" dirty="0"/>
              <a:t>Running our original model for 500 replications of 30 hours, each with a 20 hour warm up period.</a:t>
            </a:r>
          </a:p>
          <a:p>
            <a:endParaRPr lang="en-US" dirty="0"/>
          </a:p>
          <a:p>
            <a:endParaRPr lang="en-US" dirty="0"/>
          </a:p>
          <a:p>
            <a:endParaRPr lang="en-US" dirty="0"/>
          </a:p>
          <a:p>
            <a:endParaRPr lang="en-US" dirty="0"/>
          </a:p>
          <a:p>
            <a:endParaRPr lang="en-US" dirty="0"/>
          </a:p>
          <a:p>
            <a:endParaRPr lang="en-US" dirty="0"/>
          </a:p>
          <a:p>
            <a:pPr lvl="1"/>
            <a:r>
              <a:rPr lang="en-US" dirty="0"/>
              <a:t>At this point we have strong evidence that our model is verified via the comparisons with queueing theory results.</a:t>
            </a:r>
          </a:p>
          <a:p>
            <a:endParaRPr lang="en-US" dirty="0"/>
          </a:p>
        </p:txBody>
      </p:sp>
      <p:graphicFrame>
        <p:nvGraphicFramePr>
          <p:cNvPr id="5" name="Content Placeholder 6">
            <a:extLst>
              <a:ext uri="{FF2B5EF4-FFF2-40B4-BE49-F238E27FC236}">
                <a16:creationId xmlns:a16="http://schemas.microsoft.com/office/drawing/2014/main" id="{228928A3-1571-4914-B31E-B5B7CBCA27E3}"/>
              </a:ext>
            </a:extLst>
          </p:cNvPr>
          <p:cNvGraphicFramePr>
            <a:graphicFrameLocks/>
          </p:cNvGraphicFramePr>
          <p:nvPr>
            <p:extLst>
              <p:ext uri="{D42A27DB-BD31-4B8C-83A1-F6EECF244321}">
                <p14:modId xmlns:p14="http://schemas.microsoft.com/office/powerpoint/2010/main" val="2989764796"/>
              </p:ext>
            </p:extLst>
          </p:nvPr>
        </p:nvGraphicFramePr>
        <p:xfrm>
          <a:off x="2131806" y="2555978"/>
          <a:ext cx="7924801" cy="2377440"/>
        </p:xfrm>
        <a:graphic>
          <a:graphicData uri="http://schemas.openxmlformats.org/drawingml/2006/table">
            <a:tbl>
              <a:tblPr firstRow="1" bandRow="1">
                <a:tableStyleId>{5940675A-B579-460E-94D1-54222C63F5DA}</a:tableStyleId>
              </a:tblPr>
              <a:tblGrid>
                <a:gridCol w="3396343">
                  <a:extLst>
                    <a:ext uri="{9D8B030D-6E8A-4147-A177-3AD203B41FA5}">
                      <a16:colId xmlns:a16="http://schemas.microsoft.com/office/drawing/2014/main" val="20000"/>
                    </a:ext>
                  </a:extLst>
                </a:gridCol>
                <a:gridCol w="1632858">
                  <a:extLst>
                    <a:ext uri="{9D8B030D-6E8A-4147-A177-3AD203B41FA5}">
                      <a16:colId xmlns:a16="http://schemas.microsoft.com/office/drawing/2014/main" val="20001"/>
                    </a:ext>
                  </a:extLst>
                </a:gridCol>
                <a:gridCol w="2895600">
                  <a:extLst>
                    <a:ext uri="{9D8B030D-6E8A-4147-A177-3AD203B41FA5}">
                      <a16:colId xmlns:a16="http://schemas.microsoft.com/office/drawing/2014/main" val="20002"/>
                    </a:ext>
                  </a:extLst>
                </a:gridCol>
              </a:tblGrid>
              <a:tr h="370840">
                <a:tc>
                  <a:txBody>
                    <a:bodyPr/>
                    <a:lstStyle/>
                    <a:p>
                      <a:r>
                        <a:rPr lang="en-US" sz="2000" dirty="0"/>
                        <a:t>Metric</a:t>
                      </a:r>
                      <a:endParaRPr lang="en-US" sz="2000" dirty="0">
                        <a:latin typeface="Calibri" pitchFamily="34" charset="0"/>
                        <a:cs typeface="Calibri" pitchFamily="34" charset="0"/>
                      </a:endParaRPr>
                    </a:p>
                  </a:txBody>
                  <a:tcPr/>
                </a:tc>
                <a:tc>
                  <a:txBody>
                    <a:bodyPr/>
                    <a:lstStyle/>
                    <a:p>
                      <a:pPr algn="r"/>
                      <a:r>
                        <a:rPr lang="en-US" sz="2000" dirty="0" err="1"/>
                        <a:t>Queueing</a:t>
                      </a:r>
                      <a:endParaRPr lang="en-US" sz="2000" dirty="0">
                        <a:latin typeface="Calibri" pitchFamily="34" charset="0"/>
                        <a:cs typeface="Calibri" pitchFamily="34" charset="0"/>
                      </a:endParaRPr>
                    </a:p>
                  </a:txBody>
                  <a:tcPr/>
                </a:tc>
                <a:tc>
                  <a:txBody>
                    <a:bodyPr/>
                    <a:lstStyle/>
                    <a:p>
                      <a:pPr algn="r"/>
                      <a:r>
                        <a:rPr lang="en-US" sz="2000" dirty="0"/>
                        <a:t>Model</a:t>
                      </a:r>
                      <a:endParaRPr lang="en-US" sz="2000" dirty="0">
                        <a:latin typeface="Calibri" pitchFamily="34" charset="0"/>
                        <a:cs typeface="Calibri" pitchFamily="34" charset="0"/>
                      </a:endParaRPr>
                    </a:p>
                  </a:txBody>
                  <a:tcPr/>
                </a:tc>
                <a:extLst>
                  <a:ext uri="{0D108BD9-81ED-4DB2-BD59-A6C34878D82A}">
                    <a16:rowId xmlns:a16="http://schemas.microsoft.com/office/drawing/2014/main" val="10000"/>
                  </a:ext>
                </a:extLst>
              </a:tr>
              <a:tr h="370840">
                <a:tc>
                  <a:txBody>
                    <a:bodyPr/>
                    <a:lstStyle/>
                    <a:p>
                      <a:r>
                        <a:rPr lang="en-US" sz="2000" dirty="0"/>
                        <a:t>Utilization (r)</a:t>
                      </a:r>
                      <a:endParaRPr lang="en-US" sz="2000" dirty="0">
                        <a:latin typeface="Calibri" pitchFamily="34" charset="0"/>
                        <a:cs typeface="Calibri" pitchFamily="34" charset="0"/>
                      </a:endParaRPr>
                    </a:p>
                  </a:txBody>
                  <a:tcPr/>
                </a:tc>
                <a:tc>
                  <a:txBody>
                    <a:bodyPr/>
                    <a:lstStyle/>
                    <a:p>
                      <a:pPr algn="r"/>
                      <a:r>
                        <a:rPr lang="en-US" sz="2000" dirty="0"/>
                        <a:t>0.800</a:t>
                      </a:r>
                      <a:endParaRPr lang="en-US" sz="2000" dirty="0">
                        <a:latin typeface="Calibri" pitchFamily="34" charset="0"/>
                        <a:cs typeface="Calibri" pitchFamily="34" charset="0"/>
                      </a:endParaRPr>
                    </a:p>
                  </a:txBody>
                  <a:tcPr/>
                </a:tc>
                <a:tc>
                  <a:txBody>
                    <a:bodyPr/>
                    <a:lstStyle/>
                    <a:p>
                      <a:pPr algn="r"/>
                      <a:r>
                        <a:rPr lang="en-US" sz="2000" dirty="0">
                          <a:latin typeface="+mn-lt"/>
                          <a:cs typeface="+mn-cs"/>
                        </a:rPr>
                        <a:t>0.800</a:t>
                      </a:r>
                      <a:r>
                        <a:rPr lang="en-US" sz="2000" baseline="0" dirty="0">
                          <a:latin typeface="+mn-lt"/>
                          <a:cs typeface="+mn-cs"/>
                        </a:rPr>
                        <a:t> ± 0.004</a:t>
                      </a:r>
                      <a:endParaRPr lang="en-US" sz="2000" dirty="0">
                        <a:latin typeface="Calibri" pitchFamily="34" charset="0"/>
                        <a:cs typeface="Calibri" pitchFamily="34" charset="0"/>
                      </a:endParaRPr>
                    </a:p>
                  </a:txBody>
                  <a:tcPr/>
                </a:tc>
                <a:extLst>
                  <a:ext uri="{0D108BD9-81ED-4DB2-BD59-A6C34878D82A}">
                    <a16:rowId xmlns:a16="http://schemas.microsoft.com/office/drawing/2014/main" val="10001"/>
                  </a:ext>
                </a:extLst>
              </a:tr>
              <a:tr h="370840">
                <a:tc>
                  <a:txBody>
                    <a:bodyPr/>
                    <a:lstStyle/>
                    <a:p>
                      <a:r>
                        <a:rPr lang="en-US" sz="2000" dirty="0"/>
                        <a:t>Number in System (L)</a:t>
                      </a:r>
                      <a:endParaRPr lang="en-US" sz="2000" dirty="0">
                        <a:latin typeface="Calibri" pitchFamily="34" charset="0"/>
                        <a:cs typeface="Calibri" pitchFamily="34" charset="0"/>
                      </a:endParaRPr>
                    </a:p>
                  </a:txBody>
                  <a:tcPr/>
                </a:tc>
                <a:tc>
                  <a:txBody>
                    <a:bodyPr/>
                    <a:lstStyle/>
                    <a:p>
                      <a:pPr algn="r"/>
                      <a:r>
                        <a:rPr lang="en-US" sz="2000" dirty="0"/>
                        <a:t>4.000</a:t>
                      </a:r>
                      <a:endParaRPr lang="en-US" sz="2000" dirty="0">
                        <a:latin typeface="Calibri" pitchFamily="34" charset="0"/>
                        <a:cs typeface="Calibri" pitchFamily="34" charset="0"/>
                      </a:endParaRPr>
                    </a:p>
                  </a:txBody>
                  <a:tcPr/>
                </a:tc>
                <a:tc>
                  <a:txBody>
                    <a:bodyPr/>
                    <a:lstStyle/>
                    <a:p>
                      <a:pPr algn="r"/>
                      <a:r>
                        <a:rPr lang="en-US" sz="2000" dirty="0"/>
                        <a:t>4.001 </a:t>
                      </a:r>
                      <a:r>
                        <a:rPr lang="en-US" sz="2000" baseline="0" dirty="0">
                          <a:latin typeface="+mn-lt"/>
                          <a:cs typeface="+mn-cs"/>
                        </a:rPr>
                        <a:t>± </a:t>
                      </a:r>
                      <a:r>
                        <a:rPr lang="en-US" sz="2000" dirty="0"/>
                        <a:t>0.134</a:t>
                      </a:r>
                      <a:endParaRPr lang="en-US" sz="2000" dirty="0">
                        <a:latin typeface="Calibri" pitchFamily="34" charset="0"/>
                        <a:cs typeface="Calibri" pitchFamily="34" charset="0"/>
                      </a:endParaRPr>
                    </a:p>
                  </a:txBody>
                  <a:tcPr/>
                </a:tc>
                <a:extLst>
                  <a:ext uri="{0D108BD9-81ED-4DB2-BD59-A6C34878D82A}">
                    <a16:rowId xmlns:a16="http://schemas.microsoft.com/office/drawing/2014/main" val="10002"/>
                  </a:ext>
                </a:extLst>
              </a:tr>
              <a:tr h="370840">
                <a:tc>
                  <a:txBody>
                    <a:bodyPr/>
                    <a:lstStyle/>
                    <a:p>
                      <a:r>
                        <a:rPr lang="en-US" sz="2000" dirty="0"/>
                        <a:t>Number in Queue (</a:t>
                      </a:r>
                      <a:r>
                        <a:rPr lang="en-US" sz="2000" dirty="0" err="1"/>
                        <a:t>L</a:t>
                      </a:r>
                      <a:r>
                        <a:rPr lang="en-US" sz="2000" baseline="-25000" dirty="0" err="1"/>
                        <a:t>q</a:t>
                      </a:r>
                      <a:r>
                        <a:rPr lang="en-US" sz="2000" dirty="0"/>
                        <a:t>)</a:t>
                      </a:r>
                      <a:endParaRPr lang="en-US" sz="2000" dirty="0">
                        <a:latin typeface="Calibri" pitchFamily="34" charset="0"/>
                        <a:cs typeface="Calibri" pitchFamily="34" charset="0"/>
                      </a:endParaRPr>
                    </a:p>
                  </a:txBody>
                  <a:tcPr/>
                </a:tc>
                <a:tc>
                  <a:txBody>
                    <a:bodyPr/>
                    <a:lstStyle/>
                    <a:p>
                      <a:pPr algn="r"/>
                      <a:r>
                        <a:rPr lang="en-US" sz="2000" dirty="0"/>
                        <a:t>3.200</a:t>
                      </a:r>
                      <a:endParaRPr lang="en-US" sz="2000" dirty="0">
                        <a:latin typeface="Calibri" pitchFamily="34" charset="0"/>
                        <a:cs typeface="Calibri" pitchFamily="34" charset="0"/>
                      </a:endParaRPr>
                    </a:p>
                  </a:txBody>
                  <a:tcPr/>
                </a:tc>
                <a:tc>
                  <a:txBody>
                    <a:bodyPr/>
                    <a:lstStyle/>
                    <a:p>
                      <a:pPr algn="r"/>
                      <a:r>
                        <a:rPr lang="en-US" sz="2000" dirty="0"/>
                        <a:t>3.201 </a:t>
                      </a:r>
                      <a:r>
                        <a:rPr lang="en-US" sz="2000" baseline="0" dirty="0">
                          <a:latin typeface="+mn-lt"/>
                          <a:cs typeface="+mn-cs"/>
                        </a:rPr>
                        <a:t>±</a:t>
                      </a:r>
                      <a:r>
                        <a:rPr lang="en-US" sz="2000" dirty="0"/>
                        <a:t> 0.130</a:t>
                      </a:r>
                      <a:endParaRPr lang="en-US" sz="2000" dirty="0">
                        <a:latin typeface="Calibri" pitchFamily="34" charset="0"/>
                        <a:cs typeface="Calibri" pitchFamily="34" charset="0"/>
                      </a:endParaRPr>
                    </a:p>
                  </a:txBody>
                  <a:tcPr/>
                </a:tc>
                <a:extLst>
                  <a:ext uri="{0D108BD9-81ED-4DB2-BD59-A6C34878D82A}">
                    <a16:rowId xmlns:a16="http://schemas.microsoft.com/office/drawing/2014/main" val="10003"/>
                  </a:ext>
                </a:extLst>
              </a:tr>
              <a:tr h="370840">
                <a:tc>
                  <a:txBody>
                    <a:bodyPr/>
                    <a:lstStyle/>
                    <a:p>
                      <a:r>
                        <a:rPr lang="en-US" sz="2000" dirty="0"/>
                        <a:t>Time in System (W)</a:t>
                      </a:r>
                      <a:endParaRPr lang="en-US" sz="2000" dirty="0">
                        <a:latin typeface="Calibri" pitchFamily="34" charset="0"/>
                        <a:cs typeface="Calibri" pitchFamily="34" charset="0"/>
                      </a:endParaRPr>
                    </a:p>
                  </a:txBody>
                  <a:tcPr/>
                </a:tc>
                <a:tc>
                  <a:txBody>
                    <a:bodyPr/>
                    <a:lstStyle/>
                    <a:p>
                      <a:pPr algn="r"/>
                      <a:r>
                        <a:rPr lang="en-US" sz="2000" dirty="0"/>
                        <a:t>0.083</a:t>
                      </a:r>
                      <a:endParaRPr lang="en-US" sz="2000" dirty="0">
                        <a:latin typeface="Calibri" pitchFamily="34" charset="0"/>
                        <a:cs typeface="Calibri" pitchFamily="34" charset="0"/>
                      </a:endParaRPr>
                    </a:p>
                  </a:txBody>
                  <a:tcPr/>
                </a:tc>
                <a:tc>
                  <a:txBody>
                    <a:bodyPr/>
                    <a:lstStyle/>
                    <a:p>
                      <a:pPr algn="r"/>
                      <a:r>
                        <a:rPr lang="en-US" sz="2000" dirty="0"/>
                        <a:t>0.083 </a:t>
                      </a:r>
                      <a:r>
                        <a:rPr lang="en-US" sz="2000" baseline="0" dirty="0">
                          <a:latin typeface="+mn-lt"/>
                          <a:cs typeface="+mn-cs"/>
                        </a:rPr>
                        <a:t>±</a:t>
                      </a:r>
                      <a:r>
                        <a:rPr lang="en-US" sz="2000" dirty="0"/>
                        <a:t> 0.003</a:t>
                      </a:r>
                      <a:endParaRPr lang="en-US" sz="2000" dirty="0">
                        <a:latin typeface="Calibri" pitchFamily="34" charset="0"/>
                        <a:cs typeface="Calibri" pitchFamily="34" charset="0"/>
                      </a:endParaRPr>
                    </a:p>
                  </a:txBody>
                  <a:tcPr/>
                </a:tc>
                <a:extLst>
                  <a:ext uri="{0D108BD9-81ED-4DB2-BD59-A6C34878D82A}">
                    <a16:rowId xmlns:a16="http://schemas.microsoft.com/office/drawing/2014/main" val="10004"/>
                  </a:ext>
                </a:extLst>
              </a:tr>
              <a:tr h="370840">
                <a:tc>
                  <a:txBody>
                    <a:bodyPr/>
                    <a:lstStyle/>
                    <a:p>
                      <a:r>
                        <a:rPr lang="en-US" sz="2000" dirty="0"/>
                        <a:t>Time in Queue</a:t>
                      </a:r>
                      <a:r>
                        <a:rPr lang="en-US" sz="2000" baseline="0" dirty="0"/>
                        <a:t> (</a:t>
                      </a:r>
                      <a:r>
                        <a:rPr lang="en-US" sz="2000" baseline="0" dirty="0" err="1"/>
                        <a:t>W</a:t>
                      </a:r>
                      <a:r>
                        <a:rPr lang="en-US" sz="2000" baseline="-25000" dirty="0" err="1"/>
                        <a:t>q</a:t>
                      </a:r>
                      <a:r>
                        <a:rPr lang="en-US" sz="2000" baseline="0" dirty="0"/>
                        <a:t>)</a:t>
                      </a:r>
                      <a:endParaRPr lang="en-US" sz="2000" dirty="0">
                        <a:latin typeface="Calibri" pitchFamily="34" charset="0"/>
                        <a:cs typeface="Calibri" pitchFamily="34" charset="0"/>
                      </a:endParaRPr>
                    </a:p>
                  </a:txBody>
                  <a:tcPr/>
                </a:tc>
                <a:tc>
                  <a:txBody>
                    <a:bodyPr/>
                    <a:lstStyle/>
                    <a:p>
                      <a:pPr algn="r"/>
                      <a:r>
                        <a:rPr lang="en-US" sz="2000" dirty="0"/>
                        <a:t>0.067</a:t>
                      </a:r>
                      <a:endParaRPr lang="en-US" sz="2000" dirty="0">
                        <a:latin typeface="Calibri" pitchFamily="34" charset="0"/>
                        <a:cs typeface="Calibri" pitchFamily="34" charset="0"/>
                      </a:endParaRPr>
                    </a:p>
                  </a:txBody>
                  <a:tcPr/>
                </a:tc>
                <a:tc>
                  <a:txBody>
                    <a:bodyPr/>
                    <a:lstStyle/>
                    <a:p>
                      <a:pPr algn="r"/>
                      <a:r>
                        <a:rPr lang="en-US" sz="2000" dirty="0"/>
                        <a:t>0.066 </a:t>
                      </a:r>
                      <a:r>
                        <a:rPr lang="en-US" sz="2000" baseline="0" dirty="0">
                          <a:latin typeface="+mn-lt"/>
                          <a:cs typeface="+mn-cs"/>
                        </a:rPr>
                        <a:t>±</a:t>
                      </a:r>
                      <a:r>
                        <a:rPr lang="en-US" sz="2000" dirty="0"/>
                        <a:t> 0.003</a:t>
                      </a:r>
                      <a:endParaRPr lang="en-US" sz="2000" dirty="0">
                        <a:latin typeface="Calibri" pitchFamily="34" charset="0"/>
                        <a:cs typeface="Calibri" pitchFamily="34" charset="0"/>
                      </a:endParaRP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891309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normAutofit/>
          </a:bodyPr>
          <a:lstStyle/>
          <a:p>
            <a:r>
              <a:rPr lang="en-US" dirty="0">
                <a:solidFill>
                  <a:schemeClr val="bg2"/>
                </a:solidFill>
              </a:rPr>
              <a:t>Basic </a:t>
            </a:r>
            <a:r>
              <a:rPr lang="en-US" dirty="0" err="1">
                <a:solidFill>
                  <a:schemeClr val="bg2"/>
                </a:solidFill>
              </a:rPr>
              <a:t>Simio</a:t>
            </a:r>
            <a:r>
              <a:rPr lang="en-US" dirty="0">
                <a:solidFill>
                  <a:schemeClr val="bg2"/>
                </a:solidFill>
              </a:rPr>
              <a:t> User Interface </a:t>
            </a:r>
          </a:p>
          <a:p>
            <a:endParaRPr lang="en-US" dirty="0">
              <a:solidFill>
                <a:schemeClr val="bg2"/>
              </a:solidFill>
            </a:endParaRPr>
          </a:p>
          <a:p>
            <a:r>
              <a:rPr lang="en-US" dirty="0">
                <a:solidFill>
                  <a:schemeClr val="bg2"/>
                </a:solidFill>
              </a:rPr>
              <a:t>First </a:t>
            </a:r>
            <a:r>
              <a:rPr lang="en-US" dirty="0" err="1">
                <a:solidFill>
                  <a:schemeClr val="bg2"/>
                </a:solidFill>
              </a:rPr>
              <a:t>Simio</a:t>
            </a:r>
            <a:r>
              <a:rPr lang="en-US" dirty="0">
                <a:solidFill>
                  <a:schemeClr val="bg2"/>
                </a:solidFill>
              </a:rPr>
              <a:t> Model</a:t>
            </a:r>
          </a:p>
          <a:p>
            <a:pPr lvl="1"/>
            <a:r>
              <a:rPr lang="en-US" dirty="0">
                <a:solidFill>
                  <a:schemeClr val="bg2"/>
                </a:solidFill>
              </a:rPr>
              <a:t>Modeling : An M/M/1 </a:t>
            </a:r>
          </a:p>
          <a:p>
            <a:pPr lvl="1"/>
            <a:r>
              <a:rPr lang="en-US" dirty="0">
                <a:solidFill>
                  <a:schemeClr val="bg2"/>
                </a:solidFill>
              </a:rPr>
              <a:t>Verification: An M/M/1</a:t>
            </a:r>
          </a:p>
          <a:p>
            <a:pPr lvl="1"/>
            <a:endParaRPr lang="en-US" dirty="0"/>
          </a:p>
          <a:p>
            <a:r>
              <a:rPr lang="en-US" dirty="0"/>
              <a:t>A Review with an Example</a:t>
            </a:r>
          </a:p>
          <a:p>
            <a:pPr marL="0" indent="0">
              <a:buNone/>
            </a:pPr>
            <a:endParaRPr lang="en-US" dirty="0"/>
          </a:p>
        </p:txBody>
      </p:sp>
    </p:spTree>
    <p:extLst>
      <p:ext uri="{BB962C8B-B14F-4D97-AF65-F5344CB8AC3E}">
        <p14:creationId xmlns:p14="http://schemas.microsoft.com/office/powerpoint/2010/main" val="10612998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Bank Example: Description</a:t>
            </a:r>
          </a:p>
        </p:txBody>
      </p:sp>
      <p:sp>
        <p:nvSpPr>
          <p:cNvPr id="3" name="Content Placeholder 2"/>
          <p:cNvSpPr>
            <a:spLocks noGrp="1"/>
          </p:cNvSpPr>
          <p:nvPr>
            <p:ph idx="1"/>
          </p:nvPr>
        </p:nvSpPr>
        <p:spPr>
          <a:xfrm>
            <a:off x="355002" y="1312432"/>
            <a:ext cx="11478410" cy="5256689"/>
          </a:xfrm>
        </p:spPr>
        <p:txBody>
          <a:bodyPr>
            <a:normAutofit/>
          </a:bodyPr>
          <a:lstStyle/>
          <a:p>
            <a:r>
              <a:rPr lang="en-US" dirty="0"/>
              <a:t>A model:</a:t>
            </a:r>
          </a:p>
          <a:p>
            <a:pPr lvl="1"/>
            <a:r>
              <a:rPr lang="en-US" sz="2000" dirty="0"/>
              <a:t>Consider a walk-up bank that that has an ATM, a single teller, and a manager.</a:t>
            </a:r>
          </a:p>
          <a:p>
            <a:pPr lvl="1"/>
            <a:r>
              <a:rPr lang="en-US" sz="2000" dirty="0"/>
              <a:t>ATM customers visit the ATM and teller customers visit the teller.  </a:t>
            </a:r>
          </a:p>
          <a:p>
            <a:pPr lvl="1"/>
            <a:r>
              <a:rPr lang="en-US" sz="2000" dirty="0"/>
              <a:t>10% of customers (regardless of original type) visit the manager after visiting the ATM or teller.</a:t>
            </a:r>
          </a:p>
          <a:p>
            <a:pPr lvl="1"/>
            <a:r>
              <a:rPr lang="en-US" sz="2000" dirty="0"/>
              <a:t>Arrival and service time (all exponential) properties are:</a:t>
            </a:r>
          </a:p>
          <a:p>
            <a:pPr lvl="2"/>
            <a:r>
              <a:rPr lang="en-US" sz="1800" dirty="0"/>
              <a:t>ATM customers arrive at the rate of 10/hour and spend approximately 4 minutes at the ATM</a:t>
            </a:r>
          </a:p>
          <a:p>
            <a:pPr lvl="2"/>
            <a:r>
              <a:rPr lang="en-US" sz="1800" dirty="0"/>
              <a:t>Teller customers arrive at the rate of 5/hour and spend approximately 7 minute at the teller</a:t>
            </a:r>
          </a:p>
          <a:p>
            <a:pPr lvl="2"/>
            <a:r>
              <a:rPr lang="en-US" sz="1800" dirty="0"/>
              <a:t>Customers that visit the manager spend approximately 20 minutes with the manager</a:t>
            </a:r>
          </a:p>
          <a:p>
            <a:pPr lvl="1"/>
            <a:r>
              <a:rPr lang="en-US" sz="2000" dirty="0"/>
              <a:t>Run 25 replications for 2000 hours each (no warmup) and determine the server utilizations and the times that the customers spend in the system (ATM customers, teller customers, customers that see the manager)</a:t>
            </a:r>
          </a:p>
          <a:p>
            <a:pPr lvl="1"/>
            <a:r>
              <a:rPr lang="en-US" dirty="0"/>
              <a:t>Verify the model as well!</a:t>
            </a:r>
          </a:p>
          <a:p>
            <a:pPr lvl="1"/>
            <a:endParaRPr lang="en-US" dirty="0"/>
          </a:p>
        </p:txBody>
      </p:sp>
    </p:spTree>
    <p:extLst>
      <p:ext uri="{BB962C8B-B14F-4D97-AF65-F5344CB8AC3E}">
        <p14:creationId xmlns:p14="http://schemas.microsoft.com/office/powerpoint/2010/main" val="3006736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Bank Example: The Queueing Network</a:t>
            </a:r>
          </a:p>
        </p:txBody>
      </p:sp>
      <p:sp>
        <p:nvSpPr>
          <p:cNvPr id="3" name="Content Placeholder 2"/>
          <p:cNvSpPr>
            <a:spLocks noGrp="1"/>
          </p:cNvSpPr>
          <p:nvPr>
            <p:ph idx="1"/>
          </p:nvPr>
        </p:nvSpPr>
        <p:spPr>
          <a:xfrm>
            <a:off x="355002" y="1312432"/>
            <a:ext cx="11478410" cy="5256689"/>
          </a:xfrm>
        </p:spPr>
        <p:txBody>
          <a:bodyPr>
            <a:normAutofit/>
          </a:bodyPr>
          <a:lstStyle/>
          <a:p>
            <a:r>
              <a:rPr lang="en-US" dirty="0"/>
              <a:t>A model: A Jackson Network</a:t>
            </a:r>
          </a:p>
          <a:p>
            <a:pPr lvl="1"/>
            <a:endParaRPr lang="en-US" dirty="0"/>
          </a:p>
        </p:txBody>
      </p:sp>
      <p:sp>
        <p:nvSpPr>
          <p:cNvPr id="6" name="Rectangle 5">
            <a:extLst>
              <a:ext uri="{FF2B5EF4-FFF2-40B4-BE49-F238E27FC236}">
                <a16:creationId xmlns:a16="http://schemas.microsoft.com/office/drawing/2014/main" id="{9F179AC1-D03D-40F9-82A7-494374A6FFF7}"/>
              </a:ext>
            </a:extLst>
          </p:cNvPr>
          <p:cNvSpPr/>
          <p:nvPr/>
        </p:nvSpPr>
        <p:spPr>
          <a:xfrm>
            <a:off x="2335747" y="2285581"/>
            <a:ext cx="1178256" cy="76696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ATM (M/M/1)</a:t>
            </a:r>
          </a:p>
        </p:txBody>
      </p:sp>
      <p:sp>
        <p:nvSpPr>
          <p:cNvPr id="8" name="Rectangle 7">
            <a:extLst>
              <a:ext uri="{FF2B5EF4-FFF2-40B4-BE49-F238E27FC236}">
                <a16:creationId xmlns:a16="http://schemas.microsoft.com/office/drawing/2014/main" id="{457BD6A8-129E-4D72-A0FF-89E2ACA06F87}"/>
              </a:ext>
            </a:extLst>
          </p:cNvPr>
          <p:cNvSpPr/>
          <p:nvPr/>
        </p:nvSpPr>
        <p:spPr>
          <a:xfrm>
            <a:off x="8301588" y="3435307"/>
            <a:ext cx="1595191" cy="82137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Manager (M/M/1)</a:t>
            </a:r>
          </a:p>
        </p:txBody>
      </p:sp>
      <p:cxnSp>
        <p:nvCxnSpPr>
          <p:cNvPr id="10" name="Straight Arrow Connector 9">
            <a:extLst>
              <a:ext uri="{FF2B5EF4-FFF2-40B4-BE49-F238E27FC236}">
                <a16:creationId xmlns:a16="http://schemas.microsoft.com/office/drawing/2014/main" id="{B960DE84-4ED7-4052-8B8B-203CEE3E7DE7}"/>
              </a:ext>
            </a:extLst>
          </p:cNvPr>
          <p:cNvCxnSpPr>
            <a:cxnSpLocks/>
            <a:endCxn id="6" idx="1"/>
          </p:cNvCxnSpPr>
          <p:nvPr/>
        </p:nvCxnSpPr>
        <p:spPr>
          <a:xfrm>
            <a:off x="1528335" y="2669065"/>
            <a:ext cx="8074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E1E746D-7762-49DD-9636-F1BB272BDC85}"/>
              </a:ext>
            </a:extLst>
          </p:cNvPr>
          <p:cNvCxnSpPr>
            <a:cxnSpLocks/>
            <a:stCxn id="6" idx="3"/>
          </p:cNvCxnSpPr>
          <p:nvPr/>
        </p:nvCxnSpPr>
        <p:spPr>
          <a:xfrm>
            <a:off x="3514003" y="2669065"/>
            <a:ext cx="4787585" cy="9059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6698E89-C251-4800-B9F7-F67165ACF566}"/>
              </a:ext>
            </a:extLst>
          </p:cNvPr>
          <p:cNvCxnSpPr>
            <a:cxnSpLocks/>
            <a:stCxn id="38" idx="3"/>
          </p:cNvCxnSpPr>
          <p:nvPr/>
        </p:nvCxnSpPr>
        <p:spPr>
          <a:xfrm flipV="1">
            <a:off x="3598850" y="4095967"/>
            <a:ext cx="4702738" cy="9693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3797DCD-603C-4467-A335-356666290CC0}"/>
              </a:ext>
            </a:extLst>
          </p:cNvPr>
          <p:cNvCxnSpPr>
            <a:cxnSpLocks/>
            <a:stCxn id="6" idx="3"/>
          </p:cNvCxnSpPr>
          <p:nvPr/>
        </p:nvCxnSpPr>
        <p:spPr>
          <a:xfrm>
            <a:off x="3514003" y="2669065"/>
            <a:ext cx="7630182" cy="756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9D42DA34-EBF3-45CE-B514-54774DB11454}"/>
              </a:ext>
            </a:extLst>
          </p:cNvPr>
          <p:cNvCxnSpPr>
            <a:cxnSpLocks/>
            <a:stCxn id="8" idx="3"/>
          </p:cNvCxnSpPr>
          <p:nvPr/>
        </p:nvCxnSpPr>
        <p:spPr>
          <a:xfrm flipV="1">
            <a:off x="9896779" y="3845996"/>
            <a:ext cx="130211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7515B562-50C4-4ACD-A874-79E501B14A9F}"/>
              </a:ext>
            </a:extLst>
          </p:cNvPr>
          <p:cNvSpPr txBox="1"/>
          <p:nvPr/>
        </p:nvSpPr>
        <p:spPr>
          <a:xfrm>
            <a:off x="5587580" y="5105464"/>
            <a:ext cx="506627" cy="369332"/>
          </a:xfrm>
          <a:prstGeom prst="rect">
            <a:avLst/>
          </a:prstGeom>
          <a:noFill/>
        </p:spPr>
        <p:txBody>
          <a:bodyPr wrap="square" rtlCol="0">
            <a:spAutoFit/>
          </a:bodyPr>
          <a:lstStyle/>
          <a:p>
            <a:r>
              <a:rPr lang="en-US" dirty="0"/>
              <a:t>0.9</a:t>
            </a:r>
          </a:p>
        </p:txBody>
      </p:sp>
      <p:sp>
        <p:nvSpPr>
          <p:cNvPr id="32" name="TextBox 31">
            <a:extLst>
              <a:ext uri="{FF2B5EF4-FFF2-40B4-BE49-F238E27FC236}">
                <a16:creationId xmlns:a16="http://schemas.microsoft.com/office/drawing/2014/main" id="{693903C2-66EF-4B21-AC1C-D81C13D3ECFC}"/>
              </a:ext>
            </a:extLst>
          </p:cNvPr>
          <p:cNvSpPr txBox="1"/>
          <p:nvPr/>
        </p:nvSpPr>
        <p:spPr>
          <a:xfrm>
            <a:off x="5770867" y="2334020"/>
            <a:ext cx="506627" cy="369332"/>
          </a:xfrm>
          <a:prstGeom prst="rect">
            <a:avLst/>
          </a:prstGeom>
          <a:noFill/>
        </p:spPr>
        <p:txBody>
          <a:bodyPr wrap="square" rtlCol="0">
            <a:spAutoFit/>
          </a:bodyPr>
          <a:lstStyle/>
          <a:p>
            <a:r>
              <a:rPr lang="en-US" dirty="0"/>
              <a:t>0.9</a:t>
            </a:r>
          </a:p>
        </p:txBody>
      </p:sp>
      <p:sp>
        <p:nvSpPr>
          <p:cNvPr id="33" name="TextBox 32">
            <a:extLst>
              <a:ext uri="{FF2B5EF4-FFF2-40B4-BE49-F238E27FC236}">
                <a16:creationId xmlns:a16="http://schemas.microsoft.com/office/drawing/2014/main" id="{9E9A2DDB-B27F-4B7D-9B04-6FBFFBB0A80A}"/>
              </a:ext>
            </a:extLst>
          </p:cNvPr>
          <p:cNvSpPr txBox="1"/>
          <p:nvPr/>
        </p:nvSpPr>
        <p:spPr>
          <a:xfrm>
            <a:off x="4519974" y="2869119"/>
            <a:ext cx="506627" cy="369332"/>
          </a:xfrm>
          <a:prstGeom prst="rect">
            <a:avLst/>
          </a:prstGeom>
          <a:noFill/>
        </p:spPr>
        <p:txBody>
          <a:bodyPr wrap="square" rtlCol="0">
            <a:spAutoFit/>
          </a:bodyPr>
          <a:lstStyle/>
          <a:p>
            <a:r>
              <a:rPr lang="en-US" dirty="0"/>
              <a:t>0.1</a:t>
            </a:r>
          </a:p>
        </p:txBody>
      </p:sp>
      <p:sp>
        <p:nvSpPr>
          <p:cNvPr id="34" name="TextBox 33">
            <a:extLst>
              <a:ext uri="{FF2B5EF4-FFF2-40B4-BE49-F238E27FC236}">
                <a16:creationId xmlns:a16="http://schemas.microsoft.com/office/drawing/2014/main" id="{9B689B50-0F84-4957-B79B-C5A7C873AAB3}"/>
              </a:ext>
            </a:extLst>
          </p:cNvPr>
          <p:cNvSpPr txBox="1"/>
          <p:nvPr/>
        </p:nvSpPr>
        <p:spPr>
          <a:xfrm>
            <a:off x="4410226" y="4481022"/>
            <a:ext cx="506627" cy="369332"/>
          </a:xfrm>
          <a:prstGeom prst="rect">
            <a:avLst/>
          </a:prstGeom>
          <a:noFill/>
        </p:spPr>
        <p:txBody>
          <a:bodyPr wrap="square" rtlCol="0">
            <a:spAutoFit/>
          </a:bodyPr>
          <a:lstStyle/>
          <a:p>
            <a:r>
              <a:rPr lang="en-US" dirty="0"/>
              <a:t>0.1</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A861328-D19C-45DB-9E92-7E86F1C56ECF}"/>
                  </a:ext>
                </a:extLst>
              </p:cNvPr>
              <p:cNvSpPr txBox="1"/>
              <p:nvPr/>
            </p:nvSpPr>
            <p:spPr>
              <a:xfrm>
                <a:off x="207418" y="2334020"/>
                <a:ext cx="200167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𝐴𝑇𝑀</m:t>
                          </m:r>
                        </m:sub>
                      </m:sSub>
                      <m:r>
                        <a:rPr lang="en-US" b="0" i="1" smtClean="0">
                          <a:latin typeface="Cambria Math" panose="02040503050406030204" pitchFamily="18" charset="0"/>
                        </a:rPr>
                        <m:t>=10/</m:t>
                      </m:r>
                      <m:r>
                        <a:rPr lang="en-US" b="0" i="1" smtClean="0">
                          <a:latin typeface="Cambria Math" panose="02040503050406030204" pitchFamily="18" charset="0"/>
                        </a:rPr>
                        <m:t>h𝑜𝑢𝑟</m:t>
                      </m:r>
                    </m:oMath>
                  </m:oMathPara>
                </a14:m>
                <a:endParaRPr lang="en-US" dirty="0"/>
              </a:p>
            </p:txBody>
          </p:sp>
        </mc:Choice>
        <mc:Fallback xmlns="">
          <p:sp>
            <p:nvSpPr>
              <p:cNvPr id="11" name="TextBox 10">
                <a:extLst>
                  <a:ext uri="{FF2B5EF4-FFF2-40B4-BE49-F238E27FC236}">
                    <a16:creationId xmlns:a16="http://schemas.microsoft.com/office/drawing/2014/main" id="{EA861328-D19C-45DB-9E92-7E86F1C56ECF}"/>
                  </a:ext>
                </a:extLst>
              </p:cNvPr>
              <p:cNvSpPr txBox="1">
                <a:spLocks noRot="1" noChangeAspect="1" noMove="1" noResize="1" noEditPoints="1" noAdjustHandles="1" noChangeArrowheads="1" noChangeShapeType="1" noTextEdit="1"/>
              </p:cNvSpPr>
              <p:nvPr/>
            </p:nvSpPr>
            <p:spPr>
              <a:xfrm>
                <a:off x="207418" y="2334020"/>
                <a:ext cx="2001672" cy="369332"/>
              </a:xfrm>
              <a:prstGeom prst="rect">
                <a:avLst/>
              </a:prstGeom>
              <a:blipFill>
                <a:blip r:embed="rId3"/>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484932DA-E278-44C3-B1CD-939C79FD0010}"/>
                  </a:ext>
                </a:extLst>
              </p:cNvPr>
              <p:cNvSpPr txBox="1"/>
              <p:nvPr/>
            </p:nvSpPr>
            <p:spPr>
              <a:xfrm>
                <a:off x="147600" y="4707700"/>
                <a:ext cx="200167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𝑇𝑒𝑙𝑙𝑒𝑟</m:t>
                          </m:r>
                        </m:sub>
                      </m:sSub>
                      <m:r>
                        <a:rPr lang="en-US" b="0" i="1" smtClean="0">
                          <a:latin typeface="Cambria Math" panose="02040503050406030204" pitchFamily="18" charset="0"/>
                        </a:rPr>
                        <m:t>=5/</m:t>
                      </m:r>
                      <m:r>
                        <a:rPr lang="en-US" b="0" i="1" smtClean="0">
                          <a:latin typeface="Cambria Math" panose="02040503050406030204" pitchFamily="18" charset="0"/>
                        </a:rPr>
                        <m:t>h𝑜𝑢𝑟</m:t>
                      </m:r>
                    </m:oMath>
                  </m:oMathPara>
                </a14:m>
                <a:endParaRPr lang="en-US" dirty="0"/>
              </a:p>
            </p:txBody>
          </p:sp>
        </mc:Choice>
        <mc:Fallback xmlns="">
          <p:sp>
            <p:nvSpPr>
              <p:cNvPr id="23" name="TextBox 22">
                <a:extLst>
                  <a:ext uri="{FF2B5EF4-FFF2-40B4-BE49-F238E27FC236}">
                    <a16:creationId xmlns:a16="http://schemas.microsoft.com/office/drawing/2014/main" id="{484932DA-E278-44C3-B1CD-939C79FD0010}"/>
                  </a:ext>
                </a:extLst>
              </p:cNvPr>
              <p:cNvSpPr txBox="1">
                <a:spLocks noRot="1" noChangeAspect="1" noMove="1" noResize="1" noEditPoints="1" noAdjustHandles="1" noChangeArrowheads="1" noChangeShapeType="1" noTextEdit="1"/>
              </p:cNvSpPr>
              <p:nvPr/>
            </p:nvSpPr>
            <p:spPr>
              <a:xfrm>
                <a:off x="147600" y="4707700"/>
                <a:ext cx="2001672" cy="369332"/>
              </a:xfrm>
              <a:prstGeom prst="rect">
                <a:avLst/>
              </a:prstGeom>
              <a:blipFill>
                <a:blip r:embed="rId4"/>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72E51591-CD42-43DE-BEA0-6E163BF61821}"/>
                  </a:ext>
                </a:extLst>
              </p:cNvPr>
              <p:cNvSpPr txBox="1"/>
              <p:nvPr/>
            </p:nvSpPr>
            <p:spPr>
              <a:xfrm>
                <a:off x="4060691" y="3561427"/>
                <a:ext cx="5131557" cy="66890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𝑀𝑎𝑛𝑎𝑔𝑒𝑟</m:t>
                          </m:r>
                        </m:sub>
                      </m:sSub>
                      <m:r>
                        <a:rPr lang="en-US" b="0" i="1" smtClean="0">
                          <a:latin typeface="Cambria Math" panose="02040503050406030204" pitchFamily="18" charset="0"/>
                        </a:rPr>
                        <m:t>  =0.1</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𝐴𝑇𝑀</m:t>
                          </m:r>
                        </m:sub>
                      </m:sSub>
                      <m:r>
                        <a:rPr lang="en-US" b="0" i="1" smtClean="0">
                          <a:latin typeface="Cambria Math" panose="02040503050406030204" pitchFamily="18" charset="0"/>
                        </a:rPr>
                        <m:t>+0.1</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b="0" i="1" smtClean="0">
                              <a:latin typeface="Cambria Math" panose="02040503050406030204" pitchFamily="18" charset="0"/>
                            </a:rPr>
                            <m:t>𝑇𝑒𝑙𝑙𝑒𝑟</m:t>
                          </m:r>
                        </m:sub>
                      </m:sSub>
                    </m:oMath>
                  </m:oMathPara>
                </a14:m>
                <a:endParaRPr lang="en-US"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m:t>
                      </m:r>
                      <m:r>
                        <a:rPr lang="en-US" b="0" i="1" smtClean="0">
                          <a:latin typeface="Cambria Math" panose="02040503050406030204" pitchFamily="18" charset="0"/>
                        </a:rPr>
                        <m:t>1.5/</m:t>
                      </m:r>
                      <m:r>
                        <a:rPr lang="en-US" b="0" i="1" smtClean="0">
                          <a:latin typeface="Cambria Math" panose="02040503050406030204" pitchFamily="18" charset="0"/>
                        </a:rPr>
                        <m:t>h𝑜𝑢𝑟</m:t>
                      </m:r>
                    </m:oMath>
                  </m:oMathPara>
                </a14:m>
                <a:endParaRPr lang="en-US" dirty="0"/>
              </a:p>
            </p:txBody>
          </p:sp>
        </mc:Choice>
        <mc:Fallback xmlns="">
          <p:sp>
            <p:nvSpPr>
              <p:cNvPr id="24" name="TextBox 23">
                <a:extLst>
                  <a:ext uri="{FF2B5EF4-FFF2-40B4-BE49-F238E27FC236}">
                    <a16:creationId xmlns:a16="http://schemas.microsoft.com/office/drawing/2014/main" id="{72E51591-CD42-43DE-BEA0-6E163BF61821}"/>
                  </a:ext>
                </a:extLst>
              </p:cNvPr>
              <p:cNvSpPr txBox="1">
                <a:spLocks noRot="1" noChangeAspect="1" noMove="1" noResize="1" noEditPoints="1" noAdjustHandles="1" noChangeArrowheads="1" noChangeShapeType="1" noTextEdit="1"/>
              </p:cNvSpPr>
              <p:nvPr/>
            </p:nvSpPr>
            <p:spPr>
              <a:xfrm>
                <a:off x="4060691" y="3561427"/>
                <a:ext cx="5131557" cy="668901"/>
              </a:xfrm>
              <a:prstGeom prst="rect">
                <a:avLst/>
              </a:prstGeom>
              <a:blipFill>
                <a:blip r:embed="rId5"/>
                <a:stretch>
                  <a:fillRect b="-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29B18D42-9629-4E1F-9F64-DF3BC97D4097}"/>
                  </a:ext>
                </a:extLst>
              </p:cNvPr>
              <p:cNvSpPr txBox="1"/>
              <p:nvPr/>
            </p:nvSpPr>
            <p:spPr>
              <a:xfrm>
                <a:off x="1821003" y="3071158"/>
                <a:ext cx="2314268"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1/</m:t>
                          </m:r>
                          <m:r>
                            <a:rPr lang="en-US" i="1">
                              <a:latin typeface="Cambria Math" panose="02040503050406030204" pitchFamily="18" charset="0"/>
                            </a:rPr>
                            <m:t>𝜇</m:t>
                          </m:r>
                        </m:e>
                        <m:sub>
                          <m:r>
                            <a:rPr lang="en-US" i="1">
                              <a:latin typeface="Cambria Math" panose="02040503050406030204" pitchFamily="18" charset="0"/>
                            </a:rPr>
                            <m:t>𝐴𝑇𝑀</m:t>
                          </m:r>
                        </m:sub>
                      </m:sSub>
                      <m:r>
                        <a:rPr lang="en-US" i="1">
                          <a:latin typeface="Cambria Math" panose="02040503050406030204" pitchFamily="18" charset="0"/>
                        </a:rPr>
                        <m:t>=</m:t>
                      </m:r>
                      <m:r>
                        <a:rPr lang="en-US" b="0" i="1" smtClean="0">
                          <a:latin typeface="Cambria Math" panose="02040503050406030204" pitchFamily="18" charset="0"/>
                        </a:rPr>
                        <m:t>4 </m:t>
                      </m:r>
                      <m:r>
                        <a:rPr lang="en-US" b="0" i="1" smtClean="0">
                          <a:latin typeface="Cambria Math" panose="02040503050406030204" pitchFamily="18" charset="0"/>
                        </a:rPr>
                        <m:t>𝑚𝑖𝑛𝑢𝑡𝑒𝑠</m:t>
                      </m:r>
                    </m:oMath>
                  </m:oMathPara>
                </a14:m>
                <a:endParaRPr lang="en-US"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𝐴𝑇𝑀</m:t>
                          </m:r>
                        </m:sub>
                      </m:sSub>
                      <m:r>
                        <a:rPr lang="en-US" b="0" i="1" smtClean="0">
                          <a:latin typeface="Cambria Math" panose="02040503050406030204" pitchFamily="18" charset="0"/>
                        </a:rPr>
                        <m:t>=15/</m:t>
                      </m:r>
                      <m:r>
                        <a:rPr lang="en-US" b="0" i="1" smtClean="0">
                          <a:latin typeface="Cambria Math" panose="02040503050406030204" pitchFamily="18" charset="0"/>
                        </a:rPr>
                        <m:t>h𝑜𝑢𝑟</m:t>
                      </m:r>
                    </m:oMath>
                  </m:oMathPara>
                </a14:m>
                <a:endParaRPr lang="en-US" dirty="0"/>
              </a:p>
            </p:txBody>
          </p:sp>
        </mc:Choice>
        <mc:Fallback xmlns="">
          <p:sp>
            <p:nvSpPr>
              <p:cNvPr id="37" name="TextBox 36">
                <a:extLst>
                  <a:ext uri="{FF2B5EF4-FFF2-40B4-BE49-F238E27FC236}">
                    <a16:creationId xmlns:a16="http://schemas.microsoft.com/office/drawing/2014/main" id="{29B18D42-9629-4E1F-9F64-DF3BC97D4097}"/>
                  </a:ext>
                </a:extLst>
              </p:cNvPr>
              <p:cNvSpPr txBox="1">
                <a:spLocks noRot="1" noChangeAspect="1" noMove="1" noResize="1" noEditPoints="1" noAdjustHandles="1" noChangeArrowheads="1" noChangeShapeType="1" noTextEdit="1"/>
              </p:cNvSpPr>
              <p:nvPr/>
            </p:nvSpPr>
            <p:spPr>
              <a:xfrm>
                <a:off x="1821003" y="3071158"/>
                <a:ext cx="2314268" cy="646331"/>
              </a:xfrm>
              <a:prstGeom prst="rect">
                <a:avLst/>
              </a:prstGeom>
              <a:blipFill>
                <a:blip r:embed="rId6"/>
                <a:stretch>
                  <a:fillRect b="-6604"/>
                </a:stretch>
              </a:blipFill>
            </p:spPr>
            <p:txBody>
              <a:bodyPr/>
              <a:lstStyle/>
              <a:p>
                <a:r>
                  <a:rPr lang="en-US">
                    <a:noFill/>
                  </a:rPr>
                  <a:t> </a:t>
                </a:r>
              </a:p>
            </p:txBody>
          </p:sp>
        </mc:Fallback>
      </mc:AlternateContent>
      <p:sp>
        <p:nvSpPr>
          <p:cNvPr id="38" name="Rectangle 37">
            <a:extLst>
              <a:ext uri="{FF2B5EF4-FFF2-40B4-BE49-F238E27FC236}">
                <a16:creationId xmlns:a16="http://schemas.microsoft.com/office/drawing/2014/main" id="{EBF8E3CD-7B1C-4C76-B48D-A2AFDE9A25E4}"/>
              </a:ext>
            </a:extLst>
          </p:cNvPr>
          <p:cNvSpPr/>
          <p:nvPr/>
        </p:nvSpPr>
        <p:spPr>
          <a:xfrm>
            <a:off x="2420594" y="4681790"/>
            <a:ext cx="1178256" cy="76696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Teller (M/M/1)</a:t>
            </a: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7EAA1A95-E006-4F6D-86C9-5444FE237340}"/>
                  </a:ext>
                </a:extLst>
              </p:cNvPr>
              <p:cNvSpPr txBox="1"/>
              <p:nvPr/>
            </p:nvSpPr>
            <p:spPr>
              <a:xfrm>
                <a:off x="1528335" y="5388250"/>
                <a:ext cx="2927798"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1/</m:t>
                          </m:r>
                          <m:r>
                            <a:rPr lang="en-US" i="1">
                              <a:latin typeface="Cambria Math" panose="02040503050406030204" pitchFamily="18" charset="0"/>
                            </a:rPr>
                            <m:t>𝜇</m:t>
                          </m:r>
                        </m:e>
                        <m:sub>
                          <m:r>
                            <a:rPr lang="en-US" b="0" i="1" smtClean="0">
                              <a:latin typeface="Cambria Math" panose="02040503050406030204" pitchFamily="18" charset="0"/>
                            </a:rPr>
                            <m:t>𝑇𝑒𝑙𝑙𝑒𝑟</m:t>
                          </m:r>
                        </m:sub>
                      </m:sSub>
                      <m:r>
                        <a:rPr lang="en-US" i="1">
                          <a:latin typeface="Cambria Math" panose="02040503050406030204" pitchFamily="18" charset="0"/>
                        </a:rPr>
                        <m:t>=</m:t>
                      </m:r>
                      <m:r>
                        <a:rPr lang="en-US" b="0" i="1" smtClean="0">
                          <a:latin typeface="Cambria Math" panose="02040503050406030204" pitchFamily="18" charset="0"/>
                        </a:rPr>
                        <m:t>7 </m:t>
                      </m:r>
                      <m:r>
                        <a:rPr lang="en-US" b="0" i="1" smtClean="0">
                          <a:latin typeface="Cambria Math" panose="02040503050406030204" pitchFamily="18" charset="0"/>
                        </a:rPr>
                        <m:t>𝑚𝑖𝑛𝑢𝑡𝑒𝑠</m:t>
                      </m:r>
                    </m:oMath>
                  </m:oMathPara>
                </a14:m>
                <a:endParaRPr lang="en-US"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𝑇𝑒𝑙𝑙𝑒𝑟</m:t>
                          </m:r>
                        </m:sub>
                      </m:sSub>
                      <m:r>
                        <a:rPr lang="en-US" b="0" i="1" smtClean="0">
                          <a:latin typeface="Cambria Math" panose="02040503050406030204" pitchFamily="18" charset="0"/>
                        </a:rPr>
                        <m:t>=8.57/</m:t>
                      </m:r>
                      <m:r>
                        <a:rPr lang="en-US" b="0" i="1" smtClean="0">
                          <a:latin typeface="Cambria Math" panose="02040503050406030204" pitchFamily="18" charset="0"/>
                        </a:rPr>
                        <m:t>h𝑜𝑢𝑟</m:t>
                      </m:r>
                    </m:oMath>
                  </m:oMathPara>
                </a14:m>
                <a:endParaRPr lang="en-US" dirty="0"/>
              </a:p>
            </p:txBody>
          </p:sp>
        </mc:Choice>
        <mc:Fallback xmlns="">
          <p:sp>
            <p:nvSpPr>
              <p:cNvPr id="39" name="TextBox 38">
                <a:extLst>
                  <a:ext uri="{FF2B5EF4-FFF2-40B4-BE49-F238E27FC236}">
                    <a16:creationId xmlns:a16="http://schemas.microsoft.com/office/drawing/2014/main" id="{7EAA1A95-E006-4F6D-86C9-5444FE237340}"/>
                  </a:ext>
                </a:extLst>
              </p:cNvPr>
              <p:cNvSpPr txBox="1">
                <a:spLocks noRot="1" noChangeAspect="1" noMove="1" noResize="1" noEditPoints="1" noAdjustHandles="1" noChangeArrowheads="1" noChangeShapeType="1" noTextEdit="1"/>
              </p:cNvSpPr>
              <p:nvPr/>
            </p:nvSpPr>
            <p:spPr>
              <a:xfrm>
                <a:off x="1528335" y="5388250"/>
                <a:ext cx="2927798" cy="646331"/>
              </a:xfrm>
              <a:prstGeom prst="rect">
                <a:avLst/>
              </a:prstGeom>
              <a:blipFill>
                <a:blip r:embed="rId7"/>
                <a:stretch>
                  <a:fillRect b="-6604"/>
                </a:stretch>
              </a:blipFill>
            </p:spPr>
            <p:txBody>
              <a:bodyPr/>
              <a:lstStyle/>
              <a:p>
                <a:r>
                  <a:rPr lang="en-US">
                    <a:noFill/>
                  </a:rPr>
                  <a:t> </a:t>
                </a:r>
              </a:p>
            </p:txBody>
          </p:sp>
        </mc:Fallback>
      </mc:AlternateContent>
      <p:cxnSp>
        <p:nvCxnSpPr>
          <p:cNvPr id="40" name="Straight Arrow Connector 39">
            <a:extLst>
              <a:ext uri="{FF2B5EF4-FFF2-40B4-BE49-F238E27FC236}">
                <a16:creationId xmlns:a16="http://schemas.microsoft.com/office/drawing/2014/main" id="{45978A95-AF62-48DF-A4BC-097F56F95ACD}"/>
              </a:ext>
            </a:extLst>
          </p:cNvPr>
          <p:cNvCxnSpPr>
            <a:cxnSpLocks/>
            <a:endCxn id="38" idx="1"/>
          </p:cNvCxnSpPr>
          <p:nvPr/>
        </p:nvCxnSpPr>
        <p:spPr>
          <a:xfrm>
            <a:off x="1541317" y="5065274"/>
            <a:ext cx="8792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CD93C572-2029-4586-80BA-53C0C296985A}"/>
                  </a:ext>
                </a:extLst>
              </p:cNvPr>
              <p:cNvSpPr txBox="1"/>
              <p:nvPr/>
            </p:nvSpPr>
            <p:spPr>
              <a:xfrm>
                <a:off x="7761034" y="4296994"/>
                <a:ext cx="2862428" cy="69147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1/</m:t>
                          </m:r>
                          <m:r>
                            <a:rPr lang="en-US" i="1">
                              <a:latin typeface="Cambria Math" panose="02040503050406030204" pitchFamily="18" charset="0"/>
                            </a:rPr>
                            <m:t>𝜇</m:t>
                          </m:r>
                        </m:e>
                        <m:sub>
                          <m:r>
                            <a:rPr lang="en-US" b="0" i="1" smtClean="0">
                              <a:latin typeface="Cambria Math" panose="02040503050406030204" pitchFamily="18" charset="0"/>
                            </a:rPr>
                            <m:t>𝑀𝑎𝑛𝑎𝑔𝑒𝑟</m:t>
                          </m:r>
                        </m:sub>
                      </m:sSub>
                      <m:r>
                        <a:rPr lang="en-US" i="1">
                          <a:latin typeface="Cambria Math" panose="02040503050406030204" pitchFamily="18" charset="0"/>
                        </a:rPr>
                        <m:t>=</m:t>
                      </m:r>
                      <m:r>
                        <a:rPr lang="en-US" b="0" i="1" smtClean="0">
                          <a:latin typeface="Cambria Math" panose="02040503050406030204" pitchFamily="18" charset="0"/>
                        </a:rPr>
                        <m:t>20 </m:t>
                      </m:r>
                      <m:r>
                        <a:rPr lang="en-US" b="0" i="1" smtClean="0">
                          <a:latin typeface="Cambria Math" panose="02040503050406030204" pitchFamily="18" charset="0"/>
                        </a:rPr>
                        <m:t>𝑚𝑖𝑛𝑢𝑡𝑒𝑠</m:t>
                      </m:r>
                    </m:oMath>
                  </m:oMathPara>
                </a14:m>
                <a:endParaRPr lang="en-US"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𝑀𝑎𝑛𝑎𝑔𝑒𝑟</m:t>
                          </m:r>
                        </m:sub>
                      </m:sSub>
                      <m:r>
                        <a:rPr lang="en-US" b="0" i="1" smtClean="0">
                          <a:latin typeface="Cambria Math" panose="02040503050406030204" pitchFamily="18" charset="0"/>
                        </a:rPr>
                        <m:t>=3/</m:t>
                      </m:r>
                      <m:r>
                        <a:rPr lang="en-US" b="0" i="1" smtClean="0">
                          <a:latin typeface="Cambria Math" panose="02040503050406030204" pitchFamily="18" charset="0"/>
                        </a:rPr>
                        <m:t>h𝑜𝑢𝑟</m:t>
                      </m:r>
                    </m:oMath>
                  </m:oMathPara>
                </a14:m>
                <a:endParaRPr lang="en-US" dirty="0"/>
              </a:p>
            </p:txBody>
          </p:sp>
        </mc:Choice>
        <mc:Fallback xmlns="">
          <p:sp>
            <p:nvSpPr>
              <p:cNvPr id="47" name="TextBox 46">
                <a:extLst>
                  <a:ext uri="{FF2B5EF4-FFF2-40B4-BE49-F238E27FC236}">
                    <a16:creationId xmlns:a16="http://schemas.microsoft.com/office/drawing/2014/main" id="{CD93C572-2029-4586-80BA-53C0C296985A}"/>
                  </a:ext>
                </a:extLst>
              </p:cNvPr>
              <p:cNvSpPr txBox="1">
                <a:spLocks noRot="1" noChangeAspect="1" noMove="1" noResize="1" noEditPoints="1" noAdjustHandles="1" noChangeArrowheads="1" noChangeShapeType="1" noTextEdit="1"/>
              </p:cNvSpPr>
              <p:nvPr/>
            </p:nvSpPr>
            <p:spPr>
              <a:xfrm>
                <a:off x="7761034" y="4296994"/>
                <a:ext cx="2862428" cy="691471"/>
              </a:xfrm>
              <a:prstGeom prst="rect">
                <a:avLst/>
              </a:prstGeom>
              <a:blipFill>
                <a:blip r:embed="rId8"/>
                <a:stretch>
                  <a:fillRect b="-4425"/>
                </a:stretch>
              </a:blipFill>
            </p:spPr>
            <p:txBody>
              <a:bodyPr/>
              <a:lstStyle/>
              <a:p>
                <a:r>
                  <a:rPr lang="en-US">
                    <a:noFill/>
                  </a:rPr>
                  <a:t> </a:t>
                </a:r>
              </a:p>
            </p:txBody>
          </p:sp>
        </mc:Fallback>
      </mc:AlternateContent>
      <p:cxnSp>
        <p:nvCxnSpPr>
          <p:cNvPr id="52" name="Straight Arrow Connector 51">
            <a:extLst>
              <a:ext uri="{FF2B5EF4-FFF2-40B4-BE49-F238E27FC236}">
                <a16:creationId xmlns:a16="http://schemas.microsoft.com/office/drawing/2014/main" id="{B7FD0620-153E-4D5D-9CEF-DCF5E19AD148}"/>
              </a:ext>
            </a:extLst>
          </p:cNvPr>
          <p:cNvCxnSpPr>
            <a:cxnSpLocks/>
          </p:cNvCxnSpPr>
          <p:nvPr/>
        </p:nvCxnSpPr>
        <p:spPr>
          <a:xfrm>
            <a:off x="3598850" y="5067663"/>
            <a:ext cx="7630182" cy="756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54509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Bank Example: </a:t>
            </a:r>
            <a:r>
              <a:rPr lang="en-US" dirty="0" err="1"/>
              <a:t>Simio</a:t>
            </a:r>
            <a:r>
              <a:rPr lang="en-US" dirty="0"/>
              <a:t> Model</a:t>
            </a:r>
          </a:p>
        </p:txBody>
      </p:sp>
      <p:sp>
        <p:nvSpPr>
          <p:cNvPr id="3" name="Content Placeholder 2"/>
          <p:cNvSpPr>
            <a:spLocks noGrp="1"/>
          </p:cNvSpPr>
          <p:nvPr>
            <p:ph idx="1"/>
          </p:nvPr>
        </p:nvSpPr>
        <p:spPr>
          <a:xfrm>
            <a:off x="355002" y="1312432"/>
            <a:ext cx="11478410" cy="5256689"/>
          </a:xfrm>
        </p:spPr>
        <p:txBody>
          <a:bodyPr>
            <a:normAutofit/>
          </a:bodyPr>
          <a:lstStyle/>
          <a:p>
            <a:r>
              <a:rPr lang="en-US" dirty="0" err="1"/>
              <a:t>Simio</a:t>
            </a:r>
            <a:r>
              <a:rPr lang="en-US" dirty="0"/>
              <a:t> model:</a:t>
            </a:r>
          </a:p>
          <a:p>
            <a:pPr lvl="1"/>
            <a:endParaRPr lang="en-US" dirty="0"/>
          </a:p>
        </p:txBody>
      </p:sp>
      <p:pic>
        <p:nvPicPr>
          <p:cNvPr id="4" name="Picture 3">
            <a:extLst>
              <a:ext uri="{FF2B5EF4-FFF2-40B4-BE49-F238E27FC236}">
                <a16:creationId xmlns:a16="http://schemas.microsoft.com/office/drawing/2014/main" id="{C7C689B5-41DE-4FE4-9494-580D571C00E7}"/>
              </a:ext>
            </a:extLst>
          </p:cNvPr>
          <p:cNvPicPr>
            <a:picLocks noChangeAspect="1"/>
          </p:cNvPicPr>
          <p:nvPr/>
        </p:nvPicPr>
        <p:blipFill>
          <a:blip r:embed="rId2"/>
          <a:stretch>
            <a:fillRect/>
          </a:stretch>
        </p:blipFill>
        <p:spPr>
          <a:xfrm>
            <a:off x="1082722" y="1909229"/>
            <a:ext cx="8225051" cy="3444612"/>
          </a:xfrm>
          <a:prstGeom prst="rect">
            <a:avLst/>
          </a:prstGeom>
        </p:spPr>
      </p:pic>
      <p:sp>
        <p:nvSpPr>
          <p:cNvPr id="25" name="TextBox 24">
            <a:extLst>
              <a:ext uri="{FF2B5EF4-FFF2-40B4-BE49-F238E27FC236}">
                <a16:creationId xmlns:a16="http://schemas.microsoft.com/office/drawing/2014/main" id="{BAE7E3ED-B528-4DB1-9ACA-AEF41715E872}"/>
              </a:ext>
            </a:extLst>
          </p:cNvPr>
          <p:cNvSpPr txBox="1"/>
          <p:nvPr/>
        </p:nvSpPr>
        <p:spPr>
          <a:xfrm>
            <a:off x="1751463" y="5727538"/>
            <a:ext cx="8024884" cy="369332"/>
          </a:xfrm>
          <a:prstGeom prst="rect">
            <a:avLst/>
          </a:prstGeom>
          <a:noFill/>
        </p:spPr>
        <p:txBody>
          <a:bodyPr wrap="square" rtlCol="0">
            <a:spAutoFit/>
          </a:bodyPr>
          <a:lstStyle/>
          <a:p>
            <a:r>
              <a:rPr lang="en-US" dirty="0"/>
              <a:t>See ‘</a:t>
            </a:r>
            <a:r>
              <a:rPr lang="en-US" i="1" dirty="0"/>
              <a:t>Bank </a:t>
            </a:r>
            <a:r>
              <a:rPr lang="en-US" i="1" dirty="0" err="1"/>
              <a:t>Example.spfx</a:t>
            </a:r>
            <a:r>
              <a:rPr lang="en-US" dirty="0"/>
              <a:t>’ file for the completed model.</a:t>
            </a:r>
          </a:p>
        </p:txBody>
      </p:sp>
    </p:spTree>
    <p:extLst>
      <p:ext uri="{BB962C8B-B14F-4D97-AF65-F5344CB8AC3E}">
        <p14:creationId xmlns:p14="http://schemas.microsoft.com/office/powerpoint/2010/main" val="5289789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Bank Example: </a:t>
            </a:r>
            <a:r>
              <a:rPr lang="en-US" dirty="0" err="1"/>
              <a:t>Simio</a:t>
            </a:r>
            <a:r>
              <a:rPr lang="en-US" dirty="0"/>
              <a:t> Modeling</a:t>
            </a:r>
          </a:p>
        </p:txBody>
      </p:sp>
      <p:sp>
        <p:nvSpPr>
          <p:cNvPr id="3" name="Content Placeholder 2"/>
          <p:cNvSpPr>
            <a:spLocks noGrp="1"/>
          </p:cNvSpPr>
          <p:nvPr>
            <p:ph idx="1"/>
          </p:nvPr>
        </p:nvSpPr>
        <p:spPr>
          <a:xfrm>
            <a:off x="355002" y="1312432"/>
            <a:ext cx="11478410" cy="5256689"/>
          </a:xfrm>
        </p:spPr>
        <p:txBody>
          <a:bodyPr>
            <a:normAutofit/>
          </a:bodyPr>
          <a:lstStyle/>
          <a:p>
            <a:r>
              <a:rPr lang="en-US" dirty="0" err="1"/>
              <a:t>Simio</a:t>
            </a:r>
            <a:r>
              <a:rPr lang="en-US" dirty="0"/>
              <a:t> model details:</a:t>
            </a:r>
          </a:p>
          <a:p>
            <a:pPr lvl="1"/>
            <a:r>
              <a:rPr lang="en-US" dirty="0"/>
              <a:t>Associating entities with the sources</a:t>
            </a:r>
          </a:p>
          <a:p>
            <a:pPr lvl="1"/>
            <a:endParaRPr lang="en-US" dirty="0"/>
          </a:p>
        </p:txBody>
      </p:sp>
      <p:pic>
        <p:nvPicPr>
          <p:cNvPr id="7" name="Picture 6">
            <a:extLst>
              <a:ext uri="{FF2B5EF4-FFF2-40B4-BE49-F238E27FC236}">
                <a16:creationId xmlns:a16="http://schemas.microsoft.com/office/drawing/2014/main" id="{BD0D2796-DC88-4888-BAEA-6946DD3D7484}"/>
              </a:ext>
            </a:extLst>
          </p:cNvPr>
          <p:cNvPicPr>
            <a:picLocks noChangeAspect="1"/>
          </p:cNvPicPr>
          <p:nvPr/>
        </p:nvPicPr>
        <p:blipFill>
          <a:blip r:embed="rId2"/>
          <a:stretch>
            <a:fillRect/>
          </a:stretch>
        </p:blipFill>
        <p:spPr>
          <a:xfrm>
            <a:off x="1047314" y="2146574"/>
            <a:ext cx="3124564" cy="1619141"/>
          </a:xfrm>
          <a:prstGeom prst="rect">
            <a:avLst/>
          </a:prstGeom>
        </p:spPr>
      </p:pic>
      <p:pic>
        <p:nvPicPr>
          <p:cNvPr id="8" name="Picture 7">
            <a:extLst>
              <a:ext uri="{FF2B5EF4-FFF2-40B4-BE49-F238E27FC236}">
                <a16:creationId xmlns:a16="http://schemas.microsoft.com/office/drawing/2014/main" id="{3B5C9A31-0FD4-4E6F-ADAD-FDD087B91986}"/>
              </a:ext>
            </a:extLst>
          </p:cNvPr>
          <p:cNvPicPr>
            <a:picLocks noChangeAspect="1"/>
          </p:cNvPicPr>
          <p:nvPr/>
        </p:nvPicPr>
        <p:blipFill>
          <a:blip r:embed="rId3"/>
          <a:stretch>
            <a:fillRect/>
          </a:stretch>
        </p:blipFill>
        <p:spPr>
          <a:xfrm>
            <a:off x="6094207" y="2298199"/>
            <a:ext cx="2924202" cy="1467516"/>
          </a:xfrm>
          <a:prstGeom prst="rect">
            <a:avLst/>
          </a:prstGeom>
        </p:spPr>
      </p:pic>
      <p:pic>
        <p:nvPicPr>
          <p:cNvPr id="12" name="Picture 11">
            <a:extLst>
              <a:ext uri="{FF2B5EF4-FFF2-40B4-BE49-F238E27FC236}">
                <a16:creationId xmlns:a16="http://schemas.microsoft.com/office/drawing/2014/main" id="{D9F10EE8-8E2B-4B9C-9353-DA6C9ECC5455}"/>
              </a:ext>
            </a:extLst>
          </p:cNvPr>
          <p:cNvPicPr>
            <a:picLocks noChangeAspect="1"/>
          </p:cNvPicPr>
          <p:nvPr/>
        </p:nvPicPr>
        <p:blipFill>
          <a:blip r:embed="rId4"/>
          <a:stretch>
            <a:fillRect/>
          </a:stretch>
        </p:blipFill>
        <p:spPr>
          <a:xfrm>
            <a:off x="1047314" y="3593769"/>
            <a:ext cx="3670821" cy="2975352"/>
          </a:xfrm>
          <a:prstGeom prst="rect">
            <a:avLst/>
          </a:prstGeom>
        </p:spPr>
      </p:pic>
      <p:pic>
        <p:nvPicPr>
          <p:cNvPr id="13" name="Picture 12">
            <a:extLst>
              <a:ext uri="{FF2B5EF4-FFF2-40B4-BE49-F238E27FC236}">
                <a16:creationId xmlns:a16="http://schemas.microsoft.com/office/drawing/2014/main" id="{3CE946FE-1317-4810-BD4B-750D4772034D}"/>
              </a:ext>
            </a:extLst>
          </p:cNvPr>
          <p:cNvPicPr>
            <a:picLocks noChangeAspect="1"/>
          </p:cNvPicPr>
          <p:nvPr/>
        </p:nvPicPr>
        <p:blipFill>
          <a:blip r:embed="rId5"/>
          <a:stretch>
            <a:fillRect/>
          </a:stretch>
        </p:blipFill>
        <p:spPr>
          <a:xfrm>
            <a:off x="6094207" y="3593769"/>
            <a:ext cx="3608072" cy="2985810"/>
          </a:xfrm>
          <a:prstGeom prst="rect">
            <a:avLst/>
          </a:prstGeom>
        </p:spPr>
      </p:pic>
      <p:sp>
        <p:nvSpPr>
          <p:cNvPr id="9" name="Rectangle: Rounded Corners 8">
            <a:extLst>
              <a:ext uri="{FF2B5EF4-FFF2-40B4-BE49-F238E27FC236}">
                <a16:creationId xmlns:a16="http://schemas.microsoft.com/office/drawing/2014/main" id="{B23A0C83-A279-4097-B6FB-D534BBA85BEF}"/>
              </a:ext>
            </a:extLst>
          </p:cNvPr>
          <p:cNvSpPr/>
          <p:nvPr/>
        </p:nvSpPr>
        <p:spPr>
          <a:xfrm>
            <a:off x="1187356" y="4015086"/>
            <a:ext cx="3257266" cy="250209"/>
          </a:xfrm>
          <a:prstGeom prst="roundRect">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9DC449D3-6987-493B-B76B-6590DC24A78E}"/>
              </a:ext>
            </a:extLst>
          </p:cNvPr>
          <p:cNvSpPr/>
          <p:nvPr/>
        </p:nvSpPr>
        <p:spPr>
          <a:xfrm>
            <a:off x="6182224" y="4015085"/>
            <a:ext cx="3257266" cy="250209"/>
          </a:xfrm>
          <a:prstGeom prst="roundRect">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000495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Bank Example: </a:t>
            </a:r>
            <a:r>
              <a:rPr lang="en-US" dirty="0" err="1"/>
              <a:t>Simio</a:t>
            </a:r>
            <a:r>
              <a:rPr lang="en-US" dirty="0"/>
              <a:t> Modeling</a:t>
            </a:r>
          </a:p>
        </p:txBody>
      </p:sp>
      <p:sp>
        <p:nvSpPr>
          <p:cNvPr id="3" name="Content Placeholder 2"/>
          <p:cNvSpPr>
            <a:spLocks noGrp="1"/>
          </p:cNvSpPr>
          <p:nvPr>
            <p:ph idx="1"/>
          </p:nvPr>
        </p:nvSpPr>
        <p:spPr/>
        <p:txBody>
          <a:bodyPr>
            <a:normAutofit/>
          </a:bodyPr>
          <a:lstStyle/>
          <a:p>
            <a:r>
              <a:rPr lang="en-US" dirty="0"/>
              <a:t>The </a:t>
            </a:r>
            <a:r>
              <a:rPr lang="en-US" dirty="0" err="1"/>
              <a:t>Simio</a:t>
            </a:r>
            <a:r>
              <a:rPr lang="en-US" dirty="0"/>
              <a:t> model:</a:t>
            </a:r>
          </a:p>
          <a:p>
            <a:pPr lvl="1"/>
            <a:r>
              <a:rPr lang="en-US" dirty="0"/>
              <a:t>Suppose that there were two ATM’s at the ATM station</a:t>
            </a:r>
          </a:p>
          <a:p>
            <a:pPr lvl="2"/>
            <a:r>
              <a:rPr lang="en-US" dirty="0"/>
              <a:t>That is, ATM station is M/M/2</a:t>
            </a:r>
          </a:p>
          <a:p>
            <a:pPr lvl="2"/>
            <a:r>
              <a:rPr lang="en-US" dirty="0"/>
              <a:t>We would simply change the capacity of ATM server to 2</a:t>
            </a:r>
          </a:p>
          <a:p>
            <a:endParaRPr lang="en-US" dirty="0"/>
          </a:p>
          <a:p>
            <a:endParaRPr lang="en-US" dirty="0"/>
          </a:p>
          <a:p>
            <a:endParaRPr lang="en-US" dirty="0"/>
          </a:p>
          <a:p>
            <a:endParaRPr lang="en-US" dirty="0"/>
          </a:p>
          <a:p>
            <a:endParaRPr lang="en-US" dirty="0"/>
          </a:p>
          <a:p>
            <a:pPr lvl="1"/>
            <a:endParaRPr lang="en-US" dirty="0"/>
          </a:p>
        </p:txBody>
      </p:sp>
      <p:pic>
        <p:nvPicPr>
          <p:cNvPr id="5" name="Picture 4">
            <a:extLst>
              <a:ext uri="{FF2B5EF4-FFF2-40B4-BE49-F238E27FC236}">
                <a16:creationId xmlns:a16="http://schemas.microsoft.com/office/drawing/2014/main" id="{E644B4AD-0F3D-46B2-B5CC-E489CBDBE8F4}"/>
              </a:ext>
            </a:extLst>
          </p:cNvPr>
          <p:cNvPicPr>
            <a:picLocks noChangeAspect="1"/>
          </p:cNvPicPr>
          <p:nvPr/>
        </p:nvPicPr>
        <p:blipFill>
          <a:blip r:embed="rId2"/>
          <a:stretch>
            <a:fillRect/>
          </a:stretch>
        </p:blipFill>
        <p:spPr>
          <a:xfrm>
            <a:off x="1823575" y="3429000"/>
            <a:ext cx="2598583" cy="1774642"/>
          </a:xfrm>
          <a:prstGeom prst="rect">
            <a:avLst/>
          </a:prstGeom>
        </p:spPr>
      </p:pic>
      <p:pic>
        <p:nvPicPr>
          <p:cNvPr id="9" name="Picture 8">
            <a:extLst>
              <a:ext uri="{FF2B5EF4-FFF2-40B4-BE49-F238E27FC236}">
                <a16:creationId xmlns:a16="http://schemas.microsoft.com/office/drawing/2014/main" id="{89510119-8183-4A4E-8CD1-82B959FE70A9}"/>
              </a:ext>
            </a:extLst>
          </p:cNvPr>
          <p:cNvPicPr>
            <a:picLocks noChangeAspect="1"/>
          </p:cNvPicPr>
          <p:nvPr/>
        </p:nvPicPr>
        <p:blipFill>
          <a:blip r:embed="rId3"/>
          <a:stretch>
            <a:fillRect/>
          </a:stretch>
        </p:blipFill>
        <p:spPr>
          <a:xfrm>
            <a:off x="5687388" y="3061647"/>
            <a:ext cx="3582498" cy="3431227"/>
          </a:xfrm>
          <a:prstGeom prst="rect">
            <a:avLst/>
          </a:prstGeom>
        </p:spPr>
      </p:pic>
      <p:sp>
        <p:nvSpPr>
          <p:cNvPr id="8" name="Rectangle: Rounded Corners 7">
            <a:extLst>
              <a:ext uri="{FF2B5EF4-FFF2-40B4-BE49-F238E27FC236}">
                <a16:creationId xmlns:a16="http://schemas.microsoft.com/office/drawing/2014/main" id="{55C4DDA7-DDBE-44FF-8268-E0DD4F326E7A}"/>
              </a:ext>
            </a:extLst>
          </p:cNvPr>
          <p:cNvSpPr/>
          <p:nvPr/>
        </p:nvSpPr>
        <p:spPr>
          <a:xfrm>
            <a:off x="5795750" y="3580264"/>
            <a:ext cx="3257266" cy="250209"/>
          </a:xfrm>
          <a:prstGeom prst="roundRect">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221264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Bank Example: </a:t>
            </a:r>
            <a:r>
              <a:rPr lang="en-US" dirty="0" err="1"/>
              <a:t>Simio</a:t>
            </a:r>
            <a:r>
              <a:rPr lang="en-US" dirty="0"/>
              <a:t> Modeling</a:t>
            </a:r>
          </a:p>
        </p:txBody>
      </p:sp>
      <p:sp>
        <p:nvSpPr>
          <p:cNvPr id="3" name="Content Placeholder 2"/>
          <p:cNvSpPr>
            <a:spLocks noGrp="1"/>
          </p:cNvSpPr>
          <p:nvPr>
            <p:ph idx="1"/>
          </p:nvPr>
        </p:nvSpPr>
        <p:spPr/>
        <p:txBody>
          <a:bodyPr>
            <a:normAutofit/>
          </a:bodyPr>
          <a:lstStyle/>
          <a:p>
            <a:r>
              <a:rPr lang="en-US" dirty="0"/>
              <a:t>The </a:t>
            </a:r>
            <a:r>
              <a:rPr lang="en-US" dirty="0" err="1"/>
              <a:t>Simio</a:t>
            </a:r>
            <a:r>
              <a:rPr lang="en-US" dirty="0"/>
              <a:t> model:</a:t>
            </a:r>
          </a:p>
          <a:p>
            <a:pPr lvl="1"/>
            <a:r>
              <a:rPr lang="en-US" dirty="0"/>
              <a:t>Selection weights</a:t>
            </a:r>
          </a:p>
          <a:p>
            <a:endParaRPr lang="en-US" dirty="0"/>
          </a:p>
          <a:p>
            <a:endParaRPr lang="en-US" dirty="0"/>
          </a:p>
          <a:p>
            <a:endParaRPr lang="en-US" dirty="0"/>
          </a:p>
          <a:p>
            <a:endParaRPr lang="en-US" dirty="0"/>
          </a:p>
          <a:p>
            <a:endParaRPr lang="en-US" dirty="0"/>
          </a:p>
          <a:p>
            <a:pPr lvl="1"/>
            <a:endParaRPr lang="en-US" dirty="0"/>
          </a:p>
        </p:txBody>
      </p:sp>
      <p:pic>
        <p:nvPicPr>
          <p:cNvPr id="4" name="Picture 3">
            <a:extLst>
              <a:ext uri="{FF2B5EF4-FFF2-40B4-BE49-F238E27FC236}">
                <a16:creationId xmlns:a16="http://schemas.microsoft.com/office/drawing/2014/main" id="{AE614B01-22D7-46A0-A2C0-8ABEAF0F4FDE}"/>
              </a:ext>
            </a:extLst>
          </p:cNvPr>
          <p:cNvPicPr>
            <a:picLocks noChangeAspect="1"/>
          </p:cNvPicPr>
          <p:nvPr/>
        </p:nvPicPr>
        <p:blipFill>
          <a:blip r:embed="rId2"/>
          <a:stretch>
            <a:fillRect/>
          </a:stretch>
        </p:blipFill>
        <p:spPr>
          <a:xfrm>
            <a:off x="1555702" y="2297016"/>
            <a:ext cx="2866172" cy="1120867"/>
          </a:xfrm>
          <a:prstGeom prst="rect">
            <a:avLst/>
          </a:prstGeom>
        </p:spPr>
      </p:pic>
      <p:pic>
        <p:nvPicPr>
          <p:cNvPr id="6" name="Picture 5">
            <a:extLst>
              <a:ext uri="{FF2B5EF4-FFF2-40B4-BE49-F238E27FC236}">
                <a16:creationId xmlns:a16="http://schemas.microsoft.com/office/drawing/2014/main" id="{50A8D239-B81A-43F6-9AA1-51167E9B494D}"/>
              </a:ext>
            </a:extLst>
          </p:cNvPr>
          <p:cNvPicPr>
            <a:picLocks noChangeAspect="1"/>
          </p:cNvPicPr>
          <p:nvPr/>
        </p:nvPicPr>
        <p:blipFill>
          <a:blip r:embed="rId3"/>
          <a:stretch>
            <a:fillRect/>
          </a:stretch>
        </p:blipFill>
        <p:spPr>
          <a:xfrm>
            <a:off x="4178355" y="4198961"/>
            <a:ext cx="2532220" cy="1696516"/>
          </a:xfrm>
          <a:prstGeom prst="rect">
            <a:avLst/>
          </a:prstGeom>
        </p:spPr>
      </p:pic>
      <p:pic>
        <p:nvPicPr>
          <p:cNvPr id="7" name="Picture 6">
            <a:extLst>
              <a:ext uri="{FF2B5EF4-FFF2-40B4-BE49-F238E27FC236}">
                <a16:creationId xmlns:a16="http://schemas.microsoft.com/office/drawing/2014/main" id="{1BC294B1-C910-45FE-BED8-648DD4014B5C}"/>
              </a:ext>
            </a:extLst>
          </p:cNvPr>
          <p:cNvPicPr>
            <a:picLocks noChangeAspect="1"/>
          </p:cNvPicPr>
          <p:nvPr/>
        </p:nvPicPr>
        <p:blipFill>
          <a:blip r:embed="rId4"/>
          <a:stretch>
            <a:fillRect/>
          </a:stretch>
        </p:blipFill>
        <p:spPr>
          <a:xfrm>
            <a:off x="1137242" y="4249182"/>
            <a:ext cx="2514287" cy="1696516"/>
          </a:xfrm>
          <a:prstGeom prst="rect">
            <a:avLst/>
          </a:prstGeom>
        </p:spPr>
      </p:pic>
      <p:pic>
        <p:nvPicPr>
          <p:cNvPr id="10" name="Picture 9">
            <a:extLst>
              <a:ext uri="{FF2B5EF4-FFF2-40B4-BE49-F238E27FC236}">
                <a16:creationId xmlns:a16="http://schemas.microsoft.com/office/drawing/2014/main" id="{48649D24-2116-4825-9CD5-B79A2E02F1B2}"/>
              </a:ext>
            </a:extLst>
          </p:cNvPr>
          <p:cNvPicPr>
            <a:picLocks noChangeAspect="1"/>
          </p:cNvPicPr>
          <p:nvPr/>
        </p:nvPicPr>
        <p:blipFill>
          <a:blip r:embed="rId5"/>
          <a:stretch>
            <a:fillRect/>
          </a:stretch>
        </p:blipFill>
        <p:spPr>
          <a:xfrm>
            <a:off x="9297538" y="3852275"/>
            <a:ext cx="1676400" cy="2019300"/>
          </a:xfrm>
          <a:prstGeom prst="rect">
            <a:avLst/>
          </a:prstGeom>
        </p:spPr>
      </p:pic>
      <p:cxnSp>
        <p:nvCxnSpPr>
          <p:cNvPr id="12" name="Straight Arrow Connector 11">
            <a:extLst>
              <a:ext uri="{FF2B5EF4-FFF2-40B4-BE49-F238E27FC236}">
                <a16:creationId xmlns:a16="http://schemas.microsoft.com/office/drawing/2014/main" id="{CC5CEB86-C522-40D0-987B-48625E6A5995}"/>
              </a:ext>
            </a:extLst>
          </p:cNvPr>
          <p:cNvCxnSpPr/>
          <p:nvPr/>
        </p:nvCxnSpPr>
        <p:spPr>
          <a:xfrm flipH="1">
            <a:off x="2394385" y="3289111"/>
            <a:ext cx="803740" cy="84161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4" name="Straight Arrow Connector 13">
            <a:extLst>
              <a:ext uri="{FF2B5EF4-FFF2-40B4-BE49-F238E27FC236}">
                <a16:creationId xmlns:a16="http://schemas.microsoft.com/office/drawing/2014/main" id="{7AE34219-C39A-42C9-A095-CAFBADD171A3}"/>
              </a:ext>
            </a:extLst>
          </p:cNvPr>
          <p:cNvCxnSpPr/>
          <p:nvPr/>
        </p:nvCxnSpPr>
        <p:spPr>
          <a:xfrm>
            <a:off x="3903259" y="2857449"/>
            <a:ext cx="746078" cy="134151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5" name="Rectangle: Rounded Corners 14">
            <a:extLst>
              <a:ext uri="{FF2B5EF4-FFF2-40B4-BE49-F238E27FC236}">
                <a16:creationId xmlns:a16="http://schemas.microsoft.com/office/drawing/2014/main" id="{D0687D79-5C85-45C6-A675-0C7DD0748E05}"/>
              </a:ext>
            </a:extLst>
          </p:cNvPr>
          <p:cNvSpPr/>
          <p:nvPr/>
        </p:nvSpPr>
        <p:spPr>
          <a:xfrm>
            <a:off x="1137242" y="5239632"/>
            <a:ext cx="2550450" cy="250209"/>
          </a:xfrm>
          <a:prstGeom prst="roundRect">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3AEA495B-E5C5-4315-8CB0-41A11CAD5EB8}"/>
              </a:ext>
            </a:extLst>
          </p:cNvPr>
          <p:cNvSpPr/>
          <p:nvPr/>
        </p:nvSpPr>
        <p:spPr>
          <a:xfrm>
            <a:off x="4214518" y="5178188"/>
            <a:ext cx="2550450" cy="250209"/>
          </a:xfrm>
          <a:prstGeom prst="roundRect">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7" name="TextBox 16">
            <a:extLst>
              <a:ext uri="{FF2B5EF4-FFF2-40B4-BE49-F238E27FC236}">
                <a16:creationId xmlns:a16="http://schemas.microsoft.com/office/drawing/2014/main" id="{69C46799-C167-4804-91FB-86C99E71C641}"/>
              </a:ext>
            </a:extLst>
          </p:cNvPr>
          <p:cNvSpPr txBox="1"/>
          <p:nvPr/>
        </p:nvSpPr>
        <p:spPr>
          <a:xfrm>
            <a:off x="1278339" y="5938759"/>
            <a:ext cx="6619164" cy="738664"/>
          </a:xfrm>
          <a:prstGeom prst="rect">
            <a:avLst/>
          </a:prstGeom>
          <a:noFill/>
        </p:spPr>
        <p:txBody>
          <a:bodyPr wrap="square" rtlCol="0">
            <a:spAutoFit/>
          </a:bodyPr>
          <a:lstStyle/>
          <a:p>
            <a:r>
              <a:rPr lang="en-US" sz="1400" dirty="0"/>
              <a:t>Probability of selecting a path: (weight of the path) / (total weight)</a:t>
            </a:r>
          </a:p>
          <a:p>
            <a:r>
              <a:rPr lang="en-US" sz="1400" dirty="0">
                <a:sym typeface="Wingdings" panose="05000000000000000000" pitchFamily="2" charset="2"/>
              </a:rPr>
              <a:t>For path 3 (going to sink 1 from ATM): probability of path 3 = 90/ (90+10) = 0.9</a:t>
            </a:r>
          </a:p>
          <a:p>
            <a:r>
              <a:rPr lang="en-US" sz="1400" dirty="0">
                <a:sym typeface="Wingdings" panose="05000000000000000000" pitchFamily="2" charset="2"/>
              </a:rPr>
              <a:t>For path 4 (going to sink Manager from ATM): probability of path 4 = 10/ (90+10) = 0.1</a:t>
            </a:r>
            <a:endParaRPr lang="en-US" sz="1400" dirty="0"/>
          </a:p>
        </p:txBody>
      </p:sp>
      <p:sp>
        <p:nvSpPr>
          <p:cNvPr id="18" name="TextBox 17">
            <a:extLst>
              <a:ext uri="{FF2B5EF4-FFF2-40B4-BE49-F238E27FC236}">
                <a16:creationId xmlns:a16="http://schemas.microsoft.com/office/drawing/2014/main" id="{1CA20147-8071-4D10-8330-EA0C9D5A63E6}"/>
              </a:ext>
            </a:extLst>
          </p:cNvPr>
          <p:cNvSpPr txBox="1"/>
          <p:nvPr/>
        </p:nvSpPr>
        <p:spPr>
          <a:xfrm>
            <a:off x="8557145" y="3221478"/>
            <a:ext cx="2643120" cy="523220"/>
          </a:xfrm>
          <a:prstGeom prst="rect">
            <a:avLst/>
          </a:prstGeom>
          <a:noFill/>
        </p:spPr>
        <p:txBody>
          <a:bodyPr wrap="square" rtlCol="0">
            <a:spAutoFit/>
          </a:bodyPr>
          <a:lstStyle/>
          <a:p>
            <a:r>
              <a:rPr lang="en-US" sz="1400" dirty="0"/>
              <a:t>Same idea applies to the other connecting objects:</a:t>
            </a:r>
          </a:p>
        </p:txBody>
      </p:sp>
    </p:spTree>
    <p:extLst>
      <p:ext uri="{BB962C8B-B14F-4D97-AF65-F5344CB8AC3E}">
        <p14:creationId xmlns:p14="http://schemas.microsoft.com/office/powerpoint/2010/main" val="992016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p:bldP spid="1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Bank Example</a:t>
            </a:r>
          </a:p>
        </p:txBody>
      </p:sp>
      <p:sp>
        <p:nvSpPr>
          <p:cNvPr id="3" name="Content Placeholder 2"/>
          <p:cNvSpPr>
            <a:spLocks noGrp="1"/>
          </p:cNvSpPr>
          <p:nvPr>
            <p:ph idx="1"/>
          </p:nvPr>
        </p:nvSpPr>
        <p:spPr>
          <a:xfrm>
            <a:off x="355002" y="1312432"/>
            <a:ext cx="11478410" cy="5256689"/>
          </a:xfrm>
        </p:spPr>
        <p:txBody>
          <a:bodyPr>
            <a:normAutofit/>
          </a:bodyPr>
          <a:lstStyle/>
          <a:p>
            <a:r>
              <a:rPr lang="en-US" dirty="0"/>
              <a:t>Model Verification:</a:t>
            </a:r>
          </a:p>
          <a:p>
            <a:pPr lvl="1"/>
            <a:r>
              <a:rPr lang="en-US" dirty="0"/>
              <a:t>Queueing theory results: Jackson Network</a:t>
            </a:r>
          </a:p>
          <a:p>
            <a:pPr lvl="1"/>
            <a:endParaRPr lang="en-US" dirty="0"/>
          </a:p>
          <a:p>
            <a:pPr lvl="1"/>
            <a:endParaRPr lang="en-US" dirty="0"/>
          </a:p>
          <a:p>
            <a:pPr lvl="1"/>
            <a:endParaRPr lang="en-US" dirty="0"/>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A606C90D-6B8F-4DC1-A7FB-40ED26DA5F63}"/>
                  </a:ext>
                </a:extLst>
              </p:cNvPr>
              <p:cNvGraphicFramePr>
                <a:graphicFrameLocks noGrp="1"/>
              </p:cNvGraphicFramePr>
              <p:nvPr/>
            </p:nvGraphicFramePr>
            <p:xfrm>
              <a:off x="7247666" y="2429050"/>
              <a:ext cx="4139027" cy="3369818"/>
            </p:xfrm>
            <a:graphic>
              <a:graphicData uri="http://schemas.openxmlformats.org/drawingml/2006/table">
                <a:tbl>
                  <a:tblPr firstRow="1" bandRow="1">
                    <a:tableStyleId>{5940675A-B579-460E-94D1-54222C63F5DA}</a:tableStyleId>
                  </a:tblPr>
                  <a:tblGrid>
                    <a:gridCol w="1016000">
                      <a:extLst>
                        <a:ext uri="{9D8B030D-6E8A-4147-A177-3AD203B41FA5}">
                          <a16:colId xmlns:a16="http://schemas.microsoft.com/office/drawing/2014/main" val="4060064103"/>
                        </a:ext>
                      </a:extLst>
                    </a:gridCol>
                    <a:gridCol w="1016000">
                      <a:extLst>
                        <a:ext uri="{9D8B030D-6E8A-4147-A177-3AD203B41FA5}">
                          <a16:colId xmlns:a16="http://schemas.microsoft.com/office/drawing/2014/main" val="816248748"/>
                        </a:ext>
                      </a:extLst>
                    </a:gridCol>
                    <a:gridCol w="1016000">
                      <a:extLst>
                        <a:ext uri="{9D8B030D-6E8A-4147-A177-3AD203B41FA5}">
                          <a16:colId xmlns:a16="http://schemas.microsoft.com/office/drawing/2014/main" val="577144818"/>
                        </a:ext>
                      </a:extLst>
                    </a:gridCol>
                    <a:gridCol w="1091027">
                      <a:extLst>
                        <a:ext uri="{9D8B030D-6E8A-4147-A177-3AD203B41FA5}">
                          <a16:colId xmlns:a16="http://schemas.microsoft.com/office/drawing/2014/main" val="3336146775"/>
                        </a:ext>
                      </a:extLst>
                    </a:gridCol>
                  </a:tblGrid>
                  <a:tr h="370840">
                    <a:tc>
                      <a:txBody>
                        <a:bodyPr/>
                        <a:lstStyle/>
                        <a:p>
                          <a:endParaRPr lang="en-US" dirty="0"/>
                        </a:p>
                      </a:txBody>
                      <a:tcPr/>
                    </a:tc>
                    <a:tc>
                      <a:txBody>
                        <a:bodyPr/>
                        <a:lstStyle/>
                        <a:p>
                          <a:r>
                            <a:rPr lang="en-US" dirty="0"/>
                            <a:t>ATM</a:t>
                          </a:r>
                        </a:p>
                      </a:txBody>
                      <a:tcPr/>
                    </a:tc>
                    <a:tc>
                      <a:txBody>
                        <a:bodyPr/>
                        <a:lstStyle/>
                        <a:p>
                          <a:r>
                            <a:rPr lang="en-US" dirty="0"/>
                            <a:t>Teller</a:t>
                          </a:r>
                        </a:p>
                      </a:txBody>
                      <a:tcPr/>
                    </a:tc>
                    <a:tc>
                      <a:txBody>
                        <a:bodyPr/>
                        <a:lstStyle/>
                        <a:p>
                          <a:r>
                            <a:rPr lang="en-US" dirty="0"/>
                            <a:t>Manager</a:t>
                          </a:r>
                        </a:p>
                      </a:txBody>
                      <a:tcPr/>
                    </a:tc>
                    <a:extLst>
                      <a:ext uri="{0D108BD9-81ED-4DB2-BD59-A6C34878D82A}">
                        <a16:rowId xmlns:a16="http://schemas.microsoft.com/office/drawing/2014/main" val="1765963576"/>
                      </a:ext>
                    </a:extLst>
                  </a:tr>
                  <a:tr h="370840">
                    <a:tc>
                      <a:txBody>
                        <a:bodyPr/>
                        <a:lstStyle/>
                        <a:p>
                          <a:r>
                            <a:rPr lang="en-US" dirty="0"/>
                            <a:t>System</a:t>
                          </a:r>
                        </a:p>
                      </a:txBody>
                      <a:tcPr/>
                    </a:tc>
                    <a:tc>
                      <a:txBody>
                        <a:bodyPr/>
                        <a:lstStyle/>
                        <a:p>
                          <a:r>
                            <a:rPr lang="en-US" dirty="0"/>
                            <a:t>M/M/1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M/M/1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M/M/1</a:t>
                          </a:r>
                        </a:p>
                      </a:txBody>
                      <a:tcPr/>
                    </a:tc>
                    <a:extLst>
                      <a:ext uri="{0D108BD9-81ED-4DB2-BD59-A6C34878D82A}">
                        <a16:rowId xmlns:a16="http://schemas.microsoft.com/office/drawing/2014/main" val="2964019700"/>
                      </a:ext>
                    </a:extLst>
                  </a:tr>
                  <a:tr h="370840">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oMath>
                            </m:oMathPara>
                          </a14:m>
                          <a:endParaRPr lang="en-US" dirty="0"/>
                        </a:p>
                      </a:txBody>
                      <a:tcPr/>
                    </a:tc>
                    <a:tc>
                      <a:txBody>
                        <a:bodyPr/>
                        <a:lstStyle/>
                        <a:p>
                          <a:r>
                            <a:rPr lang="en-US" dirty="0"/>
                            <a:t>10/</a:t>
                          </a:r>
                          <a:r>
                            <a:rPr lang="en-US" dirty="0" err="1"/>
                            <a:t>hr</a:t>
                          </a:r>
                          <a:endParaRPr lang="en-US" dirty="0"/>
                        </a:p>
                      </a:txBody>
                      <a:tcPr/>
                    </a:tc>
                    <a:tc>
                      <a:txBody>
                        <a:bodyPr/>
                        <a:lstStyle/>
                        <a:p>
                          <a:r>
                            <a:rPr lang="en-US" dirty="0"/>
                            <a:t>5/</a:t>
                          </a:r>
                          <a:r>
                            <a:rPr lang="en-US" dirty="0" err="1"/>
                            <a:t>hr</a:t>
                          </a:r>
                          <a:endParaRPr lang="en-US" dirty="0"/>
                        </a:p>
                      </a:txBody>
                      <a:tcPr/>
                    </a:tc>
                    <a:tc>
                      <a:txBody>
                        <a:bodyPr/>
                        <a:lstStyle/>
                        <a:p>
                          <a:r>
                            <a:rPr lang="en-US" dirty="0"/>
                            <a:t>1.5/</a:t>
                          </a:r>
                          <a:r>
                            <a:rPr lang="en-US" dirty="0" err="1"/>
                            <a:t>hr</a:t>
                          </a:r>
                          <a:endParaRPr lang="en-US" dirty="0"/>
                        </a:p>
                      </a:txBody>
                      <a:tcPr/>
                    </a:tc>
                    <a:extLst>
                      <a:ext uri="{0D108BD9-81ED-4DB2-BD59-A6C34878D82A}">
                        <a16:rowId xmlns:a16="http://schemas.microsoft.com/office/drawing/2014/main" val="2201434424"/>
                      </a:ext>
                    </a:extLst>
                  </a:tr>
                  <a:tr h="370840">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oMath>
                            </m:oMathPara>
                          </a14:m>
                          <a:endParaRPr lang="en-US" dirty="0"/>
                        </a:p>
                      </a:txBody>
                      <a:tcPr/>
                    </a:tc>
                    <a:tc>
                      <a:txBody>
                        <a:bodyPr/>
                        <a:lstStyle/>
                        <a:p>
                          <a:r>
                            <a:rPr lang="en-US" dirty="0"/>
                            <a:t>15/</a:t>
                          </a:r>
                          <a:r>
                            <a:rPr lang="en-US" dirty="0" err="1"/>
                            <a:t>hr</a:t>
                          </a:r>
                          <a:endParaRPr lang="en-US" dirty="0"/>
                        </a:p>
                      </a:txBody>
                      <a:tcPr/>
                    </a:tc>
                    <a:tc>
                      <a:txBody>
                        <a:bodyPr/>
                        <a:lstStyle/>
                        <a:p>
                          <a:r>
                            <a:rPr lang="en-US" dirty="0"/>
                            <a:t>8.57/</a:t>
                          </a:r>
                          <a:r>
                            <a:rPr lang="en-US" dirty="0" err="1"/>
                            <a:t>hr</a:t>
                          </a:r>
                          <a:endParaRPr lang="en-US" dirty="0"/>
                        </a:p>
                      </a:txBody>
                      <a:tcPr/>
                    </a:tc>
                    <a:tc>
                      <a:txBody>
                        <a:bodyPr/>
                        <a:lstStyle/>
                        <a:p>
                          <a:r>
                            <a:rPr lang="en-US" dirty="0"/>
                            <a:t>3/</a:t>
                          </a:r>
                          <a:r>
                            <a:rPr lang="en-US" dirty="0" err="1"/>
                            <a:t>hr</a:t>
                          </a:r>
                          <a:endParaRPr lang="en-US" dirty="0"/>
                        </a:p>
                      </a:txBody>
                      <a:tcPr/>
                    </a:tc>
                    <a:extLst>
                      <a:ext uri="{0D108BD9-81ED-4DB2-BD59-A6C34878D82A}">
                        <a16:rowId xmlns:a16="http://schemas.microsoft.com/office/drawing/2014/main" val="4116461705"/>
                      </a:ext>
                    </a:extLst>
                  </a:tr>
                  <a:tr h="370840">
                    <a:tc>
                      <a:txBody>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𝜌</m:t>
                                </m:r>
                              </m:oMath>
                            </m:oMathPara>
                          </a14:m>
                          <a:endParaRPr lang="en-US" dirty="0"/>
                        </a:p>
                      </a:txBody>
                      <a:tcPr/>
                    </a:tc>
                    <a:tc>
                      <a:txBody>
                        <a:bodyPr/>
                        <a:lstStyle/>
                        <a:p>
                          <a:r>
                            <a:rPr lang="en-US" dirty="0"/>
                            <a:t>66.67%</a:t>
                          </a:r>
                        </a:p>
                      </a:txBody>
                      <a:tcPr/>
                    </a:tc>
                    <a:tc>
                      <a:txBody>
                        <a:bodyPr/>
                        <a:lstStyle/>
                        <a:p>
                          <a:r>
                            <a:rPr lang="en-US" dirty="0"/>
                            <a:t>58.34%</a:t>
                          </a:r>
                        </a:p>
                      </a:txBody>
                      <a:tcPr/>
                    </a:tc>
                    <a:tc>
                      <a:txBody>
                        <a:bodyPr/>
                        <a:lstStyle/>
                        <a:p>
                          <a:r>
                            <a:rPr lang="en-US" dirty="0"/>
                            <a:t>50%</a:t>
                          </a:r>
                        </a:p>
                      </a:txBody>
                      <a:tcPr/>
                    </a:tc>
                    <a:extLst>
                      <a:ext uri="{0D108BD9-81ED-4DB2-BD59-A6C34878D82A}">
                        <a16:rowId xmlns:a16="http://schemas.microsoft.com/office/drawing/2014/main" val="191135743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m:t>
                                </m:r>
                              </m:oMath>
                            </m:oMathPara>
                          </a14:m>
                          <a:endParaRPr lang="en-US" dirty="0"/>
                        </a:p>
                      </a:txBody>
                      <a:tcPr/>
                    </a:tc>
                    <a:tc>
                      <a:txBody>
                        <a:bodyPr/>
                        <a:lstStyle/>
                        <a:p>
                          <a:r>
                            <a:rPr lang="en-US" dirty="0"/>
                            <a:t>2</a:t>
                          </a:r>
                        </a:p>
                      </a:txBody>
                      <a:tcPr/>
                    </a:tc>
                    <a:tc>
                      <a:txBody>
                        <a:bodyPr/>
                        <a:lstStyle/>
                        <a:p>
                          <a:r>
                            <a:rPr lang="en-US" dirty="0"/>
                            <a:t>1.4</a:t>
                          </a:r>
                        </a:p>
                      </a:txBody>
                      <a:tcPr/>
                    </a:tc>
                    <a:tc>
                      <a:txBody>
                        <a:bodyPr/>
                        <a:lstStyle/>
                        <a:p>
                          <a:r>
                            <a:rPr lang="en-US" dirty="0"/>
                            <a:t>1</a:t>
                          </a:r>
                        </a:p>
                      </a:txBody>
                      <a:tcPr/>
                    </a:tc>
                    <a:extLst>
                      <a:ext uri="{0D108BD9-81ED-4DB2-BD59-A6C34878D82A}">
                        <a16:rowId xmlns:a16="http://schemas.microsoft.com/office/drawing/2014/main" val="1430827179"/>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𝑞</m:t>
                                    </m:r>
                                  </m:sub>
                                </m:sSub>
                              </m:oMath>
                            </m:oMathPara>
                          </a14:m>
                          <a:endParaRPr lang="en-US" dirty="0"/>
                        </a:p>
                      </a:txBody>
                      <a:tcPr/>
                    </a:tc>
                    <a:tc>
                      <a:txBody>
                        <a:bodyPr/>
                        <a:lstStyle/>
                        <a:p>
                          <a:r>
                            <a:rPr lang="en-US" dirty="0"/>
                            <a:t>1.33</a:t>
                          </a:r>
                        </a:p>
                      </a:txBody>
                      <a:tcPr/>
                    </a:tc>
                    <a:tc>
                      <a:txBody>
                        <a:bodyPr/>
                        <a:lstStyle/>
                        <a:p>
                          <a:r>
                            <a:rPr lang="en-US" dirty="0"/>
                            <a:t>0.817</a:t>
                          </a:r>
                        </a:p>
                      </a:txBody>
                      <a:tcPr/>
                    </a:tc>
                    <a:tc>
                      <a:txBody>
                        <a:bodyPr/>
                        <a:lstStyle/>
                        <a:p>
                          <a:r>
                            <a:rPr lang="en-US" dirty="0"/>
                            <a:t>0.5</a:t>
                          </a:r>
                        </a:p>
                      </a:txBody>
                      <a:tcPr/>
                    </a:tc>
                    <a:extLst>
                      <a:ext uri="{0D108BD9-81ED-4DB2-BD59-A6C34878D82A}">
                        <a16:rowId xmlns:a16="http://schemas.microsoft.com/office/drawing/2014/main" val="3901378515"/>
                      </a:ext>
                    </a:extLst>
                  </a:tr>
                  <a:tr h="370840">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𝑊</m:t>
                                </m:r>
                              </m:oMath>
                            </m:oMathPara>
                          </a14:m>
                          <a:endParaRPr lang="en-US" dirty="0"/>
                        </a:p>
                      </a:txBody>
                      <a:tcPr/>
                    </a:tc>
                    <a:tc>
                      <a:txBody>
                        <a:bodyPr/>
                        <a:lstStyle/>
                        <a:p>
                          <a:r>
                            <a:rPr lang="en-US" dirty="0"/>
                            <a:t>0.2 </a:t>
                          </a:r>
                          <a:r>
                            <a:rPr lang="en-US" dirty="0" err="1"/>
                            <a:t>hrs</a:t>
                          </a:r>
                          <a:endParaRPr lang="en-US" dirty="0"/>
                        </a:p>
                      </a:txBody>
                      <a:tcPr/>
                    </a:tc>
                    <a:tc>
                      <a:txBody>
                        <a:bodyPr/>
                        <a:lstStyle/>
                        <a:p>
                          <a:r>
                            <a:rPr lang="en-US" dirty="0"/>
                            <a:t>0.28 </a:t>
                          </a:r>
                          <a:r>
                            <a:rPr lang="en-US" dirty="0" err="1"/>
                            <a:t>hrs</a:t>
                          </a:r>
                          <a:endParaRPr lang="en-US" dirty="0"/>
                        </a:p>
                      </a:txBody>
                      <a:tcPr/>
                    </a:tc>
                    <a:tc>
                      <a:txBody>
                        <a:bodyPr/>
                        <a:lstStyle/>
                        <a:p>
                          <a:r>
                            <a:rPr lang="en-US" dirty="0"/>
                            <a:t>0.66 </a:t>
                          </a:r>
                          <a:r>
                            <a:rPr lang="en-US" dirty="0" err="1"/>
                            <a:t>hrs</a:t>
                          </a:r>
                          <a:endParaRPr lang="en-US" dirty="0"/>
                        </a:p>
                      </a:txBody>
                      <a:tcPr/>
                    </a:tc>
                    <a:extLst>
                      <a:ext uri="{0D108BD9-81ED-4DB2-BD59-A6C34878D82A}">
                        <a16:rowId xmlns:a16="http://schemas.microsoft.com/office/drawing/2014/main" val="3666472031"/>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𝑞</m:t>
                                    </m:r>
                                  </m:sub>
                                </m:sSub>
                              </m:oMath>
                            </m:oMathPara>
                          </a14:m>
                          <a:endParaRPr lang="en-US" dirty="0"/>
                        </a:p>
                      </a:txBody>
                      <a:tcPr/>
                    </a:tc>
                    <a:tc>
                      <a:txBody>
                        <a:bodyPr/>
                        <a:lstStyle/>
                        <a:p>
                          <a:r>
                            <a:rPr lang="en-US" dirty="0"/>
                            <a:t>0.13 </a:t>
                          </a:r>
                          <a:r>
                            <a:rPr lang="en-US" dirty="0" err="1"/>
                            <a:t>hrs</a:t>
                          </a:r>
                          <a:endParaRPr lang="en-US" dirty="0"/>
                        </a:p>
                      </a:txBody>
                      <a:tcPr/>
                    </a:tc>
                    <a:tc>
                      <a:txBody>
                        <a:bodyPr/>
                        <a:lstStyle/>
                        <a:p>
                          <a:r>
                            <a:rPr lang="en-US" dirty="0"/>
                            <a:t>0.16 </a:t>
                          </a:r>
                          <a:r>
                            <a:rPr lang="en-US" dirty="0" err="1"/>
                            <a:t>hrs</a:t>
                          </a:r>
                          <a:endParaRPr lang="en-US" dirty="0"/>
                        </a:p>
                      </a:txBody>
                      <a:tcPr/>
                    </a:tc>
                    <a:tc>
                      <a:txBody>
                        <a:bodyPr/>
                        <a:lstStyle/>
                        <a:p>
                          <a:r>
                            <a:rPr lang="en-US" dirty="0"/>
                            <a:t>0.33 </a:t>
                          </a:r>
                          <a:r>
                            <a:rPr lang="en-US" dirty="0" err="1"/>
                            <a:t>hrs</a:t>
                          </a:r>
                          <a:endParaRPr lang="en-US" dirty="0"/>
                        </a:p>
                      </a:txBody>
                      <a:tcPr/>
                    </a:tc>
                    <a:extLst>
                      <a:ext uri="{0D108BD9-81ED-4DB2-BD59-A6C34878D82A}">
                        <a16:rowId xmlns:a16="http://schemas.microsoft.com/office/drawing/2014/main" val="247016900"/>
                      </a:ext>
                    </a:extLst>
                  </a:tr>
                </a:tbl>
              </a:graphicData>
            </a:graphic>
          </p:graphicFrame>
        </mc:Choice>
        <mc:Fallback xmlns="">
          <p:graphicFrame>
            <p:nvGraphicFramePr>
              <p:cNvPr id="4" name="Table 3">
                <a:extLst>
                  <a:ext uri="{FF2B5EF4-FFF2-40B4-BE49-F238E27FC236}">
                    <a16:creationId xmlns:a16="http://schemas.microsoft.com/office/drawing/2014/main" id="{A606C90D-6B8F-4DC1-A7FB-40ED26DA5F63}"/>
                  </a:ext>
                </a:extLst>
              </p:cNvPr>
              <p:cNvGraphicFramePr>
                <a:graphicFrameLocks noGrp="1"/>
              </p:cNvGraphicFramePr>
              <p:nvPr>
                <p:extLst>
                  <p:ext uri="{D42A27DB-BD31-4B8C-83A1-F6EECF244321}">
                    <p14:modId xmlns:p14="http://schemas.microsoft.com/office/powerpoint/2010/main" val="1818510286"/>
                  </p:ext>
                </p:extLst>
              </p:nvPr>
            </p:nvGraphicFramePr>
            <p:xfrm>
              <a:off x="7247666" y="2429050"/>
              <a:ext cx="4139027" cy="3369818"/>
            </p:xfrm>
            <a:graphic>
              <a:graphicData uri="http://schemas.openxmlformats.org/drawingml/2006/table">
                <a:tbl>
                  <a:tblPr firstRow="1" bandRow="1">
                    <a:tableStyleId>{5940675A-B579-460E-94D1-54222C63F5DA}</a:tableStyleId>
                  </a:tblPr>
                  <a:tblGrid>
                    <a:gridCol w="1016000">
                      <a:extLst>
                        <a:ext uri="{9D8B030D-6E8A-4147-A177-3AD203B41FA5}">
                          <a16:colId xmlns:a16="http://schemas.microsoft.com/office/drawing/2014/main" val="4060064103"/>
                        </a:ext>
                      </a:extLst>
                    </a:gridCol>
                    <a:gridCol w="1016000">
                      <a:extLst>
                        <a:ext uri="{9D8B030D-6E8A-4147-A177-3AD203B41FA5}">
                          <a16:colId xmlns:a16="http://schemas.microsoft.com/office/drawing/2014/main" val="816248748"/>
                        </a:ext>
                      </a:extLst>
                    </a:gridCol>
                    <a:gridCol w="1016000">
                      <a:extLst>
                        <a:ext uri="{9D8B030D-6E8A-4147-A177-3AD203B41FA5}">
                          <a16:colId xmlns:a16="http://schemas.microsoft.com/office/drawing/2014/main" val="577144818"/>
                        </a:ext>
                      </a:extLst>
                    </a:gridCol>
                    <a:gridCol w="1091027">
                      <a:extLst>
                        <a:ext uri="{9D8B030D-6E8A-4147-A177-3AD203B41FA5}">
                          <a16:colId xmlns:a16="http://schemas.microsoft.com/office/drawing/2014/main" val="3336146775"/>
                        </a:ext>
                      </a:extLst>
                    </a:gridCol>
                  </a:tblGrid>
                  <a:tr h="370840">
                    <a:tc>
                      <a:txBody>
                        <a:bodyPr/>
                        <a:lstStyle/>
                        <a:p>
                          <a:endParaRPr lang="en-US" dirty="0"/>
                        </a:p>
                      </a:txBody>
                      <a:tcPr/>
                    </a:tc>
                    <a:tc>
                      <a:txBody>
                        <a:bodyPr/>
                        <a:lstStyle/>
                        <a:p>
                          <a:r>
                            <a:rPr lang="en-US" dirty="0"/>
                            <a:t>ATM</a:t>
                          </a:r>
                        </a:p>
                      </a:txBody>
                      <a:tcPr/>
                    </a:tc>
                    <a:tc>
                      <a:txBody>
                        <a:bodyPr/>
                        <a:lstStyle/>
                        <a:p>
                          <a:r>
                            <a:rPr lang="en-US" dirty="0"/>
                            <a:t>Teller</a:t>
                          </a:r>
                        </a:p>
                      </a:txBody>
                      <a:tcPr/>
                    </a:tc>
                    <a:tc>
                      <a:txBody>
                        <a:bodyPr/>
                        <a:lstStyle/>
                        <a:p>
                          <a:r>
                            <a:rPr lang="en-US" dirty="0"/>
                            <a:t>Manager</a:t>
                          </a:r>
                        </a:p>
                      </a:txBody>
                      <a:tcPr/>
                    </a:tc>
                    <a:extLst>
                      <a:ext uri="{0D108BD9-81ED-4DB2-BD59-A6C34878D82A}">
                        <a16:rowId xmlns:a16="http://schemas.microsoft.com/office/drawing/2014/main" val="1765963576"/>
                      </a:ext>
                    </a:extLst>
                  </a:tr>
                  <a:tr h="370840">
                    <a:tc>
                      <a:txBody>
                        <a:bodyPr/>
                        <a:lstStyle/>
                        <a:p>
                          <a:r>
                            <a:rPr lang="en-US" dirty="0"/>
                            <a:t>System</a:t>
                          </a:r>
                        </a:p>
                      </a:txBody>
                      <a:tcPr/>
                    </a:tc>
                    <a:tc>
                      <a:txBody>
                        <a:bodyPr/>
                        <a:lstStyle/>
                        <a:p>
                          <a:r>
                            <a:rPr lang="en-US" dirty="0"/>
                            <a:t>M/M/1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M/M/1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M/M/1</a:t>
                          </a:r>
                        </a:p>
                      </a:txBody>
                      <a:tcPr/>
                    </a:tc>
                    <a:extLst>
                      <a:ext uri="{0D108BD9-81ED-4DB2-BD59-A6C34878D82A}">
                        <a16:rowId xmlns:a16="http://schemas.microsoft.com/office/drawing/2014/main" val="2964019700"/>
                      </a:ext>
                    </a:extLst>
                  </a:tr>
                  <a:tr h="370840">
                    <a:tc>
                      <a:txBody>
                        <a:bodyPr/>
                        <a:lstStyle/>
                        <a:p>
                          <a:endParaRPr lang="en-US"/>
                        </a:p>
                      </a:txBody>
                      <a:tcPr>
                        <a:blipFill>
                          <a:blip r:embed="rId2"/>
                          <a:stretch>
                            <a:fillRect l="-599" t="-208197" r="-308383" b="-627869"/>
                          </a:stretch>
                        </a:blipFill>
                      </a:tcPr>
                    </a:tc>
                    <a:tc>
                      <a:txBody>
                        <a:bodyPr/>
                        <a:lstStyle/>
                        <a:p>
                          <a:r>
                            <a:rPr lang="en-US" dirty="0"/>
                            <a:t>10/</a:t>
                          </a:r>
                          <a:r>
                            <a:rPr lang="en-US" dirty="0" err="1"/>
                            <a:t>hr</a:t>
                          </a:r>
                          <a:endParaRPr lang="en-US" dirty="0"/>
                        </a:p>
                      </a:txBody>
                      <a:tcPr/>
                    </a:tc>
                    <a:tc>
                      <a:txBody>
                        <a:bodyPr/>
                        <a:lstStyle/>
                        <a:p>
                          <a:r>
                            <a:rPr lang="en-US" dirty="0"/>
                            <a:t>5/</a:t>
                          </a:r>
                          <a:r>
                            <a:rPr lang="en-US" dirty="0" err="1"/>
                            <a:t>hr</a:t>
                          </a:r>
                          <a:endParaRPr lang="en-US" dirty="0"/>
                        </a:p>
                      </a:txBody>
                      <a:tcPr/>
                    </a:tc>
                    <a:tc>
                      <a:txBody>
                        <a:bodyPr/>
                        <a:lstStyle/>
                        <a:p>
                          <a:r>
                            <a:rPr lang="en-US" dirty="0"/>
                            <a:t>1.5/</a:t>
                          </a:r>
                          <a:r>
                            <a:rPr lang="en-US" dirty="0" err="1"/>
                            <a:t>hr</a:t>
                          </a:r>
                          <a:endParaRPr lang="en-US" dirty="0"/>
                        </a:p>
                      </a:txBody>
                      <a:tcPr/>
                    </a:tc>
                    <a:extLst>
                      <a:ext uri="{0D108BD9-81ED-4DB2-BD59-A6C34878D82A}">
                        <a16:rowId xmlns:a16="http://schemas.microsoft.com/office/drawing/2014/main" val="2201434424"/>
                      </a:ext>
                    </a:extLst>
                  </a:tr>
                  <a:tr h="370840">
                    <a:tc>
                      <a:txBody>
                        <a:bodyPr/>
                        <a:lstStyle/>
                        <a:p>
                          <a:endParaRPr lang="en-US"/>
                        </a:p>
                      </a:txBody>
                      <a:tcPr>
                        <a:blipFill>
                          <a:blip r:embed="rId2"/>
                          <a:stretch>
                            <a:fillRect l="-599" t="-308197" r="-308383" b="-527869"/>
                          </a:stretch>
                        </a:blipFill>
                      </a:tcPr>
                    </a:tc>
                    <a:tc>
                      <a:txBody>
                        <a:bodyPr/>
                        <a:lstStyle/>
                        <a:p>
                          <a:r>
                            <a:rPr lang="en-US" dirty="0"/>
                            <a:t>15/</a:t>
                          </a:r>
                          <a:r>
                            <a:rPr lang="en-US" dirty="0" err="1"/>
                            <a:t>hr</a:t>
                          </a:r>
                          <a:endParaRPr lang="en-US" dirty="0"/>
                        </a:p>
                      </a:txBody>
                      <a:tcPr/>
                    </a:tc>
                    <a:tc>
                      <a:txBody>
                        <a:bodyPr/>
                        <a:lstStyle/>
                        <a:p>
                          <a:r>
                            <a:rPr lang="en-US" dirty="0"/>
                            <a:t>8.57/</a:t>
                          </a:r>
                          <a:r>
                            <a:rPr lang="en-US" dirty="0" err="1"/>
                            <a:t>hr</a:t>
                          </a:r>
                          <a:endParaRPr lang="en-US" dirty="0"/>
                        </a:p>
                      </a:txBody>
                      <a:tcPr/>
                    </a:tc>
                    <a:tc>
                      <a:txBody>
                        <a:bodyPr/>
                        <a:lstStyle/>
                        <a:p>
                          <a:r>
                            <a:rPr lang="en-US" dirty="0"/>
                            <a:t>3/</a:t>
                          </a:r>
                          <a:r>
                            <a:rPr lang="en-US" dirty="0" err="1"/>
                            <a:t>hr</a:t>
                          </a:r>
                          <a:endParaRPr lang="en-US" dirty="0"/>
                        </a:p>
                      </a:txBody>
                      <a:tcPr/>
                    </a:tc>
                    <a:extLst>
                      <a:ext uri="{0D108BD9-81ED-4DB2-BD59-A6C34878D82A}">
                        <a16:rowId xmlns:a16="http://schemas.microsoft.com/office/drawing/2014/main" val="4116461705"/>
                      </a:ext>
                    </a:extLst>
                  </a:tr>
                  <a:tr h="370840">
                    <a:tc>
                      <a:txBody>
                        <a:bodyPr/>
                        <a:lstStyle/>
                        <a:p>
                          <a:endParaRPr lang="en-US"/>
                        </a:p>
                      </a:txBody>
                      <a:tcPr>
                        <a:blipFill>
                          <a:blip r:embed="rId2"/>
                          <a:stretch>
                            <a:fillRect l="-599" t="-408197" r="-308383" b="-427869"/>
                          </a:stretch>
                        </a:blipFill>
                      </a:tcPr>
                    </a:tc>
                    <a:tc>
                      <a:txBody>
                        <a:bodyPr/>
                        <a:lstStyle/>
                        <a:p>
                          <a:r>
                            <a:rPr lang="en-US" dirty="0"/>
                            <a:t>66.67%</a:t>
                          </a:r>
                        </a:p>
                      </a:txBody>
                      <a:tcPr/>
                    </a:tc>
                    <a:tc>
                      <a:txBody>
                        <a:bodyPr/>
                        <a:lstStyle/>
                        <a:p>
                          <a:r>
                            <a:rPr lang="en-US" dirty="0"/>
                            <a:t>58.34%</a:t>
                          </a:r>
                        </a:p>
                      </a:txBody>
                      <a:tcPr/>
                    </a:tc>
                    <a:tc>
                      <a:txBody>
                        <a:bodyPr/>
                        <a:lstStyle/>
                        <a:p>
                          <a:r>
                            <a:rPr lang="en-US" dirty="0"/>
                            <a:t>50%</a:t>
                          </a:r>
                        </a:p>
                      </a:txBody>
                      <a:tcPr/>
                    </a:tc>
                    <a:extLst>
                      <a:ext uri="{0D108BD9-81ED-4DB2-BD59-A6C34878D82A}">
                        <a16:rowId xmlns:a16="http://schemas.microsoft.com/office/drawing/2014/main" val="1911357439"/>
                      </a:ext>
                    </a:extLst>
                  </a:tr>
                  <a:tr h="370840">
                    <a:tc>
                      <a:txBody>
                        <a:bodyPr/>
                        <a:lstStyle/>
                        <a:p>
                          <a:endParaRPr lang="en-US"/>
                        </a:p>
                      </a:txBody>
                      <a:tcPr>
                        <a:blipFill>
                          <a:blip r:embed="rId2"/>
                          <a:stretch>
                            <a:fillRect l="-599" t="-508197" r="-308383" b="-327869"/>
                          </a:stretch>
                        </a:blipFill>
                      </a:tcPr>
                    </a:tc>
                    <a:tc>
                      <a:txBody>
                        <a:bodyPr/>
                        <a:lstStyle/>
                        <a:p>
                          <a:r>
                            <a:rPr lang="en-US" dirty="0"/>
                            <a:t>2</a:t>
                          </a:r>
                        </a:p>
                      </a:txBody>
                      <a:tcPr/>
                    </a:tc>
                    <a:tc>
                      <a:txBody>
                        <a:bodyPr/>
                        <a:lstStyle/>
                        <a:p>
                          <a:r>
                            <a:rPr lang="en-US" dirty="0"/>
                            <a:t>1.4</a:t>
                          </a:r>
                        </a:p>
                      </a:txBody>
                      <a:tcPr/>
                    </a:tc>
                    <a:tc>
                      <a:txBody>
                        <a:bodyPr/>
                        <a:lstStyle/>
                        <a:p>
                          <a:r>
                            <a:rPr lang="en-US" dirty="0"/>
                            <a:t>1</a:t>
                          </a:r>
                        </a:p>
                      </a:txBody>
                      <a:tcPr/>
                    </a:tc>
                    <a:extLst>
                      <a:ext uri="{0D108BD9-81ED-4DB2-BD59-A6C34878D82A}">
                        <a16:rowId xmlns:a16="http://schemas.microsoft.com/office/drawing/2014/main" val="1430827179"/>
                      </a:ext>
                    </a:extLst>
                  </a:tr>
                  <a:tr h="386969">
                    <a:tc>
                      <a:txBody>
                        <a:bodyPr/>
                        <a:lstStyle/>
                        <a:p>
                          <a:endParaRPr lang="en-US"/>
                        </a:p>
                      </a:txBody>
                      <a:tcPr>
                        <a:blipFill>
                          <a:blip r:embed="rId2"/>
                          <a:stretch>
                            <a:fillRect l="-599" t="-588889" r="-308383" b="-217460"/>
                          </a:stretch>
                        </a:blipFill>
                      </a:tcPr>
                    </a:tc>
                    <a:tc>
                      <a:txBody>
                        <a:bodyPr/>
                        <a:lstStyle/>
                        <a:p>
                          <a:r>
                            <a:rPr lang="en-US" dirty="0"/>
                            <a:t>1.33</a:t>
                          </a:r>
                        </a:p>
                      </a:txBody>
                      <a:tcPr/>
                    </a:tc>
                    <a:tc>
                      <a:txBody>
                        <a:bodyPr/>
                        <a:lstStyle/>
                        <a:p>
                          <a:r>
                            <a:rPr lang="en-US" dirty="0"/>
                            <a:t>0.817</a:t>
                          </a:r>
                        </a:p>
                      </a:txBody>
                      <a:tcPr/>
                    </a:tc>
                    <a:tc>
                      <a:txBody>
                        <a:bodyPr/>
                        <a:lstStyle/>
                        <a:p>
                          <a:r>
                            <a:rPr lang="en-US" dirty="0"/>
                            <a:t>0.5</a:t>
                          </a:r>
                        </a:p>
                      </a:txBody>
                      <a:tcPr/>
                    </a:tc>
                    <a:extLst>
                      <a:ext uri="{0D108BD9-81ED-4DB2-BD59-A6C34878D82A}">
                        <a16:rowId xmlns:a16="http://schemas.microsoft.com/office/drawing/2014/main" val="3901378515"/>
                      </a:ext>
                    </a:extLst>
                  </a:tr>
                  <a:tr h="370840">
                    <a:tc>
                      <a:txBody>
                        <a:bodyPr/>
                        <a:lstStyle/>
                        <a:p>
                          <a:endParaRPr lang="en-US"/>
                        </a:p>
                      </a:txBody>
                      <a:tcPr>
                        <a:blipFill>
                          <a:blip r:embed="rId2"/>
                          <a:stretch>
                            <a:fillRect l="-599" t="-711475" r="-308383" b="-124590"/>
                          </a:stretch>
                        </a:blipFill>
                      </a:tcPr>
                    </a:tc>
                    <a:tc>
                      <a:txBody>
                        <a:bodyPr/>
                        <a:lstStyle/>
                        <a:p>
                          <a:r>
                            <a:rPr lang="en-US" dirty="0"/>
                            <a:t>0.2 </a:t>
                          </a:r>
                          <a:r>
                            <a:rPr lang="en-US" dirty="0" err="1"/>
                            <a:t>hrs</a:t>
                          </a:r>
                          <a:endParaRPr lang="en-US" dirty="0"/>
                        </a:p>
                      </a:txBody>
                      <a:tcPr/>
                    </a:tc>
                    <a:tc>
                      <a:txBody>
                        <a:bodyPr/>
                        <a:lstStyle/>
                        <a:p>
                          <a:r>
                            <a:rPr lang="en-US" dirty="0"/>
                            <a:t>0.28 </a:t>
                          </a:r>
                          <a:r>
                            <a:rPr lang="en-US" dirty="0" err="1"/>
                            <a:t>hrs</a:t>
                          </a:r>
                          <a:endParaRPr lang="en-US" dirty="0"/>
                        </a:p>
                      </a:txBody>
                      <a:tcPr/>
                    </a:tc>
                    <a:tc>
                      <a:txBody>
                        <a:bodyPr/>
                        <a:lstStyle/>
                        <a:p>
                          <a:r>
                            <a:rPr lang="en-US" dirty="0"/>
                            <a:t>0.66 </a:t>
                          </a:r>
                          <a:r>
                            <a:rPr lang="en-US" dirty="0" err="1"/>
                            <a:t>hrs</a:t>
                          </a:r>
                          <a:endParaRPr lang="en-US" dirty="0"/>
                        </a:p>
                      </a:txBody>
                      <a:tcPr/>
                    </a:tc>
                    <a:extLst>
                      <a:ext uri="{0D108BD9-81ED-4DB2-BD59-A6C34878D82A}">
                        <a16:rowId xmlns:a16="http://schemas.microsoft.com/office/drawing/2014/main" val="3666472031"/>
                      </a:ext>
                    </a:extLst>
                  </a:tr>
                  <a:tr h="386969">
                    <a:tc>
                      <a:txBody>
                        <a:bodyPr/>
                        <a:lstStyle/>
                        <a:p>
                          <a:endParaRPr lang="en-US"/>
                        </a:p>
                      </a:txBody>
                      <a:tcPr>
                        <a:blipFill>
                          <a:blip r:embed="rId2"/>
                          <a:stretch>
                            <a:fillRect l="-599" t="-773438" r="-308383" b="-18750"/>
                          </a:stretch>
                        </a:blipFill>
                      </a:tcPr>
                    </a:tc>
                    <a:tc>
                      <a:txBody>
                        <a:bodyPr/>
                        <a:lstStyle/>
                        <a:p>
                          <a:r>
                            <a:rPr lang="en-US" dirty="0"/>
                            <a:t>0.13 </a:t>
                          </a:r>
                          <a:r>
                            <a:rPr lang="en-US" dirty="0" err="1"/>
                            <a:t>hrs</a:t>
                          </a:r>
                          <a:endParaRPr lang="en-US" dirty="0"/>
                        </a:p>
                      </a:txBody>
                      <a:tcPr/>
                    </a:tc>
                    <a:tc>
                      <a:txBody>
                        <a:bodyPr/>
                        <a:lstStyle/>
                        <a:p>
                          <a:r>
                            <a:rPr lang="en-US" dirty="0"/>
                            <a:t>0.16 </a:t>
                          </a:r>
                          <a:r>
                            <a:rPr lang="en-US" dirty="0" err="1"/>
                            <a:t>hrs</a:t>
                          </a:r>
                          <a:endParaRPr lang="en-US" dirty="0"/>
                        </a:p>
                      </a:txBody>
                      <a:tcPr/>
                    </a:tc>
                    <a:tc>
                      <a:txBody>
                        <a:bodyPr/>
                        <a:lstStyle/>
                        <a:p>
                          <a:r>
                            <a:rPr lang="en-US" dirty="0"/>
                            <a:t>0.33 </a:t>
                          </a:r>
                          <a:r>
                            <a:rPr lang="en-US" dirty="0" err="1"/>
                            <a:t>hrs</a:t>
                          </a:r>
                          <a:endParaRPr lang="en-US" dirty="0"/>
                        </a:p>
                      </a:txBody>
                      <a:tcPr/>
                    </a:tc>
                    <a:extLst>
                      <a:ext uri="{0D108BD9-81ED-4DB2-BD59-A6C34878D82A}">
                        <a16:rowId xmlns:a16="http://schemas.microsoft.com/office/drawing/2014/main" val="247016900"/>
                      </a:ext>
                    </a:extLst>
                  </a:tr>
                </a:tbl>
              </a:graphicData>
            </a:graphic>
          </p:graphicFrame>
        </mc:Fallback>
      </mc:AlternateContent>
      <p:pic>
        <p:nvPicPr>
          <p:cNvPr id="5" name="Picture 4">
            <a:extLst>
              <a:ext uri="{FF2B5EF4-FFF2-40B4-BE49-F238E27FC236}">
                <a16:creationId xmlns:a16="http://schemas.microsoft.com/office/drawing/2014/main" id="{47C3F4B4-5717-4365-B91D-8729CAAF45ED}"/>
              </a:ext>
            </a:extLst>
          </p:cNvPr>
          <p:cNvPicPr>
            <a:picLocks noChangeAspect="1"/>
          </p:cNvPicPr>
          <p:nvPr/>
        </p:nvPicPr>
        <p:blipFill>
          <a:blip r:embed="rId3"/>
          <a:stretch>
            <a:fillRect/>
          </a:stretch>
        </p:blipFill>
        <p:spPr>
          <a:xfrm>
            <a:off x="983677" y="2686375"/>
            <a:ext cx="5529664" cy="2696861"/>
          </a:xfrm>
          <a:prstGeom prst="rect">
            <a:avLst/>
          </a:prstGeom>
        </p:spPr>
      </p:pic>
    </p:spTree>
    <p:extLst>
      <p:ext uri="{BB962C8B-B14F-4D97-AF65-F5344CB8AC3E}">
        <p14:creationId xmlns:p14="http://schemas.microsoft.com/office/powerpoint/2010/main" val="27348095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Bank Example</a:t>
            </a:r>
          </a:p>
        </p:txBody>
      </p:sp>
      <p:sp>
        <p:nvSpPr>
          <p:cNvPr id="3" name="Content Placeholder 2"/>
          <p:cNvSpPr>
            <a:spLocks noGrp="1"/>
          </p:cNvSpPr>
          <p:nvPr>
            <p:ph idx="1"/>
          </p:nvPr>
        </p:nvSpPr>
        <p:spPr>
          <a:xfrm>
            <a:off x="355001" y="1312432"/>
            <a:ext cx="10514385" cy="5256689"/>
          </a:xfrm>
        </p:spPr>
        <p:txBody>
          <a:bodyPr>
            <a:normAutofit/>
          </a:bodyPr>
          <a:lstStyle/>
          <a:p>
            <a:pPr lvl="0"/>
            <a:r>
              <a:rPr lang="en-US" dirty="0">
                <a:solidFill>
                  <a:prstClr val="black"/>
                </a:solidFill>
              </a:rPr>
              <a:t>Model Verification:</a:t>
            </a:r>
          </a:p>
          <a:p>
            <a:pPr lvl="1"/>
            <a:r>
              <a:rPr lang="en-US" dirty="0">
                <a:solidFill>
                  <a:prstClr val="black"/>
                </a:solidFill>
              </a:rPr>
              <a:t>Queueing theory results: Jackson Network</a:t>
            </a:r>
          </a:p>
          <a:p>
            <a:pPr lvl="2"/>
            <a:r>
              <a:rPr lang="en-US" dirty="0">
                <a:solidFill>
                  <a:srgbClr val="C00000"/>
                </a:solidFill>
              </a:rPr>
              <a:t>How much time does an ATM-customer spend in the bank on average?</a:t>
            </a:r>
          </a:p>
          <a:p>
            <a:pPr lvl="3"/>
            <a:r>
              <a:rPr lang="en-US" dirty="0">
                <a:solidFill>
                  <a:prstClr val="black"/>
                </a:solidFill>
              </a:rPr>
              <a:t>An ATM customer goes through ATM station for sure, where s/he spends 0.2 </a:t>
            </a:r>
            <a:r>
              <a:rPr lang="en-US" dirty="0" err="1">
                <a:solidFill>
                  <a:prstClr val="black"/>
                </a:solidFill>
              </a:rPr>
              <a:t>hrs</a:t>
            </a:r>
            <a:r>
              <a:rPr lang="en-US" dirty="0">
                <a:solidFill>
                  <a:prstClr val="black"/>
                </a:solidFill>
              </a:rPr>
              <a:t> avg.</a:t>
            </a:r>
          </a:p>
          <a:p>
            <a:pPr lvl="3"/>
            <a:r>
              <a:rPr lang="en-US" dirty="0">
                <a:solidFill>
                  <a:prstClr val="black"/>
                </a:solidFill>
              </a:rPr>
              <a:t>An ATM customer goes through Manager station with 0.1 probability, where s/he spends 0.66 </a:t>
            </a:r>
            <a:r>
              <a:rPr lang="en-US" dirty="0" err="1">
                <a:solidFill>
                  <a:prstClr val="black"/>
                </a:solidFill>
              </a:rPr>
              <a:t>hrs</a:t>
            </a:r>
            <a:r>
              <a:rPr lang="en-US" dirty="0">
                <a:solidFill>
                  <a:prstClr val="black"/>
                </a:solidFill>
              </a:rPr>
              <a:t> on average</a:t>
            </a:r>
          </a:p>
          <a:p>
            <a:pPr lvl="3"/>
            <a:r>
              <a:rPr lang="en-US" dirty="0">
                <a:solidFill>
                  <a:prstClr val="black"/>
                </a:solidFill>
              </a:rPr>
              <a:t>Then an ATM customer spends: 0.2hr+0.1*0.66 = </a:t>
            </a:r>
            <a:r>
              <a:rPr lang="en-US" u="sng" dirty="0">
                <a:solidFill>
                  <a:prstClr val="black"/>
                </a:solidFill>
              </a:rPr>
              <a:t>0.266 </a:t>
            </a:r>
            <a:r>
              <a:rPr lang="en-US" u="sng" dirty="0" err="1">
                <a:solidFill>
                  <a:prstClr val="black"/>
                </a:solidFill>
              </a:rPr>
              <a:t>hrs</a:t>
            </a:r>
            <a:r>
              <a:rPr lang="en-US" u="sng" dirty="0">
                <a:solidFill>
                  <a:prstClr val="black"/>
                </a:solidFill>
              </a:rPr>
              <a:t> in the Bank on average</a:t>
            </a:r>
          </a:p>
          <a:p>
            <a:pPr lvl="4"/>
            <a:r>
              <a:rPr lang="en-US" dirty="0">
                <a:solidFill>
                  <a:prstClr val="black"/>
                </a:solidFill>
              </a:rPr>
              <a:t>An ATM customer who does not go to Manager spends 0.2 </a:t>
            </a:r>
            <a:r>
              <a:rPr lang="en-US" dirty="0" err="1">
                <a:solidFill>
                  <a:prstClr val="black"/>
                </a:solidFill>
              </a:rPr>
              <a:t>hrs</a:t>
            </a:r>
            <a:r>
              <a:rPr lang="en-US" dirty="0">
                <a:solidFill>
                  <a:prstClr val="black"/>
                </a:solidFill>
              </a:rPr>
              <a:t> on average</a:t>
            </a:r>
          </a:p>
          <a:p>
            <a:pPr lvl="4"/>
            <a:r>
              <a:rPr lang="en-US" dirty="0">
                <a:solidFill>
                  <a:prstClr val="black"/>
                </a:solidFill>
              </a:rPr>
              <a:t>An ATM customer who goes to Manager spends 0.2+0.66 = 0.86 </a:t>
            </a:r>
            <a:r>
              <a:rPr lang="en-US" dirty="0" err="1">
                <a:solidFill>
                  <a:prstClr val="black"/>
                </a:solidFill>
              </a:rPr>
              <a:t>hrs</a:t>
            </a:r>
            <a:r>
              <a:rPr lang="en-US" dirty="0">
                <a:solidFill>
                  <a:prstClr val="black"/>
                </a:solidFill>
              </a:rPr>
              <a:t> on average</a:t>
            </a:r>
          </a:p>
          <a:p>
            <a:pPr lvl="2"/>
            <a:r>
              <a:rPr lang="en-US" dirty="0">
                <a:solidFill>
                  <a:srgbClr val="C00000"/>
                </a:solidFill>
              </a:rPr>
              <a:t>How much time does a Teller-customer spend in the bank on average?</a:t>
            </a:r>
          </a:p>
          <a:p>
            <a:pPr lvl="3"/>
            <a:r>
              <a:rPr lang="en-US" dirty="0">
                <a:solidFill>
                  <a:prstClr val="black"/>
                </a:solidFill>
              </a:rPr>
              <a:t>A Teller customer goes through Teller station for sure, where s/he spends 0.28 </a:t>
            </a:r>
            <a:r>
              <a:rPr lang="en-US" dirty="0" err="1">
                <a:solidFill>
                  <a:prstClr val="black"/>
                </a:solidFill>
              </a:rPr>
              <a:t>hrs</a:t>
            </a:r>
            <a:r>
              <a:rPr lang="en-US" dirty="0">
                <a:solidFill>
                  <a:prstClr val="black"/>
                </a:solidFill>
              </a:rPr>
              <a:t> on average</a:t>
            </a:r>
          </a:p>
          <a:p>
            <a:pPr lvl="3"/>
            <a:r>
              <a:rPr lang="en-US" dirty="0">
                <a:solidFill>
                  <a:prstClr val="black"/>
                </a:solidFill>
              </a:rPr>
              <a:t> A Teller customer goes through Manager station with 0.1 probability, where s/he spends 0.66 </a:t>
            </a:r>
            <a:r>
              <a:rPr lang="en-US" dirty="0" err="1">
                <a:solidFill>
                  <a:prstClr val="black"/>
                </a:solidFill>
              </a:rPr>
              <a:t>hrs</a:t>
            </a:r>
            <a:r>
              <a:rPr lang="en-US" dirty="0">
                <a:solidFill>
                  <a:prstClr val="black"/>
                </a:solidFill>
              </a:rPr>
              <a:t> on average</a:t>
            </a:r>
          </a:p>
          <a:p>
            <a:pPr lvl="3"/>
            <a:r>
              <a:rPr lang="en-US" dirty="0">
                <a:solidFill>
                  <a:prstClr val="black"/>
                </a:solidFill>
              </a:rPr>
              <a:t>Then a Teller customer spends: 0.28hr+0.1*0.66 = </a:t>
            </a:r>
            <a:r>
              <a:rPr lang="en-US" u="sng" dirty="0">
                <a:solidFill>
                  <a:prstClr val="black"/>
                </a:solidFill>
              </a:rPr>
              <a:t>0.346 </a:t>
            </a:r>
            <a:r>
              <a:rPr lang="en-US" u="sng" dirty="0" err="1">
                <a:solidFill>
                  <a:prstClr val="black"/>
                </a:solidFill>
              </a:rPr>
              <a:t>hrs</a:t>
            </a:r>
            <a:r>
              <a:rPr lang="en-US" u="sng" dirty="0">
                <a:solidFill>
                  <a:prstClr val="black"/>
                </a:solidFill>
              </a:rPr>
              <a:t> in the Bank on average</a:t>
            </a:r>
          </a:p>
          <a:p>
            <a:pPr lvl="4"/>
            <a:r>
              <a:rPr lang="en-US" dirty="0">
                <a:solidFill>
                  <a:prstClr val="black"/>
                </a:solidFill>
              </a:rPr>
              <a:t>A Teller customer who does not go to Manager spends 0.28 </a:t>
            </a:r>
            <a:r>
              <a:rPr lang="en-US" dirty="0" err="1">
                <a:solidFill>
                  <a:prstClr val="black"/>
                </a:solidFill>
              </a:rPr>
              <a:t>hrs</a:t>
            </a:r>
            <a:r>
              <a:rPr lang="en-US" dirty="0">
                <a:solidFill>
                  <a:prstClr val="black"/>
                </a:solidFill>
              </a:rPr>
              <a:t> on average</a:t>
            </a:r>
          </a:p>
          <a:p>
            <a:pPr lvl="4"/>
            <a:r>
              <a:rPr lang="en-US" dirty="0">
                <a:solidFill>
                  <a:prstClr val="black"/>
                </a:solidFill>
              </a:rPr>
              <a:t>A Teller customer who goes to Manager spends 0.28+0.66 = 0.94 </a:t>
            </a:r>
            <a:r>
              <a:rPr lang="en-US" dirty="0" err="1">
                <a:solidFill>
                  <a:prstClr val="black"/>
                </a:solidFill>
              </a:rPr>
              <a:t>hrs</a:t>
            </a:r>
            <a:r>
              <a:rPr lang="en-US" dirty="0">
                <a:solidFill>
                  <a:prstClr val="black"/>
                </a:solidFill>
              </a:rPr>
              <a:t> on average</a:t>
            </a:r>
            <a:endParaRPr lang="en-US" dirty="0"/>
          </a:p>
          <a:p>
            <a:pPr lvl="1"/>
            <a:endParaRPr lang="en-US" dirty="0"/>
          </a:p>
          <a:p>
            <a:pPr lvl="1"/>
            <a:endParaRPr lang="en-US" dirty="0"/>
          </a:p>
        </p:txBody>
      </p:sp>
      <p:pic>
        <p:nvPicPr>
          <p:cNvPr id="6" name="Picture 5">
            <a:extLst>
              <a:ext uri="{FF2B5EF4-FFF2-40B4-BE49-F238E27FC236}">
                <a16:creationId xmlns:a16="http://schemas.microsoft.com/office/drawing/2014/main" id="{0C4A9BDE-5B94-4DEE-AA9C-2D67386E3403}"/>
              </a:ext>
            </a:extLst>
          </p:cNvPr>
          <p:cNvPicPr>
            <a:picLocks noChangeAspect="1"/>
          </p:cNvPicPr>
          <p:nvPr/>
        </p:nvPicPr>
        <p:blipFill>
          <a:blip r:embed="rId2"/>
          <a:stretch>
            <a:fillRect/>
          </a:stretch>
        </p:blipFill>
        <p:spPr>
          <a:xfrm>
            <a:off x="10062947" y="1277546"/>
            <a:ext cx="1843254" cy="1502898"/>
          </a:xfrm>
          <a:prstGeom prst="rect">
            <a:avLst/>
          </a:prstGeom>
        </p:spPr>
      </p:pic>
    </p:spTree>
    <p:extLst>
      <p:ext uri="{BB962C8B-B14F-4D97-AF65-F5344CB8AC3E}">
        <p14:creationId xmlns:p14="http://schemas.microsoft.com/office/powerpoint/2010/main" val="19798263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Bank Example</a:t>
            </a:r>
          </a:p>
        </p:txBody>
      </p:sp>
      <p:sp>
        <p:nvSpPr>
          <p:cNvPr id="3" name="Content Placeholder 2"/>
          <p:cNvSpPr>
            <a:spLocks noGrp="1"/>
          </p:cNvSpPr>
          <p:nvPr>
            <p:ph idx="1"/>
          </p:nvPr>
        </p:nvSpPr>
        <p:spPr>
          <a:xfrm>
            <a:off x="355002" y="1312432"/>
            <a:ext cx="9912664" cy="5256689"/>
          </a:xfrm>
        </p:spPr>
        <p:txBody>
          <a:bodyPr>
            <a:normAutofit/>
          </a:bodyPr>
          <a:lstStyle/>
          <a:p>
            <a:r>
              <a:rPr lang="en-US" dirty="0"/>
              <a:t>Model Verification:</a:t>
            </a:r>
          </a:p>
          <a:p>
            <a:pPr lvl="1"/>
            <a:r>
              <a:rPr lang="en-US" dirty="0"/>
              <a:t>Queueing theory results: Jackson Network</a:t>
            </a:r>
          </a:p>
          <a:p>
            <a:pPr lvl="2"/>
            <a:r>
              <a:rPr lang="en-US" dirty="0">
                <a:solidFill>
                  <a:srgbClr val="C00000"/>
                </a:solidFill>
              </a:rPr>
              <a:t>How many ATM-customers are in the bank on average?</a:t>
            </a:r>
          </a:p>
          <a:p>
            <a:pPr lvl="3"/>
            <a:r>
              <a:rPr lang="en-US" dirty="0"/>
              <a:t>There are 2 customers in ATM station on average, and they are all ATM-customers</a:t>
            </a:r>
          </a:p>
          <a:p>
            <a:pPr lvl="3"/>
            <a:r>
              <a:rPr lang="en-US" dirty="0"/>
              <a:t>There are 1 customer in Manager station on average</a:t>
            </a:r>
          </a:p>
          <a:p>
            <a:pPr lvl="4"/>
            <a:r>
              <a:rPr lang="en-US" dirty="0"/>
              <a:t>2/3 of them are ATM-customers and 1/3 are Teller-customers</a:t>
            </a:r>
          </a:p>
          <a:p>
            <a:pPr lvl="3"/>
            <a:r>
              <a:rPr lang="en-US" dirty="0"/>
              <a:t>So, in total, there are 2+1*2/3=2.667 ATM-customers in the bank on average</a:t>
            </a:r>
          </a:p>
          <a:p>
            <a:pPr lvl="2"/>
            <a:r>
              <a:rPr lang="en-US" dirty="0">
                <a:solidFill>
                  <a:srgbClr val="C00000"/>
                </a:solidFill>
              </a:rPr>
              <a:t>How many Teller-customers are in the bank on average?</a:t>
            </a:r>
          </a:p>
          <a:p>
            <a:pPr lvl="3"/>
            <a:r>
              <a:rPr lang="en-US" dirty="0"/>
              <a:t>There are 1.4 customers in Teller station on average, and they are all Teller-customers</a:t>
            </a:r>
          </a:p>
          <a:p>
            <a:pPr lvl="3"/>
            <a:r>
              <a:rPr lang="en-US" dirty="0"/>
              <a:t>There are 1 customer in Manager station on average</a:t>
            </a:r>
          </a:p>
          <a:p>
            <a:pPr lvl="4"/>
            <a:r>
              <a:rPr lang="en-US" dirty="0"/>
              <a:t>2/3 of them are ATM-customers and 1/3 are Teller-customers</a:t>
            </a:r>
          </a:p>
          <a:p>
            <a:pPr lvl="3"/>
            <a:r>
              <a:rPr lang="en-US" dirty="0"/>
              <a:t>So, in total, there are 1.4+1*1/3=1.734 Teller-customers in the bank on average</a:t>
            </a:r>
          </a:p>
          <a:p>
            <a:pPr lvl="3"/>
            <a:endParaRPr lang="en-US" dirty="0"/>
          </a:p>
          <a:p>
            <a:pPr lvl="1"/>
            <a:endParaRPr lang="en-US" dirty="0"/>
          </a:p>
          <a:p>
            <a:pPr lvl="1"/>
            <a:endParaRPr lang="en-US" dirty="0"/>
          </a:p>
        </p:txBody>
      </p:sp>
      <p:pic>
        <p:nvPicPr>
          <p:cNvPr id="6" name="Picture 5">
            <a:extLst>
              <a:ext uri="{FF2B5EF4-FFF2-40B4-BE49-F238E27FC236}">
                <a16:creationId xmlns:a16="http://schemas.microsoft.com/office/drawing/2014/main" id="{0C4A9BDE-5B94-4DEE-AA9C-2D67386E3403}"/>
              </a:ext>
            </a:extLst>
          </p:cNvPr>
          <p:cNvPicPr>
            <a:picLocks noChangeAspect="1"/>
          </p:cNvPicPr>
          <p:nvPr/>
        </p:nvPicPr>
        <p:blipFill>
          <a:blip r:embed="rId2"/>
          <a:stretch>
            <a:fillRect/>
          </a:stretch>
        </p:blipFill>
        <p:spPr>
          <a:xfrm>
            <a:off x="10062947" y="1277546"/>
            <a:ext cx="1843254" cy="1502898"/>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DF841F9-54CD-4029-A0D3-D2D7BAFCE802}"/>
                  </a:ext>
                </a:extLst>
              </p:cNvPr>
              <p:cNvSpPr txBox="1"/>
              <p:nvPr/>
            </p:nvSpPr>
            <p:spPr>
              <a:xfrm>
                <a:off x="1433014" y="5722961"/>
                <a:ext cx="10149385" cy="923330"/>
              </a:xfrm>
              <a:prstGeom prst="rect">
                <a:avLst/>
              </a:prstGeom>
              <a:noFill/>
            </p:spPr>
            <p:txBody>
              <a:bodyPr wrap="square" rtlCol="0">
                <a:spAutoFit/>
              </a:bodyPr>
              <a:lstStyle/>
              <a:p>
                <a:r>
                  <a:rPr lang="en-US" b="1" dirty="0">
                    <a:solidFill>
                      <a:srgbClr val="C00000"/>
                    </a:solidFill>
                  </a:rPr>
                  <a:t>Note: </a:t>
                </a:r>
                <a:r>
                  <a:rPr lang="en-US" dirty="0"/>
                  <a:t>Recall that the arrival rate to Manager station is= </a:t>
                </a:r>
                <a14:m>
                  <m:oMath xmlns:m="http://schemas.openxmlformats.org/officeDocument/2006/math">
                    <m:r>
                      <a:rPr lang="en-US" i="1">
                        <a:latin typeface="Cambria Math" panose="02040503050406030204" pitchFamily="18" charset="0"/>
                      </a:rPr>
                      <m:t>0.1</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𝐴𝑇𝑀</m:t>
                        </m:r>
                      </m:sub>
                    </m:sSub>
                    <m:r>
                      <a:rPr lang="en-US" i="1">
                        <a:latin typeface="Cambria Math" panose="02040503050406030204" pitchFamily="18" charset="0"/>
                      </a:rPr>
                      <m:t>+0.1</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𝑇𝑒𝑙𝑙𝑒𝑟</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𝐴𝑇𝑀</m:t>
                        </m:r>
                      </m:sub>
                    </m:sSub>
                  </m:oMath>
                </a14:m>
                <a:r>
                  <a:rPr lang="en-US" dirty="0"/>
                  <a:t>=10/hour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𝑇𝑒𝑙𝑙𝑒𝑟</m:t>
                        </m:r>
                      </m:sub>
                    </m:sSub>
                  </m:oMath>
                </a14:m>
                <a:r>
                  <a:rPr lang="en-US" dirty="0"/>
                  <a:t>=5/hour </a:t>
                </a:r>
                <a:r>
                  <a:rPr lang="en-US" dirty="0">
                    <a:sym typeface="Wingdings" panose="05000000000000000000" pitchFamily="2" charset="2"/>
                  </a:rPr>
                  <a:t> So, on average, 2 out of 3 customers visiting Manager station is ATM-Customer and 1 out of 3 customers visiting Manager station is Teller-customer</a:t>
                </a:r>
                <a:endParaRPr lang="en-US" dirty="0"/>
              </a:p>
            </p:txBody>
          </p:sp>
        </mc:Choice>
        <mc:Fallback xmlns="">
          <p:sp>
            <p:nvSpPr>
              <p:cNvPr id="4" name="TextBox 3">
                <a:extLst>
                  <a:ext uri="{FF2B5EF4-FFF2-40B4-BE49-F238E27FC236}">
                    <a16:creationId xmlns:a16="http://schemas.microsoft.com/office/drawing/2014/main" id="{7DF841F9-54CD-4029-A0D3-D2D7BAFCE802}"/>
                  </a:ext>
                </a:extLst>
              </p:cNvPr>
              <p:cNvSpPr txBox="1">
                <a:spLocks noRot="1" noChangeAspect="1" noMove="1" noResize="1" noEditPoints="1" noAdjustHandles="1" noChangeArrowheads="1" noChangeShapeType="1" noTextEdit="1"/>
              </p:cNvSpPr>
              <p:nvPr/>
            </p:nvSpPr>
            <p:spPr>
              <a:xfrm>
                <a:off x="1433014" y="5722961"/>
                <a:ext cx="10149385" cy="923330"/>
              </a:xfrm>
              <a:prstGeom prst="rect">
                <a:avLst/>
              </a:prstGeom>
              <a:blipFill>
                <a:blip r:embed="rId3"/>
                <a:stretch>
                  <a:fillRect l="-480" t="-3974" r="-901" b="-9934"/>
                </a:stretch>
              </a:blipFill>
            </p:spPr>
            <p:txBody>
              <a:bodyPr/>
              <a:lstStyle/>
              <a:p>
                <a:r>
                  <a:rPr lang="en-US">
                    <a:noFill/>
                  </a:rPr>
                  <a:t> </a:t>
                </a:r>
              </a:p>
            </p:txBody>
          </p:sp>
        </mc:Fallback>
      </mc:AlternateContent>
    </p:spTree>
    <p:extLst>
      <p:ext uri="{BB962C8B-B14F-4D97-AF65-F5344CB8AC3E}">
        <p14:creationId xmlns:p14="http://schemas.microsoft.com/office/powerpoint/2010/main" val="1814484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Bank Example</a:t>
            </a:r>
          </a:p>
        </p:txBody>
      </p:sp>
      <p:sp>
        <p:nvSpPr>
          <p:cNvPr id="3" name="Content Placeholder 2"/>
          <p:cNvSpPr>
            <a:spLocks noGrp="1"/>
          </p:cNvSpPr>
          <p:nvPr>
            <p:ph idx="1"/>
          </p:nvPr>
        </p:nvSpPr>
        <p:spPr>
          <a:xfrm>
            <a:off x="355002" y="1312432"/>
            <a:ext cx="11423016" cy="5256689"/>
          </a:xfrm>
        </p:spPr>
        <p:txBody>
          <a:bodyPr>
            <a:normAutofit/>
          </a:bodyPr>
          <a:lstStyle/>
          <a:p>
            <a:r>
              <a:rPr lang="en-US" dirty="0"/>
              <a:t>Model Verification:</a:t>
            </a:r>
          </a:p>
          <a:p>
            <a:pPr lvl="1"/>
            <a:r>
              <a:rPr lang="en-US" dirty="0" err="1"/>
              <a:t>Simio</a:t>
            </a:r>
            <a:r>
              <a:rPr lang="en-US" dirty="0"/>
              <a:t> Results: 25 replications, each with 2000 hours and no warm-up</a:t>
            </a:r>
          </a:p>
          <a:p>
            <a:pPr lvl="1"/>
            <a:endParaRPr lang="en-US" dirty="0"/>
          </a:p>
          <a:p>
            <a:pPr lvl="1"/>
            <a:endParaRPr lang="en-US" dirty="0"/>
          </a:p>
          <a:p>
            <a:pPr lvl="1"/>
            <a:endParaRPr lang="en-US" dirty="0"/>
          </a:p>
          <a:p>
            <a:pPr lvl="1"/>
            <a:endParaRPr lang="en-US" dirty="0"/>
          </a:p>
          <a:p>
            <a:pPr lvl="2"/>
            <a:endParaRPr lang="en-US" dirty="0"/>
          </a:p>
          <a:p>
            <a:pPr lvl="2"/>
            <a:endParaRPr lang="en-US" dirty="0"/>
          </a:p>
          <a:p>
            <a:pPr lvl="2"/>
            <a:endParaRPr lang="en-US" dirty="0"/>
          </a:p>
          <a:p>
            <a:pPr lvl="2"/>
            <a:endParaRPr lang="en-US" dirty="0"/>
          </a:p>
          <a:p>
            <a:pPr lvl="2"/>
            <a:endParaRPr lang="en-US" dirty="0"/>
          </a:p>
          <a:p>
            <a:pPr lvl="1"/>
            <a:endParaRPr lang="en-US" dirty="0"/>
          </a:p>
        </p:txBody>
      </p:sp>
      <p:pic>
        <p:nvPicPr>
          <p:cNvPr id="5" name="Picture 4">
            <a:extLst>
              <a:ext uri="{FF2B5EF4-FFF2-40B4-BE49-F238E27FC236}">
                <a16:creationId xmlns:a16="http://schemas.microsoft.com/office/drawing/2014/main" id="{23E64150-6378-42CE-8F23-3C1B649C877C}"/>
              </a:ext>
            </a:extLst>
          </p:cNvPr>
          <p:cNvPicPr>
            <a:picLocks noChangeAspect="1"/>
          </p:cNvPicPr>
          <p:nvPr/>
        </p:nvPicPr>
        <p:blipFill>
          <a:blip r:embed="rId2"/>
          <a:stretch>
            <a:fillRect/>
          </a:stretch>
        </p:blipFill>
        <p:spPr>
          <a:xfrm>
            <a:off x="932596" y="2220603"/>
            <a:ext cx="10085696" cy="1208397"/>
          </a:xfrm>
          <a:prstGeom prst="rect">
            <a:avLst/>
          </a:prstGeom>
        </p:spPr>
      </p:pic>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C7A5F77A-4518-476F-BC46-0132B91ABC70}"/>
                  </a:ext>
                </a:extLst>
              </p:cNvPr>
              <p:cNvGraphicFramePr>
                <a:graphicFrameLocks noGrp="1"/>
              </p:cNvGraphicFramePr>
              <p:nvPr/>
            </p:nvGraphicFramePr>
            <p:xfrm>
              <a:off x="1116086" y="3691368"/>
              <a:ext cx="7168104" cy="1854200"/>
            </p:xfrm>
            <a:graphic>
              <a:graphicData uri="http://schemas.openxmlformats.org/drawingml/2006/table">
                <a:tbl>
                  <a:tblPr firstRow="1" bandRow="1">
                    <a:tableStyleId>{5940675A-B579-460E-94D1-54222C63F5DA}</a:tableStyleId>
                  </a:tblPr>
                  <a:tblGrid>
                    <a:gridCol w="3646982">
                      <a:extLst>
                        <a:ext uri="{9D8B030D-6E8A-4147-A177-3AD203B41FA5}">
                          <a16:colId xmlns:a16="http://schemas.microsoft.com/office/drawing/2014/main" val="3624325071"/>
                        </a:ext>
                      </a:extLst>
                    </a:gridCol>
                    <a:gridCol w="1687774">
                      <a:extLst>
                        <a:ext uri="{9D8B030D-6E8A-4147-A177-3AD203B41FA5}">
                          <a16:colId xmlns:a16="http://schemas.microsoft.com/office/drawing/2014/main" val="72971639"/>
                        </a:ext>
                      </a:extLst>
                    </a:gridCol>
                    <a:gridCol w="1833348">
                      <a:extLst>
                        <a:ext uri="{9D8B030D-6E8A-4147-A177-3AD203B41FA5}">
                          <a16:colId xmlns:a16="http://schemas.microsoft.com/office/drawing/2014/main" val="3170805224"/>
                        </a:ext>
                      </a:extLst>
                    </a:gridCol>
                  </a:tblGrid>
                  <a:tr h="370840">
                    <a:tc>
                      <a:txBody>
                        <a:bodyPr/>
                        <a:lstStyle/>
                        <a:p>
                          <a:endParaRPr lang="en-US" sz="1600" dirty="0"/>
                        </a:p>
                      </a:txBody>
                      <a:tcPr/>
                    </a:tc>
                    <a:tc>
                      <a:txBody>
                        <a:bodyPr/>
                        <a:lstStyle/>
                        <a:p>
                          <a:r>
                            <a:rPr lang="en-US" sz="1600" dirty="0"/>
                            <a:t>Queueing Theory</a:t>
                          </a:r>
                        </a:p>
                      </a:txBody>
                      <a:tcPr/>
                    </a:tc>
                    <a:tc>
                      <a:txBody>
                        <a:bodyPr/>
                        <a:lstStyle/>
                        <a:p>
                          <a:r>
                            <a:rPr lang="en-US" sz="1600" dirty="0" err="1"/>
                            <a:t>Simio</a:t>
                          </a:r>
                          <a:r>
                            <a:rPr lang="en-US" sz="1600" dirty="0"/>
                            <a:t> Results</a:t>
                          </a:r>
                        </a:p>
                      </a:txBody>
                      <a:tcPr/>
                    </a:tc>
                    <a:extLst>
                      <a:ext uri="{0D108BD9-81ED-4DB2-BD59-A6C34878D82A}">
                        <a16:rowId xmlns:a16="http://schemas.microsoft.com/office/drawing/2014/main" val="3694124627"/>
                      </a:ext>
                    </a:extLst>
                  </a:tr>
                  <a:tr h="370840">
                    <a:tc>
                      <a:txBody>
                        <a:bodyPr/>
                        <a:lstStyle/>
                        <a:p>
                          <a:r>
                            <a:rPr lang="en-US" sz="1600" dirty="0"/>
                            <a:t>Avg. # of </a:t>
                          </a:r>
                          <a:r>
                            <a:rPr lang="en-US" sz="1600" dirty="0" err="1"/>
                            <a:t>ATMCustomers</a:t>
                          </a:r>
                          <a:r>
                            <a:rPr lang="en-US" sz="1600" dirty="0"/>
                            <a:t> in Bank</a:t>
                          </a:r>
                        </a:p>
                      </a:txBody>
                      <a:tcPr/>
                    </a:tc>
                    <a:tc>
                      <a:txBody>
                        <a:bodyPr/>
                        <a:lstStyle/>
                        <a:p>
                          <a:r>
                            <a:rPr lang="en-US" sz="1600" dirty="0"/>
                            <a:t>2.667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2.6663</a:t>
                          </a:r>
                          <a14:m>
                            <m:oMath xmlns:m="http://schemas.openxmlformats.org/officeDocument/2006/math">
                              <m:r>
                                <a:rPr lang="en-US" sz="1600" i="1" smtClean="0">
                                  <a:latin typeface="Cambria Math" panose="02040503050406030204" pitchFamily="18" charset="0"/>
                                  <a:ea typeface="Cambria Math" panose="02040503050406030204" pitchFamily="18" charset="0"/>
                                </a:rPr>
                                <m:t>∓</m:t>
                              </m:r>
                            </m:oMath>
                          </a14:m>
                          <a:r>
                            <a:rPr lang="en-US" sz="1600" dirty="0"/>
                            <a:t>0.03</a:t>
                          </a:r>
                        </a:p>
                      </a:txBody>
                      <a:tcPr/>
                    </a:tc>
                    <a:extLst>
                      <a:ext uri="{0D108BD9-81ED-4DB2-BD59-A6C34878D82A}">
                        <a16:rowId xmlns:a16="http://schemas.microsoft.com/office/drawing/2014/main" val="3963348053"/>
                      </a:ext>
                    </a:extLst>
                  </a:tr>
                  <a:tr h="370840">
                    <a:tc>
                      <a:txBody>
                        <a:bodyPr/>
                        <a:lstStyle/>
                        <a:p>
                          <a:r>
                            <a:rPr lang="en-US" sz="1600" dirty="0"/>
                            <a:t>Avg. Time of an </a:t>
                          </a:r>
                          <a:r>
                            <a:rPr lang="en-US" sz="1600" dirty="0" err="1"/>
                            <a:t>ATMCustomer</a:t>
                          </a:r>
                          <a:r>
                            <a:rPr lang="en-US" sz="1600" dirty="0"/>
                            <a:t> in the bank</a:t>
                          </a:r>
                        </a:p>
                      </a:txBody>
                      <a:tcPr/>
                    </a:tc>
                    <a:tc>
                      <a:txBody>
                        <a:bodyPr/>
                        <a:lstStyle/>
                        <a:p>
                          <a:r>
                            <a:rPr lang="en-US" sz="1600" dirty="0"/>
                            <a:t>0.266 </a:t>
                          </a:r>
                          <a:r>
                            <a:rPr lang="en-US" sz="1600" dirty="0" err="1"/>
                            <a:t>hrs</a:t>
                          </a:r>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0.2671</a:t>
                          </a:r>
                          <a:r>
                            <a:rPr lang="en-US" sz="1600" dirty="0">
                              <a:ea typeface="Cambria Math" panose="02040503050406030204" pitchFamily="18" charset="0"/>
                            </a:rPr>
                            <a:t> </a:t>
                          </a:r>
                          <a14:m>
                            <m:oMath xmlns:m="http://schemas.openxmlformats.org/officeDocument/2006/math">
                              <m:r>
                                <a:rPr lang="en-US" sz="1600" i="1">
                                  <a:latin typeface="Cambria Math" panose="02040503050406030204" pitchFamily="18" charset="0"/>
                                  <a:ea typeface="Cambria Math" panose="02040503050406030204" pitchFamily="18" charset="0"/>
                                </a:rPr>
                                <m:t>∓</m:t>
                              </m:r>
                            </m:oMath>
                          </a14:m>
                          <a:r>
                            <a:rPr lang="en-US" sz="1600" dirty="0"/>
                            <a:t>0.0027</a:t>
                          </a:r>
                        </a:p>
                      </a:txBody>
                      <a:tcPr/>
                    </a:tc>
                    <a:extLst>
                      <a:ext uri="{0D108BD9-81ED-4DB2-BD59-A6C34878D82A}">
                        <a16:rowId xmlns:a16="http://schemas.microsoft.com/office/drawing/2014/main" val="77831903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Avg. # of </a:t>
                          </a:r>
                          <a:r>
                            <a:rPr lang="en-US" sz="1600" dirty="0" err="1"/>
                            <a:t>TellerCustomers</a:t>
                          </a:r>
                          <a:r>
                            <a:rPr lang="en-US" sz="1600" dirty="0"/>
                            <a:t> in Bank</a:t>
                          </a:r>
                        </a:p>
                      </a:txBody>
                      <a:tcPr/>
                    </a:tc>
                    <a:tc>
                      <a:txBody>
                        <a:bodyPr/>
                        <a:lstStyle/>
                        <a:p>
                          <a:r>
                            <a:rPr lang="en-US" sz="1600" dirty="0"/>
                            <a:t>1.734</a:t>
                          </a:r>
                        </a:p>
                      </a:txBody>
                      <a:tcPr/>
                    </a:tc>
                    <a:tc>
                      <a:txBody>
                        <a:bodyPr/>
                        <a:lstStyle/>
                        <a:p>
                          <a:r>
                            <a:rPr lang="en-US" sz="1600" dirty="0"/>
                            <a:t>1.7519</a:t>
                          </a:r>
                          <a14:m>
                            <m:oMath xmlns:m="http://schemas.openxmlformats.org/officeDocument/2006/math">
                              <m:r>
                                <a:rPr lang="en-US" sz="1600" i="1" smtClean="0">
                                  <a:latin typeface="Cambria Math" panose="02040503050406030204" pitchFamily="18" charset="0"/>
                                  <a:ea typeface="Cambria Math" panose="02040503050406030204" pitchFamily="18" charset="0"/>
                                </a:rPr>
                                <m:t>∓</m:t>
                              </m:r>
                            </m:oMath>
                          </a14:m>
                          <a:r>
                            <a:rPr lang="en-US" sz="1600" dirty="0"/>
                            <a:t>0.0263</a:t>
                          </a:r>
                        </a:p>
                      </a:txBody>
                      <a:tcPr/>
                    </a:tc>
                    <a:extLst>
                      <a:ext uri="{0D108BD9-81ED-4DB2-BD59-A6C34878D82A}">
                        <a16:rowId xmlns:a16="http://schemas.microsoft.com/office/drawing/2014/main" val="3210748737"/>
                      </a:ext>
                    </a:extLst>
                  </a:tr>
                  <a:tr h="370840">
                    <a:tc>
                      <a:txBody>
                        <a:bodyPr/>
                        <a:lstStyle/>
                        <a:p>
                          <a:r>
                            <a:rPr lang="en-US" sz="1600" dirty="0"/>
                            <a:t>Avg. Time of a </a:t>
                          </a:r>
                          <a:r>
                            <a:rPr lang="en-US" sz="1600" dirty="0" err="1"/>
                            <a:t>TellerCustomer</a:t>
                          </a:r>
                          <a:r>
                            <a:rPr lang="en-US" sz="1600" dirty="0"/>
                            <a:t> in the bank</a:t>
                          </a:r>
                        </a:p>
                      </a:txBody>
                      <a:tcPr/>
                    </a:tc>
                    <a:tc>
                      <a:txBody>
                        <a:bodyPr/>
                        <a:lstStyle/>
                        <a:p>
                          <a:r>
                            <a:rPr lang="en-US" sz="1600" dirty="0"/>
                            <a:t>0.346 </a:t>
                          </a:r>
                          <a:r>
                            <a:rPr lang="en-US" sz="1600" dirty="0" err="1"/>
                            <a:t>hrs</a:t>
                          </a:r>
                          <a:endParaRPr lang="en-US" sz="1600" dirty="0"/>
                        </a:p>
                      </a:txBody>
                      <a:tcPr/>
                    </a:tc>
                    <a:tc>
                      <a:txBody>
                        <a:bodyPr/>
                        <a:lstStyle/>
                        <a:p>
                          <a:r>
                            <a:rPr lang="en-US" sz="1600" dirty="0"/>
                            <a:t>0.3499</a:t>
                          </a:r>
                          <a14:m>
                            <m:oMath xmlns:m="http://schemas.openxmlformats.org/officeDocument/2006/math">
                              <m:r>
                                <a:rPr lang="en-US" sz="1600" i="1" smtClean="0">
                                  <a:latin typeface="Cambria Math" panose="02040503050406030204" pitchFamily="18" charset="0"/>
                                  <a:ea typeface="Cambria Math" panose="02040503050406030204" pitchFamily="18" charset="0"/>
                                </a:rPr>
                                <m:t>∓</m:t>
                              </m:r>
                            </m:oMath>
                          </a14:m>
                          <a:r>
                            <a:rPr lang="en-US" sz="1600" dirty="0"/>
                            <a:t>0.0049</a:t>
                          </a:r>
                        </a:p>
                      </a:txBody>
                      <a:tcPr/>
                    </a:tc>
                    <a:extLst>
                      <a:ext uri="{0D108BD9-81ED-4DB2-BD59-A6C34878D82A}">
                        <a16:rowId xmlns:a16="http://schemas.microsoft.com/office/drawing/2014/main" val="1488273822"/>
                      </a:ext>
                    </a:extLst>
                  </a:tr>
                </a:tbl>
              </a:graphicData>
            </a:graphic>
          </p:graphicFrame>
        </mc:Choice>
        <mc:Fallback xmlns="">
          <p:graphicFrame>
            <p:nvGraphicFramePr>
              <p:cNvPr id="7" name="Table 6">
                <a:extLst>
                  <a:ext uri="{FF2B5EF4-FFF2-40B4-BE49-F238E27FC236}">
                    <a16:creationId xmlns:a16="http://schemas.microsoft.com/office/drawing/2014/main" id="{C7A5F77A-4518-476F-BC46-0132B91ABC70}"/>
                  </a:ext>
                </a:extLst>
              </p:cNvPr>
              <p:cNvGraphicFramePr>
                <a:graphicFrameLocks noGrp="1"/>
              </p:cNvGraphicFramePr>
              <p:nvPr>
                <p:extLst>
                  <p:ext uri="{D42A27DB-BD31-4B8C-83A1-F6EECF244321}">
                    <p14:modId xmlns:p14="http://schemas.microsoft.com/office/powerpoint/2010/main" val="3535577381"/>
                  </p:ext>
                </p:extLst>
              </p:nvPr>
            </p:nvGraphicFramePr>
            <p:xfrm>
              <a:off x="1116086" y="3691368"/>
              <a:ext cx="7168104" cy="1854200"/>
            </p:xfrm>
            <a:graphic>
              <a:graphicData uri="http://schemas.openxmlformats.org/drawingml/2006/table">
                <a:tbl>
                  <a:tblPr firstRow="1" bandRow="1">
                    <a:tableStyleId>{5940675A-B579-460E-94D1-54222C63F5DA}</a:tableStyleId>
                  </a:tblPr>
                  <a:tblGrid>
                    <a:gridCol w="3646982">
                      <a:extLst>
                        <a:ext uri="{9D8B030D-6E8A-4147-A177-3AD203B41FA5}">
                          <a16:colId xmlns:a16="http://schemas.microsoft.com/office/drawing/2014/main" val="3624325071"/>
                        </a:ext>
                      </a:extLst>
                    </a:gridCol>
                    <a:gridCol w="1687774">
                      <a:extLst>
                        <a:ext uri="{9D8B030D-6E8A-4147-A177-3AD203B41FA5}">
                          <a16:colId xmlns:a16="http://schemas.microsoft.com/office/drawing/2014/main" val="72971639"/>
                        </a:ext>
                      </a:extLst>
                    </a:gridCol>
                    <a:gridCol w="1833348">
                      <a:extLst>
                        <a:ext uri="{9D8B030D-6E8A-4147-A177-3AD203B41FA5}">
                          <a16:colId xmlns:a16="http://schemas.microsoft.com/office/drawing/2014/main" val="3170805224"/>
                        </a:ext>
                      </a:extLst>
                    </a:gridCol>
                  </a:tblGrid>
                  <a:tr h="370840">
                    <a:tc>
                      <a:txBody>
                        <a:bodyPr/>
                        <a:lstStyle/>
                        <a:p>
                          <a:endParaRPr lang="en-US" sz="1600" dirty="0"/>
                        </a:p>
                      </a:txBody>
                      <a:tcPr/>
                    </a:tc>
                    <a:tc>
                      <a:txBody>
                        <a:bodyPr/>
                        <a:lstStyle/>
                        <a:p>
                          <a:r>
                            <a:rPr lang="en-US" sz="1600" dirty="0"/>
                            <a:t>Queueing Theory</a:t>
                          </a:r>
                        </a:p>
                      </a:txBody>
                      <a:tcPr/>
                    </a:tc>
                    <a:tc>
                      <a:txBody>
                        <a:bodyPr/>
                        <a:lstStyle/>
                        <a:p>
                          <a:r>
                            <a:rPr lang="en-US" sz="1600" dirty="0" err="1"/>
                            <a:t>Simio</a:t>
                          </a:r>
                          <a:r>
                            <a:rPr lang="en-US" sz="1600" dirty="0"/>
                            <a:t> Results</a:t>
                          </a:r>
                        </a:p>
                      </a:txBody>
                      <a:tcPr/>
                    </a:tc>
                    <a:extLst>
                      <a:ext uri="{0D108BD9-81ED-4DB2-BD59-A6C34878D82A}">
                        <a16:rowId xmlns:a16="http://schemas.microsoft.com/office/drawing/2014/main" val="3694124627"/>
                      </a:ext>
                    </a:extLst>
                  </a:tr>
                  <a:tr h="370840">
                    <a:tc>
                      <a:txBody>
                        <a:bodyPr/>
                        <a:lstStyle/>
                        <a:p>
                          <a:r>
                            <a:rPr lang="en-US" sz="1600" dirty="0"/>
                            <a:t>Avg. # of </a:t>
                          </a:r>
                          <a:r>
                            <a:rPr lang="en-US" sz="1600" dirty="0" err="1"/>
                            <a:t>ATMCustomers</a:t>
                          </a:r>
                          <a:r>
                            <a:rPr lang="en-US" sz="1600" dirty="0"/>
                            <a:t> in Bank</a:t>
                          </a:r>
                        </a:p>
                      </a:txBody>
                      <a:tcPr/>
                    </a:tc>
                    <a:tc>
                      <a:txBody>
                        <a:bodyPr/>
                        <a:lstStyle/>
                        <a:p>
                          <a:r>
                            <a:rPr lang="en-US" sz="1600" dirty="0"/>
                            <a:t>2.667</a:t>
                          </a:r>
                        </a:p>
                      </a:txBody>
                      <a:tcPr/>
                    </a:tc>
                    <a:tc>
                      <a:txBody>
                        <a:bodyPr/>
                        <a:lstStyle/>
                        <a:p>
                          <a:endParaRPr lang="en-US"/>
                        </a:p>
                      </a:txBody>
                      <a:tcPr>
                        <a:blipFill>
                          <a:blip r:embed="rId3"/>
                          <a:stretch>
                            <a:fillRect l="-291030" t="-103279" r="-997" b="-311475"/>
                          </a:stretch>
                        </a:blipFill>
                      </a:tcPr>
                    </a:tc>
                    <a:extLst>
                      <a:ext uri="{0D108BD9-81ED-4DB2-BD59-A6C34878D82A}">
                        <a16:rowId xmlns:a16="http://schemas.microsoft.com/office/drawing/2014/main" val="3963348053"/>
                      </a:ext>
                    </a:extLst>
                  </a:tr>
                  <a:tr h="370840">
                    <a:tc>
                      <a:txBody>
                        <a:bodyPr/>
                        <a:lstStyle/>
                        <a:p>
                          <a:r>
                            <a:rPr lang="en-US" sz="1600" dirty="0"/>
                            <a:t>Avg. Time of an </a:t>
                          </a:r>
                          <a:r>
                            <a:rPr lang="en-US" sz="1600" dirty="0" err="1"/>
                            <a:t>ATMCustomer</a:t>
                          </a:r>
                          <a:r>
                            <a:rPr lang="en-US" sz="1600" dirty="0"/>
                            <a:t> in the bank</a:t>
                          </a:r>
                        </a:p>
                      </a:txBody>
                      <a:tcPr/>
                    </a:tc>
                    <a:tc>
                      <a:txBody>
                        <a:bodyPr/>
                        <a:lstStyle/>
                        <a:p>
                          <a:r>
                            <a:rPr lang="en-US" sz="1600" dirty="0"/>
                            <a:t>0.266 </a:t>
                          </a:r>
                          <a:r>
                            <a:rPr lang="en-US" sz="1600" dirty="0" err="1"/>
                            <a:t>hrs</a:t>
                          </a:r>
                          <a:endParaRPr lang="en-US" sz="1600" dirty="0"/>
                        </a:p>
                      </a:txBody>
                      <a:tcPr/>
                    </a:tc>
                    <a:tc>
                      <a:txBody>
                        <a:bodyPr/>
                        <a:lstStyle/>
                        <a:p>
                          <a:endParaRPr lang="en-US"/>
                        </a:p>
                      </a:txBody>
                      <a:tcPr>
                        <a:blipFill>
                          <a:blip r:embed="rId3"/>
                          <a:stretch>
                            <a:fillRect l="-291030" t="-203279" r="-997" b="-211475"/>
                          </a:stretch>
                        </a:blipFill>
                      </a:tcPr>
                    </a:tc>
                    <a:extLst>
                      <a:ext uri="{0D108BD9-81ED-4DB2-BD59-A6C34878D82A}">
                        <a16:rowId xmlns:a16="http://schemas.microsoft.com/office/drawing/2014/main" val="77831903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Avg. # of </a:t>
                          </a:r>
                          <a:r>
                            <a:rPr lang="en-US" sz="1600" dirty="0" err="1"/>
                            <a:t>TellerCustomers</a:t>
                          </a:r>
                          <a:r>
                            <a:rPr lang="en-US" sz="1600" dirty="0"/>
                            <a:t> in Bank</a:t>
                          </a:r>
                        </a:p>
                      </a:txBody>
                      <a:tcPr/>
                    </a:tc>
                    <a:tc>
                      <a:txBody>
                        <a:bodyPr/>
                        <a:lstStyle/>
                        <a:p>
                          <a:r>
                            <a:rPr lang="en-US" sz="1600" dirty="0"/>
                            <a:t>1.734</a:t>
                          </a:r>
                        </a:p>
                      </a:txBody>
                      <a:tcPr/>
                    </a:tc>
                    <a:tc>
                      <a:txBody>
                        <a:bodyPr/>
                        <a:lstStyle/>
                        <a:p>
                          <a:endParaRPr lang="en-US"/>
                        </a:p>
                      </a:txBody>
                      <a:tcPr>
                        <a:blipFill>
                          <a:blip r:embed="rId3"/>
                          <a:stretch>
                            <a:fillRect l="-291030" t="-303279" r="-997" b="-111475"/>
                          </a:stretch>
                        </a:blipFill>
                      </a:tcPr>
                    </a:tc>
                    <a:extLst>
                      <a:ext uri="{0D108BD9-81ED-4DB2-BD59-A6C34878D82A}">
                        <a16:rowId xmlns:a16="http://schemas.microsoft.com/office/drawing/2014/main" val="3210748737"/>
                      </a:ext>
                    </a:extLst>
                  </a:tr>
                  <a:tr h="370840">
                    <a:tc>
                      <a:txBody>
                        <a:bodyPr/>
                        <a:lstStyle/>
                        <a:p>
                          <a:r>
                            <a:rPr lang="en-US" sz="1600" dirty="0"/>
                            <a:t>Avg. Time of a </a:t>
                          </a:r>
                          <a:r>
                            <a:rPr lang="en-US" sz="1600" dirty="0" err="1"/>
                            <a:t>TellerCustomer</a:t>
                          </a:r>
                          <a:r>
                            <a:rPr lang="en-US" sz="1600" dirty="0"/>
                            <a:t> in the bank</a:t>
                          </a:r>
                        </a:p>
                      </a:txBody>
                      <a:tcPr/>
                    </a:tc>
                    <a:tc>
                      <a:txBody>
                        <a:bodyPr/>
                        <a:lstStyle/>
                        <a:p>
                          <a:r>
                            <a:rPr lang="en-US" sz="1600" dirty="0"/>
                            <a:t>0.346 </a:t>
                          </a:r>
                          <a:r>
                            <a:rPr lang="en-US" sz="1600" dirty="0" err="1"/>
                            <a:t>hrs</a:t>
                          </a:r>
                          <a:endParaRPr lang="en-US" sz="1600" dirty="0"/>
                        </a:p>
                      </a:txBody>
                      <a:tcPr/>
                    </a:tc>
                    <a:tc>
                      <a:txBody>
                        <a:bodyPr/>
                        <a:lstStyle/>
                        <a:p>
                          <a:endParaRPr lang="en-US"/>
                        </a:p>
                      </a:txBody>
                      <a:tcPr>
                        <a:blipFill>
                          <a:blip r:embed="rId3"/>
                          <a:stretch>
                            <a:fillRect l="-291030" t="-403279" r="-997" b="-11475"/>
                          </a:stretch>
                        </a:blipFill>
                      </a:tcPr>
                    </a:tc>
                    <a:extLst>
                      <a:ext uri="{0D108BD9-81ED-4DB2-BD59-A6C34878D82A}">
                        <a16:rowId xmlns:a16="http://schemas.microsoft.com/office/drawing/2014/main" val="1488273822"/>
                      </a:ext>
                    </a:extLst>
                  </a:tr>
                </a:tbl>
              </a:graphicData>
            </a:graphic>
          </p:graphicFrame>
        </mc:Fallback>
      </mc:AlternateContent>
      <p:sp>
        <p:nvSpPr>
          <p:cNvPr id="8" name="Explosion: 8 Points 7">
            <a:extLst>
              <a:ext uri="{FF2B5EF4-FFF2-40B4-BE49-F238E27FC236}">
                <a16:creationId xmlns:a16="http://schemas.microsoft.com/office/drawing/2014/main" id="{AB9D9746-8E2E-40AB-A7A9-F9C8F27952E3}"/>
              </a:ext>
            </a:extLst>
          </p:cNvPr>
          <p:cNvSpPr/>
          <p:nvPr/>
        </p:nvSpPr>
        <p:spPr>
          <a:xfrm>
            <a:off x="8902890" y="3940776"/>
            <a:ext cx="2875128" cy="2282603"/>
          </a:xfrm>
          <a:prstGeom prst="irregularSeal1">
            <a:avLst/>
          </a:prstGeom>
          <a:solidFill>
            <a:srgbClr val="C0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Not Bad!!</a:t>
            </a:r>
          </a:p>
        </p:txBody>
      </p:sp>
    </p:spTree>
    <p:extLst>
      <p:ext uri="{BB962C8B-B14F-4D97-AF65-F5344CB8AC3E}">
        <p14:creationId xmlns:p14="http://schemas.microsoft.com/office/powerpoint/2010/main" val="8306672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Bank 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5002" y="1312432"/>
                <a:ext cx="9912664" cy="5256689"/>
              </a:xfrm>
            </p:spPr>
            <p:txBody>
              <a:bodyPr>
                <a:normAutofit/>
              </a:bodyPr>
              <a:lstStyle/>
              <a:p>
                <a:r>
                  <a:rPr lang="en-US" dirty="0"/>
                  <a:t>Model Verification:</a:t>
                </a:r>
              </a:p>
              <a:p>
                <a:pPr lvl="1"/>
                <a:r>
                  <a:rPr lang="en-US" dirty="0"/>
                  <a:t>Queueing theory results: Jackson Network</a:t>
                </a:r>
              </a:p>
              <a:p>
                <a:pPr lvl="2"/>
                <a:r>
                  <a:rPr lang="en-US" dirty="0">
                    <a:solidFill>
                      <a:srgbClr val="C00000"/>
                    </a:solidFill>
                  </a:rPr>
                  <a:t>Server utilizations and number of customers at the stations</a:t>
                </a:r>
              </a:p>
              <a:p>
                <a:pPr lvl="3"/>
                <a:r>
                  <a:rPr lang="en-US" dirty="0"/>
                  <a:t>ATM: </a:t>
                </a:r>
                <a14:m>
                  <m:oMath xmlns:m="http://schemas.openxmlformats.org/officeDocument/2006/math">
                    <m:r>
                      <a:rPr lang="en-US" b="0" i="1" smtClean="0">
                        <a:latin typeface="Cambria Math" panose="02040503050406030204" pitchFamily="18" charset="0"/>
                      </a:rPr>
                      <m:t>𝜌</m:t>
                    </m:r>
                    <m:r>
                      <a:rPr lang="en-US" b="0" i="1" smtClean="0">
                        <a:latin typeface="Cambria Math" panose="02040503050406030204" pitchFamily="18" charset="0"/>
                      </a:rPr>
                      <m:t>=66.67%, </m:t>
                    </m:r>
                    <m:r>
                      <a:rPr lang="en-US" b="0" i="1" smtClean="0">
                        <a:latin typeface="Cambria Math" panose="02040503050406030204" pitchFamily="18" charset="0"/>
                      </a:rPr>
                      <m:t>𝐿𝑞</m:t>
                    </m:r>
                    <m:r>
                      <a:rPr lang="en-US" b="0" i="1" smtClean="0">
                        <a:latin typeface="Cambria Math" panose="02040503050406030204" pitchFamily="18" charset="0"/>
                      </a:rPr>
                      <m:t>=1.33, </m:t>
                    </m:r>
                    <m:r>
                      <a:rPr lang="en-US" b="0" i="1" smtClean="0">
                        <a:latin typeface="Cambria Math" panose="02040503050406030204" pitchFamily="18" charset="0"/>
                      </a:rPr>
                      <m:t>𝐿</m:t>
                    </m:r>
                    <m:r>
                      <a:rPr lang="en-US" b="0" i="1" smtClean="0">
                        <a:latin typeface="Cambria Math" panose="02040503050406030204" pitchFamily="18" charset="0"/>
                      </a:rPr>
                      <m:t>=2</m:t>
                    </m:r>
                  </m:oMath>
                </a14:m>
                <a:endParaRPr lang="en-US" dirty="0"/>
              </a:p>
              <a:p>
                <a:pPr lvl="3"/>
                <a:r>
                  <a:rPr lang="en-US" dirty="0"/>
                  <a:t>Teller: </a:t>
                </a:r>
                <a14:m>
                  <m:oMath xmlns:m="http://schemas.openxmlformats.org/officeDocument/2006/math">
                    <m:r>
                      <a:rPr lang="en-US" i="1">
                        <a:latin typeface="Cambria Math" panose="02040503050406030204" pitchFamily="18" charset="0"/>
                      </a:rPr>
                      <m:t>𝜌</m:t>
                    </m:r>
                    <m:r>
                      <a:rPr lang="en-US" i="1">
                        <a:latin typeface="Cambria Math" panose="02040503050406030204" pitchFamily="18" charset="0"/>
                      </a:rPr>
                      <m:t>=58.34%, </m:t>
                    </m:r>
                    <m:r>
                      <a:rPr lang="en-US" i="1">
                        <a:latin typeface="Cambria Math" panose="02040503050406030204" pitchFamily="18" charset="0"/>
                      </a:rPr>
                      <m:t>𝐿𝑞</m:t>
                    </m:r>
                    <m:r>
                      <a:rPr lang="en-US" i="1">
                        <a:latin typeface="Cambria Math" panose="02040503050406030204" pitchFamily="18" charset="0"/>
                      </a:rPr>
                      <m:t>=0.817, </m:t>
                    </m:r>
                    <m:r>
                      <a:rPr lang="en-US" i="1">
                        <a:latin typeface="Cambria Math" panose="02040503050406030204" pitchFamily="18" charset="0"/>
                      </a:rPr>
                      <m:t>𝐿</m:t>
                    </m:r>
                    <m:r>
                      <a:rPr lang="en-US" i="1">
                        <a:latin typeface="Cambria Math" panose="02040503050406030204" pitchFamily="18" charset="0"/>
                      </a:rPr>
                      <m:t>=1.4</m:t>
                    </m:r>
                  </m:oMath>
                </a14:m>
                <a:endParaRPr lang="en-US" dirty="0"/>
              </a:p>
              <a:p>
                <a:pPr lvl="3"/>
                <a:r>
                  <a:rPr lang="en-US" dirty="0"/>
                  <a:t>Manager: </a:t>
                </a:r>
                <a14:m>
                  <m:oMath xmlns:m="http://schemas.openxmlformats.org/officeDocument/2006/math">
                    <m:r>
                      <a:rPr lang="en-US" i="1">
                        <a:latin typeface="Cambria Math" panose="02040503050406030204" pitchFamily="18" charset="0"/>
                      </a:rPr>
                      <m:t>𝜌</m:t>
                    </m:r>
                    <m:r>
                      <a:rPr lang="en-US" i="1">
                        <a:latin typeface="Cambria Math" panose="02040503050406030204" pitchFamily="18" charset="0"/>
                      </a:rPr>
                      <m:t>=50%, </m:t>
                    </m:r>
                    <m:r>
                      <a:rPr lang="en-US" i="1">
                        <a:latin typeface="Cambria Math" panose="02040503050406030204" pitchFamily="18" charset="0"/>
                      </a:rPr>
                      <m:t>𝐿𝑞</m:t>
                    </m:r>
                    <m:r>
                      <a:rPr lang="en-US" i="1">
                        <a:latin typeface="Cambria Math" panose="02040503050406030204" pitchFamily="18" charset="0"/>
                      </a:rPr>
                      <m:t>=0.5, </m:t>
                    </m:r>
                    <m:r>
                      <a:rPr lang="en-US" i="1">
                        <a:latin typeface="Cambria Math" panose="02040503050406030204" pitchFamily="18" charset="0"/>
                      </a:rPr>
                      <m:t>𝐿</m:t>
                    </m:r>
                    <m:r>
                      <a:rPr lang="en-US" i="1">
                        <a:latin typeface="Cambria Math" panose="02040503050406030204" pitchFamily="18" charset="0"/>
                      </a:rPr>
                      <m:t>=1</m:t>
                    </m:r>
                  </m:oMath>
                </a14:m>
                <a:endParaRPr lang="en-US" dirty="0"/>
              </a:p>
              <a:p>
                <a:pPr lvl="1"/>
                <a:r>
                  <a:rPr lang="en-US" dirty="0" err="1"/>
                  <a:t>Simio</a:t>
                </a:r>
                <a:r>
                  <a:rPr lang="en-US" dirty="0"/>
                  <a:t> results:</a:t>
                </a: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5002" y="1312432"/>
                <a:ext cx="9912664" cy="5256689"/>
              </a:xfrm>
              <a:blipFill>
                <a:blip r:embed="rId2"/>
                <a:stretch>
                  <a:fillRect l="-1107" t="-1854"/>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0C4A9BDE-5B94-4DEE-AA9C-2D67386E3403}"/>
              </a:ext>
            </a:extLst>
          </p:cNvPr>
          <p:cNvPicPr>
            <a:picLocks noChangeAspect="1"/>
          </p:cNvPicPr>
          <p:nvPr/>
        </p:nvPicPr>
        <p:blipFill>
          <a:blip r:embed="rId3"/>
          <a:stretch>
            <a:fillRect/>
          </a:stretch>
        </p:blipFill>
        <p:spPr>
          <a:xfrm>
            <a:off x="10062947" y="1277546"/>
            <a:ext cx="1843254" cy="1502898"/>
          </a:xfrm>
          <a:prstGeom prst="rect">
            <a:avLst/>
          </a:prstGeom>
        </p:spPr>
      </p:pic>
      <p:pic>
        <p:nvPicPr>
          <p:cNvPr id="5" name="Picture 4">
            <a:extLst>
              <a:ext uri="{FF2B5EF4-FFF2-40B4-BE49-F238E27FC236}">
                <a16:creationId xmlns:a16="http://schemas.microsoft.com/office/drawing/2014/main" id="{E3CBEC2E-4819-45A8-9F80-1DFE1AFD1818}"/>
              </a:ext>
            </a:extLst>
          </p:cNvPr>
          <p:cNvPicPr>
            <a:picLocks noChangeAspect="1"/>
          </p:cNvPicPr>
          <p:nvPr/>
        </p:nvPicPr>
        <p:blipFill>
          <a:blip r:embed="rId4"/>
          <a:stretch>
            <a:fillRect/>
          </a:stretch>
        </p:blipFill>
        <p:spPr>
          <a:xfrm>
            <a:off x="1073623" y="3995054"/>
            <a:ext cx="8234149" cy="1849561"/>
          </a:xfrm>
          <a:prstGeom prst="rect">
            <a:avLst/>
          </a:prstGeom>
        </p:spPr>
      </p:pic>
      <p:sp>
        <p:nvSpPr>
          <p:cNvPr id="7" name="Explosion: 8 Points 6">
            <a:extLst>
              <a:ext uri="{FF2B5EF4-FFF2-40B4-BE49-F238E27FC236}">
                <a16:creationId xmlns:a16="http://schemas.microsoft.com/office/drawing/2014/main" id="{1E5C2F52-E0B8-4366-B238-42523C9872BC}"/>
              </a:ext>
            </a:extLst>
          </p:cNvPr>
          <p:cNvSpPr/>
          <p:nvPr/>
        </p:nvSpPr>
        <p:spPr>
          <a:xfrm>
            <a:off x="10062947" y="3995054"/>
            <a:ext cx="1843254" cy="1792406"/>
          </a:xfrm>
          <a:prstGeom prst="irregularSeal1">
            <a:avLst/>
          </a:prstGeom>
          <a:solidFill>
            <a:srgbClr val="C0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Not Bad!!</a:t>
            </a:r>
          </a:p>
        </p:txBody>
      </p:sp>
    </p:spTree>
    <p:extLst>
      <p:ext uri="{BB962C8B-B14F-4D97-AF65-F5344CB8AC3E}">
        <p14:creationId xmlns:p14="http://schemas.microsoft.com/office/powerpoint/2010/main" val="23623769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Bank Example</a:t>
            </a:r>
          </a:p>
        </p:txBody>
      </p:sp>
      <p:sp>
        <p:nvSpPr>
          <p:cNvPr id="3" name="Content Placeholder 2"/>
          <p:cNvSpPr>
            <a:spLocks noGrp="1"/>
          </p:cNvSpPr>
          <p:nvPr>
            <p:ph idx="1"/>
          </p:nvPr>
        </p:nvSpPr>
        <p:spPr>
          <a:xfrm>
            <a:off x="355001" y="1312432"/>
            <a:ext cx="11551199" cy="5256689"/>
          </a:xfrm>
        </p:spPr>
        <p:txBody>
          <a:bodyPr>
            <a:normAutofit/>
          </a:bodyPr>
          <a:lstStyle/>
          <a:p>
            <a:r>
              <a:rPr lang="en-US" dirty="0"/>
              <a:t>Model Verification:</a:t>
            </a:r>
          </a:p>
          <a:p>
            <a:pPr lvl="1"/>
            <a:r>
              <a:rPr lang="en-US" dirty="0"/>
              <a:t>Queueing theory results: Jackson Network</a:t>
            </a:r>
          </a:p>
          <a:p>
            <a:pPr lvl="2"/>
            <a:r>
              <a:rPr lang="en-US" dirty="0">
                <a:solidFill>
                  <a:srgbClr val="C00000"/>
                </a:solidFill>
              </a:rPr>
              <a:t>The avg. time spent by a customer exiting from different paths (sinks 1, 2, 3)</a:t>
            </a:r>
          </a:p>
          <a:p>
            <a:pPr lvl="3"/>
            <a:r>
              <a:rPr lang="en-US" dirty="0"/>
              <a:t>Sink 1: These are the customers who exit after visiting ATM </a:t>
            </a:r>
            <a:r>
              <a:rPr lang="en-US" dirty="0">
                <a:sym typeface="Wingdings" panose="05000000000000000000" pitchFamily="2" charset="2"/>
              </a:rPr>
              <a:t> W=0.2 </a:t>
            </a:r>
            <a:r>
              <a:rPr lang="en-US" dirty="0" err="1">
                <a:sym typeface="Wingdings" panose="05000000000000000000" pitchFamily="2" charset="2"/>
              </a:rPr>
              <a:t>hrs</a:t>
            </a:r>
            <a:endParaRPr lang="en-US" dirty="0">
              <a:sym typeface="Wingdings" panose="05000000000000000000" pitchFamily="2" charset="2"/>
            </a:endParaRPr>
          </a:p>
          <a:p>
            <a:pPr lvl="3"/>
            <a:r>
              <a:rPr lang="en-US" dirty="0">
                <a:sym typeface="Wingdings" panose="05000000000000000000" pitchFamily="2" charset="2"/>
              </a:rPr>
              <a:t>Sink 3: These are the customers who exit after visiting Teller  W=0.28 </a:t>
            </a:r>
            <a:r>
              <a:rPr lang="en-US" dirty="0" err="1">
                <a:sym typeface="Wingdings" panose="05000000000000000000" pitchFamily="2" charset="2"/>
              </a:rPr>
              <a:t>hrs</a:t>
            </a:r>
            <a:endParaRPr lang="en-US" dirty="0">
              <a:sym typeface="Wingdings" panose="05000000000000000000" pitchFamily="2" charset="2"/>
            </a:endParaRPr>
          </a:p>
          <a:p>
            <a:pPr lvl="3"/>
            <a:r>
              <a:rPr lang="en-US" dirty="0">
                <a:sym typeface="Wingdings" panose="05000000000000000000" pitchFamily="2" charset="2"/>
              </a:rPr>
              <a:t>Sink 2: These are the customers who exit after visiting Manager</a:t>
            </a:r>
          </a:p>
          <a:p>
            <a:pPr lvl="4"/>
            <a:r>
              <a:rPr lang="en-US" dirty="0">
                <a:sym typeface="Wingdings" panose="05000000000000000000" pitchFamily="2" charset="2"/>
              </a:rPr>
              <a:t>They spend W=0.66 </a:t>
            </a:r>
            <a:r>
              <a:rPr lang="en-US" dirty="0" err="1">
                <a:sym typeface="Wingdings" panose="05000000000000000000" pitchFamily="2" charset="2"/>
              </a:rPr>
              <a:t>hrs</a:t>
            </a:r>
            <a:r>
              <a:rPr lang="en-US" dirty="0">
                <a:sym typeface="Wingdings" panose="05000000000000000000" pitchFamily="2" charset="2"/>
              </a:rPr>
              <a:t> in the Manager station on average</a:t>
            </a:r>
          </a:p>
          <a:p>
            <a:pPr lvl="4"/>
            <a:r>
              <a:rPr lang="en-US" dirty="0">
                <a:sym typeface="Wingdings" panose="05000000000000000000" pitchFamily="2" charset="2"/>
              </a:rPr>
              <a:t>Before coming to the Manager station</a:t>
            </a:r>
          </a:p>
          <a:p>
            <a:pPr lvl="5"/>
            <a:r>
              <a:rPr lang="en-US" dirty="0">
                <a:sym typeface="Wingdings" panose="05000000000000000000" pitchFamily="2" charset="2"/>
              </a:rPr>
              <a:t>A customer comes from ATM station with probability 2/3</a:t>
            </a:r>
          </a:p>
          <a:p>
            <a:pPr lvl="5"/>
            <a:r>
              <a:rPr lang="en-US" dirty="0">
                <a:sym typeface="Wingdings" panose="05000000000000000000" pitchFamily="2" charset="2"/>
              </a:rPr>
              <a:t>A customer comes from Teller station with probability 1/3</a:t>
            </a:r>
          </a:p>
          <a:p>
            <a:pPr lvl="5"/>
            <a:r>
              <a:rPr lang="en-US" dirty="0">
                <a:sym typeface="Wingdings" panose="05000000000000000000" pitchFamily="2" charset="2"/>
              </a:rPr>
              <a:t>So before coming to Manager, expected time spent is 2/3*0.2+1/3*0.28</a:t>
            </a:r>
          </a:p>
          <a:p>
            <a:pPr lvl="4"/>
            <a:r>
              <a:rPr lang="en-US" dirty="0">
                <a:sym typeface="Wingdings" panose="05000000000000000000" pitchFamily="2" charset="2"/>
              </a:rPr>
              <a:t>So customers who exit after visiting Manager spend 0.66+ 2/3*0.2+1/3*0.28=0.886 </a:t>
            </a:r>
            <a:r>
              <a:rPr lang="en-US" dirty="0" err="1">
                <a:sym typeface="Wingdings" panose="05000000000000000000" pitchFamily="2" charset="2"/>
              </a:rPr>
              <a:t>hrs</a:t>
            </a:r>
            <a:r>
              <a:rPr lang="en-US" dirty="0">
                <a:sym typeface="Wingdings" panose="05000000000000000000" pitchFamily="2" charset="2"/>
              </a:rPr>
              <a:t> on average</a:t>
            </a:r>
            <a:endParaRPr lang="en-US" dirty="0"/>
          </a:p>
          <a:p>
            <a:pPr lvl="1"/>
            <a:r>
              <a:rPr lang="en-US" dirty="0" err="1"/>
              <a:t>Simio</a:t>
            </a:r>
            <a:r>
              <a:rPr lang="en-US" dirty="0"/>
              <a:t> results:</a:t>
            </a:r>
          </a:p>
          <a:p>
            <a:pPr lvl="1"/>
            <a:endParaRPr lang="en-US" dirty="0"/>
          </a:p>
        </p:txBody>
      </p:sp>
      <p:pic>
        <p:nvPicPr>
          <p:cNvPr id="6" name="Picture 5">
            <a:extLst>
              <a:ext uri="{FF2B5EF4-FFF2-40B4-BE49-F238E27FC236}">
                <a16:creationId xmlns:a16="http://schemas.microsoft.com/office/drawing/2014/main" id="{0C4A9BDE-5B94-4DEE-AA9C-2D67386E3403}"/>
              </a:ext>
            </a:extLst>
          </p:cNvPr>
          <p:cNvPicPr>
            <a:picLocks noChangeAspect="1"/>
          </p:cNvPicPr>
          <p:nvPr/>
        </p:nvPicPr>
        <p:blipFill>
          <a:blip r:embed="rId2"/>
          <a:stretch>
            <a:fillRect/>
          </a:stretch>
        </p:blipFill>
        <p:spPr>
          <a:xfrm>
            <a:off x="10062947" y="1277546"/>
            <a:ext cx="1843254" cy="1502898"/>
          </a:xfrm>
          <a:prstGeom prst="rect">
            <a:avLst/>
          </a:prstGeom>
        </p:spPr>
      </p:pic>
      <p:pic>
        <p:nvPicPr>
          <p:cNvPr id="4" name="Picture 3">
            <a:extLst>
              <a:ext uri="{FF2B5EF4-FFF2-40B4-BE49-F238E27FC236}">
                <a16:creationId xmlns:a16="http://schemas.microsoft.com/office/drawing/2014/main" id="{A3BA3C38-D9FE-44BA-8FB3-74A9D62D85BF}"/>
              </a:ext>
            </a:extLst>
          </p:cNvPr>
          <p:cNvPicPr>
            <a:picLocks noChangeAspect="1"/>
          </p:cNvPicPr>
          <p:nvPr/>
        </p:nvPicPr>
        <p:blipFill>
          <a:blip r:embed="rId3"/>
          <a:stretch>
            <a:fillRect/>
          </a:stretch>
        </p:blipFill>
        <p:spPr>
          <a:xfrm>
            <a:off x="1305636" y="5737687"/>
            <a:ext cx="8447964" cy="831434"/>
          </a:xfrm>
          <a:prstGeom prst="rect">
            <a:avLst/>
          </a:prstGeom>
        </p:spPr>
      </p:pic>
      <p:sp>
        <p:nvSpPr>
          <p:cNvPr id="8" name="Explosion: 8 Points 7">
            <a:extLst>
              <a:ext uri="{FF2B5EF4-FFF2-40B4-BE49-F238E27FC236}">
                <a16:creationId xmlns:a16="http://schemas.microsoft.com/office/drawing/2014/main" id="{B59A92C4-6FB3-4673-A722-5908850B1136}"/>
              </a:ext>
            </a:extLst>
          </p:cNvPr>
          <p:cNvSpPr/>
          <p:nvPr/>
        </p:nvSpPr>
        <p:spPr>
          <a:xfrm>
            <a:off x="10329079" y="5315759"/>
            <a:ext cx="1310989" cy="1288248"/>
          </a:xfrm>
          <a:prstGeom prst="irregularSeal1">
            <a:avLst/>
          </a:prstGeom>
          <a:solidFill>
            <a:srgbClr val="C0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Not Bad!!</a:t>
            </a:r>
          </a:p>
        </p:txBody>
      </p:sp>
    </p:spTree>
    <p:extLst>
      <p:ext uri="{BB962C8B-B14F-4D97-AF65-F5344CB8AC3E}">
        <p14:creationId xmlns:p14="http://schemas.microsoft.com/office/powerpoint/2010/main" val="2388343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b19c134a-14c9-4d4c-af65-c420f94c8cbb}" enabled="0" method="" siteId="{b19c134a-14c9-4d4c-af65-c420f94c8cbb}" removed="1"/>
</clbl:labelList>
</file>

<file path=docProps/app.xml><?xml version="1.0" encoding="utf-8"?>
<Properties xmlns="http://schemas.openxmlformats.org/officeDocument/2006/extended-properties" xmlns:vt="http://schemas.openxmlformats.org/officeDocument/2006/docPropsVTypes">
  <TotalTime>7050</TotalTime>
  <Words>2844</Words>
  <Application>Microsoft Office PowerPoint</Application>
  <PresentationFormat>Widescreen</PresentationFormat>
  <Paragraphs>454</Paragraphs>
  <Slides>40</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Arial</vt:lpstr>
      <vt:lpstr>Calibri</vt:lpstr>
      <vt:lpstr>Calibri Light</vt:lpstr>
      <vt:lpstr>Cambria Math</vt:lpstr>
      <vt:lpstr>Wingdings</vt:lpstr>
      <vt:lpstr>Office Theme</vt:lpstr>
      <vt:lpstr>QMST 5335 Module 3.1  Introduction to Simio and First Simio Models </vt:lpstr>
      <vt:lpstr>Learning Objectives:</vt:lpstr>
      <vt:lpstr>Outline</vt:lpstr>
      <vt:lpstr>Outline</vt:lpstr>
      <vt:lpstr>Basic Simio User Interface</vt:lpstr>
      <vt:lpstr>Basic Simio User Interface</vt:lpstr>
      <vt:lpstr>Basic Simio User Interface</vt:lpstr>
      <vt:lpstr>Basic Simio User Interface</vt:lpstr>
      <vt:lpstr>Basic Simio User Interface</vt:lpstr>
      <vt:lpstr>Basic Simio User Interface</vt:lpstr>
      <vt:lpstr>Basic Simio User Interface</vt:lpstr>
      <vt:lpstr>Basic Simio User Interface</vt:lpstr>
      <vt:lpstr>Outline</vt:lpstr>
      <vt:lpstr>First Simio Model</vt:lpstr>
      <vt:lpstr>First Simio Model</vt:lpstr>
      <vt:lpstr>First Simio Model</vt:lpstr>
      <vt:lpstr>First Simio Model</vt:lpstr>
      <vt:lpstr>First Simio Model</vt:lpstr>
      <vt:lpstr>First Simio Model</vt:lpstr>
      <vt:lpstr>First Simio Model</vt:lpstr>
      <vt:lpstr>First Simio Model</vt:lpstr>
      <vt:lpstr>First Simio Model</vt:lpstr>
      <vt:lpstr>First Simio Model</vt:lpstr>
      <vt:lpstr>First Simio Model</vt:lpstr>
      <vt:lpstr>First Simio Model</vt:lpstr>
      <vt:lpstr>First Simio Model</vt:lpstr>
      <vt:lpstr>First Simio Model</vt:lpstr>
      <vt:lpstr>Outline</vt:lpstr>
      <vt:lpstr>Bank Example: Description</vt:lpstr>
      <vt:lpstr>Bank Example: The Queueing Network</vt:lpstr>
      <vt:lpstr>Bank Example: Simio Model</vt:lpstr>
      <vt:lpstr>Bank Example: Simio Modeling</vt:lpstr>
      <vt:lpstr>Bank Example: Simio Modeling</vt:lpstr>
      <vt:lpstr>Bank Example: Simio Modeling</vt:lpstr>
      <vt:lpstr>Bank Example</vt:lpstr>
      <vt:lpstr>Bank Example</vt:lpstr>
      <vt:lpstr>Bank Example</vt:lpstr>
      <vt:lpstr>Bank Example</vt:lpstr>
      <vt:lpstr>Bank Example</vt:lpstr>
      <vt:lpstr>Bank Example</vt:lpstr>
    </vt:vector>
  </TitlesOfParts>
  <Company>Missouri University of Science and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Konur, Dincer</dc:creator>
  <cp:lastModifiedBy>Sahan Konur, Sahika</cp:lastModifiedBy>
  <cp:revision>311</cp:revision>
  <dcterms:created xsi:type="dcterms:W3CDTF">2018-08-17T02:14:39Z</dcterms:created>
  <dcterms:modified xsi:type="dcterms:W3CDTF">2024-03-29T21:16:51Z</dcterms:modified>
</cp:coreProperties>
</file>