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358" r:id="rId3"/>
    <p:sldId id="257" r:id="rId4"/>
    <p:sldId id="406" r:id="rId5"/>
    <p:sldId id="359" r:id="rId6"/>
    <p:sldId id="360" r:id="rId7"/>
    <p:sldId id="273" r:id="rId8"/>
    <p:sldId id="361" r:id="rId9"/>
    <p:sldId id="407" r:id="rId10"/>
    <p:sldId id="362" r:id="rId11"/>
    <p:sldId id="363" r:id="rId12"/>
    <p:sldId id="364" r:id="rId13"/>
    <p:sldId id="268" r:id="rId14"/>
    <p:sldId id="365" r:id="rId15"/>
    <p:sldId id="277" r:id="rId16"/>
    <p:sldId id="367" r:id="rId17"/>
    <p:sldId id="282" r:id="rId18"/>
    <p:sldId id="368" r:id="rId19"/>
    <p:sldId id="369" r:id="rId20"/>
    <p:sldId id="284" r:id="rId21"/>
    <p:sldId id="285" r:id="rId22"/>
    <p:sldId id="371" r:id="rId23"/>
    <p:sldId id="372" r:id="rId24"/>
    <p:sldId id="291" r:id="rId25"/>
    <p:sldId id="373" r:id="rId26"/>
    <p:sldId id="408" r:id="rId27"/>
    <p:sldId id="267" r:id="rId28"/>
    <p:sldId id="272" r:id="rId29"/>
    <p:sldId id="375" r:id="rId30"/>
    <p:sldId id="274" r:id="rId31"/>
    <p:sldId id="271" r:id="rId32"/>
    <p:sldId id="276" r:id="rId33"/>
    <p:sldId id="280" r:id="rId34"/>
    <p:sldId id="380" r:id="rId35"/>
    <p:sldId id="376" r:id="rId36"/>
    <p:sldId id="377" r:id="rId37"/>
    <p:sldId id="378" r:id="rId38"/>
    <p:sldId id="286" r:id="rId39"/>
    <p:sldId id="289" r:id="rId40"/>
    <p:sldId id="379" r:id="rId41"/>
    <p:sldId id="409" r:id="rId42"/>
    <p:sldId id="382" r:id="rId43"/>
    <p:sldId id="383" r:id="rId44"/>
    <p:sldId id="384" r:id="rId45"/>
    <p:sldId id="385" r:id="rId46"/>
    <p:sldId id="386" r:id="rId47"/>
    <p:sldId id="275" r:id="rId48"/>
    <p:sldId id="387" r:id="rId49"/>
    <p:sldId id="395" r:id="rId50"/>
    <p:sldId id="396" r:id="rId51"/>
    <p:sldId id="397" r:id="rId52"/>
    <p:sldId id="398" r:id="rId53"/>
    <p:sldId id="399" r:id="rId54"/>
    <p:sldId id="400" r:id="rId55"/>
    <p:sldId id="401" r:id="rId56"/>
    <p:sldId id="410" r:id="rId57"/>
    <p:sldId id="402" r:id="rId58"/>
    <p:sldId id="403" r:id="rId59"/>
    <p:sldId id="404" r:id="rId60"/>
    <p:sldId id="40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206988A7-7000-4D94-BA4B-7439655B05C5}"/>
    <pc:docChg chg="custSel modSld">
      <pc:chgData name="Sahan Konur, Sahika" userId="739a6e03-9a4a-49c6-a350-571b31db94be" providerId="ADAL" clId="{206988A7-7000-4D94-BA4B-7439655B05C5}" dt="2024-01-26T16:29:55.880" v="1" actId="27636"/>
      <pc:docMkLst>
        <pc:docMk/>
      </pc:docMkLst>
      <pc:sldChg chg="modSp mod">
        <pc:chgData name="Sahan Konur, Sahika" userId="739a6e03-9a4a-49c6-a350-571b31db94be" providerId="ADAL" clId="{206988A7-7000-4D94-BA4B-7439655B05C5}" dt="2024-01-26T16:29:55.880" v="1" actId="27636"/>
        <pc:sldMkLst>
          <pc:docMk/>
          <pc:sldMk cId="698425873" sldId="266"/>
        </pc:sldMkLst>
        <pc:spChg chg="mod">
          <ac:chgData name="Sahan Konur, Sahika" userId="739a6e03-9a4a-49c6-a350-571b31db94be" providerId="ADAL" clId="{206988A7-7000-4D94-BA4B-7439655B05C5}" dt="2024-01-26T16:29:55.880" v="1" actId="27636"/>
          <ac:spMkLst>
            <pc:docMk/>
            <pc:sldMk cId="698425873" sldId="26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48601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81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62741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97853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06587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913569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89165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13094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23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05155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90403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1/26/2024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243564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32.png"/><Relationship Id="rId4" Type="http://schemas.openxmlformats.org/officeDocument/2006/relationships/image" Target="../media/image47.png"/><Relationship Id="rId9"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60.png"/><Relationship Id="rId4" Type="http://schemas.openxmlformats.org/officeDocument/2006/relationships/image" Target="../media/image81.png"/><Relationship Id="rId9"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a:bodyPr>
          <a:lstStyle/>
          <a:p>
            <a:r>
              <a:rPr lang="en-US" sz="3200" dirty="0"/>
              <a:t>QMST 5335</a:t>
            </a:r>
            <a:br>
              <a:rPr lang="en-US" sz="5400" dirty="0"/>
            </a:br>
            <a:r>
              <a:rPr lang="en-US" sz="5400" b="1" dirty="0"/>
              <a:t>Exponential Smoothing Methods</a:t>
            </a:r>
            <a:br>
              <a:rPr lang="en-US" sz="5400" dirty="0"/>
            </a:br>
            <a:endParaRPr lang="en-US" sz="4400" b="1" dirty="0">
              <a:solidFill>
                <a:srgbClr val="C00000"/>
              </a:solidFill>
            </a:endParaRPr>
          </a:p>
        </p:txBody>
      </p:sp>
      <p:sp>
        <p:nvSpPr>
          <p:cNvPr id="5" name="Subtitle 4">
            <a:extLst>
              <a:ext uri="{FF2B5EF4-FFF2-40B4-BE49-F238E27FC236}">
                <a16:creationId xmlns:a16="http://schemas.microsoft.com/office/drawing/2014/main" id="{E6D8F2F0-9F34-E6E3-80DD-EB3A31E41FB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98425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9A2C-3D53-CD9D-044D-9740137293C7}"/>
              </a:ext>
            </a:extLst>
          </p:cNvPr>
          <p:cNvSpPr>
            <a:spLocks noGrp="1"/>
          </p:cNvSpPr>
          <p:nvPr>
            <p:ph type="title"/>
          </p:nvPr>
        </p:nvSpPr>
        <p:spPr/>
        <p:txBody>
          <a:bodyPr/>
          <a:lstStyle/>
          <a:p>
            <a:r>
              <a:rPr lang="en-US" dirty="0">
                <a:solidFill>
                  <a:srgbClr val="C00000"/>
                </a:solidFill>
              </a:rPr>
              <a:t>Learning Objectives:</a:t>
            </a:r>
          </a:p>
        </p:txBody>
      </p:sp>
      <p:sp>
        <p:nvSpPr>
          <p:cNvPr id="3" name="Content Placeholder 2">
            <a:extLst>
              <a:ext uri="{FF2B5EF4-FFF2-40B4-BE49-F238E27FC236}">
                <a16:creationId xmlns:a16="http://schemas.microsoft.com/office/drawing/2014/main" id="{698D41C9-0B92-95F3-E7AD-C8F387519FB4}"/>
              </a:ext>
            </a:extLst>
          </p:cNvPr>
          <p:cNvSpPr>
            <a:spLocks noGrp="1"/>
          </p:cNvSpPr>
          <p:nvPr>
            <p:ph idx="1"/>
          </p:nvPr>
        </p:nvSpPr>
        <p:spPr/>
        <p:txBody>
          <a:bodyPr/>
          <a:lstStyle/>
          <a:p>
            <a:r>
              <a:rPr lang="en-US" dirty="0"/>
              <a:t>Details of Exponential Smoothing Methods</a:t>
            </a:r>
          </a:p>
          <a:p>
            <a:pPr lvl="1"/>
            <a:r>
              <a:rPr lang="en-US" dirty="0"/>
              <a:t>Simple Exponential Smoothing method</a:t>
            </a:r>
          </a:p>
          <a:p>
            <a:pPr lvl="2"/>
            <a:r>
              <a:rPr lang="en-US" dirty="0"/>
              <a:t>How does it work? Key points! Implementation and optimization</a:t>
            </a:r>
          </a:p>
          <a:p>
            <a:pPr lvl="1"/>
            <a:r>
              <a:rPr lang="en-US" dirty="0"/>
              <a:t>Methods with trend</a:t>
            </a:r>
          </a:p>
          <a:p>
            <a:pPr lvl="2"/>
            <a:r>
              <a:rPr lang="en-US" dirty="0"/>
              <a:t>How does it work? Key points! Implementation and optimization</a:t>
            </a:r>
          </a:p>
          <a:p>
            <a:pPr lvl="1"/>
            <a:r>
              <a:rPr lang="en-US" dirty="0"/>
              <a:t>Methods with seasonality</a:t>
            </a:r>
          </a:p>
          <a:p>
            <a:pPr lvl="2"/>
            <a:r>
              <a:rPr lang="en-US" dirty="0"/>
              <a:t>How does it work? Implementation and optimization</a:t>
            </a:r>
          </a:p>
          <a:p>
            <a:pPr lvl="1"/>
            <a:r>
              <a:rPr lang="en-US" dirty="0"/>
              <a:t>Overview of ETS methods</a:t>
            </a:r>
          </a:p>
          <a:p>
            <a:pPr lvl="2"/>
            <a:r>
              <a:rPr lang="en-US" dirty="0"/>
              <a:t>Taxonomy</a:t>
            </a:r>
          </a:p>
        </p:txBody>
      </p:sp>
    </p:spTree>
    <p:extLst>
      <p:ext uri="{BB962C8B-B14F-4D97-AF65-F5344CB8AC3E}">
        <p14:creationId xmlns:p14="http://schemas.microsoft.com/office/powerpoint/2010/main" val="3723040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t>Exponential Smoothing Methods</a:t>
            </a:r>
          </a:p>
          <a:p>
            <a:pPr lvl="1"/>
            <a:r>
              <a:rPr lang="en-US" dirty="0"/>
              <a:t>Introduction and Notation</a:t>
            </a:r>
          </a:p>
          <a:p>
            <a:r>
              <a:rPr lang="en-US" dirty="0"/>
              <a:t>Simple Exponential Smoothing</a:t>
            </a:r>
          </a:p>
          <a:p>
            <a:pPr lvl="1"/>
            <a:r>
              <a:rPr lang="en-US" dirty="0"/>
              <a:t>Forms and Equations, and Example</a:t>
            </a:r>
          </a:p>
          <a:p>
            <a:pPr lvl="1"/>
            <a:r>
              <a:rPr lang="en-US" dirty="0"/>
              <a:t>Insights and Optimization</a:t>
            </a:r>
          </a:p>
          <a:p>
            <a:r>
              <a:rPr lang="en-US" dirty="0"/>
              <a:t>Holt’s Linear Trend Method</a:t>
            </a:r>
          </a:p>
          <a:p>
            <a:pPr lvl="1"/>
            <a:r>
              <a:rPr lang="en-US" dirty="0"/>
              <a:t>Equations and Example</a:t>
            </a:r>
          </a:p>
          <a:p>
            <a:pPr lvl="1"/>
            <a:r>
              <a:rPr lang="en-US" dirty="0"/>
              <a:t>Insights, Optimization, and Damping</a:t>
            </a:r>
          </a:p>
          <a:p>
            <a:r>
              <a:rPr lang="en-US" dirty="0"/>
              <a:t>Holt-Winters’ Seasonal Method</a:t>
            </a:r>
          </a:p>
          <a:p>
            <a:pPr lvl="1"/>
            <a:r>
              <a:rPr lang="en-US" dirty="0"/>
              <a:t>Equations and Example</a:t>
            </a:r>
          </a:p>
          <a:p>
            <a:pPr lvl="1"/>
            <a:r>
              <a:rPr lang="en-US" dirty="0"/>
              <a:t>Multiplicative and Damped method</a:t>
            </a:r>
          </a:p>
          <a:p>
            <a:r>
              <a:rPr lang="en-US" dirty="0"/>
              <a:t>Taxonomy of ETS Methods</a:t>
            </a:r>
          </a:p>
        </p:txBody>
      </p:sp>
    </p:spTree>
    <p:extLst>
      <p:ext uri="{BB962C8B-B14F-4D97-AF65-F5344CB8AC3E}">
        <p14:creationId xmlns:p14="http://schemas.microsoft.com/office/powerpoint/2010/main" val="1872432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t>Exponential Smoothing Methods</a:t>
            </a:r>
          </a:p>
          <a:p>
            <a:pPr lvl="1"/>
            <a:r>
              <a:rPr lang="en-US" dirty="0"/>
              <a:t>Introduction and Notation</a:t>
            </a:r>
          </a:p>
          <a:p>
            <a:r>
              <a:rPr lang="en-US" dirty="0">
                <a:solidFill>
                  <a:schemeClr val="bg2"/>
                </a:solidFill>
              </a:rPr>
              <a:t>Simple Exponential Smoothing</a:t>
            </a:r>
          </a:p>
          <a:p>
            <a:pPr lvl="1"/>
            <a:r>
              <a:rPr lang="en-US" dirty="0">
                <a:solidFill>
                  <a:schemeClr val="bg2"/>
                </a:solidFill>
              </a:rPr>
              <a:t>Forms and Equations, and Example</a:t>
            </a:r>
          </a:p>
          <a:p>
            <a:pPr lvl="1"/>
            <a:r>
              <a:rPr lang="en-US" dirty="0">
                <a:solidFill>
                  <a:schemeClr val="bg2"/>
                </a:solidFill>
              </a:rPr>
              <a:t>Insights and Optimization</a:t>
            </a:r>
          </a:p>
          <a:p>
            <a:r>
              <a:rPr lang="en-US" dirty="0">
                <a:solidFill>
                  <a:schemeClr val="bg2"/>
                </a:solidFill>
              </a:rPr>
              <a:t>Holt’s Linear Trend Method</a:t>
            </a:r>
          </a:p>
          <a:p>
            <a:pPr lvl="1"/>
            <a:r>
              <a:rPr lang="en-US" dirty="0">
                <a:solidFill>
                  <a:schemeClr val="bg2"/>
                </a:solidFill>
              </a:rPr>
              <a:t>Equations and Example</a:t>
            </a:r>
          </a:p>
          <a:p>
            <a:pPr lvl="1"/>
            <a:r>
              <a:rPr lang="en-US" dirty="0">
                <a:solidFill>
                  <a:schemeClr val="bg2"/>
                </a:solidFill>
              </a:rPr>
              <a:t>Insights, Optimization, and Damping</a:t>
            </a:r>
          </a:p>
          <a:p>
            <a:r>
              <a:rPr lang="en-US" dirty="0">
                <a:solidFill>
                  <a:schemeClr val="bg2"/>
                </a:solidFill>
              </a:rPr>
              <a:t>Holt-Winters’ Seasonal Method</a:t>
            </a:r>
          </a:p>
          <a:p>
            <a:pPr lvl="1"/>
            <a:r>
              <a:rPr lang="en-US" dirty="0">
                <a:solidFill>
                  <a:schemeClr val="bg2"/>
                </a:solidFill>
              </a:rPr>
              <a:t>Equations and Example</a:t>
            </a:r>
          </a:p>
          <a:p>
            <a:pPr lvl="1"/>
            <a:r>
              <a:rPr lang="en-US" dirty="0">
                <a:solidFill>
                  <a:schemeClr val="bg2"/>
                </a:solidFill>
              </a:rPr>
              <a:t>Multiplicative and Damped method</a:t>
            </a:r>
          </a:p>
          <a:p>
            <a:r>
              <a:rPr lang="en-US" dirty="0">
                <a:solidFill>
                  <a:schemeClr val="bg2"/>
                </a:solidFill>
              </a:rPr>
              <a:t>Taxonomy of ETS Methods</a:t>
            </a:r>
          </a:p>
        </p:txBody>
      </p:sp>
    </p:spTree>
    <p:extLst>
      <p:ext uri="{BB962C8B-B14F-4D97-AF65-F5344CB8AC3E}">
        <p14:creationId xmlns:p14="http://schemas.microsoft.com/office/powerpoint/2010/main" val="598153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Exponential Smoothing Methods</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Exponential Smoothing (ETS) methods are proposed in late 1950s</a:t>
            </a:r>
          </a:p>
          <a:p>
            <a:pPr lvl="1"/>
            <a:r>
              <a:rPr lang="en-US" dirty="0"/>
              <a:t>Brown (1959), Holt (1957), Winters (1960)</a:t>
            </a:r>
          </a:p>
          <a:p>
            <a:r>
              <a:rPr lang="en-US" dirty="0"/>
              <a:t>Main characteristic of ETS methods:</a:t>
            </a:r>
          </a:p>
          <a:p>
            <a:pPr lvl="1"/>
            <a:r>
              <a:rPr lang="en-US" dirty="0"/>
              <a:t>Forecasts are weighted averages of the past observations</a:t>
            </a:r>
          </a:p>
          <a:p>
            <a:pPr lvl="1"/>
            <a:r>
              <a:rPr lang="en-US" dirty="0"/>
              <a:t>Weights are decaying exponentially as the observations get older</a:t>
            </a:r>
          </a:p>
          <a:p>
            <a:pPr lvl="1"/>
            <a:r>
              <a:rPr lang="en-US" dirty="0">
                <a:solidFill>
                  <a:srgbClr val="C00000"/>
                </a:solidFill>
              </a:rPr>
              <a:t>More recent observations have higher weights</a:t>
            </a:r>
          </a:p>
          <a:p>
            <a:r>
              <a:rPr lang="en-US" dirty="0"/>
              <a:t>Most important ETS methods:</a:t>
            </a:r>
          </a:p>
          <a:p>
            <a:pPr lvl="1"/>
            <a:r>
              <a:rPr lang="en-US" dirty="0"/>
              <a:t>Simple (single) exponential smoothing</a:t>
            </a:r>
          </a:p>
          <a:p>
            <a:pPr lvl="1"/>
            <a:r>
              <a:rPr lang="en-US" dirty="0"/>
              <a:t>Holt’s Method (Double exponential smoothing)</a:t>
            </a:r>
          </a:p>
          <a:p>
            <a:pPr lvl="1"/>
            <a:r>
              <a:rPr lang="en-US" dirty="0"/>
              <a:t>Holt-Winters’ Method (Triple exponential smoothing)</a:t>
            </a:r>
          </a:p>
          <a:p>
            <a:pPr lvl="2"/>
            <a:r>
              <a:rPr lang="en-US" dirty="0"/>
              <a:t>These methods can be used in an additive, multiplicative, or damped manner</a:t>
            </a:r>
          </a:p>
          <a:p>
            <a:pPr lvl="1"/>
            <a:r>
              <a:rPr lang="en-US" dirty="0"/>
              <a:t>There are also other, more recent, ETS methods</a:t>
            </a:r>
          </a:p>
        </p:txBody>
      </p:sp>
    </p:spTree>
    <p:extLst>
      <p:ext uri="{BB962C8B-B14F-4D97-AF65-F5344CB8AC3E}">
        <p14:creationId xmlns:p14="http://schemas.microsoft.com/office/powerpoint/2010/main" val="201104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Exponential Smoothing Methods</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How to select the right method?</a:t>
            </a:r>
          </a:p>
          <a:p>
            <a:pPr lvl="1"/>
            <a:r>
              <a:rPr lang="en-US" dirty="0"/>
              <a:t>Depends on the components of the time series</a:t>
            </a:r>
          </a:p>
          <a:p>
            <a:pPr lvl="2"/>
            <a:r>
              <a:rPr lang="en-US" dirty="0"/>
              <a:t>Is there trend? Is there seasonality? Both? None?</a:t>
            </a:r>
          </a:p>
          <a:p>
            <a:pPr lvl="1"/>
            <a:r>
              <a:rPr lang="en-US" dirty="0"/>
              <a:t>And how the components are used in the method</a:t>
            </a:r>
          </a:p>
          <a:p>
            <a:pPr lvl="2"/>
            <a:r>
              <a:rPr lang="en-US" dirty="0"/>
              <a:t>Additive vs. multiplicative vs. damped vs. mixed</a:t>
            </a:r>
          </a:p>
          <a:p>
            <a:r>
              <a:rPr lang="en-US" dirty="0"/>
              <a:t>ETS methods use a smoothing equation for each existing component of the time series</a:t>
            </a:r>
          </a:p>
          <a:p>
            <a:pPr lvl="1"/>
            <a:r>
              <a:rPr lang="en-US" dirty="0"/>
              <a:t>A parameter (input to the method) is used for each smoothing equation</a:t>
            </a:r>
          </a:p>
          <a:p>
            <a:pPr lvl="1"/>
            <a:r>
              <a:rPr lang="en-US" dirty="0"/>
              <a:t>Simple exponential smoothing </a:t>
            </a:r>
          </a:p>
          <a:p>
            <a:pPr lvl="2"/>
            <a:r>
              <a:rPr lang="en-US" dirty="0"/>
              <a:t>Uses one smoothing equation</a:t>
            </a:r>
          </a:p>
          <a:p>
            <a:pPr lvl="2"/>
            <a:r>
              <a:rPr lang="en-US" dirty="0"/>
              <a:t>Works with a single parameter</a:t>
            </a:r>
          </a:p>
          <a:p>
            <a:pPr lvl="2"/>
            <a:endParaRPr lang="en-US" dirty="0"/>
          </a:p>
        </p:txBody>
      </p:sp>
    </p:spTree>
    <p:extLst>
      <p:ext uri="{BB962C8B-B14F-4D97-AF65-F5344CB8AC3E}">
        <p14:creationId xmlns:p14="http://schemas.microsoft.com/office/powerpoint/2010/main" val="131441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Notation for ETS Methods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Recall that:</a:t>
                </a:r>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𝑡</m:t>
                        </m:r>
                      </m:sub>
                    </m:sSub>
                  </m:oMath>
                </a14:m>
                <a:r>
                  <a:rPr lang="en-US" dirty="0">
                    <a:solidFill>
                      <a:schemeClr val="tx1"/>
                    </a:solidFill>
                  </a:rPr>
                  <a:t>: the actual observation at period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a:p>
                <a:pPr lvl="1"/>
                <a14:m>
                  <m:oMath xmlns:m="http://schemas.openxmlformats.org/officeDocument/2006/math">
                    <m:sSub>
                      <m:sSubPr>
                        <m:ctrlPr>
                          <a:rPr lang="en-US" sz="2400" b="0" i="1" smtClean="0">
                            <a:solidFill>
                              <a:schemeClr val="tx1"/>
                            </a:solidFill>
                            <a:latin typeface="Cambria Math" panose="02040503050406030204" pitchFamily="18" charset="0"/>
                          </a:rPr>
                        </m:ctrlPr>
                      </m:sSubPr>
                      <m:e>
                        <m:acc>
                          <m:accPr>
                            <m:chr m:val="̂"/>
                            <m:ctrlPr>
                              <a:rPr lang="en-US" sz="240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𝑦</m:t>
                            </m:r>
                          </m:e>
                        </m:acc>
                      </m:e>
                      <m:sub>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sub>
                    </m:sSub>
                  </m:oMath>
                </a14:m>
                <a:r>
                  <a:rPr lang="en-US" dirty="0">
                    <a:solidFill>
                      <a:schemeClr val="tx1"/>
                    </a:solidFill>
                  </a:rPr>
                  <a:t>: forecast made at period </a:t>
                </a:r>
                <a14:m>
                  <m:oMath xmlns:m="http://schemas.openxmlformats.org/officeDocument/2006/math">
                    <m:r>
                      <a:rPr lang="en-US" b="0" i="1" smtClean="0">
                        <a:solidFill>
                          <a:schemeClr val="tx1"/>
                        </a:solidFill>
                        <a:latin typeface="Cambria Math" panose="02040503050406030204" pitchFamily="18" charset="0"/>
                      </a:rPr>
                      <m:t>𝑡</m:t>
                    </m:r>
                  </m:oMath>
                </a14:m>
                <a:r>
                  <a:rPr lang="en-US" dirty="0">
                    <a:solidFill>
                      <a:schemeClr val="tx1"/>
                    </a:solidFill>
                  </a:rPr>
                  <a:t> for period </a:t>
                </a:r>
                <a14:m>
                  <m:oMath xmlns:m="http://schemas.openxmlformats.org/officeDocument/2006/math">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h</m:t>
                    </m:r>
                  </m:oMath>
                </a14:m>
                <a:endParaRPr lang="en-US" dirty="0">
                  <a:solidFill>
                    <a:schemeClr val="tx1"/>
                  </a:solidFill>
                </a:endParaRPr>
              </a:p>
              <a:p>
                <a:pPr lvl="2"/>
                <a:r>
                  <a:rPr lang="en-US" dirty="0">
                    <a:solidFill>
                      <a:schemeClr val="tx1"/>
                    </a:solidFill>
                  </a:rPr>
                  <a:t>When </a:t>
                </a:r>
                <a14:m>
                  <m:oMath xmlns:m="http://schemas.openxmlformats.org/officeDocument/2006/math">
                    <m:r>
                      <a:rPr lang="en-US" b="0" i="1" smtClean="0">
                        <a:solidFill>
                          <a:schemeClr val="tx1"/>
                        </a:solidFill>
                        <a:latin typeface="Cambria Math" panose="02040503050406030204" pitchFamily="18" charset="0"/>
                      </a:rPr>
                      <m:t>h</m:t>
                    </m:r>
                    <m:r>
                      <a:rPr lang="en-US" b="0" i="1" smtClean="0">
                        <a:solidFill>
                          <a:schemeClr val="tx1"/>
                        </a:solidFill>
                        <a:latin typeface="Cambria Math" panose="02040503050406030204" pitchFamily="18" charset="0"/>
                      </a:rPr>
                      <m:t>=1</m:t>
                    </m:r>
                  </m:oMath>
                </a14:m>
                <a:r>
                  <a:rPr lang="en-US" dirty="0">
                    <a:solidFill>
                      <a:schemeClr val="tx1"/>
                    </a:solidFill>
                  </a:rPr>
                  <a:t>, we have one-step-ahead forecasts and, for simplicity, it can be denoted that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m:t>
                    </m:r>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oMath>
                </a14:m>
                <a:endParaRPr lang="en-US" dirty="0">
                  <a:solidFill>
                    <a:schemeClr val="tx1"/>
                  </a:solidFill>
                </a:endParaRPr>
              </a:p>
              <a:p>
                <a:pPr lvl="2"/>
                <a:r>
                  <a:rPr lang="en-US" dirty="0">
                    <a:solidFill>
                      <a:schemeClr val="tx1"/>
                    </a:solidFill>
                  </a:rPr>
                  <a:t>When </a:t>
                </a:r>
                <a14:m>
                  <m:oMath xmlns:m="http://schemas.openxmlformats.org/officeDocument/2006/math">
                    <m:r>
                      <a:rPr lang="en-US" b="0" i="1" smtClean="0">
                        <a:solidFill>
                          <a:schemeClr val="tx1"/>
                        </a:solidFill>
                        <a:latin typeface="Cambria Math" panose="02040503050406030204" pitchFamily="18" charset="0"/>
                      </a:rPr>
                      <m:t>h</m:t>
                    </m:r>
                    <m:r>
                      <a:rPr lang="en-US" b="0" i="1" smtClean="0">
                        <a:solidFill>
                          <a:schemeClr val="tx1"/>
                        </a:solidFill>
                        <a:latin typeface="Cambria Math" panose="02040503050406030204" pitchFamily="18" charset="0"/>
                      </a:rPr>
                      <m:t>&gt;1</m:t>
                    </m:r>
                  </m:oMath>
                </a14:m>
                <a:r>
                  <a:rPr lang="en-US" dirty="0">
                    <a:solidFill>
                      <a:schemeClr val="tx1"/>
                    </a:solidFill>
                  </a:rPr>
                  <a:t>, we have multi-step-ahead forecasts</a:t>
                </a:r>
              </a:p>
              <a:p>
                <a:r>
                  <a:rPr lang="en-US" dirty="0">
                    <a:solidFill>
                      <a:schemeClr val="tx1"/>
                    </a:solidFill>
                  </a:rPr>
                  <a:t>Also recall that:</a:t>
                </a:r>
              </a:p>
              <a:p>
                <a:pPr lvl="1"/>
                <a:r>
                  <a:rPr lang="en-US" dirty="0">
                    <a:solidFill>
                      <a:schemeClr val="tx1"/>
                    </a:solidFill>
                  </a:rPr>
                  <a:t>Selection of ETS method depends on the components of a time series</a:t>
                </a:r>
              </a:p>
              <a:p>
                <a:pPr lvl="2"/>
                <a:r>
                  <a:rPr lang="en-US" b="1" dirty="0">
                    <a:solidFill>
                      <a:srgbClr val="C00000"/>
                    </a:solidFill>
                  </a:rPr>
                  <a:t>Trend: </a:t>
                </a:r>
                <a:r>
                  <a:rPr lang="en-US" dirty="0"/>
                  <a:t>constant increasing/decreasing pattern</a:t>
                </a:r>
              </a:p>
              <a:p>
                <a:pPr lvl="2"/>
                <a:r>
                  <a:rPr lang="en-US" b="1" dirty="0">
                    <a:solidFill>
                      <a:srgbClr val="C00000"/>
                    </a:solidFill>
                  </a:rPr>
                  <a:t>Seasonality: </a:t>
                </a:r>
                <a:r>
                  <a:rPr lang="en-US" dirty="0"/>
                  <a:t>repeating patterns at fixed intervals and magnitudes</a:t>
                </a:r>
              </a:p>
              <a:p>
                <a:pPr lvl="2"/>
                <a:r>
                  <a:rPr lang="en-US" b="1" dirty="0">
                    <a:solidFill>
                      <a:srgbClr val="C00000"/>
                    </a:solidFill>
                  </a:rPr>
                  <a:t>Cyclicity: </a:t>
                </a:r>
                <a:r>
                  <a:rPr lang="en-US" dirty="0"/>
                  <a:t>repeating ups and downs that are not of fixed intervals</a:t>
                </a:r>
              </a:p>
              <a:p>
                <a:pPr lvl="2"/>
                <a:r>
                  <a:rPr lang="en-US" dirty="0"/>
                  <a:t>And </a:t>
                </a:r>
                <a:r>
                  <a:rPr lang="en-US" b="1" dirty="0">
                    <a:solidFill>
                      <a:srgbClr val="C00000"/>
                    </a:solidFill>
                  </a:rPr>
                  <a:t>Level</a:t>
                </a:r>
                <a:r>
                  <a:rPr lang="en-US" dirty="0"/>
                  <a:t> is the long-term smoothed value (without trend, seasonality effects)</a:t>
                </a:r>
              </a:p>
              <a:p>
                <a:pPr lvl="1"/>
                <a:r>
                  <a:rPr lang="en-US" dirty="0"/>
                  <a:t>Cyclicity is not considered in main ETS methods</a:t>
                </a:r>
                <a:endParaRPr lang="en-US" dirty="0">
                  <a:solidFill>
                    <a:schemeClr val="tx1"/>
                  </a:solidFill>
                </a:endParaRPr>
              </a:p>
              <a:p>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3885"/>
                </a:stretch>
              </a:blipFill>
            </p:spPr>
            <p:txBody>
              <a:bodyPr/>
              <a:lstStyle/>
              <a:p>
                <a:r>
                  <a:rPr lang="en-US">
                    <a:noFill/>
                  </a:rPr>
                  <a:t> </a:t>
                </a:r>
              </a:p>
            </p:txBody>
          </p:sp>
        </mc:Fallback>
      </mc:AlternateContent>
    </p:spTree>
    <p:extLst>
      <p:ext uri="{BB962C8B-B14F-4D97-AF65-F5344CB8AC3E}">
        <p14:creationId xmlns:p14="http://schemas.microsoft.com/office/powerpoint/2010/main" val="223637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Notation for ETS Methods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Notation for the components:</a:t>
                </a:r>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𝑡</m:t>
                        </m:r>
                      </m:sub>
                    </m:sSub>
                  </m:oMath>
                </a14:m>
                <a:r>
                  <a:rPr lang="en-US" dirty="0">
                    <a:solidFill>
                      <a:schemeClr val="tx1"/>
                    </a:solidFill>
                  </a:rPr>
                  <a:t>: level of the time series at time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𝑡</m:t>
                        </m:r>
                      </m:sub>
                    </m:sSub>
                  </m:oMath>
                </a14:m>
                <a:r>
                  <a:rPr lang="en-US" dirty="0">
                    <a:solidFill>
                      <a:schemeClr val="tx1"/>
                    </a:solidFill>
                  </a:rPr>
                  <a:t>: trend (slope) of the time series at time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𝑠</m:t>
                        </m:r>
                      </m:e>
                      <m:sub>
                        <m:r>
                          <a:rPr lang="en-US" b="0" i="1" smtClean="0">
                            <a:solidFill>
                              <a:schemeClr val="tx1"/>
                            </a:solidFill>
                            <a:latin typeface="Cambria Math" panose="02040503050406030204" pitchFamily="18" charset="0"/>
                          </a:rPr>
                          <m:t>𝑡</m:t>
                        </m:r>
                      </m:sub>
                    </m:sSub>
                  </m:oMath>
                </a14:m>
                <a:r>
                  <a:rPr lang="en-US" dirty="0">
                    <a:solidFill>
                      <a:schemeClr val="tx1"/>
                    </a:solidFill>
                  </a:rPr>
                  <a:t>: seasonal component of the time series at time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a:p>
                <a:pPr lvl="1"/>
                <a:endParaRPr lang="en-US" dirty="0">
                  <a:solidFill>
                    <a:schemeClr val="tx1"/>
                  </a:solidFill>
                </a:endParaRPr>
              </a:p>
              <a:p>
                <a:r>
                  <a:rPr lang="en-US" dirty="0">
                    <a:solidFill>
                      <a:schemeClr val="tx1"/>
                    </a:solidFill>
                  </a:rPr>
                  <a:t>For time series with seasonality:</a:t>
                </a:r>
              </a:p>
              <a:p>
                <a:pPr lvl="1"/>
                <a14:m>
                  <m:oMath xmlns:m="http://schemas.openxmlformats.org/officeDocument/2006/math">
                    <m:r>
                      <a:rPr lang="en-US" b="0" i="1" smtClean="0">
                        <a:solidFill>
                          <a:schemeClr val="tx1"/>
                        </a:solidFill>
                        <a:latin typeface="Cambria Math" panose="02040503050406030204" pitchFamily="18" charset="0"/>
                      </a:rPr>
                      <m:t>𝑚</m:t>
                    </m:r>
                  </m:oMath>
                </a14:m>
                <a:r>
                  <a:rPr lang="en-US" dirty="0">
                    <a:solidFill>
                      <a:schemeClr val="tx1"/>
                    </a:solidFill>
                  </a:rPr>
                  <a:t>: period of the seasonality</a:t>
                </a:r>
              </a:p>
              <a:p>
                <a:pPr lvl="1"/>
                <a:r>
                  <a:rPr lang="en-US" dirty="0">
                    <a:solidFill>
                      <a:schemeClr val="tx1"/>
                    </a:solidFill>
                  </a:rPr>
                  <a:t>For instance: </a:t>
                </a:r>
              </a:p>
              <a:p>
                <a:pPr lvl="2"/>
                <a:r>
                  <a:rPr lang="en-US" dirty="0">
                    <a:solidFill>
                      <a:schemeClr val="tx1"/>
                    </a:solidFill>
                  </a:rPr>
                  <a:t>If time series is daily data and has weekly repeating patterns, </a:t>
                </a:r>
                <a14:m>
                  <m:oMath xmlns:m="http://schemas.openxmlformats.org/officeDocument/2006/math">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=7</m:t>
                    </m:r>
                  </m:oMath>
                </a14:m>
                <a:endParaRPr lang="en-US" b="0" dirty="0">
                  <a:solidFill>
                    <a:schemeClr val="tx1"/>
                  </a:solidFill>
                </a:endParaRPr>
              </a:p>
              <a:p>
                <a:pPr lvl="2"/>
                <a:r>
                  <a:rPr lang="en-US" dirty="0">
                    <a:solidFill>
                      <a:schemeClr val="tx1"/>
                    </a:solidFill>
                  </a:rPr>
                  <a:t>If time series is monthly data and has yearly repeating patterns, </a:t>
                </a:r>
                <a14:m>
                  <m:oMath xmlns:m="http://schemas.openxmlformats.org/officeDocument/2006/math">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=12</m:t>
                    </m:r>
                  </m:oMath>
                </a14:m>
                <a:endParaRPr lang="en-US" dirty="0">
                  <a:solidFill>
                    <a:schemeClr val="tx1"/>
                  </a:solidFill>
                </a:endParaRP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
        <p:nvSpPr>
          <p:cNvPr id="2" name="Right Brace 1">
            <a:extLst>
              <a:ext uri="{FF2B5EF4-FFF2-40B4-BE49-F238E27FC236}">
                <a16:creationId xmlns:a16="http://schemas.microsoft.com/office/drawing/2014/main" id="{90AB3221-4DFC-29D2-B69C-C573FB131EA1}"/>
              </a:ext>
            </a:extLst>
          </p:cNvPr>
          <p:cNvSpPr/>
          <p:nvPr/>
        </p:nvSpPr>
        <p:spPr>
          <a:xfrm>
            <a:off x="8181474" y="1688797"/>
            <a:ext cx="503139" cy="1273160"/>
          </a:xfrm>
          <a:prstGeom prst="rightBrace">
            <a:avLst>
              <a:gd name="adj1" fmla="val 2746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8FE4599-614C-5FBF-EDDC-00CC2570EDE4}"/>
              </a:ext>
            </a:extLst>
          </p:cNvPr>
          <p:cNvSpPr txBox="1"/>
          <p:nvPr/>
        </p:nvSpPr>
        <p:spPr>
          <a:xfrm>
            <a:off x="8846491" y="1638518"/>
            <a:ext cx="2231311" cy="1323439"/>
          </a:xfrm>
          <a:prstGeom prst="rect">
            <a:avLst/>
          </a:prstGeom>
          <a:noFill/>
        </p:spPr>
        <p:txBody>
          <a:bodyPr wrap="square" rtlCol="0">
            <a:spAutoFit/>
          </a:bodyPr>
          <a:lstStyle/>
          <a:p>
            <a:r>
              <a:rPr lang="en-US" sz="2000" dirty="0"/>
              <a:t>Estimated values, and updated as new data becomes available</a:t>
            </a:r>
          </a:p>
        </p:txBody>
      </p:sp>
    </p:spTree>
    <p:extLst>
      <p:ext uri="{BB962C8B-B14F-4D97-AF65-F5344CB8AC3E}">
        <p14:creationId xmlns:p14="http://schemas.microsoft.com/office/powerpoint/2010/main" val="252853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solidFill>
                  <a:schemeClr val="bg2"/>
                </a:solidFill>
              </a:rPr>
              <a:t>Exponential Smoothing Methods</a:t>
            </a:r>
          </a:p>
          <a:p>
            <a:pPr lvl="1"/>
            <a:r>
              <a:rPr lang="en-US" dirty="0">
                <a:solidFill>
                  <a:schemeClr val="bg2"/>
                </a:solidFill>
              </a:rPr>
              <a:t>Introduction and Notation</a:t>
            </a:r>
          </a:p>
          <a:p>
            <a:r>
              <a:rPr lang="en-US" dirty="0"/>
              <a:t>Simple Exponential Smoothing</a:t>
            </a:r>
          </a:p>
          <a:p>
            <a:pPr lvl="1"/>
            <a:r>
              <a:rPr lang="en-US" dirty="0"/>
              <a:t>Forms and Equations, and Example</a:t>
            </a:r>
          </a:p>
          <a:p>
            <a:pPr lvl="1"/>
            <a:r>
              <a:rPr lang="en-US" dirty="0"/>
              <a:t>Insights and Optimization</a:t>
            </a:r>
          </a:p>
          <a:p>
            <a:r>
              <a:rPr lang="en-US" dirty="0">
                <a:solidFill>
                  <a:schemeClr val="bg2"/>
                </a:solidFill>
              </a:rPr>
              <a:t>Holt’s Linear Trend Method</a:t>
            </a:r>
          </a:p>
          <a:p>
            <a:pPr lvl="1"/>
            <a:r>
              <a:rPr lang="en-US" dirty="0">
                <a:solidFill>
                  <a:schemeClr val="bg2"/>
                </a:solidFill>
              </a:rPr>
              <a:t>Equations and Example</a:t>
            </a:r>
          </a:p>
          <a:p>
            <a:pPr lvl="1"/>
            <a:r>
              <a:rPr lang="en-US" dirty="0">
                <a:solidFill>
                  <a:schemeClr val="bg2"/>
                </a:solidFill>
              </a:rPr>
              <a:t>Insights, Optimization, and Damping</a:t>
            </a:r>
          </a:p>
          <a:p>
            <a:r>
              <a:rPr lang="en-US" dirty="0">
                <a:solidFill>
                  <a:schemeClr val="bg2"/>
                </a:solidFill>
              </a:rPr>
              <a:t>Holt-Winters’ Seasonal Method</a:t>
            </a:r>
          </a:p>
          <a:p>
            <a:pPr lvl="1"/>
            <a:r>
              <a:rPr lang="en-US" dirty="0">
                <a:solidFill>
                  <a:schemeClr val="bg2"/>
                </a:solidFill>
              </a:rPr>
              <a:t>Equations and Example</a:t>
            </a:r>
          </a:p>
          <a:p>
            <a:pPr lvl="1"/>
            <a:r>
              <a:rPr lang="en-US" dirty="0">
                <a:solidFill>
                  <a:schemeClr val="bg2"/>
                </a:solidFill>
              </a:rPr>
              <a:t>Multiplicative and Damped method</a:t>
            </a:r>
          </a:p>
          <a:p>
            <a:r>
              <a:rPr lang="en-US" dirty="0">
                <a:solidFill>
                  <a:schemeClr val="bg2"/>
                </a:solidFill>
              </a:rPr>
              <a:t>Taxonomy of ETS Methods</a:t>
            </a:r>
          </a:p>
        </p:txBody>
      </p:sp>
    </p:spTree>
    <p:extLst>
      <p:ext uri="{BB962C8B-B14F-4D97-AF65-F5344CB8AC3E}">
        <p14:creationId xmlns:p14="http://schemas.microsoft.com/office/powerpoint/2010/main" val="25420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Method</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Simplest of the exponential smoothing methods</a:t>
            </a:r>
          </a:p>
          <a:p>
            <a:r>
              <a:rPr lang="en-US" dirty="0"/>
              <a:t>Suitable for forecasting </a:t>
            </a:r>
            <a:r>
              <a:rPr lang="en-US" b="1" dirty="0">
                <a:solidFill>
                  <a:srgbClr val="C00000"/>
                </a:solidFill>
              </a:rPr>
              <a:t>time series with no clear trend and seasonality</a:t>
            </a:r>
          </a:p>
        </p:txBody>
      </p:sp>
      <p:pic>
        <p:nvPicPr>
          <p:cNvPr id="7" name="Picture 6">
            <a:extLst>
              <a:ext uri="{FF2B5EF4-FFF2-40B4-BE49-F238E27FC236}">
                <a16:creationId xmlns:a16="http://schemas.microsoft.com/office/drawing/2014/main" id="{0B1C495F-1563-3712-B0CF-9F6F19FDEC6D}"/>
              </a:ext>
            </a:extLst>
          </p:cNvPr>
          <p:cNvPicPr>
            <a:picLocks noChangeAspect="1"/>
          </p:cNvPicPr>
          <p:nvPr/>
        </p:nvPicPr>
        <p:blipFill>
          <a:blip r:embed="rId2"/>
          <a:stretch>
            <a:fillRect/>
          </a:stretch>
        </p:blipFill>
        <p:spPr>
          <a:xfrm>
            <a:off x="716912" y="2517646"/>
            <a:ext cx="5086684" cy="3100648"/>
          </a:xfrm>
          <a:prstGeom prst="rect">
            <a:avLst/>
          </a:prstGeom>
        </p:spPr>
      </p:pic>
      <p:sp>
        <p:nvSpPr>
          <p:cNvPr id="8" name="Rectangle: Rounded Corners 7">
            <a:extLst>
              <a:ext uri="{FF2B5EF4-FFF2-40B4-BE49-F238E27FC236}">
                <a16:creationId xmlns:a16="http://schemas.microsoft.com/office/drawing/2014/main" id="{7168901D-9E49-2333-15C0-26C473147C34}"/>
              </a:ext>
            </a:extLst>
          </p:cNvPr>
          <p:cNvSpPr/>
          <p:nvPr/>
        </p:nvSpPr>
        <p:spPr>
          <a:xfrm>
            <a:off x="3329291" y="3986176"/>
            <a:ext cx="2638197" cy="1618795"/>
          </a:xfrm>
          <a:prstGeom prst="round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F096EA0F-CE28-860D-DE20-6F5D037530C6}"/>
              </a:ext>
            </a:extLst>
          </p:cNvPr>
          <p:cNvSpPr txBox="1"/>
          <p:nvPr/>
        </p:nvSpPr>
        <p:spPr>
          <a:xfrm>
            <a:off x="6790186" y="2979691"/>
            <a:ext cx="2703824" cy="1815882"/>
          </a:xfrm>
          <a:prstGeom prst="rect">
            <a:avLst/>
          </a:prstGeom>
          <a:noFill/>
        </p:spPr>
        <p:txBody>
          <a:bodyPr wrap="square" rtlCol="0">
            <a:spAutoFit/>
          </a:bodyPr>
          <a:lstStyle/>
          <a:p>
            <a:r>
              <a:rPr lang="en-US" sz="2800" dirty="0"/>
              <a:t>Therefore, it only uses the </a:t>
            </a:r>
            <a:r>
              <a:rPr lang="en-US" sz="2800" b="1" dirty="0">
                <a:solidFill>
                  <a:srgbClr val="C00000"/>
                </a:solidFill>
              </a:rPr>
              <a:t>level</a:t>
            </a:r>
            <a:r>
              <a:rPr lang="en-US" sz="2800" dirty="0"/>
              <a:t> component of the time series</a:t>
            </a:r>
          </a:p>
        </p:txBody>
      </p:sp>
      <p:sp>
        <p:nvSpPr>
          <p:cNvPr id="12" name="Multiplication Sign 11">
            <a:extLst>
              <a:ext uri="{FF2B5EF4-FFF2-40B4-BE49-F238E27FC236}">
                <a16:creationId xmlns:a16="http://schemas.microsoft.com/office/drawing/2014/main" id="{E9AD1FB9-7396-EE37-EC27-7489A13D2550}"/>
              </a:ext>
            </a:extLst>
          </p:cNvPr>
          <p:cNvSpPr/>
          <p:nvPr/>
        </p:nvSpPr>
        <p:spPr>
          <a:xfrm>
            <a:off x="1669090" y="2743446"/>
            <a:ext cx="1211908" cy="1229409"/>
          </a:xfrm>
          <a:prstGeom prst="mathMultiply">
            <a:avLst>
              <a:gd name="adj1" fmla="val 1160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Multiplication Sign 12">
            <a:extLst>
              <a:ext uri="{FF2B5EF4-FFF2-40B4-BE49-F238E27FC236}">
                <a16:creationId xmlns:a16="http://schemas.microsoft.com/office/drawing/2014/main" id="{6637DEA8-24B9-71B1-9DDF-D6E9294B679A}"/>
              </a:ext>
            </a:extLst>
          </p:cNvPr>
          <p:cNvSpPr/>
          <p:nvPr/>
        </p:nvSpPr>
        <p:spPr>
          <a:xfrm>
            <a:off x="4038806" y="2621995"/>
            <a:ext cx="1211908" cy="1229409"/>
          </a:xfrm>
          <a:prstGeom prst="mathMultiply">
            <a:avLst>
              <a:gd name="adj1" fmla="val 1160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Multiplication Sign 13">
            <a:extLst>
              <a:ext uri="{FF2B5EF4-FFF2-40B4-BE49-F238E27FC236}">
                <a16:creationId xmlns:a16="http://schemas.microsoft.com/office/drawing/2014/main" id="{EA55F2E8-BCDB-F31E-D2F7-E19FD8476CAC}"/>
              </a:ext>
            </a:extLst>
          </p:cNvPr>
          <p:cNvSpPr/>
          <p:nvPr/>
        </p:nvSpPr>
        <p:spPr>
          <a:xfrm>
            <a:off x="1669090" y="4180870"/>
            <a:ext cx="1211908" cy="1229409"/>
          </a:xfrm>
          <a:prstGeom prst="mathMultiply">
            <a:avLst>
              <a:gd name="adj1" fmla="val 1160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282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One-step-ahead forecast is the weighted average of all past observations</a:t>
                </a:r>
              </a:p>
              <a:p>
                <a:pPr lvl="1"/>
                <a:r>
                  <a:rPr lang="en-US" dirty="0">
                    <a:solidFill>
                      <a:schemeClr val="tx1"/>
                    </a:solidFill>
                  </a:rPr>
                  <a:t>Gives larger weights to more recent observations than observations from the distant past</a:t>
                </a:r>
              </a:p>
              <a:p>
                <a:r>
                  <a:rPr lang="en-US" dirty="0">
                    <a:solidFill>
                      <a:schemeClr val="tx1"/>
                    </a:solidFill>
                  </a:rPr>
                  <a:t>A single parameter is used:</a:t>
                </a:r>
              </a:p>
              <a:p>
                <a:pPr lvl="1"/>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the smoothing parameter such that </a:t>
                </a:r>
                <a14:m>
                  <m:oMath xmlns:m="http://schemas.openxmlformats.org/officeDocument/2006/math">
                    <m:r>
                      <a:rPr lang="en-US" b="0" i="1" smtClean="0">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≤1</m:t>
                    </m:r>
                  </m:oMath>
                </a14:m>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controls the rate at which the weights decrease</a:t>
                </a:r>
              </a:p>
              <a:p>
                <a:pPr lvl="1"/>
                <a:endParaRPr lang="en-US" dirty="0">
                  <a:solidFill>
                    <a:srgbClr val="C00000"/>
                  </a:solidFill>
                </a:endParaRPr>
              </a:p>
              <a:p>
                <a:pPr lvl="1"/>
                <a:r>
                  <a:rPr lang="en-US" dirty="0">
                    <a:solidFill>
                      <a:srgbClr val="C00000"/>
                    </a:solidFill>
                  </a:rPr>
                  <a:t>Notation: </a:t>
                </a:r>
                <a14:m>
                  <m:oMath xmlns:m="http://schemas.openxmlformats.org/officeDocument/2006/math">
                    <m:r>
                      <a:rPr lang="en-US" b="0" i="1" smtClean="0">
                        <a:solidFill>
                          <a:schemeClr val="tx1"/>
                        </a:solidFill>
                        <a:latin typeface="Cambria Math" panose="02040503050406030204" pitchFamily="18" charset="0"/>
                      </a:rPr>
                      <m:t>𝑆𝐸𝑆</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m:t>
                    </m:r>
                  </m:oMath>
                </a14:m>
                <a:r>
                  <a:rPr lang="en-US" dirty="0">
                    <a:solidFill>
                      <a:schemeClr val="tx1"/>
                    </a:solidFill>
                  </a:rPr>
                  <a:t> is simple exponential smoothing with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B8D2F57-4165-70E5-214C-A92776951DFA}"/>
                  </a:ext>
                </a:extLst>
              </p:cNvPr>
              <p:cNvSpPr txBox="1"/>
              <p:nvPr/>
            </p:nvSpPr>
            <p:spPr>
              <a:xfrm>
                <a:off x="1828800" y="3493571"/>
                <a:ext cx="7275824" cy="502253"/>
              </a:xfrm>
              <a:prstGeom prst="rect">
                <a:avLst/>
              </a:prstGeom>
              <a:noFill/>
              <a:ln w="28575">
                <a:solidFill>
                  <a:srgbClr val="C0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𝑇</m:t>
                          </m:r>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e>
                        <m:sup>
                          <m:r>
                            <a:rPr lang="en-US" sz="2400" b="0" i="1" smtClean="0">
                              <a:latin typeface="Cambria Math" panose="02040503050406030204" pitchFamily="18" charset="0"/>
                            </a:rPr>
                            <m:t>2</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r>
                            <a:rPr lang="en-US" sz="2400" b="0" i="1" smtClean="0">
                              <a:latin typeface="Cambria Math" panose="02040503050406030204" pitchFamily="18" charset="0"/>
                            </a:rPr>
                            <m:t>−2</m:t>
                          </m:r>
                        </m:sub>
                      </m:sSub>
                      <m:r>
                        <a:rPr lang="en-US" sz="2400" b="0" i="1" smtClean="0">
                          <a:latin typeface="Cambria Math" panose="02040503050406030204" pitchFamily="18" charset="0"/>
                        </a:rPr>
                        <m:t>+…</m:t>
                      </m:r>
                    </m:oMath>
                  </m:oMathPara>
                </a14:m>
                <a:endParaRPr lang="en-US" sz="2400" dirty="0"/>
              </a:p>
            </p:txBody>
          </p:sp>
        </mc:Choice>
        <mc:Fallback xmlns="">
          <p:sp>
            <p:nvSpPr>
              <p:cNvPr id="2" name="TextBox 1">
                <a:extLst>
                  <a:ext uri="{FF2B5EF4-FFF2-40B4-BE49-F238E27FC236}">
                    <a16:creationId xmlns:a16="http://schemas.microsoft.com/office/drawing/2014/main" id="{DB8D2F57-4165-70E5-214C-A92776951DFA}"/>
                  </a:ext>
                </a:extLst>
              </p:cNvPr>
              <p:cNvSpPr txBox="1">
                <a:spLocks noRot="1" noChangeAspect="1" noMove="1" noResize="1" noEditPoints="1" noAdjustHandles="1" noChangeArrowheads="1" noChangeShapeType="1" noTextEdit="1"/>
              </p:cNvSpPr>
              <p:nvPr/>
            </p:nvSpPr>
            <p:spPr>
              <a:xfrm>
                <a:off x="1828800" y="3493571"/>
                <a:ext cx="7275824" cy="502253"/>
              </a:xfrm>
              <a:prstGeom prst="rect">
                <a:avLst/>
              </a:prstGeom>
              <a:blipFill>
                <a:blip r:embed="rId3"/>
                <a:stretch>
                  <a:fillRect b="-8046"/>
                </a:stretch>
              </a:blipFill>
              <a:ln w="28575">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77815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The weights decrease exponentially as we go back in time</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pPr lvl="1"/>
                <a:r>
                  <a:rPr lang="en-US" dirty="0">
                    <a:solidFill>
                      <a:schemeClr val="tx1"/>
                    </a:solidFill>
                  </a:rPr>
                  <a:t>If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is small (i.e., close to 0), weights decrease slowly; hence, old observations have more weight</a:t>
                </a:r>
              </a:p>
              <a:p>
                <a:pPr lvl="1"/>
                <a:r>
                  <a:rPr lang="en-US" dirty="0">
                    <a:solidFill>
                      <a:schemeClr val="tx1"/>
                    </a:solidFill>
                  </a:rPr>
                  <a:t>If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is large (i.e., close to 1), weights decrease rapidly; hence, new observations have more weight</a:t>
                </a:r>
              </a:p>
              <a:p>
                <a:pPr lvl="1"/>
                <a:r>
                  <a:rPr lang="en-US" dirty="0">
                    <a:solidFill>
                      <a:schemeClr val="tx1"/>
                    </a:solidFill>
                  </a:rPr>
                  <a:t>Sum of the weights will be approximately 1 for reasonable sample size</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EA4A7A5-533B-560B-276C-E582182DCF97}"/>
              </a:ext>
            </a:extLst>
          </p:cNvPr>
          <p:cNvPicPr>
            <a:picLocks noChangeAspect="1"/>
          </p:cNvPicPr>
          <p:nvPr/>
        </p:nvPicPr>
        <p:blipFill>
          <a:blip r:embed="rId3"/>
          <a:stretch>
            <a:fillRect/>
          </a:stretch>
        </p:blipFill>
        <p:spPr>
          <a:xfrm>
            <a:off x="1789425" y="1756596"/>
            <a:ext cx="7805213" cy="1906041"/>
          </a:xfrm>
          <a:prstGeom prst="rect">
            <a:avLst/>
          </a:prstGeom>
        </p:spPr>
      </p:pic>
    </p:spTree>
    <p:extLst>
      <p:ext uri="{BB962C8B-B14F-4D97-AF65-F5344CB8AC3E}">
        <p14:creationId xmlns:p14="http://schemas.microsoft.com/office/powerpoint/2010/main" val="317643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Forms </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Weighted Average Form:</a:t>
                </a:r>
              </a:p>
              <a:p>
                <a:pPr lvl="1"/>
                <a:r>
                  <a:rPr lang="en-US" dirty="0">
                    <a:solidFill>
                      <a:schemeClr val="tx1"/>
                    </a:solidFill>
                  </a:rPr>
                  <a:t>Recall:</a:t>
                </a:r>
              </a:p>
              <a:p>
                <a:pPr lvl="1"/>
                <a:endParaRPr lang="en-US" dirty="0">
                  <a:solidFill>
                    <a:schemeClr val="tx1"/>
                  </a:solidFill>
                </a:endParaRPr>
              </a:p>
              <a:p>
                <a:pPr lvl="3"/>
                <a:endParaRPr lang="en-US" dirty="0">
                  <a:solidFill>
                    <a:schemeClr val="tx1"/>
                  </a:solidFill>
                </a:endParaRPr>
              </a:p>
              <a:p>
                <a:pPr lvl="1"/>
                <a:endParaRPr lang="en-US" dirty="0">
                  <a:solidFill>
                    <a:schemeClr val="tx1"/>
                  </a:solidFill>
                </a:endParaRPr>
              </a:p>
              <a:p>
                <a:pPr lvl="1"/>
                <a:r>
                  <a:rPr lang="en-US" dirty="0">
                    <a:solidFill>
                      <a:schemeClr val="tx1"/>
                    </a:solidFill>
                  </a:rPr>
                  <a:t>The forecast for period </a:t>
                </a:r>
                <a14:m>
                  <m:oMath xmlns:m="http://schemas.openxmlformats.org/officeDocument/2006/math">
                    <m:r>
                      <a:rPr lang="en-US" b="0" i="1" smtClean="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+1</m:t>
                    </m:r>
                  </m:oMath>
                </a14:m>
                <a:r>
                  <a:rPr lang="en-US" dirty="0">
                    <a:solidFill>
                      <a:schemeClr val="tx1"/>
                    </a:solidFill>
                  </a:rPr>
                  <a:t> is the weighted average of the latest observation in current period </a:t>
                </a:r>
                <a14:m>
                  <m:oMath xmlns:m="http://schemas.openxmlformats.org/officeDocument/2006/math">
                    <m:r>
                      <a:rPr lang="en-US" b="0" i="1" smtClean="0">
                        <a:solidFill>
                          <a:schemeClr val="tx1"/>
                        </a:solidFill>
                        <a:latin typeface="Cambria Math" panose="02040503050406030204" pitchFamily="18" charset="0"/>
                      </a:rPr>
                      <m:t>𝑇</m:t>
                    </m:r>
                  </m:oMath>
                </a14:m>
                <a:r>
                  <a:rPr lang="en-US" dirty="0">
                    <a:solidFill>
                      <a:schemeClr val="tx1"/>
                    </a:solidFill>
                  </a:rPr>
                  <a:t> (i.e.,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𝑇</m:t>
                        </m:r>
                      </m:sub>
                    </m:sSub>
                  </m:oMath>
                </a14:m>
                <a:r>
                  <a:rPr lang="en-US" dirty="0">
                    <a:solidFill>
                      <a:schemeClr val="tx1"/>
                    </a:solidFill>
                  </a:rPr>
                  <a:t>) and the one-step forecast calculated in the pervious period for the current period (i.e.,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𝑇</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𝑇</m:t>
                        </m:r>
                        <m:r>
                          <a:rPr lang="en-US" i="1">
                            <a:solidFill>
                              <a:schemeClr val="tx1"/>
                            </a:solidFill>
                            <a:latin typeface="Cambria Math" panose="02040503050406030204" pitchFamily="18" charset="0"/>
                          </a:rPr>
                          <m:t>−1</m:t>
                        </m:r>
                      </m:sub>
                    </m:sSub>
                  </m:oMath>
                </a14:m>
                <a:r>
                  <a:rPr lang="en-US" dirty="0">
                    <a:solidFill>
                      <a:schemeClr val="tx1"/>
                    </a:solidFill>
                  </a:rPr>
                  <a:t>)</a:t>
                </a: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531"/>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B22D7E59-06DD-2C6C-5D58-CDEF3ACE9565}"/>
              </a:ext>
            </a:extLst>
          </p:cNvPr>
          <p:cNvSpPr/>
          <p:nvPr/>
        </p:nvSpPr>
        <p:spPr>
          <a:xfrm rot="5400000">
            <a:off x="6439008" y="34750"/>
            <a:ext cx="486613" cy="4652112"/>
          </a:xfrm>
          <a:prstGeom prst="rightBrace">
            <a:avLst>
              <a:gd name="adj1" fmla="val 44297"/>
              <a:gd name="adj2" fmla="val 50000"/>
            </a:avLst>
          </a:prstGeom>
          <a:ln w="19050">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AFB8C7-5E47-1D12-B44C-53F53329AE11}"/>
                  </a:ext>
                </a:extLst>
              </p:cNvPr>
              <p:cNvSpPr txBox="1"/>
              <p:nvPr/>
            </p:nvSpPr>
            <p:spPr>
              <a:xfrm>
                <a:off x="5916984" y="2547829"/>
                <a:ext cx="2153652" cy="494815"/>
              </a:xfrm>
              <a:prstGeom prst="rect">
                <a:avLst/>
              </a:prstGeom>
              <a:no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(1−</m:t>
                      </m:r>
                      <m:r>
                        <a:rPr lang="en-US" sz="2400" b="0" i="1" smtClean="0">
                          <a:solidFill>
                            <a:schemeClr val="tx1"/>
                          </a:solidFill>
                          <a:latin typeface="Cambria Math" panose="02040503050406030204" pitchFamily="18" charset="0"/>
                        </a:rPr>
                        <m:t>𝛼</m:t>
                      </m:r>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acc>
                            <m:accPr>
                              <m:chr m:val="̂"/>
                              <m:ctrlPr>
                                <a:rPr lang="en-US" sz="240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𝑦</m:t>
                              </m:r>
                            </m:e>
                          </m:acc>
                        </m:e>
                        <m:sub>
                          <m:r>
                            <a:rPr lang="en-US" sz="2400" b="0" i="1" smtClean="0">
                              <a:solidFill>
                                <a:schemeClr val="tx1"/>
                              </a:solidFill>
                              <a:latin typeface="Cambria Math" panose="02040503050406030204" pitchFamily="18" charset="0"/>
                            </a:rPr>
                            <m:t>𝑇</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𝑇</m:t>
                          </m:r>
                          <m:r>
                            <a:rPr lang="en-US" sz="2400" b="0" i="1" smtClean="0">
                              <a:solidFill>
                                <a:schemeClr val="tx1"/>
                              </a:solidFill>
                              <a:latin typeface="Cambria Math" panose="02040503050406030204" pitchFamily="18" charset="0"/>
                            </a:rPr>
                            <m:t>−1</m:t>
                          </m:r>
                        </m:sub>
                      </m:sSub>
                    </m:oMath>
                  </m:oMathPara>
                </a14:m>
                <a:endParaRPr lang="en-US" sz="2400" dirty="0"/>
              </a:p>
            </p:txBody>
          </p:sp>
        </mc:Choice>
        <mc:Fallback xmlns="">
          <p:sp>
            <p:nvSpPr>
              <p:cNvPr id="6" name="TextBox 5">
                <a:extLst>
                  <a:ext uri="{FF2B5EF4-FFF2-40B4-BE49-F238E27FC236}">
                    <a16:creationId xmlns:a16="http://schemas.microsoft.com/office/drawing/2014/main" id="{13AFB8C7-5E47-1D12-B44C-53F53329AE11}"/>
                  </a:ext>
                </a:extLst>
              </p:cNvPr>
              <p:cNvSpPr txBox="1">
                <a:spLocks noRot="1" noChangeAspect="1" noMove="1" noResize="1" noEditPoints="1" noAdjustHandles="1" noChangeArrowheads="1" noChangeShapeType="1" noTextEdit="1"/>
              </p:cNvSpPr>
              <p:nvPr/>
            </p:nvSpPr>
            <p:spPr>
              <a:xfrm>
                <a:off x="5916984" y="2547829"/>
                <a:ext cx="2153652" cy="494815"/>
              </a:xfrm>
              <a:prstGeom prst="rect">
                <a:avLst/>
              </a:prstGeom>
              <a:blipFill>
                <a:blip r:embed="rId3"/>
                <a:stretch>
                  <a:fillRect t="-2469" b="-12346"/>
                </a:stretch>
              </a:blipFill>
              <a:ln w="190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6537F4-DB36-8FAD-607F-634025120873}"/>
                  </a:ext>
                </a:extLst>
              </p:cNvPr>
              <p:cNvSpPr txBox="1"/>
              <p:nvPr/>
            </p:nvSpPr>
            <p:spPr>
              <a:xfrm>
                <a:off x="1960053" y="1677180"/>
                <a:ext cx="7275824" cy="502253"/>
              </a:xfrm>
              <a:prstGeom prst="rect">
                <a:avLst/>
              </a:prstGeom>
              <a:noFill/>
              <a:ln w="28575">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𝑇</m:t>
                          </m:r>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e>
                        <m:sup>
                          <m:r>
                            <a:rPr lang="en-US" sz="2400" b="0" i="1" smtClean="0">
                              <a:latin typeface="Cambria Math" panose="02040503050406030204" pitchFamily="18" charset="0"/>
                            </a:rPr>
                            <m:t>2</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r>
                            <a:rPr lang="en-US" sz="2400" b="0" i="1" smtClean="0">
                              <a:latin typeface="Cambria Math" panose="02040503050406030204" pitchFamily="18" charset="0"/>
                            </a:rPr>
                            <m:t>−2</m:t>
                          </m:r>
                        </m:sub>
                      </m:sSub>
                      <m:r>
                        <a:rPr lang="en-US" sz="2400" b="0" i="1" smtClean="0">
                          <a:latin typeface="Cambria Math" panose="02040503050406030204" pitchFamily="18" charset="0"/>
                        </a:rPr>
                        <m:t>+…</m:t>
                      </m:r>
                    </m:oMath>
                  </m:oMathPara>
                </a14:m>
                <a:endParaRPr lang="en-US" sz="2400" dirty="0"/>
              </a:p>
            </p:txBody>
          </p:sp>
        </mc:Choice>
        <mc:Fallback xmlns="">
          <p:sp>
            <p:nvSpPr>
              <p:cNvPr id="3" name="TextBox 2">
                <a:extLst>
                  <a:ext uri="{FF2B5EF4-FFF2-40B4-BE49-F238E27FC236}">
                    <a16:creationId xmlns:a16="http://schemas.microsoft.com/office/drawing/2014/main" id="{D46537F4-DB36-8FAD-607F-634025120873}"/>
                  </a:ext>
                </a:extLst>
              </p:cNvPr>
              <p:cNvSpPr txBox="1">
                <a:spLocks noRot="1" noChangeAspect="1" noMove="1" noResize="1" noEditPoints="1" noAdjustHandles="1" noChangeArrowheads="1" noChangeShapeType="1" noTextEdit="1"/>
              </p:cNvSpPr>
              <p:nvPr/>
            </p:nvSpPr>
            <p:spPr>
              <a:xfrm>
                <a:off x="1960053" y="1677180"/>
                <a:ext cx="7275824" cy="502253"/>
              </a:xfrm>
              <a:prstGeom prst="rect">
                <a:avLst/>
              </a:prstGeom>
              <a:blipFill>
                <a:blip r:embed="rId4"/>
                <a:stretch>
                  <a:fillRect t="-1205" b="-10843"/>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8A8D3D-F7D4-982E-57C8-C4F0F4B630BA}"/>
                  </a:ext>
                </a:extLst>
              </p:cNvPr>
              <p:cNvSpPr txBox="1"/>
              <p:nvPr/>
            </p:nvSpPr>
            <p:spPr>
              <a:xfrm>
                <a:off x="3599994" y="4532218"/>
                <a:ext cx="4852737" cy="502253"/>
              </a:xfrm>
              <a:prstGeom prst="rect">
                <a:avLst/>
              </a:prstGeom>
              <a:noFill/>
              <a:ln w="28575">
                <a:solidFill>
                  <a:srgbClr val="C0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𝑇</m:t>
                          </m:r>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r>
                            <a:rPr lang="en-US" sz="2400" i="1">
                              <a:latin typeface="Cambria Math" panose="02040503050406030204" pitchFamily="18" charset="0"/>
                            </a:rPr>
                            <m:t>|</m:t>
                          </m:r>
                          <m:r>
                            <a:rPr lang="en-US" sz="2400" i="1">
                              <a:latin typeface="Cambria Math" panose="02040503050406030204" pitchFamily="18" charset="0"/>
                            </a:rPr>
                            <m:t>𝑇</m:t>
                          </m:r>
                          <m:r>
                            <a:rPr lang="en-US" sz="2400" i="1">
                              <a:latin typeface="Cambria Math" panose="02040503050406030204" pitchFamily="18" charset="0"/>
                            </a:rPr>
                            <m:t>−1</m:t>
                          </m:r>
                        </m:sub>
                      </m:sSub>
                    </m:oMath>
                  </m:oMathPara>
                </a14:m>
                <a:endParaRPr lang="en-US" sz="2400" dirty="0"/>
              </a:p>
            </p:txBody>
          </p:sp>
        </mc:Choice>
        <mc:Fallback xmlns="">
          <p:sp>
            <p:nvSpPr>
              <p:cNvPr id="5" name="TextBox 4">
                <a:extLst>
                  <a:ext uri="{FF2B5EF4-FFF2-40B4-BE49-F238E27FC236}">
                    <a16:creationId xmlns:a16="http://schemas.microsoft.com/office/drawing/2014/main" id="{AD8A8D3D-F7D4-982E-57C8-C4F0F4B630BA}"/>
                  </a:ext>
                </a:extLst>
              </p:cNvPr>
              <p:cNvSpPr txBox="1">
                <a:spLocks noRot="1" noChangeAspect="1" noMove="1" noResize="1" noEditPoints="1" noAdjustHandles="1" noChangeArrowheads="1" noChangeShapeType="1" noTextEdit="1"/>
              </p:cNvSpPr>
              <p:nvPr/>
            </p:nvSpPr>
            <p:spPr>
              <a:xfrm>
                <a:off x="3599994" y="4532218"/>
                <a:ext cx="4852737" cy="502253"/>
              </a:xfrm>
              <a:prstGeom prst="rect">
                <a:avLst/>
              </a:prstGeom>
              <a:blipFill>
                <a:blip r:embed="rId5"/>
                <a:stretch>
                  <a:fillRect b="-5682"/>
                </a:stretch>
              </a:blipFill>
              <a:ln w="28575">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1636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Forms </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Component Form:</a:t>
                </a:r>
              </a:p>
              <a:p>
                <a:pPr lvl="1"/>
                <a:r>
                  <a:rPr lang="en-US" dirty="0">
                    <a:solidFill>
                      <a:schemeClr val="tx1"/>
                    </a:solidFill>
                  </a:rPr>
                  <a:t>Recall that simple exponential smoothing uses only the level</a:t>
                </a:r>
              </a:p>
              <a:p>
                <a:pPr lvl="1"/>
                <a:r>
                  <a:rPr lang="en-US" dirty="0">
                    <a:solidFill>
                      <a:schemeClr val="tx1"/>
                    </a:solidFill>
                  </a:rPr>
                  <a:t>Component form consists of forecast equation and a smoothing equation for each component included</a:t>
                </a:r>
              </a:p>
              <a:p>
                <a:pPr lvl="1"/>
                <a:r>
                  <a:rPr lang="en-US" dirty="0">
                    <a:solidFill>
                      <a:schemeClr val="tx1"/>
                    </a:solidFill>
                  </a:rPr>
                  <a:t>For simple exponential smoothing:</a:t>
                </a:r>
              </a:p>
              <a:p>
                <a:pPr lvl="1"/>
                <a:endParaRPr lang="en-US" dirty="0">
                  <a:solidFill>
                    <a:schemeClr val="tx1"/>
                  </a:solidFill>
                </a:endParaRPr>
              </a:p>
              <a:p>
                <a:pPr lvl="2"/>
                <a:r>
                  <a:rPr lang="en-US" dirty="0">
                    <a:solidFill>
                      <a:schemeClr val="tx1"/>
                    </a:solidFill>
                  </a:rPr>
                  <a:t>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𝑡</m:t>
                        </m:r>
                      </m:sub>
                    </m:sSub>
                  </m:oMath>
                </a14:m>
                <a:r>
                  <a:rPr lang="en-US" dirty="0">
                    <a:solidFill>
                      <a:schemeClr val="tx1"/>
                    </a:solidFill>
                  </a:rPr>
                  <a:t> is the level estimate at time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a:p>
                <a:pPr lvl="1"/>
                <a:endParaRPr lang="en-US" dirty="0">
                  <a:solidFill>
                    <a:schemeClr val="tx1"/>
                  </a:solidFill>
                </a:endParaRPr>
              </a:p>
              <a:p>
                <a:pPr lvl="1"/>
                <a:r>
                  <a:rPr lang="en-US" dirty="0">
                    <a:solidFill>
                      <a:schemeClr val="tx1"/>
                    </a:solidFill>
                  </a:rPr>
                  <a:t>Forecast calculated at time </a:t>
                </a:r>
                <a14:m>
                  <m:oMath xmlns:m="http://schemas.openxmlformats.org/officeDocument/2006/math">
                    <m:r>
                      <a:rPr lang="en-US" i="1">
                        <a:solidFill>
                          <a:schemeClr val="tx1"/>
                        </a:solidFill>
                        <a:latin typeface="Cambria Math" panose="02040503050406030204" pitchFamily="18" charset="0"/>
                      </a:rPr>
                      <m:t>𝑡</m:t>
                    </m:r>
                  </m:oMath>
                </a14:m>
                <a:r>
                  <a:rPr lang="en-US" dirty="0">
                    <a:solidFill>
                      <a:schemeClr val="tx1"/>
                    </a:solidFill>
                  </a:rPr>
                  <a:t> for any future period </a:t>
                </a:r>
                <a14:m>
                  <m:oMath xmlns:m="http://schemas.openxmlformats.org/officeDocument/2006/math">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h</m:t>
                    </m:r>
                  </m:oMath>
                </a14:m>
                <a:r>
                  <a:rPr lang="en-US" dirty="0">
                    <a:solidFill>
                      <a:schemeClr val="tx1"/>
                    </a:solidFill>
                  </a:rPr>
                  <a:t> is equal to the level estimate at time </a:t>
                </a:r>
                <a14:m>
                  <m:oMath xmlns:m="http://schemas.openxmlformats.org/officeDocument/2006/math">
                    <m:r>
                      <a:rPr lang="en-US" i="1">
                        <a:solidFill>
                          <a:schemeClr val="tx1"/>
                        </a:solidFill>
                        <a:latin typeface="Cambria Math" panose="02040503050406030204" pitchFamily="18" charset="0"/>
                      </a:rPr>
                      <m:t>𝑡</m:t>
                    </m:r>
                  </m:oMath>
                </a14:m>
                <a:endParaRPr lang="en-US" dirty="0">
                  <a:solidFill>
                    <a:schemeClr val="tx1"/>
                  </a:solidFill>
                </a:endParaRPr>
              </a:p>
              <a:p>
                <a:pPr lvl="1"/>
                <a:r>
                  <a:rPr lang="en-US" dirty="0">
                    <a:solidFill>
                      <a:schemeClr val="tx1"/>
                    </a:solidFill>
                  </a:rPr>
                  <a:t>The level estimate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𝑡</m:t>
                        </m:r>
                      </m:sub>
                    </m:sSub>
                  </m:oMath>
                </a14:m>
                <a:r>
                  <a:rPr lang="en-US" dirty="0">
                    <a:solidFill>
                      <a:schemeClr val="tx1"/>
                    </a:solidFill>
                  </a:rPr>
                  <a:t>) is calculated as the weighted average of the latest observation (</a:t>
                </a:r>
                <a14:m>
                  <m:oMath xmlns:m="http://schemas.openxmlformats.org/officeDocument/2006/math">
                    <m:sSub>
                      <m:sSubPr>
                        <m:ctrlPr>
                          <a:rPr lang="en-US" i="1">
                            <a:solidFill>
                              <a:schemeClr val="tx1"/>
                            </a:solidFill>
                            <a:latin typeface="Cambria Math" panose="02040503050406030204" pitchFamily="18" charset="0"/>
                          </a:rPr>
                        </m:ctrlPr>
                      </m:sSubPr>
                      <m:e>
                        <m:r>
                          <m:rPr>
                            <m:sty m:val="p"/>
                          </m:rPr>
                          <a:rPr lang="en-US" i="1">
                            <a:solidFill>
                              <a:schemeClr val="tx1"/>
                            </a:solidFill>
                            <a:latin typeface="Cambria Math" panose="02040503050406030204" pitchFamily="18" charset="0"/>
                          </a:rPr>
                          <m:t>y</m:t>
                        </m:r>
                      </m:e>
                      <m:sub>
                        <m:r>
                          <a:rPr lang="en-US" i="1">
                            <a:solidFill>
                              <a:schemeClr val="tx1"/>
                            </a:solidFill>
                            <a:latin typeface="Cambria Math" panose="02040503050406030204" pitchFamily="18" charset="0"/>
                          </a:rPr>
                          <m:t>𝑡</m:t>
                        </m:r>
                      </m:sub>
                    </m:sSub>
                  </m:oMath>
                </a14:m>
                <a:r>
                  <a:rPr lang="en-US" dirty="0">
                    <a:solidFill>
                      <a:schemeClr val="tx1"/>
                    </a:solidFill>
                  </a:rPr>
                  <a:t>) and the previous level estimate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oMath>
                </a14:m>
                <a:r>
                  <a:rPr lang="en-US" dirty="0">
                    <a:solidFill>
                      <a:schemeClr val="tx1"/>
                    </a:solidFill>
                  </a:rPr>
                  <a:t>)</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69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53A0C00F-3561-2579-EA83-B9A60A2E9670}"/>
              </a:ext>
            </a:extLst>
          </p:cNvPr>
          <p:cNvPicPr>
            <a:picLocks noChangeAspect="1"/>
          </p:cNvPicPr>
          <p:nvPr/>
        </p:nvPicPr>
        <p:blipFill>
          <a:blip r:embed="rId3"/>
          <a:stretch>
            <a:fillRect/>
          </a:stretch>
        </p:blipFill>
        <p:spPr>
          <a:xfrm>
            <a:off x="5691528" y="2655293"/>
            <a:ext cx="5889412" cy="837546"/>
          </a:xfrm>
          <a:prstGeom prst="rect">
            <a:avLst/>
          </a:prstGeom>
          <a:ln w="19050">
            <a:solidFill>
              <a:srgbClr val="C00000"/>
            </a:solidFill>
          </a:ln>
        </p:spPr>
      </p:pic>
    </p:spTree>
    <p:extLst>
      <p:ext uri="{BB962C8B-B14F-4D97-AF65-F5344CB8AC3E}">
        <p14:creationId xmlns:p14="http://schemas.microsoft.com/office/powerpoint/2010/main" val="296682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Simple Exponential Smoothing Forms </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Component Form:</a:t>
            </a:r>
          </a:p>
          <a:p>
            <a:pPr lvl="1"/>
            <a:endParaRPr lang="en-US" dirty="0">
              <a:solidFill>
                <a:schemeClr val="bg2"/>
              </a:solidFill>
            </a:endParaRPr>
          </a:p>
          <a:p>
            <a:pPr lvl="1"/>
            <a:endParaRPr lang="en-US" dirty="0">
              <a:solidFill>
                <a:schemeClr val="bg2"/>
              </a:solidFill>
            </a:endParaRPr>
          </a:p>
          <a:p>
            <a:pPr lvl="1"/>
            <a:r>
              <a:rPr lang="en-US" dirty="0"/>
              <a:t>When we observe a new data point, we update the estimate for the level and use the updated level information</a:t>
            </a:r>
          </a:p>
          <a:p>
            <a:pPr marL="914400" lvl="2" indent="0">
              <a:buNone/>
            </a:pPr>
            <a:endParaRPr lang="en-US" dirty="0">
              <a:solidFill>
                <a:schemeClr val="bg2"/>
              </a:solidFill>
            </a:endParaRPr>
          </a:p>
        </p:txBody>
      </p:sp>
      <p:pic>
        <p:nvPicPr>
          <p:cNvPr id="7" name="Picture 6">
            <a:extLst>
              <a:ext uri="{FF2B5EF4-FFF2-40B4-BE49-F238E27FC236}">
                <a16:creationId xmlns:a16="http://schemas.microsoft.com/office/drawing/2014/main" id="{53A0C00F-3561-2579-EA83-B9A60A2E9670}"/>
              </a:ext>
            </a:extLst>
          </p:cNvPr>
          <p:cNvPicPr>
            <a:picLocks noChangeAspect="1"/>
          </p:cNvPicPr>
          <p:nvPr/>
        </p:nvPicPr>
        <p:blipFill>
          <a:blip r:embed="rId2"/>
          <a:stretch>
            <a:fillRect/>
          </a:stretch>
        </p:blipFill>
        <p:spPr>
          <a:xfrm>
            <a:off x="3503968" y="1372941"/>
            <a:ext cx="5889412" cy="837546"/>
          </a:xfrm>
          <a:prstGeom prst="rect">
            <a:avLst/>
          </a:prstGeom>
          <a:ln w="19050">
            <a:solidFill>
              <a:srgbClr val="C00000"/>
            </a:solidFill>
          </a:ln>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769B7AB-22A1-C913-270C-AC14D8F4674C}"/>
                  </a:ext>
                </a:extLst>
              </p:cNvPr>
              <p:cNvSpPr/>
              <p:nvPr/>
            </p:nvSpPr>
            <p:spPr>
              <a:xfrm>
                <a:off x="4839633" y="4268618"/>
                <a:ext cx="288425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ℓ</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𝛼</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𝛼</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ℓ</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sub>
                      </m:sSub>
                    </m:oMath>
                  </m:oMathPara>
                </a14:m>
                <a:endParaRPr kumimoji="0" lang="en-US" sz="1800" b="0" i="0" u="none" strike="noStrike" kern="0" cap="none" spc="0" normalizeH="0" baseline="0" noProof="0" dirty="0">
                  <a:ln>
                    <a:noFill/>
                  </a:ln>
                  <a:solidFill>
                    <a:prstClr val="black"/>
                  </a:solidFill>
                  <a:effectLst/>
                  <a:uLnTx/>
                  <a:uFillTx/>
                </a:endParaRPr>
              </a:p>
            </p:txBody>
          </p:sp>
        </mc:Choice>
        <mc:Fallback xmlns="">
          <p:sp>
            <p:nvSpPr>
              <p:cNvPr id="17" name="Rectangle 16">
                <a:extLst>
                  <a:ext uri="{FF2B5EF4-FFF2-40B4-BE49-F238E27FC236}">
                    <a16:creationId xmlns:a16="http://schemas.microsoft.com/office/drawing/2014/main" id="{9769B7AB-22A1-C913-270C-AC14D8F4674C}"/>
                  </a:ext>
                </a:extLst>
              </p:cNvPr>
              <p:cNvSpPr>
                <a:spLocks noRot="1" noChangeAspect="1" noMove="1" noResize="1" noEditPoints="1" noAdjustHandles="1" noChangeArrowheads="1" noChangeShapeType="1" noTextEdit="1"/>
              </p:cNvSpPr>
              <p:nvPr/>
            </p:nvSpPr>
            <p:spPr>
              <a:xfrm>
                <a:off x="4839633" y="4268618"/>
                <a:ext cx="288425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DC790F84-25A8-C176-55DF-12D90064556D}"/>
                  </a:ext>
                </a:extLst>
              </p:cNvPr>
              <p:cNvSpPr/>
              <p:nvPr/>
            </p:nvSpPr>
            <p:spPr>
              <a:xfrm>
                <a:off x="2108742" y="4246712"/>
                <a:ext cx="1771767"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oMath>
                </a14:m>
                <a:r>
                  <a:rPr kumimoji="0" lang="en-US" sz="1800" b="0" i="0" u="none" strike="noStrike" kern="0" cap="none" spc="0" normalizeH="0" baseline="0" noProof="0" dirty="0">
                    <a:ln>
                      <a:noFill/>
                    </a:ln>
                    <a:solidFill>
                      <a:prstClr val="black"/>
                    </a:solidFill>
                    <a:effectLst/>
                    <a:uLnTx/>
                    <a:uFillTx/>
                  </a:rPr>
                  <a:t> is observed</a:t>
                </a:r>
              </a:p>
            </p:txBody>
          </p:sp>
        </mc:Choice>
        <mc:Fallback xmlns="">
          <p:sp>
            <p:nvSpPr>
              <p:cNvPr id="18" name="Rectangle 17">
                <a:extLst>
                  <a:ext uri="{FF2B5EF4-FFF2-40B4-BE49-F238E27FC236}">
                    <a16:creationId xmlns:a16="http://schemas.microsoft.com/office/drawing/2014/main" id="{DC790F84-25A8-C176-55DF-12D90064556D}"/>
                  </a:ext>
                </a:extLst>
              </p:cNvPr>
              <p:cNvSpPr>
                <a:spLocks noRot="1" noChangeAspect="1" noMove="1" noResize="1" noEditPoints="1" noAdjustHandles="1" noChangeArrowheads="1" noChangeShapeType="1" noTextEdit="1"/>
              </p:cNvSpPr>
              <p:nvPr/>
            </p:nvSpPr>
            <p:spPr>
              <a:xfrm>
                <a:off x="2108742" y="4246712"/>
                <a:ext cx="1771767" cy="369332"/>
              </a:xfrm>
              <a:prstGeom prst="rect">
                <a:avLst/>
              </a:prstGeom>
              <a:blipFill>
                <a:blip r:embed="rId4"/>
                <a:stretch>
                  <a:fillRect t="-10000" r="-2062"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DEBBBDB-A7AE-E3B8-0990-353972CF7C3E}"/>
                  </a:ext>
                </a:extLst>
              </p:cNvPr>
              <p:cNvSpPr/>
              <p:nvPr/>
            </p:nvSpPr>
            <p:spPr>
              <a:xfrm>
                <a:off x="8176195" y="4268618"/>
                <a:ext cx="2087366" cy="39421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acc>
                            <m:accPr>
                              <m:chr m:val="̂"/>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acc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acc>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h</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ℓ</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oMath>
                  </m:oMathPara>
                </a14:m>
                <a:endParaRPr kumimoji="0" lang="en-US" sz="1800" b="0" i="0" u="none" strike="noStrike" kern="0" cap="none" spc="0" normalizeH="0" baseline="0" noProof="0" dirty="0">
                  <a:ln>
                    <a:noFill/>
                  </a:ln>
                  <a:solidFill>
                    <a:prstClr val="black"/>
                  </a:solidFill>
                  <a:effectLst/>
                  <a:uLnTx/>
                  <a:uFillTx/>
                </a:endParaRPr>
              </a:p>
            </p:txBody>
          </p:sp>
        </mc:Choice>
        <mc:Fallback xmlns="">
          <p:sp>
            <p:nvSpPr>
              <p:cNvPr id="19" name="Rectangle 18">
                <a:extLst>
                  <a:ext uri="{FF2B5EF4-FFF2-40B4-BE49-F238E27FC236}">
                    <a16:creationId xmlns:a16="http://schemas.microsoft.com/office/drawing/2014/main" id="{4DEBBBDB-A7AE-E3B8-0990-353972CF7C3E}"/>
                  </a:ext>
                </a:extLst>
              </p:cNvPr>
              <p:cNvSpPr>
                <a:spLocks noRot="1" noChangeAspect="1" noMove="1" noResize="1" noEditPoints="1" noAdjustHandles="1" noChangeArrowheads="1" noChangeShapeType="1" noTextEdit="1"/>
              </p:cNvSpPr>
              <p:nvPr/>
            </p:nvSpPr>
            <p:spPr>
              <a:xfrm>
                <a:off x="8176195" y="4268618"/>
                <a:ext cx="2087366" cy="394210"/>
              </a:xfrm>
              <a:prstGeom prst="rect">
                <a:avLst/>
              </a:prstGeom>
              <a:blipFill>
                <a:blip r:embed="rId5"/>
                <a:stretch>
                  <a:fillRect t="-4615" b="-9231"/>
                </a:stretch>
              </a:blipFill>
            </p:spPr>
            <p:txBody>
              <a:bodyPr/>
              <a:lstStyle/>
              <a:p>
                <a:r>
                  <a:rPr lang="en-US">
                    <a:noFill/>
                  </a:rPr>
                  <a:t> </a:t>
                </a:r>
              </a:p>
            </p:txBody>
          </p:sp>
        </mc:Fallback>
      </mc:AlternateContent>
      <p:sp>
        <p:nvSpPr>
          <p:cNvPr id="20" name="Left Brace 19">
            <a:extLst>
              <a:ext uri="{FF2B5EF4-FFF2-40B4-BE49-F238E27FC236}">
                <a16:creationId xmlns:a16="http://schemas.microsoft.com/office/drawing/2014/main" id="{12D9DE5A-494B-DD8E-E0A0-B290A56A6E1F}"/>
              </a:ext>
            </a:extLst>
          </p:cNvPr>
          <p:cNvSpPr/>
          <p:nvPr/>
        </p:nvSpPr>
        <p:spPr>
          <a:xfrm rot="16200000">
            <a:off x="2845367" y="2252446"/>
            <a:ext cx="354796" cy="3633735"/>
          </a:xfrm>
          <a:prstGeom prst="leftBrace">
            <a:avLst>
              <a:gd name="adj1" fmla="val 39161"/>
              <a:gd name="adj2" fmla="val 50000"/>
            </a:avLst>
          </a:prstGeom>
          <a:noFill/>
          <a:ln w="190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C00000"/>
              </a:solidFill>
              <a:effectLst/>
              <a:uLnTx/>
              <a:uFillTx/>
              <a:latin typeface="Calibri" panose="020F0502020204030204"/>
              <a:ea typeface="+mn-ea"/>
              <a:cs typeface="+mn-cs"/>
            </a:endParaRPr>
          </a:p>
        </p:txBody>
      </p:sp>
      <p:sp>
        <p:nvSpPr>
          <p:cNvPr id="21" name="Left Brace 20">
            <a:extLst>
              <a:ext uri="{FF2B5EF4-FFF2-40B4-BE49-F238E27FC236}">
                <a16:creationId xmlns:a16="http://schemas.microsoft.com/office/drawing/2014/main" id="{97E0B8C7-BBD4-BDED-FB4B-0B9F40896CED}"/>
              </a:ext>
            </a:extLst>
          </p:cNvPr>
          <p:cNvSpPr/>
          <p:nvPr/>
        </p:nvSpPr>
        <p:spPr>
          <a:xfrm rot="16200000">
            <a:off x="6107718" y="2910337"/>
            <a:ext cx="354796" cy="2300473"/>
          </a:xfrm>
          <a:prstGeom prst="leftBrace">
            <a:avLst>
              <a:gd name="adj1" fmla="val 41628"/>
              <a:gd name="adj2" fmla="val 50000"/>
            </a:avLst>
          </a:prstGeom>
          <a:noFill/>
          <a:ln w="190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2" name="Left Brace 21">
            <a:extLst>
              <a:ext uri="{FF2B5EF4-FFF2-40B4-BE49-F238E27FC236}">
                <a16:creationId xmlns:a16="http://schemas.microsoft.com/office/drawing/2014/main" id="{054C8DD2-D330-1D06-22D9-EB5C58D12DED}"/>
              </a:ext>
            </a:extLst>
          </p:cNvPr>
          <p:cNvSpPr/>
          <p:nvPr/>
        </p:nvSpPr>
        <p:spPr>
          <a:xfrm rot="16200000">
            <a:off x="9142240" y="2487731"/>
            <a:ext cx="354796" cy="3163165"/>
          </a:xfrm>
          <a:prstGeom prst="leftBrace">
            <a:avLst>
              <a:gd name="adj1" fmla="val 30529"/>
              <a:gd name="adj2" fmla="val 50000"/>
            </a:avLst>
          </a:prstGeom>
          <a:noFill/>
          <a:ln w="190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92C3710E-DAED-7498-081F-2C18313B1C5C}"/>
                  </a:ext>
                </a:extLst>
              </p:cNvPr>
              <p:cNvSpPr/>
              <p:nvPr/>
            </p:nvSpPr>
            <p:spPr>
              <a:xfrm>
                <a:off x="8850815" y="4662828"/>
                <a:ext cx="235327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𝛼</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𝛼</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ℓ</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sub>
                      </m:sSub>
                    </m:oMath>
                  </m:oMathPara>
                </a14:m>
                <a:endParaRPr kumimoji="0" lang="en-US" sz="1800" b="0" i="0" u="none" strike="noStrike" kern="0" cap="none" spc="0" normalizeH="0" baseline="0" noProof="0" dirty="0">
                  <a:ln>
                    <a:noFill/>
                  </a:ln>
                  <a:solidFill>
                    <a:prstClr val="black"/>
                  </a:solidFill>
                  <a:effectLst/>
                  <a:uLnTx/>
                  <a:uFillTx/>
                </a:endParaRPr>
              </a:p>
            </p:txBody>
          </p:sp>
        </mc:Choice>
        <mc:Fallback xmlns="">
          <p:sp>
            <p:nvSpPr>
              <p:cNvPr id="23" name="Rectangle 22">
                <a:extLst>
                  <a:ext uri="{FF2B5EF4-FFF2-40B4-BE49-F238E27FC236}">
                    <a16:creationId xmlns:a16="http://schemas.microsoft.com/office/drawing/2014/main" id="{92C3710E-DAED-7498-081F-2C18313B1C5C}"/>
                  </a:ext>
                </a:extLst>
              </p:cNvPr>
              <p:cNvSpPr>
                <a:spLocks noRot="1" noChangeAspect="1" noMove="1" noResize="1" noEditPoints="1" noAdjustHandles="1" noChangeArrowheads="1" noChangeShapeType="1" noTextEdit="1"/>
              </p:cNvSpPr>
              <p:nvPr/>
            </p:nvSpPr>
            <p:spPr>
              <a:xfrm>
                <a:off x="8850815" y="4662828"/>
                <a:ext cx="2353273"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F2EB319-4D5E-F028-101A-7136E935DA61}"/>
                  </a:ext>
                </a:extLst>
              </p:cNvPr>
              <p:cNvSpPr/>
              <p:nvPr/>
            </p:nvSpPr>
            <p:spPr>
              <a:xfrm>
                <a:off x="8865490" y="4977903"/>
                <a:ext cx="2737673" cy="39421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𝛼</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sub>
                      </m:s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𝛼</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acc>
                            <m:accPr>
                              <m:chr m:val="̂"/>
                              <m:ctrlP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ctrlPr>
                            </m:accPr>
                            <m:e>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𝑦</m:t>
                              </m:r>
                            </m:e>
                          </m:acc>
                        </m:e>
                        <m:sub>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𝑇</m:t>
                          </m:r>
                        </m:sub>
                      </m:sSub>
                    </m:oMath>
                  </m:oMathPara>
                </a14:m>
                <a:endParaRPr kumimoji="0" lang="en-US" sz="1800" b="0" i="0" u="none" strike="noStrike" kern="0" cap="none" spc="0" normalizeH="0" baseline="0" noProof="0" dirty="0">
                  <a:ln>
                    <a:noFill/>
                  </a:ln>
                  <a:solidFill>
                    <a:prstClr val="black"/>
                  </a:solidFill>
                  <a:effectLst/>
                  <a:uLnTx/>
                  <a:uFillTx/>
                </a:endParaRPr>
              </a:p>
            </p:txBody>
          </p:sp>
        </mc:Choice>
        <mc:Fallback xmlns="">
          <p:sp>
            <p:nvSpPr>
              <p:cNvPr id="24" name="Rectangle 23">
                <a:extLst>
                  <a:ext uri="{FF2B5EF4-FFF2-40B4-BE49-F238E27FC236}">
                    <a16:creationId xmlns:a16="http://schemas.microsoft.com/office/drawing/2014/main" id="{1F2EB319-4D5E-F028-101A-7136E935DA61}"/>
                  </a:ext>
                </a:extLst>
              </p:cNvPr>
              <p:cNvSpPr>
                <a:spLocks noRot="1" noChangeAspect="1" noMove="1" noResize="1" noEditPoints="1" noAdjustHandles="1" noChangeArrowheads="1" noChangeShapeType="1" noTextEdit="1"/>
              </p:cNvSpPr>
              <p:nvPr/>
            </p:nvSpPr>
            <p:spPr>
              <a:xfrm>
                <a:off x="8865490" y="4977903"/>
                <a:ext cx="2737673" cy="394210"/>
              </a:xfrm>
              <a:prstGeom prst="rect">
                <a:avLst/>
              </a:prstGeom>
              <a:blipFill>
                <a:blip r:embed="rId7"/>
                <a:stretch>
                  <a:fillRect t="-4688" b="-10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7B8CB71-BA6B-818A-54F7-7939E81B6C9F}"/>
                  </a:ext>
                </a:extLst>
              </p:cNvPr>
              <p:cNvSpPr txBox="1"/>
              <p:nvPr/>
            </p:nvSpPr>
            <p:spPr>
              <a:xfrm>
                <a:off x="268156" y="3515316"/>
                <a:ext cx="4644641" cy="369332"/>
              </a:xfrm>
              <a:prstGeom prst="rect">
                <a:avLst/>
              </a:prstGeom>
              <a:noFill/>
            </p:spPr>
            <p:txBody>
              <a:bodyPr wrap="square">
                <a:spAutoFit/>
              </a:bodyPr>
              <a:lstStyle/>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Value for period </a:t>
                </a:r>
                <a14:m>
                  <m:oMath xmlns:m="http://schemas.openxmlformats.org/officeDocument/2006/math">
                    <m:r>
                      <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𝑇</m:t>
                    </m:r>
                    <m:r>
                      <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+1</m:t>
                    </m:r>
                  </m:oMath>
                </a14:m>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is observed</a:t>
                </a:r>
              </a:p>
            </p:txBody>
          </p:sp>
        </mc:Choice>
        <mc:Fallback xmlns="">
          <p:sp>
            <p:nvSpPr>
              <p:cNvPr id="26" name="TextBox 25">
                <a:extLst>
                  <a:ext uri="{FF2B5EF4-FFF2-40B4-BE49-F238E27FC236}">
                    <a16:creationId xmlns:a16="http://schemas.microsoft.com/office/drawing/2014/main" id="{F7B8CB71-BA6B-818A-54F7-7939E81B6C9F}"/>
                  </a:ext>
                </a:extLst>
              </p:cNvPr>
              <p:cNvSpPr txBox="1">
                <a:spLocks noRot="1" noChangeAspect="1" noMove="1" noResize="1" noEditPoints="1" noAdjustHandles="1" noChangeArrowheads="1" noChangeShapeType="1" noTextEdit="1"/>
              </p:cNvSpPr>
              <p:nvPr/>
            </p:nvSpPr>
            <p:spPr>
              <a:xfrm>
                <a:off x="268156" y="3515316"/>
                <a:ext cx="4644641" cy="369332"/>
              </a:xfrm>
              <a:prstGeom prst="rect">
                <a:avLst/>
              </a:prstGeom>
              <a:blipFill>
                <a:blip r:embed="rId8"/>
                <a:stretch>
                  <a:fillRect t="-18333" r="-1312" b="-3000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39BC9800-61F0-AD03-8463-6E1D30AA3E08}"/>
              </a:ext>
            </a:extLst>
          </p:cNvPr>
          <p:cNvSpPr txBox="1"/>
          <p:nvPr/>
        </p:nvSpPr>
        <p:spPr>
          <a:xfrm>
            <a:off x="3880509" y="3521111"/>
            <a:ext cx="3862752" cy="369332"/>
          </a:xfrm>
          <a:prstGeom prst="rect">
            <a:avLst/>
          </a:prstGeom>
          <a:noFill/>
        </p:spPr>
        <p:txBody>
          <a:bodyPr wrap="square">
            <a:spAutoFit/>
          </a:bodyPr>
          <a:lstStyle/>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update estimate level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60B0095-A091-1B82-B926-65BA078B597B}"/>
                  </a:ext>
                </a:extLst>
              </p:cNvPr>
              <p:cNvSpPr txBox="1"/>
              <p:nvPr/>
            </p:nvSpPr>
            <p:spPr>
              <a:xfrm>
                <a:off x="6484831" y="3522583"/>
                <a:ext cx="4656320" cy="369332"/>
              </a:xfrm>
              <a:prstGeom prst="rect">
                <a:avLst/>
              </a:prstGeom>
              <a:noFill/>
            </p:spPr>
            <p:txBody>
              <a:bodyPr wrap="square">
                <a:spAutoFit/>
              </a:bodyPr>
              <a:lstStyle/>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update forecasts for </a:t>
                </a:r>
                <a14:m>
                  <m:oMath xmlns:m="http://schemas.openxmlformats.org/officeDocument/2006/math">
                    <m:r>
                      <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sym typeface="Wingdings" panose="05000000000000000000" pitchFamily="2" charset="2"/>
                      </a:rPr>
                      <m:t>𝑇</m:t>
                    </m:r>
                    <m:r>
                      <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sym typeface="Wingdings" panose="05000000000000000000" pitchFamily="2" charset="2"/>
                      </a:rPr>
                      <m:t>+1+</m:t>
                    </m:r>
                    <m:r>
                      <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sym typeface="Wingdings" panose="05000000000000000000" pitchFamily="2" charset="2"/>
                      </a:rPr>
                      <m:t>h</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660B0095-A091-1B82-B926-65BA078B597B}"/>
                  </a:ext>
                </a:extLst>
              </p:cNvPr>
              <p:cNvSpPr txBox="1">
                <a:spLocks noRot="1" noChangeAspect="1" noMove="1" noResize="1" noEditPoints="1" noAdjustHandles="1" noChangeArrowheads="1" noChangeShapeType="1" noTextEdit="1"/>
              </p:cNvSpPr>
              <p:nvPr/>
            </p:nvSpPr>
            <p:spPr>
              <a:xfrm>
                <a:off x="6484831" y="3522583"/>
                <a:ext cx="4656320" cy="369332"/>
              </a:xfrm>
              <a:prstGeom prst="rect">
                <a:avLst/>
              </a:prstGeom>
              <a:blipFill>
                <a:blip r:embed="rId9"/>
                <a:stretch>
                  <a:fillRect t="-20000" b="-30000"/>
                </a:stretch>
              </a:blipFill>
            </p:spPr>
            <p:txBody>
              <a:bodyPr/>
              <a:lstStyle/>
              <a:p>
                <a:r>
                  <a:rPr lang="en-US">
                    <a:noFill/>
                  </a:rPr>
                  <a:t> </a:t>
                </a:r>
              </a:p>
            </p:txBody>
          </p:sp>
        </mc:Fallback>
      </mc:AlternateContent>
    </p:spTree>
    <p:extLst>
      <p:ext uri="{BB962C8B-B14F-4D97-AF65-F5344CB8AC3E}">
        <p14:creationId xmlns:p14="http://schemas.microsoft.com/office/powerpoint/2010/main" val="556252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P spid="21" grpId="0" animBg="1"/>
      <p:bldP spid="22" grpId="0" animBg="1"/>
      <p:bldP spid="23" grpId="0"/>
      <p:bldP spid="24" grpId="0"/>
      <p:bldP spid="26" grpId="0"/>
      <p:bldP spid="2"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Demand forecasting with SES</a:t>
                </a:r>
              </a:p>
              <a:p>
                <a:pPr lvl="1"/>
                <a:r>
                  <a:rPr lang="en-US" dirty="0">
                    <a:solidFill>
                      <a:schemeClr val="tx1"/>
                    </a:solidFill>
                  </a:rPr>
                  <a:t>The demand data is given below</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r>
                  <a:rPr lang="en-US" dirty="0">
                    <a:solidFill>
                      <a:schemeClr val="tx1"/>
                    </a:solidFill>
                  </a:rPr>
                  <a:t>We are in period 7, and observed  the demand to be 185 units</a:t>
                </a:r>
              </a:p>
              <a:p>
                <a:pPr lvl="1"/>
                <a:r>
                  <a:rPr lang="en-US" dirty="0">
                    <a:solidFill>
                      <a:schemeClr val="tx1"/>
                    </a:solidFill>
                  </a:rPr>
                  <a:t>Given we’re in period 7, what are the forecasts for period 8, 9, &amp; 10?</a:t>
                </a:r>
              </a:p>
              <a:p>
                <a:pPr lvl="1"/>
                <a:r>
                  <a:rPr lang="en-US" dirty="0">
                    <a:solidFill>
                      <a:schemeClr val="tx1"/>
                    </a:solidFill>
                  </a:rPr>
                  <a:t>That is, what are </a:t>
                </a:r>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8|7</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9</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7</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10</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7</m:t>
                        </m:r>
                      </m:sub>
                    </m:sSub>
                  </m:oMath>
                </a14:m>
                <a:r>
                  <a:rPr lang="en-US" dirty="0">
                    <a:solidFill>
                      <a:schemeClr val="tx1"/>
                    </a:solidFill>
                  </a:rPr>
                  <a:t>?</a:t>
                </a:r>
              </a:p>
              <a:p>
                <a:pPr lvl="1"/>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F2E4335C-2A79-7AA2-2099-A5789CEDBDCE}"/>
                  </a:ext>
                </a:extLst>
              </p:cNvPr>
              <p:cNvGraphicFramePr>
                <a:graphicFrameLocks noGrp="1"/>
              </p:cNvGraphicFramePr>
              <p:nvPr>
                <p:extLst>
                  <p:ext uri="{D42A27DB-BD31-4B8C-83A1-F6EECF244321}">
                    <p14:modId xmlns:p14="http://schemas.microsoft.com/office/powerpoint/2010/main" val="2154286662"/>
                  </p:ext>
                </p:extLst>
              </p:nvPr>
            </p:nvGraphicFramePr>
            <p:xfrm>
              <a:off x="2336313" y="2170743"/>
              <a:ext cx="2900705" cy="2682240"/>
            </p:xfrm>
            <a:graphic>
              <a:graphicData uri="http://schemas.openxmlformats.org/drawingml/2006/table">
                <a:tbl>
                  <a:tblPr firstRow="1" bandRow="1">
                    <a:tableStyleId>{5940675A-B579-460E-94D1-54222C63F5DA}</a:tableStyleId>
                  </a:tblPr>
                  <a:tblGrid>
                    <a:gridCol w="1352261">
                      <a:extLst>
                        <a:ext uri="{9D8B030D-6E8A-4147-A177-3AD203B41FA5}">
                          <a16:colId xmlns:a16="http://schemas.microsoft.com/office/drawing/2014/main" val="3448778324"/>
                        </a:ext>
                      </a:extLst>
                    </a:gridCol>
                    <a:gridCol w="1548444">
                      <a:extLst>
                        <a:ext uri="{9D8B030D-6E8A-4147-A177-3AD203B41FA5}">
                          <a16:colId xmlns:a16="http://schemas.microsoft.com/office/drawing/2014/main" val="2735797531"/>
                        </a:ext>
                      </a:extLst>
                    </a:gridCol>
                  </a:tblGrid>
                  <a:tr h="289876">
                    <a:tc>
                      <a:txBody>
                        <a:bodyPr/>
                        <a:lstStyle/>
                        <a:p>
                          <a:pPr algn="ctr"/>
                          <a:r>
                            <a:rPr lang="en-US" sz="1600" b="1" dirty="0"/>
                            <a:t>Period (</a:t>
                          </a:r>
                          <a14:m>
                            <m:oMath xmlns:m="http://schemas.openxmlformats.org/officeDocument/2006/math">
                              <m:r>
                                <a:rPr lang="en-US" sz="1600" b="1" i="1" smtClean="0">
                                  <a:latin typeface="Cambria Math" panose="02040503050406030204" pitchFamily="18" charset="0"/>
                                </a:rPr>
                                <m:t>𝒕</m:t>
                              </m:r>
                            </m:oMath>
                          </a14:m>
                          <a:r>
                            <a:rPr lang="en-US" sz="1600" b="1" dirty="0"/>
                            <a:t>)</a:t>
                          </a:r>
                        </a:p>
                      </a:txBody>
                      <a:tcPr>
                        <a:solidFill>
                          <a:schemeClr val="accent1"/>
                        </a:solidFill>
                      </a:tcPr>
                    </a:tc>
                    <a:tc>
                      <a:txBody>
                        <a:bodyPr/>
                        <a:lstStyle/>
                        <a:p>
                          <a:pPr algn="ctr"/>
                          <a:r>
                            <a:rPr lang="en-US" sz="1600" b="1" dirty="0"/>
                            <a:t>Demand (</a:t>
                          </a:r>
                          <a14:m>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𝒚</m:t>
                                  </m:r>
                                </m:e>
                                <m:sub>
                                  <m:r>
                                    <a:rPr lang="en-US" sz="1600" b="1" i="1" smtClean="0">
                                      <a:latin typeface="Cambria Math" panose="02040503050406030204" pitchFamily="18" charset="0"/>
                                    </a:rPr>
                                    <m:t>𝒕</m:t>
                                  </m:r>
                                </m:sub>
                              </m:sSub>
                            </m:oMath>
                          </a14:m>
                          <a:r>
                            <a:rPr lang="en-US" sz="1600" b="1" dirty="0"/>
                            <a:t>)</a:t>
                          </a:r>
                        </a:p>
                      </a:txBody>
                      <a:tcPr>
                        <a:solidFill>
                          <a:schemeClr val="accent1"/>
                        </a:solidFill>
                      </a:tcPr>
                    </a:tc>
                    <a:extLst>
                      <a:ext uri="{0D108BD9-81ED-4DB2-BD59-A6C34878D82A}">
                        <a16:rowId xmlns:a16="http://schemas.microsoft.com/office/drawing/2014/main" val="1101189322"/>
                      </a:ext>
                    </a:extLst>
                  </a:tr>
                  <a:tr h="289876">
                    <a:tc>
                      <a:txBody>
                        <a:bodyPr/>
                        <a:lstStyle/>
                        <a:p>
                          <a:pPr algn="ctr"/>
                          <a:r>
                            <a:rPr lang="en-US" sz="1600" dirty="0"/>
                            <a:t>1</a:t>
                          </a:r>
                        </a:p>
                      </a:txBody>
                      <a:tcPr/>
                    </a:tc>
                    <a:tc>
                      <a:txBody>
                        <a:bodyPr/>
                        <a:lstStyle/>
                        <a:p>
                          <a:pPr algn="ctr"/>
                          <a:r>
                            <a:rPr lang="en-US" sz="1600" dirty="0"/>
                            <a:t>200</a:t>
                          </a:r>
                        </a:p>
                      </a:txBody>
                      <a:tcPr/>
                    </a:tc>
                    <a:extLst>
                      <a:ext uri="{0D108BD9-81ED-4DB2-BD59-A6C34878D82A}">
                        <a16:rowId xmlns:a16="http://schemas.microsoft.com/office/drawing/2014/main" val="3880289926"/>
                      </a:ext>
                    </a:extLst>
                  </a:tr>
                  <a:tr h="289876">
                    <a:tc>
                      <a:txBody>
                        <a:bodyPr/>
                        <a:lstStyle/>
                        <a:p>
                          <a:pPr algn="ctr"/>
                          <a:r>
                            <a:rPr lang="en-US" sz="1600" dirty="0"/>
                            <a:t>2</a:t>
                          </a:r>
                        </a:p>
                      </a:txBody>
                      <a:tcPr/>
                    </a:tc>
                    <a:tc>
                      <a:txBody>
                        <a:bodyPr/>
                        <a:lstStyle/>
                        <a:p>
                          <a:pPr algn="ctr"/>
                          <a:r>
                            <a:rPr lang="en-US" sz="1600" dirty="0"/>
                            <a:t>250</a:t>
                          </a:r>
                        </a:p>
                      </a:txBody>
                      <a:tcPr/>
                    </a:tc>
                    <a:extLst>
                      <a:ext uri="{0D108BD9-81ED-4DB2-BD59-A6C34878D82A}">
                        <a16:rowId xmlns:a16="http://schemas.microsoft.com/office/drawing/2014/main" val="1342108093"/>
                      </a:ext>
                    </a:extLst>
                  </a:tr>
                  <a:tr h="289876">
                    <a:tc>
                      <a:txBody>
                        <a:bodyPr/>
                        <a:lstStyle/>
                        <a:p>
                          <a:pPr algn="ctr"/>
                          <a:r>
                            <a:rPr lang="en-US" sz="1600" dirty="0"/>
                            <a:t>3</a:t>
                          </a:r>
                        </a:p>
                      </a:txBody>
                      <a:tcPr/>
                    </a:tc>
                    <a:tc>
                      <a:txBody>
                        <a:bodyPr/>
                        <a:lstStyle/>
                        <a:p>
                          <a:pPr algn="ctr"/>
                          <a:r>
                            <a:rPr lang="en-US" sz="1600" dirty="0"/>
                            <a:t>175</a:t>
                          </a:r>
                        </a:p>
                      </a:txBody>
                      <a:tcPr/>
                    </a:tc>
                    <a:extLst>
                      <a:ext uri="{0D108BD9-81ED-4DB2-BD59-A6C34878D82A}">
                        <a16:rowId xmlns:a16="http://schemas.microsoft.com/office/drawing/2014/main" val="3491401644"/>
                      </a:ext>
                    </a:extLst>
                  </a:tr>
                  <a:tr h="289876">
                    <a:tc>
                      <a:txBody>
                        <a:bodyPr/>
                        <a:lstStyle/>
                        <a:p>
                          <a:pPr algn="ctr"/>
                          <a:r>
                            <a:rPr lang="en-US" sz="1600" dirty="0"/>
                            <a:t>4</a:t>
                          </a:r>
                        </a:p>
                      </a:txBody>
                      <a:tcPr/>
                    </a:tc>
                    <a:tc>
                      <a:txBody>
                        <a:bodyPr/>
                        <a:lstStyle/>
                        <a:p>
                          <a:pPr algn="ctr"/>
                          <a:r>
                            <a:rPr lang="en-US" sz="1600" dirty="0"/>
                            <a:t>190</a:t>
                          </a:r>
                        </a:p>
                      </a:txBody>
                      <a:tcPr/>
                    </a:tc>
                    <a:extLst>
                      <a:ext uri="{0D108BD9-81ED-4DB2-BD59-A6C34878D82A}">
                        <a16:rowId xmlns:a16="http://schemas.microsoft.com/office/drawing/2014/main" val="573640078"/>
                      </a:ext>
                    </a:extLst>
                  </a:tr>
                  <a:tr h="289876">
                    <a:tc>
                      <a:txBody>
                        <a:bodyPr/>
                        <a:lstStyle/>
                        <a:p>
                          <a:pPr algn="ctr"/>
                          <a:r>
                            <a:rPr lang="en-US" sz="1600" dirty="0"/>
                            <a:t>5</a:t>
                          </a:r>
                        </a:p>
                      </a:txBody>
                      <a:tcPr/>
                    </a:tc>
                    <a:tc>
                      <a:txBody>
                        <a:bodyPr/>
                        <a:lstStyle/>
                        <a:p>
                          <a:pPr algn="ctr"/>
                          <a:r>
                            <a:rPr lang="en-US" sz="1600" dirty="0"/>
                            <a:t>210</a:t>
                          </a:r>
                        </a:p>
                      </a:txBody>
                      <a:tcPr/>
                    </a:tc>
                    <a:extLst>
                      <a:ext uri="{0D108BD9-81ED-4DB2-BD59-A6C34878D82A}">
                        <a16:rowId xmlns:a16="http://schemas.microsoft.com/office/drawing/2014/main" val="425468462"/>
                      </a:ext>
                    </a:extLst>
                  </a:tr>
                  <a:tr h="0">
                    <a:tc>
                      <a:txBody>
                        <a:bodyPr/>
                        <a:lstStyle/>
                        <a:p>
                          <a:pPr algn="ctr"/>
                          <a:r>
                            <a:rPr lang="en-US" sz="1600" dirty="0"/>
                            <a:t>6</a:t>
                          </a:r>
                        </a:p>
                      </a:txBody>
                      <a:tcPr/>
                    </a:tc>
                    <a:tc>
                      <a:txBody>
                        <a:bodyPr/>
                        <a:lstStyle/>
                        <a:p>
                          <a:pPr algn="ctr"/>
                          <a:r>
                            <a:rPr lang="en-US" sz="1600" dirty="0"/>
                            <a:t>205</a:t>
                          </a:r>
                        </a:p>
                      </a:txBody>
                      <a:tcPr/>
                    </a:tc>
                    <a:extLst>
                      <a:ext uri="{0D108BD9-81ED-4DB2-BD59-A6C34878D82A}">
                        <a16:rowId xmlns:a16="http://schemas.microsoft.com/office/drawing/2014/main" val="3486103690"/>
                      </a:ext>
                    </a:extLst>
                  </a:tr>
                  <a:tr h="128187">
                    <a:tc>
                      <a:txBody>
                        <a:bodyPr/>
                        <a:lstStyle/>
                        <a:p>
                          <a:pPr algn="ctr"/>
                          <a:r>
                            <a:rPr lang="en-US" sz="1600" dirty="0"/>
                            <a:t>7</a:t>
                          </a:r>
                        </a:p>
                      </a:txBody>
                      <a:tcPr/>
                    </a:tc>
                    <a:tc>
                      <a:txBody>
                        <a:bodyPr/>
                        <a:lstStyle/>
                        <a:p>
                          <a:pPr algn="ctr"/>
                          <a:r>
                            <a:rPr lang="en-US" sz="1600" dirty="0"/>
                            <a:t>185</a:t>
                          </a:r>
                        </a:p>
                      </a:txBody>
                      <a:tcPr/>
                    </a:tc>
                    <a:extLst>
                      <a:ext uri="{0D108BD9-81ED-4DB2-BD59-A6C34878D82A}">
                        <a16:rowId xmlns:a16="http://schemas.microsoft.com/office/drawing/2014/main" val="3021287395"/>
                      </a:ext>
                    </a:extLst>
                  </a:tr>
                </a:tbl>
              </a:graphicData>
            </a:graphic>
          </p:graphicFrame>
        </mc:Choice>
        <mc:Fallback xmlns="">
          <p:graphicFrame>
            <p:nvGraphicFramePr>
              <p:cNvPr id="2" name="Table 2">
                <a:extLst>
                  <a:ext uri="{FF2B5EF4-FFF2-40B4-BE49-F238E27FC236}">
                    <a16:creationId xmlns:a16="http://schemas.microsoft.com/office/drawing/2014/main" id="{F2E4335C-2A79-7AA2-2099-A5789CEDBDCE}"/>
                  </a:ext>
                </a:extLst>
              </p:cNvPr>
              <p:cNvGraphicFramePr>
                <a:graphicFrameLocks noGrp="1"/>
              </p:cNvGraphicFramePr>
              <p:nvPr>
                <p:extLst>
                  <p:ext uri="{D42A27DB-BD31-4B8C-83A1-F6EECF244321}">
                    <p14:modId xmlns:p14="http://schemas.microsoft.com/office/powerpoint/2010/main" val="2154286662"/>
                  </p:ext>
                </p:extLst>
              </p:nvPr>
            </p:nvGraphicFramePr>
            <p:xfrm>
              <a:off x="2336313" y="2170743"/>
              <a:ext cx="2900705" cy="2682240"/>
            </p:xfrm>
            <a:graphic>
              <a:graphicData uri="http://schemas.openxmlformats.org/drawingml/2006/table">
                <a:tbl>
                  <a:tblPr firstRow="1" bandRow="1">
                    <a:tableStyleId>{5940675A-B579-460E-94D1-54222C63F5DA}</a:tableStyleId>
                  </a:tblPr>
                  <a:tblGrid>
                    <a:gridCol w="1352261">
                      <a:extLst>
                        <a:ext uri="{9D8B030D-6E8A-4147-A177-3AD203B41FA5}">
                          <a16:colId xmlns:a16="http://schemas.microsoft.com/office/drawing/2014/main" val="3448778324"/>
                        </a:ext>
                      </a:extLst>
                    </a:gridCol>
                    <a:gridCol w="1548444">
                      <a:extLst>
                        <a:ext uri="{9D8B030D-6E8A-4147-A177-3AD203B41FA5}">
                          <a16:colId xmlns:a16="http://schemas.microsoft.com/office/drawing/2014/main" val="2735797531"/>
                        </a:ext>
                      </a:extLst>
                    </a:gridCol>
                  </a:tblGrid>
                  <a:tr h="335280">
                    <a:tc>
                      <a:txBody>
                        <a:bodyPr/>
                        <a:lstStyle/>
                        <a:p>
                          <a:endParaRPr lang="en-US"/>
                        </a:p>
                      </a:txBody>
                      <a:tcPr>
                        <a:blipFill>
                          <a:blip r:embed="rId3"/>
                          <a:stretch>
                            <a:fillRect l="-450" t="-5455" r="-115766" b="-723636"/>
                          </a:stretch>
                        </a:blipFill>
                      </a:tcPr>
                    </a:tc>
                    <a:tc>
                      <a:txBody>
                        <a:bodyPr/>
                        <a:lstStyle/>
                        <a:p>
                          <a:endParaRPr lang="en-US"/>
                        </a:p>
                      </a:txBody>
                      <a:tcPr>
                        <a:blipFill>
                          <a:blip r:embed="rId3"/>
                          <a:stretch>
                            <a:fillRect l="-87451" t="-5455" r="-784" b="-723636"/>
                          </a:stretch>
                        </a:blipFill>
                      </a:tcPr>
                    </a:tc>
                    <a:extLst>
                      <a:ext uri="{0D108BD9-81ED-4DB2-BD59-A6C34878D82A}">
                        <a16:rowId xmlns:a16="http://schemas.microsoft.com/office/drawing/2014/main" val="1101189322"/>
                      </a:ext>
                    </a:extLst>
                  </a:tr>
                  <a:tr h="335280">
                    <a:tc>
                      <a:txBody>
                        <a:bodyPr/>
                        <a:lstStyle/>
                        <a:p>
                          <a:pPr algn="ctr"/>
                          <a:r>
                            <a:rPr lang="en-US" sz="1600" dirty="0"/>
                            <a:t>1</a:t>
                          </a:r>
                        </a:p>
                      </a:txBody>
                      <a:tcPr/>
                    </a:tc>
                    <a:tc>
                      <a:txBody>
                        <a:bodyPr/>
                        <a:lstStyle/>
                        <a:p>
                          <a:pPr algn="ctr"/>
                          <a:r>
                            <a:rPr lang="en-US" sz="1600" dirty="0"/>
                            <a:t>200</a:t>
                          </a:r>
                        </a:p>
                      </a:txBody>
                      <a:tcPr/>
                    </a:tc>
                    <a:extLst>
                      <a:ext uri="{0D108BD9-81ED-4DB2-BD59-A6C34878D82A}">
                        <a16:rowId xmlns:a16="http://schemas.microsoft.com/office/drawing/2014/main" val="3880289926"/>
                      </a:ext>
                    </a:extLst>
                  </a:tr>
                  <a:tr h="335280">
                    <a:tc>
                      <a:txBody>
                        <a:bodyPr/>
                        <a:lstStyle/>
                        <a:p>
                          <a:pPr algn="ctr"/>
                          <a:r>
                            <a:rPr lang="en-US" sz="1600" dirty="0"/>
                            <a:t>2</a:t>
                          </a:r>
                        </a:p>
                      </a:txBody>
                      <a:tcPr/>
                    </a:tc>
                    <a:tc>
                      <a:txBody>
                        <a:bodyPr/>
                        <a:lstStyle/>
                        <a:p>
                          <a:pPr algn="ctr"/>
                          <a:r>
                            <a:rPr lang="en-US" sz="1600" dirty="0"/>
                            <a:t>250</a:t>
                          </a:r>
                        </a:p>
                      </a:txBody>
                      <a:tcPr/>
                    </a:tc>
                    <a:extLst>
                      <a:ext uri="{0D108BD9-81ED-4DB2-BD59-A6C34878D82A}">
                        <a16:rowId xmlns:a16="http://schemas.microsoft.com/office/drawing/2014/main" val="1342108093"/>
                      </a:ext>
                    </a:extLst>
                  </a:tr>
                  <a:tr h="335280">
                    <a:tc>
                      <a:txBody>
                        <a:bodyPr/>
                        <a:lstStyle/>
                        <a:p>
                          <a:pPr algn="ctr"/>
                          <a:r>
                            <a:rPr lang="en-US" sz="1600" dirty="0"/>
                            <a:t>3</a:t>
                          </a:r>
                        </a:p>
                      </a:txBody>
                      <a:tcPr/>
                    </a:tc>
                    <a:tc>
                      <a:txBody>
                        <a:bodyPr/>
                        <a:lstStyle/>
                        <a:p>
                          <a:pPr algn="ctr"/>
                          <a:r>
                            <a:rPr lang="en-US" sz="1600" dirty="0"/>
                            <a:t>175</a:t>
                          </a:r>
                        </a:p>
                      </a:txBody>
                      <a:tcPr/>
                    </a:tc>
                    <a:extLst>
                      <a:ext uri="{0D108BD9-81ED-4DB2-BD59-A6C34878D82A}">
                        <a16:rowId xmlns:a16="http://schemas.microsoft.com/office/drawing/2014/main" val="3491401644"/>
                      </a:ext>
                    </a:extLst>
                  </a:tr>
                  <a:tr h="335280">
                    <a:tc>
                      <a:txBody>
                        <a:bodyPr/>
                        <a:lstStyle/>
                        <a:p>
                          <a:pPr algn="ctr"/>
                          <a:r>
                            <a:rPr lang="en-US" sz="1600" dirty="0"/>
                            <a:t>4</a:t>
                          </a:r>
                        </a:p>
                      </a:txBody>
                      <a:tcPr/>
                    </a:tc>
                    <a:tc>
                      <a:txBody>
                        <a:bodyPr/>
                        <a:lstStyle/>
                        <a:p>
                          <a:pPr algn="ctr"/>
                          <a:r>
                            <a:rPr lang="en-US" sz="1600" dirty="0"/>
                            <a:t>190</a:t>
                          </a:r>
                        </a:p>
                      </a:txBody>
                      <a:tcPr/>
                    </a:tc>
                    <a:extLst>
                      <a:ext uri="{0D108BD9-81ED-4DB2-BD59-A6C34878D82A}">
                        <a16:rowId xmlns:a16="http://schemas.microsoft.com/office/drawing/2014/main" val="573640078"/>
                      </a:ext>
                    </a:extLst>
                  </a:tr>
                  <a:tr h="335280">
                    <a:tc>
                      <a:txBody>
                        <a:bodyPr/>
                        <a:lstStyle/>
                        <a:p>
                          <a:pPr algn="ctr"/>
                          <a:r>
                            <a:rPr lang="en-US" sz="1600" dirty="0"/>
                            <a:t>5</a:t>
                          </a:r>
                        </a:p>
                      </a:txBody>
                      <a:tcPr/>
                    </a:tc>
                    <a:tc>
                      <a:txBody>
                        <a:bodyPr/>
                        <a:lstStyle/>
                        <a:p>
                          <a:pPr algn="ctr"/>
                          <a:r>
                            <a:rPr lang="en-US" sz="1600" dirty="0"/>
                            <a:t>210</a:t>
                          </a:r>
                        </a:p>
                      </a:txBody>
                      <a:tcPr/>
                    </a:tc>
                    <a:extLst>
                      <a:ext uri="{0D108BD9-81ED-4DB2-BD59-A6C34878D82A}">
                        <a16:rowId xmlns:a16="http://schemas.microsoft.com/office/drawing/2014/main" val="425468462"/>
                      </a:ext>
                    </a:extLst>
                  </a:tr>
                  <a:tr h="335280">
                    <a:tc>
                      <a:txBody>
                        <a:bodyPr/>
                        <a:lstStyle/>
                        <a:p>
                          <a:pPr algn="ctr"/>
                          <a:r>
                            <a:rPr lang="en-US" sz="1600" dirty="0"/>
                            <a:t>6</a:t>
                          </a:r>
                        </a:p>
                      </a:txBody>
                      <a:tcPr/>
                    </a:tc>
                    <a:tc>
                      <a:txBody>
                        <a:bodyPr/>
                        <a:lstStyle/>
                        <a:p>
                          <a:pPr algn="ctr"/>
                          <a:r>
                            <a:rPr lang="en-US" sz="1600" dirty="0"/>
                            <a:t>205</a:t>
                          </a:r>
                        </a:p>
                      </a:txBody>
                      <a:tcPr/>
                    </a:tc>
                    <a:extLst>
                      <a:ext uri="{0D108BD9-81ED-4DB2-BD59-A6C34878D82A}">
                        <a16:rowId xmlns:a16="http://schemas.microsoft.com/office/drawing/2014/main" val="3486103690"/>
                      </a:ext>
                    </a:extLst>
                  </a:tr>
                  <a:tr h="335280">
                    <a:tc>
                      <a:txBody>
                        <a:bodyPr/>
                        <a:lstStyle/>
                        <a:p>
                          <a:pPr algn="ctr"/>
                          <a:r>
                            <a:rPr lang="en-US" sz="1600" dirty="0"/>
                            <a:t>7</a:t>
                          </a:r>
                        </a:p>
                      </a:txBody>
                      <a:tcPr/>
                    </a:tc>
                    <a:tc>
                      <a:txBody>
                        <a:bodyPr/>
                        <a:lstStyle/>
                        <a:p>
                          <a:pPr algn="ctr"/>
                          <a:r>
                            <a:rPr lang="en-US" sz="1600" dirty="0"/>
                            <a:t>185</a:t>
                          </a:r>
                        </a:p>
                      </a:txBody>
                      <a:tcPr/>
                    </a:tc>
                    <a:extLst>
                      <a:ext uri="{0D108BD9-81ED-4DB2-BD59-A6C34878D82A}">
                        <a16:rowId xmlns:a16="http://schemas.microsoft.com/office/drawing/2014/main" val="3021287395"/>
                      </a:ext>
                    </a:extLst>
                  </a:tr>
                </a:tbl>
              </a:graphicData>
            </a:graphic>
          </p:graphicFrame>
        </mc:Fallback>
      </mc:AlternateContent>
    </p:spTree>
    <p:extLst>
      <p:ext uri="{BB962C8B-B14F-4D97-AF65-F5344CB8AC3E}">
        <p14:creationId xmlns:p14="http://schemas.microsoft.com/office/powerpoint/2010/main" val="417814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Demand forecasting with SES</a:t>
                </a:r>
              </a:p>
              <a:p>
                <a:pPr lvl="1"/>
                <a:r>
                  <a:rPr lang="en-US" dirty="0">
                    <a:solidFill>
                      <a:schemeClr val="tx1"/>
                    </a:solidFill>
                  </a:rPr>
                  <a:t>The demand data has no trend and no seasonality</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2"/>
                <a:r>
                  <a:rPr lang="en-US" dirty="0">
                    <a:solidFill>
                      <a:schemeClr val="tx1"/>
                    </a:solidFill>
                  </a:rPr>
                  <a:t>Limited data to conclude a specific pattern though!</a:t>
                </a:r>
              </a:p>
              <a:p>
                <a:pPr lvl="5"/>
                <a:endParaRPr lang="en-US" dirty="0">
                  <a:solidFill>
                    <a:schemeClr val="tx1"/>
                  </a:solidFill>
                </a:endParaRPr>
              </a:p>
              <a:p>
                <a:pPr lvl="1"/>
                <a:r>
                  <a:rPr lang="en-US" dirty="0">
                    <a:solidFill>
                      <a:schemeClr val="tx1"/>
                    </a:solidFill>
                  </a:rPr>
                  <a:t>We’ll use simple exponential smoothing with </a:t>
                </a:r>
                <a14:m>
                  <m:oMath xmlns:m="http://schemas.openxmlformats.org/officeDocument/2006/math">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=0.6</m:t>
                    </m:r>
                  </m:oMath>
                </a14:m>
                <a:r>
                  <a:rPr lang="en-US" dirty="0">
                    <a:solidFill>
                      <a:schemeClr val="tx1"/>
                    </a:solidFill>
                  </a:rPr>
                  <a:t>, i.e. </a:t>
                </a:r>
                <a14:m>
                  <m:oMath xmlns:m="http://schemas.openxmlformats.org/officeDocument/2006/math">
                    <m:r>
                      <a:rPr lang="en-US" b="0" i="1" smtClean="0">
                        <a:solidFill>
                          <a:schemeClr val="tx1"/>
                        </a:solidFill>
                        <a:latin typeface="Cambria Math" panose="02040503050406030204" pitchFamily="18" charset="0"/>
                      </a:rPr>
                      <m:t>𝑆𝐸𝑆</m:t>
                    </m:r>
                    <m:r>
                      <a:rPr lang="en-US" b="0" i="1" smtClean="0">
                        <a:solidFill>
                          <a:schemeClr val="tx1"/>
                        </a:solidFill>
                        <a:latin typeface="Cambria Math" panose="02040503050406030204" pitchFamily="18" charset="0"/>
                      </a:rPr>
                      <m:t>(0.6)</m:t>
                    </m:r>
                  </m:oMath>
                </a14:m>
                <a:endParaRPr lang="en-US" dirty="0">
                  <a:solidFill>
                    <a:schemeClr val="tx1"/>
                  </a:solidFill>
                </a:endParaRPr>
              </a:p>
              <a:p>
                <a:pPr lvl="1"/>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6E265573-3B93-01D7-BF0F-6AC846CE100C}"/>
              </a:ext>
            </a:extLst>
          </p:cNvPr>
          <p:cNvPicPr>
            <a:picLocks noChangeAspect="1"/>
          </p:cNvPicPr>
          <p:nvPr/>
        </p:nvPicPr>
        <p:blipFill>
          <a:blip r:embed="rId3"/>
          <a:stretch>
            <a:fillRect/>
          </a:stretch>
        </p:blipFill>
        <p:spPr>
          <a:xfrm>
            <a:off x="5747732" y="2140117"/>
            <a:ext cx="4462487" cy="2682240"/>
          </a:xfrm>
          <a:prstGeom prst="rect">
            <a:avLst/>
          </a:prstGeom>
        </p:spPr>
      </p:pic>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5FE7CEF0-6B35-2F85-34D9-6CD89EC81E4F}"/>
                  </a:ext>
                </a:extLst>
              </p:cNvPr>
              <p:cNvGraphicFramePr>
                <a:graphicFrameLocks noGrp="1"/>
              </p:cNvGraphicFramePr>
              <p:nvPr>
                <p:extLst>
                  <p:ext uri="{D42A27DB-BD31-4B8C-83A1-F6EECF244321}">
                    <p14:modId xmlns:p14="http://schemas.microsoft.com/office/powerpoint/2010/main" val="2681159602"/>
                  </p:ext>
                </p:extLst>
              </p:nvPr>
            </p:nvGraphicFramePr>
            <p:xfrm>
              <a:off x="2336313" y="2170743"/>
              <a:ext cx="2900705" cy="2682240"/>
            </p:xfrm>
            <a:graphic>
              <a:graphicData uri="http://schemas.openxmlformats.org/drawingml/2006/table">
                <a:tbl>
                  <a:tblPr firstRow="1" bandRow="1">
                    <a:tableStyleId>{5940675A-B579-460E-94D1-54222C63F5DA}</a:tableStyleId>
                  </a:tblPr>
                  <a:tblGrid>
                    <a:gridCol w="1352261">
                      <a:extLst>
                        <a:ext uri="{9D8B030D-6E8A-4147-A177-3AD203B41FA5}">
                          <a16:colId xmlns:a16="http://schemas.microsoft.com/office/drawing/2014/main" val="3448778324"/>
                        </a:ext>
                      </a:extLst>
                    </a:gridCol>
                    <a:gridCol w="1548444">
                      <a:extLst>
                        <a:ext uri="{9D8B030D-6E8A-4147-A177-3AD203B41FA5}">
                          <a16:colId xmlns:a16="http://schemas.microsoft.com/office/drawing/2014/main" val="2735797531"/>
                        </a:ext>
                      </a:extLst>
                    </a:gridCol>
                  </a:tblGrid>
                  <a:tr h="289876">
                    <a:tc>
                      <a:txBody>
                        <a:bodyPr/>
                        <a:lstStyle/>
                        <a:p>
                          <a:pPr algn="ctr"/>
                          <a:r>
                            <a:rPr lang="en-US" sz="1600" b="1" dirty="0"/>
                            <a:t>Period (</a:t>
                          </a:r>
                          <a14:m>
                            <m:oMath xmlns:m="http://schemas.openxmlformats.org/officeDocument/2006/math">
                              <m:r>
                                <a:rPr lang="en-US" sz="1600" b="1" i="1" smtClean="0">
                                  <a:latin typeface="Cambria Math" panose="02040503050406030204" pitchFamily="18" charset="0"/>
                                </a:rPr>
                                <m:t>𝒕</m:t>
                              </m:r>
                            </m:oMath>
                          </a14:m>
                          <a:r>
                            <a:rPr lang="en-US" sz="1600" b="1" dirty="0"/>
                            <a:t>)</a:t>
                          </a:r>
                        </a:p>
                      </a:txBody>
                      <a:tcPr>
                        <a:solidFill>
                          <a:schemeClr val="accent1"/>
                        </a:solidFill>
                      </a:tcPr>
                    </a:tc>
                    <a:tc>
                      <a:txBody>
                        <a:bodyPr/>
                        <a:lstStyle/>
                        <a:p>
                          <a:pPr algn="ctr"/>
                          <a:r>
                            <a:rPr lang="en-US" sz="1600" b="1" dirty="0"/>
                            <a:t>Demand (</a:t>
                          </a:r>
                          <a14:m>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𝒚</m:t>
                                  </m:r>
                                </m:e>
                                <m:sub>
                                  <m:r>
                                    <a:rPr lang="en-US" sz="1600" b="1" i="1" smtClean="0">
                                      <a:latin typeface="Cambria Math" panose="02040503050406030204" pitchFamily="18" charset="0"/>
                                    </a:rPr>
                                    <m:t>𝒕</m:t>
                                  </m:r>
                                </m:sub>
                              </m:sSub>
                            </m:oMath>
                          </a14:m>
                          <a:r>
                            <a:rPr lang="en-US" sz="1600" b="1" dirty="0"/>
                            <a:t>)</a:t>
                          </a:r>
                        </a:p>
                      </a:txBody>
                      <a:tcPr>
                        <a:solidFill>
                          <a:schemeClr val="accent1"/>
                        </a:solidFill>
                      </a:tcPr>
                    </a:tc>
                    <a:extLst>
                      <a:ext uri="{0D108BD9-81ED-4DB2-BD59-A6C34878D82A}">
                        <a16:rowId xmlns:a16="http://schemas.microsoft.com/office/drawing/2014/main" val="1101189322"/>
                      </a:ext>
                    </a:extLst>
                  </a:tr>
                  <a:tr h="289876">
                    <a:tc>
                      <a:txBody>
                        <a:bodyPr/>
                        <a:lstStyle/>
                        <a:p>
                          <a:pPr algn="ctr"/>
                          <a:r>
                            <a:rPr lang="en-US" sz="1600" dirty="0"/>
                            <a:t>1</a:t>
                          </a:r>
                        </a:p>
                      </a:txBody>
                      <a:tcPr/>
                    </a:tc>
                    <a:tc>
                      <a:txBody>
                        <a:bodyPr/>
                        <a:lstStyle/>
                        <a:p>
                          <a:pPr algn="ctr"/>
                          <a:r>
                            <a:rPr lang="en-US" sz="1600" dirty="0"/>
                            <a:t>200</a:t>
                          </a:r>
                        </a:p>
                      </a:txBody>
                      <a:tcPr/>
                    </a:tc>
                    <a:extLst>
                      <a:ext uri="{0D108BD9-81ED-4DB2-BD59-A6C34878D82A}">
                        <a16:rowId xmlns:a16="http://schemas.microsoft.com/office/drawing/2014/main" val="3880289926"/>
                      </a:ext>
                    </a:extLst>
                  </a:tr>
                  <a:tr h="289876">
                    <a:tc>
                      <a:txBody>
                        <a:bodyPr/>
                        <a:lstStyle/>
                        <a:p>
                          <a:pPr algn="ctr"/>
                          <a:r>
                            <a:rPr lang="en-US" sz="1600" dirty="0"/>
                            <a:t>2</a:t>
                          </a:r>
                        </a:p>
                      </a:txBody>
                      <a:tcPr/>
                    </a:tc>
                    <a:tc>
                      <a:txBody>
                        <a:bodyPr/>
                        <a:lstStyle/>
                        <a:p>
                          <a:pPr algn="ctr"/>
                          <a:r>
                            <a:rPr lang="en-US" sz="1600" dirty="0"/>
                            <a:t>250</a:t>
                          </a:r>
                        </a:p>
                      </a:txBody>
                      <a:tcPr/>
                    </a:tc>
                    <a:extLst>
                      <a:ext uri="{0D108BD9-81ED-4DB2-BD59-A6C34878D82A}">
                        <a16:rowId xmlns:a16="http://schemas.microsoft.com/office/drawing/2014/main" val="1342108093"/>
                      </a:ext>
                    </a:extLst>
                  </a:tr>
                  <a:tr h="289876">
                    <a:tc>
                      <a:txBody>
                        <a:bodyPr/>
                        <a:lstStyle/>
                        <a:p>
                          <a:pPr algn="ctr"/>
                          <a:r>
                            <a:rPr lang="en-US" sz="1600" dirty="0"/>
                            <a:t>3</a:t>
                          </a:r>
                        </a:p>
                      </a:txBody>
                      <a:tcPr/>
                    </a:tc>
                    <a:tc>
                      <a:txBody>
                        <a:bodyPr/>
                        <a:lstStyle/>
                        <a:p>
                          <a:pPr algn="ctr"/>
                          <a:r>
                            <a:rPr lang="en-US" sz="1600" dirty="0"/>
                            <a:t>175</a:t>
                          </a:r>
                        </a:p>
                      </a:txBody>
                      <a:tcPr/>
                    </a:tc>
                    <a:extLst>
                      <a:ext uri="{0D108BD9-81ED-4DB2-BD59-A6C34878D82A}">
                        <a16:rowId xmlns:a16="http://schemas.microsoft.com/office/drawing/2014/main" val="3491401644"/>
                      </a:ext>
                    </a:extLst>
                  </a:tr>
                  <a:tr h="289876">
                    <a:tc>
                      <a:txBody>
                        <a:bodyPr/>
                        <a:lstStyle/>
                        <a:p>
                          <a:pPr algn="ctr"/>
                          <a:r>
                            <a:rPr lang="en-US" sz="1600" dirty="0"/>
                            <a:t>4</a:t>
                          </a:r>
                        </a:p>
                      </a:txBody>
                      <a:tcPr/>
                    </a:tc>
                    <a:tc>
                      <a:txBody>
                        <a:bodyPr/>
                        <a:lstStyle/>
                        <a:p>
                          <a:pPr algn="ctr"/>
                          <a:r>
                            <a:rPr lang="en-US" sz="1600" dirty="0"/>
                            <a:t>190</a:t>
                          </a:r>
                        </a:p>
                      </a:txBody>
                      <a:tcPr/>
                    </a:tc>
                    <a:extLst>
                      <a:ext uri="{0D108BD9-81ED-4DB2-BD59-A6C34878D82A}">
                        <a16:rowId xmlns:a16="http://schemas.microsoft.com/office/drawing/2014/main" val="573640078"/>
                      </a:ext>
                    </a:extLst>
                  </a:tr>
                  <a:tr h="289876">
                    <a:tc>
                      <a:txBody>
                        <a:bodyPr/>
                        <a:lstStyle/>
                        <a:p>
                          <a:pPr algn="ctr"/>
                          <a:r>
                            <a:rPr lang="en-US" sz="1600" dirty="0"/>
                            <a:t>5</a:t>
                          </a:r>
                        </a:p>
                      </a:txBody>
                      <a:tcPr/>
                    </a:tc>
                    <a:tc>
                      <a:txBody>
                        <a:bodyPr/>
                        <a:lstStyle/>
                        <a:p>
                          <a:pPr algn="ctr"/>
                          <a:r>
                            <a:rPr lang="en-US" sz="1600" dirty="0"/>
                            <a:t>210</a:t>
                          </a:r>
                        </a:p>
                      </a:txBody>
                      <a:tcPr/>
                    </a:tc>
                    <a:extLst>
                      <a:ext uri="{0D108BD9-81ED-4DB2-BD59-A6C34878D82A}">
                        <a16:rowId xmlns:a16="http://schemas.microsoft.com/office/drawing/2014/main" val="425468462"/>
                      </a:ext>
                    </a:extLst>
                  </a:tr>
                  <a:tr h="0">
                    <a:tc>
                      <a:txBody>
                        <a:bodyPr/>
                        <a:lstStyle/>
                        <a:p>
                          <a:pPr algn="ctr"/>
                          <a:r>
                            <a:rPr lang="en-US" sz="1600" dirty="0"/>
                            <a:t>6</a:t>
                          </a:r>
                        </a:p>
                      </a:txBody>
                      <a:tcPr/>
                    </a:tc>
                    <a:tc>
                      <a:txBody>
                        <a:bodyPr/>
                        <a:lstStyle/>
                        <a:p>
                          <a:pPr algn="ctr"/>
                          <a:r>
                            <a:rPr lang="en-US" sz="1600" dirty="0"/>
                            <a:t>205</a:t>
                          </a:r>
                        </a:p>
                      </a:txBody>
                      <a:tcPr/>
                    </a:tc>
                    <a:extLst>
                      <a:ext uri="{0D108BD9-81ED-4DB2-BD59-A6C34878D82A}">
                        <a16:rowId xmlns:a16="http://schemas.microsoft.com/office/drawing/2014/main" val="3486103690"/>
                      </a:ext>
                    </a:extLst>
                  </a:tr>
                  <a:tr h="128187">
                    <a:tc>
                      <a:txBody>
                        <a:bodyPr/>
                        <a:lstStyle/>
                        <a:p>
                          <a:pPr algn="ctr"/>
                          <a:r>
                            <a:rPr lang="en-US" sz="1600" dirty="0"/>
                            <a:t>7</a:t>
                          </a:r>
                        </a:p>
                      </a:txBody>
                      <a:tcPr/>
                    </a:tc>
                    <a:tc>
                      <a:txBody>
                        <a:bodyPr/>
                        <a:lstStyle/>
                        <a:p>
                          <a:pPr algn="ctr"/>
                          <a:r>
                            <a:rPr lang="en-US" sz="1600" dirty="0"/>
                            <a:t>185</a:t>
                          </a:r>
                        </a:p>
                      </a:txBody>
                      <a:tcPr/>
                    </a:tc>
                    <a:extLst>
                      <a:ext uri="{0D108BD9-81ED-4DB2-BD59-A6C34878D82A}">
                        <a16:rowId xmlns:a16="http://schemas.microsoft.com/office/drawing/2014/main" val="3021287395"/>
                      </a:ext>
                    </a:extLst>
                  </a:tr>
                </a:tbl>
              </a:graphicData>
            </a:graphic>
          </p:graphicFrame>
        </mc:Choice>
        <mc:Fallback xmlns="">
          <p:graphicFrame>
            <p:nvGraphicFramePr>
              <p:cNvPr id="2" name="Table 2">
                <a:extLst>
                  <a:ext uri="{FF2B5EF4-FFF2-40B4-BE49-F238E27FC236}">
                    <a16:creationId xmlns:a16="http://schemas.microsoft.com/office/drawing/2014/main" id="{5FE7CEF0-6B35-2F85-34D9-6CD89EC81E4F}"/>
                  </a:ext>
                </a:extLst>
              </p:cNvPr>
              <p:cNvGraphicFramePr>
                <a:graphicFrameLocks noGrp="1"/>
              </p:cNvGraphicFramePr>
              <p:nvPr>
                <p:extLst>
                  <p:ext uri="{D42A27DB-BD31-4B8C-83A1-F6EECF244321}">
                    <p14:modId xmlns:p14="http://schemas.microsoft.com/office/powerpoint/2010/main" val="2681159602"/>
                  </p:ext>
                </p:extLst>
              </p:nvPr>
            </p:nvGraphicFramePr>
            <p:xfrm>
              <a:off x="2336313" y="2170743"/>
              <a:ext cx="2900705" cy="2682240"/>
            </p:xfrm>
            <a:graphic>
              <a:graphicData uri="http://schemas.openxmlformats.org/drawingml/2006/table">
                <a:tbl>
                  <a:tblPr firstRow="1" bandRow="1">
                    <a:tableStyleId>{5940675A-B579-460E-94D1-54222C63F5DA}</a:tableStyleId>
                  </a:tblPr>
                  <a:tblGrid>
                    <a:gridCol w="1352261">
                      <a:extLst>
                        <a:ext uri="{9D8B030D-6E8A-4147-A177-3AD203B41FA5}">
                          <a16:colId xmlns:a16="http://schemas.microsoft.com/office/drawing/2014/main" val="3448778324"/>
                        </a:ext>
                      </a:extLst>
                    </a:gridCol>
                    <a:gridCol w="1548444">
                      <a:extLst>
                        <a:ext uri="{9D8B030D-6E8A-4147-A177-3AD203B41FA5}">
                          <a16:colId xmlns:a16="http://schemas.microsoft.com/office/drawing/2014/main" val="2735797531"/>
                        </a:ext>
                      </a:extLst>
                    </a:gridCol>
                  </a:tblGrid>
                  <a:tr h="335280">
                    <a:tc>
                      <a:txBody>
                        <a:bodyPr/>
                        <a:lstStyle/>
                        <a:p>
                          <a:endParaRPr lang="en-US"/>
                        </a:p>
                      </a:txBody>
                      <a:tcPr>
                        <a:blipFill>
                          <a:blip r:embed="rId4"/>
                          <a:stretch>
                            <a:fillRect l="-450" t="-5455" r="-115766" b="-723636"/>
                          </a:stretch>
                        </a:blipFill>
                      </a:tcPr>
                    </a:tc>
                    <a:tc>
                      <a:txBody>
                        <a:bodyPr/>
                        <a:lstStyle/>
                        <a:p>
                          <a:endParaRPr lang="en-US"/>
                        </a:p>
                      </a:txBody>
                      <a:tcPr>
                        <a:blipFill>
                          <a:blip r:embed="rId4"/>
                          <a:stretch>
                            <a:fillRect l="-87451" t="-5455" r="-784" b="-723636"/>
                          </a:stretch>
                        </a:blipFill>
                      </a:tcPr>
                    </a:tc>
                    <a:extLst>
                      <a:ext uri="{0D108BD9-81ED-4DB2-BD59-A6C34878D82A}">
                        <a16:rowId xmlns:a16="http://schemas.microsoft.com/office/drawing/2014/main" val="1101189322"/>
                      </a:ext>
                    </a:extLst>
                  </a:tr>
                  <a:tr h="335280">
                    <a:tc>
                      <a:txBody>
                        <a:bodyPr/>
                        <a:lstStyle/>
                        <a:p>
                          <a:pPr algn="ctr"/>
                          <a:r>
                            <a:rPr lang="en-US" sz="1600" dirty="0"/>
                            <a:t>1</a:t>
                          </a:r>
                        </a:p>
                      </a:txBody>
                      <a:tcPr/>
                    </a:tc>
                    <a:tc>
                      <a:txBody>
                        <a:bodyPr/>
                        <a:lstStyle/>
                        <a:p>
                          <a:pPr algn="ctr"/>
                          <a:r>
                            <a:rPr lang="en-US" sz="1600" dirty="0"/>
                            <a:t>200</a:t>
                          </a:r>
                        </a:p>
                      </a:txBody>
                      <a:tcPr/>
                    </a:tc>
                    <a:extLst>
                      <a:ext uri="{0D108BD9-81ED-4DB2-BD59-A6C34878D82A}">
                        <a16:rowId xmlns:a16="http://schemas.microsoft.com/office/drawing/2014/main" val="3880289926"/>
                      </a:ext>
                    </a:extLst>
                  </a:tr>
                  <a:tr h="335280">
                    <a:tc>
                      <a:txBody>
                        <a:bodyPr/>
                        <a:lstStyle/>
                        <a:p>
                          <a:pPr algn="ctr"/>
                          <a:r>
                            <a:rPr lang="en-US" sz="1600" dirty="0"/>
                            <a:t>2</a:t>
                          </a:r>
                        </a:p>
                      </a:txBody>
                      <a:tcPr/>
                    </a:tc>
                    <a:tc>
                      <a:txBody>
                        <a:bodyPr/>
                        <a:lstStyle/>
                        <a:p>
                          <a:pPr algn="ctr"/>
                          <a:r>
                            <a:rPr lang="en-US" sz="1600" dirty="0"/>
                            <a:t>250</a:t>
                          </a:r>
                        </a:p>
                      </a:txBody>
                      <a:tcPr/>
                    </a:tc>
                    <a:extLst>
                      <a:ext uri="{0D108BD9-81ED-4DB2-BD59-A6C34878D82A}">
                        <a16:rowId xmlns:a16="http://schemas.microsoft.com/office/drawing/2014/main" val="1342108093"/>
                      </a:ext>
                    </a:extLst>
                  </a:tr>
                  <a:tr h="335280">
                    <a:tc>
                      <a:txBody>
                        <a:bodyPr/>
                        <a:lstStyle/>
                        <a:p>
                          <a:pPr algn="ctr"/>
                          <a:r>
                            <a:rPr lang="en-US" sz="1600" dirty="0"/>
                            <a:t>3</a:t>
                          </a:r>
                        </a:p>
                      </a:txBody>
                      <a:tcPr/>
                    </a:tc>
                    <a:tc>
                      <a:txBody>
                        <a:bodyPr/>
                        <a:lstStyle/>
                        <a:p>
                          <a:pPr algn="ctr"/>
                          <a:r>
                            <a:rPr lang="en-US" sz="1600" dirty="0"/>
                            <a:t>175</a:t>
                          </a:r>
                        </a:p>
                      </a:txBody>
                      <a:tcPr/>
                    </a:tc>
                    <a:extLst>
                      <a:ext uri="{0D108BD9-81ED-4DB2-BD59-A6C34878D82A}">
                        <a16:rowId xmlns:a16="http://schemas.microsoft.com/office/drawing/2014/main" val="3491401644"/>
                      </a:ext>
                    </a:extLst>
                  </a:tr>
                  <a:tr h="335280">
                    <a:tc>
                      <a:txBody>
                        <a:bodyPr/>
                        <a:lstStyle/>
                        <a:p>
                          <a:pPr algn="ctr"/>
                          <a:r>
                            <a:rPr lang="en-US" sz="1600" dirty="0"/>
                            <a:t>4</a:t>
                          </a:r>
                        </a:p>
                      </a:txBody>
                      <a:tcPr/>
                    </a:tc>
                    <a:tc>
                      <a:txBody>
                        <a:bodyPr/>
                        <a:lstStyle/>
                        <a:p>
                          <a:pPr algn="ctr"/>
                          <a:r>
                            <a:rPr lang="en-US" sz="1600" dirty="0"/>
                            <a:t>190</a:t>
                          </a:r>
                        </a:p>
                      </a:txBody>
                      <a:tcPr/>
                    </a:tc>
                    <a:extLst>
                      <a:ext uri="{0D108BD9-81ED-4DB2-BD59-A6C34878D82A}">
                        <a16:rowId xmlns:a16="http://schemas.microsoft.com/office/drawing/2014/main" val="573640078"/>
                      </a:ext>
                    </a:extLst>
                  </a:tr>
                  <a:tr h="335280">
                    <a:tc>
                      <a:txBody>
                        <a:bodyPr/>
                        <a:lstStyle/>
                        <a:p>
                          <a:pPr algn="ctr"/>
                          <a:r>
                            <a:rPr lang="en-US" sz="1600" dirty="0"/>
                            <a:t>5</a:t>
                          </a:r>
                        </a:p>
                      </a:txBody>
                      <a:tcPr/>
                    </a:tc>
                    <a:tc>
                      <a:txBody>
                        <a:bodyPr/>
                        <a:lstStyle/>
                        <a:p>
                          <a:pPr algn="ctr"/>
                          <a:r>
                            <a:rPr lang="en-US" sz="1600" dirty="0"/>
                            <a:t>210</a:t>
                          </a:r>
                        </a:p>
                      </a:txBody>
                      <a:tcPr/>
                    </a:tc>
                    <a:extLst>
                      <a:ext uri="{0D108BD9-81ED-4DB2-BD59-A6C34878D82A}">
                        <a16:rowId xmlns:a16="http://schemas.microsoft.com/office/drawing/2014/main" val="425468462"/>
                      </a:ext>
                    </a:extLst>
                  </a:tr>
                  <a:tr h="335280">
                    <a:tc>
                      <a:txBody>
                        <a:bodyPr/>
                        <a:lstStyle/>
                        <a:p>
                          <a:pPr algn="ctr"/>
                          <a:r>
                            <a:rPr lang="en-US" sz="1600" dirty="0"/>
                            <a:t>6</a:t>
                          </a:r>
                        </a:p>
                      </a:txBody>
                      <a:tcPr/>
                    </a:tc>
                    <a:tc>
                      <a:txBody>
                        <a:bodyPr/>
                        <a:lstStyle/>
                        <a:p>
                          <a:pPr algn="ctr"/>
                          <a:r>
                            <a:rPr lang="en-US" sz="1600" dirty="0"/>
                            <a:t>205</a:t>
                          </a:r>
                        </a:p>
                      </a:txBody>
                      <a:tcPr/>
                    </a:tc>
                    <a:extLst>
                      <a:ext uri="{0D108BD9-81ED-4DB2-BD59-A6C34878D82A}">
                        <a16:rowId xmlns:a16="http://schemas.microsoft.com/office/drawing/2014/main" val="3486103690"/>
                      </a:ext>
                    </a:extLst>
                  </a:tr>
                  <a:tr h="335280">
                    <a:tc>
                      <a:txBody>
                        <a:bodyPr/>
                        <a:lstStyle/>
                        <a:p>
                          <a:pPr algn="ctr"/>
                          <a:r>
                            <a:rPr lang="en-US" sz="1600" dirty="0"/>
                            <a:t>7</a:t>
                          </a:r>
                        </a:p>
                      </a:txBody>
                      <a:tcPr/>
                    </a:tc>
                    <a:tc>
                      <a:txBody>
                        <a:bodyPr/>
                        <a:lstStyle/>
                        <a:p>
                          <a:pPr algn="ctr"/>
                          <a:r>
                            <a:rPr lang="en-US" sz="1600" dirty="0"/>
                            <a:t>185</a:t>
                          </a:r>
                        </a:p>
                      </a:txBody>
                      <a:tcPr/>
                    </a:tc>
                    <a:extLst>
                      <a:ext uri="{0D108BD9-81ED-4DB2-BD59-A6C34878D82A}">
                        <a16:rowId xmlns:a16="http://schemas.microsoft.com/office/drawing/2014/main" val="3021287395"/>
                      </a:ext>
                    </a:extLst>
                  </a:tr>
                </a:tbl>
              </a:graphicData>
            </a:graphic>
          </p:graphicFrame>
        </mc:Fallback>
      </mc:AlternateContent>
    </p:spTree>
    <p:extLst>
      <p:ext uri="{BB962C8B-B14F-4D97-AF65-F5344CB8AC3E}">
        <p14:creationId xmlns:p14="http://schemas.microsoft.com/office/powerpoint/2010/main" val="109800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 Initialization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Demand forecasting with SES: Initialization</a:t>
                </a:r>
              </a:p>
              <a:p>
                <a:pPr lvl="1"/>
                <a:r>
                  <a:rPr lang="en-US" dirty="0">
                    <a:solidFill>
                      <a:schemeClr val="tx1"/>
                    </a:solidFill>
                  </a:rPr>
                  <a:t>Recall that: </a:t>
                </a:r>
              </a:p>
              <a:p>
                <a:pPr lvl="1"/>
                <a:endParaRPr lang="en-US" dirty="0">
                  <a:solidFill>
                    <a:schemeClr val="tx1"/>
                  </a:solidFill>
                </a:endParaRPr>
              </a:p>
              <a:p>
                <a:pPr lvl="4"/>
                <a:endParaRPr lang="en-US" dirty="0">
                  <a:solidFill>
                    <a:schemeClr val="tx1"/>
                  </a:solidFill>
                </a:endParaRPr>
              </a:p>
              <a:p>
                <a:pPr lvl="1"/>
                <a:r>
                  <a:rPr lang="en-US" dirty="0">
                    <a:solidFill>
                      <a:schemeClr val="tx1"/>
                    </a:solidFill>
                  </a:rPr>
                  <a:t>That is, we need to 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oMath>
                </a14:m>
                <a:r>
                  <a:rPr lang="en-US" dirty="0">
                    <a:solidFill>
                      <a:schemeClr val="tx1"/>
                    </a:solidFill>
                  </a:rPr>
                  <a:t> to calculate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8|7</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9|7</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10|7</m:t>
                        </m:r>
                      </m:sub>
                    </m:sSub>
                  </m:oMath>
                </a14:m>
                <a:endParaRPr lang="en-US" dirty="0">
                  <a:solidFill>
                    <a:schemeClr val="tx1"/>
                  </a:solidFill>
                </a:endParaRPr>
              </a:p>
              <a:p>
                <a:pPr lvl="1"/>
                <a:r>
                  <a:rPr lang="en-US" dirty="0">
                    <a:solidFill>
                      <a:schemeClr val="tx1"/>
                    </a:solidFill>
                  </a:rPr>
                  <a:t>To do so, we will use the given data as the training data</a:t>
                </a:r>
              </a:p>
              <a:p>
                <a:pPr lvl="2"/>
                <a:r>
                  <a:rPr lang="en-US" dirty="0">
                    <a:solidFill>
                      <a:schemeClr val="tx1"/>
                    </a:solidFill>
                  </a:rPr>
                  <a:t>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oMath>
                </a14:m>
                <a:r>
                  <a:rPr lang="en-US" dirty="0">
                    <a:solidFill>
                      <a:schemeClr val="tx1"/>
                    </a:solidFill>
                  </a:rPr>
                  <a:t>, then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2</m:t>
                        </m:r>
                      </m:sub>
                    </m:sSub>
                  </m:oMath>
                </a14:m>
                <a:r>
                  <a:rPr lang="en-US" dirty="0">
                    <a:solidFill>
                      <a:schemeClr val="tx1"/>
                    </a:solidFill>
                  </a:rPr>
                  <a:t>, then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3</m:t>
                        </m:r>
                      </m:sub>
                    </m:sSub>
                  </m:oMath>
                </a14:m>
                <a:r>
                  <a:rPr lang="en-US" dirty="0">
                    <a:solidFill>
                      <a:schemeClr val="tx1"/>
                    </a:solidFill>
                  </a:rPr>
                  <a:t>, and so on until we 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oMath>
                </a14:m>
                <a:endParaRPr lang="en-US" dirty="0">
                  <a:solidFill>
                    <a:schemeClr val="tx1"/>
                  </a:solidFill>
                </a:endParaRPr>
              </a:p>
              <a:p>
                <a:pPr lvl="1"/>
                <a:r>
                  <a:rPr lang="en-US" dirty="0">
                    <a:solidFill>
                      <a:schemeClr val="tx1"/>
                    </a:solidFill>
                  </a:rPr>
                  <a:t>From smoothing equation,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oMath>
                </a14:m>
                <a:endParaRPr lang="en-US" dirty="0">
                  <a:solidFill>
                    <a:schemeClr val="tx1"/>
                  </a:solidFill>
                </a:endParaRPr>
              </a:p>
              <a:p>
                <a:pPr lvl="2"/>
                <a:r>
                  <a:rPr lang="en-US" dirty="0">
                    <a:solidFill>
                      <a:schemeClr val="tx1"/>
                    </a:solidFill>
                  </a:rPr>
                  <a:t>We know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=200</m:t>
                    </m:r>
                  </m:oMath>
                </a14:m>
                <a:r>
                  <a:rPr lang="en-US" dirty="0">
                    <a:solidFill>
                      <a:schemeClr val="tx1"/>
                    </a:solidFill>
                  </a:rPr>
                  <a:t> and we are given that </a:t>
                </a:r>
                <a14:m>
                  <m:oMath xmlns:m="http://schemas.openxmlformats.org/officeDocument/2006/math">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=0.6</m:t>
                    </m:r>
                  </m:oMath>
                </a14:m>
                <a:endParaRPr lang="en-US" dirty="0">
                  <a:solidFill>
                    <a:schemeClr val="tx1"/>
                  </a:solidFill>
                </a:endParaRPr>
              </a:p>
              <a:p>
                <a:pPr lvl="2"/>
                <a:r>
                  <a:rPr lang="en-US" dirty="0">
                    <a:solidFill>
                      <a:schemeClr val="tx1"/>
                    </a:solidFill>
                  </a:rPr>
                  <a:t>How about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oMath>
                </a14:m>
                <a:r>
                  <a:rPr lang="en-US" dirty="0">
                    <a:solidFill>
                      <a:schemeClr val="tx1"/>
                    </a:solidFill>
                  </a:rPr>
                  <a:t>? We can use a simple regression model to estimate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oMath>
                </a14:m>
                <a:endParaRPr lang="en-US" dirty="0">
                  <a:solidFill>
                    <a:schemeClr val="tx1"/>
                  </a:solidFill>
                </a:endParaRPr>
              </a:p>
              <a:p>
                <a:pPr lvl="3"/>
                <a:r>
                  <a:rPr lang="en-US" dirty="0">
                    <a:solidFill>
                      <a:schemeClr val="tx1"/>
                    </a:solidFill>
                  </a:rPr>
                  <a:t>From regression, the intercept estimator is 216</a:t>
                </a:r>
              </a:p>
              <a:p>
                <a:pPr lvl="3"/>
                <a:r>
                  <a:rPr lang="en-US" dirty="0">
                    <a:solidFill>
                      <a:schemeClr val="tx1"/>
                    </a:solidFill>
                  </a:rPr>
                  <a:t>Therefore, we let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rPr>
                      <m:t>216</m:t>
                    </m:r>
                  </m:oMath>
                </a14:m>
                <a:endParaRPr lang="en-US" b="0" dirty="0">
                  <a:solidFill>
                    <a:schemeClr val="tx1"/>
                  </a:solidFill>
                </a:endParaRPr>
              </a:p>
              <a:p>
                <a:pPr marL="0" indent="0">
                  <a:buNone/>
                </a:pPr>
                <a:endParaRPr lang="en-US" sz="2400" dirty="0">
                  <a:solidFill>
                    <a:schemeClr val="tx1"/>
                  </a:solidFill>
                  <a:sym typeface="Wingdings" panose="05000000000000000000" pitchFamily="2" charset="2"/>
                </a:endParaRPr>
              </a:p>
              <a:p>
                <a:pPr marL="0" indent="0">
                  <a:buNone/>
                </a:pPr>
                <a:r>
                  <a:rPr lang="en-US" sz="2400" dirty="0">
                    <a:solidFill>
                      <a:srgbClr val="C00000"/>
                    </a:solidFill>
                  </a:rPr>
                  <a:t>See</a:t>
                </a:r>
                <a:r>
                  <a:rPr lang="en-US" sz="2400" dirty="0">
                    <a:solidFill>
                      <a:schemeClr val="tx1"/>
                    </a:solidFill>
                  </a:rPr>
                  <a:t> </a:t>
                </a:r>
                <a:r>
                  <a:rPr lang="en-US" sz="2400" i="1" dirty="0">
                    <a:solidFill>
                      <a:schemeClr val="tx1"/>
                    </a:solidFill>
                  </a:rPr>
                  <a:t>Module 1.3 – Example – Demand Forecasting with SES.xlsx </a:t>
                </a:r>
                <a:r>
                  <a:rPr lang="en-US" sz="2400" dirty="0">
                    <a:solidFill>
                      <a:schemeClr val="tx1"/>
                    </a:solidFill>
                    <a:sym typeface="Wingdings" panose="05000000000000000000" pitchFamily="2" charset="2"/>
                  </a:rPr>
                  <a:t> “Initialization” tab</a:t>
                </a:r>
                <a:endParaRPr lang="en-US" sz="2400"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2406"/>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8A39BB8-FB67-A972-A5EF-35E843AD5A2C}"/>
              </a:ext>
            </a:extLst>
          </p:cNvPr>
          <p:cNvPicPr>
            <a:picLocks noChangeAspect="1"/>
          </p:cNvPicPr>
          <p:nvPr/>
        </p:nvPicPr>
        <p:blipFill>
          <a:blip r:embed="rId3"/>
          <a:stretch>
            <a:fillRect/>
          </a:stretch>
        </p:blipFill>
        <p:spPr>
          <a:xfrm>
            <a:off x="2694572" y="1825466"/>
            <a:ext cx="5714910" cy="812730"/>
          </a:xfrm>
          <a:prstGeom prst="rect">
            <a:avLst/>
          </a:prstGeom>
          <a:ln w="19050">
            <a:solidFill>
              <a:srgbClr val="C00000"/>
            </a:solidFill>
          </a:ln>
        </p:spPr>
      </p:pic>
    </p:spTree>
    <p:extLst>
      <p:ext uri="{BB962C8B-B14F-4D97-AF65-F5344CB8AC3E}">
        <p14:creationId xmlns:p14="http://schemas.microsoft.com/office/powerpoint/2010/main" val="398632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 Training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Demand forecasting with SES: Training</a:t>
                </a:r>
              </a:p>
              <a:p>
                <a:pPr lvl="1"/>
                <a:r>
                  <a:rPr lang="en-US" dirty="0">
                    <a:solidFill>
                      <a:schemeClr val="tx1"/>
                    </a:solidFill>
                  </a:rPr>
                  <a:t>We will calculate level estimates one period at a time</a:t>
                </a:r>
              </a:p>
              <a:p>
                <a:pPr lvl="2"/>
                <a:r>
                  <a:rPr lang="en-US" dirty="0">
                    <a:solidFill>
                      <a:schemeClr val="tx1"/>
                    </a:solidFill>
                  </a:rPr>
                  <a:t>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rPr>
                      <m:t>=216</m:t>
                    </m:r>
                  </m:oMath>
                </a14:m>
                <a:r>
                  <a:rPr lang="en-US" dirty="0">
                    <a:solidFill>
                      <a:schemeClr val="tx1"/>
                    </a:solidFill>
                  </a:rPr>
                  <a:t> and </a:t>
                </a:r>
                <a14:m>
                  <m:oMath xmlns:m="http://schemas.openxmlformats.org/officeDocument/2006/math">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=0.6</m:t>
                    </m:r>
                  </m:oMath>
                </a14:m>
                <a:endParaRPr lang="en-US" dirty="0">
                  <a:solidFill>
                    <a:schemeClr val="tx1"/>
                  </a:solidFill>
                </a:endParaRPr>
              </a:p>
              <a:p>
                <a:pPr lvl="2"/>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rPr>
                      <m:t>=0.6×200+0.4×216=206.4</m:t>
                    </m:r>
                  </m:oMath>
                </a14:m>
                <a:endParaRPr lang="en-US" dirty="0">
                  <a:solidFill>
                    <a:schemeClr val="tx1"/>
                  </a:solidFill>
                </a:endParaRPr>
              </a:p>
              <a:p>
                <a:pPr lvl="1"/>
                <a:r>
                  <a:rPr lang="en-US" dirty="0">
                    <a:solidFill>
                      <a:schemeClr val="tx1"/>
                    </a:solidFill>
                  </a:rPr>
                  <a:t>Now, consider period 2’s demand is observed, and 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2</m:t>
                        </m:r>
                      </m:sub>
                    </m:sSub>
                  </m:oMath>
                </a14:m>
                <a:endParaRPr lang="en-US" dirty="0">
                  <a:solidFill>
                    <a:schemeClr val="tx1"/>
                  </a:solidFill>
                </a:endParaRPr>
              </a:p>
              <a:p>
                <a:pPr lvl="2"/>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=0.6×250+0.4×206.4=232.6</m:t>
                    </m:r>
                  </m:oMath>
                </a14:m>
                <a:endParaRPr lang="en-US" dirty="0">
                  <a:solidFill>
                    <a:schemeClr val="tx1"/>
                  </a:solidFill>
                </a:endParaRPr>
              </a:p>
              <a:p>
                <a:pPr lvl="1"/>
                <a:r>
                  <a:rPr lang="en-US" dirty="0">
                    <a:solidFill>
                      <a:schemeClr val="tx1"/>
                    </a:solidFill>
                  </a:rPr>
                  <a:t>Now, consider period 3’s demand is observed, and 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3</m:t>
                        </m:r>
                      </m:sub>
                    </m:sSub>
                  </m:oMath>
                </a14:m>
                <a:endParaRPr lang="en-US" dirty="0">
                  <a:solidFill>
                    <a:schemeClr val="tx1"/>
                  </a:solidFill>
                </a:endParaRPr>
              </a:p>
              <a:p>
                <a:pPr lvl="2"/>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=0.6×175+0.4×232.6=198</m:t>
                    </m:r>
                  </m:oMath>
                </a14:m>
                <a:endParaRPr lang="en-US" dirty="0">
                  <a:solidFill>
                    <a:schemeClr val="tx1"/>
                  </a:solidFill>
                </a:endParaRPr>
              </a:p>
              <a:p>
                <a:pPr lvl="2"/>
                <a:endParaRPr lang="en-US" dirty="0">
                  <a:solidFill>
                    <a:schemeClr val="tx1"/>
                  </a:solidFill>
                </a:endParaRPr>
              </a:p>
              <a:p>
                <a:pPr lvl="1"/>
                <a:r>
                  <a:rPr lang="en-US" dirty="0">
                    <a:solidFill>
                      <a:schemeClr val="tx1"/>
                    </a:solidFill>
                  </a:rPr>
                  <a:t>Continuing this way, we get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=192.7</m:t>
                    </m:r>
                  </m:oMath>
                </a14:m>
                <a:endParaRPr lang="en-US" dirty="0">
                  <a:solidFill>
                    <a:schemeClr val="tx1"/>
                  </a:solidFill>
                </a:endParaRPr>
              </a:p>
              <a:p>
                <a:pPr marL="914400" lvl="2" indent="0">
                  <a:buNone/>
                </a:pPr>
                <a:endParaRPr lang="en-US" dirty="0">
                  <a:highlight>
                    <a:srgbClr val="FFFF00"/>
                  </a:highlight>
                  <a:sym typeface="Wingdings" panose="05000000000000000000" pitchFamily="2" charset="2"/>
                </a:endParaRPr>
              </a:p>
              <a:p>
                <a:pPr marL="914400" lvl="2" indent="0">
                  <a:buNone/>
                </a:pPr>
                <a:endParaRPr lang="en-US" dirty="0">
                  <a:highlight>
                    <a:srgbClr val="FFFF00"/>
                  </a:highlight>
                  <a:sym typeface="Wingdings" panose="05000000000000000000" pitchFamily="2" charset="2"/>
                </a:endParaRPr>
              </a:p>
              <a:p>
                <a:pPr marL="914400" lvl="2" indent="0">
                  <a:buNone/>
                </a:pPr>
                <a:endParaRPr lang="en-US" dirty="0">
                  <a:highlight>
                    <a:srgbClr val="FFFF00"/>
                  </a:highlight>
                  <a:sym typeface="Wingdings" panose="05000000000000000000" pitchFamily="2" charset="2"/>
                </a:endParaRPr>
              </a:p>
              <a:p>
                <a:pPr marL="0" indent="0">
                  <a:buNone/>
                </a:pPr>
                <a:r>
                  <a:rPr lang="en-US" sz="2400" dirty="0">
                    <a:solidFill>
                      <a:srgbClr val="C00000"/>
                    </a:solidFill>
                  </a:rPr>
                  <a:t>See</a:t>
                </a:r>
                <a:r>
                  <a:rPr lang="en-US" sz="2400" dirty="0"/>
                  <a:t> </a:t>
                </a:r>
                <a:r>
                  <a:rPr lang="en-US" sz="2400" i="1" dirty="0"/>
                  <a:t>Module 1.3 – Example – Demand Forecasting with SES.xlsx </a:t>
                </a:r>
                <a:r>
                  <a:rPr lang="en-US" sz="2400" dirty="0">
                    <a:sym typeface="Wingdings" panose="05000000000000000000" pitchFamily="2" charset="2"/>
                  </a:rPr>
                  <a:t> “Training” tab</a:t>
                </a:r>
                <a:endParaRPr lang="en-US" sz="2400" dirty="0"/>
              </a:p>
              <a:p>
                <a:endParaRPr lang="en-US" dirty="0">
                  <a:solidFill>
                    <a:schemeClr val="tx1"/>
                  </a:solidFill>
                  <a:highlight>
                    <a:srgbClr val="FFFF00"/>
                  </a:highlight>
                  <a:sym typeface="Wingdings" panose="05000000000000000000" pitchFamily="2" charset="2"/>
                </a:endParaRPr>
              </a:p>
              <a:p>
                <a:pPr marL="914400" lvl="2" indent="0">
                  <a:buNone/>
                </a:pPr>
                <a:endParaRPr lang="en-US" dirty="0">
                  <a:solidFill>
                    <a:schemeClr val="tx1"/>
                  </a:solidFill>
                  <a:highlight>
                    <a:srgbClr val="FFFF00"/>
                  </a:highlight>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9900"/>
                </a:stretch>
              </a:blipFill>
            </p:spPr>
            <p:txBody>
              <a:bodyPr/>
              <a:lstStyle/>
              <a:p>
                <a:r>
                  <a:rPr lang="en-US">
                    <a:noFill/>
                  </a:rPr>
                  <a:t> </a:t>
                </a:r>
              </a:p>
            </p:txBody>
          </p:sp>
        </mc:Fallback>
      </mc:AlternateContent>
    </p:spTree>
    <p:extLst>
      <p:ext uri="{BB962C8B-B14F-4D97-AF65-F5344CB8AC3E}">
        <p14:creationId xmlns:p14="http://schemas.microsoft.com/office/powerpoint/2010/main" val="94736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 Forecasting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Demand forecasting with SES: One-step-ahead and multi-step-ahead forecasts</a:t>
                </a:r>
              </a:p>
              <a:p>
                <a:pPr lvl="1"/>
                <a:r>
                  <a:rPr lang="en-US" dirty="0">
                    <a:solidFill>
                      <a:schemeClr val="tx1"/>
                    </a:solidFill>
                  </a:rPr>
                  <a:t>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8|7</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9|7</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10|7</m:t>
                        </m:r>
                      </m:sub>
                    </m:sSub>
                  </m:oMath>
                </a14:m>
                <a:r>
                  <a:rPr lang="en-US" dirty="0">
                    <a:solidFill>
                      <a:schemeClr val="tx1"/>
                    </a:solidFill>
                  </a:rPr>
                  <a:t>?</a:t>
                </a:r>
              </a:p>
              <a:p>
                <a:pPr lvl="1"/>
                <a:endParaRPr lang="en-US" dirty="0">
                  <a:solidFill>
                    <a:schemeClr val="tx1"/>
                  </a:solidFill>
                </a:endParaRPr>
              </a:p>
              <a:p>
                <a:pPr lvl="1"/>
                <a:endParaRPr lang="en-US" dirty="0">
                  <a:solidFill>
                    <a:schemeClr val="tx1"/>
                  </a:solidFill>
                </a:endParaRPr>
              </a:p>
              <a:p>
                <a:pPr lvl="6"/>
                <a:endParaRPr lang="en-US" dirty="0">
                  <a:solidFill>
                    <a:schemeClr val="tx1"/>
                  </a:solidFill>
                </a:endParaRPr>
              </a:p>
              <a:p>
                <a:pPr lvl="2"/>
                <a:r>
                  <a:rPr lang="en-US" dirty="0">
                    <a:solidFill>
                      <a:schemeClr val="tx1"/>
                    </a:solidFill>
                  </a:rPr>
                  <a:t>Recall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=192.7</m:t>
                    </m:r>
                  </m:oMath>
                </a14:m>
                <a:endParaRPr lang="en-US" dirty="0">
                  <a:solidFill>
                    <a:schemeClr val="tx1"/>
                  </a:solidFill>
                </a:endParaRPr>
              </a:p>
              <a:p>
                <a:pPr lvl="8"/>
                <a:endParaRPr lang="en-US" dirty="0">
                  <a:solidFill>
                    <a:schemeClr val="tx1"/>
                  </a:solidFill>
                </a:endParaRPr>
              </a:p>
              <a:p>
                <a:pPr lvl="1"/>
                <a:r>
                  <a:rPr lang="en-US" dirty="0">
                    <a:solidFill>
                      <a:schemeClr val="tx1"/>
                    </a:solidFill>
                  </a:rPr>
                  <a:t>From forecast equation, we have:</a:t>
                </a:r>
              </a:p>
              <a:p>
                <a:pPr lvl="2"/>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8|7</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=192.7</m:t>
                    </m:r>
                  </m:oMath>
                </a14:m>
                <a:r>
                  <a:rPr lang="en-US" dirty="0">
                    <a:solidFill>
                      <a:schemeClr val="tx1"/>
                    </a:solidFill>
                  </a:rPr>
                  <a:t>, </a:t>
                </a:r>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9</m:t>
                        </m:r>
                        <m:r>
                          <a:rPr lang="en-US" i="1">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=192.7</m:t>
                    </m:r>
                  </m:oMath>
                </a14:m>
                <a:r>
                  <a:rPr lang="en-US" dirty="0">
                    <a:solidFill>
                      <a:schemeClr val="tx1"/>
                    </a:solidFill>
                  </a:rPr>
                  <a:t>, </a:t>
                </a:r>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10</m:t>
                        </m:r>
                        <m:r>
                          <a:rPr lang="en-US" i="1">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=192.7</m:t>
                    </m:r>
                  </m:oMath>
                </a14:m>
                <a:r>
                  <a:rPr lang="en-US" dirty="0">
                    <a:solidFill>
                      <a:schemeClr val="tx1"/>
                    </a:solidFill>
                  </a:rPr>
                  <a:t> </a:t>
                </a:r>
              </a:p>
              <a:p>
                <a:pPr marL="914400" lvl="2" indent="0">
                  <a:buNone/>
                </a:pPr>
                <a:endParaRPr lang="en-US" dirty="0">
                  <a:highlight>
                    <a:srgbClr val="FFFF00"/>
                  </a:highlight>
                  <a:sym typeface="Wingdings" panose="05000000000000000000" pitchFamily="2" charset="2"/>
                </a:endParaRPr>
              </a:p>
              <a:p>
                <a:pPr marL="914400" lvl="2" indent="0">
                  <a:buNone/>
                </a:pPr>
                <a:endParaRPr lang="en-US" dirty="0">
                  <a:solidFill>
                    <a:schemeClr val="bg2"/>
                  </a:solidFill>
                </a:endParaRPr>
              </a:p>
              <a:p>
                <a:pPr marL="914400" lvl="2" indent="0">
                  <a:buNone/>
                </a:pPr>
                <a:endParaRPr lang="en-US" dirty="0">
                  <a:solidFill>
                    <a:schemeClr val="bg2"/>
                  </a:solidFill>
                </a:endParaRPr>
              </a:p>
              <a:p>
                <a:pPr marL="0" indent="0">
                  <a:buNone/>
                </a:pPr>
                <a:r>
                  <a:rPr lang="en-US" sz="2400" dirty="0">
                    <a:solidFill>
                      <a:srgbClr val="C00000"/>
                    </a:solidFill>
                  </a:rPr>
                  <a:t>See</a:t>
                </a:r>
                <a:r>
                  <a:rPr lang="en-US" sz="2400" dirty="0"/>
                  <a:t> </a:t>
                </a:r>
                <a:r>
                  <a:rPr lang="en-US" sz="2400" i="1" dirty="0"/>
                  <a:t>Module 1.3 – Example – Demand Forecasting with SES.xlsx </a:t>
                </a:r>
                <a:r>
                  <a:rPr lang="en-US" sz="2400" dirty="0">
                    <a:sym typeface="Wingdings" panose="05000000000000000000" pitchFamily="2" charset="2"/>
                  </a:rPr>
                  <a:t> “Forecasting” tab</a:t>
                </a:r>
                <a:endParaRPr lang="en-US" sz="2400" dirty="0"/>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0777"/>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B63A928B-D03E-6016-2DC6-CA17BC3ABC1C}"/>
              </a:ext>
            </a:extLst>
          </p:cNvPr>
          <p:cNvPicPr>
            <a:picLocks noChangeAspect="1"/>
          </p:cNvPicPr>
          <p:nvPr/>
        </p:nvPicPr>
        <p:blipFill>
          <a:blip r:embed="rId3"/>
          <a:stretch>
            <a:fillRect/>
          </a:stretch>
        </p:blipFill>
        <p:spPr>
          <a:xfrm>
            <a:off x="1478289" y="2714500"/>
            <a:ext cx="6108636" cy="868722"/>
          </a:xfrm>
          <a:prstGeom prst="rect">
            <a:avLst/>
          </a:prstGeom>
          <a:ln w="19050">
            <a:solidFill>
              <a:srgbClr val="C00000"/>
            </a:solidFill>
          </a:ln>
        </p:spPr>
      </p:pic>
    </p:spTree>
    <p:extLst>
      <p:ext uri="{BB962C8B-B14F-4D97-AF65-F5344CB8AC3E}">
        <p14:creationId xmlns:p14="http://schemas.microsoft.com/office/powerpoint/2010/main" val="1395709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SES Example: Updated Forecasts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a:xfrm>
                <a:off x="355001" y="1312433"/>
                <a:ext cx="11764079" cy="4864530"/>
              </a:xfrm>
            </p:spPr>
            <p:txBody>
              <a:bodyPr/>
              <a:lstStyle/>
              <a:p>
                <a:r>
                  <a:rPr lang="en-US" b="1" dirty="0">
                    <a:solidFill>
                      <a:srgbClr val="C00000"/>
                    </a:solidFill>
                  </a:rPr>
                  <a:t>Demand forecasting with SES: Updated One-step-ahead and multi-step-ahead forecasts</a:t>
                </a:r>
              </a:p>
              <a:p>
                <a:pPr lvl="1"/>
                <a:r>
                  <a:rPr lang="en-US" dirty="0">
                    <a:solidFill>
                      <a:schemeClr val="tx1"/>
                    </a:solidFill>
                  </a:rPr>
                  <a:t>Suppose that we observed the demand in period 8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=220</m:t>
                    </m:r>
                  </m:oMath>
                </a14:m>
                <a:endParaRPr lang="en-US" dirty="0">
                  <a:solidFill>
                    <a:schemeClr val="tx1"/>
                  </a:solidFill>
                </a:endParaRPr>
              </a:p>
              <a:p>
                <a:pPr lvl="1"/>
                <a:r>
                  <a:rPr lang="en-US" dirty="0">
                    <a:solidFill>
                      <a:schemeClr val="tx1"/>
                    </a:solidFill>
                  </a:rPr>
                  <a:t>Given we’re in period 8, what are the forecasts for period 9 &amp; 10?</a:t>
                </a:r>
              </a:p>
              <a:p>
                <a:pPr lvl="1"/>
                <a:r>
                  <a:rPr lang="en-US" dirty="0">
                    <a:solidFill>
                      <a:schemeClr val="tx1"/>
                    </a:solidFill>
                  </a:rPr>
                  <a:t>That is, 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9</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10</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m:t>
                        </m:r>
                      </m:sub>
                    </m:sSub>
                  </m:oMath>
                </a14:m>
                <a:r>
                  <a:rPr lang="en-US" dirty="0">
                    <a:solidFill>
                      <a:schemeClr val="tx1"/>
                    </a:solidFill>
                  </a:rPr>
                  <a:t>?</a:t>
                </a:r>
              </a:p>
              <a:p>
                <a:pPr lvl="1"/>
                <a:endParaRPr lang="en-US" dirty="0">
                  <a:solidFill>
                    <a:schemeClr val="tx1"/>
                  </a:solidFill>
                </a:endParaRPr>
              </a:p>
              <a:p>
                <a:pPr lvl="1"/>
                <a:r>
                  <a:rPr lang="en-US" dirty="0">
                    <a:solidFill>
                      <a:schemeClr val="tx1"/>
                    </a:solidFill>
                  </a:rPr>
                  <a:t>Given new observation, calculate the updated level using the smoothing equation for the level estimate</a:t>
                </a:r>
              </a:p>
              <a:p>
                <a:pPr lvl="2"/>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7</m:t>
                        </m:r>
                      </m:sub>
                    </m:sSub>
                    <m:r>
                      <a:rPr lang="en-US" b="0" i="1" smtClean="0">
                        <a:solidFill>
                          <a:schemeClr val="tx1"/>
                        </a:solidFill>
                        <a:latin typeface="Cambria Math" panose="02040503050406030204" pitchFamily="18" charset="0"/>
                      </a:rPr>
                      <m:t>=0.6×220+0.4×192.7=209.1</m:t>
                    </m:r>
                  </m:oMath>
                </a14:m>
                <a:endParaRPr lang="en-US" dirty="0">
                  <a:solidFill>
                    <a:schemeClr val="tx1"/>
                  </a:solidFill>
                </a:endParaRPr>
              </a:p>
              <a:p>
                <a:pPr lvl="1"/>
                <a:r>
                  <a:rPr lang="en-US" dirty="0">
                    <a:solidFill>
                      <a:schemeClr val="tx1"/>
                    </a:solidFill>
                  </a:rPr>
                  <a:t>Then, from the forecast equation, we have:</a:t>
                </a:r>
              </a:p>
              <a:p>
                <a:pPr lvl="2"/>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9</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=209.1</m:t>
                    </m:r>
                  </m:oMath>
                </a14:m>
                <a:r>
                  <a:rPr lang="en-US" dirty="0">
                    <a:solidFill>
                      <a:schemeClr val="tx1"/>
                    </a:solidFill>
                  </a:rPr>
                  <a:t> and </a:t>
                </a:r>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10</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8</m:t>
                        </m:r>
                      </m:sub>
                    </m:sSub>
                    <m:r>
                      <a:rPr lang="en-US" b="0" i="1" smtClean="0">
                        <a:solidFill>
                          <a:schemeClr val="tx1"/>
                        </a:solidFill>
                        <a:latin typeface="Cambria Math" panose="02040503050406030204" pitchFamily="18" charset="0"/>
                      </a:rPr>
                      <m:t>=209.1</m:t>
                    </m:r>
                  </m:oMath>
                </a14:m>
                <a:r>
                  <a:rPr lang="en-US" dirty="0">
                    <a:solidFill>
                      <a:schemeClr val="tx1"/>
                    </a:solidFill>
                  </a:rPr>
                  <a:t> </a:t>
                </a:r>
              </a:p>
              <a:p>
                <a:pPr marL="0" indent="0">
                  <a:buNone/>
                </a:pPr>
                <a:endParaRPr lang="en-US" sz="2400" dirty="0">
                  <a:sym typeface="Wingdings" panose="05000000000000000000" pitchFamily="2" charset="2"/>
                </a:endParaRPr>
              </a:p>
              <a:p>
                <a:pPr marL="0" indent="0">
                  <a:buNone/>
                </a:pPr>
                <a:r>
                  <a:rPr lang="en-US" sz="2400" dirty="0">
                    <a:solidFill>
                      <a:srgbClr val="C00000"/>
                    </a:solidFill>
                  </a:rPr>
                  <a:t>See</a:t>
                </a:r>
                <a:r>
                  <a:rPr lang="en-US" sz="2400" dirty="0"/>
                  <a:t> </a:t>
                </a:r>
                <a:r>
                  <a:rPr lang="en-US" sz="2400" i="1" dirty="0"/>
                  <a:t>Module 1.3 – Example – Demand Forecasting with SES.xlsx </a:t>
                </a:r>
                <a:r>
                  <a:rPr lang="en-US" sz="2400" dirty="0">
                    <a:sym typeface="Wingdings" panose="05000000000000000000" pitchFamily="2" charset="2"/>
                  </a:rPr>
                  <a:t> “Updated Forecasts” tab</a:t>
                </a:r>
                <a:endParaRPr lang="en-US" sz="2400" dirty="0"/>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xfrm>
                <a:off x="355001" y="1312433"/>
                <a:ext cx="11764079" cy="4864530"/>
              </a:xfrm>
              <a:blipFill>
                <a:blip r:embed="rId2"/>
                <a:stretch>
                  <a:fillRect l="-933" t="-2005" b="-9524"/>
                </a:stretch>
              </a:blipFill>
            </p:spPr>
            <p:txBody>
              <a:bodyPr/>
              <a:lstStyle/>
              <a:p>
                <a:r>
                  <a:rPr lang="en-US">
                    <a:noFill/>
                  </a:rPr>
                  <a:t> </a:t>
                </a:r>
              </a:p>
            </p:txBody>
          </p:sp>
        </mc:Fallback>
      </mc:AlternateContent>
    </p:spTree>
    <p:extLst>
      <p:ext uri="{BB962C8B-B14F-4D97-AF65-F5344CB8AC3E}">
        <p14:creationId xmlns:p14="http://schemas.microsoft.com/office/powerpoint/2010/main" val="69114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Insights and Optimization</a:t>
            </a:r>
          </a:p>
        </p:txBody>
      </p:sp>
      <p:sp>
        <p:nvSpPr>
          <p:cNvPr id="3" name="Content Placeholder 2"/>
          <p:cNvSpPr>
            <a:spLocks noGrp="1"/>
          </p:cNvSpPr>
          <p:nvPr>
            <p:ph idx="1"/>
          </p:nvPr>
        </p:nvSpPr>
        <p:spPr>
          <a:xfrm>
            <a:off x="355001" y="1312433"/>
            <a:ext cx="11696321" cy="4864530"/>
          </a:xfrm>
        </p:spPr>
        <p:txBody>
          <a:bodyPr>
            <a:normAutofit lnSpcReduction="10000"/>
          </a:bodyPr>
          <a:lstStyle/>
          <a:p>
            <a:r>
              <a:rPr lang="en-US" sz="2400" dirty="0">
                <a:solidFill>
                  <a:srgbClr val="C00000"/>
                </a:solidFill>
              </a:rPr>
              <a:t>See </a:t>
            </a:r>
            <a:r>
              <a:rPr lang="en-US" sz="2400" i="1" dirty="0"/>
              <a:t>Module 1.3 – Example – SES Insights and Optimization.xlsx</a:t>
            </a:r>
          </a:p>
          <a:p>
            <a:endParaRPr lang="en-US" dirty="0"/>
          </a:p>
          <a:p>
            <a:endParaRPr lang="en-US" dirty="0"/>
          </a:p>
          <a:p>
            <a:endParaRPr lang="en-US" dirty="0"/>
          </a:p>
          <a:p>
            <a:endParaRPr lang="en-US" dirty="0"/>
          </a:p>
          <a:p>
            <a:endParaRPr lang="en-US" sz="2400" dirty="0"/>
          </a:p>
          <a:p>
            <a:pPr marL="0" indent="0">
              <a:buNone/>
            </a:pPr>
            <a:endParaRPr lang="en-US" dirty="0"/>
          </a:p>
          <a:p>
            <a:endParaRPr lang="en-US" dirty="0"/>
          </a:p>
          <a:p>
            <a:pPr lvl="2"/>
            <a:endParaRPr lang="en-US" dirty="0"/>
          </a:p>
        </p:txBody>
      </p:sp>
      <p:sp>
        <p:nvSpPr>
          <p:cNvPr id="6" name="Rectangle 5"/>
          <p:cNvSpPr/>
          <p:nvPr/>
        </p:nvSpPr>
        <p:spPr>
          <a:xfrm>
            <a:off x="8135816" y="1788193"/>
            <a:ext cx="3770334" cy="2031325"/>
          </a:xfrm>
          <a:prstGeom prst="rect">
            <a:avLst/>
          </a:prstGeom>
        </p:spPr>
        <p:txBody>
          <a:bodyPr wrap="square">
            <a:spAutoFit/>
          </a:bodyPr>
          <a:lstStyle/>
          <a:p>
            <a:r>
              <a:rPr lang="en-US" b="1" dirty="0">
                <a:solidFill>
                  <a:srgbClr val="C00000"/>
                </a:solidFill>
              </a:rPr>
              <a:t>Key-point: </a:t>
            </a:r>
            <a:r>
              <a:rPr lang="en-US" dirty="0"/>
              <a:t>When using Exponential Smoothing method, the forecast made  for the next period's demand is weighted average of the current demand observation and the previous forecast made for the current period's demand.</a:t>
            </a:r>
          </a:p>
        </p:txBody>
      </p:sp>
      <p:sp>
        <p:nvSpPr>
          <p:cNvPr id="16" name="Rectangle 15"/>
          <p:cNvSpPr/>
          <p:nvPr/>
        </p:nvSpPr>
        <p:spPr>
          <a:xfrm>
            <a:off x="8091655" y="3982578"/>
            <a:ext cx="3814495" cy="2031325"/>
          </a:xfrm>
          <a:prstGeom prst="rect">
            <a:avLst/>
          </a:prstGeom>
        </p:spPr>
        <p:txBody>
          <a:bodyPr wrap="square">
            <a:spAutoFit/>
          </a:bodyPr>
          <a:lstStyle/>
          <a:p>
            <a:r>
              <a:rPr lang="en-US" b="1" dirty="0">
                <a:solidFill>
                  <a:srgbClr val="C00000"/>
                </a:solidFill>
              </a:rPr>
              <a:t>Key-point: </a:t>
            </a:r>
            <a:r>
              <a:rPr lang="en-US" dirty="0"/>
              <a:t>At the end of a period, one-step-ahead and multi-step-ahead forecasts made using Exponential Smoothing method are identical because, the underlying assumption is that the demand has no trend and no seasonality.</a:t>
            </a:r>
          </a:p>
        </p:txBody>
      </p:sp>
      <p:pic>
        <p:nvPicPr>
          <p:cNvPr id="4" name="Picture 3">
            <a:extLst>
              <a:ext uri="{FF2B5EF4-FFF2-40B4-BE49-F238E27FC236}">
                <a16:creationId xmlns:a16="http://schemas.microsoft.com/office/drawing/2014/main" id="{C28C611A-394B-1026-24B7-C10C8A6686CE}"/>
              </a:ext>
            </a:extLst>
          </p:cNvPr>
          <p:cNvPicPr>
            <a:picLocks noChangeAspect="1"/>
          </p:cNvPicPr>
          <p:nvPr/>
        </p:nvPicPr>
        <p:blipFill>
          <a:blip r:embed="rId2"/>
          <a:stretch>
            <a:fillRect/>
          </a:stretch>
        </p:blipFill>
        <p:spPr>
          <a:xfrm>
            <a:off x="370016" y="1894217"/>
            <a:ext cx="7586663" cy="1819275"/>
          </a:xfrm>
          <a:prstGeom prst="rect">
            <a:avLst/>
          </a:prstGeom>
        </p:spPr>
      </p:pic>
      <p:pic>
        <p:nvPicPr>
          <p:cNvPr id="5" name="Picture 4">
            <a:extLst>
              <a:ext uri="{FF2B5EF4-FFF2-40B4-BE49-F238E27FC236}">
                <a16:creationId xmlns:a16="http://schemas.microsoft.com/office/drawing/2014/main" id="{64DB28DD-1C9A-5E36-2D29-D492C48F8D8D}"/>
              </a:ext>
            </a:extLst>
          </p:cNvPr>
          <p:cNvPicPr>
            <a:picLocks noChangeAspect="1"/>
          </p:cNvPicPr>
          <p:nvPr/>
        </p:nvPicPr>
        <p:blipFill>
          <a:blip r:embed="rId3"/>
          <a:stretch>
            <a:fillRect/>
          </a:stretch>
        </p:blipFill>
        <p:spPr>
          <a:xfrm>
            <a:off x="1264695" y="4088602"/>
            <a:ext cx="6681788" cy="1819275"/>
          </a:xfrm>
          <a:prstGeom prst="rect">
            <a:avLst/>
          </a:prstGeom>
        </p:spPr>
      </p:pic>
    </p:spTree>
    <p:extLst>
      <p:ext uri="{BB962C8B-B14F-4D97-AF65-F5344CB8AC3E}">
        <p14:creationId xmlns:p14="http://schemas.microsoft.com/office/powerpoint/2010/main" val="2469806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Insights and Optimization</a:t>
            </a:r>
          </a:p>
        </p:txBody>
      </p:sp>
      <p:sp>
        <p:nvSpPr>
          <p:cNvPr id="3" name="Content Placeholder 2"/>
          <p:cNvSpPr>
            <a:spLocks noGrp="1"/>
          </p:cNvSpPr>
          <p:nvPr>
            <p:ph idx="1"/>
          </p:nvPr>
        </p:nvSpPr>
        <p:spPr>
          <a:xfrm>
            <a:off x="355001" y="1312433"/>
            <a:ext cx="11696321" cy="4864530"/>
          </a:xfrm>
        </p:spPr>
        <p:txBody>
          <a:bodyPr>
            <a:normAutofit lnSpcReduction="10000"/>
          </a:bodyPr>
          <a:lstStyle/>
          <a:p>
            <a:r>
              <a:rPr lang="en-US" sz="2400" dirty="0">
                <a:solidFill>
                  <a:srgbClr val="C00000"/>
                </a:solidFill>
              </a:rPr>
              <a:t>See </a:t>
            </a:r>
            <a:r>
              <a:rPr lang="en-US" sz="2400" i="1" dirty="0"/>
              <a:t>Module 1.3 – Example – SES Insights and Optimization.xlsx</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dirty="0"/>
          </a:p>
          <a:p>
            <a:endParaRPr lang="en-US" dirty="0"/>
          </a:p>
          <a:p>
            <a:endParaRPr lang="en-US" dirty="0"/>
          </a:p>
          <a:p>
            <a:endParaRPr lang="en-US" dirty="0"/>
          </a:p>
          <a:p>
            <a:endParaRPr lang="en-US" sz="2400" dirty="0"/>
          </a:p>
          <a:p>
            <a:endParaRPr lang="en-US" dirty="0"/>
          </a:p>
          <a:p>
            <a:endParaRPr lang="en-US" dirty="0"/>
          </a:p>
          <a:p>
            <a:pPr lvl="2"/>
            <a:endParaRPr lang="en-US" dirty="0"/>
          </a:p>
        </p:txBody>
      </p:sp>
      <p:sp>
        <p:nvSpPr>
          <p:cNvPr id="9" name="Rectangle 8"/>
          <p:cNvSpPr/>
          <p:nvPr/>
        </p:nvSpPr>
        <p:spPr>
          <a:xfrm>
            <a:off x="845995" y="4646901"/>
            <a:ext cx="10513667" cy="1477328"/>
          </a:xfrm>
          <a:prstGeom prst="rect">
            <a:avLst/>
          </a:prstGeom>
        </p:spPr>
        <p:txBody>
          <a:bodyPr wrap="square">
            <a:spAutoFit/>
          </a:bodyPr>
          <a:lstStyle/>
          <a:p>
            <a:r>
              <a:rPr lang="en-US" b="1" dirty="0">
                <a:solidFill>
                  <a:srgbClr val="C00000"/>
                </a:solidFill>
              </a:rPr>
              <a:t>Key-point: </a:t>
            </a:r>
            <a:r>
              <a:rPr lang="en-US" dirty="0"/>
              <a:t>Exponential Smoothing method is suitable for data with no observable trend. If Exponential Smoothing method is used for a time-series with trend, the forecasts made will lag the trend. </a:t>
            </a:r>
          </a:p>
          <a:p>
            <a:pPr marL="285750" indent="-285750">
              <a:buFont typeface="Arial" panose="020B0604020202020204" pitchFamily="34" charset="0"/>
              <a:buChar char="•"/>
            </a:pPr>
            <a:r>
              <a:rPr lang="en-US" dirty="0"/>
              <a:t>The smaller alpha is used, the bigger the gap will be</a:t>
            </a:r>
          </a:p>
          <a:p>
            <a:pPr marL="285750" indent="-285750">
              <a:buFont typeface="Arial" panose="020B0604020202020204" pitchFamily="34" charset="0"/>
              <a:buChar char="•"/>
            </a:pPr>
            <a:r>
              <a:rPr lang="en-US" dirty="0"/>
              <a:t>This is because, with larger alpha, you can capture the trend better as you give larger weight to the newer observations</a:t>
            </a:r>
          </a:p>
        </p:txBody>
      </p:sp>
      <p:pic>
        <p:nvPicPr>
          <p:cNvPr id="8" name="Picture 7">
            <a:extLst>
              <a:ext uri="{FF2B5EF4-FFF2-40B4-BE49-F238E27FC236}">
                <a16:creationId xmlns:a16="http://schemas.microsoft.com/office/drawing/2014/main" id="{A4BC9A47-CD5E-2CEB-EEBB-54D6CEF39B2A}"/>
              </a:ext>
            </a:extLst>
          </p:cNvPr>
          <p:cNvPicPr>
            <a:picLocks noChangeAspect="1"/>
          </p:cNvPicPr>
          <p:nvPr/>
        </p:nvPicPr>
        <p:blipFill>
          <a:blip r:embed="rId2"/>
          <a:stretch>
            <a:fillRect/>
          </a:stretch>
        </p:blipFill>
        <p:spPr>
          <a:xfrm>
            <a:off x="845995" y="1769803"/>
            <a:ext cx="9615488" cy="2714625"/>
          </a:xfrm>
          <a:prstGeom prst="rect">
            <a:avLst/>
          </a:prstGeom>
        </p:spPr>
      </p:pic>
    </p:spTree>
    <p:extLst>
      <p:ext uri="{BB962C8B-B14F-4D97-AF65-F5344CB8AC3E}">
        <p14:creationId xmlns:p14="http://schemas.microsoft.com/office/powerpoint/2010/main" val="2657820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Insights and Optimization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Optimization:</a:t>
                </a:r>
              </a:p>
              <a:p>
                <a:pPr lvl="1"/>
                <a:r>
                  <a:rPr lang="en-US" dirty="0">
                    <a:solidFill>
                      <a:schemeClr val="tx1"/>
                    </a:solidFill>
                  </a:rPr>
                  <a:t>What is the best value for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a:t>
                </a:r>
              </a:p>
              <a:p>
                <a:pPr lvl="1"/>
                <a:r>
                  <a:rPr lang="en-US" dirty="0">
                    <a:solidFill>
                      <a:schemeClr val="tx1"/>
                    </a:solidFill>
                  </a:rPr>
                  <a:t>In some cases, expert opinion based on experience (subjective way)</a:t>
                </a:r>
              </a:p>
              <a:p>
                <a:pPr lvl="1"/>
                <a:r>
                  <a:rPr lang="en-US" dirty="0">
                    <a:solidFill>
                      <a:schemeClr val="tx1"/>
                    </a:solidFill>
                  </a:rPr>
                  <a:t>Objective way is to find the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that will minimize the forecast errors based on the available data</a:t>
                </a:r>
              </a:p>
              <a:p>
                <a:pPr lvl="1"/>
                <a:r>
                  <a:rPr lang="en-US" dirty="0">
                    <a:solidFill>
                      <a:schemeClr val="tx1"/>
                    </a:solidFill>
                  </a:rPr>
                  <a:t>To do so, we can minimize the sum of squared errors (SSE)</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r>
                  <a:rPr lang="en-US" dirty="0">
                    <a:solidFill>
                      <a:schemeClr val="tx1"/>
                    </a:solidFill>
                  </a:rPr>
                  <a:t>Requires using a nonlinear optimization tool</a:t>
                </a:r>
              </a:p>
              <a:p>
                <a:pPr lvl="2"/>
                <a:r>
                  <a:rPr lang="en-US" dirty="0">
                    <a:solidFill>
                      <a:schemeClr val="tx1"/>
                    </a:solidFill>
                  </a:rPr>
                  <a:t>Excel Solver can be used</a:t>
                </a:r>
              </a:p>
              <a:p>
                <a:pPr lvl="2"/>
                <a:endParaRPr lang="en-US" dirty="0"/>
              </a:p>
              <a:p>
                <a:pPr marL="0" indent="0">
                  <a:buNone/>
                </a:pPr>
                <a:r>
                  <a:rPr lang="en-US" sz="2400" dirty="0">
                    <a:solidFill>
                      <a:srgbClr val="C00000"/>
                    </a:solidFill>
                  </a:rPr>
                  <a:t>See </a:t>
                </a:r>
                <a:r>
                  <a:rPr lang="en-US" sz="2400" i="1" dirty="0"/>
                  <a:t>Module 1.3 – Example – SES Insights and Optimization.xlsx</a:t>
                </a:r>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726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1D9D6EE-BDDA-184B-F30D-FB5B6F1D712A}"/>
              </a:ext>
            </a:extLst>
          </p:cNvPr>
          <p:cNvPicPr>
            <a:picLocks noChangeAspect="1"/>
          </p:cNvPicPr>
          <p:nvPr/>
        </p:nvPicPr>
        <p:blipFill>
          <a:blip r:embed="rId3"/>
          <a:stretch>
            <a:fillRect/>
          </a:stretch>
        </p:blipFill>
        <p:spPr>
          <a:xfrm>
            <a:off x="3583273" y="3690438"/>
            <a:ext cx="3019612" cy="1027507"/>
          </a:xfrm>
          <a:prstGeom prst="rect">
            <a:avLst/>
          </a:prstGeom>
        </p:spPr>
      </p:pic>
    </p:spTree>
    <p:extLst>
      <p:ext uri="{BB962C8B-B14F-4D97-AF65-F5344CB8AC3E}">
        <p14:creationId xmlns:p14="http://schemas.microsoft.com/office/powerpoint/2010/main" val="115474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Exponential Smoothing Method</a:t>
            </a:r>
          </a:p>
        </p:txBody>
      </p:sp>
      <p:sp>
        <p:nvSpPr>
          <p:cNvPr id="3" name="Content Placeholder 2"/>
          <p:cNvSpPr>
            <a:spLocks noGrp="1"/>
          </p:cNvSpPr>
          <p:nvPr>
            <p:ph idx="1"/>
          </p:nvPr>
        </p:nvSpPr>
        <p:spPr>
          <a:xfrm>
            <a:off x="355001" y="1312433"/>
            <a:ext cx="11696321" cy="4864530"/>
          </a:xfrm>
        </p:spPr>
        <p:txBody>
          <a:bodyPr>
            <a:normAutofit lnSpcReduction="10000"/>
          </a:bodyPr>
          <a:lstStyle/>
          <a:p>
            <a:r>
              <a:rPr lang="en-US" dirty="0"/>
              <a:t>Exponential Smoothing Method:</a:t>
            </a:r>
          </a:p>
          <a:p>
            <a:pPr lvl="1"/>
            <a:r>
              <a:rPr lang="en-US" kern="0" dirty="0"/>
              <a:t>Advantages: Easily understood and computed &amp; provides stable forecasts &amp; needs data of the last period</a:t>
            </a:r>
          </a:p>
          <a:p>
            <a:pPr lvl="1"/>
            <a:r>
              <a:rPr lang="en-US" kern="0" dirty="0"/>
              <a:t>Disadvantages: Lags trends &amp; ignores complexity &amp; do not forget the past</a:t>
            </a:r>
          </a:p>
          <a:p>
            <a:pPr lvl="2"/>
            <a:endParaRPr lang="en-US" sz="1600" kern="0" dirty="0"/>
          </a:p>
          <a:p>
            <a:r>
              <a:rPr lang="en-US" kern="0" dirty="0"/>
              <a:t>Moving Average vs. Exponential Smoothing:</a:t>
            </a:r>
          </a:p>
          <a:p>
            <a:pPr lvl="1"/>
            <a:r>
              <a:rPr lang="en-US" b="1" kern="0" dirty="0">
                <a:solidFill>
                  <a:srgbClr val="C00000"/>
                </a:solidFill>
              </a:rPr>
              <a:t>Similarities: </a:t>
            </a:r>
            <a:r>
              <a:rPr lang="en-US" dirty="0">
                <a:solidFill>
                  <a:srgbClr val="000000"/>
                </a:solidFill>
              </a:rPr>
              <a:t>Appropriate for stationary series (randomness, no trend, no seasonality) &amp; Dependency on a single parameter (N and </a:t>
            </a:r>
            <a:r>
              <a:rPr lang="en-US" i="1" dirty="0">
                <a:latin typeface="Symbol" charset="2"/>
                <a:cs typeface="Symbol" charset="2"/>
              </a:rPr>
              <a:t>a</a:t>
            </a:r>
            <a:r>
              <a:rPr lang="en-US" dirty="0">
                <a:solidFill>
                  <a:srgbClr val="000000"/>
                </a:solidFill>
              </a:rPr>
              <a:t>) &amp; Lagging the trends in the data</a:t>
            </a:r>
          </a:p>
          <a:p>
            <a:pPr lvl="1"/>
            <a:r>
              <a:rPr lang="en-US" b="1" kern="0" dirty="0">
                <a:solidFill>
                  <a:srgbClr val="C00000"/>
                </a:solidFill>
              </a:rPr>
              <a:t>Differences: </a:t>
            </a:r>
            <a:r>
              <a:rPr lang="en-US" kern="0" dirty="0">
                <a:solidFill>
                  <a:srgbClr val="000000"/>
                </a:solidFill>
              </a:rPr>
              <a:t>MA forgets the past data after N periods, however, ES carries all the past data &amp; ES requires only the forecast and the observation of the previous period, however, MA requires all N past observations</a:t>
            </a:r>
          </a:p>
          <a:p>
            <a:pPr lvl="1"/>
            <a:r>
              <a:rPr lang="en-US" u="sng" dirty="0">
                <a:solidFill>
                  <a:srgbClr val="C00000"/>
                </a:solidFill>
              </a:rPr>
              <a:t>Both methods are not suitable when the data has trends and/or seasonality</a:t>
            </a:r>
            <a:r>
              <a:rPr lang="en-US" dirty="0"/>
              <a:t>. </a:t>
            </a:r>
          </a:p>
          <a:p>
            <a:pPr lvl="1"/>
            <a:endParaRPr lang="en-US" sz="2000" kern="0" dirty="0">
              <a:solidFill>
                <a:srgbClr val="000000"/>
              </a:solidFill>
            </a:endParaRPr>
          </a:p>
          <a:p>
            <a:pPr lvl="1"/>
            <a:endParaRPr lang="en-US" sz="2000" kern="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dirty="0"/>
          </a:p>
          <a:p>
            <a:endParaRPr lang="en-US" dirty="0"/>
          </a:p>
          <a:p>
            <a:endParaRPr lang="en-US" dirty="0"/>
          </a:p>
          <a:p>
            <a:endParaRPr lang="en-US" dirty="0"/>
          </a:p>
          <a:p>
            <a:endParaRPr lang="en-US" sz="2400" dirty="0"/>
          </a:p>
          <a:p>
            <a:endParaRPr lang="en-US" dirty="0"/>
          </a:p>
          <a:p>
            <a:endParaRPr lang="en-US" dirty="0"/>
          </a:p>
          <a:p>
            <a:pPr lvl="2"/>
            <a:endParaRPr lang="en-US" dirty="0"/>
          </a:p>
        </p:txBody>
      </p:sp>
    </p:spTree>
    <p:extLst>
      <p:ext uri="{BB962C8B-B14F-4D97-AF65-F5344CB8AC3E}">
        <p14:creationId xmlns:p14="http://schemas.microsoft.com/office/powerpoint/2010/main" val="366500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solidFill>
                  <a:schemeClr val="bg2"/>
                </a:solidFill>
              </a:rPr>
              <a:t>Exponential Smoothing Methods</a:t>
            </a:r>
          </a:p>
          <a:p>
            <a:pPr lvl="1"/>
            <a:r>
              <a:rPr lang="en-US" dirty="0">
                <a:solidFill>
                  <a:schemeClr val="bg2"/>
                </a:solidFill>
              </a:rPr>
              <a:t>Introduction and Notation</a:t>
            </a:r>
          </a:p>
          <a:p>
            <a:r>
              <a:rPr lang="en-US" dirty="0">
                <a:solidFill>
                  <a:schemeClr val="bg2"/>
                </a:solidFill>
              </a:rPr>
              <a:t>Simple Exponential Smoothing</a:t>
            </a:r>
          </a:p>
          <a:p>
            <a:pPr lvl="1"/>
            <a:r>
              <a:rPr lang="en-US" dirty="0">
                <a:solidFill>
                  <a:schemeClr val="bg2"/>
                </a:solidFill>
              </a:rPr>
              <a:t>Forms and Equations, and Example</a:t>
            </a:r>
          </a:p>
          <a:p>
            <a:pPr lvl="1"/>
            <a:r>
              <a:rPr lang="en-US" dirty="0">
                <a:solidFill>
                  <a:schemeClr val="bg2"/>
                </a:solidFill>
              </a:rPr>
              <a:t>Insights and Optimization</a:t>
            </a:r>
          </a:p>
          <a:p>
            <a:r>
              <a:rPr lang="en-US" dirty="0"/>
              <a:t>Holt’s Linear Trend Method</a:t>
            </a:r>
          </a:p>
          <a:p>
            <a:pPr lvl="1"/>
            <a:r>
              <a:rPr lang="en-US" dirty="0"/>
              <a:t>Equations and Example</a:t>
            </a:r>
          </a:p>
          <a:p>
            <a:pPr lvl="1"/>
            <a:r>
              <a:rPr lang="en-US" dirty="0"/>
              <a:t>Insights, Optimization, and Damping</a:t>
            </a:r>
          </a:p>
          <a:p>
            <a:r>
              <a:rPr lang="en-US" dirty="0">
                <a:solidFill>
                  <a:schemeClr val="bg2"/>
                </a:solidFill>
              </a:rPr>
              <a:t>Holt-Winters’ Seasonal Method</a:t>
            </a:r>
          </a:p>
          <a:p>
            <a:pPr lvl="1"/>
            <a:r>
              <a:rPr lang="en-US" dirty="0">
                <a:solidFill>
                  <a:schemeClr val="bg2"/>
                </a:solidFill>
              </a:rPr>
              <a:t>Equations and Example</a:t>
            </a:r>
          </a:p>
          <a:p>
            <a:pPr lvl="1"/>
            <a:r>
              <a:rPr lang="en-US" dirty="0">
                <a:solidFill>
                  <a:schemeClr val="bg2"/>
                </a:solidFill>
              </a:rPr>
              <a:t>Multiplicative and Damped method</a:t>
            </a:r>
          </a:p>
          <a:p>
            <a:r>
              <a:rPr lang="en-US" dirty="0">
                <a:solidFill>
                  <a:schemeClr val="bg2"/>
                </a:solidFill>
              </a:rPr>
              <a:t>Taxonomy of ETS Methods</a:t>
            </a:r>
          </a:p>
        </p:txBody>
      </p:sp>
    </p:spTree>
    <p:extLst>
      <p:ext uri="{BB962C8B-B14F-4D97-AF65-F5344CB8AC3E}">
        <p14:creationId xmlns:p14="http://schemas.microsoft.com/office/powerpoint/2010/main" val="3353688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Linear Trend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Recall that Simple Exponential Smoothing method is suitable for forecasting time series with no trend and no seasonality</a:t>
                </a:r>
              </a:p>
              <a:p>
                <a:pPr lvl="1"/>
                <a:r>
                  <a:rPr lang="en-US" dirty="0">
                    <a:solidFill>
                      <a:schemeClr val="tx1"/>
                    </a:solidFill>
                  </a:rPr>
                  <a:t>SES used level component and one smoothing equation</a:t>
                </a:r>
              </a:p>
              <a:p>
                <a:r>
                  <a:rPr lang="en-US" dirty="0">
                    <a:solidFill>
                      <a:schemeClr val="tx1"/>
                    </a:solidFill>
                  </a:rPr>
                  <a:t>When </a:t>
                </a:r>
                <a:r>
                  <a:rPr lang="en-US" b="1" dirty="0">
                    <a:solidFill>
                      <a:srgbClr val="C00000"/>
                    </a:solidFill>
                  </a:rPr>
                  <a:t>time series has trend but no seasonality</a:t>
                </a:r>
                <a:r>
                  <a:rPr lang="en-US" dirty="0">
                    <a:solidFill>
                      <a:schemeClr val="tx1"/>
                    </a:solidFill>
                  </a:rPr>
                  <a:t>, we can use Holt’s Linear Trend Method (simply Holt’s method)</a:t>
                </a:r>
              </a:p>
              <a:p>
                <a:pPr lvl="1"/>
                <a:r>
                  <a:rPr lang="en-US" dirty="0">
                    <a:solidFill>
                      <a:schemeClr val="tx1"/>
                    </a:solidFill>
                  </a:rPr>
                  <a:t>Holt’s method extends simple exponential smoothing to allow forecasting data with trend</a:t>
                </a:r>
              </a:p>
              <a:p>
                <a:pPr lvl="1"/>
                <a:r>
                  <a:rPr lang="en-US" dirty="0">
                    <a:solidFill>
                      <a:schemeClr val="tx1"/>
                    </a:solidFill>
                  </a:rPr>
                  <a:t>It uses two components of the time series: </a:t>
                </a:r>
                <a:r>
                  <a:rPr lang="en-US" dirty="0">
                    <a:solidFill>
                      <a:srgbClr val="C00000"/>
                    </a:solidFill>
                  </a:rPr>
                  <a:t>level and trend</a:t>
                </a:r>
              </a:p>
              <a:p>
                <a:pPr lvl="1"/>
                <a:r>
                  <a:rPr lang="en-US" dirty="0">
                    <a:solidFill>
                      <a:schemeClr val="tx1"/>
                    </a:solidFill>
                  </a:rPr>
                  <a:t>It consists of two smoothing equations</a:t>
                </a:r>
              </a:p>
              <a:p>
                <a:pPr lvl="2"/>
                <a:r>
                  <a:rPr lang="en-US" dirty="0">
                    <a:solidFill>
                      <a:schemeClr val="tx1"/>
                    </a:solidFill>
                  </a:rPr>
                  <a:t>one for the level: 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𝑡</m:t>
                        </m:r>
                      </m:sub>
                    </m:sSub>
                  </m:oMath>
                </a14:m>
                <a:r>
                  <a:rPr lang="en-US" dirty="0">
                    <a:solidFill>
                      <a:schemeClr val="tx1"/>
                    </a:solidFill>
                  </a:rPr>
                  <a:t> is the level estimate at period 𝑡</a:t>
                </a:r>
              </a:p>
              <a:p>
                <a:pPr lvl="2"/>
                <a:r>
                  <a:rPr lang="en-US" dirty="0">
                    <a:solidFill>
                      <a:schemeClr val="tx1"/>
                    </a:solidFill>
                  </a:rPr>
                  <a:t>one for the trend: 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𝑡</m:t>
                        </m:r>
                      </m:sub>
                    </m:sSub>
                  </m:oMath>
                </a14:m>
                <a:r>
                  <a:rPr lang="en-US" dirty="0">
                    <a:solidFill>
                      <a:schemeClr val="tx1"/>
                    </a:solidFill>
                  </a:rPr>
                  <a:t> is the trend estimate at time period 𝑡</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372"/>
                </a:stretch>
              </a:blipFill>
            </p:spPr>
            <p:txBody>
              <a:bodyPr/>
              <a:lstStyle/>
              <a:p>
                <a:r>
                  <a:rPr lang="en-US">
                    <a:noFill/>
                  </a:rPr>
                  <a:t> </a:t>
                </a:r>
              </a:p>
            </p:txBody>
          </p:sp>
        </mc:Fallback>
      </mc:AlternateContent>
    </p:spTree>
    <p:extLst>
      <p:ext uri="{BB962C8B-B14F-4D97-AF65-F5344CB8AC3E}">
        <p14:creationId xmlns:p14="http://schemas.microsoft.com/office/powerpoint/2010/main" val="420160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Linear Trend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Holt’s Method: Forecast Equation</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lvl="1"/>
                <a:endParaRPr lang="en-US" b="1" dirty="0">
                  <a:solidFill>
                    <a:schemeClr val="tx1"/>
                  </a:solidFill>
                </a:endParaRPr>
              </a:p>
              <a:p>
                <a:pPr lvl="4"/>
                <a:endParaRPr lang="en-US" dirty="0">
                  <a:solidFill>
                    <a:schemeClr val="tx1"/>
                  </a:solidFill>
                </a:endParaRPr>
              </a:p>
              <a:p>
                <a:pPr lvl="1"/>
                <a:r>
                  <a:rPr lang="en-US" dirty="0">
                    <a:solidFill>
                      <a:schemeClr val="tx1"/>
                    </a:solidFill>
                  </a:rPr>
                  <a:t>Simply, the h-step-ahead forecast is equal to the last estimated level plus </a:t>
                </a:r>
                <a14:m>
                  <m:oMath xmlns:m="http://schemas.openxmlformats.org/officeDocument/2006/math">
                    <m:r>
                      <a:rPr lang="en-US" b="0" i="1" smtClean="0">
                        <a:solidFill>
                          <a:schemeClr val="tx1"/>
                        </a:solidFill>
                        <a:latin typeface="Cambria Math" panose="02040503050406030204" pitchFamily="18" charset="0"/>
                      </a:rPr>
                      <m:t>h</m:t>
                    </m:r>
                  </m:oMath>
                </a14:m>
                <a:r>
                  <a:rPr lang="en-US" dirty="0">
                    <a:solidFill>
                      <a:schemeClr val="tx1"/>
                    </a:solidFill>
                  </a:rPr>
                  <a:t> times the last estimated trend value</a:t>
                </a:r>
              </a:p>
              <a:p>
                <a:pPr lvl="1"/>
                <a:r>
                  <a:rPr lang="en-US" dirty="0">
                    <a:solidFill>
                      <a:schemeClr val="tx1"/>
                    </a:solidFill>
                  </a:rPr>
                  <a:t>So, before calculating the forecasts, we need to determine the estimates for the level and trend in period 𝑡 after observing period 𝑡’s data</a:t>
                </a:r>
              </a:p>
              <a:p>
                <a:pPr lvl="2"/>
                <a:r>
                  <a:rPr lang="en-US" dirty="0">
                    <a:solidFill>
                      <a:schemeClr val="tx1"/>
                    </a:solidFill>
                  </a:rPr>
                  <a:t>Using smoothing equations</a:t>
                </a:r>
              </a:p>
              <a:p>
                <a:pPr lvl="1"/>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42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AAC0BD2A-11D0-AC7F-8D71-1E070AE408B5}"/>
              </a:ext>
            </a:extLst>
          </p:cNvPr>
          <p:cNvPicPr>
            <a:picLocks noChangeAspect="1"/>
          </p:cNvPicPr>
          <p:nvPr/>
        </p:nvPicPr>
        <p:blipFill>
          <a:blip r:embed="rId3"/>
          <a:stretch>
            <a:fillRect/>
          </a:stretch>
        </p:blipFill>
        <p:spPr>
          <a:xfrm>
            <a:off x="1945811" y="1854930"/>
            <a:ext cx="5908153" cy="609234"/>
          </a:xfrm>
          <a:prstGeom prst="rect">
            <a:avLst/>
          </a:prstGeom>
          <a:ln w="28575">
            <a:solidFill>
              <a:srgbClr val="C00000"/>
            </a:solidFill>
          </a:ln>
        </p:spPr>
      </p:pic>
      <p:cxnSp>
        <p:nvCxnSpPr>
          <p:cNvPr id="3" name="Straight Arrow Connector 2">
            <a:extLst>
              <a:ext uri="{FF2B5EF4-FFF2-40B4-BE49-F238E27FC236}">
                <a16:creationId xmlns:a16="http://schemas.microsoft.com/office/drawing/2014/main" id="{6DB2D529-93EC-C16B-3490-04DEDA4345C2}"/>
              </a:ext>
            </a:extLst>
          </p:cNvPr>
          <p:cNvCxnSpPr>
            <a:cxnSpLocks/>
          </p:cNvCxnSpPr>
          <p:nvPr/>
        </p:nvCxnSpPr>
        <p:spPr>
          <a:xfrm flipH="1">
            <a:off x="4536999" y="2536899"/>
            <a:ext cx="974921" cy="318920"/>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1CCCBD-52BE-792F-167E-09A2D4DFB1E0}"/>
                  </a:ext>
                </a:extLst>
              </p:cNvPr>
              <p:cNvSpPr txBox="1"/>
              <p:nvPr/>
            </p:nvSpPr>
            <p:spPr>
              <a:xfrm>
                <a:off x="3030437" y="2890661"/>
                <a:ext cx="2602872" cy="646331"/>
              </a:xfrm>
              <a:prstGeom prst="rect">
                <a:avLst/>
              </a:prstGeom>
              <a:noFill/>
            </p:spPr>
            <p:txBody>
              <a:bodyPr wrap="square" rtlCol="0">
                <a:spAutoFit/>
              </a:bodyPr>
              <a:lstStyle/>
              <a:p>
                <a:pPr algn="ctr"/>
                <a:r>
                  <a:rPr lang="en-US" dirty="0"/>
                  <a:t>Forecast made in period </a:t>
                </a:r>
                <a14:m>
                  <m:oMath xmlns:m="http://schemas.openxmlformats.org/officeDocument/2006/math">
                    <m:r>
                      <a:rPr lang="en-US" i="1" dirty="0" smtClean="0">
                        <a:latin typeface="Cambria Math" panose="02040503050406030204" pitchFamily="18" charset="0"/>
                      </a:rPr>
                      <m:t>𝑡</m:t>
                    </m:r>
                  </m:oMath>
                </a14:m>
                <a:r>
                  <a:rPr lang="en-US" dirty="0"/>
                  <a:t> for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oMath>
                </a14:m>
                <a:endParaRPr lang="en-US" dirty="0"/>
              </a:p>
            </p:txBody>
          </p:sp>
        </mc:Choice>
        <mc:Fallback xmlns="">
          <p:sp>
            <p:nvSpPr>
              <p:cNvPr id="4" name="TextBox 3">
                <a:extLst>
                  <a:ext uri="{FF2B5EF4-FFF2-40B4-BE49-F238E27FC236}">
                    <a16:creationId xmlns:a16="http://schemas.microsoft.com/office/drawing/2014/main" id="{401CCCBD-52BE-792F-167E-09A2D4DFB1E0}"/>
                  </a:ext>
                </a:extLst>
              </p:cNvPr>
              <p:cNvSpPr txBox="1">
                <a:spLocks noRot="1" noChangeAspect="1" noMove="1" noResize="1" noEditPoints="1" noAdjustHandles="1" noChangeArrowheads="1" noChangeShapeType="1" noTextEdit="1"/>
              </p:cNvSpPr>
              <p:nvPr/>
            </p:nvSpPr>
            <p:spPr>
              <a:xfrm>
                <a:off x="3030437" y="2890661"/>
                <a:ext cx="2602872" cy="646331"/>
              </a:xfrm>
              <a:prstGeom prst="rect">
                <a:avLst/>
              </a:prstGeom>
              <a:blipFill>
                <a:blip r:embed="rId4"/>
                <a:stretch>
                  <a:fillRect l="-1405" t="-4717" b="-14151"/>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9C848081-1C78-41E9-7D44-39D1B5528D6E}"/>
              </a:ext>
            </a:extLst>
          </p:cNvPr>
          <p:cNvCxnSpPr>
            <a:cxnSpLocks/>
          </p:cNvCxnSpPr>
          <p:nvPr/>
        </p:nvCxnSpPr>
        <p:spPr>
          <a:xfrm flipH="1">
            <a:off x="6680082" y="2380065"/>
            <a:ext cx="48852" cy="548824"/>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719521B-22AE-B335-6A11-2BDE63139007}"/>
                  </a:ext>
                </a:extLst>
              </p:cNvPr>
              <p:cNvSpPr txBox="1"/>
              <p:nvPr/>
            </p:nvSpPr>
            <p:spPr>
              <a:xfrm>
                <a:off x="5819188" y="2976281"/>
                <a:ext cx="1745086" cy="646331"/>
              </a:xfrm>
              <a:prstGeom prst="rect">
                <a:avLst/>
              </a:prstGeom>
              <a:noFill/>
            </p:spPr>
            <p:txBody>
              <a:bodyPr wrap="square" rtlCol="0">
                <a:spAutoFit/>
              </a:bodyPr>
              <a:lstStyle/>
              <a:p>
                <a:pPr algn="ctr"/>
                <a:r>
                  <a:rPr lang="en-US" dirty="0"/>
                  <a:t>Level estimate in period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6" name="TextBox 5">
                <a:extLst>
                  <a:ext uri="{FF2B5EF4-FFF2-40B4-BE49-F238E27FC236}">
                    <a16:creationId xmlns:a16="http://schemas.microsoft.com/office/drawing/2014/main" id="{F719521B-22AE-B335-6A11-2BDE63139007}"/>
                  </a:ext>
                </a:extLst>
              </p:cNvPr>
              <p:cNvSpPr txBox="1">
                <a:spLocks noRot="1" noChangeAspect="1" noMove="1" noResize="1" noEditPoints="1" noAdjustHandles="1" noChangeArrowheads="1" noChangeShapeType="1" noTextEdit="1"/>
              </p:cNvSpPr>
              <p:nvPr/>
            </p:nvSpPr>
            <p:spPr>
              <a:xfrm>
                <a:off x="5819188" y="2976281"/>
                <a:ext cx="1745086" cy="646331"/>
              </a:xfrm>
              <a:prstGeom prst="rect">
                <a:avLst/>
              </a:prstGeom>
              <a:blipFill>
                <a:blip r:embed="rId5"/>
                <a:stretch>
                  <a:fillRect t="-4717" b="-1415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CD96968-6CF6-6988-9038-6D73F9AF58CC}"/>
              </a:ext>
            </a:extLst>
          </p:cNvPr>
          <p:cNvCxnSpPr>
            <a:cxnSpLocks/>
          </p:cNvCxnSpPr>
          <p:nvPr/>
        </p:nvCxnSpPr>
        <p:spPr>
          <a:xfrm>
            <a:off x="7638685" y="2380065"/>
            <a:ext cx="401158" cy="635447"/>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81807B-794A-AB83-2149-D80DBF98777A}"/>
                  </a:ext>
                </a:extLst>
              </p:cNvPr>
              <p:cNvSpPr txBox="1"/>
              <p:nvPr/>
            </p:nvSpPr>
            <p:spPr>
              <a:xfrm>
                <a:off x="7744759" y="3006661"/>
                <a:ext cx="1745086" cy="646331"/>
              </a:xfrm>
              <a:prstGeom prst="rect">
                <a:avLst/>
              </a:prstGeom>
              <a:noFill/>
            </p:spPr>
            <p:txBody>
              <a:bodyPr wrap="square" rtlCol="0">
                <a:spAutoFit/>
              </a:bodyPr>
              <a:lstStyle/>
              <a:p>
                <a:pPr algn="ctr"/>
                <a:r>
                  <a:rPr lang="en-US" dirty="0"/>
                  <a:t>Trend estimate in period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8" name="TextBox 7">
                <a:extLst>
                  <a:ext uri="{FF2B5EF4-FFF2-40B4-BE49-F238E27FC236}">
                    <a16:creationId xmlns:a16="http://schemas.microsoft.com/office/drawing/2014/main" id="{9781807B-794A-AB83-2149-D80DBF98777A}"/>
                  </a:ext>
                </a:extLst>
              </p:cNvPr>
              <p:cNvSpPr txBox="1">
                <a:spLocks noRot="1" noChangeAspect="1" noMove="1" noResize="1" noEditPoints="1" noAdjustHandles="1" noChangeArrowheads="1" noChangeShapeType="1" noTextEdit="1"/>
              </p:cNvSpPr>
              <p:nvPr/>
            </p:nvSpPr>
            <p:spPr>
              <a:xfrm>
                <a:off x="7744759" y="3006661"/>
                <a:ext cx="1745086" cy="646331"/>
              </a:xfrm>
              <a:prstGeom prst="rect">
                <a:avLst/>
              </a:prstGeom>
              <a:blipFill>
                <a:blip r:embed="rId6"/>
                <a:stretch>
                  <a:fillRect t="-4717" b="-14151"/>
                </a:stretch>
              </a:blipFill>
            </p:spPr>
            <p:txBody>
              <a:bodyPr/>
              <a:lstStyle/>
              <a:p>
                <a:r>
                  <a:rPr lang="en-US">
                    <a:noFill/>
                  </a:rPr>
                  <a:t> </a:t>
                </a:r>
              </a:p>
            </p:txBody>
          </p:sp>
        </mc:Fallback>
      </mc:AlternateContent>
      <p:sp>
        <p:nvSpPr>
          <p:cNvPr id="11" name="Right Brace 10">
            <a:extLst>
              <a:ext uri="{FF2B5EF4-FFF2-40B4-BE49-F238E27FC236}">
                <a16:creationId xmlns:a16="http://schemas.microsoft.com/office/drawing/2014/main" id="{D6B1D49D-6A57-FF17-1A4A-AB128F8BC9B3}"/>
              </a:ext>
            </a:extLst>
          </p:cNvPr>
          <p:cNvSpPr/>
          <p:nvPr/>
        </p:nvSpPr>
        <p:spPr>
          <a:xfrm>
            <a:off x="9396905" y="3072101"/>
            <a:ext cx="286121" cy="515449"/>
          </a:xfrm>
          <a:prstGeom prst="rightBrace">
            <a:avLst/>
          </a:prstGeom>
          <a:ln w="19050">
            <a:solidFill>
              <a:srgbClr val="C00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6C2ADE8-F92E-F463-86CD-13A8195237A5}"/>
                  </a:ext>
                </a:extLst>
              </p:cNvPr>
              <p:cNvSpPr txBox="1"/>
              <p:nvPr/>
            </p:nvSpPr>
            <p:spPr>
              <a:xfrm>
                <a:off x="9595919" y="2760837"/>
                <a:ext cx="1917616" cy="1077218"/>
              </a:xfrm>
              <a:prstGeom prst="rect">
                <a:avLst/>
              </a:prstGeom>
              <a:noFill/>
            </p:spPr>
            <p:txBody>
              <a:bodyPr wrap="square" rtlCol="0">
                <a:spAutoFit/>
              </a:bodyPr>
              <a:lstStyle/>
              <a:p>
                <a:pPr algn="ctr"/>
                <a:r>
                  <a:rPr lang="en-US" sz="1600" dirty="0"/>
                  <a:t>Multiplied with the number of future periods we are looking at, i.e., </a:t>
                </a:r>
                <a14:m>
                  <m:oMath xmlns:m="http://schemas.openxmlformats.org/officeDocument/2006/math">
                    <m:r>
                      <a:rPr lang="en-US" sz="1600" i="1" dirty="0" smtClean="0">
                        <a:latin typeface="Cambria Math" panose="02040503050406030204" pitchFamily="18" charset="0"/>
                      </a:rPr>
                      <m:t>h</m:t>
                    </m:r>
                    <m:r>
                      <a:rPr lang="en-US" sz="1600" i="1" dirty="0" smtClean="0">
                        <a:latin typeface="Cambria Math" panose="02040503050406030204" pitchFamily="18" charset="0"/>
                      </a:rPr>
                      <m:t> </m:t>
                    </m:r>
                  </m:oMath>
                </a14:m>
                <a:endParaRPr lang="en-US" sz="1600" dirty="0"/>
              </a:p>
            </p:txBody>
          </p:sp>
        </mc:Choice>
        <mc:Fallback xmlns="">
          <p:sp>
            <p:nvSpPr>
              <p:cNvPr id="12" name="TextBox 11">
                <a:extLst>
                  <a:ext uri="{FF2B5EF4-FFF2-40B4-BE49-F238E27FC236}">
                    <a16:creationId xmlns:a16="http://schemas.microsoft.com/office/drawing/2014/main" id="{A6C2ADE8-F92E-F463-86CD-13A8195237A5}"/>
                  </a:ext>
                </a:extLst>
              </p:cNvPr>
              <p:cNvSpPr txBox="1">
                <a:spLocks noRot="1" noChangeAspect="1" noMove="1" noResize="1" noEditPoints="1" noAdjustHandles="1" noChangeArrowheads="1" noChangeShapeType="1" noTextEdit="1"/>
              </p:cNvSpPr>
              <p:nvPr/>
            </p:nvSpPr>
            <p:spPr>
              <a:xfrm>
                <a:off x="9595919" y="2760837"/>
                <a:ext cx="1917616" cy="1077218"/>
              </a:xfrm>
              <a:prstGeom prst="rect">
                <a:avLst/>
              </a:prstGeom>
              <a:blipFill>
                <a:blip r:embed="rId7"/>
                <a:stretch>
                  <a:fillRect t="-1695" r="-317" b="-6215"/>
                </a:stretch>
              </a:blipFill>
            </p:spPr>
            <p:txBody>
              <a:bodyPr/>
              <a:lstStyle/>
              <a:p>
                <a:r>
                  <a:rPr lang="en-US">
                    <a:noFill/>
                  </a:rPr>
                  <a:t> </a:t>
                </a:r>
              </a:p>
            </p:txBody>
          </p:sp>
        </mc:Fallback>
      </mc:AlternateContent>
    </p:spTree>
    <p:extLst>
      <p:ext uri="{BB962C8B-B14F-4D97-AF65-F5344CB8AC3E}">
        <p14:creationId xmlns:p14="http://schemas.microsoft.com/office/powerpoint/2010/main" val="125642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1" grpId="0" animBg="1"/>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Linear Trend Method</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Holt’s Method: Smoothing Equations</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lvl="1"/>
            <a:endParaRPr lang="en-US" dirty="0">
              <a:solidFill>
                <a:schemeClr val="bg2"/>
              </a:solidFill>
            </a:endParaRPr>
          </a:p>
        </p:txBody>
      </p:sp>
      <p:pic>
        <p:nvPicPr>
          <p:cNvPr id="13" name="Picture 12">
            <a:extLst>
              <a:ext uri="{FF2B5EF4-FFF2-40B4-BE49-F238E27FC236}">
                <a16:creationId xmlns:a16="http://schemas.microsoft.com/office/drawing/2014/main" id="{449B2971-82FE-C6BC-11F7-65A93E3A30FB}"/>
              </a:ext>
            </a:extLst>
          </p:cNvPr>
          <p:cNvPicPr>
            <a:picLocks noChangeAspect="1"/>
          </p:cNvPicPr>
          <p:nvPr/>
        </p:nvPicPr>
        <p:blipFill>
          <a:blip r:embed="rId2"/>
          <a:stretch>
            <a:fillRect/>
          </a:stretch>
        </p:blipFill>
        <p:spPr>
          <a:xfrm>
            <a:off x="1392482" y="2108908"/>
            <a:ext cx="7153639" cy="404446"/>
          </a:xfrm>
          <a:prstGeom prst="rect">
            <a:avLst/>
          </a:prstGeom>
        </p:spPr>
      </p:pic>
      <p:cxnSp>
        <p:nvCxnSpPr>
          <p:cNvPr id="14" name="Straight Arrow Connector 13">
            <a:extLst>
              <a:ext uri="{FF2B5EF4-FFF2-40B4-BE49-F238E27FC236}">
                <a16:creationId xmlns:a16="http://schemas.microsoft.com/office/drawing/2014/main" id="{0479F6FC-D7E5-5D7D-4408-FBD2183322DA}"/>
              </a:ext>
            </a:extLst>
          </p:cNvPr>
          <p:cNvCxnSpPr/>
          <p:nvPr/>
        </p:nvCxnSpPr>
        <p:spPr>
          <a:xfrm flipH="1">
            <a:off x="5143135" y="2513354"/>
            <a:ext cx="257907" cy="246185"/>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p:sp>
        <p:nvSpPr>
          <p:cNvPr id="15" name="Right Brace 14">
            <a:extLst>
              <a:ext uri="{FF2B5EF4-FFF2-40B4-BE49-F238E27FC236}">
                <a16:creationId xmlns:a16="http://schemas.microsoft.com/office/drawing/2014/main" id="{12ECDF9C-8A44-9C31-B658-CAE8914F1549}"/>
              </a:ext>
            </a:extLst>
          </p:cNvPr>
          <p:cNvSpPr/>
          <p:nvPr/>
        </p:nvSpPr>
        <p:spPr>
          <a:xfrm rot="16200000" flipH="1">
            <a:off x="7500770" y="1832541"/>
            <a:ext cx="339969" cy="1580025"/>
          </a:xfrm>
          <a:prstGeom prst="rightBrace">
            <a:avLst>
              <a:gd name="adj1" fmla="val 8333"/>
              <a:gd name="adj2" fmla="val 79678"/>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FD4B008-90BC-8BBE-F95F-4397AEA38A4E}"/>
                  </a:ext>
                </a:extLst>
              </p:cNvPr>
              <p:cNvSpPr txBox="1"/>
              <p:nvPr/>
            </p:nvSpPr>
            <p:spPr>
              <a:xfrm>
                <a:off x="6868674" y="2759539"/>
                <a:ext cx="2403230" cy="923330"/>
              </a:xfrm>
              <a:prstGeom prst="rect">
                <a:avLst/>
              </a:prstGeom>
              <a:noFill/>
            </p:spPr>
            <p:txBody>
              <a:bodyPr wrap="square" rtlCol="0">
                <a:spAutoFit/>
              </a:bodyPr>
              <a:lstStyle/>
              <a:p>
                <a:pPr algn="ctr"/>
                <a:r>
                  <a:rPr lang="en-US" dirty="0"/>
                  <a:t>One-step-ahead forecast for period </a:t>
                </a:r>
                <a14:m>
                  <m:oMath xmlns:m="http://schemas.openxmlformats.org/officeDocument/2006/math">
                    <m:r>
                      <a:rPr lang="en-US" i="1" dirty="0" smtClean="0">
                        <a:latin typeface="Cambria Math" panose="02040503050406030204" pitchFamily="18" charset="0"/>
                      </a:rPr>
                      <m:t>𝑡</m:t>
                    </m:r>
                  </m:oMath>
                </a14:m>
                <a:r>
                  <a:rPr lang="en-US" dirty="0"/>
                  <a:t> made in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−1</m:t>
                    </m:r>
                  </m:oMath>
                </a14:m>
                <a:endParaRPr lang="en-US" dirty="0"/>
              </a:p>
            </p:txBody>
          </p:sp>
        </mc:Choice>
        <mc:Fallback xmlns="">
          <p:sp>
            <p:nvSpPr>
              <p:cNvPr id="16" name="TextBox 15">
                <a:extLst>
                  <a:ext uri="{FF2B5EF4-FFF2-40B4-BE49-F238E27FC236}">
                    <a16:creationId xmlns:a16="http://schemas.microsoft.com/office/drawing/2014/main" id="{8FD4B008-90BC-8BBE-F95F-4397AEA38A4E}"/>
                  </a:ext>
                </a:extLst>
              </p:cNvPr>
              <p:cNvSpPr txBox="1">
                <a:spLocks noRot="1" noChangeAspect="1" noMove="1" noResize="1" noEditPoints="1" noAdjustHandles="1" noChangeArrowheads="1" noChangeShapeType="1" noTextEdit="1"/>
              </p:cNvSpPr>
              <p:nvPr/>
            </p:nvSpPr>
            <p:spPr>
              <a:xfrm>
                <a:off x="6868674" y="2759539"/>
                <a:ext cx="2403230" cy="923330"/>
              </a:xfrm>
              <a:prstGeom prst="rect">
                <a:avLst/>
              </a:prstGeom>
              <a:blipFill>
                <a:blip r:embed="rId3"/>
                <a:stretch>
                  <a:fillRect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C85967-16D2-6D20-5474-53FF6D9EC0CA}"/>
                  </a:ext>
                </a:extLst>
              </p:cNvPr>
              <p:cNvSpPr txBox="1"/>
              <p:nvPr/>
            </p:nvSpPr>
            <p:spPr>
              <a:xfrm>
                <a:off x="4228385" y="2722258"/>
                <a:ext cx="1829499" cy="646331"/>
              </a:xfrm>
              <a:prstGeom prst="rect">
                <a:avLst/>
              </a:prstGeom>
              <a:noFill/>
            </p:spPr>
            <p:txBody>
              <a:bodyPr wrap="square" rtlCol="0">
                <a:spAutoFit/>
              </a:bodyPr>
              <a:lstStyle/>
              <a:p>
                <a:pPr algn="ctr"/>
                <a:r>
                  <a:rPr lang="en-US" dirty="0"/>
                  <a:t>Observed value of period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17" name="TextBox 16">
                <a:extLst>
                  <a:ext uri="{FF2B5EF4-FFF2-40B4-BE49-F238E27FC236}">
                    <a16:creationId xmlns:a16="http://schemas.microsoft.com/office/drawing/2014/main" id="{82C85967-16D2-6D20-5474-53FF6D9EC0CA}"/>
                  </a:ext>
                </a:extLst>
              </p:cNvPr>
              <p:cNvSpPr txBox="1">
                <a:spLocks noRot="1" noChangeAspect="1" noMove="1" noResize="1" noEditPoints="1" noAdjustHandles="1" noChangeArrowheads="1" noChangeShapeType="1" noTextEdit="1"/>
              </p:cNvSpPr>
              <p:nvPr/>
            </p:nvSpPr>
            <p:spPr>
              <a:xfrm>
                <a:off x="4228385" y="2722258"/>
                <a:ext cx="1829499" cy="646331"/>
              </a:xfrm>
              <a:prstGeom prst="rect">
                <a:avLst/>
              </a:prstGeom>
              <a:blipFill>
                <a:blip r:embed="rId4"/>
                <a:stretch>
                  <a:fillRect t="-5660" b="-14151"/>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7763BEC5-009F-76EA-047A-4FB8B91EF789}"/>
              </a:ext>
            </a:extLst>
          </p:cNvPr>
          <p:cNvPicPr>
            <a:picLocks noChangeAspect="1"/>
          </p:cNvPicPr>
          <p:nvPr/>
        </p:nvPicPr>
        <p:blipFill>
          <a:blip r:embed="rId5"/>
          <a:stretch>
            <a:fillRect/>
          </a:stretch>
        </p:blipFill>
        <p:spPr>
          <a:xfrm>
            <a:off x="1438765" y="4083148"/>
            <a:ext cx="7408737" cy="393272"/>
          </a:xfrm>
          <a:prstGeom prst="rect">
            <a:avLst/>
          </a:prstGeom>
        </p:spPr>
      </p:pic>
      <p:cxnSp>
        <p:nvCxnSpPr>
          <p:cNvPr id="19" name="Straight Arrow Connector 18">
            <a:extLst>
              <a:ext uri="{FF2B5EF4-FFF2-40B4-BE49-F238E27FC236}">
                <a16:creationId xmlns:a16="http://schemas.microsoft.com/office/drawing/2014/main" id="{D3DA8D79-8700-5088-9D40-529C72D6C8EA}"/>
              </a:ext>
            </a:extLst>
          </p:cNvPr>
          <p:cNvCxnSpPr>
            <a:cxnSpLocks/>
            <a:endCxn id="20" idx="0"/>
          </p:cNvCxnSpPr>
          <p:nvPr/>
        </p:nvCxnSpPr>
        <p:spPr>
          <a:xfrm flipH="1">
            <a:off x="7997784" y="4476420"/>
            <a:ext cx="548337" cy="252596"/>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1DDF001-8810-1BE7-77B3-BC59A5D20DA4}"/>
                  </a:ext>
                </a:extLst>
              </p:cNvPr>
              <p:cNvSpPr txBox="1"/>
              <p:nvPr/>
            </p:nvSpPr>
            <p:spPr>
              <a:xfrm>
                <a:off x="7079072" y="4729016"/>
                <a:ext cx="1837423" cy="923330"/>
              </a:xfrm>
              <a:prstGeom prst="rect">
                <a:avLst/>
              </a:prstGeom>
              <a:noFill/>
            </p:spPr>
            <p:txBody>
              <a:bodyPr wrap="square" rtlCol="0">
                <a:spAutoFit/>
              </a:bodyPr>
              <a:lstStyle/>
              <a:p>
                <a:pPr algn="ctr"/>
                <a:r>
                  <a:rPr lang="en-US" dirty="0"/>
                  <a:t>Previous trend estimate in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−1</m:t>
                    </m:r>
                  </m:oMath>
                </a14:m>
                <a:endParaRPr lang="en-US" dirty="0"/>
              </a:p>
            </p:txBody>
          </p:sp>
        </mc:Choice>
        <mc:Fallback xmlns="">
          <p:sp>
            <p:nvSpPr>
              <p:cNvPr id="20" name="TextBox 19">
                <a:extLst>
                  <a:ext uri="{FF2B5EF4-FFF2-40B4-BE49-F238E27FC236}">
                    <a16:creationId xmlns:a16="http://schemas.microsoft.com/office/drawing/2014/main" id="{F1DDF001-8810-1BE7-77B3-BC59A5D20DA4}"/>
                  </a:ext>
                </a:extLst>
              </p:cNvPr>
              <p:cNvSpPr txBox="1">
                <a:spLocks noRot="1" noChangeAspect="1" noMove="1" noResize="1" noEditPoints="1" noAdjustHandles="1" noChangeArrowheads="1" noChangeShapeType="1" noTextEdit="1"/>
              </p:cNvSpPr>
              <p:nvPr/>
            </p:nvSpPr>
            <p:spPr>
              <a:xfrm>
                <a:off x="7079072" y="4729016"/>
                <a:ext cx="1837423" cy="923330"/>
              </a:xfrm>
              <a:prstGeom prst="rect">
                <a:avLst/>
              </a:prstGeom>
              <a:blipFill>
                <a:blip r:embed="rId6"/>
                <a:stretch>
                  <a:fillRect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C37976F-0A3D-4786-D014-5EE3C69672C0}"/>
                  </a:ext>
                </a:extLst>
              </p:cNvPr>
              <p:cNvSpPr txBox="1"/>
              <p:nvPr/>
            </p:nvSpPr>
            <p:spPr>
              <a:xfrm>
                <a:off x="4703200" y="4738011"/>
                <a:ext cx="2177542" cy="923330"/>
              </a:xfrm>
              <a:prstGeom prst="rect">
                <a:avLst/>
              </a:prstGeom>
              <a:noFill/>
            </p:spPr>
            <p:txBody>
              <a:bodyPr wrap="square" rtlCol="0">
                <a:spAutoFit/>
              </a:bodyPr>
              <a:lstStyle/>
              <a:p>
                <a:pPr algn="ctr"/>
                <a:r>
                  <a:rPr lang="en-US" dirty="0"/>
                  <a:t>Estimated trend moving from period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oMath>
                </a14:m>
                <a:r>
                  <a:rPr lang="en-US" dirty="0"/>
                  <a:t> to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21" name="TextBox 20">
                <a:extLst>
                  <a:ext uri="{FF2B5EF4-FFF2-40B4-BE49-F238E27FC236}">
                    <a16:creationId xmlns:a16="http://schemas.microsoft.com/office/drawing/2014/main" id="{2C37976F-0A3D-4786-D014-5EE3C69672C0}"/>
                  </a:ext>
                </a:extLst>
              </p:cNvPr>
              <p:cNvSpPr txBox="1">
                <a:spLocks noRot="1" noChangeAspect="1" noMove="1" noResize="1" noEditPoints="1" noAdjustHandles="1" noChangeArrowheads="1" noChangeShapeType="1" noTextEdit="1"/>
              </p:cNvSpPr>
              <p:nvPr/>
            </p:nvSpPr>
            <p:spPr>
              <a:xfrm>
                <a:off x="4703200" y="4738011"/>
                <a:ext cx="2177542" cy="923330"/>
              </a:xfrm>
              <a:prstGeom prst="rect">
                <a:avLst/>
              </a:prstGeom>
              <a:blipFill>
                <a:blip r:embed="rId7"/>
                <a:stretch>
                  <a:fillRect t="-3289" r="-1120" b="-9211"/>
                </a:stretch>
              </a:blipFill>
            </p:spPr>
            <p:txBody>
              <a:bodyPr/>
              <a:lstStyle/>
              <a:p>
                <a:r>
                  <a:rPr lang="en-US">
                    <a:noFill/>
                  </a:rPr>
                  <a:t> </a:t>
                </a:r>
              </a:p>
            </p:txBody>
          </p:sp>
        </mc:Fallback>
      </mc:AlternateContent>
      <p:sp>
        <p:nvSpPr>
          <p:cNvPr id="22" name="Right Brace 21">
            <a:extLst>
              <a:ext uri="{FF2B5EF4-FFF2-40B4-BE49-F238E27FC236}">
                <a16:creationId xmlns:a16="http://schemas.microsoft.com/office/drawing/2014/main" id="{6290BCA6-3DD6-4F39-A26F-8D6C2D58C9D4}"/>
              </a:ext>
            </a:extLst>
          </p:cNvPr>
          <p:cNvSpPr/>
          <p:nvPr/>
        </p:nvSpPr>
        <p:spPr>
          <a:xfrm rot="16200000" flipH="1">
            <a:off x="6064360" y="3968389"/>
            <a:ext cx="339969" cy="1268659"/>
          </a:xfrm>
          <a:prstGeom prst="rightBrace">
            <a:avLst>
              <a:gd name="adj1" fmla="val 8333"/>
              <a:gd name="adj2" fmla="val 24235"/>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23" name="Curved Right Arrow 15">
            <a:extLst>
              <a:ext uri="{FF2B5EF4-FFF2-40B4-BE49-F238E27FC236}">
                <a16:creationId xmlns:a16="http://schemas.microsoft.com/office/drawing/2014/main" id="{67281976-0DC4-D5C3-BC47-F73BB36AB36C}"/>
              </a:ext>
            </a:extLst>
          </p:cNvPr>
          <p:cNvSpPr/>
          <p:nvPr/>
        </p:nvSpPr>
        <p:spPr>
          <a:xfrm>
            <a:off x="782150" y="2452568"/>
            <a:ext cx="480646" cy="18192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BED3D50C-AFFA-60D8-6EFF-B4FF56F1BE81}"/>
              </a:ext>
            </a:extLst>
          </p:cNvPr>
          <p:cNvSpPr txBox="1"/>
          <p:nvPr/>
        </p:nvSpPr>
        <p:spPr>
          <a:xfrm>
            <a:off x="1375007" y="2737473"/>
            <a:ext cx="2396003" cy="1200329"/>
          </a:xfrm>
          <a:prstGeom prst="rect">
            <a:avLst/>
          </a:prstGeom>
          <a:noFill/>
        </p:spPr>
        <p:txBody>
          <a:bodyPr wrap="square" rtlCol="0">
            <a:spAutoFit/>
          </a:bodyPr>
          <a:lstStyle/>
          <a:p>
            <a:r>
              <a:rPr lang="en-US" dirty="0"/>
              <a:t>First, calculate the latest level estimate, then calculate the latest trend estimate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08030B5-68E2-390A-835D-501917865FF9}"/>
                  </a:ext>
                </a:extLst>
              </p:cNvPr>
              <p:cNvSpPr txBox="1"/>
              <p:nvPr/>
            </p:nvSpPr>
            <p:spPr>
              <a:xfrm>
                <a:off x="9190813" y="1897595"/>
                <a:ext cx="1983066" cy="923330"/>
              </a:xfrm>
              <a:prstGeom prst="rect">
                <a:avLst/>
              </a:prstGeom>
              <a:noFill/>
              <a:ln>
                <a:solidFill>
                  <a:schemeClr val="tx1"/>
                </a:solidFill>
              </a:ln>
            </p:spPr>
            <p:txBody>
              <a:bodyPr wrap="square" rtlCol="0">
                <a:spAutoFit/>
              </a:bodyPr>
              <a:lstStyle/>
              <a:p>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is the smoothing parameter for level, </a:t>
                </a:r>
                <a14:m>
                  <m:oMath xmlns:m="http://schemas.openxmlformats.org/officeDocument/2006/math">
                    <m:r>
                      <a:rPr lang="en-US" b="0" i="1" smtClean="0">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≤1</m:t>
                    </m:r>
                  </m:oMath>
                </a14:m>
                <a:endParaRPr lang="en-US" dirty="0">
                  <a:solidFill>
                    <a:schemeClr val="tx1"/>
                  </a:solidFill>
                </a:endParaRPr>
              </a:p>
            </p:txBody>
          </p:sp>
        </mc:Choice>
        <mc:Fallback xmlns="">
          <p:sp>
            <p:nvSpPr>
              <p:cNvPr id="26" name="TextBox 25">
                <a:extLst>
                  <a:ext uri="{FF2B5EF4-FFF2-40B4-BE49-F238E27FC236}">
                    <a16:creationId xmlns:a16="http://schemas.microsoft.com/office/drawing/2014/main" id="{B08030B5-68E2-390A-835D-501917865FF9}"/>
                  </a:ext>
                </a:extLst>
              </p:cNvPr>
              <p:cNvSpPr txBox="1">
                <a:spLocks noRot="1" noChangeAspect="1" noMove="1" noResize="1" noEditPoints="1" noAdjustHandles="1" noChangeArrowheads="1" noChangeShapeType="1" noTextEdit="1"/>
              </p:cNvSpPr>
              <p:nvPr/>
            </p:nvSpPr>
            <p:spPr>
              <a:xfrm>
                <a:off x="9190813" y="1897595"/>
                <a:ext cx="1983066" cy="923330"/>
              </a:xfrm>
              <a:prstGeom prst="rect">
                <a:avLst/>
              </a:prstGeom>
              <a:blipFill>
                <a:blip r:embed="rId8"/>
                <a:stretch>
                  <a:fillRect l="-2446" t="-2597" r="-2141" b="-8442"/>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398EA69-5EBA-8B52-81A9-F9CC4BA83D30}"/>
                  </a:ext>
                </a:extLst>
              </p:cNvPr>
              <p:cNvSpPr txBox="1"/>
              <p:nvPr/>
            </p:nvSpPr>
            <p:spPr>
              <a:xfrm>
                <a:off x="9190813" y="3971068"/>
                <a:ext cx="2059532" cy="923330"/>
              </a:xfrm>
              <a:prstGeom prst="rect">
                <a:avLst/>
              </a:prstGeom>
              <a:noFill/>
              <a:ln>
                <a:solidFill>
                  <a:schemeClr val="tx1"/>
                </a:solidFill>
              </a:ln>
            </p:spPr>
            <p:txBody>
              <a:bodyPr wrap="square" rtlCol="0">
                <a:spAutoFit/>
              </a:bodyPr>
              <a:lstStyle/>
              <a:p>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𝛽</m:t>
                        </m:r>
                      </m:e>
                      <m:sup>
                        <m:r>
                          <a:rPr lang="en-US" b="0" i="1" smtClean="0">
                            <a:solidFill>
                              <a:schemeClr val="tx1"/>
                            </a:solidFill>
                            <a:latin typeface="Cambria Math" panose="02040503050406030204" pitchFamily="18" charset="0"/>
                          </a:rPr>
                          <m:t>∗</m:t>
                        </m:r>
                      </m:sup>
                    </m:sSup>
                  </m:oMath>
                </a14:m>
                <a:r>
                  <a:rPr lang="en-US" dirty="0">
                    <a:solidFill>
                      <a:schemeClr val="tx1"/>
                    </a:solidFill>
                  </a:rPr>
                  <a:t> is the smoothing parameter for trend, </a:t>
                </a:r>
                <a14:m>
                  <m:oMath xmlns:m="http://schemas.openxmlformats.org/officeDocument/2006/math">
                    <m:r>
                      <a:rPr lang="en-US" b="0" i="1" smtClean="0">
                        <a:solidFill>
                          <a:schemeClr val="tx1"/>
                        </a:solidFill>
                        <a:latin typeface="Cambria Math" panose="02040503050406030204" pitchFamily="18" charset="0"/>
                      </a:rPr>
                      <m:t>0≤</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r>
                      <a:rPr lang="en-US" b="0" i="1" smtClean="0">
                        <a:solidFill>
                          <a:schemeClr val="tx1"/>
                        </a:solidFill>
                        <a:latin typeface="Cambria Math" panose="02040503050406030204" pitchFamily="18" charset="0"/>
                      </a:rPr>
                      <m:t>≤1</m:t>
                    </m:r>
                  </m:oMath>
                </a14:m>
                <a:endParaRPr lang="en-US" dirty="0">
                  <a:solidFill>
                    <a:schemeClr val="bg2"/>
                  </a:solidFill>
                </a:endParaRPr>
              </a:p>
            </p:txBody>
          </p:sp>
        </mc:Choice>
        <mc:Fallback xmlns="">
          <p:sp>
            <p:nvSpPr>
              <p:cNvPr id="27" name="TextBox 26">
                <a:extLst>
                  <a:ext uri="{FF2B5EF4-FFF2-40B4-BE49-F238E27FC236}">
                    <a16:creationId xmlns:a16="http://schemas.microsoft.com/office/drawing/2014/main" id="{B398EA69-5EBA-8B52-81A9-F9CC4BA83D30}"/>
                  </a:ext>
                </a:extLst>
              </p:cNvPr>
              <p:cNvSpPr txBox="1">
                <a:spLocks noRot="1" noChangeAspect="1" noMove="1" noResize="1" noEditPoints="1" noAdjustHandles="1" noChangeArrowheads="1" noChangeShapeType="1" noTextEdit="1"/>
              </p:cNvSpPr>
              <p:nvPr/>
            </p:nvSpPr>
            <p:spPr>
              <a:xfrm>
                <a:off x="9190813" y="3971068"/>
                <a:ext cx="2059532" cy="923330"/>
              </a:xfrm>
              <a:prstGeom prst="rect">
                <a:avLst/>
              </a:prstGeom>
              <a:blipFill>
                <a:blip r:embed="rId9"/>
                <a:stretch>
                  <a:fillRect l="-2353" t="-2597" r="-2647" b="-8442"/>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62432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20" grpId="0"/>
      <p:bldP spid="21" grpId="0"/>
      <p:bldP spid="22" grpId="0" animBg="1"/>
      <p:bldP spid="23" grpId="0" animBg="1"/>
      <p:bldP spid="24" grpId="0"/>
      <p:bldP spid="26" grpId="0" animBg="1"/>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Linear Trend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Holt’s Method: Updating with new data</a:t>
                </a:r>
              </a:p>
              <a:p>
                <a:pPr lvl="1"/>
                <a:r>
                  <a:rPr lang="en-US" kern="0" dirty="0"/>
                  <a:t>In period </a:t>
                </a:r>
                <a14:m>
                  <m:oMath xmlns:m="http://schemas.openxmlformats.org/officeDocument/2006/math">
                    <m:r>
                      <a:rPr lang="en-US" i="1" kern="0" dirty="0" smtClean="0">
                        <a:latin typeface="Cambria Math" panose="02040503050406030204" pitchFamily="18" charset="0"/>
                      </a:rPr>
                      <m:t>𝑡</m:t>
                    </m:r>
                  </m:oMath>
                </a14:m>
                <a:r>
                  <a:rPr lang="en-US" kern="0" dirty="0"/>
                  <a:t> after observing </a:t>
                </a:r>
                <a14:m>
                  <m:oMath xmlns:m="http://schemas.openxmlformats.org/officeDocument/2006/math">
                    <m:sSub>
                      <m:sSubPr>
                        <m:ctrlPr>
                          <a:rPr lang="en-US" i="1" kern="0" smtClean="0">
                            <a:latin typeface="Cambria Math" panose="02040503050406030204" pitchFamily="18" charset="0"/>
                          </a:rPr>
                        </m:ctrlPr>
                      </m:sSubPr>
                      <m:e>
                        <m:r>
                          <a:rPr lang="en-US" b="0" i="1" kern="0" smtClean="0">
                            <a:latin typeface="Cambria Math" panose="02040503050406030204" pitchFamily="18" charset="0"/>
                          </a:rPr>
                          <m:t>𝑦</m:t>
                        </m:r>
                      </m:e>
                      <m:sub>
                        <m:r>
                          <a:rPr lang="en-US" b="0" i="1" kern="0" smtClean="0">
                            <a:latin typeface="Cambria Math" panose="02040503050406030204" pitchFamily="18" charset="0"/>
                          </a:rPr>
                          <m:t>𝑡</m:t>
                        </m:r>
                      </m:sub>
                    </m:sSub>
                  </m:oMath>
                </a14:m>
                <a:r>
                  <a:rPr lang="en-US" kern="0" dirty="0"/>
                  <a:t>:</a:t>
                </a:r>
              </a:p>
              <a:p>
                <a:pPr lvl="1"/>
                <a:endParaRPr lang="en-US" kern="0" dirty="0"/>
              </a:p>
              <a:p>
                <a:pPr lvl="1"/>
                <a:endParaRPr lang="en-US" kern="0" dirty="0"/>
              </a:p>
              <a:p>
                <a:pPr lvl="1"/>
                <a:endParaRPr lang="en-US" kern="0" dirty="0"/>
              </a:p>
              <a:p>
                <a:pPr lvl="7"/>
                <a:endParaRPr lang="en-US" kern="0" dirty="0"/>
              </a:p>
              <a:p>
                <a:pPr lvl="1"/>
                <a:r>
                  <a:rPr lang="en-US" kern="0" dirty="0"/>
                  <a:t>Suppose we observe </a:t>
                </a:r>
                <a14:m>
                  <m:oMath xmlns:m="http://schemas.openxmlformats.org/officeDocument/2006/math">
                    <m:sSub>
                      <m:sSubPr>
                        <m:ctrlPr>
                          <a:rPr lang="en-US" i="1" kern="0">
                            <a:latin typeface="Cambria Math" panose="02040503050406030204" pitchFamily="18" charset="0"/>
                          </a:rPr>
                        </m:ctrlPr>
                      </m:sSubPr>
                      <m:e>
                        <m:r>
                          <a:rPr lang="en-US" i="1" kern="0">
                            <a:latin typeface="Cambria Math" panose="02040503050406030204" pitchFamily="18" charset="0"/>
                          </a:rPr>
                          <m:t>𝑦</m:t>
                        </m:r>
                      </m:e>
                      <m:sub>
                        <m:r>
                          <a:rPr lang="en-US" i="1" kern="0">
                            <a:latin typeface="Cambria Math" panose="02040503050406030204" pitchFamily="18" charset="0"/>
                          </a:rPr>
                          <m:t>𝑡</m:t>
                        </m:r>
                        <m:r>
                          <a:rPr lang="en-US" b="0" i="1" kern="0" smtClean="0">
                            <a:latin typeface="Cambria Math" panose="02040503050406030204" pitchFamily="18" charset="0"/>
                          </a:rPr>
                          <m:t>+1</m:t>
                        </m:r>
                      </m:sub>
                    </m:sSub>
                  </m:oMath>
                </a14:m>
                <a:endParaRPr lang="en-US" kern="0" dirty="0"/>
              </a:p>
              <a:p>
                <a:pPr lvl="2"/>
                <a:r>
                  <a:rPr lang="en-US" kern="0" dirty="0"/>
                  <a:t>Update level estimate: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ℓ</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𝛼</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+(1−</m:t>
                    </m:r>
                    <m:r>
                      <a:rPr lang="en-US" sz="2000" b="0" i="1" smtClean="0">
                        <a:latin typeface="Cambria Math" panose="02040503050406030204" pitchFamily="18" charset="0"/>
                      </a:rPr>
                      <m:t>𝛼</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ℓ</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oMath>
                </a14:m>
                <a:endParaRPr lang="en-US" kern="0" dirty="0"/>
              </a:p>
              <a:p>
                <a:pPr lvl="2"/>
                <a:r>
                  <a:rPr lang="en-US" kern="0" dirty="0"/>
                  <a:t>Update trend estimate: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𝛽</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ℓ</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ℓ</m:t>
                        </m:r>
                      </m:e>
                      <m:sub>
                        <m:r>
                          <a:rPr lang="en-US" sz="2000" i="1">
                            <a:latin typeface="Cambria Math" panose="02040503050406030204" pitchFamily="18" charset="0"/>
                          </a:rPr>
                          <m:t>𝑡</m:t>
                        </m:r>
                      </m:sub>
                    </m:sSub>
                    <m:r>
                      <a:rPr lang="en-US" sz="2000" b="0" i="1" smtClean="0">
                        <a:latin typeface="Cambria Math" panose="02040503050406030204" pitchFamily="18" charset="0"/>
                      </a:rPr>
                      <m:t>)+(1−</m:t>
                    </m:r>
                    <m:sSup>
                      <m:sSupPr>
                        <m:ctrlPr>
                          <a:rPr lang="en-US" sz="2000" i="1">
                            <a:latin typeface="Cambria Math" panose="02040503050406030204" pitchFamily="18" charset="0"/>
                          </a:rPr>
                        </m:ctrlPr>
                      </m:sSupPr>
                      <m:e>
                        <m:r>
                          <a:rPr lang="en-US" sz="2000" i="1">
                            <a:latin typeface="Cambria Math" panose="02040503050406030204" pitchFamily="18" charset="0"/>
                          </a:rPr>
                          <m:t>𝛽</m:t>
                        </m:r>
                      </m:e>
                      <m:sup>
                        <m:r>
                          <a:rPr lang="en-US" sz="2000" i="1">
                            <a:latin typeface="Cambria Math" panose="02040503050406030204" pitchFamily="18" charset="0"/>
                          </a:rPr>
                          <m:t>∗</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𝑡</m:t>
                        </m:r>
                      </m:sub>
                    </m:sSub>
                  </m:oMath>
                </a14:m>
                <a:endParaRPr lang="en-US" kern="0" dirty="0"/>
              </a:p>
              <a:p>
                <a:pPr lvl="2"/>
                <a:r>
                  <a:rPr lang="en-US" kern="0" dirty="0"/>
                  <a:t>Calculate the forecasts: </a:t>
                </a:r>
                <a14:m>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𝑡</m:t>
                        </m:r>
                        <m:r>
                          <a:rPr lang="en-US" sz="2000" b="0" i="1" smtClean="0">
                            <a:latin typeface="Cambria Math" panose="02040503050406030204" pitchFamily="18" charset="0"/>
                          </a:rPr>
                          <m:t>+1+</m:t>
                        </m:r>
                        <m:r>
                          <a:rPr lang="en-US" sz="2000" b="0" i="1" smtClean="0">
                            <a:latin typeface="Cambria Math" panose="02040503050406030204" pitchFamily="18" charset="0"/>
                          </a:rPr>
                          <m:t>h</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ℓ</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h</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i="1">
                            <a:latin typeface="Cambria Math" panose="02040503050406030204" pitchFamily="18" charset="0"/>
                          </a:rPr>
                          <m:t>𝑡</m:t>
                        </m:r>
                        <m:r>
                          <a:rPr lang="en-US" sz="2000" i="1">
                            <a:latin typeface="Cambria Math" panose="02040503050406030204" pitchFamily="18" charset="0"/>
                          </a:rPr>
                          <m:t>+1</m:t>
                        </m:r>
                      </m:sub>
                    </m:sSub>
                  </m:oMath>
                </a14:m>
                <a:endParaRPr lang="en-US" kern="0" dirty="0"/>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lvl="1"/>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6B588A84-020B-9FD5-0964-5983AE8DD287}"/>
              </a:ext>
            </a:extLst>
          </p:cNvPr>
          <p:cNvPicPr>
            <a:picLocks noChangeAspect="1"/>
          </p:cNvPicPr>
          <p:nvPr/>
        </p:nvPicPr>
        <p:blipFill>
          <a:blip r:embed="rId3"/>
          <a:stretch>
            <a:fillRect/>
          </a:stretch>
        </p:blipFill>
        <p:spPr>
          <a:xfrm>
            <a:off x="2541058" y="2978363"/>
            <a:ext cx="4257675" cy="409575"/>
          </a:xfrm>
          <a:prstGeom prst="rect">
            <a:avLst/>
          </a:prstGeom>
        </p:spPr>
      </p:pic>
      <p:pic>
        <p:nvPicPr>
          <p:cNvPr id="3" name="Picture 2">
            <a:extLst>
              <a:ext uri="{FF2B5EF4-FFF2-40B4-BE49-F238E27FC236}">
                <a16:creationId xmlns:a16="http://schemas.microsoft.com/office/drawing/2014/main" id="{C637E482-FFF2-D370-E374-24D5D01ED605}"/>
              </a:ext>
            </a:extLst>
          </p:cNvPr>
          <p:cNvPicPr>
            <a:picLocks noChangeAspect="1"/>
          </p:cNvPicPr>
          <p:nvPr/>
        </p:nvPicPr>
        <p:blipFill>
          <a:blip r:embed="rId4"/>
          <a:stretch>
            <a:fillRect/>
          </a:stretch>
        </p:blipFill>
        <p:spPr>
          <a:xfrm>
            <a:off x="2388658" y="2298152"/>
            <a:ext cx="5562600" cy="381000"/>
          </a:xfrm>
          <a:prstGeom prst="rect">
            <a:avLst/>
          </a:prstGeom>
        </p:spPr>
      </p:pic>
      <p:pic>
        <p:nvPicPr>
          <p:cNvPr id="4" name="Picture 3">
            <a:extLst>
              <a:ext uri="{FF2B5EF4-FFF2-40B4-BE49-F238E27FC236}">
                <a16:creationId xmlns:a16="http://schemas.microsoft.com/office/drawing/2014/main" id="{A55988ED-282D-E7D3-414D-D03DCC218C61}"/>
              </a:ext>
            </a:extLst>
          </p:cNvPr>
          <p:cNvPicPr>
            <a:picLocks noChangeAspect="1"/>
          </p:cNvPicPr>
          <p:nvPr/>
        </p:nvPicPr>
        <p:blipFill>
          <a:blip r:embed="rId5"/>
          <a:stretch>
            <a:fillRect/>
          </a:stretch>
        </p:blipFill>
        <p:spPr>
          <a:xfrm>
            <a:off x="2541058" y="2652545"/>
            <a:ext cx="5562600" cy="381000"/>
          </a:xfrm>
          <a:prstGeom prst="rect">
            <a:avLst/>
          </a:prstGeom>
        </p:spPr>
      </p:pic>
    </p:spTree>
    <p:extLst>
      <p:ext uri="{BB962C8B-B14F-4D97-AF65-F5344CB8AC3E}">
        <p14:creationId xmlns:p14="http://schemas.microsoft.com/office/powerpoint/2010/main" val="223166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Method Example</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a:t>
            </a:r>
          </a:p>
          <a:p>
            <a:pPr lvl="1"/>
            <a:r>
              <a:rPr lang="en-US" dirty="0"/>
              <a:t>The sales data is given below</a:t>
            </a:r>
          </a:p>
          <a:p>
            <a:pPr lvl="1"/>
            <a:endParaRPr lang="en-US" b="1" dirty="0">
              <a:solidFill>
                <a:schemeClr val="tx1"/>
              </a:solidFill>
            </a:endParaRPr>
          </a:p>
          <a:p>
            <a:pPr lvl="2"/>
            <a:endParaRPr lang="en-US" dirty="0">
              <a:solidFill>
                <a:schemeClr val="bg2"/>
              </a:solidFill>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24567C3-AFC8-2DBD-C577-073ACC7ABAE1}"/>
                  </a:ext>
                </a:extLst>
              </p:cNvPr>
              <p:cNvGraphicFramePr>
                <a:graphicFrameLocks noGrp="1"/>
              </p:cNvGraphicFramePr>
              <p:nvPr>
                <p:extLst>
                  <p:ext uri="{D42A27DB-BD31-4B8C-83A1-F6EECF244321}">
                    <p14:modId xmlns:p14="http://schemas.microsoft.com/office/powerpoint/2010/main" val="2535328920"/>
                  </p:ext>
                </p:extLst>
              </p:nvPr>
            </p:nvGraphicFramePr>
            <p:xfrm>
              <a:off x="1874840" y="2313728"/>
              <a:ext cx="1942028" cy="3231839"/>
            </p:xfrm>
            <a:graphic>
              <a:graphicData uri="http://schemas.openxmlformats.org/drawingml/2006/table">
                <a:tbl>
                  <a:tblPr>
                    <a:tableStyleId>{BDBED569-4797-4DF1-A0F4-6AAB3CD982D8}</a:tableStyleId>
                  </a:tblPr>
                  <a:tblGrid>
                    <a:gridCol w="971014">
                      <a:extLst>
                        <a:ext uri="{9D8B030D-6E8A-4147-A177-3AD203B41FA5}">
                          <a16:colId xmlns:a16="http://schemas.microsoft.com/office/drawing/2014/main" val="30276441"/>
                        </a:ext>
                      </a:extLst>
                    </a:gridCol>
                    <a:gridCol w="971014">
                      <a:extLst>
                        <a:ext uri="{9D8B030D-6E8A-4147-A177-3AD203B41FA5}">
                          <a16:colId xmlns:a16="http://schemas.microsoft.com/office/drawing/2014/main" val="1980739467"/>
                        </a:ext>
                      </a:extLst>
                    </a:gridCol>
                  </a:tblGrid>
                  <a:tr h="180975">
                    <a:tc>
                      <a:txBody>
                        <a:bodyPr/>
                        <a:lstStyle/>
                        <a:p>
                          <a:pPr algn="ctr" fontAlgn="b"/>
                          <a:r>
                            <a:rPr lang="en-US" sz="1600" b="1" u="none" strike="noStrike" dirty="0">
                              <a:effectLst/>
                              <a:latin typeface="+mn-lt"/>
                            </a:rPr>
                            <a:t>Period (</a:t>
                          </a:r>
                          <a14:m>
                            <m:oMath xmlns:m="http://schemas.openxmlformats.org/officeDocument/2006/math">
                              <m:r>
                                <a:rPr lang="en-US" sz="1600" b="1" i="1" u="none" strike="noStrike" smtClean="0">
                                  <a:effectLst/>
                                  <a:latin typeface="Cambria Math" panose="02040503050406030204" pitchFamily="18" charset="0"/>
                                </a:rPr>
                                <m:t>𝒕</m:t>
                              </m:r>
                            </m:oMath>
                          </a14:m>
                          <a:r>
                            <a:rPr lang="en-US" sz="1600" b="1" i="0" u="none" strike="noStrike" dirty="0">
                              <a:solidFill>
                                <a:schemeClr val="tx1"/>
                              </a:solidFill>
                              <a:effectLst/>
                              <a:latin typeface="+mn-lt"/>
                            </a:rPr>
                            <a:t>)</a:t>
                          </a:r>
                        </a:p>
                      </a:txBody>
                      <a:tcPr marL="4763" marR="4763" marT="4763" marB="0" anchor="b">
                        <a:solidFill>
                          <a:schemeClr val="accent1"/>
                        </a:solidFill>
                      </a:tcPr>
                    </a:tc>
                    <a:tc>
                      <a:txBody>
                        <a:bodyPr/>
                        <a:lstStyle/>
                        <a:p>
                          <a:pPr algn="ctr" fontAlgn="b"/>
                          <a:r>
                            <a:rPr lang="en-US" sz="1600" b="1" u="none" strike="noStrike" dirty="0">
                              <a:effectLst/>
                              <a:latin typeface="+mn-lt"/>
                            </a:rPr>
                            <a:t>Sales (</a:t>
                          </a:r>
                          <a14:m>
                            <m:oMath xmlns:m="http://schemas.openxmlformats.org/officeDocument/2006/math">
                              <m:sSub>
                                <m:sSubPr>
                                  <m:ctrlPr>
                                    <a:rPr lang="en-US" sz="1600" b="1" i="1" u="none" strike="noStrike" smtClean="0">
                                      <a:effectLst/>
                                      <a:latin typeface="Cambria Math" panose="02040503050406030204" pitchFamily="18" charset="0"/>
                                    </a:rPr>
                                  </m:ctrlPr>
                                </m:sSubPr>
                                <m:e>
                                  <m:r>
                                    <a:rPr lang="en-US" sz="1600" b="1" i="1" u="none" strike="noStrike" smtClean="0">
                                      <a:effectLst/>
                                      <a:latin typeface="Cambria Math" panose="02040503050406030204" pitchFamily="18" charset="0"/>
                                    </a:rPr>
                                    <m:t>𝒚</m:t>
                                  </m:r>
                                </m:e>
                                <m:sub>
                                  <m:r>
                                    <a:rPr lang="en-US" sz="1600" b="1" i="1" u="none" strike="noStrike" smtClean="0">
                                      <a:effectLst/>
                                      <a:latin typeface="Cambria Math" panose="02040503050406030204" pitchFamily="18" charset="0"/>
                                    </a:rPr>
                                    <m:t>𝒕</m:t>
                                  </m:r>
                                </m:sub>
                              </m:sSub>
                            </m:oMath>
                          </a14:m>
                          <a:r>
                            <a:rPr lang="en-US" sz="1600" b="1" i="0" u="none" strike="noStrike" dirty="0">
                              <a:solidFill>
                                <a:schemeClr val="tx1"/>
                              </a:solidFill>
                              <a:effectLst/>
                              <a:latin typeface="+mn-lt"/>
                            </a:rPr>
                            <a:t>)</a:t>
                          </a:r>
                        </a:p>
                      </a:txBody>
                      <a:tcPr marL="4763" marR="4763" marT="4763" marB="0" anchor="b">
                        <a:solidFill>
                          <a:schemeClr val="accent1"/>
                        </a:solidFill>
                      </a:tcPr>
                    </a:tc>
                    <a:extLst>
                      <a:ext uri="{0D108BD9-81ED-4DB2-BD59-A6C34878D82A}">
                        <a16:rowId xmlns:a16="http://schemas.microsoft.com/office/drawing/2014/main" val="3483021223"/>
                      </a:ext>
                    </a:extLst>
                  </a:tr>
                  <a:tr h="180975">
                    <a:tc>
                      <a:txBody>
                        <a:bodyPr/>
                        <a:lstStyle/>
                        <a:p>
                          <a:pPr algn="ctr" fontAlgn="b"/>
                          <a:r>
                            <a:rPr lang="en-US" sz="1600" u="none" strike="noStrike" dirty="0">
                              <a:effectLst/>
                              <a:latin typeface="+mn-lt"/>
                            </a:rPr>
                            <a:t>1</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8200</a:t>
                          </a:r>
                        </a:p>
                      </a:txBody>
                      <a:tcPr marL="4763" marR="4763" marT="4763" marB="0" anchor="b"/>
                    </a:tc>
                    <a:extLst>
                      <a:ext uri="{0D108BD9-81ED-4DB2-BD59-A6C34878D82A}">
                        <a16:rowId xmlns:a16="http://schemas.microsoft.com/office/drawing/2014/main" val="1234203618"/>
                      </a:ext>
                    </a:extLst>
                  </a:tr>
                  <a:tr h="180975">
                    <a:tc>
                      <a:txBody>
                        <a:bodyPr/>
                        <a:lstStyle/>
                        <a:p>
                          <a:pPr algn="ctr" fontAlgn="b"/>
                          <a:r>
                            <a:rPr lang="en-US" sz="1600" u="none" strike="noStrike">
                              <a:effectLst/>
                              <a:latin typeface="+mn-lt"/>
                            </a:rPr>
                            <a:t>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9000</a:t>
                          </a:r>
                        </a:p>
                      </a:txBody>
                      <a:tcPr marL="4763" marR="4763" marT="4763" marB="0" anchor="b"/>
                    </a:tc>
                    <a:extLst>
                      <a:ext uri="{0D108BD9-81ED-4DB2-BD59-A6C34878D82A}">
                        <a16:rowId xmlns:a16="http://schemas.microsoft.com/office/drawing/2014/main" val="2916977977"/>
                      </a:ext>
                    </a:extLst>
                  </a:tr>
                  <a:tr h="180975">
                    <a:tc>
                      <a:txBody>
                        <a:bodyPr/>
                        <a:lstStyle/>
                        <a:p>
                          <a:pPr algn="ctr" fontAlgn="b"/>
                          <a:r>
                            <a:rPr lang="en-US" sz="1600" u="none" strike="noStrike">
                              <a:effectLst/>
                              <a:latin typeface="+mn-lt"/>
                            </a:rPr>
                            <a:t>3</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9600</a:t>
                          </a:r>
                        </a:p>
                      </a:txBody>
                      <a:tcPr marL="4763" marR="4763" marT="4763" marB="0" anchor="b"/>
                    </a:tc>
                    <a:extLst>
                      <a:ext uri="{0D108BD9-81ED-4DB2-BD59-A6C34878D82A}">
                        <a16:rowId xmlns:a16="http://schemas.microsoft.com/office/drawing/2014/main" val="1200305489"/>
                      </a:ext>
                    </a:extLst>
                  </a:tr>
                  <a:tr h="180975">
                    <a:tc>
                      <a:txBody>
                        <a:bodyPr/>
                        <a:lstStyle/>
                        <a:p>
                          <a:pPr algn="ctr" fontAlgn="b"/>
                          <a:r>
                            <a:rPr lang="en-US" sz="1600" u="none" strike="noStrike">
                              <a:effectLst/>
                              <a:latin typeface="+mn-lt"/>
                            </a:rPr>
                            <a:t>4</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10500</a:t>
                          </a:r>
                        </a:p>
                      </a:txBody>
                      <a:tcPr marL="4763" marR="4763" marT="4763" marB="0" anchor="b"/>
                    </a:tc>
                    <a:extLst>
                      <a:ext uri="{0D108BD9-81ED-4DB2-BD59-A6C34878D82A}">
                        <a16:rowId xmlns:a16="http://schemas.microsoft.com/office/drawing/2014/main" val="2048154535"/>
                      </a:ext>
                    </a:extLst>
                  </a:tr>
                  <a:tr h="180975">
                    <a:tc>
                      <a:txBody>
                        <a:bodyPr/>
                        <a:lstStyle/>
                        <a:p>
                          <a:pPr algn="ctr" fontAlgn="b"/>
                          <a:r>
                            <a:rPr lang="en-US" sz="1600" u="none" strike="noStrike" dirty="0">
                              <a:effectLst/>
                              <a:latin typeface="+mn-lt"/>
                            </a:rPr>
                            <a:t>5</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11050</a:t>
                          </a:r>
                        </a:p>
                      </a:txBody>
                      <a:tcPr marL="4763" marR="4763" marT="4763" marB="0" anchor="b"/>
                    </a:tc>
                    <a:extLst>
                      <a:ext uri="{0D108BD9-81ED-4DB2-BD59-A6C34878D82A}">
                        <a16:rowId xmlns:a16="http://schemas.microsoft.com/office/drawing/2014/main" val="1593181830"/>
                      </a:ext>
                    </a:extLst>
                  </a:tr>
                  <a:tr h="180975">
                    <a:tc>
                      <a:txBody>
                        <a:bodyPr/>
                        <a:lstStyle/>
                        <a:p>
                          <a:pPr algn="ctr" fontAlgn="b"/>
                          <a:r>
                            <a:rPr lang="en-US" sz="1600" u="none" strike="noStrike">
                              <a:effectLst/>
                              <a:latin typeface="+mn-lt"/>
                            </a:rPr>
                            <a:t>6</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11850</a:t>
                          </a:r>
                        </a:p>
                      </a:txBody>
                      <a:tcPr marL="4763" marR="4763" marT="4763" marB="0" anchor="b"/>
                    </a:tc>
                    <a:extLst>
                      <a:ext uri="{0D108BD9-81ED-4DB2-BD59-A6C34878D82A}">
                        <a16:rowId xmlns:a16="http://schemas.microsoft.com/office/drawing/2014/main" val="2317954057"/>
                      </a:ext>
                    </a:extLst>
                  </a:tr>
                  <a:tr h="180975">
                    <a:tc>
                      <a:txBody>
                        <a:bodyPr/>
                        <a:lstStyle/>
                        <a:p>
                          <a:pPr algn="ctr" fontAlgn="b"/>
                          <a:r>
                            <a:rPr lang="en-US" sz="1600" u="none" strike="noStrike">
                              <a:effectLst/>
                              <a:latin typeface="+mn-lt"/>
                            </a:rPr>
                            <a:t>7</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12800</a:t>
                          </a:r>
                        </a:p>
                      </a:txBody>
                      <a:tcPr marL="4763" marR="4763" marT="4763" marB="0" anchor="b"/>
                    </a:tc>
                    <a:extLst>
                      <a:ext uri="{0D108BD9-81ED-4DB2-BD59-A6C34878D82A}">
                        <a16:rowId xmlns:a16="http://schemas.microsoft.com/office/drawing/2014/main" val="3306553591"/>
                      </a:ext>
                    </a:extLst>
                  </a:tr>
                  <a:tr h="180975">
                    <a:tc>
                      <a:txBody>
                        <a:bodyPr/>
                        <a:lstStyle/>
                        <a:p>
                          <a:pPr algn="ctr" fontAlgn="b"/>
                          <a:r>
                            <a:rPr lang="en-US" sz="1600" u="none" strike="noStrike">
                              <a:effectLst/>
                              <a:latin typeface="+mn-lt"/>
                            </a:rPr>
                            <a:t>8</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13650</a:t>
                          </a:r>
                        </a:p>
                      </a:txBody>
                      <a:tcPr marL="4763" marR="4763" marT="4763" marB="0" anchor="b"/>
                    </a:tc>
                    <a:extLst>
                      <a:ext uri="{0D108BD9-81ED-4DB2-BD59-A6C34878D82A}">
                        <a16:rowId xmlns:a16="http://schemas.microsoft.com/office/drawing/2014/main" val="2573584559"/>
                      </a:ext>
                    </a:extLst>
                  </a:tr>
                  <a:tr h="180975">
                    <a:tc>
                      <a:txBody>
                        <a:bodyPr/>
                        <a:lstStyle/>
                        <a:p>
                          <a:pPr algn="ctr" fontAlgn="b"/>
                          <a:r>
                            <a:rPr lang="en-US" sz="1600" u="none" strike="noStrike">
                              <a:effectLst/>
                              <a:latin typeface="+mn-lt"/>
                            </a:rPr>
                            <a:t>9</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14690</a:t>
                          </a:r>
                        </a:p>
                      </a:txBody>
                      <a:tcPr marL="4763" marR="4763" marT="4763" marB="0" anchor="b"/>
                    </a:tc>
                    <a:extLst>
                      <a:ext uri="{0D108BD9-81ED-4DB2-BD59-A6C34878D82A}">
                        <a16:rowId xmlns:a16="http://schemas.microsoft.com/office/drawing/2014/main" val="1588498382"/>
                      </a:ext>
                    </a:extLst>
                  </a:tr>
                  <a:tr h="180975">
                    <a:tc>
                      <a:txBody>
                        <a:bodyPr/>
                        <a:lstStyle/>
                        <a:p>
                          <a:pPr algn="ctr" fontAlgn="b"/>
                          <a:r>
                            <a:rPr lang="en-US" sz="1600" u="none" strike="noStrike">
                              <a:effectLst/>
                              <a:latin typeface="+mn-lt"/>
                            </a:rPr>
                            <a:t>10</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15700</a:t>
                          </a:r>
                        </a:p>
                      </a:txBody>
                      <a:tcPr marL="4763" marR="4763" marT="4763" marB="0" anchor="b"/>
                    </a:tc>
                    <a:extLst>
                      <a:ext uri="{0D108BD9-81ED-4DB2-BD59-A6C34878D82A}">
                        <a16:rowId xmlns:a16="http://schemas.microsoft.com/office/drawing/2014/main" val="2438190601"/>
                      </a:ext>
                    </a:extLst>
                  </a:tr>
                  <a:tr h="180975">
                    <a:tc>
                      <a:txBody>
                        <a:bodyPr/>
                        <a:lstStyle/>
                        <a:p>
                          <a:pPr algn="ctr" fontAlgn="b"/>
                          <a:r>
                            <a:rPr lang="en-US" sz="1600" u="none" strike="noStrike">
                              <a:effectLst/>
                              <a:latin typeface="+mn-lt"/>
                            </a:rPr>
                            <a:t>11</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16840</a:t>
                          </a:r>
                        </a:p>
                      </a:txBody>
                      <a:tcPr marL="4763" marR="4763" marT="4763" marB="0" anchor="b"/>
                    </a:tc>
                    <a:extLst>
                      <a:ext uri="{0D108BD9-81ED-4DB2-BD59-A6C34878D82A}">
                        <a16:rowId xmlns:a16="http://schemas.microsoft.com/office/drawing/2014/main" val="4107173979"/>
                      </a:ext>
                    </a:extLst>
                  </a:tr>
                  <a:tr h="180975">
                    <a:tc>
                      <a:txBody>
                        <a:bodyPr/>
                        <a:lstStyle/>
                        <a:p>
                          <a:pPr algn="ctr" fontAlgn="b"/>
                          <a:r>
                            <a:rPr lang="en-US" sz="1600" u="none" strike="noStrike">
                              <a:effectLst/>
                              <a:latin typeface="+mn-lt"/>
                            </a:rPr>
                            <a:t>12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18000</a:t>
                          </a:r>
                        </a:p>
                      </a:txBody>
                      <a:tcPr marL="4763" marR="4763" marT="4763" marB="0" anchor="b"/>
                    </a:tc>
                    <a:extLst>
                      <a:ext uri="{0D108BD9-81ED-4DB2-BD59-A6C34878D82A}">
                        <a16:rowId xmlns:a16="http://schemas.microsoft.com/office/drawing/2014/main" val="2279971800"/>
                      </a:ext>
                    </a:extLst>
                  </a:tr>
                </a:tbl>
              </a:graphicData>
            </a:graphic>
          </p:graphicFrame>
        </mc:Choice>
        <mc:Fallback xmlns="">
          <p:graphicFrame>
            <p:nvGraphicFramePr>
              <p:cNvPr id="2" name="Table 1">
                <a:extLst>
                  <a:ext uri="{FF2B5EF4-FFF2-40B4-BE49-F238E27FC236}">
                    <a16:creationId xmlns:a16="http://schemas.microsoft.com/office/drawing/2014/main" id="{E24567C3-AFC8-2DBD-C577-073ACC7ABAE1}"/>
                  </a:ext>
                </a:extLst>
              </p:cNvPr>
              <p:cNvGraphicFramePr>
                <a:graphicFrameLocks noGrp="1"/>
              </p:cNvGraphicFramePr>
              <p:nvPr>
                <p:extLst>
                  <p:ext uri="{D42A27DB-BD31-4B8C-83A1-F6EECF244321}">
                    <p14:modId xmlns:p14="http://schemas.microsoft.com/office/powerpoint/2010/main" val="2535328920"/>
                  </p:ext>
                </p:extLst>
              </p:nvPr>
            </p:nvGraphicFramePr>
            <p:xfrm>
              <a:off x="1874840" y="2313728"/>
              <a:ext cx="1942028" cy="3231839"/>
            </p:xfrm>
            <a:graphic>
              <a:graphicData uri="http://schemas.openxmlformats.org/drawingml/2006/table">
                <a:tbl>
                  <a:tblPr>
                    <a:tableStyleId>{BDBED569-4797-4DF1-A0F4-6AAB3CD982D8}</a:tableStyleId>
                  </a:tblPr>
                  <a:tblGrid>
                    <a:gridCol w="971014">
                      <a:extLst>
                        <a:ext uri="{9D8B030D-6E8A-4147-A177-3AD203B41FA5}">
                          <a16:colId xmlns:a16="http://schemas.microsoft.com/office/drawing/2014/main" val="30276441"/>
                        </a:ext>
                      </a:extLst>
                    </a:gridCol>
                    <a:gridCol w="971014">
                      <a:extLst>
                        <a:ext uri="{9D8B030D-6E8A-4147-A177-3AD203B41FA5}">
                          <a16:colId xmlns:a16="http://schemas.microsoft.com/office/drawing/2014/main" val="1980739467"/>
                        </a:ext>
                      </a:extLst>
                    </a:gridCol>
                  </a:tblGrid>
                  <a:tr h="248603">
                    <a:tc>
                      <a:txBody>
                        <a:bodyPr/>
                        <a:lstStyle/>
                        <a:p>
                          <a:endParaRPr lang="en-US"/>
                        </a:p>
                      </a:txBody>
                      <a:tcPr marL="4763" marR="4763" marT="4763" marB="0" anchor="b">
                        <a:blipFill>
                          <a:blip r:embed="rId2"/>
                          <a:stretch>
                            <a:fillRect l="-625" t="-19512" r="-101250" b="-1246341"/>
                          </a:stretch>
                        </a:blipFill>
                      </a:tcPr>
                    </a:tc>
                    <a:tc>
                      <a:txBody>
                        <a:bodyPr/>
                        <a:lstStyle/>
                        <a:p>
                          <a:endParaRPr lang="en-US"/>
                        </a:p>
                      </a:txBody>
                      <a:tcPr marL="4763" marR="4763" marT="4763" marB="0" anchor="b">
                        <a:blipFill>
                          <a:blip r:embed="rId2"/>
                          <a:stretch>
                            <a:fillRect l="-100625" t="-19512" r="-1250" b="-1246341"/>
                          </a:stretch>
                        </a:blipFill>
                      </a:tcPr>
                    </a:tc>
                    <a:extLst>
                      <a:ext uri="{0D108BD9-81ED-4DB2-BD59-A6C34878D82A}">
                        <a16:rowId xmlns:a16="http://schemas.microsoft.com/office/drawing/2014/main" val="3483021223"/>
                      </a:ext>
                    </a:extLst>
                  </a:tr>
                  <a:tr h="248603">
                    <a:tc>
                      <a:txBody>
                        <a:bodyPr/>
                        <a:lstStyle/>
                        <a:p>
                          <a:pPr algn="ctr" fontAlgn="b"/>
                          <a:r>
                            <a:rPr lang="en-US" sz="1600" u="none" strike="noStrike" dirty="0">
                              <a:effectLst/>
                              <a:latin typeface="+mn-lt"/>
                            </a:rPr>
                            <a:t>1</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8200</a:t>
                          </a:r>
                        </a:p>
                      </a:txBody>
                      <a:tcPr marL="4763" marR="4763" marT="4763" marB="0" anchor="b"/>
                    </a:tc>
                    <a:extLst>
                      <a:ext uri="{0D108BD9-81ED-4DB2-BD59-A6C34878D82A}">
                        <a16:rowId xmlns:a16="http://schemas.microsoft.com/office/drawing/2014/main" val="1234203618"/>
                      </a:ext>
                    </a:extLst>
                  </a:tr>
                  <a:tr h="248603">
                    <a:tc>
                      <a:txBody>
                        <a:bodyPr/>
                        <a:lstStyle/>
                        <a:p>
                          <a:pPr algn="ctr" fontAlgn="b"/>
                          <a:r>
                            <a:rPr lang="en-US" sz="1600" u="none" strike="noStrike">
                              <a:effectLst/>
                              <a:latin typeface="+mn-lt"/>
                            </a:rPr>
                            <a:t>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9000</a:t>
                          </a:r>
                        </a:p>
                      </a:txBody>
                      <a:tcPr marL="4763" marR="4763" marT="4763" marB="0" anchor="b"/>
                    </a:tc>
                    <a:extLst>
                      <a:ext uri="{0D108BD9-81ED-4DB2-BD59-A6C34878D82A}">
                        <a16:rowId xmlns:a16="http://schemas.microsoft.com/office/drawing/2014/main" val="2916977977"/>
                      </a:ext>
                    </a:extLst>
                  </a:tr>
                  <a:tr h="248603">
                    <a:tc>
                      <a:txBody>
                        <a:bodyPr/>
                        <a:lstStyle/>
                        <a:p>
                          <a:pPr algn="ctr" fontAlgn="b"/>
                          <a:r>
                            <a:rPr lang="en-US" sz="1600" u="none" strike="noStrike">
                              <a:effectLst/>
                              <a:latin typeface="+mn-lt"/>
                            </a:rPr>
                            <a:t>3</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9600</a:t>
                          </a:r>
                        </a:p>
                      </a:txBody>
                      <a:tcPr marL="4763" marR="4763" marT="4763" marB="0" anchor="b"/>
                    </a:tc>
                    <a:extLst>
                      <a:ext uri="{0D108BD9-81ED-4DB2-BD59-A6C34878D82A}">
                        <a16:rowId xmlns:a16="http://schemas.microsoft.com/office/drawing/2014/main" val="1200305489"/>
                      </a:ext>
                    </a:extLst>
                  </a:tr>
                  <a:tr h="248603">
                    <a:tc>
                      <a:txBody>
                        <a:bodyPr/>
                        <a:lstStyle/>
                        <a:p>
                          <a:pPr algn="ctr" fontAlgn="b"/>
                          <a:r>
                            <a:rPr lang="en-US" sz="1600" u="none" strike="noStrike">
                              <a:effectLst/>
                              <a:latin typeface="+mn-lt"/>
                            </a:rPr>
                            <a:t>4</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10500</a:t>
                          </a:r>
                        </a:p>
                      </a:txBody>
                      <a:tcPr marL="4763" marR="4763" marT="4763" marB="0" anchor="b"/>
                    </a:tc>
                    <a:extLst>
                      <a:ext uri="{0D108BD9-81ED-4DB2-BD59-A6C34878D82A}">
                        <a16:rowId xmlns:a16="http://schemas.microsoft.com/office/drawing/2014/main" val="2048154535"/>
                      </a:ext>
                    </a:extLst>
                  </a:tr>
                  <a:tr h="248603">
                    <a:tc>
                      <a:txBody>
                        <a:bodyPr/>
                        <a:lstStyle/>
                        <a:p>
                          <a:pPr algn="ctr" fontAlgn="b"/>
                          <a:r>
                            <a:rPr lang="en-US" sz="1600" u="none" strike="noStrike" dirty="0">
                              <a:effectLst/>
                              <a:latin typeface="+mn-lt"/>
                            </a:rPr>
                            <a:t>5</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11050</a:t>
                          </a:r>
                        </a:p>
                      </a:txBody>
                      <a:tcPr marL="4763" marR="4763" marT="4763" marB="0" anchor="b"/>
                    </a:tc>
                    <a:extLst>
                      <a:ext uri="{0D108BD9-81ED-4DB2-BD59-A6C34878D82A}">
                        <a16:rowId xmlns:a16="http://schemas.microsoft.com/office/drawing/2014/main" val="1593181830"/>
                      </a:ext>
                    </a:extLst>
                  </a:tr>
                  <a:tr h="248603">
                    <a:tc>
                      <a:txBody>
                        <a:bodyPr/>
                        <a:lstStyle/>
                        <a:p>
                          <a:pPr algn="ctr" fontAlgn="b"/>
                          <a:r>
                            <a:rPr lang="en-US" sz="1600" u="none" strike="noStrike">
                              <a:effectLst/>
                              <a:latin typeface="+mn-lt"/>
                            </a:rPr>
                            <a:t>6</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11850</a:t>
                          </a:r>
                        </a:p>
                      </a:txBody>
                      <a:tcPr marL="4763" marR="4763" marT="4763" marB="0" anchor="b"/>
                    </a:tc>
                    <a:extLst>
                      <a:ext uri="{0D108BD9-81ED-4DB2-BD59-A6C34878D82A}">
                        <a16:rowId xmlns:a16="http://schemas.microsoft.com/office/drawing/2014/main" val="2317954057"/>
                      </a:ext>
                    </a:extLst>
                  </a:tr>
                  <a:tr h="248603">
                    <a:tc>
                      <a:txBody>
                        <a:bodyPr/>
                        <a:lstStyle/>
                        <a:p>
                          <a:pPr algn="ctr" fontAlgn="b"/>
                          <a:r>
                            <a:rPr lang="en-US" sz="1600" u="none" strike="noStrike">
                              <a:effectLst/>
                              <a:latin typeface="+mn-lt"/>
                            </a:rPr>
                            <a:t>7</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12800</a:t>
                          </a:r>
                        </a:p>
                      </a:txBody>
                      <a:tcPr marL="4763" marR="4763" marT="4763" marB="0" anchor="b"/>
                    </a:tc>
                    <a:extLst>
                      <a:ext uri="{0D108BD9-81ED-4DB2-BD59-A6C34878D82A}">
                        <a16:rowId xmlns:a16="http://schemas.microsoft.com/office/drawing/2014/main" val="3306553591"/>
                      </a:ext>
                    </a:extLst>
                  </a:tr>
                  <a:tr h="248603">
                    <a:tc>
                      <a:txBody>
                        <a:bodyPr/>
                        <a:lstStyle/>
                        <a:p>
                          <a:pPr algn="ctr" fontAlgn="b"/>
                          <a:r>
                            <a:rPr lang="en-US" sz="1600" u="none" strike="noStrike">
                              <a:effectLst/>
                              <a:latin typeface="+mn-lt"/>
                            </a:rPr>
                            <a:t>8</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13650</a:t>
                          </a:r>
                        </a:p>
                      </a:txBody>
                      <a:tcPr marL="4763" marR="4763" marT="4763" marB="0" anchor="b"/>
                    </a:tc>
                    <a:extLst>
                      <a:ext uri="{0D108BD9-81ED-4DB2-BD59-A6C34878D82A}">
                        <a16:rowId xmlns:a16="http://schemas.microsoft.com/office/drawing/2014/main" val="2573584559"/>
                      </a:ext>
                    </a:extLst>
                  </a:tr>
                  <a:tr h="248603">
                    <a:tc>
                      <a:txBody>
                        <a:bodyPr/>
                        <a:lstStyle/>
                        <a:p>
                          <a:pPr algn="ctr" fontAlgn="b"/>
                          <a:r>
                            <a:rPr lang="en-US" sz="1600" u="none" strike="noStrike">
                              <a:effectLst/>
                              <a:latin typeface="+mn-lt"/>
                            </a:rPr>
                            <a:t>9</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14690</a:t>
                          </a:r>
                        </a:p>
                      </a:txBody>
                      <a:tcPr marL="4763" marR="4763" marT="4763" marB="0" anchor="b"/>
                    </a:tc>
                    <a:extLst>
                      <a:ext uri="{0D108BD9-81ED-4DB2-BD59-A6C34878D82A}">
                        <a16:rowId xmlns:a16="http://schemas.microsoft.com/office/drawing/2014/main" val="1588498382"/>
                      </a:ext>
                    </a:extLst>
                  </a:tr>
                  <a:tr h="248603">
                    <a:tc>
                      <a:txBody>
                        <a:bodyPr/>
                        <a:lstStyle/>
                        <a:p>
                          <a:pPr algn="ctr" fontAlgn="b"/>
                          <a:r>
                            <a:rPr lang="en-US" sz="1600" u="none" strike="noStrike">
                              <a:effectLst/>
                              <a:latin typeface="+mn-lt"/>
                            </a:rPr>
                            <a:t>10</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15700</a:t>
                          </a:r>
                        </a:p>
                      </a:txBody>
                      <a:tcPr marL="4763" marR="4763" marT="4763" marB="0" anchor="b"/>
                    </a:tc>
                    <a:extLst>
                      <a:ext uri="{0D108BD9-81ED-4DB2-BD59-A6C34878D82A}">
                        <a16:rowId xmlns:a16="http://schemas.microsoft.com/office/drawing/2014/main" val="2438190601"/>
                      </a:ext>
                    </a:extLst>
                  </a:tr>
                  <a:tr h="248603">
                    <a:tc>
                      <a:txBody>
                        <a:bodyPr/>
                        <a:lstStyle/>
                        <a:p>
                          <a:pPr algn="ctr" fontAlgn="b"/>
                          <a:r>
                            <a:rPr lang="en-US" sz="1600" u="none" strike="noStrike">
                              <a:effectLst/>
                              <a:latin typeface="+mn-lt"/>
                            </a:rPr>
                            <a:t>11</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16840</a:t>
                          </a:r>
                        </a:p>
                      </a:txBody>
                      <a:tcPr marL="4763" marR="4763" marT="4763" marB="0" anchor="b"/>
                    </a:tc>
                    <a:extLst>
                      <a:ext uri="{0D108BD9-81ED-4DB2-BD59-A6C34878D82A}">
                        <a16:rowId xmlns:a16="http://schemas.microsoft.com/office/drawing/2014/main" val="4107173979"/>
                      </a:ext>
                    </a:extLst>
                  </a:tr>
                  <a:tr h="248603">
                    <a:tc>
                      <a:txBody>
                        <a:bodyPr/>
                        <a:lstStyle/>
                        <a:p>
                          <a:pPr algn="ctr" fontAlgn="b"/>
                          <a:r>
                            <a:rPr lang="en-US" sz="1600" u="none" strike="noStrike">
                              <a:effectLst/>
                              <a:latin typeface="+mn-lt"/>
                            </a:rPr>
                            <a:t>12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18000</a:t>
                          </a:r>
                        </a:p>
                      </a:txBody>
                      <a:tcPr marL="4763" marR="4763" marT="4763" marB="0" anchor="b"/>
                    </a:tc>
                    <a:extLst>
                      <a:ext uri="{0D108BD9-81ED-4DB2-BD59-A6C34878D82A}">
                        <a16:rowId xmlns:a16="http://schemas.microsoft.com/office/drawing/2014/main" val="2279971800"/>
                      </a:ext>
                    </a:extLst>
                  </a:tr>
                </a:tbl>
              </a:graphicData>
            </a:graphic>
          </p:graphicFrame>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2A44F50-3785-63E9-ED20-B2F26017E2DC}"/>
                  </a:ext>
                </a:extLst>
              </p:cNvPr>
              <p:cNvSpPr txBox="1"/>
              <p:nvPr/>
            </p:nvSpPr>
            <p:spPr>
              <a:xfrm>
                <a:off x="4094171" y="2751963"/>
                <a:ext cx="6096728" cy="2374624"/>
              </a:xfrm>
              <a:prstGeom prst="rect">
                <a:avLst/>
              </a:prstGeom>
              <a:noFill/>
            </p:spPr>
            <p:txBody>
              <a:bodyPr wrap="square">
                <a:spAutoFit/>
              </a:bodyPr>
              <a:lstStyle/>
              <a:p>
                <a:pPr marL="742950" lvl="1" indent="-285750">
                  <a:buFont typeface="Arial" panose="020B0604020202020204" pitchFamily="34" charset="0"/>
                  <a:buChar char="•"/>
                </a:pPr>
                <a:r>
                  <a:rPr lang="en-US" sz="2400" dirty="0">
                    <a:solidFill>
                      <a:schemeClr val="tx1"/>
                    </a:solidFill>
                  </a:rPr>
                  <a:t>We are in period 12, and observed  the sales to be 18,000 units</a:t>
                </a:r>
              </a:p>
              <a:p>
                <a:pPr marL="742950" lvl="1" indent="-285750">
                  <a:buFont typeface="Arial" panose="020B0604020202020204" pitchFamily="34" charset="0"/>
                  <a:buChar char="•"/>
                </a:pPr>
                <a:r>
                  <a:rPr lang="en-US" sz="2400" dirty="0">
                    <a:solidFill>
                      <a:schemeClr val="tx1"/>
                    </a:solidFill>
                  </a:rPr>
                  <a:t>Given we’re in period 12, what are the forecasts for period 13, 14, &amp; 15?</a:t>
                </a:r>
              </a:p>
              <a:p>
                <a:pPr marL="742950" lvl="1" indent="-285750">
                  <a:buFont typeface="Arial" panose="020B0604020202020204" pitchFamily="34" charset="0"/>
                  <a:buChar char="•"/>
                </a:pPr>
                <a:r>
                  <a:rPr lang="en-US" sz="2400" dirty="0">
                    <a:solidFill>
                      <a:schemeClr val="tx1"/>
                    </a:solidFill>
                  </a:rPr>
                  <a:t>That is, what are </a:t>
                </a:r>
                <a14:m>
                  <m:oMath xmlns:m="http://schemas.openxmlformats.org/officeDocument/2006/math">
                    <m:sSub>
                      <m:sSubPr>
                        <m:ctrlPr>
                          <a:rPr lang="en-US" sz="2400" b="0" i="1" smtClean="0">
                            <a:solidFill>
                              <a:schemeClr val="tx1"/>
                            </a:solidFill>
                            <a:latin typeface="Cambria Math" panose="02040503050406030204" pitchFamily="18" charset="0"/>
                          </a:rPr>
                        </m:ctrlPr>
                      </m:sSubPr>
                      <m:e>
                        <m:acc>
                          <m:accPr>
                            <m:chr m:val="̂"/>
                            <m:ctrlPr>
                              <a:rPr lang="en-US" sz="240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𝑦</m:t>
                            </m:r>
                          </m:e>
                        </m:acc>
                      </m:e>
                      <m:sub>
                        <m:r>
                          <a:rPr lang="en-US" sz="2400" b="0" i="1" smtClean="0">
                            <a:solidFill>
                              <a:schemeClr val="tx1"/>
                            </a:solidFill>
                            <a:latin typeface="Cambria Math" panose="02040503050406030204" pitchFamily="18" charset="0"/>
                          </a:rPr>
                          <m:t>13|12</m:t>
                        </m:r>
                      </m:sub>
                    </m:sSub>
                  </m:oMath>
                </a14:m>
                <a:r>
                  <a:rPr lang="en-US" sz="2400" dirty="0">
                    <a:solidFill>
                      <a:schemeClr val="tx1"/>
                    </a:solidFill>
                  </a:rPr>
                  <a:t>, </a:t>
                </a:r>
                <a14:m>
                  <m:oMath xmlns:m="http://schemas.openxmlformats.org/officeDocument/2006/math">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𝑦</m:t>
                            </m:r>
                          </m:e>
                        </m:acc>
                      </m:e>
                      <m:sub>
                        <m:r>
                          <a:rPr lang="en-US" sz="2400" b="0" i="1" smtClean="0">
                            <a:solidFill>
                              <a:schemeClr val="tx1"/>
                            </a:solidFill>
                            <a:latin typeface="Cambria Math" panose="02040503050406030204" pitchFamily="18" charset="0"/>
                          </a:rPr>
                          <m:t>14</m:t>
                        </m:r>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12</m:t>
                        </m:r>
                      </m:sub>
                    </m:sSub>
                  </m:oMath>
                </a14:m>
                <a:r>
                  <a:rPr lang="en-US" sz="2400" dirty="0">
                    <a:solidFill>
                      <a:schemeClr val="tx1"/>
                    </a:solidFill>
                  </a:rPr>
                  <a:t>, and </a:t>
                </a:r>
                <a14:m>
                  <m:oMath xmlns:m="http://schemas.openxmlformats.org/officeDocument/2006/math">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𝑦</m:t>
                            </m:r>
                          </m:e>
                        </m:acc>
                      </m:e>
                      <m:sub>
                        <m:r>
                          <a:rPr lang="en-US" sz="2400" b="0" i="1" smtClean="0">
                            <a:solidFill>
                              <a:schemeClr val="tx1"/>
                            </a:solidFill>
                            <a:latin typeface="Cambria Math" panose="02040503050406030204" pitchFamily="18" charset="0"/>
                          </a:rPr>
                          <m:t>15</m:t>
                        </m:r>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12</m:t>
                        </m:r>
                      </m:sub>
                    </m:sSub>
                  </m:oMath>
                </a14:m>
                <a:r>
                  <a:rPr lang="en-US" sz="2400" dirty="0">
                    <a:solidFill>
                      <a:schemeClr val="tx1"/>
                    </a:solidFill>
                  </a:rPr>
                  <a:t>?</a:t>
                </a:r>
              </a:p>
            </p:txBody>
          </p:sp>
        </mc:Choice>
        <mc:Fallback xmlns="">
          <p:sp>
            <p:nvSpPr>
              <p:cNvPr id="4" name="TextBox 3">
                <a:extLst>
                  <a:ext uri="{FF2B5EF4-FFF2-40B4-BE49-F238E27FC236}">
                    <a16:creationId xmlns:a16="http://schemas.microsoft.com/office/drawing/2014/main" id="{82A44F50-3785-63E9-ED20-B2F26017E2DC}"/>
                  </a:ext>
                </a:extLst>
              </p:cNvPr>
              <p:cNvSpPr txBox="1">
                <a:spLocks noRot="1" noChangeAspect="1" noMove="1" noResize="1" noEditPoints="1" noAdjustHandles="1" noChangeArrowheads="1" noChangeShapeType="1" noTextEdit="1"/>
              </p:cNvSpPr>
              <p:nvPr/>
            </p:nvSpPr>
            <p:spPr>
              <a:xfrm>
                <a:off x="4094171" y="2751963"/>
                <a:ext cx="6096728" cy="2374624"/>
              </a:xfrm>
              <a:prstGeom prst="rect">
                <a:avLst/>
              </a:prstGeom>
              <a:blipFill>
                <a:blip r:embed="rId3"/>
                <a:stretch>
                  <a:fillRect t="-2051" b="-3590"/>
                </a:stretch>
              </a:blipFill>
            </p:spPr>
            <p:txBody>
              <a:bodyPr/>
              <a:lstStyle/>
              <a:p>
                <a:r>
                  <a:rPr lang="en-US">
                    <a:noFill/>
                  </a:rPr>
                  <a:t> </a:t>
                </a:r>
              </a:p>
            </p:txBody>
          </p:sp>
        </mc:Fallback>
      </mc:AlternateContent>
    </p:spTree>
    <p:extLst>
      <p:ext uri="{BB962C8B-B14F-4D97-AF65-F5344CB8AC3E}">
        <p14:creationId xmlns:p14="http://schemas.microsoft.com/office/powerpoint/2010/main" val="3908907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Method Example</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a:t>
                </a:r>
              </a:p>
              <a:p>
                <a:pPr lvl="1"/>
                <a:r>
                  <a:rPr lang="en-US" dirty="0">
                    <a:solidFill>
                      <a:schemeClr val="tx1"/>
                    </a:solidFill>
                  </a:rPr>
                  <a:t>The sales data has an increasing trend and no seasonality</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r>
                  <a:rPr lang="en-US" dirty="0">
                    <a:solidFill>
                      <a:schemeClr val="tx1"/>
                    </a:solidFill>
                  </a:rPr>
                  <a:t>We’ll use Holt’s method with </a:t>
                </a:r>
                <a14:m>
                  <m:oMath xmlns:m="http://schemas.openxmlformats.org/officeDocument/2006/math">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=0.1</m:t>
                    </m:r>
                  </m:oMath>
                </a14:m>
                <a:r>
                  <a:rPr lang="en-US" dirty="0">
                    <a:solidFill>
                      <a:schemeClr val="tx1"/>
                    </a:solidFill>
                  </a:rPr>
                  <a:t> and </a:t>
                </a:r>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𝛽</m:t>
                        </m:r>
                      </m:e>
                      <m:sup>
                        <m:r>
                          <a:rPr lang="en-US" b="0" i="1" smtClean="0">
                            <a:solidFill>
                              <a:schemeClr val="tx1"/>
                            </a:solidFill>
                            <a:latin typeface="Cambria Math" panose="02040503050406030204" pitchFamily="18" charset="0"/>
                          </a:rPr>
                          <m:t>∗</m:t>
                        </m:r>
                      </m:sup>
                    </m:sSup>
                    <m:r>
                      <a:rPr lang="en-US" b="0" i="1" smtClean="0">
                        <a:solidFill>
                          <a:schemeClr val="tx1"/>
                        </a:solidFill>
                        <a:latin typeface="Cambria Math" panose="02040503050406030204" pitchFamily="18" charset="0"/>
                      </a:rPr>
                      <m:t>=0.2</m:t>
                    </m:r>
                  </m:oMath>
                </a14:m>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50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E036DDC-78EC-61C0-12C1-531C8C55986B}"/>
              </a:ext>
            </a:extLst>
          </p:cNvPr>
          <p:cNvPicPr>
            <a:picLocks noChangeAspect="1"/>
          </p:cNvPicPr>
          <p:nvPr/>
        </p:nvPicPr>
        <p:blipFill>
          <a:blip r:embed="rId3"/>
          <a:stretch>
            <a:fillRect/>
          </a:stretch>
        </p:blipFill>
        <p:spPr>
          <a:xfrm>
            <a:off x="4198145" y="2313728"/>
            <a:ext cx="5168988" cy="3225541"/>
          </a:xfrm>
          <a:prstGeom prst="rect">
            <a:avLst/>
          </a:prstGeom>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01DE5CE-FFC8-CFFF-3472-2D006BB9E43C}"/>
                  </a:ext>
                </a:extLst>
              </p:cNvPr>
              <p:cNvGraphicFramePr>
                <a:graphicFrameLocks noGrp="1"/>
              </p:cNvGraphicFramePr>
              <p:nvPr>
                <p:extLst>
                  <p:ext uri="{D42A27DB-BD31-4B8C-83A1-F6EECF244321}">
                    <p14:modId xmlns:p14="http://schemas.microsoft.com/office/powerpoint/2010/main" val="1714908431"/>
                  </p:ext>
                </p:extLst>
              </p:nvPr>
            </p:nvGraphicFramePr>
            <p:xfrm>
              <a:off x="1874840" y="2313728"/>
              <a:ext cx="1942028" cy="3231839"/>
            </p:xfrm>
            <a:graphic>
              <a:graphicData uri="http://schemas.openxmlformats.org/drawingml/2006/table">
                <a:tbl>
                  <a:tblPr>
                    <a:tableStyleId>{BDBED569-4797-4DF1-A0F4-6AAB3CD982D8}</a:tableStyleId>
                  </a:tblPr>
                  <a:tblGrid>
                    <a:gridCol w="971014">
                      <a:extLst>
                        <a:ext uri="{9D8B030D-6E8A-4147-A177-3AD203B41FA5}">
                          <a16:colId xmlns:a16="http://schemas.microsoft.com/office/drawing/2014/main" val="30276441"/>
                        </a:ext>
                      </a:extLst>
                    </a:gridCol>
                    <a:gridCol w="971014">
                      <a:extLst>
                        <a:ext uri="{9D8B030D-6E8A-4147-A177-3AD203B41FA5}">
                          <a16:colId xmlns:a16="http://schemas.microsoft.com/office/drawing/2014/main" val="1980739467"/>
                        </a:ext>
                      </a:extLst>
                    </a:gridCol>
                  </a:tblGrid>
                  <a:tr h="180975">
                    <a:tc>
                      <a:txBody>
                        <a:bodyPr/>
                        <a:lstStyle/>
                        <a:p>
                          <a:pPr algn="ctr" fontAlgn="b"/>
                          <a:r>
                            <a:rPr lang="en-US" sz="1600" b="1" u="none" strike="noStrike" dirty="0">
                              <a:effectLst/>
                              <a:latin typeface="+mn-lt"/>
                            </a:rPr>
                            <a:t>Period (</a:t>
                          </a:r>
                          <a14:m>
                            <m:oMath xmlns:m="http://schemas.openxmlformats.org/officeDocument/2006/math">
                              <m:r>
                                <a:rPr lang="en-US" sz="1600" b="1" i="1" u="none" strike="noStrike" smtClean="0">
                                  <a:effectLst/>
                                  <a:latin typeface="Cambria Math" panose="02040503050406030204" pitchFamily="18" charset="0"/>
                                </a:rPr>
                                <m:t>𝒕</m:t>
                              </m:r>
                            </m:oMath>
                          </a14:m>
                          <a:r>
                            <a:rPr lang="en-US" sz="1600" b="1" i="0" u="none" strike="noStrike" dirty="0">
                              <a:solidFill>
                                <a:schemeClr val="tx1"/>
                              </a:solidFill>
                              <a:effectLst/>
                              <a:latin typeface="+mn-lt"/>
                            </a:rPr>
                            <a:t>)</a:t>
                          </a:r>
                        </a:p>
                      </a:txBody>
                      <a:tcPr marL="4763" marR="4763" marT="4763" marB="0" anchor="b">
                        <a:solidFill>
                          <a:schemeClr val="accent1"/>
                        </a:solidFill>
                      </a:tcPr>
                    </a:tc>
                    <a:tc>
                      <a:txBody>
                        <a:bodyPr/>
                        <a:lstStyle/>
                        <a:p>
                          <a:pPr algn="ctr" fontAlgn="b"/>
                          <a:r>
                            <a:rPr lang="en-US" sz="1600" b="1" u="none" strike="noStrike" dirty="0">
                              <a:effectLst/>
                              <a:latin typeface="+mn-lt"/>
                            </a:rPr>
                            <a:t>Sales (</a:t>
                          </a:r>
                          <a14:m>
                            <m:oMath xmlns:m="http://schemas.openxmlformats.org/officeDocument/2006/math">
                              <m:sSub>
                                <m:sSubPr>
                                  <m:ctrlPr>
                                    <a:rPr lang="en-US" sz="1600" b="1" i="1" u="none" strike="noStrike" smtClean="0">
                                      <a:effectLst/>
                                      <a:latin typeface="Cambria Math" panose="02040503050406030204" pitchFamily="18" charset="0"/>
                                    </a:rPr>
                                  </m:ctrlPr>
                                </m:sSubPr>
                                <m:e>
                                  <m:r>
                                    <a:rPr lang="en-US" sz="1600" b="1" i="1" u="none" strike="noStrike" smtClean="0">
                                      <a:effectLst/>
                                      <a:latin typeface="Cambria Math" panose="02040503050406030204" pitchFamily="18" charset="0"/>
                                    </a:rPr>
                                    <m:t>𝒚</m:t>
                                  </m:r>
                                </m:e>
                                <m:sub>
                                  <m:r>
                                    <a:rPr lang="en-US" sz="1600" b="1" i="1" u="none" strike="noStrike" smtClean="0">
                                      <a:effectLst/>
                                      <a:latin typeface="Cambria Math" panose="02040503050406030204" pitchFamily="18" charset="0"/>
                                    </a:rPr>
                                    <m:t>𝒕</m:t>
                                  </m:r>
                                </m:sub>
                              </m:sSub>
                            </m:oMath>
                          </a14:m>
                          <a:r>
                            <a:rPr lang="en-US" sz="1600" b="1" i="0" u="none" strike="noStrike" dirty="0">
                              <a:solidFill>
                                <a:schemeClr val="tx1"/>
                              </a:solidFill>
                              <a:effectLst/>
                              <a:latin typeface="+mn-lt"/>
                            </a:rPr>
                            <a:t>)</a:t>
                          </a:r>
                        </a:p>
                      </a:txBody>
                      <a:tcPr marL="4763" marR="4763" marT="4763" marB="0" anchor="b">
                        <a:solidFill>
                          <a:schemeClr val="accent1"/>
                        </a:solidFill>
                      </a:tcPr>
                    </a:tc>
                    <a:extLst>
                      <a:ext uri="{0D108BD9-81ED-4DB2-BD59-A6C34878D82A}">
                        <a16:rowId xmlns:a16="http://schemas.microsoft.com/office/drawing/2014/main" val="3483021223"/>
                      </a:ext>
                    </a:extLst>
                  </a:tr>
                  <a:tr h="180975">
                    <a:tc>
                      <a:txBody>
                        <a:bodyPr/>
                        <a:lstStyle/>
                        <a:p>
                          <a:pPr algn="ctr" fontAlgn="b"/>
                          <a:r>
                            <a:rPr lang="en-US" sz="1600" u="none" strike="noStrike" dirty="0">
                              <a:effectLst/>
                              <a:latin typeface="+mn-lt"/>
                            </a:rPr>
                            <a:t>1</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8200</a:t>
                          </a:r>
                        </a:p>
                      </a:txBody>
                      <a:tcPr marL="4763" marR="4763" marT="4763" marB="0" anchor="b"/>
                    </a:tc>
                    <a:extLst>
                      <a:ext uri="{0D108BD9-81ED-4DB2-BD59-A6C34878D82A}">
                        <a16:rowId xmlns:a16="http://schemas.microsoft.com/office/drawing/2014/main" val="1234203618"/>
                      </a:ext>
                    </a:extLst>
                  </a:tr>
                  <a:tr h="180975">
                    <a:tc>
                      <a:txBody>
                        <a:bodyPr/>
                        <a:lstStyle/>
                        <a:p>
                          <a:pPr algn="ctr" fontAlgn="b"/>
                          <a:r>
                            <a:rPr lang="en-US" sz="1600" u="none" strike="noStrike">
                              <a:effectLst/>
                              <a:latin typeface="+mn-lt"/>
                            </a:rPr>
                            <a:t>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9000</a:t>
                          </a:r>
                        </a:p>
                      </a:txBody>
                      <a:tcPr marL="4763" marR="4763" marT="4763" marB="0" anchor="b"/>
                    </a:tc>
                    <a:extLst>
                      <a:ext uri="{0D108BD9-81ED-4DB2-BD59-A6C34878D82A}">
                        <a16:rowId xmlns:a16="http://schemas.microsoft.com/office/drawing/2014/main" val="2916977977"/>
                      </a:ext>
                    </a:extLst>
                  </a:tr>
                  <a:tr h="180975">
                    <a:tc>
                      <a:txBody>
                        <a:bodyPr/>
                        <a:lstStyle/>
                        <a:p>
                          <a:pPr algn="ctr" fontAlgn="b"/>
                          <a:r>
                            <a:rPr lang="en-US" sz="1600" u="none" strike="noStrike">
                              <a:effectLst/>
                              <a:latin typeface="+mn-lt"/>
                            </a:rPr>
                            <a:t>3</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9600</a:t>
                          </a:r>
                        </a:p>
                      </a:txBody>
                      <a:tcPr marL="4763" marR="4763" marT="4763" marB="0" anchor="b"/>
                    </a:tc>
                    <a:extLst>
                      <a:ext uri="{0D108BD9-81ED-4DB2-BD59-A6C34878D82A}">
                        <a16:rowId xmlns:a16="http://schemas.microsoft.com/office/drawing/2014/main" val="1200305489"/>
                      </a:ext>
                    </a:extLst>
                  </a:tr>
                  <a:tr h="180975">
                    <a:tc>
                      <a:txBody>
                        <a:bodyPr/>
                        <a:lstStyle/>
                        <a:p>
                          <a:pPr algn="ctr" fontAlgn="b"/>
                          <a:r>
                            <a:rPr lang="en-US" sz="1600" u="none" strike="noStrike">
                              <a:effectLst/>
                              <a:latin typeface="+mn-lt"/>
                            </a:rPr>
                            <a:t>4</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10500</a:t>
                          </a:r>
                        </a:p>
                      </a:txBody>
                      <a:tcPr marL="4763" marR="4763" marT="4763" marB="0" anchor="b"/>
                    </a:tc>
                    <a:extLst>
                      <a:ext uri="{0D108BD9-81ED-4DB2-BD59-A6C34878D82A}">
                        <a16:rowId xmlns:a16="http://schemas.microsoft.com/office/drawing/2014/main" val="2048154535"/>
                      </a:ext>
                    </a:extLst>
                  </a:tr>
                  <a:tr h="180975">
                    <a:tc>
                      <a:txBody>
                        <a:bodyPr/>
                        <a:lstStyle/>
                        <a:p>
                          <a:pPr algn="ctr" fontAlgn="b"/>
                          <a:r>
                            <a:rPr lang="en-US" sz="1600" u="none" strike="noStrike" dirty="0">
                              <a:effectLst/>
                              <a:latin typeface="+mn-lt"/>
                            </a:rPr>
                            <a:t>5</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11050</a:t>
                          </a:r>
                        </a:p>
                      </a:txBody>
                      <a:tcPr marL="4763" marR="4763" marT="4763" marB="0" anchor="b"/>
                    </a:tc>
                    <a:extLst>
                      <a:ext uri="{0D108BD9-81ED-4DB2-BD59-A6C34878D82A}">
                        <a16:rowId xmlns:a16="http://schemas.microsoft.com/office/drawing/2014/main" val="1593181830"/>
                      </a:ext>
                    </a:extLst>
                  </a:tr>
                  <a:tr h="180975">
                    <a:tc>
                      <a:txBody>
                        <a:bodyPr/>
                        <a:lstStyle/>
                        <a:p>
                          <a:pPr algn="ctr" fontAlgn="b"/>
                          <a:r>
                            <a:rPr lang="en-US" sz="1600" u="none" strike="noStrike">
                              <a:effectLst/>
                              <a:latin typeface="+mn-lt"/>
                            </a:rPr>
                            <a:t>6</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11850</a:t>
                          </a:r>
                        </a:p>
                      </a:txBody>
                      <a:tcPr marL="4763" marR="4763" marT="4763" marB="0" anchor="b"/>
                    </a:tc>
                    <a:extLst>
                      <a:ext uri="{0D108BD9-81ED-4DB2-BD59-A6C34878D82A}">
                        <a16:rowId xmlns:a16="http://schemas.microsoft.com/office/drawing/2014/main" val="2317954057"/>
                      </a:ext>
                    </a:extLst>
                  </a:tr>
                  <a:tr h="180975">
                    <a:tc>
                      <a:txBody>
                        <a:bodyPr/>
                        <a:lstStyle/>
                        <a:p>
                          <a:pPr algn="ctr" fontAlgn="b"/>
                          <a:r>
                            <a:rPr lang="en-US" sz="1600" u="none" strike="noStrike">
                              <a:effectLst/>
                              <a:latin typeface="+mn-lt"/>
                            </a:rPr>
                            <a:t>7</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12800</a:t>
                          </a:r>
                        </a:p>
                      </a:txBody>
                      <a:tcPr marL="4763" marR="4763" marT="4763" marB="0" anchor="b"/>
                    </a:tc>
                    <a:extLst>
                      <a:ext uri="{0D108BD9-81ED-4DB2-BD59-A6C34878D82A}">
                        <a16:rowId xmlns:a16="http://schemas.microsoft.com/office/drawing/2014/main" val="3306553591"/>
                      </a:ext>
                    </a:extLst>
                  </a:tr>
                  <a:tr h="180975">
                    <a:tc>
                      <a:txBody>
                        <a:bodyPr/>
                        <a:lstStyle/>
                        <a:p>
                          <a:pPr algn="ctr" fontAlgn="b"/>
                          <a:r>
                            <a:rPr lang="en-US" sz="1600" u="none" strike="noStrike">
                              <a:effectLst/>
                              <a:latin typeface="+mn-lt"/>
                            </a:rPr>
                            <a:t>8</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13650</a:t>
                          </a:r>
                        </a:p>
                      </a:txBody>
                      <a:tcPr marL="4763" marR="4763" marT="4763" marB="0" anchor="b"/>
                    </a:tc>
                    <a:extLst>
                      <a:ext uri="{0D108BD9-81ED-4DB2-BD59-A6C34878D82A}">
                        <a16:rowId xmlns:a16="http://schemas.microsoft.com/office/drawing/2014/main" val="2573584559"/>
                      </a:ext>
                    </a:extLst>
                  </a:tr>
                  <a:tr h="180975">
                    <a:tc>
                      <a:txBody>
                        <a:bodyPr/>
                        <a:lstStyle/>
                        <a:p>
                          <a:pPr algn="ctr" fontAlgn="b"/>
                          <a:r>
                            <a:rPr lang="en-US" sz="1600" u="none" strike="noStrike">
                              <a:effectLst/>
                              <a:latin typeface="+mn-lt"/>
                            </a:rPr>
                            <a:t>9</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14690</a:t>
                          </a:r>
                        </a:p>
                      </a:txBody>
                      <a:tcPr marL="4763" marR="4763" marT="4763" marB="0" anchor="b"/>
                    </a:tc>
                    <a:extLst>
                      <a:ext uri="{0D108BD9-81ED-4DB2-BD59-A6C34878D82A}">
                        <a16:rowId xmlns:a16="http://schemas.microsoft.com/office/drawing/2014/main" val="1588498382"/>
                      </a:ext>
                    </a:extLst>
                  </a:tr>
                  <a:tr h="180975">
                    <a:tc>
                      <a:txBody>
                        <a:bodyPr/>
                        <a:lstStyle/>
                        <a:p>
                          <a:pPr algn="ctr" fontAlgn="b"/>
                          <a:r>
                            <a:rPr lang="en-US" sz="1600" u="none" strike="noStrike">
                              <a:effectLst/>
                              <a:latin typeface="+mn-lt"/>
                            </a:rPr>
                            <a:t>10</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15700</a:t>
                          </a:r>
                        </a:p>
                      </a:txBody>
                      <a:tcPr marL="4763" marR="4763" marT="4763" marB="0" anchor="b"/>
                    </a:tc>
                    <a:extLst>
                      <a:ext uri="{0D108BD9-81ED-4DB2-BD59-A6C34878D82A}">
                        <a16:rowId xmlns:a16="http://schemas.microsoft.com/office/drawing/2014/main" val="2438190601"/>
                      </a:ext>
                    </a:extLst>
                  </a:tr>
                  <a:tr h="180975">
                    <a:tc>
                      <a:txBody>
                        <a:bodyPr/>
                        <a:lstStyle/>
                        <a:p>
                          <a:pPr algn="ctr" fontAlgn="b"/>
                          <a:r>
                            <a:rPr lang="en-US" sz="1600" u="none" strike="noStrike">
                              <a:effectLst/>
                              <a:latin typeface="+mn-lt"/>
                            </a:rPr>
                            <a:t>11</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16840</a:t>
                          </a:r>
                        </a:p>
                      </a:txBody>
                      <a:tcPr marL="4763" marR="4763" marT="4763" marB="0" anchor="b"/>
                    </a:tc>
                    <a:extLst>
                      <a:ext uri="{0D108BD9-81ED-4DB2-BD59-A6C34878D82A}">
                        <a16:rowId xmlns:a16="http://schemas.microsoft.com/office/drawing/2014/main" val="4107173979"/>
                      </a:ext>
                    </a:extLst>
                  </a:tr>
                  <a:tr h="180975">
                    <a:tc>
                      <a:txBody>
                        <a:bodyPr/>
                        <a:lstStyle/>
                        <a:p>
                          <a:pPr algn="ctr" fontAlgn="b"/>
                          <a:r>
                            <a:rPr lang="en-US" sz="1600" u="none" strike="noStrike">
                              <a:effectLst/>
                              <a:latin typeface="+mn-lt"/>
                            </a:rPr>
                            <a:t>12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18000</a:t>
                          </a:r>
                        </a:p>
                      </a:txBody>
                      <a:tcPr marL="4763" marR="4763" marT="4763" marB="0" anchor="b"/>
                    </a:tc>
                    <a:extLst>
                      <a:ext uri="{0D108BD9-81ED-4DB2-BD59-A6C34878D82A}">
                        <a16:rowId xmlns:a16="http://schemas.microsoft.com/office/drawing/2014/main" val="2279971800"/>
                      </a:ext>
                    </a:extLst>
                  </a:tr>
                </a:tbl>
              </a:graphicData>
            </a:graphic>
          </p:graphicFrame>
        </mc:Choice>
        <mc:Fallback xmlns="">
          <p:graphicFrame>
            <p:nvGraphicFramePr>
              <p:cNvPr id="4" name="Table 3">
                <a:extLst>
                  <a:ext uri="{FF2B5EF4-FFF2-40B4-BE49-F238E27FC236}">
                    <a16:creationId xmlns:a16="http://schemas.microsoft.com/office/drawing/2014/main" id="{A01DE5CE-FFC8-CFFF-3472-2D006BB9E43C}"/>
                  </a:ext>
                </a:extLst>
              </p:cNvPr>
              <p:cNvGraphicFramePr>
                <a:graphicFrameLocks noGrp="1"/>
              </p:cNvGraphicFramePr>
              <p:nvPr>
                <p:extLst>
                  <p:ext uri="{D42A27DB-BD31-4B8C-83A1-F6EECF244321}">
                    <p14:modId xmlns:p14="http://schemas.microsoft.com/office/powerpoint/2010/main" val="1714908431"/>
                  </p:ext>
                </p:extLst>
              </p:nvPr>
            </p:nvGraphicFramePr>
            <p:xfrm>
              <a:off x="1874840" y="2313728"/>
              <a:ext cx="1942028" cy="3231839"/>
            </p:xfrm>
            <a:graphic>
              <a:graphicData uri="http://schemas.openxmlformats.org/drawingml/2006/table">
                <a:tbl>
                  <a:tblPr>
                    <a:tableStyleId>{BDBED569-4797-4DF1-A0F4-6AAB3CD982D8}</a:tableStyleId>
                  </a:tblPr>
                  <a:tblGrid>
                    <a:gridCol w="971014">
                      <a:extLst>
                        <a:ext uri="{9D8B030D-6E8A-4147-A177-3AD203B41FA5}">
                          <a16:colId xmlns:a16="http://schemas.microsoft.com/office/drawing/2014/main" val="30276441"/>
                        </a:ext>
                      </a:extLst>
                    </a:gridCol>
                    <a:gridCol w="971014">
                      <a:extLst>
                        <a:ext uri="{9D8B030D-6E8A-4147-A177-3AD203B41FA5}">
                          <a16:colId xmlns:a16="http://schemas.microsoft.com/office/drawing/2014/main" val="1980739467"/>
                        </a:ext>
                      </a:extLst>
                    </a:gridCol>
                  </a:tblGrid>
                  <a:tr h="248603">
                    <a:tc>
                      <a:txBody>
                        <a:bodyPr/>
                        <a:lstStyle/>
                        <a:p>
                          <a:endParaRPr lang="en-US"/>
                        </a:p>
                      </a:txBody>
                      <a:tcPr marL="4763" marR="4763" marT="4763" marB="0" anchor="b">
                        <a:blipFill>
                          <a:blip r:embed="rId4"/>
                          <a:stretch>
                            <a:fillRect l="-625" t="-19512" r="-101250" b="-1246341"/>
                          </a:stretch>
                        </a:blipFill>
                      </a:tcPr>
                    </a:tc>
                    <a:tc>
                      <a:txBody>
                        <a:bodyPr/>
                        <a:lstStyle/>
                        <a:p>
                          <a:endParaRPr lang="en-US"/>
                        </a:p>
                      </a:txBody>
                      <a:tcPr marL="4763" marR="4763" marT="4763" marB="0" anchor="b">
                        <a:blipFill>
                          <a:blip r:embed="rId4"/>
                          <a:stretch>
                            <a:fillRect l="-100625" t="-19512" r="-1250" b="-1246341"/>
                          </a:stretch>
                        </a:blipFill>
                      </a:tcPr>
                    </a:tc>
                    <a:extLst>
                      <a:ext uri="{0D108BD9-81ED-4DB2-BD59-A6C34878D82A}">
                        <a16:rowId xmlns:a16="http://schemas.microsoft.com/office/drawing/2014/main" val="3483021223"/>
                      </a:ext>
                    </a:extLst>
                  </a:tr>
                  <a:tr h="248603">
                    <a:tc>
                      <a:txBody>
                        <a:bodyPr/>
                        <a:lstStyle/>
                        <a:p>
                          <a:pPr algn="ctr" fontAlgn="b"/>
                          <a:r>
                            <a:rPr lang="en-US" sz="1600" u="none" strike="noStrike" dirty="0">
                              <a:effectLst/>
                              <a:latin typeface="+mn-lt"/>
                            </a:rPr>
                            <a:t>1</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8200</a:t>
                          </a:r>
                        </a:p>
                      </a:txBody>
                      <a:tcPr marL="4763" marR="4763" marT="4763" marB="0" anchor="b"/>
                    </a:tc>
                    <a:extLst>
                      <a:ext uri="{0D108BD9-81ED-4DB2-BD59-A6C34878D82A}">
                        <a16:rowId xmlns:a16="http://schemas.microsoft.com/office/drawing/2014/main" val="1234203618"/>
                      </a:ext>
                    </a:extLst>
                  </a:tr>
                  <a:tr h="248603">
                    <a:tc>
                      <a:txBody>
                        <a:bodyPr/>
                        <a:lstStyle/>
                        <a:p>
                          <a:pPr algn="ctr" fontAlgn="b"/>
                          <a:r>
                            <a:rPr lang="en-US" sz="1600" u="none" strike="noStrike">
                              <a:effectLst/>
                              <a:latin typeface="+mn-lt"/>
                            </a:rPr>
                            <a:t>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9000</a:t>
                          </a:r>
                        </a:p>
                      </a:txBody>
                      <a:tcPr marL="4763" marR="4763" marT="4763" marB="0" anchor="b"/>
                    </a:tc>
                    <a:extLst>
                      <a:ext uri="{0D108BD9-81ED-4DB2-BD59-A6C34878D82A}">
                        <a16:rowId xmlns:a16="http://schemas.microsoft.com/office/drawing/2014/main" val="2916977977"/>
                      </a:ext>
                    </a:extLst>
                  </a:tr>
                  <a:tr h="248603">
                    <a:tc>
                      <a:txBody>
                        <a:bodyPr/>
                        <a:lstStyle/>
                        <a:p>
                          <a:pPr algn="ctr" fontAlgn="b"/>
                          <a:r>
                            <a:rPr lang="en-US" sz="1600" u="none" strike="noStrike">
                              <a:effectLst/>
                              <a:latin typeface="+mn-lt"/>
                            </a:rPr>
                            <a:t>3</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9600</a:t>
                          </a:r>
                        </a:p>
                      </a:txBody>
                      <a:tcPr marL="4763" marR="4763" marT="4763" marB="0" anchor="b"/>
                    </a:tc>
                    <a:extLst>
                      <a:ext uri="{0D108BD9-81ED-4DB2-BD59-A6C34878D82A}">
                        <a16:rowId xmlns:a16="http://schemas.microsoft.com/office/drawing/2014/main" val="1200305489"/>
                      </a:ext>
                    </a:extLst>
                  </a:tr>
                  <a:tr h="248603">
                    <a:tc>
                      <a:txBody>
                        <a:bodyPr/>
                        <a:lstStyle/>
                        <a:p>
                          <a:pPr algn="ctr" fontAlgn="b"/>
                          <a:r>
                            <a:rPr lang="en-US" sz="1600" u="none" strike="noStrike">
                              <a:effectLst/>
                              <a:latin typeface="+mn-lt"/>
                            </a:rPr>
                            <a:t>4</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10500</a:t>
                          </a:r>
                        </a:p>
                      </a:txBody>
                      <a:tcPr marL="4763" marR="4763" marT="4763" marB="0" anchor="b"/>
                    </a:tc>
                    <a:extLst>
                      <a:ext uri="{0D108BD9-81ED-4DB2-BD59-A6C34878D82A}">
                        <a16:rowId xmlns:a16="http://schemas.microsoft.com/office/drawing/2014/main" val="2048154535"/>
                      </a:ext>
                    </a:extLst>
                  </a:tr>
                  <a:tr h="248603">
                    <a:tc>
                      <a:txBody>
                        <a:bodyPr/>
                        <a:lstStyle/>
                        <a:p>
                          <a:pPr algn="ctr" fontAlgn="b"/>
                          <a:r>
                            <a:rPr lang="en-US" sz="1600" u="none" strike="noStrike" dirty="0">
                              <a:effectLst/>
                              <a:latin typeface="+mn-lt"/>
                            </a:rPr>
                            <a:t>5</a:t>
                          </a:r>
                          <a:endParaRPr lang="en-US" sz="1600" b="0" i="0" u="none" strike="noStrike" dirty="0">
                            <a:solidFill>
                              <a:srgbClr val="000000"/>
                            </a:solidFill>
                            <a:effectLst/>
                            <a:latin typeface="+mn-lt"/>
                          </a:endParaRPr>
                        </a:p>
                      </a:txBody>
                      <a:tcPr marL="4763" marR="4763" marT="4763" marB="0" anchor="b"/>
                    </a:tc>
                    <a:tc>
                      <a:txBody>
                        <a:bodyPr/>
                        <a:lstStyle/>
                        <a:p>
                          <a:pPr algn="ctr" fontAlgn="b"/>
                          <a:r>
                            <a:rPr lang="en-US" sz="1600" b="0" i="0" u="none" strike="noStrike">
                              <a:solidFill>
                                <a:schemeClr val="tx1"/>
                              </a:solidFill>
                              <a:effectLst/>
                              <a:latin typeface="Calibri" panose="020F0502020204030204" pitchFamily="34" charset="0"/>
                            </a:rPr>
                            <a:t>11050</a:t>
                          </a:r>
                        </a:p>
                      </a:txBody>
                      <a:tcPr marL="4763" marR="4763" marT="4763" marB="0" anchor="b"/>
                    </a:tc>
                    <a:extLst>
                      <a:ext uri="{0D108BD9-81ED-4DB2-BD59-A6C34878D82A}">
                        <a16:rowId xmlns:a16="http://schemas.microsoft.com/office/drawing/2014/main" val="1593181830"/>
                      </a:ext>
                    </a:extLst>
                  </a:tr>
                  <a:tr h="248603">
                    <a:tc>
                      <a:txBody>
                        <a:bodyPr/>
                        <a:lstStyle/>
                        <a:p>
                          <a:pPr algn="ctr" fontAlgn="b"/>
                          <a:r>
                            <a:rPr lang="en-US" sz="1600" u="none" strike="noStrike">
                              <a:effectLst/>
                              <a:latin typeface="+mn-lt"/>
                            </a:rPr>
                            <a:t>6</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11850</a:t>
                          </a:r>
                        </a:p>
                      </a:txBody>
                      <a:tcPr marL="4763" marR="4763" marT="4763" marB="0" anchor="b"/>
                    </a:tc>
                    <a:extLst>
                      <a:ext uri="{0D108BD9-81ED-4DB2-BD59-A6C34878D82A}">
                        <a16:rowId xmlns:a16="http://schemas.microsoft.com/office/drawing/2014/main" val="2317954057"/>
                      </a:ext>
                    </a:extLst>
                  </a:tr>
                  <a:tr h="248603">
                    <a:tc>
                      <a:txBody>
                        <a:bodyPr/>
                        <a:lstStyle/>
                        <a:p>
                          <a:pPr algn="ctr" fontAlgn="b"/>
                          <a:r>
                            <a:rPr lang="en-US" sz="1600" u="none" strike="noStrike">
                              <a:effectLst/>
                              <a:latin typeface="+mn-lt"/>
                            </a:rPr>
                            <a:t>7</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12800</a:t>
                          </a:r>
                        </a:p>
                      </a:txBody>
                      <a:tcPr marL="4763" marR="4763" marT="4763" marB="0" anchor="b"/>
                    </a:tc>
                    <a:extLst>
                      <a:ext uri="{0D108BD9-81ED-4DB2-BD59-A6C34878D82A}">
                        <a16:rowId xmlns:a16="http://schemas.microsoft.com/office/drawing/2014/main" val="3306553591"/>
                      </a:ext>
                    </a:extLst>
                  </a:tr>
                  <a:tr h="248603">
                    <a:tc>
                      <a:txBody>
                        <a:bodyPr/>
                        <a:lstStyle/>
                        <a:p>
                          <a:pPr algn="ctr" fontAlgn="b"/>
                          <a:r>
                            <a:rPr lang="en-US" sz="1600" u="none" strike="noStrike">
                              <a:effectLst/>
                              <a:latin typeface="+mn-lt"/>
                            </a:rPr>
                            <a:t>8</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13650</a:t>
                          </a:r>
                        </a:p>
                      </a:txBody>
                      <a:tcPr marL="4763" marR="4763" marT="4763" marB="0" anchor="b"/>
                    </a:tc>
                    <a:extLst>
                      <a:ext uri="{0D108BD9-81ED-4DB2-BD59-A6C34878D82A}">
                        <a16:rowId xmlns:a16="http://schemas.microsoft.com/office/drawing/2014/main" val="2573584559"/>
                      </a:ext>
                    </a:extLst>
                  </a:tr>
                  <a:tr h="248603">
                    <a:tc>
                      <a:txBody>
                        <a:bodyPr/>
                        <a:lstStyle/>
                        <a:p>
                          <a:pPr algn="ctr" fontAlgn="b"/>
                          <a:r>
                            <a:rPr lang="en-US" sz="1600" u="none" strike="noStrike">
                              <a:effectLst/>
                              <a:latin typeface="+mn-lt"/>
                            </a:rPr>
                            <a:t>9</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14690</a:t>
                          </a:r>
                        </a:p>
                      </a:txBody>
                      <a:tcPr marL="4763" marR="4763" marT="4763" marB="0" anchor="b"/>
                    </a:tc>
                    <a:extLst>
                      <a:ext uri="{0D108BD9-81ED-4DB2-BD59-A6C34878D82A}">
                        <a16:rowId xmlns:a16="http://schemas.microsoft.com/office/drawing/2014/main" val="1588498382"/>
                      </a:ext>
                    </a:extLst>
                  </a:tr>
                  <a:tr h="248603">
                    <a:tc>
                      <a:txBody>
                        <a:bodyPr/>
                        <a:lstStyle/>
                        <a:p>
                          <a:pPr algn="ctr" fontAlgn="b"/>
                          <a:r>
                            <a:rPr lang="en-US" sz="1600" u="none" strike="noStrike">
                              <a:effectLst/>
                              <a:latin typeface="+mn-lt"/>
                            </a:rPr>
                            <a:t>10</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15700</a:t>
                          </a:r>
                        </a:p>
                      </a:txBody>
                      <a:tcPr marL="4763" marR="4763" marT="4763" marB="0" anchor="b"/>
                    </a:tc>
                    <a:extLst>
                      <a:ext uri="{0D108BD9-81ED-4DB2-BD59-A6C34878D82A}">
                        <a16:rowId xmlns:a16="http://schemas.microsoft.com/office/drawing/2014/main" val="2438190601"/>
                      </a:ext>
                    </a:extLst>
                  </a:tr>
                  <a:tr h="248603">
                    <a:tc>
                      <a:txBody>
                        <a:bodyPr/>
                        <a:lstStyle/>
                        <a:p>
                          <a:pPr algn="ctr" fontAlgn="b"/>
                          <a:r>
                            <a:rPr lang="en-US" sz="1600" u="none" strike="noStrike">
                              <a:effectLst/>
                              <a:latin typeface="+mn-lt"/>
                            </a:rPr>
                            <a:t>11</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16840</a:t>
                          </a:r>
                        </a:p>
                      </a:txBody>
                      <a:tcPr marL="4763" marR="4763" marT="4763" marB="0" anchor="b"/>
                    </a:tc>
                    <a:extLst>
                      <a:ext uri="{0D108BD9-81ED-4DB2-BD59-A6C34878D82A}">
                        <a16:rowId xmlns:a16="http://schemas.microsoft.com/office/drawing/2014/main" val="4107173979"/>
                      </a:ext>
                    </a:extLst>
                  </a:tr>
                  <a:tr h="248603">
                    <a:tc>
                      <a:txBody>
                        <a:bodyPr/>
                        <a:lstStyle/>
                        <a:p>
                          <a:pPr algn="ctr" fontAlgn="b"/>
                          <a:r>
                            <a:rPr lang="en-US" sz="1600" u="none" strike="noStrike">
                              <a:effectLst/>
                              <a:latin typeface="+mn-lt"/>
                            </a:rPr>
                            <a:t>12</a:t>
                          </a:r>
                          <a:endParaRPr lang="en-US" sz="1600" b="0" i="0" u="none" strike="noStrike">
                            <a:solidFill>
                              <a:srgbClr val="000000"/>
                            </a:solidFill>
                            <a:effectLst/>
                            <a:latin typeface="+mn-lt"/>
                          </a:endParaRPr>
                        </a:p>
                      </a:txBody>
                      <a:tcPr marL="4763" marR="4763" marT="4763" marB="0" anchor="b"/>
                    </a:tc>
                    <a:tc>
                      <a:txBody>
                        <a:bodyPr/>
                        <a:lstStyle/>
                        <a:p>
                          <a:pPr algn="ctr" fontAlgn="b"/>
                          <a:r>
                            <a:rPr lang="en-US" sz="1600" b="0" i="0" u="none" strike="noStrike" dirty="0">
                              <a:solidFill>
                                <a:schemeClr val="tx1"/>
                              </a:solidFill>
                              <a:effectLst/>
                              <a:latin typeface="Calibri" panose="020F0502020204030204" pitchFamily="34" charset="0"/>
                            </a:rPr>
                            <a:t>18000</a:t>
                          </a:r>
                        </a:p>
                      </a:txBody>
                      <a:tcPr marL="4763" marR="4763" marT="4763" marB="0" anchor="b"/>
                    </a:tc>
                    <a:extLst>
                      <a:ext uri="{0D108BD9-81ED-4DB2-BD59-A6C34878D82A}">
                        <a16:rowId xmlns:a16="http://schemas.microsoft.com/office/drawing/2014/main" val="2279971800"/>
                      </a:ext>
                    </a:extLst>
                  </a:tr>
                </a:tbl>
              </a:graphicData>
            </a:graphic>
          </p:graphicFrame>
        </mc:Fallback>
      </mc:AlternateContent>
    </p:spTree>
    <p:extLst>
      <p:ext uri="{BB962C8B-B14F-4D97-AF65-F5344CB8AC3E}">
        <p14:creationId xmlns:p14="http://schemas.microsoft.com/office/powerpoint/2010/main" val="1289573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Example: Initialization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 Initialization</a:t>
                </a:r>
              </a:p>
              <a:p>
                <a:pPr lvl="1"/>
                <a:r>
                  <a:rPr lang="en-US" dirty="0">
                    <a:solidFill>
                      <a:schemeClr val="tx1"/>
                    </a:solidFill>
                  </a:rPr>
                  <a:t>Recall that: </a:t>
                </a:r>
              </a:p>
              <a:p>
                <a:pPr lvl="1"/>
                <a:endParaRPr lang="en-US" dirty="0">
                  <a:solidFill>
                    <a:schemeClr val="tx1"/>
                  </a:solidFill>
                </a:endParaRPr>
              </a:p>
              <a:p>
                <a:pPr lvl="4"/>
                <a:endParaRPr lang="en-US" dirty="0">
                  <a:solidFill>
                    <a:schemeClr val="tx1"/>
                  </a:solidFill>
                </a:endParaRPr>
              </a:p>
              <a:p>
                <a:pPr lvl="1"/>
                <a:r>
                  <a:rPr lang="en-US" dirty="0">
                    <a:solidFill>
                      <a:schemeClr val="tx1"/>
                    </a:solidFill>
                  </a:rPr>
                  <a:t>Need to 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12</m:t>
                        </m:r>
                      </m:sub>
                    </m:sSub>
                  </m:oMath>
                </a14:m>
                <a:r>
                  <a:rPr lang="en-US" dirty="0">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12</m:t>
                        </m:r>
                      </m:sub>
                    </m:sSub>
                  </m:oMath>
                </a14:m>
                <a:r>
                  <a:rPr lang="en-US" dirty="0">
                    <a:solidFill>
                      <a:schemeClr val="tx1"/>
                    </a:solidFill>
                  </a:rPr>
                  <a:t> to calculate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13|12</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14|12</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15|12</m:t>
                        </m:r>
                      </m:sub>
                    </m:sSub>
                  </m:oMath>
                </a14:m>
                <a:endParaRPr lang="en-US" dirty="0">
                  <a:solidFill>
                    <a:schemeClr val="tx1"/>
                  </a:solidFill>
                </a:endParaRPr>
              </a:p>
              <a:p>
                <a:pPr lvl="1"/>
                <a:r>
                  <a:rPr lang="en-US" dirty="0">
                    <a:solidFill>
                      <a:schemeClr val="tx1"/>
                    </a:solidFill>
                  </a:rPr>
                  <a:t>To do so, we will use the given data as the training data</a:t>
                </a:r>
              </a:p>
              <a:p>
                <a:pPr lvl="2"/>
                <a:r>
                  <a:rPr lang="en-US" dirty="0">
                    <a:solidFill>
                      <a:schemeClr val="tx1"/>
                    </a:solidFill>
                  </a:rPr>
                  <a:t>Calculate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oMath>
                </a14:m>
                <a:r>
                  <a:rPr lang="en-US" dirty="0">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m:t>
                        </m:r>
                      </m:sub>
                    </m:sSub>
                  </m:oMath>
                </a14:m>
                <a:r>
                  <a:rPr lang="en-US" dirty="0">
                    <a:solidFill>
                      <a:schemeClr val="tx1"/>
                    </a:solidFill>
                  </a:rPr>
                  <a:t>, then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2</m:t>
                        </m:r>
                      </m:sub>
                    </m:sSub>
                  </m:oMath>
                </a14:m>
                <a:r>
                  <a:rPr lang="en-US" dirty="0">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2</m:t>
                        </m:r>
                      </m:sub>
                    </m:sSub>
                  </m:oMath>
                </a14:m>
                <a:r>
                  <a:rPr lang="en-US" dirty="0">
                    <a:solidFill>
                      <a:schemeClr val="tx1"/>
                    </a:solidFill>
                  </a:rPr>
                  <a:t>, and so on until we calculate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12</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12</m:t>
                        </m:r>
                      </m:sub>
                    </m:sSub>
                  </m:oMath>
                </a14:m>
                <a:endParaRPr lang="en-US" dirty="0">
                  <a:solidFill>
                    <a:schemeClr val="tx1"/>
                  </a:solidFill>
                </a:endParaRPr>
              </a:p>
              <a:p>
                <a:pPr lvl="1"/>
                <a:r>
                  <a:rPr lang="en-US" dirty="0">
                    <a:solidFill>
                      <a:schemeClr val="tx1"/>
                    </a:solidFill>
                  </a:rPr>
                  <a:t>From level equation,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𝛼</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e>
                    </m:d>
                    <m:d>
                      <m:dPr>
                        <m:ctrlPr>
                          <a:rPr lang="en-US" b="0" i="1" smtClean="0">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0</m:t>
                            </m:r>
                          </m:sub>
                        </m:sSub>
                      </m:e>
                    </m:d>
                  </m:oMath>
                </a14:m>
                <a:endParaRPr lang="en-US" dirty="0">
                  <a:solidFill>
                    <a:schemeClr val="tx1"/>
                  </a:solidFill>
                </a:endParaRPr>
              </a:p>
              <a:p>
                <a:pPr lvl="2"/>
                <a:r>
                  <a:rPr lang="en-US" dirty="0">
                    <a:solidFill>
                      <a:schemeClr val="tx1"/>
                    </a:solidFill>
                  </a:rPr>
                  <a:t>We know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=8200</m:t>
                    </m:r>
                  </m:oMath>
                </a14:m>
                <a:r>
                  <a:rPr lang="en-US" dirty="0">
                    <a:solidFill>
                      <a:schemeClr val="tx1"/>
                    </a:solidFill>
                  </a:rPr>
                  <a:t> and we are given that </a:t>
                </a:r>
                <a14:m>
                  <m:oMath xmlns:m="http://schemas.openxmlformats.org/officeDocument/2006/math">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=0.</m:t>
                    </m:r>
                  </m:oMath>
                </a14:m>
                <a:r>
                  <a:rPr lang="en-US" dirty="0">
                    <a:solidFill>
                      <a:schemeClr val="tx1"/>
                    </a:solidFill>
                  </a:rPr>
                  <a:t>1</a:t>
                </a:r>
              </a:p>
              <a:p>
                <a:pPr lvl="2"/>
                <a:r>
                  <a:rPr lang="en-US" dirty="0">
                    <a:solidFill>
                      <a:schemeClr val="tx1"/>
                    </a:solidFill>
                  </a:rPr>
                  <a:t>How about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oMath>
                </a14:m>
                <a:r>
                  <a:rPr lang="en-US" dirty="0">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0</m:t>
                        </m:r>
                      </m:sub>
                    </m:sSub>
                  </m:oMath>
                </a14:m>
                <a:r>
                  <a:rPr lang="en-US" dirty="0">
                    <a:solidFill>
                      <a:schemeClr val="tx1"/>
                    </a:solidFill>
                  </a:rPr>
                  <a:t>? We can use a simple regression to estimate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oMath>
                </a14:m>
                <a:r>
                  <a:rPr lang="en-US" dirty="0">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0</m:t>
                        </m:r>
                      </m:sub>
                    </m:sSub>
                  </m:oMath>
                </a14:m>
                <a:endParaRPr lang="en-US" dirty="0">
                  <a:solidFill>
                    <a:schemeClr val="tx1"/>
                  </a:solidFill>
                </a:endParaRPr>
              </a:p>
              <a:p>
                <a:pPr lvl="3"/>
                <a:r>
                  <a:rPr lang="en-US" dirty="0">
                    <a:solidFill>
                      <a:schemeClr val="tx1"/>
                    </a:solidFill>
                  </a:rPr>
                  <a:t>From regression, the intercept estimator is 6958 and slope estimator is 877 </a:t>
                </a:r>
              </a:p>
              <a:p>
                <a:pPr lvl="3"/>
                <a:r>
                  <a:rPr lang="en-US" dirty="0">
                    <a:solidFill>
                      <a:schemeClr val="tx1"/>
                    </a:solidFill>
                  </a:rPr>
                  <a:t>Therefore, we let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ea typeface="Cambria Math" panose="02040503050406030204" pitchFamily="18" charset="0"/>
                      </a:rPr>
                      <m:t>≅</m:t>
                    </m:r>
                    <m:r>
                      <m:rPr>
                        <m:nor/>
                      </m:rPr>
                      <a:rPr lang="en-US" b="0" i="0" smtClean="0">
                        <a:solidFill>
                          <a:schemeClr val="tx1"/>
                        </a:solidFill>
                        <a:latin typeface="Cambria Math" panose="02040503050406030204" pitchFamily="18" charset="0"/>
                        <a:ea typeface="Cambria Math" panose="02040503050406030204" pitchFamily="18" charset="0"/>
                      </a:rPr>
                      <m:t>6958</m:t>
                    </m:r>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r>
                      <a:rPr lang="en-US" i="1" smtClean="0">
                        <a:solidFill>
                          <a:schemeClr val="tx1"/>
                        </a:solidFill>
                        <a:latin typeface="Cambria Math" panose="02040503050406030204" pitchFamily="18" charset="0"/>
                        <a:ea typeface="Cambria Math" panose="02040503050406030204" pitchFamily="18" charset="0"/>
                      </a:rPr>
                      <m:t>≅</m:t>
                    </m:r>
                    <m:r>
                      <m:rPr>
                        <m:nor/>
                      </m:rPr>
                      <a:rPr lang="en-US" b="0" i="0" smtClean="0">
                        <a:solidFill>
                          <a:schemeClr val="tx1"/>
                        </a:solidFill>
                        <a:latin typeface="Cambria Math" panose="02040503050406030204" pitchFamily="18" charset="0"/>
                        <a:ea typeface="Cambria Math" panose="02040503050406030204" pitchFamily="18" charset="0"/>
                      </a:rPr>
                      <m:t>877</m:t>
                    </m:r>
                  </m:oMath>
                </a14:m>
                <a:r>
                  <a:rPr lang="en-US" dirty="0">
                    <a:solidFill>
                      <a:schemeClr val="tx1"/>
                    </a:solidFill>
                  </a:rPr>
                  <a:t> </a:t>
                </a:r>
              </a:p>
              <a:p>
                <a:pPr marL="0" indent="0">
                  <a:buNone/>
                </a:pPr>
                <a:endParaRPr lang="en-US" sz="2400" dirty="0">
                  <a:solidFill>
                    <a:srgbClr val="C00000"/>
                  </a:solidFill>
                </a:endParaRPr>
              </a:p>
              <a:p>
                <a:pPr marL="0" indent="0">
                  <a:buNone/>
                </a:pPr>
                <a:r>
                  <a:rPr lang="en-US" sz="2400" dirty="0">
                    <a:solidFill>
                      <a:srgbClr val="C00000"/>
                    </a:solidFill>
                  </a:rPr>
                  <a:t>See</a:t>
                </a:r>
                <a:r>
                  <a:rPr lang="en-US" sz="2400" dirty="0"/>
                  <a:t> </a:t>
                </a:r>
                <a:r>
                  <a:rPr lang="en-US" sz="2400" i="1" dirty="0"/>
                  <a:t>Module 1.3 – Example – Sales Forecasting with Holt.xlsx </a:t>
                </a:r>
                <a:r>
                  <a:rPr lang="en-US" sz="2400" dirty="0">
                    <a:sym typeface="Wingdings" panose="05000000000000000000" pitchFamily="2" charset="2"/>
                  </a:rPr>
                  <a:t> “Initialization” tab</a:t>
                </a:r>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240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BCEB141-F37B-8E12-F6FE-AE8628C0D3B8}"/>
              </a:ext>
            </a:extLst>
          </p:cNvPr>
          <p:cNvPicPr>
            <a:picLocks noChangeAspect="1"/>
          </p:cNvPicPr>
          <p:nvPr/>
        </p:nvPicPr>
        <p:blipFill>
          <a:blip r:embed="rId3"/>
          <a:stretch>
            <a:fillRect/>
          </a:stretch>
        </p:blipFill>
        <p:spPr>
          <a:xfrm>
            <a:off x="2773323" y="1788935"/>
            <a:ext cx="6202248" cy="1058174"/>
          </a:xfrm>
          <a:prstGeom prst="rect">
            <a:avLst/>
          </a:prstGeom>
          <a:ln w="19050">
            <a:solidFill>
              <a:srgbClr val="C00000"/>
            </a:solidFill>
          </a:ln>
        </p:spPr>
      </p:pic>
    </p:spTree>
    <p:extLst>
      <p:ext uri="{BB962C8B-B14F-4D97-AF65-F5344CB8AC3E}">
        <p14:creationId xmlns:p14="http://schemas.microsoft.com/office/powerpoint/2010/main" val="12965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Example: Training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 Training</a:t>
                </a:r>
              </a:p>
              <a:p>
                <a:pPr lvl="1"/>
                <a:r>
                  <a:rPr lang="en-US" dirty="0">
                    <a:solidFill>
                      <a:schemeClr val="tx1"/>
                    </a:solidFill>
                  </a:rPr>
                  <a:t>We will calculate level and trend estimates one period at a time</a:t>
                </a:r>
              </a:p>
              <a:p>
                <a:pPr lvl="2"/>
                <a:r>
                  <a:rPr lang="en-US" dirty="0">
                    <a:solidFill>
                      <a:schemeClr val="tx1"/>
                    </a:solidFill>
                  </a:rPr>
                  <a:t>Recall that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=6958</m:t>
                    </m:r>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=877</m:t>
                    </m:r>
                  </m:oMath>
                </a14:m>
                <a:r>
                  <a:rPr lang="en-US" dirty="0">
                    <a:solidFill>
                      <a:schemeClr val="tx1"/>
                    </a:solidFill>
                  </a:rPr>
                  <a:t> and </a:t>
                </a:r>
                <a14:m>
                  <m:oMath xmlns:m="http://schemas.openxmlformats.org/officeDocument/2006/math">
                    <m:r>
                      <a:rPr lang="en-US" i="1">
                        <a:solidFill>
                          <a:schemeClr val="tx1"/>
                        </a:solidFill>
                        <a:latin typeface="Cambria Math" panose="02040503050406030204" pitchFamily="18" charset="0"/>
                      </a:rPr>
                      <m:t>𝛼</m:t>
                    </m:r>
                    <m:r>
                      <a:rPr lang="en-US" i="1">
                        <a:solidFill>
                          <a:schemeClr val="tx1"/>
                        </a:solidFill>
                        <a:latin typeface="Cambria Math" panose="02040503050406030204" pitchFamily="18" charset="0"/>
                      </a:rPr>
                      <m:t>=0.1</m:t>
                    </m:r>
                  </m:oMath>
                </a14:m>
                <a:r>
                  <a:rPr lang="en-US" dirty="0">
                    <a:solidFill>
                      <a:schemeClr val="tx1"/>
                    </a:solidFill>
                  </a:rPr>
                  <a:t> and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r>
                      <a:rPr lang="en-US" i="1">
                        <a:solidFill>
                          <a:schemeClr val="tx1"/>
                        </a:solidFill>
                        <a:latin typeface="Cambria Math" panose="02040503050406030204" pitchFamily="18" charset="0"/>
                      </a:rPr>
                      <m:t>=0.2</m:t>
                    </m:r>
                  </m:oMath>
                </a14:m>
                <a:endParaRPr lang="en-US" dirty="0">
                  <a:solidFill>
                    <a:schemeClr val="tx1"/>
                  </a:solidFill>
                </a:endParaRP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𝛼</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𝑦</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𝛼</m:t>
                        </m:r>
                      </m:e>
                    </m:d>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e>
                    </m:d>
                    <m:r>
                      <a:rPr lang="en-US" i="1">
                        <a:solidFill>
                          <a:schemeClr val="tx1"/>
                        </a:solidFill>
                        <a:latin typeface="Cambria Math" panose="02040503050406030204" pitchFamily="18" charset="0"/>
                      </a:rPr>
                      <m:t>=0.1</m:t>
                    </m:r>
                    <m:r>
                      <a:rPr lang="en-US" i="1">
                        <a:solidFill>
                          <a:schemeClr val="tx1"/>
                        </a:solidFill>
                        <a:latin typeface="Cambria Math" panose="02040503050406030204" pitchFamily="18" charset="0"/>
                        <a:ea typeface="Cambria Math" panose="02040503050406030204" pitchFamily="18" charset="0"/>
                      </a:rPr>
                      <m:t>×8200+0.9×</m:t>
                    </m:r>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6958+877</m:t>
                        </m:r>
                      </m:e>
                    </m:d>
                    <m:r>
                      <a:rPr lang="en-US" i="1">
                        <a:solidFill>
                          <a:schemeClr val="tx1"/>
                        </a:solidFill>
                        <a:latin typeface="Cambria Math" panose="02040503050406030204" pitchFamily="18" charset="0"/>
                        <a:ea typeface="Cambria Math" panose="02040503050406030204" pitchFamily="18" charset="0"/>
                      </a:rPr>
                      <m:t>=7872</m:t>
                    </m:r>
                  </m:oMath>
                </a14:m>
                <a:endParaRPr lang="en-US" dirty="0">
                  <a:solidFill>
                    <a:schemeClr val="tx1"/>
                  </a:solidFill>
                </a:endParaRP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e>
                    </m:d>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=0.2</m:t>
                    </m:r>
                    <m:r>
                      <a:rPr lang="en-US" i="1">
                        <a:solidFill>
                          <a:schemeClr val="tx1"/>
                        </a:solidFill>
                        <a:latin typeface="Cambria Math" panose="02040503050406030204" pitchFamily="18" charset="0"/>
                        <a:ea typeface="Cambria Math" panose="02040503050406030204" pitchFamily="18" charset="0"/>
                      </a:rPr>
                      <m:t>×</m:t>
                    </m:r>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8038−6958</m:t>
                        </m:r>
                      </m:e>
                    </m:d>
                    <m:r>
                      <a:rPr lang="en-US" i="1">
                        <a:solidFill>
                          <a:schemeClr val="tx1"/>
                        </a:solidFill>
                        <a:latin typeface="Cambria Math" panose="02040503050406030204" pitchFamily="18" charset="0"/>
                        <a:ea typeface="Cambria Math" panose="02040503050406030204" pitchFamily="18" charset="0"/>
                      </a:rPr>
                      <m:t>+0.8×877=884</m:t>
                    </m:r>
                  </m:oMath>
                </a14:m>
                <a:endParaRPr lang="en-US" dirty="0">
                  <a:solidFill>
                    <a:schemeClr val="tx1"/>
                  </a:solidFill>
                </a:endParaRPr>
              </a:p>
              <a:p>
                <a:pPr lvl="1"/>
                <a:r>
                  <a:rPr lang="en-US" dirty="0">
                    <a:solidFill>
                      <a:schemeClr val="tx1"/>
                    </a:solidFill>
                  </a:rPr>
                  <a:t>Now, consider period 2’s sales is observed, and calculate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2</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2</m:t>
                        </m:r>
                      </m:sub>
                    </m:sSub>
                  </m:oMath>
                </a14:m>
                <a:endParaRPr lang="en-US" dirty="0">
                  <a:solidFill>
                    <a:schemeClr val="tx1"/>
                  </a:solidFill>
                </a:endParaRP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𝛼</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𝑦</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𝛼</m:t>
                        </m:r>
                      </m:e>
                    </m:d>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sub>
                        </m:sSub>
                      </m:e>
                    </m:d>
                    <m:r>
                      <a:rPr lang="en-US" i="1">
                        <a:solidFill>
                          <a:schemeClr val="tx1"/>
                        </a:solidFill>
                        <a:latin typeface="Cambria Math" panose="02040503050406030204" pitchFamily="18" charset="0"/>
                        <a:ea typeface="Cambria Math" panose="02040503050406030204" pitchFamily="18" charset="0"/>
                      </a:rPr>
                      <m:t>=8780</m:t>
                    </m:r>
                  </m:oMath>
                </a14:m>
                <a:endParaRPr lang="en-US" dirty="0">
                  <a:solidFill>
                    <a:schemeClr val="tx1"/>
                  </a:solidFill>
                </a:endParaRP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e>
                    </m:d>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=889</m:t>
                    </m:r>
                  </m:oMath>
                </a14:m>
                <a:endParaRPr lang="en-US" dirty="0">
                  <a:solidFill>
                    <a:schemeClr val="tx1"/>
                  </a:solidFill>
                </a:endParaRPr>
              </a:p>
              <a:p>
                <a:pPr lvl="2"/>
                <a:endParaRPr lang="en-US" dirty="0">
                  <a:solidFill>
                    <a:schemeClr val="tx1"/>
                  </a:solidFill>
                </a:endParaRPr>
              </a:p>
              <a:p>
                <a:pPr lvl="1"/>
                <a:r>
                  <a:rPr lang="en-US" dirty="0">
                    <a:solidFill>
                      <a:schemeClr val="tx1"/>
                    </a:solidFill>
                  </a:rPr>
                  <a:t>Continuing this way, we get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=17447</m:t>
                    </m:r>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=879</m:t>
                    </m:r>
                  </m:oMath>
                </a14:m>
                <a:endParaRPr lang="en-US" dirty="0">
                  <a:solidFill>
                    <a:schemeClr val="tx1"/>
                  </a:solidFill>
                </a:endParaRPr>
              </a:p>
              <a:p>
                <a:pPr marL="0" indent="0">
                  <a:buNone/>
                </a:pPr>
                <a:endParaRPr lang="en-US" sz="2400" dirty="0">
                  <a:solidFill>
                    <a:srgbClr val="C00000"/>
                  </a:solidFill>
                </a:endParaRPr>
              </a:p>
              <a:p>
                <a:pPr marL="0" indent="0">
                  <a:buNone/>
                </a:pPr>
                <a:endParaRPr lang="en-US" sz="2400" dirty="0">
                  <a:solidFill>
                    <a:srgbClr val="C00000"/>
                  </a:solidFill>
                </a:endParaRPr>
              </a:p>
              <a:p>
                <a:pPr marL="0" indent="0">
                  <a:buNone/>
                </a:pPr>
                <a:r>
                  <a:rPr lang="en-US" sz="2400" dirty="0">
                    <a:solidFill>
                      <a:srgbClr val="C00000"/>
                    </a:solidFill>
                  </a:rPr>
                  <a:t>See</a:t>
                </a:r>
                <a:r>
                  <a:rPr lang="en-US" sz="2400" dirty="0"/>
                  <a:t> </a:t>
                </a:r>
                <a:r>
                  <a:rPr lang="en-US" sz="2400" i="1" dirty="0"/>
                  <a:t>Module 1.3 – Example – Sales Forecasting with Holt.xlsx </a:t>
                </a:r>
                <a:r>
                  <a:rPr lang="en-US" sz="2400" dirty="0">
                    <a:sym typeface="Wingdings" panose="05000000000000000000" pitchFamily="2" charset="2"/>
                  </a:rPr>
                  <a:t> “Training” tab</a:t>
                </a:r>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6642"/>
                </a:stretch>
              </a:blipFill>
            </p:spPr>
            <p:txBody>
              <a:bodyPr/>
              <a:lstStyle/>
              <a:p>
                <a:r>
                  <a:rPr lang="en-US">
                    <a:noFill/>
                  </a:rPr>
                  <a:t> </a:t>
                </a:r>
              </a:p>
            </p:txBody>
          </p:sp>
        </mc:Fallback>
      </mc:AlternateContent>
    </p:spTree>
    <p:extLst>
      <p:ext uri="{BB962C8B-B14F-4D97-AF65-F5344CB8AC3E}">
        <p14:creationId xmlns:p14="http://schemas.microsoft.com/office/powerpoint/2010/main" val="348564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Example: Forecasting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 One-step-ahead and multi-step-ahead forecasts</a:t>
                </a:r>
              </a:p>
              <a:p>
                <a:pPr lvl="1"/>
                <a:r>
                  <a:rPr lang="en-US" dirty="0">
                    <a:solidFill>
                      <a:schemeClr val="tx1"/>
                    </a:solidFill>
                  </a:rPr>
                  <a:t>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13|12</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14|12</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15|12</m:t>
                        </m:r>
                      </m:sub>
                    </m:sSub>
                  </m:oMath>
                </a14:m>
                <a:r>
                  <a:rPr lang="en-US" dirty="0">
                    <a:solidFill>
                      <a:schemeClr val="tx1"/>
                    </a:solidFill>
                  </a:rPr>
                  <a:t>?</a:t>
                </a:r>
              </a:p>
              <a:p>
                <a:pPr lvl="4"/>
                <a:endParaRPr lang="en-US" dirty="0">
                  <a:solidFill>
                    <a:schemeClr val="tx1"/>
                  </a:solidFill>
                </a:endParaRPr>
              </a:p>
              <a:p>
                <a:pPr lvl="3"/>
                <a:endParaRPr lang="en-US" dirty="0">
                  <a:solidFill>
                    <a:schemeClr val="tx1"/>
                  </a:solidFill>
                </a:endParaRPr>
              </a:p>
              <a:p>
                <a:pPr lvl="2"/>
                <a:r>
                  <a:rPr lang="en-US" dirty="0">
                    <a:solidFill>
                      <a:schemeClr val="tx1"/>
                    </a:solidFill>
                  </a:rPr>
                  <a:t>Recall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=17447</m:t>
                    </m:r>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=87</m:t>
                    </m:r>
                    <m:r>
                      <a:rPr lang="en-US" b="0" i="1" smtClean="0">
                        <a:solidFill>
                          <a:schemeClr val="tx1"/>
                        </a:solidFill>
                        <a:latin typeface="Cambria Math" panose="02040503050406030204" pitchFamily="18" charset="0"/>
                      </a:rPr>
                      <m:t>9</m:t>
                    </m:r>
                  </m:oMath>
                </a14:m>
                <a:endParaRPr lang="en-US" dirty="0">
                  <a:solidFill>
                    <a:schemeClr val="tx1"/>
                  </a:solidFill>
                </a:endParaRPr>
              </a:p>
              <a:p>
                <a:pPr lvl="1"/>
                <a:endParaRPr lang="en-US" dirty="0">
                  <a:solidFill>
                    <a:schemeClr val="tx1"/>
                  </a:solidFill>
                </a:endParaRPr>
              </a:p>
              <a:p>
                <a:pPr lvl="1"/>
                <a:r>
                  <a:rPr lang="en-US" dirty="0">
                    <a:solidFill>
                      <a:schemeClr val="tx1"/>
                    </a:solidFill>
                  </a:rPr>
                  <a:t>From forecast equation, we have:</a:t>
                </a:r>
              </a:p>
              <a:p>
                <a:pPr lvl="2"/>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13|12</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12</m:t>
                        </m:r>
                      </m:sub>
                    </m:sSub>
                    <m:r>
                      <a:rPr lang="en-US" b="0" i="1" smtClean="0">
                        <a:solidFill>
                          <a:schemeClr val="tx1"/>
                        </a:solidFill>
                        <a:latin typeface="Cambria Math" panose="02040503050406030204" pitchFamily="18" charset="0"/>
                      </a:rPr>
                      <m:t>+1</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12</m:t>
                        </m:r>
                      </m:sub>
                    </m:sSub>
                    <m:r>
                      <a:rPr lang="en-US" b="0" i="1" smtClean="0">
                        <a:solidFill>
                          <a:schemeClr val="tx1"/>
                        </a:solidFill>
                        <a:latin typeface="Cambria Math" panose="02040503050406030204" pitchFamily="18" charset="0"/>
                      </a:rPr>
                      <m:t>=18325</m:t>
                    </m:r>
                  </m:oMath>
                </a14:m>
                <a:r>
                  <a:rPr lang="en-US" dirty="0">
                    <a:solidFill>
                      <a:schemeClr val="tx1"/>
                    </a:solidFill>
                  </a:rPr>
                  <a:t> (here </a:t>
                </a:r>
                <a14:m>
                  <m:oMath xmlns:m="http://schemas.openxmlformats.org/officeDocument/2006/math">
                    <m:r>
                      <a:rPr lang="en-US" b="0" i="1" smtClean="0">
                        <a:solidFill>
                          <a:schemeClr val="tx1"/>
                        </a:solidFill>
                        <a:latin typeface="Cambria Math" panose="02040503050406030204" pitchFamily="18" charset="0"/>
                      </a:rPr>
                      <m:t>h</m:t>
                    </m:r>
                    <m:r>
                      <a:rPr lang="en-US" b="0" i="1" smtClean="0">
                        <a:solidFill>
                          <a:schemeClr val="tx1"/>
                        </a:solidFill>
                        <a:latin typeface="Cambria Math" panose="02040503050406030204" pitchFamily="18" charset="0"/>
                      </a:rPr>
                      <m:t>=13−12=1</m:t>
                    </m:r>
                  </m:oMath>
                </a14:m>
                <a:r>
                  <a:rPr lang="en-US" dirty="0">
                    <a:solidFill>
                      <a:schemeClr val="tx1"/>
                    </a:solidFill>
                  </a:rPr>
                  <a:t>)</a:t>
                </a:r>
              </a:p>
              <a:p>
                <a:pPr lvl="2"/>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4</m:t>
                        </m:r>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9204</m:t>
                    </m:r>
                  </m:oMath>
                </a14:m>
                <a:r>
                  <a:rPr lang="en-US" dirty="0">
                    <a:solidFill>
                      <a:schemeClr val="tx1"/>
                    </a:solidFill>
                  </a:rPr>
                  <a:t> (here </a:t>
                </a:r>
                <a14:m>
                  <m:oMath xmlns:m="http://schemas.openxmlformats.org/officeDocument/2006/math">
                    <m:r>
                      <a:rPr lang="en-US" i="1">
                        <a:solidFill>
                          <a:schemeClr val="tx1"/>
                        </a:solidFill>
                        <a:latin typeface="Cambria Math" panose="02040503050406030204" pitchFamily="18" charset="0"/>
                      </a:rPr>
                      <m:t>h</m:t>
                    </m:r>
                    <m:r>
                      <a:rPr lang="en-US" i="1">
                        <a:solidFill>
                          <a:schemeClr val="tx1"/>
                        </a:solidFill>
                        <a:latin typeface="Cambria Math" panose="02040503050406030204" pitchFamily="18" charset="0"/>
                      </a:rPr>
                      <m:t>=14−12=2</m:t>
                    </m:r>
                  </m:oMath>
                </a14:m>
                <a:r>
                  <a:rPr lang="en-US" dirty="0">
                    <a:solidFill>
                      <a:schemeClr val="tx1"/>
                    </a:solidFill>
                  </a:rPr>
                  <a:t>)</a:t>
                </a:r>
              </a:p>
              <a:p>
                <a:pPr lvl="2"/>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5</m:t>
                        </m:r>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3</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12</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20082</m:t>
                    </m:r>
                  </m:oMath>
                </a14:m>
                <a:r>
                  <a:rPr lang="en-US" dirty="0">
                    <a:solidFill>
                      <a:schemeClr val="tx1"/>
                    </a:solidFill>
                  </a:rPr>
                  <a:t> (here </a:t>
                </a:r>
                <a14:m>
                  <m:oMath xmlns:m="http://schemas.openxmlformats.org/officeDocument/2006/math">
                    <m:r>
                      <a:rPr lang="en-US" i="1">
                        <a:solidFill>
                          <a:schemeClr val="tx1"/>
                        </a:solidFill>
                        <a:latin typeface="Cambria Math" panose="02040503050406030204" pitchFamily="18" charset="0"/>
                      </a:rPr>
                      <m:t>h</m:t>
                    </m:r>
                    <m:r>
                      <a:rPr lang="en-US" i="1">
                        <a:solidFill>
                          <a:schemeClr val="tx1"/>
                        </a:solidFill>
                        <a:latin typeface="Cambria Math" panose="02040503050406030204" pitchFamily="18" charset="0"/>
                      </a:rPr>
                      <m:t>=15−12=3</m:t>
                    </m:r>
                  </m:oMath>
                </a14:m>
                <a:r>
                  <a:rPr lang="en-US" dirty="0">
                    <a:solidFill>
                      <a:schemeClr val="tx1"/>
                    </a:solidFill>
                  </a:rPr>
                  <a:t>)</a:t>
                </a:r>
                <a:endParaRPr lang="en-US" dirty="0">
                  <a:solidFill>
                    <a:schemeClr val="bg2"/>
                  </a:solidFill>
                </a:endParaRPr>
              </a:p>
              <a:p>
                <a:pPr lvl="4"/>
                <a:endParaRPr lang="en-US" dirty="0">
                  <a:solidFill>
                    <a:schemeClr val="bg2"/>
                  </a:solidFill>
                </a:endParaRPr>
              </a:p>
              <a:p>
                <a:pPr marL="0" indent="0">
                  <a:buNone/>
                </a:pPr>
                <a:endParaRPr lang="en-US" sz="2400" dirty="0">
                  <a:solidFill>
                    <a:srgbClr val="C00000"/>
                  </a:solidFill>
                </a:endParaRPr>
              </a:p>
              <a:p>
                <a:pPr marL="0" indent="0">
                  <a:buNone/>
                </a:pPr>
                <a:r>
                  <a:rPr lang="en-US" sz="2400" dirty="0">
                    <a:solidFill>
                      <a:srgbClr val="C00000"/>
                    </a:solidFill>
                  </a:rPr>
                  <a:t>See</a:t>
                </a:r>
                <a:r>
                  <a:rPr lang="en-US" sz="2400" dirty="0"/>
                  <a:t> </a:t>
                </a:r>
                <a:r>
                  <a:rPr lang="en-US" sz="2400" i="1" dirty="0"/>
                  <a:t>Module 1.3 – Example – Sales Forecasting with Holt.xlsx </a:t>
                </a:r>
                <a:r>
                  <a:rPr lang="en-US" sz="2400" dirty="0">
                    <a:sym typeface="Wingdings" panose="05000000000000000000" pitchFamily="2" charset="2"/>
                  </a:rPr>
                  <a:t> “Forecasting” tab</a:t>
                </a:r>
                <a:endParaRPr lang="en-US" sz="2400"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253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BD0EF912-2BD0-CAA1-4F6D-D2680F2E883E}"/>
              </a:ext>
            </a:extLst>
          </p:cNvPr>
          <p:cNvPicPr>
            <a:picLocks noChangeAspect="1"/>
          </p:cNvPicPr>
          <p:nvPr/>
        </p:nvPicPr>
        <p:blipFill>
          <a:blip r:embed="rId3"/>
          <a:stretch>
            <a:fillRect/>
          </a:stretch>
        </p:blipFill>
        <p:spPr>
          <a:xfrm>
            <a:off x="2956464" y="2607532"/>
            <a:ext cx="4586242" cy="472922"/>
          </a:xfrm>
          <a:prstGeom prst="rect">
            <a:avLst/>
          </a:prstGeom>
          <a:ln w="28575">
            <a:solidFill>
              <a:srgbClr val="C00000"/>
            </a:solidFill>
          </a:ln>
        </p:spPr>
      </p:pic>
    </p:spTree>
    <p:extLst>
      <p:ext uri="{BB962C8B-B14F-4D97-AF65-F5344CB8AC3E}">
        <p14:creationId xmlns:p14="http://schemas.microsoft.com/office/powerpoint/2010/main" val="13762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Holt’s Example: Updated Forecasts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Sales forecasting with Holt’s Method: Updated One-step-ahead and multi-step-ahead forecasts</a:t>
                </a:r>
              </a:p>
              <a:p>
                <a:pPr lvl="1"/>
                <a:r>
                  <a:rPr lang="en-US" dirty="0">
                    <a:solidFill>
                      <a:schemeClr val="tx1"/>
                    </a:solidFill>
                  </a:rPr>
                  <a:t>Suppose that we observed the sales in period 13 and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=18950</m:t>
                    </m:r>
                  </m:oMath>
                </a14:m>
                <a:endParaRPr lang="en-US" dirty="0">
                  <a:solidFill>
                    <a:schemeClr val="tx1"/>
                  </a:solidFill>
                </a:endParaRPr>
              </a:p>
              <a:p>
                <a:pPr lvl="1"/>
                <a:r>
                  <a:rPr lang="en-US" dirty="0">
                    <a:solidFill>
                      <a:schemeClr val="tx1"/>
                    </a:solidFill>
                  </a:rPr>
                  <a:t>Given we’re in period 13, what are the forecasts for period 14 &amp; 15?</a:t>
                </a:r>
              </a:p>
              <a:p>
                <a:pPr lvl="1"/>
                <a:r>
                  <a:rPr lang="en-US" dirty="0">
                    <a:solidFill>
                      <a:schemeClr val="tx1"/>
                    </a:solidFill>
                  </a:rPr>
                  <a:t>That is, 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14</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13</m:t>
                        </m:r>
                      </m:sub>
                    </m:sSub>
                  </m:oMath>
                </a14:m>
                <a:r>
                  <a:rPr lang="en-US" dirty="0">
                    <a:solidFill>
                      <a:schemeClr val="tx1"/>
                    </a:solidFill>
                  </a:rPr>
                  <a:t> and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15</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13</m:t>
                        </m:r>
                      </m:sub>
                    </m:sSub>
                  </m:oMath>
                </a14:m>
                <a:r>
                  <a:rPr lang="en-US" dirty="0">
                    <a:solidFill>
                      <a:schemeClr val="tx1"/>
                    </a:solidFill>
                  </a:rPr>
                  <a:t>?</a:t>
                </a:r>
              </a:p>
              <a:p>
                <a:pPr lvl="8"/>
                <a:endParaRPr lang="en-US" dirty="0">
                  <a:solidFill>
                    <a:schemeClr val="tx1"/>
                  </a:solidFill>
                </a:endParaRPr>
              </a:p>
              <a:p>
                <a:pPr lvl="1"/>
                <a:r>
                  <a:rPr lang="en-US" dirty="0">
                    <a:solidFill>
                      <a:schemeClr val="tx1"/>
                    </a:solidFill>
                  </a:rPr>
                  <a:t>Given new observation, calculate the updated level and then trend using the smoothing equations</a:t>
                </a: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13</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𝛼</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13</m:t>
                        </m:r>
                      </m:sub>
                    </m:sSub>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𝛼</m:t>
                        </m:r>
                      </m:e>
                    </m:d>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2</m:t>
                            </m:r>
                          </m:sub>
                        </m:sSub>
                      </m:e>
                    </m:d>
                    <m:r>
                      <a:rPr lang="en-US"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18388</m:t>
                    </m:r>
                  </m:oMath>
                </a14:m>
                <a:endParaRPr lang="en-US" dirty="0">
                  <a:solidFill>
                    <a:schemeClr val="tx1"/>
                  </a:solidFill>
                </a:endParaRPr>
              </a:p>
              <a:p>
                <a:pPr lvl="2"/>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13</m:t>
                        </m:r>
                      </m:sub>
                    </m:sSub>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13</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2</m:t>
                            </m:r>
                          </m:sub>
                        </m:sSub>
                      </m:e>
                    </m:d>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891</m:t>
                    </m:r>
                  </m:oMath>
                </a14:m>
                <a:endParaRPr lang="en-US" dirty="0">
                  <a:solidFill>
                    <a:schemeClr val="tx1"/>
                  </a:solidFill>
                </a:endParaRPr>
              </a:p>
              <a:p>
                <a:pPr lvl="1"/>
                <a:r>
                  <a:rPr lang="en-US" dirty="0">
                    <a:solidFill>
                      <a:schemeClr val="tx1"/>
                    </a:solidFill>
                  </a:rPr>
                  <a:t>Then, from the forecast equation, we have:</a:t>
                </a:r>
              </a:p>
              <a:p>
                <a:pPr lvl="2"/>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14</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+1</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=19279</m:t>
                    </m:r>
                  </m:oMath>
                </a14:m>
                <a:r>
                  <a:rPr lang="en-US" dirty="0">
                    <a:solidFill>
                      <a:schemeClr val="tx1"/>
                    </a:solidFill>
                  </a:rPr>
                  <a:t> and </a:t>
                </a:r>
                <a14:m>
                  <m:oMath xmlns:m="http://schemas.openxmlformats.org/officeDocument/2006/math">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b="0" i="1" smtClean="0">
                            <a:solidFill>
                              <a:schemeClr val="tx1"/>
                            </a:solidFill>
                            <a:latin typeface="Cambria Math" panose="02040503050406030204" pitchFamily="18" charset="0"/>
                          </a:rPr>
                          <m:t>15</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+2</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13</m:t>
                        </m:r>
                      </m:sub>
                    </m:sSub>
                    <m:r>
                      <a:rPr lang="en-US" b="0" i="1" smtClean="0">
                        <a:solidFill>
                          <a:schemeClr val="tx1"/>
                        </a:solidFill>
                        <a:latin typeface="Cambria Math" panose="02040503050406030204" pitchFamily="18" charset="0"/>
                      </a:rPr>
                      <m:t>=20170</m:t>
                    </m:r>
                  </m:oMath>
                </a14:m>
                <a:endParaRPr lang="en-US" b="0" dirty="0">
                  <a:solidFill>
                    <a:schemeClr val="tx1"/>
                  </a:solidFill>
                </a:endParaRPr>
              </a:p>
              <a:p>
                <a:pPr lvl="4"/>
                <a:endParaRPr lang="en-US" dirty="0">
                  <a:solidFill>
                    <a:srgbClr val="C00000"/>
                  </a:solidFill>
                </a:endParaRPr>
              </a:p>
              <a:p>
                <a:pPr marL="0" indent="0">
                  <a:buNone/>
                </a:pPr>
                <a:r>
                  <a:rPr lang="en-US" dirty="0">
                    <a:solidFill>
                      <a:srgbClr val="C00000"/>
                    </a:solidFill>
                  </a:rPr>
                  <a:t>See</a:t>
                </a:r>
                <a:r>
                  <a:rPr lang="en-US" dirty="0"/>
                  <a:t> </a:t>
                </a:r>
                <a:r>
                  <a:rPr lang="en-US" sz="2400" i="1" dirty="0"/>
                  <a:t>Module 1.3 – Example – Sales Forecasting with Holt.xlsx </a:t>
                </a:r>
                <a:r>
                  <a:rPr lang="en-US" sz="2400" dirty="0">
                    <a:sym typeface="Wingdings" panose="05000000000000000000" pitchFamily="2" charset="2"/>
                  </a:rPr>
                  <a:t> “Updated Forecasts” tab</a:t>
                </a:r>
                <a:endParaRPr lang="en-US" sz="2400" dirty="0"/>
              </a:p>
              <a:p>
                <a:pPr lvl="2"/>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1062" t="-2005" b="-13534"/>
                </a:stretch>
              </a:blipFill>
            </p:spPr>
            <p:txBody>
              <a:bodyPr/>
              <a:lstStyle/>
              <a:p>
                <a:r>
                  <a:rPr lang="en-US">
                    <a:noFill/>
                  </a:rPr>
                  <a:t> </a:t>
                </a:r>
              </a:p>
            </p:txBody>
          </p:sp>
        </mc:Fallback>
      </mc:AlternateContent>
    </p:spTree>
    <p:extLst>
      <p:ext uri="{BB962C8B-B14F-4D97-AF65-F5344CB8AC3E}">
        <p14:creationId xmlns:p14="http://schemas.microsoft.com/office/powerpoint/2010/main" val="315123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Damped Trend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Holt’s Linear Trend method assumes that the future forecasts made in a given period all use the same trend</a:t>
                </a:r>
              </a:p>
              <a:p>
                <a:pPr lvl="1"/>
                <a:r>
                  <a:rPr lang="en-US" dirty="0"/>
                  <a:t>The same trend is added to the current level for each period in future</a:t>
                </a:r>
              </a:p>
              <a:p>
                <a:pPr lvl="1"/>
                <a:r>
                  <a:rPr lang="en-US" dirty="0"/>
                  <a:t>Linear trend approach can result in over-forecasting especially for longer forecast horizons</a:t>
                </a:r>
              </a:p>
              <a:p>
                <a:r>
                  <a:rPr lang="en-US" dirty="0">
                    <a:solidFill>
                      <a:schemeClr val="tx1"/>
                    </a:solidFill>
                  </a:rPr>
                  <a:t>In damped trend methods, trend is damped into a flat line sometime in future</a:t>
                </a:r>
              </a:p>
              <a:p>
                <a:pPr lvl="1"/>
                <a:r>
                  <a:rPr lang="en-US" dirty="0">
                    <a:solidFill>
                      <a:schemeClr val="tx1"/>
                    </a:solidFill>
                  </a:rPr>
                  <a:t>To do so, a damping parameter, denoted  by </a:t>
                </a:r>
                <a14:m>
                  <m:oMath xmlns:m="http://schemas.openxmlformats.org/officeDocument/2006/math">
                    <m:r>
                      <a:rPr lang="en-US" b="0" i="0" smtClean="0">
                        <a:solidFill>
                          <a:schemeClr val="tx1"/>
                        </a:solidFill>
                        <a:latin typeface="Cambria Math" panose="02040503050406030204" pitchFamily="18" charset="0"/>
                        <a:ea typeface="Cambria Math" panose="02040503050406030204" pitchFamily="18" charset="0"/>
                      </a:rPr>
                      <m:t>1&lt;</m:t>
                    </m:r>
                    <m:r>
                      <a:rPr lang="en-US" i="1" smtClean="0">
                        <a:solidFill>
                          <a:schemeClr val="tx1"/>
                        </a:solidFill>
                        <a:latin typeface="Cambria Math" panose="02040503050406030204" pitchFamily="18" charset="0"/>
                        <a:ea typeface="Cambria Math" panose="02040503050406030204" pitchFamily="18" charset="0"/>
                      </a:rPr>
                      <m:t>𝜙</m:t>
                    </m:r>
                    <m:r>
                      <a:rPr lang="en-US" b="0" i="0" smtClean="0">
                        <a:solidFill>
                          <a:schemeClr val="tx1"/>
                        </a:solidFill>
                        <a:latin typeface="Cambria Math" panose="02040503050406030204" pitchFamily="18" charset="0"/>
                        <a:ea typeface="Cambria Math" panose="02040503050406030204" pitchFamily="18" charset="0"/>
                      </a:rPr>
                      <m:t>&lt;0</m:t>
                    </m:r>
                  </m:oMath>
                </a14:m>
                <a:r>
                  <a:rPr lang="en-US" dirty="0">
                    <a:solidFill>
                      <a:schemeClr val="tx1"/>
                    </a:solidFill>
                  </a:rPr>
                  <a:t>, is introduced</a:t>
                </a:r>
              </a:p>
              <a:p>
                <a:pPr lvl="1"/>
                <a:r>
                  <a:rPr lang="en-US" dirty="0">
                    <a:solidFill>
                      <a:schemeClr val="tx1"/>
                    </a:solidFill>
                  </a:rPr>
                  <a:t>With damping parameter, short-term forecasts are trended while long-term forecasts are more constant</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531"/>
                </a:stretch>
              </a:blipFill>
            </p:spPr>
            <p:txBody>
              <a:bodyPr/>
              <a:lstStyle/>
              <a:p>
                <a:r>
                  <a:rPr lang="en-US">
                    <a:noFill/>
                  </a:rPr>
                  <a:t> </a:t>
                </a:r>
              </a:p>
            </p:txBody>
          </p:sp>
        </mc:Fallback>
      </mc:AlternateContent>
    </p:spTree>
    <p:extLst>
      <p:ext uri="{BB962C8B-B14F-4D97-AF65-F5344CB8AC3E}">
        <p14:creationId xmlns:p14="http://schemas.microsoft.com/office/powerpoint/2010/main" val="244606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Damped Trend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Holt’s damped trend method:</a:t>
                </a:r>
              </a:p>
              <a:p>
                <a:endParaRPr lang="en-US" dirty="0"/>
              </a:p>
              <a:p>
                <a:endParaRPr lang="en-US" dirty="0"/>
              </a:p>
              <a:p>
                <a:endParaRPr lang="en-US" dirty="0"/>
              </a:p>
              <a:p>
                <a:pPr lvl="1"/>
                <a:r>
                  <a:rPr lang="en-US" dirty="0"/>
                  <a:t>First equation is the forecast equation</a:t>
                </a:r>
              </a:p>
              <a:p>
                <a:pPr lvl="2"/>
                <a:r>
                  <a:rPr lang="en-US" dirty="0"/>
                  <a:t>For each future period, the trend is further damped by </a:t>
                </a:r>
                <a14:m>
                  <m:oMath xmlns:m="http://schemas.openxmlformats.org/officeDocument/2006/math">
                    <m:r>
                      <a:rPr lang="en-US" b="0" i="1" smtClean="0">
                        <a:latin typeface="Cambria Math" panose="02040503050406030204" pitchFamily="18" charset="0"/>
                      </a:rPr>
                      <m:t>𝜙</m:t>
                    </m:r>
                  </m:oMath>
                </a14:m>
                <a:endParaRPr lang="en-US" dirty="0"/>
              </a:p>
              <a:p>
                <a:pPr lvl="1"/>
                <a:r>
                  <a:rPr lang="en-US" dirty="0"/>
                  <a:t>Second equation is the smoothing equation for level</a:t>
                </a:r>
              </a:p>
              <a:p>
                <a:pPr lvl="1"/>
                <a:r>
                  <a:rPr lang="en-US" dirty="0"/>
                  <a:t>Third equation is the smoothing equation for trend</a:t>
                </a:r>
              </a:p>
              <a:p>
                <a:pPr lvl="2"/>
                <a:r>
                  <a:rPr lang="en-US" dirty="0"/>
                  <a:t>Their differences from Holt’s Linear Trend method are that the trend estimates are damped</a:t>
                </a:r>
                <a:endParaRPr lang="en-US" dirty="0">
                  <a:solidFill>
                    <a:schemeClr val="bg2"/>
                  </a:solidFill>
                </a:endParaRPr>
              </a:p>
              <a:p>
                <a:pPr marL="457200" lvl="1" indent="0">
                  <a:buNone/>
                </a:pPr>
                <a:endParaRPr lang="en-US" dirty="0">
                  <a:solidFill>
                    <a:schemeClr val="bg2"/>
                  </a:solidFill>
                </a:endParaRPr>
              </a:p>
              <a:p>
                <a:pPr marL="457200" lvl="1" indent="0">
                  <a:buNone/>
                </a:pPr>
                <a:r>
                  <a:rPr lang="en-US" dirty="0">
                    <a:solidFill>
                      <a:srgbClr val="C00000"/>
                    </a:solidFill>
                  </a:rPr>
                  <a:t>See</a:t>
                </a:r>
                <a:r>
                  <a:rPr lang="en-US" dirty="0"/>
                  <a:t> </a:t>
                </a:r>
                <a:r>
                  <a:rPr lang="en-US" i="1" dirty="0"/>
                  <a:t>Module 1.3 – Example – Holt Insights and Damped Holt.xlsx </a:t>
                </a:r>
                <a:r>
                  <a:rPr lang="en-US" dirty="0">
                    <a:sym typeface="Wingdings" panose="05000000000000000000" pitchFamily="2" charset="2"/>
                  </a:rPr>
                  <a:t> “Damped Holt” tab</a:t>
                </a:r>
                <a:endParaRPr lang="en-US" dirty="0"/>
              </a:p>
              <a:p>
                <a:pPr lvl="1"/>
                <a:endParaRPr lang="en-US" dirty="0"/>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92335107-1D2C-4D76-C7A2-7E900AA8EE64}"/>
              </a:ext>
            </a:extLst>
          </p:cNvPr>
          <p:cNvPicPr>
            <a:picLocks noChangeAspect="1"/>
          </p:cNvPicPr>
          <p:nvPr/>
        </p:nvPicPr>
        <p:blipFill>
          <a:blip r:embed="rId3"/>
          <a:stretch>
            <a:fillRect/>
          </a:stretch>
        </p:blipFill>
        <p:spPr>
          <a:xfrm>
            <a:off x="2712318" y="1762546"/>
            <a:ext cx="5013741" cy="1451144"/>
          </a:xfrm>
          <a:prstGeom prst="rect">
            <a:avLst/>
          </a:prstGeom>
          <a:ln w="19050">
            <a:solidFill>
              <a:srgbClr val="C00000"/>
            </a:solidFill>
          </a:ln>
        </p:spPr>
      </p:pic>
    </p:spTree>
    <p:extLst>
      <p:ext uri="{BB962C8B-B14F-4D97-AF65-F5344CB8AC3E}">
        <p14:creationId xmlns:p14="http://schemas.microsoft.com/office/powerpoint/2010/main" val="309252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Insights and Optimization</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Unlike simple exponential smoothing, methods with trend do not result in flat forecasts</a:t>
            </a:r>
          </a:p>
          <a:p>
            <a:pPr lvl="1"/>
            <a:r>
              <a:rPr lang="en-US" dirty="0"/>
              <a:t>That is, one-step-ahead and multi-step-ahead forecasts are not identical</a:t>
            </a:r>
          </a:p>
          <a:p>
            <a:pPr lvl="1"/>
            <a:r>
              <a:rPr lang="en-US" dirty="0"/>
              <a:t>This is expected because the trend is captured by methods with trend</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marL="457200" lvl="1" indent="0">
              <a:buNone/>
            </a:pPr>
            <a:r>
              <a:rPr lang="en-US" dirty="0">
                <a:solidFill>
                  <a:srgbClr val="C00000"/>
                </a:solidFill>
              </a:rPr>
              <a:t>See</a:t>
            </a:r>
            <a:r>
              <a:rPr lang="en-US" dirty="0"/>
              <a:t> </a:t>
            </a:r>
            <a:r>
              <a:rPr lang="en-US" i="1" dirty="0"/>
              <a:t>Module 1.3 – Example – Holt Insights and Damped Holt.xlsx </a:t>
            </a:r>
            <a:r>
              <a:rPr lang="en-US" dirty="0">
                <a:sym typeface="Wingdings" panose="05000000000000000000" pitchFamily="2" charset="2"/>
              </a:rPr>
              <a:t> “Insights” tab</a:t>
            </a:r>
            <a:endParaRPr lang="en-US" dirty="0"/>
          </a:p>
          <a:p>
            <a:pPr lvl="1"/>
            <a:endParaRPr lang="en-US" dirty="0"/>
          </a:p>
        </p:txBody>
      </p:sp>
      <p:pic>
        <p:nvPicPr>
          <p:cNvPr id="2" name="Picture 1">
            <a:extLst>
              <a:ext uri="{FF2B5EF4-FFF2-40B4-BE49-F238E27FC236}">
                <a16:creationId xmlns:a16="http://schemas.microsoft.com/office/drawing/2014/main" id="{CC50C799-080A-204A-7683-A14B399D2B9D}"/>
              </a:ext>
            </a:extLst>
          </p:cNvPr>
          <p:cNvPicPr>
            <a:picLocks noChangeAspect="1"/>
          </p:cNvPicPr>
          <p:nvPr/>
        </p:nvPicPr>
        <p:blipFill>
          <a:blip r:embed="rId2"/>
          <a:stretch>
            <a:fillRect/>
          </a:stretch>
        </p:blipFill>
        <p:spPr>
          <a:xfrm>
            <a:off x="1299411" y="3019554"/>
            <a:ext cx="7870840" cy="3205980"/>
          </a:xfrm>
          <a:prstGeom prst="rect">
            <a:avLst/>
          </a:prstGeom>
        </p:spPr>
      </p:pic>
    </p:spTree>
    <p:extLst>
      <p:ext uri="{BB962C8B-B14F-4D97-AF65-F5344CB8AC3E}">
        <p14:creationId xmlns:p14="http://schemas.microsoft.com/office/powerpoint/2010/main" val="729161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Insights and Optimization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Optimization:</a:t>
                </a:r>
              </a:p>
              <a:p>
                <a:pPr lvl="1"/>
                <a:r>
                  <a:rPr lang="en-US" dirty="0">
                    <a:solidFill>
                      <a:schemeClr val="tx1"/>
                    </a:solidFill>
                  </a:rPr>
                  <a:t>What are the best values for </a:t>
                </a:r>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and </a:t>
                </a:r>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𝛽</m:t>
                        </m:r>
                      </m:e>
                      <m:sup>
                        <m:r>
                          <a:rPr lang="en-US" b="0" i="1" smtClean="0">
                            <a:solidFill>
                              <a:schemeClr val="tx1"/>
                            </a:solidFill>
                            <a:latin typeface="Cambria Math" panose="02040503050406030204" pitchFamily="18" charset="0"/>
                          </a:rPr>
                          <m:t>∗</m:t>
                        </m:r>
                      </m:sup>
                    </m:sSup>
                  </m:oMath>
                </a14:m>
                <a:r>
                  <a:rPr lang="en-US" dirty="0">
                    <a:solidFill>
                      <a:schemeClr val="tx1"/>
                    </a:solidFill>
                  </a:rPr>
                  <a:t>?</a:t>
                </a:r>
              </a:p>
              <a:p>
                <a:pPr lvl="1"/>
                <a:r>
                  <a:rPr lang="en-US" dirty="0">
                    <a:solidFill>
                      <a:schemeClr val="tx1"/>
                    </a:solidFill>
                  </a:rPr>
                  <a:t>In some cases, expert opinion based on experience (subjective way)</a:t>
                </a:r>
              </a:p>
              <a:p>
                <a:pPr lvl="1"/>
                <a:r>
                  <a:rPr lang="en-US" dirty="0">
                    <a:solidFill>
                      <a:schemeClr val="tx1"/>
                    </a:solidFill>
                  </a:rPr>
                  <a:t>Objective way is to find the </a:t>
                </a:r>
                <a14:m>
                  <m:oMath xmlns:m="http://schemas.openxmlformats.org/officeDocument/2006/math">
                    <m:r>
                      <a:rPr lang="en-US" i="1">
                        <a:solidFill>
                          <a:schemeClr val="tx1"/>
                        </a:solidFill>
                        <a:latin typeface="Cambria Math" panose="02040503050406030204" pitchFamily="18" charset="0"/>
                      </a:rPr>
                      <m:t>𝛼</m:t>
                    </m:r>
                  </m:oMath>
                </a14:m>
                <a:r>
                  <a:rPr lang="en-US" dirty="0">
                    <a:solidFill>
                      <a:schemeClr val="tx1"/>
                    </a:solidFill>
                  </a:rPr>
                  <a:t> and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oMath>
                </a14:m>
                <a:r>
                  <a:rPr lang="en-US" dirty="0">
                    <a:solidFill>
                      <a:schemeClr val="tx1"/>
                    </a:solidFill>
                  </a:rPr>
                  <a:t> pair that will minimize the forecast errors based on the available data</a:t>
                </a:r>
              </a:p>
              <a:p>
                <a:pPr lvl="1"/>
                <a:r>
                  <a:rPr lang="en-US" dirty="0">
                    <a:solidFill>
                      <a:schemeClr val="tx1"/>
                    </a:solidFill>
                  </a:rPr>
                  <a:t>To do so, we can minimize the sum of squared errors (SSE)</a:t>
                </a:r>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r>
                  <a:rPr lang="en-US" dirty="0">
                    <a:solidFill>
                      <a:schemeClr val="tx1"/>
                    </a:solidFill>
                  </a:rPr>
                  <a:t>Requires using a nonlinear optimization tool</a:t>
                </a:r>
              </a:p>
              <a:p>
                <a:pPr lvl="2"/>
                <a:r>
                  <a:rPr lang="en-US" dirty="0">
                    <a:solidFill>
                      <a:schemeClr val="tx1"/>
                    </a:solidFill>
                  </a:rPr>
                  <a:t>Excel Solver can be used</a:t>
                </a:r>
              </a:p>
              <a:p>
                <a:pPr lvl="2"/>
                <a:endParaRPr lang="en-US" dirty="0"/>
              </a:p>
              <a:p>
                <a:pPr marL="457200" lvl="1" indent="0">
                  <a:buNone/>
                </a:pPr>
                <a:r>
                  <a:rPr lang="en-US" dirty="0">
                    <a:solidFill>
                      <a:srgbClr val="C00000"/>
                    </a:solidFill>
                  </a:rPr>
                  <a:t>See</a:t>
                </a:r>
                <a:r>
                  <a:rPr lang="en-US" dirty="0"/>
                  <a:t> </a:t>
                </a:r>
                <a:r>
                  <a:rPr lang="en-US" i="1" dirty="0"/>
                  <a:t>Module 1.3 – Example – Holt Insights and Damped Holt.xlsx </a:t>
                </a:r>
                <a:r>
                  <a:rPr lang="en-US" dirty="0">
                    <a:sym typeface="Wingdings" panose="05000000000000000000" pitchFamily="2" charset="2"/>
                  </a:rPr>
                  <a:t> “Optimization” tab</a:t>
                </a:r>
                <a:endParaRPr lang="en-US" dirty="0"/>
              </a:p>
              <a:p>
                <a:pPr lvl="2"/>
                <a:endParaRPr lang="en-US" dirty="0">
                  <a:solidFill>
                    <a:schemeClr val="tx1"/>
                  </a:solidFill>
                </a:endParaRPr>
              </a:p>
              <a:p>
                <a:pPr lvl="1"/>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531" b="-601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1D9D6EE-BDDA-184B-F30D-FB5B6F1D712A}"/>
              </a:ext>
            </a:extLst>
          </p:cNvPr>
          <p:cNvPicPr>
            <a:picLocks noChangeAspect="1"/>
          </p:cNvPicPr>
          <p:nvPr/>
        </p:nvPicPr>
        <p:blipFill>
          <a:blip r:embed="rId3"/>
          <a:stretch>
            <a:fillRect/>
          </a:stretch>
        </p:blipFill>
        <p:spPr>
          <a:xfrm>
            <a:off x="4038285" y="3659812"/>
            <a:ext cx="3019612" cy="1027507"/>
          </a:xfrm>
          <a:prstGeom prst="rect">
            <a:avLst/>
          </a:prstGeom>
        </p:spPr>
      </p:pic>
    </p:spTree>
    <p:extLst>
      <p:ext uri="{BB962C8B-B14F-4D97-AF65-F5344CB8AC3E}">
        <p14:creationId xmlns:p14="http://schemas.microsoft.com/office/powerpoint/2010/main" val="1614605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solidFill>
                  <a:schemeClr val="bg2"/>
                </a:solidFill>
              </a:rPr>
              <a:t>Exponential Smoothing Methods</a:t>
            </a:r>
          </a:p>
          <a:p>
            <a:pPr lvl="1"/>
            <a:r>
              <a:rPr lang="en-US" dirty="0">
                <a:solidFill>
                  <a:schemeClr val="bg2"/>
                </a:solidFill>
              </a:rPr>
              <a:t>Introduction and Notation</a:t>
            </a:r>
          </a:p>
          <a:p>
            <a:r>
              <a:rPr lang="en-US" dirty="0">
                <a:solidFill>
                  <a:schemeClr val="bg2"/>
                </a:solidFill>
              </a:rPr>
              <a:t>Simple Exponential Smoothing</a:t>
            </a:r>
          </a:p>
          <a:p>
            <a:pPr lvl="1"/>
            <a:r>
              <a:rPr lang="en-US" dirty="0">
                <a:solidFill>
                  <a:schemeClr val="bg2"/>
                </a:solidFill>
              </a:rPr>
              <a:t>Forms and Equations, and Example</a:t>
            </a:r>
          </a:p>
          <a:p>
            <a:pPr lvl="1"/>
            <a:r>
              <a:rPr lang="en-US" dirty="0">
                <a:solidFill>
                  <a:schemeClr val="bg2"/>
                </a:solidFill>
              </a:rPr>
              <a:t>Insights and Optimization</a:t>
            </a:r>
          </a:p>
          <a:p>
            <a:r>
              <a:rPr lang="en-US" dirty="0">
                <a:solidFill>
                  <a:schemeClr val="bg2"/>
                </a:solidFill>
              </a:rPr>
              <a:t>Holt’s Linear Trend Method</a:t>
            </a:r>
          </a:p>
          <a:p>
            <a:pPr lvl="1"/>
            <a:r>
              <a:rPr lang="en-US" dirty="0">
                <a:solidFill>
                  <a:schemeClr val="bg2"/>
                </a:solidFill>
              </a:rPr>
              <a:t>Equations and Example</a:t>
            </a:r>
          </a:p>
          <a:p>
            <a:pPr lvl="1"/>
            <a:r>
              <a:rPr lang="en-US" dirty="0">
                <a:solidFill>
                  <a:schemeClr val="bg2"/>
                </a:solidFill>
              </a:rPr>
              <a:t>Insights, Optimization, and Damping</a:t>
            </a:r>
          </a:p>
          <a:p>
            <a:r>
              <a:rPr lang="en-US" dirty="0"/>
              <a:t>Holt-Winters’ Seasonal Method</a:t>
            </a:r>
          </a:p>
          <a:p>
            <a:pPr lvl="1"/>
            <a:r>
              <a:rPr lang="en-US" dirty="0"/>
              <a:t>Equations and Example</a:t>
            </a:r>
          </a:p>
          <a:p>
            <a:pPr lvl="1"/>
            <a:r>
              <a:rPr lang="en-US" dirty="0"/>
              <a:t>Multiplicative and Damped method</a:t>
            </a:r>
          </a:p>
          <a:p>
            <a:r>
              <a:rPr lang="en-US" dirty="0">
                <a:solidFill>
                  <a:schemeClr val="bg2"/>
                </a:solidFill>
              </a:rPr>
              <a:t>Taxonomy of ETS Methods</a:t>
            </a:r>
          </a:p>
        </p:txBody>
      </p:sp>
    </p:spTree>
    <p:extLst>
      <p:ext uri="{BB962C8B-B14F-4D97-AF65-F5344CB8AC3E}">
        <p14:creationId xmlns:p14="http://schemas.microsoft.com/office/powerpoint/2010/main" val="4274883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Seasonal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a:xfrm>
                <a:off x="355001" y="1312433"/>
                <a:ext cx="11645951" cy="4864530"/>
              </a:xfrm>
            </p:spPr>
            <p:txBody>
              <a:bodyPr/>
              <a:lstStyle/>
              <a:p>
                <a:r>
                  <a:rPr lang="en-US" dirty="0">
                    <a:solidFill>
                      <a:schemeClr val="tx1"/>
                    </a:solidFill>
                  </a:rPr>
                  <a:t>When time series has seasonality and/or trend, we can use Holt-Winters’ Seasonal Method (simply Holt-Winters’ method)</a:t>
                </a:r>
              </a:p>
              <a:p>
                <a:pPr lvl="1"/>
                <a:r>
                  <a:rPr lang="en-US" dirty="0">
                    <a:solidFill>
                      <a:schemeClr val="tx1"/>
                    </a:solidFill>
                  </a:rPr>
                  <a:t>Holt-Winters’ method extends Holt’s method to capture seasonality</a:t>
                </a:r>
              </a:p>
              <a:p>
                <a:pPr lvl="1"/>
                <a:r>
                  <a:rPr lang="en-US" dirty="0">
                    <a:solidFill>
                      <a:schemeClr val="tx1"/>
                    </a:solidFill>
                  </a:rPr>
                  <a:t>It uses three components of the time series: </a:t>
                </a:r>
                <a:r>
                  <a:rPr lang="en-US" b="1" dirty="0">
                    <a:solidFill>
                      <a:srgbClr val="C00000"/>
                    </a:solidFill>
                  </a:rPr>
                  <a:t>level, trend, seasonality</a:t>
                </a:r>
              </a:p>
              <a:p>
                <a:pPr lvl="1"/>
                <a:r>
                  <a:rPr lang="en-US" dirty="0">
                    <a:solidFill>
                      <a:schemeClr val="tx1"/>
                    </a:solidFill>
                  </a:rPr>
                  <a:t>It consists of three smoothing equations</a:t>
                </a:r>
              </a:p>
              <a:p>
                <a:pPr lvl="2"/>
                <a:r>
                  <a:rPr lang="en-US" dirty="0">
                    <a:solidFill>
                      <a:schemeClr val="tx1"/>
                    </a:solidFill>
                  </a:rPr>
                  <a:t>one for the level: 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ℓ</m:t>
                        </m:r>
                      </m:e>
                      <m:sub>
                        <m:r>
                          <a:rPr lang="en-US" b="0" i="1" smtClean="0">
                            <a:solidFill>
                              <a:schemeClr val="tx1"/>
                            </a:solidFill>
                            <a:latin typeface="Cambria Math" panose="02040503050406030204" pitchFamily="18" charset="0"/>
                          </a:rPr>
                          <m:t>𝑡</m:t>
                        </m:r>
                      </m:sub>
                    </m:sSub>
                  </m:oMath>
                </a14:m>
                <a:r>
                  <a:rPr lang="en-US" dirty="0">
                    <a:solidFill>
                      <a:schemeClr val="tx1"/>
                    </a:solidFill>
                  </a:rPr>
                  <a:t> is the level estimate at period 𝑡</a:t>
                </a:r>
              </a:p>
              <a:p>
                <a:pPr lvl="2"/>
                <a:r>
                  <a:rPr lang="en-US" dirty="0">
                    <a:solidFill>
                      <a:schemeClr val="tx1"/>
                    </a:solidFill>
                  </a:rPr>
                  <a:t>one for the trend: recall that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𝑏</m:t>
                        </m:r>
                      </m:e>
                      <m:sub>
                        <m:r>
                          <a:rPr lang="en-US" b="0" i="1" smtClean="0">
                            <a:solidFill>
                              <a:schemeClr val="tx1"/>
                            </a:solidFill>
                            <a:latin typeface="Cambria Math" panose="02040503050406030204" pitchFamily="18" charset="0"/>
                          </a:rPr>
                          <m:t>𝑡</m:t>
                        </m:r>
                      </m:sub>
                    </m:sSub>
                  </m:oMath>
                </a14:m>
                <a:r>
                  <a:rPr lang="en-US" dirty="0">
                    <a:solidFill>
                      <a:schemeClr val="tx1"/>
                    </a:solidFill>
                  </a:rPr>
                  <a:t> is the trend estimate at time period 𝑡</a:t>
                </a:r>
              </a:p>
              <a:p>
                <a:pPr lvl="2"/>
                <a:r>
                  <a:rPr lang="en-US" dirty="0">
                    <a:solidFill>
                      <a:schemeClr val="tx1"/>
                    </a:solidFill>
                  </a:rPr>
                  <a:t>one for the seasonal component: recall that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𝑡</m:t>
                        </m:r>
                      </m:sub>
                    </m:sSub>
                  </m:oMath>
                </a14:m>
                <a:r>
                  <a:rPr lang="en-US" dirty="0">
                    <a:solidFill>
                      <a:schemeClr val="tx1"/>
                    </a:solidFill>
                  </a:rPr>
                  <a:t> is the seasonal component estimate at time period </a:t>
                </a:r>
                <a14:m>
                  <m:oMath xmlns:m="http://schemas.openxmlformats.org/officeDocument/2006/math">
                    <m:r>
                      <a:rPr lang="en-US" b="0" i="1" smtClean="0">
                        <a:solidFill>
                          <a:schemeClr val="tx1"/>
                        </a:solidFill>
                        <a:latin typeface="Cambria Math" panose="02040503050406030204" pitchFamily="18" charset="0"/>
                      </a:rPr>
                      <m:t>𝑡</m:t>
                    </m:r>
                  </m:oMath>
                </a14:m>
                <a:endParaRPr lang="en-US"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xfrm>
                <a:off x="355001" y="1312433"/>
                <a:ext cx="11645951" cy="4864530"/>
              </a:xfrm>
              <a:blipFill>
                <a:blip r:embed="rId2"/>
                <a:stretch>
                  <a:fillRect l="-942" t="-2005"/>
                </a:stretch>
              </a:blipFill>
            </p:spPr>
            <p:txBody>
              <a:bodyPr/>
              <a:lstStyle/>
              <a:p>
                <a:r>
                  <a:rPr lang="en-US">
                    <a:noFill/>
                  </a:rPr>
                  <a:t> </a:t>
                </a:r>
              </a:p>
            </p:txBody>
          </p:sp>
        </mc:Fallback>
      </mc:AlternateContent>
    </p:spTree>
    <p:extLst>
      <p:ext uri="{BB962C8B-B14F-4D97-AF65-F5344CB8AC3E}">
        <p14:creationId xmlns:p14="http://schemas.microsoft.com/office/powerpoint/2010/main" val="268949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Seasonal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The seasonal component modeling has two approaches:</a:t>
                </a:r>
              </a:p>
              <a:p>
                <a:pPr lvl="1"/>
                <a:r>
                  <a:rPr lang="en-US" dirty="0">
                    <a:solidFill>
                      <a:srgbClr val="C00000"/>
                    </a:solidFill>
                  </a:rPr>
                  <a:t>Additive method:</a:t>
                </a:r>
              </a:p>
              <a:p>
                <a:pPr lvl="2"/>
                <a:r>
                  <a:rPr lang="en-US" dirty="0">
                    <a:solidFill>
                      <a:schemeClr val="tx1"/>
                    </a:solidFill>
                  </a:rPr>
                  <a:t>The seasonal component is included by adding the seasonal factor to the </a:t>
                </a:r>
                <a:r>
                  <a:rPr lang="en-US" dirty="0" err="1">
                    <a:solidFill>
                      <a:schemeClr val="tx1"/>
                    </a:solidFill>
                  </a:rPr>
                  <a:t>deseasonalized</a:t>
                </a:r>
                <a:r>
                  <a:rPr lang="en-US" dirty="0">
                    <a:solidFill>
                      <a:schemeClr val="tx1"/>
                    </a:solidFill>
                  </a:rPr>
                  <a:t> value in the forecast equation</a:t>
                </a:r>
              </a:p>
              <a:p>
                <a:pPr lvl="2"/>
                <a:r>
                  <a:rPr lang="en-US" dirty="0">
                    <a:solidFill>
                      <a:schemeClr val="tx1"/>
                    </a:solidFill>
                  </a:rPr>
                  <a:t>Within each repeating pattern, the seasonal components will add up to approximately 0</a:t>
                </a:r>
              </a:p>
              <a:p>
                <a:pPr lvl="2"/>
                <a:r>
                  <a:rPr lang="en-US" dirty="0">
                    <a:solidFill>
                      <a:schemeClr val="tx1"/>
                    </a:solidFill>
                  </a:rPr>
                  <a:t>Preferred when seasonal variations are roughly constant</a:t>
                </a:r>
              </a:p>
              <a:p>
                <a:pPr lvl="1"/>
                <a:r>
                  <a:rPr lang="en-US" dirty="0">
                    <a:solidFill>
                      <a:srgbClr val="C00000"/>
                    </a:solidFill>
                  </a:rPr>
                  <a:t>Multiplicative method:</a:t>
                </a:r>
              </a:p>
              <a:p>
                <a:pPr lvl="2"/>
                <a:r>
                  <a:rPr lang="en-US" dirty="0">
                    <a:solidFill>
                      <a:schemeClr val="tx1"/>
                    </a:solidFill>
                  </a:rPr>
                  <a:t>The seasonal component is included by multiplying the </a:t>
                </a:r>
                <a:r>
                  <a:rPr lang="en-US" dirty="0" err="1">
                    <a:solidFill>
                      <a:schemeClr val="tx1"/>
                    </a:solidFill>
                  </a:rPr>
                  <a:t>deseasonalized</a:t>
                </a:r>
                <a:r>
                  <a:rPr lang="en-US" dirty="0">
                    <a:solidFill>
                      <a:schemeClr val="tx1"/>
                    </a:solidFill>
                  </a:rPr>
                  <a:t> value with the seasonal factor in the forecast equation</a:t>
                </a:r>
              </a:p>
              <a:p>
                <a:pPr lvl="2"/>
                <a:r>
                  <a:rPr lang="en-US" dirty="0">
                    <a:solidFill>
                      <a:schemeClr val="tx1"/>
                    </a:solidFill>
                  </a:rPr>
                  <a:t>Within each repeating pattern, seasonal components will add up to approximately </a:t>
                </a:r>
                <a14:m>
                  <m:oMath xmlns:m="http://schemas.openxmlformats.org/officeDocument/2006/math">
                    <m:r>
                      <a:rPr lang="en-US" i="1" dirty="0" smtClean="0">
                        <a:solidFill>
                          <a:schemeClr val="tx1"/>
                        </a:solidFill>
                        <a:latin typeface="Cambria Math" panose="02040503050406030204" pitchFamily="18" charset="0"/>
                      </a:rPr>
                      <m:t>𝑚</m:t>
                    </m:r>
                  </m:oMath>
                </a14:m>
                <a:endParaRPr lang="en-US" dirty="0">
                  <a:solidFill>
                    <a:schemeClr val="tx1"/>
                  </a:solidFill>
                </a:endParaRPr>
              </a:p>
              <a:p>
                <a:pPr lvl="2"/>
                <a:r>
                  <a:rPr lang="en-US" dirty="0">
                    <a:solidFill>
                      <a:schemeClr val="tx1"/>
                    </a:solidFill>
                  </a:rPr>
                  <a:t>Preferred when seasonal variations are changing proportional to the level</a:t>
                </a: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91024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Additive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Holt-Winters’ Additive Method: Forecast Equation</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lvl="1"/>
                <a:r>
                  <a:rPr lang="en-US" dirty="0">
                    <a:solidFill>
                      <a:schemeClr val="tx1"/>
                    </a:solidFill>
                  </a:rPr>
                  <a:t>Simply, the h-step-ahead forecast is equal to the last estimated level plus </a:t>
                </a:r>
                <a14:m>
                  <m:oMath xmlns:m="http://schemas.openxmlformats.org/officeDocument/2006/math">
                    <m:r>
                      <a:rPr lang="en-US" b="0" i="1" smtClean="0">
                        <a:solidFill>
                          <a:schemeClr val="tx1"/>
                        </a:solidFill>
                        <a:latin typeface="Cambria Math" panose="02040503050406030204" pitchFamily="18" charset="0"/>
                      </a:rPr>
                      <m:t>h</m:t>
                    </m:r>
                  </m:oMath>
                </a14:m>
                <a:r>
                  <a:rPr lang="en-US" dirty="0">
                    <a:solidFill>
                      <a:schemeClr val="tx1"/>
                    </a:solidFill>
                  </a:rPr>
                  <a:t> times the last estimated trend value plus the latest estimate of the seasonal index for period </a:t>
                </a:r>
                <a14:m>
                  <m:oMath xmlns:m="http://schemas.openxmlformats.org/officeDocument/2006/math">
                    <m:r>
                      <a:rPr lang="en-US" i="1" dirty="0" smtClean="0">
                        <a:solidFill>
                          <a:schemeClr val="tx1"/>
                        </a:solidFill>
                        <a:latin typeface="Cambria Math" panose="02040503050406030204" pitchFamily="18" charset="0"/>
                      </a:rPr>
                      <m:t>𝑡</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h</m:t>
                    </m:r>
                  </m:oMath>
                </a14:m>
                <a:endParaRPr lang="en-US" dirty="0">
                  <a:solidFill>
                    <a:schemeClr val="tx1"/>
                  </a:solidFill>
                </a:endParaRPr>
              </a:p>
              <a:p>
                <a:pPr lvl="2"/>
                <a:r>
                  <a:rPr lang="en-US" dirty="0">
                    <a:solidFill>
                      <a:schemeClr val="tx1"/>
                    </a:solidFill>
                  </a:rPr>
                  <a:t>For instance, if we have weekly seasons (i.e., </a:t>
                </a:r>
                <a14:m>
                  <m:oMath xmlns:m="http://schemas.openxmlformats.org/officeDocument/2006/math">
                    <m:r>
                      <a:rPr lang="en-US" i="1" dirty="0" smtClean="0">
                        <a:solidFill>
                          <a:schemeClr val="tx1"/>
                        </a:solidFill>
                        <a:latin typeface="Cambria Math" panose="02040503050406030204" pitchFamily="18" charset="0"/>
                      </a:rPr>
                      <m:t>𝑚</m:t>
                    </m:r>
                    <m:r>
                      <a:rPr lang="en-US" i="1" dirty="0" smtClean="0">
                        <a:solidFill>
                          <a:schemeClr val="tx1"/>
                        </a:solidFill>
                        <a:latin typeface="Cambria Math" panose="02040503050406030204" pitchFamily="18" charset="0"/>
                      </a:rPr>
                      <m:t>=7</m:t>
                    </m:r>
                  </m:oMath>
                </a14:m>
                <a:r>
                  <a:rPr lang="en-US" dirty="0">
                    <a:solidFill>
                      <a:schemeClr val="tx1"/>
                    </a:solidFill>
                  </a:rPr>
                  <a:t>), we are on Friday, and want to forecast demand for next Monday; we will use the estimate of the seasonal index from latest Monday</a:t>
                </a:r>
              </a:p>
              <a:p>
                <a:pPr lvl="1"/>
                <a:endParaRPr lang="en-US" b="1" dirty="0">
                  <a:solidFill>
                    <a:schemeClr val="tx1"/>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r="-159"/>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FBBD69A8-3E06-131A-86C6-C9CFF1C5214C}"/>
              </a:ext>
            </a:extLst>
          </p:cNvPr>
          <p:cNvPicPr>
            <a:picLocks noChangeAspect="1"/>
          </p:cNvPicPr>
          <p:nvPr/>
        </p:nvPicPr>
        <p:blipFill>
          <a:blip r:embed="rId3"/>
          <a:stretch>
            <a:fillRect/>
          </a:stretch>
        </p:blipFill>
        <p:spPr>
          <a:xfrm>
            <a:off x="3077986" y="1801497"/>
            <a:ext cx="5281610" cy="763802"/>
          </a:xfrm>
          <a:prstGeom prst="rect">
            <a:avLst/>
          </a:prstGeom>
          <a:ln w="28575">
            <a:solidFill>
              <a:srgbClr val="C00000"/>
            </a:solidFill>
          </a:ln>
        </p:spPr>
      </p:pic>
      <p:cxnSp>
        <p:nvCxnSpPr>
          <p:cNvPr id="3" name="Straight Arrow Connector 2">
            <a:extLst>
              <a:ext uri="{FF2B5EF4-FFF2-40B4-BE49-F238E27FC236}">
                <a16:creationId xmlns:a16="http://schemas.microsoft.com/office/drawing/2014/main" id="{33A51CA1-327E-036C-A99B-3106E615C278}"/>
              </a:ext>
            </a:extLst>
          </p:cNvPr>
          <p:cNvCxnSpPr/>
          <p:nvPr/>
        </p:nvCxnSpPr>
        <p:spPr>
          <a:xfrm flipH="1">
            <a:off x="3069712" y="2514670"/>
            <a:ext cx="257907" cy="246185"/>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C3C1E6-8A27-6A2D-90EF-50284EA0C177}"/>
                  </a:ext>
                </a:extLst>
              </p:cNvPr>
              <p:cNvSpPr txBox="1"/>
              <p:nvPr/>
            </p:nvSpPr>
            <p:spPr>
              <a:xfrm>
                <a:off x="1152218" y="2530186"/>
                <a:ext cx="1925768" cy="923330"/>
              </a:xfrm>
              <a:prstGeom prst="rect">
                <a:avLst/>
              </a:prstGeom>
              <a:noFill/>
            </p:spPr>
            <p:txBody>
              <a:bodyPr wrap="square" rtlCol="0">
                <a:spAutoFit/>
              </a:bodyPr>
              <a:lstStyle/>
              <a:p>
                <a:pPr algn="ctr"/>
                <a:r>
                  <a:rPr lang="en-US" dirty="0"/>
                  <a:t>Forecast made in period </a:t>
                </a:r>
                <a14:m>
                  <m:oMath xmlns:m="http://schemas.openxmlformats.org/officeDocument/2006/math">
                    <m:r>
                      <a:rPr lang="en-US" i="1" dirty="0" smtClean="0">
                        <a:latin typeface="Cambria Math" panose="02040503050406030204" pitchFamily="18" charset="0"/>
                      </a:rPr>
                      <m:t>𝑡</m:t>
                    </m:r>
                  </m:oMath>
                </a14:m>
                <a:r>
                  <a:rPr lang="en-US" dirty="0"/>
                  <a:t> for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oMath>
                </a14:m>
                <a:endParaRPr lang="en-US" dirty="0"/>
              </a:p>
            </p:txBody>
          </p:sp>
        </mc:Choice>
        <mc:Fallback xmlns="">
          <p:sp>
            <p:nvSpPr>
              <p:cNvPr id="4" name="TextBox 3">
                <a:extLst>
                  <a:ext uri="{FF2B5EF4-FFF2-40B4-BE49-F238E27FC236}">
                    <a16:creationId xmlns:a16="http://schemas.microsoft.com/office/drawing/2014/main" id="{3FC3C1E6-8A27-6A2D-90EF-50284EA0C177}"/>
                  </a:ext>
                </a:extLst>
              </p:cNvPr>
              <p:cNvSpPr txBox="1">
                <a:spLocks noRot="1" noChangeAspect="1" noMove="1" noResize="1" noEditPoints="1" noAdjustHandles="1" noChangeArrowheads="1" noChangeShapeType="1" noTextEdit="1"/>
              </p:cNvSpPr>
              <p:nvPr/>
            </p:nvSpPr>
            <p:spPr>
              <a:xfrm>
                <a:off x="1152218" y="2530186"/>
                <a:ext cx="1925768" cy="923330"/>
              </a:xfrm>
              <a:prstGeom prst="rect">
                <a:avLst/>
              </a:prstGeom>
              <a:blipFill>
                <a:blip r:embed="rId4"/>
                <a:stretch>
                  <a:fillRect l="-2532" t="-3289" r="-5063"/>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AB69689C-08D6-0041-39F5-8C072F60B80F}"/>
              </a:ext>
            </a:extLst>
          </p:cNvPr>
          <p:cNvCxnSpPr>
            <a:endCxn id="6" idx="0"/>
          </p:cNvCxnSpPr>
          <p:nvPr/>
        </p:nvCxnSpPr>
        <p:spPr>
          <a:xfrm flipH="1">
            <a:off x="4088944" y="2478545"/>
            <a:ext cx="761324" cy="282310"/>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A132C0E-A378-CEC7-36F6-D6B109F1B636}"/>
                  </a:ext>
                </a:extLst>
              </p:cNvPr>
              <p:cNvSpPr txBox="1"/>
              <p:nvPr/>
            </p:nvSpPr>
            <p:spPr>
              <a:xfrm>
                <a:off x="3430144" y="2760855"/>
                <a:ext cx="1317599" cy="923330"/>
              </a:xfrm>
              <a:prstGeom prst="rect">
                <a:avLst/>
              </a:prstGeom>
              <a:noFill/>
            </p:spPr>
            <p:txBody>
              <a:bodyPr wrap="square" rtlCol="0">
                <a:spAutoFit/>
              </a:bodyPr>
              <a:lstStyle/>
              <a:p>
                <a:pPr algn="ctr"/>
                <a:r>
                  <a:rPr lang="en-US" dirty="0"/>
                  <a:t>Level estimate in period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6" name="TextBox 5">
                <a:extLst>
                  <a:ext uri="{FF2B5EF4-FFF2-40B4-BE49-F238E27FC236}">
                    <a16:creationId xmlns:a16="http://schemas.microsoft.com/office/drawing/2014/main" id="{EA132C0E-A378-CEC7-36F6-D6B109F1B636}"/>
                  </a:ext>
                </a:extLst>
              </p:cNvPr>
              <p:cNvSpPr txBox="1">
                <a:spLocks noRot="1" noChangeAspect="1" noMove="1" noResize="1" noEditPoints="1" noAdjustHandles="1" noChangeArrowheads="1" noChangeShapeType="1" noTextEdit="1"/>
              </p:cNvSpPr>
              <p:nvPr/>
            </p:nvSpPr>
            <p:spPr>
              <a:xfrm>
                <a:off x="3430144" y="2760855"/>
                <a:ext cx="1317599" cy="923330"/>
              </a:xfrm>
              <a:prstGeom prst="rect">
                <a:avLst/>
              </a:prstGeom>
              <a:blipFill>
                <a:blip r:embed="rId5"/>
                <a:stretch>
                  <a:fillRect l="-463" t="-3974" r="-3704" b="-993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65E2F78-65A9-EB66-8F34-52E0F86490A0}"/>
              </a:ext>
            </a:extLst>
          </p:cNvPr>
          <p:cNvCxnSpPr/>
          <p:nvPr/>
        </p:nvCxnSpPr>
        <p:spPr>
          <a:xfrm flipH="1">
            <a:off x="5611593" y="2457952"/>
            <a:ext cx="249633" cy="764568"/>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350226-3F9E-C92B-1B34-DB003E2319E6}"/>
                  </a:ext>
                </a:extLst>
              </p:cNvPr>
              <p:cNvSpPr txBox="1"/>
              <p:nvPr/>
            </p:nvSpPr>
            <p:spPr>
              <a:xfrm>
                <a:off x="4880454" y="3275319"/>
                <a:ext cx="1462277" cy="923330"/>
              </a:xfrm>
              <a:prstGeom prst="rect">
                <a:avLst/>
              </a:prstGeom>
              <a:noFill/>
            </p:spPr>
            <p:txBody>
              <a:bodyPr wrap="square" rtlCol="0">
                <a:spAutoFit/>
              </a:bodyPr>
              <a:lstStyle/>
              <a:p>
                <a:pPr algn="ctr"/>
                <a:r>
                  <a:rPr lang="en-US" dirty="0"/>
                  <a:t>Trend estimate in period </a:t>
                </a:r>
                <a14:m>
                  <m:oMath xmlns:m="http://schemas.openxmlformats.org/officeDocument/2006/math">
                    <m:r>
                      <a:rPr lang="en-US" i="1" dirty="0" smtClean="0">
                        <a:latin typeface="Cambria Math" panose="02040503050406030204" pitchFamily="18" charset="0"/>
                      </a:rPr>
                      <m:t>𝑡</m:t>
                    </m:r>
                  </m:oMath>
                </a14:m>
                <a:endParaRPr lang="en-US" dirty="0"/>
              </a:p>
            </p:txBody>
          </p:sp>
        </mc:Choice>
        <mc:Fallback xmlns="">
          <p:sp>
            <p:nvSpPr>
              <p:cNvPr id="8" name="TextBox 7">
                <a:extLst>
                  <a:ext uri="{FF2B5EF4-FFF2-40B4-BE49-F238E27FC236}">
                    <a16:creationId xmlns:a16="http://schemas.microsoft.com/office/drawing/2014/main" id="{1A350226-3F9E-C92B-1B34-DB003E2319E6}"/>
                  </a:ext>
                </a:extLst>
              </p:cNvPr>
              <p:cNvSpPr txBox="1">
                <a:spLocks noRot="1" noChangeAspect="1" noMove="1" noResize="1" noEditPoints="1" noAdjustHandles="1" noChangeArrowheads="1" noChangeShapeType="1" noTextEdit="1"/>
              </p:cNvSpPr>
              <p:nvPr/>
            </p:nvSpPr>
            <p:spPr>
              <a:xfrm>
                <a:off x="4880454" y="3275319"/>
                <a:ext cx="1462277" cy="923330"/>
              </a:xfrm>
              <a:prstGeom prst="rect">
                <a:avLst/>
              </a:prstGeom>
              <a:blipFill>
                <a:blip r:embed="rId6"/>
                <a:stretch>
                  <a:fillRect t="-3289" b="-9211"/>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55F48BB4-8D4F-9403-1FB3-0F9C497AB9E9}"/>
              </a:ext>
            </a:extLst>
          </p:cNvPr>
          <p:cNvCxnSpPr/>
          <p:nvPr/>
        </p:nvCxnSpPr>
        <p:spPr>
          <a:xfrm>
            <a:off x="6985594" y="2530186"/>
            <a:ext cx="295756" cy="461665"/>
          </a:xfrm>
          <a:prstGeom prst="straightConnector1">
            <a:avLst/>
          </a:prstGeom>
          <a:ln>
            <a:solidFill>
              <a:srgbClr val="C00000"/>
            </a:solidFill>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BADF4E-B13B-A281-C980-9CD9F5422C1E}"/>
                  </a:ext>
                </a:extLst>
              </p:cNvPr>
              <p:cNvSpPr txBox="1"/>
              <p:nvPr/>
            </p:nvSpPr>
            <p:spPr>
              <a:xfrm>
                <a:off x="6550211" y="3046668"/>
                <a:ext cx="2812688" cy="1200329"/>
              </a:xfrm>
              <a:prstGeom prst="rect">
                <a:avLst/>
              </a:prstGeom>
              <a:noFill/>
            </p:spPr>
            <p:txBody>
              <a:bodyPr wrap="square" rtlCol="0">
                <a:spAutoFit/>
              </a:bodyPr>
              <a:lstStyle/>
              <a:p>
                <a:pPr algn="ctr"/>
                <a:r>
                  <a:rPr lang="en-US" dirty="0"/>
                  <a:t>Seasonal component estimate in period </a:t>
                </a:r>
                <a14:m>
                  <m:oMath xmlns:m="http://schemas.openxmlformats.org/officeDocument/2006/math">
                    <m:r>
                      <a:rPr lang="en-US" i="1" dirty="0" smtClean="0">
                        <a:latin typeface="Cambria Math" panose="02040503050406030204" pitchFamily="18" charset="0"/>
                      </a:rPr>
                      <m:t>𝑡</m:t>
                    </m:r>
                  </m:oMath>
                </a14:m>
                <a:r>
                  <a:rPr lang="en-US" dirty="0"/>
                  <a:t> for </a:t>
                </a:r>
              </a:p>
              <a:p>
                <a:pPr algn="ctr"/>
                <a:r>
                  <a:rPr lang="en-US" dirty="0"/>
                  <a:t>the season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 </m:t>
                    </m:r>
                  </m:oMath>
                </a14:m>
                <a:endParaRPr lang="en-US" dirty="0"/>
              </a:p>
              <a:p>
                <a:pPr algn="ctr"/>
                <a:r>
                  <a:rPr lang="en-US" dirty="0"/>
                  <a:t>corresponds to</a:t>
                </a:r>
              </a:p>
            </p:txBody>
          </p:sp>
        </mc:Choice>
        <mc:Fallback xmlns="">
          <p:sp>
            <p:nvSpPr>
              <p:cNvPr id="12" name="TextBox 11">
                <a:extLst>
                  <a:ext uri="{FF2B5EF4-FFF2-40B4-BE49-F238E27FC236}">
                    <a16:creationId xmlns:a16="http://schemas.microsoft.com/office/drawing/2014/main" id="{D2BADF4E-B13B-A281-C980-9CD9F5422C1E}"/>
                  </a:ext>
                </a:extLst>
              </p:cNvPr>
              <p:cNvSpPr txBox="1">
                <a:spLocks noRot="1" noChangeAspect="1" noMove="1" noResize="1" noEditPoints="1" noAdjustHandles="1" noChangeArrowheads="1" noChangeShapeType="1" noTextEdit="1"/>
              </p:cNvSpPr>
              <p:nvPr/>
            </p:nvSpPr>
            <p:spPr>
              <a:xfrm>
                <a:off x="6550211" y="3046668"/>
                <a:ext cx="2812688" cy="1200329"/>
              </a:xfrm>
              <a:prstGeom prst="rect">
                <a:avLst/>
              </a:prstGeom>
              <a:blipFill>
                <a:blip r:embed="rId7"/>
                <a:stretch>
                  <a:fillRect t="-3046" b="-7107"/>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7B53A200-5965-94B0-5D0F-6E8891DA8547}"/>
              </a:ext>
            </a:extLst>
          </p:cNvPr>
          <p:cNvSpPr/>
          <p:nvPr/>
        </p:nvSpPr>
        <p:spPr>
          <a:xfrm>
            <a:off x="9678746" y="2729833"/>
            <a:ext cx="1971806" cy="646331"/>
          </a:xfrm>
          <a:prstGeom prst="rect">
            <a:avLst/>
          </a:prstGeom>
        </p:spPr>
        <p:txBody>
          <a:bodyPr wrap="square">
            <a:spAutoFit/>
          </a:bodyPr>
          <a:lstStyle/>
          <a:p>
            <a:r>
              <a:rPr lang="en-US" dirty="0"/>
              <a:t>k is the integer part of (h−1)/m</a:t>
            </a:r>
          </a:p>
        </p:txBody>
      </p:sp>
      <p:sp>
        <p:nvSpPr>
          <p:cNvPr id="14" name="Freeform 26">
            <a:extLst>
              <a:ext uri="{FF2B5EF4-FFF2-40B4-BE49-F238E27FC236}">
                <a16:creationId xmlns:a16="http://schemas.microsoft.com/office/drawing/2014/main" id="{68BF5A0D-DE02-BB20-10A8-13503163EA94}"/>
              </a:ext>
            </a:extLst>
          </p:cNvPr>
          <p:cNvSpPr/>
          <p:nvPr/>
        </p:nvSpPr>
        <p:spPr>
          <a:xfrm>
            <a:off x="7775399" y="2415886"/>
            <a:ext cx="1943100" cy="587589"/>
          </a:xfrm>
          <a:custGeom>
            <a:avLst/>
            <a:gdLst>
              <a:gd name="connsiteX0" fmla="*/ 0 w 1943100"/>
              <a:gd name="connsiteY0" fmla="*/ 0 h 587589"/>
              <a:gd name="connsiteX1" fmla="*/ 927100 w 1943100"/>
              <a:gd name="connsiteY1" fmla="*/ 546100 h 587589"/>
              <a:gd name="connsiteX2" fmla="*/ 1943100 w 1943100"/>
              <a:gd name="connsiteY2" fmla="*/ 508000 h 587589"/>
            </a:gdLst>
            <a:ahLst/>
            <a:cxnLst>
              <a:cxn ang="0">
                <a:pos x="connsiteX0" y="connsiteY0"/>
              </a:cxn>
              <a:cxn ang="0">
                <a:pos x="connsiteX1" y="connsiteY1"/>
              </a:cxn>
              <a:cxn ang="0">
                <a:pos x="connsiteX2" y="connsiteY2"/>
              </a:cxn>
            </a:cxnLst>
            <a:rect l="l" t="t" r="r" b="b"/>
            <a:pathLst>
              <a:path w="1943100" h="587589">
                <a:moveTo>
                  <a:pt x="0" y="0"/>
                </a:moveTo>
                <a:cubicBezTo>
                  <a:pt x="301625" y="230716"/>
                  <a:pt x="603250" y="461433"/>
                  <a:pt x="927100" y="546100"/>
                </a:cubicBezTo>
                <a:cubicBezTo>
                  <a:pt x="1250950" y="630767"/>
                  <a:pt x="1597025" y="569383"/>
                  <a:pt x="1943100" y="508000"/>
                </a:cubicBezTo>
              </a:path>
            </a:pathLst>
          </a:custGeom>
          <a:ln>
            <a:solidFill>
              <a:srgbClr val="C00000"/>
            </a:solidFill>
            <a:headEnd type="none" w="med" len="med"/>
            <a:tailEnd type="arrow" w="med" len="med"/>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5476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2" grpId="0"/>
      <p:bldP spid="13" grpId="0"/>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Additive Method</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Holt-Winters’ Additive Method: Smoothing Equations</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lvl="1"/>
            <a:endParaRPr lang="en-US" dirty="0">
              <a:solidFill>
                <a:schemeClr val="bg2"/>
              </a:solidFill>
            </a:endParaRPr>
          </a:p>
        </p:txBody>
      </p:sp>
      <p:sp>
        <p:nvSpPr>
          <p:cNvPr id="15" name="Right Brace 14">
            <a:extLst>
              <a:ext uri="{FF2B5EF4-FFF2-40B4-BE49-F238E27FC236}">
                <a16:creationId xmlns:a16="http://schemas.microsoft.com/office/drawing/2014/main" id="{12ECDF9C-8A44-9C31-B658-CAE8914F1549}"/>
              </a:ext>
            </a:extLst>
          </p:cNvPr>
          <p:cNvSpPr/>
          <p:nvPr/>
        </p:nvSpPr>
        <p:spPr>
          <a:xfrm rot="16200000" flipH="1">
            <a:off x="7073299" y="1785029"/>
            <a:ext cx="339969" cy="1580025"/>
          </a:xfrm>
          <a:prstGeom prst="rightBrace">
            <a:avLst>
              <a:gd name="adj1" fmla="val 47224"/>
              <a:gd name="adj2" fmla="val 52148"/>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FD4B008-90BC-8BBE-F95F-4397AEA38A4E}"/>
                  </a:ext>
                </a:extLst>
              </p:cNvPr>
              <p:cNvSpPr txBox="1"/>
              <p:nvPr/>
            </p:nvSpPr>
            <p:spPr>
              <a:xfrm>
                <a:off x="5621662" y="2632322"/>
                <a:ext cx="3734442" cy="646331"/>
              </a:xfrm>
              <a:prstGeom prst="rect">
                <a:avLst/>
              </a:prstGeom>
              <a:noFill/>
            </p:spPr>
            <p:txBody>
              <a:bodyPr wrap="square" rtlCol="0">
                <a:spAutoFit/>
              </a:bodyPr>
              <a:lstStyle/>
              <a:p>
                <a:pPr algn="ctr"/>
                <a:r>
                  <a:rPr lang="en-US" dirty="0"/>
                  <a:t>One-step-ahead nonseasonal forecast for period </a:t>
                </a:r>
                <a14:m>
                  <m:oMath xmlns:m="http://schemas.openxmlformats.org/officeDocument/2006/math">
                    <m:r>
                      <a:rPr lang="en-US" i="1" dirty="0" smtClean="0">
                        <a:latin typeface="Cambria Math" panose="02040503050406030204" pitchFamily="18" charset="0"/>
                      </a:rPr>
                      <m:t>𝑡</m:t>
                    </m:r>
                  </m:oMath>
                </a14:m>
                <a:r>
                  <a:rPr lang="en-US" dirty="0"/>
                  <a:t> made in period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−1</m:t>
                    </m:r>
                  </m:oMath>
                </a14:m>
                <a:endParaRPr lang="en-US" dirty="0"/>
              </a:p>
            </p:txBody>
          </p:sp>
        </mc:Choice>
        <mc:Fallback xmlns="">
          <p:sp>
            <p:nvSpPr>
              <p:cNvPr id="16" name="TextBox 15">
                <a:extLst>
                  <a:ext uri="{FF2B5EF4-FFF2-40B4-BE49-F238E27FC236}">
                    <a16:creationId xmlns:a16="http://schemas.microsoft.com/office/drawing/2014/main" id="{8FD4B008-90BC-8BBE-F95F-4397AEA38A4E}"/>
                  </a:ext>
                </a:extLst>
              </p:cNvPr>
              <p:cNvSpPr txBox="1">
                <a:spLocks noRot="1" noChangeAspect="1" noMove="1" noResize="1" noEditPoints="1" noAdjustHandles="1" noChangeArrowheads="1" noChangeShapeType="1" noTextEdit="1"/>
              </p:cNvSpPr>
              <p:nvPr/>
            </p:nvSpPr>
            <p:spPr>
              <a:xfrm>
                <a:off x="5621662" y="2632322"/>
                <a:ext cx="3734442" cy="646331"/>
              </a:xfrm>
              <a:prstGeom prst="rect">
                <a:avLst/>
              </a:prstGeom>
              <a:blipFill>
                <a:blip r:embed="rId2"/>
                <a:stretch>
                  <a:fillRect l="-979" t="-5660" r="-1958"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C85967-16D2-6D20-5474-53FF6D9EC0CA}"/>
                  </a:ext>
                </a:extLst>
              </p:cNvPr>
              <p:cNvSpPr txBox="1"/>
              <p:nvPr/>
            </p:nvSpPr>
            <p:spPr>
              <a:xfrm>
                <a:off x="3122461" y="2651744"/>
                <a:ext cx="2427873" cy="584775"/>
              </a:xfrm>
              <a:prstGeom prst="rect">
                <a:avLst/>
              </a:prstGeom>
              <a:noFill/>
            </p:spPr>
            <p:txBody>
              <a:bodyPr wrap="square" rtlCol="0">
                <a:spAutoFit/>
              </a:bodyPr>
              <a:lstStyle/>
              <a:p>
                <a:pPr algn="ctr"/>
                <a:r>
                  <a:rPr lang="en-US" sz="1600" dirty="0" err="1"/>
                  <a:t>Deseasonalized</a:t>
                </a:r>
                <a:r>
                  <a:rPr lang="en-US" sz="1600" dirty="0"/>
                  <a:t> observed value of period </a:t>
                </a:r>
                <a14:m>
                  <m:oMath xmlns:m="http://schemas.openxmlformats.org/officeDocument/2006/math">
                    <m:r>
                      <a:rPr lang="en-US" sz="1600" i="1" dirty="0" smtClean="0">
                        <a:latin typeface="Cambria Math" panose="02040503050406030204" pitchFamily="18" charset="0"/>
                      </a:rPr>
                      <m:t>𝑡</m:t>
                    </m:r>
                  </m:oMath>
                </a14:m>
                <a:endParaRPr lang="en-US" sz="1600" dirty="0"/>
              </a:p>
            </p:txBody>
          </p:sp>
        </mc:Choice>
        <mc:Fallback xmlns="">
          <p:sp>
            <p:nvSpPr>
              <p:cNvPr id="17" name="TextBox 16">
                <a:extLst>
                  <a:ext uri="{FF2B5EF4-FFF2-40B4-BE49-F238E27FC236}">
                    <a16:creationId xmlns:a16="http://schemas.microsoft.com/office/drawing/2014/main" id="{82C85967-16D2-6D20-5474-53FF6D9EC0CA}"/>
                  </a:ext>
                </a:extLst>
              </p:cNvPr>
              <p:cNvSpPr txBox="1">
                <a:spLocks noRot="1" noChangeAspect="1" noMove="1" noResize="1" noEditPoints="1" noAdjustHandles="1" noChangeArrowheads="1" noChangeShapeType="1" noTextEdit="1"/>
              </p:cNvSpPr>
              <p:nvPr/>
            </p:nvSpPr>
            <p:spPr>
              <a:xfrm>
                <a:off x="3122461" y="2651744"/>
                <a:ext cx="2427873" cy="584775"/>
              </a:xfrm>
              <a:prstGeom prst="rect">
                <a:avLst/>
              </a:prstGeom>
              <a:blipFill>
                <a:blip r:embed="rId3"/>
                <a:stretch>
                  <a:fillRect t="-3125" r="-251" b="-12500"/>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D3DA8D79-8700-5088-9D40-529C72D6C8EA}"/>
              </a:ext>
            </a:extLst>
          </p:cNvPr>
          <p:cNvCxnSpPr>
            <a:cxnSpLocks/>
            <a:endCxn id="20" idx="0"/>
          </p:cNvCxnSpPr>
          <p:nvPr/>
        </p:nvCxnSpPr>
        <p:spPr>
          <a:xfrm>
            <a:off x="6934747" y="3845105"/>
            <a:ext cx="304058" cy="147868"/>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1DDF001-8810-1BE7-77B3-BC59A5D20DA4}"/>
                  </a:ext>
                </a:extLst>
              </p:cNvPr>
              <p:cNvSpPr txBox="1"/>
              <p:nvPr/>
            </p:nvSpPr>
            <p:spPr>
              <a:xfrm>
                <a:off x="5964038" y="3992973"/>
                <a:ext cx="2549534" cy="584775"/>
              </a:xfrm>
              <a:prstGeom prst="rect">
                <a:avLst/>
              </a:prstGeom>
              <a:noFill/>
            </p:spPr>
            <p:txBody>
              <a:bodyPr wrap="square" rtlCol="0">
                <a:spAutoFit/>
              </a:bodyPr>
              <a:lstStyle/>
              <a:p>
                <a:pPr algn="ctr"/>
                <a:r>
                  <a:rPr lang="en-US" sz="1600" dirty="0"/>
                  <a:t>Previous trend estimate in period </a:t>
                </a:r>
                <a14:m>
                  <m:oMath xmlns:m="http://schemas.openxmlformats.org/officeDocument/2006/math">
                    <m:r>
                      <a:rPr lang="en-US" sz="1600" i="1" dirty="0" smtClean="0">
                        <a:latin typeface="Cambria Math" panose="02040503050406030204" pitchFamily="18" charset="0"/>
                      </a:rPr>
                      <m:t>𝑡</m:t>
                    </m:r>
                    <m:r>
                      <a:rPr lang="en-US" sz="1600" i="1" dirty="0" smtClean="0">
                        <a:latin typeface="Cambria Math" panose="02040503050406030204" pitchFamily="18" charset="0"/>
                      </a:rPr>
                      <m:t>−1</m:t>
                    </m:r>
                  </m:oMath>
                </a14:m>
                <a:endParaRPr lang="en-US" sz="1600" dirty="0"/>
              </a:p>
            </p:txBody>
          </p:sp>
        </mc:Choice>
        <mc:Fallback xmlns="">
          <p:sp>
            <p:nvSpPr>
              <p:cNvPr id="20" name="TextBox 19">
                <a:extLst>
                  <a:ext uri="{FF2B5EF4-FFF2-40B4-BE49-F238E27FC236}">
                    <a16:creationId xmlns:a16="http://schemas.microsoft.com/office/drawing/2014/main" id="{F1DDF001-8810-1BE7-77B3-BC59A5D20DA4}"/>
                  </a:ext>
                </a:extLst>
              </p:cNvPr>
              <p:cNvSpPr txBox="1">
                <a:spLocks noRot="1" noChangeAspect="1" noMove="1" noResize="1" noEditPoints="1" noAdjustHandles="1" noChangeArrowheads="1" noChangeShapeType="1" noTextEdit="1"/>
              </p:cNvSpPr>
              <p:nvPr/>
            </p:nvSpPr>
            <p:spPr>
              <a:xfrm>
                <a:off x="5964038" y="3992973"/>
                <a:ext cx="2549534" cy="584775"/>
              </a:xfrm>
              <a:prstGeom prst="rect">
                <a:avLst/>
              </a:prstGeom>
              <a:blipFill>
                <a:blip r:embed="rId4"/>
                <a:stretch>
                  <a:fillRect t="-3125"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C37976F-0A3D-4786-D014-5EE3C69672C0}"/>
                  </a:ext>
                </a:extLst>
              </p:cNvPr>
              <p:cNvSpPr txBox="1"/>
              <p:nvPr/>
            </p:nvSpPr>
            <p:spPr>
              <a:xfrm>
                <a:off x="3595750" y="3996341"/>
                <a:ext cx="2177542" cy="584775"/>
              </a:xfrm>
              <a:prstGeom prst="rect">
                <a:avLst/>
              </a:prstGeom>
              <a:noFill/>
            </p:spPr>
            <p:txBody>
              <a:bodyPr wrap="square" rtlCol="0">
                <a:spAutoFit/>
              </a:bodyPr>
              <a:lstStyle/>
              <a:p>
                <a:pPr algn="ctr"/>
                <a:r>
                  <a:rPr lang="en-US" sz="1600" dirty="0"/>
                  <a:t>Estimated trend moving from period </a:t>
                </a:r>
                <a14:m>
                  <m:oMath xmlns:m="http://schemas.openxmlformats.org/officeDocument/2006/math">
                    <m:r>
                      <a:rPr lang="en-US" sz="1600" b="0" i="0"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−1)</m:t>
                    </m:r>
                  </m:oMath>
                </a14:m>
                <a:r>
                  <a:rPr lang="en-US" sz="1600" dirty="0"/>
                  <a:t> to </a:t>
                </a:r>
                <a14:m>
                  <m:oMath xmlns:m="http://schemas.openxmlformats.org/officeDocument/2006/math">
                    <m:r>
                      <a:rPr lang="en-US" sz="1600" i="1" dirty="0" smtClean="0">
                        <a:latin typeface="Cambria Math" panose="02040503050406030204" pitchFamily="18" charset="0"/>
                      </a:rPr>
                      <m:t>𝑡</m:t>
                    </m:r>
                  </m:oMath>
                </a14:m>
                <a:endParaRPr lang="en-US" sz="1600" dirty="0"/>
              </a:p>
            </p:txBody>
          </p:sp>
        </mc:Choice>
        <mc:Fallback xmlns="">
          <p:sp>
            <p:nvSpPr>
              <p:cNvPr id="21" name="TextBox 20">
                <a:extLst>
                  <a:ext uri="{FF2B5EF4-FFF2-40B4-BE49-F238E27FC236}">
                    <a16:creationId xmlns:a16="http://schemas.microsoft.com/office/drawing/2014/main" id="{2C37976F-0A3D-4786-D014-5EE3C69672C0}"/>
                  </a:ext>
                </a:extLst>
              </p:cNvPr>
              <p:cNvSpPr txBox="1">
                <a:spLocks noRot="1" noChangeAspect="1" noMove="1" noResize="1" noEditPoints="1" noAdjustHandles="1" noChangeArrowheads="1" noChangeShapeType="1" noTextEdit="1"/>
              </p:cNvSpPr>
              <p:nvPr/>
            </p:nvSpPr>
            <p:spPr>
              <a:xfrm>
                <a:off x="3595750" y="3996341"/>
                <a:ext cx="2177542" cy="584775"/>
              </a:xfrm>
              <a:prstGeom prst="rect">
                <a:avLst/>
              </a:prstGeom>
              <a:blipFill>
                <a:blip r:embed="rId5"/>
                <a:stretch>
                  <a:fillRect l="-1681" t="-3158" r="-3081" b="-13684"/>
                </a:stretch>
              </a:blipFill>
            </p:spPr>
            <p:txBody>
              <a:bodyPr/>
              <a:lstStyle/>
              <a:p>
                <a:r>
                  <a:rPr lang="en-US">
                    <a:noFill/>
                  </a:rPr>
                  <a:t> </a:t>
                </a:r>
              </a:p>
            </p:txBody>
          </p:sp>
        </mc:Fallback>
      </mc:AlternateContent>
      <p:sp>
        <p:nvSpPr>
          <p:cNvPr id="22" name="Right Brace 21">
            <a:extLst>
              <a:ext uri="{FF2B5EF4-FFF2-40B4-BE49-F238E27FC236}">
                <a16:creationId xmlns:a16="http://schemas.microsoft.com/office/drawing/2014/main" id="{6290BCA6-3DD6-4F39-A26F-8D6C2D58C9D4}"/>
              </a:ext>
            </a:extLst>
          </p:cNvPr>
          <p:cNvSpPr/>
          <p:nvPr/>
        </p:nvSpPr>
        <p:spPr>
          <a:xfrm rot="16200000" flipH="1">
            <a:off x="4352984" y="1927454"/>
            <a:ext cx="339969" cy="1268659"/>
          </a:xfrm>
          <a:prstGeom prst="rightBrace">
            <a:avLst>
              <a:gd name="adj1" fmla="val 44756"/>
              <a:gd name="adj2" fmla="val 45508"/>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23" name="Curved Right Arrow 15">
            <a:extLst>
              <a:ext uri="{FF2B5EF4-FFF2-40B4-BE49-F238E27FC236}">
                <a16:creationId xmlns:a16="http://schemas.microsoft.com/office/drawing/2014/main" id="{67281976-0DC4-D5C3-BC47-F73BB36AB36C}"/>
              </a:ext>
            </a:extLst>
          </p:cNvPr>
          <p:cNvSpPr/>
          <p:nvPr/>
        </p:nvSpPr>
        <p:spPr>
          <a:xfrm>
            <a:off x="2431140" y="2326895"/>
            <a:ext cx="480646" cy="14468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08030B5-68E2-390A-835D-501917865FF9}"/>
                  </a:ext>
                </a:extLst>
              </p:cNvPr>
              <p:cNvSpPr txBox="1"/>
              <p:nvPr/>
            </p:nvSpPr>
            <p:spPr>
              <a:xfrm>
                <a:off x="9681458" y="2063349"/>
                <a:ext cx="1983066" cy="923330"/>
              </a:xfrm>
              <a:prstGeom prst="rect">
                <a:avLst/>
              </a:prstGeom>
              <a:noFill/>
              <a:ln>
                <a:solidFill>
                  <a:schemeClr val="tx1"/>
                </a:solidFill>
              </a:ln>
            </p:spPr>
            <p:txBody>
              <a:bodyPr wrap="square" rtlCol="0">
                <a:spAutoFit/>
              </a:bodyPr>
              <a:lstStyle/>
              <a:p>
                <a14:m>
                  <m:oMath xmlns:m="http://schemas.openxmlformats.org/officeDocument/2006/math">
                    <m:r>
                      <a:rPr lang="en-US" b="0" i="1" smtClean="0">
                        <a:solidFill>
                          <a:schemeClr val="tx1"/>
                        </a:solidFill>
                        <a:latin typeface="Cambria Math" panose="02040503050406030204" pitchFamily="18" charset="0"/>
                      </a:rPr>
                      <m:t>𝛼</m:t>
                    </m:r>
                  </m:oMath>
                </a14:m>
                <a:r>
                  <a:rPr lang="en-US" dirty="0">
                    <a:solidFill>
                      <a:schemeClr val="tx1"/>
                    </a:solidFill>
                  </a:rPr>
                  <a:t> is the smoothing parameter for level, </a:t>
                </a:r>
                <a14:m>
                  <m:oMath xmlns:m="http://schemas.openxmlformats.org/officeDocument/2006/math">
                    <m:r>
                      <a:rPr lang="en-US" b="0" i="1" smtClean="0">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𝛼</m:t>
                    </m:r>
                    <m:r>
                      <a:rPr lang="en-US" b="0" i="1" smtClean="0">
                        <a:solidFill>
                          <a:schemeClr val="tx1"/>
                        </a:solidFill>
                        <a:latin typeface="Cambria Math" panose="02040503050406030204" pitchFamily="18" charset="0"/>
                      </a:rPr>
                      <m:t>≤1</m:t>
                    </m:r>
                  </m:oMath>
                </a14:m>
                <a:endParaRPr lang="en-US" dirty="0">
                  <a:solidFill>
                    <a:schemeClr val="tx1"/>
                  </a:solidFill>
                </a:endParaRPr>
              </a:p>
            </p:txBody>
          </p:sp>
        </mc:Choice>
        <mc:Fallback xmlns="">
          <p:sp>
            <p:nvSpPr>
              <p:cNvPr id="26" name="TextBox 25">
                <a:extLst>
                  <a:ext uri="{FF2B5EF4-FFF2-40B4-BE49-F238E27FC236}">
                    <a16:creationId xmlns:a16="http://schemas.microsoft.com/office/drawing/2014/main" id="{B08030B5-68E2-390A-835D-501917865FF9}"/>
                  </a:ext>
                </a:extLst>
              </p:cNvPr>
              <p:cNvSpPr txBox="1">
                <a:spLocks noRot="1" noChangeAspect="1" noMove="1" noResize="1" noEditPoints="1" noAdjustHandles="1" noChangeArrowheads="1" noChangeShapeType="1" noTextEdit="1"/>
              </p:cNvSpPr>
              <p:nvPr/>
            </p:nvSpPr>
            <p:spPr>
              <a:xfrm>
                <a:off x="9681458" y="2063349"/>
                <a:ext cx="1983066" cy="923330"/>
              </a:xfrm>
              <a:prstGeom prst="rect">
                <a:avLst/>
              </a:prstGeom>
              <a:blipFill>
                <a:blip r:embed="rId6"/>
                <a:stretch>
                  <a:fillRect l="-2141" t="-2597" r="-2446" b="-8442"/>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398EA69-5EBA-8B52-81A9-F9CC4BA83D30}"/>
                  </a:ext>
                </a:extLst>
              </p:cNvPr>
              <p:cNvSpPr txBox="1"/>
              <p:nvPr/>
            </p:nvSpPr>
            <p:spPr>
              <a:xfrm>
                <a:off x="8807738" y="3652722"/>
                <a:ext cx="2059532" cy="923330"/>
              </a:xfrm>
              <a:prstGeom prst="rect">
                <a:avLst/>
              </a:prstGeom>
              <a:noFill/>
              <a:ln>
                <a:solidFill>
                  <a:schemeClr val="tx1"/>
                </a:solidFill>
              </a:ln>
            </p:spPr>
            <p:txBody>
              <a:bodyPr wrap="square" rtlCol="0">
                <a:spAutoFit/>
              </a:bodyPr>
              <a:lstStyle/>
              <a:p>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𝛽</m:t>
                        </m:r>
                      </m:e>
                      <m:sup>
                        <m:r>
                          <a:rPr lang="en-US" b="0" i="1" smtClean="0">
                            <a:solidFill>
                              <a:schemeClr val="tx1"/>
                            </a:solidFill>
                            <a:latin typeface="Cambria Math" panose="02040503050406030204" pitchFamily="18" charset="0"/>
                          </a:rPr>
                          <m:t>∗</m:t>
                        </m:r>
                      </m:sup>
                    </m:sSup>
                  </m:oMath>
                </a14:m>
                <a:r>
                  <a:rPr lang="en-US" dirty="0">
                    <a:solidFill>
                      <a:schemeClr val="tx1"/>
                    </a:solidFill>
                  </a:rPr>
                  <a:t> is the smoothing parameter for trend, </a:t>
                </a:r>
                <a14:m>
                  <m:oMath xmlns:m="http://schemas.openxmlformats.org/officeDocument/2006/math">
                    <m:r>
                      <a:rPr lang="en-US" b="0" i="1" smtClean="0">
                        <a:solidFill>
                          <a:schemeClr val="tx1"/>
                        </a:solidFill>
                        <a:latin typeface="Cambria Math" panose="02040503050406030204" pitchFamily="18" charset="0"/>
                      </a:rPr>
                      <m:t>0≤</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𝛽</m:t>
                        </m:r>
                      </m:e>
                      <m:sup>
                        <m:r>
                          <a:rPr lang="en-US" i="1">
                            <a:solidFill>
                              <a:schemeClr val="tx1"/>
                            </a:solidFill>
                            <a:latin typeface="Cambria Math" panose="02040503050406030204" pitchFamily="18" charset="0"/>
                          </a:rPr>
                          <m:t>∗</m:t>
                        </m:r>
                      </m:sup>
                    </m:sSup>
                    <m:r>
                      <a:rPr lang="en-US" b="0" i="1" smtClean="0">
                        <a:solidFill>
                          <a:schemeClr val="tx1"/>
                        </a:solidFill>
                        <a:latin typeface="Cambria Math" panose="02040503050406030204" pitchFamily="18" charset="0"/>
                      </a:rPr>
                      <m:t>≤1</m:t>
                    </m:r>
                  </m:oMath>
                </a14:m>
                <a:endParaRPr lang="en-US" dirty="0">
                  <a:solidFill>
                    <a:schemeClr val="bg2"/>
                  </a:solidFill>
                </a:endParaRPr>
              </a:p>
            </p:txBody>
          </p:sp>
        </mc:Choice>
        <mc:Fallback xmlns="">
          <p:sp>
            <p:nvSpPr>
              <p:cNvPr id="27" name="TextBox 26">
                <a:extLst>
                  <a:ext uri="{FF2B5EF4-FFF2-40B4-BE49-F238E27FC236}">
                    <a16:creationId xmlns:a16="http://schemas.microsoft.com/office/drawing/2014/main" id="{B398EA69-5EBA-8B52-81A9-F9CC4BA83D30}"/>
                  </a:ext>
                </a:extLst>
              </p:cNvPr>
              <p:cNvSpPr txBox="1">
                <a:spLocks noRot="1" noChangeAspect="1" noMove="1" noResize="1" noEditPoints="1" noAdjustHandles="1" noChangeArrowheads="1" noChangeShapeType="1" noTextEdit="1"/>
              </p:cNvSpPr>
              <p:nvPr/>
            </p:nvSpPr>
            <p:spPr>
              <a:xfrm>
                <a:off x="8807738" y="3652722"/>
                <a:ext cx="2059532" cy="923330"/>
              </a:xfrm>
              <a:prstGeom prst="rect">
                <a:avLst/>
              </a:prstGeom>
              <a:blipFill>
                <a:blip r:embed="rId7"/>
                <a:stretch>
                  <a:fillRect l="-2353" t="-2597" r="-2647" b="-8442"/>
                </a:stretch>
              </a:blipFill>
              <a:ln>
                <a:solidFill>
                  <a:schemeClr val="tx1"/>
                </a:solid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778F7A49-355A-9E92-93B9-F99688617E5A}"/>
              </a:ext>
            </a:extLst>
          </p:cNvPr>
          <p:cNvPicPr>
            <a:picLocks noChangeAspect="1"/>
          </p:cNvPicPr>
          <p:nvPr/>
        </p:nvPicPr>
        <p:blipFill>
          <a:blip r:embed="rId8"/>
          <a:stretch>
            <a:fillRect/>
          </a:stretch>
        </p:blipFill>
        <p:spPr>
          <a:xfrm>
            <a:off x="2986642" y="2068269"/>
            <a:ext cx="5017735" cy="372746"/>
          </a:xfrm>
          <a:prstGeom prst="rect">
            <a:avLst/>
          </a:prstGeom>
        </p:spPr>
      </p:pic>
      <p:pic>
        <p:nvPicPr>
          <p:cNvPr id="5" name="Picture 4">
            <a:extLst>
              <a:ext uri="{FF2B5EF4-FFF2-40B4-BE49-F238E27FC236}">
                <a16:creationId xmlns:a16="http://schemas.microsoft.com/office/drawing/2014/main" id="{6B31DC5B-ECF2-DD81-0C51-8A5274EBEFEC}"/>
              </a:ext>
            </a:extLst>
          </p:cNvPr>
          <p:cNvPicPr>
            <a:picLocks noChangeAspect="1"/>
          </p:cNvPicPr>
          <p:nvPr/>
        </p:nvPicPr>
        <p:blipFill>
          <a:blip r:embed="rId9"/>
          <a:stretch>
            <a:fillRect/>
          </a:stretch>
        </p:blipFill>
        <p:spPr>
          <a:xfrm>
            <a:off x="3044236" y="3413590"/>
            <a:ext cx="4085870" cy="394251"/>
          </a:xfrm>
          <a:prstGeom prst="rect">
            <a:avLst/>
          </a:prstGeom>
        </p:spPr>
      </p:pic>
      <p:pic>
        <p:nvPicPr>
          <p:cNvPr id="7" name="Picture 6">
            <a:extLst>
              <a:ext uri="{FF2B5EF4-FFF2-40B4-BE49-F238E27FC236}">
                <a16:creationId xmlns:a16="http://schemas.microsoft.com/office/drawing/2014/main" id="{462A700B-D123-4DA6-7254-3B8B042ECE72}"/>
              </a:ext>
            </a:extLst>
          </p:cNvPr>
          <p:cNvPicPr>
            <a:picLocks noChangeAspect="1"/>
          </p:cNvPicPr>
          <p:nvPr/>
        </p:nvPicPr>
        <p:blipFill>
          <a:blip r:embed="rId10"/>
          <a:stretch>
            <a:fillRect/>
          </a:stretch>
        </p:blipFill>
        <p:spPr>
          <a:xfrm>
            <a:off x="3160135" y="4860534"/>
            <a:ext cx="4659325" cy="329737"/>
          </a:xfrm>
          <a:prstGeom prst="rect">
            <a:avLst/>
          </a:prstGeom>
        </p:spPr>
      </p:pic>
      <p:sp>
        <p:nvSpPr>
          <p:cNvPr id="11" name="Right Brace 10">
            <a:extLst>
              <a:ext uri="{FF2B5EF4-FFF2-40B4-BE49-F238E27FC236}">
                <a16:creationId xmlns:a16="http://schemas.microsoft.com/office/drawing/2014/main" id="{6E6077D9-B123-9E99-B84F-790970D69351}"/>
              </a:ext>
            </a:extLst>
          </p:cNvPr>
          <p:cNvSpPr/>
          <p:nvPr/>
        </p:nvSpPr>
        <p:spPr>
          <a:xfrm rot="16200000" flipH="1">
            <a:off x="4454997" y="3239999"/>
            <a:ext cx="339969" cy="1268659"/>
          </a:xfrm>
          <a:prstGeom prst="rightBrace">
            <a:avLst>
              <a:gd name="adj1" fmla="val 44756"/>
              <a:gd name="adj2" fmla="val 45508"/>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p>
        </p:txBody>
      </p:sp>
      <p:sp>
        <p:nvSpPr>
          <p:cNvPr id="25" name="Right Brace 24">
            <a:extLst>
              <a:ext uri="{FF2B5EF4-FFF2-40B4-BE49-F238E27FC236}">
                <a16:creationId xmlns:a16="http://schemas.microsoft.com/office/drawing/2014/main" id="{00A22147-F2E1-C984-C537-785AFB53BD6B}"/>
              </a:ext>
            </a:extLst>
          </p:cNvPr>
          <p:cNvSpPr/>
          <p:nvPr/>
        </p:nvSpPr>
        <p:spPr>
          <a:xfrm rot="16200000" flipH="1">
            <a:off x="4843452" y="4285421"/>
            <a:ext cx="339969" cy="2045571"/>
          </a:xfrm>
          <a:prstGeom prst="rightBrace">
            <a:avLst>
              <a:gd name="adj1" fmla="val 44756"/>
              <a:gd name="adj2" fmla="val 45508"/>
            </a:avLst>
          </a:prstGeom>
          <a:ln>
            <a:solidFill>
              <a:srgbClr val="C0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1E8B39F-4CF2-9841-8B4D-5A3A17EAC772}"/>
                  </a:ext>
                </a:extLst>
              </p:cNvPr>
              <p:cNvSpPr txBox="1"/>
              <p:nvPr/>
            </p:nvSpPr>
            <p:spPr>
              <a:xfrm>
                <a:off x="3858680" y="5404170"/>
                <a:ext cx="2177542" cy="584775"/>
              </a:xfrm>
              <a:prstGeom prst="rect">
                <a:avLst/>
              </a:prstGeom>
              <a:noFill/>
            </p:spPr>
            <p:txBody>
              <a:bodyPr wrap="square" rtlCol="0">
                <a:spAutoFit/>
              </a:bodyPr>
              <a:lstStyle/>
              <a:p>
                <a:pPr algn="ctr"/>
                <a:r>
                  <a:rPr lang="en-US" sz="1600" dirty="0"/>
                  <a:t>Current seasonal index of period </a:t>
                </a:r>
                <a14:m>
                  <m:oMath xmlns:m="http://schemas.openxmlformats.org/officeDocument/2006/math">
                    <m:r>
                      <a:rPr lang="en-US" sz="1600" b="0" i="1" smtClean="0">
                        <a:latin typeface="Cambria Math" panose="02040503050406030204" pitchFamily="18" charset="0"/>
                      </a:rPr>
                      <m:t>𝑡</m:t>
                    </m:r>
                  </m:oMath>
                </a14:m>
                <a:endParaRPr lang="en-US" sz="1600" dirty="0"/>
              </a:p>
            </p:txBody>
          </p:sp>
        </mc:Choice>
        <mc:Fallback xmlns="">
          <p:sp>
            <p:nvSpPr>
              <p:cNvPr id="28" name="TextBox 27">
                <a:extLst>
                  <a:ext uri="{FF2B5EF4-FFF2-40B4-BE49-F238E27FC236}">
                    <a16:creationId xmlns:a16="http://schemas.microsoft.com/office/drawing/2014/main" id="{E1E8B39F-4CF2-9841-8B4D-5A3A17EAC772}"/>
                  </a:ext>
                </a:extLst>
              </p:cNvPr>
              <p:cNvSpPr txBox="1">
                <a:spLocks noRot="1" noChangeAspect="1" noMove="1" noResize="1" noEditPoints="1" noAdjustHandles="1" noChangeArrowheads="1" noChangeShapeType="1" noTextEdit="1"/>
              </p:cNvSpPr>
              <p:nvPr/>
            </p:nvSpPr>
            <p:spPr>
              <a:xfrm>
                <a:off x="3858680" y="5404170"/>
                <a:ext cx="2177542" cy="584775"/>
              </a:xfrm>
              <a:prstGeom prst="rect">
                <a:avLst/>
              </a:prstGeom>
              <a:blipFill>
                <a:blip r:embed="rId11"/>
                <a:stretch>
                  <a:fillRect t="-3158" r="-1401" b="-13684"/>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485E85DA-06E3-A226-238F-E5D046919214}"/>
              </a:ext>
            </a:extLst>
          </p:cNvPr>
          <p:cNvSpPr txBox="1"/>
          <p:nvPr/>
        </p:nvSpPr>
        <p:spPr>
          <a:xfrm>
            <a:off x="6434220" y="5345966"/>
            <a:ext cx="2549534" cy="830997"/>
          </a:xfrm>
          <a:prstGeom prst="rect">
            <a:avLst/>
          </a:prstGeom>
          <a:noFill/>
        </p:spPr>
        <p:txBody>
          <a:bodyPr wrap="square" rtlCol="0">
            <a:spAutoFit/>
          </a:bodyPr>
          <a:lstStyle/>
          <a:p>
            <a:pPr algn="ctr"/>
            <a:r>
              <a:rPr lang="en-US" sz="1600" dirty="0"/>
              <a:t>Latest previous seasonal index estimate for the same season</a:t>
            </a:r>
          </a:p>
        </p:txBody>
      </p:sp>
      <p:cxnSp>
        <p:nvCxnSpPr>
          <p:cNvPr id="30" name="Straight Arrow Connector 29">
            <a:extLst>
              <a:ext uri="{FF2B5EF4-FFF2-40B4-BE49-F238E27FC236}">
                <a16:creationId xmlns:a16="http://schemas.microsoft.com/office/drawing/2014/main" id="{249E2E96-CDC4-8C04-C929-3B44FB8AE237}"/>
              </a:ext>
            </a:extLst>
          </p:cNvPr>
          <p:cNvCxnSpPr>
            <a:cxnSpLocks/>
          </p:cNvCxnSpPr>
          <p:nvPr/>
        </p:nvCxnSpPr>
        <p:spPr>
          <a:xfrm>
            <a:off x="7336854" y="5234272"/>
            <a:ext cx="304058" cy="147868"/>
          </a:xfrm>
          <a:prstGeom prst="straightConnector1">
            <a:avLst/>
          </a:prstGeom>
          <a:ln>
            <a:solidFill>
              <a:srgbClr val="C00000"/>
            </a:solidFill>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7F4280B-B1A9-86A0-7733-0BDD1F7E7F00}"/>
                  </a:ext>
                </a:extLst>
              </p:cNvPr>
              <p:cNvSpPr txBox="1"/>
              <p:nvPr/>
            </p:nvSpPr>
            <p:spPr>
              <a:xfrm>
                <a:off x="9209958" y="4950121"/>
                <a:ext cx="2059532" cy="1200329"/>
              </a:xfrm>
              <a:prstGeom prst="rect">
                <a:avLst/>
              </a:prstGeom>
              <a:noFill/>
              <a:ln>
                <a:solidFill>
                  <a:schemeClr val="tx1"/>
                </a:solidFill>
              </a:ln>
            </p:spPr>
            <p:txBody>
              <a:bodyPr wrap="square" rtlCol="0">
                <a:spAutoFit/>
              </a:bodyPr>
              <a:lstStyle/>
              <a:p>
                <a14:m>
                  <m:oMath xmlns:m="http://schemas.openxmlformats.org/officeDocument/2006/math">
                    <m:r>
                      <a:rPr lang="en-US" b="0" i="1" smtClean="0">
                        <a:solidFill>
                          <a:schemeClr val="tx1"/>
                        </a:solidFill>
                        <a:latin typeface="Cambria Math" panose="02040503050406030204" pitchFamily="18" charset="0"/>
                      </a:rPr>
                      <m:t>𝛾</m:t>
                    </m:r>
                  </m:oMath>
                </a14:m>
                <a:r>
                  <a:rPr lang="en-US" dirty="0">
                    <a:solidFill>
                      <a:schemeClr val="tx1"/>
                    </a:solidFill>
                  </a:rPr>
                  <a:t> is the smoothing parameter for seasonal indexes, </a:t>
                </a:r>
                <a14:m>
                  <m:oMath xmlns:m="http://schemas.openxmlformats.org/officeDocument/2006/math">
                    <m:r>
                      <a:rPr lang="en-US" b="0" i="1" smtClean="0">
                        <a:solidFill>
                          <a:schemeClr val="tx1"/>
                        </a:solidFill>
                        <a:latin typeface="Cambria Math" panose="02040503050406030204" pitchFamily="18" charset="0"/>
                      </a:rPr>
                      <m:t>0≤</m:t>
                    </m:r>
                    <m:r>
                      <a:rPr lang="en-US" i="1">
                        <a:solidFill>
                          <a:schemeClr val="tx1"/>
                        </a:solidFill>
                        <a:latin typeface="Cambria Math" panose="02040503050406030204" pitchFamily="18" charset="0"/>
                      </a:rPr>
                      <m:t>𝛾</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𝛼</m:t>
                    </m:r>
                  </m:oMath>
                </a14:m>
                <a:endParaRPr lang="en-US" dirty="0">
                  <a:solidFill>
                    <a:schemeClr val="tx1"/>
                  </a:solidFill>
                </a:endParaRPr>
              </a:p>
            </p:txBody>
          </p:sp>
        </mc:Choice>
        <mc:Fallback xmlns="">
          <p:sp>
            <p:nvSpPr>
              <p:cNvPr id="31" name="TextBox 30">
                <a:extLst>
                  <a:ext uri="{FF2B5EF4-FFF2-40B4-BE49-F238E27FC236}">
                    <a16:creationId xmlns:a16="http://schemas.microsoft.com/office/drawing/2014/main" id="{E7F4280B-B1A9-86A0-7733-0BDD1F7E7F00}"/>
                  </a:ext>
                </a:extLst>
              </p:cNvPr>
              <p:cNvSpPr txBox="1">
                <a:spLocks noRot="1" noChangeAspect="1" noMove="1" noResize="1" noEditPoints="1" noAdjustHandles="1" noChangeArrowheads="1" noChangeShapeType="1" noTextEdit="1"/>
              </p:cNvSpPr>
              <p:nvPr/>
            </p:nvSpPr>
            <p:spPr>
              <a:xfrm>
                <a:off x="9209958" y="4950121"/>
                <a:ext cx="2059532" cy="1200329"/>
              </a:xfrm>
              <a:prstGeom prst="rect">
                <a:avLst/>
              </a:prstGeom>
              <a:blipFill>
                <a:blip r:embed="rId12"/>
                <a:stretch>
                  <a:fillRect l="-2353" t="-2010"/>
                </a:stretch>
              </a:blipFill>
              <a:ln>
                <a:solidFill>
                  <a:schemeClr val="tx1"/>
                </a:solidFill>
              </a:ln>
            </p:spPr>
            <p:txBody>
              <a:bodyPr/>
              <a:lstStyle/>
              <a:p>
                <a:r>
                  <a:rPr lang="en-US">
                    <a:noFill/>
                  </a:rPr>
                  <a:t> </a:t>
                </a:r>
              </a:p>
            </p:txBody>
          </p:sp>
        </mc:Fallback>
      </mc:AlternateContent>
      <p:sp>
        <p:nvSpPr>
          <p:cNvPr id="32" name="Curved Right Arrow 15">
            <a:extLst>
              <a:ext uri="{FF2B5EF4-FFF2-40B4-BE49-F238E27FC236}">
                <a16:creationId xmlns:a16="http://schemas.microsoft.com/office/drawing/2014/main" id="{F862CB0A-DAC6-7035-4185-3C9968B24866}"/>
              </a:ext>
            </a:extLst>
          </p:cNvPr>
          <p:cNvSpPr/>
          <p:nvPr/>
        </p:nvSpPr>
        <p:spPr>
          <a:xfrm>
            <a:off x="2431140" y="3691323"/>
            <a:ext cx="480646" cy="14468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5355D702-66F5-29FC-6044-BAA3C7086A49}"/>
              </a:ext>
            </a:extLst>
          </p:cNvPr>
          <p:cNvSpPr txBox="1"/>
          <p:nvPr/>
        </p:nvSpPr>
        <p:spPr>
          <a:xfrm>
            <a:off x="914947" y="2103669"/>
            <a:ext cx="1841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Level equation:</a:t>
            </a:r>
          </a:p>
        </p:txBody>
      </p:sp>
      <p:sp>
        <p:nvSpPr>
          <p:cNvPr id="37" name="TextBox 36">
            <a:extLst>
              <a:ext uri="{FF2B5EF4-FFF2-40B4-BE49-F238E27FC236}">
                <a16:creationId xmlns:a16="http://schemas.microsoft.com/office/drawing/2014/main" id="{A30CA0E7-C53B-9E96-E752-6B10F8577F7F}"/>
              </a:ext>
            </a:extLst>
          </p:cNvPr>
          <p:cNvSpPr txBox="1"/>
          <p:nvPr/>
        </p:nvSpPr>
        <p:spPr>
          <a:xfrm>
            <a:off x="914947" y="3468097"/>
            <a:ext cx="1841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Trend equation:</a:t>
            </a:r>
          </a:p>
        </p:txBody>
      </p:sp>
      <p:sp>
        <p:nvSpPr>
          <p:cNvPr id="38" name="TextBox 37">
            <a:extLst>
              <a:ext uri="{FF2B5EF4-FFF2-40B4-BE49-F238E27FC236}">
                <a16:creationId xmlns:a16="http://schemas.microsoft.com/office/drawing/2014/main" id="{374A68F7-4131-ADF1-BE22-128BD9BF3754}"/>
              </a:ext>
            </a:extLst>
          </p:cNvPr>
          <p:cNvSpPr txBox="1"/>
          <p:nvPr/>
        </p:nvSpPr>
        <p:spPr>
          <a:xfrm>
            <a:off x="500019" y="4577699"/>
            <a:ext cx="236437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Seasonal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component equation:</a:t>
            </a:r>
          </a:p>
        </p:txBody>
      </p:sp>
    </p:spTree>
    <p:extLst>
      <p:ext uri="{BB962C8B-B14F-4D97-AF65-F5344CB8AC3E}">
        <p14:creationId xmlns:p14="http://schemas.microsoft.com/office/powerpoint/2010/main" val="379729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20" grpId="0"/>
      <p:bldP spid="21" grpId="0"/>
      <p:bldP spid="22" grpId="0" animBg="1"/>
      <p:bldP spid="23" grpId="0" animBg="1"/>
      <p:bldP spid="26" grpId="0" animBg="1"/>
      <p:bldP spid="27" grpId="0" animBg="1"/>
      <p:bldP spid="11" grpId="0" animBg="1"/>
      <p:bldP spid="25" grpId="0" animBg="1"/>
      <p:bldP spid="28" grpId="0"/>
      <p:bldP spid="29" grpId="0"/>
      <p:bldP spid="31" grpId="0" animBg="1"/>
      <p:bldP spid="32" grpId="0" animBg="1"/>
      <p:bldP spid="36" grpId="0"/>
      <p:bldP spid="37" grpId="0"/>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Additive Method</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Holt-Winters’ Additive Method: Updating with new data</a:t>
                </a:r>
              </a:p>
              <a:p>
                <a:pPr lvl="1"/>
                <a:r>
                  <a:rPr lang="en-US" kern="0" dirty="0"/>
                  <a:t>In period </a:t>
                </a:r>
                <a14:m>
                  <m:oMath xmlns:m="http://schemas.openxmlformats.org/officeDocument/2006/math">
                    <m:r>
                      <a:rPr lang="en-US" i="1" kern="0" dirty="0" smtClean="0">
                        <a:latin typeface="Cambria Math" panose="02040503050406030204" pitchFamily="18" charset="0"/>
                      </a:rPr>
                      <m:t>𝑡</m:t>
                    </m:r>
                  </m:oMath>
                </a14:m>
                <a:r>
                  <a:rPr lang="en-US" kern="0" dirty="0"/>
                  <a:t> after observing </a:t>
                </a:r>
                <a14:m>
                  <m:oMath xmlns:m="http://schemas.openxmlformats.org/officeDocument/2006/math">
                    <m:sSub>
                      <m:sSubPr>
                        <m:ctrlPr>
                          <a:rPr lang="en-US" i="1" kern="0" smtClean="0">
                            <a:latin typeface="Cambria Math" panose="02040503050406030204" pitchFamily="18" charset="0"/>
                          </a:rPr>
                        </m:ctrlPr>
                      </m:sSubPr>
                      <m:e>
                        <m:r>
                          <a:rPr lang="en-US" b="0" i="1" kern="0" smtClean="0">
                            <a:latin typeface="Cambria Math" panose="02040503050406030204" pitchFamily="18" charset="0"/>
                          </a:rPr>
                          <m:t>𝑦</m:t>
                        </m:r>
                      </m:e>
                      <m:sub>
                        <m:r>
                          <a:rPr lang="en-US" b="0" i="1" kern="0" smtClean="0">
                            <a:latin typeface="Cambria Math" panose="02040503050406030204" pitchFamily="18" charset="0"/>
                          </a:rPr>
                          <m:t>𝑡</m:t>
                        </m:r>
                      </m:sub>
                    </m:sSub>
                  </m:oMath>
                </a14:m>
                <a:r>
                  <a:rPr lang="en-US" kern="0" dirty="0"/>
                  <a:t>:</a:t>
                </a:r>
              </a:p>
              <a:p>
                <a:pPr lvl="1"/>
                <a:endParaRPr lang="en-US" kern="0" dirty="0"/>
              </a:p>
              <a:p>
                <a:pPr lvl="1"/>
                <a:endParaRPr lang="en-US" kern="0" dirty="0"/>
              </a:p>
              <a:p>
                <a:pPr lvl="1"/>
                <a:endParaRPr lang="en-US" kern="0" dirty="0"/>
              </a:p>
              <a:p>
                <a:pPr lvl="7"/>
                <a:endParaRPr lang="en-US" kern="0" dirty="0"/>
              </a:p>
              <a:p>
                <a:pPr lvl="1"/>
                <a:endParaRPr lang="en-US" kern="0" dirty="0"/>
              </a:p>
              <a:p>
                <a:pPr lvl="1"/>
                <a:r>
                  <a:rPr lang="en-US" kern="0" dirty="0"/>
                  <a:t>Then use the forecast equation:</a:t>
                </a:r>
              </a:p>
              <a:p>
                <a:endParaRPr lang="en-US" b="1" dirty="0">
                  <a:solidFill>
                    <a:schemeClr val="tx1"/>
                  </a:solidFill>
                </a:endParaRPr>
              </a:p>
              <a:p>
                <a:pPr marL="0" indent="0">
                  <a:buNone/>
                </a:pPr>
                <a:endParaRPr lang="en-US" b="1" dirty="0">
                  <a:solidFill>
                    <a:schemeClr val="tx1"/>
                  </a:solidFill>
                </a:endParaRPr>
              </a:p>
              <a:p>
                <a:pPr lvl="1"/>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8C798ED-BB4E-88B1-4141-F54CBBED5C34}"/>
              </a:ext>
            </a:extLst>
          </p:cNvPr>
          <p:cNvPicPr>
            <a:picLocks noChangeAspect="1"/>
          </p:cNvPicPr>
          <p:nvPr/>
        </p:nvPicPr>
        <p:blipFill>
          <a:blip r:embed="rId3"/>
          <a:stretch>
            <a:fillRect/>
          </a:stretch>
        </p:blipFill>
        <p:spPr>
          <a:xfrm>
            <a:off x="2616708" y="2222789"/>
            <a:ext cx="6696075" cy="1581150"/>
          </a:xfrm>
          <a:prstGeom prst="rect">
            <a:avLst/>
          </a:prstGeom>
        </p:spPr>
      </p:pic>
      <p:pic>
        <p:nvPicPr>
          <p:cNvPr id="8" name="Picture 7">
            <a:extLst>
              <a:ext uri="{FF2B5EF4-FFF2-40B4-BE49-F238E27FC236}">
                <a16:creationId xmlns:a16="http://schemas.microsoft.com/office/drawing/2014/main" id="{D692FD14-E7E6-1ECB-358E-94FB5AE89F4C}"/>
              </a:ext>
            </a:extLst>
          </p:cNvPr>
          <p:cNvPicPr>
            <a:picLocks noChangeAspect="1"/>
          </p:cNvPicPr>
          <p:nvPr/>
        </p:nvPicPr>
        <p:blipFill>
          <a:blip r:embed="rId4"/>
          <a:stretch>
            <a:fillRect/>
          </a:stretch>
        </p:blipFill>
        <p:spPr>
          <a:xfrm>
            <a:off x="2738635" y="4592151"/>
            <a:ext cx="5057775" cy="619125"/>
          </a:xfrm>
          <a:prstGeom prst="rect">
            <a:avLst/>
          </a:prstGeom>
        </p:spPr>
      </p:pic>
    </p:spTree>
    <p:extLst>
      <p:ext uri="{BB962C8B-B14F-4D97-AF65-F5344CB8AC3E}">
        <p14:creationId xmlns:p14="http://schemas.microsoft.com/office/powerpoint/2010/main" val="314806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Additive Method Example</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Preliminaries</a:t>
                </a:r>
              </a:p>
              <a:p>
                <a:pPr lvl="1"/>
                <a:r>
                  <a:rPr lang="en-US" dirty="0">
                    <a:solidFill>
                      <a:schemeClr val="tx1"/>
                    </a:solidFill>
                  </a:rPr>
                  <a:t>Suppose we have the quarterly data for each year and each year shows repeating patterns, so </a:t>
                </a:r>
                <a14:m>
                  <m:oMath xmlns:m="http://schemas.openxmlformats.org/officeDocument/2006/math">
                    <m:r>
                      <a:rPr lang="en-US" i="1" dirty="0" smtClean="0">
                        <a:solidFill>
                          <a:schemeClr val="tx1"/>
                        </a:solidFill>
                        <a:latin typeface="Cambria Math" panose="02040503050406030204" pitchFamily="18" charset="0"/>
                      </a:rPr>
                      <m:t>𝑚</m:t>
                    </m:r>
                    <m:r>
                      <a:rPr lang="en-US" i="1" dirty="0" smtClean="0">
                        <a:solidFill>
                          <a:schemeClr val="tx1"/>
                        </a:solidFill>
                        <a:latin typeface="Cambria Math" panose="02040503050406030204" pitchFamily="18" charset="0"/>
                      </a:rPr>
                      <m:t>=4</m:t>
                    </m:r>
                  </m:oMath>
                </a14:m>
                <a:endParaRPr lang="en-US" dirty="0">
                  <a:solidFill>
                    <a:schemeClr val="tx1"/>
                  </a:solidFill>
                </a:endParaRPr>
              </a:p>
              <a:p>
                <a:pPr lvl="2"/>
                <a:r>
                  <a:rPr lang="en-US" dirty="0">
                    <a:solidFill>
                      <a:schemeClr val="tx1"/>
                    </a:solidFill>
                  </a:rPr>
                  <a:t>We will use Holt-Winters’ additive method with </a:t>
                </a:r>
              </a:p>
              <a:p>
                <a:pPr lvl="1"/>
                <a:r>
                  <a:rPr lang="en-US" dirty="0">
                    <a:solidFill>
                      <a:schemeClr val="tx1"/>
                    </a:solidFill>
                  </a:rPr>
                  <a:t>The data given after initializations and training:</a:t>
                </a:r>
              </a:p>
              <a:p>
                <a:pPr lvl="1"/>
                <a:endParaRPr lang="en-US" dirty="0">
                  <a:solidFill>
                    <a:schemeClr val="bg2"/>
                  </a:solidFill>
                </a:endParaRPr>
              </a:p>
              <a:p>
                <a:pPr lvl="1"/>
                <a:endParaRPr lang="en-US" dirty="0">
                  <a:solidFill>
                    <a:schemeClr val="bg2"/>
                  </a:solidFill>
                </a:endParaRPr>
              </a:p>
              <a:p>
                <a:pPr lvl="1"/>
                <a:endParaRPr lang="en-US" dirty="0">
                  <a:solidFill>
                    <a:schemeClr val="bg2"/>
                  </a:solidFill>
                </a:endParaRPr>
              </a:p>
              <a:p>
                <a:pPr lvl="1"/>
                <a:endParaRPr lang="en-US" dirty="0">
                  <a:solidFill>
                    <a:schemeClr val="bg2"/>
                  </a:solidFill>
                </a:endParaRPr>
              </a:p>
              <a:p>
                <a:pPr lvl="1"/>
                <a:r>
                  <a:rPr lang="en-US" dirty="0"/>
                  <a:t>We are at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=0</m:t>
                    </m:r>
                  </m:oMath>
                </a14:m>
                <a:r>
                  <a:rPr lang="en-US" dirty="0"/>
                  <a:t>, and we know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ℓ</m:t>
                        </m:r>
                      </m:e>
                      <m:sub>
                        <m:r>
                          <a:rPr lang="en-US" b="0" i="1" smtClean="0">
                            <a:latin typeface="Cambria Math" panose="02040503050406030204" pitchFamily="18" charset="0"/>
                          </a:rPr>
                          <m:t>0</m:t>
                        </m:r>
                      </m:sub>
                    </m:sSub>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0</m:t>
                        </m:r>
                      </m:sub>
                    </m:sSub>
                  </m:oMath>
                </a14:m>
                <a:r>
                  <a:rPr lang="en-US" dirty="0"/>
                  <a:t>, and the latest seasonal index estimates:</a:t>
                </a:r>
                <a:endParaRPr lang="en-US" i="1" dirty="0">
                  <a:latin typeface="Cambria Math" panose="02040503050406030204" pitchFamily="18" charset="0"/>
                </a:endParaRPr>
              </a:p>
              <a:p>
                <a:pPr lvl="2"/>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a14:m>
                <a:r>
                  <a:rPr lang="en-US" dirty="0"/>
                  <a:t> for quarter 1,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2</m:t>
                        </m:r>
                      </m:sub>
                    </m:sSub>
                  </m:oMath>
                </a14:m>
                <a:r>
                  <a:rPr lang="en-US" dirty="0"/>
                  <a:t> for quarter 2,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1</m:t>
                        </m:r>
                      </m:sub>
                    </m:sSub>
                  </m:oMath>
                </a14:m>
                <a:r>
                  <a:rPr lang="en-US" dirty="0"/>
                  <a:t> for quarter 3,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oMath>
                </a14:m>
                <a:r>
                  <a:rPr lang="en-US" dirty="0"/>
                  <a:t> for quarter 4</a:t>
                </a:r>
              </a:p>
              <a:p>
                <a:pPr lvl="2"/>
                <a:r>
                  <a:rPr lang="en-US" dirty="0"/>
                  <a:t>To find these initial values, we can use regression and classical decomposition!</a:t>
                </a:r>
              </a:p>
              <a:p>
                <a:pPr lvl="1"/>
                <a:endParaRPr lang="en-US" dirty="0">
                  <a:solidFill>
                    <a:schemeClr val="bg2"/>
                  </a:solidFill>
                </a:endParaRPr>
              </a:p>
              <a:p>
                <a:pPr lvl="1"/>
                <a:endParaRPr lang="en-US" b="1" dirty="0">
                  <a:solidFill>
                    <a:schemeClr val="tx1"/>
                  </a:solidFill>
                </a:endParaRP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CFE68C5B-181A-B196-E0BB-FE5662FB1F9B}"/>
              </a:ext>
            </a:extLst>
          </p:cNvPr>
          <p:cNvPicPr>
            <a:picLocks noChangeAspect="1"/>
          </p:cNvPicPr>
          <p:nvPr/>
        </p:nvPicPr>
        <p:blipFill>
          <a:blip r:embed="rId3"/>
          <a:stretch>
            <a:fillRect/>
          </a:stretch>
        </p:blipFill>
        <p:spPr>
          <a:xfrm>
            <a:off x="1288898" y="3235887"/>
            <a:ext cx="6708775" cy="1420480"/>
          </a:xfrm>
          <a:prstGeom prst="rect">
            <a:avLst/>
          </a:prstGeom>
        </p:spPr>
      </p:pic>
      <p:pic>
        <p:nvPicPr>
          <p:cNvPr id="5" name="Picture 4">
            <a:extLst>
              <a:ext uri="{FF2B5EF4-FFF2-40B4-BE49-F238E27FC236}">
                <a16:creationId xmlns:a16="http://schemas.microsoft.com/office/drawing/2014/main" id="{799B53F5-2BAD-09ED-F76E-076AEC4F2A9B}"/>
              </a:ext>
            </a:extLst>
          </p:cNvPr>
          <p:cNvPicPr>
            <a:picLocks noChangeAspect="1"/>
          </p:cNvPicPr>
          <p:nvPr/>
        </p:nvPicPr>
        <p:blipFill>
          <a:blip r:embed="rId4"/>
          <a:stretch>
            <a:fillRect/>
          </a:stretch>
        </p:blipFill>
        <p:spPr>
          <a:xfrm>
            <a:off x="7138236" y="2880660"/>
            <a:ext cx="3390900" cy="247650"/>
          </a:xfrm>
          <a:prstGeom prst="rect">
            <a:avLst/>
          </a:prstGeom>
        </p:spPr>
      </p:pic>
    </p:spTree>
    <p:extLst>
      <p:ext uri="{BB962C8B-B14F-4D97-AF65-F5344CB8AC3E}">
        <p14:creationId xmlns:p14="http://schemas.microsoft.com/office/powerpoint/2010/main" val="5709540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Additive Method Example</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Preliminaries</a:t>
                </a:r>
              </a:p>
              <a:p>
                <a:pPr lvl="1"/>
                <a:endParaRPr lang="en-US" dirty="0"/>
              </a:p>
              <a:p>
                <a:pPr lvl="1"/>
                <a:endParaRPr lang="en-US" dirty="0"/>
              </a:p>
              <a:p>
                <a:pPr lvl="1"/>
                <a:r>
                  <a:rPr lang="en-US" dirty="0"/>
                  <a:t>Suppose that we want to forecast the value for period </a:t>
                </a:r>
                <a14:m>
                  <m:oMath xmlns:m="http://schemas.openxmlformats.org/officeDocument/2006/math">
                    <m:r>
                      <a:rPr lang="en-US" i="1" dirty="0" smtClean="0">
                        <a:latin typeface="Cambria Math" panose="02040503050406030204" pitchFamily="18" charset="0"/>
                      </a:rPr>
                      <m:t>3</m:t>
                    </m:r>
                  </m:oMath>
                </a14:m>
                <a:r>
                  <a:rPr lang="en-US" dirty="0"/>
                  <a:t>, i.e.,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=3</m:t>
                    </m:r>
                  </m:oMath>
                </a14:m>
                <a:endParaRPr lang="en-US" dirty="0"/>
              </a:p>
              <a:p>
                <a:pPr lvl="2"/>
                <a:r>
                  <a:rPr lang="en-US" dirty="0"/>
                  <a:t>Which seasonal index, </a:t>
                </a:r>
                <a14:m>
                  <m:oMath xmlns:m="http://schemas.openxmlformats.org/officeDocument/2006/math">
                    <m:r>
                      <a:rPr lang="en-US" i="1" dirty="0" smtClean="0">
                        <a:latin typeface="Cambria Math" panose="02040503050406030204" pitchFamily="18" charset="0"/>
                      </a:rPr>
                      <m:t>𝑠</m:t>
                    </m:r>
                  </m:oMath>
                </a14:m>
                <a:r>
                  <a:rPr lang="en-US" dirty="0"/>
                  <a:t>, to use? </a:t>
                </a:r>
              </a:p>
              <a:p>
                <a:pPr lvl="3"/>
                <a14:m>
                  <m:oMath xmlns:m="http://schemas.openxmlformats.org/officeDocument/2006/math">
                    <m:r>
                      <a:rPr lang="en-US" i="1" dirty="0" smtClean="0">
                        <a:latin typeface="Cambria Math" panose="02040503050406030204" pitchFamily="18" charset="0"/>
                      </a:rPr>
                      <m:t>𝑘</m:t>
                    </m:r>
                  </m:oMath>
                </a14:m>
                <a:r>
                  <a:rPr lang="en-US" dirty="0"/>
                  <a:t> is the integer part of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−1)/</m:t>
                    </m:r>
                    <m:r>
                      <a:rPr lang="en-US" i="1" dirty="0" smtClean="0">
                        <a:latin typeface="Cambria Math" panose="02040503050406030204" pitchFamily="18" charset="0"/>
                      </a:rPr>
                      <m:t>𝑚</m:t>
                    </m:r>
                    <m:r>
                      <a:rPr lang="en-US" i="1" dirty="0" smtClean="0">
                        <a:latin typeface="Cambria Math" panose="02040503050406030204" pitchFamily="18" charset="0"/>
                      </a:rPr>
                      <m:t>=(3−1)/4=0.75</m:t>
                    </m:r>
                  </m:oMath>
                </a14:m>
                <a:r>
                  <a:rPr lang="en-US" dirty="0"/>
                  <a:t>, so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m:t>
                    </m:r>
                  </m:oMath>
                </a14:m>
                <a:r>
                  <a:rPr lang="en-US" dirty="0">
                    <a:sym typeface="Wingdings" panose="05000000000000000000" pitchFamily="2" charset="2"/>
                  </a:rPr>
                  <a:t> </a:t>
                </a:r>
              </a:p>
              <a:p>
                <a:pPr lvl="3"/>
                <a14:m>
                  <m:oMath xmlns:m="http://schemas.openxmlformats.org/officeDocument/2006/math">
                    <m:r>
                      <a:rPr lang="en-US" i="1" dirty="0" smtClean="0">
                        <a:latin typeface="Cambria Math" panose="02040503050406030204" pitchFamily="18" charset="0"/>
                      </a:rPr>
                      <m:t>𝑡</m:t>
                    </m:r>
                    <m:r>
                      <a:rPr lang="en-US" i="1" dirty="0" err="1">
                        <a:latin typeface="Cambria Math" panose="02040503050406030204" pitchFamily="18" charset="0"/>
                      </a:rPr>
                      <m:t>+</m:t>
                    </m:r>
                    <m:r>
                      <a:rPr lang="en-US" b="0" i="1" dirty="0" smtClean="0">
                        <a:latin typeface="Cambria Math" panose="02040503050406030204" pitchFamily="18" charset="0"/>
                      </a:rPr>
                      <m:t>h</m:t>
                    </m:r>
                    <m:r>
                      <a:rPr lang="en-US" i="1" dirty="0" err="1">
                        <a:latin typeface="Cambria Math" panose="02040503050406030204" pitchFamily="18" charset="0"/>
                      </a:rPr>
                      <m:t>−</m:t>
                    </m:r>
                    <m:r>
                      <a:rPr lang="en-US" i="1" dirty="0" err="1">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+1)=0+3−4∗(0+1)=−1 </m:t>
                    </m:r>
                  </m:oMath>
                </a14:m>
                <a:r>
                  <a:rPr lang="en-US" dirty="0">
                    <a:sym typeface="Wingdings" panose="05000000000000000000" pitchFamily="2" charset="2"/>
                  </a:rPr>
                  <a:t> </a:t>
                </a:r>
                <a:r>
                  <a:rPr lang="en-US" dirty="0"/>
                  <a:t>so 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oMath>
                </a14:m>
                <a:endParaRPr lang="en-US" dirty="0"/>
              </a:p>
              <a:p>
                <a:pPr lvl="3"/>
                <a:r>
                  <a:rPr lang="en-US" dirty="0"/>
                  <a:t>Note that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=3</m:t>
                    </m:r>
                  </m:oMath>
                </a14:m>
                <a:r>
                  <a:rPr lang="en-US" dirty="0"/>
                  <a:t> corresponds to Q3 of 2005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oMath>
                </a14:m>
                <a:r>
                  <a:rPr lang="en-US" dirty="0"/>
                  <a:t> is the latest estimate for Q3’s</a:t>
                </a:r>
              </a:p>
              <a:p>
                <a:pPr lvl="1"/>
                <a:r>
                  <a:rPr lang="en-US" dirty="0"/>
                  <a:t>How about forecasting for period </a:t>
                </a:r>
                <a14:m>
                  <m:oMath xmlns:m="http://schemas.openxmlformats.org/officeDocument/2006/math">
                    <m:r>
                      <a:rPr lang="en-US" b="0" i="1" smtClean="0">
                        <a:latin typeface="Cambria Math" panose="02040503050406030204" pitchFamily="18" charset="0"/>
                      </a:rPr>
                      <m:t>6</m:t>
                    </m:r>
                  </m:oMath>
                </a14:m>
                <a:r>
                  <a:rPr lang="en-US" dirty="0"/>
                  <a:t>, i.e.,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=6 </m:t>
                    </m:r>
                  </m:oMath>
                </a14:m>
                <a:endParaRPr lang="en-US" dirty="0"/>
              </a:p>
              <a:p>
                <a:pPr lvl="2"/>
                <a:r>
                  <a:rPr lang="en-US" dirty="0"/>
                  <a:t>Which seasonal index, </a:t>
                </a:r>
                <a14:m>
                  <m:oMath xmlns:m="http://schemas.openxmlformats.org/officeDocument/2006/math">
                    <m:r>
                      <a:rPr lang="en-US" i="1" dirty="0" smtClean="0">
                        <a:latin typeface="Cambria Math" panose="02040503050406030204" pitchFamily="18" charset="0"/>
                      </a:rPr>
                      <m:t>𝑠</m:t>
                    </m:r>
                  </m:oMath>
                </a14:m>
                <a:r>
                  <a:rPr lang="en-US" dirty="0"/>
                  <a:t>, to use? </a:t>
                </a:r>
              </a:p>
              <a:p>
                <a:pPr lvl="3"/>
                <a14:m>
                  <m:oMath xmlns:m="http://schemas.openxmlformats.org/officeDocument/2006/math">
                    <m:r>
                      <a:rPr lang="en-US" i="1" dirty="0" smtClean="0">
                        <a:latin typeface="Cambria Math" panose="02040503050406030204" pitchFamily="18" charset="0"/>
                      </a:rPr>
                      <m:t>𝑘</m:t>
                    </m:r>
                  </m:oMath>
                </a14:m>
                <a:r>
                  <a:rPr lang="en-US" dirty="0"/>
                  <a:t> is the integer part of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−1)/</m:t>
                    </m:r>
                    <m:r>
                      <a:rPr lang="en-US" i="1" dirty="0" smtClean="0">
                        <a:latin typeface="Cambria Math" panose="02040503050406030204" pitchFamily="18" charset="0"/>
                      </a:rPr>
                      <m:t>𝑚</m:t>
                    </m:r>
                    <m:r>
                      <a:rPr lang="en-US" i="1" dirty="0" smtClean="0">
                        <a:latin typeface="Cambria Math" panose="02040503050406030204" pitchFamily="18" charset="0"/>
                      </a:rPr>
                      <m:t>=(6−1)/4=1.25</m:t>
                    </m:r>
                  </m:oMath>
                </a14:m>
                <a:r>
                  <a:rPr lang="en-US" dirty="0"/>
                  <a:t>, so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m:t>
                    </m:r>
                  </m:oMath>
                </a14:m>
                <a:endParaRPr lang="en-US" dirty="0"/>
              </a:p>
              <a:p>
                <a:pPr lvl="3"/>
                <a14:m>
                  <m:oMath xmlns:m="http://schemas.openxmlformats.org/officeDocument/2006/math">
                    <m:r>
                      <a:rPr lang="en-US" i="1" dirty="0" smtClean="0">
                        <a:latin typeface="Cambria Math" panose="02040503050406030204" pitchFamily="18" charset="0"/>
                      </a:rPr>
                      <m:t>𝑡</m:t>
                    </m:r>
                    <m:r>
                      <a:rPr lang="en-US" i="1" dirty="0" err="1">
                        <a:latin typeface="Cambria Math" panose="02040503050406030204" pitchFamily="18" charset="0"/>
                      </a:rPr>
                      <m:t>+</m:t>
                    </m:r>
                    <m:r>
                      <a:rPr lang="en-US" i="1" dirty="0" err="1">
                        <a:latin typeface="Cambria Math" panose="02040503050406030204" pitchFamily="18" charset="0"/>
                      </a:rPr>
                      <m:t>h</m:t>
                    </m:r>
                    <m:r>
                      <a:rPr lang="en-US" i="1" dirty="0" err="1">
                        <a:latin typeface="Cambria Math" panose="02040503050406030204" pitchFamily="18" charset="0"/>
                      </a:rPr>
                      <m:t>−</m:t>
                    </m:r>
                    <m:r>
                      <a:rPr lang="en-US" i="1" dirty="0" err="1">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+1)=0+6−4∗(1+1)=−2 </m:t>
                    </m:r>
                  </m:oMath>
                </a14:m>
                <a:r>
                  <a:rPr lang="en-US" dirty="0">
                    <a:sym typeface="Wingdings" panose="05000000000000000000" pitchFamily="2" charset="2"/>
                  </a:rPr>
                  <a:t> </a:t>
                </a:r>
                <a:r>
                  <a:rPr lang="en-US" dirty="0"/>
                  <a:t>so 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oMath>
                </a14:m>
                <a:endParaRPr lang="en-US" dirty="0"/>
              </a:p>
              <a:p>
                <a:pPr lvl="3"/>
                <a:r>
                  <a:rPr lang="en-US" dirty="0"/>
                  <a:t>Note that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=6 </m:t>
                    </m:r>
                  </m:oMath>
                </a14:m>
                <a:r>
                  <a:rPr lang="en-US" dirty="0"/>
                  <a:t>corresponds to Q2 of 2006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oMath>
                </a14:m>
                <a:r>
                  <a:rPr lang="en-US" dirty="0"/>
                  <a:t> is the latest estimate for Q2’s</a:t>
                </a:r>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F43FD7C3-8A16-F4B5-C74A-8320FF2AF8A9}"/>
              </a:ext>
            </a:extLst>
          </p:cNvPr>
          <p:cNvPicPr>
            <a:picLocks noChangeAspect="1"/>
          </p:cNvPicPr>
          <p:nvPr/>
        </p:nvPicPr>
        <p:blipFill>
          <a:blip r:embed="rId3"/>
          <a:stretch>
            <a:fillRect/>
          </a:stretch>
        </p:blipFill>
        <p:spPr>
          <a:xfrm>
            <a:off x="2848687" y="1762358"/>
            <a:ext cx="4266716" cy="617033"/>
          </a:xfrm>
          <a:prstGeom prst="rect">
            <a:avLst/>
          </a:prstGeom>
        </p:spPr>
      </p:pic>
    </p:spTree>
    <p:extLst>
      <p:ext uri="{BB962C8B-B14F-4D97-AF65-F5344CB8AC3E}">
        <p14:creationId xmlns:p14="http://schemas.microsoft.com/office/powerpoint/2010/main" val="11472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Example: Forecasting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Forecasting</a:t>
                </a:r>
              </a:p>
              <a:p>
                <a:pPr marL="742950" lvl="1" indent="-285750"/>
                <a:r>
                  <a:rPr lang="en-US" dirty="0">
                    <a:solidFill>
                      <a:schemeClr val="tx1"/>
                    </a:solidFill>
                  </a:rPr>
                  <a:t>Given we’re in period 0 (2004 Q4), what are the forecasts for periods  1 to 5?</a:t>
                </a:r>
              </a:p>
              <a:p>
                <a:pPr marL="742950" lvl="1" indent="-285750"/>
                <a:r>
                  <a:rPr lang="en-US" dirty="0">
                    <a:solidFill>
                      <a:schemeClr val="tx1"/>
                    </a:solidFill>
                  </a:rPr>
                  <a:t>That is, 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1|0</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2|0</m:t>
                        </m:r>
                      </m:sub>
                    </m:sSub>
                  </m:oMath>
                </a14:m>
                <a:r>
                  <a:rPr lang="en-US" dirty="0">
                    <a:solidFill>
                      <a:schemeClr val="tx1"/>
                    </a:solidFill>
                  </a:rPr>
                  <a:t>, …,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5|0</m:t>
                        </m:r>
                      </m:sub>
                    </m:sSub>
                  </m:oMath>
                </a14:m>
                <a:r>
                  <a:rPr lang="en-US" dirty="0">
                    <a:solidFill>
                      <a:schemeClr val="tx1"/>
                    </a:solidFill>
                  </a:rPr>
                  <a:t>?</a:t>
                </a:r>
              </a:p>
              <a:p>
                <a:pPr lvl="2"/>
                <a:endParaRPr lang="en-US" dirty="0">
                  <a:solidFill>
                    <a:schemeClr val="tx1"/>
                  </a:solidFill>
                </a:endParaRPr>
              </a:p>
              <a:p>
                <a:pPr lvl="2"/>
                <a:r>
                  <a:rPr lang="en-US" dirty="0">
                    <a:solidFill>
                      <a:schemeClr val="tx1"/>
                    </a:solidFill>
                  </a:rPr>
                  <a:t>Forecast made in period 0 for period 1</a:t>
                </a:r>
              </a:p>
              <a:p>
                <a:pPr lvl="3"/>
                <a:r>
                  <a:rPr lang="en-US" dirty="0">
                    <a:solidFill>
                      <a:schemeClr val="tx1"/>
                    </a:solidFill>
                  </a:rPr>
                  <a:t>Period 1 corresponds to Q1 of 2005, so we will use the latest seasonal factor for Q1s, which is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−3</m:t>
                        </m:r>
                      </m:sub>
                    </m:sSub>
                    <m:r>
                      <a:rPr lang="en-US" i="1" dirty="0">
                        <a:solidFill>
                          <a:schemeClr val="tx1"/>
                        </a:solidFill>
                        <a:latin typeface="Cambria Math" panose="02040503050406030204" pitchFamily="18" charset="0"/>
                      </a:rPr>
                      <m:t>=9.70</m:t>
                    </m:r>
                  </m:oMath>
                </a14:m>
                <a:endParaRPr lang="en-US" dirty="0">
                  <a:solidFill>
                    <a:schemeClr val="tx1"/>
                  </a:solidFill>
                </a:endParaRPr>
              </a:p>
              <a:p>
                <a:pPr lvl="3"/>
                <a:r>
                  <a:rPr lang="en-US" dirty="0">
                    <a:solidFill>
                      <a:schemeClr val="tx1"/>
                    </a:solidFill>
                  </a:rPr>
                  <a:t>Noting that h=1, we have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1|0</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+1</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−3</m:t>
                        </m:r>
                      </m:sub>
                    </m:sSub>
                    <m:r>
                      <a:rPr lang="en-US" i="1">
                        <a:solidFill>
                          <a:schemeClr val="tx1"/>
                        </a:solidFill>
                        <a:latin typeface="Cambria Math" panose="02040503050406030204" pitchFamily="18" charset="0"/>
                      </a:rPr>
                      <m:t>=32.26+0.70+9.70=42.66</m:t>
                    </m:r>
                  </m:oMath>
                </a14:m>
                <a:endParaRPr lang="en-US" dirty="0">
                  <a:solidFill>
                    <a:schemeClr val="tx1"/>
                  </a:solidFill>
                </a:endParaRPr>
              </a:p>
              <a:p>
                <a:pPr lvl="2"/>
                <a:endParaRPr lang="en-US" dirty="0">
                  <a:solidFill>
                    <a:schemeClr val="tx1"/>
                  </a:solidFill>
                </a:endParaRPr>
              </a:p>
              <a:p>
                <a:pPr lvl="2"/>
                <a:r>
                  <a:rPr lang="en-US" dirty="0">
                    <a:solidFill>
                      <a:schemeClr val="tx1"/>
                    </a:solidFill>
                  </a:rPr>
                  <a:t>Forecast made in period 0 for period 2</a:t>
                </a:r>
              </a:p>
              <a:p>
                <a:pPr lvl="3"/>
                <a:r>
                  <a:rPr lang="en-US" dirty="0">
                    <a:solidFill>
                      <a:schemeClr val="tx1"/>
                    </a:solidFill>
                  </a:rPr>
                  <a:t>Period 2 corresponds to Q2 of 2005, so we will use the latest seasonal factor for Q2s, which is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=−9.31</m:t>
                    </m:r>
                  </m:oMath>
                </a14:m>
                <a:endParaRPr lang="en-US" dirty="0">
                  <a:solidFill>
                    <a:schemeClr val="tx1"/>
                  </a:solidFill>
                </a:endParaRPr>
              </a:p>
              <a:p>
                <a:pPr lvl="3"/>
                <a:r>
                  <a:rPr lang="en-US" dirty="0">
                    <a:solidFill>
                      <a:schemeClr val="tx1"/>
                    </a:solidFill>
                  </a:rPr>
                  <a:t>Noting that h=2, we have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2|0</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=32.26+2</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0.70−9.31=24.35</m:t>
                    </m:r>
                  </m:oMath>
                </a14:m>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194230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Example: Forecasting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Forecasting</a:t>
                </a:r>
              </a:p>
              <a:p>
                <a:pPr lvl="2"/>
                <a:r>
                  <a:rPr lang="en-US" dirty="0"/>
                  <a:t>Forecast made in period 0 for period 3</a:t>
                </a:r>
              </a:p>
              <a:p>
                <a:pPr lvl="3"/>
                <a:r>
                  <a:rPr lang="en-US" dirty="0"/>
                  <a:t>Period 3 corresponds to Q3 of 2005, so we will use the latest seasonal factor for Q3s,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1</m:t>
                        </m:r>
                      </m:sub>
                    </m:sSub>
                  </m:oMath>
                </a14:m>
                <a:r>
                  <a:rPr lang="en-US" dirty="0"/>
                  <a:t>=-1.69</a:t>
                </a:r>
              </a:p>
              <a:p>
                <a:pPr lvl="3"/>
                <a:r>
                  <a:rPr lang="en-US" dirty="0"/>
                  <a:t>Noting that h=3,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3</m:t>
                        </m:r>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0</m:t>
                        </m:r>
                      </m:sub>
                    </m:sSub>
                    <m:r>
                      <a:rPr lang="en-US" i="1">
                        <a:latin typeface="Cambria Math" panose="02040503050406030204" pitchFamily="18" charset="0"/>
                      </a:rPr>
                      <m:t>+</m:t>
                    </m:r>
                    <m:r>
                      <a:rPr lang="en-US" b="0" i="1" smtClean="0">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1</m:t>
                        </m:r>
                      </m:sub>
                    </m:sSub>
                    <m:r>
                      <a:rPr lang="en-US" i="1">
                        <a:latin typeface="Cambria Math" panose="02040503050406030204" pitchFamily="18" charset="0"/>
                      </a:rPr>
                      <m:t>=32.26+</m:t>
                    </m:r>
                    <m:r>
                      <a:rPr lang="en-US" b="0" i="1" smtClean="0">
                        <a:latin typeface="Cambria Math" panose="02040503050406030204" pitchFamily="18" charset="0"/>
                      </a:rPr>
                      <m:t>3</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1.69</m:t>
                    </m:r>
                    <m:r>
                      <a:rPr lang="en-US" i="1">
                        <a:latin typeface="Cambria Math" panose="02040503050406030204" pitchFamily="18" charset="0"/>
                      </a:rPr>
                      <m:t>=</m:t>
                    </m:r>
                    <m:r>
                      <a:rPr lang="en-US" b="0" i="1" smtClean="0">
                        <a:latin typeface="Cambria Math" panose="02040503050406030204" pitchFamily="18" charset="0"/>
                      </a:rPr>
                      <m:t>32.67</m:t>
                    </m:r>
                  </m:oMath>
                </a14:m>
                <a:endParaRPr lang="en-US" dirty="0"/>
              </a:p>
              <a:p>
                <a:pPr lvl="2"/>
                <a:endParaRPr lang="en-US" dirty="0"/>
              </a:p>
              <a:p>
                <a:pPr lvl="2"/>
                <a:r>
                  <a:rPr lang="en-US" dirty="0"/>
                  <a:t>Forecast made in period 0 for period 4</a:t>
                </a:r>
              </a:p>
              <a:p>
                <a:pPr lvl="3"/>
                <a:r>
                  <a:rPr lang="en-US" dirty="0"/>
                  <a:t>Period 4 corresponds to Q4 of 2005, so we will use the latest seasonal factor for Q4s,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oMath>
                </a14:m>
                <a:r>
                  <a:rPr lang="en-US" dirty="0"/>
                  <a:t>=1.31</a:t>
                </a:r>
              </a:p>
              <a:p>
                <a:pPr lvl="3"/>
                <a:r>
                  <a:rPr lang="en-US" dirty="0"/>
                  <a:t>Noting that h=4,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4</m:t>
                        </m:r>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0</m:t>
                        </m:r>
                      </m:sub>
                    </m:sSub>
                    <m:r>
                      <a:rPr lang="en-US" i="1">
                        <a:latin typeface="Cambria Math" panose="02040503050406030204" pitchFamily="18" charset="0"/>
                      </a:rPr>
                      <m:t>+</m:t>
                    </m:r>
                    <m:r>
                      <a:rPr lang="en-US" b="0" i="1" smtClean="0">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r>
                      <a:rPr lang="en-US" i="1">
                        <a:latin typeface="Cambria Math" panose="02040503050406030204" pitchFamily="18" charset="0"/>
                      </a:rPr>
                      <m:t>=32.26+</m:t>
                    </m:r>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+1</m:t>
                    </m:r>
                    <m:r>
                      <a:rPr lang="en-US" i="1">
                        <a:latin typeface="Cambria Math" panose="02040503050406030204" pitchFamily="18" charset="0"/>
                      </a:rPr>
                      <m:t>.31=</m:t>
                    </m:r>
                    <m:r>
                      <a:rPr lang="en-US" b="0" i="1" smtClean="0">
                        <a:latin typeface="Cambria Math" panose="02040503050406030204" pitchFamily="18" charset="0"/>
                      </a:rPr>
                      <m:t>36.37</m:t>
                    </m:r>
                  </m:oMath>
                </a14:m>
                <a:endParaRPr lang="en-US" dirty="0"/>
              </a:p>
              <a:p>
                <a:pPr lvl="2"/>
                <a:endParaRPr lang="en-US" dirty="0"/>
              </a:p>
              <a:p>
                <a:pPr lvl="2"/>
                <a:r>
                  <a:rPr lang="en-US" dirty="0"/>
                  <a:t>Forecast made in period 0 for period 5</a:t>
                </a:r>
              </a:p>
              <a:p>
                <a:pPr lvl="3"/>
                <a:r>
                  <a:rPr lang="en-US" dirty="0"/>
                  <a:t>Period 5 corresponds to Q1 of 2006, so we will use the latest seasonal factor for Q1s,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3</m:t>
                        </m:r>
                      </m:sub>
                    </m:sSub>
                  </m:oMath>
                </a14:m>
                <a:r>
                  <a:rPr lang="en-US" dirty="0"/>
                  <a:t>=9.70</a:t>
                </a:r>
              </a:p>
              <a:p>
                <a:pPr lvl="3"/>
                <a:r>
                  <a:rPr lang="en-US" dirty="0"/>
                  <a:t>Noting that h=5,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5</m:t>
                        </m:r>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0</m:t>
                        </m:r>
                      </m:sub>
                    </m:sSub>
                    <m:r>
                      <a:rPr lang="en-US" i="1">
                        <a:latin typeface="Cambria Math" panose="02040503050406030204" pitchFamily="18" charset="0"/>
                      </a:rPr>
                      <m:t>+</m:t>
                    </m:r>
                    <m:r>
                      <a:rPr lang="en-US" b="0" i="1" smtClean="0">
                        <a:latin typeface="Cambria Math" panose="02040503050406030204" pitchFamily="18" charset="0"/>
                      </a:rPr>
                      <m:t>5</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3</m:t>
                        </m:r>
                      </m:sub>
                    </m:sSub>
                    <m:r>
                      <a:rPr lang="en-US" i="1">
                        <a:latin typeface="Cambria Math" panose="02040503050406030204" pitchFamily="18" charset="0"/>
                      </a:rPr>
                      <m:t>=32.26+</m:t>
                    </m:r>
                    <m:r>
                      <a:rPr lang="en-US" b="0" i="1" smtClean="0">
                        <a:latin typeface="Cambria Math" panose="02040503050406030204" pitchFamily="18" charset="0"/>
                      </a:rPr>
                      <m:t>5</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m:t>
                    </m:r>
                    <m:r>
                      <a:rPr lang="en-US" i="1">
                        <a:latin typeface="Cambria Math" panose="02040503050406030204" pitchFamily="18" charset="0"/>
                      </a:rPr>
                      <m:t>9.</m:t>
                    </m:r>
                    <m:r>
                      <a:rPr lang="en-US" b="0" i="1" smtClean="0">
                        <a:latin typeface="Cambria Math" panose="02040503050406030204" pitchFamily="18" charset="0"/>
                      </a:rPr>
                      <m:t>70</m:t>
                    </m:r>
                    <m:r>
                      <a:rPr lang="en-US" i="1">
                        <a:latin typeface="Cambria Math" panose="02040503050406030204" pitchFamily="18" charset="0"/>
                      </a:rPr>
                      <m:t>=</m:t>
                    </m:r>
                    <m:r>
                      <a:rPr lang="en-US" b="0" i="1" smtClean="0">
                        <a:latin typeface="Cambria Math" panose="02040503050406030204" pitchFamily="18" charset="0"/>
                      </a:rPr>
                      <m:t>45.46</m:t>
                    </m:r>
                  </m:oMath>
                </a14:m>
                <a:endParaRPr lang="en-US" dirty="0"/>
              </a:p>
              <a:p>
                <a:pPr lvl="3"/>
                <a:endParaRPr lang="en-US" dirty="0"/>
              </a:p>
              <a:p>
                <a:pPr marL="457200" lvl="1" indent="0">
                  <a:buNone/>
                </a:pPr>
                <a:r>
                  <a:rPr lang="en-US" dirty="0">
                    <a:solidFill>
                      <a:srgbClr val="C00000"/>
                    </a:solidFill>
                  </a:rPr>
                  <a:t>See</a:t>
                </a:r>
                <a:r>
                  <a:rPr lang="en-US" dirty="0"/>
                  <a:t> </a:t>
                </a:r>
                <a:r>
                  <a:rPr lang="en-US" i="1" dirty="0"/>
                  <a:t>Module 1.3 – Example – Forecasting with Holt-Winters.xlsx</a:t>
                </a:r>
                <a:endParaRPr lang="en-US" dirty="0"/>
              </a:p>
              <a:p>
                <a:pPr lvl="1"/>
                <a:endParaRPr lang="en-US" dirty="0">
                  <a:solidFill>
                    <a:schemeClr val="tx1"/>
                  </a:solidFill>
                </a:endParaRPr>
              </a:p>
              <a:p>
                <a:pPr lvl="1"/>
                <a:endParaRPr lang="en-US" dirty="0">
                  <a:solidFill>
                    <a:schemeClr val="bg2"/>
                  </a:solidFill>
                </a:endParaRPr>
              </a:p>
              <a:p>
                <a:pPr lvl="1"/>
                <a:endParaRPr lang="en-US" b="1" dirty="0">
                  <a:solidFill>
                    <a:schemeClr val="tx1"/>
                  </a:solidFill>
                </a:endParaRP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1504"/>
                </a:stretch>
              </a:blipFill>
            </p:spPr>
            <p:txBody>
              <a:bodyPr/>
              <a:lstStyle/>
              <a:p>
                <a:r>
                  <a:rPr lang="en-US">
                    <a:noFill/>
                  </a:rPr>
                  <a:t> </a:t>
                </a:r>
              </a:p>
            </p:txBody>
          </p:sp>
        </mc:Fallback>
      </mc:AlternateContent>
    </p:spTree>
    <p:extLst>
      <p:ext uri="{BB962C8B-B14F-4D97-AF65-F5344CB8AC3E}">
        <p14:creationId xmlns:p14="http://schemas.microsoft.com/office/powerpoint/2010/main" val="367412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Example: Updated Forecasts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Updated Forecasts</a:t>
                </a:r>
              </a:p>
              <a:p>
                <a:pPr lvl="1"/>
                <a:r>
                  <a:rPr lang="en-US" dirty="0"/>
                  <a:t>Suppose that we observed the data for Period 1 such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=42.21</m:t>
                    </m:r>
                  </m:oMath>
                </a14:m>
                <a:endParaRPr lang="en-US" dirty="0"/>
              </a:p>
              <a:p>
                <a:pPr lvl="1"/>
                <a:r>
                  <a:rPr lang="en-US" dirty="0"/>
                  <a:t>We will update the level estimate first</a:t>
                </a:r>
              </a:p>
              <a:p>
                <a:pPr lvl="2"/>
                <a:r>
                  <a:rPr lang="en-US" dirty="0"/>
                  <a:t>From level equation: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−3</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𝛼</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e>
                    </m:d>
                    <m:r>
                      <a:rPr lang="en-US" i="1">
                        <a:latin typeface="Cambria Math" panose="02040503050406030204" pitchFamily="18" charset="0"/>
                      </a:rPr>
                      <m:t>=32.82</m:t>
                    </m:r>
                  </m:oMath>
                </a14:m>
                <a:endParaRPr lang="en-US" dirty="0"/>
              </a:p>
              <a:p>
                <a:pPr lvl="1"/>
                <a:r>
                  <a:rPr lang="en-US" dirty="0"/>
                  <a:t>We will then update the trend estimate</a:t>
                </a:r>
              </a:p>
              <a:p>
                <a:pPr lvl="2"/>
                <a:r>
                  <a:rPr lang="en-US" dirty="0"/>
                  <a:t>From trend equation: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ℓ</m:t>
                        </m:r>
                      </m:e>
                      <m:sub>
                        <m:r>
                          <a:rPr lang="en-US" i="1" dirty="0">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𝛽</m:t>
                            </m:r>
                          </m:e>
                          <m:sup>
                            <m:r>
                              <a:rPr lang="en-US" i="1">
                                <a:latin typeface="Cambria Math" panose="02040503050406030204" pitchFamily="18" charset="0"/>
                              </a:rPr>
                              <m:t>∗</m:t>
                            </m:r>
                          </m:sup>
                        </m:sSup>
                      </m:e>
                    </m:d>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en-US" i="1">
                        <a:latin typeface="Cambria Math" panose="02040503050406030204" pitchFamily="18" charset="0"/>
                      </a:rPr>
                      <m:t>=0.70</m:t>
                    </m:r>
                  </m:oMath>
                </a14:m>
                <a:endParaRPr lang="en-US" dirty="0"/>
              </a:p>
              <a:p>
                <a:pPr lvl="1"/>
                <a:r>
                  <a:rPr lang="en-US" dirty="0"/>
                  <a:t>Next, we update the seasonal index estimate</a:t>
                </a:r>
              </a:p>
              <a:p>
                <a:pPr lvl="2"/>
                <a:r>
                  <a:rPr lang="en-US" dirty="0"/>
                  <a:t>Note that period 1 corresponds to a Q1, so we update Q1 seasonal index</a:t>
                </a:r>
              </a:p>
              <a:p>
                <a:pPr lvl="2"/>
                <a:r>
                  <a:rPr lang="en-US" dirty="0"/>
                  <a:t>From seasonal component equation: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0</m:t>
                        </m:r>
                      </m:sub>
                    </m:sSub>
                    <m:r>
                      <a:rPr lang="en-US" i="1">
                        <a:latin typeface="Cambria Math" panose="02040503050406030204" pitchFamily="18" charset="0"/>
                      </a:rPr>
                      <m:t>)+(1−</m:t>
                    </m:r>
                    <m:r>
                      <a:rPr lang="en-US" i="1">
                        <a:latin typeface="Cambria Math" panose="02040503050406030204" pitchFamily="18" charset="0"/>
                      </a:rPr>
                      <m:t>𝛾</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−3</m:t>
                        </m:r>
                      </m:sub>
                    </m:sSub>
                    <m:r>
                      <a:rPr lang="en-US" i="1">
                        <a:latin typeface="Cambria Math" panose="02040503050406030204" pitchFamily="18" charset="0"/>
                      </a:rPr>
                      <m:t>=9.50</m:t>
                    </m:r>
                  </m:oMath>
                </a14:m>
                <a:endParaRPr lang="en-US" dirty="0"/>
              </a:p>
              <a:p>
                <a:pPr lvl="1"/>
                <a:r>
                  <a:rPr lang="en-US" dirty="0"/>
                  <a:t>For making forecasts in period 1 for future periods, we will 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r>
                      <a:rPr lang="en-US" i="1">
                        <a:latin typeface="Cambria Math" panose="02040503050406030204" pitchFamily="18" charset="0"/>
                      </a:rPr>
                      <m:t>,</m:t>
                    </m:r>
                  </m:oMath>
                </a14:m>
                <a:r>
                  <a:rPr lang="en-US" dirty="0"/>
                  <a:t> and seasonal index estimates:</a:t>
                </a:r>
              </a:p>
              <a:p>
                <a:pPr lvl="2"/>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oMath>
                </a14:m>
                <a:r>
                  <a:rPr lang="en-US" dirty="0"/>
                  <a:t> for quarter 1,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oMath>
                </a14:m>
                <a:r>
                  <a:rPr lang="en-US" dirty="0"/>
                  <a:t> for quarter 2,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oMath>
                </a14:m>
                <a:r>
                  <a:rPr lang="en-US" dirty="0"/>
                  <a:t> for quarter 3,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oMath>
                </a14:m>
                <a:r>
                  <a:rPr lang="en-US" dirty="0"/>
                  <a:t> for quarter 4</a:t>
                </a:r>
              </a:p>
              <a:p>
                <a:pPr lvl="1"/>
                <a:endParaRPr lang="en-US" b="1" dirty="0">
                  <a:solidFill>
                    <a:schemeClr val="tx1"/>
                  </a:solidFill>
                </a:endParaRP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385587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Example: Updated Forecasts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Updated Forecasts</a:t>
                </a:r>
              </a:p>
              <a:p>
                <a:pPr marL="742950" lvl="1" indent="-285750"/>
                <a:r>
                  <a:rPr lang="en-US" dirty="0">
                    <a:solidFill>
                      <a:schemeClr val="tx1"/>
                    </a:solidFill>
                  </a:rPr>
                  <a:t>Given we’re in period 1, what are the forecasts for periods 2 to 6?</a:t>
                </a:r>
              </a:p>
              <a:p>
                <a:pPr marL="742950" lvl="1" indent="-285750"/>
                <a:r>
                  <a:rPr lang="en-US" dirty="0">
                    <a:solidFill>
                      <a:schemeClr val="tx1"/>
                    </a:solidFill>
                  </a:rPr>
                  <a:t>That is, what are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2|1</m:t>
                        </m:r>
                      </m:sub>
                    </m:sSub>
                  </m:oMath>
                </a14:m>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3|1</m:t>
                        </m:r>
                      </m:sub>
                    </m:sSub>
                  </m:oMath>
                </a14:m>
                <a:r>
                  <a:rPr lang="en-US" dirty="0">
                    <a:solidFill>
                      <a:schemeClr val="tx1"/>
                    </a:solidFill>
                  </a:rPr>
                  <a:t>, …,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6|1</m:t>
                        </m:r>
                      </m:sub>
                    </m:sSub>
                  </m:oMath>
                </a14:m>
                <a:r>
                  <a:rPr lang="en-US" dirty="0">
                    <a:solidFill>
                      <a:schemeClr val="tx1"/>
                    </a:solidFill>
                  </a:rPr>
                  <a:t>?</a:t>
                </a:r>
              </a:p>
              <a:p>
                <a:pPr lvl="2"/>
                <a:endParaRPr lang="en-US" dirty="0">
                  <a:solidFill>
                    <a:schemeClr val="tx1"/>
                  </a:solidFill>
                </a:endParaRPr>
              </a:p>
              <a:p>
                <a:pPr lvl="2"/>
                <a:r>
                  <a:rPr lang="en-US" dirty="0">
                    <a:solidFill>
                      <a:schemeClr val="tx1"/>
                    </a:solidFill>
                  </a:rPr>
                  <a:t>Forecast made in period 1 for period 2</a:t>
                </a:r>
              </a:p>
              <a:p>
                <a:pPr lvl="3"/>
                <a:r>
                  <a:rPr lang="en-US" dirty="0">
                    <a:solidFill>
                      <a:schemeClr val="tx1"/>
                    </a:solidFill>
                  </a:rPr>
                  <a:t>Period 2 corresponds to Q2 of 2005, so we will use the latest seasonal factor for Q2s, which is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−2</m:t>
                        </m:r>
                      </m:sub>
                    </m:sSub>
                  </m:oMath>
                </a14:m>
                <a:r>
                  <a:rPr lang="en-US" dirty="0">
                    <a:solidFill>
                      <a:schemeClr val="tx1"/>
                    </a:solidFill>
                  </a:rPr>
                  <a:t>=-9.31</a:t>
                </a:r>
              </a:p>
              <a:p>
                <a:pPr lvl="3"/>
                <a:r>
                  <a:rPr lang="en-US" dirty="0">
                    <a:solidFill>
                      <a:schemeClr val="tx1"/>
                    </a:solidFill>
                  </a:rPr>
                  <a:t>Noting that h=1, we have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2|1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+1</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−2</m:t>
                        </m:r>
                      </m:sub>
                    </m:sSub>
                    <m:r>
                      <a:rPr lang="en-US" i="1">
                        <a:solidFill>
                          <a:schemeClr val="tx1"/>
                        </a:solidFill>
                        <a:latin typeface="Cambria Math" panose="02040503050406030204" pitchFamily="18" charset="0"/>
                      </a:rPr>
                      <m:t>=32.82+1</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0.70−9.31=24.21</m:t>
                    </m:r>
                  </m:oMath>
                </a14:m>
                <a:endParaRPr lang="en-US" dirty="0">
                  <a:solidFill>
                    <a:schemeClr val="tx1"/>
                  </a:solidFill>
                </a:endParaRPr>
              </a:p>
              <a:p>
                <a:pPr lvl="2"/>
                <a:endParaRPr lang="en-US" dirty="0">
                  <a:solidFill>
                    <a:schemeClr val="tx1"/>
                  </a:solidFill>
                </a:endParaRPr>
              </a:p>
              <a:p>
                <a:pPr lvl="2"/>
                <a:r>
                  <a:rPr lang="en-US" dirty="0">
                    <a:solidFill>
                      <a:schemeClr val="tx1"/>
                    </a:solidFill>
                  </a:rPr>
                  <a:t>Forecast made in period 1 for period 3</a:t>
                </a:r>
              </a:p>
              <a:p>
                <a:pPr lvl="3"/>
                <a:r>
                  <a:rPr lang="en-US" dirty="0">
                    <a:solidFill>
                      <a:schemeClr val="tx1"/>
                    </a:solidFill>
                  </a:rPr>
                  <a:t>Period 3 corresponds to Q3 of 2005, so we will use the latest seasonal factor for Q3s, which is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−1</m:t>
                        </m:r>
                      </m:sub>
                    </m:sSub>
                  </m:oMath>
                </a14:m>
                <a:r>
                  <a:rPr lang="en-US" dirty="0">
                    <a:solidFill>
                      <a:schemeClr val="tx1"/>
                    </a:solidFill>
                  </a:rPr>
                  <a:t>=-1.69</a:t>
                </a:r>
              </a:p>
              <a:p>
                <a:pPr lvl="3"/>
                <a:r>
                  <a:rPr lang="en-US" dirty="0">
                    <a:solidFill>
                      <a:schemeClr val="tx1"/>
                    </a:solidFill>
                  </a:rPr>
                  <a:t>Noting that h=2, we have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3|1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ℓ</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𝑏</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=32.82+2</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0.70−1.69=35.91</m:t>
                    </m:r>
                  </m:oMath>
                </a14:m>
                <a:endParaRPr lang="en-US" dirty="0">
                  <a:solidFill>
                    <a:schemeClr val="tx1"/>
                  </a:solidFill>
                </a:endParaRPr>
              </a:p>
              <a:p>
                <a:pPr lvl="1"/>
                <a:endParaRPr lang="en-US" b="1" dirty="0">
                  <a:solidFill>
                    <a:schemeClr val="tx1"/>
                  </a:solidFill>
                </a:endParaRPr>
              </a:p>
              <a:p>
                <a:pPr lvl="2"/>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3723304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Example: Updated Forecasts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dirty="0">
                    <a:solidFill>
                      <a:srgbClr val="C00000"/>
                    </a:solidFill>
                  </a:rPr>
                  <a:t>Holt-Winters’ Additive Method Example: Updated Forecasts</a:t>
                </a:r>
              </a:p>
              <a:p>
                <a:pPr lvl="2"/>
                <a:r>
                  <a:rPr lang="en-US" dirty="0"/>
                  <a:t>Forecast made in period 1 for period 4</a:t>
                </a:r>
              </a:p>
              <a:p>
                <a:pPr lvl="3"/>
                <a:r>
                  <a:rPr lang="en-US" dirty="0"/>
                  <a:t>Period 4 corresponds to Q4 of 2005, so we will use the latest seasonal factor for Q4s,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oMath>
                </a14:m>
                <a:r>
                  <a:rPr lang="en-US" dirty="0"/>
                  <a:t>=1.31</a:t>
                </a:r>
              </a:p>
              <a:p>
                <a:pPr lvl="3"/>
                <a:r>
                  <a:rPr lang="en-US" dirty="0"/>
                  <a:t>Noting that h=3,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4</m:t>
                        </m:r>
                        <m:r>
                          <a:rPr lang="en-US" i="1">
                            <a:latin typeface="Cambria Math" panose="02040503050406030204" pitchFamily="18" charset="0"/>
                          </a:rPr>
                          <m:t>|</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r>
                      <a:rPr lang="en-US" i="1">
                        <a:latin typeface="Cambria Math" panose="02040503050406030204" pitchFamily="18" charset="0"/>
                      </a:rPr>
                      <m:t>=32.</m:t>
                    </m:r>
                    <m:r>
                      <a:rPr lang="en-US" b="0" i="1" smtClean="0">
                        <a:latin typeface="Cambria Math" panose="02040503050406030204" pitchFamily="18" charset="0"/>
                      </a:rPr>
                      <m:t>82</m:t>
                    </m:r>
                    <m:r>
                      <a:rPr lang="en-US" i="1">
                        <a:latin typeface="Cambria Math" panose="02040503050406030204" pitchFamily="18" charset="0"/>
                      </a:rPr>
                      <m:t>+</m:t>
                    </m:r>
                    <m:r>
                      <a:rPr lang="en-US" b="0" i="1" smtClean="0">
                        <a:latin typeface="Cambria Math" panose="02040503050406030204" pitchFamily="18" charset="0"/>
                      </a:rPr>
                      <m:t>3</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+1</m:t>
                    </m:r>
                    <m:r>
                      <a:rPr lang="en-US" i="1">
                        <a:latin typeface="Cambria Math" panose="02040503050406030204" pitchFamily="18" charset="0"/>
                      </a:rPr>
                      <m:t>.31=</m:t>
                    </m:r>
                    <m:r>
                      <a:rPr lang="en-US" b="0" i="1" smtClean="0">
                        <a:latin typeface="Cambria Math" panose="02040503050406030204" pitchFamily="18" charset="0"/>
                      </a:rPr>
                      <m:t>36.23</m:t>
                    </m:r>
                  </m:oMath>
                </a14:m>
                <a:endParaRPr lang="en-US" dirty="0"/>
              </a:p>
              <a:p>
                <a:pPr lvl="2"/>
                <a:endParaRPr lang="en-US" u="sng" dirty="0"/>
              </a:p>
              <a:p>
                <a:pPr lvl="2"/>
                <a:r>
                  <a:rPr lang="en-US" u="sng" dirty="0"/>
                  <a:t>Forecast made in period 1 for period 5</a:t>
                </a:r>
              </a:p>
              <a:p>
                <a:pPr lvl="3"/>
                <a:r>
                  <a:rPr lang="en-US" dirty="0"/>
                  <a:t>Period 5 corresponds to Q1 of 2006, so we will use the latest seasonal factor for Q1s,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1</m:t>
                        </m:r>
                      </m:sub>
                    </m:sSub>
                  </m:oMath>
                </a14:m>
                <a:r>
                  <a:rPr lang="en-US" dirty="0"/>
                  <a:t>=9.50</a:t>
                </a:r>
              </a:p>
              <a:p>
                <a:pPr lvl="3"/>
                <a:r>
                  <a:rPr lang="en-US" dirty="0"/>
                  <a:t>Noting that h=4,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1</m:t>
                        </m:r>
                      </m:sub>
                    </m:sSub>
                    <m:r>
                      <a:rPr lang="en-US" i="1">
                        <a:latin typeface="Cambria Math" panose="02040503050406030204" pitchFamily="18" charset="0"/>
                      </a:rPr>
                      <m:t>=32.</m:t>
                    </m:r>
                    <m:r>
                      <a:rPr lang="en-US" b="0" i="1" smtClean="0">
                        <a:latin typeface="Cambria Math" panose="02040503050406030204" pitchFamily="18" charset="0"/>
                      </a:rPr>
                      <m:t>82</m:t>
                    </m:r>
                    <m:r>
                      <a:rPr lang="en-US" i="1">
                        <a:latin typeface="Cambria Math" panose="02040503050406030204" pitchFamily="18" charset="0"/>
                      </a:rPr>
                      <m:t>+</m:t>
                    </m:r>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m:t>
                    </m:r>
                    <m:r>
                      <a:rPr lang="en-US" i="1">
                        <a:latin typeface="Cambria Math" panose="02040503050406030204" pitchFamily="18" charset="0"/>
                      </a:rPr>
                      <m:t>9.</m:t>
                    </m:r>
                    <m:r>
                      <a:rPr lang="en-US" b="0" i="1" smtClean="0">
                        <a:latin typeface="Cambria Math" panose="02040503050406030204" pitchFamily="18" charset="0"/>
                      </a:rPr>
                      <m:t>50</m:t>
                    </m:r>
                    <m:r>
                      <a:rPr lang="en-US" i="1">
                        <a:latin typeface="Cambria Math" panose="02040503050406030204" pitchFamily="18" charset="0"/>
                      </a:rPr>
                      <m:t>=</m:t>
                    </m:r>
                    <m:r>
                      <a:rPr lang="en-US" b="0" i="1" smtClean="0">
                        <a:latin typeface="Cambria Math" panose="02040503050406030204" pitchFamily="18" charset="0"/>
                      </a:rPr>
                      <m:t>45.12</m:t>
                    </m:r>
                  </m:oMath>
                </a14:m>
                <a:endParaRPr lang="en-US" dirty="0"/>
              </a:p>
              <a:p>
                <a:pPr lvl="2"/>
                <a:endParaRPr lang="en-US" dirty="0"/>
              </a:p>
              <a:p>
                <a:pPr lvl="2"/>
                <a:r>
                  <a:rPr lang="en-US" dirty="0"/>
                  <a:t>Forecast made in period 1 for period 6</a:t>
                </a:r>
              </a:p>
              <a:p>
                <a:pPr lvl="3"/>
                <a:r>
                  <a:rPr lang="en-US" dirty="0"/>
                  <a:t>Period 6 corresponds to Q2 of 2006, so we will use the latest seasonal factor for Q1s,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m:t>
                        </m:r>
                        <m:r>
                          <a:rPr lang="en-US" b="0" i="1" smtClean="0">
                            <a:latin typeface="Cambria Math" panose="02040503050406030204" pitchFamily="18" charset="0"/>
                          </a:rPr>
                          <m:t>2</m:t>
                        </m:r>
                      </m:sub>
                    </m:sSub>
                  </m:oMath>
                </a14:m>
                <a:r>
                  <a:rPr lang="en-US" dirty="0"/>
                  <a:t>=-9.31</a:t>
                </a:r>
              </a:p>
              <a:p>
                <a:pPr lvl="3"/>
                <a:r>
                  <a:rPr lang="en-US" dirty="0"/>
                  <a:t>Noting that h=5, we have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6</m:t>
                        </m:r>
                        <m:r>
                          <a:rPr lang="en-US" i="1">
                            <a:latin typeface="Cambria Math" panose="02040503050406030204" pitchFamily="18" charset="0"/>
                          </a:rPr>
                          <m:t>|</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ℓ</m:t>
                        </m:r>
                      </m:e>
                      <m:sub>
                        <m:r>
                          <a:rPr lang="en-US" b="0" i="1" smtClean="0">
                            <a:latin typeface="Cambria Math" panose="02040503050406030204" pitchFamily="18" charset="0"/>
                          </a:rPr>
                          <m:t>1</m:t>
                        </m:r>
                      </m:sub>
                    </m:sSub>
                    <m:r>
                      <a:rPr lang="en-US" i="1">
                        <a:latin typeface="Cambria Math" panose="02040503050406030204" pitchFamily="18" charset="0"/>
                      </a:rPr>
                      <m:t>+5</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−2</m:t>
                        </m:r>
                      </m:sub>
                    </m:sSub>
                    <m:r>
                      <a:rPr lang="en-US" i="1">
                        <a:latin typeface="Cambria Math" panose="02040503050406030204" pitchFamily="18" charset="0"/>
                      </a:rPr>
                      <m:t>=32.</m:t>
                    </m:r>
                    <m:r>
                      <a:rPr lang="en-US" b="0" i="1" smtClean="0">
                        <a:latin typeface="Cambria Math" panose="02040503050406030204" pitchFamily="18" charset="0"/>
                      </a:rPr>
                      <m:t>82</m:t>
                    </m:r>
                    <m:r>
                      <a:rPr lang="en-US" i="1">
                        <a:latin typeface="Cambria Math" panose="02040503050406030204" pitchFamily="18" charset="0"/>
                      </a:rPr>
                      <m:t>+5</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0.70</m:t>
                    </m:r>
                    <m:r>
                      <a:rPr lang="en-US" b="0" i="1" smtClean="0">
                        <a:latin typeface="Cambria Math" panose="02040503050406030204" pitchFamily="18" charset="0"/>
                      </a:rPr>
                      <m:t>−</m:t>
                    </m:r>
                    <m:r>
                      <a:rPr lang="en-US" i="1">
                        <a:latin typeface="Cambria Math" panose="02040503050406030204" pitchFamily="18" charset="0"/>
                      </a:rPr>
                      <m:t>9.</m:t>
                    </m:r>
                    <m:r>
                      <a:rPr lang="en-US" b="0" i="1" smtClean="0">
                        <a:latin typeface="Cambria Math" panose="02040503050406030204" pitchFamily="18" charset="0"/>
                      </a:rPr>
                      <m:t>31</m:t>
                    </m:r>
                    <m:r>
                      <a:rPr lang="en-US" i="1">
                        <a:latin typeface="Cambria Math" panose="02040503050406030204" pitchFamily="18" charset="0"/>
                      </a:rPr>
                      <m:t>=</m:t>
                    </m:r>
                    <m:r>
                      <a:rPr lang="en-US" b="0" i="1" smtClean="0">
                        <a:latin typeface="Cambria Math" panose="02040503050406030204" pitchFamily="18" charset="0"/>
                      </a:rPr>
                      <m:t>27.01</m:t>
                    </m:r>
                  </m:oMath>
                </a14:m>
                <a:endParaRPr lang="en-US" sz="2400" dirty="0"/>
              </a:p>
              <a:p>
                <a:pPr lvl="3"/>
                <a:endParaRPr lang="en-US" sz="2400" dirty="0"/>
              </a:p>
              <a:p>
                <a:pPr marL="457200" lvl="1" indent="0">
                  <a:buNone/>
                </a:pPr>
                <a:r>
                  <a:rPr lang="en-US" dirty="0">
                    <a:solidFill>
                      <a:srgbClr val="C00000"/>
                    </a:solidFill>
                  </a:rPr>
                  <a:t>See</a:t>
                </a:r>
                <a:r>
                  <a:rPr lang="en-US" dirty="0"/>
                  <a:t> </a:t>
                </a:r>
                <a:r>
                  <a:rPr lang="en-US" i="1" dirty="0"/>
                  <a:t>Module 1.3 – Example – Forecasting with Holt-Winters.xlsx</a:t>
                </a:r>
                <a:endParaRPr lang="en-US" dirty="0">
                  <a:solidFill>
                    <a:schemeClr val="bg2"/>
                  </a:solidFill>
                </a:endParaRP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b="-3133"/>
                </a:stretch>
              </a:blipFill>
            </p:spPr>
            <p:txBody>
              <a:bodyPr/>
              <a:lstStyle/>
              <a:p>
                <a:r>
                  <a:rPr lang="en-US">
                    <a:noFill/>
                  </a:rPr>
                  <a:t> </a:t>
                </a:r>
              </a:p>
            </p:txBody>
          </p:sp>
        </mc:Fallback>
      </mc:AlternateContent>
    </p:spTree>
    <p:extLst>
      <p:ext uri="{BB962C8B-B14F-4D97-AF65-F5344CB8AC3E}">
        <p14:creationId xmlns:p14="http://schemas.microsoft.com/office/powerpoint/2010/main" val="1923892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Multiplicative Method</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Holt-Winters’ Multiplicative Method: Forecast Equation</a:t>
            </a:r>
          </a:p>
          <a:p>
            <a:endParaRPr lang="en-US" b="1" dirty="0">
              <a:solidFill>
                <a:schemeClr val="tx1"/>
              </a:solidFill>
            </a:endParaRPr>
          </a:p>
          <a:p>
            <a:endParaRPr lang="en-US" b="1" dirty="0">
              <a:solidFill>
                <a:schemeClr val="tx1"/>
              </a:solidFill>
            </a:endParaRPr>
          </a:p>
          <a:p>
            <a:pPr lvl="1"/>
            <a:r>
              <a:rPr lang="en-US" dirty="0"/>
              <a:t>Instead of adding the seasonal component to the </a:t>
            </a:r>
            <a:r>
              <a:rPr lang="en-US" dirty="0" err="1"/>
              <a:t>deseasonalized</a:t>
            </a:r>
            <a:r>
              <a:rPr lang="en-US" dirty="0"/>
              <a:t> forecast, the </a:t>
            </a:r>
            <a:r>
              <a:rPr lang="en-US" dirty="0" err="1"/>
              <a:t>deseasonalized</a:t>
            </a:r>
            <a:r>
              <a:rPr lang="en-US" dirty="0"/>
              <a:t> forecast is multiplied with the seasonal component</a:t>
            </a:r>
          </a:p>
          <a:p>
            <a:r>
              <a:rPr lang="en-US" b="1" u="sng" dirty="0">
                <a:solidFill>
                  <a:srgbClr val="C00000"/>
                </a:solidFill>
              </a:rPr>
              <a:t>Smoothing equations:</a:t>
            </a:r>
          </a:p>
          <a:p>
            <a:pPr lvl="1"/>
            <a:endParaRPr lang="en-US" dirty="0"/>
          </a:p>
          <a:p>
            <a:pPr lvl="1"/>
            <a:endParaRPr lang="en-US" dirty="0"/>
          </a:p>
          <a:p>
            <a:pPr lvl="1"/>
            <a:endParaRPr lang="en-US" dirty="0"/>
          </a:p>
          <a:p>
            <a:pPr lvl="1"/>
            <a:endParaRPr lang="en-US" dirty="0"/>
          </a:p>
          <a:p>
            <a:pPr lvl="1"/>
            <a:r>
              <a:rPr lang="en-US" dirty="0" err="1"/>
              <a:t>Deseasonalization</a:t>
            </a:r>
            <a:r>
              <a:rPr lang="en-US" dirty="0"/>
              <a:t> is via dividing by seasonal component</a:t>
            </a:r>
          </a:p>
          <a:p>
            <a:pPr marL="457200" lvl="1" indent="0">
              <a:buNone/>
            </a:pPr>
            <a:r>
              <a:rPr lang="en-US" dirty="0">
                <a:solidFill>
                  <a:srgbClr val="C00000"/>
                </a:solidFill>
              </a:rPr>
              <a:t>See</a:t>
            </a:r>
            <a:r>
              <a:rPr lang="en-US" dirty="0"/>
              <a:t> </a:t>
            </a:r>
            <a:r>
              <a:rPr lang="en-US" i="1" dirty="0"/>
              <a:t>Module 1.3 – Example – Forecasting with Holt-Winters.xlsx</a:t>
            </a:r>
            <a:endParaRPr lang="en-US" dirty="0"/>
          </a:p>
          <a:p>
            <a:pPr lvl="1"/>
            <a:endParaRPr lang="en-US" dirty="0"/>
          </a:p>
          <a:p>
            <a:pPr lvl="1"/>
            <a:endParaRPr lang="en-US" dirty="0"/>
          </a:p>
          <a:p>
            <a:pPr lvl="1"/>
            <a:endParaRPr lang="en-US" b="1" dirty="0">
              <a:solidFill>
                <a:schemeClr val="tx1"/>
              </a:solidFill>
            </a:endParaRPr>
          </a:p>
        </p:txBody>
      </p:sp>
      <p:pic>
        <p:nvPicPr>
          <p:cNvPr id="15" name="Picture 14">
            <a:extLst>
              <a:ext uri="{FF2B5EF4-FFF2-40B4-BE49-F238E27FC236}">
                <a16:creationId xmlns:a16="http://schemas.microsoft.com/office/drawing/2014/main" id="{5CA3BF4F-4E64-2A82-DACA-13B13C556FAE}"/>
              </a:ext>
            </a:extLst>
          </p:cNvPr>
          <p:cNvPicPr>
            <a:picLocks noChangeAspect="1"/>
          </p:cNvPicPr>
          <p:nvPr/>
        </p:nvPicPr>
        <p:blipFill>
          <a:blip r:embed="rId2"/>
          <a:stretch>
            <a:fillRect/>
          </a:stretch>
        </p:blipFill>
        <p:spPr>
          <a:xfrm>
            <a:off x="3068282" y="1865401"/>
            <a:ext cx="5200693" cy="624889"/>
          </a:xfrm>
          <a:prstGeom prst="rect">
            <a:avLst/>
          </a:prstGeom>
          <a:ln w="28575">
            <a:solidFill>
              <a:srgbClr val="C00000"/>
            </a:solidFill>
          </a:ln>
        </p:spPr>
      </p:pic>
      <p:pic>
        <p:nvPicPr>
          <p:cNvPr id="16" name="Picture 15">
            <a:extLst>
              <a:ext uri="{FF2B5EF4-FFF2-40B4-BE49-F238E27FC236}">
                <a16:creationId xmlns:a16="http://schemas.microsoft.com/office/drawing/2014/main" id="{CAA7F862-7DBE-D750-8CBB-9F9302202C38}"/>
              </a:ext>
            </a:extLst>
          </p:cNvPr>
          <p:cNvPicPr>
            <a:picLocks noChangeAspect="1"/>
          </p:cNvPicPr>
          <p:nvPr/>
        </p:nvPicPr>
        <p:blipFill>
          <a:blip r:embed="rId3"/>
          <a:stretch>
            <a:fillRect/>
          </a:stretch>
        </p:blipFill>
        <p:spPr>
          <a:xfrm>
            <a:off x="4216201" y="3579058"/>
            <a:ext cx="4319657" cy="1771984"/>
          </a:xfrm>
          <a:prstGeom prst="rect">
            <a:avLst/>
          </a:prstGeom>
        </p:spPr>
      </p:pic>
    </p:spTree>
    <p:extLst>
      <p:ext uri="{BB962C8B-B14F-4D97-AF65-F5344CB8AC3E}">
        <p14:creationId xmlns:p14="http://schemas.microsoft.com/office/powerpoint/2010/main" val="33849202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Holt-Winters’ Damped Method</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b="1" u="sng" dirty="0">
                <a:solidFill>
                  <a:srgbClr val="C00000"/>
                </a:solidFill>
              </a:rPr>
              <a:t>Holt-Winters’ Damped Method:</a:t>
            </a:r>
            <a:endParaRPr lang="en-US" b="1" dirty="0">
              <a:solidFill>
                <a:schemeClr val="tx1"/>
              </a:solidFill>
            </a:endParaRPr>
          </a:p>
          <a:p>
            <a:pPr lvl="1"/>
            <a:r>
              <a:rPr lang="en-US" dirty="0"/>
              <a:t>Damping is possible for both additive and multiplicative approaches</a:t>
            </a:r>
          </a:p>
          <a:p>
            <a:r>
              <a:rPr lang="en-US" b="1" u="sng" dirty="0">
                <a:solidFill>
                  <a:srgbClr val="C00000"/>
                </a:solidFill>
              </a:rPr>
              <a:t>Damping for multiplicative Holt-Winters’ method:</a:t>
            </a:r>
          </a:p>
          <a:p>
            <a:pPr lvl="1"/>
            <a:r>
              <a:rPr lang="en-US" dirty="0">
                <a:solidFill>
                  <a:srgbClr val="C00000"/>
                </a:solidFill>
              </a:rPr>
              <a:t>Forecast Equation:</a:t>
            </a:r>
          </a:p>
          <a:p>
            <a:pPr lvl="5"/>
            <a:endParaRPr lang="en-US" dirty="0"/>
          </a:p>
          <a:p>
            <a:pPr lvl="5"/>
            <a:endParaRPr lang="en-US" dirty="0">
              <a:solidFill>
                <a:srgbClr val="C00000"/>
              </a:solidFill>
            </a:endParaRPr>
          </a:p>
          <a:p>
            <a:pPr lvl="1"/>
            <a:r>
              <a:rPr lang="en-US" dirty="0">
                <a:solidFill>
                  <a:srgbClr val="C00000"/>
                </a:solidFill>
              </a:rPr>
              <a:t>Smoothing Equations:</a:t>
            </a:r>
          </a:p>
          <a:p>
            <a:pPr lvl="1"/>
            <a:endParaRPr lang="en-US" dirty="0"/>
          </a:p>
          <a:p>
            <a:pPr lvl="1"/>
            <a:endParaRPr lang="en-US" dirty="0"/>
          </a:p>
          <a:p>
            <a:pPr lvl="1"/>
            <a:endParaRPr lang="en-US" dirty="0"/>
          </a:p>
          <a:p>
            <a:pPr lvl="1"/>
            <a:endParaRPr lang="en-US" b="1" dirty="0">
              <a:solidFill>
                <a:schemeClr val="tx1"/>
              </a:solidFill>
            </a:endParaRPr>
          </a:p>
        </p:txBody>
      </p:sp>
      <p:pic>
        <p:nvPicPr>
          <p:cNvPr id="2" name="Picture 1">
            <a:extLst>
              <a:ext uri="{FF2B5EF4-FFF2-40B4-BE49-F238E27FC236}">
                <a16:creationId xmlns:a16="http://schemas.microsoft.com/office/drawing/2014/main" id="{8D17C7AB-147F-9990-981C-3384DB20604C}"/>
              </a:ext>
            </a:extLst>
          </p:cNvPr>
          <p:cNvPicPr>
            <a:picLocks noChangeAspect="1"/>
          </p:cNvPicPr>
          <p:nvPr/>
        </p:nvPicPr>
        <p:blipFill>
          <a:blip r:embed="rId2"/>
          <a:stretch>
            <a:fillRect/>
          </a:stretch>
        </p:blipFill>
        <p:spPr>
          <a:xfrm>
            <a:off x="3021832" y="3015064"/>
            <a:ext cx="6549537" cy="445655"/>
          </a:xfrm>
          <a:prstGeom prst="rect">
            <a:avLst/>
          </a:prstGeom>
        </p:spPr>
      </p:pic>
      <p:pic>
        <p:nvPicPr>
          <p:cNvPr id="3" name="Picture 2">
            <a:extLst>
              <a:ext uri="{FF2B5EF4-FFF2-40B4-BE49-F238E27FC236}">
                <a16:creationId xmlns:a16="http://schemas.microsoft.com/office/drawing/2014/main" id="{5DBCC018-7277-77F5-3BA9-0842DE0C3CBC}"/>
              </a:ext>
            </a:extLst>
          </p:cNvPr>
          <p:cNvPicPr>
            <a:picLocks noChangeAspect="1"/>
          </p:cNvPicPr>
          <p:nvPr/>
        </p:nvPicPr>
        <p:blipFill>
          <a:blip r:embed="rId3"/>
          <a:stretch>
            <a:fillRect/>
          </a:stretch>
        </p:blipFill>
        <p:spPr>
          <a:xfrm>
            <a:off x="2947455" y="4083556"/>
            <a:ext cx="5343396" cy="1663074"/>
          </a:xfrm>
          <a:prstGeom prst="rect">
            <a:avLst/>
          </a:prstGeom>
        </p:spPr>
      </p:pic>
    </p:spTree>
    <p:extLst>
      <p:ext uri="{BB962C8B-B14F-4D97-AF65-F5344CB8AC3E}">
        <p14:creationId xmlns:p14="http://schemas.microsoft.com/office/powerpoint/2010/main" val="8452278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1" y="1312433"/>
            <a:ext cx="11633799" cy="4864530"/>
          </a:xfrm>
        </p:spPr>
        <p:txBody>
          <a:bodyPr>
            <a:normAutofit lnSpcReduction="10000"/>
          </a:bodyPr>
          <a:lstStyle/>
          <a:p>
            <a:r>
              <a:rPr lang="en-US" dirty="0">
                <a:solidFill>
                  <a:schemeClr val="bg2"/>
                </a:solidFill>
              </a:rPr>
              <a:t>Exponential Smoothing Methods</a:t>
            </a:r>
          </a:p>
          <a:p>
            <a:pPr lvl="1"/>
            <a:r>
              <a:rPr lang="en-US" dirty="0">
                <a:solidFill>
                  <a:schemeClr val="bg2"/>
                </a:solidFill>
              </a:rPr>
              <a:t>Introduction and Notation</a:t>
            </a:r>
          </a:p>
          <a:p>
            <a:r>
              <a:rPr lang="en-US" dirty="0">
                <a:solidFill>
                  <a:schemeClr val="bg2"/>
                </a:solidFill>
              </a:rPr>
              <a:t>Simple Exponential Smoothing</a:t>
            </a:r>
          </a:p>
          <a:p>
            <a:pPr lvl="1"/>
            <a:r>
              <a:rPr lang="en-US" dirty="0">
                <a:solidFill>
                  <a:schemeClr val="bg2"/>
                </a:solidFill>
              </a:rPr>
              <a:t>Forms and Equations, and Example</a:t>
            </a:r>
          </a:p>
          <a:p>
            <a:pPr lvl="1"/>
            <a:r>
              <a:rPr lang="en-US" dirty="0">
                <a:solidFill>
                  <a:schemeClr val="bg2"/>
                </a:solidFill>
              </a:rPr>
              <a:t>Insights and Optimization</a:t>
            </a:r>
          </a:p>
          <a:p>
            <a:r>
              <a:rPr lang="en-US" dirty="0">
                <a:solidFill>
                  <a:schemeClr val="bg2"/>
                </a:solidFill>
              </a:rPr>
              <a:t>Holt’s Linear Trend Method</a:t>
            </a:r>
          </a:p>
          <a:p>
            <a:pPr lvl="1"/>
            <a:r>
              <a:rPr lang="en-US" dirty="0">
                <a:solidFill>
                  <a:schemeClr val="bg2"/>
                </a:solidFill>
              </a:rPr>
              <a:t>Equations and Example</a:t>
            </a:r>
          </a:p>
          <a:p>
            <a:pPr lvl="1"/>
            <a:r>
              <a:rPr lang="en-US" dirty="0">
                <a:solidFill>
                  <a:schemeClr val="bg2"/>
                </a:solidFill>
              </a:rPr>
              <a:t>Insights, Optimization, and Damping</a:t>
            </a:r>
          </a:p>
          <a:p>
            <a:r>
              <a:rPr lang="en-US" dirty="0">
                <a:solidFill>
                  <a:schemeClr val="bg2"/>
                </a:solidFill>
              </a:rPr>
              <a:t>Holt-Winters’ Seasonal Method</a:t>
            </a:r>
          </a:p>
          <a:p>
            <a:pPr lvl="1"/>
            <a:r>
              <a:rPr lang="en-US" dirty="0">
                <a:solidFill>
                  <a:schemeClr val="bg2"/>
                </a:solidFill>
              </a:rPr>
              <a:t>Equations and Example</a:t>
            </a:r>
          </a:p>
          <a:p>
            <a:pPr lvl="1"/>
            <a:r>
              <a:rPr lang="en-US" dirty="0">
                <a:solidFill>
                  <a:schemeClr val="bg2"/>
                </a:solidFill>
              </a:rPr>
              <a:t>Multiplicative and Damped method</a:t>
            </a:r>
          </a:p>
          <a:p>
            <a:r>
              <a:rPr lang="en-US" dirty="0"/>
              <a:t>Taxonomy of ETS Methods</a:t>
            </a:r>
          </a:p>
        </p:txBody>
      </p:sp>
    </p:spTree>
    <p:extLst>
      <p:ext uri="{BB962C8B-B14F-4D97-AF65-F5344CB8AC3E}">
        <p14:creationId xmlns:p14="http://schemas.microsoft.com/office/powerpoint/2010/main" val="11678829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Taxonomy of ETS Methods</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All ETS methods consider level component</a:t>
            </a:r>
          </a:p>
          <a:p>
            <a:r>
              <a:rPr lang="en-US" dirty="0"/>
              <a:t>Some ETS methods consider trend or trend and seasonality</a:t>
            </a:r>
          </a:p>
          <a:p>
            <a:r>
              <a:rPr lang="en-US" dirty="0"/>
              <a:t>Trend component can be damped</a:t>
            </a:r>
          </a:p>
          <a:p>
            <a:r>
              <a:rPr lang="en-US" dirty="0"/>
              <a:t>Seasonality component can be included using an additive or multiplicative approach</a:t>
            </a:r>
          </a:p>
          <a:p>
            <a:pPr lvl="1"/>
            <a:r>
              <a:rPr lang="en-US" dirty="0"/>
              <a:t>Multiplicative trend modeling is possible, however, typically produces poor forecasts</a:t>
            </a:r>
          </a:p>
          <a:p>
            <a:r>
              <a:rPr lang="en-US" dirty="0"/>
              <a:t>As a result, we have 9 combinations of ETS method</a:t>
            </a:r>
          </a:p>
        </p:txBody>
      </p:sp>
    </p:spTree>
    <p:extLst>
      <p:ext uri="{BB962C8B-B14F-4D97-AF65-F5344CB8AC3E}">
        <p14:creationId xmlns:p14="http://schemas.microsoft.com/office/powerpoint/2010/main" val="2676342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Taxonomy of ETS Methods</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solidFill>
                      <a:schemeClr val="tx1"/>
                    </a:solidFill>
                  </a:rPr>
                  <a:t>9 combinations of ETS method:</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pPr lvl="1"/>
                <a14:m>
                  <m:oMath xmlns:m="http://schemas.openxmlformats.org/officeDocument/2006/math">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𝐴</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𝑀</m:t>
                    </m:r>
                    <m:r>
                      <a:rPr lang="en-US" i="1" dirty="0" smtClean="0">
                        <a:solidFill>
                          <a:schemeClr val="tx1"/>
                        </a:solidFill>
                        <a:latin typeface="Cambria Math" panose="02040503050406030204" pitchFamily="18" charset="0"/>
                      </a:rPr>
                      <m:t>) </m:t>
                    </m:r>
                  </m:oMath>
                </a14:m>
                <a:r>
                  <a:rPr lang="en-US" dirty="0">
                    <a:solidFill>
                      <a:schemeClr val="tx1"/>
                    </a:solidFill>
                  </a:rPr>
                  <a:t>is the method with an additive trend and multiplicative seasonality</a:t>
                </a:r>
              </a:p>
              <a:p>
                <a:pPr lvl="1"/>
                <a14:m>
                  <m:oMath xmlns:m="http://schemas.openxmlformats.org/officeDocument/2006/math">
                    <m:r>
                      <a:rPr lang="en-US" i="1" dirty="0" smtClean="0">
                        <a:solidFill>
                          <a:schemeClr val="tx1"/>
                        </a:solidFill>
                        <a:latin typeface="Cambria Math" panose="02040503050406030204" pitchFamily="18" charset="0"/>
                      </a:rPr>
                      <m:t>(</m:t>
                    </m:r>
                    <m:sSub>
                      <m:sSubPr>
                        <m:ctrlPr>
                          <a:rPr lang="en-US" b="0" i="1" dirty="0" smtClean="0">
                            <a:solidFill>
                              <a:schemeClr val="tx1"/>
                            </a:solidFill>
                            <a:latin typeface="Cambria Math" panose="02040503050406030204" pitchFamily="18" charset="0"/>
                          </a:rPr>
                        </m:ctrlPr>
                      </m:sSubPr>
                      <m:e>
                        <m:r>
                          <a:rPr lang="en-US" i="1" dirty="0" err="1" smtClean="0">
                            <a:solidFill>
                              <a:schemeClr val="tx1"/>
                            </a:solidFill>
                            <a:latin typeface="Cambria Math" panose="02040503050406030204" pitchFamily="18" charset="0"/>
                          </a:rPr>
                          <m:t>𝐴</m:t>
                        </m:r>
                      </m:e>
                      <m:sub>
                        <m:r>
                          <a:rPr lang="en-US" i="1" dirty="0" err="1" smtClean="0">
                            <a:solidFill>
                              <a:schemeClr val="tx1"/>
                            </a:solidFill>
                            <a:latin typeface="Cambria Math" panose="02040503050406030204" pitchFamily="18" charset="0"/>
                          </a:rPr>
                          <m:t>𝑑</m:t>
                        </m:r>
                      </m:sub>
                    </m:sSub>
                    <m:r>
                      <a:rPr lang="en-US" i="1" dirty="0" err="1" smtClean="0">
                        <a:solidFill>
                          <a:schemeClr val="tx1"/>
                        </a:solidFill>
                        <a:latin typeface="Cambria Math" panose="02040503050406030204" pitchFamily="18" charset="0"/>
                      </a:rPr>
                      <m:t>,</m:t>
                    </m:r>
                    <m:r>
                      <a:rPr lang="en-US" i="1" dirty="0" err="1" smtClean="0">
                        <a:solidFill>
                          <a:schemeClr val="tx1"/>
                        </a:solidFill>
                        <a:latin typeface="Cambria Math" panose="02040503050406030204" pitchFamily="18" charset="0"/>
                      </a:rPr>
                      <m:t>𝑁</m:t>
                    </m:r>
                    <m:r>
                      <a:rPr lang="en-US" i="1" dirty="0" smtClean="0">
                        <a:solidFill>
                          <a:schemeClr val="tx1"/>
                        </a:solidFill>
                        <a:latin typeface="Cambria Math" panose="02040503050406030204" pitchFamily="18" charset="0"/>
                      </a:rPr>
                      <m:t>) </m:t>
                    </m:r>
                  </m:oMath>
                </a14:m>
                <a:r>
                  <a:rPr lang="en-US" dirty="0">
                    <a:solidFill>
                      <a:schemeClr val="tx1"/>
                    </a:solidFill>
                  </a:rPr>
                  <a:t>is the method with additive damped trend and no seasonality</a:t>
                </a:r>
              </a:p>
              <a:p>
                <a:pPr lvl="1"/>
                <a:r>
                  <a:rPr lang="en-US" dirty="0">
                    <a:solidFill>
                      <a:schemeClr val="tx1"/>
                    </a:solidFill>
                  </a:rPr>
                  <a:t>And so on…</a:t>
                </a:r>
              </a:p>
            </p:txBody>
          </p:sp>
        </mc:Choice>
        <mc:Fallback xmlns="">
          <p:sp>
            <p:nvSpPr>
              <p:cNvPr id="10" name="Content Placeholder 9">
                <a:extLst>
                  <a:ext uri="{FF2B5EF4-FFF2-40B4-BE49-F238E27FC236}">
                    <a16:creationId xmlns:a16="http://schemas.microsoft.com/office/drawing/2014/main" id="{4BE70BD8-BBD2-CF25-B920-DDB4C9933DD7}"/>
                  </a:ext>
                </a:extLst>
              </p:cNvPr>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2A4FD10-5DC5-9038-50F4-D7E5F707F097}"/>
              </a:ext>
            </a:extLst>
          </p:cNvPr>
          <p:cNvPicPr>
            <a:picLocks noChangeAspect="1"/>
          </p:cNvPicPr>
          <p:nvPr/>
        </p:nvPicPr>
        <p:blipFill>
          <a:blip r:embed="rId3"/>
          <a:stretch>
            <a:fillRect/>
          </a:stretch>
        </p:blipFill>
        <p:spPr>
          <a:xfrm>
            <a:off x="1828800" y="1764888"/>
            <a:ext cx="7923342" cy="1907051"/>
          </a:xfrm>
          <a:prstGeom prst="rect">
            <a:avLst/>
          </a:prstGeom>
        </p:spPr>
      </p:pic>
    </p:spTree>
    <p:extLst>
      <p:ext uri="{BB962C8B-B14F-4D97-AF65-F5344CB8AC3E}">
        <p14:creationId xmlns:p14="http://schemas.microsoft.com/office/powerpoint/2010/main" val="9112402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Taxonomy of ETS Methods</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Some of these methods have their individual names:</a:t>
            </a:r>
          </a:p>
          <a:p>
            <a:endParaRPr lang="en-US" dirty="0"/>
          </a:p>
          <a:p>
            <a:endParaRPr lang="en-US" dirty="0">
              <a:solidFill>
                <a:schemeClr val="bg2"/>
              </a:solidFill>
            </a:endParaRPr>
          </a:p>
          <a:p>
            <a:endParaRPr lang="en-US" dirty="0">
              <a:solidFill>
                <a:schemeClr val="bg2"/>
              </a:solidFill>
            </a:endParaRPr>
          </a:p>
          <a:p>
            <a:endParaRPr lang="en-US" dirty="0">
              <a:solidFill>
                <a:schemeClr val="bg2"/>
              </a:solidFill>
            </a:endParaRPr>
          </a:p>
        </p:txBody>
      </p:sp>
      <p:pic>
        <p:nvPicPr>
          <p:cNvPr id="4" name="Picture 3">
            <a:extLst>
              <a:ext uri="{FF2B5EF4-FFF2-40B4-BE49-F238E27FC236}">
                <a16:creationId xmlns:a16="http://schemas.microsoft.com/office/drawing/2014/main" id="{B67F9F43-3775-0E65-A9D9-067780CB0F87}"/>
              </a:ext>
            </a:extLst>
          </p:cNvPr>
          <p:cNvPicPr>
            <a:picLocks noChangeAspect="1"/>
          </p:cNvPicPr>
          <p:nvPr/>
        </p:nvPicPr>
        <p:blipFill>
          <a:blip r:embed="rId2"/>
          <a:stretch>
            <a:fillRect/>
          </a:stretch>
        </p:blipFill>
        <p:spPr>
          <a:xfrm>
            <a:off x="1339584" y="2043910"/>
            <a:ext cx="5979991" cy="2261703"/>
          </a:xfrm>
          <a:prstGeom prst="rect">
            <a:avLst/>
          </a:prstGeom>
        </p:spPr>
      </p:pic>
    </p:spTree>
    <p:extLst>
      <p:ext uri="{BB962C8B-B14F-4D97-AF65-F5344CB8AC3E}">
        <p14:creationId xmlns:p14="http://schemas.microsoft.com/office/powerpoint/2010/main" val="36517293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77DF5C-B312-64F1-BB68-D5BDA85D394C}"/>
              </a:ext>
            </a:extLst>
          </p:cNvPr>
          <p:cNvSpPr>
            <a:spLocks noGrp="1"/>
          </p:cNvSpPr>
          <p:nvPr>
            <p:ph type="title"/>
          </p:nvPr>
        </p:nvSpPr>
        <p:spPr/>
        <p:txBody>
          <a:bodyPr/>
          <a:lstStyle/>
          <a:p>
            <a:r>
              <a:rPr lang="en-US" dirty="0"/>
              <a:t>Taxonomy of ETS Methods</a:t>
            </a:r>
          </a:p>
        </p:txBody>
      </p:sp>
      <p:sp>
        <p:nvSpPr>
          <p:cNvPr id="10" name="Content Placeholder 9">
            <a:extLst>
              <a:ext uri="{FF2B5EF4-FFF2-40B4-BE49-F238E27FC236}">
                <a16:creationId xmlns:a16="http://schemas.microsoft.com/office/drawing/2014/main" id="{4BE70BD8-BBD2-CF25-B920-DDB4C9933DD7}"/>
              </a:ext>
            </a:extLst>
          </p:cNvPr>
          <p:cNvSpPr>
            <a:spLocks noGrp="1"/>
          </p:cNvSpPr>
          <p:nvPr>
            <p:ph idx="1"/>
          </p:nvPr>
        </p:nvSpPr>
        <p:spPr/>
        <p:txBody>
          <a:bodyPr/>
          <a:lstStyle/>
          <a:p>
            <a:r>
              <a:rPr lang="en-US" dirty="0"/>
              <a:t>For reference:</a:t>
            </a:r>
          </a:p>
          <a:p>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a:p>
            <a:pPr marL="2286000" lvl="5" indent="0">
              <a:buNone/>
            </a:pPr>
            <a:endParaRPr lang="en-US" dirty="0">
              <a:solidFill>
                <a:schemeClr val="bg2"/>
              </a:solidFill>
            </a:endParaRPr>
          </a:p>
          <a:p>
            <a:pPr marL="2286000" lvl="5" indent="0">
              <a:buNone/>
            </a:pPr>
            <a:endParaRPr lang="en-US" dirty="0">
              <a:solidFill>
                <a:schemeClr val="bg2"/>
              </a:solidFill>
            </a:endParaRPr>
          </a:p>
          <a:p>
            <a:pPr marL="2286000" lvl="5" indent="0">
              <a:buNone/>
            </a:pPr>
            <a:endParaRPr lang="en-US" dirty="0">
              <a:solidFill>
                <a:schemeClr val="bg2"/>
              </a:solidFill>
            </a:endParaRPr>
          </a:p>
          <a:p>
            <a:endParaRPr lang="en-US" dirty="0">
              <a:solidFill>
                <a:schemeClr val="bg2"/>
              </a:solidFill>
            </a:endParaRPr>
          </a:p>
        </p:txBody>
      </p:sp>
      <p:pic>
        <p:nvPicPr>
          <p:cNvPr id="3" name="Picture 2">
            <a:extLst>
              <a:ext uri="{FF2B5EF4-FFF2-40B4-BE49-F238E27FC236}">
                <a16:creationId xmlns:a16="http://schemas.microsoft.com/office/drawing/2014/main" id="{B3D3409D-21C7-27C4-4A92-8FD93292E66A}"/>
              </a:ext>
            </a:extLst>
          </p:cNvPr>
          <p:cNvPicPr>
            <a:picLocks noChangeAspect="1"/>
          </p:cNvPicPr>
          <p:nvPr/>
        </p:nvPicPr>
        <p:blipFill>
          <a:blip r:embed="rId2"/>
          <a:stretch>
            <a:fillRect/>
          </a:stretch>
        </p:blipFill>
        <p:spPr>
          <a:xfrm>
            <a:off x="1207533" y="1847337"/>
            <a:ext cx="7869382" cy="3345388"/>
          </a:xfrm>
          <a:prstGeom prst="rect">
            <a:avLst/>
          </a:prstGeom>
        </p:spPr>
      </p:pic>
      <p:pic>
        <p:nvPicPr>
          <p:cNvPr id="6" name="Picture 5">
            <a:extLst>
              <a:ext uri="{FF2B5EF4-FFF2-40B4-BE49-F238E27FC236}">
                <a16:creationId xmlns:a16="http://schemas.microsoft.com/office/drawing/2014/main" id="{D5C697FB-DB6E-F3E8-8319-C190FE924D53}"/>
              </a:ext>
            </a:extLst>
          </p:cNvPr>
          <p:cNvPicPr>
            <a:picLocks noChangeAspect="1"/>
          </p:cNvPicPr>
          <p:nvPr/>
        </p:nvPicPr>
        <p:blipFill>
          <a:blip r:embed="rId3"/>
          <a:stretch>
            <a:fillRect/>
          </a:stretch>
        </p:blipFill>
        <p:spPr>
          <a:xfrm>
            <a:off x="1892513" y="5390620"/>
            <a:ext cx="1415078" cy="196149"/>
          </a:xfrm>
          <a:prstGeom prst="rect">
            <a:avLst/>
          </a:prstGeom>
        </p:spPr>
      </p:pic>
    </p:spTree>
    <p:extLst>
      <p:ext uri="{BB962C8B-B14F-4D97-AF65-F5344CB8AC3E}">
        <p14:creationId xmlns:p14="http://schemas.microsoft.com/office/powerpoint/2010/main" val="142249163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6563</TotalTime>
  <Words>5268</Words>
  <Application>Microsoft Office PowerPoint</Application>
  <PresentationFormat>Widescreen</PresentationFormat>
  <Paragraphs>811</Paragraphs>
  <Slides>60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Calibri</vt:lpstr>
      <vt:lpstr>Calibri Light</vt:lpstr>
      <vt:lpstr>Cambria Math</vt:lpstr>
      <vt:lpstr>Symbol</vt:lpstr>
      <vt:lpstr>Wingdings</vt:lpstr>
      <vt:lpstr>1_Office Theme</vt:lpstr>
      <vt:lpstr>QMST 5335 Exponential Smoothing Methods </vt:lpstr>
      <vt:lpstr>Learning Objectives:</vt:lpstr>
      <vt:lpstr>Outline</vt:lpstr>
      <vt:lpstr>Outline</vt:lpstr>
      <vt:lpstr>Exponential Smoothing Methods</vt:lpstr>
      <vt:lpstr>Exponential Smoothing Methods</vt:lpstr>
      <vt:lpstr>Notation for ETS Methods</vt:lpstr>
      <vt:lpstr>Notation for ETS Methods</vt:lpstr>
      <vt:lpstr>Outline</vt:lpstr>
      <vt:lpstr>Simple Exponential Smoothing Method</vt:lpstr>
      <vt:lpstr>Simple Exponential Smoothing Method</vt:lpstr>
      <vt:lpstr>Simple Exponential Smoothing Method</vt:lpstr>
      <vt:lpstr>Simple Exponential Smoothing Forms </vt:lpstr>
      <vt:lpstr>Simple Exponential Smoothing Forms </vt:lpstr>
      <vt:lpstr>Simple Exponential Smoothing Forms </vt:lpstr>
      <vt:lpstr>SES Example</vt:lpstr>
      <vt:lpstr>SES Example</vt:lpstr>
      <vt:lpstr>SES Example: Initialization</vt:lpstr>
      <vt:lpstr>SES Example: Training</vt:lpstr>
      <vt:lpstr>SES Example: Forecasting</vt:lpstr>
      <vt:lpstr>SES Example: Updated Forecasts</vt:lpstr>
      <vt:lpstr>Insights and Optimization</vt:lpstr>
      <vt:lpstr>Insights and Optimization</vt:lpstr>
      <vt:lpstr>Insights and Optimization</vt:lpstr>
      <vt:lpstr>Exponential Smoothing Method</vt:lpstr>
      <vt:lpstr>Outline</vt:lpstr>
      <vt:lpstr>Holt’s Linear Trend Method</vt:lpstr>
      <vt:lpstr>Holt’s Linear Trend Method</vt:lpstr>
      <vt:lpstr>Holt’s Linear Trend Method</vt:lpstr>
      <vt:lpstr>Holt’s Linear Trend Method</vt:lpstr>
      <vt:lpstr>Holt’s Method Example</vt:lpstr>
      <vt:lpstr>Holt’s Method Example</vt:lpstr>
      <vt:lpstr>Holt’s Example: Initialization</vt:lpstr>
      <vt:lpstr>Holt’s Example: Training</vt:lpstr>
      <vt:lpstr>Holt’s Example: Forecasting</vt:lpstr>
      <vt:lpstr>Holt’s Example: Updated Forecasts</vt:lpstr>
      <vt:lpstr>Damped Trend Method</vt:lpstr>
      <vt:lpstr>Damped Trend Method</vt:lpstr>
      <vt:lpstr>Insights and Optimization</vt:lpstr>
      <vt:lpstr>Insights and Optimization</vt:lpstr>
      <vt:lpstr>Outline</vt:lpstr>
      <vt:lpstr>Holt-Winters’ Seasonal Method</vt:lpstr>
      <vt:lpstr>Holt-Winters’ Seasonal Method</vt:lpstr>
      <vt:lpstr>Holt-Winters’ Additive Method</vt:lpstr>
      <vt:lpstr>Holt-Winters’ Additive Method</vt:lpstr>
      <vt:lpstr>Holt-Winters’ Additive Method</vt:lpstr>
      <vt:lpstr>Holt-Winters’ Additive Method Example</vt:lpstr>
      <vt:lpstr>Holt-Winters’ Additive Method Example</vt:lpstr>
      <vt:lpstr>Holt-Winters’ Example: Forecasting</vt:lpstr>
      <vt:lpstr>Holt-Winters’ Example: Forecasting</vt:lpstr>
      <vt:lpstr>Holt-Winters’ Example: Updated Forecasts</vt:lpstr>
      <vt:lpstr>Holt-Winters’ Example: Updated Forecasts</vt:lpstr>
      <vt:lpstr>Holt-Winters’ Example: Updated Forecasts</vt:lpstr>
      <vt:lpstr>Holt-Winters’ Multiplicative Method</vt:lpstr>
      <vt:lpstr>Holt-Winters’ Damped Method</vt:lpstr>
      <vt:lpstr>Outline</vt:lpstr>
      <vt:lpstr>Taxonomy of ETS Methods</vt:lpstr>
      <vt:lpstr>Taxonomy of ETS Methods</vt:lpstr>
      <vt:lpstr>Taxonomy of ETS Methods</vt:lpstr>
      <vt:lpstr>Taxonomy of ETS Methods</vt:lpstr>
    </vt:vector>
  </TitlesOfParts>
  <Company>Missouri S&amp;T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konurdlocal</dc:creator>
  <cp:lastModifiedBy>Sahan Konur, Sahika</cp:lastModifiedBy>
  <cp:revision>66</cp:revision>
  <dcterms:created xsi:type="dcterms:W3CDTF">2019-01-16T01:46:19Z</dcterms:created>
  <dcterms:modified xsi:type="dcterms:W3CDTF">2024-01-26T16:30:02Z</dcterms:modified>
</cp:coreProperties>
</file>