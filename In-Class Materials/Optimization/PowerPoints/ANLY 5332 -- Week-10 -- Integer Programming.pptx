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89"/>
  </p:notesMasterIdLst>
  <p:sldIdLst>
    <p:sldId id="666" r:id="rId3"/>
    <p:sldId id="672" r:id="rId4"/>
    <p:sldId id="678" r:id="rId5"/>
    <p:sldId id="584" r:id="rId6"/>
    <p:sldId id="719" r:id="rId7"/>
    <p:sldId id="591" r:id="rId8"/>
    <p:sldId id="598" r:id="rId9"/>
    <p:sldId id="592" r:id="rId10"/>
    <p:sldId id="593" r:id="rId11"/>
    <p:sldId id="595" r:id="rId12"/>
    <p:sldId id="594" r:id="rId13"/>
    <p:sldId id="597" r:id="rId14"/>
    <p:sldId id="679" r:id="rId15"/>
    <p:sldId id="677" r:id="rId16"/>
    <p:sldId id="585" r:id="rId17"/>
    <p:sldId id="599" r:id="rId18"/>
    <p:sldId id="600" r:id="rId19"/>
    <p:sldId id="680" r:id="rId20"/>
    <p:sldId id="604" r:id="rId21"/>
    <p:sldId id="601" r:id="rId22"/>
    <p:sldId id="602" r:id="rId23"/>
    <p:sldId id="603" r:id="rId24"/>
    <p:sldId id="676" r:id="rId25"/>
    <p:sldId id="586" r:id="rId26"/>
    <p:sldId id="682" r:id="rId27"/>
    <p:sldId id="681" r:id="rId28"/>
    <p:sldId id="716" r:id="rId29"/>
    <p:sldId id="715" r:id="rId30"/>
    <p:sldId id="683" r:id="rId31"/>
    <p:sldId id="684" r:id="rId32"/>
    <p:sldId id="717" r:id="rId33"/>
    <p:sldId id="718" r:id="rId34"/>
    <p:sldId id="675" r:id="rId35"/>
    <p:sldId id="652" r:id="rId36"/>
    <p:sldId id="653" r:id="rId37"/>
    <p:sldId id="589" r:id="rId38"/>
    <p:sldId id="654" r:id="rId39"/>
    <p:sldId id="655" r:id="rId40"/>
    <p:sldId id="656" r:id="rId41"/>
    <p:sldId id="657" r:id="rId42"/>
    <p:sldId id="658" r:id="rId43"/>
    <p:sldId id="445" r:id="rId44"/>
    <p:sldId id="446" r:id="rId45"/>
    <p:sldId id="447" r:id="rId46"/>
    <p:sldId id="661" r:id="rId47"/>
    <p:sldId id="660" r:id="rId48"/>
    <p:sldId id="451" r:id="rId49"/>
    <p:sldId id="449" r:id="rId50"/>
    <p:sldId id="665" r:id="rId51"/>
    <p:sldId id="674" r:id="rId52"/>
    <p:sldId id="720" r:id="rId53"/>
    <p:sldId id="605" r:id="rId54"/>
    <p:sldId id="606" r:id="rId55"/>
    <p:sldId id="607" r:id="rId56"/>
    <p:sldId id="608" r:id="rId57"/>
    <p:sldId id="609" r:id="rId58"/>
    <p:sldId id="610" r:id="rId59"/>
    <p:sldId id="587" r:id="rId60"/>
    <p:sldId id="615" r:id="rId61"/>
    <p:sldId id="616" r:id="rId62"/>
    <p:sldId id="617" r:id="rId63"/>
    <p:sldId id="618" r:id="rId64"/>
    <p:sldId id="619" r:id="rId65"/>
    <p:sldId id="620" r:id="rId66"/>
    <p:sldId id="621" r:id="rId67"/>
    <p:sldId id="622" r:id="rId68"/>
    <p:sldId id="623" r:id="rId69"/>
    <p:sldId id="624" r:id="rId70"/>
    <p:sldId id="626" r:id="rId71"/>
    <p:sldId id="627" r:id="rId72"/>
    <p:sldId id="625" r:id="rId73"/>
    <p:sldId id="628" r:id="rId74"/>
    <p:sldId id="629" r:id="rId75"/>
    <p:sldId id="630" r:id="rId76"/>
    <p:sldId id="631" r:id="rId77"/>
    <p:sldId id="632" r:id="rId78"/>
    <p:sldId id="673" r:id="rId79"/>
    <p:sldId id="588" r:id="rId80"/>
    <p:sldId id="633" r:id="rId81"/>
    <p:sldId id="634" r:id="rId82"/>
    <p:sldId id="635" r:id="rId83"/>
    <p:sldId id="636" r:id="rId84"/>
    <p:sldId id="637" r:id="rId85"/>
    <p:sldId id="612" r:id="rId86"/>
    <p:sldId id="613" r:id="rId87"/>
    <p:sldId id="614"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7F8"/>
    <a:srgbClr val="EBBBBB"/>
    <a:srgbClr val="D77D6B"/>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3D9BA2-2C72-4E6E-800D-1E542C3A95BD}" v="5" dt="2023-10-23T17:08:41.6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232" autoAdjust="0"/>
    <p:restoredTop sz="96236" autoAdjust="0"/>
  </p:normalViewPr>
  <p:slideViewPr>
    <p:cSldViewPr snapToGrid="0">
      <p:cViewPr varScale="1">
        <p:scale>
          <a:sx n="151" d="100"/>
          <a:sy n="151" d="100"/>
        </p:scale>
        <p:origin x="5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notesMaster" Target="notesMasters/notesMaster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presProps" Target="presProps.xml"/><Relationship Id="rId95" Type="http://schemas.microsoft.com/office/2015/10/relationships/revisionInfo" Target="revisionInfo.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cer Konur" userId="0cb337efb386619d" providerId="LiveId" clId="{35875678-003C-473D-947E-C3A79DD32E97}"/>
    <pc:docChg chg="custSel delSld modSld">
      <pc:chgData name="Dincer Konur" userId="0cb337efb386619d" providerId="LiveId" clId="{35875678-003C-473D-947E-C3A79DD32E97}" dt="2019-07-31T19:06:11.215" v="66" actId="20577"/>
      <pc:docMkLst>
        <pc:docMk/>
      </pc:docMkLst>
      <pc:sldChg chg="modAnim">
        <pc:chgData name="Dincer Konur" userId="0cb337efb386619d" providerId="LiveId" clId="{35875678-003C-473D-947E-C3A79DD32E97}" dt="2019-07-25T00:25:11.260" v="51"/>
        <pc:sldMkLst>
          <pc:docMk/>
          <pc:sldMk cId="285363759" sldId="445"/>
        </pc:sldMkLst>
      </pc:sldChg>
      <pc:sldChg chg="modAnim">
        <pc:chgData name="Dincer Konur" userId="0cb337efb386619d" providerId="LiveId" clId="{35875678-003C-473D-947E-C3A79DD32E97}" dt="2019-07-25T00:25:33.635" v="53"/>
        <pc:sldMkLst>
          <pc:docMk/>
          <pc:sldMk cId="2256346817" sldId="449"/>
        </pc:sldMkLst>
      </pc:sldChg>
      <pc:sldChg chg="delSp modAnim">
        <pc:chgData name="Dincer Konur" userId="0cb337efb386619d" providerId="LiveId" clId="{35875678-003C-473D-947E-C3A79DD32E97}" dt="2019-07-25T00:20:21.074" v="9"/>
        <pc:sldMkLst>
          <pc:docMk/>
          <pc:sldMk cId="1046560924" sldId="462"/>
        </pc:sldMkLst>
        <pc:spChg chg="del">
          <ac:chgData name="Dincer Konur" userId="0cb337efb386619d" providerId="LiveId" clId="{35875678-003C-473D-947E-C3A79DD32E97}" dt="2019-07-25T00:20:07.812" v="6" actId="478"/>
          <ac:spMkLst>
            <pc:docMk/>
            <pc:sldMk cId="1046560924" sldId="462"/>
            <ac:spMk id="4" creationId="{21633B4B-DEE7-40E4-B649-E6DBA72E4C6C}"/>
          </ac:spMkLst>
        </pc:spChg>
      </pc:sldChg>
      <pc:sldChg chg="modSp modAnim">
        <pc:chgData name="Dincer Konur" userId="0cb337efb386619d" providerId="LiveId" clId="{35875678-003C-473D-947E-C3A79DD32E97}" dt="2019-07-31T19:06:11.215" v="66" actId="20577"/>
        <pc:sldMkLst>
          <pc:docMk/>
          <pc:sldMk cId="3726019433" sldId="643"/>
        </pc:sldMkLst>
        <pc:spChg chg="mod">
          <ac:chgData name="Dincer Konur" userId="0cb337efb386619d" providerId="LiveId" clId="{35875678-003C-473D-947E-C3A79DD32E97}" dt="2019-07-31T19:06:11.215" v="66" actId="20577"/>
          <ac:spMkLst>
            <pc:docMk/>
            <pc:sldMk cId="3726019433" sldId="643"/>
            <ac:spMk id="3" creationId="{00000000-0000-0000-0000-000000000000}"/>
          </ac:spMkLst>
        </pc:spChg>
      </pc:sldChg>
      <pc:sldChg chg="modAnim">
        <pc:chgData name="Dincer Konur" userId="0cb337efb386619d" providerId="LiveId" clId="{35875678-003C-473D-947E-C3A79DD32E97}" dt="2019-07-25T00:21:06.129" v="15"/>
        <pc:sldMkLst>
          <pc:docMk/>
          <pc:sldMk cId="3254464363" sldId="650"/>
        </pc:sldMkLst>
      </pc:sldChg>
      <pc:sldChg chg="modAnim">
        <pc:chgData name="Dincer Konur" userId="0cb337efb386619d" providerId="LiveId" clId="{35875678-003C-473D-947E-C3A79DD32E97}" dt="2019-07-25T00:21:46.479" v="23"/>
        <pc:sldMkLst>
          <pc:docMk/>
          <pc:sldMk cId="821694559" sldId="651"/>
        </pc:sldMkLst>
      </pc:sldChg>
      <pc:sldChg chg="modAnim">
        <pc:chgData name="Dincer Konur" userId="0cb337efb386619d" providerId="LiveId" clId="{35875678-003C-473D-947E-C3A79DD32E97}" dt="2019-07-25T00:22:20.848" v="28"/>
        <pc:sldMkLst>
          <pc:docMk/>
          <pc:sldMk cId="2967246042" sldId="652"/>
        </pc:sldMkLst>
      </pc:sldChg>
      <pc:sldChg chg="modAnim">
        <pc:chgData name="Dincer Konur" userId="0cb337efb386619d" providerId="LiveId" clId="{35875678-003C-473D-947E-C3A79DD32E97}" dt="2019-07-25T00:22:44.912" v="33"/>
        <pc:sldMkLst>
          <pc:docMk/>
          <pc:sldMk cId="716185342" sldId="653"/>
        </pc:sldMkLst>
      </pc:sldChg>
      <pc:sldChg chg="modSp modAnim">
        <pc:chgData name="Dincer Konur" userId="0cb337efb386619d" providerId="LiveId" clId="{35875678-003C-473D-947E-C3A79DD32E97}" dt="2019-07-25T00:24:05.013" v="43"/>
        <pc:sldMkLst>
          <pc:docMk/>
          <pc:sldMk cId="1562685597" sldId="654"/>
        </pc:sldMkLst>
        <pc:spChg chg="mod">
          <ac:chgData name="Dincer Konur" userId="0cb337efb386619d" providerId="LiveId" clId="{35875678-003C-473D-947E-C3A79DD32E97}" dt="2019-07-25T00:23:28.176" v="35" actId="1076"/>
          <ac:spMkLst>
            <pc:docMk/>
            <pc:sldMk cId="1562685597" sldId="654"/>
            <ac:spMk id="17" creationId="{C8003E7F-F9D1-48F0-B61B-EA9BB7F8A748}"/>
          </ac:spMkLst>
        </pc:spChg>
      </pc:sldChg>
      <pc:sldChg chg="modAnim">
        <pc:chgData name="Dincer Konur" userId="0cb337efb386619d" providerId="LiveId" clId="{35875678-003C-473D-947E-C3A79DD32E97}" dt="2019-07-25T00:24:41.227" v="46"/>
        <pc:sldMkLst>
          <pc:docMk/>
          <pc:sldMk cId="1404332832" sldId="658"/>
        </pc:sldMkLst>
      </pc:sldChg>
      <pc:sldChg chg="modAnim">
        <pc:chgData name="Dincer Konur" userId="0cb337efb386619d" providerId="LiveId" clId="{35875678-003C-473D-947E-C3A79DD32E97}" dt="2019-07-25T00:25:44.770" v="54"/>
        <pc:sldMkLst>
          <pc:docMk/>
          <pc:sldMk cId="976144294" sldId="665"/>
        </pc:sldMkLst>
      </pc:sldChg>
    </pc:docChg>
  </pc:docChgLst>
  <pc:docChgLst>
    <pc:chgData name="Sahan Konur, Sahika" userId="739a6e03-9a4a-49c6-a350-571b31db94be" providerId="ADAL" clId="{7DFB51EF-FFAA-4131-9AEF-7DCD3BD69DD5}"/>
    <pc:docChg chg="undo redo custSel addSld delSld modSld sldOrd delMainMaster">
      <pc:chgData name="Sahan Konur, Sahika" userId="739a6e03-9a4a-49c6-a350-571b31db94be" providerId="ADAL" clId="{7DFB51EF-FFAA-4131-9AEF-7DCD3BD69DD5}" dt="2023-10-19T18:19:32.049" v="1500" actId="47"/>
      <pc:docMkLst>
        <pc:docMk/>
      </pc:docMkLst>
      <pc:sldChg chg="del">
        <pc:chgData name="Sahan Konur, Sahika" userId="739a6e03-9a4a-49c6-a350-571b31db94be" providerId="ADAL" clId="{7DFB51EF-FFAA-4131-9AEF-7DCD3BD69DD5}" dt="2023-10-18T18:54:32.366" v="265" actId="47"/>
        <pc:sldMkLst>
          <pc:docMk/>
          <pc:sldMk cId="2474569206" sldId="260"/>
        </pc:sldMkLst>
      </pc:sldChg>
      <pc:sldChg chg="delSp modSp mod delAnim modAnim">
        <pc:chgData name="Sahan Konur, Sahika" userId="739a6e03-9a4a-49c6-a350-571b31db94be" providerId="ADAL" clId="{7DFB51EF-FFAA-4131-9AEF-7DCD3BD69DD5}" dt="2023-10-19T13:37:54.818" v="1192" actId="478"/>
        <pc:sldMkLst>
          <pc:docMk/>
          <pc:sldMk cId="2952425472" sldId="584"/>
        </pc:sldMkLst>
        <pc:spChg chg="mod">
          <ac:chgData name="Sahan Konur, Sahika" userId="739a6e03-9a4a-49c6-a350-571b31db94be" providerId="ADAL" clId="{7DFB51EF-FFAA-4131-9AEF-7DCD3BD69DD5}" dt="2023-10-19T13:37:50.769" v="1190" actId="6549"/>
          <ac:spMkLst>
            <pc:docMk/>
            <pc:sldMk cId="2952425472" sldId="584"/>
            <ac:spMk id="3" creationId="{00000000-0000-0000-0000-000000000000}"/>
          </ac:spMkLst>
        </pc:spChg>
        <pc:spChg chg="del">
          <ac:chgData name="Sahan Konur, Sahika" userId="739a6e03-9a4a-49c6-a350-571b31db94be" providerId="ADAL" clId="{7DFB51EF-FFAA-4131-9AEF-7DCD3BD69DD5}" dt="2023-10-19T13:37:54.818" v="1192" actId="478"/>
          <ac:spMkLst>
            <pc:docMk/>
            <pc:sldMk cId="2952425472" sldId="584"/>
            <ac:spMk id="5" creationId="{00000000-0000-0000-0000-000000000000}"/>
          </ac:spMkLst>
        </pc:spChg>
        <pc:spChg chg="del">
          <ac:chgData name="Sahan Konur, Sahika" userId="739a6e03-9a4a-49c6-a350-571b31db94be" providerId="ADAL" clId="{7DFB51EF-FFAA-4131-9AEF-7DCD3BD69DD5}" dt="2023-10-19T13:37:53.680" v="1191" actId="478"/>
          <ac:spMkLst>
            <pc:docMk/>
            <pc:sldMk cId="2952425472" sldId="584"/>
            <ac:spMk id="6" creationId="{00000000-0000-0000-0000-000000000000}"/>
          </ac:spMkLst>
        </pc:spChg>
      </pc:sldChg>
      <pc:sldChg chg="modSp mod">
        <pc:chgData name="Sahan Konur, Sahika" userId="739a6e03-9a4a-49c6-a350-571b31db94be" providerId="ADAL" clId="{7DFB51EF-FFAA-4131-9AEF-7DCD3BD69DD5}" dt="2023-10-18T18:30:51.680" v="19" actId="27636"/>
        <pc:sldMkLst>
          <pc:docMk/>
          <pc:sldMk cId="3048080936" sldId="585"/>
        </pc:sldMkLst>
        <pc:spChg chg="mod">
          <ac:chgData name="Sahan Konur, Sahika" userId="739a6e03-9a4a-49c6-a350-571b31db94be" providerId="ADAL" clId="{7DFB51EF-FFAA-4131-9AEF-7DCD3BD69DD5}" dt="2023-10-18T18:30:51.680" v="19" actId="27636"/>
          <ac:spMkLst>
            <pc:docMk/>
            <pc:sldMk cId="3048080936" sldId="585"/>
            <ac:spMk id="3" creationId="{00000000-0000-0000-0000-000000000000}"/>
          </ac:spMkLst>
        </pc:spChg>
      </pc:sldChg>
      <pc:sldChg chg="modSp add del mod modAnim">
        <pc:chgData name="Sahan Konur, Sahika" userId="739a6e03-9a4a-49c6-a350-571b31db94be" providerId="ADAL" clId="{7DFB51EF-FFAA-4131-9AEF-7DCD3BD69DD5}" dt="2023-10-18T21:09:01.598" v="508"/>
        <pc:sldMkLst>
          <pc:docMk/>
          <pc:sldMk cId="3894734427" sldId="586"/>
        </pc:sldMkLst>
        <pc:spChg chg="mod">
          <ac:chgData name="Sahan Konur, Sahika" userId="739a6e03-9a4a-49c6-a350-571b31db94be" providerId="ADAL" clId="{7DFB51EF-FFAA-4131-9AEF-7DCD3BD69DD5}" dt="2023-10-18T21:08:57.957" v="507" actId="20577"/>
          <ac:spMkLst>
            <pc:docMk/>
            <pc:sldMk cId="3894734427" sldId="586"/>
            <ac:spMk id="3" creationId="{00000000-0000-0000-0000-000000000000}"/>
          </ac:spMkLst>
        </pc:spChg>
      </pc:sldChg>
      <pc:sldChg chg="add del">
        <pc:chgData name="Sahan Konur, Sahika" userId="739a6e03-9a4a-49c6-a350-571b31db94be" providerId="ADAL" clId="{7DFB51EF-FFAA-4131-9AEF-7DCD3BD69DD5}" dt="2023-10-19T13:45:59.001" v="1459" actId="2696"/>
        <pc:sldMkLst>
          <pc:docMk/>
          <pc:sldMk cId="577879661" sldId="589"/>
        </pc:sldMkLst>
      </pc:sldChg>
      <pc:sldChg chg="del">
        <pc:chgData name="Sahan Konur, Sahika" userId="739a6e03-9a4a-49c6-a350-571b31db94be" providerId="ADAL" clId="{7DFB51EF-FFAA-4131-9AEF-7DCD3BD69DD5}" dt="2023-10-19T13:47:49.751" v="1463" actId="47"/>
        <pc:sldMkLst>
          <pc:docMk/>
          <pc:sldMk cId="1743393320" sldId="589"/>
        </pc:sldMkLst>
      </pc:sldChg>
      <pc:sldChg chg="add del">
        <pc:chgData name="Sahan Konur, Sahika" userId="739a6e03-9a4a-49c6-a350-571b31db94be" providerId="ADAL" clId="{7DFB51EF-FFAA-4131-9AEF-7DCD3BD69DD5}" dt="2023-10-19T13:45:59.001" v="1459" actId="2696"/>
        <pc:sldMkLst>
          <pc:docMk/>
          <pc:sldMk cId="451425974" sldId="590"/>
        </pc:sldMkLst>
      </pc:sldChg>
      <pc:sldChg chg="del">
        <pc:chgData name="Sahan Konur, Sahika" userId="739a6e03-9a4a-49c6-a350-571b31db94be" providerId="ADAL" clId="{7DFB51EF-FFAA-4131-9AEF-7DCD3BD69DD5}" dt="2023-10-19T13:47:51.746" v="1464" actId="47"/>
        <pc:sldMkLst>
          <pc:docMk/>
          <pc:sldMk cId="458043389" sldId="590"/>
        </pc:sldMkLst>
      </pc:sldChg>
      <pc:sldChg chg="del">
        <pc:chgData name="Sahan Konur, Sahika" userId="739a6e03-9a4a-49c6-a350-571b31db94be" providerId="ADAL" clId="{7DFB51EF-FFAA-4131-9AEF-7DCD3BD69DD5}" dt="2023-10-19T18:19:32.049" v="1500" actId="47"/>
        <pc:sldMkLst>
          <pc:docMk/>
          <pc:sldMk cId="3662230898" sldId="596"/>
        </pc:sldMkLst>
      </pc:sldChg>
      <pc:sldChg chg="add">
        <pc:chgData name="Sahan Konur, Sahika" userId="739a6e03-9a4a-49c6-a350-571b31db94be" providerId="ADAL" clId="{7DFB51EF-FFAA-4131-9AEF-7DCD3BD69DD5}" dt="2023-10-18T21:00:17.549" v="401"/>
        <pc:sldMkLst>
          <pc:docMk/>
          <pc:sldMk cId="2604088751" sldId="605"/>
        </pc:sldMkLst>
      </pc:sldChg>
      <pc:sldChg chg="add del">
        <pc:chgData name="Sahan Konur, Sahika" userId="739a6e03-9a4a-49c6-a350-571b31db94be" providerId="ADAL" clId="{7DFB51EF-FFAA-4131-9AEF-7DCD3BD69DD5}" dt="2023-10-18T20:59:52.690" v="400" actId="2696"/>
        <pc:sldMkLst>
          <pc:docMk/>
          <pc:sldMk cId="3725224612" sldId="605"/>
        </pc:sldMkLst>
      </pc:sldChg>
      <pc:sldChg chg="add del">
        <pc:chgData name="Sahan Konur, Sahika" userId="739a6e03-9a4a-49c6-a350-571b31db94be" providerId="ADAL" clId="{7DFB51EF-FFAA-4131-9AEF-7DCD3BD69DD5}" dt="2023-10-18T20:59:52.690" v="400" actId="2696"/>
        <pc:sldMkLst>
          <pc:docMk/>
          <pc:sldMk cId="1393758979" sldId="606"/>
        </pc:sldMkLst>
      </pc:sldChg>
      <pc:sldChg chg="add">
        <pc:chgData name="Sahan Konur, Sahika" userId="739a6e03-9a4a-49c6-a350-571b31db94be" providerId="ADAL" clId="{7DFB51EF-FFAA-4131-9AEF-7DCD3BD69DD5}" dt="2023-10-18T21:00:17.549" v="401"/>
        <pc:sldMkLst>
          <pc:docMk/>
          <pc:sldMk cId="1541979654" sldId="606"/>
        </pc:sldMkLst>
      </pc:sldChg>
      <pc:sldChg chg="add">
        <pc:chgData name="Sahan Konur, Sahika" userId="739a6e03-9a4a-49c6-a350-571b31db94be" providerId="ADAL" clId="{7DFB51EF-FFAA-4131-9AEF-7DCD3BD69DD5}" dt="2023-10-18T21:00:17.549" v="401"/>
        <pc:sldMkLst>
          <pc:docMk/>
          <pc:sldMk cId="231831237" sldId="607"/>
        </pc:sldMkLst>
      </pc:sldChg>
      <pc:sldChg chg="modSp add del mod">
        <pc:chgData name="Sahan Konur, Sahika" userId="739a6e03-9a4a-49c6-a350-571b31db94be" providerId="ADAL" clId="{7DFB51EF-FFAA-4131-9AEF-7DCD3BD69DD5}" dt="2023-10-18T20:59:52.690" v="400" actId="2696"/>
        <pc:sldMkLst>
          <pc:docMk/>
          <pc:sldMk cId="409586708" sldId="607"/>
        </pc:sldMkLst>
        <pc:spChg chg="mod">
          <ac:chgData name="Sahan Konur, Sahika" userId="739a6e03-9a4a-49c6-a350-571b31db94be" providerId="ADAL" clId="{7DFB51EF-FFAA-4131-9AEF-7DCD3BD69DD5}" dt="2023-10-18T18:30:51.711" v="20" actId="27636"/>
          <ac:spMkLst>
            <pc:docMk/>
            <pc:sldMk cId="409586708" sldId="607"/>
            <ac:spMk id="3" creationId="{00000000-0000-0000-0000-000000000000}"/>
          </ac:spMkLst>
        </pc:spChg>
      </pc:sldChg>
      <pc:sldChg chg="add">
        <pc:chgData name="Sahan Konur, Sahika" userId="739a6e03-9a4a-49c6-a350-571b31db94be" providerId="ADAL" clId="{7DFB51EF-FFAA-4131-9AEF-7DCD3BD69DD5}" dt="2023-10-18T21:00:17.549" v="401"/>
        <pc:sldMkLst>
          <pc:docMk/>
          <pc:sldMk cId="3363132031" sldId="608"/>
        </pc:sldMkLst>
      </pc:sldChg>
      <pc:sldChg chg="add del">
        <pc:chgData name="Sahan Konur, Sahika" userId="739a6e03-9a4a-49c6-a350-571b31db94be" providerId="ADAL" clId="{7DFB51EF-FFAA-4131-9AEF-7DCD3BD69DD5}" dt="2023-10-18T20:59:52.690" v="400" actId="2696"/>
        <pc:sldMkLst>
          <pc:docMk/>
          <pc:sldMk cId="3783641050" sldId="608"/>
        </pc:sldMkLst>
      </pc:sldChg>
      <pc:sldChg chg="add del">
        <pc:chgData name="Sahan Konur, Sahika" userId="739a6e03-9a4a-49c6-a350-571b31db94be" providerId="ADAL" clId="{7DFB51EF-FFAA-4131-9AEF-7DCD3BD69DD5}" dt="2023-10-18T20:59:52.690" v="400" actId="2696"/>
        <pc:sldMkLst>
          <pc:docMk/>
          <pc:sldMk cId="1651571716" sldId="609"/>
        </pc:sldMkLst>
      </pc:sldChg>
      <pc:sldChg chg="add">
        <pc:chgData name="Sahan Konur, Sahika" userId="739a6e03-9a4a-49c6-a350-571b31db94be" providerId="ADAL" clId="{7DFB51EF-FFAA-4131-9AEF-7DCD3BD69DD5}" dt="2023-10-18T21:00:17.549" v="401"/>
        <pc:sldMkLst>
          <pc:docMk/>
          <pc:sldMk cId="2862441672" sldId="609"/>
        </pc:sldMkLst>
      </pc:sldChg>
      <pc:sldChg chg="add del">
        <pc:chgData name="Sahan Konur, Sahika" userId="739a6e03-9a4a-49c6-a350-571b31db94be" providerId="ADAL" clId="{7DFB51EF-FFAA-4131-9AEF-7DCD3BD69DD5}" dt="2023-10-18T20:59:52.690" v="400" actId="2696"/>
        <pc:sldMkLst>
          <pc:docMk/>
          <pc:sldMk cId="32807684" sldId="610"/>
        </pc:sldMkLst>
      </pc:sldChg>
      <pc:sldChg chg="add">
        <pc:chgData name="Sahan Konur, Sahika" userId="739a6e03-9a4a-49c6-a350-571b31db94be" providerId="ADAL" clId="{7DFB51EF-FFAA-4131-9AEF-7DCD3BD69DD5}" dt="2023-10-18T21:00:17.549" v="401"/>
        <pc:sldMkLst>
          <pc:docMk/>
          <pc:sldMk cId="2819519984" sldId="610"/>
        </pc:sldMkLst>
      </pc:sldChg>
      <pc:sldChg chg="modSp mod">
        <pc:chgData name="Sahan Konur, Sahika" userId="739a6e03-9a4a-49c6-a350-571b31db94be" providerId="ADAL" clId="{7DFB51EF-FFAA-4131-9AEF-7DCD3BD69DD5}" dt="2023-10-18T18:30:51.774" v="29" actId="27636"/>
        <pc:sldMkLst>
          <pc:docMk/>
          <pc:sldMk cId="1567620709" sldId="614"/>
        </pc:sldMkLst>
        <pc:spChg chg="mod">
          <ac:chgData name="Sahan Konur, Sahika" userId="739a6e03-9a4a-49c6-a350-571b31db94be" providerId="ADAL" clId="{7DFB51EF-FFAA-4131-9AEF-7DCD3BD69DD5}" dt="2023-10-18T18:30:51.774" v="29" actId="27636"/>
          <ac:spMkLst>
            <pc:docMk/>
            <pc:sldMk cId="1567620709" sldId="614"/>
            <ac:spMk id="3" creationId="{00000000-0000-0000-0000-000000000000}"/>
          </ac:spMkLst>
        </pc:spChg>
      </pc:sldChg>
      <pc:sldChg chg="modSp mod">
        <pc:chgData name="Sahan Konur, Sahika" userId="739a6e03-9a4a-49c6-a350-571b31db94be" providerId="ADAL" clId="{7DFB51EF-FFAA-4131-9AEF-7DCD3BD69DD5}" dt="2023-10-18T21:10:46.245" v="522" actId="27636"/>
        <pc:sldMkLst>
          <pc:docMk/>
          <pc:sldMk cId="1850502403" sldId="615"/>
        </pc:sldMkLst>
        <pc:spChg chg="mod">
          <ac:chgData name="Sahan Konur, Sahika" userId="739a6e03-9a4a-49c6-a350-571b31db94be" providerId="ADAL" clId="{7DFB51EF-FFAA-4131-9AEF-7DCD3BD69DD5}" dt="2023-10-18T21:10:46.245" v="522" actId="27636"/>
          <ac:spMkLst>
            <pc:docMk/>
            <pc:sldMk cId="1850502403" sldId="615"/>
            <ac:spMk id="3" creationId="{00000000-0000-0000-0000-000000000000}"/>
          </ac:spMkLst>
        </pc:spChg>
      </pc:sldChg>
      <pc:sldChg chg="modSp mod">
        <pc:chgData name="Sahan Konur, Sahika" userId="739a6e03-9a4a-49c6-a350-571b31db94be" providerId="ADAL" clId="{7DFB51EF-FFAA-4131-9AEF-7DCD3BD69DD5}" dt="2023-10-18T18:30:51.727" v="23" actId="27636"/>
        <pc:sldMkLst>
          <pc:docMk/>
          <pc:sldMk cId="2528803495" sldId="616"/>
        </pc:sldMkLst>
        <pc:spChg chg="mod">
          <ac:chgData name="Sahan Konur, Sahika" userId="739a6e03-9a4a-49c6-a350-571b31db94be" providerId="ADAL" clId="{7DFB51EF-FFAA-4131-9AEF-7DCD3BD69DD5}" dt="2023-10-18T18:30:51.727" v="23" actId="27636"/>
          <ac:spMkLst>
            <pc:docMk/>
            <pc:sldMk cId="2528803495" sldId="616"/>
            <ac:spMk id="3" creationId="{00000000-0000-0000-0000-000000000000}"/>
          </ac:spMkLst>
        </pc:spChg>
      </pc:sldChg>
      <pc:sldChg chg="modSp mod">
        <pc:chgData name="Sahan Konur, Sahika" userId="739a6e03-9a4a-49c6-a350-571b31db94be" providerId="ADAL" clId="{7DFB51EF-FFAA-4131-9AEF-7DCD3BD69DD5}" dt="2023-10-18T18:30:51.742" v="24" actId="27636"/>
        <pc:sldMkLst>
          <pc:docMk/>
          <pc:sldMk cId="3919492776" sldId="621"/>
        </pc:sldMkLst>
        <pc:spChg chg="mod">
          <ac:chgData name="Sahan Konur, Sahika" userId="739a6e03-9a4a-49c6-a350-571b31db94be" providerId="ADAL" clId="{7DFB51EF-FFAA-4131-9AEF-7DCD3BD69DD5}" dt="2023-10-18T18:30:51.742" v="24" actId="27636"/>
          <ac:spMkLst>
            <pc:docMk/>
            <pc:sldMk cId="3919492776" sldId="621"/>
            <ac:spMk id="3" creationId="{00000000-0000-0000-0000-000000000000}"/>
          </ac:spMkLst>
        </pc:spChg>
      </pc:sldChg>
      <pc:sldChg chg="modSp mod">
        <pc:chgData name="Sahan Konur, Sahika" userId="739a6e03-9a4a-49c6-a350-571b31db94be" providerId="ADAL" clId="{7DFB51EF-FFAA-4131-9AEF-7DCD3BD69DD5}" dt="2023-10-18T18:30:51.742" v="26" actId="27636"/>
        <pc:sldMkLst>
          <pc:docMk/>
          <pc:sldMk cId="4224191057" sldId="625"/>
        </pc:sldMkLst>
        <pc:spChg chg="mod">
          <ac:chgData name="Sahan Konur, Sahika" userId="739a6e03-9a4a-49c6-a350-571b31db94be" providerId="ADAL" clId="{7DFB51EF-FFAA-4131-9AEF-7DCD3BD69DD5}" dt="2023-10-18T18:30:51.742" v="26" actId="27636"/>
          <ac:spMkLst>
            <pc:docMk/>
            <pc:sldMk cId="4224191057" sldId="625"/>
            <ac:spMk id="3" creationId="{00000000-0000-0000-0000-000000000000}"/>
          </ac:spMkLst>
        </pc:spChg>
      </pc:sldChg>
      <pc:sldChg chg="modSp mod">
        <pc:chgData name="Sahan Konur, Sahika" userId="739a6e03-9a4a-49c6-a350-571b31db94be" providerId="ADAL" clId="{7DFB51EF-FFAA-4131-9AEF-7DCD3BD69DD5}" dt="2023-10-19T13:47:07.942" v="1461" actId="27636"/>
        <pc:sldMkLst>
          <pc:docMk/>
          <pc:sldMk cId="3535963461" sldId="626"/>
        </pc:sldMkLst>
        <pc:spChg chg="mod">
          <ac:chgData name="Sahan Konur, Sahika" userId="739a6e03-9a4a-49c6-a350-571b31db94be" providerId="ADAL" clId="{7DFB51EF-FFAA-4131-9AEF-7DCD3BD69DD5}" dt="2023-10-19T13:47:07.942" v="1461" actId="27636"/>
          <ac:spMkLst>
            <pc:docMk/>
            <pc:sldMk cId="3535963461" sldId="626"/>
            <ac:spMk id="3" creationId="{00000000-0000-0000-0000-000000000000}"/>
          </ac:spMkLst>
        </pc:spChg>
      </pc:sldChg>
      <pc:sldChg chg="modSp mod">
        <pc:chgData name="Sahan Konur, Sahika" userId="739a6e03-9a4a-49c6-a350-571b31db94be" providerId="ADAL" clId="{7DFB51EF-FFAA-4131-9AEF-7DCD3BD69DD5}" dt="2023-10-18T18:30:51.758" v="27" actId="27636"/>
        <pc:sldMkLst>
          <pc:docMk/>
          <pc:sldMk cId="2186777912" sldId="629"/>
        </pc:sldMkLst>
        <pc:spChg chg="mod">
          <ac:chgData name="Sahan Konur, Sahika" userId="739a6e03-9a4a-49c6-a350-571b31db94be" providerId="ADAL" clId="{7DFB51EF-FFAA-4131-9AEF-7DCD3BD69DD5}" dt="2023-10-18T18:30:51.758" v="27" actId="27636"/>
          <ac:spMkLst>
            <pc:docMk/>
            <pc:sldMk cId="2186777912" sldId="629"/>
            <ac:spMk id="3" creationId="{00000000-0000-0000-0000-000000000000}"/>
          </ac:spMkLst>
        </pc:spChg>
      </pc:sldChg>
      <pc:sldChg chg="modSp mod">
        <pc:chgData name="Sahan Konur, Sahika" userId="739a6e03-9a4a-49c6-a350-571b31db94be" providerId="ADAL" clId="{7DFB51EF-FFAA-4131-9AEF-7DCD3BD69DD5}" dt="2023-10-18T18:30:51.767" v="28" actId="27636"/>
        <pc:sldMkLst>
          <pc:docMk/>
          <pc:sldMk cId="634214463" sldId="633"/>
        </pc:sldMkLst>
        <pc:spChg chg="mod">
          <ac:chgData name="Sahan Konur, Sahika" userId="739a6e03-9a4a-49c6-a350-571b31db94be" providerId="ADAL" clId="{7DFB51EF-FFAA-4131-9AEF-7DCD3BD69DD5}" dt="2023-10-18T18:30:51.767" v="28" actId="27636"/>
          <ac:spMkLst>
            <pc:docMk/>
            <pc:sldMk cId="634214463" sldId="633"/>
            <ac:spMk id="3" creationId="{00000000-0000-0000-0000-000000000000}"/>
          </ac:spMkLst>
        </pc:spChg>
      </pc:sldChg>
      <pc:sldChg chg="modSp mod">
        <pc:chgData name="Sahan Konur, Sahika" userId="739a6e03-9a4a-49c6-a350-571b31db94be" providerId="ADAL" clId="{7DFB51EF-FFAA-4131-9AEF-7DCD3BD69DD5}" dt="2023-10-18T18:30:51.711" v="21" actId="27636"/>
        <pc:sldMkLst>
          <pc:docMk/>
          <pc:sldMk cId="716185342" sldId="653"/>
        </pc:sldMkLst>
        <pc:spChg chg="mod">
          <ac:chgData name="Sahan Konur, Sahika" userId="739a6e03-9a4a-49c6-a350-571b31db94be" providerId="ADAL" clId="{7DFB51EF-FFAA-4131-9AEF-7DCD3BD69DD5}" dt="2023-10-18T18:30:51.711" v="21" actId="27636"/>
          <ac:spMkLst>
            <pc:docMk/>
            <pc:sldMk cId="716185342" sldId="653"/>
            <ac:spMk id="3" creationId="{00000000-0000-0000-0000-000000000000}"/>
          </ac:spMkLst>
        </pc:spChg>
      </pc:sldChg>
      <pc:sldChg chg="modSp mod">
        <pc:chgData name="Sahan Konur, Sahika" userId="739a6e03-9a4a-49c6-a350-571b31db94be" providerId="ADAL" clId="{7DFB51EF-FFAA-4131-9AEF-7DCD3BD69DD5}" dt="2023-10-18T18:30:51.774" v="30" actId="27636"/>
        <pc:sldMkLst>
          <pc:docMk/>
          <pc:sldMk cId="877211411" sldId="666"/>
        </pc:sldMkLst>
        <pc:spChg chg="mod">
          <ac:chgData name="Sahan Konur, Sahika" userId="739a6e03-9a4a-49c6-a350-571b31db94be" providerId="ADAL" clId="{7DFB51EF-FFAA-4131-9AEF-7DCD3BD69DD5}" dt="2023-10-18T18:28:45.557" v="18" actId="20577"/>
          <ac:spMkLst>
            <pc:docMk/>
            <pc:sldMk cId="877211411" sldId="666"/>
            <ac:spMk id="2" creationId="{00000000-0000-0000-0000-000000000000}"/>
          </ac:spMkLst>
        </pc:spChg>
        <pc:spChg chg="mod">
          <ac:chgData name="Sahan Konur, Sahika" userId="739a6e03-9a4a-49c6-a350-571b31db94be" providerId="ADAL" clId="{7DFB51EF-FFAA-4131-9AEF-7DCD3BD69DD5}" dt="2023-10-18T18:30:51.774" v="30" actId="27636"/>
          <ac:spMkLst>
            <pc:docMk/>
            <pc:sldMk cId="877211411" sldId="666"/>
            <ac:spMk id="3" creationId="{00000000-0000-0000-0000-000000000000}"/>
          </ac:spMkLst>
        </pc:spChg>
      </pc:sldChg>
      <pc:sldChg chg="del">
        <pc:chgData name="Sahan Konur, Sahika" userId="739a6e03-9a4a-49c6-a350-571b31db94be" providerId="ADAL" clId="{7DFB51EF-FFAA-4131-9AEF-7DCD3BD69DD5}" dt="2023-10-18T18:54:11.990" v="261" actId="47"/>
        <pc:sldMkLst>
          <pc:docMk/>
          <pc:sldMk cId="3724444324" sldId="667"/>
        </pc:sldMkLst>
      </pc:sldChg>
      <pc:sldChg chg="del">
        <pc:chgData name="Sahan Konur, Sahika" userId="739a6e03-9a4a-49c6-a350-571b31db94be" providerId="ADAL" clId="{7DFB51EF-FFAA-4131-9AEF-7DCD3BD69DD5}" dt="2023-10-18T18:53:51.307" v="255" actId="47"/>
        <pc:sldMkLst>
          <pc:docMk/>
          <pc:sldMk cId="3829527698" sldId="668"/>
        </pc:sldMkLst>
      </pc:sldChg>
      <pc:sldChg chg="del">
        <pc:chgData name="Sahan Konur, Sahika" userId="739a6e03-9a4a-49c6-a350-571b31db94be" providerId="ADAL" clId="{7DFB51EF-FFAA-4131-9AEF-7DCD3BD69DD5}" dt="2023-10-18T18:53:32.819" v="249" actId="47"/>
        <pc:sldMkLst>
          <pc:docMk/>
          <pc:sldMk cId="1037354695" sldId="669"/>
        </pc:sldMkLst>
      </pc:sldChg>
      <pc:sldChg chg="del">
        <pc:chgData name="Sahan Konur, Sahika" userId="739a6e03-9a4a-49c6-a350-571b31db94be" providerId="ADAL" clId="{7DFB51EF-FFAA-4131-9AEF-7DCD3BD69DD5}" dt="2023-10-18T18:53:02.143" v="243" actId="47"/>
        <pc:sldMkLst>
          <pc:docMk/>
          <pc:sldMk cId="3987810718" sldId="670"/>
        </pc:sldMkLst>
      </pc:sldChg>
      <pc:sldChg chg="del">
        <pc:chgData name="Sahan Konur, Sahika" userId="739a6e03-9a4a-49c6-a350-571b31db94be" providerId="ADAL" clId="{7DFB51EF-FFAA-4131-9AEF-7DCD3BD69DD5}" dt="2023-10-18T18:51:29.691" v="228" actId="47"/>
        <pc:sldMkLst>
          <pc:docMk/>
          <pc:sldMk cId="1224785425" sldId="671"/>
        </pc:sldMkLst>
      </pc:sldChg>
      <pc:sldChg chg="modSp add del mod ord">
        <pc:chgData name="Sahan Konur, Sahika" userId="739a6e03-9a4a-49c6-a350-571b31db94be" providerId="ADAL" clId="{7DFB51EF-FFAA-4131-9AEF-7DCD3BD69DD5}" dt="2023-10-19T13:35:58.523" v="1188" actId="15"/>
        <pc:sldMkLst>
          <pc:docMk/>
          <pc:sldMk cId="3746650187" sldId="672"/>
        </pc:sldMkLst>
        <pc:spChg chg="mod">
          <ac:chgData name="Sahan Konur, Sahika" userId="739a6e03-9a4a-49c6-a350-571b31db94be" providerId="ADAL" clId="{7DFB51EF-FFAA-4131-9AEF-7DCD3BD69DD5}" dt="2023-10-19T13:35:58.523" v="1188" actId="15"/>
          <ac:spMkLst>
            <pc:docMk/>
            <pc:sldMk cId="3746650187" sldId="672"/>
            <ac:spMk id="3" creationId="{00000000-0000-0000-0000-000000000000}"/>
          </ac:spMkLst>
        </pc:spChg>
      </pc:sldChg>
      <pc:sldChg chg="modSp add mod ord">
        <pc:chgData name="Sahan Konur, Sahika" userId="739a6e03-9a4a-49c6-a350-571b31db94be" providerId="ADAL" clId="{7DFB51EF-FFAA-4131-9AEF-7DCD3BD69DD5}" dt="2023-10-19T13:47:24.486" v="1462" actId="20577"/>
        <pc:sldMkLst>
          <pc:docMk/>
          <pc:sldMk cId="345680085" sldId="673"/>
        </pc:sldMkLst>
        <pc:spChg chg="mod">
          <ac:chgData name="Sahan Konur, Sahika" userId="739a6e03-9a4a-49c6-a350-571b31db94be" providerId="ADAL" clId="{7DFB51EF-FFAA-4131-9AEF-7DCD3BD69DD5}" dt="2023-10-19T13:47:24.486" v="1462" actId="20577"/>
          <ac:spMkLst>
            <pc:docMk/>
            <pc:sldMk cId="345680085" sldId="673"/>
            <ac:spMk id="3" creationId="{00000000-0000-0000-0000-000000000000}"/>
          </ac:spMkLst>
        </pc:spChg>
      </pc:sldChg>
      <pc:sldChg chg="modSp add mod">
        <pc:chgData name="Sahan Konur, Sahika" userId="739a6e03-9a4a-49c6-a350-571b31db94be" providerId="ADAL" clId="{7DFB51EF-FFAA-4131-9AEF-7DCD3BD69DD5}" dt="2023-10-19T13:47:55.671" v="1465" actId="20577"/>
        <pc:sldMkLst>
          <pc:docMk/>
          <pc:sldMk cId="3309760946" sldId="674"/>
        </pc:sldMkLst>
        <pc:spChg chg="mod">
          <ac:chgData name="Sahan Konur, Sahika" userId="739a6e03-9a4a-49c6-a350-571b31db94be" providerId="ADAL" clId="{7DFB51EF-FFAA-4131-9AEF-7DCD3BD69DD5}" dt="2023-10-19T13:47:55.671" v="1465" actId="20577"/>
          <ac:spMkLst>
            <pc:docMk/>
            <pc:sldMk cId="3309760946" sldId="674"/>
            <ac:spMk id="3" creationId="{00000000-0000-0000-0000-000000000000}"/>
          </ac:spMkLst>
        </pc:spChg>
      </pc:sldChg>
      <pc:sldChg chg="modSp add mod">
        <pc:chgData name="Sahan Konur, Sahika" userId="739a6e03-9a4a-49c6-a350-571b31db94be" providerId="ADAL" clId="{7DFB51EF-FFAA-4131-9AEF-7DCD3BD69DD5}" dt="2023-10-19T13:48:24.250" v="1475" actId="207"/>
        <pc:sldMkLst>
          <pc:docMk/>
          <pc:sldMk cId="861207561" sldId="675"/>
        </pc:sldMkLst>
        <pc:spChg chg="mod">
          <ac:chgData name="Sahan Konur, Sahika" userId="739a6e03-9a4a-49c6-a350-571b31db94be" providerId="ADAL" clId="{7DFB51EF-FFAA-4131-9AEF-7DCD3BD69DD5}" dt="2023-10-19T13:48:24.250" v="1475" actId="207"/>
          <ac:spMkLst>
            <pc:docMk/>
            <pc:sldMk cId="861207561" sldId="675"/>
            <ac:spMk id="3" creationId="{00000000-0000-0000-0000-000000000000}"/>
          </ac:spMkLst>
        </pc:spChg>
      </pc:sldChg>
      <pc:sldChg chg="modSp add mod">
        <pc:chgData name="Sahan Konur, Sahika" userId="739a6e03-9a4a-49c6-a350-571b31db94be" providerId="ADAL" clId="{7DFB51EF-FFAA-4131-9AEF-7DCD3BD69DD5}" dt="2023-10-19T13:48:40.601" v="1483" actId="27636"/>
        <pc:sldMkLst>
          <pc:docMk/>
          <pc:sldMk cId="939473740" sldId="676"/>
        </pc:sldMkLst>
        <pc:spChg chg="mod">
          <ac:chgData name="Sahan Konur, Sahika" userId="739a6e03-9a4a-49c6-a350-571b31db94be" providerId="ADAL" clId="{7DFB51EF-FFAA-4131-9AEF-7DCD3BD69DD5}" dt="2023-10-19T13:48:40.601" v="1483" actId="27636"/>
          <ac:spMkLst>
            <pc:docMk/>
            <pc:sldMk cId="939473740" sldId="676"/>
            <ac:spMk id="3" creationId="{00000000-0000-0000-0000-000000000000}"/>
          </ac:spMkLst>
        </pc:spChg>
      </pc:sldChg>
      <pc:sldChg chg="modSp add mod">
        <pc:chgData name="Sahan Konur, Sahika" userId="739a6e03-9a4a-49c6-a350-571b31db94be" providerId="ADAL" clId="{7DFB51EF-FFAA-4131-9AEF-7DCD3BD69DD5}" dt="2023-10-19T13:48:52.784" v="1491" actId="15"/>
        <pc:sldMkLst>
          <pc:docMk/>
          <pc:sldMk cId="297648582" sldId="677"/>
        </pc:sldMkLst>
        <pc:spChg chg="mod">
          <ac:chgData name="Sahan Konur, Sahika" userId="739a6e03-9a4a-49c6-a350-571b31db94be" providerId="ADAL" clId="{7DFB51EF-FFAA-4131-9AEF-7DCD3BD69DD5}" dt="2023-10-19T13:48:52.784" v="1491" actId="15"/>
          <ac:spMkLst>
            <pc:docMk/>
            <pc:sldMk cId="297648582" sldId="677"/>
            <ac:spMk id="3" creationId="{00000000-0000-0000-0000-000000000000}"/>
          </ac:spMkLst>
        </pc:spChg>
      </pc:sldChg>
      <pc:sldChg chg="modSp add mod">
        <pc:chgData name="Sahan Konur, Sahika" userId="739a6e03-9a4a-49c6-a350-571b31db94be" providerId="ADAL" clId="{7DFB51EF-FFAA-4131-9AEF-7DCD3BD69DD5}" dt="2023-10-19T13:49:04.227" v="1499" actId="15"/>
        <pc:sldMkLst>
          <pc:docMk/>
          <pc:sldMk cId="1377977427" sldId="678"/>
        </pc:sldMkLst>
        <pc:spChg chg="mod">
          <ac:chgData name="Sahan Konur, Sahika" userId="739a6e03-9a4a-49c6-a350-571b31db94be" providerId="ADAL" clId="{7DFB51EF-FFAA-4131-9AEF-7DCD3BD69DD5}" dt="2023-10-19T13:49:04.227" v="1499" actId="15"/>
          <ac:spMkLst>
            <pc:docMk/>
            <pc:sldMk cId="1377977427" sldId="678"/>
            <ac:spMk id="3" creationId="{00000000-0000-0000-0000-000000000000}"/>
          </ac:spMkLst>
        </pc:spChg>
      </pc:sldChg>
      <pc:sldChg chg="addSp delSp modSp add mod delAnim">
        <pc:chgData name="Sahan Konur, Sahika" userId="739a6e03-9a4a-49c6-a350-571b31db94be" providerId="ADAL" clId="{7DFB51EF-FFAA-4131-9AEF-7DCD3BD69DD5}" dt="2023-10-18T20:41:17.903" v="321" actId="1076"/>
        <pc:sldMkLst>
          <pc:docMk/>
          <pc:sldMk cId="62045335" sldId="679"/>
        </pc:sldMkLst>
        <pc:spChg chg="mod">
          <ac:chgData name="Sahan Konur, Sahika" userId="739a6e03-9a4a-49c6-a350-571b31db94be" providerId="ADAL" clId="{7DFB51EF-FFAA-4131-9AEF-7DCD3BD69DD5}" dt="2023-10-18T19:04:48.773" v="280" actId="20577"/>
          <ac:spMkLst>
            <pc:docMk/>
            <pc:sldMk cId="62045335" sldId="679"/>
            <ac:spMk id="3" creationId="{00000000-0000-0000-0000-000000000000}"/>
          </ac:spMkLst>
        </pc:spChg>
        <pc:graphicFrameChg chg="del">
          <ac:chgData name="Sahan Konur, Sahika" userId="739a6e03-9a4a-49c6-a350-571b31db94be" providerId="ADAL" clId="{7DFB51EF-FFAA-4131-9AEF-7DCD3BD69DD5}" dt="2023-10-18T19:04:58.908" v="281" actId="478"/>
          <ac:graphicFrameMkLst>
            <pc:docMk/>
            <pc:sldMk cId="62045335" sldId="679"/>
            <ac:graphicFrameMk id="8" creationId="{00000000-0000-0000-0000-000000000000}"/>
          </ac:graphicFrameMkLst>
        </pc:graphicFrameChg>
        <pc:picChg chg="add mod">
          <ac:chgData name="Sahan Konur, Sahika" userId="739a6e03-9a4a-49c6-a350-571b31db94be" providerId="ADAL" clId="{7DFB51EF-FFAA-4131-9AEF-7DCD3BD69DD5}" dt="2023-10-18T20:41:17.903" v="321" actId="1076"/>
          <ac:picMkLst>
            <pc:docMk/>
            <pc:sldMk cId="62045335" sldId="679"/>
            <ac:picMk id="5" creationId="{968CFDB3-5450-986A-648E-95EE6AF5B266}"/>
          </ac:picMkLst>
        </pc:picChg>
      </pc:sldChg>
      <pc:sldChg chg="addSp delSp modSp add mod delAnim modAnim">
        <pc:chgData name="Sahan Konur, Sahika" userId="739a6e03-9a4a-49c6-a350-571b31db94be" providerId="ADAL" clId="{7DFB51EF-FFAA-4131-9AEF-7DCD3BD69DD5}" dt="2023-10-18T20:36:53.323" v="297" actId="1076"/>
        <pc:sldMkLst>
          <pc:docMk/>
          <pc:sldMk cId="3368267042" sldId="680"/>
        </pc:sldMkLst>
        <pc:spChg chg="mod">
          <ac:chgData name="Sahan Konur, Sahika" userId="739a6e03-9a4a-49c6-a350-571b31db94be" providerId="ADAL" clId="{7DFB51EF-FFAA-4131-9AEF-7DCD3BD69DD5}" dt="2023-10-18T20:03:22.926" v="289" actId="6549"/>
          <ac:spMkLst>
            <pc:docMk/>
            <pc:sldMk cId="3368267042" sldId="680"/>
            <ac:spMk id="3" creationId="{00000000-0000-0000-0000-000000000000}"/>
          </ac:spMkLst>
        </pc:spChg>
        <pc:spChg chg="del">
          <ac:chgData name="Sahan Konur, Sahika" userId="739a6e03-9a4a-49c6-a350-571b31db94be" providerId="ADAL" clId="{7DFB51EF-FFAA-4131-9AEF-7DCD3BD69DD5}" dt="2023-10-18T20:03:25.312" v="290" actId="478"/>
          <ac:spMkLst>
            <pc:docMk/>
            <pc:sldMk cId="3368267042" sldId="680"/>
            <ac:spMk id="4" creationId="{00000000-0000-0000-0000-000000000000}"/>
          </ac:spMkLst>
        </pc:spChg>
        <pc:picChg chg="add mod">
          <ac:chgData name="Sahan Konur, Sahika" userId="739a6e03-9a4a-49c6-a350-571b31db94be" providerId="ADAL" clId="{7DFB51EF-FFAA-4131-9AEF-7DCD3BD69DD5}" dt="2023-10-18T20:36:53.323" v="297" actId="1076"/>
          <ac:picMkLst>
            <pc:docMk/>
            <pc:sldMk cId="3368267042" sldId="680"/>
            <ac:picMk id="6" creationId="{4E7C4FC1-7E05-624A-390F-D1398D868BDD}"/>
          </ac:picMkLst>
        </pc:picChg>
        <pc:picChg chg="del">
          <ac:chgData name="Sahan Konur, Sahika" userId="739a6e03-9a4a-49c6-a350-571b31db94be" providerId="ADAL" clId="{7DFB51EF-FFAA-4131-9AEF-7DCD3BD69DD5}" dt="2023-10-18T20:03:14.841" v="288" actId="478"/>
          <ac:picMkLst>
            <pc:docMk/>
            <pc:sldMk cId="3368267042" sldId="680"/>
            <ac:picMk id="8" creationId="{00000000-0000-0000-0000-000000000000}"/>
          </ac:picMkLst>
        </pc:picChg>
      </pc:sldChg>
      <pc:sldChg chg="addSp modSp add mod ord modAnim">
        <pc:chgData name="Sahan Konur, Sahika" userId="739a6e03-9a4a-49c6-a350-571b31db94be" providerId="ADAL" clId="{7DFB51EF-FFAA-4131-9AEF-7DCD3BD69DD5}" dt="2023-10-18T21:27:53.213" v="1015" actId="1076"/>
        <pc:sldMkLst>
          <pc:docMk/>
          <pc:sldMk cId="4043555464" sldId="681"/>
        </pc:sldMkLst>
        <pc:spChg chg="mod">
          <ac:chgData name="Sahan Konur, Sahika" userId="739a6e03-9a4a-49c6-a350-571b31db94be" providerId="ADAL" clId="{7DFB51EF-FFAA-4131-9AEF-7DCD3BD69DD5}" dt="2023-10-18T21:27:09.672" v="1010" actId="20577"/>
          <ac:spMkLst>
            <pc:docMk/>
            <pc:sldMk cId="4043555464" sldId="681"/>
            <ac:spMk id="3" creationId="{00000000-0000-0000-0000-000000000000}"/>
          </ac:spMkLst>
        </pc:spChg>
        <pc:picChg chg="add mod">
          <ac:chgData name="Sahan Konur, Sahika" userId="739a6e03-9a4a-49c6-a350-571b31db94be" providerId="ADAL" clId="{7DFB51EF-FFAA-4131-9AEF-7DCD3BD69DD5}" dt="2023-10-18T21:27:53.213" v="1015" actId="1076"/>
          <ac:picMkLst>
            <pc:docMk/>
            <pc:sldMk cId="4043555464" sldId="681"/>
            <ac:picMk id="5" creationId="{FCC84150-5D62-07D7-54F6-F1827345C420}"/>
          </ac:picMkLst>
        </pc:picChg>
      </pc:sldChg>
      <pc:sldChg chg="addSp modSp add mod modAnim">
        <pc:chgData name="Sahan Konur, Sahika" userId="739a6e03-9a4a-49c6-a350-571b31db94be" providerId="ADAL" clId="{7DFB51EF-FFAA-4131-9AEF-7DCD3BD69DD5}" dt="2023-10-18T21:12:31.981" v="552"/>
        <pc:sldMkLst>
          <pc:docMk/>
          <pc:sldMk cId="2909352044" sldId="682"/>
        </pc:sldMkLst>
        <pc:spChg chg="mod">
          <ac:chgData name="Sahan Konur, Sahika" userId="739a6e03-9a4a-49c6-a350-571b31db94be" providerId="ADAL" clId="{7DFB51EF-FFAA-4131-9AEF-7DCD3BD69DD5}" dt="2023-10-18T21:12:31.981" v="552"/>
          <ac:spMkLst>
            <pc:docMk/>
            <pc:sldMk cId="2909352044" sldId="682"/>
            <ac:spMk id="3" creationId="{00000000-0000-0000-0000-000000000000}"/>
          </ac:spMkLst>
        </pc:spChg>
        <pc:picChg chg="add mod">
          <ac:chgData name="Sahan Konur, Sahika" userId="739a6e03-9a4a-49c6-a350-571b31db94be" providerId="ADAL" clId="{7DFB51EF-FFAA-4131-9AEF-7DCD3BD69DD5}" dt="2023-10-18T21:12:24.965" v="550" actId="1076"/>
          <ac:picMkLst>
            <pc:docMk/>
            <pc:sldMk cId="2909352044" sldId="682"/>
            <ac:picMk id="5" creationId="{8D202CBA-105A-5CD1-99AA-7567EBD89D3C}"/>
          </ac:picMkLst>
        </pc:picChg>
        <pc:picChg chg="add mod">
          <ac:chgData name="Sahan Konur, Sahika" userId="739a6e03-9a4a-49c6-a350-571b31db94be" providerId="ADAL" clId="{7DFB51EF-FFAA-4131-9AEF-7DCD3BD69DD5}" dt="2023-10-18T21:12:23.220" v="549" actId="1076"/>
          <ac:picMkLst>
            <pc:docMk/>
            <pc:sldMk cId="2909352044" sldId="682"/>
            <ac:picMk id="6" creationId="{4C0C4788-30A4-8F50-7DA3-6CC64F9908D5}"/>
          </ac:picMkLst>
        </pc:picChg>
      </pc:sldChg>
      <pc:sldChg chg="addSp delSp modSp add mod ord modAnim">
        <pc:chgData name="Sahan Konur, Sahika" userId="739a6e03-9a4a-49c6-a350-571b31db94be" providerId="ADAL" clId="{7DFB51EF-FFAA-4131-9AEF-7DCD3BD69DD5}" dt="2023-10-18T21:35:34.459" v="1149"/>
        <pc:sldMkLst>
          <pc:docMk/>
          <pc:sldMk cId="2995084936" sldId="683"/>
        </pc:sldMkLst>
        <pc:spChg chg="mod">
          <ac:chgData name="Sahan Konur, Sahika" userId="739a6e03-9a4a-49c6-a350-571b31db94be" providerId="ADAL" clId="{7DFB51EF-FFAA-4131-9AEF-7DCD3BD69DD5}" dt="2023-10-18T21:33:57.645" v="1136"/>
          <ac:spMkLst>
            <pc:docMk/>
            <pc:sldMk cId="2995084936" sldId="683"/>
            <ac:spMk id="3" creationId="{00000000-0000-0000-0000-000000000000}"/>
          </ac:spMkLst>
        </pc:spChg>
        <pc:spChg chg="add mod">
          <ac:chgData name="Sahan Konur, Sahika" userId="739a6e03-9a4a-49c6-a350-571b31db94be" providerId="ADAL" clId="{7DFB51EF-FFAA-4131-9AEF-7DCD3BD69DD5}" dt="2023-10-18T21:33:49.064" v="1135" actId="207"/>
          <ac:spMkLst>
            <pc:docMk/>
            <pc:sldMk cId="2995084936" sldId="683"/>
            <ac:spMk id="6" creationId="{B5ED6836-4329-D70A-8FE9-8E3934AECCF6}"/>
          </ac:spMkLst>
        </pc:spChg>
        <pc:picChg chg="add del mod">
          <ac:chgData name="Sahan Konur, Sahika" userId="739a6e03-9a4a-49c6-a350-571b31db94be" providerId="ADAL" clId="{7DFB51EF-FFAA-4131-9AEF-7DCD3BD69DD5}" dt="2023-10-18T21:32:49.932" v="1105" actId="478"/>
          <ac:picMkLst>
            <pc:docMk/>
            <pc:sldMk cId="2995084936" sldId="683"/>
            <ac:picMk id="5" creationId="{9376E584-65A8-05C3-809B-3B5221BBCA74}"/>
          </ac:picMkLst>
        </pc:picChg>
        <pc:picChg chg="add mod">
          <ac:chgData name="Sahan Konur, Sahika" userId="739a6e03-9a4a-49c6-a350-571b31db94be" providerId="ADAL" clId="{7DFB51EF-FFAA-4131-9AEF-7DCD3BD69DD5}" dt="2023-10-18T21:35:11.703" v="1145" actId="1076"/>
          <ac:picMkLst>
            <pc:docMk/>
            <pc:sldMk cId="2995084936" sldId="683"/>
            <ac:picMk id="8" creationId="{74664865-4E3C-29F0-8E77-B3D70032F23C}"/>
          </ac:picMkLst>
        </pc:picChg>
        <pc:picChg chg="add mod">
          <ac:chgData name="Sahan Konur, Sahika" userId="739a6e03-9a4a-49c6-a350-571b31db94be" providerId="ADAL" clId="{7DFB51EF-FFAA-4131-9AEF-7DCD3BD69DD5}" dt="2023-10-18T21:35:30.587" v="1148" actId="1076"/>
          <ac:picMkLst>
            <pc:docMk/>
            <pc:sldMk cId="2995084936" sldId="683"/>
            <ac:picMk id="10" creationId="{1598568C-13D3-F2A7-4E9B-FC333290BA73}"/>
          </ac:picMkLst>
        </pc:picChg>
      </pc:sldChg>
      <pc:sldChg chg="add del">
        <pc:chgData name="Sahan Konur, Sahika" userId="739a6e03-9a4a-49c6-a350-571b31db94be" providerId="ADAL" clId="{7DFB51EF-FFAA-4131-9AEF-7DCD3BD69DD5}" dt="2023-10-18T21:10:09.276" v="520" actId="47"/>
        <pc:sldMkLst>
          <pc:docMk/>
          <pc:sldMk cId="3816688519" sldId="683"/>
        </pc:sldMkLst>
      </pc:sldChg>
      <pc:sldChg chg="addSp delSp modSp add mod modAnim">
        <pc:chgData name="Sahan Konur, Sahika" userId="739a6e03-9a4a-49c6-a350-571b31db94be" providerId="ADAL" clId="{7DFB51EF-FFAA-4131-9AEF-7DCD3BD69DD5}" dt="2023-10-18T21:36:57.045" v="1165"/>
        <pc:sldMkLst>
          <pc:docMk/>
          <pc:sldMk cId="1920661799" sldId="684"/>
        </pc:sldMkLst>
        <pc:spChg chg="mod">
          <ac:chgData name="Sahan Konur, Sahika" userId="739a6e03-9a4a-49c6-a350-571b31db94be" providerId="ADAL" clId="{7DFB51EF-FFAA-4131-9AEF-7DCD3BD69DD5}" dt="2023-10-18T21:35:54.316" v="1150" actId="20577"/>
          <ac:spMkLst>
            <pc:docMk/>
            <pc:sldMk cId="1920661799" sldId="684"/>
            <ac:spMk id="3" creationId="{00000000-0000-0000-0000-000000000000}"/>
          </ac:spMkLst>
        </pc:spChg>
        <pc:spChg chg="add mod">
          <ac:chgData name="Sahan Konur, Sahika" userId="739a6e03-9a4a-49c6-a350-571b31db94be" providerId="ADAL" clId="{7DFB51EF-FFAA-4131-9AEF-7DCD3BD69DD5}" dt="2023-10-18T21:36:42.838" v="1163" actId="1076"/>
          <ac:spMkLst>
            <pc:docMk/>
            <pc:sldMk cId="1920661799" sldId="684"/>
            <ac:spMk id="6" creationId="{413DC889-D014-11B5-E8E9-CCEFF2EBB955}"/>
          </ac:spMkLst>
        </pc:spChg>
        <pc:picChg chg="add mod">
          <ac:chgData name="Sahan Konur, Sahika" userId="739a6e03-9a4a-49c6-a350-571b31db94be" providerId="ADAL" clId="{7DFB51EF-FFAA-4131-9AEF-7DCD3BD69DD5}" dt="2023-10-18T21:36:17.934" v="1156" actId="1076"/>
          <ac:picMkLst>
            <pc:docMk/>
            <pc:sldMk cId="1920661799" sldId="684"/>
            <ac:picMk id="4" creationId="{6E5158FC-52D0-2CE5-FA31-6F04750BF1DF}"/>
          </ac:picMkLst>
        </pc:picChg>
        <pc:picChg chg="del">
          <ac:chgData name="Sahan Konur, Sahika" userId="739a6e03-9a4a-49c6-a350-571b31db94be" providerId="ADAL" clId="{7DFB51EF-FFAA-4131-9AEF-7DCD3BD69DD5}" dt="2023-10-18T21:28:06.026" v="1017" actId="478"/>
          <ac:picMkLst>
            <pc:docMk/>
            <pc:sldMk cId="1920661799" sldId="684"/>
            <ac:picMk id="5" creationId="{9376E584-65A8-05C3-809B-3B5221BBCA74}"/>
          </ac:picMkLst>
        </pc:picChg>
      </pc:sldChg>
      <pc:sldChg chg="addSp delSp modSp mod modAnim">
        <pc:chgData name="Sahan Konur, Sahika" userId="739a6e03-9a4a-49c6-a350-571b31db94be" providerId="ADAL" clId="{7DFB51EF-FFAA-4131-9AEF-7DCD3BD69DD5}" dt="2023-10-18T21:32:00.764" v="1072"/>
        <pc:sldMkLst>
          <pc:docMk/>
          <pc:sldMk cId="2343551216" sldId="715"/>
        </pc:sldMkLst>
        <pc:spChg chg="del">
          <ac:chgData name="Sahan Konur, Sahika" userId="739a6e03-9a4a-49c6-a350-571b31db94be" providerId="ADAL" clId="{7DFB51EF-FFAA-4131-9AEF-7DCD3BD69DD5}" dt="2023-10-18T21:30:06.182" v="1052" actId="478"/>
          <ac:spMkLst>
            <pc:docMk/>
            <pc:sldMk cId="2343551216" sldId="715"/>
            <ac:spMk id="2" creationId="{980C1843-DF26-134D-A215-6B356596811E}"/>
          </ac:spMkLst>
        </pc:spChg>
        <pc:spChg chg="del">
          <ac:chgData name="Sahan Konur, Sahika" userId="739a6e03-9a4a-49c6-a350-571b31db94be" providerId="ADAL" clId="{7DFB51EF-FFAA-4131-9AEF-7DCD3BD69DD5}" dt="2023-10-18T21:30:32.257" v="1059" actId="478"/>
          <ac:spMkLst>
            <pc:docMk/>
            <pc:sldMk cId="2343551216" sldId="715"/>
            <ac:spMk id="3" creationId="{A94693F3-D689-3143-B315-E43CA591677C}"/>
          </ac:spMkLst>
        </pc:spChg>
        <pc:spChg chg="mod">
          <ac:chgData name="Sahan Konur, Sahika" userId="739a6e03-9a4a-49c6-a350-571b31db94be" providerId="ADAL" clId="{7DFB51EF-FFAA-4131-9AEF-7DCD3BD69DD5}" dt="2023-10-18T21:30:45.578" v="1063" actId="1076"/>
          <ac:spMkLst>
            <pc:docMk/>
            <pc:sldMk cId="2343551216" sldId="715"/>
            <ac:spMk id="7" creationId="{00000000-0000-0000-0000-000000000000}"/>
          </ac:spMkLst>
        </pc:spChg>
        <pc:spChg chg="mod">
          <ac:chgData name="Sahan Konur, Sahika" userId="739a6e03-9a4a-49c6-a350-571b31db94be" providerId="ADAL" clId="{7DFB51EF-FFAA-4131-9AEF-7DCD3BD69DD5}" dt="2023-10-18T21:30:45.578" v="1063" actId="1076"/>
          <ac:spMkLst>
            <pc:docMk/>
            <pc:sldMk cId="2343551216" sldId="715"/>
            <ac:spMk id="8" creationId="{00000000-0000-0000-0000-000000000000}"/>
          </ac:spMkLst>
        </pc:spChg>
        <pc:spChg chg="mod">
          <ac:chgData name="Sahan Konur, Sahika" userId="739a6e03-9a4a-49c6-a350-571b31db94be" providerId="ADAL" clId="{7DFB51EF-FFAA-4131-9AEF-7DCD3BD69DD5}" dt="2023-10-18T21:30:45.578" v="1063" actId="1076"/>
          <ac:spMkLst>
            <pc:docMk/>
            <pc:sldMk cId="2343551216" sldId="715"/>
            <ac:spMk id="9" creationId="{00000000-0000-0000-0000-000000000000}"/>
          </ac:spMkLst>
        </pc:spChg>
        <pc:spChg chg="add del mod">
          <ac:chgData name="Sahan Konur, Sahika" userId="739a6e03-9a4a-49c6-a350-571b31db94be" providerId="ADAL" clId="{7DFB51EF-FFAA-4131-9AEF-7DCD3BD69DD5}" dt="2023-10-18T21:30:09.242" v="1053" actId="478"/>
          <ac:spMkLst>
            <pc:docMk/>
            <pc:sldMk cId="2343551216" sldId="715"/>
            <ac:spMk id="11" creationId="{3882B467-0E8A-9FE1-21A3-40A11D5F1D96}"/>
          </ac:spMkLst>
        </pc:spChg>
        <pc:spChg chg="add del mod">
          <ac:chgData name="Sahan Konur, Sahika" userId="739a6e03-9a4a-49c6-a350-571b31db94be" providerId="ADAL" clId="{7DFB51EF-FFAA-4131-9AEF-7DCD3BD69DD5}" dt="2023-10-18T21:30:13.179" v="1055"/>
          <ac:spMkLst>
            <pc:docMk/>
            <pc:sldMk cId="2343551216" sldId="715"/>
            <ac:spMk id="12" creationId="{EFD960DF-428A-2305-16B9-A037E59F4BE8}"/>
          </ac:spMkLst>
        </pc:spChg>
        <pc:spChg chg="add mod">
          <ac:chgData name="Sahan Konur, Sahika" userId="739a6e03-9a4a-49c6-a350-571b31db94be" providerId="ADAL" clId="{7DFB51EF-FFAA-4131-9AEF-7DCD3BD69DD5}" dt="2023-10-18T21:30:16.286" v="1056"/>
          <ac:spMkLst>
            <pc:docMk/>
            <pc:sldMk cId="2343551216" sldId="715"/>
            <ac:spMk id="13" creationId="{65A32273-5B07-23BE-6803-3249618152DC}"/>
          </ac:spMkLst>
        </pc:spChg>
        <pc:spChg chg="add del mod">
          <ac:chgData name="Sahan Konur, Sahika" userId="739a6e03-9a4a-49c6-a350-571b31db94be" providerId="ADAL" clId="{7DFB51EF-FFAA-4131-9AEF-7DCD3BD69DD5}" dt="2023-10-18T21:31:05.459" v="1066"/>
          <ac:spMkLst>
            <pc:docMk/>
            <pc:sldMk cId="2343551216" sldId="715"/>
            <ac:spMk id="14" creationId="{72C08E81-EFD8-8F85-AD0D-63B752D5B687}"/>
          </ac:spMkLst>
        </pc:spChg>
        <pc:spChg chg="add mod">
          <ac:chgData name="Sahan Konur, Sahika" userId="739a6e03-9a4a-49c6-a350-571b31db94be" providerId="ADAL" clId="{7DFB51EF-FFAA-4131-9AEF-7DCD3BD69DD5}" dt="2023-10-18T21:31:07.498" v="1067"/>
          <ac:spMkLst>
            <pc:docMk/>
            <pc:sldMk cId="2343551216" sldId="715"/>
            <ac:spMk id="15" creationId="{F8207957-DC6F-4199-9BEF-59A9C7A41D08}"/>
          </ac:spMkLst>
        </pc:spChg>
        <pc:picChg chg="mod">
          <ac:chgData name="Sahan Konur, Sahika" userId="739a6e03-9a4a-49c6-a350-571b31db94be" providerId="ADAL" clId="{7DFB51EF-FFAA-4131-9AEF-7DCD3BD69DD5}" dt="2023-10-18T21:31:15.533" v="1068" actId="1076"/>
          <ac:picMkLst>
            <pc:docMk/>
            <pc:sldMk cId="2343551216" sldId="715"/>
            <ac:picMk id="4" creationId="{00000000-0000-0000-0000-000000000000}"/>
          </ac:picMkLst>
        </pc:picChg>
        <pc:picChg chg="mod">
          <ac:chgData name="Sahan Konur, Sahika" userId="739a6e03-9a4a-49c6-a350-571b31db94be" providerId="ADAL" clId="{7DFB51EF-FFAA-4131-9AEF-7DCD3BD69DD5}" dt="2023-10-18T21:31:34.784" v="1070" actId="1076"/>
          <ac:picMkLst>
            <pc:docMk/>
            <pc:sldMk cId="2343551216" sldId="715"/>
            <ac:picMk id="5" creationId="{00000000-0000-0000-0000-000000000000}"/>
          </ac:picMkLst>
        </pc:picChg>
        <pc:picChg chg="mod">
          <ac:chgData name="Sahan Konur, Sahika" userId="739a6e03-9a4a-49c6-a350-571b31db94be" providerId="ADAL" clId="{7DFB51EF-FFAA-4131-9AEF-7DCD3BD69DD5}" dt="2023-10-18T21:30:45.578" v="1063" actId="1076"/>
          <ac:picMkLst>
            <pc:docMk/>
            <pc:sldMk cId="2343551216" sldId="715"/>
            <ac:picMk id="6" creationId="{00000000-0000-0000-0000-000000000000}"/>
          </ac:picMkLst>
        </pc:picChg>
      </pc:sldChg>
      <pc:sldChg chg="add">
        <pc:chgData name="Sahan Konur, Sahika" userId="739a6e03-9a4a-49c6-a350-571b31db94be" providerId="ADAL" clId="{7DFB51EF-FFAA-4131-9AEF-7DCD3BD69DD5}" dt="2023-10-18T21:32:15.939" v="1073" actId="2890"/>
        <pc:sldMkLst>
          <pc:docMk/>
          <pc:sldMk cId="3539278416" sldId="716"/>
        </pc:sldMkLst>
      </pc:sldChg>
      <pc:sldChg chg="addSp delSp modSp add mod delAnim">
        <pc:chgData name="Sahan Konur, Sahika" userId="739a6e03-9a4a-49c6-a350-571b31db94be" providerId="ADAL" clId="{7DFB51EF-FFAA-4131-9AEF-7DCD3BD69DD5}" dt="2023-10-18T21:37:26.741" v="1171" actId="1076"/>
        <pc:sldMkLst>
          <pc:docMk/>
          <pc:sldMk cId="2970253041" sldId="717"/>
        </pc:sldMkLst>
        <pc:spChg chg="del">
          <ac:chgData name="Sahan Konur, Sahika" userId="739a6e03-9a4a-49c6-a350-571b31db94be" providerId="ADAL" clId="{7DFB51EF-FFAA-4131-9AEF-7DCD3BD69DD5}" dt="2023-10-18T21:37:14.703" v="1168" actId="478"/>
          <ac:spMkLst>
            <pc:docMk/>
            <pc:sldMk cId="2970253041" sldId="717"/>
            <ac:spMk id="6" creationId="{413DC889-D014-11B5-E8E9-CCEFF2EBB955}"/>
          </ac:spMkLst>
        </pc:spChg>
        <pc:picChg chg="del">
          <ac:chgData name="Sahan Konur, Sahika" userId="739a6e03-9a4a-49c6-a350-571b31db94be" providerId="ADAL" clId="{7DFB51EF-FFAA-4131-9AEF-7DCD3BD69DD5}" dt="2023-10-18T21:37:13.621" v="1167" actId="478"/>
          <ac:picMkLst>
            <pc:docMk/>
            <pc:sldMk cId="2970253041" sldId="717"/>
            <ac:picMk id="4" creationId="{6E5158FC-52D0-2CE5-FA31-6F04750BF1DF}"/>
          </ac:picMkLst>
        </pc:picChg>
        <pc:picChg chg="add mod">
          <ac:chgData name="Sahan Konur, Sahika" userId="739a6e03-9a4a-49c6-a350-571b31db94be" providerId="ADAL" clId="{7DFB51EF-FFAA-4131-9AEF-7DCD3BD69DD5}" dt="2023-10-18T21:37:26.741" v="1171" actId="1076"/>
          <ac:picMkLst>
            <pc:docMk/>
            <pc:sldMk cId="2970253041" sldId="717"/>
            <ac:picMk id="5" creationId="{0A075587-59D8-5FE9-C481-A234840BC84B}"/>
          </ac:picMkLst>
        </pc:picChg>
      </pc:sldChg>
      <pc:sldChg chg="addSp delSp modSp add mod modAnim">
        <pc:chgData name="Sahan Konur, Sahika" userId="739a6e03-9a4a-49c6-a350-571b31db94be" providerId="ADAL" clId="{7DFB51EF-FFAA-4131-9AEF-7DCD3BD69DD5}" dt="2023-10-18T21:38:03.701" v="1180" actId="1076"/>
        <pc:sldMkLst>
          <pc:docMk/>
          <pc:sldMk cId="2819615020" sldId="718"/>
        </pc:sldMkLst>
        <pc:picChg chg="add mod">
          <ac:chgData name="Sahan Konur, Sahika" userId="739a6e03-9a4a-49c6-a350-571b31db94be" providerId="ADAL" clId="{7DFB51EF-FFAA-4131-9AEF-7DCD3BD69DD5}" dt="2023-10-18T21:37:50.279" v="1177" actId="1076"/>
          <ac:picMkLst>
            <pc:docMk/>
            <pc:sldMk cId="2819615020" sldId="718"/>
            <ac:picMk id="4" creationId="{3A356EFC-3593-E204-EEA6-098440847B33}"/>
          </ac:picMkLst>
        </pc:picChg>
        <pc:picChg chg="del">
          <ac:chgData name="Sahan Konur, Sahika" userId="739a6e03-9a4a-49c6-a350-571b31db94be" providerId="ADAL" clId="{7DFB51EF-FFAA-4131-9AEF-7DCD3BD69DD5}" dt="2023-10-18T21:37:38.004" v="1173" actId="478"/>
          <ac:picMkLst>
            <pc:docMk/>
            <pc:sldMk cId="2819615020" sldId="718"/>
            <ac:picMk id="5" creationId="{0A075587-59D8-5FE9-C481-A234840BC84B}"/>
          </ac:picMkLst>
        </pc:picChg>
        <pc:picChg chg="add mod">
          <ac:chgData name="Sahan Konur, Sahika" userId="739a6e03-9a4a-49c6-a350-571b31db94be" providerId="ADAL" clId="{7DFB51EF-FFAA-4131-9AEF-7DCD3BD69DD5}" dt="2023-10-18T21:38:03.701" v="1180" actId="1076"/>
          <ac:picMkLst>
            <pc:docMk/>
            <pc:sldMk cId="2819615020" sldId="718"/>
            <ac:picMk id="6" creationId="{FF637FC2-AB70-9BC6-255B-EE69CCD28537}"/>
          </ac:picMkLst>
        </pc:picChg>
      </pc:sldChg>
      <pc:sldChg chg="del">
        <pc:chgData name="Sahan Konur, Sahika" userId="739a6e03-9a4a-49c6-a350-571b31db94be" providerId="ADAL" clId="{7DFB51EF-FFAA-4131-9AEF-7DCD3BD69DD5}" dt="2023-10-18T21:29:30.018" v="1051" actId="47"/>
        <pc:sldMkLst>
          <pc:docMk/>
          <pc:sldMk cId="3157617941" sldId="718"/>
        </pc:sldMkLst>
      </pc:sldChg>
      <pc:sldChg chg="addSp modSp add mod modAnim">
        <pc:chgData name="Sahan Konur, Sahika" userId="739a6e03-9a4a-49c6-a350-571b31db94be" providerId="ADAL" clId="{7DFB51EF-FFAA-4131-9AEF-7DCD3BD69DD5}" dt="2023-10-19T13:45:12.879" v="1458"/>
        <pc:sldMkLst>
          <pc:docMk/>
          <pc:sldMk cId="1344704149" sldId="719"/>
        </pc:sldMkLst>
        <pc:spChg chg="mod">
          <ac:chgData name="Sahan Konur, Sahika" userId="739a6e03-9a4a-49c6-a350-571b31db94be" providerId="ADAL" clId="{7DFB51EF-FFAA-4131-9AEF-7DCD3BD69DD5}" dt="2023-10-19T13:38:33.741" v="1193" actId="6549"/>
          <ac:spMkLst>
            <pc:docMk/>
            <pc:sldMk cId="1344704149" sldId="719"/>
            <ac:spMk id="3" creationId="{00000000-0000-0000-0000-000000000000}"/>
          </ac:spMkLst>
        </pc:spChg>
        <pc:spChg chg="mod">
          <ac:chgData name="Sahan Konur, Sahika" userId="739a6e03-9a4a-49c6-a350-571b31db94be" providerId="ADAL" clId="{7DFB51EF-FFAA-4131-9AEF-7DCD3BD69DD5}" dt="2023-10-19T13:38:38.281" v="1194" actId="1076"/>
          <ac:spMkLst>
            <pc:docMk/>
            <pc:sldMk cId="1344704149" sldId="719"/>
            <ac:spMk id="5" creationId="{00000000-0000-0000-0000-000000000000}"/>
          </ac:spMkLst>
        </pc:spChg>
        <pc:spChg chg="mod">
          <ac:chgData name="Sahan Konur, Sahika" userId="739a6e03-9a4a-49c6-a350-571b31db94be" providerId="ADAL" clId="{7DFB51EF-FFAA-4131-9AEF-7DCD3BD69DD5}" dt="2023-10-19T13:38:42.017" v="1195" actId="1076"/>
          <ac:spMkLst>
            <pc:docMk/>
            <pc:sldMk cId="1344704149" sldId="719"/>
            <ac:spMk id="6" creationId="{00000000-0000-0000-0000-000000000000}"/>
          </ac:spMkLst>
        </pc:spChg>
        <pc:graphicFrameChg chg="add mod modGraphic">
          <ac:chgData name="Sahan Konur, Sahika" userId="739a6e03-9a4a-49c6-a350-571b31db94be" providerId="ADAL" clId="{7DFB51EF-FFAA-4131-9AEF-7DCD3BD69DD5}" dt="2023-10-19T13:45:12.879" v="1458"/>
          <ac:graphicFrameMkLst>
            <pc:docMk/>
            <pc:sldMk cId="1344704149" sldId="719"/>
            <ac:graphicFrameMk id="4" creationId="{19B7BA9F-25E9-3F9F-9EE3-C656891B172B}"/>
          </ac:graphicFrameMkLst>
        </pc:graphicFrameChg>
      </pc:sldChg>
      <pc:sldMasterChg chg="del delSldLayout">
        <pc:chgData name="Sahan Konur, Sahika" userId="739a6e03-9a4a-49c6-a350-571b31db94be" providerId="ADAL" clId="{7DFB51EF-FFAA-4131-9AEF-7DCD3BD69DD5}" dt="2023-10-18T21:29:30.018" v="1051" actId="47"/>
        <pc:sldMasterMkLst>
          <pc:docMk/>
          <pc:sldMasterMk cId="4104727689" sldId="2147483660"/>
        </pc:sldMasterMkLst>
        <pc:sldLayoutChg chg="del">
          <pc:chgData name="Sahan Konur, Sahika" userId="739a6e03-9a4a-49c6-a350-571b31db94be" providerId="ADAL" clId="{7DFB51EF-FFAA-4131-9AEF-7DCD3BD69DD5}" dt="2023-10-18T21:29:30.018" v="1051" actId="47"/>
          <pc:sldLayoutMkLst>
            <pc:docMk/>
            <pc:sldMasterMk cId="4104727689" sldId="2147483660"/>
            <pc:sldLayoutMk cId="3668202173" sldId="2147483661"/>
          </pc:sldLayoutMkLst>
        </pc:sldLayoutChg>
        <pc:sldLayoutChg chg="del">
          <pc:chgData name="Sahan Konur, Sahika" userId="739a6e03-9a4a-49c6-a350-571b31db94be" providerId="ADAL" clId="{7DFB51EF-FFAA-4131-9AEF-7DCD3BD69DD5}" dt="2023-10-18T21:29:30.018" v="1051" actId="47"/>
          <pc:sldLayoutMkLst>
            <pc:docMk/>
            <pc:sldMasterMk cId="4104727689" sldId="2147483660"/>
            <pc:sldLayoutMk cId="1149082148" sldId="2147483662"/>
          </pc:sldLayoutMkLst>
        </pc:sldLayoutChg>
        <pc:sldLayoutChg chg="del">
          <pc:chgData name="Sahan Konur, Sahika" userId="739a6e03-9a4a-49c6-a350-571b31db94be" providerId="ADAL" clId="{7DFB51EF-FFAA-4131-9AEF-7DCD3BD69DD5}" dt="2023-10-18T21:29:30.018" v="1051" actId="47"/>
          <pc:sldLayoutMkLst>
            <pc:docMk/>
            <pc:sldMasterMk cId="4104727689" sldId="2147483660"/>
            <pc:sldLayoutMk cId="3676576814" sldId="2147483663"/>
          </pc:sldLayoutMkLst>
        </pc:sldLayoutChg>
        <pc:sldLayoutChg chg="del">
          <pc:chgData name="Sahan Konur, Sahika" userId="739a6e03-9a4a-49c6-a350-571b31db94be" providerId="ADAL" clId="{7DFB51EF-FFAA-4131-9AEF-7DCD3BD69DD5}" dt="2023-10-18T21:29:30.018" v="1051" actId="47"/>
          <pc:sldLayoutMkLst>
            <pc:docMk/>
            <pc:sldMasterMk cId="4104727689" sldId="2147483660"/>
            <pc:sldLayoutMk cId="2009189124" sldId="2147483664"/>
          </pc:sldLayoutMkLst>
        </pc:sldLayoutChg>
        <pc:sldLayoutChg chg="del">
          <pc:chgData name="Sahan Konur, Sahika" userId="739a6e03-9a4a-49c6-a350-571b31db94be" providerId="ADAL" clId="{7DFB51EF-FFAA-4131-9AEF-7DCD3BD69DD5}" dt="2023-10-18T21:29:30.018" v="1051" actId="47"/>
          <pc:sldLayoutMkLst>
            <pc:docMk/>
            <pc:sldMasterMk cId="4104727689" sldId="2147483660"/>
            <pc:sldLayoutMk cId="3037145930" sldId="2147483665"/>
          </pc:sldLayoutMkLst>
        </pc:sldLayoutChg>
        <pc:sldLayoutChg chg="del">
          <pc:chgData name="Sahan Konur, Sahika" userId="739a6e03-9a4a-49c6-a350-571b31db94be" providerId="ADAL" clId="{7DFB51EF-FFAA-4131-9AEF-7DCD3BD69DD5}" dt="2023-10-18T21:29:30.018" v="1051" actId="47"/>
          <pc:sldLayoutMkLst>
            <pc:docMk/>
            <pc:sldMasterMk cId="4104727689" sldId="2147483660"/>
            <pc:sldLayoutMk cId="240463420" sldId="2147483666"/>
          </pc:sldLayoutMkLst>
        </pc:sldLayoutChg>
      </pc:sldMasterChg>
    </pc:docChg>
  </pc:docChgLst>
  <pc:docChgLst>
    <pc:chgData name="Sahan Konur, Sahika" userId="739a6e03-9a4a-49c6-a350-571b31db94be" providerId="ADAL" clId="{913D9BA2-2C72-4E6E-800D-1E542C3A95BD}"/>
    <pc:docChg chg="custSel modSld">
      <pc:chgData name="Sahan Konur, Sahika" userId="739a6e03-9a4a-49c6-a350-571b31db94be" providerId="ADAL" clId="{913D9BA2-2C72-4E6E-800D-1E542C3A95BD}" dt="2023-10-23T16:57:23.952" v="8" actId="478"/>
      <pc:docMkLst>
        <pc:docMk/>
      </pc:docMkLst>
      <pc:sldChg chg="delSp modSp mod delAnim modAnim">
        <pc:chgData name="Sahan Konur, Sahika" userId="739a6e03-9a4a-49c6-a350-571b31db94be" providerId="ADAL" clId="{913D9BA2-2C72-4E6E-800D-1E542C3A95BD}" dt="2023-10-23T16:57:23.952" v="8" actId="478"/>
        <pc:sldMkLst>
          <pc:docMk/>
          <pc:sldMk cId="577879661" sldId="589"/>
        </pc:sldMkLst>
        <pc:spChg chg="mod">
          <ac:chgData name="Sahan Konur, Sahika" userId="739a6e03-9a4a-49c6-a350-571b31db94be" providerId="ADAL" clId="{913D9BA2-2C72-4E6E-800D-1E542C3A95BD}" dt="2023-10-23T16:57:03.578" v="4"/>
          <ac:spMkLst>
            <pc:docMk/>
            <pc:sldMk cId="577879661" sldId="589"/>
            <ac:spMk id="2" creationId="{00000000-0000-0000-0000-000000000000}"/>
          </ac:spMkLst>
        </pc:spChg>
        <pc:spChg chg="del">
          <ac:chgData name="Sahan Konur, Sahika" userId="739a6e03-9a4a-49c6-a350-571b31db94be" providerId="ADAL" clId="{913D9BA2-2C72-4E6E-800D-1E542C3A95BD}" dt="2023-10-23T16:57:23.952" v="8" actId="478"/>
          <ac:spMkLst>
            <pc:docMk/>
            <pc:sldMk cId="577879661" sldId="589"/>
            <ac:spMk id="7" creationId="{00000000-0000-0000-0000-000000000000}"/>
          </ac:spMkLst>
        </pc:spChg>
        <pc:spChg chg="del">
          <ac:chgData name="Sahan Konur, Sahika" userId="739a6e03-9a4a-49c6-a350-571b31db94be" providerId="ADAL" clId="{913D9BA2-2C72-4E6E-800D-1E542C3A95BD}" dt="2023-10-23T16:57:19.651" v="7" actId="478"/>
          <ac:spMkLst>
            <pc:docMk/>
            <pc:sldMk cId="577879661" sldId="589"/>
            <ac:spMk id="9" creationId="{00000000-0000-0000-0000-000000000000}"/>
          </ac:spMkLst>
        </pc:spChg>
        <pc:spChg chg="del">
          <ac:chgData name="Sahan Konur, Sahika" userId="739a6e03-9a4a-49c6-a350-571b31db94be" providerId="ADAL" clId="{913D9BA2-2C72-4E6E-800D-1E542C3A95BD}" dt="2023-10-23T16:57:18.222" v="6" actId="478"/>
          <ac:spMkLst>
            <pc:docMk/>
            <pc:sldMk cId="577879661" sldId="589"/>
            <ac:spMk id="10" creationId="{00000000-0000-0000-0000-000000000000}"/>
          </ac:spMkLst>
        </pc:spChg>
        <pc:picChg chg="del">
          <ac:chgData name="Sahan Konur, Sahika" userId="739a6e03-9a4a-49c6-a350-571b31db94be" providerId="ADAL" clId="{913D9BA2-2C72-4E6E-800D-1E542C3A95BD}" dt="2023-10-23T16:57:14.720" v="5" actId="478"/>
          <ac:picMkLst>
            <pc:docMk/>
            <pc:sldMk cId="577879661" sldId="589"/>
            <ac:picMk id="8" creationId="{00000000-0000-0000-0000-000000000000}"/>
          </ac:picMkLst>
        </pc:picChg>
      </pc:sldChg>
      <pc:sldChg chg="modSp mod">
        <pc:chgData name="Sahan Konur, Sahika" userId="739a6e03-9a4a-49c6-a350-571b31db94be" providerId="ADAL" clId="{913D9BA2-2C72-4E6E-800D-1E542C3A95BD}" dt="2023-10-23T16:48:33.123" v="3" actId="27636"/>
        <pc:sldMkLst>
          <pc:docMk/>
          <pc:sldMk cId="716185342" sldId="653"/>
        </pc:sldMkLst>
        <pc:spChg chg="mod">
          <ac:chgData name="Sahan Konur, Sahika" userId="739a6e03-9a4a-49c6-a350-571b31db94be" providerId="ADAL" clId="{913D9BA2-2C72-4E6E-800D-1E542C3A95BD}" dt="2023-10-23T16:48:33.123" v="3" actId="27636"/>
          <ac:spMkLst>
            <pc:docMk/>
            <pc:sldMk cId="716185342" sldId="653"/>
            <ac:spMk id="3" creationId="{00000000-0000-0000-0000-000000000000}"/>
          </ac:spMkLst>
        </pc:spChg>
      </pc:sldChg>
      <pc:sldChg chg="modAnim">
        <pc:chgData name="Sahan Konur, Sahika" userId="739a6e03-9a4a-49c6-a350-571b31db94be" providerId="ADAL" clId="{913D9BA2-2C72-4E6E-800D-1E542C3A95BD}" dt="2023-10-23T16:42:10.084" v="1"/>
        <pc:sldMkLst>
          <pc:docMk/>
          <pc:sldMk cId="2909352044" sldId="68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68A81C-13E0-402A-9BD9-36F3DFFB46F8}" type="datetimeFigureOut">
              <a:rPr lang="en-US" smtClean="0"/>
              <a:t>10/27/24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376B9-9838-4376-9895-3384D05A8DF5}" type="slidenum">
              <a:rPr lang="en-US" smtClean="0"/>
              <a:t>‹#›</a:t>
            </a:fld>
            <a:endParaRPr lang="en-US"/>
          </a:p>
        </p:txBody>
      </p:sp>
    </p:spTree>
    <p:extLst>
      <p:ext uri="{BB962C8B-B14F-4D97-AF65-F5344CB8AC3E}">
        <p14:creationId xmlns:p14="http://schemas.microsoft.com/office/powerpoint/2010/main" val="399736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1</a:t>
            </a:fld>
            <a:endParaRPr lang="en-US"/>
          </a:p>
        </p:txBody>
      </p:sp>
    </p:spTree>
    <p:extLst>
      <p:ext uri="{BB962C8B-B14F-4D97-AF65-F5344CB8AC3E}">
        <p14:creationId xmlns:p14="http://schemas.microsoft.com/office/powerpoint/2010/main" val="539759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4</a:t>
            </a:fld>
            <a:endParaRPr lang="en-US"/>
          </a:p>
        </p:txBody>
      </p:sp>
    </p:spTree>
    <p:extLst>
      <p:ext uri="{BB962C8B-B14F-4D97-AF65-F5344CB8AC3E}">
        <p14:creationId xmlns:p14="http://schemas.microsoft.com/office/powerpoint/2010/main" val="4122850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a:t>
            </a:fld>
            <a:endParaRPr lang="en-US"/>
          </a:p>
        </p:txBody>
      </p:sp>
    </p:spTree>
    <p:extLst>
      <p:ext uri="{BB962C8B-B14F-4D97-AF65-F5344CB8AC3E}">
        <p14:creationId xmlns:p14="http://schemas.microsoft.com/office/powerpoint/2010/main" val="1275884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6</a:t>
            </a:fld>
            <a:endParaRPr lang="en-US"/>
          </a:p>
        </p:txBody>
      </p:sp>
    </p:spTree>
    <p:extLst>
      <p:ext uri="{BB962C8B-B14F-4D97-AF65-F5344CB8AC3E}">
        <p14:creationId xmlns:p14="http://schemas.microsoft.com/office/powerpoint/2010/main" val="1245530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7</a:t>
            </a:fld>
            <a:endParaRPr lang="en-US"/>
          </a:p>
        </p:txBody>
      </p:sp>
    </p:spTree>
    <p:extLst>
      <p:ext uri="{BB962C8B-B14F-4D97-AF65-F5344CB8AC3E}">
        <p14:creationId xmlns:p14="http://schemas.microsoft.com/office/powerpoint/2010/main" val="3464169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8</a:t>
            </a:fld>
            <a:endParaRPr lang="en-US"/>
          </a:p>
        </p:txBody>
      </p:sp>
    </p:spTree>
    <p:extLst>
      <p:ext uri="{BB962C8B-B14F-4D97-AF65-F5344CB8AC3E}">
        <p14:creationId xmlns:p14="http://schemas.microsoft.com/office/powerpoint/2010/main" val="25055025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9</a:t>
            </a:fld>
            <a:endParaRPr lang="en-US"/>
          </a:p>
        </p:txBody>
      </p:sp>
    </p:spTree>
    <p:extLst>
      <p:ext uri="{BB962C8B-B14F-4D97-AF65-F5344CB8AC3E}">
        <p14:creationId xmlns:p14="http://schemas.microsoft.com/office/powerpoint/2010/main" val="1786323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10</a:t>
            </a:fld>
            <a:endParaRPr lang="en-US"/>
          </a:p>
        </p:txBody>
      </p:sp>
    </p:spTree>
    <p:extLst>
      <p:ext uri="{BB962C8B-B14F-4D97-AF65-F5344CB8AC3E}">
        <p14:creationId xmlns:p14="http://schemas.microsoft.com/office/powerpoint/2010/main" val="2537484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11</a:t>
            </a:fld>
            <a:endParaRPr lang="en-US"/>
          </a:p>
        </p:txBody>
      </p:sp>
    </p:spTree>
    <p:extLst>
      <p:ext uri="{BB962C8B-B14F-4D97-AF65-F5344CB8AC3E}">
        <p14:creationId xmlns:p14="http://schemas.microsoft.com/office/powerpoint/2010/main" val="1327071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12</a:t>
            </a:fld>
            <a:endParaRPr lang="en-US"/>
          </a:p>
        </p:txBody>
      </p:sp>
    </p:spTree>
    <p:extLst>
      <p:ext uri="{BB962C8B-B14F-4D97-AF65-F5344CB8AC3E}">
        <p14:creationId xmlns:p14="http://schemas.microsoft.com/office/powerpoint/2010/main" val="17438873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13</a:t>
            </a:fld>
            <a:endParaRPr lang="en-US"/>
          </a:p>
        </p:txBody>
      </p:sp>
    </p:spTree>
    <p:extLst>
      <p:ext uri="{BB962C8B-B14F-4D97-AF65-F5344CB8AC3E}">
        <p14:creationId xmlns:p14="http://schemas.microsoft.com/office/powerpoint/2010/main" val="13618391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15</a:t>
            </a:fld>
            <a:endParaRPr lang="en-US"/>
          </a:p>
        </p:txBody>
      </p:sp>
    </p:spTree>
    <p:extLst>
      <p:ext uri="{BB962C8B-B14F-4D97-AF65-F5344CB8AC3E}">
        <p14:creationId xmlns:p14="http://schemas.microsoft.com/office/powerpoint/2010/main" val="902924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16</a:t>
            </a:fld>
            <a:endParaRPr lang="en-US"/>
          </a:p>
        </p:txBody>
      </p:sp>
    </p:spTree>
    <p:extLst>
      <p:ext uri="{BB962C8B-B14F-4D97-AF65-F5344CB8AC3E}">
        <p14:creationId xmlns:p14="http://schemas.microsoft.com/office/powerpoint/2010/main" val="3565553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17</a:t>
            </a:fld>
            <a:endParaRPr lang="en-US"/>
          </a:p>
        </p:txBody>
      </p:sp>
    </p:spTree>
    <p:extLst>
      <p:ext uri="{BB962C8B-B14F-4D97-AF65-F5344CB8AC3E}">
        <p14:creationId xmlns:p14="http://schemas.microsoft.com/office/powerpoint/2010/main" val="7316751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18</a:t>
            </a:fld>
            <a:endParaRPr lang="en-US"/>
          </a:p>
        </p:txBody>
      </p:sp>
    </p:spTree>
    <p:extLst>
      <p:ext uri="{BB962C8B-B14F-4D97-AF65-F5344CB8AC3E}">
        <p14:creationId xmlns:p14="http://schemas.microsoft.com/office/powerpoint/2010/main" val="6381956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19</a:t>
            </a:fld>
            <a:endParaRPr lang="en-US"/>
          </a:p>
        </p:txBody>
      </p:sp>
    </p:spTree>
    <p:extLst>
      <p:ext uri="{BB962C8B-B14F-4D97-AF65-F5344CB8AC3E}">
        <p14:creationId xmlns:p14="http://schemas.microsoft.com/office/powerpoint/2010/main" val="3591938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20</a:t>
            </a:fld>
            <a:endParaRPr lang="en-US"/>
          </a:p>
        </p:txBody>
      </p:sp>
    </p:spTree>
    <p:extLst>
      <p:ext uri="{BB962C8B-B14F-4D97-AF65-F5344CB8AC3E}">
        <p14:creationId xmlns:p14="http://schemas.microsoft.com/office/powerpoint/2010/main" val="33331840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21</a:t>
            </a:fld>
            <a:endParaRPr lang="en-US"/>
          </a:p>
        </p:txBody>
      </p:sp>
    </p:spTree>
    <p:extLst>
      <p:ext uri="{BB962C8B-B14F-4D97-AF65-F5344CB8AC3E}">
        <p14:creationId xmlns:p14="http://schemas.microsoft.com/office/powerpoint/2010/main" val="41761628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22</a:t>
            </a:fld>
            <a:endParaRPr lang="en-US"/>
          </a:p>
        </p:txBody>
      </p:sp>
    </p:spTree>
    <p:extLst>
      <p:ext uri="{BB962C8B-B14F-4D97-AF65-F5344CB8AC3E}">
        <p14:creationId xmlns:p14="http://schemas.microsoft.com/office/powerpoint/2010/main" val="20287195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24</a:t>
            </a:fld>
            <a:endParaRPr lang="en-US"/>
          </a:p>
        </p:txBody>
      </p:sp>
    </p:spTree>
    <p:extLst>
      <p:ext uri="{BB962C8B-B14F-4D97-AF65-F5344CB8AC3E}">
        <p14:creationId xmlns:p14="http://schemas.microsoft.com/office/powerpoint/2010/main" val="33715433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25</a:t>
            </a:fld>
            <a:endParaRPr lang="en-US"/>
          </a:p>
        </p:txBody>
      </p:sp>
    </p:spTree>
    <p:extLst>
      <p:ext uri="{BB962C8B-B14F-4D97-AF65-F5344CB8AC3E}">
        <p14:creationId xmlns:p14="http://schemas.microsoft.com/office/powerpoint/2010/main" val="1893175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26</a:t>
            </a:fld>
            <a:endParaRPr lang="en-US"/>
          </a:p>
        </p:txBody>
      </p:sp>
    </p:spTree>
    <p:extLst>
      <p:ext uri="{BB962C8B-B14F-4D97-AF65-F5344CB8AC3E}">
        <p14:creationId xmlns:p14="http://schemas.microsoft.com/office/powerpoint/2010/main" val="9047051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27</a:t>
            </a:fld>
            <a:endParaRPr lang="en-US"/>
          </a:p>
        </p:txBody>
      </p:sp>
    </p:spTree>
    <p:extLst>
      <p:ext uri="{BB962C8B-B14F-4D97-AF65-F5344CB8AC3E}">
        <p14:creationId xmlns:p14="http://schemas.microsoft.com/office/powerpoint/2010/main" val="16553870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29</a:t>
            </a:fld>
            <a:endParaRPr lang="en-US"/>
          </a:p>
        </p:txBody>
      </p:sp>
    </p:spTree>
    <p:extLst>
      <p:ext uri="{BB962C8B-B14F-4D97-AF65-F5344CB8AC3E}">
        <p14:creationId xmlns:p14="http://schemas.microsoft.com/office/powerpoint/2010/main" val="15272640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30</a:t>
            </a:fld>
            <a:endParaRPr lang="en-US"/>
          </a:p>
        </p:txBody>
      </p:sp>
    </p:spTree>
    <p:extLst>
      <p:ext uri="{BB962C8B-B14F-4D97-AF65-F5344CB8AC3E}">
        <p14:creationId xmlns:p14="http://schemas.microsoft.com/office/powerpoint/2010/main" val="24922154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31</a:t>
            </a:fld>
            <a:endParaRPr lang="en-US"/>
          </a:p>
        </p:txBody>
      </p:sp>
    </p:spTree>
    <p:extLst>
      <p:ext uri="{BB962C8B-B14F-4D97-AF65-F5344CB8AC3E}">
        <p14:creationId xmlns:p14="http://schemas.microsoft.com/office/powerpoint/2010/main" val="17321046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32</a:t>
            </a:fld>
            <a:endParaRPr lang="en-US"/>
          </a:p>
        </p:txBody>
      </p:sp>
    </p:spTree>
    <p:extLst>
      <p:ext uri="{BB962C8B-B14F-4D97-AF65-F5344CB8AC3E}">
        <p14:creationId xmlns:p14="http://schemas.microsoft.com/office/powerpoint/2010/main" val="30927526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36</a:t>
            </a:fld>
            <a:endParaRPr lang="en-US"/>
          </a:p>
        </p:txBody>
      </p:sp>
    </p:spTree>
    <p:extLst>
      <p:ext uri="{BB962C8B-B14F-4D97-AF65-F5344CB8AC3E}">
        <p14:creationId xmlns:p14="http://schemas.microsoft.com/office/powerpoint/2010/main" val="38468502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51</a:t>
            </a:fld>
            <a:endParaRPr lang="en-US"/>
          </a:p>
        </p:txBody>
      </p:sp>
    </p:spTree>
    <p:extLst>
      <p:ext uri="{BB962C8B-B14F-4D97-AF65-F5344CB8AC3E}">
        <p14:creationId xmlns:p14="http://schemas.microsoft.com/office/powerpoint/2010/main" val="33715433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52</a:t>
            </a:fld>
            <a:endParaRPr lang="en-US"/>
          </a:p>
        </p:txBody>
      </p:sp>
    </p:spTree>
    <p:extLst>
      <p:ext uri="{BB962C8B-B14F-4D97-AF65-F5344CB8AC3E}">
        <p14:creationId xmlns:p14="http://schemas.microsoft.com/office/powerpoint/2010/main" val="5416567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53</a:t>
            </a:fld>
            <a:endParaRPr lang="en-US"/>
          </a:p>
        </p:txBody>
      </p:sp>
    </p:spTree>
    <p:extLst>
      <p:ext uri="{BB962C8B-B14F-4D97-AF65-F5344CB8AC3E}">
        <p14:creationId xmlns:p14="http://schemas.microsoft.com/office/powerpoint/2010/main" val="40478511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54</a:t>
            </a:fld>
            <a:endParaRPr lang="en-US"/>
          </a:p>
        </p:txBody>
      </p:sp>
    </p:spTree>
    <p:extLst>
      <p:ext uri="{BB962C8B-B14F-4D97-AF65-F5344CB8AC3E}">
        <p14:creationId xmlns:p14="http://schemas.microsoft.com/office/powerpoint/2010/main" val="2046742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55</a:t>
            </a:fld>
            <a:endParaRPr lang="en-US"/>
          </a:p>
        </p:txBody>
      </p:sp>
    </p:spTree>
    <p:extLst>
      <p:ext uri="{BB962C8B-B14F-4D97-AF65-F5344CB8AC3E}">
        <p14:creationId xmlns:p14="http://schemas.microsoft.com/office/powerpoint/2010/main" val="15825819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56</a:t>
            </a:fld>
            <a:endParaRPr lang="en-US"/>
          </a:p>
        </p:txBody>
      </p:sp>
    </p:spTree>
    <p:extLst>
      <p:ext uri="{BB962C8B-B14F-4D97-AF65-F5344CB8AC3E}">
        <p14:creationId xmlns:p14="http://schemas.microsoft.com/office/powerpoint/2010/main" val="12643536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376B9-9838-4376-9895-3384D05A8DF5}" type="slidenum">
              <a:rPr lang="en-US" smtClean="0"/>
              <a:t>57</a:t>
            </a:fld>
            <a:endParaRPr lang="en-US"/>
          </a:p>
        </p:txBody>
      </p:sp>
    </p:spTree>
    <p:extLst>
      <p:ext uri="{BB962C8B-B14F-4D97-AF65-F5344CB8AC3E}">
        <p14:creationId xmlns:p14="http://schemas.microsoft.com/office/powerpoint/2010/main" val="405577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02B1CA3-1C08-4ED8-A12C-6788D6280A15}" type="datetime1">
              <a:rPr lang="en-US" smtClean="0"/>
              <a:t>10/27/24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132637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002" y="365125"/>
            <a:ext cx="11478410" cy="839731"/>
          </a:xfrm>
        </p:spPr>
        <p:txBody>
          <a:bodyPr/>
          <a:lstStyle/>
          <a:p>
            <a:r>
              <a:rPr lang="en-US"/>
              <a:t>Click to edit Master title style</a:t>
            </a:r>
          </a:p>
        </p:txBody>
      </p:sp>
      <p:sp>
        <p:nvSpPr>
          <p:cNvPr id="3" name="Content Placeholder 2"/>
          <p:cNvSpPr>
            <a:spLocks noGrp="1"/>
          </p:cNvSpPr>
          <p:nvPr>
            <p:ph idx="1"/>
          </p:nvPr>
        </p:nvSpPr>
        <p:spPr>
          <a:xfrm>
            <a:off x="355002" y="1312433"/>
            <a:ext cx="11478410" cy="48645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002" y="6356350"/>
            <a:ext cx="3226398" cy="365125"/>
          </a:xfrm>
        </p:spPr>
        <p:txBody>
          <a:bodyPr/>
          <a:lstStyle/>
          <a:p>
            <a:fld id="{C582EA13-2FAD-481E-9203-0F3A56618FA1}" type="datetime1">
              <a:rPr lang="en-US" smtClean="0"/>
              <a:t>10/27/24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3222812" cy="365125"/>
          </a:xfrm>
        </p:spPr>
        <p:txBody>
          <a:bodyPr/>
          <a:lstStyle/>
          <a:p>
            <a:fld id="{1F4BF737-9C2B-4B9F-9835-28D7237AA9BE}" type="slidenum">
              <a:rPr lang="en-US" smtClean="0"/>
              <a:t>‹#›</a:t>
            </a:fld>
            <a:endParaRPr lang="en-US"/>
          </a:p>
        </p:txBody>
      </p:sp>
      <p:cxnSp>
        <p:nvCxnSpPr>
          <p:cNvPr id="8" name="Straight Connector 7"/>
          <p:cNvCxnSpPr/>
          <p:nvPr userDrawn="1"/>
        </p:nvCxnSpPr>
        <p:spPr>
          <a:xfrm>
            <a:off x="355002" y="1193795"/>
            <a:ext cx="1147841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795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1F818A-CFF1-4D5A-B78B-0F7AE2264FBF}" type="datetime1">
              <a:rPr lang="en-US" smtClean="0"/>
              <a:t>10/27/24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54182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2ABE02C-2198-461C-804D-A27E6144A513}" type="datetime1">
              <a:rPr lang="en-US" smtClean="0"/>
              <a:t>10/27/24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12344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998554A-7275-4AC1-AEF2-DDABDD890828}" type="datetime1">
              <a:rPr lang="en-US" smtClean="0"/>
              <a:t>10/27/24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45901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2C1EA94-0656-48C2-8A99-94CEB6FB31F9}" type="datetime1">
              <a:rPr lang="en-US" smtClean="0"/>
              <a:t>10/27/24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37032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67FBC3-7BA4-4B84-91F2-4F156B3A8163}" type="datetime1">
              <a:rPr lang="en-US" smtClean="0"/>
              <a:t>10/27/24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61555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1DC03DE-90B0-4EF5-8C3B-8487FAE27198}" type="datetime1">
              <a:rPr lang="en-US" smtClean="0"/>
              <a:t>10/27/24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267901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2219C5-57E1-45F1-86B0-B5E1593A0F9A}" type="datetime1">
              <a:rPr lang="en-US" smtClean="0"/>
              <a:t>10/27/24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607142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F3800A-2B68-4448-80DE-25918F4222A0}" type="datetime1">
              <a:rPr lang="en-US" smtClean="0"/>
              <a:t>10/27/24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493167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456947-768B-48FE-9282-D4C8406DFF4A}" type="datetime1">
              <a:rPr lang="en-US" smtClean="0"/>
              <a:t>10/27/24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728688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4" name="Freeform 10"/>
          <p:cNvSpPr>
            <a:spLocks noChangeArrowheads="1"/>
          </p:cNvSpPr>
          <p:nvPr userDrawn="1"/>
        </p:nvSpPr>
        <p:spPr bwMode="auto">
          <a:xfrm>
            <a:off x="1198633" y="2263760"/>
            <a:ext cx="105664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rgbClr val="5F5F5F"/>
            </a:solidFill>
            <a:prstDash val="solid"/>
            <a:miter lim="800000"/>
            <a:headEnd/>
            <a:tailEnd/>
          </a:ln>
        </p:spPr>
        <p:txBody>
          <a:bodyPr/>
          <a:lstStyle/>
          <a:p>
            <a:pPr>
              <a:defRPr/>
            </a:pPr>
            <a:endParaRPr lang="en-US"/>
          </a:p>
        </p:txBody>
      </p:sp>
      <p:sp>
        <p:nvSpPr>
          <p:cNvPr id="123919" name="Rectangle 15"/>
          <p:cNvSpPr>
            <a:spLocks noGrp="1" noChangeArrowheads="1"/>
          </p:cNvSpPr>
          <p:nvPr>
            <p:ph type="subTitle" idx="1"/>
          </p:nvPr>
        </p:nvSpPr>
        <p:spPr>
          <a:xfrm>
            <a:off x="1326339" y="3424015"/>
            <a:ext cx="8737600" cy="1752600"/>
          </a:xfrm>
        </p:spPr>
        <p:txBody>
          <a:bodyPr/>
          <a:lstStyle>
            <a:lvl1pPr>
              <a:buFont typeface="Wingdings" pitchFamily="2" charset="2"/>
              <a:buChar char="Ø"/>
              <a:defRPr sz="2400"/>
            </a:lvl1pPr>
          </a:lstStyle>
          <a:p>
            <a:r>
              <a:rPr lang="en-US" altLang="en-US" dirty="0"/>
              <a:t>Click to edit Master subtitle style</a:t>
            </a: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9730" y="94406"/>
            <a:ext cx="5085893" cy="572163"/>
          </a:xfrm>
          <a:prstGeom prst="rect">
            <a:avLst/>
          </a:prstGeom>
        </p:spPr>
      </p:pic>
      <p:sp>
        <p:nvSpPr>
          <p:cNvPr id="3" name="Title 2"/>
          <p:cNvSpPr>
            <a:spLocks noGrp="1"/>
          </p:cNvSpPr>
          <p:nvPr>
            <p:ph type="title"/>
          </p:nvPr>
        </p:nvSpPr>
        <p:spPr>
          <a:xfrm>
            <a:off x="1343729" y="2357148"/>
            <a:ext cx="10090711" cy="708025"/>
          </a:xfrm>
        </p:spPr>
        <p:txBody>
          <a:bodyPr/>
          <a:lstStyle>
            <a:lvl1pPr>
              <a:defRPr sz="4000"/>
            </a:lvl1pPr>
          </a:lstStyle>
          <a:p>
            <a:r>
              <a:rPr lang="en-US" dirty="0"/>
              <a:t>Click to edit Master title style</a:t>
            </a:r>
          </a:p>
        </p:txBody>
      </p:sp>
    </p:spTree>
    <p:extLst>
      <p:ext uri="{BB962C8B-B14F-4D97-AF65-F5344CB8AC3E}">
        <p14:creationId xmlns:p14="http://schemas.microsoft.com/office/powerpoint/2010/main" val="121675986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p:cNvSpPr>
            <a:spLocks noGrp="1"/>
          </p:cNvSpPr>
          <p:nvPr>
            <p:ph type="title"/>
          </p:nvPr>
        </p:nvSpPr>
        <p:spPr>
          <a:xfrm>
            <a:off x="491227" y="4342"/>
            <a:ext cx="10972800" cy="708025"/>
          </a:xfrm>
        </p:spPr>
        <p:txBody>
          <a:bodyPr/>
          <a:lstStyle>
            <a:lvl1pPr>
              <a:defRPr sz="4000">
                <a:latin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a:xfrm>
            <a:off x="522092" y="814960"/>
            <a:ext cx="10972800" cy="5267325"/>
          </a:xfrm>
        </p:spPr>
        <p:txBody>
          <a:bodyPr/>
          <a:lstStyle>
            <a:lvl1pPr>
              <a:defRPr sz="2600"/>
            </a:lvl1pPr>
            <a:lvl2pPr>
              <a:defRPr sz="24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3524942"/>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ot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lumMod val="75000"/>
                  </a:schemeClr>
                </a:solidFill>
              </a:defRPr>
            </a:lvl1pPr>
          </a:lstStyle>
          <a:p>
            <a:r>
              <a:rPr lang="en-US" dirty="0"/>
              <a:t>Notes</a:t>
            </a:r>
          </a:p>
        </p:txBody>
      </p:sp>
    </p:spTree>
    <p:extLst>
      <p:ext uri="{BB962C8B-B14F-4D97-AF65-F5344CB8AC3E}">
        <p14:creationId xmlns:p14="http://schemas.microsoft.com/office/powerpoint/2010/main" val="163228530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ppendix">
    <p:spTree>
      <p:nvGrpSpPr>
        <p:cNvPr id="1" name=""/>
        <p:cNvGrpSpPr/>
        <p:nvPr/>
      </p:nvGrpSpPr>
      <p:grpSpPr>
        <a:xfrm>
          <a:off x="0" y="0"/>
          <a:ext cx="0" cy="0"/>
          <a:chOff x="0" y="0"/>
          <a:chExt cx="0" cy="0"/>
        </a:xfrm>
      </p:grpSpPr>
      <p:sp>
        <p:nvSpPr>
          <p:cNvPr id="4" name="Freeform 10"/>
          <p:cNvSpPr>
            <a:spLocks noChangeArrowheads="1"/>
          </p:cNvSpPr>
          <p:nvPr userDrawn="1"/>
        </p:nvSpPr>
        <p:spPr bwMode="auto">
          <a:xfrm>
            <a:off x="1198633" y="2263760"/>
            <a:ext cx="105664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rgbClr val="5F5F5F"/>
            </a:solidFill>
            <a:prstDash val="solid"/>
            <a:miter lim="800000"/>
            <a:headEnd/>
            <a:tailEnd/>
          </a:ln>
        </p:spPr>
        <p:txBody>
          <a:bodyPr/>
          <a:lstStyle/>
          <a:p>
            <a:pPr>
              <a:defRPr/>
            </a:pPr>
            <a:endParaRPr lang="en-US"/>
          </a:p>
        </p:txBody>
      </p:sp>
      <p:sp>
        <p:nvSpPr>
          <p:cNvPr id="6" name="TextBox 5"/>
          <p:cNvSpPr txBox="1"/>
          <p:nvPr userDrawn="1"/>
        </p:nvSpPr>
        <p:spPr>
          <a:xfrm>
            <a:off x="1396735" y="2405833"/>
            <a:ext cx="2218877" cy="707886"/>
          </a:xfrm>
          <a:prstGeom prst="rect">
            <a:avLst/>
          </a:prstGeom>
          <a:noFill/>
        </p:spPr>
        <p:txBody>
          <a:bodyPr wrap="none" rtlCol="0">
            <a:spAutoFit/>
          </a:bodyPr>
          <a:lstStyle/>
          <a:p>
            <a:r>
              <a:rPr lang="en-US" sz="4000" b="1" dirty="0">
                <a:solidFill>
                  <a:schemeClr val="bg1">
                    <a:lumMod val="75000"/>
                  </a:schemeClr>
                </a:solidFill>
                <a:latin typeface="Calibri" pitchFamily="34" charset="0"/>
                <a:cs typeface="Calibri" pitchFamily="34" charset="0"/>
              </a:rPr>
              <a:t>Appendix</a:t>
            </a:r>
          </a:p>
        </p:txBody>
      </p:sp>
    </p:spTree>
    <p:extLst>
      <p:ext uri="{BB962C8B-B14F-4D97-AF65-F5344CB8AC3E}">
        <p14:creationId xmlns:p14="http://schemas.microsoft.com/office/powerpoint/2010/main" val="2532298120"/>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parator">
    <p:spTree>
      <p:nvGrpSpPr>
        <p:cNvPr id="1" name=""/>
        <p:cNvGrpSpPr/>
        <p:nvPr/>
      </p:nvGrpSpPr>
      <p:grpSpPr>
        <a:xfrm>
          <a:off x="0" y="0"/>
          <a:ext cx="0" cy="0"/>
          <a:chOff x="0" y="0"/>
          <a:chExt cx="0" cy="0"/>
        </a:xfrm>
      </p:grpSpPr>
      <p:sp>
        <p:nvSpPr>
          <p:cNvPr id="4" name="Freeform 10"/>
          <p:cNvSpPr>
            <a:spLocks noChangeArrowheads="1"/>
          </p:cNvSpPr>
          <p:nvPr userDrawn="1"/>
        </p:nvSpPr>
        <p:spPr bwMode="auto">
          <a:xfrm>
            <a:off x="1198633" y="2263760"/>
            <a:ext cx="105664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rgbClr val="5F5F5F"/>
            </a:solidFill>
            <a:prstDash val="solid"/>
            <a:miter lim="800000"/>
            <a:headEnd/>
            <a:tailEnd/>
          </a:ln>
        </p:spPr>
        <p:txBody>
          <a:bodyPr/>
          <a:lstStyle/>
          <a:p>
            <a:pPr>
              <a:defRPr/>
            </a:pPr>
            <a:endParaRPr lang="en-US"/>
          </a:p>
        </p:txBody>
      </p:sp>
      <p:sp>
        <p:nvSpPr>
          <p:cNvPr id="5" name="Title 2"/>
          <p:cNvSpPr>
            <a:spLocks noGrp="1"/>
          </p:cNvSpPr>
          <p:nvPr>
            <p:ph type="title"/>
          </p:nvPr>
        </p:nvSpPr>
        <p:spPr>
          <a:xfrm>
            <a:off x="1343729" y="2357148"/>
            <a:ext cx="10090711" cy="708025"/>
          </a:xfrm>
        </p:spPr>
        <p:txBody>
          <a:bodyPr/>
          <a:lstStyle>
            <a:lvl1pPr>
              <a:defRPr sz="4000" b="0"/>
            </a:lvl1pPr>
          </a:lstStyle>
          <a:p>
            <a:r>
              <a:rPr lang="en-US" dirty="0"/>
              <a:t>Click to edit Master title style</a:t>
            </a:r>
          </a:p>
        </p:txBody>
      </p:sp>
    </p:spTree>
    <p:extLst>
      <p:ext uri="{BB962C8B-B14F-4D97-AF65-F5344CB8AC3E}">
        <p14:creationId xmlns:p14="http://schemas.microsoft.com/office/powerpoint/2010/main" val="138471261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r>
              <a:rPr lang="en-US"/>
              <a:t>10/19/2015</a:t>
            </a:r>
          </a:p>
        </p:txBody>
      </p:sp>
      <p:sp>
        <p:nvSpPr>
          <p:cNvPr id="4" name="Rectangle 6"/>
          <p:cNvSpPr>
            <a:spLocks noGrp="1" noChangeArrowheads="1"/>
          </p:cNvSpPr>
          <p:nvPr>
            <p:ph type="sldNum" sz="quarter" idx="11"/>
          </p:nvPr>
        </p:nvSpPr>
        <p:spPr>
          <a:ln/>
        </p:spPr>
        <p:txBody>
          <a:bodyPr/>
          <a:lstStyle>
            <a:lvl1pPr>
              <a:defRPr/>
            </a:lvl1pPr>
          </a:lstStyle>
          <a:p>
            <a:endParaRPr lang="en-US"/>
          </a:p>
          <a:p>
            <a:fld id="{0BCA510D-D16B-D144-B8A1-97D684FD7108}" type="slidenum">
              <a:rPr lang="en-US"/>
              <a:pPr/>
              <a:t>‹#›</a:t>
            </a:fld>
            <a:endParaRPr lang="en-US"/>
          </a:p>
        </p:txBody>
      </p:sp>
      <p:sp>
        <p:nvSpPr>
          <p:cNvPr id="5" name="Footer Placeholder 4"/>
          <p:cNvSpPr>
            <a:spLocks noGrp="1"/>
          </p:cNvSpPr>
          <p:nvPr>
            <p:ph type="ftr" sz="quarter" idx="12"/>
          </p:nvPr>
        </p:nvSpPr>
        <p:spPr/>
        <p:txBody>
          <a:bodyPr/>
          <a:lstStyle>
            <a:lvl1pPr>
              <a:defRPr/>
            </a:lvl1pPr>
          </a:lstStyle>
          <a:p>
            <a:r>
              <a:rPr lang="en-US"/>
              <a:t>Professor Dong, Washington University in St. Louis, MO</a:t>
            </a:r>
          </a:p>
        </p:txBody>
      </p:sp>
    </p:spTree>
    <p:extLst>
      <p:ext uri="{BB962C8B-B14F-4D97-AF65-F5344CB8AC3E}">
        <p14:creationId xmlns:p14="http://schemas.microsoft.com/office/powerpoint/2010/main" val="1935337175"/>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06E6A2-45D0-4EE1-9C4A-F9227381DA3B}" type="datetime1">
              <a:rPr lang="en-US" smtClean="0"/>
              <a:t>10/27/24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BF737-9C2B-4B9F-9835-28D7237AA9BE}" type="slidenum">
              <a:rPr lang="en-US" smtClean="0"/>
              <a:t>‹#›</a:t>
            </a:fld>
            <a:endParaRPr lang="en-US"/>
          </a:p>
        </p:txBody>
      </p:sp>
    </p:spTree>
    <p:extLst>
      <p:ext uri="{BB962C8B-B14F-4D97-AF65-F5344CB8AC3E}">
        <p14:creationId xmlns:p14="http://schemas.microsoft.com/office/powerpoint/2010/main" val="3431302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4342"/>
            <a:ext cx="10972800" cy="7080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dirty="0"/>
              <a:t>Click to edit Master title style</a:t>
            </a:r>
          </a:p>
        </p:txBody>
      </p:sp>
      <p:sp>
        <p:nvSpPr>
          <p:cNvPr id="1027" name="Rectangle 3"/>
          <p:cNvSpPr>
            <a:spLocks noGrp="1" noChangeArrowheads="1"/>
          </p:cNvSpPr>
          <p:nvPr>
            <p:ph type="body" idx="1"/>
          </p:nvPr>
        </p:nvSpPr>
        <p:spPr bwMode="auto">
          <a:xfrm>
            <a:off x="620995" y="789115"/>
            <a:ext cx="10972800" cy="5267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22889" name="Rectangle 9"/>
          <p:cNvSpPr>
            <a:spLocks noChangeArrowheads="1"/>
          </p:cNvSpPr>
          <p:nvPr userDrawn="1"/>
        </p:nvSpPr>
        <p:spPr bwMode="auto">
          <a:xfrm>
            <a:off x="406400" y="241300"/>
            <a:ext cx="152400" cy="685800"/>
          </a:xfrm>
          <a:prstGeom prst="rect">
            <a:avLst/>
          </a:prstGeom>
          <a:solidFill>
            <a:schemeClr val="bg1"/>
          </a:solidFill>
          <a:ln w="9525">
            <a:solidFill>
              <a:schemeClr val="bg1"/>
            </a:solidFill>
            <a:miter lim="800000"/>
            <a:headEnd/>
            <a:tailEnd/>
          </a:ln>
          <a:effectLst/>
        </p:spPr>
        <p:txBody>
          <a:bodyPr wrap="none" anchor="ctr"/>
          <a:lstStyle/>
          <a:p>
            <a:pPr>
              <a:defRPr/>
            </a:pPr>
            <a:endParaRPr lang="en-US"/>
          </a:p>
        </p:txBody>
      </p:sp>
    </p:spTree>
    <p:extLst>
      <p:ext uri="{BB962C8B-B14F-4D97-AF65-F5344CB8AC3E}">
        <p14:creationId xmlns:p14="http://schemas.microsoft.com/office/powerpoint/2010/main" val="28649214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ransition/>
  <p:hf sldNum="0" hdr="0" ftr="0" dt="0"/>
  <p:txStyles>
    <p:titleStyle>
      <a:lvl1pPr algn="l" rtl="0" eaLnBrk="0" fontAlgn="base" hangingPunct="0">
        <a:spcBef>
          <a:spcPct val="0"/>
        </a:spcBef>
        <a:spcAft>
          <a:spcPct val="0"/>
        </a:spcAft>
        <a:defRPr sz="4000" b="1">
          <a:solidFill>
            <a:srgbClr val="000099"/>
          </a:solidFill>
          <a:latin typeface="Calibri" pitchFamily="34" charset="0"/>
          <a:ea typeface="+mj-ea"/>
          <a:cs typeface="Calibri" pitchFamily="34" charset="0"/>
        </a:defRPr>
      </a:lvl1pPr>
      <a:lvl2pPr algn="l" rtl="0" eaLnBrk="0" fontAlgn="base" hangingPunct="0">
        <a:spcBef>
          <a:spcPct val="0"/>
        </a:spcBef>
        <a:spcAft>
          <a:spcPct val="0"/>
        </a:spcAft>
        <a:defRPr sz="4200">
          <a:solidFill>
            <a:srgbClr val="000099"/>
          </a:solidFill>
          <a:latin typeface="Garamond" pitchFamily="18" charset="0"/>
          <a:cs typeface="Arial" charset="0"/>
        </a:defRPr>
      </a:lvl2pPr>
      <a:lvl3pPr algn="l" rtl="0" eaLnBrk="0" fontAlgn="base" hangingPunct="0">
        <a:spcBef>
          <a:spcPct val="0"/>
        </a:spcBef>
        <a:spcAft>
          <a:spcPct val="0"/>
        </a:spcAft>
        <a:defRPr sz="4200">
          <a:solidFill>
            <a:srgbClr val="000099"/>
          </a:solidFill>
          <a:latin typeface="Garamond" pitchFamily="18" charset="0"/>
          <a:cs typeface="Arial" charset="0"/>
        </a:defRPr>
      </a:lvl3pPr>
      <a:lvl4pPr algn="l" rtl="0" eaLnBrk="0" fontAlgn="base" hangingPunct="0">
        <a:spcBef>
          <a:spcPct val="0"/>
        </a:spcBef>
        <a:spcAft>
          <a:spcPct val="0"/>
        </a:spcAft>
        <a:defRPr sz="4200">
          <a:solidFill>
            <a:srgbClr val="000099"/>
          </a:solidFill>
          <a:latin typeface="Garamond" pitchFamily="18" charset="0"/>
          <a:cs typeface="Arial" charset="0"/>
        </a:defRPr>
      </a:lvl4pPr>
      <a:lvl5pPr algn="l" rtl="0" eaLnBrk="0" fontAlgn="base" hangingPunct="0">
        <a:spcBef>
          <a:spcPct val="0"/>
        </a:spcBef>
        <a:spcAft>
          <a:spcPct val="0"/>
        </a:spcAft>
        <a:defRPr sz="4200">
          <a:solidFill>
            <a:srgbClr val="000099"/>
          </a:solidFill>
          <a:latin typeface="Garamond" pitchFamily="18" charset="0"/>
          <a:cs typeface="Arial" charset="0"/>
        </a:defRPr>
      </a:lvl5pPr>
      <a:lvl6pPr marL="457200" algn="l" rtl="0" fontAlgn="base">
        <a:spcBef>
          <a:spcPct val="0"/>
        </a:spcBef>
        <a:spcAft>
          <a:spcPct val="0"/>
        </a:spcAft>
        <a:defRPr sz="4200">
          <a:solidFill>
            <a:srgbClr val="000099"/>
          </a:solidFill>
          <a:latin typeface="Garamond" pitchFamily="18" charset="0"/>
          <a:cs typeface="Arial" charset="0"/>
        </a:defRPr>
      </a:lvl6pPr>
      <a:lvl7pPr marL="914400" algn="l" rtl="0" fontAlgn="base">
        <a:spcBef>
          <a:spcPct val="0"/>
        </a:spcBef>
        <a:spcAft>
          <a:spcPct val="0"/>
        </a:spcAft>
        <a:defRPr sz="4200">
          <a:solidFill>
            <a:srgbClr val="000099"/>
          </a:solidFill>
          <a:latin typeface="Garamond" pitchFamily="18" charset="0"/>
          <a:cs typeface="Arial" charset="0"/>
        </a:defRPr>
      </a:lvl7pPr>
      <a:lvl8pPr marL="1371600" algn="l" rtl="0" fontAlgn="base">
        <a:spcBef>
          <a:spcPct val="0"/>
        </a:spcBef>
        <a:spcAft>
          <a:spcPct val="0"/>
        </a:spcAft>
        <a:defRPr sz="4200">
          <a:solidFill>
            <a:srgbClr val="000099"/>
          </a:solidFill>
          <a:latin typeface="Garamond" pitchFamily="18" charset="0"/>
          <a:cs typeface="Arial" charset="0"/>
        </a:defRPr>
      </a:lvl8pPr>
      <a:lvl9pPr marL="1828800" algn="l" rtl="0" fontAlgn="base">
        <a:spcBef>
          <a:spcPct val="0"/>
        </a:spcBef>
        <a:spcAft>
          <a:spcPct val="0"/>
        </a:spcAft>
        <a:defRPr sz="4200">
          <a:solidFill>
            <a:srgbClr val="000099"/>
          </a:solidFill>
          <a:latin typeface="Garamond" pitchFamily="18" charset="0"/>
          <a:cs typeface="Arial" charset="0"/>
        </a:defRPr>
      </a:lvl9pPr>
    </p:titleStyle>
    <p:bodyStyle>
      <a:lvl1pPr marL="342900" indent="-342900" algn="l" rtl="0" eaLnBrk="0" fontAlgn="base" hangingPunct="0">
        <a:spcBef>
          <a:spcPct val="20000"/>
        </a:spcBef>
        <a:spcAft>
          <a:spcPct val="0"/>
        </a:spcAft>
        <a:buClr>
          <a:srgbClr val="5F5F5F"/>
        </a:buClr>
        <a:buSzPct val="65000"/>
        <a:buFont typeface="Wingdings" pitchFamily="2" charset="2"/>
        <a:buChar char="q"/>
        <a:defRPr sz="2600">
          <a:solidFill>
            <a:srgbClr val="000099"/>
          </a:solidFill>
          <a:latin typeface="Calibri" pitchFamily="34" charset="0"/>
          <a:ea typeface="+mn-ea"/>
          <a:cs typeface="Calibri" pitchFamily="34" charset="0"/>
        </a:defRPr>
      </a:lvl1pPr>
      <a:lvl2pPr marL="669925" indent="-325438" algn="l" rtl="0" eaLnBrk="0" fontAlgn="base" hangingPunct="0">
        <a:spcBef>
          <a:spcPct val="20000"/>
        </a:spcBef>
        <a:spcAft>
          <a:spcPct val="0"/>
        </a:spcAft>
        <a:buClr>
          <a:srgbClr val="5F5F5F"/>
        </a:buClr>
        <a:buSzPct val="75000"/>
        <a:buFont typeface="Wingdings" pitchFamily="2" charset="2"/>
        <a:buChar char="§"/>
        <a:defRPr sz="2400">
          <a:solidFill>
            <a:srgbClr val="000099"/>
          </a:solidFill>
          <a:latin typeface="Calibri" pitchFamily="34" charset="0"/>
          <a:cs typeface="Calibri" pitchFamily="34" charset="0"/>
        </a:defRPr>
      </a:lvl2pPr>
      <a:lvl3pPr marL="1022350" indent="-350838" algn="l" rtl="0" eaLnBrk="0" fontAlgn="base" hangingPunct="0">
        <a:spcBef>
          <a:spcPct val="20000"/>
        </a:spcBef>
        <a:spcAft>
          <a:spcPct val="0"/>
        </a:spcAft>
        <a:buClr>
          <a:srgbClr val="5F5F5F"/>
        </a:buClr>
        <a:buSzPct val="65000"/>
        <a:buFont typeface="Wingdings" pitchFamily="2" charset="2"/>
        <a:buChar char="q"/>
        <a:defRPr sz="2200">
          <a:solidFill>
            <a:srgbClr val="000099"/>
          </a:solidFill>
          <a:latin typeface="Calibri" pitchFamily="34" charset="0"/>
          <a:cs typeface="Calibri" pitchFamily="34" charset="0"/>
        </a:defRPr>
      </a:lvl3pPr>
      <a:lvl4pPr marL="1339850" indent="-315913" algn="l" rtl="0" eaLnBrk="0" fontAlgn="base" hangingPunct="0">
        <a:spcBef>
          <a:spcPct val="20000"/>
        </a:spcBef>
        <a:spcAft>
          <a:spcPct val="0"/>
        </a:spcAft>
        <a:buClr>
          <a:srgbClr val="5F5F5F"/>
        </a:buClr>
        <a:buSzPct val="65000"/>
        <a:buFont typeface="Wingdings" pitchFamily="2" charset="2"/>
        <a:buChar char="q"/>
        <a:defRPr sz="2000">
          <a:solidFill>
            <a:srgbClr val="000099"/>
          </a:solidFill>
          <a:latin typeface="Calibri" pitchFamily="34" charset="0"/>
          <a:cs typeface="Calibri" pitchFamily="34" charset="0"/>
        </a:defRPr>
      </a:lvl4pPr>
      <a:lvl5pPr marL="1681163" indent="-339725" algn="l" rtl="0" eaLnBrk="0" fontAlgn="base" hangingPunct="0">
        <a:spcBef>
          <a:spcPct val="20000"/>
        </a:spcBef>
        <a:spcAft>
          <a:spcPct val="0"/>
        </a:spcAft>
        <a:buClr>
          <a:srgbClr val="5F5F5F"/>
        </a:buClr>
        <a:buSzPct val="65000"/>
        <a:buFont typeface="Wingdings" pitchFamily="2" charset="2"/>
        <a:buChar char="§"/>
        <a:defRPr sz="2000">
          <a:solidFill>
            <a:srgbClr val="000099"/>
          </a:solidFill>
          <a:latin typeface="Calibri" pitchFamily="34" charset="0"/>
          <a:cs typeface="Calibri" pitchFamily="34" charset="0"/>
        </a:defRPr>
      </a:lvl5pPr>
      <a:lvl6pPr marL="2138363" indent="-339725" algn="l" rtl="0" fontAlgn="base">
        <a:spcBef>
          <a:spcPct val="20000"/>
        </a:spcBef>
        <a:spcAft>
          <a:spcPct val="0"/>
        </a:spcAft>
        <a:buClr>
          <a:srgbClr val="5F5F5F"/>
        </a:buClr>
        <a:buSzPct val="65000"/>
        <a:buFont typeface="Wingdings" pitchFamily="2" charset="2"/>
        <a:buChar char="§"/>
        <a:defRPr sz="2000">
          <a:solidFill>
            <a:schemeClr val="tx1"/>
          </a:solidFill>
          <a:latin typeface="+mn-lt"/>
          <a:cs typeface="+mn-cs"/>
        </a:defRPr>
      </a:lvl6pPr>
      <a:lvl7pPr marL="2595563" indent="-339725" algn="l" rtl="0" fontAlgn="base">
        <a:spcBef>
          <a:spcPct val="20000"/>
        </a:spcBef>
        <a:spcAft>
          <a:spcPct val="0"/>
        </a:spcAft>
        <a:buClr>
          <a:srgbClr val="5F5F5F"/>
        </a:buClr>
        <a:buSzPct val="65000"/>
        <a:buFont typeface="Wingdings" pitchFamily="2" charset="2"/>
        <a:buChar char="§"/>
        <a:defRPr sz="2000">
          <a:solidFill>
            <a:schemeClr val="tx1"/>
          </a:solidFill>
          <a:latin typeface="+mn-lt"/>
          <a:cs typeface="+mn-cs"/>
        </a:defRPr>
      </a:lvl7pPr>
      <a:lvl8pPr marL="3052763" indent="-339725" algn="l" rtl="0" fontAlgn="base">
        <a:spcBef>
          <a:spcPct val="20000"/>
        </a:spcBef>
        <a:spcAft>
          <a:spcPct val="0"/>
        </a:spcAft>
        <a:buClr>
          <a:srgbClr val="5F5F5F"/>
        </a:buClr>
        <a:buSzPct val="65000"/>
        <a:buFont typeface="Wingdings" pitchFamily="2" charset="2"/>
        <a:buChar char="§"/>
        <a:defRPr sz="2000">
          <a:solidFill>
            <a:schemeClr val="tx1"/>
          </a:solidFill>
          <a:latin typeface="+mn-lt"/>
          <a:cs typeface="+mn-cs"/>
        </a:defRPr>
      </a:lvl8pPr>
      <a:lvl9pPr marL="3509963" indent="-339725" algn="l" rtl="0" fontAlgn="base">
        <a:spcBef>
          <a:spcPct val="20000"/>
        </a:spcBef>
        <a:spcAft>
          <a:spcPct val="0"/>
        </a:spcAft>
        <a:buClr>
          <a:srgbClr val="5F5F5F"/>
        </a:buClr>
        <a:buSzPct val="65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6.w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682433"/>
            <a:ext cx="11487150" cy="2387600"/>
          </a:xfrm>
        </p:spPr>
        <p:txBody>
          <a:bodyPr>
            <a:normAutofit fontScale="90000"/>
          </a:bodyPr>
          <a:lstStyle/>
          <a:p>
            <a:br>
              <a:rPr lang="en-US" sz="5400" dirty="0"/>
            </a:br>
            <a:r>
              <a:rPr lang="en-US" sz="5400" dirty="0"/>
              <a:t>ANLY 5332</a:t>
            </a:r>
            <a:br>
              <a:rPr lang="en-US" sz="5400" dirty="0"/>
            </a:br>
            <a:br>
              <a:rPr lang="en-US" sz="3200" dirty="0"/>
            </a:br>
            <a:br>
              <a:rPr lang="en-US" sz="3200" dirty="0"/>
            </a:br>
            <a:r>
              <a:rPr lang="en-US" sz="2400" b="1" dirty="0">
                <a:solidFill>
                  <a:srgbClr val="C00000"/>
                </a:solidFill>
              </a:rPr>
              <a:t>Department of Information Systems and Analytics</a:t>
            </a:r>
            <a:br>
              <a:rPr lang="en-US" sz="2400" b="1" dirty="0">
                <a:solidFill>
                  <a:srgbClr val="C00000"/>
                </a:solidFill>
              </a:rPr>
            </a:br>
            <a:r>
              <a:rPr lang="en-US" sz="2400" b="1" dirty="0">
                <a:solidFill>
                  <a:srgbClr val="C00000"/>
                </a:solidFill>
              </a:rPr>
              <a:t>McCoy College of Business Administration</a:t>
            </a:r>
            <a:br>
              <a:rPr lang="en-US" sz="2400" b="1" dirty="0">
                <a:solidFill>
                  <a:srgbClr val="C00000"/>
                </a:solidFill>
              </a:rPr>
            </a:br>
            <a:r>
              <a:rPr lang="en-US" sz="2400" b="1" dirty="0">
                <a:solidFill>
                  <a:srgbClr val="C00000"/>
                </a:solidFill>
              </a:rPr>
              <a:t>Texas State University</a:t>
            </a:r>
            <a:endParaRPr lang="en-US" sz="4400" b="1" dirty="0">
              <a:solidFill>
                <a:srgbClr val="C00000"/>
              </a:solidFill>
            </a:endParaRPr>
          </a:p>
        </p:txBody>
      </p:sp>
      <p:sp>
        <p:nvSpPr>
          <p:cNvPr id="3" name="Subtitle 2"/>
          <p:cNvSpPr>
            <a:spLocks noGrp="1"/>
          </p:cNvSpPr>
          <p:nvPr>
            <p:ph type="subTitle" idx="1"/>
          </p:nvPr>
        </p:nvSpPr>
        <p:spPr/>
        <p:txBody>
          <a:bodyPr>
            <a:normAutofit lnSpcReduction="10000"/>
          </a:bodyPr>
          <a:lstStyle/>
          <a:p>
            <a:endParaRPr lang="en-US" dirty="0"/>
          </a:p>
          <a:p>
            <a:endParaRPr lang="en-US" dirty="0"/>
          </a:p>
          <a:p>
            <a:endParaRPr lang="en-US" dirty="0"/>
          </a:p>
          <a:p>
            <a:r>
              <a:rPr lang="en-US" dirty="0"/>
              <a:t>Integer Programming</a:t>
            </a:r>
          </a:p>
          <a:p>
            <a:endParaRPr lang="en-US" dirty="0"/>
          </a:p>
        </p:txBody>
      </p:sp>
    </p:spTree>
    <p:extLst>
      <p:ext uri="{BB962C8B-B14F-4D97-AF65-F5344CB8AC3E}">
        <p14:creationId xmlns:p14="http://schemas.microsoft.com/office/powerpoint/2010/main" val="877211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92500" lnSpcReduction="10000"/>
          </a:bodyPr>
          <a:lstStyle/>
          <a:p>
            <a:r>
              <a:rPr lang="en-US" dirty="0"/>
              <a:t>Integer/Binary Programming (Chapter 7.1)</a:t>
            </a:r>
          </a:p>
          <a:p>
            <a:r>
              <a:rPr lang="en-US" dirty="0"/>
              <a:t>Conditional Constraints Modeling (Chapter 7.2)</a:t>
            </a:r>
          </a:p>
          <a:p>
            <a:r>
              <a:rPr lang="en-US" dirty="0"/>
              <a:t>Mixed-Integer Programming (Chapter 7.5)</a:t>
            </a:r>
          </a:p>
          <a:p>
            <a:r>
              <a:rPr lang="en-US" dirty="0"/>
              <a:t>Solution Concepts</a:t>
            </a:r>
          </a:p>
          <a:p>
            <a:r>
              <a:rPr lang="en-US" dirty="0"/>
              <a:t>Extra Examples:</a:t>
            </a:r>
          </a:p>
          <a:p>
            <a:pPr lvl="1"/>
            <a:r>
              <a:rPr lang="en-US" dirty="0" err="1"/>
              <a:t>Wyndor</a:t>
            </a:r>
            <a:r>
              <a:rPr lang="en-US" dirty="0"/>
              <a:t> Problem with Setup Costs</a:t>
            </a:r>
          </a:p>
          <a:p>
            <a:pPr lvl="1"/>
            <a:r>
              <a:rPr lang="en-US" dirty="0"/>
              <a:t>Caliente City Problem </a:t>
            </a:r>
          </a:p>
          <a:p>
            <a:pPr lvl="1"/>
            <a:r>
              <a:rPr lang="en-US" dirty="0"/>
              <a:t>Southwestern Airways Problem </a:t>
            </a:r>
          </a:p>
          <a:p>
            <a:pPr lvl="1"/>
            <a:r>
              <a:rPr lang="en-US" dirty="0" err="1"/>
              <a:t>Lipdon</a:t>
            </a:r>
            <a:r>
              <a:rPr lang="en-US" dirty="0"/>
              <a:t> Tea Production </a:t>
            </a:r>
          </a:p>
          <a:p>
            <a:r>
              <a:rPr lang="en-US" dirty="0"/>
              <a:t>Self Study</a:t>
            </a:r>
          </a:p>
          <a:p>
            <a:pPr lvl="1"/>
            <a:r>
              <a:rPr lang="en-US" dirty="0"/>
              <a:t>Distribution Network Design (not in the textbook)</a:t>
            </a:r>
          </a:p>
          <a:p>
            <a:pPr lvl="1"/>
            <a:r>
              <a:rPr lang="en-US" dirty="0"/>
              <a:t>Integrated Facility Location-Transportation</a:t>
            </a:r>
          </a:p>
          <a:p>
            <a:pPr lvl="5"/>
            <a:endParaRPr lang="en-US" dirty="0"/>
          </a:p>
          <a:p>
            <a:endParaRPr lang="en-US" dirty="0"/>
          </a:p>
        </p:txBody>
      </p:sp>
    </p:spTree>
    <p:extLst>
      <p:ext uri="{BB962C8B-B14F-4D97-AF65-F5344CB8AC3E}">
        <p14:creationId xmlns:p14="http://schemas.microsoft.com/office/powerpoint/2010/main" val="3746650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92500" lnSpcReduction="10000"/>
          </a:bodyPr>
          <a:lstStyle/>
          <a:p>
            <a:r>
              <a:rPr lang="en-US" dirty="0"/>
              <a:t>Integer/Binary Programming (Chapter 7.1)</a:t>
            </a:r>
          </a:p>
          <a:p>
            <a:r>
              <a:rPr lang="en-US" dirty="0">
                <a:solidFill>
                  <a:schemeClr val="bg2"/>
                </a:solidFill>
              </a:rPr>
              <a:t>Conditional Constraints Modeling (Chapter 7.2)</a:t>
            </a:r>
          </a:p>
          <a:p>
            <a:r>
              <a:rPr lang="en-US" dirty="0">
                <a:solidFill>
                  <a:schemeClr val="bg2"/>
                </a:solidFill>
              </a:rPr>
              <a:t>Mixed-Integer Programming (Chapter 7.5)</a:t>
            </a:r>
          </a:p>
          <a:p>
            <a:r>
              <a:rPr lang="en-US" dirty="0">
                <a:solidFill>
                  <a:schemeClr val="bg2"/>
                </a:solidFill>
              </a:rPr>
              <a:t>Solution Concepts</a:t>
            </a:r>
          </a:p>
          <a:p>
            <a:r>
              <a:rPr lang="en-US" dirty="0">
                <a:solidFill>
                  <a:schemeClr val="bg1">
                    <a:lumMod val="95000"/>
                  </a:schemeClr>
                </a:solidFill>
              </a:rPr>
              <a:t>Extra Examples:</a:t>
            </a:r>
          </a:p>
          <a:p>
            <a:pPr lvl="1"/>
            <a:r>
              <a:rPr lang="en-US" dirty="0" err="1">
                <a:solidFill>
                  <a:schemeClr val="bg1">
                    <a:lumMod val="95000"/>
                  </a:schemeClr>
                </a:solidFill>
              </a:rPr>
              <a:t>Wyndor</a:t>
            </a:r>
            <a:r>
              <a:rPr lang="en-US" dirty="0">
                <a:solidFill>
                  <a:schemeClr val="bg1">
                    <a:lumMod val="95000"/>
                  </a:schemeClr>
                </a:solidFill>
              </a:rPr>
              <a:t> Problem with Setup Costs</a:t>
            </a:r>
          </a:p>
          <a:p>
            <a:pPr lvl="1"/>
            <a:r>
              <a:rPr lang="en-US" dirty="0">
                <a:solidFill>
                  <a:schemeClr val="bg1">
                    <a:lumMod val="95000"/>
                  </a:schemeClr>
                </a:solidFill>
              </a:rPr>
              <a:t>Caliente City Problem </a:t>
            </a:r>
          </a:p>
          <a:p>
            <a:pPr lvl="1"/>
            <a:r>
              <a:rPr lang="en-US" dirty="0">
                <a:solidFill>
                  <a:schemeClr val="bg1">
                    <a:lumMod val="95000"/>
                  </a:schemeClr>
                </a:solidFill>
              </a:rPr>
              <a:t>Southwestern Airways Problem </a:t>
            </a:r>
          </a:p>
          <a:p>
            <a:pPr lvl="1"/>
            <a:r>
              <a:rPr lang="en-US" dirty="0" err="1">
                <a:solidFill>
                  <a:schemeClr val="bg1">
                    <a:lumMod val="95000"/>
                  </a:schemeClr>
                </a:solidFill>
              </a:rPr>
              <a:t>Lipdon</a:t>
            </a:r>
            <a:r>
              <a:rPr lang="en-US" dirty="0">
                <a:solidFill>
                  <a:schemeClr val="bg1">
                    <a:lumMod val="95000"/>
                  </a:schemeClr>
                </a:solidFill>
              </a:rPr>
              <a:t> Tea Production </a:t>
            </a:r>
          </a:p>
          <a:p>
            <a:r>
              <a:rPr lang="en-US" dirty="0">
                <a:solidFill>
                  <a:schemeClr val="bg1">
                    <a:lumMod val="95000"/>
                  </a:schemeClr>
                </a:solidFill>
              </a:rPr>
              <a:t>Self Study</a:t>
            </a:r>
          </a:p>
          <a:p>
            <a:pPr lvl="1"/>
            <a:r>
              <a:rPr lang="en-US" dirty="0">
                <a:solidFill>
                  <a:schemeClr val="bg1">
                    <a:lumMod val="95000"/>
                  </a:schemeClr>
                </a:solidFill>
              </a:rPr>
              <a:t>Distribution Network Design (not in the textbook)</a:t>
            </a:r>
          </a:p>
          <a:p>
            <a:pPr lvl="1"/>
            <a:r>
              <a:rPr lang="en-US" dirty="0">
                <a:solidFill>
                  <a:schemeClr val="bg1">
                    <a:lumMod val="95000"/>
                  </a:schemeClr>
                </a:solidFill>
              </a:rPr>
              <a:t>Integrated Facility Location-Transportation</a:t>
            </a:r>
          </a:p>
          <a:p>
            <a:pPr lvl="5"/>
            <a:endParaRPr lang="en-US" dirty="0"/>
          </a:p>
          <a:p>
            <a:endParaRPr lang="en-US" dirty="0"/>
          </a:p>
        </p:txBody>
      </p:sp>
    </p:spTree>
    <p:extLst>
      <p:ext uri="{BB962C8B-B14F-4D97-AF65-F5344CB8AC3E}">
        <p14:creationId xmlns:p14="http://schemas.microsoft.com/office/powerpoint/2010/main" val="1377977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Integer/Binary Programming</a:t>
            </a:r>
          </a:p>
        </p:txBody>
      </p:sp>
      <p:sp>
        <p:nvSpPr>
          <p:cNvPr id="3" name="Content Placeholder 2"/>
          <p:cNvSpPr>
            <a:spLocks noGrp="1"/>
          </p:cNvSpPr>
          <p:nvPr>
            <p:ph idx="1"/>
          </p:nvPr>
        </p:nvSpPr>
        <p:spPr/>
        <p:txBody>
          <a:bodyPr/>
          <a:lstStyle/>
          <a:p>
            <a:r>
              <a:rPr lang="en-US" dirty="0">
                <a:ea typeface="ＭＳ Ｐゴシック"/>
              </a:rPr>
              <a:t>In most of the linear programming and network optimization problems discussed so far, it is assumed that</a:t>
            </a:r>
          </a:p>
          <a:p>
            <a:pPr lvl="1"/>
            <a:r>
              <a:rPr lang="en-US" dirty="0">
                <a:ea typeface="ＭＳ Ｐゴシック"/>
              </a:rPr>
              <a:t>The decision variables are continuous, i.e., they can take fractional values</a:t>
            </a:r>
          </a:p>
          <a:p>
            <a:r>
              <a:rPr lang="en-US" dirty="0">
                <a:ea typeface="ＭＳ Ｐゴシック"/>
              </a:rPr>
              <a:t>In many practical cases, the decision variables are not continuous</a:t>
            </a:r>
          </a:p>
          <a:p>
            <a:pPr lvl="1"/>
            <a:r>
              <a:rPr lang="en-US" dirty="0">
                <a:ea typeface="ＭＳ Ｐゴシック"/>
              </a:rPr>
              <a:t>They might be restricted to be integers or binary</a:t>
            </a:r>
          </a:p>
          <a:p>
            <a:endParaRPr lang="en-US" dirty="0">
              <a:ea typeface="ＭＳ Ｐゴシック"/>
            </a:endParaRPr>
          </a:p>
        </p:txBody>
      </p:sp>
    </p:spTree>
    <p:extLst>
      <p:ext uri="{BB962C8B-B14F-4D97-AF65-F5344CB8AC3E}">
        <p14:creationId xmlns:p14="http://schemas.microsoft.com/office/powerpoint/2010/main" val="2952425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Integer/Binary Programming</a:t>
            </a:r>
          </a:p>
        </p:txBody>
      </p:sp>
      <p:sp>
        <p:nvSpPr>
          <p:cNvPr id="3" name="Content Placeholder 2"/>
          <p:cNvSpPr>
            <a:spLocks noGrp="1"/>
          </p:cNvSpPr>
          <p:nvPr>
            <p:ph idx="1"/>
          </p:nvPr>
        </p:nvSpPr>
        <p:spPr/>
        <p:txBody>
          <a:bodyPr/>
          <a:lstStyle/>
          <a:p>
            <a:r>
              <a:rPr lang="en-US" dirty="0"/>
              <a:t>When the decisions variables are integer, we have integer programming problem</a:t>
            </a:r>
          </a:p>
          <a:p>
            <a:pPr lvl="1"/>
            <a:r>
              <a:rPr lang="en-US" dirty="0"/>
              <a:t>Pure integer programming (IP)</a:t>
            </a:r>
          </a:p>
          <a:p>
            <a:pPr lvl="2"/>
            <a:r>
              <a:rPr lang="en-US" dirty="0"/>
              <a:t>Binary integer programming (BIP)</a:t>
            </a:r>
          </a:p>
          <a:p>
            <a:pPr lvl="1"/>
            <a:r>
              <a:rPr lang="en-US" dirty="0"/>
              <a:t>Mixed integer programming (MIP)</a:t>
            </a:r>
          </a:p>
          <a:p>
            <a:pPr lvl="2"/>
            <a:r>
              <a:rPr lang="en-US" dirty="0"/>
              <a:t>Mixed binary integer programming (MBIP)</a:t>
            </a:r>
          </a:p>
          <a:p>
            <a:endParaRPr lang="en-US" dirty="0">
              <a:ea typeface="ＭＳ Ｐゴシック"/>
            </a:endParaRPr>
          </a:p>
        </p:txBody>
      </p:sp>
      <p:sp>
        <p:nvSpPr>
          <p:cNvPr id="5" name="Right Brace 4"/>
          <p:cNvSpPr/>
          <p:nvPr/>
        </p:nvSpPr>
        <p:spPr bwMode="auto">
          <a:xfrm>
            <a:off x="6171934" y="2080917"/>
            <a:ext cx="533400" cy="1447800"/>
          </a:xfrm>
          <a:prstGeom prst="rightBrace">
            <a:avLst/>
          </a:prstGeom>
          <a:ln>
            <a:solidFill>
              <a:srgbClr val="C00000"/>
            </a:solidFill>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C00000"/>
              </a:solidFill>
              <a:effectLst/>
              <a:latin typeface="Arial" charset="0"/>
              <a:ea typeface="ＭＳ Ｐゴシック" pitchFamily="16" charset="-128"/>
            </a:endParaRPr>
          </a:p>
        </p:txBody>
      </p:sp>
      <p:sp>
        <p:nvSpPr>
          <p:cNvPr id="6" name="TextBox 5"/>
          <p:cNvSpPr txBox="1"/>
          <p:nvPr/>
        </p:nvSpPr>
        <p:spPr>
          <a:xfrm>
            <a:off x="6705334" y="2389318"/>
            <a:ext cx="2382591" cy="830997"/>
          </a:xfrm>
          <a:prstGeom prst="rect">
            <a:avLst/>
          </a:prstGeom>
          <a:noFill/>
        </p:spPr>
        <p:txBody>
          <a:bodyPr wrap="square" rtlCol="0" anchor="ctr">
            <a:spAutoFit/>
          </a:bodyPr>
          <a:lstStyle/>
          <a:p>
            <a:pPr algn="ctr"/>
            <a:r>
              <a:rPr lang="en-US" sz="2400" dirty="0">
                <a:solidFill>
                  <a:srgbClr val="C00000"/>
                </a:solidFill>
              </a:rPr>
              <a:t>can be linear or non-linear</a:t>
            </a:r>
          </a:p>
        </p:txBody>
      </p:sp>
      <p:graphicFrame>
        <p:nvGraphicFramePr>
          <p:cNvPr id="4" name="Table 3">
            <a:extLst>
              <a:ext uri="{FF2B5EF4-FFF2-40B4-BE49-F238E27FC236}">
                <a16:creationId xmlns:a16="http://schemas.microsoft.com/office/drawing/2014/main" id="{19B7BA9F-25E9-3F9F-9EE3-C656891B172B}"/>
              </a:ext>
            </a:extLst>
          </p:cNvPr>
          <p:cNvGraphicFramePr>
            <a:graphicFrameLocks noGrp="1"/>
          </p:cNvGraphicFramePr>
          <p:nvPr>
            <p:extLst>
              <p:ext uri="{D42A27DB-BD31-4B8C-83A1-F6EECF244321}">
                <p14:modId xmlns:p14="http://schemas.microsoft.com/office/powerpoint/2010/main" val="4058657644"/>
              </p:ext>
            </p:extLst>
          </p:nvPr>
        </p:nvGraphicFramePr>
        <p:xfrm>
          <a:off x="3056007" y="4297200"/>
          <a:ext cx="6076399" cy="1854200"/>
        </p:xfrm>
        <a:graphic>
          <a:graphicData uri="http://schemas.openxmlformats.org/drawingml/2006/table">
            <a:tbl>
              <a:tblPr firstRow="1" bandRow="1">
                <a:tableStyleId>{073A0DAA-6AF3-43AB-8588-CEC1D06C72B9}</a:tableStyleId>
              </a:tblPr>
              <a:tblGrid>
                <a:gridCol w="2234667">
                  <a:extLst>
                    <a:ext uri="{9D8B030D-6E8A-4147-A177-3AD203B41FA5}">
                      <a16:colId xmlns:a16="http://schemas.microsoft.com/office/drawing/2014/main" val="3582506617"/>
                    </a:ext>
                  </a:extLst>
                </a:gridCol>
                <a:gridCol w="3841732">
                  <a:extLst>
                    <a:ext uri="{9D8B030D-6E8A-4147-A177-3AD203B41FA5}">
                      <a16:colId xmlns:a16="http://schemas.microsoft.com/office/drawing/2014/main" val="2278631035"/>
                    </a:ext>
                  </a:extLst>
                </a:gridCol>
              </a:tblGrid>
              <a:tr h="370840">
                <a:tc>
                  <a:txBody>
                    <a:bodyPr/>
                    <a:lstStyle/>
                    <a:p>
                      <a:r>
                        <a:rPr lang="en-US" dirty="0"/>
                        <a:t>Models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r>
                        <a:rPr lang="en-US" dirty="0"/>
                        <a:t>Types of Decision 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2980647736"/>
                  </a:ext>
                </a:extLst>
              </a:tr>
              <a:tr h="370840">
                <a:tc>
                  <a:txBody>
                    <a:bodyPr/>
                    <a:lstStyle/>
                    <a:p>
                      <a:r>
                        <a:rPr lang="en-US" dirty="0"/>
                        <a:t>Pure Integer (IP)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BBBB"/>
                    </a:solidFill>
                  </a:tcPr>
                </a:tc>
                <a:tc>
                  <a:txBody>
                    <a:bodyPr/>
                    <a:lstStyle/>
                    <a:p>
                      <a:r>
                        <a:rPr lang="en-US" dirty="0"/>
                        <a:t>All are integers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BBBB"/>
                    </a:solidFill>
                  </a:tcPr>
                </a:tc>
                <a:extLst>
                  <a:ext uri="{0D108BD9-81ED-4DB2-BD59-A6C34878D82A}">
                    <a16:rowId xmlns:a16="http://schemas.microsoft.com/office/drawing/2014/main" val="779188171"/>
                  </a:ext>
                </a:extLst>
              </a:tr>
              <a:tr h="370840">
                <a:tc>
                  <a:txBody>
                    <a:bodyPr/>
                    <a:lstStyle/>
                    <a:p>
                      <a:r>
                        <a:rPr lang="en-US" dirty="0"/>
                        <a:t>Binary (BIP)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7F8"/>
                    </a:solidFill>
                  </a:tcPr>
                </a:tc>
                <a:tc>
                  <a:txBody>
                    <a:bodyPr/>
                    <a:lstStyle/>
                    <a:p>
                      <a:r>
                        <a:rPr lang="en-US" dirty="0"/>
                        <a:t>All are either 0 or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7F8"/>
                    </a:solidFill>
                  </a:tcPr>
                </a:tc>
                <a:extLst>
                  <a:ext uri="{0D108BD9-81ED-4DB2-BD59-A6C34878D82A}">
                    <a16:rowId xmlns:a16="http://schemas.microsoft.com/office/drawing/2014/main" val="2355862843"/>
                  </a:ext>
                </a:extLst>
              </a:tr>
              <a:tr h="370840">
                <a:tc>
                  <a:txBody>
                    <a:bodyPr/>
                    <a:lstStyle/>
                    <a:p>
                      <a:r>
                        <a:rPr lang="en-US" dirty="0"/>
                        <a:t>Mixed Integer (MIP)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BBBB"/>
                    </a:solidFill>
                  </a:tcPr>
                </a:tc>
                <a:tc>
                  <a:txBody>
                    <a:bodyPr/>
                    <a:lstStyle/>
                    <a:p>
                      <a:r>
                        <a:rPr lang="en-US" dirty="0"/>
                        <a:t>Some, but not all, are integers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BBBB"/>
                    </a:solidFill>
                  </a:tcPr>
                </a:tc>
                <a:extLst>
                  <a:ext uri="{0D108BD9-81ED-4DB2-BD59-A6C34878D82A}">
                    <a16:rowId xmlns:a16="http://schemas.microsoft.com/office/drawing/2014/main" val="3029676637"/>
                  </a:ext>
                </a:extLst>
              </a:tr>
              <a:tr h="370840">
                <a:tc>
                  <a:txBody>
                    <a:bodyPr/>
                    <a:lstStyle/>
                    <a:p>
                      <a:r>
                        <a:rPr lang="en-US" dirty="0"/>
                        <a:t>Mixed Binary (MBIP)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7F8"/>
                    </a:solidFill>
                  </a:tcPr>
                </a:tc>
                <a:tc>
                  <a:txBody>
                    <a:bodyPr/>
                    <a:lstStyle/>
                    <a:p>
                      <a:r>
                        <a:rPr lang="en-US" dirty="0"/>
                        <a:t>Some, but not all, are binaries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7F8"/>
                    </a:solidFill>
                  </a:tcPr>
                </a:tc>
                <a:extLst>
                  <a:ext uri="{0D108BD9-81ED-4DB2-BD59-A6C34878D82A}">
                    <a16:rowId xmlns:a16="http://schemas.microsoft.com/office/drawing/2014/main" val="777813569"/>
                  </a:ext>
                </a:extLst>
              </a:tr>
            </a:tbl>
          </a:graphicData>
        </a:graphic>
      </p:graphicFrame>
    </p:spTree>
    <p:extLst>
      <p:ext uri="{BB962C8B-B14F-4D97-AF65-F5344CB8AC3E}">
        <p14:creationId xmlns:p14="http://schemas.microsoft.com/office/powerpoint/2010/main" val="1344704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Integer/Binary Programming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ea typeface="ＭＳ Ｐゴシック"/>
                  </a:rPr>
                  <a:t>Binary Programming: </a:t>
                </a:r>
              </a:p>
              <a:p>
                <a:pPr lvl="1"/>
                <a:r>
                  <a:rPr lang="en-US" dirty="0"/>
                  <a:t>A special class of integer programming problems</a:t>
                </a:r>
              </a:p>
              <a:p>
                <a:pPr lvl="1"/>
                <a:r>
                  <a:rPr lang="en-US" dirty="0"/>
                  <a:t>Decision variables are binary</a:t>
                </a:r>
              </a:p>
              <a:p>
                <a:pPr lvl="1"/>
                <a:r>
                  <a:rPr lang="en-US" dirty="0"/>
                  <a:t>Since binary variables only provide two choices, they are ideally suited to be the decision variables when dealing with </a:t>
                </a:r>
                <a:r>
                  <a:rPr lang="en-US" b="1" dirty="0"/>
                  <a:t>yes-or-no decisions</a:t>
                </a:r>
                <a:r>
                  <a:rPr lang="en-US" dirty="0"/>
                  <a:t>.</a:t>
                </a:r>
              </a:p>
              <a:p>
                <a:pPr lvl="2"/>
                <a:r>
                  <a:rPr lang="en-US" dirty="0"/>
                  <a:t>Suppose that your decision is to buy or not to buy a house</a:t>
                </a:r>
              </a:p>
              <a:p>
                <a:pPr lvl="3"/>
                <a:r>
                  <a:rPr lang="en-US" dirty="0"/>
                  <a:t>Let X be 0 if you decide not to buy the house</a:t>
                </a:r>
              </a:p>
              <a:p>
                <a:pPr lvl="3"/>
                <a:r>
                  <a:rPr lang="en-US" dirty="0"/>
                  <a:t>Let X be 1 if you decide to buy the house</a:t>
                </a:r>
              </a:p>
              <a:p>
                <a:pPr lvl="3"/>
                <a:endParaRPr lang="en-US" dirty="0"/>
              </a:p>
              <a:p>
                <a:pPr marL="1371600" lvl="3" indent="0">
                  <a:buNone/>
                </a:pPr>
                <a:r>
                  <a:rPr lang="en-US" sz="2000" dirty="0"/>
                  <a:t>X=</a:t>
                </a:r>
              </a:p>
              <a:p>
                <a:pPr lvl="1"/>
                <a:endParaRPr lang="en-US" dirty="0"/>
              </a:p>
              <a:p>
                <a:pPr lvl="1"/>
                <a:r>
                  <a:rPr lang="en-US" dirty="0"/>
                  <a:t>In the model, add binary constraints</a:t>
                </a:r>
              </a:p>
              <a:p>
                <a:pPr marL="457200" lvl="1" indent="0">
                  <a:buNone/>
                </a:pPr>
                <a:r>
                  <a:rPr lang="en-US" dirty="0"/>
                  <a:t>… X binary or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∈{0,1}</m:t>
                    </m:r>
                  </m:oMath>
                </a14:m>
                <a:endParaRPr lang="en-US" dirty="0"/>
              </a:p>
              <a:p>
                <a:endParaRPr lang="en-US" dirty="0">
                  <a:ea typeface="ＭＳ Ｐゴシック"/>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3"/>
                <a:stretch>
                  <a:fillRect l="-956" t="-2005" b="-8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451278" y="4325480"/>
                <a:ext cx="2448106" cy="683329"/>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m>
                        <m:mPr>
                          <m:mcs>
                            <m:mc>
                              <m:mcPr>
                                <m:count m:val="1"/>
                                <m:mcJc m:val="center"/>
                              </m:mcPr>
                            </m:mc>
                          </m:mcs>
                          <m:ctrlPr>
                            <a:rPr lang="en-US" sz="2000" i="1" smtClean="0">
                              <a:latin typeface="Cambria Math" panose="02040503050406030204" pitchFamily="18" charset="0"/>
                            </a:rPr>
                          </m:ctrlPr>
                        </m:mPr>
                        <m:mr>
                          <m:e>
                            <m:r>
                              <m:rPr>
                                <m:brk m:alnAt="7"/>
                              </m:rPr>
                              <a:rPr lang="en-US" sz="2000" b="0" i="1" smtClean="0">
                                <a:latin typeface="Cambria Math"/>
                              </a:rPr>
                              <m:t>0</m:t>
                            </m:r>
                            <m:r>
                              <a:rPr lang="en-US" sz="2000" b="0" i="1" smtClean="0">
                                <a:latin typeface="Cambria Math"/>
                              </a:rPr>
                              <m:t> </m:t>
                            </m:r>
                            <m:r>
                              <a:rPr lang="en-US" sz="2000" b="0" i="1" smtClean="0">
                                <a:latin typeface="Cambria Math"/>
                              </a:rPr>
                              <m:t>𝑖𝑓</m:t>
                            </m:r>
                            <m:r>
                              <a:rPr lang="en-US" sz="2000" b="0" i="1" smtClean="0">
                                <a:latin typeface="Cambria Math"/>
                              </a:rPr>
                              <m:t> </m:t>
                            </m:r>
                            <m:r>
                              <a:rPr lang="en-US" sz="2000" b="0" i="1" smtClean="0">
                                <a:latin typeface="Cambria Math"/>
                              </a:rPr>
                              <m:t>𝑦𝑜𝑢</m:t>
                            </m:r>
                            <m:r>
                              <a:rPr lang="en-US" sz="2000" b="0" i="1" smtClean="0">
                                <a:latin typeface="Cambria Math"/>
                              </a:rPr>
                              <m:t> </m:t>
                            </m:r>
                            <m:r>
                              <a:rPr lang="en-US" sz="2000" b="0" i="1" smtClean="0">
                                <a:latin typeface="Cambria Math"/>
                              </a:rPr>
                              <m:t>𝑑𝑜</m:t>
                            </m:r>
                            <m:r>
                              <a:rPr lang="en-US" sz="2000" b="0" i="1" smtClean="0">
                                <a:latin typeface="Cambria Math"/>
                              </a:rPr>
                              <m:t> </m:t>
                            </m:r>
                            <m:r>
                              <a:rPr lang="en-US" sz="2000" b="0" i="1" smtClean="0">
                                <a:latin typeface="Cambria Math"/>
                              </a:rPr>
                              <m:t>𝑛𝑜𝑡</m:t>
                            </m:r>
                            <m:r>
                              <a:rPr lang="en-US" sz="2000" b="0" i="1" smtClean="0">
                                <a:latin typeface="Cambria Math"/>
                              </a:rPr>
                              <m:t> </m:t>
                            </m:r>
                            <m:r>
                              <a:rPr lang="en-US" sz="2000" b="0" i="1" smtClean="0">
                                <a:latin typeface="Cambria Math"/>
                              </a:rPr>
                              <m:t>𝑏𝑢𝑦</m:t>
                            </m:r>
                          </m:e>
                        </m:mr>
                        <m:mr>
                          <m:e>
                            <m:r>
                              <a:rPr lang="en-US" sz="2000" b="0" i="1" smtClean="0">
                                <a:latin typeface="Cambria Math"/>
                              </a:rPr>
                              <m:t>1 </m:t>
                            </m:r>
                            <m:r>
                              <a:rPr lang="en-US" sz="2000" b="0" i="1" smtClean="0">
                                <a:latin typeface="Cambria Math"/>
                              </a:rPr>
                              <m:t>𝑖𝑓</m:t>
                            </m:r>
                            <m:r>
                              <a:rPr lang="en-US" sz="2000" b="0" i="1" smtClean="0">
                                <a:latin typeface="Cambria Math"/>
                              </a:rPr>
                              <m:t> </m:t>
                            </m:r>
                            <m:r>
                              <a:rPr lang="en-US" sz="2000" b="0" i="1" smtClean="0">
                                <a:latin typeface="Cambria Math"/>
                              </a:rPr>
                              <m:t>𝑦𝑜𝑢</m:t>
                            </m:r>
                            <m:r>
                              <a:rPr lang="en-US" sz="2000" b="0" i="1" smtClean="0">
                                <a:latin typeface="Cambria Math"/>
                              </a:rPr>
                              <m:t> </m:t>
                            </m:r>
                            <m:r>
                              <a:rPr lang="en-US" sz="2000" b="0" i="1" smtClean="0">
                                <a:latin typeface="Cambria Math"/>
                              </a:rPr>
                              <m:t>𝑑𝑜</m:t>
                            </m:r>
                            <m:r>
                              <a:rPr lang="en-US" sz="2000" b="0" i="1" smtClean="0">
                                <a:latin typeface="Cambria Math"/>
                              </a:rPr>
                              <m:t> </m:t>
                            </m:r>
                            <m:r>
                              <a:rPr lang="en-US" sz="2000" b="0" i="1" smtClean="0">
                                <a:latin typeface="Cambria Math"/>
                              </a:rPr>
                              <m:t>𝑏𝑢𝑦</m:t>
                            </m:r>
                            <m:r>
                              <a:rPr lang="en-US" sz="2000" b="0" i="1" smtClean="0">
                                <a:latin typeface="Cambria Math"/>
                              </a:rPr>
                              <m:t>        </m:t>
                            </m:r>
                          </m:e>
                        </m:mr>
                      </m:m>
                    </m:oMath>
                  </m:oMathPara>
                </a14:m>
                <a:endParaRPr lang="en-US" sz="2000" dirty="0"/>
              </a:p>
            </p:txBody>
          </p:sp>
        </mc:Choice>
        <mc:Fallback xmlns="">
          <p:sp>
            <p:nvSpPr>
              <p:cNvPr id="7" name="TextBox 6"/>
              <p:cNvSpPr txBox="1">
                <a:spLocks noRot="1" noChangeAspect="1" noMove="1" noResize="1" noEditPoints="1" noAdjustHandles="1" noChangeArrowheads="1" noChangeShapeType="1" noTextEdit="1"/>
              </p:cNvSpPr>
              <p:nvPr/>
            </p:nvSpPr>
            <p:spPr>
              <a:xfrm>
                <a:off x="2451278" y="4325480"/>
                <a:ext cx="2448106" cy="683329"/>
              </a:xfrm>
              <a:prstGeom prst="rect">
                <a:avLst/>
              </a:prstGeom>
              <a:blipFill rotWithShape="0">
                <a:blip r:embed="rId4"/>
                <a:stretch>
                  <a:fillRect/>
                </a:stretch>
              </a:blipFill>
            </p:spPr>
            <p:txBody>
              <a:bodyPr/>
              <a:lstStyle/>
              <a:p>
                <a:r>
                  <a:rPr lang="en-US">
                    <a:noFill/>
                  </a:rPr>
                  <a:t> </a:t>
                </a:r>
              </a:p>
            </p:txBody>
          </p:sp>
        </mc:Fallback>
      </mc:AlternateContent>
      <p:sp>
        <p:nvSpPr>
          <p:cNvPr id="8" name="Left Brace 7"/>
          <p:cNvSpPr/>
          <p:nvPr/>
        </p:nvSpPr>
        <p:spPr bwMode="auto">
          <a:xfrm>
            <a:off x="2222678" y="4378574"/>
            <a:ext cx="228600" cy="630235"/>
          </a:xfrm>
          <a:prstGeom prst="leftBrace">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pic>
        <p:nvPicPr>
          <p:cNvPr id="4" name="Picture 3"/>
          <p:cNvPicPr>
            <a:picLocks noChangeAspect="1"/>
          </p:cNvPicPr>
          <p:nvPr/>
        </p:nvPicPr>
        <p:blipFill>
          <a:blip r:embed="rId5"/>
          <a:stretch>
            <a:fillRect/>
          </a:stretch>
        </p:blipFill>
        <p:spPr>
          <a:xfrm>
            <a:off x="7510883" y="3901179"/>
            <a:ext cx="3822526" cy="1531929"/>
          </a:xfrm>
          <a:prstGeom prst="rect">
            <a:avLst/>
          </a:prstGeom>
        </p:spPr>
      </p:pic>
      <p:sp>
        <p:nvSpPr>
          <p:cNvPr id="9" name="Rounded Rectangular Callout 8"/>
          <p:cNvSpPr/>
          <p:nvPr/>
        </p:nvSpPr>
        <p:spPr bwMode="auto">
          <a:xfrm>
            <a:off x="9019124" y="5937830"/>
            <a:ext cx="1439561" cy="693420"/>
          </a:xfrm>
          <a:prstGeom prst="wedgeRoundRectCallout">
            <a:avLst>
              <a:gd name="adj1" fmla="val -16702"/>
              <a:gd name="adj2" fmla="val -154521"/>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400" dirty="0"/>
              <a:t>Pick ‘bin’ and the constraint will be added</a:t>
            </a:r>
          </a:p>
        </p:txBody>
      </p:sp>
      <p:sp>
        <p:nvSpPr>
          <p:cNvPr id="10" name="Rounded Rectangular Callout 9"/>
          <p:cNvSpPr/>
          <p:nvPr/>
        </p:nvSpPr>
        <p:spPr bwMode="auto">
          <a:xfrm>
            <a:off x="7130011" y="5855470"/>
            <a:ext cx="1602903" cy="693420"/>
          </a:xfrm>
          <a:prstGeom prst="wedgeRoundRectCallout">
            <a:avLst>
              <a:gd name="adj1" fmla="val 50955"/>
              <a:gd name="adj2" fmla="val -224641"/>
              <a:gd name="adj3" fmla="val 16667"/>
            </a:avLst>
          </a:prstGeom>
          <a:no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sz="1400" dirty="0"/>
              <a:t>Pick the decision variables that should be binary</a:t>
            </a:r>
          </a:p>
        </p:txBody>
      </p:sp>
    </p:spTree>
    <p:extLst>
      <p:ext uri="{BB962C8B-B14F-4D97-AF65-F5344CB8AC3E}">
        <p14:creationId xmlns:p14="http://schemas.microsoft.com/office/powerpoint/2010/main" val="3238024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Integer/Binary Programming</a:t>
            </a:r>
          </a:p>
        </p:txBody>
      </p:sp>
      <p:sp>
        <p:nvSpPr>
          <p:cNvPr id="3" name="Content Placeholder 2"/>
          <p:cNvSpPr>
            <a:spLocks noGrp="1"/>
          </p:cNvSpPr>
          <p:nvPr>
            <p:ph idx="1"/>
          </p:nvPr>
        </p:nvSpPr>
        <p:spPr/>
        <p:txBody>
          <a:bodyPr/>
          <a:lstStyle/>
          <a:p>
            <a:r>
              <a:rPr lang="en-US" dirty="0">
                <a:ea typeface="ＭＳ Ｐゴシック"/>
              </a:rPr>
              <a:t>Binary Programming applications:</a:t>
            </a:r>
          </a:p>
          <a:p>
            <a:pPr lvl="2"/>
            <a:r>
              <a:rPr lang="en-US" b="1" i="1" dirty="0"/>
              <a:t>Investment Analysis: </a:t>
            </a:r>
            <a:r>
              <a:rPr lang="en-US" dirty="0"/>
              <a:t>Should we make a certain fixed investment?</a:t>
            </a:r>
          </a:p>
          <a:p>
            <a:pPr lvl="2"/>
            <a:r>
              <a:rPr lang="en-US" b="1" i="1" dirty="0"/>
              <a:t>Site Selection: </a:t>
            </a:r>
            <a:r>
              <a:rPr lang="en-US" dirty="0"/>
              <a:t>Should a certain site be selected for the location of a new facility?</a:t>
            </a:r>
          </a:p>
          <a:p>
            <a:pPr lvl="2"/>
            <a:r>
              <a:rPr lang="en-US" b="1" i="1" dirty="0"/>
              <a:t>Designing a Production and Distribution Network</a:t>
            </a:r>
          </a:p>
          <a:p>
            <a:pPr lvl="3"/>
            <a:r>
              <a:rPr lang="en-US" dirty="0"/>
              <a:t>Should a certain plant remain open? Should a certain site be selected for a new plant? Should a distribution center remain open? Should a certain site be selected for a new distribution center? Should a certain distribution center be assigned to serve a certain market area?</a:t>
            </a:r>
          </a:p>
          <a:p>
            <a:pPr lvl="2"/>
            <a:r>
              <a:rPr lang="en-US" b="1" i="1" dirty="0"/>
              <a:t>Dispatching Shipments</a:t>
            </a:r>
          </a:p>
          <a:p>
            <a:pPr lvl="3"/>
            <a:r>
              <a:rPr lang="en-US" dirty="0"/>
              <a:t>Should a certain route be selected for a truck? Should a certain size truck be used? Should a certain time period for departure be used?</a:t>
            </a:r>
          </a:p>
          <a:p>
            <a:pPr lvl="2"/>
            <a:r>
              <a:rPr lang="en-US" b="1" i="1" dirty="0"/>
              <a:t>Scheduling Interrelated Activities: </a:t>
            </a:r>
            <a:r>
              <a:rPr lang="en-US" dirty="0"/>
              <a:t>Should a certain activity begin in a certain time period?</a:t>
            </a:r>
          </a:p>
          <a:p>
            <a:pPr lvl="2"/>
            <a:r>
              <a:rPr lang="en-US" b="1" i="1" dirty="0"/>
              <a:t>Scheduling Asset Divestitures: </a:t>
            </a:r>
            <a:r>
              <a:rPr lang="en-US" dirty="0"/>
              <a:t>Should a certain asset be sold in a certain time period?</a:t>
            </a:r>
          </a:p>
          <a:p>
            <a:pPr lvl="2"/>
            <a:r>
              <a:rPr lang="en-US" b="1" i="1" dirty="0"/>
              <a:t>Airline Applications:</a:t>
            </a:r>
          </a:p>
          <a:p>
            <a:pPr lvl="3"/>
            <a:r>
              <a:rPr lang="en-US" dirty="0"/>
              <a:t>Should a certain type of airplane be assigned to a certain flight leg? Should a certain sequence of flight legs be assigned to a crew?</a:t>
            </a:r>
          </a:p>
          <a:p>
            <a:pPr lvl="2"/>
            <a:endParaRPr lang="en-US" dirty="0"/>
          </a:p>
          <a:p>
            <a:endParaRPr lang="en-US" dirty="0"/>
          </a:p>
          <a:p>
            <a:endParaRPr lang="en-US" dirty="0">
              <a:ea typeface="ＭＳ Ｐゴシック"/>
            </a:endParaRPr>
          </a:p>
        </p:txBody>
      </p:sp>
    </p:spTree>
    <p:extLst>
      <p:ext uri="{BB962C8B-B14F-4D97-AF65-F5344CB8AC3E}">
        <p14:creationId xmlns:p14="http://schemas.microsoft.com/office/powerpoint/2010/main" val="67359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Integer/Binary Programming</a:t>
            </a:r>
          </a:p>
        </p:txBody>
      </p:sp>
      <p:sp>
        <p:nvSpPr>
          <p:cNvPr id="3" name="Content Placeholder 2"/>
          <p:cNvSpPr>
            <a:spLocks noGrp="1"/>
          </p:cNvSpPr>
          <p:nvPr>
            <p:ph idx="1"/>
          </p:nvPr>
        </p:nvSpPr>
        <p:spPr/>
        <p:txBody>
          <a:bodyPr/>
          <a:lstStyle/>
          <a:p>
            <a:r>
              <a:rPr lang="en-US" b="1" u="sng" dirty="0">
                <a:ea typeface="ＭＳ Ｐゴシック"/>
              </a:rPr>
              <a:t>Case: </a:t>
            </a:r>
            <a:r>
              <a:rPr lang="en-US" b="1" u="sng" dirty="0"/>
              <a:t>California Manufacturing Co. Problem (Chapter 6.1)</a:t>
            </a:r>
          </a:p>
          <a:p>
            <a:pPr lvl="1"/>
            <a:r>
              <a:rPr lang="en-US" dirty="0"/>
              <a:t>The California Manufacturing Company is a diversified company with several factories and warehouses throughout California, but none yet in Los Angeles or San Francisco.</a:t>
            </a:r>
          </a:p>
          <a:p>
            <a:pPr lvl="1"/>
            <a:r>
              <a:rPr lang="en-US" dirty="0"/>
              <a:t>A basic issue is whether to build a new factory in Los Angeles or San Francisco, or perhaps even both. Management is also considering building at most one new warehouse, but will restrict the choice to a city where a new factory is being built.</a:t>
            </a:r>
          </a:p>
          <a:p>
            <a:pPr lvl="1"/>
            <a:r>
              <a:rPr lang="en-US" b="1" dirty="0">
                <a:solidFill>
                  <a:srgbClr val="C00000"/>
                </a:solidFill>
              </a:rPr>
              <a:t>Question: </a:t>
            </a:r>
            <a:r>
              <a:rPr lang="en-US" dirty="0"/>
              <a:t>Should the California Manufacturing Company expand with factories and/or warehouses in Los Angeles and/or San Francisco?</a:t>
            </a:r>
          </a:p>
          <a:p>
            <a:r>
              <a:rPr lang="en-US" b="1" dirty="0">
                <a:solidFill>
                  <a:srgbClr val="C00000"/>
                </a:solidFill>
              </a:rPr>
              <a:t>STEP 0:</a:t>
            </a:r>
          </a:p>
          <a:p>
            <a:pPr lvl="1"/>
            <a:endParaRPr lang="en-US" dirty="0"/>
          </a:p>
          <a:p>
            <a:endParaRPr lang="en-US" dirty="0"/>
          </a:p>
          <a:p>
            <a:endParaRPr lang="en-US" dirty="0">
              <a:ea typeface="ＭＳ Ｐゴシック"/>
            </a:endParaRPr>
          </a:p>
        </p:txBody>
      </p:sp>
      <p:graphicFrame>
        <p:nvGraphicFramePr>
          <p:cNvPr id="7" name="Group 135"/>
          <p:cNvGraphicFramePr>
            <a:graphicFrameLocks/>
          </p:cNvGraphicFramePr>
          <p:nvPr>
            <p:extLst>
              <p:ext uri="{D42A27DB-BD31-4B8C-83A1-F6EECF244321}">
                <p14:modId xmlns:p14="http://schemas.microsoft.com/office/powerpoint/2010/main" val="2814126289"/>
              </p:ext>
            </p:extLst>
          </p:nvPr>
        </p:nvGraphicFramePr>
        <p:xfrm>
          <a:off x="2331075" y="4434923"/>
          <a:ext cx="8472026" cy="2255652"/>
        </p:xfrm>
        <a:graphic>
          <a:graphicData uri="http://schemas.openxmlformats.org/drawingml/2006/table">
            <a:tbl>
              <a:tblPr/>
              <a:tblGrid>
                <a:gridCol w="3917173">
                  <a:extLst>
                    <a:ext uri="{9D8B030D-6E8A-4147-A177-3AD203B41FA5}">
                      <a16:colId xmlns:a16="http://schemas.microsoft.com/office/drawing/2014/main" val="20000"/>
                    </a:ext>
                  </a:extLst>
                </a:gridCol>
                <a:gridCol w="437614">
                  <a:extLst>
                    <a:ext uri="{9D8B030D-6E8A-4147-A177-3AD203B41FA5}">
                      <a16:colId xmlns:a16="http://schemas.microsoft.com/office/drawing/2014/main" val="20001"/>
                    </a:ext>
                  </a:extLst>
                </a:gridCol>
                <a:gridCol w="1859196">
                  <a:extLst>
                    <a:ext uri="{9D8B030D-6E8A-4147-A177-3AD203B41FA5}">
                      <a16:colId xmlns:a16="http://schemas.microsoft.com/office/drawing/2014/main" val="20002"/>
                    </a:ext>
                  </a:extLst>
                </a:gridCol>
                <a:gridCol w="2258043">
                  <a:extLst>
                    <a:ext uri="{9D8B030D-6E8A-4147-A177-3AD203B41FA5}">
                      <a16:colId xmlns:a16="http://schemas.microsoft.com/office/drawing/2014/main" val="20003"/>
                    </a:ext>
                  </a:extLst>
                </a:gridCol>
              </a:tblGrid>
              <a:tr h="494880">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dirty="0">
                        <a:ln>
                          <a:noFill/>
                        </a:ln>
                        <a:solidFill>
                          <a:schemeClr val="tx1"/>
                        </a:solidFill>
                        <a:effectLst/>
                        <a:latin typeface="Times New Roman" pitchFamily="1" charset="0"/>
                      </a:endParaRPr>
                    </a:p>
                  </a:txBody>
                  <a:tcPr marT="45731" marB="45731" anchor="b"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dirty="0">
                        <a:ln>
                          <a:noFill/>
                        </a:ln>
                        <a:solidFill>
                          <a:schemeClr val="tx1"/>
                        </a:solidFill>
                        <a:effectLst/>
                        <a:latin typeface="Times New Roman" pitchFamily="1" charset="0"/>
                      </a:endParaRPr>
                    </a:p>
                  </a:txBody>
                  <a:tcPr marT="45731" marB="45731" anchor="b"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Net Present Value</a:t>
                      </a:r>
                      <a:br>
                        <a:rPr kumimoji="0" lang="en-US" sz="1600" b="1" i="0" u="none" strike="noStrike" cap="none" normalizeH="0" baseline="0" dirty="0">
                          <a:ln>
                            <a:noFill/>
                          </a:ln>
                          <a:solidFill>
                            <a:schemeClr val="tx1"/>
                          </a:solidFill>
                          <a:effectLst/>
                          <a:latin typeface="Times New Roman" pitchFamily="1" charset="0"/>
                        </a:rPr>
                      </a:br>
                      <a:r>
                        <a:rPr kumimoji="0" lang="en-US" sz="1600" b="1" i="0" u="none" strike="noStrike" cap="none" normalizeH="0" baseline="0" dirty="0">
                          <a:ln>
                            <a:noFill/>
                          </a:ln>
                          <a:solidFill>
                            <a:schemeClr val="tx1"/>
                          </a:solidFill>
                          <a:effectLst/>
                          <a:latin typeface="Times New Roman" pitchFamily="1" charset="0"/>
                        </a:rPr>
                        <a:t>(Millions)</a:t>
                      </a:r>
                    </a:p>
                  </a:txBody>
                  <a:tcPr marT="45731" marB="45731" anchor="b"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Capital Required</a:t>
                      </a:r>
                      <a:br>
                        <a:rPr kumimoji="0" lang="en-US" sz="1600" b="1" i="0" u="none" strike="noStrike" cap="none" normalizeH="0" baseline="0" dirty="0">
                          <a:ln>
                            <a:noFill/>
                          </a:ln>
                          <a:solidFill>
                            <a:schemeClr val="tx1"/>
                          </a:solidFill>
                          <a:effectLst/>
                          <a:latin typeface="Times New Roman" pitchFamily="1" charset="0"/>
                        </a:rPr>
                      </a:br>
                      <a:r>
                        <a:rPr kumimoji="0" lang="en-US" sz="1600" b="1" i="0" u="none" strike="noStrike" cap="none" normalizeH="0" baseline="0" dirty="0">
                          <a:ln>
                            <a:noFill/>
                          </a:ln>
                          <a:solidFill>
                            <a:schemeClr val="tx1"/>
                          </a:solidFill>
                          <a:effectLst/>
                          <a:latin typeface="Times New Roman" pitchFamily="1" charset="0"/>
                        </a:rPr>
                        <a:t>(Millions)</a:t>
                      </a:r>
                    </a:p>
                  </a:txBody>
                  <a:tcPr marT="45731" marB="45731" anchor="b"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278375">
                <a:tc>
                  <a:txBody>
                    <a:bodyPr/>
                    <a:lstStyle/>
                    <a:p>
                      <a:pPr marL="0" marR="0" lvl="0" indent="0" algn="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Build a factory in Los Angeles?</a:t>
                      </a:r>
                    </a:p>
                  </a:txBody>
                  <a:tcPr marT="45731" marB="4573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0" i="1" u="none" strike="noStrike" cap="none" normalizeH="0" baseline="0" dirty="0">
                        <a:ln>
                          <a:noFill/>
                        </a:ln>
                        <a:solidFill>
                          <a:schemeClr val="tx1"/>
                        </a:solidFill>
                        <a:effectLst/>
                        <a:latin typeface="Times New Roman" pitchFamily="1" charset="0"/>
                      </a:endParaRPr>
                    </a:p>
                  </a:txBody>
                  <a:tcPr marT="45731" marB="4573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$8</a:t>
                      </a:r>
                    </a:p>
                  </a:txBody>
                  <a:tcPr marT="45731" marB="4573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$6</a:t>
                      </a:r>
                    </a:p>
                  </a:txBody>
                  <a:tcPr marT="45731" marB="4573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278375">
                <a:tc>
                  <a:txBody>
                    <a:bodyPr/>
                    <a:lstStyle/>
                    <a:p>
                      <a:pPr marL="0" marR="0" lvl="0" indent="0" algn="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Build a factory in San Francisco?</a:t>
                      </a:r>
                    </a:p>
                  </a:txBody>
                  <a:tcPr marT="45731" marB="4573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0" i="1" u="none" strike="noStrike" cap="none" normalizeH="0" baseline="0" dirty="0">
                        <a:ln>
                          <a:noFill/>
                        </a:ln>
                        <a:solidFill>
                          <a:schemeClr val="tx1"/>
                        </a:solidFill>
                        <a:effectLst/>
                        <a:latin typeface="Times New Roman" pitchFamily="1" charset="0"/>
                      </a:endParaRPr>
                    </a:p>
                  </a:txBody>
                  <a:tcPr marT="45731" marB="4573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5</a:t>
                      </a:r>
                    </a:p>
                  </a:txBody>
                  <a:tcPr marT="45731" marB="4573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3</a:t>
                      </a:r>
                    </a:p>
                  </a:txBody>
                  <a:tcPr marT="45731" marB="4573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78375">
                <a:tc>
                  <a:txBody>
                    <a:bodyPr/>
                    <a:lstStyle/>
                    <a:p>
                      <a:pPr marL="0" marR="0" lvl="0" indent="0" algn="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Build a warehouse in Los Angeles?</a:t>
                      </a:r>
                    </a:p>
                  </a:txBody>
                  <a:tcPr marT="45731" marB="4573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0" i="1" u="none" strike="noStrike" cap="none" normalizeH="0" baseline="0" dirty="0">
                        <a:ln>
                          <a:noFill/>
                        </a:ln>
                        <a:solidFill>
                          <a:schemeClr val="tx1"/>
                        </a:solidFill>
                        <a:effectLst/>
                        <a:latin typeface="Times New Roman" pitchFamily="1" charset="0"/>
                      </a:endParaRPr>
                    </a:p>
                  </a:txBody>
                  <a:tcPr marT="45731" marB="4573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6</a:t>
                      </a:r>
                    </a:p>
                  </a:txBody>
                  <a:tcPr marT="45731" marB="45731"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5</a:t>
                      </a:r>
                    </a:p>
                  </a:txBody>
                  <a:tcPr marT="45731" marB="45731"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78375">
                <a:tc>
                  <a:txBody>
                    <a:bodyPr/>
                    <a:lstStyle/>
                    <a:p>
                      <a:pPr marL="0" marR="0" lvl="0" indent="0" algn="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Build a warehouse in San Francisco?</a:t>
                      </a:r>
                    </a:p>
                  </a:txBody>
                  <a:tcPr marT="45731" marB="4573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0" i="1" u="none" strike="noStrike" cap="none" normalizeH="0" baseline="0" dirty="0">
                        <a:ln>
                          <a:noFill/>
                        </a:ln>
                        <a:solidFill>
                          <a:schemeClr val="tx1"/>
                        </a:solidFill>
                        <a:effectLst/>
                        <a:latin typeface="Times New Roman" pitchFamily="1" charset="0"/>
                      </a:endParaRPr>
                    </a:p>
                  </a:txBody>
                  <a:tcPr marT="45731" marB="4573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4</a:t>
                      </a:r>
                    </a:p>
                  </a:txBody>
                  <a:tcPr marT="45731" marB="4573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2</a:t>
                      </a:r>
                    </a:p>
                  </a:txBody>
                  <a:tcPr marT="45731" marB="45731" horzOverflow="overflow">
                    <a:lnL>
                      <a:noFill/>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8375">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a:ln>
                          <a:noFill/>
                        </a:ln>
                        <a:solidFill>
                          <a:schemeClr val="tx1"/>
                        </a:solidFill>
                        <a:effectLst/>
                        <a:latin typeface="Times New Roman" pitchFamily="1" charset="0"/>
                      </a:endParaRPr>
                    </a:p>
                  </a:txBody>
                  <a:tcPr marT="45731" marB="45731"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gridSpan="3">
                  <a:txBody>
                    <a:bodyPr/>
                    <a:lstStyle/>
                    <a:p>
                      <a:pPr marL="0" marR="0" lvl="0" indent="0" algn="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Capital Available: $10 million</a:t>
                      </a:r>
                    </a:p>
                  </a:txBody>
                  <a:tcPr marT="45731" marB="45731"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56511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Integer/Binary Programming</a:t>
            </a:r>
          </a:p>
        </p:txBody>
      </p:sp>
      <p:sp>
        <p:nvSpPr>
          <p:cNvPr id="3" name="Content Placeholder 2"/>
          <p:cNvSpPr>
            <a:spLocks noGrp="1"/>
          </p:cNvSpPr>
          <p:nvPr>
            <p:ph idx="1"/>
          </p:nvPr>
        </p:nvSpPr>
        <p:spPr/>
        <p:txBody>
          <a:bodyPr/>
          <a:lstStyle/>
          <a:p>
            <a:r>
              <a:rPr lang="en-US" b="1" u="sng" dirty="0">
                <a:ea typeface="ＭＳ Ｐゴシック"/>
              </a:rPr>
              <a:t>Case: </a:t>
            </a:r>
            <a:r>
              <a:rPr lang="en-US" b="1" u="sng" dirty="0"/>
              <a:t>California Manufacturing Co. Problem (Chapter 6.1)</a:t>
            </a:r>
          </a:p>
          <a:p>
            <a:r>
              <a:rPr lang="en-US" b="1" dirty="0">
                <a:solidFill>
                  <a:srgbClr val="C00000"/>
                </a:solidFill>
              </a:rPr>
              <a:t>STEP 1: </a:t>
            </a:r>
            <a:r>
              <a:rPr lang="en-US" dirty="0"/>
              <a:t>Decision variables</a:t>
            </a:r>
          </a:p>
          <a:p>
            <a:pPr lvl="1"/>
            <a:r>
              <a:rPr lang="en-US" i="1" dirty="0"/>
              <a:t>x</a:t>
            </a:r>
            <a:r>
              <a:rPr lang="en-US" baseline="-25000" dirty="0"/>
              <a:t>1</a:t>
            </a:r>
            <a:r>
              <a:rPr lang="en-US" dirty="0"/>
              <a:t> = 1 if build a factory in L.A.; 0 otherwise</a:t>
            </a:r>
          </a:p>
          <a:p>
            <a:pPr lvl="1"/>
            <a:r>
              <a:rPr lang="en-US" i="1" dirty="0"/>
              <a:t>x</a:t>
            </a:r>
            <a:r>
              <a:rPr lang="en-US" baseline="-25000" dirty="0"/>
              <a:t>2</a:t>
            </a:r>
            <a:r>
              <a:rPr lang="en-US" dirty="0"/>
              <a:t> = 1 if build a factory in S.F.; 0 otherwise</a:t>
            </a:r>
          </a:p>
          <a:p>
            <a:pPr lvl="1"/>
            <a:r>
              <a:rPr lang="en-US" i="1" dirty="0"/>
              <a:t>x</a:t>
            </a:r>
            <a:r>
              <a:rPr lang="en-US" baseline="-25000" dirty="0"/>
              <a:t>3</a:t>
            </a:r>
            <a:r>
              <a:rPr lang="en-US" dirty="0"/>
              <a:t> = 1 if build a warehouse in L.A.; 0 otherwise</a:t>
            </a:r>
          </a:p>
          <a:p>
            <a:pPr lvl="1"/>
            <a:r>
              <a:rPr lang="en-US" i="1" dirty="0"/>
              <a:t>x</a:t>
            </a:r>
            <a:r>
              <a:rPr lang="en-US" baseline="-25000" dirty="0"/>
              <a:t>4</a:t>
            </a:r>
            <a:r>
              <a:rPr lang="en-US" dirty="0"/>
              <a:t> = 1 if build a warehouse in S.F.; 0 otherwise</a:t>
            </a:r>
          </a:p>
          <a:p>
            <a:endParaRPr lang="en-US" dirty="0"/>
          </a:p>
          <a:p>
            <a:pPr lvl="1"/>
            <a:endParaRPr lang="en-US" dirty="0"/>
          </a:p>
          <a:p>
            <a:endParaRPr lang="en-US" dirty="0"/>
          </a:p>
          <a:p>
            <a:endParaRPr lang="en-US" dirty="0">
              <a:ea typeface="ＭＳ Ｐゴシック"/>
            </a:endParaRPr>
          </a:p>
        </p:txBody>
      </p:sp>
      <p:graphicFrame>
        <p:nvGraphicFramePr>
          <p:cNvPr id="5" name="Group 115"/>
          <p:cNvGraphicFramePr>
            <a:graphicFrameLocks/>
          </p:cNvGraphicFramePr>
          <p:nvPr>
            <p:extLst>
              <p:ext uri="{D42A27DB-BD31-4B8C-83A1-F6EECF244321}">
                <p14:modId xmlns:p14="http://schemas.microsoft.com/office/powerpoint/2010/main" val="2868893349"/>
              </p:ext>
            </p:extLst>
          </p:nvPr>
        </p:nvGraphicFramePr>
        <p:xfrm>
          <a:off x="359535" y="4291535"/>
          <a:ext cx="11832465" cy="1709670"/>
        </p:xfrm>
        <a:graphic>
          <a:graphicData uri="http://schemas.openxmlformats.org/drawingml/2006/table">
            <a:tbl>
              <a:tblPr/>
              <a:tblGrid>
                <a:gridCol w="1856072">
                  <a:extLst>
                    <a:ext uri="{9D8B030D-6E8A-4147-A177-3AD203B41FA5}">
                      <a16:colId xmlns:a16="http://schemas.microsoft.com/office/drawing/2014/main" val="20000"/>
                    </a:ext>
                  </a:extLst>
                </a:gridCol>
                <a:gridCol w="2088083">
                  <a:extLst>
                    <a:ext uri="{9D8B030D-6E8A-4147-A177-3AD203B41FA5}">
                      <a16:colId xmlns:a16="http://schemas.microsoft.com/office/drawing/2014/main" val="20001"/>
                    </a:ext>
                  </a:extLst>
                </a:gridCol>
                <a:gridCol w="1972078">
                  <a:extLst>
                    <a:ext uri="{9D8B030D-6E8A-4147-A177-3AD203B41FA5}">
                      <a16:colId xmlns:a16="http://schemas.microsoft.com/office/drawing/2014/main" val="20002"/>
                    </a:ext>
                  </a:extLst>
                </a:gridCol>
                <a:gridCol w="3132122">
                  <a:extLst>
                    <a:ext uri="{9D8B030D-6E8A-4147-A177-3AD203B41FA5}">
                      <a16:colId xmlns:a16="http://schemas.microsoft.com/office/drawing/2014/main" val="20003"/>
                    </a:ext>
                  </a:extLst>
                </a:gridCol>
                <a:gridCol w="2784110">
                  <a:extLst>
                    <a:ext uri="{9D8B030D-6E8A-4147-A177-3AD203B41FA5}">
                      <a16:colId xmlns:a16="http://schemas.microsoft.com/office/drawing/2014/main" val="20004"/>
                    </a:ext>
                  </a:extLst>
                </a:gridCol>
              </a:tblGrid>
              <a:tr h="368550">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Decision Number</a:t>
                      </a:r>
                    </a:p>
                  </a:txBody>
                  <a:tcPr anchor="b"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Decision Variable</a:t>
                      </a:r>
                    </a:p>
                  </a:txBody>
                  <a:tcPr anchor="b"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Possible Value</a:t>
                      </a:r>
                    </a:p>
                  </a:txBody>
                  <a:tcPr anchor="b"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Interpretation of a Value of 1</a:t>
                      </a:r>
                    </a:p>
                  </a:txBody>
                  <a:tcPr anchor="b" horzOverflow="overflow">
                    <a:lnL>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Interpretation of a Value of 0</a:t>
                      </a:r>
                    </a:p>
                  </a:txBody>
                  <a:tcPr anchor="b"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287135">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1" u="none" strike="noStrike" cap="none" normalizeH="0" baseline="0" dirty="0">
                          <a:ln>
                            <a:noFill/>
                          </a:ln>
                          <a:solidFill>
                            <a:schemeClr val="tx1"/>
                          </a:solidFill>
                          <a:effectLst/>
                          <a:latin typeface="Times New Roman" pitchFamily="1" charset="0"/>
                        </a:rPr>
                        <a:t>x</a:t>
                      </a:r>
                      <a:r>
                        <a:rPr kumimoji="0" lang="en-US" sz="1600" b="0" i="0" u="none" strike="noStrike" cap="none" normalizeH="0" baseline="-25000" dirty="0">
                          <a:ln>
                            <a:noFill/>
                          </a:ln>
                          <a:solidFill>
                            <a:schemeClr val="tx1"/>
                          </a:solidFill>
                          <a:effectLst/>
                          <a:latin typeface="Times New Roman" pitchFamily="1" charset="0"/>
                        </a:rPr>
                        <a:t>1</a:t>
                      </a:r>
                      <a:endParaRPr kumimoji="0" lang="en-US" sz="1600" b="0" i="1" u="none" strike="noStrike" cap="none" normalizeH="0" baseline="0" dirty="0">
                        <a:ln>
                          <a:noFill/>
                        </a:ln>
                        <a:solidFill>
                          <a:schemeClr val="tx1"/>
                        </a:solidFill>
                        <a:effectLst/>
                        <a:latin typeface="Times New Roman" pitchFamily="1"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0 or 1</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Build a factory in Los Angeles</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Do not build this factory</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287135">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2</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1" u="none" strike="noStrike" cap="none" normalizeH="0" baseline="0">
                          <a:ln>
                            <a:noFill/>
                          </a:ln>
                          <a:solidFill>
                            <a:schemeClr val="tx1"/>
                          </a:solidFill>
                          <a:effectLst/>
                          <a:latin typeface="Times New Roman" pitchFamily="1" charset="0"/>
                        </a:rPr>
                        <a:t>x</a:t>
                      </a:r>
                      <a:r>
                        <a:rPr kumimoji="0" lang="en-US" sz="1600" b="0" i="0" u="none" strike="noStrike" cap="none" normalizeH="0" baseline="-25000">
                          <a:ln>
                            <a:noFill/>
                          </a:ln>
                          <a:solidFill>
                            <a:schemeClr val="tx1"/>
                          </a:solidFill>
                          <a:effectLst/>
                          <a:latin typeface="Times New Roman" pitchFamily="1" charset="0"/>
                        </a:rPr>
                        <a:t>2</a:t>
                      </a:r>
                      <a:endParaRPr kumimoji="0" lang="en-US" sz="1600" b="0" i="1" u="none" strike="noStrike" cap="none" normalizeH="0" baseline="0">
                        <a:ln>
                          <a:noFill/>
                        </a:ln>
                        <a:solidFill>
                          <a:schemeClr val="tx1"/>
                        </a:solidFill>
                        <a:effectLst/>
                        <a:latin typeface="Times New Roman" pitchFamily="1"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0 or 1</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Build a factory in San Francisco</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Do not build this factory</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87135">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3</a:t>
                      </a:r>
                    </a:p>
                  </a:txBody>
                  <a:tcPr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1" u="none" strike="noStrike" cap="none" normalizeH="0" baseline="0" dirty="0">
                          <a:ln>
                            <a:noFill/>
                          </a:ln>
                          <a:solidFill>
                            <a:schemeClr val="tx1"/>
                          </a:solidFill>
                          <a:effectLst/>
                          <a:latin typeface="Times New Roman" pitchFamily="1" charset="0"/>
                        </a:rPr>
                        <a:t>x</a:t>
                      </a:r>
                      <a:r>
                        <a:rPr kumimoji="0" lang="en-US" sz="1600" b="0" i="0" u="none" strike="noStrike" cap="none" normalizeH="0" baseline="-25000" dirty="0">
                          <a:ln>
                            <a:noFill/>
                          </a:ln>
                          <a:solidFill>
                            <a:schemeClr val="tx1"/>
                          </a:solidFill>
                          <a:effectLst/>
                          <a:latin typeface="Times New Roman" pitchFamily="1" charset="0"/>
                        </a:rPr>
                        <a:t>3</a:t>
                      </a:r>
                      <a:endParaRPr kumimoji="0" lang="en-US" sz="1600" b="0" i="1" u="none" strike="noStrike" cap="none" normalizeH="0" baseline="0" dirty="0">
                        <a:ln>
                          <a:noFill/>
                        </a:ln>
                        <a:solidFill>
                          <a:schemeClr val="tx1"/>
                        </a:solidFill>
                        <a:effectLst/>
                        <a:latin typeface="Times New Roman" pitchFamily="1"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0 or 1</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Build a warehouse in Los Angeles</a:t>
                      </a:r>
                    </a:p>
                  </a:txBody>
                  <a:tcPr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Do not build this warehouse</a:t>
                      </a:r>
                    </a:p>
                  </a:txBody>
                  <a:tcPr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87135">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4</a:t>
                      </a:r>
                    </a:p>
                  </a:txBody>
                  <a:tcPr anchor="ct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1" u="none" strike="noStrike" cap="none" normalizeH="0" baseline="0">
                          <a:ln>
                            <a:noFill/>
                          </a:ln>
                          <a:solidFill>
                            <a:schemeClr val="tx1"/>
                          </a:solidFill>
                          <a:effectLst/>
                          <a:latin typeface="Times New Roman" pitchFamily="1" charset="0"/>
                        </a:rPr>
                        <a:t>x</a:t>
                      </a:r>
                      <a:r>
                        <a:rPr kumimoji="0" lang="en-US" sz="1600" b="0" i="0" u="none" strike="noStrike" cap="none" normalizeH="0" baseline="-25000">
                          <a:ln>
                            <a:noFill/>
                          </a:ln>
                          <a:solidFill>
                            <a:schemeClr val="tx1"/>
                          </a:solidFill>
                          <a:effectLst/>
                          <a:latin typeface="Times New Roman" pitchFamily="1" charset="0"/>
                        </a:rPr>
                        <a:t>4</a:t>
                      </a:r>
                      <a:endParaRPr kumimoji="0" lang="en-US" sz="1600" b="0" i="1" u="none" strike="noStrike" cap="none" normalizeH="0" baseline="0">
                        <a:ln>
                          <a:noFill/>
                        </a:ln>
                        <a:solidFill>
                          <a:schemeClr val="tx1"/>
                        </a:solidFill>
                        <a:effectLst/>
                        <a:latin typeface="Times New Roman" pitchFamily="1" charset="0"/>
                      </a:endParaRP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0 or 1</a:t>
                      </a: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Build a warehouse in San Francisco</a:t>
                      </a:r>
                    </a:p>
                  </a:txBody>
                  <a:tcPr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Do not build this warehouse</a:t>
                      </a:r>
                    </a:p>
                  </a:txBody>
                  <a:tcPr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 name="TextBox 3"/>
          <p:cNvSpPr txBox="1"/>
          <p:nvPr/>
        </p:nvSpPr>
        <p:spPr>
          <a:xfrm>
            <a:off x="8431370" y="2343487"/>
            <a:ext cx="3185374" cy="1200329"/>
          </a:xfrm>
          <a:prstGeom prst="rect">
            <a:avLst/>
          </a:prstGeom>
          <a:noFill/>
        </p:spPr>
        <p:txBody>
          <a:bodyPr wrap="square" rtlCol="0">
            <a:spAutoFit/>
          </a:bodyPr>
          <a:lstStyle/>
          <a:p>
            <a:r>
              <a:rPr lang="en-US" b="1" dirty="0">
                <a:solidFill>
                  <a:srgbClr val="C00000"/>
                </a:solidFill>
              </a:rPr>
              <a:t>When defining binary variables, make sure to explain what 0 means and what 1 means for the variable!</a:t>
            </a:r>
          </a:p>
        </p:txBody>
      </p:sp>
    </p:spTree>
    <p:extLst>
      <p:ext uri="{BB962C8B-B14F-4D97-AF65-F5344CB8AC3E}">
        <p14:creationId xmlns:p14="http://schemas.microsoft.com/office/powerpoint/2010/main" val="2998239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Integer/Binary Programming</a:t>
            </a:r>
          </a:p>
        </p:txBody>
      </p:sp>
      <p:sp>
        <p:nvSpPr>
          <p:cNvPr id="3" name="Content Placeholder 2"/>
          <p:cNvSpPr>
            <a:spLocks noGrp="1"/>
          </p:cNvSpPr>
          <p:nvPr>
            <p:ph idx="1"/>
          </p:nvPr>
        </p:nvSpPr>
        <p:spPr/>
        <p:txBody>
          <a:bodyPr/>
          <a:lstStyle/>
          <a:p>
            <a:r>
              <a:rPr lang="en-US" b="1" u="sng" dirty="0">
                <a:ea typeface="ＭＳ Ｐゴシック"/>
              </a:rPr>
              <a:t>Case: </a:t>
            </a:r>
            <a:r>
              <a:rPr lang="en-US" b="1" u="sng" dirty="0"/>
              <a:t>California Manufacturing Co. Problem (Chapter 6.1)</a:t>
            </a:r>
          </a:p>
          <a:p>
            <a:r>
              <a:rPr lang="en-US" b="1" dirty="0">
                <a:solidFill>
                  <a:srgbClr val="C00000"/>
                </a:solidFill>
              </a:rPr>
              <a:t>STEP 2: </a:t>
            </a:r>
            <a:r>
              <a:rPr lang="en-US" dirty="0"/>
              <a:t>Objective and objective function</a:t>
            </a:r>
          </a:p>
          <a:p>
            <a:pPr lvl="1"/>
            <a:r>
              <a:rPr lang="en-US" dirty="0"/>
              <a:t>Maximize NPV = 8</a:t>
            </a:r>
            <a:r>
              <a:rPr lang="en-US" i="1" dirty="0"/>
              <a:t>x</a:t>
            </a:r>
            <a:r>
              <a:rPr lang="en-US" baseline="-25000" dirty="0"/>
              <a:t>1</a:t>
            </a:r>
            <a:r>
              <a:rPr lang="en-US" dirty="0"/>
              <a:t> + 5</a:t>
            </a:r>
            <a:r>
              <a:rPr lang="en-US" i="1" dirty="0"/>
              <a:t>x</a:t>
            </a:r>
            <a:r>
              <a:rPr lang="en-US" baseline="-25000" dirty="0"/>
              <a:t>2</a:t>
            </a:r>
            <a:r>
              <a:rPr lang="en-US" dirty="0"/>
              <a:t> + 6</a:t>
            </a:r>
            <a:r>
              <a:rPr lang="en-US" i="1" dirty="0"/>
              <a:t>x</a:t>
            </a:r>
            <a:r>
              <a:rPr lang="en-US" baseline="-25000" dirty="0"/>
              <a:t>3</a:t>
            </a:r>
            <a:r>
              <a:rPr lang="en-US" dirty="0"/>
              <a:t> + 4</a:t>
            </a:r>
            <a:r>
              <a:rPr lang="en-US" i="1" dirty="0"/>
              <a:t>x</a:t>
            </a:r>
            <a:r>
              <a:rPr lang="en-US" baseline="-25000" dirty="0"/>
              <a:t>4</a:t>
            </a:r>
            <a:r>
              <a:rPr lang="en-US" dirty="0"/>
              <a:t>  ($millions)</a:t>
            </a:r>
          </a:p>
          <a:p>
            <a:r>
              <a:rPr lang="en-US" b="1" dirty="0">
                <a:solidFill>
                  <a:srgbClr val="C00000"/>
                </a:solidFill>
              </a:rPr>
              <a:t>STEP 3: </a:t>
            </a:r>
            <a:r>
              <a:rPr lang="en-US" dirty="0"/>
              <a:t>Constraints</a:t>
            </a:r>
          </a:p>
          <a:p>
            <a:pPr lvl="1"/>
            <a:r>
              <a:rPr lang="en-US" dirty="0"/>
              <a:t>Capital available</a:t>
            </a:r>
          </a:p>
          <a:p>
            <a:pPr marL="457200" lvl="1" indent="0">
              <a:buNone/>
            </a:pPr>
            <a:r>
              <a:rPr lang="en-US" dirty="0"/>
              <a:t>		6</a:t>
            </a:r>
            <a:r>
              <a:rPr lang="en-US" i="1" dirty="0"/>
              <a:t>x</a:t>
            </a:r>
            <a:r>
              <a:rPr lang="en-US" baseline="-25000" dirty="0"/>
              <a:t>1</a:t>
            </a:r>
            <a:r>
              <a:rPr lang="en-US" dirty="0"/>
              <a:t> + 3</a:t>
            </a:r>
            <a:r>
              <a:rPr lang="en-US" i="1" dirty="0"/>
              <a:t>x</a:t>
            </a:r>
            <a:r>
              <a:rPr lang="en-US" baseline="-25000" dirty="0"/>
              <a:t>2</a:t>
            </a:r>
            <a:r>
              <a:rPr lang="en-US" dirty="0"/>
              <a:t> + 5</a:t>
            </a:r>
            <a:r>
              <a:rPr lang="en-US" i="1" dirty="0"/>
              <a:t>x</a:t>
            </a:r>
            <a:r>
              <a:rPr lang="en-US" baseline="-25000" dirty="0"/>
              <a:t>3</a:t>
            </a:r>
            <a:r>
              <a:rPr lang="en-US" dirty="0"/>
              <a:t> + 2</a:t>
            </a:r>
            <a:r>
              <a:rPr lang="en-US" i="1" dirty="0"/>
              <a:t>x</a:t>
            </a:r>
            <a:r>
              <a:rPr lang="en-US" baseline="-25000" dirty="0"/>
              <a:t>4</a:t>
            </a:r>
            <a:r>
              <a:rPr lang="en-US" dirty="0"/>
              <a:t> ≤ 10 ($millions)</a:t>
            </a:r>
          </a:p>
          <a:p>
            <a:pPr lvl="1"/>
            <a:r>
              <a:rPr lang="en-US" dirty="0"/>
              <a:t>Management is also considering building at most one new warehouse, </a:t>
            </a:r>
          </a:p>
          <a:p>
            <a:pPr marL="457200" lvl="1" indent="0">
              <a:buNone/>
            </a:pPr>
            <a:r>
              <a:rPr lang="en-US" i="1" dirty="0"/>
              <a:t>		x</a:t>
            </a:r>
            <a:r>
              <a:rPr lang="en-US" baseline="-25000" dirty="0"/>
              <a:t>3</a:t>
            </a:r>
            <a:r>
              <a:rPr lang="en-US" dirty="0"/>
              <a:t> + </a:t>
            </a:r>
            <a:r>
              <a:rPr lang="en-US" i="1" dirty="0"/>
              <a:t>x</a:t>
            </a:r>
            <a:r>
              <a:rPr lang="en-US" baseline="-25000" dirty="0"/>
              <a:t>4</a:t>
            </a:r>
            <a:r>
              <a:rPr lang="en-US" dirty="0"/>
              <a:t> ≤ 1</a:t>
            </a:r>
          </a:p>
          <a:p>
            <a:pPr lvl="1"/>
            <a:r>
              <a:rPr lang="en-US" dirty="0"/>
              <a:t>but will restrict the choice to a city where a new factory is being built</a:t>
            </a:r>
          </a:p>
          <a:p>
            <a:pPr lvl="7"/>
            <a:endParaRPr lang="en-US" dirty="0"/>
          </a:p>
          <a:p>
            <a:pPr marL="457200" lvl="1" indent="0">
              <a:spcBef>
                <a:spcPts val="1200"/>
              </a:spcBef>
              <a:spcAft>
                <a:spcPts val="1200"/>
              </a:spcAft>
              <a:buNone/>
            </a:pPr>
            <a:r>
              <a:rPr lang="en-US" i="1" dirty="0"/>
              <a:t>		</a:t>
            </a:r>
            <a:endParaRPr lang="en-US" dirty="0"/>
          </a:p>
          <a:p>
            <a:endParaRPr lang="en-US" dirty="0"/>
          </a:p>
          <a:p>
            <a:endParaRPr lang="en-US" dirty="0"/>
          </a:p>
          <a:p>
            <a:endParaRPr lang="en-US" dirty="0"/>
          </a:p>
          <a:p>
            <a:pPr lvl="1"/>
            <a:endParaRPr lang="en-US" dirty="0"/>
          </a:p>
          <a:p>
            <a:endParaRPr lang="en-US" dirty="0"/>
          </a:p>
          <a:p>
            <a:endParaRPr lang="en-US" dirty="0">
              <a:ea typeface="ＭＳ Ｐゴシック"/>
            </a:endParaRPr>
          </a:p>
        </p:txBody>
      </p:sp>
      <p:sp>
        <p:nvSpPr>
          <p:cNvPr id="6" name="Right Brace 5"/>
          <p:cNvSpPr/>
          <p:nvPr/>
        </p:nvSpPr>
        <p:spPr bwMode="auto">
          <a:xfrm>
            <a:off x="3312017" y="5463359"/>
            <a:ext cx="685800" cy="1098177"/>
          </a:xfrm>
          <a:prstGeom prst="rightBrace">
            <a:avLst/>
          </a:prstGeom>
          <a:ln>
            <a:solidFill>
              <a:srgbClr val="C00000"/>
            </a:solidFill>
            <a:headEnd type="none" w="med" len="med"/>
            <a:tailEnd type="none"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7" name="TextBox 6"/>
          <p:cNvSpPr txBox="1"/>
          <p:nvPr/>
        </p:nvSpPr>
        <p:spPr>
          <a:xfrm>
            <a:off x="4124459" y="5335340"/>
            <a:ext cx="4191000" cy="1354217"/>
          </a:xfrm>
          <a:prstGeom prst="rect">
            <a:avLst/>
          </a:prstGeom>
          <a:noFill/>
        </p:spPr>
        <p:txBody>
          <a:bodyPr wrap="square" rtlCol="0">
            <a:spAutoFit/>
          </a:bodyPr>
          <a:lstStyle/>
          <a:p>
            <a:pPr marL="342900" indent="-342900">
              <a:buFont typeface="Arial" pitchFamily="34" charset="0"/>
              <a:buChar char="•"/>
            </a:pPr>
            <a:r>
              <a:rPr lang="en-US" dirty="0"/>
              <a:t>If </a:t>
            </a:r>
            <a:r>
              <a:rPr lang="en-US" i="1" dirty="0"/>
              <a:t>x</a:t>
            </a:r>
            <a:r>
              <a:rPr lang="en-US" baseline="-25000" dirty="0"/>
              <a:t>1</a:t>
            </a:r>
            <a:r>
              <a:rPr lang="en-US" dirty="0"/>
              <a:t>=0, then </a:t>
            </a:r>
            <a:r>
              <a:rPr lang="en-US" i="1" dirty="0"/>
              <a:t>x</a:t>
            </a:r>
            <a:r>
              <a:rPr lang="en-US" baseline="-25000" dirty="0"/>
              <a:t>3</a:t>
            </a:r>
            <a:r>
              <a:rPr lang="en-US" dirty="0"/>
              <a:t>=0</a:t>
            </a:r>
          </a:p>
          <a:p>
            <a:pPr marL="342900" indent="-342900">
              <a:spcAft>
                <a:spcPts val="1200"/>
              </a:spcAft>
              <a:buFont typeface="Arial" pitchFamily="34" charset="0"/>
              <a:buChar char="•"/>
            </a:pPr>
            <a:r>
              <a:rPr lang="en-US" dirty="0"/>
              <a:t>If </a:t>
            </a:r>
            <a:r>
              <a:rPr lang="en-US" i="1" dirty="0"/>
              <a:t>x</a:t>
            </a:r>
            <a:r>
              <a:rPr lang="en-US" baseline="-25000" dirty="0"/>
              <a:t>1</a:t>
            </a:r>
            <a:r>
              <a:rPr lang="en-US" dirty="0"/>
              <a:t>=1, then </a:t>
            </a:r>
            <a:r>
              <a:rPr lang="en-US" i="1" dirty="0"/>
              <a:t>x</a:t>
            </a:r>
            <a:r>
              <a:rPr lang="en-US" baseline="-25000" dirty="0"/>
              <a:t>3</a:t>
            </a:r>
            <a:r>
              <a:rPr lang="en-US" dirty="0"/>
              <a:t>=1 or </a:t>
            </a:r>
            <a:r>
              <a:rPr lang="en-US" i="1" dirty="0"/>
              <a:t>x</a:t>
            </a:r>
            <a:r>
              <a:rPr lang="en-US" baseline="-25000" dirty="0"/>
              <a:t>3</a:t>
            </a:r>
            <a:r>
              <a:rPr lang="en-US" dirty="0"/>
              <a:t>=0</a:t>
            </a:r>
          </a:p>
          <a:p>
            <a:pPr marL="342900" indent="-342900">
              <a:buFont typeface="Arial" pitchFamily="34" charset="0"/>
              <a:buChar char="•"/>
            </a:pPr>
            <a:r>
              <a:rPr lang="en-US" dirty="0"/>
              <a:t>If </a:t>
            </a:r>
            <a:r>
              <a:rPr lang="en-US" i="1" dirty="0"/>
              <a:t>x</a:t>
            </a:r>
            <a:r>
              <a:rPr lang="en-US" baseline="-25000" dirty="0"/>
              <a:t>2</a:t>
            </a:r>
            <a:r>
              <a:rPr lang="en-US" dirty="0"/>
              <a:t>=0, then </a:t>
            </a:r>
            <a:r>
              <a:rPr lang="en-US" i="1" dirty="0"/>
              <a:t>x</a:t>
            </a:r>
            <a:r>
              <a:rPr lang="en-US" baseline="-25000" dirty="0"/>
              <a:t>4</a:t>
            </a:r>
            <a:r>
              <a:rPr lang="en-US" dirty="0"/>
              <a:t>=0</a:t>
            </a:r>
          </a:p>
          <a:p>
            <a:pPr marL="342900" indent="-342900">
              <a:buFont typeface="Arial" pitchFamily="34" charset="0"/>
              <a:buChar char="•"/>
            </a:pPr>
            <a:r>
              <a:rPr lang="en-US" dirty="0"/>
              <a:t>If </a:t>
            </a:r>
            <a:r>
              <a:rPr lang="en-US" i="1" dirty="0"/>
              <a:t>x</a:t>
            </a:r>
            <a:r>
              <a:rPr lang="en-US" baseline="-25000" dirty="0"/>
              <a:t>2</a:t>
            </a:r>
            <a:r>
              <a:rPr lang="en-US" dirty="0"/>
              <a:t>=1, then </a:t>
            </a:r>
            <a:r>
              <a:rPr lang="en-US" i="1" dirty="0"/>
              <a:t>x</a:t>
            </a:r>
            <a:r>
              <a:rPr lang="en-US" baseline="-25000" dirty="0"/>
              <a:t>4</a:t>
            </a:r>
            <a:r>
              <a:rPr lang="en-US" dirty="0"/>
              <a:t>=1 or </a:t>
            </a:r>
            <a:r>
              <a:rPr lang="en-US" i="1" dirty="0"/>
              <a:t>x</a:t>
            </a:r>
            <a:r>
              <a:rPr lang="en-US" baseline="-25000" dirty="0"/>
              <a:t>4</a:t>
            </a:r>
            <a:r>
              <a:rPr lang="en-US" dirty="0"/>
              <a:t>=0</a:t>
            </a:r>
          </a:p>
        </p:txBody>
      </p:sp>
      <p:sp>
        <p:nvSpPr>
          <p:cNvPr id="8" name="Rectangle 7"/>
          <p:cNvSpPr/>
          <p:nvPr/>
        </p:nvSpPr>
        <p:spPr>
          <a:xfrm>
            <a:off x="1584576" y="5335340"/>
            <a:ext cx="2070341" cy="1107996"/>
          </a:xfrm>
          <a:prstGeom prst="rect">
            <a:avLst/>
          </a:prstGeom>
        </p:spPr>
        <p:txBody>
          <a:bodyPr wrap="square">
            <a:spAutoFit/>
          </a:bodyPr>
          <a:lstStyle/>
          <a:p>
            <a:pPr lvl="1">
              <a:spcBef>
                <a:spcPts val="1800"/>
              </a:spcBef>
              <a:spcAft>
                <a:spcPts val="1200"/>
              </a:spcAft>
            </a:pPr>
            <a:r>
              <a:rPr lang="en-US" sz="2800" i="1" dirty="0"/>
              <a:t>x</a:t>
            </a:r>
            <a:r>
              <a:rPr lang="en-US" sz="2800" baseline="-25000" dirty="0"/>
              <a:t>3</a:t>
            </a:r>
            <a:r>
              <a:rPr lang="en-US" sz="2800" dirty="0"/>
              <a:t> ≤ </a:t>
            </a:r>
            <a:r>
              <a:rPr lang="en-US" sz="2800" i="1" dirty="0"/>
              <a:t>x</a:t>
            </a:r>
            <a:r>
              <a:rPr lang="en-US" sz="2800" baseline="-25000" dirty="0"/>
              <a:t>1</a:t>
            </a:r>
            <a:endParaRPr lang="en-US" sz="2800" dirty="0"/>
          </a:p>
          <a:p>
            <a:pPr lvl="1"/>
            <a:r>
              <a:rPr lang="en-US" sz="2800" i="1" dirty="0"/>
              <a:t>x</a:t>
            </a:r>
            <a:r>
              <a:rPr lang="en-US" sz="2800" baseline="-25000" dirty="0"/>
              <a:t>4</a:t>
            </a:r>
            <a:r>
              <a:rPr lang="en-US" sz="2800" dirty="0"/>
              <a:t> ≤ </a:t>
            </a:r>
            <a:r>
              <a:rPr lang="en-US" sz="2800" i="1" dirty="0"/>
              <a:t>x</a:t>
            </a:r>
            <a:r>
              <a:rPr lang="en-US" sz="2800" baseline="-25000" dirty="0"/>
              <a:t>2</a:t>
            </a:r>
            <a:endParaRPr lang="en-US" sz="2800" dirty="0"/>
          </a:p>
        </p:txBody>
      </p:sp>
    </p:spTree>
    <p:extLst>
      <p:ext uri="{BB962C8B-B14F-4D97-AF65-F5344CB8AC3E}">
        <p14:creationId xmlns:p14="http://schemas.microsoft.com/office/powerpoint/2010/main" val="431124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Integer/Binary Programming</a:t>
            </a:r>
          </a:p>
        </p:txBody>
      </p:sp>
      <p:sp>
        <p:nvSpPr>
          <p:cNvPr id="3" name="Content Placeholder 2"/>
          <p:cNvSpPr>
            <a:spLocks noGrp="1"/>
          </p:cNvSpPr>
          <p:nvPr>
            <p:ph idx="1"/>
          </p:nvPr>
        </p:nvSpPr>
        <p:spPr/>
        <p:txBody>
          <a:bodyPr/>
          <a:lstStyle/>
          <a:p>
            <a:r>
              <a:rPr lang="en-US" b="1" u="sng" dirty="0">
                <a:ea typeface="ＭＳ Ｐゴシック"/>
              </a:rPr>
              <a:t>Case: </a:t>
            </a:r>
            <a:r>
              <a:rPr lang="en-US" b="1" u="sng" dirty="0"/>
              <a:t>California Manufacturing Co. Problem (Chapter 6.1)</a:t>
            </a:r>
          </a:p>
          <a:p>
            <a:r>
              <a:rPr lang="en-US" dirty="0"/>
              <a:t>Combining everything (not forgetting binary definition constraints), we have:</a:t>
            </a:r>
          </a:p>
          <a:p>
            <a:pPr lvl="1"/>
            <a:endParaRPr lang="en-US" dirty="0"/>
          </a:p>
          <a:p>
            <a:endParaRPr lang="en-US" dirty="0"/>
          </a:p>
          <a:p>
            <a:endParaRPr lang="en-US" dirty="0">
              <a:ea typeface="ＭＳ Ｐゴシック"/>
            </a:endParaRPr>
          </a:p>
        </p:txBody>
      </p:sp>
      <p:sp>
        <p:nvSpPr>
          <p:cNvPr id="4" name="Rectangle 3"/>
          <p:cNvSpPr/>
          <p:nvPr/>
        </p:nvSpPr>
        <p:spPr>
          <a:xfrm>
            <a:off x="2223753" y="2405870"/>
            <a:ext cx="7474039" cy="2677656"/>
          </a:xfrm>
          <a:prstGeom prst="rect">
            <a:avLst/>
          </a:prstGeom>
          <a:ln w="28575">
            <a:solidFill>
              <a:srgbClr val="C00000"/>
            </a:solidFill>
          </a:ln>
        </p:spPr>
        <p:txBody>
          <a:bodyPr wrap="square">
            <a:spAutoFit/>
          </a:bodyPr>
          <a:lstStyle/>
          <a:p>
            <a:pPr lvl="1"/>
            <a:r>
              <a:rPr lang="en-US" sz="2800" dirty="0"/>
              <a:t>Maximize 	8</a:t>
            </a:r>
            <a:r>
              <a:rPr lang="en-US" sz="2800" i="1" dirty="0"/>
              <a:t>x</a:t>
            </a:r>
            <a:r>
              <a:rPr lang="en-US" sz="2800" baseline="-25000" dirty="0"/>
              <a:t>1</a:t>
            </a:r>
            <a:r>
              <a:rPr lang="en-US" sz="2800" dirty="0"/>
              <a:t> + 5</a:t>
            </a:r>
            <a:r>
              <a:rPr lang="en-US" sz="2800" i="1" dirty="0"/>
              <a:t>x</a:t>
            </a:r>
            <a:r>
              <a:rPr lang="en-US" sz="2800" baseline="-25000" dirty="0"/>
              <a:t>2</a:t>
            </a:r>
            <a:r>
              <a:rPr lang="en-US" sz="2800" dirty="0"/>
              <a:t> + 6</a:t>
            </a:r>
            <a:r>
              <a:rPr lang="en-US" sz="2800" i="1" dirty="0"/>
              <a:t>x</a:t>
            </a:r>
            <a:r>
              <a:rPr lang="en-US" sz="2800" baseline="-25000" dirty="0"/>
              <a:t>3</a:t>
            </a:r>
            <a:r>
              <a:rPr lang="en-US" sz="2800" dirty="0"/>
              <a:t> + 4</a:t>
            </a:r>
            <a:r>
              <a:rPr lang="en-US" sz="2800" i="1" dirty="0"/>
              <a:t>x</a:t>
            </a:r>
            <a:r>
              <a:rPr lang="en-US" sz="2800" baseline="-25000" dirty="0"/>
              <a:t>4</a:t>
            </a:r>
            <a:endParaRPr lang="en-US" sz="2800" dirty="0"/>
          </a:p>
          <a:p>
            <a:pPr lvl="1"/>
            <a:r>
              <a:rPr lang="en-US" sz="2800" dirty="0"/>
              <a:t>Subject to 	6</a:t>
            </a:r>
            <a:r>
              <a:rPr lang="en-US" sz="2800" i="1" dirty="0"/>
              <a:t>x</a:t>
            </a:r>
            <a:r>
              <a:rPr lang="en-US" sz="2800" baseline="-25000" dirty="0"/>
              <a:t>1</a:t>
            </a:r>
            <a:r>
              <a:rPr lang="en-US" sz="2800" dirty="0"/>
              <a:t> + 3</a:t>
            </a:r>
            <a:r>
              <a:rPr lang="en-US" sz="2800" i="1" dirty="0"/>
              <a:t>x</a:t>
            </a:r>
            <a:r>
              <a:rPr lang="en-US" sz="2800" baseline="-25000" dirty="0"/>
              <a:t>2</a:t>
            </a:r>
            <a:r>
              <a:rPr lang="en-US" sz="2800" dirty="0"/>
              <a:t> + 5</a:t>
            </a:r>
            <a:r>
              <a:rPr lang="en-US" sz="2800" i="1" dirty="0"/>
              <a:t>x</a:t>
            </a:r>
            <a:r>
              <a:rPr lang="en-US" sz="2800" baseline="-25000" dirty="0"/>
              <a:t>3</a:t>
            </a:r>
            <a:r>
              <a:rPr lang="en-US" sz="2800" dirty="0"/>
              <a:t> + 2</a:t>
            </a:r>
            <a:r>
              <a:rPr lang="en-US" sz="2800" i="1" dirty="0"/>
              <a:t>x</a:t>
            </a:r>
            <a:r>
              <a:rPr lang="en-US" sz="2800" baseline="-25000" dirty="0"/>
              <a:t>4</a:t>
            </a:r>
            <a:r>
              <a:rPr lang="en-US" sz="2800" dirty="0"/>
              <a:t> ≤ 10 </a:t>
            </a:r>
          </a:p>
          <a:p>
            <a:pPr lvl="1"/>
            <a:r>
              <a:rPr lang="en-US" sz="2800" i="1" dirty="0"/>
              <a:t>			x</a:t>
            </a:r>
            <a:r>
              <a:rPr lang="en-US" sz="2800" baseline="-25000" dirty="0"/>
              <a:t>3</a:t>
            </a:r>
            <a:r>
              <a:rPr lang="en-US" sz="2800" dirty="0"/>
              <a:t> + </a:t>
            </a:r>
            <a:r>
              <a:rPr lang="en-US" sz="2800" i="1" dirty="0"/>
              <a:t>x</a:t>
            </a:r>
            <a:r>
              <a:rPr lang="en-US" sz="2800" baseline="-25000" dirty="0"/>
              <a:t>4</a:t>
            </a:r>
            <a:r>
              <a:rPr lang="en-US" sz="2800" dirty="0"/>
              <a:t> ≤ 1</a:t>
            </a:r>
          </a:p>
          <a:p>
            <a:pPr lvl="1"/>
            <a:r>
              <a:rPr lang="en-US" sz="2800" i="1" dirty="0"/>
              <a:t>			x</a:t>
            </a:r>
            <a:r>
              <a:rPr lang="en-US" sz="2800" baseline="-25000" dirty="0"/>
              <a:t>3</a:t>
            </a:r>
            <a:r>
              <a:rPr lang="en-US" sz="2800" dirty="0"/>
              <a:t> ≤ </a:t>
            </a:r>
            <a:r>
              <a:rPr lang="en-US" sz="2800" i="1" dirty="0"/>
              <a:t>x</a:t>
            </a:r>
            <a:r>
              <a:rPr lang="en-US" sz="2800" baseline="-25000" dirty="0"/>
              <a:t>1</a:t>
            </a:r>
            <a:br>
              <a:rPr lang="en-US" sz="2800" dirty="0"/>
            </a:br>
            <a:r>
              <a:rPr lang="en-US" sz="2800" dirty="0"/>
              <a:t>			</a:t>
            </a:r>
            <a:r>
              <a:rPr lang="en-US" sz="2800" i="1" dirty="0"/>
              <a:t>x</a:t>
            </a:r>
            <a:r>
              <a:rPr lang="en-US" sz="2800" baseline="-25000" dirty="0"/>
              <a:t>4</a:t>
            </a:r>
            <a:r>
              <a:rPr lang="en-US" sz="2800" dirty="0"/>
              <a:t> ≤ </a:t>
            </a:r>
            <a:r>
              <a:rPr lang="en-US" sz="2800" i="1" dirty="0"/>
              <a:t>x</a:t>
            </a:r>
            <a:r>
              <a:rPr lang="en-US" sz="2800" baseline="-25000" dirty="0"/>
              <a:t>2</a:t>
            </a:r>
          </a:p>
          <a:p>
            <a:pPr lvl="1"/>
            <a:r>
              <a:rPr lang="en-US" sz="2800" i="1" dirty="0"/>
              <a:t>			x</a:t>
            </a:r>
            <a:r>
              <a:rPr lang="en-US" sz="2800" baseline="-25000" dirty="0"/>
              <a:t>1</a:t>
            </a:r>
            <a:r>
              <a:rPr lang="en-US" sz="2800" dirty="0"/>
              <a:t>, </a:t>
            </a:r>
            <a:r>
              <a:rPr lang="en-US" sz="2800" i="1" dirty="0"/>
              <a:t>x</a:t>
            </a:r>
            <a:r>
              <a:rPr lang="en-US" sz="2800" baseline="-25000" dirty="0"/>
              <a:t>2</a:t>
            </a:r>
            <a:r>
              <a:rPr lang="en-US" sz="2800" dirty="0"/>
              <a:t>, </a:t>
            </a:r>
            <a:r>
              <a:rPr lang="en-US" sz="2800" i="1" dirty="0"/>
              <a:t>x</a:t>
            </a:r>
            <a:r>
              <a:rPr lang="en-US" sz="2800" baseline="-25000" dirty="0"/>
              <a:t>3</a:t>
            </a:r>
            <a:r>
              <a:rPr lang="en-US" sz="2800" dirty="0"/>
              <a:t>, </a:t>
            </a:r>
            <a:r>
              <a:rPr lang="en-US" sz="2800" i="1" dirty="0"/>
              <a:t>x</a:t>
            </a:r>
            <a:r>
              <a:rPr lang="en-US" sz="2800" baseline="-25000" dirty="0"/>
              <a:t>4</a:t>
            </a:r>
            <a:r>
              <a:rPr lang="en-US" sz="2800" dirty="0"/>
              <a:t> are binary variables</a:t>
            </a:r>
          </a:p>
        </p:txBody>
      </p:sp>
      <p:sp>
        <p:nvSpPr>
          <p:cNvPr id="6" name="Rectangle 5"/>
          <p:cNvSpPr/>
          <p:nvPr/>
        </p:nvSpPr>
        <p:spPr>
          <a:xfrm>
            <a:off x="4355459" y="5278201"/>
            <a:ext cx="5668539" cy="646331"/>
          </a:xfrm>
          <a:prstGeom prst="rect">
            <a:avLst/>
          </a:prstGeom>
        </p:spPr>
        <p:txBody>
          <a:bodyPr wrap="none">
            <a:spAutoFit/>
          </a:bodyPr>
          <a:lstStyle/>
          <a:p>
            <a:pPr lvl="1"/>
            <a:r>
              <a:rPr lang="en-US" sz="2400" i="1" dirty="0"/>
              <a:t>x</a:t>
            </a:r>
            <a:r>
              <a:rPr lang="en-US" sz="2400" baseline="-25000" dirty="0"/>
              <a:t>1</a:t>
            </a:r>
            <a:r>
              <a:rPr lang="en-US" sz="3600" dirty="0">
                <a:sym typeface="Symbol"/>
              </a:rPr>
              <a:t></a:t>
            </a:r>
            <a:r>
              <a:rPr lang="en-US" sz="2400" dirty="0">
                <a:sym typeface="Symbol"/>
              </a:rPr>
              <a:t>{0,1}, </a:t>
            </a:r>
            <a:r>
              <a:rPr lang="en-US" sz="2400" i="1" dirty="0"/>
              <a:t>x</a:t>
            </a:r>
            <a:r>
              <a:rPr lang="en-US" sz="2400" baseline="-25000" dirty="0"/>
              <a:t>2</a:t>
            </a:r>
            <a:r>
              <a:rPr lang="en-US" sz="3600" dirty="0">
                <a:sym typeface="Symbol"/>
              </a:rPr>
              <a:t></a:t>
            </a:r>
            <a:r>
              <a:rPr lang="en-US" sz="2400" dirty="0">
                <a:sym typeface="Symbol"/>
              </a:rPr>
              <a:t>{0,1}, </a:t>
            </a:r>
            <a:r>
              <a:rPr lang="en-US" sz="2400" i="1" dirty="0"/>
              <a:t>x</a:t>
            </a:r>
            <a:r>
              <a:rPr lang="en-US" sz="2400" baseline="-25000" dirty="0"/>
              <a:t>3</a:t>
            </a:r>
            <a:r>
              <a:rPr lang="en-US" sz="3600" dirty="0">
                <a:sym typeface="Symbol"/>
              </a:rPr>
              <a:t></a:t>
            </a:r>
            <a:r>
              <a:rPr lang="en-US" sz="2400" dirty="0">
                <a:sym typeface="Symbol"/>
              </a:rPr>
              <a:t>{0,1}, </a:t>
            </a:r>
            <a:r>
              <a:rPr lang="en-US" sz="2400" i="1" dirty="0"/>
              <a:t>x</a:t>
            </a:r>
            <a:r>
              <a:rPr lang="en-US" sz="2400" baseline="-25000" dirty="0"/>
              <a:t>4</a:t>
            </a:r>
            <a:r>
              <a:rPr lang="en-US" sz="3600" dirty="0">
                <a:sym typeface="Symbol"/>
              </a:rPr>
              <a:t></a:t>
            </a:r>
            <a:r>
              <a:rPr lang="en-US" sz="2400" dirty="0">
                <a:sym typeface="Symbol"/>
              </a:rPr>
              <a:t>{0,1}</a:t>
            </a:r>
            <a:endParaRPr lang="en-US" sz="2400" dirty="0"/>
          </a:p>
        </p:txBody>
      </p:sp>
      <p:sp>
        <p:nvSpPr>
          <p:cNvPr id="7" name="Curved Right Arrow 6"/>
          <p:cNvSpPr/>
          <p:nvPr/>
        </p:nvSpPr>
        <p:spPr bwMode="auto">
          <a:xfrm>
            <a:off x="4164959" y="4817279"/>
            <a:ext cx="381000" cy="990600"/>
          </a:xfrm>
          <a:prstGeom prst="curvedRightArrow">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Tree>
    <p:extLst>
      <p:ext uri="{BB962C8B-B14F-4D97-AF65-F5344CB8AC3E}">
        <p14:creationId xmlns:p14="http://schemas.microsoft.com/office/powerpoint/2010/main" val="3597338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Integer/Binary Programming</a:t>
            </a:r>
          </a:p>
        </p:txBody>
      </p:sp>
      <p:sp>
        <p:nvSpPr>
          <p:cNvPr id="3" name="Content Placeholder 2"/>
          <p:cNvSpPr>
            <a:spLocks noGrp="1"/>
          </p:cNvSpPr>
          <p:nvPr>
            <p:ph idx="1"/>
          </p:nvPr>
        </p:nvSpPr>
        <p:spPr/>
        <p:txBody>
          <a:bodyPr/>
          <a:lstStyle/>
          <a:p>
            <a:r>
              <a:rPr lang="en-US" b="1" u="sng" dirty="0">
                <a:ea typeface="ＭＳ Ｐゴシック"/>
              </a:rPr>
              <a:t>Case: </a:t>
            </a:r>
            <a:r>
              <a:rPr lang="en-US" b="1" u="sng" dirty="0"/>
              <a:t>California Manufacturing Co. Problem (Chapter 6.1)</a:t>
            </a:r>
          </a:p>
          <a:p>
            <a:pPr>
              <a:tabLst>
                <a:tab pos="1712913" algn="l"/>
              </a:tabLst>
            </a:pPr>
            <a:r>
              <a:rPr lang="en-US" dirty="0"/>
              <a:t>Spreadsheet model and the solution with Excel Solver</a:t>
            </a:r>
          </a:p>
          <a:p>
            <a:pPr lvl="1"/>
            <a:endParaRPr lang="en-US" dirty="0"/>
          </a:p>
          <a:p>
            <a:endParaRPr lang="en-US" dirty="0"/>
          </a:p>
          <a:p>
            <a:endParaRPr lang="en-US" dirty="0">
              <a:ea typeface="ＭＳ Ｐゴシック"/>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931789985"/>
              </p:ext>
            </p:extLst>
          </p:nvPr>
        </p:nvGraphicFramePr>
        <p:xfrm>
          <a:off x="1803043" y="2399763"/>
          <a:ext cx="6967470" cy="3923293"/>
        </p:xfrm>
        <a:graphic>
          <a:graphicData uri="http://schemas.openxmlformats.org/presentationml/2006/ole">
            <mc:AlternateContent xmlns:mc="http://schemas.openxmlformats.org/markup-compatibility/2006">
              <mc:Choice xmlns:v="urn:schemas-microsoft-com:vml" Requires="v">
                <p:oleObj name="Worksheet" r:id="rId3" imgW="4009972" imgH="2962251" progId="Excel.Sheet.8">
                  <p:embed/>
                </p:oleObj>
              </mc:Choice>
              <mc:Fallback>
                <p:oleObj name="Worksheet" r:id="rId3" imgW="4009972" imgH="2962251" progId="Excel.Sheet.8">
                  <p:embed/>
                  <p:pic>
                    <p:nvPicPr>
                      <p:cNvPr id="8" name="Object 7"/>
                      <p:cNvPicPr>
                        <a:picLocks noChangeAspect="1" noChangeArrowheads="1"/>
                      </p:cNvPicPr>
                      <p:nvPr/>
                    </p:nvPicPr>
                    <p:blipFill>
                      <a:blip r:embed="rId4"/>
                      <a:srcRect/>
                      <a:stretch>
                        <a:fillRect/>
                      </a:stretch>
                    </p:blipFill>
                    <p:spPr bwMode="auto">
                      <a:xfrm>
                        <a:off x="1803043" y="2399763"/>
                        <a:ext cx="6967470" cy="392329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256139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Integer/Binary Programming</a:t>
            </a:r>
          </a:p>
        </p:txBody>
      </p:sp>
      <p:sp>
        <p:nvSpPr>
          <p:cNvPr id="3" name="Content Placeholder 2"/>
          <p:cNvSpPr>
            <a:spLocks noGrp="1"/>
          </p:cNvSpPr>
          <p:nvPr>
            <p:ph idx="1"/>
          </p:nvPr>
        </p:nvSpPr>
        <p:spPr/>
        <p:txBody>
          <a:bodyPr/>
          <a:lstStyle/>
          <a:p>
            <a:r>
              <a:rPr lang="en-US" b="1" u="sng" dirty="0">
                <a:ea typeface="ＭＳ Ｐゴシック"/>
              </a:rPr>
              <a:t>Case: </a:t>
            </a:r>
            <a:r>
              <a:rPr lang="en-US" b="1" u="sng" dirty="0"/>
              <a:t>California Manufacturing Co. Problem (Chapter 6.1)</a:t>
            </a:r>
          </a:p>
          <a:p>
            <a:pPr>
              <a:tabLst>
                <a:tab pos="1712913" algn="l"/>
              </a:tabLst>
            </a:pPr>
            <a:r>
              <a:rPr lang="en-US" dirty="0" err="1"/>
              <a:t>PuLP</a:t>
            </a:r>
            <a:r>
              <a:rPr lang="en-US" dirty="0"/>
              <a:t> LP Setup</a:t>
            </a:r>
          </a:p>
          <a:p>
            <a:pPr lvl="1"/>
            <a:endParaRPr lang="en-US" dirty="0"/>
          </a:p>
          <a:p>
            <a:endParaRPr lang="en-US" dirty="0"/>
          </a:p>
          <a:p>
            <a:endParaRPr lang="en-US" dirty="0">
              <a:ea typeface="ＭＳ Ｐゴシック"/>
            </a:endParaRPr>
          </a:p>
        </p:txBody>
      </p:sp>
      <p:pic>
        <p:nvPicPr>
          <p:cNvPr id="5" name="Picture 4">
            <a:extLst>
              <a:ext uri="{FF2B5EF4-FFF2-40B4-BE49-F238E27FC236}">
                <a16:creationId xmlns:a16="http://schemas.microsoft.com/office/drawing/2014/main" id="{968CFDB3-5450-986A-648E-95EE6AF5B266}"/>
              </a:ext>
            </a:extLst>
          </p:cNvPr>
          <p:cNvPicPr>
            <a:picLocks noChangeAspect="1"/>
          </p:cNvPicPr>
          <p:nvPr/>
        </p:nvPicPr>
        <p:blipFill>
          <a:blip r:embed="rId3"/>
          <a:stretch>
            <a:fillRect/>
          </a:stretch>
        </p:blipFill>
        <p:spPr>
          <a:xfrm>
            <a:off x="3194828" y="1993470"/>
            <a:ext cx="6337679" cy="4864530"/>
          </a:xfrm>
          <a:prstGeom prst="rect">
            <a:avLst/>
          </a:prstGeom>
        </p:spPr>
      </p:pic>
    </p:spTree>
    <p:extLst>
      <p:ext uri="{BB962C8B-B14F-4D97-AF65-F5344CB8AC3E}">
        <p14:creationId xmlns:p14="http://schemas.microsoft.com/office/powerpoint/2010/main" val="62045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92500" lnSpcReduction="10000"/>
          </a:bodyPr>
          <a:lstStyle/>
          <a:p>
            <a:r>
              <a:rPr lang="en-US" dirty="0">
                <a:solidFill>
                  <a:schemeClr val="bg2"/>
                </a:solidFill>
              </a:rPr>
              <a:t>Integer/Binary Programming (Chapter 7.1)</a:t>
            </a:r>
          </a:p>
          <a:p>
            <a:r>
              <a:rPr lang="en-US" dirty="0"/>
              <a:t>Conditional Constraints Modeling (Chapter 7.2)</a:t>
            </a:r>
          </a:p>
          <a:p>
            <a:r>
              <a:rPr lang="en-US" dirty="0">
                <a:solidFill>
                  <a:schemeClr val="bg2"/>
                </a:solidFill>
              </a:rPr>
              <a:t>Mixed-Integer Programming (Chapter 7.5)</a:t>
            </a:r>
          </a:p>
          <a:p>
            <a:r>
              <a:rPr lang="en-US" dirty="0">
                <a:solidFill>
                  <a:schemeClr val="bg2"/>
                </a:solidFill>
              </a:rPr>
              <a:t>Solution Concepts</a:t>
            </a:r>
          </a:p>
          <a:p>
            <a:r>
              <a:rPr lang="en-US" dirty="0">
                <a:solidFill>
                  <a:schemeClr val="bg1">
                    <a:lumMod val="95000"/>
                  </a:schemeClr>
                </a:solidFill>
              </a:rPr>
              <a:t>Extra Examples:</a:t>
            </a:r>
          </a:p>
          <a:p>
            <a:pPr lvl="1"/>
            <a:r>
              <a:rPr lang="en-US" dirty="0" err="1">
                <a:solidFill>
                  <a:schemeClr val="bg1">
                    <a:lumMod val="95000"/>
                  </a:schemeClr>
                </a:solidFill>
              </a:rPr>
              <a:t>Wyndor</a:t>
            </a:r>
            <a:r>
              <a:rPr lang="en-US" dirty="0">
                <a:solidFill>
                  <a:schemeClr val="bg1">
                    <a:lumMod val="95000"/>
                  </a:schemeClr>
                </a:solidFill>
              </a:rPr>
              <a:t> Problem with Setup Costs</a:t>
            </a:r>
          </a:p>
          <a:p>
            <a:pPr lvl="1"/>
            <a:r>
              <a:rPr lang="en-US" dirty="0">
                <a:solidFill>
                  <a:schemeClr val="bg1">
                    <a:lumMod val="95000"/>
                  </a:schemeClr>
                </a:solidFill>
              </a:rPr>
              <a:t>Caliente City Problem </a:t>
            </a:r>
          </a:p>
          <a:p>
            <a:pPr lvl="1"/>
            <a:r>
              <a:rPr lang="en-US" dirty="0">
                <a:solidFill>
                  <a:schemeClr val="bg1">
                    <a:lumMod val="95000"/>
                  </a:schemeClr>
                </a:solidFill>
              </a:rPr>
              <a:t>Southwestern Airways Problem </a:t>
            </a:r>
          </a:p>
          <a:p>
            <a:pPr lvl="1"/>
            <a:r>
              <a:rPr lang="en-US" dirty="0" err="1">
                <a:solidFill>
                  <a:schemeClr val="bg1">
                    <a:lumMod val="95000"/>
                  </a:schemeClr>
                </a:solidFill>
              </a:rPr>
              <a:t>Lipdon</a:t>
            </a:r>
            <a:r>
              <a:rPr lang="en-US" dirty="0">
                <a:solidFill>
                  <a:schemeClr val="bg1">
                    <a:lumMod val="95000"/>
                  </a:schemeClr>
                </a:solidFill>
              </a:rPr>
              <a:t> Tea Production </a:t>
            </a:r>
          </a:p>
          <a:p>
            <a:r>
              <a:rPr lang="en-US" dirty="0">
                <a:solidFill>
                  <a:schemeClr val="bg1">
                    <a:lumMod val="95000"/>
                  </a:schemeClr>
                </a:solidFill>
              </a:rPr>
              <a:t>Self Study</a:t>
            </a:r>
          </a:p>
          <a:p>
            <a:pPr lvl="1"/>
            <a:r>
              <a:rPr lang="en-US" dirty="0">
                <a:solidFill>
                  <a:schemeClr val="bg1">
                    <a:lumMod val="95000"/>
                  </a:schemeClr>
                </a:solidFill>
              </a:rPr>
              <a:t>Distribution Network Design (not in the textbook)</a:t>
            </a:r>
          </a:p>
          <a:p>
            <a:pPr lvl="1"/>
            <a:r>
              <a:rPr lang="en-US" dirty="0">
                <a:solidFill>
                  <a:schemeClr val="bg1">
                    <a:lumMod val="95000"/>
                  </a:schemeClr>
                </a:solidFill>
              </a:rPr>
              <a:t>Integrated Facility Location-Transportation</a:t>
            </a:r>
          </a:p>
          <a:p>
            <a:pPr lvl="5"/>
            <a:endParaRPr lang="en-US" dirty="0"/>
          </a:p>
          <a:p>
            <a:endParaRPr lang="en-US" dirty="0"/>
          </a:p>
        </p:txBody>
      </p:sp>
    </p:spTree>
    <p:extLst>
      <p:ext uri="{BB962C8B-B14F-4D97-AF65-F5344CB8AC3E}">
        <p14:creationId xmlns:p14="http://schemas.microsoft.com/office/powerpoint/2010/main" val="297648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Constraints Modeling</a:t>
            </a:r>
          </a:p>
        </p:txBody>
      </p:sp>
      <p:sp>
        <p:nvSpPr>
          <p:cNvPr id="3" name="Content Placeholder 2"/>
          <p:cNvSpPr>
            <a:spLocks noGrp="1"/>
          </p:cNvSpPr>
          <p:nvPr>
            <p:ph idx="1"/>
          </p:nvPr>
        </p:nvSpPr>
        <p:spPr/>
        <p:txBody>
          <a:bodyPr>
            <a:normAutofit lnSpcReduction="10000"/>
          </a:bodyPr>
          <a:lstStyle/>
          <a:p>
            <a:r>
              <a:rPr lang="en-US" dirty="0"/>
              <a:t>There might be conditional restrictions in the problem</a:t>
            </a:r>
          </a:p>
          <a:p>
            <a:pPr lvl="1"/>
            <a:r>
              <a:rPr lang="en-US" dirty="0"/>
              <a:t>Constraints need to be added for such restrictions</a:t>
            </a:r>
          </a:p>
          <a:p>
            <a:r>
              <a:rPr lang="en-US" b="1" u="sng" dirty="0"/>
              <a:t>Case: Project Selection at </a:t>
            </a:r>
            <a:r>
              <a:rPr lang="en-US" b="1" u="sng" dirty="0" err="1"/>
              <a:t>Tazer</a:t>
            </a:r>
            <a:r>
              <a:rPr lang="en-US" b="1" u="sng" dirty="0"/>
              <a:t> Corp. (Chapter 7.2)</a:t>
            </a:r>
          </a:p>
          <a:p>
            <a:pPr lvl="1"/>
            <a:r>
              <a:rPr lang="en-US" dirty="0" err="1"/>
              <a:t>Tazer</a:t>
            </a:r>
            <a:r>
              <a:rPr lang="en-US" dirty="0"/>
              <a:t> Corporation is searching for a new breakthrough drug. Five potential research and development projects:</a:t>
            </a:r>
          </a:p>
          <a:p>
            <a:pPr lvl="2"/>
            <a:r>
              <a:rPr lang="en-US" b="1" dirty="0"/>
              <a:t>Project Up:</a:t>
            </a:r>
            <a:r>
              <a:rPr lang="en-US" dirty="0"/>
              <a:t> Develop a more effect antidepressant that doesn’t cause mood swings</a:t>
            </a:r>
          </a:p>
          <a:p>
            <a:pPr lvl="2"/>
            <a:r>
              <a:rPr lang="en-US" b="1" dirty="0"/>
              <a:t>Project Stable: </a:t>
            </a:r>
            <a:r>
              <a:rPr lang="en-US" dirty="0"/>
              <a:t>Develop a drug that addresses manic depression</a:t>
            </a:r>
          </a:p>
          <a:p>
            <a:pPr lvl="2"/>
            <a:r>
              <a:rPr lang="en-US" b="1" dirty="0"/>
              <a:t>Project Choice: </a:t>
            </a:r>
            <a:r>
              <a:rPr lang="en-US" dirty="0"/>
              <a:t>Develop a less intrusive birth control method for women</a:t>
            </a:r>
          </a:p>
          <a:p>
            <a:pPr lvl="2"/>
            <a:r>
              <a:rPr lang="en-US" b="1" dirty="0"/>
              <a:t>Project Hope: </a:t>
            </a:r>
            <a:r>
              <a:rPr lang="en-US" dirty="0"/>
              <a:t>Develop a vaccine to prevent HIV infection</a:t>
            </a:r>
          </a:p>
          <a:p>
            <a:pPr lvl="2"/>
            <a:r>
              <a:rPr lang="en-US" b="1" dirty="0"/>
              <a:t>Project Release: </a:t>
            </a:r>
            <a:r>
              <a:rPr lang="en-US" dirty="0"/>
              <a:t> Develop a more effective drug to lower blood pressure</a:t>
            </a:r>
          </a:p>
          <a:p>
            <a:pPr lvl="1"/>
            <a:r>
              <a:rPr lang="en-US" dirty="0"/>
              <a:t>$1.2 billion available for investment</a:t>
            </a:r>
          </a:p>
          <a:p>
            <a:pPr lvl="1"/>
            <a:endParaRPr lang="en-US" b="1" dirty="0"/>
          </a:p>
          <a:p>
            <a:pPr lvl="1"/>
            <a:r>
              <a:rPr lang="en-US" b="1" dirty="0">
                <a:solidFill>
                  <a:srgbClr val="C00000"/>
                </a:solidFill>
              </a:rPr>
              <a:t>Question: </a:t>
            </a:r>
            <a:r>
              <a:rPr lang="en-US" dirty="0"/>
              <a:t>Which projects should be selected to research and develop?</a:t>
            </a:r>
            <a:endParaRPr lang="en-US" b="1" dirty="0"/>
          </a:p>
          <a:p>
            <a:endParaRPr lang="en-US" b="1" dirty="0"/>
          </a:p>
          <a:p>
            <a:endParaRPr lang="en-US" b="1" dirty="0"/>
          </a:p>
        </p:txBody>
      </p:sp>
    </p:spTree>
    <p:extLst>
      <p:ext uri="{BB962C8B-B14F-4D97-AF65-F5344CB8AC3E}">
        <p14:creationId xmlns:p14="http://schemas.microsoft.com/office/powerpoint/2010/main" val="3048080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Constraints Modeling</a:t>
            </a:r>
          </a:p>
        </p:txBody>
      </p:sp>
      <p:sp>
        <p:nvSpPr>
          <p:cNvPr id="3" name="Content Placeholder 2"/>
          <p:cNvSpPr>
            <a:spLocks noGrp="1"/>
          </p:cNvSpPr>
          <p:nvPr>
            <p:ph idx="1"/>
          </p:nvPr>
        </p:nvSpPr>
        <p:spPr/>
        <p:txBody>
          <a:bodyPr/>
          <a:lstStyle/>
          <a:p>
            <a:r>
              <a:rPr lang="en-US" b="1" u="sng" dirty="0"/>
              <a:t>Case: Project Selection at </a:t>
            </a:r>
            <a:r>
              <a:rPr lang="en-US" b="1" u="sng" dirty="0" err="1"/>
              <a:t>Tazer</a:t>
            </a:r>
            <a:r>
              <a:rPr lang="en-US" b="1" u="sng" dirty="0"/>
              <a:t> Corp. (Chapter 7.2)</a:t>
            </a:r>
          </a:p>
          <a:p>
            <a:r>
              <a:rPr lang="en-US" b="1" dirty="0">
                <a:solidFill>
                  <a:srgbClr val="C00000"/>
                </a:solidFill>
              </a:rPr>
              <a:t>STEP 0:</a:t>
            </a:r>
          </a:p>
          <a:p>
            <a:endParaRPr lang="en-US" b="1" dirty="0">
              <a:solidFill>
                <a:srgbClr val="C00000"/>
              </a:solidFill>
            </a:endParaRPr>
          </a:p>
          <a:p>
            <a:endParaRPr lang="en-US" b="1" dirty="0">
              <a:solidFill>
                <a:srgbClr val="C00000"/>
              </a:solidFill>
            </a:endParaRPr>
          </a:p>
          <a:p>
            <a:endParaRPr lang="en-US" b="1" dirty="0">
              <a:solidFill>
                <a:srgbClr val="C00000"/>
              </a:solidFill>
            </a:endParaRPr>
          </a:p>
          <a:p>
            <a:endParaRPr lang="en-US" b="1" dirty="0">
              <a:solidFill>
                <a:srgbClr val="C00000"/>
              </a:solidFill>
            </a:endParaRPr>
          </a:p>
          <a:p>
            <a:endParaRPr lang="en-US" b="1" dirty="0">
              <a:solidFill>
                <a:srgbClr val="C00000"/>
              </a:solidFill>
            </a:endParaRPr>
          </a:p>
          <a:p>
            <a:r>
              <a:rPr lang="en-US" b="1" dirty="0">
                <a:solidFill>
                  <a:srgbClr val="C00000"/>
                </a:solidFill>
              </a:rPr>
              <a:t>STEP 1: </a:t>
            </a:r>
            <a:r>
              <a:rPr lang="en-US" dirty="0"/>
              <a:t>Decision variables</a:t>
            </a:r>
          </a:p>
          <a:p>
            <a:pPr lvl="1"/>
            <a:r>
              <a:rPr lang="en-US" dirty="0"/>
              <a:t>Let </a:t>
            </a:r>
            <a:r>
              <a:rPr lang="en-US" i="1" dirty="0"/>
              <a:t>x</a:t>
            </a:r>
            <a:r>
              <a:rPr lang="en-US" i="1" baseline="-25000" dirty="0"/>
              <a:t>i</a:t>
            </a:r>
            <a:r>
              <a:rPr lang="en-US" dirty="0"/>
              <a:t> = 1 if approve project </a:t>
            </a:r>
            <a:r>
              <a:rPr lang="en-US" i="1" dirty="0" err="1"/>
              <a:t>i</a:t>
            </a:r>
            <a:r>
              <a:rPr lang="en-US" dirty="0"/>
              <a:t>;</a:t>
            </a:r>
            <a:r>
              <a:rPr lang="en-US" i="1" dirty="0"/>
              <a:t> </a:t>
            </a:r>
            <a:r>
              <a:rPr lang="en-US" dirty="0"/>
              <a:t>0 otherwise (for </a:t>
            </a:r>
            <a:r>
              <a:rPr lang="en-US" i="1" dirty="0" err="1"/>
              <a:t>i</a:t>
            </a:r>
            <a:r>
              <a:rPr lang="en-US" dirty="0"/>
              <a:t> = 1, 2, 3, 4, and 5)</a:t>
            </a:r>
          </a:p>
          <a:p>
            <a:endParaRPr lang="en-US" dirty="0"/>
          </a:p>
          <a:p>
            <a:endParaRPr lang="en-US" b="1" dirty="0">
              <a:solidFill>
                <a:srgbClr val="C00000"/>
              </a:solidFill>
            </a:endParaRPr>
          </a:p>
          <a:p>
            <a:endParaRPr lang="en-US" dirty="0"/>
          </a:p>
          <a:p>
            <a:endParaRPr lang="en-US" b="1" dirty="0"/>
          </a:p>
          <a:p>
            <a:endParaRPr lang="en-US" b="1" dirty="0"/>
          </a:p>
          <a:p>
            <a:endParaRPr lang="en-US" b="1" dirty="0"/>
          </a:p>
          <a:p>
            <a:endParaRPr lang="en-US" b="1" dirty="0"/>
          </a:p>
        </p:txBody>
      </p:sp>
      <p:graphicFrame>
        <p:nvGraphicFramePr>
          <p:cNvPr id="5" name="Group 141"/>
          <p:cNvGraphicFramePr>
            <a:graphicFrameLocks noGrp="1"/>
          </p:cNvGraphicFramePr>
          <p:nvPr>
            <p:extLst>
              <p:ext uri="{D42A27DB-BD31-4B8C-83A1-F6EECF244321}">
                <p14:modId xmlns:p14="http://schemas.microsoft.com/office/powerpoint/2010/main" val="592277815"/>
              </p:ext>
            </p:extLst>
          </p:nvPr>
        </p:nvGraphicFramePr>
        <p:xfrm>
          <a:off x="845716" y="1988277"/>
          <a:ext cx="11346284" cy="2164080"/>
        </p:xfrm>
        <a:graphic>
          <a:graphicData uri="http://schemas.openxmlformats.org/drawingml/2006/table">
            <a:tbl>
              <a:tblPr/>
              <a:tblGrid>
                <a:gridCol w="2247850">
                  <a:extLst>
                    <a:ext uri="{9D8B030D-6E8A-4147-A177-3AD203B41FA5}">
                      <a16:colId xmlns:a16="http://schemas.microsoft.com/office/drawing/2014/main" val="20000"/>
                    </a:ext>
                  </a:extLst>
                </a:gridCol>
                <a:gridCol w="1534246">
                  <a:extLst>
                    <a:ext uri="{9D8B030D-6E8A-4147-A177-3AD203B41FA5}">
                      <a16:colId xmlns:a16="http://schemas.microsoft.com/office/drawing/2014/main" val="20001"/>
                    </a:ext>
                  </a:extLst>
                </a:gridCol>
                <a:gridCol w="1891047">
                  <a:extLst>
                    <a:ext uri="{9D8B030D-6E8A-4147-A177-3AD203B41FA5}">
                      <a16:colId xmlns:a16="http://schemas.microsoft.com/office/drawing/2014/main" val="20002"/>
                    </a:ext>
                  </a:extLst>
                </a:gridCol>
                <a:gridCol w="1891047">
                  <a:extLst>
                    <a:ext uri="{9D8B030D-6E8A-4147-A177-3AD203B41FA5}">
                      <a16:colId xmlns:a16="http://schemas.microsoft.com/office/drawing/2014/main" val="20003"/>
                    </a:ext>
                  </a:extLst>
                </a:gridCol>
                <a:gridCol w="1891047">
                  <a:extLst>
                    <a:ext uri="{9D8B030D-6E8A-4147-A177-3AD203B41FA5}">
                      <a16:colId xmlns:a16="http://schemas.microsoft.com/office/drawing/2014/main" val="20004"/>
                    </a:ext>
                  </a:extLst>
                </a:gridCol>
                <a:gridCol w="1891047">
                  <a:extLst>
                    <a:ext uri="{9D8B030D-6E8A-4147-A177-3AD203B41FA5}">
                      <a16:colId xmlns:a16="http://schemas.microsoft.com/office/drawing/2014/main" val="20005"/>
                    </a:ext>
                  </a:extLst>
                </a:gridCol>
              </a:tblGrid>
              <a:tr h="254637">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endParaRPr kumimoji="0" lang="en-US" sz="1600" b="0" i="0" u="none" strike="noStrike" cap="none" normalizeH="0" baseline="0" dirty="0">
                        <a:ln>
                          <a:noFill/>
                        </a:ln>
                        <a:solidFill>
                          <a:schemeClr val="tx1"/>
                        </a:solidFill>
                        <a:effectLst/>
                        <a:latin typeface="Times New Roman" pitchFamily="1" charset="0"/>
                      </a:endParaRPr>
                    </a:p>
                  </a:txBody>
                  <a:tcPr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1 - Up</a:t>
                      </a: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2 - Stable</a:t>
                      </a:r>
                    </a:p>
                  </a:txBody>
                  <a:tcP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3 - Choice</a:t>
                      </a:r>
                    </a:p>
                  </a:txBody>
                  <a:tcP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4 - Hope</a:t>
                      </a:r>
                    </a:p>
                  </a:txBody>
                  <a:tcP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5- Release</a:t>
                      </a:r>
                    </a:p>
                  </a:txBody>
                  <a:tcPr horzOverflow="overflow">
                    <a:lnL cap="flat">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4637">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R&amp;D ($million)</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400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300</a:t>
                      </a:r>
                    </a:p>
                  </a:txBody>
                  <a:tcP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600</a:t>
                      </a:r>
                    </a:p>
                  </a:txBody>
                  <a:tcP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500</a:t>
                      </a:r>
                    </a:p>
                  </a:txBody>
                  <a:tcP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200</a:t>
                      </a:r>
                    </a:p>
                  </a:txBody>
                  <a:tcP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254637">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Success Rate</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50%</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35%</a:t>
                      </a:r>
                    </a:p>
                  </a:txBody>
                  <a:tcP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35%</a:t>
                      </a:r>
                    </a:p>
                  </a:txBody>
                  <a:tcP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20%</a:t>
                      </a:r>
                    </a:p>
                  </a:txBody>
                  <a:tcP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45%</a:t>
                      </a:r>
                    </a:p>
                  </a:txBody>
                  <a:tcPr horzOverflow="overflow">
                    <a:lnL cap="flat">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39827">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Revenue if Successful ($million)</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1,400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1,200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2,200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3,000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600</a:t>
                      </a:r>
                    </a:p>
                  </a:txBody>
                  <a:tcPr anchor="ctr" horzOverflow="overflow">
                    <a:lnL cap="flat">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39827">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Expected Profit ($million)</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300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120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170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100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70</a:t>
                      </a:r>
                    </a:p>
                  </a:txBody>
                  <a:tcPr anchor="ctr" horzOverflow="overflow">
                    <a:lnL cap="flat">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Curved Right Arrow 5"/>
          <p:cNvSpPr/>
          <p:nvPr/>
        </p:nvSpPr>
        <p:spPr bwMode="auto">
          <a:xfrm>
            <a:off x="388516" y="3744698"/>
            <a:ext cx="457200" cy="801544"/>
          </a:xfrm>
          <a:prstGeom prst="curvedRightArrow">
            <a:avLst/>
          </a:prstGeom>
          <a:solidFill>
            <a:srgbClr val="C00000"/>
          </a:solidFill>
          <a:ln>
            <a:solidFill>
              <a:srgbClr val="C00000"/>
            </a:solidFill>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7" name="TextBox 6"/>
          <p:cNvSpPr txBox="1"/>
          <p:nvPr/>
        </p:nvSpPr>
        <p:spPr>
          <a:xfrm>
            <a:off x="975966" y="4259934"/>
            <a:ext cx="8001000" cy="400110"/>
          </a:xfrm>
          <a:prstGeom prst="rect">
            <a:avLst/>
          </a:prstGeom>
          <a:noFill/>
          <a:ln>
            <a:solidFill>
              <a:srgbClr val="FF0000"/>
            </a:solidFill>
          </a:ln>
        </p:spPr>
        <p:txBody>
          <a:bodyPr wrap="square" rtlCol="0">
            <a:spAutoFit/>
          </a:bodyPr>
          <a:lstStyle/>
          <a:p>
            <a:r>
              <a:rPr lang="en-US" sz="2000" dirty="0"/>
              <a:t>Expected Profit = Success Rate X Revenue if successful – R&amp;D Cost</a:t>
            </a:r>
          </a:p>
        </p:txBody>
      </p:sp>
    </p:spTree>
    <p:extLst>
      <p:ext uri="{BB962C8B-B14F-4D97-AF65-F5344CB8AC3E}">
        <p14:creationId xmlns:p14="http://schemas.microsoft.com/office/powerpoint/2010/main" val="2127836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Constraints Modeling</a:t>
            </a:r>
          </a:p>
        </p:txBody>
      </p:sp>
      <p:sp>
        <p:nvSpPr>
          <p:cNvPr id="3" name="Content Placeholder 2"/>
          <p:cNvSpPr>
            <a:spLocks noGrp="1"/>
          </p:cNvSpPr>
          <p:nvPr>
            <p:ph idx="1"/>
          </p:nvPr>
        </p:nvSpPr>
        <p:spPr/>
        <p:txBody>
          <a:bodyPr/>
          <a:lstStyle/>
          <a:p>
            <a:r>
              <a:rPr lang="en-US" b="1" u="sng" dirty="0"/>
              <a:t>Case: Project Selection at </a:t>
            </a:r>
            <a:r>
              <a:rPr lang="en-US" b="1" u="sng" dirty="0" err="1"/>
              <a:t>Tazer</a:t>
            </a:r>
            <a:r>
              <a:rPr lang="en-US" b="1" u="sng" dirty="0"/>
              <a:t> Corp. (Chapter 7.2)</a:t>
            </a:r>
          </a:p>
          <a:p>
            <a:r>
              <a:rPr lang="en-US" b="1" dirty="0">
                <a:solidFill>
                  <a:srgbClr val="C00000"/>
                </a:solidFill>
              </a:rPr>
              <a:t>STEP 2: </a:t>
            </a:r>
            <a:r>
              <a:rPr lang="en-US" dirty="0"/>
              <a:t>Objective and objective function</a:t>
            </a:r>
          </a:p>
          <a:p>
            <a:pPr lvl="1"/>
            <a:r>
              <a:rPr lang="en-US" dirty="0"/>
              <a:t>Maximize 	</a:t>
            </a:r>
            <a:r>
              <a:rPr lang="en-US" i="1" dirty="0"/>
              <a:t>P</a:t>
            </a:r>
            <a:r>
              <a:rPr lang="en-US" dirty="0"/>
              <a:t> = 300</a:t>
            </a:r>
            <a:r>
              <a:rPr lang="en-US" i="1" dirty="0"/>
              <a:t>x</a:t>
            </a:r>
            <a:r>
              <a:rPr lang="en-US" baseline="-25000" dirty="0"/>
              <a:t>1</a:t>
            </a:r>
            <a:r>
              <a:rPr lang="en-US" dirty="0"/>
              <a:t> + 120</a:t>
            </a:r>
            <a:r>
              <a:rPr lang="en-US" i="1" dirty="0"/>
              <a:t>x</a:t>
            </a:r>
            <a:r>
              <a:rPr lang="en-US" baseline="-25000" dirty="0"/>
              <a:t>2</a:t>
            </a:r>
            <a:r>
              <a:rPr lang="en-US" dirty="0"/>
              <a:t> + 170</a:t>
            </a:r>
            <a:r>
              <a:rPr lang="en-US" i="1" dirty="0"/>
              <a:t>x</a:t>
            </a:r>
            <a:r>
              <a:rPr lang="en-US" baseline="-25000" dirty="0"/>
              <a:t>3</a:t>
            </a:r>
            <a:r>
              <a:rPr lang="en-US" dirty="0"/>
              <a:t> + 100</a:t>
            </a:r>
            <a:r>
              <a:rPr lang="en-US" i="1" dirty="0"/>
              <a:t>x</a:t>
            </a:r>
            <a:r>
              <a:rPr lang="en-US" baseline="-25000" dirty="0"/>
              <a:t>4</a:t>
            </a:r>
            <a:r>
              <a:rPr lang="en-US" dirty="0"/>
              <a:t> + 70</a:t>
            </a:r>
            <a:r>
              <a:rPr lang="en-US" i="1" dirty="0"/>
              <a:t>x</a:t>
            </a:r>
            <a:r>
              <a:rPr lang="en-US" baseline="-25000" dirty="0"/>
              <a:t>5 </a:t>
            </a:r>
          </a:p>
          <a:p>
            <a:r>
              <a:rPr lang="en-US" b="1" dirty="0">
                <a:solidFill>
                  <a:srgbClr val="C00000"/>
                </a:solidFill>
              </a:rPr>
              <a:t>STEP 3: </a:t>
            </a:r>
            <a:r>
              <a:rPr lang="en-US" dirty="0"/>
              <a:t>Constraints</a:t>
            </a:r>
          </a:p>
          <a:p>
            <a:pPr lvl="1"/>
            <a:r>
              <a:rPr lang="en-US" dirty="0"/>
              <a:t>400</a:t>
            </a:r>
            <a:r>
              <a:rPr lang="en-US" i="1" dirty="0"/>
              <a:t>x</a:t>
            </a:r>
            <a:r>
              <a:rPr lang="en-US" baseline="-25000" dirty="0"/>
              <a:t>1</a:t>
            </a:r>
            <a:r>
              <a:rPr lang="en-US" dirty="0"/>
              <a:t> + 300</a:t>
            </a:r>
            <a:r>
              <a:rPr lang="en-US" i="1" dirty="0"/>
              <a:t>x</a:t>
            </a:r>
            <a:r>
              <a:rPr lang="en-US" baseline="-25000" dirty="0"/>
              <a:t>2</a:t>
            </a:r>
            <a:r>
              <a:rPr lang="en-US" dirty="0"/>
              <a:t> + 600</a:t>
            </a:r>
            <a:r>
              <a:rPr lang="en-US" i="1" dirty="0"/>
              <a:t>x</a:t>
            </a:r>
            <a:r>
              <a:rPr lang="en-US" baseline="-25000" dirty="0"/>
              <a:t>3</a:t>
            </a:r>
            <a:r>
              <a:rPr lang="en-US" dirty="0"/>
              <a:t> + 500</a:t>
            </a:r>
            <a:r>
              <a:rPr lang="en-US" i="1" dirty="0"/>
              <a:t>x</a:t>
            </a:r>
            <a:r>
              <a:rPr lang="en-US" baseline="-25000" dirty="0"/>
              <a:t>4</a:t>
            </a:r>
            <a:r>
              <a:rPr lang="en-US" dirty="0"/>
              <a:t> + 200</a:t>
            </a:r>
            <a:r>
              <a:rPr lang="en-US" i="1" dirty="0"/>
              <a:t>x</a:t>
            </a:r>
            <a:r>
              <a:rPr lang="en-US" baseline="-25000" dirty="0"/>
              <a:t>5</a:t>
            </a:r>
            <a:r>
              <a:rPr lang="en-US" dirty="0"/>
              <a:t> ≤ 1,200</a:t>
            </a:r>
          </a:p>
          <a:p>
            <a:r>
              <a:rPr lang="en-US" dirty="0"/>
              <a:t>Combining everything (not forgetting binary definition constraints), we have:</a:t>
            </a:r>
          </a:p>
          <a:p>
            <a:endParaRPr lang="en-US" dirty="0"/>
          </a:p>
          <a:p>
            <a:endParaRPr lang="en-US" b="1" dirty="0">
              <a:solidFill>
                <a:srgbClr val="C00000"/>
              </a:solidFill>
            </a:endParaRPr>
          </a:p>
          <a:p>
            <a:endParaRPr lang="en-US" dirty="0"/>
          </a:p>
          <a:p>
            <a:endParaRPr lang="en-US" b="1" dirty="0"/>
          </a:p>
          <a:p>
            <a:endParaRPr lang="en-US" b="1" dirty="0"/>
          </a:p>
          <a:p>
            <a:endParaRPr lang="en-US" b="1" dirty="0"/>
          </a:p>
          <a:p>
            <a:endParaRPr lang="en-US" b="1" dirty="0"/>
          </a:p>
        </p:txBody>
      </p:sp>
      <p:sp>
        <p:nvSpPr>
          <p:cNvPr id="4" name="Rectangle 3"/>
          <p:cNvSpPr/>
          <p:nvPr/>
        </p:nvSpPr>
        <p:spPr>
          <a:xfrm>
            <a:off x="639651" y="4131175"/>
            <a:ext cx="6752822" cy="1015663"/>
          </a:xfrm>
          <a:prstGeom prst="rect">
            <a:avLst/>
          </a:prstGeom>
          <a:ln w="28575">
            <a:solidFill>
              <a:srgbClr val="C00000"/>
            </a:solidFill>
          </a:ln>
        </p:spPr>
        <p:txBody>
          <a:bodyPr wrap="square">
            <a:spAutoFit/>
          </a:bodyPr>
          <a:lstStyle/>
          <a:p>
            <a:r>
              <a:rPr lang="en-US" sz="2000" dirty="0"/>
              <a:t>Maximize 	</a:t>
            </a:r>
            <a:r>
              <a:rPr lang="en-US" sz="2000" i="1" dirty="0"/>
              <a:t>P</a:t>
            </a:r>
            <a:r>
              <a:rPr lang="en-US" sz="2000" dirty="0"/>
              <a:t> = 300</a:t>
            </a:r>
            <a:r>
              <a:rPr lang="en-US" sz="2000" i="1" dirty="0"/>
              <a:t>x</a:t>
            </a:r>
            <a:r>
              <a:rPr lang="en-US" sz="2000" baseline="-25000" dirty="0"/>
              <a:t>1</a:t>
            </a:r>
            <a:r>
              <a:rPr lang="en-US" sz="2000" dirty="0"/>
              <a:t> + 120</a:t>
            </a:r>
            <a:r>
              <a:rPr lang="en-US" sz="2000" i="1" dirty="0"/>
              <a:t>x</a:t>
            </a:r>
            <a:r>
              <a:rPr lang="en-US" sz="2000" baseline="-25000" dirty="0"/>
              <a:t>2</a:t>
            </a:r>
            <a:r>
              <a:rPr lang="en-US" sz="2000" dirty="0"/>
              <a:t> + 170</a:t>
            </a:r>
            <a:r>
              <a:rPr lang="en-US" sz="2000" i="1" dirty="0"/>
              <a:t>x</a:t>
            </a:r>
            <a:r>
              <a:rPr lang="en-US" sz="2000" baseline="-25000" dirty="0"/>
              <a:t>3</a:t>
            </a:r>
            <a:r>
              <a:rPr lang="en-US" sz="2000" dirty="0"/>
              <a:t> + 100</a:t>
            </a:r>
            <a:r>
              <a:rPr lang="en-US" sz="2000" i="1" dirty="0"/>
              <a:t>x</a:t>
            </a:r>
            <a:r>
              <a:rPr lang="en-US" sz="2000" baseline="-25000" dirty="0"/>
              <a:t>4</a:t>
            </a:r>
            <a:r>
              <a:rPr lang="en-US" sz="2000" dirty="0"/>
              <a:t> + 70</a:t>
            </a:r>
            <a:r>
              <a:rPr lang="en-US" sz="2000" i="1" dirty="0"/>
              <a:t>x</a:t>
            </a:r>
            <a:r>
              <a:rPr lang="en-US" sz="2000" baseline="-25000" dirty="0"/>
              <a:t>5 </a:t>
            </a:r>
          </a:p>
          <a:p>
            <a:r>
              <a:rPr lang="en-US" sz="2000" dirty="0"/>
              <a:t>Subject to 	400</a:t>
            </a:r>
            <a:r>
              <a:rPr lang="en-US" sz="2000" i="1" dirty="0"/>
              <a:t>x</a:t>
            </a:r>
            <a:r>
              <a:rPr lang="en-US" sz="2000" baseline="-25000" dirty="0"/>
              <a:t>1</a:t>
            </a:r>
            <a:r>
              <a:rPr lang="en-US" sz="2000" dirty="0"/>
              <a:t> + 300</a:t>
            </a:r>
            <a:r>
              <a:rPr lang="en-US" sz="2000" i="1" dirty="0"/>
              <a:t>x</a:t>
            </a:r>
            <a:r>
              <a:rPr lang="en-US" sz="2000" baseline="-25000" dirty="0"/>
              <a:t>2</a:t>
            </a:r>
            <a:r>
              <a:rPr lang="en-US" sz="2000" dirty="0"/>
              <a:t> + 600</a:t>
            </a:r>
            <a:r>
              <a:rPr lang="en-US" sz="2000" i="1" dirty="0"/>
              <a:t>x</a:t>
            </a:r>
            <a:r>
              <a:rPr lang="en-US" sz="2000" baseline="-25000" dirty="0"/>
              <a:t>3</a:t>
            </a:r>
            <a:r>
              <a:rPr lang="en-US" sz="2000" dirty="0"/>
              <a:t> + 500</a:t>
            </a:r>
            <a:r>
              <a:rPr lang="en-US" sz="2000" i="1" dirty="0"/>
              <a:t>x</a:t>
            </a:r>
            <a:r>
              <a:rPr lang="en-US" sz="2000" baseline="-25000" dirty="0"/>
              <a:t>4</a:t>
            </a:r>
            <a:r>
              <a:rPr lang="en-US" sz="2000" dirty="0"/>
              <a:t> + 200</a:t>
            </a:r>
            <a:r>
              <a:rPr lang="en-US" sz="2000" i="1" dirty="0"/>
              <a:t>x</a:t>
            </a:r>
            <a:r>
              <a:rPr lang="en-US" sz="2000" baseline="-25000" dirty="0"/>
              <a:t>5</a:t>
            </a:r>
            <a:r>
              <a:rPr lang="en-US" sz="2000" dirty="0"/>
              <a:t> ≤ 1,200 </a:t>
            </a:r>
          </a:p>
          <a:p>
            <a:r>
              <a:rPr lang="en-US" sz="2000" i="1" dirty="0"/>
              <a:t>		x</a:t>
            </a:r>
            <a:r>
              <a:rPr lang="en-US" sz="2000" i="1" baseline="-25000" dirty="0"/>
              <a:t>i</a:t>
            </a:r>
            <a:r>
              <a:rPr lang="en-US" sz="2000" dirty="0"/>
              <a:t> are binary (for </a:t>
            </a:r>
            <a:r>
              <a:rPr lang="en-US" sz="2000" i="1" dirty="0" err="1"/>
              <a:t>i</a:t>
            </a:r>
            <a:r>
              <a:rPr lang="en-US" sz="2000" dirty="0"/>
              <a:t> = 1, 2, 3, 4, and 5).</a:t>
            </a:r>
          </a:p>
        </p:txBody>
      </p:sp>
      <p:pic>
        <p:nvPicPr>
          <p:cNvPr id="8"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87206" y="5176118"/>
            <a:ext cx="5546206" cy="1515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087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Constraints Modeling</a:t>
            </a:r>
          </a:p>
        </p:txBody>
      </p:sp>
      <p:sp>
        <p:nvSpPr>
          <p:cNvPr id="3" name="Content Placeholder 2"/>
          <p:cNvSpPr>
            <a:spLocks noGrp="1"/>
          </p:cNvSpPr>
          <p:nvPr>
            <p:ph idx="1"/>
          </p:nvPr>
        </p:nvSpPr>
        <p:spPr/>
        <p:txBody>
          <a:bodyPr/>
          <a:lstStyle/>
          <a:p>
            <a:r>
              <a:rPr lang="en-US" b="1" u="sng" dirty="0"/>
              <a:t>Case: Project Selection at </a:t>
            </a:r>
            <a:r>
              <a:rPr lang="en-US" b="1" u="sng" dirty="0" err="1"/>
              <a:t>Tazer</a:t>
            </a:r>
            <a:r>
              <a:rPr lang="en-US" b="1" u="sng" dirty="0"/>
              <a:t> Corp. (Chapter 7.2)</a:t>
            </a:r>
          </a:p>
          <a:p>
            <a:endParaRPr lang="en-US" b="1" dirty="0"/>
          </a:p>
          <a:p>
            <a:endParaRPr lang="en-US" b="1" dirty="0"/>
          </a:p>
          <a:p>
            <a:endParaRPr lang="en-US" b="1" dirty="0"/>
          </a:p>
          <a:p>
            <a:endParaRPr lang="en-US" b="1" dirty="0"/>
          </a:p>
        </p:txBody>
      </p:sp>
      <p:pic>
        <p:nvPicPr>
          <p:cNvPr id="6" name="Picture 5">
            <a:extLst>
              <a:ext uri="{FF2B5EF4-FFF2-40B4-BE49-F238E27FC236}">
                <a16:creationId xmlns:a16="http://schemas.microsoft.com/office/drawing/2014/main" id="{4E7C4FC1-7E05-624A-390F-D1398D868BDD}"/>
              </a:ext>
            </a:extLst>
          </p:cNvPr>
          <p:cNvPicPr>
            <a:picLocks noChangeAspect="1"/>
          </p:cNvPicPr>
          <p:nvPr/>
        </p:nvPicPr>
        <p:blipFill>
          <a:blip r:embed="rId3"/>
          <a:stretch>
            <a:fillRect/>
          </a:stretch>
        </p:blipFill>
        <p:spPr>
          <a:xfrm>
            <a:off x="1932292" y="1841562"/>
            <a:ext cx="8327415" cy="4864529"/>
          </a:xfrm>
          <a:prstGeom prst="rect">
            <a:avLst/>
          </a:prstGeom>
        </p:spPr>
      </p:pic>
    </p:spTree>
    <p:extLst>
      <p:ext uri="{BB962C8B-B14F-4D97-AF65-F5344CB8AC3E}">
        <p14:creationId xmlns:p14="http://schemas.microsoft.com/office/powerpoint/2010/main" val="3368267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Constraints Modeling</a:t>
            </a:r>
          </a:p>
        </p:txBody>
      </p:sp>
      <p:sp>
        <p:nvSpPr>
          <p:cNvPr id="3" name="Content Placeholder 2"/>
          <p:cNvSpPr>
            <a:spLocks noGrp="1"/>
          </p:cNvSpPr>
          <p:nvPr>
            <p:ph idx="1"/>
          </p:nvPr>
        </p:nvSpPr>
        <p:spPr/>
        <p:txBody>
          <a:bodyPr/>
          <a:lstStyle/>
          <a:p>
            <a:r>
              <a:rPr lang="en-US" b="1" u="sng" dirty="0"/>
              <a:t>Case: Project Selection at </a:t>
            </a:r>
            <a:r>
              <a:rPr lang="en-US" b="1" u="sng" dirty="0" err="1"/>
              <a:t>Tazer</a:t>
            </a:r>
            <a:r>
              <a:rPr lang="en-US" b="1" u="sng" dirty="0"/>
              <a:t> Corp. (not in the textbook)</a:t>
            </a:r>
          </a:p>
          <a:p>
            <a:r>
              <a:rPr lang="en-US" b="1" dirty="0">
                <a:solidFill>
                  <a:srgbClr val="C00000"/>
                </a:solidFill>
              </a:rPr>
              <a:t>Additional constraints </a:t>
            </a:r>
            <a:r>
              <a:rPr lang="en-US" dirty="0"/>
              <a:t>(independent of each other):</a:t>
            </a:r>
          </a:p>
          <a:p>
            <a:pPr lvl="1"/>
            <a:r>
              <a:rPr lang="en-US" dirty="0"/>
              <a:t>At least 2 projects should be selected</a:t>
            </a:r>
          </a:p>
          <a:p>
            <a:pPr lvl="2"/>
            <a:r>
              <a:rPr lang="en-US" dirty="0"/>
              <a:t>That is, total number of projects selected should be at least 2</a:t>
            </a:r>
          </a:p>
          <a:p>
            <a:pPr lvl="2"/>
            <a:r>
              <a:rPr lang="en-US" i="1" dirty="0"/>
              <a:t>x</a:t>
            </a:r>
            <a:r>
              <a:rPr lang="en-US" baseline="-25000" dirty="0"/>
              <a:t>1</a:t>
            </a:r>
            <a:r>
              <a:rPr lang="en-US" dirty="0"/>
              <a:t> + </a:t>
            </a:r>
            <a:r>
              <a:rPr lang="en-US" i="1" dirty="0"/>
              <a:t>x</a:t>
            </a:r>
            <a:r>
              <a:rPr lang="en-US" baseline="-25000" dirty="0"/>
              <a:t>2</a:t>
            </a:r>
            <a:r>
              <a:rPr lang="en-US" dirty="0"/>
              <a:t> + </a:t>
            </a:r>
            <a:r>
              <a:rPr lang="en-US" i="1" dirty="0"/>
              <a:t>x</a:t>
            </a:r>
            <a:r>
              <a:rPr lang="en-US" baseline="-25000" dirty="0"/>
              <a:t>3</a:t>
            </a:r>
            <a:r>
              <a:rPr lang="en-US" dirty="0"/>
              <a:t> + </a:t>
            </a:r>
            <a:r>
              <a:rPr lang="en-US" i="1" dirty="0"/>
              <a:t>x</a:t>
            </a:r>
            <a:r>
              <a:rPr lang="en-US" baseline="-25000" dirty="0"/>
              <a:t>4</a:t>
            </a:r>
            <a:r>
              <a:rPr lang="en-US" dirty="0"/>
              <a:t> + </a:t>
            </a:r>
            <a:r>
              <a:rPr lang="en-US" i="1" dirty="0"/>
              <a:t>x</a:t>
            </a:r>
            <a:r>
              <a:rPr lang="en-US" baseline="-25000" dirty="0"/>
              <a:t>5</a:t>
            </a:r>
            <a:r>
              <a:rPr lang="en-US" dirty="0"/>
              <a:t> &gt;= 2</a:t>
            </a:r>
          </a:p>
          <a:p>
            <a:pPr lvl="1"/>
            <a:r>
              <a:rPr lang="en-US" dirty="0"/>
              <a:t>At most 3 projects can be selected</a:t>
            </a:r>
          </a:p>
          <a:p>
            <a:pPr lvl="2"/>
            <a:r>
              <a:rPr lang="en-US" dirty="0"/>
              <a:t>That is, total number of projects selected cannot exceed 3</a:t>
            </a:r>
          </a:p>
          <a:p>
            <a:pPr lvl="2"/>
            <a:r>
              <a:rPr lang="en-US" i="1" dirty="0"/>
              <a:t>x</a:t>
            </a:r>
            <a:r>
              <a:rPr lang="en-US" baseline="-25000" dirty="0"/>
              <a:t>1</a:t>
            </a:r>
            <a:r>
              <a:rPr lang="en-US" dirty="0"/>
              <a:t> + </a:t>
            </a:r>
            <a:r>
              <a:rPr lang="en-US" i="1" dirty="0"/>
              <a:t>x</a:t>
            </a:r>
            <a:r>
              <a:rPr lang="en-US" baseline="-25000" dirty="0"/>
              <a:t>2</a:t>
            </a:r>
            <a:r>
              <a:rPr lang="en-US" dirty="0"/>
              <a:t> + </a:t>
            </a:r>
            <a:r>
              <a:rPr lang="en-US" i="1" dirty="0"/>
              <a:t>x</a:t>
            </a:r>
            <a:r>
              <a:rPr lang="en-US" baseline="-25000" dirty="0"/>
              <a:t>3</a:t>
            </a:r>
            <a:r>
              <a:rPr lang="en-US" dirty="0"/>
              <a:t> + </a:t>
            </a:r>
            <a:r>
              <a:rPr lang="en-US" i="1" dirty="0"/>
              <a:t>x</a:t>
            </a:r>
            <a:r>
              <a:rPr lang="en-US" baseline="-25000" dirty="0"/>
              <a:t>4</a:t>
            </a:r>
            <a:r>
              <a:rPr lang="en-US" dirty="0"/>
              <a:t> + </a:t>
            </a:r>
            <a:r>
              <a:rPr lang="en-US" i="1" dirty="0"/>
              <a:t>x</a:t>
            </a:r>
            <a:r>
              <a:rPr lang="en-US" baseline="-25000" dirty="0"/>
              <a:t>5</a:t>
            </a:r>
            <a:r>
              <a:rPr lang="en-US" dirty="0"/>
              <a:t> &lt;= 3</a:t>
            </a:r>
          </a:p>
          <a:p>
            <a:pPr lvl="1"/>
            <a:r>
              <a:rPr lang="en-US" dirty="0"/>
              <a:t>If project 1 is selected, project 2 cannot be selected</a:t>
            </a:r>
          </a:p>
          <a:p>
            <a:pPr lvl="2"/>
            <a:r>
              <a:rPr lang="en-US" dirty="0"/>
              <a:t>That is: if </a:t>
            </a:r>
            <a:r>
              <a:rPr lang="en-US" i="1" dirty="0"/>
              <a:t>x</a:t>
            </a:r>
            <a:r>
              <a:rPr lang="en-US" baseline="-25000" dirty="0"/>
              <a:t>1</a:t>
            </a:r>
            <a:r>
              <a:rPr lang="en-US" dirty="0"/>
              <a:t> =1, then </a:t>
            </a:r>
            <a:r>
              <a:rPr lang="en-US" i="1" dirty="0"/>
              <a:t>x</a:t>
            </a:r>
            <a:r>
              <a:rPr lang="en-US" baseline="-25000" dirty="0"/>
              <a:t>2</a:t>
            </a:r>
            <a:r>
              <a:rPr lang="en-US" dirty="0"/>
              <a:t> = 0</a:t>
            </a:r>
          </a:p>
          <a:p>
            <a:endParaRPr lang="en-US" b="1" dirty="0"/>
          </a:p>
          <a:p>
            <a:endParaRPr lang="en-US" b="1" dirty="0"/>
          </a:p>
          <a:p>
            <a:endParaRPr lang="en-US" b="1" dirty="0"/>
          </a:p>
          <a:p>
            <a:endParaRPr lang="en-US" b="1" dirty="0"/>
          </a:p>
        </p:txBody>
      </p:sp>
      <p:sp>
        <p:nvSpPr>
          <p:cNvPr id="4" name="TextBox 3"/>
          <p:cNvSpPr txBox="1"/>
          <p:nvPr/>
        </p:nvSpPr>
        <p:spPr>
          <a:xfrm>
            <a:off x="3116687" y="5396248"/>
            <a:ext cx="1107583" cy="584775"/>
          </a:xfrm>
          <a:prstGeom prst="rect">
            <a:avLst/>
          </a:prstGeom>
          <a:noFill/>
          <a:ln>
            <a:solidFill>
              <a:srgbClr val="C00000"/>
            </a:solidFill>
          </a:ln>
        </p:spPr>
        <p:txBody>
          <a:bodyPr wrap="square" rtlCol="0">
            <a:spAutoFit/>
          </a:bodyPr>
          <a:lstStyle/>
          <a:p>
            <a:r>
              <a:rPr lang="en-US" sz="3200" i="1" dirty="0"/>
              <a:t>x</a:t>
            </a:r>
            <a:r>
              <a:rPr lang="en-US" sz="3200" baseline="-25000" dirty="0"/>
              <a:t>2</a:t>
            </a:r>
            <a:r>
              <a:rPr lang="en-US" sz="3200" dirty="0"/>
              <a:t> &lt;=</a:t>
            </a:r>
          </a:p>
        </p:txBody>
      </p:sp>
      <p:sp>
        <p:nvSpPr>
          <p:cNvPr id="5" name="TextBox 4"/>
          <p:cNvSpPr txBox="1"/>
          <p:nvPr/>
        </p:nvSpPr>
        <p:spPr>
          <a:xfrm>
            <a:off x="4389549" y="5396247"/>
            <a:ext cx="2313071" cy="584775"/>
          </a:xfrm>
          <a:prstGeom prst="rect">
            <a:avLst/>
          </a:prstGeom>
          <a:noFill/>
          <a:ln>
            <a:solidFill>
              <a:srgbClr val="C00000"/>
            </a:solidFill>
          </a:ln>
        </p:spPr>
        <p:txBody>
          <a:bodyPr wrap="square" rtlCol="0">
            <a:spAutoFit/>
          </a:bodyPr>
          <a:lstStyle/>
          <a:p>
            <a:r>
              <a:rPr lang="en-US" sz="3200" i="1" dirty="0"/>
              <a:t>??</a:t>
            </a:r>
            <a:r>
              <a:rPr lang="en-US" sz="2000" i="1" dirty="0"/>
              <a:t> In terms of x</a:t>
            </a:r>
            <a:r>
              <a:rPr lang="en-US" sz="2000" baseline="-25000" dirty="0"/>
              <a:t>1</a:t>
            </a:r>
            <a:endParaRPr lang="en-US" sz="2000" dirty="0"/>
          </a:p>
        </p:txBody>
      </p:sp>
      <p:cxnSp>
        <p:nvCxnSpPr>
          <p:cNvPr id="7" name="Straight Arrow Connector 6"/>
          <p:cNvCxnSpPr>
            <a:stCxn id="5" idx="3"/>
          </p:cNvCxnSpPr>
          <p:nvPr/>
        </p:nvCxnSpPr>
        <p:spPr>
          <a:xfrm flipV="1">
            <a:off x="6702620" y="5396247"/>
            <a:ext cx="1449707" cy="292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p:cNvSpPr/>
          <p:nvPr/>
        </p:nvSpPr>
        <p:spPr>
          <a:xfrm>
            <a:off x="8258816" y="5196265"/>
            <a:ext cx="3574595" cy="58634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Should be 0 when x1=1</a:t>
            </a:r>
          </a:p>
        </p:txBody>
      </p:sp>
      <p:cxnSp>
        <p:nvCxnSpPr>
          <p:cNvPr id="9" name="Straight Arrow Connector 8"/>
          <p:cNvCxnSpPr>
            <a:stCxn id="5" idx="3"/>
          </p:cNvCxnSpPr>
          <p:nvPr/>
        </p:nvCxnSpPr>
        <p:spPr>
          <a:xfrm>
            <a:off x="6702620" y="5688635"/>
            <a:ext cx="1556197" cy="488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ounded Rectangle 9"/>
          <p:cNvSpPr/>
          <p:nvPr/>
        </p:nvSpPr>
        <p:spPr>
          <a:xfrm>
            <a:off x="8258816" y="5919920"/>
            <a:ext cx="3574595" cy="58634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Should make the whole constraint redundant when x1=0</a:t>
            </a:r>
          </a:p>
        </p:txBody>
      </p:sp>
      <p:sp>
        <p:nvSpPr>
          <p:cNvPr id="13" name="TextBox 12"/>
          <p:cNvSpPr txBox="1"/>
          <p:nvPr/>
        </p:nvSpPr>
        <p:spPr>
          <a:xfrm>
            <a:off x="2762102" y="6151138"/>
            <a:ext cx="4133700" cy="584775"/>
          </a:xfrm>
          <a:prstGeom prst="rect">
            <a:avLst/>
          </a:prstGeom>
          <a:noFill/>
          <a:ln>
            <a:solidFill>
              <a:srgbClr val="C00000"/>
            </a:solidFill>
          </a:ln>
        </p:spPr>
        <p:txBody>
          <a:bodyPr wrap="square" rtlCol="0">
            <a:spAutoFit/>
          </a:bodyPr>
          <a:lstStyle/>
          <a:p>
            <a:r>
              <a:rPr lang="en-US" sz="3200" i="1" dirty="0"/>
              <a:t>x</a:t>
            </a:r>
            <a:r>
              <a:rPr lang="en-US" sz="3200" baseline="-25000" dirty="0"/>
              <a:t>2</a:t>
            </a:r>
            <a:r>
              <a:rPr lang="en-US" sz="3200" dirty="0"/>
              <a:t> &lt;=1-</a:t>
            </a:r>
            <a:r>
              <a:rPr lang="en-US" sz="3200" i="1" dirty="0"/>
              <a:t> x</a:t>
            </a:r>
            <a:r>
              <a:rPr lang="en-US" sz="3200" baseline="-25000" dirty="0"/>
              <a:t>1</a:t>
            </a:r>
            <a:r>
              <a:rPr lang="en-US" sz="3200" dirty="0"/>
              <a:t> </a:t>
            </a:r>
            <a:r>
              <a:rPr lang="en-US" sz="3200" dirty="0">
                <a:sym typeface="Wingdings" panose="05000000000000000000" pitchFamily="2" charset="2"/>
              </a:rPr>
              <a:t> </a:t>
            </a:r>
            <a:r>
              <a:rPr lang="en-US" sz="3200" i="1" dirty="0">
                <a:solidFill>
                  <a:srgbClr val="FF0000"/>
                </a:solidFill>
              </a:rPr>
              <a:t>x</a:t>
            </a:r>
            <a:r>
              <a:rPr lang="en-US" sz="3200" baseline="-25000" dirty="0">
                <a:solidFill>
                  <a:srgbClr val="FF0000"/>
                </a:solidFill>
              </a:rPr>
              <a:t>1</a:t>
            </a:r>
            <a:r>
              <a:rPr lang="en-US" sz="3200" i="1" dirty="0">
                <a:solidFill>
                  <a:srgbClr val="FF0000"/>
                </a:solidFill>
              </a:rPr>
              <a:t> + x</a:t>
            </a:r>
            <a:r>
              <a:rPr lang="en-US" sz="3200" baseline="-25000" dirty="0">
                <a:solidFill>
                  <a:srgbClr val="FF0000"/>
                </a:solidFill>
              </a:rPr>
              <a:t>2</a:t>
            </a:r>
            <a:r>
              <a:rPr lang="en-US" sz="3200" dirty="0">
                <a:solidFill>
                  <a:srgbClr val="FF0000"/>
                </a:solidFill>
                <a:sym typeface="Wingdings" panose="05000000000000000000" pitchFamily="2" charset="2"/>
              </a:rPr>
              <a:t> &lt;=1</a:t>
            </a:r>
            <a:endParaRPr lang="en-US" sz="3200" dirty="0">
              <a:solidFill>
                <a:srgbClr val="FF0000"/>
              </a:solidFill>
            </a:endParaRPr>
          </a:p>
        </p:txBody>
      </p:sp>
      <p:sp>
        <p:nvSpPr>
          <p:cNvPr id="14" name="Oval 13"/>
          <p:cNvSpPr/>
          <p:nvPr/>
        </p:nvSpPr>
        <p:spPr>
          <a:xfrm>
            <a:off x="6800046" y="4803819"/>
            <a:ext cx="627428" cy="3666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14" idx="4"/>
            <a:endCxn id="4" idx="0"/>
          </p:cNvCxnSpPr>
          <p:nvPr/>
        </p:nvCxnSpPr>
        <p:spPr>
          <a:xfrm flipH="1">
            <a:off x="3670479" y="5170507"/>
            <a:ext cx="3443281" cy="2257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82745" y="5568199"/>
            <a:ext cx="1506829" cy="923330"/>
          </a:xfrm>
          <a:prstGeom prst="rect">
            <a:avLst/>
          </a:prstGeom>
          <a:noFill/>
        </p:spPr>
        <p:txBody>
          <a:bodyPr wrap="square" rtlCol="0">
            <a:spAutoFit/>
          </a:bodyPr>
          <a:lstStyle/>
          <a:p>
            <a:r>
              <a:rPr lang="en-US" dirty="0">
                <a:solidFill>
                  <a:srgbClr val="C00000"/>
                </a:solidFill>
              </a:rPr>
              <a:t>Mutually exclusive alternatives</a:t>
            </a:r>
          </a:p>
        </p:txBody>
      </p:sp>
      <p:sp>
        <p:nvSpPr>
          <p:cNvPr id="6" name="Rectangle 5"/>
          <p:cNvSpPr/>
          <p:nvPr/>
        </p:nvSpPr>
        <p:spPr>
          <a:xfrm>
            <a:off x="3381212" y="4773792"/>
            <a:ext cx="4358116" cy="400110"/>
          </a:xfrm>
          <a:prstGeom prst="rect">
            <a:avLst/>
          </a:prstGeom>
        </p:spPr>
        <p:txBody>
          <a:bodyPr wrap="none">
            <a:spAutoFit/>
          </a:bodyPr>
          <a:lstStyle/>
          <a:p>
            <a:pPr lvl="2"/>
            <a:r>
              <a:rPr lang="en-US" sz="2000" dirty="0">
                <a:sym typeface="Wingdings" panose="05000000000000000000" pitchFamily="2" charset="2"/>
              </a:rPr>
              <a:t> That is: if </a:t>
            </a:r>
            <a:r>
              <a:rPr lang="en-US" sz="2000" i="1" dirty="0"/>
              <a:t>x</a:t>
            </a:r>
            <a:r>
              <a:rPr lang="en-US" sz="2000" baseline="-25000" dirty="0"/>
              <a:t>1</a:t>
            </a:r>
            <a:r>
              <a:rPr lang="en-US" sz="2000" dirty="0"/>
              <a:t> =1, then </a:t>
            </a:r>
            <a:r>
              <a:rPr lang="en-US" sz="2000" i="1" dirty="0"/>
              <a:t>x</a:t>
            </a:r>
            <a:r>
              <a:rPr lang="en-US" sz="2000" baseline="-25000" dirty="0"/>
              <a:t>2</a:t>
            </a:r>
            <a:r>
              <a:rPr lang="en-US" sz="2000" dirty="0"/>
              <a:t> &lt;= 0 </a:t>
            </a:r>
          </a:p>
        </p:txBody>
      </p:sp>
    </p:spTree>
    <p:extLst>
      <p:ext uri="{BB962C8B-B14F-4D97-AF65-F5344CB8AC3E}">
        <p14:creationId xmlns:p14="http://schemas.microsoft.com/office/powerpoint/2010/main" val="4087538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10" grpId="0" animBg="1"/>
      <p:bldP spid="13" grpId="0" animBg="1"/>
      <p:bldP spid="14" grpId="0" animBg="1"/>
      <p:bldP spid="18"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Constraints Modeling</a:t>
            </a:r>
          </a:p>
        </p:txBody>
      </p:sp>
      <p:sp>
        <p:nvSpPr>
          <p:cNvPr id="3" name="Content Placeholder 2"/>
          <p:cNvSpPr>
            <a:spLocks noGrp="1"/>
          </p:cNvSpPr>
          <p:nvPr>
            <p:ph idx="1"/>
          </p:nvPr>
        </p:nvSpPr>
        <p:spPr/>
        <p:txBody>
          <a:bodyPr/>
          <a:lstStyle/>
          <a:p>
            <a:r>
              <a:rPr lang="en-US" b="1" u="sng" dirty="0"/>
              <a:t>Case: Project Selection at </a:t>
            </a:r>
            <a:r>
              <a:rPr lang="en-US" b="1" u="sng" dirty="0" err="1"/>
              <a:t>Tazer</a:t>
            </a:r>
            <a:r>
              <a:rPr lang="en-US" b="1" u="sng" dirty="0"/>
              <a:t> Corp. (not in the textbook)</a:t>
            </a:r>
          </a:p>
          <a:p>
            <a:r>
              <a:rPr lang="en-US" b="1" dirty="0">
                <a:solidFill>
                  <a:srgbClr val="C00000"/>
                </a:solidFill>
              </a:rPr>
              <a:t>Additional constraints </a:t>
            </a:r>
            <a:r>
              <a:rPr lang="en-US" dirty="0"/>
              <a:t>(independent of each other):</a:t>
            </a:r>
          </a:p>
          <a:p>
            <a:pPr lvl="1"/>
            <a:r>
              <a:rPr lang="en-US" dirty="0"/>
              <a:t>If project 3 is selected, project 5 has to be selected as well</a:t>
            </a:r>
          </a:p>
          <a:p>
            <a:pPr lvl="2"/>
            <a:r>
              <a:rPr lang="en-US" dirty="0"/>
              <a:t>That is: if </a:t>
            </a:r>
            <a:r>
              <a:rPr lang="en-US" i="1" dirty="0"/>
              <a:t>x</a:t>
            </a:r>
            <a:r>
              <a:rPr lang="en-US" baseline="-25000" dirty="0"/>
              <a:t>3</a:t>
            </a:r>
            <a:r>
              <a:rPr lang="en-US" dirty="0"/>
              <a:t> =1, then </a:t>
            </a:r>
            <a:r>
              <a:rPr lang="en-US" i="1" dirty="0"/>
              <a:t>x</a:t>
            </a:r>
            <a:r>
              <a:rPr lang="en-US" baseline="-25000" dirty="0"/>
              <a:t>5</a:t>
            </a:r>
            <a:r>
              <a:rPr lang="en-US" dirty="0"/>
              <a:t> = 1</a:t>
            </a:r>
          </a:p>
          <a:p>
            <a:pPr lvl="2"/>
            <a:endParaRPr lang="en-US" dirty="0"/>
          </a:p>
          <a:p>
            <a:pPr lvl="1"/>
            <a:endParaRPr lang="en-US" dirty="0"/>
          </a:p>
          <a:p>
            <a:pPr lvl="1"/>
            <a:endParaRPr lang="en-US" dirty="0"/>
          </a:p>
          <a:p>
            <a:pPr lvl="1"/>
            <a:endParaRPr lang="en-US" dirty="0"/>
          </a:p>
          <a:p>
            <a:pPr lvl="1"/>
            <a:r>
              <a:rPr lang="en-US" dirty="0"/>
              <a:t>If project 2 is selected, at least 2 other projects should be selected</a:t>
            </a:r>
          </a:p>
          <a:p>
            <a:pPr lvl="2"/>
            <a:r>
              <a:rPr lang="en-US" dirty="0"/>
              <a:t>That is: if </a:t>
            </a:r>
            <a:r>
              <a:rPr lang="en-US" i="1" dirty="0"/>
              <a:t>x</a:t>
            </a:r>
            <a:r>
              <a:rPr lang="en-US" baseline="-25000" dirty="0"/>
              <a:t>2</a:t>
            </a:r>
            <a:r>
              <a:rPr lang="en-US" dirty="0"/>
              <a:t> =1, then </a:t>
            </a:r>
            <a:r>
              <a:rPr lang="en-US" i="1" dirty="0"/>
              <a:t>x</a:t>
            </a:r>
            <a:r>
              <a:rPr lang="en-US" baseline="-25000" dirty="0"/>
              <a:t>1</a:t>
            </a:r>
            <a:r>
              <a:rPr lang="en-US" dirty="0"/>
              <a:t> +</a:t>
            </a:r>
            <a:r>
              <a:rPr lang="en-US" i="1" dirty="0"/>
              <a:t> x</a:t>
            </a:r>
            <a:r>
              <a:rPr lang="en-US" baseline="-25000" dirty="0"/>
              <a:t>3</a:t>
            </a:r>
            <a:r>
              <a:rPr lang="en-US" dirty="0"/>
              <a:t> +</a:t>
            </a:r>
            <a:r>
              <a:rPr lang="en-US" i="1" dirty="0"/>
              <a:t> x</a:t>
            </a:r>
            <a:r>
              <a:rPr lang="en-US" baseline="-25000" dirty="0"/>
              <a:t>4</a:t>
            </a:r>
            <a:r>
              <a:rPr lang="en-US" dirty="0"/>
              <a:t> +</a:t>
            </a:r>
            <a:r>
              <a:rPr lang="en-US" i="1" dirty="0"/>
              <a:t> x</a:t>
            </a:r>
            <a:r>
              <a:rPr lang="en-US" baseline="-25000" dirty="0"/>
              <a:t>5</a:t>
            </a:r>
            <a:r>
              <a:rPr lang="en-US" dirty="0"/>
              <a:t> &gt;= 2</a:t>
            </a:r>
          </a:p>
          <a:p>
            <a:pPr lvl="2"/>
            <a:endParaRPr lang="en-US" dirty="0"/>
          </a:p>
          <a:p>
            <a:endParaRPr lang="en-US" dirty="0"/>
          </a:p>
          <a:p>
            <a:endParaRPr lang="en-US" b="1" dirty="0">
              <a:solidFill>
                <a:srgbClr val="C00000"/>
              </a:solidFill>
            </a:endParaRPr>
          </a:p>
          <a:p>
            <a:endParaRPr lang="en-US" dirty="0"/>
          </a:p>
          <a:p>
            <a:endParaRPr lang="en-US" b="1" dirty="0"/>
          </a:p>
          <a:p>
            <a:endParaRPr lang="en-US" b="1" dirty="0"/>
          </a:p>
          <a:p>
            <a:endParaRPr lang="en-US" b="1" dirty="0"/>
          </a:p>
          <a:p>
            <a:endParaRPr lang="en-US" b="1" dirty="0"/>
          </a:p>
        </p:txBody>
      </p:sp>
      <p:sp>
        <p:nvSpPr>
          <p:cNvPr id="6" name="TextBox 5"/>
          <p:cNvSpPr txBox="1"/>
          <p:nvPr/>
        </p:nvSpPr>
        <p:spPr>
          <a:xfrm>
            <a:off x="2987898" y="3128000"/>
            <a:ext cx="1107583" cy="584775"/>
          </a:xfrm>
          <a:prstGeom prst="rect">
            <a:avLst/>
          </a:prstGeom>
          <a:noFill/>
          <a:ln>
            <a:solidFill>
              <a:srgbClr val="C00000"/>
            </a:solidFill>
          </a:ln>
        </p:spPr>
        <p:txBody>
          <a:bodyPr wrap="square" rtlCol="0">
            <a:spAutoFit/>
          </a:bodyPr>
          <a:lstStyle/>
          <a:p>
            <a:r>
              <a:rPr lang="en-US" sz="3200" i="1" dirty="0"/>
              <a:t>x</a:t>
            </a:r>
            <a:r>
              <a:rPr lang="en-US" sz="3200" baseline="-25000" dirty="0"/>
              <a:t>5</a:t>
            </a:r>
            <a:r>
              <a:rPr lang="en-US" sz="3200" dirty="0"/>
              <a:t> &gt;=</a:t>
            </a:r>
          </a:p>
        </p:txBody>
      </p:sp>
      <p:sp>
        <p:nvSpPr>
          <p:cNvPr id="7" name="TextBox 6"/>
          <p:cNvSpPr txBox="1"/>
          <p:nvPr/>
        </p:nvSpPr>
        <p:spPr>
          <a:xfrm>
            <a:off x="4260760" y="3127999"/>
            <a:ext cx="2313071" cy="584775"/>
          </a:xfrm>
          <a:prstGeom prst="rect">
            <a:avLst/>
          </a:prstGeom>
          <a:noFill/>
          <a:ln>
            <a:solidFill>
              <a:srgbClr val="C00000"/>
            </a:solidFill>
          </a:ln>
        </p:spPr>
        <p:txBody>
          <a:bodyPr wrap="square" rtlCol="0">
            <a:spAutoFit/>
          </a:bodyPr>
          <a:lstStyle/>
          <a:p>
            <a:r>
              <a:rPr lang="en-US" sz="3200" i="1" dirty="0"/>
              <a:t>??</a:t>
            </a:r>
            <a:r>
              <a:rPr lang="en-US" sz="2000" i="1" dirty="0"/>
              <a:t> In terms of x</a:t>
            </a:r>
            <a:r>
              <a:rPr lang="en-US" sz="2000" baseline="-25000" dirty="0"/>
              <a:t>3</a:t>
            </a:r>
            <a:endParaRPr lang="en-US" sz="2000" dirty="0"/>
          </a:p>
        </p:txBody>
      </p:sp>
      <p:cxnSp>
        <p:nvCxnSpPr>
          <p:cNvPr id="9" name="Straight Arrow Connector 8"/>
          <p:cNvCxnSpPr>
            <a:stCxn id="7" idx="3"/>
          </p:cNvCxnSpPr>
          <p:nvPr/>
        </p:nvCxnSpPr>
        <p:spPr>
          <a:xfrm flipV="1">
            <a:off x="6573831" y="3127999"/>
            <a:ext cx="1449707" cy="292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ounded Rectangle 9"/>
          <p:cNvSpPr/>
          <p:nvPr/>
        </p:nvSpPr>
        <p:spPr>
          <a:xfrm>
            <a:off x="8130027" y="2928017"/>
            <a:ext cx="3574595" cy="58634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Should be 1 when x3=1</a:t>
            </a:r>
          </a:p>
        </p:txBody>
      </p:sp>
      <p:cxnSp>
        <p:nvCxnSpPr>
          <p:cNvPr id="11" name="Straight Arrow Connector 10"/>
          <p:cNvCxnSpPr>
            <a:stCxn id="7" idx="3"/>
          </p:cNvCxnSpPr>
          <p:nvPr/>
        </p:nvCxnSpPr>
        <p:spPr>
          <a:xfrm>
            <a:off x="6573831" y="3420387"/>
            <a:ext cx="1556197" cy="488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8130027" y="3651672"/>
            <a:ext cx="3574595" cy="58634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Should make the whole constraint redundant when x3=0</a:t>
            </a:r>
          </a:p>
        </p:txBody>
      </p:sp>
      <p:sp>
        <p:nvSpPr>
          <p:cNvPr id="13" name="TextBox 12"/>
          <p:cNvSpPr txBox="1"/>
          <p:nvPr/>
        </p:nvSpPr>
        <p:spPr>
          <a:xfrm>
            <a:off x="2723465" y="3768735"/>
            <a:ext cx="4133700" cy="584775"/>
          </a:xfrm>
          <a:prstGeom prst="rect">
            <a:avLst/>
          </a:prstGeom>
          <a:noFill/>
          <a:ln>
            <a:solidFill>
              <a:srgbClr val="C00000"/>
            </a:solidFill>
          </a:ln>
        </p:spPr>
        <p:txBody>
          <a:bodyPr wrap="square" rtlCol="0">
            <a:spAutoFit/>
          </a:bodyPr>
          <a:lstStyle/>
          <a:p>
            <a:r>
              <a:rPr lang="en-US" sz="3200" i="1" dirty="0"/>
              <a:t>x</a:t>
            </a:r>
            <a:r>
              <a:rPr lang="en-US" sz="3200" baseline="-25000" dirty="0"/>
              <a:t>5</a:t>
            </a:r>
            <a:r>
              <a:rPr lang="en-US" sz="3200" dirty="0"/>
              <a:t> &gt;=</a:t>
            </a:r>
            <a:r>
              <a:rPr lang="en-US" sz="3200" i="1" dirty="0"/>
              <a:t>x</a:t>
            </a:r>
            <a:r>
              <a:rPr lang="en-US" sz="3200" baseline="-25000" dirty="0"/>
              <a:t>3</a:t>
            </a:r>
            <a:r>
              <a:rPr lang="en-US" sz="3200" dirty="0"/>
              <a:t> </a:t>
            </a:r>
            <a:r>
              <a:rPr lang="en-US" sz="3200" dirty="0">
                <a:sym typeface="Wingdings" panose="05000000000000000000" pitchFamily="2" charset="2"/>
              </a:rPr>
              <a:t> </a:t>
            </a:r>
            <a:r>
              <a:rPr lang="en-US" sz="3200" i="1" dirty="0">
                <a:solidFill>
                  <a:srgbClr val="FF0000"/>
                </a:solidFill>
              </a:rPr>
              <a:t>x</a:t>
            </a:r>
            <a:r>
              <a:rPr lang="en-US" sz="3200" baseline="-25000" dirty="0">
                <a:solidFill>
                  <a:srgbClr val="FF0000"/>
                </a:solidFill>
              </a:rPr>
              <a:t>5</a:t>
            </a:r>
            <a:r>
              <a:rPr lang="en-US" sz="3200" i="1" dirty="0">
                <a:solidFill>
                  <a:srgbClr val="FF0000"/>
                </a:solidFill>
              </a:rPr>
              <a:t> – x</a:t>
            </a:r>
            <a:r>
              <a:rPr lang="en-US" sz="3200" baseline="-25000" dirty="0">
                <a:solidFill>
                  <a:srgbClr val="FF0000"/>
                </a:solidFill>
              </a:rPr>
              <a:t>3</a:t>
            </a:r>
            <a:r>
              <a:rPr lang="en-US" sz="3200" dirty="0">
                <a:solidFill>
                  <a:srgbClr val="FF0000"/>
                </a:solidFill>
                <a:sym typeface="Wingdings" panose="05000000000000000000" pitchFamily="2" charset="2"/>
              </a:rPr>
              <a:t> &gt;=0</a:t>
            </a:r>
            <a:endParaRPr lang="en-US" sz="3200" dirty="0">
              <a:solidFill>
                <a:srgbClr val="FF0000"/>
              </a:solidFill>
            </a:endParaRPr>
          </a:p>
        </p:txBody>
      </p:sp>
      <p:sp>
        <p:nvSpPr>
          <p:cNvPr id="14" name="Oval 13"/>
          <p:cNvSpPr/>
          <p:nvPr/>
        </p:nvSpPr>
        <p:spPr>
          <a:xfrm>
            <a:off x="6761410" y="2653047"/>
            <a:ext cx="627428" cy="3666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a:stCxn id="14" idx="4"/>
            <a:endCxn id="6" idx="0"/>
          </p:cNvCxnSpPr>
          <p:nvPr/>
        </p:nvCxnSpPr>
        <p:spPr>
          <a:xfrm flipH="1">
            <a:off x="3541690" y="3019735"/>
            <a:ext cx="3533434" cy="1082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995801" y="5326926"/>
            <a:ext cx="3116687" cy="584775"/>
          </a:xfrm>
          <a:prstGeom prst="rect">
            <a:avLst/>
          </a:prstGeom>
          <a:noFill/>
          <a:ln>
            <a:solidFill>
              <a:srgbClr val="C00000"/>
            </a:solidFill>
          </a:ln>
        </p:spPr>
        <p:txBody>
          <a:bodyPr wrap="square" rtlCol="0">
            <a:spAutoFit/>
          </a:bodyPr>
          <a:lstStyle/>
          <a:p>
            <a:r>
              <a:rPr lang="en-US" sz="3200" i="1" dirty="0"/>
              <a:t>x</a:t>
            </a:r>
            <a:r>
              <a:rPr lang="en-US" sz="3200" baseline="-25000" dirty="0"/>
              <a:t>1</a:t>
            </a:r>
            <a:r>
              <a:rPr lang="en-US" sz="3200" dirty="0"/>
              <a:t> +</a:t>
            </a:r>
            <a:r>
              <a:rPr lang="en-US" sz="3200" i="1" dirty="0"/>
              <a:t> x</a:t>
            </a:r>
            <a:r>
              <a:rPr lang="en-US" sz="3200" baseline="-25000" dirty="0"/>
              <a:t>3</a:t>
            </a:r>
            <a:r>
              <a:rPr lang="en-US" sz="3200" dirty="0"/>
              <a:t> +</a:t>
            </a:r>
            <a:r>
              <a:rPr lang="en-US" sz="3200" i="1" dirty="0"/>
              <a:t> x</a:t>
            </a:r>
            <a:r>
              <a:rPr lang="en-US" sz="3200" baseline="-25000" dirty="0"/>
              <a:t>4</a:t>
            </a:r>
            <a:r>
              <a:rPr lang="en-US" sz="3200" dirty="0"/>
              <a:t> +</a:t>
            </a:r>
            <a:r>
              <a:rPr lang="en-US" sz="3200" i="1" dirty="0"/>
              <a:t> x</a:t>
            </a:r>
            <a:r>
              <a:rPr lang="en-US" sz="3200" baseline="-25000" dirty="0"/>
              <a:t>5</a:t>
            </a:r>
            <a:r>
              <a:rPr lang="en-US" sz="3200" dirty="0"/>
              <a:t> &gt;=</a:t>
            </a:r>
          </a:p>
        </p:txBody>
      </p:sp>
      <p:sp>
        <p:nvSpPr>
          <p:cNvPr id="18" name="TextBox 17"/>
          <p:cNvSpPr txBox="1"/>
          <p:nvPr/>
        </p:nvSpPr>
        <p:spPr>
          <a:xfrm>
            <a:off x="4389549" y="5326926"/>
            <a:ext cx="2313071" cy="584775"/>
          </a:xfrm>
          <a:prstGeom prst="rect">
            <a:avLst/>
          </a:prstGeom>
          <a:noFill/>
          <a:ln>
            <a:solidFill>
              <a:srgbClr val="C00000"/>
            </a:solidFill>
          </a:ln>
        </p:spPr>
        <p:txBody>
          <a:bodyPr wrap="square" rtlCol="0">
            <a:spAutoFit/>
          </a:bodyPr>
          <a:lstStyle/>
          <a:p>
            <a:r>
              <a:rPr lang="en-US" sz="3200" i="1" dirty="0"/>
              <a:t>??</a:t>
            </a:r>
            <a:r>
              <a:rPr lang="en-US" sz="2000" i="1" dirty="0"/>
              <a:t> In terms of x</a:t>
            </a:r>
            <a:r>
              <a:rPr lang="en-US" sz="2000" baseline="-25000" dirty="0"/>
              <a:t>2</a:t>
            </a:r>
            <a:endParaRPr lang="en-US" sz="2000" dirty="0"/>
          </a:p>
        </p:txBody>
      </p:sp>
      <p:cxnSp>
        <p:nvCxnSpPr>
          <p:cNvPr id="19" name="Straight Arrow Connector 18"/>
          <p:cNvCxnSpPr/>
          <p:nvPr/>
        </p:nvCxnSpPr>
        <p:spPr>
          <a:xfrm flipV="1">
            <a:off x="6702621" y="5174518"/>
            <a:ext cx="1449707" cy="292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p:cNvSpPr/>
          <p:nvPr/>
        </p:nvSpPr>
        <p:spPr>
          <a:xfrm>
            <a:off x="8258817" y="4974536"/>
            <a:ext cx="3574595" cy="58634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Should be 2 when x2=1</a:t>
            </a:r>
          </a:p>
        </p:txBody>
      </p:sp>
      <p:cxnSp>
        <p:nvCxnSpPr>
          <p:cNvPr id="21" name="Straight Arrow Connector 20"/>
          <p:cNvCxnSpPr/>
          <p:nvPr/>
        </p:nvCxnSpPr>
        <p:spPr>
          <a:xfrm>
            <a:off x="6702621" y="5466906"/>
            <a:ext cx="1556197" cy="488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8258817" y="5698191"/>
            <a:ext cx="3574595" cy="58634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Should make the whole constraint redundant when x2=0</a:t>
            </a:r>
          </a:p>
        </p:txBody>
      </p:sp>
      <p:sp>
        <p:nvSpPr>
          <p:cNvPr id="23" name="TextBox 22"/>
          <p:cNvSpPr txBox="1"/>
          <p:nvPr/>
        </p:nvSpPr>
        <p:spPr>
          <a:xfrm>
            <a:off x="1943167" y="6078895"/>
            <a:ext cx="3865204" cy="584775"/>
          </a:xfrm>
          <a:prstGeom prst="rect">
            <a:avLst/>
          </a:prstGeom>
          <a:noFill/>
          <a:ln>
            <a:solidFill>
              <a:srgbClr val="C00000"/>
            </a:solidFill>
          </a:ln>
        </p:spPr>
        <p:txBody>
          <a:bodyPr wrap="square" rtlCol="0">
            <a:spAutoFit/>
          </a:bodyPr>
          <a:lstStyle/>
          <a:p>
            <a:r>
              <a:rPr lang="en-US" sz="3200" i="1" dirty="0">
                <a:solidFill>
                  <a:srgbClr val="FF0000"/>
                </a:solidFill>
              </a:rPr>
              <a:t>x</a:t>
            </a:r>
            <a:r>
              <a:rPr lang="en-US" sz="3200" baseline="-25000" dirty="0">
                <a:solidFill>
                  <a:srgbClr val="FF0000"/>
                </a:solidFill>
              </a:rPr>
              <a:t>1</a:t>
            </a:r>
            <a:r>
              <a:rPr lang="en-US" sz="3200" dirty="0">
                <a:solidFill>
                  <a:srgbClr val="FF0000"/>
                </a:solidFill>
              </a:rPr>
              <a:t> +</a:t>
            </a:r>
            <a:r>
              <a:rPr lang="en-US" sz="3200" i="1" dirty="0">
                <a:solidFill>
                  <a:srgbClr val="FF0000"/>
                </a:solidFill>
              </a:rPr>
              <a:t> x</a:t>
            </a:r>
            <a:r>
              <a:rPr lang="en-US" sz="3200" baseline="-25000" dirty="0">
                <a:solidFill>
                  <a:srgbClr val="FF0000"/>
                </a:solidFill>
              </a:rPr>
              <a:t>3</a:t>
            </a:r>
            <a:r>
              <a:rPr lang="en-US" sz="3200" dirty="0">
                <a:solidFill>
                  <a:srgbClr val="FF0000"/>
                </a:solidFill>
              </a:rPr>
              <a:t> +</a:t>
            </a:r>
            <a:r>
              <a:rPr lang="en-US" sz="3200" i="1" dirty="0">
                <a:solidFill>
                  <a:srgbClr val="FF0000"/>
                </a:solidFill>
              </a:rPr>
              <a:t> x</a:t>
            </a:r>
            <a:r>
              <a:rPr lang="en-US" sz="3200" baseline="-25000" dirty="0">
                <a:solidFill>
                  <a:srgbClr val="FF0000"/>
                </a:solidFill>
              </a:rPr>
              <a:t>4</a:t>
            </a:r>
            <a:r>
              <a:rPr lang="en-US" sz="3200" dirty="0">
                <a:solidFill>
                  <a:srgbClr val="FF0000"/>
                </a:solidFill>
              </a:rPr>
              <a:t> +</a:t>
            </a:r>
            <a:r>
              <a:rPr lang="en-US" sz="3200" i="1" dirty="0">
                <a:solidFill>
                  <a:srgbClr val="FF0000"/>
                </a:solidFill>
              </a:rPr>
              <a:t> x</a:t>
            </a:r>
            <a:r>
              <a:rPr lang="en-US" sz="3200" baseline="-25000" dirty="0">
                <a:solidFill>
                  <a:srgbClr val="FF0000"/>
                </a:solidFill>
              </a:rPr>
              <a:t>5</a:t>
            </a:r>
            <a:r>
              <a:rPr lang="en-US" sz="3200" dirty="0">
                <a:solidFill>
                  <a:srgbClr val="FF0000"/>
                </a:solidFill>
              </a:rPr>
              <a:t> &gt;=2</a:t>
            </a:r>
            <a:r>
              <a:rPr lang="en-US" sz="3200" i="1" dirty="0">
                <a:solidFill>
                  <a:srgbClr val="FF0000"/>
                </a:solidFill>
              </a:rPr>
              <a:t>x</a:t>
            </a:r>
            <a:r>
              <a:rPr lang="en-US" sz="3200" baseline="-25000" dirty="0">
                <a:solidFill>
                  <a:srgbClr val="FF0000"/>
                </a:solidFill>
              </a:rPr>
              <a:t>2</a:t>
            </a:r>
            <a:endParaRPr lang="en-US" sz="3200" dirty="0">
              <a:solidFill>
                <a:srgbClr val="FF0000"/>
              </a:solidFill>
            </a:endParaRPr>
          </a:p>
        </p:txBody>
      </p:sp>
      <p:sp>
        <p:nvSpPr>
          <p:cNvPr id="4" name="Rectangle 3"/>
          <p:cNvSpPr/>
          <p:nvPr/>
        </p:nvSpPr>
        <p:spPr>
          <a:xfrm>
            <a:off x="4271958" y="2619625"/>
            <a:ext cx="3434786" cy="400110"/>
          </a:xfrm>
          <a:prstGeom prst="rect">
            <a:avLst/>
          </a:prstGeom>
        </p:spPr>
        <p:txBody>
          <a:bodyPr wrap="none">
            <a:spAutoFit/>
          </a:bodyPr>
          <a:lstStyle/>
          <a:p>
            <a:r>
              <a:rPr lang="en-US" sz="2000" dirty="0">
                <a:sym typeface="Wingdings" panose="05000000000000000000" pitchFamily="2" charset="2"/>
              </a:rPr>
              <a:t> That is: if </a:t>
            </a:r>
            <a:r>
              <a:rPr lang="en-US" sz="2000" i="1" dirty="0"/>
              <a:t>x</a:t>
            </a:r>
            <a:r>
              <a:rPr lang="en-US" sz="2000" baseline="-25000" dirty="0"/>
              <a:t>3</a:t>
            </a:r>
            <a:r>
              <a:rPr lang="en-US" sz="2000" dirty="0"/>
              <a:t> =1, then </a:t>
            </a:r>
            <a:r>
              <a:rPr lang="en-US" sz="2000" i="1" dirty="0"/>
              <a:t>x</a:t>
            </a:r>
            <a:r>
              <a:rPr lang="en-US" sz="2000" baseline="-25000" dirty="0"/>
              <a:t>5</a:t>
            </a:r>
            <a:r>
              <a:rPr lang="en-US" sz="2000" dirty="0"/>
              <a:t> &gt;= 1 </a:t>
            </a:r>
          </a:p>
        </p:txBody>
      </p:sp>
      <p:sp>
        <p:nvSpPr>
          <p:cNvPr id="8" name="Rounded Rectangle 7"/>
          <p:cNvSpPr/>
          <p:nvPr/>
        </p:nvSpPr>
        <p:spPr>
          <a:xfrm>
            <a:off x="3729089" y="4961964"/>
            <a:ext cx="1853563" cy="288758"/>
          </a:xfrm>
          <a:prstGeom prst="round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24" name="Straight Arrow Connector 23"/>
          <p:cNvCxnSpPr>
            <a:stCxn id="8" idx="2"/>
            <a:endCxn id="17" idx="0"/>
          </p:cNvCxnSpPr>
          <p:nvPr/>
        </p:nvCxnSpPr>
        <p:spPr>
          <a:xfrm flipH="1">
            <a:off x="2554145" y="5250722"/>
            <a:ext cx="2101726" cy="762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1417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2" grpId="0" animBg="1"/>
      <p:bldP spid="13" grpId="0" animBg="1"/>
      <p:bldP spid="14" grpId="0" animBg="1"/>
      <p:bldP spid="17" grpId="0" animBg="1"/>
      <p:bldP spid="18" grpId="0" animBg="1"/>
      <p:bldP spid="20" grpId="0" animBg="1"/>
      <p:bldP spid="22" grpId="0" animBg="1"/>
      <p:bldP spid="23" grpId="0" animBg="1"/>
      <p:bldP spid="4" grpId="0"/>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Constraints Modeling</a:t>
            </a:r>
          </a:p>
        </p:txBody>
      </p:sp>
      <p:sp>
        <p:nvSpPr>
          <p:cNvPr id="3" name="Content Placeholder 2"/>
          <p:cNvSpPr>
            <a:spLocks noGrp="1"/>
          </p:cNvSpPr>
          <p:nvPr>
            <p:ph idx="1"/>
          </p:nvPr>
        </p:nvSpPr>
        <p:spPr/>
        <p:txBody>
          <a:bodyPr/>
          <a:lstStyle/>
          <a:p>
            <a:r>
              <a:rPr lang="en-US" b="1" u="sng" dirty="0"/>
              <a:t>Case: Project Selection at </a:t>
            </a:r>
            <a:r>
              <a:rPr lang="en-US" b="1" u="sng" dirty="0" err="1"/>
              <a:t>Tazer</a:t>
            </a:r>
            <a:r>
              <a:rPr lang="en-US" b="1" u="sng" dirty="0"/>
              <a:t> Corp. (not in the textbook)</a:t>
            </a:r>
          </a:p>
          <a:p>
            <a:r>
              <a:rPr lang="en-US" b="1" dirty="0">
                <a:solidFill>
                  <a:srgbClr val="C00000"/>
                </a:solidFill>
              </a:rPr>
              <a:t>Additional constraints </a:t>
            </a:r>
            <a:r>
              <a:rPr lang="en-US" dirty="0"/>
              <a:t>(independent of each other):</a:t>
            </a:r>
          </a:p>
          <a:p>
            <a:pPr lvl="1"/>
            <a:r>
              <a:rPr lang="en-US" dirty="0"/>
              <a:t>If project 3 is selected, at most 2 other projects can be selected</a:t>
            </a:r>
          </a:p>
          <a:p>
            <a:pPr lvl="2"/>
            <a:r>
              <a:rPr lang="en-US" dirty="0"/>
              <a:t>That is: if </a:t>
            </a:r>
            <a:r>
              <a:rPr lang="en-US" i="1" dirty="0"/>
              <a:t>x</a:t>
            </a:r>
            <a:r>
              <a:rPr lang="en-US" baseline="-25000" dirty="0"/>
              <a:t>3</a:t>
            </a:r>
            <a:r>
              <a:rPr lang="en-US" dirty="0"/>
              <a:t> =1, then </a:t>
            </a:r>
            <a:r>
              <a:rPr lang="en-US" i="1" dirty="0"/>
              <a:t>x</a:t>
            </a:r>
            <a:r>
              <a:rPr lang="en-US" baseline="-25000" dirty="0"/>
              <a:t>1</a:t>
            </a:r>
            <a:r>
              <a:rPr lang="en-US" dirty="0"/>
              <a:t> +</a:t>
            </a:r>
            <a:r>
              <a:rPr lang="en-US" i="1" dirty="0"/>
              <a:t> x</a:t>
            </a:r>
            <a:r>
              <a:rPr lang="en-US" baseline="-25000" dirty="0"/>
              <a:t>2</a:t>
            </a:r>
            <a:r>
              <a:rPr lang="en-US" dirty="0"/>
              <a:t> +</a:t>
            </a:r>
            <a:r>
              <a:rPr lang="en-US" i="1" dirty="0"/>
              <a:t> x</a:t>
            </a:r>
            <a:r>
              <a:rPr lang="en-US" baseline="-25000" dirty="0"/>
              <a:t>4</a:t>
            </a:r>
            <a:r>
              <a:rPr lang="en-US" dirty="0"/>
              <a:t> +</a:t>
            </a:r>
            <a:r>
              <a:rPr lang="en-US" i="1" dirty="0"/>
              <a:t> x</a:t>
            </a:r>
            <a:r>
              <a:rPr lang="en-US" baseline="-25000" dirty="0"/>
              <a:t>5</a:t>
            </a:r>
            <a:r>
              <a:rPr lang="en-US" dirty="0"/>
              <a:t> &lt;= 2</a:t>
            </a:r>
          </a:p>
          <a:p>
            <a:pPr lvl="2"/>
            <a:endParaRPr lang="en-US" dirty="0"/>
          </a:p>
          <a:p>
            <a:pPr lvl="1"/>
            <a:endParaRPr lang="en-US" dirty="0"/>
          </a:p>
          <a:p>
            <a:pPr lvl="1"/>
            <a:endParaRPr lang="en-US" dirty="0"/>
          </a:p>
          <a:p>
            <a:pPr lvl="1"/>
            <a:endParaRPr lang="en-US" dirty="0"/>
          </a:p>
          <a:p>
            <a:pPr lvl="1"/>
            <a:r>
              <a:rPr lang="en-US" dirty="0"/>
              <a:t>Project 4 cannot be the only project selected</a:t>
            </a:r>
          </a:p>
          <a:p>
            <a:pPr lvl="2"/>
            <a:r>
              <a:rPr lang="en-US" dirty="0"/>
              <a:t>That is: if project 4 is selected, at least one other project should be selected</a:t>
            </a:r>
          </a:p>
          <a:p>
            <a:pPr lvl="2"/>
            <a:r>
              <a:rPr lang="en-US" dirty="0"/>
              <a:t>That is: if </a:t>
            </a:r>
            <a:r>
              <a:rPr lang="en-US" i="1" dirty="0"/>
              <a:t>x</a:t>
            </a:r>
            <a:r>
              <a:rPr lang="en-US" baseline="-25000" dirty="0"/>
              <a:t>4</a:t>
            </a:r>
            <a:r>
              <a:rPr lang="en-US" dirty="0"/>
              <a:t> =1, then </a:t>
            </a:r>
            <a:r>
              <a:rPr lang="en-US" i="1" dirty="0"/>
              <a:t>x</a:t>
            </a:r>
            <a:r>
              <a:rPr lang="en-US" baseline="-25000" dirty="0"/>
              <a:t>1</a:t>
            </a:r>
            <a:r>
              <a:rPr lang="en-US" dirty="0"/>
              <a:t> +</a:t>
            </a:r>
            <a:r>
              <a:rPr lang="en-US" i="1" dirty="0"/>
              <a:t> x</a:t>
            </a:r>
            <a:r>
              <a:rPr lang="en-US" baseline="-25000" dirty="0"/>
              <a:t>2</a:t>
            </a:r>
            <a:r>
              <a:rPr lang="en-US" dirty="0"/>
              <a:t> +</a:t>
            </a:r>
            <a:r>
              <a:rPr lang="en-US" i="1" dirty="0"/>
              <a:t> x</a:t>
            </a:r>
            <a:r>
              <a:rPr lang="en-US" baseline="-25000" dirty="0"/>
              <a:t>3</a:t>
            </a:r>
            <a:r>
              <a:rPr lang="en-US" dirty="0"/>
              <a:t> +</a:t>
            </a:r>
            <a:r>
              <a:rPr lang="en-US" i="1" dirty="0"/>
              <a:t> x</a:t>
            </a:r>
            <a:r>
              <a:rPr lang="en-US" baseline="-25000" dirty="0"/>
              <a:t>5</a:t>
            </a:r>
            <a:r>
              <a:rPr lang="en-US" dirty="0"/>
              <a:t> &gt;= 1</a:t>
            </a:r>
          </a:p>
          <a:p>
            <a:pPr lvl="2"/>
            <a:endParaRPr lang="en-US" dirty="0"/>
          </a:p>
          <a:p>
            <a:endParaRPr lang="en-US" dirty="0"/>
          </a:p>
          <a:p>
            <a:endParaRPr lang="en-US" b="1" dirty="0">
              <a:solidFill>
                <a:srgbClr val="C00000"/>
              </a:solidFill>
            </a:endParaRPr>
          </a:p>
          <a:p>
            <a:endParaRPr lang="en-US" dirty="0"/>
          </a:p>
          <a:p>
            <a:endParaRPr lang="en-US" b="1" dirty="0"/>
          </a:p>
          <a:p>
            <a:endParaRPr lang="en-US" b="1" dirty="0"/>
          </a:p>
          <a:p>
            <a:endParaRPr lang="en-US" b="1" dirty="0"/>
          </a:p>
          <a:p>
            <a:endParaRPr lang="en-US" b="1" dirty="0"/>
          </a:p>
        </p:txBody>
      </p:sp>
      <p:sp>
        <p:nvSpPr>
          <p:cNvPr id="4" name="TextBox 3"/>
          <p:cNvSpPr txBox="1"/>
          <p:nvPr/>
        </p:nvSpPr>
        <p:spPr>
          <a:xfrm>
            <a:off x="995801" y="3138957"/>
            <a:ext cx="3116687" cy="584775"/>
          </a:xfrm>
          <a:prstGeom prst="rect">
            <a:avLst/>
          </a:prstGeom>
          <a:noFill/>
          <a:ln>
            <a:solidFill>
              <a:srgbClr val="C00000"/>
            </a:solidFill>
          </a:ln>
        </p:spPr>
        <p:txBody>
          <a:bodyPr wrap="square" rtlCol="0">
            <a:spAutoFit/>
          </a:bodyPr>
          <a:lstStyle/>
          <a:p>
            <a:r>
              <a:rPr lang="en-US" sz="3200" i="1" dirty="0"/>
              <a:t>x</a:t>
            </a:r>
            <a:r>
              <a:rPr lang="en-US" sz="3200" baseline="-25000" dirty="0"/>
              <a:t>1</a:t>
            </a:r>
            <a:r>
              <a:rPr lang="en-US" sz="3200" dirty="0"/>
              <a:t> </a:t>
            </a:r>
            <a:r>
              <a:rPr lang="en-US" sz="3200"/>
              <a:t>+</a:t>
            </a:r>
            <a:r>
              <a:rPr lang="en-US" sz="3200" i="1"/>
              <a:t> x</a:t>
            </a:r>
            <a:r>
              <a:rPr lang="en-US" sz="3200" baseline="-25000" dirty="0"/>
              <a:t>2</a:t>
            </a:r>
            <a:r>
              <a:rPr lang="en-US" sz="3200"/>
              <a:t> </a:t>
            </a:r>
            <a:r>
              <a:rPr lang="en-US" sz="3200" dirty="0"/>
              <a:t>+</a:t>
            </a:r>
            <a:r>
              <a:rPr lang="en-US" sz="3200" i="1" dirty="0"/>
              <a:t> x</a:t>
            </a:r>
            <a:r>
              <a:rPr lang="en-US" sz="3200" baseline="-25000" dirty="0"/>
              <a:t>4</a:t>
            </a:r>
            <a:r>
              <a:rPr lang="en-US" sz="3200" dirty="0"/>
              <a:t> +</a:t>
            </a:r>
            <a:r>
              <a:rPr lang="en-US" sz="3200" i="1" dirty="0"/>
              <a:t> x</a:t>
            </a:r>
            <a:r>
              <a:rPr lang="en-US" sz="3200" baseline="-25000" dirty="0"/>
              <a:t>5</a:t>
            </a:r>
            <a:r>
              <a:rPr lang="en-US" sz="3200" dirty="0"/>
              <a:t> &lt;=</a:t>
            </a:r>
          </a:p>
        </p:txBody>
      </p:sp>
      <p:sp>
        <p:nvSpPr>
          <p:cNvPr id="5" name="TextBox 4"/>
          <p:cNvSpPr txBox="1"/>
          <p:nvPr/>
        </p:nvSpPr>
        <p:spPr>
          <a:xfrm>
            <a:off x="4389549" y="3138957"/>
            <a:ext cx="2313071" cy="584775"/>
          </a:xfrm>
          <a:prstGeom prst="rect">
            <a:avLst/>
          </a:prstGeom>
          <a:noFill/>
          <a:ln>
            <a:solidFill>
              <a:srgbClr val="C00000"/>
            </a:solidFill>
          </a:ln>
        </p:spPr>
        <p:txBody>
          <a:bodyPr wrap="square" rtlCol="0">
            <a:spAutoFit/>
          </a:bodyPr>
          <a:lstStyle/>
          <a:p>
            <a:r>
              <a:rPr lang="en-US" sz="3200" i="1" dirty="0"/>
              <a:t>??</a:t>
            </a:r>
            <a:r>
              <a:rPr lang="en-US" sz="2000" i="1" dirty="0"/>
              <a:t> In terms of x</a:t>
            </a:r>
            <a:r>
              <a:rPr lang="en-US" sz="2000" baseline="-25000" dirty="0"/>
              <a:t>3</a:t>
            </a:r>
            <a:endParaRPr lang="en-US" sz="2000" dirty="0"/>
          </a:p>
        </p:txBody>
      </p:sp>
      <p:cxnSp>
        <p:nvCxnSpPr>
          <p:cNvPr id="6" name="Straight Arrow Connector 5"/>
          <p:cNvCxnSpPr/>
          <p:nvPr/>
        </p:nvCxnSpPr>
        <p:spPr>
          <a:xfrm flipV="1">
            <a:off x="6702621" y="2986549"/>
            <a:ext cx="1449707" cy="292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8258817" y="2786567"/>
            <a:ext cx="3574595" cy="58634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Should be 2 when x3=1</a:t>
            </a:r>
          </a:p>
        </p:txBody>
      </p:sp>
      <p:cxnSp>
        <p:nvCxnSpPr>
          <p:cNvPr id="8" name="Straight Arrow Connector 7"/>
          <p:cNvCxnSpPr/>
          <p:nvPr/>
        </p:nvCxnSpPr>
        <p:spPr>
          <a:xfrm>
            <a:off x="6702621" y="3278937"/>
            <a:ext cx="1556197" cy="488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8258817" y="3510222"/>
            <a:ext cx="3574595" cy="58634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Should make the whole constraint redundant when x3=0</a:t>
            </a:r>
          </a:p>
        </p:txBody>
      </p:sp>
      <p:sp>
        <p:nvSpPr>
          <p:cNvPr id="10" name="TextBox 9"/>
          <p:cNvSpPr txBox="1"/>
          <p:nvPr/>
        </p:nvSpPr>
        <p:spPr>
          <a:xfrm>
            <a:off x="1814378" y="3804183"/>
            <a:ext cx="4264450" cy="584775"/>
          </a:xfrm>
          <a:prstGeom prst="rect">
            <a:avLst/>
          </a:prstGeom>
          <a:noFill/>
          <a:ln>
            <a:solidFill>
              <a:srgbClr val="C00000"/>
            </a:solidFill>
          </a:ln>
        </p:spPr>
        <p:txBody>
          <a:bodyPr wrap="square" rtlCol="0">
            <a:spAutoFit/>
          </a:bodyPr>
          <a:lstStyle/>
          <a:p>
            <a:r>
              <a:rPr lang="en-US" sz="3200" i="1" dirty="0">
                <a:solidFill>
                  <a:srgbClr val="FF0000"/>
                </a:solidFill>
              </a:rPr>
              <a:t>x</a:t>
            </a:r>
            <a:r>
              <a:rPr lang="en-US" sz="3200" baseline="-25000" dirty="0">
                <a:solidFill>
                  <a:srgbClr val="FF0000"/>
                </a:solidFill>
              </a:rPr>
              <a:t>1</a:t>
            </a:r>
            <a:r>
              <a:rPr lang="en-US" sz="3200" dirty="0">
                <a:solidFill>
                  <a:srgbClr val="FF0000"/>
                </a:solidFill>
              </a:rPr>
              <a:t> +</a:t>
            </a:r>
            <a:r>
              <a:rPr lang="en-US" sz="3200" i="1" dirty="0">
                <a:solidFill>
                  <a:srgbClr val="FF0000"/>
                </a:solidFill>
              </a:rPr>
              <a:t> x</a:t>
            </a:r>
            <a:r>
              <a:rPr lang="en-US" sz="3200" baseline="-25000" dirty="0">
                <a:solidFill>
                  <a:srgbClr val="FF0000"/>
                </a:solidFill>
              </a:rPr>
              <a:t>2</a:t>
            </a:r>
            <a:r>
              <a:rPr lang="en-US" sz="3200" dirty="0">
                <a:solidFill>
                  <a:srgbClr val="FF0000"/>
                </a:solidFill>
              </a:rPr>
              <a:t> +</a:t>
            </a:r>
            <a:r>
              <a:rPr lang="en-US" sz="3200" i="1" dirty="0">
                <a:solidFill>
                  <a:srgbClr val="FF0000"/>
                </a:solidFill>
              </a:rPr>
              <a:t> x</a:t>
            </a:r>
            <a:r>
              <a:rPr lang="en-US" sz="3200" baseline="-25000" dirty="0">
                <a:solidFill>
                  <a:srgbClr val="FF0000"/>
                </a:solidFill>
              </a:rPr>
              <a:t>4</a:t>
            </a:r>
            <a:r>
              <a:rPr lang="en-US" sz="3200" dirty="0">
                <a:solidFill>
                  <a:srgbClr val="FF0000"/>
                </a:solidFill>
              </a:rPr>
              <a:t> +</a:t>
            </a:r>
            <a:r>
              <a:rPr lang="en-US" sz="3200" i="1" dirty="0">
                <a:solidFill>
                  <a:srgbClr val="FF0000"/>
                </a:solidFill>
              </a:rPr>
              <a:t> x</a:t>
            </a:r>
            <a:r>
              <a:rPr lang="en-US" sz="3200" baseline="-25000" dirty="0">
                <a:solidFill>
                  <a:srgbClr val="FF0000"/>
                </a:solidFill>
              </a:rPr>
              <a:t>5</a:t>
            </a:r>
            <a:r>
              <a:rPr lang="en-US" sz="3200" dirty="0">
                <a:solidFill>
                  <a:srgbClr val="FF0000"/>
                </a:solidFill>
              </a:rPr>
              <a:t> &lt;= 4-2</a:t>
            </a:r>
            <a:r>
              <a:rPr lang="en-US" sz="3200" i="1" dirty="0">
                <a:solidFill>
                  <a:srgbClr val="FF0000"/>
                </a:solidFill>
              </a:rPr>
              <a:t>x</a:t>
            </a:r>
            <a:r>
              <a:rPr lang="en-US" sz="3200" baseline="-25000" dirty="0">
                <a:solidFill>
                  <a:srgbClr val="FF0000"/>
                </a:solidFill>
              </a:rPr>
              <a:t>3</a:t>
            </a:r>
            <a:endParaRPr lang="en-US" sz="3200" dirty="0">
              <a:solidFill>
                <a:srgbClr val="FF0000"/>
              </a:solidFill>
            </a:endParaRPr>
          </a:p>
        </p:txBody>
      </p:sp>
      <p:sp>
        <p:nvSpPr>
          <p:cNvPr id="11" name="TextBox 10"/>
          <p:cNvSpPr txBox="1"/>
          <p:nvPr/>
        </p:nvSpPr>
        <p:spPr>
          <a:xfrm>
            <a:off x="1272862" y="5613954"/>
            <a:ext cx="3116687" cy="584775"/>
          </a:xfrm>
          <a:prstGeom prst="rect">
            <a:avLst/>
          </a:prstGeom>
          <a:noFill/>
          <a:ln>
            <a:solidFill>
              <a:srgbClr val="C00000"/>
            </a:solidFill>
          </a:ln>
        </p:spPr>
        <p:txBody>
          <a:bodyPr wrap="square" rtlCol="0">
            <a:spAutoFit/>
          </a:bodyPr>
          <a:lstStyle/>
          <a:p>
            <a:r>
              <a:rPr lang="en-US" sz="3200" i="1" dirty="0"/>
              <a:t>x</a:t>
            </a:r>
            <a:r>
              <a:rPr lang="en-US" sz="3200" baseline="-25000" dirty="0"/>
              <a:t>1</a:t>
            </a:r>
            <a:r>
              <a:rPr lang="en-US" sz="3200" dirty="0"/>
              <a:t> +</a:t>
            </a:r>
            <a:r>
              <a:rPr lang="en-US" sz="3200" i="1" dirty="0"/>
              <a:t> x</a:t>
            </a:r>
            <a:r>
              <a:rPr lang="en-US" sz="3200" baseline="-25000" dirty="0"/>
              <a:t>2</a:t>
            </a:r>
            <a:r>
              <a:rPr lang="en-US" sz="3200" dirty="0"/>
              <a:t> +</a:t>
            </a:r>
            <a:r>
              <a:rPr lang="en-US" sz="3200" i="1" dirty="0"/>
              <a:t> x</a:t>
            </a:r>
            <a:r>
              <a:rPr lang="en-US" sz="3200" baseline="-25000" dirty="0"/>
              <a:t>3</a:t>
            </a:r>
            <a:r>
              <a:rPr lang="en-US" sz="3200" dirty="0"/>
              <a:t> +</a:t>
            </a:r>
            <a:r>
              <a:rPr lang="en-US" sz="3200" i="1" dirty="0"/>
              <a:t> x</a:t>
            </a:r>
            <a:r>
              <a:rPr lang="en-US" sz="3200" baseline="-25000" dirty="0"/>
              <a:t>5</a:t>
            </a:r>
            <a:r>
              <a:rPr lang="en-US" sz="3200" dirty="0"/>
              <a:t> &gt;=</a:t>
            </a:r>
          </a:p>
        </p:txBody>
      </p:sp>
      <p:sp>
        <p:nvSpPr>
          <p:cNvPr id="12" name="TextBox 11"/>
          <p:cNvSpPr txBox="1"/>
          <p:nvPr/>
        </p:nvSpPr>
        <p:spPr>
          <a:xfrm>
            <a:off x="4619222" y="5613953"/>
            <a:ext cx="2313071" cy="584775"/>
          </a:xfrm>
          <a:prstGeom prst="rect">
            <a:avLst/>
          </a:prstGeom>
          <a:noFill/>
          <a:ln>
            <a:solidFill>
              <a:srgbClr val="C00000"/>
            </a:solidFill>
          </a:ln>
        </p:spPr>
        <p:txBody>
          <a:bodyPr wrap="square" rtlCol="0">
            <a:spAutoFit/>
          </a:bodyPr>
          <a:lstStyle/>
          <a:p>
            <a:r>
              <a:rPr lang="en-US" sz="3200" i="1" dirty="0"/>
              <a:t>??</a:t>
            </a:r>
            <a:r>
              <a:rPr lang="en-US" sz="2000" i="1" dirty="0"/>
              <a:t> In terms of x</a:t>
            </a:r>
            <a:r>
              <a:rPr lang="en-US" sz="2000" baseline="-25000" dirty="0"/>
              <a:t>4</a:t>
            </a:r>
            <a:endParaRPr lang="en-US" sz="2000" dirty="0"/>
          </a:p>
        </p:txBody>
      </p:sp>
      <p:cxnSp>
        <p:nvCxnSpPr>
          <p:cNvPr id="13" name="Straight Arrow Connector 12"/>
          <p:cNvCxnSpPr/>
          <p:nvPr/>
        </p:nvCxnSpPr>
        <p:spPr>
          <a:xfrm flipV="1">
            <a:off x="6932294" y="5413342"/>
            <a:ext cx="1449707" cy="292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8488490" y="5213360"/>
            <a:ext cx="3574595" cy="58634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Should be 1 when x4=1</a:t>
            </a:r>
          </a:p>
        </p:txBody>
      </p:sp>
      <p:cxnSp>
        <p:nvCxnSpPr>
          <p:cNvPr id="15" name="Straight Arrow Connector 14"/>
          <p:cNvCxnSpPr/>
          <p:nvPr/>
        </p:nvCxnSpPr>
        <p:spPr>
          <a:xfrm>
            <a:off x="6932294" y="5705730"/>
            <a:ext cx="1556197" cy="488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ounded Rectangle 15"/>
          <p:cNvSpPr/>
          <p:nvPr/>
        </p:nvSpPr>
        <p:spPr>
          <a:xfrm>
            <a:off x="8488490" y="5937015"/>
            <a:ext cx="3574595" cy="58634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Should make the whole constraint redundant when x4=0</a:t>
            </a:r>
          </a:p>
        </p:txBody>
      </p:sp>
      <p:sp>
        <p:nvSpPr>
          <p:cNvPr id="17" name="TextBox 16"/>
          <p:cNvSpPr txBox="1"/>
          <p:nvPr/>
        </p:nvSpPr>
        <p:spPr>
          <a:xfrm>
            <a:off x="2044051" y="6230976"/>
            <a:ext cx="3598760" cy="584775"/>
          </a:xfrm>
          <a:prstGeom prst="rect">
            <a:avLst/>
          </a:prstGeom>
          <a:noFill/>
          <a:ln>
            <a:solidFill>
              <a:srgbClr val="C00000"/>
            </a:solidFill>
          </a:ln>
        </p:spPr>
        <p:txBody>
          <a:bodyPr wrap="square" rtlCol="0">
            <a:spAutoFit/>
          </a:bodyPr>
          <a:lstStyle/>
          <a:p>
            <a:r>
              <a:rPr lang="en-US" sz="3200" i="1" dirty="0">
                <a:solidFill>
                  <a:srgbClr val="FF0000"/>
                </a:solidFill>
              </a:rPr>
              <a:t>x</a:t>
            </a:r>
            <a:r>
              <a:rPr lang="en-US" sz="3200" baseline="-25000" dirty="0">
                <a:solidFill>
                  <a:srgbClr val="FF0000"/>
                </a:solidFill>
              </a:rPr>
              <a:t>1</a:t>
            </a:r>
            <a:r>
              <a:rPr lang="en-US" sz="3200" dirty="0">
                <a:solidFill>
                  <a:srgbClr val="FF0000"/>
                </a:solidFill>
              </a:rPr>
              <a:t> +</a:t>
            </a:r>
            <a:r>
              <a:rPr lang="en-US" sz="3200" i="1" dirty="0">
                <a:solidFill>
                  <a:srgbClr val="FF0000"/>
                </a:solidFill>
              </a:rPr>
              <a:t> x</a:t>
            </a:r>
            <a:r>
              <a:rPr lang="en-US" sz="3200" baseline="-25000" dirty="0">
                <a:solidFill>
                  <a:srgbClr val="FF0000"/>
                </a:solidFill>
              </a:rPr>
              <a:t>2</a:t>
            </a:r>
            <a:r>
              <a:rPr lang="en-US" sz="3200" dirty="0">
                <a:solidFill>
                  <a:srgbClr val="FF0000"/>
                </a:solidFill>
              </a:rPr>
              <a:t> +</a:t>
            </a:r>
            <a:r>
              <a:rPr lang="en-US" sz="3200" i="1" dirty="0">
                <a:solidFill>
                  <a:srgbClr val="FF0000"/>
                </a:solidFill>
              </a:rPr>
              <a:t> x</a:t>
            </a:r>
            <a:r>
              <a:rPr lang="en-US" sz="3200" baseline="-25000" dirty="0">
                <a:solidFill>
                  <a:srgbClr val="FF0000"/>
                </a:solidFill>
              </a:rPr>
              <a:t>3</a:t>
            </a:r>
            <a:r>
              <a:rPr lang="en-US" sz="3200" dirty="0">
                <a:solidFill>
                  <a:srgbClr val="FF0000"/>
                </a:solidFill>
              </a:rPr>
              <a:t> +</a:t>
            </a:r>
            <a:r>
              <a:rPr lang="en-US" sz="3200" i="1" dirty="0">
                <a:solidFill>
                  <a:srgbClr val="FF0000"/>
                </a:solidFill>
              </a:rPr>
              <a:t> x</a:t>
            </a:r>
            <a:r>
              <a:rPr lang="en-US" sz="3200" baseline="-25000" dirty="0">
                <a:solidFill>
                  <a:srgbClr val="FF0000"/>
                </a:solidFill>
              </a:rPr>
              <a:t>5</a:t>
            </a:r>
            <a:r>
              <a:rPr lang="en-US" sz="3200" dirty="0">
                <a:solidFill>
                  <a:srgbClr val="FF0000"/>
                </a:solidFill>
              </a:rPr>
              <a:t> &gt;=</a:t>
            </a:r>
            <a:r>
              <a:rPr lang="en-US" sz="3200" i="1" dirty="0">
                <a:solidFill>
                  <a:srgbClr val="FF0000"/>
                </a:solidFill>
              </a:rPr>
              <a:t>x</a:t>
            </a:r>
            <a:r>
              <a:rPr lang="en-US" sz="3200" baseline="-25000" dirty="0">
                <a:solidFill>
                  <a:srgbClr val="FF0000"/>
                </a:solidFill>
              </a:rPr>
              <a:t>4</a:t>
            </a:r>
            <a:endParaRPr lang="en-US" sz="3200" dirty="0">
              <a:solidFill>
                <a:srgbClr val="FF0000"/>
              </a:solidFill>
            </a:endParaRPr>
          </a:p>
        </p:txBody>
      </p:sp>
      <p:sp>
        <p:nvSpPr>
          <p:cNvPr id="18" name="Rounded Rectangle 17"/>
          <p:cNvSpPr/>
          <p:nvPr/>
        </p:nvSpPr>
        <p:spPr>
          <a:xfrm>
            <a:off x="3692440" y="2718553"/>
            <a:ext cx="1853563" cy="288758"/>
          </a:xfrm>
          <a:prstGeom prst="round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19" name="Straight Arrow Connector 18"/>
          <p:cNvCxnSpPr>
            <a:stCxn id="18" idx="2"/>
            <a:endCxn id="4" idx="0"/>
          </p:cNvCxnSpPr>
          <p:nvPr/>
        </p:nvCxnSpPr>
        <p:spPr>
          <a:xfrm flipH="1">
            <a:off x="2554145" y="3007311"/>
            <a:ext cx="2065077" cy="131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ounded Rectangle 23"/>
          <p:cNvSpPr/>
          <p:nvPr/>
        </p:nvSpPr>
        <p:spPr>
          <a:xfrm>
            <a:off x="3692738" y="5285562"/>
            <a:ext cx="1853563" cy="288758"/>
          </a:xfrm>
          <a:prstGeom prst="round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25" name="Straight Arrow Connector 24"/>
          <p:cNvCxnSpPr>
            <a:stCxn id="24" idx="2"/>
            <a:endCxn id="11" idx="0"/>
          </p:cNvCxnSpPr>
          <p:nvPr/>
        </p:nvCxnSpPr>
        <p:spPr>
          <a:xfrm flipH="1">
            <a:off x="2831206" y="5574320"/>
            <a:ext cx="1788314" cy="396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3733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10" grpId="0" animBg="1"/>
      <p:bldP spid="11" grpId="0" animBg="1"/>
      <p:bldP spid="12" grpId="0" animBg="1"/>
      <p:bldP spid="14" grpId="0" animBg="1"/>
      <p:bldP spid="16" grpId="0" animBg="1"/>
      <p:bldP spid="17" grpId="0" animBg="1"/>
      <p:bldP spid="18" grpId="0" animBg="1"/>
      <p:bldP spid="2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Constraints Modeling</a:t>
            </a:r>
          </a:p>
        </p:txBody>
      </p:sp>
      <p:sp>
        <p:nvSpPr>
          <p:cNvPr id="3" name="Content Placeholder 2"/>
          <p:cNvSpPr>
            <a:spLocks noGrp="1"/>
          </p:cNvSpPr>
          <p:nvPr>
            <p:ph idx="1"/>
          </p:nvPr>
        </p:nvSpPr>
        <p:spPr/>
        <p:txBody>
          <a:bodyPr/>
          <a:lstStyle/>
          <a:p>
            <a:r>
              <a:rPr lang="en-US" b="1" u="sng" dirty="0"/>
              <a:t>Case: Project Selection at </a:t>
            </a:r>
            <a:r>
              <a:rPr lang="en-US" b="1" u="sng" dirty="0" err="1"/>
              <a:t>Tazer</a:t>
            </a:r>
            <a:r>
              <a:rPr lang="en-US" b="1" u="sng" dirty="0"/>
              <a:t> Corp. (not in the textbook)</a:t>
            </a:r>
          </a:p>
          <a:p>
            <a:r>
              <a:rPr lang="en-US" b="1" dirty="0">
                <a:solidFill>
                  <a:srgbClr val="C00000"/>
                </a:solidFill>
              </a:rPr>
              <a:t>Additional constraints </a:t>
            </a:r>
            <a:r>
              <a:rPr lang="en-US" dirty="0"/>
              <a:t>(independent of each other):</a:t>
            </a:r>
          </a:p>
          <a:p>
            <a:pPr lvl="1"/>
            <a:r>
              <a:rPr lang="en-US" dirty="0"/>
              <a:t>If both projects 2 and 3 are selected, project 4 has to be selected</a:t>
            </a:r>
          </a:p>
          <a:p>
            <a:pPr lvl="2"/>
            <a:r>
              <a:rPr lang="en-US" dirty="0"/>
              <a:t>That is: if </a:t>
            </a:r>
            <a:r>
              <a:rPr lang="en-US" i="1" dirty="0"/>
              <a:t>x</a:t>
            </a:r>
            <a:r>
              <a:rPr lang="en-US" baseline="-25000" dirty="0"/>
              <a:t>2</a:t>
            </a:r>
            <a:r>
              <a:rPr lang="en-US" dirty="0"/>
              <a:t> +</a:t>
            </a:r>
            <a:r>
              <a:rPr lang="en-US" i="1" dirty="0"/>
              <a:t> x</a:t>
            </a:r>
            <a:r>
              <a:rPr lang="en-US" baseline="-25000" dirty="0"/>
              <a:t>3</a:t>
            </a:r>
            <a:r>
              <a:rPr lang="en-US" dirty="0"/>
              <a:t> =2, then </a:t>
            </a:r>
            <a:r>
              <a:rPr lang="en-US" i="1" dirty="0"/>
              <a:t>x</a:t>
            </a:r>
            <a:r>
              <a:rPr lang="en-US" baseline="-25000" dirty="0"/>
              <a:t>4</a:t>
            </a:r>
            <a:r>
              <a:rPr lang="en-US" dirty="0"/>
              <a:t> </a:t>
            </a:r>
            <a:r>
              <a:rPr lang="en-US" i="1" dirty="0"/>
              <a:t>&gt;=</a:t>
            </a:r>
            <a:r>
              <a:rPr lang="en-US" dirty="0"/>
              <a:t>1</a:t>
            </a:r>
          </a:p>
          <a:p>
            <a:pPr lvl="2"/>
            <a:endParaRPr lang="en-US" dirty="0"/>
          </a:p>
          <a:p>
            <a:pPr lvl="2"/>
            <a:endParaRPr lang="en-US" dirty="0"/>
          </a:p>
          <a:p>
            <a:pPr marL="914400" lvl="2" indent="0">
              <a:buNone/>
            </a:pPr>
            <a:endParaRPr lang="en-US" dirty="0"/>
          </a:p>
          <a:p>
            <a:pPr lvl="2"/>
            <a:endParaRPr lang="en-US" dirty="0"/>
          </a:p>
          <a:p>
            <a:pPr lvl="1"/>
            <a:r>
              <a:rPr lang="en-US" dirty="0"/>
              <a:t>If both projects 4 and 5 are selected, project 1 cannot be selected</a:t>
            </a:r>
          </a:p>
          <a:p>
            <a:pPr lvl="2"/>
            <a:r>
              <a:rPr lang="en-US" dirty="0"/>
              <a:t>That is: if </a:t>
            </a:r>
            <a:r>
              <a:rPr lang="en-US" i="1" dirty="0"/>
              <a:t>x</a:t>
            </a:r>
            <a:r>
              <a:rPr lang="en-US" baseline="-25000" dirty="0"/>
              <a:t>4</a:t>
            </a:r>
            <a:r>
              <a:rPr lang="en-US" dirty="0"/>
              <a:t> +</a:t>
            </a:r>
            <a:r>
              <a:rPr lang="en-US" i="1" dirty="0"/>
              <a:t> x</a:t>
            </a:r>
            <a:r>
              <a:rPr lang="en-US" baseline="-25000" dirty="0"/>
              <a:t>5</a:t>
            </a:r>
            <a:r>
              <a:rPr lang="en-US" dirty="0"/>
              <a:t> =2, then </a:t>
            </a:r>
            <a:r>
              <a:rPr lang="en-US" i="1" dirty="0"/>
              <a:t>x</a:t>
            </a:r>
            <a:r>
              <a:rPr lang="en-US" baseline="-25000" dirty="0"/>
              <a:t>1</a:t>
            </a:r>
            <a:r>
              <a:rPr lang="en-US" dirty="0"/>
              <a:t> </a:t>
            </a:r>
            <a:r>
              <a:rPr lang="en-US" i="1" dirty="0"/>
              <a:t>&lt;= </a:t>
            </a:r>
            <a:r>
              <a:rPr lang="en-US" dirty="0"/>
              <a:t>0</a:t>
            </a:r>
          </a:p>
          <a:p>
            <a:pPr lvl="2"/>
            <a:endParaRPr lang="en-US" dirty="0"/>
          </a:p>
          <a:p>
            <a:endParaRPr lang="en-US" dirty="0"/>
          </a:p>
          <a:p>
            <a:endParaRPr lang="en-US" b="1" dirty="0">
              <a:solidFill>
                <a:srgbClr val="C00000"/>
              </a:solidFill>
            </a:endParaRPr>
          </a:p>
          <a:p>
            <a:endParaRPr lang="en-US" dirty="0"/>
          </a:p>
          <a:p>
            <a:endParaRPr lang="en-US" b="1" dirty="0"/>
          </a:p>
          <a:p>
            <a:endParaRPr lang="en-US" b="1" dirty="0"/>
          </a:p>
          <a:p>
            <a:endParaRPr lang="en-US" b="1" dirty="0"/>
          </a:p>
          <a:p>
            <a:endParaRPr lang="en-US" b="1" dirty="0"/>
          </a:p>
        </p:txBody>
      </p:sp>
      <p:sp>
        <p:nvSpPr>
          <p:cNvPr id="4" name="TextBox 3"/>
          <p:cNvSpPr txBox="1"/>
          <p:nvPr/>
        </p:nvSpPr>
        <p:spPr>
          <a:xfrm>
            <a:off x="2987898" y="3106651"/>
            <a:ext cx="1107583" cy="584775"/>
          </a:xfrm>
          <a:prstGeom prst="rect">
            <a:avLst/>
          </a:prstGeom>
          <a:noFill/>
          <a:ln>
            <a:solidFill>
              <a:srgbClr val="C00000"/>
            </a:solidFill>
          </a:ln>
        </p:spPr>
        <p:txBody>
          <a:bodyPr wrap="square" rtlCol="0">
            <a:spAutoFit/>
          </a:bodyPr>
          <a:lstStyle/>
          <a:p>
            <a:r>
              <a:rPr lang="en-US" sz="3200" i="1" dirty="0"/>
              <a:t>x</a:t>
            </a:r>
            <a:r>
              <a:rPr lang="en-US" sz="3200" baseline="-25000" dirty="0"/>
              <a:t>4</a:t>
            </a:r>
            <a:r>
              <a:rPr lang="en-US" sz="3200" dirty="0"/>
              <a:t> &gt;=</a:t>
            </a:r>
          </a:p>
        </p:txBody>
      </p:sp>
      <p:sp>
        <p:nvSpPr>
          <p:cNvPr id="5" name="TextBox 4"/>
          <p:cNvSpPr txBox="1"/>
          <p:nvPr/>
        </p:nvSpPr>
        <p:spPr>
          <a:xfrm>
            <a:off x="4260760" y="3106650"/>
            <a:ext cx="2596405" cy="584775"/>
          </a:xfrm>
          <a:prstGeom prst="rect">
            <a:avLst/>
          </a:prstGeom>
          <a:noFill/>
          <a:ln>
            <a:solidFill>
              <a:srgbClr val="C00000"/>
            </a:solidFill>
          </a:ln>
        </p:spPr>
        <p:txBody>
          <a:bodyPr wrap="square" rtlCol="0">
            <a:spAutoFit/>
          </a:bodyPr>
          <a:lstStyle/>
          <a:p>
            <a:r>
              <a:rPr lang="en-US" sz="3200" i="1" dirty="0"/>
              <a:t>??</a:t>
            </a:r>
            <a:r>
              <a:rPr lang="en-US" sz="2000" i="1" dirty="0"/>
              <a:t> In terms of x</a:t>
            </a:r>
            <a:r>
              <a:rPr lang="en-US" sz="2000" baseline="-25000" dirty="0"/>
              <a:t>2</a:t>
            </a:r>
            <a:r>
              <a:rPr lang="en-US" sz="2000" dirty="0"/>
              <a:t> +</a:t>
            </a:r>
            <a:r>
              <a:rPr lang="en-US" sz="2000" i="1" dirty="0"/>
              <a:t> x</a:t>
            </a:r>
            <a:r>
              <a:rPr lang="en-US" sz="2000" baseline="-25000" dirty="0"/>
              <a:t>3</a:t>
            </a:r>
            <a:r>
              <a:rPr lang="en-US" sz="2000" dirty="0"/>
              <a:t> </a:t>
            </a:r>
          </a:p>
        </p:txBody>
      </p:sp>
      <p:cxnSp>
        <p:nvCxnSpPr>
          <p:cNvPr id="6" name="Straight Arrow Connector 5"/>
          <p:cNvCxnSpPr>
            <a:stCxn id="5" idx="3"/>
          </p:cNvCxnSpPr>
          <p:nvPr/>
        </p:nvCxnSpPr>
        <p:spPr>
          <a:xfrm flipV="1">
            <a:off x="6857165" y="3106652"/>
            <a:ext cx="1166373" cy="292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8130027" y="2906668"/>
            <a:ext cx="3574595" cy="58634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Should be 1 when </a:t>
            </a:r>
            <a:r>
              <a:rPr lang="en-US" i="1" dirty="0"/>
              <a:t>x</a:t>
            </a:r>
            <a:r>
              <a:rPr lang="en-US" baseline="-25000" dirty="0"/>
              <a:t>2</a:t>
            </a:r>
            <a:r>
              <a:rPr lang="en-US" dirty="0"/>
              <a:t> +</a:t>
            </a:r>
            <a:r>
              <a:rPr lang="en-US" i="1" dirty="0"/>
              <a:t> x</a:t>
            </a:r>
            <a:r>
              <a:rPr lang="en-US" baseline="-25000" dirty="0"/>
              <a:t>3</a:t>
            </a:r>
            <a:r>
              <a:rPr lang="en-US" dirty="0"/>
              <a:t> =2</a:t>
            </a:r>
          </a:p>
        </p:txBody>
      </p:sp>
      <p:cxnSp>
        <p:nvCxnSpPr>
          <p:cNvPr id="8" name="Straight Arrow Connector 7"/>
          <p:cNvCxnSpPr>
            <a:stCxn id="5" idx="3"/>
          </p:cNvCxnSpPr>
          <p:nvPr/>
        </p:nvCxnSpPr>
        <p:spPr>
          <a:xfrm>
            <a:off x="6857165" y="3399038"/>
            <a:ext cx="1272863" cy="488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8130027" y="3630323"/>
            <a:ext cx="3703385" cy="58634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Should make the whole constraint redundant when </a:t>
            </a:r>
            <a:r>
              <a:rPr lang="en-US" i="1" dirty="0"/>
              <a:t>x</a:t>
            </a:r>
            <a:r>
              <a:rPr lang="en-US" baseline="-25000" dirty="0"/>
              <a:t>2</a:t>
            </a:r>
            <a:r>
              <a:rPr lang="en-US" dirty="0"/>
              <a:t> +</a:t>
            </a:r>
            <a:r>
              <a:rPr lang="en-US" i="1" dirty="0"/>
              <a:t> x</a:t>
            </a:r>
            <a:r>
              <a:rPr lang="en-US" baseline="-25000" dirty="0"/>
              <a:t>3</a:t>
            </a:r>
            <a:r>
              <a:rPr lang="en-US" dirty="0"/>
              <a:t> &lt;=1</a:t>
            </a:r>
          </a:p>
        </p:txBody>
      </p:sp>
      <p:sp>
        <p:nvSpPr>
          <p:cNvPr id="10" name="TextBox 9"/>
          <p:cNvSpPr txBox="1"/>
          <p:nvPr/>
        </p:nvSpPr>
        <p:spPr>
          <a:xfrm>
            <a:off x="2771968" y="3756268"/>
            <a:ext cx="2647025" cy="584775"/>
          </a:xfrm>
          <a:prstGeom prst="rect">
            <a:avLst/>
          </a:prstGeom>
          <a:noFill/>
          <a:ln>
            <a:solidFill>
              <a:srgbClr val="C00000"/>
            </a:solidFill>
          </a:ln>
        </p:spPr>
        <p:txBody>
          <a:bodyPr wrap="square" rtlCol="0">
            <a:spAutoFit/>
          </a:bodyPr>
          <a:lstStyle/>
          <a:p>
            <a:r>
              <a:rPr lang="en-US" sz="3200" i="1" dirty="0">
                <a:solidFill>
                  <a:srgbClr val="FF0000"/>
                </a:solidFill>
              </a:rPr>
              <a:t>x</a:t>
            </a:r>
            <a:r>
              <a:rPr lang="en-US" sz="3200" baseline="-25000" dirty="0">
                <a:solidFill>
                  <a:srgbClr val="FF0000"/>
                </a:solidFill>
              </a:rPr>
              <a:t>4</a:t>
            </a:r>
            <a:r>
              <a:rPr lang="en-US" sz="3200" dirty="0">
                <a:solidFill>
                  <a:srgbClr val="FF0000"/>
                </a:solidFill>
                <a:sym typeface="Wingdings" panose="05000000000000000000" pitchFamily="2" charset="2"/>
              </a:rPr>
              <a:t> &gt;=</a:t>
            </a:r>
            <a:r>
              <a:rPr lang="en-US" sz="3200" i="1" dirty="0">
                <a:solidFill>
                  <a:srgbClr val="FF0000"/>
                </a:solidFill>
              </a:rPr>
              <a:t> x</a:t>
            </a:r>
            <a:r>
              <a:rPr lang="en-US" sz="3200" baseline="-25000" dirty="0">
                <a:solidFill>
                  <a:srgbClr val="FF0000"/>
                </a:solidFill>
              </a:rPr>
              <a:t>2</a:t>
            </a:r>
            <a:r>
              <a:rPr lang="en-US" sz="3200" dirty="0">
                <a:solidFill>
                  <a:srgbClr val="FF0000"/>
                </a:solidFill>
              </a:rPr>
              <a:t> +</a:t>
            </a:r>
            <a:r>
              <a:rPr lang="en-US" sz="3200" i="1" dirty="0">
                <a:solidFill>
                  <a:srgbClr val="FF0000"/>
                </a:solidFill>
              </a:rPr>
              <a:t> x</a:t>
            </a:r>
            <a:r>
              <a:rPr lang="en-US" sz="3200" baseline="-25000" dirty="0">
                <a:solidFill>
                  <a:srgbClr val="FF0000"/>
                </a:solidFill>
              </a:rPr>
              <a:t>3</a:t>
            </a:r>
            <a:r>
              <a:rPr lang="en-US" sz="3200" dirty="0">
                <a:solidFill>
                  <a:srgbClr val="FF0000"/>
                </a:solidFill>
              </a:rPr>
              <a:t> -1</a:t>
            </a:r>
          </a:p>
        </p:txBody>
      </p:sp>
      <p:sp>
        <p:nvSpPr>
          <p:cNvPr id="13" name="TextBox 12"/>
          <p:cNvSpPr txBox="1"/>
          <p:nvPr/>
        </p:nvSpPr>
        <p:spPr>
          <a:xfrm>
            <a:off x="2871210" y="5271776"/>
            <a:ext cx="1107583" cy="584775"/>
          </a:xfrm>
          <a:prstGeom prst="rect">
            <a:avLst/>
          </a:prstGeom>
          <a:noFill/>
          <a:ln>
            <a:solidFill>
              <a:srgbClr val="C00000"/>
            </a:solidFill>
          </a:ln>
        </p:spPr>
        <p:txBody>
          <a:bodyPr wrap="square" rtlCol="0">
            <a:spAutoFit/>
          </a:bodyPr>
          <a:lstStyle/>
          <a:p>
            <a:r>
              <a:rPr lang="en-US" sz="3200" i="1" dirty="0"/>
              <a:t>x</a:t>
            </a:r>
            <a:r>
              <a:rPr lang="en-US" sz="3200" baseline="-25000" dirty="0"/>
              <a:t>1</a:t>
            </a:r>
            <a:r>
              <a:rPr lang="en-US" sz="3200" dirty="0"/>
              <a:t> &lt;=</a:t>
            </a:r>
          </a:p>
        </p:txBody>
      </p:sp>
      <p:sp>
        <p:nvSpPr>
          <p:cNvPr id="14" name="TextBox 13"/>
          <p:cNvSpPr txBox="1"/>
          <p:nvPr/>
        </p:nvSpPr>
        <p:spPr>
          <a:xfrm>
            <a:off x="4119130" y="5288207"/>
            <a:ext cx="2596405" cy="584775"/>
          </a:xfrm>
          <a:prstGeom prst="rect">
            <a:avLst/>
          </a:prstGeom>
          <a:noFill/>
          <a:ln>
            <a:solidFill>
              <a:srgbClr val="C00000"/>
            </a:solidFill>
          </a:ln>
        </p:spPr>
        <p:txBody>
          <a:bodyPr wrap="square" rtlCol="0">
            <a:spAutoFit/>
          </a:bodyPr>
          <a:lstStyle/>
          <a:p>
            <a:r>
              <a:rPr lang="en-US" sz="3200" i="1" dirty="0"/>
              <a:t>??</a:t>
            </a:r>
            <a:r>
              <a:rPr lang="en-US" sz="2000" i="1" dirty="0"/>
              <a:t> In terms of x</a:t>
            </a:r>
            <a:r>
              <a:rPr lang="en-US" sz="2000" baseline="-25000" dirty="0"/>
              <a:t>4</a:t>
            </a:r>
            <a:r>
              <a:rPr lang="en-US" sz="2000" dirty="0"/>
              <a:t> +</a:t>
            </a:r>
            <a:r>
              <a:rPr lang="en-US" sz="2000" i="1" dirty="0"/>
              <a:t> x</a:t>
            </a:r>
            <a:r>
              <a:rPr lang="en-US" sz="2000" baseline="-25000" dirty="0"/>
              <a:t>5</a:t>
            </a:r>
            <a:r>
              <a:rPr lang="en-US" sz="2000" dirty="0"/>
              <a:t> </a:t>
            </a:r>
          </a:p>
        </p:txBody>
      </p:sp>
      <p:cxnSp>
        <p:nvCxnSpPr>
          <p:cNvPr id="15" name="Straight Arrow Connector 14"/>
          <p:cNvCxnSpPr>
            <a:stCxn id="14" idx="3"/>
          </p:cNvCxnSpPr>
          <p:nvPr/>
        </p:nvCxnSpPr>
        <p:spPr>
          <a:xfrm flipV="1">
            <a:off x="6715535" y="5288209"/>
            <a:ext cx="1166373" cy="2923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ounded Rectangle 15"/>
          <p:cNvSpPr/>
          <p:nvPr/>
        </p:nvSpPr>
        <p:spPr>
          <a:xfrm>
            <a:off x="7988398" y="5086690"/>
            <a:ext cx="3574595" cy="58634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Should be 0 when </a:t>
            </a:r>
            <a:r>
              <a:rPr lang="en-US" i="1" dirty="0"/>
              <a:t>x</a:t>
            </a:r>
            <a:r>
              <a:rPr lang="en-US" baseline="-25000" dirty="0"/>
              <a:t>4</a:t>
            </a:r>
            <a:r>
              <a:rPr lang="en-US" dirty="0"/>
              <a:t> +</a:t>
            </a:r>
            <a:r>
              <a:rPr lang="en-US" i="1" dirty="0"/>
              <a:t> x</a:t>
            </a:r>
            <a:r>
              <a:rPr lang="en-US" baseline="-25000" dirty="0"/>
              <a:t>5</a:t>
            </a:r>
            <a:r>
              <a:rPr lang="en-US" dirty="0"/>
              <a:t> =2</a:t>
            </a:r>
          </a:p>
        </p:txBody>
      </p:sp>
      <p:cxnSp>
        <p:nvCxnSpPr>
          <p:cNvPr id="17" name="Straight Arrow Connector 16"/>
          <p:cNvCxnSpPr>
            <a:stCxn id="14" idx="3"/>
          </p:cNvCxnSpPr>
          <p:nvPr/>
        </p:nvCxnSpPr>
        <p:spPr>
          <a:xfrm>
            <a:off x="6715535" y="5580595"/>
            <a:ext cx="1272863" cy="488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7988398" y="5810345"/>
            <a:ext cx="3703385" cy="586349"/>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 Should make the whole constraint redundant when </a:t>
            </a:r>
            <a:r>
              <a:rPr lang="en-US" i="1" dirty="0"/>
              <a:t>x</a:t>
            </a:r>
            <a:r>
              <a:rPr lang="en-US" baseline="-25000" dirty="0"/>
              <a:t>4</a:t>
            </a:r>
            <a:r>
              <a:rPr lang="en-US" dirty="0"/>
              <a:t> +</a:t>
            </a:r>
            <a:r>
              <a:rPr lang="en-US" i="1" dirty="0"/>
              <a:t> x</a:t>
            </a:r>
            <a:r>
              <a:rPr lang="en-US" baseline="-25000" dirty="0"/>
              <a:t>5</a:t>
            </a:r>
            <a:r>
              <a:rPr lang="en-US" dirty="0"/>
              <a:t> &lt;=1</a:t>
            </a:r>
          </a:p>
        </p:txBody>
      </p:sp>
      <p:sp>
        <p:nvSpPr>
          <p:cNvPr id="19" name="TextBox 18"/>
          <p:cNvSpPr txBox="1"/>
          <p:nvPr/>
        </p:nvSpPr>
        <p:spPr>
          <a:xfrm>
            <a:off x="2540147" y="5980559"/>
            <a:ext cx="3110666" cy="584775"/>
          </a:xfrm>
          <a:prstGeom prst="rect">
            <a:avLst/>
          </a:prstGeom>
          <a:noFill/>
          <a:ln>
            <a:solidFill>
              <a:srgbClr val="C00000"/>
            </a:solidFill>
          </a:ln>
        </p:spPr>
        <p:txBody>
          <a:bodyPr wrap="square" rtlCol="0">
            <a:spAutoFit/>
          </a:bodyPr>
          <a:lstStyle/>
          <a:p>
            <a:r>
              <a:rPr lang="en-US" sz="3200" i="1" dirty="0">
                <a:solidFill>
                  <a:srgbClr val="FF0000"/>
                </a:solidFill>
              </a:rPr>
              <a:t>x</a:t>
            </a:r>
            <a:r>
              <a:rPr lang="en-US" sz="3200" baseline="-25000" dirty="0">
                <a:solidFill>
                  <a:srgbClr val="FF0000"/>
                </a:solidFill>
              </a:rPr>
              <a:t>1</a:t>
            </a:r>
            <a:r>
              <a:rPr lang="en-US" sz="3200" dirty="0">
                <a:solidFill>
                  <a:srgbClr val="FF0000"/>
                </a:solidFill>
                <a:sym typeface="Wingdings" panose="05000000000000000000" pitchFamily="2" charset="2"/>
              </a:rPr>
              <a:t> &lt;=</a:t>
            </a:r>
            <a:r>
              <a:rPr lang="en-US" sz="3200" i="1" dirty="0">
                <a:solidFill>
                  <a:srgbClr val="FF0000"/>
                </a:solidFill>
              </a:rPr>
              <a:t> 2-(x</a:t>
            </a:r>
            <a:r>
              <a:rPr lang="en-US" sz="3200" baseline="-25000" dirty="0">
                <a:solidFill>
                  <a:srgbClr val="FF0000"/>
                </a:solidFill>
              </a:rPr>
              <a:t>4</a:t>
            </a:r>
            <a:r>
              <a:rPr lang="en-US" sz="3200" dirty="0">
                <a:solidFill>
                  <a:srgbClr val="FF0000"/>
                </a:solidFill>
              </a:rPr>
              <a:t> +</a:t>
            </a:r>
            <a:r>
              <a:rPr lang="en-US" sz="3200" i="1" dirty="0">
                <a:solidFill>
                  <a:srgbClr val="FF0000"/>
                </a:solidFill>
              </a:rPr>
              <a:t> x</a:t>
            </a:r>
            <a:r>
              <a:rPr lang="en-US" sz="3200" baseline="-25000" dirty="0">
                <a:solidFill>
                  <a:srgbClr val="FF0000"/>
                </a:solidFill>
              </a:rPr>
              <a:t>5</a:t>
            </a:r>
            <a:r>
              <a:rPr lang="en-US" sz="3200" dirty="0">
                <a:solidFill>
                  <a:srgbClr val="FF0000"/>
                </a:solidFill>
              </a:rPr>
              <a:t>)</a:t>
            </a:r>
          </a:p>
        </p:txBody>
      </p:sp>
      <p:sp>
        <p:nvSpPr>
          <p:cNvPr id="20" name="Oval 19"/>
          <p:cNvSpPr/>
          <p:nvPr/>
        </p:nvSpPr>
        <p:spPr>
          <a:xfrm>
            <a:off x="4131577" y="2672256"/>
            <a:ext cx="568638" cy="3666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p:cNvCxnSpPr>
            <a:stCxn id="20" idx="4"/>
            <a:endCxn id="4" idx="0"/>
          </p:cNvCxnSpPr>
          <p:nvPr/>
        </p:nvCxnSpPr>
        <p:spPr>
          <a:xfrm flipH="1">
            <a:off x="3541690" y="3038944"/>
            <a:ext cx="874206" cy="67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4140440" y="4746167"/>
            <a:ext cx="568638" cy="36668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p:cNvCxnSpPr>
            <a:stCxn id="22" idx="4"/>
            <a:endCxn id="13" idx="0"/>
          </p:cNvCxnSpPr>
          <p:nvPr/>
        </p:nvCxnSpPr>
        <p:spPr>
          <a:xfrm flipH="1">
            <a:off x="3425002" y="5112855"/>
            <a:ext cx="999757" cy="1589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9880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7"/>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10" grpId="0" animBg="1"/>
      <p:bldP spid="13" grpId="0" animBg="1"/>
      <p:bldP spid="14" grpId="0" animBg="1"/>
      <p:bldP spid="16" grpId="0" animBg="1"/>
      <p:bldP spid="18" grpId="0" animBg="1"/>
      <p:bldP spid="19" grpId="0" animBg="1"/>
      <p:bldP spid="20" grpId="0" animBg="1"/>
      <p:bldP spid="2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92500" lnSpcReduction="10000"/>
          </a:bodyPr>
          <a:lstStyle/>
          <a:p>
            <a:r>
              <a:rPr lang="en-US" dirty="0">
                <a:solidFill>
                  <a:schemeClr val="bg2"/>
                </a:solidFill>
              </a:rPr>
              <a:t>Integer/Binary Programming (Chapter 7.1)</a:t>
            </a:r>
          </a:p>
          <a:p>
            <a:r>
              <a:rPr lang="en-US" dirty="0">
                <a:solidFill>
                  <a:schemeClr val="bg2"/>
                </a:solidFill>
              </a:rPr>
              <a:t>Conditional Constraints Modeling (Chapter 7.2)</a:t>
            </a:r>
          </a:p>
          <a:p>
            <a:r>
              <a:rPr lang="en-US" dirty="0"/>
              <a:t>Mixed-Integer Programming (Chapter 7.5)</a:t>
            </a:r>
          </a:p>
          <a:p>
            <a:r>
              <a:rPr lang="en-US" dirty="0">
                <a:solidFill>
                  <a:schemeClr val="bg2"/>
                </a:solidFill>
              </a:rPr>
              <a:t>Solution Concepts</a:t>
            </a:r>
          </a:p>
          <a:p>
            <a:r>
              <a:rPr lang="en-US" dirty="0">
                <a:solidFill>
                  <a:schemeClr val="bg1">
                    <a:lumMod val="95000"/>
                  </a:schemeClr>
                </a:solidFill>
              </a:rPr>
              <a:t>Extra Examples:</a:t>
            </a:r>
          </a:p>
          <a:p>
            <a:pPr lvl="1"/>
            <a:r>
              <a:rPr lang="en-US" dirty="0" err="1">
                <a:solidFill>
                  <a:schemeClr val="bg1">
                    <a:lumMod val="95000"/>
                  </a:schemeClr>
                </a:solidFill>
              </a:rPr>
              <a:t>Wyndor</a:t>
            </a:r>
            <a:r>
              <a:rPr lang="en-US" dirty="0">
                <a:solidFill>
                  <a:schemeClr val="bg1">
                    <a:lumMod val="95000"/>
                  </a:schemeClr>
                </a:solidFill>
              </a:rPr>
              <a:t> Problem with Setup Costs</a:t>
            </a:r>
          </a:p>
          <a:p>
            <a:pPr lvl="1"/>
            <a:r>
              <a:rPr lang="en-US" dirty="0">
                <a:solidFill>
                  <a:schemeClr val="bg1">
                    <a:lumMod val="95000"/>
                  </a:schemeClr>
                </a:solidFill>
              </a:rPr>
              <a:t>Caliente City Problem </a:t>
            </a:r>
          </a:p>
          <a:p>
            <a:pPr lvl="1"/>
            <a:r>
              <a:rPr lang="en-US" dirty="0">
                <a:solidFill>
                  <a:schemeClr val="bg1">
                    <a:lumMod val="95000"/>
                  </a:schemeClr>
                </a:solidFill>
              </a:rPr>
              <a:t>Southwestern Airways Problem </a:t>
            </a:r>
          </a:p>
          <a:p>
            <a:pPr lvl="1"/>
            <a:r>
              <a:rPr lang="en-US" dirty="0" err="1">
                <a:solidFill>
                  <a:schemeClr val="bg1">
                    <a:lumMod val="95000"/>
                  </a:schemeClr>
                </a:solidFill>
              </a:rPr>
              <a:t>Lipdon</a:t>
            </a:r>
            <a:r>
              <a:rPr lang="en-US" dirty="0">
                <a:solidFill>
                  <a:schemeClr val="bg1">
                    <a:lumMod val="95000"/>
                  </a:schemeClr>
                </a:solidFill>
              </a:rPr>
              <a:t> Tea Production </a:t>
            </a:r>
          </a:p>
          <a:p>
            <a:r>
              <a:rPr lang="en-US" dirty="0">
                <a:solidFill>
                  <a:schemeClr val="bg1">
                    <a:lumMod val="95000"/>
                  </a:schemeClr>
                </a:solidFill>
              </a:rPr>
              <a:t>Self Study</a:t>
            </a:r>
          </a:p>
          <a:p>
            <a:pPr lvl="1"/>
            <a:r>
              <a:rPr lang="en-US" dirty="0">
                <a:solidFill>
                  <a:schemeClr val="bg1">
                    <a:lumMod val="95000"/>
                  </a:schemeClr>
                </a:solidFill>
              </a:rPr>
              <a:t>Distribution Network Design (not in the textbook)</a:t>
            </a:r>
          </a:p>
          <a:p>
            <a:pPr lvl="1"/>
            <a:r>
              <a:rPr lang="en-US" dirty="0">
                <a:solidFill>
                  <a:schemeClr val="bg1">
                    <a:lumMod val="95000"/>
                  </a:schemeClr>
                </a:solidFill>
              </a:rPr>
              <a:t>Integrated Facility Location-Transportation</a:t>
            </a:r>
          </a:p>
          <a:p>
            <a:pPr lvl="5"/>
            <a:endParaRPr lang="en-US" dirty="0"/>
          </a:p>
          <a:p>
            <a:endParaRPr lang="en-US" dirty="0"/>
          </a:p>
        </p:txBody>
      </p:sp>
    </p:spTree>
    <p:extLst>
      <p:ext uri="{BB962C8B-B14F-4D97-AF65-F5344CB8AC3E}">
        <p14:creationId xmlns:p14="http://schemas.microsoft.com/office/powerpoint/2010/main" val="939473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Mixed-Integer Programming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5450506"/>
              </a:xfrm>
            </p:spPr>
            <p:txBody>
              <a:bodyPr>
                <a:normAutofit fontScale="92500" lnSpcReduction="10000"/>
              </a:bodyPr>
              <a:lstStyle/>
              <a:p>
                <a:r>
                  <a:rPr lang="en-US" dirty="0"/>
                  <a:t>When the model has both integer/binary and continuous decision variables</a:t>
                </a:r>
              </a:p>
              <a:p>
                <a:r>
                  <a:rPr lang="en-US" b="1" u="sng" dirty="0"/>
                  <a:t>A Fixed-Cost Problem: STECO</a:t>
                </a:r>
              </a:p>
              <a:p>
                <a:pPr lvl="1"/>
                <a:r>
                  <a:rPr lang="en-US" dirty="0"/>
                  <a:t>In order to conserve capital, STECO, a steel wholesaler, leases its regional warehouses. It currently has a candidate list of three warehouses it can lease. </a:t>
                </a:r>
              </a:p>
              <a:p>
                <a:pPr lvl="2"/>
                <a:r>
                  <a:rPr lang="en-US" dirty="0"/>
                  <a:t>The cost per month to lease warehouse </a:t>
                </a:r>
                <a14:m>
                  <m:oMath xmlns:m="http://schemas.openxmlformats.org/officeDocument/2006/math">
                    <m:r>
                      <a:rPr lang="en-US" i="1" dirty="0" smtClean="0">
                        <a:latin typeface="Cambria Math" panose="02040503050406030204" pitchFamily="18" charset="0"/>
                      </a:rPr>
                      <m:t>𝑖</m:t>
                    </m:r>
                  </m:oMath>
                </a14:m>
                <a:r>
                  <a:rPr lang="en-US" dirty="0"/>
                  <a:t> is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𝐹</m:t>
                        </m:r>
                      </m:e>
                      <m:sub>
                        <m:r>
                          <a:rPr lang="en-US" i="1" dirty="0" smtClean="0">
                            <a:latin typeface="Cambria Math" panose="02040503050406030204" pitchFamily="18" charset="0"/>
                          </a:rPr>
                          <m:t>𝑖</m:t>
                        </m:r>
                      </m:sub>
                    </m:sSub>
                  </m:oMath>
                </a14:m>
                <a:r>
                  <a:rPr lang="en-US" dirty="0"/>
                  <a:t>. Also, warehouse </a:t>
                </a:r>
                <a14:m>
                  <m:oMath xmlns:m="http://schemas.openxmlformats.org/officeDocument/2006/math">
                    <m:r>
                      <a:rPr lang="en-US" i="1" dirty="0" smtClean="0">
                        <a:latin typeface="Cambria Math" panose="02040503050406030204" pitchFamily="18" charset="0"/>
                      </a:rPr>
                      <m:t>𝑖</m:t>
                    </m:r>
                    <m:r>
                      <a:rPr lang="en-US" i="1" dirty="0">
                        <a:latin typeface="Cambria Math" panose="02040503050406030204" pitchFamily="18" charset="0"/>
                      </a:rPr>
                      <m:t> </m:t>
                    </m:r>
                  </m:oMath>
                </a14:m>
                <a:r>
                  <a:rPr lang="en-US" dirty="0"/>
                  <a:t>can load a maximum of</a:t>
                </a:r>
                <a14:m>
                  <m:oMath xmlns:m="http://schemas.openxmlformats.org/officeDocument/2006/math">
                    <m:r>
                      <a:rPr lang="en-US"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𝑆</m:t>
                        </m:r>
                      </m:e>
                      <m:sub>
                        <m:r>
                          <a:rPr lang="en-US" i="1" dirty="0" smtClean="0">
                            <a:latin typeface="Cambria Math" panose="02040503050406030204" pitchFamily="18" charset="0"/>
                          </a:rPr>
                          <m:t>𝑖</m:t>
                        </m:r>
                      </m:sub>
                    </m:sSub>
                    <m:r>
                      <a:rPr lang="en-US" i="1" dirty="0" smtClean="0">
                        <a:latin typeface="Cambria Math" panose="02040503050406030204" pitchFamily="18" charset="0"/>
                      </a:rPr>
                      <m:t> </m:t>
                    </m:r>
                  </m:oMath>
                </a14:m>
                <a:r>
                  <a:rPr lang="en-US" dirty="0"/>
                  <a:t>trucks per month.</a:t>
                </a:r>
              </a:p>
              <a:p>
                <a:pPr lvl="1"/>
                <a:r>
                  <a:rPr lang="en-US" dirty="0"/>
                  <a:t>There are four sales districts, and the typical monthly demand in district </a:t>
                </a:r>
                <a14:m>
                  <m:oMath xmlns:m="http://schemas.openxmlformats.org/officeDocument/2006/math">
                    <m:r>
                      <a:rPr lang="en-US" i="1" dirty="0" smtClean="0">
                        <a:latin typeface="Cambria Math" panose="02040503050406030204" pitchFamily="18" charset="0"/>
                      </a:rPr>
                      <m:t>𝑗</m:t>
                    </m:r>
                    <m:r>
                      <a:rPr lang="en-US" i="1" dirty="0" smtClean="0">
                        <a:latin typeface="Cambria Math" panose="02040503050406030204" pitchFamily="18" charset="0"/>
                      </a:rPr>
                      <m:t> </m:t>
                    </m:r>
                  </m:oMath>
                </a14:m>
                <a:r>
                  <a:rPr lang="en-US" dirty="0"/>
                  <a:t>is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𝑑</m:t>
                        </m:r>
                      </m:e>
                      <m:sub>
                        <m:r>
                          <a:rPr lang="en-US" i="1" dirty="0" smtClean="0">
                            <a:latin typeface="Cambria Math" panose="02040503050406030204" pitchFamily="18" charset="0"/>
                          </a:rPr>
                          <m:t>𝑗</m:t>
                        </m:r>
                      </m:sub>
                    </m:sSub>
                  </m:oMath>
                </a14:m>
                <a:r>
                  <a:rPr lang="en-US" dirty="0"/>
                  <a:t> truckloads. </a:t>
                </a:r>
              </a:p>
              <a:p>
                <a:pPr lvl="1"/>
                <a:r>
                  <a:rPr lang="en-US" dirty="0"/>
                  <a:t>The average cost of sending a truck from warehouse </a:t>
                </a:r>
                <a14:m>
                  <m:oMath xmlns:m="http://schemas.openxmlformats.org/officeDocument/2006/math">
                    <m:r>
                      <a:rPr lang="en-US" i="1" dirty="0" smtClean="0">
                        <a:latin typeface="Cambria Math" panose="02040503050406030204" pitchFamily="18" charset="0"/>
                      </a:rPr>
                      <m:t>𝑖</m:t>
                    </m:r>
                  </m:oMath>
                </a14:m>
                <a:r>
                  <a:rPr lang="en-US" dirty="0"/>
                  <a:t> to district </a:t>
                </a:r>
                <a14:m>
                  <m:oMath xmlns:m="http://schemas.openxmlformats.org/officeDocument/2006/math">
                    <m:r>
                      <a:rPr lang="en-US" i="1" dirty="0" smtClean="0">
                        <a:latin typeface="Cambria Math" panose="02040503050406030204" pitchFamily="18" charset="0"/>
                      </a:rPr>
                      <m:t>𝑗</m:t>
                    </m:r>
                  </m:oMath>
                </a14:m>
                <a:r>
                  <a:rPr lang="en-US" dirty="0"/>
                  <a:t> is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𝑐</m:t>
                        </m:r>
                      </m:e>
                      <m:sub>
                        <m:r>
                          <a:rPr lang="en-US" i="1" dirty="0" smtClean="0">
                            <a:latin typeface="Cambria Math" panose="02040503050406030204" pitchFamily="18" charset="0"/>
                          </a:rPr>
                          <m:t>𝑖𝑗</m:t>
                        </m:r>
                      </m:sub>
                    </m:sSub>
                  </m:oMath>
                </a14:m>
                <a:r>
                  <a:rPr lang="en-US" dirty="0"/>
                  <a:t>. </a:t>
                </a:r>
              </a:p>
              <a:p>
                <a:pPr marL="0" indent="0">
                  <a:buNone/>
                </a:pPr>
                <a:r>
                  <a:rPr lang="en-US" b="1" dirty="0"/>
                  <a:t>Question: </a:t>
                </a:r>
              </a:p>
              <a:p>
                <a:pPr marL="0" indent="0">
                  <a:buNone/>
                </a:pPr>
                <a:r>
                  <a:rPr lang="en-US" dirty="0"/>
                  <a:t>STECO wants to know which warehouse to lease and how many trucks to send from each warehouse to each district.</a:t>
                </a:r>
              </a:p>
              <a:p>
                <a:pPr lvl="1"/>
                <a:r>
                  <a:rPr lang="en-US" dirty="0"/>
                  <a:t>Note that STECO has to pay the leasing cost for a given warehouse </a:t>
                </a:r>
                <a:r>
                  <a:rPr lang="en-US" u="sng" dirty="0"/>
                  <a:t>if it plans to dispatch at least one truck from it</a:t>
                </a:r>
                <a:r>
                  <a:rPr lang="en-US" dirty="0"/>
                  <a:t>. If any trucks are sent from a warehouse, then the entire monthly lease amount must be paid. A network flow representation of STECO’s fixed charge model is illustrated in the following figure.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5450506"/>
              </a:xfrm>
              <a:blipFill>
                <a:blip r:embed="rId3"/>
                <a:stretch>
                  <a:fillRect l="-956" t="-2237" r="-637"/>
                </a:stretch>
              </a:blipFill>
            </p:spPr>
            <p:txBody>
              <a:bodyPr/>
              <a:lstStyle/>
              <a:p>
                <a:r>
                  <a:rPr lang="en-US">
                    <a:noFill/>
                  </a:rPr>
                  <a:t> </a:t>
                </a:r>
              </a:p>
            </p:txBody>
          </p:sp>
        </mc:Fallback>
      </mc:AlternateContent>
    </p:spTree>
    <p:extLst>
      <p:ext uri="{BB962C8B-B14F-4D97-AF65-F5344CB8AC3E}">
        <p14:creationId xmlns:p14="http://schemas.microsoft.com/office/powerpoint/2010/main" val="3894734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Mixed-Integer Programming</a:t>
            </a:r>
          </a:p>
        </p:txBody>
      </p:sp>
      <p:sp>
        <p:nvSpPr>
          <p:cNvPr id="3" name="Content Placeholder 2"/>
          <p:cNvSpPr>
            <a:spLocks noGrp="1"/>
          </p:cNvSpPr>
          <p:nvPr>
            <p:ph idx="1"/>
          </p:nvPr>
        </p:nvSpPr>
        <p:spPr/>
        <p:txBody>
          <a:bodyPr/>
          <a:lstStyle/>
          <a:p>
            <a:r>
              <a:rPr lang="en-US" b="1" u="sng" dirty="0"/>
              <a:t>A Fixed-Cost Problem: STECO</a:t>
            </a:r>
          </a:p>
          <a:p>
            <a:pPr lvl="1"/>
            <a:r>
              <a:rPr lang="en-US" sz="2000" dirty="0"/>
              <a:t>The data for this model are presented in the following table. For example, it costs $7,750 to lease warehouse A for a month and that up to 200 trucks can be loaded and dispatched from this warehouse. The shipping cost from warehouse A to District 1 is $170 per truckload. Also, the monthly demand in sales district 1 is 100 truckloads, the variable cost of sending a truck from B to 3 is $100.</a:t>
            </a:r>
          </a:p>
          <a:p>
            <a:r>
              <a:rPr lang="en-US" b="1" dirty="0">
                <a:solidFill>
                  <a:srgbClr val="C00000"/>
                </a:solidFill>
                <a:ea typeface="ＭＳ Ｐゴシック"/>
              </a:rPr>
              <a:t>STEP 0:</a:t>
            </a:r>
            <a:endParaRPr lang="en-US" dirty="0"/>
          </a:p>
          <a:p>
            <a:pPr marL="0" indent="0">
              <a:buNone/>
            </a:pPr>
            <a:endParaRPr lang="en-US" dirty="0"/>
          </a:p>
          <a:p>
            <a:pPr marL="457200" lvl="1" indent="0">
              <a:buNone/>
            </a:pPr>
            <a:endParaRPr lang="en-US" dirty="0"/>
          </a:p>
          <a:p>
            <a:pPr lvl="1"/>
            <a:endParaRPr lang="en-US" b="1" u="sng" dirty="0"/>
          </a:p>
        </p:txBody>
      </p:sp>
      <p:pic>
        <p:nvPicPr>
          <p:cNvPr id="5" name="Picture 4">
            <a:extLst>
              <a:ext uri="{FF2B5EF4-FFF2-40B4-BE49-F238E27FC236}">
                <a16:creationId xmlns:a16="http://schemas.microsoft.com/office/drawing/2014/main" id="{8D202CBA-105A-5CD1-99AA-7567EBD89D3C}"/>
              </a:ext>
            </a:extLst>
          </p:cNvPr>
          <p:cNvPicPr>
            <a:picLocks noChangeAspect="1"/>
          </p:cNvPicPr>
          <p:nvPr/>
        </p:nvPicPr>
        <p:blipFill>
          <a:blip r:embed="rId3"/>
          <a:stretch>
            <a:fillRect/>
          </a:stretch>
        </p:blipFill>
        <p:spPr>
          <a:xfrm>
            <a:off x="2699849" y="2962410"/>
            <a:ext cx="7078063" cy="1648055"/>
          </a:xfrm>
          <a:prstGeom prst="rect">
            <a:avLst/>
          </a:prstGeom>
        </p:spPr>
      </p:pic>
      <p:pic>
        <p:nvPicPr>
          <p:cNvPr id="6" name="Picture 5">
            <a:extLst>
              <a:ext uri="{FF2B5EF4-FFF2-40B4-BE49-F238E27FC236}">
                <a16:creationId xmlns:a16="http://schemas.microsoft.com/office/drawing/2014/main" id="{4C0C4788-30A4-8F50-7DA3-6CC64F9908D5}"/>
              </a:ext>
            </a:extLst>
          </p:cNvPr>
          <p:cNvPicPr>
            <a:picLocks noChangeAspect="1"/>
          </p:cNvPicPr>
          <p:nvPr/>
        </p:nvPicPr>
        <p:blipFill>
          <a:blip r:embed="rId4"/>
          <a:stretch>
            <a:fillRect/>
          </a:stretch>
        </p:blipFill>
        <p:spPr>
          <a:xfrm>
            <a:off x="3967899" y="4664254"/>
            <a:ext cx="4541964" cy="2086979"/>
          </a:xfrm>
          <a:prstGeom prst="rect">
            <a:avLst/>
          </a:prstGeom>
        </p:spPr>
      </p:pic>
    </p:spTree>
    <p:extLst>
      <p:ext uri="{BB962C8B-B14F-4D97-AF65-F5344CB8AC3E}">
        <p14:creationId xmlns:p14="http://schemas.microsoft.com/office/powerpoint/2010/main" val="2909352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Mixed-Integer Programming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2"/>
                <a:ext cx="11478410" cy="5387131"/>
              </a:xfrm>
            </p:spPr>
            <p:txBody>
              <a:bodyPr>
                <a:normAutofit/>
              </a:bodyPr>
              <a:lstStyle/>
              <a:p>
                <a:r>
                  <a:rPr lang="en-US" b="1" u="sng" dirty="0"/>
                  <a:t>A Fixed-Cost Problem: STECO</a:t>
                </a:r>
              </a:p>
              <a:p>
                <a:r>
                  <a:rPr lang="en-US" b="1" dirty="0">
                    <a:solidFill>
                      <a:srgbClr val="C00000"/>
                    </a:solidFill>
                  </a:rPr>
                  <a:t>STEP 1: </a:t>
                </a:r>
                <a:r>
                  <a:rPr lang="en-US" dirty="0"/>
                  <a:t>Decision Variables </a:t>
                </a:r>
              </a:p>
              <a:p>
                <a:pPr marL="457200" lvl="1"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𝑖𝑗</m:t>
                        </m:r>
                      </m:sub>
                    </m:sSub>
                    <m:r>
                      <a:rPr lang="en-US" b="0" i="1" smtClean="0">
                        <a:latin typeface="Cambria Math" panose="02040503050406030204" pitchFamily="18" charset="0"/>
                      </a:rPr>
                      <m:t>= </m:t>
                    </m:r>
                  </m:oMath>
                </a14:m>
                <a:r>
                  <a:rPr lang="en-US" dirty="0"/>
                  <a:t>number of truckloads to ship from warehouse </a:t>
                </a:r>
                <a14:m>
                  <m:oMath xmlns:m="http://schemas.openxmlformats.org/officeDocument/2006/math">
                    <m:r>
                      <a:rPr lang="en-US" b="0" i="1" smtClean="0">
                        <a:latin typeface="Cambria Math" panose="02040503050406030204" pitchFamily="18" charset="0"/>
                      </a:rPr>
                      <m:t>𝑖</m:t>
                    </m:r>
                  </m:oMath>
                </a14:m>
                <a:r>
                  <a:rPr lang="en-US" dirty="0"/>
                  <a:t> to sales district </a:t>
                </a:r>
                <a14:m>
                  <m:oMath xmlns:m="http://schemas.openxmlformats.org/officeDocument/2006/math">
                    <m:r>
                      <a:rPr lang="en-US" b="0" i="1" smtClean="0">
                        <a:latin typeface="Cambria Math" panose="02040503050406030204" pitchFamily="18" charset="0"/>
                      </a:rPr>
                      <m:t>𝑗</m:t>
                    </m:r>
                  </m:oMath>
                </a14:m>
                <a:r>
                  <a:rPr lang="en-US" dirty="0"/>
                  <a:t>,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             </m:t>
                    </m:r>
                    <m:r>
                      <a:rPr lang="en-US" b="0" i="1" smtClean="0">
                        <a:latin typeface="Cambria Math" panose="02040503050406030204" pitchFamily="18" charset="0"/>
                      </a:rPr>
                      <m:t>𝑗</m:t>
                    </m:r>
                    <m:r>
                      <a:rPr lang="en-US" b="0" i="1" smtClean="0">
                        <a:latin typeface="Cambria Math" panose="02040503050406030204" pitchFamily="18" charset="0"/>
                      </a:rPr>
                      <m:t>=1,2,3,4</m:t>
                    </m:r>
                  </m:oMath>
                </a14:m>
                <a:r>
                  <a:rPr lang="en-US" dirty="0"/>
                  <a:t>.</a:t>
                </a:r>
              </a:p>
              <a:p>
                <a:pPr marL="457200" lvl="1"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sub>
                    </m:sSub>
                    <m:r>
                      <a:rPr lang="en-US" b="0" i="1" smtClean="0">
                        <a:latin typeface="Cambria Math" panose="02040503050406030204" pitchFamily="18" charset="0"/>
                      </a:rPr>
                      <m:t>=0</m:t>
                    </m:r>
                  </m:oMath>
                </a14:m>
                <a:r>
                  <a:rPr lang="en-US" dirty="0"/>
                  <a:t> or </a:t>
                </a:r>
                <a14:m>
                  <m:oMath xmlns:m="http://schemas.openxmlformats.org/officeDocument/2006/math">
                    <m:r>
                      <a:rPr lang="en-US" b="0" i="1" smtClean="0">
                        <a:latin typeface="Cambria Math" panose="02040503050406030204" pitchFamily="18" charset="0"/>
                      </a:rPr>
                      <m:t>1,  </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𝐶</m:t>
                    </m:r>
                  </m:oMath>
                </a14:m>
                <a:r>
                  <a:rPr lang="en-US" dirty="0"/>
                  <a:t> (1 if lease warehouse </a:t>
                </a:r>
                <a14:m>
                  <m:oMath xmlns:m="http://schemas.openxmlformats.org/officeDocument/2006/math">
                    <m:r>
                      <a:rPr lang="en-US" b="0" i="1" smtClean="0">
                        <a:latin typeface="Cambria Math" panose="02040503050406030204" pitchFamily="18" charset="0"/>
                      </a:rPr>
                      <m:t>𝑖</m:t>
                    </m:r>
                  </m:oMath>
                </a14:m>
                <a:r>
                  <a:rPr lang="en-US" dirty="0"/>
                  <a:t>; 0, otherwise)</a:t>
                </a:r>
              </a:p>
              <a:p>
                <a:r>
                  <a:rPr lang="en-US" b="1" dirty="0">
                    <a:solidFill>
                      <a:srgbClr val="C00000"/>
                    </a:solidFill>
                  </a:rPr>
                  <a:t>STEP 2: </a:t>
                </a:r>
                <a:r>
                  <a:rPr lang="en-US" dirty="0"/>
                  <a:t>Objective and Objective Functions</a:t>
                </a:r>
              </a:p>
              <a:p>
                <a:pPr marL="0" indent="0">
                  <a:buNone/>
                </a:pPr>
                <a:endParaRPr lang="en-US" dirty="0"/>
              </a:p>
              <a:p>
                <a:pPr marL="0" indent="0" algn="just">
                  <a:buNone/>
                </a:pPr>
                <a:endParaRPr lang="en-US" sz="2400" b="0" i="1"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endParaRPr lang="en-US" sz="2400" b="0" i="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p>
              <a:p>
                <a:pPr marL="457200" lvl="1" indent="0">
                  <a:buNone/>
                </a:pPr>
                <a:endParaRPr lang="en-US" dirty="0"/>
              </a:p>
              <a:p>
                <a:pPr marL="0" indent="0">
                  <a:buNone/>
                </a:pPr>
                <a:endParaRPr lang="en-US" dirty="0"/>
              </a:p>
              <a:p>
                <a:pPr lvl="1"/>
                <a:endParaRPr lang="en-US" dirty="0"/>
              </a:p>
              <a:p>
                <a:pPr lvl="1"/>
                <a:endParaRPr lang="en-US" b="1" u="sng"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2"/>
                <a:ext cx="11478410" cy="5387131"/>
              </a:xfrm>
              <a:blipFill>
                <a:blip r:embed="rId3"/>
                <a:stretch>
                  <a:fillRect l="-956" t="-1810"/>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FCC84150-5D62-07D7-54F6-F1827345C420}"/>
              </a:ext>
            </a:extLst>
          </p:cNvPr>
          <p:cNvPicPr>
            <a:picLocks noChangeAspect="1"/>
          </p:cNvPicPr>
          <p:nvPr/>
        </p:nvPicPr>
        <p:blipFill>
          <a:blip r:embed="rId4"/>
          <a:stretch>
            <a:fillRect/>
          </a:stretch>
        </p:blipFill>
        <p:spPr>
          <a:xfrm>
            <a:off x="3586409" y="4145374"/>
            <a:ext cx="5195452" cy="2554189"/>
          </a:xfrm>
          <a:prstGeom prst="rect">
            <a:avLst/>
          </a:prstGeom>
        </p:spPr>
      </p:pic>
    </p:spTree>
    <p:extLst>
      <p:ext uri="{BB962C8B-B14F-4D97-AF65-F5344CB8AC3E}">
        <p14:creationId xmlns:p14="http://schemas.microsoft.com/office/powerpoint/2010/main" val="404355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Mixed-Integer Programming</a:t>
            </a:r>
          </a:p>
        </p:txBody>
      </p:sp>
      <p:sp>
        <p:nvSpPr>
          <p:cNvPr id="3" name="Content Placeholder 2"/>
          <p:cNvSpPr>
            <a:spLocks noGrp="1"/>
          </p:cNvSpPr>
          <p:nvPr>
            <p:ph idx="1"/>
          </p:nvPr>
        </p:nvSpPr>
        <p:spPr>
          <a:xfrm>
            <a:off x="355002" y="1312432"/>
            <a:ext cx="11478410" cy="5387131"/>
          </a:xfrm>
        </p:spPr>
        <p:txBody>
          <a:bodyPr numCol="1">
            <a:normAutofit/>
          </a:bodyPr>
          <a:lstStyle/>
          <a:p>
            <a:r>
              <a:rPr lang="en-US" b="1" u="sng" dirty="0"/>
              <a:t>A Fixed-Cost Problem: STECO</a:t>
            </a:r>
          </a:p>
          <a:p>
            <a:r>
              <a:rPr lang="en-US" b="1" dirty="0">
                <a:solidFill>
                  <a:srgbClr val="C00000"/>
                </a:solidFill>
              </a:rPr>
              <a:t>STEP 3: </a:t>
            </a:r>
            <a:r>
              <a:rPr lang="en-US" dirty="0"/>
              <a:t>Constraints</a:t>
            </a:r>
          </a:p>
          <a:p>
            <a:endParaRPr lang="en-US" sz="2400" i="1" dirty="0">
              <a:latin typeface="Cambria Math" panose="02040503050406030204" pitchFamily="18" charset="0"/>
            </a:endParaRPr>
          </a:p>
          <a:p>
            <a:pPr marL="0" indent="0">
              <a:buNone/>
            </a:pPr>
            <a:endParaRPr lang="en-US" dirty="0"/>
          </a:p>
          <a:p>
            <a:pPr marL="457200" lvl="1" indent="0">
              <a:buNone/>
            </a:pPr>
            <a:endParaRPr lang="en-US" dirty="0"/>
          </a:p>
          <a:p>
            <a:pPr marL="0" indent="0">
              <a:buNone/>
            </a:pPr>
            <a:endParaRPr lang="en-US" dirty="0"/>
          </a:p>
          <a:p>
            <a:pPr lvl="1"/>
            <a:endParaRPr lang="en-US" dirty="0"/>
          </a:p>
          <a:p>
            <a:pPr lvl="1"/>
            <a:endParaRPr lang="en-US" b="1" u="sng" dirty="0"/>
          </a:p>
        </p:txBody>
      </p:sp>
      <p:pic>
        <p:nvPicPr>
          <p:cNvPr id="5" name="Picture 4">
            <a:extLst>
              <a:ext uri="{FF2B5EF4-FFF2-40B4-BE49-F238E27FC236}">
                <a16:creationId xmlns:a16="http://schemas.microsoft.com/office/drawing/2014/main" id="{9376E584-65A8-05C3-809B-3B5221BBCA74}"/>
              </a:ext>
            </a:extLst>
          </p:cNvPr>
          <p:cNvPicPr>
            <a:picLocks noChangeAspect="1"/>
          </p:cNvPicPr>
          <p:nvPr/>
        </p:nvPicPr>
        <p:blipFill>
          <a:blip r:embed="rId3"/>
          <a:stretch>
            <a:fillRect/>
          </a:stretch>
        </p:blipFill>
        <p:spPr>
          <a:xfrm>
            <a:off x="2811596" y="2237554"/>
            <a:ext cx="6842996" cy="4462009"/>
          </a:xfrm>
          <a:prstGeom prst="rect">
            <a:avLst/>
          </a:prstGeom>
        </p:spPr>
      </p:pic>
    </p:spTree>
    <p:extLst>
      <p:ext uri="{BB962C8B-B14F-4D97-AF65-F5344CB8AC3E}">
        <p14:creationId xmlns:p14="http://schemas.microsoft.com/office/powerpoint/2010/main" val="353927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55002" y="2378849"/>
            <a:ext cx="8928839" cy="2814695"/>
          </a:xfrm>
          <a:prstGeom prst="rect">
            <a:avLst/>
          </a:prstGeom>
        </p:spPr>
      </p:pic>
      <p:pic>
        <p:nvPicPr>
          <p:cNvPr id="5" name="Picture 4"/>
          <p:cNvPicPr>
            <a:picLocks noChangeAspect="1"/>
          </p:cNvPicPr>
          <p:nvPr/>
        </p:nvPicPr>
        <p:blipFill>
          <a:blip r:embed="rId3"/>
          <a:stretch>
            <a:fillRect/>
          </a:stretch>
        </p:blipFill>
        <p:spPr>
          <a:xfrm>
            <a:off x="8389526" y="2669947"/>
            <a:ext cx="2709829" cy="3590014"/>
          </a:xfrm>
          <a:prstGeom prst="rect">
            <a:avLst/>
          </a:prstGeom>
        </p:spPr>
      </p:pic>
      <p:pic>
        <p:nvPicPr>
          <p:cNvPr id="6" name="Picture 5"/>
          <p:cNvPicPr>
            <a:picLocks noChangeAspect="1"/>
          </p:cNvPicPr>
          <p:nvPr/>
        </p:nvPicPr>
        <p:blipFill>
          <a:blip r:embed="rId4"/>
          <a:stretch>
            <a:fillRect/>
          </a:stretch>
        </p:blipFill>
        <p:spPr>
          <a:xfrm>
            <a:off x="1912839" y="4963261"/>
            <a:ext cx="6129287" cy="1727153"/>
          </a:xfrm>
          <a:prstGeom prst="rect">
            <a:avLst/>
          </a:prstGeom>
        </p:spPr>
      </p:pic>
      <p:sp>
        <p:nvSpPr>
          <p:cNvPr id="7" name="Rounded Rectangle 6"/>
          <p:cNvSpPr/>
          <p:nvPr/>
        </p:nvSpPr>
        <p:spPr>
          <a:xfrm>
            <a:off x="6004048" y="5288130"/>
            <a:ext cx="691764" cy="61225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n-ea"/>
              <a:cs typeface="Arial"/>
            </a:endParaRPr>
          </a:p>
        </p:txBody>
      </p:sp>
      <p:sp>
        <p:nvSpPr>
          <p:cNvPr id="8" name="Rounded Rectangle 7"/>
          <p:cNvSpPr/>
          <p:nvPr/>
        </p:nvSpPr>
        <p:spPr>
          <a:xfrm>
            <a:off x="3570950" y="6078163"/>
            <a:ext cx="954157" cy="61225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n-ea"/>
              <a:cs typeface="Arial"/>
            </a:endParaRPr>
          </a:p>
        </p:txBody>
      </p:sp>
      <p:sp>
        <p:nvSpPr>
          <p:cNvPr id="9" name="Rounded Rectangle 8"/>
          <p:cNvSpPr/>
          <p:nvPr/>
        </p:nvSpPr>
        <p:spPr>
          <a:xfrm>
            <a:off x="6872220" y="5288130"/>
            <a:ext cx="647074" cy="61225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n-ea"/>
              <a:cs typeface="Arial"/>
            </a:endParaRPr>
          </a:p>
        </p:txBody>
      </p:sp>
      <p:sp>
        <p:nvSpPr>
          <p:cNvPr id="13" name="Title 1">
            <a:extLst>
              <a:ext uri="{FF2B5EF4-FFF2-40B4-BE49-F238E27FC236}">
                <a16:creationId xmlns:a16="http://schemas.microsoft.com/office/drawing/2014/main" id="{65A32273-5B07-23BE-6803-3249618152DC}"/>
              </a:ext>
            </a:extLst>
          </p:cNvPr>
          <p:cNvSpPr txBox="1">
            <a:spLocks/>
          </p:cNvSpPr>
          <p:nvPr/>
        </p:nvSpPr>
        <p:spPr>
          <a:xfrm>
            <a:off x="355002" y="365125"/>
            <a:ext cx="11478410" cy="8397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ysClr val="windowText" lastClr="000000"/>
                </a:solidFill>
                <a:effectLst/>
                <a:uLnTx/>
                <a:uFillTx/>
                <a:latin typeface="Calibri Light" panose="020F0302020204030204"/>
                <a:ea typeface="+mj-ea"/>
                <a:cs typeface="+mj-cs"/>
              </a:rPr>
              <a:t>Mixed-Integer Programming</a:t>
            </a:r>
            <a:endParaRPr kumimoji="0" lang="en-US" sz="4400" b="0" i="0" u="none" strike="noStrike" kern="1200" cap="none" spc="0" normalizeH="0" baseline="0" noProof="0" dirty="0">
              <a:ln>
                <a:noFill/>
              </a:ln>
              <a:solidFill>
                <a:sysClr val="windowText" lastClr="000000"/>
              </a:solidFill>
              <a:effectLst/>
              <a:uLnTx/>
              <a:uFillTx/>
              <a:latin typeface="Calibri Light" panose="020F0302020204030204"/>
              <a:ea typeface="+mj-ea"/>
              <a:cs typeface="+mj-cs"/>
            </a:endParaRPr>
          </a:p>
        </p:txBody>
      </p:sp>
      <p:sp>
        <p:nvSpPr>
          <p:cNvPr id="15" name="Content Placeholder 2">
            <a:extLst>
              <a:ext uri="{FF2B5EF4-FFF2-40B4-BE49-F238E27FC236}">
                <a16:creationId xmlns:a16="http://schemas.microsoft.com/office/drawing/2014/main" id="{F8207957-DC6F-4199-9BEF-59A9C7A41D08}"/>
              </a:ext>
            </a:extLst>
          </p:cNvPr>
          <p:cNvSpPr txBox="1">
            <a:spLocks/>
          </p:cNvSpPr>
          <p:nvPr/>
        </p:nvSpPr>
        <p:spPr>
          <a:xfrm>
            <a:off x="355002" y="1312432"/>
            <a:ext cx="11478410" cy="5387131"/>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sng" strike="noStrike" kern="1200" cap="none" spc="0" normalizeH="0" baseline="0" noProof="0" dirty="0">
                <a:ln>
                  <a:noFill/>
                </a:ln>
                <a:solidFill>
                  <a:sysClr val="windowText" lastClr="000000"/>
                </a:solidFill>
                <a:effectLst/>
                <a:uLnTx/>
                <a:uFillTx/>
                <a:latin typeface="Calibri" panose="020F0502020204030204"/>
                <a:ea typeface="+mn-ea"/>
                <a:cs typeface="+mn-cs"/>
              </a:rPr>
              <a:t>A Fixed-Cost Problem: STECO</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1" u="sng" strike="noStrike" kern="1200" cap="none" spc="0" normalizeH="0" baseline="0" noProof="0" dirty="0">
                <a:ln>
                  <a:noFill/>
                </a:ln>
                <a:solidFill>
                  <a:sysClr val="windowText" lastClr="000000"/>
                </a:solidFill>
                <a:effectLst/>
                <a:uLnTx/>
                <a:uFillTx/>
                <a:latin typeface="Calibri" panose="020F0502020204030204"/>
                <a:ea typeface="Calibri" panose="020F0502020204030204" pitchFamily="34" charset="0"/>
                <a:cs typeface="Calibri" panose="020F0502020204030204" pitchFamily="34" charset="0"/>
              </a:rPr>
              <a:t>What is wrong?</a:t>
            </a:r>
            <a:endParaRPr kumimoji="0" lang="en-US" sz="2400" b="0" i="1" u="none" strike="noStrike" kern="1200" cap="none" spc="0" normalizeH="0" baseline="0" noProof="0" dirty="0">
              <a:ln>
                <a:noFill/>
              </a:ln>
              <a:solidFill>
                <a:sysClr val="windowText" lastClr="000000"/>
              </a:solidFill>
              <a:effectLst/>
              <a:uLnTx/>
              <a:uFillTx/>
              <a:latin typeface="Calibri" panose="020F0502020204030204"/>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2400" b="1" i="0" u="sng"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35512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Mixed-Integer Programming</a:t>
            </a:r>
          </a:p>
        </p:txBody>
      </p:sp>
      <p:sp>
        <p:nvSpPr>
          <p:cNvPr id="3" name="Content Placeholder 2"/>
          <p:cNvSpPr>
            <a:spLocks noGrp="1"/>
          </p:cNvSpPr>
          <p:nvPr>
            <p:ph idx="1"/>
          </p:nvPr>
        </p:nvSpPr>
        <p:spPr>
          <a:xfrm>
            <a:off x="355002" y="1312432"/>
            <a:ext cx="11478410" cy="5387131"/>
          </a:xfrm>
        </p:spPr>
        <p:txBody>
          <a:bodyPr numCol="1">
            <a:normAutofit/>
          </a:bodyPr>
          <a:lstStyle/>
          <a:p>
            <a:r>
              <a:rPr lang="en-US" b="1" u="sng" dirty="0"/>
              <a:t>A Fixed-Cost Problem: STECO</a:t>
            </a:r>
          </a:p>
          <a:p>
            <a:r>
              <a:rPr lang="en-US" b="1" dirty="0">
                <a:solidFill>
                  <a:srgbClr val="C00000"/>
                </a:solidFill>
              </a:rPr>
              <a:t>STEP 3: </a:t>
            </a:r>
            <a:r>
              <a:rPr lang="en-US" dirty="0"/>
              <a:t>Constraints (</a:t>
            </a:r>
            <a:r>
              <a:rPr lang="en-US" i="1" dirty="0"/>
              <a:t>Correct Formulation</a:t>
            </a:r>
            <a:r>
              <a:rPr lang="en-US" dirty="0"/>
              <a:t>)</a:t>
            </a:r>
          </a:p>
          <a:p>
            <a:endParaRPr lang="en-US" dirty="0"/>
          </a:p>
          <a:p>
            <a:endParaRPr lang="en-US" sz="2400" i="1" dirty="0">
              <a:latin typeface="Cambria Math" panose="02040503050406030204" pitchFamily="18" charset="0"/>
            </a:endParaRPr>
          </a:p>
          <a:p>
            <a:pPr marL="0" indent="0">
              <a:buNone/>
            </a:pPr>
            <a:endParaRPr lang="en-US" dirty="0"/>
          </a:p>
          <a:p>
            <a:pPr marL="457200" lvl="1" indent="0">
              <a:buNone/>
            </a:pPr>
            <a:endParaRPr lang="en-US" dirty="0"/>
          </a:p>
          <a:p>
            <a:pPr marL="0" indent="0">
              <a:buNone/>
            </a:pPr>
            <a:endParaRPr lang="en-US" dirty="0"/>
          </a:p>
          <a:p>
            <a:pPr lvl="1"/>
            <a:endParaRPr lang="en-US" dirty="0"/>
          </a:p>
          <a:p>
            <a:pPr lvl="1"/>
            <a:endParaRPr lang="en-US" b="1" u="sng" dirty="0"/>
          </a:p>
        </p:txBody>
      </p:sp>
      <p:sp>
        <p:nvSpPr>
          <p:cNvPr id="6" name="TextBox 5">
            <a:extLst>
              <a:ext uri="{FF2B5EF4-FFF2-40B4-BE49-F238E27FC236}">
                <a16:creationId xmlns:a16="http://schemas.microsoft.com/office/drawing/2014/main" id="{B5ED6836-4329-D70A-8FE9-8E3934AECCF6}"/>
              </a:ext>
            </a:extLst>
          </p:cNvPr>
          <p:cNvSpPr txBox="1"/>
          <p:nvPr/>
        </p:nvSpPr>
        <p:spPr>
          <a:xfrm>
            <a:off x="3167370" y="2256170"/>
            <a:ext cx="5477012" cy="400110"/>
          </a:xfrm>
          <a:prstGeom prst="rect">
            <a:avLst/>
          </a:prstGeom>
          <a:noFill/>
        </p:spPr>
        <p:txBody>
          <a:bodyPr wrap="none" rtlCol="0">
            <a:spAutoFit/>
          </a:bodyPr>
          <a:lstStyle/>
          <a:p>
            <a:r>
              <a:rPr lang="en-US" sz="2000" b="1" dirty="0" err="1">
                <a:solidFill>
                  <a:srgbClr val="C00000"/>
                </a:solidFill>
                <a:latin typeface="Calibri" panose="020F0502020204030204" pitchFamily="34" charset="0"/>
                <a:cs typeface="Calibri" panose="020F0502020204030204" pitchFamily="34" charset="0"/>
              </a:rPr>
              <a:t>X</a:t>
            </a:r>
            <a:r>
              <a:rPr lang="en-US" sz="2000" b="1" baseline="-25000" dirty="0" err="1">
                <a:solidFill>
                  <a:srgbClr val="C00000"/>
                </a:solidFill>
                <a:latin typeface="Calibri" panose="020F0502020204030204" pitchFamily="34" charset="0"/>
                <a:cs typeface="Calibri" panose="020F0502020204030204" pitchFamily="34" charset="0"/>
              </a:rPr>
              <a:t>ij</a:t>
            </a:r>
            <a:r>
              <a:rPr lang="en-US" sz="2000" b="1" dirty="0">
                <a:solidFill>
                  <a:srgbClr val="C00000"/>
                </a:solidFill>
                <a:latin typeface="Calibri" panose="020F0502020204030204" pitchFamily="34" charset="0"/>
                <a:cs typeface="Calibri" panose="020F0502020204030204" pitchFamily="34" charset="0"/>
              </a:rPr>
              <a:t> and Y</a:t>
            </a:r>
            <a:r>
              <a:rPr lang="en-US" sz="2000" b="1" baseline="-25000" dirty="0">
                <a:solidFill>
                  <a:srgbClr val="C00000"/>
                </a:solidFill>
                <a:latin typeface="Calibri" panose="020F0502020204030204" pitchFamily="34" charset="0"/>
                <a:cs typeface="Calibri" panose="020F0502020204030204" pitchFamily="34" charset="0"/>
              </a:rPr>
              <a:t>i</a:t>
            </a:r>
            <a:r>
              <a:rPr lang="en-US" sz="2000" b="1" dirty="0">
                <a:solidFill>
                  <a:srgbClr val="C00000"/>
                </a:solidFill>
                <a:latin typeface="Calibri" panose="020F0502020204030204" pitchFamily="34" charset="0"/>
                <a:cs typeface="Calibri" panose="020F0502020204030204" pitchFamily="34" charset="0"/>
              </a:rPr>
              <a:t> should satisfy the following relationship:</a:t>
            </a:r>
          </a:p>
        </p:txBody>
      </p:sp>
      <p:pic>
        <p:nvPicPr>
          <p:cNvPr id="8" name="Picture 7">
            <a:extLst>
              <a:ext uri="{FF2B5EF4-FFF2-40B4-BE49-F238E27FC236}">
                <a16:creationId xmlns:a16="http://schemas.microsoft.com/office/drawing/2014/main" id="{74664865-4E3C-29F0-8E77-B3D70032F23C}"/>
              </a:ext>
            </a:extLst>
          </p:cNvPr>
          <p:cNvPicPr>
            <a:picLocks noChangeAspect="1"/>
          </p:cNvPicPr>
          <p:nvPr/>
        </p:nvPicPr>
        <p:blipFill>
          <a:blip r:embed="rId3"/>
          <a:stretch>
            <a:fillRect/>
          </a:stretch>
        </p:blipFill>
        <p:spPr>
          <a:xfrm>
            <a:off x="3475748" y="2620638"/>
            <a:ext cx="5236918" cy="871804"/>
          </a:xfrm>
          <a:prstGeom prst="rect">
            <a:avLst/>
          </a:prstGeom>
        </p:spPr>
      </p:pic>
      <p:pic>
        <p:nvPicPr>
          <p:cNvPr id="10" name="Picture 9">
            <a:extLst>
              <a:ext uri="{FF2B5EF4-FFF2-40B4-BE49-F238E27FC236}">
                <a16:creationId xmlns:a16="http://schemas.microsoft.com/office/drawing/2014/main" id="{1598568C-13D3-F2A7-4E9B-FC333290BA73}"/>
              </a:ext>
            </a:extLst>
          </p:cNvPr>
          <p:cNvPicPr>
            <a:picLocks noChangeAspect="1"/>
          </p:cNvPicPr>
          <p:nvPr/>
        </p:nvPicPr>
        <p:blipFill>
          <a:blip r:embed="rId4"/>
          <a:stretch>
            <a:fillRect/>
          </a:stretch>
        </p:blipFill>
        <p:spPr>
          <a:xfrm>
            <a:off x="3638789" y="3651383"/>
            <a:ext cx="5208006" cy="3155756"/>
          </a:xfrm>
          <a:prstGeom prst="rect">
            <a:avLst/>
          </a:prstGeom>
        </p:spPr>
      </p:pic>
    </p:spTree>
    <p:extLst>
      <p:ext uri="{BB962C8B-B14F-4D97-AF65-F5344CB8AC3E}">
        <p14:creationId xmlns:p14="http://schemas.microsoft.com/office/powerpoint/2010/main" val="2995084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Mixed-Integer Programming</a:t>
            </a:r>
          </a:p>
        </p:txBody>
      </p:sp>
      <p:sp>
        <p:nvSpPr>
          <p:cNvPr id="3" name="Content Placeholder 2"/>
          <p:cNvSpPr>
            <a:spLocks noGrp="1"/>
          </p:cNvSpPr>
          <p:nvPr>
            <p:ph idx="1"/>
          </p:nvPr>
        </p:nvSpPr>
        <p:spPr>
          <a:xfrm>
            <a:off x="355002" y="1312432"/>
            <a:ext cx="11478410" cy="5387131"/>
          </a:xfrm>
        </p:spPr>
        <p:txBody>
          <a:bodyPr numCol="1">
            <a:normAutofit/>
          </a:bodyPr>
          <a:lstStyle/>
          <a:p>
            <a:r>
              <a:rPr lang="en-US" b="1" u="sng" dirty="0"/>
              <a:t>A Fixed-Cost Problem: STECO</a:t>
            </a:r>
          </a:p>
          <a:p>
            <a:pPr marL="0" indent="0">
              <a:buNone/>
            </a:pPr>
            <a:endParaRPr lang="en-US" dirty="0"/>
          </a:p>
          <a:p>
            <a:pPr marL="457200" lvl="1" indent="0">
              <a:buNone/>
            </a:pPr>
            <a:endParaRPr lang="en-US" dirty="0"/>
          </a:p>
          <a:p>
            <a:pPr marL="0" indent="0">
              <a:buNone/>
            </a:pPr>
            <a:endParaRPr lang="en-US" dirty="0"/>
          </a:p>
          <a:p>
            <a:pPr lvl="1"/>
            <a:endParaRPr lang="en-US" dirty="0"/>
          </a:p>
          <a:p>
            <a:pPr lvl="1"/>
            <a:endParaRPr lang="en-US" b="1" u="sng" dirty="0"/>
          </a:p>
        </p:txBody>
      </p:sp>
      <p:pic>
        <p:nvPicPr>
          <p:cNvPr id="4" name="Picture 3">
            <a:extLst>
              <a:ext uri="{FF2B5EF4-FFF2-40B4-BE49-F238E27FC236}">
                <a16:creationId xmlns:a16="http://schemas.microsoft.com/office/drawing/2014/main" id="{6E5158FC-52D0-2CE5-FA31-6F04750BF1DF}"/>
              </a:ext>
            </a:extLst>
          </p:cNvPr>
          <p:cNvPicPr>
            <a:picLocks noChangeAspect="1"/>
          </p:cNvPicPr>
          <p:nvPr/>
        </p:nvPicPr>
        <p:blipFill>
          <a:blip r:embed="rId3"/>
          <a:stretch>
            <a:fillRect/>
          </a:stretch>
        </p:blipFill>
        <p:spPr>
          <a:xfrm>
            <a:off x="670458" y="2134772"/>
            <a:ext cx="10211807" cy="3614178"/>
          </a:xfrm>
          <a:prstGeom prst="rect">
            <a:avLst/>
          </a:prstGeom>
        </p:spPr>
      </p:pic>
      <p:sp>
        <p:nvSpPr>
          <p:cNvPr id="6" name="Rectangle: Rounded Corners 5">
            <a:extLst>
              <a:ext uri="{FF2B5EF4-FFF2-40B4-BE49-F238E27FC236}">
                <a16:creationId xmlns:a16="http://schemas.microsoft.com/office/drawing/2014/main" id="{413DC889-D014-11B5-E8E9-CCEFF2EBB955}"/>
              </a:ext>
            </a:extLst>
          </p:cNvPr>
          <p:cNvSpPr/>
          <p:nvPr/>
        </p:nvSpPr>
        <p:spPr>
          <a:xfrm>
            <a:off x="10157988" y="4259493"/>
            <a:ext cx="869132" cy="855714"/>
          </a:xfrm>
          <a:prstGeom prst="roundRect">
            <a:avLst/>
          </a:prstGeom>
          <a:noFill/>
          <a:ln w="3810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920661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Mixed-Integer Programming</a:t>
            </a:r>
          </a:p>
        </p:txBody>
      </p:sp>
      <p:sp>
        <p:nvSpPr>
          <p:cNvPr id="3" name="Content Placeholder 2"/>
          <p:cNvSpPr>
            <a:spLocks noGrp="1"/>
          </p:cNvSpPr>
          <p:nvPr>
            <p:ph idx="1"/>
          </p:nvPr>
        </p:nvSpPr>
        <p:spPr>
          <a:xfrm>
            <a:off x="355002" y="1312432"/>
            <a:ext cx="11478410" cy="5387131"/>
          </a:xfrm>
        </p:spPr>
        <p:txBody>
          <a:bodyPr numCol="1">
            <a:normAutofit/>
          </a:bodyPr>
          <a:lstStyle/>
          <a:p>
            <a:r>
              <a:rPr lang="en-US" b="1" u="sng" dirty="0"/>
              <a:t>A Fixed-Cost Problem: STECO</a:t>
            </a:r>
          </a:p>
          <a:p>
            <a:pPr marL="0" indent="0">
              <a:buNone/>
            </a:pPr>
            <a:endParaRPr lang="en-US" dirty="0"/>
          </a:p>
          <a:p>
            <a:pPr marL="457200" lvl="1" indent="0">
              <a:buNone/>
            </a:pPr>
            <a:endParaRPr lang="en-US" dirty="0"/>
          </a:p>
          <a:p>
            <a:pPr marL="0" indent="0">
              <a:buNone/>
            </a:pPr>
            <a:endParaRPr lang="en-US" dirty="0"/>
          </a:p>
          <a:p>
            <a:pPr lvl="1"/>
            <a:endParaRPr lang="en-US" dirty="0"/>
          </a:p>
          <a:p>
            <a:pPr lvl="1"/>
            <a:endParaRPr lang="en-US" b="1" u="sng" dirty="0"/>
          </a:p>
        </p:txBody>
      </p:sp>
      <p:pic>
        <p:nvPicPr>
          <p:cNvPr id="5" name="Picture 4">
            <a:extLst>
              <a:ext uri="{FF2B5EF4-FFF2-40B4-BE49-F238E27FC236}">
                <a16:creationId xmlns:a16="http://schemas.microsoft.com/office/drawing/2014/main" id="{0A075587-59D8-5FE9-C481-A234840BC84B}"/>
              </a:ext>
            </a:extLst>
          </p:cNvPr>
          <p:cNvPicPr>
            <a:picLocks noChangeAspect="1"/>
          </p:cNvPicPr>
          <p:nvPr/>
        </p:nvPicPr>
        <p:blipFill>
          <a:blip r:embed="rId3"/>
          <a:stretch>
            <a:fillRect/>
          </a:stretch>
        </p:blipFill>
        <p:spPr>
          <a:xfrm>
            <a:off x="3174837" y="1793584"/>
            <a:ext cx="6811135" cy="4905979"/>
          </a:xfrm>
          <a:prstGeom prst="rect">
            <a:avLst/>
          </a:prstGeom>
        </p:spPr>
      </p:pic>
    </p:spTree>
    <p:extLst>
      <p:ext uri="{BB962C8B-B14F-4D97-AF65-F5344CB8AC3E}">
        <p14:creationId xmlns:p14="http://schemas.microsoft.com/office/powerpoint/2010/main" val="2970253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Mixed-Integer Programming</a:t>
            </a:r>
          </a:p>
        </p:txBody>
      </p:sp>
      <p:sp>
        <p:nvSpPr>
          <p:cNvPr id="3" name="Content Placeholder 2"/>
          <p:cNvSpPr>
            <a:spLocks noGrp="1"/>
          </p:cNvSpPr>
          <p:nvPr>
            <p:ph idx="1"/>
          </p:nvPr>
        </p:nvSpPr>
        <p:spPr>
          <a:xfrm>
            <a:off x="355002" y="1312432"/>
            <a:ext cx="11478410" cy="5387131"/>
          </a:xfrm>
        </p:spPr>
        <p:txBody>
          <a:bodyPr numCol="1">
            <a:normAutofit/>
          </a:bodyPr>
          <a:lstStyle/>
          <a:p>
            <a:r>
              <a:rPr lang="en-US" b="1" u="sng" dirty="0"/>
              <a:t>A Fixed-Cost Problem: STECO</a:t>
            </a:r>
          </a:p>
          <a:p>
            <a:pPr marL="0" indent="0">
              <a:buNone/>
            </a:pPr>
            <a:endParaRPr lang="en-US" dirty="0"/>
          </a:p>
          <a:p>
            <a:pPr marL="457200" lvl="1" indent="0">
              <a:buNone/>
            </a:pPr>
            <a:endParaRPr lang="en-US" dirty="0"/>
          </a:p>
          <a:p>
            <a:pPr marL="0" indent="0">
              <a:buNone/>
            </a:pPr>
            <a:endParaRPr lang="en-US" dirty="0"/>
          </a:p>
          <a:p>
            <a:pPr lvl="1"/>
            <a:endParaRPr lang="en-US" dirty="0"/>
          </a:p>
          <a:p>
            <a:pPr lvl="1"/>
            <a:endParaRPr lang="en-US" b="1" u="sng" dirty="0"/>
          </a:p>
        </p:txBody>
      </p:sp>
      <p:pic>
        <p:nvPicPr>
          <p:cNvPr id="4" name="Picture 3">
            <a:extLst>
              <a:ext uri="{FF2B5EF4-FFF2-40B4-BE49-F238E27FC236}">
                <a16:creationId xmlns:a16="http://schemas.microsoft.com/office/drawing/2014/main" id="{3A356EFC-3593-E204-EEA6-098440847B33}"/>
              </a:ext>
            </a:extLst>
          </p:cNvPr>
          <p:cNvPicPr>
            <a:picLocks noChangeAspect="1"/>
          </p:cNvPicPr>
          <p:nvPr/>
        </p:nvPicPr>
        <p:blipFill>
          <a:blip r:embed="rId3"/>
          <a:stretch>
            <a:fillRect/>
          </a:stretch>
        </p:blipFill>
        <p:spPr>
          <a:xfrm>
            <a:off x="2670920" y="1800808"/>
            <a:ext cx="8356201" cy="5006331"/>
          </a:xfrm>
          <a:prstGeom prst="rect">
            <a:avLst/>
          </a:prstGeom>
        </p:spPr>
      </p:pic>
      <p:pic>
        <p:nvPicPr>
          <p:cNvPr id="6" name="Picture 5">
            <a:extLst>
              <a:ext uri="{FF2B5EF4-FFF2-40B4-BE49-F238E27FC236}">
                <a16:creationId xmlns:a16="http://schemas.microsoft.com/office/drawing/2014/main" id="{FF637FC2-AB70-9BC6-255B-EE69CCD28537}"/>
              </a:ext>
            </a:extLst>
          </p:cNvPr>
          <p:cNvPicPr>
            <a:picLocks noChangeAspect="1"/>
          </p:cNvPicPr>
          <p:nvPr/>
        </p:nvPicPr>
        <p:blipFill>
          <a:blip r:embed="rId4"/>
          <a:stretch>
            <a:fillRect/>
          </a:stretch>
        </p:blipFill>
        <p:spPr>
          <a:xfrm>
            <a:off x="8402999" y="4853478"/>
            <a:ext cx="3027267" cy="184608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19615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92500" lnSpcReduction="10000"/>
          </a:bodyPr>
          <a:lstStyle/>
          <a:p>
            <a:r>
              <a:rPr lang="en-US" dirty="0">
                <a:solidFill>
                  <a:schemeClr val="bg2"/>
                </a:solidFill>
              </a:rPr>
              <a:t>Integer/Binary Programming (Chapter 7.1)</a:t>
            </a:r>
          </a:p>
          <a:p>
            <a:r>
              <a:rPr lang="en-US" dirty="0">
                <a:solidFill>
                  <a:schemeClr val="bg2"/>
                </a:solidFill>
              </a:rPr>
              <a:t>Conditional Constraints Modeling (Chapter 7.2)</a:t>
            </a:r>
          </a:p>
          <a:p>
            <a:r>
              <a:rPr lang="en-US" dirty="0">
                <a:solidFill>
                  <a:schemeClr val="bg2"/>
                </a:solidFill>
              </a:rPr>
              <a:t>Mixed-Integer Programming (Chapter 7.5)</a:t>
            </a:r>
          </a:p>
          <a:p>
            <a:r>
              <a:rPr lang="en-US" dirty="0"/>
              <a:t>Solution Concepts</a:t>
            </a:r>
          </a:p>
          <a:p>
            <a:r>
              <a:rPr lang="en-US" dirty="0">
                <a:solidFill>
                  <a:schemeClr val="bg1">
                    <a:lumMod val="95000"/>
                  </a:schemeClr>
                </a:solidFill>
              </a:rPr>
              <a:t>Extra Examples</a:t>
            </a:r>
          </a:p>
          <a:p>
            <a:pPr lvl="1"/>
            <a:r>
              <a:rPr lang="en-US" dirty="0" err="1">
                <a:solidFill>
                  <a:schemeClr val="bg1">
                    <a:lumMod val="95000"/>
                  </a:schemeClr>
                </a:solidFill>
              </a:rPr>
              <a:t>Wyndor</a:t>
            </a:r>
            <a:r>
              <a:rPr lang="en-US" dirty="0">
                <a:solidFill>
                  <a:schemeClr val="bg1">
                    <a:lumMod val="95000"/>
                  </a:schemeClr>
                </a:solidFill>
              </a:rPr>
              <a:t> Problem with Setup Costs</a:t>
            </a:r>
          </a:p>
          <a:p>
            <a:pPr lvl="1"/>
            <a:r>
              <a:rPr lang="en-US" dirty="0">
                <a:solidFill>
                  <a:schemeClr val="bg1">
                    <a:lumMod val="95000"/>
                  </a:schemeClr>
                </a:solidFill>
              </a:rPr>
              <a:t>Caliente City Problem </a:t>
            </a:r>
          </a:p>
          <a:p>
            <a:pPr lvl="1"/>
            <a:r>
              <a:rPr lang="en-US" dirty="0">
                <a:solidFill>
                  <a:schemeClr val="bg1">
                    <a:lumMod val="95000"/>
                  </a:schemeClr>
                </a:solidFill>
              </a:rPr>
              <a:t>Southwestern Airways Problem </a:t>
            </a:r>
          </a:p>
          <a:p>
            <a:pPr lvl="1"/>
            <a:r>
              <a:rPr lang="en-US" dirty="0" err="1">
                <a:solidFill>
                  <a:schemeClr val="bg1">
                    <a:lumMod val="95000"/>
                  </a:schemeClr>
                </a:solidFill>
              </a:rPr>
              <a:t>Lipdon</a:t>
            </a:r>
            <a:r>
              <a:rPr lang="en-US" dirty="0">
                <a:solidFill>
                  <a:schemeClr val="bg1">
                    <a:lumMod val="95000"/>
                  </a:schemeClr>
                </a:solidFill>
              </a:rPr>
              <a:t> Tea Production </a:t>
            </a:r>
          </a:p>
          <a:p>
            <a:r>
              <a:rPr lang="en-US" dirty="0">
                <a:solidFill>
                  <a:schemeClr val="bg1">
                    <a:lumMod val="95000"/>
                  </a:schemeClr>
                </a:solidFill>
              </a:rPr>
              <a:t>Self Study</a:t>
            </a:r>
          </a:p>
          <a:p>
            <a:pPr lvl="1"/>
            <a:r>
              <a:rPr lang="en-US" dirty="0">
                <a:solidFill>
                  <a:schemeClr val="bg1">
                    <a:lumMod val="95000"/>
                  </a:schemeClr>
                </a:solidFill>
              </a:rPr>
              <a:t>Distribution Network Design (not in the textbook)</a:t>
            </a:r>
          </a:p>
          <a:p>
            <a:pPr lvl="1"/>
            <a:r>
              <a:rPr lang="en-US" dirty="0">
                <a:solidFill>
                  <a:schemeClr val="bg1">
                    <a:lumMod val="95000"/>
                  </a:schemeClr>
                </a:solidFill>
              </a:rPr>
              <a:t>Integrated Facility Location-Transportation</a:t>
            </a:r>
          </a:p>
          <a:p>
            <a:pPr lvl="5"/>
            <a:endParaRPr lang="en-US" dirty="0"/>
          </a:p>
          <a:p>
            <a:endParaRPr lang="en-US" dirty="0"/>
          </a:p>
        </p:txBody>
      </p:sp>
    </p:spTree>
    <p:extLst>
      <p:ext uri="{BB962C8B-B14F-4D97-AF65-F5344CB8AC3E}">
        <p14:creationId xmlns:p14="http://schemas.microsoft.com/office/powerpoint/2010/main" val="861207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Concepts</a:t>
            </a:r>
          </a:p>
        </p:txBody>
      </p:sp>
      <p:sp>
        <p:nvSpPr>
          <p:cNvPr id="3" name="Content Placeholder 2"/>
          <p:cNvSpPr>
            <a:spLocks noGrp="1"/>
          </p:cNvSpPr>
          <p:nvPr>
            <p:ph idx="1"/>
          </p:nvPr>
        </p:nvSpPr>
        <p:spPr>
          <a:xfrm>
            <a:off x="355002" y="1312433"/>
            <a:ext cx="6452198" cy="4864530"/>
          </a:xfrm>
        </p:spPr>
        <p:txBody>
          <a:bodyPr/>
          <a:lstStyle/>
          <a:p>
            <a:r>
              <a:rPr lang="en-US" dirty="0"/>
              <a:t>Integer programming problems are harder to solve compared to the Linear programming problems</a:t>
            </a:r>
          </a:p>
          <a:p>
            <a:pPr lvl="1"/>
            <a:r>
              <a:rPr lang="en-US" dirty="0"/>
              <a:t>Basically, IPs do not have the corner solution property</a:t>
            </a:r>
          </a:p>
          <a:p>
            <a:pPr lvl="1"/>
            <a:r>
              <a:rPr lang="en-US" dirty="0"/>
              <a:t>When we draw the constraint lines, the corner points can be non-integer</a:t>
            </a:r>
          </a:p>
          <a:p>
            <a:pPr lvl="1"/>
            <a:endParaRPr lang="en-US" dirty="0"/>
          </a:p>
          <a:p>
            <a:pPr lvl="1"/>
            <a:r>
              <a:rPr lang="en-US" dirty="0"/>
              <a:t>See the example on right:</a:t>
            </a:r>
          </a:p>
          <a:p>
            <a:pPr lvl="2"/>
            <a:r>
              <a:rPr lang="en-US" dirty="0"/>
              <a:t>The only feasible solutions are (0, 0) and (1, 0), where (1, 0) is the optimal solution</a:t>
            </a:r>
          </a:p>
        </p:txBody>
      </p:sp>
      <p:pic>
        <p:nvPicPr>
          <p:cNvPr id="4" name="Picture 3">
            <a:extLst>
              <a:ext uri="{FF2B5EF4-FFF2-40B4-BE49-F238E27FC236}">
                <a16:creationId xmlns:a16="http://schemas.microsoft.com/office/drawing/2014/main" id="{236EF2DC-4BE4-4D99-AD89-ADFB98CF0694}"/>
              </a:ext>
            </a:extLst>
          </p:cNvPr>
          <p:cNvPicPr>
            <a:picLocks noChangeAspect="1"/>
          </p:cNvPicPr>
          <p:nvPr/>
        </p:nvPicPr>
        <p:blipFill>
          <a:blip r:embed="rId2"/>
          <a:stretch>
            <a:fillRect/>
          </a:stretch>
        </p:blipFill>
        <p:spPr>
          <a:xfrm>
            <a:off x="6714618" y="1356939"/>
            <a:ext cx="4880681" cy="4697225"/>
          </a:xfrm>
          <a:prstGeom prst="rect">
            <a:avLst/>
          </a:prstGeom>
        </p:spPr>
      </p:pic>
      <p:sp>
        <p:nvSpPr>
          <p:cNvPr id="5" name="Rectangle 4">
            <a:extLst>
              <a:ext uri="{FF2B5EF4-FFF2-40B4-BE49-F238E27FC236}">
                <a16:creationId xmlns:a16="http://schemas.microsoft.com/office/drawing/2014/main" id="{CA91E9B3-E2E2-4645-A91A-135E76F4D81F}"/>
              </a:ext>
            </a:extLst>
          </p:cNvPr>
          <p:cNvSpPr/>
          <p:nvPr/>
        </p:nvSpPr>
        <p:spPr>
          <a:xfrm>
            <a:off x="3830917" y="5846544"/>
            <a:ext cx="6096000" cy="369332"/>
          </a:xfrm>
          <a:prstGeom prst="rect">
            <a:avLst/>
          </a:prstGeom>
        </p:spPr>
        <p:txBody>
          <a:bodyPr>
            <a:spAutoFit/>
          </a:bodyPr>
          <a:lstStyle/>
          <a:p>
            <a:r>
              <a:rPr lang="en-US" dirty="0">
                <a:latin typeface="TimesNewRomanPSMT"/>
              </a:rPr>
              <a:t>.</a:t>
            </a:r>
            <a:endParaRPr lang="en-US" dirty="0"/>
          </a:p>
        </p:txBody>
      </p:sp>
    </p:spTree>
    <p:extLst>
      <p:ext uri="{BB962C8B-B14F-4D97-AF65-F5344CB8AC3E}">
        <p14:creationId xmlns:p14="http://schemas.microsoft.com/office/powerpoint/2010/main" val="2967246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Concepts</a:t>
            </a:r>
          </a:p>
        </p:txBody>
      </p:sp>
      <p:sp>
        <p:nvSpPr>
          <p:cNvPr id="3" name="Content Placeholder 2"/>
          <p:cNvSpPr>
            <a:spLocks noGrp="1"/>
          </p:cNvSpPr>
          <p:nvPr>
            <p:ph idx="1"/>
          </p:nvPr>
        </p:nvSpPr>
        <p:spPr>
          <a:xfrm>
            <a:off x="355002" y="1312433"/>
            <a:ext cx="11478410" cy="5180442"/>
          </a:xfrm>
        </p:spPr>
        <p:txBody>
          <a:bodyPr>
            <a:normAutofit/>
          </a:bodyPr>
          <a:lstStyle/>
          <a:p>
            <a:r>
              <a:rPr lang="en-US" dirty="0"/>
              <a:t>One approach can be </a:t>
            </a:r>
            <a:r>
              <a:rPr lang="en-US" dirty="0">
                <a:solidFill>
                  <a:srgbClr val="C00000"/>
                </a:solidFill>
              </a:rPr>
              <a:t>exhaustive (total) enumeration</a:t>
            </a:r>
          </a:p>
          <a:p>
            <a:pPr lvl="1"/>
            <a:r>
              <a:rPr lang="en-US" dirty="0"/>
              <a:t>Identify all of the solutions</a:t>
            </a:r>
          </a:p>
          <a:p>
            <a:pPr lvl="1"/>
            <a:r>
              <a:rPr lang="en-US" dirty="0"/>
              <a:t>Calculate the objective function value for each feasible solution</a:t>
            </a:r>
          </a:p>
          <a:p>
            <a:pPr lvl="1"/>
            <a:r>
              <a:rPr lang="en-US" dirty="0"/>
              <a:t>Pick the best feasible solution</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r>
              <a:rPr lang="en-US" dirty="0"/>
              <a:t>Not practical!</a:t>
            </a:r>
          </a:p>
        </p:txBody>
      </p:sp>
      <p:pic>
        <p:nvPicPr>
          <p:cNvPr id="5" name="Picture 4">
            <a:extLst>
              <a:ext uri="{FF2B5EF4-FFF2-40B4-BE49-F238E27FC236}">
                <a16:creationId xmlns:a16="http://schemas.microsoft.com/office/drawing/2014/main" id="{8BD6AFBB-E139-412F-AA21-55206DDBEFEC}"/>
              </a:ext>
            </a:extLst>
          </p:cNvPr>
          <p:cNvPicPr>
            <a:picLocks noChangeAspect="1"/>
          </p:cNvPicPr>
          <p:nvPr/>
        </p:nvPicPr>
        <p:blipFill>
          <a:blip r:embed="rId2"/>
          <a:stretch>
            <a:fillRect/>
          </a:stretch>
        </p:blipFill>
        <p:spPr>
          <a:xfrm>
            <a:off x="6960132" y="2915593"/>
            <a:ext cx="4275633" cy="2475773"/>
          </a:xfrm>
          <a:prstGeom prst="rect">
            <a:avLst/>
          </a:prstGeom>
        </p:spPr>
      </p:pic>
      <p:sp>
        <p:nvSpPr>
          <p:cNvPr id="6" name="Rectangle 5">
            <a:extLst>
              <a:ext uri="{FF2B5EF4-FFF2-40B4-BE49-F238E27FC236}">
                <a16:creationId xmlns:a16="http://schemas.microsoft.com/office/drawing/2014/main" id="{F38532C3-C0D0-42D7-B7F4-A543866FFC86}"/>
              </a:ext>
            </a:extLst>
          </p:cNvPr>
          <p:cNvSpPr/>
          <p:nvPr/>
        </p:nvSpPr>
        <p:spPr>
          <a:xfrm>
            <a:off x="355002" y="3021799"/>
            <a:ext cx="6341036" cy="2523768"/>
          </a:xfrm>
          <a:prstGeom prst="rect">
            <a:avLst/>
          </a:prstGeom>
        </p:spPr>
        <p:txBody>
          <a:bodyPr wrap="square">
            <a:spAutoFit/>
          </a:bodyPr>
          <a:lstStyle/>
          <a:p>
            <a:pPr marL="742950" lvl="1" indent="-285750">
              <a:buFont typeface="Arial" panose="020B0604020202020204" pitchFamily="34" charset="0"/>
              <a:buChar char="•"/>
            </a:pPr>
            <a:r>
              <a:rPr lang="en-US" sz="2000" u="sng" dirty="0"/>
              <a:t>Illustration:</a:t>
            </a:r>
          </a:p>
          <a:p>
            <a:pPr marL="1200150" lvl="2" indent="-285750">
              <a:buFont typeface="Arial" panose="020B0604020202020204" pitchFamily="34" charset="0"/>
              <a:buChar char="•"/>
            </a:pPr>
            <a:r>
              <a:rPr lang="en-US" dirty="0"/>
              <a:t>The binary solutions for (</a:t>
            </a:r>
            <a:r>
              <a:rPr lang="en-US" i="1" dirty="0"/>
              <a:t>x</a:t>
            </a:r>
            <a:r>
              <a:rPr lang="en-US" dirty="0"/>
              <a:t>1, </a:t>
            </a:r>
            <a:r>
              <a:rPr lang="en-US" i="1" dirty="0"/>
              <a:t>x</a:t>
            </a:r>
            <a:r>
              <a:rPr lang="en-US" dirty="0"/>
              <a:t>2) are (0, 0), (1, 0), (0, 1), and (1, 1)</a:t>
            </a:r>
          </a:p>
          <a:p>
            <a:pPr marL="1200150" lvl="2" indent="-285750">
              <a:buFont typeface="Arial" panose="020B0604020202020204" pitchFamily="34" charset="0"/>
              <a:buChar char="•"/>
            </a:pPr>
            <a:r>
              <a:rPr lang="en-US" dirty="0"/>
              <a:t>(0, 0), (1, 0), and (0, 1) are the feasible solutions</a:t>
            </a:r>
          </a:p>
          <a:p>
            <a:pPr marL="1200150" lvl="2" indent="-285750">
              <a:buFont typeface="Arial" panose="020B0604020202020204" pitchFamily="34" charset="0"/>
              <a:buChar char="•"/>
            </a:pPr>
            <a:r>
              <a:rPr lang="en-US" dirty="0"/>
              <a:t>Objective function values for feasible solutions:</a:t>
            </a:r>
          </a:p>
          <a:p>
            <a:pPr marL="1657350" lvl="3" indent="-285750">
              <a:buFont typeface="Arial" panose="020B0604020202020204" pitchFamily="34" charset="0"/>
              <a:buChar char="•"/>
            </a:pPr>
            <a:r>
              <a:rPr lang="en-US" sz="1600" dirty="0"/>
              <a:t>For (0, 0), </a:t>
            </a:r>
            <a:r>
              <a:rPr lang="en-US" sz="1600" i="1" dirty="0"/>
              <a:t>P </a:t>
            </a:r>
            <a:r>
              <a:rPr lang="en-US" sz="1600" dirty="0"/>
              <a:t>= </a:t>
            </a:r>
            <a:r>
              <a:rPr lang="en-US" sz="1600" i="1" dirty="0"/>
              <a:t>x</a:t>
            </a:r>
            <a:r>
              <a:rPr lang="en-US" sz="700" dirty="0"/>
              <a:t>1 </a:t>
            </a:r>
            <a:r>
              <a:rPr lang="en-US" sz="1600" dirty="0"/>
              <a:t>+ 2</a:t>
            </a:r>
            <a:r>
              <a:rPr lang="en-US" sz="1600" i="1" dirty="0"/>
              <a:t>x</a:t>
            </a:r>
            <a:r>
              <a:rPr lang="en-US" sz="700" dirty="0"/>
              <a:t>2 </a:t>
            </a:r>
            <a:r>
              <a:rPr lang="en-US" sz="1600" dirty="0"/>
              <a:t>= 0 + 0 = 0.</a:t>
            </a:r>
          </a:p>
          <a:p>
            <a:pPr marL="1657350" lvl="3" indent="-285750">
              <a:buFont typeface="Arial" panose="020B0604020202020204" pitchFamily="34" charset="0"/>
              <a:buChar char="•"/>
            </a:pPr>
            <a:r>
              <a:rPr lang="en-US" sz="1600" dirty="0"/>
              <a:t>For (1, 0), </a:t>
            </a:r>
            <a:r>
              <a:rPr lang="en-US" sz="1600" i="1" dirty="0"/>
              <a:t>P </a:t>
            </a:r>
            <a:r>
              <a:rPr lang="en-US" sz="1600" dirty="0"/>
              <a:t>= </a:t>
            </a:r>
            <a:r>
              <a:rPr lang="en-US" sz="1600" i="1" dirty="0"/>
              <a:t>x</a:t>
            </a:r>
            <a:r>
              <a:rPr lang="en-US" sz="700" dirty="0"/>
              <a:t>1 </a:t>
            </a:r>
            <a:r>
              <a:rPr lang="en-US" sz="1600" dirty="0"/>
              <a:t>+ 2</a:t>
            </a:r>
            <a:r>
              <a:rPr lang="en-US" sz="1600" i="1" dirty="0"/>
              <a:t>x</a:t>
            </a:r>
            <a:r>
              <a:rPr lang="en-US" sz="700" dirty="0"/>
              <a:t>2 </a:t>
            </a:r>
            <a:r>
              <a:rPr lang="en-US" sz="1600" dirty="0"/>
              <a:t>= 1 + 0 = 1.</a:t>
            </a:r>
          </a:p>
          <a:p>
            <a:pPr marL="1657350" lvl="3" indent="-285750">
              <a:buFont typeface="Arial" panose="020B0604020202020204" pitchFamily="34" charset="0"/>
              <a:buChar char="•"/>
            </a:pPr>
            <a:r>
              <a:rPr lang="en-US" sz="1600" dirty="0"/>
              <a:t>For (0, 1), </a:t>
            </a:r>
            <a:r>
              <a:rPr lang="en-US" sz="1600" i="1" dirty="0"/>
              <a:t>P </a:t>
            </a:r>
            <a:r>
              <a:rPr lang="en-US" sz="1600" dirty="0"/>
              <a:t>= </a:t>
            </a:r>
            <a:r>
              <a:rPr lang="en-US" sz="1600" i="1" dirty="0"/>
              <a:t>x</a:t>
            </a:r>
            <a:r>
              <a:rPr lang="en-US" sz="700" dirty="0"/>
              <a:t>1 </a:t>
            </a:r>
            <a:r>
              <a:rPr lang="en-US" sz="1600" dirty="0"/>
              <a:t>+ 2</a:t>
            </a:r>
            <a:r>
              <a:rPr lang="en-US" sz="1600" i="1" dirty="0"/>
              <a:t>x</a:t>
            </a:r>
            <a:r>
              <a:rPr lang="en-US" sz="700" dirty="0"/>
              <a:t>2 </a:t>
            </a:r>
            <a:r>
              <a:rPr lang="en-US" sz="1600" dirty="0"/>
              <a:t>= 0 + 2 = 2.</a:t>
            </a:r>
          </a:p>
          <a:p>
            <a:pPr marL="1200150" lvl="2" indent="-285750">
              <a:buFont typeface="Arial" panose="020B0604020202020204" pitchFamily="34" charset="0"/>
              <a:buChar char="•"/>
            </a:pPr>
            <a:r>
              <a:rPr lang="en-US" dirty="0"/>
              <a:t>Sol (0,1) is the optimum.</a:t>
            </a:r>
          </a:p>
        </p:txBody>
      </p:sp>
      <p:pic>
        <p:nvPicPr>
          <p:cNvPr id="7" name="Picture 6">
            <a:extLst>
              <a:ext uri="{FF2B5EF4-FFF2-40B4-BE49-F238E27FC236}">
                <a16:creationId xmlns:a16="http://schemas.microsoft.com/office/drawing/2014/main" id="{462FC79D-AC58-4787-8C99-34A4F4090DA6}"/>
              </a:ext>
            </a:extLst>
          </p:cNvPr>
          <p:cNvPicPr>
            <a:picLocks noChangeAspect="1"/>
          </p:cNvPicPr>
          <p:nvPr/>
        </p:nvPicPr>
        <p:blipFill>
          <a:blip r:embed="rId3"/>
          <a:stretch>
            <a:fillRect/>
          </a:stretch>
        </p:blipFill>
        <p:spPr>
          <a:xfrm>
            <a:off x="3539853" y="5593386"/>
            <a:ext cx="1773796" cy="1167153"/>
          </a:xfrm>
          <a:prstGeom prst="rect">
            <a:avLst/>
          </a:prstGeom>
        </p:spPr>
      </p:pic>
    </p:spTree>
    <p:extLst>
      <p:ext uri="{BB962C8B-B14F-4D97-AF65-F5344CB8AC3E}">
        <p14:creationId xmlns:p14="http://schemas.microsoft.com/office/powerpoint/2010/main" val="716185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Concepts</a:t>
            </a:r>
          </a:p>
        </p:txBody>
      </p:sp>
      <p:sp>
        <p:nvSpPr>
          <p:cNvPr id="3" name="Content Placeholder 2"/>
          <p:cNvSpPr>
            <a:spLocks noGrp="1"/>
          </p:cNvSpPr>
          <p:nvPr>
            <p:ph idx="1"/>
          </p:nvPr>
        </p:nvSpPr>
        <p:spPr/>
        <p:txBody>
          <a:bodyPr/>
          <a:lstStyle/>
          <a:p>
            <a:r>
              <a:rPr lang="en-US" dirty="0">
                <a:ea typeface="ＭＳ Ｐゴシック"/>
              </a:rPr>
              <a:t>Recall the </a:t>
            </a:r>
            <a:r>
              <a:rPr lang="en-US" dirty="0" err="1">
                <a:ea typeface="ＭＳ Ｐゴシック"/>
              </a:rPr>
              <a:t>Wyndor</a:t>
            </a:r>
            <a:r>
              <a:rPr lang="en-US" dirty="0">
                <a:ea typeface="ＭＳ Ｐゴシック"/>
              </a:rPr>
              <a:t> Glass Co. Product-Mix Problem</a:t>
            </a:r>
          </a:p>
          <a:p>
            <a:pPr lvl="1"/>
            <a:r>
              <a:rPr lang="en-US" dirty="0">
                <a:ea typeface="ＭＳ Ｐゴシック"/>
              </a:rPr>
              <a:t>Now, suppose that production is not continuous</a:t>
            </a:r>
          </a:p>
          <a:p>
            <a:pPr lvl="1"/>
            <a:r>
              <a:rPr lang="en-US" dirty="0">
                <a:ea typeface="ＭＳ Ｐゴシック"/>
              </a:rPr>
              <a:t>Windows and doors will be produced just for one week</a:t>
            </a:r>
          </a:p>
          <a:p>
            <a:pPr lvl="1"/>
            <a:r>
              <a:rPr lang="en-US" dirty="0">
                <a:ea typeface="ＭＳ Ｐゴシック"/>
              </a:rPr>
              <a:t>Therefore, it is not practical to assume that D and W are continuous</a:t>
            </a:r>
          </a:p>
          <a:p>
            <a:pPr lvl="2"/>
            <a:r>
              <a:rPr lang="en-US" dirty="0">
                <a:ea typeface="ＭＳ Ｐゴシック"/>
              </a:rPr>
              <a:t>D and W should be integers</a:t>
            </a:r>
          </a:p>
          <a:p>
            <a:r>
              <a:rPr lang="en-US" dirty="0">
                <a:ea typeface="ＭＳ Ｐゴシック"/>
              </a:rPr>
              <a:t>The updated models:</a:t>
            </a:r>
            <a:endParaRPr lang="en-US" dirty="0"/>
          </a:p>
          <a:p>
            <a:endParaRPr lang="en-US" dirty="0">
              <a:ea typeface="ＭＳ Ｐゴシック"/>
            </a:endParaRPr>
          </a:p>
        </p:txBody>
      </p:sp>
      <p:pic>
        <p:nvPicPr>
          <p:cNvPr id="4" name="Picture 3"/>
          <p:cNvPicPr>
            <a:picLocks noChangeAspect="1"/>
          </p:cNvPicPr>
          <p:nvPr/>
        </p:nvPicPr>
        <p:blipFill>
          <a:blip r:embed="rId3"/>
          <a:stretch>
            <a:fillRect/>
          </a:stretch>
        </p:blipFill>
        <p:spPr>
          <a:xfrm>
            <a:off x="774734" y="3877288"/>
            <a:ext cx="5704737" cy="2785114"/>
          </a:xfrm>
          <a:prstGeom prst="rect">
            <a:avLst/>
          </a:prstGeom>
        </p:spPr>
      </p:pic>
    </p:spTree>
    <p:extLst>
      <p:ext uri="{BB962C8B-B14F-4D97-AF65-F5344CB8AC3E}">
        <p14:creationId xmlns:p14="http://schemas.microsoft.com/office/powerpoint/2010/main" val="577879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Concepts</a:t>
            </a:r>
          </a:p>
        </p:txBody>
      </p:sp>
      <p:sp>
        <p:nvSpPr>
          <p:cNvPr id="3" name="Content Placeholder 2"/>
          <p:cNvSpPr>
            <a:spLocks noGrp="1"/>
          </p:cNvSpPr>
          <p:nvPr>
            <p:ph idx="1"/>
          </p:nvPr>
        </p:nvSpPr>
        <p:spPr/>
        <p:txBody>
          <a:bodyPr/>
          <a:lstStyle/>
          <a:p>
            <a:r>
              <a:rPr lang="en-US" b="1" dirty="0">
                <a:solidFill>
                  <a:srgbClr val="C00000"/>
                </a:solidFill>
              </a:rPr>
              <a:t>Linear Relaxation: </a:t>
            </a:r>
            <a:r>
              <a:rPr lang="en-US" dirty="0"/>
              <a:t>The integer model without the integer constraints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sp>
        <p:nvSpPr>
          <p:cNvPr id="13" name="Content Placeholder 2">
            <a:extLst>
              <a:ext uri="{FF2B5EF4-FFF2-40B4-BE49-F238E27FC236}">
                <a16:creationId xmlns:a16="http://schemas.microsoft.com/office/drawing/2014/main" id="{E81F9FCF-082F-4D90-91F8-3618726069AA}"/>
              </a:ext>
            </a:extLst>
          </p:cNvPr>
          <p:cNvSpPr txBox="1">
            <a:spLocks/>
          </p:cNvSpPr>
          <p:nvPr/>
        </p:nvSpPr>
        <p:spPr>
          <a:xfrm>
            <a:off x="1612151" y="1828800"/>
            <a:ext cx="3962400" cy="4267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r>
              <a:rPr lang="en-US" sz="2000" i="1" dirty="0"/>
              <a:t>Maximize 300D+500W</a:t>
            </a:r>
          </a:p>
          <a:p>
            <a:pPr marL="457200" lvl="1" indent="0">
              <a:buFont typeface="Arial" panose="020B0604020202020204" pitchFamily="34" charset="0"/>
              <a:buNone/>
            </a:pPr>
            <a:r>
              <a:rPr lang="en-US" sz="2000" i="1" dirty="0"/>
              <a:t>subject to    D ≤ 4</a:t>
            </a:r>
          </a:p>
          <a:p>
            <a:pPr marL="457200" lvl="1" indent="0">
              <a:buFont typeface="Arial" panose="020B0604020202020204" pitchFamily="34" charset="0"/>
              <a:buNone/>
            </a:pPr>
            <a:r>
              <a:rPr lang="en-US" sz="2000" i="1" dirty="0"/>
              <a:t>		2W ≤ 12</a:t>
            </a:r>
          </a:p>
          <a:p>
            <a:pPr marL="457200" lvl="1" indent="0">
              <a:buFont typeface="Arial" panose="020B0604020202020204" pitchFamily="34" charset="0"/>
              <a:buNone/>
            </a:pPr>
            <a:r>
              <a:rPr lang="en-US" sz="2000" i="1" dirty="0"/>
              <a:t>	    3D+2W ≤ 18</a:t>
            </a:r>
          </a:p>
          <a:p>
            <a:pPr marL="457200" lvl="1" indent="0">
              <a:buFont typeface="Arial" panose="020B0604020202020204" pitchFamily="34" charset="0"/>
              <a:buNone/>
            </a:pPr>
            <a:r>
              <a:rPr lang="en-US" sz="2000" i="1" dirty="0"/>
              <a:t>	    D≥0, W ≥0</a:t>
            </a:r>
          </a:p>
          <a:p>
            <a:pPr marL="0" lvl="1" indent="0">
              <a:buFont typeface="Arial" panose="020B0604020202020204" pitchFamily="34" charset="0"/>
              <a:buNone/>
            </a:pPr>
            <a:r>
              <a:rPr lang="en-US" sz="2000" i="1" dirty="0"/>
              <a:t>	    D integer</a:t>
            </a:r>
          </a:p>
          <a:p>
            <a:pPr marL="0" lvl="1" indent="0">
              <a:buFont typeface="Arial" panose="020B0604020202020204" pitchFamily="34" charset="0"/>
              <a:buNone/>
            </a:pPr>
            <a:r>
              <a:rPr lang="en-US" sz="2000" i="1" dirty="0"/>
              <a:t>	    W integer</a:t>
            </a:r>
          </a:p>
          <a:p>
            <a:pPr marL="0" indent="0">
              <a:buFont typeface="Arial" panose="020B0604020202020204" pitchFamily="34" charset="0"/>
              <a:buNone/>
            </a:pPr>
            <a:endParaRPr lang="en-US" dirty="0"/>
          </a:p>
        </p:txBody>
      </p:sp>
      <p:sp>
        <p:nvSpPr>
          <p:cNvPr id="14" name="Content Placeholder 2">
            <a:extLst>
              <a:ext uri="{FF2B5EF4-FFF2-40B4-BE49-F238E27FC236}">
                <a16:creationId xmlns:a16="http://schemas.microsoft.com/office/drawing/2014/main" id="{67A1F876-0B8A-4C2B-8AAD-30024B61B7B9}"/>
              </a:ext>
            </a:extLst>
          </p:cNvPr>
          <p:cNvSpPr txBox="1">
            <a:spLocks/>
          </p:cNvSpPr>
          <p:nvPr/>
        </p:nvSpPr>
        <p:spPr bwMode="auto">
          <a:xfrm>
            <a:off x="5726951" y="1828800"/>
            <a:ext cx="3962400" cy="426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sz="1800">
                <a:solidFill>
                  <a:schemeClr val="tx1"/>
                </a:solidFill>
                <a:latin typeface="+mn-lt"/>
                <a:ea typeface="+mn-ea"/>
              </a:defRPr>
            </a:lvl4pPr>
            <a:lvl5pPr marL="2057400" indent="-228600" algn="l" rtl="0" eaLnBrk="0" fontAlgn="base" hangingPunct="0">
              <a:spcBef>
                <a:spcPct val="20000"/>
              </a:spcBef>
              <a:spcAft>
                <a:spcPct val="0"/>
              </a:spcAft>
              <a:buChar char="»"/>
              <a:defRPr sz="18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457200" lvl="1" indent="0">
              <a:buFontTx/>
              <a:buNone/>
            </a:pPr>
            <a:r>
              <a:rPr lang="en-US" sz="2000" i="1" dirty="0"/>
              <a:t>Maximize 300D+500W</a:t>
            </a:r>
          </a:p>
          <a:p>
            <a:pPr marL="457200" lvl="1" indent="0">
              <a:buFontTx/>
              <a:buNone/>
            </a:pPr>
            <a:r>
              <a:rPr lang="en-US" sz="2000" i="1" dirty="0"/>
              <a:t>subject to    D ≤ 4</a:t>
            </a:r>
          </a:p>
          <a:p>
            <a:pPr marL="457200" lvl="1" indent="0">
              <a:buFontTx/>
              <a:buNone/>
            </a:pPr>
            <a:r>
              <a:rPr lang="en-US" sz="2000" i="1" dirty="0"/>
              <a:t>		2W ≤ 12</a:t>
            </a:r>
          </a:p>
          <a:p>
            <a:pPr marL="457200" lvl="1" indent="0">
              <a:buFontTx/>
              <a:buNone/>
            </a:pPr>
            <a:r>
              <a:rPr lang="en-US" sz="2000" i="1" dirty="0"/>
              <a:t>	    3D+2W ≤ 18</a:t>
            </a:r>
          </a:p>
          <a:p>
            <a:pPr marL="457200" lvl="1" indent="0">
              <a:buFontTx/>
              <a:buNone/>
            </a:pPr>
            <a:r>
              <a:rPr lang="en-US" sz="2000" i="1" dirty="0"/>
              <a:t>	    D≥0, W ≥0</a:t>
            </a:r>
          </a:p>
        </p:txBody>
      </p:sp>
      <p:sp>
        <p:nvSpPr>
          <p:cNvPr id="15" name="TextBox 14">
            <a:extLst>
              <a:ext uri="{FF2B5EF4-FFF2-40B4-BE49-F238E27FC236}">
                <a16:creationId xmlns:a16="http://schemas.microsoft.com/office/drawing/2014/main" id="{F0074666-DC2D-447D-9F2D-1D31256668C8}"/>
              </a:ext>
            </a:extLst>
          </p:cNvPr>
          <p:cNvSpPr txBox="1"/>
          <p:nvPr/>
        </p:nvSpPr>
        <p:spPr>
          <a:xfrm>
            <a:off x="2069351" y="4447619"/>
            <a:ext cx="3048000" cy="338554"/>
          </a:xfrm>
          <a:prstGeom prst="rect">
            <a:avLst/>
          </a:prstGeom>
          <a:noFill/>
        </p:spPr>
        <p:txBody>
          <a:bodyPr wrap="square" rtlCol="0">
            <a:spAutoFit/>
          </a:bodyPr>
          <a:lstStyle/>
          <a:p>
            <a:r>
              <a:rPr lang="en-US" sz="1600" b="1" dirty="0">
                <a:solidFill>
                  <a:srgbClr val="FF0000"/>
                </a:solidFill>
              </a:rPr>
              <a:t>Integer programming model</a:t>
            </a:r>
          </a:p>
        </p:txBody>
      </p:sp>
      <p:sp>
        <p:nvSpPr>
          <p:cNvPr id="16" name="TextBox 15">
            <a:extLst>
              <a:ext uri="{FF2B5EF4-FFF2-40B4-BE49-F238E27FC236}">
                <a16:creationId xmlns:a16="http://schemas.microsoft.com/office/drawing/2014/main" id="{3A5038DB-5532-4C3C-89B1-2541C0B30BC1}"/>
              </a:ext>
            </a:extLst>
          </p:cNvPr>
          <p:cNvSpPr txBox="1"/>
          <p:nvPr/>
        </p:nvSpPr>
        <p:spPr>
          <a:xfrm>
            <a:off x="6031751" y="3761819"/>
            <a:ext cx="3048000" cy="338554"/>
          </a:xfrm>
          <a:prstGeom prst="rect">
            <a:avLst/>
          </a:prstGeom>
          <a:noFill/>
        </p:spPr>
        <p:txBody>
          <a:bodyPr wrap="square" rtlCol="0">
            <a:spAutoFit/>
          </a:bodyPr>
          <a:lstStyle/>
          <a:p>
            <a:r>
              <a:rPr lang="en-US" sz="1600" b="1" dirty="0">
                <a:solidFill>
                  <a:srgbClr val="FF0000"/>
                </a:solidFill>
              </a:rPr>
              <a:t>Its linear relaxation</a:t>
            </a:r>
          </a:p>
        </p:txBody>
      </p:sp>
      <p:sp>
        <p:nvSpPr>
          <p:cNvPr id="17" name="Right Arrow 6">
            <a:extLst>
              <a:ext uri="{FF2B5EF4-FFF2-40B4-BE49-F238E27FC236}">
                <a16:creationId xmlns:a16="http://schemas.microsoft.com/office/drawing/2014/main" id="{C8003E7F-F9D1-48F0-B61B-EA9BB7F8A748}"/>
              </a:ext>
            </a:extLst>
          </p:cNvPr>
          <p:cNvSpPr/>
          <p:nvPr/>
        </p:nvSpPr>
        <p:spPr bwMode="auto">
          <a:xfrm rot="20459484">
            <a:off x="4910969" y="3963069"/>
            <a:ext cx="1166811" cy="516523"/>
          </a:xfrm>
          <a:prstGeom prst="rightArrow">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18" name="Rectangle 17">
            <a:extLst>
              <a:ext uri="{FF2B5EF4-FFF2-40B4-BE49-F238E27FC236}">
                <a16:creationId xmlns:a16="http://schemas.microsoft.com/office/drawing/2014/main" id="{D9607226-96F0-4D25-8842-C340CB6CE3E0}"/>
              </a:ext>
            </a:extLst>
          </p:cNvPr>
          <p:cNvSpPr/>
          <p:nvPr/>
        </p:nvSpPr>
        <p:spPr bwMode="auto">
          <a:xfrm>
            <a:off x="1916951" y="1811977"/>
            <a:ext cx="2922120" cy="2635642"/>
          </a:xfrm>
          <a:prstGeom prst="rect">
            <a:avLst/>
          </a:prstGeom>
          <a:noFill/>
          <a:ln w="9525" cap="flat" cmpd="sng" algn="ctr">
            <a:solidFill>
              <a:srgbClr val="CC99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19" name="Rectangle 18">
            <a:extLst>
              <a:ext uri="{FF2B5EF4-FFF2-40B4-BE49-F238E27FC236}">
                <a16:creationId xmlns:a16="http://schemas.microsoft.com/office/drawing/2014/main" id="{F9F26B5B-4F22-4694-A8EB-E648CB1FA6D9}"/>
              </a:ext>
            </a:extLst>
          </p:cNvPr>
          <p:cNvSpPr/>
          <p:nvPr/>
        </p:nvSpPr>
        <p:spPr bwMode="auto">
          <a:xfrm>
            <a:off x="6051344" y="1803488"/>
            <a:ext cx="2922120" cy="1958331"/>
          </a:xfrm>
          <a:prstGeom prst="rect">
            <a:avLst/>
          </a:prstGeom>
          <a:noFill/>
          <a:ln w="9525" cap="flat" cmpd="sng" algn="ctr">
            <a:solidFill>
              <a:srgbClr val="CC99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pic>
        <p:nvPicPr>
          <p:cNvPr id="4" name="Picture 3">
            <a:extLst>
              <a:ext uri="{FF2B5EF4-FFF2-40B4-BE49-F238E27FC236}">
                <a16:creationId xmlns:a16="http://schemas.microsoft.com/office/drawing/2014/main" id="{7B47F595-4805-4877-942F-66CA93BAEA85}"/>
              </a:ext>
            </a:extLst>
          </p:cNvPr>
          <p:cNvPicPr>
            <a:picLocks noChangeAspect="1"/>
          </p:cNvPicPr>
          <p:nvPr/>
        </p:nvPicPr>
        <p:blipFill>
          <a:blip r:embed="rId2"/>
          <a:stretch>
            <a:fillRect/>
          </a:stretch>
        </p:blipFill>
        <p:spPr>
          <a:xfrm>
            <a:off x="2069351" y="4963986"/>
            <a:ext cx="3153783" cy="1444636"/>
          </a:xfrm>
          <a:prstGeom prst="rect">
            <a:avLst/>
          </a:prstGeom>
        </p:spPr>
      </p:pic>
      <p:pic>
        <p:nvPicPr>
          <p:cNvPr id="20" name="Picture 19">
            <a:extLst>
              <a:ext uri="{FF2B5EF4-FFF2-40B4-BE49-F238E27FC236}">
                <a16:creationId xmlns:a16="http://schemas.microsoft.com/office/drawing/2014/main" id="{04455AE9-EBAD-40DE-8D0F-F2541BD7FE7A}"/>
              </a:ext>
            </a:extLst>
          </p:cNvPr>
          <p:cNvPicPr>
            <a:picLocks noChangeAspect="1"/>
          </p:cNvPicPr>
          <p:nvPr/>
        </p:nvPicPr>
        <p:blipFill>
          <a:blip r:embed="rId3"/>
          <a:stretch>
            <a:fillRect/>
          </a:stretch>
        </p:blipFill>
        <p:spPr>
          <a:xfrm>
            <a:off x="6031751" y="5003473"/>
            <a:ext cx="3048000" cy="1365662"/>
          </a:xfrm>
          <a:prstGeom prst="rect">
            <a:avLst/>
          </a:prstGeom>
        </p:spPr>
      </p:pic>
      <p:sp>
        <p:nvSpPr>
          <p:cNvPr id="21" name="TextBox 20">
            <a:extLst>
              <a:ext uri="{FF2B5EF4-FFF2-40B4-BE49-F238E27FC236}">
                <a16:creationId xmlns:a16="http://schemas.microsoft.com/office/drawing/2014/main" id="{117AD3DA-211B-400C-93FD-162FDDE0F3E4}"/>
              </a:ext>
            </a:extLst>
          </p:cNvPr>
          <p:cNvSpPr txBox="1"/>
          <p:nvPr/>
        </p:nvSpPr>
        <p:spPr>
          <a:xfrm>
            <a:off x="2069351" y="6347779"/>
            <a:ext cx="3048000" cy="338554"/>
          </a:xfrm>
          <a:prstGeom prst="rect">
            <a:avLst/>
          </a:prstGeom>
          <a:noFill/>
        </p:spPr>
        <p:txBody>
          <a:bodyPr wrap="square" rtlCol="0">
            <a:spAutoFit/>
          </a:bodyPr>
          <a:lstStyle/>
          <a:p>
            <a:r>
              <a:rPr lang="en-US" sz="1600" b="1" dirty="0">
                <a:solidFill>
                  <a:srgbClr val="FF0000"/>
                </a:solidFill>
              </a:rPr>
              <a:t>Binary programming model</a:t>
            </a:r>
          </a:p>
        </p:txBody>
      </p:sp>
      <p:sp>
        <p:nvSpPr>
          <p:cNvPr id="22" name="TextBox 21">
            <a:extLst>
              <a:ext uri="{FF2B5EF4-FFF2-40B4-BE49-F238E27FC236}">
                <a16:creationId xmlns:a16="http://schemas.microsoft.com/office/drawing/2014/main" id="{C82B00E0-6368-4166-9CB4-1B7C2F2AD63A}"/>
              </a:ext>
            </a:extLst>
          </p:cNvPr>
          <p:cNvSpPr txBox="1"/>
          <p:nvPr/>
        </p:nvSpPr>
        <p:spPr>
          <a:xfrm>
            <a:off x="6346426" y="6329464"/>
            <a:ext cx="3048000" cy="338554"/>
          </a:xfrm>
          <a:prstGeom prst="rect">
            <a:avLst/>
          </a:prstGeom>
          <a:noFill/>
        </p:spPr>
        <p:txBody>
          <a:bodyPr wrap="square" rtlCol="0">
            <a:spAutoFit/>
          </a:bodyPr>
          <a:lstStyle/>
          <a:p>
            <a:r>
              <a:rPr lang="en-US" sz="1600" b="1" dirty="0">
                <a:solidFill>
                  <a:srgbClr val="FF0000"/>
                </a:solidFill>
              </a:rPr>
              <a:t>Its linear relaxation</a:t>
            </a:r>
          </a:p>
        </p:txBody>
      </p:sp>
      <p:sp>
        <p:nvSpPr>
          <p:cNvPr id="23" name="Right Arrow 6">
            <a:extLst>
              <a:ext uri="{FF2B5EF4-FFF2-40B4-BE49-F238E27FC236}">
                <a16:creationId xmlns:a16="http://schemas.microsoft.com/office/drawing/2014/main" id="{3429F644-8199-4C64-A262-F4F7D89F575B}"/>
              </a:ext>
            </a:extLst>
          </p:cNvPr>
          <p:cNvSpPr/>
          <p:nvPr/>
        </p:nvSpPr>
        <p:spPr bwMode="auto">
          <a:xfrm>
            <a:off x="5061635" y="6301648"/>
            <a:ext cx="1166811" cy="516523"/>
          </a:xfrm>
          <a:prstGeom prst="rightArrow">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Tree>
    <p:extLst>
      <p:ext uri="{BB962C8B-B14F-4D97-AF65-F5344CB8AC3E}">
        <p14:creationId xmlns:p14="http://schemas.microsoft.com/office/powerpoint/2010/main" val="1562685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animBg="1"/>
      <p:bldP spid="18" grpId="0" animBg="1"/>
      <p:bldP spid="19" grpId="0" animBg="1"/>
      <p:bldP spid="21" grpId="0"/>
      <p:bldP spid="22" grpId="0"/>
      <p:bldP spid="2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Concepts</a:t>
            </a:r>
          </a:p>
        </p:txBody>
      </p:sp>
      <p:sp>
        <p:nvSpPr>
          <p:cNvPr id="3" name="Content Placeholder 2"/>
          <p:cNvSpPr>
            <a:spLocks noGrp="1"/>
          </p:cNvSpPr>
          <p:nvPr>
            <p:ph idx="1"/>
          </p:nvPr>
        </p:nvSpPr>
        <p:spPr/>
        <p:txBody>
          <a:bodyPr/>
          <a:lstStyle/>
          <a:p>
            <a:r>
              <a:rPr lang="en-US" b="1" dirty="0">
                <a:solidFill>
                  <a:srgbClr val="C00000"/>
                </a:solidFill>
              </a:rPr>
              <a:t>Linear Relaxation: </a:t>
            </a:r>
            <a:r>
              <a:rPr lang="en-US" dirty="0"/>
              <a:t>Easy to solve!</a:t>
            </a:r>
          </a:p>
          <a:p>
            <a:pPr lvl="1"/>
            <a:r>
              <a:rPr lang="en-US" dirty="0"/>
              <a:t>If the linear relaxation returns an integer solution, then we have the optimum solution to the integer model as well! </a:t>
            </a:r>
            <a:r>
              <a:rPr lang="en-US" dirty="0">
                <a:sym typeface="Wingdings" panose="05000000000000000000" pitchFamily="2" charset="2"/>
              </a:rPr>
              <a:t> </a:t>
            </a:r>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p:txBody>
      </p:sp>
      <p:pic>
        <p:nvPicPr>
          <p:cNvPr id="5" name="Picture 4">
            <a:extLst>
              <a:ext uri="{FF2B5EF4-FFF2-40B4-BE49-F238E27FC236}">
                <a16:creationId xmlns:a16="http://schemas.microsoft.com/office/drawing/2014/main" id="{CC964A69-030F-4539-9604-BAC35BA80EBF}"/>
              </a:ext>
            </a:extLst>
          </p:cNvPr>
          <p:cNvPicPr>
            <a:picLocks noChangeAspect="1"/>
          </p:cNvPicPr>
          <p:nvPr/>
        </p:nvPicPr>
        <p:blipFill>
          <a:blip r:embed="rId2"/>
          <a:stretch>
            <a:fillRect/>
          </a:stretch>
        </p:blipFill>
        <p:spPr>
          <a:xfrm>
            <a:off x="4763247" y="2853579"/>
            <a:ext cx="6087596" cy="3323384"/>
          </a:xfrm>
          <a:prstGeom prst="rect">
            <a:avLst/>
          </a:prstGeom>
        </p:spPr>
      </p:pic>
      <p:pic>
        <p:nvPicPr>
          <p:cNvPr id="6" name="Picture 5">
            <a:extLst>
              <a:ext uri="{FF2B5EF4-FFF2-40B4-BE49-F238E27FC236}">
                <a16:creationId xmlns:a16="http://schemas.microsoft.com/office/drawing/2014/main" id="{D61D00A8-4BD1-4295-BBA6-F10A51C3E1A3}"/>
              </a:ext>
            </a:extLst>
          </p:cNvPr>
          <p:cNvPicPr>
            <a:picLocks noChangeAspect="1"/>
          </p:cNvPicPr>
          <p:nvPr/>
        </p:nvPicPr>
        <p:blipFill>
          <a:blip r:embed="rId3"/>
          <a:stretch>
            <a:fillRect/>
          </a:stretch>
        </p:blipFill>
        <p:spPr>
          <a:xfrm>
            <a:off x="1338728" y="2853579"/>
            <a:ext cx="2637211" cy="1385744"/>
          </a:xfrm>
          <a:prstGeom prst="rect">
            <a:avLst/>
          </a:prstGeom>
        </p:spPr>
      </p:pic>
    </p:spTree>
    <p:extLst>
      <p:ext uri="{BB962C8B-B14F-4D97-AF65-F5344CB8AC3E}">
        <p14:creationId xmlns:p14="http://schemas.microsoft.com/office/powerpoint/2010/main" val="4150493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Concepts</a:t>
            </a:r>
          </a:p>
        </p:txBody>
      </p:sp>
      <p:sp>
        <p:nvSpPr>
          <p:cNvPr id="3" name="Content Placeholder 2"/>
          <p:cNvSpPr>
            <a:spLocks noGrp="1"/>
          </p:cNvSpPr>
          <p:nvPr>
            <p:ph idx="1"/>
          </p:nvPr>
        </p:nvSpPr>
        <p:spPr/>
        <p:txBody>
          <a:bodyPr/>
          <a:lstStyle/>
          <a:p>
            <a:r>
              <a:rPr lang="en-US" b="1" dirty="0">
                <a:solidFill>
                  <a:srgbClr val="C00000"/>
                </a:solidFill>
              </a:rPr>
              <a:t>Linear Relaxation: </a:t>
            </a:r>
            <a:r>
              <a:rPr lang="en-US" dirty="0"/>
              <a:t>Easy to solve!</a:t>
            </a:r>
          </a:p>
          <a:p>
            <a:pPr lvl="1"/>
            <a:r>
              <a:rPr lang="en-US" dirty="0"/>
              <a:t>But the optimum solution of the linear relaxation is not necessarily going to be an integer</a:t>
            </a:r>
            <a:r>
              <a:rPr lang="en-US" dirty="0">
                <a:sym typeface="Wingdings" panose="05000000000000000000" pitchFamily="2" charset="2"/>
              </a:rPr>
              <a:t>   </a:t>
            </a:r>
            <a:endParaRPr lang="en-US" dirty="0"/>
          </a:p>
          <a:p>
            <a:pPr lvl="1"/>
            <a:endParaRPr lang="en-US" dirty="0"/>
          </a:p>
          <a:p>
            <a:pPr lvl="1"/>
            <a:endParaRPr lang="en-US" dirty="0"/>
          </a:p>
          <a:p>
            <a:pPr lvl="1"/>
            <a:endParaRPr lang="en-US" dirty="0"/>
          </a:p>
          <a:p>
            <a:pPr lvl="1"/>
            <a:endParaRPr lang="en-US" dirty="0"/>
          </a:p>
          <a:p>
            <a:pPr lvl="1"/>
            <a:endParaRPr lang="en-US" dirty="0"/>
          </a:p>
        </p:txBody>
      </p:sp>
      <p:pic>
        <p:nvPicPr>
          <p:cNvPr id="4" name="Picture 3">
            <a:extLst>
              <a:ext uri="{FF2B5EF4-FFF2-40B4-BE49-F238E27FC236}">
                <a16:creationId xmlns:a16="http://schemas.microsoft.com/office/drawing/2014/main" id="{80CCA1CC-BD7C-4932-8325-F82067986464}"/>
              </a:ext>
            </a:extLst>
          </p:cNvPr>
          <p:cNvPicPr>
            <a:picLocks noChangeAspect="1"/>
          </p:cNvPicPr>
          <p:nvPr/>
        </p:nvPicPr>
        <p:blipFill>
          <a:blip r:embed="rId2"/>
          <a:stretch>
            <a:fillRect/>
          </a:stretch>
        </p:blipFill>
        <p:spPr>
          <a:xfrm>
            <a:off x="2513773" y="3820842"/>
            <a:ext cx="2229130" cy="1401291"/>
          </a:xfrm>
          <a:prstGeom prst="rect">
            <a:avLst/>
          </a:prstGeom>
        </p:spPr>
      </p:pic>
      <p:pic>
        <p:nvPicPr>
          <p:cNvPr id="7" name="Picture 6">
            <a:extLst>
              <a:ext uri="{FF2B5EF4-FFF2-40B4-BE49-F238E27FC236}">
                <a16:creationId xmlns:a16="http://schemas.microsoft.com/office/drawing/2014/main" id="{0DF52C61-617E-4528-B0C7-74B5DE2C5E96}"/>
              </a:ext>
            </a:extLst>
          </p:cNvPr>
          <p:cNvPicPr>
            <a:picLocks noChangeAspect="1"/>
          </p:cNvPicPr>
          <p:nvPr/>
        </p:nvPicPr>
        <p:blipFill>
          <a:blip r:embed="rId3"/>
          <a:stretch>
            <a:fillRect/>
          </a:stretch>
        </p:blipFill>
        <p:spPr>
          <a:xfrm>
            <a:off x="5958540" y="2208884"/>
            <a:ext cx="4475324" cy="4398103"/>
          </a:xfrm>
          <a:prstGeom prst="rect">
            <a:avLst/>
          </a:prstGeom>
        </p:spPr>
      </p:pic>
      <p:sp>
        <p:nvSpPr>
          <p:cNvPr id="8" name="Rectangle 7">
            <a:extLst>
              <a:ext uri="{FF2B5EF4-FFF2-40B4-BE49-F238E27FC236}">
                <a16:creationId xmlns:a16="http://schemas.microsoft.com/office/drawing/2014/main" id="{86098B68-7952-4D4B-8007-AEEC94AE12E5}"/>
              </a:ext>
            </a:extLst>
          </p:cNvPr>
          <p:cNvSpPr/>
          <p:nvPr/>
        </p:nvSpPr>
        <p:spPr>
          <a:xfrm>
            <a:off x="1064865" y="2665620"/>
            <a:ext cx="3998259" cy="923330"/>
          </a:xfrm>
          <a:prstGeom prst="rect">
            <a:avLst/>
          </a:prstGeom>
        </p:spPr>
        <p:txBody>
          <a:bodyPr wrap="square">
            <a:spAutoFit/>
          </a:bodyPr>
          <a:lstStyle/>
          <a:p>
            <a:pPr lvl="1"/>
            <a:r>
              <a:rPr lang="en-US" dirty="0"/>
              <a:t>Then what? Round the optimum solution of the linear relaxation?</a:t>
            </a:r>
          </a:p>
          <a:p>
            <a:pPr lvl="1"/>
            <a:endParaRPr lang="en-US" dirty="0"/>
          </a:p>
        </p:txBody>
      </p:sp>
    </p:spTree>
    <p:extLst>
      <p:ext uri="{BB962C8B-B14F-4D97-AF65-F5344CB8AC3E}">
        <p14:creationId xmlns:p14="http://schemas.microsoft.com/office/powerpoint/2010/main" val="35873732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Concepts</a:t>
            </a:r>
          </a:p>
        </p:txBody>
      </p:sp>
      <p:sp>
        <p:nvSpPr>
          <p:cNvPr id="3" name="Content Placeholder 2"/>
          <p:cNvSpPr>
            <a:spLocks noGrp="1"/>
          </p:cNvSpPr>
          <p:nvPr>
            <p:ph idx="1"/>
          </p:nvPr>
        </p:nvSpPr>
        <p:spPr/>
        <p:txBody>
          <a:bodyPr/>
          <a:lstStyle/>
          <a:p>
            <a:r>
              <a:rPr lang="en-US" b="1" dirty="0">
                <a:solidFill>
                  <a:srgbClr val="C00000"/>
                </a:solidFill>
              </a:rPr>
              <a:t>Linear Relaxation: </a:t>
            </a:r>
            <a:r>
              <a:rPr lang="en-US" dirty="0"/>
              <a:t>Easy to solve!</a:t>
            </a:r>
          </a:p>
          <a:p>
            <a:pPr lvl="1"/>
            <a:r>
              <a:rPr lang="en-US" dirty="0"/>
              <a:t>But the optimum solution of the linear relaxation is not necessarily going to be an integer</a:t>
            </a:r>
            <a:r>
              <a:rPr lang="en-US" dirty="0">
                <a:sym typeface="Wingdings" panose="05000000000000000000" pitchFamily="2" charset="2"/>
              </a:rPr>
              <a:t>   </a:t>
            </a:r>
            <a:endParaRPr lang="en-US" dirty="0"/>
          </a:p>
          <a:p>
            <a:pPr lvl="1"/>
            <a:endParaRPr lang="en-US" dirty="0"/>
          </a:p>
          <a:p>
            <a:pPr lvl="1"/>
            <a:endParaRPr lang="en-US" dirty="0"/>
          </a:p>
          <a:p>
            <a:pPr lvl="1"/>
            <a:endParaRPr lang="en-US" dirty="0"/>
          </a:p>
          <a:p>
            <a:pPr lvl="1"/>
            <a:endParaRPr lang="en-US" dirty="0"/>
          </a:p>
          <a:p>
            <a:pPr lvl="1"/>
            <a:endParaRPr lang="en-US" dirty="0"/>
          </a:p>
        </p:txBody>
      </p:sp>
      <p:sp>
        <p:nvSpPr>
          <p:cNvPr id="8" name="Rectangle 7">
            <a:extLst>
              <a:ext uri="{FF2B5EF4-FFF2-40B4-BE49-F238E27FC236}">
                <a16:creationId xmlns:a16="http://schemas.microsoft.com/office/drawing/2014/main" id="{86098B68-7952-4D4B-8007-AEEC94AE12E5}"/>
              </a:ext>
            </a:extLst>
          </p:cNvPr>
          <p:cNvSpPr/>
          <p:nvPr/>
        </p:nvSpPr>
        <p:spPr>
          <a:xfrm>
            <a:off x="1064865" y="2665620"/>
            <a:ext cx="3998259" cy="923330"/>
          </a:xfrm>
          <a:prstGeom prst="rect">
            <a:avLst/>
          </a:prstGeom>
        </p:spPr>
        <p:txBody>
          <a:bodyPr wrap="square">
            <a:spAutoFit/>
          </a:bodyPr>
          <a:lstStyle/>
          <a:p>
            <a:pPr lvl="1"/>
            <a:r>
              <a:rPr lang="en-US" dirty="0"/>
              <a:t>Then what? Round the optimum solution of the linear relaxation?</a:t>
            </a:r>
          </a:p>
          <a:p>
            <a:pPr lvl="1"/>
            <a:endParaRPr lang="en-US" dirty="0"/>
          </a:p>
        </p:txBody>
      </p:sp>
      <p:pic>
        <p:nvPicPr>
          <p:cNvPr id="5" name="Picture 4">
            <a:extLst>
              <a:ext uri="{FF2B5EF4-FFF2-40B4-BE49-F238E27FC236}">
                <a16:creationId xmlns:a16="http://schemas.microsoft.com/office/drawing/2014/main" id="{368A80C0-55B5-471F-ACD3-8144EF219E64}"/>
              </a:ext>
            </a:extLst>
          </p:cNvPr>
          <p:cNvPicPr>
            <a:picLocks noChangeAspect="1"/>
          </p:cNvPicPr>
          <p:nvPr/>
        </p:nvPicPr>
        <p:blipFill>
          <a:blip r:embed="rId2"/>
          <a:stretch>
            <a:fillRect/>
          </a:stretch>
        </p:blipFill>
        <p:spPr>
          <a:xfrm>
            <a:off x="1948329" y="3814678"/>
            <a:ext cx="2735075" cy="1661449"/>
          </a:xfrm>
          <a:prstGeom prst="rect">
            <a:avLst/>
          </a:prstGeom>
        </p:spPr>
      </p:pic>
      <p:pic>
        <p:nvPicPr>
          <p:cNvPr id="6" name="Picture 5">
            <a:extLst>
              <a:ext uri="{FF2B5EF4-FFF2-40B4-BE49-F238E27FC236}">
                <a16:creationId xmlns:a16="http://schemas.microsoft.com/office/drawing/2014/main" id="{CC6A0720-52D2-4E15-94E0-EC120A2E10B8}"/>
              </a:ext>
            </a:extLst>
          </p:cNvPr>
          <p:cNvPicPr>
            <a:picLocks noChangeAspect="1"/>
          </p:cNvPicPr>
          <p:nvPr/>
        </p:nvPicPr>
        <p:blipFill>
          <a:blip r:embed="rId3"/>
          <a:stretch>
            <a:fillRect/>
          </a:stretch>
        </p:blipFill>
        <p:spPr>
          <a:xfrm>
            <a:off x="5793396" y="2271057"/>
            <a:ext cx="3810792" cy="4219203"/>
          </a:xfrm>
          <a:prstGeom prst="rect">
            <a:avLst/>
          </a:prstGeom>
        </p:spPr>
      </p:pic>
    </p:spTree>
    <p:extLst>
      <p:ext uri="{BB962C8B-B14F-4D97-AF65-F5344CB8AC3E}">
        <p14:creationId xmlns:p14="http://schemas.microsoft.com/office/powerpoint/2010/main" val="36657965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Concepts</a:t>
            </a:r>
          </a:p>
        </p:txBody>
      </p:sp>
      <p:sp>
        <p:nvSpPr>
          <p:cNvPr id="3" name="Content Placeholder 2"/>
          <p:cNvSpPr>
            <a:spLocks noGrp="1"/>
          </p:cNvSpPr>
          <p:nvPr>
            <p:ph idx="1"/>
          </p:nvPr>
        </p:nvSpPr>
        <p:spPr/>
        <p:txBody>
          <a:bodyPr/>
          <a:lstStyle/>
          <a:p>
            <a:r>
              <a:rPr lang="en-US" dirty="0"/>
              <a:t>There are solution methods that utilize linear relaxation’s solution in a systematic way!</a:t>
            </a:r>
          </a:p>
          <a:p>
            <a:pPr lvl="1"/>
            <a:r>
              <a:rPr lang="en-US" dirty="0"/>
              <a:t>The relations between integer programming model (IP) and its linear relaxation (LRP)</a:t>
            </a:r>
          </a:p>
          <a:p>
            <a:pPr lvl="2"/>
            <a:r>
              <a:rPr lang="en-US" dirty="0"/>
              <a:t>If the objective is minimization</a:t>
            </a:r>
          </a:p>
          <a:p>
            <a:pPr lvl="3"/>
            <a:r>
              <a:rPr lang="en-US" dirty="0"/>
              <a:t>The optimal objective function value of IP is greater than or equal to the optimal objective function value of LRP</a:t>
            </a:r>
          </a:p>
          <a:p>
            <a:pPr lvl="2"/>
            <a:r>
              <a:rPr lang="en-US" dirty="0"/>
              <a:t>If the objective is maximization</a:t>
            </a:r>
          </a:p>
          <a:p>
            <a:pPr lvl="3"/>
            <a:r>
              <a:rPr lang="en-US" dirty="0"/>
              <a:t>The optimal objective function value of IP is smaller than or equal to the optimal objective function value of LRP</a:t>
            </a:r>
          </a:p>
          <a:p>
            <a:pPr lvl="1"/>
            <a:r>
              <a:rPr lang="en-US" dirty="0"/>
              <a:t>That is, the optimum solution of the linear relaxation model is better or the same compared to the optimum solution of the integer model</a:t>
            </a:r>
          </a:p>
          <a:p>
            <a:endParaRPr lang="en-US" dirty="0"/>
          </a:p>
          <a:p>
            <a:pPr lvl="1"/>
            <a:endParaRPr 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1404332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and Bound</a:t>
            </a:r>
          </a:p>
        </p:txBody>
      </p:sp>
      <p:sp>
        <p:nvSpPr>
          <p:cNvPr id="3" name="Content Placeholder 2"/>
          <p:cNvSpPr>
            <a:spLocks noGrp="1"/>
          </p:cNvSpPr>
          <p:nvPr>
            <p:ph idx="1"/>
          </p:nvPr>
        </p:nvSpPr>
        <p:spPr/>
        <p:txBody>
          <a:bodyPr>
            <a:normAutofit/>
          </a:bodyPr>
          <a:lstStyle/>
          <a:p>
            <a:r>
              <a:rPr lang="en-US" dirty="0"/>
              <a:t>Any pure integer model has finite number of solutions</a:t>
            </a:r>
          </a:p>
          <a:p>
            <a:pPr lvl="1"/>
            <a:r>
              <a:rPr lang="en-US" dirty="0"/>
              <a:t>But enumerating all of them computational hard</a:t>
            </a:r>
          </a:p>
          <a:p>
            <a:pPr lvl="1"/>
            <a:r>
              <a:rPr lang="en-US" dirty="0"/>
              <a:t>There will be exponentially many solutions </a:t>
            </a:r>
          </a:p>
          <a:p>
            <a:r>
              <a:rPr lang="en-US" dirty="0"/>
              <a:t>The idea of the branch and bound method is to use linear relaxations!!</a:t>
            </a:r>
          </a:p>
          <a:p>
            <a:pPr lvl="1"/>
            <a:r>
              <a:rPr lang="en-US" b="1" dirty="0">
                <a:solidFill>
                  <a:srgbClr val="FF0000"/>
                </a:solidFill>
              </a:rPr>
              <a:t>Observation: </a:t>
            </a:r>
            <a:r>
              <a:rPr lang="en-US" dirty="0"/>
              <a:t>If the optimal solution of the LRP of an IP is integer, then it is also optimal for the IP</a:t>
            </a:r>
          </a:p>
          <a:p>
            <a:pPr lvl="2"/>
            <a:r>
              <a:rPr lang="en-US" sz="1800" dirty="0"/>
              <a:t>Because there cannot be a solution that will be better for the IP since LRP solution is better or the same!</a:t>
            </a:r>
          </a:p>
          <a:p>
            <a:pPr lvl="1"/>
            <a:r>
              <a:rPr lang="en-US" dirty="0"/>
              <a:t>If the optimal solution of the LRP of an IP is not integer, that solution is not feasible to IP, hence, we can disregard that solution from LRP and solve LRP again!</a:t>
            </a:r>
          </a:p>
          <a:p>
            <a:pPr lvl="2"/>
            <a:r>
              <a:rPr lang="en-US" sz="2400" dirty="0"/>
              <a:t>How to avoid that solution?</a:t>
            </a:r>
          </a:p>
          <a:p>
            <a:pPr lvl="3"/>
            <a:r>
              <a:rPr lang="en-US" sz="2000" dirty="0"/>
              <a:t>Branching</a:t>
            </a:r>
          </a:p>
        </p:txBody>
      </p:sp>
    </p:spTree>
    <p:extLst>
      <p:ext uri="{BB962C8B-B14F-4D97-AF65-F5344CB8AC3E}">
        <p14:creationId xmlns:p14="http://schemas.microsoft.com/office/powerpoint/2010/main" val="285363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and Bound</a:t>
            </a:r>
          </a:p>
        </p:txBody>
      </p:sp>
      <p:sp>
        <p:nvSpPr>
          <p:cNvPr id="3" name="Content Placeholder 2"/>
          <p:cNvSpPr>
            <a:spLocks noGrp="1"/>
          </p:cNvSpPr>
          <p:nvPr>
            <p:ph idx="1"/>
          </p:nvPr>
        </p:nvSpPr>
        <p:spPr/>
        <p:txBody>
          <a:bodyPr/>
          <a:lstStyle/>
          <a:p>
            <a:r>
              <a:rPr lang="en-US" sz="2400" dirty="0"/>
              <a:t>Consider an IP with decision variables xi</a:t>
            </a:r>
          </a:p>
          <a:p>
            <a:endParaRPr lang="en-US" dirty="0"/>
          </a:p>
          <a:p>
            <a:endParaRPr lang="en-US" dirty="0"/>
          </a:p>
          <a:p>
            <a:endParaRPr lang="en-US" dirty="0"/>
          </a:p>
          <a:p>
            <a:endParaRPr lang="en-US" dirty="0"/>
          </a:p>
          <a:p>
            <a:endParaRPr lang="en-US" dirty="0"/>
          </a:p>
          <a:p>
            <a:pPr marL="0" indent="0">
              <a:buNone/>
            </a:pPr>
            <a:endParaRPr lang="en-US" sz="2400" dirty="0"/>
          </a:p>
          <a:p>
            <a:endParaRPr lang="en-US" sz="2400" dirty="0"/>
          </a:p>
          <a:p>
            <a:r>
              <a:rPr lang="en-US" sz="2400" dirty="0"/>
              <a:t>Optimum solution to IP-0 is the best one of the optimum solutions to IP-1 and IP-2</a:t>
            </a:r>
          </a:p>
          <a:p>
            <a:pPr lvl="1"/>
            <a:r>
              <a:rPr lang="en-US" sz="2000" dirty="0"/>
              <a:t>So, we will solve IP-1 and IP-2</a:t>
            </a:r>
          </a:p>
        </p:txBody>
      </p:sp>
      <p:sp>
        <p:nvSpPr>
          <p:cNvPr id="5" name="Rectangle 4"/>
          <p:cNvSpPr/>
          <p:nvPr/>
        </p:nvSpPr>
        <p:spPr bwMode="auto">
          <a:xfrm>
            <a:off x="1863233" y="1896035"/>
            <a:ext cx="2209800" cy="121920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Max </a:t>
            </a:r>
            <a:r>
              <a:rPr lang="en-US" b="1" dirty="0"/>
              <a:t>cx</a:t>
            </a:r>
          </a:p>
          <a:p>
            <a:pPr eaLnBrk="0" fontAlgn="base" hangingPunct="0">
              <a:spcBef>
                <a:spcPct val="0"/>
              </a:spcBef>
              <a:spcAft>
                <a:spcPct val="0"/>
              </a:spcAft>
            </a:pPr>
            <a:r>
              <a:rPr lang="en-US" sz="2400" dirty="0" err="1">
                <a:latin typeface="Arial" charset="0"/>
                <a:ea typeface="ＭＳ Ｐゴシック" pitchFamily="16" charset="-128"/>
              </a:rPr>
              <a:t>s.t.</a:t>
            </a:r>
            <a:r>
              <a:rPr lang="en-US" sz="2400" dirty="0">
                <a:latin typeface="Arial" charset="0"/>
                <a:ea typeface="ＭＳ Ｐゴシック" pitchFamily="16" charset="-128"/>
              </a:rPr>
              <a:t>   </a:t>
            </a:r>
            <a:r>
              <a:rPr lang="en-US" b="1" dirty="0"/>
              <a:t>Ax</a:t>
            </a:r>
            <a:r>
              <a:rPr lang="en-US" dirty="0"/>
              <a:t>&lt;=</a:t>
            </a:r>
            <a:r>
              <a:rPr lang="en-US" b="1" dirty="0"/>
              <a:t>b</a:t>
            </a:r>
          </a:p>
          <a:p>
            <a:pPr eaLnBrk="0" fontAlgn="base" hangingPunct="0">
              <a:spcBef>
                <a:spcPct val="0"/>
              </a:spcBef>
              <a:spcAft>
                <a:spcPct val="0"/>
              </a:spcAft>
            </a:pPr>
            <a:r>
              <a:rPr lang="en-US" dirty="0"/>
              <a:t>         </a:t>
            </a:r>
            <a:r>
              <a:rPr lang="en-US" b="1" dirty="0"/>
              <a:t>x</a:t>
            </a:r>
            <a:r>
              <a:rPr lang="en-US" dirty="0"/>
              <a:t> integer</a:t>
            </a:r>
            <a:endParaRPr lang="en-US" sz="2400" dirty="0">
              <a:latin typeface="Arial" charset="0"/>
              <a:ea typeface="ＭＳ Ｐゴシック" pitchFamily="16" charset="-128"/>
            </a:endParaRPr>
          </a:p>
        </p:txBody>
      </p:sp>
      <p:sp>
        <p:nvSpPr>
          <p:cNvPr id="6" name="TextBox 5"/>
          <p:cNvSpPr txBox="1"/>
          <p:nvPr/>
        </p:nvSpPr>
        <p:spPr>
          <a:xfrm>
            <a:off x="4312024" y="1896036"/>
            <a:ext cx="4419600" cy="646331"/>
          </a:xfrm>
          <a:prstGeom prst="rect">
            <a:avLst/>
          </a:prstGeom>
          <a:noFill/>
        </p:spPr>
        <p:txBody>
          <a:bodyPr wrap="square" rtlCol="0">
            <a:spAutoFit/>
          </a:bodyPr>
          <a:lstStyle/>
          <a:p>
            <a:r>
              <a:rPr lang="en-US" i="1" dirty="0"/>
              <a:t>Solve its LRP (LRP-0) and say </a:t>
            </a:r>
            <a:r>
              <a:rPr lang="en-US" i="1" dirty="0" err="1"/>
              <a:t>xj</a:t>
            </a:r>
            <a:r>
              <a:rPr lang="en-US" i="1" dirty="0"/>
              <a:t>=3.5 for variable j in the optimal solution of the LRP-0</a:t>
            </a:r>
          </a:p>
        </p:txBody>
      </p:sp>
      <p:sp>
        <p:nvSpPr>
          <p:cNvPr id="7" name="Rectangle 6"/>
          <p:cNvSpPr/>
          <p:nvPr/>
        </p:nvSpPr>
        <p:spPr bwMode="auto">
          <a:xfrm>
            <a:off x="1863233" y="3430105"/>
            <a:ext cx="2209800" cy="160020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Max </a:t>
            </a:r>
            <a:r>
              <a:rPr lang="en-US" b="1" dirty="0"/>
              <a:t>cx</a:t>
            </a:r>
          </a:p>
          <a:p>
            <a:pPr eaLnBrk="0" fontAlgn="base" hangingPunct="0">
              <a:spcBef>
                <a:spcPct val="0"/>
              </a:spcBef>
              <a:spcAft>
                <a:spcPct val="0"/>
              </a:spcAft>
            </a:pPr>
            <a:r>
              <a:rPr lang="en-US" sz="2400" dirty="0" err="1">
                <a:latin typeface="Arial" charset="0"/>
                <a:ea typeface="ＭＳ Ｐゴシック" pitchFamily="16" charset="-128"/>
              </a:rPr>
              <a:t>s.t.</a:t>
            </a:r>
            <a:r>
              <a:rPr lang="en-US" sz="2400" dirty="0">
                <a:latin typeface="Arial" charset="0"/>
                <a:ea typeface="ＭＳ Ｐゴシック" pitchFamily="16" charset="-128"/>
              </a:rPr>
              <a:t>   </a:t>
            </a:r>
            <a:r>
              <a:rPr lang="en-US" b="1" dirty="0"/>
              <a:t>Ax</a:t>
            </a:r>
            <a:r>
              <a:rPr lang="en-US" dirty="0"/>
              <a:t>&lt;=</a:t>
            </a:r>
            <a:r>
              <a:rPr lang="en-US" b="1" dirty="0"/>
              <a:t>b</a:t>
            </a:r>
          </a:p>
          <a:p>
            <a:pPr eaLnBrk="0" fontAlgn="base" hangingPunct="0">
              <a:spcBef>
                <a:spcPct val="0"/>
              </a:spcBef>
              <a:spcAft>
                <a:spcPct val="0"/>
              </a:spcAft>
            </a:pPr>
            <a:r>
              <a:rPr lang="en-US" dirty="0"/>
              <a:t>        </a:t>
            </a:r>
            <a:r>
              <a:rPr lang="en-US" dirty="0" err="1"/>
              <a:t>xj</a:t>
            </a:r>
            <a:r>
              <a:rPr lang="en-US" dirty="0"/>
              <a:t>&lt;=3</a:t>
            </a:r>
          </a:p>
          <a:p>
            <a:pPr eaLnBrk="0" fontAlgn="base" hangingPunct="0">
              <a:spcBef>
                <a:spcPct val="0"/>
              </a:spcBef>
              <a:spcAft>
                <a:spcPct val="0"/>
              </a:spcAft>
            </a:pPr>
            <a:r>
              <a:rPr lang="en-US" dirty="0"/>
              <a:t>         </a:t>
            </a:r>
            <a:r>
              <a:rPr lang="en-US" b="1" dirty="0"/>
              <a:t>x</a:t>
            </a:r>
            <a:r>
              <a:rPr lang="en-US" dirty="0"/>
              <a:t> integer</a:t>
            </a:r>
            <a:endParaRPr lang="en-US" sz="2400" dirty="0">
              <a:latin typeface="Arial" charset="0"/>
              <a:ea typeface="ＭＳ Ｐゴシック" pitchFamily="16" charset="-128"/>
            </a:endParaRPr>
          </a:p>
        </p:txBody>
      </p:sp>
      <p:sp>
        <p:nvSpPr>
          <p:cNvPr id="8" name="Rectangle 7"/>
          <p:cNvSpPr/>
          <p:nvPr/>
        </p:nvSpPr>
        <p:spPr bwMode="auto">
          <a:xfrm>
            <a:off x="5150224" y="3351217"/>
            <a:ext cx="2209800" cy="156210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Max </a:t>
            </a:r>
            <a:r>
              <a:rPr lang="en-US" b="1" dirty="0"/>
              <a:t>cx</a:t>
            </a:r>
          </a:p>
          <a:p>
            <a:pPr eaLnBrk="0" fontAlgn="base" hangingPunct="0">
              <a:spcBef>
                <a:spcPct val="0"/>
              </a:spcBef>
              <a:spcAft>
                <a:spcPct val="0"/>
              </a:spcAft>
            </a:pPr>
            <a:r>
              <a:rPr lang="en-US" sz="2400" dirty="0" err="1">
                <a:latin typeface="Arial" charset="0"/>
                <a:ea typeface="ＭＳ Ｐゴシック" pitchFamily="16" charset="-128"/>
              </a:rPr>
              <a:t>s.t.</a:t>
            </a:r>
            <a:r>
              <a:rPr lang="en-US" sz="2400" dirty="0">
                <a:latin typeface="Arial" charset="0"/>
                <a:ea typeface="ＭＳ Ｐゴシック" pitchFamily="16" charset="-128"/>
              </a:rPr>
              <a:t>   </a:t>
            </a:r>
            <a:r>
              <a:rPr lang="en-US" b="1" dirty="0"/>
              <a:t>Ax</a:t>
            </a:r>
            <a:r>
              <a:rPr lang="en-US" dirty="0"/>
              <a:t>&lt;=</a:t>
            </a:r>
            <a:r>
              <a:rPr lang="en-US" b="1" dirty="0"/>
              <a:t>b</a:t>
            </a:r>
          </a:p>
          <a:p>
            <a:pPr eaLnBrk="0" fontAlgn="base" hangingPunct="0">
              <a:spcBef>
                <a:spcPct val="0"/>
              </a:spcBef>
              <a:spcAft>
                <a:spcPct val="0"/>
              </a:spcAft>
            </a:pPr>
            <a:r>
              <a:rPr lang="en-US" dirty="0"/>
              <a:t>         </a:t>
            </a:r>
            <a:r>
              <a:rPr lang="en-US" dirty="0" err="1"/>
              <a:t>xj</a:t>
            </a:r>
            <a:r>
              <a:rPr lang="en-US" dirty="0"/>
              <a:t>&gt;=4</a:t>
            </a:r>
          </a:p>
          <a:p>
            <a:pPr eaLnBrk="0" fontAlgn="base" hangingPunct="0">
              <a:spcBef>
                <a:spcPct val="0"/>
              </a:spcBef>
              <a:spcAft>
                <a:spcPct val="0"/>
              </a:spcAft>
            </a:pPr>
            <a:r>
              <a:rPr lang="en-US" dirty="0"/>
              <a:t>         </a:t>
            </a:r>
            <a:r>
              <a:rPr lang="en-US" b="1" dirty="0"/>
              <a:t>x</a:t>
            </a:r>
            <a:r>
              <a:rPr lang="en-US" dirty="0"/>
              <a:t> integer</a:t>
            </a:r>
            <a:endParaRPr lang="en-US" sz="2400" dirty="0">
              <a:latin typeface="Arial" charset="0"/>
              <a:ea typeface="ＭＳ Ｐゴシック" pitchFamily="16" charset="-128"/>
            </a:endParaRPr>
          </a:p>
        </p:txBody>
      </p:sp>
      <p:sp>
        <p:nvSpPr>
          <p:cNvPr id="9" name="TextBox 8"/>
          <p:cNvSpPr txBox="1"/>
          <p:nvPr/>
        </p:nvSpPr>
        <p:spPr>
          <a:xfrm>
            <a:off x="1187824" y="2277035"/>
            <a:ext cx="1066800" cy="369332"/>
          </a:xfrm>
          <a:prstGeom prst="rect">
            <a:avLst/>
          </a:prstGeom>
          <a:noFill/>
        </p:spPr>
        <p:txBody>
          <a:bodyPr wrap="square" rtlCol="0">
            <a:spAutoFit/>
          </a:bodyPr>
          <a:lstStyle/>
          <a:p>
            <a:r>
              <a:rPr lang="en-US" dirty="0">
                <a:solidFill>
                  <a:srgbClr val="FF0000"/>
                </a:solidFill>
              </a:rPr>
              <a:t>IP-0</a:t>
            </a:r>
          </a:p>
        </p:txBody>
      </p:sp>
      <p:sp>
        <p:nvSpPr>
          <p:cNvPr id="10" name="TextBox 9"/>
          <p:cNvSpPr txBox="1"/>
          <p:nvPr/>
        </p:nvSpPr>
        <p:spPr>
          <a:xfrm>
            <a:off x="1187824" y="3798802"/>
            <a:ext cx="1066800" cy="369332"/>
          </a:xfrm>
          <a:prstGeom prst="rect">
            <a:avLst/>
          </a:prstGeom>
          <a:noFill/>
        </p:spPr>
        <p:txBody>
          <a:bodyPr wrap="square" rtlCol="0">
            <a:spAutoFit/>
          </a:bodyPr>
          <a:lstStyle/>
          <a:p>
            <a:r>
              <a:rPr lang="en-US" dirty="0">
                <a:solidFill>
                  <a:srgbClr val="FF0000"/>
                </a:solidFill>
              </a:rPr>
              <a:t>IP-1</a:t>
            </a:r>
          </a:p>
        </p:txBody>
      </p:sp>
      <p:sp>
        <p:nvSpPr>
          <p:cNvPr id="11" name="TextBox 10"/>
          <p:cNvSpPr txBox="1"/>
          <p:nvPr/>
        </p:nvSpPr>
        <p:spPr>
          <a:xfrm>
            <a:off x="4325878" y="3794972"/>
            <a:ext cx="1066800" cy="369332"/>
          </a:xfrm>
          <a:prstGeom prst="rect">
            <a:avLst/>
          </a:prstGeom>
          <a:noFill/>
        </p:spPr>
        <p:txBody>
          <a:bodyPr wrap="square" rtlCol="0">
            <a:spAutoFit/>
          </a:bodyPr>
          <a:lstStyle/>
          <a:p>
            <a:r>
              <a:rPr lang="en-US" dirty="0">
                <a:solidFill>
                  <a:srgbClr val="FF0000"/>
                </a:solidFill>
              </a:rPr>
              <a:t>IP-2</a:t>
            </a:r>
          </a:p>
        </p:txBody>
      </p:sp>
      <p:cxnSp>
        <p:nvCxnSpPr>
          <p:cNvPr id="13" name="Straight Arrow Connector 12"/>
          <p:cNvCxnSpPr>
            <a:stCxn id="5" idx="2"/>
          </p:cNvCxnSpPr>
          <p:nvPr/>
        </p:nvCxnSpPr>
        <p:spPr bwMode="auto">
          <a:xfrm>
            <a:off x="2968133" y="3115235"/>
            <a:ext cx="0" cy="23598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p:cNvCxnSpPr>
            <a:stCxn id="5" idx="2"/>
          </p:cNvCxnSpPr>
          <p:nvPr/>
        </p:nvCxnSpPr>
        <p:spPr bwMode="auto">
          <a:xfrm>
            <a:off x="2968134" y="3115235"/>
            <a:ext cx="2182091" cy="3810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7371847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and Bound</a:t>
            </a:r>
          </a:p>
        </p:txBody>
      </p:sp>
      <p:sp>
        <p:nvSpPr>
          <p:cNvPr id="3" name="Content Placeholder 2"/>
          <p:cNvSpPr>
            <a:spLocks noGrp="1"/>
          </p:cNvSpPr>
          <p:nvPr>
            <p:ph idx="1"/>
          </p:nvPr>
        </p:nvSpPr>
        <p:spPr/>
        <p:txBody>
          <a:bodyPr/>
          <a:lstStyle/>
          <a:p>
            <a:r>
              <a:rPr lang="en-US" sz="2400" dirty="0"/>
              <a:t>But IP-1 and IP-2 are also integer models!</a:t>
            </a:r>
          </a:p>
          <a:p>
            <a:pPr lvl="1"/>
            <a:r>
              <a:rPr lang="en-US" sz="2000" dirty="0"/>
              <a:t>So, we will solve their linear relaxations as well</a:t>
            </a:r>
          </a:p>
        </p:txBody>
      </p:sp>
      <p:sp>
        <p:nvSpPr>
          <p:cNvPr id="5" name="Rectangle 4"/>
          <p:cNvSpPr/>
          <p:nvPr/>
        </p:nvSpPr>
        <p:spPr bwMode="auto">
          <a:xfrm>
            <a:off x="1906494" y="2479573"/>
            <a:ext cx="2209800" cy="160020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Max </a:t>
            </a:r>
            <a:r>
              <a:rPr lang="en-US" b="1" dirty="0"/>
              <a:t>cx</a:t>
            </a:r>
          </a:p>
          <a:p>
            <a:pPr eaLnBrk="0" fontAlgn="base" hangingPunct="0">
              <a:spcBef>
                <a:spcPct val="0"/>
              </a:spcBef>
              <a:spcAft>
                <a:spcPct val="0"/>
              </a:spcAft>
            </a:pPr>
            <a:r>
              <a:rPr lang="en-US" sz="2400" dirty="0" err="1">
                <a:latin typeface="Arial" charset="0"/>
                <a:ea typeface="ＭＳ Ｐゴシック" pitchFamily="16" charset="-128"/>
              </a:rPr>
              <a:t>s.t.</a:t>
            </a:r>
            <a:r>
              <a:rPr lang="en-US" sz="2400" dirty="0">
                <a:latin typeface="Arial" charset="0"/>
                <a:ea typeface="ＭＳ Ｐゴシック" pitchFamily="16" charset="-128"/>
              </a:rPr>
              <a:t>   </a:t>
            </a:r>
            <a:r>
              <a:rPr lang="en-US" b="1" dirty="0"/>
              <a:t>Ax</a:t>
            </a:r>
            <a:r>
              <a:rPr lang="en-US" dirty="0"/>
              <a:t>&lt;=</a:t>
            </a:r>
            <a:r>
              <a:rPr lang="en-US" b="1" dirty="0"/>
              <a:t>b</a:t>
            </a:r>
          </a:p>
          <a:p>
            <a:pPr eaLnBrk="0" fontAlgn="base" hangingPunct="0">
              <a:spcBef>
                <a:spcPct val="0"/>
              </a:spcBef>
              <a:spcAft>
                <a:spcPct val="0"/>
              </a:spcAft>
            </a:pPr>
            <a:r>
              <a:rPr lang="en-US" dirty="0"/>
              <a:t>        </a:t>
            </a:r>
            <a:r>
              <a:rPr lang="en-US" dirty="0" err="1"/>
              <a:t>xj</a:t>
            </a:r>
            <a:r>
              <a:rPr lang="en-US" dirty="0"/>
              <a:t>&lt;=3</a:t>
            </a:r>
          </a:p>
          <a:p>
            <a:pPr eaLnBrk="0" fontAlgn="base" hangingPunct="0">
              <a:spcBef>
                <a:spcPct val="0"/>
              </a:spcBef>
              <a:spcAft>
                <a:spcPct val="0"/>
              </a:spcAft>
            </a:pPr>
            <a:r>
              <a:rPr lang="en-US" dirty="0"/>
              <a:t>         </a:t>
            </a:r>
            <a:r>
              <a:rPr lang="en-US" b="1" dirty="0"/>
              <a:t>x</a:t>
            </a:r>
            <a:r>
              <a:rPr lang="en-US" dirty="0"/>
              <a:t> integer</a:t>
            </a:r>
            <a:endParaRPr lang="en-US" sz="2400" dirty="0">
              <a:latin typeface="Arial" charset="0"/>
              <a:ea typeface="ＭＳ Ｐゴシック" pitchFamily="16" charset="-128"/>
            </a:endParaRPr>
          </a:p>
        </p:txBody>
      </p:sp>
      <p:sp>
        <p:nvSpPr>
          <p:cNvPr id="6" name="Rectangle 5"/>
          <p:cNvSpPr/>
          <p:nvPr/>
        </p:nvSpPr>
        <p:spPr bwMode="auto">
          <a:xfrm>
            <a:off x="6602319" y="2517673"/>
            <a:ext cx="2209800" cy="156210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Max </a:t>
            </a:r>
            <a:r>
              <a:rPr lang="en-US" b="1" dirty="0"/>
              <a:t>cx</a:t>
            </a:r>
          </a:p>
          <a:p>
            <a:pPr eaLnBrk="0" fontAlgn="base" hangingPunct="0">
              <a:spcBef>
                <a:spcPct val="0"/>
              </a:spcBef>
              <a:spcAft>
                <a:spcPct val="0"/>
              </a:spcAft>
            </a:pPr>
            <a:r>
              <a:rPr lang="en-US" sz="2400" dirty="0" err="1">
                <a:latin typeface="Arial" charset="0"/>
                <a:ea typeface="ＭＳ Ｐゴシック" pitchFamily="16" charset="-128"/>
              </a:rPr>
              <a:t>s.t.</a:t>
            </a:r>
            <a:r>
              <a:rPr lang="en-US" sz="2400" dirty="0">
                <a:latin typeface="Arial" charset="0"/>
                <a:ea typeface="ＭＳ Ｐゴシック" pitchFamily="16" charset="-128"/>
              </a:rPr>
              <a:t>   </a:t>
            </a:r>
            <a:r>
              <a:rPr lang="en-US" b="1" dirty="0"/>
              <a:t>Ax</a:t>
            </a:r>
            <a:r>
              <a:rPr lang="en-US" dirty="0"/>
              <a:t>&lt;=</a:t>
            </a:r>
            <a:r>
              <a:rPr lang="en-US" b="1" dirty="0"/>
              <a:t>b</a:t>
            </a:r>
          </a:p>
          <a:p>
            <a:pPr eaLnBrk="0" fontAlgn="base" hangingPunct="0">
              <a:spcBef>
                <a:spcPct val="0"/>
              </a:spcBef>
              <a:spcAft>
                <a:spcPct val="0"/>
              </a:spcAft>
            </a:pPr>
            <a:r>
              <a:rPr lang="en-US" dirty="0"/>
              <a:t>         </a:t>
            </a:r>
            <a:r>
              <a:rPr lang="en-US" dirty="0" err="1"/>
              <a:t>xj</a:t>
            </a:r>
            <a:r>
              <a:rPr lang="en-US" dirty="0"/>
              <a:t>&gt;=4</a:t>
            </a:r>
          </a:p>
          <a:p>
            <a:pPr eaLnBrk="0" fontAlgn="base" hangingPunct="0">
              <a:spcBef>
                <a:spcPct val="0"/>
              </a:spcBef>
              <a:spcAft>
                <a:spcPct val="0"/>
              </a:spcAft>
            </a:pPr>
            <a:r>
              <a:rPr lang="en-US" dirty="0"/>
              <a:t>         </a:t>
            </a:r>
            <a:r>
              <a:rPr lang="en-US" b="1" dirty="0"/>
              <a:t>x</a:t>
            </a:r>
            <a:r>
              <a:rPr lang="en-US" dirty="0"/>
              <a:t> integer</a:t>
            </a:r>
            <a:endParaRPr lang="en-US" sz="2400" dirty="0">
              <a:latin typeface="Arial" charset="0"/>
              <a:ea typeface="ＭＳ Ｐゴシック" pitchFamily="16" charset="-128"/>
            </a:endParaRPr>
          </a:p>
        </p:txBody>
      </p:sp>
      <p:sp>
        <p:nvSpPr>
          <p:cNvPr id="7" name="TextBox 6"/>
          <p:cNvSpPr txBox="1"/>
          <p:nvPr/>
        </p:nvSpPr>
        <p:spPr>
          <a:xfrm>
            <a:off x="1134104" y="3048841"/>
            <a:ext cx="1066800" cy="369332"/>
          </a:xfrm>
          <a:prstGeom prst="rect">
            <a:avLst/>
          </a:prstGeom>
          <a:noFill/>
        </p:spPr>
        <p:txBody>
          <a:bodyPr wrap="square" rtlCol="0">
            <a:spAutoFit/>
          </a:bodyPr>
          <a:lstStyle/>
          <a:p>
            <a:r>
              <a:rPr lang="en-US" dirty="0">
                <a:solidFill>
                  <a:srgbClr val="FF0000"/>
                </a:solidFill>
              </a:rPr>
              <a:t>IP-1</a:t>
            </a:r>
          </a:p>
        </p:txBody>
      </p:sp>
      <p:sp>
        <p:nvSpPr>
          <p:cNvPr id="8" name="TextBox 7"/>
          <p:cNvSpPr txBox="1"/>
          <p:nvPr/>
        </p:nvSpPr>
        <p:spPr>
          <a:xfrm>
            <a:off x="8812119" y="2837058"/>
            <a:ext cx="1066800" cy="369332"/>
          </a:xfrm>
          <a:prstGeom prst="rect">
            <a:avLst/>
          </a:prstGeom>
          <a:noFill/>
        </p:spPr>
        <p:txBody>
          <a:bodyPr wrap="square" rtlCol="0">
            <a:spAutoFit/>
          </a:bodyPr>
          <a:lstStyle/>
          <a:p>
            <a:r>
              <a:rPr lang="en-US" dirty="0">
                <a:solidFill>
                  <a:srgbClr val="FF0000"/>
                </a:solidFill>
              </a:rPr>
              <a:t>IP-2</a:t>
            </a:r>
          </a:p>
        </p:txBody>
      </p:sp>
      <p:sp>
        <p:nvSpPr>
          <p:cNvPr id="9" name="TextBox 8"/>
          <p:cNvSpPr txBox="1"/>
          <p:nvPr/>
        </p:nvSpPr>
        <p:spPr>
          <a:xfrm>
            <a:off x="1373094" y="4079773"/>
            <a:ext cx="3276600" cy="1600438"/>
          </a:xfrm>
          <a:prstGeom prst="rect">
            <a:avLst/>
          </a:prstGeom>
          <a:noFill/>
        </p:spPr>
        <p:txBody>
          <a:bodyPr wrap="square" rtlCol="0">
            <a:spAutoFit/>
          </a:bodyPr>
          <a:lstStyle/>
          <a:p>
            <a:r>
              <a:rPr lang="en-US" sz="1400" i="1" dirty="0"/>
              <a:t>Solve its LRP (LRP-1) and suppose that the solution is integer!</a:t>
            </a:r>
          </a:p>
          <a:p>
            <a:pPr marL="285750" indent="-285750">
              <a:buFont typeface="Wingdings" panose="05000000000000000000" pitchFamily="2" charset="2"/>
              <a:buChar char="à"/>
            </a:pPr>
            <a:r>
              <a:rPr lang="en-US" sz="1400" i="1" dirty="0">
                <a:sym typeface="Wingdings" panose="05000000000000000000" pitchFamily="2" charset="2"/>
              </a:rPr>
              <a:t>So, we have the solution for IP-1</a:t>
            </a:r>
          </a:p>
          <a:p>
            <a:pPr marL="285750" indent="-285750">
              <a:buFont typeface="Wingdings" panose="05000000000000000000" pitchFamily="2" charset="2"/>
              <a:buChar char="à"/>
            </a:pPr>
            <a:r>
              <a:rPr lang="en-US" sz="1400" i="1" dirty="0">
                <a:sym typeface="Wingdings" panose="05000000000000000000" pitchFamily="2" charset="2"/>
              </a:rPr>
              <a:t>Suppose that the objective function value is 120</a:t>
            </a:r>
          </a:p>
          <a:p>
            <a:pPr marL="285750" indent="-285750">
              <a:buFont typeface="Wingdings" panose="05000000000000000000" pitchFamily="2" charset="2"/>
              <a:buChar char="à"/>
            </a:pPr>
            <a:r>
              <a:rPr lang="en-US" sz="1400" i="1" dirty="0">
                <a:sym typeface="Wingdings" panose="05000000000000000000" pitchFamily="2" charset="2"/>
              </a:rPr>
              <a:t>This is the best integer solution we have so far!</a:t>
            </a:r>
            <a:endParaRPr lang="en-US" sz="1400" i="1" dirty="0"/>
          </a:p>
        </p:txBody>
      </p:sp>
      <p:sp>
        <p:nvSpPr>
          <p:cNvPr id="10" name="TextBox 9"/>
          <p:cNvSpPr txBox="1"/>
          <p:nvPr/>
        </p:nvSpPr>
        <p:spPr>
          <a:xfrm>
            <a:off x="6326094" y="4079774"/>
            <a:ext cx="3552825" cy="2031325"/>
          </a:xfrm>
          <a:prstGeom prst="rect">
            <a:avLst/>
          </a:prstGeom>
          <a:noFill/>
        </p:spPr>
        <p:txBody>
          <a:bodyPr wrap="square" rtlCol="0">
            <a:spAutoFit/>
          </a:bodyPr>
          <a:lstStyle/>
          <a:p>
            <a:r>
              <a:rPr lang="en-US" sz="1400" i="1" dirty="0"/>
              <a:t>Solve its LRP (LRP-2) and suppose that the solution is not integer and say </a:t>
            </a:r>
            <a:r>
              <a:rPr lang="en-US" sz="1400" i="1" dirty="0" err="1"/>
              <a:t>xk</a:t>
            </a:r>
            <a:r>
              <a:rPr lang="en-US" sz="1400" i="1" dirty="0"/>
              <a:t>=1.333 </a:t>
            </a:r>
          </a:p>
          <a:p>
            <a:pPr marL="285750" indent="-285750">
              <a:buFont typeface="Wingdings" panose="05000000000000000000" pitchFamily="2" charset="2"/>
              <a:buChar char="à"/>
            </a:pPr>
            <a:r>
              <a:rPr lang="en-US" sz="1400" i="1" dirty="0">
                <a:sym typeface="Wingdings" panose="05000000000000000000" pitchFamily="2" charset="2"/>
              </a:rPr>
              <a:t>Suppose that </a:t>
            </a:r>
            <a:r>
              <a:rPr lang="en-US" sz="1400" i="1" dirty="0"/>
              <a:t>objective function value of the optimal LRP-2 solution is 115</a:t>
            </a:r>
          </a:p>
          <a:p>
            <a:pPr marL="285750" indent="-285750">
              <a:buFont typeface="Wingdings" panose="05000000000000000000" pitchFamily="2" charset="2"/>
              <a:buChar char="à"/>
            </a:pPr>
            <a:r>
              <a:rPr lang="en-US" sz="1400" i="1" dirty="0"/>
              <a:t>We do not need to continue, because we cannot find an integer solution better than 115 and we already have an integer solution with 120!!</a:t>
            </a:r>
          </a:p>
          <a:p>
            <a:pPr marL="285750" indent="-285750">
              <a:buFont typeface="Wingdings" panose="05000000000000000000" pitchFamily="2" charset="2"/>
              <a:buChar char="à"/>
            </a:pPr>
            <a:r>
              <a:rPr lang="en-US" sz="1400" i="1" dirty="0"/>
              <a:t>So, we do not branch</a:t>
            </a:r>
          </a:p>
        </p:txBody>
      </p:sp>
    </p:spTree>
    <p:extLst>
      <p:ext uri="{BB962C8B-B14F-4D97-AF65-F5344CB8AC3E}">
        <p14:creationId xmlns:p14="http://schemas.microsoft.com/office/powerpoint/2010/main" val="42183133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and Bound</a:t>
            </a:r>
          </a:p>
        </p:txBody>
      </p:sp>
      <p:sp>
        <p:nvSpPr>
          <p:cNvPr id="3" name="Content Placeholder 2"/>
          <p:cNvSpPr>
            <a:spLocks noGrp="1"/>
          </p:cNvSpPr>
          <p:nvPr>
            <p:ph idx="1"/>
          </p:nvPr>
        </p:nvSpPr>
        <p:spPr/>
        <p:txBody>
          <a:bodyPr/>
          <a:lstStyle/>
          <a:p>
            <a:r>
              <a:rPr lang="en-US" sz="2400" dirty="0"/>
              <a:t>But IP-1 and IP-2 are also integer models!</a:t>
            </a:r>
          </a:p>
          <a:p>
            <a:pPr lvl="1"/>
            <a:r>
              <a:rPr lang="en-US" sz="2000" dirty="0"/>
              <a:t>So, we will solve their linear relaxations as well</a:t>
            </a:r>
          </a:p>
        </p:txBody>
      </p:sp>
      <p:sp>
        <p:nvSpPr>
          <p:cNvPr id="5" name="Rectangle 4"/>
          <p:cNvSpPr/>
          <p:nvPr/>
        </p:nvSpPr>
        <p:spPr bwMode="auto">
          <a:xfrm>
            <a:off x="1906494" y="2479573"/>
            <a:ext cx="2209800" cy="160020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Max </a:t>
            </a:r>
            <a:r>
              <a:rPr lang="en-US" b="1" dirty="0"/>
              <a:t>cx</a:t>
            </a:r>
          </a:p>
          <a:p>
            <a:pPr eaLnBrk="0" fontAlgn="base" hangingPunct="0">
              <a:spcBef>
                <a:spcPct val="0"/>
              </a:spcBef>
              <a:spcAft>
                <a:spcPct val="0"/>
              </a:spcAft>
            </a:pPr>
            <a:r>
              <a:rPr lang="en-US" sz="2400" dirty="0" err="1">
                <a:latin typeface="Arial" charset="0"/>
                <a:ea typeface="ＭＳ Ｐゴシック" pitchFamily="16" charset="-128"/>
              </a:rPr>
              <a:t>s.t.</a:t>
            </a:r>
            <a:r>
              <a:rPr lang="en-US" sz="2400" dirty="0">
                <a:latin typeface="Arial" charset="0"/>
                <a:ea typeface="ＭＳ Ｐゴシック" pitchFamily="16" charset="-128"/>
              </a:rPr>
              <a:t>   </a:t>
            </a:r>
            <a:r>
              <a:rPr lang="en-US" b="1" dirty="0"/>
              <a:t>Ax</a:t>
            </a:r>
            <a:r>
              <a:rPr lang="en-US" dirty="0"/>
              <a:t>&lt;=</a:t>
            </a:r>
            <a:r>
              <a:rPr lang="en-US" b="1" dirty="0"/>
              <a:t>b</a:t>
            </a:r>
          </a:p>
          <a:p>
            <a:pPr eaLnBrk="0" fontAlgn="base" hangingPunct="0">
              <a:spcBef>
                <a:spcPct val="0"/>
              </a:spcBef>
              <a:spcAft>
                <a:spcPct val="0"/>
              </a:spcAft>
            </a:pPr>
            <a:r>
              <a:rPr lang="en-US" dirty="0"/>
              <a:t>        </a:t>
            </a:r>
            <a:r>
              <a:rPr lang="en-US" dirty="0" err="1"/>
              <a:t>xj</a:t>
            </a:r>
            <a:r>
              <a:rPr lang="en-US" dirty="0"/>
              <a:t>&lt;=3</a:t>
            </a:r>
          </a:p>
          <a:p>
            <a:pPr eaLnBrk="0" fontAlgn="base" hangingPunct="0">
              <a:spcBef>
                <a:spcPct val="0"/>
              </a:spcBef>
              <a:spcAft>
                <a:spcPct val="0"/>
              </a:spcAft>
            </a:pPr>
            <a:r>
              <a:rPr lang="en-US" dirty="0"/>
              <a:t>         </a:t>
            </a:r>
            <a:r>
              <a:rPr lang="en-US" b="1" dirty="0"/>
              <a:t>x</a:t>
            </a:r>
            <a:r>
              <a:rPr lang="en-US" dirty="0"/>
              <a:t> integer</a:t>
            </a:r>
            <a:endParaRPr lang="en-US" sz="2400" dirty="0">
              <a:latin typeface="Arial" charset="0"/>
              <a:ea typeface="ＭＳ Ｐゴシック" pitchFamily="16" charset="-128"/>
            </a:endParaRPr>
          </a:p>
        </p:txBody>
      </p:sp>
      <p:sp>
        <p:nvSpPr>
          <p:cNvPr id="6" name="Rectangle 5"/>
          <p:cNvSpPr/>
          <p:nvPr/>
        </p:nvSpPr>
        <p:spPr bwMode="auto">
          <a:xfrm>
            <a:off x="6602319" y="2517673"/>
            <a:ext cx="2209800" cy="156210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Max </a:t>
            </a:r>
            <a:r>
              <a:rPr lang="en-US" b="1" dirty="0"/>
              <a:t>cx</a:t>
            </a:r>
          </a:p>
          <a:p>
            <a:pPr eaLnBrk="0" fontAlgn="base" hangingPunct="0">
              <a:spcBef>
                <a:spcPct val="0"/>
              </a:spcBef>
              <a:spcAft>
                <a:spcPct val="0"/>
              </a:spcAft>
            </a:pPr>
            <a:r>
              <a:rPr lang="en-US" sz="2400" dirty="0" err="1">
                <a:latin typeface="Arial" charset="0"/>
                <a:ea typeface="ＭＳ Ｐゴシック" pitchFamily="16" charset="-128"/>
              </a:rPr>
              <a:t>s.t.</a:t>
            </a:r>
            <a:r>
              <a:rPr lang="en-US" sz="2400" dirty="0">
                <a:latin typeface="Arial" charset="0"/>
                <a:ea typeface="ＭＳ Ｐゴシック" pitchFamily="16" charset="-128"/>
              </a:rPr>
              <a:t>   </a:t>
            </a:r>
            <a:r>
              <a:rPr lang="en-US" b="1" dirty="0"/>
              <a:t>Ax</a:t>
            </a:r>
            <a:r>
              <a:rPr lang="en-US" dirty="0"/>
              <a:t>&lt;=</a:t>
            </a:r>
            <a:r>
              <a:rPr lang="en-US" b="1" dirty="0"/>
              <a:t>b</a:t>
            </a:r>
          </a:p>
          <a:p>
            <a:pPr eaLnBrk="0" fontAlgn="base" hangingPunct="0">
              <a:spcBef>
                <a:spcPct val="0"/>
              </a:spcBef>
              <a:spcAft>
                <a:spcPct val="0"/>
              </a:spcAft>
            </a:pPr>
            <a:r>
              <a:rPr lang="en-US" dirty="0"/>
              <a:t>         </a:t>
            </a:r>
            <a:r>
              <a:rPr lang="en-US" dirty="0" err="1"/>
              <a:t>xj</a:t>
            </a:r>
            <a:r>
              <a:rPr lang="en-US" dirty="0"/>
              <a:t>&gt;=4</a:t>
            </a:r>
          </a:p>
          <a:p>
            <a:pPr eaLnBrk="0" fontAlgn="base" hangingPunct="0">
              <a:spcBef>
                <a:spcPct val="0"/>
              </a:spcBef>
              <a:spcAft>
                <a:spcPct val="0"/>
              </a:spcAft>
            </a:pPr>
            <a:r>
              <a:rPr lang="en-US" dirty="0"/>
              <a:t>         </a:t>
            </a:r>
            <a:r>
              <a:rPr lang="en-US" b="1" dirty="0"/>
              <a:t>x</a:t>
            </a:r>
            <a:r>
              <a:rPr lang="en-US" dirty="0"/>
              <a:t> integer</a:t>
            </a:r>
            <a:endParaRPr lang="en-US" sz="2400" dirty="0">
              <a:latin typeface="Arial" charset="0"/>
              <a:ea typeface="ＭＳ Ｐゴシック" pitchFamily="16" charset="-128"/>
            </a:endParaRPr>
          </a:p>
        </p:txBody>
      </p:sp>
      <p:sp>
        <p:nvSpPr>
          <p:cNvPr id="7" name="TextBox 6"/>
          <p:cNvSpPr txBox="1"/>
          <p:nvPr/>
        </p:nvSpPr>
        <p:spPr>
          <a:xfrm>
            <a:off x="1134104" y="3048841"/>
            <a:ext cx="1066800" cy="369332"/>
          </a:xfrm>
          <a:prstGeom prst="rect">
            <a:avLst/>
          </a:prstGeom>
          <a:noFill/>
        </p:spPr>
        <p:txBody>
          <a:bodyPr wrap="square" rtlCol="0">
            <a:spAutoFit/>
          </a:bodyPr>
          <a:lstStyle/>
          <a:p>
            <a:r>
              <a:rPr lang="en-US" dirty="0">
                <a:solidFill>
                  <a:srgbClr val="FF0000"/>
                </a:solidFill>
              </a:rPr>
              <a:t>IP-1</a:t>
            </a:r>
          </a:p>
        </p:txBody>
      </p:sp>
      <p:sp>
        <p:nvSpPr>
          <p:cNvPr id="8" name="TextBox 7"/>
          <p:cNvSpPr txBox="1"/>
          <p:nvPr/>
        </p:nvSpPr>
        <p:spPr>
          <a:xfrm>
            <a:off x="8812119" y="2837058"/>
            <a:ext cx="1066800" cy="369332"/>
          </a:xfrm>
          <a:prstGeom prst="rect">
            <a:avLst/>
          </a:prstGeom>
          <a:noFill/>
        </p:spPr>
        <p:txBody>
          <a:bodyPr wrap="square" rtlCol="0">
            <a:spAutoFit/>
          </a:bodyPr>
          <a:lstStyle/>
          <a:p>
            <a:r>
              <a:rPr lang="en-US" dirty="0">
                <a:solidFill>
                  <a:srgbClr val="FF0000"/>
                </a:solidFill>
              </a:rPr>
              <a:t>IP-2</a:t>
            </a:r>
          </a:p>
        </p:txBody>
      </p:sp>
      <p:sp>
        <p:nvSpPr>
          <p:cNvPr id="9" name="TextBox 8"/>
          <p:cNvSpPr txBox="1"/>
          <p:nvPr/>
        </p:nvSpPr>
        <p:spPr>
          <a:xfrm>
            <a:off x="1373094" y="4079773"/>
            <a:ext cx="3276600" cy="1600438"/>
          </a:xfrm>
          <a:prstGeom prst="rect">
            <a:avLst/>
          </a:prstGeom>
          <a:noFill/>
        </p:spPr>
        <p:txBody>
          <a:bodyPr wrap="square" rtlCol="0">
            <a:spAutoFit/>
          </a:bodyPr>
          <a:lstStyle/>
          <a:p>
            <a:r>
              <a:rPr lang="en-US" sz="1400" i="1" dirty="0"/>
              <a:t>Solve its LRP (LRP-1) and suppose that the solution is integer!</a:t>
            </a:r>
          </a:p>
          <a:p>
            <a:pPr marL="285750" indent="-285750">
              <a:buFont typeface="Wingdings" panose="05000000000000000000" pitchFamily="2" charset="2"/>
              <a:buChar char="à"/>
            </a:pPr>
            <a:r>
              <a:rPr lang="en-US" sz="1400" i="1" dirty="0">
                <a:sym typeface="Wingdings" panose="05000000000000000000" pitchFamily="2" charset="2"/>
              </a:rPr>
              <a:t>So, we have the solution for IP-1</a:t>
            </a:r>
          </a:p>
          <a:p>
            <a:pPr marL="285750" indent="-285750">
              <a:buFont typeface="Wingdings" panose="05000000000000000000" pitchFamily="2" charset="2"/>
              <a:buChar char="à"/>
            </a:pPr>
            <a:r>
              <a:rPr lang="en-US" sz="1400" i="1" dirty="0">
                <a:sym typeface="Wingdings" panose="05000000000000000000" pitchFamily="2" charset="2"/>
              </a:rPr>
              <a:t>Suppose that the objective function value is 120</a:t>
            </a:r>
          </a:p>
          <a:p>
            <a:pPr marL="285750" indent="-285750">
              <a:buFont typeface="Wingdings" panose="05000000000000000000" pitchFamily="2" charset="2"/>
              <a:buChar char="à"/>
            </a:pPr>
            <a:r>
              <a:rPr lang="en-US" sz="1400" i="1" dirty="0">
                <a:sym typeface="Wingdings" panose="05000000000000000000" pitchFamily="2" charset="2"/>
              </a:rPr>
              <a:t>This is the best integer solution we have so far!</a:t>
            </a:r>
            <a:endParaRPr lang="en-US" sz="1400" i="1" dirty="0"/>
          </a:p>
        </p:txBody>
      </p:sp>
      <p:sp>
        <p:nvSpPr>
          <p:cNvPr id="10" name="TextBox 9"/>
          <p:cNvSpPr txBox="1"/>
          <p:nvPr/>
        </p:nvSpPr>
        <p:spPr>
          <a:xfrm>
            <a:off x="6326094" y="4079774"/>
            <a:ext cx="3552825" cy="1815882"/>
          </a:xfrm>
          <a:prstGeom prst="rect">
            <a:avLst/>
          </a:prstGeom>
          <a:noFill/>
        </p:spPr>
        <p:txBody>
          <a:bodyPr wrap="square" rtlCol="0">
            <a:spAutoFit/>
          </a:bodyPr>
          <a:lstStyle/>
          <a:p>
            <a:r>
              <a:rPr lang="en-US" sz="1400" i="1" dirty="0"/>
              <a:t>Solve its LRP (LRP-2) and suppose that the solution is not integer and say </a:t>
            </a:r>
            <a:r>
              <a:rPr lang="en-US" sz="1400" i="1" dirty="0" err="1"/>
              <a:t>xk</a:t>
            </a:r>
            <a:r>
              <a:rPr lang="en-US" sz="1400" i="1" dirty="0"/>
              <a:t>=1.333 </a:t>
            </a:r>
          </a:p>
          <a:p>
            <a:pPr marL="285750" indent="-285750">
              <a:buFont typeface="Wingdings" panose="05000000000000000000" pitchFamily="2" charset="2"/>
              <a:buChar char="à"/>
            </a:pPr>
            <a:r>
              <a:rPr lang="en-US" sz="1400" i="1" dirty="0">
                <a:sym typeface="Wingdings" panose="05000000000000000000" pitchFamily="2" charset="2"/>
              </a:rPr>
              <a:t>Suppose that </a:t>
            </a:r>
            <a:r>
              <a:rPr lang="en-US" sz="1400" i="1" dirty="0"/>
              <a:t>objective function value of the optimal LRP-2 solution is 127</a:t>
            </a:r>
          </a:p>
          <a:p>
            <a:pPr marL="285750" indent="-285750">
              <a:buFont typeface="Wingdings" panose="05000000000000000000" pitchFamily="2" charset="2"/>
              <a:buChar char="à"/>
            </a:pPr>
            <a:r>
              <a:rPr lang="en-US" sz="1400" i="1" dirty="0"/>
              <a:t>We need to continue branching, because we can find an integer solution better than 120 </a:t>
            </a:r>
          </a:p>
          <a:p>
            <a:pPr marL="285750" indent="-285750">
              <a:buFont typeface="Wingdings" panose="05000000000000000000" pitchFamily="2" charset="2"/>
              <a:buChar char="à"/>
            </a:pPr>
            <a:r>
              <a:rPr lang="en-US" sz="1400" i="1" dirty="0"/>
              <a:t>So, we branch</a:t>
            </a:r>
          </a:p>
        </p:txBody>
      </p:sp>
    </p:spTree>
    <p:extLst>
      <p:ext uri="{BB962C8B-B14F-4D97-AF65-F5344CB8AC3E}">
        <p14:creationId xmlns:p14="http://schemas.microsoft.com/office/powerpoint/2010/main" val="31491704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and Bound</a:t>
            </a:r>
          </a:p>
        </p:txBody>
      </p:sp>
      <p:sp>
        <p:nvSpPr>
          <p:cNvPr id="3" name="Content Placeholder 2"/>
          <p:cNvSpPr>
            <a:spLocks noGrp="1"/>
          </p:cNvSpPr>
          <p:nvPr>
            <p:ph idx="1"/>
          </p:nvPr>
        </p:nvSpPr>
        <p:spPr/>
        <p:txBody>
          <a:bodyPr/>
          <a:lstStyle/>
          <a:p>
            <a:r>
              <a:rPr lang="en-US" sz="2400" dirty="0"/>
              <a:t>Continue with solving IP-2</a:t>
            </a:r>
            <a:endParaRPr lang="en-US" sz="2000" dirty="0"/>
          </a:p>
        </p:txBody>
      </p:sp>
      <p:sp>
        <p:nvSpPr>
          <p:cNvPr id="12" name="Rectangle 11">
            <a:extLst>
              <a:ext uri="{FF2B5EF4-FFF2-40B4-BE49-F238E27FC236}">
                <a16:creationId xmlns:a16="http://schemas.microsoft.com/office/drawing/2014/main" id="{44AC543C-B6D3-4273-87F3-899907B2E4AD}"/>
              </a:ext>
            </a:extLst>
          </p:cNvPr>
          <p:cNvSpPr/>
          <p:nvPr/>
        </p:nvSpPr>
        <p:spPr bwMode="auto">
          <a:xfrm>
            <a:off x="1568731" y="2126605"/>
            <a:ext cx="1652587" cy="1261765"/>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Max </a:t>
            </a:r>
            <a:r>
              <a:rPr lang="en-US" b="1" dirty="0"/>
              <a:t>cx</a:t>
            </a:r>
          </a:p>
          <a:p>
            <a:pPr eaLnBrk="0" fontAlgn="base" hangingPunct="0">
              <a:spcBef>
                <a:spcPct val="0"/>
              </a:spcBef>
              <a:spcAft>
                <a:spcPct val="0"/>
              </a:spcAft>
            </a:pPr>
            <a:r>
              <a:rPr lang="en-US" dirty="0" err="1"/>
              <a:t>s.t.</a:t>
            </a:r>
            <a:r>
              <a:rPr lang="en-US" dirty="0"/>
              <a:t>   </a:t>
            </a:r>
            <a:r>
              <a:rPr lang="en-US" b="1" dirty="0"/>
              <a:t>Ax</a:t>
            </a:r>
            <a:r>
              <a:rPr lang="en-US" dirty="0"/>
              <a:t>&lt;=</a:t>
            </a:r>
            <a:r>
              <a:rPr lang="en-US" b="1" dirty="0"/>
              <a:t>b</a:t>
            </a:r>
          </a:p>
          <a:p>
            <a:pPr eaLnBrk="0" fontAlgn="base" hangingPunct="0">
              <a:spcBef>
                <a:spcPct val="0"/>
              </a:spcBef>
              <a:spcAft>
                <a:spcPct val="0"/>
              </a:spcAft>
            </a:pPr>
            <a:r>
              <a:rPr lang="en-US" dirty="0"/>
              <a:t>        </a:t>
            </a:r>
            <a:r>
              <a:rPr lang="en-US" dirty="0" err="1"/>
              <a:t>xj</a:t>
            </a:r>
            <a:r>
              <a:rPr lang="en-US" dirty="0"/>
              <a:t>&lt;=3</a:t>
            </a:r>
          </a:p>
          <a:p>
            <a:pPr eaLnBrk="0" fontAlgn="base" hangingPunct="0">
              <a:spcBef>
                <a:spcPct val="0"/>
              </a:spcBef>
              <a:spcAft>
                <a:spcPct val="0"/>
              </a:spcAft>
            </a:pPr>
            <a:r>
              <a:rPr lang="en-US" dirty="0"/>
              <a:t>         </a:t>
            </a:r>
            <a:r>
              <a:rPr lang="en-US" b="1" dirty="0"/>
              <a:t>x</a:t>
            </a:r>
            <a:r>
              <a:rPr lang="en-US" dirty="0"/>
              <a:t> integer</a:t>
            </a:r>
          </a:p>
        </p:txBody>
      </p:sp>
      <p:sp>
        <p:nvSpPr>
          <p:cNvPr id="13" name="Rectangle 12">
            <a:extLst>
              <a:ext uri="{FF2B5EF4-FFF2-40B4-BE49-F238E27FC236}">
                <a16:creationId xmlns:a16="http://schemas.microsoft.com/office/drawing/2014/main" id="{340CB11F-DA27-4407-89A6-132717CB6ED8}"/>
              </a:ext>
            </a:extLst>
          </p:cNvPr>
          <p:cNvSpPr/>
          <p:nvPr/>
        </p:nvSpPr>
        <p:spPr bwMode="auto">
          <a:xfrm>
            <a:off x="4745317" y="2276950"/>
            <a:ext cx="2209800" cy="156210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Max </a:t>
            </a:r>
            <a:r>
              <a:rPr lang="en-US" b="1" dirty="0"/>
              <a:t>cx</a:t>
            </a:r>
          </a:p>
          <a:p>
            <a:pPr eaLnBrk="0" fontAlgn="base" hangingPunct="0">
              <a:spcBef>
                <a:spcPct val="0"/>
              </a:spcBef>
              <a:spcAft>
                <a:spcPct val="0"/>
              </a:spcAft>
            </a:pPr>
            <a:r>
              <a:rPr lang="en-US" sz="2400" dirty="0" err="1">
                <a:latin typeface="Arial" charset="0"/>
                <a:ea typeface="ＭＳ Ｐゴシック" pitchFamily="16" charset="-128"/>
              </a:rPr>
              <a:t>s.t.</a:t>
            </a:r>
            <a:r>
              <a:rPr lang="en-US" sz="2400" dirty="0">
                <a:latin typeface="Arial" charset="0"/>
                <a:ea typeface="ＭＳ Ｐゴシック" pitchFamily="16" charset="-128"/>
              </a:rPr>
              <a:t>   </a:t>
            </a:r>
            <a:r>
              <a:rPr lang="en-US" b="1" dirty="0"/>
              <a:t>Ax</a:t>
            </a:r>
            <a:r>
              <a:rPr lang="en-US" dirty="0"/>
              <a:t>&lt;=</a:t>
            </a:r>
            <a:r>
              <a:rPr lang="en-US" b="1" dirty="0"/>
              <a:t>b</a:t>
            </a:r>
          </a:p>
          <a:p>
            <a:pPr eaLnBrk="0" fontAlgn="base" hangingPunct="0">
              <a:spcBef>
                <a:spcPct val="0"/>
              </a:spcBef>
              <a:spcAft>
                <a:spcPct val="0"/>
              </a:spcAft>
            </a:pPr>
            <a:r>
              <a:rPr lang="en-US" dirty="0"/>
              <a:t>         </a:t>
            </a:r>
            <a:r>
              <a:rPr lang="en-US" dirty="0" err="1"/>
              <a:t>xj</a:t>
            </a:r>
            <a:r>
              <a:rPr lang="en-US" dirty="0"/>
              <a:t>&gt;=4</a:t>
            </a:r>
          </a:p>
          <a:p>
            <a:pPr eaLnBrk="0" fontAlgn="base" hangingPunct="0">
              <a:spcBef>
                <a:spcPct val="0"/>
              </a:spcBef>
              <a:spcAft>
                <a:spcPct val="0"/>
              </a:spcAft>
            </a:pPr>
            <a:r>
              <a:rPr lang="en-US" dirty="0"/>
              <a:t>         </a:t>
            </a:r>
            <a:r>
              <a:rPr lang="en-US" b="1" dirty="0"/>
              <a:t>x</a:t>
            </a:r>
            <a:r>
              <a:rPr lang="en-US" dirty="0"/>
              <a:t> integer</a:t>
            </a:r>
            <a:endParaRPr lang="en-US" sz="2400" dirty="0">
              <a:latin typeface="Arial" charset="0"/>
              <a:ea typeface="ＭＳ Ｐゴシック" pitchFamily="16" charset="-128"/>
            </a:endParaRPr>
          </a:p>
        </p:txBody>
      </p:sp>
      <p:sp>
        <p:nvSpPr>
          <p:cNvPr id="14" name="TextBox 13">
            <a:extLst>
              <a:ext uri="{FF2B5EF4-FFF2-40B4-BE49-F238E27FC236}">
                <a16:creationId xmlns:a16="http://schemas.microsoft.com/office/drawing/2014/main" id="{DD14486C-1EA0-408A-9BE5-B25C459B9DDD}"/>
              </a:ext>
            </a:extLst>
          </p:cNvPr>
          <p:cNvSpPr txBox="1"/>
          <p:nvPr/>
        </p:nvSpPr>
        <p:spPr>
          <a:xfrm>
            <a:off x="862581" y="2376486"/>
            <a:ext cx="1066800" cy="369332"/>
          </a:xfrm>
          <a:prstGeom prst="rect">
            <a:avLst/>
          </a:prstGeom>
          <a:noFill/>
        </p:spPr>
        <p:txBody>
          <a:bodyPr wrap="square" rtlCol="0">
            <a:spAutoFit/>
          </a:bodyPr>
          <a:lstStyle/>
          <a:p>
            <a:r>
              <a:rPr lang="en-US" dirty="0">
                <a:solidFill>
                  <a:srgbClr val="FF0000"/>
                </a:solidFill>
              </a:rPr>
              <a:t>IP-1</a:t>
            </a:r>
          </a:p>
        </p:txBody>
      </p:sp>
      <p:sp>
        <p:nvSpPr>
          <p:cNvPr id="15" name="TextBox 14">
            <a:extLst>
              <a:ext uri="{FF2B5EF4-FFF2-40B4-BE49-F238E27FC236}">
                <a16:creationId xmlns:a16="http://schemas.microsoft.com/office/drawing/2014/main" id="{D566DE31-8A2B-4C5E-8612-66826348A53F}"/>
              </a:ext>
            </a:extLst>
          </p:cNvPr>
          <p:cNvSpPr txBox="1"/>
          <p:nvPr/>
        </p:nvSpPr>
        <p:spPr>
          <a:xfrm>
            <a:off x="3902355" y="2510931"/>
            <a:ext cx="1066800" cy="369332"/>
          </a:xfrm>
          <a:prstGeom prst="rect">
            <a:avLst/>
          </a:prstGeom>
          <a:noFill/>
        </p:spPr>
        <p:txBody>
          <a:bodyPr wrap="square" rtlCol="0">
            <a:spAutoFit/>
          </a:bodyPr>
          <a:lstStyle/>
          <a:p>
            <a:r>
              <a:rPr lang="en-US" dirty="0">
                <a:solidFill>
                  <a:srgbClr val="FF0000"/>
                </a:solidFill>
              </a:rPr>
              <a:t>IP-2</a:t>
            </a:r>
          </a:p>
        </p:txBody>
      </p:sp>
      <p:sp>
        <p:nvSpPr>
          <p:cNvPr id="16" name="TextBox 15">
            <a:extLst>
              <a:ext uri="{FF2B5EF4-FFF2-40B4-BE49-F238E27FC236}">
                <a16:creationId xmlns:a16="http://schemas.microsoft.com/office/drawing/2014/main" id="{6E740C34-BE2C-454C-8C35-4F3256F9F5DD}"/>
              </a:ext>
            </a:extLst>
          </p:cNvPr>
          <p:cNvSpPr txBox="1"/>
          <p:nvPr/>
        </p:nvSpPr>
        <p:spPr>
          <a:xfrm>
            <a:off x="935317" y="3464570"/>
            <a:ext cx="2743200" cy="1384995"/>
          </a:xfrm>
          <a:prstGeom prst="rect">
            <a:avLst/>
          </a:prstGeom>
          <a:noFill/>
        </p:spPr>
        <p:txBody>
          <a:bodyPr wrap="square" rtlCol="0">
            <a:spAutoFit/>
          </a:bodyPr>
          <a:lstStyle/>
          <a:p>
            <a:r>
              <a:rPr lang="en-US" sz="1200" i="1" dirty="0"/>
              <a:t>Solve its LRP (LRP-1) and suppose that the solution is integer!</a:t>
            </a:r>
          </a:p>
          <a:p>
            <a:pPr marL="285750" indent="-285750">
              <a:buFont typeface="Wingdings" panose="05000000000000000000" pitchFamily="2" charset="2"/>
              <a:buChar char="à"/>
            </a:pPr>
            <a:r>
              <a:rPr lang="en-US" sz="1200" i="1" dirty="0">
                <a:sym typeface="Wingdings" panose="05000000000000000000" pitchFamily="2" charset="2"/>
              </a:rPr>
              <a:t>So, we have the solution for IP-1</a:t>
            </a:r>
          </a:p>
          <a:p>
            <a:pPr marL="285750" indent="-285750">
              <a:buFont typeface="Wingdings" panose="05000000000000000000" pitchFamily="2" charset="2"/>
              <a:buChar char="à"/>
            </a:pPr>
            <a:r>
              <a:rPr lang="en-US" sz="1200" i="1" dirty="0">
                <a:sym typeface="Wingdings" panose="05000000000000000000" pitchFamily="2" charset="2"/>
              </a:rPr>
              <a:t>Suppose that the objective function value is </a:t>
            </a:r>
            <a:r>
              <a:rPr lang="en-US" sz="1200" b="1" i="1" u="sng" dirty="0">
                <a:sym typeface="Wingdings" panose="05000000000000000000" pitchFamily="2" charset="2"/>
              </a:rPr>
              <a:t>120</a:t>
            </a:r>
          </a:p>
          <a:p>
            <a:pPr marL="285750" indent="-285750">
              <a:buFont typeface="Wingdings" panose="05000000000000000000" pitchFamily="2" charset="2"/>
              <a:buChar char="à"/>
            </a:pPr>
            <a:r>
              <a:rPr lang="en-US" sz="1200" i="1" dirty="0">
                <a:sym typeface="Wingdings" panose="05000000000000000000" pitchFamily="2" charset="2"/>
              </a:rPr>
              <a:t>This is the best integer solution we have so far!</a:t>
            </a:r>
            <a:endParaRPr lang="en-US" sz="1200" i="1" dirty="0"/>
          </a:p>
        </p:txBody>
      </p:sp>
      <p:sp>
        <p:nvSpPr>
          <p:cNvPr id="17" name="TextBox 16">
            <a:extLst>
              <a:ext uri="{FF2B5EF4-FFF2-40B4-BE49-F238E27FC236}">
                <a16:creationId xmlns:a16="http://schemas.microsoft.com/office/drawing/2014/main" id="{340607FD-3AD9-4330-9B7A-483E995BFA2D}"/>
              </a:ext>
            </a:extLst>
          </p:cNvPr>
          <p:cNvSpPr txBox="1"/>
          <p:nvPr/>
        </p:nvSpPr>
        <p:spPr>
          <a:xfrm>
            <a:off x="7080675" y="2218074"/>
            <a:ext cx="2693843" cy="1938992"/>
          </a:xfrm>
          <a:prstGeom prst="rect">
            <a:avLst/>
          </a:prstGeom>
          <a:noFill/>
        </p:spPr>
        <p:txBody>
          <a:bodyPr wrap="square" rtlCol="0">
            <a:spAutoFit/>
          </a:bodyPr>
          <a:lstStyle/>
          <a:p>
            <a:r>
              <a:rPr lang="en-US" sz="1200" i="1" dirty="0"/>
              <a:t>Solve its LRP (LRP-2) and suppose that the solution is not integer and say </a:t>
            </a:r>
            <a:r>
              <a:rPr lang="en-US" sz="1200" i="1" dirty="0" err="1"/>
              <a:t>xk</a:t>
            </a:r>
            <a:r>
              <a:rPr lang="en-US" sz="1200" i="1" dirty="0"/>
              <a:t>=1.333 </a:t>
            </a:r>
          </a:p>
          <a:p>
            <a:pPr marL="285750" indent="-285750">
              <a:buFont typeface="Wingdings" panose="05000000000000000000" pitchFamily="2" charset="2"/>
              <a:buChar char="à"/>
            </a:pPr>
            <a:r>
              <a:rPr lang="en-US" sz="1200" i="1" dirty="0">
                <a:sym typeface="Wingdings" panose="05000000000000000000" pitchFamily="2" charset="2"/>
              </a:rPr>
              <a:t>Suppose that </a:t>
            </a:r>
            <a:r>
              <a:rPr lang="en-US" sz="1200" i="1" dirty="0"/>
              <a:t>objective function value of the optimal LRP-2 solution is 127</a:t>
            </a:r>
          </a:p>
          <a:p>
            <a:pPr marL="285750" indent="-285750">
              <a:buFont typeface="Wingdings" panose="05000000000000000000" pitchFamily="2" charset="2"/>
              <a:buChar char="à"/>
            </a:pPr>
            <a:r>
              <a:rPr lang="en-US" sz="1200" i="1" dirty="0"/>
              <a:t>We need to continue branching, because we can find an integer solution better than 120 </a:t>
            </a:r>
          </a:p>
          <a:p>
            <a:pPr marL="285750" indent="-285750">
              <a:buFont typeface="Wingdings" panose="05000000000000000000" pitchFamily="2" charset="2"/>
              <a:buChar char="à"/>
            </a:pPr>
            <a:r>
              <a:rPr lang="en-US" sz="1200" i="1" dirty="0"/>
              <a:t>So, we branch</a:t>
            </a:r>
          </a:p>
        </p:txBody>
      </p:sp>
      <p:cxnSp>
        <p:nvCxnSpPr>
          <p:cNvPr id="18" name="Straight Arrow Connector 17">
            <a:extLst>
              <a:ext uri="{FF2B5EF4-FFF2-40B4-BE49-F238E27FC236}">
                <a16:creationId xmlns:a16="http://schemas.microsoft.com/office/drawing/2014/main" id="{5525CAC3-A52C-4F8B-AF77-518791240B57}"/>
              </a:ext>
            </a:extLst>
          </p:cNvPr>
          <p:cNvCxnSpPr>
            <a:stCxn id="13" idx="2"/>
          </p:cNvCxnSpPr>
          <p:nvPr/>
        </p:nvCxnSpPr>
        <p:spPr bwMode="auto">
          <a:xfrm flipH="1">
            <a:off x="5036695" y="3839050"/>
            <a:ext cx="813522" cy="59100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67B3AD4A-231F-4935-9B37-EEA3E76C79C9}"/>
              </a:ext>
            </a:extLst>
          </p:cNvPr>
          <p:cNvCxnSpPr>
            <a:stCxn id="13" idx="2"/>
          </p:cNvCxnSpPr>
          <p:nvPr/>
        </p:nvCxnSpPr>
        <p:spPr bwMode="auto">
          <a:xfrm>
            <a:off x="5850217" y="3839050"/>
            <a:ext cx="1485900" cy="59100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0" name="Rectangle 19">
            <a:extLst>
              <a:ext uri="{FF2B5EF4-FFF2-40B4-BE49-F238E27FC236}">
                <a16:creationId xmlns:a16="http://schemas.microsoft.com/office/drawing/2014/main" id="{CADBF80D-3977-4CC1-9B3A-F6C5980CD0FF}"/>
              </a:ext>
            </a:extLst>
          </p:cNvPr>
          <p:cNvSpPr/>
          <p:nvPr/>
        </p:nvSpPr>
        <p:spPr bwMode="auto">
          <a:xfrm>
            <a:off x="3702762" y="4500060"/>
            <a:ext cx="2209800" cy="207599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Max </a:t>
            </a:r>
            <a:r>
              <a:rPr lang="en-US" b="1" dirty="0"/>
              <a:t>cx</a:t>
            </a:r>
          </a:p>
          <a:p>
            <a:pPr eaLnBrk="0" fontAlgn="base" hangingPunct="0">
              <a:spcBef>
                <a:spcPct val="0"/>
              </a:spcBef>
              <a:spcAft>
                <a:spcPct val="0"/>
              </a:spcAft>
            </a:pPr>
            <a:r>
              <a:rPr lang="en-US" sz="2400" dirty="0" err="1">
                <a:latin typeface="Arial" charset="0"/>
                <a:ea typeface="ＭＳ Ｐゴシック" pitchFamily="16" charset="-128"/>
              </a:rPr>
              <a:t>s.t.</a:t>
            </a:r>
            <a:r>
              <a:rPr lang="en-US" sz="2400" dirty="0">
                <a:latin typeface="Arial" charset="0"/>
                <a:ea typeface="ＭＳ Ｐゴシック" pitchFamily="16" charset="-128"/>
              </a:rPr>
              <a:t>   </a:t>
            </a:r>
            <a:r>
              <a:rPr lang="en-US" b="1" dirty="0"/>
              <a:t>Ax</a:t>
            </a:r>
            <a:r>
              <a:rPr lang="en-US" dirty="0"/>
              <a:t>&lt;=</a:t>
            </a:r>
            <a:r>
              <a:rPr lang="en-US" b="1" dirty="0"/>
              <a:t>b</a:t>
            </a:r>
          </a:p>
          <a:p>
            <a:pPr eaLnBrk="0" fontAlgn="base" hangingPunct="0">
              <a:spcBef>
                <a:spcPct val="0"/>
              </a:spcBef>
              <a:spcAft>
                <a:spcPct val="0"/>
              </a:spcAft>
            </a:pPr>
            <a:r>
              <a:rPr lang="en-US" dirty="0"/>
              <a:t>         </a:t>
            </a:r>
            <a:r>
              <a:rPr lang="en-US" dirty="0" err="1"/>
              <a:t>xj</a:t>
            </a:r>
            <a:r>
              <a:rPr lang="en-US" dirty="0"/>
              <a:t>&gt;=4</a:t>
            </a:r>
          </a:p>
          <a:p>
            <a:pPr eaLnBrk="0" fontAlgn="base" hangingPunct="0">
              <a:spcBef>
                <a:spcPct val="0"/>
              </a:spcBef>
              <a:spcAft>
                <a:spcPct val="0"/>
              </a:spcAft>
            </a:pPr>
            <a:r>
              <a:rPr lang="en-US" dirty="0"/>
              <a:t>         </a:t>
            </a:r>
            <a:r>
              <a:rPr lang="en-US" dirty="0" err="1"/>
              <a:t>xk</a:t>
            </a:r>
            <a:r>
              <a:rPr lang="en-US" dirty="0"/>
              <a:t>&lt;=1</a:t>
            </a:r>
          </a:p>
          <a:p>
            <a:pPr eaLnBrk="0" fontAlgn="base" hangingPunct="0">
              <a:spcBef>
                <a:spcPct val="0"/>
              </a:spcBef>
              <a:spcAft>
                <a:spcPct val="0"/>
              </a:spcAft>
            </a:pPr>
            <a:r>
              <a:rPr lang="en-US" dirty="0"/>
              <a:t>         </a:t>
            </a:r>
            <a:r>
              <a:rPr lang="en-US" b="1" dirty="0"/>
              <a:t>x</a:t>
            </a:r>
            <a:r>
              <a:rPr lang="en-US" dirty="0"/>
              <a:t> integer</a:t>
            </a:r>
            <a:endParaRPr lang="en-US" sz="2400" dirty="0">
              <a:latin typeface="Arial" charset="0"/>
              <a:ea typeface="ＭＳ Ｐゴシック" pitchFamily="16" charset="-128"/>
            </a:endParaRPr>
          </a:p>
        </p:txBody>
      </p:sp>
      <p:sp>
        <p:nvSpPr>
          <p:cNvPr id="21" name="Rectangle 20">
            <a:extLst>
              <a:ext uri="{FF2B5EF4-FFF2-40B4-BE49-F238E27FC236}">
                <a16:creationId xmlns:a16="http://schemas.microsoft.com/office/drawing/2014/main" id="{72C605B9-5CA1-48A6-8EA0-66132EE21A0F}"/>
              </a:ext>
            </a:extLst>
          </p:cNvPr>
          <p:cNvSpPr/>
          <p:nvPr/>
        </p:nvSpPr>
        <p:spPr bwMode="auto">
          <a:xfrm>
            <a:off x="6655512" y="4468158"/>
            <a:ext cx="2209800" cy="207599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Max </a:t>
            </a:r>
            <a:r>
              <a:rPr lang="en-US" b="1" dirty="0"/>
              <a:t>cx</a:t>
            </a:r>
          </a:p>
          <a:p>
            <a:pPr eaLnBrk="0" fontAlgn="base" hangingPunct="0">
              <a:spcBef>
                <a:spcPct val="0"/>
              </a:spcBef>
              <a:spcAft>
                <a:spcPct val="0"/>
              </a:spcAft>
            </a:pPr>
            <a:r>
              <a:rPr lang="en-US" sz="2400" dirty="0" err="1">
                <a:latin typeface="Arial" charset="0"/>
                <a:ea typeface="ＭＳ Ｐゴシック" pitchFamily="16" charset="-128"/>
              </a:rPr>
              <a:t>s.t.</a:t>
            </a:r>
            <a:r>
              <a:rPr lang="en-US" sz="2400" dirty="0">
                <a:latin typeface="Arial" charset="0"/>
                <a:ea typeface="ＭＳ Ｐゴシック" pitchFamily="16" charset="-128"/>
              </a:rPr>
              <a:t>   </a:t>
            </a:r>
            <a:r>
              <a:rPr lang="en-US" b="1" dirty="0"/>
              <a:t>Ax</a:t>
            </a:r>
            <a:r>
              <a:rPr lang="en-US" dirty="0"/>
              <a:t>&lt;=</a:t>
            </a:r>
            <a:r>
              <a:rPr lang="en-US" b="1" dirty="0"/>
              <a:t>b</a:t>
            </a:r>
          </a:p>
          <a:p>
            <a:pPr eaLnBrk="0" fontAlgn="base" hangingPunct="0">
              <a:spcBef>
                <a:spcPct val="0"/>
              </a:spcBef>
              <a:spcAft>
                <a:spcPct val="0"/>
              </a:spcAft>
            </a:pPr>
            <a:r>
              <a:rPr lang="en-US" dirty="0"/>
              <a:t>         </a:t>
            </a:r>
            <a:r>
              <a:rPr lang="en-US" dirty="0" err="1"/>
              <a:t>xj</a:t>
            </a:r>
            <a:r>
              <a:rPr lang="en-US" dirty="0"/>
              <a:t>&gt;=4</a:t>
            </a:r>
          </a:p>
          <a:p>
            <a:pPr eaLnBrk="0" fontAlgn="base" hangingPunct="0">
              <a:spcBef>
                <a:spcPct val="0"/>
              </a:spcBef>
              <a:spcAft>
                <a:spcPct val="0"/>
              </a:spcAft>
            </a:pPr>
            <a:r>
              <a:rPr lang="en-US" dirty="0"/>
              <a:t>         </a:t>
            </a:r>
            <a:r>
              <a:rPr lang="en-US" dirty="0" err="1"/>
              <a:t>xk</a:t>
            </a:r>
            <a:r>
              <a:rPr lang="en-US" dirty="0"/>
              <a:t>&gt;=2</a:t>
            </a:r>
          </a:p>
          <a:p>
            <a:pPr eaLnBrk="0" fontAlgn="base" hangingPunct="0">
              <a:spcBef>
                <a:spcPct val="0"/>
              </a:spcBef>
              <a:spcAft>
                <a:spcPct val="0"/>
              </a:spcAft>
            </a:pPr>
            <a:r>
              <a:rPr lang="en-US" dirty="0"/>
              <a:t>         </a:t>
            </a:r>
            <a:r>
              <a:rPr lang="en-US" b="1" dirty="0"/>
              <a:t>x</a:t>
            </a:r>
            <a:r>
              <a:rPr lang="en-US" dirty="0"/>
              <a:t> integer</a:t>
            </a:r>
            <a:endParaRPr lang="en-US" sz="2400" dirty="0">
              <a:latin typeface="Arial" charset="0"/>
              <a:ea typeface="ＭＳ Ｐゴシック" pitchFamily="16" charset="-128"/>
            </a:endParaRPr>
          </a:p>
        </p:txBody>
      </p:sp>
      <p:sp>
        <p:nvSpPr>
          <p:cNvPr id="22" name="TextBox 21">
            <a:extLst>
              <a:ext uri="{FF2B5EF4-FFF2-40B4-BE49-F238E27FC236}">
                <a16:creationId xmlns:a16="http://schemas.microsoft.com/office/drawing/2014/main" id="{C4CF6BD8-E73A-4C2E-9914-FD5EBBA6801A}"/>
              </a:ext>
            </a:extLst>
          </p:cNvPr>
          <p:cNvSpPr txBox="1"/>
          <p:nvPr/>
        </p:nvSpPr>
        <p:spPr>
          <a:xfrm>
            <a:off x="2872357" y="5209078"/>
            <a:ext cx="1066800" cy="369332"/>
          </a:xfrm>
          <a:prstGeom prst="rect">
            <a:avLst/>
          </a:prstGeom>
          <a:noFill/>
        </p:spPr>
        <p:txBody>
          <a:bodyPr wrap="square" rtlCol="0">
            <a:spAutoFit/>
          </a:bodyPr>
          <a:lstStyle/>
          <a:p>
            <a:r>
              <a:rPr lang="en-US" dirty="0">
                <a:solidFill>
                  <a:srgbClr val="FF0000"/>
                </a:solidFill>
              </a:rPr>
              <a:t>IP-3</a:t>
            </a:r>
          </a:p>
        </p:txBody>
      </p:sp>
      <p:sp>
        <p:nvSpPr>
          <p:cNvPr id="23" name="TextBox 22">
            <a:extLst>
              <a:ext uri="{FF2B5EF4-FFF2-40B4-BE49-F238E27FC236}">
                <a16:creationId xmlns:a16="http://schemas.microsoft.com/office/drawing/2014/main" id="{49FB303F-B769-4910-8CFB-ABCEF95C2027}"/>
              </a:ext>
            </a:extLst>
          </p:cNvPr>
          <p:cNvSpPr txBox="1"/>
          <p:nvPr/>
        </p:nvSpPr>
        <p:spPr>
          <a:xfrm>
            <a:off x="8865312" y="5209077"/>
            <a:ext cx="1066800" cy="369332"/>
          </a:xfrm>
          <a:prstGeom prst="rect">
            <a:avLst/>
          </a:prstGeom>
          <a:noFill/>
        </p:spPr>
        <p:txBody>
          <a:bodyPr wrap="square" rtlCol="0">
            <a:spAutoFit/>
          </a:bodyPr>
          <a:lstStyle/>
          <a:p>
            <a:r>
              <a:rPr lang="en-US" dirty="0">
                <a:solidFill>
                  <a:srgbClr val="FF0000"/>
                </a:solidFill>
              </a:rPr>
              <a:t>IP-4</a:t>
            </a:r>
          </a:p>
        </p:txBody>
      </p:sp>
    </p:spTree>
    <p:extLst>
      <p:ext uri="{BB962C8B-B14F-4D97-AF65-F5344CB8AC3E}">
        <p14:creationId xmlns:p14="http://schemas.microsoft.com/office/powerpoint/2010/main" val="6376316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and Bound</a:t>
            </a:r>
          </a:p>
        </p:txBody>
      </p:sp>
      <p:sp>
        <p:nvSpPr>
          <p:cNvPr id="3" name="Content Placeholder 2"/>
          <p:cNvSpPr>
            <a:spLocks noGrp="1"/>
          </p:cNvSpPr>
          <p:nvPr>
            <p:ph idx="1"/>
          </p:nvPr>
        </p:nvSpPr>
        <p:spPr/>
        <p:txBody>
          <a:bodyPr/>
          <a:lstStyle/>
          <a:p>
            <a:r>
              <a:rPr lang="en-US" sz="2400" dirty="0"/>
              <a:t>Note that each time we branch, we create new sub-problems by adding constraints</a:t>
            </a:r>
          </a:p>
          <a:p>
            <a:pPr lvl="1"/>
            <a:r>
              <a:rPr lang="en-US" sz="2000" dirty="0"/>
              <a:t>It is possible that the </a:t>
            </a:r>
            <a:r>
              <a:rPr lang="en-US" sz="2000" dirty="0" err="1"/>
              <a:t>subproblem</a:t>
            </a:r>
            <a:r>
              <a:rPr lang="en-US" sz="2000" dirty="0"/>
              <a:t> is infeasible, so we will not continue branching from it as the further </a:t>
            </a:r>
            <a:r>
              <a:rPr lang="en-US" sz="2000" dirty="0" err="1"/>
              <a:t>subproblems</a:t>
            </a:r>
            <a:r>
              <a:rPr lang="en-US" sz="2000" dirty="0"/>
              <a:t> it creates will also be infeasible</a:t>
            </a:r>
          </a:p>
        </p:txBody>
      </p:sp>
      <p:sp>
        <p:nvSpPr>
          <p:cNvPr id="5" name="Rectangle 4"/>
          <p:cNvSpPr/>
          <p:nvPr/>
        </p:nvSpPr>
        <p:spPr bwMode="auto">
          <a:xfrm>
            <a:off x="2081306" y="2988651"/>
            <a:ext cx="1752600" cy="1418996"/>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Max </a:t>
            </a:r>
            <a:r>
              <a:rPr lang="en-US" b="1" dirty="0"/>
              <a:t>cx</a:t>
            </a:r>
          </a:p>
          <a:p>
            <a:pPr eaLnBrk="0" fontAlgn="base" hangingPunct="0">
              <a:spcBef>
                <a:spcPct val="0"/>
              </a:spcBef>
              <a:spcAft>
                <a:spcPct val="0"/>
              </a:spcAft>
            </a:pPr>
            <a:r>
              <a:rPr lang="en-US" dirty="0" err="1"/>
              <a:t>s.t.</a:t>
            </a:r>
            <a:r>
              <a:rPr lang="en-US" dirty="0"/>
              <a:t>   </a:t>
            </a:r>
            <a:r>
              <a:rPr lang="en-US" b="1" dirty="0"/>
              <a:t>Ax</a:t>
            </a:r>
            <a:r>
              <a:rPr lang="en-US" dirty="0"/>
              <a:t>&lt;=</a:t>
            </a:r>
            <a:r>
              <a:rPr lang="en-US" b="1" dirty="0"/>
              <a:t>b</a:t>
            </a:r>
          </a:p>
          <a:p>
            <a:pPr eaLnBrk="0" fontAlgn="base" hangingPunct="0">
              <a:spcBef>
                <a:spcPct val="0"/>
              </a:spcBef>
              <a:spcAft>
                <a:spcPct val="0"/>
              </a:spcAft>
            </a:pPr>
            <a:r>
              <a:rPr lang="en-US" dirty="0"/>
              <a:t>         </a:t>
            </a:r>
            <a:r>
              <a:rPr lang="en-US" dirty="0" err="1"/>
              <a:t>xj</a:t>
            </a:r>
            <a:r>
              <a:rPr lang="en-US" dirty="0"/>
              <a:t>&gt;=4</a:t>
            </a:r>
          </a:p>
          <a:p>
            <a:pPr eaLnBrk="0" fontAlgn="base" hangingPunct="0">
              <a:spcBef>
                <a:spcPct val="0"/>
              </a:spcBef>
              <a:spcAft>
                <a:spcPct val="0"/>
              </a:spcAft>
            </a:pPr>
            <a:r>
              <a:rPr lang="en-US" dirty="0"/>
              <a:t>         </a:t>
            </a:r>
            <a:r>
              <a:rPr lang="en-US" dirty="0" err="1"/>
              <a:t>xk</a:t>
            </a:r>
            <a:r>
              <a:rPr lang="en-US" dirty="0"/>
              <a:t>&lt;=1</a:t>
            </a:r>
          </a:p>
          <a:p>
            <a:pPr eaLnBrk="0" fontAlgn="base" hangingPunct="0">
              <a:spcBef>
                <a:spcPct val="0"/>
              </a:spcBef>
              <a:spcAft>
                <a:spcPct val="0"/>
              </a:spcAft>
            </a:pPr>
            <a:r>
              <a:rPr lang="en-US" dirty="0"/>
              <a:t>         </a:t>
            </a:r>
            <a:r>
              <a:rPr lang="en-US" b="1" dirty="0"/>
              <a:t>x</a:t>
            </a:r>
            <a:r>
              <a:rPr lang="en-US" dirty="0"/>
              <a:t> integer</a:t>
            </a:r>
          </a:p>
        </p:txBody>
      </p:sp>
      <p:sp>
        <p:nvSpPr>
          <p:cNvPr id="6" name="Rectangle 5"/>
          <p:cNvSpPr/>
          <p:nvPr/>
        </p:nvSpPr>
        <p:spPr bwMode="auto">
          <a:xfrm>
            <a:off x="5281706" y="2855680"/>
            <a:ext cx="2209800" cy="207599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en-US" dirty="0"/>
              <a:t>Max </a:t>
            </a:r>
            <a:r>
              <a:rPr lang="en-US" b="1" dirty="0"/>
              <a:t>cx</a:t>
            </a:r>
          </a:p>
          <a:p>
            <a:pPr eaLnBrk="0" fontAlgn="base" hangingPunct="0">
              <a:spcBef>
                <a:spcPct val="0"/>
              </a:spcBef>
              <a:spcAft>
                <a:spcPct val="0"/>
              </a:spcAft>
            </a:pPr>
            <a:r>
              <a:rPr lang="en-US" sz="2400" dirty="0" err="1">
                <a:latin typeface="Arial" charset="0"/>
                <a:ea typeface="ＭＳ Ｐゴシック" pitchFamily="16" charset="-128"/>
              </a:rPr>
              <a:t>s.t.</a:t>
            </a:r>
            <a:r>
              <a:rPr lang="en-US" sz="2400" dirty="0">
                <a:latin typeface="Arial" charset="0"/>
                <a:ea typeface="ＭＳ Ｐゴシック" pitchFamily="16" charset="-128"/>
              </a:rPr>
              <a:t>   </a:t>
            </a:r>
            <a:r>
              <a:rPr lang="en-US" b="1" dirty="0"/>
              <a:t>Ax</a:t>
            </a:r>
            <a:r>
              <a:rPr lang="en-US" dirty="0"/>
              <a:t>&lt;=</a:t>
            </a:r>
            <a:r>
              <a:rPr lang="en-US" b="1" dirty="0"/>
              <a:t>b</a:t>
            </a:r>
          </a:p>
          <a:p>
            <a:pPr eaLnBrk="0" fontAlgn="base" hangingPunct="0">
              <a:spcBef>
                <a:spcPct val="0"/>
              </a:spcBef>
              <a:spcAft>
                <a:spcPct val="0"/>
              </a:spcAft>
            </a:pPr>
            <a:r>
              <a:rPr lang="en-US" dirty="0"/>
              <a:t>         </a:t>
            </a:r>
            <a:r>
              <a:rPr lang="en-US" dirty="0" err="1"/>
              <a:t>xj</a:t>
            </a:r>
            <a:r>
              <a:rPr lang="en-US" dirty="0"/>
              <a:t>&gt;=4</a:t>
            </a:r>
          </a:p>
          <a:p>
            <a:pPr eaLnBrk="0" fontAlgn="base" hangingPunct="0">
              <a:spcBef>
                <a:spcPct val="0"/>
              </a:spcBef>
              <a:spcAft>
                <a:spcPct val="0"/>
              </a:spcAft>
            </a:pPr>
            <a:r>
              <a:rPr lang="en-US" dirty="0"/>
              <a:t>         </a:t>
            </a:r>
            <a:r>
              <a:rPr lang="en-US" dirty="0" err="1"/>
              <a:t>xk</a:t>
            </a:r>
            <a:r>
              <a:rPr lang="en-US" dirty="0"/>
              <a:t>&gt;=2</a:t>
            </a:r>
          </a:p>
          <a:p>
            <a:pPr eaLnBrk="0" fontAlgn="base" hangingPunct="0">
              <a:spcBef>
                <a:spcPct val="0"/>
              </a:spcBef>
              <a:spcAft>
                <a:spcPct val="0"/>
              </a:spcAft>
            </a:pPr>
            <a:r>
              <a:rPr lang="en-US" dirty="0"/>
              <a:t>         </a:t>
            </a:r>
            <a:r>
              <a:rPr lang="en-US" b="1" dirty="0"/>
              <a:t>x</a:t>
            </a:r>
            <a:r>
              <a:rPr lang="en-US" dirty="0"/>
              <a:t> integer</a:t>
            </a:r>
            <a:endParaRPr lang="en-US" sz="2400" dirty="0">
              <a:latin typeface="Arial" charset="0"/>
              <a:ea typeface="ＭＳ Ｐゴシック" pitchFamily="16" charset="-128"/>
            </a:endParaRPr>
          </a:p>
        </p:txBody>
      </p:sp>
      <p:sp>
        <p:nvSpPr>
          <p:cNvPr id="7" name="TextBox 6"/>
          <p:cNvSpPr txBox="1"/>
          <p:nvPr/>
        </p:nvSpPr>
        <p:spPr>
          <a:xfrm>
            <a:off x="1326233" y="3354702"/>
            <a:ext cx="1066800" cy="369332"/>
          </a:xfrm>
          <a:prstGeom prst="rect">
            <a:avLst/>
          </a:prstGeom>
          <a:noFill/>
        </p:spPr>
        <p:txBody>
          <a:bodyPr wrap="square" rtlCol="0">
            <a:spAutoFit/>
          </a:bodyPr>
          <a:lstStyle/>
          <a:p>
            <a:r>
              <a:rPr lang="en-US" dirty="0">
                <a:solidFill>
                  <a:srgbClr val="FF0000"/>
                </a:solidFill>
              </a:rPr>
              <a:t>IP-3</a:t>
            </a:r>
          </a:p>
        </p:txBody>
      </p:sp>
      <p:sp>
        <p:nvSpPr>
          <p:cNvPr id="8" name="TextBox 7"/>
          <p:cNvSpPr txBox="1"/>
          <p:nvPr/>
        </p:nvSpPr>
        <p:spPr>
          <a:xfrm>
            <a:off x="7494970" y="3068193"/>
            <a:ext cx="1066800" cy="369332"/>
          </a:xfrm>
          <a:prstGeom prst="rect">
            <a:avLst/>
          </a:prstGeom>
          <a:noFill/>
        </p:spPr>
        <p:txBody>
          <a:bodyPr wrap="square" rtlCol="0">
            <a:spAutoFit/>
          </a:bodyPr>
          <a:lstStyle/>
          <a:p>
            <a:r>
              <a:rPr lang="en-US" dirty="0">
                <a:solidFill>
                  <a:srgbClr val="FF0000"/>
                </a:solidFill>
              </a:rPr>
              <a:t>IP-4</a:t>
            </a:r>
          </a:p>
        </p:txBody>
      </p:sp>
      <p:sp>
        <p:nvSpPr>
          <p:cNvPr id="9" name="TextBox 8"/>
          <p:cNvSpPr txBox="1"/>
          <p:nvPr/>
        </p:nvSpPr>
        <p:spPr>
          <a:xfrm>
            <a:off x="1586006" y="4495240"/>
            <a:ext cx="2743200" cy="461665"/>
          </a:xfrm>
          <a:prstGeom prst="rect">
            <a:avLst/>
          </a:prstGeom>
          <a:noFill/>
        </p:spPr>
        <p:txBody>
          <a:bodyPr wrap="square" rtlCol="0">
            <a:spAutoFit/>
          </a:bodyPr>
          <a:lstStyle/>
          <a:p>
            <a:r>
              <a:rPr lang="en-US" sz="1200" i="1" dirty="0"/>
              <a:t>Solve its LRP (LRP-3) is infeasible</a:t>
            </a:r>
          </a:p>
          <a:p>
            <a:pPr marL="285750" indent="-285750">
              <a:buFont typeface="Wingdings" panose="05000000000000000000" pitchFamily="2" charset="2"/>
              <a:buChar char="à"/>
            </a:pPr>
            <a:r>
              <a:rPr lang="en-US" sz="1200" i="1" dirty="0">
                <a:sym typeface="Wingdings" panose="05000000000000000000" pitchFamily="2" charset="2"/>
              </a:rPr>
              <a:t>So, we stop branching</a:t>
            </a:r>
            <a:endParaRPr lang="en-US" sz="1200" i="1" dirty="0"/>
          </a:p>
        </p:txBody>
      </p:sp>
      <p:sp>
        <p:nvSpPr>
          <p:cNvPr id="10" name="TextBox 9"/>
          <p:cNvSpPr txBox="1"/>
          <p:nvPr/>
        </p:nvSpPr>
        <p:spPr>
          <a:xfrm>
            <a:off x="7434356" y="3756575"/>
            <a:ext cx="2743200" cy="1938992"/>
          </a:xfrm>
          <a:prstGeom prst="rect">
            <a:avLst/>
          </a:prstGeom>
          <a:noFill/>
        </p:spPr>
        <p:txBody>
          <a:bodyPr wrap="square" rtlCol="0">
            <a:spAutoFit/>
          </a:bodyPr>
          <a:lstStyle/>
          <a:p>
            <a:r>
              <a:rPr lang="en-US" sz="1200" i="1" dirty="0"/>
              <a:t>Solve its LRP (LRP-1) and suppose that the solution is integer!</a:t>
            </a:r>
          </a:p>
          <a:p>
            <a:pPr marL="285750" indent="-285750">
              <a:buFont typeface="Wingdings" panose="05000000000000000000" pitchFamily="2" charset="2"/>
              <a:buChar char="à"/>
            </a:pPr>
            <a:r>
              <a:rPr lang="en-US" sz="1200" i="1" dirty="0">
                <a:sym typeface="Wingdings" panose="05000000000000000000" pitchFamily="2" charset="2"/>
              </a:rPr>
              <a:t>So, we have the solution for IP-4</a:t>
            </a:r>
          </a:p>
          <a:p>
            <a:pPr marL="285750" indent="-285750">
              <a:buFont typeface="Wingdings" panose="05000000000000000000" pitchFamily="2" charset="2"/>
              <a:buChar char="à"/>
            </a:pPr>
            <a:r>
              <a:rPr lang="en-US" sz="1200" i="1" dirty="0">
                <a:sym typeface="Wingdings" panose="05000000000000000000" pitchFamily="2" charset="2"/>
              </a:rPr>
              <a:t>Suppose that the objective function value is </a:t>
            </a:r>
            <a:r>
              <a:rPr lang="en-US" sz="1200" b="1" i="1" u="sng" dirty="0">
                <a:sym typeface="Wingdings" panose="05000000000000000000" pitchFamily="2" charset="2"/>
              </a:rPr>
              <a:t>123</a:t>
            </a:r>
          </a:p>
          <a:p>
            <a:pPr marL="285750" indent="-285750">
              <a:buFont typeface="Wingdings" panose="05000000000000000000" pitchFamily="2" charset="2"/>
              <a:buChar char="à"/>
            </a:pPr>
            <a:r>
              <a:rPr lang="en-US" sz="1200" i="1" dirty="0">
                <a:sym typeface="Wingdings" panose="05000000000000000000" pitchFamily="2" charset="2"/>
              </a:rPr>
              <a:t>We need to compare this to the best integer solution we currently have, which has 120</a:t>
            </a:r>
          </a:p>
          <a:p>
            <a:pPr marL="285750" indent="-285750">
              <a:buFont typeface="Wingdings" panose="05000000000000000000" pitchFamily="2" charset="2"/>
              <a:buChar char="à"/>
            </a:pPr>
            <a:r>
              <a:rPr lang="en-US" sz="1200" i="1" dirty="0">
                <a:sym typeface="Wingdings" panose="05000000000000000000" pitchFamily="2" charset="2"/>
              </a:rPr>
              <a:t>If it is better, we update the best integer solution</a:t>
            </a:r>
            <a:endParaRPr lang="en-US" sz="1200" i="1" dirty="0"/>
          </a:p>
        </p:txBody>
      </p:sp>
    </p:spTree>
    <p:extLst>
      <p:ext uri="{BB962C8B-B14F-4D97-AF65-F5344CB8AC3E}">
        <p14:creationId xmlns:p14="http://schemas.microsoft.com/office/powerpoint/2010/main" val="19023244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and Bound</a:t>
            </a:r>
          </a:p>
        </p:txBody>
      </p:sp>
      <p:sp>
        <p:nvSpPr>
          <p:cNvPr id="3" name="Content Placeholder 2"/>
          <p:cNvSpPr>
            <a:spLocks noGrp="1"/>
          </p:cNvSpPr>
          <p:nvPr>
            <p:ph idx="1"/>
          </p:nvPr>
        </p:nvSpPr>
        <p:spPr/>
        <p:txBody>
          <a:bodyPr/>
          <a:lstStyle/>
          <a:p>
            <a:r>
              <a:rPr lang="en-US" dirty="0"/>
              <a:t>The main idea is to solve the linear relaxations of the </a:t>
            </a:r>
            <a:r>
              <a:rPr lang="en-US" dirty="0" err="1"/>
              <a:t>subproblems</a:t>
            </a:r>
            <a:endParaRPr lang="en-US" dirty="0"/>
          </a:p>
          <a:p>
            <a:pPr lvl="1"/>
            <a:r>
              <a:rPr lang="en-US" dirty="0"/>
              <a:t>If there is no </a:t>
            </a:r>
            <a:r>
              <a:rPr lang="en-US" dirty="0" err="1"/>
              <a:t>subproblem</a:t>
            </a:r>
            <a:r>
              <a:rPr lang="en-US" dirty="0"/>
              <a:t> we do not need to solve the linear relaxation for, then the best integer solution we have is the optimum solution or problem</a:t>
            </a:r>
          </a:p>
          <a:p>
            <a:pPr lvl="1"/>
            <a:r>
              <a:rPr lang="en-US" dirty="0"/>
              <a:t>We stop creating branching (i.e., we fathom) if</a:t>
            </a:r>
          </a:p>
          <a:p>
            <a:pPr lvl="2"/>
            <a:r>
              <a:rPr lang="en-US" dirty="0"/>
              <a:t>A </a:t>
            </a:r>
            <a:r>
              <a:rPr lang="en-US" dirty="0" err="1"/>
              <a:t>subproblem</a:t>
            </a:r>
            <a:r>
              <a:rPr lang="en-US" dirty="0"/>
              <a:t> is infeasible</a:t>
            </a:r>
          </a:p>
          <a:p>
            <a:pPr lvl="2"/>
            <a:r>
              <a:rPr lang="en-US" dirty="0"/>
              <a:t>A </a:t>
            </a:r>
            <a:r>
              <a:rPr lang="en-US" dirty="0" err="1"/>
              <a:t>subproblem’s</a:t>
            </a:r>
            <a:r>
              <a:rPr lang="en-US" dirty="0"/>
              <a:t> linear relaxation has integer solution</a:t>
            </a:r>
          </a:p>
          <a:p>
            <a:pPr lvl="3"/>
            <a:r>
              <a:rPr lang="en-US" dirty="0"/>
              <a:t>In this case, we need to update the best integer solution</a:t>
            </a:r>
          </a:p>
          <a:p>
            <a:pPr lvl="2"/>
            <a:r>
              <a:rPr lang="en-US" dirty="0"/>
              <a:t>A </a:t>
            </a:r>
            <a:r>
              <a:rPr lang="en-US" dirty="0" err="1"/>
              <a:t>subproblem’s</a:t>
            </a:r>
            <a:r>
              <a:rPr lang="en-US" dirty="0"/>
              <a:t> linear relaxation has an optimal objective function value that is worse than or equal to the current best integer solution’s objective function value</a:t>
            </a:r>
          </a:p>
        </p:txBody>
      </p:sp>
    </p:spTree>
    <p:extLst>
      <p:ext uri="{BB962C8B-B14F-4D97-AF65-F5344CB8AC3E}">
        <p14:creationId xmlns:p14="http://schemas.microsoft.com/office/powerpoint/2010/main" val="2256346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Heuristics</a:t>
            </a:r>
          </a:p>
        </p:txBody>
      </p:sp>
      <p:sp>
        <p:nvSpPr>
          <p:cNvPr id="3" name="Content Placeholder 2"/>
          <p:cNvSpPr>
            <a:spLocks noGrp="1"/>
          </p:cNvSpPr>
          <p:nvPr>
            <p:ph idx="1"/>
          </p:nvPr>
        </p:nvSpPr>
        <p:spPr/>
        <p:txBody>
          <a:bodyPr/>
          <a:lstStyle/>
          <a:p>
            <a:r>
              <a:rPr lang="en-US" dirty="0"/>
              <a:t>Heuristics are algorithms that are fast</a:t>
            </a:r>
          </a:p>
          <a:p>
            <a:pPr lvl="1"/>
            <a:r>
              <a:rPr lang="en-US" dirty="0"/>
              <a:t>They are not guaranteed to give the optimum solution</a:t>
            </a:r>
          </a:p>
          <a:p>
            <a:pPr lvl="1"/>
            <a:r>
              <a:rPr lang="en-US" dirty="0"/>
              <a:t>But they return good solutions</a:t>
            </a:r>
          </a:p>
          <a:p>
            <a:pPr lvl="2"/>
            <a:r>
              <a:rPr lang="en-US" dirty="0"/>
              <a:t>It is always good to consider the underlying structures of the problem of interest and utilize those in developing heuristic methods</a:t>
            </a:r>
          </a:p>
          <a:p>
            <a:pPr lvl="1"/>
            <a:r>
              <a:rPr lang="en-US" dirty="0"/>
              <a:t>There are many generic heuristic methods:</a:t>
            </a:r>
          </a:p>
          <a:p>
            <a:pPr lvl="2"/>
            <a:r>
              <a:rPr lang="en-US" dirty="0"/>
              <a:t>Genetic algorithms, evolutionary methods</a:t>
            </a:r>
          </a:p>
          <a:p>
            <a:pPr lvl="2"/>
            <a:r>
              <a:rPr lang="en-US" dirty="0" err="1"/>
              <a:t>Tabu</a:t>
            </a:r>
            <a:r>
              <a:rPr lang="en-US" dirty="0"/>
              <a:t> search</a:t>
            </a:r>
          </a:p>
          <a:p>
            <a:pPr lvl="2"/>
            <a:r>
              <a:rPr lang="en-US" dirty="0"/>
              <a:t>Ant colony optimization</a:t>
            </a:r>
          </a:p>
          <a:p>
            <a:pPr lvl="2"/>
            <a:r>
              <a:rPr lang="en-US" dirty="0"/>
              <a:t>Particle swarm optimization</a:t>
            </a:r>
          </a:p>
        </p:txBody>
      </p:sp>
      <p:sp>
        <p:nvSpPr>
          <p:cNvPr id="4" name="Slide Number Placeholder 3"/>
          <p:cNvSpPr>
            <a:spLocks noGrp="1"/>
          </p:cNvSpPr>
          <p:nvPr>
            <p:ph type="sldNum" sz="quarter" idx="12"/>
          </p:nvPr>
        </p:nvSpPr>
        <p:spPr/>
        <p:txBody>
          <a:bodyPr/>
          <a:lstStyle/>
          <a:p>
            <a:pPr>
              <a:defRPr/>
            </a:pPr>
            <a:fld id="{17D8DEC3-86FA-484C-AC83-38B4A6F9AAAF}" type="slidenum">
              <a:rPr lang="en-US" smtClean="0"/>
              <a:pPr>
                <a:defRPr/>
              </a:pPr>
              <a:t>49</a:t>
            </a:fld>
            <a:endParaRPr lang="en-US" dirty="0"/>
          </a:p>
        </p:txBody>
      </p:sp>
    </p:spTree>
    <p:extLst>
      <p:ext uri="{BB962C8B-B14F-4D97-AF65-F5344CB8AC3E}">
        <p14:creationId xmlns:p14="http://schemas.microsoft.com/office/powerpoint/2010/main" val="976144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92500" lnSpcReduction="10000"/>
          </a:bodyPr>
          <a:lstStyle/>
          <a:p>
            <a:r>
              <a:rPr lang="en-US" dirty="0">
                <a:solidFill>
                  <a:schemeClr val="bg2"/>
                </a:solidFill>
              </a:rPr>
              <a:t>Integer/Binary Programming (Chapter 7.1)</a:t>
            </a:r>
          </a:p>
          <a:p>
            <a:r>
              <a:rPr lang="en-US" dirty="0">
                <a:solidFill>
                  <a:schemeClr val="bg2"/>
                </a:solidFill>
              </a:rPr>
              <a:t>Conditional Constraints Modeling (Chapter 7.2)</a:t>
            </a:r>
          </a:p>
          <a:p>
            <a:r>
              <a:rPr lang="en-US" dirty="0">
                <a:solidFill>
                  <a:schemeClr val="bg2"/>
                </a:solidFill>
              </a:rPr>
              <a:t>Mixed-Integer Programming (Chapter 7.5)</a:t>
            </a:r>
          </a:p>
          <a:p>
            <a:r>
              <a:rPr lang="en-US" dirty="0">
                <a:solidFill>
                  <a:schemeClr val="bg2"/>
                </a:solidFill>
              </a:rPr>
              <a:t>Solution Concepts</a:t>
            </a:r>
          </a:p>
          <a:p>
            <a:r>
              <a:rPr lang="en-US" dirty="0"/>
              <a:t>Extra Examples</a:t>
            </a:r>
          </a:p>
          <a:p>
            <a:pPr lvl="1"/>
            <a:r>
              <a:rPr lang="en-US" dirty="0" err="1"/>
              <a:t>Wyndor</a:t>
            </a:r>
            <a:r>
              <a:rPr lang="en-US" dirty="0"/>
              <a:t> Problem with Setup Costs</a:t>
            </a:r>
          </a:p>
          <a:p>
            <a:pPr lvl="1"/>
            <a:r>
              <a:rPr lang="en-US" dirty="0"/>
              <a:t>Caliente City Problem </a:t>
            </a:r>
          </a:p>
          <a:p>
            <a:pPr lvl="1"/>
            <a:r>
              <a:rPr lang="en-US" dirty="0"/>
              <a:t>Southwestern Airways Problem </a:t>
            </a:r>
          </a:p>
          <a:p>
            <a:pPr lvl="1"/>
            <a:r>
              <a:rPr lang="en-US" dirty="0" err="1"/>
              <a:t>Lipdon</a:t>
            </a:r>
            <a:r>
              <a:rPr lang="en-US" dirty="0"/>
              <a:t> Tea Production </a:t>
            </a:r>
          </a:p>
          <a:p>
            <a:r>
              <a:rPr lang="en-US" dirty="0">
                <a:solidFill>
                  <a:schemeClr val="bg1">
                    <a:lumMod val="95000"/>
                  </a:schemeClr>
                </a:solidFill>
              </a:rPr>
              <a:t>Self Study</a:t>
            </a:r>
          </a:p>
          <a:p>
            <a:pPr lvl="1"/>
            <a:r>
              <a:rPr lang="en-US" dirty="0">
                <a:solidFill>
                  <a:schemeClr val="bg1">
                    <a:lumMod val="95000"/>
                  </a:schemeClr>
                </a:solidFill>
              </a:rPr>
              <a:t>Distribution Network Design (not in the textbook)</a:t>
            </a:r>
          </a:p>
          <a:p>
            <a:pPr lvl="1"/>
            <a:r>
              <a:rPr lang="en-US" dirty="0">
                <a:solidFill>
                  <a:schemeClr val="bg1">
                    <a:lumMod val="95000"/>
                  </a:schemeClr>
                </a:solidFill>
              </a:rPr>
              <a:t>Integrated Facility Location-Transportation</a:t>
            </a:r>
          </a:p>
          <a:p>
            <a:pPr lvl="5"/>
            <a:endParaRPr lang="en-US" dirty="0"/>
          </a:p>
          <a:p>
            <a:endParaRPr lang="en-US" dirty="0"/>
          </a:p>
        </p:txBody>
      </p:sp>
    </p:spTree>
    <p:extLst>
      <p:ext uri="{BB962C8B-B14F-4D97-AF65-F5344CB8AC3E}">
        <p14:creationId xmlns:p14="http://schemas.microsoft.com/office/powerpoint/2010/main" val="33097609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Mixed-Integer Programming</a:t>
            </a:r>
          </a:p>
        </p:txBody>
      </p:sp>
      <p:sp>
        <p:nvSpPr>
          <p:cNvPr id="3" name="Content Placeholder 2"/>
          <p:cNvSpPr>
            <a:spLocks noGrp="1"/>
          </p:cNvSpPr>
          <p:nvPr>
            <p:ph idx="1"/>
          </p:nvPr>
        </p:nvSpPr>
        <p:spPr/>
        <p:txBody>
          <a:bodyPr/>
          <a:lstStyle/>
          <a:p>
            <a:r>
              <a:rPr lang="en-US" dirty="0"/>
              <a:t>When the model has both integer/binary and continuous decision variables</a:t>
            </a:r>
          </a:p>
          <a:p>
            <a:pPr lvl="1"/>
            <a:r>
              <a:rPr lang="en-US" dirty="0"/>
              <a:t>Need to be careful when associating integer/binary variables with continuous variables</a:t>
            </a:r>
          </a:p>
          <a:p>
            <a:pPr lvl="1"/>
            <a:r>
              <a:rPr lang="en-US" dirty="0"/>
              <a:t>Big M constraints!</a:t>
            </a:r>
          </a:p>
          <a:p>
            <a:r>
              <a:rPr lang="en-US" b="1" u="sng" dirty="0"/>
              <a:t>Case: </a:t>
            </a:r>
            <a:r>
              <a:rPr lang="en-US" b="1" u="sng" dirty="0" err="1"/>
              <a:t>Wyndor</a:t>
            </a:r>
            <a:r>
              <a:rPr lang="en-US" b="1" u="sng" dirty="0"/>
              <a:t> Problem with Setup Costs (Chapter 7.5)</a:t>
            </a:r>
          </a:p>
          <a:p>
            <a:pPr lvl="1"/>
            <a:r>
              <a:rPr lang="en-US" dirty="0"/>
              <a:t>For each product, producing any units requires a substantial one-time </a:t>
            </a:r>
            <a:r>
              <a:rPr lang="en-US" i="1" dirty="0"/>
              <a:t>setup cost</a:t>
            </a:r>
            <a:r>
              <a:rPr lang="en-US" dirty="0"/>
              <a:t> for setting up the production facilities</a:t>
            </a:r>
          </a:p>
          <a:p>
            <a:pPr lvl="2"/>
            <a:r>
              <a:rPr lang="en-US" dirty="0"/>
              <a:t>Setup cost is $700 for doors</a:t>
            </a:r>
          </a:p>
          <a:p>
            <a:pPr lvl="2"/>
            <a:r>
              <a:rPr lang="en-US" dirty="0"/>
              <a:t>Setup cost is $1,300 for windows</a:t>
            </a:r>
          </a:p>
          <a:p>
            <a:pPr lvl="1"/>
            <a:r>
              <a:rPr lang="en-US" dirty="0"/>
              <a:t>The production runs for these products will be ended after one week, so </a:t>
            </a:r>
            <a:r>
              <a:rPr lang="en-US" i="1" dirty="0"/>
              <a:t>D</a:t>
            </a:r>
            <a:r>
              <a:rPr lang="en-US" dirty="0"/>
              <a:t> and </a:t>
            </a:r>
            <a:r>
              <a:rPr lang="en-US" i="1" dirty="0"/>
              <a:t>W</a:t>
            </a:r>
            <a:r>
              <a:rPr lang="en-US" dirty="0"/>
              <a:t> in the original model now represent the </a:t>
            </a:r>
            <a:r>
              <a:rPr lang="en-US" i="1" dirty="0"/>
              <a:t>total</a:t>
            </a:r>
            <a:r>
              <a:rPr lang="en-US" dirty="0"/>
              <a:t> number of doors and windows produced, respectively, rather than production rates.</a:t>
            </a:r>
          </a:p>
        </p:txBody>
      </p:sp>
    </p:spTree>
    <p:extLst>
      <p:ext uri="{BB962C8B-B14F-4D97-AF65-F5344CB8AC3E}">
        <p14:creationId xmlns:p14="http://schemas.microsoft.com/office/powerpoint/2010/main" val="3570678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Mixed-Integer Programming</a:t>
            </a:r>
          </a:p>
        </p:txBody>
      </p:sp>
      <p:sp>
        <p:nvSpPr>
          <p:cNvPr id="3" name="Content Placeholder 2"/>
          <p:cNvSpPr>
            <a:spLocks noGrp="1"/>
          </p:cNvSpPr>
          <p:nvPr>
            <p:ph idx="1"/>
          </p:nvPr>
        </p:nvSpPr>
        <p:spPr/>
        <p:txBody>
          <a:bodyPr/>
          <a:lstStyle/>
          <a:p>
            <a:r>
              <a:rPr lang="en-US" b="1" u="sng" dirty="0"/>
              <a:t>Case: </a:t>
            </a:r>
            <a:r>
              <a:rPr lang="en-US" b="1" u="sng" dirty="0" err="1"/>
              <a:t>Wyndor</a:t>
            </a:r>
            <a:r>
              <a:rPr lang="en-US" b="1" u="sng" dirty="0"/>
              <a:t> Problem with Setup Costs (Chapter 7.3)</a:t>
            </a:r>
          </a:p>
          <a:p>
            <a:r>
              <a:rPr lang="en-US" b="1" dirty="0">
                <a:solidFill>
                  <a:srgbClr val="C00000"/>
                </a:solidFill>
              </a:rPr>
              <a:t>STEP 0: </a:t>
            </a:r>
            <a:r>
              <a:rPr lang="en-US" dirty="0"/>
              <a:t>Same data</a:t>
            </a:r>
          </a:p>
        </p:txBody>
      </p:sp>
      <p:graphicFrame>
        <p:nvGraphicFramePr>
          <p:cNvPr id="4" name="Group 117"/>
          <p:cNvGraphicFramePr>
            <a:graphicFrameLocks/>
          </p:cNvGraphicFramePr>
          <p:nvPr/>
        </p:nvGraphicFramePr>
        <p:xfrm>
          <a:off x="355002" y="2496493"/>
          <a:ext cx="6172200" cy="3581400"/>
        </p:xfrm>
        <a:graphic>
          <a:graphicData uri="http://schemas.openxmlformats.org/drawingml/2006/table">
            <a:tbl>
              <a:tblPr/>
              <a:tblGrid>
                <a:gridCol w="19050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209800">
                  <a:extLst>
                    <a:ext uri="{9D8B030D-6E8A-4147-A177-3AD203B41FA5}">
                      <a16:colId xmlns:a16="http://schemas.microsoft.com/office/drawing/2014/main" val="20002"/>
                    </a:ext>
                  </a:extLst>
                </a:gridCol>
              </a:tblGrid>
              <a:tr h="304800">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600" b="1" i="0" u="none" strike="noStrike" cap="none" normalizeH="0" baseline="0" dirty="0">
                        <a:ln>
                          <a:noFill/>
                        </a:ln>
                        <a:solidFill>
                          <a:schemeClr val="tx1"/>
                        </a:solidFill>
                        <a:effectLst/>
                        <a:latin typeface="Times New Roman" pitchFamily="1" charset="0"/>
                      </a:endParaRPr>
                    </a:p>
                  </a:txBody>
                  <a:tcPr anchor="b" horzOverflow="overflow">
                    <a:lnL cap="flat">
                      <a:noFill/>
                    </a:lnL>
                    <a:lnR>
                      <a:noFill/>
                    </a:lnR>
                    <a:lnT cap="flat">
                      <a:noFill/>
                    </a:lnT>
                    <a:lnB>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Net Profit ($)</a:t>
                      </a:r>
                    </a:p>
                  </a:txBody>
                  <a:tcPr anchor="b"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503238">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Number of</a:t>
                      </a:r>
                      <a:br>
                        <a:rPr kumimoji="0" lang="en-US" sz="1600" b="1" i="0" u="none" strike="noStrike" cap="none" normalizeH="0" baseline="0">
                          <a:ln>
                            <a:noFill/>
                          </a:ln>
                          <a:solidFill>
                            <a:schemeClr val="tx1"/>
                          </a:solidFill>
                          <a:effectLst/>
                          <a:latin typeface="Times New Roman" pitchFamily="1" charset="0"/>
                        </a:rPr>
                      </a:br>
                      <a:r>
                        <a:rPr kumimoji="0" lang="en-US" sz="1600" b="1" i="0" u="none" strike="noStrike" cap="none" normalizeH="0" baseline="0">
                          <a:ln>
                            <a:noFill/>
                          </a:ln>
                          <a:solidFill>
                            <a:schemeClr val="tx1"/>
                          </a:solidFill>
                          <a:effectLst/>
                          <a:latin typeface="Times New Roman" pitchFamily="1" charset="0"/>
                        </a:rPr>
                        <a:t>Units Produced</a:t>
                      </a:r>
                    </a:p>
                  </a:txBody>
                  <a:tcPr anchor="b"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dirty="0">
                          <a:ln>
                            <a:noFill/>
                          </a:ln>
                          <a:solidFill>
                            <a:schemeClr val="tx1"/>
                          </a:solidFill>
                          <a:effectLst/>
                          <a:latin typeface="Times New Roman" pitchFamily="1" charset="0"/>
                        </a:rPr>
                        <a:t>Doors</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1" i="0" u="none" strike="noStrike" cap="none" normalizeH="0" baseline="0">
                          <a:ln>
                            <a:noFill/>
                          </a:ln>
                          <a:solidFill>
                            <a:schemeClr val="tx1"/>
                          </a:solidFill>
                          <a:effectLst/>
                          <a:latin typeface="Times New Roman" pitchFamily="1" charset="0"/>
                        </a:rPr>
                        <a:t>Windows</a:t>
                      </a:r>
                    </a:p>
                  </a:txBody>
                  <a:tcPr anchor="b"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0</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0(300) – 0 = 0</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0 (500) – 0 = 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1(300) – 700 = –400</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1(500) – 1,300 = –800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2</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2(300) – 700 = –100</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2(500) – 1,300 = –300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3</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3(300) – 700 = 200</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3(500) – 1,300 = 200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4</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4(300) – 700 = 500</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4(500) – 1,300 = 700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5</a:t>
                      </a:r>
                    </a:p>
                  </a:txBody>
                  <a:tcPr horzOverflow="overflow">
                    <a:lnL cap="flat">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Not feasible</a:t>
                      </a:r>
                    </a:p>
                  </a:txBody>
                  <a:tcP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5(500) – 1,300 = 1,200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381000">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6</a:t>
                      </a:r>
                    </a:p>
                  </a:txBody>
                  <a:tcPr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 charset="0"/>
                        </a:rPr>
                        <a:t>Not feasible</a:t>
                      </a:r>
                    </a:p>
                  </a:txBody>
                  <a:tcPr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 charset="0"/>
                        </a:rPr>
                        <a:t>6(500) – 1,300 = 1,700</a:t>
                      </a: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8"/>
                  </a:ext>
                </a:extLst>
              </a:tr>
            </a:tbl>
          </a:graphicData>
        </a:graphic>
      </p:graphicFrame>
      <p:pic>
        <p:nvPicPr>
          <p:cNvPr id="5" name="Picture 3"/>
          <p:cNvPicPr>
            <a:picLocks noChangeAspect="1" noChangeArrowheads="1"/>
          </p:cNvPicPr>
          <p:nvPr/>
        </p:nvPicPr>
        <p:blipFill>
          <a:blip r:embed="rId3"/>
          <a:srcRect/>
          <a:stretch>
            <a:fillRect/>
          </a:stretch>
        </p:blipFill>
        <p:spPr bwMode="auto">
          <a:xfrm>
            <a:off x="7244919" y="2143259"/>
            <a:ext cx="4588493" cy="3955026"/>
          </a:xfrm>
          <a:prstGeom prst="rect">
            <a:avLst/>
          </a:prstGeom>
          <a:noFill/>
          <a:ln w="9525">
            <a:noFill/>
            <a:miter lim="800000"/>
            <a:headEnd/>
            <a:tailEnd/>
          </a:ln>
        </p:spPr>
      </p:pic>
    </p:spTree>
    <p:extLst>
      <p:ext uri="{BB962C8B-B14F-4D97-AF65-F5344CB8AC3E}">
        <p14:creationId xmlns:p14="http://schemas.microsoft.com/office/powerpoint/2010/main" val="2604088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Mixed-Integer Programming</a:t>
            </a:r>
          </a:p>
        </p:txBody>
      </p:sp>
      <p:sp>
        <p:nvSpPr>
          <p:cNvPr id="3" name="Content Placeholder 2"/>
          <p:cNvSpPr>
            <a:spLocks noGrp="1"/>
          </p:cNvSpPr>
          <p:nvPr>
            <p:ph idx="1"/>
          </p:nvPr>
        </p:nvSpPr>
        <p:spPr/>
        <p:txBody>
          <a:bodyPr/>
          <a:lstStyle/>
          <a:p>
            <a:r>
              <a:rPr lang="en-US" b="1" u="sng" dirty="0"/>
              <a:t>Case: </a:t>
            </a:r>
            <a:r>
              <a:rPr lang="en-US" b="1" u="sng" dirty="0" err="1"/>
              <a:t>Wyndor</a:t>
            </a:r>
            <a:r>
              <a:rPr lang="en-US" b="1" u="sng" dirty="0"/>
              <a:t> Problem with Setup Costs (Chapter 7.3)</a:t>
            </a:r>
          </a:p>
          <a:p>
            <a:r>
              <a:rPr lang="en-US" b="1" dirty="0">
                <a:solidFill>
                  <a:srgbClr val="C00000"/>
                </a:solidFill>
              </a:rPr>
              <a:t>STEP 1: </a:t>
            </a:r>
            <a:r>
              <a:rPr lang="en-US" dirty="0"/>
              <a:t>Decision variables</a:t>
            </a:r>
          </a:p>
          <a:p>
            <a:pPr lvl="1"/>
            <a:r>
              <a:rPr lang="en-US" i="1" dirty="0"/>
              <a:t>D</a:t>
            </a:r>
            <a:r>
              <a:rPr lang="en-US" dirty="0"/>
              <a:t> = Number of doors to produce,</a:t>
            </a:r>
          </a:p>
          <a:p>
            <a:pPr lvl="1"/>
            <a:r>
              <a:rPr lang="en-US" i="1" dirty="0"/>
              <a:t>W</a:t>
            </a:r>
            <a:r>
              <a:rPr lang="en-US" dirty="0"/>
              <a:t> = Number of windows to produce,</a:t>
            </a:r>
          </a:p>
          <a:p>
            <a:pPr lvl="1"/>
            <a:r>
              <a:rPr lang="en-US" i="1" dirty="0"/>
              <a:t>y</a:t>
            </a:r>
            <a:r>
              <a:rPr lang="en-US" baseline="-25000" dirty="0"/>
              <a:t>1</a:t>
            </a:r>
            <a:r>
              <a:rPr lang="en-US" dirty="0"/>
              <a:t> = 1 if perform setup to produce doors; 0 otherwise,</a:t>
            </a:r>
          </a:p>
          <a:p>
            <a:pPr lvl="1"/>
            <a:r>
              <a:rPr lang="en-US" i="1" dirty="0"/>
              <a:t>y</a:t>
            </a:r>
            <a:r>
              <a:rPr lang="en-US" baseline="-25000" dirty="0"/>
              <a:t>2</a:t>
            </a:r>
            <a:r>
              <a:rPr lang="en-US" dirty="0"/>
              <a:t> = 1 if perform setup to produce windows; 0 otherwise</a:t>
            </a:r>
          </a:p>
          <a:p>
            <a:pPr lvl="1"/>
            <a:endParaRPr lang="en-US" dirty="0"/>
          </a:p>
          <a:p>
            <a:r>
              <a:rPr lang="en-US" b="1" dirty="0">
                <a:solidFill>
                  <a:srgbClr val="C00000"/>
                </a:solidFill>
              </a:rPr>
              <a:t>STEP 2: </a:t>
            </a:r>
            <a:r>
              <a:rPr lang="en-US" dirty="0"/>
              <a:t>Objective and objective function</a:t>
            </a:r>
          </a:p>
          <a:p>
            <a:pPr lvl="1"/>
            <a:r>
              <a:rPr lang="en-US" dirty="0"/>
              <a:t>Maximize </a:t>
            </a:r>
            <a:r>
              <a:rPr lang="en-US" i="1" dirty="0"/>
              <a:t>P</a:t>
            </a:r>
            <a:r>
              <a:rPr lang="en-US" dirty="0"/>
              <a:t> = 300</a:t>
            </a:r>
            <a:r>
              <a:rPr lang="en-US" i="1" dirty="0"/>
              <a:t>D</a:t>
            </a:r>
            <a:r>
              <a:rPr lang="en-US" dirty="0"/>
              <a:t> + 500</a:t>
            </a:r>
            <a:r>
              <a:rPr lang="en-US" i="1" dirty="0"/>
              <a:t>W</a:t>
            </a:r>
            <a:r>
              <a:rPr lang="en-US" dirty="0"/>
              <a:t> – 700</a:t>
            </a:r>
            <a:r>
              <a:rPr lang="en-US" i="1" dirty="0"/>
              <a:t>y</a:t>
            </a:r>
            <a:r>
              <a:rPr lang="en-US" baseline="-25000" dirty="0"/>
              <a:t>1</a:t>
            </a:r>
            <a:r>
              <a:rPr lang="en-US" dirty="0"/>
              <a:t> – 1,300</a:t>
            </a:r>
            <a:r>
              <a:rPr lang="en-US" i="1" dirty="0"/>
              <a:t>y</a:t>
            </a:r>
            <a:r>
              <a:rPr lang="en-US" baseline="-25000" dirty="0"/>
              <a:t>2</a:t>
            </a:r>
            <a:endParaRPr lang="en-US" dirty="0"/>
          </a:p>
        </p:txBody>
      </p:sp>
    </p:spTree>
    <p:extLst>
      <p:ext uri="{BB962C8B-B14F-4D97-AF65-F5344CB8AC3E}">
        <p14:creationId xmlns:p14="http://schemas.microsoft.com/office/powerpoint/2010/main" val="1541979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Mixed-Integer Programming</a:t>
            </a:r>
          </a:p>
        </p:txBody>
      </p:sp>
      <p:sp>
        <p:nvSpPr>
          <p:cNvPr id="3" name="Content Placeholder 2"/>
          <p:cNvSpPr>
            <a:spLocks noGrp="1"/>
          </p:cNvSpPr>
          <p:nvPr>
            <p:ph idx="1"/>
          </p:nvPr>
        </p:nvSpPr>
        <p:spPr/>
        <p:txBody>
          <a:bodyPr>
            <a:normAutofit fontScale="92500" lnSpcReduction="10000"/>
          </a:bodyPr>
          <a:lstStyle/>
          <a:p>
            <a:r>
              <a:rPr lang="en-US" b="1" u="sng" dirty="0"/>
              <a:t>Case: </a:t>
            </a:r>
            <a:r>
              <a:rPr lang="en-US" b="1" u="sng" dirty="0" err="1"/>
              <a:t>Wyndor</a:t>
            </a:r>
            <a:r>
              <a:rPr lang="en-US" b="1" u="sng" dirty="0"/>
              <a:t> Problem with Setup Costs (Chapter 7.3)</a:t>
            </a:r>
          </a:p>
          <a:p>
            <a:r>
              <a:rPr lang="en-US" b="1" dirty="0">
                <a:solidFill>
                  <a:srgbClr val="C00000"/>
                </a:solidFill>
              </a:rPr>
              <a:t>STEP 3: </a:t>
            </a:r>
            <a:r>
              <a:rPr lang="en-US" dirty="0"/>
              <a:t>Constraints</a:t>
            </a:r>
          </a:p>
          <a:p>
            <a:pPr lvl="1"/>
            <a:r>
              <a:rPr lang="en-US" dirty="0"/>
              <a:t>Original Constraints:</a:t>
            </a:r>
          </a:p>
          <a:p>
            <a:pPr lvl="2"/>
            <a:r>
              <a:rPr lang="en-US" dirty="0"/>
              <a:t>Plant 1:	</a:t>
            </a:r>
            <a:r>
              <a:rPr lang="en-US" i="1" dirty="0"/>
              <a:t>D</a:t>
            </a:r>
            <a:r>
              <a:rPr lang="en-US" dirty="0"/>
              <a:t> ≤ 4</a:t>
            </a:r>
          </a:p>
          <a:p>
            <a:pPr lvl="2"/>
            <a:r>
              <a:rPr lang="en-US" dirty="0"/>
              <a:t>Plant 2:	2</a:t>
            </a:r>
            <a:r>
              <a:rPr lang="en-US" i="1" dirty="0"/>
              <a:t>W</a:t>
            </a:r>
            <a:r>
              <a:rPr lang="en-US" dirty="0"/>
              <a:t> ≤ 12</a:t>
            </a:r>
          </a:p>
          <a:p>
            <a:pPr lvl="2"/>
            <a:r>
              <a:rPr lang="en-US" dirty="0"/>
              <a:t>Plant 3:	3</a:t>
            </a:r>
            <a:r>
              <a:rPr lang="en-US" i="1" dirty="0"/>
              <a:t>D</a:t>
            </a:r>
            <a:r>
              <a:rPr lang="en-US" dirty="0"/>
              <a:t> + 2</a:t>
            </a:r>
            <a:r>
              <a:rPr lang="en-US" i="1" dirty="0"/>
              <a:t>W</a:t>
            </a:r>
            <a:r>
              <a:rPr lang="en-US" dirty="0"/>
              <a:t> ≤ 18</a:t>
            </a:r>
          </a:p>
          <a:p>
            <a:pPr lvl="1"/>
            <a:r>
              <a:rPr lang="en-US" dirty="0"/>
              <a:t>No setup, no production! </a:t>
            </a:r>
          </a:p>
          <a:p>
            <a:pPr lvl="1"/>
            <a:r>
              <a:rPr lang="en-US" dirty="0"/>
              <a:t>If setup, we can produce any amount (other constraints will restrict)</a:t>
            </a:r>
          </a:p>
          <a:p>
            <a:pPr lvl="2"/>
            <a:r>
              <a:rPr lang="en-US" dirty="0"/>
              <a:t>If no setup for doors, doors cannot be produced; </a:t>
            </a:r>
          </a:p>
          <a:p>
            <a:pPr lvl="2"/>
            <a:r>
              <a:rPr lang="en-US" dirty="0"/>
              <a:t>but if setup is paid, any number of doors can be produced. </a:t>
            </a:r>
          </a:p>
          <a:p>
            <a:pPr lvl="3"/>
            <a:r>
              <a:rPr lang="en-US" dirty="0"/>
              <a:t>That is: if </a:t>
            </a:r>
            <a:r>
              <a:rPr lang="en-US" i="1" dirty="0"/>
              <a:t>y</a:t>
            </a:r>
            <a:r>
              <a:rPr lang="en-US" baseline="-25000" dirty="0"/>
              <a:t>1</a:t>
            </a:r>
            <a:r>
              <a:rPr lang="en-US" dirty="0"/>
              <a:t> = 0, then D=0; but if </a:t>
            </a:r>
            <a:r>
              <a:rPr lang="en-US" i="1" dirty="0"/>
              <a:t>y</a:t>
            </a:r>
            <a:r>
              <a:rPr lang="en-US" baseline="-25000" dirty="0"/>
              <a:t>1</a:t>
            </a:r>
            <a:r>
              <a:rPr lang="en-US" dirty="0"/>
              <a:t> = 1, then D&lt;=M, where M is a large number</a:t>
            </a:r>
          </a:p>
          <a:p>
            <a:pPr lvl="3"/>
            <a:r>
              <a:rPr lang="en-US" dirty="0"/>
              <a:t>Therefore, we have</a:t>
            </a:r>
          </a:p>
          <a:p>
            <a:pPr lvl="3"/>
            <a:r>
              <a:rPr lang="en-US" i="1" dirty="0"/>
              <a:t>D</a:t>
            </a:r>
            <a:r>
              <a:rPr lang="en-US" dirty="0"/>
              <a:t> ≤ M</a:t>
            </a:r>
            <a:r>
              <a:rPr lang="en-US" i="1" dirty="0"/>
              <a:t>y</a:t>
            </a:r>
            <a:r>
              <a:rPr lang="en-US" baseline="-25000" dirty="0"/>
              <a:t>1</a:t>
            </a:r>
            <a:endParaRPr lang="en-US" dirty="0"/>
          </a:p>
          <a:p>
            <a:pPr lvl="2"/>
            <a:r>
              <a:rPr lang="en-US" dirty="0"/>
              <a:t>Same discussion for windows</a:t>
            </a:r>
          </a:p>
          <a:p>
            <a:pPr lvl="3"/>
            <a:r>
              <a:rPr lang="en-US" i="1" dirty="0"/>
              <a:t>W</a:t>
            </a:r>
            <a:r>
              <a:rPr lang="en-US" dirty="0"/>
              <a:t> ≤ M</a:t>
            </a:r>
            <a:r>
              <a:rPr lang="en-US" i="1" dirty="0"/>
              <a:t>y</a:t>
            </a:r>
            <a:r>
              <a:rPr lang="en-US" baseline="-25000" dirty="0"/>
              <a:t>2</a:t>
            </a:r>
            <a:endParaRPr lang="en-US" dirty="0"/>
          </a:p>
        </p:txBody>
      </p:sp>
    </p:spTree>
    <p:extLst>
      <p:ext uri="{BB962C8B-B14F-4D97-AF65-F5344CB8AC3E}">
        <p14:creationId xmlns:p14="http://schemas.microsoft.com/office/powerpoint/2010/main" val="23183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Mixed-Integer Programming</a:t>
            </a:r>
          </a:p>
        </p:txBody>
      </p:sp>
      <p:sp>
        <p:nvSpPr>
          <p:cNvPr id="3" name="Content Placeholder 2"/>
          <p:cNvSpPr>
            <a:spLocks noGrp="1"/>
          </p:cNvSpPr>
          <p:nvPr>
            <p:ph idx="1"/>
          </p:nvPr>
        </p:nvSpPr>
        <p:spPr/>
        <p:txBody>
          <a:bodyPr/>
          <a:lstStyle/>
          <a:p>
            <a:r>
              <a:rPr lang="en-US" b="1" u="sng" dirty="0"/>
              <a:t>Case: </a:t>
            </a:r>
            <a:r>
              <a:rPr lang="en-US" b="1" u="sng" dirty="0" err="1"/>
              <a:t>Wyndor</a:t>
            </a:r>
            <a:r>
              <a:rPr lang="en-US" b="1" u="sng" dirty="0"/>
              <a:t> Problem with Setup Costs (Chapter 7.3)</a:t>
            </a:r>
          </a:p>
          <a:p>
            <a:r>
              <a:rPr lang="en-US" dirty="0"/>
              <a:t>Combining everything (not forgetting binary definition and non-negativity constraints), we have:</a:t>
            </a:r>
          </a:p>
          <a:p>
            <a:pPr lvl="2"/>
            <a:endParaRPr lang="en-US" dirty="0"/>
          </a:p>
        </p:txBody>
      </p:sp>
      <p:sp>
        <p:nvSpPr>
          <p:cNvPr id="4" name="Rectangle 3"/>
          <p:cNvSpPr/>
          <p:nvPr/>
        </p:nvSpPr>
        <p:spPr>
          <a:xfrm>
            <a:off x="884350" y="2836126"/>
            <a:ext cx="6649792" cy="3046988"/>
          </a:xfrm>
          <a:prstGeom prst="rect">
            <a:avLst/>
          </a:prstGeom>
          <a:ln w="28575">
            <a:solidFill>
              <a:srgbClr val="C00000"/>
            </a:solidFill>
          </a:ln>
        </p:spPr>
        <p:txBody>
          <a:bodyPr wrap="square">
            <a:spAutoFit/>
          </a:bodyPr>
          <a:lstStyle/>
          <a:p>
            <a:r>
              <a:rPr lang="en-US" sz="2400" dirty="0"/>
              <a:t>Maximize 	P = 300D + 500W – 700y1 – 1,300y2</a:t>
            </a:r>
            <a:br>
              <a:rPr lang="en-US" sz="2400" dirty="0"/>
            </a:br>
            <a:r>
              <a:rPr lang="en-US" sz="2400" dirty="0"/>
              <a:t>subject to	D ≤ 4</a:t>
            </a:r>
            <a:br>
              <a:rPr lang="en-US" sz="2400" dirty="0"/>
            </a:br>
            <a:r>
              <a:rPr lang="en-US" sz="2400" dirty="0"/>
              <a:t>		2W ≤ 12</a:t>
            </a:r>
            <a:br>
              <a:rPr lang="en-US" sz="2400" dirty="0"/>
            </a:br>
            <a:r>
              <a:rPr lang="en-US" sz="2400" dirty="0"/>
              <a:t>		3D + 2W ≤ 18</a:t>
            </a:r>
          </a:p>
          <a:p>
            <a:r>
              <a:rPr lang="en-US" sz="2400" dirty="0"/>
              <a:t>		D ≤ My1</a:t>
            </a:r>
            <a:br>
              <a:rPr lang="en-US" sz="2400" dirty="0"/>
            </a:br>
            <a:r>
              <a:rPr lang="en-US" sz="2400" dirty="0"/>
              <a:t>		W ≤ My2</a:t>
            </a:r>
            <a:br>
              <a:rPr lang="en-US" sz="2400" dirty="0"/>
            </a:br>
            <a:r>
              <a:rPr lang="en-US" sz="2400" dirty="0"/>
              <a:t>		D ≥ 0, W ≥ 0, </a:t>
            </a:r>
          </a:p>
          <a:p>
            <a:r>
              <a:rPr lang="en-US" sz="2400" dirty="0"/>
              <a:t>		y1 and y2 are binary.</a:t>
            </a:r>
          </a:p>
        </p:txBody>
      </p:sp>
      <p:sp>
        <p:nvSpPr>
          <p:cNvPr id="5" name="TextBox 4"/>
          <p:cNvSpPr txBox="1"/>
          <p:nvPr/>
        </p:nvSpPr>
        <p:spPr>
          <a:xfrm>
            <a:off x="8063490" y="3066958"/>
            <a:ext cx="3374265" cy="2585323"/>
          </a:xfrm>
          <a:prstGeom prst="rect">
            <a:avLst/>
          </a:prstGeom>
          <a:noFill/>
        </p:spPr>
        <p:txBody>
          <a:bodyPr wrap="square" rtlCol="0">
            <a:spAutoFit/>
          </a:bodyPr>
          <a:lstStyle/>
          <a:p>
            <a:r>
              <a:rPr lang="en-US" dirty="0"/>
              <a:t>When trying to solve the model, we need to define values for M… </a:t>
            </a:r>
          </a:p>
          <a:p>
            <a:pPr marL="285750" indent="-285750">
              <a:buFont typeface="Arial" panose="020B0604020202020204" pitchFamily="34" charset="0"/>
              <a:buChar char="•"/>
            </a:pPr>
            <a:r>
              <a:rPr lang="en-US" dirty="0"/>
              <a:t>for each constraint, it might be a different  number</a:t>
            </a:r>
          </a:p>
          <a:p>
            <a:pPr marL="285750" indent="-285750">
              <a:buFont typeface="Arial" panose="020B0604020202020204" pitchFamily="34" charset="0"/>
              <a:buChar char="•"/>
            </a:pPr>
            <a:r>
              <a:rPr lang="en-US" dirty="0"/>
              <a:t>For this problem, for instance, we can use M=99</a:t>
            </a:r>
          </a:p>
          <a:p>
            <a:pPr marL="285750" indent="-285750">
              <a:buFont typeface="Arial" panose="020B0604020202020204" pitchFamily="34" charset="0"/>
              <a:buChar char="•"/>
            </a:pPr>
            <a:r>
              <a:rPr lang="en-US" dirty="0"/>
              <a:t>M should be sufficiently large so that the constraint does not eliminate any possibilities</a:t>
            </a:r>
          </a:p>
        </p:txBody>
      </p:sp>
    </p:spTree>
    <p:extLst>
      <p:ext uri="{BB962C8B-B14F-4D97-AF65-F5344CB8AC3E}">
        <p14:creationId xmlns:p14="http://schemas.microsoft.com/office/powerpoint/2010/main" val="3363132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Mixed-Integer Programming</a:t>
            </a:r>
          </a:p>
        </p:txBody>
      </p:sp>
      <p:sp>
        <p:nvSpPr>
          <p:cNvPr id="3" name="Content Placeholder 2"/>
          <p:cNvSpPr>
            <a:spLocks noGrp="1"/>
          </p:cNvSpPr>
          <p:nvPr>
            <p:ph idx="1"/>
          </p:nvPr>
        </p:nvSpPr>
        <p:spPr/>
        <p:txBody>
          <a:bodyPr/>
          <a:lstStyle/>
          <a:p>
            <a:r>
              <a:rPr lang="en-US" b="1" u="sng" dirty="0"/>
              <a:t>Case: </a:t>
            </a:r>
            <a:r>
              <a:rPr lang="en-US" b="1" u="sng" dirty="0" err="1"/>
              <a:t>Wyndor</a:t>
            </a:r>
            <a:r>
              <a:rPr lang="en-US" b="1" u="sng" dirty="0"/>
              <a:t> Problem with Setup Costs (Chapter 7.3)</a:t>
            </a:r>
          </a:p>
          <a:p>
            <a:r>
              <a:rPr lang="en-US" dirty="0"/>
              <a:t>Spreadsheet model:</a:t>
            </a:r>
          </a:p>
          <a:p>
            <a:pPr lvl="2"/>
            <a:endParaRPr lang="en-US" dirty="0"/>
          </a:p>
        </p:txBody>
      </p:sp>
      <p:graphicFrame>
        <p:nvGraphicFramePr>
          <p:cNvPr id="6" name="Object 19"/>
          <p:cNvGraphicFramePr>
            <a:graphicFrameLocks noChangeAspect="1"/>
          </p:cNvGraphicFramePr>
          <p:nvPr/>
        </p:nvGraphicFramePr>
        <p:xfrm>
          <a:off x="1385352" y="2416451"/>
          <a:ext cx="7897812" cy="3571875"/>
        </p:xfrm>
        <a:graphic>
          <a:graphicData uri="http://schemas.openxmlformats.org/presentationml/2006/ole">
            <mc:AlternateContent xmlns:mc="http://schemas.openxmlformats.org/markup-compatibility/2006">
              <mc:Choice xmlns:v="urn:schemas-microsoft-com:vml" Requires="v">
                <p:oleObj name="Worksheet" r:id="rId3" imgW="5910072" imgH="2673096" progId="Excel.Sheet.8">
                  <p:embed/>
                </p:oleObj>
              </mc:Choice>
              <mc:Fallback>
                <p:oleObj name="Worksheet" r:id="rId3" imgW="5910072" imgH="2673096" progId="Excel.Sheet.8">
                  <p:embed/>
                  <p:pic>
                    <p:nvPicPr>
                      <p:cNvPr id="6"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5352" y="2416451"/>
                        <a:ext cx="7897812" cy="3571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62441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Mixed-Integer Programming</a:t>
            </a:r>
          </a:p>
        </p:txBody>
      </p:sp>
      <p:sp>
        <p:nvSpPr>
          <p:cNvPr id="3" name="Content Placeholder 2"/>
          <p:cNvSpPr>
            <a:spLocks noGrp="1"/>
          </p:cNvSpPr>
          <p:nvPr>
            <p:ph idx="1"/>
          </p:nvPr>
        </p:nvSpPr>
        <p:spPr/>
        <p:txBody>
          <a:bodyPr/>
          <a:lstStyle/>
          <a:p>
            <a:r>
              <a:rPr lang="en-US" b="1" u="sng" dirty="0"/>
              <a:t>Case: </a:t>
            </a:r>
            <a:r>
              <a:rPr lang="en-US" b="1" u="sng" dirty="0" err="1"/>
              <a:t>Wyndor</a:t>
            </a:r>
            <a:r>
              <a:rPr lang="en-US" b="1" u="sng" dirty="0"/>
              <a:t> Problem with Setup Costs (Chapter 7.3)</a:t>
            </a:r>
          </a:p>
          <a:p>
            <a:r>
              <a:rPr lang="en-US" dirty="0"/>
              <a:t>Additional constraint:</a:t>
            </a:r>
          </a:p>
          <a:p>
            <a:pPr lvl="1"/>
            <a:r>
              <a:rPr lang="en-US" dirty="0"/>
              <a:t>If you produce doors, you have to produce at least 3 of them</a:t>
            </a:r>
          </a:p>
          <a:p>
            <a:pPr lvl="1"/>
            <a:r>
              <a:rPr lang="en-US" dirty="0"/>
              <a:t>D&gt;= 3? Would work? </a:t>
            </a:r>
          </a:p>
          <a:p>
            <a:pPr lvl="2"/>
            <a:r>
              <a:rPr lang="en-US" dirty="0"/>
              <a:t>No, because D can be 0 too</a:t>
            </a:r>
          </a:p>
          <a:p>
            <a:pPr lvl="1"/>
            <a:r>
              <a:rPr lang="en-US" dirty="0"/>
              <a:t>How about</a:t>
            </a:r>
          </a:p>
          <a:p>
            <a:pPr lvl="2"/>
            <a:r>
              <a:rPr lang="en-US" dirty="0"/>
              <a:t>D&gt;=3y</a:t>
            </a:r>
            <a:r>
              <a:rPr lang="en-US" baseline="-25000" dirty="0"/>
              <a:t>1</a:t>
            </a:r>
          </a:p>
          <a:p>
            <a:pPr lvl="2"/>
            <a:r>
              <a:rPr lang="en-US" dirty="0"/>
              <a:t>D&lt;=My</a:t>
            </a:r>
            <a:r>
              <a:rPr lang="en-US" baseline="-25000" dirty="0"/>
              <a:t>1</a:t>
            </a:r>
          </a:p>
          <a:p>
            <a:pPr lvl="1"/>
            <a:endParaRPr lang="en-US" dirty="0"/>
          </a:p>
          <a:p>
            <a:pPr lvl="1"/>
            <a:r>
              <a:rPr lang="en-US" dirty="0"/>
              <a:t>Even if we did not have the setups, we would still need to define y</a:t>
            </a:r>
            <a:r>
              <a:rPr lang="en-US" baseline="-25000" dirty="0"/>
              <a:t>1</a:t>
            </a:r>
            <a:r>
              <a:rPr lang="en-US" dirty="0"/>
              <a:t> in this case!</a:t>
            </a:r>
          </a:p>
          <a:p>
            <a:pPr marL="914400" lvl="2" indent="0">
              <a:buNone/>
            </a:pPr>
            <a:r>
              <a:rPr lang="en-US" baseline="-25000" dirty="0"/>
              <a:t>		</a:t>
            </a:r>
          </a:p>
          <a:p>
            <a:pPr lvl="1"/>
            <a:endParaRPr lang="en-US" dirty="0"/>
          </a:p>
          <a:p>
            <a:pPr lvl="2"/>
            <a:endParaRPr lang="en-US" dirty="0"/>
          </a:p>
        </p:txBody>
      </p:sp>
    </p:spTree>
    <p:extLst>
      <p:ext uri="{BB962C8B-B14F-4D97-AF65-F5344CB8AC3E}">
        <p14:creationId xmlns:p14="http://schemas.microsoft.com/office/powerpoint/2010/main" val="2819519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Site Selection</a:t>
            </a:r>
          </a:p>
        </p:txBody>
      </p:sp>
      <p:sp>
        <p:nvSpPr>
          <p:cNvPr id="3" name="Content Placeholder 2"/>
          <p:cNvSpPr>
            <a:spLocks noGrp="1"/>
          </p:cNvSpPr>
          <p:nvPr>
            <p:ph idx="1"/>
          </p:nvPr>
        </p:nvSpPr>
        <p:spPr/>
        <p:txBody>
          <a:bodyPr/>
          <a:lstStyle/>
          <a:p>
            <a:r>
              <a:rPr lang="en-US" b="1" u="sng" dirty="0">
                <a:ea typeface="ＭＳ Ｐゴシック"/>
              </a:rPr>
              <a:t>Case: Caliente City Problem (Chapter 7.3):</a:t>
            </a:r>
          </a:p>
          <a:p>
            <a:pPr lvl="1"/>
            <a:r>
              <a:rPr lang="en-US" u="sng" dirty="0"/>
              <a:t>Case Description: </a:t>
            </a:r>
            <a:r>
              <a:rPr lang="en-US" dirty="0"/>
              <a:t>Caliente City is growing rapidly and spreading well beyond its original borders</a:t>
            </a:r>
          </a:p>
          <a:p>
            <a:pPr lvl="2"/>
            <a:r>
              <a:rPr lang="en-US" dirty="0"/>
              <a:t>They still have only one fire station, located in the congested center of town</a:t>
            </a:r>
          </a:p>
          <a:p>
            <a:pPr lvl="2"/>
            <a:r>
              <a:rPr lang="en-US" dirty="0"/>
              <a:t>The result has been long delays in fire trucks reaching the outer part of the city</a:t>
            </a:r>
          </a:p>
          <a:p>
            <a:pPr lvl="1"/>
            <a:endParaRPr lang="en-US" b="1" dirty="0">
              <a:solidFill>
                <a:srgbClr val="C00000"/>
              </a:solidFill>
            </a:endParaRPr>
          </a:p>
          <a:p>
            <a:pPr lvl="1"/>
            <a:r>
              <a:rPr lang="en-US" b="1" dirty="0">
                <a:solidFill>
                  <a:srgbClr val="C00000"/>
                </a:solidFill>
              </a:rPr>
              <a:t>Goal: </a:t>
            </a:r>
            <a:r>
              <a:rPr lang="en-US" dirty="0"/>
              <a:t>Develop a plan for locating multiple fire stations throughout the city to minimize costs</a:t>
            </a:r>
          </a:p>
          <a:p>
            <a:pPr lvl="1"/>
            <a:r>
              <a:rPr lang="en-US" b="1" dirty="0">
                <a:solidFill>
                  <a:srgbClr val="C00000"/>
                </a:solidFill>
              </a:rPr>
              <a:t>New Policy: </a:t>
            </a:r>
            <a:r>
              <a:rPr lang="en-US" dirty="0"/>
              <a:t>Response Time ≤ 10 minutes</a:t>
            </a:r>
          </a:p>
        </p:txBody>
      </p:sp>
    </p:spTree>
    <p:extLst>
      <p:ext uri="{BB962C8B-B14F-4D97-AF65-F5344CB8AC3E}">
        <p14:creationId xmlns:p14="http://schemas.microsoft.com/office/powerpoint/2010/main" val="290033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Site Selection</a:t>
            </a:r>
          </a:p>
        </p:txBody>
      </p:sp>
      <p:sp>
        <p:nvSpPr>
          <p:cNvPr id="3" name="Content Placeholder 2"/>
          <p:cNvSpPr>
            <a:spLocks noGrp="1"/>
          </p:cNvSpPr>
          <p:nvPr>
            <p:ph idx="1"/>
          </p:nvPr>
        </p:nvSpPr>
        <p:spPr>
          <a:xfrm>
            <a:off x="355002" y="1312432"/>
            <a:ext cx="11478410" cy="5287543"/>
          </a:xfrm>
        </p:spPr>
        <p:txBody>
          <a:bodyPr>
            <a:normAutofit/>
          </a:bodyPr>
          <a:lstStyle/>
          <a:p>
            <a:r>
              <a:rPr lang="en-US" b="1" u="sng" dirty="0">
                <a:ea typeface="ＭＳ Ｐゴシック"/>
              </a:rPr>
              <a:t>Case: Caliente City Problem (Chapter 7.3):</a:t>
            </a:r>
          </a:p>
          <a:p>
            <a:r>
              <a:rPr lang="en-US" b="1" dirty="0">
                <a:solidFill>
                  <a:srgbClr val="C00000"/>
                </a:solidFill>
                <a:ea typeface="ＭＳ Ｐゴシック"/>
              </a:rPr>
              <a:t>STEP 0:</a:t>
            </a:r>
          </a:p>
          <a:p>
            <a:endParaRPr lang="en-US" b="1" dirty="0">
              <a:solidFill>
                <a:srgbClr val="C00000"/>
              </a:solidFill>
              <a:ea typeface="ＭＳ Ｐゴシック"/>
            </a:endParaRPr>
          </a:p>
          <a:p>
            <a:endParaRPr lang="en-US" b="1" dirty="0">
              <a:solidFill>
                <a:srgbClr val="C00000"/>
              </a:solidFill>
              <a:ea typeface="ＭＳ Ｐゴシック"/>
            </a:endParaRPr>
          </a:p>
          <a:p>
            <a:endParaRPr lang="en-US" b="1" dirty="0">
              <a:solidFill>
                <a:srgbClr val="C00000"/>
              </a:solidFill>
              <a:ea typeface="ＭＳ Ｐゴシック"/>
            </a:endParaRPr>
          </a:p>
          <a:p>
            <a:endParaRPr lang="en-US" b="1" dirty="0">
              <a:solidFill>
                <a:srgbClr val="C00000"/>
              </a:solidFill>
              <a:ea typeface="ＭＳ Ｐゴシック"/>
            </a:endParaRPr>
          </a:p>
          <a:p>
            <a:endParaRPr lang="en-US" b="1" dirty="0">
              <a:solidFill>
                <a:srgbClr val="C00000"/>
              </a:solidFill>
              <a:ea typeface="ＭＳ Ｐゴシック"/>
            </a:endParaRPr>
          </a:p>
          <a:p>
            <a:endParaRPr lang="en-US" b="1" dirty="0">
              <a:solidFill>
                <a:srgbClr val="C00000"/>
              </a:solidFill>
              <a:ea typeface="ＭＳ Ｐゴシック"/>
            </a:endParaRPr>
          </a:p>
          <a:p>
            <a:r>
              <a:rPr lang="en-US" b="1" dirty="0">
                <a:solidFill>
                  <a:srgbClr val="C00000"/>
                </a:solidFill>
                <a:ea typeface="ＭＳ Ｐゴシック"/>
              </a:rPr>
              <a:t>STEP 1: </a:t>
            </a:r>
            <a:r>
              <a:rPr lang="en-US" dirty="0">
                <a:ea typeface="ＭＳ Ｐゴシック"/>
              </a:rPr>
              <a:t>Decision Variables</a:t>
            </a:r>
          </a:p>
          <a:p>
            <a:pPr lvl="1"/>
            <a:r>
              <a:rPr lang="en-US" dirty="0"/>
              <a:t>Let </a:t>
            </a:r>
            <a:r>
              <a:rPr lang="en-US" i="1" dirty="0" err="1"/>
              <a:t>x</a:t>
            </a:r>
            <a:r>
              <a:rPr lang="en-US" i="1" baseline="-25000" dirty="0" err="1"/>
              <a:t>j</a:t>
            </a:r>
            <a:r>
              <a:rPr lang="en-US" i="1" dirty="0"/>
              <a:t> </a:t>
            </a:r>
            <a:r>
              <a:rPr lang="en-US" dirty="0"/>
              <a:t>= 1 if tract </a:t>
            </a:r>
            <a:r>
              <a:rPr lang="en-US" i="1" dirty="0"/>
              <a:t>j</a:t>
            </a:r>
            <a:r>
              <a:rPr lang="en-US" dirty="0"/>
              <a:t> is selected to receive a fire station; 0 otherwise (</a:t>
            </a:r>
            <a:r>
              <a:rPr lang="en-US" i="1" dirty="0"/>
              <a:t>j</a:t>
            </a:r>
            <a:r>
              <a:rPr lang="en-US" dirty="0"/>
              <a:t> = 1, 2, … , 8)</a:t>
            </a:r>
          </a:p>
          <a:p>
            <a:endParaRPr lang="en-US" dirty="0">
              <a:ea typeface="ＭＳ Ｐゴシック"/>
            </a:endParaRPr>
          </a:p>
        </p:txBody>
      </p:sp>
      <p:graphicFrame>
        <p:nvGraphicFramePr>
          <p:cNvPr id="4" name="Group 412"/>
          <p:cNvGraphicFramePr>
            <a:graphicFrameLocks noGrp="1"/>
          </p:cNvGraphicFramePr>
          <p:nvPr>
            <p:extLst>
              <p:ext uri="{D42A27DB-BD31-4B8C-83A1-F6EECF244321}">
                <p14:modId xmlns:p14="http://schemas.microsoft.com/office/powerpoint/2010/main" val="3420167907"/>
              </p:ext>
            </p:extLst>
          </p:nvPr>
        </p:nvGraphicFramePr>
        <p:xfrm>
          <a:off x="618185" y="1822005"/>
          <a:ext cx="9399303" cy="3352866"/>
        </p:xfrm>
        <a:graphic>
          <a:graphicData uri="http://schemas.openxmlformats.org/drawingml/2006/table">
            <a:tbl>
              <a:tblPr/>
              <a:tblGrid>
                <a:gridCol w="1617084">
                  <a:extLst>
                    <a:ext uri="{9D8B030D-6E8A-4147-A177-3AD203B41FA5}">
                      <a16:colId xmlns:a16="http://schemas.microsoft.com/office/drawing/2014/main" val="20000"/>
                    </a:ext>
                  </a:extLst>
                </a:gridCol>
                <a:gridCol w="960465">
                  <a:extLst>
                    <a:ext uri="{9D8B030D-6E8A-4147-A177-3AD203B41FA5}">
                      <a16:colId xmlns:a16="http://schemas.microsoft.com/office/drawing/2014/main" val="20001"/>
                    </a:ext>
                  </a:extLst>
                </a:gridCol>
                <a:gridCol w="564898">
                  <a:extLst>
                    <a:ext uri="{9D8B030D-6E8A-4147-A177-3AD203B41FA5}">
                      <a16:colId xmlns:a16="http://schemas.microsoft.com/office/drawing/2014/main" val="20002"/>
                    </a:ext>
                  </a:extLst>
                </a:gridCol>
                <a:gridCol w="799196">
                  <a:extLst>
                    <a:ext uri="{9D8B030D-6E8A-4147-A177-3AD203B41FA5}">
                      <a16:colId xmlns:a16="http://schemas.microsoft.com/office/drawing/2014/main" val="20003"/>
                    </a:ext>
                  </a:extLst>
                </a:gridCol>
                <a:gridCol w="909610">
                  <a:extLst>
                    <a:ext uri="{9D8B030D-6E8A-4147-A177-3AD203B41FA5}">
                      <a16:colId xmlns:a16="http://schemas.microsoft.com/office/drawing/2014/main" val="20004"/>
                    </a:ext>
                  </a:extLst>
                </a:gridCol>
                <a:gridCol w="909610">
                  <a:extLst>
                    <a:ext uri="{9D8B030D-6E8A-4147-A177-3AD203B41FA5}">
                      <a16:colId xmlns:a16="http://schemas.microsoft.com/office/drawing/2014/main" val="20005"/>
                    </a:ext>
                  </a:extLst>
                </a:gridCol>
                <a:gridCol w="909610">
                  <a:extLst>
                    <a:ext uri="{9D8B030D-6E8A-4147-A177-3AD203B41FA5}">
                      <a16:colId xmlns:a16="http://schemas.microsoft.com/office/drawing/2014/main" val="20006"/>
                    </a:ext>
                  </a:extLst>
                </a:gridCol>
                <a:gridCol w="909610">
                  <a:extLst>
                    <a:ext uri="{9D8B030D-6E8A-4147-A177-3AD203B41FA5}">
                      <a16:colId xmlns:a16="http://schemas.microsoft.com/office/drawing/2014/main" val="20007"/>
                    </a:ext>
                  </a:extLst>
                </a:gridCol>
                <a:gridCol w="909610">
                  <a:extLst>
                    <a:ext uri="{9D8B030D-6E8A-4147-A177-3AD203B41FA5}">
                      <a16:colId xmlns:a16="http://schemas.microsoft.com/office/drawing/2014/main" val="20008"/>
                    </a:ext>
                  </a:extLst>
                </a:gridCol>
                <a:gridCol w="909610">
                  <a:extLst>
                    <a:ext uri="{9D8B030D-6E8A-4147-A177-3AD203B41FA5}">
                      <a16:colId xmlns:a16="http://schemas.microsoft.com/office/drawing/2014/main" val="20009"/>
                    </a:ext>
                  </a:extLst>
                </a:gridCol>
              </a:tblGrid>
              <a:tr h="277299">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pitchFamily="1" charset="0"/>
                      </a:endParaRPr>
                    </a:p>
                  </a:txBody>
                  <a:tcPr marT="45723" marB="45723"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marT="45723" marB="45723" horzOverflow="overflow">
                    <a:lnL>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gridSpan="8">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Fire Station in Tract</a:t>
                      </a:r>
                    </a:p>
                  </a:txBody>
                  <a:tcPr marT="45723" marB="45723" horzOverflow="overflow">
                    <a:lnL w="12700" cap="flat" cmpd="sng" algn="ctr">
                      <a:solidFill>
                        <a:schemeClr val="tx1"/>
                      </a:solidFill>
                      <a:prstDash val="solid"/>
                      <a:round/>
                      <a:headEnd type="none" w="med" len="med"/>
                      <a:tailEnd type="none" w="med" len="med"/>
                    </a:lnL>
                    <a:lnR cap="flat">
                      <a:noFill/>
                    </a:lnR>
                    <a:lnT cap="flat">
                      <a:noFill/>
                    </a:lnT>
                    <a:lnB>
                      <a:noFill/>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77299">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marT="45723" marB="45723" horzOverflow="overflow">
                    <a:lnL cap="flat">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marT="45723" marB="45723"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a:t>
                      </a:r>
                    </a:p>
                  </a:txBody>
                  <a:tcPr marT="45723" marB="45723"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marT="45723" marB="45723"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a:t>
                      </a:r>
                    </a:p>
                  </a:txBody>
                  <a:tcPr marT="45723" marB="45723"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a:t>
                      </a:r>
                    </a:p>
                  </a:txBody>
                  <a:tcPr marT="45723" marB="45723"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a:t>
                      </a:r>
                    </a:p>
                  </a:txBody>
                  <a:tcPr marT="45723" marB="45723"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6</a:t>
                      </a:r>
                    </a:p>
                  </a:txBody>
                  <a:tcPr marT="45723" marB="45723"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7</a:t>
                      </a:r>
                    </a:p>
                  </a:txBody>
                  <a:tcPr marT="45723" marB="45723"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8</a:t>
                      </a:r>
                    </a:p>
                  </a:txBody>
                  <a:tcPr marT="45723" marB="45723" horzOverflow="overflow">
                    <a:lnL>
                      <a:noFill/>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7299">
                <a:tc rowSpan="8">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Response times (minutes) for a fire in tract</a:t>
                      </a:r>
                    </a:p>
                  </a:txBody>
                  <a:tcPr marT="45723" marB="45723"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a:t>
                      </a:r>
                    </a:p>
                  </a:txBody>
                  <a:tcPr marT="45723" marB="45723"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8</a:t>
                      </a:r>
                    </a:p>
                  </a:txBody>
                  <a:tcPr marT="45723" marB="45723"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18</a:t>
                      </a:r>
                    </a:p>
                  </a:txBody>
                  <a:tcPr marT="45723" marB="45723"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9</a:t>
                      </a:r>
                    </a:p>
                  </a:txBody>
                  <a:tcPr marT="45723" marB="45723"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23</a:t>
                      </a:r>
                    </a:p>
                  </a:txBody>
                  <a:tcPr marT="45723" marB="45723"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22</a:t>
                      </a:r>
                    </a:p>
                  </a:txBody>
                  <a:tcPr marT="45723" marB="45723"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16</a:t>
                      </a:r>
                    </a:p>
                  </a:txBody>
                  <a:tcPr marT="45723" marB="45723"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28</a:t>
                      </a:r>
                    </a:p>
                  </a:txBody>
                  <a:tcPr marT="45723" marB="45723"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2"/>
                  </a:ext>
                </a:extLst>
              </a:tr>
              <a:tr h="277299">
                <a:tc v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marT="45723" marB="45723"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9</a:t>
                      </a:r>
                    </a:p>
                  </a:txBody>
                  <a:tcPr marT="45723" marB="45723"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12</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16</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14</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21</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25</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77299">
                <a:tc v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a:t>
                      </a:r>
                    </a:p>
                  </a:txBody>
                  <a:tcPr marT="45723" marB="45723"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17</a:t>
                      </a:r>
                    </a:p>
                  </a:txBody>
                  <a:tcPr marT="45723" marB="45723"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8</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20</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21</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8</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22</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17</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277299">
                <a:tc v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a:t>
                      </a:r>
                    </a:p>
                  </a:txBody>
                  <a:tcPr marT="45723" marB="45723"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10</a:t>
                      </a:r>
                    </a:p>
                  </a:txBody>
                  <a:tcPr marT="45723" marB="45723"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13</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19</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18</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21</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6</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12</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277299">
                <a:tc v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a:t>
                      </a:r>
                    </a:p>
                  </a:txBody>
                  <a:tcPr marT="45723" marB="45723"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21</a:t>
                      </a:r>
                    </a:p>
                  </a:txBody>
                  <a:tcPr marT="45723" marB="45723"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12</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16</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13</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11</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9</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12</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277299">
                <a:tc v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6</a:t>
                      </a:r>
                    </a:p>
                  </a:txBody>
                  <a:tcPr marT="45723" marB="45723"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25</a:t>
                      </a:r>
                    </a:p>
                  </a:txBody>
                  <a:tcPr marT="45723" marB="45723"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15</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7</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21</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15</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14</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8</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277299">
                <a:tc v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7</a:t>
                      </a:r>
                    </a:p>
                  </a:txBody>
                  <a:tcPr marT="45723" marB="45723"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14</a:t>
                      </a:r>
                    </a:p>
                  </a:txBody>
                  <a:tcPr marT="45723" marB="45723"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22</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18</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7</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13</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15</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marT="45723" marB="45723"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9</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277299">
                <a:tc v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8</a:t>
                      </a:r>
                    </a:p>
                  </a:txBody>
                  <a:tcPr marT="45723" marB="45723"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30</a:t>
                      </a:r>
                    </a:p>
                  </a:txBody>
                  <a:tcPr marT="45723" marB="45723"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24</a:t>
                      </a:r>
                    </a:p>
                  </a:txBody>
                  <a:tcPr marT="45723" marB="45723"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15</a:t>
                      </a:r>
                    </a:p>
                  </a:txBody>
                  <a:tcPr marT="45723" marB="45723"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14</a:t>
                      </a:r>
                    </a:p>
                  </a:txBody>
                  <a:tcPr marT="45723" marB="45723"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17</a:t>
                      </a:r>
                    </a:p>
                  </a:txBody>
                  <a:tcPr marT="45723" marB="45723"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9</a:t>
                      </a:r>
                    </a:p>
                  </a:txBody>
                  <a:tcPr marT="45723" marB="45723"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8</a:t>
                      </a:r>
                    </a:p>
                  </a:txBody>
                  <a:tcPr marT="45723" marB="45723"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a:t>
                      </a:r>
                    </a:p>
                  </a:txBody>
                  <a:tcPr marT="45723" marB="45723" horzOverflow="overflow">
                    <a:lnL>
                      <a:noFill/>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7299">
                <a:tc gridSpan="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Cost of Station ($thousands)</a:t>
                      </a:r>
                    </a:p>
                  </a:txBody>
                  <a:tcPr marT="45723" marB="45723"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350</a:t>
                      </a:r>
                    </a:p>
                  </a:txBody>
                  <a:tcPr marT="45723" marB="45723"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250</a:t>
                      </a:r>
                    </a:p>
                  </a:txBody>
                  <a:tcPr marT="45723" marB="45723"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450</a:t>
                      </a:r>
                    </a:p>
                  </a:txBody>
                  <a:tcPr marT="45723" marB="45723"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300</a:t>
                      </a:r>
                    </a:p>
                  </a:txBody>
                  <a:tcPr marT="45723" marB="45723"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50</a:t>
                      </a:r>
                    </a:p>
                  </a:txBody>
                  <a:tcPr marT="45723" marB="45723"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400</a:t>
                      </a:r>
                    </a:p>
                  </a:txBody>
                  <a:tcPr marT="45723" marB="45723"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300</a:t>
                      </a:r>
                    </a:p>
                  </a:txBody>
                  <a:tcPr marT="45723" marB="45723"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200</a:t>
                      </a:r>
                    </a:p>
                  </a:txBody>
                  <a:tcPr marT="45723" marB="45723"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850502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Site Selection</a:t>
            </a:r>
          </a:p>
        </p:txBody>
      </p:sp>
      <p:sp>
        <p:nvSpPr>
          <p:cNvPr id="3" name="Content Placeholder 2"/>
          <p:cNvSpPr>
            <a:spLocks noGrp="1"/>
          </p:cNvSpPr>
          <p:nvPr>
            <p:ph idx="1"/>
          </p:nvPr>
        </p:nvSpPr>
        <p:spPr/>
        <p:txBody>
          <a:bodyPr>
            <a:normAutofit lnSpcReduction="10000"/>
          </a:bodyPr>
          <a:lstStyle/>
          <a:p>
            <a:r>
              <a:rPr lang="en-US" b="1" u="sng" dirty="0">
                <a:ea typeface="ＭＳ Ｐゴシック"/>
              </a:rPr>
              <a:t>Case: Caliente City Problem (Chapter 7.3):</a:t>
            </a:r>
          </a:p>
          <a:p>
            <a:r>
              <a:rPr lang="en-US" b="1" dirty="0">
                <a:solidFill>
                  <a:srgbClr val="C00000"/>
                </a:solidFill>
                <a:ea typeface="ＭＳ Ｐゴシック"/>
              </a:rPr>
              <a:t>STEP 2: </a:t>
            </a:r>
            <a:r>
              <a:rPr lang="en-US" dirty="0">
                <a:ea typeface="ＭＳ Ｐゴシック"/>
              </a:rPr>
              <a:t>Objective and objective function</a:t>
            </a:r>
          </a:p>
          <a:p>
            <a:pPr lvl="1"/>
            <a:r>
              <a:rPr lang="en-US" dirty="0"/>
              <a:t>Minimize </a:t>
            </a:r>
            <a:r>
              <a:rPr lang="en-US" i="1" dirty="0"/>
              <a:t>	</a:t>
            </a:r>
            <a:r>
              <a:rPr lang="en-US" dirty="0"/>
              <a:t>350</a:t>
            </a:r>
            <a:r>
              <a:rPr lang="en-US" i="1" dirty="0"/>
              <a:t>x</a:t>
            </a:r>
            <a:r>
              <a:rPr lang="en-US" baseline="-25000" dirty="0"/>
              <a:t>1</a:t>
            </a:r>
            <a:r>
              <a:rPr lang="en-US" dirty="0"/>
              <a:t> + 250</a:t>
            </a:r>
            <a:r>
              <a:rPr lang="en-US" i="1" dirty="0"/>
              <a:t>x</a:t>
            </a:r>
            <a:r>
              <a:rPr lang="en-US" baseline="-25000" dirty="0"/>
              <a:t>2</a:t>
            </a:r>
            <a:r>
              <a:rPr lang="en-US" dirty="0"/>
              <a:t> + 450</a:t>
            </a:r>
            <a:r>
              <a:rPr lang="en-US" i="1" dirty="0"/>
              <a:t>x</a:t>
            </a:r>
            <a:r>
              <a:rPr lang="en-US" baseline="-25000" dirty="0"/>
              <a:t>3</a:t>
            </a:r>
            <a:r>
              <a:rPr lang="en-US" dirty="0"/>
              <a:t> + 300</a:t>
            </a:r>
            <a:r>
              <a:rPr lang="en-US" i="1" dirty="0"/>
              <a:t>x</a:t>
            </a:r>
            <a:r>
              <a:rPr lang="en-US" baseline="-25000" dirty="0"/>
              <a:t>4</a:t>
            </a:r>
            <a:r>
              <a:rPr lang="en-US" dirty="0"/>
              <a:t> + 50</a:t>
            </a:r>
            <a:r>
              <a:rPr lang="en-US" i="1" dirty="0"/>
              <a:t>x</a:t>
            </a:r>
            <a:r>
              <a:rPr lang="en-US" baseline="-25000" dirty="0"/>
              <a:t>5</a:t>
            </a:r>
            <a:r>
              <a:rPr lang="en-US" dirty="0"/>
              <a:t> + 400</a:t>
            </a:r>
            <a:r>
              <a:rPr lang="en-US" i="1" dirty="0"/>
              <a:t>x</a:t>
            </a:r>
            <a:r>
              <a:rPr lang="en-US" baseline="-25000" dirty="0"/>
              <a:t>6</a:t>
            </a:r>
            <a:r>
              <a:rPr lang="en-US" dirty="0"/>
              <a:t> + 300</a:t>
            </a:r>
            <a:r>
              <a:rPr lang="en-US" i="1" dirty="0"/>
              <a:t>x</a:t>
            </a:r>
            <a:r>
              <a:rPr lang="en-US" baseline="-25000" dirty="0"/>
              <a:t>7</a:t>
            </a:r>
            <a:r>
              <a:rPr lang="en-US" dirty="0"/>
              <a:t> + 200</a:t>
            </a:r>
            <a:r>
              <a:rPr lang="en-US" i="1" dirty="0"/>
              <a:t>x</a:t>
            </a:r>
            <a:r>
              <a:rPr lang="en-US" baseline="-25000" dirty="0"/>
              <a:t>8</a:t>
            </a:r>
            <a:endParaRPr lang="en-US" dirty="0"/>
          </a:p>
          <a:p>
            <a:r>
              <a:rPr lang="en-US" b="1" dirty="0">
                <a:solidFill>
                  <a:srgbClr val="C00000"/>
                </a:solidFill>
                <a:ea typeface="ＭＳ Ｐゴシック"/>
              </a:rPr>
              <a:t>STEP 3: </a:t>
            </a:r>
            <a:r>
              <a:rPr lang="en-US" dirty="0">
                <a:ea typeface="ＭＳ Ｐゴシック"/>
              </a:rPr>
              <a:t>Constraints</a:t>
            </a:r>
          </a:p>
          <a:p>
            <a:pPr lvl="1"/>
            <a:r>
              <a:rPr lang="en-US" dirty="0">
                <a:ea typeface="ＭＳ Ｐゴシック"/>
              </a:rPr>
              <a:t>Each tract should be reachable within 10 minutes</a:t>
            </a:r>
          </a:p>
          <a:p>
            <a:pPr lvl="2"/>
            <a:r>
              <a:rPr lang="en-US" i="1" dirty="0"/>
              <a:t>x</a:t>
            </a:r>
            <a:r>
              <a:rPr lang="en-US" baseline="-25000" dirty="0"/>
              <a:t>1</a:t>
            </a:r>
            <a:r>
              <a:rPr lang="en-US" dirty="0"/>
              <a:t> + </a:t>
            </a:r>
            <a:r>
              <a:rPr lang="en-US" i="1" dirty="0"/>
              <a:t>x</a:t>
            </a:r>
            <a:r>
              <a:rPr lang="en-US" baseline="-25000" dirty="0"/>
              <a:t>2</a:t>
            </a:r>
            <a:r>
              <a:rPr lang="en-US" dirty="0"/>
              <a:t> + </a:t>
            </a:r>
            <a:r>
              <a:rPr lang="en-US" i="1" dirty="0"/>
              <a:t>x</a:t>
            </a:r>
            <a:r>
              <a:rPr lang="en-US" baseline="-25000" dirty="0"/>
              <a:t>4</a:t>
            </a:r>
            <a:r>
              <a:rPr lang="en-US" dirty="0"/>
              <a:t> ≥ 1</a:t>
            </a:r>
          </a:p>
          <a:p>
            <a:pPr lvl="2"/>
            <a:r>
              <a:rPr lang="en-US" i="1" dirty="0"/>
              <a:t>x</a:t>
            </a:r>
            <a:r>
              <a:rPr lang="en-US" baseline="-25000" dirty="0"/>
              <a:t>1</a:t>
            </a:r>
            <a:r>
              <a:rPr lang="en-US" dirty="0"/>
              <a:t> + </a:t>
            </a:r>
            <a:r>
              <a:rPr lang="en-US" i="1" dirty="0"/>
              <a:t>x</a:t>
            </a:r>
            <a:r>
              <a:rPr lang="en-US" baseline="-25000" dirty="0"/>
              <a:t>2</a:t>
            </a:r>
            <a:r>
              <a:rPr lang="en-US" dirty="0"/>
              <a:t> + </a:t>
            </a:r>
            <a:r>
              <a:rPr lang="en-US" i="1" dirty="0"/>
              <a:t>x</a:t>
            </a:r>
            <a:r>
              <a:rPr lang="en-US" baseline="-25000" dirty="0"/>
              <a:t>3</a:t>
            </a:r>
            <a:r>
              <a:rPr lang="en-US" dirty="0"/>
              <a:t> ≥ 1</a:t>
            </a:r>
          </a:p>
          <a:p>
            <a:pPr lvl="2"/>
            <a:r>
              <a:rPr lang="en-US" i="1" dirty="0"/>
              <a:t>x</a:t>
            </a:r>
            <a:r>
              <a:rPr lang="en-US" baseline="-25000" dirty="0"/>
              <a:t>2</a:t>
            </a:r>
            <a:r>
              <a:rPr lang="en-US" dirty="0"/>
              <a:t> + </a:t>
            </a:r>
            <a:r>
              <a:rPr lang="en-US" i="1" dirty="0"/>
              <a:t>x</a:t>
            </a:r>
            <a:r>
              <a:rPr lang="en-US" baseline="-25000" dirty="0"/>
              <a:t>3</a:t>
            </a:r>
            <a:r>
              <a:rPr lang="en-US" dirty="0"/>
              <a:t> + </a:t>
            </a:r>
            <a:r>
              <a:rPr lang="en-US" i="1" dirty="0"/>
              <a:t>x</a:t>
            </a:r>
            <a:r>
              <a:rPr lang="en-US" baseline="-25000" dirty="0"/>
              <a:t>6</a:t>
            </a:r>
            <a:r>
              <a:rPr lang="en-US" dirty="0"/>
              <a:t> ≥ 1</a:t>
            </a:r>
          </a:p>
          <a:p>
            <a:pPr lvl="2"/>
            <a:r>
              <a:rPr lang="en-US" i="1" dirty="0"/>
              <a:t>x</a:t>
            </a:r>
            <a:r>
              <a:rPr lang="en-US" baseline="-25000" dirty="0"/>
              <a:t>1</a:t>
            </a:r>
            <a:r>
              <a:rPr lang="en-US" dirty="0"/>
              <a:t> + </a:t>
            </a:r>
            <a:r>
              <a:rPr lang="en-US" i="1" dirty="0"/>
              <a:t>x</a:t>
            </a:r>
            <a:r>
              <a:rPr lang="en-US" baseline="-25000" dirty="0"/>
              <a:t>4</a:t>
            </a:r>
            <a:r>
              <a:rPr lang="en-US" dirty="0"/>
              <a:t> + </a:t>
            </a:r>
            <a:r>
              <a:rPr lang="en-US" i="1" dirty="0"/>
              <a:t>x</a:t>
            </a:r>
            <a:r>
              <a:rPr lang="en-US" baseline="-25000" dirty="0"/>
              <a:t>7</a:t>
            </a:r>
            <a:r>
              <a:rPr lang="en-US" dirty="0"/>
              <a:t> ≥ 1</a:t>
            </a:r>
          </a:p>
          <a:p>
            <a:pPr lvl="2"/>
            <a:r>
              <a:rPr lang="en-US" i="1" dirty="0"/>
              <a:t>x</a:t>
            </a:r>
            <a:r>
              <a:rPr lang="en-US" baseline="-25000" dirty="0"/>
              <a:t>5</a:t>
            </a:r>
            <a:r>
              <a:rPr lang="en-US" dirty="0"/>
              <a:t> + </a:t>
            </a:r>
            <a:r>
              <a:rPr lang="en-US" i="1" dirty="0"/>
              <a:t>x</a:t>
            </a:r>
            <a:r>
              <a:rPr lang="en-US" baseline="-25000" dirty="0"/>
              <a:t>7</a:t>
            </a:r>
            <a:r>
              <a:rPr lang="en-US" dirty="0"/>
              <a:t> ≥ 1</a:t>
            </a:r>
          </a:p>
          <a:p>
            <a:pPr lvl="2"/>
            <a:r>
              <a:rPr lang="en-US" i="1" dirty="0"/>
              <a:t>x</a:t>
            </a:r>
            <a:r>
              <a:rPr lang="en-US" baseline="-25000" dirty="0"/>
              <a:t>3</a:t>
            </a:r>
            <a:r>
              <a:rPr lang="en-US" dirty="0"/>
              <a:t> + </a:t>
            </a:r>
            <a:r>
              <a:rPr lang="en-US" i="1" dirty="0"/>
              <a:t>x</a:t>
            </a:r>
            <a:r>
              <a:rPr lang="en-US" baseline="-25000" dirty="0"/>
              <a:t>6</a:t>
            </a:r>
            <a:r>
              <a:rPr lang="en-US" dirty="0"/>
              <a:t> + </a:t>
            </a:r>
            <a:r>
              <a:rPr lang="en-US" i="1" dirty="0"/>
              <a:t>x</a:t>
            </a:r>
            <a:r>
              <a:rPr lang="en-US" baseline="-25000" dirty="0"/>
              <a:t>8</a:t>
            </a:r>
            <a:r>
              <a:rPr lang="en-US" dirty="0"/>
              <a:t> ≥ 1</a:t>
            </a:r>
          </a:p>
          <a:p>
            <a:pPr lvl="2"/>
            <a:r>
              <a:rPr lang="en-US" i="1" dirty="0"/>
              <a:t>x</a:t>
            </a:r>
            <a:r>
              <a:rPr lang="en-US" baseline="-25000" dirty="0"/>
              <a:t>4</a:t>
            </a:r>
            <a:r>
              <a:rPr lang="en-US" dirty="0"/>
              <a:t> + </a:t>
            </a:r>
            <a:r>
              <a:rPr lang="en-US" i="1" dirty="0"/>
              <a:t>x</a:t>
            </a:r>
            <a:r>
              <a:rPr lang="en-US" baseline="-25000" dirty="0"/>
              <a:t>7</a:t>
            </a:r>
            <a:r>
              <a:rPr lang="en-US" dirty="0"/>
              <a:t> + </a:t>
            </a:r>
            <a:r>
              <a:rPr lang="en-US" i="1" dirty="0"/>
              <a:t>x</a:t>
            </a:r>
            <a:r>
              <a:rPr lang="en-US" baseline="-25000" dirty="0"/>
              <a:t>8</a:t>
            </a:r>
            <a:r>
              <a:rPr lang="en-US" dirty="0"/>
              <a:t> ≥ 1</a:t>
            </a:r>
          </a:p>
          <a:p>
            <a:pPr lvl="2"/>
            <a:r>
              <a:rPr lang="en-US" i="1" dirty="0"/>
              <a:t>x</a:t>
            </a:r>
            <a:r>
              <a:rPr lang="en-US" baseline="-25000" dirty="0"/>
              <a:t>6</a:t>
            </a:r>
            <a:r>
              <a:rPr lang="en-US" dirty="0"/>
              <a:t> + </a:t>
            </a:r>
            <a:r>
              <a:rPr lang="en-US" i="1" dirty="0"/>
              <a:t>x</a:t>
            </a:r>
            <a:r>
              <a:rPr lang="en-US" baseline="-25000" dirty="0"/>
              <a:t>7</a:t>
            </a:r>
            <a:r>
              <a:rPr lang="en-US" dirty="0"/>
              <a:t> + </a:t>
            </a:r>
            <a:r>
              <a:rPr lang="en-US" i="1" dirty="0"/>
              <a:t>x</a:t>
            </a:r>
            <a:r>
              <a:rPr lang="en-US" baseline="-25000" dirty="0"/>
              <a:t>8</a:t>
            </a:r>
            <a:r>
              <a:rPr lang="en-US" dirty="0"/>
              <a:t> ≥ 1</a:t>
            </a:r>
          </a:p>
          <a:p>
            <a:pPr lvl="1"/>
            <a:endParaRPr lang="en-US" dirty="0">
              <a:ea typeface="ＭＳ Ｐゴシック"/>
            </a:endParaRPr>
          </a:p>
          <a:p>
            <a:pPr lvl="1"/>
            <a:endParaRPr lang="en-US" dirty="0"/>
          </a:p>
          <a:p>
            <a:endParaRPr lang="en-US" dirty="0">
              <a:ea typeface="ＭＳ Ｐゴシック"/>
            </a:endParaRPr>
          </a:p>
        </p:txBody>
      </p:sp>
      <p:pic>
        <p:nvPicPr>
          <p:cNvPr id="5" name="Picture 2" descr="C:\Users\dincer\Desktop\Captur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0925" y="3586162"/>
            <a:ext cx="752475" cy="2698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8803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Site Selection</a:t>
            </a:r>
          </a:p>
        </p:txBody>
      </p:sp>
      <p:sp>
        <p:nvSpPr>
          <p:cNvPr id="3" name="Content Placeholder 2"/>
          <p:cNvSpPr>
            <a:spLocks noGrp="1"/>
          </p:cNvSpPr>
          <p:nvPr>
            <p:ph idx="1"/>
          </p:nvPr>
        </p:nvSpPr>
        <p:spPr/>
        <p:txBody>
          <a:bodyPr/>
          <a:lstStyle/>
          <a:p>
            <a:r>
              <a:rPr lang="en-US" b="1" u="sng" dirty="0">
                <a:ea typeface="ＭＳ Ｐゴシック"/>
              </a:rPr>
              <a:t>Case: Caliente City Problem (Chapter 7.3):</a:t>
            </a:r>
          </a:p>
          <a:p>
            <a:r>
              <a:rPr lang="en-US" dirty="0">
                <a:ea typeface="ＭＳ Ｐゴシック"/>
              </a:rPr>
              <a:t>Combining everything (not forgetting binary definitions), we have:</a:t>
            </a:r>
            <a:endParaRPr lang="en-US" dirty="0"/>
          </a:p>
          <a:p>
            <a:pPr lvl="1"/>
            <a:endParaRPr lang="en-US" dirty="0">
              <a:ea typeface="ＭＳ Ｐゴシック"/>
            </a:endParaRPr>
          </a:p>
          <a:p>
            <a:pPr lvl="1"/>
            <a:endParaRPr lang="en-US" dirty="0"/>
          </a:p>
          <a:p>
            <a:endParaRPr lang="en-US" dirty="0">
              <a:ea typeface="ＭＳ Ｐゴシック"/>
            </a:endParaRPr>
          </a:p>
        </p:txBody>
      </p:sp>
      <p:sp>
        <p:nvSpPr>
          <p:cNvPr id="4" name="Rectangle 3"/>
          <p:cNvSpPr/>
          <p:nvPr/>
        </p:nvSpPr>
        <p:spPr>
          <a:xfrm>
            <a:off x="1566931" y="2424001"/>
            <a:ext cx="8272530" cy="3170099"/>
          </a:xfrm>
          <a:prstGeom prst="rect">
            <a:avLst/>
          </a:prstGeom>
          <a:ln w="28575">
            <a:solidFill>
              <a:srgbClr val="C00000"/>
            </a:solidFill>
          </a:ln>
        </p:spPr>
        <p:txBody>
          <a:bodyPr wrap="square">
            <a:spAutoFit/>
          </a:bodyPr>
          <a:lstStyle/>
          <a:p>
            <a:r>
              <a:rPr lang="en-US" sz="2000" dirty="0"/>
              <a:t>Minimize </a:t>
            </a:r>
            <a:r>
              <a:rPr lang="en-US" sz="2000" i="1" dirty="0"/>
              <a:t>	</a:t>
            </a:r>
            <a:r>
              <a:rPr lang="en-US" sz="2000" dirty="0"/>
              <a:t>350</a:t>
            </a:r>
            <a:r>
              <a:rPr lang="en-US" sz="2000" i="1" dirty="0"/>
              <a:t>x</a:t>
            </a:r>
            <a:r>
              <a:rPr lang="en-US" sz="2000" baseline="-25000" dirty="0"/>
              <a:t>1</a:t>
            </a:r>
            <a:r>
              <a:rPr lang="en-US" sz="2000" dirty="0"/>
              <a:t> + 250</a:t>
            </a:r>
            <a:r>
              <a:rPr lang="en-US" sz="2000" i="1" dirty="0"/>
              <a:t>x</a:t>
            </a:r>
            <a:r>
              <a:rPr lang="en-US" sz="2000" baseline="-25000" dirty="0"/>
              <a:t>2</a:t>
            </a:r>
            <a:r>
              <a:rPr lang="en-US" sz="2000" dirty="0"/>
              <a:t> + 450</a:t>
            </a:r>
            <a:r>
              <a:rPr lang="en-US" sz="2000" i="1" dirty="0"/>
              <a:t>x</a:t>
            </a:r>
            <a:r>
              <a:rPr lang="en-US" sz="2000" baseline="-25000" dirty="0"/>
              <a:t>3</a:t>
            </a:r>
            <a:r>
              <a:rPr lang="en-US" sz="2000" dirty="0"/>
              <a:t> + 300</a:t>
            </a:r>
            <a:r>
              <a:rPr lang="en-US" sz="2000" i="1" dirty="0"/>
              <a:t>x</a:t>
            </a:r>
            <a:r>
              <a:rPr lang="en-US" sz="2000" baseline="-25000" dirty="0"/>
              <a:t>4</a:t>
            </a:r>
            <a:r>
              <a:rPr lang="en-US" sz="2000" dirty="0"/>
              <a:t> + 50</a:t>
            </a:r>
            <a:r>
              <a:rPr lang="en-US" sz="2000" i="1" dirty="0"/>
              <a:t>x</a:t>
            </a:r>
            <a:r>
              <a:rPr lang="en-US" sz="2000" baseline="-25000" dirty="0"/>
              <a:t>5</a:t>
            </a:r>
            <a:r>
              <a:rPr lang="en-US" sz="2000" dirty="0"/>
              <a:t> + 400</a:t>
            </a:r>
            <a:r>
              <a:rPr lang="en-US" sz="2000" i="1" dirty="0"/>
              <a:t>x</a:t>
            </a:r>
            <a:r>
              <a:rPr lang="en-US" sz="2000" baseline="-25000" dirty="0"/>
              <a:t>6</a:t>
            </a:r>
            <a:r>
              <a:rPr lang="en-US" sz="2000" dirty="0"/>
              <a:t> + 300</a:t>
            </a:r>
            <a:r>
              <a:rPr lang="en-US" sz="2000" i="1" dirty="0"/>
              <a:t>x</a:t>
            </a:r>
            <a:r>
              <a:rPr lang="en-US" sz="2000" baseline="-25000" dirty="0"/>
              <a:t>7</a:t>
            </a:r>
            <a:r>
              <a:rPr lang="en-US" sz="2000" dirty="0"/>
              <a:t> + 200</a:t>
            </a:r>
            <a:r>
              <a:rPr lang="en-US" sz="2000" i="1" dirty="0"/>
              <a:t>x</a:t>
            </a:r>
            <a:r>
              <a:rPr lang="en-US" sz="2000" baseline="-25000" dirty="0"/>
              <a:t>8</a:t>
            </a:r>
            <a:endParaRPr lang="en-US" sz="2000" dirty="0"/>
          </a:p>
          <a:p>
            <a:r>
              <a:rPr lang="en-US" sz="2000" dirty="0"/>
              <a:t>subject to	</a:t>
            </a:r>
            <a:r>
              <a:rPr lang="en-US" sz="2000" i="1" dirty="0"/>
              <a:t>x</a:t>
            </a:r>
            <a:r>
              <a:rPr lang="en-US" sz="2000" baseline="-25000" dirty="0"/>
              <a:t>1</a:t>
            </a:r>
            <a:r>
              <a:rPr lang="en-US" sz="2000" dirty="0"/>
              <a:t> + </a:t>
            </a:r>
            <a:r>
              <a:rPr lang="en-US" sz="2000" i="1" dirty="0"/>
              <a:t>x</a:t>
            </a:r>
            <a:r>
              <a:rPr lang="en-US" sz="2000" baseline="-25000" dirty="0"/>
              <a:t>2</a:t>
            </a:r>
            <a:r>
              <a:rPr lang="en-US" sz="2000" dirty="0"/>
              <a:t> + </a:t>
            </a:r>
            <a:r>
              <a:rPr lang="en-US" sz="2000" i="1" dirty="0"/>
              <a:t>x</a:t>
            </a:r>
            <a:r>
              <a:rPr lang="en-US" sz="2000" baseline="-25000" dirty="0"/>
              <a:t>4</a:t>
            </a:r>
            <a:r>
              <a:rPr lang="en-US" sz="2000" dirty="0"/>
              <a:t> ≥ 1</a:t>
            </a:r>
          </a:p>
          <a:p>
            <a:r>
              <a:rPr lang="en-US" sz="2000" i="1" dirty="0"/>
              <a:t>		x</a:t>
            </a:r>
            <a:r>
              <a:rPr lang="en-US" sz="2000" baseline="-25000" dirty="0"/>
              <a:t>1</a:t>
            </a:r>
            <a:r>
              <a:rPr lang="en-US" sz="2000" dirty="0"/>
              <a:t> + </a:t>
            </a:r>
            <a:r>
              <a:rPr lang="en-US" sz="2000" i="1" dirty="0"/>
              <a:t>x</a:t>
            </a:r>
            <a:r>
              <a:rPr lang="en-US" sz="2000" baseline="-25000" dirty="0"/>
              <a:t>2</a:t>
            </a:r>
            <a:r>
              <a:rPr lang="en-US" sz="2000" dirty="0"/>
              <a:t> + </a:t>
            </a:r>
            <a:r>
              <a:rPr lang="en-US" sz="2000" i="1" dirty="0"/>
              <a:t>x</a:t>
            </a:r>
            <a:r>
              <a:rPr lang="en-US" sz="2000" baseline="-25000" dirty="0"/>
              <a:t>3</a:t>
            </a:r>
            <a:r>
              <a:rPr lang="en-US" sz="2000" dirty="0"/>
              <a:t> ≥ 1</a:t>
            </a:r>
          </a:p>
          <a:p>
            <a:r>
              <a:rPr lang="en-US" sz="2000" i="1" dirty="0"/>
              <a:t>		x</a:t>
            </a:r>
            <a:r>
              <a:rPr lang="en-US" sz="2000" baseline="-25000" dirty="0"/>
              <a:t>2</a:t>
            </a:r>
            <a:r>
              <a:rPr lang="en-US" sz="2000" dirty="0"/>
              <a:t> + </a:t>
            </a:r>
            <a:r>
              <a:rPr lang="en-US" sz="2000" i="1" dirty="0"/>
              <a:t>x</a:t>
            </a:r>
            <a:r>
              <a:rPr lang="en-US" sz="2000" baseline="-25000" dirty="0"/>
              <a:t>3</a:t>
            </a:r>
            <a:r>
              <a:rPr lang="en-US" sz="2000" dirty="0"/>
              <a:t> + </a:t>
            </a:r>
            <a:r>
              <a:rPr lang="en-US" sz="2000" i="1" dirty="0"/>
              <a:t>x</a:t>
            </a:r>
            <a:r>
              <a:rPr lang="en-US" sz="2000" baseline="-25000" dirty="0"/>
              <a:t>6</a:t>
            </a:r>
            <a:r>
              <a:rPr lang="en-US" sz="2000" dirty="0"/>
              <a:t> ≥ 1</a:t>
            </a:r>
          </a:p>
          <a:p>
            <a:r>
              <a:rPr lang="en-US" sz="2000" i="1" dirty="0"/>
              <a:t>		x</a:t>
            </a:r>
            <a:r>
              <a:rPr lang="en-US" sz="2000" baseline="-25000" dirty="0"/>
              <a:t>1</a:t>
            </a:r>
            <a:r>
              <a:rPr lang="en-US" sz="2000" dirty="0"/>
              <a:t> + </a:t>
            </a:r>
            <a:r>
              <a:rPr lang="en-US" sz="2000" i="1" dirty="0"/>
              <a:t>x</a:t>
            </a:r>
            <a:r>
              <a:rPr lang="en-US" sz="2000" baseline="-25000" dirty="0"/>
              <a:t>4</a:t>
            </a:r>
            <a:r>
              <a:rPr lang="en-US" sz="2000" dirty="0"/>
              <a:t> + </a:t>
            </a:r>
            <a:r>
              <a:rPr lang="en-US" sz="2000" i="1" dirty="0"/>
              <a:t>x</a:t>
            </a:r>
            <a:r>
              <a:rPr lang="en-US" sz="2000" baseline="-25000" dirty="0"/>
              <a:t>7</a:t>
            </a:r>
            <a:r>
              <a:rPr lang="en-US" sz="2000" dirty="0"/>
              <a:t> ≥ 1</a:t>
            </a:r>
          </a:p>
          <a:p>
            <a:r>
              <a:rPr lang="en-US" sz="2000" i="1" dirty="0"/>
              <a:t>		x</a:t>
            </a:r>
            <a:r>
              <a:rPr lang="en-US" sz="2000" baseline="-25000" dirty="0"/>
              <a:t>5</a:t>
            </a:r>
            <a:r>
              <a:rPr lang="en-US" sz="2000" dirty="0"/>
              <a:t> + </a:t>
            </a:r>
            <a:r>
              <a:rPr lang="en-US" sz="2000" i="1" dirty="0"/>
              <a:t>x</a:t>
            </a:r>
            <a:r>
              <a:rPr lang="en-US" sz="2000" baseline="-25000" dirty="0"/>
              <a:t>7</a:t>
            </a:r>
            <a:r>
              <a:rPr lang="en-US" sz="2000" dirty="0"/>
              <a:t> ≥ 1</a:t>
            </a:r>
          </a:p>
          <a:p>
            <a:r>
              <a:rPr lang="en-US" sz="2000" i="1" dirty="0"/>
              <a:t>		x</a:t>
            </a:r>
            <a:r>
              <a:rPr lang="en-US" sz="2000" baseline="-25000" dirty="0"/>
              <a:t>3</a:t>
            </a:r>
            <a:r>
              <a:rPr lang="en-US" sz="2000" dirty="0"/>
              <a:t> + </a:t>
            </a:r>
            <a:r>
              <a:rPr lang="en-US" sz="2000" i="1" dirty="0"/>
              <a:t>x</a:t>
            </a:r>
            <a:r>
              <a:rPr lang="en-US" sz="2000" baseline="-25000" dirty="0"/>
              <a:t>6</a:t>
            </a:r>
            <a:r>
              <a:rPr lang="en-US" sz="2000" dirty="0"/>
              <a:t> + </a:t>
            </a:r>
            <a:r>
              <a:rPr lang="en-US" sz="2000" i="1" dirty="0"/>
              <a:t>x</a:t>
            </a:r>
            <a:r>
              <a:rPr lang="en-US" sz="2000" baseline="-25000" dirty="0"/>
              <a:t>8</a:t>
            </a:r>
            <a:r>
              <a:rPr lang="en-US" sz="2000" dirty="0"/>
              <a:t> ≥ 1</a:t>
            </a:r>
          </a:p>
          <a:p>
            <a:r>
              <a:rPr lang="en-US" sz="2000" i="1" dirty="0"/>
              <a:t>		x</a:t>
            </a:r>
            <a:r>
              <a:rPr lang="en-US" sz="2000" baseline="-25000" dirty="0"/>
              <a:t>4</a:t>
            </a:r>
            <a:r>
              <a:rPr lang="en-US" sz="2000" dirty="0"/>
              <a:t> + </a:t>
            </a:r>
            <a:r>
              <a:rPr lang="en-US" sz="2000" i="1" dirty="0"/>
              <a:t>x</a:t>
            </a:r>
            <a:r>
              <a:rPr lang="en-US" sz="2000" baseline="-25000" dirty="0"/>
              <a:t>7</a:t>
            </a:r>
            <a:r>
              <a:rPr lang="en-US" sz="2000" dirty="0"/>
              <a:t> + </a:t>
            </a:r>
            <a:r>
              <a:rPr lang="en-US" sz="2000" i="1" dirty="0"/>
              <a:t>x</a:t>
            </a:r>
            <a:r>
              <a:rPr lang="en-US" sz="2000" baseline="-25000" dirty="0"/>
              <a:t>8</a:t>
            </a:r>
            <a:r>
              <a:rPr lang="en-US" sz="2000" dirty="0"/>
              <a:t> ≥ 1</a:t>
            </a:r>
          </a:p>
          <a:p>
            <a:r>
              <a:rPr lang="en-US" sz="2000" i="1" dirty="0"/>
              <a:t>		x</a:t>
            </a:r>
            <a:r>
              <a:rPr lang="en-US" sz="2000" baseline="-25000" dirty="0"/>
              <a:t>6</a:t>
            </a:r>
            <a:r>
              <a:rPr lang="en-US" sz="2000" dirty="0"/>
              <a:t> + </a:t>
            </a:r>
            <a:r>
              <a:rPr lang="en-US" sz="2000" i="1" dirty="0"/>
              <a:t>x</a:t>
            </a:r>
            <a:r>
              <a:rPr lang="en-US" sz="2000" baseline="-25000" dirty="0"/>
              <a:t>7</a:t>
            </a:r>
            <a:r>
              <a:rPr lang="en-US" sz="2000" dirty="0"/>
              <a:t> + </a:t>
            </a:r>
            <a:r>
              <a:rPr lang="en-US" sz="2000" i="1" dirty="0"/>
              <a:t>x</a:t>
            </a:r>
            <a:r>
              <a:rPr lang="en-US" sz="2000" baseline="-25000" dirty="0"/>
              <a:t>8</a:t>
            </a:r>
            <a:r>
              <a:rPr lang="en-US" sz="2000" dirty="0"/>
              <a:t> ≥ 1</a:t>
            </a:r>
          </a:p>
          <a:p>
            <a:r>
              <a:rPr lang="en-US" sz="2000" i="1" dirty="0"/>
              <a:t>		</a:t>
            </a:r>
            <a:r>
              <a:rPr lang="en-US" sz="2000" i="1" dirty="0" err="1"/>
              <a:t>x</a:t>
            </a:r>
            <a:r>
              <a:rPr lang="en-US" sz="2000" i="1" baseline="-25000" dirty="0" err="1"/>
              <a:t>j</a:t>
            </a:r>
            <a:r>
              <a:rPr lang="en-US" sz="2000" dirty="0"/>
              <a:t> are binary (for </a:t>
            </a:r>
            <a:r>
              <a:rPr lang="en-US" sz="2000" i="1" dirty="0"/>
              <a:t>j</a:t>
            </a:r>
            <a:r>
              <a:rPr lang="en-US" sz="2000" dirty="0"/>
              <a:t> = 1, 2, … , 8).</a:t>
            </a:r>
          </a:p>
        </p:txBody>
      </p:sp>
    </p:spTree>
    <p:extLst>
      <p:ext uri="{BB962C8B-B14F-4D97-AF65-F5344CB8AC3E}">
        <p14:creationId xmlns:p14="http://schemas.microsoft.com/office/powerpoint/2010/main" val="1920226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Site Selection</a:t>
            </a:r>
          </a:p>
        </p:txBody>
      </p:sp>
      <p:sp>
        <p:nvSpPr>
          <p:cNvPr id="3" name="Content Placeholder 2"/>
          <p:cNvSpPr>
            <a:spLocks noGrp="1"/>
          </p:cNvSpPr>
          <p:nvPr>
            <p:ph idx="1"/>
          </p:nvPr>
        </p:nvSpPr>
        <p:spPr/>
        <p:txBody>
          <a:bodyPr/>
          <a:lstStyle/>
          <a:p>
            <a:r>
              <a:rPr lang="en-US" b="1" u="sng" dirty="0">
                <a:ea typeface="ＭＳ Ｐゴシック"/>
              </a:rPr>
              <a:t>Case: Caliente City Problem (Chapter 7.3):</a:t>
            </a:r>
          </a:p>
          <a:p>
            <a:r>
              <a:rPr lang="en-US" dirty="0">
                <a:ea typeface="ＭＳ Ｐゴシック"/>
              </a:rPr>
              <a:t>Spreadsheet model:</a:t>
            </a:r>
            <a:endParaRPr lang="en-US" dirty="0"/>
          </a:p>
          <a:p>
            <a:pPr lvl="1"/>
            <a:endParaRPr lang="en-US" dirty="0">
              <a:ea typeface="ＭＳ Ｐゴシック"/>
            </a:endParaRPr>
          </a:p>
          <a:p>
            <a:pPr lvl="1"/>
            <a:endParaRPr lang="en-US" dirty="0"/>
          </a:p>
          <a:p>
            <a:endParaRPr lang="en-US" dirty="0">
              <a:ea typeface="ＭＳ Ｐゴシック"/>
            </a:endParaRPr>
          </a:p>
        </p:txBody>
      </p:sp>
      <p:pic>
        <p:nvPicPr>
          <p:cNvPr id="5"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80688" y="1983845"/>
            <a:ext cx="5901118" cy="4545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7917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Crew Scheduling</a:t>
            </a:r>
          </a:p>
        </p:txBody>
      </p:sp>
      <p:sp>
        <p:nvSpPr>
          <p:cNvPr id="3" name="Content Placeholder 2"/>
          <p:cNvSpPr>
            <a:spLocks noGrp="1"/>
          </p:cNvSpPr>
          <p:nvPr>
            <p:ph idx="1"/>
          </p:nvPr>
        </p:nvSpPr>
        <p:spPr/>
        <p:txBody>
          <a:bodyPr/>
          <a:lstStyle/>
          <a:p>
            <a:r>
              <a:rPr lang="en-US" b="1" u="sng" dirty="0">
                <a:ea typeface="ＭＳ Ｐゴシック"/>
              </a:rPr>
              <a:t>Case: Southwestern Airways Problem (Chapter 7.4):</a:t>
            </a:r>
          </a:p>
          <a:p>
            <a:pPr lvl="1"/>
            <a:r>
              <a:rPr lang="en-US" u="sng" dirty="0"/>
              <a:t>Case Description: </a:t>
            </a:r>
            <a:r>
              <a:rPr lang="en-US" dirty="0"/>
              <a:t>Southwestern Airways needs to assign crews to cover all its upcoming flights. We will focus on assigning 3 crews based in San Francisco (SFO) to 11 flights.</a:t>
            </a:r>
          </a:p>
          <a:p>
            <a:pPr lvl="1"/>
            <a:endParaRPr lang="en-US" b="1" dirty="0">
              <a:solidFill>
                <a:srgbClr val="C00000"/>
              </a:solidFill>
            </a:endParaRPr>
          </a:p>
          <a:p>
            <a:pPr lvl="1"/>
            <a:r>
              <a:rPr lang="en-US" b="1" dirty="0">
                <a:solidFill>
                  <a:srgbClr val="C00000"/>
                </a:solidFill>
              </a:rPr>
              <a:t>Question: </a:t>
            </a:r>
            <a:r>
              <a:rPr lang="en-US" dirty="0"/>
              <a:t>How should the 3 crews </a:t>
            </a:r>
          </a:p>
          <a:p>
            <a:pPr marL="457200" lvl="1" indent="0">
              <a:buNone/>
            </a:pPr>
            <a:r>
              <a:rPr lang="en-US" dirty="0"/>
              <a:t>   be assigned 3 sequences of flights </a:t>
            </a:r>
          </a:p>
          <a:p>
            <a:pPr marL="457200" lvl="1" indent="0">
              <a:buNone/>
            </a:pPr>
            <a:r>
              <a:rPr lang="en-US" dirty="0"/>
              <a:t>   so that every one of the 11 flights </a:t>
            </a:r>
          </a:p>
          <a:p>
            <a:pPr marL="457200" lvl="1" indent="0">
              <a:buNone/>
            </a:pPr>
            <a:r>
              <a:rPr lang="en-US" dirty="0"/>
              <a:t>    is covered?</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l="8649" t="1765" r="15675" b="8235"/>
          <a:stretch>
            <a:fillRect/>
          </a:stretch>
        </p:blipFill>
        <p:spPr bwMode="auto">
          <a:xfrm>
            <a:off x="5911403" y="2621034"/>
            <a:ext cx="5408053" cy="394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4623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Crew Scheduling</a:t>
            </a:r>
          </a:p>
        </p:txBody>
      </p:sp>
      <p:sp>
        <p:nvSpPr>
          <p:cNvPr id="3" name="Content Placeholder 2"/>
          <p:cNvSpPr>
            <a:spLocks noGrp="1"/>
          </p:cNvSpPr>
          <p:nvPr>
            <p:ph idx="1"/>
          </p:nvPr>
        </p:nvSpPr>
        <p:spPr/>
        <p:txBody>
          <a:bodyPr/>
          <a:lstStyle/>
          <a:p>
            <a:r>
              <a:rPr lang="en-US" b="1" u="sng" dirty="0">
                <a:ea typeface="ＭＳ Ｐゴシック"/>
              </a:rPr>
              <a:t>Case: Southwestern Airways Problem (Chapter 7.4):</a:t>
            </a:r>
          </a:p>
          <a:p>
            <a:r>
              <a:rPr lang="en-US" b="1" dirty="0">
                <a:solidFill>
                  <a:srgbClr val="C00000"/>
                </a:solidFill>
              </a:rPr>
              <a:t>STEP 0: </a:t>
            </a:r>
          </a:p>
        </p:txBody>
      </p:sp>
      <p:graphicFrame>
        <p:nvGraphicFramePr>
          <p:cNvPr id="4" name="Group 614"/>
          <p:cNvGraphicFramePr>
            <a:graphicFrameLocks/>
          </p:cNvGraphicFramePr>
          <p:nvPr>
            <p:extLst>
              <p:ext uri="{D42A27DB-BD31-4B8C-83A1-F6EECF244321}">
                <p14:modId xmlns:p14="http://schemas.microsoft.com/office/powerpoint/2010/main" val="773533534"/>
              </p:ext>
            </p:extLst>
          </p:nvPr>
        </p:nvGraphicFramePr>
        <p:xfrm>
          <a:off x="2057400" y="2017340"/>
          <a:ext cx="7086600" cy="4267200"/>
        </p:xfrm>
        <a:graphic>
          <a:graphicData uri="http://schemas.openxmlformats.org/drawingml/2006/table">
            <a:tbl>
              <a:tblPr/>
              <a:tblGrid>
                <a:gridCol w="1600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gridCol w="457200">
                  <a:extLst>
                    <a:ext uri="{9D8B030D-6E8A-4147-A177-3AD203B41FA5}">
                      <a16:colId xmlns:a16="http://schemas.microsoft.com/office/drawing/2014/main" val="20009"/>
                    </a:ext>
                  </a:extLst>
                </a:gridCol>
                <a:gridCol w="457200">
                  <a:extLst>
                    <a:ext uri="{9D8B030D-6E8A-4147-A177-3AD203B41FA5}">
                      <a16:colId xmlns:a16="http://schemas.microsoft.com/office/drawing/2014/main" val="20010"/>
                    </a:ext>
                  </a:extLst>
                </a:gridCol>
                <a:gridCol w="457200">
                  <a:extLst>
                    <a:ext uri="{9D8B030D-6E8A-4147-A177-3AD203B41FA5}">
                      <a16:colId xmlns:a16="http://schemas.microsoft.com/office/drawing/2014/main" val="20011"/>
                    </a:ext>
                  </a:extLst>
                </a:gridCol>
                <a:gridCol w="457200">
                  <a:extLst>
                    <a:ext uri="{9D8B030D-6E8A-4147-A177-3AD203B41FA5}">
                      <a16:colId xmlns:a16="http://schemas.microsoft.com/office/drawing/2014/main" val="20012"/>
                    </a:ext>
                  </a:extLst>
                </a:gridCol>
              </a:tblGrid>
              <a:tr h="272143">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1" i="0" u="none" strike="noStrike" cap="none" normalizeH="0" baseline="0" dirty="0">
                        <a:ln>
                          <a:noFill/>
                        </a:ln>
                        <a:solidFill>
                          <a:schemeClr val="tx1"/>
                        </a:solidFill>
                        <a:effectLst/>
                        <a:latin typeface="Times New Roman" pitchFamily="1" charset="0"/>
                      </a:endParaRPr>
                    </a:p>
                  </a:txBody>
                  <a:tcPr anchor="b" horzOverflow="overflow">
                    <a:lnL cap="flat">
                      <a:noFill/>
                    </a:lnL>
                    <a:lnR>
                      <a:noFill/>
                    </a:lnR>
                    <a:lnT cap="flat">
                      <a:noFill/>
                    </a:lnT>
                    <a:lnB>
                      <a:noFill/>
                    </a:lnB>
                    <a:lnTlToBr>
                      <a:noFill/>
                    </a:lnTlToBr>
                    <a:lnBlToTr>
                      <a:noFill/>
                    </a:lnBlToTr>
                    <a:noFill/>
                  </a:tcPr>
                </a:tc>
                <a:tc gridSpan="12">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Feasible Sequence of Flights</a:t>
                      </a:r>
                    </a:p>
                  </a:txBody>
                  <a:tcPr anchor="b" horzOverflow="overflow">
                    <a:lnL>
                      <a:noFill/>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72143">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Flights</a:t>
                      </a:r>
                    </a:p>
                  </a:txBody>
                  <a:tcPr anchor="b"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1</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2</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3</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4</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5</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6</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7</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8</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9</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10</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11</a:t>
                      </a:r>
                    </a:p>
                  </a:txBody>
                  <a:tcPr anchor="b"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1" i="0" u="none" strike="noStrike" cap="none" normalizeH="0" baseline="0">
                          <a:ln>
                            <a:noFill/>
                          </a:ln>
                          <a:solidFill>
                            <a:schemeClr val="tx1"/>
                          </a:solidFill>
                          <a:effectLst/>
                          <a:latin typeface="Times New Roman" pitchFamily="1" charset="0"/>
                        </a:rPr>
                        <a:t>12</a:t>
                      </a:r>
                    </a:p>
                  </a:txBody>
                  <a:tcPr anchor="b" horzOverflow="overflow">
                    <a:lnL>
                      <a:noFill/>
                    </a:lnL>
                    <a:lnR cap="flat">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272143">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 SFO–LAX</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272143">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 SFO–DEN</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272143">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3. SFO–SEA</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1</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1</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1</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1</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272143">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4. LAX–ORD</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272143">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 LAX–SFO</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272143">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6. ORD–DEN</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272143">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7. ORD–SEA</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272143">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8. DEN–SFO</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pitchFamily="1"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9"/>
                  </a:ext>
                </a:extLst>
              </a:tr>
              <a:tr h="272143">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9. DEN–ORD</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0"/>
                  </a:ext>
                </a:extLst>
              </a:tr>
              <a:tr h="272143">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10. SEA–SFO</a:t>
                      </a:r>
                    </a:p>
                  </a:txBody>
                  <a:tcPr horzOverflow="overflow">
                    <a:lnL cap="flat">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dirty="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11"/>
                  </a:ext>
                </a:extLst>
              </a:tr>
              <a:tr h="272143">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11. SEA–LAX</a:t>
                      </a:r>
                    </a:p>
                  </a:txBody>
                  <a:tcPr horzOverflow="overflow">
                    <a:lnL cap="flat">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endParaRPr kumimoji="0" lang="en-US" sz="1400" b="0" i="0" u="none" strike="noStrike" cap="none" normalizeH="0" baseline="0">
                        <a:ln>
                          <a:noFill/>
                        </a:ln>
                        <a:solidFill>
                          <a:schemeClr val="tx1"/>
                        </a:solidFill>
                        <a:effectLst/>
                        <a:latin typeface="Times New Roman" pitchFamily="1" charset="0"/>
                      </a:endParaRP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a:t>
                      </a: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a:t>
                      </a:r>
                    </a:p>
                  </a:txBody>
                  <a:tcP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horzOverflow="overflow">
                    <a:lnL>
                      <a:noFill/>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72143">
                <a:tc>
                  <a:txBody>
                    <a:bodyPr/>
                    <a:lstStyle/>
                    <a:p>
                      <a:pPr marL="0" marR="0" lvl="0" indent="0" algn="l"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Cost, $1,000s</a:t>
                      </a:r>
                    </a:p>
                  </a:txBody>
                  <a:tcPr horzOverflow="overflow">
                    <a:lnL cap="flat">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2</a:t>
                      </a: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3</a:t>
                      </a: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4</a:t>
                      </a: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6</a:t>
                      </a: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7</a:t>
                      </a: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5</a:t>
                      </a: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7</a:t>
                      </a: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8</a:t>
                      </a: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9</a:t>
                      </a: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9</a:t>
                      </a: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a:ln>
                            <a:noFill/>
                          </a:ln>
                          <a:solidFill>
                            <a:schemeClr val="tx1"/>
                          </a:solidFill>
                          <a:effectLst/>
                          <a:latin typeface="Times New Roman" pitchFamily="1" charset="0"/>
                        </a:rPr>
                        <a:t>8</a:t>
                      </a:r>
                    </a:p>
                  </a:txBody>
                  <a:tcPr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10000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 charset="0"/>
                        </a:rPr>
                        <a:t>9</a:t>
                      </a:r>
                    </a:p>
                  </a:txBody>
                  <a:tcPr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13"/>
                  </a:ext>
                </a:extLst>
              </a:tr>
            </a:tbl>
          </a:graphicData>
        </a:graphic>
      </p:graphicFrame>
      <p:sp>
        <p:nvSpPr>
          <p:cNvPr id="5" name="Rounded Rectangle 4"/>
          <p:cNvSpPr/>
          <p:nvPr/>
        </p:nvSpPr>
        <p:spPr bwMode="auto">
          <a:xfrm>
            <a:off x="5572260" y="2258819"/>
            <a:ext cx="304800" cy="4038600"/>
          </a:xfrm>
          <a:prstGeom prst="round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6" charset="-128"/>
            </a:endParaRPr>
          </a:p>
        </p:txBody>
      </p:sp>
      <p:sp>
        <p:nvSpPr>
          <p:cNvPr id="6" name="Line Callout 3 (Border and Accent Bar) 5"/>
          <p:cNvSpPr/>
          <p:nvPr/>
        </p:nvSpPr>
        <p:spPr bwMode="auto">
          <a:xfrm>
            <a:off x="9534660" y="3020819"/>
            <a:ext cx="1066800" cy="1257300"/>
          </a:xfrm>
          <a:prstGeom prst="accentBorderCallout3">
            <a:avLst>
              <a:gd name="adj1" fmla="val 18750"/>
              <a:gd name="adj2" fmla="val -8333"/>
              <a:gd name="adj3" fmla="val 18750"/>
              <a:gd name="adj4" fmla="val -16667"/>
              <a:gd name="adj5" fmla="val -102597"/>
              <a:gd name="adj6" fmla="val -23042"/>
              <a:gd name="adj7" fmla="val -59410"/>
              <a:gd name="adj8" fmla="val -343398"/>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charset="0"/>
                <a:ea typeface="ＭＳ Ｐゴシック" pitchFamily="16" charset="-128"/>
              </a:rPr>
              <a:t>Flight 2 then 9 then 6 then 8</a:t>
            </a:r>
          </a:p>
        </p:txBody>
      </p:sp>
    </p:spTree>
    <p:extLst>
      <p:ext uri="{BB962C8B-B14F-4D97-AF65-F5344CB8AC3E}">
        <p14:creationId xmlns:p14="http://schemas.microsoft.com/office/powerpoint/2010/main" val="1072776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Crew Scheduling</a:t>
            </a:r>
          </a:p>
        </p:txBody>
      </p:sp>
      <p:sp>
        <p:nvSpPr>
          <p:cNvPr id="3" name="Content Placeholder 2"/>
          <p:cNvSpPr>
            <a:spLocks noGrp="1"/>
          </p:cNvSpPr>
          <p:nvPr>
            <p:ph idx="1"/>
          </p:nvPr>
        </p:nvSpPr>
        <p:spPr/>
        <p:txBody>
          <a:bodyPr>
            <a:normAutofit fontScale="92500" lnSpcReduction="20000"/>
          </a:bodyPr>
          <a:lstStyle/>
          <a:p>
            <a:r>
              <a:rPr lang="en-US" b="1" u="sng" dirty="0">
                <a:ea typeface="ＭＳ Ｐゴシック"/>
              </a:rPr>
              <a:t>Case: Southwestern Airways Problem (Chapter 7.4):</a:t>
            </a:r>
          </a:p>
          <a:p>
            <a:r>
              <a:rPr lang="en-US" b="1" dirty="0">
                <a:solidFill>
                  <a:srgbClr val="C00000"/>
                </a:solidFill>
              </a:rPr>
              <a:t>STEP 1: </a:t>
            </a:r>
            <a:r>
              <a:rPr lang="en-US" dirty="0"/>
              <a:t>Decision variables</a:t>
            </a:r>
          </a:p>
          <a:p>
            <a:pPr lvl="1"/>
            <a:r>
              <a:rPr lang="en-US" dirty="0"/>
              <a:t>Let </a:t>
            </a:r>
            <a:r>
              <a:rPr lang="en-US" i="1" dirty="0" err="1"/>
              <a:t>x</a:t>
            </a:r>
            <a:r>
              <a:rPr lang="en-US" i="1" baseline="-25000" dirty="0" err="1"/>
              <a:t>j</a:t>
            </a:r>
            <a:r>
              <a:rPr lang="en-US" dirty="0"/>
              <a:t> = 1 if flight sequence </a:t>
            </a:r>
            <a:r>
              <a:rPr lang="en-US" i="1" dirty="0"/>
              <a:t>j</a:t>
            </a:r>
            <a:r>
              <a:rPr lang="en-US" dirty="0"/>
              <a:t> is assigned to a crew; 0 otherwise. (</a:t>
            </a:r>
            <a:r>
              <a:rPr lang="en-US" i="1" dirty="0"/>
              <a:t>j</a:t>
            </a:r>
            <a:r>
              <a:rPr lang="en-US" dirty="0"/>
              <a:t> = 1, 2, … , 12).</a:t>
            </a:r>
          </a:p>
          <a:p>
            <a:r>
              <a:rPr lang="en-US" b="1" dirty="0">
                <a:solidFill>
                  <a:srgbClr val="C00000"/>
                </a:solidFill>
              </a:rPr>
              <a:t>STEP 2: </a:t>
            </a:r>
            <a:r>
              <a:rPr lang="en-US" dirty="0"/>
              <a:t>Objective and objective function</a:t>
            </a:r>
          </a:p>
          <a:p>
            <a:pPr lvl="1"/>
            <a:r>
              <a:rPr lang="en-US" dirty="0"/>
              <a:t>Minimize       Cost = 2</a:t>
            </a:r>
            <a:r>
              <a:rPr lang="en-US" i="1" dirty="0"/>
              <a:t>x</a:t>
            </a:r>
            <a:r>
              <a:rPr lang="en-US" baseline="-25000" dirty="0"/>
              <a:t>1</a:t>
            </a:r>
            <a:r>
              <a:rPr lang="en-US" dirty="0"/>
              <a:t> + 3</a:t>
            </a:r>
            <a:r>
              <a:rPr lang="en-US" i="1" dirty="0"/>
              <a:t>x</a:t>
            </a:r>
            <a:r>
              <a:rPr lang="en-US" baseline="-25000" dirty="0"/>
              <a:t>2</a:t>
            </a:r>
            <a:r>
              <a:rPr lang="en-US" dirty="0"/>
              <a:t> + 4</a:t>
            </a:r>
            <a:r>
              <a:rPr lang="en-US" i="1" dirty="0"/>
              <a:t>x</a:t>
            </a:r>
            <a:r>
              <a:rPr lang="en-US" baseline="-25000" dirty="0"/>
              <a:t>3</a:t>
            </a:r>
            <a:r>
              <a:rPr lang="en-US" dirty="0"/>
              <a:t> + 6</a:t>
            </a:r>
            <a:r>
              <a:rPr lang="en-US" i="1" dirty="0"/>
              <a:t>x</a:t>
            </a:r>
            <a:r>
              <a:rPr lang="en-US" baseline="-25000" dirty="0"/>
              <a:t>4</a:t>
            </a:r>
            <a:r>
              <a:rPr lang="en-US" dirty="0"/>
              <a:t> + 7</a:t>
            </a:r>
            <a:r>
              <a:rPr lang="en-US" i="1" dirty="0"/>
              <a:t>x</a:t>
            </a:r>
            <a:r>
              <a:rPr lang="en-US" baseline="-25000" dirty="0"/>
              <a:t>5</a:t>
            </a:r>
            <a:r>
              <a:rPr lang="en-US" dirty="0"/>
              <a:t> + 5</a:t>
            </a:r>
            <a:r>
              <a:rPr lang="en-US" i="1" dirty="0"/>
              <a:t>x</a:t>
            </a:r>
            <a:r>
              <a:rPr lang="en-US" baseline="-25000" dirty="0"/>
              <a:t>6</a:t>
            </a:r>
            <a:r>
              <a:rPr lang="en-US" dirty="0"/>
              <a:t> +7</a:t>
            </a:r>
            <a:r>
              <a:rPr lang="en-US" i="1" dirty="0"/>
              <a:t>x</a:t>
            </a:r>
            <a:r>
              <a:rPr lang="en-US" baseline="-25000" dirty="0"/>
              <a:t>7</a:t>
            </a:r>
            <a:r>
              <a:rPr lang="en-US" dirty="0"/>
              <a:t> + 8</a:t>
            </a:r>
            <a:r>
              <a:rPr lang="en-US" i="1" dirty="0"/>
              <a:t>x</a:t>
            </a:r>
            <a:r>
              <a:rPr lang="en-US" baseline="-25000" dirty="0"/>
              <a:t>8</a:t>
            </a:r>
            <a:r>
              <a:rPr lang="en-US" dirty="0"/>
              <a:t> + 9</a:t>
            </a:r>
            <a:r>
              <a:rPr lang="en-US" i="1" dirty="0"/>
              <a:t>x</a:t>
            </a:r>
            <a:r>
              <a:rPr lang="en-US" baseline="-25000" dirty="0"/>
              <a:t>9</a:t>
            </a:r>
            <a:r>
              <a:rPr lang="en-US" dirty="0"/>
              <a:t> + 9</a:t>
            </a:r>
            <a:r>
              <a:rPr lang="en-US" i="1" dirty="0"/>
              <a:t>x</a:t>
            </a:r>
            <a:r>
              <a:rPr lang="en-US" baseline="-25000" dirty="0"/>
              <a:t>10</a:t>
            </a:r>
            <a:r>
              <a:rPr lang="en-US" dirty="0"/>
              <a:t> + 8</a:t>
            </a:r>
            <a:r>
              <a:rPr lang="en-US" i="1" dirty="0"/>
              <a:t>x</a:t>
            </a:r>
            <a:r>
              <a:rPr lang="en-US" baseline="-25000" dirty="0"/>
              <a:t>11</a:t>
            </a:r>
            <a:r>
              <a:rPr lang="en-US" dirty="0"/>
              <a:t> + 9</a:t>
            </a:r>
            <a:r>
              <a:rPr lang="en-US" i="1" dirty="0"/>
              <a:t>x</a:t>
            </a:r>
            <a:r>
              <a:rPr lang="en-US" baseline="-25000" dirty="0"/>
              <a:t>12</a:t>
            </a:r>
            <a:endParaRPr lang="en-US" dirty="0"/>
          </a:p>
          <a:p>
            <a:r>
              <a:rPr lang="en-US" b="1" dirty="0">
                <a:solidFill>
                  <a:srgbClr val="C00000"/>
                </a:solidFill>
              </a:rPr>
              <a:t>STEP 3: </a:t>
            </a:r>
            <a:r>
              <a:rPr lang="en-US" dirty="0"/>
              <a:t>Constraints</a:t>
            </a:r>
          </a:p>
          <a:p>
            <a:pPr lvl="1"/>
            <a:r>
              <a:rPr lang="en-US" dirty="0"/>
              <a:t>We have at most three crews to assign</a:t>
            </a:r>
          </a:p>
          <a:p>
            <a:pPr lvl="2"/>
            <a:r>
              <a:rPr lang="en-US" sz="2000" i="1" dirty="0"/>
              <a:t>x</a:t>
            </a:r>
            <a:r>
              <a:rPr lang="en-US" sz="2000" baseline="-25000" dirty="0"/>
              <a:t>1</a:t>
            </a:r>
            <a:r>
              <a:rPr lang="en-US" sz="2000" dirty="0"/>
              <a:t> + </a:t>
            </a:r>
            <a:r>
              <a:rPr lang="en-US" sz="2000" i="1" dirty="0"/>
              <a:t>x</a:t>
            </a:r>
            <a:r>
              <a:rPr lang="en-US" sz="2000" baseline="-25000" dirty="0"/>
              <a:t>2</a:t>
            </a:r>
            <a:r>
              <a:rPr lang="en-US" sz="2000" dirty="0"/>
              <a:t> + </a:t>
            </a:r>
            <a:r>
              <a:rPr lang="en-US" sz="2000" i="1" dirty="0"/>
              <a:t>x</a:t>
            </a:r>
            <a:r>
              <a:rPr lang="en-US" sz="2000" baseline="-25000" dirty="0"/>
              <a:t>3</a:t>
            </a:r>
            <a:r>
              <a:rPr lang="en-US" sz="2000" dirty="0"/>
              <a:t> + </a:t>
            </a:r>
            <a:r>
              <a:rPr lang="en-US" sz="2000" i="1" dirty="0"/>
              <a:t>x</a:t>
            </a:r>
            <a:r>
              <a:rPr lang="en-US" sz="2000" baseline="-25000" dirty="0"/>
              <a:t>4</a:t>
            </a:r>
            <a:r>
              <a:rPr lang="en-US" sz="2000" dirty="0"/>
              <a:t> + </a:t>
            </a:r>
            <a:r>
              <a:rPr lang="en-US" sz="2000" i="1" dirty="0"/>
              <a:t>x</a:t>
            </a:r>
            <a:r>
              <a:rPr lang="en-US" sz="2000" baseline="-25000" dirty="0"/>
              <a:t>5</a:t>
            </a:r>
            <a:r>
              <a:rPr lang="en-US" sz="2000" dirty="0"/>
              <a:t> + </a:t>
            </a:r>
            <a:r>
              <a:rPr lang="en-US" sz="2000" i="1" dirty="0"/>
              <a:t>x</a:t>
            </a:r>
            <a:r>
              <a:rPr lang="en-US" sz="2000" baseline="-25000" dirty="0"/>
              <a:t>6</a:t>
            </a:r>
            <a:r>
              <a:rPr lang="en-US" sz="2000" dirty="0"/>
              <a:t> + </a:t>
            </a:r>
            <a:r>
              <a:rPr lang="en-US" sz="2000" i="1" dirty="0"/>
              <a:t>x</a:t>
            </a:r>
            <a:r>
              <a:rPr lang="en-US" sz="2000" baseline="-25000" dirty="0"/>
              <a:t>7</a:t>
            </a:r>
            <a:r>
              <a:rPr lang="en-US" sz="2000" dirty="0"/>
              <a:t> + </a:t>
            </a:r>
            <a:r>
              <a:rPr lang="en-US" sz="2000" i="1" dirty="0"/>
              <a:t>x</a:t>
            </a:r>
            <a:r>
              <a:rPr lang="en-US" sz="2000" baseline="-25000" dirty="0"/>
              <a:t>8</a:t>
            </a:r>
            <a:r>
              <a:rPr lang="en-US" sz="2000" dirty="0"/>
              <a:t> + </a:t>
            </a:r>
            <a:r>
              <a:rPr lang="en-US" sz="2000" i="1" dirty="0"/>
              <a:t>x</a:t>
            </a:r>
            <a:r>
              <a:rPr lang="en-US" sz="2000" baseline="-25000" dirty="0"/>
              <a:t>9</a:t>
            </a:r>
            <a:r>
              <a:rPr lang="en-US" sz="2000" dirty="0"/>
              <a:t> + </a:t>
            </a:r>
            <a:r>
              <a:rPr lang="en-US" sz="2000" i="1" dirty="0"/>
              <a:t>x</a:t>
            </a:r>
            <a:r>
              <a:rPr lang="en-US" sz="2000" baseline="-25000" dirty="0"/>
              <a:t>10</a:t>
            </a:r>
            <a:r>
              <a:rPr lang="en-US" sz="2000" dirty="0"/>
              <a:t> + </a:t>
            </a:r>
            <a:r>
              <a:rPr lang="en-US" sz="2000" i="1" dirty="0"/>
              <a:t>x</a:t>
            </a:r>
            <a:r>
              <a:rPr lang="en-US" sz="2000" baseline="-25000" dirty="0"/>
              <a:t>11</a:t>
            </a:r>
            <a:r>
              <a:rPr lang="en-US" sz="2000" dirty="0"/>
              <a:t> + </a:t>
            </a:r>
            <a:r>
              <a:rPr lang="en-US" sz="2000" i="1" dirty="0"/>
              <a:t>x</a:t>
            </a:r>
            <a:r>
              <a:rPr lang="en-US" sz="2000" baseline="-25000" dirty="0"/>
              <a:t>12</a:t>
            </a:r>
            <a:r>
              <a:rPr lang="en-US" sz="2000" dirty="0"/>
              <a:t> ≤ 3</a:t>
            </a:r>
          </a:p>
          <a:p>
            <a:pPr lvl="1"/>
            <a:r>
              <a:rPr lang="en-US" dirty="0"/>
              <a:t>Each flight has to be covered</a:t>
            </a:r>
          </a:p>
          <a:p>
            <a:pPr lvl="2"/>
            <a:r>
              <a:rPr lang="en-US" dirty="0"/>
              <a:t>Sequences 1, 4, 7, 10 cover flight 1</a:t>
            </a:r>
          </a:p>
          <a:p>
            <a:pPr lvl="2"/>
            <a:r>
              <a:rPr lang="en-US" dirty="0"/>
              <a:t>So at least one of these sequences should be selected</a:t>
            </a:r>
          </a:p>
          <a:p>
            <a:pPr marL="914400" lvl="2" indent="0">
              <a:buNone/>
            </a:pPr>
            <a:r>
              <a:rPr lang="en-US" sz="2400" i="1" dirty="0"/>
              <a:t>	x</a:t>
            </a:r>
            <a:r>
              <a:rPr lang="en-US" sz="2400" baseline="-25000" dirty="0"/>
              <a:t>1</a:t>
            </a:r>
            <a:r>
              <a:rPr lang="en-US" sz="2400" dirty="0"/>
              <a:t> + </a:t>
            </a:r>
            <a:r>
              <a:rPr lang="en-US" sz="2400" i="1" dirty="0"/>
              <a:t>x</a:t>
            </a:r>
            <a:r>
              <a:rPr lang="en-US" sz="2400" baseline="-25000" dirty="0"/>
              <a:t>4</a:t>
            </a:r>
            <a:r>
              <a:rPr lang="en-US" sz="2400" dirty="0"/>
              <a:t> </a:t>
            </a:r>
            <a:r>
              <a:rPr lang="en-US" sz="2400" i="1" dirty="0"/>
              <a:t>+ </a:t>
            </a:r>
            <a:r>
              <a:rPr lang="en-US" sz="2400" dirty="0"/>
              <a:t>x</a:t>
            </a:r>
            <a:r>
              <a:rPr lang="en-US" sz="2400" i="1" baseline="-25000" dirty="0"/>
              <a:t>7</a:t>
            </a:r>
            <a:r>
              <a:rPr lang="en-US" sz="2400" i="1" dirty="0"/>
              <a:t> + </a:t>
            </a:r>
            <a:r>
              <a:rPr lang="en-US" sz="2400" dirty="0"/>
              <a:t>x</a:t>
            </a:r>
            <a:r>
              <a:rPr lang="en-US" sz="2400" baseline="-25000" dirty="0"/>
              <a:t>10</a:t>
            </a:r>
            <a:r>
              <a:rPr lang="en-US" sz="2400" dirty="0"/>
              <a:t> ≥ 1    Flight 1 covered</a:t>
            </a:r>
          </a:p>
          <a:p>
            <a:pPr lvl="2"/>
            <a:endParaRPr lang="en-US" dirty="0"/>
          </a:p>
          <a:p>
            <a:pPr marL="457200" lvl="1" indent="0">
              <a:buNone/>
            </a:pPr>
            <a:br>
              <a:rPr lang="en-US" dirty="0"/>
            </a:br>
            <a:endParaRPr lang="en-US" dirty="0"/>
          </a:p>
          <a:p>
            <a:endParaRPr lang="en-US" dirty="0"/>
          </a:p>
        </p:txBody>
      </p:sp>
    </p:spTree>
    <p:extLst>
      <p:ext uri="{BB962C8B-B14F-4D97-AF65-F5344CB8AC3E}">
        <p14:creationId xmlns:p14="http://schemas.microsoft.com/office/powerpoint/2010/main" val="391949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Crew Scheduling</a:t>
            </a:r>
          </a:p>
        </p:txBody>
      </p:sp>
      <p:sp>
        <p:nvSpPr>
          <p:cNvPr id="3" name="Content Placeholder 2"/>
          <p:cNvSpPr>
            <a:spLocks noGrp="1"/>
          </p:cNvSpPr>
          <p:nvPr>
            <p:ph idx="1"/>
          </p:nvPr>
        </p:nvSpPr>
        <p:spPr/>
        <p:txBody>
          <a:bodyPr/>
          <a:lstStyle/>
          <a:p>
            <a:r>
              <a:rPr lang="en-US" b="1" u="sng" dirty="0">
                <a:ea typeface="ＭＳ Ｐゴシック"/>
              </a:rPr>
              <a:t>Case: Southwestern Airways Problem (Chapter 7.4):</a:t>
            </a:r>
          </a:p>
          <a:p>
            <a:r>
              <a:rPr lang="en-US" b="1" dirty="0">
                <a:solidFill>
                  <a:srgbClr val="C00000"/>
                </a:solidFill>
              </a:rPr>
              <a:t>STEP 3: </a:t>
            </a:r>
            <a:r>
              <a:rPr lang="en-US" dirty="0"/>
              <a:t>Constraints</a:t>
            </a:r>
          </a:p>
          <a:p>
            <a:pPr lvl="1"/>
            <a:r>
              <a:rPr lang="en-US" dirty="0"/>
              <a:t>Each flight has to be covered</a:t>
            </a:r>
          </a:p>
          <a:p>
            <a:pPr lvl="2"/>
            <a:r>
              <a:rPr lang="en-US" dirty="0"/>
              <a:t>Sequences 2, 5, 8, 11 cover flight 2</a:t>
            </a:r>
          </a:p>
          <a:p>
            <a:pPr lvl="2"/>
            <a:r>
              <a:rPr lang="en-US" dirty="0"/>
              <a:t>So at least one of these sequences should be selected</a:t>
            </a:r>
          </a:p>
          <a:p>
            <a:pPr marL="914400" lvl="2" indent="0">
              <a:buNone/>
            </a:pPr>
            <a:r>
              <a:rPr lang="en-US" sz="2400" i="1" dirty="0"/>
              <a:t>	x</a:t>
            </a:r>
            <a:r>
              <a:rPr lang="en-US" sz="2400" baseline="-25000" dirty="0"/>
              <a:t>2</a:t>
            </a:r>
            <a:r>
              <a:rPr lang="en-US" sz="2400" dirty="0"/>
              <a:t> + </a:t>
            </a:r>
            <a:r>
              <a:rPr lang="en-US" sz="2400" i="1" dirty="0"/>
              <a:t>x</a:t>
            </a:r>
            <a:r>
              <a:rPr lang="en-US" sz="2400" baseline="-25000" dirty="0"/>
              <a:t>5</a:t>
            </a:r>
            <a:r>
              <a:rPr lang="en-US" sz="2400" dirty="0"/>
              <a:t> + </a:t>
            </a:r>
            <a:r>
              <a:rPr lang="en-US" sz="2400" i="1" dirty="0"/>
              <a:t>x</a:t>
            </a:r>
            <a:r>
              <a:rPr lang="en-US" sz="2400" baseline="-25000" dirty="0"/>
              <a:t>8</a:t>
            </a:r>
            <a:r>
              <a:rPr lang="en-US" sz="2400" dirty="0"/>
              <a:t> + </a:t>
            </a:r>
            <a:r>
              <a:rPr lang="en-US" sz="2400" i="1" dirty="0"/>
              <a:t>x</a:t>
            </a:r>
            <a:r>
              <a:rPr lang="en-US" sz="2400" baseline="-25000" dirty="0"/>
              <a:t>11</a:t>
            </a:r>
            <a:r>
              <a:rPr lang="en-US" sz="2400" dirty="0"/>
              <a:t> ≥ 1    Flight 2 is covered</a:t>
            </a:r>
            <a:endParaRPr lang="en-US" dirty="0"/>
          </a:p>
          <a:p>
            <a:pPr lvl="2"/>
            <a:endParaRPr lang="en-US" dirty="0"/>
          </a:p>
          <a:p>
            <a:pPr lvl="2"/>
            <a:r>
              <a:rPr lang="en-US" dirty="0"/>
              <a:t>Sequences 3, 6, 9, 12 cover flight 3</a:t>
            </a:r>
          </a:p>
          <a:p>
            <a:pPr lvl="2"/>
            <a:r>
              <a:rPr lang="en-US" dirty="0"/>
              <a:t>So at least one of these sequences should be selected</a:t>
            </a:r>
          </a:p>
          <a:p>
            <a:pPr marL="914400" lvl="2" indent="0">
              <a:buNone/>
            </a:pPr>
            <a:r>
              <a:rPr lang="en-US" sz="2400" i="1" dirty="0"/>
              <a:t>	x</a:t>
            </a:r>
            <a:r>
              <a:rPr lang="en-US" sz="2400" baseline="-25000" dirty="0"/>
              <a:t>3</a:t>
            </a:r>
            <a:r>
              <a:rPr lang="en-US" sz="2400" dirty="0"/>
              <a:t> + </a:t>
            </a:r>
            <a:r>
              <a:rPr lang="en-US" sz="2400" i="1" dirty="0"/>
              <a:t>x</a:t>
            </a:r>
            <a:r>
              <a:rPr lang="en-US" sz="2400" baseline="-25000" dirty="0"/>
              <a:t>6</a:t>
            </a:r>
            <a:r>
              <a:rPr lang="en-US" sz="2400" dirty="0"/>
              <a:t> + </a:t>
            </a:r>
            <a:r>
              <a:rPr lang="en-US" sz="2400" i="1" dirty="0"/>
              <a:t>x</a:t>
            </a:r>
            <a:r>
              <a:rPr lang="en-US" sz="2400" baseline="-25000" dirty="0"/>
              <a:t>9</a:t>
            </a:r>
            <a:r>
              <a:rPr lang="en-US" sz="2400" dirty="0"/>
              <a:t> + </a:t>
            </a:r>
            <a:r>
              <a:rPr lang="en-US" sz="2400" i="1" dirty="0"/>
              <a:t>x</a:t>
            </a:r>
            <a:r>
              <a:rPr lang="en-US" sz="2400" baseline="-25000" dirty="0"/>
              <a:t>12</a:t>
            </a:r>
            <a:r>
              <a:rPr lang="en-US" sz="2400" dirty="0"/>
              <a:t> ≥ 1    Flight 3 is covered</a:t>
            </a:r>
            <a:endParaRPr lang="en-US" dirty="0"/>
          </a:p>
          <a:p>
            <a:pPr marL="457200" lvl="1" indent="0">
              <a:buNone/>
            </a:pPr>
            <a:endParaRPr lang="en-US" dirty="0"/>
          </a:p>
          <a:p>
            <a:endParaRPr lang="en-US" dirty="0"/>
          </a:p>
        </p:txBody>
      </p:sp>
    </p:spTree>
    <p:extLst>
      <p:ext uri="{BB962C8B-B14F-4D97-AF65-F5344CB8AC3E}">
        <p14:creationId xmlns:p14="http://schemas.microsoft.com/office/powerpoint/2010/main" val="732636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Crew Scheduling</a:t>
            </a:r>
          </a:p>
        </p:txBody>
      </p:sp>
      <p:sp>
        <p:nvSpPr>
          <p:cNvPr id="3" name="Content Placeholder 2"/>
          <p:cNvSpPr>
            <a:spLocks noGrp="1"/>
          </p:cNvSpPr>
          <p:nvPr>
            <p:ph idx="1"/>
          </p:nvPr>
        </p:nvSpPr>
        <p:spPr/>
        <p:txBody>
          <a:bodyPr/>
          <a:lstStyle/>
          <a:p>
            <a:r>
              <a:rPr lang="en-US" b="1" u="sng" dirty="0">
                <a:ea typeface="ＭＳ Ｐゴシック"/>
              </a:rPr>
              <a:t>Case: Southwestern Airways Problem (Chapter 7.4):</a:t>
            </a:r>
          </a:p>
          <a:p>
            <a:r>
              <a:rPr lang="en-US" dirty="0">
                <a:ea typeface="ＭＳ Ｐゴシック"/>
              </a:rPr>
              <a:t>Combining everything (not forgetting binary definitions), we have:</a:t>
            </a:r>
            <a:endParaRPr lang="en-US" dirty="0"/>
          </a:p>
          <a:p>
            <a:pPr lvl="1"/>
            <a:endParaRPr lang="en-US" dirty="0">
              <a:ea typeface="ＭＳ Ｐゴシック"/>
            </a:endParaRPr>
          </a:p>
          <a:p>
            <a:pPr lvl="1"/>
            <a:endParaRPr lang="en-US" dirty="0"/>
          </a:p>
          <a:p>
            <a:endParaRPr lang="en-US" dirty="0">
              <a:ea typeface="ＭＳ Ｐゴシック"/>
            </a:endParaRPr>
          </a:p>
        </p:txBody>
      </p:sp>
      <p:sp>
        <p:nvSpPr>
          <p:cNvPr id="4" name="Rectangle 3"/>
          <p:cNvSpPr/>
          <p:nvPr/>
        </p:nvSpPr>
        <p:spPr>
          <a:xfrm>
            <a:off x="1210968" y="2256576"/>
            <a:ext cx="9766477" cy="4401205"/>
          </a:xfrm>
          <a:prstGeom prst="rect">
            <a:avLst/>
          </a:prstGeom>
          <a:ln w="28575">
            <a:solidFill>
              <a:srgbClr val="C00000"/>
            </a:solidFill>
          </a:ln>
        </p:spPr>
        <p:txBody>
          <a:bodyPr wrap="square">
            <a:spAutoFit/>
          </a:bodyPr>
          <a:lstStyle/>
          <a:p>
            <a:r>
              <a:rPr lang="en-US" sz="2000" dirty="0"/>
              <a:t>Minimize 	2</a:t>
            </a:r>
            <a:r>
              <a:rPr lang="en-US" sz="2000" i="1" dirty="0"/>
              <a:t>x</a:t>
            </a:r>
            <a:r>
              <a:rPr lang="en-US" sz="2000" baseline="-25000" dirty="0"/>
              <a:t>1</a:t>
            </a:r>
            <a:r>
              <a:rPr lang="en-US" sz="2000" dirty="0"/>
              <a:t> + 3</a:t>
            </a:r>
            <a:r>
              <a:rPr lang="en-US" sz="2000" i="1" dirty="0"/>
              <a:t>x</a:t>
            </a:r>
            <a:r>
              <a:rPr lang="en-US" sz="2000" baseline="-25000" dirty="0"/>
              <a:t>2</a:t>
            </a:r>
            <a:r>
              <a:rPr lang="en-US" sz="2000" dirty="0"/>
              <a:t> + 4</a:t>
            </a:r>
            <a:r>
              <a:rPr lang="en-US" sz="2000" i="1" dirty="0"/>
              <a:t>x</a:t>
            </a:r>
            <a:r>
              <a:rPr lang="en-US" sz="2000" baseline="-25000" dirty="0"/>
              <a:t>3</a:t>
            </a:r>
            <a:r>
              <a:rPr lang="en-US" sz="2000" dirty="0"/>
              <a:t> + 6</a:t>
            </a:r>
            <a:r>
              <a:rPr lang="en-US" sz="2000" i="1" dirty="0"/>
              <a:t>x</a:t>
            </a:r>
            <a:r>
              <a:rPr lang="en-US" sz="2000" baseline="-25000" dirty="0"/>
              <a:t>4</a:t>
            </a:r>
            <a:r>
              <a:rPr lang="en-US" sz="2000" dirty="0"/>
              <a:t> + 7</a:t>
            </a:r>
            <a:r>
              <a:rPr lang="en-US" sz="2000" i="1" dirty="0"/>
              <a:t>x</a:t>
            </a:r>
            <a:r>
              <a:rPr lang="en-US" sz="2000" baseline="-25000" dirty="0"/>
              <a:t>5</a:t>
            </a:r>
            <a:r>
              <a:rPr lang="en-US" sz="2000" dirty="0"/>
              <a:t> + 5</a:t>
            </a:r>
            <a:r>
              <a:rPr lang="en-US" sz="2000" i="1" dirty="0"/>
              <a:t>x</a:t>
            </a:r>
            <a:r>
              <a:rPr lang="en-US" sz="2000" baseline="-25000" dirty="0"/>
              <a:t>6</a:t>
            </a:r>
            <a:r>
              <a:rPr lang="en-US" sz="2000" dirty="0"/>
              <a:t> + 7</a:t>
            </a:r>
            <a:r>
              <a:rPr lang="en-US" sz="2000" i="1" dirty="0"/>
              <a:t>x</a:t>
            </a:r>
            <a:r>
              <a:rPr lang="en-US" sz="2000" baseline="-25000" dirty="0"/>
              <a:t>7</a:t>
            </a:r>
            <a:r>
              <a:rPr lang="en-US" sz="2000" dirty="0"/>
              <a:t> + 8</a:t>
            </a:r>
            <a:r>
              <a:rPr lang="en-US" sz="2000" i="1" dirty="0"/>
              <a:t>x</a:t>
            </a:r>
            <a:r>
              <a:rPr lang="en-US" sz="2000" baseline="-25000" dirty="0"/>
              <a:t>8</a:t>
            </a:r>
            <a:r>
              <a:rPr lang="en-US" sz="2000" dirty="0"/>
              <a:t> + 9</a:t>
            </a:r>
            <a:r>
              <a:rPr lang="en-US" sz="2000" i="1" dirty="0"/>
              <a:t>x</a:t>
            </a:r>
            <a:r>
              <a:rPr lang="en-US" sz="2000" baseline="-25000" dirty="0"/>
              <a:t>9</a:t>
            </a:r>
            <a:r>
              <a:rPr lang="en-US" sz="2000" dirty="0"/>
              <a:t> + 9</a:t>
            </a:r>
            <a:r>
              <a:rPr lang="en-US" sz="2000" i="1" dirty="0"/>
              <a:t>x</a:t>
            </a:r>
            <a:r>
              <a:rPr lang="en-US" sz="2000" baseline="-25000" dirty="0"/>
              <a:t>10</a:t>
            </a:r>
            <a:r>
              <a:rPr lang="en-US" sz="2000" dirty="0"/>
              <a:t> + 8</a:t>
            </a:r>
            <a:r>
              <a:rPr lang="en-US" sz="2000" i="1" dirty="0"/>
              <a:t>x</a:t>
            </a:r>
            <a:r>
              <a:rPr lang="en-US" sz="2000" baseline="-25000" dirty="0"/>
              <a:t>11</a:t>
            </a:r>
            <a:r>
              <a:rPr lang="en-US" sz="2000" dirty="0"/>
              <a:t> + 9</a:t>
            </a:r>
            <a:r>
              <a:rPr lang="en-US" sz="2000" i="1" dirty="0"/>
              <a:t>x</a:t>
            </a:r>
            <a:r>
              <a:rPr lang="en-US" sz="2000" baseline="-25000" dirty="0"/>
              <a:t>12</a:t>
            </a:r>
            <a:br>
              <a:rPr lang="en-US" sz="2000" dirty="0"/>
            </a:br>
            <a:r>
              <a:rPr lang="en-US" sz="2000" dirty="0"/>
              <a:t>subject to	</a:t>
            </a:r>
            <a:r>
              <a:rPr lang="en-US" sz="2000" i="1" dirty="0"/>
              <a:t>x</a:t>
            </a:r>
            <a:r>
              <a:rPr lang="en-US" sz="2000" baseline="-25000" dirty="0"/>
              <a:t>1</a:t>
            </a:r>
            <a:r>
              <a:rPr lang="en-US" sz="2000" dirty="0"/>
              <a:t> + </a:t>
            </a:r>
            <a:r>
              <a:rPr lang="en-US" sz="2000" i="1" dirty="0"/>
              <a:t>x</a:t>
            </a:r>
            <a:r>
              <a:rPr lang="en-US" sz="2000" baseline="-25000" dirty="0"/>
              <a:t>4</a:t>
            </a:r>
            <a:r>
              <a:rPr lang="en-US" sz="2000" dirty="0"/>
              <a:t> </a:t>
            </a:r>
            <a:r>
              <a:rPr lang="en-US" sz="2000" i="1" dirty="0"/>
              <a:t>+ </a:t>
            </a:r>
            <a:r>
              <a:rPr lang="en-US" sz="2000" dirty="0"/>
              <a:t>x</a:t>
            </a:r>
            <a:r>
              <a:rPr lang="en-US" sz="2000" i="1" baseline="-25000" dirty="0"/>
              <a:t>7</a:t>
            </a:r>
            <a:r>
              <a:rPr lang="en-US" sz="2000" i="1" dirty="0"/>
              <a:t> + </a:t>
            </a:r>
            <a:r>
              <a:rPr lang="en-US" sz="2000" dirty="0"/>
              <a:t>x</a:t>
            </a:r>
            <a:r>
              <a:rPr lang="en-US" sz="2000" baseline="-25000" dirty="0"/>
              <a:t>10</a:t>
            </a:r>
            <a:r>
              <a:rPr lang="en-US" sz="2000" dirty="0"/>
              <a:t> ≥ 1</a:t>
            </a:r>
            <a:br>
              <a:rPr lang="en-US" sz="2000" dirty="0"/>
            </a:br>
            <a:r>
              <a:rPr lang="en-US" sz="2000" dirty="0"/>
              <a:t>		</a:t>
            </a:r>
            <a:r>
              <a:rPr lang="en-US" sz="2000" i="1" dirty="0"/>
              <a:t>x</a:t>
            </a:r>
            <a:r>
              <a:rPr lang="en-US" sz="2000" baseline="-25000" dirty="0"/>
              <a:t>2</a:t>
            </a:r>
            <a:r>
              <a:rPr lang="en-US" sz="2000" dirty="0"/>
              <a:t> + </a:t>
            </a:r>
            <a:r>
              <a:rPr lang="en-US" sz="2000" i="1" dirty="0"/>
              <a:t>x</a:t>
            </a:r>
            <a:r>
              <a:rPr lang="en-US" sz="2000" baseline="-25000" dirty="0"/>
              <a:t>5</a:t>
            </a:r>
            <a:r>
              <a:rPr lang="en-US" sz="2000" dirty="0"/>
              <a:t> + </a:t>
            </a:r>
            <a:r>
              <a:rPr lang="en-US" sz="2000" i="1" dirty="0"/>
              <a:t>x</a:t>
            </a:r>
            <a:r>
              <a:rPr lang="en-US" sz="2000" baseline="-25000" dirty="0"/>
              <a:t>8</a:t>
            </a:r>
            <a:r>
              <a:rPr lang="en-US" sz="2000" dirty="0"/>
              <a:t> + </a:t>
            </a:r>
            <a:r>
              <a:rPr lang="en-US" sz="2000" i="1" dirty="0"/>
              <a:t>x</a:t>
            </a:r>
            <a:r>
              <a:rPr lang="en-US" sz="2000" baseline="-25000" dirty="0"/>
              <a:t>11</a:t>
            </a:r>
            <a:r>
              <a:rPr lang="en-US" sz="2000" dirty="0"/>
              <a:t> ≥ 1</a:t>
            </a:r>
          </a:p>
          <a:p>
            <a:r>
              <a:rPr lang="en-US" sz="2000" i="1" dirty="0"/>
              <a:t>		x</a:t>
            </a:r>
            <a:r>
              <a:rPr lang="en-US" sz="2000" baseline="-25000" dirty="0"/>
              <a:t>3</a:t>
            </a:r>
            <a:r>
              <a:rPr lang="en-US" sz="2000" dirty="0"/>
              <a:t> + </a:t>
            </a:r>
            <a:r>
              <a:rPr lang="en-US" sz="2000" i="1" dirty="0"/>
              <a:t>x</a:t>
            </a:r>
            <a:r>
              <a:rPr lang="en-US" sz="2000" baseline="-25000" dirty="0"/>
              <a:t>6</a:t>
            </a:r>
            <a:r>
              <a:rPr lang="en-US" sz="2000" dirty="0"/>
              <a:t> </a:t>
            </a:r>
            <a:r>
              <a:rPr lang="en-US" sz="2000" i="1" dirty="0"/>
              <a:t>+ </a:t>
            </a:r>
            <a:r>
              <a:rPr lang="en-US" sz="2000" dirty="0"/>
              <a:t>x</a:t>
            </a:r>
            <a:r>
              <a:rPr lang="en-US" sz="2000" i="1" baseline="-25000" dirty="0"/>
              <a:t>9</a:t>
            </a:r>
            <a:r>
              <a:rPr lang="en-US" sz="2000" i="1" dirty="0"/>
              <a:t> + </a:t>
            </a:r>
            <a:r>
              <a:rPr lang="en-US" sz="2000" dirty="0"/>
              <a:t>x</a:t>
            </a:r>
            <a:r>
              <a:rPr lang="en-US" sz="2000" baseline="-25000" dirty="0"/>
              <a:t>12</a:t>
            </a:r>
            <a:r>
              <a:rPr lang="en-US" sz="2000" dirty="0"/>
              <a:t> ≥ 1</a:t>
            </a:r>
            <a:br>
              <a:rPr lang="en-US" sz="2000" dirty="0"/>
            </a:br>
            <a:r>
              <a:rPr lang="en-US" sz="2000" dirty="0"/>
              <a:t>		</a:t>
            </a:r>
            <a:r>
              <a:rPr lang="en-US" sz="2000" i="1" dirty="0"/>
              <a:t>x</a:t>
            </a:r>
            <a:r>
              <a:rPr lang="en-US" sz="2000" baseline="-25000" dirty="0"/>
              <a:t>4</a:t>
            </a:r>
            <a:r>
              <a:rPr lang="en-US" sz="2000" dirty="0"/>
              <a:t> + </a:t>
            </a:r>
            <a:r>
              <a:rPr lang="en-US" sz="2000" i="1" dirty="0"/>
              <a:t>x</a:t>
            </a:r>
            <a:r>
              <a:rPr lang="en-US" sz="2000" baseline="-25000" dirty="0"/>
              <a:t>7</a:t>
            </a:r>
            <a:r>
              <a:rPr lang="en-US" sz="2000" dirty="0"/>
              <a:t> + </a:t>
            </a:r>
            <a:r>
              <a:rPr lang="en-US" sz="2000" i="1" dirty="0"/>
              <a:t>x</a:t>
            </a:r>
            <a:r>
              <a:rPr lang="en-US" sz="2000" baseline="-25000" dirty="0"/>
              <a:t>9</a:t>
            </a:r>
            <a:r>
              <a:rPr lang="en-US" sz="2000" dirty="0"/>
              <a:t> + </a:t>
            </a:r>
            <a:r>
              <a:rPr lang="en-US" sz="2000" i="1" dirty="0"/>
              <a:t>x</a:t>
            </a:r>
            <a:r>
              <a:rPr lang="en-US" sz="2000" baseline="-25000" dirty="0"/>
              <a:t>10</a:t>
            </a:r>
            <a:r>
              <a:rPr lang="en-US" sz="2000" dirty="0"/>
              <a:t> + </a:t>
            </a:r>
            <a:r>
              <a:rPr lang="en-US" sz="2000" i="1" dirty="0"/>
              <a:t>x</a:t>
            </a:r>
            <a:r>
              <a:rPr lang="en-US" sz="2000" baseline="-25000" dirty="0"/>
              <a:t>12</a:t>
            </a:r>
            <a:r>
              <a:rPr lang="en-US" sz="2000" dirty="0"/>
              <a:t> ≥ 1</a:t>
            </a:r>
          </a:p>
          <a:p>
            <a:r>
              <a:rPr lang="en-US" sz="2000" i="1" dirty="0"/>
              <a:t>		x</a:t>
            </a:r>
            <a:r>
              <a:rPr lang="en-US" sz="2000" baseline="-25000" dirty="0"/>
              <a:t>1</a:t>
            </a:r>
            <a:r>
              <a:rPr lang="en-US" sz="2000" dirty="0"/>
              <a:t> + </a:t>
            </a:r>
            <a:r>
              <a:rPr lang="en-US" sz="2000" i="1" dirty="0"/>
              <a:t>x</a:t>
            </a:r>
            <a:r>
              <a:rPr lang="en-US" sz="2000" baseline="-25000" dirty="0"/>
              <a:t>6</a:t>
            </a:r>
            <a:r>
              <a:rPr lang="en-US" sz="2000" dirty="0"/>
              <a:t> </a:t>
            </a:r>
            <a:r>
              <a:rPr lang="en-US" sz="2000" i="1" dirty="0"/>
              <a:t>+ </a:t>
            </a:r>
            <a:r>
              <a:rPr lang="en-US" sz="2000" dirty="0"/>
              <a:t>x</a:t>
            </a:r>
            <a:r>
              <a:rPr lang="en-US" sz="2000" i="1" baseline="-25000" dirty="0"/>
              <a:t>10</a:t>
            </a:r>
            <a:r>
              <a:rPr lang="en-US" sz="2000" i="1" dirty="0"/>
              <a:t> + </a:t>
            </a:r>
            <a:r>
              <a:rPr lang="en-US" sz="2000" dirty="0"/>
              <a:t>x</a:t>
            </a:r>
            <a:r>
              <a:rPr lang="en-US" sz="2000" baseline="-25000" dirty="0"/>
              <a:t>11</a:t>
            </a:r>
            <a:r>
              <a:rPr lang="en-US" sz="2000" dirty="0"/>
              <a:t> ≥ 1</a:t>
            </a:r>
            <a:br>
              <a:rPr lang="en-US" sz="2000" dirty="0"/>
            </a:br>
            <a:r>
              <a:rPr lang="en-US" sz="2000" dirty="0"/>
              <a:t>		</a:t>
            </a:r>
            <a:r>
              <a:rPr lang="en-US" sz="2000" i="1" dirty="0"/>
              <a:t>x</a:t>
            </a:r>
            <a:r>
              <a:rPr lang="en-US" sz="2000" baseline="-25000" dirty="0"/>
              <a:t>4</a:t>
            </a:r>
            <a:r>
              <a:rPr lang="en-US" sz="2000" dirty="0"/>
              <a:t> + </a:t>
            </a:r>
            <a:r>
              <a:rPr lang="en-US" sz="2000" i="1" dirty="0"/>
              <a:t>x</a:t>
            </a:r>
            <a:r>
              <a:rPr lang="en-US" sz="2000" baseline="-25000" dirty="0"/>
              <a:t>5</a:t>
            </a:r>
            <a:r>
              <a:rPr lang="en-US" sz="2000" dirty="0"/>
              <a:t> + </a:t>
            </a:r>
            <a:r>
              <a:rPr lang="en-US" sz="2000" i="1" dirty="0"/>
              <a:t>x</a:t>
            </a:r>
            <a:r>
              <a:rPr lang="en-US" sz="2000" baseline="-25000" dirty="0"/>
              <a:t>9</a:t>
            </a:r>
            <a:r>
              <a:rPr lang="en-US" sz="2000" dirty="0"/>
              <a:t> ≥ 1</a:t>
            </a:r>
          </a:p>
          <a:p>
            <a:r>
              <a:rPr lang="en-US" sz="2000" i="1" dirty="0"/>
              <a:t>		x</a:t>
            </a:r>
            <a:r>
              <a:rPr lang="en-US" sz="2000" baseline="-25000" dirty="0"/>
              <a:t>7</a:t>
            </a:r>
            <a:r>
              <a:rPr lang="en-US" sz="2000" dirty="0"/>
              <a:t> + </a:t>
            </a:r>
            <a:r>
              <a:rPr lang="en-US" sz="2000" i="1" dirty="0"/>
              <a:t>x</a:t>
            </a:r>
            <a:r>
              <a:rPr lang="en-US" sz="2000" baseline="-25000" dirty="0"/>
              <a:t>8</a:t>
            </a:r>
            <a:r>
              <a:rPr lang="en-US" sz="2000" dirty="0"/>
              <a:t> </a:t>
            </a:r>
            <a:r>
              <a:rPr lang="en-US" sz="2000" i="1" dirty="0"/>
              <a:t>+ </a:t>
            </a:r>
            <a:r>
              <a:rPr lang="en-US" sz="2000" dirty="0"/>
              <a:t>x</a:t>
            </a:r>
            <a:r>
              <a:rPr lang="en-US" sz="2000" i="1" baseline="-25000" dirty="0"/>
              <a:t>10</a:t>
            </a:r>
            <a:r>
              <a:rPr lang="en-US" sz="2000" i="1" dirty="0"/>
              <a:t> + </a:t>
            </a:r>
            <a:r>
              <a:rPr lang="en-US" sz="2000" dirty="0"/>
              <a:t>x</a:t>
            </a:r>
            <a:r>
              <a:rPr lang="en-US" sz="2000" baseline="-25000" dirty="0"/>
              <a:t>11</a:t>
            </a:r>
            <a:r>
              <a:rPr lang="en-US" sz="2000" dirty="0"/>
              <a:t> </a:t>
            </a:r>
            <a:r>
              <a:rPr lang="en-US" sz="2000" i="1" dirty="0"/>
              <a:t>+ </a:t>
            </a:r>
            <a:r>
              <a:rPr lang="en-US" sz="2000" dirty="0"/>
              <a:t>x</a:t>
            </a:r>
            <a:r>
              <a:rPr lang="en-US" sz="2000" baseline="-25000" dirty="0"/>
              <a:t>12</a:t>
            </a:r>
            <a:r>
              <a:rPr lang="en-US" sz="2000" dirty="0"/>
              <a:t> ≥ 1</a:t>
            </a:r>
            <a:br>
              <a:rPr lang="en-US" sz="2000" dirty="0"/>
            </a:br>
            <a:r>
              <a:rPr lang="en-US" sz="2000" dirty="0"/>
              <a:t>		</a:t>
            </a:r>
            <a:r>
              <a:rPr lang="en-US" sz="2000" i="1" dirty="0"/>
              <a:t>x</a:t>
            </a:r>
            <a:r>
              <a:rPr lang="en-US" sz="2000" baseline="-25000" dirty="0"/>
              <a:t>2</a:t>
            </a:r>
            <a:r>
              <a:rPr lang="en-US" sz="2000" dirty="0"/>
              <a:t> + </a:t>
            </a:r>
            <a:r>
              <a:rPr lang="en-US" sz="2000" i="1" dirty="0"/>
              <a:t>x</a:t>
            </a:r>
            <a:r>
              <a:rPr lang="en-US" sz="2000" baseline="-25000" dirty="0"/>
              <a:t>4</a:t>
            </a:r>
            <a:r>
              <a:rPr lang="en-US" sz="2000" dirty="0"/>
              <a:t> + </a:t>
            </a:r>
            <a:r>
              <a:rPr lang="en-US" sz="2000" i="1" dirty="0"/>
              <a:t>x</a:t>
            </a:r>
            <a:r>
              <a:rPr lang="en-US" sz="2000" baseline="-25000" dirty="0"/>
              <a:t>5</a:t>
            </a:r>
            <a:r>
              <a:rPr lang="en-US" sz="2000" dirty="0"/>
              <a:t> + </a:t>
            </a:r>
            <a:r>
              <a:rPr lang="en-US" sz="2000" i="1" dirty="0"/>
              <a:t>x</a:t>
            </a:r>
            <a:r>
              <a:rPr lang="en-US" sz="2000" baseline="-25000" dirty="0"/>
              <a:t>9</a:t>
            </a:r>
            <a:r>
              <a:rPr lang="en-US" sz="2000" dirty="0"/>
              <a:t> ≥ 1</a:t>
            </a:r>
          </a:p>
          <a:p>
            <a:r>
              <a:rPr lang="en-US" sz="2000" dirty="0"/>
              <a:t>		</a:t>
            </a:r>
            <a:r>
              <a:rPr lang="en-US" sz="2000" i="1" dirty="0"/>
              <a:t>x</a:t>
            </a:r>
            <a:r>
              <a:rPr lang="en-US" sz="2000" baseline="-25000" dirty="0"/>
              <a:t>5</a:t>
            </a:r>
            <a:r>
              <a:rPr lang="en-US" sz="2000" dirty="0"/>
              <a:t> + </a:t>
            </a:r>
            <a:r>
              <a:rPr lang="en-US" sz="2000" i="1" dirty="0"/>
              <a:t>x</a:t>
            </a:r>
            <a:r>
              <a:rPr lang="en-US" sz="2000" baseline="-25000" dirty="0"/>
              <a:t>8</a:t>
            </a:r>
            <a:r>
              <a:rPr lang="en-US" sz="2000" dirty="0"/>
              <a:t> </a:t>
            </a:r>
            <a:r>
              <a:rPr lang="en-US" sz="2000" i="1" dirty="0"/>
              <a:t>+ </a:t>
            </a:r>
            <a:r>
              <a:rPr lang="en-US" sz="2000" dirty="0"/>
              <a:t>x</a:t>
            </a:r>
            <a:r>
              <a:rPr lang="en-US" sz="2000" i="1" baseline="-25000" dirty="0"/>
              <a:t>11</a:t>
            </a:r>
            <a:r>
              <a:rPr lang="en-US" sz="2000" i="1" dirty="0"/>
              <a:t> </a:t>
            </a:r>
            <a:r>
              <a:rPr lang="en-US" sz="2000" dirty="0"/>
              <a:t>≥ 1</a:t>
            </a:r>
            <a:br>
              <a:rPr lang="en-US" sz="2000" dirty="0"/>
            </a:br>
            <a:r>
              <a:rPr lang="en-US" sz="2000" dirty="0"/>
              <a:t>		</a:t>
            </a:r>
            <a:r>
              <a:rPr lang="en-US" sz="2000" i="1" dirty="0"/>
              <a:t>x</a:t>
            </a:r>
            <a:r>
              <a:rPr lang="en-US" sz="2000" baseline="-25000" dirty="0"/>
              <a:t>3</a:t>
            </a:r>
            <a:r>
              <a:rPr lang="en-US" sz="2000" dirty="0"/>
              <a:t> + </a:t>
            </a:r>
            <a:r>
              <a:rPr lang="en-US" sz="2000" i="1" dirty="0"/>
              <a:t>x</a:t>
            </a:r>
            <a:r>
              <a:rPr lang="en-US" sz="2000" baseline="-25000" dirty="0"/>
              <a:t>7</a:t>
            </a:r>
            <a:r>
              <a:rPr lang="en-US" sz="2000" dirty="0"/>
              <a:t> + </a:t>
            </a:r>
            <a:r>
              <a:rPr lang="en-US" sz="2000" i="1" dirty="0"/>
              <a:t>x</a:t>
            </a:r>
            <a:r>
              <a:rPr lang="en-US" sz="2000" baseline="-25000" dirty="0"/>
              <a:t>8</a:t>
            </a:r>
            <a:r>
              <a:rPr lang="en-US" sz="2000" dirty="0"/>
              <a:t> + </a:t>
            </a:r>
            <a:r>
              <a:rPr lang="en-US" sz="2000" i="1" dirty="0"/>
              <a:t>x</a:t>
            </a:r>
            <a:r>
              <a:rPr lang="en-US" sz="2000" baseline="-25000" dirty="0"/>
              <a:t>12</a:t>
            </a:r>
            <a:r>
              <a:rPr lang="en-US" sz="2000" dirty="0"/>
              <a:t> ≥ 1</a:t>
            </a:r>
          </a:p>
          <a:p>
            <a:r>
              <a:rPr lang="en-US" sz="2000" dirty="0"/>
              <a:t>		</a:t>
            </a:r>
            <a:r>
              <a:rPr lang="en-US" sz="2000" i="1" dirty="0"/>
              <a:t>x</a:t>
            </a:r>
            <a:r>
              <a:rPr lang="en-US" sz="2000" baseline="-25000" dirty="0"/>
              <a:t>6</a:t>
            </a:r>
            <a:r>
              <a:rPr lang="en-US" sz="2000" dirty="0"/>
              <a:t> + </a:t>
            </a:r>
            <a:r>
              <a:rPr lang="en-US" sz="2000" i="1" dirty="0"/>
              <a:t>x</a:t>
            </a:r>
            <a:r>
              <a:rPr lang="en-US" sz="2000" baseline="-25000" dirty="0"/>
              <a:t>9</a:t>
            </a:r>
            <a:r>
              <a:rPr lang="en-US" sz="2000" dirty="0"/>
              <a:t> + </a:t>
            </a:r>
            <a:r>
              <a:rPr lang="en-US" sz="2000" i="1" dirty="0"/>
              <a:t>x</a:t>
            </a:r>
            <a:r>
              <a:rPr lang="en-US" sz="2000" baseline="-25000" dirty="0"/>
              <a:t>10</a:t>
            </a:r>
            <a:r>
              <a:rPr lang="en-US" sz="2000" dirty="0"/>
              <a:t> + </a:t>
            </a:r>
            <a:r>
              <a:rPr lang="en-US" sz="2000" i="1" dirty="0"/>
              <a:t>x</a:t>
            </a:r>
            <a:r>
              <a:rPr lang="en-US" sz="2000" baseline="-25000" dirty="0"/>
              <a:t>11</a:t>
            </a:r>
            <a:r>
              <a:rPr lang="en-US" sz="2000" dirty="0"/>
              <a:t> + </a:t>
            </a:r>
            <a:r>
              <a:rPr lang="en-US" sz="2000" i="1" dirty="0"/>
              <a:t>x</a:t>
            </a:r>
            <a:r>
              <a:rPr lang="en-US" sz="2000" baseline="-25000" dirty="0"/>
              <a:t>12</a:t>
            </a:r>
            <a:r>
              <a:rPr lang="en-US" sz="2000" dirty="0"/>
              <a:t> ≥ 1</a:t>
            </a:r>
            <a:br>
              <a:rPr lang="en-US" sz="2000" dirty="0"/>
            </a:br>
            <a:r>
              <a:rPr lang="en-US" sz="2000" dirty="0"/>
              <a:t>		</a:t>
            </a:r>
            <a:r>
              <a:rPr lang="en-US" sz="2000" i="1" dirty="0"/>
              <a:t>x</a:t>
            </a:r>
            <a:r>
              <a:rPr lang="en-US" sz="2000" baseline="-25000" dirty="0"/>
              <a:t>1</a:t>
            </a:r>
            <a:r>
              <a:rPr lang="en-US" sz="2000" dirty="0"/>
              <a:t> + </a:t>
            </a:r>
            <a:r>
              <a:rPr lang="en-US" sz="2000" i="1" dirty="0"/>
              <a:t>x</a:t>
            </a:r>
            <a:r>
              <a:rPr lang="en-US" sz="2000" baseline="-25000" dirty="0"/>
              <a:t>2</a:t>
            </a:r>
            <a:r>
              <a:rPr lang="en-US" sz="2000" dirty="0"/>
              <a:t> + </a:t>
            </a:r>
            <a:r>
              <a:rPr lang="en-US" sz="2000" i="1" dirty="0"/>
              <a:t>x</a:t>
            </a:r>
            <a:r>
              <a:rPr lang="en-US" sz="2000" baseline="-25000" dirty="0"/>
              <a:t>3</a:t>
            </a:r>
            <a:r>
              <a:rPr lang="en-US" sz="2000" dirty="0"/>
              <a:t> + </a:t>
            </a:r>
            <a:r>
              <a:rPr lang="en-US" sz="2000" i="1" dirty="0"/>
              <a:t>x</a:t>
            </a:r>
            <a:r>
              <a:rPr lang="en-US" sz="2000" baseline="-25000" dirty="0"/>
              <a:t>4</a:t>
            </a:r>
            <a:r>
              <a:rPr lang="en-US" sz="2000" dirty="0"/>
              <a:t> + </a:t>
            </a:r>
            <a:r>
              <a:rPr lang="en-US" sz="2000" i="1" dirty="0"/>
              <a:t>x</a:t>
            </a:r>
            <a:r>
              <a:rPr lang="en-US" sz="2000" baseline="-25000" dirty="0"/>
              <a:t>5</a:t>
            </a:r>
            <a:r>
              <a:rPr lang="en-US" sz="2000" dirty="0"/>
              <a:t> + </a:t>
            </a:r>
            <a:r>
              <a:rPr lang="en-US" sz="2000" i="1" dirty="0"/>
              <a:t>x</a:t>
            </a:r>
            <a:r>
              <a:rPr lang="en-US" sz="2000" baseline="-25000" dirty="0"/>
              <a:t>6</a:t>
            </a:r>
            <a:r>
              <a:rPr lang="en-US" sz="2000" dirty="0"/>
              <a:t> + </a:t>
            </a:r>
            <a:r>
              <a:rPr lang="en-US" sz="2000" i="1" dirty="0"/>
              <a:t>x</a:t>
            </a:r>
            <a:r>
              <a:rPr lang="en-US" sz="2000" baseline="-25000" dirty="0"/>
              <a:t>7</a:t>
            </a:r>
            <a:r>
              <a:rPr lang="en-US" sz="2000" dirty="0"/>
              <a:t> + </a:t>
            </a:r>
            <a:r>
              <a:rPr lang="en-US" sz="2000" i="1" dirty="0"/>
              <a:t>x</a:t>
            </a:r>
            <a:r>
              <a:rPr lang="en-US" sz="2000" baseline="-25000" dirty="0"/>
              <a:t>8</a:t>
            </a:r>
            <a:r>
              <a:rPr lang="en-US" sz="2000" dirty="0"/>
              <a:t> + </a:t>
            </a:r>
            <a:r>
              <a:rPr lang="en-US" sz="2000" i="1" dirty="0"/>
              <a:t>x</a:t>
            </a:r>
            <a:r>
              <a:rPr lang="en-US" sz="2000" baseline="-25000" dirty="0"/>
              <a:t>9</a:t>
            </a:r>
            <a:r>
              <a:rPr lang="en-US" sz="2000" dirty="0"/>
              <a:t> + </a:t>
            </a:r>
            <a:r>
              <a:rPr lang="en-US" sz="2000" i="1" dirty="0"/>
              <a:t>x</a:t>
            </a:r>
            <a:r>
              <a:rPr lang="en-US" sz="2000" baseline="-25000" dirty="0"/>
              <a:t>10</a:t>
            </a:r>
            <a:r>
              <a:rPr lang="en-US" sz="2000" dirty="0"/>
              <a:t> + </a:t>
            </a:r>
            <a:r>
              <a:rPr lang="en-US" sz="2000" i="1" dirty="0"/>
              <a:t>x</a:t>
            </a:r>
            <a:r>
              <a:rPr lang="en-US" sz="2000" baseline="-25000" dirty="0"/>
              <a:t>11</a:t>
            </a:r>
            <a:r>
              <a:rPr lang="en-US" sz="2000" dirty="0"/>
              <a:t> + </a:t>
            </a:r>
            <a:r>
              <a:rPr lang="en-US" sz="2000" i="1" dirty="0"/>
              <a:t>x</a:t>
            </a:r>
            <a:r>
              <a:rPr lang="en-US" sz="2000" baseline="-25000" dirty="0"/>
              <a:t>12</a:t>
            </a:r>
            <a:r>
              <a:rPr lang="en-US" sz="2000" dirty="0"/>
              <a:t> ≤ 3	</a:t>
            </a:r>
            <a:br>
              <a:rPr lang="en-US" sz="2000" dirty="0"/>
            </a:br>
            <a:r>
              <a:rPr lang="en-US" sz="2000" dirty="0"/>
              <a:t>		</a:t>
            </a:r>
            <a:r>
              <a:rPr lang="en-US" sz="2000" i="1" dirty="0" err="1"/>
              <a:t>x</a:t>
            </a:r>
            <a:r>
              <a:rPr lang="en-US" sz="2000" i="1" baseline="-25000" dirty="0" err="1"/>
              <a:t>j</a:t>
            </a:r>
            <a:r>
              <a:rPr lang="en-US" sz="2000" dirty="0"/>
              <a:t> are binary (</a:t>
            </a:r>
            <a:r>
              <a:rPr lang="en-US" sz="2000" i="1" dirty="0"/>
              <a:t>j</a:t>
            </a:r>
            <a:r>
              <a:rPr lang="en-US" sz="2000" dirty="0"/>
              <a:t> = 1, 2, … , 12).</a:t>
            </a:r>
            <a:endParaRPr lang="en-US" sz="2000" i="1" dirty="0"/>
          </a:p>
        </p:txBody>
      </p:sp>
    </p:spTree>
    <p:extLst>
      <p:ext uri="{BB962C8B-B14F-4D97-AF65-F5344CB8AC3E}">
        <p14:creationId xmlns:p14="http://schemas.microsoft.com/office/powerpoint/2010/main" val="1281591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Crew Scheduling</a:t>
            </a:r>
          </a:p>
        </p:txBody>
      </p:sp>
      <p:sp>
        <p:nvSpPr>
          <p:cNvPr id="3" name="Content Placeholder 2"/>
          <p:cNvSpPr>
            <a:spLocks noGrp="1"/>
          </p:cNvSpPr>
          <p:nvPr>
            <p:ph idx="1"/>
          </p:nvPr>
        </p:nvSpPr>
        <p:spPr/>
        <p:txBody>
          <a:bodyPr/>
          <a:lstStyle/>
          <a:p>
            <a:r>
              <a:rPr lang="en-US" b="1" u="sng" dirty="0">
                <a:ea typeface="ＭＳ Ｐゴシック"/>
              </a:rPr>
              <a:t>Case: Southwestern Airways Problem (Chapter 7.4):</a:t>
            </a:r>
          </a:p>
          <a:p>
            <a:r>
              <a:rPr lang="en-US" dirty="0">
                <a:ea typeface="ＭＳ Ｐゴシック"/>
              </a:rPr>
              <a:t>Spreadsheet model:</a:t>
            </a:r>
            <a:endParaRPr lang="en-US" dirty="0"/>
          </a:p>
          <a:p>
            <a:pPr lvl="1"/>
            <a:endParaRPr lang="en-US" dirty="0">
              <a:ea typeface="ＭＳ Ｐゴシック"/>
            </a:endParaRPr>
          </a:p>
          <a:p>
            <a:pPr lvl="1"/>
            <a:endParaRPr lang="en-US" dirty="0"/>
          </a:p>
          <a:p>
            <a:endParaRPr lang="en-US" dirty="0">
              <a:ea typeface="ＭＳ Ｐゴシック"/>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2770340934"/>
              </p:ext>
            </p:extLst>
          </p:nvPr>
        </p:nvGraphicFramePr>
        <p:xfrm>
          <a:off x="3752045" y="1988713"/>
          <a:ext cx="7891462" cy="4435475"/>
        </p:xfrm>
        <a:graphic>
          <a:graphicData uri="http://schemas.openxmlformats.org/presentationml/2006/ole">
            <mc:AlternateContent xmlns:mc="http://schemas.openxmlformats.org/markup-compatibility/2006">
              <mc:Choice xmlns:v="urn:schemas-microsoft-com:vml" Requires="v">
                <p:oleObj name="Worksheet" r:id="rId2" imgW="6766560" imgH="3803904" progId="Excel.Sheet.8">
                  <p:embed/>
                </p:oleObj>
              </mc:Choice>
              <mc:Fallback>
                <p:oleObj name="Worksheet" r:id="rId2" imgW="6766560" imgH="3803904" progId="Excel.Sheet.8">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2045" y="1988713"/>
                        <a:ext cx="7891462" cy="443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263882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Production Planning</a:t>
            </a:r>
          </a:p>
        </p:txBody>
      </p:sp>
      <p:sp>
        <p:nvSpPr>
          <p:cNvPr id="3" name="Content Placeholder 2"/>
          <p:cNvSpPr>
            <a:spLocks noGrp="1"/>
          </p:cNvSpPr>
          <p:nvPr>
            <p:ph idx="1"/>
          </p:nvPr>
        </p:nvSpPr>
        <p:spPr>
          <a:xfrm>
            <a:off x="355002" y="1312432"/>
            <a:ext cx="11478410" cy="5115527"/>
          </a:xfrm>
        </p:spPr>
        <p:txBody>
          <a:bodyPr>
            <a:normAutofit/>
          </a:bodyPr>
          <a:lstStyle/>
          <a:p>
            <a:r>
              <a:rPr lang="en-US" b="1" u="sng" dirty="0">
                <a:ea typeface="ＭＳ Ｐゴシック"/>
              </a:rPr>
              <a:t>Case: </a:t>
            </a:r>
            <a:r>
              <a:rPr lang="en-US" b="1" u="sng" dirty="0" err="1">
                <a:ea typeface="ＭＳ Ｐゴシック"/>
              </a:rPr>
              <a:t>Lipdon</a:t>
            </a:r>
            <a:r>
              <a:rPr lang="en-US" b="1" u="sng" dirty="0">
                <a:ea typeface="ＭＳ Ｐゴシック"/>
              </a:rPr>
              <a:t> Tea Production (not in the textbook):</a:t>
            </a:r>
          </a:p>
          <a:p>
            <a:pPr lvl="1"/>
            <a:r>
              <a:rPr lang="en-US" u="sng" dirty="0">
                <a:ea typeface="ＭＳ Ｐゴシック"/>
              </a:rPr>
              <a:t>Case Description:</a:t>
            </a:r>
            <a:r>
              <a:rPr lang="en-US" dirty="0">
                <a:ea typeface="ＭＳ Ｐゴシック"/>
              </a:rPr>
              <a:t> </a:t>
            </a:r>
            <a:r>
              <a:rPr lang="en-US" dirty="0" err="1">
                <a:ea typeface="ＭＳ Ｐゴシック"/>
              </a:rPr>
              <a:t>Lipdon</a:t>
            </a:r>
            <a:r>
              <a:rPr lang="en-US" dirty="0">
                <a:ea typeface="ＭＳ Ｐゴシック"/>
              </a:rPr>
              <a:t> is a company that produces tea bags. Specifically, the company has 5 popular flavors that can be produced at the company’s manufacturing plant. The company produces boxes of each flavor and each box contains 25 tea bags. The table below gives the estimated annual demand in boxes and the selling price of a box for each flavor.</a:t>
            </a:r>
          </a:p>
          <a:p>
            <a:pPr lvl="1"/>
            <a:endParaRPr lang="en-US" dirty="0">
              <a:ea typeface="ＭＳ Ｐゴシック"/>
            </a:endParaRPr>
          </a:p>
          <a:p>
            <a:pPr lvl="1"/>
            <a:endParaRPr lang="en-US" dirty="0">
              <a:ea typeface="ＭＳ Ｐゴシック"/>
            </a:endParaRPr>
          </a:p>
          <a:p>
            <a:pPr lvl="1"/>
            <a:endParaRPr lang="en-US" dirty="0">
              <a:ea typeface="ＭＳ Ｐゴシック"/>
            </a:endParaRPr>
          </a:p>
          <a:p>
            <a:pPr lvl="1"/>
            <a:r>
              <a:rPr lang="en-US" dirty="0">
                <a:ea typeface="ＭＳ Ｐゴシック"/>
              </a:rPr>
              <a:t>Since </a:t>
            </a:r>
            <a:r>
              <a:rPr lang="en-US" dirty="0" err="1">
                <a:ea typeface="ＭＳ Ｐゴシック"/>
              </a:rPr>
              <a:t>Lipdon’s</a:t>
            </a:r>
            <a:r>
              <a:rPr lang="en-US" dirty="0">
                <a:ea typeface="ＭＳ Ｐゴシック"/>
              </a:rPr>
              <a:t> manufacturing plant has limited capacity, the company changes the flavors sold each year. </a:t>
            </a:r>
          </a:p>
          <a:p>
            <a:pPr lvl="2"/>
            <a:r>
              <a:rPr lang="en-US" dirty="0">
                <a:ea typeface="ＭＳ Ｐゴシック"/>
              </a:rPr>
              <a:t>As a company policy, if </a:t>
            </a:r>
            <a:r>
              <a:rPr lang="en-US" dirty="0" err="1">
                <a:ea typeface="ＭＳ Ｐゴシック"/>
              </a:rPr>
              <a:t>Lipdon</a:t>
            </a:r>
            <a:r>
              <a:rPr lang="en-US" dirty="0">
                <a:ea typeface="ＭＳ Ｐゴシック"/>
              </a:rPr>
              <a:t> decides to produce a flavor for a year, the number of boxes produced of that flavor should be at most the estimated annual demand and at least 90% of the estimated annual demand for boxes of that flavor.</a:t>
            </a:r>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3962516" y="3186000"/>
            <a:ext cx="5014059" cy="1360241"/>
          </a:xfrm>
          <a:prstGeom prst="rect">
            <a:avLst/>
          </a:prstGeom>
          <a:noFill/>
          <a:ln>
            <a:noFill/>
          </a:ln>
        </p:spPr>
      </p:pic>
    </p:spTree>
    <p:extLst>
      <p:ext uri="{BB962C8B-B14F-4D97-AF65-F5344CB8AC3E}">
        <p14:creationId xmlns:p14="http://schemas.microsoft.com/office/powerpoint/2010/main" val="3535963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Production Planning</a:t>
            </a:r>
          </a:p>
        </p:txBody>
      </p:sp>
      <p:sp>
        <p:nvSpPr>
          <p:cNvPr id="3" name="Content Placeholder 2"/>
          <p:cNvSpPr>
            <a:spLocks noGrp="1"/>
          </p:cNvSpPr>
          <p:nvPr>
            <p:ph idx="1"/>
          </p:nvPr>
        </p:nvSpPr>
        <p:spPr/>
        <p:txBody>
          <a:bodyPr/>
          <a:lstStyle/>
          <a:p>
            <a:r>
              <a:rPr lang="en-US" b="1" u="sng" dirty="0">
                <a:ea typeface="ＭＳ Ｐゴシック"/>
              </a:rPr>
              <a:t>Case: </a:t>
            </a:r>
            <a:r>
              <a:rPr lang="en-US" b="1" u="sng" dirty="0" err="1">
                <a:ea typeface="ＭＳ Ｐゴシック"/>
              </a:rPr>
              <a:t>Lipdon</a:t>
            </a:r>
            <a:r>
              <a:rPr lang="en-US" b="1" u="sng" dirty="0">
                <a:ea typeface="ＭＳ Ｐゴシック"/>
              </a:rPr>
              <a:t> Tea Production (not in the textbook):</a:t>
            </a:r>
          </a:p>
          <a:p>
            <a:pPr lvl="1"/>
            <a:r>
              <a:rPr lang="en-US" dirty="0">
                <a:ea typeface="ＭＳ Ｐゴシック"/>
              </a:rPr>
              <a:t>As the production manager at </a:t>
            </a:r>
            <a:r>
              <a:rPr lang="en-US" dirty="0" err="1">
                <a:ea typeface="ＭＳ Ｐゴシック"/>
              </a:rPr>
              <a:t>Lipdon</a:t>
            </a:r>
            <a:r>
              <a:rPr lang="en-US" dirty="0">
                <a:ea typeface="ＭＳ Ｐゴシック"/>
              </a:rPr>
              <a:t>, you need to decide on the production plan for the coming year by determining </a:t>
            </a:r>
            <a:r>
              <a:rPr lang="en-US" u="sng" dirty="0">
                <a:ea typeface="ＭＳ Ｐゴシック"/>
              </a:rPr>
              <a:t>which flavors to produce and how many boxes to produce for each flavor</a:t>
            </a:r>
            <a:r>
              <a:rPr lang="en-US" dirty="0">
                <a:ea typeface="ＭＳ Ｐゴシック"/>
              </a:rPr>
              <a:t>. </a:t>
            </a:r>
          </a:p>
          <a:p>
            <a:pPr lvl="2"/>
            <a:r>
              <a:rPr lang="en-US" dirty="0">
                <a:ea typeface="ＭＳ Ｐゴシック"/>
              </a:rPr>
              <a:t>As noted previously, the company’s manufacturing plant has limited capacity. Specifically, 100,000 boxes in total can be produced (production of a box of any flavor uses the same amount of capacity). </a:t>
            </a:r>
          </a:p>
          <a:p>
            <a:pPr lvl="2"/>
            <a:r>
              <a:rPr lang="en-US" dirty="0">
                <a:ea typeface="ＭＳ Ｐゴシック"/>
              </a:rPr>
              <a:t>To be able to produce a flavor, a one-time setup needs to be executed in the manufacturing plant. The table below shows the setup cost associated with each flavor’s production as well as the production cost per box for each flavor. </a:t>
            </a:r>
          </a:p>
          <a:p>
            <a:pPr lvl="1"/>
            <a:endParaRPr lang="en-US" dirty="0"/>
          </a:p>
          <a:p>
            <a:endParaRPr lang="en-US" dirty="0">
              <a:ea typeface="ＭＳ Ｐゴシック"/>
            </a:endParaRPr>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5968535" y="4589797"/>
            <a:ext cx="3755014" cy="1587165"/>
          </a:xfrm>
          <a:prstGeom prst="rect">
            <a:avLst/>
          </a:prstGeom>
          <a:noFill/>
          <a:ln>
            <a:noFill/>
          </a:ln>
        </p:spPr>
      </p:pic>
      <p:sp>
        <p:nvSpPr>
          <p:cNvPr id="5" name="Rectangle 4"/>
          <p:cNvSpPr/>
          <p:nvPr/>
        </p:nvSpPr>
        <p:spPr>
          <a:xfrm>
            <a:off x="2169393" y="4805847"/>
            <a:ext cx="3378558" cy="923330"/>
          </a:xfrm>
          <a:prstGeom prst="rect">
            <a:avLst/>
          </a:prstGeom>
        </p:spPr>
        <p:txBody>
          <a:bodyPr wrap="square">
            <a:spAutoFit/>
          </a:bodyPr>
          <a:lstStyle/>
          <a:p>
            <a:r>
              <a:rPr lang="en-US" dirty="0">
                <a:solidFill>
                  <a:srgbClr val="C00000"/>
                </a:solidFill>
                <a:ea typeface="ＭＳ Ｐゴシック"/>
              </a:rPr>
              <a:t>If the setup for a flavor is not executed, boxes of that flavor cannot be produced. </a:t>
            </a:r>
            <a:endParaRPr lang="en-US" dirty="0">
              <a:solidFill>
                <a:srgbClr val="C00000"/>
              </a:solidFill>
            </a:endParaRPr>
          </a:p>
        </p:txBody>
      </p:sp>
    </p:spTree>
    <p:extLst>
      <p:ext uri="{BB962C8B-B14F-4D97-AF65-F5344CB8AC3E}">
        <p14:creationId xmlns:p14="http://schemas.microsoft.com/office/powerpoint/2010/main" val="1636994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Production Planning</a:t>
            </a:r>
          </a:p>
        </p:txBody>
      </p:sp>
      <p:sp>
        <p:nvSpPr>
          <p:cNvPr id="3" name="Content Placeholder 2"/>
          <p:cNvSpPr>
            <a:spLocks noGrp="1"/>
          </p:cNvSpPr>
          <p:nvPr>
            <p:ph idx="1"/>
          </p:nvPr>
        </p:nvSpPr>
        <p:spPr/>
        <p:txBody>
          <a:bodyPr>
            <a:normAutofit lnSpcReduction="10000"/>
          </a:bodyPr>
          <a:lstStyle/>
          <a:p>
            <a:r>
              <a:rPr lang="en-US" b="1" u="sng" dirty="0">
                <a:ea typeface="ＭＳ Ｐゴシック"/>
              </a:rPr>
              <a:t>Case: </a:t>
            </a:r>
            <a:r>
              <a:rPr lang="en-US" b="1" u="sng" dirty="0" err="1">
                <a:ea typeface="ＭＳ Ｐゴシック"/>
              </a:rPr>
              <a:t>Lipdon</a:t>
            </a:r>
            <a:r>
              <a:rPr lang="en-US" b="1" u="sng" dirty="0">
                <a:ea typeface="ＭＳ Ｐゴシック"/>
              </a:rPr>
              <a:t> Tea Production (not in the textbook):</a:t>
            </a:r>
          </a:p>
          <a:p>
            <a:pPr lvl="1"/>
            <a:r>
              <a:rPr lang="en-US" dirty="0">
                <a:ea typeface="ＭＳ Ｐゴシック"/>
              </a:rPr>
              <a:t>As the production manager, you want to find the production plan that will maximize the estimated profits for the coming year. It is assumed that you will sell all of the tea boxes produced and the estimated profit is equal to the revenues gained from sales minus the production costs and the setup costs.</a:t>
            </a:r>
          </a:p>
          <a:p>
            <a:r>
              <a:rPr lang="en-US" b="1" dirty="0">
                <a:solidFill>
                  <a:srgbClr val="C00000"/>
                </a:solidFill>
                <a:ea typeface="ＭＳ Ｐゴシック"/>
              </a:rPr>
              <a:t>STEP 0: </a:t>
            </a:r>
            <a:r>
              <a:rPr lang="en-US" dirty="0">
                <a:ea typeface="ＭＳ Ｐゴシック"/>
              </a:rPr>
              <a:t>Data is given</a:t>
            </a:r>
          </a:p>
          <a:p>
            <a:r>
              <a:rPr lang="en-US" b="1" dirty="0">
                <a:solidFill>
                  <a:srgbClr val="C00000"/>
                </a:solidFill>
                <a:ea typeface="ＭＳ Ｐゴシック"/>
              </a:rPr>
              <a:t>STEP 1: </a:t>
            </a:r>
            <a:r>
              <a:rPr lang="en-US" dirty="0">
                <a:ea typeface="ＭＳ Ｐゴシック"/>
              </a:rPr>
              <a:t>Decision variables</a:t>
            </a:r>
          </a:p>
          <a:p>
            <a:pPr lvl="1"/>
            <a:r>
              <a:rPr lang="en-US" dirty="0"/>
              <a:t>We need to determine the production plan, i.e., which flavors to produce, and how many to produce. Let</a:t>
            </a:r>
          </a:p>
          <a:p>
            <a:pPr lvl="2"/>
            <a:r>
              <a:rPr lang="en-US" dirty="0" err="1"/>
              <a:t>X</a:t>
            </a:r>
            <a:r>
              <a:rPr lang="en-US" baseline="-25000" dirty="0" err="1"/>
              <a:t>j</a:t>
            </a:r>
            <a:r>
              <a:rPr lang="en-US" dirty="0"/>
              <a:t>=1 if flavor j is produced, </a:t>
            </a:r>
            <a:r>
              <a:rPr lang="en-US" dirty="0" err="1"/>
              <a:t>X</a:t>
            </a:r>
            <a:r>
              <a:rPr lang="en-US" baseline="-25000" dirty="0" err="1"/>
              <a:t>j</a:t>
            </a:r>
            <a:r>
              <a:rPr lang="en-US" dirty="0"/>
              <a:t>=0 if </a:t>
            </a:r>
            <a:r>
              <a:rPr lang="en-US" dirty="0" err="1"/>
              <a:t>flover</a:t>
            </a:r>
            <a:r>
              <a:rPr lang="en-US" dirty="0"/>
              <a:t> j is not produced</a:t>
            </a:r>
          </a:p>
          <a:p>
            <a:pPr lvl="2"/>
            <a:r>
              <a:rPr lang="en-US" dirty="0" err="1"/>
              <a:t>Q</a:t>
            </a:r>
            <a:r>
              <a:rPr lang="en-US" baseline="-25000" dirty="0" err="1"/>
              <a:t>j</a:t>
            </a:r>
            <a:r>
              <a:rPr lang="en-US" dirty="0"/>
              <a:t> be the number of boxes of flavor j produced, j=1,2,3,4,5.</a:t>
            </a:r>
          </a:p>
          <a:p>
            <a:pPr lvl="2"/>
            <a:r>
              <a:rPr lang="en-US" dirty="0"/>
              <a:t>such that j=1 means Breakfast Tea, j=2 means Early Grey Tea, j=3 means Green Tea,  j=4 means Irish Tea and j=5 means Herbal Tea.</a:t>
            </a:r>
            <a:endParaRPr lang="en-US" dirty="0">
              <a:ea typeface="ＭＳ Ｐゴシック"/>
            </a:endParaRPr>
          </a:p>
          <a:p>
            <a:pPr lvl="1"/>
            <a:endParaRPr lang="en-US" dirty="0"/>
          </a:p>
          <a:p>
            <a:endParaRPr lang="en-US" dirty="0">
              <a:ea typeface="ＭＳ Ｐゴシック"/>
            </a:endParaRPr>
          </a:p>
        </p:txBody>
      </p:sp>
    </p:spTree>
    <p:extLst>
      <p:ext uri="{BB962C8B-B14F-4D97-AF65-F5344CB8AC3E}">
        <p14:creationId xmlns:p14="http://schemas.microsoft.com/office/powerpoint/2010/main" val="4224191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Production Planning</a:t>
            </a:r>
          </a:p>
        </p:txBody>
      </p:sp>
      <p:sp>
        <p:nvSpPr>
          <p:cNvPr id="3" name="Content Placeholder 2"/>
          <p:cNvSpPr>
            <a:spLocks noGrp="1"/>
          </p:cNvSpPr>
          <p:nvPr>
            <p:ph idx="1"/>
          </p:nvPr>
        </p:nvSpPr>
        <p:spPr/>
        <p:txBody>
          <a:bodyPr/>
          <a:lstStyle/>
          <a:p>
            <a:r>
              <a:rPr lang="en-US" b="1" u="sng" dirty="0">
                <a:ea typeface="ＭＳ Ｐゴシック"/>
              </a:rPr>
              <a:t>Case: </a:t>
            </a:r>
            <a:r>
              <a:rPr lang="en-US" b="1" u="sng" dirty="0" err="1">
                <a:ea typeface="ＭＳ Ｐゴシック"/>
              </a:rPr>
              <a:t>Lipdon</a:t>
            </a:r>
            <a:r>
              <a:rPr lang="en-US" b="1" u="sng" dirty="0">
                <a:ea typeface="ＭＳ Ｐゴシック"/>
              </a:rPr>
              <a:t> Tea Production (not in the textbook):</a:t>
            </a:r>
          </a:p>
          <a:p>
            <a:r>
              <a:rPr lang="en-US" b="1" dirty="0">
                <a:solidFill>
                  <a:srgbClr val="C00000"/>
                </a:solidFill>
                <a:ea typeface="ＭＳ Ｐゴシック"/>
              </a:rPr>
              <a:t>STEP 2: </a:t>
            </a:r>
            <a:r>
              <a:rPr lang="en-US" dirty="0">
                <a:ea typeface="ＭＳ Ｐゴシック"/>
              </a:rPr>
              <a:t>Objective and objective function</a:t>
            </a:r>
          </a:p>
          <a:p>
            <a:pPr lvl="1"/>
            <a:r>
              <a:rPr lang="en-US" dirty="0"/>
              <a:t>We want to maximize the estimated profit, which is equal to revenues minus setup and production costs.</a:t>
            </a:r>
          </a:p>
          <a:p>
            <a:pPr lvl="2"/>
            <a:r>
              <a:rPr lang="en-US" dirty="0"/>
              <a:t>Revenues: 10Q</a:t>
            </a:r>
            <a:r>
              <a:rPr lang="en-US" baseline="-25000" dirty="0"/>
              <a:t>1</a:t>
            </a:r>
            <a:r>
              <a:rPr lang="en-US" dirty="0"/>
              <a:t>+10Q</a:t>
            </a:r>
            <a:r>
              <a:rPr lang="en-US" baseline="-25000" dirty="0"/>
              <a:t>2</a:t>
            </a:r>
            <a:r>
              <a:rPr lang="en-US" dirty="0"/>
              <a:t>+13Q</a:t>
            </a:r>
            <a:r>
              <a:rPr lang="en-US" baseline="-25000" dirty="0"/>
              <a:t>3</a:t>
            </a:r>
            <a:r>
              <a:rPr lang="en-US" dirty="0"/>
              <a:t>+13Q</a:t>
            </a:r>
            <a:r>
              <a:rPr lang="en-US" baseline="-25000" dirty="0"/>
              <a:t>4</a:t>
            </a:r>
            <a:r>
              <a:rPr lang="en-US" dirty="0"/>
              <a:t>+15Q</a:t>
            </a:r>
            <a:r>
              <a:rPr lang="en-US" baseline="-25000" dirty="0"/>
              <a:t>5</a:t>
            </a:r>
            <a:endParaRPr lang="en-US" dirty="0"/>
          </a:p>
          <a:p>
            <a:pPr lvl="2"/>
            <a:r>
              <a:rPr lang="en-US" dirty="0"/>
              <a:t>Setup costs: 50,000X</a:t>
            </a:r>
            <a:r>
              <a:rPr lang="en-US" baseline="-25000" dirty="0"/>
              <a:t>1</a:t>
            </a:r>
            <a:r>
              <a:rPr lang="en-US" dirty="0"/>
              <a:t>+40,000X</a:t>
            </a:r>
            <a:r>
              <a:rPr lang="en-US" baseline="-25000" dirty="0"/>
              <a:t>2</a:t>
            </a:r>
            <a:r>
              <a:rPr lang="en-US" dirty="0"/>
              <a:t>+30,000X</a:t>
            </a:r>
            <a:r>
              <a:rPr lang="en-US" baseline="-25000" dirty="0"/>
              <a:t>3</a:t>
            </a:r>
            <a:r>
              <a:rPr lang="en-US" dirty="0"/>
              <a:t>+45,000X</a:t>
            </a:r>
            <a:r>
              <a:rPr lang="en-US" baseline="-25000" dirty="0"/>
              <a:t>4</a:t>
            </a:r>
            <a:r>
              <a:rPr lang="en-US" dirty="0"/>
              <a:t>+35,000X</a:t>
            </a:r>
            <a:r>
              <a:rPr lang="en-US" baseline="-25000" dirty="0"/>
              <a:t>5</a:t>
            </a:r>
            <a:endParaRPr lang="en-US" dirty="0"/>
          </a:p>
          <a:p>
            <a:pPr lvl="2"/>
            <a:r>
              <a:rPr lang="en-US" dirty="0"/>
              <a:t>Production costs: 5Q</a:t>
            </a:r>
            <a:r>
              <a:rPr lang="en-US" baseline="-25000" dirty="0"/>
              <a:t>1</a:t>
            </a:r>
            <a:r>
              <a:rPr lang="en-US" dirty="0"/>
              <a:t>+6Q</a:t>
            </a:r>
            <a:r>
              <a:rPr lang="en-US" baseline="-25000" dirty="0"/>
              <a:t>2</a:t>
            </a:r>
            <a:r>
              <a:rPr lang="en-US" dirty="0"/>
              <a:t>+7Q</a:t>
            </a:r>
            <a:r>
              <a:rPr lang="en-US" baseline="-25000" dirty="0"/>
              <a:t>3</a:t>
            </a:r>
            <a:r>
              <a:rPr lang="en-US" dirty="0"/>
              <a:t>+8Q</a:t>
            </a:r>
            <a:r>
              <a:rPr lang="en-US" baseline="-25000" dirty="0"/>
              <a:t>4</a:t>
            </a:r>
            <a:r>
              <a:rPr lang="en-US" dirty="0"/>
              <a:t>+9Q</a:t>
            </a:r>
            <a:r>
              <a:rPr lang="en-US" baseline="-25000" dirty="0"/>
              <a:t>5</a:t>
            </a:r>
            <a:endParaRPr lang="en-US" dirty="0"/>
          </a:p>
          <a:p>
            <a:pPr lvl="1"/>
            <a:r>
              <a:rPr lang="en-US" dirty="0"/>
              <a:t>Then, we have</a:t>
            </a:r>
          </a:p>
          <a:p>
            <a:pPr lvl="2"/>
            <a:r>
              <a:rPr lang="en-US" dirty="0"/>
              <a:t>Maximize 5Q</a:t>
            </a:r>
            <a:r>
              <a:rPr lang="en-US" baseline="-25000" dirty="0"/>
              <a:t>1</a:t>
            </a:r>
            <a:r>
              <a:rPr lang="en-US" dirty="0"/>
              <a:t>+4Q</a:t>
            </a:r>
            <a:r>
              <a:rPr lang="en-US" baseline="-25000" dirty="0"/>
              <a:t>2</a:t>
            </a:r>
            <a:r>
              <a:rPr lang="en-US" dirty="0"/>
              <a:t>+6Q</a:t>
            </a:r>
            <a:r>
              <a:rPr lang="en-US" baseline="-25000" dirty="0"/>
              <a:t>3</a:t>
            </a:r>
            <a:r>
              <a:rPr lang="en-US" dirty="0"/>
              <a:t>+5Q</a:t>
            </a:r>
            <a:r>
              <a:rPr lang="en-US" baseline="-25000" dirty="0"/>
              <a:t>4</a:t>
            </a:r>
            <a:r>
              <a:rPr lang="en-US" dirty="0"/>
              <a:t>+6Q</a:t>
            </a:r>
            <a:r>
              <a:rPr lang="en-US" baseline="-25000" dirty="0"/>
              <a:t>5</a:t>
            </a:r>
            <a:r>
              <a:rPr lang="en-US" dirty="0"/>
              <a:t>-50,000X</a:t>
            </a:r>
            <a:r>
              <a:rPr lang="en-US" baseline="-25000" dirty="0"/>
              <a:t>1</a:t>
            </a:r>
            <a:r>
              <a:rPr lang="en-US" dirty="0"/>
              <a:t>-40,000X</a:t>
            </a:r>
            <a:r>
              <a:rPr lang="en-US" baseline="-25000" dirty="0"/>
              <a:t>2</a:t>
            </a:r>
            <a:r>
              <a:rPr lang="en-US" dirty="0"/>
              <a:t>-30,000X</a:t>
            </a:r>
            <a:r>
              <a:rPr lang="en-US" baseline="-25000" dirty="0"/>
              <a:t>3</a:t>
            </a:r>
            <a:r>
              <a:rPr lang="en-US" dirty="0"/>
              <a:t>-45,000X</a:t>
            </a:r>
            <a:r>
              <a:rPr lang="en-US" baseline="-25000" dirty="0"/>
              <a:t>4</a:t>
            </a:r>
            <a:r>
              <a:rPr lang="en-US" dirty="0"/>
              <a:t>-35,000X</a:t>
            </a:r>
            <a:r>
              <a:rPr lang="en-US" baseline="-25000" dirty="0"/>
              <a:t>5</a:t>
            </a:r>
            <a:endParaRPr lang="en-US" dirty="0"/>
          </a:p>
          <a:p>
            <a:pPr lvl="1"/>
            <a:endParaRPr lang="en-US" dirty="0"/>
          </a:p>
          <a:p>
            <a:endParaRPr lang="en-US" dirty="0">
              <a:ea typeface="ＭＳ Ｐゴシック"/>
            </a:endParaRPr>
          </a:p>
        </p:txBody>
      </p:sp>
    </p:spTree>
    <p:extLst>
      <p:ext uri="{BB962C8B-B14F-4D97-AF65-F5344CB8AC3E}">
        <p14:creationId xmlns:p14="http://schemas.microsoft.com/office/powerpoint/2010/main" val="2568421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Production Planning</a:t>
            </a:r>
          </a:p>
        </p:txBody>
      </p:sp>
      <p:sp>
        <p:nvSpPr>
          <p:cNvPr id="3" name="Content Placeholder 2"/>
          <p:cNvSpPr>
            <a:spLocks noGrp="1"/>
          </p:cNvSpPr>
          <p:nvPr>
            <p:ph idx="1"/>
          </p:nvPr>
        </p:nvSpPr>
        <p:spPr/>
        <p:txBody>
          <a:bodyPr>
            <a:normAutofit lnSpcReduction="10000"/>
          </a:bodyPr>
          <a:lstStyle/>
          <a:p>
            <a:r>
              <a:rPr lang="en-US" b="1" u="sng" dirty="0">
                <a:ea typeface="ＭＳ Ｐゴシック"/>
              </a:rPr>
              <a:t>Case: </a:t>
            </a:r>
            <a:r>
              <a:rPr lang="en-US" b="1" u="sng" dirty="0" err="1">
                <a:ea typeface="ＭＳ Ｐゴシック"/>
              </a:rPr>
              <a:t>Lipdon</a:t>
            </a:r>
            <a:r>
              <a:rPr lang="en-US" b="1" u="sng" dirty="0">
                <a:ea typeface="ＭＳ Ｐゴシック"/>
              </a:rPr>
              <a:t> Tea Production (not in the textbook):</a:t>
            </a:r>
          </a:p>
          <a:p>
            <a:r>
              <a:rPr lang="en-US" b="1" dirty="0">
                <a:solidFill>
                  <a:srgbClr val="C00000"/>
                </a:solidFill>
                <a:ea typeface="ＭＳ Ｐゴシック"/>
              </a:rPr>
              <a:t>STEP 3: </a:t>
            </a:r>
            <a:r>
              <a:rPr lang="en-US" dirty="0">
                <a:ea typeface="ＭＳ Ｐゴシック"/>
              </a:rPr>
              <a:t>Constraints</a:t>
            </a:r>
          </a:p>
          <a:p>
            <a:pPr lvl="1"/>
            <a:r>
              <a:rPr lang="en-US" dirty="0"/>
              <a:t>We have capacity constraint; total boxes produced can be at most 100,000, thus</a:t>
            </a:r>
          </a:p>
          <a:p>
            <a:pPr lvl="2"/>
            <a:r>
              <a:rPr lang="en-US" dirty="0"/>
              <a:t>Q</a:t>
            </a:r>
            <a:r>
              <a:rPr lang="en-US" baseline="-25000" dirty="0"/>
              <a:t>1</a:t>
            </a:r>
            <a:r>
              <a:rPr lang="en-US" dirty="0"/>
              <a:t>+Q</a:t>
            </a:r>
            <a:r>
              <a:rPr lang="en-US" baseline="-25000" dirty="0"/>
              <a:t>2</a:t>
            </a:r>
            <a:r>
              <a:rPr lang="en-US" dirty="0"/>
              <a:t>+Q</a:t>
            </a:r>
            <a:r>
              <a:rPr lang="en-US" baseline="-25000" dirty="0"/>
              <a:t>3</a:t>
            </a:r>
            <a:r>
              <a:rPr lang="en-US" dirty="0"/>
              <a:t>+Q</a:t>
            </a:r>
            <a:r>
              <a:rPr lang="en-US" baseline="-25000" dirty="0"/>
              <a:t>4</a:t>
            </a:r>
            <a:r>
              <a:rPr lang="en-US" dirty="0"/>
              <a:t>+Q</a:t>
            </a:r>
            <a:r>
              <a:rPr lang="en-US" baseline="-25000" dirty="0"/>
              <a:t>5</a:t>
            </a:r>
            <a:r>
              <a:rPr lang="en-US" dirty="0"/>
              <a:t>&lt;=100,000</a:t>
            </a:r>
          </a:p>
          <a:p>
            <a:pPr lvl="1"/>
            <a:r>
              <a:rPr lang="en-US" dirty="0"/>
              <a:t>Now, we cannot produce a flavor if we do not execute the setup for it. </a:t>
            </a:r>
          </a:p>
          <a:p>
            <a:pPr lvl="1"/>
            <a:r>
              <a:rPr lang="en-US" dirty="0"/>
              <a:t>Furthermore, as a company policy, if </a:t>
            </a:r>
            <a:r>
              <a:rPr lang="en-US" dirty="0" err="1"/>
              <a:t>Lipdon</a:t>
            </a:r>
            <a:r>
              <a:rPr lang="en-US" dirty="0"/>
              <a:t> decides to produce a flavor for a year, the number of boxes produced of that flavor should be at most the estimated annual demand and at least 90% of the estimated annual demand for boxes of that flavor. Therefore, we have the following constraints</a:t>
            </a:r>
          </a:p>
          <a:p>
            <a:pPr lvl="2"/>
            <a:r>
              <a:rPr lang="en-US" dirty="0"/>
              <a:t>40,500X</a:t>
            </a:r>
            <a:r>
              <a:rPr lang="en-US" baseline="-25000" dirty="0"/>
              <a:t>1</a:t>
            </a:r>
            <a:r>
              <a:rPr lang="en-US" dirty="0"/>
              <a:t>&lt;=Q</a:t>
            </a:r>
            <a:r>
              <a:rPr lang="en-US" baseline="-25000" dirty="0"/>
              <a:t>1</a:t>
            </a:r>
            <a:r>
              <a:rPr lang="en-US" dirty="0"/>
              <a:t>&lt;=45,000X</a:t>
            </a:r>
            <a:r>
              <a:rPr lang="en-US" baseline="-25000" dirty="0"/>
              <a:t>1</a:t>
            </a:r>
            <a:endParaRPr lang="en-US" dirty="0"/>
          </a:p>
          <a:p>
            <a:pPr lvl="2"/>
            <a:r>
              <a:rPr lang="en-US" dirty="0"/>
              <a:t>31,500X</a:t>
            </a:r>
            <a:r>
              <a:rPr lang="en-US" baseline="-25000" dirty="0"/>
              <a:t>2</a:t>
            </a:r>
            <a:r>
              <a:rPr lang="en-US" dirty="0"/>
              <a:t>&lt;=Q</a:t>
            </a:r>
            <a:r>
              <a:rPr lang="en-US" baseline="-25000" dirty="0"/>
              <a:t>2</a:t>
            </a:r>
            <a:r>
              <a:rPr lang="en-US" dirty="0"/>
              <a:t>&lt;=35,000X</a:t>
            </a:r>
            <a:r>
              <a:rPr lang="en-US" baseline="-25000" dirty="0"/>
              <a:t>2</a:t>
            </a:r>
            <a:endParaRPr lang="en-US" dirty="0"/>
          </a:p>
          <a:p>
            <a:pPr lvl="2"/>
            <a:r>
              <a:rPr lang="en-US" dirty="0"/>
              <a:t>27,000X</a:t>
            </a:r>
            <a:r>
              <a:rPr lang="en-US" baseline="-25000" dirty="0"/>
              <a:t>3</a:t>
            </a:r>
            <a:r>
              <a:rPr lang="en-US" dirty="0"/>
              <a:t>&lt;=Q</a:t>
            </a:r>
            <a:r>
              <a:rPr lang="en-US" baseline="-25000" dirty="0"/>
              <a:t>3</a:t>
            </a:r>
            <a:r>
              <a:rPr lang="en-US" dirty="0"/>
              <a:t>&lt;=30,000X</a:t>
            </a:r>
            <a:r>
              <a:rPr lang="en-US" baseline="-25000" dirty="0"/>
              <a:t>3</a:t>
            </a:r>
            <a:endParaRPr lang="en-US" dirty="0"/>
          </a:p>
          <a:p>
            <a:pPr lvl="2"/>
            <a:r>
              <a:rPr lang="en-US" dirty="0"/>
              <a:t>18,000X</a:t>
            </a:r>
            <a:r>
              <a:rPr lang="en-US" baseline="-25000" dirty="0"/>
              <a:t>4</a:t>
            </a:r>
            <a:r>
              <a:rPr lang="en-US" dirty="0"/>
              <a:t>&lt;=Q</a:t>
            </a:r>
            <a:r>
              <a:rPr lang="en-US" baseline="-25000" dirty="0"/>
              <a:t>4</a:t>
            </a:r>
            <a:r>
              <a:rPr lang="en-US" dirty="0"/>
              <a:t>&lt;=20,000X</a:t>
            </a:r>
            <a:r>
              <a:rPr lang="en-US" baseline="-25000" dirty="0"/>
              <a:t>4</a:t>
            </a:r>
            <a:endParaRPr lang="en-US" dirty="0"/>
          </a:p>
          <a:p>
            <a:pPr lvl="2"/>
            <a:r>
              <a:rPr lang="en-US" dirty="0"/>
              <a:t>13,500X</a:t>
            </a:r>
            <a:r>
              <a:rPr lang="en-US" baseline="-25000" dirty="0"/>
              <a:t>5</a:t>
            </a:r>
            <a:r>
              <a:rPr lang="en-US" dirty="0"/>
              <a:t>&lt;=Q</a:t>
            </a:r>
            <a:r>
              <a:rPr lang="en-US" baseline="-25000" dirty="0"/>
              <a:t>5</a:t>
            </a:r>
            <a:r>
              <a:rPr lang="en-US" dirty="0"/>
              <a:t>&lt;=15,000X</a:t>
            </a:r>
            <a:r>
              <a:rPr lang="en-US" baseline="-25000" dirty="0"/>
              <a:t>5</a:t>
            </a:r>
            <a:endParaRPr lang="en-US" dirty="0"/>
          </a:p>
          <a:p>
            <a:pPr lvl="1"/>
            <a:endParaRPr lang="en-US" dirty="0"/>
          </a:p>
          <a:p>
            <a:endParaRPr lang="en-US" dirty="0">
              <a:ea typeface="ＭＳ Ｐゴシック"/>
            </a:endParaRPr>
          </a:p>
        </p:txBody>
      </p:sp>
    </p:spTree>
    <p:extLst>
      <p:ext uri="{BB962C8B-B14F-4D97-AF65-F5344CB8AC3E}">
        <p14:creationId xmlns:p14="http://schemas.microsoft.com/office/powerpoint/2010/main" val="2186777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Production Planning</a:t>
            </a:r>
          </a:p>
        </p:txBody>
      </p:sp>
      <p:sp>
        <p:nvSpPr>
          <p:cNvPr id="3" name="Content Placeholder 2"/>
          <p:cNvSpPr>
            <a:spLocks noGrp="1"/>
          </p:cNvSpPr>
          <p:nvPr>
            <p:ph idx="1"/>
          </p:nvPr>
        </p:nvSpPr>
        <p:spPr/>
        <p:txBody>
          <a:bodyPr/>
          <a:lstStyle/>
          <a:p>
            <a:r>
              <a:rPr lang="en-US" b="1" u="sng" dirty="0">
                <a:ea typeface="ＭＳ Ｐゴシック"/>
              </a:rPr>
              <a:t>Case: </a:t>
            </a:r>
            <a:r>
              <a:rPr lang="en-US" b="1" u="sng" dirty="0" err="1">
                <a:ea typeface="ＭＳ Ｐゴシック"/>
              </a:rPr>
              <a:t>Lipdon</a:t>
            </a:r>
            <a:r>
              <a:rPr lang="en-US" b="1" u="sng" dirty="0">
                <a:ea typeface="ＭＳ Ｐゴシック"/>
              </a:rPr>
              <a:t> Tea Production (not in the textbook):</a:t>
            </a:r>
          </a:p>
          <a:p>
            <a:r>
              <a:rPr lang="en-US" dirty="0">
                <a:ea typeface="ＭＳ Ｐゴシック"/>
              </a:rPr>
              <a:t>Combining everything (not forgetting binary definitions), we have:</a:t>
            </a:r>
            <a:endParaRPr lang="en-US" dirty="0"/>
          </a:p>
          <a:p>
            <a:pPr lvl="1"/>
            <a:endParaRPr lang="en-US" dirty="0"/>
          </a:p>
          <a:p>
            <a:pPr lvl="1"/>
            <a:endParaRPr lang="en-US" dirty="0">
              <a:ea typeface="ＭＳ Ｐゴシック"/>
            </a:endParaRPr>
          </a:p>
        </p:txBody>
      </p:sp>
      <p:sp>
        <p:nvSpPr>
          <p:cNvPr id="7" name="Rectangle 6"/>
          <p:cNvSpPr/>
          <p:nvPr/>
        </p:nvSpPr>
        <p:spPr>
          <a:xfrm>
            <a:off x="1129401" y="2374518"/>
            <a:ext cx="9929612" cy="3538405"/>
          </a:xfrm>
          <a:prstGeom prst="rect">
            <a:avLst/>
          </a:prstGeom>
          <a:ln w="28575">
            <a:solidFill>
              <a:srgbClr val="C00000"/>
            </a:solidFill>
          </a:ln>
        </p:spPr>
        <p:txBody>
          <a:bodyPr wrap="square">
            <a:spAutoFit/>
          </a:bodyPr>
          <a:lstStyle/>
          <a:p>
            <a:pPr marL="457200" indent="457200" algn="just">
              <a:lnSpc>
                <a:spcPct val="115000"/>
              </a:lnSpc>
              <a:spcAft>
                <a:spcPts val="1000"/>
              </a:spcAft>
            </a:pPr>
            <a:r>
              <a:rPr lang="en-US" dirty="0">
                <a:latin typeface="Calibri" panose="020F0502020204030204" pitchFamily="34" charset="0"/>
                <a:ea typeface="Calibri" panose="020F0502020204030204" pitchFamily="34" charset="0"/>
                <a:cs typeface="Times New Roman" panose="02020603050405020304" pitchFamily="18" charset="0"/>
              </a:rPr>
              <a:t>Maximize 	5Q</a:t>
            </a:r>
            <a:r>
              <a:rPr lang="en-US" baseline="-25000" dirty="0">
                <a:latin typeface="Calibri" panose="020F0502020204030204" pitchFamily="34" charset="0"/>
                <a:ea typeface="Calibri" panose="020F0502020204030204" pitchFamily="34" charset="0"/>
                <a:cs typeface="Times New Roman" panose="02020603050405020304" pitchFamily="18" charset="0"/>
              </a:rPr>
              <a:t>1</a:t>
            </a:r>
            <a:r>
              <a:rPr lang="en-US" dirty="0">
                <a:latin typeface="Calibri" panose="020F0502020204030204" pitchFamily="34" charset="0"/>
                <a:ea typeface="Calibri" panose="020F0502020204030204" pitchFamily="34" charset="0"/>
                <a:cs typeface="Times New Roman" panose="02020603050405020304" pitchFamily="18" charset="0"/>
              </a:rPr>
              <a:t>+4Q</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+6Q</a:t>
            </a:r>
            <a:r>
              <a:rPr lang="en-US" baseline="-25000" dirty="0">
                <a:latin typeface="Calibri" panose="020F0502020204030204" pitchFamily="34" charset="0"/>
                <a:ea typeface="Calibri" panose="020F0502020204030204" pitchFamily="34" charset="0"/>
                <a:cs typeface="Times New Roman" panose="02020603050405020304" pitchFamily="18" charset="0"/>
              </a:rPr>
              <a:t>3</a:t>
            </a:r>
            <a:r>
              <a:rPr lang="en-US" dirty="0">
                <a:latin typeface="Calibri" panose="020F0502020204030204" pitchFamily="34" charset="0"/>
                <a:ea typeface="Calibri" panose="020F0502020204030204" pitchFamily="34" charset="0"/>
                <a:cs typeface="Times New Roman" panose="02020603050405020304" pitchFamily="18" charset="0"/>
              </a:rPr>
              <a:t>+5Q</a:t>
            </a:r>
            <a:r>
              <a:rPr lang="en-US" baseline="-25000" dirty="0">
                <a:latin typeface="Calibri" panose="020F0502020204030204" pitchFamily="34" charset="0"/>
                <a:ea typeface="Calibri" panose="020F0502020204030204" pitchFamily="34" charset="0"/>
                <a:cs typeface="Times New Roman" panose="02020603050405020304" pitchFamily="18" charset="0"/>
              </a:rPr>
              <a:t>4</a:t>
            </a:r>
            <a:r>
              <a:rPr lang="en-US" dirty="0">
                <a:latin typeface="Calibri" panose="020F0502020204030204" pitchFamily="34" charset="0"/>
                <a:ea typeface="Calibri" panose="020F0502020204030204" pitchFamily="34" charset="0"/>
                <a:cs typeface="Times New Roman" panose="02020603050405020304" pitchFamily="18" charset="0"/>
              </a:rPr>
              <a:t>+6Q</a:t>
            </a:r>
            <a:r>
              <a:rPr lang="en-US" baseline="-25000" dirty="0">
                <a:latin typeface="Calibri" panose="020F0502020204030204" pitchFamily="34" charset="0"/>
                <a:ea typeface="Calibri" panose="020F0502020204030204" pitchFamily="34" charset="0"/>
                <a:cs typeface="Times New Roman" panose="02020603050405020304" pitchFamily="18" charset="0"/>
              </a:rPr>
              <a:t>5</a:t>
            </a:r>
            <a:r>
              <a:rPr lang="en-US" dirty="0">
                <a:latin typeface="Calibri" panose="020F0502020204030204" pitchFamily="34" charset="0"/>
                <a:ea typeface="Calibri" panose="020F0502020204030204" pitchFamily="34" charset="0"/>
                <a:cs typeface="Times New Roman" panose="02020603050405020304" pitchFamily="18" charset="0"/>
              </a:rPr>
              <a:t>-50,000X</a:t>
            </a:r>
            <a:r>
              <a:rPr lang="en-US" baseline="-25000" dirty="0">
                <a:latin typeface="Calibri" panose="020F0502020204030204" pitchFamily="34" charset="0"/>
                <a:ea typeface="Calibri" panose="020F0502020204030204" pitchFamily="34" charset="0"/>
                <a:cs typeface="Times New Roman" panose="02020603050405020304" pitchFamily="18" charset="0"/>
              </a:rPr>
              <a:t>1</a:t>
            </a:r>
            <a:r>
              <a:rPr lang="en-US" dirty="0">
                <a:latin typeface="Calibri" panose="020F0502020204030204" pitchFamily="34" charset="0"/>
                <a:ea typeface="Calibri" panose="020F0502020204030204" pitchFamily="34" charset="0"/>
                <a:cs typeface="Times New Roman" panose="02020603050405020304" pitchFamily="18" charset="0"/>
              </a:rPr>
              <a:t>-40,000X</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-30,000X</a:t>
            </a:r>
            <a:r>
              <a:rPr lang="en-US" baseline="-25000" dirty="0">
                <a:latin typeface="Calibri" panose="020F0502020204030204" pitchFamily="34" charset="0"/>
                <a:ea typeface="Calibri" panose="020F0502020204030204" pitchFamily="34" charset="0"/>
                <a:cs typeface="Times New Roman" panose="02020603050405020304" pitchFamily="18" charset="0"/>
              </a:rPr>
              <a:t>3</a:t>
            </a:r>
            <a:r>
              <a:rPr lang="en-US" dirty="0">
                <a:latin typeface="Calibri" panose="020F0502020204030204" pitchFamily="34" charset="0"/>
                <a:ea typeface="Calibri" panose="020F0502020204030204" pitchFamily="34" charset="0"/>
                <a:cs typeface="Times New Roman" panose="02020603050405020304" pitchFamily="18" charset="0"/>
              </a:rPr>
              <a:t>-45,000X</a:t>
            </a:r>
            <a:r>
              <a:rPr lang="en-US" baseline="-25000" dirty="0">
                <a:latin typeface="Calibri" panose="020F0502020204030204" pitchFamily="34" charset="0"/>
                <a:ea typeface="Calibri" panose="020F0502020204030204" pitchFamily="34" charset="0"/>
                <a:cs typeface="Times New Roman" panose="02020603050405020304" pitchFamily="18" charset="0"/>
              </a:rPr>
              <a:t>4</a:t>
            </a:r>
            <a:r>
              <a:rPr lang="en-US" dirty="0">
                <a:latin typeface="Calibri" panose="020F0502020204030204" pitchFamily="34" charset="0"/>
                <a:ea typeface="Calibri" panose="020F0502020204030204" pitchFamily="34" charset="0"/>
                <a:cs typeface="Times New Roman" panose="02020603050405020304" pitchFamily="18" charset="0"/>
              </a:rPr>
              <a:t>-35,000X</a:t>
            </a:r>
            <a:r>
              <a:rPr lang="en-US" baseline="-25000" dirty="0">
                <a:latin typeface="Calibri" panose="020F0502020204030204" pitchFamily="34" charset="0"/>
                <a:ea typeface="Calibri" panose="020F0502020204030204" pitchFamily="34" charset="0"/>
                <a:cs typeface="Times New Roman" panose="02020603050405020304" pitchFamily="18" charset="0"/>
              </a:rPr>
              <a:t>5</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15000"/>
              </a:lnSpc>
              <a:spcAft>
                <a:spcPts val="1000"/>
              </a:spcAft>
            </a:pPr>
            <a:r>
              <a:rPr lang="en-US" dirty="0">
                <a:latin typeface="Calibri" panose="020F0502020204030204" pitchFamily="34" charset="0"/>
                <a:ea typeface="Calibri" panose="020F0502020204030204" pitchFamily="34" charset="0"/>
                <a:cs typeface="Times New Roman" panose="02020603050405020304" pitchFamily="18" charset="0"/>
              </a:rPr>
              <a:t>Subject to 	Q</a:t>
            </a:r>
            <a:r>
              <a:rPr lang="en-US" baseline="-25000" dirty="0">
                <a:latin typeface="Calibri" panose="020F0502020204030204" pitchFamily="34" charset="0"/>
                <a:ea typeface="Calibri" panose="020F0502020204030204" pitchFamily="34" charset="0"/>
                <a:cs typeface="Times New Roman" panose="02020603050405020304" pitchFamily="18" charset="0"/>
              </a:rPr>
              <a:t>1</a:t>
            </a:r>
            <a:r>
              <a:rPr lang="en-US" dirty="0">
                <a:latin typeface="Calibri" panose="020F0502020204030204" pitchFamily="34" charset="0"/>
                <a:ea typeface="Calibri" panose="020F0502020204030204" pitchFamily="34" charset="0"/>
                <a:cs typeface="Times New Roman" panose="02020603050405020304" pitchFamily="18" charset="0"/>
              </a:rPr>
              <a:t>+Q</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+Q</a:t>
            </a:r>
            <a:r>
              <a:rPr lang="en-US" baseline="-25000" dirty="0">
                <a:latin typeface="Calibri" panose="020F0502020204030204" pitchFamily="34" charset="0"/>
                <a:ea typeface="Calibri" panose="020F0502020204030204" pitchFamily="34" charset="0"/>
                <a:cs typeface="Times New Roman" panose="02020603050405020304" pitchFamily="18" charset="0"/>
              </a:rPr>
              <a:t>3</a:t>
            </a:r>
            <a:r>
              <a:rPr lang="en-US" dirty="0">
                <a:latin typeface="Calibri" panose="020F0502020204030204" pitchFamily="34" charset="0"/>
                <a:ea typeface="Calibri" panose="020F0502020204030204" pitchFamily="34" charset="0"/>
                <a:cs typeface="Times New Roman" panose="02020603050405020304" pitchFamily="18" charset="0"/>
              </a:rPr>
              <a:t>+Q</a:t>
            </a:r>
            <a:r>
              <a:rPr lang="en-US" baseline="-25000" dirty="0">
                <a:latin typeface="Calibri" panose="020F0502020204030204" pitchFamily="34" charset="0"/>
                <a:ea typeface="Calibri" panose="020F0502020204030204" pitchFamily="34" charset="0"/>
                <a:cs typeface="Times New Roman" panose="02020603050405020304" pitchFamily="18" charset="0"/>
              </a:rPr>
              <a:t>4</a:t>
            </a:r>
            <a:r>
              <a:rPr lang="en-US" dirty="0">
                <a:latin typeface="Calibri" panose="020F0502020204030204" pitchFamily="34" charset="0"/>
                <a:ea typeface="Calibri" panose="020F0502020204030204" pitchFamily="34" charset="0"/>
                <a:cs typeface="Times New Roman" panose="02020603050405020304" pitchFamily="18" charset="0"/>
              </a:rPr>
              <a:t>+Q</a:t>
            </a:r>
            <a:r>
              <a:rPr lang="en-US" baseline="-25000" dirty="0">
                <a:latin typeface="Calibri" panose="020F0502020204030204" pitchFamily="34" charset="0"/>
                <a:ea typeface="Calibri" panose="020F0502020204030204" pitchFamily="34" charset="0"/>
                <a:cs typeface="Times New Roman" panose="02020603050405020304" pitchFamily="18" charset="0"/>
              </a:rPr>
              <a:t>5</a:t>
            </a:r>
            <a:r>
              <a:rPr lang="en-US" dirty="0">
                <a:latin typeface="Calibri" panose="020F0502020204030204" pitchFamily="34" charset="0"/>
                <a:ea typeface="Calibri" panose="020F0502020204030204" pitchFamily="34" charset="0"/>
                <a:cs typeface="Times New Roman" panose="02020603050405020304" pitchFamily="18" charset="0"/>
              </a:rPr>
              <a:t>&lt;=100,000</a:t>
            </a:r>
          </a:p>
          <a:p>
            <a:pPr marL="1371600" indent="457200" algn="just">
              <a:lnSpc>
                <a:spcPct val="115000"/>
              </a:lnSpc>
              <a:spcAft>
                <a:spcPts val="1000"/>
              </a:spcAft>
            </a:pPr>
            <a:r>
              <a:rPr lang="en-US" dirty="0">
                <a:latin typeface="Calibri" panose="020F0502020204030204" pitchFamily="34" charset="0"/>
                <a:ea typeface="Calibri" panose="020F0502020204030204" pitchFamily="34" charset="0"/>
                <a:cs typeface="Times New Roman" panose="02020603050405020304" pitchFamily="18" charset="0"/>
              </a:rPr>
              <a:t>	40,500X</a:t>
            </a:r>
            <a:r>
              <a:rPr lang="en-US" baseline="-25000" dirty="0">
                <a:latin typeface="Calibri" panose="020F0502020204030204" pitchFamily="34" charset="0"/>
                <a:ea typeface="Calibri" panose="020F0502020204030204" pitchFamily="34" charset="0"/>
                <a:cs typeface="Times New Roman" panose="02020603050405020304" pitchFamily="18" charset="0"/>
              </a:rPr>
              <a:t>1</a:t>
            </a:r>
            <a:r>
              <a:rPr lang="en-US" dirty="0">
                <a:latin typeface="Calibri" panose="020F0502020204030204" pitchFamily="34" charset="0"/>
                <a:ea typeface="Calibri" panose="020F0502020204030204" pitchFamily="34" charset="0"/>
                <a:cs typeface="Times New Roman" panose="02020603050405020304" pitchFamily="18" charset="0"/>
              </a:rPr>
              <a:t>&lt;=Q</a:t>
            </a:r>
            <a:r>
              <a:rPr lang="en-US" baseline="-25000" dirty="0">
                <a:latin typeface="Calibri" panose="020F0502020204030204" pitchFamily="34" charset="0"/>
                <a:ea typeface="Calibri" panose="020F0502020204030204" pitchFamily="34" charset="0"/>
                <a:cs typeface="Times New Roman" panose="02020603050405020304" pitchFamily="18" charset="0"/>
              </a:rPr>
              <a:t>1</a:t>
            </a:r>
            <a:r>
              <a:rPr lang="en-US" dirty="0">
                <a:latin typeface="Calibri" panose="020F0502020204030204" pitchFamily="34" charset="0"/>
                <a:ea typeface="Calibri" panose="020F0502020204030204" pitchFamily="34" charset="0"/>
                <a:cs typeface="Times New Roman" panose="02020603050405020304" pitchFamily="18" charset="0"/>
              </a:rPr>
              <a:t>&lt;=45,000X</a:t>
            </a:r>
            <a:r>
              <a:rPr lang="en-US" baseline="-25000" dirty="0">
                <a:latin typeface="Calibri" panose="020F0502020204030204" pitchFamily="34" charset="0"/>
                <a:ea typeface="Calibri" panose="020F0502020204030204" pitchFamily="34" charset="0"/>
                <a:cs typeface="Times New Roman" panose="02020603050405020304" pitchFamily="18" charset="0"/>
              </a:rPr>
              <a:t>1</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1371600" indent="457200" algn="just">
              <a:lnSpc>
                <a:spcPct val="115000"/>
              </a:lnSpc>
              <a:spcAft>
                <a:spcPts val="1000"/>
              </a:spcAft>
            </a:pPr>
            <a:r>
              <a:rPr lang="en-US" dirty="0">
                <a:latin typeface="Calibri" panose="020F0502020204030204" pitchFamily="34" charset="0"/>
                <a:ea typeface="Calibri" panose="020F0502020204030204" pitchFamily="34" charset="0"/>
                <a:cs typeface="Times New Roman" panose="02020603050405020304" pitchFamily="18" charset="0"/>
              </a:rPr>
              <a:t>	31,500X</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&lt;=Q</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&lt;=35,000X</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1371600" indent="457200" algn="just">
              <a:lnSpc>
                <a:spcPct val="115000"/>
              </a:lnSpc>
              <a:spcAft>
                <a:spcPts val="1000"/>
              </a:spcAft>
            </a:pPr>
            <a:r>
              <a:rPr lang="en-US" dirty="0">
                <a:latin typeface="Calibri" panose="020F0502020204030204" pitchFamily="34" charset="0"/>
                <a:ea typeface="Calibri" panose="020F0502020204030204" pitchFamily="34" charset="0"/>
                <a:cs typeface="Times New Roman" panose="02020603050405020304" pitchFamily="18" charset="0"/>
              </a:rPr>
              <a:t>	27,000X</a:t>
            </a:r>
            <a:r>
              <a:rPr lang="en-US" baseline="-25000" dirty="0">
                <a:latin typeface="Calibri" panose="020F0502020204030204" pitchFamily="34" charset="0"/>
                <a:ea typeface="Calibri" panose="020F0502020204030204" pitchFamily="34" charset="0"/>
                <a:cs typeface="Times New Roman" panose="02020603050405020304" pitchFamily="18" charset="0"/>
              </a:rPr>
              <a:t>3</a:t>
            </a:r>
            <a:r>
              <a:rPr lang="en-US" dirty="0">
                <a:latin typeface="Calibri" panose="020F0502020204030204" pitchFamily="34" charset="0"/>
                <a:ea typeface="Calibri" panose="020F0502020204030204" pitchFamily="34" charset="0"/>
                <a:cs typeface="Times New Roman" panose="02020603050405020304" pitchFamily="18" charset="0"/>
              </a:rPr>
              <a:t>&lt;=Q</a:t>
            </a:r>
            <a:r>
              <a:rPr lang="en-US" baseline="-25000" dirty="0">
                <a:latin typeface="Calibri" panose="020F0502020204030204" pitchFamily="34" charset="0"/>
                <a:ea typeface="Calibri" panose="020F0502020204030204" pitchFamily="34" charset="0"/>
                <a:cs typeface="Times New Roman" panose="02020603050405020304" pitchFamily="18" charset="0"/>
              </a:rPr>
              <a:t>3</a:t>
            </a:r>
            <a:r>
              <a:rPr lang="en-US" dirty="0">
                <a:latin typeface="Calibri" panose="020F0502020204030204" pitchFamily="34" charset="0"/>
                <a:ea typeface="Calibri" panose="020F0502020204030204" pitchFamily="34" charset="0"/>
                <a:cs typeface="Times New Roman" panose="02020603050405020304" pitchFamily="18" charset="0"/>
              </a:rPr>
              <a:t>&lt;=30,000X</a:t>
            </a:r>
            <a:r>
              <a:rPr lang="en-US" baseline="-25000" dirty="0">
                <a:latin typeface="Calibri" panose="020F0502020204030204" pitchFamily="34" charset="0"/>
                <a:ea typeface="Calibri" panose="020F0502020204030204" pitchFamily="34" charset="0"/>
                <a:cs typeface="Times New Roman" panose="02020603050405020304" pitchFamily="18" charset="0"/>
              </a:rPr>
              <a:t>3</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1371600" indent="457200" algn="just">
              <a:lnSpc>
                <a:spcPct val="115000"/>
              </a:lnSpc>
              <a:spcAft>
                <a:spcPts val="1000"/>
              </a:spcAft>
            </a:pPr>
            <a:r>
              <a:rPr lang="en-US" dirty="0">
                <a:latin typeface="Calibri" panose="020F0502020204030204" pitchFamily="34" charset="0"/>
                <a:ea typeface="Calibri" panose="020F0502020204030204" pitchFamily="34" charset="0"/>
                <a:cs typeface="Times New Roman" panose="02020603050405020304" pitchFamily="18" charset="0"/>
              </a:rPr>
              <a:t>	18,000X</a:t>
            </a:r>
            <a:r>
              <a:rPr lang="en-US" baseline="-25000" dirty="0">
                <a:latin typeface="Calibri" panose="020F0502020204030204" pitchFamily="34" charset="0"/>
                <a:ea typeface="Calibri" panose="020F0502020204030204" pitchFamily="34" charset="0"/>
                <a:cs typeface="Times New Roman" panose="02020603050405020304" pitchFamily="18" charset="0"/>
              </a:rPr>
              <a:t>4</a:t>
            </a:r>
            <a:r>
              <a:rPr lang="en-US" dirty="0">
                <a:latin typeface="Calibri" panose="020F0502020204030204" pitchFamily="34" charset="0"/>
                <a:ea typeface="Calibri" panose="020F0502020204030204" pitchFamily="34" charset="0"/>
                <a:cs typeface="Times New Roman" panose="02020603050405020304" pitchFamily="18" charset="0"/>
              </a:rPr>
              <a:t>&lt;=Q</a:t>
            </a:r>
            <a:r>
              <a:rPr lang="en-US" baseline="-25000" dirty="0">
                <a:latin typeface="Calibri" panose="020F0502020204030204" pitchFamily="34" charset="0"/>
                <a:ea typeface="Calibri" panose="020F0502020204030204" pitchFamily="34" charset="0"/>
                <a:cs typeface="Times New Roman" panose="02020603050405020304" pitchFamily="18" charset="0"/>
              </a:rPr>
              <a:t>4</a:t>
            </a:r>
            <a:r>
              <a:rPr lang="en-US" dirty="0">
                <a:latin typeface="Calibri" panose="020F0502020204030204" pitchFamily="34" charset="0"/>
                <a:ea typeface="Calibri" panose="020F0502020204030204" pitchFamily="34" charset="0"/>
                <a:cs typeface="Times New Roman" panose="02020603050405020304" pitchFamily="18" charset="0"/>
              </a:rPr>
              <a:t>&lt;=20,000X</a:t>
            </a:r>
            <a:r>
              <a:rPr lang="en-US" baseline="-25000" dirty="0">
                <a:latin typeface="Calibri" panose="020F0502020204030204" pitchFamily="34" charset="0"/>
                <a:ea typeface="Calibri" panose="020F0502020204030204" pitchFamily="34" charset="0"/>
                <a:cs typeface="Times New Roman" panose="02020603050405020304" pitchFamily="18" charset="0"/>
              </a:rPr>
              <a:t>4</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1371600" indent="457200" algn="just">
              <a:lnSpc>
                <a:spcPct val="115000"/>
              </a:lnSpc>
              <a:spcAft>
                <a:spcPts val="1000"/>
              </a:spcAft>
            </a:pPr>
            <a:r>
              <a:rPr lang="en-US" dirty="0">
                <a:latin typeface="Calibri" panose="020F0502020204030204" pitchFamily="34" charset="0"/>
                <a:ea typeface="Calibri" panose="020F0502020204030204" pitchFamily="34" charset="0"/>
                <a:cs typeface="Times New Roman" panose="02020603050405020304" pitchFamily="18" charset="0"/>
              </a:rPr>
              <a:t>	13,500X</a:t>
            </a:r>
            <a:r>
              <a:rPr lang="en-US" baseline="-25000" dirty="0">
                <a:latin typeface="Calibri" panose="020F0502020204030204" pitchFamily="34" charset="0"/>
                <a:ea typeface="Calibri" panose="020F0502020204030204" pitchFamily="34" charset="0"/>
                <a:cs typeface="Times New Roman" panose="02020603050405020304" pitchFamily="18" charset="0"/>
              </a:rPr>
              <a:t>5</a:t>
            </a:r>
            <a:r>
              <a:rPr lang="en-US" dirty="0">
                <a:latin typeface="Calibri" panose="020F0502020204030204" pitchFamily="34" charset="0"/>
                <a:ea typeface="Calibri" panose="020F0502020204030204" pitchFamily="34" charset="0"/>
                <a:cs typeface="Times New Roman" panose="02020603050405020304" pitchFamily="18" charset="0"/>
              </a:rPr>
              <a:t>&lt;=Q</a:t>
            </a:r>
            <a:r>
              <a:rPr lang="en-US" baseline="-25000" dirty="0">
                <a:latin typeface="Calibri" panose="020F0502020204030204" pitchFamily="34" charset="0"/>
                <a:ea typeface="Calibri" panose="020F0502020204030204" pitchFamily="34" charset="0"/>
                <a:cs typeface="Times New Roman" panose="02020603050405020304" pitchFamily="18" charset="0"/>
              </a:rPr>
              <a:t>5</a:t>
            </a:r>
            <a:r>
              <a:rPr lang="en-US" dirty="0">
                <a:latin typeface="Calibri" panose="020F0502020204030204" pitchFamily="34" charset="0"/>
                <a:ea typeface="Calibri" panose="020F0502020204030204" pitchFamily="34" charset="0"/>
                <a:cs typeface="Times New Roman" panose="02020603050405020304" pitchFamily="18" charset="0"/>
              </a:rPr>
              <a:t>&lt;=15,000X</a:t>
            </a:r>
            <a:r>
              <a:rPr lang="en-US" baseline="-25000" dirty="0">
                <a:latin typeface="Calibri" panose="020F0502020204030204" pitchFamily="34" charset="0"/>
                <a:ea typeface="Calibri" panose="020F0502020204030204" pitchFamily="34" charset="0"/>
                <a:cs typeface="Times New Roman" panose="02020603050405020304" pitchFamily="18" charset="0"/>
              </a:rPr>
              <a:t>5</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457200" indent="457200" algn="just">
              <a:lnSpc>
                <a:spcPct val="115000"/>
              </a:lnSpc>
              <a:spcAft>
                <a:spcPts val="1000"/>
              </a:spcAft>
            </a:pPr>
            <a:r>
              <a:rPr lang="en-US" dirty="0">
                <a:latin typeface="Calibri" panose="020F0502020204030204" pitchFamily="34" charset="0"/>
                <a:ea typeface="Calibri" panose="020F0502020204030204" pitchFamily="34" charset="0"/>
                <a:cs typeface="Times New Roman" panose="02020603050405020304" pitchFamily="18" charset="0"/>
              </a:rPr>
              <a:t>		X</a:t>
            </a:r>
            <a:r>
              <a:rPr lang="en-US" baseline="-25000" dirty="0">
                <a:latin typeface="Calibri" panose="020F0502020204030204" pitchFamily="34" charset="0"/>
                <a:ea typeface="Calibri" panose="020F0502020204030204" pitchFamily="34" charset="0"/>
                <a:cs typeface="Times New Roman" panose="02020603050405020304" pitchFamily="18" charset="0"/>
              </a:rPr>
              <a:t>1</a:t>
            </a:r>
            <a:r>
              <a:rPr lang="en-US" dirty="0">
                <a:latin typeface="Calibri" panose="020F0502020204030204" pitchFamily="34" charset="0"/>
                <a:ea typeface="Calibri" panose="020F0502020204030204" pitchFamily="34" charset="0"/>
                <a:cs typeface="Times New Roman" panose="02020603050405020304" pitchFamily="18" charset="0"/>
              </a:rPr>
              <a:t>, X</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 X</a:t>
            </a:r>
            <a:r>
              <a:rPr lang="en-US" baseline="-25000" dirty="0">
                <a:latin typeface="Calibri" panose="020F0502020204030204" pitchFamily="34" charset="0"/>
                <a:ea typeface="Calibri" panose="020F0502020204030204" pitchFamily="34" charset="0"/>
                <a:cs typeface="Times New Roman" panose="02020603050405020304" pitchFamily="18" charset="0"/>
              </a:rPr>
              <a:t>3</a:t>
            </a:r>
            <a:r>
              <a:rPr lang="en-US" dirty="0">
                <a:latin typeface="Calibri" panose="020F0502020204030204" pitchFamily="34" charset="0"/>
                <a:ea typeface="Calibri" panose="020F0502020204030204" pitchFamily="34" charset="0"/>
                <a:cs typeface="Times New Roman" panose="02020603050405020304" pitchFamily="18" charset="0"/>
              </a:rPr>
              <a:t>, X</a:t>
            </a:r>
            <a:r>
              <a:rPr lang="en-US" baseline="-25000" dirty="0">
                <a:latin typeface="Calibri" panose="020F0502020204030204" pitchFamily="34" charset="0"/>
                <a:ea typeface="Calibri" panose="020F0502020204030204" pitchFamily="34" charset="0"/>
                <a:cs typeface="Times New Roman" panose="02020603050405020304" pitchFamily="18" charset="0"/>
              </a:rPr>
              <a:t>4</a:t>
            </a:r>
            <a:r>
              <a:rPr lang="en-US" dirty="0">
                <a:latin typeface="Calibri" panose="020F0502020204030204" pitchFamily="34" charset="0"/>
                <a:ea typeface="Calibri" panose="020F0502020204030204" pitchFamily="34" charset="0"/>
                <a:cs typeface="Times New Roman" panose="02020603050405020304" pitchFamily="18" charset="0"/>
              </a:rPr>
              <a:t>, X</a:t>
            </a:r>
            <a:r>
              <a:rPr lang="en-US" baseline="-25000" dirty="0">
                <a:latin typeface="Calibri" panose="020F0502020204030204" pitchFamily="34" charset="0"/>
                <a:ea typeface="Calibri" panose="020F0502020204030204" pitchFamily="34" charset="0"/>
                <a:cs typeface="Times New Roman" panose="02020603050405020304" pitchFamily="18" charset="0"/>
              </a:rPr>
              <a:t>5</a:t>
            </a:r>
            <a:r>
              <a:rPr lang="en-US" dirty="0">
                <a:latin typeface="Calibri" panose="020F0502020204030204" pitchFamily="34" charset="0"/>
                <a:ea typeface="Calibri" panose="020F0502020204030204" pitchFamily="34" charset="0"/>
                <a:cs typeface="Times New Roman" panose="02020603050405020304" pitchFamily="18" charset="0"/>
              </a:rPr>
              <a:t> binary</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69721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Production Planning</a:t>
            </a:r>
          </a:p>
        </p:txBody>
      </p:sp>
      <p:sp>
        <p:nvSpPr>
          <p:cNvPr id="3" name="Content Placeholder 2"/>
          <p:cNvSpPr>
            <a:spLocks noGrp="1"/>
          </p:cNvSpPr>
          <p:nvPr>
            <p:ph idx="1"/>
          </p:nvPr>
        </p:nvSpPr>
        <p:spPr/>
        <p:txBody>
          <a:bodyPr/>
          <a:lstStyle/>
          <a:p>
            <a:r>
              <a:rPr lang="en-US" b="1" u="sng" dirty="0">
                <a:ea typeface="ＭＳ Ｐゴシック"/>
              </a:rPr>
              <a:t>Case: </a:t>
            </a:r>
            <a:r>
              <a:rPr lang="en-US" b="1" u="sng" dirty="0" err="1">
                <a:ea typeface="ＭＳ Ｐゴシック"/>
              </a:rPr>
              <a:t>Lipdon</a:t>
            </a:r>
            <a:r>
              <a:rPr lang="en-US" b="1" u="sng" dirty="0">
                <a:ea typeface="ＭＳ Ｐゴシック"/>
              </a:rPr>
              <a:t> Tea Production (not in the textbook):</a:t>
            </a:r>
          </a:p>
          <a:p>
            <a:r>
              <a:rPr lang="en-US" dirty="0">
                <a:ea typeface="ＭＳ Ｐゴシック"/>
              </a:rPr>
              <a:t>Spreadsheet model:</a:t>
            </a:r>
            <a:endParaRPr lang="en-US" dirty="0"/>
          </a:p>
          <a:p>
            <a:pPr lvl="1"/>
            <a:endParaRPr lang="en-US" dirty="0"/>
          </a:p>
          <a:p>
            <a:pPr lvl="1"/>
            <a:endParaRPr lang="en-US" dirty="0">
              <a:ea typeface="ＭＳ Ｐゴシック"/>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3256404950"/>
              </p:ext>
            </p:extLst>
          </p:nvPr>
        </p:nvGraphicFramePr>
        <p:xfrm>
          <a:off x="523875" y="2279650"/>
          <a:ext cx="11144250" cy="2295525"/>
        </p:xfrm>
        <a:graphic>
          <a:graphicData uri="http://schemas.openxmlformats.org/presentationml/2006/ole">
            <mc:AlternateContent xmlns:mc="http://schemas.openxmlformats.org/markup-compatibility/2006">
              <mc:Choice xmlns:v="urn:schemas-microsoft-com:vml" Requires="v">
                <p:oleObj name="Worksheet" r:id="rId2" imgW="11144385" imgH="2295435" progId="Excel.Sheet.12">
                  <p:embed/>
                </p:oleObj>
              </mc:Choice>
              <mc:Fallback>
                <p:oleObj name="Worksheet" r:id="rId2" imgW="11144385" imgH="2295435" progId="Excel.Sheet.12">
                  <p:embed/>
                  <p:pic>
                    <p:nvPicPr>
                      <p:cNvPr id="4" name="Object 3"/>
                      <p:cNvPicPr/>
                      <p:nvPr/>
                    </p:nvPicPr>
                    <p:blipFill>
                      <a:blip r:embed="rId3"/>
                      <a:stretch>
                        <a:fillRect/>
                      </a:stretch>
                    </p:blipFill>
                    <p:spPr>
                      <a:xfrm>
                        <a:off x="523875" y="2279650"/>
                        <a:ext cx="11144250" cy="2295525"/>
                      </a:xfrm>
                      <a:prstGeom prst="rect">
                        <a:avLst/>
                      </a:prstGeom>
                    </p:spPr>
                  </p:pic>
                </p:oleObj>
              </mc:Fallback>
            </mc:AlternateContent>
          </a:graphicData>
        </a:graphic>
      </p:graphicFrame>
    </p:spTree>
    <p:extLst>
      <p:ext uri="{BB962C8B-B14F-4D97-AF65-F5344CB8AC3E}">
        <p14:creationId xmlns:p14="http://schemas.microsoft.com/office/powerpoint/2010/main" val="684818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Production Planning</a:t>
            </a:r>
          </a:p>
        </p:txBody>
      </p:sp>
      <p:sp>
        <p:nvSpPr>
          <p:cNvPr id="3" name="Content Placeholder 2"/>
          <p:cNvSpPr>
            <a:spLocks noGrp="1"/>
          </p:cNvSpPr>
          <p:nvPr>
            <p:ph idx="1"/>
          </p:nvPr>
        </p:nvSpPr>
        <p:spPr/>
        <p:txBody>
          <a:bodyPr/>
          <a:lstStyle/>
          <a:p>
            <a:r>
              <a:rPr lang="en-US" b="1" u="sng" dirty="0">
                <a:ea typeface="ＭＳ Ｐゴシック"/>
              </a:rPr>
              <a:t>Case: </a:t>
            </a:r>
            <a:r>
              <a:rPr lang="en-US" b="1" u="sng" dirty="0" err="1">
                <a:ea typeface="ＭＳ Ｐゴシック"/>
              </a:rPr>
              <a:t>Lipdon</a:t>
            </a:r>
            <a:r>
              <a:rPr lang="en-US" b="1" u="sng" dirty="0">
                <a:ea typeface="ＭＳ Ｐゴシック"/>
              </a:rPr>
              <a:t> Tea Production (not in the textbook):</a:t>
            </a:r>
          </a:p>
          <a:p>
            <a:r>
              <a:rPr lang="en-US" dirty="0">
                <a:ea typeface="ＭＳ Ｐゴシック"/>
              </a:rPr>
              <a:t>Additional constraints:</a:t>
            </a:r>
          </a:p>
          <a:p>
            <a:pPr lvl="1"/>
            <a:r>
              <a:rPr lang="en-US" dirty="0"/>
              <a:t>If you produce Breakfast Teas, you cannot produce Irish Teas.</a:t>
            </a:r>
          </a:p>
          <a:p>
            <a:pPr lvl="2"/>
            <a:r>
              <a:rPr lang="en-US" dirty="0"/>
              <a:t>X</a:t>
            </a:r>
            <a:r>
              <a:rPr lang="en-US" baseline="-25000" dirty="0"/>
              <a:t>1</a:t>
            </a:r>
            <a:r>
              <a:rPr lang="en-US" dirty="0"/>
              <a:t>+X</a:t>
            </a:r>
            <a:r>
              <a:rPr lang="en-US" baseline="-25000" dirty="0"/>
              <a:t>4</a:t>
            </a:r>
            <a:r>
              <a:rPr lang="en-US" dirty="0"/>
              <a:t>&lt;=1</a:t>
            </a:r>
          </a:p>
          <a:p>
            <a:pPr lvl="1"/>
            <a:r>
              <a:rPr lang="en-US" dirty="0"/>
              <a:t>If you produce Irish Teas, you have to produce Herbal Teas.</a:t>
            </a:r>
          </a:p>
          <a:p>
            <a:pPr lvl="2"/>
            <a:r>
              <a:rPr lang="en-US" dirty="0"/>
              <a:t>X</a:t>
            </a:r>
            <a:r>
              <a:rPr lang="en-US" baseline="-25000" dirty="0"/>
              <a:t>5</a:t>
            </a:r>
            <a:r>
              <a:rPr lang="en-US" dirty="0"/>
              <a:t>&gt;=X</a:t>
            </a:r>
            <a:r>
              <a:rPr lang="en-US" baseline="-25000" dirty="0"/>
              <a:t>4</a:t>
            </a:r>
            <a:endParaRPr lang="en-US" dirty="0"/>
          </a:p>
          <a:p>
            <a:pPr lvl="1"/>
            <a:r>
              <a:rPr lang="en-US" dirty="0"/>
              <a:t>If you produce Green Teas, you have to produce at least 2 other flavors.</a:t>
            </a:r>
          </a:p>
          <a:p>
            <a:pPr lvl="2"/>
            <a:r>
              <a:rPr lang="en-US" dirty="0"/>
              <a:t>X</a:t>
            </a:r>
            <a:r>
              <a:rPr lang="en-US" baseline="-25000" dirty="0"/>
              <a:t>1</a:t>
            </a:r>
            <a:r>
              <a:rPr lang="en-US" dirty="0"/>
              <a:t>+X</a:t>
            </a:r>
            <a:r>
              <a:rPr lang="en-US" baseline="-25000" dirty="0"/>
              <a:t>2</a:t>
            </a:r>
            <a:r>
              <a:rPr lang="en-US" dirty="0"/>
              <a:t>+X</a:t>
            </a:r>
            <a:r>
              <a:rPr lang="en-US" baseline="-25000" dirty="0"/>
              <a:t>4</a:t>
            </a:r>
            <a:r>
              <a:rPr lang="en-US" dirty="0"/>
              <a:t>+X</a:t>
            </a:r>
            <a:r>
              <a:rPr lang="en-US" baseline="-25000" dirty="0"/>
              <a:t>5</a:t>
            </a:r>
            <a:r>
              <a:rPr lang="en-US" dirty="0"/>
              <a:t>&gt;=2X</a:t>
            </a:r>
            <a:r>
              <a:rPr lang="en-US" baseline="-25000" dirty="0"/>
              <a:t>3</a:t>
            </a:r>
            <a:endParaRPr lang="en-US" dirty="0"/>
          </a:p>
          <a:p>
            <a:pPr lvl="1"/>
            <a:r>
              <a:rPr lang="en-US" dirty="0"/>
              <a:t>If you produce both Breakfast and Earl Grey Teas, you cannot produce Irish Teas.</a:t>
            </a:r>
          </a:p>
          <a:p>
            <a:pPr lvl="2"/>
            <a:r>
              <a:rPr lang="en-US" dirty="0"/>
              <a:t>X</a:t>
            </a:r>
            <a:r>
              <a:rPr lang="en-US" baseline="-25000" dirty="0"/>
              <a:t>1</a:t>
            </a:r>
            <a:r>
              <a:rPr lang="en-US" dirty="0"/>
              <a:t>+X</a:t>
            </a:r>
            <a:r>
              <a:rPr lang="en-US" baseline="-25000" dirty="0"/>
              <a:t>2</a:t>
            </a:r>
            <a:r>
              <a:rPr lang="en-US" dirty="0"/>
              <a:t>+X</a:t>
            </a:r>
            <a:r>
              <a:rPr lang="en-US" baseline="-25000" dirty="0"/>
              <a:t>4</a:t>
            </a:r>
            <a:r>
              <a:rPr lang="en-US" dirty="0"/>
              <a:t>&lt;=2</a:t>
            </a:r>
          </a:p>
          <a:p>
            <a:pPr lvl="1"/>
            <a:r>
              <a:rPr lang="en-US" dirty="0"/>
              <a:t>If 4 or more flavors are produced, Herbal Teas should be one of the flavors produced.</a:t>
            </a:r>
          </a:p>
          <a:p>
            <a:pPr lvl="2"/>
            <a:r>
              <a:rPr lang="en-US" dirty="0"/>
              <a:t>X</a:t>
            </a:r>
            <a:r>
              <a:rPr lang="en-US" baseline="-25000" dirty="0"/>
              <a:t>1</a:t>
            </a:r>
            <a:r>
              <a:rPr lang="en-US" dirty="0"/>
              <a:t>+X</a:t>
            </a:r>
            <a:r>
              <a:rPr lang="en-US" baseline="-25000" dirty="0"/>
              <a:t>2</a:t>
            </a:r>
            <a:r>
              <a:rPr lang="en-US" dirty="0"/>
              <a:t>+X</a:t>
            </a:r>
            <a:r>
              <a:rPr lang="en-US" baseline="-25000" dirty="0"/>
              <a:t>3</a:t>
            </a:r>
            <a:r>
              <a:rPr lang="en-US" dirty="0"/>
              <a:t>+X</a:t>
            </a:r>
            <a:r>
              <a:rPr lang="en-US" baseline="-25000" dirty="0"/>
              <a:t>4</a:t>
            </a:r>
            <a:r>
              <a:rPr lang="en-US" dirty="0"/>
              <a:t>&lt;=3+X</a:t>
            </a:r>
            <a:r>
              <a:rPr lang="en-US" baseline="-25000" dirty="0"/>
              <a:t>5</a:t>
            </a:r>
            <a:endParaRPr lang="en-US" dirty="0"/>
          </a:p>
          <a:p>
            <a:endParaRPr lang="en-US" dirty="0"/>
          </a:p>
          <a:p>
            <a:pPr lvl="1"/>
            <a:endParaRPr lang="en-US" dirty="0"/>
          </a:p>
          <a:p>
            <a:pPr lvl="1"/>
            <a:endParaRPr lang="en-US" dirty="0">
              <a:ea typeface="ＭＳ Ｐゴシック"/>
            </a:endParaRPr>
          </a:p>
        </p:txBody>
      </p:sp>
    </p:spTree>
    <p:extLst>
      <p:ext uri="{BB962C8B-B14F-4D97-AF65-F5344CB8AC3E}">
        <p14:creationId xmlns:p14="http://schemas.microsoft.com/office/powerpoint/2010/main" val="359114597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lnSpcReduction="10000"/>
          </a:bodyPr>
          <a:lstStyle/>
          <a:p>
            <a:r>
              <a:rPr lang="en-US" dirty="0">
                <a:solidFill>
                  <a:schemeClr val="bg2"/>
                </a:solidFill>
              </a:rPr>
              <a:t>Integer/Binary Programming (Chapter 7.1)</a:t>
            </a:r>
          </a:p>
          <a:p>
            <a:r>
              <a:rPr lang="en-US" dirty="0">
                <a:solidFill>
                  <a:schemeClr val="bg2"/>
                </a:solidFill>
              </a:rPr>
              <a:t>Conditional Constraints Modeling (Chapter 7.2)</a:t>
            </a:r>
          </a:p>
          <a:p>
            <a:r>
              <a:rPr lang="en-US" dirty="0">
                <a:solidFill>
                  <a:schemeClr val="bg2"/>
                </a:solidFill>
              </a:rPr>
              <a:t>Mixed-Integer Programming (Chapter 7.5)</a:t>
            </a:r>
          </a:p>
          <a:p>
            <a:r>
              <a:rPr lang="en-US" dirty="0">
                <a:solidFill>
                  <a:schemeClr val="bg2"/>
                </a:solidFill>
              </a:rPr>
              <a:t>Solution Concepts</a:t>
            </a:r>
          </a:p>
          <a:p>
            <a:r>
              <a:rPr lang="en-US" dirty="0">
                <a:solidFill>
                  <a:schemeClr val="bg1">
                    <a:lumMod val="95000"/>
                  </a:schemeClr>
                </a:solidFill>
              </a:rPr>
              <a:t>Extra Examples</a:t>
            </a:r>
          </a:p>
          <a:p>
            <a:pPr lvl="1"/>
            <a:r>
              <a:rPr lang="en-US" dirty="0">
                <a:solidFill>
                  <a:schemeClr val="bg1">
                    <a:lumMod val="95000"/>
                  </a:schemeClr>
                </a:solidFill>
              </a:rPr>
              <a:t>Caliente City Problem </a:t>
            </a:r>
          </a:p>
          <a:p>
            <a:pPr lvl="1"/>
            <a:r>
              <a:rPr lang="en-US" dirty="0">
                <a:solidFill>
                  <a:schemeClr val="bg1">
                    <a:lumMod val="95000"/>
                  </a:schemeClr>
                </a:solidFill>
              </a:rPr>
              <a:t>Southwestern Airways Problem </a:t>
            </a:r>
          </a:p>
          <a:p>
            <a:pPr lvl="1"/>
            <a:r>
              <a:rPr lang="en-US" dirty="0" err="1">
                <a:solidFill>
                  <a:schemeClr val="bg1">
                    <a:lumMod val="95000"/>
                  </a:schemeClr>
                </a:solidFill>
              </a:rPr>
              <a:t>Lipdon</a:t>
            </a:r>
            <a:r>
              <a:rPr lang="en-US" dirty="0">
                <a:solidFill>
                  <a:schemeClr val="bg1">
                    <a:lumMod val="95000"/>
                  </a:schemeClr>
                </a:solidFill>
              </a:rPr>
              <a:t> Tea Production </a:t>
            </a:r>
          </a:p>
          <a:p>
            <a:r>
              <a:rPr lang="en-US" dirty="0"/>
              <a:t>Self Study</a:t>
            </a:r>
          </a:p>
          <a:p>
            <a:pPr lvl="1"/>
            <a:r>
              <a:rPr lang="en-US" dirty="0"/>
              <a:t>Distribution Network Design (not in the textbook)</a:t>
            </a:r>
          </a:p>
          <a:p>
            <a:pPr lvl="1"/>
            <a:r>
              <a:rPr lang="en-US" dirty="0"/>
              <a:t>Integrated Facility Location-Transportation</a:t>
            </a:r>
          </a:p>
          <a:p>
            <a:pPr lvl="5"/>
            <a:endParaRPr lang="en-US" dirty="0"/>
          </a:p>
          <a:p>
            <a:endParaRPr lang="en-US" dirty="0"/>
          </a:p>
        </p:txBody>
      </p:sp>
    </p:spTree>
    <p:extLst>
      <p:ext uri="{BB962C8B-B14F-4D97-AF65-F5344CB8AC3E}">
        <p14:creationId xmlns:p14="http://schemas.microsoft.com/office/powerpoint/2010/main" val="34568008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Distribution Network Design</a:t>
            </a:r>
          </a:p>
        </p:txBody>
      </p:sp>
      <p:sp>
        <p:nvSpPr>
          <p:cNvPr id="3" name="Content Placeholder 2"/>
          <p:cNvSpPr>
            <a:spLocks noGrp="1"/>
          </p:cNvSpPr>
          <p:nvPr>
            <p:ph idx="1"/>
          </p:nvPr>
        </p:nvSpPr>
        <p:spPr/>
        <p:txBody>
          <a:bodyPr/>
          <a:lstStyle/>
          <a:p>
            <a:r>
              <a:rPr lang="en-US" b="1" u="sng" dirty="0"/>
              <a:t>Distribution Network Design problem:</a:t>
            </a:r>
          </a:p>
          <a:p>
            <a:pPr lvl="1"/>
            <a:r>
              <a:rPr lang="en-US" dirty="0"/>
              <a:t>Suppose that you have two possible locations to locate warehouses: city A and city B. You can locate a warehouse in city A, or city B, or both cities. </a:t>
            </a:r>
          </a:p>
          <a:p>
            <a:pPr lvl="2"/>
            <a:r>
              <a:rPr lang="en-US" dirty="0"/>
              <a:t>A warehouse in city A has a fixed monthly payment of $4,000 and a capacity of 5000 units.</a:t>
            </a:r>
          </a:p>
          <a:p>
            <a:pPr lvl="2"/>
            <a:r>
              <a:rPr lang="en-US" dirty="0"/>
              <a:t>A warehouse in city B has a fixed monthly payment of $5,000 and a capacity of 6000 units.</a:t>
            </a:r>
          </a:p>
          <a:p>
            <a:pPr lvl="1"/>
            <a:r>
              <a:rPr lang="en-US" dirty="0"/>
              <a:t>Once you locate a warehouse or warehouses, you will ship the product from these warehouses to the retailer stores you locate. There are also two possible locations to locate retailer stores: site 1 and site 2. </a:t>
            </a:r>
          </a:p>
          <a:p>
            <a:pPr lvl="2"/>
            <a:r>
              <a:rPr lang="en-US" dirty="0"/>
              <a:t>You can locate at most 5 retailer stores at each one of these sites. </a:t>
            </a:r>
          </a:p>
          <a:p>
            <a:pPr lvl="2"/>
            <a:r>
              <a:rPr lang="en-US" dirty="0"/>
              <a:t>A retailer store in site 1 has a fixed monthly payment of $2,000. The sale potential of a single retailer store in site 1 is 1000 units per month. </a:t>
            </a:r>
          </a:p>
          <a:p>
            <a:pPr lvl="2"/>
            <a:r>
              <a:rPr lang="en-US" dirty="0"/>
              <a:t>A retailer store in site 2 has a fixed monthly payment of $2,500. The sale potential of a single retailer store in site 2 is 1500 units per month.</a:t>
            </a:r>
          </a:p>
        </p:txBody>
      </p:sp>
    </p:spTree>
    <p:extLst>
      <p:ext uri="{BB962C8B-B14F-4D97-AF65-F5344CB8AC3E}">
        <p14:creationId xmlns:p14="http://schemas.microsoft.com/office/powerpoint/2010/main" val="24837730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Distribution Network Design</a:t>
            </a:r>
          </a:p>
        </p:txBody>
      </p:sp>
      <p:sp>
        <p:nvSpPr>
          <p:cNvPr id="3" name="Content Placeholder 2"/>
          <p:cNvSpPr>
            <a:spLocks noGrp="1"/>
          </p:cNvSpPr>
          <p:nvPr>
            <p:ph idx="1"/>
          </p:nvPr>
        </p:nvSpPr>
        <p:spPr/>
        <p:txBody>
          <a:bodyPr>
            <a:normAutofit lnSpcReduction="10000"/>
          </a:bodyPr>
          <a:lstStyle/>
          <a:p>
            <a:r>
              <a:rPr lang="en-US" b="1" u="sng" dirty="0"/>
              <a:t>Distribution Network Design problem:</a:t>
            </a:r>
          </a:p>
          <a:p>
            <a:pPr lvl="1"/>
            <a:r>
              <a:rPr lang="en-US" dirty="0"/>
              <a:t>Once you locate retailer stores, you have to ship the total sale potential at each site from the warehouses you have.  </a:t>
            </a:r>
          </a:p>
          <a:p>
            <a:pPr lvl="2"/>
            <a:r>
              <a:rPr lang="en-US" dirty="0"/>
              <a:t>For instance, if you locate 3 retailer stores in site 1, you need to ship </a:t>
            </a:r>
          </a:p>
          <a:p>
            <a:pPr marL="914400" lvl="2" indent="0">
              <a:buNone/>
            </a:pPr>
            <a:r>
              <a:rPr lang="en-US" dirty="0"/>
              <a:t>    exactly 3000 units to site 1 from the warehouses you have located. </a:t>
            </a:r>
          </a:p>
          <a:p>
            <a:pPr lvl="2"/>
            <a:r>
              <a:rPr lang="en-US" dirty="0"/>
              <a:t>You can ship from any warehouse to any site. The costs of shipping one </a:t>
            </a:r>
          </a:p>
          <a:p>
            <a:pPr marL="914400" lvl="2" indent="0">
              <a:buNone/>
            </a:pPr>
            <a:r>
              <a:rPr lang="en-US" dirty="0"/>
              <a:t>    unit from the warehouse locations to the retailer store sites are given in the table above</a:t>
            </a:r>
          </a:p>
          <a:p>
            <a:pPr lvl="1"/>
            <a:r>
              <a:rPr lang="en-US" dirty="0"/>
              <a:t>Each unit is sold for $15 at any retailer store site and the sale potential of each retailer store will be the average number of items sold at the retailer store.</a:t>
            </a:r>
          </a:p>
          <a:p>
            <a:pPr lvl="2"/>
            <a:r>
              <a:rPr lang="en-US" dirty="0"/>
              <a:t>As the manager of distribution network, you need to find where to locate the warehouses, how many retailer stores to locate at each potential site, and how to ship from the warehouses to the retailer store sites to satisfy the sale potentials at the sites. In doing so, you want to maximize the total monthly profit, which is equal to revenues from sales minus monthly warehouse and retailer store costs and shipping costs.  Note that you cannot ship from a city if there is no warehouse in that city; and, the total amount you ship to a site will be determined by the number of retailer stores you locate on that site. </a:t>
            </a:r>
          </a:p>
          <a:p>
            <a:pPr lvl="2"/>
            <a:endParaRPr lang="en-US"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9195515" y="2282208"/>
            <a:ext cx="2365890" cy="1053420"/>
          </a:xfrm>
          <a:prstGeom prst="rect">
            <a:avLst/>
          </a:prstGeom>
          <a:noFill/>
          <a:ln>
            <a:noFill/>
          </a:ln>
        </p:spPr>
      </p:pic>
    </p:spTree>
    <p:extLst>
      <p:ext uri="{BB962C8B-B14F-4D97-AF65-F5344CB8AC3E}">
        <p14:creationId xmlns:p14="http://schemas.microsoft.com/office/powerpoint/2010/main" val="63421446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Distribution Network Design</a:t>
            </a:r>
          </a:p>
        </p:txBody>
      </p:sp>
      <p:sp>
        <p:nvSpPr>
          <p:cNvPr id="3" name="Content Placeholder 2"/>
          <p:cNvSpPr>
            <a:spLocks noGrp="1"/>
          </p:cNvSpPr>
          <p:nvPr>
            <p:ph idx="1"/>
          </p:nvPr>
        </p:nvSpPr>
        <p:spPr/>
        <p:txBody>
          <a:bodyPr/>
          <a:lstStyle/>
          <a:p>
            <a:r>
              <a:rPr lang="en-US" b="1" u="sng" dirty="0"/>
              <a:t>Distribution Network Design problem:</a:t>
            </a:r>
          </a:p>
          <a:p>
            <a:r>
              <a:rPr lang="en-US" b="1" dirty="0">
                <a:solidFill>
                  <a:srgbClr val="C00000"/>
                </a:solidFill>
              </a:rPr>
              <a:t>STEP 0: </a:t>
            </a:r>
            <a:r>
              <a:rPr lang="en-US" dirty="0"/>
              <a:t>Information is given in the description</a:t>
            </a:r>
          </a:p>
          <a:p>
            <a:r>
              <a:rPr lang="en-US" b="1" dirty="0">
                <a:solidFill>
                  <a:srgbClr val="C00000"/>
                </a:solidFill>
              </a:rPr>
              <a:t>STEP 1: </a:t>
            </a:r>
            <a:r>
              <a:rPr lang="en-US" dirty="0"/>
              <a:t>Decision variables</a:t>
            </a:r>
          </a:p>
          <a:p>
            <a:pPr lvl="1"/>
            <a:r>
              <a:rPr lang="en-US" dirty="0"/>
              <a:t>We need to decide where to locate warehouses:</a:t>
            </a:r>
          </a:p>
          <a:p>
            <a:pPr lvl="2"/>
            <a:r>
              <a:rPr lang="en-US" dirty="0"/>
              <a:t>Xi = 1 if you locate in city </a:t>
            </a:r>
            <a:r>
              <a:rPr lang="en-US" dirty="0" err="1"/>
              <a:t>i</a:t>
            </a:r>
            <a:r>
              <a:rPr lang="en-US" dirty="0"/>
              <a:t>, 0 otherwise, </a:t>
            </a:r>
            <a:r>
              <a:rPr lang="en-US" dirty="0" err="1"/>
              <a:t>i</a:t>
            </a:r>
            <a:r>
              <a:rPr lang="en-US" dirty="0"/>
              <a:t>=A,B</a:t>
            </a:r>
          </a:p>
          <a:p>
            <a:pPr lvl="1"/>
            <a:r>
              <a:rPr lang="en-US" dirty="0"/>
              <a:t>We need to decide how many retailer stores to locate at each site</a:t>
            </a:r>
          </a:p>
          <a:p>
            <a:pPr lvl="2"/>
            <a:r>
              <a:rPr lang="en-US" dirty="0" err="1"/>
              <a:t>Yj</a:t>
            </a:r>
            <a:r>
              <a:rPr lang="en-US" dirty="0"/>
              <a:t>= number of retailer stores in site j, j=1,2</a:t>
            </a:r>
          </a:p>
          <a:p>
            <a:pPr lvl="1"/>
            <a:r>
              <a:rPr lang="en-US" dirty="0"/>
              <a:t>We need to decide on how much to ship from each warehouse to each site</a:t>
            </a:r>
          </a:p>
          <a:p>
            <a:pPr lvl="2"/>
            <a:r>
              <a:rPr lang="en-US" dirty="0" err="1"/>
              <a:t>Qij</a:t>
            </a:r>
            <a:r>
              <a:rPr lang="en-US" dirty="0"/>
              <a:t> = quantity shipped from city </a:t>
            </a:r>
            <a:r>
              <a:rPr lang="en-US" dirty="0" err="1"/>
              <a:t>i</a:t>
            </a:r>
            <a:r>
              <a:rPr lang="en-US" dirty="0"/>
              <a:t> to site j</a:t>
            </a:r>
          </a:p>
          <a:p>
            <a:pPr lvl="2"/>
            <a:endParaRPr lang="en-US" dirty="0"/>
          </a:p>
        </p:txBody>
      </p:sp>
    </p:spTree>
    <p:extLst>
      <p:ext uri="{BB962C8B-B14F-4D97-AF65-F5344CB8AC3E}">
        <p14:creationId xmlns:p14="http://schemas.microsoft.com/office/powerpoint/2010/main" val="34386011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Distribution Network Design</a:t>
            </a:r>
          </a:p>
        </p:txBody>
      </p:sp>
      <p:sp>
        <p:nvSpPr>
          <p:cNvPr id="3" name="Content Placeholder 2"/>
          <p:cNvSpPr>
            <a:spLocks noGrp="1"/>
          </p:cNvSpPr>
          <p:nvPr>
            <p:ph idx="1"/>
          </p:nvPr>
        </p:nvSpPr>
        <p:spPr/>
        <p:txBody>
          <a:bodyPr/>
          <a:lstStyle/>
          <a:p>
            <a:r>
              <a:rPr lang="en-US" b="1" u="sng" dirty="0"/>
              <a:t>Distribution Network Design problem:</a:t>
            </a:r>
          </a:p>
          <a:p>
            <a:r>
              <a:rPr lang="en-US" b="1" dirty="0">
                <a:solidFill>
                  <a:srgbClr val="C00000"/>
                </a:solidFill>
              </a:rPr>
              <a:t>STEP 2: </a:t>
            </a:r>
            <a:r>
              <a:rPr lang="en-US" dirty="0"/>
              <a:t>Objective and objective function</a:t>
            </a:r>
          </a:p>
          <a:p>
            <a:pPr lvl="1"/>
            <a:r>
              <a:rPr lang="en-US" dirty="0"/>
              <a:t>We want to maximize the total profit:</a:t>
            </a:r>
          </a:p>
          <a:p>
            <a:pPr lvl="2"/>
            <a:r>
              <a:rPr lang="en-US" dirty="0"/>
              <a:t>Revenues = 15*(1000Y</a:t>
            </a:r>
            <a:r>
              <a:rPr lang="en-US" baseline="-25000" dirty="0"/>
              <a:t>1</a:t>
            </a:r>
            <a:r>
              <a:rPr lang="en-US" dirty="0"/>
              <a:t>+1500Y</a:t>
            </a:r>
            <a:r>
              <a:rPr lang="en-US" baseline="-25000" dirty="0"/>
              <a:t>2</a:t>
            </a:r>
            <a:r>
              <a:rPr lang="en-US" dirty="0"/>
              <a:t>)</a:t>
            </a:r>
          </a:p>
          <a:p>
            <a:pPr lvl="2"/>
            <a:r>
              <a:rPr lang="en-US" dirty="0"/>
              <a:t>Warehouse costs = 4000X</a:t>
            </a:r>
            <a:r>
              <a:rPr lang="en-US" baseline="-25000" dirty="0"/>
              <a:t>A</a:t>
            </a:r>
            <a:r>
              <a:rPr lang="en-US" dirty="0"/>
              <a:t>+5000X</a:t>
            </a:r>
            <a:r>
              <a:rPr lang="en-US" baseline="-25000" dirty="0"/>
              <a:t>B</a:t>
            </a:r>
            <a:endParaRPr lang="en-US" dirty="0"/>
          </a:p>
          <a:p>
            <a:pPr lvl="2"/>
            <a:r>
              <a:rPr lang="en-US" dirty="0"/>
              <a:t>Retailer costs = 2000Y</a:t>
            </a:r>
            <a:r>
              <a:rPr lang="en-US" baseline="-25000" dirty="0"/>
              <a:t>1</a:t>
            </a:r>
            <a:r>
              <a:rPr lang="en-US" dirty="0"/>
              <a:t>+2500Y</a:t>
            </a:r>
            <a:r>
              <a:rPr lang="en-US" baseline="-25000" dirty="0"/>
              <a:t>2</a:t>
            </a:r>
            <a:endParaRPr lang="en-US" dirty="0"/>
          </a:p>
          <a:p>
            <a:pPr lvl="2"/>
            <a:r>
              <a:rPr lang="en-US" dirty="0"/>
              <a:t>Shipping costs = 5Q</a:t>
            </a:r>
            <a:r>
              <a:rPr lang="en-US" baseline="-25000" dirty="0"/>
              <a:t>A1</a:t>
            </a:r>
            <a:r>
              <a:rPr lang="en-US" dirty="0"/>
              <a:t>+10Q</a:t>
            </a:r>
            <a:r>
              <a:rPr lang="en-US" baseline="-25000" dirty="0"/>
              <a:t>A2</a:t>
            </a:r>
            <a:r>
              <a:rPr lang="en-US" dirty="0"/>
              <a:t>+8Q</a:t>
            </a:r>
            <a:r>
              <a:rPr lang="en-US" baseline="-25000" dirty="0"/>
              <a:t>B1</a:t>
            </a:r>
            <a:r>
              <a:rPr lang="en-US" dirty="0"/>
              <a:t>+6Q</a:t>
            </a:r>
            <a:r>
              <a:rPr lang="en-US" baseline="-25000" dirty="0"/>
              <a:t>B2</a:t>
            </a:r>
            <a:endParaRPr lang="en-US" dirty="0"/>
          </a:p>
          <a:p>
            <a:pPr lvl="1"/>
            <a:r>
              <a:rPr lang="en-US" dirty="0"/>
              <a:t>So,</a:t>
            </a:r>
          </a:p>
          <a:p>
            <a:pPr lvl="2"/>
            <a:r>
              <a:rPr lang="en-US" dirty="0"/>
              <a:t>Maximize	13000 Y</a:t>
            </a:r>
            <a:r>
              <a:rPr lang="en-US" baseline="-25000" dirty="0"/>
              <a:t>1</a:t>
            </a:r>
            <a:r>
              <a:rPr lang="en-US" dirty="0"/>
              <a:t>+2000 Y</a:t>
            </a:r>
            <a:r>
              <a:rPr lang="en-US" baseline="-25000" dirty="0"/>
              <a:t>2</a:t>
            </a:r>
            <a:r>
              <a:rPr lang="en-US" dirty="0"/>
              <a:t> - 4000X</a:t>
            </a:r>
            <a:r>
              <a:rPr lang="en-US" baseline="-25000" dirty="0"/>
              <a:t>A</a:t>
            </a:r>
            <a:r>
              <a:rPr lang="en-US" dirty="0"/>
              <a:t>-5000X</a:t>
            </a:r>
            <a:r>
              <a:rPr lang="en-US" baseline="-25000" dirty="0"/>
              <a:t>B </a:t>
            </a:r>
            <a:r>
              <a:rPr lang="en-US" dirty="0"/>
              <a:t>- 5Q</a:t>
            </a:r>
            <a:r>
              <a:rPr lang="en-US" baseline="-25000" dirty="0"/>
              <a:t>A1</a:t>
            </a:r>
            <a:r>
              <a:rPr lang="en-US" dirty="0"/>
              <a:t>-10Q</a:t>
            </a:r>
            <a:r>
              <a:rPr lang="en-US" baseline="-25000" dirty="0"/>
              <a:t>A2</a:t>
            </a:r>
            <a:r>
              <a:rPr lang="en-US" dirty="0"/>
              <a:t>-8Q</a:t>
            </a:r>
            <a:r>
              <a:rPr lang="en-US" baseline="-25000" dirty="0"/>
              <a:t>B1</a:t>
            </a:r>
            <a:r>
              <a:rPr lang="en-US" dirty="0"/>
              <a:t>-6Q</a:t>
            </a:r>
            <a:r>
              <a:rPr lang="en-US" baseline="-25000" dirty="0"/>
              <a:t>B2</a:t>
            </a:r>
            <a:endParaRPr lang="en-US" dirty="0"/>
          </a:p>
          <a:p>
            <a:endParaRPr lang="en-US" dirty="0"/>
          </a:p>
          <a:p>
            <a:pPr lvl="2"/>
            <a:endParaRPr lang="en-US" dirty="0"/>
          </a:p>
        </p:txBody>
      </p:sp>
    </p:spTree>
    <p:extLst>
      <p:ext uri="{BB962C8B-B14F-4D97-AF65-F5344CB8AC3E}">
        <p14:creationId xmlns:p14="http://schemas.microsoft.com/office/powerpoint/2010/main" val="136353480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Distribution Network Design</a:t>
            </a:r>
          </a:p>
        </p:txBody>
      </p:sp>
      <p:sp>
        <p:nvSpPr>
          <p:cNvPr id="3" name="Content Placeholder 2"/>
          <p:cNvSpPr>
            <a:spLocks noGrp="1"/>
          </p:cNvSpPr>
          <p:nvPr>
            <p:ph idx="1"/>
          </p:nvPr>
        </p:nvSpPr>
        <p:spPr/>
        <p:txBody>
          <a:bodyPr/>
          <a:lstStyle/>
          <a:p>
            <a:r>
              <a:rPr lang="en-US" b="1" u="sng" dirty="0"/>
              <a:t>Distribution Network Design problem:</a:t>
            </a:r>
          </a:p>
          <a:p>
            <a:r>
              <a:rPr lang="en-US" b="1" dirty="0">
                <a:solidFill>
                  <a:srgbClr val="C00000"/>
                </a:solidFill>
              </a:rPr>
              <a:t>STEP 3: </a:t>
            </a:r>
            <a:r>
              <a:rPr lang="en-US" dirty="0"/>
              <a:t>Constraints</a:t>
            </a:r>
          </a:p>
          <a:p>
            <a:pPr lvl="1"/>
            <a:r>
              <a:rPr lang="en-US" dirty="0"/>
              <a:t>We need to the retailer sites exactly what is needed. So,</a:t>
            </a:r>
          </a:p>
          <a:p>
            <a:pPr lvl="2"/>
            <a:r>
              <a:rPr lang="en-US" dirty="0"/>
              <a:t>Q</a:t>
            </a:r>
            <a:r>
              <a:rPr lang="en-US" baseline="-25000" dirty="0"/>
              <a:t>A1</a:t>
            </a:r>
            <a:r>
              <a:rPr lang="en-US" dirty="0"/>
              <a:t>+Q</a:t>
            </a:r>
            <a:r>
              <a:rPr lang="en-US" baseline="-25000" dirty="0"/>
              <a:t>B1</a:t>
            </a:r>
            <a:r>
              <a:rPr lang="en-US" dirty="0"/>
              <a:t>=1000Y</a:t>
            </a:r>
            <a:r>
              <a:rPr lang="en-US" baseline="-25000" dirty="0"/>
              <a:t>1</a:t>
            </a:r>
            <a:endParaRPr lang="en-US" dirty="0"/>
          </a:p>
          <a:p>
            <a:pPr lvl="2"/>
            <a:r>
              <a:rPr lang="en-US" dirty="0"/>
              <a:t>Q</a:t>
            </a:r>
            <a:r>
              <a:rPr lang="en-US" baseline="-25000" dirty="0"/>
              <a:t>A2</a:t>
            </a:r>
            <a:r>
              <a:rPr lang="en-US" dirty="0"/>
              <a:t>+Q</a:t>
            </a:r>
            <a:r>
              <a:rPr lang="en-US" baseline="-25000" dirty="0"/>
              <a:t>B2</a:t>
            </a:r>
            <a:r>
              <a:rPr lang="en-US" dirty="0"/>
              <a:t>=1500Y</a:t>
            </a:r>
            <a:r>
              <a:rPr lang="en-US" baseline="-25000" dirty="0"/>
              <a:t>2</a:t>
            </a:r>
            <a:endParaRPr lang="en-US" dirty="0"/>
          </a:p>
          <a:p>
            <a:pPr lvl="1"/>
            <a:r>
              <a:rPr lang="en-US" dirty="0"/>
              <a:t>We cannot ship from a city if there is no warehouse there, and we have limit in each city. So</a:t>
            </a:r>
          </a:p>
          <a:p>
            <a:pPr lvl="2"/>
            <a:r>
              <a:rPr lang="en-US" dirty="0"/>
              <a:t>Q</a:t>
            </a:r>
            <a:r>
              <a:rPr lang="en-US" baseline="-25000" dirty="0"/>
              <a:t>A1</a:t>
            </a:r>
            <a:r>
              <a:rPr lang="en-US" dirty="0"/>
              <a:t>+ Q</a:t>
            </a:r>
            <a:r>
              <a:rPr lang="en-US" baseline="-25000" dirty="0"/>
              <a:t>A2</a:t>
            </a:r>
            <a:r>
              <a:rPr lang="en-US" dirty="0"/>
              <a:t>&lt;=5000 X</a:t>
            </a:r>
            <a:r>
              <a:rPr lang="en-US" baseline="-25000" dirty="0"/>
              <a:t>A</a:t>
            </a:r>
            <a:endParaRPr lang="en-US" dirty="0"/>
          </a:p>
          <a:p>
            <a:pPr lvl="2"/>
            <a:r>
              <a:rPr lang="en-US" dirty="0"/>
              <a:t>Q</a:t>
            </a:r>
            <a:r>
              <a:rPr lang="en-US" baseline="-25000" dirty="0"/>
              <a:t>B1</a:t>
            </a:r>
            <a:r>
              <a:rPr lang="en-US" dirty="0"/>
              <a:t>+ Q</a:t>
            </a:r>
            <a:r>
              <a:rPr lang="en-US" baseline="-25000" dirty="0"/>
              <a:t>B2</a:t>
            </a:r>
            <a:r>
              <a:rPr lang="en-US" dirty="0"/>
              <a:t>&lt;=6000 X</a:t>
            </a:r>
            <a:r>
              <a:rPr lang="en-US" baseline="-25000" dirty="0"/>
              <a:t>B</a:t>
            </a:r>
            <a:endParaRPr lang="en-US" dirty="0"/>
          </a:p>
          <a:p>
            <a:pPr lvl="1"/>
            <a:r>
              <a:rPr lang="en-US" dirty="0"/>
              <a:t>At most 5 retailers at each site, so </a:t>
            </a:r>
          </a:p>
          <a:p>
            <a:pPr lvl="2"/>
            <a:r>
              <a:rPr lang="en-US" dirty="0"/>
              <a:t>Y</a:t>
            </a:r>
            <a:r>
              <a:rPr lang="en-US" baseline="-25000" dirty="0"/>
              <a:t>1</a:t>
            </a:r>
            <a:r>
              <a:rPr lang="en-US" dirty="0"/>
              <a:t>&lt;=5</a:t>
            </a:r>
          </a:p>
          <a:p>
            <a:pPr lvl="2"/>
            <a:r>
              <a:rPr lang="en-US" dirty="0"/>
              <a:t>Y</a:t>
            </a:r>
            <a:r>
              <a:rPr lang="en-US" baseline="-25000" dirty="0"/>
              <a:t>2</a:t>
            </a:r>
            <a:r>
              <a:rPr lang="en-US" dirty="0"/>
              <a:t>&lt;=5</a:t>
            </a:r>
          </a:p>
          <a:p>
            <a:endParaRPr lang="en-US" dirty="0"/>
          </a:p>
          <a:p>
            <a:pPr lvl="2"/>
            <a:endParaRPr lang="en-US" dirty="0"/>
          </a:p>
        </p:txBody>
      </p:sp>
    </p:spTree>
    <p:extLst>
      <p:ext uri="{BB962C8B-B14F-4D97-AF65-F5344CB8AC3E}">
        <p14:creationId xmlns:p14="http://schemas.microsoft.com/office/powerpoint/2010/main" val="146869804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Distribution Network Design</a:t>
            </a:r>
          </a:p>
        </p:txBody>
      </p:sp>
      <p:sp>
        <p:nvSpPr>
          <p:cNvPr id="3" name="Content Placeholder 2"/>
          <p:cNvSpPr>
            <a:spLocks noGrp="1"/>
          </p:cNvSpPr>
          <p:nvPr>
            <p:ph idx="1"/>
          </p:nvPr>
        </p:nvSpPr>
        <p:spPr/>
        <p:txBody>
          <a:bodyPr/>
          <a:lstStyle/>
          <a:p>
            <a:r>
              <a:rPr lang="en-US" b="1" u="sng" dirty="0"/>
              <a:t>Distribution Network Design problem:</a:t>
            </a:r>
          </a:p>
          <a:p>
            <a:r>
              <a:rPr lang="en-US" dirty="0">
                <a:ea typeface="ＭＳ Ｐゴシック"/>
              </a:rPr>
              <a:t>Combining everything (not forgetting integer/binary definitions and non-negativity constraints), we have:</a:t>
            </a:r>
            <a:endParaRPr lang="en-US" dirty="0"/>
          </a:p>
          <a:p>
            <a:endParaRPr lang="en-US" dirty="0"/>
          </a:p>
          <a:p>
            <a:pPr lvl="2"/>
            <a:endParaRPr lang="en-US" dirty="0"/>
          </a:p>
        </p:txBody>
      </p:sp>
      <p:sp>
        <p:nvSpPr>
          <p:cNvPr id="4" name="Rectangle 3"/>
          <p:cNvSpPr/>
          <p:nvPr/>
        </p:nvSpPr>
        <p:spPr>
          <a:xfrm>
            <a:off x="1887109" y="2876643"/>
            <a:ext cx="7733410" cy="2640723"/>
          </a:xfrm>
          <a:prstGeom prst="rect">
            <a:avLst/>
          </a:prstGeom>
          <a:ln w="28575">
            <a:solidFill>
              <a:srgbClr val="C00000"/>
            </a:solidFill>
          </a:ln>
        </p:spPr>
        <p:txBody>
          <a:bodyPr wrap="square">
            <a:spAutoFit/>
          </a:bodyPr>
          <a:lstStyle/>
          <a:p>
            <a:pPr algn="just">
              <a:lnSpc>
                <a:spcPct val="115000"/>
              </a:lnSpc>
            </a:pPr>
            <a:r>
              <a:rPr lang="en-US" dirty="0">
                <a:latin typeface="Calibri" panose="020F0502020204030204" pitchFamily="34" charset="0"/>
                <a:ea typeface="Calibri" panose="020F0502020204030204" pitchFamily="34" charset="0"/>
                <a:cs typeface="Times New Roman" panose="02020603050405020304" pitchFamily="18" charset="0"/>
              </a:rPr>
              <a:t>Maximize 	13000 Y</a:t>
            </a:r>
            <a:r>
              <a:rPr lang="en-US" baseline="-25000" dirty="0">
                <a:latin typeface="Calibri" panose="020F0502020204030204" pitchFamily="34" charset="0"/>
                <a:ea typeface="Calibri" panose="020F0502020204030204" pitchFamily="34" charset="0"/>
                <a:cs typeface="Times New Roman" panose="02020603050405020304" pitchFamily="18" charset="0"/>
              </a:rPr>
              <a:t>1</a:t>
            </a:r>
            <a:r>
              <a:rPr lang="en-US" dirty="0">
                <a:latin typeface="Calibri" panose="020F0502020204030204" pitchFamily="34" charset="0"/>
                <a:ea typeface="Calibri" panose="020F0502020204030204" pitchFamily="34" charset="0"/>
                <a:cs typeface="Times New Roman" panose="02020603050405020304" pitchFamily="18" charset="0"/>
              </a:rPr>
              <a:t>+2000 Y</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 - 4000X</a:t>
            </a:r>
            <a:r>
              <a:rPr lang="en-US" baseline="-25000" dirty="0">
                <a:latin typeface="Calibri" panose="020F0502020204030204" pitchFamily="34" charset="0"/>
                <a:ea typeface="Calibri" panose="020F0502020204030204" pitchFamily="34" charset="0"/>
                <a:cs typeface="Times New Roman" panose="02020603050405020304" pitchFamily="18" charset="0"/>
              </a:rPr>
              <a:t>A</a:t>
            </a:r>
            <a:r>
              <a:rPr lang="en-US" dirty="0">
                <a:latin typeface="Calibri" panose="020F0502020204030204" pitchFamily="34" charset="0"/>
                <a:ea typeface="Calibri" panose="020F0502020204030204" pitchFamily="34" charset="0"/>
                <a:cs typeface="Times New Roman" panose="02020603050405020304" pitchFamily="18" charset="0"/>
              </a:rPr>
              <a:t>-5000X</a:t>
            </a:r>
            <a:r>
              <a:rPr lang="en-US" baseline="-25000" dirty="0">
                <a:latin typeface="Calibri" panose="020F0502020204030204" pitchFamily="34" charset="0"/>
                <a:ea typeface="Calibri" panose="020F0502020204030204" pitchFamily="34" charset="0"/>
                <a:cs typeface="Times New Roman" panose="02020603050405020304" pitchFamily="18" charset="0"/>
              </a:rPr>
              <a:t>B </a:t>
            </a:r>
            <a:r>
              <a:rPr lang="en-US" dirty="0">
                <a:latin typeface="Calibri" panose="020F0502020204030204" pitchFamily="34" charset="0"/>
                <a:ea typeface="Calibri" panose="020F0502020204030204" pitchFamily="34" charset="0"/>
                <a:cs typeface="Times New Roman" panose="02020603050405020304" pitchFamily="18" charset="0"/>
              </a:rPr>
              <a:t>- 5Q</a:t>
            </a:r>
            <a:r>
              <a:rPr lang="en-US" baseline="-25000" dirty="0">
                <a:latin typeface="Calibri" panose="020F0502020204030204" pitchFamily="34" charset="0"/>
                <a:ea typeface="Calibri" panose="020F0502020204030204" pitchFamily="34" charset="0"/>
                <a:cs typeface="Times New Roman" panose="02020603050405020304" pitchFamily="18" charset="0"/>
              </a:rPr>
              <a:t>A1</a:t>
            </a:r>
            <a:r>
              <a:rPr lang="en-US" dirty="0">
                <a:latin typeface="Calibri" panose="020F0502020204030204" pitchFamily="34" charset="0"/>
                <a:ea typeface="Calibri" panose="020F0502020204030204" pitchFamily="34" charset="0"/>
                <a:cs typeface="Times New Roman" panose="02020603050405020304" pitchFamily="18" charset="0"/>
              </a:rPr>
              <a:t>-10Q</a:t>
            </a:r>
            <a:r>
              <a:rPr lang="en-US" baseline="-25000" dirty="0">
                <a:latin typeface="Calibri" panose="020F0502020204030204" pitchFamily="34" charset="0"/>
                <a:ea typeface="Calibri" panose="020F0502020204030204" pitchFamily="34" charset="0"/>
                <a:cs typeface="Times New Roman" panose="02020603050405020304" pitchFamily="18" charset="0"/>
              </a:rPr>
              <a:t>A2</a:t>
            </a:r>
            <a:r>
              <a:rPr lang="en-US" dirty="0">
                <a:latin typeface="Calibri" panose="020F0502020204030204" pitchFamily="34" charset="0"/>
                <a:ea typeface="Calibri" panose="020F0502020204030204" pitchFamily="34" charset="0"/>
                <a:cs typeface="Times New Roman" panose="02020603050405020304" pitchFamily="18" charset="0"/>
              </a:rPr>
              <a:t>-8Q</a:t>
            </a:r>
            <a:r>
              <a:rPr lang="en-US" baseline="-25000" dirty="0">
                <a:latin typeface="Calibri" panose="020F0502020204030204" pitchFamily="34" charset="0"/>
                <a:ea typeface="Calibri" panose="020F0502020204030204" pitchFamily="34" charset="0"/>
                <a:cs typeface="Times New Roman" panose="02020603050405020304" pitchFamily="18" charset="0"/>
              </a:rPr>
              <a:t>B1</a:t>
            </a:r>
            <a:r>
              <a:rPr lang="en-US" dirty="0">
                <a:latin typeface="Calibri" panose="020F0502020204030204" pitchFamily="34" charset="0"/>
                <a:ea typeface="Calibri" panose="020F0502020204030204" pitchFamily="34" charset="0"/>
                <a:cs typeface="Times New Roman" panose="02020603050405020304" pitchFamily="18" charset="0"/>
              </a:rPr>
              <a:t>-6Q</a:t>
            </a:r>
            <a:r>
              <a:rPr lang="en-US" baseline="-25000" dirty="0">
                <a:latin typeface="Calibri" panose="020F0502020204030204" pitchFamily="34" charset="0"/>
                <a:ea typeface="Calibri" panose="020F0502020204030204" pitchFamily="34" charset="0"/>
                <a:cs typeface="Times New Roman" panose="02020603050405020304" pitchFamily="18" charset="0"/>
              </a:rPr>
              <a:t>B2</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pPr>
            <a:r>
              <a:rPr lang="en-US" dirty="0">
                <a:latin typeface="Calibri" panose="020F0502020204030204" pitchFamily="34" charset="0"/>
                <a:ea typeface="Calibri" panose="020F0502020204030204" pitchFamily="34" charset="0"/>
                <a:cs typeface="Times New Roman" panose="02020603050405020304" pitchFamily="18" charset="0"/>
              </a:rPr>
              <a:t>Subject to	Q</a:t>
            </a:r>
            <a:r>
              <a:rPr lang="en-US" baseline="-25000" dirty="0">
                <a:latin typeface="Calibri" panose="020F0502020204030204" pitchFamily="34" charset="0"/>
                <a:ea typeface="Calibri" panose="020F0502020204030204" pitchFamily="34" charset="0"/>
                <a:cs typeface="Times New Roman" panose="02020603050405020304" pitchFamily="18" charset="0"/>
              </a:rPr>
              <a:t>A1</a:t>
            </a:r>
            <a:r>
              <a:rPr lang="en-US" dirty="0">
                <a:latin typeface="Calibri" panose="020F0502020204030204" pitchFamily="34" charset="0"/>
                <a:ea typeface="Calibri" panose="020F0502020204030204" pitchFamily="34" charset="0"/>
                <a:cs typeface="Times New Roman" panose="02020603050405020304" pitchFamily="18" charset="0"/>
              </a:rPr>
              <a:t>+Q</a:t>
            </a:r>
            <a:r>
              <a:rPr lang="en-US" baseline="-25000" dirty="0">
                <a:latin typeface="Calibri" panose="020F0502020204030204" pitchFamily="34" charset="0"/>
                <a:ea typeface="Calibri" panose="020F0502020204030204" pitchFamily="34" charset="0"/>
                <a:cs typeface="Times New Roman" panose="02020603050405020304" pitchFamily="18" charset="0"/>
              </a:rPr>
              <a:t>B1</a:t>
            </a:r>
            <a:r>
              <a:rPr lang="en-US" dirty="0">
                <a:latin typeface="Calibri" panose="020F0502020204030204" pitchFamily="34" charset="0"/>
                <a:ea typeface="Calibri" panose="020F0502020204030204" pitchFamily="34" charset="0"/>
                <a:cs typeface="Times New Roman" panose="02020603050405020304" pitchFamily="18" charset="0"/>
              </a:rPr>
              <a:t>=1000Y</a:t>
            </a:r>
            <a:r>
              <a:rPr lang="en-US" baseline="-25000" dirty="0">
                <a:latin typeface="Calibri" panose="020F0502020204030204" pitchFamily="34" charset="0"/>
                <a:ea typeface="Calibri" panose="020F0502020204030204" pitchFamily="34" charset="0"/>
                <a:cs typeface="Times New Roman" panose="02020603050405020304" pitchFamily="18" charset="0"/>
              </a:rPr>
              <a:t>1</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914400" marR="0" algn="just">
              <a:lnSpc>
                <a:spcPct val="115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Q</a:t>
            </a:r>
            <a:r>
              <a:rPr lang="en-US" baseline="-25000" dirty="0">
                <a:latin typeface="Calibri" panose="020F0502020204030204" pitchFamily="34" charset="0"/>
                <a:ea typeface="Calibri" panose="020F0502020204030204" pitchFamily="34" charset="0"/>
                <a:cs typeface="Times New Roman" panose="02020603050405020304" pitchFamily="18" charset="0"/>
              </a:rPr>
              <a:t>A2</a:t>
            </a:r>
            <a:r>
              <a:rPr lang="en-US" dirty="0">
                <a:latin typeface="Calibri" panose="020F0502020204030204" pitchFamily="34" charset="0"/>
                <a:ea typeface="Calibri" panose="020F0502020204030204" pitchFamily="34" charset="0"/>
                <a:cs typeface="Times New Roman" panose="02020603050405020304" pitchFamily="18" charset="0"/>
              </a:rPr>
              <a:t>+Q</a:t>
            </a:r>
            <a:r>
              <a:rPr lang="en-US" baseline="-25000" dirty="0">
                <a:latin typeface="Calibri" panose="020F0502020204030204" pitchFamily="34" charset="0"/>
                <a:ea typeface="Calibri" panose="020F0502020204030204" pitchFamily="34" charset="0"/>
                <a:cs typeface="Times New Roman" panose="02020603050405020304" pitchFamily="18" charset="0"/>
              </a:rPr>
              <a:t>B2</a:t>
            </a:r>
            <a:r>
              <a:rPr lang="en-US" dirty="0">
                <a:latin typeface="Calibri" panose="020F0502020204030204" pitchFamily="34" charset="0"/>
                <a:ea typeface="Calibri" panose="020F0502020204030204" pitchFamily="34" charset="0"/>
                <a:cs typeface="Times New Roman" panose="02020603050405020304" pitchFamily="18" charset="0"/>
              </a:rPr>
              <a:t>=1500Y</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914400" marR="0" algn="just">
              <a:lnSpc>
                <a:spcPct val="115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Q</a:t>
            </a:r>
            <a:r>
              <a:rPr lang="en-US" baseline="-25000" dirty="0">
                <a:latin typeface="Calibri" panose="020F0502020204030204" pitchFamily="34" charset="0"/>
                <a:ea typeface="Calibri" panose="020F0502020204030204" pitchFamily="34" charset="0"/>
                <a:cs typeface="Times New Roman" panose="02020603050405020304" pitchFamily="18" charset="0"/>
              </a:rPr>
              <a:t>A1</a:t>
            </a:r>
            <a:r>
              <a:rPr lang="en-US" dirty="0">
                <a:latin typeface="Calibri" panose="020F0502020204030204" pitchFamily="34" charset="0"/>
                <a:ea typeface="Calibri" panose="020F0502020204030204" pitchFamily="34" charset="0"/>
                <a:cs typeface="Times New Roman" panose="02020603050405020304" pitchFamily="18" charset="0"/>
              </a:rPr>
              <a:t>+ Q</a:t>
            </a:r>
            <a:r>
              <a:rPr lang="en-US" baseline="-25000" dirty="0">
                <a:latin typeface="Calibri" panose="020F0502020204030204" pitchFamily="34" charset="0"/>
                <a:ea typeface="Calibri" panose="020F0502020204030204" pitchFamily="34" charset="0"/>
                <a:cs typeface="Times New Roman" panose="02020603050405020304" pitchFamily="18" charset="0"/>
              </a:rPr>
              <a:t>A2</a:t>
            </a:r>
            <a:r>
              <a:rPr lang="en-US" dirty="0">
                <a:latin typeface="Calibri" panose="020F0502020204030204" pitchFamily="34" charset="0"/>
                <a:ea typeface="Calibri" panose="020F0502020204030204" pitchFamily="34" charset="0"/>
                <a:cs typeface="Times New Roman" panose="02020603050405020304" pitchFamily="18" charset="0"/>
              </a:rPr>
              <a:t>&lt;=5000 X</a:t>
            </a:r>
            <a:r>
              <a:rPr lang="en-US" baseline="-25000" dirty="0">
                <a:latin typeface="Calibri" panose="020F0502020204030204" pitchFamily="34" charset="0"/>
                <a:ea typeface="Calibri" panose="020F0502020204030204" pitchFamily="34" charset="0"/>
                <a:cs typeface="Times New Roman" panose="02020603050405020304" pitchFamily="18" charset="0"/>
              </a:rPr>
              <a:t>A</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914400" marR="0" algn="just">
              <a:lnSpc>
                <a:spcPct val="115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Q</a:t>
            </a:r>
            <a:r>
              <a:rPr lang="en-US" baseline="-25000" dirty="0">
                <a:latin typeface="Calibri" panose="020F0502020204030204" pitchFamily="34" charset="0"/>
                <a:ea typeface="Calibri" panose="020F0502020204030204" pitchFamily="34" charset="0"/>
                <a:cs typeface="Times New Roman" panose="02020603050405020304" pitchFamily="18" charset="0"/>
              </a:rPr>
              <a:t>B1</a:t>
            </a:r>
            <a:r>
              <a:rPr lang="en-US" dirty="0">
                <a:latin typeface="Calibri" panose="020F0502020204030204" pitchFamily="34" charset="0"/>
                <a:ea typeface="Calibri" panose="020F0502020204030204" pitchFamily="34" charset="0"/>
                <a:cs typeface="Times New Roman" panose="02020603050405020304" pitchFamily="18" charset="0"/>
              </a:rPr>
              <a:t>+ Q</a:t>
            </a:r>
            <a:r>
              <a:rPr lang="en-US" baseline="-25000" dirty="0">
                <a:latin typeface="Calibri" panose="020F0502020204030204" pitchFamily="34" charset="0"/>
                <a:ea typeface="Calibri" panose="020F0502020204030204" pitchFamily="34" charset="0"/>
                <a:cs typeface="Times New Roman" panose="02020603050405020304" pitchFamily="18" charset="0"/>
              </a:rPr>
              <a:t>B2</a:t>
            </a:r>
            <a:r>
              <a:rPr lang="en-US" dirty="0">
                <a:latin typeface="Calibri" panose="020F0502020204030204" pitchFamily="34" charset="0"/>
                <a:ea typeface="Calibri" panose="020F0502020204030204" pitchFamily="34" charset="0"/>
                <a:cs typeface="Times New Roman" panose="02020603050405020304" pitchFamily="18" charset="0"/>
              </a:rPr>
              <a:t>&lt;=6000 X</a:t>
            </a:r>
            <a:r>
              <a:rPr lang="en-US" baseline="-25000" dirty="0">
                <a:latin typeface="Calibri" panose="020F0502020204030204" pitchFamily="34" charset="0"/>
                <a:ea typeface="Calibri" panose="020F0502020204030204" pitchFamily="34" charset="0"/>
                <a:cs typeface="Times New Roman" panose="02020603050405020304" pitchFamily="18" charset="0"/>
              </a:rPr>
              <a:t>B</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914400" marR="0" algn="just">
              <a:lnSpc>
                <a:spcPct val="115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Y</a:t>
            </a:r>
            <a:r>
              <a:rPr lang="en-US" baseline="-25000" dirty="0">
                <a:latin typeface="Calibri" panose="020F0502020204030204" pitchFamily="34" charset="0"/>
                <a:ea typeface="Calibri" panose="020F0502020204030204" pitchFamily="34" charset="0"/>
                <a:cs typeface="Times New Roman" panose="02020603050405020304" pitchFamily="18" charset="0"/>
              </a:rPr>
              <a:t>1</a:t>
            </a:r>
            <a:r>
              <a:rPr lang="en-US" dirty="0">
                <a:latin typeface="Calibri" panose="020F0502020204030204" pitchFamily="34" charset="0"/>
                <a:ea typeface="Calibri" panose="020F0502020204030204" pitchFamily="34" charset="0"/>
                <a:cs typeface="Times New Roman" panose="02020603050405020304" pitchFamily="18" charset="0"/>
              </a:rPr>
              <a:t>&lt;=5</a:t>
            </a:r>
          </a:p>
          <a:p>
            <a:pPr marL="914400" marR="0" algn="just">
              <a:lnSpc>
                <a:spcPct val="115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Y</a:t>
            </a:r>
            <a:r>
              <a:rPr lang="en-US" baseline="-25000" dirty="0">
                <a:latin typeface="Calibri" panose="020F0502020204030204" pitchFamily="34" charset="0"/>
                <a:ea typeface="Calibri" panose="020F0502020204030204" pitchFamily="34" charset="0"/>
                <a:cs typeface="Times New Roman" panose="02020603050405020304" pitchFamily="18" charset="0"/>
              </a:rPr>
              <a:t>2</a:t>
            </a:r>
            <a:r>
              <a:rPr lang="en-US" dirty="0">
                <a:latin typeface="Calibri" panose="020F0502020204030204" pitchFamily="34" charset="0"/>
                <a:ea typeface="Calibri" panose="020F0502020204030204" pitchFamily="34" charset="0"/>
                <a:cs typeface="Times New Roman" panose="02020603050405020304" pitchFamily="18" charset="0"/>
              </a:rPr>
              <a:t>&lt;=5</a:t>
            </a:r>
          </a:p>
          <a:p>
            <a:pPr marL="914400" marR="0" algn="just">
              <a:lnSpc>
                <a:spcPct val="115000"/>
              </a:lnSpc>
              <a:spcBef>
                <a:spcPts val="0"/>
              </a:spcBef>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XA, XB binary, Y1, Y2 integer, </a:t>
            </a:r>
            <a:r>
              <a:rPr lang="en-US" dirty="0" err="1">
                <a:latin typeface="Calibri" panose="020F0502020204030204" pitchFamily="34" charset="0"/>
                <a:ea typeface="Calibri" panose="020F0502020204030204" pitchFamily="34" charset="0"/>
                <a:cs typeface="Times New Roman" panose="02020603050405020304" pitchFamily="18" charset="0"/>
              </a:rPr>
              <a:t>Qij</a:t>
            </a:r>
            <a:r>
              <a:rPr lang="en-US" dirty="0">
                <a:latin typeface="Calibri" panose="020F0502020204030204" pitchFamily="34" charset="0"/>
                <a:ea typeface="Calibri" panose="020F0502020204030204" pitchFamily="34" charset="0"/>
                <a:cs typeface="Times New Roman" panose="02020603050405020304" pitchFamily="18" charset="0"/>
              </a:rPr>
              <a:t>&gt;=0</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440734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Integrated Facility Location-Transportation</a:t>
            </a:r>
          </a:p>
        </p:txBody>
      </p:sp>
      <p:sp>
        <p:nvSpPr>
          <p:cNvPr id="3" name="Content Placeholder 2"/>
          <p:cNvSpPr>
            <a:spLocks noGrp="1"/>
          </p:cNvSpPr>
          <p:nvPr>
            <p:ph idx="1"/>
          </p:nvPr>
        </p:nvSpPr>
        <p:spPr/>
        <p:txBody>
          <a:bodyPr/>
          <a:lstStyle/>
          <a:p>
            <a:r>
              <a:rPr lang="en-US" b="1" u="sng" dirty="0"/>
              <a:t>Integrated facility location – transportation problem:</a:t>
            </a:r>
          </a:p>
          <a:p>
            <a:pPr lvl="1"/>
            <a:r>
              <a:rPr lang="en-US" dirty="0"/>
              <a:t>Suppose you have n customers, indexed by </a:t>
            </a:r>
            <a:r>
              <a:rPr lang="en-US" dirty="0" err="1"/>
              <a:t>i</a:t>
            </a:r>
            <a:r>
              <a:rPr lang="en-US" dirty="0"/>
              <a:t>=1,2,…,n</a:t>
            </a:r>
          </a:p>
          <a:p>
            <a:pPr lvl="1"/>
            <a:r>
              <a:rPr lang="en-US" dirty="0"/>
              <a:t>Customer </a:t>
            </a:r>
            <a:r>
              <a:rPr lang="en-US" dirty="0" err="1"/>
              <a:t>i</a:t>
            </a:r>
            <a:r>
              <a:rPr lang="en-US" dirty="0"/>
              <a:t> has a demand of Di</a:t>
            </a:r>
          </a:p>
          <a:p>
            <a:pPr lvl="1"/>
            <a:r>
              <a:rPr lang="en-US" dirty="0"/>
              <a:t>You can locate warehouses at m locations, indexed by j=1,2,…,m</a:t>
            </a:r>
          </a:p>
          <a:p>
            <a:pPr lvl="1"/>
            <a:r>
              <a:rPr lang="en-US" dirty="0"/>
              <a:t>Building a warehouse at location j costs you fj</a:t>
            </a:r>
          </a:p>
          <a:p>
            <a:pPr lvl="1"/>
            <a:r>
              <a:rPr lang="en-US" dirty="0"/>
              <a:t>You can build at most 1 warehouse at any location j with unlimited capacity </a:t>
            </a:r>
          </a:p>
          <a:p>
            <a:pPr lvl="1"/>
            <a:r>
              <a:rPr lang="en-US" dirty="0"/>
              <a:t>Shipping from location j to customer </a:t>
            </a:r>
            <a:r>
              <a:rPr lang="en-US" dirty="0" err="1"/>
              <a:t>i</a:t>
            </a:r>
            <a:r>
              <a:rPr lang="en-US" dirty="0"/>
              <a:t> costs you </a:t>
            </a:r>
            <a:r>
              <a:rPr lang="en-US" dirty="0" err="1"/>
              <a:t>cij</a:t>
            </a:r>
            <a:endParaRPr lang="en-US" dirty="0"/>
          </a:p>
          <a:p>
            <a:r>
              <a:rPr lang="en-US" b="1" dirty="0">
                <a:solidFill>
                  <a:srgbClr val="C00000"/>
                </a:solidFill>
              </a:rPr>
              <a:t>Question: </a:t>
            </a:r>
            <a:r>
              <a:rPr lang="en-US" dirty="0"/>
              <a:t>Where you should build warehouses and how you should ship to your customers to minimize costs?</a:t>
            </a:r>
          </a:p>
        </p:txBody>
      </p:sp>
    </p:spTree>
    <p:extLst>
      <p:ext uri="{BB962C8B-B14F-4D97-AF65-F5344CB8AC3E}">
        <p14:creationId xmlns:p14="http://schemas.microsoft.com/office/powerpoint/2010/main" val="377473585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Integrated Facility Location-Transportation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dirty="0">
                    <a:solidFill>
                      <a:srgbClr val="C00000"/>
                    </a:solidFill>
                  </a:rPr>
                  <a:t>STEP 1: </a:t>
                </a:r>
                <a:r>
                  <a:rPr lang="en-US" dirty="0"/>
                  <a:t>Decision variables</a:t>
                </a:r>
              </a:p>
              <a:p>
                <a:pPr lvl="1"/>
                <a:r>
                  <a:rPr lang="en-US" dirty="0"/>
                  <a:t>Let </a:t>
                </a:r>
                <a:r>
                  <a:rPr lang="en-US" dirty="0" err="1"/>
                  <a:t>Xij</a:t>
                </a:r>
                <a:r>
                  <a:rPr lang="en-US" dirty="0"/>
                  <a:t>: quantity shipped from location j to customer I</a:t>
                </a:r>
              </a:p>
              <a:p>
                <a:pPr lvl="1"/>
                <a:r>
                  <a:rPr lang="en-US" dirty="0"/>
                  <a:t>Let </a:t>
                </a:r>
                <a:r>
                  <a:rPr lang="en-US" dirty="0" err="1"/>
                  <a:t>Yj</a:t>
                </a:r>
                <a:r>
                  <a:rPr lang="en-US" dirty="0"/>
                  <a:t>=1 if a warehouse built at location j, 0 otherwise</a:t>
                </a:r>
              </a:p>
              <a:p>
                <a:r>
                  <a:rPr lang="en-US" b="1" dirty="0">
                    <a:solidFill>
                      <a:srgbClr val="C00000"/>
                    </a:solidFill>
                  </a:rPr>
                  <a:t>STEP 2: </a:t>
                </a:r>
                <a:r>
                  <a:rPr lang="en-US" dirty="0"/>
                  <a:t>Objective and objective function</a:t>
                </a:r>
              </a:p>
              <a:p>
                <a:pPr lvl="1"/>
                <a:r>
                  <a:rPr lang="en-US" dirty="0"/>
                  <a:t>Minimize </a:t>
                </a:r>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a:rPr>
                          <m:t>𝑖</m:t>
                        </m:r>
                        <m:r>
                          <a:rPr lang="en-US" b="0" i="1" smtClean="0">
                            <a:latin typeface="Cambria Math"/>
                          </a:rPr>
                          <m:t>=1</m:t>
                        </m:r>
                      </m:sub>
                      <m:sup>
                        <m:r>
                          <a:rPr lang="en-US" b="0" i="1" smtClean="0">
                            <a:latin typeface="Cambria Math"/>
                          </a:rPr>
                          <m:t>𝑛</m:t>
                        </m:r>
                      </m:sup>
                      <m:e>
                        <m:r>
                          <a:rPr lang="en-US" b="0" i="1" smtClean="0">
                            <a:latin typeface="Cambria Math"/>
                          </a:rPr>
                          <m:t> </m:t>
                        </m:r>
                      </m:e>
                    </m:nary>
                    <m:sSub>
                      <m:sSubPr>
                        <m:ctrlPr>
                          <a:rPr lang="en-US" i="1" smtClean="0">
                            <a:latin typeface="Cambria Math" panose="02040503050406030204" pitchFamily="18" charset="0"/>
                          </a:rPr>
                        </m:ctrlPr>
                      </m:sSubPr>
                      <m:e>
                        <m:r>
                          <a:rPr lang="en-US" b="0" i="1" smtClean="0">
                            <a:latin typeface="Cambria Math"/>
                          </a:rPr>
                          <m:t> </m:t>
                        </m:r>
                      </m:e>
                      <m:sub>
                        <m:r>
                          <a:rPr lang="en-US" b="0" i="1" smtClean="0">
                            <a:latin typeface="Cambria Math"/>
                          </a:rPr>
                          <m:t> </m:t>
                        </m:r>
                      </m:sub>
                    </m:sSub>
                    <m:nary>
                      <m:naryPr>
                        <m:chr m:val="∑"/>
                        <m:ctrlPr>
                          <a:rPr lang="en-US" i="1" smtClean="0">
                            <a:latin typeface="Cambria Math" panose="02040503050406030204" pitchFamily="18" charset="0"/>
                          </a:rPr>
                        </m:ctrlPr>
                      </m:naryPr>
                      <m:sub>
                        <m:r>
                          <m:rPr>
                            <m:brk m:alnAt="23"/>
                          </m:rPr>
                          <a:rPr lang="en-US" b="0" i="1" smtClean="0">
                            <a:latin typeface="Cambria Math"/>
                          </a:rPr>
                          <m:t>𝑗</m:t>
                        </m:r>
                        <m:r>
                          <a:rPr lang="en-US" b="0" i="1" smtClean="0">
                            <a:latin typeface="Cambria Math"/>
                          </a:rPr>
                          <m:t>=1</m:t>
                        </m:r>
                      </m:sub>
                      <m:sup>
                        <m:r>
                          <a:rPr lang="en-US" b="0" i="1" smtClean="0">
                            <a:latin typeface="Cambria Math"/>
                          </a:rPr>
                          <m:t>𝑚</m:t>
                        </m:r>
                      </m:sup>
                      <m:e>
                        <m:sSub>
                          <m:sSubPr>
                            <m:ctrlPr>
                              <a:rPr lang="en-US" i="1" smtClean="0">
                                <a:latin typeface="Cambria Math" panose="02040503050406030204" pitchFamily="18" charset="0"/>
                              </a:rPr>
                            </m:ctrlPr>
                          </m:sSubPr>
                          <m:e>
                            <m:sSub>
                              <m:sSubPr>
                                <m:ctrlPr>
                                  <a:rPr lang="en-US" i="1" smtClean="0">
                                    <a:latin typeface="Cambria Math" panose="02040503050406030204" pitchFamily="18" charset="0"/>
                                  </a:rPr>
                                </m:ctrlPr>
                              </m:sSubPr>
                              <m:e>
                                <m:r>
                                  <a:rPr lang="en-US" b="0" i="1" smtClean="0">
                                    <a:latin typeface="Cambria Math"/>
                                  </a:rPr>
                                  <m:t>𝑋</m:t>
                                </m:r>
                              </m:e>
                              <m:sub>
                                <m:r>
                                  <a:rPr lang="en-US" b="0" i="1" smtClean="0">
                                    <a:latin typeface="Cambria Math"/>
                                  </a:rPr>
                                  <m:t>𝑖𝑗</m:t>
                                </m:r>
                              </m:sub>
                            </m:sSub>
                            <m:r>
                              <a:rPr lang="en-US" b="0" i="1" smtClean="0">
                                <a:latin typeface="Cambria Math"/>
                              </a:rPr>
                              <m:t>𝑐</m:t>
                            </m:r>
                          </m:e>
                          <m:sub>
                            <m:r>
                              <a:rPr lang="en-US" b="0" i="1" smtClean="0">
                                <a:latin typeface="Cambria Math"/>
                              </a:rPr>
                              <m:t>𝑖𝑗</m:t>
                            </m:r>
                            <m:sSub>
                              <m:sSubPr>
                                <m:ctrlPr>
                                  <a:rPr lang="en-US" b="0" i="1" smtClean="0">
                                    <a:latin typeface="Cambria Math" panose="02040503050406030204" pitchFamily="18" charset="0"/>
                                  </a:rPr>
                                </m:ctrlPr>
                              </m:sSubPr>
                              <m:e>
                                <m:r>
                                  <a:rPr lang="en-US" b="0" i="1" smtClean="0">
                                    <a:latin typeface="Cambria Math"/>
                                  </a:rPr>
                                  <m:t> </m:t>
                                </m:r>
                              </m:e>
                              <m:sub>
                                <m:r>
                                  <a:rPr lang="en-US" b="0" i="1" smtClean="0">
                                    <a:latin typeface="Cambria Math"/>
                                  </a:rPr>
                                  <m:t> </m:t>
                                </m:r>
                              </m:sub>
                            </m:sSub>
                          </m:sub>
                        </m:sSub>
                        <m:r>
                          <a:rPr lang="en-US" b="0" i="1" smtClean="0">
                            <a:latin typeface="Cambria Math"/>
                          </a:rPr>
                          <m:t>+</m:t>
                        </m:r>
                        <m:nary>
                          <m:naryPr>
                            <m:chr m:val="∑"/>
                            <m:ctrlPr>
                              <a:rPr lang="en-US" i="1">
                                <a:latin typeface="Cambria Math" panose="02040503050406030204" pitchFamily="18" charset="0"/>
                              </a:rPr>
                            </m:ctrlPr>
                          </m:naryPr>
                          <m:sub>
                            <m:r>
                              <m:rPr>
                                <m:brk m:alnAt="23"/>
                              </m:rPr>
                              <a:rPr lang="en-US" i="1">
                                <a:latin typeface="Cambria Math"/>
                              </a:rPr>
                              <m:t>𝑗</m:t>
                            </m:r>
                            <m:r>
                              <a:rPr lang="en-US" i="1">
                                <a:latin typeface="Cambria Math"/>
                              </a:rPr>
                              <m:t>=1</m:t>
                            </m:r>
                          </m:sub>
                          <m:sup>
                            <m:r>
                              <a:rPr lang="en-US" i="1">
                                <a:latin typeface="Cambria Math"/>
                              </a:rPr>
                              <m:t>𝑚</m:t>
                            </m:r>
                          </m:sup>
                          <m:e>
                            <m:sSub>
                              <m:sSubPr>
                                <m:ctrlPr>
                                  <a:rPr lang="en-US" i="1" smtClean="0">
                                    <a:latin typeface="Cambria Math" panose="02040503050406030204" pitchFamily="18" charset="0"/>
                                  </a:rPr>
                                </m:ctrlPr>
                              </m:sSubPr>
                              <m:e>
                                <m:r>
                                  <a:rPr lang="en-US" b="0" i="1" smtClean="0">
                                    <a:latin typeface="Cambria Math"/>
                                  </a:rPr>
                                  <m:t>𝑓</m:t>
                                </m:r>
                              </m:e>
                              <m:sub>
                                <m:r>
                                  <a:rPr lang="en-US" b="0" i="1" smtClean="0">
                                    <a:latin typeface="Cambria Math"/>
                                  </a:rPr>
                                  <m:t>𝑗</m:t>
                                </m:r>
                              </m:sub>
                            </m:sSub>
                            <m:sSub>
                              <m:sSubPr>
                                <m:ctrlPr>
                                  <a:rPr lang="en-US" i="1" smtClean="0">
                                    <a:latin typeface="Cambria Math" panose="02040503050406030204" pitchFamily="18" charset="0"/>
                                  </a:rPr>
                                </m:ctrlPr>
                              </m:sSubPr>
                              <m:e>
                                <m:sSub>
                                  <m:sSubPr>
                                    <m:ctrlPr>
                                      <a:rPr lang="en-US" i="1" smtClean="0">
                                        <a:latin typeface="Cambria Math" panose="02040503050406030204" pitchFamily="18" charset="0"/>
                                      </a:rPr>
                                    </m:ctrlPr>
                                  </m:sSubPr>
                                  <m:e>
                                    <m:r>
                                      <a:rPr lang="en-US" b="0" i="1" smtClean="0">
                                        <a:latin typeface="Cambria Math"/>
                                      </a:rPr>
                                      <m:t>𝑦</m:t>
                                    </m:r>
                                  </m:e>
                                  <m:sub>
                                    <m:r>
                                      <a:rPr lang="en-US" b="0" i="1" smtClean="0">
                                        <a:latin typeface="Cambria Math"/>
                                      </a:rPr>
                                      <m:t>𝑗</m:t>
                                    </m:r>
                                  </m:sub>
                                </m:sSub>
                              </m:e>
                              <m:sub>
                                <m:r>
                                  <a:rPr lang="en-US" b="0" i="1" smtClean="0">
                                    <a:latin typeface="Cambria Math"/>
                                  </a:rPr>
                                  <m:t> </m:t>
                                </m:r>
                              </m:sub>
                            </m:sSub>
                          </m:e>
                        </m:nary>
                      </m:e>
                    </m:nary>
                  </m:oMath>
                </a14:m>
                <a:endParaRPr lang="en-US" b="0" dirty="0"/>
              </a:p>
              <a:p>
                <a:r>
                  <a:rPr lang="en-US" b="1" dirty="0">
                    <a:solidFill>
                      <a:srgbClr val="C00000"/>
                    </a:solidFill>
                  </a:rPr>
                  <a:t>STEP 3: </a:t>
                </a:r>
                <a:r>
                  <a:rPr lang="en-US" dirty="0"/>
                  <a:t>Constraints</a:t>
                </a:r>
              </a:p>
              <a:p>
                <a:pPr lvl="2"/>
                <a:r>
                  <a:rPr lang="en-US" dirty="0"/>
                  <a:t>We need to satisfy the demand: </a:t>
                </a:r>
                <a14:m>
                  <m:oMath xmlns:m="http://schemas.openxmlformats.org/officeDocument/2006/math">
                    <m:nary>
                      <m:naryPr>
                        <m:chr m:val="∑"/>
                        <m:ctrlPr>
                          <a:rPr lang="en-US" i="1">
                            <a:latin typeface="Cambria Math" panose="02040503050406030204" pitchFamily="18" charset="0"/>
                          </a:rPr>
                        </m:ctrlPr>
                      </m:naryPr>
                      <m:sub>
                        <m:r>
                          <m:rPr>
                            <m:brk m:alnAt="23"/>
                          </m:rPr>
                          <a:rPr lang="en-US" i="1">
                            <a:latin typeface="Cambria Math"/>
                          </a:rPr>
                          <m:t>𝑗</m:t>
                        </m:r>
                        <m:r>
                          <a:rPr lang="en-US" i="1">
                            <a:latin typeface="Cambria Math"/>
                          </a:rPr>
                          <m:t>=1</m:t>
                        </m:r>
                      </m:sub>
                      <m:sup>
                        <m:r>
                          <a:rPr lang="en-US" i="1">
                            <a:latin typeface="Cambria Math"/>
                          </a:rPr>
                          <m:t>𝑚</m:t>
                        </m:r>
                      </m:sup>
                      <m:e>
                        <m:sSub>
                          <m:sSubPr>
                            <m:ctrlPr>
                              <a:rPr lang="en-US" i="1">
                                <a:latin typeface="Cambria Math" panose="02040503050406030204" pitchFamily="18" charset="0"/>
                              </a:rPr>
                            </m:ctrlPr>
                          </m:sSubPr>
                          <m:e>
                            <m:r>
                              <a:rPr lang="en-US" i="1">
                                <a:latin typeface="Cambria Math"/>
                              </a:rPr>
                              <m:t>𝑋</m:t>
                            </m:r>
                          </m:e>
                          <m:sub>
                            <m:r>
                              <a:rPr lang="en-US" i="1">
                                <a:latin typeface="Cambria Math"/>
                              </a:rPr>
                              <m:t>𝑖𝑗</m:t>
                            </m:r>
                          </m:sub>
                        </m:sSub>
                        <m:r>
                          <a:rPr lang="en-US" i="1">
                            <a:latin typeface="Cambria Math"/>
                          </a:rPr>
                          <m:t>≥</m:t>
                        </m:r>
                        <m:r>
                          <a:rPr lang="en-US" i="1">
                            <a:latin typeface="Cambria Math"/>
                          </a:rPr>
                          <m:t>𝐷𝑖</m:t>
                        </m:r>
                      </m:e>
                    </m:nary>
                    <m:r>
                      <a:rPr lang="en-US" i="1">
                        <a:latin typeface="Cambria Math"/>
                      </a:rPr>
                      <m:t> </m:t>
                    </m:r>
                    <m:r>
                      <a:rPr lang="en-US" i="1">
                        <a:latin typeface="Cambria Math"/>
                      </a:rPr>
                      <m:t>𝑖</m:t>
                    </m:r>
                    <m:r>
                      <a:rPr lang="en-US" i="1">
                        <a:latin typeface="Cambria Math"/>
                      </a:rPr>
                      <m:t>=1,2,3,…,</m:t>
                    </m:r>
                    <m:r>
                      <a:rPr lang="en-US" i="1">
                        <a:latin typeface="Cambria Math"/>
                      </a:rPr>
                      <m:t>𝑛</m:t>
                    </m:r>
                  </m:oMath>
                </a14:m>
                <a:endParaRPr lang="en-US" dirty="0"/>
              </a:p>
              <a:p>
                <a:pPr lvl="2"/>
                <a:r>
                  <a:rPr lang="en-US" dirty="0"/>
                  <a:t>We cannot ship from a location if there is no warehouse there: </a:t>
                </a:r>
                <a14:m>
                  <m:oMath xmlns:m="http://schemas.openxmlformats.org/officeDocument/2006/math">
                    <m:nary>
                      <m:naryPr>
                        <m:chr m:val="∑"/>
                        <m:ctrlPr>
                          <a:rPr lang="en-US" i="1">
                            <a:latin typeface="Cambria Math" panose="02040503050406030204" pitchFamily="18" charset="0"/>
                          </a:rPr>
                        </m:ctrlPr>
                      </m:naryPr>
                      <m:sub>
                        <m:r>
                          <a:rPr lang="en-US" i="1">
                            <a:latin typeface="Cambria Math"/>
                          </a:rPr>
                          <m:t>𝑖</m:t>
                        </m:r>
                        <m:r>
                          <a:rPr lang="en-US" i="1">
                            <a:latin typeface="Cambria Math"/>
                          </a:rPr>
                          <m:t>=1</m:t>
                        </m:r>
                      </m:sub>
                      <m:sup>
                        <m:r>
                          <a:rPr lang="en-US" i="1">
                            <a:latin typeface="Cambria Math"/>
                          </a:rPr>
                          <m:t>𝑛</m:t>
                        </m:r>
                      </m:sup>
                      <m:e>
                        <m:sSub>
                          <m:sSubPr>
                            <m:ctrlPr>
                              <a:rPr lang="en-US" i="1">
                                <a:latin typeface="Cambria Math" panose="02040503050406030204" pitchFamily="18" charset="0"/>
                              </a:rPr>
                            </m:ctrlPr>
                          </m:sSubPr>
                          <m:e>
                            <m:r>
                              <a:rPr lang="en-US" i="1">
                                <a:latin typeface="Cambria Math"/>
                              </a:rPr>
                              <m:t>𝑋</m:t>
                            </m:r>
                          </m:e>
                          <m:sub>
                            <m:r>
                              <a:rPr lang="en-US" i="1">
                                <a:latin typeface="Cambria Math"/>
                              </a:rPr>
                              <m:t>𝑖𝑗</m:t>
                            </m:r>
                          </m:sub>
                        </m:sSub>
                        <m:r>
                          <a:rPr lang="en-US" i="1">
                            <a:latin typeface="Cambria Math"/>
                          </a:rPr>
                          <m:t>≤</m:t>
                        </m:r>
                      </m:e>
                    </m:nary>
                    <m:sSub>
                      <m:sSubPr>
                        <m:ctrlPr>
                          <a:rPr lang="en-US" i="1">
                            <a:latin typeface="Cambria Math" panose="02040503050406030204" pitchFamily="18" charset="0"/>
                          </a:rPr>
                        </m:ctrlPr>
                      </m:sSubPr>
                      <m:e>
                        <m:r>
                          <a:rPr lang="en-US" i="1">
                            <a:latin typeface="Cambria Math"/>
                          </a:rPr>
                          <m:t>𝑀𝑦</m:t>
                        </m:r>
                      </m:e>
                      <m:sub>
                        <m:r>
                          <a:rPr lang="en-US" i="1">
                            <a:latin typeface="Cambria Math"/>
                          </a:rPr>
                          <m:t>𝑗</m:t>
                        </m:r>
                      </m:sub>
                    </m:sSub>
                    <m:r>
                      <a:rPr lang="en-US" i="1">
                        <a:latin typeface="Cambria Math"/>
                      </a:rPr>
                      <m:t> </m:t>
                    </m:r>
                    <m:r>
                      <a:rPr lang="en-US" i="1">
                        <a:latin typeface="Cambria Math"/>
                      </a:rPr>
                      <m:t>𝑗</m:t>
                    </m:r>
                    <m:r>
                      <a:rPr lang="en-US" i="1">
                        <a:latin typeface="Cambria Math"/>
                      </a:rPr>
                      <m:t>=1,2,3,…,</m:t>
                    </m:r>
                    <m:r>
                      <a:rPr lang="en-US" i="1">
                        <a:latin typeface="Cambria Math"/>
                      </a:rPr>
                      <m:t>𝑚</m:t>
                    </m:r>
                  </m:oMath>
                </a14:m>
                <a:endParaRPr lang="en-US" dirty="0"/>
              </a:p>
              <a:p>
                <a:pPr marL="914400" lvl="2" indent="0">
                  <a:buNone/>
                </a:pPr>
                <a:r>
                  <a:rPr lang="en-US" dirty="0"/>
                  <a:t>    where M is a large number</a:t>
                </a:r>
              </a:p>
              <a:p>
                <a:pPr lvl="3"/>
                <a:r>
                  <a:rPr lang="en-US" dirty="0"/>
                  <a:t>If we had capacities for the warehouses, instead of M, what would you say? </a:t>
                </a:r>
                <a:r>
                  <a:rPr lang="en-US" dirty="0">
                    <a:sym typeface="Wingdings" pitchFamily="2" charset="2"/>
                  </a:rPr>
                  <a:t> </a:t>
                </a:r>
                <a14:m>
                  <m:oMath xmlns:m="http://schemas.openxmlformats.org/officeDocument/2006/math">
                    <m:nary>
                      <m:naryPr>
                        <m:chr m:val="∑"/>
                        <m:ctrlPr>
                          <a:rPr lang="en-US" i="1">
                            <a:latin typeface="Cambria Math" panose="02040503050406030204" pitchFamily="18" charset="0"/>
                          </a:rPr>
                        </m:ctrlPr>
                      </m:naryPr>
                      <m:sub>
                        <m:r>
                          <a:rPr lang="en-US" i="1">
                            <a:latin typeface="Cambria Math"/>
                          </a:rPr>
                          <m:t>𝑖</m:t>
                        </m:r>
                        <m:r>
                          <a:rPr lang="en-US" i="1">
                            <a:latin typeface="Cambria Math"/>
                          </a:rPr>
                          <m:t>=1</m:t>
                        </m:r>
                      </m:sub>
                      <m:sup>
                        <m:r>
                          <a:rPr lang="en-US" i="1">
                            <a:latin typeface="Cambria Math"/>
                          </a:rPr>
                          <m:t>𝑛</m:t>
                        </m:r>
                      </m:sup>
                      <m:e>
                        <m:sSub>
                          <m:sSubPr>
                            <m:ctrlPr>
                              <a:rPr lang="en-US" i="1">
                                <a:latin typeface="Cambria Math" panose="02040503050406030204" pitchFamily="18" charset="0"/>
                              </a:rPr>
                            </m:ctrlPr>
                          </m:sSubPr>
                          <m:e>
                            <m:r>
                              <a:rPr lang="en-US" i="1">
                                <a:latin typeface="Cambria Math"/>
                              </a:rPr>
                              <m:t>𝑋</m:t>
                            </m:r>
                          </m:e>
                          <m:sub>
                            <m:r>
                              <a:rPr lang="en-US" i="1">
                                <a:latin typeface="Cambria Math"/>
                              </a:rPr>
                              <m:t>𝑖𝑗</m:t>
                            </m:r>
                          </m:sub>
                        </m:sSub>
                        <m:r>
                          <a:rPr lang="en-US" i="1">
                            <a:latin typeface="Cambria Math"/>
                          </a:rPr>
                          <m:t>≤</m:t>
                        </m:r>
                      </m:e>
                    </m:nary>
                    <m:sSub>
                      <m:sSubPr>
                        <m:ctrlPr>
                          <a:rPr lang="en-US" i="1">
                            <a:latin typeface="Cambria Math" panose="02040503050406030204" pitchFamily="18" charset="0"/>
                          </a:rPr>
                        </m:ctrlPr>
                      </m:sSubPr>
                      <m:e>
                        <m:r>
                          <a:rPr lang="en-US" i="1">
                            <a:latin typeface="Cambria Math"/>
                          </a:rPr>
                          <m:t>𝑐</m:t>
                        </m:r>
                        <m:sSub>
                          <m:sSubPr>
                            <m:ctrlPr>
                              <a:rPr lang="en-US" i="1">
                                <a:latin typeface="Cambria Math" panose="02040503050406030204" pitchFamily="18" charset="0"/>
                              </a:rPr>
                            </m:ctrlPr>
                          </m:sSubPr>
                          <m:e>
                            <m:r>
                              <a:rPr lang="en-US" i="1">
                                <a:latin typeface="Cambria Math"/>
                              </a:rPr>
                              <m:t> </m:t>
                            </m:r>
                          </m:e>
                          <m:sub>
                            <m:r>
                              <a:rPr lang="en-US" i="1">
                                <a:latin typeface="Cambria Math"/>
                              </a:rPr>
                              <m:t>𝑗</m:t>
                            </m:r>
                          </m:sub>
                        </m:sSub>
                        <m:r>
                          <a:rPr lang="en-US" i="1">
                            <a:latin typeface="Cambria Math"/>
                          </a:rPr>
                          <m:t>𝑦</m:t>
                        </m:r>
                      </m:e>
                      <m:sub>
                        <m:r>
                          <a:rPr lang="en-US" i="1">
                            <a:latin typeface="Cambria Math"/>
                          </a:rPr>
                          <m:t>𝑗</m:t>
                        </m:r>
                      </m:sub>
                    </m:sSub>
                  </m:oMath>
                </a14:m>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56" t="-200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17D8DEC3-86FA-484C-AC83-38B4A6F9AAAF}" type="slidenum">
              <a:rPr lang="en-US" smtClean="0"/>
              <a:pPr>
                <a:defRPr/>
              </a:pPr>
              <a:t>85</a:t>
            </a:fld>
            <a:endParaRPr lang="en-US" dirty="0"/>
          </a:p>
        </p:txBody>
      </p:sp>
    </p:spTree>
    <p:extLst>
      <p:ext uri="{BB962C8B-B14F-4D97-AF65-F5344CB8AC3E}">
        <p14:creationId xmlns:p14="http://schemas.microsoft.com/office/powerpoint/2010/main" val="19002185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Mixed-Integer Programming</a:t>
            </a:r>
          </a:p>
        </p:txBody>
      </p:sp>
      <p:sp>
        <p:nvSpPr>
          <p:cNvPr id="3" name="Content Placeholder 2"/>
          <p:cNvSpPr>
            <a:spLocks noGrp="1"/>
          </p:cNvSpPr>
          <p:nvPr>
            <p:ph idx="1"/>
          </p:nvPr>
        </p:nvSpPr>
        <p:spPr/>
        <p:txBody>
          <a:bodyPr>
            <a:normAutofit lnSpcReduction="10000"/>
          </a:bodyPr>
          <a:lstStyle/>
          <a:p>
            <a:r>
              <a:rPr lang="en-US" dirty="0"/>
              <a:t>Combining everything</a:t>
            </a:r>
          </a:p>
          <a:p>
            <a:endParaRPr lang="en-US" dirty="0"/>
          </a:p>
          <a:p>
            <a:endParaRPr lang="en-US" dirty="0"/>
          </a:p>
          <a:p>
            <a:endParaRPr lang="en-US" dirty="0"/>
          </a:p>
          <a:p>
            <a:endParaRPr lang="en-US" dirty="0"/>
          </a:p>
          <a:p>
            <a:endParaRPr lang="en-US" dirty="0"/>
          </a:p>
          <a:p>
            <a:pPr lvl="5"/>
            <a:endParaRPr lang="en-US" dirty="0"/>
          </a:p>
          <a:p>
            <a:r>
              <a:rPr lang="en-US" dirty="0"/>
              <a:t>This is a mixed-integer-linear-programming (MILP) problem</a:t>
            </a:r>
          </a:p>
          <a:p>
            <a:pPr marL="800100" lvl="3" indent="-342900"/>
            <a:r>
              <a:rPr lang="en-US" sz="2400" dirty="0"/>
              <a:t>You have continuous variables </a:t>
            </a:r>
            <a:r>
              <a:rPr lang="en-US" sz="2400" dirty="0" err="1"/>
              <a:t>Xij</a:t>
            </a:r>
            <a:endParaRPr lang="en-US" sz="2400" dirty="0"/>
          </a:p>
          <a:p>
            <a:pPr marL="800100" lvl="3" indent="-342900"/>
            <a:r>
              <a:rPr lang="en-US" sz="2400" dirty="0"/>
              <a:t>You have binary variables </a:t>
            </a:r>
            <a:r>
              <a:rPr lang="en-US" sz="2400" dirty="0" err="1"/>
              <a:t>yj</a:t>
            </a:r>
            <a:endParaRPr lang="en-US" sz="2400" dirty="0"/>
          </a:p>
          <a:p>
            <a:pPr marL="800100" lvl="3" indent="-342900"/>
            <a:r>
              <a:rPr lang="en-US" sz="2400" dirty="0"/>
              <a:t>Everything is linear</a:t>
            </a:r>
          </a:p>
        </p:txBody>
      </p:sp>
      <p:sp>
        <p:nvSpPr>
          <p:cNvPr id="4" name="Slide Number Placeholder 3"/>
          <p:cNvSpPr>
            <a:spLocks noGrp="1"/>
          </p:cNvSpPr>
          <p:nvPr>
            <p:ph type="sldNum" sz="quarter" idx="12"/>
          </p:nvPr>
        </p:nvSpPr>
        <p:spPr/>
        <p:txBody>
          <a:bodyPr/>
          <a:lstStyle/>
          <a:p>
            <a:pPr>
              <a:defRPr/>
            </a:pPr>
            <a:fld id="{17D8DEC3-86FA-484C-AC83-38B4A6F9AAAF}" type="slidenum">
              <a:rPr lang="en-US" smtClean="0"/>
              <a:pPr>
                <a:defRPr/>
              </a:pPr>
              <a:t>86</a:t>
            </a:fld>
            <a:endParaRPr lang="en-US" dirty="0"/>
          </a:p>
        </p:txBody>
      </p:sp>
      <mc:AlternateContent xmlns:mc="http://schemas.openxmlformats.org/markup-compatibility/2006" xmlns:a14="http://schemas.microsoft.com/office/drawing/2010/main">
        <mc:Choice Requires="a14">
          <p:sp>
            <p:nvSpPr>
              <p:cNvPr id="5" name="Rectangle 4"/>
              <p:cNvSpPr/>
              <p:nvPr/>
            </p:nvSpPr>
            <p:spPr>
              <a:xfrm>
                <a:off x="1541171" y="1947994"/>
                <a:ext cx="7796011" cy="2149306"/>
              </a:xfrm>
              <a:prstGeom prst="rect">
                <a:avLst/>
              </a:prstGeom>
            </p:spPr>
            <p:txBody>
              <a:bodyPr wrap="square">
                <a:spAutoFit/>
              </a:bodyPr>
              <a:lstStyle/>
              <a:p>
                <a:pPr marL="0" lvl="2" indent="0">
                  <a:buNone/>
                </a:pPr>
                <a:r>
                  <a:rPr lang="en-US" sz="2400" dirty="0"/>
                  <a:t>Minimize     </a:t>
                </a:r>
                <a14:m>
                  <m:oMath xmlns:m="http://schemas.openxmlformats.org/officeDocument/2006/math">
                    <m:nary>
                      <m:naryPr>
                        <m:chr m:val="∑"/>
                        <m:ctrlPr>
                          <a:rPr lang="en-US" sz="2400" i="1">
                            <a:latin typeface="Cambria Math" panose="02040503050406030204" pitchFamily="18" charset="0"/>
                          </a:rPr>
                        </m:ctrlPr>
                      </m:naryPr>
                      <m:sub>
                        <m:r>
                          <m:rPr>
                            <m:brk m:alnAt="23"/>
                          </m:rPr>
                          <a:rPr lang="en-US" sz="2400" i="1">
                            <a:latin typeface="Cambria Math"/>
                          </a:rPr>
                          <m:t>𝑖</m:t>
                        </m:r>
                        <m:r>
                          <a:rPr lang="en-US" sz="2400" i="1">
                            <a:latin typeface="Cambria Math"/>
                          </a:rPr>
                          <m:t>=1</m:t>
                        </m:r>
                      </m:sub>
                      <m:sup>
                        <m:r>
                          <a:rPr lang="en-US" sz="2400" i="1">
                            <a:latin typeface="Cambria Math"/>
                          </a:rPr>
                          <m:t>𝑛</m:t>
                        </m:r>
                      </m:sup>
                      <m:e>
                        <m:r>
                          <a:rPr lang="en-US" sz="2400" i="1">
                            <a:latin typeface="Cambria Math"/>
                          </a:rPr>
                          <m:t> </m:t>
                        </m:r>
                      </m:e>
                    </m:nary>
                    <m:nary>
                      <m:naryPr>
                        <m:chr m:val="∑"/>
                        <m:ctrlPr>
                          <a:rPr lang="en-US" sz="2400" i="1">
                            <a:latin typeface="Cambria Math" panose="02040503050406030204" pitchFamily="18" charset="0"/>
                          </a:rPr>
                        </m:ctrlPr>
                      </m:naryPr>
                      <m:sub>
                        <m:r>
                          <m:rPr>
                            <m:brk m:alnAt="23"/>
                          </m:rPr>
                          <a:rPr lang="en-US" sz="2400" i="1">
                            <a:latin typeface="Cambria Math"/>
                          </a:rPr>
                          <m:t>𝑗</m:t>
                        </m:r>
                        <m:r>
                          <a:rPr lang="en-US" sz="2400" i="1">
                            <a:latin typeface="Cambria Math"/>
                          </a:rPr>
                          <m:t>=1</m:t>
                        </m:r>
                      </m:sub>
                      <m:sup>
                        <m:r>
                          <a:rPr lang="en-US" sz="2400" i="1">
                            <a:latin typeface="Cambria Math"/>
                          </a:rPr>
                          <m:t>𝑚</m:t>
                        </m:r>
                      </m:sup>
                      <m:e>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n-US" sz="2400" i="1">
                                    <a:latin typeface="Cambria Math"/>
                                  </a:rPr>
                                  <m:t>𝑋</m:t>
                                </m:r>
                              </m:e>
                              <m:sub>
                                <m:r>
                                  <a:rPr lang="en-US" sz="2400" i="1">
                                    <a:latin typeface="Cambria Math"/>
                                  </a:rPr>
                                  <m:t>𝑖𝑗</m:t>
                                </m:r>
                              </m:sub>
                            </m:sSub>
                            <m:r>
                              <a:rPr lang="en-US" sz="2400" i="1">
                                <a:latin typeface="Cambria Math"/>
                              </a:rPr>
                              <m:t>𝑐</m:t>
                            </m:r>
                          </m:e>
                          <m:sub>
                            <m:r>
                              <a:rPr lang="en-US" sz="2400" i="1">
                                <a:latin typeface="Cambria Math"/>
                              </a:rPr>
                              <m:t>𝑖𝑗</m:t>
                            </m:r>
                            <m:sSub>
                              <m:sSubPr>
                                <m:ctrlPr>
                                  <a:rPr lang="en-US" sz="2400" i="1">
                                    <a:latin typeface="Cambria Math" panose="02040503050406030204" pitchFamily="18" charset="0"/>
                                  </a:rPr>
                                </m:ctrlPr>
                              </m:sSubPr>
                              <m:e>
                                <m:r>
                                  <a:rPr lang="en-US" sz="2400" i="1">
                                    <a:latin typeface="Cambria Math"/>
                                  </a:rPr>
                                  <m:t> </m:t>
                                </m:r>
                              </m:e>
                              <m:sub>
                                <m:r>
                                  <a:rPr lang="en-US" sz="2400" i="1">
                                    <a:latin typeface="Cambria Math"/>
                                  </a:rPr>
                                  <m:t> </m:t>
                                </m:r>
                              </m:sub>
                            </m:sSub>
                          </m:sub>
                        </m:sSub>
                        <m:r>
                          <a:rPr lang="en-US" sz="2400" i="1">
                            <a:latin typeface="Cambria Math"/>
                          </a:rPr>
                          <m:t>+</m:t>
                        </m:r>
                        <m:nary>
                          <m:naryPr>
                            <m:chr m:val="∑"/>
                            <m:ctrlPr>
                              <a:rPr lang="en-US" sz="2400" i="1">
                                <a:latin typeface="Cambria Math" panose="02040503050406030204" pitchFamily="18" charset="0"/>
                              </a:rPr>
                            </m:ctrlPr>
                          </m:naryPr>
                          <m:sub>
                            <m:r>
                              <m:rPr>
                                <m:brk m:alnAt="23"/>
                              </m:rPr>
                              <a:rPr lang="en-US" sz="2400" i="1">
                                <a:latin typeface="Cambria Math"/>
                              </a:rPr>
                              <m:t>𝑗</m:t>
                            </m:r>
                            <m:r>
                              <a:rPr lang="en-US" sz="2400" i="1">
                                <a:latin typeface="Cambria Math"/>
                              </a:rPr>
                              <m:t>=1</m:t>
                            </m:r>
                          </m:sub>
                          <m:sup>
                            <m:r>
                              <a:rPr lang="en-US" sz="2400" i="1">
                                <a:latin typeface="Cambria Math"/>
                              </a:rPr>
                              <m:t>𝑚</m:t>
                            </m:r>
                          </m:sup>
                          <m:e>
                            <m:sSub>
                              <m:sSubPr>
                                <m:ctrlPr>
                                  <a:rPr lang="en-US" sz="2400" i="1">
                                    <a:latin typeface="Cambria Math" panose="02040503050406030204" pitchFamily="18" charset="0"/>
                                  </a:rPr>
                                </m:ctrlPr>
                              </m:sSubPr>
                              <m:e>
                                <m:r>
                                  <a:rPr lang="en-US" sz="2400" i="1">
                                    <a:latin typeface="Cambria Math"/>
                                  </a:rPr>
                                  <m:t>𝑓</m:t>
                                </m:r>
                              </m:e>
                              <m:sub>
                                <m:r>
                                  <a:rPr lang="en-US" sz="2400" i="1">
                                    <a:latin typeface="Cambria Math"/>
                                  </a:rPr>
                                  <m:t>𝑗</m:t>
                                </m:r>
                              </m:sub>
                            </m:sSub>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n-US" sz="2400" i="1">
                                        <a:latin typeface="Cambria Math"/>
                                      </a:rPr>
                                      <m:t>𝑦</m:t>
                                    </m:r>
                                  </m:e>
                                  <m:sub>
                                    <m:r>
                                      <a:rPr lang="en-US" sz="2400" i="1">
                                        <a:latin typeface="Cambria Math"/>
                                      </a:rPr>
                                      <m:t>𝑗</m:t>
                                    </m:r>
                                  </m:sub>
                                </m:sSub>
                              </m:e>
                              <m:sub>
                                <m:r>
                                  <a:rPr lang="en-US" sz="2400" i="1">
                                    <a:latin typeface="Cambria Math"/>
                                  </a:rPr>
                                  <m:t> </m:t>
                                </m:r>
                              </m:sub>
                            </m:sSub>
                          </m:e>
                        </m:nary>
                      </m:e>
                    </m:nary>
                  </m:oMath>
                </a14:m>
                <a:endParaRPr lang="en-US" sz="2400" dirty="0"/>
              </a:p>
              <a:p>
                <a:pPr marL="0" lvl="2" indent="0">
                  <a:buNone/>
                </a:pPr>
                <a:r>
                  <a:rPr lang="en-US" sz="2400" dirty="0"/>
                  <a:t>Subject to   </a:t>
                </a:r>
                <a14:m>
                  <m:oMath xmlns:m="http://schemas.openxmlformats.org/officeDocument/2006/math">
                    <m:nary>
                      <m:naryPr>
                        <m:chr m:val="∑"/>
                        <m:ctrlPr>
                          <a:rPr lang="en-US" sz="2400" i="1">
                            <a:latin typeface="Cambria Math" panose="02040503050406030204" pitchFamily="18" charset="0"/>
                          </a:rPr>
                        </m:ctrlPr>
                      </m:naryPr>
                      <m:sub>
                        <m:r>
                          <m:rPr>
                            <m:brk m:alnAt="23"/>
                          </m:rPr>
                          <a:rPr lang="en-US" sz="2400" i="1">
                            <a:latin typeface="Cambria Math"/>
                          </a:rPr>
                          <m:t>𝑗</m:t>
                        </m:r>
                        <m:r>
                          <a:rPr lang="en-US" sz="2400" i="1">
                            <a:latin typeface="Cambria Math"/>
                          </a:rPr>
                          <m:t>=1</m:t>
                        </m:r>
                      </m:sub>
                      <m:sup>
                        <m:r>
                          <a:rPr lang="en-US" sz="2400" i="1">
                            <a:latin typeface="Cambria Math"/>
                          </a:rPr>
                          <m:t>𝑚</m:t>
                        </m:r>
                      </m:sup>
                      <m:e>
                        <m:sSub>
                          <m:sSubPr>
                            <m:ctrlPr>
                              <a:rPr lang="en-US" sz="2400" i="1">
                                <a:latin typeface="Cambria Math" panose="02040503050406030204" pitchFamily="18" charset="0"/>
                              </a:rPr>
                            </m:ctrlPr>
                          </m:sSubPr>
                          <m:e>
                            <m:r>
                              <a:rPr lang="en-US" sz="2400" i="1">
                                <a:latin typeface="Cambria Math"/>
                              </a:rPr>
                              <m:t>𝑋</m:t>
                            </m:r>
                          </m:e>
                          <m:sub>
                            <m:r>
                              <a:rPr lang="en-US" sz="2400" i="1">
                                <a:latin typeface="Cambria Math"/>
                              </a:rPr>
                              <m:t>𝑖𝑗</m:t>
                            </m:r>
                          </m:sub>
                        </m:sSub>
                        <m:r>
                          <a:rPr lang="en-US" sz="2400" i="1">
                            <a:latin typeface="Cambria Math"/>
                          </a:rPr>
                          <m:t>≥</m:t>
                        </m:r>
                        <m:r>
                          <a:rPr lang="en-US" sz="2400" i="1">
                            <a:latin typeface="Cambria Math"/>
                          </a:rPr>
                          <m:t>𝐷𝑖</m:t>
                        </m:r>
                        <m:r>
                          <a:rPr lang="en-US" sz="2400" i="1">
                            <a:latin typeface="Cambria Math"/>
                          </a:rPr>
                          <m:t>,</m:t>
                        </m:r>
                      </m:e>
                    </m:nary>
                    <m:r>
                      <a:rPr lang="en-US" sz="2400" i="1">
                        <a:latin typeface="Cambria Math"/>
                      </a:rPr>
                      <m:t>     </m:t>
                    </m:r>
                    <m:r>
                      <a:rPr lang="en-US" sz="2400" i="1">
                        <a:latin typeface="Cambria Math"/>
                      </a:rPr>
                      <m:t>𝑖</m:t>
                    </m:r>
                    <m:r>
                      <a:rPr lang="en-US" sz="2400" i="1">
                        <a:latin typeface="Cambria Math"/>
                      </a:rPr>
                      <m:t>=1,2,3,…,</m:t>
                    </m:r>
                    <m:r>
                      <a:rPr lang="en-US" sz="2400" i="1">
                        <a:latin typeface="Cambria Math"/>
                      </a:rPr>
                      <m:t>𝑛</m:t>
                    </m:r>
                  </m:oMath>
                </a14:m>
                <a:endParaRPr lang="en-US" sz="2400" i="1" dirty="0">
                  <a:latin typeface="Cambria Math"/>
                </a:endParaRPr>
              </a:p>
              <a:p>
                <a:pPr marL="0" lvl="2" indent="0">
                  <a:buNone/>
                </a:pPr>
                <a:r>
                  <a:rPr lang="en-US" sz="2400" dirty="0"/>
                  <a:t>-                    </a:t>
                </a:r>
                <a14:m>
                  <m:oMath xmlns:m="http://schemas.openxmlformats.org/officeDocument/2006/math">
                    <m:nary>
                      <m:naryPr>
                        <m:chr m:val="∑"/>
                        <m:ctrlPr>
                          <a:rPr lang="en-US" sz="2400" i="1">
                            <a:latin typeface="Cambria Math" panose="02040503050406030204" pitchFamily="18" charset="0"/>
                          </a:rPr>
                        </m:ctrlPr>
                      </m:naryPr>
                      <m:sub>
                        <m:r>
                          <a:rPr lang="en-US" sz="2400" i="1">
                            <a:latin typeface="Cambria Math"/>
                          </a:rPr>
                          <m:t>𝑖</m:t>
                        </m:r>
                        <m:r>
                          <a:rPr lang="en-US" sz="2400" i="1">
                            <a:latin typeface="Cambria Math"/>
                          </a:rPr>
                          <m:t>=1</m:t>
                        </m:r>
                      </m:sub>
                      <m:sup>
                        <m:r>
                          <a:rPr lang="en-US" sz="2400" i="1">
                            <a:latin typeface="Cambria Math"/>
                          </a:rPr>
                          <m:t>𝑛</m:t>
                        </m:r>
                      </m:sup>
                      <m:e>
                        <m:sSub>
                          <m:sSubPr>
                            <m:ctrlPr>
                              <a:rPr lang="en-US" sz="2400" i="1">
                                <a:latin typeface="Cambria Math" panose="02040503050406030204" pitchFamily="18" charset="0"/>
                              </a:rPr>
                            </m:ctrlPr>
                          </m:sSubPr>
                          <m:e>
                            <m:r>
                              <a:rPr lang="en-US" sz="2400" i="1">
                                <a:latin typeface="Cambria Math"/>
                              </a:rPr>
                              <m:t>𝑋</m:t>
                            </m:r>
                          </m:e>
                          <m:sub>
                            <m:r>
                              <a:rPr lang="en-US" sz="2400" i="1">
                                <a:latin typeface="Cambria Math"/>
                              </a:rPr>
                              <m:t>𝑖𝑗</m:t>
                            </m:r>
                          </m:sub>
                        </m:sSub>
                        <m:r>
                          <a:rPr lang="en-US" sz="2400" i="1">
                            <a:latin typeface="Cambria Math"/>
                          </a:rPr>
                          <m:t>≤</m:t>
                        </m:r>
                      </m:e>
                    </m:nary>
                    <m:sSub>
                      <m:sSubPr>
                        <m:ctrlPr>
                          <a:rPr lang="en-US" sz="2400" i="1">
                            <a:latin typeface="Cambria Math" panose="02040503050406030204" pitchFamily="18" charset="0"/>
                          </a:rPr>
                        </m:ctrlPr>
                      </m:sSubPr>
                      <m:e>
                        <m:r>
                          <a:rPr lang="en-US" sz="2400" i="1">
                            <a:latin typeface="Cambria Math"/>
                          </a:rPr>
                          <m:t>𝑀𝑦</m:t>
                        </m:r>
                      </m:e>
                      <m:sub>
                        <m:r>
                          <a:rPr lang="en-US" sz="2400" i="1">
                            <a:latin typeface="Cambria Math"/>
                          </a:rPr>
                          <m:t>𝑗</m:t>
                        </m:r>
                      </m:sub>
                    </m:sSub>
                    <m:r>
                      <a:rPr lang="en-US" sz="2400" i="1">
                        <a:latin typeface="Cambria Math"/>
                      </a:rPr>
                      <m:t>,  </m:t>
                    </m:r>
                    <m:r>
                      <a:rPr lang="en-US" sz="2400" i="1">
                        <a:latin typeface="Cambria Math"/>
                      </a:rPr>
                      <m:t>𝑗</m:t>
                    </m:r>
                    <m:r>
                      <a:rPr lang="en-US" sz="2400" i="1">
                        <a:latin typeface="Cambria Math"/>
                      </a:rPr>
                      <m:t>=1,2,3,…,</m:t>
                    </m:r>
                    <m:r>
                      <a:rPr lang="en-US" sz="2400" i="1">
                        <a:latin typeface="Cambria Math"/>
                      </a:rPr>
                      <m:t>𝑚</m:t>
                    </m:r>
                  </m:oMath>
                </a14:m>
                <a:endParaRPr lang="en-US" sz="2400" dirty="0"/>
              </a:p>
              <a:p>
                <a:pPr marL="342900" lvl="2" indent="-342900">
                  <a:buFontTx/>
                  <a:buChar char="-"/>
                </a:pP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   </m:t>
                        </m:r>
                        <m:r>
                          <a:rPr lang="en-US" sz="2400" i="1">
                            <a:latin typeface="Cambria Math"/>
                          </a:rPr>
                          <m:t>𝑋</m:t>
                        </m:r>
                      </m:e>
                      <m:sub>
                        <m:r>
                          <a:rPr lang="en-US" sz="2400" i="1">
                            <a:latin typeface="Cambria Math"/>
                          </a:rPr>
                          <m:t>𝑖𝑗</m:t>
                        </m:r>
                      </m:sub>
                    </m:sSub>
                    <m:r>
                      <a:rPr lang="en-US" sz="2400" i="1">
                        <a:latin typeface="Cambria Math"/>
                      </a:rPr>
                      <m:t>≥0,                  </m:t>
                    </m:r>
                    <m:r>
                      <a:rPr lang="en-US" sz="2400" i="1">
                        <a:latin typeface="Cambria Math"/>
                      </a:rPr>
                      <m:t>𝑖</m:t>
                    </m:r>
                    <m:r>
                      <a:rPr lang="en-US" sz="2400" i="1">
                        <a:latin typeface="Cambria Math"/>
                      </a:rPr>
                      <m:t>=1,2,3,…,</m:t>
                    </m:r>
                    <m:r>
                      <a:rPr lang="en-US" sz="2400" i="1">
                        <a:latin typeface="Cambria Math"/>
                      </a:rPr>
                      <m:t>𝑛</m:t>
                    </m:r>
                    <m:r>
                      <a:rPr lang="en-US" sz="2400" i="1">
                        <a:latin typeface="Cambria Math"/>
                      </a:rPr>
                      <m:t>,</m:t>
                    </m:r>
                    <m:r>
                      <a:rPr lang="en-US" sz="2400" i="1">
                        <a:latin typeface="Cambria Math"/>
                      </a:rPr>
                      <m:t>𝑗</m:t>
                    </m:r>
                    <m:r>
                      <a:rPr lang="en-US" sz="2400" i="1">
                        <a:latin typeface="Cambria Math"/>
                      </a:rPr>
                      <m:t>=1,2,3,…,</m:t>
                    </m:r>
                    <m:r>
                      <a:rPr lang="en-US" sz="2400" i="1">
                        <a:latin typeface="Cambria Math"/>
                      </a:rPr>
                      <m:t>𝑚</m:t>
                    </m:r>
                  </m:oMath>
                </a14:m>
                <a:endParaRPr lang="en-US" sz="2400" dirty="0"/>
              </a:p>
              <a:p>
                <a:pPr marL="342900" lvl="2" indent="-342900">
                  <a:buFontTx/>
                  <a:buChar char="-"/>
                </a:pPr>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𝑦</m:t>
                        </m:r>
                      </m:e>
                      <m:sub>
                        <m:r>
                          <a:rPr lang="en-US" sz="2400" i="1">
                            <a:latin typeface="Cambria Math"/>
                          </a:rPr>
                          <m:t>𝑗</m:t>
                        </m:r>
                      </m:sub>
                    </m:sSub>
                    <m:r>
                      <m:rPr>
                        <m:nor/>
                      </m:rPr>
                      <a:rPr lang="en-US" sz="2400" dirty="0">
                        <a:sym typeface="Symbol"/>
                      </a:rPr>
                      <m:t></m:t>
                    </m:r>
                  </m:oMath>
                </a14:m>
                <a:r>
                  <a:rPr lang="en-US" sz="2400" i="1" dirty="0">
                    <a:latin typeface="Cambria Math"/>
                  </a:rPr>
                  <a:t>{0,1},                j=1,2,3,…,m</a:t>
                </a:r>
              </a:p>
            </p:txBody>
          </p:sp>
        </mc:Choice>
        <mc:Fallback xmlns="">
          <p:sp>
            <p:nvSpPr>
              <p:cNvPr id="5" name="Rectangle 4"/>
              <p:cNvSpPr>
                <a:spLocks noRot="1" noChangeAspect="1" noMove="1" noResize="1" noEditPoints="1" noAdjustHandles="1" noChangeArrowheads="1" noChangeShapeType="1" noTextEdit="1"/>
              </p:cNvSpPr>
              <p:nvPr/>
            </p:nvSpPr>
            <p:spPr>
              <a:xfrm>
                <a:off x="1541171" y="1947994"/>
                <a:ext cx="7796011" cy="2149306"/>
              </a:xfrm>
              <a:prstGeom prst="rect">
                <a:avLst/>
              </a:prstGeom>
              <a:blipFill rotWithShape="0">
                <a:blip r:embed="rId2"/>
                <a:stretch>
                  <a:fillRect l="-1251" t="-27841" b="-4545"/>
                </a:stretch>
              </a:blipFill>
            </p:spPr>
            <p:txBody>
              <a:bodyPr/>
              <a:lstStyle/>
              <a:p>
                <a:r>
                  <a:rPr lang="en-US">
                    <a:noFill/>
                  </a:rPr>
                  <a:t> </a:t>
                </a:r>
              </a:p>
            </p:txBody>
          </p:sp>
        </mc:Fallback>
      </mc:AlternateContent>
    </p:spTree>
    <p:extLst>
      <p:ext uri="{BB962C8B-B14F-4D97-AF65-F5344CB8AC3E}">
        <p14:creationId xmlns:p14="http://schemas.microsoft.com/office/powerpoint/2010/main" val="15676207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solidFill>
            <a:schemeClr val="bg2"/>
          </a:solidFill>
          <a:tailEnd type="stealth" w="lg" len="lg"/>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9670</TotalTime>
  <Words>8358</Words>
  <Application>Microsoft Macintosh PowerPoint</Application>
  <PresentationFormat>Widescreen</PresentationFormat>
  <Paragraphs>1304</Paragraphs>
  <Slides>86</Slides>
  <Notes>35</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86</vt:i4>
      </vt:variant>
    </vt:vector>
  </HeadingPairs>
  <TitlesOfParts>
    <vt:vector size="99" baseType="lpstr">
      <vt:lpstr>ＭＳ Ｐゴシック</vt:lpstr>
      <vt:lpstr>TimesNewRomanPSMT</vt:lpstr>
      <vt:lpstr>Arial</vt:lpstr>
      <vt:lpstr>Calibri</vt:lpstr>
      <vt:lpstr>Calibri Light</vt:lpstr>
      <vt:lpstr>Cambria Math</vt:lpstr>
      <vt:lpstr>Garamond</vt:lpstr>
      <vt:lpstr>Symbol</vt:lpstr>
      <vt:lpstr>Times New Roman</vt:lpstr>
      <vt:lpstr>Wingdings</vt:lpstr>
      <vt:lpstr>Office Theme</vt:lpstr>
      <vt:lpstr>Edge</vt:lpstr>
      <vt:lpstr>Worksheet</vt:lpstr>
      <vt:lpstr> ANLY 5332   Department of Information Systems and Analytics McCoy College of Business Administration Texas State University</vt:lpstr>
      <vt:lpstr>Outline</vt:lpstr>
      <vt:lpstr>Outline</vt:lpstr>
      <vt:lpstr>Integer/Binary Programming</vt:lpstr>
      <vt:lpstr>Integer/Binary Programming</vt:lpstr>
      <vt:lpstr>Integer/Binary Programming</vt:lpstr>
      <vt:lpstr>Integer/Binary Programming</vt:lpstr>
      <vt:lpstr>Integer/Binary Programming</vt:lpstr>
      <vt:lpstr>Integer/Binary Programming</vt:lpstr>
      <vt:lpstr>Integer/Binary Programming</vt:lpstr>
      <vt:lpstr>Integer/Binary Programming</vt:lpstr>
      <vt:lpstr>Integer/Binary Programming</vt:lpstr>
      <vt:lpstr>Integer/Binary Programming</vt:lpstr>
      <vt:lpstr>Outline</vt:lpstr>
      <vt:lpstr>Conditional Constraints Modeling</vt:lpstr>
      <vt:lpstr>Conditional Constraints Modeling</vt:lpstr>
      <vt:lpstr>Conditional Constraints Modeling</vt:lpstr>
      <vt:lpstr>Conditional Constraints Modeling</vt:lpstr>
      <vt:lpstr>Conditional Constraints Modeling</vt:lpstr>
      <vt:lpstr>Conditional Constraints Modeling</vt:lpstr>
      <vt:lpstr>Conditional Constraints Modeling</vt:lpstr>
      <vt:lpstr>Conditional Constraints Modeling</vt:lpstr>
      <vt:lpstr>Outline</vt:lpstr>
      <vt:lpstr>Mixed-Integer Programming</vt:lpstr>
      <vt:lpstr>Mixed-Integer Programming</vt:lpstr>
      <vt:lpstr>Mixed-Integer Programming</vt:lpstr>
      <vt:lpstr>Mixed-Integer Programming</vt:lpstr>
      <vt:lpstr>PowerPoint Presentation</vt:lpstr>
      <vt:lpstr>Mixed-Integer Programming</vt:lpstr>
      <vt:lpstr>Mixed-Integer Programming</vt:lpstr>
      <vt:lpstr>Mixed-Integer Programming</vt:lpstr>
      <vt:lpstr>Mixed-Integer Programming</vt:lpstr>
      <vt:lpstr>Outline</vt:lpstr>
      <vt:lpstr>Solution Concepts</vt:lpstr>
      <vt:lpstr>Solution Concepts</vt:lpstr>
      <vt:lpstr>Solution Concepts</vt:lpstr>
      <vt:lpstr>Solution Concepts</vt:lpstr>
      <vt:lpstr>Solution Concepts</vt:lpstr>
      <vt:lpstr>Solution Concepts</vt:lpstr>
      <vt:lpstr>Solution Concepts</vt:lpstr>
      <vt:lpstr>Solution Concepts</vt:lpstr>
      <vt:lpstr>Branch and Bound</vt:lpstr>
      <vt:lpstr>Branch and Bound</vt:lpstr>
      <vt:lpstr>Branch and Bound</vt:lpstr>
      <vt:lpstr>Branch and Bound</vt:lpstr>
      <vt:lpstr>Branch and Bound</vt:lpstr>
      <vt:lpstr>Branch and Bound</vt:lpstr>
      <vt:lpstr>Branch and Bound</vt:lpstr>
      <vt:lpstr>Heuristics</vt:lpstr>
      <vt:lpstr>Outline</vt:lpstr>
      <vt:lpstr>Mixed-Integer Programming</vt:lpstr>
      <vt:lpstr>Mixed-Integer Programming</vt:lpstr>
      <vt:lpstr>Mixed-Integer Programming</vt:lpstr>
      <vt:lpstr>Mixed-Integer Programming</vt:lpstr>
      <vt:lpstr>Mixed-Integer Programming</vt:lpstr>
      <vt:lpstr>Mixed-Integer Programming</vt:lpstr>
      <vt:lpstr>Mixed-Integer Programming</vt:lpstr>
      <vt:lpstr>Site Selection</vt:lpstr>
      <vt:lpstr>Site Selection</vt:lpstr>
      <vt:lpstr>Site Selection</vt:lpstr>
      <vt:lpstr>Site Selection</vt:lpstr>
      <vt:lpstr>Site Selection</vt:lpstr>
      <vt:lpstr>Crew Scheduling</vt:lpstr>
      <vt:lpstr>Crew Scheduling</vt:lpstr>
      <vt:lpstr>Crew Scheduling</vt:lpstr>
      <vt:lpstr>Crew Scheduling</vt:lpstr>
      <vt:lpstr>Crew Scheduling</vt:lpstr>
      <vt:lpstr>Crew Scheduling</vt:lpstr>
      <vt:lpstr>Production Planning</vt:lpstr>
      <vt:lpstr>Production Planning</vt:lpstr>
      <vt:lpstr>Production Planning</vt:lpstr>
      <vt:lpstr>Production Planning</vt:lpstr>
      <vt:lpstr>Production Planning</vt:lpstr>
      <vt:lpstr>Production Planning</vt:lpstr>
      <vt:lpstr>Production Planning</vt:lpstr>
      <vt:lpstr>Production Planning</vt:lpstr>
      <vt:lpstr>Outline</vt:lpstr>
      <vt:lpstr>Distribution Network Design</vt:lpstr>
      <vt:lpstr>Distribution Network Design</vt:lpstr>
      <vt:lpstr>Distribution Network Design</vt:lpstr>
      <vt:lpstr>Distribution Network Design</vt:lpstr>
      <vt:lpstr>Distribution Network Design</vt:lpstr>
      <vt:lpstr>Distribution Network Design</vt:lpstr>
      <vt:lpstr>Integrated Facility Location-Transportation</vt:lpstr>
      <vt:lpstr>Integrated Facility Location-Transportation</vt:lpstr>
      <vt:lpstr>Mixed-Integer Programming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QMST 5332 by Sahika Sahan Konur  Department of Information Systems and Analytics McCoy College of Business Administration Texas State University</dc:title>
  <dc:creator/>
  <cp:lastModifiedBy>Lin, Zewei (linzw)</cp:lastModifiedBy>
  <cp:revision>3</cp:revision>
  <dcterms:created xsi:type="dcterms:W3CDTF">2018-08-17T02:14:39Z</dcterms:created>
  <dcterms:modified xsi:type="dcterms:W3CDTF">2024-10-28T05:41:47Z</dcterms:modified>
</cp:coreProperties>
</file>