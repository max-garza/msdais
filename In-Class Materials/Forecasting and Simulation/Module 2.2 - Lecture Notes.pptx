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374" r:id="rId3"/>
    <p:sldId id="260" r:id="rId4"/>
    <p:sldId id="758" r:id="rId5"/>
    <p:sldId id="722" r:id="rId6"/>
    <p:sldId id="746" r:id="rId7"/>
    <p:sldId id="747" r:id="rId8"/>
    <p:sldId id="723" r:id="rId9"/>
    <p:sldId id="748" r:id="rId10"/>
    <p:sldId id="759" r:id="rId11"/>
    <p:sldId id="338" r:id="rId12"/>
    <p:sldId id="726" r:id="rId13"/>
    <p:sldId id="727" r:id="rId14"/>
    <p:sldId id="728" r:id="rId15"/>
    <p:sldId id="729" r:id="rId16"/>
    <p:sldId id="343" r:id="rId17"/>
    <p:sldId id="344" r:id="rId18"/>
    <p:sldId id="345" r:id="rId19"/>
    <p:sldId id="346" r:id="rId20"/>
    <p:sldId id="730" r:id="rId21"/>
    <p:sldId id="734" r:id="rId22"/>
    <p:sldId id="735" r:id="rId23"/>
    <p:sldId id="736" r:id="rId24"/>
    <p:sldId id="737" r:id="rId25"/>
    <p:sldId id="738" r:id="rId26"/>
    <p:sldId id="359" r:id="rId27"/>
    <p:sldId id="760" r:id="rId28"/>
    <p:sldId id="740" r:id="rId29"/>
    <p:sldId id="741" r:id="rId30"/>
    <p:sldId id="743" r:id="rId31"/>
    <p:sldId id="757" r:id="rId32"/>
    <p:sldId id="368" r:id="rId33"/>
    <p:sldId id="369" r:id="rId34"/>
    <p:sldId id="370" r:id="rId35"/>
    <p:sldId id="75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7D6B"/>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15" autoAdjust="0"/>
    <p:restoredTop sz="84325" autoAdjust="0"/>
  </p:normalViewPr>
  <p:slideViewPr>
    <p:cSldViewPr snapToGrid="0">
      <p:cViewPr varScale="1">
        <p:scale>
          <a:sx n="96" d="100"/>
          <a:sy n="96" d="100"/>
        </p:scale>
        <p:origin x="118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cer Konur" userId="0cb337efb386619d" providerId="LiveId" clId="{1BE7F59B-223B-433C-B97B-A4CDF73A1E02}"/>
    <pc:docChg chg="undo custSel delSld modSld">
      <pc:chgData name="Dincer Konur" userId="0cb337efb386619d" providerId="LiveId" clId="{1BE7F59B-223B-433C-B97B-A4CDF73A1E02}" dt="2019-07-26T20:15:02.734" v="90" actId="20577"/>
      <pc:docMkLst>
        <pc:docMk/>
      </pc:docMkLst>
      <pc:sldChg chg="modSp">
        <pc:chgData name="Dincer Konur" userId="0cb337efb386619d" providerId="LiveId" clId="{1BE7F59B-223B-433C-B97B-A4CDF73A1E02}" dt="2019-07-26T20:15:02.734" v="90" actId="20577"/>
        <pc:sldMkLst>
          <pc:docMk/>
          <pc:sldMk cId="2474569206" sldId="260"/>
        </pc:sldMkLst>
        <pc:spChg chg="mod">
          <ac:chgData name="Dincer Konur" userId="0cb337efb386619d" providerId="LiveId" clId="{1BE7F59B-223B-433C-B97B-A4CDF73A1E02}" dt="2019-07-26T20:15:02.734" v="90" actId="20577"/>
          <ac:spMkLst>
            <pc:docMk/>
            <pc:sldMk cId="2474569206" sldId="260"/>
            <ac:spMk id="3" creationId="{00000000-0000-0000-0000-000000000000}"/>
          </ac:spMkLst>
        </pc:spChg>
      </pc:sldChg>
    </pc:docChg>
  </pc:docChgLst>
  <pc:docChgLst>
    <pc:chgData name="Dincer Konur" userId="0cb337efb386619d" providerId="LiveId" clId="{5BD569B1-74C3-4593-9EC2-60C3C8760E52}"/>
    <pc:docChg chg="undo custSel addSld delSld modSld sldOrd">
      <pc:chgData name="Dincer Konur" userId="0cb337efb386619d" providerId="LiveId" clId="{5BD569B1-74C3-4593-9EC2-60C3C8760E52}" dt="2019-08-03T01:23:53.883" v="4460"/>
      <pc:docMkLst>
        <pc:docMk/>
      </pc:docMkLst>
      <pc:sldChg chg="addSp modSp">
        <pc:chgData name="Dincer Konur" userId="0cb337efb386619d" providerId="LiveId" clId="{5BD569B1-74C3-4593-9EC2-60C3C8760E52}" dt="2019-07-30T16:29:09.011" v="128" actId="20577"/>
        <pc:sldMkLst>
          <pc:docMk/>
          <pc:sldMk cId="2474569206" sldId="260"/>
        </pc:sldMkLst>
        <pc:spChg chg="mod">
          <ac:chgData name="Dincer Konur" userId="0cb337efb386619d" providerId="LiveId" clId="{5BD569B1-74C3-4593-9EC2-60C3C8760E52}" dt="2019-07-30T16:21:59.619" v="8" actId="20577"/>
          <ac:spMkLst>
            <pc:docMk/>
            <pc:sldMk cId="2474569206" sldId="260"/>
            <ac:spMk id="2" creationId="{00000000-0000-0000-0000-000000000000}"/>
          </ac:spMkLst>
        </pc:spChg>
        <pc:spChg chg="mod">
          <ac:chgData name="Dincer Konur" userId="0cb337efb386619d" providerId="LiveId" clId="{5BD569B1-74C3-4593-9EC2-60C3C8760E52}" dt="2019-07-30T16:24:11.744" v="27" actId="14100"/>
          <ac:spMkLst>
            <pc:docMk/>
            <pc:sldMk cId="2474569206" sldId="260"/>
            <ac:spMk id="5" creationId="{00000000-0000-0000-0000-000000000000}"/>
          </ac:spMkLst>
        </pc:spChg>
        <pc:spChg chg="mod">
          <ac:chgData name="Dincer Konur" userId="0cb337efb386619d" providerId="LiveId" clId="{5BD569B1-74C3-4593-9EC2-60C3C8760E52}" dt="2019-07-30T16:24:21.835" v="30" actId="14100"/>
          <ac:spMkLst>
            <pc:docMk/>
            <pc:sldMk cId="2474569206" sldId="260"/>
            <ac:spMk id="6" creationId="{00000000-0000-0000-0000-000000000000}"/>
          </ac:spMkLst>
        </pc:spChg>
        <pc:spChg chg="mod">
          <ac:chgData name="Dincer Konur" userId="0cb337efb386619d" providerId="LiveId" clId="{5BD569B1-74C3-4593-9EC2-60C3C8760E52}" dt="2019-07-30T16:29:03.326" v="117" actId="20577"/>
          <ac:spMkLst>
            <pc:docMk/>
            <pc:sldMk cId="2474569206" sldId="260"/>
            <ac:spMk id="7" creationId="{00000000-0000-0000-0000-000000000000}"/>
          </ac:spMkLst>
        </pc:spChg>
        <pc:spChg chg="mod">
          <ac:chgData name="Dincer Konur" userId="0cb337efb386619d" providerId="LiveId" clId="{5BD569B1-74C3-4593-9EC2-60C3C8760E52}" dt="2019-07-30T16:29:09.011" v="128" actId="20577"/>
          <ac:spMkLst>
            <pc:docMk/>
            <pc:sldMk cId="2474569206" sldId="260"/>
            <ac:spMk id="8" creationId="{00000000-0000-0000-0000-000000000000}"/>
          </ac:spMkLst>
        </pc:spChg>
        <pc:spChg chg="add mod">
          <ac:chgData name="Dincer Konur" userId="0cb337efb386619d" providerId="LiveId" clId="{5BD569B1-74C3-4593-9EC2-60C3C8760E52}" dt="2019-07-30T16:24:48.302" v="34" actId="14100"/>
          <ac:spMkLst>
            <pc:docMk/>
            <pc:sldMk cId="2474569206" sldId="260"/>
            <ac:spMk id="9" creationId="{3162BF6F-75FF-4673-A9CB-0DA9F6BB1552}"/>
          </ac:spMkLst>
        </pc:spChg>
        <pc:spChg chg="add mod">
          <ac:chgData name="Dincer Konur" userId="0cb337efb386619d" providerId="LiveId" clId="{5BD569B1-74C3-4593-9EC2-60C3C8760E52}" dt="2019-07-30T16:24:51.355" v="35" actId="1076"/>
          <ac:spMkLst>
            <pc:docMk/>
            <pc:sldMk cId="2474569206" sldId="260"/>
            <ac:spMk id="10" creationId="{F19FBB87-98B6-499F-8329-DAEE1513B32D}"/>
          </ac:spMkLst>
        </pc:spChg>
      </pc:sldChg>
      <pc:sldChg chg="modSp">
        <pc:chgData name="Dincer Konur" userId="0cb337efb386619d" providerId="LiveId" clId="{5BD569B1-74C3-4593-9EC2-60C3C8760E52}" dt="2019-07-31T19:17:34.385" v="669" actId="20577"/>
        <pc:sldMkLst>
          <pc:docMk/>
          <pc:sldMk cId="3790253861" sldId="660"/>
        </pc:sldMkLst>
        <pc:spChg chg="mod">
          <ac:chgData name="Dincer Konur" userId="0cb337efb386619d" providerId="LiveId" clId="{5BD569B1-74C3-4593-9EC2-60C3C8760E52}" dt="2019-07-31T19:17:34.385" v="669" actId="20577"/>
          <ac:spMkLst>
            <pc:docMk/>
            <pc:sldMk cId="3790253861" sldId="660"/>
            <ac:spMk id="3" creationId="{00000000-0000-0000-0000-000000000000}"/>
          </ac:spMkLst>
        </pc:spChg>
      </pc:sldChg>
      <pc:sldChg chg="modSp">
        <pc:chgData name="Dincer Konur" userId="0cb337efb386619d" providerId="LiveId" clId="{5BD569B1-74C3-4593-9EC2-60C3C8760E52}" dt="2019-07-31T19:17:17.978" v="655" actId="20577"/>
        <pc:sldMkLst>
          <pc:docMk/>
          <pc:sldMk cId="3899922744" sldId="665"/>
        </pc:sldMkLst>
        <pc:spChg chg="mod">
          <ac:chgData name="Dincer Konur" userId="0cb337efb386619d" providerId="LiveId" clId="{5BD569B1-74C3-4593-9EC2-60C3C8760E52}" dt="2019-07-31T19:17:17.978" v="655" actId="20577"/>
          <ac:spMkLst>
            <pc:docMk/>
            <pc:sldMk cId="3899922744" sldId="665"/>
            <ac:spMk id="3" creationId="{00000000-0000-0000-0000-000000000000}"/>
          </ac:spMkLst>
        </pc:spChg>
      </pc:sldChg>
      <pc:sldChg chg="modSp">
        <pc:chgData name="Dincer Konur" userId="0cb337efb386619d" providerId="LiveId" clId="{5BD569B1-74C3-4593-9EC2-60C3C8760E52}" dt="2019-07-31T19:18:36.750" v="683" actId="20577"/>
        <pc:sldMkLst>
          <pc:docMk/>
          <pc:sldMk cId="143377859" sldId="671"/>
        </pc:sldMkLst>
        <pc:spChg chg="mod">
          <ac:chgData name="Dincer Konur" userId="0cb337efb386619d" providerId="LiveId" clId="{5BD569B1-74C3-4593-9EC2-60C3C8760E52}" dt="2019-07-31T19:18:36.750" v="683" actId="20577"/>
          <ac:spMkLst>
            <pc:docMk/>
            <pc:sldMk cId="143377859" sldId="671"/>
            <ac:spMk id="3" creationId="{00000000-0000-0000-0000-000000000000}"/>
          </ac:spMkLst>
        </pc:spChg>
      </pc:sldChg>
      <pc:sldChg chg="modSp">
        <pc:chgData name="Dincer Konur" userId="0cb337efb386619d" providerId="LiveId" clId="{5BD569B1-74C3-4593-9EC2-60C3C8760E52}" dt="2019-07-31T19:18:50.026" v="697" actId="20577"/>
        <pc:sldMkLst>
          <pc:docMk/>
          <pc:sldMk cId="3613807806" sldId="678"/>
        </pc:sldMkLst>
        <pc:spChg chg="mod">
          <ac:chgData name="Dincer Konur" userId="0cb337efb386619d" providerId="LiveId" clId="{5BD569B1-74C3-4593-9EC2-60C3C8760E52}" dt="2019-07-31T19:18:50.026" v="697" actId="20577"/>
          <ac:spMkLst>
            <pc:docMk/>
            <pc:sldMk cId="3613807806" sldId="678"/>
            <ac:spMk id="3" creationId="{00000000-0000-0000-0000-000000000000}"/>
          </ac:spMkLst>
        </pc:spChg>
      </pc:sldChg>
      <pc:sldChg chg="delSp modSp add">
        <pc:chgData name="Dincer Konur" userId="0cb337efb386619d" providerId="LiveId" clId="{5BD569B1-74C3-4593-9EC2-60C3C8760E52}" dt="2019-07-30T16:29:17.122" v="134" actId="20577"/>
        <pc:sldMkLst>
          <pc:docMk/>
          <pc:sldMk cId="1134060834" sldId="702"/>
        </pc:sldMkLst>
        <pc:spChg chg="mod">
          <ac:chgData name="Dincer Konur" userId="0cb337efb386619d" providerId="LiveId" clId="{5BD569B1-74C3-4593-9EC2-60C3C8760E52}" dt="2019-07-30T16:25:25.072" v="55" actId="20577"/>
          <ac:spMkLst>
            <pc:docMk/>
            <pc:sldMk cId="1134060834" sldId="702"/>
            <ac:spMk id="2" creationId="{00000000-0000-0000-0000-000000000000}"/>
          </ac:spMkLst>
        </pc:spChg>
        <pc:spChg chg="mod">
          <ac:chgData name="Dincer Konur" userId="0cb337efb386619d" providerId="LiveId" clId="{5BD569B1-74C3-4593-9EC2-60C3C8760E52}" dt="2019-07-30T16:25:34.896" v="57" actId="20577"/>
          <ac:spMkLst>
            <pc:docMk/>
            <pc:sldMk cId="1134060834" sldId="702"/>
            <ac:spMk id="3" creationId="{00000000-0000-0000-0000-000000000000}"/>
          </ac:spMkLst>
        </pc:spChg>
        <pc:spChg chg="del">
          <ac:chgData name="Dincer Konur" userId="0cb337efb386619d" providerId="LiveId" clId="{5BD569B1-74C3-4593-9EC2-60C3C8760E52}" dt="2019-07-30T16:25:32.567" v="56" actId="478"/>
          <ac:spMkLst>
            <pc:docMk/>
            <pc:sldMk cId="1134060834" sldId="702"/>
            <ac:spMk id="6" creationId="{00000000-0000-0000-0000-000000000000}"/>
          </ac:spMkLst>
        </pc:spChg>
        <pc:spChg chg="mod">
          <ac:chgData name="Dincer Konur" userId="0cb337efb386619d" providerId="LiveId" clId="{5BD569B1-74C3-4593-9EC2-60C3C8760E52}" dt="2019-07-30T16:29:17.122" v="134" actId="20577"/>
          <ac:spMkLst>
            <pc:docMk/>
            <pc:sldMk cId="1134060834" sldId="702"/>
            <ac:spMk id="7" creationId="{00000000-0000-0000-0000-000000000000}"/>
          </ac:spMkLst>
        </pc:spChg>
        <pc:spChg chg="del">
          <ac:chgData name="Dincer Konur" userId="0cb337efb386619d" providerId="LiveId" clId="{5BD569B1-74C3-4593-9EC2-60C3C8760E52}" dt="2019-07-30T16:25:32.567" v="56" actId="478"/>
          <ac:spMkLst>
            <pc:docMk/>
            <pc:sldMk cId="1134060834" sldId="702"/>
            <ac:spMk id="8" creationId="{00000000-0000-0000-0000-000000000000}"/>
          </ac:spMkLst>
        </pc:spChg>
        <pc:spChg chg="del">
          <ac:chgData name="Dincer Konur" userId="0cb337efb386619d" providerId="LiveId" clId="{5BD569B1-74C3-4593-9EC2-60C3C8760E52}" dt="2019-07-30T16:25:32.567" v="56" actId="478"/>
          <ac:spMkLst>
            <pc:docMk/>
            <pc:sldMk cId="1134060834" sldId="702"/>
            <ac:spMk id="9" creationId="{3162BF6F-75FF-4673-A9CB-0DA9F6BB1552}"/>
          </ac:spMkLst>
        </pc:spChg>
        <pc:spChg chg="del">
          <ac:chgData name="Dincer Konur" userId="0cb337efb386619d" providerId="LiveId" clId="{5BD569B1-74C3-4593-9EC2-60C3C8760E52}" dt="2019-07-30T16:25:32.567" v="56" actId="478"/>
          <ac:spMkLst>
            <pc:docMk/>
            <pc:sldMk cId="1134060834" sldId="702"/>
            <ac:spMk id="10" creationId="{F19FBB87-98B6-499F-8329-DAEE1513B32D}"/>
          </ac:spMkLst>
        </pc:spChg>
      </pc:sldChg>
      <pc:sldChg chg="delSp modSp add">
        <pc:chgData name="Dincer Konur" userId="0cb337efb386619d" providerId="LiveId" clId="{5BD569B1-74C3-4593-9EC2-60C3C8760E52}" dt="2019-07-30T16:26:35.770" v="77" actId="207"/>
        <pc:sldMkLst>
          <pc:docMk/>
          <pc:sldMk cId="3879332444" sldId="703"/>
        </pc:sldMkLst>
        <pc:spChg chg="mod">
          <ac:chgData name="Dincer Konur" userId="0cb337efb386619d" providerId="LiveId" clId="{5BD569B1-74C3-4593-9EC2-60C3C8760E52}" dt="2019-07-30T16:26:02.214" v="65" actId="20577"/>
          <ac:spMkLst>
            <pc:docMk/>
            <pc:sldMk cId="3879332444" sldId="703"/>
            <ac:spMk id="2" creationId="{00000000-0000-0000-0000-000000000000}"/>
          </ac:spMkLst>
        </pc:spChg>
        <pc:spChg chg="mod">
          <ac:chgData name="Dincer Konur" userId="0cb337efb386619d" providerId="LiveId" clId="{5BD569B1-74C3-4593-9EC2-60C3C8760E52}" dt="2019-07-30T16:26:35.770" v="77" actId="207"/>
          <ac:spMkLst>
            <pc:docMk/>
            <pc:sldMk cId="3879332444" sldId="703"/>
            <ac:spMk id="3" creationId="{00000000-0000-0000-0000-000000000000}"/>
          </ac:spMkLst>
        </pc:spChg>
        <pc:spChg chg="del">
          <ac:chgData name="Dincer Konur" userId="0cb337efb386619d" providerId="LiveId" clId="{5BD569B1-74C3-4593-9EC2-60C3C8760E52}" dt="2019-07-30T16:26:07.166" v="67" actId="478"/>
          <ac:spMkLst>
            <pc:docMk/>
            <pc:sldMk cId="3879332444" sldId="703"/>
            <ac:spMk id="5" creationId="{00000000-0000-0000-0000-000000000000}"/>
          </ac:spMkLst>
        </pc:spChg>
        <pc:spChg chg="del">
          <ac:chgData name="Dincer Konur" userId="0cb337efb386619d" providerId="LiveId" clId="{5BD569B1-74C3-4593-9EC2-60C3C8760E52}" dt="2019-07-30T16:26:05.975" v="66" actId="478"/>
          <ac:spMkLst>
            <pc:docMk/>
            <pc:sldMk cId="3879332444" sldId="703"/>
            <ac:spMk id="7" creationId="{00000000-0000-0000-0000-000000000000}"/>
          </ac:spMkLst>
        </pc:spChg>
      </pc:sldChg>
      <pc:sldChg chg="modSp add ord">
        <pc:chgData name="Dincer Konur" userId="0cb337efb386619d" providerId="LiveId" clId="{5BD569B1-74C3-4593-9EC2-60C3C8760E52}" dt="2019-07-30T16:27:36.037" v="84"/>
        <pc:sldMkLst>
          <pc:docMk/>
          <pc:sldMk cId="4272088725" sldId="704"/>
        </pc:sldMkLst>
        <pc:spChg chg="mod">
          <ac:chgData name="Dincer Konur" userId="0cb337efb386619d" providerId="LiveId" clId="{5BD569B1-74C3-4593-9EC2-60C3C8760E52}" dt="2019-07-30T16:26:14.712" v="72" actId="20577"/>
          <ac:spMkLst>
            <pc:docMk/>
            <pc:sldMk cId="4272088725" sldId="704"/>
            <ac:spMk id="2" creationId="{00000000-0000-0000-0000-000000000000}"/>
          </ac:spMkLst>
        </pc:spChg>
        <pc:spChg chg="mod">
          <ac:chgData name="Dincer Konur" userId="0cb337efb386619d" providerId="LiveId" clId="{5BD569B1-74C3-4593-9EC2-60C3C8760E52}" dt="2019-07-30T16:26:45.752" v="79" actId="207"/>
          <ac:spMkLst>
            <pc:docMk/>
            <pc:sldMk cId="4272088725" sldId="704"/>
            <ac:spMk id="3" creationId="{00000000-0000-0000-0000-000000000000}"/>
          </ac:spMkLst>
        </pc:spChg>
      </pc:sldChg>
      <pc:sldChg chg="modSp add ord">
        <pc:chgData name="Dincer Konur" userId="0cb337efb386619d" providerId="LiveId" clId="{5BD569B1-74C3-4593-9EC2-60C3C8760E52}" dt="2019-07-30T16:27:50.897" v="86"/>
        <pc:sldMkLst>
          <pc:docMk/>
          <pc:sldMk cId="555784850" sldId="705"/>
        </pc:sldMkLst>
        <pc:spChg chg="mod">
          <ac:chgData name="Dincer Konur" userId="0cb337efb386619d" providerId="LiveId" clId="{5BD569B1-74C3-4593-9EC2-60C3C8760E52}" dt="2019-07-30T16:26:18.652" v="74" actId="20577"/>
          <ac:spMkLst>
            <pc:docMk/>
            <pc:sldMk cId="555784850" sldId="705"/>
            <ac:spMk id="2" creationId="{00000000-0000-0000-0000-000000000000}"/>
          </ac:spMkLst>
        </pc:spChg>
        <pc:spChg chg="mod">
          <ac:chgData name="Dincer Konur" userId="0cb337efb386619d" providerId="LiveId" clId="{5BD569B1-74C3-4593-9EC2-60C3C8760E52}" dt="2019-07-30T16:26:53.880" v="81" actId="207"/>
          <ac:spMkLst>
            <pc:docMk/>
            <pc:sldMk cId="555784850" sldId="705"/>
            <ac:spMk id="3" creationId="{00000000-0000-0000-0000-000000000000}"/>
          </ac:spMkLst>
        </pc:spChg>
      </pc:sldChg>
      <pc:sldChg chg="modSp add ord">
        <pc:chgData name="Dincer Konur" userId="0cb337efb386619d" providerId="LiveId" clId="{5BD569B1-74C3-4593-9EC2-60C3C8760E52}" dt="2019-07-30T16:27:58.381" v="88"/>
        <pc:sldMkLst>
          <pc:docMk/>
          <pc:sldMk cId="1955152198" sldId="706"/>
        </pc:sldMkLst>
        <pc:spChg chg="mod">
          <ac:chgData name="Dincer Konur" userId="0cb337efb386619d" providerId="LiveId" clId="{5BD569B1-74C3-4593-9EC2-60C3C8760E52}" dt="2019-07-30T16:26:22.624" v="76" actId="20577"/>
          <ac:spMkLst>
            <pc:docMk/>
            <pc:sldMk cId="1955152198" sldId="706"/>
            <ac:spMk id="2" creationId="{00000000-0000-0000-0000-000000000000}"/>
          </ac:spMkLst>
        </pc:spChg>
        <pc:spChg chg="mod">
          <ac:chgData name="Dincer Konur" userId="0cb337efb386619d" providerId="LiveId" clId="{5BD569B1-74C3-4593-9EC2-60C3C8760E52}" dt="2019-07-30T16:26:58.216" v="82" actId="207"/>
          <ac:spMkLst>
            <pc:docMk/>
            <pc:sldMk cId="1955152198" sldId="706"/>
            <ac:spMk id="3" creationId="{00000000-0000-0000-0000-000000000000}"/>
          </ac:spMkLst>
        </pc:spChg>
      </pc:sldChg>
      <pc:sldChg chg="addSp delSp modSp add modAnim">
        <pc:chgData name="Dincer Konur" userId="0cb337efb386619d" providerId="LiveId" clId="{5BD569B1-74C3-4593-9EC2-60C3C8760E52}" dt="2019-08-03T00:40:30.366" v="4370"/>
        <pc:sldMkLst>
          <pc:docMk/>
          <pc:sldMk cId="1519410439" sldId="707"/>
        </pc:sldMkLst>
        <pc:spChg chg="mod">
          <ac:chgData name="Dincer Konur" userId="0cb337efb386619d" providerId="LiveId" clId="{5BD569B1-74C3-4593-9EC2-60C3C8760E52}" dt="2019-07-31T19:11:57.722" v="435" actId="20577"/>
          <ac:spMkLst>
            <pc:docMk/>
            <pc:sldMk cId="1519410439" sldId="707"/>
            <ac:spMk id="2" creationId="{00000000-0000-0000-0000-000000000000}"/>
          </ac:spMkLst>
        </pc:spChg>
        <pc:spChg chg="mod">
          <ac:chgData name="Dincer Konur" userId="0cb337efb386619d" providerId="LiveId" clId="{5BD569B1-74C3-4593-9EC2-60C3C8760E52}" dt="2019-07-31T19:11:32.696" v="419" actId="14"/>
          <ac:spMkLst>
            <pc:docMk/>
            <pc:sldMk cId="1519410439" sldId="707"/>
            <ac:spMk id="3" creationId="{00000000-0000-0000-0000-000000000000}"/>
          </ac:spMkLst>
        </pc:spChg>
        <pc:spChg chg="add mod">
          <ac:chgData name="Dincer Konur" userId="0cb337efb386619d" providerId="LiveId" clId="{5BD569B1-74C3-4593-9EC2-60C3C8760E52}" dt="2019-07-31T19:12:36.208" v="441" actId="113"/>
          <ac:spMkLst>
            <pc:docMk/>
            <pc:sldMk cId="1519410439" sldId="707"/>
            <ac:spMk id="6" creationId="{E72266EF-1900-4A02-9104-925BF84B6A87}"/>
          </ac:spMkLst>
        </pc:spChg>
        <pc:picChg chg="del">
          <ac:chgData name="Dincer Konur" userId="0cb337efb386619d" providerId="LiveId" clId="{5BD569B1-74C3-4593-9EC2-60C3C8760E52}" dt="2019-07-31T19:06:47.357" v="217" actId="478"/>
          <ac:picMkLst>
            <pc:docMk/>
            <pc:sldMk cId="1519410439" sldId="707"/>
            <ac:picMk id="4" creationId="{00000000-0000-0000-0000-000000000000}"/>
          </ac:picMkLst>
        </pc:picChg>
        <pc:picChg chg="add mod">
          <ac:chgData name="Dincer Konur" userId="0cb337efb386619d" providerId="LiveId" clId="{5BD569B1-74C3-4593-9EC2-60C3C8760E52}" dt="2019-07-31T19:11:40.925" v="421" actId="1076"/>
          <ac:picMkLst>
            <pc:docMk/>
            <pc:sldMk cId="1519410439" sldId="707"/>
            <ac:picMk id="5" creationId="{D4433F63-473F-4520-A908-59DF0BAD8F55}"/>
          </ac:picMkLst>
        </pc:picChg>
      </pc:sldChg>
      <pc:sldChg chg="delSp modSp add">
        <pc:chgData name="Dincer Konur" userId="0cb337efb386619d" providerId="LiveId" clId="{5BD569B1-74C3-4593-9EC2-60C3C8760E52}" dt="2019-07-30T16:31:15.942" v="177" actId="20577"/>
        <pc:sldMkLst>
          <pc:docMk/>
          <pc:sldMk cId="2366715501" sldId="708"/>
        </pc:sldMkLst>
        <pc:spChg chg="mod">
          <ac:chgData name="Dincer Konur" userId="0cb337efb386619d" providerId="LiveId" clId="{5BD569B1-74C3-4593-9EC2-60C3C8760E52}" dt="2019-07-30T16:31:15.942" v="177" actId="20577"/>
          <ac:spMkLst>
            <pc:docMk/>
            <pc:sldMk cId="2366715501" sldId="708"/>
            <ac:spMk id="2" creationId="{00000000-0000-0000-0000-000000000000}"/>
          </ac:spMkLst>
        </pc:spChg>
        <pc:spChg chg="mod">
          <ac:chgData name="Dincer Konur" userId="0cb337efb386619d" providerId="LiveId" clId="{5BD569B1-74C3-4593-9EC2-60C3C8760E52}" dt="2019-07-30T16:30:13.825" v="150" actId="20577"/>
          <ac:spMkLst>
            <pc:docMk/>
            <pc:sldMk cId="2366715501" sldId="708"/>
            <ac:spMk id="3" creationId="{00000000-0000-0000-0000-000000000000}"/>
          </ac:spMkLst>
        </pc:spChg>
        <pc:spChg chg="del">
          <ac:chgData name="Dincer Konur" userId="0cb337efb386619d" providerId="LiveId" clId="{5BD569B1-74C3-4593-9EC2-60C3C8760E52}" dt="2019-07-30T16:29:53.288" v="136" actId="478"/>
          <ac:spMkLst>
            <pc:docMk/>
            <pc:sldMk cId="2366715501" sldId="708"/>
            <ac:spMk id="5" creationId="{00000000-0000-0000-0000-000000000000}"/>
          </ac:spMkLst>
        </pc:spChg>
        <pc:spChg chg="del">
          <ac:chgData name="Dincer Konur" userId="0cb337efb386619d" providerId="LiveId" clId="{5BD569B1-74C3-4593-9EC2-60C3C8760E52}" dt="2019-07-30T16:29:52.006" v="135" actId="478"/>
          <ac:spMkLst>
            <pc:docMk/>
            <pc:sldMk cId="2366715501" sldId="708"/>
            <ac:spMk id="7" creationId="{00000000-0000-0000-0000-000000000000}"/>
          </ac:spMkLst>
        </pc:spChg>
        <pc:spChg chg="mod">
          <ac:chgData name="Dincer Konur" userId="0cb337efb386619d" providerId="LiveId" clId="{5BD569B1-74C3-4593-9EC2-60C3C8760E52}" dt="2019-07-30T16:30:34.734" v="160" actId="20577"/>
          <ac:spMkLst>
            <pc:docMk/>
            <pc:sldMk cId="2366715501" sldId="708"/>
            <ac:spMk id="8" creationId="{00000000-0000-0000-0000-000000000000}"/>
          </ac:spMkLst>
        </pc:spChg>
        <pc:spChg chg="del">
          <ac:chgData name="Dincer Konur" userId="0cb337efb386619d" providerId="LiveId" clId="{5BD569B1-74C3-4593-9EC2-60C3C8760E52}" dt="2019-07-30T16:29:56.117" v="138" actId="478"/>
          <ac:spMkLst>
            <pc:docMk/>
            <pc:sldMk cId="2366715501" sldId="708"/>
            <ac:spMk id="9" creationId="{3162BF6F-75FF-4673-A9CB-0DA9F6BB1552}"/>
          </ac:spMkLst>
        </pc:spChg>
        <pc:spChg chg="del">
          <ac:chgData name="Dincer Konur" userId="0cb337efb386619d" providerId="LiveId" clId="{5BD569B1-74C3-4593-9EC2-60C3C8760E52}" dt="2019-07-30T16:29:54.750" v="137" actId="478"/>
          <ac:spMkLst>
            <pc:docMk/>
            <pc:sldMk cId="2366715501" sldId="708"/>
            <ac:spMk id="10" creationId="{F19FBB87-98B6-499F-8329-DAEE1513B32D}"/>
          </ac:spMkLst>
        </pc:spChg>
      </pc:sldChg>
      <pc:sldChg chg="delSp modSp add">
        <pc:chgData name="Dincer Konur" userId="0cb337efb386619d" providerId="LiveId" clId="{5BD569B1-74C3-4593-9EC2-60C3C8760E52}" dt="2019-07-30T16:31:30.868" v="182" actId="207"/>
        <pc:sldMkLst>
          <pc:docMk/>
          <pc:sldMk cId="231179015" sldId="709"/>
        </pc:sldMkLst>
        <pc:spChg chg="mod">
          <ac:chgData name="Dincer Konur" userId="0cb337efb386619d" providerId="LiveId" clId="{5BD569B1-74C3-4593-9EC2-60C3C8760E52}" dt="2019-07-30T16:31:30.868" v="182" actId="207"/>
          <ac:spMkLst>
            <pc:docMk/>
            <pc:sldMk cId="231179015" sldId="709"/>
            <ac:spMk id="3" creationId="{00000000-0000-0000-0000-000000000000}"/>
          </ac:spMkLst>
        </pc:spChg>
        <pc:spChg chg="del">
          <ac:chgData name="Dincer Konur" userId="0cb337efb386619d" providerId="LiveId" clId="{5BD569B1-74C3-4593-9EC2-60C3C8760E52}" dt="2019-07-30T16:31:28.114" v="181" actId="478"/>
          <ac:spMkLst>
            <pc:docMk/>
            <pc:sldMk cId="231179015" sldId="709"/>
            <ac:spMk id="6" creationId="{00000000-0000-0000-0000-000000000000}"/>
          </ac:spMkLst>
        </pc:spChg>
        <pc:spChg chg="del">
          <ac:chgData name="Dincer Konur" userId="0cb337efb386619d" providerId="LiveId" clId="{5BD569B1-74C3-4593-9EC2-60C3C8760E52}" dt="2019-07-30T16:31:27.096" v="180" actId="478"/>
          <ac:spMkLst>
            <pc:docMk/>
            <pc:sldMk cId="231179015" sldId="709"/>
            <ac:spMk id="8" creationId="{00000000-0000-0000-0000-000000000000}"/>
          </ac:spMkLst>
        </pc:spChg>
      </pc:sldChg>
      <pc:sldChg chg="modSp add">
        <pc:chgData name="Dincer Konur" userId="0cb337efb386619d" providerId="LiveId" clId="{5BD569B1-74C3-4593-9EC2-60C3C8760E52}" dt="2019-07-30T16:31:50.711" v="185" actId="207"/>
        <pc:sldMkLst>
          <pc:docMk/>
          <pc:sldMk cId="2129707818" sldId="710"/>
        </pc:sldMkLst>
        <pc:spChg chg="mod">
          <ac:chgData name="Dincer Konur" userId="0cb337efb386619d" providerId="LiveId" clId="{5BD569B1-74C3-4593-9EC2-60C3C8760E52}" dt="2019-07-30T16:31:50.711" v="185" actId="207"/>
          <ac:spMkLst>
            <pc:docMk/>
            <pc:sldMk cId="2129707818" sldId="710"/>
            <ac:spMk id="3" creationId="{00000000-0000-0000-0000-000000000000}"/>
          </ac:spMkLst>
        </pc:spChg>
      </pc:sldChg>
      <pc:sldChg chg="delSp modSp add">
        <pc:chgData name="Dincer Konur" userId="0cb337efb386619d" providerId="LiveId" clId="{5BD569B1-74C3-4593-9EC2-60C3C8760E52}" dt="2019-07-30T16:32:47.618" v="215" actId="14"/>
        <pc:sldMkLst>
          <pc:docMk/>
          <pc:sldMk cId="992934062" sldId="711"/>
        </pc:sldMkLst>
        <pc:spChg chg="mod">
          <ac:chgData name="Dincer Konur" userId="0cb337efb386619d" providerId="LiveId" clId="{5BD569B1-74C3-4593-9EC2-60C3C8760E52}" dt="2019-07-30T16:32:47.618" v="215" actId="14"/>
          <ac:spMkLst>
            <pc:docMk/>
            <pc:sldMk cId="992934062" sldId="711"/>
            <ac:spMk id="3" creationId="{00000000-0000-0000-0000-000000000000}"/>
          </ac:spMkLst>
        </pc:spChg>
        <pc:spChg chg="del">
          <ac:chgData name="Dincer Konur" userId="0cb337efb386619d" providerId="LiveId" clId="{5BD569B1-74C3-4593-9EC2-60C3C8760E52}" dt="2019-07-30T16:32:34.894" v="200" actId="478"/>
          <ac:spMkLst>
            <pc:docMk/>
            <pc:sldMk cId="992934062" sldId="711"/>
            <ac:spMk id="5" creationId="{00000000-0000-0000-0000-000000000000}"/>
          </ac:spMkLst>
        </pc:spChg>
        <pc:spChg chg="del">
          <ac:chgData name="Dincer Konur" userId="0cb337efb386619d" providerId="LiveId" clId="{5BD569B1-74C3-4593-9EC2-60C3C8760E52}" dt="2019-07-30T16:32:34.894" v="200" actId="478"/>
          <ac:spMkLst>
            <pc:docMk/>
            <pc:sldMk cId="992934062" sldId="711"/>
            <ac:spMk id="6" creationId="{00000000-0000-0000-0000-000000000000}"/>
          </ac:spMkLst>
        </pc:spChg>
        <pc:spChg chg="del">
          <ac:chgData name="Dincer Konur" userId="0cb337efb386619d" providerId="LiveId" clId="{5BD569B1-74C3-4593-9EC2-60C3C8760E52}" dt="2019-07-30T16:32:34.894" v="200" actId="478"/>
          <ac:spMkLst>
            <pc:docMk/>
            <pc:sldMk cId="992934062" sldId="711"/>
            <ac:spMk id="7" creationId="{00000000-0000-0000-0000-000000000000}"/>
          </ac:spMkLst>
        </pc:spChg>
        <pc:spChg chg="del">
          <ac:chgData name="Dincer Konur" userId="0cb337efb386619d" providerId="LiveId" clId="{5BD569B1-74C3-4593-9EC2-60C3C8760E52}" dt="2019-07-30T16:32:34.894" v="200" actId="478"/>
          <ac:spMkLst>
            <pc:docMk/>
            <pc:sldMk cId="992934062" sldId="711"/>
            <ac:spMk id="8" creationId="{00000000-0000-0000-0000-000000000000}"/>
          </ac:spMkLst>
        </pc:spChg>
      </pc:sldChg>
      <pc:sldChg chg="addSp delSp modSp add modAnim">
        <pc:chgData name="Dincer Konur" userId="0cb337efb386619d" providerId="LiveId" clId="{5BD569B1-74C3-4593-9EC2-60C3C8760E52}" dt="2019-07-31T20:54:16.057" v="2921"/>
        <pc:sldMkLst>
          <pc:docMk/>
          <pc:sldMk cId="517848383" sldId="712"/>
        </pc:sldMkLst>
        <pc:spChg chg="mod">
          <ac:chgData name="Dincer Konur" userId="0cb337efb386619d" providerId="LiveId" clId="{5BD569B1-74C3-4593-9EC2-60C3C8760E52}" dt="2019-07-30T16:32:27.670" v="199" actId="20577"/>
          <ac:spMkLst>
            <pc:docMk/>
            <pc:sldMk cId="517848383" sldId="712"/>
            <ac:spMk id="2" creationId="{00000000-0000-0000-0000-000000000000}"/>
          </ac:spMkLst>
        </pc:spChg>
        <pc:spChg chg="mod">
          <ac:chgData name="Dincer Konur" userId="0cb337efb386619d" providerId="LiveId" clId="{5BD569B1-74C3-4593-9EC2-60C3C8760E52}" dt="2019-07-31T20:54:16.057" v="2921"/>
          <ac:spMkLst>
            <pc:docMk/>
            <pc:sldMk cId="517848383" sldId="712"/>
            <ac:spMk id="3" creationId="{00000000-0000-0000-0000-000000000000}"/>
          </ac:spMkLst>
        </pc:spChg>
        <pc:spChg chg="add del mod">
          <ac:chgData name="Dincer Konur" userId="0cb337efb386619d" providerId="LiveId" clId="{5BD569B1-74C3-4593-9EC2-60C3C8760E52}" dt="2019-07-31T20:52:31.234" v="2815"/>
          <ac:spMkLst>
            <pc:docMk/>
            <pc:sldMk cId="517848383" sldId="712"/>
            <ac:spMk id="4" creationId="{9C187AFC-5013-4D8B-8996-FF634417804D}"/>
          </ac:spMkLst>
        </pc:spChg>
        <pc:picChg chg="del">
          <ac:chgData name="Dincer Konur" userId="0cb337efb386619d" providerId="LiveId" clId="{5BD569B1-74C3-4593-9EC2-60C3C8760E52}" dt="2019-07-31T20:42:05.298" v="2413" actId="478"/>
          <ac:picMkLst>
            <pc:docMk/>
            <pc:sldMk cId="517848383" sldId="712"/>
            <ac:picMk id="13314" creationId="{00000000-0000-0000-0000-000000000000}"/>
          </ac:picMkLst>
        </pc:picChg>
        <pc:picChg chg="del">
          <ac:chgData name="Dincer Konur" userId="0cb337efb386619d" providerId="LiveId" clId="{5BD569B1-74C3-4593-9EC2-60C3C8760E52}" dt="2019-07-31T20:42:07.826" v="2415" actId="478"/>
          <ac:picMkLst>
            <pc:docMk/>
            <pc:sldMk cId="517848383" sldId="712"/>
            <ac:picMk id="13315" creationId="{00000000-0000-0000-0000-000000000000}"/>
          </ac:picMkLst>
        </pc:picChg>
      </pc:sldChg>
      <pc:sldChg chg="addSp delSp modSp add delAnim modAnim">
        <pc:chgData name="Dincer Konur" userId="0cb337efb386619d" providerId="LiveId" clId="{5BD569B1-74C3-4593-9EC2-60C3C8760E52}" dt="2019-08-03T00:45:30.927" v="4377"/>
        <pc:sldMkLst>
          <pc:docMk/>
          <pc:sldMk cId="3667583221" sldId="713"/>
        </pc:sldMkLst>
        <pc:spChg chg="mod">
          <ac:chgData name="Dincer Konur" userId="0cb337efb386619d" providerId="LiveId" clId="{5BD569B1-74C3-4593-9EC2-60C3C8760E52}" dt="2019-07-31T19:15:05.996" v="631" actId="20577"/>
          <ac:spMkLst>
            <pc:docMk/>
            <pc:sldMk cId="3667583221" sldId="713"/>
            <ac:spMk id="3" creationId="{00000000-0000-0000-0000-000000000000}"/>
          </ac:spMkLst>
        </pc:spChg>
        <pc:spChg chg="add del">
          <ac:chgData name="Dincer Konur" userId="0cb337efb386619d" providerId="LiveId" clId="{5BD569B1-74C3-4593-9EC2-60C3C8760E52}" dt="2019-07-31T19:13:07.423" v="444"/>
          <ac:spMkLst>
            <pc:docMk/>
            <pc:sldMk cId="3667583221" sldId="713"/>
            <ac:spMk id="4" creationId="{796C2C22-772A-463C-8CCF-C023F3EC311C}"/>
          </ac:spMkLst>
        </pc:spChg>
        <pc:spChg chg="del">
          <ac:chgData name="Dincer Konur" userId="0cb337efb386619d" providerId="LiveId" clId="{5BD569B1-74C3-4593-9EC2-60C3C8760E52}" dt="2019-07-31T19:12:29.523" v="439" actId="478"/>
          <ac:spMkLst>
            <pc:docMk/>
            <pc:sldMk cId="3667583221" sldId="713"/>
            <ac:spMk id="6" creationId="{E72266EF-1900-4A02-9104-925BF84B6A87}"/>
          </ac:spMkLst>
        </pc:spChg>
        <pc:spChg chg="add del">
          <ac:chgData name="Dincer Konur" userId="0cb337efb386619d" providerId="LiveId" clId="{5BD569B1-74C3-4593-9EC2-60C3C8760E52}" dt="2019-07-31T19:13:10.942" v="446"/>
          <ac:spMkLst>
            <pc:docMk/>
            <pc:sldMk cId="3667583221" sldId="713"/>
            <ac:spMk id="7" creationId="{836368E8-5B44-4367-8361-444130835885}"/>
          </ac:spMkLst>
        </pc:spChg>
        <pc:spChg chg="add del">
          <ac:chgData name="Dincer Konur" userId="0cb337efb386619d" providerId="LiveId" clId="{5BD569B1-74C3-4593-9EC2-60C3C8760E52}" dt="2019-07-31T19:13:14.704" v="449"/>
          <ac:spMkLst>
            <pc:docMk/>
            <pc:sldMk cId="3667583221" sldId="713"/>
            <ac:spMk id="8" creationId="{6629281E-7DB6-400C-98BF-32097C0781CF}"/>
          </ac:spMkLst>
        </pc:spChg>
        <pc:picChg chg="del">
          <ac:chgData name="Dincer Konur" userId="0cb337efb386619d" providerId="LiveId" clId="{5BD569B1-74C3-4593-9EC2-60C3C8760E52}" dt="2019-07-31T19:12:26.281" v="438" actId="478"/>
          <ac:picMkLst>
            <pc:docMk/>
            <pc:sldMk cId="3667583221" sldId="713"/>
            <ac:picMk id="5" creationId="{D4433F63-473F-4520-A908-59DF0BAD8F55}"/>
          </ac:picMkLst>
        </pc:picChg>
      </pc:sldChg>
      <pc:sldChg chg="addSp modSp add modAnim">
        <pc:chgData name="Dincer Konur" userId="0cb337efb386619d" providerId="LiveId" clId="{5BD569B1-74C3-4593-9EC2-60C3C8760E52}" dt="2019-08-03T00:46:35.146" v="4413"/>
        <pc:sldMkLst>
          <pc:docMk/>
          <pc:sldMk cId="2531153111" sldId="714"/>
        </pc:sldMkLst>
        <pc:spChg chg="mod">
          <ac:chgData name="Dincer Konur" userId="0cb337efb386619d" providerId="LiveId" clId="{5BD569B1-74C3-4593-9EC2-60C3C8760E52}" dt="2019-08-03T00:45:52.410" v="4405" actId="20577"/>
          <ac:spMkLst>
            <pc:docMk/>
            <pc:sldMk cId="2531153111" sldId="714"/>
            <ac:spMk id="3" creationId="{00000000-0000-0000-0000-000000000000}"/>
          </ac:spMkLst>
        </pc:spChg>
        <pc:spChg chg="add mod">
          <ac:chgData name="Dincer Konur" userId="0cb337efb386619d" providerId="LiveId" clId="{5BD569B1-74C3-4593-9EC2-60C3C8760E52}" dt="2019-07-31T19:19:40.886" v="706" actId="1076"/>
          <ac:spMkLst>
            <pc:docMk/>
            <pc:sldMk cId="2531153111" sldId="714"/>
            <ac:spMk id="4" creationId="{6344BBD3-DC45-4B00-8B9D-2941D29A07E5}"/>
          </ac:spMkLst>
        </pc:spChg>
      </pc:sldChg>
      <pc:sldChg chg="addSp delSp modSp add delAnim modAnim">
        <pc:chgData name="Dincer Konur" userId="0cb337efb386619d" providerId="LiveId" clId="{5BD569B1-74C3-4593-9EC2-60C3C8760E52}" dt="2019-08-03T00:47:32.023" v="4416"/>
        <pc:sldMkLst>
          <pc:docMk/>
          <pc:sldMk cId="1006973075" sldId="715"/>
        </pc:sldMkLst>
        <pc:spChg chg="mod">
          <ac:chgData name="Dincer Konur" userId="0cb337efb386619d" providerId="LiveId" clId="{5BD569B1-74C3-4593-9EC2-60C3C8760E52}" dt="2019-07-31T19:41:52.237" v="1247" actId="20577"/>
          <ac:spMkLst>
            <pc:docMk/>
            <pc:sldMk cId="1006973075" sldId="715"/>
            <ac:spMk id="3" creationId="{00000000-0000-0000-0000-000000000000}"/>
          </ac:spMkLst>
        </pc:spChg>
        <pc:spChg chg="del">
          <ac:chgData name="Dincer Konur" userId="0cb337efb386619d" providerId="LiveId" clId="{5BD569B1-74C3-4593-9EC2-60C3C8760E52}" dt="2019-07-31T19:42:00.427" v="1248" actId="478"/>
          <ac:spMkLst>
            <pc:docMk/>
            <pc:sldMk cId="1006973075" sldId="715"/>
            <ac:spMk id="4" creationId="{6344BBD3-DC45-4B00-8B9D-2941D29A07E5}"/>
          </ac:spMkLst>
        </pc:spChg>
        <pc:spChg chg="add mod">
          <ac:chgData name="Dincer Konur" userId="0cb337efb386619d" providerId="LiveId" clId="{5BD569B1-74C3-4593-9EC2-60C3C8760E52}" dt="2019-07-31T19:49:12.356" v="1466" actId="207"/>
          <ac:spMkLst>
            <pc:docMk/>
            <pc:sldMk cId="1006973075" sldId="715"/>
            <ac:spMk id="7" creationId="{A26A413F-749B-4980-A382-6B7F3964FFE0}"/>
          </ac:spMkLst>
        </pc:spChg>
        <pc:spChg chg="add mod">
          <ac:chgData name="Dincer Konur" userId="0cb337efb386619d" providerId="LiveId" clId="{5BD569B1-74C3-4593-9EC2-60C3C8760E52}" dt="2019-07-31T19:49:07.001" v="1465" actId="207"/>
          <ac:spMkLst>
            <pc:docMk/>
            <pc:sldMk cId="1006973075" sldId="715"/>
            <ac:spMk id="8" creationId="{DD3D35B1-540A-4906-A032-2EEB413F4F89}"/>
          </ac:spMkLst>
        </pc:spChg>
        <pc:picChg chg="add del mod">
          <ac:chgData name="Dincer Konur" userId="0cb337efb386619d" providerId="LiveId" clId="{5BD569B1-74C3-4593-9EC2-60C3C8760E52}" dt="2019-07-31T19:46:10.002" v="1252" actId="478"/>
          <ac:picMkLst>
            <pc:docMk/>
            <pc:sldMk cId="1006973075" sldId="715"/>
            <ac:picMk id="5" creationId="{6199A70F-02E9-4789-8987-AA9D9BFE9D53}"/>
          </ac:picMkLst>
        </pc:picChg>
        <pc:picChg chg="add mod">
          <ac:chgData name="Dincer Konur" userId="0cb337efb386619d" providerId="LiveId" clId="{5BD569B1-74C3-4593-9EC2-60C3C8760E52}" dt="2019-07-31T19:46:20.704" v="1255" actId="1076"/>
          <ac:picMkLst>
            <pc:docMk/>
            <pc:sldMk cId="1006973075" sldId="715"/>
            <ac:picMk id="6" creationId="{2BB5F1C3-AE77-482F-B408-0DFC3B06504A}"/>
          </ac:picMkLst>
        </pc:picChg>
        <pc:picChg chg="add del">
          <ac:chgData name="Dincer Konur" userId="0cb337efb386619d" providerId="LiveId" clId="{5BD569B1-74C3-4593-9EC2-60C3C8760E52}" dt="2019-07-31T20:02:27.080" v="1469" actId="478"/>
          <ac:picMkLst>
            <pc:docMk/>
            <pc:sldMk cId="1006973075" sldId="715"/>
            <ac:picMk id="9" creationId="{CC135DC8-8F82-4E3F-9187-5C883AFF1B6F}"/>
          </ac:picMkLst>
        </pc:picChg>
      </pc:sldChg>
      <pc:sldChg chg="addSp delSp modSp add modAnim">
        <pc:chgData name="Dincer Konur" userId="0cb337efb386619d" providerId="LiveId" clId="{5BD569B1-74C3-4593-9EC2-60C3C8760E52}" dt="2019-08-03T00:49:19.840" v="4449" actId="20577"/>
        <pc:sldMkLst>
          <pc:docMk/>
          <pc:sldMk cId="2936801509" sldId="716"/>
        </pc:sldMkLst>
        <pc:spChg chg="mod">
          <ac:chgData name="Dincer Konur" userId="0cb337efb386619d" providerId="LiveId" clId="{5BD569B1-74C3-4593-9EC2-60C3C8760E52}" dt="2019-08-03T00:49:19.840" v="4449" actId="20577"/>
          <ac:spMkLst>
            <pc:docMk/>
            <pc:sldMk cId="2936801509" sldId="716"/>
            <ac:spMk id="3" creationId="{00000000-0000-0000-0000-000000000000}"/>
          </ac:spMkLst>
        </pc:spChg>
        <pc:spChg chg="mod ord">
          <ac:chgData name="Dincer Konur" userId="0cb337efb386619d" providerId="LiveId" clId="{5BD569B1-74C3-4593-9EC2-60C3C8760E52}" dt="2019-07-31T20:03:25.099" v="1540" actId="14100"/>
          <ac:spMkLst>
            <pc:docMk/>
            <pc:sldMk cId="2936801509" sldId="716"/>
            <ac:spMk id="7" creationId="{A26A413F-749B-4980-A382-6B7F3964FFE0}"/>
          </ac:spMkLst>
        </pc:spChg>
        <pc:spChg chg="del">
          <ac:chgData name="Dincer Konur" userId="0cb337efb386619d" providerId="LiveId" clId="{5BD569B1-74C3-4593-9EC2-60C3C8760E52}" dt="2019-07-31T20:02:39.713" v="1473" actId="478"/>
          <ac:spMkLst>
            <pc:docMk/>
            <pc:sldMk cId="2936801509" sldId="716"/>
            <ac:spMk id="8" creationId="{DD3D35B1-540A-4906-A032-2EEB413F4F89}"/>
          </ac:spMkLst>
        </pc:spChg>
        <pc:spChg chg="add mod">
          <ac:chgData name="Dincer Konur" userId="0cb337efb386619d" providerId="LiveId" clId="{5BD569B1-74C3-4593-9EC2-60C3C8760E52}" dt="2019-07-31T20:05:28.356" v="1596" actId="20577"/>
          <ac:spMkLst>
            <pc:docMk/>
            <pc:sldMk cId="2936801509" sldId="716"/>
            <ac:spMk id="10" creationId="{875BA862-8CF2-4614-BCF4-F29C6E740C08}"/>
          </ac:spMkLst>
        </pc:spChg>
        <pc:spChg chg="add mod">
          <ac:chgData name="Dincer Konur" userId="0cb337efb386619d" providerId="LiveId" clId="{5BD569B1-74C3-4593-9EC2-60C3C8760E52}" dt="2019-07-31T20:06:59.298" v="1688" actId="5793"/>
          <ac:spMkLst>
            <pc:docMk/>
            <pc:sldMk cId="2936801509" sldId="716"/>
            <ac:spMk id="11" creationId="{289B0ACC-0493-40F3-8A89-05D45FB31E8A}"/>
          </ac:spMkLst>
        </pc:spChg>
        <pc:picChg chg="add mod">
          <ac:chgData name="Dincer Konur" userId="0cb337efb386619d" providerId="LiveId" clId="{5BD569B1-74C3-4593-9EC2-60C3C8760E52}" dt="2019-07-31T20:05:32.676" v="1597" actId="1076"/>
          <ac:picMkLst>
            <pc:docMk/>
            <pc:sldMk cId="2936801509" sldId="716"/>
            <ac:picMk id="4" creationId="{B586BFE6-C30D-4892-907E-2D5728281B9E}"/>
          </ac:picMkLst>
        </pc:picChg>
        <pc:picChg chg="del">
          <ac:chgData name="Dincer Konur" userId="0cb337efb386619d" providerId="LiveId" clId="{5BD569B1-74C3-4593-9EC2-60C3C8760E52}" dt="2019-07-31T20:02:31.578" v="1470" actId="478"/>
          <ac:picMkLst>
            <pc:docMk/>
            <pc:sldMk cId="2936801509" sldId="716"/>
            <ac:picMk id="6" creationId="{2BB5F1C3-AE77-482F-B408-0DFC3B06504A}"/>
          </ac:picMkLst>
        </pc:picChg>
        <pc:picChg chg="mod">
          <ac:chgData name="Dincer Konur" userId="0cb337efb386619d" providerId="LiveId" clId="{5BD569B1-74C3-4593-9EC2-60C3C8760E52}" dt="2019-07-31T20:02:36.115" v="1472" actId="1076"/>
          <ac:picMkLst>
            <pc:docMk/>
            <pc:sldMk cId="2936801509" sldId="716"/>
            <ac:picMk id="9" creationId="{CC135DC8-8F82-4E3F-9187-5C883AFF1B6F}"/>
          </ac:picMkLst>
        </pc:picChg>
      </pc:sldChg>
      <pc:sldChg chg="addSp delSp modSp add modAnim">
        <pc:chgData name="Dincer Konur" userId="0cb337efb386619d" providerId="LiveId" clId="{5BD569B1-74C3-4593-9EC2-60C3C8760E52}" dt="2019-08-03T01:23:41.359" v="4459"/>
        <pc:sldMkLst>
          <pc:docMk/>
          <pc:sldMk cId="2127903492" sldId="717"/>
        </pc:sldMkLst>
        <pc:spChg chg="mod">
          <ac:chgData name="Dincer Konur" userId="0cb337efb386619d" providerId="LiveId" clId="{5BD569B1-74C3-4593-9EC2-60C3C8760E52}" dt="2019-07-31T20:12:32.563" v="1736" actId="20577"/>
          <ac:spMkLst>
            <pc:docMk/>
            <pc:sldMk cId="2127903492" sldId="717"/>
            <ac:spMk id="3" creationId="{00000000-0000-0000-0000-000000000000}"/>
          </ac:spMkLst>
        </pc:spChg>
        <pc:spChg chg="del">
          <ac:chgData name="Dincer Konur" userId="0cb337efb386619d" providerId="LiveId" clId="{5BD569B1-74C3-4593-9EC2-60C3C8760E52}" dt="2019-07-31T20:07:11.079" v="1690" actId="478"/>
          <ac:spMkLst>
            <pc:docMk/>
            <pc:sldMk cId="2127903492" sldId="717"/>
            <ac:spMk id="7" creationId="{A26A413F-749B-4980-A382-6B7F3964FFE0}"/>
          </ac:spMkLst>
        </pc:spChg>
        <pc:spChg chg="add mod">
          <ac:chgData name="Dincer Konur" userId="0cb337efb386619d" providerId="LiveId" clId="{5BD569B1-74C3-4593-9EC2-60C3C8760E52}" dt="2019-08-03T01:23:41.359" v="4459"/>
          <ac:spMkLst>
            <pc:docMk/>
            <pc:sldMk cId="2127903492" sldId="717"/>
            <ac:spMk id="8" creationId="{B0C8FA4F-C62F-4EB3-A207-6F45BBEAF4DA}"/>
          </ac:spMkLst>
        </pc:spChg>
        <pc:spChg chg="del">
          <ac:chgData name="Dincer Konur" userId="0cb337efb386619d" providerId="LiveId" clId="{5BD569B1-74C3-4593-9EC2-60C3C8760E52}" dt="2019-07-31T20:07:09.666" v="1689" actId="478"/>
          <ac:spMkLst>
            <pc:docMk/>
            <pc:sldMk cId="2127903492" sldId="717"/>
            <ac:spMk id="10" creationId="{875BA862-8CF2-4614-BCF4-F29C6E740C08}"/>
          </ac:spMkLst>
        </pc:spChg>
        <pc:spChg chg="add mod">
          <ac:chgData name="Dincer Konur" userId="0cb337efb386619d" providerId="LiveId" clId="{5BD569B1-74C3-4593-9EC2-60C3C8760E52}" dt="2019-07-31T20:13:47.832" v="1909" actId="14100"/>
          <ac:spMkLst>
            <pc:docMk/>
            <pc:sldMk cId="2127903492" sldId="717"/>
            <ac:spMk id="11" creationId="{E4438268-F3FB-46F9-8448-E093499EF902}"/>
          </ac:spMkLst>
        </pc:spChg>
        <pc:spChg chg="add mod">
          <ac:chgData name="Dincer Konur" userId="0cb337efb386619d" providerId="LiveId" clId="{5BD569B1-74C3-4593-9EC2-60C3C8760E52}" dt="2019-07-31T20:14:32.137" v="2045" actId="313"/>
          <ac:spMkLst>
            <pc:docMk/>
            <pc:sldMk cId="2127903492" sldId="717"/>
            <ac:spMk id="12" creationId="{2AE77DAB-3FE9-4876-B324-D455DA29ED82}"/>
          </ac:spMkLst>
        </pc:spChg>
        <pc:spChg chg="add mod">
          <ac:chgData name="Dincer Konur" userId="0cb337efb386619d" providerId="LiveId" clId="{5BD569B1-74C3-4593-9EC2-60C3C8760E52}" dt="2019-07-31T20:15:00.358" v="2076" actId="14100"/>
          <ac:spMkLst>
            <pc:docMk/>
            <pc:sldMk cId="2127903492" sldId="717"/>
            <ac:spMk id="13" creationId="{1C0F6416-27BF-401E-883E-F83208E986F1}"/>
          </ac:spMkLst>
        </pc:spChg>
        <pc:spChg chg="add mod">
          <ac:chgData name="Dincer Konur" userId="0cb337efb386619d" providerId="LiveId" clId="{5BD569B1-74C3-4593-9EC2-60C3C8760E52}" dt="2019-07-31T20:15:43.480" v="2182" actId="1076"/>
          <ac:spMkLst>
            <pc:docMk/>
            <pc:sldMk cId="2127903492" sldId="717"/>
            <ac:spMk id="14" creationId="{1B39E296-815C-4528-AB7C-4E2CFF96C863}"/>
          </ac:spMkLst>
        </pc:spChg>
        <pc:picChg chg="del">
          <ac:chgData name="Dincer Konur" userId="0cb337efb386619d" providerId="LiveId" clId="{5BD569B1-74C3-4593-9EC2-60C3C8760E52}" dt="2019-07-31T20:07:13.753" v="1692" actId="478"/>
          <ac:picMkLst>
            <pc:docMk/>
            <pc:sldMk cId="2127903492" sldId="717"/>
            <ac:picMk id="4" creationId="{B586BFE6-C30D-4892-907E-2D5728281B9E}"/>
          </ac:picMkLst>
        </pc:picChg>
        <pc:picChg chg="add mod">
          <ac:chgData name="Dincer Konur" userId="0cb337efb386619d" providerId="LiveId" clId="{5BD569B1-74C3-4593-9EC2-60C3C8760E52}" dt="2019-07-31T20:12:40.900" v="1739" actId="1076"/>
          <ac:picMkLst>
            <pc:docMk/>
            <pc:sldMk cId="2127903492" sldId="717"/>
            <ac:picMk id="5" creationId="{A5EB1580-8815-4B6A-A676-1D06CD3B2D24}"/>
          </ac:picMkLst>
        </pc:picChg>
        <pc:picChg chg="del">
          <ac:chgData name="Dincer Konur" userId="0cb337efb386619d" providerId="LiveId" clId="{5BD569B1-74C3-4593-9EC2-60C3C8760E52}" dt="2019-07-31T20:07:12.263" v="1691" actId="478"/>
          <ac:picMkLst>
            <pc:docMk/>
            <pc:sldMk cId="2127903492" sldId="717"/>
            <ac:picMk id="9" creationId="{CC135DC8-8F82-4E3F-9187-5C883AFF1B6F}"/>
          </ac:picMkLst>
        </pc:picChg>
      </pc:sldChg>
      <pc:sldChg chg="addSp delSp modSp add delAnim modAnim">
        <pc:chgData name="Dincer Konur" userId="0cb337efb386619d" providerId="LiveId" clId="{5BD569B1-74C3-4593-9EC2-60C3C8760E52}" dt="2019-08-03T01:23:53.883" v="4460"/>
        <pc:sldMkLst>
          <pc:docMk/>
          <pc:sldMk cId="4285146431" sldId="718"/>
        </pc:sldMkLst>
        <pc:spChg chg="mod">
          <ac:chgData name="Dincer Konur" userId="0cb337efb386619d" providerId="LiveId" clId="{5BD569B1-74C3-4593-9EC2-60C3C8760E52}" dt="2019-08-03T01:23:53.883" v="4460"/>
          <ac:spMkLst>
            <pc:docMk/>
            <pc:sldMk cId="4285146431" sldId="718"/>
            <ac:spMk id="8" creationId="{B0C8FA4F-C62F-4EB3-A207-6F45BBEAF4DA}"/>
          </ac:spMkLst>
        </pc:spChg>
        <pc:spChg chg="mod">
          <ac:chgData name="Dincer Konur" userId="0cb337efb386619d" providerId="LiveId" clId="{5BD569B1-74C3-4593-9EC2-60C3C8760E52}" dt="2019-07-31T20:18:13.915" v="2275" actId="5793"/>
          <ac:spMkLst>
            <pc:docMk/>
            <pc:sldMk cId="4285146431" sldId="718"/>
            <ac:spMk id="11" creationId="{E4438268-F3FB-46F9-8448-E093499EF902}"/>
          </ac:spMkLst>
        </pc:spChg>
        <pc:spChg chg="mod">
          <ac:chgData name="Dincer Konur" userId="0cb337efb386619d" providerId="LiveId" clId="{5BD569B1-74C3-4593-9EC2-60C3C8760E52}" dt="2019-07-31T20:18:53.660" v="2412" actId="14100"/>
          <ac:spMkLst>
            <pc:docMk/>
            <pc:sldMk cId="4285146431" sldId="718"/>
            <ac:spMk id="12" creationId="{2AE77DAB-3FE9-4876-B324-D455DA29ED82}"/>
          </ac:spMkLst>
        </pc:spChg>
        <pc:spChg chg="del">
          <ac:chgData name="Dincer Konur" userId="0cb337efb386619d" providerId="LiveId" clId="{5BD569B1-74C3-4593-9EC2-60C3C8760E52}" dt="2019-07-31T20:17:09.328" v="2186" actId="478"/>
          <ac:spMkLst>
            <pc:docMk/>
            <pc:sldMk cId="4285146431" sldId="718"/>
            <ac:spMk id="13" creationId="{1C0F6416-27BF-401E-883E-F83208E986F1}"/>
          </ac:spMkLst>
        </pc:spChg>
        <pc:spChg chg="del">
          <ac:chgData name="Dincer Konur" userId="0cb337efb386619d" providerId="LiveId" clId="{5BD569B1-74C3-4593-9EC2-60C3C8760E52}" dt="2019-07-31T20:17:04.886" v="2184" actId="478"/>
          <ac:spMkLst>
            <pc:docMk/>
            <pc:sldMk cId="4285146431" sldId="718"/>
            <ac:spMk id="14" creationId="{1B39E296-815C-4528-AB7C-4E2CFF96C863}"/>
          </ac:spMkLst>
        </pc:spChg>
        <pc:picChg chg="add mod ord">
          <ac:chgData name="Dincer Konur" userId="0cb337efb386619d" providerId="LiveId" clId="{5BD569B1-74C3-4593-9EC2-60C3C8760E52}" dt="2019-07-31T20:17:37.423" v="2190" actId="167"/>
          <ac:picMkLst>
            <pc:docMk/>
            <pc:sldMk cId="4285146431" sldId="718"/>
            <ac:picMk id="4" creationId="{964635C9-58C4-43C2-AA52-1D89FCE6C43A}"/>
          </ac:picMkLst>
        </pc:picChg>
        <pc:picChg chg="del">
          <ac:chgData name="Dincer Konur" userId="0cb337efb386619d" providerId="LiveId" clId="{5BD569B1-74C3-4593-9EC2-60C3C8760E52}" dt="2019-07-31T20:17:05.698" v="2185" actId="478"/>
          <ac:picMkLst>
            <pc:docMk/>
            <pc:sldMk cId="4285146431" sldId="718"/>
            <ac:picMk id="5" creationId="{A5EB1580-8815-4B6A-A676-1D06CD3B2D24}"/>
          </ac:picMkLst>
        </pc:picChg>
      </pc:sldChg>
      <pc:sldChg chg="addSp modSp add">
        <pc:chgData name="Dincer Konur" userId="0cb337efb386619d" providerId="LiveId" clId="{5BD569B1-74C3-4593-9EC2-60C3C8760E52}" dt="2019-07-31T21:08:29.172" v="3294" actId="1076"/>
        <pc:sldMkLst>
          <pc:docMk/>
          <pc:sldMk cId="4283292556" sldId="719"/>
        </pc:sldMkLst>
        <pc:spChg chg="mod">
          <ac:chgData name="Dincer Konur" userId="0cb337efb386619d" providerId="LiveId" clId="{5BD569B1-74C3-4593-9EC2-60C3C8760E52}" dt="2019-07-31T20:58:14.007" v="3199" actId="20577"/>
          <ac:spMkLst>
            <pc:docMk/>
            <pc:sldMk cId="4283292556" sldId="719"/>
            <ac:spMk id="3" creationId="{00000000-0000-0000-0000-000000000000}"/>
          </ac:spMkLst>
        </pc:spChg>
        <pc:spChg chg="add mod">
          <ac:chgData name="Dincer Konur" userId="0cb337efb386619d" providerId="LiveId" clId="{5BD569B1-74C3-4593-9EC2-60C3C8760E52}" dt="2019-07-31T20:57:16.879" v="3152" actId="14100"/>
          <ac:spMkLst>
            <pc:docMk/>
            <pc:sldMk cId="4283292556" sldId="719"/>
            <ac:spMk id="5" creationId="{F49275B2-11C7-49A2-B006-20B45ECCDDCA}"/>
          </ac:spMkLst>
        </pc:spChg>
        <pc:spChg chg="add mod">
          <ac:chgData name="Dincer Konur" userId="0cb337efb386619d" providerId="LiveId" clId="{5BD569B1-74C3-4593-9EC2-60C3C8760E52}" dt="2019-07-31T20:57:24.239" v="3167" actId="20577"/>
          <ac:spMkLst>
            <pc:docMk/>
            <pc:sldMk cId="4283292556" sldId="719"/>
            <ac:spMk id="6" creationId="{A524E390-1654-4F49-B7E4-34B1A1055BF9}"/>
          </ac:spMkLst>
        </pc:spChg>
        <pc:spChg chg="add mod">
          <ac:chgData name="Dincer Konur" userId="0cb337efb386619d" providerId="LiveId" clId="{5BD569B1-74C3-4593-9EC2-60C3C8760E52}" dt="2019-07-31T20:58:41.604" v="3282" actId="114"/>
          <ac:spMkLst>
            <pc:docMk/>
            <pc:sldMk cId="4283292556" sldId="719"/>
            <ac:spMk id="7" creationId="{B0D69140-36E3-434F-B1AC-EDFC4470CC12}"/>
          </ac:spMkLst>
        </pc:spChg>
        <pc:spChg chg="add mod">
          <ac:chgData name="Dincer Konur" userId="0cb337efb386619d" providerId="LiveId" clId="{5BD569B1-74C3-4593-9EC2-60C3C8760E52}" dt="2019-07-31T21:08:29.172" v="3294" actId="1076"/>
          <ac:spMkLst>
            <pc:docMk/>
            <pc:sldMk cId="4283292556" sldId="719"/>
            <ac:spMk id="8" creationId="{E1085079-F1BF-4759-BA6D-841AFEA22A41}"/>
          </ac:spMkLst>
        </pc:spChg>
        <pc:picChg chg="add mod">
          <ac:chgData name="Dincer Konur" userId="0cb337efb386619d" providerId="LiveId" clId="{5BD569B1-74C3-4593-9EC2-60C3C8760E52}" dt="2019-07-31T20:57:00.234" v="3149" actId="1076"/>
          <ac:picMkLst>
            <pc:docMk/>
            <pc:sldMk cId="4283292556" sldId="719"/>
            <ac:picMk id="4" creationId="{5E66AED2-1D09-45E4-BC92-93953F09E50B}"/>
          </ac:picMkLst>
        </pc:picChg>
      </pc:sldChg>
      <pc:sldChg chg="addSp delSp modSp add modAnim">
        <pc:chgData name="Dincer Konur" userId="0cb337efb386619d" providerId="LiveId" clId="{5BD569B1-74C3-4593-9EC2-60C3C8760E52}" dt="2019-07-31T21:25:28.027" v="4052" actId="14100"/>
        <pc:sldMkLst>
          <pc:docMk/>
          <pc:sldMk cId="584262458" sldId="720"/>
        </pc:sldMkLst>
        <pc:spChg chg="mod">
          <ac:chgData name="Dincer Konur" userId="0cb337efb386619d" providerId="LiveId" clId="{5BD569B1-74C3-4593-9EC2-60C3C8760E52}" dt="2019-07-31T21:23:04.805" v="3914" actId="20577"/>
          <ac:spMkLst>
            <pc:docMk/>
            <pc:sldMk cId="584262458" sldId="720"/>
            <ac:spMk id="3" creationId="{00000000-0000-0000-0000-000000000000}"/>
          </ac:spMkLst>
        </pc:spChg>
        <pc:spChg chg="del">
          <ac:chgData name="Dincer Konur" userId="0cb337efb386619d" providerId="LiveId" clId="{5BD569B1-74C3-4593-9EC2-60C3C8760E52}" dt="2019-07-31T21:09:33.374" v="3296" actId="478"/>
          <ac:spMkLst>
            <pc:docMk/>
            <pc:sldMk cId="584262458" sldId="720"/>
            <ac:spMk id="5" creationId="{F49275B2-11C7-49A2-B006-20B45ECCDDCA}"/>
          </ac:spMkLst>
        </pc:spChg>
        <pc:spChg chg="del">
          <ac:chgData name="Dincer Konur" userId="0cb337efb386619d" providerId="LiveId" clId="{5BD569B1-74C3-4593-9EC2-60C3C8760E52}" dt="2019-07-31T21:09:33.374" v="3296" actId="478"/>
          <ac:spMkLst>
            <pc:docMk/>
            <pc:sldMk cId="584262458" sldId="720"/>
            <ac:spMk id="6" creationId="{A524E390-1654-4F49-B7E4-34B1A1055BF9}"/>
          </ac:spMkLst>
        </pc:spChg>
        <pc:spChg chg="del">
          <ac:chgData name="Dincer Konur" userId="0cb337efb386619d" providerId="LiveId" clId="{5BD569B1-74C3-4593-9EC2-60C3C8760E52}" dt="2019-07-31T21:09:33.374" v="3296" actId="478"/>
          <ac:spMkLst>
            <pc:docMk/>
            <pc:sldMk cId="584262458" sldId="720"/>
            <ac:spMk id="7" creationId="{B0D69140-36E3-434F-B1AC-EDFC4470CC12}"/>
          </ac:spMkLst>
        </pc:spChg>
        <pc:spChg chg="del">
          <ac:chgData name="Dincer Konur" userId="0cb337efb386619d" providerId="LiveId" clId="{5BD569B1-74C3-4593-9EC2-60C3C8760E52}" dt="2019-07-31T21:09:33.374" v="3296" actId="478"/>
          <ac:spMkLst>
            <pc:docMk/>
            <pc:sldMk cId="584262458" sldId="720"/>
            <ac:spMk id="8" creationId="{E1085079-F1BF-4759-BA6D-841AFEA22A41}"/>
          </ac:spMkLst>
        </pc:spChg>
        <pc:spChg chg="add mod">
          <ac:chgData name="Dincer Konur" userId="0cb337efb386619d" providerId="LiveId" clId="{5BD569B1-74C3-4593-9EC2-60C3C8760E52}" dt="2019-07-31T21:11:38.455" v="3498" actId="1076"/>
          <ac:spMkLst>
            <pc:docMk/>
            <pc:sldMk cId="584262458" sldId="720"/>
            <ac:spMk id="9" creationId="{A821F5A1-A3D5-46CA-9570-929EFC07F7CE}"/>
          </ac:spMkLst>
        </pc:spChg>
        <pc:spChg chg="add mod">
          <ac:chgData name="Dincer Konur" userId="0cb337efb386619d" providerId="LiveId" clId="{5BD569B1-74C3-4593-9EC2-60C3C8760E52}" dt="2019-07-31T21:13:11.831" v="3586" actId="1076"/>
          <ac:spMkLst>
            <pc:docMk/>
            <pc:sldMk cId="584262458" sldId="720"/>
            <ac:spMk id="10" creationId="{EB4E423F-C75C-4265-AF27-A346F75185ED}"/>
          </ac:spMkLst>
        </pc:spChg>
        <pc:spChg chg="add mod">
          <ac:chgData name="Dincer Konur" userId="0cb337efb386619d" providerId="LiveId" clId="{5BD569B1-74C3-4593-9EC2-60C3C8760E52}" dt="2019-07-31T21:24:56.154" v="4046" actId="1076"/>
          <ac:spMkLst>
            <pc:docMk/>
            <pc:sldMk cId="584262458" sldId="720"/>
            <ac:spMk id="11" creationId="{790183BA-E1B5-4928-9B5A-77AD5180C465}"/>
          </ac:spMkLst>
        </pc:spChg>
        <pc:spChg chg="add mod">
          <ac:chgData name="Dincer Konur" userId="0cb337efb386619d" providerId="LiveId" clId="{5BD569B1-74C3-4593-9EC2-60C3C8760E52}" dt="2019-07-31T21:22:44.687" v="3868" actId="20577"/>
          <ac:spMkLst>
            <pc:docMk/>
            <pc:sldMk cId="584262458" sldId="720"/>
            <ac:spMk id="12" creationId="{31B98D73-4CBA-47A8-8F0F-2218DEE1FA38}"/>
          </ac:spMkLst>
        </pc:spChg>
        <pc:spChg chg="add mod">
          <ac:chgData name="Dincer Konur" userId="0cb337efb386619d" providerId="LiveId" clId="{5BD569B1-74C3-4593-9EC2-60C3C8760E52}" dt="2019-07-31T21:24:53.996" v="4045" actId="1076"/>
          <ac:spMkLst>
            <pc:docMk/>
            <pc:sldMk cId="584262458" sldId="720"/>
            <ac:spMk id="13" creationId="{4386E23F-92F4-4AEF-BED6-666A78704EF1}"/>
          </ac:spMkLst>
        </pc:spChg>
        <pc:spChg chg="add mod">
          <ac:chgData name="Dincer Konur" userId="0cb337efb386619d" providerId="LiveId" clId="{5BD569B1-74C3-4593-9EC2-60C3C8760E52}" dt="2019-07-31T21:24:49.197" v="4044" actId="1076"/>
          <ac:spMkLst>
            <pc:docMk/>
            <pc:sldMk cId="584262458" sldId="720"/>
            <ac:spMk id="14" creationId="{56B51B2F-55AA-4321-92B4-0080DCA77A13}"/>
          </ac:spMkLst>
        </pc:spChg>
        <pc:spChg chg="add mod">
          <ac:chgData name="Dincer Konur" userId="0cb337efb386619d" providerId="LiveId" clId="{5BD569B1-74C3-4593-9EC2-60C3C8760E52}" dt="2019-07-31T21:25:08.478" v="4049" actId="1076"/>
          <ac:spMkLst>
            <pc:docMk/>
            <pc:sldMk cId="584262458" sldId="720"/>
            <ac:spMk id="15" creationId="{13D2F5C7-6683-4D85-ACB8-496BC692DAC9}"/>
          </ac:spMkLst>
        </pc:spChg>
        <pc:picChg chg="del">
          <ac:chgData name="Dincer Konur" userId="0cb337efb386619d" providerId="LiveId" clId="{5BD569B1-74C3-4593-9EC2-60C3C8760E52}" dt="2019-07-31T21:09:33.374" v="3296" actId="478"/>
          <ac:picMkLst>
            <pc:docMk/>
            <pc:sldMk cId="584262458" sldId="720"/>
            <ac:picMk id="4" creationId="{5E66AED2-1D09-45E4-BC92-93953F09E50B}"/>
          </ac:picMkLst>
        </pc:picChg>
        <pc:cxnChg chg="add mod">
          <ac:chgData name="Dincer Konur" userId="0cb337efb386619d" providerId="LiveId" clId="{5BD569B1-74C3-4593-9EC2-60C3C8760E52}" dt="2019-07-31T21:25:28.027" v="4052" actId="14100"/>
          <ac:cxnSpMkLst>
            <pc:docMk/>
            <pc:sldMk cId="584262458" sldId="720"/>
            <ac:cxnSpMk id="17" creationId="{72634699-50F3-4201-B8F1-D1D15DA11705}"/>
          </ac:cxnSpMkLst>
        </pc:cxnChg>
        <pc:cxnChg chg="add mod">
          <ac:chgData name="Dincer Konur" userId="0cb337efb386619d" providerId="LiveId" clId="{5BD569B1-74C3-4593-9EC2-60C3C8760E52}" dt="2019-07-31T21:25:20.699" v="4051" actId="11529"/>
          <ac:cxnSpMkLst>
            <pc:docMk/>
            <pc:sldMk cId="584262458" sldId="720"/>
            <ac:cxnSpMk id="19" creationId="{2C4A8223-6E4A-49BA-85B0-B9E9DDDAA41D}"/>
          </ac:cxnSpMkLst>
        </pc:cxnChg>
      </pc:sldChg>
      <pc:sldChg chg="addSp delSp modSp add delAnim">
        <pc:chgData name="Dincer Konur" userId="0cb337efb386619d" providerId="LiveId" clId="{5BD569B1-74C3-4593-9EC2-60C3C8760E52}" dt="2019-07-31T21:29:02.259" v="4363" actId="20577"/>
        <pc:sldMkLst>
          <pc:docMk/>
          <pc:sldMk cId="382502865" sldId="721"/>
        </pc:sldMkLst>
        <pc:spChg chg="mod">
          <ac:chgData name="Dincer Konur" userId="0cb337efb386619d" providerId="LiveId" clId="{5BD569B1-74C3-4593-9EC2-60C3C8760E52}" dt="2019-07-31T21:29:02.259" v="4363" actId="20577"/>
          <ac:spMkLst>
            <pc:docMk/>
            <pc:sldMk cId="382502865" sldId="721"/>
            <ac:spMk id="3" creationId="{00000000-0000-0000-0000-000000000000}"/>
          </ac:spMkLst>
        </pc:spChg>
        <pc:spChg chg="add mod">
          <ac:chgData name="Dincer Konur" userId="0cb337efb386619d" providerId="LiveId" clId="{5BD569B1-74C3-4593-9EC2-60C3C8760E52}" dt="2019-07-31T21:26:35.583" v="4094" actId="1076"/>
          <ac:spMkLst>
            <pc:docMk/>
            <pc:sldMk cId="382502865" sldId="721"/>
            <ac:spMk id="4" creationId="{3DCE8981-4860-4120-A224-0844D71E8D5C}"/>
          </ac:spMkLst>
        </pc:spChg>
        <pc:spChg chg="del">
          <ac:chgData name="Dincer Konur" userId="0cb337efb386619d" providerId="LiveId" clId="{5BD569B1-74C3-4593-9EC2-60C3C8760E52}" dt="2019-07-31T21:25:39.086" v="4054" actId="478"/>
          <ac:spMkLst>
            <pc:docMk/>
            <pc:sldMk cId="382502865" sldId="721"/>
            <ac:spMk id="9" creationId="{A821F5A1-A3D5-46CA-9570-929EFC07F7CE}"/>
          </ac:spMkLst>
        </pc:spChg>
        <pc:spChg chg="del">
          <ac:chgData name="Dincer Konur" userId="0cb337efb386619d" providerId="LiveId" clId="{5BD569B1-74C3-4593-9EC2-60C3C8760E52}" dt="2019-07-31T21:25:39.086" v="4054" actId="478"/>
          <ac:spMkLst>
            <pc:docMk/>
            <pc:sldMk cId="382502865" sldId="721"/>
            <ac:spMk id="10" creationId="{EB4E423F-C75C-4265-AF27-A346F75185ED}"/>
          </ac:spMkLst>
        </pc:spChg>
        <pc:spChg chg="del">
          <ac:chgData name="Dincer Konur" userId="0cb337efb386619d" providerId="LiveId" clId="{5BD569B1-74C3-4593-9EC2-60C3C8760E52}" dt="2019-07-31T21:25:39.086" v="4054" actId="478"/>
          <ac:spMkLst>
            <pc:docMk/>
            <pc:sldMk cId="382502865" sldId="721"/>
            <ac:spMk id="11" creationId="{790183BA-E1B5-4928-9B5A-77AD5180C465}"/>
          </ac:spMkLst>
        </pc:spChg>
        <pc:spChg chg="del">
          <ac:chgData name="Dincer Konur" userId="0cb337efb386619d" providerId="LiveId" clId="{5BD569B1-74C3-4593-9EC2-60C3C8760E52}" dt="2019-07-31T21:25:39.086" v="4054" actId="478"/>
          <ac:spMkLst>
            <pc:docMk/>
            <pc:sldMk cId="382502865" sldId="721"/>
            <ac:spMk id="12" creationId="{31B98D73-4CBA-47A8-8F0F-2218DEE1FA38}"/>
          </ac:spMkLst>
        </pc:spChg>
        <pc:spChg chg="del">
          <ac:chgData name="Dincer Konur" userId="0cb337efb386619d" providerId="LiveId" clId="{5BD569B1-74C3-4593-9EC2-60C3C8760E52}" dt="2019-07-31T21:25:39.086" v="4054" actId="478"/>
          <ac:spMkLst>
            <pc:docMk/>
            <pc:sldMk cId="382502865" sldId="721"/>
            <ac:spMk id="13" creationId="{4386E23F-92F4-4AEF-BED6-666A78704EF1}"/>
          </ac:spMkLst>
        </pc:spChg>
        <pc:spChg chg="del">
          <ac:chgData name="Dincer Konur" userId="0cb337efb386619d" providerId="LiveId" clId="{5BD569B1-74C3-4593-9EC2-60C3C8760E52}" dt="2019-07-31T21:25:39.086" v="4054" actId="478"/>
          <ac:spMkLst>
            <pc:docMk/>
            <pc:sldMk cId="382502865" sldId="721"/>
            <ac:spMk id="14" creationId="{56B51B2F-55AA-4321-92B4-0080DCA77A13}"/>
          </ac:spMkLst>
        </pc:spChg>
        <pc:spChg chg="del">
          <ac:chgData name="Dincer Konur" userId="0cb337efb386619d" providerId="LiveId" clId="{5BD569B1-74C3-4593-9EC2-60C3C8760E52}" dt="2019-07-31T21:25:39.086" v="4054" actId="478"/>
          <ac:spMkLst>
            <pc:docMk/>
            <pc:sldMk cId="382502865" sldId="721"/>
            <ac:spMk id="15" creationId="{13D2F5C7-6683-4D85-ACB8-496BC692DAC9}"/>
          </ac:spMkLst>
        </pc:spChg>
        <pc:cxnChg chg="del">
          <ac:chgData name="Dincer Konur" userId="0cb337efb386619d" providerId="LiveId" clId="{5BD569B1-74C3-4593-9EC2-60C3C8760E52}" dt="2019-07-31T21:25:39.086" v="4054" actId="478"/>
          <ac:cxnSpMkLst>
            <pc:docMk/>
            <pc:sldMk cId="382502865" sldId="721"/>
            <ac:cxnSpMk id="17" creationId="{72634699-50F3-4201-B8F1-D1D15DA11705}"/>
          </ac:cxnSpMkLst>
        </pc:cxnChg>
        <pc:cxnChg chg="del mod">
          <ac:chgData name="Dincer Konur" userId="0cb337efb386619d" providerId="LiveId" clId="{5BD569B1-74C3-4593-9EC2-60C3C8760E52}" dt="2019-07-31T21:25:39.086" v="4054" actId="478"/>
          <ac:cxnSpMkLst>
            <pc:docMk/>
            <pc:sldMk cId="382502865" sldId="721"/>
            <ac:cxnSpMk id="19" creationId="{2C4A8223-6E4A-49BA-85B0-B9E9DDDAA41D}"/>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8A81C-13E0-402A-9BD9-36F3DFFB46F8}" type="datetimeFigureOut">
              <a:rPr lang="en-US" smtClean="0"/>
              <a:t>10/28/2024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376B9-9838-4376-9895-3384D05A8DF5}" type="slidenum">
              <a:rPr lang="en-US" smtClean="0"/>
              <a:t>‹#›</a:t>
            </a:fld>
            <a:endParaRPr lang="en-US"/>
          </a:p>
        </p:txBody>
      </p:sp>
    </p:spTree>
    <p:extLst>
      <p:ext uri="{BB962C8B-B14F-4D97-AF65-F5344CB8AC3E}">
        <p14:creationId xmlns:p14="http://schemas.microsoft.com/office/powerpoint/2010/main" val="399736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a:t>
            </a:fld>
            <a:endParaRPr lang="en-US"/>
          </a:p>
        </p:txBody>
      </p:sp>
    </p:spTree>
    <p:extLst>
      <p:ext uri="{BB962C8B-B14F-4D97-AF65-F5344CB8AC3E}">
        <p14:creationId xmlns:p14="http://schemas.microsoft.com/office/powerpoint/2010/main" val="1020249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a:t>
            </a:fld>
            <a:endParaRPr lang="en-US"/>
          </a:p>
        </p:txBody>
      </p:sp>
    </p:spTree>
    <p:extLst>
      <p:ext uri="{BB962C8B-B14F-4D97-AF65-F5344CB8AC3E}">
        <p14:creationId xmlns:p14="http://schemas.microsoft.com/office/powerpoint/2010/main" val="1168381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CD09E-7D52-7569-211A-2B14EFA797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4EE48-70D4-3A52-5836-AD192A83C0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FE9DA-A84A-0FCD-9C9F-73E5B52DE1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EFD071-D09D-802D-0409-987F428B142B}"/>
              </a:ext>
            </a:extLst>
          </p:cNvPr>
          <p:cNvSpPr>
            <a:spLocks noGrp="1"/>
          </p:cNvSpPr>
          <p:nvPr>
            <p:ph type="sldNum" sz="quarter" idx="10"/>
          </p:nvPr>
        </p:nvSpPr>
        <p:spPr/>
        <p:txBody>
          <a:bodyPr/>
          <a:lstStyle/>
          <a:p>
            <a:fld id="{209376B9-9838-4376-9895-3384D05A8DF5}" type="slidenum">
              <a:rPr lang="en-US" smtClean="0"/>
              <a:t>4</a:t>
            </a:fld>
            <a:endParaRPr lang="en-US"/>
          </a:p>
        </p:txBody>
      </p:sp>
    </p:spTree>
    <p:extLst>
      <p:ext uri="{BB962C8B-B14F-4D97-AF65-F5344CB8AC3E}">
        <p14:creationId xmlns:p14="http://schemas.microsoft.com/office/powerpoint/2010/main" val="2964643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6A55D-4587-6370-634B-C352DF1C1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99684D-CE56-4BC7-DCE6-69E0C46B5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C4154-AFAA-14D0-F67E-68F0AE8782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926380-05C3-8D7E-EBC2-0000920C02A4}"/>
              </a:ext>
            </a:extLst>
          </p:cNvPr>
          <p:cNvSpPr>
            <a:spLocks noGrp="1"/>
          </p:cNvSpPr>
          <p:nvPr>
            <p:ph type="sldNum" sz="quarter" idx="10"/>
          </p:nvPr>
        </p:nvSpPr>
        <p:spPr/>
        <p:txBody>
          <a:bodyPr/>
          <a:lstStyle/>
          <a:p>
            <a:fld id="{209376B9-9838-4376-9895-3384D05A8DF5}" type="slidenum">
              <a:rPr lang="en-US" smtClean="0"/>
              <a:t>10</a:t>
            </a:fld>
            <a:endParaRPr lang="en-US"/>
          </a:p>
        </p:txBody>
      </p:sp>
    </p:spTree>
    <p:extLst>
      <p:ext uri="{BB962C8B-B14F-4D97-AF65-F5344CB8AC3E}">
        <p14:creationId xmlns:p14="http://schemas.microsoft.com/office/powerpoint/2010/main" val="3406720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E6F49-BEE3-578D-C52E-99682C61D9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A9968-D1EB-27C6-76AE-EB65255A9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C04DEC-D6B9-A4FF-4653-8C332A0E64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DCF039-54EC-A837-EE51-AD2465DF03ED}"/>
              </a:ext>
            </a:extLst>
          </p:cNvPr>
          <p:cNvSpPr>
            <a:spLocks noGrp="1"/>
          </p:cNvSpPr>
          <p:nvPr>
            <p:ph type="sldNum" sz="quarter" idx="10"/>
          </p:nvPr>
        </p:nvSpPr>
        <p:spPr/>
        <p:txBody>
          <a:bodyPr/>
          <a:lstStyle/>
          <a:p>
            <a:fld id="{209376B9-9838-4376-9895-3384D05A8DF5}" type="slidenum">
              <a:rPr lang="en-US" smtClean="0"/>
              <a:t>27</a:t>
            </a:fld>
            <a:endParaRPr lang="en-US"/>
          </a:p>
        </p:txBody>
      </p:sp>
    </p:spTree>
    <p:extLst>
      <p:ext uri="{BB962C8B-B14F-4D97-AF65-F5344CB8AC3E}">
        <p14:creationId xmlns:p14="http://schemas.microsoft.com/office/powerpoint/2010/main" val="2592497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29</a:t>
            </a:fld>
            <a:endParaRPr lang="en-US"/>
          </a:p>
        </p:txBody>
      </p:sp>
    </p:spTree>
    <p:extLst>
      <p:ext uri="{BB962C8B-B14F-4D97-AF65-F5344CB8AC3E}">
        <p14:creationId xmlns:p14="http://schemas.microsoft.com/office/powerpoint/2010/main" val="16573934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D172B67-1FE0-4470-B55B-3CC11D24CADD}" type="datetime1">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13263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1353BFE4-7670-4C28-92F7-8FCF0FD57118}" type="datetime1">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795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9F1F0A-5054-4219-9A96-DB543FB4EFD5}" type="datetime1">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54182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5CAD19-473A-4066-B1E0-68343C5132D6}" type="datetime1">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12344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EE0FC2-52DB-4282-89B9-05C3BBBBC7B9}" type="datetime1">
              <a:rPr lang="en-US" smtClean="0"/>
              <a:t>10/28/2024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45901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8995194-1803-4C82-8079-F4C50D2E86E0}" type="datetime1">
              <a:rPr lang="en-US" smtClean="0"/>
              <a:t>10/28/2024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3703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2B8836-251C-4B0D-A69F-3D40347DD622}" type="datetime1">
              <a:rPr lang="en-US" smtClean="0"/>
              <a:t>10/28/2024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61555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2F5A95-0B6A-4566-A8AE-17A99E17AA43}" type="datetime1">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26790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3B09B7-F020-41E3-BB39-6A5B3AE8FEC4}" type="datetime1">
              <a:rPr lang="en-US" smtClean="0"/>
              <a:t>10/28/2024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142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42F8F7-4165-4684-A498-E5E8E09A9509}" type="datetime1">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9316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E646EA-4182-4A67-B641-818480444DAC}" type="datetime1">
              <a:rPr lang="en-US" smtClean="0"/>
              <a:t>10/28/2024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7286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EC6168-8311-497C-A3AF-702D84FBDFB2}" type="datetime1">
              <a:rPr lang="en-US" smtClean="0"/>
              <a:t>10/28/2024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3431302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image" Target="../media/image7.emf"/></Relationships>
</file>

<file path=ppt/slides/_rels/slide1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1.emf"/><Relationship Id="rId4" Type="http://schemas.openxmlformats.org/officeDocument/2006/relationships/image" Target="../media/image10.emf"/></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13.emf"/></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3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682433"/>
            <a:ext cx="11487150" cy="3336828"/>
          </a:xfrm>
        </p:spPr>
        <p:txBody>
          <a:bodyPr>
            <a:normAutofit/>
          </a:bodyPr>
          <a:lstStyle/>
          <a:p>
            <a:r>
              <a:rPr lang="en-US" sz="3200" dirty="0"/>
              <a:t>QMST 5335</a:t>
            </a:r>
            <a:br>
              <a:rPr lang="en-US" sz="3200" dirty="0"/>
            </a:br>
            <a:r>
              <a:rPr lang="en-US" sz="4000" b="1" dirty="0"/>
              <a:t>Module 2.2</a:t>
            </a:r>
            <a:br>
              <a:rPr lang="en-US" sz="5400" dirty="0"/>
            </a:br>
            <a:r>
              <a:rPr lang="en-US" sz="5400" b="1" dirty="0">
                <a:solidFill>
                  <a:prstClr val="black"/>
                </a:solidFill>
              </a:rPr>
              <a:t>Queueing Analyses, Cases, and More</a:t>
            </a:r>
            <a:br>
              <a:rPr lang="en-US" sz="5400" dirty="0"/>
            </a:br>
            <a:endParaRPr lang="en-US" sz="4400" b="1" dirty="0">
              <a:solidFill>
                <a:srgbClr val="C00000"/>
              </a:solidFill>
            </a:endParaRPr>
          </a:p>
        </p:txBody>
      </p:sp>
    </p:spTree>
    <p:extLst>
      <p:ext uri="{BB962C8B-B14F-4D97-AF65-F5344CB8AC3E}">
        <p14:creationId xmlns:p14="http://schemas.microsoft.com/office/powerpoint/2010/main" val="2541942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Learning Objectives:</a:t>
            </a:r>
          </a:p>
        </p:txBody>
      </p:sp>
      <p:sp>
        <p:nvSpPr>
          <p:cNvPr id="3" name="Content Placeholder 2"/>
          <p:cNvSpPr>
            <a:spLocks noGrp="1"/>
          </p:cNvSpPr>
          <p:nvPr>
            <p:ph idx="1"/>
          </p:nvPr>
        </p:nvSpPr>
        <p:spPr/>
        <p:txBody>
          <a:bodyPr>
            <a:normAutofit/>
          </a:bodyPr>
          <a:lstStyle/>
          <a:p>
            <a:r>
              <a:rPr lang="en-US" dirty="0"/>
              <a:t>Understanding basic approaches used to evaluate queueing systems and compare design alternatives</a:t>
            </a:r>
          </a:p>
          <a:p>
            <a:r>
              <a:rPr lang="en-US" dirty="0"/>
              <a:t>Learning how to analyze various performance requirements</a:t>
            </a:r>
          </a:p>
          <a:p>
            <a:r>
              <a:rPr lang="en-US" dirty="0"/>
              <a:t>Learning how to analyze economics of various queueing systems</a:t>
            </a:r>
          </a:p>
          <a:p>
            <a:r>
              <a:rPr lang="en-US" dirty="0"/>
              <a:t>Getting familiar with Priority queues</a:t>
            </a:r>
          </a:p>
          <a:p>
            <a:r>
              <a:rPr lang="en-US" dirty="0"/>
              <a:t>Learning basics of system of connected queueing systems</a:t>
            </a:r>
          </a:p>
        </p:txBody>
      </p:sp>
    </p:spTree>
    <p:extLst>
      <p:ext uri="{BB962C8B-B14F-4D97-AF65-F5344CB8AC3E}">
        <p14:creationId xmlns:p14="http://schemas.microsoft.com/office/powerpoint/2010/main" val="193492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2" y="1312433"/>
            <a:ext cx="9271219" cy="4864530"/>
          </a:xfrm>
        </p:spPr>
        <p:txBody>
          <a:bodyPr>
            <a:normAutofit/>
          </a:bodyPr>
          <a:lstStyle/>
          <a:p>
            <a:r>
              <a:rPr lang="en-US" dirty="0"/>
              <a:t>Evaluating Queueing Systems</a:t>
            </a:r>
          </a:p>
          <a:p>
            <a:endParaRPr lang="en-US" dirty="0"/>
          </a:p>
          <a:p>
            <a:r>
              <a:rPr lang="en-US" dirty="0"/>
              <a:t>Analyses</a:t>
            </a:r>
          </a:p>
          <a:p>
            <a:pPr lvl="1"/>
            <a:r>
              <a:rPr lang="en-US" dirty="0"/>
              <a:t>Systematic Analyses: Case – Car Charging Station Design</a:t>
            </a:r>
          </a:p>
          <a:p>
            <a:pPr lvl="1"/>
            <a:r>
              <a:rPr lang="en-US" dirty="0"/>
              <a:t>Economic Analyses: Case – Workstation Setup Design</a:t>
            </a:r>
          </a:p>
          <a:p>
            <a:endParaRPr lang="en-US" dirty="0"/>
          </a:p>
          <a:p>
            <a:r>
              <a:rPr lang="en-US" dirty="0"/>
              <a:t>Further concepts</a:t>
            </a:r>
          </a:p>
          <a:p>
            <a:pPr lvl="1"/>
            <a:r>
              <a:rPr lang="en-US" dirty="0"/>
              <a:t>Priority Queues</a:t>
            </a:r>
          </a:p>
          <a:p>
            <a:pPr lvl="1"/>
            <a:r>
              <a:rPr lang="en-US" dirty="0"/>
              <a:t>Queueing Networks</a:t>
            </a:r>
          </a:p>
          <a:p>
            <a:pPr marL="0" indent="0">
              <a:buNone/>
            </a:pPr>
            <a:endParaRPr lang="en-US" dirty="0"/>
          </a:p>
          <a:p>
            <a:pPr lvl="1"/>
            <a:endParaRPr lang="en-US" dirty="0"/>
          </a:p>
        </p:txBody>
      </p:sp>
    </p:spTree>
    <p:extLst>
      <p:ext uri="{BB962C8B-B14F-4D97-AF65-F5344CB8AC3E}">
        <p14:creationId xmlns:p14="http://schemas.microsoft.com/office/powerpoint/2010/main" val="2474569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DF92F-5F9B-A078-63FC-FE0CBDB8DB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69843-7CBF-C799-2694-39FD8909657B}"/>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8C80704A-4009-331C-0813-49E33542D8A3}"/>
              </a:ext>
            </a:extLst>
          </p:cNvPr>
          <p:cNvSpPr>
            <a:spLocks noGrp="1"/>
          </p:cNvSpPr>
          <p:nvPr>
            <p:ph idx="1"/>
          </p:nvPr>
        </p:nvSpPr>
        <p:spPr>
          <a:xfrm>
            <a:off x="355002" y="1312433"/>
            <a:ext cx="9271219" cy="4864530"/>
          </a:xfrm>
        </p:spPr>
        <p:txBody>
          <a:bodyPr>
            <a:normAutofit/>
          </a:bodyPr>
          <a:lstStyle/>
          <a:p>
            <a:r>
              <a:rPr lang="en-US" dirty="0"/>
              <a:t>Evaluating Queueing Systems</a:t>
            </a:r>
          </a:p>
          <a:p>
            <a:endParaRPr lang="en-US" dirty="0"/>
          </a:p>
          <a:p>
            <a:r>
              <a:rPr lang="en-US" dirty="0">
                <a:solidFill>
                  <a:schemeClr val="bg2"/>
                </a:solidFill>
              </a:rPr>
              <a:t>Analyses</a:t>
            </a:r>
          </a:p>
          <a:p>
            <a:pPr lvl="1"/>
            <a:r>
              <a:rPr lang="en-US" dirty="0">
                <a:solidFill>
                  <a:schemeClr val="bg2"/>
                </a:solidFill>
              </a:rPr>
              <a:t>Systematic Analyses: Case – Car Charging Station Design</a:t>
            </a:r>
          </a:p>
          <a:p>
            <a:pPr lvl="1"/>
            <a:r>
              <a:rPr lang="en-US" dirty="0">
                <a:solidFill>
                  <a:schemeClr val="bg2"/>
                </a:solidFill>
              </a:rPr>
              <a:t>Economic Analyses: Case – Workstation Setup Design</a:t>
            </a:r>
          </a:p>
          <a:p>
            <a:endParaRPr lang="en-US" dirty="0">
              <a:solidFill>
                <a:schemeClr val="bg2"/>
              </a:solidFill>
            </a:endParaRPr>
          </a:p>
          <a:p>
            <a:r>
              <a:rPr lang="en-US" dirty="0">
                <a:solidFill>
                  <a:schemeClr val="bg2"/>
                </a:solidFill>
              </a:rPr>
              <a:t>Further concepts</a:t>
            </a:r>
          </a:p>
          <a:p>
            <a:pPr lvl="1"/>
            <a:r>
              <a:rPr lang="en-US" dirty="0">
                <a:solidFill>
                  <a:schemeClr val="bg2"/>
                </a:solidFill>
              </a:rPr>
              <a:t>Priority Queues</a:t>
            </a:r>
          </a:p>
          <a:p>
            <a:pPr lvl="1"/>
            <a:r>
              <a:rPr lang="en-US" dirty="0">
                <a:solidFill>
                  <a:schemeClr val="bg2"/>
                </a:solidFill>
              </a:rPr>
              <a:t>Queueing Networks</a:t>
            </a:r>
          </a:p>
          <a:p>
            <a:pPr marL="0" indent="0">
              <a:buNone/>
            </a:pPr>
            <a:endParaRPr lang="en-US" dirty="0"/>
          </a:p>
          <a:p>
            <a:pPr lvl="1"/>
            <a:endParaRPr lang="en-US" dirty="0"/>
          </a:p>
        </p:txBody>
      </p:sp>
    </p:spTree>
    <p:extLst>
      <p:ext uri="{BB962C8B-B14F-4D97-AF65-F5344CB8AC3E}">
        <p14:creationId xmlns:p14="http://schemas.microsoft.com/office/powerpoint/2010/main" val="3378994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Queueing Systems</a:t>
            </a:r>
          </a:p>
        </p:txBody>
      </p:sp>
      <p:sp>
        <p:nvSpPr>
          <p:cNvPr id="3" name="Content Placeholder 2"/>
          <p:cNvSpPr>
            <a:spLocks noGrp="1"/>
          </p:cNvSpPr>
          <p:nvPr>
            <p:ph idx="1"/>
          </p:nvPr>
        </p:nvSpPr>
        <p:spPr>
          <a:xfrm>
            <a:off x="355002" y="1312433"/>
            <a:ext cx="11715078" cy="4864530"/>
          </a:xfrm>
        </p:spPr>
        <p:txBody>
          <a:bodyPr/>
          <a:lstStyle/>
          <a:p>
            <a:pPr>
              <a:lnSpc>
                <a:spcPct val="80000"/>
              </a:lnSpc>
            </a:pPr>
            <a:r>
              <a:rPr lang="en-US" b="1" u="sng" dirty="0">
                <a:solidFill>
                  <a:srgbClr val="C00000"/>
                </a:solidFill>
              </a:rPr>
              <a:t>Economic Analyses: Basics</a:t>
            </a:r>
          </a:p>
          <a:p>
            <a:pPr>
              <a:lnSpc>
                <a:spcPct val="80000"/>
              </a:lnSpc>
            </a:pPr>
            <a:r>
              <a:rPr lang="en-US" dirty="0"/>
              <a:t>Managers are often interested in the costs/profits</a:t>
            </a:r>
          </a:p>
          <a:p>
            <a:pPr lvl="1">
              <a:lnSpc>
                <a:spcPct val="80000"/>
              </a:lnSpc>
            </a:pPr>
            <a:r>
              <a:rPr lang="en-US" dirty="0"/>
              <a:t>Typically, these costs will be defined considering time</a:t>
            </a:r>
          </a:p>
          <a:p>
            <a:pPr lvl="2">
              <a:lnSpc>
                <a:spcPct val="80000"/>
              </a:lnSpc>
            </a:pPr>
            <a:r>
              <a:rPr lang="en-US" sz="2200" dirty="0"/>
              <a:t>$5 per hour, $10 per minute, etc.</a:t>
            </a:r>
          </a:p>
          <a:p>
            <a:pPr lvl="1">
              <a:lnSpc>
                <a:spcPct val="80000"/>
              </a:lnSpc>
            </a:pPr>
            <a:r>
              <a:rPr lang="en-US" dirty="0"/>
              <a:t>There are two main sources of costs</a:t>
            </a:r>
          </a:p>
          <a:p>
            <a:pPr lvl="2">
              <a:lnSpc>
                <a:spcPct val="80000"/>
              </a:lnSpc>
            </a:pPr>
            <a:r>
              <a:rPr lang="en-US" b="1" dirty="0">
                <a:solidFill>
                  <a:srgbClr val="C00000"/>
                </a:solidFill>
              </a:rPr>
              <a:t>Servers:</a:t>
            </a:r>
            <a:r>
              <a:rPr lang="en-US" dirty="0"/>
              <a:t> Employee cost, machine cost, etc.</a:t>
            </a:r>
          </a:p>
          <a:p>
            <a:pPr lvl="3">
              <a:lnSpc>
                <a:spcPct val="80000"/>
              </a:lnSpc>
            </a:pPr>
            <a:r>
              <a:rPr lang="en-US" sz="2000" dirty="0"/>
              <a:t>Expected total server cost/hour = (expected cost of a server/hour) X (# of servers)</a:t>
            </a:r>
          </a:p>
          <a:p>
            <a:pPr lvl="3">
              <a:lnSpc>
                <a:spcPct val="80000"/>
              </a:lnSpc>
            </a:pPr>
            <a:r>
              <a:rPr lang="en-US" sz="2000" dirty="0"/>
              <a:t>Need to pay attention if server cost is fixed or depends on busy/idle status</a:t>
            </a:r>
          </a:p>
          <a:p>
            <a:pPr lvl="2">
              <a:lnSpc>
                <a:spcPct val="80000"/>
              </a:lnSpc>
            </a:pPr>
            <a:r>
              <a:rPr lang="en-US" b="1" dirty="0">
                <a:solidFill>
                  <a:srgbClr val="C00000"/>
                </a:solidFill>
              </a:rPr>
              <a:t>Customers:</a:t>
            </a:r>
            <a:r>
              <a:rPr lang="en-US" dirty="0"/>
              <a:t> waiting costs, penalties paid</a:t>
            </a:r>
          </a:p>
          <a:p>
            <a:pPr lvl="3">
              <a:lnSpc>
                <a:spcPct val="80000"/>
              </a:lnSpc>
            </a:pPr>
            <a:r>
              <a:rPr lang="en-US" sz="2000" dirty="0"/>
              <a:t>Expected total customer cost/hour = (expected cost of a customer) X (exp. # of customers/hour)</a:t>
            </a:r>
          </a:p>
          <a:p>
            <a:pPr lvl="3">
              <a:lnSpc>
                <a:spcPct val="80000"/>
              </a:lnSpc>
            </a:pPr>
            <a:r>
              <a:rPr lang="en-US" sz="2000" dirty="0"/>
              <a:t>Need to pay attention if customer cost depends on W, </a:t>
            </a:r>
            <a:r>
              <a:rPr lang="en-US" sz="2000" dirty="0" err="1"/>
              <a:t>Wq</a:t>
            </a:r>
            <a:r>
              <a:rPr lang="en-US" sz="2000" dirty="0"/>
              <a:t> or some other specifics</a:t>
            </a:r>
          </a:p>
          <a:p>
            <a:pPr lvl="4">
              <a:lnSpc>
                <a:spcPct val="80000"/>
              </a:lnSpc>
            </a:pPr>
            <a:endParaRPr lang="en-US" dirty="0"/>
          </a:p>
          <a:p>
            <a:pPr lvl="1">
              <a:lnSpc>
                <a:spcPct val="80000"/>
              </a:lnSpc>
            </a:pPr>
            <a:r>
              <a:rPr lang="en-US" dirty="0"/>
              <a:t>It is useful to calculate the average (expected) cost/profit of a system</a:t>
            </a:r>
          </a:p>
          <a:p>
            <a:pPr lvl="2">
              <a:lnSpc>
                <a:spcPct val="80000"/>
              </a:lnSpc>
            </a:pPr>
            <a:r>
              <a:rPr lang="en-US" dirty="0"/>
              <a:t>So that we can compare different alternatives in terms of costs/profits or others</a:t>
            </a:r>
            <a:endParaRPr lang="en-US" b="1" baseline="30000" dirty="0">
              <a:sym typeface="Symbol" pitchFamily="18" charset="2"/>
            </a:endParaRPr>
          </a:p>
        </p:txBody>
      </p:sp>
    </p:spTree>
    <p:extLst>
      <p:ext uri="{BB962C8B-B14F-4D97-AF65-F5344CB8AC3E}">
        <p14:creationId xmlns:p14="http://schemas.microsoft.com/office/powerpoint/2010/main" val="267236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Queueing Systems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715078" cy="4864530"/>
              </a:xfrm>
            </p:spPr>
            <p:txBody>
              <a:bodyPr>
                <a:normAutofit lnSpcReduction="10000"/>
              </a:bodyPr>
              <a:lstStyle/>
              <a:p>
                <a:pPr>
                  <a:lnSpc>
                    <a:spcPct val="80000"/>
                  </a:lnSpc>
                </a:pPr>
                <a:r>
                  <a:rPr lang="en-US" b="1" u="sng" dirty="0">
                    <a:solidFill>
                      <a:srgbClr val="C00000"/>
                    </a:solidFill>
                  </a:rPr>
                  <a:t>Economic Analyses: Some Examples</a:t>
                </a:r>
              </a:p>
              <a:p>
                <a:pPr>
                  <a:lnSpc>
                    <a:spcPct val="80000"/>
                  </a:lnSpc>
                </a:pPr>
                <a:r>
                  <a:rPr lang="en-US" dirty="0">
                    <a:solidFill>
                      <a:srgbClr val="C00000"/>
                    </a:solidFill>
                  </a:rPr>
                  <a:t>Server costs: </a:t>
                </a:r>
                <a:r>
                  <a:rPr lang="en-US" dirty="0"/>
                  <a:t>Typically, a server cost would either be a flat-rate or depend on utilization</a:t>
                </a:r>
              </a:p>
              <a:p>
                <a:pPr lvl="1">
                  <a:lnSpc>
                    <a:spcPct val="80000"/>
                  </a:lnSpc>
                </a:pPr>
                <a:r>
                  <a:rPr lang="en-US" dirty="0"/>
                  <a:t>E.g. A server (employee) cost is $5/</a:t>
                </a:r>
                <a:r>
                  <a:rPr lang="en-US" dirty="0" err="1"/>
                  <a:t>hr</a:t>
                </a:r>
                <a:r>
                  <a:rPr lang="en-US" dirty="0"/>
                  <a:t> (regardless of being busy or idle)</a:t>
                </a:r>
              </a:p>
              <a:p>
                <a:pPr lvl="2">
                  <a:lnSpc>
                    <a:spcPct val="80000"/>
                  </a:lnSpc>
                </a:pPr>
                <a:r>
                  <a:rPr lang="en-US" dirty="0"/>
                  <a:t>So, a single server’s cost is $5/</a:t>
                </a:r>
                <a:r>
                  <a:rPr lang="en-US" dirty="0" err="1"/>
                  <a:t>hr</a:t>
                </a:r>
                <a:endParaRPr lang="en-US" dirty="0"/>
              </a:p>
              <a:p>
                <a:pPr lvl="2">
                  <a:lnSpc>
                    <a:spcPct val="80000"/>
                  </a:lnSpc>
                </a:pPr>
                <a:r>
                  <a:rPr lang="en-US" dirty="0"/>
                  <a:t>When there are 2 servers in a system </a:t>
                </a:r>
                <a:r>
                  <a:rPr lang="en-US" dirty="0">
                    <a:sym typeface="Wingdings" panose="05000000000000000000" pitchFamily="2" charset="2"/>
                  </a:rPr>
                  <a:t> total server cost/hour is 2x$5/</a:t>
                </a:r>
                <a:r>
                  <a:rPr lang="en-US" dirty="0" err="1">
                    <a:sym typeface="Wingdings" panose="05000000000000000000" pitchFamily="2" charset="2"/>
                  </a:rPr>
                  <a:t>hr</a:t>
                </a:r>
                <a:r>
                  <a:rPr lang="en-US" dirty="0">
                    <a:sym typeface="Wingdings" panose="05000000000000000000" pitchFamily="2" charset="2"/>
                  </a:rPr>
                  <a:t> = $10/</a:t>
                </a:r>
                <a:r>
                  <a:rPr lang="en-US" dirty="0" err="1">
                    <a:sym typeface="Wingdings" panose="05000000000000000000" pitchFamily="2" charset="2"/>
                  </a:rPr>
                  <a:t>hr</a:t>
                </a:r>
                <a:endParaRPr lang="en-US" dirty="0">
                  <a:sym typeface="Wingdings" panose="05000000000000000000" pitchFamily="2" charset="2"/>
                </a:endParaRPr>
              </a:p>
              <a:p>
                <a:pPr lvl="1">
                  <a:lnSpc>
                    <a:spcPct val="80000"/>
                  </a:lnSpc>
                </a:pPr>
                <a:r>
                  <a:rPr lang="en-US" dirty="0">
                    <a:sym typeface="Wingdings" panose="05000000000000000000" pitchFamily="2" charset="2"/>
                  </a:rPr>
                  <a:t>E.g. A server (machine) cost is $10/</a:t>
                </a:r>
                <a:r>
                  <a:rPr lang="en-US" dirty="0" err="1">
                    <a:sym typeface="Wingdings" panose="05000000000000000000" pitchFamily="2" charset="2"/>
                  </a:rPr>
                  <a:t>hr</a:t>
                </a:r>
                <a:r>
                  <a:rPr lang="en-US" dirty="0">
                    <a:sym typeface="Wingdings" panose="05000000000000000000" pitchFamily="2" charset="2"/>
                  </a:rPr>
                  <a:t> when busy and $5/</a:t>
                </a:r>
                <a:r>
                  <a:rPr lang="en-US" dirty="0" err="1">
                    <a:sym typeface="Wingdings" panose="05000000000000000000" pitchFamily="2" charset="2"/>
                  </a:rPr>
                  <a:t>hr</a:t>
                </a:r>
                <a:r>
                  <a:rPr lang="en-US" dirty="0">
                    <a:sym typeface="Wingdings" panose="05000000000000000000" pitchFamily="2" charset="2"/>
                  </a:rPr>
                  <a:t> when idle</a:t>
                </a:r>
              </a:p>
              <a:p>
                <a:pPr lvl="2">
                  <a:lnSpc>
                    <a:spcPct val="80000"/>
                  </a:lnSpc>
                </a:pPr>
                <a:r>
                  <a:rPr lang="en-US" dirty="0">
                    <a:sym typeface="Wingdings" panose="05000000000000000000" pitchFamily="2" charset="2"/>
                  </a:rPr>
                  <a:t>A single server cost is: </a:t>
                </a:r>
                <a14:m>
                  <m:oMath xmlns:m="http://schemas.openxmlformats.org/officeDocument/2006/math">
                    <m:r>
                      <a:rPr lang="en-US" b="0" i="1" smtClean="0">
                        <a:latin typeface="Cambria Math" panose="02040503050406030204" pitchFamily="18" charset="0"/>
                        <a:sym typeface="Wingdings" panose="05000000000000000000" pitchFamily="2" charset="2"/>
                      </a:rPr>
                      <m:t>$10×</m:t>
                    </m:r>
                    <m:r>
                      <a:rPr lang="en-US" b="0" i="1" smtClean="0">
                        <a:latin typeface="Cambria Math" panose="02040503050406030204" pitchFamily="18" charset="0"/>
                        <a:sym typeface="Wingdings" panose="05000000000000000000" pitchFamily="2" charset="2"/>
                      </a:rPr>
                      <m:t>𝜌</m:t>
                    </m:r>
                    <m:r>
                      <a:rPr lang="en-US" b="0" i="1" smtClean="0">
                        <a:latin typeface="Cambria Math" panose="02040503050406030204" pitchFamily="18" charset="0"/>
                        <a:sym typeface="Wingdings" panose="05000000000000000000" pitchFamily="2" charset="2"/>
                      </a:rPr>
                      <m:t>+$5×(1−</m:t>
                    </m:r>
                    <m:r>
                      <a:rPr lang="en-US" b="0" i="1" smtClean="0">
                        <a:latin typeface="Cambria Math" panose="02040503050406030204" pitchFamily="18" charset="0"/>
                        <a:sym typeface="Wingdings" panose="05000000000000000000" pitchFamily="2" charset="2"/>
                      </a:rPr>
                      <m:t>𝜌</m:t>
                    </m:r>
                    <m:r>
                      <a:rPr lang="en-US" b="0" i="1" smtClean="0">
                        <a:latin typeface="Cambria Math" panose="02040503050406030204" pitchFamily="18" charset="0"/>
                        <a:sym typeface="Wingdings" panose="05000000000000000000" pitchFamily="2" charset="2"/>
                      </a:rPr>
                      <m:t>)</m:t>
                    </m:r>
                  </m:oMath>
                </a14:m>
                <a:r>
                  <a:rPr lang="en-US" dirty="0"/>
                  <a:t> per hour</a:t>
                </a:r>
              </a:p>
              <a:p>
                <a:pPr lvl="2">
                  <a:lnSpc>
                    <a:spcPct val="80000"/>
                  </a:lnSpc>
                </a:pPr>
                <a:r>
                  <a:rPr lang="en-US" dirty="0"/>
                  <a:t>When there are 2 servers in a system </a:t>
                </a:r>
                <a:r>
                  <a:rPr lang="en-US" dirty="0">
                    <a:sym typeface="Wingdings" panose="05000000000000000000" pitchFamily="2" charset="2"/>
                  </a:rPr>
                  <a:t> total server cost/hour is </a:t>
                </a:r>
                <a14:m>
                  <m:oMath xmlns:m="http://schemas.openxmlformats.org/officeDocument/2006/math">
                    <m:r>
                      <a:rPr lang="en-US" b="0" i="0" smtClean="0">
                        <a:latin typeface="Cambria Math" panose="02040503050406030204" pitchFamily="18" charset="0"/>
                        <a:sym typeface="Wingdings" panose="05000000000000000000" pitchFamily="2" charset="2"/>
                      </a:rPr>
                      <m:t>2</m:t>
                    </m:r>
                    <m:r>
                      <a:rPr lang="en-US" b="0" i="1" smtClean="0">
                        <a:latin typeface="Cambria Math" panose="02040503050406030204" pitchFamily="18" charset="0"/>
                        <a:sym typeface="Wingdings" panose="05000000000000000000" pitchFamily="2" charset="2"/>
                      </a:rPr>
                      <m:t>×[</m:t>
                    </m:r>
                    <m:r>
                      <a:rPr lang="en-US" i="1">
                        <a:latin typeface="Cambria Math" panose="02040503050406030204" pitchFamily="18" charset="0"/>
                        <a:sym typeface="Wingdings" panose="05000000000000000000" pitchFamily="2" charset="2"/>
                      </a:rPr>
                      <m:t>$10×</m:t>
                    </m:r>
                    <m:r>
                      <a:rPr lang="en-US" i="1">
                        <a:latin typeface="Cambria Math" panose="02040503050406030204" pitchFamily="18" charset="0"/>
                        <a:sym typeface="Wingdings" panose="05000000000000000000" pitchFamily="2" charset="2"/>
                      </a:rPr>
                      <m:t>𝜌</m:t>
                    </m:r>
                    <m:r>
                      <a:rPr lang="en-US" i="1">
                        <a:latin typeface="Cambria Math" panose="02040503050406030204" pitchFamily="18" charset="0"/>
                        <a:sym typeface="Wingdings" panose="05000000000000000000" pitchFamily="2" charset="2"/>
                      </a:rPr>
                      <m:t>+$5×</m:t>
                    </m:r>
                    <m:d>
                      <m:dPr>
                        <m:ctrlPr>
                          <a:rPr lang="en-US" i="1">
                            <a:latin typeface="Cambria Math" panose="02040503050406030204" pitchFamily="18" charset="0"/>
                            <a:sym typeface="Wingdings" panose="05000000000000000000" pitchFamily="2" charset="2"/>
                          </a:rPr>
                        </m:ctrlPr>
                      </m:dPr>
                      <m:e>
                        <m:r>
                          <a:rPr lang="en-US" i="1">
                            <a:latin typeface="Cambria Math" panose="02040503050406030204" pitchFamily="18" charset="0"/>
                            <a:sym typeface="Wingdings" panose="05000000000000000000" pitchFamily="2" charset="2"/>
                          </a:rPr>
                          <m:t>1−</m:t>
                        </m:r>
                        <m:r>
                          <a:rPr lang="en-US" i="1">
                            <a:latin typeface="Cambria Math" panose="02040503050406030204" pitchFamily="18" charset="0"/>
                            <a:sym typeface="Wingdings" panose="05000000000000000000" pitchFamily="2" charset="2"/>
                          </a:rPr>
                          <m:t>𝜌</m:t>
                        </m:r>
                      </m:e>
                    </m:d>
                    <m:r>
                      <a:rPr lang="en-US" b="0" i="1" smtClean="0">
                        <a:latin typeface="Cambria Math" panose="02040503050406030204" pitchFamily="18" charset="0"/>
                        <a:sym typeface="Wingdings" panose="05000000000000000000" pitchFamily="2" charset="2"/>
                      </a:rPr>
                      <m:t>]</m:t>
                    </m:r>
                  </m:oMath>
                </a14:m>
                <a:r>
                  <a:rPr lang="en-US" dirty="0"/>
                  <a:t>/hr</a:t>
                </a:r>
              </a:p>
              <a:p>
                <a:pPr lvl="1">
                  <a:lnSpc>
                    <a:spcPct val="80000"/>
                  </a:lnSpc>
                </a:pPr>
                <a:r>
                  <a:rPr lang="en-US" dirty="0"/>
                  <a:t>How about when a server incurs cost for each customer served?</a:t>
                </a:r>
              </a:p>
              <a:p>
                <a:pPr lvl="2">
                  <a:lnSpc>
                    <a:spcPct val="80000"/>
                  </a:lnSpc>
                </a:pPr>
                <a:r>
                  <a:rPr lang="en-US" dirty="0"/>
                  <a:t>Say $R per customer served</a:t>
                </a:r>
              </a:p>
              <a:p>
                <a:pPr lvl="2">
                  <a:lnSpc>
                    <a:spcPct val="80000"/>
                  </a:lnSpc>
                </a:pPr>
                <a:r>
                  <a:rPr lang="en-US" dirty="0"/>
                  <a:t>Suppose that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=6/</m:t>
                    </m:r>
                    <m:r>
                      <a:rPr lang="en-US" b="0" i="1" smtClean="0">
                        <a:latin typeface="Cambria Math" panose="02040503050406030204" pitchFamily="18" charset="0"/>
                      </a:rPr>
                      <m:t>h𝑟</m:t>
                    </m:r>
                  </m:oMath>
                </a14:m>
                <a:endParaRPr lang="en-US" dirty="0"/>
              </a:p>
              <a:p>
                <a:pPr lvl="2">
                  <a:lnSpc>
                    <a:spcPct val="80000"/>
                  </a:lnSpc>
                </a:pPr>
                <a:r>
                  <a:rPr lang="en-US" dirty="0"/>
                  <a:t>Total server cost/hour is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𝑅</m:t>
                        </m:r>
                      </m:num>
                      <m:den>
                        <m:r>
                          <a:rPr lang="en-US" b="0" i="1" smtClean="0">
                            <a:latin typeface="Cambria Math" panose="02040503050406030204" pitchFamily="18" charset="0"/>
                          </a:rPr>
                          <m:t>𝑐𝑢𝑠𝑡𝑜𝑚𝑒𝑟</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6  </m:t>
                        </m:r>
                        <m:r>
                          <a:rPr lang="en-US" b="0" i="1" smtClean="0">
                            <a:latin typeface="Cambria Math" panose="02040503050406030204" pitchFamily="18" charset="0"/>
                          </a:rPr>
                          <m:t>𝑐𝑢𝑠𝑡𝑜𝑚𝑒𝑟𝑠</m:t>
                        </m:r>
                      </m:num>
                      <m:den>
                        <m:r>
                          <a:rPr lang="en-US" b="0" i="1" smtClean="0">
                            <a:latin typeface="Cambria Math" panose="02040503050406030204" pitchFamily="18" charset="0"/>
                          </a:rPr>
                          <m:t>h𝑜𝑢𝑟</m:t>
                        </m:r>
                      </m:den>
                    </m:f>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×6</m:t>
                    </m:r>
                  </m:oMath>
                </a14:m>
                <a:r>
                  <a:rPr lang="en-US" dirty="0"/>
                  <a:t> per hour  (with any number of servers)</a:t>
                </a:r>
              </a:p>
              <a:p>
                <a:pPr lvl="2">
                  <a:lnSpc>
                    <a:spcPct val="80000"/>
                  </a:lnSpc>
                </a:pPr>
                <a:r>
                  <a:rPr lang="en-US" dirty="0"/>
                  <a:t>OR we can associate this cost, i.e., $R/customer, as a customer cost, because it is incurred for each customer</a:t>
                </a:r>
                <a:endParaRPr lang="en-US"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715078" cy="4864530"/>
              </a:xfrm>
              <a:blipFill>
                <a:blip r:embed="rId2"/>
                <a:stretch>
                  <a:fillRect l="-937" t="-3383"/>
                </a:stretch>
              </a:blipFill>
            </p:spPr>
            <p:txBody>
              <a:bodyPr/>
              <a:lstStyle/>
              <a:p>
                <a:r>
                  <a:rPr lang="en-US">
                    <a:noFill/>
                  </a:rPr>
                  <a:t> </a:t>
                </a:r>
              </a:p>
            </p:txBody>
          </p:sp>
        </mc:Fallback>
      </mc:AlternateContent>
    </p:spTree>
    <p:extLst>
      <p:ext uri="{BB962C8B-B14F-4D97-AF65-F5344CB8AC3E}">
        <p14:creationId xmlns:p14="http://schemas.microsoft.com/office/powerpoint/2010/main" val="422858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Queueing Systems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715078" cy="5167880"/>
              </a:xfrm>
            </p:spPr>
            <p:txBody>
              <a:bodyPr>
                <a:normAutofit/>
              </a:bodyPr>
              <a:lstStyle/>
              <a:p>
                <a:pPr>
                  <a:lnSpc>
                    <a:spcPct val="80000"/>
                  </a:lnSpc>
                </a:pPr>
                <a:r>
                  <a:rPr lang="en-US" b="1" u="sng" dirty="0">
                    <a:solidFill>
                      <a:srgbClr val="C00000"/>
                    </a:solidFill>
                  </a:rPr>
                  <a:t>Economic Analyses: Some Examples</a:t>
                </a:r>
              </a:p>
              <a:p>
                <a:pPr>
                  <a:lnSpc>
                    <a:spcPct val="80000"/>
                  </a:lnSpc>
                </a:pPr>
                <a:r>
                  <a:rPr lang="en-US" dirty="0">
                    <a:solidFill>
                      <a:srgbClr val="C00000"/>
                    </a:solidFill>
                  </a:rPr>
                  <a:t>Customer costs: </a:t>
                </a:r>
                <a:r>
                  <a:rPr lang="en-US" dirty="0"/>
                  <a:t>Customer costs/profits are typically due to revenues from customers, waiting in the system or queue, length of service </a:t>
                </a:r>
                <a:r>
                  <a:rPr lang="en-US" dirty="0" err="1"/>
                  <a:t>etc</a:t>
                </a:r>
                <a:r>
                  <a:rPr lang="en-US" dirty="0"/>
                  <a:t>…</a:t>
                </a:r>
              </a:p>
              <a:p>
                <a:pPr>
                  <a:lnSpc>
                    <a:spcPct val="80000"/>
                  </a:lnSpc>
                </a:pPr>
                <a:endParaRPr lang="en-US" dirty="0"/>
              </a:p>
              <a:p>
                <a:pPr lvl="1">
                  <a:lnSpc>
                    <a:spcPct val="80000"/>
                  </a:lnSpc>
                </a:pPr>
                <a:r>
                  <a:rPr lang="en-US" dirty="0"/>
                  <a:t>E.g. Revenue from a single customer is $10</a:t>
                </a:r>
                <a:endParaRPr lang="en-US" dirty="0">
                  <a:sym typeface="Wingdings" panose="05000000000000000000" pitchFamily="2" charset="2"/>
                </a:endParaRPr>
              </a:p>
              <a:p>
                <a:pPr lvl="2">
                  <a:lnSpc>
                    <a:spcPct val="80000"/>
                  </a:lnSpc>
                </a:pPr>
                <a:r>
                  <a:rPr lang="en-US" dirty="0"/>
                  <a:t>Suppose that </a:t>
                </a:r>
                <a14:m>
                  <m:oMath xmlns:m="http://schemas.openxmlformats.org/officeDocument/2006/math">
                    <m:r>
                      <a:rPr lang="en-US" i="1">
                        <a:latin typeface="Cambria Math" panose="02040503050406030204" pitchFamily="18" charset="0"/>
                      </a:rPr>
                      <m:t>𝜆</m:t>
                    </m:r>
                    <m:r>
                      <a:rPr lang="en-US" i="1">
                        <a:latin typeface="Cambria Math" panose="02040503050406030204" pitchFamily="18" charset="0"/>
                      </a:rPr>
                      <m:t>=5/</m:t>
                    </m:r>
                    <m:r>
                      <a:rPr lang="en-US" i="1">
                        <a:latin typeface="Cambria Math" panose="02040503050406030204" pitchFamily="18" charset="0"/>
                      </a:rPr>
                      <m:t>h𝑟</m:t>
                    </m:r>
                  </m:oMath>
                </a14:m>
                <a:endParaRPr lang="en-US" dirty="0"/>
              </a:p>
              <a:p>
                <a:pPr lvl="2">
                  <a:lnSpc>
                    <a:spcPct val="80000"/>
                  </a:lnSpc>
                </a:pPr>
                <a:r>
                  <a:rPr lang="en-US" dirty="0"/>
                  <a:t>Total revenue from customers/hour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10</m:t>
                        </m:r>
                      </m:num>
                      <m:den>
                        <m:r>
                          <a:rPr lang="en-US" i="1">
                            <a:latin typeface="Cambria Math" panose="02040503050406030204" pitchFamily="18" charset="0"/>
                          </a:rPr>
                          <m:t>𝑐𝑢𝑠𝑡𝑜𝑚𝑒𝑟</m:t>
                        </m:r>
                      </m:den>
                    </m:f>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5</m:t>
                        </m:r>
                        <m:r>
                          <a:rPr lang="en-US" i="1">
                            <a:latin typeface="Cambria Math" panose="02040503050406030204" pitchFamily="18" charset="0"/>
                          </a:rPr>
                          <m:t>  </m:t>
                        </m:r>
                        <m:r>
                          <a:rPr lang="en-US" i="1">
                            <a:latin typeface="Cambria Math" panose="02040503050406030204" pitchFamily="18" charset="0"/>
                          </a:rPr>
                          <m:t>𝑐𝑢𝑠𝑡𝑜𝑚𝑒𝑟𝑠</m:t>
                        </m:r>
                      </m:num>
                      <m:den>
                        <m:r>
                          <a:rPr lang="en-US" i="1">
                            <a:latin typeface="Cambria Math" panose="02040503050406030204" pitchFamily="18" charset="0"/>
                          </a:rPr>
                          <m:t>h𝑜𝑢𝑟</m:t>
                        </m:r>
                      </m:den>
                    </m:f>
                    <m:r>
                      <a:rPr lang="en-US" i="1">
                        <a:latin typeface="Cambria Math" panose="02040503050406030204" pitchFamily="18" charset="0"/>
                      </a:rPr>
                      <m:t>=$</m:t>
                    </m:r>
                    <m:r>
                      <a:rPr lang="en-US" b="0" i="1" smtClean="0">
                        <a:latin typeface="Cambria Math" panose="02040503050406030204" pitchFamily="18" charset="0"/>
                      </a:rPr>
                      <m:t>50</m:t>
                    </m:r>
                  </m:oMath>
                </a14:m>
                <a:r>
                  <a:rPr lang="en-US" dirty="0"/>
                  <a:t> per hour</a:t>
                </a:r>
              </a:p>
              <a:p>
                <a:pPr lvl="1">
                  <a:lnSpc>
                    <a:spcPct val="80000"/>
                  </a:lnSpc>
                </a:pPr>
                <a:r>
                  <a:rPr lang="en-US" dirty="0">
                    <a:sym typeface="Wingdings" panose="05000000000000000000" pitchFamily="2" charset="2"/>
                  </a:rPr>
                  <a:t>E.g. system incurs $5/</a:t>
                </a:r>
                <a:r>
                  <a:rPr lang="en-US" dirty="0" err="1">
                    <a:sym typeface="Wingdings" panose="05000000000000000000" pitchFamily="2" charset="2"/>
                  </a:rPr>
                  <a:t>hr</a:t>
                </a:r>
                <a:r>
                  <a:rPr lang="en-US" dirty="0">
                    <a:sym typeface="Wingdings" panose="05000000000000000000" pitchFamily="2" charset="2"/>
                  </a:rPr>
                  <a:t> for a customer’s waiting in the queue</a:t>
                </a:r>
              </a:p>
              <a:p>
                <a:pPr lvl="2">
                  <a:lnSpc>
                    <a:spcPct val="80000"/>
                  </a:lnSpc>
                </a:pPr>
                <a:r>
                  <a:rPr lang="en-US" dirty="0">
                    <a:sym typeface="Wingdings" panose="05000000000000000000" pitchFamily="2" charset="2"/>
                  </a:rPr>
                  <a:t>Expected cost of a customer = $5/</a:t>
                </a:r>
                <a:r>
                  <a:rPr lang="en-US" dirty="0" err="1">
                    <a:sym typeface="Wingdings" panose="05000000000000000000" pitchFamily="2" charset="2"/>
                  </a:rPr>
                  <a:t>hr</a:t>
                </a:r>
                <a:r>
                  <a:rPr lang="en-US" dirty="0">
                    <a:sym typeface="Wingdings" panose="05000000000000000000" pitchFamily="2" charset="2"/>
                  </a:rPr>
                  <a:t> * expected # of hours a customer waits in queue = $5*</a:t>
                </a:r>
                <a:r>
                  <a:rPr lang="en-US" dirty="0" err="1">
                    <a:sym typeface="Wingdings" panose="05000000000000000000" pitchFamily="2" charset="2"/>
                  </a:rPr>
                  <a:t>Wq</a:t>
                </a:r>
                <a:endParaRPr lang="en-US" dirty="0">
                  <a:sym typeface="Wingdings" panose="05000000000000000000" pitchFamily="2" charset="2"/>
                </a:endParaRPr>
              </a:p>
              <a:p>
                <a:pPr lvl="2">
                  <a:lnSpc>
                    <a:spcPct val="80000"/>
                  </a:lnSpc>
                </a:pPr>
                <a:r>
                  <a:rPr lang="en-US" dirty="0"/>
                  <a:t>Expected total customer cost/hour = ($5*</a:t>
                </a:r>
                <a:r>
                  <a:rPr lang="en-US" dirty="0" err="1"/>
                  <a:t>Wq</a:t>
                </a:r>
                <a:r>
                  <a:rPr lang="en-US" dirty="0"/>
                  <a:t>) X (exp.# of customers/hour) = $5*</a:t>
                </a:r>
                <a:r>
                  <a:rPr lang="en-US" dirty="0" err="1"/>
                  <a:t>Wq</a:t>
                </a:r>
                <a:r>
                  <a:rPr lang="en-US" dirty="0"/>
                  <a:t>*</a:t>
                </a:r>
                <a14:m>
                  <m:oMath xmlns:m="http://schemas.openxmlformats.org/officeDocument/2006/math">
                    <m:r>
                      <a:rPr lang="en-US" b="0" i="1" smtClean="0">
                        <a:latin typeface="Cambria Math" panose="02040503050406030204" pitchFamily="18" charset="0"/>
                      </a:rPr>
                      <m:t>𝜆</m:t>
                    </m:r>
                  </m:oMath>
                </a14:m>
                <a:r>
                  <a:rPr lang="en-US" dirty="0"/>
                  <a:t>=$5Lq</a:t>
                </a:r>
              </a:p>
              <a:p>
                <a:pPr lvl="1">
                  <a:lnSpc>
                    <a:spcPct val="80000"/>
                  </a:lnSpc>
                </a:pPr>
                <a:r>
                  <a:rPr lang="en-US" dirty="0" err="1"/>
                  <a:t>E.q</a:t>
                </a:r>
                <a:r>
                  <a:rPr lang="en-US" dirty="0"/>
                  <a:t>. there is a cost of $5 for each customer who spends less than half hour in the system and $10 for each customer who spends more than half hour in the system</a:t>
                </a:r>
              </a:p>
              <a:p>
                <a:pPr lvl="2">
                  <a:lnSpc>
                    <a:spcPct val="80000"/>
                  </a:lnSpc>
                </a:pPr>
                <a:r>
                  <a:rPr lang="en-US" dirty="0">
                    <a:sym typeface="Wingdings" panose="05000000000000000000" pitchFamily="2" charset="2"/>
                  </a:rPr>
                  <a:t>Expected cost of a customer = P(W&lt;0.5 </a:t>
                </a:r>
                <a:r>
                  <a:rPr lang="en-US" dirty="0" err="1">
                    <a:sym typeface="Wingdings" panose="05000000000000000000" pitchFamily="2" charset="2"/>
                  </a:rPr>
                  <a:t>hr</a:t>
                </a:r>
                <a:r>
                  <a:rPr lang="en-US" dirty="0">
                    <a:sym typeface="Wingdings" panose="05000000000000000000" pitchFamily="2" charset="2"/>
                  </a:rPr>
                  <a:t>)*$5 + P(W&gt;0.5 </a:t>
                </a:r>
                <a:r>
                  <a:rPr lang="en-US" dirty="0" err="1">
                    <a:sym typeface="Wingdings" panose="05000000000000000000" pitchFamily="2" charset="2"/>
                  </a:rPr>
                  <a:t>hr</a:t>
                </a:r>
                <a:r>
                  <a:rPr lang="en-US" dirty="0">
                    <a:sym typeface="Wingdings" panose="05000000000000000000" pitchFamily="2" charset="2"/>
                  </a:rPr>
                  <a:t>)*$10</a:t>
                </a:r>
              </a:p>
              <a:p>
                <a:pPr lvl="2">
                  <a:lnSpc>
                    <a:spcPct val="80000"/>
                  </a:lnSpc>
                </a:pPr>
                <a:r>
                  <a:rPr lang="en-US" dirty="0">
                    <a:sym typeface="Wingdings" panose="05000000000000000000" pitchFamily="2" charset="2"/>
                  </a:rPr>
                  <a:t>Expected total customer cost / hour = [P(W&lt;0.5 </a:t>
                </a:r>
                <a:r>
                  <a:rPr lang="en-US" dirty="0" err="1">
                    <a:sym typeface="Wingdings" panose="05000000000000000000" pitchFamily="2" charset="2"/>
                  </a:rPr>
                  <a:t>hr</a:t>
                </a:r>
                <a:r>
                  <a:rPr lang="en-US" dirty="0">
                    <a:sym typeface="Wingdings" panose="05000000000000000000" pitchFamily="2" charset="2"/>
                  </a:rPr>
                  <a:t>)*$5 + P(W&gt;0.5 </a:t>
                </a:r>
                <a:r>
                  <a:rPr lang="en-US" dirty="0" err="1">
                    <a:sym typeface="Wingdings" panose="05000000000000000000" pitchFamily="2" charset="2"/>
                  </a:rPr>
                  <a:t>hr</a:t>
                </a:r>
                <a:r>
                  <a:rPr lang="en-US" dirty="0">
                    <a:sym typeface="Wingdings" panose="05000000000000000000" pitchFamily="2" charset="2"/>
                  </a:rPr>
                  <a:t>)*$10]*</a:t>
                </a:r>
                <a14:m>
                  <m:oMath xmlns:m="http://schemas.openxmlformats.org/officeDocument/2006/math">
                    <m:r>
                      <a:rPr lang="en-US" b="0" i="1" smtClean="0">
                        <a:latin typeface="Cambria Math" panose="02040503050406030204" pitchFamily="18" charset="0"/>
                        <a:sym typeface="Wingdings" panose="05000000000000000000" pitchFamily="2" charset="2"/>
                      </a:rPr>
                      <m:t>𝜆</m:t>
                    </m:r>
                  </m:oMath>
                </a14:m>
                <a:endParaRPr lang="en-US" dirty="0">
                  <a:sym typeface="Wingdings" panose="05000000000000000000"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715078" cy="5167880"/>
              </a:xfrm>
              <a:blipFill>
                <a:blip r:embed="rId2"/>
                <a:stretch>
                  <a:fillRect l="-937" t="-2594"/>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5080481F-5DC0-4C44-8AAD-44D4A842BC59}"/>
              </a:ext>
            </a:extLst>
          </p:cNvPr>
          <p:cNvSpPr/>
          <p:nvPr/>
        </p:nvSpPr>
        <p:spPr>
          <a:xfrm>
            <a:off x="766700" y="2524040"/>
            <a:ext cx="10065049" cy="437043"/>
          </a:xfrm>
          <a:prstGeom prst="rect">
            <a:avLst/>
          </a:prstGeom>
          <a:ln>
            <a:solidFill>
              <a:srgbClr val="C00000"/>
            </a:solidFill>
          </a:ln>
        </p:spPr>
        <p:txBody>
          <a:bodyPr wrap="square" lIns="0" tIns="91440" rIns="0" bIns="91440">
            <a:spAutoFit/>
          </a:bodyPr>
          <a:lstStyle/>
          <a:p>
            <a:pPr algn="ctr">
              <a:lnSpc>
                <a:spcPct val="80000"/>
              </a:lnSpc>
            </a:pPr>
            <a:r>
              <a:rPr lang="en-US" sz="2000" dirty="0"/>
              <a:t>Expected total customer cost/hour = (expected cost of a customer) X (exp. # of customers/hour)</a:t>
            </a:r>
          </a:p>
        </p:txBody>
      </p:sp>
    </p:spTree>
    <p:extLst>
      <p:ext uri="{BB962C8B-B14F-4D97-AF65-F5344CB8AC3E}">
        <p14:creationId xmlns:p14="http://schemas.microsoft.com/office/powerpoint/2010/main" val="3002372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Queueing Systems</a:t>
            </a:r>
          </a:p>
        </p:txBody>
      </p:sp>
      <p:sp>
        <p:nvSpPr>
          <p:cNvPr id="3" name="Content Placeholder 2"/>
          <p:cNvSpPr>
            <a:spLocks noGrp="1"/>
          </p:cNvSpPr>
          <p:nvPr>
            <p:ph idx="1"/>
          </p:nvPr>
        </p:nvSpPr>
        <p:spPr>
          <a:xfrm>
            <a:off x="355002" y="1312433"/>
            <a:ext cx="11715078" cy="4864530"/>
          </a:xfrm>
        </p:spPr>
        <p:txBody>
          <a:bodyPr/>
          <a:lstStyle/>
          <a:p>
            <a:pPr>
              <a:lnSpc>
                <a:spcPct val="80000"/>
              </a:lnSpc>
            </a:pPr>
            <a:r>
              <a:rPr lang="en-US" b="1" u="sng" dirty="0">
                <a:solidFill>
                  <a:srgbClr val="C00000"/>
                </a:solidFill>
              </a:rPr>
              <a:t>Systematic Analyses: Basics</a:t>
            </a:r>
          </a:p>
          <a:p>
            <a:pPr>
              <a:lnSpc>
                <a:spcPct val="80000"/>
              </a:lnSpc>
            </a:pPr>
            <a:r>
              <a:rPr lang="en-US" dirty="0"/>
              <a:t>Managers might be interested in achieving standards (goals)</a:t>
            </a:r>
          </a:p>
          <a:p>
            <a:pPr lvl="1">
              <a:lnSpc>
                <a:spcPct val="80000"/>
              </a:lnSpc>
            </a:pPr>
            <a:r>
              <a:rPr lang="en-US" dirty="0"/>
              <a:t>Recall that we defined the key performance measures: L, </a:t>
            </a:r>
            <a:r>
              <a:rPr lang="en-US" dirty="0" err="1"/>
              <a:t>Lq</a:t>
            </a:r>
            <a:r>
              <a:rPr lang="en-US" dirty="0"/>
              <a:t>, W, </a:t>
            </a:r>
            <a:r>
              <a:rPr lang="en-US" dirty="0" err="1"/>
              <a:t>Wq</a:t>
            </a:r>
            <a:endParaRPr lang="en-US" dirty="0"/>
          </a:p>
          <a:p>
            <a:pPr lvl="1">
              <a:lnSpc>
                <a:spcPct val="80000"/>
              </a:lnSpc>
            </a:pPr>
            <a:r>
              <a:rPr lang="en-US" dirty="0"/>
              <a:t>These are important measures in analyzing queueing systems</a:t>
            </a:r>
          </a:p>
          <a:p>
            <a:pPr lvl="2">
              <a:lnSpc>
                <a:spcPct val="80000"/>
              </a:lnSpc>
            </a:pPr>
            <a:r>
              <a:rPr lang="en-US" dirty="0"/>
              <a:t>Compare alternative servers (machine 1 vs. machine 2)</a:t>
            </a:r>
          </a:p>
          <a:p>
            <a:pPr lvl="2">
              <a:lnSpc>
                <a:spcPct val="80000"/>
              </a:lnSpc>
            </a:pPr>
            <a:r>
              <a:rPr lang="en-US" dirty="0"/>
              <a:t>Compare alternative systems (1 server vs. 2 servers vs. 3 servers)</a:t>
            </a:r>
          </a:p>
          <a:p>
            <a:pPr lvl="1">
              <a:lnSpc>
                <a:spcPct val="80000"/>
              </a:lnSpc>
            </a:pPr>
            <a:r>
              <a:rPr lang="en-US" dirty="0"/>
              <a:t>In addition to these measures, managers might be interested in achieving specific standards (goals) in their systems (such as service quality goals)</a:t>
            </a:r>
          </a:p>
          <a:p>
            <a:pPr lvl="2">
              <a:lnSpc>
                <a:spcPct val="80000"/>
              </a:lnSpc>
            </a:pPr>
            <a:r>
              <a:rPr lang="en-US" dirty="0"/>
              <a:t>At most XX% of customers wait more than YY time units in the system (or queue)</a:t>
            </a:r>
          </a:p>
          <a:p>
            <a:pPr lvl="2">
              <a:lnSpc>
                <a:spcPct val="80000"/>
              </a:lnSpc>
            </a:pPr>
            <a:r>
              <a:rPr lang="en-US" dirty="0"/>
              <a:t>At least ZZ% of the time, there should be TT or less customers in the system (or queue)</a:t>
            </a:r>
          </a:p>
          <a:p>
            <a:pPr lvl="1">
              <a:lnSpc>
                <a:spcPct val="80000"/>
              </a:lnSpc>
            </a:pPr>
            <a:r>
              <a:rPr lang="en-US" dirty="0"/>
              <a:t>We can analyze such standards using analytical results (or simulation)</a:t>
            </a:r>
          </a:p>
          <a:p>
            <a:pPr lvl="2">
              <a:lnSpc>
                <a:spcPct val="80000"/>
              </a:lnSpc>
            </a:pPr>
            <a:r>
              <a:rPr lang="en-US" dirty="0"/>
              <a:t>Probability of a customer waiting in the system or in the queue more than YY time units should be less than XX%</a:t>
            </a:r>
          </a:p>
          <a:p>
            <a:pPr lvl="2">
              <a:lnSpc>
                <a:spcPct val="80000"/>
              </a:lnSpc>
            </a:pPr>
            <a:r>
              <a:rPr lang="en-US" dirty="0"/>
              <a:t>Probability of having TT or less customers in the system or in the queue should be less than ZZ%</a:t>
            </a:r>
            <a:endParaRPr lang="en-US" b="1" baseline="30000" dirty="0">
              <a:sym typeface="Symbol" pitchFamily="18" charset="2"/>
            </a:endParaRPr>
          </a:p>
        </p:txBody>
      </p:sp>
    </p:spTree>
    <p:extLst>
      <p:ext uri="{BB962C8B-B14F-4D97-AF65-F5344CB8AC3E}">
        <p14:creationId xmlns:p14="http://schemas.microsoft.com/office/powerpoint/2010/main" val="1729977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Queueing Systems</a:t>
            </a:r>
          </a:p>
        </p:txBody>
      </p:sp>
      <p:sp>
        <p:nvSpPr>
          <p:cNvPr id="3" name="Content Placeholder 2"/>
          <p:cNvSpPr>
            <a:spLocks noGrp="1"/>
          </p:cNvSpPr>
          <p:nvPr>
            <p:ph idx="1"/>
          </p:nvPr>
        </p:nvSpPr>
        <p:spPr>
          <a:xfrm>
            <a:off x="355002" y="1312433"/>
            <a:ext cx="11715078" cy="4864530"/>
          </a:xfrm>
        </p:spPr>
        <p:txBody>
          <a:bodyPr/>
          <a:lstStyle/>
          <a:p>
            <a:pPr>
              <a:lnSpc>
                <a:spcPct val="80000"/>
              </a:lnSpc>
            </a:pPr>
            <a:r>
              <a:rPr lang="en-US" b="1" u="sng" dirty="0">
                <a:solidFill>
                  <a:srgbClr val="C00000"/>
                </a:solidFill>
              </a:rPr>
              <a:t>Systematic Analyses: Some Examples</a:t>
            </a:r>
          </a:p>
          <a:p>
            <a:pPr lvl="1">
              <a:lnSpc>
                <a:spcPct val="80000"/>
              </a:lnSpc>
            </a:pPr>
            <a:r>
              <a:rPr lang="en-US" dirty="0"/>
              <a:t>If the standard is about average number is the system, check L</a:t>
            </a:r>
          </a:p>
          <a:p>
            <a:pPr lvl="1">
              <a:lnSpc>
                <a:spcPct val="80000"/>
              </a:lnSpc>
            </a:pPr>
            <a:r>
              <a:rPr lang="en-US" dirty="0"/>
              <a:t>If the standard is about average number in the queue, check </a:t>
            </a:r>
            <a:r>
              <a:rPr lang="en-US" dirty="0" err="1"/>
              <a:t>Lq</a:t>
            </a:r>
            <a:endParaRPr lang="en-US" dirty="0"/>
          </a:p>
          <a:p>
            <a:pPr lvl="1">
              <a:lnSpc>
                <a:spcPct val="80000"/>
              </a:lnSpc>
            </a:pPr>
            <a:r>
              <a:rPr lang="en-US" dirty="0"/>
              <a:t>If the standard is about average time of customer in the system, check W</a:t>
            </a:r>
          </a:p>
          <a:p>
            <a:pPr lvl="1">
              <a:lnSpc>
                <a:spcPct val="80000"/>
              </a:lnSpc>
            </a:pPr>
            <a:r>
              <a:rPr lang="en-US" dirty="0"/>
              <a:t>If the standard is about average time of a customer in the queue, check </a:t>
            </a:r>
            <a:r>
              <a:rPr lang="en-US" dirty="0" err="1"/>
              <a:t>Wq</a:t>
            </a:r>
            <a:endParaRPr lang="en-US" dirty="0"/>
          </a:p>
          <a:p>
            <a:pPr lvl="1">
              <a:lnSpc>
                <a:spcPct val="80000"/>
              </a:lnSpc>
            </a:pPr>
            <a:r>
              <a:rPr lang="en-US" dirty="0"/>
              <a:t>If the standard is about % of time there are &lt;=a customers in the system</a:t>
            </a:r>
          </a:p>
          <a:p>
            <a:pPr lvl="2">
              <a:lnSpc>
                <a:spcPct val="80000"/>
              </a:lnSpc>
            </a:pPr>
            <a:r>
              <a:rPr lang="en-US" dirty="0"/>
              <a:t>Check p(0)+p(1)+…+p(a), where p(n) is the probability of n customers in system</a:t>
            </a:r>
          </a:p>
          <a:p>
            <a:pPr lvl="1">
              <a:lnSpc>
                <a:spcPct val="80000"/>
              </a:lnSpc>
            </a:pPr>
            <a:r>
              <a:rPr lang="en-US" dirty="0"/>
              <a:t>If the standard is about % of time there are &lt;=b customers in the queue</a:t>
            </a:r>
          </a:p>
          <a:p>
            <a:pPr lvl="2">
              <a:lnSpc>
                <a:spcPct val="80000"/>
              </a:lnSpc>
            </a:pPr>
            <a:r>
              <a:rPr lang="en-US" dirty="0"/>
              <a:t>Check p(0)+p(1)+..+p(b)+p(b+1)+…+p(</a:t>
            </a:r>
            <a:r>
              <a:rPr lang="en-US" dirty="0" err="1"/>
              <a:t>b+c</a:t>
            </a:r>
            <a:r>
              <a:rPr lang="en-US" dirty="0"/>
              <a:t>), where c is the number of servers</a:t>
            </a:r>
          </a:p>
          <a:p>
            <a:pPr lvl="1">
              <a:lnSpc>
                <a:spcPct val="80000"/>
              </a:lnSpc>
            </a:pPr>
            <a:r>
              <a:rPr lang="en-US" dirty="0"/>
              <a:t>If the standard is about % of customers waiting in queue &lt;=t time units</a:t>
            </a:r>
          </a:p>
          <a:p>
            <a:pPr lvl="2">
              <a:lnSpc>
                <a:spcPct val="80000"/>
              </a:lnSpc>
            </a:pPr>
            <a:r>
              <a:rPr lang="en-US" dirty="0"/>
              <a:t>Check P(</a:t>
            </a:r>
            <a:r>
              <a:rPr lang="en-US" dirty="0" err="1"/>
              <a:t>Wq</a:t>
            </a:r>
            <a:r>
              <a:rPr lang="en-US" dirty="0"/>
              <a:t>&lt;t time units)</a:t>
            </a:r>
          </a:p>
          <a:p>
            <a:pPr lvl="1">
              <a:lnSpc>
                <a:spcPct val="80000"/>
              </a:lnSpc>
            </a:pPr>
            <a:r>
              <a:rPr lang="en-US" dirty="0"/>
              <a:t>If the standard is about % of customers waiting in system &lt;=t time units</a:t>
            </a:r>
          </a:p>
          <a:p>
            <a:pPr lvl="2">
              <a:lnSpc>
                <a:spcPct val="80000"/>
              </a:lnSpc>
            </a:pPr>
            <a:r>
              <a:rPr lang="en-US" dirty="0"/>
              <a:t>Check P(W&lt;t time units)</a:t>
            </a:r>
          </a:p>
          <a:p>
            <a:pPr lvl="1">
              <a:lnSpc>
                <a:spcPct val="80000"/>
              </a:lnSpc>
            </a:pPr>
            <a:endParaRPr lang="en-US" dirty="0"/>
          </a:p>
        </p:txBody>
      </p:sp>
    </p:spTree>
    <p:extLst>
      <p:ext uri="{BB962C8B-B14F-4D97-AF65-F5344CB8AC3E}">
        <p14:creationId xmlns:p14="http://schemas.microsoft.com/office/powerpoint/2010/main" val="986475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3150E-F471-F4A8-8AF3-C0CC0F25F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C33BB-63C1-6231-9AAA-71C91569A710}"/>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50245475-F4B3-74D2-83D7-8FEE6047DF7C}"/>
              </a:ext>
            </a:extLst>
          </p:cNvPr>
          <p:cNvSpPr>
            <a:spLocks noGrp="1"/>
          </p:cNvSpPr>
          <p:nvPr>
            <p:ph idx="1"/>
          </p:nvPr>
        </p:nvSpPr>
        <p:spPr>
          <a:xfrm>
            <a:off x="355002" y="1312433"/>
            <a:ext cx="9271219" cy="4864530"/>
          </a:xfrm>
        </p:spPr>
        <p:txBody>
          <a:bodyPr>
            <a:normAutofit/>
          </a:bodyPr>
          <a:lstStyle/>
          <a:p>
            <a:r>
              <a:rPr lang="en-US" dirty="0">
                <a:solidFill>
                  <a:schemeClr val="bg2"/>
                </a:solidFill>
              </a:rPr>
              <a:t>Evaluating Queueing Systems</a:t>
            </a:r>
          </a:p>
          <a:p>
            <a:endParaRPr lang="en-US" dirty="0"/>
          </a:p>
          <a:p>
            <a:r>
              <a:rPr lang="en-US" dirty="0"/>
              <a:t>Analyses</a:t>
            </a:r>
          </a:p>
          <a:p>
            <a:pPr lvl="1"/>
            <a:r>
              <a:rPr lang="en-US" dirty="0"/>
              <a:t>Systematic Analyses: Case – Car Charging Station Design</a:t>
            </a:r>
          </a:p>
          <a:p>
            <a:pPr lvl="1"/>
            <a:r>
              <a:rPr lang="en-US" dirty="0"/>
              <a:t>Economic Analyses: Case – Workstation Setup Design</a:t>
            </a:r>
          </a:p>
          <a:p>
            <a:endParaRPr lang="en-US" dirty="0"/>
          </a:p>
          <a:p>
            <a:r>
              <a:rPr lang="en-US" dirty="0">
                <a:solidFill>
                  <a:schemeClr val="bg2"/>
                </a:solidFill>
              </a:rPr>
              <a:t>Further concepts</a:t>
            </a:r>
          </a:p>
          <a:p>
            <a:pPr lvl="1"/>
            <a:r>
              <a:rPr lang="en-US" dirty="0">
                <a:solidFill>
                  <a:schemeClr val="bg2"/>
                </a:solidFill>
              </a:rPr>
              <a:t>Priority Queues</a:t>
            </a:r>
          </a:p>
          <a:p>
            <a:pPr lvl="1"/>
            <a:r>
              <a:rPr lang="en-US" dirty="0">
                <a:solidFill>
                  <a:schemeClr val="bg2"/>
                </a:solidFill>
              </a:rPr>
              <a:t>Queueing Networks</a:t>
            </a:r>
          </a:p>
          <a:p>
            <a:pPr marL="0" indent="0">
              <a:buNone/>
            </a:pPr>
            <a:endParaRPr lang="en-US" dirty="0"/>
          </a:p>
          <a:p>
            <a:pPr lvl="1"/>
            <a:endParaRPr lang="en-US" dirty="0"/>
          </a:p>
        </p:txBody>
      </p:sp>
    </p:spTree>
    <p:extLst>
      <p:ext uri="{BB962C8B-B14F-4D97-AF65-F5344CB8AC3E}">
        <p14:creationId xmlns:p14="http://schemas.microsoft.com/office/powerpoint/2010/main" val="519142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Systematic Analyses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Car Charging Station Design</a:t>
                </a:r>
              </a:p>
              <a:p>
                <a:pPr lvl="1"/>
                <a:r>
                  <a:rPr lang="en-US" sz="2000" dirty="0"/>
                  <a:t>Suppose that there is one car charging station in San Marcos TX </a:t>
                </a:r>
              </a:p>
              <a:p>
                <a:pPr lvl="1"/>
                <a:r>
                  <a:rPr lang="en-US" sz="2000" dirty="0"/>
                  <a:t>You are one of the leading managers in the city council and you want to revisit car charging station</a:t>
                </a:r>
              </a:p>
              <a:p>
                <a:pPr lvl="1"/>
                <a:r>
                  <a:rPr lang="en-US" sz="2000" b="1" u="sng" dirty="0"/>
                  <a:t>Current State: </a:t>
                </a:r>
                <a:r>
                  <a:rPr lang="en-US" sz="2000" dirty="0"/>
                  <a:t>There is one charging station and it has one charger. Cars arrive at a mean rate of 4 per hour at the charging station. On average, it takes 10 minutes to charge a car using the charger. Cars coming for charging form a single line in front of the charger and the car in very front of the line is the next car to be charged by the charger. It is practically assumed that the charging station can hold as many cars as possible. Both inter-arrival and charging times are exponentially distributed.</a:t>
                </a:r>
              </a:p>
              <a:p>
                <a:pPr lvl="1"/>
                <a:r>
                  <a:rPr lang="en-US" sz="2000" b="1" u="sng" dirty="0"/>
                  <a:t>Current State as a queueing system:</a:t>
                </a:r>
              </a:p>
              <a:p>
                <a:pPr lvl="2"/>
                <a:r>
                  <a:rPr lang="en-US" sz="1800" dirty="0"/>
                  <a:t>The system is the charging station</a:t>
                </a:r>
              </a:p>
              <a:p>
                <a:pPr lvl="2"/>
                <a:r>
                  <a:rPr lang="en-US" sz="1800" dirty="0"/>
                  <a:t>There is one server </a:t>
                </a:r>
                <a:r>
                  <a:rPr lang="en-US" sz="1800" dirty="0">
                    <a:sym typeface="Wingdings" panose="05000000000000000000" pitchFamily="2" charset="2"/>
                  </a:rPr>
                  <a:t> Charger is the server  Mean service time is 10 minutes  Mean service rate is </a:t>
                </a:r>
                <a14:m>
                  <m:oMath xmlns:m="http://schemas.openxmlformats.org/officeDocument/2006/math">
                    <m:r>
                      <a:rPr lang="en-US" sz="1800" i="1">
                        <a:latin typeface="Cambria Math" panose="02040503050406030204" pitchFamily="18" charset="0"/>
                        <a:sym typeface="Wingdings" panose="05000000000000000000" pitchFamily="2" charset="2"/>
                      </a:rPr>
                      <m:t>𝜇</m:t>
                    </m:r>
                    <m:r>
                      <a:rPr lang="en-US" sz="1800" i="1">
                        <a:latin typeface="Cambria Math" panose="02040503050406030204" pitchFamily="18" charset="0"/>
                        <a:sym typeface="Wingdings" panose="05000000000000000000" pitchFamily="2" charset="2"/>
                      </a:rPr>
                      <m:t>=6</m:t>
                    </m:r>
                  </m:oMath>
                </a14:m>
                <a:r>
                  <a:rPr lang="en-US" sz="1800" dirty="0">
                    <a:sym typeface="Wingdings" panose="05000000000000000000" pitchFamily="2" charset="2"/>
                  </a:rPr>
                  <a:t> per hour</a:t>
                </a:r>
              </a:p>
              <a:p>
                <a:pPr lvl="2"/>
                <a:r>
                  <a:rPr lang="en-US" sz="1800" dirty="0">
                    <a:sym typeface="Wingdings" panose="05000000000000000000" pitchFamily="2" charset="2"/>
                  </a:rPr>
                  <a:t>Customers are the cars coming for charging  Mean arrival rate is </a:t>
                </a:r>
                <a14:m>
                  <m:oMath xmlns:m="http://schemas.openxmlformats.org/officeDocument/2006/math">
                    <m:r>
                      <a:rPr lang="en-US" sz="1800" b="0" i="1" smtClean="0">
                        <a:latin typeface="Cambria Math" panose="02040503050406030204" pitchFamily="18" charset="0"/>
                        <a:sym typeface="Wingdings" panose="05000000000000000000" pitchFamily="2" charset="2"/>
                      </a:rPr>
                      <m:t>𝜆</m:t>
                    </m:r>
                    <m:r>
                      <a:rPr lang="en-US" sz="1800" b="0" i="1" smtClean="0">
                        <a:latin typeface="Cambria Math" panose="02040503050406030204" pitchFamily="18" charset="0"/>
                        <a:sym typeface="Wingdings" panose="05000000000000000000" pitchFamily="2" charset="2"/>
                      </a:rPr>
                      <m:t>=4</m:t>
                    </m:r>
                  </m:oMath>
                </a14:m>
                <a:r>
                  <a:rPr lang="en-US" sz="1800" dirty="0"/>
                  <a:t> per hour </a:t>
                </a:r>
                <a:r>
                  <a:rPr lang="en-US" sz="1800" dirty="0">
                    <a:sym typeface="Wingdings" panose="05000000000000000000" pitchFamily="2" charset="2"/>
                  </a:rPr>
                  <a:t> Mean </a:t>
                </a:r>
                <a:r>
                  <a:rPr lang="en-US" sz="1800" dirty="0" err="1">
                    <a:sym typeface="Wingdings" panose="05000000000000000000" pitchFamily="2" charset="2"/>
                  </a:rPr>
                  <a:t>interarrival</a:t>
                </a:r>
                <a:r>
                  <a:rPr lang="en-US" sz="1800" dirty="0">
                    <a:sym typeface="Wingdings" panose="05000000000000000000" pitchFamily="2" charset="2"/>
                  </a:rPr>
                  <a:t> time is 15 minutes</a:t>
                </a:r>
              </a:p>
              <a:p>
                <a:pPr lvl="2"/>
                <a:r>
                  <a:rPr lang="en-US" sz="1800" dirty="0">
                    <a:sym typeface="Wingdings" panose="05000000000000000000" pitchFamily="2" charset="2"/>
                  </a:rPr>
                  <a:t>Both the service times and </a:t>
                </a:r>
                <a:r>
                  <a:rPr lang="en-US" sz="1800" dirty="0" err="1">
                    <a:sym typeface="Wingdings" panose="05000000000000000000" pitchFamily="2" charset="2"/>
                  </a:rPr>
                  <a:t>interarrival</a:t>
                </a:r>
                <a:r>
                  <a:rPr lang="en-US" sz="1800" dirty="0">
                    <a:sym typeface="Wingdings" panose="05000000000000000000" pitchFamily="2" charset="2"/>
                  </a:rPr>
                  <a:t> times are exponentially distributed</a:t>
                </a:r>
              </a:p>
              <a:p>
                <a:pPr lvl="2"/>
                <a:r>
                  <a:rPr lang="en-US" sz="1800" dirty="0">
                    <a:sym typeface="Wingdings" panose="05000000000000000000" pitchFamily="2" charset="2"/>
                  </a:rPr>
                  <a:t>Kendall’s notation: M/M/1</a:t>
                </a:r>
              </a:p>
              <a:p>
                <a:pPr lvl="2"/>
                <a:r>
                  <a:rPr lang="en-US" sz="1800" dirty="0">
                    <a:sym typeface="Wingdings" panose="05000000000000000000" pitchFamily="2" charset="2"/>
                  </a:rPr>
                  <a:t>Feasibility check: Since </a:t>
                </a:r>
                <a14:m>
                  <m:oMath xmlns:m="http://schemas.openxmlformats.org/officeDocument/2006/math">
                    <m:r>
                      <a:rPr lang="en-US" sz="1800" b="0" i="1" smtClean="0">
                        <a:latin typeface="Cambria Math" panose="02040503050406030204" pitchFamily="18" charset="0"/>
                        <a:sym typeface="Wingdings" panose="05000000000000000000" pitchFamily="2" charset="2"/>
                      </a:rPr>
                      <m:t>𝜌</m:t>
                    </m:r>
                    <m:r>
                      <a:rPr lang="en-US" sz="1800" b="0" i="1" smtClean="0">
                        <a:latin typeface="Cambria Math" panose="02040503050406030204" pitchFamily="18" charset="0"/>
                        <a:sym typeface="Wingdings" panose="05000000000000000000" pitchFamily="2" charset="2"/>
                      </a:rPr>
                      <m:t>=</m:t>
                    </m:r>
                    <m:f>
                      <m:fPr>
                        <m:ctrlPr>
                          <a:rPr lang="en-US" sz="1800" b="0" i="1" smtClean="0">
                            <a:latin typeface="Cambria Math" panose="02040503050406030204" pitchFamily="18" charset="0"/>
                            <a:sym typeface="Wingdings" panose="05000000000000000000" pitchFamily="2" charset="2"/>
                          </a:rPr>
                        </m:ctrlPr>
                      </m:fPr>
                      <m:num>
                        <m:r>
                          <a:rPr lang="en-US" sz="1800" b="0" i="1" smtClean="0">
                            <a:latin typeface="Cambria Math" panose="02040503050406030204" pitchFamily="18" charset="0"/>
                            <a:sym typeface="Wingdings" panose="05000000000000000000" pitchFamily="2" charset="2"/>
                          </a:rPr>
                          <m:t>𝜆</m:t>
                        </m:r>
                      </m:num>
                      <m:den>
                        <m:r>
                          <m:rPr>
                            <m:lit/>
                          </m:rPr>
                          <a:rPr lang="en-US" sz="1800" b="0" i="1" smtClean="0">
                            <a:latin typeface="Cambria Math" panose="02040503050406030204" pitchFamily="18" charset="0"/>
                            <a:sym typeface="Wingdings" panose="05000000000000000000" pitchFamily="2" charset="2"/>
                          </a:rPr>
                          <m:t> </m:t>
                        </m:r>
                        <m:r>
                          <a:rPr lang="en-US" sz="1800" b="0" i="1" smtClean="0">
                            <a:latin typeface="Cambria Math" panose="02040503050406030204" pitchFamily="18" charset="0"/>
                            <a:sym typeface="Wingdings" panose="05000000000000000000" pitchFamily="2" charset="2"/>
                          </a:rPr>
                          <m:t>𝜇</m:t>
                        </m:r>
                      </m:den>
                    </m:f>
                    <m:r>
                      <a:rPr lang="en-US" sz="1800" b="0" i="1" smtClean="0">
                        <a:latin typeface="Cambria Math" panose="02040503050406030204" pitchFamily="18" charset="0"/>
                        <a:sym typeface="Wingdings" panose="05000000000000000000" pitchFamily="2" charset="2"/>
                      </a:rPr>
                      <m:t>=</m:t>
                    </m:r>
                    <m:f>
                      <m:fPr>
                        <m:ctrlPr>
                          <a:rPr lang="en-US" sz="1800" b="0" i="1" smtClean="0">
                            <a:latin typeface="Cambria Math" panose="02040503050406030204" pitchFamily="18" charset="0"/>
                            <a:sym typeface="Wingdings" panose="05000000000000000000" pitchFamily="2" charset="2"/>
                          </a:rPr>
                        </m:ctrlPr>
                      </m:fPr>
                      <m:num>
                        <m:r>
                          <a:rPr lang="en-US" sz="1800" b="0" i="1" smtClean="0">
                            <a:latin typeface="Cambria Math" panose="02040503050406030204" pitchFamily="18" charset="0"/>
                            <a:sym typeface="Wingdings" panose="05000000000000000000" pitchFamily="2" charset="2"/>
                          </a:rPr>
                          <m:t>4</m:t>
                        </m:r>
                      </m:num>
                      <m:den>
                        <m:r>
                          <a:rPr lang="en-US" sz="1800" b="0" i="1" smtClean="0">
                            <a:latin typeface="Cambria Math" panose="02040503050406030204" pitchFamily="18" charset="0"/>
                            <a:sym typeface="Wingdings" panose="05000000000000000000" pitchFamily="2" charset="2"/>
                          </a:rPr>
                          <m:t>6</m:t>
                        </m:r>
                      </m:den>
                    </m:f>
                    <m:r>
                      <a:rPr lang="en-US" sz="1800" b="0" i="1" smtClean="0">
                        <a:latin typeface="Cambria Math" panose="02040503050406030204" pitchFamily="18" charset="0"/>
                        <a:sym typeface="Wingdings" panose="05000000000000000000" pitchFamily="2" charset="2"/>
                      </a:rPr>
                      <m:t>=0.667&lt;1</m:t>
                    </m:r>
                  </m:oMath>
                </a14:m>
                <a:r>
                  <a:rPr lang="en-US" sz="1800" dirty="0"/>
                  <a:t>, the system is feasible </a:t>
                </a:r>
                <a:r>
                  <a:rPr lang="en-US" sz="1800" dirty="0">
                    <a:sym typeface="Wingdings" panose="05000000000000000000" pitchFamily="2" charset="2"/>
                  </a:rPr>
                  <a:t> server is busy 66.7% of the time</a:t>
                </a:r>
                <a:endParaRPr lang="en-US" sz="1800" dirty="0"/>
              </a:p>
              <a:p>
                <a:endParaRPr lang="en-US" sz="1800" dirty="0"/>
              </a:p>
              <a:p>
                <a:pPr lvl="1"/>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5146982"/>
              </a:xfrm>
              <a:blipFill>
                <a:blip r:embed="rId2"/>
                <a:stretch>
                  <a:fillRect l="-690" t="-1657" b="-4734"/>
                </a:stretch>
              </a:blipFill>
            </p:spPr>
            <p:txBody>
              <a:bodyPr/>
              <a:lstStyle/>
              <a:p>
                <a:r>
                  <a:rPr lang="en-US">
                    <a:noFill/>
                  </a:rPr>
                  <a:t> </a:t>
                </a:r>
              </a:p>
            </p:txBody>
          </p:sp>
        </mc:Fallback>
      </mc:AlternateContent>
    </p:spTree>
    <p:extLst>
      <p:ext uri="{BB962C8B-B14F-4D97-AF65-F5344CB8AC3E}">
        <p14:creationId xmlns:p14="http://schemas.microsoft.com/office/powerpoint/2010/main" val="1520582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Systematic Analyses</a:t>
            </a:r>
          </a:p>
        </p:txBody>
      </p:sp>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Car Charging Station Design</a:t>
            </a:r>
          </a:p>
          <a:p>
            <a:pPr lvl="1"/>
            <a:r>
              <a:rPr lang="en-US" sz="2000" b="1" u="sng" dirty="0"/>
              <a:t>Current State key performance measures:</a:t>
            </a:r>
          </a:p>
          <a:p>
            <a:pPr lvl="2"/>
            <a:r>
              <a:rPr lang="en-US" sz="1800" dirty="0"/>
              <a:t>Since this is a M/M/1 system, we can use formulae, or we can use the template</a:t>
            </a:r>
          </a:p>
          <a:p>
            <a:pPr lvl="2"/>
            <a:endParaRPr lang="en-US" sz="1800" dirty="0"/>
          </a:p>
          <a:p>
            <a:pPr lvl="1"/>
            <a:r>
              <a:rPr lang="en-US" sz="2000" dirty="0"/>
              <a:t>With the current system, the city council has been receiving complaints</a:t>
            </a:r>
          </a:p>
          <a:p>
            <a:pPr lvl="2"/>
            <a:r>
              <a:rPr lang="en-US" sz="1800" dirty="0"/>
              <a:t>A car owner is </a:t>
            </a:r>
            <a:r>
              <a:rPr lang="en-US" sz="1800" u="sng" dirty="0"/>
              <a:t>very-satisfied</a:t>
            </a:r>
            <a:r>
              <a:rPr lang="en-US" sz="1800" dirty="0"/>
              <a:t> if she starts charging her car as soon as she arrives at the station</a:t>
            </a:r>
          </a:p>
          <a:p>
            <a:pPr lvl="2"/>
            <a:r>
              <a:rPr lang="en-US" sz="1800" dirty="0"/>
              <a:t>A car owner is </a:t>
            </a:r>
            <a:r>
              <a:rPr lang="en-US" sz="1800" u="sng" dirty="0"/>
              <a:t>satisfied</a:t>
            </a:r>
            <a:r>
              <a:rPr lang="en-US" sz="1800" dirty="0"/>
              <a:t> if she starts charging her car within 10 minutes of her arrival</a:t>
            </a:r>
          </a:p>
          <a:p>
            <a:pPr lvl="2"/>
            <a:r>
              <a:rPr lang="en-US" sz="1800" dirty="0"/>
              <a:t>A car owner is </a:t>
            </a:r>
            <a:r>
              <a:rPr lang="en-US" sz="1800" u="sng" dirty="0"/>
              <a:t>unsatisfied</a:t>
            </a:r>
            <a:r>
              <a:rPr lang="en-US" sz="1800" dirty="0"/>
              <a:t> if she starts charging her car 10 or more minutes after her arrival</a:t>
            </a:r>
          </a:p>
          <a:p>
            <a:pPr lvl="2"/>
            <a:r>
              <a:rPr lang="en-US" sz="1800" b="1" u="sng" dirty="0"/>
              <a:t>City council wants to achieve the following standards:</a:t>
            </a:r>
          </a:p>
          <a:p>
            <a:pPr lvl="3"/>
            <a:r>
              <a:rPr lang="en-US" dirty="0"/>
              <a:t>At least 40% of the customers be very-satisfied on average</a:t>
            </a:r>
          </a:p>
          <a:p>
            <a:pPr lvl="3"/>
            <a:r>
              <a:rPr lang="en-US" dirty="0"/>
              <a:t>At least 80% of the customers be satisfied or very-satisfied on average (or equally, at most 20% of the customers are unsatisfied on average)</a:t>
            </a:r>
          </a:p>
          <a:p>
            <a:pPr lvl="2"/>
            <a:r>
              <a:rPr lang="en-US" dirty="0"/>
              <a:t>What are these standards?</a:t>
            </a:r>
          </a:p>
          <a:p>
            <a:pPr lvl="3"/>
            <a:r>
              <a:rPr lang="en-US" dirty="0"/>
              <a:t>A car owner’s satisfaction depends on the time she spends from her arrival until she starts charging</a:t>
            </a:r>
          </a:p>
          <a:p>
            <a:pPr lvl="3"/>
            <a:r>
              <a:rPr lang="en-US" dirty="0"/>
              <a:t>That is, her waiting time in the queue </a:t>
            </a:r>
          </a:p>
          <a:p>
            <a:pPr lvl="3"/>
            <a:r>
              <a:rPr lang="en-US" dirty="0"/>
              <a:t>We know that on average, a car owner waits </a:t>
            </a:r>
            <a:r>
              <a:rPr lang="en-US" dirty="0" err="1"/>
              <a:t>Wq</a:t>
            </a:r>
            <a:r>
              <a:rPr lang="en-US" dirty="0"/>
              <a:t>=0.3333 hours = 20 minutes on average in the queue</a:t>
            </a:r>
          </a:p>
          <a:p>
            <a:pPr lvl="3"/>
            <a:r>
              <a:rPr lang="en-US" dirty="0"/>
              <a:t>But the standards are not about average waiting time!</a:t>
            </a:r>
          </a:p>
          <a:p>
            <a:endParaRPr lang="en-US" dirty="0"/>
          </a:p>
          <a:p>
            <a:pPr lvl="1"/>
            <a:endParaRPr lang="en-US" sz="2000" dirty="0"/>
          </a:p>
        </p:txBody>
      </p:sp>
      <p:pic>
        <p:nvPicPr>
          <p:cNvPr id="4" name="Picture 3"/>
          <p:cNvPicPr>
            <a:picLocks noChangeAspect="1"/>
          </p:cNvPicPr>
          <p:nvPr/>
        </p:nvPicPr>
        <p:blipFill>
          <a:blip r:embed="rId2"/>
          <a:stretch>
            <a:fillRect/>
          </a:stretch>
        </p:blipFill>
        <p:spPr>
          <a:xfrm>
            <a:off x="9711588" y="1394495"/>
            <a:ext cx="1155704" cy="1446188"/>
          </a:xfrm>
          <a:prstGeom prst="rect">
            <a:avLst/>
          </a:prstGeom>
        </p:spPr>
      </p:pic>
    </p:spTree>
    <p:extLst>
      <p:ext uri="{BB962C8B-B14F-4D97-AF65-F5344CB8AC3E}">
        <p14:creationId xmlns:p14="http://schemas.microsoft.com/office/powerpoint/2010/main" val="282061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Systematic Analyses</a:t>
            </a:r>
          </a:p>
        </p:txBody>
      </p:sp>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Car Charging Station Design</a:t>
            </a:r>
          </a:p>
          <a:p>
            <a:pPr lvl="1"/>
            <a:r>
              <a:rPr lang="en-US" b="1" u="sng" dirty="0"/>
              <a:t>Standards:</a:t>
            </a:r>
            <a:endParaRPr lang="en-US" dirty="0"/>
          </a:p>
          <a:p>
            <a:pPr lvl="1"/>
            <a:r>
              <a:rPr lang="en-US" dirty="0"/>
              <a:t>At least 40% of the customers be very-satisfied on average</a:t>
            </a:r>
          </a:p>
          <a:p>
            <a:pPr lvl="2"/>
            <a:r>
              <a:rPr lang="en-US" dirty="0"/>
              <a:t>A car owner is very-satisfied if she does not wait in the queue at all</a:t>
            </a:r>
          </a:p>
          <a:p>
            <a:pPr lvl="2"/>
            <a:r>
              <a:rPr lang="en-US" dirty="0"/>
              <a:t>% of car owners waiting less than XX minutes is probability of a car owner waiting less than XX minutes</a:t>
            </a:r>
          </a:p>
          <a:p>
            <a:pPr lvl="2"/>
            <a:r>
              <a:rPr lang="en-US" dirty="0"/>
              <a:t>So, we need to determine the probability of a car owner wait 0 minutes in the queue</a:t>
            </a:r>
          </a:p>
          <a:p>
            <a:pPr lvl="2"/>
            <a:r>
              <a:rPr lang="en-US" dirty="0"/>
              <a:t>P(</a:t>
            </a:r>
            <a:r>
              <a:rPr lang="en-US" dirty="0" err="1"/>
              <a:t>Wq</a:t>
            </a:r>
            <a:r>
              <a:rPr lang="en-US" dirty="0"/>
              <a:t>&lt;0) = 1- P(</a:t>
            </a:r>
            <a:r>
              <a:rPr lang="en-US" dirty="0" err="1"/>
              <a:t>Wq</a:t>
            </a:r>
            <a:r>
              <a:rPr lang="en-US" dirty="0"/>
              <a:t>&gt;0)</a:t>
            </a:r>
          </a:p>
          <a:p>
            <a:pPr lvl="2"/>
            <a:endParaRPr lang="en-US" sz="1600" dirty="0">
              <a:solidFill>
                <a:srgbClr val="C00000"/>
              </a:solidFill>
            </a:endParaRPr>
          </a:p>
          <a:p>
            <a:pPr lvl="2"/>
            <a:r>
              <a:rPr lang="en-US" dirty="0"/>
              <a:t>We can use template to calculate this</a:t>
            </a:r>
          </a:p>
          <a:p>
            <a:pPr lvl="2"/>
            <a:endParaRPr lang="en-US" dirty="0"/>
          </a:p>
          <a:p>
            <a:pPr lvl="2"/>
            <a:endParaRPr lang="en-US" dirty="0"/>
          </a:p>
          <a:p>
            <a:pPr lvl="2"/>
            <a:endParaRPr lang="en-US" dirty="0"/>
          </a:p>
          <a:p>
            <a:pPr lvl="2"/>
            <a:r>
              <a:rPr lang="en-US" dirty="0"/>
              <a:t>So, the current system does not satisfy this standard </a:t>
            </a:r>
            <a:r>
              <a:rPr lang="en-US" dirty="0">
                <a:sym typeface="Wingdings" panose="05000000000000000000" pitchFamily="2" charset="2"/>
              </a:rPr>
              <a:t></a:t>
            </a:r>
          </a:p>
          <a:p>
            <a:pPr lvl="2"/>
            <a:r>
              <a:rPr lang="en-US" dirty="0">
                <a:sym typeface="Wingdings" panose="05000000000000000000" pitchFamily="2" charset="2"/>
              </a:rPr>
              <a:t>Note: </a:t>
            </a:r>
            <a:r>
              <a:rPr lang="en-US" dirty="0"/>
              <a:t>P(</a:t>
            </a:r>
            <a:r>
              <a:rPr lang="en-US" dirty="0" err="1"/>
              <a:t>Wq</a:t>
            </a:r>
            <a:r>
              <a:rPr lang="en-US" dirty="0"/>
              <a:t>&lt;0) =p(0) in this example! Why?</a:t>
            </a:r>
          </a:p>
          <a:p>
            <a:pPr lvl="1"/>
            <a:endParaRPr lang="en-US" sz="2000" dirty="0"/>
          </a:p>
        </p:txBody>
      </p:sp>
      <p:sp>
        <p:nvSpPr>
          <p:cNvPr id="8" name="Rounded Rectangular Callout 7"/>
          <p:cNvSpPr/>
          <p:nvPr/>
        </p:nvSpPr>
        <p:spPr>
          <a:xfrm>
            <a:off x="8593015" y="3868449"/>
            <a:ext cx="3048000" cy="949569"/>
          </a:xfrm>
          <a:prstGeom prst="wedgeRoundRectCallout">
            <a:avLst>
              <a:gd name="adj1" fmla="val -199295"/>
              <a:gd name="adj2" fmla="val -4614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rgbClr val="C00000"/>
                </a:solidFill>
              </a:rPr>
              <a:t>Here, there is abuse of notation as </a:t>
            </a:r>
            <a:r>
              <a:rPr lang="en-US" sz="1600" dirty="0" err="1">
                <a:solidFill>
                  <a:srgbClr val="C00000"/>
                </a:solidFill>
              </a:rPr>
              <a:t>Wq</a:t>
            </a:r>
            <a:r>
              <a:rPr lang="en-US" sz="1600" dirty="0">
                <a:solidFill>
                  <a:srgbClr val="C00000"/>
                </a:solidFill>
              </a:rPr>
              <a:t> here refers to a generic queue time rather than expected queue time of a customer</a:t>
            </a:r>
            <a:endParaRPr lang="en-US" sz="1600" dirty="0"/>
          </a:p>
        </p:txBody>
      </p:sp>
      <p:pic>
        <p:nvPicPr>
          <p:cNvPr id="9" name="Picture 8"/>
          <p:cNvPicPr>
            <a:picLocks noChangeAspect="1"/>
          </p:cNvPicPr>
          <p:nvPr/>
        </p:nvPicPr>
        <p:blipFill>
          <a:blip r:embed="rId2"/>
          <a:stretch>
            <a:fillRect/>
          </a:stretch>
        </p:blipFill>
        <p:spPr>
          <a:xfrm>
            <a:off x="1602877" y="4818018"/>
            <a:ext cx="6591288" cy="738720"/>
          </a:xfrm>
          <a:prstGeom prst="rect">
            <a:avLst/>
          </a:prstGeom>
        </p:spPr>
      </p:pic>
    </p:spTree>
    <p:extLst>
      <p:ext uri="{BB962C8B-B14F-4D97-AF65-F5344CB8AC3E}">
        <p14:creationId xmlns:p14="http://schemas.microsoft.com/office/powerpoint/2010/main" val="2991976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Systematic Analyses</a:t>
            </a:r>
          </a:p>
        </p:txBody>
      </p:sp>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Car Charging Station Design</a:t>
            </a:r>
          </a:p>
          <a:p>
            <a:pPr lvl="1"/>
            <a:r>
              <a:rPr lang="en-US" b="1" u="sng" dirty="0"/>
              <a:t>Standards:</a:t>
            </a:r>
            <a:endParaRPr lang="en-US" sz="2800" dirty="0"/>
          </a:p>
          <a:p>
            <a:pPr lvl="1"/>
            <a:r>
              <a:rPr lang="en-US" dirty="0"/>
              <a:t>At least 80% of the customers be satisfied or very-satisfied on average </a:t>
            </a:r>
          </a:p>
          <a:p>
            <a:pPr lvl="2"/>
            <a:r>
              <a:rPr lang="en-US" dirty="0"/>
              <a:t>A car owner is satisfied or very-satisfied if she does not wait in the queue more than 10 minutes</a:t>
            </a:r>
          </a:p>
          <a:p>
            <a:pPr lvl="2"/>
            <a:r>
              <a:rPr lang="en-US" dirty="0"/>
              <a:t>So, we need to determine the probability of a car owner wait 10 minutes or less in the queue</a:t>
            </a:r>
          </a:p>
          <a:p>
            <a:pPr lvl="2"/>
            <a:r>
              <a:rPr lang="en-US" dirty="0"/>
              <a:t>P(</a:t>
            </a:r>
            <a:r>
              <a:rPr lang="en-US" dirty="0" err="1"/>
              <a:t>Wq</a:t>
            </a:r>
            <a:r>
              <a:rPr lang="en-US" dirty="0"/>
              <a:t>&lt;10minutes) = 1- P(</a:t>
            </a:r>
            <a:r>
              <a:rPr lang="en-US" dirty="0" err="1"/>
              <a:t>Wq</a:t>
            </a:r>
            <a:r>
              <a:rPr lang="en-US" dirty="0"/>
              <a:t>&gt;10minutes)</a:t>
            </a:r>
          </a:p>
          <a:p>
            <a:pPr lvl="3"/>
            <a:r>
              <a:rPr lang="en-US" dirty="0">
                <a:sym typeface="Wingdings" panose="05000000000000000000" pitchFamily="2" charset="2"/>
              </a:rPr>
              <a:t>be careful with metrics! Everything should be in terms of hours or minutes (I used hours for </a:t>
            </a:r>
            <a:r>
              <a:rPr lang="el-GR" dirty="0">
                <a:sym typeface="Wingdings" panose="05000000000000000000" pitchFamily="2" charset="2"/>
              </a:rPr>
              <a:t>λ</a:t>
            </a:r>
            <a:r>
              <a:rPr lang="en-US" dirty="0">
                <a:sym typeface="Wingdings" panose="05000000000000000000" pitchFamily="2" charset="2"/>
              </a:rPr>
              <a:t> and </a:t>
            </a:r>
            <a:r>
              <a:rPr lang="el-GR" dirty="0">
                <a:sym typeface="Wingdings" panose="05000000000000000000" pitchFamily="2" charset="2"/>
              </a:rPr>
              <a:t>μ</a:t>
            </a:r>
            <a:r>
              <a:rPr lang="en-US" dirty="0">
                <a:sym typeface="Wingdings" panose="05000000000000000000" pitchFamily="2" charset="2"/>
              </a:rPr>
              <a:t>)</a:t>
            </a:r>
            <a:endParaRPr lang="en-US" dirty="0"/>
          </a:p>
          <a:p>
            <a:pPr lvl="2"/>
            <a:r>
              <a:rPr lang="en-US" dirty="0"/>
              <a:t>We can use template to calculate this</a:t>
            </a:r>
          </a:p>
          <a:p>
            <a:pPr lvl="2"/>
            <a:endParaRPr lang="en-US" dirty="0"/>
          </a:p>
          <a:p>
            <a:pPr lvl="2"/>
            <a:r>
              <a:rPr lang="en-US" dirty="0"/>
              <a:t>So, the current system does not satisfy this standard also </a:t>
            </a:r>
            <a:r>
              <a:rPr lang="en-US" dirty="0">
                <a:sym typeface="Wingdings" panose="05000000000000000000" pitchFamily="2" charset="2"/>
              </a:rPr>
              <a:t></a:t>
            </a:r>
          </a:p>
          <a:p>
            <a:pPr lvl="2"/>
            <a:r>
              <a:rPr lang="en-US" dirty="0">
                <a:sym typeface="Wingdings" panose="05000000000000000000" pitchFamily="2" charset="2"/>
              </a:rPr>
              <a:t>We can also calculate:</a:t>
            </a:r>
          </a:p>
          <a:p>
            <a:pPr lvl="3"/>
            <a:endParaRPr lang="en-US" dirty="0"/>
          </a:p>
          <a:p>
            <a:pPr lvl="1"/>
            <a:endParaRPr lang="en-US" sz="2000" dirty="0"/>
          </a:p>
        </p:txBody>
      </p:sp>
      <p:pic>
        <p:nvPicPr>
          <p:cNvPr id="4" name="Picture 3"/>
          <p:cNvPicPr>
            <a:picLocks noChangeAspect="1"/>
          </p:cNvPicPr>
          <p:nvPr/>
        </p:nvPicPr>
        <p:blipFill>
          <a:blip r:embed="rId2"/>
          <a:stretch>
            <a:fillRect/>
          </a:stretch>
        </p:blipFill>
        <p:spPr>
          <a:xfrm>
            <a:off x="5732584" y="3826962"/>
            <a:ext cx="5791200" cy="649050"/>
          </a:xfrm>
          <a:prstGeom prst="rect">
            <a:avLst/>
          </a:prstGeom>
        </p:spPr>
      </p:pic>
      <p:pic>
        <p:nvPicPr>
          <p:cNvPr id="6" name="Picture 5"/>
          <p:cNvPicPr>
            <a:picLocks noChangeAspect="1"/>
          </p:cNvPicPr>
          <p:nvPr/>
        </p:nvPicPr>
        <p:blipFill>
          <a:blip r:embed="rId3"/>
          <a:stretch>
            <a:fillRect/>
          </a:stretch>
        </p:blipFill>
        <p:spPr>
          <a:xfrm>
            <a:off x="1952576" y="5290422"/>
            <a:ext cx="5928516" cy="653178"/>
          </a:xfrm>
          <a:prstGeom prst="rect">
            <a:avLst/>
          </a:prstGeom>
        </p:spPr>
      </p:pic>
      <p:pic>
        <p:nvPicPr>
          <p:cNvPr id="9" name="Picture 8"/>
          <p:cNvPicPr>
            <a:picLocks noChangeAspect="1"/>
          </p:cNvPicPr>
          <p:nvPr/>
        </p:nvPicPr>
        <p:blipFill>
          <a:blip r:embed="rId4"/>
          <a:stretch>
            <a:fillRect/>
          </a:stretch>
        </p:blipFill>
        <p:spPr>
          <a:xfrm>
            <a:off x="1952576" y="6248400"/>
            <a:ext cx="5846584" cy="211015"/>
          </a:xfrm>
          <a:prstGeom prst="rect">
            <a:avLst/>
          </a:prstGeom>
        </p:spPr>
      </p:pic>
      <p:sp>
        <p:nvSpPr>
          <p:cNvPr id="10" name="Rounded Rectangular Callout 9"/>
          <p:cNvSpPr/>
          <p:nvPr/>
        </p:nvSpPr>
        <p:spPr>
          <a:xfrm>
            <a:off x="8628184" y="5142226"/>
            <a:ext cx="3048000" cy="949569"/>
          </a:xfrm>
          <a:prstGeom prst="wedgeRoundRectCallout">
            <a:avLst>
              <a:gd name="adj1" fmla="val -76218"/>
              <a:gd name="adj2" fmla="val 61265"/>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rgbClr val="C00000"/>
                </a:solidFill>
              </a:rPr>
              <a:t>{% of satisfied or very-satisfied} – {% of very satisfied}</a:t>
            </a:r>
            <a:endParaRPr lang="en-US" sz="1600" dirty="0"/>
          </a:p>
        </p:txBody>
      </p:sp>
    </p:spTree>
    <p:extLst>
      <p:ext uri="{BB962C8B-B14F-4D97-AF65-F5344CB8AC3E}">
        <p14:creationId xmlns:p14="http://schemas.microsoft.com/office/powerpoint/2010/main" val="136276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Systematic Analyses</a:t>
            </a:r>
          </a:p>
        </p:txBody>
      </p:sp>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Car Charging Station Design</a:t>
            </a:r>
          </a:p>
          <a:p>
            <a:pPr lvl="1"/>
            <a:r>
              <a:rPr lang="en-US" b="1" u="sng" dirty="0"/>
              <a:t>Some Other Standards:</a:t>
            </a:r>
            <a:endParaRPr lang="en-US" sz="2800" dirty="0"/>
          </a:p>
          <a:p>
            <a:pPr lvl="1"/>
            <a:r>
              <a:rPr lang="en-US" dirty="0"/>
              <a:t>If a car owner’s satisfaction was defined based on her total time in the system, we would have used P(W&lt;t) in our calculations</a:t>
            </a:r>
          </a:p>
          <a:p>
            <a:pPr lvl="1"/>
            <a:r>
              <a:rPr lang="en-US" dirty="0"/>
              <a:t>No more than 2 cars waiting for charging on average</a:t>
            </a:r>
          </a:p>
          <a:p>
            <a:pPr lvl="2"/>
            <a:r>
              <a:rPr lang="en-US" dirty="0"/>
              <a:t>This is talking about </a:t>
            </a:r>
            <a:r>
              <a:rPr lang="en-US" dirty="0" err="1"/>
              <a:t>Lq</a:t>
            </a:r>
            <a:r>
              <a:rPr lang="en-US" dirty="0"/>
              <a:t>&lt;=2 </a:t>
            </a:r>
            <a:r>
              <a:rPr lang="en-US" dirty="0">
                <a:sym typeface="Wingdings" panose="05000000000000000000" pitchFamily="2" charset="2"/>
              </a:rPr>
              <a:t> Currently, </a:t>
            </a:r>
            <a:r>
              <a:rPr lang="en-US" dirty="0" err="1">
                <a:sym typeface="Wingdings" panose="05000000000000000000" pitchFamily="2" charset="2"/>
              </a:rPr>
              <a:t>Lq</a:t>
            </a:r>
            <a:r>
              <a:rPr lang="en-US" dirty="0">
                <a:sym typeface="Wingdings" panose="05000000000000000000" pitchFamily="2" charset="2"/>
              </a:rPr>
              <a:t>=1.333  So satisfied </a:t>
            </a:r>
          </a:p>
          <a:p>
            <a:pPr lvl="1"/>
            <a:r>
              <a:rPr lang="en-US" dirty="0">
                <a:sym typeface="Wingdings" panose="05000000000000000000" pitchFamily="2" charset="2"/>
              </a:rPr>
              <a:t>No more than 1 car in the queue at least 75% of the time</a:t>
            </a:r>
          </a:p>
          <a:p>
            <a:pPr lvl="2"/>
            <a:r>
              <a:rPr lang="en-US" dirty="0">
                <a:sym typeface="Wingdings" panose="05000000000000000000" pitchFamily="2" charset="2"/>
              </a:rPr>
              <a:t>We need to find the probability of having 1 or less cars in the queue and see if it is &gt;= 0.75</a:t>
            </a:r>
          </a:p>
          <a:p>
            <a:pPr lvl="2"/>
            <a:r>
              <a:rPr lang="en-US" dirty="0">
                <a:sym typeface="Wingdings" panose="05000000000000000000" pitchFamily="2" charset="2"/>
              </a:rPr>
              <a:t>Probability of having 1 or less cars in the queue is equal to probability of having 2 or less cars in the station</a:t>
            </a:r>
          </a:p>
          <a:p>
            <a:pPr lvl="3"/>
            <a:r>
              <a:rPr lang="en-US" dirty="0">
                <a:sym typeface="Wingdings" panose="05000000000000000000" pitchFamily="2" charset="2"/>
              </a:rPr>
              <a:t>If 0 car in station  0 cars in the queue</a:t>
            </a:r>
          </a:p>
          <a:p>
            <a:pPr lvl="3"/>
            <a:r>
              <a:rPr lang="en-US" dirty="0">
                <a:sym typeface="Wingdings" panose="05000000000000000000" pitchFamily="2" charset="2"/>
              </a:rPr>
              <a:t>If 1 car in station  0 cars in the queue</a:t>
            </a:r>
          </a:p>
          <a:p>
            <a:pPr lvl="3"/>
            <a:r>
              <a:rPr lang="en-US" dirty="0">
                <a:sym typeface="Wingdings" panose="05000000000000000000" pitchFamily="2" charset="2"/>
              </a:rPr>
              <a:t>If 2 cars in the station  1 car in the queue (1 charging)</a:t>
            </a:r>
          </a:p>
          <a:p>
            <a:pPr lvl="3"/>
            <a:r>
              <a:rPr lang="en-US" dirty="0">
                <a:sym typeface="Wingdings" panose="05000000000000000000" pitchFamily="2" charset="2"/>
              </a:rPr>
              <a:t>If 3 cars in the station  2 cars in the queue (1 charging)</a:t>
            </a:r>
          </a:p>
          <a:p>
            <a:pPr lvl="3"/>
            <a:r>
              <a:rPr lang="en-US" dirty="0">
                <a:sym typeface="Wingdings" panose="05000000000000000000" pitchFamily="2" charset="2"/>
              </a:rPr>
              <a:t>And so on…</a:t>
            </a:r>
            <a:endParaRPr lang="en-US" dirty="0"/>
          </a:p>
        </p:txBody>
      </p:sp>
      <p:sp>
        <p:nvSpPr>
          <p:cNvPr id="5" name="Right Brace 4"/>
          <p:cNvSpPr/>
          <p:nvPr/>
        </p:nvSpPr>
        <p:spPr>
          <a:xfrm>
            <a:off x="7209693" y="4923692"/>
            <a:ext cx="515815" cy="90267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p:cNvSpPr txBox="1"/>
          <p:nvPr/>
        </p:nvSpPr>
        <p:spPr>
          <a:xfrm>
            <a:off x="8167537" y="4923692"/>
            <a:ext cx="3223846" cy="923330"/>
          </a:xfrm>
          <a:prstGeom prst="rect">
            <a:avLst/>
          </a:prstGeom>
          <a:noFill/>
        </p:spPr>
        <p:txBody>
          <a:bodyPr wrap="square" rtlCol="0">
            <a:spAutoFit/>
          </a:bodyPr>
          <a:lstStyle/>
          <a:p>
            <a:r>
              <a:rPr lang="en-US" dirty="0"/>
              <a:t>So, probability of having 1 or less cars in the queue is equal to p(0)+p(1)+p(2)=0.7037 </a:t>
            </a:r>
            <a:r>
              <a:rPr lang="en-US" dirty="0">
                <a:sym typeface="Wingdings" panose="05000000000000000000" pitchFamily="2" charset="2"/>
              </a:rPr>
              <a:t></a:t>
            </a:r>
            <a:endParaRPr lang="en-US" dirty="0"/>
          </a:p>
        </p:txBody>
      </p:sp>
      <p:sp>
        <p:nvSpPr>
          <p:cNvPr id="11" name="Rounded Rectangular Callout 10"/>
          <p:cNvSpPr/>
          <p:nvPr/>
        </p:nvSpPr>
        <p:spPr>
          <a:xfrm>
            <a:off x="7971692" y="6016008"/>
            <a:ext cx="1910862" cy="550984"/>
          </a:xfrm>
          <a:prstGeom prst="wedgeRoundRectCallout">
            <a:avLst>
              <a:gd name="adj1" fmla="val 40347"/>
              <a:gd name="adj2" fmla="val -9618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solidFill>
                  <a:srgbClr val="C00000"/>
                </a:solidFill>
              </a:rPr>
              <a:t>From the template</a:t>
            </a:r>
            <a:endParaRPr lang="en-US" sz="1600" dirty="0"/>
          </a:p>
        </p:txBody>
      </p:sp>
    </p:spTree>
    <p:extLst>
      <p:ext uri="{BB962C8B-B14F-4D97-AF65-F5344CB8AC3E}">
        <p14:creationId xmlns:p14="http://schemas.microsoft.com/office/powerpoint/2010/main" val="3258618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Systematic Analyses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Car Charging Station Design</a:t>
                </a:r>
              </a:p>
              <a:p>
                <a:pPr lvl="1"/>
                <a:r>
                  <a:rPr lang="en-US" b="1" u="sng" dirty="0"/>
                  <a:t>Alternative Plan 1: Replace the current charger with a faster charger</a:t>
                </a:r>
              </a:p>
              <a:p>
                <a:pPr lvl="2"/>
                <a:r>
                  <a:rPr lang="en-US" dirty="0"/>
                  <a:t>The faster charger charges a car in 6 minutes on average </a:t>
                </a:r>
                <a:r>
                  <a:rPr lang="en-US" dirty="0">
                    <a:sym typeface="Wingdings" panose="05000000000000000000" pitchFamily="2" charset="2"/>
                  </a:rPr>
                  <a:t> so new </a:t>
                </a:r>
                <a:r>
                  <a:rPr lang="el-GR" dirty="0">
                    <a:sym typeface="Wingdings" panose="05000000000000000000" pitchFamily="2" charset="2"/>
                  </a:rPr>
                  <a:t>μ</a:t>
                </a:r>
                <a:r>
                  <a:rPr lang="en-US" dirty="0">
                    <a:sym typeface="Wingdings" panose="05000000000000000000" pitchFamily="2" charset="2"/>
                  </a:rPr>
                  <a:t>=10 per hour</a:t>
                </a:r>
              </a:p>
              <a:p>
                <a:pPr lvl="2"/>
                <a:r>
                  <a:rPr lang="en-US" dirty="0">
                    <a:sym typeface="Wingdings" panose="05000000000000000000" pitchFamily="2" charset="2"/>
                  </a:rPr>
                  <a:t>We still have M/M/1, but now </a:t>
                </a:r>
                <a14:m>
                  <m:oMath xmlns:m="http://schemas.openxmlformats.org/officeDocument/2006/math">
                    <m:r>
                      <a:rPr lang="en-US" i="1">
                        <a:latin typeface="Cambria Math" panose="02040503050406030204" pitchFamily="18" charset="0"/>
                        <a:sym typeface="Wingdings" panose="05000000000000000000" pitchFamily="2" charset="2"/>
                      </a:rPr>
                      <m:t>𝜆</m:t>
                    </m:r>
                    <m:r>
                      <a:rPr lang="en-US" i="1">
                        <a:latin typeface="Cambria Math" panose="02040503050406030204" pitchFamily="18" charset="0"/>
                        <a:sym typeface="Wingdings" panose="05000000000000000000" pitchFamily="2" charset="2"/>
                      </a:rPr>
                      <m:t>=4</m:t>
                    </m:r>
                  </m:oMath>
                </a14:m>
                <a:r>
                  <a:rPr lang="en-US" dirty="0"/>
                  <a:t> per hour and </a:t>
                </a:r>
                <a14:m>
                  <m:oMath xmlns:m="http://schemas.openxmlformats.org/officeDocument/2006/math">
                    <m:r>
                      <a:rPr lang="en-US" b="0" i="1" smtClean="0">
                        <a:latin typeface="Cambria Math" panose="02040503050406030204" pitchFamily="18" charset="0"/>
                        <a:sym typeface="Wingdings" panose="05000000000000000000" pitchFamily="2" charset="2"/>
                      </a:rPr>
                      <m:t>𝜇</m:t>
                    </m:r>
                    <m:r>
                      <a:rPr lang="en-US" i="1">
                        <a:latin typeface="Cambria Math" panose="02040503050406030204" pitchFamily="18" charset="0"/>
                        <a:sym typeface="Wingdings" panose="05000000000000000000" pitchFamily="2" charset="2"/>
                      </a:rPr>
                      <m:t>=</m:t>
                    </m:r>
                    <m:r>
                      <a:rPr lang="en-US" b="0" i="1" smtClean="0">
                        <a:latin typeface="Cambria Math" panose="02040503050406030204" pitchFamily="18" charset="0"/>
                        <a:sym typeface="Wingdings" panose="05000000000000000000" pitchFamily="2" charset="2"/>
                      </a:rPr>
                      <m:t>10</m:t>
                    </m:r>
                  </m:oMath>
                </a14:m>
                <a:r>
                  <a:rPr lang="en-US" dirty="0"/>
                  <a:t> per hour </a:t>
                </a:r>
              </a:p>
              <a:p>
                <a:pPr lvl="1"/>
                <a:r>
                  <a:rPr lang="en-US" b="1" u="sng" dirty="0"/>
                  <a:t>Alternative Plan 2: Locate an additional charging station at the other end of town</a:t>
                </a:r>
              </a:p>
              <a:p>
                <a:pPr lvl="2"/>
                <a:r>
                  <a:rPr lang="en-US" dirty="0"/>
                  <a:t>Under this plan, the new station will also have the same charger, and half of the customers will visit the new station and the other half will continue visiting the current station</a:t>
                </a:r>
              </a:p>
              <a:p>
                <a:pPr lvl="2"/>
                <a:r>
                  <a:rPr lang="en-US" dirty="0"/>
                  <a:t>Under this plan, we will have two independent identical M/M/1 systems</a:t>
                </a:r>
              </a:p>
              <a:p>
                <a:pPr lvl="2"/>
                <a:r>
                  <a:rPr lang="en-US" dirty="0"/>
                  <a:t>Each M/M/1 has </a:t>
                </a:r>
                <a14:m>
                  <m:oMath xmlns:m="http://schemas.openxmlformats.org/officeDocument/2006/math">
                    <m:r>
                      <a:rPr lang="en-US" i="1">
                        <a:latin typeface="Cambria Math" panose="02040503050406030204" pitchFamily="18" charset="0"/>
                        <a:sym typeface="Wingdings" panose="05000000000000000000" pitchFamily="2" charset="2"/>
                      </a:rPr>
                      <m:t>𝜆</m:t>
                    </m:r>
                    <m:r>
                      <a:rPr lang="en-US" i="1">
                        <a:latin typeface="Cambria Math" panose="02040503050406030204" pitchFamily="18" charset="0"/>
                        <a:sym typeface="Wingdings" panose="05000000000000000000" pitchFamily="2" charset="2"/>
                      </a:rPr>
                      <m:t>=2</m:t>
                    </m:r>
                  </m:oMath>
                </a14:m>
                <a:r>
                  <a:rPr lang="en-US" dirty="0"/>
                  <a:t> per hour and </a:t>
                </a:r>
                <a14:m>
                  <m:oMath xmlns:m="http://schemas.openxmlformats.org/officeDocument/2006/math">
                    <m:r>
                      <a:rPr lang="en-US" i="1">
                        <a:latin typeface="Cambria Math" panose="02040503050406030204" pitchFamily="18" charset="0"/>
                        <a:sym typeface="Wingdings" panose="05000000000000000000" pitchFamily="2" charset="2"/>
                      </a:rPr>
                      <m:t>𝜇</m:t>
                    </m:r>
                    <m:r>
                      <a:rPr lang="en-US" i="1">
                        <a:latin typeface="Cambria Math" panose="02040503050406030204" pitchFamily="18" charset="0"/>
                        <a:sym typeface="Wingdings" panose="05000000000000000000" pitchFamily="2" charset="2"/>
                      </a:rPr>
                      <m:t>=6</m:t>
                    </m:r>
                  </m:oMath>
                </a14:m>
                <a:r>
                  <a:rPr lang="en-US" dirty="0"/>
                  <a:t> per hour </a:t>
                </a:r>
              </a:p>
              <a:p>
                <a:pPr lvl="1"/>
                <a:r>
                  <a:rPr lang="en-US" b="1" u="sng" dirty="0"/>
                  <a:t>Alternative Plan 3: Put a second charger (same as current one) in the current station</a:t>
                </a:r>
              </a:p>
              <a:p>
                <a:pPr lvl="2"/>
                <a:r>
                  <a:rPr lang="en-US" dirty="0"/>
                  <a:t>Under this plan, we keep the same charging station but add another charger</a:t>
                </a:r>
              </a:p>
              <a:p>
                <a:pPr lvl="2"/>
                <a:r>
                  <a:rPr lang="en-US" dirty="0"/>
                  <a:t>There will be still one queue and the car in front of the queue will go to the next charger available</a:t>
                </a:r>
              </a:p>
              <a:p>
                <a:pPr lvl="2"/>
                <a:r>
                  <a:rPr lang="en-US" dirty="0"/>
                  <a:t>So, we will have a single 2-server system M/M/2 with </a:t>
                </a:r>
                <a14:m>
                  <m:oMath xmlns:m="http://schemas.openxmlformats.org/officeDocument/2006/math">
                    <m:r>
                      <a:rPr lang="en-US" i="1">
                        <a:latin typeface="Cambria Math" panose="02040503050406030204" pitchFamily="18" charset="0"/>
                        <a:sym typeface="Wingdings" panose="05000000000000000000" pitchFamily="2" charset="2"/>
                      </a:rPr>
                      <m:t>𝜆</m:t>
                    </m:r>
                    <m:r>
                      <a:rPr lang="en-US" i="1">
                        <a:latin typeface="Cambria Math" panose="02040503050406030204" pitchFamily="18" charset="0"/>
                        <a:sym typeface="Wingdings" panose="05000000000000000000" pitchFamily="2" charset="2"/>
                      </a:rPr>
                      <m:t>=4</m:t>
                    </m:r>
                  </m:oMath>
                </a14:m>
                <a:r>
                  <a:rPr lang="en-US" dirty="0"/>
                  <a:t> per hour and </a:t>
                </a:r>
                <a14:m>
                  <m:oMath xmlns:m="http://schemas.openxmlformats.org/officeDocument/2006/math">
                    <m:r>
                      <a:rPr lang="en-US" i="1">
                        <a:latin typeface="Cambria Math" panose="02040503050406030204" pitchFamily="18" charset="0"/>
                        <a:sym typeface="Wingdings" panose="05000000000000000000" pitchFamily="2" charset="2"/>
                      </a:rPr>
                      <m:t>𝜇</m:t>
                    </m:r>
                    <m:r>
                      <a:rPr lang="en-US" i="1">
                        <a:latin typeface="Cambria Math" panose="02040503050406030204" pitchFamily="18" charset="0"/>
                        <a:sym typeface="Wingdings" panose="05000000000000000000" pitchFamily="2" charset="2"/>
                      </a:rPr>
                      <m:t>=6</m:t>
                    </m:r>
                  </m:oMath>
                </a14:m>
                <a:r>
                  <a:rPr lang="en-US" dirty="0"/>
                  <a:t> per hour </a:t>
                </a:r>
              </a:p>
              <a:p>
                <a:pPr marL="457200" lvl="1" indent="0">
                  <a:buNone/>
                </a:pPr>
                <a:endParaRPr lang="en-US" sz="2000" u="sng" dirty="0">
                  <a:solidFill>
                    <a:srgbClr val="C00000"/>
                  </a:solidFill>
                </a:endParaRPr>
              </a:p>
              <a:p>
                <a:pPr marL="457200" lvl="1" indent="0">
                  <a:buNone/>
                </a:pPr>
                <a:r>
                  <a:rPr lang="en-US" sz="2000" u="sng" dirty="0">
                    <a:solidFill>
                      <a:srgbClr val="C00000"/>
                    </a:solidFill>
                  </a:rPr>
                  <a:t>NOTE: number of servers does not change the service rate!!! Service rate is defined for a single server!!!</a:t>
                </a:r>
              </a:p>
              <a:p>
                <a:pPr lvl="1"/>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5146982"/>
              </a:xfrm>
              <a:blipFill>
                <a:blip r:embed="rId2"/>
                <a:stretch>
                  <a:fillRect l="-690" t="-1657" r="-690" b="-4024"/>
                </a:stretch>
              </a:blipFill>
            </p:spPr>
            <p:txBody>
              <a:bodyPr/>
              <a:lstStyle/>
              <a:p>
                <a:r>
                  <a:rPr lang="en-US">
                    <a:noFill/>
                  </a:rPr>
                  <a:t> </a:t>
                </a:r>
              </a:p>
            </p:txBody>
          </p:sp>
        </mc:Fallback>
      </mc:AlternateContent>
    </p:spTree>
    <p:extLst>
      <p:ext uri="{BB962C8B-B14F-4D97-AF65-F5344CB8AC3E}">
        <p14:creationId xmlns:p14="http://schemas.microsoft.com/office/powerpoint/2010/main" val="2766042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Systematic Analyses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Car Charging Station Design</a:t>
                </a:r>
              </a:p>
              <a:p>
                <a:pPr lvl="1"/>
                <a:r>
                  <a:rPr lang="en-US" b="1" u="sng" dirty="0"/>
                  <a:t>Alternative Plan 1: Replace the current charger with a faster charger</a:t>
                </a:r>
              </a:p>
              <a:p>
                <a:pPr lvl="2"/>
                <a:r>
                  <a:rPr lang="en-US" dirty="0"/>
                  <a:t>The faster charger charges a car in 6 minutes on average </a:t>
                </a:r>
                <a:r>
                  <a:rPr lang="en-US" dirty="0">
                    <a:sym typeface="Wingdings" panose="05000000000000000000" pitchFamily="2" charset="2"/>
                  </a:rPr>
                  <a:t> so new </a:t>
                </a:r>
                <a:r>
                  <a:rPr lang="el-GR" dirty="0">
                    <a:sym typeface="Wingdings" panose="05000000000000000000" pitchFamily="2" charset="2"/>
                  </a:rPr>
                  <a:t>μ</a:t>
                </a:r>
                <a:r>
                  <a:rPr lang="en-US" dirty="0">
                    <a:sym typeface="Wingdings" panose="05000000000000000000" pitchFamily="2" charset="2"/>
                  </a:rPr>
                  <a:t>=10 per hour</a:t>
                </a:r>
              </a:p>
              <a:p>
                <a:pPr lvl="2"/>
                <a:r>
                  <a:rPr lang="en-US" dirty="0">
                    <a:sym typeface="Wingdings" panose="05000000000000000000" pitchFamily="2" charset="2"/>
                  </a:rPr>
                  <a:t>We still have M/M/1, but now </a:t>
                </a:r>
                <a14:m>
                  <m:oMath xmlns:m="http://schemas.openxmlformats.org/officeDocument/2006/math">
                    <m:r>
                      <a:rPr lang="en-US" i="1">
                        <a:latin typeface="Cambria Math" panose="02040503050406030204" pitchFamily="18" charset="0"/>
                        <a:sym typeface="Wingdings" panose="05000000000000000000" pitchFamily="2" charset="2"/>
                      </a:rPr>
                      <m:t>𝜆</m:t>
                    </m:r>
                    <m:r>
                      <a:rPr lang="en-US" i="1">
                        <a:latin typeface="Cambria Math" panose="02040503050406030204" pitchFamily="18" charset="0"/>
                        <a:sym typeface="Wingdings" panose="05000000000000000000" pitchFamily="2" charset="2"/>
                      </a:rPr>
                      <m:t>=4</m:t>
                    </m:r>
                  </m:oMath>
                </a14:m>
                <a:r>
                  <a:rPr lang="en-US" dirty="0"/>
                  <a:t> per hour and </a:t>
                </a:r>
                <a14:m>
                  <m:oMath xmlns:m="http://schemas.openxmlformats.org/officeDocument/2006/math">
                    <m:r>
                      <a:rPr lang="en-US" b="0" i="1" smtClean="0">
                        <a:latin typeface="Cambria Math" panose="02040503050406030204" pitchFamily="18" charset="0"/>
                        <a:sym typeface="Wingdings" panose="05000000000000000000" pitchFamily="2" charset="2"/>
                      </a:rPr>
                      <m:t>𝜇</m:t>
                    </m:r>
                    <m:r>
                      <a:rPr lang="en-US" i="1">
                        <a:latin typeface="Cambria Math" panose="02040503050406030204" pitchFamily="18" charset="0"/>
                        <a:sym typeface="Wingdings" panose="05000000000000000000" pitchFamily="2" charset="2"/>
                      </a:rPr>
                      <m:t>=</m:t>
                    </m:r>
                    <m:r>
                      <a:rPr lang="en-US" b="0" i="1" smtClean="0">
                        <a:latin typeface="Cambria Math" panose="02040503050406030204" pitchFamily="18" charset="0"/>
                        <a:sym typeface="Wingdings" panose="05000000000000000000" pitchFamily="2" charset="2"/>
                      </a:rPr>
                      <m:t>10</m:t>
                    </m:r>
                  </m:oMath>
                </a14:m>
                <a:r>
                  <a:rPr lang="en-US" dirty="0"/>
                  <a:t> per hour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5146982"/>
              </a:xfrm>
              <a:blipFill>
                <a:blip r:embed="rId2"/>
                <a:stretch>
                  <a:fillRect l="-690" t="-1657"/>
                </a:stretch>
              </a:blipFill>
            </p:spPr>
            <p:txBody>
              <a:bodyPr/>
              <a:lstStyle/>
              <a:p>
                <a:r>
                  <a:rPr lang="en-US">
                    <a:noFill/>
                  </a:rPr>
                  <a:t> </a:t>
                </a:r>
              </a:p>
            </p:txBody>
          </p:sp>
        </mc:Fallback>
      </mc:AlternateContent>
      <p:pic>
        <p:nvPicPr>
          <p:cNvPr id="8" name="Picture 7"/>
          <p:cNvPicPr>
            <a:picLocks noChangeAspect="1"/>
          </p:cNvPicPr>
          <p:nvPr/>
        </p:nvPicPr>
        <p:blipFill>
          <a:blip r:embed="rId3"/>
          <a:stretch>
            <a:fillRect/>
          </a:stretch>
        </p:blipFill>
        <p:spPr>
          <a:xfrm>
            <a:off x="8909069" y="3241689"/>
            <a:ext cx="1625493" cy="2034058"/>
          </a:xfrm>
          <a:prstGeom prst="rect">
            <a:avLst/>
          </a:prstGeom>
        </p:spPr>
      </p:pic>
      <p:sp>
        <p:nvSpPr>
          <p:cNvPr id="9" name="Rectangle 8"/>
          <p:cNvSpPr/>
          <p:nvPr/>
        </p:nvSpPr>
        <p:spPr>
          <a:xfrm>
            <a:off x="7564554" y="3412477"/>
            <a:ext cx="378630" cy="369332"/>
          </a:xfrm>
          <a:prstGeom prst="rect">
            <a:avLst/>
          </a:prstGeom>
        </p:spPr>
        <p:txBody>
          <a:bodyPr wrap="none">
            <a:spAutoFit/>
          </a:bodyPr>
          <a:lstStyle/>
          <a:p>
            <a:r>
              <a:rPr lang="en-US" dirty="0">
                <a:sym typeface="Wingdings" panose="05000000000000000000" pitchFamily="2" charset="2"/>
              </a:rPr>
              <a:t></a:t>
            </a:r>
            <a:endParaRPr lang="en-US" dirty="0"/>
          </a:p>
        </p:txBody>
      </p:sp>
      <p:sp>
        <p:nvSpPr>
          <p:cNvPr id="10" name="Rectangle 9"/>
          <p:cNvSpPr/>
          <p:nvPr/>
        </p:nvSpPr>
        <p:spPr>
          <a:xfrm>
            <a:off x="7570208" y="4181939"/>
            <a:ext cx="378630" cy="369332"/>
          </a:xfrm>
          <a:prstGeom prst="rect">
            <a:avLst/>
          </a:prstGeom>
        </p:spPr>
        <p:txBody>
          <a:bodyPr wrap="none">
            <a:spAutoFit/>
          </a:bodyPr>
          <a:lstStyle/>
          <a:p>
            <a:r>
              <a:rPr lang="en-US" dirty="0">
                <a:sym typeface="Wingdings" panose="05000000000000000000" pitchFamily="2" charset="2"/>
              </a:rPr>
              <a:t></a:t>
            </a:r>
            <a:endParaRPr lang="en-US" dirty="0"/>
          </a:p>
        </p:txBody>
      </p:sp>
      <p:sp>
        <p:nvSpPr>
          <p:cNvPr id="11" name="Rectangle 10"/>
          <p:cNvSpPr/>
          <p:nvPr/>
        </p:nvSpPr>
        <p:spPr>
          <a:xfrm>
            <a:off x="7564554" y="6054912"/>
            <a:ext cx="378630" cy="369332"/>
          </a:xfrm>
          <a:prstGeom prst="rect">
            <a:avLst/>
          </a:prstGeom>
        </p:spPr>
        <p:txBody>
          <a:bodyPr wrap="none">
            <a:spAutoFit/>
          </a:bodyPr>
          <a:lstStyle/>
          <a:p>
            <a:r>
              <a:rPr lang="en-US" dirty="0">
                <a:sym typeface="Wingdings" panose="05000000000000000000" pitchFamily="2" charset="2"/>
              </a:rPr>
              <a:t></a:t>
            </a:r>
            <a:endParaRPr lang="en-US" dirty="0"/>
          </a:p>
        </p:txBody>
      </p:sp>
      <p:sp>
        <p:nvSpPr>
          <p:cNvPr id="12" name="Rectangle 11"/>
          <p:cNvSpPr/>
          <p:nvPr/>
        </p:nvSpPr>
        <p:spPr>
          <a:xfrm>
            <a:off x="10534562" y="3701258"/>
            <a:ext cx="378630" cy="369332"/>
          </a:xfrm>
          <a:prstGeom prst="rect">
            <a:avLst/>
          </a:prstGeom>
        </p:spPr>
        <p:txBody>
          <a:bodyPr wrap="none">
            <a:spAutoFit/>
          </a:bodyPr>
          <a:lstStyle/>
          <a:p>
            <a:r>
              <a:rPr lang="en-US" dirty="0">
                <a:sym typeface="Wingdings" panose="05000000000000000000" pitchFamily="2" charset="2"/>
              </a:rPr>
              <a:t></a:t>
            </a:r>
            <a:endParaRPr lang="en-US" dirty="0"/>
          </a:p>
        </p:txBody>
      </p:sp>
      <p:pic>
        <p:nvPicPr>
          <p:cNvPr id="13" name="Picture 12"/>
          <p:cNvPicPr>
            <a:picLocks noChangeAspect="1"/>
          </p:cNvPicPr>
          <p:nvPr/>
        </p:nvPicPr>
        <p:blipFill>
          <a:blip r:embed="rId4"/>
          <a:stretch>
            <a:fillRect/>
          </a:stretch>
        </p:blipFill>
        <p:spPr>
          <a:xfrm>
            <a:off x="1310617" y="2953734"/>
            <a:ext cx="6172457" cy="2825743"/>
          </a:xfrm>
          <a:prstGeom prst="rect">
            <a:avLst/>
          </a:prstGeom>
        </p:spPr>
      </p:pic>
      <p:pic>
        <p:nvPicPr>
          <p:cNvPr id="15" name="Picture 14"/>
          <p:cNvPicPr>
            <a:picLocks noChangeAspect="1"/>
          </p:cNvPicPr>
          <p:nvPr/>
        </p:nvPicPr>
        <p:blipFill>
          <a:blip r:embed="rId5"/>
          <a:stretch>
            <a:fillRect/>
          </a:stretch>
        </p:blipFill>
        <p:spPr>
          <a:xfrm>
            <a:off x="4196862" y="5985121"/>
            <a:ext cx="3286212" cy="450064"/>
          </a:xfrm>
          <a:prstGeom prst="rect">
            <a:avLst/>
          </a:prstGeom>
        </p:spPr>
      </p:pic>
    </p:spTree>
    <p:extLst>
      <p:ext uri="{BB962C8B-B14F-4D97-AF65-F5344CB8AC3E}">
        <p14:creationId xmlns:p14="http://schemas.microsoft.com/office/powerpoint/2010/main" val="183238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Systematic Analyses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Car Charging Station Design</a:t>
                </a:r>
              </a:p>
              <a:p>
                <a:pPr lvl="1"/>
                <a:r>
                  <a:rPr lang="en-US" b="1" u="sng" dirty="0"/>
                  <a:t>Alternative Plan 2: Locate an additional charging station at the other end of town</a:t>
                </a:r>
              </a:p>
              <a:p>
                <a:pPr lvl="2"/>
                <a:r>
                  <a:rPr lang="en-US" dirty="0"/>
                  <a:t>Under this plan, we will have two independent identical M/M/1 systems</a:t>
                </a:r>
              </a:p>
              <a:p>
                <a:pPr lvl="2"/>
                <a:r>
                  <a:rPr lang="en-US" dirty="0"/>
                  <a:t>Each M/M/1 has </a:t>
                </a:r>
                <a14:m>
                  <m:oMath xmlns:m="http://schemas.openxmlformats.org/officeDocument/2006/math">
                    <m:r>
                      <a:rPr lang="en-US" i="1">
                        <a:latin typeface="Cambria Math" panose="02040503050406030204" pitchFamily="18" charset="0"/>
                        <a:sym typeface="Wingdings" panose="05000000000000000000" pitchFamily="2" charset="2"/>
                      </a:rPr>
                      <m:t>𝜆</m:t>
                    </m:r>
                    <m:r>
                      <a:rPr lang="en-US" i="1">
                        <a:latin typeface="Cambria Math" panose="02040503050406030204" pitchFamily="18" charset="0"/>
                        <a:sym typeface="Wingdings" panose="05000000000000000000" pitchFamily="2" charset="2"/>
                      </a:rPr>
                      <m:t>=2</m:t>
                    </m:r>
                  </m:oMath>
                </a14:m>
                <a:r>
                  <a:rPr lang="en-US" dirty="0"/>
                  <a:t> per hour and </a:t>
                </a:r>
                <a14:m>
                  <m:oMath xmlns:m="http://schemas.openxmlformats.org/officeDocument/2006/math">
                    <m:r>
                      <a:rPr lang="en-US" i="1">
                        <a:latin typeface="Cambria Math" panose="02040503050406030204" pitchFamily="18" charset="0"/>
                        <a:sym typeface="Wingdings" panose="05000000000000000000" pitchFamily="2" charset="2"/>
                      </a:rPr>
                      <m:t>𝜇</m:t>
                    </m:r>
                    <m:r>
                      <a:rPr lang="en-US" i="1">
                        <a:latin typeface="Cambria Math" panose="02040503050406030204" pitchFamily="18" charset="0"/>
                        <a:sym typeface="Wingdings" panose="05000000000000000000" pitchFamily="2" charset="2"/>
                      </a:rPr>
                      <m:t>=6</m:t>
                    </m:r>
                  </m:oMath>
                </a14:m>
                <a:r>
                  <a:rPr lang="en-US" dirty="0"/>
                  <a:t> per hour </a:t>
                </a:r>
              </a:p>
              <a:p>
                <a:pPr lvl="1"/>
                <a:endParaRPr lang="en-US" sz="2000" u="sng" dirty="0">
                  <a:solidFill>
                    <a:srgbClr val="C00000"/>
                  </a:solidFill>
                </a:endParaRPr>
              </a:p>
              <a:p>
                <a:pPr lvl="1"/>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5146982"/>
              </a:xfrm>
              <a:blipFill>
                <a:blip r:embed="rId2"/>
                <a:stretch>
                  <a:fillRect l="-690" t="-1657"/>
                </a:stretch>
              </a:blipFill>
            </p:spPr>
            <p:txBody>
              <a:bodyPr/>
              <a:lstStyle/>
              <a:p>
                <a:r>
                  <a:rPr lang="en-US">
                    <a:noFill/>
                  </a:rPr>
                  <a:t> </a:t>
                </a:r>
              </a:p>
            </p:txBody>
          </p:sp>
        </mc:Fallback>
      </mc:AlternateContent>
      <p:pic>
        <p:nvPicPr>
          <p:cNvPr id="5" name="Picture 4"/>
          <p:cNvPicPr>
            <a:picLocks noChangeAspect="1"/>
          </p:cNvPicPr>
          <p:nvPr/>
        </p:nvPicPr>
        <p:blipFill>
          <a:blip r:embed="rId3"/>
          <a:stretch>
            <a:fillRect/>
          </a:stretch>
        </p:blipFill>
        <p:spPr>
          <a:xfrm>
            <a:off x="1310616" y="2971180"/>
            <a:ext cx="6172457" cy="2825742"/>
          </a:xfrm>
          <a:prstGeom prst="rect">
            <a:avLst/>
          </a:prstGeom>
        </p:spPr>
      </p:pic>
      <p:pic>
        <p:nvPicPr>
          <p:cNvPr id="8" name="Picture 7"/>
          <p:cNvPicPr>
            <a:picLocks noChangeAspect="1"/>
          </p:cNvPicPr>
          <p:nvPr/>
        </p:nvPicPr>
        <p:blipFill>
          <a:blip r:embed="rId4"/>
          <a:stretch>
            <a:fillRect/>
          </a:stretch>
        </p:blipFill>
        <p:spPr>
          <a:xfrm>
            <a:off x="4173415" y="5982007"/>
            <a:ext cx="3309657" cy="453275"/>
          </a:xfrm>
          <a:prstGeom prst="rect">
            <a:avLst/>
          </a:prstGeom>
        </p:spPr>
      </p:pic>
      <p:sp>
        <p:nvSpPr>
          <p:cNvPr id="9" name="Rectangle 8"/>
          <p:cNvSpPr/>
          <p:nvPr/>
        </p:nvSpPr>
        <p:spPr>
          <a:xfrm>
            <a:off x="7564554" y="3412477"/>
            <a:ext cx="378630" cy="369332"/>
          </a:xfrm>
          <a:prstGeom prst="rect">
            <a:avLst/>
          </a:prstGeom>
        </p:spPr>
        <p:txBody>
          <a:bodyPr wrap="none">
            <a:spAutoFit/>
          </a:bodyPr>
          <a:lstStyle/>
          <a:p>
            <a:r>
              <a:rPr lang="en-US" dirty="0">
                <a:sym typeface="Wingdings" panose="05000000000000000000" pitchFamily="2" charset="2"/>
              </a:rPr>
              <a:t></a:t>
            </a:r>
            <a:endParaRPr lang="en-US" dirty="0"/>
          </a:p>
        </p:txBody>
      </p:sp>
      <p:sp>
        <p:nvSpPr>
          <p:cNvPr id="10" name="Rectangle 9"/>
          <p:cNvSpPr/>
          <p:nvPr/>
        </p:nvSpPr>
        <p:spPr>
          <a:xfrm>
            <a:off x="7570208" y="4181939"/>
            <a:ext cx="378630" cy="369332"/>
          </a:xfrm>
          <a:prstGeom prst="rect">
            <a:avLst/>
          </a:prstGeom>
        </p:spPr>
        <p:txBody>
          <a:bodyPr wrap="none">
            <a:spAutoFit/>
          </a:bodyPr>
          <a:lstStyle/>
          <a:p>
            <a:r>
              <a:rPr lang="en-US" dirty="0">
                <a:sym typeface="Wingdings" panose="05000000000000000000" pitchFamily="2" charset="2"/>
              </a:rPr>
              <a:t></a:t>
            </a:r>
            <a:endParaRPr lang="en-US" dirty="0"/>
          </a:p>
        </p:txBody>
      </p:sp>
      <p:sp>
        <p:nvSpPr>
          <p:cNvPr id="11" name="Rectangle 10"/>
          <p:cNvSpPr/>
          <p:nvPr/>
        </p:nvSpPr>
        <p:spPr>
          <a:xfrm>
            <a:off x="7564554" y="6054912"/>
            <a:ext cx="378630" cy="369332"/>
          </a:xfrm>
          <a:prstGeom prst="rect">
            <a:avLst/>
          </a:prstGeom>
        </p:spPr>
        <p:txBody>
          <a:bodyPr wrap="none">
            <a:spAutoFit/>
          </a:bodyPr>
          <a:lstStyle/>
          <a:p>
            <a:r>
              <a:rPr lang="en-US" dirty="0">
                <a:sym typeface="Wingdings" panose="05000000000000000000" pitchFamily="2" charset="2"/>
              </a:rPr>
              <a:t></a:t>
            </a:r>
            <a:endParaRPr lang="en-US" dirty="0"/>
          </a:p>
        </p:txBody>
      </p:sp>
      <p:sp>
        <p:nvSpPr>
          <p:cNvPr id="12" name="Rectangle 11"/>
          <p:cNvSpPr/>
          <p:nvPr/>
        </p:nvSpPr>
        <p:spPr>
          <a:xfrm>
            <a:off x="10256728" y="3093222"/>
            <a:ext cx="378630" cy="369332"/>
          </a:xfrm>
          <a:prstGeom prst="rect">
            <a:avLst/>
          </a:prstGeom>
        </p:spPr>
        <p:txBody>
          <a:bodyPr wrap="square">
            <a:spAutoFit/>
          </a:bodyPr>
          <a:lstStyle/>
          <a:p>
            <a:r>
              <a:rPr lang="en-US" dirty="0">
                <a:sym typeface="Wingdings" panose="05000000000000000000" pitchFamily="2" charset="2"/>
              </a:rPr>
              <a:t></a:t>
            </a:r>
            <a:endParaRPr lang="en-US" dirty="0"/>
          </a:p>
        </p:txBody>
      </p:sp>
      <p:pic>
        <p:nvPicPr>
          <p:cNvPr id="13" name="Picture 12"/>
          <p:cNvPicPr>
            <a:picLocks noChangeAspect="1"/>
          </p:cNvPicPr>
          <p:nvPr/>
        </p:nvPicPr>
        <p:blipFill>
          <a:blip r:embed="rId5"/>
          <a:stretch>
            <a:fillRect/>
          </a:stretch>
        </p:blipFill>
        <p:spPr>
          <a:xfrm>
            <a:off x="8604218" y="2625636"/>
            <a:ext cx="1524544" cy="1907736"/>
          </a:xfrm>
          <a:prstGeom prst="rect">
            <a:avLst/>
          </a:prstGeom>
        </p:spPr>
      </p:pic>
      <p:sp>
        <p:nvSpPr>
          <p:cNvPr id="14" name="TextBox 13"/>
          <p:cNvSpPr txBox="1"/>
          <p:nvPr/>
        </p:nvSpPr>
        <p:spPr>
          <a:xfrm>
            <a:off x="8278812" y="4640949"/>
            <a:ext cx="3636082" cy="2062103"/>
          </a:xfrm>
          <a:prstGeom prst="rect">
            <a:avLst/>
          </a:prstGeom>
          <a:noFill/>
        </p:spPr>
        <p:txBody>
          <a:bodyPr wrap="square" rtlCol="0">
            <a:spAutoFit/>
          </a:bodyPr>
          <a:lstStyle/>
          <a:p>
            <a:r>
              <a:rPr lang="en-US" sz="1600" dirty="0"/>
              <a:t>Note that these are for one of the M/M/1 systems</a:t>
            </a:r>
          </a:p>
          <a:p>
            <a:pPr marL="285750" indent="-285750">
              <a:buFont typeface="Arial" panose="020B0604020202020204" pitchFamily="34" charset="0"/>
              <a:buChar char="•"/>
            </a:pPr>
            <a:r>
              <a:rPr lang="en-US" sz="1600" dirty="0"/>
              <a:t>From a customer perspective, the satisfaction standards does not matter</a:t>
            </a:r>
          </a:p>
          <a:p>
            <a:pPr marL="285750" indent="-285750">
              <a:buFont typeface="Arial" panose="020B0604020202020204" pitchFamily="34" charset="0"/>
              <a:buChar char="•"/>
            </a:pPr>
            <a:r>
              <a:rPr lang="en-US" sz="1600" dirty="0"/>
              <a:t>About numbers, if we want to look at avg. total # of cars waiting for charging in San Marcos, we would look at 2Lq</a:t>
            </a:r>
          </a:p>
        </p:txBody>
      </p:sp>
    </p:spTree>
    <p:extLst>
      <p:ext uri="{BB962C8B-B14F-4D97-AF65-F5344CB8AC3E}">
        <p14:creationId xmlns:p14="http://schemas.microsoft.com/office/powerpoint/2010/main" val="1015536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Systematic Analyses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Car Charging Station Design</a:t>
                </a:r>
              </a:p>
              <a:p>
                <a:pPr lvl="1"/>
                <a:r>
                  <a:rPr lang="en-US" b="1" u="sng" dirty="0"/>
                  <a:t>Alternative Plan 3: Put a second charger (same as current one) in the current station</a:t>
                </a:r>
              </a:p>
              <a:p>
                <a:pPr lvl="2"/>
                <a:r>
                  <a:rPr lang="en-US" dirty="0"/>
                  <a:t>So, we will have a single 2-server system M/M/2 with </a:t>
                </a:r>
                <a14:m>
                  <m:oMath xmlns:m="http://schemas.openxmlformats.org/officeDocument/2006/math">
                    <m:r>
                      <a:rPr lang="en-US" i="1">
                        <a:latin typeface="Cambria Math" panose="02040503050406030204" pitchFamily="18" charset="0"/>
                        <a:sym typeface="Wingdings" panose="05000000000000000000" pitchFamily="2" charset="2"/>
                      </a:rPr>
                      <m:t>𝜆</m:t>
                    </m:r>
                    <m:r>
                      <a:rPr lang="en-US" i="1">
                        <a:latin typeface="Cambria Math" panose="02040503050406030204" pitchFamily="18" charset="0"/>
                        <a:sym typeface="Wingdings" panose="05000000000000000000" pitchFamily="2" charset="2"/>
                      </a:rPr>
                      <m:t>=4</m:t>
                    </m:r>
                  </m:oMath>
                </a14:m>
                <a:r>
                  <a:rPr lang="en-US" dirty="0"/>
                  <a:t> per hour and </a:t>
                </a:r>
                <a14:m>
                  <m:oMath xmlns:m="http://schemas.openxmlformats.org/officeDocument/2006/math">
                    <m:r>
                      <a:rPr lang="en-US" i="1">
                        <a:latin typeface="Cambria Math" panose="02040503050406030204" pitchFamily="18" charset="0"/>
                        <a:sym typeface="Wingdings" panose="05000000000000000000" pitchFamily="2" charset="2"/>
                      </a:rPr>
                      <m:t>𝜇</m:t>
                    </m:r>
                    <m:r>
                      <a:rPr lang="en-US" i="1">
                        <a:latin typeface="Cambria Math" panose="02040503050406030204" pitchFamily="18" charset="0"/>
                        <a:sym typeface="Wingdings" panose="05000000000000000000" pitchFamily="2" charset="2"/>
                      </a:rPr>
                      <m:t>=6</m:t>
                    </m:r>
                  </m:oMath>
                </a14:m>
                <a:r>
                  <a:rPr lang="en-US" dirty="0"/>
                  <a:t> per hour</a:t>
                </a: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5146982"/>
              </a:xfrm>
              <a:blipFill>
                <a:blip r:embed="rId2"/>
                <a:stretch>
                  <a:fillRect l="-690" t="-1657" r="-690"/>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1310616" y="2971180"/>
            <a:ext cx="6172454" cy="2825742"/>
          </a:xfrm>
          <a:prstGeom prst="rect">
            <a:avLst/>
          </a:prstGeom>
        </p:spPr>
      </p:pic>
      <p:pic>
        <p:nvPicPr>
          <p:cNvPr id="6" name="Picture 5"/>
          <p:cNvPicPr>
            <a:picLocks noChangeAspect="1"/>
          </p:cNvPicPr>
          <p:nvPr/>
        </p:nvPicPr>
        <p:blipFill>
          <a:blip r:embed="rId4"/>
          <a:stretch>
            <a:fillRect/>
          </a:stretch>
        </p:blipFill>
        <p:spPr>
          <a:xfrm>
            <a:off x="8862647" y="3059399"/>
            <a:ext cx="1507396" cy="1886277"/>
          </a:xfrm>
          <a:prstGeom prst="rect">
            <a:avLst/>
          </a:prstGeom>
        </p:spPr>
      </p:pic>
      <p:sp>
        <p:nvSpPr>
          <p:cNvPr id="7" name="Rectangle 6"/>
          <p:cNvSpPr/>
          <p:nvPr/>
        </p:nvSpPr>
        <p:spPr>
          <a:xfrm>
            <a:off x="7564554" y="3412477"/>
            <a:ext cx="378630" cy="369332"/>
          </a:xfrm>
          <a:prstGeom prst="rect">
            <a:avLst/>
          </a:prstGeom>
        </p:spPr>
        <p:txBody>
          <a:bodyPr wrap="none">
            <a:spAutoFit/>
          </a:bodyPr>
          <a:lstStyle/>
          <a:p>
            <a:r>
              <a:rPr lang="en-US" dirty="0">
                <a:sym typeface="Wingdings" panose="05000000000000000000" pitchFamily="2" charset="2"/>
              </a:rPr>
              <a:t></a:t>
            </a:r>
            <a:endParaRPr lang="en-US" dirty="0"/>
          </a:p>
        </p:txBody>
      </p:sp>
      <p:sp>
        <p:nvSpPr>
          <p:cNvPr id="8" name="Rectangle 7"/>
          <p:cNvSpPr/>
          <p:nvPr/>
        </p:nvSpPr>
        <p:spPr>
          <a:xfrm>
            <a:off x="7570208" y="4181939"/>
            <a:ext cx="378630" cy="369332"/>
          </a:xfrm>
          <a:prstGeom prst="rect">
            <a:avLst/>
          </a:prstGeom>
        </p:spPr>
        <p:txBody>
          <a:bodyPr wrap="none">
            <a:spAutoFit/>
          </a:bodyPr>
          <a:lstStyle/>
          <a:p>
            <a:r>
              <a:rPr lang="en-US" dirty="0">
                <a:sym typeface="Wingdings" panose="05000000000000000000" pitchFamily="2" charset="2"/>
              </a:rPr>
              <a:t></a:t>
            </a:r>
            <a:endParaRPr lang="en-US" dirty="0"/>
          </a:p>
        </p:txBody>
      </p:sp>
      <p:sp>
        <p:nvSpPr>
          <p:cNvPr id="9" name="Rectangle 8"/>
          <p:cNvSpPr/>
          <p:nvPr/>
        </p:nvSpPr>
        <p:spPr>
          <a:xfrm>
            <a:off x="7564554" y="6054912"/>
            <a:ext cx="378630" cy="369332"/>
          </a:xfrm>
          <a:prstGeom prst="rect">
            <a:avLst/>
          </a:prstGeom>
        </p:spPr>
        <p:txBody>
          <a:bodyPr wrap="none">
            <a:spAutoFit/>
          </a:bodyPr>
          <a:lstStyle/>
          <a:p>
            <a:r>
              <a:rPr lang="en-US" dirty="0">
                <a:sym typeface="Wingdings" panose="05000000000000000000" pitchFamily="2" charset="2"/>
              </a:rPr>
              <a:t></a:t>
            </a:r>
            <a:endParaRPr lang="en-US" dirty="0"/>
          </a:p>
        </p:txBody>
      </p:sp>
      <p:sp>
        <p:nvSpPr>
          <p:cNvPr id="10" name="Rectangle 9"/>
          <p:cNvSpPr/>
          <p:nvPr/>
        </p:nvSpPr>
        <p:spPr>
          <a:xfrm>
            <a:off x="10463444" y="3471092"/>
            <a:ext cx="378630" cy="369332"/>
          </a:xfrm>
          <a:prstGeom prst="rect">
            <a:avLst/>
          </a:prstGeom>
        </p:spPr>
        <p:txBody>
          <a:bodyPr wrap="square">
            <a:spAutoFit/>
          </a:bodyPr>
          <a:lstStyle/>
          <a:p>
            <a:r>
              <a:rPr lang="en-US" dirty="0">
                <a:sym typeface="Wingdings" panose="05000000000000000000" pitchFamily="2" charset="2"/>
              </a:rPr>
              <a:t></a:t>
            </a:r>
            <a:endParaRPr lang="en-US" dirty="0"/>
          </a:p>
        </p:txBody>
      </p:sp>
      <p:pic>
        <p:nvPicPr>
          <p:cNvPr id="11" name="Picture 10"/>
          <p:cNvPicPr>
            <a:picLocks noChangeAspect="1"/>
          </p:cNvPicPr>
          <p:nvPr/>
        </p:nvPicPr>
        <p:blipFill>
          <a:blip r:embed="rId5"/>
          <a:stretch>
            <a:fillRect/>
          </a:stretch>
        </p:blipFill>
        <p:spPr>
          <a:xfrm>
            <a:off x="4000286" y="5947258"/>
            <a:ext cx="3482784" cy="476986"/>
          </a:xfrm>
          <a:prstGeom prst="rect">
            <a:avLst/>
          </a:prstGeom>
        </p:spPr>
      </p:pic>
    </p:spTree>
    <p:extLst>
      <p:ext uri="{BB962C8B-B14F-4D97-AF65-F5344CB8AC3E}">
        <p14:creationId xmlns:p14="http://schemas.microsoft.com/office/powerpoint/2010/main" val="288955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Systematic Analyses</a:t>
            </a:r>
          </a:p>
        </p:txBody>
      </p:sp>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1: Car Charging Station Design</a:t>
            </a:r>
          </a:p>
          <a:p>
            <a:pPr lvl="1"/>
            <a:r>
              <a:rPr lang="en-US" b="1" u="sng" dirty="0"/>
              <a:t>Comparing current systems and alternatives:</a:t>
            </a:r>
          </a:p>
          <a:p>
            <a:pPr lvl="1"/>
            <a:endParaRPr lang="en-US" sz="2800" b="1" u="sng" dirty="0"/>
          </a:p>
          <a:p>
            <a:pPr lvl="1"/>
            <a:endParaRPr lang="en-US" sz="2800" b="1" u="sng" dirty="0"/>
          </a:p>
          <a:p>
            <a:pPr lvl="1"/>
            <a:endParaRPr lang="en-US" sz="2800" b="1" u="sng" dirty="0"/>
          </a:p>
          <a:p>
            <a:pPr lvl="1"/>
            <a:endParaRPr lang="en-US" sz="2800" b="1" u="sng" dirty="0"/>
          </a:p>
          <a:p>
            <a:pPr lvl="1"/>
            <a:endParaRPr lang="en-US" sz="2800" b="1" u="sng" dirty="0"/>
          </a:p>
          <a:p>
            <a:pPr lvl="1"/>
            <a:endParaRPr lang="en-US" sz="2800" b="1" u="sng" dirty="0"/>
          </a:p>
          <a:p>
            <a:pPr lvl="1"/>
            <a:endParaRPr lang="en-US" sz="2800" b="1" u="sng" dirty="0"/>
          </a:p>
          <a:p>
            <a:pPr lvl="1"/>
            <a:r>
              <a:rPr lang="en-US" sz="2800" dirty="0"/>
              <a:t>See ‘Module 2.2 - </a:t>
            </a:r>
            <a:r>
              <a:rPr lang="en-US" sz="2800" i="1" dirty="0"/>
              <a:t>Car Charging Station Design Case.xlsx</a:t>
            </a:r>
            <a:r>
              <a:rPr lang="en-US" sz="2800" dirty="0"/>
              <a:t>’</a:t>
            </a:r>
          </a:p>
        </p:txBody>
      </p:sp>
      <p:pic>
        <p:nvPicPr>
          <p:cNvPr id="5" name="Picture 4"/>
          <p:cNvPicPr>
            <a:picLocks noChangeAspect="1"/>
          </p:cNvPicPr>
          <p:nvPr/>
        </p:nvPicPr>
        <p:blipFill>
          <a:blip r:embed="rId2"/>
          <a:stretch>
            <a:fillRect/>
          </a:stretch>
        </p:blipFill>
        <p:spPr>
          <a:xfrm>
            <a:off x="1158031" y="2362624"/>
            <a:ext cx="5880934" cy="2607961"/>
          </a:xfrm>
          <a:prstGeom prst="rect">
            <a:avLst/>
          </a:prstGeom>
        </p:spPr>
      </p:pic>
      <p:sp>
        <p:nvSpPr>
          <p:cNvPr id="12" name="Rectangle 11"/>
          <p:cNvSpPr/>
          <p:nvPr/>
        </p:nvSpPr>
        <p:spPr>
          <a:xfrm>
            <a:off x="6236677" y="3938954"/>
            <a:ext cx="802288" cy="738554"/>
          </a:xfrm>
          <a:prstGeom prst="rect">
            <a:avLst/>
          </a:prstGeom>
          <a:noFill/>
          <a:ln w="38100">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TextBox 12"/>
          <p:cNvSpPr txBox="1"/>
          <p:nvPr/>
        </p:nvSpPr>
        <p:spPr>
          <a:xfrm>
            <a:off x="7444154" y="4114800"/>
            <a:ext cx="3552092" cy="646331"/>
          </a:xfrm>
          <a:prstGeom prst="rect">
            <a:avLst/>
          </a:prstGeom>
          <a:noFill/>
        </p:spPr>
        <p:txBody>
          <a:bodyPr wrap="square" rtlCol="0">
            <a:spAutoFit/>
          </a:bodyPr>
          <a:lstStyle/>
          <a:p>
            <a:r>
              <a:rPr lang="en-US" dirty="0"/>
              <a:t>Looks like Alternative Plan 3 is the best in terms of happy customers!</a:t>
            </a:r>
          </a:p>
        </p:txBody>
      </p:sp>
      <mc:AlternateContent xmlns:mc="http://schemas.openxmlformats.org/markup-compatibility/2006" xmlns:a14="http://schemas.microsoft.com/office/drawing/2010/main">
        <mc:Choice Requires="a14">
          <p:sp>
            <p:nvSpPr>
              <p:cNvPr id="14" name="TextBox 13"/>
              <p:cNvSpPr txBox="1"/>
              <p:nvPr/>
            </p:nvSpPr>
            <p:spPr>
              <a:xfrm>
                <a:off x="7444154" y="2602523"/>
                <a:ext cx="3552092" cy="646331"/>
              </a:xfrm>
              <a:prstGeom prst="rect">
                <a:avLst/>
              </a:prstGeom>
              <a:noFill/>
            </p:spPr>
            <p:txBody>
              <a:bodyPr wrap="square" rtlCol="0">
                <a:spAutoFit/>
              </a:bodyPr>
              <a:lstStyle/>
              <a:p>
                <a:r>
                  <a:rPr lang="en-US" dirty="0"/>
                  <a:t>Note that all of the alternative plans were feasible! </a:t>
                </a:r>
                <a14:m>
                  <m:oMath xmlns:m="http://schemas.openxmlformats.org/officeDocument/2006/math">
                    <m:r>
                      <a:rPr lang="en-US" i="1">
                        <a:latin typeface="Cambria Math" panose="02040503050406030204" pitchFamily="18" charset="0"/>
                        <a:sym typeface="Wingdings" panose="05000000000000000000" pitchFamily="2" charset="2"/>
                      </a:rPr>
                      <m:t>𝜌</m:t>
                    </m:r>
                  </m:oMath>
                </a14:m>
                <a:r>
                  <a:rPr lang="en-US" dirty="0"/>
                  <a:t>&lt;1 for each</a:t>
                </a:r>
              </a:p>
            </p:txBody>
          </p:sp>
        </mc:Choice>
        <mc:Fallback xmlns="">
          <p:sp>
            <p:nvSpPr>
              <p:cNvPr id="14" name="TextBox 13"/>
              <p:cNvSpPr txBox="1">
                <a:spLocks noRot="1" noChangeAspect="1" noMove="1" noResize="1" noEditPoints="1" noAdjustHandles="1" noChangeArrowheads="1" noChangeShapeType="1" noTextEdit="1"/>
              </p:cNvSpPr>
              <p:nvPr/>
            </p:nvSpPr>
            <p:spPr>
              <a:xfrm>
                <a:off x="7444154" y="2602523"/>
                <a:ext cx="3552092" cy="646331"/>
              </a:xfrm>
              <a:prstGeom prst="rect">
                <a:avLst/>
              </a:prstGeom>
              <a:blipFill>
                <a:blip r:embed="rId3"/>
                <a:stretch>
                  <a:fillRect l="-1372" t="-5660" r="-2744" b="-14151"/>
                </a:stretch>
              </a:blipFill>
            </p:spPr>
            <p:txBody>
              <a:bodyPr/>
              <a:lstStyle/>
              <a:p>
                <a:r>
                  <a:rPr lang="en-US">
                    <a:noFill/>
                  </a:rPr>
                  <a:t> </a:t>
                </a:r>
              </a:p>
            </p:txBody>
          </p:sp>
        </mc:Fallback>
      </mc:AlternateContent>
    </p:spTree>
    <p:extLst>
      <p:ext uri="{BB962C8B-B14F-4D97-AF65-F5344CB8AC3E}">
        <p14:creationId xmlns:p14="http://schemas.microsoft.com/office/powerpoint/2010/main" val="1401000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Economic Analyses</a:t>
            </a:r>
          </a:p>
        </p:txBody>
      </p:sp>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Workstation Setup Design</a:t>
            </a:r>
          </a:p>
          <a:p>
            <a:pPr lvl="1"/>
            <a:r>
              <a:rPr lang="en-US" sz="2000" dirty="0"/>
              <a:t>Suppose that you are the manager of a workstation that processes a product your company sells. Specifically, you are in control of three machines that can be used in the processing. These machines can be programmed such that a machine can complete the whole or some of the processing operation. Currently, you are considering re-designing your workstation and you have three alternative setups (explained in the next slide)</a:t>
            </a:r>
          </a:p>
          <a:p>
            <a:pPr lvl="1"/>
            <a:r>
              <a:rPr lang="en-US" sz="2000" dirty="0"/>
              <a:t>You will compare these alternative setups based on their expected total cost per hour</a:t>
            </a:r>
          </a:p>
          <a:p>
            <a:pPr lvl="1"/>
            <a:r>
              <a:rPr lang="en-US" sz="2000" dirty="0"/>
              <a:t>Hourly cost includes the following:</a:t>
            </a:r>
          </a:p>
          <a:p>
            <a:pPr lvl="2"/>
            <a:r>
              <a:rPr lang="en-US" dirty="0"/>
              <a:t>A machine costs $10 per hour for the times it is actively working on processing and only $2 per hour for the times it is idle</a:t>
            </a:r>
          </a:p>
          <a:p>
            <a:pPr lvl="2"/>
            <a:r>
              <a:rPr lang="en-US" dirty="0"/>
              <a:t>A product waiting for the processing to start has a buffer area inventory holding cost of $4 per hour</a:t>
            </a:r>
          </a:p>
          <a:p>
            <a:pPr lvl="2"/>
            <a:r>
              <a:rPr lang="en-US" dirty="0"/>
              <a:t>If a product takes less than 30 minutes to have its process completed, it is on time; otherwise, it is late and there is a penalty of $8 for a late product</a:t>
            </a:r>
          </a:p>
          <a:p>
            <a:pPr lvl="2"/>
            <a:endParaRPr lang="en-US" dirty="0"/>
          </a:p>
          <a:p>
            <a:pPr lvl="2"/>
            <a:endParaRPr lang="en-US" dirty="0"/>
          </a:p>
        </p:txBody>
      </p:sp>
    </p:spTree>
    <p:extLst>
      <p:ext uri="{BB962C8B-B14F-4D97-AF65-F5344CB8AC3E}">
        <p14:creationId xmlns:p14="http://schemas.microsoft.com/office/powerpoint/2010/main" val="1911495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Economic Analyses</a:t>
            </a:r>
          </a:p>
        </p:txBody>
      </p:sp>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Workstation Setup Design</a:t>
            </a:r>
          </a:p>
          <a:p>
            <a:pPr lvl="1"/>
            <a:r>
              <a:rPr lang="en-US" sz="2000" dirty="0"/>
              <a:t>Alternative setups:</a:t>
            </a:r>
          </a:p>
          <a:p>
            <a:pPr lvl="2"/>
            <a:r>
              <a:rPr lang="en-US" sz="1600" b="1" dirty="0"/>
              <a:t>Setup 1: </a:t>
            </a:r>
            <a:r>
              <a:rPr lang="en-US" sz="1600" dirty="0"/>
              <a:t>Program each machine so that each machine can complete a whole process for a part. In this case, each machine can complete a whole process of a part in 12 minutes on average and the process time is exponentially distributed. Furthermore, you will set three sub-workstations; one for each machine such that each machine will have its own sub-workstation; and, each sub-workstation will have its own inventory space for parts waiting to be processed. In this setting, a part will arrive in a sub-workstation at every 15 minutes on average and the </a:t>
            </a:r>
            <a:r>
              <a:rPr lang="en-US" sz="1600" dirty="0" err="1"/>
              <a:t>interarrival</a:t>
            </a:r>
            <a:r>
              <a:rPr lang="en-US" sz="1600" dirty="0"/>
              <a:t> time is exponentially distributed. </a:t>
            </a:r>
          </a:p>
          <a:p>
            <a:pPr lvl="2"/>
            <a:r>
              <a:rPr lang="en-US" sz="1600" b="1" dirty="0"/>
              <a:t>Setup 2: </a:t>
            </a:r>
            <a:r>
              <a:rPr lang="en-US" sz="1600" dirty="0"/>
              <a:t>Similar to Setup 1, program each machine so that each machine can complete a whole process for a part. In this case, each machine can complete a whole process of a part in 12 minutes on average and the process time is exponentially distributed. Different than Setup 1, you will not have sub-workstations. Instead, you will have a single work-station and it will have its own inventory space for parts waiting to be processed. In this setting, a part will arrive in the workstation at every 5 minutes on average and the </a:t>
            </a:r>
            <a:r>
              <a:rPr lang="en-US" sz="1600" dirty="0" err="1"/>
              <a:t>interarrival</a:t>
            </a:r>
            <a:r>
              <a:rPr lang="en-US" sz="1600" dirty="0"/>
              <a:t> time is exponentially distributed. A part waiting will be processed by the next available machine.</a:t>
            </a:r>
          </a:p>
          <a:p>
            <a:pPr lvl="2"/>
            <a:r>
              <a:rPr lang="en-US" sz="1600" b="1" dirty="0"/>
              <a:t>Setup 3: </a:t>
            </a:r>
            <a:r>
              <a:rPr lang="en-US" sz="1600" dirty="0"/>
              <a:t>Program each machine such that they complete a specific part of the process of a part. In this case, all three machines will simultaneously work on completing a process operation. With three machines simultaneously working on the same process operation of a part, it takes 4 minutes to complete a process operation on average and the process time is exponentially distributed. Similar to Setup 2, you will have a single work-station and it will have its own inventory space for parts waiting to be processed. In this setting, a part will arrive in the workstation at every 5 minutes on average and the </a:t>
            </a:r>
            <a:r>
              <a:rPr lang="en-US" sz="1600" dirty="0" err="1"/>
              <a:t>interarrival</a:t>
            </a:r>
            <a:r>
              <a:rPr lang="en-US" sz="1600" dirty="0"/>
              <a:t> time is exponentially distributed. </a:t>
            </a:r>
          </a:p>
          <a:p>
            <a:pPr lvl="2"/>
            <a:endParaRPr lang="en-US" sz="1600" dirty="0"/>
          </a:p>
        </p:txBody>
      </p:sp>
    </p:spTree>
    <p:extLst>
      <p:ext uri="{BB962C8B-B14F-4D97-AF65-F5344CB8AC3E}">
        <p14:creationId xmlns:p14="http://schemas.microsoft.com/office/powerpoint/2010/main" val="4080444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Economic Analyses</a:t>
            </a:r>
          </a:p>
        </p:txBody>
      </p:sp>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Workstation Setup Design</a:t>
            </a:r>
          </a:p>
          <a:p>
            <a:pPr lvl="1"/>
            <a:r>
              <a:rPr lang="en-US" sz="2000" b="1" u="sng" dirty="0"/>
              <a:t>Setup 1: </a:t>
            </a:r>
            <a:r>
              <a:rPr lang="en-US" sz="2000" dirty="0"/>
              <a:t>In this case, we have 3 identical M/M/1 systems, each of which has service rate </a:t>
            </a:r>
            <a:r>
              <a:rPr lang="el-GR" sz="2000" dirty="0"/>
              <a:t>μ</a:t>
            </a:r>
            <a:r>
              <a:rPr lang="en-US" sz="2000" dirty="0"/>
              <a:t>=5/hour and arrival rate </a:t>
            </a:r>
            <a:r>
              <a:rPr lang="el-GR" sz="2000" dirty="0"/>
              <a:t>λ</a:t>
            </a:r>
            <a:r>
              <a:rPr lang="en-US" sz="2000" dirty="0"/>
              <a:t>=4/hour.</a:t>
            </a:r>
          </a:p>
          <a:p>
            <a:pPr lvl="1"/>
            <a:r>
              <a:rPr lang="en-US" sz="2000" dirty="0"/>
              <a:t>Cost calculation for one of the M/M/1 (then we will multiply the cost with 3)</a:t>
            </a:r>
          </a:p>
          <a:p>
            <a:pPr lvl="2"/>
            <a:r>
              <a:rPr lang="en-US" dirty="0"/>
              <a:t>Expected servers cost/hour = (expected cost of a server/hour) X (# of servers)</a:t>
            </a:r>
          </a:p>
          <a:p>
            <a:pPr lvl="3"/>
            <a:r>
              <a:rPr lang="en-US" dirty="0"/>
              <a:t>Expected cost of a server / hour = busy-rate * busy-cost + idle-rate*idle-cost = </a:t>
            </a:r>
            <a:r>
              <a:rPr lang="el-GR" dirty="0"/>
              <a:t>ρ</a:t>
            </a:r>
            <a:r>
              <a:rPr lang="en-US" dirty="0"/>
              <a:t>*$10 + (1-</a:t>
            </a:r>
            <a:r>
              <a:rPr lang="el-GR" dirty="0"/>
              <a:t> ρ</a:t>
            </a:r>
            <a:r>
              <a:rPr lang="en-US" dirty="0"/>
              <a:t>)*$2</a:t>
            </a:r>
          </a:p>
          <a:p>
            <a:pPr lvl="3"/>
            <a:r>
              <a:rPr lang="en-US" dirty="0"/>
              <a:t> Expected servers cost/hour = 1* [</a:t>
            </a:r>
            <a:r>
              <a:rPr lang="el-GR" dirty="0"/>
              <a:t>ρ</a:t>
            </a:r>
            <a:r>
              <a:rPr lang="en-US" dirty="0"/>
              <a:t>*$10 + (1-</a:t>
            </a:r>
            <a:r>
              <a:rPr lang="el-GR" dirty="0"/>
              <a:t> ρ</a:t>
            </a:r>
            <a:r>
              <a:rPr lang="en-US" dirty="0"/>
              <a:t>)*$2]</a:t>
            </a:r>
          </a:p>
          <a:p>
            <a:pPr lvl="2"/>
            <a:r>
              <a:rPr lang="en-US" dirty="0"/>
              <a:t>Expected customers cost/hour = (expected cost of a customer) X (expected # of customers/hour)</a:t>
            </a:r>
          </a:p>
          <a:p>
            <a:pPr lvl="3"/>
            <a:r>
              <a:rPr lang="en-US" dirty="0"/>
              <a:t>Expected cost of a customer = expected inventory cost of a customer + expected penalty for a customer</a:t>
            </a:r>
          </a:p>
          <a:p>
            <a:pPr lvl="4"/>
            <a:r>
              <a:rPr lang="en-US" dirty="0"/>
              <a:t>Expected inventory cost of a customer = inventory cost/hour * expected hours in inventory</a:t>
            </a:r>
          </a:p>
          <a:p>
            <a:pPr marL="2286000" lvl="5" indent="0">
              <a:buNone/>
            </a:pPr>
            <a:r>
              <a:rPr lang="en-US" dirty="0"/>
              <a:t>				   = $4*</a:t>
            </a:r>
            <a:r>
              <a:rPr lang="en-US" dirty="0" err="1"/>
              <a:t>Wq</a:t>
            </a:r>
            <a:endParaRPr lang="en-US" dirty="0"/>
          </a:p>
          <a:p>
            <a:pPr lvl="4"/>
            <a:r>
              <a:rPr lang="en-US" dirty="0"/>
              <a:t>Expected penalty for a customer = probability of penalty * penalty</a:t>
            </a:r>
          </a:p>
          <a:p>
            <a:pPr marL="2286000" lvl="5" indent="0">
              <a:buNone/>
            </a:pPr>
            <a:r>
              <a:rPr lang="en-US" dirty="0"/>
              <a:t>                                                      = </a:t>
            </a:r>
            <a:r>
              <a:rPr lang="en-US" dirty="0" err="1"/>
              <a:t>Prob</a:t>
            </a:r>
            <a:r>
              <a:rPr lang="en-US" dirty="0"/>
              <a:t>(W&gt;30minutes) *$8 = </a:t>
            </a:r>
            <a:r>
              <a:rPr lang="en-US" dirty="0" err="1"/>
              <a:t>Prob</a:t>
            </a:r>
            <a:r>
              <a:rPr lang="en-US" dirty="0"/>
              <a:t>(W&gt;0.5hours) *$8  </a:t>
            </a:r>
          </a:p>
          <a:p>
            <a:pPr lvl="4"/>
            <a:r>
              <a:rPr lang="en-US" dirty="0"/>
              <a:t>Expected cost of a customer = </a:t>
            </a:r>
            <a:r>
              <a:rPr lang="en-US" sz="1600" dirty="0"/>
              <a:t>$4*</a:t>
            </a:r>
            <a:r>
              <a:rPr lang="en-US" sz="1600" dirty="0" err="1"/>
              <a:t>Wq</a:t>
            </a:r>
            <a:r>
              <a:rPr lang="en-US" sz="1600" dirty="0"/>
              <a:t>+$8* P(W&gt;0.5) </a:t>
            </a:r>
          </a:p>
          <a:p>
            <a:pPr lvl="3"/>
            <a:r>
              <a:rPr lang="en-US" dirty="0"/>
              <a:t>Expected customers cost/hour = [$4*</a:t>
            </a:r>
            <a:r>
              <a:rPr lang="en-US" dirty="0" err="1"/>
              <a:t>Wq</a:t>
            </a:r>
            <a:r>
              <a:rPr lang="en-US" dirty="0"/>
              <a:t>+$8* P(W&gt;0.5) ] * </a:t>
            </a:r>
            <a:r>
              <a:rPr lang="el-GR" dirty="0"/>
              <a:t>λ</a:t>
            </a:r>
            <a:endParaRPr lang="en-US" dirty="0"/>
          </a:p>
          <a:p>
            <a:pPr lvl="2"/>
            <a:r>
              <a:rPr lang="en-US" dirty="0"/>
              <a:t>Cost of one M/M/1 is = [</a:t>
            </a:r>
            <a:r>
              <a:rPr lang="el-GR" dirty="0"/>
              <a:t>ρ</a:t>
            </a:r>
            <a:r>
              <a:rPr lang="en-US" dirty="0"/>
              <a:t>*$10 + (1-</a:t>
            </a:r>
            <a:r>
              <a:rPr lang="el-GR" dirty="0"/>
              <a:t> ρ</a:t>
            </a:r>
            <a:r>
              <a:rPr lang="en-US" dirty="0"/>
              <a:t>)*$2] + [$4*</a:t>
            </a:r>
            <a:r>
              <a:rPr lang="en-US" dirty="0" err="1"/>
              <a:t>Wq</a:t>
            </a:r>
            <a:r>
              <a:rPr lang="en-US" dirty="0"/>
              <a:t>+$8* P(W&gt;0.5) ] * </a:t>
            </a:r>
            <a:r>
              <a:rPr lang="el-GR" dirty="0"/>
              <a:t>λ</a:t>
            </a:r>
            <a:endParaRPr lang="en-US" dirty="0"/>
          </a:p>
          <a:p>
            <a:pPr lvl="3"/>
            <a:r>
              <a:rPr lang="en-US" dirty="0"/>
              <a:t>Multiply that with 3 to get the total exp. cost/hour for Setup 1</a:t>
            </a:r>
          </a:p>
          <a:p>
            <a:pPr lvl="2"/>
            <a:endParaRPr lang="en-US" dirty="0"/>
          </a:p>
        </p:txBody>
      </p:sp>
    </p:spTree>
    <p:extLst>
      <p:ext uri="{BB962C8B-B14F-4D97-AF65-F5344CB8AC3E}">
        <p14:creationId xmlns:p14="http://schemas.microsoft.com/office/powerpoint/2010/main" val="251441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Economic Analyses</a:t>
            </a:r>
          </a:p>
        </p:txBody>
      </p:sp>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Workstation Setup Design</a:t>
            </a:r>
          </a:p>
          <a:p>
            <a:pPr lvl="1"/>
            <a:r>
              <a:rPr lang="en-US" sz="2000" b="1" u="sng" dirty="0"/>
              <a:t>Setup 2: </a:t>
            </a:r>
            <a:r>
              <a:rPr lang="en-US" sz="2000" dirty="0"/>
              <a:t>In this case, we have one M/M/3 system with service rate </a:t>
            </a:r>
            <a:r>
              <a:rPr lang="el-GR" sz="2000" dirty="0"/>
              <a:t>μ</a:t>
            </a:r>
            <a:r>
              <a:rPr lang="en-US" sz="2000" dirty="0"/>
              <a:t>=5/hour for a server and the arrival rate </a:t>
            </a:r>
            <a:r>
              <a:rPr lang="el-GR" sz="2000" dirty="0"/>
              <a:t>λ</a:t>
            </a:r>
            <a:r>
              <a:rPr lang="en-US" sz="2000" dirty="0"/>
              <a:t>=12/hour.</a:t>
            </a:r>
          </a:p>
          <a:p>
            <a:pPr lvl="1"/>
            <a:r>
              <a:rPr lang="en-US" sz="2000" dirty="0"/>
              <a:t>Cost calculation for the M/M/3</a:t>
            </a:r>
          </a:p>
          <a:p>
            <a:pPr lvl="2"/>
            <a:r>
              <a:rPr lang="en-US" dirty="0"/>
              <a:t>Expected servers cost/hour = (expected cost of a server/hour) X (# of servers)</a:t>
            </a:r>
          </a:p>
          <a:p>
            <a:pPr lvl="3"/>
            <a:r>
              <a:rPr lang="en-US" dirty="0"/>
              <a:t>Expected cost of a server / hour = busy-rate * busy-cost + idle-rate*idle-cost = </a:t>
            </a:r>
            <a:r>
              <a:rPr lang="el-GR" dirty="0"/>
              <a:t>ρ</a:t>
            </a:r>
            <a:r>
              <a:rPr lang="en-US" dirty="0"/>
              <a:t>*$10 + (1-</a:t>
            </a:r>
            <a:r>
              <a:rPr lang="el-GR" dirty="0"/>
              <a:t> ρ</a:t>
            </a:r>
            <a:r>
              <a:rPr lang="en-US" dirty="0"/>
              <a:t>)*$2</a:t>
            </a:r>
          </a:p>
          <a:p>
            <a:pPr lvl="3"/>
            <a:r>
              <a:rPr lang="en-US" dirty="0"/>
              <a:t> Expected servers cost/hour = 3* [</a:t>
            </a:r>
            <a:r>
              <a:rPr lang="el-GR" dirty="0"/>
              <a:t>ρ</a:t>
            </a:r>
            <a:r>
              <a:rPr lang="en-US" dirty="0"/>
              <a:t>*$10 + (1-</a:t>
            </a:r>
            <a:r>
              <a:rPr lang="el-GR" dirty="0"/>
              <a:t> ρ</a:t>
            </a:r>
            <a:r>
              <a:rPr lang="en-US" dirty="0"/>
              <a:t>)*$2]</a:t>
            </a:r>
          </a:p>
          <a:p>
            <a:pPr lvl="2"/>
            <a:r>
              <a:rPr lang="en-US" dirty="0"/>
              <a:t>Expected customers cost/hour = (expected cost of a customer) X (expected # of customers/hour)</a:t>
            </a:r>
          </a:p>
          <a:p>
            <a:pPr lvl="3"/>
            <a:r>
              <a:rPr lang="en-US" dirty="0"/>
              <a:t>Expected cost of a customer = expected inventory cost of a customer + expected penalty for a customer</a:t>
            </a:r>
          </a:p>
          <a:p>
            <a:pPr lvl="4"/>
            <a:r>
              <a:rPr lang="en-US" dirty="0"/>
              <a:t>Expected inventory cost of a customer = inventory cost/hour * expected hours in inventory</a:t>
            </a:r>
          </a:p>
          <a:p>
            <a:pPr marL="2286000" lvl="5" indent="0">
              <a:buNone/>
            </a:pPr>
            <a:r>
              <a:rPr lang="en-US" dirty="0"/>
              <a:t>				   = $4*</a:t>
            </a:r>
            <a:r>
              <a:rPr lang="en-US" dirty="0" err="1"/>
              <a:t>Wq</a:t>
            </a:r>
            <a:endParaRPr lang="en-US" dirty="0"/>
          </a:p>
          <a:p>
            <a:pPr lvl="4"/>
            <a:r>
              <a:rPr lang="en-US" dirty="0"/>
              <a:t>Expected penalty for a customer = probability of penalty * penalty</a:t>
            </a:r>
          </a:p>
          <a:p>
            <a:pPr marL="2286000" lvl="5" indent="0">
              <a:buNone/>
            </a:pPr>
            <a:r>
              <a:rPr lang="en-US" dirty="0"/>
              <a:t>                                                      = </a:t>
            </a:r>
            <a:r>
              <a:rPr lang="en-US" dirty="0" err="1"/>
              <a:t>Prob</a:t>
            </a:r>
            <a:r>
              <a:rPr lang="en-US" dirty="0"/>
              <a:t>(W&gt;30minutes) *$8 = </a:t>
            </a:r>
            <a:r>
              <a:rPr lang="en-US" dirty="0" err="1"/>
              <a:t>Prob</a:t>
            </a:r>
            <a:r>
              <a:rPr lang="en-US" dirty="0"/>
              <a:t>(W&gt;0.5hours) *$8  </a:t>
            </a:r>
          </a:p>
          <a:p>
            <a:pPr lvl="4"/>
            <a:r>
              <a:rPr lang="en-US" dirty="0"/>
              <a:t>Expected cost of a customer = </a:t>
            </a:r>
            <a:r>
              <a:rPr lang="en-US" sz="1600" dirty="0"/>
              <a:t>$4*</a:t>
            </a:r>
            <a:r>
              <a:rPr lang="en-US" sz="1600" dirty="0" err="1"/>
              <a:t>Wq</a:t>
            </a:r>
            <a:r>
              <a:rPr lang="en-US" sz="1600" dirty="0"/>
              <a:t>+$8* P(W&gt;0.5) </a:t>
            </a:r>
          </a:p>
          <a:p>
            <a:pPr lvl="3"/>
            <a:r>
              <a:rPr lang="en-US" dirty="0"/>
              <a:t>Expected customers cost/hour = [$4*</a:t>
            </a:r>
            <a:r>
              <a:rPr lang="en-US" dirty="0" err="1"/>
              <a:t>Wq</a:t>
            </a:r>
            <a:r>
              <a:rPr lang="en-US" dirty="0"/>
              <a:t>+$8* P(W&gt;0.5) ] * </a:t>
            </a:r>
            <a:r>
              <a:rPr lang="el-GR" dirty="0"/>
              <a:t>λ</a:t>
            </a:r>
            <a:endParaRPr lang="en-US" dirty="0"/>
          </a:p>
          <a:p>
            <a:pPr lvl="2"/>
            <a:r>
              <a:rPr lang="en-US" dirty="0"/>
              <a:t>Cost of the M/M/3 is = 3*[</a:t>
            </a:r>
            <a:r>
              <a:rPr lang="el-GR" dirty="0"/>
              <a:t>ρ</a:t>
            </a:r>
            <a:r>
              <a:rPr lang="en-US" dirty="0"/>
              <a:t>*$10 + (1-</a:t>
            </a:r>
            <a:r>
              <a:rPr lang="el-GR" dirty="0"/>
              <a:t> ρ</a:t>
            </a:r>
            <a:r>
              <a:rPr lang="en-US" dirty="0"/>
              <a:t>)*$2] + [$4*</a:t>
            </a:r>
            <a:r>
              <a:rPr lang="en-US" dirty="0" err="1"/>
              <a:t>Wq</a:t>
            </a:r>
            <a:r>
              <a:rPr lang="en-US" dirty="0"/>
              <a:t>+$8* P(W&gt;0.5) ] * </a:t>
            </a:r>
            <a:r>
              <a:rPr lang="el-GR" dirty="0"/>
              <a:t>λ</a:t>
            </a:r>
            <a:endParaRPr lang="en-US" dirty="0"/>
          </a:p>
          <a:p>
            <a:pPr lvl="3"/>
            <a:r>
              <a:rPr lang="en-US" dirty="0"/>
              <a:t>This is the total exp. cost/hour for Setup 2</a:t>
            </a:r>
          </a:p>
          <a:p>
            <a:pPr lvl="2"/>
            <a:endParaRPr lang="en-US" dirty="0"/>
          </a:p>
        </p:txBody>
      </p:sp>
    </p:spTree>
    <p:extLst>
      <p:ext uri="{BB962C8B-B14F-4D97-AF65-F5344CB8AC3E}">
        <p14:creationId xmlns:p14="http://schemas.microsoft.com/office/powerpoint/2010/main" val="1388468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Economic Analyses</a:t>
            </a:r>
          </a:p>
        </p:txBody>
      </p:sp>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Workstation Setup Design</a:t>
            </a:r>
          </a:p>
          <a:p>
            <a:pPr lvl="1"/>
            <a:r>
              <a:rPr lang="en-US" sz="2000" b="1" u="sng" dirty="0"/>
              <a:t>Setup 3: </a:t>
            </a:r>
            <a:r>
              <a:rPr lang="en-US" sz="2000" dirty="0"/>
              <a:t>In this case, we have one M/M/1 system with service rate </a:t>
            </a:r>
            <a:r>
              <a:rPr lang="el-GR" sz="2000" dirty="0"/>
              <a:t>μ</a:t>
            </a:r>
            <a:r>
              <a:rPr lang="en-US" sz="2000" dirty="0"/>
              <a:t>=15/hour and the arrival rate </a:t>
            </a:r>
            <a:r>
              <a:rPr lang="el-GR" sz="2000" dirty="0"/>
              <a:t>λ</a:t>
            </a:r>
            <a:r>
              <a:rPr lang="en-US" sz="2000" dirty="0"/>
              <a:t>=12/hour.</a:t>
            </a:r>
          </a:p>
          <a:p>
            <a:pPr lvl="1"/>
            <a:r>
              <a:rPr lang="en-US" sz="2000" dirty="0"/>
              <a:t>Cost calculation for the M/M/1</a:t>
            </a:r>
          </a:p>
          <a:p>
            <a:pPr lvl="2"/>
            <a:r>
              <a:rPr lang="en-US" sz="1800" dirty="0"/>
              <a:t>Note that 3 machines, as a group, is one server, so server busy-cost is $30/</a:t>
            </a:r>
            <a:r>
              <a:rPr lang="en-US" sz="1800" dirty="0" err="1"/>
              <a:t>hr</a:t>
            </a:r>
            <a:r>
              <a:rPr lang="en-US" sz="1800" dirty="0"/>
              <a:t> and server-idle cost is $6/</a:t>
            </a:r>
            <a:r>
              <a:rPr lang="en-US" sz="1800" dirty="0" err="1"/>
              <a:t>hr</a:t>
            </a:r>
            <a:endParaRPr lang="en-US" sz="1800" dirty="0"/>
          </a:p>
          <a:p>
            <a:pPr lvl="2"/>
            <a:r>
              <a:rPr lang="en-US" dirty="0"/>
              <a:t>Expected servers cost/hour = (expected cost of a server/hour) X (# of servers)</a:t>
            </a:r>
          </a:p>
          <a:p>
            <a:pPr lvl="3"/>
            <a:r>
              <a:rPr lang="en-US" dirty="0"/>
              <a:t>Expected cost of a server / hour = busy-rate * busy-cost + idle-rate*idle-cost = </a:t>
            </a:r>
            <a:r>
              <a:rPr lang="el-GR" dirty="0"/>
              <a:t>ρ</a:t>
            </a:r>
            <a:r>
              <a:rPr lang="en-US" dirty="0"/>
              <a:t>*$30 + (1-</a:t>
            </a:r>
            <a:r>
              <a:rPr lang="el-GR" dirty="0"/>
              <a:t> ρ</a:t>
            </a:r>
            <a:r>
              <a:rPr lang="en-US" dirty="0"/>
              <a:t>)*$6</a:t>
            </a:r>
          </a:p>
          <a:p>
            <a:pPr lvl="3"/>
            <a:r>
              <a:rPr lang="en-US" dirty="0"/>
              <a:t> Expected servers cost/hour = 1*[</a:t>
            </a:r>
            <a:r>
              <a:rPr lang="el-GR" dirty="0"/>
              <a:t>ρ</a:t>
            </a:r>
            <a:r>
              <a:rPr lang="en-US" dirty="0"/>
              <a:t>*$30 + (1-</a:t>
            </a:r>
            <a:r>
              <a:rPr lang="el-GR" dirty="0"/>
              <a:t> ρ</a:t>
            </a:r>
            <a:r>
              <a:rPr lang="en-US" dirty="0"/>
              <a:t>)*$6]</a:t>
            </a:r>
          </a:p>
          <a:p>
            <a:pPr lvl="2"/>
            <a:r>
              <a:rPr lang="en-US" dirty="0"/>
              <a:t>Expected customers cost/hour = (expected cost of a customer) X (expected # of customers/hour)</a:t>
            </a:r>
          </a:p>
          <a:p>
            <a:pPr lvl="3"/>
            <a:r>
              <a:rPr lang="en-US" dirty="0"/>
              <a:t>Expected cost of a customer = expected inventory cost of a customer + expected penalty for a customer</a:t>
            </a:r>
          </a:p>
          <a:p>
            <a:pPr lvl="4"/>
            <a:r>
              <a:rPr lang="en-US" dirty="0"/>
              <a:t>Expected inventory cost of a customer = inventory cost/hour * exp. hours in inventory = $4*</a:t>
            </a:r>
            <a:r>
              <a:rPr lang="en-US" dirty="0" err="1"/>
              <a:t>Wq</a:t>
            </a:r>
            <a:endParaRPr lang="en-US" dirty="0"/>
          </a:p>
          <a:p>
            <a:pPr lvl="4"/>
            <a:r>
              <a:rPr lang="en-US" dirty="0"/>
              <a:t>Expected penalty for a customer = probability of penalty * penalty</a:t>
            </a:r>
          </a:p>
          <a:p>
            <a:pPr marL="2286000" lvl="5" indent="0">
              <a:buNone/>
            </a:pPr>
            <a:r>
              <a:rPr lang="en-US" dirty="0"/>
              <a:t>                                                      = </a:t>
            </a:r>
            <a:r>
              <a:rPr lang="en-US" dirty="0" err="1"/>
              <a:t>Prob</a:t>
            </a:r>
            <a:r>
              <a:rPr lang="en-US" dirty="0"/>
              <a:t>(W&gt;30minutes) *$8 = </a:t>
            </a:r>
            <a:r>
              <a:rPr lang="en-US" dirty="0" err="1"/>
              <a:t>Prob</a:t>
            </a:r>
            <a:r>
              <a:rPr lang="en-US" dirty="0"/>
              <a:t>(W&gt;0.5hours) *$8  </a:t>
            </a:r>
          </a:p>
          <a:p>
            <a:pPr lvl="4"/>
            <a:r>
              <a:rPr lang="en-US" dirty="0"/>
              <a:t>Expected cost of a customer = </a:t>
            </a:r>
            <a:r>
              <a:rPr lang="en-US" sz="1600" dirty="0"/>
              <a:t>$4*</a:t>
            </a:r>
            <a:r>
              <a:rPr lang="en-US" sz="1600" dirty="0" err="1"/>
              <a:t>Wq</a:t>
            </a:r>
            <a:r>
              <a:rPr lang="en-US" sz="1600" dirty="0"/>
              <a:t>+$8* P(W&gt;0.5) </a:t>
            </a:r>
          </a:p>
          <a:p>
            <a:pPr lvl="3"/>
            <a:r>
              <a:rPr lang="en-US" dirty="0"/>
              <a:t>Expected customers cost/hour = [$4*</a:t>
            </a:r>
            <a:r>
              <a:rPr lang="en-US" dirty="0" err="1"/>
              <a:t>Wq</a:t>
            </a:r>
            <a:r>
              <a:rPr lang="en-US" dirty="0"/>
              <a:t>+$8* P(W&gt;0.5) ] * </a:t>
            </a:r>
            <a:r>
              <a:rPr lang="el-GR" dirty="0"/>
              <a:t>λ</a:t>
            </a:r>
            <a:endParaRPr lang="en-US" dirty="0"/>
          </a:p>
          <a:p>
            <a:pPr lvl="2"/>
            <a:r>
              <a:rPr lang="en-US" dirty="0"/>
              <a:t>Cost of the M/M/3 is = [</a:t>
            </a:r>
            <a:r>
              <a:rPr lang="el-GR" dirty="0"/>
              <a:t>ρ</a:t>
            </a:r>
            <a:r>
              <a:rPr lang="en-US" dirty="0"/>
              <a:t>*$30 + (1-</a:t>
            </a:r>
            <a:r>
              <a:rPr lang="el-GR" dirty="0"/>
              <a:t> ρ</a:t>
            </a:r>
            <a:r>
              <a:rPr lang="en-US" dirty="0"/>
              <a:t>)*$6] + [$4*</a:t>
            </a:r>
            <a:r>
              <a:rPr lang="en-US" dirty="0" err="1"/>
              <a:t>Wq</a:t>
            </a:r>
            <a:r>
              <a:rPr lang="en-US" dirty="0"/>
              <a:t>+$8* P(W&gt;0.5) ] * </a:t>
            </a:r>
            <a:r>
              <a:rPr lang="el-GR" dirty="0"/>
              <a:t>λ</a:t>
            </a:r>
            <a:endParaRPr lang="en-US" dirty="0"/>
          </a:p>
          <a:p>
            <a:pPr lvl="3"/>
            <a:r>
              <a:rPr lang="en-US" dirty="0"/>
              <a:t>This is the total exp. cost/hour for Setup 3</a:t>
            </a:r>
          </a:p>
          <a:p>
            <a:pPr lvl="2"/>
            <a:endParaRPr lang="en-US" dirty="0"/>
          </a:p>
        </p:txBody>
      </p:sp>
    </p:spTree>
    <p:extLst>
      <p:ext uri="{BB962C8B-B14F-4D97-AF65-F5344CB8AC3E}">
        <p14:creationId xmlns:p14="http://schemas.microsoft.com/office/powerpoint/2010/main" val="2067624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Study – Economic Analyses</a:t>
            </a:r>
          </a:p>
        </p:txBody>
      </p:sp>
      <p:sp>
        <p:nvSpPr>
          <p:cNvPr id="3" name="Content Placeholder 2"/>
          <p:cNvSpPr>
            <a:spLocks noGrp="1"/>
          </p:cNvSpPr>
          <p:nvPr>
            <p:ph idx="1"/>
          </p:nvPr>
        </p:nvSpPr>
        <p:spPr>
          <a:xfrm>
            <a:off x="355002" y="1312433"/>
            <a:ext cx="11478410" cy="5146982"/>
          </a:xfrm>
        </p:spPr>
        <p:txBody>
          <a:bodyPr>
            <a:noAutofit/>
          </a:bodyPr>
          <a:lstStyle/>
          <a:p>
            <a:r>
              <a:rPr lang="en-US" sz="2400" b="1" dirty="0">
                <a:solidFill>
                  <a:srgbClr val="C00000"/>
                </a:solidFill>
              </a:rPr>
              <a:t>Case: Workstation Setup Design</a:t>
            </a:r>
          </a:p>
          <a:p>
            <a:pPr lvl="1"/>
            <a:r>
              <a:rPr lang="en-US" b="1" u="sng" dirty="0"/>
              <a:t>Comparison:</a:t>
            </a:r>
          </a:p>
          <a:p>
            <a:pPr lvl="1"/>
            <a:endParaRPr lang="en-US" sz="2000" b="1" u="sng" dirty="0"/>
          </a:p>
          <a:p>
            <a:pPr lvl="1"/>
            <a:endParaRPr lang="en-US" sz="2000" b="1" u="sng" dirty="0"/>
          </a:p>
          <a:p>
            <a:pPr lvl="1"/>
            <a:endParaRPr lang="en-US" sz="2000" b="1" u="sng" dirty="0"/>
          </a:p>
          <a:p>
            <a:pPr lvl="1"/>
            <a:endParaRPr lang="en-US" sz="2000" b="1" u="sng" dirty="0"/>
          </a:p>
          <a:p>
            <a:pPr lvl="1"/>
            <a:endParaRPr lang="en-US" b="1" u="sng" dirty="0"/>
          </a:p>
          <a:p>
            <a:pPr lvl="1"/>
            <a:r>
              <a:rPr lang="en-US" dirty="0"/>
              <a:t>See ‘</a:t>
            </a:r>
            <a:r>
              <a:rPr lang="en-US" sz="2400" dirty="0"/>
              <a:t>Module 2.2 - </a:t>
            </a:r>
            <a:r>
              <a:rPr lang="en-US" i="1" dirty="0"/>
              <a:t>Workstation Setup Design </a:t>
            </a:r>
            <a:r>
              <a:rPr lang="en-US" sz="2400" i="1" dirty="0"/>
              <a:t>Case</a:t>
            </a:r>
            <a:r>
              <a:rPr lang="en-US" i="1" dirty="0"/>
              <a:t>.xlsx</a:t>
            </a:r>
            <a:r>
              <a:rPr lang="en-US" dirty="0"/>
              <a:t>’</a:t>
            </a:r>
          </a:p>
          <a:p>
            <a:pPr lvl="1"/>
            <a:r>
              <a:rPr lang="en-US" dirty="0"/>
              <a:t>So, choose Alternative Setup 3!</a:t>
            </a:r>
          </a:p>
          <a:p>
            <a:pPr lvl="2"/>
            <a:r>
              <a:rPr lang="en-US" sz="2400" dirty="0"/>
              <a:t>Note that, all of the alternatives have the same (expected) total servers cost/hour </a:t>
            </a:r>
          </a:p>
          <a:p>
            <a:pPr lvl="2"/>
            <a:endParaRPr lang="en-US" dirty="0"/>
          </a:p>
        </p:txBody>
      </p:sp>
      <p:pic>
        <p:nvPicPr>
          <p:cNvPr id="4" name="Picture 3"/>
          <p:cNvPicPr>
            <a:picLocks noChangeAspect="1"/>
          </p:cNvPicPr>
          <p:nvPr/>
        </p:nvPicPr>
        <p:blipFill>
          <a:blip r:embed="rId2"/>
          <a:stretch>
            <a:fillRect/>
          </a:stretch>
        </p:blipFill>
        <p:spPr>
          <a:xfrm>
            <a:off x="1110877" y="2217516"/>
            <a:ext cx="5477340" cy="1147006"/>
          </a:xfrm>
          <a:prstGeom prst="rect">
            <a:avLst/>
          </a:prstGeom>
        </p:spPr>
      </p:pic>
    </p:spTree>
    <p:extLst>
      <p:ext uri="{BB962C8B-B14F-4D97-AF65-F5344CB8AC3E}">
        <p14:creationId xmlns:p14="http://schemas.microsoft.com/office/powerpoint/2010/main" val="1476012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85DA5-A0EE-F865-4CE2-829F62884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86162-1162-C083-C4B6-B9363F87310B}"/>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A198201D-CF20-2DD4-C21D-AB2A6AB0D123}"/>
              </a:ext>
            </a:extLst>
          </p:cNvPr>
          <p:cNvSpPr>
            <a:spLocks noGrp="1"/>
          </p:cNvSpPr>
          <p:nvPr>
            <p:ph idx="1"/>
          </p:nvPr>
        </p:nvSpPr>
        <p:spPr>
          <a:xfrm>
            <a:off x="355002" y="1312433"/>
            <a:ext cx="9271219" cy="4864530"/>
          </a:xfrm>
        </p:spPr>
        <p:txBody>
          <a:bodyPr>
            <a:normAutofit/>
          </a:bodyPr>
          <a:lstStyle/>
          <a:p>
            <a:r>
              <a:rPr lang="en-US" dirty="0">
                <a:solidFill>
                  <a:schemeClr val="bg2"/>
                </a:solidFill>
              </a:rPr>
              <a:t>Evaluating Queueing Systems</a:t>
            </a:r>
          </a:p>
          <a:p>
            <a:endParaRPr lang="en-US" dirty="0">
              <a:solidFill>
                <a:schemeClr val="bg2"/>
              </a:solidFill>
            </a:endParaRPr>
          </a:p>
          <a:p>
            <a:r>
              <a:rPr lang="en-US" dirty="0">
                <a:solidFill>
                  <a:schemeClr val="bg2"/>
                </a:solidFill>
              </a:rPr>
              <a:t>Analyses</a:t>
            </a:r>
          </a:p>
          <a:p>
            <a:pPr lvl="1"/>
            <a:r>
              <a:rPr lang="en-US" dirty="0">
                <a:solidFill>
                  <a:schemeClr val="bg2"/>
                </a:solidFill>
              </a:rPr>
              <a:t>Systematic Analyses: Case – Car Charging Station Design</a:t>
            </a:r>
          </a:p>
          <a:p>
            <a:pPr lvl="1"/>
            <a:r>
              <a:rPr lang="en-US" dirty="0">
                <a:solidFill>
                  <a:schemeClr val="bg2"/>
                </a:solidFill>
              </a:rPr>
              <a:t>Economic Analyses: Case – Workstation Setup Design</a:t>
            </a:r>
          </a:p>
          <a:p>
            <a:endParaRPr lang="en-US" dirty="0"/>
          </a:p>
          <a:p>
            <a:r>
              <a:rPr lang="en-US" dirty="0"/>
              <a:t>Further concepts</a:t>
            </a:r>
          </a:p>
          <a:p>
            <a:pPr lvl="1"/>
            <a:r>
              <a:rPr lang="en-US" dirty="0"/>
              <a:t>Priority Queues</a:t>
            </a:r>
          </a:p>
          <a:p>
            <a:pPr lvl="1"/>
            <a:r>
              <a:rPr lang="en-US" dirty="0"/>
              <a:t>Queueing Networks</a:t>
            </a:r>
          </a:p>
          <a:p>
            <a:pPr marL="0" indent="0">
              <a:buNone/>
            </a:pPr>
            <a:endParaRPr lang="en-US" dirty="0"/>
          </a:p>
          <a:p>
            <a:pPr lvl="1"/>
            <a:endParaRPr lang="en-US" dirty="0"/>
          </a:p>
        </p:txBody>
      </p:sp>
    </p:spTree>
    <p:extLst>
      <p:ext uri="{BB962C8B-B14F-4D97-AF65-F5344CB8AC3E}">
        <p14:creationId xmlns:p14="http://schemas.microsoft.com/office/powerpoint/2010/main" val="2521485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Queues</a:t>
            </a:r>
          </a:p>
        </p:txBody>
      </p:sp>
      <p:sp>
        <p:nvSpPr>
          <p:cNvPr id="3" name="Content Placeholder 2"/>
          <p:cNvSpPr>
            <a:spLocks noGrp="1"/>
          </p:cNvSpPr>
          <p:nvPr>
            <p:ph idx="1"/>
          </p:nvPr>
        </p:nvSpPr>
        <p:spPr>
          <a:xfrm>
            <a:off x="355002" y="1312433"/>
            <a:ext cx="11478410" cy="5146982"/>
          </a:xfrm>
        </p:spPr>
        <p:txBody>
          <a:bodyPr>
            <a:noAutofit/>
          </a:bodyPr>
          <a:lstStyle/>
          <a:p>
            <a:pPr>
              <a:lnSpc>
                <a:spcPct val="80000"/>
              </a:lnSpc>
            </a:pPr>
            <a:r>
              <a:rPr lang="en-US" dirty="0"/>
              <a:t>General settings:</a:t>
            </a:r>
          </a:p>
          <a:p>
            <a:pPr lvl="1">
              <a:lnSpc>
                <a:spcPct val="80000"/>
              </a:lnSpc>
            </a:pPr>
            <a:r>
              <a:rPr lang="en-US" dirty="0"/>
              <a:t>There are two or more categories of customers. Each category is assigned to a priority class. Customers in priority class 1 are given priority over customers in priority class 2. Priority class 2 has priority over priority class 3, etc. </a:t>
            </a:r>
          </a:p>
          <a:p>
            <a:pPr lvl="1">
              <a:lnSpc>
                <a:spcPct val="80000"/>
              </a:lnSpc>
            </a:pPr>
            <a:r>
              <a:rPr lang="en-US" dirty="0"/>
              <a:t>After deferring to higher priority customers, the customers within each priority class are served on a first-come-fist-served basis.</a:t>
            </a:r>
          </a:p>
          <a:p>
            <a:pPr>
              <a:lnSpc>
                <a:spcPct val="80000"/>
              </a:lnSpc>
            </a:pPr>
            <a:r>
              <a:rPr lang="en-US" dirty="0"/>
              <a:t>Two types of priorities:</a:t>
            </a:r>
          </a:p>
          <a:p>
            <a:pPr lvl="1">
              <a:lnSpc>
                <a:spcPct val="80000"/>
              </a:lnSpc>
            </a:pPr>
            <a:r>
              <a:rPr lang="en-US" dirty="0" err="1">
                <a:solidFill>
                  <a:srgbClr val="C00000"/>
                </a:solidFill>
              </a:rPr>
              <a:t>Nonpreemptive</a:t>
            </a:r>
            <a:r>
              <a:rPr lang="en-US" dirty="0">
                <a:solidFill>
                  <a:srgbClr val="C00000"/>
                </a:solidFill>
              </a:rPr>
              <a:t> priorities: </a:t>
            </a:r>
            <a:r>
              <a:rPr lang="en-US" dirty="0"/>
              <a:t>Once a server has begun serving a customer, the service must be completed (even if a higher priority customer arrives). However, once service is completed, priorities are applied to select the next one to begin service.</a:t>
            </a:r>
          </a:p>
          <a:p>
            <a:pPr lvl="1">
              <a:lnSpc>
                <a:spcPct val="80000"/>
              </a:lnSpc>
            </a:pPr>
            <a:r>
              <a:rPr lang="en-US" dirty="0">
                <a:solidFill>
                  <a:srgbClr val="C00000"/>
                </a:solidFill>
              </a:rPr>
              <a:t>Preemptive priorities: </a:t>
            </a:r>
            <a:r>
              <a:rPr lang="en-US" dirty="0"/>
              <a:t>The lowest priority customer being served is preempted (ejected back into the queue) whenever a higher priority customer enters the queueing system.</a:t>
            </a:r>
          </a:p>
          <a:p>
            <a:pPr lvl="2"/>
            <a:endParaRPr lang="en-US" sz="1600" dirty="0"/>
          </a:p>
        </p:txBody>
      </p:sp>
    </p:spTree>
    <p:extLst>
      <p:ext uri="{BB962C8B-B14F-4D97-AF65-F5344CB8AC3E}">
        <p14:creationId xmlns:p14="http://schemas.microsoft.com/office/powerpoint/2010/main" val="522970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Queues</a:t>
            </a:r>
          </a:p>
        </p:txBody>
      </p:sp>
      <p:sp>
        <p:nvSpPr>
          <p:cNvPr id="3" name="Content Placeholder 2"/>
          <p:cNvSpPr>
            <a:spLocks noGrp="1"/>
          </p:cNvSpPr>
          <p:nvPr>
            <p:ph idx="1"/>
          </p:nvPr>
        </p:nvSpPr>
        <p:spPr>
          <a:xfrm>
            <a:off x="355002" y="1312433"/>
            <a:ext cx="11478410" cy="5146982"/>
          </a:xfrm>
        </p:spPr>
        <p:txBody>
          <a:bodyPr>
            <a:noAutofit/>
          </a:bodyPr>
          <a:lstStyle/>
          <a:p>
            <a:pPr>
              <a:lnSpc>
                <a:spcPct val="80000"/>
              </a:lnSpc>
            </a:pPr>
            <a:r>
              <a:rPr lang="en-US" dirty="0"/>
              <a:t>M/M/c priority queues:</a:t>
            </a:r>
          </a:p>
          <a:p>
            <a:pPr lvl="1">
              <a:lnSpc>
                <a:spcPct val="80000"/>
              </a:lnSpc>
            </a:pPr>
            <a:r>
              <a:rPr lang="en-US" dirty="0"/>
              <a:t>For priority class i (i = 1, 2, … , n), the interarrival times of the customers in that class have an exponential distribution with a mean of </a:t>
            </a:r>
            <a:r>
              <a:rPr lang="en-US" dirty="0">
                <a:latin typeface="Times New Roman" pitchFamily="18" charset="0"/>
              </a:rPr>
              <a:t>1/</a:t>
            </a:r>
            <a:r>
              <a:rPr lang="en-US" dirty="0">
                <a:latin typeface="Symbol" pitchFamily="18" charset="2"/>
              </a:rPr>
              <a:t>l</a:t>
            </a:r>
            <a:r>
              <a:rPr lang="en-US" i="1" baseline="-25000" dirty="0">
                <a:latin typeface="Times New Roman" pitchFamily="18" charset="0"/>
              </a:rPr>
              <a:t>i</a:t>
            </a:r>
            <a:r>
              <a:rPr lang="en-US" dirty="0"/>
              <a:t>.</a:t>
            </a:r>
          </a:p>
          <a:p>
            <a:pPr lvl="1">
              <a:lnSpc>
                <a:spcPct val="80000"/>
              </a:lnSpc>
            </a:pPr>
            <a:r>
              <a:rPr lang="en-US" dirty="0"/>
              <a:t>All service times have an exponential distribution with a mean of </a:t>
            </a:r>
            <a:r>
              <a:rPr lang="en-US" dirty="0">
                <a:latin typeface="Times New Roman" pitchFamily="18" charset="0"/>
              </a:rPr>
              <a:t>1/</a:t>
            </a:r>
            <a:r>
              <a:rPr lang="en-US" dirty="0">
                <a:latin typeface="Symbol" pitchFamily="18" charset="2"/>
              </a:rPr>
              <a:t>m</a:t>
            </a:r>
            <a:r>
              <a:rPr lang="en-US" dirty="0"/>
              <a:t>, regardless of the priority class involved.</a:t>
            </a:r>
          </a:p>
          <a:p>
            <a:pPr lvl="1">
              <a:lnSpc>
                <a:spcPct val="80000"/>
              </a:lnSpc>
            </a:pPr>
            <a:r>
              <a:rPr lang="en-US" dirty="0"/>
              <a:t>The utilization factor for the server is: </a:t>
            </a:r>
            <a:r>
              <a:rPr lang="en-US" dirty="0">
                <a:latin typeface="Symbol" pitchFamily="18" charset="2"/>
              </a:rPr>
              <a:t>r</a:t>
            </a:r>
            <a:r>
              <a:rPr lang="en-US" dirty="0">
                <a:latin typeface="Times New Roman" pitchFamily="18" charset="0"/>
              </a:rPr>
              <a:t> = (</a:t>
            </a:r>
            <a:r>
              <a:rPr lang="en-US" dirty="0">
                <a:latin typeface="Symbol" pitchFamily="18" charset="2"/>
              </a:rPr>
              <a:t>l</a:t>
            </a:r>
            <a:r>
              <a:rPr lang="en-US" baseline="-25000" dirty="0">
                <a:latin typeface="Times New Roman" pitchFamily="18" charset="0"/>
              </a:rPr>
              <a:t>1</a:t>
            </a:r>
            <a:r>
              <a:rPr lang="en-US" dirty="0">
                <a:latin typeface="Times New Roman" pitchFamily="18" charset="0"/>
              </a:rPr>
              <a:t> + </a:t>
            </a:r>
            <a:r>
              <a:rPr lang="en-US" dirty="0">
                <a:latin typeface="Symbol" pitchFamily="18" charset="2"/>
              </a:rPr>
              <a:t>l</a:t>
            </a:r>
            <a:r>
              <a:rPr lang="en-US" baseline="-25000" dirty="0">
                <a:latin typeface="Times New Roman" pitchFamily="18" charset="0"/>
              </a:rPr>
              <a:t>2</a:t>
            </a:r>
            <a:r>
              <a:rPr lang="en-US" dirty="0">
                <a:latin typeface="Times New Roman" pitchFamily="18" charset="0"/>
              </a:rPr>
              <a:t> + </a:t>
            </a:r>
            <a:r>
              <a:rPr lang="en-US" baseline="30000" dirty="0">
                <a:latin typeface="Times New Roman" pitchFamily="18" charset="0"/>
              </a:rPr>
              <a:t>…</a:t>
            </a:r>
            <a:r>
              <a:rPr lang="en-US" dirty="0">
                <a:latin typeface="Times New Roman" pitchFamily="18" charset="0"/>
              </a:rPr>
              <a:t> + </a:t>
            </a:r>
            <a:r>
              <a:rPr lang="en-US" dirty="0">
                <a:latin typeface="Symbol" pitchFamily="18" charset="2"/>
              </a:rPr>
              <a:t>l</a:t>
            </a:r>
            <a:r>
              <a:rPr lang="en-US" i="1" baseline="-25000" dirty="0">
                <a:latin typeface="Times New Roman" pitchFamily="18" charset="0"/>
              </a:rPr>
              <a:t>n</a:t>
            </a:r>
            <a:r>
              <a:rPr lang="en-US" dirty="0">
                <a:latin typeface="Times New Roman" pitchFamily="18" charset="0"/>
              </a:rPr>
              <a:t>) / c</a:t>
            </a:r>
            <a:r>
              <a:rPr lang="en-US" dirty="0">
                <a:latin typeface="Symbol" pitchFamily="18" charset="2"/>
              </a:rPr>
              <a:t>m</a:t>
            </a:r>
            <a:endParaRPr lang="en-US" sz="1400" dirty="0">
              <a:latin typeface="Times New Roman" pitchFamily="18" charset="0"/>
            </a:endParaRPr>
          </a:p>
          <a:p>
            <a:pPr lvl="1">
              <a:lnSpc>
                <a:spcPct val="80000"/>
              </a:lnSpc>
            </a:pPr>
            <a:endParaRPr lang="en-US" b="1" u="sng" dirty="0">
              <a:solidFill>
                <a:srgbClr val="C00000"/>
              </a:solidFill>
            </a:endParaRPr>
          </a:p>
          <a:p>
            <a:pPr marL="457200" lvl="1" indent="0">
              <a:lnSpc>
                <a:spcPct val="80000"/>
              </a:lnSpc>
              <a:buNone/>
            </a:pPr>
            <a:r>
              <a:rPr lang="en-US" b="1" dirty="0">
                <a:solidFill>
                  <a:srgbClr val="C00000"/>
                </a:solidFill>
              </a:rPr>
              <a:t>   </a:t>
            </a:r>
            <a:r>
              <a:rPr lang="en-US" b="1" u="sng" dirty="0">
                <a:solidFill>
                  <a:srgbClr val="C00000"/>
                </a:solidFill>
              </a:rPr>
              <a:t>M/M/1 Preemptive (c=1 only):</a:t>
            </a:r>
            <a:r>
              <a:rPr lang="en-US" b="1" dirty="0">
                <a:solidFill>
                  <a:srgbClr val="C00000"/>
                </a:solidFill>
              </a:rPr>
              <a:t>                   </a:t>
            </a:r>
            <a:r>
              <a:rPr lang="en-US" b="1" u="sng" dirty="0">
                <a:solidFill>
                  <a:srgbClr val="C00000"/>
                </a:solidFill>
              </a:rPr>
              <a:t>M/M/c Non-preemptive:</a:t>
            </a:r>
          </a:p>
        </p:txBody>
      </p:sp>
      <p:pic>
        <p:nvPicPr>
          <p:cNvPr id="5" name="Picture 4">
            <a:extLst>
              <a:ext uri="{FF2B5EF4-FFF2-40B4-BE49-F238E27FC236}">
                <a16:creationId xmlns:a16="http://schemas.microsoft.com/office/drawing/2014/main" id="{483CA2B6-66E6-4740-BF4F-7C3FB809644F}"/>
              </a:ext>
            </a:extLst>
          </p:cNvPr>
          <p:cNvPicPr>
            <a:picLocks noChangeAspect="1"/>
          </p:cNvPicPr>
          <p:nvPr/>
        </p:nvPicPr>
        <p:blipFill>
          <a:blip r:embed="rId3"/>
          <a:stretch>
            <a:fillRect/>
          </a:stretch>
        </p:blipFill>
        <p:spPr>
          <a:xfrm>
            <a:off x="6316625" y="4197209"/>
            <a:ext cx="3458813" cy="2025120"/>
          </a:xfrm>
          <a:prstGeom prst="rect">
            <a:avLst/>
          </a:prstGeom>
        </p:spPr>
      </p:pic>
      <p:sp>
        <p:nvSpPr>
          <p:cNvPr id="6" name="TextBox 5">
            <a:extLst>
              <a:ext uri="{FF2B5EF4-FFF2-40B4-BE49-F238E27FC236}">
                <a16:creationId xmlns:a16="http://schemas.microsoft.com/office/drawing/2014/main" id="{CD8A1300-1EA3-433A-BCCF-1FDDA3C14AE4}"/>
              </a:ext>
            </a:extLst>
          </p:cNvPr>
          <p:cNvSpPr txBox="1"/>
          <p:nvPr/>
        </p:nvSpPr>
        <p:spPr>
          <a:xfrm>
            <a:off x="4197485" y="6342433"/>
            <a:ext cx="4587638" cy="369332"/>
          </a:xfrm>
          <a:prstGeom prst="rect">
            <a:avLst/>
          </a:prstGeom>
          <a:noFill/>
        </p:spPr>
        <p:txBody>
          <a:bodyPr wrap="square" rtlCol="0">
            <a:spAutoFit/>
          </a:bodyPr>
          <a:lstStyle/>
          <a:p>
            <a:r>
              <a:rPr lang="en-US" dirty="0"/>
              <a:t>See ‘Module 2.2 - </a:t>
            </a:r>
            <a:r>
              <a:rPr lang="en-US" i="1" dirty="0" err="1"/>
              <a:t>MMc</a:t>
            </a:r>
            <a:r>
              <a:rPr lang="en-US" i="1" dirty="0"/>
              <a:t> Priorities.xlsx</a:t>
            </a:r>
            <a:r>
              <a:rPr lang="en-US" dirty="0"/>
              <a:t>’</a:t>
            </a:r>
          </a:p>
        </p:txBody>
      </p:sp>
      <p:pic>
        <p:nvPicPr>
          <p:cNvPr id="7" name="Picture 6">
            <a:extLst>
              <a:ext uri="{FF2B5EF4-FFF2-40B4-BE49-F238E27FC236}">
                <a16:creationId xmlns:a16="http://schemas.microsoft.com/office/drawing/2014/main" id="{3F1B3312-0128-4562-9398-CCEDFB87D4B0}"/>
              </a:ext>
            </a:extLst>
          </p:cNvPr>
          <p:cNvPicPr>
            <a:picLocks noChangeAspect="1"/>
          </p:cNvPicPr>
          <p:nvPr/>
        </p:nvPicPr>
        <p:blipFill>
          <a:blip r:embed="rId4"/>
          <a:stretch>
            <a:fillRect/>
          </a:stretch>
        </p:blipFill>
        <p:spPr>
          <a:xfrm>
            <a:off x="1052133" y="4197209"/>
            <a:ext cx="3513149" cy="1892874"/>
          </a:xfrm>
          <a:prstGeom prst="rect">
            <a:avLst/>
          </a:prstGeom>
        </p:spPr>
      </p:pic>
    </p:spTree>
    <p:extLst>
      <p:ext uri="{BB962C8B-B14F-4D97-AF65-F5344CB8AC3E}">
        <p14:creationId xmlns:p14="http://schemas.microsoft.com/office/powerpoint/2010/main" val="416059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Queues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nSpc>
                    <a:spcPct val="80000"/>
                  </a:lnSpc>
                </a:pPr>
                <a:r>
                  <a:rPr lang="en-US" b="1" u="sng" dirty="0">
                    <a:solidFill>
                      <a:srgbClr val="C00000"/>
                    </a:solidFill>
                  </a:rPr>
                  <a:t>Case: Recall Company FIX</a:t>
                </a:r>
              </a:p>
              <a:p>
                <a:pPr>
                  <a:lnSpc>
                    <a:spcPct val="80000"/>
                  </a:lnSpc>
                </a:pPr>
                <a:r>
                  <a:rPr lang="en-US" u="sng" dirty="0"/>
                  <a:t>Current State:</a:t>
                </a:r>
              </a:p>
              <a:p>
                <a:pPr lvl="1">
                  <a:lnSpc>
                    <a:spcPct val="80000"/>
                  </a:lnSpc>
                </a:pPr>
                <a:r>
                  <a:rPr lang="en-US" b="1" dirty="0"/>
                  <a:t>Observations: </a:t>
                </a:r>
                <a:r>
                  <a:rPr lang="en-US" dirty="0"/>
                  <a:t>Service times and interarrival times are exponentially distribution</a:t>
                </a:r>
              </a:p>
              <a:p>
                <a:pPr lvl="1">
                  <a:lnSpc>
                    <a:spcPct val="80000"/>
                  </a:lnSpc>
                </a:pPr>
                <a:r>
                  <a:rPr lang="en-US" b="1" dirty="0"/>
                  <a:t>Systems: </a:t>
                </a:r>
                <a:r>
                  <a:rPr lang="en-US" dirty="0"/>
                  <a:t>There are 4 identical M/M/1 systems</a:t>
                </a:r>
              </a:p>
              <a:p>
                <a:pPr lvl="1">
                  <a:lnSpc>
                    <a:spcPct val="80000"/>
                  </a:lnSpc>
                </a:pPr>
                <a:r>
                  <a:rPr lang="en-US" b="1" dirty="0"/>
                  <a:t>Each M/M/1:</a:t>
                </a:r>
              </a:p>
              <a:p>
                <a:pPr lvl="2">
                  <a:lnSpc>
                    <a:spcPct val="80000"/>
                  </a:lnSpc>
                </a:pPr>
                <a:r>
                  <a:rPr lang="en-US" dirty="0"/>
                  <a:t>Mean arrival rate: </a:t>
                </a:r>
                <a14:m>
                  <m:oMath xmlns:m="http://schemas.openxmlformats.org/officeDocument/2006/math">
                    <m:r>
                      <a:rPr lang="en-US" i="1">
                        <a:latin typeface="Cambria Math" panose="02040503050406030204" pitchFamily="18" charset="0"/>
                      </a:rPr>
                      <m:t>𝜆</m:t>
                    </m:r>
                    <m:r>
                      <a:rPr lang="en-US" i="1">
                        <a:latin typeface="Cambria Math" panose="02040503050406030204" pitchFamily="18" charset="0"/>
                      </a:rPr>
                      <m:t>=3/</m:t>
                    </m:r>
                    <m:r>
                      <a:rPr lang="en-US" i="1">
                        <a:latin typeface="Cambria Math" panose="02040503050406030204" pitchFamily="18" charset="0"/>
                      </a:rPr>
                      <m:t>𝑑𝑎𝑦</m:t>
                    </m:r>
                  </m:oMath>
                </a14:m>
                <a:endParaRPr lang="en-US" dirty="0"/>
              </a:p>
              <a:p>
                <a:pPr lvl="2">
                  <a:lnSpc>
                    <a:spcPct val="80000"/>
                  </a:lnSpc>
                </a:pPr>
                <a:r>
                  <a:rPr lang="en-US" dirty="0"/>
                  <a:t>Mean service time: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𝜇</m:t>
                        </m:r>
                      </m:den>
                    </m:f>
                    <m:r>
                      <a:rPr lang="en-US" i="1">
                        <a:latin typeface="Cambria Math" panose="02040503050406030204" pitchFamily="18" charset="0"/>
                      </a:rPr>
                      <m:t>=0.25 </m:t>
                    </m:r>
                    <m:r>
                      <a:rPr lang="en-US" i="1">
                        <a:latin typeface="Cambria Math" panose="02040503050406030204" pitchFamily="18" charset="0"/>
                      </a:rPr>
                      <m:t>𝑑𝑎𝑦</m:t>
                    </m:r>
                  </m:oMath>
                </a14:m>
                <a:endParaRPr lang="en-US" dirty="0"/>
              </a:p>
              <a:p>
                <a:pPr lvl="2">
                  <a:lnSpc>
                    <a:spcPct val="80000"/>
                  </a:lnSpc>
                </a:pPr>
                <a:r>
                  <a:rPr lang="en-US" dirty="0"/>
                  <a:t>Mean service rate: </a:t>
                </a:r>
                <a14:m>
                  <m:oMath xmlns:m="http://schemas.openxmlformats.org/officeDocument/2006/math">
                    <m:r>
                      <a:rPr lang="en-US" i="1">
                        <a:latin typeface="Cambria Math" panose="02040503050406030204" pitchFamily="18" charset="0"/>
                      </a:rPr>
                      <m:t>𝜇</m:t>
                    </m:r>
                    <m:r>
                      <a:rPr lang="en-US" i="1">
                        <a:latin typeface="Cambria Math" panose="02040503050406030204" pitchFamily="18" charset="0"/>
                      </a:rPr>
                      <m:t>=4/</m:t>
                    </m:r>
                    <m:r>
                      <a:rPr lang="en-US" i="1">
                        <a:latin typeface="Cambria Math" panose="02040503050406030204" pitchFamily="18" charset="0"/>
                      </a:rPr>
                      <m:t>𝑑𝑎𝑦</m:t>
                    </m:r>
                  </m:oMath>
                </a14:m>
                <a:endParaRPr lang="en-US" dirty="0"/>
              </a:p>
              <a:p>
                <a:pPr lvl="1">
                  <a:lnSpc>
                    <a:spcPct val="80000"/>
                  </a:lnSpc>
                </a:pPr>
                <a:endParaRPr lang="en-US" b="1" dirty="0"/>
              </a:p>
              <a:p>
                <a:pPr lvl="1">
                  <a:lnSpc>
                    <a:spcPct val="80000"/>
                  </a:lnSpc>
                </a:pPr>
                <a:endParaRPr lang="en-US" b="1" dirty="0"/>
              </a:p>
              <a:p>
                <a:pPr lvl="1">
                  <a:lnSpc>
                    <a:spcPct val="80000"/>
                  </a:lnSpc>
                </a:pPr>
                <a:r>
                  <a:rPr lang="en-US" b="1" dirty="0"/>
                  <a:t>Issue: </a:t>
                </a:r>
                <a:r>
                  <a:rPr lang="en-US" dirty="0"/>
                  <a:t>Customers’ waiting time until handling starts</a:t>
                </a:r>
              </a:p>
              <a:p>
                <a:pPr lvl="2">
                  <a:lnSpc>
                    <a:spcPct val="80000"/>
                  </a:lnSpc>
                </a:pPr>
                <a:r>
                  <a:rPr lang="en-US" b="1" dirty="0"/>
                  <a:t>Goal: </a:t>
                </a:r>
                <a:r>
                  <a:rPr lang="en-US" dirty="0"/>
                  <a:t>Decrease </a:t>
                </a:r>
                <a:r>
                  <a:rPr lang="en-US" dirty="0" err="1"/>
                  <a:t>Wq</a:t>
                </a:r>
                <a:r>
                  <a:rPr lang="en-US" dirty="0"/>
                  <a:t>!!!</a:t>
                </a:r>
              </a:p>
              <a:p>
                <a:pPr lvl="2">
                  <a:lnSpc>
                    <a:spcPct val="80000"/>
                  </a:lnSpc>
                </a:pPr>
                <a:r>
                  <a:rPr lang="en-US" b="1" dirty="0"/>
                  <a:t>Plan: </a:t>
                </a:r>
                <a:r>
                  <a:rPr lang="en-US" dirty="0"/>
                  <a:t>Give new customers priority</a:t>
                </a: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29F9861-B2D6-4D76-841A-AFE6697CB599}"/>
              </a:ext>
            </a:extLst>
          </p:cNvPr>
          <p:cNvPicPr>
            <a:picLocks noChangeAspect="1"/>
          </p:cNvPicPr>
          <p:nvPr/>
        </p:nvPicPr>
        <p:blipFill>
          <a:blip r:embed="rId3"/>
          <a:stretch>
            <a:fillRect/>
          </a:stretch>
        </p:blipFill>
        <p:spPr>
          <a:xfrm>
            <a:off x="5856051" y="3026532"/>
            <a:ext cx="5530314" cy="1583967"/>
          </a:xfrm>
          <a:prstGeom prst="rect">
            <a:avLst/>
          </a:prstGeom>
        </p:spPr>
      </p:pic>
    </p:spTree>
    <p:extLst>
      <p:ext uri="{BB962C8B-B14F-4D97-AF65-F5344CB8AC3E}">
        <p14:creationId xmlns:p14="http://schemas.microsoft.com/office/powerpoint/2010/main" val="1176552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Queues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nSpc>
                    <a:spcPct val="80000"/>
                  </a:lnSpc>
                </a:pPr>
                <a:r>
                  <a:rPr lang="en-US" b="1" u="sng" dirty="0">
                    <a:solidFill>
                      <a:srgbClr val="C00000"/>
                    </a:solidFill>
                  </a:rPr>
                  <a:t>Case: Recall Company Fix</a:t>
                </a:r>
              </a:p>
              <a:p>
                <a:pPr>
                  <a:lnSpc>
                    <a:spcPct val="80000"/>
                  </a:lnSpc>
                  <a:tabLst>
                    <a:tab pos="5022850" algn="l"/>
                  </a:tabLst>
                </a:pPr>
                <a:r>
                  <a:rPr lang="en-US" b="1" dirty="0">
                    <a:solidFill>
                      <a:srgbClr val="C00000"/>
                    </a:solidFill>
                  </a:rPr>
                  <a:t>Suggestion: </a:t>
                </a:r>
                <a:r>
                  <a:rPr lang="en-US" dirty="0"/>
                  <a:t>Two classes of priority </a:t>
                </a:r>
              </a:p>
              <a:p>
                <a:pPr lvl="1">
                  <a:lnSpc>
                    <a:spcPct val="80000"/>
                  </a:lnSpc>
                  <a:tabLst>
                    <a:tab pos="5022850" algn="l"/>
                  </a:tabLst>
                </a:pPr>
                <a:r>
                  <a:rPr lang="en-US" dirty="0"/>
                  <a:t>The mean arrival rates for the two classes of customers are</a:t>
                </a:r>
              </a:p>
              <a:p>
                <a:pPr lvl="2">
                  <a:lnSpc>
                    <a:spcPct val="80000"/>
                  </a:lnSpc>
                  <a:tabLst>
                    <a:tab pos="5022850" algn="l"/>
                  </a:tabLst>
                </a:pP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𝜆</m:t>
                        </m:r>
                      </m:e>
                      <m:sub>
                        <m:r>
                          <a:rPr lang="en-US" b="0" i="1" dirty="0" smtClean="0">
                            <a:latin typeface="Cambria Math" panose="02040503050406030204" pitchFamily="18" charset="0"/>
                          </a:rPr>
                          <m:t>1</m:t>
                        </m:r>
                      </m:sub>
                    </m:sSub>
                  </m:oMath>
                </a14:m>
                <a:r>
                  <a:rPr lang="en-US" dirty="0"/>
                  <a:t>= 1 new customer per day </a:t>
                </a:r>
              </a:p>
              <a:p>
                <a:pPr lvl="2">
                  <a:lnSpc>
                    <a:spcPct val="80000"/>
                  </a:lnSpc>
                  <a:tabLst>
                    <a:tab pos="5022850" algn="l"/>
                  </a:tabLst>
                </a:pP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𝜆</m:t>
                        </m:r>
                      </m:e>
                      <m:sub>
                        <m:r>
                          <a:rPr lang="en-US" b="0" i="1" dirty="0" smtClean="0">
                            <a:latin typeface="Cambria Math" panose="02040503050406030204" pitchFamily="18" charset="0"/>
                          </a:rPr>
                          <m:t>2</m:t>
                        </m:r>
                      </m:sub>
                    </m:sSub>
                  </m:oMath>
                </a14:m>
                <a:r>
                  <a:rPr lang="en-US" dirty="0"/>
                  <a:t> = 2 old customers per workday</a:t>
                </a:r>
              </a:p>
              <a:p>
                <a:pPr lvl="1">
                  <a:lnSpc>
                    <a:spcPct val="80000"/>
                  </a:lnSpc>
                  <a:tabLst>
                    <a:tab pos="5022850" algn="l"/>
                  </a:tabLst>
                </a:pPr>
                <a:r>
                  <a:rPr lang="en-US" dirty="0"/>
                  <a:t>Service rate is still </a:t>
                </a:r>
                <a14:m>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=4/</m:t>
                    </m:r>
                    <m:r>
                      <a:rPr lang="en-US" b="0" i="1" smtClean="0">
                        <a:latin typeface="Cambria Math" panose="02040503050406030204" pitchFamily="18" charset="0"/>
                      </a:rPr>
                      <m:t>𝑑𝑎𝑦</m:t>
                    </m:r>
                  </m:oMath>
                </a14:m>
                <a:endParaRPr lang="en-US" dirty="0"/>
              </a:p>
              <a:p>
                <a:pPr lvl="1">
                  <a:lnSpc>
                    <a:spcPct val="80000"/>
                  </a:lnSpc>
                  <a:tabLst>
                    <a:tab pos="5022850" algn="l"/>
                  </a:tabLst>
                </a:pPr>
                <a:r>
                  <a:rPr lang="en-US" dirty="0"/>
                  <a:t>So, we still have four identical M/M/1 but each has priority classes (in the same way)</a:t>
                </a:r>
              </a:p>
              <a:p>
                <a:pPr lvl="1"/>
                <a:endParaRPr lang="en-US" b="1" baseline="30000" dirty="0">
                  <a:sym typeface="Symbol" pitchFamily="18"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56" t="-2757"/>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47129640-C89F-4DFA-9803-0CC935AD426E}"/>
              </a:ext>
            </a:extLst>
          </p:cNvPr>
          <p:cNvSpPr/>
          <p:nvPr/>
        </p:nvSpPr>
        <p:spPr>
          <a:xfrm>
            <a:off x="1219200" y="4049418"/>
            <a:ext cx="3712723" cy="369332"/>
          </a:xfrm>
          <a:prstGeom prst="rect">
            <a:avLst/>
          </a:prstGeom>
        </p:spPr>
        <p:txBody>
          <a:bodyPr wrap="square">
            <a:spAutoFit/>
          </a:bodyPr>
          <a:lstStyle/>
          <a:p>
            <a:r>
              <a:rPr lang="en-US" b="1" u="sng" dirty="0">
                <a:solidFill>
                  <a:srgbClr val="C00000"/>
                </a:solidFill>
              </a:rPr>
              <a:t>M/M/1 Preemptive:</a:t>
            </a:r>
            <a:endParaRPr lang="en-US" dirty="0"/>
          </a:p>
        </p:txBody>
      </p:sp>
      <p:pic>
        <p:nvPicPr>
          <p:cNvPr id="5" name="Picture 4">
            <a:extLst>
              <a:ext uri="{FF2B5EF4-FFF2-40B4-BE49-F238E27FC236}">
                <a16:creationId xmlns:a16="http://schemas.microsoft.com/office/drawing/2014/main" id="{D1E166B9-BDBE-4EE1-A4B6-EE24F63F8DAF}"/>
              </a:ext>
            </a:extLst>
          </p:cNvPr>
          <p:cNvPicPr>
            <a:picLocks noChangeAspect="1"/>
          </p:cNvPicPr>
          <p:nvPr/>
        </p:nvPicPr>
        <p:blipFill>
          <a:blip r:embed="rId3"/>
          <a:stretch>
            <a:fillRect/>
          </a:stretch>
        </p:blipFill>
        <p:spPr>
          <a:xfrm>
            <a:off x="1230473" y="4469583"/>
            <a:ext cx="3666199" cy="1975337"/>
          </a:xfrm>
          <a:prstGeom prst="rect">
            <a:avLst/>
          </a:prstGeom>
        </p:spPr>
      </p:pic>
      <p:pic>
        <p:nvPicPr>
          <p:cNvPr id="6" name="Picture 5">
            <a:extLst>
              <a:ext uri="{FF2B5EF4-FFF2-40B4-BE49-F238E27FC236}">
                <a16:creationId xmlns:a16="http://schemas.microsoft.com/office/drawing/2014/main" id="{EB38A46C-C59C-427D-B72A-B3A4F7872004}"/>
              </a:ext>
            </a:extLst>
          </p:cNvPr>
          <p:cNvPicPr>
            <a:picLocks noChangeAspect="1"/>
          </p:cNvPicPr>
          <p:nvPr/>
        </p:nvPicPr>
        <p:blipFill>
          <a:blip r:embed="rId4"/>
          <a:stretch>
            <a:fillRect/>
          </a:stretch>
        </p:blipFill>
        <p:spPr>
          <a:xfrm>
            <a:off x="5825645" y="4406065"/>
            <a:ext cx="3458813" cy="2025120"/>
          </a:xfrm>
          <a:prstGeom prst="rect">
            <a:avLst/>
          </a:prstGeom>
        </p:spPr>
      </p:pic>
      <p:sp>
        <p:nvSpPr>
          <p:cNvPr id="7" name="Rectangle 6">
            <a:extLst>
              <a:ext uri="{FF2B5EF4-FFF2-40B4-BE49-F238E27FC236}">
                <a16:creationId xmlns:a16="http://schemas.microsoft.com/office/drawing/2014/main" id="{A231CAB8-330B-41CC-ACF4-29C0947A5EF5}"/>
              </a:ext>
            </a:extLst>
          </p:cNvPr>
          <p:cNvSpPr/>
          <p:nvPr/>
        </p:nvSpPr>
        <p:spPr>
          <a:xfrm>
            <a:off x="5789457" y="4036733"/>
            <a:ext cx="2593210" cy="369332"/>
          </a:xfrm>
          <a:prstGeom prst="rect">
            <a:avLst/>
          </a:prstGeom>
        </p:spPr>
        <p:txBody>
          <a:bodyPr wrap="none">
            <a:spAutoFit/>
          </a:bodyPr>
          <a:lstStyle/>
          <a:p>
            <a:r>
              <a:rPr lang="en-US" b="1" u="sng" dirty="0">
                <a:solidFill>
                  <a:srgbClr val="C00000"/>
                </a:solidFill>
              </a:rPr>
              <a:t>M/M/1 Non-preemptive:</a:t>
            </a:r>
            <a:endParaRPr lang="en-US" dirty="0"/>
          </a:p>
        </p:txBody>
      </p:sp>
    </p:spTree>
    <p:extLst>
      <p:ext uri="{BB962C8B-B14F-4D97-AF65-F5344CB8AC3E}">
        <p14:creationId xmlns:p14="http://schemas.microsoft.com/office/powerpoint/2010/main" val="1900916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Queueing Networks</a:t>
            </a:r>
          </a:p>
        </p:txBody>
      </p:sp>
      <p:sp>
        <p:nvSpPr>
          <p:cNvPr id="3" name="Content Placeholder 2"/>
          <p:cNvSpPr>
            <a:spLocks noGrp="1"/>
          </p:cNvSpPr>
          <p:nvPr>
            <p:ph idx="1"/>
          </p:nvPr>
        </p:nvSpPr>
        <p:spPr>
          <a:xfrm>
            <a:off x="355002" y="1312433"/>
            <a:ext cx="11478410" cy="4864530"/>
          </a:xfrm>
        </p:spPr>
        <p:txBody>
          <a:bodyPr>
            <a:normAutofit fontScale="92500" lnSpcReduction="20000"/>
          </a:bodyPr>
          <a:lstStyle/>
          <a:p>
            <a:r>
              <a:rPr lang="en-US" dirty="0"/>
              <a:t>Consist of </a:t>
            </a:r>
            <a:r>
              <a:rPr lang="en-US" i="1" dirty="0"/>
              <a:t>nodes</a:t>
            </a:r>
            <a:r>
              <a:rPr lang="en-US" dirty="0"/>
              <a:t>, each of which is a </a:t>
            </a:r>
            <a:r>
              <a:rPr lang="en-US" i="1" dirty="0"/>
              <a:t>G</a:t>
            </a:r>
            <a:r>
              <a:rPr lang="en-US" dirty="0"/>
              <a:t>/</a:t>
            </a:r>
            <a:r>
              <a:rPr lang="en-US" i="1" dirty="0"/>
              <a:t>G</a:t>
            </a:r>
            <a:r>
              <a:rPr lang="en-US" dirty="0"/>
              <a:t>/</a:t>
            </a:r>
            <a:r>
              <a:rPr lang="en-US" i="1" dirty="0"/>
              <a:t>c</a:t>
            </a:r>
            <a:r>
              <a:rPr lang="en-US" dirty="0"/>
              <a:t> (a general) station, connected by </a:t>
            </a:r>
            <a:r>
              <a:rPr lang="en-US" i="1" dirty="0"/>
              <a:t>arcs</a:t>
            </a:r>
            <a:r>
              <a:rPr lang="en-US" dirty="0"/>
              <a:t> representing possible entity travel between nodes</a:t>
            </a:r>
          </a:p>
          <a:p>
            <a:pPr lvl="1"/>
            <a:r>
              <a:rPr lang="en-US" dirty="0"/>
              <a:t>Can also have entity arrivals from outside the network, and entities can exit from any node to outside the system</a:t>
            </a:r>
          </a:p>
          <a:p>
            <a:pPr lvl="1"/>
            <a:r>
              <a:rPr lang="en-US" dirty="0"/>
              <a:t>When an entity leaves a node, it can go out on any of the arcs emanating from that node, with arc probabilities summing to 1</a:t>
            </a:r>
          </a:p>
          <a:p>
            <a:r>
              <a:rPr lang="en-US" dirty="0"/>
              <a:t>Assume:</a:t>
            </a:r>
          </a:p>
          <a:p>
            <a:pPr lvl="1"/>
            <a:r>
              <a:rPr lang="en-US" dirty="0"/>
              <a:t>All arrival processes from outside have</a:t>
            </a:r>
            <a:br>
              <a:rPr lang="en-US" dirty="0"/>
            </a:br>
            <a:r>
              <a:rPr lang="en-US" dirty="0"/>
              <a:t>exponential </a:t>
            </a:r>
            <a:r>
              <a:rPr lang="en-US" dirty="0" err="1"/>
              <a:t>interarrival</a:t>
            </a:r>
            <a:r>
              <a:rPr lang="en-US" dirty="0"/>
              <a:t> times (a.k.a.</a:t>
            </a:r>
            <a:br>
              <a:rPr lang="en-US" dirty="0"/>
            </a:br>
            <a:r>
              <a:rPr lang="en-US" dirty="0"/>
              <a:t>Poisson processes), and are independent</a:t>
            </a:r>
            <a:br>
              <a:rPr lang="en-US" dirty="0"/>
            </a:br>
            <a:r>
              <a:rPr lang="en-US" dirty="0"/>
              <a:t>of each other</a:t>
            </a:r>
          </a:p>
          <a:p>
            <a:pPr lvl="1"/>
            <a:r>
              <a:rPr lang="en-US" dirty="0"/>
              <a:t>All service times are independent</a:t>
            </a:r>
            <a:br>
              <a:rPr lang="en-US" dirty="0"/>
            </a:br>
            <a:r>
              <a:rPr lang="en-US" dirty="0"/>
              <a:t>exponential (so each node is an </a:t>
            </a:r>
            <a:r>
              <a:rPr lang="en-US" i="1" dirty="0"/>
              <a:t>M</a:t>
            </a:r>
            <a:r>
              <a:rPr lang="en-US" dirty="0"/>
              <a:t>/</a:t>
            </a:r>
            <a:r>
              <a:rPr lang="en-US" i="1" dirty="0"/>
              <a:t>M</a:t>
            </a:r>
            <a:r>
              <a:rPr lang="en-US" dirty="0"/>
              <a:t>/</a:t>
            </a:r>
            <a:r>
              <a:rPr lang="en-US" i="1" dirty="0"/>
              <a:t>c</a:t>
            </a:r>
            <a:r>
              <a:rPr lang="en-US" dirty="0"/>
              <a:t>)</a:t>
            </a:r>
          </a:p>
          <a:p>
            <a:pPr lvl="1"/>
            <a:r>
              <a:rPr lang="en-US" dirty="0"/>
              <a:t>All queue capacities are infinite</a:t>
            </a:r>
          </a:p>
          <a:p>
            <a:pPr lvl="1"/>
            <a:r>
              <a:rPr lang="en-US" dirty="0"/>
              <a:t>Utilization (a.k.a. traffic intensity) </a:t>
            </a:r>
            <a:r>
              <a:rPr lang="en-US" i="1" dirty="0">
                <a:sym typeface="Symbol" panose="05050102010706020507" pitchFamily="18" charset="2"/>
              </a:rPr>
              <a:t></a:t>
            </a:r>
            <a:br>
              <a:rPr lang="en-US" dirty="0"/>
            </a:br>
            <a:r>
              <a:rPr lang="en-US" dirty="0"/>
              <a:t>locally at each node is &lt; 1</a:t>
            </a:r>
          </a:p>
        </p:txBody>
      </p:sp>
      <p:sp>
        <p:nvSpPr>
          <p:cNvPr id="4" name="Right Brace 3"/>
          <p:cNvSpPr/>
          <p:nvPr/>
        </p:nvSpPr>
        <p:spPr>
          <a:xfrm>
            <a:off x="6582507" y="3827584"/>
            <a:ext cx="381000" cy="2819400"/>
          </a:xfrm>
          <a:prstGeom prst="rightBrace">
            <a:avLst>
              <a:gd name="adj1" fmla="val 42619"/>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5" name="TextBox 7"/>
          <p:cNvSpPr txBox="1">
            <a:spLocks noChangeArrowheads="1"/>
          </p:cNvSpPr>
          <p:nvPr/>
        </p:nvSpPr>
        <p:spPr bwMode="auto">
          <a:xfrm>
            <a:off x="7192107" y="4741984"/>
            <a:ext cx="2819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2000" dirty="0">
                <a:latin typeface="Calibri" panose="020F0502020204030204" pitchFamily="34" charset="0"/>
              </a:rPr>
              <a:t>Called a </a:t>
            </a:r>
            <a:r>
              <a:rPr lang="en-US" sz="2000" b="1" i="1" dirty="0">
                <a:solidFill>
                  <a:srgbClr val="C00000"/>
                </a:solidFill>
                <a:latin typeface="Calibri" panose="020F0502020204030204" pitchFamily="34" charset="0"/>
              </a:rPr>
              <a:t>Jackson network</a:t>
            </a:r>
            <a:r>
              <a:rPr lang="en-US" sz="2000" b="1" dirty="0">
                <a:solidFill>
                  <a:srgbClr val="C00000"/>
                </a:solidFill>
                <a:latin typeface="Calibri" panose="020F0502020204030204" pitchFamily="34" charset="0"/>
              </a:rPr>
              <a:t> </a:t>
            </a:r>
            <a:r>
              <a:rPr lang="en-US" sz="2000" dirty="0">
                <a:latin typeface="Calibri" panose="020F0502020204030204" pitchFamily="34" charset="0"/>
              </a:rPr>
              <a:t>with these assumptions; much is known about it</a:t>
            </a:r>
          </a:p>
        </p:txBody>
      </p:sp>
    </p:spTree>
    <p:extLst>
      <p:ext uri="{BB962C8B-B14F-4D97-AF65-F5344CB8AC3E}">
        <p14:creationId xmlns:p14="http://schemas.microsoft.com/office/powerpoint/2010/main" val="3701535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Queueing Networks</a:t>
            </a:r>
          </a:p>
        </p:txBody>
      </p:sp>
      <p:sp>
        <p:nvSpPr>
          <p:cNvPr id="3" name="Content Placeholder 2"/>
          <p:cNvSpPr>
            <a:spLocks noGrp="1"/>
          </p:cNvSpPr>
          <p:nvPr>
            <p:ph idx="1"/>
          </p:nvPr>
        </p:nvSpPr>
        <p:spPr>
          <a:xfrm>
            <a:off x="355002" y="1312433"/>
            <a:ext cx="11478410" cy="4864530"/>
          </a:xfrm>
        </p:spPr>
        <p:txBody>
          <a:bodyPr>
            <a:normAutofit/>
          </a:bodyPr>
          <a:lstStyle/>
          <a:p>
            <a:r>
              <a:rPr lang="en-US" sz="2400" dirty="0"/>
              <a:t>Use all of this to analyze each node in a Jackson network as a stand-alone </a:t>
            </a:r>
            <a:r>
              <a:rPr lang="en-US" sz="2400" i="1" dirty="0"/>
              <a:t>M</a:t>
            </a:r>
            <a:r>
              <a:rPr lang="en-US" sz="2400" dirty="0"/>
              <a:t>/</a:t>
            </a:r>
            <a:r>
              <a:rPr lang="en-US" sz="2400" i="1" dirty="0"/>
              <a:t>M</a:t>
            </a:r>
            <a:r>
              <a:rPr lang="en-US" sz="2400" dirty="0"/>
              <a:t>/</a:t>
            </a:r>
            <a:r>
              <a:rPr lang="en-US" sz="2400" i="1" dirty="0"/>
              <a:t>c</a:t>
            </a:r>
            <a:r>
              <a:rPr lang="en-US" sz="2400" dirty="0"/>
              <a:t> queue, using formulae given earlier</a:t>
            </a:r>
          </a:p>
          <a:p>
            <a:pPr lvl="1"/>
            <a:r>
              <a:rPr lang="en-US" sz="2000" dirty="0"/>
              <a:t>Just have to compute Poisson arrival input/output rates using Poisson process properties</a:t>
            </a:r>
          </a:p>
          <a:p>
            <a:pPr lvl="1"/>
            <a:r>
              <a:rPr lang="en-US" sz="2000" dirty="0"/>
              <a:t>Let </a:t>
            </a:r>
            <a:r>
              <a:rPr lang="en-US" sz="2000" i="1" dirty="0">
                <a:sym typeface="Symbol" panose="05050102010706020507" pitchFamily="18" charset="2"/>
              </a:rPr>
              <a:t></a:t>
            </a:r>
            <a:r>
              <a:rPr lang="en-US" sz="2000" baseline="-25000" dirty="0" err="1"/>
              <a:t>SignIn</a:t>
            </a:r>
            <a:r>
              <a:rPr lang="en-US" sz="2000" dirty="0"/>
              <a:t> be the arrival rate into the Sign In station and assume exponential service times throughout</a:t>
            </a:r>
            <a:endParaRPr lang="en-US" dirty="0"/>
          </a:p>
          <a:p>
            <a:pPr lvl="1"/>
            <a:endParaRPr lang="en-US" dirty="0"/>
          </a:p>
        </p:txBody>
      </p:sp>
      <p:pic>
        <p:nvPicPr>
          <p:cNvPr id="6" name="Content Placeholder 6" descr="open_queueing_system.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6302" y="2933387"/>
            <a:ext cx="6284512" cy="3431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2"/>
          <p:cNvSpPr txBox="1">
            <a:spLocks/>
          </p:cNvSpPr>
          <p:nvPr/>
        </p:nvSpPr>
        <p:spPr bwMode="auto">
          <a:xfrm>
            <a:off x="6730106" y="3190745"/>
            <a:ext cx="5461894" cy="3093795"/>
          </a:xfrm>
          <a:prstGeom prst="rect">
            <a:avLst/>
          </a:prstGeom>
          <a:noFill/>
          <a:ln w="9525">
            <a:noFill/>
            <a:miter lim="800000"/>
            <a:headEnd/>
            <a:tailEnd/>
          </a:ln>
        </p:spPr>
        <p:txBody>
          <a:bodyPr/>
          <a:lstStyle/>
          <a:p>
            <a:pPr marL="342900" indent="-342900" eaLnBrk="0" hangingPunct="0">
              <a:spcBef>
                <a:spcPct val="20000"/>
              </a:spcBef>
              <a:defRPr/>
            </a:pPr>
            <a:r>
              <a:rPr lang="en-US" sz="1600" kern="0" dirty="0">
                <a:latin typeface="Calibri" pitchFamily="34" charset="0"/>
                <a:ea typeface="Calibri" pitchFamily="34" charset="0"/>
                <a:cs typeface="Calibri" pitchFamily="34" charset="0"/>
              </a:rPr>
              <a:t>Analyze each node independently as:</a:t>
            </a:r>
          </a:p>
          <a:p>
            <a:pPr marL="342900" indent="-342900" eaLnBrk="0" hangingPunct="0">
              <a:spcBef>
                <a:spcPts val="1200"/>
              </a:spcBef>
              <a:buFont typeface="Arial" panose="020B0604020202020204" pitchFamily="34" charset="0"/>
              <a:buChar char="•"/>
              <a:defRPr/>
            </a:pPr>
            <a:r>
              <a:rPr lang="en-US" sz="1600" kern="0" dirty="0">
                <a:latin typeface="Calibri" pitchFamily="34" charset="0"/>
                <a:ea typeface="Calibri" pitchFamily="34" charset="0"/>
                <a:cs typeface="Calibri" pitchFamily="34" charset="0"/>
              </a:rPr>
              <a:t>Sign In: </a:t>
            </a:r>
            <a:r>
              <a:rPr lang="en-US" sz="1600" i="1" kern="0" dirty="0">
                <a:latin typeface="Calibri" pitchFamily="34" charset="0"/>
                <a:ea typeface="Calibri" pitchFamily="34" charset="0"/>
                <a:cs typeface="Calibri" pitchFamily="34" charset="0"/>
              </a:rPr>
              <a:t>M</a:t>
            </a:r>
            <a:r>
              <a:rPr lang="en-US" sz="1600" kern="0" dirty="0">
                <a:latin typeface="Calibri" pitchFamily="34" charset="0"/>
                <a:ea typeface="Calibri" pitchFamily="34" charset="0"/>
                <a:cs typeface="Calibri" pitchFamily="34" charset="0"/>
              </a:rPr>
              <a:t>/</a:t>
            </a:r>
            <a:r>
              <a:rPr lang="en-US" sz="1600" i="1" kern="0" dirty="0">
                <a:latin typeface="Calibri" pitchFamily="34" charset="0"/>
                <a:ea typeface="Calibri" pitchFamily="34" charset="0"/>
                <a:cs typeface="Calibri" pitchFamily="34" charset="0"/>
              </a:rPr>
              <a:t>M</a:t>
            </a:r>
            <a:r>
              <a:rPr lang="en-US" sz="1600" kern="0" dirty="0">
                <a:latin typeface="Calibri" pitchFamily="34" charset="0"/>
                <a:ea typeface="Calibri" pitchFamily="34" charset="0"/>
                <a:cs typeface="Calibri" pitchFamily="34" charset="0"/>
              </a:rPr>
              <a:t>/2, arrival rate </a:t>
            </a:r>
            <a:r>
              <a:rPr lang="en-US" sz="1600" i="1" dirty="0">
                <a:sym typeface="Symbol"/>
              </a:rPr>
              <a:t></a:t>
            </a:r>
            <a:r>
              <a:rPr lang="en-US" sz="1600" baseline="-25000" dirty="0" err="1">
                <a:latin typeface="Calibri" pitchFamily="34" charset="0"/>
              </a:rPr>
              <a:t>SignIn</a:t>
            </a:r>
            <a:r>
              <a:rPr lang="en-US" sz="1600" kern="0" dirty="0">
                <a:latin typeface="Calibri" pitchFamily="34" charset="0"/>
                <a:ea typeface="Calibri" pitchFamily="34" charset="0"/>
                <a:cs typeface="Calibri" pitchFamily="34" charset="0"/>
              </a:rPr>
              <a:t> </a:t>
            </a:r>
          </a:p>
          <a:p>
            <a:pPr marL="342900" indent="-342900" eaLnBrk="0" hangingPunct="0">
              <a:spcBef>
                <a:spcPts val="1200"/>
              </a:spcBef>
              <a:buFont typeface="Arial" panose="020B0604020202020204" pitchFamily="34" charset="0"/>
              <a:buChar char="•"/>
              <a:defRPr/>
            </a:pPr>
            <a:r>
              <a:rPr lang="en-US" sz="1600" kern="0" dirty="0">
                <a:latin typeface="Calibri" pitchFamily="34" charset="0"/>
                <a:ea typeface="Calibri" pitchFamily="34" charset="0"/>
                <a:cs typeface="Calibri" pitchFamily="34" charset="0"/>
              </a:rPr>
              <a:t>Registration: </a:t>
            </a:r>
            <a:r>
              <a:rPr lang="en-US" sz="1600" i="1" kern="0" dirty="0">
                <a:latin typeface="Calibri" pitchFamily="34" charset="0"/>
                <a:ea typeface="Calibri" pitchFamily="34" charset="0"/>
                <a:cs typeface="Calibri" pitchFamily="34" charset="0"/>
              </a:rPr>
              <a:t>M</a:t>
            </a:r>
            <a:r>
              <a:rPr lang="en-US" sz="1600" kern="0" dirty="0">
                <a:latin typeface="Calibri" pitchFamily="34" charset="0"/>
                <a:ea typeface="Calibri" pitchFamily="34" charset="0"/>
                <a:cs typeface="Calibri" pitchFamily="34" charset="0"/>
              </a:rPr>
              <a:t>/</a:t>
            </a:r>
            <a:r>
              <a:rPr lang="en-US" sz="1600" i="1" kern="0" dirty="0">
                <a:latin typeface="Calibri" pitchFamily="34" charset="0"/>
                <a:ea typeface="Calibri" pitchFamily="34" charset="0"/>
                <a:cs typeface="Calibri" pitchFamily="34" charset="0"/>
              </a:rPr>
              <a:t>M</a:t>
            </a:r>
            <a:r>
              <a:rPr lang="en-US" sz="1600" kern="0" dirty="0">
                <a:latin typeface="Calibri" pitchFamily="34" charset="0"/>
                <a:ea typeface="Calibri" pitchFamily="34" charset="0"/>
                <a:cs typeface="Calibri" pitchFamily="34" charset="0"/>
              </a:rPr>
              <a:t>/1, arrival rate </a:t>
            </a:r>
            <a:r>
              <a:rPr lang="en-US" sz="1600" i="1" dirty="0">
                <a:sym typeface="Symbol"/>
              </a:rPr>
              <a:t></a:t>
            </a:r>
            <a:r>
              <a:rPr lang="en-US" sz="1600" baseline="-25000" dirty="0" err="1">
                <a:latin typeface="Calibri" pitchFamily="34" charset="0"/>
              </a:rPr>
              <a:t>Reg</a:t>
            </a:r>
            <a:r>
              <a:rPr lang="en-US" sz="1600" baseline="-25000" dirty="0">
                <a:latin typeface="Calibri" pitchFamily="34" charset="0"/>
              </a:rPr>
              <a:t> </a:t>
            </a:r>
            <a:r>
              <a:rPr lang="en-US" sz="1600" kern="0" dirty="0">
                <a:latin typeface="Calibri" pitchFamily="34" charset="0"/>
                <a:ea typeface="Calibri" pitchFamily="34" charset="0"/>
                <a:cs typeface="Calibri" pitchFamily="34" charset="0"/>
              </a:rPr>
              <a:t>=0.9</a:t>
            </a:r>
            <a:r>
              <a:rPr lang="en-US" sz="1600" i="1" dirty="0">
                <a:sym typeface="Symbol"/>
              </a:rPr>
              <a:t></a:t>
            </a:r>
            <a:r>
              <a:rPr lang="en-US" sz="1600" baseline="-25000" dirty="0">
                <a:latin typeface="Calibri" pitchFamily="34" charset="0"/>
              </a:rPr>
              <a:t>SignIn</a:t>
            </a:r>
            <a:endParaRPr lang="en-US" sz="1600" kern="0" dirty="0">
              <a:latin typeface="Calibri" pitchFamily="34" charset="0"/>
              <a:cs typeface="Calibri" pitchFamily="34" charset="0"/>
            </a:endParaRPr>
          </a:p>
          <a:p>
            <a:pPr marL="342900" indent="-342900" eaLnBrk="0" hangingPunct="0">
              <a:spcBef>
                <a:spcPts val="1200"/>
              </a:spcBef>
              <a:buFont typeface="Arial" panose="020B0604020202020204" pitchFamily="34" charset="0"/>
              <a:buChar char="•"/>
              <a:defRPr/>
            </a:pPr>
            <a:r>
              <a:rPr lang="en-US" sz="1600" kern="0" dirty="0">
                <a:latin typeface="Calibri" pitchFamily="34" charset="0"/>
                <a:ea typeface="Calibri" pitchFamily="34" charset="0"/>
                <a:cs typeface="Calibri" pitchFamily="34" charset="0"/>
              </a:rPr>
              <a:t>Trauma Rooms: </a:t>
            </a:r>
            <a:r>
              <a:rPr lang="en-US" sz="1600" i="1" kern="0" dirty="0">
                <a:latin typeface="Calibri" pitchFamily="34" charset="0"/>
                <a:ea typeface="Calibri" pitchFamily="34" charset="0"/>
                <a:cs typeface="Calibri" pitchFamily="34" charset="0"/>
              </a:rPr>
              <a:t>M</a:t>
            </a:r>
            <a:r>
              <a:rPr lang="en-US" sz="1600" kern="0" dirty="0">
                <a:latin typeface="Calibri" pitchFamily="34" charset="0"/>
                <a:ea typeface="Calibri" pitchFamily="34" charset="0"/>
                <a:cs typeface="Calibri" pitchFamily="34" charset="0"/>
              </a:rPr>
              <a:t>/</a:t>
            </a:r>
            <a:r>
              <a:rPr lang="en-US" sz="1600" i="1" kern="0" dirty="0">
                <a:latin typeface="Calibri" pitchFamily="34" charset="0"/>
                <a:ea typeface="Calibri" pitchFamily="34" charset="0"/>
                <a:cs typeface="Calibri" pitchFamily="34" charset="0"/>
              </a:rPr>
              <a:t>M</a:t>
            </a:r>
            <a:r>
              <a:rPr lang="en-US" sz="1600" kern="0" dirty="0">
                <a:latin typeface="Calibri" pitchFamily="34" charset="0"/>
                <a:ea typeface="Calibri" pitchFamily="34" charset="0"/>
                <a:cs typeface="Calibri" pitchFamily="34" charset="0"/>
              </a:rPr>
              <a:t>/2, arrival rate </a:t>
            </a:r>
            <a:r>
              <a:rPr lang="en-US" sz="1600" i="1" dirty="0">
                <a:sym typeface="Symbol"/>
              </a:rPr>
              <a:t></a:t>
            </a:r>
            <a:r>
              <a:rPr lang="en-US" sz="1600" baseline="-25000" dirty="0">
                <a:latin typeface="Calibri" pitchFamily="34" charset="0"/>
                <a:sym typeface="Symbol"/>
              </a:rPr>
              <a:t>Trauma</a:t>
            </a:r>
            <a:r>
              <a:rPr lang="en-US" sz="1600" baseline="-25000" dirty="0">
                <a:latin typeface="Calibri" pitchFamily="34" charset="0"/>
              </a:rPr>
              <a:t> </a:t>
            </a:r>
            <a:r>
              <a:rPr lang="en-US" sz="1600" kern="0" dirty="0">
                <a:latin typeface="Calibri" pitchFamily="34" charset="0"/>
                <a:ea typeface="Calibri" pitchFamily="34" charset="0"/>
                <a:cs typeface="Calibri" pitchFamily="34" charset="0"/>
              </a:rPr>
              <a:t>= 0.1</a:t>
            </a:r>
            <a:r>
              <a:rPr lang="en-US" sz="1600" i="1" dirty="0">
                <a:sym typeface="Symbol"/>
              </a:rPr>
              <a:t></a:t>
            </a:r>
            <a:r>
              <a:rPr lang="en-US" sz="1600" baseline="-25000" dirty="0">
                <a:latin typeface="Calibri" pitchFamily="34" charset="0"/>
              </a:rPr>
              <a:t>SignIn</a:t>
            </a:r>
            <a:endParaRPr lang="en-US" sz="1600" kern="0" dirty="0">
              <a:latin typeface="Calibri" pitchFamily="34" charset="0"/>
              <a:cs typeface="Calibri" pitchFamily="34" charset="0"/>
            </a:endParaRPr>
          </a:p>
          <a:p>
            <a:pPr marL="342900" indent="-342900" eaLnBrk="0" hangingPunct="0">
              <a:spcBef>
                <a:spcPts val="1200"/>
              </a:spcBef>
              <a:buFont typeface="Arial" panose="020B0604020202020204" pitchFamily="34" charset="0"/>
              <a:buChar char="•"/>
              <a:defRPr/>
            </a:pPr>
            <a:r>
              <a:rPr lang="en-US" sz="1600" kern="0" dirty="0">
                <a:latin typeface="Calibri" pitchFamily="34" charset="0"/>
                <a:ea typeface="Calibri" pitchFamily="34" charset="0"/>
                <a:cs typeface="Calibri" pitchFamily="34" charset="0"/>
              </a:rPr>
              <a:t>Exam Rooms: </a:t>
            </a:r>
            <a:r>
              <a:rPr lang="en-US" sz="1600" i="1" kern="0" dirty="0">
                <a:latin typeface="Calibri" pitchFamily="34" charset="0"/>
                <a:ea typeface="Calibri" pitchFamily="34" charset="0"/>
                <a:cs typeface="Calibri" pitchFamily="34" charset="0"/>
              </a:rPr>
              <a:t>M</a:t>
            </a:r>
            <a:r>
              <a:rPr lang="en-US" sz="1600" kern="0" dirty="0">
                <a:latin typeface="Calibri" pitchFamily="34" charset="0"/>
                <a:ea typeface="Calibri" pitchFamily="34" charset="0"/>
                <a:cs typeface="Calibri" pitchFamily="34" charset="0"/>
              </a:rPr>
              <a:t>/</a:t>
            </a:r>
            <a:r>
              <a:rPr lang="en-US" sz="1600" i="1" kern="0" dirty="0">
                <a:latin typeface="Calibri" pitchFamily="34" charset="0"/>
                <a:ea typeface="Calibri" pitchFamily="34" charset="0"/>
                <a:cs typeface="Calibri" pitchFamily="34" charset="0"/>
              </a:rPr>
              <a:t>M</a:t>
            </a:r>
            <a:r>
              <a:rPr lang="en-US" sz="1600" kern="0" dirty="0">
                <a:latin typeface="Calibri" pitchFamily="34" charset="0"/>
                <a:ea typeface="Calibri" pitchFamily="34" charset="0"/>
                <a:cs typeface="Calibri" pitchFamily="34" charset="0"/>
              </a:rPr>
              <a:t>/4, arrival rate </a:t>
            </a:r>
            <a:r>
              <a:rPr lang="en-US" sz="1600" i="1" dirty="0">
                <a:sym typeface="Symbol"/>
              </a:rPr>
              <a:t></a:t>
            </a:r>
            <a:r>
              <a:rPr lang="en-US" sz="1600" baseline="-25000" dirty="0">
                <a:latin typeface="Calibri" pitchFamily="34" charset="0"/>
                <a:sym typeface="Symbol"/>
              </a:rPr>
              <a:t>Exam</a:t>
            </a:r>
            <a:r>
              <a:rPr lang="en-US" sz="1600" baseline="-25000" dirty="0">
                <a:latin typeface="Calibri" pitchFamily="34" charset="0"/>
              </a:rPr>
              <a:t> </a:t>
            </a:r>
            <a:r>
              <a:rPr lang="en-US" sz="1600" kern="0" dirty="0">
                <a:latin typeface="Calibri" pitchFamily="34" charset="0"/>
                <a:ea typeface="Calibri" pitchFamily="34" charset="0"/>
                <a:cs typeface="Calibri" pitchFamily="34" charset="0"/>
              </a:rPr>
              <a:t>=1</a:t>
            </a:r>
            <a:r>
              <a:rPr lang="en-US" sz="1600" i="1" dirty="0">
                <a:sym typeface="Symbol"/>
              </a:rPr>
              <a:t> </a:t>
            </a:r>
            <a:r>
              <a:rPr lang="en-US" sz="1600" baseline="-25000" dirty="0" err="1">
                <a:latin typeface="Calibri" pitchFamily="34" charset="0"/>
                <a:sym typeface="Symbol"/>
              </a:rPr>
              <a:t>Reg</a:t>
            </a:r>
            <a:r>
              <a:rPr lang="en-US" sz="1600" baseline="-25000" dirty="0">
                <a:latin typeface="Calibri" pitchFamily="34" charset="0"/>
              </a:rPr>
              <a:t> </a:t>
            </a:r>
            <a:r>
              <a:rPr lang="en-US" sz="1600" kern="0" dirty="0">
                <a:latin typeface="Calibri" pitchFamily="34" charset="0"/>
                <a:ea typeface="Calibri" pitchFamily="34" charset="0"/>
                <a:cs typeface="Calibri" pitchFamily="34" charset="0"/>
              </a:rPr>
              <a:t>= 0.9</a:t>
            </a:r>
            <a:r>
              <a:rPr lang="en-US" sz="1600" i="1" dirty="0">
                <a:sym typeface="Symbol"/>
              </a:rPr>
              <a:t></a:t>
            </a:r>
            <a:r>
              <a:rPr lang="en-US" sz="1600" baseline="-25000" dirty="0">
                <a:latin typeface="Calibri" pitchFamily="34" charset="0"/>
              </a:rPr>
              <a:t>SignIn</a:t>
            </a:r>
            <a:endParaRPr lang="en-US" sz="1600" kern="0" dirty="0">
              <a:latin typeface="Calibri" pitchFamily="34" charset="0"/>
              <a:cs typeface="Calibri" pitchFamily="34" charset="0"/>
            </a:endParaRPr>
          </a:p>
          <a:p>
            <a:pPr marL="342900" indent="-342900" eaLnBrk="0" hangingPunct="0">
              <a:spcBef>
                <a:spcPts val="1200"/>
              </a:spcBef>
              <a:buFont typeface="Arial" panose="020B0604020202020204" pitchFamily="34" charset="0"/>
              <a:buChar char="•"/>
              <a:defRPr/>
            </a:pPr>
            <a:r>
              <a:rPr lang="en-US" sz="1600" kern="0" dirty="0">
                <a:latin typeface="Calibri" pitchFamily="34" charset="0"/>
                <a:ea typeface="Calibri" pitchFamily="34" charset="0"/>
                <a:cs typeface="Calibri" pitchFamily="34" charset="0"/>
              </a:rPr>
              <a:t>Treatment Rooms: </a:t>
            </a:r>
            <a:r>
              <a:rPr lang="en-US" sz="1600" i="1" kern="0" dirty="0">
                <a:latin typeface="Calibri" pitchFamily="34" charset="0"/>
                <a:ea typeface="Calibri" pitchFamily="34" charset="0"/>
                <a:cs typeface="Calibri" pitchFamily="34" charset="0"/>
              </a:rPr>
              <a:t>M</a:t>
            </a:r>
            <a:r>
              <a:rPr lang="en-US" sz="1600" kern="0" dirty="0">
                <a:latin typeface="Calibri" pitchFamily="34" charset="0"/>
                <a:ea typeface="Calibri" pitchFamily="34" charset="0"/>
                <a:cs typeface="Calibri" pitchFamily="34" charset="0"/>
              </a:rPr>
              <a:t>/</a:t>
            </a:r>
            <a:r>
              <a:rPr lang="en-US" sz="1600" i="1" kern="0" dirty="0">
                <a:latin typeface="Calibri" pitchFamily="34" charset="0"/>
                <a:ea typeface="Calibri" pitchFamily="34" charset="0"/>
                <a:cs typeface="Calibri" pitchFamily="34" charset="0"/>
              </a:rPr>
              <a:t>M</a:t>
            </a:r>
            <a:r>
              <a:rPr lang="en-US" sz="1600" kern="0" dirty="0">
                <a:latin typeface="Calibri" pitchFamily="34" charset="0"/>
                <a:ea typeface="Calibri" pitchFamily="34" charset="0"/>
                <a:cs typeface="Calibri" pitchFamily="34" charset="0"/>
              </a:rPr>
              <a:t>/2, arrival rate </a:t>
            </a:r>
            <a:r>
              <a:rPr lang="en-US" sz="1600" i="1" dirty="0">
                <a:sym typeface="Symbol"/>
              </a:rPr>
              <a:t></a:t>
            </a:r>
            <a:r>
              <a:rPr lang="en-US" sz="1600" baseline="-25000" dirty="0">
                <a:latin typeface="Calibri" pitchFamily="34" charset="0"/>
                <a:sym typeface="Symbol"/>
              </a:rPr>
              <a:t>Treat</a:t>
            </a:r>
            <a:r>
              <a:rPr lang="en-US" sz="1600" baseline="-25000" dirty="0">
                <a:latin typeface="Calibri" pitchFamily="34" charset="0"/>
              </a:rPr>
              <a:t> </a:t>
            </a:r>
            <a:endParaRPr lang="en-US" sz="1600" kern="0" dirty="0">
              <a:latin typeface="Calibri" pitchFamily="34" charset="0"/>
              <a:ea typeface="Calibri" pitchFamily="34" charset="0"/>
              <a:cs typeface="Calibri" pitchFamily="34" charset="0"/>
            </a:endParaRPr>
          </a:p>
          <a:p>
            <a:pPr eaLnBrk="0" hangingPunct="0">
              <a:spcBef>
                <a:spcPts val="1200"/>
              </a:spcBef>
              <a:defRPr/>
            </a:pPr>
            <a:r>
              <a:rPr lang="en-US" sz="1600" i="1" dirty="0">
                <a:sym typeface="Symbol"/>
              </a:rPr>
              <a:t></a:t>
            </a:r>
            <a:r>
              <a:rPr lang="en-US" sz="1600" baseline="-25000" dirty="0">
                <a:latin typeface="Calibri" pitchFamily="34" charset="0"/>
                <a:sym typeface="Symbol"/>
              </a:rPr>
              <a:t>Treat</a:t>
            </a:r>
            <a:r>
              <a:rPr lang="en-US" sz="1600" baseline="-25000" dirty="0">
                <a:latin typeface="Calibri" pitchFamily="34" charset="0"/>
              </a:rPr>
              <a:t> </a:t>
            </a:r>
            <a:r>
              <a:rPr lang="en-US" sz="1600" kern="0" dirty="0">
                <a:latin typeface="Calibri" pitchFamily="34" charset="0"/>
                <a:ea typeface="Calibri" pitchFamily="34" charset="0"/>
                <a:cs typeface="Calibri" pitchFamily="34" charset="0"/>
              </a:rPr>
              <a:t>=1</a:t>
            </a:r>
            <a:r>
              <a:rPr lang="en-US" sz="1600" i="1" dirty="0">
                <a:sym typeface="Symbol"/>
              </a:rPr>
              <a:t> </a:t>
            </a:r>
            <a:r>
              <a:rPr lang="en-US" sz="1600" baseline="-25000" dirty="0">
                <a:latin typeface="Calibri" pitchFamily="34" charset="0"/>
                <a:sym typeface="Symbol"/>
              </a:rPr>
              <a:t>Trauma</a:t>
            </a:r>
            <a:r>
              <a:rPr lang="en-US" sz="1600" kern="0" dirty="0">
                <a:latin typeface="Calibri" pitchFamily="34" charset="0"/>
                <a:ea typeface="Calibri" pitchFamily="34" charset="0"/>
                <a:cs typeface="Calibri" pitchFamily="34" charset="0"/>
              </a:rPr>
              <a:t>+0.6</a:t>
            </a:r>
            <a:r>
              <a:rPr lang="en-US" sz="1600" i="1" dirty="0">
                <a:sym typeface="Symbol"/>
              </a:rPr>
              <a:t></a:t>
            </a:r>
            <a:r>
              <a:rPr lang="en-US" sz="1600" baseline="-25000" dirty="0">
                <a:latin typeface="Calibri" pitchFamily="34" charset="0"/>
              </a:rPr>
              <a:t>Exam</a:t>
            </a:r>
            <a:r>
              <a:rPr lang="en-US" sz="1600" kern="0" dirty="0">
                <a:latin typeface="Calibri" pitchFamily="34" charset="0"/>
                <a:ea typeface="Calibri" pitchFamily="34" charset="0"/>
                <a:cs typeface="Calibri" pitchFamily="34" charset="0"/>
              </a:rPr>
              <a:t>   = 0.1</a:t>
            </a:r>
            <a:r>
              <a:rPr lang="en-US" sz="1600" i="1" dirty="0">
                <a:sym typeface="Symbol"/>
              </a:rPr>
              <a:t></a:t>
            </a:r>
            <a:r>
              <a:rPr lang="en-US" sz="1600" baseline="-25000" dirty="0">
                <a:latin typeface="Calibri" pitchFamily="34" charset="0"/>
              </a:rPr>
              <a:t>SignIn</a:t>
            </a:r>
            <a:r>
              <a:rPr lang="en-US" sz="1600" kern="0" dirty="0">
                <a:latin typeface="Calibri" pitchFamily="34" charset="0"/>
                <a:ea typeface="Calibri" pitchFamily="34" charset="0"/>
                <a:cs typeface="Calibri" pitchFamily="34" charset="0"/>
              </a:rPr>
              <a:t>+(0.6)(0.9) </a:t>
            </a:r>
            <a:r>
              <a:rPr lang="en-US" sz="1400" i="1" dirty="0">
                <a:sym typeface="Symbol"/>
              </a:rPr>
              <a:t></a:t>
            </a:r>
            <a:r>
              <a:rPr lang="en-US" sz="1400" baseline="-25000" dirty="0" err="1">
                <a:latin typeface="Calibri" pitchFamily="34" charset="0"/>
              </a:rPr>
              <a:t>SignIn</a:t>
            </a:r>
            <a:r>
              <a:rPr lang="en-US" sz="1400" kern="0" dirty="0">
                <a:latin typeface="Calibri" pitchFamily="34" charset="0"/>
                <a:ea typeface="Calibri" pitchFamily="34" charset="0"/>
                <a:cs typeface="Calibri" pitchFamily="34" charset="0"/>
              </a:rPr>
              <a:t> =0.64</a:t>
            </a:r>
            <a:r>
              <a:rPr lang="en-US" sz="1400" i="1" dirty="0">
                <a:sym typeface="Symbol"/>
              </a:rPr>
              <a:t> </a:t>
            </a:r>
            <a:r>
              <a:rPr lang="en-US" sz="1400" baseline="-25000" dirty="0" err="1">
                <a:latin typeface="Calibri" pitchFamily="34" charset="0"/>
                <a:sym typeface="Symbol"/>
              </a:rPr>
              <a:t>Reg</a:t>
            </a:r>
            <a:r>
              <a:rPr lang="en-US" sz="1400" baseline="-25000" dirty="0">
                <a:latin typeface="Calibri" pitchFamily="34" charset="0"/>
              </a:rPr>
              <a:t> </a:t>
            </a:r>
            <a:endParaRPr lang="en-US" sz="1400" kern="0" dirty="0">
              <a:latin typeface="Calibri" pitchFamily="34" charset="0"/>
              <a:ea typeface="Calibri" pitchFamily="34" charset="0"/>
              <a:cs typeface="Calibri" pitchFamily="34" charset="0"/>
            </a:endParaRPr>
          </a:p>
        </p:txBody>
      </p:sp>
    </p:spTree>
    <p:extLst>
      <p:ext uri="{BB962C8B-B14F-4D97-AF65-F5344CB8AC3E}">
        <p14:creationId xmlns:p14="http://schemas.microsoft.com/office/powerpoint/2010/main" val="3730183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Queueing Networks</a:t>
            </a:r>
          </a:p>
        </p:txBody>
      </p:sp>
      <p:sp>
        <p:nvSpPr>
          <p:cNvPr id="3" name="Content Placeholder 2"/>
          <p:cNvSpPr>
            <a:spLocks noGrp="1"/>
          </p:cNvSpPr>
          <p:nvPr>
            <p:ph idx="1"/>
          </p:nvPr>
        </p:nvSpPr>
        <p:spPr>
          <a:xfrm>
            <a:off x="355002" y="1312433"/>
            <a:ext cx="11478410" cy="4864530"/>
          </a:xfrm>
        </p:spPr>
        <p:txBody>
          <a:bodyPr>
            <a:normAutofit/>
          </a:bodyPr>
          <a:lstStyle/>
          <a:p>
            <a:r>
              <a:rPr lang="en-US" sz="2400" dirty="0"/>
              <a:t>A small Jackson Network example:</a:t>
            </a:r>
            <a:endParaRPr lang="en-US" dirty="0"/>
          </a:p>
          <a:p>
            <a:pPr lvl="1"/>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6293" y="1658884"/>
            <a:ext cx="5487865" cy="2715769"/>
          </a:xfrm>
          <a:prstGeom prst="rect">
            <a:avLst/>
          </a:prstGeom>
        </p:spPr>
      </p:pic>
      <p:pic>
        <p:nvPicPr>
          <p:cNvPr id="9" name="Picture 8"/>
          <p:cNvPicPr>
            <a:picLocks noChangeAspect="1"/>
          </p:cNvPicPr>
          <p:nvPr/>
        </p:nvPicPr>
        <p:blipFill>
          <a:blip r:embed="rId3"/>
          <a:stretch>
            <a:fillRect/>
          </a:stretch>
        </p:blipFill>
        <p:spPr>
          <a:xfrm>
            <a:off x="7174522" y="1658884"/>
            <a:ext cx="2851017" cy="2416379"/>
          </a:xfrm>
          <a:prstGeom prst="rect">
            <a:avLst/>
          </a:prstGeom>
        </p:spPr>
      </p:pic>
      <p:pic>
        <p:nvPicPr>
          <p:cNvPr id="4" name="Picture 3"/>
          <p:cNvPicPr>
            <a:picLocks noChangeAspect="1"/>
          </p:cNvPicPr>
          <p:nvPr/>
        </p:nvPicPr>
        <p:blipFill>
          <a:blip r:embed="rId4"/>
          <a:stretch>
            <a:fillRect/>
          </a:stretch>
        </p:blipFill>
        <p:spPr>
          <a:xfrm>
            <a:off x="280354" y="4584185"/>
            <a:ext cx="5276850" cy="1838325"/>
          </a:xfrm>
          <a:prstGeom prst="rect">
            <a:avLst/>
          </a:prstGeom>
        </p:spPr>
      </p:pic>
      <p:pic>
        <p:nvPicPr>
          <p:cNvPr id="10" name="Picture 9"/>
          <p:cNvPicPr>
            <a:picLocks noChangeAspect="1"/>
          </p:cNvPicPr>
          <p:nvPr/>
        </p:nvPicPr>
        <p:blipFill>
          <a:blip r:embed="rId5"/>
          <a:stretch>
            <a:fillRect/>
          </a:stretch>
        </p:blipFill>
        <p:spPr>
          <a:xfrm>
            <a:off x="5474301" y="4421714"/>
            <a:ext cx="2260643" cy="2051738"/>
          </a:xfrm>
          <a:prstGeom prst="rect">
            <a:avLst/>
          </a:prstGeom>
        </p:spPr>
      </p:pic>
      <p:sp>
        <p:nvSpPr>
          <p:cNvPr id="5" name="Rectangular Callout 4"/>
          <p:cNvSpPr/>
          <p:nvPr/>
        </p:nvSpPr>
        <p:spPr>
          <a:xfrm>
            <a:off x="8382553" y="4112025"/>
            <a:ext cx="2803249" cy="619378"/>
          </a:xfrm>
          <a:prstGeom prst="wedgeRectCallout">
            <a:avLst>
              <a:gd name="adj1" fmla="val -84210"/>
              <a:gd name="adj2" fmla="val 87106"/>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Overall expected number of customers in the system</a:t>
            </a:r>
          </a:p>
        </p:txBody>
      </p:sp>
      <p:sp>
        <p:nvSpPr>
          <p:cNvPr id="11" name="Rectangular Callout 10"/>
          <p:cNvSpPr/>
          <p:nvPr/>
        </p:nvSpPr>
        <p:spPr>
          <a:xfrm>
            <a:off x="8269451" y="5005949"/>
            <a:ext cx="3793595" cy="1690877"/>
          </a:xfrm>
          <a:prstGeom prst="wedgeRectCallout">
            <a:avLst>
              <a:gd name="adj1" fmla="val -67427"/>
              <a:gd name="adj2" fmla="val 1501"/>
            </a:avLst>
          </a:prstGeom>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Expected amount of time a customer spends in the overall system </a:t>
            </a:r>
          </a:p>
          <a:p>
            <a:pPr algn="ctr"/>
            <a:r>
              <a:rPr lang="en-US" dirty="0"/>
              <a:t>Recall </a:t>
            </a:r>
            <a:r>
              <a:rPr lang="en-US" i="1" dirty="0"/>
              <a:t>L</a:t>
            </a:r>
            <a:r>
              <a:rPr lang="en-US" dirty="0"/>
              <a:t> = </a:t>
            </a:r>
            <a:r>
              <a:rPr lang="en-US" dirty="0" err="1">
                <a:latin typeface="Symbol" pitchFamily="18" charset="2"/>
              </a:rPr>
              <a:t>l</a:t>
            </a:r>
            <a:r>
              <a:rPr lang="en-US" i="1" dirty="0" err="1"/>
              <a:t>W</a:t>
            </a:r>
            <a:r>
              <a:rPr lang="en-US" i="1" dirty="0"/>
              <a:t>  </a:t>
            </a:r>
            <a:r>
              <a:rPr lang="en-US" dirty="0"/>
              <a:t>where</a:t>
            </a:r>
            <a:r>
              <a:rPr lang="en-US" i="1" dirty="0"/>
              <a:t> </a:t>
            </a:r>
            <a:r>
              <a:rPr lang="en-US" dirty="0">
                <a:latin typeface="Symbol" pitchFamily="18" charset="2"/>
              </a:rPr>
              <a:t>l</a:t>
            </a:r>
            <a:r>
              <a:rPr lang="en-US" i="1" dirty="0"/>
              <a:t> </a:t>
            </a:r>
            <a:r>
              <a:rPr lang="en-US" dirty="0"/>
              <a:t>is the total arrival rate to the network (not individual stations), and here,                  it is </a:t>
            </a:r>
            <a:r>
              <a:rPr lang="en-US" dirty="0">
                <a:latin typeface="Symbol" pitchFamily="18" charset="2"/>
              </a:rPr>
              <a:t>l</a:t>
            </a:r>
            <a:r>
              <a:rPr lang="en-US" i="1" dirty="0"/>
              <a:t>=</a:t>
            </a:r>
            <a:r>
              <a:rPr lang="en-US" dirty="0">
                <a:latin typeface="Symbol" pitchFamily="18" charset="2"/>
              </a:rPr>
              <a:t> l</a:t>
            </a:r>
            <a:r>
              <a:rPr lang="en-US" baseline="-25000" dirty="0">
                <a:latin typeface="Symbol" pitchFamily="18" charset="2"/>
              </a:rPr>
              <a:t>1</a:t>
            </a:r>
            <a:r>
              <a:rPr lang="en-US" i="1" dirty="0"/>
              <a:t>+</a:t>
            </a:r>
            <a:r>
              <a:rPr lang="en-US" dirty="0">
                <a:latin typeface="Symbol" pitchFamily="18" charset="2"/>
              </a:rPr>
              <a:t> l</a:t>
            </a:r>
            <a:r>
              <a:rPr lang="en-US" baseline="-25000" dirty="0">
                <a:latin typeface="Symbol" pitchFamily="18" charset="2"/>
              </a:rPr>
              <a:t>2</a:t>
            </a:r>
            <a:endParaRPr lang="en-US" baseline="-25000" dirty="0"/>
          </a:p>
        </p:txBody>
      </p:sp>
      <p:sp>
        <p:nvSpPr>
          <p:cNvPr id="12" name="Rectangular Callout 11"/>
          <p:cNvSpPr/>
          <p:nvPr/>
        </p:nvSpPr>
        <p:spPr>
          <a:xfrm>
            <a:off x="9917722" y="1684273"/>
            <a:ext cx="2145323" cy="451270"/>
          </a:xfrm>
          <a:prstGeom prst="wedgeRectCallout">
            <a:avLst>
              <a:gd name="adj1" fmla="val -43022"/>
              <a:gd name="adj2" fmla="val 17582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l-GR" sz="1600" dirty="0"/>
              <a:t>λ</a:t>
            </a:r>
            <a:r>
              <a:rPr lang="en-US" sz="1600" baseline="-25000" dirty="0"/>
              <a:t>3</a:t>
            </a:r>
            <a:r>
              <a:rPr lang="en-US" sz="1600" dirty="0"/>
              <a:t>=0.3</a:t>
            </a:r>
            <a:r>
              <a:rPr lang="el-GR" sz="1600" dirty="0"/>
              <a:t> λ</a:t>
            </a:r>
            <a:r>
              <a:rPr lang="en-US" sz="1600" baseline="-25000" dirty="0"/>
              <a:t>1</a:t>
            </a:r>
            <a:r>
              <a:rPr lang="en-US" sz="1600" dirty="0"/>
              <a:t>+0.2</a:t>
            </a:r>
            <a:r>
              <a:rPr lang="el-GR" sz="1600" dirty="0"/>
              <a:t> λ</a:t>
            </a:r>
            <a:r>
              <a:rPr lang="en-US" sz="1600" baseline="-25000" dirty="0"/>
              <a:t>2</a:t>
            </a:r>
            <a:r>
              <a:rPr lang="en-US" sz="1600" dirty="0"/>
              <a:t>+0.1</a:t>
            </a:r>
            <a:r>
              <a:rPr lang="el-GR" sz="1600" dirty="0"/>
              <a:t> λ</a:t>
            </a:r>
            <a:r>
              <a:rPr lang="en-US" sz="1600" baseline="-25000" dirty="0"/>
              <a:t>3</a:t>
            </a:r>
            <a:r>
              <a:rPr lang="en-US" sz="1600" dirty="0"/>
              <a:t> </a:t>
            </a:r>
          </a:p>
        </p:txBody>
      </p:sp>
    </p:spTree>
    <p:extLst>
      <p:ext uri="{BB962C8B-B14F-4D97-AF65-F5344CB8AC3E}">
        <p14:creationId xmlns:p14="http://schemas.microsoft.com/office/powerpoint/2010/main" val="276723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and Key Insights</a:t>
            </a:r>
          </a:p>
        </p:txBody>
      </p:sp>
      <p:sp>
        <p:nvSpPr>
          <p:cNvPr id="3" name="Content Placeholder 2"/>
          <p:cNvSpPr>
            <a:spLocks noGrp="1"/>
          </p:cNvSpPr>
          <p:nvPr>
            <p:ph idx="1"/>
          </p:nvPr>
        </p:nvSpPr>
        <p:spPr>
          <a:xfrm>
            <a:off x="355002" y="1312433"/>
            <a:ext cx="11478410" cy="4864530"/>
          </a:xfrm>
        </p:spPr>
        <p:txBody>
          <a:bodyPr>
            <a:normAutofit/>
          </a:bodyPr>
          <a:lstStyle/>
          <a:p>
            <a:r>
              <a:rPr lang="en-US" sz="2400" dirty="0">
                <a:solidFill>
                  <a:srgbClr val="C00000"/>
                </a:solidFill>
              </a:rPr>
              <a:t>Economic Analyses: </a:t>
            </a:r>
            <a:r>
              <a:rPr lang="en-US" sz="2000" dirty="0"/>
              <a:t>Customer costs, server costs, average system profit/cost</a:t>
            </a:r>
          </a:p>
          <a:p>
            <a:r>
              <a:rPr lang="en-US" sz="2400" dirty="0">
                <a:solidFill>
                  <a:srgbClr val="C00000"/>
                </a:solidFill>
              </a:rPr>
              <a:t>Systematic Analyses: </a:t>
            </a:r>
            <a:r>
              <a:rPr lang="en-US" sz="2000" dirty="0"/>
              <a:t>Some standards, service goals/levels</a:t>
            </a:r>
          </a:p>
          <a:p>
            <a:r>
              <a:rPr lang="en-US" sz="2400" dirty="0">
                <a:solidFill>
                  <a:srgbClr val="C00000"/>
                </a:solidFill>
              </a:rPr>
              <a:t>Priority queues: </a:t>
            </a:r>
            <a:r>
              <a:rPr lang="en-US" sz="2000" dirty="0"/>
              <a:t>Preemptive vs. </a:t>
            </a:r>
            <a:r>
              <a:rPr lang="en-US" sz="2000" dirty="0" err="1"/>
              <a:t>Nonpreemptive</a:t>
            </a:r>
            <a:endParaRPr lang="en-US" sz="2000" dirty="0"/>
          </a:p>
          <a:p>
            <a:r>
              <a:rPr lang="en-US" sz="2400" dirty="0">
                <a:solidFill>
                  <a:srgbClr val="C00000"/>
                </a:solidFill>
              </a:rPr>
              <a:t>Queueing Networks: </a:t>
            </a:r>
            <a:r>
              <a:rPr lang="en-US" sz="2000" dirty="0"/>
              <a:t>Each node is a queueing system by itself</a:t>
            </a:r>
          </a:p>
          <a:p>
            <a:pPr lvl="1"/>
            <a:r>
              <a:rPr lang="en-US" sz="2000" dirty="0"/>
              <a:t>When each node is M/M/c, then we have Jackson Network</a:t>
            </a:r>
          </a:p>
          <a:p>
            <a:pPr lvl="1"/>
            <a:r>
              <a:rPr lang="en-US" sz="2000" dirty="0"/>
              <a:t>Little’s Law still applies!</a:t>
            </a:r>
          </a:p>
          <a:p>
            <a:r>
              <a:rPr lang="en-US" sz="2400" dirty="0"/>
              <a:t>Key Insights:</a:t>
            </a:r>
          </a:p>
          <a:p>
            <a:pPr lvl="1"/>
            <a:r>
              <a:rPr lang="en-US" sz="2000" dirty="0"/>
              <a:t>Elements and processes in a system: understanding the system definition</a:t>
            </a:r>
          </a:p>
          <a:p>
            <a:pPr lvl="1"/>
            <a:r>
              <a:rPr lang="en-US" sz="2000" dirty="0"/>
              <a:t>Key performance measures and their relations, Little’s law</a:t>
            </a:r>
          </a:p>
          <a:p>
            <a:pPr lvl="1"/>
            <a:r>
              <a:rPr lang="en-US" sz="2000" dirty="0"/>
              <a:t>Various systems have varying characteristics</a:t>
            </a:r>
          </a:p>
          <a:p>
            <a:pPr lvl="1"/>
            <a:r>
              <a:rPr lang="en-US" sz="2000" dirty="0"/>
              <a:t>Server utilization is very important for performance</a:t>
            </a:r>
          </a:p>
          <a:p>
            <a:pPr lvl="1"/>
            <a:r>
              <a:rPr lang="en-US" sz="2000" dirty="0"/>
              <a:t>Pooling servers can </a:t>
            </a:r>
            <a:r>
              <a:rPr lang="en-US" sz="2000"/>
              <a:t>improve performance</a:t>
            </a:r>
            <a:endParaRPr lang="en-US" sz="2000" dirty="0"/>
          </a:p>
        </p:txBody>
      </p:sp>
    </p:spTree>
    <p:extLst>
      <p:ext uri="{BB962C8B-B14F-4D97-AF65-F5344CB8AC3E}">
        <p14:creationId xmlns:p14="http://schemas.microsoft.com/office/powerpoint/2010/main" val="3563484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13395</TotalTime>
  <Words>4807</Words>
  <Application>Microsoft Office PowerPoint</Application>
  <PresentationFormat>Widescreen</PresentationFormat>
  <Paragraphs>409</Paragraphs>
  <Slides>35</Slides>
  <Notes>6</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QMST 5335 Module 2.2 Queueing Analyses, Cases, and More </vt:lpstr>
      <vt:lpstr>Learning Objectives:</vt:lpstr>
      <vt:lpstr>Outline</vt:lpstr>
      <vt:lpstr>Outline</vt:lpstr>
      <vt:lpstr>Evaluating Queueing Systems</vt:lpstr>
      <vt:lpstr>Evaluating Queueing Systems</vt:lpstr>
      <vt:lpstr>Evaluating Queueing Systems</vt:lpstr>
      <vt:lpstr>Evaluating Queueing Systems</vt:lpstr>
      <vt:lpstr>Evaluating Queueing Systems</vt:lpstr>
      <vt:lpstr>Outline</vt:lpstr>
      <vt:lpstr>Case Study – Systematic Analyses</vt:lpstr>
      <vt:lpstr>Case Study – Systematic Analyses</vt:lpstr>
      <vt:lpstr>Case Study – Systematic Analyses</vt:lpstr>
      <vt:lpstr>Case Study – Systematic Analyses</vt:lpstr>
      <vt:lpstr>Case Study – Systematic Analyses</vt:lpstr>
      <vt:lpstr>Case Study – Systematic Analyses</vt:lpstr>
      <vt:lpstr>Case Study – Systematic Analyses</vt:lpstr>
      <vt:lpstr>Case Study – Systematic Analyses</vt:lpstr>
      <vt:lpstr>Case Study – Systematic Analyses</vt:lpstr>
      <vt:lpstr>Case Study – Systematic Analyses</vt:lpstr>
      <vt:lpstr>Case Study – Economic Analyses</vt:lpstr>
      <vt:lpstr>Case Study – Economic Analyses</vt:lpstr>
      <vt:lpstr>Case Study – Economic Analyses</vt:lpstr>
      <vt:lpstr>Case Study – Economic Analyses</vt:lpstr>
      <vt:lpstr>Case Study – Economic Analyses</vt:lpstr>
      <vt:lpstr>Case Study – Economic Analyses</vt:lpstr>
      <vt:lpstr>Outline</vt:lpstr>
      <vt:lpstr>Priority Queues</vt:lpstr>
      <vt:lpstr>Priority Queues</vt:lpstr>
      <vt:lpstr>Priority Queues</vt:lpstr>
      <vt:lpstr>Priority Queues</vt:lpstr>
      <vt:lpstr>Queueing Networks</vt:lpstr>
      <vt:lpstr>Queueing Networks</vt:lpstr>
      <vt:lpstr>Queueing Networks</vt:lpstr>
      <vt:lpstr>Review and Key Insights</vt:lpstr>
    </vt:vector>
  </TitlesOfParts>
  <Company>Missouri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Konur, Dincer</dc:creator>
  <cp:lastModifiedBy>Sahika Sahan Konur</cp:lastModifiedBy>
  <cp:revision>660</cp:revision>
  <dcterms:created xsi:type="dcterms:W3CDTF">2018-08-17T02:14:39Z</dcterms:created>
  <dcterms:modified xsi:type="dcterms:W3CDTF">2024-10-28T21:47:22Z</dcterms:modified>
</cp:coreProperties>
</file>