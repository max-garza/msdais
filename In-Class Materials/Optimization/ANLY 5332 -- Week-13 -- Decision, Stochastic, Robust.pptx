
<file path=[Content_Types].xml><?xml version="1.0" encoding="utf-8"?>
<Types xmlns="http://schemas.openxmlformats.org/package/2006/content-types">
  <Default Extension="bin" ContentType="application/vnd.openxmlformats-officedocument.oleObject"/>
  <Default Extension="emf" ContentType="image/x-emf"/>
  <Default Extension="gif" ContentType="image/gif"/>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76"/>
  </p:notesMasterIdLst>
  <p:sldIdLst>
    <p:sldId id="701" r:id="rId2"/>
    <p:sldId id="260" r:id="rId3"/>
    <p:sldId id="765" r:id="rId4"/>
    <p:sldId id="644" r:id="rId5"/>
    <p:sldId id="705" r:id="rId6"/>
    <p:sldId id="706" r:id="rId7"/>
    <p:sldId id="707" r:id="rId8"/>
    <p:sldId id="708" r:id="rId9"/>
    <p:sldId id="709" r:id="rId10"/>
    <p:sldId id="710" r:id="rId11"/>
    <p:sldId id="711" r:id="rId12"/>
    <p:sldId id="712" r:id="rId13"/>
    <p:sldId id="713" r:id="rId14"/>
    <p:sldId id="714" r:id="rId15"/>
    <p:sldId id="715" r:id="rId16"/>
    <p:sldId id="716" r:id="rId17"/>
    <p:sldId id="717" r:id="rId18"/>
    <p:sldId id="718" r:id="rId19"/>
    <p:sldId id="719" r:id="rId20"/>
    <p:sldId id="720" r:id="rId21"/>
    <p:sldId id="721" r:id="rId22"/>
    <p:sldId id="722" r:id="rId23"/>
    <p:sldId id="723" r:id="rId24"/>
    <p:sldId id="724" r:id="rId25"/>
    <p:sldId id="766" r:id="rId26"/>
    <p:sldId id="726" r:id="rId27"/>
    <p:sldId id="727" r:id="rId28"/>
    <p:sldId id="728" r:id="rId29"/>
    <p:sldId id="729" r:id="rId30"/>
    <p:sldId id="730" r:id="rId31"/>
    <p:sldId id="731" r:id="rId32"/>
    <p:sldId id="732" r:id="rId33"/>
    <p:sldId id="733" r:id="rId34"/>
    <p:sldId id="734" r:id="rId35"/>
    <p:sldId id="735" r:id="rId36"/>
    <p:sldId id="767" r:id="rId37"/>
    <p:sldId id="737" r:id="rId38"/>
    <p:sldId id="738" r:id="rId39"/>
    <p:sldId id="739" r:id="rId40"/>
    <p:sldId id="740" r:id="rId41"/>
    <p:sldId id="768" r:id="rId42"/>
    <p:sldId id="746" r:id="rId43"/>
    <p:sldId id="747" r:id="rId44"/>
    <p:sldId id="751" r:id="rId45"/>
    <p:sldId id="748" r:id="rId46"/>
    <p:sldId id="749" r:id="rId47"/>
    <p:sldId id="752" r:id="rId48"/>
    <p:sldId id="750" r:id="rId49"/>
    <p:sldId id="753" r:id="rId50"/>
    <p:sldId id="754" r:id="rId51"/>
    <p:sldId id="755" r:id="rId52"/>
    <p:sldId id="756" r:id="rId53"/>
    <p:sldId id="757" r:id="rId54"/>
    <p:sldId id="769" r:id="rId55"/>
    <p:sldId id="758" r:id="rId56"/>
    <p:sldId id="760" r:id="rId57"/>
    <p:sldId id="759" r:id="rId58"/>
    <p:sldId id="762" r:id="rId59"/>
    <p:sldId id="763" r:id="rId60"/>
    <p:sldId id="764" r:id="rId61"/>
    <p:sldId id="770" r:id="rId62"/>
    <p:sldId id="743" r:id="rId63"/>
    <p:sldId id="471" r:id="rId64"/>
    <p:sldId id="472" r:id="rId65"/>
    <p:sldId id="473" r:id="rId66"/>
    <p:sldId id="474" r:id="rId67"/>
    <p:sldId id="476" r:id="rId68"/>
    <p:sldId id="477" r:id="rId69"/>
    <p:sldId id="479" r:id="rId70"/>
    <p:sldId id="480" r:id="rId71"/>
    <p:sldId id="482" r:id="rId72"/>
    <p:sldId id="483" r:id="rId73"/>
    <p:sldId id="485" r:id="rId74"/>
    <p:sldId id="487" r:id="rId75"/>
  </p:sldIdLst>
  <p:sldSz cx="12192000" cy="6858000"/>
  <p:notesSz cx="7011988" cy="9297988"/>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77D6B"/>
    <a:srgbClr val="FF99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E93582A-2AB3-48F4-94B8-FF2BCBDDED7B}" v="9" dt="2023-11-13T16:31:42.47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107" autoAdjust="0"/>
    <p:restoredTop sz="84354" autoAdjust="0"/>
  </p:normalViewPr>
  <p:slideViewPr>
    <p:cSldViewPr snapToGrid="0">
      <p:cViewPr varScale="1">
        <p:scale>
          <a:sx n="107" d="100"/>
          <a:sy n="107" d="100"/>
        </p:scale>
        <p:origin x="1376" y="16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theme" Target="theme/theme1.xml"/><Relationship Id="rId5" Type="http://schemas.openxmlformats.org/officeDocument/2006/relationships/slide" Target="slides/slide4.xml"/><Relationship Id="rId61" Type="http://schemas.openxmlformats.org/officeDocument/2006/relationships/slide" Target="slides/slide60.xml"/><Relationship Id="rId82" Type="http://schemas.microsoft.com/office/2015/10/relationships/revisionInfo" Target="revisionInfo.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viewProps" Target="viewProps.xml"/><Relationship Id="rId81"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notesMaster" Target="notesMasters/notesMaster1.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ahan Konur, Sahika" userId="739a6e03-9a4a-49c6-a350-571b31db94be" providerId="ADAL" clId="{7E93582A-2AB3-48F4-94B8-FF2BCBDDED7B}"/>
    <pc:docChg chg="modSld modNotesMaster">
      <pc:chgData name="Sahan Konur, Sahika" userId="739a6e03-9a4a-49c6-a350-571b31db94be" providerId="ADAL" clId="{7E93582A-2AB3-48F4-94B8-FF2BCBDDED7B}" dt="2023-11-13T16:31:42.474" v="13" actId="20577"/>
      <pc:docMkLst>
        <pc:docMk/>
      </pc:docMkLst>
      <pc:sldChg chg="modSp mod">
        <pc:chgData name="Sahan Konur, Sahika" userId="739a6e03-9a4a-49c6-a350-571b31db94be" providerId="ADAL" clId="{7E93582A-2AB3-48F4-94B8-FF2BCBDDED7B}" dt="2023-11-13T16:13:10.769" v="5" actId="20577"/>
        <pc:sldMkLst>
          <pc:docMk/>
          <pc:sldMk cId="4020735148" sldId="721"/>
        </pc:sldMkLst>
        <pc:graphicFrameChg chg="modGraphic">
          <ac:chgData name="Sahan Konur, Sahika" userId="739a6e03-9a4a-49c6-a350-571b31db94be" providerId="ADAL" clId="{7E93582A-2AB3-48F4-94B8-FF2BCBDDED7B}" dt="2023-11-13T16:13:10.769" v="5" actId="20577"/>
          <ac:graphicFrameMkLst>
            <pc:docMk/>
            <pc:sldMk cId="4020735148" sldId="721"/>
            <ac:graphicFrameMk id="8" creationId="{56FF57EB-7478-447A-AD74-A5B550F705F2}"/>
          </ac:graphicFrameMkLst>
        </pc:graphicFrameChg>
      </pc:sldChg>
      <pc:sldChg chg="modSp">
        <pc:chgData name="Sahan Konur, Sahika" userId="739a6e03-9a4a-49c6-a350-571b31db94be" providerId="ADAL" clId="{7E93582A-2AB3-48F4-94B8-FF2BCBDDED7B}" dt="2023-11-13T16:31:42.474" v="13" actId="20577"/>
        <pc:sldMkLst>
          <pc:docMk/>
          <pc:sldMk cId="1751490849" sldId="729"/>
        </pc:sldMkLst>
        <pc:spChg chg="mod">
          <ac:chgData name="Sahan Konur, Sahika" userId="739a6e03-9a4a-49c6-a350-571b31db94be" providerId="ADAL" clId="{7E93582A-2AB3-48F4-94B8-FF2BCBDDED7B}" dt="2023-11-13T16:31:42.474" v="13" actId="20577"/>
          <ac:spMkLst>
            <pc:docMk/>
            <pc:sldMk cId="1751490849" sldId="729"/>
            <ac:spMk id="3" creationId="{00000000-0000-0000-0000-000000000000}"/>
          </ac:spMkLst>
        </pc:spChg>
      </pc:sldChg>
    </pc:docChg>
  </pc:docChgLst>
  <pc:docChgLst>
    <pc:chgData name="Dincer Konur" userId="0cb337efb386619d" providerId="LiveId" clId="{1BE7F59B-223B-433C-B97B-A4CDF73A1E02}"/>
    <pc:docChg chg="undo custSel delSld modSld">
      <pc:chgData name="Dincer Konur" userId="0cb337efb386619d" providerId="LiveId" clId="{1BE7F59B-223B-433C-B97B-A4CDF73A1E02}" dt="2019-07-26T20:15:02.734" v="90" actId="20577"/>
      <pc:docMkLst>
        <pc:docMk/>
      </pc:docMkLst>
      <pc:sldChg chg="modSp">
        <pc:chgData name="Dincer Konur" userId="0cb337efb386619d" providerId="LiveId" clId="{1BE7F59B-223B-433C-B97B-A4CDF73A1E02}" dt="2019-07-26T20:15:02.734" v="90" actId="20577"/>
        <pc:sldMkLst>
          <pc:docMk/>
          <pc:sldMk cId="2474569206" sldId="260"/>
        </pc:sldMkLst>
        <pc:spChg chg="mod">
          <ac:chgData name="Dincer Konur" userId="0cb337efb386619d" providerId="LiveId" clId="{1BE7F59B-223B-433C-B97B-A4CDF73A1E02}" dt="2019-07-26T20:15:02.734" v="90" actId="20577"/>
          <ac:spMkLst>
            <pc:docMk/>
            <pc:sldMk cId="2474569206" sldId="260"/>
            <ac:spMk id="3" creationId="{00000000-0000-0000-0000-000000000000}"/>
          </ac:spMkLst>
        </pc:spChg>
      </pc:sldChg>
    </pc:docChg>
  </pc:docChgLst>
  <pc:docChgLst>
    <pc:chgData name="Dincer Konur" userId="0cb337efb386619d" providerId="LiveId" clId="{5BD569B1-74C3-4593-9EC2-60C3C8760E52}"/>
    <pc:docChg chg="undo custSel addSld delSld modSld sldOrd">
      <pc:chgData name="Dincer Konur" userId="0cb337efb386619d" providerId="LiveId" clId="{5BD569B1-74C3-4593-9EC2-60C3C8760E52}" dt="2019-08-03T01:23:53.883" v="4460"/>
      <pc:docMkLst>
        <pc:docMk/>
      </pc:docMkLst>
      <pc:sldChg chg="addSp modSp">
        <pc:chgData name="Dincer Konur" userId="0cb337efb386619d" providerId="LiveId" clId="{5BD569B1-74C3-4593-9EC2-60C3C8760E52}" dt="2019-07-30T16:29:09.011" v="128" actId="20577"/>
        <pc:sldMkLst>
          <pc:docMk/>
          <pc:sldMk cId="2474569206" sldId="260"/>
        </pc:sldMkLst>
        <pc:spChg chg="mod">
          <ac:chgData name="Dincer Konur" userId="0cb337efb386619d" providerId="LiveId" clId="{5BD569B1-74C3-4593-9EC2-60C3C8760E52}" dt="2019-07-30T16:21:59.619" v="8" actId="20577"/>
          <ac:spMkLst>
            <pc:docMk/>
            <pc:sldMk cId="2474569206" sldId="260"/>
            <ac:spMk id="2" creationId="{00000000-0000-0000-0000-000000000000}"/>
          </ac:spMkLst>
        </pc:spChg>
        <pc:spChg chg="mod">
          <ac:chgData name="Dincer Konur" userId="0cb337efb386619d" providerId="LiveId" clId="{5BD569B1-74C3-4593-9EC2-60C3C8760E52}" dt="2019-07-30T16:24:11.744" v="27" actId="14100"/>
          <ac:spMkLst>
            <pc:docMk/>
            <pc:sldMk cId="2474569206" sldId="260"/>
            <ac:spMk id="5" creationId="{00000000-0000-0000-0000-000000000000}"/>
          </ac:spMkLst>
        </pc:spChg>
        <pc:spChg chg="mod">
          <ac:chgData name="Dincer Konur" userId="0cb337efb386619d" providerId="LiveId" clId="{5BD569B1-74C3-4593-9EC2-60C3C8760E52}" dt="2019-07-30T16:24:21.835" v="30" actId="14100"/>
          <ac:spMkLst>
            <pc:docMk/>
            <pc:sldMk cId="2474569206" sldId="260"/>
            <ac:spMk id="6" creationId="{00000000-0000-0000-0000-000000000000}"/>
          </ac:spMkLst>
        </pc:spChg>
        <pc:spChg chg="mod">
          <ac:chgData name="Dincer Konur" userId="0cb337efb386619d" providerId="LiveId" clId="{5BD569B1-74C3-4593-9EC2-60C3C8760E52}" dt="2019-07-30T16:29:03.326" v="117" actId="20577"/>
          <ac:spMkLst>
            <pc:docMk/>
            <pc:sldMk cId="2474569206" sldId="260"/>
            <ac:spMk id="7" creationId="{00000000-0000-0000-0000-000000000000}"/>
          </ac:spMkLst>
        </pc:spChg>
        <pc:spChg chg="mod">
          <ac:chgData name="Dincer Konur" userId="0cb337efb386619d" providerId="LiveId" clId="{5BD569B1-74C3-4593-9EC2-60C3C8760E52}" dt="2019-07-30T16:29:09.011" v="128" actId="20577"/>
          <ac:spMkLst>
            <pc:docMk/>
            <pc:sldMk cId="2474569206" sldId="260"/>
            <ac:spMk id="8" creationId="{00000000-0000-0000-0000-000000000000}"/>
          </ac:spMkLst>
        </pc:spChg>
        <pc:spChg chg="add mod">
          <ac:chgData name="Dincer Konur" userId="0cb337efb386619d" providerId="LiveId" clId="{5BD569B1-74C3-4593-9EC2-60C3C8760E52}" dt="2019-07-30T16:24:48.302" v="34" actId="14100"/>
          <ac:spMkLst>
            <pc:docMk/>
            <pc:sldMk cId="2474569206" sldId="260"/>
            <ac:spMk id="9" creationId="{3162BF6F-75FF-4673-A9CB-0DA9F6BB1552}"/>
          </ac:spMkLst>
        </pc:spChg>
        <pc:spChg chg="add mod">
          <ac:chgData name="Dincer Konur" userId="0cb337efb386619d" providerId="LiveId" clId="{5BD569B1-74C3-4593-9EC2-60C3C8760E52}" dt="2019-07-30T16:24:51.355" v="35" actId="1076"/>
          <ac:spMkLst>
            <pc:docMk/>
            <pc:sldMk cId="2474569206" sldId="260"/>
            <ac:spMk id="10" creationId="{F19FBB87-98B6-499F-8329-DAEE1513B32D}"/>
          </ac:spMkLst>
        </pc:spChg>
      </pc:sldChg>
      <pc:sldChg chg="modSp">
        <pc:chgData name="Dincer Konur" userId="0cb337efb386619d" providerId="LiveId" clId="{5BD569B1-74C3-4593-9EC2-60C3C8760E52}" dt="2019-07-31T19:17:34.385" v="669" actId="20577"/>
        <pc:sldMkLst>
          <pc:docMk/>
          <pc:sldMk cId="3790253861" sldId="660"/>
        </pc:sldMkLst>
        <pc:spChg chg="mod">
          <ac:chgData name="Dincer Konur" userId="0cb337efb386619d" providerId="LiveId" clId="{5BD569B1-74C3-4593-9EC2-60C3C8760E52}" dt="2019-07-31T19:17:34.385" v="669" actId="20577"/>
          <ac:spMkLst>
            <pc:docMk/>
            <pc:sldMk cId="3790253861" sldId="660"/>
            <ac:spMk id="3" creationId="{00000000-0000-0000-0000-000000000000}"/>
          </ac:spMkLst>
        </pc:spChg>
      </pc:sldChg>
      <pc:sldChg chg="modSp">
        <pc:chgData name="Dincer Konur" userId="0cb337efb386619d" providerId="LiveId" clId="{5BD569B1-74C3-4593-9EC2-60C3C8760E52}" dt="2019-07-31T19:17:17.978" v="655" actId="20577"/>
        <pc:sldMkLst>
          <pc:docMk/>
          <pc:sldMk cId="3899922744" sldId="665"/>
        </pc:sldMkLst>
        <pc:spChg chg="mod">
          <ac:chgData name="Dincer Konur" userId="0cb337efb386619d" providerId="LiveId" clId="{5BD569B1-74C3-4593-9EC2-60C3C8760E52}" dt="2019-07-31T19:17:17.978" v="655" actId="20577"/>
          <ac:spMkLst>
            <pc:docMk/>
            <pc:sldMk cId="3899922744" sldId="665"/>
            <ac:spMk id="3" creationId="{00000000-0000-0000-0000-000000000000}"/>
          </ac:spMkLst>
        </pc:spChg>
      </pc:sldChg>
      <pc:sldChg chg="modSp">
        <pc:chgData name="Dincer Konur" userId="0cb337efb386619d" providerId="LiveId" clId="{5BD569B1-74C3-4593-9EC2-60C3C8760E52}" dt="2019-07-31T19:18:36.750" v="683" actId="20577"/>
        <pc:sldMkLst>
          <pc:docMk/>
          <pc:sldMk cId="143377859" sldId="671"/>
        </pc:sldMkLst>
        <pc:spChg chg="mod">
          <ac:chgData name="Dincer Konur" userId="0cb337efb386619d" providerId="LiveId" clId="{5BD569B1-74C3-4593-9EC2-60C3C8760E52}" dt="2019-07-31T19:18:36.750" v="683" actId="20577"/>
          <ac:spMkLst>
            <pc:docMk/>
            <pc:sldMk cId="143377859" sldId="671"/>
            <ac:spMk id="3" creationId="{00000000-0000-0000-0000-000000000000}"/>
          </ac:spMkLst>
        </pc:spChg>
      </pc:sldChg>
      <pc:sldChg chg="modSp">
        <pc:chgData name="Dincer Konur" userId="0cb337efb386619d" providerId="LiveId" clId="{5BD569B1-74C3-4593-9EC2-60C3C8760E52}" dt="2019-07-31T19:18:50.026" v="697" actId="20577"/>
        <pc:sldMkLst>
          <pc:docMk/>
          <pc:sldMk cId="3613807806" sldId="678"/>
        </pc:sldMkLst>
        <pc:spChg chg="mod">
          <ac:chgData name="Dincer Konur" userId="0cb337efb386619d" providerId="LiveId" clId="{5BD569B1-74C3-4593-9EC2-60C3C8760E52}" dt="2019-07-31T19:18:50.026" v="697" actId="20577"/>
          <ac:spMkLst>
            <pc:docMk/>
            <pc:sldMk cId="3613807806" sldId="678"/>
            <ac:spMk id="3" creationId="{00000000-0000-0000-0000-000000000000}"/>
          </ac:spMkLst>
        </pc:spChg>
      </pc:sldChg>
      <pc:sldChg chg="delSp modSp add">
        <pc:chgData name="Dincer Konur" userId="0cb337efb386619d" providerId="LiveId" clId="{5BD569B1-74C3-4593-9EC2-60C3C8760E52}" dt="2019-07-30T16:29:17.122" v="134" actId="20577"/>
        <pc:sldMkLst>
          <pc:docMk/>
          <pc:sldMk cId="1134060834" sldId="702"/>
        </pc:sldMkLst>
        <pc:spChg chg="mod">
          <ac:chgData name="Dincer Konur" userId="0cb337efb386619d" providerId="LiveId" clId="{5BD569B1-74C3-4593-9EC2-60C3C8760E52}" dt="2019-07-30T16:25:25.072" v="55" actId="20577"/>
          <ac:spMkLst>
            <pc:docMk/>
            <pc:sldMk cId="1134060834" sldId="702"/>
            <ac:spMk id="2" creationId="{00000000-0000-0000-0000-000000000000}"/>
          </ac:spMkLst>
        </pc:spChg>
        <pc:spChg chg="mod">
          <ac:chgData name="Dincer Konur" userId="0cb337efb386619d" providerId="LiveId" clId="{5BD569B1-74C3-4593-9EC2-60C3C8760E52}" dt="2019-07-30T16:25:34.896" v="57" actId="20577"/>
          <ac:spMkLst>
            <pc:docMk/>
            <pc:sldMk cId="1134060834" sldId="702"/>
            <ac:spMk id="3" creationId="{00000000-0000-0000-0000-000000000000}"/>
          </ac:spMkLst>
        </pc:spChg>
        <pc:spChg chg="del">
          <ac:chgData name="Dincer Konur" userId="0cb337efb386619d" providerId="LiveId" clId="{5BD569B1-74C3-4593-9EC2-60C3C8760E52}" dt="2019-07-30T16:25:32.567" v="56" actId="478"/>
          <ac:spMkLst>
            <pc:docMk/>
            <pc:sldMk cId="1134060834" sldId="702"/>
            <ac:spMk id="6" creationId="{00000000-0000-0000-0000-000000000000}"/>
          </ac:spMkLst>
        </pc:spChg>
        <pc:spChg chg="mod">
          <ac:chgData name="Dincer Konur" userId="0cb337efb386619d" providerId="LiveId" clId="{5BD569B1-74C3-4593-9EC2-60C3C8760E52}" dt="2019-07-30T16:29:17.122" v="134" actId="20577"/>
          <ac:spMkLst>
            <pc:docMk/>
            <pc:sldMk cId="1134060834" sldId="702"/>
            <ac:spMk id="7" creationId="{00000000-0000-0000-0000-000000000000}"/>
          </ac:spMkLst>
        </pc:spChg>
        <pc:spChg chg="del">
          <ac:chgData name="Dincer Konur" userId="0cb337efb386619d" providerId="LiveId" clId="{5BD569B1-74C3-4593-9EC2-60C3C8760E52}" dt="2019-07-30T16:25:32.567" v="56" actId="478"/>
          <ac:spMkLst>
            <pc:docMk/>
            <pc:sldMk cId="1134060834" sldId="702"/>
            <ac:spMk id="8" creationId="{00000000-0000-0000-0000-000000000000}"/>
          </ac:spMkLst>
        </pc:spChg>
        <pc:spChg chg="del">
          <ac:chgData name="Dincer Konur" userId="0cb337efb386619d" providerId="LiveId" clId="{5BD569B1-74C3-4593-9EC2-60C3C8760E52}" dt="2019-07-30T16:25:32.567" v="56" actId="478"/>
          <ac:spMkLst>
            <pc:docMk/>
            <pc:sldMk cId="1134060834" sldId="702"/>
            <ac:spMk id="9" creationId="{3162BF6F-75FF-4673-A9CB-0DA9F6BB1552}"/>
          </ac:spMkLst>
        </pc:spChg>
        <pc:spChg chg="del">
          <ac:chgData name="Dincer Konur" userId="0cb337efb386619d" providerId="LiveId" clId="{5BD569B1-74C3-4593-9EC2-60C3C8760E52}" dt="2019-07-30T16:25:32.567" v="56" actId="478"/>
          <ac:spMkLst>
            <pc:docMk/>
            <pc:sldMk cId="1134060834" sldId="702"/>
            <ac:spMk id="10" creationId="{F19FBB87-98B6-499F-8329-DAEE1513B32D}"/>
          </ac:spMkLst>
        </pc:spChg>
      </pc:sldChg>
      <pc:sldChg chg="delSp modSp add">
        <pc:chgData name="Dincer Konur" userId="0cb337efb386619d" providerId="LiveId" clId="{5BD569B1-74C3-4593-9EC2-60C3C8760E52}" dt="2019-07-30T16:26:35.770" v="77" actId="207"/>
        <pc:sldMkLst>
          <pc:docMk/>
          <pc:sldMk cId="3879332444" sldId="703"/>
        </pc:sldMkLst>
        <pc:spChg chg="mod">
          <ac:chgData name="Dincer Konur" userId="0cb337efb386619d" providerId="LiveId" clId="{5BD569B1-74C3-4593-9EC2-60C3C8760E52}" dt="2019-07-30T16:26:02.214" v="65" actId="20577"/>
          <ac:spMkLst>
            <pc:docMk/>
            <pc:sldMk cId="3879332444" sldId="703"/>
            <ac:spMk id="2" creationId="{00000000-0000-0000-0000-000000000000}"/>
          </ac:spMkLst>
        </pc:spChg>
        <pc:spChg chg="mod">
          <ac:chgData name="Dincer Konur" userId="0cb337efb386619d" providerId="LiveId" clId="{5BD569B1-74C3-4593-9EC2-60C3C8760E52}" dt="2019-07-30T16:26:35.770" v="77" actId="207"/>
          <ac:spMkLst>
            <pc:docMk/>
            <pc:sldMk cId="3879332444" sldId="703"/>
            <ac:spMk id="3" creationId="{00000000-0000-0000-0000-000000000000}"/>
          </ac:spMkLst>
        </pc:spChg>
        <pc:spChg chg="del">
          <ac:chgData name="Dincer Konur" userId="0cb337efb386619d" providerId="LiveId" clId="{5BD569B1-74C3-4593-9EC2-60C3C8760E52}" dt="2019-07-30T16:26:07.166" v="67" actId="478"/>
          <ac:spMkLst>
            <pc:docMk/>
            <pc:sldMk cId="3879332444" sldId="703"/>
            <ac:spMk id="5" creationId="{00000000-0000-0000-0000-000000000000}"/>
          </ac:spMkLst>
        </pc:spChg>
        <pc:spChg chg="del">
          <ac:chgData name="Dincer Konur" userId="0cb337efb386619d" providerId="LiveId" clId="{5BD569B1-74C3-4593-9EC2-60C3C8760E52}" dt="2019-07-30T16:26:05.975" v="66" actId="478"/>
          <ac:spMkLst>
            <pc:docMk/>
            <pc:sldMk cId="3879332444" sldId="703"/>
            <ac:spMk id="7" creationId="{00000000-0000-0000-0000-000000000000}"/>
          </ac:spMkLst>
        </pc:spChg>
      </pc:sldChg>
      <pc:sldChg chg="modSp add ord">
        <pc:chgData name="Dincer Konur" userId="0cb337efb386619d" providerId="LiveId" clId="{5BD569B1-74C3-4593-9EC2-60C3C8760E52}" dt="2019-07-30T16:27:36.037" v="84"/>
        <pc:sldMkLst>
          <pc:docMk/>
          <pc:sldMk cId="4272088725" sldId="704"/>
        </pc:sldMkLst>
        <pc:spChg chg="mod">
          <ac:chgData name="Dincer Konur" userId="0cb337efb386619d" providerId="LiveId" clId="{5BD569B1-74C3-4593-9EC2-60C3C8760E52}" dt="2019-07-30T16:26:14.712" v="72" actId="20577"/>
          <ac:spMkLst>
            <pc:docMk/>
            <pc:sldMk cId="4272088725" sldId="704"/>
            <ac:spMk id="2" creationId="{00000000-0000-0000-0000-000000000000}"/>
          </ac:spMkLst>
        </pc:spChg>
        <pc:spChg chg="mod">
          <ac:chgData name="Dincer Konur" userId="0cb337efb386619d" providerId="LiveId" clId="{5BD569B1-74C3-4593-9EC2-60C3C8760E52}" dt="2019-07-30T16:26:45.752" v="79" actId="207"/>
          <ac:spMkLst>
            <pc:docMk/>
            <pc:sldMk cId="4272088725" sldId="704"/>
            <ac:spMk id="3" creationId="{00000000-0000-0000-0000-000000000000}"/>
          </ac:spMkLst>
        </pc:spChg>
      </pc:sldChg>
      <pc:sldChg chg="modSp add ord">
        <pc:chgData name="Dincer Konur" userId="0cb337efb386619d" providerId="LiveId" clId="{5BD569B1-74C3-4593-9EC2-60C3C8760E52}" dt="2019-07-30T16:27:50.897" v="86"/>
        <pc:sldMkLst>
          <pc:docMk/>
          <pc:sldMk cId="555784850" sldId="705"/>
        </pc:sldMkLst>
        <pc:spChg chg="mod">
          <ac:chgData name="Dincer Konur" userId="0cb337efb386619d" providerId="LiveId" clId="{5BD569B1-74C3-4593-9EC2-60C3C8760E52}" dt="2019-07-30T16:26:18.652" v="74" actId="20577"/>
          <ac:spMkLst>
            <pc:docMk/>
            <pc:sldMk cId="555784850" sldId="705"/>
            <ac:spMk id="2" creationId="{00000000-0000-0000-0000-000000000000}"/>
          </ac:spMkLst>
        </pc:spChg>
        <pc:spChg chg="mod">
          <ac:chgData name="Dincer Konur" userId="0cb337efb386619d" providerId="LiveId" clId="{5BD569B1-74C3-4593-9EC2-60C3C8760E52}" dt="2019-07-30T16:26:53.880" v="81" actId="207"/>
          <ac:spMkLst>
            <pc:docMk/>
            <pc:sldMk cId="555784850" sldId="705"/>
            <ac:spMk id="3" creationId="{00000000-0000-0000-0000-000000000000}"/>
          </ac:spMkLst>
        </pc:spChg>
      </pc:sldChg>
      <pc:sldChg chg="modSp add ord">
        <pc:chgData name="Dincer Konur" userId="0cb337efb386619d" providerId="LiveId" clId="{5BD569B1-74C3-4593-9EC2-60C3C8760E52}" dt="2019-07-30T16:27:58.381" v="88"/>
        <pc:sldMkLst>
          <pc:docMk/>
          <pc:sldMk cId="1955152198" sldId="706"/>
        </pc:sldMkLst>
        <pc:spChg chg="mod">
          <ac:chgData name="Dincer Konur" userId="0cb337efb386619d" providerId="LiveId" clId="{5BD569B1-74C3-4593-9EC2-60C3C8760E52}" dt="2019-07-30T16:26:22.624" v="76" actId="20577"/>
          <ac:spMkLst>
            <pc:docMk/>
            <pc:sldMk cId="1955152198" sldId="706"/>
            <ac:spMk id="2" creationId="{00000000-0000-0000-0000-000000000000}"/>
          </ac:spMkLst>
        </pc:spChg>
        <pc:spChg chg="mod">
          <ac:chgData name="Dincer Konur" userId="0cb337efb386619d" providerId="LiveId" clId="{5BD569B1-74C3-4593-9EC2-60C3C8760E52}" dt="2019-07-30T16:26:58.216" v="82" actId="207"/>
          <ac:spMkLst>
            <pc:docMk/>
            <pc:sldMk cId="1955152198" sldId="706"/>
            <ac:spMk id="3" creationId="{00000000-0000-0000-0000-000000000000}"/>
          </ac:spMkLst>
        </pc:spChg>
      </pc:sldChg>
      <pc:sldChg chg="addSp delSp modSp add modAnim">
        <pc:chgData name="Dincer Konur" userId="0cb337efb386619d" providerId="LiveId" clId="{5BD569B1-74C3-4593-9EC2-60C3C8760E52}" dt="2019-08-03T00:40:30.366" v="4370"/>
        <pc:sldMkLst>
          <pc:docMk/>
          <pc:sldMk cId="1519410439" sldId="707"/>
        </pc:sldMkLst>
        <pc:spChg chg="mod">
          <ac:chgData name="Dincer Konur" userId="0cb337efb386619d" providerId="LiveId" clId="{5BD569B1-74C3-4593-9EC2-60C3C8760E52}" dt="2019-07-31T19:11:57.722" v="435" actId="20577"/>
          <ac:spMkLst>
            <pc:docMk/>
            <pc:sldMk cId="1519410439" sldId="707"/>
            <ac:spMk id="2" creationId="{00000000-0000-0000-0000-000000000000}"/>
          </ac:spMkLst>
        </pc:spChg>
        <pc:spChg chg="mod">
          <ac:chgData name="Dincer Konur" userId="0cb337efb386619d" providerId="LiveId" clId="{5BD569B1-74C3-4593-9EC2-60C3C8760E52}" dt="2019-07-31T19:11:32.696" v="419" actId="14"/>
          <ac:spMkLst>
            <pc:docMk/>
            <pc:sldMk cId="1519410439" sldId="707"/>
            <ac:spMk id="3" creationId="{00000000-0000-0000-0000-000000000000}"/>
          </ac:spMkLst>
        </pc:spChg>
        <pc:spChg chg="add mod">
          <ac:chgData name="Dincer Konur" userId="0cb337efb386619d" providerId="LiveId" clId="{5BD569B1-74C3-4593-9EC2-60C3C8760E52}" dt="2019-07-31T19:12:36.208" v="441" actId="113"/>
          <ac:spMkLst>
            <pc:docMk/>
            <pc:sldMk cId="1519410439" sldId="707"/>
            <ac:spMk id="6" creationId="{E72266EF-1900-4A02-9104-925BF84B6A87}"/>
          </ac:spMkLst>
        </pc:spChg>
        <pc:picChg chg="del">
          <ac:chgData name="Dincer Konur" userId="0cb337efb386619d" providerId="LiveId" clId="{5BD569B1-74C3-4593-9EC2-60C3C8760E52}" dt="2019-07-31T19:06:47.357" v="217" actId="478"/>
          <ac:picMkLst>
            <pc:docMk/>
            <pc:sldMk cId="1519410439" sldId="707"/>
            <ac:picMk id="4" creationId="{00000000-0000-0000-0000-000000000000}"/>
          </ac:picMkLst>
        </pc:picChg>
        <pc:picChg chg="add mod">
          <ac:chgData name="Dincer Konur" userId="0cb337efb386619d" providerId="LiveId" clId="{5BD569B1-74C3-4593-9EC2-60C3C8760E52}" dt="2019-07-31T19:11:40.925" v="421" actId="1076"/>
          <ac:picMkLst>
            <pc:docMk/>
            <pc:sldMk cId="1519410439" sldId="707"/>
            <ac:picMk id="5" creationId="{D4433F63-473F-4520-A908-59DF0BAD8F55}"/>
          </ac:picMkLst>
        </pc:picChg>
      </pc:sldChg>
      <pc:sldChg chg="delSp modSp add">
        <pc:chgData name="Dincer Konur" userId="0cb337efb386619d" providerId="LiveId" clId="{5BD569B1-74C3-4593-9EC2-60C3C8760E52}" dt="2019-07-30T16:31:15.942" v="177" actId="20577"/>
        <pc:sldMkLst>
          <pc:docMk/>
          <pc:sldMk cId="2366715501" sldId="708"/>
        </pc:sldMkLst>
        <pc:spChg chg="mod">
          <ac:chgData name="Dincer Konur" userId="0cb337efb386619d" providerId="LiveId" clId="{5BD569B1-74C3-4593-9EC2-60C3C8760E52}" dt="2019-07-30T16:31:15.942" v="177" actId="20577"/>
          <ac:spMkLst>
            <pc:docMk/>
            <pc:sldMk cId="2366715501" sldId="708"/>
            <ac:spMk id="2" creationId="{00000000-0000-0000-0000-000000000000}"/>
          </ac:spMkLst>
        </pc:spChg>
        <pc:spChg chg="mod">
          <ac:chgData name="Dincer Konur" userId="0cb337efb386619d" providerId="LiveId" clId="{5BD569B1-74C3-4593-9EC2-60C3C8760E52}" dt="2019-07-30T16:30:13.825" v="150" actId="20577"/>
          <ac:spMkLst>
            <pc:docMk/>
            <pc:sldMk cId="2366715501" sldId="708"/>
            <ac:spMk id="3" creationId="{00000000-0000-0000-0000-000000000000}"/>
          </ac:spMkLst>
        </pc:spChg>
        <pc:spChg chg="del">
          <ac:chgData name="Dincer Konur" userId="0cb337efb386619d" providerId="LiveId" clId="{5BD569B1-74C3-4593-9EC2-60C3C8760E52}" dt="2019-07-30T16:29:53.288" v="136" actId="478"/>
          <ac:spMkLst>
            <pc:docMk/>
            <pc:sldMk cId="2366715501" sldId="708"/>
            <ac:spMk id="5" creationId="{00000000-0000-0000-0000-000000000000}"/>
          </ac:spMkLst>
        </pc:spChg>
        <pc:spChg chg="del">
          <ac:chgData name="Dincer Konur" userId="0cb337efb386619d" providerId="LiveId" clId="{5BD569B1-74C3-4593-9EC2-60C3C8760E52}" dt="2019-07-30T16:29:52.006" v="135" actId="478"/>
          <ac:spMkLst>
            <pc:docMk/>
            <pc:sldMk cId="2366715501" sldId="708"/>
            <ac:spMk id="7" creationId="{00000000-0000-0000-0000-000000000000}"/>
          </ac:spMkLst>
        </pc:spChg>
        <pc:spChg chg="mod">
          <ac:chgData name="Dincer Konur" userId="0cb337efb386619d" providerId="LiveId" clId="{5BD569B1-74C3-4593-9EC2-60C3C8760E52}" dt="2019-07-30T16:30:34.734" v="160" actId="20577"/>
          <ac:spMkLst>
            <pc:docMk/>
            <pc:sldMk cId="2366715501" sldId="708"/>
            <ac:spMk id="8" creationId="{00000000-0000-0000-0000-000000000000}"/>
          </ac:spMkLst>
        </pc:spChg>
        <pc:spChg chg="del">
          <ac:chgData name="Dincer Konur" userId="0cb337efb386619d" providerId="LiveId" clId="{5BD569B1-74C3-4593-9EC2-60C3C8760E52}" dt="2019-07-30T16:29:56.117" v="138" actId="478"/>
          <ac:spMkLst>
            <pc:docMk/>
            <pc:sldMk cId="2366715501" sldId="708"/>
            <ac:spMk id="9" creationId="{3162BF6F-75FF-4673-A9CB-0DA9F6BB1552}"/>
          </ac:spMkLst>
        </pc:spChg>
        <pc:spChg chg="del">
          <ac:chgData name="Dincer Konur" userId="0cb337efb386619d" providerId="LiveId" clId="{5BD569B1-74C3-4593-9EC2-60C3C8760E52}" dt="2019-07-30T16:29:54.750" v="137" actId="478"/>
          <ac:spMkLst>
            <pc:docMk/>
            <pc:sldMk cId="2366715501" sldId="708"/>
            <ac:spMk id="10" creationId="{F19FBB87-98B6-499F-8329-DAEE1513B32D}"/>
          </ac:spMkLst>
        </pc:spChg>
      </pc:sldChg>
      <pc:sldChg chg="delSp modSp add">
        <pc:chgData name="Dincer Konur" userId="0cb337efb386619d" providerId="LiveId" clId="{5BD569B1-74C3-4593-9EC2-60C3C8760E52}" dt="2019-07-30T16:31:30.868" v="182" actId="207"/>
        <pc:sldMkLst>
          <pc:docMk/>
          <pc:sldMk cId="231179015" sldId="709"/>
        </pc:sldMkLst>
        <pc:spChg chg="mod">
          <ac:chgData name="Dincer Konur" userId="0cb337efb386619d" providerId="LiveId" clId="{5BD569B1-74C3-4593-9EC2-60C3C8760E52}" dt="2019-07-30T16:31:30.868" v="182" actId="207"/>
          <ac:spMkLst>
            <pc:docMk/>
            <pc:sldMk cId="231179015" sldId="709"/>
            <ac:spMk id="3" creationId="{00000000-0000-0000-0000-000000000000}"/>
          </ac:spMkLst>
        </pc:spChg>
        <pc:spChg chg="del">
          <ac:chgData name="Dincer Konur" userId="0cb337efb386619d" providerId="LiveId" clId="{5BD569B1-74C3-4593-9EC2-60C3C8760E52}" dt="2019-07-30T16:31:28.114" v="181" actId="478"/>
          <ac:spMkLst>
            <pc:docMk/>
            <pc:sldMk cId="231179015" sldId="709"/>
            <ac:spMk id="6" creationId="{00000000-0000-0000-0000-000000000000}"/>
          </ac:spMkLst>
        </pc:spChg>
        <pc:spChg chg="del">
          <ac:chgData name="Dincer Konur" userId="0cb337efb386619d" providerId="LiveId" clId="{5BD569B1-74C3-4593-9EC2-60C3C8760E52}" dt="2019-07-30T16:31:27.096" v="180" actId="478"/>
          <ac:spMkLst>
            <pc:docMk/>
            <pc:sldMk cId="231179015" sldId="709"/>
            <ac:spMk id="8" creationId="{00000000-0000-0000-0000-000000000000}"/>
          </ac:spMkLst>
        </pc:spChg>
      </pc:sldChg>
      <pc:sldChg chg="modSp add">
        <pc:chgData name="Dincer Konur" userId="0cb337efb386619d" providerId="LiveId" clId="{5BD569B1-74C3-4593-9EC2-60C3C8760E52}" dt="2019-07-30T16:31:50.711" v="185" actId="207"/>
        <pc:sldMkLst>
          <pc:docMk/>
          <pc:sldMk cId="2129707818" sldId="710"/>
        </pc:sldMkLst>
        <pc:spChg chg="mod">
          <ac:chgData name="Dincer Konur" userId="0cb337efb386619d" providerId="LiveId" clId="{5BD569B1-74C3-4593-9EC2-60C3C8760E52}" dt="2019-07-30T16:31:50.711" v="185" actId="207"/>
          <ac:spMkLst>
            <pc:docMk/>
            <pc:sldMk cId="2129707818" sldId="710"/>
            <ac:spMk id="3" creationId="{00000000-0000-0000-0000-000000000000}"/>
          </ac:spMkLst>
        </pc:spChg>
      </pc:sldChg>
      <pc:sldChg chg="delSp modSp add">
        <pc:chgData name="Dincer Konur" userId="0cb337efb386619d" providerId="LiveId" clId="{5BD569B1-74C3-4593-9EC2-60C3C8760E52}" dt="2019-07-30T16:32:47.618" v="215" actId="14"/>
        <pc:sldMkLst>
          <pc:docMk/>
          <pc:sldMk cId="992934062" sldId="711"/>
        </pc:sldMkLst>
        <pc:spChg chg="mod">
          <ac:chgData name="Dincer Konur" userId="0cb337efb386619d" providerId="LiveId" clId="{5BD569B1-74C3-4593-9EC2-60C3C8760E52}" dt="2019-07-30T16:32:47.618" v="215" actId="14"/>
          <ac:spMkLst>
            <pc:docMk/>
            <pc:sldMk cId="992934062" sldId="711"/>
            <ac:spMk id="3" creationId="{00000000-0000-0000-0000-000000000000}"/>
          </ac:spMkLst>
        </pc:spChg>
        <pc:spChg chg="del">
          <ac:chgData name="Dincer Konur" userId="0cb337efb386619d" providerId="LiveId" clId="{5BD569B1-74C3-4593-9EC2-60C3C8760E52}" dt="2019-07-30T16:32:34.894" v="200" actId="478"/>
          <ac:spMkLst>
            <pc:docMk/>
            <pc:sldMk cId="992934062" sldId="711"/>
            <ac:spMk id="5" creationId="{00000000-0000-0000-0000-000000000000}"/>
          </ac:spMkLst>
        </pc:spChg>
        <pc:spChg chg="del">
          <ac:chgData name="Dincer Konur" userId="0cb337efb386619d" providerId="LiveId" clId="{5BD569B1-74C3-4593-9EC2-60C3C8760E52}" dt="2019-07-30T16:32:34.894" v="200" actId="478"/>
          <ac:spMkLst>
            <pc:docMk/>
            <pc:sldMk cId="992934062" sldId="711"/>
            <ac:spMk id="6" creationId="{00000000-0000-0000-0000-000000000000}"/>
          </ac:spMkLst>
        </pc:spChg>
        <pc:spChg chg="del">
          <ac:chgData name="Dincer Konur" userId="0cb337efb386619d" providerId="LiveId" clId="{5BD569B1-74C3-4593-9EC2-60C3C8760E52}" dt="2019-07-30T16:32:34.894" v="200" actId="478"/>
          <ac:spMkLst>
            <pc:docMk/>
            <pc:sldMk cId="992934062" sldId="711"/>
            <ac:spMk id="7" creationId="{00000000-0000-0000-0000-000000000000}"/>
          </ac:spMkLst>
        </pc:spChg>
        <pc:spChg chg="del">
          <ac:chgData name="Dincer Konur" userId="0cb337efb386619d" providerId="LiveId" clId="{5BD569B1-74C3-4593-9EC2-60C3C8760E52}" dt="2019-07-30T16:32:34.894" v="200" actId="478"/>
          <ac:spMkLst>
            <pc:docMk/>
            <pc:sldMk cId="992934062" sldId="711"/>
            <ac:spMk id="8" creationId="{00000000-0000-0000-0000-000000000000}"/>
          </ac:spMkLst>
        </pc:spChg>
      </pc:sldChg>
      <pc:sldChg chg="addSp delSp modSp add modAnim">
        <pc:chgData name="Dincer Konur" userId="0cb337efb386619d" providerId="LiveId" clId="{5BD569B1-74C3-4593-9EC2-60C3C8760E52}" dt="2019-07-31T20:54:16.057" v="2921"/>
        <pc:sldMkLst>
          <pc:docMk/>
          <pc:sldMk cId="517848383" sldId="712"/>
        </pc:sldMkLst>
        <pc:spChg chg="mod">
          <ac:chgData name="Dincer Konur" userId="0cb337efb386619d" providerId="LiveId" clId="{5BD569B1-74C3-4593-9EC2-60C3C8760E52}" dt="2019-07-30T16:32:27.670" v="199" actId="20577"/>
          <ac:spMkLst>
            <pc:docMk/>
            <pc:sldMk cId="517848383" sldId="712"/>
            <ac:spMk id="2" creationId="{00000000-0000-0000-0000-000000000000}"/>
          </ac:spMkLst>
        </pc:spChg>
        <pc:spChg chg="mod">
          <ac:chgData name="Dincer Konur" userId="0cb337efb386619d" providerId="LiveId" clId="{5BD569B1-74C3-4593-9EC2-60C3C8760E52}" dt="2019-07-31T20:54:16.057" v="2921"/>
          <ac:spMkLst>
            <pc:docMk/>
            <pc:sldMk cId="517848383" sldId="712"/>
            <ac:spMk id="3" creationId="{00000000-0000-0000-0000-000000000000}"/>
          </ac:spMkLst>
        </pc:spChg>
        <pc:spChg chg="add del mod">
          <ac:chgData name="Dincer Konur" userId="0cb337efb386619d" providerId="LiveId" clId="{5BD569B1-74C3-4593-9EC2-60C3C8760E52}" dt="2019-07-31T20:52:31.234" v="2815"/>
          <ac:spMkLst>
            <pc:docMk/>
            <pc:sldMk cId="517848383" sldId="712"/>
            <ac:spMk id="4" creationId="{9C187AFC-5013-4D8B-8996-FF634417804D}"/>
          </ac:spMkLst>
        </pc:spChg>
        <pc:picChg chg="del">
          <ac:chgData name="Dincer Konur" userId="0cb337efb386619d" providerId="LiveId" clId="{5BD569B1-74C3-4593-9EC2-60C3C8760E52}" dt="2019-07-31T20:42:05.298" v="2413" actId="478"/>
          <ac:picMkLst>
            <pc:docMk/>
            <pc:sldMk cId="517848383" sldId="712"/>
            <ac:picMk id="13314" creationId="{00000000-0000-0000-0000-000000000000}"/>
          </ac:picMkLst>
        </pc:picChg>
        <pc:picChg chg="del">
          <ac:chgData name="Dincer Konur" userId="0cb337efb386619d" providerId="LiveId" clId="{5BD569B1-74C3-4593-9EC2-60C3C8760E52}" dt="2019-07-31T20:42:07.826" v="2415" actId="478"/>
          <ac:picMkLst>
            <pc:docMk/>
            <pc:sldMk cId="517848383" sldId="712"/>
            <ac:picMk id="13315" creationId="{00000000-0000-0000-0000-000000000000}"/>
          </ac:picMkLst>
        </pc:picChg>
      </pc:sldChg>
      <pc:sldChg chg="addSp delSp modSp add delAnim modAnim">
        <pc:chgData name="Dincer Konur" userId="0cb337efb386619d" providerId="LiveId" clId="{5BD569B1-74C3-4593-9EC2-60C3C8760E52}" dt="2019-08-03T00:45:30.927" v="4377"/>
        <pc:sldMkLst>
          <pc:docMk/>
          <pc:sldMk cId="3667583221" sldId="713"/>
        </pc:sldMkLst>
        <pc:spChg chg="mod">
          <ac:chgData name="Dincer Konur" userId="0cb337efb386619d" providerId="LiveId" clId="{5BD569B1-74C3-4593-9EC2-60C3C8760E52}" dt="2019-07-31T19:15:05.996" v="631" actId="20577"/>
          <ac:spMkLst>
            <pc:docMk/>
            <pc:sldMk cId="3667583221" sldId="713"/>
            <ac:spMk id="3" creationId="{00000000-0000-0000-0000-000000000000}"/>
          </ac:spMkLst>
        </pc:spChg>
        <pc:spChg chg="add del">
          <ac:chgData name="Dincer Konur" userId="0cb337efb386619d" providerId="LiveId" clId="{5BD569B1-74C3-4593-9EC2-60C3C8760E52}" dt="2019-07-31T19:13:07.423" v="444"/>
          <ac:spMkLst>
            <pc:docMk/>
            <pc:sldMk cId="3667583221" sldId="713"/>
            <ac:spMk id="4" creationId="{796C2C22-772A-463C-8CCF-C023F3EC311C}"/>
          </ac:spMkLst>
        </pc:spChg>
        <pc:spChg chg="del">
          <ac:chgData name="Dincer Konur" userId="0cb337efb386619d" providerId="LiveId" clId="{5BD569B1-74C3-4593-9EC2-60C3C8760E52}" dt="2019-07-31T19:12:29.523" v="439" actId="478"/>
          <ac:spMkLst>
            <pc:docMk/>
            <pc:sldMk cId="3667583221" sldId="713"/>
            <ac:spMk id="6" creationId="{E72266EF-1900-4A02-9104-925BF84B6A87}"/>
          </ac:spMkLst>
        </pc:spChg>
        <pc:spChg chg="add del">
          <ac:chgData name="Dincer Konur" userId="0cb337efb386619d" providerId="LiveId" clId="{5BD569B1-74C3-4593-9EC2-60C3C8760E52}" dt="2019-07-31T19:13:10.942" v="446"/>
          <ac:spMkLst>
            <pc:docMk/>
            <pc:sldMk cId="3667583221" sldId="713"/>
            <ac:spMk id="7" creationId="{836368E8-5B44-4367-8361-444130835885}"/>
          </ac:spMkLst>
        </pc:spChg>
        <pc:spChg chg="add del">
          <ac:chgData name="Dincer Konur" userId="0cb337efb386619d" providerId="LiveId" clId="{5BD569B1-74C3-4593-9EC2-60C3C8760E52}" dt="2019-07-31T19:13:14.704" v="449"/>
          <ac:spMkLst>
            <pc:docMk/>
            <pc:sldMk cId="3667583221" sldId="713"/>
            <ac:spMk id="8" creationId="{6629281E-7DB6-400C-98BF-32097C0781CF}"/>
          </ac:spMkLst>
        </pc:spChg>
        <pc:picChg chg="del">
          <ac:chgData name="Dincer Konur" userId="0cb337efb386619d" providerId="LiveId" clId="{5BD569B1-74C3-4593-9EC2-60C3C8760E52}" dt="2019-07-31T19:12:26.281" v="438" actId="478"/>
          <ac:picMkLst>
            <pc:docMk/>
            <pc:sldMk cId="3667583221" sldId="713"/>
            <ac:picMk id="5" creationId="{D4433F63-473F-4520-A908-59DF0BAD8F55}"/>
          </ac:picMkLst>
        </pc:picChg>
      </pc:sldChg>
      <pc:sldChg chg="addSp modSp add modAnim">
        <pc:chgData name="Dincer Konur" userId="0cb337efb386619d" providerId="LiveId" clId="{5BD569B1-74C3-4593-9EC2-60C3C8760E52}" dt="2019-08-03T00:46:35.146" v="4413"/>
        <pc:sldMkLst>
          <pc:docMk/>
          <pc:sldMk cId="2531153111" sldId="714"/>
        </pc:sldMkLst>
        <pc:spChg chg="mod">
          <ac:chgData name="Dincer Konur" userId="0cb337efb386619d" providerId="LiveId" clId="{5BD569B1-74C3-4593-9EC2-60C3C8760E52}" dt="2019-08-03T00:45:52.410" v="4405" actId="20577"/>
          <ac:spMkLst>
            <pc:docMk/>
            <pc:sldMk cId="2531153111" sldId="714"/>
            <ac:spMk id="3" creationId="{00000000-0000-0000-0000-000000000000}"/>
          </ac:spMkLst>
        </pc:spChg>
        <pc:spChg chg="add mod">
          <ac:chgData name="Dincer Konur" userId="0cb337efb386619d" providerId="LiveId" clId="{5BD569B1-74C3-4593-9EC2-60C3C8760E52}" dt="2019-07-31T19:19:40.886" v="706" actId="1076"/>
          <ac:spMkLst>
            <pc:docMk/>
            <pc:sldMk cId="2531153111" sldId="714"/>
            <ac:spMk id="4" creationId="{6344BBD3-DC45-4B00-8B9D-2941D29A07E5}"/>
          </ac:spMkLst>
        </pc:spChg>
      </pc:sldChg>
      <pc:sldChg chg="addSp delSp modSp add delAnim modAnim">
        <pc:chgData name="Dincer Konur" userId="0cb337efb386619d" providerId="LiveId" clId="{5BD569B1-74C3-4593-9EC2-60C3C8760E52}" dt="2019-08-03T00:47:32.023" v="4416"/>
        <pc:sldMkLst>
          <pc:docMk/>
          <pc:sldMk cId="1006973075" sldId="715"/>
        </pc:sldMkLst>
        <pc:spChg chg="mod">
          <ac:chgData name="Dincer Konur" userId="0cb337efb386619d" providerId="LiveId" clId="{5BD569B1-74C3-4593-9EC2-60C3C8760E52}" dt="2019-07-31T19:41:52.237" v="1247" actId="20577"/>
          <ac:spMkLst>
            <pc:docMk/>
            <pc:sldMk cId="1006973075" sldId="715"/>
            <ac:spMk id="3" creationId="{00000000-0000-0000-0000-000000000000}"/>
          </ac:spMkLst>
        </pc:spChg>
        <pc:spChg chg="del">
          <ac:chgData name="Dincer Konur" userId="0cb337efb386619d" providerId="LiveId" clId="{5BD569B1-74C3-4593-9EC2-60C3C8760E52}" dt="2019-07-31T19:42:00.427" v="1248" actId="478"/>
          <ac:spMkLst>
            <pc:docMk/>
            <pc:sldMk cId="1006973075" sldId="715"/>
            <ac:spMk id="4" creationId="{6344BBD3-DC45-4B00-8B9D-2941D29A07E5}"/>
          </ac:spMkLst>
        </pc:spChg>
        <pc:spChg chg="add mod">
          <ac:chgData name="Dincer Konur" userId="0cb337efb386619d" providerId="LiveId" clId="{5BD569B1-74C3-4593-9EC2-60C3C8760E52}" dt="2019-07-31T19:49:12.356" v="1466" actId="207"/>
          <ac:spMkLst>
            <pc:docMk/>
            <pc:sldMk cId="1006973075" sldId="715"/>
            <ac:spMk id="7" creationId="{A26A413F-749B-4980-A382-6B7F3964FFE0}"/>
          </ac:spMkLst>
        </pc:spChg>
        <pc:spChg chg="add mod">
          <ac:chgData name="Dincer Konur" userId="0cb337efb386619d" providerId="LiveId" clId="{5BD569B1-74C3-4593-9EC2-60C3C8760E52}" dt="2019-07-31T19:49:07.001" v="1465" actId="207"/>
          <ac:spMkLst>
            <pc:docMk/>
            <pc:sldMk cId="1006973075" sldId="715"/>
            <ac:spMk id="8" creationId="{DD3D35B1-540A-4906-A032-2EEB413F4F89}"/>
          </ac:spMkLst>
        </pc:spChg>
        <pc:picChg chg="add del mod">
          <ac:chgData name="Dincer Konur" userId="0cb337efb386619d" providerId="LiveId" clId="{5BD569B1-74C3-4593-9EC2-60C3C8760E52}" dt="2019-07-31T19:46:10.002" v="1252" actId="478"/>
          <ac:picMkLst>
            <pc:docMk/>
            <pc:sldMk cId="1006973075" sldId="715"/>
            <ac:picMk id="5" creationId="{6199A70F-02E9-4789-8987-AA9D9BFE9D53}"/>
          </ac:picMkLst>
        </pc:picChg>
        <pc:picChg chg="add mod">
          <ac:chgData name="Dincer Konur" userId="0cb337efb386619d" providerId="LiveId" clId="{5BD569B1-74C3-4593-9EC2-60C3C8760E52}" dt="2019-07-31T19:46:20.704" v="1255" actId="1076"/>
          <ac:picMkLst>
            <pc:docMk/>
            <pc:sldMk cId="1006973075" sldId="715"/>
            <ac:picMk id="6" creationId="{2BB5F1C3-AE77-482F-B408-0DFC3B06504A}"/>
          </ac:picMkLst>
        </pc:picChg>
        <pc:picChg chg="add del">
          <ac:chgData name="Dincer Konur" userId="0cb337efb386619d" providerId="LiveId" clId="{5BD569B1-74C3-4593-9EC2-60C3C8760E52}" dt="2019-07-31T20:02:27.080" v="1469" actId="478"/>
          <ac:picMkLst>
            <pc:docMk/>
            <pc:sldMk cId="1006973075" sldId="715"/>
            <ac:picMk id="9" creationId="{CC135DC8-8F82-4E3F-9187-5C883AFF1B6F}"/>
          </ac:picMkLst>
        </pc:picChg>
      </pc:sldChg>
      <pc:sldChg chg="addSp delSp modSp add modAnim">
        <pc:chgData name="Dincer Konur" userId="0cb337efb386619d" providerId="LiveId" clId="{5BD569B1-74C3-4593-9EC2-60C3C8760E52}" dt="2019-08-03T00:49:19.840" v="4449" actId="20577"/>
        <pc:sldMkLst>
          <pc:docMk/>
          <pc:sldMk cId="2936801509" sldId="716"/>
        </pc:sldMkLst>
        <pc:spChg chg="mod">
          <ac:chgData name="Dincer Konur" userId="0cb337efb386619d" providerId="LiveId" clId="{5BD569B1-74C3-4593-9EC2-60C3C8760E52}" dt="2019-08-03T00:49:19.840" v="4449" actId="20577"/>
          <ac:spMkLst>
            <pc:docMk/>
            <pc:sldMk cId="2936801509" sldId="716"/>
            <ac:spMk id="3" creationId="{00000000-0000-0000-0000-000000000000}"/>
          </ac:spMkLst>
        </pc:spChg>
        <pc:spChg chg="mod ord">
          <ac:chgData name="Dincer Konur" userId="0cb337efb386619d" providerId="LiveId" clId="{5BD569B1-74C3-4593-9EC2-60C3C8760E52}" dt="2019-07-31T20:03:25.099" v="1540" actId="14100"/>
          <ac:spMkLst>
            <pc:docMk/>
            <pc:sldMk cId="2936801509" sldId="716"/>
            <ac:spMk id="7" creationId="{A26A413F-749B-4980-A382-6B7F3964FFE0}"/>
          </ac:spMkLst>
        </pc:spChg>
        <pc:spChg chg="del">
          <ac:chgData name="Dincer Konur" userId="0cb337efb386619d" providerId="LiveId" clId="{5BD569B1-74C3-4593-9EC2-60C3C8760E52}" dt="2019-07-31T20:02:39.713" v="1473" actId="478"/>
          <ac:spMkLst>
            <pc:docMk/>
            <pc:sldMk cId="2936801509" sldId="716"/>
            <ac:spMk id="8" creationId="{DD3D35B1-540A-4906-A032-2EEB413F4F89}"/>
          </ac:spMkLst>
        </pc:spChg>
        <pc:spChg chg="add mod">
          <ac:chgData name="Dincer Konur" userId="0cb337efb386619d" providerId="LiveId" clId="{5BD569B1-74C3-4593-9EC2-60C3C8760E52}" dt="2019-07-31T20:05:28.356" v="1596" actId="20577"/>
          <ac:spMkLst>
            <pc:docMk/>
            <pc:sldMk cId="2936801509" sldId="716"/>
            <ac:spMk id="10" creationId="{875BA862-8CF2-4614-BCF4-F29C6E740C08}"/>
          </ac:spMkLst>
        </pc:spChg>
        <pc:spChg chg="add mod">
          <ac:chgData name="Dincer Konur" userId="0cb337efb386619d" providerId="LiveId" clId="{5BD569B1-74C3-4593-9EC2-60C3C8760E52}" dt="2019-07-31T20:06:59.298" v="1688" actId="5793"/>
          <ac:spMkLst>
            <pc:docMk/>
            <pc:sldMk cId="2936801509" sldId="716"/>
            <ac:spMk id="11" creationId="{289B0ACC-0493-40F3-8A89-05D45FB31E8A}"/>
          </ac:spMkLst>
        </pc:spChg>
        <pc:picChg chg="add mod">
          <ac:chgData name="Dincer Konur" userId="0cb337efb386619d" providerId="LiveId" clId="{5BD569B1-74C3-4593-9EC2-60C3C8760E52}" dt="2019-07-31T20:05:32.676" v="1597" actId="1076"/>
          <ac:picMkLst>
            <pc:docMk/>
            <pc:sldMk cId="2936801509" sldId="716"/>
            <ac:picMk id="4" creationId="{B586BFE6-C30D-4892-907E-2D5728281B9E}"/>
          </ac:picMkLst>
        </pc:picChg>
        <pc:picChg chg="del">
          <ac:chgData name="Dincer Konur" userId="0cb337efb386619d" providerId="LiveId" clId="{5BD569B1-74C3-4593-9EC2-60C3C8760E52}" dt="2019-07-31T20:02:31.578" v="1470" actId="478"/>
          <ac:picMkLst>
            <pc:docMk/>
            <pc:sldMk cId="2936801509" sldId="716"/>
            <ac:picMk id="6" creationId="{2BB5F1C3-AE77-482F-B408-0DFC3B06504A}"/>
          </ac:picMkLst>
        </pc:picChg>
        <pc:picChg chg="mod">
          <ac:chgData name="Dincer Konur" userId="0cb337efb386619d" providerId="LiveId" clId="{5BD569B1-74C3-4593-9EC2-60C3C8760E52}" dt="2019-07-31T20:02:36.115" v="1472" actId="1076"/>
          <ac:picMkLst>
            <pc:docMk/>
            <pc:sldMk cId="2936801509" sldId="716"/>
            <ac:picMk id="9" creationId="{CC135DC8-8F82-4E3F-9187-5C883AFF1B6F}"/>
          </ac:picMkLst>
        </pc:picChg>
      </pc:sldChg>
      <pc:sldChg chg="addSp delSp modSp add modAnim">
        <pc:chgData name="Dincer Konur" userId="0cb337efb386619d" providerId="LiveId" clId="{5BD569B1-74C3-4593-9EC2-60C3C8760E52}" dt="2019-08-03T01:23:41.359" v="4459"/>
        <pc:sldMkLst>
          <pc:docMk/>
          <pc:sldMk cId="2127903492" sldId="717"/>
        </pc:sldMkLst>
        <pc:spChg chg="mod">
          <ac:chgData name="Dincer Konur" userId="0cb337efb386619d" providerId="LiveId" clId="{5BD569B1-74C3-4593-9EC2-60C3C8760E52}" dt="2019-07-31T20:12:32.563" v="1736" actId="20577"/>
          <ac:spMkLst>
            <pc:docMk/>
            <pc:sldMk cId="2127903492" sldId="717"/>
            <ac:spMk id="3" creationId="{00000000-0000-0000-0000-000000000000}"/>
          </ac:spMkLst>
        </pc:spChg>
        <pc:spChg chg="del">
          <ac:chgData name="Dincer Konur" userId="0cb337efb386619d" providerId="LiveId" clId="{5BD569B1-74C3-4593-9EC2-60C3C8760E52}" dt="2019-07-31T20:07:11.079" v="1690" actId="478"/>
          <ac:spMkLst>
            <pc:docMk/>
            <pc:sldMk cId="2127903492" sldId="717"/>
            <ac:spMk id="7" creationId="{A26A413F-749B-4980-A382-6B7F3964FFE0}"/>
          </ac:spMkLst>
        </pc:spChg>
        <pc:spChg chg="add mod">
          <ac:chgData name="Dincer Konur" userId="0cb337efb386619d" providerId="LiveId" clId="{5BD569B1-74C3-4593-9EC2-60C3C8760E52}" dt="2019-08-03T01:23:41.359" v="4459"/>
          <ac:spMkLst>
            <pc:docMk/>
            <pc:sldMk cId="2127903492" sldId="717"/>
            <ac:spMk id="8" creationId="{B0C8FA4F-C62F-4EB3-A207-6F45BBEAF4DA}"/>
          </ac:spMkLst>
        </pc:spChg>
        <pc:spChg chg="del">
          <ac:chgData name="Dincer Konur" userId="0cb337efb386619d" providerId="LiveId" clId="{5BD569B1-74C3-4593-9EC2-60C3C8760E52}" dt="2019-07-31T20:07:09.666" v="1689" actId="478"/>
          <ac:spMkLst>
            <pc:docMk/>
            <pc:sldMk cId="2127903492" sldId="717"/>
            <ac:spMk id="10" creationId="{875BA862-8CF2-4614-BCF4-F29C6E740C08}"/>
          </ac:spMkLst>
        </pc:spChg>
        <pc:spChg chg="add mod">
          <ac:chgData name="Dincer Konur" userId="0cb337efb386619d" providerId="LiveId" clId="{5BD569B1-74C3-4593-9EC2-60C3C8760E52}" dt="2019-07-31T20:13:47.832" v="1909" actId="14100"/>
          <ac:spMkLst>
            <pc:docMk/>
            <pc:sldMk cId="2127903492" sldId="717"/>
            <ac:spMk id="11" creationId="{E4438268-F3FB-46F9-8448-E093499EF902}"/>
          </ac:spMkLst>
        </pc:spChg>
        <pc:spChg chg="add mod">
          <ac:chgData name="Dincer Konur" userId="0cb337efb386619d" providerId="LiveId" clId="{5BD569B1-74C3-4593-9EC2-60C3C8760E52}" dt="2019-07-31T20:14:32.137" v="2045" actId="313"/>
          <ac:spMkLst>
            <pc:docMk/>
            <pc:sldMk cId="2127903492" sldId="717"/>
            <ac:spMk id="12" creationId="{2AE77DAB-3FE9-4876-B324-D455DA29ED82}"/>
          </ac:spMkLst>
        </pc:spChg>
        <pc:spChg chg="add mod">
          <ac:chgData name="Dincer Konur" userId="0cb337efb386619d" providerId="LiveId" clId="{5BD569B1-74C3-4593-9EC2-60C3C8760E52}" dt="2019-07-31T20:15:00.358" v="2076" actId="14100"/>
          <ac:spMkLst>
            <pc:docMk/>
            <pc:sldMk cId="2127903492" sldId="717"/>
            <ac:spMk id="13" creationId="{1C0F6416-27BF-401E-883E-F83208E986F1}"/>
          </ac:spMkLst>
        </pc:spChg>
        <pc:spChg chg="add mod">
          <ac:chgData name="Dincer Konur" userId="0cb337efb386619d" providerId="LiveId" clId="{5BD569B1-74C3-4593-9EC2-60C3C8760E52}" dt="2019-07-31T20:15:43.480" v="2182" actId="1076"/>
          <ac:spMkLst>
            <pc:docMk/>
            <pc:sldMk cId="2127903492" sldId="717"/>
            <ac:spMk id="14" creationId="{1B39E296-815C-4528-AB7C-4E2CFF96C863}"/>
          </ac:spMkLst>
        </pc:spChg>
        <pc:picChg chg="del">
          <ac:chgData name="Dincer Konur" userId="0cb337efb386619d" providerId="LiveId" clId="{5BD569B1-74C3-4593-9EC2-60C3C8760E52}" dt="2019-07-31T20:07:13.753" v="1692" actId="478"/>
          <ac:picMkLst>
            <pc:docMk/>
            <pc:sldMk cId="2127903492" sldId="717"/>
            <ac:picMk id="4" creationId="{B586BFE6-C30D-4892-907E-2D5728281B9E}"/>
          </ac:picMkLst>
        </pc:picChg>
        <pc:picChg chg="add mod">
          <ac:chgData name="Dincer Konur" userId="0cb337efb386619d" providerId="LiveId" clId="{5BD569B1-74C3-4593-9EC2-60C3C8760E52}" dt="2019-07-31T20:12:40.900" v="1739" actId="1076"/>
          <ac:picMkLst>
            <pc:docMk/>
            <pc:sldMk cId="2127903492" sldId="717"/>
            <ac:picMk id="5" creationId="{A5EB1580-8815-4B6A-A676-1D06CD3B2D24}"/>
          </ac:picMkLst>
        </pc:picChg>
        <pc:picChg chg="del">
          <ac:chgData name="Dincer Konur" userId="0cb337efb386619d" providerId="LiveId" clId="{5BD569B1-74C3-4593-9EC2-60C3C8760E52}" dt="2019-07-31T20:07:12.263" v="1691" actId="478"/>
          <ac:picMkLst>
            <pc:docMk/>
            <pc:sldMk cId="2127903492" sldId="717"/>
            <ac:picMk id="9" creationId="{CC135DC8-8F82-4E3F-9187-5C883AFF1B6F}"/>
          </ac:picMkLst>
        </pc:picChg>
      </pc:sldChg>
      <pc:sldChg chg="addSp delSp modSp add delAnim modAnim">
        <pc:chgData name="Dincer Konur" userId="0cb337efb386619d" providerId="LiveId" clId="{5BD569B1-74C3-4593-9EC2-60C3C8760E52}" dt="2019-08-03T01:23:53.883" v="4460"/>
        <pc:sldMkLst>
          <pc:docMk/>
          <pc:sldMk cId="4285146431" sldId="718"/>
        </pc:sldMkLst>
        <pc:spChg chg="mod">
          <ac:chgData name="Dincer Konur" userId="0cb337efb386619d" providerId="LiveId" clId="{5BD569B1-74C3-4593-9EC2-60C3C8760E52}" dt="2019-08-03T01:23:53.883" v="4460"/>
          <ac:spMkLst>
            <pc:docMk/>
            <pc:sldMk cId="4285146431" sldId="718"/>
            <ac:spMk id="8" creationId="{B0C8FA4F-C62F-4EB3-A207-6F45BBEAF4DA}"/>
          </ac:spMkLst>
        </pc:spChg>
        <pc:spChg chg="mod">
          <ac:chgData name="Dincer Konur" userId="0cb337efb386619d" providerId="LiveId" clId="{5BD569B1-74C3-4593-9EC2-60C3C8760E52}" dt="2019-07-31T20:18:13.915" v="2275" actId="5793"/>
          <ac:spMkLst>
            <pc:docMk/>
            <pc:sldMk cId="4285146431" sldId="718"/>
            <ac:spMk id="11" creationId="{E4438268-F3FB-46F9-8448-E093499EF902}"/>
          </ac:spMkLst>
        </pc:spChg>
        <pc:spChg chg="mod">
          <ac:chgData name="Dincer Konur" userId="0cb337efb386619d" providerId="LiveId" clId="{5BD569B1-74C3-4593-9EC2-60C3C8760E52}" dt="2019-07-31T20:18:53.660" v="2412" actId="14100"/>
          <ac:spMkLst>
            <pc:docMk/>
            <pc:sldMk cId="4285146431" sldId="718"/>
            <ac:spMk id="12" creationId="{2AE77DAB-3FE9-4876-B324-D455DA29ED82}"/>
          </ac:spMkLst>
        </pc:spChg>
        <pc:spChg chg="del">
          <ac:chgData name="Dincer Konur" userId="0cb337efb386619d" providerId="LiveId" clId="{5BD569B1-74C3-4593-9EC2-60C3C8760E52}" dt="2019-07-31T20:17:09.328" v="2186" actId="478"/>
          <ac:spMkLst>
            <pc:docMk/>
            <pc:sldMk cId="4285146431" sldId="718"/>
            <ac:spMk id="13" creationId="{1C0F6416-27BF-401E-883E-F83208E986F1}"/>
          </ac:spMkLst>
        </pc:spChg>
        <pc:spChg chg="del">
          <ac:chgData name="Dincer Konur" userId="0cb337efb386619d" providerId="LiveId" clId="{5BD569B1-74C3-4593-9EC2-60C3C8760E52}" dt="2019-07-31T20:17:04.886" v="2184" actId="478"/>
          <ac:spMkLst>
            <pc:docMk/>
            <pc:sldMk cId="4285146431" sldId="718"/>
            <ac:spMk id="14" creationId="{1B39E296-815C-4528-AB7C-4E2CFF96C863}"/>
          </ac:spMkLst>
        </pc:spChg>
        <pc:picChg chg="add mod ord">
          <ac:chgData name="Dincer Konur" userId="0cb337efb386619d" providerId="LiveId" clId="{5BD569B1-74C3-4593-9EC2-60C3C8760E52}" dt="2019-07-31T20:17:37.423" v="2190" actId="167"/>
          <ac:picMkLst>
            <pc:docMk/>
            <pc:sldMk cId="4285146431" sldId="718"/>
            <ac:picMk id="4" creationId="{964635C9-58C4-43C2-AA52-1D89FCE6C43A}"/>
          </ac:picMkLst>
        </pc:picChg>
        <pc:picChg chg="del">
          <ac:chgData name="Dincer Konur" userId="0cb337efb386619d" providerId="LiveId" clId="{5BD569B1-74C3-4593-9EC2-60C3C8760E52}" dt="2019-07-31T20:17:05.698" v="2185" actId="478"/>
          <ac:picMkLst>
            <pc:docMk/>
            <pc:sldMk cId="4285146431" sldId="718"/>
            <ac:picMk id="5" creationId="{A5EB1580-8815-4B6A-A676-1D06CD3B2D24}"/>
          </ac:picMkLst>
        </pc:picChg>
      </pc:sldChg>
      <pc:sldChg chg="addSp modSp add">
        <pc:chgData name="Dincer Konur" userId="0cb337efb386619d" providerId="LiveId" clId="{5BD569B1-74C3-4593-9EC2-60C3C8760E52}" dt="2019-07-31T21:08:29.172" v="3294" actId="1076"/>
        <pc:sldMkLst>
          <pc:docMk/>
          <pc:sldMk cId="4283292556" sldId="719"/>
        </pc:sldMkLst>
        <pc:spChg chg="mod">
          <ac:chgData name="Dincer Konur" userId="0cb337efb386619d" providerId="LiveId" clId="{5BD569B1-74C3-4593-9EC2-60C3C8760E52}" dt="2019-07-31T20:58:14.007" v="3199" actId="20577"/>
          <ac:spMkLst>
            <pc:docMk/>
            <pc:sldMk cId="4283292556" sldId="719"/>
            <ac:spMk id="3" creationId="{00000000-0000-0000-0000-000000000000}"/>
          </ac:spMkLst>
        </pc:spChg>
        <pc:spChg chg="add mod">
          <ac:chgData name="Dincer Konur" userId="0cb337efb386619d" providerId="LiveId" clId="{5BD569B1-74C3-4593-9EC2-60C3C8760E52}" dt="2019-07-31T20:57:16.879" v="3152" actId="14100"/>
          <ac:spMkLst>
            <pc:docMk/>
            <pc:sldMk cId="4283292556" sldId="719"/>
            <ac:spMk id="5" creationId="{F49275B2-11C7-49A2-B006-20B45ECCDDCA}"/>
          </ac:spMkLst>
        </pc:spChg>
        <pc:spChg chg="add mod">
          <ac:chgData name="Dincer Konur" userId="0cb337efb386619d" providerId="LiveId" clId="{5BD569B1-74C3-4593-9EC2-60C3C8760E52}" dt="2019-07-31T20:57:24.239" v="3167" actId="20577"/>
          <ac:spMkLst>
            <pc:docMk/>
            <pc:sldMk cId="4283292556" sldId="719"/>
            <ac:spMk id="6" creationId="{A524E390-1654-4F49-B7E4-34B1A1055BF9}"/>
          </ac:spMkLst>
        </pc:spChg>
        <pc:spChg chg="add mod">
          <ac:chgData name="Dincer Konur" userId="0cb337efb386619d" providerId="LiveId" clId="{5BD569B1-74C3-4593-9EC2-60C3C8760E52}" dt="2019-07-31T20:58:41.604" v="3282" actId="114"/>
          <ac:spMkLst>
            <pc:docMk/>
            <pc:sldMk cId="4283292556" sldId="719"/>
            <ac:spMk id="7" creationId="{B0D69140-36E3-434F-B1AC-EDFC4470CC12}"/>
          </ac:spMkLst>
        </pc:spChg>
        <pc:spChg chg="add mod">
          <ac:chgData name="Dincer Konur" userId="0cb337efb386619d" providerId="LiveId" clId="{5BD569B1-74C3-4593-9EC2-60C3C8760E52}" dt="2019-07-31T21:08:29.172" v="3294" actId="1076"/>
          <ac:spMkLst>
            <pc:docMk/>
            <pc:sldMk cId="4283292556" sldId="719"/>
            <ac:spMk id="8" creationId="{E1085079-F1BF-4759-BA6D-841AFEA22A41}"/>
          </ac:spMkLst>
        </pc:spChg>
        <pc:picChg chg="add mod">
          <ac:chgData name="Dincer Konur" userId="0cb337efb386619d" providerId="LiveId" clId="{5BD569B1-74C3-4593-9EC2-60C3C8760E52}" dt="2019-07-31T20:57:00.234" v="3149" actId="1076"/>
          <ac:picMkLst>
            <pc:docMk/>
            <pc:sldMk cId="4283292556" sldId="719"/>
            <ac:picMk id="4" creationId="{5E66AED2-1D09-45E4-BC92-93953F09E50B}"/>
          </ac:picMkLst>
        </pc:picChg>
      </pc:sldChg>
      <pc:sldChg chg="addSp delSp modSp add modAnim">
        <pc:chgData name="Dincer Konur" userId="0cb337efb386619d" providerId="LiveId" clId="{5BD569B1-74C3-4593-9EC2-60C3C8760E52}" dt="2019-07-31T21:25:28.027" v="4052" actId="14100"/>
        <pc:sldMkLst>
          <pc:docMk/>
          <pc:sldMk cId="584262458" sldId="720"/>
        </pc:sldMkLst>
        <pc:spChg chg="mod">
          <ac:chgData name="Dincer Konur" userId="0cb337efb386619d" providerId="LiveId" clId="{5BD569B1-74C3-4593-9EC2-60C3C8760E52}" dt="2019-07-31T21:23:04.805" v="3914" actId="20577"/>
          <ac:spMkLst>
            <pc:docMk/>
            <pc:sldMk cId="584262458" sldId="720"/>
            <ac:spMk id="3" creationId="{00000000-0000-0000-0000-000000000000}"/>
          </ac:spMkLst>
        </pc:spChg>
        <pc:spChg chg="del">
          <ac:chgData name="Dincer Konur" userId="0cb337efb386619d" providerId="LiveId" clId="{5BD569B1-74C3-4593-9EC2-60C3C8760E52}" dt="2019-07-31T21:09:33.374" v="3296" actId="478"/>
          <ac:spMkLst>
            <pc:docMk/>
            <pc:sldMk cId="584262458" sldId="720"/>
            <ac:spMk id="5" creationId="{F49275B2-11C7-49A2-B006-20B45ECCDDCA}"/>
          </ac:spMkLst>
        </pc:spChg>
        <pc:spChg chg="del">
          <ac:chgData name="Dincer Konur" userId="0cb337efb386619d" providerId="LiveId" clId="{5BD569B1-74C3-4593-9EC2-60C3C8760E52}" dt="2019-07-31T21:09:33.374" v="3296" actId="478"/>
          <ac:spMkLst>
            <pc:docMk/>
            <pc:sldMk cId="584262458" sldId="720"/>
            <ac:spMk id="6" creationId="{A524E390-1654-4F49-B7E4-34B1A1055BF9}"/>
          </ac:spMkLst>
        </pc:spChg>
        <pc:spChg chg="del">
          <ac:chgData name="Dincer Konur" userId="0cb337efb386619d" providerId="LiveId" clId="{5BD569B1-74C3-4593-9EC2-60C3C8760E52}" dt="2019-07-31T21:09:33.374" v="3296" actId="478"/>
          <ac:spMkLst>
            <pc:docMk/>
            <pc:sldMk cId="584262458" sldId="720"/>
            <ac:spMk id="7" creationId="{B0D69140-36E3-434F-B1AC-EDFC4470CC12}"/>
          </ac:spMkLst>
        </pc:spChg>
        <pc:spChg chg="del">
          <ac:chgData name="Dincer Konur" userId="0cb337efb386619d" providerId="LiveId" clId="{5BD569B1-74C3-4593-9EC2-60C3C8760E52}" dt="2019-07-31T21:09:33.374" v="3296" actId="478"/>
          <ac:spMkLst>
            <pc:docMk/>
            <pc:sldMk cId="584262458" sldId="720"/>
            <ac:spMk id="8" creationId="{E1085079-F1BF-4759-BA6D-841AFEA22A41}"/>
          </ac:spMkLst>
        </pc:spChg>
        <pc:spChg chg="add mod">
          <ac:chgData name="Dincer Konur" userId="0cb337efb386619d" providerId="LiveId" clId="{5BD569B1-74C3-4593-9EC2-60C3C8760E52}" dt="2019-07-31T21:11:38.455" v="3498" actId="1076"/>
          <ac:spMkLst>
            <pc:docMk/>
            <pc:sldMk cId="584262458" sldId="720"/>
            <ac:spMk id="9" creationId="{A821F5A1-A3D5-46CA-9570-929EFC07F7CE}"/>
          </ac:spMkLst>
        </pc:spChg>
        <pc:spChg chg="add mod">
          <ac:chgData name="Dincer Konur" userId="0cb337efb386619d" providerId="LiveId" clId="{5BD569B1-74C3-4593-9EC2-60C3C8760E52}" dt="2019-07-31T21:13:11.831" v="3586" actId="1076"/>
          <ac:spMkLst>
            <pc:docMk/>
            <pc:sldMk cId="584262458" sldId="720"/>
            <ac:spMk id="10" creationId="{EB4E423F-C75C-4265-AF27-A346F75185ED}"/>
          </ac:spMkLst>
        </pc:spChg>
        <pc:spChg chg="add mod">
          <ac:chgData name="Dincer Konur" userId="0cb337efb386619d" providerId="LiveId" clId="{5BD569B1-74C3-4593-9EC2-60C3C8760E52}" dt="2019-07-31T21:24:56.154" v="4046" actId="1076"/>
          <ac:spMkLst>
            <pc:docMk/>
            <pc:sldMk cId="584262458" sldId="720"/>
            <ac:spMk id="11" creationId="{790183BA-E1B5-4928-9B5A-77AD5180C465}"/>
          </ac:spMkLst>
        </pc:spChg>
        <pc:spChg chg="add mod">
          <ac:chgData name="Dincer Konur" userId="0cb337efb386619d" providerId="LiveId" clId="{5BD569B1-74C3-4593-9EC2-60C3C8760E52}" dt="2019-07-31T21:22:44.687" v="3868" actId="20577"/>
          <ac:spMkLst>
            <pc:docMk/>
            <pc:sldMk cId="584262458" sldId="720"/>
            <ac:spMk id="12" creationId="{31B98D73-4CBA-47A8-8F0F-2218DEE1FA38}"/>
          </ac:spMkLst>
        </pc:spChg>
        <pc:spChg chg="add mod">
          <ac:chgData name="Dincer Konur" userId="0cb337efb386619d" providerId="LiveId" clId="{5BD569B1-74C3-4593-9EC2-60C3C8760E52}" dt="2019-07-31T21:24:53.996" v="4045" actId="1076"/>
          <ac:spMkLst>
            <pc:docMk/>
            <pc:sldMk cId="584262458" sldId="720"/>
            <ac:spMk id="13" creationId="{4386E23F-92F4-4AEF-BED6-666A78704EF1}"/>
          </ac:spMkLst>
        </pc:spChg>
        <pc:spChg chg="add mod">
          <ac:chgData name="Dincer Konur" userId="0cb337efb386619d" providerId="LiveId" clId="{5BD569B1-74C3-4593-9EC2-60C3C8760E52}" dt="2019-07-31T21:24:49.197" v="4044" actId="1076"/>
          <ac:spMkLst>
            <pc:docMk/>
            <pc:sldMk cId="584262458" sldId="720"/>
            <ac:spMk id="14" creationId="{56B51B2F-55AA-4321-92B4-0080DCA77A13}"/>
          </ac:spMkLst>
        </pc:spChg>
        <pc:spChg chg="add mod">
          <ac:chgData name="Dincer Konur" userId="0cb337efb386619d" providerId="LiveId" clId="{5BD569B1-74C3-4593-9EC2-60C3C8760E52}" dt="2019-07-31T21:25:08.478" v="4049" actId="1076"/>
          <ac:spMkLst>
            <pc:docMk/>
            <pc:sldMk cId="584262458" sldId="720"/>
            <ac:spMk id="15" creationId="{13D2F5C7-6683-4D85-ACB8-496BC692DAC9}"/>
          </ac:spMkLst>
        </pc:spChg>
        <pc:picChg chg="del">
          <ac:chgData name="Dincer Konur" userId="0cb337efb386619d" providerId="LiveId" clId="{5BD569B1-74C3-4593-9EC2-60C3C8760E52}" dt="2019-07-31T21:09:33.374" v="3296" actId="478"/>
          <ac:picMkLst>
            <pc:docMk/>
            <pc:sldMk cId="584262458" sldId="720"/>
            <ac:picMk id="4" creationId="{5E66AED2-1D09-45E4-BC92-93953F09E50B}"/>
          </ac:picMkLst>
        </pc:picChg>
        <pc:cxnChg chg="add mod">
          <ac:chgData name="Dincer Konur" userId="0cb337efb386619d" providerId="LiveId" clId="{5BD569B1-74C3-4593-9EC2-60C3C8760E52}" dt="2019-07-31T21:25:28.027" v="4052" actId="14100"/>
          <ac:cxnSpMkLst>
            <pc:docMk/>
            <pc:sldMk cId="584262458" sldId="720"/>
            <ac:cxnSpMk id="17" creationId="{72634699-50F3-4201-B8F1-D1D15DA11705}"/>
          </ac:cxnSpMkLst>
        </pc:cxnChg>
        <pc:cxnChg chg="add mod">
          <ac:chgData name="Dincer Konur" userId="0cb337efb386619d" providerId="LiveId" clId="{5BD569B1-74C3-4593-9EC2-60C3C8760E52}" dt="2019-07-31T21:25:20.699" v="4051" actId="11529"/>
          <ac:cxnSpMkLst>
            <pc:docMk/>
            <pc:sldMk cId="584262458" sldId="720"/>
            <ac:cxnSpMk id="19" creationId="{2C4A8223-6E4A-49BA-85B0-B9E9DDDAA41D}"/>
          </ac:cxnSpMkLst>
        </pc:cxnChg>
      </pc:sldChg>
      <pc:sldChg chg="addSp delSp modSp add delAnim">
        <pc:chgData name="Dincer Konur" userId="0cb337efb386619d" providerId="LiveId" clId="{5BD569B1-74C3-4593-9EC2-60C3C8760E52}" dt="2019-07-31T21:29:02.259" v="4363" actId="20577"/>
        <pc:sldMkLst>
          <pc:docMk/>
          <pc:sldMk cId="382502865" sldId="721"/>
        </pc:sldMkLst>
        <pc:spChg chg="mod">
          <ac:chgData name="Dincer Konur" userId="0cb337efb386619d" providerId="LiveId" clId="{5BD569B1-74C3-4593-9EC2-60C3C8760E52}" dt="2019-07-31T21:29:02.259" v="4363" actId="20577"/>
          <ac:spMkLst>
            <pc:docMk/>
            <pc:sldMk cId="382502865" sldId="721"/>
            <ac:spMk id="3" creationId="{00000000-0000-0000-0000-000000000000}"/>
          </ac:spMkLst>
        </pc:spChg>
        <pc:spChg chg="add mod">
          <ac:chgData name="Dincer Konur" userId="0cb337efb386619d" providerId="LiveId" clId="{5BD569B1-74C3-4593-9EC2-60C3C8760E52}" dt="2019-07-31T21:26:35.583" v="4094" actId="1076"/>
          <ac:spMkLst>
            <pc:docMk/>
            <pc:sldMk cId="382502865" sldId="721"/>
            <ac:spMk id="4" creationId="{3DCE8981-4860-4120-A224-0844D71E8D5C}"/>
          </ac:spMkLst>
        </pc:spChg>
        <pc:spChg chg="del">
          <ac:chgData name="Dincer Konur" userId="0cb337efb386619d" providerId="LiveId" clId="{5BD569B1-74C3-4593-9EC2-60C3C8760E52}" dt="2019-07-31T21:25:39.086" v="4054" actId="478"/>
          <ac:spMkLst>
            <pc:docMk/>
            <pc:sldMk cId="382502865" sldId="721"/>
            <ac:spMk id="9" creationId="{A821F5A1-A3D5-46CA-9570-929EFC07F7CE}"/>
          </ac:spMkLst>
        </pc:spChg>
        <pc:spChg chg="del">
          <ac:chgData name="Dincer Konur" userId="0cb337efb386619d" providerId="LiveId" clId="{5BD569B1-74C3-4593-9EC2-60C3C8760E52}" dt="2019-07-31T21:25:39.086" v="4054" actId="478"/>
          <ac:spMkLst>
            <pc:docMk/>
            <pc:sldMk cId="382502865" sldId="721"/>
            <ac:spMk id="10" creationId="{EB4E423F-C75C-4265-AF27-A346F75185ED}"/>
          </ac:spMkLst>
        </pc:spChg>
        <pc:spChg chg="del">
          <ac:chgData name="Dincer Konur" userId="0cb337efb386619d" providerId="LiveId" clId="{5BD569B1-74C3-4593-9EC2-60C3C8760E52}" dt="2019-07-31T21:25:39.086" v="4054" actId="478"/>
          <ac:spMkLst>
            <pc:docMk/>
            <pc:sldMk cId="382502865" sldId="721"/>
            <ac:spMk id="11" creationId="{790183BA-E1B5-4928-9B5A-77AD5180C465}"/>
          </ac:spMkLst>
        </pc:spChg>
        <pc:spChg chg="del">
          <ac:chgData name="Dincer Konur" userId="0cb337efb386619d" providerId="LiveId" clId="{5BD569B1-74C3-4593-9EC2-60C3C8760E52}" dt="2019-07-31T21:25:39.086" v="4054" actId="478"/>
          <ac:spMkLst>
            <pc:docMk/>
            <pc:sldMk cId="382502865" sldId="721"/>
            <ac:spMk id="12" creationId="{31B98D73-4CBA-47A8-8F0F-2218DEE1FA38}"/>
          </ac:spMkLst>
        </pc:spChg>
        <pc:spChg chg="del">
          <ac:chgData name="Dincer Konur" userId="0cb337efb386619d" providerId="LiveId" clId="{5BD569B1-74C3-4593-9EC2-60C3C8760E52}" dt="2019-07-31T21:25:39.086" v="4054" actId="478"/>
          <ac:spMkLst>
            <pc:docMk/>
            <pc:sldMk cId="382502865" sldId="721"/>
            <ac:spMk id="13" creationId="{4386E23F-92F4-4AEF-BED6-666A78704EF1}"/>
          </ac:spMkLst>
        </pc:spChg>
        <pc:spChg chg="del">
          <ac:chgData name="Dincer Konur" userId="0cb337efb386619d" providerId="LiveId" clId="{5BD569B1-74C3-4593-9EC2-60C3C8760E52}" dt="2019-07-31T21:25:39.086" v="4054" actId="478"/>
          <ac:spMkLst>
            <pc:docMk/>
            <pc:sldMk cId="382502865" sldId="721"/>
            <ac:spMk id="14" creationId="{56B51B2F-55AA-4321-92B4-0080DCA77A13}"/>
          </ac:spMkLst>
        </pc:spChg>
        <pc:spChg chg="del">
          <ac:chgData name="Dincer Konur" userId="0cb337efb386619d" providerId="LiveId" clId="{5BD569B1-74C3-4593-9EC2-60C3C8760E52}" dt="2019-07-31T21:25:39.086" v="4054" actId="478"/>
          <ac:spMkLst>
            <pc:docMk/>
            <pc:sldMk cId="382502865" sldId="721"/>
            <ac:spMk id="15" creationId="{13D2F5C7-6683-4D85-ACB8-496BC692DAC9}"/>
          </ac:spMkLst>
        </pc:spChg>
        <pc:cxnChg chg="del">
          <ac:chgData name="Dincer Konur" userId="0cb337efb386619d" providerId="LiveId" clId="{5BD569B1-74C3-4593-9EC2-60C3C8760E52}" dt="2019-07-31T21:25:39.086" v="4054" actId="478"/>
          <ac:cxnSpMkLst>
            <pc:docMk/>
            <pc:sldMk cId="382502865" sldId="721"/>
            <ac:cxnSpMk id="17" creationId="{72634699-50F3-4201-B8F1-D1D15DA11705}"/>
          </ac:cxnSpMkLst>
        </pc:cxnChg>
        <pc:cxnChg chg="del mod">
          <ac:chgData name="Dincer Konur" userId="0cb337efb386619d" providerId="LiveId" clId="{5BD569B1-74C3-4593-9EC2-60C3C8760E52}" dt="2019-07-31T21:25:39.086" v="4054" actId="478"/>
          <ac:cxnSpMkLst>
            <pc:docMk/>
            <pc:sldMk cId="382502865" sldId="721"/>
            <ac:cxnSpMk id="19" creationId="{2C4A8223-6E4A-49BA-85B0-B9E9DDDAA41D}"/>
          </ac:cxnSpMkLst>
        </pc:cxn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8528" cy="466514"/>
          </a:xfrm>
          <a:prstGeom prst="rect">
            <a:avLst/>
          </a:prstGeom>
        </p:spPr>
        <p:txBody>
          <a:bodyPr vert="horz" lIns="93196" tIns="46598" rIns="93196" bIns="46598" rtlCol="0"/>
          <a:lstStyle>
            <a:lvl1pPr algn="l">
              <a:defRPr sz="1200"/>
            </a:lvl1pPr>
          </a:lstStyle>
          <a:p>
            <a:endParaRPr lang="en-US"/>
          </a:p>
        </p:txBody>
      </p:sp>
      <p:sp>
        <p:nvSpPr>
          <p:cNvPr id="3" name="Date Placeholder 2"/>
          <p:cNvSpPr>
            <a:spLocks noGrp="1"/>
          </p:cNvSpPr>
          <p:nvPr>
            <p:ph type="dt" idx="1"/>
          </p:nvPr>
        </p:nvSpPr>
        <p:spPr>
          <a:xfrm>
            <a:off x="3971837" y="0"/>
            <a:ext cx="3038528" cy="466514"/>
          </a:xfrm>
          <a:prstGeom prst="rect">
            <a:avLst/>
          </a:prstGeom>
        </p:spPr>
        <p:txBody>
          <a:bodyPr vert="horz" lIns="93196" tIns="46598" rIns="93196" bIns="46598" rtlCol="0"/>
          <a:lstStyle>
            <a:lvl1pPr algn="r">
              <a:defRPr sz="1200"/>
            </a:lvl1pPr>
          </a:lstStyle>
          <a:p>
            <a:fld id="{3768A81C-13E0-402A-9BD9-36F3DFFB46F8}" type="datetimeFigureOut">
              <a:rPr lang="en-US" smtClean="0"/>
              <a:t>11/15/24</a:t>
            </a:fld>
            <a:endParaRPr lang="en-US"/>
          </a:p>
        </p:txBody>
      </p:sp>
      <p:sp>
        <p:nvSpPr>
          <p:cNvPr id="4" name="Slide Image Placeholder 3"/>
          <p:cNvSpPr>
            <a:spLocks noGrp="1" noRot="1" noChangeAspect="1"/>
          </p:cNvSpPr>
          <p:nvPr>
            <p:ph type="sldImg" idx="2"/>
          </p:nvPr>
        </p:nvSpPr>
        <p:spPr>
          <a:xfrm>
            <a:off x="715963" y="1162050"/>
            <a:ext cx="5580062" cy="3138488"/>
          </a:xfrm>
          <a:prstGeom prst="rect">
            <a:avLst/>
          </a:prstGeom>
          <a:noFill/>
          <a:ln w="12700">
            <a:solidFill>
              <a:prstClr val="black"/>
            </a:solidFill>
          </a:ln>
        </p:spPr>
        <p:txBody>
          <a:bodyPr vert="horz" lIns="93196" tIns="46598" rIns="93196" bIns="46598" rtlCol="0" anchor="ctr"/>
          <a:lstStyle/>
          <a:p>
            <a:endParaRPr lang="en-US"/>
          </a:p>
        </p:txBody>
      </p:sp>
      <p:sp>
        <p:nvSpPr>
          <p:cNvPr id="5" name="Notes Placeholder 4"/>
          <p:cNvSpPr>
            <a:spLocks noGrp="1"/>
          </p:cNvSpPr>
          <p:nvPr>
            <p:ph type="body" sz="quarter" idx="3"/>
          </p:nvPr>
        </p:nvSpPr>
        <p:spPr>
          <a:xfrm>
            <a:off x="701199" y="4474657"/>
            <a:ext cx="5609590" cy="3661083"/>
          </a:xfrm>
          <a:prstGeom prst="rect">
            <a:avLst/>
          </a:prstGeom>
        </p:spPr>
        <p:txBody>
          <a:bodyPr vert="horz" lIns="93196" tIns="46598" rIns="93196" bIns="46598"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831475"/>
            <a:ext cx="3038528" cy="466513"/>
          </a:xfrm>
          <a:prstGeom prst="rect">
            <a:avLst/>
          </a:prstGeom>
        </p:spPr>
        <p:txBody>
          <a:bodyPr vert="horz" lIns="93196" tIns="46598" rIns="93196" bIns="46598" rtlCol="0" anchor="b"/>
          <a:lstStyle>
            <a:lvl1pPr algn="l">
              <a:defRPr sz="1200"/>
            </a:lvl1pPr>
          </a:lstStyle>
          <a:p>
            <a:endParaRPr lang="en-US"/>
          </a:p>
        </p:txBody>
      </p:sp>
      <p:sp>
        <p:nvSpPr>
          <p:cNvPr id="7" name="Slide Number Placeholder 6"/>
          <p:cNvSpPr>
            <a:spLocks noGrp="1"/>
          </p:cNvSpPr>
          <p:nvPr>
            <p:ph type="sldNum" sz="quarter" idx="5"/>
          </p:nvPr>
        </p:nvSpPr>
        <p:spPr>
          <a:xfrm>
            <a:off x="3971837" y="8831475"/>
            <a:ext cx="3038528" cy="466513"/>
          </a:xfrm>
          <a:prstGeom prst="rect">
            <a:avLst/>
          </a:prstGeom>
        </p:spPr>
        <p:txBody>
          <a:bodyPr vert="horz" lIns="93196" tIns="46598" rIns="93196" bIns="46598" rtlCol="0" anchor="b"/>
          <a:lstStyle>
            <a:lvl1pPr algn="r">
              <a:defRPr sz="1200"/>
            </a:lvl1pPr>
          </a:lstStyle>
          <a:p>
            <a:fld id="{209376B9-9838-4376-9895-3384D05A8DF5}" type="slidenum">
              <a:rPr lang="en-US" smtClean="0"/>
              <a:t>‹#›</a:t>
            </a:fld>
            <a:endParaRPr lang="en-US"/>
          </a:p>
        </p:txBody>
      </p:sp>
    </p:spTree>
    <p:extLst>
      <p:ext uri="{BB962C8B-B14F-4D97-AF65-F5344CB8AC3E}">
        <p14:creationId xmlns:p14="http://schemas.microsoft.com/office/powerpoint/2010/main" val="399736949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09376B9-9838-4376-9895-3384D05A8DF5}" type="slidenum">
              <a:rPr lang="en-US" smtClean="0"/>
              <a:t>1</a:t>
            </a:fld>
            <a:endParaRPr lang="en-US"/>
          </a:p>
        </p:txBody>
      </p:sp>
    </p:spTree>
    <p:extLst>
      <p:ext uri="{BB962C8B-B14F-4D97-AF65-F5344CB8AC3E}">
        <p14:creationId xmlns:p14="http://schemas.microsoft.com/office/powerpoint/2010/main" val="395993406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09376B9-9838-4376-9895-3384D05A8DF5}" type="slidenum">
              <a:rPr lang="en-US" smtClean="0"/>
              <a:t>4</a:t>
            </a:fld>
            <a:endParaRPr lang="en-US"/>
          </a:p>
        </p:txBody>
      </p:sp>
    </p:spTree>
    <p:extLst>
      <p:ext uri="{BB962C8B-B14F-4D97-AF65-F5344CB8AC3E}">
        <p14:creationId xmlns:p14="http://schemas.microsoft.com/office/powerpoint/2010/main" val="365377325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09376B9-9838-4376-9895-3384D05A8DF5}" type="slidenum">
              <a:rPr lang="en-US" smtClean="0"/>
              <a:t>5</a:t>
            </a:fld>
            <a:endParaRPr lang="en-US"/>
          </a:p>
        </p:txBody>
      </p:sp>
    </p:spTree>
    <p:extLst>
      <p:ext uri="{BB962C8B-B14F-4D97-AF65-F5344CB8AC3E}">
        <p14:creationId xmlns:p14="http://schemas.microsoft.com/office/powerpoint/2010/main" val="325524654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09376B9-9838-4376-9895-3384D05A8DF5}" type="slidenum">
              <a:rPr lang="en-US" smtClean="0"/>
              <a:t>6</a:t>
            </a:fld>
            <a:endParaRPr lang="en-US"/>
          </a:p>
        </p:txBody>
      </p:sp>
    </p:spTree>
    <p:extLst>
      <p:ext uri="{BB962C8B-B14F-4D97-AF65-F5344CB8AC3E}">
        <p14:creationId xmlns:p14="http://schemas.microsoft.com/office/powerpoint/2010/main" val="184047362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09376B9-9838-4376-9895-3384D05A8DF5}" type="slidenum">
              <a:rPr lang="en-US" smtClean="0"/>
              <a:t>7</a:t>
            </a:fld>
            <a:endParaRPr lang="en-US"/>
          </a:p>
        </p:txBody>
      </p:sp>
    </p:spTree>
    <p:extLst>
      <p:ext uri="{BB962C8B-B14F-4D97-AF65-F5344CB8AC3E}">
        <p14:creationId xmlns:p14="http://schemas.microsoft.com/office/powerpoint/2010/main" val="183804823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09376B9-9838-4376-9895-3384D05A8DF5}" type="slidenum">
              <a:rPr lang="en-US" smtClean="0"/>
              <a:t>8</a:t>
            </a:fld>
            <a:endParaRPr lang="en-US"/>
          </a:p>
        </p:txBody>
      </p:sp>
    </p:spTree>
    <p:extLst>
      <p:ext uri="{BB962C8B-B14F-4D97-AF65-F5344CB8AC3E}">
        <p14:creationId xmlns:p14="http://schemas.microsoft.com/office/powerpoint/2010/main" val="90667254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09376B9-9838-4376-9895-3384D05A8DF5}" type="slidenum">
              <a:rPr lang="en-US" smtClean="0"/>
              <a:t>9</a:t>
            </a:fld>
            <a:endParaRPr lang="en-US"/>
          </a:p>
        </p:txBody>
      </p:sp>
    </p:spTree>
    <p:extLst>
      <p:ext uri="{BB962C8B-B14F-4D97-AF65-F5344CB8AC3E}">
        <p14:creationId xmlns:p14="http://schemas.microsoft.com/office/powerpoint/2010/main" val="57022512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09376B9-9838-4376-9895-3384D05A8DF5}" type="slidenum">
              <a:rPr lang="en-US" smtClean="0"/>
              <a:t>10</a:t>
            </a:fld>
            <a:endParaRPr lang="en-US"/>
          </a:p>
        </p:txBody>
      </p:sp>
    </p:spTree>
    <p:extLst>
      <p:ext uri="{BB962C8B-B14F-4D97-AF65-F5344CB8AC3E}">
        <p14:creationId xmlns:p14="http://schemas.microsoft.com/office/powerpoint/2010/main" val="180708829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09376B9-9838-4376-9895-3384D05A8DF5}" type="slidenum">
              <a:rPr lang="en-US" smtClean="0"/>
              <a:t>11</a:t>
            </a:fld>
            <a:endParaRPr lang="en-US"/>
          </a:p>
        </p:txBody>
      </p:sp>
    </p:spTree>
    <p:extLst>
      <p:ext uri="{BB962C8B-B14F-4D97-AF65-F5344CB8AC3E}">
        <p14:creationId xmlns:p14="http://schemas.microsoft.com/office/powerpoint/2010/main" val="429028615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09376B9-9838-4376-9895-3384D05A8DF5}" type="slidenum">
              <a:rPr lang="en-US" smtClean="0"/>
              <a:t>12</a:t>
            </a:fld>
            <a:endParaRPr lang="en-US"/>
          </a:p>
        </p:txBody>
      </p:sp>
    </p:spTree>
    <p:extLst>
      <p:ext uri="{BB962C8B-B14F-4D97-AF65-F5344CB8AC3E}">
        <p14:creationId xmlns:p14="http://schemas.microsoft.com/office/powerpoint/2010/main" val="50483297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09376B9-9838-4376-9895-3384D05A8DF5}" type="slidenum">
              <a:rPr lang="en-US" smtClean="0"/>
              <a:t>13</a:t>
            </a:fld>
            <a:endParaRPr lang="en-US"/>
          </a:p>
        </p:txBody>
      </p:sp>
    </p:spTree>
    <p:extLst>
      <p:ext uri="{BB962C8B-B14F-4D97-AF65-F5344CB8AC3E}">
        <p14:creationId xmlns:p14="http://schemas.microsoft.com/office/powerpoint/2010/main" val="92176701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09376B9-9838-4376-9895-3384D05A8DF5}" type="slidenum">
              <a:rPr lang="en-US" smtClean="0"/>
              <a:t>14</a:t>
            </a:fld>
            <a:endParaRPr lang="en-US"/>
          </a:p>
        </p:txBody>
      </p:sp>
    </p:spTree>
    <p:extLst>
      <p:ext uri="{BB962C8B-B14F-4D97-AF65-F5344CB8AC3E}">
        <p14:creationId xmlns:p14="http://schemas.microsoft.com/office/powerpoint/2010/main" val="152002669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09376B9-9838-4376-9895-3384D05A8DF5}" type="slidenum">
              <a:rPr lang="en-US" smtClean="0"/>
              <a:t>15</a:t>
            </a:fld>
            <a:endParaRPr lang="en-US"/>
          </a:p>
        </p:txBody>
      </p:sp>
    </p:spTree>
    <p:extLst>
      <p:ext uri="{BB962C8B-B14F-4D97-AF65-F5344CB8AC3E}">
        <p14:creationId xmlns:p14="http://schemas.microsoft.com/office/powerpoint/2010/main" val="344130016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09376B9-9838-4376-9895-3384D05A8DF5}" type="slidenum">
              <a:rPr lang="en-US" smtClean="0"/>
              <a:t>16</a:t>
            </a:fld>
            <a:endParaRPr lang="en-US"/>
          </a:p>
        </p:txBody>
      </p:sp>
    </p:spTree>
    <p:extLst>
      <p:ext uri="{BB962C8B-B14F-4D97-AF65-F5344CB8AC3E}">
        <p14:creationId xmlns:p14="http://schemas.microsoft.com/office/powerpoint/2010/main" val="246014059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09376B9-9838-4376-9895-3384D05A8DF5}" type="slidenum">
              <a:rPr lang="en-US" smtClean="0"/>
              <a:t>17</a:t>
            </a:fld>
            <a:endParaRPr lang="en-US"/>
          </a:p>
        </p:txBody>
      </p:sp>
    </p:spTree>
    <p:extLst>
      <p:ext uri="{BB962C8B-B14F-4D97-AF65-F5344CB8AC3E}">
        <p14:creationId xmlns:p14="http://schemas.microsoft.com/office/powerpoint/2010/main" val="378103863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09376B9-9838-4376-9895-3384D05A8DF5}" type="slidenum">
              <a:rPr lang="en-US" smtClean="0"/>
              <a:t>18</a:t>
            </a:fld>
            <a:endParaRPr lang="en-US"/>
          </a:p>
        </p:txBody>
      </p:sp>
    </p:spTree>
    <p:extLst>
      <p:ext uri="{BB962C8B-B14F-4D97-AF65-F5344CB8AC3E}">
        <p14:creationId xmlns:p14="http://schemas.microsoft.com/office/powerpoint/2010/main" val="183170742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09376B9-9838-4376-9895-3384D05A8DF5}" type="slidenum">
              <a:rPr lang="en-US" smtClean="0"/>
              <a:t>19</a:t>
            </a:fld>
            <a:endParaRPr lang="en-US"/>
          </a:p>
        </p:txBody>
      </p:sp>
    </p:spTree>
    <p:extLst>
      <p:ext uri="{BB962C8B-B14F-4D97-AF65-F5344CB8AC3E}">
        <p14:creationId xmlns:p14="http://schemas.microsoft.com/office/powerpoint/2010/main" val="381210236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09376B9-9838-4376-9895-3384D05A8DF5}" type="slidenum">
              <a:rPr lang="en-US" smtClean="0"/>
              <a:t>20</a:t>
            </a:fld>
            <a:endParaRPr lang="en-US"/>
          </a:p>
        </p:txBody>
      </p:sp>
    </p:spTree>
    <p:extLst>
      <p:ext uri="{BB962C8B-B14F-4D97-AF65-F5344CB8AC3E}">
        <p14:creationId xmlns:p14="http://schemas.microsoft.com/office/powerpoint/2010/main" val="37541622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09376B9-9838-4376-9895-3384D05A8DF5}" type="slidenum">
              <a:rPr lang="en-US" smtClean="0"/>
              <a:t>21</a:t>
            </a:fld>
            <a:endParaRPr lang="en-US"/>
          </a:p>
        </p:txBody>
      </p:sp>
    </p:spTree>
    <p:extLst>
      <p:ext uri="{BB962C8B-B14F-4D97-AF65-F5344CB8AC3E}">
        <p14:creationId xmlns:p14="http://schemas.microsoft.com/office/powerpoint/2010/main" val="406172055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09376B9-9838-4376-9895-3384D05A8DF5}" type="slidenum">
              <a:rPr lang="en-US" smtClean="0"/>
              <a:t>22</a:t>
            </a:fld>
            <a:endParaRPr lang="en-US"/>
          </a:p>
        </p:txBody>
      </p:sp>
    </p:spTree>
    <p:extLst>
      <p:ext uri="{BB962C8B-B14F-4D97-AF65-F5344CB8AC3E}">
        <p14:creationId xmlns:p14="http://schemas.microsoft.com/office/powerpoint/2010/main" val="246307688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09376B9-9838-4376-9895-3384D05A8DF5}" type="slidenum">
              <a:rPr lang="en-US" smtClean="0"/>
              <a:t>23</a:t>
            </a:fld>
            <a:endParaRPr lang="en-US"/>
          </a:p>
        </p:txBody>
      </p:sp>
    </p:spTree>
    <p:extLst>
      <p:ext uri="{BB962C8B-B14F-4D97-AF65-F5344CB8AC3E}">
        <p14:creationId xmlns:p14="http://schemas.microsoft.com/office/powerpoint/2010/main" val="275515294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09376B9-9838-4376-9895-3384D05A8DF5}" type="slidenum">
              <a:rPr lang="en-US" smtClean="0"/>
              <a:t>24</a:t>
            </a:fld>
            <a:endParaRPr lang="en-US"/>
          </a:p>
        </p:txBody>
      </p:sp>
    </p:spTree>
    <p:extLst>
      <p:ext uri="{BB962C8B-B14F-4D97-AF65-F5344CB8AC3E}">
        <p14:creationId xmlns:p14="http://schemas.microsoft.com/office/powerpoint/2010/main" val="372455514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09376B9-9838-4376-9895-3384D05A8DF5}" type="slidenum">
              <a:rPr lang="en-US" smtClean="0"/>
              <a:t>26</a:t>
            </a:fld>
            <a:endParaRPr lang="en-US"/>
          </a:p>
        </p:txBody>
      </p:sp>
    </p:spTree>
    <p:extLst>
      <p:ext uri="{BB962C8B-B14F-4D97-AF65-F5344CB8AC3E}">
        <p14:creationId xmlns:p14="http://schemas.microsoft.com/office/powerpoint/2010/main" val="57246080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09376B9-9838-4376-9895-3384D05A8DF5}" type="slidenum">
              <a:rPr lang="en-US" smtClean="0"/>
              <a:t>27</a:t>
            </a:fld>
            <a:endParaRPr lang="en-US"/>
          </a:p>
        </p:txBody>
      </p:sp>
    </p:spTree>
    <p:extLst>
      <p:ext uri="{BB962C8B-B14F-4D97-AF65-F5344CB8AC3E}">
        <p14:creationId xmlns:p14="http://schemas.microsoft.com/office/powerpoint/2010/main" val="424906051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09376B9-9838-4376-9895-3384D05A8DF5}" type="slidenum">
              <a:rPr lang="en-US" smtClean="0"/>
              <a:t>28</a:t>
            </a:fld>
            <a:endParaRPr lang="en-US"/>
          </a:p>
        </p:txBody>
      </p:sp>
    </p:spTree>
    <p:extLst>
      <p:ext uri="{BB962C8B-B14F-4D97-AF65-F5344CB8AC3E}">
        <p14:creationId xmlns:p14="http://schemas.microsoft.com/office/powerpoint/2010/main" val="251606873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09376B9-9838-4376-9895-3384D05A8DF5}" type="slidenum">
              <a:rPr lang="en-US" smtClean="0"/>
              <a:t>29</a:t>
            </a:fld>
            <a:endParaRPr lang="en-US"/>
          </a:p>
        </p:txBody>
      </p:sp>
    </p:spTree>
    <p:extLst>
      <p:ext uri="{BB962C8B-B14F-4D97-AF65-F5344CB8AC3E}">
        <p14:creationId xmlns:p14="http://schemas.microsoft.com/office/powerpoint/2010/main" val="180380897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09376B9-9838-4376-9895-3384D05A8DF5}" type="slidenum">
              <a:rPr lang="en-US" smtClean="0"/>
              <a:t>30</a:t>
            </a:fld>
            <a:endParaRPr lang="en-US"/>
          </a:p>
        </p:txBody>
      </p:sp>
    </p:spTree>
    <p:extLst>
      <p:ext uri="{BB962C8B-B14F-4D97-AF65-F5344CB8AC3E}">
        <p14:creationId xmlns:p14="http://schemas.microsoft.com/office/powerpoint/2010/main" val="249319163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09376B9-9838-4376-9895-3384D05A8DF5}" type="slidenum">
              <a:rPr lang="en-US" smtClean="0"/>
              <a:t>31</a:t>
            </a:fld>
            <a:endParaRPr lang="en-US"/>
          </a:p>
        </p:txBody>
      </p:sp>
    </p:spTree>
    <p:extLst>
      <p:ext uri="{BB962C8B-B14F-4D97-AF65-F5344CB8AC3E}">
        <p14:creationId xmlns:p14="http://schemas.microsoft.com/office/powerpoint/2010/main" val="196300213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09376B9-9838-4376-9895-3384D05A8DF5}" type="slidenum">
              <a:rPr lang="en-US" smtClean="0"/>
              <a:t>32</a:t>
            </a:fld>
            <a:endParaRPr lang="en-US"/>
          </a:p>
        </p:txBody>
      </p:sp>
    </p:spTree>
    <p:extLst>
      <p:ext uri="{BB962C8B-B14F-4D97-AF65-F5344CB8AC3E}">
        <p14:creationId xmlns:p14="http://schemas.microsoft.com/office/powerpoint/2010/main" val="1567555745"/>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09376B9-9838-4376-9895-3384D05A8DF5}" type="slidenum">
              <a:rPr lang="en-US" smtClean="0"/>
              <a:t>33</a:t>
            </a:fld>
            <a:endParaRPr lang="en-US"/>
          </a:p>
        </p:txBody>
      </p:sp>
    </p:spTree>
    <p:extLst>
      <p:ext uri="{BB962C8B-B14F-4D97-AF65-F5344CB8AC3E}">
        <p14:creationId xmlns:p14="http://schemas.microsoft.com/office/powerpoint/2010/main" val="361739310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09376B9-9838-4376-9895-3384D05A8DF5}" type="slidenum">
              <a:rPr lang="en-US" smtClean="0"/>
              <a:t>34</a:t>
            </a:fld>
            <a:endParaRPr lang="en-US"/>
          </a:p>
        </p:txBody>
      </p:sp>
    </p:spTree>
    <p:extLst>
      <p:ext uri="{BB962C8B-B14F-4D97-AF65-F5344CB8AC3E}">
        <p14:creationId xmlns:p14="http://schemas.microsoft.com/office/powerpoint/2010/main" val="902608908"/>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09376B9-9838-4376-9895-3384D05A8DF5}" type="slidenum">
              <a:rPr lang="en-US" smtClean="0"/>
              <a:t>35</a:t>
            </a:fld>
            <a:endParaRPr lang="en-US"/>
          </a:p>
        </p:txBody>
      </p:sp>
    </p:spTree>
    <p:extLst>
      <p:ext uri="{BB962C8B-B14F-4D97-AF65-F5344CB8AC3E}">
        <p14:creationId xmlns:p14="http://schemas.microsoft.com/office/powerpoint/2010/main" val="3177945898"/>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09376B9-9838-4376-9895-3384D05A8DF5}" type="slidenum">
              <a:rPr lang="en-US" smtClean="0"/>
              <a:t>37</a:t>
            </a:fld>
            <a:endParaRPr lang="en-US"/>
          </a:p>
        </p:txBody>
      </p:sp>
    </p:spTree>
    <p:extLst>
      <p:ext uri="{BB962C8B-B14F-4D97-AF65-F5344CB8AC3E}">
        <p14:creationId xmlns:p14="http://schemas.microsoft.com/office/powerpoint/2010/main" val="2525236289"/>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09376B9-9838-4376-9895-3384D05A8DF5}" type="slidenum">
              <a:rPr lang="en-US" smtClean="0"/>
              <a:t>38</a:t>
            </a:fld>
            <a:endParaRPr lang="en-US"/>
          </a:p>
        </p:txBody>
      </p:sp>
    </p:spTree>
    <p:extLst>
      <p:ext uri="{BB962C8B-B14F-4D97-AF65-F5344CB8AC3E}">
        <p14:creationId xmlns:p14="http://schemas.microsoft.com/office/powerpoint/2010/main" val="3712112946"/>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09376B9-9838-4376-9895-3384D05A8DF5}" type="slidenum">
              <a:rPr lang="en-US" smtClean="0"/>
              <a:t>39</a:t>
            </a:fld>
            <a:endParaRPr lang="en-US"/>
          </a:p>
        </p:txBody>
      </p:sp>
    </p:spTree>
    <p:extLst>
      <p:ext uri="{BB962C8B-B14F-4D97-AF65-F5344CB8AC3E}">
        <p14:creationId xmlns:p14="http://schemas.microsoft.com/office/powerpoint/2010/main" val="2357473609"/>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09376B9-9838-4376-9895-3384D05A8DF5}" type="slidenum">
              <a:rPr lang="en-US" smtClean="0"/>
              <a:t>40</a:t>
            </a:fld>
            <a:endParaRPr lang="en-US"/>
          </a:p>
        </p:txBody>
      </p:sp>
    </p:spTree>
    <p:extLst>
      <p:ext uri="{BB962C8B-B14F-4D97-AF65-F5344CB8AC3E}">
        <p14:creationId xmlns:p14="http://schemas.microsoft.com/office/powerpoint/2010/main" val="2285416902"/>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09376B9-9838-4376-9895-3384D05A8DF5}" type="slidenum">
              <a:rPr lang="en-US" smtClean="0"/>
              <a:t>42</a:t>
            </a:fld>
            <a:endParaRPr lang="en-US"/>
          </a:p>
        </p:txBody>
      </p:sp>
    </p:spTree>
    <p:extLst>
      <p:ext uri="{BB962C8B-B14F-4D97-AF65-F5344CB8AC3E}">
        <p14:creationId xmlns:p14="http://schemas.microsoft.com/office/powerpoint/2010/main" val="4258667863"/>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09376B9-9838-4376-9895-3384D05A8DF5}" type="slidenum">
              <a:rPr lang="en-US" smtClean="0"/>
              <a:t>43</a:t>
            </a:fld>
            <a:endParaRPr lang="en-US"/>
          </a:p>
        </p:txBody>
      </p:sp>
    </p:spTree>
    <p:extLst>
      <p:ext uri="{BB962C8B-B14F-4D97-AF65-F5344CB8AC3E}">
        <p14:creationId xmlns:p14="http://schemas.microsoft.com/office/powerpoint/2010/main" val="3681705363"/>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09376B9-9838-4376-9895-3384D05A8DF5}" type="slidenum">
              <a:rPr lang="en-US" smtClean="0"/>
              <a:t>44</a:t>
            </a:fld>
            <a:endParaRPr lang="en-US"/>
          </a:p>
        </p:txBody>
      </p:sp>
    </p:spTree>
    <p:extLst>
      <p:ext uri="{BB962C8B-B14F-4D97-AF65-F5344CB8AC3E}">
        <p14:creationId xmlns:p14="http://schemas.microsoft.com/office/powerpoint/2010/main" val="875316310"/>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09376B9-9838-4376-9895-3384D05A8DF5}" type="slidenum">
              <a:rPr lang="en-US" smtClean="0"/>
              <a:t>45</a:t>
            </a:fld>
            <a:endParaRPr lang="en-US"/>
          </a:p>
        </p:txBody>
      </p:sp>
    </p:spTree>
    <p:extLst>
      <p:ext uri="{BB962C8B-B14F-4D97-AF65-F5344CB8AC3E}">
        <p14:creationId xmlns:p14="http://schemas.microsoft.com/office/powerpoint/2010/main" val="930180545"/>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09376B9-9838-4376-9895-3384D05A8DF5}" type="slidenum">
              <a:rPr lang="en-US" smtClean="0"/>
              <a:t>46</a:t>
            </a:fld>
            <a:endParaRPr lang="en-US"/>
          </a:p>
        </p:txBody>
      </p:sp>
    </p:spTree>
    <p:extLst>
      <p:ext uri="{BB962C8B-B14F-4D97-AF65-F5344CB8AC3E}">
        <p14:creationId xmlns:p14="http://schemas.microsoft.com/office/powerpoint/2010/main" val="3726858669"/>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09376B9-9838-4376-9895-3384D05A8DF5}" type="slidenum">
              <a:rPr lang="en-US" smtClean="0"/>
              <a:t>47</a:t>
            </a:fld>
            <a:endParaRPr lang="en-US"/>
          </a:p>
        </p:txBody>
      </p:sp>
    </p:spTree>
    <p:extLst>
      <p:ext uri="{BB962C8B-B14F-4D97-AF65-F5344CB8AC3E}">
        <p14:creationId xmlns:p14="http://schemas.microsoft.com/office/powerpoint/2010/main" val="3135246179"/>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09376B9-9838-4376-9895-3384D05A8DF5}" type="slidenum">
              <a:rPr lang="en-US" smtClean="0"/>
              <a:t>48</a:t>
            </a:fld>
            <a:endParaRPr lang="en-US"/>
          </a:p>
        </p:txBody>
      </p:sp>
    </p:spTree>
    <p:extLst>
      <p:ext uri="{BB962C8B-B14F-4D97-AF65-F5344CB8AC3E}">
        <p14:creationId xmlns:p14="http://schemas.microsoft.com/office/powerpoint/2010/main" val="3286179128"/>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09376B9-9838-4376-9895-3384D05A8DF5}" type="slidenum">
              <a:rPr lang="en-US" smtClean="0"/>
              <a:t>49</a:t>
            </a:fld>
            <a:endParaRPr lang="en-US"/>
          </a:p>
        </p:txBody>
      </p:sp>
    </p:spTree>
    <p:extLst>
      <p:ext uri="{BB962C8B-B14F-4D97-AF65-F5344CB8AC3E}">
        <p14:creationId xmlns:p14="http://schemas.microsoft.com/office/powerpoint/2010/main" val="1743818090"/>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09376B9-9838-4376-9895-3384D05A8DF5}" type="slidenum">
              <a:rPr lang="en-US" smtClean="0"/>
              <a:t>50</a:t>
            </a:fld>
            <a:endParaRPr lang="en-US"/>
          </a:p>
        </p:txBody>
      </p:sp>
    </p:spTree>
    <p:extLst>
      <p:ext uri="{BB962C8B-B14F-4D97-AF65-F5344CB8AC3E}">
        <p14:creationId xmlns:p14="http://schemas.microsoft.com/office/powerpoint/2010/main" val="3431590430"/>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09376B9-9838-4376-9895-3384D05A8DF5}" type="slidenum">
              <a:rPr lang="en-US" smtClean="0"/>
              <a:t>51</a:t>
            </a:fld>
            <a:endParaRPr lang="en-US"/>
          </a:p>
        </p:txBody>
      </p:sp>
    </p:spTree>
    <p:extLst>
      <p:ext uri="{BB962C8B-B14F-4D97-AF65-F5344CB8AC3E}">
        <p14:creationId xmlns:p14="http://schemas.microsoft.com/office/powerpoint/2010/main" val="323492886"/>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09376B9-9838-4376-9895-3384D05A8DF5}" type="slidenum">
              <a:rPr lang="en-US" smtClean="0"/>
              <a:t>52</a:t>
            </a:fld>
            <a:endParaRPr lang="en-US"/>
          </a:p>
        </p:txBody>
      </p:sp>
    </p:spTree>
    <p:extLst>
      <p:ext uri="{BB962C8B-B14F-4D97-AF65-F5344CB8AC3E}">
        <p14:creationId xmlns:p14="http://schemas.microsoft.com/office/powerpoint/2010/main" val="208865788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09376B9-9838-4376-9895-3384D05A8DF5}" type="slidenum">
              <a:rPr lang="en-US" smtClean="0"/>
              <a:t>53</a:t>
            </a:fld>
            <a:endParaRPr lang="en-US"/>
          </a:p>
        </p:txBody>
      </p:sp>
    </p:spTree>
    <p:extLst>
      <p:ext uri="{BB962C8B-B14F-4D97-AF65-F5344CB8AC3E}">
        <p14:creationId xmlns:p14="http://schemas.microsoft.com/office/powerpoint/2010/main" val="3500236593"/>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09376B9-9838-4376-9895-3384D05A8DF5}" type="slidenum">
              <a:rPr lang="en-US" smtClean="0"/>
              <a:t>55</a:t>
            </a:fld>
            <a:endParaRPr lang="en-US"/>
          </a:p>
        </p:txBody>
      </p:sp>
    </p:spTree>
    <p:extLst>
      <p:ext uri="{BB962C8B-B14F-4D97-AF65-F5344CB8AC3E}">
        <p14:creationId xmlns:p14="http://schemas.microsoft.com/office/powerpoint/2010/main" val="2593103783"/>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09376B9-9838-4376-9895-3384D05A8DF5}" type="slidenum">
              <a:rPr lang="en-US" smtClean="0"/>
              <a:t>56</a:t>
            </a:fld>
            <a:endParaRPr lang="en-US"/>
          </a:p>
        </p:txBody>
      </p:sp>
    </p:spTree>
    <p:extLst>
      <p:ext uri="{BB962C8B-B14F-4D97-AF65-F5344CB8AC3E}">
        <p14:creationId xmlns:p14="http://schemas.microsoft.com/office/powerpoint/2010/main" val="134861480"/>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09376B9-9838-4376-9895-3384D05A8DF5}" type="slidenum">
              <a:rPr lang="en-US" smtClean="0"/>
              <a:t>57</a:t>
            </a:fld>
            <a:endParaRPr lang="en-US"/>
          </a:p>
        </p:txBody>
      </p:sp>
    </p:spTree>
    <p:extLst>
      <p:ext uri="{BB962C8B-B14F-4D97-AF65-F5344CB8AC3E}">
        <p14:creationId xmlns:p14="http://schemas.microsoft.com/office/powerpoint/2010/main" val="113700301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09376B9-9838-4376-9895-3384D05A8DF5}" type="slidenum">
              <a:rPr lang="en-US" smtClean="0"/>
              <a:t>58</a:t>
            </a:fld>
            <a:endParaRPr lang="en-US"/>
          </a:p>
        </p:txBody>
      </p:sp>
    </p:spTree>
    <p:extLst>
      <p:ext uri="{BB962C8B-B14F-4D97-AF65-F5344CB8AC3E}">
        <p14:creationId xmlns:p14="http://schemas.microsoft.com/office/powerpoint/2010/main" val="2059593613"/>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09376B9-9838-4376-9895-3384D05A8DF5}" type="slidenum">
              <a:rPr lang="en-US" smtClean="0"/>
              <a:t>59</a:t>
            </a:fld>
            <a:endParaRPr lang="en-US"/>
          </a:p>
        </p:txBody>
      </p:sp>
    </p:spTree>
    <p:extLst>
      <p:ext uri="{BB962C8B-B14F-4D97-AF65-F5344CB8AC3E}">
        <p14:creationId xmlns:p14="http://schemas.microsoft.com/office/powerpoint/2010/main" val="2509558743"/>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09376B9-9838-4376-9895-3384D05A8DF5}" type="slidenum">
              <a:rPr lang="en-US" smtClean="0"/>
              <a:t>60</a:t>
            </a:fld>
            <a:endParaRPr lang="en-US"/>
          </a:p>
        </p:txBody>
      </p:sp>
    </p:spTree>
    <p:extLst>
      <p:ext uri="{BB962C8B-B14F-4D97-AF65-F5344CB8AC3E}">
        <p14:creationId xmlns:p14="http://schemas.microsoft.com/office/powerpoint/2010/main" val="178294973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FD172B67-1FE0-4470-B55B-3CC11D24CADD}" type="datetime1">
              <a:rPr lang="en-US" smtClean="0"/>
              <a:t>11/15/24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F4BF737-9C2B-4B9F-9835-28D7237AA9BE}" type="slidenum">
              <a:rPr lang="en-US" smtClean="0"/>
              <a:t>‹#›</a:t>
            </a:fld>
            <a:endParaRPr lang="en-US"/>
          </a:p>
        </p:txBody>
      </p:sp>
    </p:spTree>
    <p:extLst>
      <p:ext uri="{BB962C8B-B14F-4D97-AF65-F5344CB8AC3E}">
        <p14:creationId xmlns:p14="http://schemas.microsoft.com/office/powerpoint/2010/main" val="213263714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55002" y="365125"/>
            <a:ext cx="11478410" cy="839731"/>
          </a:xfrm>
        </p:spPr>
        <p:txBody>
          <a:bodyPr/>
          <a:lstStyle/>
          <a:p>
            <a:r>
              <a:rPr lang="en-US"/>
              <a:t>Click to edit Master title style</a:t>
            </a:r>
          </a:p>
        </p:txBody>
      </p:sp>
      <p:sp>
        <p:nvSpPr>
          <p:cNvPr id="3" name="Content Placeholder 2"/>
          <p:cNvSpPr>
            <a:spLocks noGrp="1"/>
          </p:cNvSpPr>
          <p:nvPr>
            <p:ph idx="1"/>
          </p:nvPr>
        </p:nvSpPr>
        <p:spPr>
          <a:xfrm>
            <a:off x="355002" y="1312433"/>
            <a:ext cx="11478410" cy="486453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355002" y="6356350"/>
            <a:ext cx="3226398" cy="365125"/>
          </a:xfrm>
        </p:spPr>
        <p:txBody>
          <a:bodyPr/>
          <a:lstStyle/>
          <a:p>
            <a:fld id="{1353BFE4-7670-4C28-92F7-8FCF0FD57118}" type="datetime1">
              <a:rPr lang="en-US" smtClean="0"/>
              <a:t>11/15/24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8610600" y="6356350"/>
            <a:ext cx="3222812" cy="365125"/>
          </a:xfrm>
        </p:spPr>
        <p:txBody>
          <a:bodyPr/>
          <a:lstStyle/>
          <a:p>
            <a:fld id="{1F4BF737-9C2B-4B9F-9835-28D7237AA9BE}" type="slidenum">
              <a:rPr lang="en-US" smtClean="0"/>
              <a:t>‹#›</a:t>
            </a:fld>
            <a:endParaRPr lang="en-US"/>
          </a:p>
        </p:txBody>
      </p:sp>
      <p:cxnSp>
        <p:nvCxnSpPr>
          <p:cNvPr id="8" name="Straight Connector 7"/>
          <p:cNvCxnSpPr/>
          <p:nvPr userDrawn="1"/>
        </p:nvCxnSpPr>
        <p:spPr>
          <a:xfrm>
            <a:off x="355002" y="1193795"/>
            <a:ext cx="11478410" cy="0"/>
          </a:xfrm>
          <a:prstGeom prst="line">
            <a:avLst/>
          </a:prstGeom>
          <a:ln w="28575">
            <a:solidFill>
              <a:srgbClr val="C0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5479512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89F1F0A-5054-4219-9A96-DB543FB4EFD5}" type="datetime1">
              <a:rPr lang="en-US" smtClean="0"/>
              <a:t>11/15/24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F4BF737-9C2B-4B9F-9835-28D7237AA9BE}" type="slidenum">
              <a:rPr lang="en-US" smtClean="0"/>
              <a:t>‹#›</a:t>
            </a:fld>
            <a:endParaRPr lang="en-US"/>
          </a:p>
        </p:txBody>
      </p:sp>
    </p:spTree>
    <p:extLst>
      <p:ext uri="{BB962C8B-B14F-4D97-AF65-F5344CB8AC3E}">
        <p14:creationId xmlns:p14="http://schemas.microsoft.com/office/powerpoint/2010/main" val="354182139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E85CAD19-473A-4066-B1E0-68343C5132D6}" type="datetime1">
              <a:rPr lang="en-US" smtClean="0"/>
              <a:t>11/15/24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F4BF737-9C2B-4B9F-9835-28D7237AA9BE}" type="slidenum">
              <a:rPr lang="en-US" smtClean="0"/>
              <a:t>‹#›</a:t>
            </a:fld>
            <a:endParaRPr lang="en-US"/>
          </a:p>
        </p:txBody>
      </p:sp>
    </p:spTree>
    <p:extLst>
      <p:ext uri="{BB962C8B-B14F-4D97-AF65-F5344CB8AC3E}">
        <p14:creationId xmlns:p14="http://schemas.microsoft.com/office/powerpoint/2010/main" val="312344789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DEE0FC2-52DB-4282-89B9-05C3BBBBC7B9}" type="datetime1">
              <a:rPr lang="en-US" smtClean="0"/>
              <a:t>11/15/24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1F4BF737-9C2B-4B9F-9835-28D7237AA9BE}" type="slidenum">
              <a:rPr lang="en-US" smtClean="0"/>
              <a:t>‹#›</a:t>
            </a:fld>
            <a:endParaRPr lang="en-US"/>
          </a:p>
        </p:txBody>
      </p:sp>
    </p:spTree>
    <p:extLst>
      <p:ext uri="{BB962C8B-B14F-4D97-AF65-F5344CB8AC3E}">
        <p14:creationId xmlns:p14="http://schemas.microsoft.com/office/powerpoint/2010/main" val="245901826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B8995194-1803-4C82-8079-F4C50D2E86E0}" type="datetime1">
              <a:rPr lang="en-US" smtClean="0"/>
              <a:t>11/15/24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F4BF737-9C2B-4B9F-9835-28D7237AA9BE}" type="slidenum">
              <a:rPr lang="en-US" smtClean="0"/>
              <a:t>‹#›</a:t>
            </a:fld>
            <a:endParaRPr lang="en-US"/>
          </a:p>
        </p:txBody>
      </p:sp>
    </p:spTree>
    <p:extLst>
      <p:ext uri="{BB962C8B-B14F-4D97-AF65-F5344CB8AC3E}">
        <p14:creationId xmlns:p14="http://schemas.microsoft.com/office/powerpoint/2010/main" val="123703207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72B8836-251C-4B0D-A69F-3D40347DD622}" type="datetime1">
              <a:rPr lang="en-US" smtClean="0"/>
              <a:t>11/15/24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1F4BF737-9C2B-4B9F-9835-28D7237AA9BE}" type="slidenum">
              <a:rPr lang="en-US" smtClean="0"/>
              <a:t>‹#›</a:t>
            </a:fld>
            <a:endParaRPr lang="en-US"/>
          </a:p>
        </p:txBody>
      </p:sp>
    </p:spTree>
    <p:extLst>
      <p:ext uri="{BB962C8B-B14F-4D97-AF65-F5344CB8AC3E}">
        <p14:creationId xmlns:p14="http://schemas.microsoft.com/office/powerpoint/2010/main" val="61555331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E32F5A95-0B6A-4566-A8AE-17A99E17AA43}" type="datetime1">
              <a:rPr lang="en-US" smtClean="0"/>
              <a:t>11/15/24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F4BF737-9C2B-4B9F-9835-28D7237AA9BE}" type="slidenum">
              <a:rPr lang="en-US" smtClean="0"/>
              <a:t>‹#›</a:t>
            </a:fld>
            <a:endParaRPr lang="en-US"/>
          </a:p>
        </p:txBody>
      </p:sp>
    </p:spTree>
    <p:extLst>
      <p:ext uri="{BB962C8B-B14F-4D97-AF65-F5344CB8AC3E}">
        <p14:creationId xmlns:p14="http://schemas.microsoft.com/office/powerpoint/2010/main" val="226790189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3E3B09B7-F020-41E3-BB39-6A5B3AE8FEC4}" type="datetime1">
              <a:rPr lang="en-US" smtClean="0"/>
              <a:t>11/15/24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F4BF737-9C2B-4B9F-9835-28D7237AA9BE}" type="slidenum">
              <a:rPr lang="en-US" smtClean="0"/>
              <a:t>‹#›</a:t>
            </a:fld>
            <a:endParaRPr lang="en-US"/>
          </a:p>
        </p:txBody>
      </p:sp>
    </p:spTree>
    <p:extLst>
      <p:ext uri="{BB962C8B-B14F-4D97-AF65-F5344CB8AC3E}">
        <p14:creationId xmlns:p14="http://schemas.microsoft.com/office/powerpoint/2010/main" val="360714231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B42F8F7-4165-4684-A498-E5E8E09A9509}" type="datetime1">
              <a:rPr lang="en-US" smtClean="0"/>
              <a:t>11/15/24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F4BF737-9C2B-4B9F-9835-28D7237AA9BE}" type="slidenum">
              <a:rPr lang="en-US" smtClean="0"/>
              <a:t>‹#›</a:t>
            </a:fld>
            <a:endParaRPr lang="en-US"/>
          </a:p>
        </p:txBody>
      </p:sp>
    </p:spTree>
    <p:extLst>
      <p:ext uri="{BB962C8B-B14F-4D97-AF65-F5344CB8AC3E}">
        <p14:creationId xmlns:p14="http://schemas.microsoft.com/office/powerpoint/2010/main" val="49316738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BE646EA-4182-4A67-B641-818480444DAC}" type="datetime1">
              <a:rPr lang="en-US" smtClean="0"/>
              <a:t>11/15/24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F4BF737-9C2B-4B9F-9835-28D7237AA9BE}" type="slidenum">
              <a:rPr lang="en-US" smtClean="0"/>
              <a:t>‹#›</a:t>
            </a:fld>
            <a:endParaRPr lang="en-US"/>
          </a:p>
        </p:txBody>
      </p:sp>
    </p:spTree>
    <p:extLst>
      <p:ext uri="{BB962C8B-B14F-4D97-AF65-F5344CB8AC3E}">
        <p14:creationId xmlns:p14="http://schemas.microsoft.com/office/powerpoint/2010/main" val="127286881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5EC6168-8311-497C-A3AF-702D84FBDFB2}" type="datetime1">
              <a:rPr lang="en-US" smtClean="0"/>
              <a:t>11/15/24</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F4BF737-9C2B-4B9F-9835-28D7237AA9BE}" type="slidenum">
              <a:rPr lang="en-US" smtClean="0"/>
              <a:t>‹#›</a:t>
            </a:fld>
            <a:endParaRPr lang="en-US"/>
          </a:p>
        </p:txBody>
      </p:sp>
    </p:spTree>
    <p:extLst>
      <p:ext uri="{BB962C8B-B14F-4D97-AF65-F5344CB8AC3E}">
        <p14:creationId xmlns:p14="http://schemas.microsoft.com/office/powerpoint/2010/main" val="343130220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1.wmf"/></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10.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8" Type="http://schemas.openxmlformats.org/officeDocument/2006/relationships/image" Target="../media/image2.wmf"/><Relationship Id="rId7" Type="http://schemas.openxmlformats.org/officeDocument/2006/relationships/oleObject" Target="../embeddings/oleObject2.bin"/><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4.wmf"/></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notesSlide" Target="../notesSlides/notesSlide25.xml"/><Relationship Id="rId1" Type="http://schemas.openxmlformats.org/officeDocument/2006/relationships/slideLayout" Target="../slideLayouts/slideLayout2.xml"/><Relationship Id="rId4" Type="http://schemas.openxmlformats.org/officeDocument/2006/relationships/image" Target="../media/image6.wmf"/></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8.wmf"/><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9.wmf"/><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10.wmf"/><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11.wmf"/><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40.xml"/><Relationship Id="rId1" Type="http://schemas.openxmlformats.org/officeDocument/2006/relationships/slideLayout" Target="../slideLayouts/slideLayout2.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s>
</file>

<file path=ppt/slides/_rels/slide4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41.xml"/><Relationship Id="rId1" Type="http://schemas.openxmlformats.org/officeDocument/2006/relationships/slideLayout" Target="../slideLayouts/slideLayout2.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png"/></Relationships>
</file>

<file path=ppt/slides/_rels/slide4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42.xml"/><Relationship Id="rId1" Type="http://schemas.openxmlformats.org/officeDocument/2006/relationships/slideLayout" Target="../slideLayouts/slideLayout2.xml"/><Relationship Id="rId5" Type="http://schemas.openxmlformats.org/officeDocument/2006/relationships/image" Target="../media/image25.png"/><Relationship Id="rId4" Type="http://schemas.openxmlformats.org/officeDocument/2006/relationships/image" Target="../media/image24.png"/></Relationships>
</file>

<file path=ppt/slides/_rels/slide48.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43.xml"/><Relationship Id="rId1" Type="http://schemas.openxmlformats.org/officeDocument/2006/relationships/slideLayout" Target="../slideLayouts/slideLayout2.xml"/><Relationship Id="rId5" Type="http://schemas.openxmlformats.org/officeDocument/2006/relationships/image" Target="../media/image28.png"/><Relationship Id="rId4" Type="http://schemas.openxmlformats.org/officeDocument/2006/relationships/image" Target="../media/image27.png"/></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45.xml"/><Relationship Id="rId1" Type="http://schemas.openxmlformats.org/officeDocument/2006/relationships/slideLayout" Target="../slideLayouts/slideLayout2.xml"/><Relationship Id="rId6" Type="http://schemas.openxmlformats.org/officeDocument/2006/relationships/image" Target="../media/image32.png"/><Relationship Id="rId5" Type="http://schemas.openxmlformats.org/officeDocument/2006/relationships/image" Target="../media/image31.png"/><Relationship Id="rId4" Type="http://schemas.openxmlformats.org/officeDocument/2006/relationships/image" Target="../media/image30.png"/></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33.png"/><Relationship Id="rId7" Type="http://schemas.openxmlformats.org/officeDocument/2006/relationships/image" Target="../media/image37.png"/><Relationship Id="rId2" Type="http://schemas.openxmlformats.org/officeDocument/2006/relationships/notesSlide" Target="../notesSlides/notesSlide47.xml"/><Relationship Id="rId1" Type="http://schemas.openxmlformats.org/officeDocument/2006/relationships/slideLayout" Target="../slideLayouts/slideLayout2.xml"/><Relationship Id="rId6" Type="http://schemas.openxmlformats.org/officeDocument/2006/relationships/image" Target="../media/image36.png"/><Relationship Id="rId5" Type="http://schemas.openxmlformats.org/officeDocument/2006/relationships/image" Target="../media/image35.png"/><Relationship Id="rId4" Type="http://schemas.openxmlformats.org/officeDocument/2006/relationships/image" Target="../media/image34.png"/></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52.xml"/><Relationship Id="rId1" Type="http://schemas.openxmlformats.org/officeDocument/2006/relationships/slideLayout" Target="../slideLayouts/slideLayout2.xml"/><Relationship Id="rId6" Type="http://schemas.openxmlformats.org/officeDocument/2006/relationships/image" Target="../media/image43.png"/><Relationship Id="rId5" Type="http://schemas.openxmlformats.org/officeDocument/2006/relationships/image" Target="../media/image42.png"/><Relationship Id="rId4" Type="http://schemas.openxmlformats.org/officeDocument/2006/relationships/image" Target="../media/image41.png"/></Relationships>
</file>

<file path=ppt/slides/_rels/slide59.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53.xml"/><Relationship Id="rId1" Type="http://schemas.openxmlformats.org/officeDocument/2006/relationships/slideLayout" Target="../slideLayouts/slideLayout2.xml"/><Relationship Id="rId6" Type="http://schemas.openxmlformats.org/officeDocument/2006/relationships/image" Target="../media/image47.png"/><Relationship Id="rId5" Type="http://schemas.openxmlformats.org/officeDocument/2006/relationships/image" Target="../media/image46.png"/><Relationship Id="rId4" Type="http://schemas.openxmlformats.org/officeDocument/2006/relationships/image" Target="../media/image45.png"/></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image" Target="../media/image49.emf"/><Relationship Id="rId2" Type="http://schemas.openxmlformats.org/officeDocument/2006/relationships/image" Target="../media/image48.emf"/><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image" Target="../media/image51.emf"/><Relationship Id="rId2" Type="http://schemas.openxmlformats.org/officeDocument/2006/relationships/image" Target="../media/image50.emf"/><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image" Target="../media/image52.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image" Target="../media/image54.emf"/><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image" Target="../media/image55.gif"/><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image" Target="../media/image570.png"/><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image" Target="../media/image58.png"/><Relationship Id="rId1" Type="http://schemas.openxmlformats.org/officeDocument/2006/relationships/slideLayout" Target="../slideLayouts/slideLayout2.xml"/><Relationship Id="rId4" Type="http://schemas.openxmlformats.org/officeDocument/2006/relationships/image" Target="../media/image6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42900" y="1682433"/>
            <a:ext cx="11487150" cy="2387600"/>
          </a:xfrm>
        </p:spPr>
        <p:txBody>
          <a:bodyPr>
            <a:normAutofit fontScale="90000"/>
          </a:bodyPr>
          <a:lstStyle/>
          <a:p>
            <a:r>
              <a:rPr lang="en-US" sz="5400" dirty="0">
                <a:solidFill>
                  <a:prstClr val="black"/>
                </a:solidFill>
              </a:rPr>
              <a:t>ANLY 5332</a:t>
            </a:r>
            <a:br>
              <a:rPr lang="en-US" sz="5400" dirty="0">
                <a:solidFill>
                  <a:prstClr val="black"/>
                </a:solidFill>
              </a:rPr>
            </a:br>
            <a:br>
              <a:rPr lang="en-US" sz="3200" dirty="0">
                <a:solidFill>
                  <a:prstClr val="black"/>
                </a:solidFill>
              </a:rPr>
            </a:br>
            <a:br>
              <a:rPr lang="en-US" sz="3200" dirty="0">
                <a:solidFill>
                  <a:prstClr val="black"/>
                </a:solidFill>
              </a:rPr>
            </a:br>
            <a:r>
              <a:rPr lang="en-US" sz="2400" b="1" dirty="0">
                <a:solidFill>
                  <a:srgbClr val="C00000"/>
                </a:solidFill>
              </a:rPr>
              <a:t>Department of Information Systems and Analytics</a:t>
            </a:r>
            <a:br>
              <a:rPr lang="en-US" sz="2400" b="1" dirty="0">
                <a:solidFill>
                  <a:srgbClr val="C00000"/>
                </a:solidFill>
              </a:rPr>
            </a:br>
            <a:r>
              <a:rPr lang="en-US" sz="2400" b="1" dirty="0">
                <a:solidFill>
                  <a:srgbClr val="C00000"/>
                </a:solidFill>
              </a:rPr>
              <a:t>McCoy College of Business</a:t>
            </a:r>
            <a:br>
              <a:rPr lang="en-US" sz="2400" b="1" dirty="0">
                <a:solidFill>
                  <a:srgbClr val="C00000"/>
                </a:solidFill>
              </a:rPr>
            </a:br>
            <a:r>
              <a:rPr lang="en-US" sz="2400" b="1" dirty="0">
                <a:solidFill>
                  <a:srgbClr val="C00000"/>
                </a:solidFill>
              </a:rPr>
              <a:t>Texas State University</a:t>
            </a:r>
            <a:endParaRPr lang="en-US" sz="4400" b="1" dirty="0">
              <a:solidFill>
                <a:srgbClr val="C00000"/>
              </a:solidFill>
            </a:endParaRPr>
          </a:p>
        </p:txBody>
      </p:sp>
      <p:sp>
        <p:nvSpPr>
          <p:cNvPr id="3" name="Subtitle 2"/>
          <p:cNvSpPr>
            <a:spLocks noGrp="1"/>
          </p:cNvSpPr>
          <p:nvPr>
            <p:ph type="subTitle" idx="1"/>
          </p:nvPr>
        </p:nvSpPr>
        <p:spPr/>
        <p:txBody>
          <a:bodyPr>
            <a:normAutofit lnSpcReduction="10000"/>
          </a:bodyPr>
          <a:lstStyle/>
          <a:p>
            <a:endParaRPr lang="en-US" dirty="0"/>
          </a:p>
          <a:p>
            <a:endParaRPr lang="en-US" dirty="0"/>
          </a:p>
          <a:p>
            <a:endParaRPr lang="en-US" dirty="0"/>
          </a:p>
          <a:p>
            <a:r>
              <a:rPr lang="en-US" dirty="0"/>
              <a:t>Decision Analysis and Stochastic/Robust Optimization</a:t>
            </a:r>
          </a:p>
        </p:txBody>
      </p:sp>
    </p:spTree>
    <p:extLst>
      <p:ext uri="{BB962C8B-B14F-4D97-AF65-F5344CB8AC3E}">
        <p14:creationId xmlns:p14="http://schemas.microsoft.com/office/powerpoint/2010/main" val="173554512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Outline</a:t>
            </a:r>
          </a:p>
        </p:txBody>
      </p:sp>
      <p:sp>
        <p:nvSpPr>
          <p:cNvPr id="3" name="Content Placeholder 2"/>
          <p:cNvSpPr>
            <a:spLocks noGrp="1"/>
          </p:cNvSpPr>
          <p:nvPr>
            <p:ph idx="1"/>
          </p:nvPr>
        </p:nvSpPr>
        <p:spPr/>
        <p:txBody>
          <a:bodyPr/>
          <a:lstStyle/>
          <a:p>
            <a:r>
              <a:rPr lang="en-US" dirty="0"/>
              <a:t>Decision Criteria (Chapter 9.1 &amp; 9.2)</a:t>
            </a:r>
          </a:p>
          <a:p>
            <a:r>
              <a:rPr lang="en-US" dirty="0"/>
              <a:t>Decision Trees and Value of Information (Chapter 9.3-9.7)</a:t>
            </a:r>
          </a:p>
          <a:p>
            <a:r>
              <a:rPr lang="en-US" dirty="0"/>
              <a:t>Utility Theory Review (Chapter 9.8)</a:t>
            </a:r>
          </a:p>
          <a:p>
            <a:r>
              <a:rPr lang="en-US" dirty="0"/>
              <a:t>Stochastic Optimization Overview (not in the textbook)</a:t>
            </a:r>
          </a:p>
          <a:p>
            <a:r>
              <a:rPr lang="en-US" dirty="0"/>
              <a:t>Robust Optimization Overview (not in the textbook)</a:t>
            </a:r>
          </a:p>
          <a:p>
            <a:endParaRPr lang="en-US" dirty="0"/>
          </a:p>
          <a:p>
            <a:r>
              <a:rPr lang="en-US" dirty="0"/>
              <a:t>Probability Basics Review</a:t>
            </a:r>
          </a:p>
          <a:p>
            <a:endParaRPr lang="en-US" dirty="0"/>
          </a:p>
          <a:p>
            <a:pPr lvl="5"/>
            <a:endParaRPr lang="en-US" dirty="0"/>
          </a:p>
          <a:p>
            <a:endParaRPr lang="en-US" dirty="0"/>
          </a:p>
        </p:txBody>
      </p:sp>
      <p:sp>
        <p:nvSpPr>
          <p:cNvPr id="9" name="Right Brace 8">
            <a:extLst>
              <a:ext uri="{FF2B5EF4-FFF2-40B4-BE49-F238E27FC236}">
                <a16:creationId xmlns:a16="http://schemas.microsoft.com/office/drawing/2014/main" id="{3162BF6F-75FF-4673-A9CB-0DA9F6BB1552}"/>
              </a:ext>
            </a:extLst>
          </p:cNvPr>
          <p:cNvSpPr/>
          <p:nvPr/>
        </p:nvSpPr>
        <p:spPr>
          <a:xfrm>
            <a:off x="7539406" y="4382303"/>
            <a:ext cx="742950" cy="442293"/>
          </a:xfrm>
          <a:prstGeom prst="rightBrace">
            <a:avLst/>
          </a:prstGeom>
          <a:ln>
            <a:solidFill>
              <a:srgbClr val="C0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0" name="Rectangle 9">
            <a:extLst>
              <a:ext uri="{FF2B5EF4-FFF2-40B4-BE49-F238E27FC236}">
                <a16:creationId xmlns:a16="http://schemas.microsoft.com/office/drawing/2014/main" id="{F19FBB87-98B6-499F-8329-DAEE1513B32D}"/>
              </a:ext>
            </a:extLst>
          </p:cNvPr>
          <p:cNvSpPr/>
          <p:nvPr/>
        </p:nvSpPr>
        <p:spPr>
          <a:xfrm>
            <a:off x="8495492" y="4436395"/>
            <a:ext cx="2411730" cy="393737"/>
          </a:xfrm>
          <a:prstGeom prst="rect">
            <a:avLst/>
          </a:prstGeom>
          <a:ln>
            <a:solidFill>
              <a:srgbClr val="C00000"/>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t>Self-Study</a:t>
            </a:r>
          </a:p>
        </p:txBody>
      </p:sp>
    </p:spTree>
    <p:extLst>
      <p:ext uri="{BB962C8B-B14F-4D97-AF65-F5344CB8AC3E}">
        <p14:creationId xmlns:p14="http://schemas.microsoft.com/office/powerpoint/2010/main" val="247456920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Outline</a:t>
            </a:r>
          </a:p>
        </p:txBody>
      </p:sp>
      <p:sp>
        <p:nvSpPr>
          <p:cNvPr id="3" name="Content Placeholder 2"/>
          <p:cNvSpPr>
            <a:spLocks noGrp="1"/>
          </p:cNvSpPr>
          <p:nvPr>
            <p:ph idx="1"/>
          </p:nvPr>
        </p:nvSpPr>
        <p:spPr/>
        <p:txBody>
          <a:bodyPr/>
          <a:lstStyle/>
          <a:p>
            <a:r>
              <a:rPr lang="en-US" dirty="0"/>
              <a:t>Decision Criteria (Chapter 9.1 &amp; 9.2)</a:t>
            </a:r>
          </a:p>
          <a:p>
            <a:r>
              <a:rPr lang="en-US" dirty="0">
                <a:solidFill>
                  <a:schemeClr val="bg2"/>
                </a:solidFill>
              </a:rPr>
              <a:t>Decision Trees and Value of Information (Chapter 9.3-9.7)</a:t>
            </a:r>
          </a:p>
          <a:p>
            <a:r>
              <a:rPr lang="en-US" dirty="0">
                <a:solidFill>
                  <a:schemeClr val="bg2"/>
                </a:solidFill>
              </a:rPr>
              <a:t>Utility Theory Review (Chapter 9.8)</a:t>
            </a:r>
          </a:p>
          <a:p>
            <a:r>
              <a:rPr lang="en-US" dirty="0">
                <a:solidFill>
                  <a:schemeClr val="bg2"/>
                </a:solidFill>
              </a:rPr>
              <a:t>Stochastic Optimization Overview (not in the textbook)</a:t>
            </a:r>
          </a:p>
          <a:p>
            <a:r>
              <a:rPr lang="en-US" dirty="0">
                <a:solidFill>
                  <a:schemeClr val="bg2"/>
                </a:solidFill>
              </a:rPr>
              <a:t>Robust Optimization Overview (not in the textbook)</a:t>
            </a:r>
          </a:p>
          <a:p>
            <a:endParaRPr lang="en-US" dirty="0">
              <a:solidFill>
                <a:schemeClr val="bg2"/>
              </a:solidFill>
            </a:endParaRPr>
          </a:p>
          <a:p>
            <a:r>
              <a:rPr lang="en-US" dirty="0">
                <a:solidFill>
                  <a:schemeClr val="bg2"/>
                </a:solidFill>
              </a:rPr>
              <a:t>Probability Basics Review</a:t>
            </a:r>
          </a:p>
          <a:p>
            <a:endParaRPr lang="en-US" dirty="0"/>
          </a:p>
          <a:p>
            <a:pPr lvl="5"/>
            <a:endParaRPr lang="en-US" dirty="0"/>
          </a:p>
          <a:p>
            <a:endParaRPr lang="en-US" dirty="0"/>
          </a:p>
        </p:txBody>
      </p:sp>
    </p:spTree>
    <p:extLst>
      <p:ext uri="{BB962C8B-B14F-4D97-AF65-F5344CB8AC3E}">
        <p14:creationId xmlns:p14="http://schemas.microsoft.com/office/powerpoint/2010/main" val="189527775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Decision Analysis</a:t>
            </a:r>
          </a:p>
        </p:txBody>
      </p:sp>
      <p:sp>
        <p:nvSpPr>
          <p:cNvPr id="3" name="Content Placeholder 2"/>
          <p:cNvSpPr>
            <a:spLocks noGrp="1"/>
          </p:cNvSpPr>
          <p:nvPr>
            <p:ph idx="1"/>
          </p:nvPr>
        </p:nvSpPr>
        <p:spPr/>
        <p:txBody>
          <a:bodyPr/>
          <a:lstStyle/>
          <a:p>
            <a:r>
              <a:rPr lang="en-US" dirty="0"/>
              <a:t>Managers often need to make decisions under uncertainty</a:t>
            </a:r>
          </a:p>
          <a:p>
            <a:pPr lvl="1"/>
            <a:r>
              <a:rPr lang="en-US" dirty="0"/>
              <a:t>Introducing a new product</a:t>
            </a:r>
          </a:p>
          <a:p>
            <a:pPr lvl="1"/>
            <a:r>
              <a:rPr lang="en-US" dirty="0"/>
              <a:t>A financial firm’s investment decisions</a:t>
            </a:r>
          </a:p>
          <a:p>
            <a:pPr lvl="1"/>
            <a:r>
              <a:rPr lang="en-US" dirty="0"/>
              <a:t>Agricultural firm’s mix of crop planning</a:t>
            </a:r>
          </a:p>
          <a:p>
            <a:pPr lvl="1"/>
            <a:r>
              <a:rPr lang="en-US" dirty="0"/>
              <a:t>Oil company’s drilling decisions</a:t>
            </a:r>
          </a:p>
          <a:p>
            <a:pPr lvl="1"/>
            <a:r>
              <a:rPr lang="en-US" dirty="0"/>
              <a:t>Storage Wars!!!! </a:t>
            </a:r>
          </a:p>
          <a:p>
            <a:pPr lvl="1"/>
            <a:endParaRPr lang="en-US" dirty="0"/>
          </a:p>
        </p:txBody>
      </p:sp>
    </p:spTree>
    <p:extLst>
      <p:ext uri="{BB962C8B-B14F-4D97-AF65-F5344CB8AC3E}">
        <p14:creationId xmlns:p14="http://schemas.microsoft.com/office/powerpoint/2010/main" val="9569349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Decision Analysis</a:t>
            </a:r>
          </a:p>
        </p:txBody>
      </p:sp>
      <p:sp>
        <p:nvSpPr>
          <p:cNvPr id="3" name="Content Placeholder 2"/>
          <p:cNvSpPr>
            <a:spLocks noGrp="1"/>
          </p:cNvSpPr>
          <p:nvPr>
            <p:ph idx="1"/>
          </p:nvPr>
        </p:nvSpPr>
        <p:spPr/>
        <p:txBody>
          <a:bodyPr/>
          <a:lstStyle/>
          <a:p>
            <a:r>
              <a:rPr lang="en-US" b="1" u="sng" dirty="0"/>
              <a:t>Case: The </a:t>
            </a:r>
            <a:r>
              <a:rPr lang="en-US" b="1" u="sng" dirty="0" err="1"/>
              <a:t>Goferbroke</a:t>
            </a:r>
            <a:r>
              <a:rPr lang="en-US" b="1" u="sng" dirty="0"/>
              <a:t> Company Problem (Chapter 9.1)</a:t>
            </a:r>
          </a:p>
          <a:p>
            <a:pPr lvl="1"/>
            <a:r>
              <a:rPr lang="en-US" dirty="0"/>
              <a:t>The </a:t>
            </a:r>
            <a:r>
              <a:rPr lang="en-US" dirty="0" err="1"/>
              <a:t>Goferbroke</a:t>
            </a:r>
            <a:r>
              <a:rPr lang="en-US" dirty="0"/>
              <a:t> Company develops oil wells in unproven territory</a:t>
            </a:r>
          </a:p>
          <a:p>
            <a:pPr lvl="2"/>
            <a:r>
              <a:rPr lang="en-US" dirty="0"/>
              <a:t>A consulting geologist has reported that there is a one-in-four chance of oil on a particular tract of land.</a:t>
            </a:r>
          </a:p>
          <a:p>
            <a:pPr lvl="2"/>
            <a:r>
              <a:rPr lang="en-US" dirty="0"/>
              <a:t>Drilling for oil on this tract would require an investment of about $100,000.</a:t>
            </a:r>
          </a:p>
          <a:p>
            <a:pPr lvl="2"/>
            <a:r>
              <a:rPr lang="en-US" dirty="0"/>
              <a:t>If the tract contains oil, it is estimated that the net revenue generated would be approximately $800,000.</a:t>
            </a:r>
          </a:p>
          <a:p>
            <a:pPr lvl="2"/>
            <a:r>
              <a:rPr lang="en-US" dirty="0"/>
              <a:t>Another oil company has offered to purchase the tract of land for $90,000.</a:t>
            </a:r>
          </a:p>
          <a:p>
            <a:pPr lvl="1"/>
            <a:r>
              <a:rPr lang="en-US" b="1" dirty="0">
                <a:solidFill>
                  <a:srgbClr val="C00000"/>
                </a:solidFill>
              </a:rPr>
              <a:t>Question: </a:t>
            </a:r>
            <a:r>
              <a:rPr lang="en-US" dirty="0"/>
              <a:t>Should </a:t>
            </a:r>
            <a:r>
              <a:rPr lang="en-US" dirty="0" err="1"/>
              <a:t>Goferbroke</a:t>
            </a:r>
            <a:r>
              <a:rPr lang="en-US" dirty="0"/>
              <a:t> drill for oil or sell the tract?</a:t>
            </a:r>
          </a:p>
          <a:p>
            <a:pPr lvl="1"/>
            <a:r>
              <a:rPr lang="en-US" dirty="0"/>
              <a:t>Prospective profits:</a:t>
            </a:r>
          </a:p>
          <a:p>
            <a:pPr lvl="1"/>
            <a:endParaRPr lang="en-US" dirty="0"/>
          </a:p>
          <a:p>
            <a:pPr lvl="1"/>
            <a:endParaRPr lang="en-US" dirty="0"/>
          </a:p>
        </p:txBody>
      </p:sp>
      <p:graphicFrame>
        <p:nvGraphicFramePr>
          <p:cNvPr id="4" name="Group 78">
            <a:extLst>
              <a:ext uri="{FF2B5EF4-FFF2-40B4-BE49-F238E27FC236}">
                <a16:creationId xmlns:a16="http://schemas.microsoft.com/office/drawing/2014/main" id="{A8203560-7D5B-4D72-918A-2D728EB978AC}"/>
              </a:ext>
            </a:extLst>
          </p:cNvPr>
          <p:cNvGraphicFramePr>
            <a:graphicFrameLocks/>
          </p:cNvGraphicFramePr>
          <p:nvPr>
            <p:extLst>
              <p:ext uri="{D42A27DB-BD31-4B8C-83A1-F6EECF244321}">
                <p14:modId xmlns:p14="http://schemas.microsoft.com/office/powerpoint/2010/main" val="1640633345"/>
              </p:ext>
            </p:extLst>
          </p:nvPr>
        </p:nvGraphicFramePr>
        <p:xfrm>
          <a:off x="3766930" y="4605424"/>
          <a:ext cx="5731565" cy="2130392"/>
        </p:xfrm>
        <a:graphic>
          <a:graphicData uri="http://schemas.openxmlformats.org/drawingml/2006/table">
            <a:tbl>
              <a:tblPr/>
              <a:tblGrid>
                <a:gridCol w="2031441">
                  <a:extLst>
                    <a:ext uri="{9D8B030D-6E8A-4147-A177-3AD203B41FA5}">
                      <a16:colId xmlns:a16="http://schemas.microsoft.com/office/drawing/2014/main" val="20000"/>
                    </a:ext>
                  </a:extLst>
                </a:gridCol>
                <a:gridCol w="1813786">
                  <a:extLst>
                    <a:ext uri="{9D8B030D-6E8A-4147-A177-3AD203B41FA5}">
                      <a16:colId xmlns:a16="http://schemas.microsoft.com/office/drawing/2014/main" val="20001"/>
                    </a:ext>
                  </a:extLst>
                </a:gridCol>
                <a:gridCol w="1886338">
                  <a:extLst>
                    <a:ext uri="{9D8B030D-6E8A-4147-A177-3AD203B41FA5}">
                      <a16:colId xmlns:a16="http://schemas.microsoft.com/office/drawing/2014/main" val="20002"/>
                    </a:ext>
                  </a:extLst>
                </a:gridCol>
              </a:tblGrid>
              <a:tr h="364970">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endParaRPr kumimoji="0" lang="en-US" sz="1600" b="1" i="0" u="none" strike="noStrike" cap="none" normalizeH="0" baseline="0" dirty="0">
                        <a:ln>
                          <a:noFill/>
                        </a:ln>
                        <a:solidFill>
                          <a:schemeClr val="tx1"/>
                        </a:solidFill>
                        <a:effectLst/>
                        <a:latin typeface="Times New Roman" pitchFamily="1" charset="0"/>
                      </a:endParaRPr>
                    </a:p>
                  </a:txBody>
                  <a:tcPr marT="45708" marB="45708" anchor="b" horzOverflow="overflow">
                    <a:lnL cap="flat">
                      <a:noFill/>
                    </a:lnL>
                    <a:lnR>
                      <a:noFill/>
                    </a:lnR>
                    <a:lnT cap="flat">
                      <a:noFill/>
                    </a:lnT>
                    <a:lnB>
                      <a:noFill/>
                    </a:lnB>
                    <a:lnTlToBr>
                      <a:noFill/>
                    </a:lnTlToBr>
                    <a:lnBlToTr>
                      <a:noFill/>
                    </a:lnBlToTr>
                    <a:noFill/>
                  </a:tcPr>
                </a:tc>
                <a:tc gridSpan="2">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r>
                        <a:rPr kumimoji="0" lang="en-US" sz="1600" b="1" i="0" u="none" strike="noStrike" cap="none" normalizeH="0" baseline="0">
                          <a:ln>
                            <a:noFill/>
                          </a:ln>
                          <a:solidFill>
                            <a:schemeClr val="tx1"/>
                          </a:solidFill>
                          <a:effectLst/>
                          <a:latin typeface="Times New Roman" pitchFamily="1" charset="0"/>
                        </a:rPr>
                        <a:t>Profit</a:t>
                      </a:r>
                    </a:p>
                  </a:txBody>
                  <a:tcPr marT="45708" marB="45708" anchor="b" horzOverflow="overflow">
                    <a:lnL>
                      <a:noFill/>
                    </a:lnL>
                    <a:lnR cap="flat">
                      <a:noFill/>
                    </a:lnR>
                    <a:lnT cap="flat">
                      <a:noFill/>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en-US"/>
                    </a:p>
                  </a:txBody>
                  <a:tcPr/>
                </a:tc>
                <a:extLst>
                  <a:ext uri="{0D108BD9-81ED-4DB2-BD59-A6C34878D82A}">
                    <a16:rowId xmlns:a16="http://schemas.microsoft.com/office/drawing/2014/main" val="10000"/>
                  </a:ext>
                </a:extLst>
              </a:tr>
              <a:tr h="267693">
                <a:tc>
                  <a:txBody>
                    <a:bodyPr/>
                    <a:lstStyle/>
                    <a:p>
                      <a:pPr marL="0" marR="0" lvl="0" indent="0" algn="r" defTabSz="914400" rtl="0" eaLnBrk="1" fontAlgn="base" latinLnBrk="0" hangingPunct="1">
                        <a:lnSpc>
                          <a:spcPct val="100000"/>
                        </a:lnSpc>
                        <a:spcBef>
                          <a:spcPct val="100000"/>
                        </a:spcBef>
                        <a:spcAft>
                          <a:spcPct val="0"/>
                        </a:spcAft>
                        <a:buClrTx/>
                        <a:buSzTx/>
                        <a:buFontTx/>
                        <a:buNone/>
                        <a:tabLst/>
                      </a:pPr>
                      <a:r>
                        <a:rPr kumimoji="0" lang="en-US" sz="1600" b="1" i="0" u="none" strike="noStrike" cap="none" normalizeH="0" baseline="0">
                          <a:ln>
                            <a:noFill/>
                          </a:ln>
                          <a:solidFill>
                            <a:schemeClr val="tx1"/>
                          </a:solidFill>
                          <a:effectLst/>
                          <a:latin typeface="Times New Roman" pitchFamily="1" charset="0"/>
                        </a:rPr>
                        <a:t>Status of Land</a:t>
                      </a:r>
                    </a:p>
                  </a:txBody>
                  <a:tcPr marT="45708" marB="45708" anchor="b" horzOverflow="overflow">
                    <a:lnL cap="flat">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r>
                        <a:rPr kumimoji="0" lang="en-US" sz="1600" b="1" i="0" u="none" strike="noStrike" cap="none" normalizeH="0" baseline="0">
                          <a:ln>
                            <a:noFill/>
                          </a:ln>
                          <a:solidFill>
                            <a:schemeClr val="tx1"/>
                          </a:solidFill>
                          <a:effectLst/>
                          <a:latin typeface="Times New Roman" pitchFamily="1" charset="0"/>
                        </a:rPr>
                        <a:t>Oil</a:t>
                      </a:r>
                    </a:p>
                  </a:txBody>
                  <a:tcPr marT="45708" marB="45708" anchor="b" horzOverflow="overflow">
                    <a:lnL>
                      <a:noFill/>
                    </a:lnL>
                    <a:lnR>
                      <a:noFill/>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r>
                        <a:rPr kumimoji="0" lang="en-US" sz="1600" b="1" i="0" u="none" strike="noStrike" cap="none" normalizeH="0" baseline="0" dirty="0">
                          <a:ln>
                            <a:noFill/>
                          </a:ln>
                          <a:solidFill>
                            <a:schemeClr val="tx1"/>
                          </a:solidFill>
                          <a:effectLst/>
                          <a:latin typeface="Times New Roman" pitchFamily="1" charset="0"/>
                        </a:rPr>
                        <a:t>Dry</a:t>
                      </a:r>
                    </a:p>
                  </a:txBody>
                  <a:tcPr marT="45708" marB="45708" anchor="b" horzOverflow="overflow">
                    <a:lnL>
                      <a:noFill/>
                    </a:lnL>
                    <a:lnR cap="flat">
                      <a:noFill/>
                    </a:lnR>
                    <a:lnT w="12700" cap="flat" cmpd="sng" algn="ctr">
                      <a:solidFill>
                        <a:schemeClr val="tx1"/>
                      </a:solidFill>
                      <a:prstDash val="solid"/>
                      <a:round/>
                      <a:headEnd type="none" w="med" len="med"/>
                      <a:tailEnd type="none" w="med" len="med"/>
                    </a:lnT>
                    <a:lnB>
                      <a:noFill/>
                    </a:lnB>
                    <a:lnTlToBr>
                      <a:noFill/>
                    </a:lnTlToBr>
                    <a:lnBlToTr>
                      <a:noFill/>
                    </a:lnBlToTr>
                    <a:noFill/>
                  </a:tcPr>
                </a:tc>
                <a:extLst>
                  <a:ext uri="{0D108BD9-81ED-4DB2-BD59-A6C34878D82A}">
                    <a16:rowId xmlns:a16="http://schemas.microsoft.com/office/drawing/2014/main" val="10001"/>
                  </a:ext>
                </a:extLst>
              </a:tr>
              <a:tr h="267693">
                <a:tc>
                  <a:txBody>
                    <a:bodyPr/>
                    <a:lstStyle/>
                    <a:p>
                      <a:pPr marL="0" marR="0" lvl="0" indent="0" algn="l" defTabSz="914400" rtl="0" eaLnBrk="1" fontAlgn="base" latinLnBrk="0" hangingPunct="1">
                        <a:lnSpc>
                          <a:spcPct val="100000"/>
                        </a:lnSpc>
                        <a:spcBef>
                          <a:spcPct val="100000"/>
                        </a:spcBef>
                        <a:spcAft>
                          <a:spcPct val="0"/>
                        </a:spcAft>
                        <a:buClrTx/>
                        <a:buSzTx/>
                        <a:buFontTx/>
                        <a:buNone/>
                        <a:tabLst/>
                      </a:pPr>
                      <a:r>
                        <a:rPr kumimoji="0" lang="en-US" sz="1600" b="1" i="0" u="none" strike="noStrike" cap="none" normalizeH="0" baseline="0">
                          <a:ln>
                            <a:noFill/>
                          </a:ln>
                          <a:solidFill>
                            <a:schemeClr val="tx1"/>
                          </a:solidFill>
                          <a:effectLst/>
                          <a:latin typeface="Times New Roman" pitchFamily="1" charset="0"/>
                        </a:rPr>
                        <a:t>Alternative</a:t>
                      </a:r>
                    </a:p>
                  </a:txBody>
                  <a:tcPr marT="45708" marB="45708" anchor="b" horzOverflow="overflow">
                    <a:lnL cap="flat">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endParaRPr kumimoji="0" lang="en-US" sz="1600" b="1" i="0" u="none" strike="noStrike" cap="none" normalizeH="0" baseline="0">
                        <a:ln>
                          <a:noFill/>
                        </a:ln>
                        <a:solidFill>
                          <a:schemeClr val="tx1"/>
                        </a:solidFill>
                        <a:effectLst/>
                        <a:latin typeface="Times New Roman" pitchFamily="1" charset="0"/>
                      </a:endParaRPr>
                    </a:p>
                  </a:txBody>
                  <a:tcPr marT="45708" marB="45708" anchor="b"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endParaRPr kumimoji="0" lang="en-US" sz="1600" b="1" i="0" u="none" strike="noStrike" cap="none" normalizeH="0" baseline="0">
                        <a:ln>
                          <a:noFill/>
                        </a:ln>
                        <a:solidFill>
                          <a:schemeClr val="tx1"/>
                        </a:solidFill>
                        <a:effectLst/>
                        <a:latin typeface="Times New Roman" pitchFamily="1" charset="0"/>
                      </a:endParaRPr>
                    </a:p>
                  </a:txBody>
                  <a:tcPr marT="45708" marB="45708" anchor="b"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02"/>
                  </a:ext>
                </a:extLst>
              </a:tr>
              <a:tr h="364970">
                <a:tc>
                  <a:txBody>
                    <a:bodyPr/>
                    <a:lstStyle/>
                    <a:p>
                      <a:pPr marL="0" marR="0" lvl="0" indent="0" algn="l" defTabSz="914400" rtl="0" eaLnBrk="1" fontAlgn="base" latinLnBrk="0" hangingPunct="1">
                        <a:lnSpc>
                          <a:spcPct val="100000"/>
                        </a:lnSpc>
                        <a:spcBef>
                          <a:spcPct val="10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 charset="0"/>
                        </a:rPr>
                        <a:t>Drill for oil</a:t>
                      </a:r>
                    </a:p>
                  </a:txBody>
                  <a:tcPr marT="45708" marB="45708" anchor="ctr" horzOverflow="overflow">
                    <a:lnL cap="flat">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 charset="0"/>
                        </a:rPr>
                        <a:t>$700,000</a:t>
                      </a:r>
                    </a:p>
                  </a:txBody>
                  <a:tcPr marT="45708" marB="45708" anchor="ctr"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 charset="0"/>
                        </a:rPr>
                        <a:t>–$100,000</a:t>
                      </a:r>
                    </a:p>
                  </a:txBody>
                  <a:tcPr marT="45708" marB="45708" anchor="ctr"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03"/>
                  </a:ext>
                </a:extLst>
              </a:tr>
              <a:tr h="364970">
                <a:tc>
                  <a:txBody>
                    <a:bodyPr/>
                    <a:lstStyle/>
                    <a:p>
                      <a:pPr marL="0" marR="0" lvl="0" indent="0" algn="l" defTabSz="914400" rtl="0" eaLnBrk="1" fontAlgn="base" latinLnBrk="0" hangingPunct="1">
                        <a:lnSpc>
                          <a:spcPct val="100000"/>
                        </a:lnSpc>
                        <a:spcBef>
                          <a:spcPct val="10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 charset="0"/>
                        </a:rPr>
                        <a:t>Sell the land</a:t>
                      </a:r>
                    </a:p>
                  </a:txBody>
                  <a:tcPr marT="45708" marB="45708" anchor="ctr" horzOverflow="overflow">
                    <a:lnL cap="flat">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r>
                        <a:rPr kumimoji="0" lang="en-US" sz="1600" b="0" i="0" u="none" strike="noStrike" cap="none" normalizeH="0" baseline="0" dirty="0">
                          <a:ln>
                            <a:noFill/>
                          </a:ln>
                          <a:solidFill>
                            <a:schemeClr val="tx1"/>
                          </a:solidFill>
                          <a:effectLst/>
                          <a:latin typeface="Times New Roman" pitchFamily="1" charset="0"/>
                        </a:rPr>
                        <a:t>90,000</a:t>
                      </a:r>
                    </a:p>
                  </a:txBody>
                  <a:tcPr marT="45708" marB="45708" anchor="ctr"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 charset="0"/>
                        </a:rPr>
                        <a:t>90,000</a:t>
                      </a:r>
                    </a:p>
                  </a:txBody>
                  <a:tcPr marT="45708" marB="45708" anchor="ctr"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04"/>
                  </a:ext>
                </a:extLst>
              </a:tr>
              <a:tr h="364970">
                <a:tc>
                  <a:txBody>
                    <a:bodyPr/>
                    <a:lstStyle/>
                    <a:p>
                      <a:pPr marL="0" marR="0" lvl="0" indent="0" algn="l" defTabSz="914400" rtl="0" eaLnBrk="1" fontAlgn="base" latinLnBrk="0" hangingPunct="1">
                        <a:lnSpc>
                          <a:spcPct val="100000"/>
                        </a:lnSpc>
                        <a:spcBef>
                          <a:spcPct val="10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 charset="0"/>
                        </a:rPr>
                        <a:t>Chance of status</a:t>
                      </a:r>
                    </a:p>
                  </a:txBody>
                  <a:tcPr marT="45708" marB="45708" anchor="ctr" horzOverflow="overflow">
                    <a:lnL cap="flat">
                      <a:noFill/>
                    </a:lnL>
                    <a:lnR>
                      <a:noFill/>
                    </a:lnR>
                    <a:lnT>
                      <a:noFill/>
                    </a:lnT>
                    <a:lnB cap="flat">
                      <a:noFill/>
                    </a:lnB>
                    <a:lnTlToBr>
                      <a:noFill/>
                    </a:lnTlToBr>
                    <a:lnBlToTr>
                      <a:noFill/>
                    </a:lnBlToTr>
                    <a:noFill/>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 charset="0"/>
                        </a:rPr>
                        <a:t>1 in 4</a:t>
                      </a:r>
                    </a:p>
                  </a:txBody>
                  <a:tcPr marT="45708" marB="45708" anchor="ctr" horzOverflow="overflow">
                    <a:lnL>
                      <a:noFill/>
                    </a:lnL>
                    <a:lnR>
                      <a:noFill/>
                    </a:lnR>
                    <a:lnT>
                      <a:noFill/>
                    </a:lnT>
                    <a:lnB cap="flat">
                      <a:noFill/>
                    </a:lnB>
                    <a:lnTlToBr>
                      <a:noFill/>
                    </a:lnTlToBr>
                    <a:lnBlToTr>
                      <a:noFill/>
                    </a:lnBlToTr>
                    <a:noFill/>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r>
                        <a:rPr kumimoji="0" lang="en-US" sz="1600" b="0" i="0" u="none" strike="noStrike" cap="none" normalizeH="0" baseline="0" dirty="0">
                          <a:ln>
                            <a:noFill/>
                          </a:ln>
                          <a:solidFill>
                            <a:schemeClr val="tx1"/>
                          </a:solidFill>
                          <a:effectLst/>
                          <a:latin typeface="Times New Roman" pitchFamily="1" charset="0"/>
                        </a:rPr>
                        <a:t>3 in 4</a:t>
                      </a:r>
                    </a:p>
                  </a:txBody>
                  <a:tcPr marT="45708" marB="45708" anchor="ctr" horzOverflow="overflow">
                    <a:lnL>
                      <a:noFill/>
                    </a:lnL>
                    <a:lnR cap="flat">
                      <a:noFill/>
                    </a:lnR>
                    <a:lnT>
                      <a:noFill/>
                    </a:lnT>
                    <a:lnB cap="flat">
                      <a:noFill/>
                    </a:lnB>
                    <a:lnTlToBr>
                      <a:noFill/>
                    </a:lnTlToBr>
                    <a:lnBlToTr>
                      <a:noFill/>
                    </a:lnBlToTr>
                    <a:noFill/>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13428442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
                                            <p:txEl>
                                              <p:pRg st="7" end="7"/>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Decision Analysis</a:t>
            </a:r>
          </a:p>
        </p:txBody>
      </p:sp>
      <p:sp>
        <p:nvSpPr>
          <p:cNvPr id="3" name="Content Placeholder 2"/>
          <p:cNvSpPr>
            <a:spLocks noGrp="1"/>
          </p:cNvSpPr>
          <p:nvPr>
            <p:ph idx="1"/>
          </p:nvPr>
        </p:nvSpPr>
        <p:spPr/>
        <p:txBody>
          <a:bodyPr/>
          <a:lstStyle/>
          <a:p>
            <a:r>
              <a:rPr lang="en-US" b="1" u="sng" dirty="0"/>
              <a:t>Some terminology:</a:t>
            </a:r>
          </a:p>
          <a:p>
            <a:pPr lvl="1"/>
            <a:r>
              <a:rPr lang="en-US" dirty="0"/>
              <a:t>The </a:t>
            </a:r>
            <a:r>
              <a:rPr lang="en-US" dirty="0">
                <a:solidFill>
                  <a:srgbClr val="C00000"/>
                </a:solidFill>
              </a:rPr>
              <a:t>decision maker </a:t>
            </a:r>
            <a:r>
              <a:rPr lang="en-US" dirty="0"/>
              <a:t>is the individual or group responsible for making the decision.</a:t>
            </a:r>
          </a:p>
          <a:p>
            <a:pPr lvl="1"/>
            <a:r>
              <a:rPr lang="en-US" dirty="0"/>
              <a:t>The </a:t>
            </a:r>
            <a:r>
              <a:rPr lang="en-US" dirty="0">
                <a:solidFill>
                  <a:srgbClr val="C00000"/>
                </a:solidFill>
              </a:rPr>
              <a:t>alternatives</a:t>
            </a:r>
            <a:r>
              <a:rPr lang="en-US" dirty="0"/>
              <a:t> are the options for the decision to be made.</a:t>
            </a:r>
          </a:p>
          <a:p>
            <a:pPr lvl="1"/>
            <a:r>
              <a:rPr lang="en-US" dirty="0"/>
              <a:t>The outcome is affected by random factors outside the control of the decision maker. These random factors determine the situation that will be found when the decision is executed. Each of these possible situations is referred to as a possible </a:t>
            </a:r>
            <a:r>
              <a:rPr lang="en-US" dirty="0">
                <a:solidFill>
                  <a:srgbClr val="C00000"/>
                </a:solidFill>
              </a:rPr>
              <a:t>state of nature</a:t>
            </a:r>
            <a:r>
              <a:rPr lang="en-US" dirty="0"/>
              <a:t>.</a:t>
            </a:r>
          </a:p>
          <a:p>
            <a:pPr lvl="1"/>
            <a:r>
              <a:rPr lang="en-US" dirty="0"/>
              <a:t>The decision maker generally will have some information about the relative likelihood of the possible states of nature. These are referred to as the </a:t>
            </a:r>
            <a:r>
              <a:rPr lang="en-US" dirty="0">
                <a:solidFill>
                  <a:srgbClr val="C00000"/>
                </a:solidFill>
              </a:rPr>
              <a:t>prior probabilities</a:t>
            </a:r>
            <a:r>
              <a:rPr lang="en-US" dirty="0"/>
              <a:t>.</a:t>
            </a:r>
          </a:p>
          <a:p>
            <a:pPr lvl="1"/>
            <a:r>
              <a:rPr lang="en-US" dirty="0"/>
              <a:t>Each combination of a decision alternative and a state of nature results in some outcome. The </a:t>
            </a:r>
            <a:r>
              <a:rPr lang="en-US" dirty="0">
                <a:solidFill>
                  <a:srgbClr val="C00000"/>
                </a:solidFill>
              </a:rPr>
              <a:t>payoff</a:t>
            </a:r>
            <a:r>
              <a:rPr lang="en-US" dirty="0"/>
              <a:t> is a quantitative measure of the value to the decision maker of the outcome. It is often the monetary value.</a:t>
            </a:r>
          </a:p>
          <a:p>
            <a:pPr lvl="1"/>
            <a:endParaRPr lang="en-US" dirty="0"/>
          </a:p>
          <a:p>
            <a:pPr lvl="1"/>
            <a:endParaRPr lang="en-US" dirty="0"/>
          </a:p>
        </p:txBody>
      </p:sp>
    </p:spTree>
    <p:extLst>
      <p:ext uri="{BB962C8B-B14F-4D97-AF65-F5344CB8AC3E}">
        <p14:creationId xmlns:p14="http://schemas.microsoft.com/office/powerpoint/2010/main" val="10081392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Decision Analysis</a:t>
            </a:r>
          </a:p>
        </p:txBody>
      </p:sp>
      <p:sp>
        <p:nvSpPr>
          <p:cNvPr id="3" name="Content Placeholder 2"/>
          <p:cNvSpPr>
            <a:spLocks noGrp="1"/>
          </p:cNvSpPr>
          <p:nvPr>
            <p:ph idx="1"/>
          </p:nvPr>
        </p:nvSpPr>
        <p:spPr/>
        <p:txBody>
          <a:bodyPr/>
          <a:lstStyle/>
          <a:p>
            <a:r>
              <a:rPr lang="en-US" b="1" u="sng" dirty="0"/>
              <a:t>Case: The </a:t>
            </a:r>
            <a:r>
              <a:rPr lang="en-US" b="1" u="sng" dirty="0" err="1"/>
              <a:t>Goferbroke</a:t>
            </a:r>
            <a:r>
              <a:rPr lang="en-US" b="1" u="sng" dirty="0"/>
              <a:t> Company Problem (Chapter 9.1)</a:t>
            </a:r>
          </a:p>
          <a:p>
            <a:r>
              <a:rPr lang="en-US" sz="2400" dirty="0"/>
              <a:t>The decision maker generally will have some information about the relative likelihood of the possible states of nature. These are referred to as the </a:t>
            </a:r>
            <a:r>
              <a:rPr lang="en-US" sz="2400" dirty="0">
                <a:solidFill>
                  <a:srgbClr val="C00000"/>
                </a:solidFill>
              </a:rPr>
              <a:t>prior probabilities</a:t>
            </a:r>
            <a:r>
              <a:rPr lang="en-US" sz="2400" dirty="0"/>
              <a:t>.</a:t>
            </a:r>
          </a:p>
          <a:p>
            <a:endParaRPr lang="en-US" sz="2400" dirty="0"/>
          </a:p>
          <a:p>
            <a:endParaRPr lang="en-US" sz="2400" dirty="0"/>
          </a:p>
          <a:p>
            <a:endParaRPr lang="en-US" sz="2400" dirty="0"/>
          </a:p>
          <a:p>
            <a:r>
              <a:rPr lang="en-US" sz="2400" dirty="0"/>
              <a:t>Each decision alternative can have different values (</a:t>
            </a:r>
            <a:r>
              <a:rPr lang="en-US" sz="2400" dirty="0">
                <a:solidFill>
                  <a:srgbClr val="C00000"/>
                </a:solidFill>
              </a:rPr>
              <a:t>payoffs</a:t>
            </a:r>
            <a:r>
              <a:rPr lang="en-US" sz="2400" dirty="0"/>
              <a:t>) under different states of nature</a:t>
            </a:r>
          </a:p>
          <a:p>
            <a:endParaRPr lang="en-US" sz="2400" b="1" dirty="0"/>
          </a:p>
          <a:p>
            <a:pPr lvl="1"/>
            <a:endParaRPr lang="en-US" dirty="0"/>
          </a:p>
          <a:p>
            <a:pPr lvl="1"/>
            <a:endParaRPr lang="en-US" dirty="0"/>
          </a:p>
        </p:txBody>
      </p:sp>
      <p:graphicFrame>
        <p:nvGraphicFramePr>
          <p:cNvPr id="4" name="Group 31">
            <a:extLst>
              <a:ext uri="{FF2B5EF4-FFF2-40B4-BE49-F238E27FC236}">
                <a16:creationId xmlns:a16="http://schemas.microsoft.com/office/drawing/2014/main" id="{7727E3CB-7842-413B-A80A-ACB857AE696B}"/>
              </a:ext>
            </a:extLst>
          </p:cNvPr>
          <p:cNvGraphicFramePr>
            <a:graphicFrameLocks/>
          </p:cNvGraphicFramePr>
          <p:nvPr>
            <p:extLst>
              <p:ext uri="{D42A27DB-BD31-4B8C-83A1-F6EECF244321}">
                <p14:modId xmlns:p14="http://schemas.microsoft.com/office/powerpoint/2010/main" val="1636097889"/>
              </p:ext>
            </p:extLst>
          </p:nvPr>
        </p:nvGraphicFramePr>
        <p:xfrm>
          <a:off x="2498035" y="2738858"/>
          <a:ext cx="5870712" cy="1005840"/>
        </p:xfrm>
        <a:graphic>
          <a:graphicData uri="http://schemas.openxmlformats.org/drawingml/2006/table">
            <a:tbl>
              <a:tblPr/>
              <a:tblGrid>
                <a:gridCol w="3136408">
                  <a:extLst>
                    <a:ext uri="{9D8B030D-6E8A-4147-A177-3AD203B41FA5}">
                      <a16:colId xmlns:a16="http://schemas.microsoft.com/office/drawing/2014/main" val="20000"/>
                    </a:ext>
                  </a:extLst>
                </a:gridCol>
                <a:gridCol w="2734304">
                  <a:extLst>
                    <a:ext uri="{9D8B030D-6E8A-4147-A177-3AD203B41FA5}">
                      <a16:colId xmlns:a16="http://schemas.microsoft.com/office/drawing/2014/main" val="20001"/>
                    </a:ext>
                  </a:extLst>
                </a:gridCol>
              </a:tblGrid>
              <a:tr h="303696">
                <a:tc>
                  <a:txBody>
                    <a:bodyPr/>
                    <a:lstStyle/>
                    <a:p>
                      <a:pPr marL="0" marR="0" lvl="0" indent="0" algn="l" defTabSz="914400" rtl="0" eaLnBrk="1" fontAlgn="base" latinLnBrk="0" hangingPunct="1">
                        <a:lnSpc>
                          <a:spcPct val="100000"/>
                        </a:lnSpc>
                        <a:spcBef>
                          <a:spcPct val="100000"/>
                        </a:spcBef>
                        <a:spcAft>
                          <a:spcPct val="0"/>
                        </a:spcAft>
                        <a:buClrTx/>
                        <a:buSzTx/>
                        <a:buFontTx/>
                        <a:buNone/>
                        <a:tabLst/>
                      </a:pPr>
                      <a:r>
                        <a:rPr kumimoji="0" lang="en-US" sz="1600" b="1" i="0" u="sng" strike="noStrike" cap="none" normalizeH="0" baseline="0" dirty="0">
                          <a:ln>
                            <a:noFill/>
                          </a:ln>
                          <a:solidFill>
                            <a:schemeClr val="tx1"/>
                          </a:solidFill>
                          <a:effectLst/>
                          <a:latin typeface="Times New Roman" pitchFamily="1" charset="0"/>
                        </a:rPr>
                        <a:t>State of Nature</a:t>
                      </a:r>
                    </a:p>
                  </a:txBody>
                  <a:tcPr horzOverflow="overflow">
                    <a:lnL cap="flat">
                      <a:noFill/>
                    </a:lnL>
                    <a:lnR>
                      <a:noFill/>
                    </a:lnR>
                    <a:lnT cap="fla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r>
                        <a:rPr kumimoji="0" lang="en-US" sz="1600" b="1" i="0" u="sng" strike="noStrike" cap="none" normalizeH="0" baseline="0" dirty="0">
                          <a:ln>
                            <a:noFill/>
                          </a:ln>
                          <a:solidFill>
                            <a:schemeClr val="tx1"/>
                          </a:solidFill>
                          <a:effectLst/>
                          <a:latin typeface="Times New Roman" pitchFamily="1" charset="0"/>
                        </a:rPr>
                        <a:t>Prior Probability</a:t>
                      </a:r>
                    </a:p>
                  </a:txBody>
                  <a:tcPr horzOverflow="overflow">
                    <a:lnL>
                      <a:noFill/>
                    </a:lnL>
                    <a:lnR cap="flat">
                      <a:noFill/>
                    </a:lnR>
                    <a:lnT cap="flat">
                      <a:noFill/>
                    </a:lnT>
                    <a:lnB>
                      <a:noFill/>
                    </a:lnB>
                    <a:lnTlToBr>
                      <a:noFill/>
                    </a:lnTlToBr>
                    <a:lnBlToTr>
                      <a:noFill/>
                    </a:lnBlToTr>
                    <a:noFill/>
                  </a:tcPr>
                </a:tc>
                <a:extLst>
                  <a:ext uri="{0D108BD9-81ED-4DB2-BD59-A6C34878D82A}">
                    <a16:rowId xmlns:a16="http://schemas.microsoft.com/office/drawing/2014/main" val="10000"/>
                  </a:ext>
                </a:extLst>
              </a:tr>
              <a:tr h="303696">
                <a:tc>
                  <a:txBody>
                    <a:bodyPr/>
                    <a:lstStyle/>
                    <a:p>
                      <a:pPr marL="0" marR="0" lvl="0" indent="0" algn="l" defTabSz="914400" rtl="0" eaLnBrk="1" fontAlgn="base" latinLnBrk="0" hangingPunct="1">
                        <a:lnSpc>
                          <a:spcPct val="100000"/>
                        </a:lnSpc>
                        <a:spcBef>
                          <a:spcPct val="100000"/>
                        </a:spcBef>
                        <a:spcAft>
                          <a:spcPct val="0"/>
                        </a:spcAft>
                        <a:buClrTx/>
                        <a:buSzTx/>
                        <a:buFontTx/>
                        <a:buNone/>
                        <a:tabLst/>
                      </a:pPr>
                      <a:r>
                        <a:rPr kumimoji="0" lang="en-US" sz="1600" b="0" i="0" u="none" strike="noStrike" cap="none" normalizeH="0" baseline="0" dirty="0">
                          <a:ln>
                            <a:noFill/>
                          </a:ln>
                          <a:solidFill>
                            <a:schemeClr val="tx1"/>
                          </a:solidFill>
                          <a:effectLst/>
                          <a:latin typeface="Times New Roman" pitchFamily="1" charset="0"/>
                        </a:rPr>
                        <a:t>The tract of land contains oil</a:t>
                      </a:r>
                    </a:p>
                  </a:txBody>
                  <a:tcPr horzOverflow="overflow">
                    <a:lnL cap="flat">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 charset="0"/>
                        </a:rPr>
                        <a:t>0.25</a:t>
                      </a:r>
                    </a:p>
                  </a:txBody>
                  <a:tcPr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01"/>
                  </a:ext>
                </a:extLst>
              </a:tr>
              <a:tr h="303696">
                <a:tc>
                  <a:txBody>
                    <a:bodyPr/>
                    <a:lstStyle/>
                    <a:p>
                      <a:pPr marL="0" marR="0" lvl="0" indent="0" algn="l" defTabSz="914400" rtl="0" eaLnBrk="1" fontAlgn="base" latinLnBrk="0" hangingPunct="1">
                        <a:lnSpc>
                          <a:spcPct val="100000"/>
                        </a:lnSpc>
                        <a:spcBef>
                          <a:spcPct val="100000"/>
                        </a:spcBef>
                        <a:spcAft>
                          <a:spcPct val="0"/>
                        </a:spcAft>
                        <a:buClrTx/>
                        <a:buSzTx/>
                        <a:buFontTx/>
                        <a:buNone/>
                        <a:tabLst/>
                      </a:pPr>
                      <a:r>
                        <a:rPr kumimoji="0" lang="en-US" sz="1600" b="0" i="0" u="none" strike="noStrike" cap="none" normalizeH="0" baseline="0" dirty="0">
                          <a:ln>
                            <a:noFill/>
                          </a:ln>
                          <a:solidFill>
                            <a:schemeClr val="tx1"/>
                          </a:solidFill>
                          <a:effectLst/>
                          <a:latin typeface="Times New Roman" pitchFamily="1" charset="0"/>
                        </a:rPr>
                        <a:t>The tract of land is dry (no oil)</a:t>
                      </a:r>
                    </a:p>
                  </a:txBody>
                  <a:tcPr horzOverflow="overflow">
                    <a:lnL cap="flat">
                      <a:noFill/>
                    </a:lnL>
                    <a:lnR>
                      <a:noFill/>
                    </a:lnR>
                    <a:lnT>
                      <a:noFill/>
                    </a:lnT>
                    <a:lnB cap="flat">
                      <a:noFill/>
                    </a:lnB>
                    <a:lnTlToBr>
                      <a:noFill/>
                    </a:lnTlToBr>
                    <a:lnBlToTr>
                      <a:noFill/>
                    </a:lnBlToTr>
                    <a:noFill/>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r>
                        <a:rPr kumimoji="0" lang="en-US" sz="1600" b="0" i="0" u="none" strike="noStrike" cap="none" normalizeH="0" baseline="0" dirty="0">
                          <a:ln>
                            <a:noFill/>
                          </a:ln>
                          <a:solidFill>
                            <a:schemeClr val="tx1"/>
                          </a:solidFill>
                          <a:effectLst/>
                          <a:latin typeface="Times New Roman" pitchFamily="1" charset="0"/>
                        </a:rPr>
                        <a:t>0.75</a:t>
                      </a:r>
                    </a:p>
                  </a:txBody>
                  <a:tcPr horzOverflow="overflow">
                    <a:lnL>
                      <a:noFill/>
                    </a:lnL>
                    <a:lnR cap="flat">
                      <a:noFill/>
                    </a:lnR>
                    <a:lnT>
                      <a:noFill/>
                    </a:lnT>
                    <a:lnB cap="flat">
                      <a:noFill/>
                    </a:lnB>
                    <a:lnTlToBr>
                      <a:noFill/>
                    </a:lnTlToBr>
                    <a:lnBlToTr>
                      <a:noFill/>
                    </a:lnBlToTr>
                    <a:noFill/>
                  </a:tcPr>
                </a:tc>
                <a:extLst>
                  <a:ext uri="{0D108BD9-81ED-4DB2-BD59-A6C34878D82A}">
                    <a16:rowId xmlns:a16="http://schemas.microsoft.com/office/drawing/2014/main" val="10002"/>
                  </a:ext>
                </a:extLst>
              </a:tr>
            </a:tbl>
          </a:graphicData>
        </a:graphic>
      </p:graphicFrame>
      <p:graphicFrame>
        <p:nvGraphicFramePr>
          <p:cNvPr id="5" name="Group 72">
            <a:extLst>
              <a:ext uri="{FF2B5EF4-FFF2-40B4-BE49-F238E27FC236}">
                <a16:creationId xmlns:a16="http://schemas.microsoft.com/office/drawing/2014/main" id="{13B09A9A-7453-4404-84CF-D1D4BE46643B}"/>
              </a:ext>
            </a:extLst>
          </p:cNvPr>
          <p:cNvGraphicFramePr>
            <a:graphicFrameLocks/>
          </p:cNvGraphicFramePr>
          <p:nvPr>
            <p:extLst>
              <p:ext uri="{D42A27DB-BD31-4B8C-83A1-F6EECF244321}">
                <p14:modId xmlns:p14="http://schemas.microsoft.com/office/powerpoint/2010/main" val="481812371"/>
              </p:ext>
            </p:extLst>
          </p:nvPr>
        </p:nvGraphicFramePr>
        <p:xfrm>
          <a:off x="2498035" y="4608200"/>
          <a:ext cx="4800600" cy="1676340"/>
        </p:xfrm>
        <a:graphic>
          <a:graphicData uri="http://schemas.openxmlformats.org/drawingml/2006/table">
            <a:tbl>
              <a:tblPr/>
              <a:tblGrid>
                <a:gridCol w="1828800">
                  <a:extLst>
                    <a:ext uri="{9D8B030D-6E8A-4147-A177-3AD203B41FA5}">
                      <a16:colId xmlns:a16="http://schemas.microsoft.com/office/drawing/2014/main" val="20000"/>
                    </a:ext>
                  </a:extLst>
                </a:gridCol>
                <a:gridCol w="1447800">
                  <a:extLst>
                    <a:ext uri="{9D8B030D-6E8A-4147-A177-3AD203B41FA5}">
                      <a16:colId xmlns:a16="http://schemas.microsoft.com/office/drawing/2014/main" val="20001"/>
                    </a:ext>
                  </a:extLst>
                </a:gridCol>
                <a:gridCol w="1524000">
                  <a:extLst>
                    <a:ext uri="{9D8B030D-6E8A-4147-A177-3AD203B41FA5}">
                      <a16:colId xmlns:a16="http://schemas.microsoft.com/office/drawing/2014/main" val="20002"/>
                    </a:ext>
                  </a:extLst>
                </a:gridCol>
              </a:tblGrid>
              <a:tr h="316407">
                <a:tc>
                  <a:txBody>
                    <a:bodyPr/>
                    <a:lstStyle/>
                    <a:p>
                      <a:pPr marL="0" marR="0" lvl="0" indent="0" algn="l" defTabSz="914400" rtl="0" eaLnBrk="1" fontAlgn="base" latinLnBrk="0" hangingPunct="1">
                        <a:lnSpc>
                          <a:spcPct val="100000"/>
                        </a:lnSpc>
                        <a:spcBef>
                          <a:spcPct val="100000"/>
                        </a:spcBef>
                        <a:spcAft>
                          <a:spcPct val="0"/>
                        </a:spcAft>
                        <a:buClrTx/>
                        <a:buSzTx/>
                        <a:buFontTx/>
                        <a:buNone/>
                        <a:tabLst/>
                      </a:pPr>
                      <a:endParaRPr kumimoji="0" lang="en-US" sz="1600" b="1" i="0" u="none" strike="noStrike" cap="none" normalizeH="0" baseline="0" dirty="0">
                        <a:ln>
                          <a:noFill/>
                        </a:ln>
                        <a:solidFill>
                          <a:schemeClr val="tx1"/>
                        </a:solidFill>
                        <a:effectLst/>
                        <a:latin typeface="Times New Roman" pitchFamily="1" charset="0"/>
                      </a:endParaRPr>
                    </a:p>
                  </a:txBody>
                  <a:tcPr marT="45714" marB="45714" anchor="b" horzOverflow="overflow">
                    <a:lnL cap="flat">
                      <a:noFill/>
                    </a:lnL>
                    <a:lnR>
                      <a:noFill/>
                    </a:lnR>
                    <a:lnT cap="flat">
                      <a:noFill/>
                    </a:lnT>
                    <a:lnB>
                      <a:noFill/>
                    </a:lnB>
                    <a:lnTlToBr>
                      <a:noFill/>
                    </a:lnTlToBr>
                    <a:lnBlToTr>
                      <a:noFill/>
                    </a:lnBlToTr>
                    <a:noFill/>
                  </a:tcPr>
                </a:tc>
                <a:tc gridSpan="2">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r>
                        <a:rPr kumimoji="0" lang="en-US" sz="1600" b="1" i="0" u="none" strike="noStrike" cap="none" normalizeH="0" baseline="0" dirty="0">
                          <a:ln>
                            <a:noFill/>
                          </a:ln>
                          <a:solidFill>
                            <a:schemeClr val="tx1"/>
                          </a:solidFill>
                          <a:effectLst/>
                          <a:latin typeface="Times New Roman" pitchFamily="1" charset="0"/>
                        </a:rPr>
                        <a:t>State of Nature</a:t>
                      </a:r>
                    </a:p>
                  </a:txBody>
                  <a:tcPr marT="45714" marB="45714" anchor="b" horzOverflow="overflow">
                    <a:lnL>
                      <a:noFill/>
                    </a:lnL>
                    <a:lnR cap="flat">
                      <a:noFill/>
                    </a:lnR>
                    <a:lnT cap="flat">
                      <a:noFill/>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en-US"/>
                    </a:p>
                  </a:txBody>
                  <a:tcPr/>
                </a:tc>
                <a:extLst>
                  <a:ext uri="{0D108BD9-81ED-4DB2-BD59-A6C34878D82A}">
                    <a16:rowId xmlns:a16="http://schemas.microsoft.com/office/drawing/2014/main" val="10000"/>
                  </a:ext>
                </a:extLst>
              </a:tr>
              <a:tr h="262817">
                <a:tc>
                  <a:txBody>
                    <a:bodyPr/>
                    <a:lstStyle/>
                    <a:p>
                      <a:pPr marL="0" marR="0" lvl="0" indent="0" algn="l" defTabSz="914400" rtl="0" eaLnBrk="1" fontAlgn="base" latinLnBrk="0" hangingPunct="1">
                        <a:lnSpc>
                          <a:spcPct val="100000"/>
                        </a:lnSpc>
                        <a:spcBef>
                          <a:spcPct val="100000"/>
                        </a:spcBef>
                        <a:spcAft>
                          <a:spcPct val="0"/>
                        </a:spcAft>
                        <a:buClrTx/>
                        <a:buSzTx/>
                        <a:buFontTx/>
                        <a:buNone/>
                        <a:tabLst/>
                      </a:pPr>
                      <a:r>
                        <a:rPr kumimoji="0" lang="en-US" sz="1600" b="1" i="0" u="none" strike="noStrike" cap="none" normalizeH="0" baseline="0">
                          <a:ln>
                            <a:noFill/>
                          </a:ln>
                          <a:solidFill>
                            <a:schemeClr val="tx1"/>
                          </a:solidFill>
                          <a:effectLst/>
                          <a:latin typeface="Times New Roman" pitchFamily="1" charset="0"/>
                        </a:rPr>
                        <a:t>Alternative</a:t>
                      </a:r>
                    </a:p>
                  </a:txBody>
                  <a:tcPr marT="45714" marB="45714" anchor="b" horzOverflow="overflow">
                    <a:lnL cap="flat">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r>
                        <a:rPr kumimoji="0" lang="en-US" sz="1600" b="1" i="0" u="none" strike="noStrike" cap="none" normalizeH="0" baseline="0">
                          <a:ln>
                            <a:noFill/>
                          </a:ln>
                          <a:solidFill>
                            <a:schemeClr val="tx1"/>
                          </a:solidFill>
                          <a:effectLst/>
                          <a:latin typeface="Times New Roman" pitchFamily="1" charset="0"/>
                        </a:rPr>
                        <a:t>Oil</a:t>
                      </a:r>
                    </a:p>
                  </a:txBody>
                  <a:tcPr marT="45714" marB="45714" anchor="b" horzOverflow="overflow">
                    <a:lnL>
                      <a:noFill/>
                    </a:lnL>
                    <a:lnR>
                      <a:noFill/>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r>
                        <a:rPr kumimoji="0" lang="en-US" sz="1600" b="1" i="0" u="none" strike="noStrike" cap="none" normalizeH="0" baseline="0">
                          <a:ln>
                            <a:noFill/>
                          </a:ln>
                          <a:solidFill>
                            <a:schemeClr val="tx1"/>
                          </a:solidFill>
                          <a:effectLst/>
                          <a:latin typeface="Times New Roman" pitchFamily="1" charset="0"/>
                        </a:rPr>
                        <a:t>Dry</a:t>
                      </a:r>
                    </a:p>
                  </a:txBody>
                  <a:tcPr marT="45714" marB="45714" anchor="b" horzOverflow="overflow">
                    <a:lnL>
                      <a:noFill/>
                    </a:lnL>
                    <a:lnR cap="flat">
                      <a:noFill/>
                    </a:lnR>
                    <a:lnT w="12700" cap="flat" cmpd="sng" algn="ctr">
                      <a:solidFill>
                        <a:schemeClr val="tx1"/>
                      </a:solidFill>
                      <a:prstDash val="solid"/>
                      <a:round/>
                      <a:headEnd type="none" w="med" len="med"/>
                      <a:tailEnd type="none" w="med" len="med"/>
                    </a:lnT>
                    <a:lnB>
                      <a:noFill/>
                    </a:lnB>
                    <a:lnTlToBr>
                      <a:noFill/>
                    </a:lnTlToBr>
                    <a:lnBlToTr>
                      <a:noFill/>
                    </a:lnBlToTr>
                    <a:noFill/>
                  </a:tcPr>
                </a:tc>
                <a:extLst>
                  <a:ext uri="{0D108BD9-81ED-4DB2-BD59-A6C34878D82A}">
                    <a16:rowId xmlns:a16="http://schemas.microsoft.com/office/drawing/2014/main" val="10001"/>
                  </a:ext>
                </a:extLst>
              </a:tr>
              <a:tr h="316407">
                <a:tc>
                  <a:txBody>
                    <a:bodyPr/>
                    <a:lstStyle/>
                    <a:p>
                      <a:pPr marL="0" marR="0" lvl="0" indent="0" algn="l" defTabSz="914400" rtl="0" eaLnBrk="1" fontAlgn="base" latinLnBrk="0" hangingPunct="1">
                        <a:lnSpc>
                          <a:spcPct val="100000"/>
                        </a:lnSpc>
                        <a:spcBef>
                          <a:spcPct val="10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 charset="0"/>
                        </a:rPr>
                        <a:t>Drill for oil</a:t>
                      </a:r>
                    </a:p>
                  </a:txBody>
                  <a:tcPr marT="45714" marB="45714" anchor="ctr" horzOverflow="overflow">
                    <a:lnL cap="flat">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r>
                        <a:rPr kumimoji="0" lang="en-US" sz="1600" b="0" i="0" u="none" strike="noStrike" cap="none" normalizeH="0" baseline="0" dirty="0">
                          <a:ln>
                            <a:noFill/>
                          </a:ln>
                          <a:solidFill>
                            <a:schemeClr val="tx1"/>
                          </a:solidFill>
                          <a:effectLst/>
                          <a:latin typeface="Times New Roman" pitchFamily="1" charset="0"/>
                        </a:rPr>
                        <a:t>$700K</a:t>
                      </a:r>
                    </a:p>
                  </a:txBody>
                  <a:tcPr marT="45714" marB="45714" anchor="ctr"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r>
                        <a:rPr kumimoji="0" lang="en-US" sz="1600" b="0" i="0" u="none" strike="noStrike" cap="none" normalizeH="0" baseline="0" dirty="0">
                          <a:ln>
                            <a:noFill/>
                          </a:ln>
                          <a:solidFill>
                            <a:schemeClr val="tx1"/>
                          </a:solidFill>
                          <a:effectLst/>
                          <a:latin typeface="Times New Roman" pitchFamily="1" charset="0"/>
                        </a:rPr>
                        <a:t>$–100K</a:t>
                      </a:r>
                    </a:p>
                  </a:txBody>
                  <a:tcPr marT="45714" marB="45714" anchor="ctr"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02"/>
                  </a:ext>
                </a:extLst>
              </a:tr>
              <a:tr h="317378">
                <a:tc>
                  <a:txBody>
                    <a:bodyPr/>
                    <a:lstStyle/>
                    <a:p>
                      <a:pPr marL="0" marR="0" lvl="0" indent="0" algn="l" defTabSz="914400" rtl="0" eaLnBrk="1" fontAlgn="base" latinLnBrk="0" hangingPunct="1">
                        <a:lnSpc>
                          <a:spcPct val="100000"/>
                        </a:lnSpc>
                        <a:spcBef>
                          <a:spcPct val="10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 charset="0"/>
                        </a:rPr>
                        <a:t>Sell the land</a:t>
                      </a:r>
                    </a:p>
                  </a:txBody>
                  <a:tcPr marT="45714" marB="45714" anchor="ctr" horzOverflow="overflow">
                    <a:lnL cap="flat">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r>
                        <a:rPr kumimoji="0" lang="en-US" sz="1600" b="0" i="0" u="none" strike="noStrike" cap="none" normalizeH="0" baseline="0" dirty="0">
                          <a:ln>
                            <a:noFill/>
                          </a:ln>
                          <a:solidFill>
                            <a:schemeClr val="tx1"/>
                          </a:solidFill>
                          <a:effectLst/>
                          <a:latin typeface="Times New Roman" pitchFamily="1" charset="0"/>
                        </a:rPr>
                        <a:t>$90K</a:t>
                      </a:r>
                    </a:p>
                  </a:txBody>
                  <a:tcPr marT="45714" marB="45714" anchor="ctr"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r>
                        <a:rPr kumimoji="0" lang="en-US" sz="1600" b="0" i="0" u="none" strike="noStrike" cap="none" normalizeH="0" baseline="0" dirty="0">
                          <a:ln>
                            <a:noFill/>
                          </a:ln>
                          <a:solidFill>
                            <a:schemeClr val="tx1"/>
                          </a:solidFill>
                          <a:effectLst/>
                          <a:latin typeface="Times New Roman" pitchFamily="1" charset="0"/>
                        </a:rPr>
                        <a:t>$90K</a:t>
                      </a:r>
                    </a:p>
                  </a:txBody>
                  <a:tcPr marT="45714" marB="45714" anchor="ctr" horzOverflow="overflow">
                    <a:lnL>
                      <a:noFill/>
                    </a:lnL>
                    <a:lnR cap="flat">
                      <a:noFill/>
                    </a:lnR>
                    <a:lnT>
                      <a:noFill/>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16407">
                <a:tc>
                  <a:txBody>
                    <a:bodyPr/>
                    <a:lstStyle/>
                    <a:p>
                      <a:pPr marL="0" marR="0" lvl="0" indent="0" algn="l" defTabSz="914400" rtl="0" eaLnBrk="1" fontAlgn="base" latinLnBrk="0" hangingPunct="1">
                        <a:lnSpc>
                          <a:spcPct val="100000"/>
                        </a:lnSpc>
                        <a:spcBef>
                          <a:spcPct val="10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 charset="0"/>
                        </a:rPr>
                        <a:t>Prior probability</a:t>
                      </a:r>
                    </a:p>
                  </a:txBody>
                  <a:tcPr marT="45714" marB="45714" anchor="ctr" horzOverflow="overflow">
                    <a:lnL cap="flat">
                      <a:noFill/>
                    </a:lnL>
                    <a:lnR>
                      <a:noFill/>
                    </a:lnR>
                    <a:lnT w="12700" cap="flat" cmpd="sng" algn="ctr">
                      <a:solidFill>
                        <a:schemeClr val="tx1"/>
                      </a:solidFill>
                      <a:prstDash val="solid"/>
                      <a:round/>
                      <a:headEnd type="none" w="med" len="med"/>
                      <a:tailEnd type="none" w="med" len="med"/>
                    </a:lnT>
                    <a:lnB cap="flat">
                      <a:noFill/>
                    </a:lnB>
                    <a:lnTlToBr>
                      <a:noFill/>
                    </a:lnTlToBr>
                    <a:lnBlToTr>
                      <a:noFill/>
                    </a:lnBlToTr>
                    <a:noFill/>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r>
                        <a:rPr kumimoji="0" lang="en-US" sz="1600" b="0" i="0" u="none" strike="noStrike" cap="none" normalizeH="0" baseline="0" dirty="0">
                          <a:ln>
                            <a:noFill/>
                          </a:ln>
                          <a:solidFill>
                            <a:schemeClr val="tx1"/>
                          </a:solidFill>
                          <a:effectLst/>
                          <a:latin typeface="Times New Roman" pitchFamily="1" charset="0"/>
                        </a:rPr>
                        <a:t>0.25</a:t>
                      </a:r>
                    </a:p>
                  </a:txBody>
                  <a:tcPr marT="45714" marB="45714" anchor="ctr" horzOverflow="overflow">
                    <a:lnL>
                      <a:noFill/>
                    </a:lnL>
                    <a:lnR>
                      <a:noFill/>
                    </a:lnR>
                    <a:lnT w="12700" cap="flat" cmpd="sng" algn="ctr">
                      <a:solidFill>
                        <a:schemeClr val="tx1"/>
                      </a:solidFill>
                      <a:prstDash val="solid"/>
                      <a:round/>
                      <a:headEnd type="none" w="med" len="med"/>
                      <a:tailEnd type="none" w="med" len="med"/>
                    </a:lnT>
                    <a:lnB cap="flat">
                      <a:noFill/>
                    </a:lnB>
                    <a:lnTlToBr>
                      <a:noFill/>
                    </a:lnTlToBr>
                    <a:lnBlToTr>
                      <a:noFill/>
                    </a:lnBlToTr>
                    <a:noFill/>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r>
                        <a:rPr kumimoji="0" lang="en-US" sz="1600" b="0" i="0" u="none" strike="noStrike" cap="none" normalizeH="0" baseline="0" dirty="0">
                          <a:ln>
                            <a:noFill/>
                          </a:ln>
                          <a:solidFill>
                            <a:schemeClr val="tx1"/>
                          </a:solidFill>
                          <a:effectLst/>
                          <a:latin typeface="Times New Roman" pitchFamily="1" charset="0"/>
                        </a:rPr>
                        <a:t>0.75</a:t>
                      </a:r>
                    </a:p>
                  </a:txBody>
                  <a:tcPr marT="45714" marB="45714" anchor="ctr" horzOverflow="overflow">
                    <a:lnL>
                      <a:noFill/>
                    </a:lnL>
                    <a:lnR cap="flat">
                      <a:noFill/>
                    </a:lnR>
                    <a:lnT w="12700" cap="flat" cmpd="sng" algn="ctr">
                      <a:solidFill>
                        <a:schemeClr val="tx1"/>
                      </a:solidFill>
                      <a:prstDash val="solid"/>
                      <a:round/>
                      <a:headEnd type="none" w="med" len="med"/>
                      <a:tailEnd type="none" w="med" len="med"/>
                    </a:lnT>
                    <a:lnB cap="flat">
                      <a:noFill/>
                    </a:lnB>
                    <a:lnTlToBr>
                      <a:noFill/>
                    </a:lnTlToBr>
                    <a:lnBlToTr>
                      <a:noFill/>
                    </a:lnBlToTr>
                    <a:noFill/>
                  </a:tcPr>
                </a:tc>
                <a:extLst>
                  <a:ext uri="{0D108BD9-81ED-4DB2-BD59-A6C34878D82A}">
                    <a16:rowId xmlns:a16="http://schemas.microsoft.com/office/drawing/2014/main" val="10004"/>
                  </a:ext>
                </a:extLst>
              </a:tr>
            </a:tbl>
          </a:graphicData>
        </a:graphic>
      </p:graphicFrame>
      <p:sp>
        <p:nvSpPr>
          <p:cNvPr id="6" name="TextBox 5">
            <a:extLst>
              <a:ext uri="{FF2B5EF4-FFF2-40B4-BE49-F238E27FC236}">
                <a16:creationId xmlns:a16="http://schemas.microsoft.com/office/drawing/2014/main" id="{CD31A5DB-CB55-4373-AB0E-C7F305DF3459}"/>
              </a:ext>
            </a:extLst>
          </p:cNvPr>
          <p:cNvSpPr txBox="1"/>
          <p:nvPr/>
        </p:nvSpPr>
        <p:spPr>
          <a:xfrm>
            <a:off x="8225909" y="5332508"/>
            <a:ext cx="1878496" cy="369332"/>
          </a:xfrm>
          <a:prstGeom prst="rect">
            <a:avLst/>
          </a:prstGeom>
          <a:noFill/>
        </p:spPr>
        <p:txBody>
          <a:bodyPr wrap="square" rtlCol="0">
            <a:spAutoFit/>
          </a:bodyPr>
          <a:lstStyle/>
          <a:p>
            <a:pPr algn="ctr"/>
            <a:r>
              <a:rPr lang="en-US" dirty="0">
                <a:solidFill>
                  <a:srgbClr val="C00000"/>
                </a:solidFill>
              </a:rPr>
              <a:t>Payoff Table</a:t>
            </a:r>
          </a:p>
        </p:txBody>
      </p:sp>
      <p:sp>
        <p:nvSpPr>
          <p:cNvPr id="7" name="Right Brace 6">
            <a:extLst>
              <a:ext uri="{FF2B5EF4-FFF2-40B4-BE49-F238E27FC236}">
                <a16:creationId xmlns:a16="http://schemas.microsoft.com/office/drawing/2014/main" id="{0908E0EC-B098-4BF9-B615-AF2D29B88B6F}"/>
              </a:ext>
            </a:extLst>
          </p:cNvPr>
          <p:cNvSpPr/>
          <p:nvPr/>
        </p:nvSpPr>
        <p:spPr>
          <a:xfrm>
            <a:off x="7632448" y="4749808"/>
            <a:ext cx="742950" cy="1534732"/>
          </a:xfrm>
          <a:prstGeom prst="rightBrace">
            <a:avLst/>
          </a:prstGeom>
          <a:ln>
            <a:solidFill>
              <a:srgbClr val="C0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Tree>
    <p:extLst>
      <p:ext uri="{BB962C8B-B14F-4D97-AF65-F5344CB8AC3E}">
        <p14:creationId xmlns:p14="http://schemas.microsoft.com/office/powerpoint/2010/main" val="41606049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5" end="5"/>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Decision Criteria</a:t>
            </a:r>
          </a:p>
        </p:txBody>
      </p:sp>
      <p:sp>
        <p:nvSpPr>
          <p:cNvPr id="3" name="Content Placeholder 2"/>
          <p:cNvSpPr>
            <a:spLocks noGrp="1"/>
          </p:cNvSpPr>
          <p:nvPr>
            <p:ph idx="1"/>
          </p:nvPr>
        </p:nvSpPr>
        <p:spPr/>
        <p:txBody>
          <a:bodyPr/>
          <a:lstStyle/>
          <a:p>
            <a:r>
              <a:rPr lang="en-US" dirty="0"/>
              <a:t>When we have certainty, we can use </a:t>
            </a:r>
          </a:p>
          <a:p>
            <a:pPr lvl="1"/>
            <a:r>
              <a:rPr lang="en-US" dirty="0"/>
              <a:t>Linear, integer, binary, nonlinear programming, …</a:t>
            </a:r>
          </a:p>
          <a:p>
            <a:r>
              <a:rPr lang="en-US" dirty="0"/>
              <a:t>What if we do not have certainty?</a:t>
            </a:r>
          </a:p>
          <a:p>
            <a:pPr lvl="1"/>
            <a:r>
              <a:rPr lang="en-US" dirty="0"/>
              <a:t>Uncertainty vs. Risk</a:t>
            </a:r>
          </a:p>
          <a:p>
            <a:pPr lvl="2"/>
            <a:r>
              <a:rPr lang="en-US" dirty="0">
                <a:solidFill>
                  <a:srgbClr val="C00000"/>
                </a:solidFill>
              </a:rPr>
              <a:t>Uncertainty: </a:t>
            </a:r>
            <a:r>
              <a:rPr lang="en-US" dirty="0"/>
              <a:t>Probabilities are not known</a:t>
            </a:r>
          </a:p>
          <a:p>
            <a:pPr lvl="2"/>
            <a:r>
              <a:rPr lang="en-US" dirty="0">
                <a:solidFill>
                  <a:srgbClr val="C00000"/>
                </a:solidFill>
              </a:rPr>
              <a:t>Risk (Stochastic): </a:t>
            </a:r>
            <a:r>
              <a:rPr lang="en-US" dirty="0"/>
              <a:t>Probabilities are known</a:t>
            </a:r>
          </a:p>
          <a:p>
            <a:pPr lvl="1"/>
            <a:r>
              <a:rPr lang="en-US" dirty="0"/>
              <a:t>We can still use mathematical programming for both cases</a:t>
            </a:r>
          </a:p>
          <a:p>
            <a:pPr lvl="2"/>
            <a:r>
              <a:rPr lang="en-US" dirty="0"/>
              <a:t>Robust Optimization for uncertainty vs. Stochastic Optimization for risk</a:t>
            </a:r>
          </a:p>
          <a:p>
            <a:r>
              <a:rPr lang="en-US" dirty="0"/>
              <a:t>There are also simple decision rules that can be used to compare options</a:t>
            </a:r>
          </a:p>
          <a:p>
            <a:pPr lvl="1"/>
            <a:r>
              <a:rPr lang="en-US" dirty="0"/>
              <a:t>Decision Making under Uncertainty</a:t>
            </a:r>
          </a:p>
          <a:p>
            <a:pPr lvl="1"/>
            <a:r>
              <a:rPr lang="en-US" dirty="0"/>
              <a:t>Decision Making under Risk</a:t>
            </a:r>
          </a:p>
          <a:p>
            <a:pPr lvl="1"/>
            <a:endParaRPr lang="en-US" dirty="0"/>
          </a:p>
          <a:p>
            <a:endParaRPr lang="en-US" sz="2400" b="1" dirty="0"/>
          </a:p>
          <a:p>
            <a:pPr lvl="1"/>
            <a:endParaRPr lang="en-US" dirty="0"/>
          </a:p>
          <a:p>
            <a:pPr lvl="1"/>
            <a:endParaRPr lang="en-US" dirty="0"/>
          </a:p>
        </p:txBody>
      </p:sp>
    </p:spTree>
    <p:extLst>
      <p:ext uri="{BB962C8B-B14F-4D97-AF65-F5344CB8AC3E}">
        <p14:creationId xmlns:p14="http://schemas.microsoft.com/office/powerpoint/2010/main" val="22715227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8" end="8"/>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3">
                                            <p:txEl>
                                              <p:pRg st="9" end="9"/>
                                            </p:tx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Decision Making under Uncertainty</a:t>
            </a:r>
          </a:p>
        </p:txBody>
      </p:sp>
      <p:sp>
        <p:nvSpPr>
          <p:cNvPr id="3" name="Content Placeholder 2"/>
          <p:cNvSpPr>
            <a:spLocks noGrp="1"/>
          </p:cNvSpPr>
          <p:nvPr>
            <p:ph idx="1"/>
          </p:nvPr>
        </p:nvSpPr>
        <p:spPr/>
        <p:txBody>
          <a:bodyPr/>
          <a:lstStyle/>
          <a:p>
            <a:r>
              <a:rPr lang="en-US" b="1" u="sng" dirty="0">
                <a:solidFill>
                  <a:srgbClr val="C00000"/>
                </a:solidFill>
              </a:rPr>
              <a:t>Maximax Criterion</a:t>
            </a:r>
          </a:p>
          <a:p>
            <a:pPr lvl="1"/>
            <a:r>
              <a:rPr lang="en-US" dirty="0"/>
              <a:t>The </a:t>
            </a:r>
            <a:r>
              <a:rPr lang="en-US" dirty="0" err="1"/>
              <a:t>maximax</a:t>
            </a:r>
            <a:r>
              <a:rPr lang="en-US" dirty="0"/>
              <a:t> criterion is the decision criterion for the eternal optimist.</a:t>
            </a:r>
          </a:p>
          <a:p>
            <a:pPr lvl="1"/>
            <a:r>
              <a:rPr lang="en-US" dirty="0"/>
              <a:t>It focuses only on the best that can happen.</a:t>
            </a:r>
          </a:p>
          <a:p>
            <a:pPr lvl="1"/>
            <a:r>
              <a:rPr lang="en-US" dirty="0"/>
              <a:t>Plan for the best worst case</a:t>
            </a:r>
          </a:p>
          <a:p>
            <a:pPr lvl="1"/>
            <a:r>
              <a:rPr lang="en-US" b="1" u="sng" dirty="0"/>
              <a:t>Procedure:</a:t>
            </a:r>
          </a:p>
          <a:p>
            <a:pPr lvl="2"/>
            <a:r>
              <a:rPr lang="en-US" dirty="0"/>
              <a:t>Identify the maximum payoff from any state of nature for each alternative.</a:t>
            </a:r>
          </a:p>
          <a:p>
            <a:pPr lvl="2"/>
            <a:r>
              <a:rPr lang="en-US" dirty="0"/>
              <a:t>Find the maximum of these maximum payoffs and choose this alternative.</a:t>
            </a:r>
          </a:p>
          <a:p>
            <a:pPr lvl="8"/>
            <a:endParaRPr lang="en-US" dirty="0"/>
          </a:p>
          <a:p>
            <a:pPr lvl="1"/>
            <a:r>
              <a:rPr lang="en-US" b="1" u="sng" dirty="0"/>
              <a:t>Case: The </a:t>
            </a:r>
            <a:r>
              <a:rPr lang="en-US" b="1" u="sng" dirty="0" err="1"/>
              <a:t>Goferbroke</a:t>
            </a:r>
            <a:r>
              <a:rPr lang="en-US" b="1" u="sng" dirty="0"/>
              <a:t> Company Problem</a:t>
            </a:r>
            <a:endParaRPr lang="en-US" dirty="0"/>
          </a:p>
          <a:p>
            <a:endParaRPr lang="en-US" sz="2400" b="1" dirty="0"/>
          </a:p>
          <a:p>
            <a:pPr lvl="1"/>
            <a:endParaRPr lang="en-US" dirty="0"/>
          </a:p>
          <a:p>
            <a:pPr lvl="1"/>
            <a:endParaRPr lang="en-US" dirty="0"/>
          </a:p>
        </p:txBody>
      </p:sp>
      <p:graphicFrame>
        <p:nvGraphicFramePr>
          <p:cNvPr id="4" name="Group 72">
            <a:extLst>
              <a:ext uri="{FF2B5EF4-FFF2-40B4-BE49-F238E27FC236}">
                <a16:creationId xmlns:a16="http://schemas.microsoft.com/office/drawing/2014/main" id="{65CDEE05-5472-41C0-B751-8FF499DC12F8}"/>
              </a:ext>
            </a:extLst>
          </p:cNvPr>
          <p:cNvGraphicFramePr>
            <a:graphicFrameLocks noGrp="1"/>
          </p:cNvGraphicFramePr>
          <p:nvPr>
            <p:extLst>
              <p:ext uri="{D42A27DB-BD31-4B8C-83A1-F6EECF244321}">
                <p14:modId xmlns:p14="http://schemas.microsoft.com/office/powerpoint/2010/main" val="1847839799"/>
              </p:ext>
            </p:extLst>
          </p:nvPr>
        </p:nvGraphicFramePr>
        <p:xfrm>
          <a:off x="1080052" y="4787348"/>
          <a:ext cx="7086601" cy="1905000"/>
        </p:xfrm>
        <a:graphic>
          <a:graphicData uri="http://schemas.openxmlformats.org/drawingml/2006/table">
            <a:tbl>
              <a:tblPr/>
              <a:tblGrid>
                <a:gridCol w="1750305">
                  <a:extLst>
                    <a:ext uri="{9D8B030D-6E8A-4147-A177-3AD203B41FA5}">
                      <a16:colId xmlns:a16="http://schemas.microsoft.com/office/drawing/2014/main" val="20000"/>
                    </a:ext>
                  </a:extLst>
                </a:gridCol>
                <a:gridCol w="1494163">
                  <a:extLst>
                    <a:ext uri="{9D8B030D-6E8A-4147-A177-3AD203B41FA5}">
                      <a16:colId xmlns:a16="http://schemas.microsoft.com/office/drawing/2014/main" val="20001"/>
                    </a:ext>
                  </a:extLst>
                </a:gridCol>
                <a:gridCol w="1536853">
                  <a:extLst>
                    <a:ext uri="{9D8B030D-6E8A-4147-A177-3AD203B41FA5}">
                      <a16:colId xmlns:a16="http://schemas.microsoft.com/office/drawing/2014/main" val="20002"/>
                    </a:ext>
                  </a:extLst>
                </a:gridCol>
                <a:gridCol w="2305280">
                  <a:extLst>
                    <a:ext uri="{9D8B030D-6E8A-4147-A177-3AD203B41FA5}">
                      <a16:colId xmlns:a16="http://schemas.microsoft.com/office/drawing/2014/main" val="20003"/>
                    </a:ext>
                  </a:extLst>
                </a:gridCol>
              </a:tblGrid>
              <a:tr h="476250">
                <a:tc>
                  <a:txBody>
                    <a:bodyPr/>
                    <a:lstStyle/>
                    <a:p>
                      <a:pPr marL="0" marR="0" lvl="0" indent="0" algn="l" defTabSz="914400" rtl="0" eaLnBrk="1" fontAlgn="base" latinLnBrk="0" hangingPunct="1">
                        <a:lnSpc>
                          <a:spcPct val="100000"/>
                        </a:lnSpc>
                        <a:spcBef>
                          <a:spcPct val="100000"/>
                        </a:spcBef>
                        <a:spcAft>
                          <a:spcPct val="0"/>
                        </a:spcAft>
                        <a:buClrTx/>
                        <a:buSzTx/>
                        <a:buFontTx/>
                        <a:buNone/>
                        <a:tabLst/>
                      </a:pPr>
                      <a:endParaRPr kumimoji="0" lang="en-US" sz="1600" b="1" i="0" u="none" strike="noStrike" cap="none" normalizeH="0" baseline="0" dirty="0">
                        <a:ln>
                          <a:noFill/>
                        </a:ln>
                        <a:solidFill>
                          <a:schemeClr val="tx1"/>
                        </a:solidFill>
                        <a:effectLst/>
                        <a:latin typeface="Times New Roman" pitchFamily="1" charset="0"/>
                      </a:endParaRPr>
                    </a:p>
                  </a:txBody>
                  <a:tcPr marT="45731" marB="45731" horzOverflow="overflow">
                    <a:lnL cap="flat">
                      <a:noFill/>
                    </a:lnL>
                    <a:lnR>
                      <a:noFill/>
                    </a:lnR>
                    <a:lnT cap="flat">
                      <a:noFill/>
                    </a:lnT>
                    <a:lnB>
                      <a:noFill/>
                    </a:lnB>
                    <a:lnTlToBr>
                      <a:noFill/>
                    </a:lnTlToBr>
                    <a:lnBlToTr>
                      <a:noFill/>
                    </a:lnBlToTr>
                    <a:noFill/>
                  </a:tcPr>
                </a:tc>
                <a:tc gridSpan="2">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r>
                        <a:rPr kumimoji="0" lang="en-US" sz="1600" b="1" i="0" u="none" strike="noStrike" cap="none" normalizeH="0" baseline="0">
                          <a:ln>
                            <a:noFill/>
                          </a:ln>
                          <a:solidFill>
                            <a:schemeClr val="tx1"/>
                          </a:solidFill>
                          <a:effectLst/>
                          <a:latin typeface="Times New Roman" pitchFamily="1" charset="0"/>
                        </a:rPr>
                        <a:t>State of Nature</a:t>
                      </a:r>
                    </a:p>
                  </a:txBody>
                  <a:tcPr marT="45731" marB="45731" horzOverflow="overflow">
                    <a:lnL>
                      <a:noFill/>
                    </a:lnL>
                    <a:lnR>
                      <a:noFill/>
                    </a:lnR>
                    <a:lnT cap="flat">
                      <a:noFill/>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en-US"/>
                    </a:p>
                  </a:txBody>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endParaRPr kumimoji="0" lang="en-US" sz="1600" b="1" i="0" u="none" strike="noStrike" cap="none" normalizeH="0" baseline="0">
                        <a:ln>
                          <a:noFill/>
                        </a:ln>
                        <a:solidFill>
                          <a:schemeClr val="tx1"/>
                        </a:solidFill>
                        <a:effectLst/>
                        <a:latin typeface="Times New Roman" pitchFamily="1" charset="0"/>
                      </a:endParaRPr>
                    </a:p>
                  </a:txBody>
                  <a:tcPr marT="45731" marB="45731" horzOverflow="overflow">
                    <a:lnL>
                      <a:noFill/>
                    </a:lnL>
                    <a:lnR cap="flat">
                      <a:noFill/>
                    </a:lnR>
                    <a:lnT cap="flat">
                      <a:noFill/>
                    </a:lnT>
                    <a:lnB>
                      <a:noFill/>
                    </a:lnB>
                    <a:lnTlToBr>
                      <a:noFill/>
                    </a:lnTlToBr>
                    <a:lnBlToTr>
                      <a:noFill/>
                    </a:lnBlToTr>
                    <a:noFill/>
                  </a:tcPr>
                </a:tc>
                <a:extLst>
                  <a:ext uri="{0D108BD9-81ED-4DB2-BD59-A6C34878D82A}">
                    <a16:rowId xmlns:a16="http://schemas.microsoft.com/office/drawing/2014/main" val="10000"/>
                  </a:ext>
                </a:extLst>
              </a:tr>
              <a:tr h="476250">
                <a:tc>
                  <a:txBody>
                    <a:bodyPr/>
                    <a:lstStyle/>
                    <a:p>
                      <a:pPr marL="0" marR="0" lvl="0" indent="0" algn="l" defTabSz="914400" rtl="0" eaLnBrk="1" fontAlgn="base" latinLnBrk="0" hangingPunct="1">
                        <a:lnSpc>
                          <a:spcPct val="100000"/>
                        </a:lnSpc>
                        <a:spcBef>
                          <a:spcPct val="100000"/>
                        </a:spcBef>
                        <a:spcAft>
                          <a:spcPct val="0"/>
                        </a:spcAft>
                        <a:buClrTx/>
                        <a:buSzTx/>
                        <a:buFontTx/>
                        <a:buNone/>
                        <a:tabLst/>
                      </a:pPr>
                      <a:r>
                        <a:rPr kumimoji="0" lang="en-US" sz="1600" b="1" i="0" u="none" strike="noStrike" cap="none" normalizeH="0" baseline="0">
                          <a:ln>
                            <a:noFill/>
                          </a:ln>
                          <a:solidFill>
                            <a:schemeClr val="tx1"/>
                          </a:solidFill>
                          <a:effectLst/>
                          <a:latin typeface="Times New Roman" pitchFamily="1" charset="0"/>
                        </a:rPr>
                        <a:t>Alternative</a:t>
                      </a:r>
                    </a:p>
                  </a:txBody>
                  <a:tcPr marT="45731" marB="45731" horzOverflow="overflow">
                    <a:lnL cap="flat">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r>
                        <a:rPr kumimoji="0" lang="en-US" sz="1600" b="1" i="0" u="none" strike="noStrike" cap="none" normalizeH="0" baseline="0" dirty="0">
                          <a:ln>
                            <a:noFill/>
                          </a:ln>
                          <a:solidFill>
                            <a:schemeClr val="tx1"/>
                          </a:solidFill>
                          <a:effectLst/>
                          <a:latin typeface="Times New Roman" pitchFamily="1" charset="0"/>
                        </a:rPr>
                        <a:t>Oil</a:t>
                      </a:r>
                    </a:p>
                  </a:txBody>
                  <a:tcPr marT="45731" marB="45731" horzOverflow="overflow">
                    <a:lnL>
                      <a:noFill/>
                    </a:lnL>
                    <a:lnR>
                      <a:noFill/>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r>
                        <a:rPr kumimoji="0" lang="en-US" sz="1600" b="1" i="0" u="none" strike="noStrike" cap="none" normalizeH="0" baseline="0">
                          <a:ln>
                            <a:noFill/>
                          </a:ln>
                          <a:solidFill>
                            <a:schemeClr val="tx1"/>
                          </a:solidFill>
                          <a:effectLst/>
                          <a:latin typeface="Times New Roman" pitchFamily="1" charset="0"/>
                        </a:rPr>
                        <a:t>Dry</a:t>
                      </a:r>
                    </a:p>
                  </a:txBody>
                  <a:tcPr marT="45731" marB="45731" horzOverflow="overflow">
                    <a:lnL>
                      <a:noFill/>
                    </a:lnL>
                    <a:lnR>
                      <a:noFill/>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100000"/>
                        </a:spcBef>
                        <a:spcAft>
                          <a:spcPct val="0"/>
                        </a:spcAft>
                        <a:buClrTx/>
                        <a:buSzTx/>
                        <a:buFontTx/>
                        <a:buNone/>
                        <a:tabLst/>
                      </a:pPr>
                      <a:r>
                        <a:rPr kumimoji="0" lang="en-US" sz="1600" b="1" i="0" u="none" strike="noStrike" cap="none" normalizeH="0" baseline="0">
                          <a:ln>
                            <a:noFill/>
                          </a:ln>
                          <a:solidFill>
                            <a:schemeClr val="tx1"/>
                          </a:solidFill>
                          <a:effectLst/>
                          <a:latin typeface="Times New Roman" pitchFamily="1" charset="0"/>
                        </a:rPr>
                        <a:t>Maximum in Row</a:t>
                      </a:r>
                    </a:p>
                  </a:txBody>
                  <a:tcPr marT="45731" marB="45731"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01"/>
                  </a:ext>
                </a:extLst>
              </a:tr>
              <a:tr h="476250">
                <a:tc>
                  <a:txBody>
                    <a:bodyPr/>
                    <a:lstStyle/>
                    <a:p>
                      <a:pPr marL="0" marR="0" lvl="0" indent="0" algn="l" defTabSz="914400" rtl="0" eaLnBrk="1" fontAlgn="base" latinLnBrk="0" hangingPunct="1">
                        <a:lnSpc>
                          <a:spcPct val="100000"/>
                        </a:lnSpc>
                        <a:spcBef>
                          <a:spcPct val="10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 charset="0"/>
                        </a:rPr>
                        <a:t>Drill for oil</a:t>
                      </a:r>
                    </a:p>
                  </a:txBody>
                  <a:tcPr marT="45731" marB="45731" horzOverflow="overflow">
                    <a:lnL cap="flat">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 charset="0"/>
                        </a:rPr>
                        <a:t>700</a:t>
                      </a:r>
                    </a:p>
                  </a:txBody>
                  <a:tcPr marT="45731" marB="45731"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 charset="0"/>
                        </a:rPr>
                        <a:t>–100</a:t>
                      </a:r>
                    </a:p>
                  </a:txBody>
                  <a:tcPr marT="45731" marB="45731" horzOverflow="overflow">
                    <a:lnL>
                      <a:noFill/>
                    </a:lnL>
                    <a:lnR>
                      <a:noFill/>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100000"/>
                        </a:spcBef>
                        <a:spcAft>
                          <a:spcPct val="0"/>
                        </a:spcAft>
                        <a:buClrTx/>
                        <a:buSzTx/>
                        <a:buFontTx/>
                        <a:buNone/>
                        <a:tabLst/>
                      </a:pPr>
                      <a:r>
                        <a:rPr kumimoji="0" lang="en-US" sz="1600" b="0" i="0" u="none" strike="noStrike" cap="none" normalizeH="0" baseline="0" dirty="0">
                          <a:ln>
                            <a:noFill/>
                          </a:ln>
                          <a:solidFill>
                            <a:schemeClr val="tx1"/>
                          </a:solidFill>
                          <a:effectLst/>
                          <a:latin typeface="Times New Roman" pitchFamily="1" charset="0"/>
                        </a:rPr>
                        <a:t>700  </a:t>
                      </a:r>
                      <a:r>
                        <a:rPr kumimoji="0" lang="en-US" sz="1600" b="0" i="0" u="none" strike="noStrike" cap="none" normalizeH="0" baseline="0" dirty="0">
                          <a:ln>
                            <a:noFill/>
                          </a:ln>
                          <a:solidFill>
                            <a:schemeClr val="tx1"/>
                          </a:solidFill>
                          <a:effectLst/>
                          <a:latin typeface="Times New Roman" pitchFamily="1" charset="0"/>
                          <a:sym typeface="Symbol" pitchFamily="1" charset="2"/>
                        </a:rPr>
                        <a:t></a:t>
                      </a:r>
                      <a:r>
                        <a:rPr kumimoji="0" lang="en-US" sz="1600" b="0" i="0" u="none" strike="noStrike" cap="none" normalizeH="0" baseline="0" dirty="0">
                          <a:ln>
                            <a:noFill/>
                          </a:ln>
                          <a:solidFill>
                            <a:schemeClr val="tx1"/>
                          </a:solidFill>
                          <a:effectLst/>
                          <a:latin typeface="Times New Roman" pitchFamily="1" charset="0"/>
                        </a:rPr>
                        <a:t> Maximax</a:t>
                      </a:r>
                    </a:p>
                  </a:txBody>
                  <a:tcPr marT="45731" marB="45731"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02"/>
                  </a:ext>
                </a:extLst>
              </a:tr>
              <a:tr h="476250">
                <a:tc>
                  <a:txBody>
                    <a:bodyPr/>
                    <a:lstStyle/>
                    <a:p>
                      <a:pPr marL="0" marR="0" lvl="0" indent="0" algn="l" defTabSz="914400" rtl="0" eaLnBrk="1" fontAlgn="base" latinLnBrk="0" hangingPunct="1">
                        <a:lnSpc>
                          <a:spcPct val="100000"/>
                        </a:lnSpc>
                        <a:spcBef>
                          <a:spcPct val="10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 charset="0"/>
                        </a:rPr>
                        <a:t>Sell the land</a:t>
                      </a:r>
                    </a:p>
                  </a:txBody>
                  <a:tcPr marT="45731" marB="45731" horzOverflow="overflow">
                    <a:lnL cap="flat">
                      <a:noFill/>
                    </a:lnL>
                    <a:lnR>
                      <a:noFill/>
                    </a:lnR>
                    <a:lnT>
                      <a:noFill/>
                    </a:lnT>
                    <a:lnB cap="flat">
                      <a:noFill/>
                    </a:lnB>
                    <a:lnTlToBr>
                      <a:noFill/>
                    </a:lnTlToBr>
                    <a:lnBlToTr>
                      <a:noFill/>
                    </a:lnBlToTr>
                    <a:noFill/>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 charset="0"/>
                        </a:rPr>
                        <a:t>90</a:t>
                      </a:r>
                    </a:p>
                  </a:txBody>
                  <a:tcPr marT="45731" marB="45731" horzOverflow="overflow">
                    <a:lnL>
                      <a:noFill/>
                    </a:lnL>
                    <a:lnR>
                      <a:noFill/>
                    </a:lnR>
                    <a:lnT>
                      <a:noFill/>
                    </a:lnT>
                    <a:lnB cap="flat">
                      <a:noFill/>
                    </a:lnB>
                    <a:lnTlToBr>
                      <a:noFill/>
                    </a:lnTlToBr>
                    <a:lnBlToTr>
                      <a:noFill/>
                    </a:lnBlToTr>
                    <a:noFill/>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r>
                        <a:rPr kumimoji="0" lang="en-US" sz="1600" b="0" i="0" u="none" strike="noStrike" cap="none" normalizeH="0" baseline="0" dirty="0">
                          <a:ln>
                            <a:noFill/>
                          </a:ln>
                          <a:solidFill>
                            <a:schemeClr val="tx1"/>
                          </a:solidFill>
                          <a:effectLst/>
                          <a:latin typeface="Times New Roman" pitchFamily="1" charset="0"/>
                        </a:rPr>
                        <a:t>90</a:t>
                      </a:r>
                    </a:p>
                  </a:txBody>
                  <a:tcPr marT="45731" marB="45731" horzOverflow="overflow">
                    <a:lnL>
                      <a:noFill/>
                    </a:lnL>
                    <a:lnR>
                      <a:noFill/>
                    </a:lnR>
                    <a:lnT>
                      <a:noFill/>
                    </a:lnT>
                    <a:lnB cap="flat">
                      <a:noFill/>
                    </a:lnB>
                    <a:lnTlToBr>
                      <a:noFill/>
                    </a:lnTlToBr>
                    <a:lnBlToTr>
                      <a:noFill/>
                    </a:lnBlToTr>
                    <a:noFill/>
                  </a:tcPr>
                </a:tc>
                <a:tc>
                  <a:txBody>
                    <a:bodyPr/>
                    <a:lstStyle/>
                    <a:p>
                      <a:pPr marL="0" marR="0" lvl="0" indent="0" algn="l" defTabSz="914400" rtl="0" eaLnBrk="1" fontAlgn="base" latinLnBrk="0" hangingPunct="1">
                        <a:lnSpc>
                          <a:spcPct val="100000"/>
                        </a:lnSpc>
                        <a:spcBef>
                          <a:spcPct val="100000"/>
                        </a:spcBef>
                        <a:spcAft>
                          <a:spcPct val="0"/>
                        </a:spcAft>
                        <a:buClrTx/>
                        <a:buSzTx/>
                        <a:buFontTx/>
                        <a:buNone/>
                        <a:tabLst/>
                      </a:pPr>
                      <a:r>
                        <a:rPr kumimoji="0" lang="en-US" sz="1600" b="0" i="0" u="none" strike="noStrike" cap="none" normalizeH="0" baseline="0" dirty="0">
                          <a:ln>
                            <a:noFill/>
                          </a:ln>
                          <a:solidFill>
                            <a:schemeClr val="tx1"/>
                          </a:solidFill>
                          <a:effectLst/>
                          <a:latin typeface="Times New Roman" pitchFamily="1" charset="0"/>
                        </a:rPr>
                        <a:t>90</a:t>
                      </a:r>
                    </a:p>
                  </a:txBody>
                  <a:tcPr marT="45731" marB="45731" horzOverflow="overflow">
                    <a:lnL>
                      <a:noFill/>
                    </a:lnL>
                    <a:lnR cap="flat">
                      <a:noFill/>
                    </a:lnR>
                    <a:lnT>
                      <a:noFill/>
                    </a:lnT>
                    <a:lnB cap="flat">
                      <a:noFill/>
                    </a:lnB>
                    <a:lnTlToBr>
                      <a:noFill/>
                    </a:lnTlToBr>
                    <a:lnBlToTr>
                      <a:noFill/>
                    </a:lnBlToTr>
                    <a:noFill/>
                  </a:tcPr>
                </a:tc>
                <a:extLst>
                  <a:ext uri="{0D108BD9-81ED-4DB2-BD59-A6C34878D82A}">
                    <a16:rowId xmlns:a16="http://schemas.microsoft.com/office/drawing/2014/main" val="10003"/>
                  </a:ext>
                </a:extLst>
              </a:tr>
            </a:tbl>
          </a:graphicData>
        </a:graphic>
      </p:graphicFrame>
      <p:sp>
        <p:nvSpPr>
          <p:cNvPr id="5" name="TextBox 4">
            <a:extLst>
              <a:ext uri="{FF2B5EF4-FFF2-40B4-BE49-F238E27FC236}">
                <a16:creationId xmlns:a16="http://schemas.microsoft.com/office/drawing/2014/main" id="{77B43826-99DE-486A-A8E0-A4778372951C}"/>
              </a:ext>
            </a:extLst>
          </p:cNvPr>
          <p:cNvSpPr txBox="1"/>
          <p:nvPr/>
        </p:nvSpPr>
        <p:spPr>
          <a:xfrm>
            <a:off x="8438322" y="5367130"/>
            <a:ext cx="2077278" cy="923330"/>
          </a:xfrm>
          <a:prstGeom prst="rect">
            <a:avLst/>
          </a:prstGeom>
          <a:noFill/>
        </p:spPr>
        <p:txBody>
          <a:bodyPr wrap="square" rtlCol="0">
            <a:spAutoFit/>
          </a:bodyPr>
          <a:lstStyle/>
          <a:p>
            <a:r>
              <a:rPr lang="en-US" dirty="0"/>
              <a:t>Under Maximax criterion, you should </a:t>
            </a:r>
            <a:r>
              <a:rPr lang="en-US" b="1" dirty="0">
                <a:solidFill>
                  <a:srgbClr val="C00000"/>
                </a:solidFill>
              </a:rPr>
              <a:t>drill for oil</a:t>
            </a:r>
            <a:r>
              <a:rPr lang="en-US" dirty="0"/>
              <a:t>.</a:t>
            </a:r>
          </a:p>
        </p:txBody>
      </p:sp>
      <p:sp>
        <p:nvSpPr>
          <p:cNvPr id="6" name="Right Brace 5">
            <a:extLst>
              <a:ext uri="{FF2B5EF4-FFF2-40B4-BE49-F238E27FC236}">
                <a16:creationId xmlns:a16="http://schemas.microsoft.com/office/drawing/2014/main" id="{F88191FB-C405-4FA3-A285-4D86CB78B0CD}"/>
              </a:ext>
            </a:extLst>
          </p:cNvPr>
          <p:cNvSpPr/>
          <p:nvPr/>
        </p:nvSpPr>
        <p:spPr>
          <a:xfrm>
            <a:off x="7695372" y="4957261"/>
            <a:ext cx="742950" cy="1743067"/>
          </a:xfrm>
          <a:prstGeom prst="rightBrace">
            <a:avLst/>
          </a:prstGeom>
          <a:ln>
            <a:solidFill>
              <a:srgbClr val="C0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Tree>
    <p:extLst>
      <p:ext uri="{BB962C8B-B14F-4D97-AF65-F5344CB8AC3E}">
        <p14:creationId xmlns:p14="http://schemas.microsoft.com/office/powerpoint/2010/main" val="7744516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
                                            <p:txEl>
                                              <p:pRg st="8" end="8"/>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4"/>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6"/>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Decision Making under Uncertainty</a:t>
            </a:r>
          </a:p>
        </p:txBody>
      </p:sp>
      <p:sp>
        <p:nvSpPr>
          <p:cNvPr id="3" name="Content Placeholder 2"/>
          <p:cNvSpPr>
            <a:spLocks noGrp="1"/>
          </p:cNvSpPr>
          <p:nvPr>
            <p:ph idx="1"/>
          </p:nvPr>
        </p:nvSpPr>
        <p:spPr/>
        <p:txBody>
          <a:bodyPr/>
          <a:lstStyle/>
          <a:p>
            <a:r>
              <a:rPr lang="en-US" b="1" u="sng" dirty="0">
                <a:solidFill>
                  <a:srgbClr val="C00000"/>
                </a:solidFill>
              </a:rPr>
              <a:t>Maximax Criterion</a:t>
            </a:r>
          </a:p>
          <a:p>
            <a:pPr lvl="1"/>
            <a:r>
              <a:rPr lang="en-US" b="1" u="sng" dirty="0"/>
              <a:t>Case: Another example (not in the textbook)</a:t>
            </a:r>
            <a:endParaRPr lang="en-US" dirty="0"/>
          </a:p>
          <a:p>
            <a:endParaRPr lang="en-US" sz="2400" b="1" dirty="0"/>
          </a:p>
          <a:p>
            <a:pPr lvl="1"/>
            <a:endParaRPr lang="en-US" dirty="0"/>
          </a:p>
          <a:p>
            <a:pPr lvl="1"/>
            <a:endParaRPr lang="en-US" dirty="0"/>
          </a:p>
        </p:txBody>
      </p:sp>
      <p:graphicFrame>
        <p:nvGraphicFramePr>
          <p:cNvPr id="9" name="Object 2">
            <a:extLst>
              <a:ext uri="{FF2B5EF4-FFF2-40B4-BE49-F238E27FC236}">
                <a16:creationId xmlns:a16="http://schemas.microsoft.com/office/drawing/2014/main" id="{B6E2069E-DB53-40DC-B46D-945A7D54E9E6}"/>
              </a:ext>
            </a:extLst>
          </p:cNvPr>
          <p:cNvGraphicFramePr>
            <a:graphicFrameLocks noChangeAspect="1"/>
          </p:cNvGraphicFramePr>
          <p:nvPr>
            <p:extLst>
              <p:ext uri="{D42A27DB-BD31-4B8C-83A1-F6EECF244321}">
                <p14:modId xmlns:p14="http://schemas.microsoft.com/office/powerpoint/2010/main" val="2164038017"/>
              </p:ext>
            </p:extLst>
          </p:nvPr>
        </p:nvGraphicFramePr>
        <p:xfrm>
          <a:off x="5626168" y="4981576"/>
          <a:ext cx="2795588" cy="822325"/>
        </p:xfrm>
        <a:graphic>
          <a:graphicData uri="http://schemas.openxmlformats.org/presentationml/2006/ole">
            <mc:AlternateContent xmlns:mc="http://schemas.openxmlformats.org/markup-compatibility/2006">
              <mc:Choice xmlns:v="urn:schemas-microsoft-com:vml" Requires="v">
                <p:oleObj name="Equation" r:id="rId3" imgW="812520" imgH="279360" progId="Equation.3">
                  <p:embed/>
                </p:oleObj>
              </mc:Choice>
              <mc:Fallback>
                <p:oleObj name="Equation" r:id="rId3" imgW="812520" imgH="279360" progId="Equation.3">
                  <p:embed/>
                  <p:pic>
                    <p:nvPicPr>
                      <p:cNvPr id="9" name="Object 2">
                        <a:extLst>
                          <a:ext uri="{FF2B5EF4-FFF2-40B4-BE49-F238E27FC236}">
                            <a16:creationId xmlns:a16="http://schemas.microsoft.com/office/drawing/2014/main" id="{B6E2069E-DB53-40DC-B46D-945A7D54E9E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626168" y="4981576"/>
                        <a:ext cx="2795588" cy="822325"/>
                      </a:xfrm>
                      <a:prstGeom prst="rect">
                        <a:avLst/>
                      </a:prstGeom>
                      <a:noFill/>
                      <a:extLst>
                        <a:ext uri="{909E8E84-426E-40DD-AFC4-6F175D3DCCD1}">
                          <a14:hiddenFill xmlns:a14="http://schemas.microsoft.com/office/drawing/2010/main">
                            <a:solidFill>
                              <a:schemeClr val="tx1"/>
                            </a:solidFill>
                          </a14:hiddenFill>
                        </a:ext>
                      </a:extLst>
                    </p:spPr>
                  </p:pic>
                </p:oleObj>
              </mc:Fallback>
            </mc:AlternateContent>
          </a:graphicData>
        </a:graphic>
      </p:graphicFrame>
      <p:graphicFrame>
        <p:nvGraphicFramePr>
          <p:cNvPr id="10" name="Group 5">
            <a:extLst>
              <a:ext uri="{FF2B5EF4-FFF2-40B4-BE49-F238E27FC236}">
                <a16:creationId xmlns:a16="http://schemas.microsoft.com/office/drawing/2014/main" id="{5B9AA6F6-A1ED-4707-ACE8-068A8E72A71D}"/>
              </a:ext>
            </a:extLst>
          </p:cNvPr>
          <p:cNvGraphicFramePr>
            <a:graphicFrameLocks noGrp="1"/>
          </p:cNvGraphicFramePr>
          <p:nvPr>
            <p:extLst>
              <p:ext uri="{D42A27DB-BD31-4B8C-83A1-F6EECF244321}">
                <p14:modId xmlns:p14="http://schemas.microsoft.com/office/powerpoint/2010/main" val="891692286"/>
              </p:ext>
            </p:extLst>
          </p:nvPr>
        </p:nvGraphicFramePr>
        <p:xfrm>
          <a:off x="1103244" y="2390458"/>
          <a:ext cx="4800600" cy="2228850"/>
        </p:xfrm>
        <a:graphic>
          <a:graphicData uri="http://schemas.openxmlformats.org/drawingml/2006/table">
            <a:tbl>
              <a:tblPr/>
              <a:tblGrid>
                <a:gridCol w="1444625">
                  <a:extLst>
                    <a:ext uri="{9D8B030D-6E8A-4147-A177-3AD203B41FA5}">
                      <a16:colId xmlns:a16="http://schemas.microsoft.com/office/drawing/2014/main" val="20000"/>
                    </a:ext>
                  </a:extLst>
                </a:gridCol>
                <a:gridCol w="955675">
                  <a:extLst>
                    <a:ext uri="{9D8B030D-6E8A-4147-A177-3AD203B41FA5}">
                      <a16:colId xmlns:a16="http://schemas.microsoft.com/office/drawing/2014/main" val="20001"/>
                    </a:ext>
                  </a:extLst>
                </a:gridCol>
                <a:gridCol w="1200150">
                  <a:extLst>
                    <a:ext uri="{9D8B030D-6E8A-4147-A177-3AD203B41FA5}">
                      <a16:colId xmlns:a16="http://schemas.microsoft.com/office/drawing/2014/main" val="20002"/>
                    </a:ext>
                  </a:extLst>
                </a:gridCol>
                <a:gridCol w="1200150">
                  <a:extLst>
                    <a:ext uri="{9D8B030D-6E8A-4147-A177-3AD203B41FA5}">
                      <a16:colId xmlns:a16="http://schemas.microsoft.com/office/drawing/2014/main" val="20003"/>
                    </a:ext>
                  </a:extLst>
                </a:gridCol>
              </a:tblGrid>
              <a:tr h="371475">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65000"/>
                        <a:buFont typeface="Wingdings" pitchFamily="2" charset="2"/>
                        <a:buNone/>
                        <a:tabLst/>
                      </a:pPr>
                      <a:r>
                        <a:rPr kumimoji="0" lang="en-US" sz="1800" b="0" i="0" u="none" strike="noStrike" cap="none" normalizeH="0" baseline="0" dirty="0">
                          <a:ln>
                            <a:noFill/>
                          </a:ln>
                          <a:solidFill>
                            <a:srgbClr val="FF0000"/>
                          </a:solidFill>
                          <a:effectLst/>
                          <a:latin typeface="Arial" charset="0"/>
                        </a:rPr>
                        <a:t>Future state</a:t>
                      </a:r>
                    </a:p>
                  </a:txBody>
                  <a:tcP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65000"/>
                        <a:buFont typeface="Wingdings" pitchFamily="2" charset="2"/>
                        <a:buNone/>
                        <a:tabLst/>
                      </a:pPr>
                      <a:r>
                        <a:rPr kumimoji="0" lang="en-US" sz="1800" b="0" i="0" u="none" strike="noStrike" cap="none" normalizeH="0" baseline="0">
                          <a:ln>
                            <a:noFill/>
                          </a:ln>
                          <a:solidFill>
                            <a:schemeClr val="tx1"/>
                          </a:solidFill>
                          <a:effectLst/>
                          <a:latin typeface="Arial" charset="0"/>
                        </a:rPr>
                        <a:t>F</a:t>
                      </a:r>
                      <a:r>
                        <a:rPr kumimoji="0" lang="en-US" sz="1800" b="0" i="0" u="none" strike="noStrike" cap="none" normalizeH="0" baseline="-25000">
                          <a:ln>
                            <a:noFill/>
                          </a:ln>
                          <a:solidFill>
                            <a:schemeClr val="tx1"/>
                          </a:solidFill>
                          <a:effectLst/>
                          <a:latin typeface="Arial" charset="0"/>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65000"/>
                        <a:buFont typeface="Wingdings" pitchFamily="2" charset="2"/>
                        <a:buNone/>
                        <a:tabLst/>
                      </a:pPr>
                      <a:r>
                        <a:rPr kumimoji="0" lang="en-US" sz="1800" b="0" i="0" u="none" strike="noStrike" cap="none" normalizeH="0" baseline="0">
                          <a:ln>
                            <a:noFill/>
                          </a:ln>
                          <a:solidFill>
                            <a:schemeClr val="tx1"/>
                          </a:solidFill>
                          <a:effectLst/>
                          <a:latin typeface="Arial" charset="0"/>
                        </a:rPr>
                        <a:t>F</a:t>
                      </a:r>
                      <a:r>
                        <a:rPr kumimoji="0" lang="en-US" sz="1800" b="0" i="0" u="none" strike="noStrike" cap="none" normalizeH="0" baseline="-25000">
                          <a:ln>
                            <a:noFill/>
                          </a:ln>
                          <a:solidFill>
                            <a:schemeClr val="tx1"/>
                          </a:solidFill>
                          <a:effectLst/>
                          <a:latin typeface="Arial" charset="0"/>
                        </a:rPr>
                        <a:t>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65000"/>
                        <a:buFont typeface="Wingdings" pitchFamily="2" charset="2"/>
                        <a:buNone/>
                        <a:tabLst/>
                      </a:pPr>
                      <a:r>
                        <a:rPr kumimoji="0" lang="en-US" sz="1800" b="0" i="0" u="none" strike="noStrike" cap="none" normalizeH="0" baseline="0">
                          <a:ln>
                            <a:noFill/>
                          </a:ln>
                          <a:solidFill>
                            <a:schemeClr val="tx1"/>
                          </a:solidFill>
                          <a:effectLst/>
                          <a:latin typeface="Arial" charset="0"/>
                        </a:rPr>
                        <a:t>F</a:t>
                      </a:r>
                      <a:r>
                        <a:rPr kumimoji="0" lang="en-US" sz="1800" b="0" i="0" u="none" strike="noStrike" cap="none" normalizeH="0" baseline="-25000">
                          <a:ln>
                            <a:noFill/>
                          </a:ln>
                          <a:solidFill>
                            <a:schemeClr val="tx1"/>
                          </a:solidFill>
                          <a:effectLst/>
                          <a:latin typeface="Arial" charset="0"/>
                        </a:rPr>
                        <a:t>3</a:t>
                      </a:r>
                    </a:p>
                  </a:txBody>
                  <a:tcP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71475">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65000"/>
                        <a:buFont typeface="Wingdings" pitchFamily="2" charset="2"/>
                        <a:buNone/>
                        <a:tabLst/>
                      </a:pPr>
                      <a:r>
                        <a:rPr kumimoji="0" lang="en-US" sz="1800" b="0" i="0" u="none" strike="noStrike" cap="none" normalizeH="0" baseline="0" dirty="0">
                          <a:ln>
                            <a:noFill/>
                          </a:ln>
                          <a:solidFill>
                            <a:srgbClr val="FF0000"/>
                          </a:solidFill>
                          <a:effectLst/>
                          <a:latin typeface="Arial" charset="0"/>
                        </a:rPr>
                        <a:t>Alternative</a:t>
                      </a:r>
                    </a:p>
                  </a:txBody>
                  <a:tcP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65000"/>
                        <a:buFont typeface="Wingdings" pitchFamily="2" charset="2"/>
                        <a:buNone/>
                        <a:tabLst/>
                      </a:pPr>
                      <a:endParaRPr kumimoji="0" lang="en-US" sz="1800" b="0" i="0" u="none" strike="noStrike" cap="none" normalizeH="0" baseline="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65000"/>
                        <a:buFont typeface="Wingdings" pitchFamily="2" charset="2"/>
                        <a:buNone/>
                        <a:tabLst/>
                      </a:pPr>
                      <a:r>
                        <a:rPr kumimoji="0" lang="en-US" sz="1800" b="0" i="0" u="none" strike="noStrike" cap="none" normalizeH="0" baseline="0" dirty="0">
                          <a:ln>
                            <a:noFill/>
                          </a:ln>
                          <a:solidFill>
                            <a:srgbClr val="FF0000"/>
                          </a:solidFill>
                          <a:effectLst/>
                          <a:latin typeface="Arial" charset="0"/>
                        </a:rPr>
                        <a:t>(Payoff)</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65000"/>
                        <a:buFont typeface="Wingdings" pitchFamily="2" charset="2"/>
                        <a:buNone/>
                        <a:tabLst/>
                      </a:pPr>
                      <a:endParaRPr kumimoji="0" lang="en-US" sz="1800" b="0" i="0" u="none" strike="noStrike" cap="none" normalizeH="0" baseline="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a:noFill/>
                    </a:lnB>
                    <a:lnTlToBr>
                      <a:noFill/>
                    </a:lnTlToBr>
                    <a:lnBlToTr>
                      <a:noFill/>
                    </a:lnBlToTr>
                    <a:noFill/>
                  </a:tcPr>
                </a:tc>
                <a:extLst>
                  <a:ext uri="{0D108BD9-81ED-4DB2-BD59-A6C34878D82A}">
                    <a16:rowId xmlns:a16="http://schemas.microsoft.com/office/drawing/2014/main" val="10001"/>
                  </a:ext>
                </a:extLst>
              </a:tr>
              <a:tr h="371475">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65000"/>
                        <a:buFont typeface="Wingdings" pitchFamily="2" charset="2"/>
                        <a:buNone/>
                        <a:tabLst/>
                      </a:pPr>
                      <a:r>
                        <a:rPr kumimoji="0" lang="en-US" sz="1800" b="0" i="0" u="none" strike="noStrike" cap="none" normalizeH="0" baseline="0" dirty="0">
                          <a:ln>
                            <a:noFill/>
                          </a:ln>
                          <a:solidFill>
                            <a:schemeClr val="tx1"/>
                          </a:solidFill>
                          <a:effectLst/>
                          <a:latin typeface="Arial" charset="0"/>
                        </a:rPr>
                        <a:t>A</a:t>
                      </a:r>
                      <a:r>
                        <a:rPr kumimoji="0" lang="en-US" sz="1800" b="0" i="0" u="none" strike="noStrike" cap="none" normalizeH="0" baseline="-25000" dirty="0">
                          <a:ln>
                            <a:noFill/>
                          </a:ln>
                          <a:solidFill>
                            <a:schemeClr val="tx1"/>
                          </a:solidFill>
                          <a:effectLst/>
                          <a:latin typeface="Arial" charset="0"/>
                        </a:rPr>
                        <a:t>1</a:t>
                      </a:r>
                    </a:p>
                  </a:txBody>
                  <a:tcPr horzOverflow="overflow">
                    <a:lnL cap="flat">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65000"/>
                        <a:buFont typeface="Wingdings" pitchFamily="2" charset="2"/>
                        <a:buNone/>
                        <a:tabLst/>
                      </a:pPr>
                      <a:r>
                        <a:rPr kumimoji="0" lang="en-US" sz="1800" b="0" i="0" u="none" strike="noStrike" cap="none" normalizeH="0" baseline="0" dirty="0">
                          <a:ln>
                            <a:noFill/>
                          </a:ln>
                          <a:solidFill>
                            <a:schemeClr val="tx1"/>
                          </a:solidFill>
                          <a:effectLst/>
                          <a:latin typeface="Arial" charset="0"/>
                        </a:rPr>
                        <a:t>100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65000"/>
                        <a:buFont typeface="Wingdings" pitchFamily="2" charset="2"/>
                        <a:buNone/>
                        <a:tabLst/>
                      </a:pPr>
                      <a:r>
                        <a:rPr kumimoji="0" lang="en-US" sz="1800" b="0" i="0" u="none" strike="noStrike" cap="none" normalizeH="0" baseline="0" dirty="0">
                          <a:ln>
                            <a:noFill/>
                          </a:ln>
                          <a:solidFill>
                            <a:schemeClr val="tx1"/>
                          </a:solidFill>
                          <a:effectLst/>
                          <a:latin typeface="Arial" charset="0"/>
                        </a:rPr>
                        <a:t>100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65000"/>
                        <a:buFont typeface="Wingdings" pitchFamily="2" charset="2"/>
                        <a:buNone/>
                        <a:tabLst/>
                      </a:pPr>
                      <a:r>
                        <a:rPr kumimoji="0" lang="en-US" sz="1800" b="0" i="0" u="none" strike="noStrike" cap="none" normalizeH="0" baseline="0" dirty="0">
                          <a:ln>
                            <a:noFill/>
                          </a:ln>
                          <a:solidFill>
                            <a:srgbClr val="FF0000"/>
                          </a:solidFill>
                          <a:effectLst/>
                          <a:latin typeface="Arial" charset="0"/>
                        </a:rPr>
                        <a:t>400</a:t>
                      </a:r>
                    </a:p>
                  </a:txBody>
                  <a:tcPr horzOverflow="overflow">
                    <a:lnL w="12700" cap="flat" cmpd="sng" algn="ctr">
                      <a:solidFill>
                        <a:schemeClr val="tx1"/>
                      </a:solidFill>
                      <a:prstDash val="solid"/>
                      <a:round/>
                      <a:headEnd type="none" w="med" len="med"/>
                      <a:tailEnd type="none" w="med" len="med"/>
                    </a:lnL>
                    <a:lnR cap="flat">
                      <a:noFill/>
                    </a:lnR>
                    <a:lnT>
                      <a:noFill/>
                    </a:lnT>
                    <a:lnB>
                      <a:noFill/>
                    </a:lnB>
                    <a:lnTlToBr>
                      <a:noFill/>
                    </a:lnTlToBr>
                    <a:lnBlToTr>
                      <a:noFill/>
                    </a:lnBlToTr>
                    <a:noFill/>
                  </a:tcPr>
                </a:tc>
                <a:extLst>
                  <a:ext uri="{0D108BD9-81ED-4DB2-BD59-A6C34878D82A}">
                    <a16:rowId xmlns:a16="http://schemas.microsoft.com/office/drawing/2014/main" val="10002"/>
                  </a:ext>
                </a:extLst>
              </a:tr>
              <a:tr h="371475">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65000"/>
                        <a:buFont typeface="Wingdings" pitchFamily="2" charset="2"/>
                        <a:buNone/>
                        <a:tabLst/>
                      </a:pPr>
                      <a:r>
                        <a:rPr kumimoji="0" lang="en-US" sz="1800" b="0" i="0" u="none" strike="noStrike" cap="none" normalizeH="0" baseline="0">
                          <a:ln>
                            <a:noFill/>
                          </a:ln>
                          <a:solidFill>
                            <a:schemeClr val="tx1"/>
                          </a:solidFill>
                          <a:effectLst/>
                          <a:latin typeface="Arial" charset="0"/>
                        </a:rPr>
                        <a:t>A</a:t>
                      </a:r>
                      <a:r>
                        <a:rPr kumimoji="0" lang="en-US" sz="1800" b="0" i="0" u="none" strike="noStrike" cap="none" normalizeH="0" baseline="-25000">
                          <a:ln>
                            <a:noFill/>
                          </a:ln>
                          <a:solidFill>
                            <a:schemeClr val="tx1"/>
                          </a:solidFill>
                          <a:effectLst/>
                          <a:latin typeface="Arial" charset="0"/>
                        </a:rPr>
                        <a:t>2</a:t>
                      </a:r>
                    </a:p>
                  </a:txBody>
                  <a:tcPr horzOverflow="overflow">
                    <a:lnL cap="flat">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65000"/>
                        <a:buFont typeface="Wingdings" pitchFamily="2" charset="2"/>
                        <a:buNone/>
                        <a:tabLst/>
                      </a:pPr>
                      <a:r>
                        <a:rPr kumimoji="0" lang="en-US" sz="1800" b="0" i="0" u="none" strike="noStrike" cap="none" normalizeH="0" baseline="0">
                          <a:ln>
                            <a:noFill/>
                          </a:ln>
                          <a:solidFill>
                            <a:schemeClr val="tx1"/>
                          </a:solidFill>
                          <a:effectLst/>
                          <a:latin typeface="Arial" charset="0"/>
                        </a:rPr>
                        <a:t>-200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65000"/>
                        <a:buFont typeface="Wingdings" pitchFamily="2" charset="2"/>
                        <a:buNone/>
                        <a:tabLst/>
                      </a:pPr>
                      <a:r>
                        <a:rPr kumimoji="0" lang="en-US" sz="1800" b="0" i="0" u="none" strike="noStrike" cap="none" normalizeH="0" baseline="0">
                          <a:ln>
                            <a:noFill/>
                          </a:ln>
                          <a:solidFill>
                            <a:schemeClr val="tx1"/>
                          </a:solidFill>
                          <a:effectLst/>
                          <a:latin typeface="Arial" charset="0"/>
                        </a:rPr>
                        <a:t>150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65000"/>
                        <a:buFont typeface="Wingdings" pitchFamily="2" charset="2"/>
                        <a:buNone/>
                        <a:tabLst/>
                      </a:pPr>
                      <a:r>
                        <a:rPr kumimoji="0" lang="en-US" sz="1800" b="0" i="0" u="none" strike="noStrike" cap="none" normalizeH="0" baseline="0">
                          <a:ln>
                            <a:noFill/>
                          </a:ln>
                          <a:solidFill>
                            <a:srgbClr val="FF0000"/>
                          </a:solidFill>
                          <a:effectLst/>
                          <a:latin typeface="Arial" charset="0"/>
                        </a:rPr>
                        <a:t>600</a:t>
                      </a:r>
                    </a:p>
                  </a:txBody>
                  <a:tcPr horzOverflow="overflow">
                    <a:lnL w="12700" cap="flat" cmpd="sng" algn="ctr">
                      <a:solidFill>
                        <a:schemeClr val="tx1"/>
                      </a:solidFill>
                      <a:prstDash val="solid"/>
                      <a:round/>
                      <a:headEnd type="none" w="med" len="med"/>
                      <a:tailEnd type="none" w="med" len="med"/>
                    </a:lnL>
                    <a:lnR cap="flat">
                      <a:noFill/>
                    </a:lnR>
                    <a:lnT>
                      <a:noFill/>
                    </a:lnT>
                    <a:lnB>
                      <a:noFill/>
                    </a:lnB>
                    <a:lnTlToBr>
                      <a:noFill/>
                    </a:lnTlToBr>
                    <a:lnBlToTr>
                      <a:noFill/>
                    </a:lnBlToTr>
                    <a:noFill/>
                  </a:tcPr>
                </a:tc>
                <a:extLst>
                  <a:ext uri="{0D108BD9-81ED-4DB2-BD59-A6C34878D82A}">
                    <a16:rowId xmlns:a16="http://schemas.microsoft.com/office/drawing/2014/main" val="10003"/>
                  </a:ext>
                </a:extLst>
              </a:tr>
              <a:tr h="371475">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65000"/>
                        <a:buFont typeface="Wingdings" pitchFamily="2" charset="2"/>
                        <a:buNone/>
                        <a:tabLst/>
                      </a:pPr>
                      <a:r>
                        <a:rPr kumimoji="0" lang="en-US" sz="1800" b="0" i="0" u="none" strike="noStrike" cap="none" normalizeH="0" baseline="0">
                          <a:ln>
                            <a:noFill/>
                          </a:ln>
                          <a:solidFill>
                            <a:schemeClr val="tx1"/>
                          </a:solidFill>
                          <a:effectLst/>
                          <a:latin typeface="Arial" charset="0"/>
                        </a:rPr>
                        <a:t>A</a:t>
                      </a:r>
                      <a:r>
                        <a:rPr kumimoji="0" lang="en-US" sz="1800" b="0" i="0" u="none" strike="noStrike" cap="none" normalizeH="0" baseline="-25000">
                          <a:ln>
                            <a:noFill/>
                          </a:ln>
                          <a:solidFill>
                            <a:schemeClr val="tx1"/>
                          </a:solidFill>
                          <a:effectLst/>
                          <a:latin typeface="Arial" charset="0"/>
                        </a:rPr>
                        <a:t>3</a:t>
                      </a:r>
                    </a:p>
                  </a:txBody>
                  <a:tcPr horzOverflow="overflow">
                    <a:lnL cap="flat">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65000"/>
                        <a:buFont typeface="Wingdings" pitchFamily="2" charset="2"/>
                        <a:buNone/>
                        <a:tabLst/>
                      </a:pPr>
                      <a:r>
                        <a:rPr kumimoji="0" lang="en-US" sz="1800" b="0" i="0" u="none" strike="noStrike" cap="none" normalizeH="0" baseline="0">
                          <a:ln>
                            <a:noFill/>
                          </a:ln>
                          <a:solidFill>
                            <a:schemeClr val="tx1"/>
                          </a:solidFill>
                          <a:effectLst/>
                          <a:latin typeface="Arial" charset="0"/>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65000"/>
                        <a:buFont typeface="Wingdings" pitchFamily="2" charset="2"/>
                        <a:buNone/>
                        <a:tabLst/>
                      </a:pPr>
                      <a:r>
                        <a:rPr kumimoji="0" lang="en-US" sz="1800" b="0" i="0" u="none" strike="noStrike" cap="none" normalizeH="0" baseline="0">
                          <a:ln>
                            <a:noFill/>
                          </a:ln>
                          <a:solidFill>
                            <a:schemeClr val="tx1"/>
                          </a:solidFill>
                          <a:effectLst/>
                          <a:latin typeface="Arial" charset="0"/>
                        </a:rPr>
                        <a:t>200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65000"/>
                        <a:buFont typeface="Wingdings" pitchFamily="2" charset="2"/>
                        <a:buNone/>
                        <a:tabLst/>
                      </a:pPr>
                      <a:r>
                        <a:rPr kumimoji="0" lang="en-US" sz="1800" b="0" i="0" u="none" strike="noStrike" cap="none" normalizeH="0" baseline="0">
                          <a:ln>
                            <a:noFill/>
                          </a:ln>
                          <a:solidFill>
                            <a:srgbClr val="FF0000"/>
                          </a:solidFill>
                          <a:effectLst/>
                          <a:latin typeface="Arial" charset="0"/>
                        </a:rPr>
                        <a:t>500</a:t>
                      </a:r>
                    </a:p>
                  </a:txBody>
                  <a:tcPr horzOverflow="overflow">
                    <a:lnL w="12700" cap="flat" cmpd="sng" algn="ctr">
                      <a:solidFill>
                        <a:schemeClr val="tx1"/>
                      </a:solidFill>
                      <a:prstDash val="solid"/>
                      <a:round/>
                      <a:headEnd type="none" w="med" len="med"/>
                      <a:tailEnd type="none" w="med" len="med"/>
                    </a:lnL>
                    <a:lnR cap="flat">
                      <a:noFill/>
                    </a:lnR>
                    <a:lnT>
                      <a:noFill/>
                    </a:lnT>
                    <a:lnB>
                      <a:noFill/>
                    </a:lnB>
                    <a:lnTlToBr>
                      <a:noFill/>
                    </a:lnTlToBr>
                    <a:lnBlToTr>
                      <a:noFill/>
                    </a:lnBlToTr>
                    <a:noFill/>
                  </a:tcPr>
                </a:tc>
                <a:extLst>
                  <a:ext uri="{0D108BD9-81ED-4DB2-BD59-A6C34878D82A}">
                    <a16:rowId xmlns:a16="http://schemas.microsoft.com/office/drawing/2014/main" val="10004"/>
                  </a:ext>
                </a:extLst>
              </a:tr>
              <a:tr h="371475">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65000"/>
                        <a:buFont typeface="Wingdings" pitchFamily="2" charset="2"/>
                        <a:buNone/>
                        <a:tabLst/>
                      </a:pPr>
                      <a:r>
                        <a:rPr kumimoji="0" lang="en-US" sz="1800" b="0" i="0" u="none" strike="noStrike" cap="none" normalizeH="0" baseline="0">
                          <a:ln>
                            <a:noFill/>
                          </a:ln>
                          <a:solidFill>
                            <a:schemeClr val="tx1"/>
                          </a:solidFill>
                          <a:effectLst/>
                          <a:latin typeface="Arial" charset="0"/>
                        </a:rPr>
                        <a:t>A</a:t>
                      </a:r>
                      <a:r>
                        <a:rPr kumimoji="0" lang="en-US" sz="1800" b="0" i="0" u="none" strike="noStrike" cap="none" normalizeH="0" baseline="-25000">
                          <a:ln>
                            <a:noFill/>
                          </a:ln>
                          <a:solidFill>
                            <a:schemeClr val="tx1"/>
                          </a:solidFill>
                          <a:effectLst/>
                          <a:latin typeface="Arial" charset="0"/>
                        </a:rPr>
                        <a:t>4</a:t>
                      </a:r>
                    </a:p>
                  </a:txBody>
                  <a:tcPr horzOverflow="overflow">
                    <a:lnL cap="flat">
                      <a:noFill/>
                    </a:lnL>
                    <a:lnR w="12700" cap="flat" cmpd="sng" algn="ctr">
                      <a:solidFill>
                        <a:schemeClr val="tx1"/>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65000"/>
                        <a:buFont typeface="Wingdings" pitchFamily="2" charset="2"/>
                        <a:buNone/>
                        <a:tabLst/>
                      </a:pPr>
                      <a:r>
                        <a:rPr kumimoji="0" lang="en-US" sz="1800" b="0" i="0" u="none" strike="noStrike" cap="none" normalizeH="0" baseline="0">
                          <a:ln>
                            <a:noFill/>
                          </a:ln>
                          <a:solidFill>
                            <a:schemeClr val="tx1"/>
                          </a:solidFill>
                          <a:effectLst/>
                          <a:latin typeface="Arial" charset="0"/>
                        </a:rPr>
                        <a:t>100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65000"/>
                        <a:buFont typeface="Wingdings" pitchFamily="2" charset="2"/>
                        <a:buNone/>
                        <a:tabLst/>
                      </a:pPr>
                      <a:r>
                        <a:rPr kumimoji="0" lang="en-US" sz="1800" b="0" i="0" u="none" strike="noStrike" cap="none" normalizeH="0" baseline="0" dirty="0">
                          <a:ln>
                            <a:noFill/>
                          </a:ln>
                          <a:solidFill>
                            <a:srgbClr val="FF0000"/>
                          </a:solidFill>
                          <a:effectLst/>
                          <a:latin typeface="Arial" charset="0"/>
                        </a:rPr>
                        <a:t>300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65000"/>
                        <a:buFont typeface="Wingdings" pitchFamily="2" charset="2"/>
                        <a:buNone/>
                        <a:tabLst/>
                      </a:pPr>
                      <a:r>
                        <a:rPr kumimoji="0" lang="en-US" sz="1800" b="0" i="0" u="none" strike="noStrike" cap="none" normalizeH="0" baseline="0" dirty="0">
                          <a:ln>
                            <a:noFill/>
                          </a:ln>
                          <a:solidFill>
                            <a:schemeClr val="tx1"/>
                          </a:solidFill>
                          <a:effectLst/>
                          <a:latin typeface="Arial" charset="0"/>
                        </a:rPr>
                        <a:t>200</a:t>
                      </a:r>
                    </a:p>
                  </a:txBody>
                  <a:tcPr horzOverflow="overflow">
                    <a:lnL w="12700" cap="flat" cmpd="sng" algn="ctr">
                      <a:solidFill>
                        <a:schemeClr val="tx1"/>
                      </a:solidFill>
                      <a:prstDash val="solid"/>
                      <a:round/>
                      <a:headEnd type="none" w="med" len="med"/>
                      <a:tailEnd type="none" w="med" len="med"/>
                    </a:lnL>
                    <a:lnR cap="flat">
                      <a:noFill/>
                    </a:lnR>
                    <a:lnT>
                      <a:noFill/>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bl>
          </a:graphicData>
        </a:graphic>
      </p:graphicFrame>
      <p:sp>
        <p:nvSpPr>
          <p:cNvPr id="11" name="Rectangle 48">
            <a:extLst>
              <a:ext uri="{FF2B5EF4-FFF2-40B4-BE49-F238E27FC236}">
                <a16:creationId xmlns:a16="http://schemas.microsoft.com/office/drawing/2014/main" id="{95185929-7005-4526-80FD-206C9C1FD3D3}"/>
              </a:ext>
            </a:extLst>
          </p:cNvPr>
          <p:cNvSpPr>
            <a:spLocks noChangeArrowheads="1"/>
          </p:cNvSpPr>
          <p:nvPr/>
        </p:nvSpPr>
        <p:spPr bwMode="auto">
          <a:xfrm>
            <a:off x="7659756" y="2324100"/>
            <a:ext cx="762000" cy="2286000"/>
          </a:xfrm>
          <a:prstGeom prst="rect">
            <a:avLst/>
          </a:prstGeom>
          <a:noFill/>
          <a:ln w="9525">
            <a:noFill/>
            <a:miter lim="800000"/>
            <a:headEnd/>
            <a:tailEnd/>
          </a:ln>
        </p:spPr>
        <p:txBody>
          <a:bodyPr/>
          <a:lstStyle/>
          <a:p>
            <a:pPr marL="533400" indent="-533400" algn="ctr" eaLnBrk="1" hangingPunct="1">
              <a:spcBef>
                <a:spcPct val="20000"/>
              </a:spcBef>
              <a:buClr>
                <a:schemeClr val="hlink"/>
              </a:buClr>
              <a:buSzPct val="65000"/>
              <a:buFont typeface="Wingdings" pitchFamily="2" charset="2"/>
              <a:buNone/>
            </a:pPr>
            <a:endParaRPr lang="en-US" sz="2000"/>
          </a:p>
          <a:p>
            <a:pPr marL="533400" indent="-533400" algn="ctr" eaLnBrk="1" hangingPunct="1">
              <a:spcBef>
                <a:spcPct val="20000"/>
              </a:spcBef>
              <a:buClr>
                <a:schemeClr val="hlink"/>
              </a:buClr>
              <a:buSzPct val="65000"/>
              <a:buFont typeface="Wingdings" pitchFamily="2" charset="2"/>
              <a:buNone/>
            </a:pPr>
            <a:endParaRPr lang="en-US" sz="2000"/>
          </a:p>
          <a:p>
            <a:pPr marL="533400" indent="-533400" algn="ctr" eaLnBrk="1" hangingPunct="1">
              <a:spcBef>
                <a:spcPct val="20000"/>
              </a:spcBef>
              <a:buClr>
                <a:schemeClr val="hlink"/>
              </a:buClr>
              <a:buSzPct val="65000"/>
              <a:buFont typeface="Wingdings" pitchFamily="2" charset="2"/>
              <a:buNone/>
            </a:pPr>
            <a:r>
              <a:rPr lang="en-US" sz="2000"/>
              <a:t>A</a:t>
            </a:r>
            <a:r>
              <a:rPr lang="en-US" sz="2000" baseline="-25000"/>
              <a:t>1</a:t>
            </a:r>
          </a:p>
          <a:p>
            <a:pPr marL="533400" indent="-533400" algn="ctr" eaLnBrk="1" hangingPunct="1">
              <a:spcBef>
                <a:spcPct val="20000"/>
              </a:spcBef>
              <a:buClr>
                <a:schemeClr val="hlink"/>
              </a:buClr>
              <a:buSzPct val="65000"/>
              <a:buFont typeface="Wingdings" pitchFamily="2" charset="2"/>
              <a:buNone/>
            </a:pPr>
            <a:r>
              <a:rPr lang="en-US" sz="2000"/>
              <a:t>A</a:t>
            </a:r>
            <a:r>
              <a:rPr lang="en-US" sz="2000" baseline="-25000"/>
              <a:t>2</a:t>
            </a:r>
          </a:p>
          <a:p>
            <a:pPr marL="533400" indent="-533400" algn="ctr" eaLnBrk="1" hangingPunct="1">
              <a:spcBef>
                <a:spcPct val="20000"/>
              </a:spcBef>
              <a:buClr>
                <a:schemeClr val="hlink"/>
              </a:buClr>
              <a:buSzPct val="65000"/>
              <a:buFont typeface="Wingdings" pitchFamily="2" charset="2"/>
              <a:buNone/>
            </a:pPr>
            <a:r>
              <a:rPr lang="en-US" sz="2000"/>
              <a:t>A</a:t>
            </a:r>
            <a:r>
              <a:rPr lang="en-US" sz="2000" baseline="-25000"/>
              <a:t>3</a:t>
            </a:r>
          </a:p>
          <a:p>
            <a:pPr marL="533400" indent="-533400" algn="ctr" eaLnBrk="1" hangingPunct="1">
              <a:spcBef>
                <a:spcPct val="20000"/>
              </a:spcBef>
              <a:buClr>
                <a:schemeClr val="hlink"/>
              </a:buClr>
              <a:buSzPct val="65000"/>
              <a:buFont typeface="Wingdings" pitchFamily="2" charset="2"/>
              <a:buNone/>
            </a:pPr>
            <a:r>
              <a:rPr lang="en-US" sz="2000"/>
              <a:t>A</a:t>
            </a:r>
            <a:r>
              <a:rPr lang="en-US" sz="2000" baseline="-25000"/>
              <a:t>4</a:t>
            </a:r>
          </a:p>
        </p:txBody>
      </p:sp>
      <p:sp>
        <p:nvSpPr>
          <p:cNvPr id="12" name="Rectangle 49">
            <a:extLst>
              <a:ext uri="{FF2B5EF4-FFF2-40B4-BE49-F238E27FC236}">
                <a16:creationId xmlns:a16="http://schemas.microsoft.com/office/drawing/2014/main" id="{10637FF8-2693-4542-B9FD-38A96CF64FBF}"/>
              </a:ext>
            </a:extLst>
          </p:cNvPr>
          <p:cNvSpPr>
            <a:spLocks noChangeArrowheads="1"/>
          </p:cNvSpPr>
          <p:nvPr/>
        </p:nvSpPr>
        <p:spPr bwMode="auto">
          <a:xfrm>
            <a:off x="8421756" y="2324100"/>
            <a:ext cx="2501343" cy="2362200"/>
          </a:xfrm>
          <a:prstGeom prst="rect">
            <a:avLst/>
          </a:prstGeom>
          <a:noFill/>
          <a:ln w="9525">
            <a:noFill/>
            <a:miter lim="800000"/>
            <a:headEnd/>
            <a:tailEnd/>
          </a:ln>
        </p:spPr>
        <p:txBody>
          <a:bodyPr/>
          <a:lstStyle/>
          <a:p>
            <a:pPr marL="533400" indent="-533400" algn="ctr" eaLnBrk="1" hangingPunct="1">
              <a:spcBef>
                <a:spcPct val="20000"/>
              </a:spcBef>
              <a:buClr>
                <a:schemeClr val="hlink"/>
              </a:buClr>
              <a:buSzPct val="65000"/>
              <a:buFont typeface="Wingdings" pitchFamily="2" charset="2"/>
              <a:buNone/>
              <a:tabLst>
                <a:tab pos="2624138" algn="r"/>
              </a:tabLst>
            </a:pPr>
            <a:r>
              <a:rPr lang="en-US" sz="2000" dirty="0"/>
              <a:t>Best </a:t>
            </a:r>
            <a:r>
              <a:rPr lang="en-US" sz="2000" dirty="0" err="1"/>
              <a:t>Best</a:t>
            </a:r>
            <a:r>
              <a:rPr lang="en-US" sz="2000" dirty="0"/>
              <a:t> Case</a:t>
            </a:r>
          </a:p>
          <a:p>
            <a:pPr marL="533400" indent="-533400" algn="ctr" eaLnBrk="1" hangingPunct="1">
              <a:spcBef>
                <a:spcPct val="20000"/>
              </a:spcBef>
              <a:buClr>
                <a:schemeClr val="hlink"/>
              </a:buClr>
              <a:buSzPct val="65000"/>
              <a:buFont typeface="Wingdings" pitchFamily="2" charset="2"/>
              <a:buNone/>
              <a:tabLst>
                <a:tab pos="2624138" algn="r"/>
              </a:tabLst>
            </a:pPr>
            <a:endParaRPr lang="en-US" sz="2000" dirty="0"/>
          </a:p>
          <a:p>
            <a:pPr marL="533400" indent="-533400" eaLnBrk="1" hangingPunct="1">
              <a:spcBef>
                <a:spcPct val="20000"/>
              </a:spcBef>
              <a:buClr>
                <a:schemeClr val="hlink"/>
              </a:buClr>
              <a:buSzPct val="65000"/>
              <a:buFont typeface="Wingdings" pitchFamily="2" charset="2"/>
              <a:buNone/>
              <a:tabLst>
                <a:tab pos="2624138" algn="r"/>
              </a:tabLst>
            </a:pPr>
            <a:r>
              <a:rPr lang="en-US" sz="2000" dirty="0"/>
              <a:t>	 400 	(j=3)</a:t>
            </a:r>
            <a:endParaRPr lang="en-US" sz="2000" baseline="-25000" dirty="0"/>
          </a:p>
          <a:p>
            <a:pPr marL="533400" indent="-533400" eaLnBrk="1" hangingPunct="1">
              <a:spcBef>
                <a:spcPct val="20000"/>
              </a:spcBef>
              <a:buClr>
                <a:schemeClr val="hlink"/>
              </a:buClr>
              <a:buSzPct val="65000"/>
              <a:buFont typeface="Wingdings" pitchFamily="2" charset="2"/>
              <a:buNone/>
              <a:tabLst>
                <a:tab pos="2624138" algn="r"/>
              </a:tabLst>
            </a:pPr>
            <a:r>
              <a:rPr lang="en-US" sz="2000" dirty="0"/>
              <a:t>	 </a:t>
            </a:r>
            <a:r>
              <a:rPr lang="en-US" sz="2000" dirty="0">
                <a:solidFill>
                  <a:srgbClr val="FF0000"/>
                </a:solidFill>
              </a:rPr>
              <a:t>600</a:t>
            </a:r>
            <a:r>
              <a:rPr lang="en-US" sz="2000" dirty="0"/>
              <a:t> 	(j=3)</a:t>
            </a:r>
            <a:endParaRPr lang="en-US" sz="2000" baseline="-25000" dirty="0"/>
          </a:p>
          <a:p>
            <a:pPr marL="533400" indent="-533400" eaLnBrk="1" hangingPunct="1">
              <a:spcBef>
                <a:spcPct val="20000"/>
              </a:spcBef>
              <a:buClr>
                <a:schemeClr val="hlink"/>
              </a:buClr>
              <a:buSzPct val="65000"/>
              <a:buFont typeface="Wingdings" pitchFamily="2" charset="2"/>
              <a:buNone/>
              <a:tabLst>
                <a:tab pos="2624138" algn="r"/>
              </a:tabLst>
            </a:pPr>
            <a:r>
              <a:rPr lang="en-US" sz="2000" dirty="0"/>
              <a:t>	 500 	(j=3)</a:t>
            </a:r>
            <a:endParaRPr lang="en-US" sz="2000" baseline="-25000" dirty="0"/>
          </a:p>
          <a:p>
            <a:pPr marL="533400" indent="-533400" eaLnBrk="1" hangingPunct="1">
              <a:spcBef>
                <a:spcPct val="20000"/>
              </a:spcBef>
              <a:buClr>
                <a:schemeClr val="hlink"/>
              </a:buClr>
              <a:buSzPct val="65000"/>
              <a:buFont typeface="Wingdings" pitchFamily="2" charset="2"/>
              <a:buNone/>
              <a:tabLst>
                <a:tab pos="2624138" algn="r"/>
              </a:tabLst>
            </a:pPr>
            <a:r>
              <a:rPr lang="en-US" sz="2000" dirty="0"/>
              <a:t>	 300 	(j=2)</a:t>
            </a:r>
            <a:endParaRPr lang="en-US" sz="2000" baseline="-25000" dirty="0"/>
          </a:p>
        </p:txBody>
      </p:sp>
      <p:sp>
        <p:nvSpPr>
          <p:cNvPr id="13" name="Line 50">
            <a:extLst>
              <a:ext uri="{FF2B5EF4-FFF2-40B4-BE49-F238E27FC236}">
                <a16:creationId xmlns:a16="http://schemas.microsoft.com/office/drawing/2014/main" id="{E13C79E1-C9F5-4F8D-BD34-03318233B245}"/>
              </a:ext>
            </a:extLst>
          </p:cNvPr>
          <p:cNvSpPr>
            <a:spLocks noChangeShapeType="1"/>
          </p:cNvSpPr>
          <p:nvPr/>
        </p:nvSpPr>
        <p:spPr bwMode="auto">
          <a:xfrm>
            <a:off x="7507356" y="2857500"/>
            <a:ext cx="3733800" cy="0"/>
          </a:xfrm>
          <a:prstGeom prst="line">
            <a:avLst/>
          </a:prstGeom>
          <a:noFill/>
          <a:ln w="41275">
            <a:solidFill>
              <a:schemeClr val="tx1"/>
            </a:solidFill>
            <a:round/>
            <a:headEnd/>
            <a:tailEnd/>
          </a:ln>
        </p:spPr>
        <p:txBody>
          <a:bodyPr anchor="ctr">
            <a:spAutoFit/>
          </a:bodyPr>
          <a:lstStyle/>
          <a:p>
            <a:endParaRPr lang="en-US"/>
          </a:p>
        </p:txBody>
      </p:sp>
      <p:sp>
        <p:nvSpPr>
          <p:cNvPr id="14" name="Line 51">
            <a:extLst>
              <a:ext uri="{FF2B5EF4-FFF2-40B4-BE49-F238E27FC236}">
                <a16:creationId xmlns:a16="http://schemas.microsoft.com/office/drawing/2014/main" id="{19D2ADAA-532E-4A18-949F-DC38B31C8B83}"/>
              </a:ext>
            </a:extLst>
          </p:cNvPr>
          <p:cNvSpPr>
            <a:spLocks noChangeShapeType="1"/>
          </p:cNvSpPr>
          <p:nvPr/>
        </p:nvSpPr>
        <p:spPr bwMode="auto">
          <a:xfrm>
            <a:off x="8421756" y="2324100"/>
            <a:ext cx="0" cy="2209800"/>
          </a:xfrm>
          <a:prstGeom prst="line">
            <a:avLst/>
          </a:prstGeom>
          <a:noFill/>
          <a:ln w="38100">
            <a:solidFill>
              <a:schemeClr val="tx1"/>
            </a:solidFill>
            <a:round/>
            <a:headEnd/>
            <a:tailEnd/>
          </a:ln>
        </p:spPr>
        <p:txBody>
          <a:bodyPr/>
          <a:lstStyle/>
          <a:p>
            <a:endParaRPr lang="en-US"/>
          </a:p>
        </p:txBody>
      </p:sp>
      <p:sp>
        <p:nvSpPr>
          <p:cNvPr id="15" name="Rectangle 52">
            <a:extLst>
              <a:ext uri="{FF2B5EF4-FFF2-40B4-BE49-F238E27FC236}">
                <a16:creationId xmlns:a16="http://schemas.microsoft.com/office/drawing/2014/main" id="{9D446A71-4F6B-480C-B34E-FAF11380B593}"/>
              </a:ext>
            </a:extLst>
          </p:cNvPr>
          <p:cNvSpPr>
            <a:spLocks noChangeArrowheads="1"/>
          </p:cNvSpPr>
          <p:nvPr/>
        </p:nvSpPr>
        <p:spPr bwMode="auto">
          <a:xfrm>
            <a:off x="7507356" y="2324100"/>
            <a:ext cx="3733800" cy="2209800"/>
          </a:xfrm>
          <a:prstGeom prst="rect">
            <a:avLst/>
          </a:prstGeom>
          <a:noFill/>
          <a:ln w="9525">
            <a:solidFill>
              <a:schemeClr val="tx1"/>
            </a:solidFill>
            <a:miter lim="800000"/>
            <a:headEnd/>
            <a:tailEnd/>
          </a:ln>
        </p:spPr>
        <p:txBody>
          <a:bodyPr wrap="none" anchor="ctr"/>
          <a:lstStyle/>
          <a:p>
            <a:endParaRPr lang="en-US"/>
          </a:p>
        </p:txBody>
      </p:sp>
      <p:sp>
        <p:nvSpPr>
          <p:cNvPr id="16" name="AutoShape 53">
            <a:extLst>
              <a:ext uri="{FF2B5EF4-FFF2-40B4-BE49-F238E27FC236}">
                <a16:creationId xmlns:a16="http://schemas.microsoft.com/office/drawing/2014/main" id="{7D0A0CFB-3271-4BAB-9434-052DFD09AF36}"/>
              </a:ext>
            </a:extLst>
          </p:cNvPr>
          <p:cNvSpPr>
            <a:spLocks noChangeArrowheads="1"/>
          </p:cNvSpPr>
          <p:nvPr/>
        </p:nvSpPr>
        <p:spPr bwMode="auto">
          <a:xfrm>
            <a:off x="7583556" y="3467100"/>
            <a:ext cx="152400" cy="228600"/>
          </a:xfrm>
          <a:prstGeom prst="star5">
            <a:avLst/>
          </a:prstGeom>
          <a:solidFill>
            <a:schemeClr val="accent1"/>
          </a:solidFill>
          <a:ln w="9525">
            <a:solidFill>
              <a:schemeClr val="tx1"/>
            </a:solidFill>
            <a:miter lim="800000"/>
            <a:headEnd/>
            <a:tailEnd/>
          </a:ln>
          <a:effectLst/>
        </p:spPr>
        <p:txBody>
          <a:bodyPr wrap="none" anchor="ctr"/>
          <a:lstStyle/>
          <a:p>
            <a:pPr>
              <a:defRPr/>
            </a:pPr>
            <a:endParaRPr lang="en-US"/>
          </a:p>
        </p:txBody>
      </p:sp>
      <p:sp>
        <p:nvSpPr>
          <p:cNvPr id="17" name="Line 54">
            <a:extLst>
              <a:ext uri="{FF2B5EF4-FFF2-40B4-BE49-F238E27FC236}">
                <a16:creationId xmlns:a16="http://schemas.microsoft.com/office/drawing/2014/main" id="{037E7708-494F-4D17-9375-D0967B2BE17B}"/>
              </a:ext>
            </a:extLst>
          </p:cNvPr>
          <p:cNvSpPr>
            <a:spLocks noChangeShapeType="1"/>
          </p:cNvSpPr>
          <p:nvPr/>
        </p:nvSpPr>
        <p:spPr bwMode="auto">
          <a:xfrm>
            <a:off x="1408043" y="3424989"/>
            <a:ext cx="0" cy="838200"/>
          </a:xfrm>
          <a:prstGeom prst="line">
            <a:avLst/>
          </a:prstGeom>
          <a:noFill/>
          <a:ln w="9525">
            <a:solidFill>
              <a:schemeClr val="tx1"/>
            </a:solidFill>
            <a:round/>
            <a:headEnd/>
            <a:tailEnd type="triangle" w="med" len="med"/>
          </a:ln>
        </p:spPr>
        <p:txBody>
          <a:bodyPr/>
          <a:lstStyle/>
          <a:p>
            <a:endParaRPr lang="en-US"/>
          </a:p>
        </p:txBody>
      </p:sp>
      <p:sp>
        <p:nvSpPr>
          <p:cNvPr id="18" name="Text Box 55">
            <a:extLst>
              <a:ext uri="{FF2B5EF4-FFF2-40B4-BE49-F238E27FC236}">
                <a16:creationId xmlns:a16="http://schemas.microsoft.com/office/drawing/2014/main" id="{59A3F61B-4BF8-4AA4-A843-BFFAF710D40A}"/>
              </a:ext>
            </a:extLst>
          </p:cNvPr>
          <p:cNvSpPr txBox="1">
            <a:spLocks noChangeArrowheads="1"/>
          </p:cNvSpPr>
          <p:nvPr/>
        </p:nvSpPr>
        <p:spPr bwMode="auto">
          <a:xfrm>
            <a:off x="1103243" y="3653589"/>
            <a:ext cx="241300" cy="400050"/>
          </a:xfrm>
          <a:prstGeom prst="rect">
            <a:avLst/>
          </a:prstGeom>
          <a:noFill/>
          <a:ln w="9525">
            <a:noFill/>
            <a:miter lim="800000"/>
            <a:headEnd/>
            <a:tailEnd/>
          </a:ln>
        </p:spPr>
        <p:txBody>
          <a:bodyPr>
            <a:spAutoFit/>
          </a:bodyPr>
          <a:lstStyle/>
          <a:p>
            <a:r>
              <a:rPr lang="en-US" sz="2000"/>
              <a:t>i</a:t>
            </a:r>
          </a:p>
        </p:txBody>
      </p:sp>
      <p:sp>
        <p:nvSpPr>
          <p:cNvPr id="19" name="Line 56">
            <a:extLst>
              <a:ext uri="{FF2B5EF4-FFF2-40B4-BE49-F238E27FC236}">
                <a16:creationId xmlns:a16="http://schemas.microsoft.com/office/drawing/2014/main" id="{A77B80A7-41AB-40B4-A8DB-8A47EA96BF8F}"/>
              </a:ext>
            </a:extLst>
          </p:cNvPr>
          <p:cNvSpPr>
            <a:spLocks noChangeShapeType="1"/>
          </p:cNvSpPr>
          <p:nvPr/>
        </p:nvSpPr>
        <p:spPr bwMode="auto">
          <a:xfrm>
            <a:off x="3034908" y="4810952"/>
            <a:ext cx="2057400" cy="0"/>
          </a:xfrm>
          <a:prstGeom prst="line">
            <a:avLst/>
          </a:prstGeom>
          <a:noFill/>
          <a:ln w="9525">
            <a:solidFill>
              <a:schemeClr val="tx1"/>
            </a:solidFill>
            <a:round/>
            <a:headEnd/>
            <a:tailEnd type="triangle" w="med" len="med"/>
          </a:ln>
        </p:spPr>
        <p:txBody>
          <a:bodyPr/>
          <a:lstStyle/>
          <a:p>
            <a:endParaRPr lang="en-US"/>
          </a:p>
        </p:txBody>
      </p:sp>
      <p:sp>
        <p:nvSpPr>
          <p:cNvPr id="20" name="Text Box 57">
            <a:extLst>
              <a:ext uri="{FF2B5EF4-FFF2-40B4-BE49-F238E27FC236}">
                <a16:creationId xmlns:a16="http://schemas.microsoft.com/office/drawing/2014/main" id="{37DF9DE4-C969-4952-9753-28A2B0DA8E4A}"/>
              </a:ext>
            </a:extLst>
          </p:cNvPr>
          <p:cNvSpPr txBox="1">
            <a:spLocks noChangeArrowheads="1"/>
          </p:cNvSpPr>
          <p:nvPr/>
        </p:nvSpPr>
        <p:spPr bwMode="auto">
          <a:xfrm>
            <a:off x="3822308" y="4839528"/>
            <a:ext cx="241300" cy="400050"/>
          </a:xfrm>
          <a:prstGeom prst="rect">
            <a:avLst/>
          </a:prstGeom>
          <a:noFill/>
          <a:ln w="9525">
            <a:noFill/>
            <a:miter lim="800000"/>
            <a:headEnd/>
            <a:tailEnd/>
          </a:ln>
        </p:spPr>
        <p:txBody>
          <a:bodyPr>
            <a:spAutoFit/>
          </a:bodyPr>
          <a:lstStyle/>
          <a:p>
            <a:r>
              <a:rPr lang="en-US" sz="2000" dirty="0"/>
              <a:t>j</a:t>
            </a:r>
          </a:p>
        </p:txBody>
      </p:sp>
      <p:sp>
        <p:nvSpPr>
          <p:cNvPr id="22" name="Rectangular Callout 18">
            <a:extLst>
              <a:ext uri="{FF2B5EF4-FFF2-40B4-BE49-F238E27FC236}">
                <a16:creationId xmlns:a16="http://schemas.microsoft.com/office/drawing/2014/main" id="{F57F1F9C-DE94-4013-957B-BEB123420115}"/>
              </a:ext>
            </a:extLst>
          </p:cNvPr>
          <p:cNvSpPr/>
          <p:nvPr/>
        </p:nvSpPr>
        <p:spPr bwMode="auto">
          <a:xfrm>
            <a:off x="8115657" y="5743576"/>
            <a:ext cx="1219200" cy="619125"/>
          </a:xfrm>
          <a:prstGeom prst="wedgeRectCallout">
            <a:avLst>
              <a:gd name="adj1" fmla="val -79324"/>
              <a:gd name="adj2" fmla="val -74967"/>
            </a:avLst>
          </a:prstGeom>
          <a:ln>
            <a:headEnd type="none" w="med" len="med"/>
            <a:tailEnd type="none" w="med" len="med"/>
          </a:ln>
        </p:spPr>
        <p:style>
          <a:lnRef idx="2">
            <a:schemeClr val="accent1"/>
          </a:lnRef>
          <a:fillRef idx="1">
            <a:schemeClr val="lt1"/>
          </a:fillRef>
          <a:effectRef idx="0">
            <a:schemeClr val="accent1"/>
          </a:effectRef>
          <a:fontRef idx="minor">
            <a:schemeClr val="dk1"/>
          </a:fontRef>
        </p:style>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r>
              <a:rPr kumimoji="0" lang="en-US" sz="2400" b="0" i="0" u="none" strike="noStrike" cap="none" normalizeH="0" baseline="0" dirty="0">
                <a:ln>
                  <a:noFill/>
                </a:ln>
                <a:solidFill>
                  <a:schemeClr val="tx1"/>
                </a:solidFill>
                <a:effectLst/>
                <a:latin typeface="Arial" charset="0"/>
                <a:ea typeface="ＭＳ Ｐゴシック" pitchFamily="16" charset="-128"/>
              </a:rPr>
              <a:t>Payoff</a:t>
            </a:r>
          </a:p>
        </p:txBody>
      </p:sp>
      <p:sp>
        <p:nvSpPr>
          <p:cNvPr id="24" name="Text Box 3">
            <a:extLst>
              <a:ext uri="{FF2B5EF4-FFF2-40B4-BE49-F238E27FC236}">
                <a16:creationId xmlns:a16="http://schemas.microsoft.com/office/drawing/2014/main" id="{18F16255-4611-4A7E-B864-CD6DDA2B797F}"/>
              </a:ext>
            </a:extLst>
          </p:cNvPr>
          <p:cNvSpPr txBox="1">
            <a:spLocks noChangeArrowheads="1"/>
          </p:cNvSpPr>
          <p:nvPr/>
        </p:nvSpPr>
        <p:spPr bwMode="auto">
          <a:xfrm>
            <a:off x="523812" y="5923584"/>
            <a:ext cx="4666662" cy="230832"/>
          </a:xfrm>
          <a:prstGeom prst="rect">
            <a:avLst/>
          </a:prstGeom>
          <a:noFill/>
          <a:ln w="12700">
            <a:noFill/>
            <a:miter lim="800000"/>
            <a:headEnd/>
            <a:tailEnd/>
          </a:ln>
        </p:spPr>
        <p:txBody>
          <a:bodyPr wrap="none">
            <a:spAutoFit/>
          </a:bodyPr>
          <a:lstStyle/>
          <a:p>
            <a:pPr algn="ctr"/>
            <a:r>
              <a:rPr lang="en-US" sz="900" dirty="0"/>
              <a:t>(Adapted From: Blanchard and </a:t>
            </a:r>
            <a:r>
              <a:rPr lang="en-US" sz="900" dirty="0" err="1"/>
              <a:t>Fabrycky</a:t>
            </a:r>
            <a:r>
              <a:rPr lang="en-US" sz="900" dirty="0"/>
              <a:t>, “System Engineering and Analysis, Prentice Hall, 1998)</a:t>
            </a:r>
          </a:p>
        </p:txBody>
      </p:sp>
    </p:spTree>
    <p:extLst>
      <p:ext uri="{BB962C8B-B14F-4D97-AF65-F5344CB8AC3E}">
        <p14:creationId xmlns:p14="http://schemas.microsoft.com/office/powerpoint/2010/main" val="176688113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Decision Making under Uncertainty</a:t>
            </a:r>
          </a:p>
        </p:txBody>
      </p:sp>
      <p:sp>
        <p:nvSpPr>
          <p:cNvPr id="3" name="Content Placeholder 2"/>
          <p:cNvSpPr>
            <a:spLocks noGrp="1"/>
          </p:cNvSpPr>
          <p:nvPr>
            <p:ph idx="1"/>
          </p:nvPr>
        </p:nvSpPr>
        <p:spPr/>
        <p:txBody>
          <a:bodyPr/>
          <a:lstStyle/>
          <a:p>
            <a:r>
              <a:rPr lang="en-US" b="1" u="sng" dirty="0">
                <a:solidFill>
                  <a:srgbClr val="C00000"/>
                </a:solidFill>
              </a:rPr>
              <a:t>Maximin Criterion</a:t>
            </a:r>
          </a:p>
          <a:p>
            <a:pPr lvl="1"/>
            <a:r>
              <a:rPr lang="en-US" dirty="0"/>
              <a:t>The maximin criterion is the decision criterion for the total pessimist.</a:t>
            </a:r>
          </a:p>
          <a:p>
            <a:pPr lvl="1"/>
            <a:r>
              <a:rPr lang="en-US" dirty="0"/>
              <a:t>It focuses only on the worst that can happen.</a:t>
            </a:r>
          </a:p>
          <a:p>
            <a:pPr lvl="1"/>
            <a:r>
              <a:rPr lang="en-US" dirty="0"/>
              <a:t>Plan for the best worst case</a:t>
            </a:r>
          </a:p>
          <a:p>
            <a:pPr lvl="1"/>
            <a:r>
              <a:rPr lang="en-US" b="1" u="sng" dirty="0"/>
              <a:t>Procedure:</a:t>
            </a:r>
          </a:p>
          <a:p>
            <a:pPr lvl="2"/>
            <a:r>
              <a:rPr lang="en-US" dirty="0"/>
              <a:t>Identify the minimum payoff from any state of nature for each alternative.</a:t>
            </a:r>
          </a:p>
          <a:p>
            <a:pPr lvl="2"/>
            <a:r>
              <a:rPr lang="en-US" dirty="0"/>
              <a:t>Find the maximum of these minimum payoffs and choose this alternative.</a:t>
            </a:r>
          </a:p>
          <a:p>
            <a:pPr lvl="8"/>
            <a:endParaRPr lang="en-US" dirty="0"/>
          </a:p>
          <a:p>
            <a:pPr lvl="1"/>
            <a:r>
              <a:rPr lang="en-US" b="1" u="sng" dirty="0"/>
              <a:t>Case: The </a:t>
            </a:r>
            <a:r>
              <a:rPr lang="en-US" b="1" u="sng" dirty="0" err="1"/>
              <a:t>Goferbroke</a:t>
            </a:r>
            <a:r>
              <a:rPr lang="en-US" b="1" u="sng" dirty="0"/>
              <a:t> Company Problem</a:t>
            </a:r>
            <a:endParaRPr lang="en-US" dirty="0"/>
          </a:p>
          <a:p>
            <a:endParaRPr lang="en-US" sz="2400" b="1" dirty="0"/>
          </a:p>
          <a:p>
            <a:pPr lvl="1"/>
            <a:endParaRPr lang="en-US" dirty="0"/>
          </a:p>
          <a:p>
            <a:pPr lvl="1"/>
            <a:endParaRPr lang="en-US" dirty="0"/>
          </a:p>
        </p:txBody>
      </p:sp>
      <p:sp>
        <p:nvSpPr>
          <p:cNvPr id="5" name="TextBox 4">
            <a:extLst>
              <a:ext uri="{FF2B5EF4-FFF2-40B4-BE49-F238E27FC236}">
                <a16:creationId xmlns:a16="http://schemas.microsoft.com/office/drawing/2014/main" id="{77B43826-99DE-486A-A8E0-A4778372951C}"/>
              </a:ext>
            </a:extLst>
          </p:cNvPr>
          <p:cNvSpPr txBox="1"/>
          <p:nvPr/>
        </p:nvSpPr>
        <p:spPr>
          <a:xfrm>
            <a:off x="8438322" y="5367130"/>
            <a:ext cx="2077278" cy="923330"/>
          </a:xfrm>
          <a:prstGeom prst="rect">
            <a:avLst/>
          </a:prstGeom>
          <a:noFill/>
        </p:spPr>
        <p:txBody>
          <a:bodyPr wrap="square" rtlCol="0">
            <a:spAutoFit/>
          </a:bodyPr>
          <a:lstStyle/>
          <a:p>
            <a:r>
              <a:rPr lang="en-US" dirty="0"/>
              <a:t>Under Maximin criterion, you should </a:t>
            </a:r>
            <a:r>
              <a:rPr lang="en-US" b="1" dirty="0">
                <a:solidFill>
                  <a:srgbClr val="C00000"/>
                </a:solidFill>
              </a:rPr>
              <a:t>sell the land</a:t>
            </a:r>
            <a:r>
              <a:rPr lang="en-US" dirty="0"/>
              <a:t>.</a:t>
            </a:r>
          </a:p>
        </p:txBody>
      </p:sp>
      <p:sp>
        <p:nvSpPr>
          <p:cNvPr id="6" name="Right Brace 5">
            <a:extLst>
              <a:ext uri="{FF2B5EF4-FFF2-40B4-BE49-F238E27FC236}">
                <a16:creationId xmlns:a16="http://schemas.microsoft.com/office/drawing/2014/main" id="{F88191FB-C405-4FA3-A285-4D86CB78B0CD}"/>
              </a:ext>
            </a:extLst>
          </p:cNvPr>
          <p:cNvSpPr/>
          <p:nvPr/>
        </p:nvSpPr>
        <p:spPr>
          <a:xfrm>
            <a:off x="7695372" y="4957261"/>
            <a:ext cx="742950" cy="1743067"/>
          </a:xfrm>
          <a:prstGeom prst="rightBrace">
            <a:avLst/>
          </a:prstGeom>
          <a:ln>
            <a:solidFill>
              <a:srgbClr val="C0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aphicFrame>
        <p:nvGraphicFramePr>
          <p:cNvPr id="7" name="Group 4">
            <a:extLst>
              <a:ext uri="{FF2B5EF4-FFF2-40B4-BE49-F238E27FC236}">
                <a16:creationId xmlns:a16="http://schemas.microsoft.com/office/drawing/2014/main" id="{CDE74C1E-3538-4089-83C9-1121343ED774}"/>
              </a:ext>
            </a:extLst>
          </p:cNvPr>
          <p:cNvGraphicFramePr>
            <a:graphicFrameLocks noGrp="1"/>
          </p:cNvGraphicFramePr>
          <p:nvPr>
            <p:extLst>
              <p:ext uri="{D42A27DB-BD31-4B8C-83A1-F6EECF244321}">
                <p14:modId xmlns:p14="http://schemas.microsoft.com/office/powerpoint/2010/main" val="1336228087"/>
              </p:ext>
            </p:extLst>
          </p:nvPr>
        </p:nvGraphicFramePr>
        <p:xfrm>
          <a:off x="953328" y="4795328"/>
          <a:ext cx="7086601" cy="1905000"/>
        </p:xfrm>
        <a:graphic>
          <a:graphicData uri="http://schemas.openxmlformats.org/drawingml/2006/table">
            <a:tbl>
              <a:tblPr/>
              <a:tblGrid>
                <a:gridCol w="1750305">
                  <a:extLst>
                    <a:ext uri="{9D8B030D-6E8A-4147-A177-3AD203B41FA5}">
                      <a16:colId xmlns:a16="http://schemas.microsoft.com/office/drawing/2014/main" val="20000"/>
                    </a:ext>
                  </a:extLst>
                </a:gridCol>
                <a:gridCol w="1494163">
                  <a:extLst>
                    <a:ext uri="{9D8B030D-6E8A-4147-A177-3AD203B41FA5}">
                      <a16:colId xmlns:a16="http://schemas.microsoft.com/office/drawing/2014/main" val="20001"/>
                    </a:ext>
                  </a:extLst>
                </a:gridCol>
                <a:gridCol w="1536853">
                  <a:extLst>
                    <a:ext uri="{9D8B030D-6E8A-4147-A177-3AD203B41FA5}">
                      <a16:colId xmlns:a16="http://schemas.microsoft.com/office/drawing/2014/main" val="20002"/>
                    </a:ext>
                  </a:extLst>
                </a:gridCol>
                <a:gridCol w="2305280">
                  <a:extLst>
                    <a:ext uri="{9D8B030D-6E8A-4147-A177-3AD203B41FA5}">
                      <a16:colId xmlns:a16="http://schemas.microsoft.com/office/drawing/2014/main" val="20003"/>
                    </a:ext>
                  </a:extLst>
                </a:gridCol>
              </a:tblGrid>
              <a:tr h="476250">
                <a:tc>
                  <a:txBody>
                    <a:bodyPr/>
                    <a:lstStyle/>
                    <a:p>
                      <a:pPr marL="0" marR="0" lvl="0" indent="0" algn="l" defTabSz="914400" rtl="0" eaLnBrk="1" fontAlgn="base" latinLnBrk="0" hangingPunct="1">
                        <a:lnSpc>
                          <a:spcPct val="100000"/>
                        </a:lnSpc>
                        <a:spcBef>
                          <a:spcPct val="100000"/>
                        </a:spcBef>
                        <a:spcAft>
                          <a:spcPct val="0"/>
                        </a:spcAft>
                        <a:buClrTx/>
                        <a:buSzTx/>
                        <a:buFontTx/>
                        <a:buNone/>
                        <a:tabLst/>
                      </a:pPr>
                      <a:endParaRPr kumimoji="0" lang="en-US" sz="1600" b="1" i="0" u="none" strike="noStrike" cap="none" normalizeH="0" baseline="0" dirty="0">
                        <a:ln>
                          <a:noFill/>
                        </a:ln>
                        <a:solidFill>
                          <a:schemeClr val="tx1"/>
                        </a:solidFill>
                        <a:effectLst/>
                        <a:latin typeface="Times New Roman" pitchFamily="1" charset="0"/>
                      </a:endParaRPr>
                    </a:p>
                  </a:txBody>
                  <a:tcPr marT="45731" marB="45731" horzOverflow="overflow">
                    <a:lnL cap="flat">
                      <a:noFill/>
                    </a:lnL>
                    <a:lnR>
                      <a:noFill/>
                    </a:lnR>
                    <a:lnT cap="flat">
                      <a:noFill/>
                    </a:lnT>
                    <a:lnB>
                      <a:noFill/>
                    </a:lnB>
                    <a:lnTlToBr>
                      <a:noFill/>
                    </a:lnTlToBr>
                    <a:lnBlToTr>
                      <a:noFill/>
                    </a:lnBlToTr>
                    <a:noFill/>
                  </a:tcPr>
                </a:tc>
                <a:tc gridSpan="2">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r>
                        <a:rPr kumimoji="0" lang="en-US" sz="1600" b="1" i="0" u="none" strike="noStrike" cap="none" normalizeH="0" baseline="0" dirty="0">
                          <a:ln>
                            <a:noFill/>
                          </a:ln>
                          <a:solidFill>
                            <a:schemeClr val="tx1"/>
                          </a:solidFill>
                          <a:effectLst/>
                          <a:latin typeface="Times New Roman" pitchFamily="1" charset="0"/>
                        </a:rPr>
                        <a:t>State of Nature</a:t>
                      </a:r>
                    </a:p>
                  </a:txBody>
                  <a:tcPr marT="45731" marB="45731" horzOverflow="overflow">
                    <a:lnL>
                      <a:noFill/>
                    </a:lnL>
                    <a:lnR>
                      <a:noFill/>
                    </a:lnR>
                    <a:lnT cap="flat">
                      <a:noFill/>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en-US"/>
                    </a:p>
                  </a:txBody>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endParaRPr kumimoji="0" lang="en-US" sz="1600" b="1" i="0" u="none" strike="noStrike" cap="none" normalizeH="0" baseline="0">
                        <a:ln>
                          <a:noFill/>
                        </a:ln>
                        <a:solidFill>
                          <a:schemeClr val="tx1"/>
                        </a:solidFill>
                        <a:effectLst/>
                        <a:latin typeface="Times New Roman" pitchFamily="1" charset="0"/>
                      </a:endParaRPr>
                    </a:p>
                  </a:txBody>
                  <a:tcPr marT="45731" marB="45731" horzOverflow="overflow">
                    <a:lnL>
                      <a:noFill/>
                    </a:lnL>
                    <a:lnR cap="flat">
                      <a:noFill/>
                    </a:lnR>
                    <a:lnT cap="flat">
                      <a:noFill/>
                    </a:lnT>
                    <a:lnB>
                      <a:noFill/>
                    </a:lnB>
                    <a:lnTlToBr>
                      <a:noFill/>
                    </a:lnTlToBr>
                    <a:lnBlToTr>
                      <a:noFill/>
                    </a:lnBlToTr>
                    <a:noFill/>
                  </a:tcPr>
                </a:tc>
                <a:extLst>
                  <a:ext uri="{0D108BD9-81ED-4DB2-BD59-A6C34878D82A}">
                    <a16:rowId xmlns:a16="http://schemas.microsoft.com/office/drawing/2014/main" val="10000"/>
                  </a:ext>
                </a:extLst>
              </a:tr>
              <a:tr h="476250">
                <a:tc>
                  <a:txBody>
                    <a:bodyPr/>
                    <a:lstStyle/>
                    <a:p>
                      <a:pPr marL="0" marR="0" lvl="0" indent="0" algn="l" defTabSz="914400" rtl="0" eaLnBrk="1" fontAlgn="base" latinLnBrk="0" hangingPunct="1">
                        <a:lnSpc>
                          <a:spcPct val="100000"/>
                        </a:lnSpc>
                        <a:spcBef>
                          <a:spcPct val="100000"/>
                        </a:spcBef>
                        <a:spcAft>
                          <a:spcPct val="0"/>
                        </a:spcAft>
                        <a:buClrTx/>
                        <a:buSzTx/>
                        <a:buFontTx/>
                        <a:buNone/>
                        <a:tabLst/>
                      </a:pPr>
                      <a:r>
                        <a:rPr kumimoji="0" lang="en-US" sz="1600" b="1" i="0" u="none" strike="noStrike" cap="none" normalizeH="0" baseline="0">
                          <a:ln>
                            <a:noFill/>
                          </a:ln>
                          <a:solidFill>
                            <a:schemeClr val="tx1"/>
                          </a:solidFill>
                          <a:effectLst/>
                          <a:latin typeface="Times New Roman" pitchFamily="1" charset="0"/>
                        </a:rPr>
                        <a:t>Alternative</a:t>
                      </a:r>
                    </a:p>
                  </a:txBody>
                  <a:tcPr marT="45731" marB="45731" horzOverflow="overflow">
                    <a:lnL cap="flat">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r>
                        <a:rPr kumimoji="0" lang="en-US" sz="1600" b="1" i="0" u="none" strike="noStrike" cap="none" normalizeH="0" baseline="0">
                          <a:ln>
                            <a:noFill/>
                          </a:ln>
                          <a:solidFill>
                            <a:schemeClr val="tx1"/>
                          </a:solidFill>
                          <a:effectLst/>
                          <a:latin typeface="Times New Roman" pitchFamily="1" charset="0"/>
                        </a:rPr>
                        <a:t>Oil</a:t>
                      </a:r>
                    </a:p>
                  </a:txBody>
                  <a:tcPr marT="45731" marB="45731" horzOverflow="overflow">
                    <a:lnL>
                      <a:noFill/>
                    </a:lnL>
                    <a:lnR>
                      <a:noFill/>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r>
                        <a:rPr kumimoji="0" lang="en-US" sz="1600" b="1" i="0" u="none" strike="noStrike" cap="none" normalizeH="0" baseline="0" dirty="0">
                          <a:ln>
                            <a:noFill/>
                          </a:ln>
                          <a:solidFill>
                            <a:schemeClr val="tx1"/>
                          </a:solidFill>
                          <a:effectLst/>
                          <a:latin typeface="Times New Roman" pitchFamily="1" charset="0"/>
                        </a:rPr>
                        <a:t>Dry</a:t>
                      </a:r>
                    </a:p>
                  </a:txBody>
                  <a:tcPr marT="45731" marB="45731" horzOverflow="overflow">
                    <a:lnL>
                      <a:noFill/>
                    </a:lnL>
                    <a:lnR>
                      <a:noFill/>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100000"/>
                        </a:spcBef>
                        <a:spcAft>
                          <a:spcPct val="0"/>
                        </a:spcAft>
                        <a:buClrTx/>
                        <a:buSzTx/>
                        <a:buFontTx/>
                        <a:buNone/>
                        <a:tabLst/>
                      </a:pPr>
                      <a:r>
                        <a:rPr kumimoji="0" lang="en-US" sz="1600" b="1" i="0" u="none" strike="noStrike" cap="none" normalizeH="0" baseline="0">
                          <a:ln>
                            <a:noFill/>
                          </a:ln>
                          <a:solidFill>
                            <a:schemeClr val="tx1"/>
                          </a:solidFill>
                          <a:effectLst/>
                          <a:latin typeface="Times New Roman" pitchFamily="1" charset="0"/>
                        </a:rPr>
                        <a:t>Minimum in Row</a:t>
                      </a:r>
                    </a:p>
                  </a:txBody>
                  <a:tcPr marT="45731" marB="45731"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01"/>
                  </a:ext>
                </a:extLst>
              </a:tr>
              <a:tr h="476250">
                <a:tc>
                  <a:txBody>
                    <a:bodyPr/>
                    <a:lstStyle/>
                    <a:p>
                      <a:pPr marL="0" marR="0" lvl="0" indent="0" algn="l" defTabSz="914400" rtl="0" eaLnBrk="1" fontAlgn="base" latinLnBrk="0" hangingPunct="1">
                        <a:lnSpc>
                          <a:spcPct val="100000"/>
                        </a:lnSpc>
                        <a:spcBef>
                          <a:spcPct val="10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 charset="0"/>
                        </a:rPr>
                        <a:t>Drill for oil</a:t>
                      </a:r>
                    </a:p>
                  </a:txBody>
                  <a:tcPr marT="45731" marB="45731" horzOverflow="overflow">
                    <a:lnL cap="flat">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 charset="0"/>
                        </a:rPr>
                        <a:t>700</a:t>
                      </a:r>
                    </a:p>
                  </a:txBody>
                  <a:tcPr marT="45731" marB="45731"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 charset="0"/>
                        </a:rPr>
                        <a:t>–100</a:t>
                      </a:r>
                    </a:p>
                  </a:txBody>
                  <a:tcPr marT="45731" marB="45731" horzOverflow="overflow">
                    <a:lnL>
                      <a:noFill/>
                    </a:lnL>
                    <a:lnR>
                      <a:noFill/>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100000"/>
                        </a:spcBef>
                        <a:spcAft>
                          <a:spcPct val="0"/>
                        </a:spcAft>
                        <a:buClrTx/>
                        <a:buSzTx/>
                        <a:buFontTx/>
                        <a:buNone/>
                        <a:tabLst/>
                      </a:pPr>
                      <a:r>
                        <a:rPr kumimoji="0" lang="en-US" sz="1600" b="0" i="0" u="none" strike="noStrike" cap="none" normalizeH="0" baseline="0" dirty="0">
                          <a:ln>
                            <a:noFill/>
                          </a:ln>
                          <a:solidFill>
                            <a:schemeClr val="tx1"/>
                          </a:solidFill>
                          <a:effectLst/>
                          <a:latin typeface="Times New Roman" pitchFamily="1" charset="0"/>
                        </a:rPr>
                        <a:t>–100</a:t>
                      </a:r>
                    </a:p>
                  </a:txBody>
                  <a:tcPr marT="45731" marB="45731"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02"/>
                  </a:ext>
                </a:extLst>
              </a:tr>
              <a:tr h="476250">
                <a:tc>
                  <a:txBody>
                    <a:bodyPr/>
                    <a:lstStyle/>
                    <a:p>
                      <a:pPr marL="0" marR="0" lvl="0" indent="0" algn="l" defTabSz="914400" rtl="0" eaLnBrk="1" fontAlgn="base" latinLnBrk="0" hangingPunct="1">
                        <a:lnSpc>
                          <a:spcPct val="100000"/>
                        </a:lnSpc>
                        <a:spcBef>
                          <a:spcPct val="10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 charset="0"/>
                        </a:rPr>
                        <a:t>Sell the land</a:t>
                      </a:r>
                    </a:p>
                  </a:txBody>
                  <a:tcPr marT="45731" marB="45731" horzOverflow="overflow">
                    <a:lnL cap="flat">
                      <a:noFill/>
                    </a:lnL>
                    <a:lnR>
                      <a:noFill/>
                    </a:lnR>
                    <a:lnT>
                      <a:noFill/>
                    </a:lnT>
                    <a:lnB cap="flat">
                      <a:noFill/>
                    </a:lnB>
                    <a:lnTlToBr>
                      <a:noFill/>
                    </a:lnTlToBr>
                    <a:lnBlToTr>
                      <a:noFill/>
                    </a:lnBlToTr>
                    <a:noFill/>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r>
                        <a:rPr kumimoji="0" lang="en-US" sz="1600" b="0" i="0" u="none" strike="noStrike" cap="none" normalizeH="0" baseline="0" dirty="0">
                          <a:ln>
                            <a:noFill/>
                          </a:ln>
                          <a:solidFill>
                            <a:schemeClr val="tx1"/>
                          </a:solidFill>
                          <a:effectLst/>
                          <a:latin typeface="Times New Roman" pitchFamily="1" charset="0"/>
                        </a:rPr>
                        <a:t>90</a:t>
                      </a:r>
                    </a:p>
                  </a:txBody>
                  <a:tcPr marT="45731" marB="45731" horzOverflow="overflow">
                    <a:lnL>
                      <a:noFill/>
                    </a:lnL>
                    <a:lnR>
                      <a:noFill/>
                    </a:lnR>
                    <a:lnT>
                      <a:noFill/>
                    </a:lnT>
                    <a:lnB cap="flat">
                      <a:noFill/>
                    </a:lnB>
                    <a:lnTlToBr>
                      <a:noFill/>
                    </a:lnTlToBr>
                    <a:lnBlToTr>
                      <a:noFill/>
                    </a:lnBlToTr>
                    <a:noFill/>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 charset="0"/>
                        </a:rPr>
                        <a:t>90</a:t>
                      </a:r>
                    </a:p>
                  </a:txBody>
                  <a:tcPr marT="45731" marB="45731" horzOverflow="overflow">
                    <a:lnL>
                      <a:noFill/>
                    </a:lnL>
                    <a:lnR>
                      <a:noFill/>
                    </a:lnR>
                    <a:lnT>
                      <a:noFill/>
                    </a:lnT>
                    <a:lnB cap="flat">
                      <a:noFill/>
                    </a:lnB>
                    <a:lnTlToBr>
                      <a:noFill/>
                    </a:lnTlToBr>
                    <a:lnBlToTr>
                      <a:noFill/>
                    </a:lnBlToTr>
                    <a:noFill/>
                  </a:tcPr>
                </a:tc>
                <a:tc>
                  <a:txBody>
                    <a:bodyPr/>
                    <a:lstStyle/>
                    <a:p>
                      <a:pPr marL="0" marR="0" lvl="0" indent="0" algn="l" defTabSz="914400" rtl="0" eaLnBrk="1" fontAlgn="base" latinLnBrk="0" hangingPunct="1">
                        <a:lnSpc>
                          <a:spcPct val="100000"/>
                        </a:lnSpc>
                        <a:spcBef>
                          <a:spcPct val="100000"/>
                        </a:spcBef>
                        <a:spcAft>
                          <a:spcPct val="0"/>
                        </a:spcAft>
                        <a:buClrTx/>
                        <a:buSzTx/>
                        <a:buFontTx/>
                        <a:buNone/>
                        <a:tabLst/>
                      </a:pPr>
                      <a:r>
                        <a:rPr kumimoji="0" lang="en-US" sz="1600" b="0" i="0" u="none" strike="noStrike" cap="none" normalizeH="0" baseline="0" dirty="0">
                          <a:ln>
                            <a:noFill/>
                          </a:ln>
                          <a:solidFill>
                            <a:schemeClr val="tx1"/>
                          </a:solidFill>
                          <a:effectLst/>
                          <a:latin typeface="Times New Roman" pitchFamily="1" charset="0"/>
                        </a:rPr>
                        <a:t>90 </a:t>
                      </a:r>
                      <a:r>
                        <a:rPr kumimoji="0" lang="en-US" sz="1600" b="0" i="0" u="none" strike="noStrike" cap="none" normalizeH="0" baseline="0" dirty="0">
                          <a:ln>
                            <a:noFill/>
                          </a:ln>
                          <a:solidFill>
                            <a:schemeClr val="tx1"/>
                          </a:solidFill>
                          <a:effectLst/>
                          <a:latin typeface="Times New Roman" pitchFamily="1" charset="0"/>
                          <a:sym typeface="Symbol" pitchFamily="1" charset="2"/>
                        </a:rPr>
                        <a:t></a:t>
                      </a:r>
                      <a:r>
                        <a:rPr kumimoji="0" lang="en-US" sz="1600" b="0" i="0" u="none" strike="noStrike" cap="none" normalizeH="0" baseline="0" dirty="0">
                          <a:ln>
                            <a:noFill/>
                          </a:ln>
                          <a:solidFill>
                            <a:schemeClr val="tx1"/>
                          </a:solidFill>
                          <a:effectLst/>
                          <a:latin typeface="Times New Roman" pitchFamily="1" charset="0"/>
                        </a:rPr>
                        <a:t> </a:t>
                      </a:r>
                      <a:r>
                        <a:rPr kumimoji="0" lang="en-US" sz="1600" b="0" i="0" u="none" strike="noStrike" cap="none" normalizeH="0" baseline="0" dirty="0" err="1">
                          <a:ln>
                            <a:noFill/>
                          </a:ln>
                          <a:solidFill>
                            <a:schemeClr val="tx1"/>
                          </a:solidFill>
                          <a:effectLst/>
                          <a:latin typeface="Times New Roman" pitchFamily="1" charset="0"/>
                        </a:rPr>
                        <a:t>Maximin</a:t>
                      </a:r>
                      <a:endParaRPr kumimoji="0" lang="en-US" sz="1600" b="0" i="0" u="none" strike="noStrike" cap="none" normalizeH="0" baseline="0" dirty="0">
                        <a:ln>
                          <a:noFill/>
                        </a:ln>
                        <a:solidFill>
                          <a:schemeClr val="tx1"/>
                        </a:solidFill>
                        <a:effectLst/>
                        <a:latin typeface="Times New Roman" pitchFamily="1" charset="0"/>
                      </a:endParaRPr>
                    </a:p>
                  </a:txBody>
                  <a:tcPr marT="45731" marB="45731" horzOverflow="overflow">
                    <a:lnL>
                      <a:noFill/>
                    </a:lnL>
                    <a:lnR cap="flat">
                      <a:noFill/>
                    </a:lnR>
                    <a:lnT>
                      <a:noFill/>
                    </a:lnT>
                    <a:lnB cap="flat">
                      <a:noFill/>
                    </a:lnB>
                    <a:lnTlToBr>
                      <a:noFill/>
                    </a:lnTlToBr>
                    <a:lnBlToTr>
                      <a:noFill/>
                    </a:lnBlToTr>
                    <a:noFill/>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41860968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
                                            <p:txEl>
                                              <p:pRg st="8" end="8"/>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7"/>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6"/>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Decision Making under Uncertainty</a:t>
            </a:r>
          </a:p>
        </p:txBody>
      </p:sp>
      <p:sp>
        <p:nvSpPr>
          <p:cNvPr id="3" name="Content Placeholder 2"/>
          <p:cNvSpPr>
            <a:spLocks noGrp="1"/>
          </p:cNvSpPr>
          <p:nvPr>
            <p:ph idx="1"/>
          </p:nvPr>
        </p:nvSpPr>
        <p:spPr/>
        <p:txBody>
          <a:bodyPr/>
          <a:lstStyle/>
          <a:p>
            <a:r>
              <a:rPr lang="en-US" b="1" u="sng" dirty="0">
                <a:solidFill>
                  <a:srgbClr val="C00000"/>
                </a:solidFill>
              </a:rPr>
              <a:t>Maximin Criterion</a:t>
            </a:r>
          </a:p>
          <a:p>
            <a:pPr lvl="1"/>
            <a:r>
              <a:rPr lang="en-US" b="1" u="sng" dirty="0"/>
              <a:t>Case: Another example (not in the textbook)</a:t>
            </a:r>
            <a:endParaRPr lang="en-US" dirty="0"/>
          </a:p>
          <a:p>
            <a:endParaRPr lang="en-US" sz="2400" b="1" dirty="0"/>
          </a:p>
          <a:p>
            <a:pPr lvl="1"/>
            <a:endParaRPr lang="en-US" dirty="0"/>
          </a:p>
          <a:p>
            <a:pPr lvl="1"/>
            <a:endParaRPr lang="en-US" dirty="0"/>
          </a:p>
        </p:txBody>
      </p:sp>
      <mc:AlternateContent xmlns:mc="http://schemas.openxmlformats.org/markup-compatibility/2006" xmlns:a14="http://schemas.microsoft.com/office/drawing/2010/main">
        <mc:Choice Requires="a14">
          <p:sp>
            <p:nvSpPr>
              <p:cNvPr id="9" name="Object 2">
                <a:extLst>
                  <a:ext uri="{FF2B5EF4-FFF2-40B4-BE49-F238E27FC236}">
                    <a16:creationId xmlns:a16="http://schemas.microsoft.com/office/drawing/2014/main" id="{B6E2069E-DB53-40DC-B46D-945A7D54E9E6}"/>
                  </a:ext>
                </a:extLst>
              </p:cNvPr>
              <p:cNvSpPr txBox="1"/>
              <p:nvPr/>
            </p:nvSpPr>
            <p:spPr bwMode="auto">
              <a:xfrm>
                <a:off x="5626100" y="4981575"/>
                <a:ext cx="2795588" cy="822325"/>
              </a:xfrm>
              <a:prstGeom prst="rect">
                <a:avLst/>
              </a:prstGeom>
              <a:noFill/>
            </p:spPr>
            <p:txBody>
              <a:bodyPr>
                <a:normAutofit/>
              </a:bodyPr>
              <a:lstStyle/>
              <a:p>
                <a:pPr/>
                <a14:m>
                  <m:oMathPara xmlns:m="http://schemas.openxmlformats.org/officeDocument/2006/math">
                    <m:oMathParaPr>
                      <m:jc m:val="left"/>
                    </m:oMathParaPr>
                    <m:oMath xmlns:m="http://schemas.openxmlformats.org/officeDocument/2006/math">
                      <m:limLow>
                        <m:limLowPr>
                          <m:ctrlPr>
                            <a:rPr lang="en-US" sz="3200" i="1" smtClean="0">
                              <a:solidFill>
                                <a:srgbClr val="000000"/>
                              </a:solidFill>
                              <a:latin typeface="Cambria Math" panose="02040503050406030204" pitchFamily="18" charset="0"/>
                            </a:rPr>
                          </m:ctrlPr>
                        </m:limLowPr>
                        <m:e>
                          <m:r>
                            <m:rPr>
                              <m:sty m:val="p"/>
                            </m:rPr>
                            <a:rPr lang="en-US" sz="3200" i="0">
                              <a:solidFill>
                                <a:srgbClr val="000000"/>
                              </a:solidFill>
                              <a:latin typeface="Cambria Math" panose="02040503050406030204" pitchFamily="18" charset="0"/>
                            </a:rPr>
                            <m:t>max</m:t>
                          </m:r>
                        </m:e>
                        <m:lim>
                          <m:r>
                            <a:rPr lang="en-US" sz="3200" i="1">
                              <a:solidFill>
                                <a:srgbClr val="000000"/>
                              </a:solidFill>
                              <a:latin typeface="Cambria Math" panose="02040503050406030204" pitchFamily="18" charset="0"/>
                            </a:rPr>
                            <m:t>𝑖</m:t>
                          </m:r>
                        </m:lim>
                      </m:limLow>
                      <m:r>
                        <a:rPr lang="en-US" sz="3200" i="1">
                          <a:solidFill>
                            <a:srgbClr val="000000"/>
                          </a:solidFill>
                          <a:latin typeface="Cambria Math" panose="02040503050406030204" pitchFamily="18" charset="0"/>
                        </a:rPr>
                        <m:t>{</m:t>
                      </m:r>
                      <m:limLow>
                        <m:limLowPr>
                          <m:ctrlPr>
                            <a:rPr lang="en-US" sz="3200" i="1">
                              <a:solidFill>
                                <a:srgbClr val="000000"/>
                              </a:solidFill>
                              <a:latin typeface="Cambria Math" panose="02040503050406030204" pitchFamily="18" charset="0"/>
                            </a:rPr>
                          </m:ctrlPr>
                        </m:limLowPr>
                        <m:e>
                          <m:r>
                            <m:rPr>
                              <m:sty m:val="p"/>
                            </m:rPr>
                            <a:rPr lang="en-US" sz="3200" i="0">
                              <a:solidFill>
                                <a:srgbClr val="000000"/>
                              </a:solidFill>
                              <a:latin typeface="Cambria Math" panose="02040503050406030204" pitchFamily="18" charset="0"/>
                            </a:rPr>
                            <m:t>m</m:t>
                          </m:r>
                          <m:r>
                            <m:rPr>
                              <m:sty m:val="p"/>
                            </m:rPr>
                            <a:rPr lang="en-US" sz="3200" b="0" i="0" smtClean="0">
                              <a:solidFill>
                                <a:srgbClr val="000000"/>
                              </a:solidFill>
                              <a:latin typeface="Cambria Math" panose="02040503050406030204" pitchFamily="18" charset="0"/>
                            </a:rPr>
                            <m:t>in</m:t>
                          </m:r>
                        </m:e>
                        <m:lim>
                          <m:r>
                            <a:rPr lang="en-US" sz="3200" i="1">
                              <a:solidFill>
                                <a:srgbClr val="000000"/>
                              </a:solidFill>
                              <a:latin typeface="Cambria Math" panose="02040503050406030204" pitchFamily="18" charset="0"/>
                            </a:rPr>
                            <m:t>𝑗</m:t>
                          </m:r>
                        </m:lim>
                      </m:limLow>
                      <m:sSub>
                        <m:sSubPr>
                          <m:ctrlPr>
                            <a:rPr lang="en-US" sz="3200" i="1">
                              <a:solidFill>
                                <a:srgbClr val="000000"/>
                              </a:solidFill>
                              <a:latin typeface="Cambria Math" panose="02040503050406030204" pitchFamily="18" charset="0"/>
                            </a:rPr>
                          </m:ctrlPr>
                        </m:sSubPr>
                        <m:e>
                          <m:r>
                            <a:rPr lang="en-US" sz="3200" i="1">
                              <a:solidFill>
                                <a:srgbClr val="000000"/>
                              </a:solidFill>
                              <a:latin typeface="Cambria Math" panose="02040503050406030204" pitchFamily="18" charset="0"/>
                            </a:rPr>
                            <m:t>𝐸</m:t>
                          </m:r>
                        </m:e>
                        <m:sub>
                          <m:r>
                            <a:rPr lang="en-US" sz="3200" i="1">
                              <a:solidFill>
                                <a:srgbClr val="000000"/>
                              </a:solidFill>
                              <a:latin typeface="Cambria Math" panose="02040503050406030204" pitchFamily="18" charset="0"/>
                            </a:rPr>
                            <m:t>𝑖𝑗</m:t>
                          </m:r>
                        </m:sub>
                      </m:sSub>
                      <m:r>
                        <a:rPr lang="en-US" sz="3200" i="1">
                          <a:solidFill>
                            <a:srgbClr val="000000"/>
                          </a:solidFill>
                          <a:latin typeface="Cambria Math" panose="02040503050406030204" pitchFamily="18" charset="0"/>
                        </a:rPr>
                        <m:t>}</m:t>
                      </m:r>
                    </m:oMath>
                  </m:oMathPara>
                </a14:m>
                <a:endParaRPr lang="en-US" dirty="0"/>
              </a:p>
            </p:txBody>
          </p:sp>
        </mc:Choice>
        <mc:Fallback xmlns="">
          <p:sp>
            <p:nvSpPr>
              <p:cNvPr id="9" name="Object 2">
                <a:extLst>
                  <a:ext uri="{FF2B5EF4-FFF2-40B4-BE49-F238E27FC236}">
                    <a16:creationId xmlns:a16="http://schemas.microsoft.com/office/drawing/2014/main" id="{B6E2069E-DB53-40DC-B46D-945A7D54E9E6}"/>
                  </a:ext>
                </a:extLst>
              </p:cNvPr>
              <p:cNvSpPr txBox="1">
                <a:spLocks noRot="1" noChangeAspect="1" noMove="1" noResize="1" noEditPoints="1" noAdjustHandles="1" noChangeArrowheads="1" noChangeShapeType="1" noTextEdit="1"/>
              </p:cNvSpPr>
              <p:nvPr/>
            </p:nvSpPr>
            <p:spPr bwMode="auto">
              <a:xfrm>
                <a:off x="5626100" y="4981575"/>
                <a:ext cx="2795588" cy="822325"/>
              </a:xfrm>
              <a:prstGeom prst="rect">
                <a:avLst/>
              </a:prstGeom>
              <a:blipFill>
                <a:blip r:embed="rId3"/>
                <a:stretch>
                  <a:fillRect/>
                </a:stretch>
              </a:blipFill>
            </p:spPr>
            <p:txBody>
              <a:bodyPr/>
              <a:lstStyle/>
              <a:p>
                <a:r>
                  <a:rPr lang="en-US">
                    <a:noFill/>
                  </a:rPr>
                  <a:t> </a:t>
                </a:r>
              </a:p>
            </p:txBody>
          </p:sp>
        </mc:Fallback>
      </mc:AlternateContent>
      <p:graphicFrame>
        <p:nvGraphicFramePr>
          <p:cNvPr id="10" name="Group 5">
            <a:extLst>
              <a:ext uri="{FF2B5EF4-FFF2-40B4-BE49-F238E27FC236}">
                <a16:creationId xmlns:a16="http://schemas.microsoft.com/office/drawing/2014/main" id="{5B9AA6F6-A1ED-4707-ACE8-068A8E72A71D}"/>
              </a:ext>
            </a:extLst>
          </p:cNvPr>
          <p:cNvGraphicFramePr>
            <a:graphicFrameLocks noGrp="1"/>
          </p:cNvGraphicFramePr>
          <p:nvPr>
            <p:extLst>
              <p:ext uri="{D42A27DB-BD31-4B8C-83A1-F6EECF244321}">
                <p14:modId xmlns:p14="http://schemas.microsoft.com/office/powerpoint/2010/main" val="1321051321"/>
              </p:ext>
            </p:extLst>
          </p:nvPr>
        </p:nvGraphicFramePr>
        <p:xfrm>
          <a:off x="1103244" y="2390458"/>
          <a:ext cx="4800600" cy="2228850"/>
        </p:xfrm>
        <a:graphic>
          <a:graphicData uri="http://schemas.openxmlformats.org/drawingml/2006/table">
            <a:tbl>
              <a:tblPr/>
              <a:tblGrid>
                <a:gridCol w="1444625">
                  <a:extLst>
                    <a:ext uri="{9D8B030D-6E8A-4147-A177-3AD203B41FA5}">
                      <a16:colId xmlns:a16="http://schemas.microsoft.com/office/drawing/2014/main" val="20000"/>
                    </a:ext>
                  </a:extLst>
                </a:gridCol>
                <a:gridCol w="955675">
                  <a:extLst>
                    <a:ext uri="{9D8B030D-6E8A-4147-A177-3AD203B41FA5}">
                      <a16:colId xmlns:a16="http://schemas.microsoft.com/office/drawing/2014/main" val="20001"/>
                    </a:ext>
                  </a:extLst>
                </a:gridCol>
                <a:gridCol w="1200150">
                  <a:extLst>
                    <a:ext uri="{9D8B030D-6E8A-4147-A177-3AD203B41FA5}">
                      <a16:colId xmlns:a16="http://schemas.microsoft.com/office/drawing/2014/main" val="20002"/>
                    </a:ext>
                  </a:extLst>
                </a:gridCol>
                <a:gridCol w="1200150">
                  <a:extLst>
                    <a:ext uri="{9D8B030D-6E8A-4147-A177-3AD203B41FA5}">
                      <a16:colId xmlns:a16="http://schemas.microsoft.com/office/drawing/2014/main" val="20003"/>
                    </a:ext>
                  </a:extLst>
                </a:gridCol>
              </a:tblGrid>
              <a:tr h="371475">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65000"/>
                        <a:buFont typeface="Wingdings" pitchFamily="2" charset="2"/>
                        <a:buNone/>
                        <a:tabLst/>
                      </a:pPr>
                      <a:r>
                        <a:rPr kumimoji="0" lang="en-US" sz="1800" b="0" i="0" u="none" strike="noStrike" cap="none" normalizeH="0" baseline="0" dirty="0">
                          <a:ln>
                            <a:noFill/>
                          </a:ln>
                          <a:solidFill>
                            <a:srgbClr val="FF0000"/>
                          </a:solidFill>
                          <a:effectLst/>
                          <a:latin typeface="Arial" charset="0"/>
                        </a:rPr>
                        <a:t>Future state</a:t>
                      </a:r>
                    </a:p>
                  </a:txBody>
                  <a:tcP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65000"/>
                        <a:buFont typeface="Wingdings" pitchFamily="2" charset="2"/>
                        <a:buNone/>
                        <a:tabLst/>
                      </a:pPr>
                      <a:r>
                        <a:rPr kumimoji="0" lang="en-US" sz="1800" b="0" i="0" u="none" strike="noStrike" cap="none" normalizeH="0" baseline="0">
                          <a:ln>
                            <a:noFill/>
                          </a:ln>
                          <a:solidFill>
                            <a:schemeClr val="tx1"/>
                          </a:solidFill>
                          <a:effectLst/>
                          <a:latin typeface="Arial" charset="0"/>
                        </a:rPr>
                        <a:t>F</a:t>
                      </a:r>
                      <a:r>
                        <a:rPr kumimoji="0" lang="en-US" sz="1800" b="0" i="0" u="none" strike="noStrike" cap="none" normalizeH="0" baseline="-25000">
                          <a:ln>
                            <a:noFill/>
                          </a:ln>
                          <a:solidFill>
                            <a:schemeClr val="tx1"/>
                          </a:solidFill>
                          <a:effectLst/>
                          <a:latin typeface="Arial" charset="0"/>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65000"/>
                        <a:buFont typeface="Wingdings" pitchFamily="2" charset="2"/>
                        <a:buNone/>
                        <a:tabLst/>
                      </a:pPr>
                      <a:r>
                        <a:rPr kumimoji="0" lang="en-US" sz="1800" b="0" i="0" u="none" strike="noStrike" cap="none" normalizeH="0" baseline="0">
                          <a:ln>
                            <a:noFill/>
                          </a:ln>
                          <a:solidFill>
                            <a:schemeClr val="tx1"/>
                          </a:solidFill>
                          <a:effectLst/>
                          <a:latin typeface="Arial" charset="0"/>
                        </a:rPr>
                        <a:t>F</a:t>
                      </a:r>
                      <a:r>
                        <a:rPr kumimoji="0" lang="en-US" sz="1800" b="0" i="0" u="none" strike="noStrike" cap="none" normalizeH="0" baseline="-25000">
                          <a:ln>
                            <a:noFill/>
                          </a:ln>
                          <a:solidFill>
                            <a:schemeClr val="tx1"/>
                          </a:solidFill>
                          <a:effectLst/>
                          <a:latin typeface="Arial" charset="0"/>
                        </a:rPr>
                        <a:t>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65000"/>
                        <a:buFont typeface="Wingdings" pitchFamily="2" charset="2"/>
                        <a:buNone/>
                        <a:tabLst/>
                      </a:pPr>
                      <a:r>
                        <a:rPr kumimoji="0" lang="en-US" sz="1800" b="0" i="0" u="none" strike="noStrike" cap="none" normalizeH="0" baseline="0">
                          <a:ln>
                            <a:noFill/>
                          </a:ln>
                          <a:solidFill>
                            <a:schemeClr val="tx1"/>
                          </a:solidFill>
                          <a:effectLst/>
                          <a:latin typeface="Arial" charset="0"/>
                        </a:rPr>
                        <a:t>F</a:t>
                      </a:r>
                      <a:r>
                        <a:rPr kumimoji="0" lang="en-US" sz="1800" b="0" i="0" u="none" strike="noStrike" cap="none" normalizeH="0" baseline="-25000">
                          <a:ln>
                            <a:noFill/>
                          </a:ln>
                          <a:solidFill>
                            <a:schemeClr val="tx1"/>
                          </a:solidFill>
                          <a:effectLst/>
                          <a:latin typeface="Arial" charset="0"/>
                        </a:rPr>
                        <a:t>3</a:t>
                      </a:r>
                    </a:p>
                  </a:txBody>
                  <a:tcP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71475">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65000"/>
                        <a:buFont typeface="Wingdings" pitchFamily="2" charset="2"/>
                        <a:buNone/>
                        <a:tabLst/>
                      </a:pPr>
                      <a:r>
                        <a:rPr kumimoji="0" lang="en-US" sz="1800" b="0" i="0" u="none" strike="noStrike" cap="none" normalizeH="0" baseline="0" dirty="0">
                          <a:ln>
                            <a:noFill/>
                          </a:ln>
                          <a:solidFill>
                            <a:srgbClr val="FF0000"/>
                          </a:solidFill>
                          <a:effectLst/>
                          <a:latin typeface="Arial" charset="0"/>
                        </a:rPr>
                        <a:t>Alternative</a:t>
                      </a:r>
                    </a:p>
                  </a:txBody>
                  <a:tcP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65000"/>
                        <a:buFont typeface="Wingdings" pitchFamily="2" charset="2"/>
                        <a:buNone/>
                        <a:tabLst/>
                      </a:pPr>
                      <a:endParaRPr kumimoji="0" lang="en-US" sz="1800" b="0" i="0" u="none" strike="noStrike" cap="none" normalizeH="0" baseline="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65000"/>
                        <a:buFont typeface="Wingdings" pitchFamily="2" charset="2"/>
                        <a:buNone/>
                        <a:tabLst/>
                      </a:pPr>
                      <a:r>
                        <a:rPr kumimoji="0" lang="en-US" sz="1800" b="0" i="0" u="none" strike="noStrike" cap="none" normalizeH="0" baseline="0" dirty="0">
                          <a:ln>
                            <a:noFill/>
                          </a:ln>
                          <a:solidFill>
                            <a:srgbClr val="FF0000"/>
                          </a:solidFill>
                          <a:effectLst/>
                          <a:latin typeface="Arial" charset="0"/>
                        </a:rPr>
                        <a:t>(Payoff)</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65000"/>
                        <a:buFont typeface="Wingdings" pitchFamily="2" charset="2"/>
                        <a:buNone/>
                        <a:tabLst/>
                      </a:pPr>
                      <a:endParaRPr kumimoji="0" lang="en-US" sz="1800" b="0" i="0" u="none" strike="noStrike" cap="none" normalizeH="0" baseline="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a:noFill/>
                    </a:lnB>
                    <a:lnTlToBr>
                      <a:noFill/>
                    </a:lnTlToBr>
                    <a:lnBlToTr>
                      <a:noFill/>
                    </a:lnBlToTr>
                    <a:noFill/>
                  </a:tcPr>
                </a:tc>
                <a:extLst>
                  <a:ext uri="{0D108BD9-81ED-4DB2-BD59-A6C34878D82A}">
                    <a16:rowId xmlns:a16="http://schemas.microsoft.com/office/drawing/2014/main" val="10001"/>
                  </a:ext>
                </a:extLst>
              </a:tr>
              <a:tr h="371475">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65000"/>
                        <a:buFont typeface="Wingdings" pitchFamily="2" charset="2"/>
                        <a:buNone/>
                        <a:tabLst/>
                      </a:pPr>
                      <a:r>
                        <a:rPr kumimoji="0" lang="en-US" sz="1800" b="0" i="0" u="none" strike="noStrike" cap="none" normalizeH="0" baseline="0" dirty="0">
                          <a:ln>
                            <a:noFill/>
                          </a:ln>
                          <a:solidFill>
                            <a:schemeClr val="tx1"/>
                          </a:solidFill>
                          <a:effectLst/>
                          <a:latin typeface="Arial" charset="0"/>
                        </a:rPr>
                        <a:t>A</a:t>
                      </a:r>
                      <a:r>
                        <a:rPr kumimoji="0" lang="en-US" sz="1800" b="0" i="0" u="none" strike="noStrike" cap="none" normalizeH="0" baseline="-25000" dirty="0">
                          <a:ln>
                            <a:noFill/>
                          </a:ln>
                          <a:solidFill>
                            <a:schemeClr val="tx1"/>
                          </a:solidFill>
                          <a:effectLst/>
                          <a:latin typeface="Arial" charset="0"/>
                        </a:rPr>
                        <a:t>1</a:t>
                      </a:r>
                    </a:p>
                  </a:txBody>
                  <a:tcPr horzOverflow="overflow">
                    <a:lnL cap="flat">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65000"/>
                        <a:buFont typeface="Wingdings" pitchFamily="2" charset="2"/>
                        <a:buNone/>
                        <a:tabLst/>
                      </a:pPr>
                      <a:r>
                        <a:rPr kumimoji="0" lang="en-US" sz="1800" b="0" i="0" u="none" strike="noStrike" cap="none" normalizeH="0" baseline="0" dirty="0">
                          <a:ln>
                            <a:noFill/>
                          </a:ln>
                          <a:solidFill>
                            <a:srgbClr val="FF0000"/>
                          </a:solidFill>
                          <a:effectLst/>
                          <a:latin typeface="Arial" charset="0"/>
                        </a:rPr>
                        <a:t>100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65000"/>
                        <a:buFont typeface="Wingdings" pitchFamily="2" charset="2"/>
                        <a:buNone/>
                        <a:tabLst/>
                      </a:pPr>
                      <a:r>
                        <a:rPr kumimoji="0" lang="en-US" sz="1800" b="0" i="0" u="none" strike="noStrike" cap="none" normalizeH="0" baseline="0" dirty="0">
                          <a:ln>
                            <a:noFill/>
                          </a:ln>
                          <a:solidFill>
                            <a:srgbClr val="FF0000"/>
                          </a:solidFill>
                          <a:effectLst/>
                          <a:latin typeface="Arial" charset="0"/>
                        </a:rPr>
                        <a:t>100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65000"/>
                        <a:buFont typeface="Wingdings" pitchFamily="2" charset="2"/>
                        <a:buNone/>
                        <a:tabLst/>
                      </a:pPr>
                      <a:r>
                        <a:rPr kumimoji="0" lang="en-US" sz="1800" b="0" i="0" u="none" strike="noStrike" cap="none" normalizeH="0" baseline="0" dirty="0">
                          <a:ln>
                            <a:noFill/>
                          </a:ln>
                          <a:solidFill>
                            <a:schemeClr val="tx1"/>
                          </a:solidFill>
                          <a:effectLst/>
                          <a:latin typeface="Arial" charset="0"/>
                        </a:rPr>
                        <a:t>400</a:t>
                      </a:r>
                    </a:p>
                  </a:txBody>
                  <a:tcPr horzOverflow="overflow">
                    <a:lnL w="12700" cap="flat" cmpd="sng" algn="ctr">
                      <a:solidFill>
                        <a:schemeClr val="tx1"/>
                      </a:solidFill>
                      <a:prstDash val="solid"/>
                      <a:round/>
                      <a:headEnd type="none" w="med" len="med"/>
                      <a:tailEnd type="none" w="med" len="med"/>
                    </a:lnL>
                    <a:lnR cap="flat">
                      <a:noFill/>
                    </a:lnR>
                    <a:lnT>
                      <a:noFill/>
                    </a:lnT>
                    <a:lnB>
                      <a:noFill/>
                    </a:lnB>
                    <a:lnTlToBr>
                      <a:noFill/>
                    </a:lnTlToBr>
                    <a:lnBlToTr>
                      <a:noFill/>
                    </a:lnBlToTr>
                    <a:noFill/>
                  </a:tcPr>
                </a:tc>
                <a:extLst>
                  <a:ext uri="{0D108BD9-81ED-4DB2-BD59-A6C34878D82A}">
                    <a16:rowId xmlns:a16="http://schemas.microsoft.com/office/drawing/2014/main" val="10002"/>
                  </a:ext>
                </a:extLst>
              </a:tr>
              <a:tr h="371475">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65000"/>
                        <a:buFont typeface="Wingdings" pitchFamily="2" charset="2"/>
                        <a:buNone/>
                        <a:tabLst/>
                      </a:pPr>
                      <a:r>
                        <a:rPr kumimoji="0" lang="en-US" sz="1800" b="0" i="0" u="none" strike="noStrike" cap="none" normalizeH="0" baseline="0">
                          <a:ln>
                            <a:noFill/>
                          </a:ln>
                          <a:solidFill>
                            <a:schemeClr val="tx1"/>
                          </a:solidFill>
                          <a:effectLst/>
                          <a:latin typeface="Arial" charset="0"/>
                        </a:rPr>
                        <a:t>A</a:t>
                      </a:r>
                      <a:r>
                        <a:rPr kumimoji="0" lang="en-US" sz="1800" b="0" i="0" u="none" strike="noStrike" cap="none" normalizeH="0" baseline="-25000">
                          <a:ln>
                            <a:noFill/>
                          </a:ln>
                          <a:solidFill>
                            <a:schemeClr val="tx1"/>
                          </a:solidFill>
                          <a:effectLst/>
                          <a:latin typeface="Arial" charset="0"/>
                        </a:rPr>
                        <a:t>2</a:t>
                      </a:r>
                    </a:p>
                  </a:txBody>
                  <a:tcPr horzOverflow="overflow">
                    <a:lnL cap="flat">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65000"/>
                        <a:buFont typeface="Wingdings" pitchFamily="2" charset="2"/>
                        <a:buNone/>
                        <a:tabLst/>
                      </a:pPr>
                      <a:r>
                        <a:rPr kumimoji="0" lang="en-US" sz="1800" b="0" i="0" u="none" strike="noStrike" cap="none" normalizeH="0" baseline="0" dirty="0">
                          <a:ln>
                            <a:noFill/>
                          </a:ln>
                          <a:solidFill>
                            <a:srgbClr val="FF0000"/>
                          </a:solidFill>
                          <a:effectLst/>
                          <a:latin typeface="Arial" charset="0"/>
                        </a:rPr>
                        <a:t>-200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65000"/>
                        <a:buFont typeface="Wingdings" pitchFamily="2" charset="2"/>
                        <a:buNone/>
                        <a:tabLst/>
                      </a:pPr>
                      <a:r>
                        <a:rPr kumimoji="0" lang="en-US" sz="1800" b="0" i="0" u="none" strike="noStrike" cap="none" normalizeH="0" baseline="0">
                          <a:ln>
                            <a:noFill/>
                          </a:ln>
                          <a:solidFill>
                            <a:schemeClr val="tx1"/>
                          </a:solidFill>
                          <a:effectLst/>
                          <a:latin typeface="Arial" charset="0"/>
                        </a:rPr>
                        <a:t>150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65000"/>
                        <a:buFont typeface="Wingdings" pitchFamily="2" charset="2"/>
                        <a:buNone/>
                        <a:tabLst/>
                      </a:pPr>
                      <a:r>
                        <a:rPr kumimoji="0" lang="en-US" sz="1800" b="0" i="0" u="none" strike="noStrike" cap="none" normalizeH="0" baseline="0">
                          <a:ln>
                            <a:noFill/>
                          </a:ln>
                          <a:solidFill>
                            <a:schemeClr val="tx1"/>
                          </a:solidFill>
                          <a:effectLst/>
                          <a:latin typeface="Arial" charset="0"/>
                        </a:rPr>
                        <a:t>600</a:t>
                      </a:r>
                    </a:p>
                  </a:txBody>
                  <a:tcPr horzOverflow="overflow">
                    <a:lnL w="12700" cap="flat" cmpd="sng" algn="ctr">
                      <a:solidFill>
                        <a:schemeClr val="tx1"/>
                      </a:solidFill>
                      <a:prstDash val="solid"/>
                      <a:round/>
                      <a:headEnd type="none" w="med" len="med"/>
                      <a:tailEnd type="none" w="med" len="med"/>
                    </a:lnL>
                    <a:lnR cap="flat">
                      <a:noFill/>
                    </a:lnR>
                    <a:lnT>
                      <a:noFill/>
                    </a:lnT>
                    <a:lnB>
                      <a:noFill/>
                    </a:lnB>
                    <a:lnTlToBr>
                      <a:noFill/>
                    </a:lnTlToBr>
                    <a:lnBlToTr>
                      <a:noFill/>
                    </a:lnBlToTr>
                    <a:noFill/>
                  </a:tcPr>
                </a:tc>
                <a:extLst>
                  <a:ext uri="{0D108BD9-81ED-4DB2-BD59-A6C34878D82A}">
                    <a16:rowId xmlns:a16="http://schemas.microsoft.com/office/drawing/2014/main" val="10003"/>
                  </a:ext>
                </a:extLst>
              </a:tr>
              <a:tr h="371475">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65000"/>
                        <a:buFont typeface="Wingdings" pitchFamily="2" charset="2"/>
                        <a:buNone/>
                        <a:tabLst/>
                      </a:pPr>
                      <a:r>
                        <a:rPr kumimoji="0" lang="en-US" sz="1800" b="0" i="0" u="none" strike="noStrike" cap="none" normalizeH="0" baseline="0">
                          <a:ln>
                            <a:noFill/>
                          </a:ln>
                          <a:solidFill>
                            <a:schemeClr val="tx1"/>
                          </a:solidFill>
                          <a:effectLst/>
                          <a:latin typeface="Arial" charset="0"/>
                        </a:rPr>
                        <a:t>A</a:t>
                      </a:r>
                      <a:r>
                        <a:rPr kumimoji="0" lang="en-US" sz="1800" b="0" i="0" u="none" strike="noStrike" cap="none" normalizeH="0" baseline="-25000">
                          <a:ln>
                            <a:noFill/>
                          </a:ln>
                          <a:solidFill>
                            <a:schemeClr val="tx1"/>
                          </a:solidFill>
                          <a:effectLst/>
                          <a:latin typeface="Arial" charset="0"/>
                        </a:rPr>
                        <a:t>3</a:t>
                      </a:r>
                    </a:p>
                  </a:txBody>
                  <a:tcPr horzOverflow="overflow">
                    <a:lnL cap="flat">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65000"/>
                        <a:buFont typeface="Wingdings" pitchFamily="2" charset="2"/>
                        <a:buNone/>
                        <a:tabLst/>
                      </a:pPr>
                      <a:r>
                        <a:rPr kumimoji="0" lang="en-US" sz="1800" b="0" i="0" u="none" strike="noStrike" cap="none" normalizeH="0" baseline="0">
                          <a:ln>
                            <a:noFill/>
                          </a:ln>
                          <a:solidFill>
                            <a:srgbClr val="FF0000"/>
                          </a:solidFill>
                          <a:effectLst/>
                          <a:latin typeface="Arial" charset="0"/>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65000"/>
                        <a:buFont typeface="Wingdings" pitchFamily="2" charset="2"/>
                        <a:buNone/>
                        <a:tabLst/>
                      </a:pPr>
                      <a:r>
                        <a:rPr kumimoji="0" lang="en-US" sz="1800" b="0" i="0" u="none" strike="noStrike" cap="none" normalizeH="0" baseline="0">
                          <a:ln>
                            <a:noFill/>
                          </a:ln>
                          <a:solidFill>
                            <a:schemeClr val="tx1"/>
                          </a:solidFill>
                          <a:effectLst/>
                          <a:latin typeface="Arial" charset="0"/>
                        </a:rPr>
                        <a:t>200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65000"/>
                        <a:buFont typeface="Wingdings" pitchFamily="2" charset="2"/>
                        <a:buNone/>
                        <a:tabLst/>
                      </a:pPr>
                      <a:r>
                        <a:rPr kumimoji="0" lang="en-US" sz="1800" b="0" i="0" u="none" strike="noStrike" cap="none" normalizeH="0" baseline="0" dirty="0">
                          <a:ln>
                            <a:noFill/>
                          </a:ln>
                          <a:solidFill>
                            <a:schemeClr val="tx1"/>
                          </a:solidFill>
                          <a:effectLst/>
                          <a:latin typeface="Arial" charset="0"/>
                        </a:rPr>
                        <a:t>500</a:t>
                      </a:r>
                    </a:p>
                  </a:txBody>
                  <a:tcPr horzOverflow="overflow">
                    <a:lnL w="12700" cap="flat" cmpd="sng" algn="ctr">
                      <a:solidFill>
                        <a:schemeClr val="tx1"/>
                      </a:solidFill>
                      <a:prstDash val="solid"/>
                      <a:round/>
                      <a:headEnd type="none" w="med" len="med"/>
                      <a:tailEnd type="none" w="med" len="med"/>
                    </a:lnL>
                    <a:lnR cap="flat">
                      <a:noFill/>
                    </a:lnR>
                    <a:lnT>
                      <a:noFill/>
                    </a:lnT>
                    <a:lnB>
                      <a:noFill/>
                    </a:lnB>
                    <a:lnTlToBr>
                      <a:noFill/>
                    </a:lnTlToBr>
                    <a:lnBlToTr>
                      <a:noFill/>
                    </a:lnBlToTr>
                    <a:noFill/>
                  </a:tcPr>
                </a:tc>
                <a:extLst>
                  <a:ext uri="{0D108BD9-81ED-4DB2-BD59-A6C34878D82A}">
                    <a16:rowId xmlns:a16="http://schemas.microsoft.com/office/drawing/2014/main" val="10004"/>
                  </a:ext>
                </a:extLst>
              </a:tr>
              <a:tr h="371475">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65000"/>
                        <a:buFont typeface="Wingdings" pitchFamily="2" charset="2"/>
                        <a:buNone/>
                        <a:tabLst/>
                      </a:pPr>
                      <a:r>
                        <a:rPr kumimoji="0" lang="en-US" sz="1800" b="0" i="0" u="none" strike="noStrike" cap="none" normalizeH="0" baseline="0">
                          <a:ln>
                            <a:noFill/>
                          </a:ln>
                          <a:solidFill>
                            <a:schemeClr val="tx1"/>
                          </a:solidFill>
                          <a:effectLst/>
                          <a:latin typeface="Arial" charset="0"/>
                        </a:rPr>
                        <a:t>A</a:t>
                      </a:r>
                      <a:r>
                        <a:rPr kumimoji="0" lang="en-US" sz="1800" b="0" i="0" u="none" strike="noStrike" cap="none" normalizeH="0" baseline="-25000">
                          <a:ln>
                            <a:noFill/>
                          </a:ln>
                          <a:solidFill>
                            <a:schemeClr val="tx1"/>
                          </a:solidFill>
                          <a:effectLst/>
                          <a:latin typeface="Arial" charset="0"/>
                        </a:rPr>
                        <a:t>4</a:t>
                      </a:r>
                    </a:p>
                  </a:txBody>
                  <a:tcPr horzOverflow="overflow">
                    <a:lnL cap="flat">
                      <a:noFill/>
                    </a:lnL>
                    <a:lnR w="12700" cap="flat" cmpd="sng" algn="ctr">
                      <a:solidFill>
                        <a:schemeClr val="tx1"/>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65000"/>
                        <a:buFont typeface="Wingdings" pitchFamily="2" charset="2"/>
                        <a:buNone/>
                        <a:tabLst/>
                      </a:pPr>
                      <a:r>
                        <a:rPr kumimoji="0" lang="en-US" sz="1800" b="0" i="0" u="none" strike="noStrike" cap="none" normalizeH="0" baseline="0" dirty="0">
                          <a:ln>
                            <a:noFill/>
                          </a:ln>
                          <a:solidFill>
                            <a:srgbClr val="FF0000"/>
                          </a:solidFill>
                          <a:effectLst/>
                          <a:latin typeface="Arial" charset="0"/>
                        </a:rPr>
                        <a:t>100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65000"/>
                        <a:buFont typeface="Wingdings" pitchFamily="2" charset="2"/>
                        <a:buNone/>
                        <a:tabLst/>
                      </a:pPr>
                      <a:r>
                        <a:rPr kumimoji="0" lang="en-US" sz="1800" b="0" i="0" u="none" strike="noStrike" cap="none" normalizeH="0" baseline="0" dirty="0">
                          <a:ln>
                            <a:noFill/>
                          </a:ln>
                          <a:solidFill>
                            <a:schemeClr val="tx1"/>
                          </a:solidFill>
                          <a:effectLst/>
                          <a:latin typeface="Arial" charset="0"/>
                        </a:rPr>
                        <a:t>300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65000"/>
                        <a:buFont typeface="Wingdings" pitchFamily="2" charset="2"/>
                        <a:buNone/>
                        <a:tabLst/>
                      </a:pPr>
                      <a:r>
                        <a:rPr kumimoji="0" lang="en-US" sz="1800" b="0" i="0" u="none" strike="noStrike" cap="none" normalizeH="0" baseline="0" dirty="0">
                          <a:ln>
                            <a:noFill/>
                          </a:ln>
                          <a:solidFill>
                            <a:schemeClr val="tx1"/>
                          </a:solidFill>
                          <a:effectLst/>
                          <a:latin typeface="Arial" charset="0"/>
                        </a:rPr>
                        <a:t>200</a:t>
                      </a:r>
                    </a:p>
                  </a:txBody>
                  <a:tcPr horzOverflow="overflow">
                    <a:lnL w="12700" cap="flat" cmpd="sng" algn="ctr">
                      <a:solidFill>
                        <a:schemeClr val="tx1"/>
                      </a:solidFill>
                      <a:prstDash val="solid"/>
                      <a:round/>
                      <a:headEnd type="none" w="med" len="med"/>
                      <a:tailEnd type="none" w="med" len="med"/>
                    </a:lnL>
                    <a:lnR cap="flat">
                      <a:noFill/>
                    </a:lnR>
                    <a:lnT>
                      <a:noFill/>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bl>
          </a:graphicData>
        </a:graphic>
      </p:graphicFrame>
      <p:sp>
        <p:nvSpPr>
          <p:cNvPr id="11" name="Rectangle 48">
            <a:extLst>
              <a:ext uri="{FF2B5EF4-FFF2-40B4-BE49-F238E27FC236}">
                <a16:creationId xmlns:a16="http://schemas.microsoft.com/office/drawing/2014/main" id="{95185929-7005-4526-80FD-206C9C1FD3D3}"/>
              </a:ext>
            </a:extLst>
          </p:cNvPr>
          <p:cNvSpPr>
            <a:spLocks noChangeArrowheads="1"/>
          </p:cNvSpPr>
          <p:nvPr/>
        </p:nvSpPr>
        <p:spPr bwMode="auto">
          <a:xfrm>
            <a:off x="7659756" y="2324100"/>
            <a:ext cx="762000" cy="2286000"/>
          </a:xfrm>
          <a:prstGeom prst="rect">
            <a:avLst/>
          </a:prstGeom>
          <a:noFill/>
          <a:ln w="9525">
            <a:noFill/>
            <a:miter lim="800000"/>
            <a:headEnd/>
            <a:tailEnd/>
          </a:ln>
        </p:spPr>
        <p:txBody>
          <a:bodyPr/>
          <a:lstStyle/>
          <a:p>
            <a:pPr marL="533400" indent="-533400" algn="ctr" eaLnBrk="1" hangingPunct="1">
              <a:spcBef>
                <a:spcPct val="20000"/>
              </a:spcBef>
              <a:buClr>
                <a:schemeClr val="hlink"/>
              </a:buClr>
              <a:buSzPct val="65000"/>
              <a:buFont typeface="Wingdings" pitchFamily="2" charset="2"/>
              <a:buNone/>
            </a:pPr>
            <a:endParaRPr lang="en-US" sz="2000"/>
          </a:p>
          <a:p>
            <a:pPr marL="533400" indent="-533400" algn="ctr" eaLnBrk="1" hangingPunct="1">
              <a:spcBef>
                <a:spcPct val="20000"/>
              </a:spcBef>
              <a:buClr>
                <a:schemeClr val="hlink"/>
              </a:buClr>
              <a:buSzPct val="65000"/>
              <a:buFont typeface="Wingdings" pitchFamily="2" charset="2"/>
              <a:buNone/>
            </a:pPr>
            <a:endParaRPr lang="en-US" sz="2000"/>
          </a:p>
          <a:p>
            <a:pPr marL="533400" indent="-533400" algn="ctr" eaLnBrk="1" hangingPunct="1">
              <a:spcBef>
                <a:spcPct val="20000"/>
              </a:spcBef>
              <a:buClr>
                <a:schemeClr val="hlink"/>
              </a:buClr>
              <a:buSzPct val="65000"/>
              <a:buFont typeface="Wingdings" pitchFamily="2" charset="2"/>
              <a:buNone/>
            </a:pPr>
            <a:r>
              <a:rPr lang="en-US" sz="2000"/>
              <a:t>A</a:t>
            </a:r>
            <a:r>
              <a:rPr lang="en-US" sz="2000" baseline="-25000"/>
              <a:t>1</a:t>
            </a:r>
          </a:p>
          <a:p>
            <a:pPr marL="533400" indent="-533400" algn="ctr" eaLnBrk="1" hangingPunct="1">
              <a:spcBef>
                <a:spcPct val="20000"/>
              </a:spcBef>
              <a:buClr>
                <a:schemeClr val="hlink"/>
              </a:buClr>
              <a:buSzPct val="65000"/>
              <a:buFont typeface="Wingdings" pitchFamily="2" charset="2"/>
              <a:buNone/>
            </a:pPr>
            <a:r>
              <a:rPr lang="en-US" sz="2000"/>
              <a:t>A</a:t>
            </a:r>
            <a:r>
              <a:rPr lang="en-US" sz="2000" baseline="-25000"/>
              <a:t>2</a:t>
            </a:r>
          </a:p>
          <a:p>
            <a:pPr marL="533400" indent="-533400" algn="ctr" eaLnBrk="1" hangingPunct="1">
              <a:spcBef>
                <a:spcPct val="20000"/>
              </a:spcBef>
              <a:buClr>
                <a:schemeClr val="hlink"/>
              </a:buClr>
              <a:buSzPct val="65000"/>
              <a:buFont typeface="Wingdings" pitchFamily="2" charset="2"/>
              <a:buNone/>
            </a:pPr>
            <a:r>
              <a:rPr lang="en-US" sz="2000"/>
              <a:t>A</a:t>
            </a:r>
            <a:r>
              <a:rPr lang="en-US" sz="2000" baseline="-25000"/>
              <a:t>3</a:t>
            </a:r>
          </a:p>
          <a:p>
            <a:pPr marL="533400" indent="-533400" algn="ctr" eaLnBrk="1" hangingPunct="1">
              <a:spcBef>
                <a:spcPct val="20000"/>
              </a:spcBef>
              <a:buClr>
                <a:schemeClr val="hlink"/>
              </a:buClr>
              <a:buSzPct val="65000"/>
              <a:buFont typeface="Wingdings" pitchFamily="2" charset="2"/>
              <a:buNone/>
            </a:pPr>
            <a:r>
              <a:rPr lang="en-US" sz="2000"/>
              <a:t>A</a:t>
            </a:r>
            <a:r>
              <a:rPr lang="en-US" sz="2000" baseline="-25000"/>
              <a:t>4</a:t>
            </a:r>
          </a:p>
        </p:txBody>
      </p:sp>
      <p:sp>
        <p:nvSpPr>
          <p:cNvPr id="13" name="Line 50">
            <a:extLst>
              <a:ext uri="{FF2B5EF4-FFF2-40B4-BE49-F238E27FC236}">
                <a16:creationId xmlns:a16="http://schemas.microsoft.com/office/drawing/2014/main" id="{E13C79E1-C9F5-4F8D-BD34-03318233B245}"/>
              </a:ext>
            </a:extLst>
          </p:cNvPr>
          <p:cNvSpPr>
            <a:spLocks noChangeShapeType="1"/>
          </p:cNvSpPr>
          <p:nvPr/>
        </p:nvSpPr>
        <p:spPr bwMode="auto">
          <a:xfrm>
            <a:off x="7507356" y="2857500"/>
            <a:ext cx="3733800" cy="0"/>
          </a:xfrm>
          <a:prstGeom prst="line">
            <a:avLst/>
          </a:prstGeom>
          <a:noFill/>
          <a:ln w="41275">
            <a:solidFill>
              <a:schemeClr val="tx1"/>
            </a:solidFill>
            <a:round/>
            <a:headEnd/>
            <a:tailEnd/>
          </a:ln>
        </p:spPr>
        <p:txBody>
          <a:bodyPr anchor="ctr">
            <a:spAutoFit/>
          </a:bodyPr>
          <a:lstStyle/>
          <a:p>
            <a:endParaRPr lang="en-US"/>
          </a:p>
        </p:txBody>
      </p:sp>
      <p:sp>
        <p:nvSpPr>
          <p:cNvPr id="14" name="Line 51">
            <a:extLst>
              <a:ext uri="{FF2B5EF4-FFF2-40B4-BE49-F238E27FC236}">
                <a16:creationId xmlns:a16="http://schemas.microsoft.com/office/drawing/2014/main" id="{19D2ADAA-532E-4A18-949F-DC38B31C8B83}"/>
              </a:ext>
            </a:extLst>
          </p:cNvPr>
          <p:cNvSpPr>
            <a:spLocks noChangeShapeType="1"/>
          </p:cNvSpPr>
          <p:nvPr/>
        </p:nvSpPr>
        <p:spPr bwMode="auto">
          <a:xfrm>
            <a:off x="8421756" y="2324100"/>
            <a:ext cx="0" cy="2209800"/>
          </a:xfrm>
          <a:prstGeom prst="line">
            <a:avLst/>
          </a:prstGeom>
          <a:noFill/>
          <a:ln w="38100">
            <a:solidFill>
              <a:schemeClr val="tx1"/>
            </a:solidFill>
            <a:round/>
            <a:headEnd/>
            <a:tailEnd/>
          </a:ln>
        </p:spPr>
        <p:txBody>
          <a:bodyPr/>
          <a:lstStyle/>
          <a:p>
            <a:endParaRPr lang="en-US"/>
          </a:p>
        </p:txBody>
      </p:sp>
      <p:sp>
        <p:nvSpPr>
          <p:cNvPr id="15" name="Rectangle 52">
            <a:extLst>
              <a:ext uri="{FF2B5EF4-FFF2-40B4-BE49-F238E27FC236}">
                <a16:creationId xmlns:a16="http://schemas.microsoft.com/office/drawing/2014/main" id="{9D446A71-4F6B-480C-B34E-FAF11380B593}"/>
              </a:ext>
            </a:extLst>
          </p:cNvPr>
          <p:cNvSpPr>
            <a:spLocks noChangeArrowheads="1"/>
          </p:cNvSpPr>
          <p:nvPr/>
        </p:nvSpPr>
        <p:spPr bwMode="auto">
          <a:xfrm>
            <a:off x="7507356" y="2324100"/>
            <a:ext cx="3733800" cy="2209800"/>
          </a:xfrm>
          <a:prstGeom prst="rect">
            <a:avLst/>
          </a:prstGeom>
          <a:noFill/>
          <a:ln w="9525">
            <a:solidFill>
              <a:schemeClr val="tx1"/>
            </a:solidFill>
            <a:miter lim="800000"/>
            <a:headEnd/>
            <a:tailEnd/>
          </a:ln>
        </p:spPr>
        <p:txBody>
          <a:bodyPr wrap="none" anchor="ctr"/>
          <a:lstStyle/>
          <a:p>
            <a:endParaRPr lang="en-US"/>
          </a:p>
        </p:txBody>
      </p:sp>
      <p:sp>
        <p:nvSpPr>
          <p:cNvPr id="16" name="AutoShape 53">
            <a:extLst>
              <a:ext uri="{FF2B5EF4-FFF2-40B4-BE49-F238E27FC236}">
                <a16:creationId xmlns:a16="http://schemas.microsoft.com/office/drawing/2014/main" id="{7D0A0CFB-3271-4BAB-9434-052DFD09AF36}"/>
              </a:ext>
            </a:extLst>
          </p:cNvPr>
          <p:cNvSpPr>
            <a:spLocks noChangeArrowheads="1"/>
          </p:cNvSpPr>
          <p:nvPr/>
        </p:nvSpPr>
        <p:spPr bwMode="auto">
          <a:xfrm>
            <a:off x="7547113" y="3162301"/>
            <a:ext cx="152400" cy="228600"/>
          </a:xfrm>
          <a:prstGeom prst="star5">
            <a:avLst/>
          </a:prstGeom>
          <a:solidFill>
            <a:schemeClr val="accent1"/>
          </a:solidFill>
          <a:ln w="9525">
            <a:solidFill>
              <a:schemeClr val="tx1"/>
            </a:solidFill>
            <a:miter lim="800000"/>
            <a:headEnd/>
            <a:tailEnd/>
          </a:ln>
          <a:effectLst/>
        </p:spPr>
        <p:txBody>
          <a:bodyPr wrap="none" anchor="ctr"/>
          <a:lstStyle/>
          <a:p>
            <a:pPr>
              <a:defRPr/>
            </a:pPr>
            <a:endParaRPr lang="en-US"/>
          </a:p>
        </p:txBody>
      </p:sp>
      <p:sp>
        <p:nvSpPr>
          <p:cNvPr id="17" name="Line 54">
            <a:extLst>
              <a:ext uri="{FF2B5EF4-FFF2-40B4-BE49-F238E27FC236}">
                <a16:creationId xmlns:a16="http://schemas.microsoft.com/office/drawing/2014/main" id="{037E7708-494F-4D17-9375-D0967B2BE17B}"/>
              </a:ext>
            </a:extLst>
          </p:cNvPr>
          <p:cNvSpPr>
            <a:spLocks noChangeShapeType="1"/>
          </p:cNvSpPr>
          <p:nvPr/>
        </p:nvSpPr>
        <p:spPr bwMode="auto">
          <a:xfrm>
            <a:off x="1408043" y="3424989"/>
            <a:ext cx="0" cy="838200"/>
          </a:xfrm>
          <a:prstGeom prst="line">
            <a:avLst/>
          </a:prstGeom>
          <a:noFill/>
          <a:ln w="9525">
            <a:solidFill>
              <a:schemeClr val="tx1"/>
            </a:solidFill>
            <a:round/>
            <a:headEnd/>
            <a:tailEnd type="triangle" w="med" len="med"/>
          </a:ln>
        </p:spPr>
        <p:txBody>
          <a:bodyPr/>
          <a:lstStyle/>
          <a:p>
            <a:endParaRPr lang="en-US"/>
          </a:p>
        </p:txBody>
      </p:sp>
      <p:sp>
        <p:nvSpPr>
          <p:cNvPr id="18" name="Text Box 55">
            <a:extLst>
              <a:ext uri="{FF2B5EF4-FFF2-40B4-BE49-F238E27FC236}">
                <a16:creationId xmlns:a16="http://schemas.microsoft.com/office/drawing/2014/main" id="{59A3F61B-4BF8-4AA4-A843-BFFAF710D40A}"/>
              </a:ext>
            </a:extLst>
          </p:cNvPr>
          <p:cNvSpPr txBox="1">
            <a:spLocks noChangeArrowheads="1"/>
          </p:cNvSpPr>
          <p:nvPr/>
        </p:nvSpPr>
        <p:spPr bwMode="auto">
          <a:xfrm>
            <a:off x="1103243" y="3653589"/>
            <a:ext cx="241300" cy="400050"/>
          </a:xfrm>
          <a:prstGeom prst="rect">
            <a:avLst/>
          </a:prstGeom>
          <a:noFill/>
          <a:ln w="9525">
            <a:noFill/>
            <a:miter lim="800000"/>
            <a:headEnd/>
            <a:tailEnd/>
          </a:ln>
        </p:spPr>
        <p:txBody>
          <a:bodyPr>
            <a:spAutoFit/>
          </a:bodyPr>
          <a:lstStyle/>
          <a:p>
            <a:r>
              <a:rPr lang="en-US" sz="2000"/>
              <a:t>i</a:t>
            </a:r>
          </a:p>
        </p:txBody>
      </p:sp>
      <p:sp>
        <p:nvSpPr>
          <p:cNvPr id="19" name="Line 56">
            <a:extLst>
              <a:ext uri="{FF2B5EF4-FFF2-40B4-BE49-F238E27FC236}">
                <a16:creationId xmlns:a16="http://schemas.microsoft.com/office/drawing/2014/main" id="{A77B80A7-41AB-40B4-A8DB-8A47EA96BF8F}"/>
              </a:ext>
            </a:extLst>
          </p:cNvPr>
          <p:cNvSpPr>
            <a:spLocks noChangeShapeType="1"/>
          </p:cNvSpPr>
          <p:nvPr/>
        </p:nvSpPr>
        <p:spPr bwMode="auto">
          <a:xfrm>
            <a:off x="3034908" y="4810952"/>
            <a:ext cx="2057400" cy="0"/>
          </a:xfrm>
          <a:prstGeom prst="line">
            <a:avLst/>
          </a:prstGeom>
          <a:noFill/>
          <a:ln w="9525">
            <a:solidFill>
              <a:schemeClr val="tx1"/>
            </a:solidFill>
            <a:round/>
            <a:headEnd/>
            <a:tailEnd type="triangle" w="med" len="med"/>
          </a:ln>
        </p:spPr>
        <p:txBody>
          <a:bodyPr/>
          <a:lstStyle/>
          <a:p>
            <a:endParaRPr lang="en-US"/>
          </a:p>
        </p:txBody>
      </p:sp>
      <p:sp>
        <p:nvSpPr>
          <p:cNvPr id="20" name="Text Box 57">
            <a:extLst>
              <a:ext uri="{FF2B5EF4-FFF2-40B4-BE49-F238E27FC236}">
                <a16:creationId xmlns:a16="http://schemas.microsoft.com/office/drawing/2014/main" id="{37DF9DE4-C969-4952-9753-28A2B0DA8E4A}"/>
              </a:ext>
            </a:extLst>
          </p:cNvPr>
          <p:cNvSpPr txBox="1">
            <a:spLocks noChangeArrowheads="1"/>
          </p:cNvSpPr>
          <p:nvPr/>
        </p:nvSpPr>
        <p:spPr bwMode="auto">
          <a:xfrm>
            <a:off x="3822308" y="4839528"/>
            <a:ext cx="241300" cy="400050"/>
          </a:xfrm>
          <a:prstGeom prst="rect">
            <a:avLst/>
          </a:prstGeom>
          <a:noFill/>
          <a:ln w="9525">
            <a:noFill/>
            <a:miter lim="800000"/>
            <a:headEnd/>
            <a:tailEnd/>
          </a:ln>
        </p:spPr>
        <p:txBody>
          <a:bodyPr>
            <a:spAutoFit/>
          </a:bodyPr>
          <a:lstStyle/>
          <a:p>
            <a:r>
              <a:rPr lang="en-US" sz="2000" dirty="0"/>
              <a:t>j</a:t>
            </a:r>
          </a:p>
        </p:txBody>
      </p:sp>
      <p:sp>
        <p:nvSpPr>
          <p:cNvPr id="22" name="Rectangular Callout 18">
            <a:extLst>
              <a:ext uri="{FF2B5EF4-FFF2-40B4-BE49-F238E27FC236}">
                <a16:creationId xmlns:a16="http://schemas.microsoft.com/office/drawing/2014/main" id="{F57F1F9C-DE94-4013-957B-BEB123420115}"/>
              </a:ext>
            </a:extLst>
          </p:cNvPr>
          <p:cNvSpPr/>
          <p:nvPr/>
        </p:nvSpPr>
        <p:spPr bwMode="auto">
          <a:xfrm>
            <a:off x="8115657" y="5743576"/>
            <a:ext cx="1219200" cy="619125"/>
          </a:xfrm>
          <a:prstGeom prst="wedgeRectCallout">
            <a:avLst>
              <a:gd name="adj1" fmla="val -79324"/>
              <a:gd name="adj2" fmla="val -74967"/>
            </a:avLst>
          </a:prstGeom>
          <a:ln>
            <a:headEnd type="none" w="med" len="med"/>
            <a:tailEnd type="none" w="med" len="med"/>
          </a:ln>
        </p:spPr>
        <p:style>
          <a:lnRef idx="2">
            <a:schemeClr val="accent1"/>
          </a:lnRef>
          <a:fillRef idx="1">
            <a:schemeClr val="lt1"/>
          </a:fillRef>
          <a:effectRef idx="0">
            <a:schemeClr val="accent1"/>
          </a:effectRef>
          <a:fontRef idx="minor">
            <a:schemeClr val="dk1"/>
          </a:fontRef>
        </p:style>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r>
              <a:rPr kumimoji="0" lang="en-US" sz="2400" b="0" i="0" u="none" strike="noStrike" cap="none" normalizeH="0" baseline="0" dirty="0">
                <a:ln>
                  <a:noFill/>
                </a:ln>
                <a:solidFill>
                  <a:schemeClr val="tx1"/>
                </a:solidFill>
                <a:effectLst/>
                <a:latin typeface="Arial" charset="0"/>
                <a:ea typeface="ＭＳ Ｐゴシック" pitchFamily="16" charset="-128"/>
              </a:rPr>
              <a:t>Payoff</a:t>
            </a:r>
          </a:p>
        </p:txBody>
      </p:sp>
      <p:sp>
        <p:nvSpPr>
          <p:cNvPr id="23" name="Rectangle 49">
            <a:extLst>
              <a:ext uri="{FF2B5EF4-FFF2-40B4-BE49-F238E27FC236}">
                <a16:creationId xmlns:a16="http://schemas.microsoft.com/office/drawing/2014/main" id="{2314E211-8521-4A5F-B305-C26A2CA0E8A5}"/>
              </a:ext>
            </a:extLst>
          </p:cNvPr>
          <p:cNvSpPr>
            <a:spLocks noChangeArrowheads="1"/>
          </p:cNvSpPr>
          <p:nvPr/>
        </p:nvSpPr>
        <p:spPr bwMode="auto">
          <a:xfrm>
            <a:off x="8269356" y="2323783"/>
            <a:ext cx="2819400" cy="2362200"/>
          </a:xfrm>
          <a:prstGeom prst="rect">
            <a:avLst/>
          </a:prstGeom>
          <a:noFill/>
          <a:ln w="9525">
            <a:noFill/>
            <a:miter lim="800000"/>
            <a:headEnd/>
            <a:tailEnd/>
          </a:ln>
        </p:spPr>
        <p:txBody>
          <a:bodyPr/>
          <a:lstStyle/>
          <a:p>
            <a:pPr marL="533400" indent="-533400" algn="ctr" eaLnBrk="1" hangingPunct="1">
              <a:spcBef>
                <a:spcPct val="20000"/>
              </a:spcBef>
              <a:buClr>
                <a:schemeClr val="hlink"/>
              </a:buClr>
              <a:buSzPct val="65000"/>
              <a:buFont typeface="Wingdings" pitchFamily="2" charset="2"/>
              <a:buNone/>
              <a:tabLst>
                <a:tab pos="2624138" algn="r"/>
              </a:tabLst>
            </a:pPr>
            <a:r>
              <a:rPr lang="en-US" sz="2000" dirty="0"/>
              <a:t>Best Worst Case</a:t>
            </a:r>
          </a:p>
          <a:p>
            <a:pPr marL="533400" indent="-533400" algn="ctr" eaLnBrk="1" hangingPunct="1">
              <a:spcBef>
                <a:spcPct val="20000"/>
              </a:spcBef>
              <a:buClr>
                <a:schemeClr val="hlink"/>
              </a:buClr>
              <a:buSzPct val="65000"/>
              <a:buFont typeface="Wingdings" pitchFamily="2" charset="2"/>
              <a:buNone/>
              <a:tabLst>
                <a:tab pos="2624138" algn="r"/>
              </a:tabLst>
            </a:pPr>
            <a:endParaRPr lang="en-US" sz="2000" dirty="0"/>
          </a:p>
          <a:p>
            <a:pPr marL="533400" indent="-533400" eaLnBrk="1" hangingPunct="1">
              <a:spcBef>
                <a:spcPct val="20000"/>
              </a:spcBef>
              <a:buClr>
                <a:schemeClr val="hlink"/>
              </a:buClr>
              <a:buSzPct val="65000"/>
              <a:buFont typeface="Wingdings" pitchFamily="2" charset="2"/>
              <a:buNone/>
              <a:tabLst>
                <a:tab pos="2624138" algn="r"/>
              </a:tabLst>
            </a:pPr>
            <a:r>
              <a:rPr lang="en-US" sz="2000" dirty="0"/>
              <a:t>	 </a:t>
            </a:r>
            <a:r>
              <a:rPr lang="en-US" sz="2000" dirty="0">
                <a:solidFill>
                  <a:srgbClr val="FF0000"/>
                </a:solidFill>
              </a:rPr>
              <a:t>100</a:t>
            </a:r>
            <a:r>
              <a:rPr lang="en-US" sz="2000" dirty="0"/>
              <a:t> 	(j=1 or 2)</a:t>
            </a:r>
            <a:endParaRPr lang="en-US" sz="2000" baseline="-25000" dirty="0"/>
          </a:p>
          <a:p>
            <a:pPr marL="533400" indent="-533400" eaLnBrk="1" hangingPunct="1">
              <a:spcBef>
                <a:spcPct val="20000"/>
              </a:spcBef>
              <a:buClr>
                <a:schemeClr val="hlink"/>
              </a:buClr>
              <a:buSzPct val="65000"/>
              <a:buFont typeface="Wingdings" pitchFamily="2" charset="2"/>
              <a:buNone/>
              <a:tabLst>
                <a:tab pos="2624138" algn="r"/>
              </a:tabLst>
            </a:pPr>
            <a:r>
              <a:rPr lang="en-US" sz="2000" dirty="0"/>
              <a:t>	-200 	(j=1)</a:t>
            </a:r>
            <a:endParaRPr lang="en-US" sz="2000" baseline="-25000" dirty="0"/>
          </a:p>
          <a:p>
            <a:pPr marL="533400" indent="-533400" eaLnBrk="1" hangingPunct="1">
              <a:spcBef>
                <a:spcPct val="20000"/>
              </a:spcBef>
              <a:buClr>
                <a:schemeClr val="hlink"/>
              </a:buClr>
              <a:buSzPct val="65000"/>
              <a:buFont typeface="Wingdings" pitchFamily="2" charset="2"/>
              <a:buNone/>
              <a:tabLst>
                <a:tab pos="2624138" algn="r"/>
              </a:tabLst>
            </a:pPr>
            <a:r>
              <a:rPr lang="en-US" sz="2000" dirty="0"/>
              <a:t>	   0 	(j=1)</a:t>
            </a:r>
            <a:endParaRPr lang="en-US" sz="2000" baseline="-25000" dirty="0"/>
          </a:p>
          <a:p>
            <a:pPr marL="533400" indent="-533400" eaLnBrk="1" hangingPunct="1">
              <a:spcBef>
                <a:spcPct val="20000"/>
              </a:spcBef>
              <a:buClr>
                <a:schemeClr val="hlink"/>
              </a:buClr>
              <a:buSzPct val="65000"/>
              <a:buFont typeface="Wingdings" pitchFamily="2" charset="2"/>
              <a:buNone/>
              <a:tabLst>
                <a:tab pos="2624138" algn="r"/>
              </a:tabLst>
            </a:pPr>
            <a:r>
              <a:rPr lang="en-US" sz="2000" dirty="0"/>
              <a:t>	 </a:t>
            </a:r>
            <a:r>
              <a:rPr lang="en-US" sz="2000" dirty="0">
                <a:solidFill>
                  <a:srgbClr val="FF0000"/>
                </a:solidFill>
              </a:rPr>
              <a:t>100</a:t>
            </a:r>
            <a:r>
              <a:rPr lang="en-US" sz="2000" dirty="0"/>
              <a:t> 	(j=1)</a:t>
            </a:r>
            <a:endParaRPr lang="en-US" sz="2000" baseline="-25000" dirty="0"/>
          </a:p>
        </p:txBody>
      </p:sp>
      <p:sp>
        <p:nvSpPr>
          <p:cNvPr id="24" name="AutoShape 53">
            <a:extLst>
              <a:ext uri="{FF2B5EF4-FFF2-40B4-BE49-F238E27FC236}">
                <a16:creationId xmlns:a16="http://schemas.microsoft.com/office/drawing/2014/main" id="{1D74E672-BE5E-4F2F-A37A-5AAAD4791DB6}"/>
              </a:ext>
            </a:extLst>
          </p:cNvPr>
          <p:cNvSpPr>
            <a:spLocks noChangeArrowheads="1"/>
          </p:cNvSpPr>
          <p:nvPr/>
        </p:nvSpPr>
        <p:spPr bwMode="auto">
          <a:xfrm>
            <a:off x="7583555" y="4212585"/>
            <a:ext cx="152400" cy="228600"/>
          </a:xfrm>
          <a:prstGeom prst="star5">
            <a:avLst/>
          </a:prstGeom>
          <a:solidFill>
            <a:schemeClr val="accent1"/>
          </a:solidFill>
          <a:ln w="9525">
            <a:solidFill>
              <a:schemeClr val="tx1"/>
            </a:solidFill>
            <a:miter lim="800000"/>
            <a:headEnd/>
            <a:tailEnd/>
          </a:ln>
          <a:effectLst/>
        </p:spPr>
        <p:txBody>
          <a:bodyPr wrap="none" anchor="ctr"/>
          <a:lstStyle/>
          <a:p>
            <a:pPr>
              <a:defRPr/>
            </a:pPr>
            <a:endParaRPr lang="en-US"/>
          </a:p>
        </p:txBody>
      </p:sp>
      <p:sp>
        <p:nvSpPr>
          <p:cNvPr id="25" name="Text Box 3">
            <a:extLst>
              <a:ext uri="{FF2B5EF4-FFF2-40B4-BE49-F238E27FC236}">
                <a16:creationId xmlns:a16="http://schemas.microsoft.com/office/drawing/2014/main" id="{DDABB62C-4BE9-487D-BC2F-59ED7F3D54BF}"/>
              </a:ext>
            </a:extLst>
          </p:cNvPr>
          <p:cNvSpPr txBox="1">
            <a:spLocks noChangeArrowheads="1"/>
          </p:cNvSpPr>
          <p:nvPr/>
        </p:nvSpPr>
        <p:spPr bwMode="auto">
          <a:xfrm>
            <a:off x="523812" y="5923584"/>
            <a:ext cx="4666662" cy="230832"/>
          </a:xfrm>
          <a:prstGeom prst="rect">
            <a:avLst/>
          </a:prstGeom>
          <a:noFill/>
          <a:ln w="12700">
            <a:noFill/>
            <a:miter lim="800000"/>
            <a:headEnd/>
            <a:tailEnd/>
          </a:ln>
        </p:spPr>
        <p:txBody>
          <a:bodyPr wrap="none">
            <a:spAutoFit/>
          </a:bodyPr>
          <a:lstStyle/>
          <a:p>
            <a:pPr algn="ctr"/>
            <a:r>
              <a:rPr lang="en-US" sz="900"/>
              <a:t>(Adapted From: Blanchard and Fabrycky, “System Engineering and Analysis, Prentice Hall, 1998)</a:t>
            </a:r>
          </a:p>
        </p:txBody>
      </p:sp>
    </p:spTree>
    <p:extLst>
      <p:ext uri="{BB962C8B-B14F-4D97-AF65-F5344CB8AC3E}">
        <p14:creationId xmlns:p14="http://schemas.microsoft.com/office/powerpoint/2010/main" val="338971543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Decision Making under Uncertainty</a:t>
            </a:r>
          </a:p>
        </p:txBody>
      </p:sp>
      <p:sp>
        <p:nvSpPr>
          <p:cNvPr id="3" name="Content Placeholder 2"/>
          <p:cNvSpPr>
            <a:spLocks noGrp="1"/>
          </p:cNvSpPr>
          <p:nvPr>
            <p:ph idx="1"/>
          </p:nvPr>
        </p:nvSpPr>
        <p:spPr/>
        <p:txBody>
          <a:bodyPr/>
          <a:lstStyle/>
          <a:p>
            <a:r>
              <a:rPr lang="en-US" b="1" u="sng" dirty="0">
                <a:solidFill>
                  <a:srgbClr val="C00000"/>
                </a:solidFill>
              </a:rPr>
              <a:t>Laplace Criterion (equally likely criterion)</a:t>
            </a:r>
          </a:p>
          <a:p>
            <a:pPr lvl="1"/>
            <a:r>
              <a:rPr lang="en-US" dirty="0"/>
              <a:t>Assumes that probability of each occurrence is identical</a:t>
            </a:r>
          </a:p>
          <a:p>
            <a:pPr lvl="1"/>
            <a:r>
              <a:rPr lang="en-US" b="1" u="sng" dirty="0"/>
              <a:t>Procedure:</a:t>
            </a:r>
          </a:p>
          <a:p>
            <a:pPr lvl="2"/>
            <a:r>
              <a:rPr lang="en-US" dirty="0"/>
              <a:t>Assign equal probabilities to the states of natures (sum of the probabilities will be 1).</a:t>
            </a:r>
          </a:p>
          <a:p>
            <a:pPr lvl="2"/>
            <a:r>
              <a:rPr lang="en-US" dirty="0"/>
              <a:t>Calculate the expected payoff for each alternative (average payoff for the alternative)</a:t>
            </a:r>
          </a:p>
          <a:p>
            <a:pPr lvl="2"/>
            <a:r>
              <a:rPr lang="en-US" dirty="0"/>
              <a:t>Choose the alternative with the best payoff.</a:t>
            </a:r>
          </a:p>
          <a:p>
            <a:pPr lvl="8"/>
            <a:endParaRPr lang="en-US" dirty="0"/>
          </a:p>
          <a:p>
            <a:pPr lvl="1"/>
            <a:r>
              <a:rPr lang="en-US" b="1" u="sng" dirty="0"/>
              <a:t>Case: The </a:t>
            </a:r>
            <a:r>
              <a:rPr lang="en-US" b="1" u="sng" dirty="0" err="1"/>
              <a:t>Goferbroke</a:t>
            </a:r>
            <a:r>
              <a:rPr lang="en-US" b="1" u="sng" dirty="0"/>
              <a:t> Company Problem</a:t>
            </a:r>
            <a:endParaRPr lang="en-US" dirty="0"/>
          </a:p>
          <a:p>
            <a:endParaRPr lang="en-US" sz="2400" b="1" dirty="0"/>
          </a:p>
          <a:p>
            <a:pPr lvl="1"/>
            <a:endParaRPr lang="en-US" dirty="0"/>
          </a:p>
          <a:p>
            <a:pPr lvl="1"/>
            <a:endParaRPr lang="en-US" dirty="0"/>
          </a:p>
        </p:txBody>
      </p:sp>
      <p:graphicFrame>
        <p:nvGraphicFramePr>
          <p:cNvPr id="8" name="Group 72">
            <a:extLst>
              <a:ext uri="{FF2B5EF4-FFF2-40B4-BE49-F238E27FC236}">
                <a16:creationId xmlns:a16="http://schemas.microsoft.com/office/drawing/2014/main" id="{8E6606C0-D80A-4640-92E8-330CFBD3A9B2}"/>
              </a:ext>
            </a:extLst>
          </p:cNvPr>
          <p:cNvGraphicFramePr>
            <a:graphicFrameLocks noGrp="1"/>
          </p:cNvGraphicFramePr>
          <p:nvPr>
            <p:extLst>
              <p:ext uri="{D42A27DB-BD31-4B8C-83A1-F6EECF244321}">
                <p14:modId xmlns:p14="http://schemas.microsoft.com/office/powerpoint/2010/main" val="3888574820"/>
              </p:ext>
            </p:extLst>
          </p:nvPr>
        </p:nvGraphicFramePr>
        <p:xfrm>
          <a:off x="1129747" y="4379540"/>
          <a:ext cx="7086601" cy="1905000"/>
        </p:xfrm>
        <a:graphic>
          <a:graphicData uri="http://schemas.openxmlformats.org/drawingml/2006/table">
            <a:tbl>
              <a:tblPr/>
              <a:tblGrid>
                <a:gridCol w="1750305">
                  <a:extLst>
                    <a:ext uri="{9D8B030D-6E8A-4147-A177-3AD203B41FA5}">
                      <a16:colId xmlns:a16="http://schemas.microsoft.com/office/drawing/2014/main" val="20000"/>
                    </a:ext>
                  </a:extLst>
                </a:gridCol>
                <a:gridCol w="1494163">
                  <a:extLst>
                    <a:ext uri="{9D8B030D-6E8A-4147-A177-3AD203B41FA5}">
                      <a16:colId xmlns:a16="http://schemas.microsoft.com/office/drawing/2014/main" val="20001"/>
                    </a:ext>
                  </a:extLst>
                </a:gridCol>
                <a:gridCol w="1536853">
                  <a:extLst>
                    <a:ext uri="{9D8B030D-6E8A-4147-A177-3AD203B41FA5}">
                      <a16:colId xmlns:a16="http://schemas.microsoft.com/office/drawing/2014/main" val="20002"/>
                    </a:ext>
                  </a:extLst>
                </a:gridCol>
                <a:gridCol w="2305280">
                  <a:extLst>
                    <a:ext uri="{9D8B030D-6E8A-4147-A177-3AD203B41FA5}">
                      <a16:colId xmlns:a16="http://schemas.microsoft.com/office/drawing/2014/main" val="20003"/>
                    </a:ext>
                  </a:extLst>
                </a:gridCol>
              </a:tblGrid>
              <a:tr h="476250">
                <a:tc>
                  <a:txBody>
                    <a:bodyPr/>
                    <a:lstStyle/>
                    <a:p>
                      <a:pPr marL="0" marR="0" lvl="0" indent="0" algn="l" defTabSz="914400" rtl="0" eaLnBrk="1" fontAlgn="base" latinLnBrk="0" hangingPunct="1">
                        <a:lnSpc>
                          <a:spcPct val="100000"/>
                        </a:lnSpc>
                        <a:spcBef>
                          <a:spcPct val="100000"/>
                        </a:spcBef>
                        <a:spcAft>
                          <a:spcPct val="0"/>
                        </a:spcAft>
                        <a:buClrTx/>
                        <a:buSzTx/>
                        <a:buFontTx/>
                        <a:buNone/>
                        <a:tabLst/>
                      </a:pPr>
                      <a:endParaRPr kumimoji="0" lang="en-US" sz="1600" b="1" i="0" u="none" strike="noStrike" cap="none" normalizeH="0" baseline="0" dirty="0">
                        <a:ln>
                          <a:noFill/>
                        </a:ln>
                        <a:solidFill>
                          <a:schemeClr val="tx1"/>
                        </a:solidFill>
                        <a:effectLst/>
                        <a:latin typeface="Times New Roman" pitchFamily="1" charset="0"/>
                      </a:endParaRPr>
                    </a:p>
                  </a:txBody>
                  <a:tcPr marT="45731" marB="45731" horzOverflow="overflow">
                    <a:lnL cap="flat">
                      <a:noFill/>
                    </a:lnL>
                    <a:lnR>
                      <a:noFill/>
                    </a:lnR>
                    <a:lnT cap="flat">
                      <a:noFill/>
                    </a:lnT>
                    <a:lnB>
                      <a:noFill/>
                    </a:lnB>
                    <a:lnTlToBr>
                      <a:noFill/>
                    </a:lnTlToBr>
                    <a:lnBlToTr>
                      <a:noFill/>
                    </a:lnBlToTr>
                    <a:noFill/>
                  </a:tcPr>
                </a:tc>
                <a:tc gridSpan="2">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r>
                        <a:rPr kumimoji="0" lang="en-US" sz="1600" b="1" i="0" u="none" strike="noStrike" cap="none" normalizeH="0" baseline="0" dirty="0">
                          <a:ln>
                            <a:noFill/>
                          </a:ln>
                          <a:solidFill>
                            <a:schemeClr val="tx1"/>
                          </a:solidFill>
                          <a:effectLst/>
                          <a:latin typeface="Times New Roman" pitchFamily="1" charset="0"/>
                        </a:rPr>
                        <a:t>State of Nature</a:t>
                      </a:r>
                    </a:p>
                  </a:txBody>
                  <a:tcPr marT="45731" marB="45731" horzOverflow="overflow">
                    <a:lnL>
                      <a:noFill/>
                    </a:lnL>
                    <a:lnR>
                      <a:noFill/>
                    </a:lnR>
                    <a:lnT cap="flat">
                      <a:noFill/>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en-US"/>
                    </a:p>
                  </a:txBody>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endParaRPr kumimoji="0" lang="en-US" sz="1600" b="1" i="0" u="none" strike="noStrike" cap="none" normalizeH="0" baseline="0">
                        <a:ln>
                          <a:noFill/>
                        </a:ln>
                        <a:solidFill>
                          <a:schemeClr val="tx1"/>
                        </a:solidFill>
                        <a:effectLst/>
                        <a:latin typeface="Times New Roman" pitchFamily="1" charset="0"/>
                      </a:endParaRPr>
                    </a:p>
                  </a:txBody>
                  <a:tcPr marT="45731" marB="45731" horzOverflow="overflow">
                    <a:lnL>
                      <a:noFill/>
                    </a:lnL>
                    <a:lnR cap="flat">
                      <a:noFill/>
                    </a:lnR>
                    <a:lnT cap="flat">
                      <a:noFill/>
                    </a:lnT>
                    <a:lnB>
                      <a:noFill/>
                    </a:lnB>
                    <a:lnTlToBr>
                      <a:noFill/>
                    </a:lnTlToBr>
                    <a:lnBlToTr>
                      <a:noFill/>
                    </a:lnBlToTr>
                    <a:noFill/>
                  </a:tcPr>
                </a:tc>
                <a:extLst>
                  <a:ext uri="{0D108BD9-81ED-4DB2-BD59-A6C34878D82A}">
                    <a16:rowId xmlns:a16="http://schemas.microsoft.com/office/drawing/2014/main" val="10000"/>
                  </a:ext>
                </a:extLst>
              </a:tr>
              <a:tr h="476250">
                <a:tc>
                  <a:txBody>
                    <a:bodyPr/>
                    <a:lstStyle/>
                    <a:p>
                      <a:pPr marL="0" marR="0" lvl="0" indent="0" algn="l" defTabSz="914400" rtl="0" eaLnBrk="1" fontAlgn="base" latinLnBrk="0" hangingPunct="1">
                        <a:lnSpc>
                          <a:spcPct val="100000"/>
                        </a:lnSpc>
                        <a:spcBef>
                          <a:spcPct val="100000"/>
                        </a:spcBef>
                        <a:spcAft>
                          <a:spcPct val="0"/>
                        </a:spcAft>
                        <a:buClrTx/>
                        <a:buSzTx/>
                        <a:buFontTx/>
                        <a:buNone/>
                        <a:tabLst/>
                      </a:pPr>
                      <a:r>
                        <a:rPr kumimoji="0" lang="en-US" sz="1600" b="1" i="0" u="none" strike="noStrike" cap="none" normalizeH="0" baseline="0">
                          <a:ln>
                            <a:noFill/>
                          </a:ln>
                          <a:solidFill>
                            <a:schemeClr val="tx1"/>
                          </a:solidFill>
                          <a:effectLst/>
                          <a:latin typeface="Times New Roman" pitchFamily="1" charset="0"/>
                        </a:rPr>
                        <a:t>Alternative</a:t>
                      </a:r>
                    </a:p>
                  </a:txBody>
                  <a:tcPr marT="45731" marB="45731" horzOverflow="overflow">
                    <a:lnL cap="flat">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r>
                        <a:rPr kumimoji="0" lang="en-US" sz="1600" b="1" i="0" u="none" strike="noStrike" cap="none" normalizeH="0" baseline="0" dirty="0">
                          <a:ln>
                            <a:noFill/>
                          </a:ln>
                          <a:solidFill>
                            <a:schemeClr val="tx1"/>
                          </a:solidFill>
                          <a:effectLst/>
                          <a:latin typeface="Times New Roman" pitchFamily="1" charset="0"/>
                        </a:rPr>
                        <a:t>Oil</a:t>
                      </a:r>
                    </a:p>
                  </a:txBody>
                  <a:tcPr marT="45731" marB="45731" horzOverflow="overflow">
                    <a:lnL>
                      <a:noFill/>
                    </a:lnL>
                    <a:lnR>
                      <a:noFill/>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r>
                        <a:rPr kumimoji="0" lang="en-US" sz="1600" b="1" i="0" u="none" strike="noStrike" cap="none" normalizeH="0" baseline="0">
                          <a:ln>
                            <a:noFill/>
                          </a:ln>
                          <a:solidFill>
                            <a:schemeClr val="tx1"/>
                          </a:solidFill>
                          <a:effectLst/>
                          <a:latin typeface="Times New Roman" pitchFamily="1" charset="0"/>
                        </a:rPr>
                        <a:t>Dry</a:t>
                      </a:r>
                    </a:p>
                  </a:txBody>
                  <a:tcPr marT="45731" marB="45731" horzOverflow="overflow">
                    <a:lnL>
                      <a:noFill/>
                    </a:lnL>
                    <a:lnR>
                      <a:noFill/>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100000"/>
                        </a:spcBef>
                        <a:spcAft>
                          <a:spcPct val="0"/>
                        </a:spcAft>
                        <a:buClrTx/>
                        <a:buSzTx/>
                        <a:buFontTx/>
                        <a:buNone/>
                        <a:tabLst/>
                      </a:pPr>
                      <a:r>
                        <a:rPr kumimoji="0" lang="en-US" sz="1600" b="1" i="0" u="none" strike="noStrike" cap="none" normalizeH="0" baseline="0" dirty="0">
                          <a:ln>
                            <a:noFill/>
                          </a:ln>
                          <a:solidFill>
                            <a:schemeClr val="tx1"/>
                          </a:solidFill>
                          <a:effectLst/>
                          <a:latin typeface="Times New Roman" pitchFamily="1" charset="0"/>
                        </a:rPr>
                        <a:t>Average Payoff</a:t>
                      </a:r>
                    </a:p>
                  </a:txBody>
                  <a:tcPr marT="45731" marB="45731"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01"/>
                  </a:ext>
                </a:extLst>
              </a:tr>
              <a:tr h="476250">
                <a:tc>
                  <a:txBody>
                    <a:bodyPr/>
                    <a:lstStyle/>
                    <a:p>
                      <a:pPr marL="0" marR="0" lvl="0" indent="0" algn="l" defTabSz="914400" rtl="0" eaLnBrk="1" fontAlgn="base" latinLnBrk="0" hangingPunct="1">
                        <a:lnSpc>
                          <a:spcPct val="100000"/>
                        </a:lnSpc>
                        <a:spcBef>
                          <a:spcPct val="10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 charset="0"/>
                        </a:rPr>
                        <a:t>Drill for oil</a:t>
                      </a:r>
                    </a:p>
                  </a:txBody>
                  <a:tcPr marT="45731" marB="45731" horzOverflow="overflow">
                    <a:lnL cap="flat">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 charset="0"/>
                        </a:rPr>
                        <a:t>700</a:t>
                      </a:r>
                    </a:p>
                  </a:txBody>
                  <a:tcPr marT="45731" marB="45731"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 charset="0"/>
                        </a:rPr>
                        <a:t>–100</a:t>
                      </a:r>
                    </a:p>
                  </a:txBody>
                  <a:tcPr marT="45731" marB="45731" horzOverflow="overflow">
                    <a:lnL>
                      <a:noFill/>
                    </a:lnL>
                    <a:lnR>
                      <a:noFill/>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100000"/>
                        </a:spcBef>
                        <a:spcAft>
                          <a:spcPct val="0"/>
                        </a:spcAft>
                        <a:buClrTx/>
                        <a:buSzTx/>
                        <a:buFontTx/>
                        <a:buNone/>
                        <a:tabLst/>
                      </a:pPr>
                      <a:r>
                        <a:rPr kumimoji="0" lang="en-US" sz="1600" b="0" i="0" u="none" strike="noStrike" cap="none" normalizeH="0" baseline="0" dirty="0">
                          <a:ln>
                            <a:noFill/>
                          </a:ln>
                          <a:solidFill>
                            <a:schemeClr val="tx1"/>
                          </a:solidFill>
                          <a:effectLst/>
                          <a:latin typeface="Times New Roman" pitchFamily="1" charset="0"/>
                        </a:rPr>
                        <a:t>300  </a:t>
                      </a:r>
                      <a:r>
                        <a:rPr kumimoji="0" lang="en-US" sz="1600" b="0" i="0" u="none" strike="noStrike" cap="none" normalizeH="0" baseline="0" dirty="0">
                          <a:ln>
                            <a:noFill/>
                          </a:ln>
                          <a:solidFill>
                            <a:schemeClr val="tx1"/>
                          </a:solidFill>
                          <a:effectLst/>
                          <a:latin typeface="Times New Roman" pitchFamily="1" charset="0"/>
                          <a:sym typeface="Symbol" pitchFamily="1" charset="2"/>
                        </a:rPr>
                        <a:t></a:t>
                      </a:r>
                      <a:r>
                        <a:rPr kumimoji="0" lang="en-US" sz="1600" b="0" i="0" u="none" strike="noStrike" cap="none" normalizeH="0" baseline="0" dirty="0">
                          <a:ln>
                            <a:noFill/>
                          </a:ln>
                          <a:solidFill>
                            <a:schemeClr val="tx1"/>
                          </a:solidFill>
                          <a:effectLst/>
                          <a:latin typeface="Times New Roman" pitchFamily="1" charset="0"/>
                        </a:rPr>
                        <a:t> Max Average</a:t>
                      </a:r>
                    </a:p>
                  </a:txBody>
                  <a:tcPr marT="45731" marB="45731"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02"/>
                  </a:ext>
                </a:extLst>
              </a:tr>
              <a:tr h="476250">
                <a:tc>
                  <a:txBody>
                    <a:bodyPr/>
                    <a:lstStyle/>
                    <a:p>
                      <a:pPr marL="0" marR="0" lvl="0" indent="0" algn="l" defTabSz="914400" rtl="0" eaLnBrk="1" fontAlgn="base" latinLnBrk="0" hangingPunct="1">
                        <a:lnSpc>
                          <a:spcPct val="100000"/>
                        </a:lnSpc>
                        <a:spcBef>
                          <a:spcPct val="100000"/>
                        </a:spcBef>
                        <a:spcAft>
                          <a:spcPct val="0"/>
                        </a:spcAft>
                        <a:buClrTx/>
                        <a:buSzTx/>
                        <a:buFontTx/>
                        <a:buNone/>
                        <a:tabLst/>
                      </a:pPr>
                      <a:r>
                        <a:rPr kumimoji="0" lang="en-US" sz="1600" b="0" i="0" u="none" strike="noStrike" cap="none" normalizeH="0" baseline="0" dirty="0">
                          <a:ln>
                            <a:noFill/>
                          </a:ln>
                          <a:solidFill>
                            <a:schemeClr val="tx1"/>
                          </a:solidFill>
                          <a:effectLst/>
                          <a:latin typeface="Times New Roman" pitchFamily="1" charset="0"/>
                        </a:rPr>
                        <a:t>Sell the land</a:t>
                      </a:r>
                    </a:p>
                  </a:txBody>
                  <a:tcPr marT="45731" marB="45731" horzOverflow="overflow">
                    <a:lnL cap="flat">
                      <a:noFill/>
                    </a:lnL>
                    <a:lnR>
                      <a:noFill/>
                    </a:lnR>
                    <a:lnT>
                      <a:noFill/>
                    </a:lnT>
                    <a:lnB cap="flat">
                      <a:noFill/>
                    </a:lnB>
                    <a:lnTlToBr>
                      <a:noFill/>
                    </a:lnTlToBr>
                    <a:lnBlToTr>
                      <a:noFill/>
                    </a:lnBlToTr>
                    <a:noFill/>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 charset="0"/>
                        </a:rPr>
                        <a:t>90</a:t>
                      </a:r>
                    </a:p>
                  </a:txBody>
                  <a:tcPr marT="45731" marB="45731" horzOverflow="overflow">
                    <a:lnL>
                      <a:noFill/>
                    </a:lnL>
                    <a:lnR>
                      <a:noFill/>
                    </a:lnR>
                    <a:lnT>
                      <a:noFill/>
                    </a:lnT>
                    <a:lnB cap="flat">
                      <a:noFill/>
                    </a:lnB>
                    <a:lnTlToBr>
                      <a:noFill/>
                    </a:lnTlToBr>
                    <a:lnBlToTr>
                      <a:noFill/>
                    </a:lnBlToTr>
                    <a:noFill/>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r>
                        <a:rPr kumimoji="0" lang="en-US" sz="1600" b="0" i="0" u="none" strike="noStrike" cap="none" normalizeH="0" baseline="0" dirty="0">
                          <a:ln>
                            <a:noFill/>
                          </a:ln>
                          <a:solidFill>
                            <a:schemeClr val="tx1"/>
                          </a:solidFill>
                          <a:effectLst/>
                          <a:latin typeface="Times New Roman" pitchFamily="1" charset="0"/>
                        </a:rPr>
                        <a:t>90</a:t>
                      </a:r>
                    </a:p>
                  </a:txBody>
                  <a:tcPr marT="45731" marB="45731" horzOverflow="overflow">
                    <a:lnL>
                      <a:noFill/>
                    </a:lnL>
                    <a:lnR>
                      <a:noFill/>
                    </a:lnR>
                    <a:lnT>
                      <a:noFill/>
                    </a:lnT>
                    <a:lnB cap="flat">
                      <a:noFill/>
                    </a:lnB>
                    <a:lnTlToBr>
                      <a:noFill/>
                    </a:lnTlToBr>
                    <a:lnBlToTr>
                      <a:noFill/>
                    </a:lnBlToTr>
                    <a:noFill/>
                  </a:tcPr>
                </a:tc>
                <a:tc>
                  <a:txBody>
                    <a:bodyPr/>
                    <a:lstStyle/>
                    <a:p>
                      <a:pPr marL="0" marR="0" lvl="0" indent="0" algn="l" defTabSz="914400" rtl="0" eaLnBrk="1" fontAlgn="base" latinLnBrk="0" hangingPunct="1">
                        <a:lnSpc>
                          <a:spcPct val="100000"/>
                        </a:lnSpc>
                        <a:spcBef>
                          <a:spcPct val="100000"/>
                        </a:spcBef>
                        <a:spcAft>
                          <a:spcPct val="0"/>
                        </a:spcAft>
                        <a:buClrTx/>
                        <a:buSzTx/>
                        <a:buFontTx/>
                        <a:buNone/>
                        <a:tabLst/>
                      </a:pPr>
                      <a:r>
                        <a:rPr kumimoji="0" lang="en-US" sz="1600" b="0" i="0" u="none" strike="noStrike" cap="none" normalizeH="0" baseline="0" dirty="0">
                          <a:ln>
                            <a:noFill/>
                          </a:ln>
                          <a:solidFill>
                            <a:schemeClr val="tx1"/>
                          </a:solidFill>
                          <a:effectLst/>
                          <a:latin typeface="Times New Roman" pitchFamily="1" charset="0"/>
                        </a:rPr>
                        <a:t>90</a:t>
                      </a:r>
                    </a:p>
                  </a:txBody>
                  <a:tcPr marT="45731" marB="45731" horzOverflow="overflow">
                    <a:lnL>
                      <a:noFill/>
                    </a:lnL>
                    <a:lnR cap="flat">
                      <a:noFill/>
                    </a:lnR>
                    <a:lnT>
                      <a:noFill/>
                    </a:lnT>
                    <a:lnB cap="flat">
                      <a:noFill/>
                    </a:lnB>
                    <a:lnTlToBr>
                      <a:noFill/>
                    </a:lnTlToBr>
                    <a:lnBlToTr>
                      <a:noFill/>
                    </a:lnBlToTr>
                    <a:noFill/>
                  </a:tcPr>
                </a:tc>
                <a:extLst>
                  <a:ext uri="{0D108BD9-81ED-4DB2-BD59-A6C34878D82A}">
                    <a16:rowId xmlns:a16="http://schemas.microsoft.com/office/drawing/2014/main" val="10003"/>
                  </a:ext>
                </a:extLst>
              </a:tr>
            </a:tbl>
          </a:graphicData>
        </a:graphic>
      </p:graphicFrame>
      <p:sp>
        <p:nvSpPr>
          <p:cNvPr id="9" name="TextBox 8">
            <a:extLst>
              <a:ext uri="{FF2B5EF4-FFF2-40B4-BE49-F238E27FC236}">
                <a16:creationId xmlns:a16="http://schemas.microsoft.com/office/drawing/2014/main" id="{DB27C3AA-06F9-4136-909F-D671BC4DE7E4}"/>
              </a:ext>
            </a:extLst>
          </p:cNvPr>
          <p:cNvSpPr txBox="1"/>
          <p:nvPr/>
        </p:nvSpPr>
        <p:spPr>
          <a:xfrm>
            <a:off x="8587823" y="4951342"/>
            <a:ext cx="2077278" cy="923330"/>
          </a:xfrm>
          <a:prstGeom prst="rect">
            <a:avLst/>
          </a:prstGeom>
          <a:noFill/>
        </p:spPr>
        <p:txBody>
          <a:bodyPr wrap="square" rtlCol="0">
            <a:spAutoFit/>
          </a:bodyPr>
          <a:lstStyle/>
          <a:p>
            <a:r>
              <a:rPr lang="en-US" dirty="0"/>
              <a:t>Under Laplace criterion, you should </a:t>
            </a:r>
            <a:r>
              <a:rPr lang="en-US" b="1" dirty="0">
                <a:solidFill>
                  <a:srgbClr val="C00000"/>
                </a:solidFill>
              </a:rPr>
              <a:t>drill for oil</a:t>
            </a:r>
            <a:r>
              <a:rPr lang="en-US" dirty="0"/>
              <a:t>.</a:t>
            </a:r>
          </a:p>
        </p:txBody>
      </p:sp>
      <p:sp>
        <p:nvSpPr>
          <p:cNvPr id="10" name="Right Brace 9">
            <a:extLst>
              <a:ext uri="{FF2B5EF4-FFF2-40B4-BE49-F238E27FC236}">
                <a16:creationId xmlns:a16="http://schemas.microsoft.com/office/drawing/2014/main" id="{AE7A36A1-8BBC-421D-8FE0-2F8F21AD4A11}"/>
              </a:ext>
            </a:extLst>
          </p:cNvPr>
          <p:cNvSpPr/>
          <p:nvPr/>
        </p:nvSpPr>
        <p:spPr>
          <a:xfrm>
            <a:off x="7844873" y="4541473"/>
            <a:ext cx="742950" cy="1743067"/>
          </a:xfrm>
          <a:prstGeom prst="rightBrace">
            <a:avLst/>
          </a:prstGeom>
          <a:ln>
            <a:solidFill>
              <a:srgbClr val="C0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Tree>
    <p:extLst>
      <p:ext uri="{BB962C8B-B14F-4D97-AF65-F5344CB8AC3E}">
        <p14:creationId xmlns:p14="http://schemas.microsoft.com/office/powerpoint/2010/main" val="22318561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8"/>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0"/>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0"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Decision Making under Uncertainty</a:t>
            </a:r>
          </a:p>
        </p:txBody>
      </p:sp>
      <p:sp>
        <p:nvSpPr>
          <p:cNvPr id="3" name="Content Placeholder 2"/>
          <p:cNvSpPr>
            <a:spLocks noGrp="1"/>
          </p:cNvSpPr>
          <p:nvPr>
            <p:ph idx="1"/>
          </p:nvPr>
        </p:nvSpPr>
        <p:spPr/>
        <p:txBody>
          <a:bodyPr/>
          <a:lstStyle/>
          <a:p>
            <a:r>
              <a:rPr lang="en-US" b="1" u="sng" dirty="0">
                <a:solidFill>
                  <a:srgbClr val="C00000"/>
                </a:solidFill>
              </a:rPr>
              <a:t>Laplace Criterion (not in the book)</a:t>
            </a:r>
          </a:p>
          <a:p>
            <a:pPr lvl="1"/>
            <a:r>
              <a:rPr lang="en-US" b="1" u="sng" dirty="0"/>
              <a:t>Case: Another example (not in the textbook)</a:t>
            </a:r>
            <a:endParaRPr lang="en-US" dirty="0"/>
          </a:p>
          <a:p>
            <a:endParaRPr lang="en-US" sz="2400" b="1" dirty="0"/>
          </a:p>
          <a:p>
            <a:pPr lvl="1"/>
            <a:endParaRPr lang="en-US" dirty="0"/>
          </a:p>
          <a:p>
            <a:pPr lvl="1"/>
            <a:endParaRPr lang="en-US" dirty="0"/>
          </a:p>
        </p:txBody>
      </p:sp>
      <mc:AlternateContent xmlns:mc="http://schemas.openxmlformats.org/markup-compatibility/2006" xmlns:a14="http://schemas.microsoft.com/office/drawing/2010/main">
        <mc:Choice Requires="a14">
          <p:sp>
            <p:nvSpPr>
              <p:cNvPr id="9" name="Object 2">
                <a:extLst>
                  <a:ext uri="{FF2B5EF4-FFF2-40B4-BE49-F238E27FC236}">
                    <a16:creationId xmlns:a16="http://schemas.microsoft.com/office/drawing/2014/main" id="{B6E2069E-DB53-40DC-B46D-945A7D54E9E6}"/>
                  </a:ext>
                </a:extLst>
              </p:cNvPr>
              <p:cNvSpPr txBox="1"/>
              <p:nvPr/>
            </p:nvSpPr>
            <p:spPr bwMode="auto">
              <a:xfrm>
                <a:off x="5268290" y="4828415"/>
                <a:ext cx="4144065" cy="822325"/>
              </a:xfrm>
              <a:prstGeom prst="rect">
                <a:avLst/>
              </a:prstGeom>
              <a:noFill/>
            </p:spPr>
            <p:txBody>
              <a:bodyPr>
                <a:noAutofit/>
              </a:bodyPr>
              <a:lstStyle/>
              <a:p>
                <a:pPr/>
                <a14:m>
                  <m:oMathPara xmlns:m="http://schemas.openxmlformats.org/officeDocument/2006/math">
                    <m:oMathParaPr>
                      <m:jc m:val="left"/>
                    </m:oMathParaPr>
                    <m:oMath xmlns:m="http://schemas.openxmlformats.org/officeDocument/2006/math">
                      <m:limLow>
                        <m:limLowPr>
                          <m:ctrlPr>
                            <a:rPr lang="en-US" sz="2400" i="1" smtClean="0">
                              <a:solidFill>
                                <a:srgbClr val="000000"/>
                              </a:solidFill>
                              <a:latin typeface="Cambria Math" panose="02040503050406030204" pitchFamily="18" charset="0"/>
                            </a:rPr>
                          </m:ctrlPr>
                        </m:limLowPr>
                        <m:e>
                          <m:r>
                            <m:rPr>
                              <m:sty m:val="p"/>
                            </m:rPr>
                            <a:rPr lang="en-US" sz="2400" i="0">
                              <a:solidFill>
                                <a:srgbClr val="000000"/>
                              </a:solidFill>
                              <a:latin typeface="Cambria Math" panose="02040503050406030204" pitchFamily="18" charset="0"/>
                            </a:rPr>
                            <m:t>max</m:t>
                          </m:r>
                        </m:e>
                        <m:lim>
                          <m:r>
                            <a:rPr lang="en-US" sz="2400" i="1">
                              <a:solidFill>
                                <a:srgbClr val="000000"/>
                              </a:solidFill>
                              <a:latin typeface="Cambria Math" panose="02040503050406030204" pitchFamily="18" charset="0"/>
                            </a:rPr>
                            <m:t>𝑖</m:t>
                          </m:r>
                        </m:lim>
                      </m:limLow>
                      <m:r>
                        <a:rPr lang="en-US" sz="2400" i="1">
                          <a:solidFill>
                            <a:srgbClr val="000000"/>
                          </a:solidFill>
                          <a:latin typeface="Cambria Math" panose="02040503050406030204" pitchFamily="18" charset="0"/>
                        </a:rPr>
                        <m:t>{</m:t>
                      </m:r>
                      <m:sSub>
                        <m:sSubPr>
                          <m:ctrlPr>
                            <a:rPr lang="en-US" sz="2400" b="0" i="1" smtClean="0">
                              <a:solidFill>
                                <a:srgbClr val="000000"/>
                              </a:solidFill>
                              <a:latin typeface="Cambria Math" panose="02040503050406030204" pitchFamily="18" charset="0"/>
                            </a:rPr>
                          </m:ctrlPr>
                        </m:sSubPr>
                        <m:e>
                          <m:r>
                            <a:rPr lang="en-US" sz="2400" b="0" i="1" smtClean="0">
                              <a:solidFill>
                                <a:srgbClr val="000000"/>
                              </a:solidFill>
                              <a:latin typeface="Cambria Math" panose="02040503050406030204" pitchFamily="18" charset="0"/>
                            </a:rPr>
                            <m:t>𝐴</m:t>
                          </m:r>
                        </m:e>
                        <m:sub>
                          <m:r>
                            <a:rPr lang="en-US" sz="2400" b="0" i="1" smtClean="0">
                              <a:solidFill>
                                <a:srgbClr val="000000"/>
                              </a:solidFill>
                              <a:latin typeface="Cambria Math" panose="02040503050406030204" pitchFamily="18" charset="0"/>
                            </a:rPr>
                            <m:t>𝑖</m:t>
                          </m:r>
                        </m:sub>
                      </m:sSub>
                      <m:r>
                        <a:rPr lang="en-US" sz="2400" b="0" i="1" smtClean="0">
                          <a:solidFill>
                            <a:srgbClr val="000000"/>
                          </a:solidFill>
                          <a:latin typeface="Cambria Math" panose="02040503050406030204" pitchFamily="18" charset="0"/>
                        </a:rPr>
                        <m:t>=</m:t>
                      </m:r>
                      <m:f>
                        <m:fPr>
                          <m:ctrlPr>
                            <a:rPr lang="en-US" sz="2400" b="0" i="1" smtClean="0">
                              <a:solidFill>
                                <a:srgbClr val="000000"/>
                              </a:solidFill>
                              <a:latin typeface="Cambria Math" panose="02040503050406030204" pitchFamily="18" charset="0"/>
                            </a:rPr>
                          </m:ctrlPr>
                        </m:fPr>
                        <m:num>
                          <m:r>
                            <a:rPr lang="en-US" sz="2400" b="0" i="1" smtClean="0">
                              <a:solidFill>
                                <a:srgbClr val="000000"/>
                              </a:solidFill>
                              <a:latin typeface="Cambria Math" panose="02040503050406030204" pitchFamily="18" charset="0"/>
                            </a:rPr>
                            <m:t>1</m:t>
                          </m:r>
                        </m:num>
                        <m:den>
                          <m:r>
                            <a:rPr lang="en-US" sz="2400" b="0" i="1" smtClean="0">
                              <a:solidFill>
                                <a:srgbClr val="000000"/>
                              </a:solidFill>
                              <a:latin typeface="Cambria Math" panose="02040503050406030204" pitchFamily="18" charset="0"/>
                            </a:rPr>
                            <m:t>𝑚</m:t>
                          </m:r>
                        </m:den>
                      </m:f>
                      <m:nary>
                        <m:naryPr>
                          <m:chr m:val="∑"/>
                          <m:ctrlPr>
                            <a:rPr lang="en-US" sz="2400" b="0" i="1" smtClean="0">
                              <a:solidFill>
                                <a:srgbClr val="000000"/>
                              </a:solidFill>
                              <a:latin typeface="Cambria Math" panose="02040503050406030204" pitchFamily="18" charset="0"/>
                            </a:rPr>
                          </m:ctrlPr>
                        </m:naryPr>
                        <m:sub>
                          <m:r>
                            <m:rPr>
                              <m:brk m:alnAt="23"/>
                            </m:rPr>
                            <a:rPr lang="en-US" sz="2400" b="0" i="1" smtClean="0">
                              <a:solidFill>
                                <a:srgbClr val="000000"/>
                              </a:solidFill>
                              <a:latin typeface="Cambria Math" panose="02040503050406030204" pitchFamily="18" charset="0"/>
                            </a:rPr>
                            <m:t>𝑗</m:t>
                          </m:r>
                          <m:r>
                            <a:rPr lang="en-US" sz="2400" b="0" i="1" smtClean="0">
                              <a:solidFill>
                                <a:srgbClr val="000000"/>
                              </a:solidFill>
                              <a:latin typeface="Cambria Math" panose="02040503050406030204" pitchFamily="18" charset="0"/>
                            </a:rPr>
                            <m:t>=1</m:t>
                          </m:r>
                        </m:sub>
                        <m:sup>
                          <m:r>
                            <a:rPr lang="en-US" sz="2400" b="0" i="1" smtClean="0">
                              <a:solidFill>
                                <a:srgbClr val="000000"/>
                              </a:solidFill>
                              <a:latin typeface="Cambria Math" panose="02040503050406030204" pitchFamily="18" charset="0"/>
                            </a:rPr>
                            <m:t>𝑚</m:t>
                          </m:r>
                        </m:sup>
                        <m:e>
                          <m:sSub>
                            <m:sSubPr>
                              <m:ctrlPr>
                                <a:rPr lang="en-US" sz="2400" b="0" i="1" smtClean="0">
                                  <a:solidFill>
                                    <a:srgbClr val="000000"/>
                                  </a:solidFill>
                                  <a:latin typeface="Cambria Math" panose="02040503050406030204" pitchFamily="18" charset="0"/>
                                </a:rPr>
                              </m:ctrlPr>
                            </m:sSubPr>
                            <m:e>
                              <m:r>
                                <a:rPr lang="en-US" sz="2400" b="0" i="1" smtClean="0">
                                  <a:solidFill>
                                    <a:srgbClr val="000000"/>
                                  </a:solidFill>
                                  <a:latin typeface="Cambria Math" panose="02040503050406030204" pitchFamily="18" charset="0"/>
                                </a:rPr>
                                <m:t>𝐸</m:t>
                              </m:r>
                            </m:e>
                            <m:sub>
                              <m:r>
                                <a:rPr lang="en-US" sz="2400" b="0" i="1" smtClean="0">
                                  <a:solidFill>
                                    <a:srgbClr val="000000"/>
                                  </a:solidFill>
                                  <a:latin typeface="Cambria Math" panose="02040503050406030204" pitchFamily="18" charset="0"/>
                                </a:rPr>
                                <m:t>𝑖𝑗</m:t>
                              </m:r>
                            </m:sub>
                          </m:sSub>
                        </m:e>
                      </m:nary>
                      <m:r>
                        <a:rPr lang="en-US" sz="2400" i="1">
                          <a:solidFill>
                            <a:srgbClr val="000000"/>
                          </a:solidFill>
                          <a:latin typeface="Cambria Math" panose="02040503050406030204" pitchFamily="18" charset="0"/>
                        </a:rPr>
                        <m:t>}</m:t>
                      </m:r>
                    </m:oMath>
                  </m:oMathPara>
                </a14:m>
                <a:endParaRPr lang="en-US" sz="2400" dirty="0"/>
              </a:p>
            </p:txBody>
          </p:sp>
        </mc:Choice>
        <mc:Fallback xmlns="">
          <p:sp>
            <p:nvSpPr>
              <p:cNvPr id="9" name="Object 2">
                <a:extLst>
                  <a:ext uri="{FF2B5EF4-FFF2-40B4-BE49-F238E27FC236}">
                    <a16:creationId xmlns:a16="http://schemas.microsoft.com/office/drawing/2014/main" id="{B6E2069E-DB53-40DC-B46D-945A7D54E9E6}"/>
                  </a:ext>
                </a:extLst>
              </p:cNvPr>
              <p:cNvSpPr txBox="1">
                <a:spLocks noRot="1" noChangeAspect="1" noMove="1" noResize="1" noEditPoints="1" noAdjustHandles="1" noChangeArrowheads="1" noChangeShapeType="1" noTextEdit="1"/>
              </p:cNvSpPr>
              <p:nvPr/>
            </p:nvSpPr>
            <p:spPr bwMode="auto">
              <a:xfrm>
                <a:off x="5268290" y="4828415"/>
                <a:ext cx="4144065" cy="822325"/>
              </a:xfrm>
              <a:prstGeom prst="rect">
                <a:avLst/>
              </a:prstGeom>
              <a:blipFill>
                <a:blip r:embed="rId3"/>
                <a:stretch>
                  <a:fillRect b="-31852"/>
                </a:stretch>
              </a:blipFill>
            </p:spPr>
            <p:txBody>
              <a:bodyPr/>
              <a:lstStyle/>
              <a:p>
                <a:r>
                  <a:rPr lang="en-US">
                    <a:noFill/>
                  </a:rPr>
                  <a:t> </a:t>
                </a:r>
              </a:p>
            </p:txBody>
          </p:sp>
        </mc:Fallback>
      </mc:AlternateContent>
      <p:graphicFrame>
        <p:nvGraphicFramePr>
          <p:cNvPr id="10" name="Group 5">
            <a:extLst>
              <a:ext uri="{FF2B5EF4-FFF2-40B4-BE49-F238E27FC236}">
                <a16:creationId xmlns:a16="http://schemas.microsoft.com/office/drawing/2014/main" id="{5B9AA6F6-A1ED-4707-ACE8-068A8E72A71D}"/>
              </a:ext>
            </a:extLst>
          </p:cNvPr>
          <p:cNvGraphicFramePr>
            <a:graphicFrameLocks noGrp="1"/>
          </p:cNvGraphicFramePr>
          <p:nvPr>
            <p:extLst>
              <p:ext uri="{D42A27DB-BD31-4B8C-83A1-F6EECF244321}">
                <p14:modId xmlns:p14="http://schemas.microsoft.com/office/powerpoint/2010/main" val="95536757"/>
              </p:ext>
            </p:extLst>
          </p:nvPr>
        </p:nvGraphicFramePr>
        <p:xfrm>
          <a:off x="1103244" y="2390458"/>
          <a:ext cx="4800600" cy="2228850"/>
        </p:xfrm>
        <a:graphic>
          <a:graphicData uri="http://schemas.openxmlformats.org/drawingml/2006/table">
            <a:tbl>
              <a:tblPr/>
              <a:tblGrid>
                <a:gridCol w="1444625">
                  <a:extLst>
                    <a:ext uri="{9D8B030D-6E8A-4147-A177-3AD203B41FA5}">
                      <a16:colId xmlns:a16="http://schemas.microsoft.com/office/drawing/2014/main" val="20000"/>
                    </a:ext>
                  </a:extLst>
                </a:gridCol>
                <a:gridCol w="955675">
                  <a:extLst>
                    <a:ext uri="{9D8B030D-6E8A-4147-A177-3AD203B41FA5}">
                      <a16:colId xmlns:a16="http://schemas.microsoft.com/office/drawing/2014/main" val="20001"/>
                    </a:ext>
                  </a:extLst>
                </a:gridCol>
                <a:gridCol w="1200150">
                  <a:extLst>
                    <a:ext uri="{9D8B030D-6E8A-4147-A177-3AD203B41FA5}">
                      <a16:colId xmlns:a16="http://schemas.microsoft.com/office/drawing/2014/main" val="20002"/>
                    </a:ext>
                  </a:extLst>
                </a:gridCol>
                <a:gridCol w="1200150">
                  <a:extLst>
                    <a:ext uri="{9D8B030D-6E8A-4147-A177-3AD203B41FA5}">
                      <a16:colId xmlns:a16="http://schemas.microsoft.com/office/drawing/2014/main" val="20003"/>
                    </a:ext>
                  </a:extLst>
                </a:gridCol>
              </a:tblGrid>
              <a:tr h="371475">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65000"/>
                        <a:buFont typeface="Wingdings" pitchFamily="2" charset="2"/>
                        <a:buNone/>
                        <a:tabLst/>
                      </a:pPr>
                      <a:r>
                        <a:rPr kumimoji="0" lang="en-US" sz="1800" b="0" i="0" u="none" strike="noStrike" cap="none" normalizeH="0" baseline="0" dirty="0">
                          <a:ln>
                            <a:noFill/>
                          </a:ln>
                          <a:solidFill>
                            <a:srgbClr val="FF0000"/>
                          </a:solidFill>
                          <a:effectLst/>
                          <a:latin typeface="Arial" charset="0"/>
                        </a:rPr>
                        <a:t>Future state</a:t>
                      </a:r>
                    </a:p>
                  </a:txBody>
                  <a:tcP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65000"/>
                        <a:buFont typeface="Wingdings" pitchFamily="2" charset="2"/>
                        <a:buNone/>
                        <a:tabLst/>
                      </a:pPr>
                      <a:r>
                        <a:rPr kumimoji="0" lang="en-US" sz="1800" b="0" i="0" u="none" strike="noStrike" cap="none" normalizeH="0" baseline="0">
                          <a:ln>
                            <a:noFill/>
                          </a:ln>
                          <a:solidFill>
                            <a:schemeClr val="tx1"/>
                          </a:solidFill>
                          <a:effectLst/>
                          <a:latin typeface="Arial" charset="0"/>
                        </a:rPr>
                        <a:t>F</a:t>
                      </a:r>
                      <a:r>
                        <a:rPr kumimoji="0" lang="en-US" sz="1800" b="0" i="0" u="none" strike="noStrike" cap="none" normalizeH="0" baseline="-25000">
                          <a:ln>
                            <a:noFill/>
                          </a:ln>
                          <a:solidFill>
                            <a:schemeClr val="tx1"/>
                          </a:solidFill>
                          <a:effectLst/>
                          <a:latin typeface="Arial" charset="0"/>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65000"/>
                        <a:buFont typeface="Wingdings" pitchFamily="2" charset="2"/>
                        <a:buNone/>
                        <a:tabLst/>
                      </a:pPr>
                      <a:r>
                        <a:rPr kumimoji="0" lang="en-US" sz="1800" b="0" i="0" u="none" strike="noStrike" cap="none" normalizeH="0" baseline="0">
                          <a:ln>
                            <a:noFill/>
                          </a:ln>
                          <a:solidFill>
                            <a:schemeClr val="tx1"/>
                          </a:solidFill>
                          <a:effectLst/>
                          <a:latin typeface="Arial" charset="0"/>
                        </a:rPr>
                        <a:t>F</a:t>
                      </a:r>
                      <a:r>
                        <a:rPr kumimoji="0" lang="en-US" sz="1800" b="0" i="0" u="none" strike="noStrike" cap="none" normalizeH="0" baseline="-25000">
                          <a:ln>
                            <a:noFill/>
                          </a:ln>
                          <a:solidFill>
                            <a:schemeClr val="tx1"/>
                          </a:solidFill>
                          <a:effectLst/>
                          <a:latin typeface="Arial" charset="0"/>
                        </a:rPr>
                        <a:t>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65000"/>
                        <a:buFont typeface="Wingdings" pitchFamily="2" charset="2"/>
                        <a:buNone/>
                        <a:tabLst/>
                      </a:pPr>
                      <a:r>
                        <a:rPr kumimoji="0" lang="en-US" sz="1800" b="0" i="0" u="none" strike="noStrike" cap="none" normalizeH="0" baseline="0">
                          <a:ln>
                            <a:noFill/>
                          </a:ln>
                          <a:solidFill>
                            <a:schemeClr val="tx1"/>
                          </a:solidFill>
                          <a:effectLst/>
                          <a:latin typeface="Arial" charset="0"/>
                        </a:rPr>
                        <a:t>F</a:t>
                      </a:r>
                      <a:r>
                        <a:rPr kumimoji="0" lang="en-US" sz="1800" b="0" i="0" u="none" strike="noStrike" cap="none" normalizeH="0" baseline="-25000">
                          <a:ln>
                            <a:noFill/>
                          </a:ln>
                          <a:solidFill>
                            <a:schemeClr val="tx1"/>
                          </a:solidFill>
                          <a:effectLst/>
                          <a:latin typeface="Arial" charset="0"/>
                        </a:rPr>
                        <a:t>3</a:t>
                      </a:r>
                    </a:p>
                  </a:txBody>
                  <a:tcP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71475">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65000"/>
                        <a:buFont typeface="Wingdings" pitchFamily="2" charset="2"/>
                        <a:buNone/>
                        <a:tabLst/>
                      </a:pPr>
                      <a:r>
                        <a:rPr kumimoji="0" lang="en-US" sz="1800" b="0" i="0" u="none" strike="noStrike" cap="none" normalizeH="0" baseline="0" dirty="0">
                          <a:ln>
                            <a:noFill/>
                          </a:ln>
                          <a:solidFill>
                            <a:srgbClr val="FF0000"/>
                          </a:solidFill>
                          <a:effectLst/>
                          <a:latin typeface="Arial" charset="0"/>
                        </a:rPr>
                        <a:t>Alternative</a:t>
                      </a:r>
                    </a:p>
                  </a:txBody>
                  <a:tcP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65000"/>
                        <a:buFont typeface="Wingdings" pitchFamily="2" charset="2"/>
                        <a:buNone/>
                        <a:tabLst/>
                      </a:pPr>
                      <a:endParaRPr kumimoji="0" lang="en-US" sz="1800" b="0" i="0" u="none" strike="noStrike" cap="none" normalizeH="0" baseline="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65000"/>
                        <a:buFont typeface="Wingdings" pitchFamily="2" charset="2"/>
                        <a:buNone/>
                        <a:tabLst/>
                      </a:pPr>
                      <a:r>
                        <a:rPr kumimoji="0" lang="en-US" sz="1800" b="0" i="0" u="none" strike="noStrike" cap="none" normalizeH="0" baseline="0" dirty="0">
                          <a:ln>
                            <a:noFill/>
                          </a:ln>
                          <a:solidFill>
                            <a:srgbClr val="FF0000"/>
                          </a:solidFill>
                          <a:effectLst/>
                          <a:latin typeface="Arial" charset="0"/>
                        </a:rPr>
                        <a:t>(Payoff)</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65000"/>
                        <a:buFont typeface="Wingdings" pitchFamily="2" charset="2"/>
                        <a:buNone/>
                        <a:tabLst/>
                      </a:pPr>
                      <a:endParaRPr kumimoji="0" lang="en-US" sz="1800" b="0" i="0" u="none" strike="noStrike" cap="none" normalizeH="0" baseline="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a:noFill/>
                    </a:lnB>
                    <a:lnTlToBr>
                      <a:noFill/>
                    </a:lnTlToBr>
                    <a:lnBlToTr>
                      <a:noFill/>
                    </a:lnBlToTr>
                    <a:noFill/>
                  </a:tcPr>
                </a:tc>
                <a:extLst>
                  <a:ext uri="{0D108BD9-81ED-4DB2-BD59-A6C34878D82A}">
                    <a16:rowId xmlns:a16="http://schemas.microsoft.com/office/drawing/2014/main" val="10001"/>
                  </a:ext>
                </a:extLst>
              </a:tr>
              <a:tr h="371475">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65000"/>
                        <a:buFont typeface="Wingdings" pitchFamily="2" charset="2"/>
                        <a:buNone/>
                        <a:tabLst/>
                      </a:pPr>
                      <a:r>
                        <a:rPr kumimoji="0" lang="en-US" sz="1800" b="0" i="0" u="none" strike="noStrike" cap="none" normalizeH="0" baseline="0" dirty="0">
                          <a:ln>
                            <a:noFill/>
                          </a:ln>
                          <a:solidFill>
                            <a:schemeClr val="tx1"/>
                          </a:solidFill>
                          <a:effectLst/>
                          <a:latin typeface="Arial" charset="0"/>
                        </a:rPr>
                        <a:t>A</a:t>
                      </a:r>
                      <a:r>
                        <a:rPr kumimoji="0" lang="en-US" sz="1800" b="0" i="0" u="none" strike="noStrike" cap="none" normalizeH="0" baseline="-25000" dirty="0">
                          <a:ln>
                            <a:noFill/>
                          </a:ln>
                          <a:solidFill>
                            <a:schemeClr val="tx1"/>
                          </a:solidFill>
                          <a:effectLst/>
                          <a:latin typeface="Arial" charset="0"/>
                        </a:rPr>
                        <a:t>1</a:t>
                      </a:r>
                    </a:p>
                  </a:txBody>
                  <a:tcPr horzOverflow="overflow">
                    <a:lnL cap="flat">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65000"/>
                        <a:buFont typeface="Wingdings" pitchFamily="2" charset="2"/>
                        <a:buNone/>
                        <a:tabLst/>
                      </a:pPr>
                      <a:r>
                        <a:rPr kumimoji="0" lang="en-US" sz="1800" b="0" i="0" u="none" strike="noStrike" cap="none" normalizeH="0" baseline="0" dirty="0">
                          <a:ln>
                            <a:noFill/>
                          </a:ln>
                          <a:solidFill>
                            <a:schemeClr val="tx1"/>
                          </a:solidFill>
                          <a:effectLst/>
                          <a:latin typeface="Arial" charset="0"/>
                        </a:rPr>
                        <a:t>100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65000"/>
                        <a:buFont typeface="Wingdings" pitchFamily="2" charset="2"/>
                        <a:buNone/>
                        <a:tabLst/>
                      </a:pPr>
                      <a:r>
                        <a:rPr kumimoji="0" lang="en-US" sz="1800" b="0" i="0" u="none" strike="noStrike" cap="none" normalizeH="0" baseline="0" dirty="0">
                          <a:ln>
                            <a:noFill/>
                          </a:ln>
                          <a:solidFill>
                            <a:schemeClr val="tx1"/>
                          </a:solidFill>
                          <a:effectLst/>
                          <a:latin typeface="Arial" charset="0"/>
                        </a:rPr>
                        <a:t>100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65000"/>
                        <a:buFont typeface="Wingdings" pitchFamily="2" charset="2"/>
                        <a:buNone/>
                        <a:tabLst/>
                      </a:pPr>
                      <a:r>
                        <a:rPr kumimoji="0" lang="en-US" sz="1800" b="0" i="0" u="none" strike="noStrike" cap="none" normalizeH="0" baseline="0" dirty="0">
                          <a:ln>
                            <a:noFill/>
                          </a:ln>
                          <a:solidFill>
                            <a:schemeClr val="tx1"/>
                          </a:solidFill>
                          <a:effectLst/>
                          <a:latin typeface="Arial" charset="0"/>
                        </a:rPr>
                        <a:t>400</a:t>
                      </a:r>
                    </a:p>
                  </a:txBody>
                  <a:tcPr horzOverflow="overflow">
                    <a:lnL w="12700" cap="flat" cmpd="sng" algn="ctr">
                      <a:solidFill>
                        <a:schemeClr val="tx1"/>
                      </a:solidFill>
                      <a:prstDash val="solid"/>
                      <a:round/>
                      <a:headEnd type="none" w="med" len="med"/>
                      <a:tailEnd type="none" w="med" len="med"/>
                    </a:lnL>
                    <a:lnR cap="flat">
                      <a:noFill/>
                    </a:lnR>
                    <a:lnT>
                      <a:noFill/>
                    </a:lnT>
                    <a:lnB>
                      <a:noFill/>
                    </a:lnB>
                    <a:lnTlToBr>
                      <a:noFill/>
                    </a:lnTlToBr>
                    <a:lnBlToTr>
                      <a:noFill/>
                    </a:lnBlToTr>
                    <a:noFill/>
                  </a:tcPr>
                </a:tc>
                <a:extLst>
                  <a:ext uri="{0D108BD9-81ED-4DB2-BD59-A6C34878D82A}">
                    <a16:rowId xmlns:a16="http://schemas.microsoft.com/office/drawing/2014/main" val="10002"/>
                  </a:ext>
                </a:extLst>
              </a:tr>
              <a:tr h="371475">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65000"/>
                        <a:buFont typeface="Wingdings" pitchFamily="2" charset="2"/>
                        <a:buNone/>
                        <a:tabLst/>
                      </a:pPr>
                      <a:r>
                        <a:rPr kumimoji="0" lang="en-US" sz="1800" b="0" i="0" u="none" strike="noStrike" cap="none" normalizeH="0" baseline="0">
                          <a:ln>
                            <a:noFill/>
                          </a:ln>
                          <a:solidFill>
                            <a:schemeClr val="tx1"/>
                          </a:solidFill>
                          <a:effectLst/>
                          <a:latin typeface="Arial" charset="0"/>
                        </a:rPr>
                        <a:t>A</a:t>
                      </a:r>
                      <a:r>
                        <a:rPr kumimoji="0" lang="en-US" sz="1800" b="0" i="0" u="none" strike="noStrike" cap="none" normalizeH="0" baseline="-25000">
                          <a:ln>
                            <a:noFill/>
                          </a:ln>
                          <a:solidFill>
                            <a:schemeClr val="tx1"/>
                          </a:solidFill>
                          <a:effectLst/>
                          <a:latin typeface="Arial" charset="0"/>
                        </a:rPr>
                        <a:t>2</a:t>
                      </a:r>
                    </a:p>
                  </a:txBody>
                  <a:tcPr horzOverflow="overflow">
                    <a:lnL cap="flat">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65000"/>
                        <a:buFont typeface="Wingdings" pitchFamily="2" charset="2"/>
                        <a:buNone/>
                        <a:tabLst/>
                      </a:pPr>
                      <a:r>
                        <a:rPr kumimoji="0" lang="en-US" sz="1800" b="0" i="0" u="none" strike="noStrike" cap="none" normalizeH="0" baseline="0" dirty="0">
                          <a:ln>
                            <a:noFill/>
                          </a:ln>
                          <a:solidFill>
                            <a:schemeClr val="tx1"/>
                          </a:solidFill>
                          <a:effectLst/>
                          <a:latin typeface="Arial" charset="0"/>
                        </a:rPr>
                        <a:t>-200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65000"/>
                        <a:buFont typeface="Wingdings" pitchFamily="2" charset="2"/>
                        <a:buNone/>
                        <a:tabLst/>
                      </a:pPr>
                      <a:r>
                        <a:rPr kumimoji="0" lang="en-US" sz="1800" b="0" i="0" u="none" strike="noStrike" cap="none" normalizeH="0" baseline="0">
                          <a:ln>
                            <a:noFill/>
                          </a:ln>
                          <a:solidFill>
                            <a:schemeClr val="tx1"/>
                          </a:solidFill>
                          <a:effectLst/>
                          <a:latin typeface="Arial" charset="0"/>
                        </a:rPr>
                        <a:t>150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65000"/>
                        <a:buFont typeface="Wingdings" pitchFamily="2" charset="2"/>
                        <a:buNone/>
                        <a:tabLst/>
                      </a:pPr>
                      <a:r>
                        <a:rPr kumimoji="0" lang="en-US" sz="1800" b="0" i="0" u="none" strike="noStrike" cap="none" normalizeH="0" baseline="0">
                          <a:ln>
                            <a:noFill/>
                          </a:ln>
                          <a:solidFill>
                            <a:schemeClr val="tx1"/>
                          </a:solidFill>
                          <a:effectLst/>
                          <a:latin typeface="Arial" charset="0"/>
                        </a:rPr>
                        <a:t>600</a:t>
                      </a:r>
                    </a:p>
                  </a:txBody>
                  <a:tcPr horzOverflow="overflow">
                    <a:lnL w="12700" cap="flat" cmpd="sng" algn="ctr">
                      <a:solidFill>
                        <a:schemeClr val="tx1"/>
                      </a:solidFill>
                      <a:prstDash val="solid"/>
                      <a:round/>
                      <a:headEnd type="none" w="med" len="med"/>
                      <a:tailEnd type="none" w="med" len="med"/>
                    </a:lnL>
                    <a:lnR cap="flat">
                      <a:noFill/>
                    </a:lnR>
                    <a:lnT>
                      <a:noFill/>
                    </a:lnT>
                    <a:lnB>
                      <a:noFill/>
                    </a:lnB>
                    <a:lnTlToBr>
                      <a:noFill/>
                    </a:lnTlToBr>
                    <a:lnBlToTr>
                      <a:noFill/>
                    </a:lnBlToTr>
                    <a:noFill/>
                  </a:tcPr>
                </a:tc>
                <a:extLst>
                  <a:ext uri="{0D108BD9-81ED-4DB2-BD59-A6C34878D82A}">
                    <a16:rowId xmlns:a16="http://schemas.microsoft.com/office/drawing/2014/main" val="10003"/>
                  </a:ext>
                </a:extLst>
              </a:tr>
              <a:tr h="371475">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65000"/>
                        <a:buFont typeface="Wingdings" pitchFamily="2" charset="2"/>
                        <a:buNone/>
                        <a:tabLst/>
                      </a:pPr>
                      <a:r>
                        <a:rPr kumimoji="0" lang="en-US" sz="1800" b="0" i="0" u="none" strike="noStrike" cap="none" normalizeH="0" baseline="0">
                          <a:ln>
                            <a:noFill/>
                          </a:ln>
                          <a:solidFill>
                            <a:schemeClr val="tx1"/>
                          </a:solidFill>
                          <a:effectLst/>
                          <a:latin typeface="Arial" charset="0"/>
                        </a:rPr>
                        <a:t>A</a:t>
                      </a:r>
                      <a:r>
                        <a:rPr kumimoji="0" lang="en-US" sz="1800" b="0" i="0" u="none" strike="noStrike" cap="none" normalizeH="0" baseline="-25000">
                          <a:ln>
                            <a:noFill/>
                          </a:ln>
                          <a:solidFill>
                            <a:schemeClr val="tx1"/>
                          </a:solidFill>
                          <a:effectLst/>
                          <a:latin typeface="Arial" charset="0"/>
                        </a:rPr>
                        <a:t>3</a:t>
                      </a:r>
                    </a:p>
                  </a:txBody>
                  <a:tcPr horzOverflow="overflow">
                    <a:lnL cap="flat">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65000"/>
                        <a:buFont typeface="Wingdings" pitchFamily="2" charset="2"/>
                        <a:buNone/>
                        <a:tabLst/>
                      </a:pPr>
                      <a:r>
                        <a:rPr kumimoji="0" lang="en-US" sz="1800" b="0" i="0" u="none" strike="noStrike" cap="none" normalizeH="0" baseline="0" dirty="0">
                          <a:ln>
                            <a:noFill/>
                          </a:ln>
                          <a:solidFill>
                            <a:schemeClr val="tx1"/>
                          </a:solidFill>
                          <a:effectLst/>
                          <a:latin typeface="Arial" charset="0"/>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65000"/>
                        <a:buFont typeface="Wingdings" pitchFamily="2" charset="2"/>
                        <a:buNone/>
                        <a:tabLst/>
                      </a:pPr>
                      <a:r>
                        <a:rPr kumimoji="0" lang="en-US" sz="1800" b="0" i="0" u="none" strike="noStrike" cap="none" normalizeH="0" baseline="0">
                          <a:ln>
                            <a:noFill/>
                          </a:ln>
                          <a:solidFill>
                            <a:schemeClr val="tx1"/>
                          </a:solidFill>
                          <a:effectLst/>
                          <a:latin typeface="Arial" charset="0"/>
                        </a:rPr>
                        <a:t>200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65000"/>
                        <a:buFont typeface="Wingdings" pitchFamily="2" charset="2"/>
                        <a:buNone/>
                        <a:tabLst/>
                      </a:pPr>
                      <a:r>
                        <a:rPr kumimoji="0" lang="en-US" sz="1800" b="0" i="0" u="none" strike="noStrike" cap="none" normalizeH="0" baseline="0" dirty="0">
                          <a:ln>
                            <a:noFill/>
                          </a:ln>
                          <a:solidFill>
                            <a:schemeClr val="tx1"/>
                          </a:solidFill>
                          <a:effectLst/>
                          <a:latin typeface="Arial" charset="0"/>
                        </a:rPr>
                        <a:t>500</a:t>
                      </a:r>
                    </a:p>
                  </a:txBody>
                  <a:tcPr horzOverflow="overflow">
                    <a:lnL w="12700" cap="flat" cmpd="sng" algn="ctr">
                      <a:solidFill>
                        <a:schemeClr val="tx1"/>
                      </a:solidFill>
                      <a:prstDash val="solid"/>
                      <a:round/>
                      <a:headEnd type="none" w="med" len="med"/>
                      <a:tailEnd type="none" w="med" len="med"/>
                    </a:lnL>
                    <a:lnR cap="flat">
                      <a:noFill/>
                    </a:lnR>
                    <a:lnT>
                      <a:noFill/>
                    </a:lnT>
                    <a:lnB>
                      <a:noFill/>
                    </a:lnB>
                    <a:lnTlToBr>
                      <a:noFill/>
                    </a:lnTlToBr>
                    <a:lnBlToTr>
                      <a:noFill/>
                    </a:lnBlToTr>
                    <a:noFill/>
                  </a:tcPr>
                </a:tc>
                <a:extLst>
                  <a:ext uri="{0D108BD9-81ED-4DB2-BD59-A6C34878D82A}">
                    <a16:rowId xmlns:a16="http://schemas.microsoft.com/office/drawing/2014/main" val="10004"/>
                  </a:ext>
                </a:extLst>
              </a:tr>
              <a:tr h="371475">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65000"/>
                        <a:buFont typeface="Wingdings" pitchFamily="2" charset="2"/>
                        <a:buNone/>
                        <a:tabLst/>
                      </a:pPr>
                      <a:r>
                        <a:rPr kumimoji="0" lang="en-US" sz="1800" b="0" i="0" u="none" strike="noStrike" cap="none" normalizeH="0" baseline="0">
                          <a:ln>
                            <a:noFill/>
                          </a:ln>
                          <a:solidFill>
                            <a:schemeClr val="tx1"/>
                          </a:solidFill>
                          <a:effectLst/>
                          <a:latin typeface="Arial" charset="0"/>
                        </a:rPr>
                        <a:t>A</a:t>
                      </a:r>
                      <a:r>
                        <a:rPr kumimoji="0" lang="en-US" sz="1800" b="0" i="0" u="none" strike="noStrike" cap="none" normalizeH="0" baseline="-25000">
                          <a:ln>
                            <a:noFill/>
                          </a:ln>
                          <a:solidFill>
                            <a:schemeClr val="tx1"/>
                          </a:solidFill>
                          <a:effectLst/>
                          <a:latin typeface="Arial" charset="0"/>
                        </a:rPr>
                        <a:t>4</a:t>
                      </a:r>
                    </a:p>
                  </a:txBody>
                  <a:tcPr horzOverflow="overflow">
                    <a:lnL cap="flat">
                      <a:noFill/>
                    </a:lnL>
                    <a:lnR w="12700" cap="flat" cmpd="sng" algn="ctr">
                      <a:solidFill>
                        <a:schemeClr val="tx1"/>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65000"/>
                        <a:buFont typeface="Wingdings" pitchFamily="2" charset="2"/>
                        <a:buNone/>
                        <a:tabLst/>
                      </a:pPr>
                      <a:r>
                        <a:rPr kumimoji="0" lang="en-US" sz="1800" b="0" i="0" u="none" strike="noStrike" cap="none" normalizeH="0" baseline="0" dirty="0">
                          <a:ln>
                            <a:noFill/>
                          </a:ln>
                          <a:solidFill>
                            <a:schemeClr val="tx1"/>
                          </a:solidFill>
                          <a:effectLst/>
                          <a:latin typeface="Arial" charset="0"/>
                        </a:rPr>
                        <a:t>100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65000"/>
                        <a:buFont typeface="Wingdings" pitchFamily="2" charset="2"/>
                        <a:buNone/>
                        <a:tabLst/>
                      </a:pPr>
                      <a:r>
                        <a:rPr kumimoji="0" lang="en-US" sz="1800" b="0" i="0" u="none" strike="noStrike" cap="none" normalizeH="0" baseline="0" dirty="0">
                          <a:ln>
                            <a:noFill/>
                          </a:ln>
                          <a:solidFill>
                            <a:schemeClr val="tx1"/>
                          </a:solidFill>
                          <a:effectLst/>
                          <a:latin typeface="Arial" charset="0"/>
                        </a:rPr>
                        <a:t>300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65000"/>
                        <a:buFont typeface="Wingdings" pitchFamily="2" charset="2"/>
                        <a:buNone/>
                        <a:tabLst/>
                      </a:pPr>
                      <a:r>
                        <a:rPr kumimoji="0" lang="en-US" sz="1800" b="0" i="0" u="none" strike="noStrike" cap="none" normalizeH="0" baseline="0" dirty="0">
                          <a:ln>
                            <a:noFill/>
                          </a:ln>
                          <a:solidFill>
                            <a:schemeClr val="tx1"/>
                          </a:solidFill>
                          <a:effectLst/>
                          <a:latin typeface="Arial" charset="0"/>
                        </a:rPr>
                        <a:t>200</a:t>
                      </a:r>
                    </a:p>
                  </a:txBody>
                  <a:tcPr horzOverflow="overflow">
                    <a:lnL w="12700" cap="flat" cmpd="sng" algn="ctr">
                      <a:solidFill>
                        <a:schemeClr val="tx1"/>
                      </a:solidFill>
                      <a:prstDash val="solid"/>
                      <a:round/>
                      <a:headEnd type="none" w="med" len="med"/>
                      <a:tailEnd type="none" w="med" len="med"/>
                    </a:lnL>
                    <a:lnR cap="flat">
                      <a:noFill/>
                    </a:lnR>
                    <a:lnT>
                      <a:noFill/>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bl>
          </a:graphicData>
        </a:graphic>
      </p:graphicFrame>
      <p:sp>
        <p:nvSpPr>
          <p:cNvPr id="11" name="Rectangle 48">
            <a:extLst>
              <a:ext uri="{FF2B5EF4-FFF2-40B4-BE49-F238E27FC236}">
                <a16:creationId xmlns:a16="http://schemas.microsoft.com/office/drawing/2014/main" id="{95185929-7005-4526-80FD-206C9C1FD3D3}"/>
              </a:ext>
            </a:extLst>
          </p:cNvPr>
          <p:cNvSpPr>
            <a:spLocks noChangeArrowheads="1"/>
          </p:cNvSpPr>
          <p:nvPr/>
        </p:nvSpPr>
        <p:spPr bwMode="auto">
          <a:xfrm>
            <a:off x="7659756" y="2324100"/>
            <a:ext cx="762000" cy="2286000"/>
          </a:xfrm>
          <a:prstGeom prst="rect">
            <a:avLst/>
          </a:prstGeom>
          <a:noFill/>
          <a:ln w="9525">
            <a:noFill/>
            <a:miter lim="800000"/>
            <a:headEnd/>
            <a:tailEnd/>
          </a:ln>
        </p:spPr>
        <p:txBody>
          <a:bodyPr/>
          <a:lstStyle/>
          <a:p>
            <a:pPr marL="533400" indent="-533400" algn="ctr" eaLnBrk="1" hangingPunct="1">
              <a:spcBef>
                <a:spcPct val="20000"/>
              </a:spcBef>
              <a:buClr>
                <a:schemeClr val="hlink"/>
              </a:buClr>
              <a:buSzPct val="65000"/>
              <a:buFont typeface="Wingdings" pitchFamily="2" charset="2"/>
              <a:buNone/>
            </a:pPr>
            <a:endParaRPr lang="en-US" sz="2000"/>
          </a:p>
          <a:p>
            <a:pPr marL="533400" indent="-533400" algn="ctr" eaLnBrk="1" hangingPunct="1">
              <a:spcBef>
                <a:spcPct val="20000"/>
              </a:spcBef>
              <a:buClr>
                <a:schemeClr val="hlink"/>
              </a:buClr>
              <a:buSzPct val="65000"/>
              <a:buFont typeface="Wingdings" pitchFamily="2" charset="2"/>
              <a:buNone/>
            </a:pPr>
            <a:endParaRPr lang="en-US" sz="2000"/>
          </a:p>
          <a:p>
            <a:pPr marL="533400" indent="-533400" algn="ctr" eaLnBrk="1" hangingPunct="1">
              <a:spcBef>
                <a:spcPct val="20000"/>
              </a:spcBef>
              <a:buClr>
                <a:schemeClr val="hlink"/>
              </a:buClr>
              <a:buSzPct val="65000"/>
              <a:buFont typeface="Wingdings" pitchFamily="2" charset="2"/>
              <a:buNone/>
            </a:pPr>
            <a:r>
              <a:rPr lang="en-US" sz="2000"/>
              <a:t>A</a:t>
            </a:r>
            <a:r>
              <a:rPr lang="en-US" sz="2000" baseline="-25000"/>
              <a:t>1</a:t>
            </a:r>
          </a:p>
          <a:p>
            <a:pPr marL="533400" indent="-533400" algn="ctr" eaLnBrk="1" hangingPunct="1">
              <a:spcBef>
                <a:spcPct val="20000"/>
              </a:spcBef>
              <a:buClr>
                <a:schemeClr val="hlink"/>
              </a:buClr>
              <a:buSzPct val="65000"/>
              <a:buFont typeface="Wingdings" pitchFamily="2" charset="2"/>
              <a:buNone/>
            </a:pPr>
            <a:r>
              <a:rPr lang="en-US" sz="2000"/>
              <a:t>A</a:t>
            </a:r>
            <a:r>
              <a:rPr lang="en-US" sz="2000" baseline="-25000"/>
              <a:t>2</a:t>
            </a:r>
          </a:p>
          <a:p>
            <a:pPr marL="533400" indent="-533400" algn="ctr" eaLnBrk="1" hangingPunct="1">
              <a:spcBef>
                <a:spcPct val="20000"/>
              </a:spcBef>
              <a:buClr>
                <a:schemeClr val="hlink"/>
              </a:buClr>
              <a:buSzPct val="65000"/>
              <a:buFont typeface="Wingdings" pitchFamily="2" charset="2"/>
              <a:buNone/>
            </a:pPr>
            <a:r>
              <a:rPr lang="en-US" sz="2000"/>
              <a:t>A</a:t>
            </a:r>
            <a:r>
              <a:rPr lang="en-US" sz="2000" baseline="-25000"/>
              <a:t>3</a:t>
            </a:r>
          </a:p>
          <a:p>
            <a:pPr marL="533400" indent="-533400" algn="ctr" eaLnBrk="1" hangingPunct="1">
              <a:spcBef>
                <a:spcPct val="20000"/>
              </a:spcBef>
              <a:buClr>
                <a:schemeClr val="hlink"/>
              </a:buClr>
              <a:buSzPct val="65000"/>
              <a:buFont typeface="Wingdings" pitchFamily="2" charset="2"/>
              <a:buNone/>
            </a:pPr>
            <a:r>
              <a:rPr lang="en-US" sz="2000"/>
              <a:t>A</a:t>
            </a:r>
            <a:r>
              <a:rPr lang="en-US" sz="2000" baseline="-25000"/>
              <a:t>4</a:t>
            </a:r>
          </a:p>
        </p:txBody>
      </p:sp>
      <p:sp>
        <p:nvSpPr>
          <p:cNvPr id="13" name="Line 50">
            <a:extLst>
              <a:ext uri="{FF2B5EF4-FFF2-40B4-BE49-F238E27FC236}">
                <a16:creationId xmlns:a16="http://schemas.microsoft.com/office/drawing/2014/main" id="{E13C79E1-C9F5-4F8D-BD34-03318233B245}"/>
              </a:ext>
            </a:extLst>
          </p:cNvPr>
          <p:cNvSpPr>
            <a:spLocks noChangeShapeType="1"/>
          </p:cNvSpPr>
          <p:nvPr/>
        </p:nvSpPr>
        <p:spPr bwMode="auto">
          <a:xfrm>
            <a:off x="7507356" y="2857500"/>
            <a:ext cx="2630557" cy="9208"/>
          </a:xfrm>
          <a:prstGeom prst="line">
            <a:avLst/>
          </a:prstGeom>
          <a:noFill/>
          <a:ln w="41275">
            <a:solidFill>
              <a:schemeClr val="tx1"/>
            </a:solidFill>
            <a:round/>
            <a:headEnd/>
            <a:tailEnd/>
          </a:ln>
        </p:spPr>
        <p:txBody>
          <a:bodyPr wrap="square" anchor="ctr">
            <a:spAutoFit/>
          </a:bodyPr>
          <a:lstStyle/>
          <a:p>
            <a:endParaRPr lang="en-US"/>
          </a:p>
        </p:txBody>
      </p:sp>
      <p:sp>
        <p:nvSpPr>
          <p:cNvPr id="14" name="Line 51">
            <a:extLst>
              <a:ext uri="{FF2B5EF4-FFF2-40B4-BE49-F238E27FC236}">
                <a16:creationId xmlns:a16="http://schemas.microsoft.com/office/drawing/2014/main" id="{19D2ADAA-532E-4A18-949F-DC38B31C8B83}"/>
              </a:ext>
            </a:extLst>
          </p:cNvPr>
          <p:cNvSpPr>
            <a:spLocks noChangeShapeType="1"/>
          </p:cNvSpPr>
          <p:nvPr/>
        </p:nvSpPr>
        <p:spPr bwMode="auto">
          <a:xfrm>
            <a:off x="8421756" y="2324100"/>
            <a:ext cx="0" cy="2209800"/>
          </a:xfrm>
          <a:prstGeom prst="line">
            <a:avLst/>
          </a:prstGeom>
          <a:noFill/>
          <a:ln w="38100">
            <a:solidFill>
              <a:schemeClr val="tx1"/>
            </a:solidFill>
            <a:round/>
            <a:headEnd/>
            <a:tailEnd/>
          </a:ln>
        </p:spPr>
        <p:txBody>
          <a:bodyPr/>
          <a:lstStyle/>
          <a:p>
            <a:endParaRPr lang="en-US"/>
          </a:p>
        </p:txBody>
      </p:sp>
      <p:sp>
        <p:nvSpPr>
          <p:cNvPr id="15" name="Rectangle 52">
            <a:extLst>
              <a:ext uri="{FF2B5EF4-FFF2-40B4-BE49-F238E27FC236}">
                <a16:creationId xmlns:a16="http://schemas.microsoft.com/office/drawing/2014/main" id="{9D446A71-4F6B-480C-B34E-FAF11380B593}"/>
              </a:ext>
            </a:extLst>
          </p:cNvPr>
          <p:cNvSpPr>
            <a:spLocks noChangeArrowheads="1"/>
          </p:cNvSpPr>
          <p:nvPr/>
        </p:nvSpPr>
        <p:spPr bwMode="auto">
          <a:xfrm>
            <a:off x="7507356" y="2324100"/>
            <a:ext cx="2630557" cy="2209800"/>
          </a:xfrm>
          <a:prstGeom prst="rect">
            <a:avLst/>
          </a:prstGeom>
          <a:noFill/>
          <a:ln w="9525">
            <a:solidFill>
              <a:schemeClr val="tx1"/>
            </a:solidFill>
            <a:miter lim="800000"/>
            <a:headEnd/>
            <a:tailEnd/>
          </a:ln>
        </p:spPr>
        <p:txBody>
          <a:bodyPr wrap="none" anchor="ctr"/>
          <a:lstStyle/>
          <a:p>
            <a:endParaRPr lang="en-US"/>
          </a:p>
        </p:txBody>
      </p:sp>
      <p:sp>
        <p:nvSpPr>
          <p:cNvPr id="16" name="AutoShape 53">
            <a:extLst>
              <a:ext uri="{FF2B5EF4-FFF2-40B4-BE49-F238E27FC236}">
                <a16:creationId xmlns:a16="http://schemas.microsoft.com/office/drawing/2014/main" id="{7D0A0CFB-3271-4BAB-9434-052DFD09AF36}"/>
              </a:ext>
            </a:extLst>
          </p:cNvPr>
          <p:cNvSpPr>
            <a:spLocks noChangeArrowheads="1"/>
          </p:cNvSpPr>
          <p:nvPr/>
        </p:nvSpPr>
        <p:spPr bwMode="auto">
          <a:xfrm>
            <a:off x="7600121" y="3878375"/>
            <a:ext cx="152400" cy="228600"/>
          </a:xfrm>
          <a:prstGeom prst="star5">
            <a:avLst/>
          </a:prstGeom>
          <a:solidFill>
            <a:schemeClr val="accent1"/>
          </a:solidFill>
          <a:ln w="9525">
            <a:solidFill>
              <a:schemeClr val="tx1"/>
            </a:solidFill>
            <a:miter lim="800000"/>
            <a:headEnd/>
            <a:tailEnd/>
          </a:ln>
          <a:effectLst/>
        </p:spPr>
        <p:txBody>
          <a:bodyPr wrap="none" anchor="ctr"/>
          <a:lstStyle/>
          <a:p>
            <a:pPr>
              <a:defRPr/>
            </a:pPr>
            <a:endParaRPr lang="en-US"/>
          </a:p>
        </p:txBody>
      </p:sp>
      <p:sp>
        <p:nvSpPr>
          <p:cNvPr id="17" name="Line 54">
            <a:extLst>
              <a:ext uri="{FF2B5EF4-FFF2-40B4-BE49-F238E27FC236}">
                <a16:creationId xmlns:a16="http://schemas.microsoft.com/office/drawing/2014/main" id="{037E7708-494F-4D17-9375-D0967B2BE17B}"/>
              </a:ext>
            </a:extLst>
          </p:cNvPr>
          <p:cNvSpPr>
            <a:spLocks noChangeShapeType="1"/>
          </p:cNvSpPr>
          <p:nvPr/>
        </p:nvSpPr>
        <p:spPr bwMode="auto">
          <a:xfrm>
            <a:off x="1408043" y="3424989"/>
            <a:ext cx="0" cy="838200"/>
          </a:xfrm>
          <a:prstGeom prst="line">
            <a:avLst/>
          </a:prstGeom>
          <a:noFill/>
          <a:ln w="9525">
            <a:solidFill>
              <a:schemeClr val="tx1"/>
            </a:solidFill>
            <a:round/>
            <a:headEnd/>
            <a:tailEnd type="triangle" w="med" len="med"/>
          </a:ln>
        </p:spPr>
        <p:txBody>
          <a:bodyPr/>
          <a:lstStyle/>
          <a:p>
            <a:endParaRPr lang="en-US"/>
          </a:p>
        </p:txBody>
      </p:sp>
      <p:sp>
        <p:nvSpPr>
          <p:cNvPr id="18" name="Text Box 55">
            <a:extLst>
              <a:ext uri="{FF2B5EF4-FFF2-40B4-BE49-F238E27FC236}">
                <a16:creationId xmlns:a16="http://schemas.microsoft.com/office/drawing/2014/main" id="{59A3F61B-4BF8-4AA4-A843-BFFAF710D40A}"/>
              </a:ext>
            </a:extLst>
          </p:cNvPr>
          <p:cNvSpPr txBox="1">
            <a:spLocks noChangeArrowheads="1"/>
          </p:cNvSpPr>
          <p:nvPr/>
        </p:nvSpPr>
        <p:spPr bwMode="auto">
          <a:xfrm>
            <a:off x="1103243" y="3653589"/>
            <a:ext cx="241300" cy="400050"/>
          </a:xfrm>
          <a:prstGeom prst="rect">
            <a:avLst/>
          </a:prstGeom>
          <a:noFill/>
          <a:ln w="9525">
            <a:noFill/>
            <a:miter lim="800000"/>
            <a:headEnd/>
            <a:tailEnd/>
          </a:ln>
        </p:spPr>
        <p:txBody>
          <a:bodyPr>
            <a:spAutoFit/>
          </a:bodyPr>
          <a:lstStyle/>
          <a:p>
            <a:r>
              <a:rPr lang="en-US" sz="2000"/>
              <a:t>i</a:t>
            </a:r>
          </a:p>
        </p:txBody>
      </p:sp>
      <p:sp>
        <p:nvSpPr>
          <p:cNvPr id="19" name="Line 56">
            <a:extLst>
              <a:ext uri="{FF2B5EF4-FFF2-40B4-BE49-F238E27FC236}">
                <a16:creationId xmlns:a16="http://schemas.microsoft.com/office/drawing/2014/main" id="{A77B80A7-41AB-40B4-A8DB-8A47EA96BF8F}"/>
              </a:ext>
            </a:extLst>
          </p:cNvPr>
          <p:cNvSpPr>
            <a:spLocks noChangeShapeType="1"/>
          </p:cNvSpPr>
          <p:nvPr/>
        </p:nvSpPr>
        <p:spPr bwMode="auto">
          <a:xfrm>
            <a:off x="3034908" y="4810952"/>
            <a:ext cx="2057400" cy="0"/>
          </a:xfrm>
          <a:prstGeom prst="line">
            <a:avLst/>
          </a:prstGeom>
          <a:noFill/>
          <a:ln w="9525">
            <a:solidFill>
              <a:schemeClr val="tx1"/>
            </a:solidFill>
            <a:round/>
            <a:headEnd/>
            <a:tailEnd type="triangle" w="med" len="med"/>
          </a:ln>
        </p:spPr>
        <p:txBody>
          <a:bodyPr/>
          <a:lstStyle/>
          <a:p>
            <a:endParaRPr lang="en-US"/>
          </a:p>
        </p:txBody>
      </p:sp>
      <p:sp>
        <p:nvSpPr>
          <p:cNvPr id="20" name="Text Box 57">
            <a:extLst>
              <a:ext uri="{FF2B5EF4-FFF2-40B4-BE49-F238E27FC236}">
                <a16:creationId xmlns:a16="http://schemas.microsoft.com/office/drawing/2014/main" id="{37DF9DE4-C969-4952-9753-28A2B0DA8E4A}"/>
              </a:ext>
            </a:extLst>
          </p:cNvPr>
          <p:cNvSpPr txBox="1">
            <a:spLocks noChangeArrowheads="1"/>
          </p:cNvSpPr>
          <p:nvPr/>
        </p:nvSpPr>
        <p:spPr bwMode="auto">
          <a:xfrm>
            <a:off x="3822308" y="4839528"/>
            <a:ext cx="241300" cy="400050"/>
          </a:xfrm>
          <a:prstGeom prst="rect">
            <a:avLst/>
          </a:prstGeom>
          <a:noFill/>
          <a:ln w="9525">
            <a:noFill/>
            <a:miter lim="800000"/>
            <a:headEnd/>
            <a:tailEnd/>
          </a:ln>
        </p:spPr>
        <p:txBody>
          <a:bodyPr>
            <a:spAutoFit/>
          </a:bodyPr>
          <a:lstStyle/>
          <a:p>
            <a:r>
              <a:rPr lang="en-US" sz="2000" dirty="0"/>
              <a:t>j</a:t>
            </a:r>
          </a:p>
        </p:txBody>
      </p:sp>
      <p:sp>
        <p:nvSpPr>
          <p:cNvPr id="22" name="Rectangular Callout 18">
            <a:extLst>
              <a:ext uri="{FF2B5EF4-FFF2-40B4-BE49-F238E27FC236}">
                <a16:creationId xmlns:a16="http://schemas.microsoft.com/office/drawing/2014/main" id="{F57F1F9C-DE94-4013-957B-BEB123420115}"/>
              </a:ext>
            </a:extLst>
          </p:cNvPr>
          <p:cNvSpPr/>
          <p:nvPr/>
        </p:nvSpPr>
        <p:spPr bwMode="auto">
          <a:xfrm>
            <a:off x="5271603" y="6074990"/>
            <a:ext cx="3289853" cy="419100"/>
          </a:xfrm>
          <a:prstGeom prst="wedgeRectCallout">
            <a:avLst>
              <a:gd name="adj1" fmla="val -24338"/>
              <a:gd name="adj2" fmla="val -160598"/>
            </a:avLst>
          </a:prstGeom>
          <a:ln>
            <a:headEnd type="none" w="med" len="med"/>
            <a:tailEnd type="none" w="med" len="med"/>
          </a:ln>
        </p:spPr>
        <p:style>
          <a:lnRef idx="2">
            <a:schemeClr val="accent1"/>
          </a:lnRef>
          <a:fillRef idx="1">
            <a:schemeClr val="lt1"/>
          </a:fillRef>
          <a:effectRef idx="0">
            <a:schemeClr val="accent1"/>
          </a:effectRef>
          <a:fontRef idx="minor">
            <a:schemeClr val="dk1"/>
          </a:fontRef>
        </p:style>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r>
              <a:rPr kumimoji="0" lang="en-US" sz="2000" b="0" i="0" u="none" strike="noStrike" cap="none" normalizeH="0" baseline="0" dirty="0">
                <a:ln>
                  <a:noFill/>
                </a:ln>
                <a:solidFill>
                  <a:schemeClr val="tx1"/>
                </a:solidFill>
                <a:effectLst/>
                <a:latin typeface="Arial" charset="0"/>
                <a:ea typeface="ＭＳ Ｐゴシック" pitchFamily="16" charset="-128"/>
              </a:rPr>
              <a:t>Avg. Payoff for alternative i</a:t>
            </a:r>
          </a:p>
        </p:txBody>
      </p:sp>
      <p:sp>
        <p:nvSpPr>
          <p:cNvPr id="23" name="Rectangle 49">
            <a:extLst>
              <a:ext uri="{FF2B5EF4-FFF2-40B4-BE49-F238E27FC236}">
                <a16:creationId xmlns:a16="http://schemas.microsoft.com/office/drawing/2014/main" id="{2314E211-8521-4A5F-B305-C26A2CA0E8A5}"/>
              </a:ext>
            </a:extLst>
          </p:cNvPr>
          <p:cNvSpPr>
            <a:spLocks noChangeArrowheads="1"/>
          </p:cNvSpPr>
          <p:nvPr/>
        </p:nvSpPr>
        <p:spPr bwMode="auto">
          <a:xfrm>
            <a:off x="8269356" y="2323783"/>
            <a:ext cx="2027583" cy="2362200"/>
          </a:xfrm>
          <a:prstGeom prst="rect">
            <a:avLst/>
          </a:prstGeom>
          <a:noFill/>
          <a:ln w="9525">
            <a:noFill/>
            <a:miter lim="800000"/>
            <a:headEnd/>
            <a:tailEnd/>
          </a:ln>
        </p:spPr>
        <p:txBody>
          <a:bodyPr/>
          <a:lstStyle/>
          <a:p>
            <a:pPr marL="533400" indent="-533400" algn="ctr" eaLnBrk="1" hangingPunct="1">
              <a:spcBef>
                <a:spcPct val="20000"/>
              </a:spcBef>
              <a:buClr>
                <a:schemeClr val="hlink"/>
              </a:buClr>
              <a:buSzPct val="65000"/>
              <a:buFont typeface="Wingdings" pitchFamily="2" charset="2"/>
              <a:buNone/>
              <a:tabLst>
                <a:tab pos="2624138" algn="r"/>
              </a:tabLst>
            </a:pPr>
            <a:r>
              <a:rPr lang="en-US" sz="2000" dirty="0"/>
              <a:t>Average Payoff</a:t>
            </a:r>
          </a:p>
          <a:p>
            <a:pPr marL="533400" indent="-533400" algn="ctr" eaLnBrk="1" hangingPunct="1">
              <a:spcBef>
                <a:spcPct val="20000"/>
              </a:spcBef>
              <a:buClr>
                <a:schemeClr val="hlink"/>
              </a:buClr>
              <a:buSzPct val="65000"/>
              <a:buFont typeface="Wingdings" pitchFamily="2" charset="2"/>
              <a:buNone/>
              <a:tabLst>
                <a:tab pos="2624138" algn="r"/>
              </a:tabLst>
            </a:pPr>
            <a:endParaRPr lang="en-US" sz="2000" dirty="0"/>
          </a:p>
          <a:p>
            <a:pPr marL="533400" indent="-533400" eaLnBrk="1" hangingPunct="1">
              <a:spcBef>
                <a:spcPct val="20000"/>
              </a:spcBef>
              <a:buClr>
                <a:schemeClr val="hlink"/>
              </a:buClr>
              <a:buSzPct val="65000"/>
              <a:buFont typeface="Wingdings" pitchFamily="2" charset="2"/>
              <a:buNone/>
              <a:tabLst>
                <a:tab pos="2624138" algn="r"/>
              </a:tabLst>
            </a:pPr>
            <a:r>
              <a:rPr lang="en-US" sz="2000" dirty="0"/>
              <a:t>	 200 	</a:t>
            </a:r>
            <a:endParaRPr lang="en-US" sz="2000" baseline="-25000" dirty="0"/>
          </a:p>
          <a:p>
            <a:pPr marL="533400" indent="-533400" eaLnBrk="1" hangingPunct="1">
              <a:spcBef>
                <a:spcPct val="20000"/>
              </a:spcBef>
              <a:buClr>
                <a:schemeClr val="hlink"/>
              </a:buClr>
              <a:buSzPct val="65000"/>
              <a:buFont typeface="Wingdings" pitchFamily="2" charset="2"/>
              <a:buNone/>
              <a:tabLst>
                <a:tab pos="2624138" algn="r"/>
              </a:tabLst>
            </a:pPr>
            <a:r>
              <a:rPr lang="en-US" sz="2000" dirty="0"/>
              <a:t>	183.33 	</a:t>
            </a:r>
            <a:endParaRPr lang="en-US" sz="2000" baseline="-25000" dirty="0"/>
          </a:p>
          <a:p>
            <a:pPr marL="533400" indent="-533400" eaLnBrk="1" hangingPunct="1">
              <a:spcBef>
                <a:spcPct val="20000"/>
              </a:spcBef>
              <a:buClr>
                <a:schemeClr val="hlink"/>
              </a:buClr>
              <a:buSzPct val="65000"/>
              <a:buFont typeface="Wingdings" pitchFamily="2" charset="2"/>
              <a:buNone/>
              <a:tabLst>
                <a:tab pos="2624138" algn="r"/>
              </a:tabLst>
            </a:pPr>
            <a:r>
              <a:rPr lang="en-US" sz="2000" dirty="0"/>
              <a:t>	</a:t>
            </a:r>
            <a:r>
              <a:rPr lang="en-US" sz="2000" dirty="0">
                <a:solidFill>
                  <a:srgbClr val="FF0000"/>
                </a:solidFill>
              </a:rPr>
              <a:t> 233.33 </a:t>
            </a:r>
            <a:r>
              <a:rPr lang="en-US" sz="2000" dirty="0"/>
              <a:t>	</a:t>
            </a:r>
            <a:endParaRPr lang="en-US" sz="2000" baseline="-25000" dirty="0"/>
          </a:p>
          <a:p>
            <a:pPr marL="533400" indent="-533400" eaLnBrk="1" hangingPunct="1">
              <a:spcBef>
                <a:spcPct val="20000"/>
              </a:spcBef>
              <a:buClr>
                <a:schemeClr val="hlink"/>
              </a:buClr>
              <a:buSzPct val="65000"/>
              <a:buFont typeface="Wingdings" pitchFamily="2" charset="2"/>
              <a:buNone/>
              <a:tabLst>
                <a:tab pos="2624138" algn="r"/>
              </a:tabLst>
            </a:pPr>
            <a:r>
              <a:rPr lang="en-US" sz="2000" dirty="0"/>
              <a:t>	 200 	</a:t>
            </a:r>
            <a:endParaRPr lang="en-US" sz="2000" baseline="-25000" dirty="0"/>
          </a:p>
        </p:txBody>
      </p:sp>
      <p:sp>
        <p:nvSpPr>
          <p:cNvPr id="6" name="TextBox 5">
            <a:extLst>
              <a:ext uri="{FF2B5EF4-FFF2-40B4-BE49-F238E27FC236}">
                <a16:creationId xmlns:a16="http://schemas.microsoft.com/office/drawing/2014/main" id="{B940C07E-295C-482E-8205-DF3A25E6A9FC}"/>
              </a:ext>
            </a:extLst>
          </p:cNvPr>
          <p:cNvSpPr txBox="1"/>
          <p:nvPr/>
        </p:nvSpPr>
        <p:spPr>
          <a:xfrm>
            <a:off x="8822634" y="5575852"/>
            <a:ext cx="3084444" cy="646331"/>
          </a:xfrm>
          <a:prstGeom prst="rect">
            <a:avLst/>
          </a:prstGeom>
          <a:noFill/>
        </p:spPr>
        <p:txBody>
          <a:bodyPr wrap="square" rtlCol="0">
            <a:spAutoFit/>
          </a:bodyPr>
          <a:lstStyle/>
          <a:p>
            <a:r>
              <a:rPr lang="en-US" dirty="0"/>
              <a:t>n: number of alternatives</a:t>
            </a:r>
          </a:p>
          <a:p>
            <a:r>
              <a:rPr lang="en-US" dirty="0"/>
              <a:t>m: number of states of nature</a:t>
            </a:r>
          </a:p>
        </p:txBody>
      </p:sp>
      <p:sp>
        <p:nvSpPr>
          <p:cNvPr id="21" name="Text Box 3">
            <a:extLst>
              <a:ext uri="{FF2B5EF4-FFF2-40B4-BE49-F238E27FC236}">
                <a16:creationId xmlns:a16="http://schemas.microsoft.com/office/drawing/2014/main" id="{72E80896-5B2F-4488-974E-CFBF8B217381}"/>
              </a:ext>
            </a:extLst>
          </p:cNvPr>
          <p:cNvSpPr txBox="1">
            <a:spLocks noChangeArrowheads="1"/>
          </p:cNvSpPr>
          <p:nvPr/>
        </p:nvSpPr>
        <p:spPr bwMode="auto">
          <a:xfrm>
            <a:off x="523812" y="5923584"/>
            <a:ext cx="4666662" cy="230832"/>
          </a:xfrm>
          <a:prstGeom prst="rect">
            <a:avLst/>
          </a:prstGeom>
          <a:noFill/>
          <a:ln w="12700">
            <a:noFill/>
            <a:miter lim="800000"/>
            <a:headEnd/>
            <a:tailEnd/>
          </a:ln>
        </p:spPr>
        <p:txBody>
          <a:bodyPr wrap="none">
            <a:spAutoFit/>
          </a:bodyPr>
          <a:lstStyle/>
          <a:p>
            <a:pPr algn="ctr"/>
            <a:r>
              <a:rPr lang="en-US" sz="900"/>
              <a:t>(Adapted From: Blanchard and Fabrycky, “System Engineering and Analysis, Prentice Hall, 1998)</a:t>
            </a:r>
          </a:p>
        </p:txBody>
      </p:sp>
    </p:spTree>
    <p:extLst>
      <p:ext uri="{BB962C8B-B14F-4D97-AF65-F5344CB8AC3E}">
        <p14:creationId xmlns:p14="http://schemas.microsoft.com/office/powerpoint/2010/main" val="225218523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Decision Making under Uncertainty</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r>
                  <a:rPr lang="en-US" b="1" u="sng" dirty="0">
                    <a:solidFill>
                      <a:srgbClr val="C00000"/>
                    </a:solidFill>
                  </a:rPr>
                  <a:t>Realism – </a:t>
                </a:r>
                <a:r>
                  <a:rPr lang="en-US" b="1" u="sng" dirty="0" err="1">
                    <a:solidFill>
                      <a:srgbClr val="C00000"/>
                    </a:solidFill>
                  </a:rPr>
                  <a:t>Hurwicz</a:t>
                </a:r>
                <a:r>
                  <a:rPr lang="en-US" b="1" u="sng" dirty="0">
                    <a:solidFill>
                      <a:srgbClr val="C00000"/>
                    </a:solidFill>
                  </a:rPr>
                  <a:t> Criterion (not in the book)</a:t>
                </a:r>
              </a:p>
              <a:p>
                <a:pPr lvl="1"/>
                <a:r>
                  <a:rPr lang="en-US" dirty="0"/>
                  <a:t>Combination of maximin and </a:t>
                </a:r>
                <a:r>
                  <a:rPr lang="en-US" dirty="0" err="1"/>
                  <a:t>maximax</a:t>
                </a:r>
                <a:endParaRPr lang="en-US" dirty="0"/>
              </a:p>
              <a:p>
                <a:pPr lvl="1"/>
                <a:r>
                  <a:rPr lang="en-US" b="1" u="sng" dirty="0"/>
                  <a:t>Procedure:</a:t>
                </a:r>
              </a:p>
              <a:p>
                <a:pPr lvl="2"/>
                <a:r>
                  <a:rPr lang="en-US" dirty="0"/>
                  <a:t>Give a weight for the maximum and minimum of the alternatives (</a:t>
                </a:r>
                <a14:m>
                  <m:oMath xmlns:m="http://schemas.openxmlformats.org/officeDocument/2006/math">
                    <m:r>
                      <a:rPr lang="en-US" b="0" i="1" smtClean="0">
                        <a:latin typeface="Cambria Math" panose="02040503050406030204" pitchFamily="18" charset="0"/>
                      </a:rPr>
                      <m:t>𝛼</m:t>
                    </m:r>
                  </m:oMath>
                </a14:m>
                <a:r>
                  <a:rPr lang="en-US" dirty="0"/>
                  <a:t> vs. </a:t>
                </a:r>
                <a14:m>
                  <m:oMath xmlns:m="http://schemas.openxmlformats.org/officeDocument/2006/math">
                    <m:r>
                      <a:rPr lang="en-US" b="0" i="1" smtClean="0">
                        <a:latin typeface="Cambria Math" panose="02040503050406030204" pitchFamily="18" charset="0"/>
                      </a:rPr>
                      <m:t>1−</m:t>
                    </m:r>
                    <m:r>
                      <a:rPr lang="en-US" b="0" i="1" smtClean="0">
                        <a:latin typeface="Cambria Math" panose="02040503050406030204" pitchFamily="18" charset="0"/>
                      </a:rPr>
                      <m:t>𝛼</m:t>
                    </m:r>
                  </m:oMath>
                </a14:m>
                <a:r>
                  <a:rPr lang="en-US" dirty="0"/>
                  <a:t>)</a:t>
                </a:r>
              </a:p>
              <a:p>
                <a:pPr lvl="2"/>
                <a:r>
                  <a:rPr lang="en-US" dirty="0"/>
                  <a:t>Calculate the weighted average of the maximum and minimums</a:t>
                </a:r>
              </a:p>
              <a:p>
                <a:pPr lvl="2"/>
                <a:r>
                  <a:rPr lang="en-US" dirty="0"/>
                  <a:t>Pick the one with the best weighted average payoff</a:t>
                </a:r>
              </a:p>
              <a:p>
                <a:pPr lvl="8"/>
                <a:endParaRPr lang="en-US" dirty="0"/>
              </a:p>
              <a:p>
                <a:pPr lvl="1"/>
                <a:r>
                  <a:rPr lang="en-US" b="1" u="sng" dirty="0"/>
                  <a:t>Case: The </a:t>
                </a:r>
                <a:r>
                  <a:rPr lang="en-US" b="1" u="sng" dirty="0" err="1"/>
                  <a:t>Goferbroke</a:t>
                </a:r>
                <a:r>
                  <a:rPr lang="en-US" b="1" u="sng" dirty="0"/>
                  <a:t> Company Problem</a:t>
                </a:r>
              </a:p>
              <a:p>
                <a:pPr lvl="2"/>
                <a:r>
                  <a:rPr lang="en-US" dirty="0"/>
                  <a:t>Say </a:t>
                </a:r>
                <a14:m>
                  <m:oMath xmlns:m="http://schemas.openxmlformats.org/officeDocument/2006/math">
                    <m:r>
                      <a:rPr lang="en-US" b="0" i="1" smtClean="0">
                        <a:latin typeface="Cambria Math" panose="02040503050406030204" pitchFamily="18" charset="0"/>
                      </a:rPr>
                      <m:t>𝛼</m:t>
                    </m:r>
                    <m:r>
                      <a:rPr lang="en-US" b="0" i="1" smtClean="0">
                        <a:latin typeface="Cambria Math" panose="02040503050406030204" pitchFamily="18" charset="0"/>
                      </a:rPr>
                      <m:t>=0.3</m:t>
                    </m:r>
                  </m:oMath>
                </a14:m>
                <a:r>
                  <a:rPr lang="en-US" dirty="0"/>
                  <a:t> and </a:t>
                </a:r>
                <a14:m>
                  <m:oMath xmlns:m="http://schemas.openxmlformats.org/officeDocument/2006/math">
                    <m:r>
                      <a:rPr lang="en-US" b="0" i="1" smtClean="0">
                        <a:latin typeface="Cambria Math" panose="02040503050406030204" pitchFamily="18" charset="0"/>
                      </a:rPr>
                      <m:t>1−</m:t>
                    </m:r>
                    <m:r>
                      <a:rPr lang="en-US" b="0" i="1" smtClean="0">
                        <a:latin typeface="Cambria Math" panose="02040503050406030204" pitchFamily="18" charset="0"/>
                      </a:rPr>
                      <m:t>𝛼</m:t>
                    </m:r>
                    <m:r>
                      <a:rPr lang="en-US" b="0" i="1" smtClean="0">
                        <a:latin typeface="Cambria Math" panose="02040503050406030204" pitchFamily="18" charset="0"/>
                      </a:rPr>
                      <m:t>=0.7</m:t>
                    </m:r>
                  </m:oMath>
                </a14:m>
                <a:r>
                  <a:rPr lang="en-US" dirty="0"/>
                  <a:t> so, more pessimistic! </a:t>
                </a:r>
              </a:p>
              <a:p>
                <a:endParaRPr lang="en-US" sz="2400" b="1" dirty="0"/>
              </a:p>
              <a:p>
                <a:pPr lvl="1"/>
                <a:endParaRPr lang="en-US" dirty="0"/>
              </a:p>
              <a:p>
                <a:pPr lvl="1"/>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4"/>
                <a:stretch>
                  <a:fillRect l="-956" t="-200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graphicFrame>
            <p:nvGraphicFramePr>
              <p:cNvPr id="8" name="Group 72">
                <a:extLst>
                  <a:ext uri="{FF2B5EF4-FFF2-40B4-BE49-F238E27FC236}">
                    <a16:creationId xmlns:a16="http://schemas.microsoft.com/office/drawing/2014/main" id="{8E6606C0-D80A-4640-92E8-330CFBD3A9B2}"/>
                  </a:ext>
                </a:extLst>
              </p:cNvPr>
              <p:cNvGraphicFramePr>
                <a:graphicFrameLocks noGrp="1"/>
              </p:cNvGraphicFramePr>
              <p:nvPr>
                <p:extLst>
                  <p:ext uri="{D42A27DB-BD31-4B8C-83A1-F6EECF244321}">
                    <p14:modId xmlns:p14="http://schemas.microsoft.com/office/powerpoint/2010/main" val="2286726962"/>
                  </p:ext>
                </p:extLst>
              </p:nvPr>
            </p:nvGraphicFramePr>
            <p:xfrm>
              <a:off x="1129747" y="4697592"/>
              <a:ext cx="8829263" cy="1905000"/>
            </p:xfrm>
            <a:graphic>
              <a:graphicData uri="http://schemas.openxmlformats.org/drawingml/2006/table">
                <a:tbl>
                  <a:tblPr/>
                  <a:tblGrid>
                    <a:gridCol w="1446740">
                      <a:extLst>
                        <a:ext uri="{9D8B030D-6E8A-4147-A177-3AD203B41FA5}">
                          <a16:colId xmlns:a16="http://schemas.microsoft.com/office/drawing/2014/main" val="20000"/>
                        </a:ext>
                      </a:extLst>
                    </a:gridCol>
                    <a:gridCol w="820280">
                      <a:extLst>
                        <a:ext uri="{9D8B030D-6E8A-4147-A177-3AD203B41FA5}">
                          <a16:colId xmlns:a16="http://schemas.microsoft.com/office/drawing/2014/main" val="20001"/>
                        </a:ext>
                      </a:extLst>
                    </a:gridCol>
                    <a:gridCol w="1318679">
                      <a:extLst>
                        <a:ext uri="{9D8B030D-6E8A-4147-A177-3AD203B41FA5}">
                          <a16:colId xmlns:a16="http://schemas.microsoft.com/office/drawing/2014/main" val="20002"/>
                        </a:ext>
                      </a:extLst>
                    </a:gridCol>
                    <a:gridCol w="5243564">
                      <a:extLst>
                        <a:ext uri="{9D8B030D-6E8A-4147-A177-3AD203B41FA5}">
                          <a16:colId xmlns:a16="http://schemas.microsoft.com/office/drawing/2014/main" val="20003"/>
                        </a:ext>
                      </a:extLst>
                    </a:gridCol>
                  </a:tblGrid>
                  <a:tr h="476250">
                    <a:tc>
                      <a:txBody>
                        <a:bodyPr/>
                        <a:lstStyle/>
                        <a:p>
                          <a:pPr marL="0" marR="0" lvl="0" indent="0" algn="l" defTabSz="914400" rtl="0" eaLnBrk="1" fontAlgn="base" latinLnBrk="0" hangingPunct="1">
                            <a:lnSpc>
                              <a:spcPct val="100000"/>
                            </a:lnSpc>
                            <a:spcBef>
                              <a:spcPct val="100000"/>
                            </a:spcBef>
                            <a:spcAft>
                              <a:spcPct val="0"/>
                            </a:spcAft>
                            <a:buClrTx/>
                            <a:buSzTx/>
                            <a:buFontTx/>
                            <a:buNone/>
                            <a:tabLst/>
                          </a:pPr>
                          <a:endParaRPr kumimoji="0" lang="en-US" sz="1600" b="1" i="0" u="none" strike="noStrike" cap="none" normalizeH="0" baseline="0" dirty="0">
                            <a:ln>
                              <a:noFill/>
                            </a:ln>
                            <a:solidFill>
                              <a:schemeClr val="tx1"/>
                            </a:solidFill>
                            <a:effectLst/>
                            <a:latin typeface="Times New Roman" pitchFamily="1" charset="0"/>
                          </a:endParaRPr>
                        </a:p>
                      </a:txBody>
                      <a:tcPr marT="45731" marB="45731" horzOverflow="overflow">
                        <a:lnL cap="flat">
                          <a:noFill/>
                        </a:lnL>
                        <a:lnR>
                          <a:noFill/>
                        </a:lnR>
                        <a:lnT cap="flat">
                          <a:noFill/>
                        </a:lnT>
                        <a:lnB>
                          <a:noFill/>
                        </a:lnB>
                        <a:lnTlToBr>
                          <a:noFill/>
                        </a:lnTlToBr>
                        <a:lnBlToTr>
                          <a:noFill/>
                        </a:lnBlToTr>
                        <a:noFill/>
                      </a:tcPr>
                    </a:tc>
                    <a:tc gridSpan="2">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r>
                            <a:rPr kumimoji="0" lang="en-US" sz="1600" b="1" i="0" u="none" strike="noStrike" cap="none" normalizeH="0" baseline="0" dirty="0">
                              <a:ln>
                                <a:noFill/>
                              </a:ln>
                              <a:solidFill>
                                <a:schemeClr val="tx1"/>
                              </a:solidFill>
                              <a:effectLst/>
                              <a:latin typeface="Times New Roman" pitchFamily="1" charset="0"/>
                            </a:rPr>
                            <a:t>State of Nature</a:t>
                          </a:r>
                        </a:p>
                      </a:txBody>
                      <a:tcPr marT="45731" marB="45731" horzOverflow="overflow">
                        <a:lnL>
                          <a:noFill/>
                        </a:lnL>
                        <a:lnR>
                          <a:noFill/>
                        </a:lnR>
                        <a:lnT cap="flat">
                          <a:noFill/>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en-US"/>
                        </a:p>
                      </a:txBody>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endParaRPr kumimoji="0" lang="en-US" sz="1600" b="1" i="0" u="none" strike="noStrike" cap="none" normalizeH="0" baseline="0" dirty="0">
                            <a:ln>
                              <a:noFill/>
                            </a:ln>
                            <a:solidFill>
                              <a:schemeClr val="tx1"/>
                            </a:solidFill>
                            <a:effectLst/>
                            <a:latin typeface="Times New Roman" pitchFamily="1" charset="0"/>
                          </a:endParaRPr>
                        </a:p>
                      </a:txBody>
                      <a:tcPr marT="45731" marB="45731" horzOverflow="overflow">
                        <a:lnL>
                          <a:noFill/>
                        </a:lnL>
                        <a:lnR cap="flat">
                          <a:noFill/>
                        </a:lnR>
                        <a:lnT cap="flat">
                          <a:noFill/>
                        </a:lnT>
                        <a:lnB>
                          <a:noFill/>
                        </a:lnB>
                        <a:lnTlToBr>
                          <a:noFill/>
                        </a:lnTlToBr>
                        <a:lnBlToTr>
                          <a:noFill/>
                        </a:lnBlToTr>
                        <a:noFill/>
                      </a:tcPr>
                    </a:tc>
                    <a:extLst>
                      <a:ext uri="{0D108BD9-81ED-4DB2-BD59-A6C34878D82A}">
                        <a16:rowId xmlns:a16="http://schemas.microsoft.com/office/drawing/2014/main" val="10000"/>
                      </a:ext>
                    </a:extLst>
                  </a:tr>
                  <a:tr h="476250">
                    <a:tc>
                      <a:txBody>
                        <a:bodyPr/>
                        <a:lstStyle/>
                        <a:p>
                          <a:pPr marL="0" marR="0" lvl="0" indent="0" algn="l" defTabSz="914400" rtl="0" eaLnBrk="1" fontAlgn="base" latinLnBrk="0" hangingPunct="1">
                            <a:lnSpc>
                              <a:spcPct val="100000"/>
                            </a:lnSpc>
                            <a:spcBef>
                              <a:spcPct val="100000"/>
                            </a:spcBef>
                            <a:spcAft>
                              <a:spcPct val="0"/>
                            </a:spcAft>
                            <a:buClrTx/>
                            <a:buSzTx/>
                            <a:buFontTx/>
                            <a:buNone/>
                            <a:tabLst/>
                          </a:pPr>
                          <a:r>
                            <a:rPr kumimoji="0" lang="en-US" sz="1600" b="1" i="0" u="none" strike="noStrike" cap="none" normalizeH="0" baseline="0">
                              <a:ln>
                                <a:noFill/>
                              </a:ln>
                              <a:solidFill>
                                <a:schemeClr val="tx1"/>
                              </a:solidFill>
                              <a:effectLst/>
                              <a:latin typeface="Times New Roman" pitchFamily="1" charset="0"/>
                            </a:rPr>
                            <a:t>Alternative</a:t>
                          </a:r>
                        </a:p>
                      </a:txBody>
                      <a:tcPr marT="45731" marB="45731" horzOverflow="overflow">
                        <a:lnL cap="flat">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r>
                            <a:rPr kumimoji="0" lang="en-US" sz="1600" b="1" i="0" u="none" strike="noStrike" cap="none" normalizeH="0" baseline="0" dirty="0">
                              <a:ln>
                                <a:noFill/>
                              </a:ln>
                              <a:solidFill>
                                <a:schemeClr val="tx1"/>
                              </a:solidFill>
                              <a:effectLst/>
                              <a:latin typeface="Times New Roman" pitchFamily="1" charset="0"/>
                            </a:rPr>
                            <a:t>Oil</a:t>
                          </a:r>
                        </a:p>
                      </a:txBody>
                      <a:tcPr marT="45731" marB="45731" horzOverflow="overflow">
                        <a:lnL>
                          <a:noFill/>
                        </a:lnL>
                        <a:lnR>
                          <a:noFill/>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r>
                            <a:rPr kumimoji="0" lang="en-US" sz="1600" b="1" i="0" u="none" strike="noStrike" cap="none" normalizeH="0" baseline="0">
                              <a:ln>
                                <a:noFill/>
                              </a:ln>
                              <a:solidFill>
                                <a:schemeClr val="tx1"/>
                              </a:solidFill>
                              <a:effectLst/>
                              <a:latin typeface="Times New Roman" pitchFamily="1" charset="0"/>
                            </a:rPr>
                            <a:t>Dry</a:t>
                          </a:r>
                        </a:p>
                      </a:txBody>
                      <a:tcPr marT="45731" marB="45731" horzOverflow="overflow">
                        <a:lnL>
                          <a:noFill/>
                        </a:lnL>
                        <a:lnR>
                          <a:noFill/>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100000"/>
                            </a:spcBef>
                            <a:spcAft>
                              <a:spcPct val="0"/>
                            </a:spcAft>
                            <a:buClrTx/>
                            <a:buSzTx/>
                            <a:buFontTx/>
                            <a:buNone/>
                            <a:tabLst/>
                          </a:pPr>
                          <a:r>
                            <a:rPr kumimoji="0" lang="en-US" sz="1600" b="1" i="0" u="none" strike="noStrike" cap="none" normalizeH="0" baseline="0" dirty="0">
                              <a:ln>
                                <a:noFill/>
                              </a:ln>
                              <a:solidFill>
                                <a:schemeClr val="tx1"/>
                              </a:solidFill>
                              <a:effectLst/>
                              <a:latin typeface="Times New Roman" pitchFamily="1" charset="0"/>
                            </a:rPr>
                            <a:t>Weighted Average of Max and Min</a:t>
                          </a:r>
                        </a:p>
                      </a:txBody>
                      <a:tcPr marT="45731" marB="45731"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01"/>
                      </a:ext>
                    </a:extLst>
                  </a:tr>
                  <a:tr h="476250">
                    <a:tc>
                      <a:txBody>
                        <a:bodyPr/>
                        <a:lstStyle/>
                        <a:p>
                          <a:pPr marL="0" marR="0" lvl="0" indent="0" algn="l" defTabSz="914400" rtl="0" eaLnBrk="1" fontAlgn="base" latinLnBrk="0" hangingPunct="1">
                            <a:lnSpc>
                              <a:spcPct val="100000"/>
                            </a:lnSpc>
                            <a:spcBef>
                              <a:spcPct val="10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 charset="0"/>
                            </a:rPr>
                            <a:t>Drill for oil</a:t>
                          </a:r>
                        </a:p>
                      </a:txBody>
                      <a:tcPr marT="45731" marB="45731" horzOverflow="overflow">
                        <a:lnL cap="flat">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r>
                            <a:rPr kumimoji="0" lang="en-US" sz="1600" b="0" i="0" u="none" strike="noStrike" cap="none" normalizeH="0" baseline="0" dirty="0">
                              <a:ln>
                                <a:noFill/>
                              </a:ln>
                              <a:solidFill>
                                <a:schemeClr val="tx1"/>
                              </a:solidFill>
                              <a:effectLst/>
                              <a:latin typeface="Times New Roman" pitchFamily="1" charset="0"/>
                            </a:rPr>
                            <a:t>700</a:t>
                          </a:r>
                        </a:p>
                      </a:txBody>
                      <a:tcPr marT="45731" marB="45731"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 charset="0"/>
                            </a:rPr>
                            <a:t>–100</a:t>
                          </a:r>
                        </a:p>
                      </a:txBody>
                      <a:tcPr marT="45731" marB="45731" horzOverflow="overflow">
                        <a:lnL>
                          <a:noFill/>
                        </a:lnL>
                        <a:lnR>
                          <a:noFill/>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100000"/>
                            </a:spcBef>
                            <a:spcAft>
                              <a:spcPct val="0"/>
                            </a:spcAft>
                            <a:buClrTx/>
                            <a:buSzTx/>
                            <a:buFontTx/>
                            <a:buNone/>
                            <a:tabLst/>
                          </a:pPr>
                          <a14:m>
                            <m:oMath xmlns:m="http://schemas.openxmlformats.org/officeDocument/2006/math">
                              <m:r>
                                <a:rPr kumimoji="0" lang="en-US" sz="1600" b="0" i="1" u="none" strike="noStrike" cap="none" normalizeH="0" baseline="0" smtClean="0">
                                  <a:ln>
                                    <a:noFill/>
                                  </a:ln>
                                  <a:solidFill>
                                    <a:schemeClr val="tx1"/>
                                  </a:solidFill>
                                  <a:effectLst/>
                                  <a:latin typeface="Cambria Math" panose="02040503050406030204" pitchFamily="18" charset="0"/>
                                </a:rPr>
                                <m:t>𝛼</m:t>
                              </m:r>
                              <m:r>
                                <a:rPr kumimoji="0" lang="en-US" sz="1600" b="0" i="1" u="none" strike="noStrike" cap="none" normalizeH="0" baseline="0" smtClean="0">
                                  <a:ln>
                                    <a:noFill/>
                                  </a:ln>
                                  <a:solidFill>
                                    <a:schemeClr val="tx1"/>
                                  </a:solidFill>
                                  <a:effectLst/>
                                  <a:latin typeface="Cambria Math" panose="02040503050406030204" pitchFamily="18" charset="0"/>
                                </a:rPr>
                                <m:t>700+</m:t>
                              </m:r>
                              <m:d>
                                <m:dPr>
                                  <m:ctrlPr>
                                    <a:rPr kumimoji="0" lang="en-US" sz="1600" b="0" i="1" u="none" strike="noStrike" cap="none" normalizeH="0" baseline="0" smtClean="0">
                                      <a:ln>
                                        <a:noFill/>
                                      </a:ln>
                                      <a:solidFill>
                                        <a:schemeClr val="tx1"/>
                                      </a:solidFill>
                                      <a:effectLst/>
                                      <a:latin typeface="Cambria Math" panose="02040503050406030204" pitchFamily="18" charset="0"/>
                                    </a:rPr>
                                  </m:ctrlPr>
                                </m:dPr>
                                <m:e>
                                  <m:r>
                                    <a:rPr kumimoji="0" lang="en-US" sz="1600" b="0" i="1" u="none" strike="noStrike" cap="none" normalizeH="0" baseline="0" smtClean="0">
                                      <a:ln>
                                        <a:noFill/>
                                      </a:ln>
                                      <a:solidFill>
                                        <a:schemeClr val="tx1"/>
                                      </a:solidFill>
                                      <a:effectLst/>
                                      <a:latin typeface="Cambria Math" panose="02040503050406030204" pitchFamily="18" charset="0"/>
                                    </a:rPr>
                                    <m:t>1−</m:t>
                                  </m:r>
                                  <m:r>
                                    <a:rPr kumimoji="0" lang="en-US" sz="1600" b="0" i="1" u="none" strike="noStrike" cap="none" normalizeH="0" baseline="0" smtClean="0">
                                      <a:ln>
                                        <a:noFill/>
                                      </a:ln>
                                      <a:solidFill>
                                        <a:schemeClr val="tx1"/>
                                      </a:solidFill>
                                      <a:effectLst/>
                                      <a:latin typeface="Cambria Math" panose="02040503050406030204" pitchFamily="18" charset="0"/>
                                    </a:rPr>
                                    <m:t>𝛼</m:t>
                                  </m:r>
                                </m:e>
                              </m:d>
                              <m:d>
                                <m:dPr>
                                  <m:ctrlPr>
                                    <a:rPr kumimoji="0" lang="en-US" sz="1600" b="0" i="1" u="none" strike="noStrike" cap="none" normalizeH="0" baseline="0" smtClean="0">
                                      <a:ln>
                                        <a:noFill/>
                                      </a:ln>
                                      <a:solidFill>
                                        <a:schemeClr val="tx1"/>
                                      </a:solidFill>
                                      <a:effectLst/>
                                      <a:latin typeface="Cambria Math" panose="02040503050406030204" pitchFamily="18" charset="0"/>
                                    </a:rPr>
                                  </m:ctrlPr>
                                </m:dPr>
                                <m:e>
                                  <m:r>
                                    <a:rPr kumimoji="0" lang="en-US" sz="1600" b="0" i="1" u="none" strike="noStrike" cap="none" normalizeH="0" baseline="0" smtClean="0">
                                      <a:ln>
                                        <a:noFill/>
                                      </a:ln>
                                      <a:solidFill>
                                        <a:schemeClr val="tx1"/>
                                      </a:solidFill>
                                      <a:effectLst/>
                                      <a:latin typeface="Cambria Math" panose="02040503050406030204" pitchFamily="18" charset="0"/>
                                    </a:rPr>
                                    <m:t>−100</m:t>
                                  </m:r>
                                </m:e>
                              </m:d>
                              <m:r>
                                <a:rPr kumimoji="0" lang="en-US" sz="1600" b="0" i="1" u="none" strike="noStrike" cap="none" normalizeH="0" baseline="0" smtClean="0">
                                  <a:ln>
                                    <a:noFill/>
                                  </a:ln>
                                  <a:solidFill>
                                    <a:schemeClr val="tx1"/>
                                  </a:solidFill>
                                  <a:effectLst/>
                                  <a:latin typeface="Cambria Math" panose="02040503050406030204" pitchFamily="18" charset="0"/>
                                </a:rPr>
                                <m:t>=140</m:t>
                              </m:r>
                            </m:oMath>
                          </a14:m>
                          <a:r>
                            <a:rPr kumimoji="0" lang="en-US" sz="1600" b="0" i="0" u="none" strike="noStrike" cap="none" normalizeH="0" baseline="0" dirty="0">
                              <a:ln>
                                <a:noFill/>
                              </a:ln>
                              <a:solidFill>
                                <a:schemeClr val="tx1"/>
                              </a:solidFill>
                              <a:effectLst/>
                              <a:latin typeface="Times New Roman" pitchFamily="1" charset="0"/>
                            </a:rPr>
                            <a:t>  </a:t>
                          </a:r>
                          <a:r>
                            <a:rPr kumimoji="0" lang="en-US" sz="1600" b="0" i="0" u="none" strike="noStrike" cap="none" normalizeH="0" baseline="0" dirty="0">
                              <a:ln>
                                <a:noFill/>
                              </a:ln>
                              <a:solidFill>
                                <a:schemeClr val="tx1"/>
                              </a:solidFill>
                              <a:effectLst/>
                              <a:latin typeface="Times New Roman" pitchFamily="1" charset="0"/>
                              <a:sym typeface="Symbol" pitchFamily="1" charset="2"/>
                            </a:rPr>
                            <a:t></a:t>
                          </a:r>
                          <a:r>
                            <a:rPr kumimoji="0" lang="en-US" sz="1600" b="0" i="0" u="none" strike="noStrike" cap="none" normalizeH="0" baseline="0" dirty="0">
                              <a:ln>
                                <a:noFill/>
                              </a:ln>
                              <a:solidFill>
                                <a:schemeClr val="tx1"/>
                              </a:solidFill>
                              <a:effectLst/>
                              <a:latin typeface="Times New Roman" pitchFamily="1" charset="0"/>
                            </a:rPr>
                            <a:t> Max Weighted Average</a:t>
                          </a:r>
                        </a:p>
                      </a:txBody>
                      <a:tcPr marT="45731" marB="45731"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02"/>
                      </a:ext>
                    </a:extLst>
                  </a:tr>
                  <a:tr h="476250">
                    <a:tc>
                      <a:txBody>
                        <a:bodyPr/>
                        <a:lstStyle/>
                        <a:p>
                          <a:pPr marL="0" marR="0" lvl="0" indent="0" algn="l" defTabSz="914400" rtl="0" eaLnBrk="1" fontAlgn="base" latinLnBrk="0" hangingPunct="1">
                            <a:lnSpc>
                              <a:spcPct val="100000"/>
                            </a:lnSpc>
                            <a:spcBef>
                              <a:spcPct val="100000"/>
                            </a:spcBef>
                            <a:spcAft>
                              <a:spcPct val="0"/>
                            </a:spcAft>
                            <a:buClrTx/>
                            <a:buSzTx/>
                            <a:buFontTx/>
                            <a:buNone/>
                            <a:tabLst/>
                          </a:pPr>
                          <a:r>
                            <a:rPr kumimoji="0" lang="en-US" sz="1600" b="0" i="0" u="none" strike="noStrike" cap="none" normalizeH="0" baseline="0" dirty="0">
                              <a:ln>
                                <a:noFill/>
                              </a:ln>
                              <a:solidFill>
                                <a:schemeClr val="tx1"/>
                              </a:solidFill>
                              <a:effectLst/>
                              <a:latin typeface="Times New Roman" pitchFamily="1" charset="0"/>
                            </a:rPr>
                            <a:t>Sell the land</a:t>
                          </a:r>
                        </a:p>
                      </a:txBody>
                      <a:tcPr marT="45731" marB="45731" horzOverflow="overflow">
                        <a:lnL cap="flat">
                          <a:noFill/>
                        </a:lnL>
                        <a:lnR>
                          <a:noFill/>
                        </a:lnR>
                        <a:lnT>
                          <a:noFill/>
                        </a:lnT>
                        <a:lnB cap="flat">
                          <a:noFill/>
                        </a:lnB>
                        <a:lnTlToBr>
                          <a:noFill/>
                        </a:lnTlToBr>
                        <a:lnBlToTr>
                          <a:noFill/>
                        </a:lnBlToTr>
                        <a:noFill/>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 charset="0"/>
                            </a:rPr>
                            <a:t>90</a:t>
                          </a:r>
                        </a:p>
                      </a:txBody>
                      <a:tcPr marT="45731" marB="45731" horzOverflow="overflow">
                        <a:lnL>
                          <a:noFill/>
                        </a:lnL>
                        <a:lnR>
                          <a:noFill/>
                        </a:lnR>
                        <a:lnT>
                          <a:noFill/>
                        </a:lnT>
                        <a:lnB cap="flat">
                          <a:noFill/>
                        </a:lnB>
                        <a:lnTlToBr>
                          <a:noFill/>
                        </a:lnTlToBr>
                        <a:lnBlToTr>
                          <a:noFill/>
                        </a:lnBlToTr>
                        <a:noFill/>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r>
                            <a:rPr kumimoji="0" lang="en-US" sz="1600" b="0" i="0" u="none" strike="noStrike" cap="none" normalizeH="0" baseline="0" dirty="0">
                              <a:ln>
                                <a:noFill/>
                              </a:ln>
                              <a:solidFill>
                                <a:schemeClr val="tx1"/>
                              </a:solidFill>
                              <a:effectLst/>
                              <a:latin typeface="Times New Roman" pitchFamily="1" charset="0"/>
                            </a:rPr>
                            <a:t>90</a:t>
                          </a:r>
                        </a:p>
                      </a:txBody>
                      <a:tcPr marT="45731" marB="45731" horzOverflow="overflow">
                        <a:lnL>
                          <a:noFill/>
                        </a:lnL>
                        <a:lnR>
                          <a:noFill/>
                        </a:lnR>
                        <a:lnT>
                          <a:noFill/>
                        </a:lnT>
                        <a:lnB cap="flat">
                          <a:noFill/>
                        </a:lnB>
                        <a:lnTlToBr>
                          <a:noFill/>
                        </a:lnTlToBr>
                        <a:lnBlToTr>
                          <a:noFill/>
                        </a:lnBlToTr>
                        <a:noFill/>
                      </a:tcPr>
                    </a:tc>
                    <a:tc>
                      <a:txBody>
                        <a:bodyPr/>
                        <a:lstStyle/>
                        <a:p>
                          <a:pPr marL="0" marR="0" lvl="0" indent="0" algn="l" defTabSz="914400" rtl="0" eaLnBrk="1" fontAlgn="base" latinLnBrk="0" hangingPunct="1">
                            <a:lnSpc>
                              <a:spcPct val="100000"/>
                            </a:lnSpc>
                            <a:spcBef>
                              <a:spcPct val="100000"/>
                            </a:spcBef>
                            <a:spcAft>
                              <a:spcPct val="0"/>
                            </a:spcAft>
                            <a:buClrTx/>
                            <a:buSzTx/>
                            <a:buFontTx/>
                            <a:buNone/>
                            <a:tabLst/>
                          </a:pPr>
                          <a14:m>
                            <m:oMath xmlns:m="http://schemas.openxmlformats.org/officeDocument/2006/math">
                              <m:r>
                                <a:rPr kumimoji="0" lang="en-US" sz="1600" b="0" i="1" u="none" strike="noStrike" cap="none" normalizeH="0" baseline="0" smtClean="0">
                                  <a:ln>
                                    <a:noFill/>
                                  </a:ln>
                                  <a:solidFill>
                                    <a:schemeClr val="tx1"/>
                                  </a:solidFill>
                                  <a:effectLst/>
                                  <a:latin typeface="Cambria Math" panose="02040503050406030204" pitchFamily="18" charset="0"/>
                                </a:rPr>
                                <m:t>𝛼</m:t>
                              </m:r>
                              <m:r>
                                <a:rPr kumimoji="0" lang="en-US" sz="1600" b="0" i="1" u="none" strike="noStrike" cap="none" normalizeH="0" baseline="0" smtClean="0">
                                  <a:ln>
                                    <a:noFill/>
                                  </a:ln>
                                  <a:solidFill>
                                    <a:schemeClr val="tx1"/>
                                  </a:solidFill>
                                  <a:effectLst/>
                                  <a:latin typeface="Cambria Math" panose="02040503050406030204" pitchFamily="18" charset="0"/>
                                </a:rPr>
                                <m:t>90+</m:t>
                              </m:r>
                              <m:d>
                                <m:dPr>
                                  <m:ctrlPr>
                                    <a:rPr kumimoji="0" lang="en-US" sz="1600" b="0" i="1" u="none" strike="noStrike" cap="none" normalizeH="0" baseline="0" smtClean="0">
                                      <a:ln>
                                        <a:noFill/>
                                      </a:ln>
                                      <a:solidFill>
                                        <a:schemeClr val="tx1"/>
                                      </a:solidFill>
                                      <a:effectLst/>
                                      <a:latin typeface="Cambria Math" panose="02040503050406030204" pitchFamily="18" charset="0"/>
                                    </a:rPr>
                                  </m:ctrlPr>
                                </m:dPr>
                                <m:e>
                                  <m:r>
                                    <a:rPr kumimoji="0" lang="en-US" sz="1600" b="0" i="1" u="none" strike="noStrike" cap="none" normalizeH="0" baseline="0" smtClean="0">
                                      <a:ln>
                                        <a:noFill/>
                                      </a:ln>
                                      <a:solidFill>
                                        <a:schemeClr val="tx1"/>
                                      </a:solidFill>
                                      <a:effectLst/>
                                      <a:latin typeface="Cambria Math" panose="02040503050406030204" pitchFamily="18" charset="0"/>
                                    </a:rPr>
                                    <m:t>1−</m:t>
                                  </m:r>
                                  <m:r>
                                    <a:rPr kumimoji="0" lang="en-US" sz="1600" b="0" i="1" u="none" strike="noStrike" cap="none" normalizeH="0" baseline="0" smtClean="0">
                                      <a:ln>
                                        <a:noFill/>
                                      </a:ln>
                                      <a:solidFill>
                                        <a:schemeClr val="tx1"/>
                                      </a:solidFill>
                                      <a:effectLst/>
                                      <a:latin typeface="Cambria Math" panose="02040503050406030204" pitchFamily="18" charset="0"/>
                                    </a:rPr>
                                    <m:t>𝛼</m:t>
                                  </m:r>
                                </m:e>
                              </m:d>
                              <m:r>
                                <a:rPr kumimoji="0" lang="en-US" sz="1600" b="0" i="1" u="none" strike="noStrike" cap="none" normalizeH="0" baseline="0" smtClean="0">
                                  <a:ln>
                                    <a:noFill/>
                                  </a:ln>
                                  <a:solidFill>
                                    <a:schemeClr val="tx1"/>
                                  </a:solidFill>
                                  <a:effectLst/>
                                  <a:latin typeface="Cambria Math" panose="02040503050406030204" pitchFamily="18" charset="0"/>
                                </a:rPr>
                                <m:t>90=90</m:t>
                              </m:r>
                            </m:oMath>
                          </a14:m>
                          <a:r>
                            <a:rPr kumimoji="0" lang="en-US" sz="1600" b="0" i="0" u="none" strike="noStrike" cap="none" normalizeH="0" baseline="0" dirty="0">
                              <a:ln>
                                <a:noFill/>
                              </a:ln>
                              <a:solidFill>
                                <a:schemeClr val="tx1"/>
                              </a:solidFill>
                              <a:effectLst/>
                              <a:latin typeface="Times New Roman" pitchFamily="1" charset="0"/>
                            </a:rPr>
                            <a:t> </a:t>
                          </a:r>
                        </a:p>
                      </a:txBody>
                      <a:tcPr marT="45731" marB="45731" horzOverflow="overflow">
                        <a:lnL>
                          <a:noFill/>
                        </a:lnL>
                        <a:lnR cap="flat">
                          <a:noFill/>
                        </a:lnR>
                        <a:lnT>
                          <a:noFill/>
                        </a:lnT>
                        <a:lnB cap="flat">
                          <a:noFill/>
                        </a:lnB>
                        <a:lnTlToBr>
                          <a:noFill/>
                        </a:lnTlToBr>
                        <a:lnBlToTr>
                          <a:noFill/>
                        </a:lnBlToTr>
                        <a:noFill/>
                      </a:tcPr>
                    </a:tc>
                    <a:extLst>
                      <a:ext uri="{0D108BD9-81ED-4DB2-BD59-A6C34878D82A}">
                        <a16:rowId xmlns:a16="http://schemas.microsoft.com/office/drawing/2014/main" val="10003"/>
                      </a:ext>
                    </a:extLst>
                  </a:tr>
                </a:tbl>
              </a:graphicData>
            </a:graphic>
          </p:graphicFrame>
        </mc:Choice>
        <mc:Fallback xmlns="">
          <p:graphicFrame>
            <p:nvGraphicFramePr>
              <p:cNvPr id="8" name="Group 72">
                <a:extLst>
                  <a:ext uri="{FF2B5EF4-FFF2-40B4-BE49-F238E27FC236}">
                    <a16:creationId xmlns:a16="http://schemas.microsoft.com/office/drawing/2014/main" id="{8E6606C0-D80A-4640-92E8-330CFBD3A9B2}"/>
                  </a:ext>
                </a:extLst>
              </p:cNvPr>
              <p:cNvGraphicFramePr>
                <a:graphicFrameLocks noGrp="1"/>
              </p:cNvGraphicFramePr>
              <p:nvPr>
                <p:extLst>
                  <p:ext uri="{D42A27DB-BD31-4B8C-83A1-F6EECF244321}">
                    <p14:modId xmlns:p14="http://schemas.microsoft.com/office/powerpoint/2010/main" val="2286726962"/>
                  </p:ext>
                </p:extLst>
              </p:nvPr>
            </p:nvGraphicFramePr>
            <p:xfrm>
              <a:off x="1129747" y="4697592"/>
              <a:ext cx="8829263" cy="1905000"/>
            </p:xfrm>
            <a:graphic>
              <a:graphicData uri="http://schemas.openxmlformats.org/drawingml/2006/table">
                <a:tbl>
                  <a:tblPr/>
                  <a:tblGrid>
                    <a:gridCol w="1446740">
                      <a:extLst>
                        <a:ext uri="{9D8B030D-6E8A-4147-A177-3AD203B41FA5}">
                          <a16:colId xmlns:a16="http://schemas.microsoft.com/office/drawing/2014/main" val="20000"/>
                        </a:ext>
                      </a:extLst>
                    </a:gridCol>
                    <a:gridCol w="820280">
                      <a:extLst>
                        <a:ext uri="{9D8B030D-6E8A-4147-A177-3AD203B41FA5}">
                          <a16:colId xmlns:a16="http://schemas.microsoft.com/office/drawing/2014/main" val="20001"/>
                        </a:ext>
                      </a:extLst>
                    </a:gridCol>
                    <a:gridCol w="1318679">
                      <a:extLst>
                        <a:ext uri="{9D8B030D-6E8A-4147-A177-3AD203B41FA5}">
                          <a16:colId xmlns:a16="http://schemas.microsoft.com/office/drawing/2014/main" val="20002"/>
                        </a:ext>
                      </a:extLst>
                    </a:gridCol>
                    <a:gridCol w="5243564">
                      <a:extLst>
                        <a:ext uri="{9D8B030D-6E8A-4147-A177-3AD203B41FA5}">
                          <a16:colId xmlns:a16="http://schemas.microsoft.com/office/drawing/2014/main" val="20003"/>
                        </a:ext>
                      </a:extLst>
                    </a:gridCol>
                  </a:tblGrid>
                  <a:tr h="476250">
                    <a:tc>
                      <a:txBody>
                        <a:bodyPr/>
                        <a:lstStyle/>
                        <a:p>
                          <a:pPr marL="0" marR="0" lvl="0" indent="0" algn="l" defTabSz="914400" rtl="0" eaLnBrk="1" fontAlgn="base" latinLnBrk="0" hangingPunct="1">
                            <a:lnSpc>
                              <a:spcPct val="100000"/>
                            </a:lnSpc>
                            <a:spcBef>
                              <a:spcPct val="100000"/>
                            </a:spcBef>
                            <a:spcAft>
                              <a:spcPct val="0"/>
                            </a:spcAft>
                            <a:buClrTx/>
                            <a:buSzTx/>
                            <a:buFontTx/>
                            <a:buNone/>
                            <a:tabLst/>
                          </a:pPr>
                          <a:endParaRPr kumimoji="0" lang="en-US" sz="1600" b="1" i="0" u="none" strike="noStrike" cap="none" normalizeH="0" baseline="0" dirty="0">
                            <a:ln>
                              <a:noFill/>
                            </a:ln>
                            <a:solidFill>
                              <a:schemeClr val="tx1"/>
                            </a:solidFill>
                            <a:effectLst/>
                            <a:latin typeface="Times New Roman" pitchFamily="1" charset="0"/>
                          </a:endParaRPr>
                        </a:p>
                      </a:txBody>
                      <a:tcPr marT="45731" marB="45731" horzOverflow="overflow">
                        <a:lnL cap="flat">
                          <a:noFill/>
                        </a:lnL>
                        <a:lnR>
                          <a:noFill/>
                        </a:lnR>
                        <a:lnT cap="flat">
                          <a:noFill/>
                        </a:lnT>
                        <a:lnB>
                          <a:noFill/>
                        </a:lnB>
                        <a:lnTlToBr>
                          <a:noFill/>
                        </a:lnTlToBr>
                        <a:lnBlToTr>
                          <a:noFill/>
                        </a:lnBlToTr>
                        <a:noFill/>
                      </a:tcPr>
                    </a:tc>
                    <a:tc gridSpan="2">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r>
                            <a:rPr kumimoji="0" lang="en-US" sz="1600" b="1" i="0" u="none" strike="noStrike" cap="none" normalizeH="0" baseline="0" dirty="0">
                              <a:ln>
                                <a:noFill/>
                              </a:ln>
                              <a:solidFill>
                                <a:schemeClr val="tx1"/>
                              </a:solidFill>
                              <a:effectLst/>
                              <a:latin typeface="Times New Roman" pitchFamily="1" charset="0"/>
                            </a:rPr>
                            <a:t>State of Nature</a:t>
                          </a:r>
                        </a:p>
                      </a:txBody>
                      <a:tcPr marT="45731" marB="45731" horzOverflow="overflow">
                        <a:lnL>
                          <a:noFill/>
                        </a:lnL>
                        <a:lnR>
                          <a:noFill/>
                        </a:lnR>
                        <a:lnT cap="flat">
                          <a:noFill/>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en-US"/>
                        </a:p>
                      </a:txBody>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endParaRPr kumimoji="0" lang="en-US" sz="1600" b="1" i="0" u="none" strike="noStrike" cap="none" normalizeH="0" baseline="0" dirty="0">
                            <a:ln>
                              <a:noFill/>
                            </a:ln>
                            <a:solidFill>
                              <a:schemeClr val="tx1"/>
                            </a:solidFill>
                            <a:effectLst/>
                            <a:latin typeface="Times New Roman" pitchFamily="1" charset="0"/>
                          </a:endParaRPr>
                        </a:p>
                      </a:txBody>
                      <a:tcPr marT="45731" marB="45731" horzOverflow="overflow">
                        <a:lnL>
                          <a:noFill/>
                        </a:lnL>
                        <a:lnR cap="flat">
                          <a:noFill/>
                        </a:lnR>
                        <a:lnT cap="flat">
                          <a:noFill/>
                        </a:lnT>
                        <a:lnB>
                          <a:noFill/>
                        </a:lnB>
                        <a:lnTlToBr>
                          <a:noFill/>
                        </a:lnTlToBr>
                        <a:lnBlToTr>
                          <a:noFill/>
                        </a:lnBlToTr>
                        <a:noFill/>
                      </a:tcPr>
                    </a:tc>
                    <a:extLst>
                      <a:ext uri="{0D108BD9-81ED-4DB2-BD59-A6C34878D82A}">
                        <a16:rowId xmlns:a16="http://schemas.microsoft.com/office/drawing/2014/main" val="10000"/>
                      </a:ext>
                    </a:extLst>
                  </a:tr>
                  <a:tr h="476250">
                    <a:tc>
                      <a:txBody>
                        <a:bodyPr/>
                        <a:lstStyle/>
                        <a:p>
                          <a:pPr marL="0" marR="0" lvl="0" indent="0" algn="l" defTabSz="914400" rtl="0" eaLnBrk="1" fontAlgn="base" latinLnBrk="0" hangingPunct="1">
                            <a:lnSpc>
                              <a:spcPct val="100000"/>
                            </a:lnSpc>
                            <a:spcBef>
                              <a:spcPct val="100000"/>
                            </a:spcBef>
                            <a:spcAft>
                              <a:spcPct val="0"/>
                            </a:spcAft>
                            <a:buClrTx/>
                            <a:buSzTx/>
                            <a:buFontTx/>
                            <a:buNone/>
                            <a:tabLst/>
                          </a:pPr>
                          <a:r>
                            <a:rPr kumimoji="0" lang="en-US" sz="1600" b="1" i="0" u="none" strike="noStrike" cap="none" normalizeH="0" baseline="0">
                              <a:ln>
                                <a:noFill/>
                              </a:ln>
                              <a:solidFill>
                                <a:schemeClr val="tx1"/>
                              </a:solidFill>
                              <a:effectLst/>
                              <a:latin typeface="Times New Roman" pitchFamily="1" charset="0"/>
                            </a:rPr>
                            <a:t>Alternative</a:t>
                          </a:r>
                        </a:p>
                      </a:txBody>
                      <a:tcPr marT="45731" marB="45731" horzOverflow="overflow">
                        <a:lnL cap="flat">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r>
                            <a:rPr kumimoji="0" lang="en-US" sz="1600" b="1" i="0" u="none" strike="noStrike" cap="none" normalizeH="0" baseline="0" dirty="0">
                              <a:ln>
                                <a:noFill/>
                              </a:ln>
                              <a:solidFill>
                                <a:schemeClr val="tx1"/>
                              </a:solidFill>
                              <a:effectLst/>
                              <a:latin typeface="Times New Roman" pitchFamily="1" charset="0"/>
                            </a:rPr>
                            <a:t>Oil</a:t>
                          </a:r>
                        </a:p>
                      </a:txBody>
                      <a:tcPr marT="45731" marB="45731" horzOverflow="overflow">
                        <a:lnL>
                          <a:noFill/>
                        </a:lnL>
                        <a:lnR>
                          <a:noFill/>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r>
                            <a:rPr kumimoji="0" lang="en-US" sz="1600" b="1" i="0" u="none" strike="noStrike" cap="none" normalizeH="0" baseline="0">
                              <a:ln>
                                <a:noFill/>
                              </a:ln>
                              <a:solidFill>
                                <a:schemeClr val="tx1"/>
                              </a:solidFill>
                              <a:effectLst/>
                              <a:latin typeface="Times New Roman" pitchFamily="1" charset="0"/>
                            </a:rPr>
                            <a:t>Dry</a:t>
                          </a:r>
                        </a:p>
                      </a:txBody>
                      <a:tcPr marT="45731" marB="45731" horzOverflow="overflow">
                        <a:lnL>
                          <a:noFill/>
                        </a:lnL>
                        <a:lnR>
                          <a:noFill/>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100000"/>
                            </a:spcBef>
                            <a:spcAft>
                              <a:spcPct val="0"/>
                            </a:spcAft>
                            <a:buClrTx/>
                            <a:buSzTx/>
                            <a:buFontTx/>
                            <a:buNone/>
                            <a:tabLst/>
                          </a:pPr>
                          <a:r>
                            <a:rPr kumimoji="0" lang="en-US" sz="1600" b="1" i="0" u="none" strike="noStrike" cap="none" normalizeH="0" baseline="0" dirty="0">
                              <a:ln>
                                <a:noFill/>
                              </a:ln>
                              <a:solidFill>
                                <a:schemeClr val="tx1"/>
                              </a:solidFill>
                              <a:effectLst/>
                              <a:latin typeface="Times New Roman" pitchFamily="1" charset="0"/>
                            </a:rPr>
                            <a:t>Weighted Average of Max and Min</a:t>
                          </a:r>
                        </a:p>
                      </a:txBody>
                      <a:tcPr marT="45731" marB="45731"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01"/>
                      </a:ext>
                    </a:extLst>
                  </a:tr>
                  <a:tr h="476250">
                    <a:tc>
                      <a:txBody>
                        <a:bodyPr/>
                        <a:lstStyle/>
                        <a:p>
                          <a:pPr marL="0" marR="0" lvl="0" indent="0" algn="l" defTabSz="914400" rtl="0" eaLnBrk="1" fontAlgn="base" latinLnBrk="0" hangingPunct="1">
                            <a:lnSpc>
                              <a:spcPct val="100000"/>
                            </a:lnSpc>
                            <a:spcBef>
                              <a:spcPct val="10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 charset="0"/>
                            </a:rPr>
                            <a:t>Drill for oil</a:t>
                          </a:r>
                        </a:p>
                      </a:txBody>
                      <a:tcPr marT="45731" marB="45731" horzOverflow="overflow">
                        <a:lnL cap="flat">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r>
                            <a:rPr kumimoji="0" lang="en-US" sz="1600" b="0" i="0" u="none" strike="noStrike" cap="none" normalizeH="0" baseline="0" dirty="0">
                              <a:ln>
                                <a:noFill/>
                              </a:ln>
                              <a:solidFill>
                                <a:schemeClr val="tx1"/>
                              </a:solidFill>
                              <a:effectLst/>
                              <a:latin typeface="Times New Roman" pitchFamily="1" charset="0"/>
                            </a:rPr>
                            <a:t>700</a:t>
                          </a:r>
                        </a:p>
                      </a:txBody>
                      <a:tcPr marT="45731" marB="45731"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 charset="0"/>
                            </a:rPr>
                            <a:t>–100</a:t>
                          </a:r>
                        </a:p>
                      </a:txBody>
                      <a:tcPr marT="45731" marB="45731" horzOverflow="overflow">
                        <a:lnL>
                          <a:noFill/>
                        </a:lnL>
                        <a:lnR>
                          <a:noFill/>
                        </a:lnR>
                        <a:lnT>
                          <a:noFill/>
                        </a:lnT>
                        <a:lnB>
                          <a:noFill/>
                        </a:lnB>
                        <a:lnTlToBr>
                          <a:noFill/>
                        </a:lnTlToBr>
                        <a:lnBlToTr>
                          <a:noFill/>
                        </a:lnBlToTr>
                        <a:noFill/>
                      </a:tcPr>
                    </a:tc>
                    <a:tc>
                      <a:txBody>
                        <a:bodyPr/>
                        <a:lstStyle/>
                        <a:p>
                          <a:endParaRPr lang="en-US"/>
                        </a:p>
                      </a:txBody>
                      <a:tcPr marT="45731" marB="45731" horzOverflow="overflow">
                        <a:lnL>
                          <a:noFill/>
                        </a:lnL>
                        <a:lnR cap="flat">
                          <a:noFill/>
                        </a:lnR>
                        <a:lnT>
                          <a:noFill/>
                        </a:lnT>
                        <a:lnB>
                          <a:noFill/>
                        </a:lnB>
                        <a:lnTlToBr>
                          <a:noFill/>
                        </a:lnTlToBr>
                        <a:lnBlToTr>
                          <a:noFill/>
                        </a:lnBlToTr>
                        <a:blipFill>
                          <a:blip r:embed="rId5"/>
                          <a:stretch>
                            <a:fillRect l="-68873" t="-201266" b="-98734"/>
                          </a:stretch>
                        </a:blipFill>
                      </a:tcPr>
                    </a:tc>
                    <a:extLst>
                      <a:ext uri="{0D108BD9-81ED-4DB2-BD59-A6C34878D82A}">
                        <a16:rowId xmlns:a16="http://schemas.microsoft.com/office/drawing/2014/main" val="10002"/>
                      </a:ext>
                    </a:extLst>
                  </a:tr>
                  <a:tr h="476250">
                    <a:tc>
                      <a:txBody>
                        <a:bodyPr/>
                        <a:lstStyle/>
                        <a:p>
                          <a:pPr marL="0" marR="0" lvl="0" indent="0" algn="l" defTabSz="914400" rtl="0" eaLnBrk="1" fontAlgn="base" latinLnBrk="0" hangingPunct="1">
                            <a:lnSpc>
                              <a:spcPct val="100000"/>
                            </a:lnSpc>
                            <a:spcBef>
                              <a:spcPct val="100000"/>
                            </a:spcBef>
                            <a:spcAft>
                              <a:spcPct val="0"/>
                            </a:spcAft>
                            <a:buClrTx/>
                            <a:buSzTx/>
                            <a:buFontTx/>
                            <a:buNone/>
                            <a:tabLst/>
                          </a:pPr>
                          <a:r>
                            <a:rPr kumimoji="0" lang="en-US" sz="1600" b="0" i="0" u="none" strike="noStrike" cap="none" normalizeH="0" baseline="0" dirty="0">
                              <a:ln>
                                <a:noFill/>
                              </a:ln>
                              <a:solidFill>
                                <a:schemeClr val="tx1"/>
                              </a:solidFill>
                              <a:effectLst/>
                              <a:latin typeface="Times New Roman" pitchFamily="1" charset="0"/>
                            </a:rPr>
                            <a:t>Sell the land</a:t>
                          </a:r>
                        </a:p>
                      </a:txBody>
                      <a:tcPr marT="45731" marB="45731" horzOverflow="overflow">
                        <a:lnL cap="flat">
                          <a:noFill/>
                        </a:lnL>
                        <a:lnR>
                          <a:noFill/>
                        </a:lnR>
                        <a:lnT>
                          <a:noFill/>
                        </a:lnT>
                        <a:lnB cap="flat">
                          <a:noFill/>
                        </a:lnB>
                        <a:lnTlToBr>
                          <a:noFill/>
                        </a:lnTlToBr>
                        <a:lnBlToTr>
                          <a:noFill/>
                        </a:lnBlToTr>
                        <a:noFill/>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 charset="0"/>
                            </a:rPr>
                            <a:t>90</a:t>
                          </a:r>
                        </a:p>
                      </a:txBody>
                      <a:tcPr marT="45731" marB="45731" horzOverflow="overflow">
                        <a:lnL>
                          <a:noFill/>
                        </a:lnL>
                        <a:lnR>
                          <a:noFill/>
                        </a:lnR>
                        <a:lnT>
                          <a:noFill/>
                        </a:lnT>
                        <a:lnB cap="flat">
                          <a:noFill/>
                        </a:lnB>
                        <a:lnTlToBr>
                          <a:noFill/>
                        </a:lnTlToBr>
                        <a:lnBlToTr>
                          <a:noFill/>
                        </a:lnBlToTr>
                        <a:noFill/>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r>
                            <a:rPr kumimoji="0" lang="en-US" sz="1600" b="0" i="0" u="none" strike="noStrike" cap="none" normalizeH="0" baseline="0" dirty="0">
                              <a:ln>
                                <a:noFill/>
                              </a:ln>
                              <a:solidFill>
                                <a:schemeClr val="tx1"/>
                              </a:solidFill>
                              <a:effectLst/>
                              <a:latin typeface="Times New Roman" pitchFamily="1" charset="0"/>
                            </a:rPr>
                            <a:t>90</a:t>
                          </a:r>
                        </a:p>
                      </a:txBody>
                      <a:tcPr marT="45731" marB="45731" horzOverflow="overflow">
                        <a:lnL>
                          <a:noFill/>
                        </a:lnL>
                        <a:lnR>
                          <a:noFill/>
                        </a:lnR>
                        <a:lnT>
                          <a:noFill/>
                        </a:lnT>
                        <a:lnB cap="flat">
                          <a:noFill/>
                        </a:lnB>
                        <a:lnTlToBr>
                          <a:noFill/>
                        </a:lnTlToBr>
                        <a:lnBlToTr>
                          <a:noFill/>
                        </a:lnBlToTr>
                        <a:noFill/>
                      </a:tcPr>
                    </a:tc>
                    <a:tc>
                      <a:txBody>
                        <a:bodyPr/>
                        <a:lstStyle/>
                        <a:p>
                          <a:endParaRPr lang="en-US"/>
                        </a:p>
                      </a:txBody>
                      <a:tcPr marT="45731" marB="45731" horzOverflow="overflow">
                        <a:lnL>
                          <a:noFill/>
                        </a:lnL>
                        <a:lnR cap="flat">
                          <a:noFill/>
                        </a:lnR>
                        <a:lnT>
                          <a:noFill/>
                        </a:lnT>
                        <a:lnB cap="flat">
                          <a:noFill/>
                        </a:lnB>
                        <a:lnTlToBr>
                          <a:noFill/>
                        </a:lnTlToBr>
                        <a:lnBlToTr>
                          <a:noFill/>
                        </a:lnBlToTr>
                        <a:blipFill>
                          <a:blip r:embed="rId5"/>
                          <a:stretch>
                            <a:fillRect l="-68873" t="-305128"/>
                          </a:stretch>
                        </a:blipFill>
                      </a:tcPr>
                    </a:tc>
                    <a:extLst>
                      <a:ext uri="{0D108BD9-81ED-4DB2-BD59-A6C34878D82A}">
                        <a16:rowId xmlns:a16="http://schemas.microsoft.com/office/drawing/2014/main" val="10003"/>
                      </a:ext>
                    </a:extLst>
                  </a:tr>
                </a:tbl>
              </a:graphicData>
            </a:graphic>
          </p:graphicFrame>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DB27C3AA-06F9-4136-909F-D671BC4DE7E4}"/>
                  </a:ext>
                </a:extLst>
              </p:cNvPr>
              <p:cNvSpPr txBox="1"/>
              <p:nvPr/>
            </p:nvSpPr>
            <p:spPr>
              <a:xfrm>
                <a:off x="10114722" y="5361210"/>
                <a:ext cx="2077278" cy="1200329"/>
              </a:xfrm>
              <a:prstGeom prst="rect">
                <a:avLst/>
              </a:prstGeom>
              <a:noFill/>
            </p:spPr>
            <p:txBody>
              <a:bodyPr wrap="square" rtlCol="0">
                <a:spAutoFit/>
              </a:bodyPr>
              <a:lstStyle/>
              <a:p>
                <a:r>
                  <a:rPr lang="en-US" dirty="0"/>
                  <a:t>Under Realism criterion with the given </a:t>
                </a:r>
                <a14:m>
                  <m:oMath xmlns:m="http://schemas.openxmlformats.org/officeDocument/2006/math">
                    <m:r>
                      <a:rPr lang="en-US" b="0" i="1" smtClean="0">
                        <a:latin typeface="Cambria Math" panose="02040503050406030204" pitchFamily="18" charset="0"/>
                      </a:rPr>
                      <m:t>𝛼</m:t>
                    </m:r>
                  </m:oMath>
                </a14:m>
                <a:r>
                  <a:rPr lang="en-US" dirty="0"/>
                  <a:t>, you should </a:t>
                </a:r>
                <a:r>
                  <a:rPr lang="en-US" b="1" dirty="0">
                    <a:solidFill>
                      <a:srgbClr val="C00000"/>
                    </a:solidFill>
                  </a:rPr>
                  <a:t>drill for oil</a:t>
                </a:r>
                <a:r>
                  <a:rPr lang="en-US" dirty="0"/>
                  <a:t>.</a:t>
                </a:r>
              </a:p>
            </p:txBody>
          </p:sp>
        </mc:Choice>
        <mc:Fallback xmlns="">
          <p:sp>
            <p:nvSpPr>
              <p:cNvPr id="9" name="TextBox 8">
                <a:extLst>
                  <a:ext uri="{FF2B5EF4-FFF2-40B4-BE49-F238E27FC236}">
                    <a16:creationId xmlns:a16="http://schemas.microsoft.com/office/drawing/2014/main" id="{DB27C3AA-06F9-4136-909F-D671BC4DE7E4}"/>
                  </a:ext>
                </a:extLst>
              </p:cNvPr>
              <p:cNvSpPr txBox="1">
                <a:spLocks noRot="1" noChangeAspect="1" noMove="1" noResize="1" noEditPoints="1" noAdjustHandles="1" noChangeArrowheads="1" noChangeShapeType="1" noTextEdit="1"/>
              </p:cNvSpPr>
              <p:nvPr/>
            </p:nvSpPr>
            <p:spPr>
              <a:xfrm>
                <a:off x="10114722" y="5361210"/>
                <a:ext cx="2077278" cy="1200329"/>
              </a:xfrm>
              <a:prstGeom prst="rect">
                <a:avLst/>
              </a:prstGeom>
              <a:blipFill>
                <a:blip r:embed="rId6"/>
                <a:stretch>
                  <a:fillRect l="-2346" t="-2538" r="-1760" b="-7107"/>
                </a:stretch>
              </a:blipFill>
            </p:spPr>
            <p:txBody>
              <a:bodyPr/>
              <a:lstStyle/>
              <a:p>
                <a:r>
                  <a:rPr lang="en-US">
                    <a:noFill/>
                  </a:rPr>
                  <a:t> </a:t>
                </a:r>
              </a:p>
            </p:txBody>
          </p:sp>
        </mc:Fallback>
      </mc:AlternateContent>
      <p:sp>
        <p:nvSpPr>
          <p:cNvPr id="10" name="Right Brace 9">
            <a:extLst>
              <a:ext uri="{FF2B5EF4-FFF2-40B4-BE49-F238E27FC236}">
                <a16:creationId xmlns:a16="http://schemas.microsoft.com/office/drawing/2014/main" id="{AE7A36A1-8BBC-421D-8FE0-2F8F21AD4A11}"/>
              </a:ext>
            </a:extLst>
          </p:cNvPr>
          <p:cNvSpPr/>
          <p:nvPr/>
        </p:nvSpPr>
        <p:spPr>
          <a:xfrm>
            <a:off x="9395354" y="5240338"/>
            <a:ext cx="742950" cy="1321201"/>
          </a:xfrm>
          <a:prstGeom prst="rightBrace">
            <a:avLst/>
          </a:prstGeom>
          <a:ln>
            <a:solidFill>
              <a:srgbClr val="C0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aphicFrame>
        <p:nvGraphicFramePr>
          <p:cNvPr id="7" name="Object 2">
            <a:extLst>
              <a:ext uri="{FF2B5EF4-FFF2-40B4-BE49-F238E27FC236}">
                <a16:creationId xmlns:a16="http://schemas.microsoft.com/office/drawing/2014/main" id="{CC67E7FE-23AE-4FC2-8B08-ABC912B214D5}"/>
              </a:ext>
            </a:extLst>
          </p:cNvPr>
          <p:cNvGraphicFramePr>
            <a:graphicFrameLocks noChangeAspect="1"/>
          </p:cNvGraphicFramePr>
          <p:nvPr>
            <p:extLst>
              <p:ext uri="{D42A27DB-BD31-4B8C-83A1-F6EECF244321}">
                <p14:modId xmlns:p14="http://schemas.microsoft.com/office/powerpoint/2010/main" val="14159544"/>
              </p:ext>
            </p:extLst>
          </p:nvPr>
        </p:nvGraphicFramePr>
        <p:xfrm>
          <a:off x="7301777" y="3526679"/>
          <a:ext cx="4710929" cy="1110477"/>
        </p:xfrm>
        <a:graphic>
          <a:graphicData uri="http://schemas.openxmlformats.org/presentationml/2006/ole">
            <mc:AlternateContent xmlns:mc="http://schemas.openxmlformats.org/markup-compatibility/2006">
              <mc:Choice xmlns:v="urn:schemas-microsoft-com:vml" Requires="v">
                <p:oleObj name="Equation" r:id="rId7" imgW="1981080" imgH="495000" progId="Equation.3">
                  <p:embed/>
                </p:oleObj>
              </mc:Choice>
              <mc:Fallback>
                <p:oleObj name="Equation" r:id="rId7" imgW="1981080" imgH="495000" progId="Equation.3">
                  <p:embed/>
                  <p:pic>
                    <p:nvPicPr>
                      <p:cNvPr id="7" name="Object 2">
                        <a:extLst>
                          <a:ext uri="{FF2B5EF4-FFF2-40B4-BE49-F238E27FC236}">
                            <a16:creationId xmlns:a16="http://schemas.microsoft.com/office/drawing/2014/main" id="{CC67E7FE-23AE-4FC2-8B08-ABC912B214D5}"/>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301777" y="3526679"/>
                        <a:ext cx="4710929" cy="1110477"/>
                      </a:xfrm>
                      <a:prstGeom prst="rect">
                        <a:avLst/>
                      </a:prstGeom>
                      <a:noFill/>
                      <a:ln>
                        <a:solidFill>
                          <a:srgbClr val="C00000"/>
                        </a:solidFill>
                      </a:ln>
                    </p:spPr>
                  </p:pic>
                </p:oleObj>
              </mc:Fallback>
            </mc:AlternateContent>
          </a:graphicData>
        </a:graphic>
      </p:graphicFrame>
    </p:spTree>
    <p:extLst>
      <p:ext uri="{BB962C8B-B14F-4D97-AF65-F5344CB8AC3E}">
        <p14:creationId xmlns:p14="http://schemas.microsoft.com/office/powerpoint/2010/main" val="21673209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3">
                                            <p:txEl>
                                              <p:pRg st="8" end="8"/>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8"/>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0"/>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0"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Decision Making under Uncertainty</a:t>
            </a:r>
          </a:p>
        </p:txBody>
      </p:sp>
      <p:sp>
        <p:nvSpPr>
          <p:cNvPr id="3" name="Content Placeholder 2"/>
          <p:cNvSpPr>
            <a:spLocks noGrp="1"/>
          </p:cNvSpPr>
          <p:nvPr>
            <p:ph idx="1"/>
          </p:nvPr>
        </p:nvSpPr>
        <p:spPr/>
        <p:txBody>
          <a:bodyPr/>
          <a:lstStyle/>
          <a:p>
            <a:r>
              <a:rPr lang="en-US" b="1" u="sng" dirty="0">
                <a:solidFill>
                  <a:srgbClr val="C00000"/>
                </a:solidFill>
              </a:rPr>
              <a:t>Realism – </a:t>
            </a:r>
            <a:r>
              <a:rPr lang="en-US" b="1" u="sng" dirty="0" err="1">
                <a:solidFill>
                  <a:srgbClr val="C00000"/>
                </a:solidFill>
              </a:rPr>
              <a:t>Hurwicz</a:t>
            </a:r>
            <a:r>
              <a:rPr lang="en-US" b="1" u="sng" dirty="0">
                <a:solidFill>
                  <a:srgbClr val="C00000"/>
                </a:solidFill>
              </a:rPr>
              <a:t> Criterion (not in the book)</a:t>
            </a:r>
          </a:p>
          <a:p>
            <a:pPr lvl="1"/>
            <a:r>
              <a:rPr lang="en-US" b="1" u="sng" dirty="0"/>
              <a:t>Case: Another example (not in the textbook)</a:t>
            </a:r>
            <a:endParaRPr lang="en-US" dirty="0"/>
          </a:p>
          <a:p>
            <a:endParaRPr lang="en-US" sz="2400" b="1" dirty="0"/>
          </a:p>
          <a:p>
            <a:pPr lvl="1"/>
            <a:endParaRPr lang="en-US" dirty="0"/>
          </a:p>
          <a:p>
            <a:pPr lvl="1"/>
            <a:endParaRPr lang="en-US" dirty="0"/>
          </a:p>
        </p:txBody>
      </p:sp>
      <p:graphicFrame>
        <p:nvGraphicFramePr>
          <p:cNvPr id="10" name="Group 5">
            <a:extLst>
              <a:ext uri="{FF2B5EF4-FFF2-40B4-BE49-F238E27FC236}">
                <a16:creationId xmlns:a16="http://schemas.microsoft.com/office/drawing/2014/main" id="{5B9AA6F6-A1ED-4707-ACE8-068A8E72A71D}"/>
              </a:ext>
            </a:extLst>
          </p:cNvPr>
          <p:cNvGraphicFramePr>
            <a:graphicFrameLocks noGrp="1"/>
          </p:cNvGraphicFramePr>
          <p:nvPr>
            <p:extLst>
              <p:ext uri="{D42A27DB-BD31-4B8C-83A1-F6EECF244321}">
                <p14:modId xmlns:p14="http://schemas.microsoft.com/office/powerpoint/2010/main" val="958223050"/>
              </p:ext>
            </p:extLst>
          </p:nvPr>
        </p:nvGraphicFramePr>
        <p:xfrm>
          <a:off x="795131" y="2390458"/>
          <a:ext cx="4800600" cy="2228850"/>
        </p:xfrm>
        <a:graphic>
          <a:graphicData uri="http://schemas.openxmlformats.org/drawingml/2006/table">
            <a:tbl>
              <a:tblPr/>
              <a:tblGrid>
                <a:gridCol w="1444625">
                  <a:extLst>
                    <a:ext uri="{9D8B030D-6E8A-4147-A177-3AD203B41FA5}">
                      <a16:colId xmlns:a16="http://schemas.microsoft.com/office/drawing/2014/main" val="20000"/>
                    </a:ext>
                  </a:extLst>
                </a:gridCol>
                <a:gridCol w="955675">
                  <a:extLst>
                    <a:ext uri="{9D8B030D-6E8A-4147-A177-3AD203B41FA5}">
                      <a16:colId xmlns:a16="http://schemas.microsoft.com/office/drawing/2014/main" val="20001"/>
                    </a:ext>
                  </a:extLst>
                </a:gridCol>
                <a:gridCol w="1200150">
                  <a:extLst>
                    <a:ext uri="{9D8B030D-6E8A-4147-A177-3AD203B41FA5}">
                      <a16:colId xmlns:a16="http://schemas.microsoft.com/office/drawing/2014/main" val="20002"/>
                    </a:ext>
                  </a:extLst>
                </a:gridCol>
                <a:gridCol w="1200150">
                  <a:extLst>
                    <a:ext uri="{9D8B030D-6E8A-4147-A177-3AD203B41FA5}">
                      <a16:colId xmlns:a16="http://schemas.microsoft.com/office/drawing/2014/main" val="20003"/>
                    </a:ext>
                  </a:extLst>
                </a:gridCol>
              </a:tblGrid>
              <a:tr h="371475">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65000"/>
                        <a:buFont typeface="Wingdings" pitchFamily="2" charset="2"/>
                        <a:buNone/>
                        <a:tabLst/>
                      </a:pPr>
                      <a:r>
                        <a:rPr kumimoji="0" lang="en-US" sz="1800" b="0" i="0" u="none" strike="noStrike" cap="none" normalizeH="0" baseline="0" dirty="0">
                          <a:ln>
                            <a:noFill/>
                          </a:ln>
                          <a:solidFill>
                            <a:srgbClr val="FF0000"/>
                          </a:solidFill>
                          <a:effectLst/>
                          <a:latin typeface="Arial" charset="0"/>
                        </a:rPr>
                        <a:t>Future state</a:t>
                      </a:r>
                    </a:p>
                  </a:txBody>
                  <a:tcP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65000"/>
                        <a:buFont typeface="Wingdings" pitchFamily="2" charset="2"/>
                        <a:buNone/>
                        <a:tabLst/>
                      </a:pPr>
                      <a:r>
                        <a:rPr kumimoji="0" lang="en-US" sz="1800" b="0" i="0" u="none" strike="noStrike" cap="none" normalizeH="0" baseline="0">
                          <a:ln>
                            <a:noFill/>
                          </a:ln>
                          <a:solidFill>
                            <a:schemeClr val="tx1"/>
                          </a:solidFill>
                          <a:effectLst/>
                          <a:latin typeface="Arial" charset="0"/>
                        </a:rPr>
                        <a:t>F</a:t>
                      </a:r>
                      <a:r>
                        <a:rPr kumimoji="0" lang="en-US" sz="1800" b="0" i="0" u="none" strike="noStrike" cap="none" normalizeH="0" baseline="-25000">
                          <a:ln>
                            <a:noFill/>
                          </a:ln>
                          <a:solidFill>
                            <a:schemeClr val="tx1"/>
                          </a:solidFill>
                          <a:effectLst/>
                          <a:latin typeface="Arial" charset="0"/>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65000"/>
                        <a:buFont typeface="Wingdings" pitchFamily="2" charset="2"/>
                        <a:buNone/>
                        <a:tabLst/>
                      </a:pPr>
                      <a:r>
                        <a:rPr kumimoji="0" lang="en-US" sz="1800" b="0" i="0" u="none" strike="noStrike" cap="none" normalizeH="0" baseline="0">
                          <a:ln>
                            <a:noFill/>
                          </a:ln>
                          <a:solidFill>
                            <a:schemeClr val="tx1"/>
                          </a:solidFill>
                          <a:effectLst/>
                          <a:latin typeface="Arial" charset="0"/>
                        </a:rPr>
                        <a:t>F</a:t>
                      </a:r>
                      <a:r>
                        <a:rPr kumimoji="0" lang="en-US" sz="1800" b="0" i="0" u="none" strike="noStrike" cap="none" normalizeH="0" baseline="-25000">
                          <a:ln>
                            <a:noFill/>
                          </a:ln>
                          <a:solidFill>
                            <a:schemeClr val="tx1"/>
                          </a:solidFill>
                          <a:effectLst/>
                          <a:latin typeface="Arial" charset="0"/>
                        </a:rPr>
                        <a:t>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65000"/>
                        <a:buFont typeface="Wingdings" pitchFamily="2" charset="2"/>
                        <a:buNone/>
                        <a:tabLst/>
                      </a:pPr>
                      <a:r>
                        <a:rPr kumimoji="0" lang="en-US" sz="1800" b="0" i="0" u="none" strike="noStrike" cap="none" normalizeH="0" baseline="0">
                          <a:ln>
                            <a:noFill/>
                          </a:ln>
                          <a:solidFill>
                            <a:schemeClr val="tx1"/>
                          </a:solidFill>
                          <a:effectLst/>
                          <a:latin typeface="Arial" charset="0"/>
                        </a:rPr>
                        <a:t>F</a:t>
                      </a:r>
                      <a:r>
                        <a:rPr kumimoji="0" lang="en-US" sz="1800" b="0" i="0" u="none" strike="noStrike" cap="none" normalizeH="0" baseline="-25000">
                          <a:ln>
                            <a:noFill/>
                          </a:ln>
                          <a:solidFill>
                            <a:schemeClr val="tx1"/>
                          </a:solidFill>
                          <a:effectLst/>
                          <a:latin typeface="Arial" charset="0"/>
                        </a:rPr>
                        <a:t>3</a:t>
                      </a:r>
                    </a:p>
                  </a:txBody>
                  <a:tcP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71475">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65000"/>
                        <a:buFont typeface="Wingdings" pitchFamily="2" charset="2"/>
                        <a:buNone/>
                        <a:tabLst/>
                      </a:pPr>
                      <a:r>
                        <a:rPr kumimoji="0" lang="en-US" sz="1800" b="0" i="0" u="none" strike="noStrike" cap="none" normalizeH="0" baseline="0" dirty="0">
                          <a:ln>
                            <a:noFill/>
                          </a:ln>
                          <a:solidFill>
                            <a:srgbClr val="FF0000"/>
                          </a:solidFill>
                          <a:effectLst/>
                          <a:latin typeface="Arial" charset="0"/>
                        </a:rPr>
                        <a:t>Alternative</a:t>
                      </a:r>
                    </a:p>
                  </a:txBody>
                  <a:tcP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65000"/>
                        <a:buFont typeface="Wingdings" pitchFamily="2" charset="2"/>
                        <a:buNone/>
                        <a:tabLst/>
                      </a:pPr>
                      <a:endParaRPr kumimoji="0" lang="en-US" sz="1800" b="0" i="0" u="none" strike="noStrike" cap="none" normalizeH="0" baseline="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65000"/>
                        <a:buFont typeface="Wingdings" pitchFamily="2" charset="2"/>
                        <a:buNone/>
                        <a:tabLst/>
                      </a:pPr>
                      <a:r>
                        <a:rPr kumimoji="0" lang="en-US" sz="1800" b="0" i="0" u="none" strike="noStrike" cap="none" normalizeH="0" baseline="0" dirty="0">
                          <a:ln>
                            <a:noFill/>
                          </a:ln>
                          <a:solidFill>
                            <a:srgbClr val="FF0000"/>
                          </a:solidFill>
                          <a:effectLst/>
                          <a:latin typeface="Arial" charset="0"/>
                        </a:rPr>
                        <a:t>(Payoff)</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65000"/>
                        <a:buFont typeface="Wingdings" pitchFamily="2" charset="2"/>
                        <a:buNone/>
                        <a:tabLst/>
                      </a:pPr>
                      <a:endParaRPr kumimoji="0" lang="en-US" sz="1800" b="0" i="0" u="none" strike="noStrike" cap="none" normalizeH="0" baseline="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a:noFill/>
                    </a:lnB>
                    <a:lnTlToBr>
                      <a:noFill/>
                    </a:lnTlToBr>
                    <a:lnBlToTr>
                      <a:noFill/>
                    </a:lnBlToTr>
                    <a:noFill/>
                  </a:tcPr>
                </a:tc>
                <a:extLst>
                  <a:ext uri="{0D108BD9-81ED-4DB2-BD59-A6C34878D82A}">
                    <a16:rowId xmlns:a16="http://schemas.microsoft.com/office/drawing/2014/main" val="10001"/>
                  </a:ext>
                </a:extLst>
              </a:tr>
              <a:tr h="371475">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65000"/>
                        <a:buFont typeface="Wingdings" pitchFamily="2" charset="2"/>
                        <a:buNone/>
                        <a:tabLst/>
                      </a:pPr>
                      <a:r>
                        <a:rPr kumimoji="0" lang="en-US" sz="1800" b="0" i="0" u="none" strike="noStrike" cap="none" normalizeH="0" baseline="0" dirty="0">
                          <a:ln>
                            <a:noFill/>
                          </a:ln>
                          <a:solidFill>
                            <a:schemeClr val="tx1"/>
                          </a:solidFill>
                          <a:effectLst/>
                          <a:latin typeface="Arial" charset="0"/>
                        </a:rPr>
                        <a:t>A</a:t>
                      </a:r>
                      <a:r>
                        <a:rPr kumimoji="0" lang="en-US" sz="1800" b="0" i="0" u="none" strike="noStrike" cap="none" normalizeH="0" baseline="-25000" dirty="0">
                          <a:ln>
                            <a:noFill/>
                          </a:ln>
                          <a:solidFill>
                            <a:schemeClr val="tx1"/>
                          </a:solidFill>
                          <a:effectLst/>
                          <a:latin typeface="Arial" charset="0"/>
                        </a:rPr>
                        <a:t>1</a:t>
                      </a:r>
                    </a:p>
                  </a:txBody>
                  <a:tcPr horzOverflow="overflow">
                    <a:lnL cap="flat">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65000"/>
                        <a:buFont typeface="Wingdings" pitchFamily="2" charset="2"/>
                        <a:buNone/>
                        <a:tabLst/>
                      </a:pPr>
                      <a:r>
                        <a:rPr kumimoji="0" lang="en-US" sz="1800" b="0" i="0" u="none" strike="noStrike" cap="none" normalizeH="0" baseline="0" dirty="0">
                          <a:ln>
                            <a:noFill/>
                          </a:ln>
                          <a:solidFill>
                            <a:schemeClr val="tx1"/>
                          </a:solidFill>
                          <a:effectLst/>
                          <a:latin typeface="Arial" charset="0"/>
                        </a:rPr>
                        <a:t>100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65000"/>
                        <a:buFont typeface="Wingdings" pitchFamily="2" charset="2"/>
                        <a:buNone/>
                        <a:tabLst/>
                      </a:pPr>
                      <a:r>
                        <a:rPr kumimoji="0" lang="en-US" sz="1800" b="0" i="0" u="none" strike="noStrike" cap="none" normalizeH="0" baseline="0" dirty="0">
                          <a:ln>
                            <a:noFill/>
                          </a:ln>
                          <a:solidFill>
                            <a:schemeClr val="tx1"/>
                          </a:solidFill>
                          <a:effectLst/>
                          <a:latin typeface="Arial" charset="0"/>
                        </a:rPr>
                        <a:t>100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65000"/>
                        <a:buFont typeface="Wingdings" pitchFamily="2" charset="2"/>
                        <a:buNone/>
                        <a:tabLst/>
                      </a:pPr>
                      <a:r>
                        <a:rPr kumimoji="0" lang="en-US" sz="1800" b="0" i="0" u="none" strike="noStrike" cap="none" normalizeH="0" baseline="0" dirty="0">
                          <a:ln>
                            <a:noFill/>
                          </a:ln>
                          <a:solidFill>
                            <a:schemeClr val="tx1"/>
                          </a:solidFill>
                          <a:effectLst/>
                          <a:latin typeface="Arial" charset="0"/>
                        </a:rPr>
                        <a:t>400</a:t>
                      </a:r>
                    </a:p>
                  </a:txBody>
                  <a:tcPr horzOverflow="overflow">
                    <a:lnL w="12700" cap="flat" cmpd="sng" algn="ctr">
                      <a:solidFill>
                        <a:schemeClr val="tx1"/>
                      </a:solidFill>
                      <a:prstDash val="solid"/>
                      <a:round/>
                      <a:headEnd type="none" w="med" len="med"/>
                      <a:tailEnd type="none" w="med" len="med"/>
                    </a:lnL>
                    <a:lnR cap="flat">
                      <a:noFill/>
                    </a:lnR>
                    <a:lnT>
                      <a:noFill/>
                    </a:lnT>
                    <a:lnB>
                      <a:noFill/>
                    </a:lnB>
                    <a:lnTlToBr>
                      <a:noFill/>
                    </a:lnTlToBr>
                    <a:lnBlToTr>
                      <a:noFill/>
                    </a:lnBlToTr>
                    <a:noFill/>
                  </a:tcPr>
                </a:tc>
                <a:extLst>
                  <a:ext uri="{0D108BD9-81ED-4DB2-BD59-A6C34878D82A}">
                    <a16:rowId xmlns:a16="http://schemas.microsoft.com/office/drawing/2014/main" val="10002"/>
                  </a:ext>
                </a:extLst>
              </a:tr>
              <a:tr h="371475">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65000"/>
                        <a:buFont typeface="Wingdings" pitchFamily="2" charset="2"/>
                        <a:buNone/>
                        <a:tabLst/>
                      </a:pPr>
                      <a:r>
                        <a:rPr kumimoji="0" lang="en-US" sz="1800" b="0" i="0" u="none" strike="noStrike" cap="none" normalizeH="0" baseline="0">
                          <a:ln>
                            <a:noFill/>
                          </a:ln>
                          <a:solidFill>
                            <a:schemeClr val="tx1"/>
                          </a:solidFill>
                          <a:effectLst/>
                          <a:latin typeface="Arial" charset="0"/>
                        </a:rPr>
                        <a:t>A</a:t>
                      </a:r>
                      <a:r>
                        <a:rPr kumimoji="0" lang="en-US" sz="1800" b="0" i="0" u="none" strike="noStrike" cap="none" normalizeH="0" baseline="-25000">
                          <a:ln>
                            <a:noFill/>
                          </a:ln>
                          <a:solidFill>
                            <a:schemeClr val="tx1"/>
                          </a:solidFill>
                          <a:effectLst/>
                          <a:latin typeface="Arial" charset="0"/>
                        </a:rPr>
                        <a:t>2</a:t>
                      </a:r>
                    </a:p>
                  </a:txBody>
                  <a:tcPr horzOverflow="overflow">
                    <a:lnL cap="flat">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65000"/>
                        <a:buFont typeface="Wingdings" pitchFamily="2" charset="2"/>
                        <a:buNone/>
                        <a:tabLst/>
                      </a:pPr>
                      <a:r>
                        <a:rPr kumimoji="0" lang="en-US" sz="1800" b="0" i="0" u="none" strike="noStrike" cap="none" normalizeH="0" baseline="0" dirty="0">
                          <a:ln>
                            <a:noFill/>
                          </a:ln>
                          <a:solidFill>
                            <a:schemeClr val="tx1"/>
                          </a:solidFill>
                          <a:effectLst/>
                          <a:latin typeface="Arial" charset="0"/>
                        </a:rPr>
                        <a:t>-200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65000"/>
                        <a:buFont typeface="Wingdings" pitchFamily="2" charset="2"/>
                        <a:buNone/>
                        <a:tabLst/>
                      </a:pPr>
                      <a:r>
                        <a:rPr kumimoji="0" lang="en-US" sz="1800" b="0" i="0" u="none" strike="noStrike" cap="none" normalizeH="0" baseline="0">
                          <a:ln>
                            <a:noFill/>
                          </a:ln>
                          <a:solidFill>
                            <a:schemeClr val="tx1"/>
                          </a:solidFill>
                          <a:effectLst/>
                          <a:latin typeface="Arial" charset="0"/>
                        </a:rPr>
                        <a:t>150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65000"/>
                        <a:buFont typeface="Wingdings" pitchFamily="2" charset="2"/>
                        <a:buNone/>
                        <a:tabLst/>
                      </a:pPr>
                      <a:r>
                        <a:rPr kumimoji="0" lang="en-US" sz="1800" b="0" i="0" u="none" strike="noStrike" cap="none" normalizeH="0" baseline="0">
                          <a:ln>
                            <a:noFill/>
                          </a:ln>
                          <a:solidFill>
                            <a:schemeClr val="tx1"/>
                          </a:solidFill>
                          <a:effectLst/>
                          <a:latin typeface="Arial" charset="0"/>
                        </a:rPr>
                        <a:t>600</a:t>
                      </a:r>
                    </a:p>
                  </a:txBody>
                  <a:tcPr horzOverflow="overflow">
                    <a:lnL w="12700" cap="flat" cmpd="sng" algn="ctr">
                      <a:solidFill>
                        <a:schemeClr val="tx1"/>
                      </a:solidFill>
                      <a:prstDash val="solid"/>
                      <a:round/>
                      <a:headEnd type="none" w="med" len="med"/>
                      <a:tailEnd type="none" w="med" len="med"/>
                    </a:lnL>
                    <a:lnR cap="flat">
                      <a:noFill/>
                    </a:lnR>
                    <a:lnT>
                      <a:noFill/>
                    </a:lnT>
                    <a:lnB>
                      <a:noFill/>
                    </a:lnB>
                    <a:lnTlToBr>
                      <a:noFill/>
                    </a:lnTlToBr>
                    <a:lnBlToTr>
                      <a:noFill/>
                    </a:lnBlToTr>
                    <a:noFill/>
                  </a:tcPr>
                </a:tc>
                <a:extLst>
                  <a:ext uri="{0D108BD9-81ED-4DB2-BD59-A6C34878D82A}">
                    <a16:rowId xmlns:a16="http://schemas.microsoft.com/office/drawing/2014/main" val="10003"/>
                  </a:ext>
                </a:extLst>
              </a:tr>
              <a:tr h="371475">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65000"/>
                        <a:buFont typeface="Wingdings" pitchFamily="2" charset="2"/>
                        <a:buNone/>
                        <a:tabLst/>
                      </a:pPr>
                      <a:r>
                        <a:rPr kumimoji="0" lang="en-US" sz="1800" b="0" i="0" u="none" strike="noStrike" cap="none" normalizeH="0" baseline="0">
                          <a:ln>
                            <a:noFill/>
                          </a:ln>
                          <a:solidFill>
                            <a:schemeClr val="tx1"/>
                          </a:solidFill>
                          <a:effectLst/>
                          <a:latin typeface="Arial" charset="0"/>
                        </a:rPr>
                        <a:t>A</a:t>
                      </a:r>
                      <a:r>
                        <a:rPr kumimoji="0" lang="en-US" sz="1800" b="0" i="0" u="none" strike="noStrike" cap="none" normalizeH="0" baseline="-25000">
                          <a:ln>
                            <a:noFill/>
                          </a:ln>
                          <a:solidFill>
                            <a:schemeClr val="tx1"/>
                          </a:solidFill>
                          <a:effectLst/>
                          <a:latin typeface="Arial" charset="0"/>
                        </a:rPr>
                        <a:t>3</a:t>
                      </a:r>
                    </a:p>
                  </a:txBody>
                  <a:tcPr horzOverflow="overflow">
                    <a:lnL cap="flat">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65000"/>
                        <a:buFont typeface="Wingdings" pitchFamily="2" charset="2"/>
                        <a:buNone/>
                        <a:tabLst/>
                      </a:pPr>
                      <a:r>
                        <a:rPr kumimoji="0" lang="en-US" sz="1800" b="0" i="0" u="none" strike="noStrike" cap="none" normalizeH="0" baseline="0" dirty="0">
                          <a:ln>
                            <a:noFill/>
                          </a:ln>
                          <a:solidFill>
                            <a:schemeClr val="tx1"/>
                          </a:solidFill>
                          <a:effectLst/>
                          <a:latin typeface="Arial" charset="0"/>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65000"/>
                        <a:buFont typeface="Wingdings" pitchFamily="2" charset="2"/>
                        <a:buNone/>
                        <a:tabLst/>
                      </a:pPr>
                      <a:r>
                        <a:rPr kumimoji="0" lang="en-US" sz="1800" b="0" i="0" u="none" strike="noStrike" cap="none" normalizeH="0" baseline="0">
                          <a:ln>
                            <a:noFill/>
                          </a:ln>
                          <a:solidFill>
                            <a:schemeClr val="tx1"/>
                          </a:solidFill>
                          <a:effectLst/>
                          <a:latin typeface="Arial" charset="0"/>
                        </a:rPr>
                        <a:t>200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65000"/>
                        <a:buFont typeface="Wingdings" pitchFamily="2" charset="2"/>
                        <a:buNone/>
                        <a:tabLst/>
                      </a:pPr>
                      <a:r>
                        <a:rPr kumimoji="0" lang="en-US" sz="1800" b="0" i="0" u="none" strike="noStrike" cap="none" normalizeH="0" baseline="0" dirty="0">
                          <a:ln>
                            <a:noFill/>
                          </a:ln>
                          <a:solidFill>
                            <a:schemeClr val="tx1"/>
                          </a:solidFill>
                          <a:effectLst/>
                          <a:latin typeface="Arial" charset="0"/>
                        </a:rPr>
                        <a:t>500</a:t>
                      </a:r>
                    </a:p>
                  </a:txBody>
                  <a:tcPr horzOverflow="overflow">
                    <a:lnL w="12700" cap="flat" cmpd="sng" algn="ctr">
                      <a:solidFill>
                        <a:schemeClr val="tx1"/>
                      </a:solidFill>
                      <a:prstDash val="solid"/>
                      <a:round/>
                      <a:headEnd type="none" w="med" len="med"/>
                      <a:tailEnd type="none" w="med" len="med"/>
                    </a:lnL>
                    <a:lnR cap="flat">
                      <a:noFill/>
                    </a:lnR>
                    <a:lnT>
                      <a:noFill/>
                    </a:lnT>
                    <a:lnB>
                      <a:noFill/>
                    </a:lnB>
                    <a:lnTlToBr>
                      <a:noFill/>
                    </a:lnTlToBr>
                    <a:lnBlToTr>
                      <a:noFill/>
                    </a:lnBlToTr>
                    <a:noFill/>
                  </a:tcPr>
                </a:tc>
                <a:extLst>
                  <a:ext uri="{0D108BD9-81ED-4DB2-BD59-A6C34878D82A}">
                    <a16:rowId xmlns:a16="http://schemas.microsoft.com/office/drawing/2014/main" val="10004"/>
                  </a:ext>
                </a:extLst>
              </a:tr>
              <a:tr h="371475">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65000"/>
                        <a:buFont typeface="Wingdings" pitchFamily="2" charset="2"/>
                        <a:buNone/>
                        <a:tabLst/>
                      </a:pPr>
                      <a:r>
                        <a:rPr kumimoji="0" lang="en-US" sz="1800" b="0" i="0" u="none" strike="noStrike" cap="none" normalizeH="0" baseline="0">
                          <a:ln>
                            <a:noFill/>
                          </a:ln>
                          <a:solidFill>
                            <a:schemeClr val="tx1"/>
                          </a:solidFill>
                          <a:effectLst/>
                          <a:latin typeface="Arial" charset="0"/>
                        </a:rPr>
                        <a:t>A</a:t>
                      </a:r>
                      <a:r>
                        <a:rPr kumimoji="0" lang="en-US" sz="1800" b="0" i="0" u="none" strike="noStrike" cap="none" normalizeH="0" baseline="-25000">
                          <a:ln>
                            <a:noFill/>
                          </a:ln>
                          <a:solidFill>
                            <a:schemeClr val="tx1"/>
                          </a:solidFill>
                          <a:effectLst/>
                          <a:latin typeface="Arial" charset="0"/>
                        </a:rPr>
                        <a:t>4</a:t>
                      </a:r>
                    </a:p>
                  </a:txBody>
                  <a:tcPr horzOverflow="overflow">
                    <a:lnL cap="flat">
                      <a:noFill/>
                    </a:lnL>
                    <a:lnR w="12700" cap="flat" cmpd="sng" algn="ctr">
                      <a:solidFill>
                        <a:schemeClr val="tx1"/>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65000"/>
                        <a:buFont typeface="Wingdings" pitchFamily="2" charset="2"/>
                        <a:buNone/>
                        <a:tabLst/>
                      </a:pPr>
                      <a:r>
                        <a:rPr kumimoji="0" lang="en-US" sz="1800" b="0" i="0" u="none" strike="noStrike" cap="none" normalizeH="0" baseline="0" dirty="0">
                          <a:ln>
                            <a:noFill/>
                          </a:ln>
                          <a:solidFill>
                            <a:schemeClr val="tx1"/>
                          </a:solidFill>
                          <a:effectLst/>
                          <a:latin typeface="Arial" charset="0"/>
                        </a:rPr>
                        <a:t>100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65000"/>
                        <a:buFont typeface="Wingdings" pitchFamily="2" charset="2"/>
                        <a:buNone/>
                        <a:tabLst/>
                      </a:pPr>
                      <a:r>
                        <a:rPr kumimoji="0" lang="en-US" sz="1800" b="0" i="0" u="none" strike="noStrike" cap="none" normalizeH="0" baseline="0" dirty="0">
                          <a:ln>
                            <a:noFill/>
                          </a:ln>
                          <a:solidFill>
                            <a:schemeClr val="tx1"/>
                          </a:solidFill>
                          <a:effectLst/>
                          <a:latin typeface="Arial" charset="0"/>
                        </a:rPr>
                        <a:t>300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65000"/>
                        <a:buFont typeface="Wingdings" pitchFamily="2" charset="2"/>
                        <a:buNone/>
                        <a:tabLst/>
                      </a:pPr>
                      <a:r>
                        <a:rPr kumimoji="0" lang="en-US" sz="1800" b="0" i="0" u="none" strike="noStrike" cap="none" normalizeH="0" baseline="0" dirty="0">
                          <a:ln>
                            <a:noFill/>
                          </a:ln>
                          <a:solidFill>
                            <a:schemeClr val="tx1"/>
                          </a:solidFill>
                          <a:effectLst/>
                          <a:latin typeface="Arial" charset="0"/>
                        </a:rPr>
                        <a:t>200</a:t>
                      </a:r>
                    </a:p>
                  </a:txBody>
                  <a:tcPr horzOverflow="overflow">
                    <a:lnL w="12700" cap="flat" cmpd="sng" algn="ctr">
                      <a:solidFill>
                        <a:schemeClr val="tx1"/>
                      </a:solidFill>
                      <a:prstDash val="solid"/>
                      <a:round/>
                      <a:headEnd type="none" w="med" len="med"/>
                      <a:tailEnd type="none" w="med" len="med"/>
                    </a:lnL>
                    <a:lnR cap="flat">
                      <a:noFill/>
                    </a:lnR>
                    <a:lnT>
                      <a:noFill/>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bl>
          </a:graphicData>
        </a:graphic>
      </p:graphicFrame>
      <p:sp>
        <p:nvSpPr>
          <p:cNvPr id="17" name="Line 54">
            <a:extLst>
              <a:ext uri="{FF2B5EF4-FFF2-40B4-BE49-F238E27FC236}">
                <a16:creationId xmlns:a16="http://schemas.microsoft.com/office/drawing/2014/main" id="{037E7708-494F-4D17-9375-D0967B2BE17B}"/>
              </a:ext>
            </a:extLst>
          </p:cNvPr>
          <p:cNvSpPr>
            <a:spLocks noChangeShapeType="1"/>
          </p:cNvSpPr>
          <p:nvPr/>
        </p:nvSpPr>
        <p:spPr bwMode="auto">
          <a:xfrm>
            <a:off x="1099930" y="3424989"/>
            <a:ext cx="0" cy="838200"/>
          </a:xfrm>
          <a:prstGeom prst="line">
            <a:avLst/>
          </a:prstGeom>
          <a:noFill/>
          <a:ln w="9525">
            <a:solidFill>
              <a:schemeClr val="tx1"/>
            </a:solidFill>
            <a:round/>
            <a:headEnd/>
            <a:tailEnd type="triangle" w="med" len="med"/>
          </a:ln>
        </p:spPr>
        <p:txBody>
          <a:bodyPr/>
          <a:lstStyle/>
          <a:p>
            <a:endParaRPr lang="en-US"/>
          </a:p>
        </p:txBody>
      </p:sp>
      <p:sp>
        <p:nvSpPr>
          <p:cNvPr id="18" name="Text Box 55">
            <a:extLst>
              <a:ext uri="{FF2B5EF4-FFF2-40B4-BE49-F238E27FC236}">
                <a16:creationId xmlns:a16="http://schemas.microsoft.com/office/drawing/2014/main" id="{59A3F61B-4BF8-4AA4-A843-BFFAF710D40A}"/>
              </a:ext>
            </a:extLst>
          </p:cNvPr>
          <p:cNvSpPr txBox="1">
            <a:spLocks noChangeArrowheads="1"/>
          </p:cNvSpPr>
          <p:nvPr/>
        </p:nvSpPr>
        <p:spPr bwMode="auto">
          <a:xfrm>
            <a:off x="795130" y="3653589"/>
            <a:ext cx="241300" cy="400050"/>
          </a:xfrm>
          <a:prstGeom prst="rect">
            <a:avLst/>
          </a:prstGeom>
          <a:noFill/>
          <a:ln w="9525">
            <a:noFill/>
            <a:miter lim="800000"/>
            <a:headEnd/>
            <a:tailEnd/>
          </a:ln>
        </p:spPr>
        <p:txBody>
          <a:bodyPr>
            <a:spAutoFit/>
          </a:bodyPr>
          <a:lstStyle/>
          <a:p>
            <a:r>
              <a:rPr lang="en-US" sz="2000"/>
              <a:t>i</a:t>
            </a:r>
          </a:p>
        </p:txBody>
      </p:sp>
      <p:sp>
        <p:nvSpPr>
          <p:cNvPr id="19" name="Line 56">
            <a:extLst>
              <a:ext uri="{FF2B5EF4-FFF2-40B4-BE49-F238E27FC236}">
                <a16:creationId xmlns:a16="http://schemas.microsoft.com/office/drawing/2014/main" id="{A77B80A7-41AB-40B4-A8DB-8A47EA96BF8F}"/>
              </a:ext>
            </a:extLst>
          </p:cNvPr>
          <p:cNvSpPr>
            <a:spLocks noChangeShapeType="1"/>
          </p:cNvSpPr>
          <p:nvPr/>
        </p:nvSpPr>
        <p:spPr bwMode="auto">
          <a:xfrm>
            <a:off x="2726795" y="4810952"/>
            <a:ext cx="2057400" cy="0"/>
          </a:xfrm>
          <a:prstGeom prst="line">
            <a:avLst/>
          </a:prstGeom>
          <a:noFill/>
          <a:ln w="9525">
            <a:solidFill>
              <a:schemeClr val="tx1"/>
            </a:solidFill>
            <a:round/>
            <a:headEnd/>
            <a:tailEnd type="triangle" w="med" len="med"/>
          </a:ln>
        </p:spPr>
        <p:txBody>
          <a:bodyPr/>
          <a:lstStyle/>
          <a:p>
            <a:endParaRPr lang="en-US"/>
          </a:p>
        </p:txBody>
      </p:sp>
      <p:sp>
        <p:nvSpPr>
          <p:cNvPr id="20" name="Text Box 57">
            <a:extLst>
              <a:ext uri="{FF2B5EF4-FFF2-40B4-BE49-F238E27FC236}">
                <a16:creationId xmlns:a16="http://schemas.microsoft.com/office/drawing/2014/main" id="{37DF9DE4-C969-4952-9753-28A2B0DA8E4A}"/>
              </a:ext>
            </a:extLst>
          </p:cNvPr>
          <p:cNvSpPr txBox="1">
            <a:spLocks noChangeArrowheads="1"/>
          </p:cNvSpPr>
          <p:nvPr/>
        </p:nvSpPr>
        <p:spPr bwMode="auto">
          <a:xfrm>
            <a:off x="3514195" y="4839528"/>
            <a:ext cx="241300" cy="400050"/>
          </a:xfrm>
          <a:prstGeom prst="rect">
            <a:avLst/>
          </a:prstGeom>
          <a:noFill/>
          <a:ln w="9525">
            <a:noFill/>
            <a:miter lim="800000"/>
            <a:headEnd/>
            <a:tailEnd/>
          </a:ln>
        </p:spPr>
        <p:txBody>
          <a:bodyPr>
            <a:spAutoFit/>
          </a:bodyPr>
          <a:lstStyle/>
          <a:p>
            <a:r>
              <a:rPr lang="en-US" sz="2000" dirty="0"/>
              <a:t>j</a:t>
            </a:r>
          </a:p>
        </p:txBody>
      </p:sp>
      <p:pic>
        <p:nvPicPr>
          <p:cNvPr id="4" name="Picture 3">
            <a:extLst>
              <a:ext uri="{FF2B5EF4-FFF2-40B4-BE49-F238E27FC236}">
                <a16:creationId xmlns:a16="http://schemas.microsoft.com/office/drawing/2014/main" id="{BAC17253-4A7F-4451-92F0-213CEEE28743}"/>
              </a:ext>
            </a:extLst>
          </p:cNvPr>
          <p:cNvPicPr>
            <a:picLocks noChangeAspect="1"/>
          </p:cNvPicPr>
          <p:nvPr/>
        </p:nvPicPr>
        <p:blipFill>
          <a:blip r:embed="rId3"/>
          <a:stretch>
            <a:fillRect/>
          </a:stretch>
        </p:blipFill>
        <p:spPr>
          <a:xfrm>
            <a:off x="6560810" y="2282334"/>
            <a:ext cx="4576338" cy="2924727"/>
          </a:xfrm>
          <a:prstGeom prst="rect">
            <a:avLst/>
          </a:prstGeom>
        </p:spPr>
      </p:pic>
      <p:sp>
        <p:nvSpPr>
          <p:cNvPr id="21" name="Text Box 3">
            <a:extLst>
              <a:ext uri="{FF2B5EF4-FFF2-40B4-BE49-F238E27FC236}">
                <a16:creationId xmlns:a16="http://schemas.microsoft.com/office/drawing/2014/main" id="{CC053025-0C00-4548-9429-BAD7026E1A11}"/>
              </a:ext>
            </a:extLst>
          </p:cNvPr>
          <p:cNvSpPr txBox="1">
            <a:spLocks noChangeArrowheads="1"/>
          </p:cNvSpPr>
          <p:nvPr/>
        </p:nvSpPr>
        <p:spPr bwMode="auto">
          <a:xfrm>
            <a:off x="523812" y="5923584"/>
            <a:ext cx="4666662" cy="230832"/>
          </a:xfrm>
          <a:prstGeom prst="rect">
            <a:avLst/>
          </a:prstGeom>
          <a:noFill/>
          <a:ln w="12700">
            <a:noFill/>
            <a:miter lim="800000"/>
            <a:headEnd/>
            <a:tailEnd/>
          </a:ln>
        </p:spPr>
        <p:txBody>
          <a:bodyPr wrap="none">
            <a:spAutoFit/>
          </a:bodyPr>
          <a:lstStyle/>
          <a:p>
            <a:pPr algn="ctr"/>
            <a:r>
              <a:rPr lang="en-US" sz="900"/>
              <a:t>(Adapted From: Blanchard and Fabrycky, “System Engineering and Analysis, Prentice Hall, 1998)</a:t>
            </a:r>
          </a:p>
        </p:txBody>
      </p:sp>
    </p:spTree>
    <p:extLst>
      <p:ext uri="{BB962C8B-B14F-4D97-AF65-F5344CB8AC3E}">
        <p14:creationId xmlns:p14="http://schemas.microsoft.com/office/powerpoint/2010/main" val="190144893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Decision Making under Uncertainty</a:t>
            </a:r>
          </a:p>
        </p:txBody>
      </p:sp>
      <p:sp>
        <p:nvSpPr>
          <p:cNvPr id="3" name="Content Placeholder 2"/>
          <p:cNvSpPr>
            <a:spLocks noGrp="1"/>
          </p:cNvSpPr>
          <p:nvPr>
            <p:ph idx="1"/>
          </p:nvPr>
        </p:nvSpPr>
        <p:spPr/>
        <p:txBody>
          <a:bodyPr/>
          <a:lstStyle/>
          <a:p>
            <a:r>
              <a:rPr lang="en-US" dirty="0"/>
              <a:t>When you have no information about probabilities</a:t>
            </a:r>
          </a:p>
          <a:p>
            <a:pPr lvl="1"/>
            <a:r>
              <a:rPr lang="en-US" dirty="0"/>
              <a:t>Maximax (ultimate optimistic)</a:t>
            </a:r>
          </a:p>
          <a:p>
            <a:pPr lvl="1"/>
            <a:r>
              <a:rPr lang="en-US" dirty="0"/>
              <a:t>Maximin (ultimate pessimistic)</a:t>
            </a:r>
          </a:p>
          <a:p>
            <a:pPr lvl="1"/>
            <a:r>
              <a:rPr lang="en-US" dirty="0"/>
              <a:t>Laplace (neutral)</a:t>
            </a:r>
          </a:p>
          <a:p>
            <a:pPr lvl="1"/>
            <a:r>
              <a:rPr lang="en-US" dirty="0"/>
              <a:t>Hurwicz (some optimistic some pessimistic)</a:t>
            </a:r>
          </a:p>
          <a:p>
            <a:pPr marL="0" indent="0">
              <a:buNone/>
            </a:pPr>
            <a:endParaRPr lang="en-US" sz="2400" dirty="0"/>
          </a:p>
          <a:p>
            <a:pPr lvl="1"/>
            <a:endParaRPr lang="en-US" dirty="0"/>
          </a:p>
          <a:p>
            <a:pPr lvl="1"/>
            <a:endParaRPr lang="en-US" dirty="0"/>
          </a:p>
        </p:txBody>
      </p:sp>
    </p:spTree>
    <p:extLst>
      <p:ext uri="{BB962C8B-B14F-4D97-AF65-F5344CB8AC3E}">
        <p14:creationId xmlns:p14="http://schemas.microsoft.com/office/powerpoint/2010/main" val="36799527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Decision Making under Risk</a:t>
            </a:r>
          </a:p>
        </p:txBody>
      </p:sp>
      <p:sp>
        <p:nvSpPr>
          <p:cNvPr id="3" name="Content Placeholder 2"/>
          <p:cNvSpPr>
            <a:spLocks noGrp="1"/>
          </p:cNvSpPr>
          <p:nvPr>
            <p:ph idx="1"/>
          </p:nvPr>
        </p:nvSpPr>
        <p:spPr/>
        <p:txBody>
          <a:bodyPr/>
          <a:lstStyle/>
          <a:p>
            <a:r>
              <a:rPr lang="en-US" dirty="0"/>
              <a:t>Now suppose that you know some information about the probabilities</a:t>
            </a:r>
          </a:p>
          <a:p>
            <a:pPr lvl="1"/>
            <a:r>
              <a:rPr lang="en-US" dirty="0"/>
              <a:t>You can still use </a:t>
            </a:r>
            <a:r>
              <a:rPr lang="en-US" dirty="0" err="1"/>
              <a:t>maximax</a:t>
            </a:r>
            <a:r>
              <a:rPr lang="en-US" dirty="0"/>
              <a:t>, maximin, </a:t>
            </a:r>
            <a:r>
              <a:rPr lang="en-US" dirty="0" err="1"/>
              <a:t>laplace</a:t>
            </a:r>
            <a:r>
              <a:rPr lang="en-US" dirty="0"/>
              <a:t>, </a:t>
            </a:r>
            <a:r>
              <a:rPr lang="en-US" dirty="0" err="1"/>
              <a:t>hurwicz</a:t>
            </a:r>
            <a:endParaRPr lang="en-US" dirty="0"/>
          </a:p>
          <a:p>
            <a:r>
              <a:rPr lang="en-US" dirty="0"/>
              <a:t>Risk has three primary components:</a:t>
            </a:r>
          </a:p>
          <a:p>
            <a:pPr lvl="1"/>
            <a:r>
              <a:rPr lang="en-US" dirty="0"/>
              <a:t>an event</a:t>
            </a:r>
          </a:p>
          <a:p>
            <a:pPr lvl="1"/>
            <a:r>
              <a:rPr lang="en-US" dirty="0"/>
              <a:t>a probability of occurrence of that event</a:t>
            </a:r>
          </a:p>
          <a:p>
            <a:pPr lvl="1"/>
            <a:r>
              <a:rPr lang="en-US" dirty="0"/>
              <a:t>the impact of that event</a:t>
            </a:r>
          </a:p>
          <a:p>
            <a:r>
              <a:rPr lang="en-US" dirty="0"/>
              <a:t>You can utilize the probabilities that you know</a:t>
            </a:r>
          </a:p>
          <a:p>
            <a:pPr lvl="1"/>
            <a:r>
              <a:rPr lang="en-US" dirty="0"/>
              <a:t>Maximum likelihood criterion</a:t>
            </a:r>
          </a:p>
          <a:p>
            <a:pPr lvl="1"/>
            <a:r>
              <a:rPr lang="en-US" dirty="0" err="1"/>
              <a:t>Baye’s</a:t>
            </a:r>
            <a:r>
              <a:rPr lang="en-US" dirty="0"/>
              <a:t> decision rule</a:t>
            </a:r>
          </a:p>
          <a:p>
            <a:endParaRPr lang="en-US" sz="2400" dirty="0"/>
          </a:p>
          <a:p>
            <a:pPr lvl="1"/>
            <a:endParaRPr lang="en-US" dirty="0"/>
          </a:p>
          <a:p>
            <a:pPr lvl="1"/>
            <a:endParaRPr lang="en-US" dirty="0"/>
          </a:p>
        </p:txBody>
      </p:sp>
    </p:spTree>
    <p:extLst>
      <p:ext uri="{BB962C8B-B14F-4D97-AF65-F5344CB8AC3E}">
        <p14:creationId xmlns:p14="http://schemas.microsoft.com/office/powerpoint/2010/main" val="42090461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7" end="7"/>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Decision Making under Risk</a:t>
            </a:r>
          </a:p>
        </p:txBody>
      </p:sp>
      <p:sp>
        <p:nvSpPr>
          <p:cNvPr id="3" name="Content Placeholder 2"/>
          <p:cNvSpPr>
            <a:spLocks noGrp="1"/>
          </p:cNvSpPr>
          <p:nvPr>
            <p:ph idx="1"/>
          </p:nvPr>
        </p:nvSpPr>
        <p:spPr/>
        <p:txBody>
          <a:bodyPr/>
          <a:lstStyle/>
          <a:p>
            <a:r>
              <a:rPr lang="en-US" b="1" u="sng" dirty="0">
                <a:solidFill>
                  <a:srgbClr val="C00000"/>
                </a:solidFill>
              </a:rPr>
              <a:t>Maximum Likelihood Criterion:</a:t>
            </a:r>
          </a:p>
          <a:p>
            <a:pPr lvl="1"/>
            <a:r>
              <a:rPr lang="en-US" dirty="0"/>
              <a:t>The maximum likelihood criterion focuses on the most likely state of nature.</a:t>
            </a:r>
          </a:p>
          <a:p>
            <a:pPr lvl="1"/>
            <a:r>
              <a:rPr lang="en-US" b="1" u="sng" dirty="0"/>
              <a:t>Procedure:</a:t>
            </a:r>
          </a:p>
          <a:p>
            <a:pPr lvl="2"/>
            <a:r>
              <a:rPr lang="en-US" dirty="0"/>
              <a:t>Identify the state of nature with the largest prior probability</a:t>
            </a:r>
          </a:p>
          <a:p>
            <a:pPr lvl="2"/>
            <a:r>
              <a:rPr lang="en-US" dirty="0"/>
              <a:t>Choose the decision alternative that has the largest payoff for this state of nature.</a:t>
            </a:r>
          </a:p>
          <a:p>
            <a:endParaRPr lang="en-US" sz="2400" dirty="0"/>
          </a:p>
          <a:p>
            <a:pPr lvl="1"/>
            <a:r>
              <a:rPr lang="en-US" b="1" u="sng" dirty="0"/>
              <a:t>Case: The </a:t>
            </a:r>
            <a:r>
              <a:rPr lang="en-US" b="1" u="sng" dirty="0" err="1"/>
              <a:t>Goferbroke</a:t>
            </a:r>
            <a:r>
              <a:rPr lang="en-US" b="1" u="sng" dirty="0"/>
              <a:t> Company Problem</a:t>
            </a:r>
            <a:endParaRPr lang="en-US" dirty="0"/>
          </a:p>
          <a:p>
            <a:pPr lvl="1"/>
            <a:endParaRPr lang="en-US" dirty="0"/>
          </a:p>
          <a:p>
            <a:pPr lvl="1"/>
            <a:endParaRPr lang="en-US" dirty="0"/>
          </a:p>
        </p:txBody>
      </p:sp>
      <p:graphicFrame>
        <p:nvGraphicFramePr>
          <p:cNvPr id="4" name="Group 54">
            <a:extLst>
              <a:ext uri="{FF2B5EF4-FFF2-40B4-BE49-F238E27FC236}">
                <a16:creationId xmlns:a16="http://schemas.microsoft.com/office/drawing/2014/main" id="{24EBD719-AB3E-4879-B1BA-A9D26B9218AC}"/>
              </a:ext>
            </a:extLst>
          </p:cNvPr>
          <p:cNvGraphicFramePr>
            <a:graphicFrameLocks noGrp="1"/>
          </p:cNvGraphicFramePr>
          <p:nvPr>
            <p:extLst>
              <p:ext uri="{D42A27DB-BD31-4B8C-83A1-F6EECF244321}">
                <p14:modId xmlns:p14="http://schemas.microsoft.com/office/powerpoint/2010/main" val="1961688224"/>
              </p:ext>
            </p:extLst>
          </p:nvPr>
        </p:nvGraphicFramePr>
        <p:xfrm>
          <a:off x="1447800" y="4267200"/>
          <a:ext cx="6705600" cy="2346792"/>
        </p:xfrm>
        <a:graphic>
          <a:graphicData uri="http://schemas.openxmlformats.org/drawingml/2006/table">
            <a:tbl>
              <a:tblPr/>
              <a:tblGrid>
                <a:gridCol w="1562100">
                  <a:extLst>
                    <a:ext uri="{9D8B030D-6E8A-4147-A177-3AD203B41FA5}">
                      <a16:colId xmlns:a16="http://schemas.microsoft.com/office/drawing/2014/main" val="20000"/>
                    </a:ext>
                  </a:extLst>
                </a:gridCol>
                <a:gridCol w="1333500">
                  <a:extLst>
                    <a:ext uri="{9D8B030D-6E8A-4147-A177-3AD203B41FA5}">
                      <a16:colId xmlns:a16="http://schemas.microsoft.com/office/drawing/2014/main" val="20001"/>
                    </a:ext>
                  </a:extLst>
                </a:gridCol>
                <a:gridCol w="1371600">
                  <a:extLst>
                    <a:ext uri="{9D8B030D-6E8A-4147-A177-3AD203B41FA5}">
                      <a16:colId xmlns:a16="http://schemas.microsoft.com/office/drawing/2014/main" val="20002"/>
                    </a:ext>
                  </a:extLst>
                </a:gridCol>
                <a:gridCol w="2438400">
                  <a:extLst>
                    <a:ext uri="{9D8B030D-6E8A-4147-A177-3AD203B41FA5}">
                      <a16:colId xmlns:a16="http://schemas.microsoft.com/office/drawing/2014/main" val="20003"/>
                    </a:ext>
                  </a:extLst>
                </a:gridCol>
              </a:tblGrid>
              <a:tr h="335189">
                <a:tc>
                  <a:txBody>
                    <a:bodyPr/>
                    <a:lstStyle/>
                    <a:p>
                      <a:pPr marL="0" marR="0" lvl="0" indent="0" algn="l" defTabSz="914400" rtl="0" eaLnBrk="1" fontAlgn="base" latinLnBrk="0" hangingPunct="1">
                        <a:lnSpc>
                          <a:spcPct val="100000"/>
                        </a:lnSpc>
                        <a:spcBef>
                          <a:spcPct val="100000"/>
                        </a:spcBef>
                        <a:spcAft>
                          <a:spcPct val="0"/>
                        </a:spcAft>
                        <a:buClrTx/>
                        <a:buSzTx/>
                        <a:buFontTx/>
                        <a:buNone/>
                        <a:tabLst/>
                      </a:pPr>
                      <a:endParaRPr kumimoji="0" lang="en-US" sz="1600" b="1" i="0" u="none" strike="noStrike" cap="none" normalizeH="0" baseline="0" dirty="0">
                        <a:ln>
                          <a:noFill/>
                        </a:ln>
                        <a:solidFill>
                          <a:schemeClr val="tx1"/>
                        </a:solidFill>
                        <a:effectLst/>
                        <a:latin typeface="Times New Roman" pitchFamily="1" charset="0"/>
                      </a:endParaRPr>
                    </a:p>
                  </a:txBody>
                  <a:tcPr marT="45708" marB="45708" horzOverflow="overflow">
                    <a:lnL cap="flat">
                      <a:noFill/>
                    </a:lnL>
                    <a:lnR>
                      <a:noFill/>
                    </a:lnR>
                    <a:lnT cap="flat">
                      <a:noFill/>
                    </a:lnT>
                    <a:lnB>
                      <a:noFill/>
                    </a:lnB>
                    <a:lnTlToBr>
                      <a:noFill/>
                    </a:lnTlToBr>
                    <a:lnBlToTr>
                      <a:noFill/>
                    </a:lnBlToTr>
                    <a:noFill/>
                  </a:tcPr>
                </a:tc>
                <a:tc gridSpan="2">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r>
                        <a:rPr kumimoji="0" lang="en-US" sz="1600" b="1" i="0" u="none" strike="noStrike" cap="none" normalizeH="0" baseline="0" dirty="0">
                          <a:ln>
                            <a:noFill/>
                          </a:ln>
                          <a:solidFill>
                            <a:schemeClr val="tx1"/>
                          </a:solidFill>
                          <a:effectLst/>
                          <a:latin typeface="Times New Roman" pitchFamily="1" charset="0"/>
                        </a:rPr>
                        <a:t>State of Nature</a:t>
                      </a:r>
                    </a:p>
                  </a:txBody>
                  <a:tcPr marT="45708" marB="45708" horzOverflow="overflow">
                    <a:lnL>
                      <a:noFill/>
                    </a:lnL>
                    <a:lnR>
                      <a:noFill/>
                    </a:lnR>
                    <a:lnT cap="flat">
                      <a:noFill/>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en-US"/>
                    </a:p>
                  </a:txBody>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endParaRPr kumimoji="0" lang="en-US" sz="1600" b="1" i="0" u="none" strike="noStrike" cap="none" normalizeH="0" baseline="0">
                        <a:ln>
                          <a:noFill/>
                        </a:ln>
                        <a:solidFill>
                          <a:schemeClr val="tx1"/>
                        </a:solidFill>
                        <a:effectLst/>
                        <a:latin typeface="Times New Roman" pitchFamily="1" charset="0"/>
                      </a:endParaRPr>
                    </a:p>
                  </a:txBody>
                  <a:tcPr marT="45708" marB="45708" horzOverflow="overflow">
                    <a:lnL>
                      <a:noFill/>
                    </a:lnL>
                    <a:lnR cap="flat">
                      <a:noFill/>
                    </a:lnR>
                    <a:lnT cap="flat">
                      <a:noFill/>
                    </a:lnT>
                    <a:lnB>
                      <a:noFill/>
                    </a:lnB>
                    <a:lnTlToBr>
                      <a:noFill/>
                    </a:lnTlToBr>
                    <a:lnBlToTr>
                      <a:noFill/>
                    </a:lnBlToTr>
                    <a:noFill/>
                  </a:tcPr>
                </a:tc>
                <a:extLst>
                  <a:ext uri="{0D108BD9-81ED-4DB2-BD59-A6C34878D82A}">
                    <a16:rowId xmlns:a16="http://schemas.microsoft.com/office/drawing/2014/main" val="10000"/>
                  </a:ext>
                </a:extLst>
              </a:tr>
              <a:tr h="335189">
                <a:tc>
                  <a:txBody>
                    <a:bodyPr/>
                    <a:lstStyle/>
                    <a:p>
                      <a:pPr marL="0" marR="0" lvl="0" indent="0" algn="l" defTabSz="914400" rtl="0" eaLnBrk="1" fontAlgn="base" latinLnBrk="0" hangingPunct="1">
                        <a:lnSpc>
                          <a:spcPct val="100000"/>
                        </a:lnSpc>
                        <a:spcBef>
                          <a:spcPct val="100000"/>
                        </a:spcBef>
                        <a:spcAft>
                          <a:spcPct val="0"/>
                        </a:spcAft>
                        <a:buClrTx/>
                        <a:buSzTx/>
                        <a:buFontTx/>
                        <a:buNone/>
                        <a:tabLst/>
                      </a:pPr>
                      <a:r>
                        <a:rPr kumimoji="0" lang="en-US" sz="1600" b="1" i="0" u="none" strike="noStrike" cap="none" normalizeH="0" baseline="0">
                          <a:ln>
                            <a:noFill/>
                          </a:ln>
                          <a:solidFill>
                            <a:schemeClr val="tx1"/>
                          </a:solidFill>
                          <a:effectLst/>
                          <a:latin typeface="Times New Roman" pitchFamily="1" charset="0"/>
                        </a:rPr>
                        <a:t>Alternative</a:t>
                      </a:r>
                    </a:p>
                  </a:txBody>
                  <a:tcPr marT="45708" marB="45708" horzOverflow="overflow">
                    <a:lnL cap="flat">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r>
                        <a:rPr kumimoji="0" lang="en-US" sz="1600" b="1" i="0" u="none" strike="noStrike" cap="none" normalizeH="0" baseline="0">
                          <a:ln>
                            <a:noFill/>
                          </a:ln>
                          <a:solidFill>
                            <a:schemeClr val="tx1"/>
                          </a:solidFill>
                          <a:effectLst/>
                          <a:latin typeface="Times New Roman" pitchFamily="1" charset="0"/>
                        </a:rPr>
                        <a:t>Oil</a:t>
                      </a:r>
                    </a:p>
                  </a:txBody>
                  <a:tcPr marT="45708" marB="45708" horzOverflow="overflow">
                    <a:lnL>
                      <a:noFill/>
                    </a:lnL>
                    <a:lnR>
                      <a:noFill/>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r>
                        <a:rPr kumimoji="0" lang="en-US" sz="1600" b="1" i="0" u="none" strike="noStrike" cap="none" normalizeH="0" baseline="0">
                          <a:ln>
                            <a:noFill/>
                          </a:ln>
                          <a:solidFill>
                            <a:schemeClr val="tx1"/>
                          </a:solidFill>
                          <a:effectLst/>
                          <a:latin typeface="Times New Roman" pitchFamily="1" charset="0"/>
                        </a:rPr>
                        <a:t>Dry</a:t>
                      </a:r>
                    </a:p>
                  </a:txBody>
                  <a:tcPr marT="45708" marB="45708" horzOverflow="overflow">
                    <a:lnL>
                      <a:noFill/>
                    </a:lnL>
                    <a:lnR>
                      <a:noFill/>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100000"/>
                        </a:spcBef>
                        <a:spcAft>
                          <a:spcPct val="0"/>
                        </a:spcAft>
                        <a:buClrTx/>
                        <a:buSzTx/>
                        <a:buFontTx/>
                        <a:buNone/>
                        <a:tabLst/>
                      </a:pPr>
                      <a:endParaRPr kumimoji="0" lang="en-US" sz="1600" b="1" i="0" u="none" strike="noStrike" cap="none" normalizeH="0" baseline="0">
                        <a:ln>
                          <a:noFill/>
                        </a:ln>
                        <a:solidFill>
                          <a:schemeClr val="tx1"/>
                        </a:solidFill>
                        <a:effectLst/>
                        <a:latin typeface="Times New Roman" pitchFamily="1" charset="0"/>
                      </a:endParaRPr>
                    </a:p>
                  </a:txBody>
                  <a:tcPr marT="45708" marB="45708"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01"/>
                  </a:ext>
                </a:extLst>
              </a:tr>
              <a:tr h="335189">
                <a:tc>
                  <a:txBody>
                    <a:bodyPr/>
                    <a:lstStyle/>
                    <a:p>
                      <a:pPr marL="0" marR="0" lvl="0" indent="0" algn="l" defTabSz="914400" rtl="0" eaLnBrk="1" fontAlgn="base" latinLnBrk="0" hangingPunct="1">
                        <a:lnSpc>
                          <a:spcPct val="100000"/>
                        </a:lnSpc>
                        <a:spcBef>
                          <a:spcPct val="10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 charset="0"/>
                        </a:rPr>
                        <a:t>Drill for oil</a:t>
                      </a:r>
                    </a:p>
                  </a:txBody>
                  <a:tcPr marT="45708" marB="45708" horzOverflow="overflow">
                    <a:lnL cap="flat">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r>
                        <a:rPr kumimoji="0" lang="en-US" sz="1600" b="0" i="0" u="none" strike="noStrike" cap="none" normalizeH="0" baseline="0" dirty="0">
                          <a:ln>
                            <a:noFill/>
                          </a:ln>
                          <a:solidFill>
                            <a:schemeClr val="tx1"/>
                          </a:solidFill>
                          <a:effectLst/>
                          <a:latin typeface="Times New Roman" pitchFamily="1" charset="0"/>
                        </a:rPr>
                        <a:t>700</a:t>
                      </a:r>
                    </a:p>
                  </a:txBody>
                  <a:tcPr marT="45708" marB="45708"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 charset="0"/>
                        </a:rPr>
                        <a:t>–100</a:t>
                      </a:r>
                    </a:p>
                  </a:txBody>
                  <a:tcPr marT="45708" marB="45708" horzOverflow="overflow">
                    <a:lnL>
                      <a:noFill/>
                    </a:lnL>
                    <a:lnR>
                      <a:noFill/>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10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 charset="0"/>
                        </a:rPr>
                        <a:t>–100</a:t>
                      </a:r>
                    </a:p>
                  </a:txBody>
                  <a:tcPr marT="45708" marB="45708"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02"/>
                  </a:ext>
                </a:extLst>
              </a:tr>
              <a:tr h="335189">
                <a:tc>
                  <a:txBody>
                    <a:bodyPr/>
                    <a:lstStyle/>
                    <a:p>
                      <a:pPr marL="0" marR="0" lvl="0" indent="0" algn="l" defTabSz="914400" rtl="0" eaLnBrk="1" fontAlgn="base" latinLnBrk="0" hangingPunct="1">
                        <a:lnSpc>
                          <a:spcPct val="100000"/>
                        </a:lnSpc>
                        <a:spcBef>
                          <a:spcPct val="100000"/>
                        </a:spcBef>
                        <a:spcAft>
                          <a:spcPct val="0"/>
                        </a:spcAft>
                        <a:buClrTx/>
                        <a:buSzTx/>
                        <a:buFontTx/>
                        <a:buNone/>
                        <a:tabLst/>
                      </a:pPr>
                      <a:r>
                        <a:rPr kumimoji="0" lang="en-US" sz="1600" b="0" i="0" u="none" strike="noStrike" cap="none" normalizeH="0" baseline="0" dirty="0">
                          <a:ln>
                            <a:noFill/>
                          </a:ln>
                          <a:solidFill>
                            <a:schemeClr val="tx1"/>
                          </a:solidFill>
                          <a:effectLst/>
                          <a:latin typeface="Times New Roman" pitchFamily="1" charset="0"/>
                        </a:rPr>
                        <a:t>Sell the land</a:t>
                      </a:r>
                    </a:p>
                  </a:txBody>
                  <a:tcPr marT="45708" marB="45708" horzOverflow="overflow">
                    <a:lnL cap="flat">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r>
                        <a:rPr kumimoji="0" lang="en-US" sz="1600" b="0" i="0" u="none" strike="noStrike" cap="none" normalizeH="0" baseline="0" dirty="0">
                          <a:ln>
                            <a:noFill/>
                          </a:ln>
                          <a:solidFill>
                            <a:schemeClr val="tx1"/>
                          </a:solidFill>
                          <a:effectLst/>
                          <a:latin typeface="Times New Roman" pitchFamily="1" charset="0"/>
                        </a:rPr>
                        <a:t>90</a:t>
                      </a:r>
                    </a:p>
                  </a:txBody>
                  <a:tcPr marT="45708" marB="45708"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r>
                        <a:rPr kumimoji="0" lang="en-US" sz="1600" b="0" i="0" u="none" strike="noStrike" cap="none" normalizeH="0" baseline="0" dirty="0">
                          <a:ln>
                            <a:noFill/>
                          </a:ln>
                          <a:solidFill>
                            <a:schemeClr val="tx1"/>
                          </a:solidFill>
                          <a:effectLst/>
                          <a:latin typeface="Times New Roman" pitchFamily="1" charset="0"/>
                        </a:rPr>
                        <a:t>90</a:t>
                      </a:r>
                    </a:p>
                  </a:txBody>
                  <a:tcPr marT="45708" marB="45708"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100000"/>
                        </a:spcBef>
                        <a:spcAft>
                          <a:spcPct val="0"/>
                        </a:spcAft>
                        <a:buClrTx/>
                        <a:buSzTx/>
                        <a:buFontTx/>
                        <a:buNone/>
                        <a:tabLst/>
                      </a:pPr>
                      <a:r>
                        <a:rPr kumimoji="0" lang="en-US" sz="1600" b="0" i="0" u="none" strike="noStrike" cap="none" normalizeH="0" baseline="0" dirty="0">
                          <a:ln>
                            <a:noFill/>
                          </a:ln>
                          <a:solidFill>
                            <a:schemeClr val="tx1"/>
                          </a:solidFill>
                          <a:effectLst/>
                          <a:latin typeface="Times New Roman" pitchFamily="1" charset="0"/>
                        </a:rPr>
                        <a:t>90 </a:t>
                      </a:r>
                      <a:r>
                        <a:rPr kumimoji="0" lang="en-US" sz="1600" b="0" i="0" u="none" strike="noStrike" cap="none" normalizeH="0" baseline="0" dirty="0">
                          <a:ln>
                            <a:noFill/>
                          </a:ln>
                          <a:solidFill>
                            <a:schemeClr val="tx1"/>
                          </a:solidFill>
                          <a:effectLst/>
                          <a:latin typeface="Times New Roman" pitchFamily="1" charset="0"/>
                          <a:sym typeface="Symbol" pitchFamily="1" charset="2"/>
                        </a:rPr>
                        <a:t></a:t>
                      </a:r>
                      <a:r>
                        <a:rPr kumimoji="0" lang="en-US" sz="1600" b="0" i="0" u="none" strike="noStrike" cap="none" normalizeH="0" baseline="0" dirty="0">
                          <a:ln>
                            <a:noFill/>
                          </a:ln>
                          <a:solidFill>
                            <a:schemeClr val="tx1"/>
                          </a:solidFill>
                          <a:effectLst/>
                          <a:latin typeface="Times New Roman" pitchFamily="1" charset="0"/>
                        </a:rPr>
                        <a:t> Step 2: Maximum</a:t>
                      </a:r>
                    </a:p>
                  </a:txBody>
                  <a:tcPr marT="45708" marB="45708"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03"/>
                  </a:ext>
                </a:extLst>
              </a:tr>
              <a:tr h="335189">
                <a:tc>
                  <a:txBody>
                    <a:bodyPr/>
                    <a:lstStyle/>
                    <a:p>
                      <a:pPr marL="0" marR="0" lvl="0" indent="0" algn="l" defTabSz="914400" rtl="0" eaLnBrk="1" fontAlgn="base" latinLnBrk="0" hangingPunct="1">
                        <a:lnSpc>
                          <a:spcPct val="100000"/>
                        </a:lnSpc>
                        <a:spcBef>
                          <a:spcPct val="10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 charset="0"/>
                        </a:rPr>
                        <a:t>Prior probability</a:t>
                      </a:r>
                    </a:p>
                  </a:txBody>
                  <a:tcPr marT="45708" marB="45708" horzOverflow="overflow">
                    <a:lnL cap="flat">
                      <a:noFill/>
                    </a:lnL>
                    <a:lnR>
                      <a:noFill/>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r>
                        <a:rPr kumimoji="0" lang="en-US" sz="1600" b="0" i="0" u="none" strike="noStrike" cap="none" normalizeH="0" baseline="0" dirty="0">
                          <a:ln>
                            <a:noFill/>
                          </a:ln>
                          <a:solidFill>
                            <a:schemeClr val="tx1"/>
                          </a:solidFill>
                          <a:effectLst/>
                          <a:latin typeface="Times New Roman" pitchFamily="1" charset="0"/>
                        </a:rPr>
                        <a:t>0.25</a:t>
                      </a:r>
                    </a:p>
                  </a:txBody>
                  <a:tcPr marT="45708" marB="45708" horzOverflow="overflow">
                    <a:lnL>
                      <a:noFill/>
                    </a:lnL>
                    <a:lnR>
                      <a:noFill/>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 charset="0"/>
                        </a:rPr>
                        <a:t>0.75</a:t>
                      </a:r>
                    </a:p>
                  </a:txBody>
                  <a:tcPr marT="45708" marB="45708" horzOverflow="overflow">
                    <a:lnL>
                      <a:noFill/>
                    </a:lnL>
                    <a:lnR>
                      <a:noFill/>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100000"/>
                        </a:spcBef>
                        <a:spcAft>
                          <a:spcPct val="0"/>
                        </a:spcAft>
                        <a:buClrTx/>
                        <a:buSzTx/>
                        <a:buFontTx/>
                        <a:buNone/>
                        <a:tabLst/>
                      </a:pPr>
                      <a:endParaRPr kumimoji="0" lang="en-US" sz="1600" b="0" i="0" u="none" strike="noStrike" cap="none" normalizeH="0" baseline="0">
                        <a:ln>
                          <a:noFill/>
                        </a:ln>
                        <a:solidFill>
                          <a:schemeClr val="tx1"/>
                        </a:solidFill>
                        <a:effectLst/>
                        <a:latin typeface="Times New Roman" pitchFamily="1" charset="0"/>
                      </a:endParaRPr>
                    </a:p>
                  </a:txBody>
                  <a:tcPr marT="45708" marB="45708"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04"/>
                  </a:ext>
                </a:extLst>
              </a:tr>
              <a:tr h="335189">
                <a:tc>
                  <a:txBody>
                    <a:bodyPr/>
                    <a:lstStyle/>
                    <a:p>
                      <a:pPr marL="0" marR="0" lvl="0" indent="0" algn="l" defTabSz="914400" rtl="0" eaLnBrk="1" fontAlgn="base" latinLnBrk="0" hangingPunct="1">
                        <a:lnSpc>
                          <a:spcPct val="100000"/>
                        </a:lnSpc>
                        <a:spcBef>
                          <a:spcPct val="100000"/>
                        </a:spcBef>
                        <a:spcAft>
                          <a:spcPct val="0"/>
                        </a:spcAft>
                        <a:buClrTx/>
                        <a:buSzTx/>
                        <a:buFontTx/>
                        <a:buNone/>
                        <a:tabLst/>
                      </a:pPr>
                      <a:endParaRPr kumimoji="0" lang="en-US" sz="1600" b="0" i="0" u="none" strike="noStrike" cap="none" normalizeH="0" baseline="0">
                        <a:ln>
                          <a:noFill/>
                        </a:ln>
                        <a:solidFill>
                          <a:schemeClr val="tx1"/>
                        </a:solidFill>
                        <a:effectLst/>
                        <a:latin typeface="Times New Roman" pitchFamily="1" charset="0"/>
                      </a:endParaRPr>
                    </a:p>
                  </a:txBody>
                  <a:tcPr marT="45708" marB="45708" horzOverflow="overflow">
                    <a:lnL cap="flat">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endParaRPr kumimoji="0" lang="en-US" sz="1600" b="0" i="0" u="none" strike="noStrike" cap="none" normalizeH="0" baseline="0">
                        <a:ln>
                          <a:noFill/>
                        </a:ln>
                        <a:solidFill>
                          <a:schemeClr val="tx1"/>
                        </a:solidFill>
                        <a:effectLst/>
                        <a:latin typeface="Times New Roman" pitchFamily="1" charset="0"/>
                      </a:endParaRPr>
                    </a:p>
                  </a:txBody>
                  <a:tcPr marT="45708" marB="45708"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r>
                        <a:rPr kumimoji="0" lang="en-US" sz="1600" b="0" i="0" u="none" strike="noStrike" cap="none" normalizeH="0" baseline="0" dirty="0">
                          <a:ln>
                            <a:noFill/>
                          </a:ln>
                          <a:solidFill>
                            <a:schemeClr val="tx1"/>
                          </a:solidFill>
                          <a:effectLst/>
                          <a:latin typeface="Times New Roman" pitchFamily="1" charset="0"/>
                          <a:sym typeface="Symbol" pitchFamily="1" charset="2"/>
                        </a:rPr>
                        <a:t></a:t>
                      </a:r>
                      <a:endParaRPr kumimoji="0" lang="en-US" sz="1600" b="0" i="0" u="none" strike="noStrike" cap="none" normalizeH="0" baseline="0" dirty="0">
                        <a:ln>
                          <a:noFill/>
                        </a:ln>
                        <a:solidFill>
                          <a:schemeClr val="tx1"/>
                        </a:solidFill>
                        <a:effectLst/>
                        <a:latin typeface="Times New Roman" pitchFamily="1" charset="0"/>
                      </a:endParaRPr>
                    </a:p>
                  </a:txBody>
                  <a:tcPr marT="45708" marB="45708" horzOverflow="overflow">
                    <a:lnL>
                      <a:noFill/>
                    </a:lnL>
                    <a:lnR>
                      <a:noFill/>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100000"/>
                        </a:spcBef>
                        <a:spcAft>
                          <a:spcPct val="0"/>
                        </a:spcAft>
                        <a:buClrTx/>
                        <a:buSzTx/>
                        <a:buFontTx/>
                        <a:buNone/>
                        <a:tabLst/>
                      </a:pPr>
                      <a:endParaRPr kumimoji="0" lang="en-US" sz="1600" b="0" i="0" u="none" strike="noStrike" cap="none" normalizeH="0" baseline="0">
                        <a:ln>
                          <a:noFill/>
                        </a:ln>
                        <a:solidFill>
                          <a:schemeClr val="tx1"/>
                        </a:solidFill>
                        <a:effectLst/>
                        <a:latin typeface="Times New Roman" pitchFamily="1" charset="0"/>
                      </a:endParaRPr>
                    </a:p>
                  </a:txBody>
                  <a:tcPr marT="45708" marB="45708"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05"/>
                  </a:ext>
                </a:extLst>
              </a:tr>
              <a:tr h="335189">
                <a:tc>
                  <a:txBody>
                    <a:bodyPr/>
                    <a:lstStyle/>
                    <a:p>
                      <a:pPr marL="0" marR="0" lvl="0" indent="0" algn="l" defTabSz="914400" rtl="0" eaLnBrk="1" fontAlgn="base" latinLnBrk="0" hangingPunct="1">
                        <a:lnSpc>
                          <a:spcPct val="100000"/>
                        </a:lnSpc>
                        <a:spcBef>
                          <a:spcPct val="100000"/>
                        </a:spcBef>
                        <a:spcAft>
                          <a:spcPct val="0"/>
                        </a:spcAft>
                        <a:buClrTx/>
                        <a:buSzTx/>
                        <a:buFontTx/>
                        <a:buNone/>
                        <a:tabLst/>
                      </a:pPr>
                      <a:endParaRPr kumimoji="0" lang="en-US" sz="1600" b="0" i="0" u="none" strike="noStrike" cap="none" normalizeH="0" baseline="0">
                        <a:ln>
                          <a:noFill/>
                        </a:ln>
                        <a:solidFill>
                          <a:schemeClr val="tx1"/>
                        </a:solidFill>
                        <a:effectLst/>
                        <a:latin typeface="Times New Roman" pitchFamily="1" charset="0"/>
                      </a:endParaRPr>
                    </a:p>
                  </a:txBody>
                  <a:tcPr marT="45708" marB="45708" horzOverflow="overflow">
                    <a:lnL cap="flat">
                      <a:noFill/>
                    </a:lnL>
                    <a:lnR>
                      <a:noFill/>
                    </a:lnR>
                    <a:lnT>
                      <a:noFill/>
                    </a:lnT>
                    <a:lnB cap="flat">
                      <a:noFill/>
                    </a:lnB>
                    <a:lnTlToBr>
                      <a:noFill/>
                    </a:lnTlToBr>
                    <a:lnBlToTr>
                      <a:noFill/>
                    </a:lnBlToTr>
                    <a:noFill/>
                  </a:tcPr>
                </a:tc>
                <a:tc gridSpan="2">
                  <a:txBody>
                    <a:bodyPr/>
                    <a:lstStyle/>
                    <a:p>
                      <a:pPr marL="0" marR="0" lvl="0" indent="0" algn="r" defTabSz="914400" rtl="0" eaLnBrk="1" fontAlgn="base" latinLnBrk="0" hangingPunct="1">
                        <a:lnSpc>
                          <a:spcPct val="100000"/>
                        </a:lnSpc>
                        <a:spcBef>
                          <a:spcPct val="100000"/>
                        </a:spcBef>
                        <a:spcAft>
                          <a:spcPct val="0"/>
                        </a:spcAft>
                        <a:buClrTx/>
                        <a:buSzTx/>
                        <a:buFontTx/>
                        <a:buNone/>
                        <a:tabLst/>
                      </a:pPr>
                      <a:r>
                        <a:rPr kumimoji="0" lang="en-US" sz="1600" b="0" i="0" u="none" strike="noStrike" cap="none" normalizeH="0" baseline="0" dirty="0">
                          <a:ln>
                            <a:noFill/>
                          </a:ln>
                          <a:solidFill>
                            <a:schemeClr val="tx1"/>
                          </a:solidFill>
                          <a:effectLst/>
                          <a:latin typeface="Times New Roman" pitchFamily="1" charset="0"/>
                        </a:rPr>
                        <a:t>Step 1: Maximum</a:t>
                      </a:r>
                    </a:p>
                  </a:txBody>
                  <a:tcPr marT="45708" marB="45708" horzOverflow="overflow">
                    <a:lnL>
                      <a:noFill/>
                    </a:lnL>
                    <a:lnR>
                      <a:noFill/>
                    </a:lnR>
                    <a:lnT>
                      <a:noFill/>
                    </a:lnT>
                    <a:lnB cap="flat">
                      <a:noFill/>
                    </a:lnB>
                    <a:lnTlToBr>
                      <a:noFill/>
                    </a:lnTlToBr>
                    <a:lnBlToTr>
                      <a:noFill/>
                    </a:lnBlToTr>
                    <a:noFill/>
                  </a:tcPr>
                </a:tc>
                <a:tc hMerge="1">
                  <a:txBody>
                    <a:bodyPr/>
                    <a:lstStyle/>
                    <a:p>
                      <a:endParaRPr lang="en-US"/>
                    </a:p>
                  </a:txBody>
                  <a:tcPr/>
                </a:tc>
                <a:tc>
                  <a:txBody>
                    <a:bodyPr/>
                    <a:lstStyle/>
                    <a:p>
                      <a:pPr marL="0" marR="0" lvl="0" indent="0" algn="l" defTabSz="914400" rtl="0" eaLnBrk="1" fontAlgn="base" latinLnBrk="0" hangingPunct="1">
                        <a:lnSpc>
                          <a:spcPct val="100000"/>
                        </a:lnSpc>
                        <a:spcBef>
                          <a:spcPct val="100000"/>
                        </a:spcBef>
                        <a:spcAft>
                          <a:spcPct val="0"/>
                        </a:spcAft>
                        <a:buClrTx/>
                        <a:buSzTx/>
                        <a:buFontTx/>
                        <a:buNone/>
                        <a:tabLst/>
                      </a:pPr>
                      <a:endParaRPr kumimoji="0" lang="en-US" sz="1600" b="0" i="0" u="none" strike="noStrike" cap="none" normalizeH="0" baseline="0" dirty="0">
                        <a:ln>
                          <a:noFill/>
                        </a:ln>
                        <a:solidFill>
                          <a:schemeClr val="tx1"/>
                        </a:solidFill>
                        <a:effectLst/>
                        <a:latin typeface="Times New Roman" pitchFamily="1" charset="0"/>
                      </a:endParaRPr>
                    </a:p>
                  </a:txBody>
                  <a:tcPr marT="45708" marB="45708" horzOverflow="overflow">
                    <a:lnL>
                      <a:noFill/>
                    </a:lnL>
                    <a:lnR cap="flat">
                      <a:noFill/>
                    </a:lnR>
                    <a:lnT>
                      <a:noFill/>
                    </a:lnT>
                    <a:lnB cap="flat">
                      <a:noFill/>
                    </a:lnB>
                    <a:lnTlToBr>
                      <a:noFill/>
                    </a:lnTlToBr>
                    <a:lnBlToTr>
                      <a:noFill/>
                    </a:lnBlToTr>
                    <a:noFill/>
                  </a:tcPr>
                </a:tc>
                <a:extLst>
                  <a:ext uri="{0D108BD9-81ED-4DB2-BD59-A6C34878D82A}">
                    <a16:rowId xmlns:a16="http://schemas.microsoft.com/office/drawing/2014/main" val="10006"/>
                  </a:ext>
                </a:extLst>
              </a:tr>
            </a:tbl>
          </a:graphicData>
        </a:graphic>
      </p:graphicFrame>
      <p:sp>
        <p:nvSpPr>
          <p:cNvPr id="5" name="TextBox 4">
            <a:extLst>
              <a:ext uri="{FF2B5EF4-FFF2-40B4-BE49-F238E27FC236}">
                <a16:creationId xmlns:a16="http://schemas.microsoft.com/office/drawing/2014/main" id="{A61D3B18-46AE-4C8E-A89F-3A62C2E15754}"/>
              </a:ext>
            </a:extLst>
          </p:cNvPr>
          <p:cNvSpPr txBox="1"/>
          <p:nvPr/>
        </p:nvSpPr>
        <p:spPr>
          <a:xfrm>
            <a:off x="9148214" y="4834543"/>
            <a:ext cx="2077278" cy="1200329"/>
          </a:xfrm>
          <a:prstGeom prst="rect">
            <a:avLst/>
          </a:prstGeom>
          <a:noFill/>
        </p:spPr>
        <p:txBody>
          <a:bodyPr wrap="square" rtlCol="0">
            <a:spAutoFit/>
          </a:bodyPr>
          <a:lstStyle/>
          <a:p>
            <a:r>
              <a:rPr lang="en-US" dirty="0"/>
              <a:t>Under Maximum Likelihood Criterion, you should </a:t>
            </a:r>
            <a:r>
              <a:rPr lang="en-US" b="1" dirty="0">
                <a:solidFill>
                  <a:srgbClr val="C00000"/>
                </a:solidFill>
              </a:rPr>
              <a:t>sell the land.</a:t>
            </a:r>
            <a:endParaRPr lang="en-US" dirty="0"/>
          </a:p>
        </p:txBody>
      </p:sp>
      <p:sp>
        <p:nvSpPr>
          <p:cNvPr id="6" name="Right Brace 5">
            <a:extLst>
              <a:ext uri="{FF2B5EF4-FFF2-40B4-BE49-F238E27FC236}">
                <a16:creationId xmlns:a16="http://schemas.microsoft.com/office/drawing/2014/main" id="{01F1503D-BD26-4B52-941B-B5885DD5925C}"/>
              </a:ext>
            </a:extLst>
          </p:cNvPr>
          <p:cNvSpPr/>
          <p:nvPr/>
        </p:nvSpPr>
        <p:spPr>
          <a:xfrm>
            <a:off x="8153400" y="4376542"/>
            <a:ext cx="742950" cy="2116333"/>
          </a:xfrm>
          <a:prstGeom prst="rightBrace">
            <a:avLst/>
          </a:prstGeom>
          <a:ln>
            <a:solidFill>
              <a:srgbClr val="C0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Tree>
    <p:extLst>
      <p:ext uri="{BB962C8B-B14F-4D97-AF65-F5344CB8AC3E}">
        <p14:creationId xmlns:p14="http://schemas.microsoft.com/office/powerpoint/2010/main" val="30647383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4"/>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6"/>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A861FE5-24DD-49E9-B58E-0E46F926863C}"/>
              </a:ext>
            </a:extLst>
          </p:cNvPr>
          <p:cNvSpPr/>
          <p:nvPr/>
        </p:nvSpPr>
        <p:spPr>
          <a:xfrm>
            <a:off x="6094207" y="2354333"/>
            <a:ext cx="1151419" cy="2973041"/>
          </a:xfrm>
          <a:prstGeom prst="rect">
            <a:avLst/>
          </a:prstGeom>
          <a:solidFill>
            <a:schemeClr val="accent2">
              <a:lumMod val="40000"/>
              <a:lumOff val="60000"/>
              <a:alpha val="3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p:txBody>
          <a:bodyPr/>
          <a:lstStyle/>
          <a:p>
            <a:r>
              <a:rPr lang="en-US" dirty="0"/>
              <a:t>Decision Making under Risk</a:t>
            </a:r>
          </a:p>
        </p:txBody>
      </p:sp>
      <p:sp>
        <p:nvSpPr>
          <p:cNvPr id="3" name="Content Placeholder 2"/>
          <p:cNvSpPr>
            <a:spLocks noGrp="1"/>
          </p:cNvSpPr>
          <p:nvPr>
            <p:ph idx="1"/>
          </p:nvPr>
        </p:nvSpPr>
        <p:spPr/>
        <p:txBody>
          <a:bodyPr/>
          <a:lstStyle/>
          <a:p>
            <a:r>
              <a:rPr lang="en-US" b="1" u="sng" dirty="0">
                <a:solidFill>
                  <a:srgbClr val="C00000"/>
                </a:solidFill>
              </a:rPr>
              <a:t>Maximum Likelihood Criterion:</a:t>
            </a:r>
          </a:p>
          <a:p>
            <a:pPr lvl="1"/>
            <a:r>
              <a:rPr lang="en-US" b="1" u="sng" dirty="0"/>
              <a:t>Case: Another example (not in the textbook)</a:t>
            </a:r>
            <a:endParaRPr lang="en-US" dirty="0"/>
          </a:p>
          <a:p>
            <a:pPr lvl="1"/>
            <a:endParaRPr lang="en-US" dirty="0"/>
          </a:p>
          <a:p>
            <a:pPr lvl="1"/>
            <a:endParaRPr lang="en-US" dirty="0"/>
          </a:p>
        </p:txBody>
      </p:sp>
      <p:graphicFrame>
        <p:nvGraphicFramePr>
          <p:cNvPr id="7" name="Group 3">
            <a:extLst>
              <a:ext uri="{FF2B5EF4-FFF2-40B4-BE49-F238E27FC236}">
                <a16:creationId xmlns:a16="http://schemas.microsoft.com/office/drawing/2014/main" id="{E9538E6F-6221-4ECB-BEBD-B5BCA56FB1BA}"/>
              </a:ext>
            </a:extLst>
          </p:cNvPr>
          <p:cNvGraphicFramePr>
            <a:graphicFrameLocks noGrp="1"/>
          </p:cNvGraphicFramePr>
          <p:nvPr>
            <p:extLst>
              <p:ext uri="{D42A27DB-BD31-4B8C-83A1-F6EECF244321}">
                <p14:modId xmlns:p14="http://schemas.microsoft.com/office/powerpoint/2010/main" val="3168019012"/>
              </p:ext>
            </p:extLst>
          </p:nvPr>
        </p:nvGraphicFramePr>
        <p:xfrm>
          <a:off x="1205948" y="2354333"/>
          <a:ext cx="6248400" cy="2981324"/>
        </p:xfrm>
        <a:graphic>
          <a:graphicData uri="http://schemas.openxmlformats.org/drawingml/2006/table">
            <a:tbl>
              <a:tblPr/>
              <a:tblGrid>
                <a:gridCol w="1881239">
                  <a:extLst>
                    <a:ext uri="{9D8B030D-6E8A-4147-A177-3AD203B41FA5}">
                      <a16:colId xmlns:a16="http://schemas.microsoft.com/office/drawing/2014/main" val="20000"/>
                    </a:ext>
                  </a:extLst>
                </a:gridCol>
                <a:gridCol w="1242961">
                  <a:extLst>
                    <a:ext uri="{9D8B030D-6E8A-4147-A177-3AD203B41FA5}">
                      <a16:colId xmlns:a16="http://schemas.microsoft.com/office/drawing/2014/main" val="20001"/>
                    </a:ext>
                  </a:extLst>
                </a:gridCol>
                <a:gridCol w="1562100">
                  <a:extLst>
                    <a:ext uri="{9D8B030D-6E8A-4147-A177-3AD203B41FA5}">
                      <a16:colId xmlns:a16="http://schemas.microsoft.com/office/drawing/2014/main" val="20002"/>
                    </a:ext>
                  </a:extLst>
                </a:gridCol>
                <a:gridCol w="1562100">
                  <a:extLst>
                    <a:ext uri="{9D8B030D-6E8A-4147-A177-3AD203B41FA5}">
                      <a16:colId xmlns:a16="http://schemas.microsoft.com/office/drawing/2014/main" val="20003"/>
                    </a:ext>
                  </a:extLst>
                </a:gridCol>
              </a:tblGrid>
              <a:tr h="426236">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65000"/>
                        <a:buFont typeface="Wingdings" pitchFamily="2" charset="2"/>
                        <a:buNone/>
                        <a:tabLst/>
                      </a:pPr>
                      <a:r>
                        <a:rPr kumimoji="0" lang="en-US" sz="2000" b="0" i="0" u="none" strike="noStrike" cap="none" normalizeH="0" baseline="0" dirty="0">
                          <a:ln>
                            <a:noFill/>
                          </a:ln>
                          <a:solidFill>
                            <a:srgbClr val="FF0000"/>
                          </a:solidFill>
                          <a:effectLst/>
                          <a:latin typeface="Arial" charset="0"/>
                        </a:rPr>
                        <a:t>Probability</a:t>
                      </a:r>
                    </a:p>
                  </a:txBody>
                  <a:tcP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65000"/>
                        <a:buFont typeface="Wingdings" pitchFamily="2" charset="2"/>
                        <a:buNone/>
                        <a:tabLst/>
                      </a:pPr>
                      <a:r>
                        <a:rPr kumimoji="0" lang="en-US" sz="2000" b="0" i="0" u="none" strike="noStrike" cap="none" normalizeH="0" baseline="0">
                          <a:ln>
                            <a:noFill/>
                          </a:ln>
                          <a:solidFill>
                            <a:schemeClr val="tx1"/>
                          </a:solidFill>
                          <a:effectLst/>
                          <a:latin typeface="Arial" charset="0"/>
                        </a:rPr>
                        <a:t>0.3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65000"/>
                        <a:buFont typeface="Wingdings" pitchFamily="2" charset="2"/>
                        <a:buNone/>
                        <a:tabLst/>
                      </a:pPr>
                      <a:r>
                        <a:rPr kumimoji="0" lang="en-US" sz="2000" b="0" i="0" u="none" strike="noStrike" cap="none" normalizeH="0" baseline="0">
                          <a:ln>
                            <a:noFill/>
                          </a:ln>
                          <a:solidFill>
                            <a:schemeClr val="tx1"/>
                          </a:solidFill>
                          <a:effectLst/>
                          <a:latin typeface="Arial" charset="0"/>
                        </a:rPr>
                        <a:t>0.2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65000"/>
                        <a:buFont typeface="Wingdings" pitchFamily="2" charset="2"/>
                        <a:buNone/>
                        <a:tabLst/>
                      </a:pPr>
                      <a:r>
                        <a:rPr kumimoji="0" lang="en-US" sz="2000" b="0" i="0" u="none" strike="noStrike" cap="none" normalizeH="0" baseline="0">
                          <a:ln>
                            <a:noFill/>
                          </a:ln>
                          <a:solidFill>
                            <a:schemeClr val="tx1"/>
                          </a:solidFill>
                          <a:effectLst/>
                          <a:latin typeface="Arial" charset="0"/>
                        </a:rPr>
                        <a:t>0.5</a:t>
                      </a:r>
                    </a:p>
                  </a:txBody>
                  <a:tcP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25072">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65000"/>
                        <a:buFont typeface="Wingdings" pitchFamily="2" charset="2"/>
                        <a:buNone/>
                        <a:tabLst/>
                      </a:pPr>
                      <a:r>
                        <a:rPr kumimoji="0" lang="en-US" sz="2000" b="0" i="0" u="none" strike="noStrike" cap="none" normalizeH="0" baseline="0" dirty="0">
                          <a:ln>
                            <a:noFill/>
                          </a:ln>
                          <a:solidFill>
                            <a:srgbClr val="FF0000"/>
                          </a:solidFill>
                          <a:effectLst/>
                          <a:latin typeface="Arial" charset="0"/>
                        </a:rPr>
                        <a:t>Future State</a:t>
                      </a:r>
                    </a:p>
                  </a:txBody>
                  <a:tcP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65000"/>
                        <a:buFont typeface="Wingdings" pitchFamily="2" charset="2"/>
                        <a:buNone/>
                        <a:tabLst/>
                      </a:pPr>
                      <a:r>
                        <a:rPr kumimoji="0" lang="en-US" sz="2000" b="0" i="0" u="none" strike="noStrike" cap="none" normalizeH="0" baseline="0">
                          <a:ln>
                            <a:noFill/>
                          </a:ln>
                          <a:solidFill>
                            <a:schemeClr val="tx1"/>
                          </a:solidFill>
                          <a:effectLst/>
                          <a:latin typeface="Arial" charset="0"/>
                        </a:rPr>
                        <a:t>F</a:t>
                      </a:r>
                      <a:r>
                        <a:rPr kumimoji="0" lang="en-US" sz="2000" b="0" i="0" u="none" strike="noStrike" cap="none" normalizeH="0" baseline="-25000">
                          <a:ln>
                            <a:noFill/>
                          </a:ln>
                          <a:solidFill>
                            <a:schemeClr val="tx1"/>
                          </a:solidFill>
                          <a:effectLst/>
                          <a:latin typeface="Arial" charset="0"/>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65000"/>
                        <a:buFont typeface="Wingdings" pitchFamily="2" charset="2"/>
                        <a:buNone/>
                        <a:tabLst/>
                      </a:pPr>
                      <a:r>
                        <a:rPr kumimoji="0" lang="en-US" sz="2000" b="0" i="0" u="none" strike="noStrike" cap="none" normalizeH="0" baseline="0">
                          <a:ln>
                            <a:noFill/>
                          </a:ln>
                          <a:solidFill>
                            <a:schemeClr val="tx1"/>
                          </a:solidFill>
                          <a:effectLst/>
                          <a:latin typeface="Arial" charset="0"/>
                        </a:rPr>
                        <a:t>F</a:t>
                      </a:r>
                      <a:r>
                        <a:rPr kumimoji="0" lang="en-US" sz="2000" b="0" i="0" u="none" strike="noStrike" cap="none" normalizeH="0" baseline="-25000">
                          <a:ln>
                            <a:noFill/>
                          </a:ln>
                          <a:solidFill>
                            <a:schemeClr val="tx1"/>
                          </a:solidFill>
                          <a:effectLst/>
                          <a:latin typeface="Arial" charset="0"/>
                        </a:rPr>
                        <a:t>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65000"/>
                        <a:buFont typeface="Wingdings" pitchFamily="2" charset="2"/>
                        <a:buNone/>
                        <a:tabLst/>
                      </a:pPr>
                      <a:r>
                        <a:rPr kumimoji="0" lang="en-US" sz="2000" b="0" i="0" u="none" strike="noStrike" cap="none" normalizeH="0" baseline="0">
                          <a:ln>
                            <a:noFill/>
                          </a:ln>
                          <a:solidFill>
                            <a:schemeClr val="tx1"/>
                          </a:solidFill>
                          <a:effectLst/>
                          <a:latin typeface="Arial" charset="0"/>
                        </a:rPr>
                        <a:t>F</a:t>
                      </a:r>
                      <a:r>
                        <a:rPr kumimoji="0" lang="en-US" sz="2000" b="0" i="0" u="none" strike="noStrike" cap="none" normalizeH="0" baseline="-25000">
                          <a:ln>
                            <a:noFill/>
                          </a:ln>
                          <a:solidFill>
                            <a:schemeClr val="tx1"/>
                          </a:solidFill>
                          <a:effectLst/>
                          <a:latin typeface="Arial" charset="0"/>
                        </a:rPr>
                        <a:t>3</a:t>
                      </a:r>
                    </a:p>
                  </a:txBody>
                  <a:tcP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26236">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65000"/>
                        <a:buFont typeface="Wingdings" pitchFamily="2" charset="2"/>
                        <a:buNone/>
                        <a:tabLst/>
                      </a:pPr>
                      <a:r>
                        <a:rPr kumimoji="0" lang="en-US" sz="2000" b="0" i="0" u="none" strike="noStrike" cap="none" normalizeH="0" baseline="0" dirty="0">
                          <a:ln>
                            <a:noFill/>
                          </a:ln>
                          <a:solidFill>
                            <a:srgbClr val="FF0000"/>
                          </a:solidFill>
                          <a:effectLst/>
                          <a:latin typeface="Arial" charset="0"/>
                        </a:rPr>
                        <a:t>Alternative</a:t>
                      </a:r>
                    </a:p>
                  </a:txBody>
                  <a:tcP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65000"/>
                        <a:buFont typeface="Wingdings" pitchFamily="2" charset="2"/>
                        <a:buNone/>
                        <a:tabLst/>
                      </a:pPr>
                      <a:endParaRPr kumimoji="0" lang="en-US" sz="2000" b="0" i="0" u="none" strike="noStrike" cap="none" normalizeH="0" baseline="0" dirty="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65000"/>
                        <a:buFont typeface="Wingdings" pitchFamily="2" charset="2"/>
                        <a:buNone/>
                        <a:tabLst/>
                      </a:pPr>
                      <a:r>
                        <a:rPr kumimoji="0" lang="en-US" sz="2000" b="0" i="0" u="none" strike="noStrike" cap="none" normalizeH="0" baseline="0" dirty="0">
                          <a:ln>
                            <a:noFill/>
                          </a:ln>
                          <a:solidFill>
                            <a:srgbClr val="FF0000"/>
                          </a:solidFill>
                          <a:effectLst/>
                          <a:latin typeface="Arial" charset="0"/>
                        </a:rPr>
                        <a:t>(Payoff)</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65000"/>
                        <a:buFont typeface="Wingdings" pitchFamily="2" charset="2"/>
                        <a:buNone/>
                        <a:tabLst/>
                      </a:pPr>
                      <a:endParaRPr kumimoji="0" lang="en-US" sz="2000" b="0" i="0" u="none" strike="noStrike" cap="none" normalizeH="0" baseline="0" dirty="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a:noFill/>
                    </a:lnB>
                    <a:lnTlToBr>
                      <a:noFill/>
                    </a:lnTlToBr>
                    <a:lnBlToTr>
                      <a:noFill/>
                    </a:lnBlToTr>
                    <a:noFill/>
                  </a:tcPr>
                </a:tc>
                <a:extLst>
                  <a:ext uri="{0D108BD9-81ED-4DB2-BD59-A6C34878D82A}">
                    <a16:rowId xmlns:a16="http://schemas.microsoft.com/office/drawing/2014/main" val="10002"/>
                  </a:ext>
                </a:extLst>
              </a:tr>
              <a:tr h="426236">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65000"/>
                        <a:buFont typeface="Wingdings" pitchFamily="2" charset="2"/>
                        <a:buNone/>
                        <a:tabLst/>
                      </a:pPr>
                      <a:r>
                        <a:rPr kumimoji="0" lang="en-US" sz="2000" b="0" i="0" u="none" strike="noStrike" cap="none" normalizeH="0" baseline="0">
                          <a:ln>
                            <a:noFill/>
                          </a:ln>
                          <a:solidFill>
                            <a:schemeClr val="tx1"/>
                          </a:solidFill>
                          <a:effectLst/>
                          <a:latin typeface="Arial" charset="0"/>
                        </a:rPr>
                        <a:t>A</a:t>
                      </a:r>
                      <a:r>
                        <a:rPr kumimoji="0" lang="en-US" sz="2000" b="0" i="0" u="none" strike="noStrike" cap="none" normalizeH="0" baseline="-25000">
                          <a:ln>
                            <a:noFill/>
                          </a:ln>
                          <a:solidFill>
                            <a:schemeClr val="tx1"/>
                          </a:solidFill>
                          <a:effectLst/>
                          <a:latin typeface="Arial" charset="0"/>
                        </a:rPr>
                        <a:t>1</a:t>
                      </a:r>
                    </a:p>
                  </a:txBody>
                  <a:tcPr horzOverflow="overflow">
                    <a:lnL cap="flat">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65000"/>
                        <a:buFont typeface="Wingdings" pitchFamily="2" charset="2"/>
                        <a:buNone/>
                        <a:tabLst/>
                      </a:pPr>
                      <a:r>
                        <a:rPr kumimoji="0" lang="en-US" sz="2000" b="0" i="0" u="none" strike="noStrike" cap="none" normalizeH="0" baseline="0">
                          <a:ln>
                            <a:noFill/>
                          </a:ln>
                          <a:solidFill>
                            <a:schemeClr val="tx1"/>
                          </a:solidFill>
                          <a:effectLst/>
                          <a:latin typeface="Arial" charset="0"/>
                        </a:rPr>
                        <a:t>100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65000"/>
                        <a:buFont typeface="Wingdings" pitchFamily="2" charset="2"/>
                        <a:buNone/>
                        <a:tabLst/>
                      </a:pPr>
                      <a:r>
                        <a:rPr kumimoji="0" lang="en-US" sz="2000" b="0" i="0" u="none" strike="noStrike" cap="none" normalizeH="0" baseline="0">
                          <a:ln>
                            <a:noFill/>
                          </a:ln>
                          <a:solidFill>
                            <a:schemeClr val="tx1"/>
                          </a:solidFill>
                          <a:effectLst/>
                          <a:latin typeface="Arial" charset="0"/>
                        </a:rPr>
                        <a:t>100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65000"/>
                        <a:buFont typeface="Wingdings" pitchFamily="2" charset="2"/>
                        <a:buNone/>
                        <a:tabLst/>
                      </a:pPr>
                      <a:r>
                        <a:rPr kumimoji="0" lang="en-US" sz="2000" b="0" i="0" u="none" strike="noStrike" cap="none" normalizeH="0" baseline="0" dirty="0">
                          <a:ln>
                            <a:noFill/>
                          </a:ln>
                          <a:solidFill>
                            <a:schemeClr val="tx1"/>
                          </a:solidFill>
                          <a:effectLst/>
                          <a:latin typeface="Arial" charset="0"/>
                        </a:rPr>
                        <a:t>400</a:t>
                      </a:r>
                    </a:p>
                  </a:txBody>
                  <a:tcPr horzOverflow="overflow">
                    <a:lnL w="12700" cap="flat" cmpd="sng" algn="ctr">
                      <a:solidFill>
                        <a:schemeClr val="tx1"/>
                      </a:solidFill>
                      <a:prstDash val="solid"/>
                      <a:round/>
                      <a:headEnd type="none" w="med" len="med"/>
                      <a:tailEnd type="none" w="med" len="med"/>
                    </a:lnL>
                    <a:lnR cap="flat">
                      <a:noFill/>
                    </a:lnR>
                    <a:lnT>
                      <a:noFill/>
                    </a:lnT>
                    <a:lnB>
                      <a:noFill/>
                    </a:lnB>
                    <a:lnTlToBr>
                      <a:noFill/>
                    </a:lnTlToBr>
                    <a:lnBlToTr>
                      <a:noFill/>
                    </a:lnBlToTr>
                    <a:noFill/>
                  </a:tcPr>
                </a:tc>
                <a:extLst>
                  <a:ext uri="{0D108BD9-81ED-4DB2-BD59-A6C34878D82A}">
                    <a16:rowId xmlns:a16="http://schemas.microsoft.com/office/drawing/2014/main" val="10003"/>
                  </a:ext>
                </a:extLst>
              </a:tr>
              <a:tr h="426236">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65000"/>
                        <a:buFont typeface="Wingdings" pitchFamily="2" charset="2"/>
                        <a:buNone/>
                        <a:tabLst/>
                      </a:pPr>
                      <a:r>
                        <a:rPr kumimoji="0" lang="en-US" sz="2000" b="0" i="0" u="none" strike="noStrike" cap="none" normalizeH="0" baseline="0">
                          <a:ln>
                            <a:noFill/>
                          </a:ln>
                          <a:solidFill>
                            <a:schemeClr val="tx1"/>
                          </a:solidFill>
                          <a:effectLst/>
                          <a:latin typeface="Arial" charset="0"/>
                        </a:rPr>
                        <a:t>A</a:t>
                      </a:r>
                      <a:r>
                        <a:rPr kumimoji="0" lang="en-US" sz="2000" b="0" i="0" u="none" strike="noStrike" cap="none" normalizeH="0" baseline="-25000">
                          <a:ln>
                            <a:noFill/>
                          </a:ln>
                          <a:solidFill>
                            <a:schemeClr val="tx1"/>
                          </a:solidFill>
                          <a:effectLst/>
                          <a:latin typeface="Arial" charset="0"/>
                        </a:rPr>
                        <a:t>2</a:t>
                      </a:r>
                    </a:p>
                  </a:txBody>
                  <a:tcPr horzOverflow="overflow">
                    <a:lnL cap="flat">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65000"/>
                        <a:buFont typeface="Wingdings" pitchFamily="2" charset="2"/>
                        <a:buNone/>
                        <a:tabLst/>
                      </a:pPr>
                      <a:r>
                        <a:rPr kumimoji="0" lang="en-US" sz="2000" b="0" i="0" u="none" strike="noStrike" cap="none" normalizeH="0" baseline="0">
                          <a:ln>
                            <a:noFill/>
                          </a:ln>
                          <a:solidFill>
                            <a:schemeClr val="tx1"/>
                          </a:solidFill>
                          <a:effectLst/>
                          <a:latin typeface="Arial" charset="0"/>
                        </a:rPr>
                        <a:t>-200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65000"/>
                        <a:buFont typeface="Wingdings" pitchFamily="2" charset="2"/>
                        <a:buNone/>
                        <a:tabLst/>
                      </a:pPr>
                      <a:r>
                        <a:rPr kumimoji="0" lang="en-US" sz="2000" b="0" i="0" u="none" strike="noStrike" cap="none" normalizeH="0" baseline="0">
                          <a:ln>
                            <a:noFill/>
                          </a:ln>
                          <a:solidFill>
                            <a:schemeClr val="tx1"/>
                          </a:solidFill>
                          <a:effectLst/>
                          <a:latin typeface="Arial" charset="0"/>
                        </a:rPr>
                        <a:t>150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65000"/>
                        <a:buFont typeface="Wingdings" pitchFamily="2" charset="2"/>
                        <a:buNone/>
                        <a:tabLst/>
                      </a:pPr>
                      <a:r>
                        <a:rPr kumimoji="0" lang="en-US" sz="2000" b="1" i="0" u="none" strike="noStrike" cap="none" normalizeH="0" baseline="0" dirty="0">
                          <a:ln>
                            <a:noFill/>
                          </a:ln>
                          <a:solidFill>
                            <a:schemeClr val="tx1"/>
                          </a:solidFill>
                          <a:effectLst/>
                          <a:latin typeface="Arial" charset="0"/>
                        </a:rPr>
                        <a:t>600</a:t>
                      </a:r>
                    </a:p>
                  </a:txBody>
                  <a:tcPr horzOverflow="overflow">
                    <a:lnL w="12700" cap="flat" cmpd="sng" algn="ctr">
                      <a:solidFill>
                        <a:schemeClr val="tx1"/>
                      </a:solidFill>
                      <a:prstDash val="solid"/>
                      <a:round/>
                      <a:headEnd type="none" w="med" len="med"/>
                      <a:tailEnd type="none" w="med" len="med"/>
                    </a:lnL>
                    <a:lnR cap="flat">
                      <a:noFill/>
                    </a:lnR>
                    <a:lnT>
                      <a:noFill/>
                    </a:lnT>
                    <a:lnB>
                      <a:noFill/>
                    </a:lnB>
                    <a:lnTlToBr>
                      <a:noFill/>
                    </a:lnTlToBr>
                    <a:lnBlToTr>
                      <a:noFill/>
                    </a:lnBlToTr>
                    <a:noFill/>
                  </a:tcPr>
                </a:tc>
                <a:extLst>
                  <a:ext uri="{0D108BD9-81ED-4DB2-BD59-A6C34878D82A}">
                    <a16:rowId xmlns:a16="http://schemas.microsoft.com/office/drawing/2014/main" val="10004"/>
                  </a:ext>
                </a:extLst>
              </a:tr>
              <a:tr h="425072">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65000"/>
                        <a:buFont typeface="Wingdings" pitchFamily="2" charset="2"/>
                        <a:buNone/>
                        <a:tabLst/>
                      </a:pPr>
                      <a:r>
                        <a:rPr kumimoji="0" lang="en-US" sz="2000" b="0" i="0" u="none" strike="noStrike" cap="none" normalizeH="0" baseline="0" dirty="0">
                          <a:ln>
                            <a:noFill/>
                          </a:ln>
                          <a:solidFill>
                            <a:schemeClr val="tx1"/>
                          </a:solidFill>
                          <a:effectLst/>
                          <a:latin typeface="Arial" charset="0"/>
                        </a:rPr>
                        <a:t>A</a:t>
                      </a:r>
                      <a:r>
                        <a:rPr kumimoji="0" lang="en-US" sz="2000" b="0" i="0" u="none" strike="noStrike" cap="none" normalizeH="0" baseline="-25000" dirty="0">
                          <a:ln>
                            <a:noFill/>
                          </a:ln>
                          <a:solidFill>
                            <a:schemeClr val="tx1"/>
                          </a:solidFill>
                          <a:effectLst/>
                          <a:latin typeface="Arial" charset="0"/>
                        </a:rPr>
                        <a:t>3</a:t>
                      </a:r>
                    </a:p>
                  </a:txBody>
                  <a:tcPr horzOverflow="overflow">
                    <a:lnL cap="flat">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65000"/>
                        <a:buFont typeface="Wingdings" pitchFamily="2" charset="2"/>
                        <a:buNone/>
                        <a:tabLst/>
                      </a:pPr>
                      <a:r>
                        <a:rPr kumimoji="0" lang="en-US" sz="2000" b="0" i="0" u="none" strike="noStrike" cap="none" normalizeH="0" baseline="0">
                          <a:ln>
                            <a:noFill/>
                          </a:ln>
                          <a:solidFill>
                            <a:schemeClr val="tx1"/>
                          </a:solidFill>
                          <a:effectLst/>
                          <a:latin typeface="Arial" charset="0"/>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65000"/>
                        <a:buFont typeface="Wingdings" pitchFamily="2" charset="2"/>
                        <a:buNone/>
                        <a:tabLst/>
                      </a:pPr>
                      <a:r>
                        <a:rPr kumimoji="0" lang="en-US" sz="2000" b="0" i="0" u="none" strike="noStrike" cap="none" normalizeH="0" baseline="0">
                          <a:ln>
                            <a:noFill/>
                          </a:ln>
                          <a:solidFill>
                            <a:schemeClr val="tx1"/>
                          </a:solidFill>
                          <a:effectLst/>
                          <a:latin typeface="Arial" charset="0"/>
                        </a:rPr>
                        <a:t>200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65000"/>
                        <a:buFont typeface="Wingdings" pitchFamily="2" charset="2"/>
                        <a:buNone/>
                        <a:tabLst/>
                      </a:pPr>
                      <a:r>
                        <a:rPr kumimoji="0" lang="en-US" sz="2000" b="0" i="0" u="none" strike="noStrike" cap="none" normalizeH="0" baseline="0">
                          <a:ln>
                            <a:noFill/>
                          </a:ln>
                          <a:solidFill>
                            <a:schemeClr val="tx1"/>
                          </a:solidFill>
                          <a:effectLst/>
                          <a:latin typeface="Arial" charset="0"/>
                        </a:rPr>
                        <a:t>500</a:t>
                      </a:r>
                    </a:p>
                  </a:txBody>
                  <a:tcPr horzOverflow="overflow">
                    <a:lnL w="12700" cap="flat" cmpd="sng" algn="ctr">
                      <a:solidFill>
                        <a:schemeClr val="tx1"/>
                      </a:solidFill>
                      <a:prstDash val="solid"/>
                      <a:round/>
                      <a:headEnd type="none" w="med" len="med"/>
                      <a:tailEnd type="none" w="med" len="med"/>
                    </a:lnL>
                    <a:lnR cap="flat">
                      <a:noFill/>
                    </a:lnR>
                    <a:lnT>
                      <a:noFill/>
                    </a:lnT>
                    <a:lnB>
                      <a:noFill/>
                    </a:lnB>
                    <a:lnTlToBr>
                      <a:noFill/>
                    </a:lnTlToBr>
                    <a:lnBlToTr>
                      <a:noFill/>
                    </a:lnBlToTr>
                    <a:noFill/>
                  </a:tcPr>
                </a:tc>
                <a:extLst>
                  <a:ext uri="{0D108BD9-81ED-4DB2-BD59-A6C34878D82A}">
                    <a16:rowId xmlns:a16="http://schemas.microsoft.com/office/drawing/2014/main" val="10005"/>
                  </a:ext>
                </a:extLst>
              </a:tr>
              <a:tr h="426236">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65000"/>
                        <a:buFont typeface="Wingdings" pitchFamily="2" charset="2"/>
                        <a:buNone/>
                        <a:tabLst/>
                      </a:pPr>
                      <a:r>
                        <a:rPr kumimoji="0" lang="en-US" sz="2000" b="0" i="0" u="none" strike="noStrike" cap="none" normalizeH="0" baseline="0" dirty="0">
                          <a:ln>
                            <a:noFill/>
                          </a:ln>
                          <a:solidFill>
                            <a:schemeClr val="tx1"/>
                          </a:solidFill>
                          <a:effectLst/>
                          <a:latin typeface="Arial" charset="0"/>
                        </a:rPr>
                        <a:t>A</a:t>
                      </a:r>
                      <a:r>
                        <a:rPr kumimoji="0" lang="en-US" sz="2000" b="0" i="0" u="none" strike="noStrike" cap="none" normalizeH="0" baseline="-25000" dirty="0">
                          <a:ln>
                            <a:noFill/>
                          </a:ln>
                          <a:solidFill>
                            <a:schemeClr val="tx1"/>
                          </a:solidFill>
                          <a:effectLst/>
                          <a:latin typeface="Arial" charset="0"/>
                        </a:rPr>
                        <a:t>4</a:t>
                      </a:r>
                    </a:p>
                  </a:txBody>
                  <a:tcPr horzOverflow="overflow">
                    <a:lnL cap="flat">
                      <a:noFill/>
                    </a:lnL>
                    <a:lnR w="12700" cap="flat" cmpd="sng" algn="ctr">
                      <a:solidFill>
                        <a:schemeClr val="tx1"/>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65000"/>
                        <a:buFont typeface="Wingdings" pitchFamily="2" charset="2"/>
                        <a:buNone/>
                        <a:tabLst/>
                      </a:pPr>
                      <a:r>
                        <a:rPr kumimoji="0" lang="en-US" sz="2000" b="0" i="0" u="none" strike="noStrike" cap="none" normalizeH="0" baseline="0">
                          <a:ln>
                            <a:noFill/>
                          </a:ln>
                          <a:solidFill>
                            <a:schemeClr val="tx1"/>
                          </a:solidFill>
                          <a:effectLst/>
                          <a:latin typeface="Arial" charset="0"/>
                        </a:rPr>
                        <a:t>100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65000"/>
                        <a:buFont typeface="Wingdings" pitchFamily="2" charset="2"/>
                        <a:buNone/>
                        <a:tabLst/>
                      </a:pPr>
                      <a:r>
                        <a:rPr kumimoji="0" lang="en-US" sz="2000" b="0" i="0" u="none" strike="noStrike" cap="none" normalizeH="0" baseline="0">
                          <a:ln>
                            <a:noFill/>
                          </a:ln>
                          <a:solidFill>
                            <a:schemeClr val="tx1"/>
                          </a:solidFill>
                          <a:effectLst/>
                          <a:latin typeface="Arial" charset="0"/>
                        </a:rPr>
                        <a:t>300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65000"/>
                        <a:buFont typeface="Wingdings" pitchFamily="2" charset="2"/>
                        <a:buNone/>
                        <a:tabLst/>
                      </a:pPr>
                      <a:r>
                        <a:rPr kumimoji="0" lang="en-US" sz="2000" b="0" i="0" u="none" strike="noStrike" cap="none" normalizeH="0" baseline="0" dirty="0">
                          <a:ln>
                            <a:noFill/>
                          </a:ln>
                          <a:solidFill>
                            <a:schemeClr val="tx1"/>
                          </a:solidFill>
                          <a:effectLst/>
                          <a:latin typeface="Arial" charset="0"/>
                        </a:rPr>
                        <a:t>200</a:t>
                      </a:r>
                    </a:p>
                  </a:txBody>
                  <a:tcPr horzOverflow="overflow">
                    <a:lnL w="12700" cap="flat" cmpd="sng" algn="ctr">
                      <a:solidFill>
                        <a:schemeClr val="tx1"/>
                      </a:solidFill>
                      <a:prstDash val="solid"/>
                      <a:round/>
                      <a:headEnd type="none" w="med" len="med"/>
                      <a:tailEnd type="none" w="med" len="med"/>
                    </a:lnL>
                    <a:lnR cap="flat">
                      <a:noFill/>
                    </a:lnR>
                    <a:lnT>
                      <a:noFill/>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bl>
          </a:graphicData>
        </a:graphic>
      </p:graphicFrame>
      <p:sp>
        <p:nvSpPr>
          <p:cNvPr id="9" name="Rectangle 8">
            <a:extLst>
              <a:ext uri="{FF2B5EF4-FFF2-40B4-BE49-F238E27FC236}">
                <a16:creationId xmlns:a16="http://schemas.microsoft.com/office/drawing/2014/main" id="{0FAA41FB-EC08-46B2-925D-BAE0FAAB0E64}"/>
              </a:ext>
            </a:extLst>
          </p:cNvPr>
          <p:cNvSpPr/>
          <p:nvPr/>
        </p:nvSpPr>
        <p:spPr>
          <a:xfrm>
            <a:off x="5885723" y="5709239"/>
            <a:ext cx="1851789" cy="369332"/>
          </a:xfrm>
          <a:prstGeom prst="rect">
            <a:avLst/>
          </a:prstGeom>
        </p:spPr>
        <p:txBody>
          <a:bodyPr wrap="none">
            <a:spAutoFit/>
          </a:bodyPr>
          <a:lstStyle/>
          <a:p>
            <a:pPr lvl="0" algn="r" fontAlgn="base">
              <a:spcBef>
                <a:spcPct val="100000"/>
              </a:spcBef>
              <a:spcAft>
                <a:spcPct val="0"/>
              </a:spcAft>
            </a:pPr>
            <a:r>
              <a:rPr lang="en-US" dirty="0">
                <a:latin typeface="Times New Roman" pitchFamily="1" charset="0"/>
              </a:rPr>
              <a:t>Step 1: Maximum</a:t>
            </a:r>
          </a:p>
        </p:txBody>
      </p:sp>
      <p:sp>
        <p:nvSpPr>
          <p:cNvPr id="10" name="Rectangle 9">
            <a:extLst>
              <a:ext uri="{FF2B5EF4-FFF2-40B4-BE49-F238E27FC236}">
                <a16:creationId xmlns:a16="http://schemas.microsoft.com/office/drawing/2014/main" id="{63C5BE0B-A5A4-4E54-AB9A-DEBD765D6380}"/>
              </a:ext>
            </a:extLst>
          </p:cNvPr>
          <p:cNvSpPr/>
          <p:nvPr/>
        </p:nvSpPr>
        <p:spPr>
          <a:xfrm>
            <a:off x="6261652" y="4027645"/>
            <a:ext cx="844826" cy="464842"/>
          </a:xfrm>
          <a:prstGeom prst="rect">
            <a:avLst/>
          </a:prstGeom>
          <a:noFill/>
          <a:ln w="571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EFC84948-7573-4598-B1EC-0C72C3DE508B}"/>
              </a:ext>
            </a:extLst>
          </p:cNvPr>
          <p:cNvSpPr txBox="1"/>
          <p:nvPr/>
        </p:nvSpPr>
        <p:spPr>
          <a:xfrm>
            <a:off x="8989189" y="4912202"/>
            <a:ext cx="2301664" cy="923330"/>
          </a:xfrm>
          <a:prstGeom prst="rect">
            <a:avLst/>
          </a:prstGeom>
          <a:noFill/>
        </p:spPr>
        <p:txBody>
          <a:bodyPr wrap="square" rtlCol="0">
            <a:spAutoFit/>
          </a:bodyPr>
          <a:lstStyle/>
          <a:p>
            <a:r>
              <a:rPr lang="en-US" dirty="0"/>
              <a:t>Under Maximum Likelihood Criterion, you should select </a:t>
            </a:r>
            <a:r>
              <a:rPr lang="en-US" b="1" dirty="0">
                <a:solidFill>
                  <a:srgbClr val="C00000"/>
                </a:solidFill>
              </a:rPr>
              <a:t>A2.</a:t>
            </a:r>
            <a:endParaRPr lang="en-US" dirty="0"/>
          </a:p>
        </p:txBody>
      </p:sp>
      <p:sp>
        <p:nvSpPr>
          <p:cNvPr id="12" name="Rectangle 11">
            <a:extLst>
              <a:ext uri="{FF2B5EF4-FFF2-40B4-BE49-F238E27FC236}">
                <a16:creationId xmlns:a16="http://schemas.microsoft.com/office/drawing/2014/main" id="{16A61111-5792-4D55-B01F-B3826D87245A}"/>
              </a:ext>
            </a:extLst>
          </p:cNvPr>
          <p:cNvSpPr/>
          <p:nvPr/>
        </p:nvSpPr>
        <p:spPr>
          <a:xfrm>
            <a:off x="7792090" y="4052798"/>
            <a:ext cx="1851789" cy="369332"/>
          </a:xfrm>
          <a:prstGeom prst="rect">
            <a:avLst/>
          </a:prstGeom>
        </p:spPr>
        <p:txBody>
          <a:bodyPr wrap="none">
            <a:spAutoFit/>
          </a:bodyPr>
          <a:lstStyle/>
          <a:p>
            <a:r>
              <a:rPr lang="en-US" dirty="0">
                <a:latin typeface="Times New Roman" pitchFamily="1" charset="0"/>
              </a:rPr>
              <a:t>Step 2: Maximum</a:t>
            </a:r>
            <a:endParaRPr lang="en-US" dirty="0"/>
          </a:p>
        </p:txBody>
      </p:sp>
      <p:sp>
        <p:nvSpPr>
          <p:cNvPr id="13" name="Rectangle 12">
            <a:extLst>
              <a:ext uri="{FF2B5EF4-FFF2-40B4-BE49-F238E27FC236}">
                <a16:creationId xmlns:a16="http://schemas.microsoft.com/office/drawing/2014/main" id="{5D666BCF-6D44-4EFA-BFAD-61C9F7B43E5A}"/>
              </a:ext>
            </a:extLst>
          </p:cNvPr>
          <p:cNvSpPr/>
          <p:nvPr/>
        </p:nvSpPr>
        <p:spPr>
          <a:xfrm>
            <a:off x="6522001" y="5416996"/>
            <a:ext cx="324128" cy="369332"/>
          </a:xfrm>
          <a:prstGeom prst="rect">
            <a:avLst/>
          </a:prstGeom>
        </p:spPr>
        <p:txBody>
          <a:bodyPr wrap="none">
            <a:spAutoFit/>
          </a:bodyPr>
          <a:lstStyle/>
          <a:p>
            <a:pPr lvl="0" algn="ctr" fontAlgn="base">
              <a:spcBef>
                <a:spcPct val="100000"/>
              </a:spcBef>
              <a:spcAft>
                <a:spcPct val="0"/>
              </a:spcAft>
            </a:pPr>
            <a:r>
              <a:rPr lang="en-US" dirty="0">
                <a:latin typeface="Times New Roman" pitchFamily="1" charset="0"/>
                <a:sym typeface="Symbol" pitchFamily="1" charset="2"/>
              </a:rPr>
              <a:t></a:t>
            </a:r>
            <a:endParaRPr lang="en-US" dirty="0">
              <a:latin typeface="Times New Roman" pitchFamily="1" charset="0"/>
            </a:endParaRPr>
          </a:p>
        </p:txBody>
      </p:sp>
      <p:sp>
        <p:nvSpPr>
          <p:cNvPr id="14" name="Rectangle 13">
            <a:extLst>
              <a:ext uri="{FF2B5EF4-FFF2-40B4-BE49-F238E27FC236}">
                <a16:creationId xmlns:a16="http://schemas.microsoft.com/office/drawing/2014/main" id="{73EABA53-082E-4C68-B262-B9E73444A85E}"/>
              </a:ext>
            </a:extLst>
          </p:cNvPr>
          <p:cNvSpPr/>
          <p:nvPr/>
        </p:nvSpPr>
        <p:spPr>
          <a:xfrm rot="16200000">
            <a:off x="7435673" y="4075400"/>
            <a:ext cx="324128" cy="369332"/>
          </a:xfrm>
          <a:prstGeom prst="rect">
            <a:avLst/>
          </a:prstGeom>
        </p:spPr>
        <p:txBody>
          <a:bodyPr wrap="none">
            <a:spAutoFit/>
          </a:bodyPr>
          <a:lstStyle/>
          <a:p>
            <a:pPr lvl="0" algn="ctr" fontAlgn="base">
              <a:spcBef>
                <a:spcPct val="100000"/>
              </a:spcBef>
              <a:spcAft>
                <a:spcPct val="0"/>
              </a:spcAft>
            </a:pPr>
            <a:r>
              <a:rPr lang="en-US" dirty="0">
                <a:latin typeface="Times New Roman" pitchFamily="1" charset="0"/>
                <a:sym typeface="Symbol" pitchFamily="1" charset="2"/>
              </a:rPr>
              <a:t></a:t>
            </a:r>
            <a:endParaRPr lang="en-US" dirty="0">
              <a:latin typeface="Times New Roman" pitchFamily="1" charset="0"/>
            </a:endParaRPr>
          </a:p>
        </p:txBody>
      </p:sp>
      <p:sp>
        <p:nvSpPr>
          <p:cNvPr id="15" name="Text Box 3">
            <a:extLst>
              <a:ext uri="{FF2B5EF4-FFF2-40B4-BE49-F238E27FC236}">
                <a16:creationId xmlns:a16="http://schemas.microsoft.com/office/drawing/2014/main" id="{CE921CD2-50A1-40AB-A23F-557B650EB3CF}"/>
              </a:ext>
            </a:extLst>
          </p:cNvPr>
          <p:cNvSpPr txBox="1">
            <a:spLocks noChangeArrowheads="1"/>
          </p:cNvSpPr>
          <p:nvPr/>
        </p:nvSpPr>
        <p:spPr bwMode="auto">
          <a:xfrm>
            <a:off x="523812" y="5923584"/>
            <a:ext cx="4666662" cy="230832"/>
          </a:xfrm>
          <a:prstGeom prst="rect">
            <a:avLst/>
          </a:prstGeom>
          <a:noFill/>
          <a:ln w="12700">
            <a:noFill/>
            <a:miter lim="800000"/>
            <a:headEnd/>
            <a:tailEnd/>
          </a:ln>
        </p:spPr>
        <p:txBody>
          <a:bodyPr wrap="none">
            <a:spAutoFit/>
          </a:bodyPr>
          <a:lstStyle/>
          <a:p>
            <a:pPr algn="ctr"/>
            <a:r>
              <a:rPr lang="en-US" sz="900"/>
              <a:t>(Adapted From: Blanchard and Fabrycky, “System Engineering and Analysis, Prentice Hall, 1998)</a:t>
            </a:r>
          </a:p>
        </p:txBody>
      </p:sp>
    </p:spTree>
    <p:extLst>
      <p:ext uri="{BB962C8B-B14F-4D97-AF65-F5344CB8AC3E}">
        <p14:creationId xmlns:p14="http://schemas.microsoft.com/office/powerpoint/2010/main" val="68198140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Decision Making under Risk</a:t>
            </a:r>
          </a:p>
        </p:txBody>
      </p:sp>
      <p:sp>
        <p:nvSpPr>
          <p:cNvPr id="3" name="Content Placeholder 2"/>
          <p:cNvSpPr>
            <a:spLocks noGrp="1"/>
          </p:cNvSpPr>
          <p:nvPr>
            <p:ph idx="1"/>
          </p:nvPr>
        </p:nvSpPr>
        <p:spPr/>
        <p:txBody>
          <a:bodyPr/>
          <a:lstStyle/>
          <a:p>
            <a:r>
              <a:rPr lang="en-US" b="1" u="sng" dirty="0" err="1">
                <a:solidFill>
                  <a:srgbClr val="C00000"/>
                </a:solidFill>
              </a:rPr>
              <a:t>Baye’s</a:t>
            </a:r>
            <a:r>
              <a:rPr lang="en-US" b="1" u="sng" dirty="0">
                <a:solidFill>
                  <a:srgbClr val="C00000"/>
                </a:solidFill>
              </a:rPr>
              <a:t> Rule (Bayesian Criterion):</a:t>
            </a:r>
          </a:p>
          <a:p>
            <a:pPr lvl="1"/>
            <a:r>
              <a:rPr lang="en-US" dirty="0"/>
              <a:t>Bayes’ decision rule directly uses the </a:t>
            </a:r>
            <a:r>
              <a:rPr lang="en-US" i="1" dirty="0"/>
              <a:t>prior probabilities</a:t>
            </a:r>
            <a:r>
              <a:rPr lang="en-US" dirty="0"/>
              <a:t>.</a:t>
            </a:r>
          </a:p>
          <a:p>
            <a:pPr lvl="1"/>
            <a:r>
              <a:rPr lang="en-US" b="1" u="sng" dirty="0"/>
              <a:t>Procedure:</a:t>
            </a:r>
          </a:p>
          <a:p>
            <a:pPr lvl="2"/>
            <a:r>
              <a:rPr lang="en-US" dirty="0"/>
              <a:t>For each decision alternative, calculate the </a:t>
            </a:r>
            <a:r>
              <a:rPr lang="en-US" i="1" dirty="0"/>
              <a:t>weighted average</a:t>
            </a:r>
            <a:r>
              <a:rPr lang="en-US" dirty="0"/>
              <a:t> of its payoff by multiplying each payoff by the prior probability and summing these products. </a:t>
            </a:r>
            <a:r>
              <a:rPr lang="en-US" dirty="0">
                <a:solidFill>
                  <a:srgbClr val="C00000"/>
                </a:solidFill>
              </a:rPr>
              <a:t>This is the </a:t>
            </a:r>
            <a:r>
              <a:rPr lang="en-US" b="1" dirty="0">
                <a:solidFill>
                  <a:srgbClr val="C00000"/>
                </a:solidFill>
              </a:rPr>
              <a:t>expected payoff (EP)</a:t>
            </a:r>
            <a:r>
              <a:rPr lang="en-US" dirty="0">
                <a:solidFill>
                  <a:srgbClr val="C00000"/>
                </a:solidFill>
              </a:rPr>
              <a:t>.</a:t>
            </a:r>
          </a:p>
          <a:p>
            <a:pPr lvl="2"/>
            <a:r>
              <a:rPr lang="en-US" dirty="0"/>
              <a:t>Choose the decision alternative that has the </a:t>
            </a:r>
            <a:r>
              <a:rPr lang="en-US" i="1" dirty="0"/>
              <a:t>largest</a:t>
            </a:r>
            <a:r>
              <a:rPr lang="en-US" dirty="0"/>
              <a:t> expected payoff.</a:t>
            </a:r>
          </a:p>
          <a:p>
            <a:endParaRPr lang="en-US" sz="2400" dirty="0"/>
          </a:p>
          <a:p>
            <a:pPr lvl="1"/>
            <a:r>
              <a:rPr lang="en-US" b="1" u="sng" dirty="0"/>
              <a:t>Case: The </a:t>
            </a:r>
            <a:r>
              <a:rPr lang="en-US" b="1" u="sng" dirty="0" err="1"/>
              <a:t>Goferbroke</a:t>
            </a:r>
            <a:r>
              <a:rPr lang="en-US" b="1" u="sng" dirty="0"/>
              <a:t> Company Problem</a:t>
            </a:r>
            <a:endParaRPr lang="en-US" dirty="0"/>
          </a:p>
          <a:p>
            <a:pPr lvl="1"/>
            <a:endParaRPr lang="en-US" dirty="0"/>
          </a:p>
          <a:p>
            <a:pPr lvl="1"/>
            <a:endParaRPr lang="en-US" dirty="0"/>
          </a:p>
        </p:txBody>
      </p:sp>
      <p:sp>
        <p:nvSpPr>
          <p:cNvPr id="5" name="TextBox 4">
            <a:extLst>
              <a:ext uri="{FF2B5EF4-FFF2-40B4-BE49-F238E27FC236}">
                <a16:creationId xmlns:a16="http://schemas.microsoft.com/office/drawing/2014/main" id="{A61D3B18-46AE-4C8E-A89F-3A62C2E15754}"/>
              </a:ext>
            </a:extLst>
          </p:cNvPr>
          <p:cNvSpPr txBox="1"/>
          <p:nvPr/>
        </p:nvSpPr>
        <p:spPr>
          <a:xfrm>
            <a:off x="10114722" y="4541202"/>
            <a:ext cx="1718690" cy="923330"/>
          </a:xfrm>
          <a:prstGeom prst="rect">
            <a:avLst/>
          </a:prstGeom>
          <a:noFill/>
        </p:spPr>
        <p:txBody>
          <a:bodyPr wrap="square" rtlCol="0">
            <a:spAutoFit/>
          </a:bodyPr>
          <a:lstStyle/>
          <a:p>
            <a:r>
              <a:rPr lang="en-US" dirty="0"/>
              <a:t>Under </a:t>
            </a:r>
            <a:r>
              <a:rPr lang="en-US" dirty="0" err="1"/>
              <a:t>Baye’s</a:t>
            </a:r>
            <a:r>
              <a:rPr lang="en-US" dirty="0"/>
              <a:t> rule, you should </a:t>
            </a:r>
            <a:r>
              <a:rPr lang="en-US" b="1" dirty="0">
                <a:solidFill>
                  <a:srgbClr val="C00000"/>
                </a:solidFill>
              </a:rPr>
              <a:t>drill for oil.</a:t>
            </a:r>
            <a:endParaRPr lang="en-US" dirty="0"/>
          </a:p>
        </p:txBody>
      </p:sp>
      <p:sp>
        <p:nvSpPr>
          <p:cNvPr id="6" name="Right Brace 5">
            <a:extLst>
              <a:ext uri="{FF2B5EF4-FFF2-40B4-BE49-F238E27FC236}">
                <a16:creationId xmlns:a16="http://schemas.microsoft.com/office/drawing/2014/main" id="{01F1503D-BD26-4B52-941B-B5885DD5925C}"/>
              </a:ext>
            </a:extLst>
          </p:cNvPr>
          <p:cNvSpPr/>
          <p:nvPr/>
        </p:nvSpPr>
        <p:spPr>
          <a:xfrm>
            <a:off x="9463222" y="4376542"/>
            <a:ext cx="742950" cy="1537241"/>
          </a:xfrm>
          <a:prstGeom prst="rightBrace">
            <a:avLst/>
          </a:prstGeom>
          <a:ln>
            <a:solidFill>
              <a:srgbClr val="C0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aphicFrame>
        <p:nvGraphicFramePr>
          <p:cNvPr id="8" name="Group 54">
            <a:extLst>
              <a:ext uri="{FF2B5EF4-FFF2-40B4-BE49-F238E27FC236}">
                <a16:creationId xmlns:a16="http://schemas.microsoft.com/office/drawing/2014/main" id="{56FF57EB-7478-447A-AD74-A5B550F705F2}"/>
              </a:ext>
            </a:extLst>
          </p:cNvPr>
          <p:cNvGraphicFramePr>
            <a:graphicFrameLocks noGrp="1"/>
          </p:cNvGraphicFramePr>
          <p:nvPr>
            <p:extLst>
              <p:ext uri="{D42A27DB-BD31-4B8C-83A1-F6EECF244321}">
                <p14:modId xmlns:p14="http://schemas.microsoft.com/office/powerpoint/2010/main" val="1937578461"/>
              </p:ext>
            </p:extLst>
          </p:nvPr>
        </p:nvGraphicFramePr>
        <p:xfrm>
          <a:off x="1447800" y="4267200"/>
          <a:ext cx="8579078" cy="2011536"/>
        </p:xfrm>
        <a:graphic>
          <a:graphicData uri="http://schemas.openxmlformats.org/drawingml/2006/table">
            <a:tbl>
              <a:tblPr/>
              <a:tblGrid>
                <a:gridCol w="1633330">
                  <a:extLst>
                    <a:ext uri="{9D8B030D-6E8A-4147-A177-3AD203B41FA5}">
                      <a16:colId xmlns:a16="http://schemas.microsoft.com/office/drawing/2014/main" val="20000"/>
                    </a:ext>
                  </a:extLst>
                </a:gridCol>
                <a:gridCol w="1421296">
                  <a:extLst>
                    <a:ext uri="{9D8B030D-6E8A-4147-A177-3AD203B41FA5}">
                      <a16:colId xmlns:a16="http://schemas.microsoft.com/office/drawing/2014/main" val="20001"/>
                    </a:ext>
                  </a:extLst>
                </a:gridCol>
                <a:gridCol w="1490870">
                  <a:extLst>
                    <a:ext uri="{9D8B030D-6E8A-4147-A177-3AD203B41FA5}">
                      <a16:colId xmlns:a16="http://schemas.microsoft.com/office/drawing/2014/main" val="20002"/>
                    </a:ext>
                  </a:extLst>
                </a:gridCol>
                <a:gridCol w="4033582">
                  <a:extLst>
                    <a:ext uri="{9D8B030D-6E8A-4147-A177-3AD203B41FA5}">
                      <a16:colId xmlns:a16="http://schemas.microsoft.com/office/drawing/2014/main" val="20003"/>
                    </a:ext>
                  </a:extLst>
                </a:gridCol>
              </a:tblGrid>
              <a:tr h="335189">
                <a:tc>
                  <a:txBody>
                    <a:bodyPr/>
                    <a:lstStyle/>
                    <a:p>
                      <a:pPr marL="0" marR="0" lvl="0" indent="0" algn="l" defTabSz="914400" rtl="0" eaLnBrk="1" fontAlgn="base" latinLnBrk="0" hangingPunct="1">
                        <a:lnSpc>
                          <a:spcPct val="100000"/>
                        </a:lnSpc>
                        <a:spcBef>
                          <a:spcPct val="100000"/>
                        </a:spcBef>
                        <a:spcAft>
                          <a:spcPct val="0"/>
                        </a:spcAft>
                        <a:buClrTx/>
                        <a:buSzTx/>
                        <a:buFontTx/>
                        <a:buNone/>
                        <a:tabLst/>
                      </a:pPr>
                      <a:endParaRPr kumimoji="0" lang="en-US" sz="1600" b="1" i="0" u="none" strike="noStrike" cap="none" normalizeH="0" baseline="0" dirty="0">
                        <a:ln>
                          <a:noFill/>
                        </a:ln>
                        <a:solidFill>
                          <a:schemeClr val="tx1"/>
                        </a:solidFill>
                        <a:effectLst/>
                        <a:latin typeface="Times New Roman" pitchFamily="1" charset="0"/>
                      </a:endParaRPr>
                    </a:p>
                  </a:txBody>
                  <a:tcPr marT="45708" marB="45708" horzOverflow="overflow">
                    <a:lnL cap="flat">
                      <a:noFill/>
                    </a:lnL>
                    <a:lnR>
                      <a:noFill/>
                    </a:lnR>
                    <a:lnT cap="flat">
                      <a:noFill/>
                    </a:lnT>
                    <a:lnB>
                      <a:noFill/>
                    </a:lnB>
                    <a:lnTlToBr>
                      <a:noFill/>
                    </a:lnTlToBr>
                    <a:lnBlToTr>
                      <a:noFill/>
                    </a:lnBlToTr>
                    <a:noFill/>
                  </a:tcPr>
                </a:tc>
                <a:tc gridSpan="2">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r>
                        <a:rPr kumimoji="0" lang="en-US" sz="1600" b="1" i="0" u="none" strike="noStrike" cap="none" normalizeH="0" baseline="0" dirty="0">
                          <a:ln>
                            <a:noFill/>
                          </a:ln>
                          <a:solidFill>
                            <a:schemeClr val="tx1"/>
                          </a:solidFill>
                          <a:effectLst/>
                          <a:latin typeface="Times New Roman" pitchFamily="1" charset="0"/>
                        </a:rPr>
                        <a:t>State of Nature</a:t>
                      </a:r>
                    </a:p>
                  </a:txBody>
                  <a:tcPr marT="45708" marB="45708" horzOverflow="overflow">
                    <a:lnL>
                      <a:noFill/>
                    </a:lnL>
                    <a:lnR>
                      <a:noFill/>
                    </a:lnR>
                    <a:lnT cap="flat">
                      <a:noFill/>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en-US"/>
                    </a:p>
                  </a:txBody>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endParaRPr kumimoji="0" lang="en-US" sz="1600" b="1" i="0" u="none" strike="noStrike" cap="none" normalizeH="0" baseline="0" dirty="0">
                        <a:ln>
                          <a:noFill/>
                        </a:ln>
                        <a:solidFill>
                          <a:schemeClr val="tx1"/>
                        </a:solidFill>
                        <a:effectLst/>
                        <a:latin typeface="Times New Roman" pitchFamily="1" charset="0"/>
                      </a:endParaRPr>
                    </a:p>
                  </a:txBody>
                  <a:tcPr marT="45708" marB="45708" horzOverflow="overflow">
                    <a:lnL>
                      <a:noFill/>
                    </a:lnL>
                    <a:lnR cap="flat">
                      <a:noFill/>
                    </a:lnR>
                    <a:lnT cap="flat">
                      <a:noFill/>
                    </a:lnT>
                    <a:lnB>
                      <a:noFill/>
                    </a:lnB>
                    <a:lnTlToBr>
                      <a:noFill/>
                    </a:lnTlToBr>
                    <a:lnBlToTr>
                      <a:noFill/>
                    </a:lnBlToTr>
                    <a:noFill/>
                  </a:tcPr>
                </a:tc>
                <a:extLst>
                  <a:ext uri="{0D108BD9-81ED-4DB2-BD59-A6C34878D82A}">
                    <a16:rowId xmlns:a16="http://schemas.microsoft.com/office/drawing/2014/main" val="10000"/>
                  </a:ext>
                </a:extLst>
              </a:tr>
              <a:tr h="335189">
                <a:tc>
                  <a:txBody>
                    <a:bodyPr/>
                    <a:lstStyle/>
                    <a:p>
                      <a:pPr marL="0" marR="0" lvl="0" indent="0" algn="l" defTabSz="914400" rtl="0" eaLnBrk="1" fontAlgn="base" latinLnBrk="0" hangingPunct="1">
                        <a:lnSpc>
                          <a:spcPct val="100000"/>
                        </a:lnSpc>
                        <a:spcBef>
                          <a:spcPct val="100000"/>
                        </a:spcBef>
                        <a:spcAft>
                          <a:spcPct val="0"/>
                        </a:spcAft>
                        <a:buClrTx/>
                        <a:buSzTx/>
                        <a:buFontTx/>
                        <a:buNone/>
                        <a:tabLst/>
                      </a:pPr>
                      <a:r>
                        <a:rPr kumimoji="0" lang="en-US" sz="1600" b="1" i="0" u="none" strike="noStrike" cap="none" normalizeH="0" baseline="0">
                          <a:ln>
                            <a:noFill/>
                          </a:ln>
                          <a:solidFill>
                            <a:schemeClr val="tx1"/>
                          </a:solidFill>
                          <a:effectLst/>
                          <a:latin typeface="Times New Roman" pitchFamily="1" charset="0"/>
                        </a:rPr>
                        <a:t>Alternative</a:t>
                      </a:r>
                    </a:p>
                  </a:txBody>
                  <a:tcPr marT="45708" marB="45708" horzOverflow="overflow">
                    <a:lnL cap="flat">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r>
                        <a:rPr kumimoji="0" lang="en-US" sz="1600" b="1" i="0" u="none" strike="noStrike" cap="none" normalizeH="0" baseline="0">
                          <a:ln>
                            <a:noFill/>
                          </a:ln>
                          <a:solidFill>
                            <a:schemeClr val="tx1"/>
                          </a:solidFill>
                          <a:effectLst/>
                          <a:latin typeface="Times New Roman" pitchFamily="1" charset="0"/>
                        </a:rPr>
                        <a:t>Oil</a:t>
                      </a:r>
                    </a:p>
                  </a:txBody>
                  <a:tcPr marT="45708" marB="45708" horzOverflow="overflow">
                    <a:lnL>
                      <a:noFill/>
                    </a:lnL>
                    <a:lnR>
                      <a:noFill/>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r>
                        <a:rPr kumimoji="0" lang="en-US" sz="1600" b="1" i="0" u="none" strike="noStrike" cap="none" normalizeH="0" baseline="0">
                          <a:ln>
                            <a:noFill/>
                          </a:ln>
                          <a:solidFill>
                            <a:schemeClr val="tx1"/>
                          </a:solidFill>
                          <a:effectLst/>
                          <a:latin typeface="Times New Roman" pitchFamily="1" charset="0"/>
                        </a:rPr>
                        <a:t>Dry</a:t>
                      </a:r>
                    </a:p>
                  </a:txBody>
                  <a:tcPr marT="45708" marB="45708" horzOverflow="overflow">
                    <a:lnL>
                      <a:noFill/>
                    </a:lnL>
                    <a:lnR>
                      <a:noFill/>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100000"/>
                        </a:spcBef>
                        <a:spcAft>
                          <a:spcPct val="0"/>
                        </a:spcAft>
                        <a:buClrTx/>
                        <a:buSzTx/>
                        <a:buFontTx/>
                        <a:buNone/>
                        <a:tabLst/>
                      </a:pPr>
                      <a:r>
                        <a:rPr kumimoji="0" lang="en-US" sz="1600" b="1" i="0" u="none" strike="noStrike" cap="none" normalizeH="0" baseline="0" dirty="0">
                          <a:ln>
                            <a:noFill/>
                          </a:ln>
                          <a:solidFill>
                            <a:schemeClr val="tx1"/>
                          </a:solidFill>
                          <a:effectLst/>
                          <a:latin typeface="Times New Roman" pitchFamily="1" charset="0"/>
                        </a:rPr>
                        <a:t>Expected Payoff</a:t>
                      </a:r>
                    </a:p>
                  </a:txBody>
                  <a:tcPr marT="45708" marB="45708"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01"/>
                  </a:ext>
                </a:extLst>
              </a:tr>
              <a:tr h="335189">
                <a:tc>
                  <a:txBody>
                    <a:bodyPr/>
                    <a:lstStyle/>
                    <a:p>
                      <a:pPr marL="0" marR="0" lvl="0" indent="0" algn="l" defTabSz="914400" rtl="0" eaLnBrk="1" fontAlgn="base" latinLnBrk="0" hangingPunct="1">
                        <a:lnSpc>
                          <a:spcPct val="100000"/>
                        </a:lnSpc>
                        <a:spcBef>
                          <a:spcPct val="10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 charset="0"/>
                        </a:rPr>
                        <a:t>Drill for oil</a:t>
                      </a:r>
                    </a:p>
                  </a:txBody>
                  <a:tcPr marT="45708" marB="45708" horzOverflow="overflow">
                    <a:lnL cap="flat">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r>
                        <a:rPr kumimoji="0" lang="en-US" sz="1600" b="0" i="0" u="none" strike="noStrike" cap="none" normalizeH="0" baseline="0" dirty="0">
                          <a:ln>
                            <a:noFill/>
                          </a:ln>
                          <a:solidFill>
                            <a:schemeClr val="tx1"/>
                          </a:solidFill>
                          <a:effectLst/>
                          <a:latin typeface="Times New Roman" pitchFamily="1" charset="0"/>
                        </a:rPr>
                        <a:t>700</a:t>
                      </a:r>
                    </a:p>
                  </a:txBody>
                  <a:tcPr marT="45708" marB="45708"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 charset="0"/>
                        </a:rPr>
                        <a:t>–100</a:t>
                      </a:r>
                    </a:p>
                  </a:txBody>
                  <a:tcPr marT="45708" marB="45708" horzOverflow="overflow">
                    <a:lnL>
                      <a:noFill/>
                    </a:lnL>
                    <a:lnR>
                      <a:noFill/>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100000"/>
                        </a:spcBef>
                        <a:spcAft>
                          <a:spcPct val="0"/>
                        </a:spcAft>
                        <a:buClrTx/>
                        <a:buSzTx/>
                        <a:buFontTx/>
                        <a:buNone/>
                        <a:tabLst/>
                        <a:defRPr/>
                      </a:pPr>
                      <a:r>
                        <a:rPr lang="en-US" sz="1600" dirty="0"/>
                        <a:t>EP=700*1/4-100*3/4=100</a:t>
                      </a:r>
                    </a:p>
                  </a:txBody>
                  <a:tcPr marT="45708" marB="45708"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02"/>
                  </a:ext>
                </a:extLst>
              </a:tr>
              <a:tr h="335189">
                <a:tc>
                  <a:txBody>
                    <a:bodyPr/>
                    <a:lstStyle/>
                    <a:p>
                      <a:pPr marL="0" marR="0" lvl="0" indent="0" algn="l" defTabSz="914400" rtl="0" eaLnBrk="1" fontAlgn="base" latinLnBrk="0" hangingPunct="1">
                        <a:lnSpc>
                          <a:spcPct val="100000"/>
                        </a:lnSpc>
                        <a:spcBef>
                          <a:spcPct val="100000"/>
                        </a:spcBef>
                        <a:spcAft>
                          <a:spcPct val="0"/>
                        </a:spcAft>
                        <a:buClrTx/>
                        <a:buSzTx/>
                        <a:buFontTx/>
                        <a:buNone/>
                        <a:tabLst/>
                      </a:pPr>
                      <a:r>
                        <a:rPr kumimoji="0" lang="en-US" sz="1600" b="0" i="0" u="none" strike="noStrike" cap="none" normalizeH="0" baseline="0" dirty="0">
                          <a:ln>
                            <a:noFill/>
                          </a:ln>
                          <a:solidFill>
                            <a:schemeClr val="tx1"/>
                          </a:solidFill>
                          <a:effectLst/>
                          <a:latin typeface="Times New Roman" pitchFamily="1" charset="0"/>
                        </a:rPr>
                        <a:t>Sell the land</a:t>
                      </a:r>
                    </a:p>
                  </a:txBody>
                  <a:tcPr marT="45708" marB="45708" horzOverflow="overflow">
                    <a:lnL cap="flat">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r>
                        <a:rPr kumimoji="0" lang="en-US" sz="1600" b="0" i="0" u="none" strike="noStrike" cap="none" normalizeH="0" baseline="0" dirty="0">
                          <a:ln>
                            <a:noFill/>
                          </a:ln>
                          <a:solidFill>
                            <a:schemeClr val="tx1"/>
                          </a:solidFill>
                          <a:effectLst/>
                          <a:latin typeface="Times New Roman" pitchFamily="1" charset="0"/>
                        </a:rPr>
                        <a:t>90</a:t>
                      </a:r>
                    </a:p>
                  </a:txBody>
                  <a:tcPr marT="45708" marB="45708"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r>
                        <a:rPr kumimoji="0" lang="en-US" sz="1600" b="0" i="0" u="none" strike="noStrike" cap="none" normalizeH="0" baseline="0" dirty="0">
                          <a:ln>
                            <a:noFill/>
                          </a:ln>
                          <a:solidFill>
                            <a:schemeClr val="tx1"/>
                          </a:solidFill>
                          <a:effectLst/>
                          <a:latin typeface="Times New Roman" pitchFamily="1" charset="0"/>
                        </a:rPr>
                        <a:t>90</a:t>
                      </a:r>
                    </a:p>
                  </a:txBody>
                  <a:tcPr marT="45708" marB="45708"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r>
                        <a:rPr lang="en-US" sz="1600" dirty="0"/>
                        <a:t>EP=90*1/4+90*3/4=90</a:t>
                      </a:r>
                    </a:p>
                  </a:txBody>
                  <a:tcPr marT="45708" marB="45708"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03"/>
                  </a:ext>
                </a:extLst>
              </a:tr>
              <a:tr h="335189">
                <a:tc>
                  <a:txBody>
                    <a:bodyPr/>
                    <a:lstStyle/>
                    <a:p>
                      <a:pPr marL="0" marR="0" lvl="0" indent="0" algn="l" defTabSz="914400" rtl="0" eaLnBrk="1" fontAlgn="base" latinLnBrk="0" hangingPunct="1">
                        <a:lnSpc>
                          <a:spcPct val="100000"/>
                        </a:lnSpc>
                        <a:spcBef>
                          <a:spcPct val="10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 charset="0"/>
                        </a:rPr>
                        <a:t>Prior probability</a:t>
                      </a:r>
                    </a:p>
                  </a:txBody>
                  <a:tcPr marT="45708" marB="45708" horzOverflow="overflow">
                    <a:lnL cap="flat">
                      <a:noFill/>
                    </a:lnL>
                    <a:lnR>
                      <a:noFill/>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r>
                        <a:rPr kumimoji="0" lang="en-US" sz="1600" b="0" i="0" u="none" strike="noStrike" cap="none" normalizeH="0" baseline="0" dirty="0">
                          <a:ln>
                            <a:noFill/>
                          </a:ln>
                          <a:solidFill>
                            <a:schemeClr val="tx1"/>
                          </a:solidFill>
                          <a:effectLst/>
                          <a:latin typeface="Times New Roman" pitchFamily="1" charset="0"/>
                        </a:rPr>
                        <a:t>0.25</a:t>
                      </a:r>
                    </a:p>
                  </a:txBody>
                  <a:tcPr marT="45708" marB="45708" horzOverflow="overflow">
                    <a:lnL>
                      <a:noFill/>
                    </a:lnL>
                    <a:lnR>
                      <a:noFill/>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 charset="0"/>
                        </a:rPr>
                        <a:t>0.75</a:t>
                      </a:r>
                    </a:p>
                  </a:txBody>
                  <a:tcPr marT="45708" marB="45708" horzOverflow="overflow">
                    <a:lnL>
                      <a:noFill/>
                    </a:lnL>
                    <a:lnR>
                      <a:noFill/>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100000"/>
                        </a:spcBef>
                        <a:spcAft>
                          <a:spcPct val="0"/>
                        </a:spcAft>
                        <a:buClrTx/>
                        <a:buSzTx/>
                        <a:buFontTx/>
                        <a:buNone/>
                        <a:tabLst/>
                      </a:pPr>
                      <a:endParaRPr kumimoji="0" lang="en-US" sz="1600" b="0" i="0" u="none" strike="noStrike" cap="none" normalizeH="0" baseline="0" dirty="0">
                        <a:ln>
                          <a:noFill/>
                        </a:ln>
                        <a:solidFill>
                          <a:schemeClr val="tx1"/>
                        </a:solidFill>
                        <a:effectLst/>
                        <a:latin typeface="Times New Roman" pitchFamily="1" charset="0"/>
                      </a:endParaRPr>
                    </a:p>
                  </a:txBody>
                  <a:tcPr marT="45708" marB="45708"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04"/>
                  </a:ext>
                </a:extLst>
              </a:tr>
              <a:tr h="335189">
                <a:tc>
                  <a:txBody>
                    <a:bodyPr/>
                    <a:lstStyle/>
                    <a:p>
                      <a:pPr marL="0" marR="0" lvl="0" indent="0" algn="l" defTabSz="914400" rtl="0" eaLnBrk="1" fontAlgn="base" latinLnBrk="0" hangingPunct="1">
                        <a:lnSpc>
                          <a:spcPct val="100000"/>
                        </a:lnSpc>
                        <a:spcBef>
                          <a:spcPct val="100000"/>
                        </a:spcBef>
                        <a:spcAft>
                          <a:spcPct val="0"/>
                        </a:spcAft>
                        <a:buClrTx/>
                        <a:buSzTx/>
                        <a:buFontTx/>
                        <a:buNone/>
                        <a:tabLst/>
                      </a:pPr>
                      <a:endParaRPr kumimoji="0" lang="en-US" sz="1600" b="0" i="0" u="none" strike="noStrike" cap="none" normalizeH="0" baseline="0">
                        <a:ln>
                          <a:noFill/>
                        </a:ln>
                        <a:solidFill>
                          <a:schemeClr val="tx1"/>
                        </a:solidFill>
                        <a:effectLst/>
                        <a:latin typeface="Times New Roman" pitchFamily="1" charset="0"/>
                      </a:endParaRPr>
                    </a:p>
                  </a:txBody>
                  <a:tcPr marT="45708" marB="45708" horzOverflow="overflow">
                    <a:lnL cap="flat">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endParaRPr kumimoji="0" lang="en-US" sz="1600" b="0" i="0" u="none" strike="noStrike" cap="none" normalizeH="0" baseline="0">
                        <a:ln>
                          <a:noFill/>
                        </a:ln>
                        <a:solidFill>
                          <a:schemeClr val="tx1"/>
                        </a:solidFill>
                        <a:effectLst/>
                        <a:latin typeface="Times New Roman" pitchFamily="1" charset="0"/>
                      </a:endParaRPr>
                    </a:p>
                  </a:txBody>
                  <a:tcPr marT="45708" marB="45708"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endParaRPr kumimoji="0" lang="en-US" sz="1600" b="0" i="0" u="none" strike="noStrike" cap="none" normalizeH="0" baseline="0" dirty="0">
                        <a:ln>
                          <a:noFill/>
                        </a:ln>
                        <a:solidFill>
                          <a:schemeClr val="tx1"/>
                        </a:solidFill>
                        <a:effectLst/>
                        <a:latin typeface="Times New Roman" pitchFamily="1" charset="0"/>
                      </a:endParaRPr>
                    </a:p>
                  </a:txBody>
                  <a:tcPr marT="45708" marB="45708" horzOverflow="overflow">
                    <a:lnL>
                      <a:noFill/>
                    </a:lnL>
                    <a:lnR>
                      <a:noFill/>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100000"/>
                        </a:spcBef>
                        <a:spcAft>
                          <a:spcPct val="0"/>
                        </a:spcAft>
                        <a:buClrTx/>
                        <a:buSzTx/>
                        <a:buFontTx/>
                        <a:buNone/>
                        <a:tabLst/>
                      </a:pPr>
                      <a:endParaRPr kumimoji="0" lang="en-US" sz="1600" b="0" i="0" u="none" strike="noStrike" cap="none" normalizeH="0" baseline="0" dirty="0">
                        <a:ln>
                          <a:noFill/>
                        </a:ln>
                        <a:solidFill>
                          <a:schemeClr val="tx1"/>
                        </a:solidFill>
                        <a:effectLst/>
                        <a:latin typeface="Times New Roman" pitchFamily="1" charset="0"/>
                      </a:endParaRPr>
                    </a:p>
                  </a:txBody>
                  <a:tcPr marT="45708" marB="45708"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05"/>
                  </a:ext>
                </a:extLst>
              </a:tr>
            </a:tbl>
          </a:graphicData>
        </a:graphic>
      </p:graphicFrame>
      <p:sp>
        <p:nvSpPr>
          <p:cNvPr id="9" name="Rectangle 8">
            <a:extLst>
              <a:ext uri="{FF2B5EF4-FFF2-40B4-BE49-F238E27FC236}">
                <a16:creationId xmlns:a16="http://schemas.microsoft.com/office/drawing/2014/main" id="{C3C657DE-BE5F-452D-AB2C-9F8B73F05F66}"/>
              </a:ext>
            </a:extLst>
          </p:cNvPr>
          <p:cNvSpPr/>
          <p:nvPr/>
        </p:nvSpPr>
        <p:spPr>
          <a:xfrm>
            <a:off x="8440067" y="4903636"/>
            <a:ext cx="1431802" cy="369332"/>
          </a:xfrm>
          <a:prstGeom prst="rect">
            <a:avLst/>
          </a:prstGeom>
        </p:spPr>
        <p:txBody>
          <a:bodyPr wrap="none">
            <a:spAutoFit/>
          </a:bodyPr>
          <a:lstStyle/>
          <a:p>
            <a:r>
              <a:rPr lang="en-US" dirty="0">
                <a:latin typeface="Times New Roman" pitchFamily="1" charset="0"/>
                <a:sym typeface="Symbol" pitchFamily="1" charset="2"/>
              </a:rPr>
              <a:t></a:t>
            </a:r>
            <a:r>
              <a:rPr lang="en-US" dirty="0">
                <a:latin typeface="Times New Roman" pitchFamily="1" charset="0"/>
              </a:rPr>
              <a:t> Maximum</a:t>
            </a:r>
            <a:endParaRPr lang="en-US" dirty="0"/>
          </a:p>
        </p:txBody>
      </p:sp>
      <p:graphicFrame>
        <p:nvGraphicFramePr>
          <p:cNvPr id="10" name="Object 9">
            <a:extLst>
              <a:ext uri="{FF2B5EF4-FFF2-40B4-BE49-F238E27FC236}">
                <a16:creationId xmlns:a16="http://schemas.microsoft.com/office/drawing/2014/main" id="{0E3B785D-1ACA-49F6-A57C-F708F9F812FD}"/>
              </a:ext>
            </a:extLst>
          </p:cNvPr>
          <p:cNvGraphicFramePr>
            <a:graphicFrameLocks noChangeAspect="1"/>
          </p:cNvGraphicFramePr>
          <p:nvPr>
            <p:extLst>
              <p:ext uri="{D42A27DB-BD31-4B8C-83A1-F6EECF244321}">
                <p14:modId xmlns:p14="http://schemas.microsoft.com/office/powerpoint/2010/main" val="2770695691"/>
              </p:ext>
            </p:extLst>
          </p:nvPr>
        </p:nvGraphicFramePr>
        <p:xfrm>
          <a:off x="6116123" y="5672076"/>
          <a:ext cx="3081130" cy="1031981"/>
        </p:xfrm>
        <a:graphic>
          <a:graphicData uri="http://schemas.openxmlformats.org/presentationml/2006/ole">
            <mc:AlternateContent xmlns:mc="http://schemas.openxmlformats.org/markup-compatibility/2006">
              <mc:Choice xmlns:v="urn:schemas-microsoft-com:vml" Requires="v">
                <p:oleObj name="Worksheet" r:id="rId3" imgW="4511040" imgH="1511808" progId="Excel.Sheet.8">
                  <p:embed/>
                </p:oleObj>
              </mc:Choice>
              <mc:Fallback>
                <p:oleObj name="Worksheet" r:id="rId3" imgW="4511040" imgH="1511808" progId="Excel.Sheet.8">
                  <p:embed/>
                  <p:pic>
                    <p:nvPicPr>
                      <p:cNvPr id="10" name="Object 9">
                        <a:extLst>
                          <a:ext uri="{FF2B5EF4-FFF2-40B4-BE49-F238E27FC236}">
                            <a16:creationId xmlns:a16="http://schemas.microsoft.com/office/drawing/2014/main" id="{0E3B785D-1ACA-49F6-A57C-F708F9F812F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116123" y="5672076"/>
                        <a:ext cx="3081130" cy="1031981"/>
                      </a:xfrm>
                      <a:prstGeom prst="rect">
                        <a:avLst/>
                      </a:prstGeom>
                      <a:noFill/>
                      <a:ln>
                        <a:noFill/>
                      </a:ln>
                      <a:effectLst/>
                    </p:spPr>
                  </p:pic>
                </p:oleObj>
              </mc:Fallback>
            </mc:AlternateContent>
          </a:graphicData>
        </a:graphic>
      </p:graphicFrame>
    </p:spTree>
    <p:extLst>
      <p:ext uri="{BB962C8B-B14F-4D97-AF65-F5344CB8AC3E}">
        <p14:creationId xmlns:p14="http://schemas.microsoft.com/office/powerpoint/2010/main" val="40207351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8"/>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0"/>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9"/>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6"/>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animBg="1"/>
      <p:bldP spid="9"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Group 3">
            <a:extLst>
              <a:ext uri="{FF2B5EF4-FFF2-40B4-BE49-F238E27FC236}">
                <a16:creationId xmlns:a16="http://schemas.microsoft.com/office/drawing/2014/main" id="{E9538E6F-6221-4ECB-BEBD-B5BCA56FB1BA}"/>
              </a:ext>
            </a:extLst>
          </p:cNvPr>
          <p:cNvGraphicFramePr>
            <a:graphicFrameLocks noGrp="1"/>
          </p:cNvGraphicFramePr>
          <p:nvPr>
            <p:extLst>
              <p:ext uri="{D42A27DB-BD31-4B8C-83A1-F6EECF244321}">
                <p14:modId xmlns:p14="http://schemas.microsoft.com/office/powerpoint/2010/main" val="2414970855"/>
              </p:ext>
            </p:extLst>
          </p:nvPr>
        </p:nvGraphicFramePr>
        <p:xfrm>
          <a:off x="516004" y="2289551"/>
          <a:ext cx="6248400" cy="2981324"/>
        </p:xfrm>
        <a:graphic>
          <a:graphicData uri="http://schemas.openxmlformats.org/drawingml/2006/table">
            <a:tbl>
              <a:tblPr/>
              <a:tblGrid>
                <a:gridCol w="1881239">
                  <a:extLst>
                    <a:ext uri="{9D8B030D-6E8A-4147-A177-3AD203B41FA5}">
                      <a16:colId xmlns:a16="http://schemas.microsoft.com/office/drawing/2014/main" val="20000"/>
                    </a:ext>
                  </a:extLst>
                </a:gridCol>
                <a:gridCol w="1242961">
                  <a:extLst>
                    <a:ext uri="{9D8B030D-6E8A-4147-A177-3AD203B41FA5}">
                      <a16:colId xmlns:a16="http://schemas.microsoft.com/office/drawing/2014/main" val="20001"/>
                    </a:ext>
                  </a:extLst>
                </a:gridCol>
                <a:gridCol w="1562100">
                  <a:extLst>
                    <a:ext uri="{9D8B030D-6E8A-4147-A177-3AD203B41FA5}">
                      <a16:colId xmlns:a16="http://schemas.microsoft.com/office/drawing/2014/main" val="20002"/>
                    </a:ext>
                  </a:extLst>
                </a:gridCol>
                <a:gridCol w="1562100">
                  <a:extLst>
                    <a:ext uri="{9D8B030D-6E8A-4147-A177-3AD203B41FA5}">
                      <a16:colId xmlns:a16="http://schemas.microsoft.com/office/drawing/2014/main" val="20003"/>
                    </a:ext>
                  </a:extLst>
                </a:gridCol>
              </a:tblGrid>
              <a:tr h="426236">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65000"/>
                        <a:buFont typeface="Wingdings" pitchFamily="2" charset="2"/>
                        <a:buNone/>
                        <a:tabLst/>
                      </a:pPr>
                      <a:r>
                        <a:rPr kumimoji="0" lang="en-US" sz="2000" b="0" i="0" u="none" strike="noStrike" cap="none" normalizeH="0" baseline="0" dirty="0">
                          <a:ln>
                            <a:noFill/>
                          </a:ln>
                          <a:solidFill>
                            <a:srgbClr val="FF0000"/>
                          </a:solidFill>
                          <a:effectLst/>
                          <a:latin typeface="Arial" charset="0"/>
                        </a:rPr>
                        <a:t>Probability</a:t>
                      </a:r>
                    </a:p>
                  </a:txBody>
                  <a:tcP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65000"/>
                        <a:buFont typeface="Wingdings" pitchFamily="2" charset="2"/>
                        <a:buNone/>
                        <a:tabLst/>
                      </a:pPr>
                      <a:r>
                        <a:rPr kumimoji="0" lang="en-US" sz="2000" b="0" i="0" u="none" strike="noStrike" cap="none" normalizeH="0" baseline="0">
                          <a:ln>
                            <a:noFill/>
                          </a:ln>
                          <a:solidFill>
                            <a:schemeClr val="tx1"/>
                          </a:solidFill>
                          <a:effectLst/>
                          <a:latin typeface="Arial" charset="0"/>
                        </a:rPr>
                        <a:t>0.3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65000"/>
                        <a:buFont typeface="Wingdings" pitchFamily="2" charset="2"/>
                        <a:buNone/>
                        <a:tabLst/>
                      </a:pPr>
                      <a:r>
                        <a:rPr kumimoji="0" lang="en-US" sz="2000" b="0" i="0" u="none" strike="noStrike" cap="none" normalizeH="0" baseline="0">
                          <a:ln>
                            <a:noFill/>
                          </a:ln>
                          <a:solidFill>
                            <a:schemeClr val="tx1"/>
                          </a:solidFill>
                          <a:effectLst/>
                          <a:latin typeface="Arial" charset="0"/>
                        </a:rPr>
                        <a:t>0.2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65000"/>
                        <a:buFont typeface="Wingdings" pitchFamily="2" charset="2"/>
                        <a:buNone/>
                        <a:tabLst/>
                      </a:pPr>
                      <a:r>
                        <a:rPr kumimoji="0" lang="en-US" sz="2000" b="0" i="0" u="none" strike="noStrike" cap="none" normalizeH="0" baseline="0">
                          <a:ln>
                            <a:noFill/>
                          </a:ln>
                          <a:solidFill>
                            <a:schemeClr val="tx1"/>
                          </a:solidFill>
                          <a:effectLst/>
                          <a:latin typeface="Arial" charset="0"/>
                        </a:rPr>
                        <a:t>0.5</a:t>
                      </a:r>
                    </a:p>
                  </a:txBody>
                  <a:tcP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25072">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65000"/>
                        <a:buFont typeface="Wingdings" pitchFamily="2" charset="2"/>
                        <a:buNone/>
                        <a:tabLst/>
                      </a:pPr>
                      <a:r>
                        <a:rPr kumimoji="0" lang="en-US" sz="2000" b="0" i="0" u="none" strike="noStrike" cap="none" normalizeH="0" baseline="0" dirty="0">
                          <a:ln>
                            <a:noFill/>
                          </a:ln>
                          <a:solidFill>
                            <a:srgbClr val="FF0000"/>
                          </a:solidFill>
                          <a:effectLst/>
                          <a:latin typeface="Arial" charset="0"/>
                        </a:rPr>
                        <a:t>Future State</a:t>
                      </a:r>
                    </a:p>
                  </a:txBody>
                  <a:tcP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65000"/>
                        <a:buFont typeface="Wingdings" pitchFamily="2" charset="2"/>
                        <a:buNone/>
                        <a:tabLst/>
                      </a:pPr>
                      <a:r>
                        <a:rPr kumimoji="0" lang="en-US" sz="2000" b="0" i="0" u="none" strike="noStrike" cap="none" normalizeH="0" baseline="0">
                          <a:ln>
                            <a:noFill/>
                          </a:ln>
                          <a:solidFill>
                            <a:schemeClr val="tx1"/>
                          </a:solidFill>
                          <a:effectLst/>
                          <a:latin typeface="Arial" charset="0"/>
                        </a:rPr>
                        <a:t>F</a:t>
                      </a:r>
                      <a:r>
                        <a:rPr kumimoji="0" lang="en-US" sz="2000" b="0" i="0" u="none" strike="noStrike" cap="none" normalizeH="0" baseline="-25000">
                          <a:ln>
                            <a:noFill/>
                          </a:ln>
                          <a:solidFill>
                            <a:schemeClr val="tx1"/>
                          </a:solidFill>
                          <a:effectLst/>
                          <a:latin typeface="Arial" charset="0"/>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65000"/>
                        <a:buFont typeface="Wingdings" pitchFamily="2" charset="2"/>
                        <a:buNone/>
                        <a:tabLst/>
                      </a:pPr>
                      <a:r>
                        <a:rPr kumimoji="0" lang="en-US" sz="2000" b="0" i="0" u="none" strike="noStrike" cap="none" normalizeH="0" baseline="0">
                          <a:ln>
                            <a:noFill/>
                          </a:ln>
                          <a:solidFill>
                            <a:schemeClr val="tx1"/>
                          </a:solidFill>
                          <a:effectLst/>
                          <a:latin typeface="Arial" charset="0"/>
                        </a:rPr>
                        <a:t>F</a:t>
                      </a:r>
                      <a:r>
                        <a:rPr kumimoji="0" lang="en-US" sz="2000" b="0" i="0" u="none" strike="noStrike" cap="none" normalizeH="0" baseline="-25000">
                          <a:ln>
                            <a:noFill/>
                          </a:ln>
                          <a:solidFill>
                            <a:schemeClr val="tx1"/>
                          </a:solidFill>
                          <a:effectLst/>
                          <a:latin typeface="Arial" charset="0"/>
                        </a:rPr>
                        <a:t>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65000"/>
                        <a:buFont typeface="Wingdings" pitchFamily="2" charset="2"/>
                        <a:buNone/>
                        <a:tabLst/>
                      </a:pPr>
                      <a:r>
                        <a:rPr kumimoji="0" lang="en-US" sz="2000" b="0" i="0" u="none" strike="noStrike" cap="none" normalizeH="0" baseline="0">
                          <a:ln>
                            <a:noFill/>
                          </a:ln>
                          <a:solidFill>
                            <a:schemeClr val="tx1"/>
                          </a:solidFill>
                          <a:effectLst/>
                          <a:latin typeface="Arial" charset="0"/>
                        </a:rPr>
                        <a:t>F</a:t>
                      </a:r>
                      <a:r>
                        <a:rPr kumimoji="0" lang="en-US" sz="2000" b="0" i="0" u="none" strike="noStrike" cap="none" normalizeH="0" baseline="-25000">
                          <a:ln>
                            <a:noFill/>
                          </a:ln>
                          <a:solidFill>
                            <a:schemeClr val="tx1"/>
                          </a:solidFill>
                          <a:effectLst/>
                          <a:latin typeface="Arial" charset="0"/>
                        </a:rPr>
                        <a:t>3</a:t>
                      </a:r>
                    </a:p>
                  </a:txBody>
                  <a:tcP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26236">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65000"/>
                        <a:buFont typeface="Wingdings" pitchFamily="2" charset="2"/>
                        <a:buNone/>
                        <a:tabLst/>
                      </a:pPr>
                      <a:r>
                        <a:rPr kumimoji="0" lang="en-US" sz="2000" b="0" i="0" u="none" strike="noStrike" cap="none" normalizeH="0" baseline="0" dirty="0">
                          <a:ln>
                            <a:noFill/>
                          </a:ln>
                          <a:solidFill>
                            <a:srgbClr val="FF0000"/>
                          </a:solidFill>
                          <a:effectLst/>
                          <a:latin typeface="Arial" charset="0"/>
                        </a:rPr>
                        <a:t>Alternative</a:t>
                      </a:r>
                    </a:p>
                  </a:txBody>
                  <a:tcP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65000"/>
                        <a:buFont typeface="Wingdings" pitchFamily="2" charset="2"/>
                        <a:buNone/>
                        <a:tabLst/>
                      </a:pPr>
                      <a:endParaRPr kumimoji="0" lang="en-US" sz="2000" b="0" i="0" u="none" strike="noStrike" cap="none" normalizeH="0" baseline="0" dirty="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65000"/>
                        <a:buFont typeface="Wingdings" pitchFamily="2" charset="2"/>
                        <a:buNone/>
                        <a:tabLst/>
                      </a:pPr>
                      <a:r>
                        <a:rPr kumimoji="0" lang="en-US" sz="2000" b="0" i="0" u="none" strike="noStrike" cap="none" normalizeH="0" baseline="0" dirty="0">
                          <a:ln>
                            <a:noFill/>
                          </a:ln>
                          <a:solidFill>
                            <a:srgbClr val="FF0000"/>
                          </a:solidFill>
                          <a:effectLst/>
                          <a:latin typeface="Arial" charset="0"/>
                        </a:rPr>
                        <a:t>(Payoff)</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65000"/>
                        <a:buFont typeface="Wingdings" pitchFamily="2" charset="2"/>
                        <a:buNone/>
                        <a:tabLst/>
                      </a:pPr>
                      <a:endParaRPr kumimoji="0" lang="en-US" sz="2000" b="0" i="0" u="none" strike="noStrike" cap="none" normalizeH="0" baseline="0" dirty="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a:noFill/>
                    </a:lnB>
                    <a:lnTlToBr>
                      <a:noFill/>
                    </a:lnTlToBr>
                    <a:lnBlToTr>
                      <a:noFill/>
                    </a:lnBlToTr>
                    <a:noFill/>
                  </a:tcPr>
                </a:tc>
                <a:extLst>
                  <a:ext uri="{0D108BD9-81ED-4DB2-BD59-A6C34878D82A}">
                    <a16:rowId xmlns:a16="http://schemas.microsoft.com/office/drawing/2014/main" val="10002"/>
                  </a:ext>
                </a:extLst>
              </a:tr>
              <a:tr h="426236">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65000"/>
                        <a:buFont typeface="Wingdings" pitchFamily="2" charset="2"/>
                        <a:buNone/>
                        <a:tabLst/>
                      </a:pPr>
                      <a:r>
                        <a:rPr kumimoji="0" lang="en-US" sz="2000" b="0" i="0" u="none" strike="noStrike" cap="none" normalizeH="0" baseline="0">
                          <a:ln>
                            <a:noFill/>
                          </a:ln>
                          <a:solidFill>
                            <a:schemeClr val="tx1"/>
                          </a:solidFill>
                          <a:effectLst/>
                          <a:latin typeface="Arial" charset="0"/>
                        </a:rPr>
                        <a:t>A</a:t>
                      </a:r>
                      <a:r>
                        <a:rPr kumimoji="0" lang="en-US" sz="2000" b="0" i="0" u="none" strike="noStrike" cap="none" normalizeH="0" baseline="-25000">
                          <a:ln>
                            <a:noFill/>
                          </a:ln>
                          <a:solidFill>
                            <a:schemeClr val="tx1"/>
                          </a:solidFill>
                          <a:effectLst/>
                          <a:latin typeface="Arial" charset="0"/>
                        </a:rPr>
                        <a:t>1</a:t>
                      </a:r>
                    </a:p>
                  </a:txBody>
                  <a:tcPr horzOverflow="overflow">
                    <a:lnL cap="flat">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65000"/>
                        <a:buFont typeface="Wingdings" pitchFamily="2" charset="2"/>
                        <a:buNone/>
                        <a:tabLst/>
                      </a:pPr>
                      <a:r>
                        <a:rPr kumimoji="0" lang="en-US" sz="2000" b="0" i="0" u="none" strike="noStrike" cap="none" normalizeH="0" baseline="0">
                          <a:ln>
                            <a:noFill/>
                          </a:ln>
                          <a:solidFill>
                            <a:schemeClr val="tx1"/>
                          </a:solidFill>
                          <a:effectLst/>
                          <a:latin typeface="Arial" charset="0"/>
                        </a:rPr>
                        <a:t>100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65000"/>
                        <a:buFont typeface="Wingdings" pitchFamily="2" charset="2"/>
                        <a:buNone/>
                        <a:tabLst/>
                      </a:pPr>
                      <a:r>
                        <a:rPr kumimoji="0" lang="en-US" sz="2000" b="0" i="0" u="none" strike="noStrike" cap="none" normalizeH="0" baseline="0">
                          <a:ln>
                            <a:noFill/>
                          </a:ln>
                          <a:solidFill>
                            <a:schemeClr val="tx1"/>
                          </a:solidFill>
                          <a:effectLst/>
                          <a:latin typeface="Arial" charset="0"/>
                        </a:rPr>
                        <a:t>100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65000"/>
                        <a:buFont typeface="Wingdings" pitchFamily="2" charset="2"/>
                        <a:buNone/>
                        <a:tabLst/>
                      </a:pPr>
                      <a:r>
                        <a:rPr kumimoji="0" lang="en-US" sz="2000" b="0" i="0" u="none" strike="noStrike" cap="none" normalizeH="0" baseline="0" dirty="0">
                          <a:ln>
                            <a:noFill/>
                          </a:ln>
                          <a:solidFill>
                            <a:schemeClr val="tx1"/>
                          </a:solidFill>
                          <a:effectLst/>
                          <a:latin typeface="Arial" charset="0"/>
                        </a:rPr>
                        <a:t>400</a:t>
                      </a:r>
                    </a:p>
                  </a:txBody>
                  <a:tcPr horzOverflow="overflow">
                    <a:lnL w="12700" cap="flat" cmpd="sng" algn="ctr">
                      <a:solidFill>
                        <a:schemeClr val="tx1"/>
                      </a:solidFill>
                      <a:prstDash val="solid"/>
                      <a:round/>
                      <a:headEnd type="none" w="med" len="med"/>
                      <a:tailEnd type="none" w="med" len="med"/>
                    </a:lnL>
                    <a:lnR cap="flat">
                      <a:noFill/>
                    </a:lnR>
                    <a:lnT>
                      <a:noFill/>
                    </a:lnT>
                    <a:lnB>
                      <a:noFill/>
                    </a:lnB>
                    <a:lnTlToBr>
                      <a:noFill/>
                    </a:lnTlToBr>
                    <a:lnBlToTr>
                      <a:noFill/>
                    </a:lnBlToTr>
                    <a:noFill/>
                  </a:tcPr>
                </a:tc>
                <a:extLst>
                  <a:ext uri="{0D108BD9-81ED-4DB2-BD59-A6C34878D82A}">
                    <a16:rowId xmlns:a16="http://schemas.microsoft.com/office/drawing/2014/main" val="10003"/>
                  </a:ext>
                </a:extLst>
              </a:tr>
              <a:tr h="426236">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65000"/>
                        <a:buFont typeface="Wingdings" pitchFamily="2" charset="2"/>
                        <a:buNone/>
                        <a:tabLst/>
                      </a:pPr>
                      <a:r>
                        <a:rPr kumimoji="0" lang="en-US" sz="2000" b="0" i="0" u="none" strike="noStrike" cap="none" normalizeH="0" baseline="0">
                          <a:ln>
                            <a:noFill/>
                          </a:ln>
                          <a:solidFill>
                            <a:schemeClr val="tx1"/>
                          </a:solidFill>
                          <a:effectLst/>
                          <a:latin typeface="Arial" charset="0"/>
                        </a:rPr>
                        <a:t>A</a:t>
                      </a:r>
                      <a:r>
                        <a:rPr kumimoji="0" lang="en-US" sz="2000" b="0" i="0" u="none" strike="noStrike" cap="none" normalizeH="0" baseline="-25000">
                          <a:ln>
                            <a:noFill/>
                          </a:ln>
                          <a:solidFill>
                            <a:schemeClr val="tx1"/>
                          </a:solidFill>
                          <a:effectLst/>
                          <a:latin typeface="Arial" charset="0"/>
                        </a:rPr>
                        <a:t>2</a:t>
                      </a:r>
                    </a:p>
                  </a:txBody>
                  <a:tcPr horzOverflow="overflow">
                    <a:lnL cap="flat">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65000"/>
                        <a:buFont typeface="Wingdings" pitchFamily="2" charset="2"/>
                        <a:buNone/>
                        <a:tabLst/>
                      </a:pPr>
                      <a:r>
                        <a:rPr kumimoji="0" lang="en-US" sz="2000" b="0" i="0" u="none" strike="noStrike" cap="none" normalizeH="0" baseline="0">
                          <a:ln>
                            <a:noFill/>
                          </a:ln>
                          <a:solidFill>
                            <a:schemeClr val="tx1"/>
                          </a:solidFill>
                          <a:effectLst/>
                          <a:latin typeface="Arial" charset="0"/>
                        </a:rPr>
                        <a:t>-200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65000"/>
                        <a:buFont typeface="Wingdings" pitchFamily="2" charset="2"/>
                        <a:buNone/>
                        <a:tabLst/>
                      </a:pPr>
                      <a:r>
                        <a:rPr kumimoji="0" lang="en-US" sz="2000" b="0" i="0" u="none" strike="noStrike" cap="none" normalizeH="0" baseline="0" dirty="0">
                          <a:ln>
                            <a:noFill/>
                          </a:ln>
                          <a:solidFill>
                            <a:schemeClr val="tx1"/>
                          </a:solidFill>
                          <a:effectLst/>
                          <a:latin typeface="Arial" charset="0"/>
                        </a:rPr>
                        <a:t>150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65000"/>
                        <a:buFont typeface="Wingdings" pitchFamily="2" charset="2"/>
                        <a:buNone/>
                        <a:tabLst/>
                      </a:pPr>
                      <a:r>
                        <a:rPr kumimoji="0" lang="en-US" sz="2000" b="0" i="0" u="none" strike="noStrike" cap="none" normalizeH="0" baseline="0" dirty="0">
                          <a:ln>
                            <a:noFill/>
                          </a:ln>
                          <a:solidFill>
                            <a:schemeClr val="tx1"/>
                          </a:solidFill>
                          <a:effectLst/>
                          <a:latin typeface="Arial" charset="0"/>
                        </a:rPr>
                        <a:t>600</a:t>
                      </a:r>
                    </a:p>
                  </a:txBody>
                  <a:tcPr horzOverflow="overflow">
                    <a:lnL w="12700" cap="flat" cmpd="sng" algn="ctr">
                      <a:solidFill>
                        <a:schemeClr val="tx1"/>
                      </a:solidFill>
                      <a:prstDash val="solid"/>
                      <a:round/>
                      <a:headEnd type="none" w="med" len="med"/>
                      <a:tailEnd type="none" w="med" len="med"/>
                    </a:lnL>
                    <a:lnR cap="flat">
                      <a:noFill/>
                    </a:lnR>
                    <a:lnT>
                      <a:noFill/>
                    </a:lnT>
                    <a:lnB>
                      <a:noFill/>
                    </a:lnB>
                    <a:lnTlToBr>
                      <a:noFill/>
                    </a:lnTlToBr>
                    <a:lnBlToTr>
                      <a:noFill/>
                    </a:lnBlToTr>
                    <a:noFill/>
                  </a:tcPr>
                </a:tc>
                <a:extLst>
                  <a:ext uri="{0D108BD9-81ED-4DB2-BD59-A6C34878D82A}">
                    <a16:rowId xmlns:a16="http://schemas.microsoft.com/office/drawing/2014/main" val="10004"/>
                  </a:ext>
                </a:extLst>
              </a:tr>
              <a:tr h="425072">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65000"/>
                        <a:buFont typeface="Wingdings" pitchFamily="2" charset="2"/>
                        <a:buNone/>
                        <a:tabLst/>
                      </a:pPr>
                      <a:r>
                        <a:rPr kumimoji="0" lang="en-US" sz="2000" b="0" i="0" u="none" strike="noStrike" cap="none" normalizeH="0" baseline="0" dirty="0">
                          <a:ln>
                            <a:noFill/>
                          </a:ln>
                          <a:solidFill>
                            <a:schemeClr val="tx1"/>
                          </a:solidFill>
                          <a:effectLst/>
                          <a:latin typeface="Arial" charset="0"/>
                        </a:rPr>
                        <a:t>A</a:t>
                      </a:r>
                      <a:r>
                        <a:rPr kumimoji="0" lang="en-US" sz="2000" b="0" i="0" u="none" strike="noStrike" cap="none" normalizeH="0" baseline="-25000" dirty="0">
                          <a:ln>
                            <a:noFill/>
                          </a:ln>
                          <a:solidFill>
                            <a:schemeClr val="tx1"/>
                          </a:solidFill>
                          <a:effectLst/>
                          <a:latin typeface="Arial" charset="0"/>
                        </a:rPr>
                        <a:t>3</a:t>
                      </a:r>
                    </a:p>
                  </a:txBody>
                  <a:tcPr horzOverflow="overflow">
                    <a:lnL cap="flat">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65000"/>
                        <a:buFont typeface="Wingdings" pitchFamily="2" charset="2"/>
                        <a:buNone/>
                        <a:tabLst/>
                      </a:pPr>
                      <a:r>
                        <a:rPr kumimoji="0" lang="en-US" sz="2000" b="0" i="0" u="none" strike="noStrike" cap="none" normalizeH="0" baseline="0">
                          <a:ln>
                            <a:noFill/>
                          </a:ln>
                          <a:solidFill>
                            <a:schemeClr val="tx1"/>
                          </a:solidFill>
                          <a:effectLst/>
                          <a:latin typeface="Arial" charset="0"/>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65000"/>
                        <a:buFont typeface="Wingdings" pitchFamily="2" charset="2"/>
                        <a:buNone/>
                        <a:tabLst/>
                      </a:pPr>
                      <a:r>
                        <a:rPr kumimoji="0" lang="en-US" sz="2000" b="0" i="0" u="none" strike="noStrike" cap="none" normalizeH="0" baseline="0">
                          <a:ln>
                            <a:noFill/>
                          </a:ln>
                          <a:solidFill>
                            <a:schemeClr val="tx1"/>
                          </a:solidFill>
                          <a:effectLst/>
                          <a:latin typeface="Arial" charset="0"/>
                        </a:rPr>
                        <a:t>200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65000"/>
                        <a:buFont typeface="Wingdings" pitchFamily="2" charset="2"/>
                        <a:buNone/>
                        <a:tabLst/>
                      </a:pPr>
                      <a:r>
                        <a:rPr kumimoji="0" lang="en-US" sz="2000" b="0" i="0" u="none" strike="noStrike" cap="none" normalizeH="0" baseline="0">
                          <a:ln>
                            <a:noFill/>
                          </a:ln>
                          <a:solidFill>
                            <a:schemeClr val="tx1"/>
                          </a:solidFill>
                          <a:effectLst/>
                          <a:latin typeface="Arial" charset="0"/>
                        </a:rPr>
                        <a:t>500</a:t>
                      </a:r>
                    </a:p>
                  </a:txBody>
                  <a:tcPr horzOverflow="overflow">
                    <a:lnL w="12700" cap="flat" cmpd="sng" algn="ctr">
                      <a:solidFill>
                        <a:schemeClr val="tx1"/>
                      </a:solidFill>
                      <a:prstDash val="solid"/>
                      <a:round/>
                      <a:headEnd type="none" w="med" len="med"/>
                      <a:tailEnd type="none" w="med" len="med"/>
                    </a:lnL>
                    <a:lnR cap="flat">
                      <a:noFill/>
                    </a:lnR>
                    <a:lnT>
                      <a:noFill/>
                    </a:lnT>
                    <a:lnB>
                      <a:noFill/>
                    </a:lnB>
                    <a:lnTlToBr>
                      <a:noFill/>
                    </a:lnTlToBr>
                    <a:lnBlToTr>
                      <a:noFill/>
                    </a:lnBlToTr>
                    <a:noFill/>
                  </a:tcPr>
                </a:tc>
                <a:extLst>
                  <a:ext uri="{0D108BD9-81ED-4DB2-BD59-A6C34878D82A}">
                    <a16:rowId xmlns:a16="http://schemas.microsoft.com/office/drawing/2014/main" val="10005"/>
                  </a:ext>
                </a:extLst>
              </a:tr>
              <a:tr h="426236">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65000"/>
                        <a:buFont typeface="Wingdings" pitchFamily="2" charset="2"/>
                        <a:buNone/>
                        <a:tabLst/>
                      </a:pPr>
                      <a:r>
                        <a:rPr kumimoji="0" lang="en-US" sz="2000" b="0" i="0" u="none" strike="noStrike" cap="none" normalizeH="0" baseline="0" dirty="0">
                          <a:ln>
                            <a:noFill/>
                          </a:ln>
                          <a:solidFill>
                            <a:schemeClr val="tx1"/>
                          </a:solidFill>
                          <a:effectLst/>
                          <a:latin typeface="Arial" charset="0"/>
                        </a:rPr>
                        <a:t>A</a:t>
                      </a:r>
                      <a:r>
                        <a:rPr kumimoji="0" lang="en-US" sz="2000" b="0" i="0" u="none" strike="noStrike" cap="none" normalizeH="0" baseline="-25000" dirty="0">
                          <a:ln>
                            <a:noFill/>
                          </a:ln>
                          <a:solidFill>
                            <a:schemeClr val="tx1"/>
                          </a:solidFill>
                          <a:effectLst/>
                          <a:latin typeface="Arial" charset="0"/>
                        </a:rPr>
                        <a:t>4</a:t>
                      </a:r>
                    </a:p>
                  </a:txBody>
                  <a:tcPr horzOverflow="overflow">
                    <a:lnL cap="flat">
                      <a:noFill/>
                    </a:lnL>
                    <a:lnR w="12700" cap="flat" cmpd="sng" algn="ctr">
                      <a:solidFill>
                        <a:schemeClr val="tx1"/>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65000"/>
                        <a:buFont typeface="Wingdings" pitchFamily="2" charset="2"/>
                        <a:buNone/>
                        <a:tabLst/>
                      </a:pPr>
                      <a:r>
                        <a:rPr kumimoji="0" lang="en-US" sz="2000" b="0" i="0" u="none" strike="noStrike" cap="none" normalizeH="0" baseline="0">
                          <a:ln>
                            <a:noFill/>
                          </a:ln>
                          <a:solidFill>
                            <a:schemeClr val="tx1"/>
                          </a:solidFill>
                          <a:effectLst/>
                          <a:latin typeface="Arial" charset="0"/>
                        </a:rPr>
                        <a:t>100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65000"/>
                        <a:buFont typeface="Wingdings" pitchFamily="2" charset="2"/>
                        <a:buNone/>
                        <a:tabLst/>
                      </a:pPr>
                      <a:r>
                        <a:rPr kumimoji="0" lang="en-US" sz="2000" b="0" i="0" u="none" strike="noStrike" cap="none" normalizeH="0" baseline="0">
                          <a:ln>
                            <a:noFill/>
                          </a:ln>
                          <a:solidFill>
                            <a:schemeClr val="tx1"/>
                          </a:solidFill>
                          <a:effectLst/>
                          <a:latin typeface="Arial" charset="0"/>
                        </a:rPr>
                        <a:t>300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65000"/>
                        <a:buFont typeface="Wingdings" pitchFamily="2" charset="2"/>
                        <a:buNone/>
                        <a:tabLst/>
                      </a:pPr>
                      <a:r>
                        <a:rPr kumimoji="0" lang="en-US" sz="2000" b="0" i="0" u="none" strike="noStrike" cap="none" normalizeH="0" baseline="0" dirty="0">
                          <a:ln>
                            <a:noFill/>
                          </a:ln>
                          <a:solidFill>
                            <a:schemeClr val="tx1"/>
                          </a:solidFill>
                          <a:effectLst/>
                          <a:latin typeface="Arial" charset="0"/>
                        </a:rPr>
                        <a:t>200</a:t>
                      </a:r>
                    </a:p>
                  </a:txBody>
                  <a:tcPr horzOverflow="overflow">
                    <a:lnL w="12700" cap="flat" cmpd="sng" algn="ctr">
                      <a:solidFill>
                        <a:schemeClr val="tx1"/>
                      </a:solidFill>
                      <a:prstDash val="solid"/>
                      <a:round/>
                      <a:headEnd type="none" w="med" len="med"/>
                      <a:tailEnd type="none" w="med" len="med"/>
                    </a:lnL>
                    <a:lnR cap="flat">
                      <a:noFill/>
                    </a:lnR>
                    <a:lnT>
                      <a:noFill/>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bl>
          </a:graphicData>
        </a:graphic>
      </p:graphicFrame>
      <p:sp>
        <p:nvSpPr>
          <p:cNvPr id="2" name="Title 1"/>
          <p:cNvSpPr>
            <a:spLocks noGrp="1"/>
          </p:cNvSpPr>
          <p:nvPr>
            <p:ph type="title"/>
          </p:nvPr>
        </p:nvSpPr>
        <p:spPr/>
        <p:txBody>
          <a:bodyPr/>
          <a:lstStyle/>
          <a:p>
            <a:r>
              <a:rPr lang="en-US" dirty="0"/>
              <a:t>Decision Making under Risk</a:t>
            </a:r>
          </a:p>
        </p:txBody>
      </p:sp>
      <p:sp>
        <p:nvSpPr>
          <p:cNvPr id="3" name="Content Placeholder 2"/>
          <p:cNvSpPr>
            <a:spLocks noGrp="1"/>
          </p:cNvSpPr>
          <p:nvPr>
            <p:ph idx="1"/>
          </p:nvPr>
        </p:nvSpPr>
        <p:spPr/>
        <p:txBody>
          <a:bodyPr/>
          <a:lstStyle/>
          <a:p>
            <a:r>
              <a:rPr lang="en-US" b="1" u="sng" dirty="0" err="1">
                <a:solidFill>
                  <a:srgbClr val="C00000"/>
                </a:solidFill>
              </a:rPr>
              <a:t>Baye’s</a:t>
            </a:r>
            <a:r>
              <a:rPr lang="en-US" b="1" u="sng" dirty="0">
                <a:solidFill>
                  <a:srgbClr val="C00000"/>
                </a:solidFill>
              </a:rPr>
              <a:t> Rule (Bayesian Criterion):</a:t>
            </a:r>
          </a:p>
          <a:p>
            <a:pPr lvl="1"/>
            <a:r>
              <a:rPr lang="en-US" b="1" u="sng" dirty="0"/>
              <a:t>Case: Another example (not in the textbook)</a:t>
            </a:r>
            <a:endParaRPr lang="en-US" dirty="0"/>
          </a:p>
          <a:p>
            <a:pPr lvl="1"/>
            <a:endParaRPr lang="en-US" dirty="0"/>
          </a:p>
          <a:p>
            <a:pPr lvl="1"/>
            <a:endParaRPr lang="en-US" dirty="0"/>
          </a:p>
        </p:txBody>
      </p:sp>
      <p:sp>
        <p:nvSpPr>
          <p:cNvPr id="11" name="TextBox 10">
            <a:extLst>
              <a:ext uri="{FF2B5EF4-FFF2-40B4-BE49-F238E27FC236}">
                <a16:creationId xmlns:a16="http://schemas.microsoft.com/office/drawing/2014/main" id="{EFC84948-7573-4598-B1EC-0C72C3DE508B}"/>
              </a:ext>
            </a:extLst>
          </p:cNvPr>
          <p:cNvSpPr txBox="1"/>
          <p:nvPr/>
        </p:nvSpPr>
        <p:spPr>
          <a:xfrm>
            <a:off x="8989189" y="4912202"/>
            <a:ext cx="2301664" cy="646331"/>
          </a:xfrm>
          <a:prstGeom prst="rect">
            <a:avLst/>
          </a:prstGeom>
          <a:noFill/>
        </p:spPr>
        <p:txBody>
          <a:bodyPr wrap="square" rtlCol="0">
            <a:spAutoFit/>
          </a:bodyPr>
          <a:lstStyle/>
          <a:p>
            <a:r>
              <a:rPr lang="en-US" dirty="0"/>
              <a:t>Under </a:t>
            </a:r>
            <a:r>
              <a:rPr lang="en-US" dirty="0" err="1"/>
              <a:t>Baye’s</a:t>
            </a:r>
            <a:r>
              <a:rPr lang="en-US" dirty="0"/>
              <a:t> Rule, you should select </a:t>
            </a:r>
            <a:r>
              <a:rPr lang="en-US" b="1" dirty="0">
                <a:solidFill>
                  <a:srgbClr val="C00000"/>
                </a:solidFill>
              </a:rPr>
              <a:t>A3.</a:t>
            </a:r>
            <a:endParaRPr lang="en-US" dirty="0"/>
          </a:p>
        </p:txBody>
      </p:sp>
      <p:sp>
        <p:nvSpPr>
          <p:cNvPr id="15" name="Text Box 3">
            <a:extLst>
              <a:ext uri="{FF2B5EF4-FFF2-40B4-BE49-F238E27FC236}">
                <a16:creationId xmlns:a16="http://schemas.microsoft.com/office/drawing/2014/main" id="{CDA15F15-1DBE-462E-A711-1622C5B2559D}"/>
              </a:ext>
            </a:extLst>
          </p:cNvPr>
          <p:cNvSpPr txBox="1">
            <a:spLocks noChangeArrowheads="1"/>
          </p:cNvSpPr>
          <p:nvPr/>
        </p:nvSpPr>
        <p:spPr bwMode="auto">
          <a:xfrm>
            <a:off x="523812" y="5923584"/>
            <a:ext cx="4666662" cy="230832"/>
          </a:xfrm>
          <a:prstGeom prst="rect">
            <a:avLst/>
          </a:prstGeom>
          <a:noFill/>
          <a:ln w="12700">
            <a:noFill/>
            <a:miter lim="800000"/>
            <a:headEnd/>
            <a:tailEnd/>
          </a:ln>
        </p:spPr>
        <p:txBody>
          <a:bodyPr wrap="none">
            <a:spAutoFit/>
          </a:bodyPr>
          <a:lstStyle/>
          <a:p>
            <a:pPr algn="ctr"/>
            <a:r>
              <a:rPr lang="en-US" sz="900"/>
              <a:t>(Adapted From: Blanchard and Fabrycky, “System Engineering and Analysis, Prentice Hall, 1998)</a:t>
            </a:r>
          </a:p>
        </p:txBody>
      </p:sp>
      <p:sp>
        <p:nvSpPr>
          <p:cNvPr id="4" name="Rectangle 3">
            <a:extLst>
              <a:ext uri="{FF2B5EF4-FFF2-40B4-BE49-F238E27FC236}">
                <a16:creationId xmlns:a16="http://schemas.microsoft.com/office/drawing/2014/main" id="{03CCD268-6C2E-46DC-86EF-BBF83A554EF5}"/>
              </a:ext>
            </a:extLst>
          </p:cNvPr>
          <p:cNvSpPr/>
          <p:nvPr/>
        </p:nvSpPr>
        <p:spPr>
          <a:xfrm>
            <a:off x="7056033" y="3337930"/>
            <a:ext cx="4982114" cy="1089529"/>
          </a:xfrm>
          <a:prstGeom prst="rect">
            <a:avLst/>
          </a:prstGeom>
        </p:spPr>
        <p:txBody>
          <a:bodyPr wrap="square">
            <a:spAutoFit/>
          </a:bodyPr>
          <a:lstStyle/>
          <a:p>
            <a:pPr>
              <a:lnSpc>
                <a:spcPct val="90000"/>
              </a:lnSpc>
              <a:buFont typeface="Wingdings" pitchFamily="2" charset="2"/>
              <a:buNone/>
            </a:pPr>
            <a:r>
              <a:rPr lang="en-US" dirty="0">
                <a:sym typeface="Symbol" pitchFamily="18" charset="2"/>
              </a:rPr>
              <a:t>A</a:t>
            </a:r>
            <a:r>
              <a:rPr lang="en-US" baseline="-25000" dirty="0">
                <a:sym typeface="Symbol" pitchFamily="18" charset="2"/>
              </a:rPr>
              <a:t>1</a:t>
            </a:r>
            <a:r>
              <a:rPr lang="en-US" dirty="0">
                <a:sym typeface="Symbol" pitchFamily="18" charset="2"/>
              </a:rPr>
              <a:t>:	100(0.3) + 100(0.2) + 400(0.5) = $250</a:t>
            </a:r>
          </a:p>
          <a:p>
            <a:pPr>
              <a:lnSpc>
                <a:spcPct val="90000"/>
              </a:lnSpc>
              <a:buFont typeface="Wingdings" pitchFamily="2" charset="2"/>
              <a:buNone/>
            </a:pPr>
            <a:r>
              <a:rPr lang="en-US" dirty="0">
                <a:sym typeface="Symbol" pitchFamily="18" charset="2"/>
              </a:rPr>
              <a:t>A</a:t>
            </a:r>
            <a:r>
              <a:rPr lang="en-US" baseline="-25000" dirty="0">
                <a:sym typeface="Symbol" pitchFamily="18" charset="2"/>
              </a:rPr>
              <a:t>2</a:t>
            </a:r>
            <a:r>
              <a:rPr lang="en-US" dirty="0">
                <a:sym typeface="Symbol" pitchFamily="18" charset="2"/>
              </a:rPr>
              <a:t>:	-200(0.3) + 150(0.2) + 600(0.5) = $270</a:t>
            </a:r>
          </a:p>
          <a:p>
            <a:pPr>
              <a:lnSpc>
                <a:spcPct val="90000"/>
              </a:lnSpc>
              <a:buFont typeface="Wingdings" pitchFamily="2" charset="2"/>
              <a:buNone/>
            </a:pPr>
            <a:r>
              <a:rPr lang="en-US" dirty="0">
                <a:sym typeface="Symbol" pitchFamily="18" charset="2"/>
              </a:rPr>
              <a:t>A</a:t>
            </a:r>
            <a:r>
              <a:rPr lang="en-US" baseline="-25000" dirty="0">
                <a:sym typeface="Symbol" pitchFamily="18" charset="2"/>
              </a:rPr>
              <a:t>3</a:t>
            </a:r>
            <a:r>
              <a:rPr lang="en-US" dirty="0">
                <a:sym typeface="Symbol" pitchFamily="18" charset="2"/>
              </a:rPr>
              <a:t>:	0(0.3) + 200(0.2) + 500(0.5) = $290</a:t>
            </a:r>
          </a:p>
          <a:p>
            <a:pPr>
              <a:lnSpc>
                <a:spcPct val="90000"/>
              </a:lnSpc>
              <a:buFont typeface="Wingdings" pitchFamily="2" charset="2"/>
              <a:buNone/>
            </a:pPr>
            <a:r>
              <a:rPr lang="en-US" dirty="0">
                <a:sym typeface="Symbol" pitchFamily="18" charset="2"/>
              </a:rPr>
              <a:t>A</a:t>
            </a:r>
            <a:r>
              <a:rPr lang="en-US" baseline="-25000" dirty="0">
                <a:sym typeface="Symbol" pitchFamily="18" charset="2"/>
              </a:rPr>
              <a:t>4</a:t>
            </a:r>
            <a:r>
              <a:rPr lang="en-US" dirty="0">
                <a:sym typeface="Symbol" pitchFamily="18" charset="2"/>
              </a:rPr>
              <a:t>:	100(0.3) + 300(0.2) + 200(0.5) = $190</a:t>
            </a:r>
          </a:p>
        </p:txBody>
      </p:sp>
    </p:spTree>
    <p:extLst>
      <p:ext uri="{BB962C8B-B14F-4D97-AF65-F5344CB8AC3E}">
        <p14:creationId xmlns:p14="http://schemas.microsoft.com/office/powerpoint/2010/main" val="108986883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Decision Making under Risk</a:t>
            </a:r>
          </a:p>
        </p:txBody>
      </p:sp>
      <p:sp>
        <p:nvSpPr>
          <p:cNvPr id="3" name="Content Placeholder 2"/>
          <p:cNvSpPr>
            <a:spLocks noGrp="1"/>
          </p:cNvSpPr>
          <p:nvPr>
            <p:ph idx="1"/>
          </p:nvPr>
        </p:nvSpPr>
        <p:spPr/>
        <p:txBody>
          <a:bodyPr/>
          <a:lstStyle/>
          <a:p>
            <a:r>
              <a:rPr lang="en-US" b="1" u="sng" dirty="0" err="1">
                <a:solidFill>
                  <a:srgbClr val="C00000"/>
                </a:solidFill>
              </a:rPr>
              <a:t>Baye’s</a:t>
            </a:r>
            <a:r>
              <a:rPr lang="en-US" b="1" u="sng" dirty="0">
                <a:solidFill>
                  <a:srgbClr val="C00000"/>
                </a:solidFill>
              </a:rPr>
              <a:t> Rule (Bayesian Criterion):</a:t>
            </a:r>
          </a:p>
          <a:p>
            <a:r>
              <a:rPr lang="en-US" sz="2400" dirty="0"/>
              <a:t>Features of Bayes’ Decision Rule</a:t>
            </a:r>
          </a:p>
          <a:p>
            <a:pPr lvl="1"/>
            <a:r>
              <a:rPr lang="en-US" sz="2000" dirty="0"/>
              <a:t>It accounts for all the states of nature and their probabilities.</a:t>
            </a:r>
          </a:p>
          <a:p>
            <a:pPr lvl="1"/>
            <a:r>
              <a:rPr lang="en-US" sz="2000" dirty="0"/>
              <a:t>The expected payoff can be interpreted as what the </a:t>
            </a:r>
            <a:r>
              <a:rPr lang="en-US" sz="2000" i="1" dirty="0"/>
              <a:t>average</a:t>
            </a:r>
            <a:r>
              <a:rPr lang="en-US" sz="2000" dirty="0"/>
              <a:t> payoff would become if the same situation were repeated many times. Therefore, </a:t>
            </a:r>
            <a:r>
              <a:rPr lang="en-US" sz="2000" i="1" dirty="0"/>
              <a:t>on average</a:t>
            </a:r>
            <a:r>
              <a:rPr lang="en-US" sz="2000" dirty="0"/>
              <a:t>, repeatedly applying Bayes’ decision rule to make decisions will lead to larger payoffs in the long run than any other criterion.</a:t>
            </a:r>
          </a:p>
          <a:p>
            <a:r>
              <a:rPr lang="en-US" sz="2400" dirty="0"/>
              <a:t>Criticisms of Bayes’ Decision Rule</a:t>
            </a:r>
          </a:p>
          <a:p>
            <a:pPr lvl="1"/>
            <a:r>
              <a:rPr lang="en-US" sz="2000" dirty="0"/>
              <a:t>There usually is considerable uncertainty involved in assigning values to the prior probabilities.</a:t>
            </a:r>
          </a:p>
          <a:p>
            <a:pPr lvl="1"/>
            <a:r>
              <a:rPr lang="en-US" sz="2000" dirty="0"/>
              <a:t>Prior probabilities inherently are at least largely subjective in nature, whereas sound decision making should be based on objective data and procedures.</a:t>
            </a:r>
          </a:p>
          <a:p>
            <a:pPr lvl="1"/>
            <a:r>
              <a:rPr lang="en-US" sz="2000" dirty="0"/>
              <a:t>It ignores typical aversion to risk. By focusing on average outcomes, expected (monetary) payoffs ignore the effect that the amount of variability in the possible outcomes should have on decision making</a:t>
            </a:r>
            <a:endParaRPr lang="en-US" sz="2800" dirty="0"/>
          </a:p>
        </p:txBody>
      </p:sp>
    </p:spTree>
    <p:extLst>
      <p:ext uri="{BB962C8B-B14F-4D97-AF65-F5344CB8AC3E}">
        <p14:creationId xmlns:p14="http://schemas.microsoft.com/office/powerpoint/2010/main" val="15262595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Decision Criteria</a:t>
            </a:r>
          </a:p>
        </p:txBody>
      </p:sp>
      <p:sp>
        <p:nvSpPr>
          <p:cNvPr id="3" name="Content Placeholder 2"/>
          <p:cNvSpPr>
            <a:spLocks noGrp="1"/>
          </p:cNvSpPr>
          <p:nvPr>
            <p:ph idx="1"/>
          </p:nvPr>
        </p:nvSpPr>
        <p:spPr/>
        <p:txBody>
          <a:bodyPr/>
          <a:lstStyle/>
          <a:p>
            <a:r>
              <a:rPr lang="en-US" dirty="0"/>
              <a:t>Simple rules that can be used under uncertainty or risk</a:t>
            </a:r>
          </a:p>
          <a:p>
            <a:r>
              <a:rPr lang="en-US" dirty="0"/>
              <a:t>There are many other criteria too</a:t>
            </a:r>
          </a:p>
          <a:p>
            <a:pPr lvl="1"/>
            <a:r>
              <a:rPr lang="en-US" dirty="0">
                <a:solidFill>
                  <a:srgbClr val="C00000"/>
                </a:solidFill>
              </a:rPr>
              <a:t>Aspiration-Level Criterion</a:t>
            </a:r>
            <a:br>
              <a:rPr lang="en-US" dirty="0"/>
            </a:br>
            <a:r>
              <a:rPr lang="en-US" dirty="0"/>
              <a:t>- desired/undesired level of achievement</a:t>
            </a:r>
          </a:p>
          <a:p>
            <a:pPr lvl="2"/>
            <a:r>
              <a:rPr lang="en-US" dirty="0"/>
              <a:t>Suppose that you do not want to have a possibility of losing money, then you will sell the land</a:t>
            </a:r>
          </a:p>
          <a:p>
            <a:pPr lvl="1"/>
            <a:r>
              <a:rPr lang="en-US" dirty="0">
                <a:solidFill>
                  <a:srgbClr val="C00000"/>
                </a:solidFill>
              </a:rPr>
              <a:t>Mean-Variance Criterion</a:t>
            </a:r>
            <a:br>
              <a:rPr lang="en-US" dirty="0"/>
            </a:br>
            <a:r>
              <a:rPr lang="en-US" dirty="0"/>
              <a:t>- based on “average” outcome and “variance”</a:t>
            </a:r>
          </a:p>
          <a:p>
            <a:pPr lvl="2"/>
            <a:r>
              <a:rPr lang="en-US" dirty="0"/>
              <a:t>You may want to have variance of an alternative to be less than a specific value</a:t>
            </a:r>
          </a:p>
          <a:p>
            <a:endParaRPr lang="en-US" sz="2400" b="1" dirty="0"/>
          </a:p>
          <a:p>
            <a:pPr lvl="1"/>
            <a:endParaRPr lang="en-US" dirty="0"/>
          </a:p>
          <a:p>
            <a:pPr lvl="1"/>
            <a:endParaRPr lang="en-US" dirty="0"/>
          </a:p>
        </p:txBody>
      </p:sp>
    </p:spTree>
    <p:extLst>
      <p:ext uri="{BB962C8B-B14F-4D97-AF65-F5344CB8AC3E}">
        <p14:creationId xmlns:p14="http://schemas.microsoft.com/office/powerpoint/2010/main" val="25320113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Outline</a:t>
            </a:r>
          </a:p>
        </p:txBody>
      </p:sp>
      <p:sp>
        <p:nvSpPr>
          <p:cNvPr id="3" name="Content Placeholder 2"/>
          <p:cNvSpPr>
            <a:spLocks noGrp="1"/>
          </p:cNvSpPr>
          <p:nvPr>
            <p:ph idx="1"/>
          </p:nvPr>
        </p:nvSpPr>
        <p:spPr/>
        <p:txBody>
          <a:bodyPr/>
          <a:lstStyle/>
          <a:p>
            <a:r>
              <a:rPr lang="en-US" dirty="0">
                <a:solidFill>
                  <a:schemeClr val="bg2"/>
                </a:solidFill>
              </a:rPr>
              <a:t>Decision Criteria (Chapter 9.1 &amp; 9.2)</a:t>
            </a:r>
          </a:p>
          <a:p>
            <a:r>
              <a:rPr lang="en-US" dirty="0"/>
              <a:t>Decision Trees and Value of Information (Chapter 9.3-9.7)</a:t>
            </a:r>
          </a:p>
          <a:p>
            <a:r>
              <a:rPr lang="en-US" dirty="0">
                <a:solidFill>
                  <a:schemeClr val="bg2"/>
                </a:solidFill>
              </a:rPr>
              <a:t>Utility Theory Review (Chapter 9.8)</a:t>
            </a:r>
          </a:p>
          <a:p>
            <a:r>
              <a:rPr lang="en-US" dirty="0">
                <a:solidFill>
                  <a:schemeClr val="bg2"/>
                </a:solidFill>
              </a:rPr>
              <a:t>Stochastic Optimization Overview (not in the textbook)</a:t>
            </a:r>
          </a:p>
          <a:p>
            <a:r>
              <a:rPr lang="en-US" dirty="0">
                <a:solidFill>
                  <a:schemeClr val="bg2"/>
                </a:solidFill>
              </a:rPr>
              <a:t>Robust Optimization Overview (not in the textbook)</a:t>
            </a:r>
          </a:p>
          <a:p>
            <a:endParaRPr lang="en-US" dirty="0">
              <a:solidFill>
                <a:schemeClr val="bg2"/>
              </a:solidFill>
            </a:endParaRPr>
          </a:p>
          <a:p>
            <a:r>
              <a:rPr lang="en-US" dirty="0">
                <a:solidFill>
                  <a:schemeClr val="bg2"/>
                </a:solidFill>
              </a:rPr>
              <a:t>Probability Basics Review</a:t>
            </a:r>
          </a:p>
          <a:p>
            <a:endParaRPr lang="en-US" dirty="0"/>
          </a:p>
          <a:p>
            <a:pPr lvl="5"/>
            <a:endParaRPr lang="en-US" dirty="0"/>
          </a:p>
          <a:p>
            <a:endParaRPr lang="en-US" dirty="0"/>
          </a:p>
        </p:txBody>
      </p:sp>
    </p:spTree>
    <p:extLst>
      <p:ext uri="{BB962C8B-B14F-4D97-AF65-F5344CB8AC3E}">
        <p14:creationId xmlns:p14="http://schemas.microsoft.com/office/powerpoint/2010/main" val="308874658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Decision Tree</a:t>
            </a:r>
          </a:p>
        </p:txBody>
      </p:sp>
      <p:sp>
        <p:nvSpPr>
          <p:cNvPr id="3" name="Content Placeholder 2"/>
          <p:cNvSpPr>
            <a:spLocks noGrp="1"/>
          </p:cNvSpPr>
          <p:nvPr>
            <p:ph idx="1"/>
          </p:nvPr>
        </p:nvSpPr>
        <p:spPr/>
        <p:txBody>
          <a:bodyPr/>
          <a:lstStyle/>
          <a:p>
            <a:r>
              <a:rPr lang="en-US" dirty="0"/>
              <a:t>A </a:t>
            </a:r>
            <a:r>
              <a:rPr lang="en-US" b="1" dirty="0">
                <a:solidFill>
                  <a:srgbClr val="C00000"/>
                </a:solidFill>
              </a:rPr>
              <a:t>decision tree</a:t>
            </a:r>
            <a:r>
              <a:rPr lang="en-US" dirty="0">
                <a:solidFill>
                  <a:srgbClr val="C00000"/>
                </a:solidFill>
              </a:rPr>
              <a:t> </a:t>
            </a:r>
            <a:r>
              <a:rPr lang="en-US" dirty="0"/>
              <a:t>can apply Bayes’ decision rule while displaying and analyzing the problem graphically.</a:t>
            </a:r>
          </a:p>
          <a:p>
            <a:pPr lvl="1"/>
            <a:r>
              <a:rPr lang="en-US" dirty="0"/>
              <a:t>A decision tree consists of </a:t>
            </a:r>
            <a:r>
              <a:rPr lang="en-US" b="1" dirty="0">
                <a:solidFill>
                  <a:srgbClr val="C00000"/>
                </a:solidFill>
              </a:rPr>
              <a:t>nodes</a:t>
            </a:r>
            <a:r>
              <a:rPr lang="en-US" dirty="0"/>
              <a:t> and </a:t>
            </a:r>
            <a:r>
              <a:rPr lang="en-US" b="1" dirty="0">
                <a:solidFill>
                  <a:srgbClr val="C00000"/>
                </a:solidFill>
              </a:rPr>
              <a:t>branches</a:t>
            </a:r>
            <a:r>
              <a:rPr lang="en-US" b="1" dirty="0"/>
              <a:t>.</a:t>
            </a:r>
          </a:p>
          <a:p>
            <a:pPr lvl="2"/>
            <a:r>
              <a:rPr lang="en-US" dirty="0"/>
              <a:t>A </a:t>
            </a:r>
            <a:r>
              <a:rPr lang="en-US" b="1" dirty="0"/>
              <a:t>decision node</a:t>
            </a:r>
            <a:r>
              <a:rPr lang="en-US" dirty="0"/>
              <a:t>, represented by a </a:t>
            </a:r>
            <a:r>
              <a:rPr lang="en-US" i="1" dirty="0"/>
              <a:t>square</a:t>
            </a:r>
            <a:r>
              <a:rPr lang="en-US" dirty="0"/>
              <a:t>, indicates a decision to be made. </a:t>
            </a:r>
          </a:p>
          <a:p>
            <a:pPr lvl="3"/>
            <a:r>
              <a:rPr lang="en-US" dirty="0"/>
              <a:t>The branches represent the possible decisions.</a:t>
            </a:r>
          </a:p>
          <a:p>
            <a:pPr lvl="2"/>
            <a:r>
              <a:rPr lang="en-US" dirty="0"/>
              <a:t>An </a:t>
            </a:r>
            <a:r>
              <a:rPr lang="en-US" b="1" dirty="0"/>
              <a:t>event node</a:t>
            </a:r>
            <a:r>
              <a:rPr lang="en-US" dirty="0"/>
              <a:t>, represented by a </a:t>
            </a:r>
            <a:r>
              <a:rPr lang="en-US" i="1" dirty="0"/>
              <a:t>circle</a:t>
            </a:r>
            <a:r>
              <a:rPr lang="en-US" dirty="0"/>
              <a:t>, indicates a random event. </a:t>
            </a:r>
          </a:p>
          <a:p>
            <a:pPr lvl="3"/>
            <a:r>
              <a:rPr lang="en-US" dirty="0"/>
              <a:t>The branches represent the possible outcomes of the random event.</a:t>
            </a:r>
          </a:p>
          <a:p>
            <a:r>
              <a:rPr lang="en-US" sz="2400" b="1" u="sng" dirty="0"/>
              <a:t>Decision tree of the </a:t>
            </a:r>
          </a:p>
          <a:p>
            <a:pPr marL="0" indent="0">
              <a:buNone/>
            </a:pPr>
            <a:r>
              <a:rPr lang="en-US" sz="2400" b="1" u="sng" dirty="0"/>
              <a:t>   </a:t>
            </a:r>
            <a:r>
              <a:rPr lang="en-US" sz="2400" b="1" u="sng" dirty="0" err="1"/>
              <a:t>Goferbroke</a:t>
            </a:r>
            <a:r>
              <a:rPr lang="en-US" sz="2400" b="1" u="sng" dirty="0"/>
              <a:t> Company: </a:t>
            </a:r>
          </a:p>
          <a:p>
            <a:endParaRPr lang="en-US" sz="2400" b="1" dirty="0"/>
          </a:p>
          <a:p>
            <a:pPr lvl="1"/>
            <a:endParaRPr lang="en-US" dirty="0"/>
          </a:p>
          <a:p>
            <a:pPr lvl="1"/>
            <a:endParaRPr lang="en-US" dirty="0"/>
          </a:p>
        </p:txBody>
      </p:sp>
      <p:pic>
        <p:nvPicPr>
          <p:cNvPr id="4" name="Picture 3">
            <a:extLst>
              <a:ext uri="{FF2B5EF4-FFF2-40B4-BE49-F238E27FC236}">
                <a16:creationId xmlns:a16="http://schemas.microsoft.com/office/drawing/2014/main" id="{9F25CE34-0810-4281-96A7-EE9D4701943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30825" y="3886114"/>
            <a:ext cx="4094923" cy="28340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 Box 4">
            <a:extLst>
              <a:ext uri="{FF2B5EF4-FFF2-40B4-BE49-F238E27FC236}">
                <a16:creationId xmlns:a16="http://schemas.microsoft.com/office/drawing/2014/main" id="{D9B2D18D-D388-48F9-AF7C-7E1277541B0A}"/>
              </a:ext>
            </a:extLst>
          </p:cNvPr>
          <p:cNvSpPr txBox="1">
            <a:spLocks noChangeArrowheads="1"/>
          </p:cNvSpPr>
          <p:nvPr/>
        </p:nvSpPr>
        <p:spPr bwMode="auto">
          <a:xfrm>
            <a:off x="5359168" y="4803242"/>
            <a:ext cx="3409950" cy="336550"/>
          </a:xfrm>
          <a:prstGeom prst="rect">
            <a:avLst/>
          </a:prstGeom>
          <a:noFill/>
          <a:ln w="9525">
            <a:noFill/>
            <a:miter lim="800000"/>
            <a:headEnd/>
            <a:tailEnd/>
          </a:ln>
        </p:spPr>
        <p:txBody>
          <a:bodyPr wrap="none">
            <a:spAutoFit/>
          </a:bodyPr>
          <a:lstStyle/>
          <a:p>
            <a:r>
              <a:rPr lang="en-US" sz="1600" dirty="0"/>
              <a:t>E[Payoff] = 700(.25) – 100(.75) = $100</a:t>
            </a:r>
          </a:p>
        </p:txBody>
      </p:sp>
      <p:sp>
        <p:nvSpPr>
          <p:cNvPr id="6" name="Text Box 5">
            <a:extLst>
              <a:ext uri="{FF2B5EF4-FFF2-40B4-BE49-F238E27FC236}">
                <a16:creationId xmlns:a16="http://schemas.microsoft.com/office/drawing/2014/main" id="{624005FC-36CB-43B8-9795-9239F6C3E584}"/>
              </a:ext>
            </a:extLst>
          </p:cNvPr>
          <p:cNvSpPr txBox="1">
            <a:spLocks noChangeArrowheads="1"/>
          </p:cNvSpPr>
          <p:nvPr/>
        </p:nvSpPr>
        <p:spPr bwMode="auto">
          <a:xfrm>
            <a:off x="6457834" y="6426632"/>
            <a:ext cx="2155825" cy="336550"/>
          </a:xfrm>
          <a:prstGeom prst="rect">
            <a:avLst/>
          </a:prstGeom>
          <a:noFill/>
          <a:ln w="9525">
            <a:noFill/>
            <a:miter lim="800000"/>
            <a:headEnd/>
            <a:tailEnd/>
          </a:ln>
        </p:spPr>
        <p:txBody>
          <a:bodyPr wrap="none">
            <a:spAutoFit/>
          </a:bodyPr>
          <a:lstStyle/>
          <a:p>
            <a:r>
              <a:rPr lang="en-US" sz="1600" dirty="0"/>
              <a:t>E[Payoff] = 90(1) = $90</a:t>
            </a:r>
          </a:p>
        </p:txBody>
      </p:sp>
    </p:spTree>
    <p:extLst>
      <p:ext uri="{BB962C8B-B14F-4D97-AF65-F5344CB8AC3E}">
        <p14:creationId xmlns:p14="http://schemas.microsoft.com/office/powerpoint/2010/main" val="31786302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4"/>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5"/>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Value of Information</a:t>
            </a:r>
          </a:p>
        </p:txBody>
      </p:sp>
      <p:sp>
        <p:nvSpPr>
          <p:cNvPr id="3" name="Content Placeholder 2"/>
          <p:cNvSpPr>
            <a:spLocks noGrp="1"/>
          </p:cNvSpPr>
          <p:nvPr>
            <p:ph idx="1"/>
          </p:nvPr>
        </p:nvSpPr>
        <p:spPr/>
        <p:txBody>
          <a:bodyPr>
            <a:normAutofit lnSpcReduction="10000"/>
          </a:bodyPr>
          <a:lstStyle/>
          <a:p>
            <a:r>
              <a:rPr lang="en-US" dirty="0"/>
              <a:t>Might it be worthwhile to spend money for more information to obtain better estimates?</a:t>
            </a:r>
          </a:p>
          <a:p>
            <a:pPr lvl="1"/>
            <a:r>
              <a:rPr lang="en-US" dirty="0"/>
              <a:t>For the </a:t>
            </a:r>
            <a:r>
              <a:rPr lang="en-US" dirty="0" err="1"/>
              <a:t>Goferbroke</a:t>
            </a:r>
            <a:r>
              <a:rPr lang="en-US" dirty="0"/>
              <a:t> Company example:</a:t>
            </a:r>
          </a:p>
          <a:p>
            <a:pPr lvl="2"/>
            <a:r>
              <a:rPr lang="en-US" dirty="0"/>
              <a:t>What if we knew for sure whether or not there was oil?</a:t>
            </a:r>
          </a:p>
          <a:p>
            <a:pPr lvl="2"/>
            <a:r>
              <a:rPr lang="en-US" dirty="0"/>
              <a:t>We can make the decision after we learn the true state</a:t>
            </a:r>
          </a:p>
          <a:p>
            <a:r>
              <a:rPr lang="en-US" dirty="0"/>
              <a:t>A quick way to check is to pretend that it is possible to actually determine the true state of nature (“perfect information”).</a:t>
            </a:r>
          </a:p>
          <a:p>
            <a:pPr lvl="1"/>
            <a:r>
              <a:rPr lang="en-US" dirty="0"/>
              <a:t>This can tell us the </a:t>
            </a:r>
            <a:r>
              <a:rPr lang="en-US" b="1" dirty="0">
                <a:solidFill>
                  <a:srgbClr val="C00000"/>
                </a:solidFill>
              </a:rPr>
              <a:t>expected value of perfect information (EVPI)</a:t>
            </a:r>
          </a:p>
          <a:p>
            <a:pPr lvl="2"/>
            <a:r>
              <a:rPr lang="en-US" dirty="0"/>
              <a:t>EP (with perfect information) = Expected payoff if the decision could be made after learning the true state of nature.</a:t>
            </a:r>
          </a:p>
          <a:p>
            <a:pPr lvl="2"/>
            <a:r>
              <a:rPr lang="en-US" dirty="0"/>
              <a:t>EP (without perfect information) = Expected payoff from applying Bayes’ decision rule with the original prior probabilities.</a:t>
            </a:r>
          </a:p>
          <a:p>
            <a:pPr lvl="2"/>
            <a:r>
              <a:rPr lang="en-US" dirty="0"/>
              <a:t>The </a:t>
            </a:r>
            <a:r>
              <a:rPr lang="en-US" b="1" dirty="0">
                <a:solidFill>
                  <a:srgbClr val="C00000"/>
                </a:solidFill>
              </a:rPr>
              <a:t>expected value of perfect information </a:t>
            </a:r>
            <a:r>
              <a:rPr lang="en-US" dirty="0"/>
              <a:t>is then</a:t>
            </a:r>
            <a:br>
              <a:rPr lang="en-US" dirty="0"/>
            </a:br>
            <a:r>
              <a:rPr lang="en-US" dirty="0"/>
              <a:t>	</a:t>
            </a:r>
          </a:p>
          <a:p>
            <a:endParaRPr lang="en-US" sz="2400" b="1" dirty="0"/>
          </a:p>
          <a:p>
            <a:pPr lvl="1"/>
            <a:endParaRPr lang="en-US" dirty="0"/>
          </a:p>
          <a:p>
            <a:pPr lvl="1"/>
            <a:endParaRPr lang="en-US" dirty="0"/>
          </a:p>
        </p:txBody>
      </p:sp>
      <p:sp>
        <p:nvSpPr>
          <p:cNvPr id="7" name="Rectangle 6">
            <a:extLst>
              <a:ext uri="{FF2B5EF4-FFF2-40B4-BE49-F238E27FC236}">
                <a16:creationId xmlns:a16="http://schemas.microsoft.com/office/drawing/2014/main" id="{2D635DDE-1F34-4119-91A8-FA056228D8D6}"/>
              </a:ext>
            </a:extLst>
          </p:cNvPr>
          <p:cNvSpPr/>
          <p:nvPr/>
        </p:nvSpPr>
        <p:spPr>
          <a:xfrm>
            <a:off x="1564640" y="6176963"/>
            <a:ext cx="9260840" cy="400110"/>
          </a:xfrm>
          <a:prstGeom prst="rect">
            <a:avLst/>
          </a:prstGeom>
        </p:spPr>
        <p:txBody>
          <a:bodyPr wrap="square">
            <a:spAutoFit/>
          </a:bodyPr>
          <a:lstStyle/>
          <a:p>
            <a:pPr lvl="2"/>
            <a:r>
              <a:rPr lang="en-US" sz="2000" b="1" dirty="0">
                <a:solidFill>
                  <a:srgbClr val="FF0000"/>
                </a:solidFill>
              </a:rPr>
              <a:t>EVPI = EP (with perfect information) – EP (without perfect information).</a:t>
            </a:r>
          </a:p>
        </p:txBody>
      </p:sp>
    </p:spTree>
    <p:extLst>
      <p:ext uri="{BB962C8B-B14F-4D97-AF65-F5344CB8AC3E}">
        <p14:creationId xmlns:p14="http://schemas.microsoft.com/office/powerpoint/2010/main" val="3783759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8" end="8"/>
                                            </p:txEl>
                                          </p:spTgt>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Value of Information</a:t>
            </a:r>
          </a:p>
        </p:txBody>
      </p:sp>
      <p:sp>
        <p:nvSpPr>
          <p:cNvPr id="3" name="Content Placeholder 2"/>
          <p:cNvSpPr>
            <a:spLocks noGrp="1"/>
          </p:cNvSpPr>
          <p:nvPr>
            <p:ph idx="1"/>
          </p:nvPr>
        </p:nvSpPr>
        <p:spPr>
          <a:xfrm>
            <a:off x="355002" y="1312433"/>
            <a:ext cx="11478410" cy="4864530"/>
          </a:xfrm>
        </p:spPr>
        <p:txBody>
          <a:bodyPr>
            <a:normAutofit lnSpcReduction="10000"/>
          </a:bodyPr>
          <a:lstStyle/>
          <a:p>
            <a:r>
              <a:rPr lang="en-US" b="1" u="sng" dirty="0">
                <a:solidFill>
                  <a:srgbClr val="C00000"/>
                </a:solidFill>
              </a:rPr>
              <a:t>Expected value of perfect information (EVPI):</a:t>
            </a:r>
          </a:p>
          <a:p>
            <a:pPr lvl="1"/>
            <a:r>
              <a:rPr lang="en-US" b="1" u="sng" dirty="0"/>
              <a:t>Case: The </a:t>
            </a:r>
            <a:r>
              <a:rPr lang="en-US" b="1" u="sng" dirty="0" err="1"/>
              <a:t>Goferbroke</a:t>
            </a:r>
            <a:r>
              <a:rPr lang="en-US" b="1" u="sng" dirty="0"/>
              <a:t> Company Problem</a:t>
            </a:r>
            <a:endParaRPr lang="en-US" dirty="0"/>
          </a:p>
          <a:p>
            <a:pPr lvl="1"/>
            <a:r>
              <a:rPr lang="en-US" dirty="0"/>
              <a:t>Without perfect information, we select the alternative that has the highest expected payoff (i.e., we apply </a:t>
            </a:r>
            <a:r>
              <a:rPr lang="en-US" dirty="0" err="1"/>
              <a:t>Baye’s</a:t>
            </a:r>
            <a:r>
              <a:rPr lang="en-US" dirty="0"/>
              <a:t> rule)</a:t>
            </a:r>
          </a:p>
          <a:p>
            <a:pPr lvl="2"/>
            <a:r>
              <a:rPr lang="en-US" dirty="0"/>
              <a:t>We already know that </a:t>
            </a:r>
            <a:r>
              <a:rPr lang="en-US" dirty="0">
                <a:solidFill>
                  <a:srgbClr val="C00000"/>
                </a:solidFill>
              </a:rPr>
              <a:t>EP(without perfect information)=100 </a:t>
            </a:r>
            <a:r>
              <a:rPr lang="en-US" dirty="0"/>
              <a:t>coming from drilling</a:t>
            </a:r>
          </a:p>
          <a:p>
            <a:pPr lvl="1"/>
            <a:r>
              <a:rPr lang="en-US" dirty="0"/>
              <a:t>When we have perfect information on the state, we automatically select the best option for that state</a:t>
            </a:r>
          </a:p>
          <a:p>
            <a:pPr lvl="1"/>
            <a:endParaRPr lang="en-US" dirty="0"/>
          </a:p>
          <a:p>
            <a:pPr lvl="1"/>
            <a:endParaRPr lang="en-US" dirty="0"/>
          </a:p>
          <a:p>
            <a:pPr lvl="1"/>
            <a:endParaRPr lang="en-US" dirty="0"/>
          </a:p>
          <a:p>
            <a:pPr lvl="1"/>
            <a:endParaRPr lang="en-US" dirty="0"/>
          </a:p>
          <a:p>
            <a:pPr lvl="1"/>
            <a:endParaRPr lang="en-US" dirty="0"/>
          </a:p>
          <a:p>
            <a:pPr marL="457200" lvl="1" indent="0">
              <a:buNone/>
            </a:pPr>
            <a:br>
              <a:rPr lang="en-US" dirty="0"/>
            </a:br>
            <a:r>
              <a:rPr lang="en-US" dirty="0"/>
              <a:t>	</a:t>
            </a:r>
          </a:p>
          <a:p>
            <a:endParaRPr lang="en-US" sz="2400" b="1" dirty="0"/>
          </a:p>
          <a:p>
            <a:pPr lvl="1"/>
            <a:endParaRPr lang="en-US" dirty="0"/>
          </a:p>
          <a:p>
            <a:pPr lvl="1"/>
            <a:endParaRPr lang="en-US" dirty="0"/>
          </a:p>
        </p:txBody>
      </p:sp>
      <p:graphicFrame>
        <p:nvGraphicFramePr>
          <p:cNvPr id="5" name="Object 4">
            <a:extLst>
              <a:ext uri="{FF2B5EF4-FFF2-40B4-BE49-F238E27FC236}">
                <a16:creationId xmlns:a16="http://schemas.microsoft.com/office/drawing/2014/main" id="{3413302D-3D69-4EEA-8DF5-D6BE7D6408EE}"/>
              </a:ext>
            </a:extLst>
          </p:cNvPr>
          <p:cNvGraphicFramePr>
            <a:graphicFrameLocks noChangeAspect="1"/>
          </p:cNvGraphicFramePr>
          <p:nvPr>
            <p:extLst>
              <p:ext uri="{D42A27DB-BD31-4B8C-83A1-F6EECF244321}">
                <p14:modId xmlns:p14="http://schemas.microsoft.com/office/powerpoint/2010/main" val="2147642660"/>
              </p:ext>
            </p:extLst>
          </p:nvPr>
        </p:nvGraphicFramePr>
        <p:xfrm>
          <a:off x="1730240" y="3916145"/>
          <a:ext cx="4942840" cy="1951789"/>
        </p:xfrm>
        <a:graphic>
          <a:graphicData uri="http://schemas.openxmlformats.org/presentationml/2006/ole">
            <mc:AlternateContent xmlns:mc="http://schemas.openxmlformats.org/markup-compatibility/2006">
              <mc:Choice xmlns:v="urn:schemas-microsoft-com:vml" Requires="v">
                <p:oleObj name="Worksheet" r:id="rId3" imgW="3240024" imgH="1581912" progId="Excel.Sheet.8">
                  <p:embed/>
                </p:oleObj>
              </mc:Choice>
              <mc:Fallback>
                <p:oleObj name="Worksheet" r:id="rId3" imgW="3240024" imgH="1581912" progId="Excel.Sheet.8">
                  <p:embed/>
                  <p:pic>
                    <p:nvPicPr>
                      <p:cNvPr id="5" name="Object 4">
                        <a:extLst>
                          <a:ext uri="{FF2B5EF4-FFF2-40B4-BE49-F238E27FC236}">
                            <a16:creationId xmlns:a16="http://schemas.microsoft.com/office/drawing/2014/main" id="{3413302D-3D69-4EEA-8DF5-D6BE7D6408E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30240" y="3916145"/>
                        <a:ext cx="4942840" cy="1951789"/>
                      </a:xfrm>
                      <a:prstGeom prst="rect">
                        <a:avLst/>
                      </a:prstGeom>
                      <a:noFill/>
                      <a:ln>
                        <a:noFill/>
                      </a:ln>
                      <a:effectLst/>
                    </p:spPr>
                  </p:pic>
                </p:oleObj>
              </mc:Fallback>
            </mc:AlternateContent>
          </a:graphicData>
        </a:graphic>
      </p:graphicFrame>
      <p:sp>
        <p:nvSpPr>
          <p:cNvPr id="6" name="Rectangular Callout 4">
            <a:extLst>
              <a:ext uri="{FF2B5EF4-FFF2-40B4-BE49-F238E27FC236}">
                <a16:creationId xmlns:a16="http://schemas.microsoft.com/office/drawing/2014/main" id="{DE294878-5A5C-46FF-A907-4D2BEDB6366A}"/>
              </a:ext>
            </a:extLst>
          </p:cNvPr>
          <p:cNvSpPr/>
          <p:nvPr/>
        </p:nvSpPr>
        <p:spPr bwMode="auto">
          <a:xfrm>
            <a:off x="6841669" y="4004858"/>
            <a:ext cx="1432560" cy="628102"/>
          </a:xfrm>
          <a:prstGeom prst="wedgeRectCallout">
            <a:avLst>
              <a:gd name="adj1" fmla="val -77840"/>
              <a:gd name="adj2" fmla="val 116954"/>
            </a:avLst>
          </a:prstGeom>
          <a:noFill/>
          <a:ln w="28575"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r>
              <a:rPr kumimoji="0" lang="en-US" b="0" i="0" u="none" strike="noStrike" cap="none" normalizeH="0" baseline="0" dirty="0">
                <a:ln>
                  <a:noFill/>
                </a:ln>
                <a:solidFill>
                  <a:schemeClr val="tx1"/>
                </a:solidFill>
                <a:effectLst/>
                <a:latin typeface="Arial" charset="0"/>
                <a:ea typeface="ＭＳ Ｐゴシック" pitchFamily="16" charset="-128"/>
              </a:rPr>
              <a:t>If Dry, we will sell</a:t>
            </a:r>
          </a:p>
        </p:txBody>
      </p:sp>
      <p:sp>
        <p:nvSpPr>
          <p:cNvPr id="8" name="Rectangular Callout 5">
            <a:extLst>
              <a:ext uri="{FF2B5EF4-FFF2-40B4-BE49-F238E27FC236}">
                <a16:creationId xmlns:a16="http://schemas.microsoft.com/office/drawing/2014/main" id="{F8B47ED6-8AD5-443C-98EE-B68216859207}"/>
              </a:ext>
            </a:extLst>
          </p:cNvPr>
          <p:cNvSpPr/>
          <p:nvPr/>
        </p:nvSpPr>
        <p:spPr bwMode="auto">
          <a:xfrm>
            <a:off x="151309" y="4101378"/>
            <a:ext cx="1361440" cy="628102"/>
          </a:xfrm>
          <a:prstGeom prst="wedgeRectCallout">
            <a:avLst>
              <a:gd name="adj1" fmla="val 256072"/>
              <a:gd name="adj2" fmla="val 99957"/>
            </a:avLst>
          </a:prstGeom>
          <a:noFill/>
          <a:ln w="28575"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r>
              <a:rPr kumimoji="0" lang="en-US" b="0" i="0" u="none" strike="noStrike" cap="none" normalizeH="0" baseline="0" dirty="0">
                <a:ln>
                  <a:noFill/>
                </a:ln>
                <a:solidFill>
                  <a:schemeClr val="tx1"/>
                </a:solidFill>
                <a:effectLst/>
                <a:latin typeface="Arial" charset="0"/>
                <a:ea typeface="ＭＳ Ｐゴシック" pitchFamily="16" charset="-128"/>
              </a:rPr>
              <a:t>If Oil, we will drill</a:t>
            </a:r>
          </a:p>
        </p:txBody>
      </p:sp>
      <p:sp>
        <p:nvSpPr>
          <p:cNvPr id="4" name="Rectangle 3">
            <a:extLst>
              <a:ext uri="{FF2B5EF4-FFF2-40B4-BE49-F238E27FC236}">
                <a16:creationId xmlns:a16="http://schemas.microsoft.com/office/drawing/2014/main" id="{E8A899EF-9D55-4D18-AC9C-CE9B2263F93E}"/>
              </a:ext>
            </a:extLst>
          </p:cNvPr>
          <p:cNvSpPr/>
          <p:nvPr/>
        </p:nvSpPr>
        <p:spPr>
          <a:xfrm>
            <a:off x="6340269" y="5035629"/>
            <a:ext cx="5825954" cy="369332"/>
          </a:xfrm>
          <a:prstGeom prst="rect">
            <a:avLst/>
          </a:prstGeom>
        </p:spPr>
        <p:txBody>
          <a:bodyPr wrap="none">
            <a:spAutoFit/>
          </a:bodyPr>
          <a:lstStyle/>
          <a:p>
            <a:pPr lvl="1"/>
            <a:r>
              <a:rPr lang="en-US" dirty="0">
                <a:solidFill>
                  <a:srgbClr val="C00000"/>
                </a:solidFill>
              </a:rPr>
              <a:t>EP(with perfect information)=0.25*700+0.75*90=242.5</a:t>
            </a:r>
          </a:p>
        </p:txBody>
      </p:sp>
    </p:spTree>
    <p:extLst>
      <p:ext uri="{BB962C8B-B14F-4D97-AF65-F5344CB8AC3E}">
        <p14:creationId xmlns:p14="http://schemas.microsoft.com/office/powerpoint/2010/main" val="11157194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8"/>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6"/>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8" grpId="0" animBg="1"/>
      <p:bldP spid="4"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Value of Information</a:t>
            </a:r>
          </a:p>
        </p:txBody>
      </p:sp>
      <p:sp>
        <p:nvSpPr>
          <p:cNvPr id="3" name="Content Placeholder 2"/>
          <p:cNvSpPr>
            <a:spLocks noGrp="1"/>
          </p:cNvSpPr>
          <p:nvPr>
            <p:ph idx="1"/>
          </p:nvPr>
        </p:nvSpPr>
        <p:spPr>
          <a:xfrm>
            <a:off x="355002" y="1312433"/>
            <a:ext cx="11478410" cy="4864530"/>
          </a:xfrm>
        </p:spPr>
        <p:txBody>
          <a:bodyPr>
            <a:normAutofit lnSpcReduction="10000"/>
          </a:bodyPr>
          <a:lstStyle/>
          <a:p>
            <a:r>
              <a:rPr lang="en-US" b="1" u="sng" dirty="0">
                <a:solidFill>
                  <a:srgbClr val="C00000"/>
                </a:solidFill>
              </a:rPr>
              <a:t>Expected value of perfect information (EVPI):</a:t>
            </a:r>
          </a:p>
          <a:p>
            <a:pPr lvl="1"/>
            <a:r>
              <a:rPr lang="en-US" b="1" u="sng" dirty="0"/>
              <a:t>Case: The </a:t>
            </a:r>
            <a:r>
              <a:rPr lang="en-US" b="1" u="sng" dirty="0" err="1"/>
              <a:t>Goferbroke</a:t>
            </a:r>
            <a:r>
              <a:rPr lang="en-US" b="1" u="sng" dirty="0"/>
              <a:t> Company Problem</a:t>
            </a:r>
            <a:endParaRPr lang="en-US" dirty="0"/>
          </a:p>
          <a:p>
            <a:pPr lvl="1"/>
            <a:r>
              <a:rPr lang="en-US" dirty="0"/>
              <a:t>EP(without perfect information)=100</a:t>
            </a:r>
          </a:p>
          <a:p>
            <a:pPr lvl="1"/>
            <a:r>
              <a:rPr lang="en-US" dirty="0"/>
              <a:t>EP(with perfect information)=0.25*700+0.75*90=242.5</a:t>
            </a:r>
          </a:p>
          <a:p>
            <a:pPr lvl="1"/>
            <a:r>
              <a:rPr lang="en-US" dirty="0"/>
              <a:t>Expected value of perfect information:</a:t>
            </a:r>
          </a:p>
          <a:p>
            <a:pPr lvl="2"/>
            <a:r>
              <a:rPr lang="en-US" dirty="0"/>
              <a:t>EVPI= EP(with perfect information)- EP(without perfect information)=242.5-100=142.5</a:t>
            </a:r>
          </a:p>
          <a:p>
            <a:pPr lvl="1"/>
            <a:endParaRPr lang="en-US" dirty="0"/>
          </a:p>
          <a:p>
            <a:pPr lvl="1"/>
            <a:r>
              <a:rPr lang="en-US" dirty="0"/>
              <a:t>Let’s say you can pay $C to have perfect information</a:t>
            </a:r>
          </a:p>
          <a:p>
            <a:pPr lvl="2"/>
            <a:r>
              <a:rPr lang="en-US" dirty="0"/>
              <a:t>A seismic survey to obtain the actual state of the land</a:t>
            </a:r>
          </a:p>
          <a:p>
            <a:pPr lvl="1"/>
            <a:r>
              <a:rPr lang="en-US" dirty="0"/>
              <a:t>If</a:t>
            </a:r>
          </a:p>
          <a:p>
            <a:pPr lvl="2"/>
            <a:r>
              <a:rPr lang="en-US" dirty="0"/>
              <a:t>EVPI&gt;C, it might be worthwhile to do the survey</a:t>
            </a:r>
          </a:p>
          <a:p>
            <a:pPr lvl="2"/>
            <a:r>
              <a:rPr lang="en-US"/>
              <a:t>EVPI</a:t>
            </a:r>
            <a:r>
              <a:rPr lang="en-US" dirty="0"/>
              <a:t>&lt;C, it is not worthwhile to do the survey</a:t>
            </a:r>
          </a:p>
          <a:p>
            <a:pPr marL="457200" lvl="1" indent="0">
              <a:buNone/>
            </a:pPr>
            <a:br>
              <a:rPr lang="en-US" dirty="0"/>
            </a:br>
            <a:r>
              <a:rPr lang="en-US" dirty="0"/>
              <a:t>	</a:t>
            </a:r>
          </a:p>
          <a:p>
            <a:endParaRPr lang="en-US" sz="2400" b="1" dirty="0"/>
          </a:p>
          <a:p>
            <a:pPr lvl="1"/>
            <a:endParaRPr lang="en-US" dirty="0"/>
          </a:p>
          <a:p>
            <a:pPr lvl="1"/>
            <a:endParaRPr lang="en-US" dirty="0"/>
          </a:p>
        </p:txBody>
      </p:sp>
    </p:spTree>
    <p:extLst>
      <p:ext uri="{BB962C8B-B14F-4D97-AF65-F5344CB8AC3E}">
        <p14:creationId xmlns:p14="http://schemas.microsoft.com/office/powerpoint/2010/main" val="17514908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7" end="7"/>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
                                            <p:txEl>
                                              <p:pRg st="9" end="9"/>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
                                            <p:txEl>
                                              <p:pRg st="10" end="10"/>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Value of Information</a:t>
            </a:r>
          </a:p>
        </p:txBody>
      </p:sp>
      <p:sp>
        <p:nvSpPr>
          <p:cNvPr id="3" name="Content Placeholder 2"/>
          <p:cNvSpPr>
            <a:spLocks noGrp="1"/>
          </p:cNvSpPr>
          <p:nvPr>
            <p:ph idx="1"/>
          </p:nvPr>
        </p:nvSpPr>
        <p:spPr>
          <a:xfrm>
            <a:off x="355002" y="1312433"/>
            <a:ext cx="11478410" cy="4864530"/>
          </a:xfrm>
        </p:spPr>
        <p:txBody>
          <a:bodyPr>
            <a:normAutofit lnSpcReduction="10000"/>
          </a:bodyPr>
          <a:lstStyle/>
          <a:p>
            <a:r>
              <a:rPr lang="en-US" b="1" u="sng" dirty="0">
                <a:solidFill>
                  <a:srgbClr val="C00000"/>
                </a:solidFill>
              </a:rPr>
              <a:t>Posterior Probabilities:</a:t>
            </a:r>
          </a:p>
          <a:p>
            <a:pPr lvl="1"/>
            <a:r>
              <a:rPr lang="en-US" dirty="0"/>
              <a:t>The prior probabilities of the possible states of nature often are subjective in nature. </a:t>
            </a:r>
          </a:p>
          <a:p>
            <a:pPr lvl="2"/>
            <a:r>
              <a:rPr lang="en-US" dirty="0"/>
              <a:t>They may only be rough estimates.</a:t>
            </a:r>
          </a:p>
          <a:p>
            <a:pPr lvl="1"/>
            <a:r>
              <a:rPr lang="en-US" dirty="0"/>
              <a:t>It is frequently possible to do additional testing or surveying (at some expense) to improve these estimates. </a:t>
            </a:r>
          </a:p>
          <a:p>
            <a:pPr lvl="2"/>
            <a:r>
              <a:rPr lang="en-US" dirty="0"/>
              <a:t>The improved estimates are called </a:t>
            </a:r>
            <a:r>
              <a:rPr lang="en-US" b="1" dirty="0">
                <a:solidFill>
                  <a:srgbClr val="C00000"/>
                </a:solidFill>
              </a:rPr>
              <a:t>posterior probabilities</a:t>
            </a:r>
            <a:r>
              <a:rPr lang="en-US" dirty="0"/>
              <a:t>.</a:t>
            </a:r>
            <a:endParaRPr lang="en-US" b="1" u="sng" dirty="0"/>
          </a:p>
          <a:p>
            <a:pPr lvl="1"/>
            <a:r>
              <a:rPr lang="en-US" b="1" u="sng" dirty="0"/>
              <a:t>Case: The </a:t>
            </a:r>
            <a:r>
              <a:rPr lang="en-US" b="1" u="sng" dirty="0" err="1"/>
              <a:t>Goferbroke</a:t>
            </a:r>
            <a:r>
              <a:rPr lang="en-US" b="1" u="sng" dirty="0"/>
              <a:t> Company Problem</a:t>
            </a:r>
            <a:endParaRPr lang="en-US" dirty="0"/>
          </a:p>
          <a:p>
            <a:pPr lvl="1"/>
            <a:r>
              <a:rPr lang="en-US" dirty="0" err="1"/>
              <a:t>Goferbroke</a:t>
            </a:r>
            <a:r>
              <a:rPr lang="en-US" dirty="0"/>
              <a:t> can obtain improved estimates of the chance of oil by conducting a detailed seismic survey of the land, at a cost of $30,000.</a:t>
            </a:r>
          </a:p>
          <a:p>
            <a:pPr lvl="2"/>
            <a:r>
              <a:rPr lang="en-US" dirty="0"/>
              <a:t>Possible findings from a seismic survey:</a:t>
            </a:r>
          </a:p>
          <a:p>
            <a:pPr lvl="3"/>
            <a:r>
              <a:rPr lang="en-US" dirty="0"/>
              <a:t>FSS: Favorable seismic soundings; oil is fairly likely.</a:t>
            </a:r>
          </a:p>
          <a:p>
            <a:pPr lvl="3"/>
            <a:r>
              <a:rPr lang="en-US" dirty="0"/>
              <a:t>USS: Unfavorable seismic soundings; oil is quite unlikely.</a:t>
            </a:r>
          </a:p>
          <a:p>
            <a:pPr lvl="3"/>
            <a:r>
              <a:rPr lang="en-US" dirty="0"/>
              <a:t>P(finding | state) =Probability that the indicated finding will occur, given that the state of nature is the indicated one.</a:t>
            </a:r>
            <a:br>
              <a:rPr lang="en-US" dirty="0"/>
            </a:br>
            <a:r>
              <a:rPr lang="en-US" dirty="0"/>
              <a:t>	</a:t>
            </a:r>
          </a:p>
          <a:p>
            <a:endParaRPr lang="en-US" sz="2400" b="1" dirty="0"/>
          </a:p>
          <a:p>
            <a:pPr lvl="1"/>
            <a:endParaRPr lang="en-US" dirty="0"/>
          </a:p>
          <a:p>
            <a:pPr lvl="1"/>
            <a:endParaRPr lang="en-US" dirty="0"/>
          </a:p>
        </p:txBody>
      </p:sp>
    </p:spTree>
    <p:extLst>
      <p:ext uri="{BB962C8B-B14F-4D97-AF65-F5344CB8AC3E}">
        <p14:creationId xmlns:p14="http://schemas.microsoft.com/office/powerpoint/2010/main" val="15676825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8" end="8"/>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
                                            <p:txEl>
                                              <p:pRg st="9" end="9"/>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Value of Information</a:t>
            </a:r>
          </a:p>
        </p:txBody>
      </p:sp>
      <p:sp>
        <p:nvSpPr>
          <p:cNvPr id="3" name="Content Placeholder 2"/>
          <p:cNvSpPr>
            <a:spLocks noGrp="1"/>
          </p:cNvSpPr>
          <p:nvPr>
            <p:ph idx="1"/>
          </p:nvPr>
        </p:nvSpPr>
        <p:spPr>
          <a:xfrm>
            <a:off x="355002" y="1312432"/>
            <a:ext cx="11478410" cy="5267043"/>
          </a:xfrm>
        </p:spPr>
        <p:txBody>
          <a:bodyPr>
            <a:normAutofit lnSpcReduction="10000"/>
          </a:bodyPr>
          <a:lstStyle/>
          <a:p>
            <a:r>
              <a:rPr lang="en-US" b="1" u="sng" dirty="0"/>
              <a:t>Case: The </a:t>
            </a:r>
            <a:r>
              <a:rPr lang="en-US" b="1" u="sng" dirty="0" err="1"/>
              <a:t>Goferbroke</a:t>
            </a:r>
            <a:r>
              <a:rPr lang="en-US" b="1" u="sng" dirty="0"/>
              <a:t> Company Problem</a:t>
            </a:r>
            <a:endParaRPr lang="en-US" dirty="0"/>
          </a:p>
          <a:p>
            <a:pPr lvl="1"/>
            <a:r>
              <a:rPr lang="en-US" dirty="0"/>
              <a:t>Prior Probabilities: P(Oil) = 0.25 and P(Dry) = 0.75</a:t>
            </a:r>
          </a:p>
          <a:p>
            <a:pPr lvl="1"/>
            <a:r>
              <a:rPr lang="en-US" dirty="0"/>
              <a:t>Conditional Probabilities:</a:t>
            </a:r>
          </a:p>
          <a:p>
            <a:pPr lvl="1"/>
            <a:endParaRPr lang="en-US" dirty="0"/>
          </a:p>
          <a:p>
            <a:pPr lvl="1"/>
            <a:endParaRPr lang="en-US" dirty="0"/>
          </a:p>
          <a:p>
            <a:pPr lvl="1"/>
            <a:endParaRPr lang="en-US" dirty="0"/>
          </a:p>
          <a:p>
            <a:pPr lvl="1"/>
            <a:endParaRPr lang="en-US" dirty="0"/>
          </a:p>
          <a:p>
            <a:pPr lvl="1"/>
            <a:r>
              <a:rPr lang="en-US" dirty="0"/>
              <a:t>Each combination of a state of nature and a finding will have a joint probability determined by the following formula:</a:t>
            </a:r>
          </a:p>
          <a:p>
            <a:pPr lvl="2"/>
            <a:r>
              <a:rPr lang="en-US" i="1" dirty="0"/>
              <a:t>P</a:t>
            </a:r>
            <a:r>
              <a:rPr lang="en-US" dirty="0"/>
              <a:t>(state and finding) = </a:t>
            </a:r>
            <a:r>
              <a:rPr lang="en-US" i="1" dirty="0"/>
              <a:t>P</a:t>
            </a:r>
            <a:r>
              <a:rPr lang="en-US" dirty="0"/>
              <a:t>(state) </a:t>
            </a:r>
            <a:r>
              <a:rPr lang="en-US" i="1" dirty="0"/>
              <a:t>P</a:t>
            </a:r>
            <a:r>
              <a:rPr lang="en-US" dirty="0"/>
              <a:t>(finding | state)</a:t>
            </a:r>
          </a:p>
          <a:p>
            <a:pPr lvl="3"/>
            <a:r>
              <a:rPr lang="en-US" i="1" dirty="0"/>
              <a:t>P</a:t>
            </a:r>
            <a:r>
              <a:rPr lang="en-US" dirty="0"/>
              <a:t>(Oil and FSS) = </a:t>
            </a:r>
            <a:r>
              <a:rPr lang="en-US" i="1" dirty="0"/>
              <a:t>P</a:t>
            </a:r>
            <a:r>
              <a:rPr lang="en-US" dirty="0"/>
              <a:t>(Oil) </a:t>
            </a:r>
            <a:r>
              <a:rPr lang="en-US" i="1" dirty="0"/>
              <a:t>P</a:t>
            </a:r>
            <a:r>
              <a:rPr lang="en-US" dirty="0"/>
              <a:t>(FSS | Oil) = (0.25)(0.6) = 0.15.</a:t>
            </a:r>
          </a:p>
          <a:p>
            <a:pPr lvl="3"/>
            <a:r>
              <a:rPr lang="en-US" i="1" dirty="0"/>
              <a:t>P</a:t>
            </a:r>
            <a:r>
              <a:rPr lang="en-US" dirty="0"/>
              <a:t>(Oil and USS) = </a:t>
            </a:r>
            <a:r>
              <a:rPr lang="en-US" i="1" dirty="0"/>
              <a:t>P</a:t>
            </a:r>
            <a:r>
              <a:rPr lang="en-US" dirty="0"/>
              <a:t>(Oil) </a:t>
            </a:r>
            <a:r>
              <a:rPr lang="en-US" i="1" dirty="0"/>
              <a:t>P</a:t>
            </a:r>
            <a:r>
              <a:rPr lang="en-US" dirty="0"/>
              <a:t>(USS | Oil) = (0.25)(0.4) = 0.1.</a:t>
            </a:r>
          </a:p>
          <a:p>
            <a:pPr lvl="3"/>
            <a:r>
              <a:rPr lang="en-US" i="1" dirty="0"/>
              <a:t>P</a:t>
            </a:r>
            <a:r>
              <a:rPr lang="en-US" dirty="0"/>
              <a:t>(Dry and FSS) = </a:t>
            </a:r>
            <a:r>
              <a:rPr lang="en-US" i="1" dirty="0"/>
              <a:t>P</a:t>
            </a:r>
            <a:r>
              <a:rPr lang="en-US" dirty="0"/>
              <a:t>(Dry) </a:t>
            </a:r>
            <a:r>
              <a:rPr lang="en-US" i="1" dirty="0"/>
              <a:t>P</a:t>
            </a:r>
            <a:r>
              <a:rPr lang="en-US" dirty="0"/>
              <a:t>(FSS | Dry) = (0.75)(0.2) = 0.15.</a:t>
            </a:r>
          </a:p>
          <a:p>
            <a:pPr lvl="3"/>
            <a:r>
              <a:rPr lang="en-US" i="1" dirty="0"/>
              <a:t>P</a:t>
            </a:r>
            <a:r>
              <a:rPr lang="en-US" dirty="0"/>
              <a:t>(Dry and USS) = </a:t>
            </a:r>
            <a:r>
              <a:rPr lang="en-US" i="1" dirty="0"/>
              <a:t>P</a:t>
            </a:r>
            <a:r>
              <a:rPr lang="en-US" dirty="0"/>
              <a:t>(Dry) </a:t>
            </a:r>
            <a:r>
              <a:rPr lang="en-US" i="1" dirty="0"/>
              <a:t>P</a:t>
            </a:r>
            <a:r>
              <a:rPr lang="en-US" dirty="0"/>
              <a:t>(USS | Dry) = (0.75)(0.8) = 0.6.</a:t>
            </a:r>
            <a:br>
              <a:rPr lang="en-US" dirty="0"/>
            </a:br>
            <a:r>
              <a:rPr lang="en-US" dirty="0"/>
              <a:t>	</a:t>
            </a:r>
          </a:p>
          <a:p>
            <a:endParaRPr lang="en-US" sz="2400" b="1" dirty="0"/>
          </a:p>
          <a:p>
            <a:pPr lvl="1"/>
            <a:endParaRPr lang="en-US" dirty="0"/>
          </a:p>
          <a:p>
            <a:pPr lvl="1"/>
            <a:endParaRPr lang="en-US" dirty="0"/>
          </a:p>
        </p:txBody>
      </p:sp>
      <p:graphicFrame>
        <p:nvGraphicFramePr>
          <p:cNvPr id="4" name="Group 4">
            <a:extLst>
              <a:ext uri="{FF2B5EF4-FFF2-40B4-BE49-F238E27FC236}">
                <a16:creationId xmlns:a16="http://schemas.microsoft.com/office/drawing/2014/main" id="{02D6FA5D-13B9-41A0-B150-3FFF5FC9F649}"/>
              </a:ext>
            </a:extLst>
          </p:cNvPr>
          <p:cNvGraphicFramePr>
            <a:graphicFrameLocks noGrp="1"/>
          </p:cNvGraphicFramePr>
          <p:nvPr>
            <p:extLst>
              <p:ext uri="{D42A27DB-BD31-4B8C-83A1-F6EECF244321}">
                <p14:modId xmlns:p14="http://schemas.microsoft.com/office/powerpoint/2010/main" val="1086905479"/>
              </p:ext>
            </p:extLst>
          </p:nvPr>
        </p:nvGraphicFramePr>
        <p:xfrm>
          <a:off x="4450080" y="2403258"/>
          <a:ext cx="6019800" cy="1341440"/>
        </p:xfrm>
        <a:graphic>
          <a:graphicData uri="http://schemas.openxmlformats.org/drawingml/2006/table">
            <a:tbl>
              <a:tblPr/>
              <a:tblGrid>
                <a:gridCol w="1752600">
                  <a:extLst>
                    <a:ext uri="{9D8B030D-6E8A-4147-A177-3AD203B41FA5}">
                      <a16:colId xmlns:a16="http://schemas.microsoft.com/office/drawing/2014/main" val="20000"/>
                    </a:ext>
                  </a:extLst>
                </a:gridCol>
                <a:gridCol w="2133600">
                  <a:extLst>
                    <a:ext uri="{9D8B030D-6E8A-4147-A177-3AD203B41FA5}">
                      <a16:colId xmlns:a16="http://schemas.microsoft.com/office/drawing/2014/main" val="20001"/>
                    </a:ext>
                  </a:extLst>
                </a:gridCol>
                <a:gridCol w="2133600">
                  <a:extLst>
                    <a:ext uri="{9D8B030D-6E8A-4147-A177-3AD203B41FA5}">
                      <a16:colId xmlns:a16="http://schemas.microsoft.com/office/drawing/2014/main" val="20002"/>
                    </a:ext>
                  </a:extLst>
                </a:gridCol>
              </a:tblGrid>
              <a:tr h="335360">
                <a:tc>
                  <a:txBody>
                    <a:bodyPr/>
                    <a:lstStyle/>
                    <a:p>
                      <a:pPr marL="0" marR="0" lvl="0" indent="0" algn="l" defTabSz="914400" rtl="0" eaLnBrk="1" fontAlgn="base" latinLnBrk="0" hangingPunct="1">
                        <a:lnSpc>
                          <a:spcPct val="100000"/>
                        </a:lnSpc>
                        <a:spcBef>
                          <a:spcPct val="100000"/>
                        </a:spcBef>
                        <a:spcAft>
                          <a:spcPct val="0"/>
                        </a:spcAft>
                        <a:buClrTx/>
                        <a:buSzTx/>
                        <a:buFontTx/>
                        <a:buNone/>
                        <a:tabLst/>
                      </a:pPr>
                      <a:endParaRPr kumimoji="0" lang="en-US" sz="1600" b="1" i="0" u="none" strike="noStrike" cap="none" normalizeH="0" baseline="0" dirty="0">
                        <a:ln>
                          <a:noFill/>
                        </a:ln>
                        <a:solidFill>
                          <a:schemeClr val="tx1"/>
                        </a:solidFill>
                        <a:effectLst/>
                        <a:latin typeface="Times New Roman" pitchFamily="1" charset="0"/>
                      </a:endParaRPr>
                    </a:p>
                  </a:txBody>
                  <a:tcPr marT="45731" marB="45731" anchor="b" horzOverflow="overflow">
                    <a:lnL cap="flat">
                      <a:noFill/>
                    </a:lnL>
                    <a:lnR>
                      <a:noFill/>
                    </a:lnR>
                    <a:lnT cap="flat">
                      <a:noFill/>
                    </a:lnT>
                    <a:lnB>
                      <a:noFill/>
                    </a:lnB>
                    <a:lnTlToBr>
                      <a:noFill/>
                    </a:lnTlToBr>
                    <a:lnBlToTr>
                      <a:noFill/>
                    </a:lnBlToTr>
                    <a:noFill/>
                  </a:tcPr>
                </a:tc>
                <a:tc gridSpan="2">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r>
                        <a:rPr kumimoji="0" lang="en-US" sz="1600" b="1" i="1" u="none" strike="noStrike" cap="none" normalizeH="0" baseline="0">
                          <a:ln>
                            <a:noFill/>
                          </a:ln>
                          <a:solidFill>
                            <a:schemeClr val="tx1"/>
                          </a:solidFill>
                          <a:effectLst/>
                          <a:latin typeface="Times New Roman" pitchFamily="1" charset="0"/>
                        </a:rPr>
                        <a:t>P</a:t>
                      </a:r>
                      <a:r>
                        <a:rPr kumimoji="0" lang="en-US" sz="1600" b="1" i="0" u="none" strike="noStrike" cap="none" normalizeH="0" baseline="0">
                          <a:ln>
                            <a:noFill/>
                          </a:ln>
                          <a:solidFill>
                            <a:schemeClr val="tx1"/>
                          </a:solidFill>
                          <a:effectLst/>
                          <a:latin typeface="Times New Roman" pitchFamily="1" charset="0"/>
                        </a:rPr>
                        <a:t>(finding | state)</a:t>
                      </a:r>
                      <a:endParaRPr kumimoji="0" lang="en-US" sz="1600" b="1" i="1" u="none" strike="noStrike" cap="none" normalizeH="0" baseline="0">
                        <a:ln>
                          <a:noFill/>
                        </a:ln>
                        <a:solidFill>
                          <a:schemeClr val="tx1"/>
                        </a:solidFill>
                        <a:effectLst/>
                        <a:latin typeface="Times New Roman" pitchFamily="1" charset="0"/>
                      </a:endParaRPr>
                    </a:p>
                  </a:txBody>
                  <a:tcPr marT="45731" marB="45731" anchor="b" horzOverflow="overflow">
                    <a:lnL>
                      <a:noFill/>
                    </a:lnL>
                    <a:lnR cap="flat">
                      <a:noFill/>
                    </a:lnR>
                    <a:lnT cap="flat">
                      <a:noFill/>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en-US"/>
                    </a:p>
                  </a:txBody>
                  <a:tcPr/>
                </a:tc>
                <a:extLst>
                  <a:ext uri="{0D108BD9-81ED-4DB2-BD59-A6C34878D82A}">
                    <a16:rowId xmlns:a16="http://schemas.microsoft.com/office/drawing/2014/main" val="10000"/>
                  </a:ext>
                </a:extLst>
              </a:tr>
              <a:tr h="335360">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r>
                        <a:rPr kumimoji="0" lang="en-US" sz="1600" b="1" i="0" u="none" strike="noStrike" cap="none" normalizeH="0" baseline="0">
                          <a:ln>
                            <a:noFill/>
                          </a:ln>
                          <a:solidFill>
                            <a:schemeClr val="tx1"/>
                          </a:solidFill>
                          <a:effectLst/>
                          <a:latin typeface="Times New Roman" pitchFamily="1" charset="0"/>
                        </a:rPr>
                        <a:t>State of Nature</a:t>
                      </a:r>
                    </a:p>
                  </a:txBody>
                  <a:tcPr marT="45731" marB="45731" anchor="b" horzOverflow="overflow">
                    <a:lnL cap="flat">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r>
                        <a:rPr kumimoji="0" lang="en-US" sz="1600" b="1" i="0" u="none" strike="noStrike" cap="none" normalizeH="0" baseline="0">
                          <a:ln>
                            <a:noFill/>
                          </a:ln>
                          <a:solidFill>
                            <a:schemeClr val="tx1"/>
                          </a:solidFill>
                          <a:effectLst/>
                          <a:latin typeface="Times New Roman" pitchFamily="1" charset="0"/>
                        </a:rPr>
                        <a:t>Favorable (FSS)</a:t>
                      </a:r>
                    </a:p>
                  </a:txBody>
                  <a:tcPr marT="45731" marB="45731" anchor="b" horzOverflow="overflow">
                    <a:lnL>
                      <a:noFill/>
                    </a:lnL>
                    <a:lnR>
                      <a:noFill/>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r>
                        <a:rPr kumimoji="0" lang="en-US" sz="1600" b="1" i="0" u="none" strike="noStrike" cap="none" normalizeH="0" baseline="0">
                          <a:ln>
                            <a:noFill/>
                          </a:ln>
                          <a:solidFill>
                            <a:schemeClr val="tx1"/>
                          </a:solidFill>
                          <a:effectLst/>
                          <a:latin typeface="Times New Roman" pitchFamily="1" charset="0"/>
                        </a:rPr>
                        <a:t>Unfavorable (USS)</a:t>
                      </a:r>
                    </a:p>
                  </a:txBody>
                  <a:tcPr marT="45731" marB="45731" anchor="b" horzOverflow="overflow">
                    <a:lnL>
                      <a:noFill/>
                    </a:lnL>
                    <a:lnR cap="flat">
                      <a:noFill/>
                    </a:lnR>
                    <a:lnT w="12700" cap="flat" cmpd="sng" algn="ctr">
                      <a:solidFill>
                        <a:schemeClr val="tx1"/>
                      </a:solidFill>
                      <a:prstDash val="solid"/>
                      <a:round/>
                      <a:headEnd type="none" w="med" len="med"/>
                      <a:tailEnd type="none" w="med" len="med"/>
                    </a:lnT>
                    <a:lnB>
                      <a:noFill/>
                    </a:lnB>
                    <a:lnTlToBr>
                      <a:noFill/>
                    </a:lnTlToBr>
                    <a:lnBlToTr>
                      <a:noFill/>
                    </a:lnBlToTr>
                    <a:noFill/>
                  </a:tcPr>
                </a:tc>
                <a:extLst>
                  <a:ext uri="{0D108BD9-81ED-4DB2-BD59-A6C34878D82A}">
                    <a16:rowId xmlns:a16="http://schemas.microsoft.com/office/drawing/2014/main" val="10001"/>
                  </a:ext>
                </a:extLst>
              </a:tr>
              <a:tr h="335360">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 charset="0"/>
                        </a:rPr>
                        <a:t>Oil</a:t>
                      </a:r>
                    </a:p>
                  </a:txBody>
                  <a:tcPr marT="45731" marB="45731" anchor="ctr" horzOverflow="overflow">
                    <a:lnL cap="flat">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r>
                        <a:rPr kumimoji="0" lang="en-US" sz="1600" b="0" i="1" u="none" strike="noStrike" cap="none" normalizeH="0" baseline="0" dirty="0">
                          <a:ln>
                            <a:noFill/>
                          </a:ln>
                          <a:solidFill>
                            <a:schemeClr val="tx1"/>
                          </a:solidFill>
                          <a:effectLst/>
                          <a:latin typeface="Times New Roman" pitchFamily="1" charset="0"/>
                        </a:rPr>
                        <a:t>P</a:t>
                      </a:r>
                      <a:r>
                        <a:rPr kumimoji="0" lang="en-US" sz="1600" b="0" i="0" u="none" strike="noStrike" cap="none" normalizeH="0" baseline="0" dirty="0">
                          <a:ln>
                            <a:noFill/>
                          </a:ln>
                          <a:solidFill>
                            <a:schemeClr val="tx1"/>
                          </a:solidFill>
                          <a:effectLst/>
                          <a:latin typeface="Times New Roman" pitchFamily="1" charset="0"/>
                        </a:rPr>
                        <a:t>(FSS | Oil) = 0.6</a:t>
                      </a:r>
                      <a:endParaRPr kumimoji="0" lang="en-US" sz="1600" b="0" i="1" u="none" strike="noStrike" cap="none" normalizeH="0" baseline="0" dirty="0">
                        <a:ln>
                          <a:noFill/>
                        </a:ln>
                        <a:solidFill>
                          <a:schemeClr val="tx1"/>
                        </a:solidFill>
                        <a:effectLst/>
                        <a:latin typeface="Times New Roman" pitchFamily="1" charset="0"/>
                      </a:endParaRPr>
                    </a:p>
                  </a:txBody>
                  <a:tcPr marT="45731" marB="45731" anchor="ctr"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r>
                        <a:rPr kumimoji="0" lang="en-US" sz="1600" b="0" i="1" u="none" strike="noStrike" cap="none" normalizeH="0" baseline="0">
                          <a:ln>
                            <a:noFill/>
                          </a:ln>
                          <a:solidFill>
                            <a:schemeClr val="tx1"/>
                          </a:solidFill>
                          <a:effectLst/>
                          <a:latin typeface="Times New Roman" pitchFamily="1" charset="0"/>
                        </a:rPr>
                        <a:t>P</a:t>
                      </a:r>
                      <a:r>
                        <a:rPr kumimoji="0" lang="en-US" sz="1600" b="0" i="0" u="none" strike="noStrike" cap="none" normalizeH="0" baseline="0">
                          <a:ln>
                            <a:noFill/>
                          </a:ln>
                          <a:solidFill>
                            <a:schemeClr val="tx1"/>
                          </a:solidFill>
                          <a:effectLst/>
                          <a:latin typeface="Times New Roman" pitchFamily="1" charset="0"/>
                        </a:rPr>
                        <a:t>(USS | Oil) = 0.4</a:t>
                      </a:r>
                      <a:endParaRPr kumimoji="0" lang="en-US" sz="1600" b="0" i="1" u="none" strike="noStrike" cap="none" normalizeH="0" baseline="0">
                        <a:ln>
                          <a:noFill/>
                        </a:ln>
                        <a:solidFill>
                          <a:schemeClr val="tx1"/>
                        </a:solidFill>
                        <a:effectLst/>
                        <a:latin typeface="Times New Roman" pitchFamily="1" charset="0"/>
                      </a:endParaRPr>
                    </a:p>
                  </a:txBody>
                  <a:tcPr marT="45731" marB="45731" anchor="ctr"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02"/>
                  </a:ext>
                </a:extLst>
              </a:tr>
              <a:tr h="335360">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 charset="0"/>
                        </a:rPr>
                        <a:t>Dry</a:t>
                      </a:r>
                    </a:p>
                  </a:txBody>
                  <a:tcPr marT="45731" marB="45731" anchor="ctr" horzOverflow="overflow">
                    <a:lnL cap="flat">
                      <a:noFill/>
                    </a:lnL>
                    <a:lnR>
                      <a:noFill/>
                    </a:lnR>
                    <a:lnT>
                      <a:noFill/>
                    </a:lnT>
                    <a:lnB cap="flat">
                      <a:noFill/>
                    </a:lnB>
                    <a:lnTlToBr>
                      <a:noFill/>
                    </a:lnTlToBr>
                    <a:lnBlToTr>
                      <a:noFill/>
                    </a:lnBlToTr>
                    <a:noFill/>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r>
                        <a:rPr kumimoji="0" lang="en-US" sz="1600" b="0" i="1" u="none" strike="noStrike" cap="none" normalizeH="0" baseline="0" dirty="0">
                          <a:ln>
                            <a:noFill/>
                          </a:ln>
                          <a:solidFill>
                            <a:schemeClr val="tx1"/>
                          </a:solidFill>
                          <a:effectLst/>
                          <a:latin typeface="Times New Roman" pitchFamily="1" charset="0"/>
                        </a:rPr>
                        <a:t>P</a:t>
                      </a:r>
                      <a:r>
                        <a:rPr kumimoji="0" lang="en-US" sz="1600" b="0" i="0" u="none" strike="noStrike" cap="none" normalizeH="0" baseline="0" dirty="0">
                          <a:ln>
                            <a:noFill/>
                          </a:ln>
                          <a:solidFill>
                            <a:schemeClr val="tx1"/>
                          </a:solidFill>
                          <a:effectLst/>
                          <a:latin typeface="Times New Roman" pitchFamily="1" charset="0"/>
                        </a:rPr>
                        <a:t>(FSS | Dry) = 0.2</a:t>
                      </a:r>
                      <a:endParaRPr kumimoji="0" lang="en-US" sz="1600" b="0" i="1" u="none" strike="noStrike" cap="none" normalizeH="0" baseline="0" dirty="0">
                        <a:ln>
                          <a:noFill/>
                        </a:ln>
                        <a:solidFill>
                          <a:schemeClr val="tx1"/>
                        </a:solidFill>
                        <a:effectLst/>
                        <a:latin typeface="Times New Roman" pitchFamily="1" charset="0"/>
                      </a:endParaRPr>
                    </a:p>
                  </a:txBody>
                  <a:tcPr marT="45731" marB="45731" anchor="ctr" horzOverflow="overflow">
                    <a:lnL>
                      <a:noFill/>
                    </a:lnL>
                    <a:lnR>
                      <a:noFill/>
                    </a:lnR>
                    <a:lnT>
                      <a:noFill/>
                    </a:lnT>
                    <a:lnB cap="flat">
                      <a:noFill/>
                    </a:lnB>
                    <a:lnTlToBr>
                      <a:noFill/>
                    </a:lnTlToBr>
                    <a:lnBlToTr>
                      <a:noFill/>
                    </a:lnBlToTr>
                    <a:noFill/>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r>
                        <a:rPr kumimoji="0" lang="en-US" sz="1600" b="0" i="1" u="none" strike="noStrike" cap="none" normalizeH="0" baseline="0" dirty="0">
                          <a:ln>
                            <a:noFill/>
                          </a:ln>
                          <a:solidFill>
                            <a:schemeClr val="tx1"/>
                          </a:solidFill>
                          <a:effectLst/>
                          <a:latin typeface="Times New Roman" pitchFamily="1" charset="0"/>
                        </a:rPr>
                        <a:t>P</a:t>
                      </a:r>
                      <a:r>
                        <a:rPr kumimoji="0" lang="en-US" sz="1600" b="0" i="0" u="none" strike="noStrike" cap="none" normalizeH="0" baseline="0" dirty="0">
                          <a:ln>
                            <a:noFill/>
                          </a:ln>
                          <a:solidFill>
                            <a:schemeClr val="tx1"/>
                          </a:solidFill>
                          <a:effectLst/>
                          <a:latin typeface="Times New Roman" pitchFamily="1" charset="0"/>
                        </a:rPr>
                        <a:t>(USS | Dry) = 0.8</a:t>
                      </a:r>
                      <a:endParaRPr kumimoji="0" lang="en-US" sz="1600" b="0" i="1" u="none" strike="noStrike" cap="none" normalizeH="0" baseline="0" dirty="0">
                        <a:ln>
                          <a:noFill/>
                        </a:ln>
                        <a:solidFill>
                          <a:schemeClr val="tx1"/>
                        </a:solidFill>
                        <a:effectLst/>
                        <a:latin typeface="Times New Roman" pitchFamily="1" charset="0"/>
                      </a:endParaRPr>
                    </a:p>
                  </a:txBody>
                  <a:tcPr marT="45731" marB="45731" anchor="ctr" horzOverflow="overflow">
                    <a:lnL>
                      <a:noFill/>
                    </a:lnL>
                    <a:lnR cap="flat">
                      <a:noFill/>
                    </a:lnR>
                    <a:lnT>
                      <a:noFill/>
                    </a:lnT>
                    <a:lnB cap="flat">
                      <a:noFill/>
                    </a:lnB>
                    <a:lnTlToBr>
                      <a:noFill/>
                    </a:lnTlToBr>
                    <a:lnBlToTr>
                      <a:noFill/>
                    </a:lnBlToTr>
                    <a:noFill/>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4264498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7" end="7"/>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8" end="8"/>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9" end="9"/>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10" end="10"/>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11" end="11"/>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Value of Information</a:t>
            </a:r>
          </a:p>
        </p:txBody>
      </p:sp>
      <p:sp>
        <p:nvSpPr>
          <p:cNvPr id="3" name="Content Placeholder 2"/>
          <p:cNvSpPr>
            <a:spLocks noGrp="1"/>
          </p:cNvSpPr>
          <p:nvPr>
            <p:ph idx="1"/>
          </p:nvPr>
        </p:nvSpPr>
        <p:spPr>
          <a:xfrm>
            <a:off x="355002" y="1312433"/>
            <a:ext cx="11478410" cy="4864530"/>
          </a:xfrm>
        </p:spPr>
        <p:txBody>
          <a:bodyPr>
            <a:normAutofit lnSpcReduction="10000"/>
          </a:bodyPr>
          <a:lstStyle/>
          <a:p>
            <a:r>
              <a:rPr lang="en-US" b="1" u="sng" dirty="0"/>
              <a:t>Case: The </a:t>
            </a:r>
            <a:r>
              <a:rPr lang="en-US" b="1" u="sng" dirty="0" err="1"/>
              <a:t>Goferbroke</a:t>
            </a:r>
            <a:r>
              <a:rPr lang="en-US" b="1" u="sng" dirty="0"/>
              <a:t> Company Problem</a:t>
            </a:r>
            <a:endParaRPr lang="en-US" dirty="0"/>
          </a:p>
          <a:p>
            <a:pPr lvl="1"/>
            <a:r>
              <a:rPr lang="en-US" dirty="0"/>
              <a:t>Given the joint probabilities of both a particular state of nature and a particular finding, the next step is to use these probabilities to find each probability of just a particular finding, without specifying the state of nature.</a:t>
            </a:r>
          </a:p>
          <a:p>
            <a:pPr lvl="2"/>
            <a:r>
              <a:rPr lang="en-US" i="1" dirty="0"/>
              <a:t>P</a:t>
            </a:r>
            <a:r>
              <a:rPr lang="en-US" dirty="0"/>
              <a:t>(finding) = </a:t>
            </a:r>
            <a:r>
              <a:rPr lang="en-US" i="1" dirty="0"/>
              <a:t>P</a:t>
            </a:r>
            <a:r>
              <a:rPr lang="en-US" dirty="0"/>
              <a:t>(Oil and finding) + </a:t>
            </a:r>
            <a:r>
              <a:rPr lang="en-US" i="1" dirty="0"/>
              <a:t>P</a:t>
            </a:r>
            <a:r>
              <a:rPr lang="en-US" dirty="0"/>
              <a:t>(Dry and finding)</a:t>
            </a:r>
          </a:p>
          <a:p>
            <a:pPr lvl="3"/>
            <a:r>
              <a:rPr lang="en-US" i="1" dirty="0"/>
              <a:t>P</a:t>
            </a:r>
            <a:r>
              <a:rPr lang="en-US" dirty="0"/>
              <a:t>(FSS) = 0.15 + 0.15 = 0.3.</a:t>
            </a:r>
          </a:p>
          <a:p>
            <a:pPr lvl="3"/>
            <a:r>
              <a:rPr lang="en-US" i="1" dirty="0"/>
              <a:t>P</a:t>
            </a:r>
            <a:r>
              <a:rPr lang="en-US" dirty="0"/>
              <a:t>(USS) = 0.1 + 0.6 = 0.7.</a:t>
            </a:r>
          </a:p>
          <a:p>
            <a:pPr lvl="1"/>
            <a:r>
              <a:rPr lang="en-US" dirty="0"/>
              <a:t>The </a:t>
            </a:r>
            <a:r>
              <a:rPr lang="en-US" b="1" i="1" dirty="0">
                <a:solidFill>
                  <a:srgbClr val="C00000"/>
                </a:solidFill>
              </a:rPr>
              <a:t>posterior probabilities</a:t>
            </a:r>
            <a:r>
              <a:rPr lang="en-US" b="1" dirty="0">
                <a:solidFill>
                  <a:srgbClr val="C00000"/>
                </a:solidFill>
              </a:rPr>
              <a:t> </a:t>
            </a:r>
            <a:r>
              <a:rPr lang="en-US" dirty="0"/>
              <a:t>give the probability of a particular state of nature, given a particular finding from the seismic survey.</a:t>
            </a:r>
          </a:p>
          <a:p>
            <a:pPr lvl="2"/>
            <a:r>
              <a:rPr lang="en-US" i="1" dirty="0"/>
              <a:t>P</a:t>
            </a:r>
            <a:r>
              <a:rPr lang="en-US" dirty="0"/>
              <a:t>(state | finding) = </a:t>
            </a:r>
            <a:r>
              <a:rPr lang="en-US" i="1" dirty="0"/>
              <a:t>P</a:t>
            </a:r>
            <a:r>
              <a:rPr lang="en-US" dirty="0"/>
              <a:t>(state and finding) / </a:t>
            </a:r>
            <a:r>
              <a:rPr lang="en-US" i="1" dirty="0"/>
              <a:t>P</a:t>
            </a:r>
            <a:r>
              <a:rPr lang="en-US" dirty="0"/>
              <a:t>(finding)</a:t>
            </a:r>
          </a:p>
          <a:p>
            <a:pPr lvl="3"/>
            <a:r>
              <a:rPr lang="en-US" i="1" dirty="0"/>
              <a:t>P</a:t>
            </a:r>
            <a:r>
              <a:rPr lang="en-US" dirty="0"/>
              <a:t>(Oil | FSS) = 0.15 / 0.3 = 0.5.</a:t>
            </a:r>
          </a:p>
          <a:p>
            <a:pPr lvl="3"/>
            <a:r>
              <a:rPr lang="en-US" i="1" dirty="0"/>
              <a:t>P</a:t>
            </a:r>
            <a:r>
              <a:rPr lang="en-US" dirty="0"/>
              <a:t>(Oil | USS) = 0.1 / 0.7 = 0.14.</a:t>
            </a:r>
          </a:p>
          <a:p>
            <a:pPr lvl="3"/>
            <a:r>
              <a:rPr lang="en-US" i="1" dirty="0"/>
              <a:t>P</a:t>
            </a:r>
            <a:r>
              <a:rPr lang="en-US" dirty="0"/>
              <a:t>(Dry | FSS) = 0.15 / 0.3 = 0.5.</a:t>
            </a:r>
          </a:p>
          <a:p>
            <a:pPr lvl="3"/>
            <a:r>
              <a:rPr lang="en-US" i="1" dirty="0"/>
              <a:t>P</a:t>
            </a:r>
            <a:r>
              <a:rPr lang="en-US" dirty="0"/>
              <a:t>(Dry | USS) = 0.6 / 0.7 = 0.86.</a:t>
            </a:r>
            <a:br>
              <a:rPr lang="en-US" dirty="0"/>
            </a:br>
            <a:r>
              <a:rPr lang="en-US" dirty="0"/>
              <a:t>	</a:t>
            </a:r>
          </a:p>
          <a:p>
            <a:endParaRPr lang="en-US" sz="2400" b="1" dirty="0"/>
          </a:p>
          <a:p>
            <a:pPr lvl="1"/>
            <a:endParaRPr lang="en-US" dirty="0"/>
          </a:p>
          <a:p>
            <a:pPr lvl="1"/>
            <a:endParaRPr lang="en-US" dirty="0"/>
          </a:p>
        </p:txBody>
      </p:sp>
    </p:spTree>
    <p:extLst>
      <p:ext uri="{BB962C8B-B14F-4D97-AF65-F5344CB8AC3E}">
        <p14:creationId xmlns:p14="http://schemas.microsoft.com/office/powerpoint/2010/main" val="1240291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5" end="5"/>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6" end="6"/>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7" end="7"/>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8" end="8"/>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9" end="9"/>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Value of Information</a:t>
            </a:r>
          </a:p>
        </p:txBody>
      </p:sp>
      <p:sp>
        <p:nvSpPr>
          <p:cNvPr id="3" name="Content Placeholder 2"/>
          <p:cNvSpPr>
            <a:spLocks noGrp="1"/>
          </p:cNvSpPr>
          <p:nvPr>
            <p:ph idx="1"/>
          </p:nvPr>
        </p:nvSpPr>
        <p:spPr>
          <a:xfrm>
            <a:off x="355002" y="1312433"/>
            <a:ext cx="11478410" cy="4864530"/>
          </a:xfrm>
        </p:spPr>
        <p:txBody>
          <a:bodyPr/>
          <a:lstStyle/>
          <a:p>
            <a:r>
              <a:rPr lang="en-US" b="1" u="sng" dirty="0"/>
              <a:t>Case: The </a:t>
            </a:r>
            <a:r>
              <a:rPr lang="en-US" b="1" u="sng" dirty="0" err="1"/>
              <a:t>Goferbroke</a:t>
            </a:r>
            <a:r>
              <a:rPr lang="en-US" b="1" u="sng" dirty="0"/>
              <a:t> Company Problem</a:t>
            </a:r>
            <a:endParaRPr lang="en-US" dirty="0"/>
          </a:p>
          <a:p>
            <a:pPr lvl="1"/>
            <a:r>
              <a:rPr lang="en-US" dirty="0"/>
              <a:t>The formula for a posterior probability (</a:t>
            </a:r>
            <a:r>
              <a:rPr lang="en-US" dirty="0" err="1"/>
              <a:t>Baye’s</a:t>
            </a:r>
            <a:r>
              <a:rPr lang="en-US" dirty="0"/>
              <a:t> Theorem)</a:t>
            </a:r>
          </a:p>
          <a:p>
            <a:pPr lvl="1"/>
            <a:endParaRPr lang="en-US" dirty="0"/>
          </a:p>
          <a:p>
            <a:pPr lvl="1"/>
            <a:endParaRPr lang="en-US" dirty="0"/>
          </a:p>
          <a:p>
            <a:pPr lvl="1"/>
            <a:endParaRPr lang="en-US" dirty="0"/>
          </a:p>
          <a:p>
            <a:endParaRPr lang="en-US" dirty="0"/>
          </a:p>
          <a:p>
            <a:pPr marL="457200" lvl="1" indent="0">
              <a:buNone/>
            </a:pPr>
            <a:br>
              <a:rPr lang="en-US" dirty="0"/>
            </a:br>
            <a:r>
              <a:rPr lang="en-US" dirty="0"/>
              <a:t>	</a:t>
            </a:r>
          </a:p>
          <a:p>
            <a:endParaRPr lang="en-US" sz="2400" b="1" dirty="0"/>
          </a:p>
          <a:p>
            <a:pPr lvl="1"/>
            <a:endParaRPr lang="en-US" dirty="0"/>
          </a:p>
          <a:p>
            <a:pPr lvl="1"/>
            <a:endParaRPr lang="en-US" dirty="0"/>
          </a:p>
        </p:txBody>
      </p:sp>
      <p:pic>
        <p:nvPicPr>
          <p:cNvPr id="4" name="Picture 3">
            <a:extLst>
              <a:ext uri="{FF2B5EF4-FFF2-40B4-BE49-F238E27FC236}">
                <a16:creationId xmlns:a16="http://schemas.microsoft.com/office/drawing/2014/main" id="{7840C535-E97D-48A7-9B62-0CA7CBDFDD08}"/>
              </a:ext>
            </a:extLst>
          </p:cNvPr>
          <p:cNvPicPr>
            <a:picLocks noChangeAspect="1"/>
          </p:cNvPicPr>
          <p:nvPr/>
        </p:nvPicPr>
        <p:blipFill>
          <a:blip r:embed="rId3"/>
          <a:stretch>
            <a:fillRect/>
          </a:stretch>
        </p:blipFill>
        <p:spPr>
          <a:xfrm>
            <a:off x="2042160" y="2327001"/>
            <a:ext cx="6050280" cy="720027"/>
          </a:xfrm>
          <a:prstGeom prst="rect">
            <a:avLst/>
          </a:prstGeom>
        </p:spPr>
      </p:pic>
      <p:graphicFrame>
        <p:nvGraphicFramePr>
          <p:cNvPr id="5" name="Group 31">
            <a:extLst>
              <a:ext uri="{FF2B5EF4-FFF2-40B4-BE49-F238E27FC236}">
                <a16:creationId xmlns:a16="http://schemas.microsoft.com/office/drawing/2014/main" id="{5B1C7374-6BE4-4A58-BE30-09B3A06AB2D3}"/>
              </a:ext>
            </a:extLst>
          </p:cNvPr>
          <p:cNvGraphicFramePr>
            <a:graphicFrameLocks noGrp="1"/>
          </p:cNvGraphicFramePr>
          <p:nvPr>
            <p:extLst>
              <p:ext uri="{D42A27DB-BD31-4B8C-83A1-F6EECF244321}">
                <p14:modId xmlns:p14="http://schemas.microsoft.com/office/powerpoint/2010/main" val="1850950114"/>
              </p:ext>
            </p:extLst>
          </p:nvPr>
        </p:nvGraphicFramePr>
        <p:xfrm>
          <a:off x="2199640" y="3429000"/>
          <a:ext cx="6248400" cy="1828800"/>
        </p:xfrm>
        <a:graphic>
          <a:graphicData uri="http://schemas.openxmlformats.org/drawingml/2006/table">
            <a:tbl>
              <a:tblPr/>
              <a:tblGrid>
                <a:gridCol w="1981200">
                  <a:extLst>
                    <a:ext uri="{9D8B030D-6E8A-4147-A177-3AD203B41FA5}">
                      <a16:colId xmlns:a16="http://schemas.microsoft.com/office/drawing/2014/main" val="20000"/>
                    </a:ext>
                  </a:extLst>
                </a:gridCol>
                <a:gridCol w="2133600">
                  <a:extLst>
                    <a:ext uri="{9D8B030D-6E8A-4147-A177-3AD203B41FA5}">
                      <a16:colId xmlns:a16="http://schemas.microsoft.com/office/drawing/2014/main" val="20001"/>
                    </a:ext>
                  </a:extLst>
                </a:gridCol>
                <a:gridCol w="2133600">
                  <a:extLst>
                    <a:ext uri="{9D8B030D-6E8A-4147-A177-3AD203B41FA5}">
                      <a16:colId xmlns:a16="http://schemas.microsoft.com/office/drawing/2014/main" val="20002"/>
                    </a:ext>
                  </a:extLst>
                </a:gridCol>
              </a:tblGrid>
              <a:tr h="457200">
                <a:tc>
                  <a:txBody>
                    <a:bodyPr/>
                    <a:lstStyle/>
                    <a:p>
                      <a:pPr marL="0" marR="0" lvl="0" indent="0" algn="l" defTabSz="914400" rtl="0" eaLnBrk="1" fontAlgn="base" latinLnBrk="0" hangingPunct="1">
                        <a:lnSpc>
                          <a:spcPct val="100000"/>
                        </a:lnSpc>
                        <a:spcBef>
                          <a:spcPct val="100000"/>
                        </a:spcBef>
                        <a:spcAft>
                          <a:spcPct val="0"/>
                        </a:spcAft>
                        <a:buClrTx/>
                        <a:buSzTx/>
                        <a:buFontTx/>
                        <a:buNone/>
                        <a:tabLst/>
                      </a:pPr>
                      <a:endParaRPr kumimoji="0" lang="en-US" sz="1600" b="1" i="0" u="none" strike="noStrike" cap="none" normalizeH="0" baseline="0">
                        <a:ln>
                          <a:noFill/>
                        </a:ln>
                        <a:solidFill>
                          <a:schemeClr val="tx1"/>
                        </a:solidFill>
                        <a:effectLst/>
                        <a:latin typeface="Times New Roman" pitchFamily="1" charset="0"/>
                      </a:endParaRPr>
                    </a:p>
                  </a:txBody>
                  <a:tcPr anchor="b" horzOverflow="overflow">
                    <a:lnL cap="flat">
                      <a:noFill/>
                    </a:lnL>
                    <a:lnR>
                      <a:noFill/>
                    </a:lnR>
                    <a:lnT cap="flat">
                      <a:noFill/>
                    </a:lnT>
                    <a:lnB>
                      <a:noFill/>
                    </a:lnB>
                    <a:lnTlToBr>
                      <a:noFill/>
                    </a:lnTlToBr>
                    <a:lnBlToTr>
                      <a:noFill/>
                    </a:lnBlToTr>
                    <a:noFill/>
                  </a:tcPr>
                </a:tc>
                <a:tc gridSpan="2">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r>
                        <a:rPr kumimoji="0" lang="en-US" sz="1600" b="1" i="1" u="none" strike="noStrike" cap="none" normalizeH="0" baseline="0">
                          <a:ln>
                            <a:noFill/>
                          </a:ln>
                          <a:solidFill>
                            <a:schemeClr val="tx1"/>
                          </a:solidFill>
                          <a:effectLst/>
                          <a:latin typeface="Times New Roman" pitchFamily="1" charset="0"/>
                        </a:rPr>
                        <a:t>P</a:t>
                      </a:r>
                      <a:r>
                        <a:rPr kumimoji="0" lang="en-US" sz="1600" b="1" i="0" u="none" strike="noStrike" cap="none" normalizeH="0" baseline="0">
                          <a:ln>
                            <a:noFill/>
                          </a:ln>
                          <a:solidFill>
                            <a:schemeClr val="tx1"/>
                          </a:solidFill>
                          <a:effectLst/>
                          <a:latin typeface="Times New Roman" pitchFamily="1" charset="0"/>
                        </a:rPr>
                        <a:t>(state | finding)</a:t>
                      </a:r>
                      <a:endParaRPr kumimoji="0" lang="en-US" sz="1600" b="1" i="1" u="none" strike="noStrike" cap="none" normalizeH="0" baseline="0">
                        <a:ln>
                          <a:noFill/>
                        </a:ln>
                        <a:solidFill>
                          <a:schemeClr val="tx1"/>
                        </a:solidFill>
                        <a:effectLst/>
                        <a:latin typeface="Times New Roman" pitchFamily="1" charset="0"/>
                      </a:endParaRPr>
                    </a:p>
                  </a:txBody>
                  <a:tcPr anchor="b" horzOverflow="overflow">
                    <a:lnL>
                      <a:noFill/>
                    </a:lnL>
                    <a:lnR cap="flat">
                      <a:noFill/>
                    </a:lnR>
                    <a:lnT cap="flat">
                      <a:noFill/>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en-US"/>
                    </a:p>
                  </a:txBody>
                  <a:tcPr/>
                </a:tc>
                <a:extLst>
                  <a:ext uri="{0D108BD9-81ED-4DB2-BD59-A6C34878D82A}">
                    <a16:rowId xmlns:a16="http://schemas.microsoft.com/office/drawing/2014/main" val="10000"/>
                  </a:ext>
                </a:extLst>
              </a:tr>
              <a:tr h="457200">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r>
                        <a:rPr kumimoji="0" lang="en-US" sz="1600" b="1" i="0" u="none" strike="noStrike" cap="none" normalizeH="0" baseline="0">
                          <a:ln>
                            <a:noFill/>
                          </a:ln>
                          <a:solidFill>
                            <a:schemeClr val="tx1"/>
                          </a:solidFill>
                          <a:effectLst/>
                          <a:latin typeface="Times New Roman" pitchFamily="1" charset="0"/>
                        </a:rPr>
                        <a:t>Finding</a:t>
                      </a:r>
                    </a:p>
                  </a:txBody>
                  <a:tcPr anchor="b" horzOverflow="overflow">
                    <a:lnL cap="flat">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r>
                        <a:rPr kumimoji="0" lang="en-US" sz="1600" b="1" i="0" u="none" strike="noStrike" cap="none" normalizeH="0" baseline="0">
                          <a:ln>
                            <a:noFill/>
                          </a:ln>
                          <a:solidFill>
                            <a:schemeClr val="tx1"/>
                          </a:solidFill>
                          <a:effectLst/>
                          <a:latin typeface="Times New Roman" pitchFamily="1" charset="0"/>
                        </a:rPr>
                        <a:t>Oil</a:t>
                      </a:r>
                    </a:p>
                  </a:txBody>
                  <a:tcPr anchor="b" horzOverflow="overflow">
                    <a:lnL>
                      <a:noFill/>
                    </a:lnL>
                    <a:lnR>
                      <a:noFill/>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r>
                        <a:rPr kumimoji="0" lang="en-US" sz="1600" b="1" i="0" u="none" strike="noStrike" cap="none" normalizeH="0" baseline="0" dirty="0">
                          <a:ln>
                            <a:noFill/>
                          </a:ln>
                          <a:solidFill>
                            <a:schemeClr val="tx1"/>
                          </a:solidFill>
                          <a:effectLst/>
                          <a:latin typeface="Times New Roman" pitchFamily="1" charset="0"/>
                        </a:rPr>
                        <a:t>Dry</a:t>
                      </a:r>
                    </a:p>
                  </a:txBody>
                  <a:tcPr anchor="b" horzOverflow="overflow">
                    <a:lnL>
                      <a:noFill/>
                    </a:lnL>
                    <a:lnR cap="flat">
                      <a:noFill/>
                    </a:lnR>
                    <a:lnT w="12700" cap="flat" cmpd="sng" algn="ctr">
                      <a:solidFill>
                        <a:schemeClr val="tx1"/>
                      </a:solidFill>
                      <a:prstDash val="solid"/>
                      <a:round/>
                      <a:headEnd type="none" w="med" len="med"/>
                      <a:tailEnd type="none" w="med" len="med"/>
                    </a:lnT>
                    <a:lnB>
                      <a:noFill/>
                    </a:lnB>
                    <a:lnTlToBr>
                      <a:noFill/>
                    </a:lnTlToBr>
                    <a:lnBlToTr>
                      <a:noFill/>
                    </a:lnBlToTr>
                    <a:noFill/>
                  </a:tcPr>
                </a:tc>
                <a:extLst>
                  <a:ext uri="{0D108BD9-81ED-4DB2-BD59-A6C34878D82A}">
                    <a16:rowId xmlns:a16="http://schemas.microsoft.com/office/drawing/2014/main" val="10001"/>
                  </a:ext>
                </a:extLst>
              </a:tr>
              <a:tr h="457200">
                <a:tc>
                  <a:txBody>
                    <a:bodyPr/>
                    <a:lstStyle/>
                    <a:p>
                      <a:pPr marL="0" marR="0" lvl="0" indent="0" algn="l" defTabSz="914400" rtl="0" eaLnBrk="1" fontAlgn="base" latinLnBrk="0" hangingPunct="1">
                        <a:lnSpc>
                          <a:spcPct val="100000"/>
                        </a:lnSpc>
                        <a:spcBef>
                          <a:spcPct val="10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 charset="0"/>
                        </a:rPr>
                        <a:t>Favorable (FSS)</a:t>
                      </a:r>
                    </a:p>
                  </a:txBody>
                  <a:tcPr anchor="ctr" horzOverflow="overflow">
                    <a:lnL cap="flat">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r>
                        <a:rPr kumimoji="0" lang="en-US" sz="1600" b="0" i="1" u="none" strike="noStrike" cap="none" normalizeH="0" baseline="0">
                          <a:ln>
                            <a:noFill/>
                          </a:ln>
                          <a:solidFill>
                            <a:schemeClr val="tx1"/>
                          </a:solidFill>
                          <a:effectLst/>
                          <a:latin typeface="Times New Roman" pitchFamily="1" charset="0"/>
                        </a:rPr>
                        <a:t>P</a:t>
                      </a:r>
                      <a:r>
                        <a:rPr kumimoji="0" lang="en-US" sz="1600" b="0" i="0" u="none" strike="noStrike" cap="none" normalizeH="0" baseline="0">
                          <a:ln>
                            <a:noFill/>
                          </a:ln>
                          <a:solidFill>
                            <a:schemeClr val="tx1"/>
                          </a:solidFill>
                          <a:effectLst/>
                          <a:latin typeface="Times New Roman" pitchFamily="1" charset="0"/>
                        </a:rPr>
                        <a:t>(Oil | FSS) = 1/2</a:t>
                      </a:r>
                      <a:endParaRPr kumimoji="0" lang="en-US" sz="1600" b="0" i="1" u="none" strike="noStrike" cap="none" normalizeH="0" baseline="0">
                        <a:ln>
                          <a:noFill/>
                        </a:ln>
                        <a:solidFill>
                          <a:schemeClr val="tx1"/>
                        </a:solidFill>
                        <a:effectLst/>
                        <a:latin typeface="Times New Roman" pitchFamily="1" charset="0"/>
                      </a:endParaRPr>
                    </a:p>
                  </a:txBody>
                  <a:tcPr anchor="ctr"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r>
                        <a:rPr kumimoji="0" lang="en-US" sz="1600" b="0" i="1" u="none" strike="noStrike" cap="none" normalizeH="0" baseline="0">
                          <a:ln>
                            <a:noFill/>
                          </a:ln>
                          <a:solidFill>
                            <a:schemeClr val="tx1"/>
                          </a:solidFill>
                          <a:effectLst/>
                          <a:latin typeface="Times New Roman" pitchFamily="1" charset="0"/>
                        </a:rPr>
                        <a:t>P</a:t>
                      </a:r>
                      <a:r>
                        <a:rPr kumimoji="0" lang="en-US" sz="1600" b="0" i="0" u="none" strike="noStrike" cap="none" normalizeH="0" baseline="0">
                          <a:ln>
                            <a:noFill/>
                          </a:ln>
                          <a:solidFill>
                            <a:schemeClr val="tx1"/>
                          </a:solidFill>
                          <a:effectLst/>
                          <a:latin typeface="Times New Roman" pitchFamily="1" charset="0"/>
                        </a:rPr>
                        <a:t>(Dry | FSS) = 1/2</a:t>
                      </a:r>
                      <a:endParaRPr kumimoji="0" lang="en-US" sz="1600" b="0" i="1" u="none" strike="noStrike" cap="none" normalizeH="0" baseline="0">
                        <a:ln>
                          <a:noFill/>
                        </a:ln>
                        <a:solidFill>
                          <a:schemeClr val="tx1"/>
                        </a:solidFill>
                        <a:effectLst/>
                        <a:latin typeface="Times New Roman" pitchFamily="1" charset="0"/>
                      </a:endParaRPr>
                    </a:p>
                  </a:txBody>
                  <a:tcPr anchor="ctr"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02"/>
                  </a:ext>
                </a:extLst>
              </a:tr>
              <a:tr h="457200">
                <a:tc>
                  <a:txBody>
                    <a:bodyPr/>
                    <a:lstStyle/>
                    <a:p>
                      <a:pPr marL="0" marR="0" lvl="0" indent="0" algn="l" defTabSz="914400" rtl="0" eaLnBrk="1" fontAlgn="base" latinLnBrk="0" hangingPunct="1">
                        <a:lnSpc>
                          <a:spcPct val="100000"/>
                        </a:lnSpc>
                        <a:spcBef>
                          <a:spcPct val="10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 charset="0"/>
                        </a:rPr>
                        <a:t>Unfavorable (USS)</a:t>
                      </a:r>
                    </a:p>
                  </a:txBody>
                  <a:tcPr anchor="ctr" horzOverflow="overflow">
                    <a:lnL cap="flat">
                      <a:noFill/>
                    </a:lnL>
                    <a:lnR>
                      <a:noFill/>
                    </a:lnR>
                    <a:lnT>
                      <a:noFill/>
                    </a:lnT>
                    <a:lnB cap="flat">
                      <a:noFill/>
                    </a:lnB>
                    <a:lnTlToBr>
                      <a:noFill/>
                    </a:lnTlToBr>
                    <a:lnBlToTr>
                      <a:noFill/>
                    </a:lnBlToTr>
                    <a:noFill/>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r>
                        <a:rPr kumimoji="0" lang="en-US" sz="1600" b="0" i="1" u="none" strike="noStrike" cap="none" normalizeH="0" baseline="0" dirty="0">
                          <a:ln>
                            <a:noFill/>
                          </a:ln>
                          <a:solidFill>
                            <a:schemeClr val="tx1"/>
                          </a:solidFill>
                          <a:effectLst/>
                          <a:latin typeface="Times New Roman" pitchFamily="1" charset="0"/>
                        </a:rPr>
                        <a:t>P</a:t>
                      </a:r>
                      <a:r>
                        <a:rPr kumimoji="0" lang="en-US" sz="1600" b="0" i="0" u="none" strike="noStrike" cap="none" normalizeH="0" baseline="0" dirty="0">
                          <a:ln>
                            <a:noFill/>
                          </a:ln>
                          <a:solidFill>
                            <a:schemeClr val="tx1"/>
                          </a:solidFill>
                          <a:effectLst/>
                          <a:latin typeface="Times New Roman" pitchFamily="1" charset="0"/>
                        </a:rPr>
                        <a:t>(Oil | USS) = 1/7</a:t>
                      </a:r>
                      <a:endParaRPr kumimoji="0" lang="en-US" sz="1600" b="0" i="1" u="none" strike="noStrike" cap="none" normalizeH="0" baseline="0" dirty="0">
                        <a:ln>
                          <a:noFill/>
                        </a:ln>
                        <a:solidFill>
                          <a:schemeClr val="tx1"/>
                        </a:solidFill>
                        <a:effectLst/>
                        <a:latin typeface="Times New Roman" pitchFamily="1" charset="0"/>
                      </a:endParaRPr>
                    </a:p>
                  </a:txBody>
                  <a:tcPr anchor="ctr" horzOverflow="overflow">
                    <a:lnL>
                      <a:noFill/>
                    </a:lnL>
                    <a:lnR>
                      <a:noFill/>
                    </a:lnR>
                    <a:lnT>
                      <a:noFill/>
                    </a:lnT>
                    <a:lnB cap="flat">
                      <a:noFill/>
                    </a:lnB>
                    <a:lnTlToBr>
                      <a:noFill/>
                    </a:lnTlToBr>
                    <a:lnBlToTr>
                      <a:noFill/>
                    </a:lnBlToTr>
                    <a:noFill/>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r>
                        <a:rPr kumimoji="0" lang="en-US" sz="1600" b="0" i="1" u="none" strike="noStrike" cap="none" normalizeH="0" baseline="0" dirty="0">
                          <a:ln>
                            <a:noFill/>
                          </a:ln>
                          <a:solidFill>
                            <a:schemeClr val="tx1"/>
                          </a:solidFill>
                          <a:effectLst/>
                          <a:latin typeface="Times New Roman" pitchFamily="1" charset="0"/>
                        </a:rPr>
                        <a:t>P</a:t>
                      </a:r>
                      <a:r>
                        <a:rPr kumimoji="0" lang="en-US" sz="1600" b="0" i="0" u="none" strike="noStrike" cap="none" normalizeH="0" baseline="0" dirty="0">
                          <a:ln>
                            <a:noFill/>
                          </a:ln>
                          <a:solidFill>
                            <a:schemeClr val="tx1"/>
                          </a:solidFill>
                          <a:effectLst/>
                          <a:latin typeface="Times New Roman" pitchFamily="1" charset="0"/>
                        </a:rPr>
                        <a:t>(Dry | USS) = 6/7</a:t>
                      </a:r>
                      <a:endParaRPr kumimoji="0" lang="en-US" sz="1600" b="0" i="1" u="none" strike="noStrike" cap="none" normalizeH="0" baseline="0" dirty="0">
                        <a:ln>
                          <a:noFill/>
                        </a:ln>
                        <a:solidFill>
                          <a:schemeClr val="tx1"/>
                        </a:solidFill>
                        <a:effectLst/>
                        <a:latin typeface="Times New Roman" pitchFamily="1" charset="0"/>
                      </a:endParaRPr>
                    </a:p>
                  </a:txBody>
                  <a:tcPr anchor="ctr" horzOverflow="overflow">
                    <a:lnL>
                      <a:noFill/>
                    </a:lnL>
                    <a:lnR cap="flat">
                      <a:noFill/>
                    </a:lnR>
                    <a:lnT>
                      <a:noFill/>
                    </a:lnT>
                    <a:lnB cap="flat">
                      <a:noFill/>
                    </a:lnB>
                    <a:lnTlToBr>
                      <a:noFill/>
                    </a:lnTlToBr>
                    <a:lnBlToTr>
                      <a:noFill/>
                    </a:lnBlToTr>
                    <a:noFill/>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371395265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Value of Information</a:t>
            </a:r>
          </a:p>
        </p:txBody>
      </p:sp>
      <p:sp>
        <p:nvSpPr>
          <p:cNvPr id="3" name="Content Placeholder 2"/>
          <p:cNvSpPr>
            <a:spLocks noGrp="1"/>
          </p:cNvSpPr>
          <p:nvPr>
            <p:ph idx="1"/>
          </p:nvPr>
        </p:nvSpPr>
        <p:spPr>
          <a:xfrm>
            <a:off x="355002" y="1312433"/>
            <a:ext cx="11478410" cy="4864530"/>
          </a:xfrm>
        </p:spPr>
        <p:txBody>
          <a:bodyPr/>
          <a:lstStyle/>
          <a:p>
            <a:r>
              <a:rPr lang="en-US" b="1" u="sng" dirty="0"/>
              <a:t>Case: The </a:t>
            </a:r>
            <a:r>
              <a:rPr lang="en-US" b="1" u="sng" dirty="0" err="1"/>
              <a:t>Goferbroke</a:t>
            </a:r>
            <a:r>
              <a:rPr lang="en-US" b="1" u="sng" dirty="0"/>
              <a:t> Company Problem</a:t>
            </a:r>
            <a:endParaRPr lang="en-US" dirty="0"/>
          </a:p>
          <a:p>
            <a:pPr lvl="1"/>
            <a:r>
              <a:rPr lang="en-US" dirty="0"/>
              <a:t>Decision tree with the survey option</a:t>
            </a:r>
          </a:p>
          <a:p>
            <a:pPr lvl="1"/>
            <a:endParaRPr lang="en-US" dirty="0"/>
          </a:p>
          <a:p>
            <a:pPr lvl="1"/>
            <a:endParaRPr lang="en-US" dirty="0"/>
          </a:p>
          <a:p>
            <a:pPr lvl="1"/>
            <a:endParaRPr lang="en-US" dirty="0"/>
          </a:p>
          <a:p>
            <a:endParaRPr lang="en-US" dirty="0"/>
          </a:p>
          <a:p>
            <a:pPr marL="457200" lvl="1" indent="0">
              <a:buNone/>
            </a:pPr>
            <a:br>
              <a:rPr lang="en-US" dirty="0"/>
            </a:br>
            <a:r>
              <a:rPr lang="en-US" dirty="0"/>
              <a:t>	</a:t>
            </a:r>
          </a:p>
          <a:p>
            <a:endParaRPr lang="en-US" sz="2400" b="1" dirty="0"/>
          </a:p>
          <a:p>
            <a:pPr lvl="1"/>
            <a:endParaRPr lang="en-US" dirty="0"/>
          </a:p>
          <a:p>
            <a:pPr lvl="1"/>
            <a:endParaRPr lang="en-US" dirty="0"/>
          </a:p>
        </p:txBody>
      </p:sp>
      <p:pic>
        <p:nvPicPr>
          <p:cNvPr id="7" name="Picture 4">
            <a:extLst>
              <a:ext uri="{FF2B5EF4-FFF2-40B4-BE49-F238E27FC236}">
                <a16:creationId xmlns:a16="http://schemas.microsoft.com/office/drawing/2014/main" id="{DAA59371-0747-4578-8F85-1E40862DA74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00200" y="1676400"/>
            <a:ext cx="6172200" cy="50253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85834436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Value of Information</a:t>
            </a:r>
          </a:p>
        </p:txBody>
      </p:sp>
      <p:sp>
        <p:nvSpPr>
          <p:cNvPr id="3" name="Content Placeholder 2"/>
          <p:cNvSpPr>
            <a:spLocks noGrp="1"/>
          </p:cNvSpPr>
          <p:nvPr>
            <p:ph idx="1"/>
          </p:nvPr>
        </p:nvSpPr>
        <p:spPr>
          <a:xfrm>
            <a:off x="355002" y="1312433"/>
            <a:ext cx="11478410" cy="4864530"/>
          </a:xfrm>
        </p:spPr>
        <p:txBody>
          <a:bodyPr/>
          <a:lstStyle/>
          <a:p>
            <a:r>
              <a:rPr lang="en-US" b="1" u="sng" dirty="0"/>
              <a:t>Case: The </a:t>
            </a:r>
            <a:r>
              <a:rPr lang="en-US" b="1" u="sng" dirty="0" err="1"/>
              <a:t>Goferbroke</a:t>
            </a:r>
            <a:r>
              <a:rPr lang="en-US" b="1" u="sng" dirty="0"/>
              <a:t> Company Problem</a:t>
            </a:r>
            <a:endParaRPr lang="en-US" dirty="0"/>
          </a:p>
          <a:p>
            <a:pPr lvl="1"/>
            <a:r>
              <a:rPr lang="en-US" dirty="0"/>
              <a:t>Decision tree with the survey option</a:t>
            </a:r>
          </a:p>
          <a:p>
            <a:pPr lvl="1"/>
            <a:endParaRPr lang="en-US" dirty="0"/>
          </a:p>
          <a:p>
            <a:pPr lvl="1"/>
            <a:endParaRPr lang="en-US" dirty="0"/>
          </a:p>
          <a:p>
            <a:pPr lvl="1"/>
            <a:endParaRPr lang="en-US" dirty="0"/>
          </a:p>
          <a:p>
            <a:endParaRPr lang="en-US" dirty="0"/>
          </a:p>
          <a:p>
            <a:pPr marL="457200" lvl="1" indent="0">
              <a:buNone/>
            </a:pPr>
            <a:br>
              <a:rPr lang="en-US" dirty="0"/>
            </a:br>
            <a:r>
              <a:rPr lang="en-US" dirty="0"/>
              <a:t>	</a:t>
            </a:r>
          </a:p>
          <a:p>
            <a:endParaRPr lang="en-US" sz="2400" b="1" dirty="0"/>
          </a:p>
          <a:p>
            <a:pPr lvl="1"/>
            <a:endParaRPr lang="en-US" dirty="0"/>
          </a:p>
          <a:p>
            <a:pPr lvl="1"/>
            <a:endParaRPr lang="en-US" dirty="0"/>
          </a:p>
        </p:txBody>
      </p:sp>
      <p:pic>
        <p:nvPicPr>
          <p:cNvPr id="5" name="Picture 4">
            <a:extLst>
              <a:ext uri="{FF2B5EF4-FFF2-40B4-BE49-F238E27FC236}">
                <a16:creationId xmlns:a16="http://schemas.microsoft.com/office/drawing/2014/main" id="{E4BF7F74-E2C8-4CD5-97AF-2E340691C39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74800" y="1764694"/>
            <a:ext cx="6324600" cy="50234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Rectangular Callout 5">
            <a:extLst>
              <a:ext uri="{FF2B5EF4-FFF2-40B4-BE49-F238E27FC236}">
                <a16:creationId xmlns:a16="http://schemas.microsoft.com/office/drawing/2014/main" id="{A6916CF7-D8F6-472B-9724-14A6F81CFF09}"/>
              </a:ext>
            </a:extLst>
          </p:cNvPr>
          <p:cNvSpPr/>
          <p:nvPr/>
        </p:nvSpPr>
        <p:spPr bwMode="auto">
          <a:xfrm>
            <a:off x="4048760" y="2440264"/>
            <a:ext cx="609600" cy="297180"/>
          </a:xfrm>
          <a:prstGeom prst="wedgeRectCallout">
            <a:avLst>
              <a:gd name="adj1" fmla="val 53584"/>
              <a:gd name="adj2" fmla="val 92789"/>
            </a:avLst>
          </a:prstGeom>
          <a:noFill/>
          <a:ln w="28575"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r>
              <a:rPr kumimoji="0" lang="en-US" sz="1800" b="0" i="0" u="none" strike="noStrike" cap="none" normalizeH="0" baseline="0" dirty="0">
                <a:ln>
                  <a:noFill/>
                </a:ln>
                <a:solidFill>
                  <a:schemeClr val="tx1"/>
                </a:solidFill>
                <a:effectLst/>
                <a:latin typeface="Arial" charset="0"/>
                <a:ea typeface="ＭＳ Ｐゴシック" pitchFamily="16" charset="-128"/>
              </a:rPr>
              <a:t>Sell</a:t>
            </a:r>
          </a:p>
        </p:txBody>
      </p:sp>
      <p:sp>
        <p:nvSpPr>
          <p:cNvPr id="8" name="Rectangular Callout 6">
            <a:extLst>
              <a:ext uri="{FF2B5EF4-FFF2-40B4-BE49-F238E27FC236}">
                <a16:creationId xmlns:a16="http://schemas.microsoft.com/office/drawing/2014/main" id="{CC72FC99-B0F0-439E-9CE8-3C8B17FC5348}"/>
              </a:ext>
            </a:extLst>
          </p:cNvPr>
          <p:cNvSpPr/>
          <p:nvPr/>
        </p:nvSpPr>
        <p:spPr bwMode="auto">
          <a:xfrm>
            <a:off x="4127500" y="4011433"/>
            <a:ext cx="609600" cy="297180"/>
          </a:xfrm>
          <a:prstGeom prst="wedgeRectCallout">
            <a:avLst>
              <a:gd name="adj1" fmla="val 53584"/>
              <a:gd name="adj2" fmla="val 92789"/>
            </a:avLst>
          </a:prstGeom>
          <a:noFill/>
          <a:ln w="28575"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r>
              <a:rPr kumimoji="0" lang="en-US" sz="1800" b="0" i="0" u="none" strike="noStrike" cap="none" normalizeH="0" baseline="0" dirty="0">
                <a:ln>
                  <a:noFill/>
                </a:ln>
                <a:solidFill>
                  <a:schemeClr val="tx1"/>
                </a:solidFill>
                <a:effectLst/>
                <a:latin typeface="Arial" charset="0"/>
                <a:ea typeface="ＭＳ Ｐゴシック" pitchFamily="16" charset="-128"/>
              </a:rPr>
              <a:t>Drill</a:t>
            </a:r>
          </a:p>
        </p:txBody>
      </p:sp>
      <p:sp>
        <p:nvSpPr>
          <p:cNvPr id="9" name="Rectangular Callout 7">
            <a:extLst>
              <a:ext uri="{FF2B5EF4-FFF2-40B4-BE49-F238E27FC236}">
                <a16:creationId xmlns:a16="http://schemas.microsoft.com/office/drawing/2014/main" id="{4F0579D1-BCC1-49B1-9215-4B094EA6B32F}"/>
              </a:ext>
            </a:extLst>
          </p:cNvPr>
          <p:cNvSpPr/>
          <p:nvPr/>
        </p:nvSpPr>
        <p:spPr bwMode="auto">
          <a:xfrm>
            <a:off x="4127500" y="5643880"/>
            <a:ext cx="609600" cy="297180"/>
          </a:xfrm>
          <a:prstGeom prst="wedgeRectCallout">
            <a:avLst>
              <a:gd name="adj1" fmla="val 53584"/>
              <a:gd name="adj2" fmla="val 92789"/>
            </a:avLst>
          </a:prstGeom>
          <a:noFill/>
          <a:ln w="28575"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r>
              <a:rPr kumimoji="0" lang="en-US" sz="1800" b="0" i="0" u="none" strike="noStrike" cap="none" normalizeH="0" baseline="0" dirty="0">
                <a:ln>
                  <a:noFill/>
                </a:ln>
                <a:solidFill>
                  <a:schemeClr val="tx1"/>
                </a:solidFill>
                <a:effectLst/>
                <a:latin typeface="Arial" charset="0"/>
                <a:ea typeface="ＭＳ Ｐゴシック" pitchFamily="16" charset="-128"/>
              </a:rPr>
              <a:t>Drill</a:t>
            </a:r>
          </a:p>
        </p:txBody>
      </p:sp>
      <p:sp>
        <p:nvSpPr>
          <p:cNvPr id="10" name="Rectangular Callout 8">
            <a:extLst>
              <a:ext uri="{FF2B5EF4-FFF2-40B4-BE49-F238E27FC236}">
                <a16:creationId xmlns:a16="http://schemas.microsoft.com/office/drawing/2014/main" id="{6893BB55-DB9C-4902-ABA1-88F6B12AD763}"/>
              </a:ext>
            </a:extLst>
          </p:cNvPr>
          <p:cNvSpPr/>
          <p:nvPr/>
        </p:nvSpPr>
        <p:spPr bwMode="auto">
          <a:xfrm>
            <a:off x="689610" y="4935967"/>
            <a:ext cx="1066800" cy="609600"/>
          </a:xfrm>
          <a:prstGeom prst="wedgeRectCallout">
            <a:avLst>
              <a:gd name="adj1" fmla="val 64298"/>
              <a:gd name="adj2" fmla="val -14086"/>
            </a:avLst>
          </a:prstGeom>
          <a:noFill/>
          <a:ln w="28575"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1800" b="0" i="0" u="none" strike="noStrike" cap="none" normalizeH="0" baseline="0" dirty="0">
                <a:ln>
                  <a:noFill/>
                </a:ln>
                <a:solidFill>
                  <a:schemeClr val="tx1"/>
                </a:solidFill>
                <a:effectLst/>
                <a:latin typeface="Arial" charset="0"/>
                <a:ea typeface="ＭＳ Ｐゴシック" pitchFamily="16" charset="-128"/>
              </a:rPr>
              <a:t>Do survey</a:t>
            </a:r>
          </a:p>
        </p:txBody>
      </p:sp>
      <p:sp>
        <p:nvSpPr>
          <p:cNvPr id="4" name="Rectangle 3">
            <a:extLst>
              <a:ext uri="{FF2B5EF4-FFF2-40B4-BE49-F238E27FC236}">
                <a16:creationId xmlns:a16="http://schemas.microsoft.com/office/drawing/2014/main" id="{306C6A76-B1C2-43D5-93C0-71D33FF53202}"/>
              </a:ext>
            </a:extLst>
          </p:cNvPr>
          <p:cNvSpPr/>
          <p:nvPr/>
        </p:nvSpPr>
        <p:spPr>
          <a:xfrm>
            <a:off x="8387080" y="3005861"/>
            <a:ext cx="3677920" cy="2308324"/>
          </a:xfrm>
          <a:prstGeom prst="rect">
            <a:avLst/>
          </a:prstGeom>
        </p:spPr>
        <p:txBody>
          <a:bodyPr wrap="square">
            <a:spAutoFit/>
          </a:bodyPr>
          <a:lstStyle/>
          <a:p>
            <a:r>
              <a:rPr lang="en-US" b="1" u="sng" dirty="0">
                <a:solidFill>
                  <a:srgbClr val="C00000"/>
                </a:solidFill>
              </a:rPr>
              <a:t>Best decision</a:t>
            </a:r>
          </a:p>
          <a:p>
            <a:pPr marL="285750" indent="-285750">
              <a:buFont typeface="Arial" panose="020B0604020202020204" pitchFamily="34" charset="0"/>
              <a:buChar char="•"/>
            </a:pPr>
            <a:r>
              <a:rPr lang="en-US" dirty="0"/>
              <a:t>Do the seismic survey</a:t>
            </a:r>
          </a:p>
          <a:p>
            <a:pPr marL="742950" lvl="1" indent="-285750">
              <a:buFont typeface="Arial" panose="020B0604020202020204" pitchFamily="34" charset="0"/>
              <a:buChar char="•"/>
            </a:pPr>
            <a:r>
              <a:rPr lang="en-US" dirty="0"/>
              <a:t>If the result is unfavorable, sell the land</a:t>
            </a:r>
          </a:p>
          <a:p>
            <a:pPr marL="742950" lvl="1" indent="-285750">
              <a:buFont typeface="Arial" panose="020B0604020202020204" pitchFamily="34" charset="0"/>
              <a:buChar char="•"/>
            </a:pPr>
            <a:r>
              <a:rPr lang="en-US" dirty="0"/>
              <a:t>If the result is favorable, drill for oil</a:t>
            </a:r>
          </a:p>
          <a:p>
            <a:endParaRPr lang="en-US" dirty="0"/>
          </a:p>
          <a:p>
            <a:r>
              <a:rPr lang="en-US" dirty="0"/>
              <a:t>The expected payoff is 123</a:t>
            </a:r>
          </a:p>
        </p:txBody>
      </p:sp>
    </p:spTree>
    <p:extLst>
      <p:ext uri="{BB962C8B-B14F-4D97-AF65-F5344CB8AC3E}">
        <p14:creationId xmlns:p14="http://schemas.microsoft.com/office/powerpoint/2010/main" val="35091744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Outline</a:t>
            </a:r>
          </a:p>
        </p:txBody>
      </p:sp>
      <p:sp>
        <p:nvSpPr>
          <p:cNvPr id="3" name="Content Placeholder 2"/>
          <p:cNvSpPr>
            <a:spLocks noGrp="1"/>
          </p:cNvSpPr>
          <p:nvPr>
            <p:ph idx="1"/>
          </p:nvPr>
        </p:nvSpPr>
        <p:spPr/>
        <p:txBody>
          <a:bodyPr/>
          <a:lstStyle/>
          <a:p>
            <a:r>
              <a:rPr lang="en-US" dirty="0">
                <a:solidFill>
                  <a:schemeClr val="bg2"/>
                </a:solidFill>
              </a:rPr>
              <a:t>Decision Criteria (Chapter 9.1 &amp; 9.2)</a:t>
            </a:r>
          </a:p>
          <a:p>
            <a:r>
              <a:rPr lang="en-US" dirty="0">
                <a:solidFill>
                  <a:schemeClr val="bg2"/>
                </a:solidFill>
              </a:rPr>
              <a:t>Decision Trees and Value of Information (Chapter 9.3-9.7)</a:t>
            </a:r>
          </a:p>
          <a:p>
            <a:r>
              <a:rPr lang="en-US" dirty="0"/>
              <a:t>Utility Theory Review (Chapter 9.8)</a:t>
            </a:r>
          </a:p>
          <a:p>
            <a:r>
              <a:rPr lang="en-US" dirty="0">
                <a:solidFill>
                  <a:schemeClr val="bg2"/>
                </a:solidFill>
              </a:rPr>
              <a:t>Stochastic Optimization Overview (not in the textbook)</a:t>
            </a:r>
          </a:p>
          <a:p>
            <a:r>
              <a:rPr lang="en-US" dirty="0">
                <a:solidFill>
                  <a:schemeClr val="bg2"/>
                </a:solidFill>
              </a:rPr>
              <a:t>Robust Optimization Overview (not in the textbook)</a:t>
            </a:r>
          </a:p>
          <a:p>
            <a:endParaRPr lang="en-US" dirty="0">
              <a:solidFill>
                <a:schemeClr val="bg2"/>
              </a:solidFill>
            </a:endParaRPr>
          </a:p>
          <a:p>
            <a:r>
              <a:rPr lang="en-US" dirty="0">
                <a:solidFill>
                  <a:schemeClr val="bg2"/>
                </a:solidFill>
              </a:rPr>
              <a:t>Probability Basics Review</a:t>
            </a:r>
          </a:p>
          <a:p>
            <a:endParaRPr lang="en-US" dirty="0"/>
          </a:p>
          <a:p>
            <a:pPr lvl="5"/>
            <a:endParaRPr lang="en-US" dirty="0"/>
          </a:p>
          <a:p>
            <a:endParaRPr lang="en-US" dirty="0"/>
          </a:p>
        </p:txBody>
      </p:sp>
    </p:spTree>
    <p:extLst>
      <p:ext uri="{BB962C8B-B14F-4D97-AF65-F5344CB8AC3E}">
        <p14:creationId xmlns:p14="http://schemas.microsoft.com/office/powerpoint/2010/main" val="308261085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Utility Theory</a:t>
            </a:r>
          </a:p>
        </p:txBody>
      </p:sp>
      <p:sp>
        <p:nvSpPr>
          <p:cNvPr id="3" name="Content Placeholder 2"/>
          <p:cNvSpPr>
            <a:spLocks noGrp="1"/>
          </p:cNvSpPr>
          <p:nvPr>
            <p:ph idx="1"/>
          </p:nvPr>
        </p:nvSpPr>
        <p:spPr>
          <a:xfrm>
            <a:off x="355002" y="1312433"/>
            <a:ext cx="11478410" cy="4864530"/>
          </a:xfrm>
        </p:spPr>
        <p:txBody>
          <a:bodyPr>
            <a:normAutofit/>
          </a:bodyPr>
          <a:lstStyle/>
          <a:p>
            <a:r>
              <a:rPr lang="en-US" dirty="0"/>
              <a:t>Thus far, when applying Bayes’ decision rule, we have assumed that the expected payoff in monetary terms is the appropriate measure.</a:t>
            </a:r>
          </a:p>
          <a:p>
            <a:r>
              <a:rPr lang="en-US" dirty="0"/>
              <a:t>In many situations, this is inappropriate.</a:t>
            </a:r>
          </a:p>
          <a:p>
            <a:pPr lvl="1"/>
            <a:r>
              <a:rPr lang="en-US" dirty="0"/>
              <a:t>Accept a 50-50 chance of winning $100,000.</a:t>
            </a:r>
          </a:p>
          <a:p>
            <a:pPr lvl="1"/>
            <a:r>
              <a:rPr lang="en-US" dirty="0"/>
              <a:t>Receive $40,000 with certainty.</a:t>
            </a:r>
          </a:p>
          <a:p>
            <a:pPr lvl="1"/>
            <a:r>
              <a:rPr lang="en-US" dirty="0"/>
              <a:t>Many would pick $40,000, even though the expected payoff on the 50-50 chance of winning $100,000 is $50,000. This is because of risk aversion.</a:t>
            </a:r>
          </a:p>
          <a:p>
            <a:r>
              <a:rPr lang="en-US" dirty="0"/>
              <a:t>A utility function for money is a way of transforming monetary values to an appropriate scale that reflects a decision maker’s preferences (e.g., aversion to risk).</a:t>
            </a:r>
            <a:endParaRPr lang="en-US" sz="2400" b="1" dirty="0"/>
          </a:p>
          <a:p>
            <a:pPr lvl="1"/>
            <a:endParaRPr lang="en-US" dirty="0"/>
          </a:p>
          <a:p>
            <a:pPr lvl="1"/>
            <a:endParaRPr lang="en-US" dirty="0"/>
          </a:p>
        </p:txBody>
      </p:sp>
    </p:spTree>
    <p:extLst>
      <p:ext uri="{BB962C8B-B14F-4D97-AF65-F5344CB8AC3E}">
        <p14:creationId xmlns:p14="http://schemas.microsoft.com/office/powerpoint/2010/main" val="2181681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Utility Theory</a:t>
            </a:r>
          </a:p>
        </p:txBody>
      </p:sp>
      <p:sp>
        <p:nvSpPr>
          <p:cNvPr id="3" name="Content Placeholder 2"/>
          <p:cNvSpPr>
            <a:spLocks noGrp="1"/>
          </p:cNvSpPr>
          <p:nvPr>
            <p:ph idx="1"/>
          </p:nvPr>
        </p:nvSpPr>
        <p:spPr>
          <a:xfrm>
            <a:off x="355002" y="1312433"/>
            <a:ext cx="11478410" cy="4864530"/>
          </a:xfrm>
        </p:spPr>
        <p:txBody>
          <a:bodyPr/>
          <a:lstStyle/>
          <a:p>
            <a:pPr>
              <a:spcBef>
                <a:spcPts val="600"/>
              </a:spcBef>
            </a:pPr>
            <a:r>
              <a:rPr lang="en-US" sz="2400" dirty="0"/>
              <a:t>When a utility function for money is incorporated into a decision analysis approach, it must be constructed to fit the current preferences and values of the decision maker.</a:t>
            </a:r>
          </a:p>
          <a:p>
            <a:pPr>
              <a:spcBef>
                <a:spcPts val="600"/>
              </a:spcBef>
            </a:pPr>
            <a:r>
              <a:rPr lang="en-US" sz="2400" dirty="0"/>
              <a:t>When the decision maker’s utility function for money is used, Bayes’ decision rule replaces monetary payoffs by the corresponding utilities.</a:t>
            </a:r>
          </a:p>
          <a:p>
            <a:pPr>
              <a:spcBef>
                <a:spcPts val="600"/>
              </a:spcBef>
            </a:pPr>
            <a:r>
              <a:rPr lang="en-US" sz="2400" dirty="0"/>
              <a:t>The optimal decision (or series of decisions) is the one that maximizes the expected utility.</a:t>
            </a:r>
          </a:p>
          <a:p>
            <a:pPr lvl="1"/>
            <a:endParaRPr lang="en-US" dirty="0"/>
          </a:p>
          <a:p>
            <a:pPr lvl="1"/>
            <a:endParaRPr lang="en-US" dirty="0"/>
          </a:p>
          <a:p>
            <a:pPr lvl="1"/>
            <a:endParaRPr lang="en-US" dirty="0"/>
          </a:p>
          <a:p>
            <a:endParaRPr lang="en-US" dirty="0"/>
          </a:p>
          <a:p>
            <a:pPr marL="457200" lvl="1" indent="0">
              <a:buNone/>
            </a:pPr>
            <a:br>
              <a:rPr lang="en-US" dirty="0"/>
            </a:br>
            <a:r>
              <a:rPr lang="en-US" dirty="0"/>
              <a:t>	</a:t>
            </a:r>
          </a:p>
          <a:p>
            <a:endParaRPr lang="en-US" sz="2400" b="1" dirty="0"/>
          </a:p>
          <a:p>
            <a:pPr lvl="1"/>
            <a:endParaRPr lang="en-US" dirty="0"/>
          </a:p>
          <a:p>
            <a:pPr lvl="1"/>
            <a:endParaRPr lang="en-US" dirty="0"/>
          </a:p>
        </p:txBody>
      </p:sp>
      <p:pic>
        <p:nvPicPr>
          <p:cNvPr id="4" name="Picture 3">
            <a:extLst>
              <a:ext uri="{FF2B5EF4-FFF2-40B4-BE49-F238E27FC236}">
                <a16:creationId xmlns:a16="http://schemas.microsoft.com/office/drawing/2014/main" id="{B20ED637-C63D-494E-B3EB-9CD8437E73D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31520" y="3820477"/>
            <a:ext cx="7848600" cy="2620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Rectangle 4">
            <a:extLst>
              <a:ext uri="{FF2B5EF4-FFF2-40B4-BE49-F238E27FC236}">
                <a16:creationId xmlns:a16="http://schemas.microsoft.com/office/drawing/2014/main" id="{56ADDBBD-63D7-4365-876F-F1379F86F8FD}"/>
              </a:ext>
            </a:extLst>
          </p:cNvPr>
          <p:cNvSpPr/>
          <p:nvPr/>
        </p:nvSpPr>
        <p:spPr>
          <a:xfrm>
            <a:off x="8189401" y="4509254"/>
            <a:ext cx="3644011" cy="369332"/>
          </a:xfrm>
          <a:prstGeom prst="rect">
            <a:avLst/>
          </a:prstGeom>
        </p:spPr>
        <p:txBody>
          <a:bodyPr wrap="none">
            <a:spAutoFit/>
          </a:bodyPr>
          <a:lstStyle/>
          <a:p>
            <a:pPr lvl="1"/>
            <a:r>
              <a:rPr lang="en-US" dirty="0"/>
              <a:t>U(M): utility function for money</a:t>
            </a:r>
          </a:p>
        </p:txBody>
      </p:sp>
    </p:spTree>
    <p:extLst>
      <p:ext uri="{BB962C8B-B14F-4D97-AF65-F5344CB8AC3E}">
        <p14:creationId xmlns:p14="http://schemas.microsoft.com/office/powerpoint/2010/main" val="12446247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Utility Theory</a:t>
            </a:r>
          </a:p>
        </p:txBody>
      </p:sp>
      <p:sp>
        <p:nvSpPr>
          <p:cNvPr id="3" name="Content Placeholder 2"/>
          <p:cNvSpPr>
            <a:spLocks noGrp="1"/>
          </p:cNvSpPr>
          <p:nvPr>
            <p:ph idx="1"/>
          </p:nvPr>
        </p:nvSpPr>
        <p:spPr>
          <a:xfrm>
            <a:off x="355002" y="1312433"/>
            <a:ext cx="11478410" cy="4864530"/>
          </a:xfrm>
        </p:spPr>
        <p:txBody>
          <a:bodyPr/>
          <a:lstStyle/>
          <a:p>
            <a:r>
              <a:rPr lang="en-US" dirty="0"/>
              <a:t>Fundamental Theory:</a:t>
            </a:r>
          </a:p>
          <a:p>
            <a:pPr lvl="1"/>
            <a:r>
              <a:rPr lang="en-US" dirty="0"/>
              <a:t>Under the assumptions of utility theory, the decision maker’s </a:t>
            </a:r>
            <a:r>
              <a:rPr lang="en-US" i="1" dirty="0"/>
              <a:t>utility function for money</a:t>
            </a:r>
            <a:r>
              <a:rPr lang="en-US" dirty="0"/>
              <a:t> has the property that the decision maker is </a:t>
            </a:r>
            <a:r>
              <a:rPr lang="en-US" i="1" dirty="0"/>
              <a:t>indifferent</a:t>
            </a:r>
            <a:r>
              <a:rPr lang="en-US" dirty="0"/>
              <a:t> between two alternatives if the two alternatives have the </a:t>
            </a:r>
            <a:r>
              <a:rPr lang="en-US" i="1" dirty="0"/>
              <a:t>same expected utility</a:t>
            </a:r>
            <a:r>
              <a:rPr lang="en-US" dirty="0"/>
              <a:t>.</a:t>
            </a:r>
          </a:p>
          <a:p>
            <a:pPr lvl="1"/>
            <a:endParaRPr lang="en-US" dirty="0"/>
          </a:p>
          <a:p>
            <a:pPr lvl="1"/>
            <a:endParaRPr lang="en-US" dirty="0"/>
          </a:p>
          <a:p>
            <a:pPr lvl="1"/>
            <a:endParaRPr lang="en-US" dirty="0"/>
          </a:p>
          <a:p>
            <a:endParaRPr lang="en-US" dirty="0"/>
          </a:p>
          <a:p>
            <a:pPr marL="457200" lvl="1" indent="0">
              <a:buNone/>
            </a:pPr>
            <a:br>
              <a:rPr lang="en-US" dirty="0"/>
            </a:br>
            <a:r>
              <a:rPr lang="en-US" dirty="0"/>
              <a:t>	</a:t>
            </a:r>
          </a:p>
          <a:p>
            <a:endParaRPr lang="en-US" sz="2400" b="1" dirty="0"/>
          </a:p>
          <a:p>
            <a:pPr lvl="1"/>
            <a:endParaRPr lang="en-US" dirty="0"/>
          </a:p>
          <a:p>
            <a:pPr lvl="1"/>
            <a:endParaRPr lang="en-US" dirty="0"/>
          </a:p>
        </p:txBody>
      </p:sp>
      <p:pic>
        <p:nvPicPr>
          <p:cNvPr id="4" name="Picture 5">
            <a:extLst>
              <a:ext uri="{FF2B5EF4-FFF2-40B4-BE49-F238E27FC236}">
                <a16:creationId xmlns:a16="http://schemas.microsoft.com/office/drawing/2014/main" id="{7A3F17A4-18C7-4B68-A040-282B3F3F84FA}"/>
              </a:ext>
            </a:extLst>
          </p:cNvPr>
          <p:cNvPicPr>
            <a:picLocks noChangeAspect="1" noChangeArrowheads="1"/>
          </p:cNvPicPr>
          <p:nvPr/>
        </p:nvPicPr>
        <p:blipFill>
          <a:blip r:embed="rId3" cstate="print"/>
          <a:srcRect/>
          <a:stretch>
            <a:fillRect/>
          </a:stretch>
        </p:blipFill>
        <p:spPr bwMode="auto">
          <a:xfrm>
            <a:off x="852751" y="3346495"/>
            <a:ext cx="5791200" cy="3043422"/>
          </a:xfrm>
          <a:prstGeom prst="rect">
            <a:avLst/>
          </a:prstGeom>
          <a:noFill/>
          <a:ln w="9525">
            <a:noFill/>
            <a:miter lim="800000"/>
            <a:headEnd/>
            <a:tailEnd/>
          </a:ln>
        </p:spPr>
      </p:pic>
      <p:sp>
        <p:nvSpPr>
          <p:cNvPr id="5" name="Text Box 6">
            <a:extLst>
              <a:ext uri="{FF2B5EF4-FFF2-40B4-BE49-F238E27FC236}">
                <a16:creationId xmlns:a16="http://schemas.microsoft.com/office/drawing/2014/main" id="{8CD7A9E1-7229-4282-ABE0-FC61DE09A03B}"/>
              </a:ext>
            </a:extLst>
          </p:cNvPr>
          <p:cNvSpPr txBox="1">
            <a:spLocks noChangeArrowheads="1"/>
          </p:cNvSpPr>
          <p:nvPr/>
        </p:nvSpPr>
        <p:spPr bwMode="auto">
          <a:xfrm>
            <a:off x="7000067" y="3195488"/>
            <a:ext cx="1938005" cy="1015663"/>
          </a:xfrm>
          <a:prstGeom prst="rect">
            <a:avLst/>
          </a:prstGeom>
          <a:noFill/>
          <a:ln w="9525">
            <a:solidFill>
              <a:schemeClr val="accent1"/>
            </a:solidFill>
            <a:miter lim="800000"/>
            <a:headEnd/>
            <a:tailEnd/>
          </a:ln>
        </p:spPr>
        <p:txBody>
          <a:bodyPr wrap="square">
            <a:spAutoFit/>
          </a:bodyPr>
          <a:lstStyle/>
          <a:p>
            <a:r>
              <a:rPr lang="en-US" sz="1200" dirty="0"/>
              <a:t>25% chance of $100,000 =</a:t>
            </a:r>
          </a:p>
          <a:p>
            <a:r>
              <a:rPr lang="en-US" sz="1200" dirty="0"/>
              <a:t>$10,000 for sure</a:t>
            </a:r>
          </a:p>
          <a:p>
            <a:r>
              <a:rPr lang="en-US" sz="1200" dirty="0"/>
              <a:t>Both have E(Utility) = 0.25.</a:t>
            </a:r>
          </a:p>
        </p:txBody>
      </p:sp>
      <p:sp>
        <p:nvSpPr>
          <p:cNvPr id="6" name="Text Box 15">
            <a:extLst>
              <a:ext uri="{FF2B5EF4-FFF2-40B4-BE49-F238E27FC236}">
                <a16:creationId xmlns:a16="http://schemas.microsoft.com/office/drawing/2014/main" id="{E82C394F-19FF-48CD-A326-2229C6BE5197}"/>
              </a:ext>
            </a:extLst>
          </p:cNvPr>
          <p:cNvSpPr txBox="1">
            <a:spLocks noChangeArrowheads="1"/>
          </p:cNvSpPr>
          <p:nvPr/>
        </p:nvSpPr>
        <p:spPr bwMode="auto">
          <a:xfrm>
            <a:off x="8443650" y="4360375"/>
            <a:ext cx="1893085" cy="1015663"/>
          </a:xfrm>
          <a:prstGeom prst="rect">
            <a:avLst/>
          </a:prstGeom>
          <a:noFill/>
          <a:ln w="9525">
            <a:solidFill>
              <a:srgbClr val="FF0000"/>
            </a:solidFill>
            <a:miter lim="800000"/>
            <a:headEnd/>
            <a:tailEnd/>
          </a:ln>
        </p:spPr>
        <p:txBody>
          <a:bodyPr wrap="square">
            <a:spAutoFit/>
          </a:bodyPr>
          <a:lstStyle/>
          <a:p>
            <a:r>
              <a:rPr lang="en-US" sz="1200"/>
              <a:t>50% chance of $100,000 = </a:t>
            </a:r>
          </a:p>
          <a:p>
            <a:r>
              <a:rPr lang="en-US" sz="1200"/>
              <a:t>$30,000 for sure</a:t>
            </a:r>
          </a:p>
          <a:p>
            <a:r>
              <a:rPr lang="en-US" sz="1200"/>
              <a:t>Both have E(Utility) = 0.5.</a:t>
            </a:r>
          </a:p>
        </p:txBody>
      </p:sp>
      <p:sp>
        <p:nvSpPr>
          <p:cNvPr id="7" name="Text Box 16">
            <a:extLst>
              <a:ext uri="{FF2B5EF4-FFF2-40B4-BE49-F238E27FC236}">
                <a16:creationId xmlns:a16="http://schemas.microsoft.com/office/drawing/2014/main" id="{E97D6720-D66E-43E5-9B7B-95C2C976F665}"/>
              </a:ext>
            </a:extLst>
          </p:cNvPr>
          <p:cNvSpPr txBox="1">
            <a:spLocks noChangeArrowheads="1"/>
          </p:cNvSpPr>
          <p:nvPr/>
        </p:nvSpPr>
        <p:spPr bwMode="auto">
          <a:xfrm>
            <a:off x="9448815" y="5545567"/>
            <a:ext cx="1938005" cy="1015663"/>
          </a:xfrm>
          <a:prstGeom prst="rect">
            <a:avLst/>
          </a:prstGeom>
          <a:noFill/>
          <a:ln w="9525">
            <a:solidFill>
              <a:srgbClr val="FFFF00"/>
            </a:solidFill>
            <a:miter lim="800000"/>
            <a:headEnd/>
            <a:tailEnd/>
          </a:ln>
        </p:spPr>
        <p:txBody>
          <a:bodyPr wrap="square">
            <a:spAutoFit/>
          </a:bodyPr>
          <a:lstStyle/>
          <a:p>
            <a:r>
              <a:rPr lang="en-US" sz="1200"/>
              <a:t>75% chance of $100,000 =</a:t>
            </a:r>
          </a:p>
          <a:p>
            <a:r>
              <a:rPr lang="en-US" sz="1200"/>
              <a:t>$60,000 for sure</a:t>
            </a:r>
          </a:p>
          <a:p>
            <a:r>
              <a:rPr lang="en-US" sz="1200"/>
              <a:t>Both have E(Utility) = 0.75.</a:t>
            </a:r>
          </a:p>
        </p:txBody>
      </p:sp>
    </p:spTree>
    <p:extLst>
      <p:ext uri="{BB962C8B-B14F-4D97-AF65-F5344CB8AC3E}">
        <p14:creationId xmlns:p14="http://schemas.microsoft.com/office/powerpoint/2010/main" val="1236862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4"/>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5"/>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6"/>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Utility Theory</a:t>
            </a:r>
          </a:p>
        </p:txBody>
      </p:sp>
      <p:sp>
        <p:nvSpPr>
          <p:cNvPr id="3" name="Content Placeholder 2"/>
          <p:cNvSpPr>
            <a:spLocks noGrp="1"/>
          </p:cNvSpPr>
          <p:nvPr>
            <p:ph idx="1"/>
          </p:nvPr>
        </p:nvSpPr>
        <p:spPr>
          <a:xfrm>
            <a:off x="355002" y="1312433"/>
            <a:ext cx="11478410" cy="4864530"/>
          </a:xfrm>
        </p:spPr>
        <p:txBody>
          <a:bodyPr>
            <a:normAutofit fontScale="92500" lnSpcReduction="10000"/>
          </a:bodyPr>
          <a:lstStyle/>
          <a:p>
            <a:r>
              <a:rPr lang="en-US" dirty="0"/>
              <a:t>Creating a utility function:</a:t>
            </a:r>
          </a:p>
          <a:p>
            <a:pPr lvl="1">
              <a:tabLst>
                <a:tab pos="917575" algn="l"/>
                <a:tab pos="1312863" algn="l"/>
              </a:tabLst>
            </a:pPr>
            <a:r>
              <a:rPr lang="en-US" sz="2000" dirty="0"/>
              <a:t>Determine the largest potential payoff,  </a:t>
            </a:r>
            <a:r>
              <a:rPr lang="en-US" sz="2000" i="1" dirty="0"/>
              <a:t>M</a:t>
            </a:r>
            <a:r>
              <a:rPr lang="en-US" sz="2000" dirty="0"/>
              <a:t>=</a:t>
            </a:r>
            <a:r>
              <a:rPr lang="en-US" sz="2000" i="1" dirty="0"/>
              <a:t>Maximum</a:t>
            </a:r>
            <a:r>
              <a:rPr lang="en-US" sz="2000" dirty="0"/>
              <a:t>.</a:t>
            </a:r>
          </a:p>
          <a:p>
            <a:pPr lvl="2">
              <a:tabLst>
                <a:tab pos="917575" algn="l"/>
                <a:tab pos="1312863" algn="l"/>
              </a:tabLst>
            </a:pPr>
            <a:r>
              <a:rPr lang="en-US" dirty="0"/>
              <a:t>Assign </a:t>
            </a:r>
            <a:r>
              <a:rPr lang="en-US" i="1" dirty="0"/>
              <a:t>U</a:t>
            </a:r>
            <a:r>
              <a:rPr lang="en-US" dirty="0"/>
              <a:t>(</a:t>
            </a:r>
            <a:r>
              <a:rPr lang="en-US" i="1" dirty="0"/>
              <a:t>Maximum</a:t>
            </a:r>
            <a:r>
              <a:rPr lang="en-US" dirty="0"/>
              <a:t>) = 1.</a:t>
            </a:r>
          </a:p>
          <a:p>
            <a:pPr lvl="1">
              <a:tabLst>
                <a:tab pos="917575" algn="l"/>
                <a:tab pos="1312863" algn="l"/>
              </a:tabLst>
            </a:pPr>
            <a:r>
              <a:rPr lang="en-US" sz="2000" dirty="0"/>
              <a:t>Determine the smallest potential payoff, </a:t>
            </a:r>
            <a:r>
              <a:rPr lang="en-US" sz="2000" i="1" dirty="0"/>
              <a:t>M</a:t>
            </a:r>
            <a:r>
              <a:rPr lang="en-US" sz="2000" dirty="0"/>
              <a:t>=</a:t>
            </a:r>
            <a:r>
              <a:rPr lang="en-US" sz="2000" i="1" dirty="0"/>
              <a:t>Minimum</a:t>
            </a:r>
            <a:r>
              <a:rPr lang="en-US" sz="2000" dirty="0"/>
              <a:t>.</a:t>
            </a:r>
          </a:p>
          <a:p>
            <a:pPr lvl="2">
              <a:tabLst>
                <a:tab pos="917575" algn="l"/>
                <a:tab pos="1312863" algn="l"/>
              </a:tabLst>
            </a:pPr>
            <a:r>
              <a:rPr lang="en-US" dirty="0"/>
              <a:t>Assign </a:t>
            </a:r>
            <a:r>
              <a:rPr lang="en-US" i="1" dirty="0"/>
              <a:t>U</a:t>
            </a:r>
            <a:r>
              <a:rPr lang="en-US" dirty="0"/>
              <a:t>(</a:t>
            </a:r>
            <a:r>
              <a:rPr lang="en-US" i="1" dirty="0"/>
              <a:t>Minimum</a:t>
            </a:r>
            <a:r>
              <a:rPr lang="en-US" dirty="0"/>
              <a:t>) = 0.</a:t>
            </a:r>
          </a:p>
          <a:p>
            <a:pPr lvl="1">
              <a:tabLst>
                <a:tab pos="917575" algn="l"/>
                <a:tab pos="1312863" algn="l"/>
              </a:tabLst>
            </a:pPr>
            <a:r>
              <a:rPr lang="en-US" sz="2000" dirty="0"/>
              <a:t>To determine the utility of another potential payoff </a:t>
            </a:r>
            <a:r>
              <a:rPr lang="en-US" sz="2000" i="1" dirty="0"/>
              <a:t>M</a:t>
            </a:r>
            <a:r>
              <a:rPr lang="en-US" sz="2000" dirty="0"/>
              <a:t>, consider the two alternatives:</a:t>
            </a:r>
          </a:p>
          <a:p>
            <a:pPr lvl="2">
              <a:tabLst>
                <a:tab pos="917575" algn="l"/>
                <a:tab pos="1312863" algn="l"/>
              </a:tabLst>
            </a:pPr>
            <a:r>
              <a:rPr lang="en-US" i="1" dirty="0"/>
              <a:t>A</a:t>
            </a:r>
            <a:r>
              <a:rPr lang="en-US" baseline="-25000" dirty="0"/>
              <a:t>1</a:t>
            </a:r>
            <a:r>
              <a:rPr lang="en-US" dirty="0"/>
              <a:t>:	Obtain a payoff of </a:t>
            </a:r>
            <a:r>
              <a:rPr lang="en-US" i="1" dirty="0"/>
              <a:t>Maximum </a:t>
            </a:r>
            <a:r>
              <a:rPr lang="en-US" dirty="0"/>
              <a:t>with probability </a:t>
            </a:r>
            <a:r>
              <a:rPr lang="en-US" i="1" dirty="0"/>
              <a:t>p.</a:t>
            </a:r>
            <a:br>
              <a:rPr lang="en-US" i="1" dirty="0"/>
            </a:br>
            <a:r>
              <a:rPr lang="en-US" i="1" dirty="0"/>
              <a:t>		</a:t>
            </a:r>
            <a:r>
              <a:rPr lang="en-US" dirty="0"/>
              <a:t>Obtain a payoff of </a:t>
            </a:r>
            <a:r>
              <a:rPr lang="en-US" i="1" dirty="0"/>
              <a:t>Minimum</a:t>
            </a:r>
            <a:r>
              <a:rPr lang="en-US" dirty="0"/>
              <a:t> with probability 1–</a:t>
            </a:r>
            <a:r>
              <a:rPr lang="en-US" i="1" dirty="0"/>
              <a:t>p.</a:t>
            </a:r>
          </a:p>
          <a:p>
            <a:pPr lvl="2">
              <a:tabLst>
                <a:tab pos="917575" algn="l"/>
                <a:tab pos="1312863" algn="l"/>
              </a:tabLst>
            </a:pPr>
            <a:r>
              <a:rPr lang="en-US" i="1" dirty="0"/>
              <a:t>A</a:t>
            </a:r>
            <a:r>
              <a:rPr lang="en-US" baseline="-25000" dirty="0"/>
              <a:t>2</a:t>
            </a:r>
            <a:r>
              <a:rPr lang="en-US" dirty="0"/>
              <a:t>:   Definitely obtain a payoff of </a:t>
            </a:r>
            <a:r>
              <a:rPr lang="en-US" i="1" dirty="0"/>
              <a:t>M</a:t>
            </a:r>
            <a:r>
              <a:rPr lang="en-US" dirty="0"/>
              <a:t>. </a:t>
            </a:r>
          </a:p>
          <a:p>
            <a:pPr lvl="1">
              <a:tabLst>
                <a:tab pos="917575" algn="l"/>
                <a:tab pos="1312863" algn="l"/>
              </a:tabLst>
            </a:pPr>
            <a:r>
              <a:rPr lang="en-US" sz="1800" b="1" dirty="0"/>
              <a:t>Question to the decision maker:</a:t>
            </a:r>
            <a:r>
              <a:rPr lang="en-US" sz="1800" dirty="0"/>
              <a:t> What value of </a:t>
            </a:r>
            <a:r>
              <a:rPr lang="en-US" sz="1800" i="1" dirty="0"/>
              <a:t>p</a:t>
            </a:r>
            <a:r>
              <a:rPr lang="en-US" sz="1800" dirty="0"/>
              <a:t> makes you </a:t>
            </a:r>
            <a:r>
              <a:rPr lang="en-US" sz="1800" i="1" dirty="0"/>
              <a:t>indifferent?</a:t>
            </a:r>
            <a:br>
              <a:rPr lang="en-US" sz="1800" dirty="0"/>
            </a:br>
            <a:r>
              <a:rPr lang="en-US" sz="1800" dirty="0"/>
              <a:t>				Then, </a:t>
            </a:r>
            <a:r>
              <a:rPr lang="en-US" sz="1800" b="1" i="1" dirty="0"/>
              <a:t>U(M)</a:t>
            </a:r>
            <a:r>
              <a:rPr lang="en-US" sz="1800" b="1" dirty="0"/>
              <a:t> = </a:t>
            </a:r>
            <a:r>
              <a:rPr lang="en-US" sz="1800" b="1" i="1" dirty="0"/>
              <a:t>p</a:t>
            </a:r>
            <a:r>
              <a:rPr lang="en-US" sz="1800" dirty="0"/>
              <a:t>.</a:t>
            </a:r>
            <a:endParaRPr lang="en-US" dirty="0"/>
          </a:p>
          <a:p>
            <a:pPr lvl="7"/>
            <a:endParaRPr lang="en-US" dirty="0"/>
          </a:p>
          <a:p>
            <a:pPr lvl="1"/>
            <a:r>
              <a:rPr lang="en-US" dirty="0"/>
              <a:t>Various functions:</a:t>
            </a:r>
          </a:p>
          <a:p>
            <a:pPr lvl="2"/>
            <a:r>
              <a:rPr lang="en-US" dirty="0">
                <a:sym typeface="Wingdings" pitchFamily="2" charset="2"/>
              </a:rPr>
              <a:t>Risk Averse: U(t</a:t>
            </a:r>
            <a:r>
              <a:rPr lang="en-US" baseline="-25000" dirty="0">
                <a:sym typeface="Wingdings" pitchFamily="2" charset="2"/>
              </a:rPr>
              <a:t>a</a:t>
            </a:r>
            <a:r>
              <a:rPr lang="en-US" dirty="0">
                <a:sym typeface="Wingdings" pitchFamily="2" charset="2"/>
              </a:rPr>
              <a:t>) = R(1-e</a:t>
            </a:r>
            <a:r>
              <a:rPr lang="en-US" baseline="30000" dirty="0">
                <a:sym typeface="Wingdings" pitchFamily="2" charset="2"/>
              </a:rPr>
              <a:t>-t/R</a:t>
            </a:r>
            <a:r>
              <a:rPr lang="en-US" dirty="0">
                <a:sym typeface="Wingdings" pitchFamily="2" charset="2"/>
              </a:rPr>
              <a:t>)</a:t>
            </a:r>
          </a:p>
          <a:p>
            <a:pPr lvl="2"/>
            <a:r>
              <a:rPr lang="en-US" dirty="0">
                <a:sym typeface="Wingdings" pitchFamily="2" charset="2"/>
              </a:rPr>
              <a:t>Risk Neutral: U(</a:t>
            </a:r>
            <a:r>
              <a:rPr lang="en-US" dirty="0" err="1">
                <a:sym typeface="Wingdings" pitchFamily="2" charset="2"/>
              </a:rPr>
              <a:t>t</a:t>
            </a:r>
            <a:r>
              <a:rPr lang="en-US" baseline="-25000" dirty="0" err="1">
                <a:sym typeface="Wingdings" pitchFamily="2" charset="2"/>
              </a:rPr>
              <a:t>n</a:t>
            </a:r>
            <a:r>
              <a:rPr lang="en-US" dirty="0">
                <a:sym typeface="Wingdings" pitchFamily="2" charset="2"/>
              </a:rPr>
              <a:t>) = at + b</a:t>
            </a:r>
          </a:p>
          <a:p>
            <a:pPr lvl="2"/>
            <a:r>
              <a:rPr lang="en-US" dirty="0">
                <a:sym typeface="Wingdings" pitchFamily="2" charset="2"/>
              </a:rPr>
              <a:t>Risk Seekers: U(</a:t>
            </a:r>
            <a:r>
              <a:rPr lang="en-US" dirty="0" err="1">
                <a:sym typeface="Wingdings" pitchFamily="2" charset="2"/>
              </a:rPr>
              <a:t>t</a:t>
            </a:r>
            <a:r>
              <a:rPr lang="en-US" baseline="-25000" dirty="0" err="1">
                <a:sym typeface="Wingdings" pitchFamily="2" charset="2"/>
              </a:rPr>
              <a:t>s</a:t>
            </a:r>
            <a:r>
              <a:rPr lang="en-US" dirty="0">
                <a:sym typeface="Wingdings" pitchFamily="2" charset="2"/>
              </a:rPr>
              <a:t>) = t</a:t>
            </a:r>
            <a:r>
              <a:rPr lang="en-US" baseline="30000" dirty="0">
                <a:sym typeface="Wingdings" pitchFamily="2" charset="2"/>
              </a:rPr>
              <a:t>2</a:t>
            </a:r>
            <a:r>
              <a:rPr lang="en-US" dirty="0">
                <a:sym typeface="Wingdings" pitchFamily="2" charset="2"/>
              </a:rPr>
              <a:t>/c</a:t>
            </a:r>
            <a:endParaRPr lang="en-US" sz="2400" b="1" dirty="0"/>
          </a:p>
          <a:p>
            <a:pPr lvl="1"/>
            <a:endParaRPr lang="en-US" dirty="0"/>
          </a:p>
          <a:p>
            <a:pPr lvl="1"/>
            <a:endParaRPr lang="en-US" dirty="0"/>
          </a:p>
        </p:txBody>
      </p:sp>
    </p:spTree>
    <p:extLst>
      <p:ext uri="{BB962C8B-B14F-4D97-AF65-F5344CB8AC3E}">
        <p14:creationId xmlns:p14="http://schemas.microsoft.com/office/powerpoint/2010/main" val="35199919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7" end="7"/>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10" end="10"/>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3">
                                            <p:txEl>
                                              <p:pRg st="11" end="11"/>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3">
                                            <p:txEl>
                                              <p:pRg st="12" end="12"/>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3">
                                            <p:txEl>
                                              <p:pRg st="13" end="1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Outline</a:t>
            </a:r>
          </a:p>
        </p:txBody>
      </p:sp>
      <p:sp>
        <p:nvSpPr>
          <p:cNvPr id="3" name="Content Placeholder 2"/>
          <p:cNvSpPr>
            <a:spLocks noGrp="1"/>
          </p:cNvSpPr>
          <p:nvPr>
            <p:ph idx="1"/>
          </p:nvPr>
        </p:nvSpPr>
        <p:spPr/>
        <p:txBody>
          <a:bodyPr/>
          <a:lstStyle/>
          <a:p>
            <a:r>
              <a:rPr lang="en-US" dirty="0">
                <a:solidFill>
                  <a:schemeClr val="bg2"/>
                </a:solidFill>
              </a:rPr>
              <a:t>Decision Criteria (Chapter 9.1 &amp; 9.2)</a:t>
            </a:r>
          </a:p>
          <a:p>
            <a:r>
              <a:rPr lang="en-US" dirty="0">
                <a:solidFill>
                  <a:schemeClr val="bg2"/>
                </a:solidFill>
              </a:rPr>
              <a:t>Decision Trees and Value of Information (Chapter 9.3-9.7)</a:t>
            </a:r>
          </a:p>
          <a:p>
            <a:r>
              <a:rPr lang="en-US" dirty="0">
                <a:solidFill>
                  <a:schemeClr val="bg2"/>
                </a:solidFill>
              </a:rPr>
              <a:t>Utility Theory Review (Chapter 9.8)</a:t>
            </a:r>
          </a:p>
          <a:p>
            <a:r>
              <a:rPr lang="en-US" dirty="0"/>
              <a:t>Stochastic Optimization Overview (not in the textbook)</a:t>
            </a:r>
          </a:p>
          <a:p>
            <a:r>
              <a:rPr lang="en-US" dirty="0">
                <a:solidFill>
                  <a:schemeClr val="bg2"/>
                </a:solidFill>
              </a:rPr>
              <a:t>Robust Optimization Overview (not in the textbook)</a:t>
            </a:r>
          </a:p>
          <a:p>
            <a:endParaRPr lang="en-US" dirty="0">
              <a:solidFill>
                <a:schemeClr val="bg2"/>
              </a:solidFill>
            </a:endParaRPr>
          </a:p>
          <a:p>
            <a:r>
              <a:rPr lang="en-US" dirty="0">
                <a:solidFill>
                  <a:schemeClr val="bg2"/>
                </a:solidFill>
              </a:rPr>
              <a:t>Probability Basics Review</a:t>
            </a:r>
          </a:p>
          <a:p>
            <a:endParaRPr lang="en-US" dirty="0"/>
          </a:p>
          <a:p>
            <a:pPr lvl="5"/>
            <a:endParaRPr lang="en-US" dirty="0"/>
          </a:p>
          <a:p>
            <a:endParaRPr lang="en-US" dirty="0"/>
          </a:p>
        </p:txBody>
      </p:sp>
    </p:spTree>
    <p:extLst>
      <p:ext uri="{BB962C8B-B14F-4D97-AF65-F5344CB8AC3E}">
        <p14:creationId xmlns:p14="http://schemas.microsoft.com/office/powerpoint/2010/main" val="147171982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Stochastic Optimization</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355002" y="1312433"/>
                <a:ext cx="11478410" cy="4864530"/>
              </a:xfrm>
            </p:spPr>
            <p:txBody>
              <a:bodyPr>
                <a:normAutofit fontScale="92500" lnSpcReduction="10000"/>
              </a:bodyPr>
              <a:lstStyle/>
              <a:p>
                <a:r>
                  <a:rPr lang="en-US" dirty="0"/>
                  <a:t>There can be uncertainty in problem parameters</a:t>
                </a:r>
              </a:p>
              <a:p>
                <a:r>
                  <a:rPr lang="en-US" dirty="0"/>
                  <a:t>When this uncertainty is known to some degree, i.e., it is stochastic, the corresponding optimization model can be formulated as a stochastic optimization problem</a:t>
                </a:r>
              </a:p>
              <a:p>
                <a:r>
                  <a:rPr lang="en-US" dirty="0"/>
                  <a:t>Let’s say problem parameters are </a:t>
                </a:r>
                <a14:m>
                  <m:oMath xmlns:m="http://schemas.openxmlformats.org/officeDocument/2006/math">
                    <m:r>
                      <a:rPr lang="en-US" i="1" smtClean="0">
                        <a:latin typeface="Cambria Math" panose="02040503050406030204" pitchFamily="18" charset="0"/>
                        <a:ea typeface="Cambria Math" panose="02040503050406030204" pitchFamily="18" charset="0"/>
                      </a:rPr>
                      <m:t>𝜀</m:t>
                    </m:r>
                  </m:oMath>
                </a14:m>
                <a:r>
                  <a:rPr lang="en-US" dirty="0"/>
                  <a:t> and it is random</a:t>
                </a:r>
              </a:p>
              <a:p>
                <a:pPr>
                  <a:spcAft>
                    <a:spcPts val="1800"/>
                  </a:spcAft>
                </a:pPr>
                <a:r>
                  <a:rPr lang="en-US" dirty="0"/>
                  <a:t>A generic stochastic optimization problem</a:t>
                </a:r>
              </a:p>
              <a:p>
                <a:pPr marL="0" indent="0">
                  <a:buNone/>
                </a:pPr>
                <a14:m>
                  <m:oMathPara xmlns:m="http://schemas.openxmlformats.org/officeDocument/2006/math">
                    <m:oMathParaPr>
                      <m:jc m:val="centerGroup"/>
                    </m:oMathParaPr>
                    <m:oMath xmlns:m="http://schemas.openxmlformats.org/officeDocument/2006/math">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min</m:t>
                          </m:r>
                          <m:r>
                            <a:rPr lang="en-US" b="0" i="0" smtClean="0">
                              <a:latin typeface="Cambria Math" panose="02040503050406030204" pitchFamily="18" charset="0"/>
                            </a:rPr>
                            <m:t>   </m:t>
                          </m:r>
                        </m:fName>
                        <m:e>
                          <m:r>
                            <a:rPr lang="en-US" b="0" i="1" smtClean="0">
                              <a:latin typeface="Cambria Math" panose="02040503050406030204" pitchFamily="18" charset="0"/>
                            </a:rPr>
                            <m:t>𝑓</m:t>
                          </m:r>
                          <m:d>
                            <m:dPr>
                              <m:ctrlPr>
                                <a:rPr lang="en-US" b="0" i="1" smtClean="0">
                                  <a:latin typeface="Cambria Math" panose="02040503050406030204" pitchFamily="18" charset="0"/>
                                </a:rPr>
                              </m:ctrlPr>
                            </m:dPr>
                            <m:e>
                              <m:r>
                                <a:rPr lang="en-US" b="0" i="1" smtClean="0">
                                  <a:latin typeface="Cambria Math" panose="02040503050406030204" pitchFamily="18" charset="0"/>
                                </a:rPr>
                                <m:t>𝑥</m:t>
                              </m:r>
                              <m:r>
                                <a:rPr lang="en-US" b="0" i="1" smtClean="0">
                                  <a:latin typeface="Cambria Math" panose="02040503050406030204" pitchFamily="18" charset="0"/>
                                </a:rPr>
                                <m:t>,</m:t>
                              </m:r>
                              <m:r>
                                <a:rPr lang="en-US" b="0" i="1" smtClean="0">
                                  <a:latin typeface="Cambria Math" panose="02040503050406030204" pitchFamily="18" charset="0"/>
                                </a:rPr>
                                <m:t>𝜀</m:t>
                              </m:r>
                            </m:e>
                          </m:d>
                          <m:r>
                            <a:rPr lang="en-US" b="0" i="1" smtClean="0">
                              <a:latin typeface="Cambria Math" panose="02040503050406030204" pitchFamily="18" charset="0"/>
                            </a:rPr>
                            <m:t>  </m:t>
                          </m:r>
                          <m:r>
                            <a:rPr lang="en-US" b="0" i="1" smtClean="0">
                              <a:latin typeface="Cambria Math" panose="02040503050406030204" pitchFamily="18" charset="0"/>
                            </a:rPr>
                            <m:t>𝑠</m:t>
                          </m:r>
                          <m:r>
                            <a:rPr lang="en-US" b="0" i="1" smtClean="0">
                              <a:latin typeface="Cambria Math" panose="02040503050406030204" pitchFamily="18" charset="0"/>
                            </a:rPr>
                            <m:t>.</m:t>
                          </m:r>
                          <m:r>
                            <a:rPr lang="en-US" b="0" i="1" smtClean="0">
                              <a:latin typeface="Cambria Math" panose="02040503050406030204" pitchFamily="18" charset="0"/>
                            </a:rPr>
                            <m:t>𝑡</m:t>
                          </m:r>
                          <m:r>
                            <a:rPr lang="en-US" b="0" i="1" smtClean="0">
                              <a:latin typeface="Cambria Math" panose="02040503050406030204" pitchFamily="18" charset="0"/>
                            </a:rPr>
                            <m:t>.  </m:t>
                          </m:r>
                          <m:r>
                            <a:rPr lang="en-US" b="0" i="1" smtClean="0">
                              <a:latin typeface="Cambria Math" panose="02040503050406030204" pitchFamily="18" charset="0"/>
                            </a:rPr>
                            <m:t>𝑥</m:t>
                          </m:r>
                          <m:r>
                            <a:rPr lang="en-US" b="0" i="1" smtClean="0">
                              <a:latin typeface="Cambria Math" panose="02040503050406030204" pitchFamily="18" charset="0"/>
                            </a:rPr>
                            <m:t>∈</m:t>
                          </m:r>
                          <m:r>
                            <a:rPr lang="en-US" b="0" i="1" smtClean="0">
                              <a:latin typeface="Cambria Math" panose="02040503050406030204" pitchFamily="18" charset="0"/>
                            </a:rPr>
                            <m:t>𝑋</m:t>
                          </m:r>
                        </m:e>
                      </m:func>
                    </m:oMath>
                  </m:oMathPara>
                </a14:m>
                <a:endParaRPr lang="en-US" dirty="0"/>
              </a:p>
              <a:p>
                <a:pPr lvl="8"/>
                <a:endParaRPr lang="en-US" b="0" i="1" dirty="0">
                  <a:latin typeface="Cambria Math" panose="02040503050406030204" pitchFamily="18" charset="0"/>
                </a:endParaRPr>
              </a:p>
              <a:p>
                <a:pPr lvl="1"/>
                <a14:m>
                  <m:oMath xmlns:m="http://schemas.openxmlformats.org/officeDocument/2006/math">
                    <m:r>
                      <a:rPr lang="en-US" b="0" i="1" smtClean="0">
                        <a:latin typeface="Cambria Math" panose="02040503050406030204" pitchFamily="18" charset="0"/>
                      </a:rPr>
                      <m:t>𝑥</m:t>
                    </m:r>
                  </m:oMath>
                </a14:m>
                <a:r>
                  <a:rPr lang="en-US" dirty="0"/>
                  <a:t> is the vector of decision variables</a:t>
                </a:r>
              </a:p>
              <a:p>
                <a:pPr lvl="1"/>
                <a14:m>
                  <m:oMath xmlns:m="http://schemas.openxmlformats.org/officeDocument/2006/math">
                    <m:r>
                      <a:rPr lang="en-US" b="0" i="1" smtClean="0">
                        <a:latin typeface="Cambria Math" panose="02040503050406030204" pitchFamily="18" charset="0"/>
                      </a:rPr>
                      <m:t>𝜀</m:t>
                    </m:r>
                  </m:oMath>
                </a14:m>
                <a:r>
                  <a:rPr lang="en-US" dirty="0"/>
                  <a:t> is the random problem parameters</a:t>
                </a:r>
              </a:p>
              <a:p>
                <a:pPr lvl="1"/>
                <a:r>
                  <a:rPr lang="en-US" dirty="0"/>
                  <a:t>We might also have random parameters in the constraints</a:t>
                </a:r>
              </a:p>
              <a:p>
                <a:pPr lvl="2"/>
                <a14:m>
                  <m:oMath xmlns:m="http://schemas.openxmlformats.org/officeDocument/2006/math">
                    <m:r>
                      <a:rPr lang="en-US" b="0" i="1" smtClean="0">
                        <a:latin typeface="Cambria Math" panose="02040503050406030204" pitchFamily="18" charset="0"/>
                      </a:rPr>
                      <m:t>𝑥</m:t>
                    </m:r>
                    <m:r>
                      <a:rPr lang="en-US" b="0" i="1" smtClean="0">
                        <a:latin typeface="Cambria Math" panose="02040503050406030204" pitchFamily="18" charset="0"/>
                      </a:rPr>
                      <m:t>∈</m:t>
                    </m:r>
                    <m:r>
                      <a:rPr lang="en-US" b="0" i="1" smtClean="0">
                        <a:latin typeface="Cambria Math" panose="02040503050406030204" pitchFamily="18" charset="0"/>
                      </a:rPr>
                      <m:t>𝑋</m:t>
                    </m:r>
                    <m:r>
                      <a:rPr lang="en-US" b="0" i="1" smtClean="0">
                        <a:latin typeface="Cambria Math" panose="02040503050406030204" pitchFamily="18" charset="0"/>
                      </a:rPr>
                      <m:t>(</m:t>
                    </m:r>
                    <m:r>
                      <a:rPr lang="en-US" b="0" i="1" smtClean="0">
                        <a:latin typeface="Cambria Math" panose="02040503050406030204" pitchFamily="18" charset="0"/>
                      </a:rPr>
                      <m:t>𝜀</m:t>
                    </m:r>
                    <m:r>
                      <a:rPr lang="en-US" b="0" i="1" smtClean="0">
                        <a:latin typeface="Cambria Math" panose="02040503050406030204" pitchFamily="18" charset="0"/>
                      </a:rPr>
                      <m:t>)</m:t>
                    </m:r>
                  </m:oMath>
                </a14:m>
                <a:endParaRPr lang="en-US" sz="2400" b="1" dirty="0"/>
              </a:p>
              <a:p>
                <a:pPr lvl="1"/>
                <a:endParaRPr lang="en-US" dirty="0"/>
              </a:p>
              <a:p>
                <a:pPr lvl="1"/>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355002" y="1312433"/>
                <a:ext cx="11478410" cy="4864530"/>
              </a:xfrm>
              <a:blipFill>
                <a:blip r:embed="rId3"/>
                <a:stretch>
                  <a:fillRect l="-797" t="-2506" r="-266"/>
                </a:stretch>
              </a:blipFill>
            </p:spPr>
            <p:txBody>
              <a:bodyPr/>
              <a:lstStyle/>
              <a:p>
                <a:r>
                  <a:rPr lang="en-US">
                    <a:noFill/>
                  </a:rPr>
                  <a:t> </a:t>
                </a:r>
              </a:p>
            </p:txBody>
          </p:sp>
        </mc:Fallback>
      </mc:AlternateContent>
    </p:spTree>
    <p:extLst>
      <p:ext uri="{BB962C8B-B14F-4D97-AF65-F5344CB8AC3E}">
        <p14:creationId xmlns:p14="http://schemas.microsoft.com/office/powerpoint/2010/main" val="7649683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7" end="7"/>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
                                            <p:txEl>
                                              <p:pRg st="8" end="8"/>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Stochastic Optimization</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355002" y="1312433"/>
                <a:ext cx="11478410" cy="4864530"/>
              </a:xfrm>
            </p:spPr>
            <p:txBody>
              <a:bodyPr>
                <a:normAutofit/>
              </a:bodyPr>
              <a:lstStyle/>
              <a:p>
                <a:r>
                  <a:rPr lang="en-US" b="1" u="sng" dirty="0"/>
                  <a:t>Example: Newsvendor Problem</a:t>
                </a:r>
              </a:p>
              <a:p>
                <a:pPr lvl="1"/>
                <a:r>
                  <a:rPr lang="en-US" dirty="0"/>
                  <a:t>A company needs to decide on order quantity </a:t>
                </a:r>
                <a14:m>
                  <m:oMath xmlns:m="http://schemas.openxmlformats.org/officeDocument/2006/math">
                    <m:r>
                      <a:rPr lang="en-US" b="0" i="1" smtClean="0">
                        <a:latin typeface="Cambria Math" panose="02040503050406030204" pitchFamily="18" charset="0"/>
                      </a:rPr>
                      <m:t>𝑄</m:t>
                    </m:r>
                  </m:oMath>
                </a14:m>
                <a:r>
                  <a:rPr lang="en-US" dirty="0"/>
                  <a:t> (a single decision variable) for a product that will be sold in a single-period (a season)</a:t>
                </a:r>
              </a:p>
              <a:p>
                <a:pPr lvl="2"/>
                <a:r>
                  <a:rPr lang="en-US" dirty="0"/>
                  <a:t>Each unit is purchased for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𝑐</m:t>
                    </m:r>
                  </m:oMath>
                </a14:m>
                <a:r>
                  <a:rPr lang="en-US" dirty="0"/>
                  <a:t> and Each unit will be sold for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𝑝</m:t>
                    </m:r>
                  </m:oMath>
                </a14:m>
                <a:endParaRPr lang="en-US" dirty="0"/>
              </a:p>
              <a:p>
                <a:pPr lvl="2"/>
                <a:r>
                  <a:rPr lang="en-US" dirty="0"/>
                  <a:t>The selling price is more than the purchase cost, i.e., </a:t>
                </a:r>
                <a14:m>
                  <m:oMath xmlns:m="http://schemas.openxmlformats.org/officeDocument/2006/math">
                    <m:r>
                      <a:rPr lang="en-US" b="0" i="1" smtClean="0">
                        <a:latin typeface="Cambria Math" panose="02040503050406030204" pitchFamily="18" charset="0"/>
                      </a:rPr>
                      <m:t>𝑝</m:t>
                    </m:r>
                    <m:r>
                      <a:rPr lang="en-US" b="0" i="1" smtClean="0">
                        <a:latin typeface="Cambria Math" panose="02040503050406030204" pitchFamily="18" charset="0"/>
                      </a:rPr>
                      <m:t>&gt;</m:t>
                    </m:r>
                    <m:r>
                      <a:rPr lang="en-US" b="0" i="1" smtClean="0">
                        <a:latin typeface="Cambria Math" panose="02040503050406030204" pitchFamily="18" charset="0"/>
                      </a:rPr>
                      <m:t>𝑐</m:t>
                    </m:r>
                  </m:oMath>
                </a14:m>
                <a:endParaRPr lang="en-US" dirty="0"/>
              </a:p>
              <a:p>
                <a:pPr lvl="1"/>
                <a:r>
                  <a:rPr lang="en-US" dirty="0"/>
                  <a:t>The demand, </a:t>
                </a:r>
                <a14:m>
                  <m:oMath xmlns:m="http://schemas.openxmlformats.org/officeDocument/2006/math">
                    <m:r>
                      <a:rPr lang="en-US" b="0" i="1" smtClean="0">
                        <a:latin typeface="Cambria Math" panose="02040503050406030204" pitchFamily="18" charset="0"/>
                      </a:rPr>
                      <m:t>𝑥</m:t>
                    </m:r>
                  </m:oMath>
                </a14:m>
                <a:r>
                  <a:rPr lang="en-US" dirty="0"/>
                  <a:t>, is a random variable with pdf </a:t>
                </a:r>
                <a14:m>
                  <m:oMath xmlns:m="http://schemas.openxmlformats.org/officeDocument/2006/math">
                    <m:r>
                      <a:rPr lang="en-US" b="0" i="1" smtClean="0">
                        <a:latin typeface="Cambria Math" panose="02040503050406030204" pitchFamily="18" charset="0"/>
                      </a:rPr>
                      <m:t>𝑓</m:t>
                    </m:r>
                    <m:r>
                      <a:rPr lang="en-US" b="0" i="1" smtClean="0">
                        <a:latin typeface="Cambria Math" panose="02040503050406030204" pitchFamily="18" charset="0"/>
                      </a:rPr>
                      <m:t>(</m:t>
                    </m:r>
                    <m:r>
                      <a:rPr lang="en-US" b="0" i="1" smtClean="0">
                        <a:latin typeface="Cambria Math" panose="02040503050406030204" pitchFamily="18" charset="0"/>
                      </a:rPr>
                      <m:t>𝑥</m:t>
                    </m:r>
                    <m:r>
                      <a:rPr lang="en-US" b="0" i="1" smtClean="0">
                        <a:latin typeface="Cambria Math" panose="02040503050406030204" pitchFamily="18" charset="0"/>
                      </a:rPr>
                      <m:t>)</m:t>
                    </m:r>
                  </m:oMath>
                </a14:m>
                <a:r>
                  <a:rPr lang="en-US" dirty="0"/>
                  <a:t> and </a:t>
                </a:r>
                <a:r>
                  <a:rPr lang="en-US" dirty="0" err="1"/>
                  <a:t>cdf</a:t>
                </a:r>
                <a:r>
                  <a:rPr lang="en-US" dirty="0"/>
                  <a:t> </a:t>
                </a:r>
                <a14:m>
                  <m:oMath xmlns:m="http://schemas.openxmlformats.org/officeDocument/2006/math">
                    <m:r>
                      <a:rPr lang="en-US" b="0" i="1" smtClean="0">
                        <a:latin typeface="Cambria Math" panose="02040503050406030204" pitchFamily="18" charset="0"/>
                      </a:rPr>
                      <m:t>𝐹</m:t>
                    </m:r>
                    <m:r>
                      <a:rPr lang="en-US" b="0" i="1" smtClean="0">
                        <a:latin typeface="Cambria Math" panose="02040503050406030204" pitchFamily="18" charset="0"/>
                      </a:rPr>
                      <m:t>(</m:t>
                    </m:r>
                    <m:r>
                      <a:rPr lang="en-US" b="0" i="1" smtClean="0">
                        <a:latin typeface="Cambria Math" panose="02040503050406030204" pitchFamily="18" charset="0"/>
                      </a:rPr>
                      <m:t>𝑥</m:t>
                    </m:r>
                    <m:r>
                      <a:rPr lang="en-US" b="0" i="1" smtClean="0">
                        <a:latin typeface="Cambria Math" panose="02040503050406030204" pitchFamily="18" charset="0"/>
                      </a:rPr>
                      <m:t>)</m:t>
                    </m:r>
                  </m:oMath>
                </a14:m>
                <a:endParaRPr lang="en-US" dirty="0"/>
              </a:p>
              <a:p>
                <a:pPr lvl="1"/>
                <a:r>
                  <a:rPr lang="en-US" dirty="0"/>
                  <a:t>If order quantity is more than the demand </a:t>
                </a:r>
                <a14:m>
                  <m:oMath xmlns:m="http://schemas.openxmlformats.org/officeDocument/2006/math">
                    <m:r>
                      <a:rPr lang="en-US" b="0" i="1" smtClean="0">
                        <a:latin typeface="Cambria Math" panose="02040503050406030204" pitchFamily="18" charset="0"/>
                      </a:rPr>
                      <m:t>𝑥</m:t>
                    </m:r>
                  </m:oMath>
                </a14:m>
                <a:r>
                  <a:rPr lang="en-US" dirty="0"/>
                  <a:t>, the remaining items will be salvaged</a:t>
                </a:r>
              </a:p>
              <a:p>
                <a:pPr lvl="2"/>
                <a:r>
                  <a:rPr lang="en-US" dirty="0"/>
                  <a:t>Each unit is salvaged at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𝑠</m:t>
                    </m:r>
                  </m:oMath>
                </a14:m>
                <a:endParaRPr lang="en-US" dirty="0"/>
              </a:p>
              <a:p>
                <a:pPr lvl="2"/>
                <a:r>
                  <a:rPr lang="en-US" dirty="0"/>
                  <a:t>The salvage value is typically less than the purchase cost, i.e., </a:t>
                </a:r>
                <a14:m>
                  <m:oMath xmlns:m="http://schemas.openxmlformats.org/officeDocument/2006/math">
                    <m:r>
                      <a:rPr lang="en-US" b="0" i="1" smtClean="0">
                        <a:latin typeface="Cambria Math" panose="02040503050406030204" pitchFamily="18" charset="0"/>
                      </a:rPr>
                      <m:t>𝑐</m:t>
                    </m:r>
                    <m:r>
                      <a:rPr lang="en-US" b="0" i="1" smtClean="0">
                        <a:latin typeface="Cambria Math" panose="02040503050406030204" pitchFamily="18" charset="0"/>
                      </a:rPr>
                      <m:t>&gt;</m:t>
                    </m:r>
                    <m:r>
                      <a:rPr lang="en-US" b="0" i="1" smtClean="0">
                        <a:latin typeface="Cambria Math" panose="02040503050406030204" pitchFamily="18" charset="0"/>
                      </a:rPr>
                      <m:t>𝑠</m:t>
                    </m:r>
                  </m:oMath>
                </a14:m>
                <a:endParaRPr lang="en-US" dirty="0"/>
              </a:p>
              <a:p>
                <a:pPr lvl="1"/>
                <a:r>
                  <a:rPr lang="en-US" dirty="0">
                    <a:solidFill>
                      <a:srgbClr val="C00000"/>
                    </a:solidFill>
                  </a:rPr>
                  <a:t>Determine </a:t>
                </a:r>
                <a14:m>
                  <m:oMath xmlns:m="http://schemas.openxmlformats.org/officeDocument/2006/math">
                    <m:r>
                      <a:rPr lang="en-US" b="0" i="1" smtClean="0">
                        <a:solidFill>
                          <a:srgbClr val="C00000"/>
                        </a:solidFill>
                        <a:latin typeface="Cambria Math" panose="02040503050406030204" pitchFamily="18" charset="0"/>
                      </a:rPr>
                      <m:t>𝑄</m:t>
                    </m:r>
                  </m:oMath>
                </a14:m>
                <a:r>
                  <a:rPr lang="en-US" dirty="0">
                    <a:solidFill>
                      <a:srgbClr val="C00000"/>
                    </a:solidFill>
                  </a:rPr>
                  <a:t> to maximize profit</a:t>
                </a:r>
                <a:br>
                  <a:rPr lang="en-US" dirty="0"/>
                </a:br>
                <a:r>
                  <a:rPr lang="en-US" dirty="0"/>
                  <a:t>	</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355002" y="1312433"/>
                <a:ext cx="11478410" cy="4864530"/>
              </a:xfrm>
              <a:blipFill>
                <a:blip r:embed="rId3"/>
                <a:stretch>
                  <a:fillRect l="-956" t="-2005"/>
                </a:stretch>
              </a:blipFill>
            </p:spPr>
            <p:txBody>
              <a:bodyPr/>
              <a:lstStyle/>
              <a:p>
                <a:r>
                  <a:rPr lang="en-US">
                    <a:noFill/>
                  </a:rPr>
                  <a:t> </a:t>
                </a:r>
              </a:p>
            </p:txBody>
          </p:sp>
        </mc:Fallback>
      </mc:AlternateContent>
    </p:spTree>
    <p:extLst>
      <p:ext uri="{BB962C8B-B14F-4D97-AF65-F5344CB8AC3E}">
        <p14:creationId xmlns:p14="http://schemas.microsoft.com/office/powerpoint/2010/main" val="7290865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Stochastic Optimization</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355002" y="1312433"/>
                <a:ext cx="11478410" cy="4864530"/>
              </a:xfrm>
            </p:spPr>
            <p:txBody>
              <a:bodyPr>
                <a:normAutofit/>
              </a:bodyPr>
              <a:lstStyle/>
              <a:p>
                <a:r>
                  <a:rPr lang="en-US" b="1" u="sng" dirty="0"/>
                  <a:t>Example: Newsvendor Problem</a:t>
                </a:r>
              </a:p>
              <a:p>
                <a:pPr lvl="1"/>
                <a:r>
                  <a:rPr lang="en-US" dirty="0"/>
                  <a:t>Profit will depend on </a:t>
                </a:r>
                <a14:m>
                  <m:oMath xmlns:m="http://schemas.openxmlformats.org/officeDocument/2006/math">
                    <m:r>
                      <a:rPr lang="en-US" b="0" i="1" smtClean="0">
                        <a:latin typeface="Cambria Math" panose="02040503050406030204" pitchFamily="18" charset="0"/>
                      </a:rPr>
                      <m:t>𝑄</m:t>
                    </m:r>
                  </m:oMath>
                </a14:m>
                <a:r>
                  <a:rPr lang="en-US" dirty="0"/>
                  <a:t> as well as the demand realization </a:t>
                </a:r>
                <a14:m>
                  <m:oMath xmlns:m="http://schemas.openxmlformats.org/officeDocument/2006/math">
                    <m:r>
                      <a:rPr lang="en-US" b="0" i="1" smtClean="0">
                        <a:latin typeface="Cambria Math" panose="02040503050406030204" pitchFamily="18" charset="0"/>
                      </a:rPr>
                      <m:t>𝑥</m:t>
                    </m:r>
                  </m:oMath>
                </a14:m>
                <a:r>
                  <a:rPr lang="en-US" dirty="0"/>
                  <a:t>, </a:t>
                </a:r>
                <a14:m>
                  <m:oMath xmlns:m="http://schemas.openxmlformats.org/officeDocument/2006/math">
                    <m:r>
                      <m:rPr>
                        <m:sty m:val="p"/>
                      </m:rPr>
                      <a:rPr lang="en-US" b="0" i="0" smtClean="0">
                        <a:latin typeface="Cambria Math" panose="02040503050406030204" pitchFamily="18" charset="0"/>
                      </a:rPr>
                      <m:t>P</m:t>
                    </m:r>
                    <m:r>
                      <a:rPr lang="en-US" b="0" i="1" smtClean="0">
                        <a:latin typeface="Cambria Math" panose="02040503050406030204" pitchFamily="18" charset="0"/>
                      </a:rPr>
                      <m:t>(</m:t>
                    </m:r>
                    <m:r>
                      <a:rPr lang="en-US" b="0" i="1" smtClean="0">
                        <a:latin typeface="Cambria Math" panose="02040503050406030204" pitchFamily="18" charset="0"/>
                      </a:rPr>
                      <m:t>𝑄</m:t>
                    </m:r>
                    <m:r>
                      <a:rPr lang="en-US" b="0" i="1" smtClean="0">
                        <a:latin typeface="Cambria Math" panose="02040503050406030204" pitchFamily="18" charset="0"/>
                      </a:rPr>
                      <m:t>,</m:t>
                    </m:r>
                    <m:r>
                      <a:rPr lang="en-US" b="0" i="1" smtClean="0">
                        <a:latin typeface="Cambria Math" panose="02040503050406030204" pitchFamily="18" charset="0"/>
                      </a:rPr>
                      <m:t>𝑥</m:t>
                    </m:r>
                    <m:r>
                      <a:rPr lang="en-US" b="0" i="1" smtClean="0">
                        <a:latin typeface="Cambria Math" panose="02040503050406030204" pitchFamily="18" charset="0"/>
                      </a:rPr>
                      <m:t>)</m:t>
                    </m:r>
                  </m:oMath>
                </a14:m>
                <a:endParaRPr lang="en-US" dirty="0"/>
              </a:p>
              <a:p>
                <a:pPr lvl="1"/>
                <a:r>
                  <a:rPr lang="en-US" dirty="0">
                    <a:sym typeface="Wingdings" panose="05000000000000000000" pitchFamily="2" charset="2"/>
                  </a:rPr>
                  <a:t>Simply</a:t>
                </a:r>
              </a:p>
              <a:p>
                <a:pPr lvl="2"/>
                <a:r>
                  <a:rPr lang="en-US" dirty="0">
                    <a:sym typeface="Wingdings" panose="05000000000000000000" pitchFamily="2" charset="2"/>
                  </a:rPr>
                  <a:t>Let </a:t>
                </a:r>
                <a14:m>
                  <m:oMath xmlns:m="http://schemas.openxmlformats.org/officeDocument/2006/math">
                    <m:sSub>
                      <m:sSubPr>
                        <m:ctrlPr>
                          <a:rPr lang="en-US" i="1">
                            <a:latin typeface="Cambria Math" panose="02040503050406030204" pitchFamily="18" charset="0"/>
                            <a:sym typeface="Wingdings" panose="05000000000000000000" pitchFamily="2" charset="2"/>
                          </a:rPr>
                        </m:ctrlPr>
                      </m:sSubPr>
                      <m:e>
                        <m:r>
                          <a:rPr lang="en-US" i="1">
                            <a:latin typeface="Cambria Math" panose="02040503050406030204" pitchFamily="18" charset="0"/>
                            <a:sym typeface="Wingdings" panose="05000000000000000000" pitchFamily="2" charset="2"/>
                          </a:rPr>
                          <m:t>𝐶</m:t>
                        </m:r>
                      </m:e>
                      <m:sub>
                        <m:r>
                          <a:rPr lang="en-US" i="1">
                            <a:latin typeface="Cambria Math" panose="02040503050406030204" pitchFamily="18" charset="0"/>
                            <a:sym typeface="Wingdings" panose="05000000000000000000" pitchFamily="2" charset="2"/>
                          </a:rPr>
                          <m:t>𝑂</m:t>
                        </m:r>
                      </m:sub>
                    </m:sSub>
                    <m:r>
                      <a:rPr lang="en-US" i="1">
                        <a:latin typeface="Cambria Math" panose="02040503050406030204" pitchFamily="18" charset="0"/>
                        <a:sym typeface="Wingdings" panose="05000000000000000000" pitchFamily="2" charset="2"/>
                      </a:rPr>
                      <m:t>=</m:t>
                    </m:r>
                    <m:r>
                      <a:rPr lang="en-US" i="1">
                        <a:latin typeface="Cambria Math" panose="02040503050406030204" pitchFamily="18" charset="0"/>
                        <a:sym typeface="Wingdings" panose="05000000000000000000" pitchFamily="2" charset="2"/>
                      </a:rPr>
                      <m:t>𝑐</m:t>
                    </m:r>
                    <m:r>
                      <a:rPr lang="en-US" i="1">
                        <a:latin typeface="Cambria Math" panose="02040503050406030204" pitchFamily="18" charset="0"/>
                        <a:sym typeface="Wingdings" panose="05000000000000000000" pitchFamily="2" charset="2"/>
                      </a:rPr>
                      <m:t>−</m:t>
                    </m:r>
                    <m:r>
                      <a:rPr lang="en-US" i="1">
                        <a:latin typeface="Cambria Math" panose="02040503050406030204" pitchFamily="18" charset="0"/>
                        <a:sym typeface="Wingdings" panose="05000000000000000000" pitchFamily="2" charset="2"/>
                      </a:rPr>
                      <m:t>𝑠</m:t>
                    </m:r>
                  </m:oMath>
                </a14:m>
                <a:r>
                  <a:rPr lang="en-US" dirty="0">
                    <a:sym typeface="Wingdings" panose="05000000000000000000" pitchFamily="2" charset="2"/>
                  </a:rPr>
                  <a:t>  This is unit overstocking cost </a:t>
                </a:r>
              </a:p>
              <a:p>
                <a:pPr lvl="2"/>
                <a:r>
                  <a:rPr lang="en-US" dirty="0">
                    <a:sym typeface="Wingdings" panose="05000000000000000000" pitchFamily="2" charset="2"/>
                  </a:rPr>
                  <a:t>Let </a:t>
                </a:r>
                <a14:m>
                  <m:oMath xmlns:m="http://schemas.openxmlformats.org/officeDocument/2006/math">
                    <m:sSub>
                      <m:sSubPr>
                        <m:ctrlPr>
                          <a:rPr lang="en-US" i="1">
                            <a:latin typeface="Cambria Math" panose="02040503050406030204" pitchFamily="18" charset="0"/>
                            <a:sym typeface="Wingdings" panose="05000000000000000000" pitchFamily="2" charset="2"/>
                          </a:rPr>
                        </m:ctrlPr>
                      </m:sSubPr>
                      <m:e>
                        <m:r>
                          <a:rPr lang="en-US" i="1">
                            <a:latin typeface="Cambria Math" panose="02040503050406030204" pitchFamily="18" charset="0"/>
                            <a:sym typeface="Wingdings" panose="05000000000000000000" pitchFamily="2" charset="2"/>
                          </a:rPr>
                          <m:t>𝐶</m:t>
                        </m:r>
                      </m:e>
                      <m:sub>
                        <m:r>
                          <a:rPr lang="en-US" i="1">
                            <a:latin typeface="Cambria Math" panose="02040503050406030204" pitchFamily="18" charset="0"/>
                            <a:sym typeface="Wingdings" panose="05000000000000000000" pitchFamily="2" charset="2"/>
                          </a:rPr>
                          <m:t>𝑈</m:t>
                        </m:r>
                      </m:sub>
                    </m:sSub>
                    <m:r>
                      <a:rPr lang="en-US" i="1">
                        <a:latin typeface="Cambria Math" panose="02040503050406030204" pitchFamily="18" charset="0"/>
                        <a:sym typeface="Wingdings" panose="05000000000000000000" pitchFamily="2" charset="2"/>
                      </a:rPr>
                      <m:t>=</m:t>
                    </m:r>
                    <m:r>
                      <a:rPr lang="en-US" i="1">
                        <a:latin typeface="Cambria Math" panose="02040503050406030204" pitchFamily="18" charset="0"/>
                        <a:sym typeface="Wingdings" panose="05000000000000000000" pitchFamily="2" charset="2"/>
                      </a:rPr>
                      <m:t>𝑝</m:t>
                    </m:r>
                    <m:r>
                      <a:rPr lang="en-US" i="1">
                        <a:latin typeface="Cambria Math" panose="02040503050406030204" pitchFamily="18" charset="0"/>
                        <a:sym typeface="Wingdings" panose="05000000000000000000" pitchFamily="2" charset="2"/>
                      </a:rPr>
                      <m:t>−</m:t>
                    </m:r>
                    <m:r>
                      <a:rPr lang="en-US" i="1">
                        <a:latin typeface="Cambria Math" panose="02040503050406030204" pitchFamily="18" charset="0"/>
                        <a:sym typeface="Wingdings" panose="05000000000000000000" pitchFamily="2" charset="2"/>
                      </a:rPr>
                      <m:t>𝑐</m:t>
                    </m:r>
                  </m:oMath>
                </a14:m>
                <a:r>
                  <a:rPr lang="en-US" dirty="0">
                    <a:sym typeface="Wingdings" panose="05000000000000000000" pitchFamily="2" charset="2"/>
                  </a:rPr>
                  <a:t>  This is unit understocking cost</a:t>
                </a:r>
              </a:p>
              <a:p>
                <a:pPr lvl="1"/>
                <a:r>
                  <a:rPr lang="en-US" dirty="0"/>
                  <a:t>When the order size is less than or equal to demand, we will sell everything</a:t>
                </a:r>
              </a:p>
              <a:p>
                <a:pPr lvl="2"/>
                <a14:m>
                  <m:oMath xmlns:m="http://schemas.openxmlformats.org/officeDocument/2006/math">
                    <m:r>
                      <a:rPr lang="en-US" b="0" i="1" smtClean="0">
                        <a:solidFill>
                          <a:srgbClr val="C00000"/>
                        </a:solidFill>
                        <a:latin typeface="Cambria Math" panose="02040503050406030204" pitchFamily="18" charset="0"/>
                      </a:rPr>
                      <m:t>𝑃</m:t>
                    </m:r>
                    <m:d>
                      <m:dPr>
                        <m:ctrlPr>
                          <a:rPr lang="en-US" b="0" i="1" smtClean="0">
                            <a:solidFill>
                              <a:srgbClr val="C00000"/>
                            </a:solidFill>
                            <a:latin typeface="Cambria Math" panose="02040503050406030204" pitchFamily="18" charset="0"/>
                          </a:rPr>
                        </m:ctrlPr>
                      </m:dPr>
                      <m:e>
                        <m:r>
                          <a:rPr lang="en-US" b="0" i="1" smtClean="0">
                            <a:solidFill>
                              <a:srgbClr val="C00000"/>
                            </a:solidFill>
                            <a:latin typeface="Cambria Math" panose="02040503050406030204" pitchFamily="18" charset="0"/>
                          </a:rPr>
                          <m:t>𝑄</m:t>
                        </m:r>
                        <m:r>
                          <a:rPr lang="en-US" b="0" i="1" smtClean="0">
                            <a:solidFill>
                              <a:srgbClr val="C00000"/>
                            </a:solidFill>
                            <a:latin typeface="Cambria Math" panose="02040503050406030204" pitchFamily="18" charset="0"/>
                          </a:rPr>
                          <m:t>,</m:t>
                        </m:r>
                        <m:r>
                          <a:rPr lang="en-US" b="0" i="1" smtClean="0">
                            <a:solidFill>
                              <a:srgbClr val="C00000"/>
                            </a:solidFill>
                            <a:latin typeface="Cambria Math" panose="02040503050406030204" pitchFamily="18" charset="0"/>
                          </a:rPr>
                          <m:t>𝑥</m:t>
                        </m:r>
                      </m:e>
                    </m:d>
                    <m:r>
                      <a:rPr lang="en-US" b="0" i="1" smtClean="0">
                        <a:solidFill>
                          <a:srgbClr val="C00000"/>
                        </a:solidFill>
                        <a:latin typeface="Cambria Math" panose="02040503050406030204" pitchFamily="18" charset="0"/>
                      </a:rPr>
                      <m:t>=</m:t>
                    </m:r>
                    <m:sSub>
                      <m:sSubPr>
                        <m:ctrlPr>
                          <a:rPr lang="en-US" b="0" i="1" smtClean="0">
                            <a:solidFill>
                              <a:srgbClr val="C00000"/>
                            </a:solidFill>
                            <a:latin typeface="Cambria Math" panose="02040503050406030204" pitchFamily="18" charset="0"/>
                          </a:rPr>
                        </m:ctrlPr>
                      </m:sSubPr>
                      <m:e>
                        <m:d>
                          <m:dPr>
                            <m:ctrlPr>
                              <a:rPr lang="en-US" i="1">
                                <a:solidFill>
                                  <a:srgbClr val="C00000"/>
                                </a:solidFill>
                                <a:latin typeface="Cambria Math" panose="02040503050406030204" pitchFamily="18" charset="0"/>
                              </a:rPr>
                            </m:ctrlPr>
                          </m:dPr>
                          <m:e>
                            <m:r>
                              <a:rPr lang="en-US" i="1">
                                <a:solidFill>
                                  <a:srgbClr val="C00000"/>
                                </a:solidFill>
                                <a:latin typeface="Cambria Math" panose="02040503050406030204" pitchFamily="18" charset="0"/>
                              </a:rPr>
                              <m:t>𝑝</m:t>
                            </m:r>
                            <m:r>
                              <a:rPr lang="en-US" i="1">
                                <a:solidFill>
                                  <a:srgbClr val="C00000"/>
                                </a:solidFill>
                                <a:latin typeface="Cambria Math" panose="02040503050406030204" pitchFamily="18" charset="0"/>
                              </a:rPr>
                              <m:t>−</m:t>
                            </m:r>
                            <m:r>
                              <a:rPr lang="en-US" i="1">
                                <a:solidFill>
                                  <a:srgbClr val="C00000"/>
                                </a:solidFill>
                                <a:latin typeface="Cambria Math" panose="02040503050406030204" pitchFamily="18" charset="0"/>
                              </a:rPr>
                              <m:t>𝑐</m:t>
                            </m:r>
                          </m:e>
                        </m:d>
                        <m:r>
                          <a:rPr lang="en-US" b="0" i="1" smtClean="0">
                            <a:solidFill>
                              <a:srgbClr val="C00000"/>
                            </a:solidFill>
                            <a:latin typeface="Cambria Math" panose="02040503050406030204" pitchFamily="18" charset="0"/>
                          </a:rPr>
                          <m:t>𝑄</m:t>
                        </m:r>
                        <m:r>
                          <a:rPr lang="en-US" b="0" i="1" smtClean="0">
                            <a:solidFill>
                              <a:srgbClr val="C00000"/>
                            </a:solidFill>
                            <a:latin typeface="Cambria Math" panose="02040503050406030204" pitchFamily="18" charset="0"/>
                          </a:rPr>
                          <m:t>=</m:t>
                        </m:r>
                        <m:r>
                          <a:rPr lang="en-US" b="0" i="1" smtClean="0">
                            <a:solidFill>
                              <a:srgbClr val="C00000"/>
                            </a:solidFill>
                            <a:latin typeface="Cambria Math" panose="02040503050406030204" pitchFamily="18" charset="0"/>
                          </a:rPr>
                          <m:t>𝐶</m:t>
                        </m:r>
                      </m:e>
                      <m:sub>
                        <m:r>
                          <a:rPr lang="en-US" b="0" i="1" smtClean="0">
                            <a:solidFill>
                              <a:srgbClr val="C00000"/>
                            </a:solidFill>
                            <a:latin typeface="Cambria Math" panose="02040503050406030204" pitchFamily="18" charset="0"/>
                          </a:rPr>
                          <m:t>𝑢</m:t>
                        </m:r>
                      </m:sub>
                    </m:sSub>
                    <m:r>
                      <a:rPr lang="en-US" b="0" i="1" smtClean="0">
                        <a:solidFill>
                          <a:srgbClr val="C00000"/>
                        </a:solidFill>
                        <a:latin typeface="Cambria Math" panose="02040503050406030204" pitchFamily="18" charset="0"/>
                      </a:rPr>
                      <m:t>𝑄</m:t>
                    </m:r>
                  </m:oMath>
                </a14:m>
                <a:r>
                  <a:rPr lang="en-US" dirty="0">
                    <a:solidFill>
                      <a:srgbClr val="C00000"/>
                    </a:solidFill>
                  </a:rPr>
                  <a:t> if </a:t>
                </a:r>
                <a14:m>
                  <m:oMath xmlns:m="http://schemas.openxmlformats.org/officeDocument/2006/math">
                    <m:r>
                      <m:rPr>
                        <m:sty m:val="p"/>
                      </m:rPr>
                      <a:rPr lang="en-US" b="0" i="0" smtClean="0">
                        <a:solidFill>
                          <a:srgbClr val="C00000"/>
                        </a:solidFill>
                        <a:latin typeface="Cambria Math" panose="02040503050406030204" pitchFamily="18" charset="0"/>
                      </a:rPr>
                      <m:t>Q</m:t>
                    </m:r>
                    <m:r>
                      <a:rPr lang="en-US" b="0" i="1" smtClean="0">
                        <a:solidFill>
                          <a:srgbClr val="C00000"/>
                        </a:solidFill>
                        <a:latin typeface="Cambria Math" panose="02040503050406030204" pitchFamily="18" charset="0"/>
                      </a:rPr>
                      <m:t>≤</m:t>
                    </m:r>
                    <m:r>
                      <a:rPr lang="en-US" b="0" i="1" smtClean="0">
                        <a:solidFill>
                          <a:srgbClr val="C00000"/>
                        </a:solidFill>
                        <a:latin typeface="Cambria Math" panose="02040503050406030204" pitchFamily="18" charset="0"/>
                      </a:rPr>
                      <m:t>𝑥</m:t>
                    </m:r>
                  </m:oMath>
                </a14:m>
                <a:endParaRPr lang="en-US" dirty="0">
                  <a:solidFill>
                    <a:srgbClr val="C00000"/>
                  </a:solidFill>
                </a:endParaRPr>
              </a:p>
              <a:p>
                <a:pPr lvl="1"/>
                <a:r>
                  <a:rPr lang="en-US" dirty="0"/>
                  <a:t>When the order size is more than demand, we will sell the demand and the remaining items will be salvaged: </a:t>
                </a:r>
              </a:p>
              <a:p>
                <a:pPr lvl="2"/>
                <a14:m>
                  <m:oMath xmlns:m="http://schemas.openxmlformats.org/officeDocument/2006/math">
                    <m:r>
                      <a:rPr lang="en-US" b="0" i="1" smtClean="0">
                        <a:solidFill>
                          <a:srgbClr val="C00000"/>
                        </a:solidFill>
                        <a:latin typeface="Cambria Math" panose="02040503050406030204" pitchFamily="18" charset="0"/>
                      </a:rPr>
                      <m:t>𝑃</m:t>
                    </m:r>
                    <m:d>
                      <m:dPr>
                        <m:ctrlPr>
                          <a:rPr lang="en-US" i="1">
                            <a:solidFill>
                              <a:srgbClr val="C00000"/>
                            </a:solidFill>
                            <a:latin typeface="Cambria Math" panose="02040503050406030204" pitchFamily="18" charset="0"/>
                          </a:rPr>
                        </m:ctrlPr>
                      </m:dPr>
                      <m:e>
                        <m:r>
                          <a:rPr lang="en-US" b="0" i="1" smtClean="0">
                            <a:solidFill>
                              <a:srgbClr val="C00000"/>
                            </a:solidFill>
                            <a:latin typeface="Cambria Math" panose="02040503050406030204" pitchFamily="18" charset="0"/>
                          </a:rPr>
                          <m:t>𝑄</m:t>
                        </m:r>
                        <m:r>
                          <a:rPr lang="en-US" i="1">
                            <a:solidFill>
                              <a:srgbClr val="C00000"/>
                            </a:solidFill>
                            <a:latin typeface="Cambria Math" panose="02040503050406030204" pitchFamily="18" charset="0"/>
                          </a:rPr>
                          <m:t>,</m:t>
                        </m:r>
                        <m:r>
                          <a:rPr lang="en-US" b="0" i="1" smtClean="0">
                            <a:solidFill>
                              <a:srgbClr val="C00000"/>
                            </a:solidFill>
                            <a:latin typeface="Cambria Math" panose="02040503050406030204" pitchFamily="18" charset="0"/>
                          </a:rPr>
                          <m:t>𝑥</m:t>
                        </m:r>
                      </m:e>
                    </m:d>
                    <m:r>
                      <a:rPr lang="en-US" b="0" i="1" smtClean="0">
                        <a:solidFill>
                          <a:srgbClr val="C00000"/>
                        </a:solidFill>
                        <a:latin typeface="Cambria Math" panose="02040503050406030204" pitchFamily="18" charset="0"/>
                      </a:rPr>
                      <m:t>=</m:t>
                    </m:r>
                    <m:sSub>
                      <m:sSubPr>
                        <m:ctrlPr>
                          <a:rPr lang="en-US" b="0" i="1" smtClean="0">
                            <a:solidFill>
                              <a:srgbClr val="C00000"/>
                            </a:solidFill>
                            <a:latin typeface="Cambria Math" panose="02040503050406030204" pitchFamily="18" charset="0"/>
                          </a:rPr>
                        </m:ctrlPr>
                      </m:sSubPr>
                      <m:e>
                        <m:r>
                          <a:rPr lang="en-US" i="1">
                            <a:solidFill>
                              <a:srgbClr val="C00000"/>
                            </a:solidFill>
                            <a:latin typeface="Cambria Math" panose="02040503050406030204" pitchFamily="18" charset="0"/>
                          </a:rPr>
                          <m:t>𝑝</m:t>
                        </m:r>
                        <m:r>
                          <a:rPr lang="en-US" b="0" i="1" smtClean="0">
                            <a:solidFill>
                              <a:srgbClr val="C00000"/>
                            </a:solidFill>
                            <a:latin typeface="Cambria Math" panose="02040503050406030204" pitchFamily="18" charset="0"/>
                          </a:rPr>
                          <m:t>𝑥</m:t>
                        </m:r>
                        <m:r>
                          <a:rPr lang="en-US" i="1">
                            <a:solidFill>
                              <a:srgbClr val="C00000"/>
                            </a:solidFill>
                            <a:latin typeface="Cambria Math" panose="02040503050406030204" pitchFamily="18" charset="0"/>
                          </a:rPr>
                          <m:t>+</m:t>
                        </m:r>
                        <m:r>
                          <a:rPr lang="en-US" i="1">
                            <a:solidFill>
                              <a:srgbClr val="C00000"/>
                            </a:solidFill>
                            <a:latin typeface="Cambria Math" panose="02040503050406030204" pitchFamily="18" charset="0"/>
                          </a:rPr>
                          <m:t>𝑠</m:t>
                        </m:r>
                        <m:d>
                          <m:dPr>
                            <m:ctrlPr>
                              <a:rPr lang="en-US" i="1">
                                <a:solidFill>
                                  <a:srgbClr val="C00000"/>
                                </a:solidFill>
                                <a:latin typeface="Cambria Math" panose="02040503050406030204" pitchFamily="18" charset="0"/>
                              </a:rPr>
                            </m:ctrlPr>
                          </m:dPr>
                          <m:e>
                            <m:r>
                              <a:rPr lang="en-US" b="0" i="1" smtClean="0">
                                <a:solidFill>
                                  <a:srgbClr val="C00000"/>
                                </a:solidFill>
                                <a:latin typeface="Cambria Math" panose="02040503050406030204" pitchFamily="18" charset="0"/>
                              </a:rPr>
                              <m:t>𝑄</m:t>
                            </m:r>
                            <m:r>
                              <a:rPr lang="en-US" i="1">
                                <a:solidFill>
                                  <a:srgbClr val="C00000"/>
                                </a:solidFill>
                                <a:latin typeface="Cambria Math" panose="02040503050406030204" pitchFamily="18" charset="0"/>
                              </a:rPr>
                              <m:t>−</m:t>
                            </m:r>
                            <m:r>
                              <a:rPr lang="en-US" b="0" i="1" smtClean="0">
                                <a:solidFill>
                                  <a:srgbClr val="C00000"/>
                                </a:solidFill>
                                <a:latin typeface="Cambria Math" panose="02040503050406030204" pitchFamily="18" charset="0"/>
                              </a:rPr>
                              <m:t>𝑥</m:t>
                            </m:r>
                          </m:e>
                        </m:d>
                        <m:r>
                          <a:rPr lang="en-US" i="1">
                            <a:solidFill>
                              <a:srgbClr val="C00000"/>
                            </a:solidFill>
                            <a:latin typeface="Cambria Math" panose="02040503050406030204" pitchFamily="18" charset="0"/>
                          </a:rPr>
                          <m:t>−</m:t>
                        </m:r>
                        <m:r>
                          <a:rPr lang="en-US" i="1">
                            <a:solidFill>
                              <a:srgbClr val="C00000"/>
                            </a:solidFill>
                            <a:latin typeface="Cambria Math" panose="02040503050406030204" pitchFamily="18" charset="0"/>
                          </a:rPr>
                          <m:t>𝑐𝑄</m:t>
                        </m:r>
                        <m:r>
                          <a:rPr lang="en-US" b="0" i="1" smtClean="0">
                            <a:solidFill>
                              <a:srgbClr val="C00000"/>
                            </a:solidFill>
                            <a:latin typeface="Cambria Math" panose="02040503050406030204" pitchFamily="18" charset="0"/>
                          </a:rPr>
                          <m:t>=</m:t>
                        </m:r>
                        <m:r>
                          <a:rPr lang="en-US" b="0" i="1" smtClean="0">
                            <a:solidFill>
                              <a:srgbClr val="C00000"/>
                            </a:solidFill>
                            <a:latin typeface="Cambria Math" panose="02040503050406030204" pitchFamily="18" charset="0"/>
                          </a:rPr>
                          <m:t>𝐶</m:t>
                        </m:r>
                      </m:e>
                      <m:sub>
                        <m:r>
                          <a:rPr lang="en-US" b="0" i="1" smtClean="0">
                            <a:solidFill>
                              <a:srgbClr val="C00000"/>
                            </a:solidFill>
                            <a:latin typeface="Cambria Math" panose="02040503050406030204" pitchFamily="18" charset="0"/>
                          </a:rPr>
                          <m:t>𝑢</m:t>
                        </m:r>
                      </m:sub>
                    </m:sSub>
                    <m:r>
                      <a:rPr lang="en-US" b="0" i="1" smtClean="0">
                        <a:solidFill>
                          <a:srgbClr val="C00000"/>
                        </a:solidFill>
                        <a:latin typeface="Cambria Math" panose="02040503050406030204" pitchFamily="18" charset="0"/>
                      </a:rPr>
                      <m:t>𝑥</m:t>
                    </m:r>
                    <m:r>
                      <a:rPr lang="en-US" b="0" i="1" smtClean="0">
                        <a:solidFill>
                          <a:srgbClr val="C00000"/>
                        </a:solidFill>
                        <a:latin typeface="Cambria Math" panose="02040503050406030204" pitchFamily="18" charset="0"/>
                      </a:rPr>
                      <m:t>−</m:t>
                    </m:r>
                    <m:d>
                      <m:dPr>
                        <m:ctrlPr>
                          <a:rPr lang="en-US" b="0" i="1" smtClean="0">
                            <a:solidFill>
                              <a:srgbClr val="C00000"/>
                            </a:solidFill>
                            <a:latin typeface="Cambria Math" panose="02040503050406030204" pitchFamily="18" charset="0"/>
                          </a:rPr>
                        </m:ctrlPr>
                      </m:dPr>
                      <m:e>
                        <m:r>
                          <a:rPr lang="en-US" b="0" i="1" smtClean="0">
                            <a:solidFill>
                              <a:srgbClr val="C00000"/>
                            </a:solidFill>
                            <a:latin typeface="Cambria Math" panose="02040503050406030204" pitchFamily="18" charset="0"/>
                          </a:rPr>
                          <m:t>𝑄</m:t>
                        </m:r>
                        <m:r>
                          <a:rPr lang="en-US" b="0" i="1" smtClean="0">
                            <a:solidFill>
                              <a:srgbClr val="C00000"/>
                            </a:solidFill>
                            <a:latin typeface="Cambria Math" panose="02040503050406030204" pitchFamily="18" charset="0"/>
                          </a:rPr>
                          <m:t>−</m:t>
                        </m:r>
                        <m:r>
                          <a:rPr lang="en-US" b="0" i="1" smtClean="0">
                            <a:solidFill>
                              <a:srgbClr val="C00000"/>
                            </a:solidFill>
                            <a:latin typeface="Cambria Math" panose="02040503050406030204" pitchFamily="18" charset="0"/>
                          </a:rPr>
                          <m:t>𝑥</m:t>
                        </m:r>
                      </m:e>
                    </m:d>
                    <m:sSub>
                      <m:sSubPr>
                        <m:ctrlPr>
                          <a:rPr lang="en-US" b="0" i="1" smtClean="0">
                            <a:solidFill>
                              <a:srgbClr val="C00000"/>
                            </a:solidFill>
                            <a:latin typeface="Cambria Math" panose="02040503050406030204" pitchFamily="18" charset="0"/>
                          </a:rPr>
                        </m:ctrlPr>
                      </m:sSubPr>
                      <m:e>
                        <m:r>
                          <a:rPr lang="en-US" b="0" i="1" smtClean="0">
                            <a:solidFill>
                              <a:srgbClr val="C00000"/>
                            </a:solidFill>
                            <a:latin typeface="Cambria Math" panose="02040503050406030204" pitchFamily="18" charset="0"/>
                          </a:rPr>
                          <m:t>𝐶</m:t>
                        </m:r>
                      </m:e>
                      <m:sub>
                        <m:r>
                          <a:rPr lang="en-US" b="0" i="1" smtClean="0">
                            <a:solidFill>
                              <a:srgbClr val="C00000"/>
                            </a:solidFill>
                            <a:latin typeface="Cambria Math" panose="02040503050406030204" pitchFamily="18" charset="0"/>
                          </a:rPr>
                          <m:t>𝑂</m:t>
                        </m:r>
                      </m:sub>
                    </m:sSub>
                  </m:oMath>
                </a14:m>
                <a:r>
                  <a:rPr lang="en-US" dirty="0">
                    <a:solidFill>
                      <a:srgbClr val="C00000"/>
                    </a:solidFill>
                  </a:rPr>
                  <a:t> if </a:t>
                </a:r>
                <a14:m>
                  <m:oMath xmlns:m="http://schemas.openxmlformats.org/officeDocument/2006/math">
                    <m:r>
                      <m:rPr>
                        <m:sty m:val="p"/>
                      </m:rPr>
                      <a:rPr lang="en-US" b="0" i="0" smtClean="0">
                        <a:solidFill>
                          <a:srgbClr val="C00000"/>
                        </a:solidFill>
                        <a:latin typeface="Cambria Math" panose="02040503050406030204" pitchFamily="18" charset="0"/>
                      </a:rPr>
                      <m:t>Q</m:t>
                    </m:r>
                    <m:r>
                      <a:rPr lang="en-US" b="0" i="1" smtClean="0">
                        <a:solidFill>
                          <a:srgbClr val="C00000"/>
                        </a:solidFill>
                        <a:latin typeface="Cambria Math" panose="02040503050406030204" pitchFamily="18" charset="0"/>
                      </a:rPr>
                      <m:t>&gt;</m:t>
                    </m:r>
                    <m:r>
                      <a:rPr lang="en-US" b="0" i="1" smtClean="0">
                        <a:solidFill>
                          <a:srgbClr val="C00000"/>
                        </a:solidFill>
                        <a:latin typeface="Cambria Math" panose="02040503050406030204" pitchFamily="18" charset="0"/>
                      </a:rPr>
                      <m:t>𝑥</m:t>
                    </m:r>
                  </m:oMath>
                </a14:m>
                <a:br>
                  <a:rPr lang="en-US" dirty="0"/>
                </a:br>
                <a:r>
                  <a:rPr lang="en-US" dirty="0"/>
                  <a:t>	</a:t>
                </a:r>
              </a:p>
              <a:p>
                <a:endParaRPr lang="en-US" sz="2400" b="1" dirty="0"/>
              </a:p>
              <a:p>
                <a:pPr lvl="1"/>
                <a:endParaRPr lang="en-US" dirty="0"/>
              </a:p>
              <a:p>
                <a:pPr lvl="1"/>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355002" y="1312433"/>
                <a:ext cx="11478410" cy="4864530"/>
              </a:xfrm>
              <a:blipFill>
                <a:blip r:embed="rId3"/>
                <a:stretch>
                  <a:fillRect l="-956" t="-2005" r="-1434"/>
                </a:stretch>
              </a:blipFill>
            </p:spPr>
            <p:txBody>
              <a:bodyPr/>
              <a:lstStyle/>
              <a:p>
                <a:r>
                  <a:rPr lang="en-US">
                    <a:noFill/>
                  </a:rPr>
                  <a:t> </a:t>
                </a:r>
              </a:p>
            </p:txBody>
          </p:sp>
        </mc:Fallback>
      </mc:AlternateContent>
    </p:spTree>
    <p:extLst>
      <p:ext uri="{BB962C8B-B14F-4D97-AF65-F5344CB8AC3E}">
        <p14:creationId xmlns:p14="http://schemas.microsoft.com/office/powerpoint/2010/main" val="38512496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
                                            <p:txEl>
                                              <p:pRg st="7" end="7"/>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Stochastic Optimization</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355002" y="1301921"/>
                <a:ext cx="11478410" cy="5382657"/>
              </a:xfrm>
            </p:spPr>
            <p:txBody>
              <a:bodyPr>
                <a:normAutofit/>
              </a:bodyPr>
              <a:lstStyle/>
              <a:p>
                <a:r>
                  <a:rPr lang="en-US" b="1" u="sng" dirty="0"/>
                  <a:t>Example: Newsvendor Problem</a:t>
                </a:r>
              </a:p>
              <a:p>
                <a:pPr lvl="1"/>
                <a:r>
                  <a:rPr lang="en-US" dirty="0">
                    <a:solidFill>
                      <a:schemeClr val="tx1"/>
                    </a:solidFill>
                  </a:rPr>
                  <a:t>Determine </a:t>
                </a:r>
                <a14:m>
                  <m:oMath xmlns:m="http://schemas.openxmlformats.org/officeDocument/2006/math">
                    <m:r>
                      <a:rPr lang="en-US" b="0" i="1" smtClean="0">
                        <a:solidFill>
                          <a:schemeClr val="tx1"/>
                        </a:solidFill>
                        <a:latin typeface="Cambria Math" panose="02040503050406030204" pitchFamily="18" charset="0"/>
                      </a:rPr>
                      <m:t>𝑥</m:t>
                    </m:r>
                  </m:oMath>
                </a14:m>
                <a:r>
                  <a:rPr lang="en-US" dirty="0">
                    <a:solidFill>
                      <a:schemeClr val="tx1"/>
                    </a:solidFill>
                  </a:rPr>
                  <a:t> to maximize profit: </a:t>
                </a:r>
              </a:p>
              <a:p>
                <a:pPr lvl="2"/>
                <a:r>
                  <a:rPr lang="en-US" dirty="0"/>
                  <a:t>Does not make sense because </a:t>
                </a:r>
                <a14:m>
                  <m:oMath xmlns:m="http://schemas.openxmlformats.org/officeDocument/2006/math">
                    <m:r>
                      <m:rPr>
                        <m:sty m:val="p"/>
                      </m:rPr>
                      <a:rPr lang="en-US" b="0" i="0" smtClean="0">
                        <a:latin typeface="Cambria Math" panose="02040503050406030204" pitchFamily="18" charset="0"/>
                      </a:rPr>
                      <m:t>P</m:t>
                    </m:r>
                    <m:r>
                      <a:rPr lang="en-US" b="0" i="1" smtClean="0">
                        <a:latin typeface="Cambria Math" panose="02040503050406030204" pitchFamily="18" charset="0"/>
                      </a:rPr>
                      <m:t>(</m:t>
                    </m:r>
                    <m:r>
                      <a:rPr lang="en-US" b="0" i="1" smtClean="0">
                        <a:latin typeface="Cambria Math" panose="02040503050406030204" pitchFamily="18" charset="0"/>
                      </a:rPr>
                      <m:t>𝑄</m:t>
                    </m:r>
                    <m:r>
                      <a:rPr lang="en-US" b="0" i="1" smtClean="0">
                        <a:latin typeface="Cambria Math" panose="02040503050406030204" pitchFamily="18" charset="0"/>
                      </a:rPr>
                      <m:t>,</m:t>
                    </m:r>
                    <m:r>
                      <a:rPr lang="en-US" b="0" i="1" smtClean="0">
                        <a:latin typeface="Cambria Math" panose="02040503050406030204" pitchFamily="18" charset="0"/>
                      </a:rPr>
                      <m:t>𝑥</m:t>
                    </m:r>
                    <m:r>
                      <a:rPr lang="en-US" b="0" i="1" smtClean="0">
                        <a:latin typeface="Cambria Math" panose="02040503050406030204" pitchFamily="18" charset="0"/>
                      </a:rPr>
                      <m:t>)</m:t>
                    </m:r>
                  </m:oMath>
                </a14:m>
                <a:r>
                  <a:rPr lang="en-US" dirty="0">
                    <a:solidFill>
                      <a:srgbClr val="C00000"/>
                    </a:solidFill>
                  </a:rPr>
                  <a:t> </a:t>
                </a:r>
                <a:r>
                  <a:rPr lang="en-US" dirty="0"/>
                  <a:t>is</a:t>
                </a:r>
                <a:r>
                  <a:rPr lang="en-US" dirty="0">
                    <a:solidFill>
                      <a:schemeClr val="tx1"/>
                    </a:solidFill>
                  </a:rPr>
                  <a:t> random as well (remember, </a:t>
                </a:r>
                <a14:m>
                  <m:oMath xmlns:m="http://schemas.openxmlformats.org/officeDocument/2006/math">
                    <m:r>
                      <a:rPr lang="en-US" b="0" i="1" smtClean="0">
                        <a:solidFill>
                          <a:schemeClr val="tx1"/>
                        </a:solidFill>
                        <a:latin typeface="Cambria Math" panose="02040503050406030204" pitchFamily="18" charset="0"/>
                      </a:rPr>
                      <m:t>𝑥</m:t>
                    </m:r>
                  </m:oMath>
                </a14:m>
                <a:r>
                  <a:rPr lang="en-US" dirty="0">
                    <a:solidFill>
                      <a:schemeClr val="tx1"/>
                    </a:solidFill>
                  </a:rPr>
                  <a:t> is random!)</a:t>
                </a:r>
              </a:p>
              <a:p>
                <a:pPr lvl="1"/>
                <a:r>
                  <a:rPr lang="en-US" dirty="0"/>
                  <a:t>How about we focus on the expected value of the demand? Say </a:t>
                </a:r>
                <a14:m>
                  <m:oMath xmlns:m="http://schemas.openxmlformats.org/officeDocument/2006/math">
                    <m:r>
                      <a:rPr lang="en-US" b="0" i="1" smtClean="0">
                        <a:latin typeface="Cambria Math" panose="02040503050406030204" pitchFamily="18" charset="0"/>
                      </a:rPr>
                      <m:t>𝐸</m:t>
                    </m:r>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𝑥</m:t>
                        </m:r>
                      </m:e>
                    </m:d>
                    <m:r>
                      <a:rPr lang="en-US" b="0" i="0" smtClean="0">
                        <a:latin typeface="Cambria Math" panose="02040503050406030204" pitchFamily="18" charset="0"/>
                      </a:rPr>
                      <m:t>?</m:t>
                    </m:r>
                  </m:oMath>
                </a14:m>
                <a:endParaRPr lang="en-US" dirty="0">
                  <a:solidFill>
                    <a:schemeClr val="tx1"/>
                  </a:solidFill>
                </a:endParaRPr>
              </a:p>
              <a:p>
                <a:pPr lvl="1"/>
                <a:r>
                  <a:rPr lang="en-US" dirty="0"/>
                  <a:t>So, we will have</a:t>
                </a:r>
              </a:p>
              <a:p>
                <a:pPr lvl="2"/>
                <a:r>
                  <a:rPr lang="en-US" dirty="0"/>
                  <a:t>It is easy to see that </a:t>
                </a:r>
                <a14:m>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panose="02040503050406030204" pitchFamily="18" charset="0"/>
                          </a:rPr>
                          <m:t>𝑄</m:t>
                        </m:r>
                      </m:e>
                      <m:sup>
                        <m:r>
                          <a:rPr lang="en-US" b="0" i="1" smtClean="0">
                            <a:latin typeface="Cambria Math" panose="02040503050406030204" pitchFamily="18" charset="0"/>
                          </a:rPr>
                          <m:t>∗</m:t>
                        </m:r>
                      </m:sup>
                    </m:sSup>
                    <m:r>
                      <a:rPr lang="en-US" b="0" i="1" smtClean="0">
                        <a:latin typeface="Cambria Math" panose="02040503050406030204" pitchFamily="18" charset="0"/>
                      </a:rPr>
                      <m:t>=</m:t>
                    </m:r>
                    <m:r>
                      <a:rPr lang="en-US" b="0" i="1" smtClean="0">
                        <a:latin typeface="Cambria Math" panose="02040503050406030204" pitchFamily="18" charset="0"/>
                      </a:rPr>
                      <m:t>𝐸</m:t>
                    </m:r>
                    <m:r>
                      <a:rPr lang="en-US" b="0" i="1" smtClean="0">
                        <a:latin typeface="Cambria Math" panose="02040503050406030204" pitchFamily="18" charset="0"/>
                      </a:rPr>
                      <m:t>[</m:t>
                    </m:r>
                    <m:r>
                      <a:rPr lang="en-US" b="0" i="1" smtClean="0">
                        <a:latin typeface="Cambria Math" panose="02040503050406030204" pitchFamily="18" charset="0"/>
                      </a:rPr>
                      <m:t>𝑥</m:t>
                    </m:r>
                    <m:r>
                      <a:rPr lang="en-US" b="0" i="1" smtClean="0">
                        <a:latin typeface="Cambria Math" panose="02040503050406030204" pitchFamily="18" charset="0"/>
                      </a:rPr>
                      <m:t>]</m:t>
                    </m:r>
                  </m:oMath>
                </a14:m>
                <a:r>
                  <a:rPr lang="en-US" dirty="0"/>
                  <a:t> in this case</a:t>
                </a:r>
              </a:p>
              <a:p>
                <a:pPr lvl="2"/>
                <a:r>
                  <a:rPr lang="en-US" dirty="0"/>
                  <a:t>Not a good idea! (we will see why)</a:t>
                </a:r>
              </a:p>
              <a:p>
                <a:r>
                  <a:rPr lang="en-US" dirty="0">
                    <a:solidFill>
                      <a:schemeClr val="tx1"/>
                    </a:solidFill>
                  </a:rPr>
                  <a:t>Typically, one common approach for stochastic models is to optimize the expected value of the objective function!</a:t>
                </a:r>
              </a:p>
              <a:p>
                <a:pPr lvl="2"/>
                <a:endParaRPr lang="en-US" dirty="0"/>
              </a:p>
              <a:p>
                <a:pPr lvl="1"/>
                <a:endParaRPr lang="en-US" dirty="0"/>
              </a:p>
              <a:p>
                <a:pPr lvl="1"/>
                <a:r>
                  <a:rPr lang="en-US" dirty="0"/>
                  <a:t>Say </a:t>
                </a:r>
                <a14:m>
                  <m:oMath xmlns:m="http://schemas.openxmlformats.org/officeDocument/2006/math">
                    <m:r>
                      <a:rPr lang="en-US" b="0" i="1" smtClean="0">
                        <a:latin typeface="Cambria Math" panose="02040503050406030204" pitchFamily="18" charset="0"/>
                      </a:rPr>
                      <m:t>𝑥</m:t>
                    </m:r>
                  </m:oMath>
                </a14:m>
                <a:r>
                  <a:rPr lang="en-US" dirty="0"/>
                  <a:t> is continuous with pdf </a:t>
                </a:r>
                <a14:m>
                  <m:oMath xmlns:m="http://schemas.openxmlformats.org/officeDocument/2006/math">
                    <m:r>
                      <m:rPr>
                        <m:sty m:val="p"/>
                      </m:rPr>
                      <a:rPr lang="en-US" i="1" dirty="0">
                        <a:latin typeface="Cambria Math" panose="02040503050406030204" pitchFamily="18" charset="0"/>
                      </a:rPr>
                      <m:t>f</m:t>
                    </m:r>
                    <m:r>
                      <a:rPr lang="en-US" b="0" i="1" smtClean="0">
                        <a:latin typeface="Cambria Math" panose="02040503050406030204" pitchFamily="18" charset="0"/>
                      </a:rPr>
                      <m:t>(</m:t>
                    </m:r>
                    <m:r>
                      <a:rPr lang="en-US" b="0" i="1" smtClean="0">
                        <a:latin typeface="Cambria Math" panose="02040503050406030204" pitchFamily="18" charset="0"/>
                      </a:rPr>
                      <m:t>𝑥</m:t>
                    </m:r>
                    <m:r>
                      <a:rPr lang="en-US" b="0" i="1" smtClean="0">
                        <a:latin typeface="Cambria Math" panose="02040503050406030204" pitchFamily="18" charset="0"/>
                      </a:rPr>
                      <m:t>)</m:t>
                    </m:r>
                  </m:oMath>
                </a14:m>
                <a:r>
                  <a:rPr lang="en-US" dirty="0"/>
                  <a:t> and </a:t>
                </a:r>
                <a:r>
                  <a:rPr lang="en-US" dirty="0" err="1"/>
                  <a:t>cdf</a:t>
                </a:r>
                <a:r>
                  <a:rPr lang="en-US" dirty="0"/>
                  <a:t> </a:t>
                </a:r>
                <a14:m>
                  <m:oMath xmlns:m="http://schemas.openxmlformats.org/officeDocument/2006/math">
                    <m:r>
                      <a:rPr lang="en-US" b="0" i="1" smtClean="0">
                        <a:latin typeface="Cambria Math" panose="02040503050406030204" pitchFamily="18" charset="0"/>
                      </a:rPr>
                      <m:t>𝐹</m:t>
                    </m:r>
                    <m:r>
                      <a:rPr lang="en-US" b="0" i="1" smtClean="0">
                        <a:latin typeface="Cambria Math" panose="02040503050406030204" pitchFamily="18" charset="0"/>
                      </a:rPr>
                      <m:t>(</m:t>
                    </m:r>
                    <m:r>
                      <a:rPr lang="en-US" b="0" i="1" smtClean="0">
                        <a:latin typeface="Cambria Math" panose="02040503050406030204" pitchFamily="18" charset="0"/>
                      </a:rPr>
                      <m:t>𝑥</m:t>
                    </m:r>
                    <m:r>
                      <a:rPr lang="en-US" b="0" i="1" smtClean="0">
                        <a:latin typeface="Cambria Math" panose="02040503050406030204" pitchFamily="18" charset="0"/>
                      </a:rPr>
                      <m:t>)</m:t>
                    </m:r>
                  </m:oMath>
                </a14:m>
                <a:r>
                  <a:rPr lang="en-US" dirty="0"/>
                  <a:t> </a:t>
                </a:r>
              </a:p>
              <a:p>
                <a:pPr lvl="1"/>
                <a:r>
                  <a:rPr lang="en-US" dirty="0"/>
                  <a:t>Then </a:t>
                </a:r>
                <a14:m>
                  <m:oMath xmlns:m="http://schemas.openxmlformats.org/officeDocument/2006/math">
                    <m:r>
                      <a:rPr lang="en-US" i="1">
                        <a:latin typeface="Cambria Math" panose="02040503050406030204" pitchFamily="18" charset="0"/>
                      </a:rPr>
                      <m:t>𝐸</m:t>
                    </m:r>
                    <m:d>
                      <m:dPr>
                        <m:begChr m:val="["/>
                        <m:endChr m:val="]"/>
                        <m:ctrlPr>
                          <a:rPr lang="en-US" i="1">
                            <a:latin typeface="Cambria Math" panose="02040503050406030204" pitchFamily="18" charset="0"/>
                          </a:rPr>
                        </m:ctrlPr>
                      </m:dPr>
                      <m:e>
                        <m:r>
                          <a:rPr lang="en-US" b="0" i="1" smtClean="0">
                            <a:latin typeface="Cambria Math" panose="02040503050406030204" pitchFamily="18" charset="0"/>
                          </a:rPr>
                          <m:t>𝑃</m:t>
                        </m:r>
                        <m:d>
                          <m:dPr>
                            <m:ctrlPr>
                              <a:rPr lang="en-US" i="1">
                                <a:latin typeface="Cambria Math" panose="02040503050406030204" pitchFamily="18" charset="0"/>
                              </a:rPr>
                            </m:ctrlPr>
                          </m:dPr>
                          <m:e>
                            <m:r>
                              <a:rPr lang="en-US" b="0" i="1" smtClean="0">
                                <a:latin typeface="Cambria Math" panose="02040503050406030204" pitchFamily="18" charset="0"/>
                              </a:rPr>
                              <m:t>𝑄</m:t>
                            </m:r>
                            <m:r>
                              <a:rPr lang="en-US" i="1">
                                <a:latin typeface="Cambria Math" panose="02040503050406030204" pitchFamily="18" charset="0"/>
                              </a:rPr>
                              <m:t>,</m:t>
                            </m:r>
                            <m:r>
                              <a:rPr lang="en-US" b="0" i="1" smtClean="0">
                                <a:latin typeface="Cambria Math" panose="02040503050406030204" pitchFamily="18" charset="0"/>
                              </a:rPr>
                              <m:t>𝑥</m:t>
                            </m:r>
                          </m:e>
                        </m:d>
                      </m:e>
                    </m:d>
                    <m:r>
                      <a:rPr lang="en-US" b="0" i="1" smtClean="0">
                        <a:latin typeface="Cambria Math" panose="02040503050406030204" pitchFamily="18" charset="0"/>
                      </a:rPr>
                      <m:t>=</m:t>
                    </m:r>
                    <m:nary>
                      <m:naryPr>
                        <m:ctrlPr>
                          <a:rPr lang="en-US" b="0" i="1" smtClean="0">
                            <a:latin typeface="Cambria Math" panose="02040503050406030204" pitchFamily="18" charset="0"/>
                          </a:rPr>
                        </m:ctrlPr>
                      </m:naryPr>
                      <m:sub>
                        <m:r>
                          <m:rPr>
                            <m:brk m:alnAt="23"/>
                          </m:rPr>
                          <a:rPr lang="en-US" b="0" i="1" smtClean="0">
                            <a:latin typeface="Cambria Math" panose="02040503050406030204" pitchFamily="18" charset="0"/>
                          </a:rPr>
                          <m:t>𝑎</m:t>
                        </m:r>
                      </m:sub>
                      <m:sup>
                        <m:r>
                          <a:rPr lang="en-US" b="0" i="1" smtClean="0">
                            <a:latin typeface="Cambria Math" panose="02040503050406030204" pitchFamily="18" charset="0"/>
                          </a:rPr>
                          <m:t>𝑏</m:t>
                        </m:r>
                      </m:sup>
                      <m:e>
                        <m:r>
                          <a:rPr lang="en-US" b="0" i="1" smtClean="0">
                            <a:latin typeface="Cambria Math" panose="02040503050406030204" pitchFamily="18" charset="0"/>
                          </a:rPr>
                          <m:t>𝑃</m:t>
                        </m:r>
                        <m:d>
                          <m:dPr>
                            <m:ctrlPr>
                              <a:rPr lang="en-US" b="0" i="1" smtClean="0">
                                <a:latin typeface="Cambria Math" panose="02040503050406030204" pitchFamily="18" charset="0"/>
                              </a:rPr>
                            </m:ctrlPr>
                          </m:dPr>
                          <m:e>
                            <m:r>
                              <a:rPr lang="en-US" b="0" i="1" smtClean="0">
                                <a:latin typeface="Cambria Math" panose="02040503050406030204" pitchFamily="18" charset="0"/>
                              </a:rPr>
                              <m:t>𝑄</m:t>
                            </m:r>
                            <m:r>
                              <a:rPr lang="en-US" b="0" i="1" smtClean="0">
                                <a:latin typeface="Cambria Math" panose="02040503050406030204" pitchFamily="18" charset="0"/>
                              </a:rPr>
                              <m:t>,</m:t>
                            </m:r>
                            <m:r>
                              <a:rPr lang="en-US" b="0" i="1" smtClean="0">
                                <a:latin typeface="Cambria Math" panose="02040503050406030204" pitchFamily="18" charset="0"/>
                              </a:rPr>
                              <m:t>𝑥</m:t>
                            </m:r>
                          </m:e>
                        </m:d>
                        <m:r>
                          <a:rPr lang="en-US" b="0" i="1" smtClean="0">
                            <a:latin typeface="Cambria Math" panose="02040503050406030204" pitchFamily="18" charset="0"/>
                          </a:rPr>
                          <m:t>𝑓</m:t>
                        </m:r>
                        <m:d>
                          <m:dPr>
                            <m:ctrlPr>
                              <a:rPr lang="en-US" b="0" i="1" smtClean="0">
                                <a:latin typeface="Cambria Math" panose="02040503050406030204" pitchFamily="18" charset="0"/>
                              </a:rPr>
                            </m:ctrlPr>
                          </m:dPr>
                          <m:e>
                            <m:r>
                              <a:rPr lang="en-US" b="0" i="1" smtClean="0">
                                <a:latin typeface="Cambria Math" panose="02040503050406030204" pitchFamily="18" charset="0"/>
                              </a:rPr>
                              <m:t>𝑥</m:t>
                            </m:r>
                          </m:e>
                        </m:d>
                        <m:r>
                          <m:rPr>
                            <m:sty m:val="p"/>
                          </m:rPr>
                          <a:rPr lang="en-US" b="0" i="0" smtClean="0">
                            <a:latin typeface="Cambria Math" panose="02040503050406030204" pitchFamily="18" charset="0"/>
                          </a:rPr>
                          <m:t>d</m:t>
                        </m:r>
                        <m:r>
                          <a:rPr lang="en-US" b="0" i="1" smtClean="0">
                            <a:latin typeface="Cambria Math" panose="02040503050406030204" pitchFamily="18" charset="0"/>
                          </a:rPr>
                          <m:t>𝑥</m:t>
                        </m:r>
                      </m:e>
                    </m:nary>
                    <m:r>
                      <a:rPr lang="en-US" i="1">
                        <a:latin typeface="Cambria Math" panose="02040503050406030204" pitchFamily="18" charset="0"/>
                      </a:rPr>
                      <m:t> </m:t>
                    </m:r>
                  </m:oMath>
                </a14:m>
                <a:r>
                  <a:rPr lang="en-US" dirty="0"/>
                  <a:t>	</a:t>
                </a:r>
              </a:p>
              <a:p>
                <a:endParaRPr lang="en-US" sz="2400" b="1" dirty="0"/>
              </a:p>
              <a:p>
                <a:pPr lvl="1"/>
                <a:endParaRPr lang="en-US" dirty="0"/>
              </a:p>
              <a:p>
                <a:pPr lvl="1"/>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355002" y="1301921"/>
                <a:ext cx="11478410" cy="5382657"/>
              </a:xfrm>
              <a:blipFill>
                <a:blip r:embed="rId3"/>
                <a:stretch>
                  <a:fillRect l="-956" t="-192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 name="Rectangle 3">
                <a:extLst>
                  <a:ext uri="{FF2B5EF4-FFF2-40B4-BE49-F238E27FC236}">
                    <a16:creationId xmlns:a16="http://schemas.microsoft.com/office/drawing/2014/main" id="{A4D79233-8335-4A02-87EF-D2EDF234B71A}"/>
                  </a:ext>
                </a:extLst>
              </p:cNvPr>
              <p:cNvSpPr/>
              <p:nvPr/>
            </p:nvSpPr>
            <p:spPr>
              <a:xfrm>
                <a:off x="5197210" y="1730513"/>
                <a:ext cx="3517886" cy="461665"/>
              </a:xfrm>
              <a:prstGeom prst="rect">
                <a:avLst/>
              </a:prstGeom>
              <a:ln>
                <a:solidFill>
                  <a:srgbClr val="C00000"/>
                </a:solidFill>
              </a:ln>
            </p:spPr>
            <p:txBody>
              <a:bodyPr wrap="none">
                <a:spAutoFit/>
              </a:bodyPr>
              <a:lstStyle/>
              <a:p>
                <a:pPr/>
                <a14:m>
                  <m:oMathPara xmlns:m="http://schemas.openxmlformats.org/officeDocument/2006/math">
                    <m:oMathParaPr>
                      <m:jc m:val="centerGroup"/>
                    </m:oMathParaPr>
                    <m:oMath xmlns:m="http://schemas.openxmlformats.org/officeDocument/2006/math">
                      <m:func>
                        <m:funcPr>
                          <m:ctrlPr>
                            <a:rPr lang="en-US" sz="2400" i="1" smtClean="0">
                              <a:latin typeface="Cambria Math" panose="02040503050406030204" pitchFamily="18" charset="0"/>
                            </a:rPr>
                          </m:ctrlPr>
                        </m:funcPr>
                        <m:fName>
                          <m:r>
                            <m:rPr>
                              <m:sty m:val="p"/>
                            </m:rPr>
                            <a:rPr lang="en-US" sz="2400">
                              <a:latin typeface="Cambria Math" panose="02040503050406030204" pitchFamily="18" charset="0"/>
                            </a:rPr>
                            <m:t>m</m:t>
                          </m:r>
                          <m:r>
                            <m:rPr>
                              <m:sty m:val="p"/>
                            </m:rPr>
                            <a:rPr lang="en-US" sz="2400" b="0" i="0" smtClean="0">
                              <a:latin typeface="Cambria Math" panose="02040503050406030204" pitchFamily="18" charset="0"/>
                            </a:rPr>
                            <m:t>ax</m:t>
                          </m:r>
                          <m:r>
                            <a:rPr lang="en-US" sz="2400">
                              <a:latin typeface="Cambria Math" panose="02040503050406030204" pitchFamily="18" charset="0"/>
                            </a:rPr>
                            <m:t>   </m:t>
                          </m:r>
                        </m:fName>
                        <m:e>
                          <m:r>
                            <a:rPr lang="en-US" sz="2400" b="0" i="1" smtClean="0">
                              <a:latin typeface="Cambria Math" panose="02040503050406030204" pitchFamily="18" charset="0"/>
                            </a:rPr>
                            <m:t>𝑃</m:t>
                          </m:r>
                          <m:d>
                            <m:dPr>
                              <m:ctrlPr>
                                <a:rPr lang="en-US" sz="2400" i="1">
                                  <a:latin typeface="Cambria Math" panose="02040503050406030204" pitchFamily="18" charset="0"/>
                                </a:rPr>
                              </m:ctrlPr>
                            </m:dPr>
                            <m:e>
                              <m:r>
                                <a:rPr lang="en-US" sz="2400" b="0" i="1" smtClean="0">
                                  <a:latin typeface="Cambria Math" panose="02040503050406030204" pitchFamily="18" charset="0"/>
                                </a:rPr>
                                <m:t>𝑄</m:t>
                              </m:r>
                              <m:r>
                                <a:rPr lang="en-US" sz="2400" i="1">
                                  <a:latin typeface="Cambria Math" panose="02040503050406030204" pitchFamily="18" charset="0"/>
                                </a:rPr>
                                <m:t>,</m:t>
                              </m:r>
                              <m:r>
                                <a:rPr lang="en-US" sz="2400" b="0" i="1" smtClean="0">
                                  <a:latin typeface="Cambria Math" panose="02040503050406030204" pitchFamily="18" charset="0"/>
                                </a:rPr>
                                <m:t>𝑥</m:t>
                              </m:r>
                            </m:e>
                          </m:d>
                          <m:r>
                            <a:rPr lang="en-US" sz="2400" i="1">
                              <a:latin typeface="Cambria Math" panose="02040503050406030204" pitchFamily="18" charset="0"/>
                            </a:rPr>
                            <m:t>  </m:t>
                          </m:r>
                          <m:r>
                            <a:rPr lang="en-US" sz="2400" i="1">
                              <a:latin typeface="Cambria Math" panose="02040503050406030204" pitchFamily="18" charset="0"/>
                            </a:rPr>
                            <m:t>𝑠</m:t>
                          </m:r>
                          <m:r>
                            <a:rPr lang="en-US" sz="2400" i="1">
                              <a:latin typeface="Cambria Math" panose="02040503050406030204" pitchFamily="18" charset="0"/>
                            </a:rPr>
                            <m:t>.</m:t>
                          </m:r>
                          <m:r>
                            <a:rPr lang="en-US" sz="2400" i="1">
                              <a:latin typeface="Cambria Math" panose="02040503050406030204" pitchFamily="18" charset="0"/>
                            </a:rPr>
                            <m:t>𝑡</m:t>
                          </m:r>
                          <m:r>
                            <a:rPr lang="en-US" sz="2400" i="1">
                              <a:latin typeface="Cambria Math" panose="02040503050406030204" pitchFamily="18" charset="0"/>
                            </a:rPr>
                            <m:t>.  </m:t>
                          </m:r>
                          <m:r>
                            <a:rPr lang="en-US" sz="2400" b="0" i="1" smtClean="0">
                              <a:latin typeface="Cambria Math" panose="02040503050406030204" pitchFamily="18" charset="0"/>
                            </a:rPr>
                            <m:t>𝑄</m:t>
                          </m:r>
                          <m:r>
                            <a:rPr lang="en-US" sz="2400" b="0" i="1" smtClean="0">
                              <a:latin typeface="Cambria Math" panose="02040503050406030204" pitchFamily="18" charset="0"/>
                            </a:rPr>
                            <m:t>≥0</m:t>
                          </m:r>
                        </m:e>
                      </m:func>
                    </m:oMath>
                  </m:oMathPara>
                </a14:m>
                <a:endParaRPr lang="en-US" sz="2400" dirty="0"/>
              </a:p>
            </p:txBody>
          </p:sp>
        </mc:Choice>
        <mc:Fallback xmlns="">
          <p:sp>
            <p:nvSpPr>
              <p:cNvPr id="4" name="Rectangle 3">
                <a:extLst>
                  <a:ext uri="{FF2B5EF4-FFF2-40B4-BE49-F238E27FC236}">
                    <a16:creationId xmlns:a16="http://schemas.microsoft.com/office/drawing/2014/main" id="{A4D79233-8335-4A02-87EF-D2EDF234B71A}"/>
                  </a:ext>
                </a:extLst>
              </p:cNvPr>
              <p:cNvSpPr>
                <a:spLocks noRot="1" noChangeAspect="1" noMove="1" noResize="1" noEditPoints="1" noAdjustHandles="1" noChangeArrowheads="1" noChangeShapeType="1" noTextEdit="1"/>
              </p:cNvSpPr>
              <p:nvPr/>
            </p:nvSpPr>
            <p:spPr>
              <a:xfrm>
                <a:off x="5197210" y="1730513"/>
                <a:ext cx="3517886" cy="461665"/>
              </a:xfrm>
              <a:prstGeom prst="rect">
                <a:avLst/>
              </a:prstGeom>
              <a:blipFill>
                <a:blip r:embed="rId4"/>
                <a:stretch>
                  <a:fillRect b="-10256"/>
                </a:stretch>
              </a:blipFill>
              <a:ln>
                <a:solidFill>
                  <a:srgbClr val="C00000"/>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Rectangle 4">
                <a:extLst>
                  <a:ext uri="{FF2B5EF4-FFF2-40B4-BE49-F238E27FC236}">
                    <a16:creationId xmlns:a16="http://schemas.microsoft.com/office/drawing/2014/main" id="{7A2D4003-B85A-47F3-8E76-C8432F23BF38}"/>
                  </a:ext>
                </a:extLst>
              </p:cNvPr>
              <p:cNvSpPr/>
              <p:nvPr/>
            </p:nvSpPr>
            <p:spPr>
              <a:xfrm>
                <a:off x="3152227" y="2866618"/>
                <a:ext cx="3937103" cy="461665"/>
              </a:xfrm>
              <a:prstGeom prst="rect">
                <a:avLst/>
              </a:prstGeom>
              <a:ln>
                <a:solidFill>
                  <a:srgbClr val="C00000"/>
                </a:solidFill>
              </a:ln>
            </p:spPr>
            <p:txBody>
              <a:bodyPr wrap="none">
                <a:spAutoFit/>
              </a:bodyPr>
              <a:lstStyle/>
              <a:p>
                <a:pPr/>
                <a14:m>
                  <m:oMathPara xmlns:m="http://schemas.openxmlformats.org/officeDocument/2006/math">
                    <m:oMathParaPr>
                      <m:jc m:val="centerGroup"/>
                    </m:oMathParaPr>
                    <m:oMath xmlns:m="http://schemas.openxmlformats.org/officeDocument/2006/math">
                      <m:func>
                        <m:funcPr>
                          <m:ctrlPr>
                            <a:rPr lang="en-US" sz="2400" i="1" smtClean="0">
                              <a:latin typeface="Cambria Math" panose="02040503050406030204" pitchFamily="18" charset="0"/>
                            </a:rPr>
                          </m:ctrlPr>
                        </m:funcPr>
                        <m:fName>
                          <m:r>
                            <m:rPr>
                              <m:sty m:val="p"/>
                            </m:rPr>
                            <a:rPr lang="en-US" sz="2400">
                              <a:latin typeface="Cambria Math" panose="02040503050406030204" pitchFamily="18" charset="0"/>
                            </a:rPr>
                            <m:t>m</m:t>
                          </m:r>
                          <m:r>
                            <m:rPr>
                              <m:sty m:val="p"/>
                            </m:rPr>
                            <a:rPr lang="en-US" sz="2400" b="0" i="0" smtClean="0">
                              <a:latin typeface="Cambria Math" panose="02040503050406030204" pitchFamily="18" charset="0"/>
                            </a:rPr>
                            <m:t>ax</m:t>
                          </m:r>
                          <m:r>
                            <a:rPr lang="en-US" sz="2400">
                              <a:latin typeface="Cambria Math" panose="02040503050406030204" pitchFamily="18" charset="0"/>
                            </a:rPr>
                            <m:t>   </m:t>
                          </m:r>
                        </m:fName>
                        <m:e>
                          <m:r>
                            <a:rPr lang="en-US" sz="2400" b="0" i="1" smtClean="0">
                              <a:latin typeface="Cambria Math" panose="02040503050406030204" pitchFamily="18" charset="0"/>
                            </a:rPr>
                            <m:t>𝑃</m:t>
                          </m:r>
                          <m:d>
                            <m:dPr>
                              <m:ctrlPr>
                                <a:rPr lang="en-US" sz="2400" i="1">
                                  <a:latin typeface="Cambria Math" panose="02040503050406030204" pitchFamily="18" charset="0"/>
                                </a:rPr>
                              </m:ctrlPr>
                            </m:dPr>
                            <m:e>
                              <m:r>
                                <a:rPr lang="en-US" sz="2400" b="0" i="1" smtClean="0">
                                  <a:latin typeface="Cambria Math" panose="02040503050406030204" pitchFamily="18" charset="0"/>
                                </a:rPr>
                                <m:t>𝑄</m:t>
                              </m:r>
                              <m:r>
                                <a:rPr lang="en-US" sz="2400" i="1">
                                  <a:latin typeface="Cambria Math" panose="02040503050406030204" pitchFamily="18" charset="0"/>
                                </a:rPr>
                                <m:t>,</m:t>
                              </m:r>
                              <m:r>
                                <a:rPr lang="en-US" sz="2400" b="0" i="1" smtClean="0">
                                  <a:latin typeface="Cambria Math" panose="02040503050406030204" pitchFamily="18" charset="0"/>
                                </a:rPr>
                                <m:t>𝐸</m:t>
                              </m:r>
                              <m:r>
                                <a:rPr lang="en-US" sz="2400" b="0" i="1" smtClean="0">
                                  <a:latin typeface="Cambria Math" panose="02040503050406030204" pitchFamily="18" charset="0"/>
                                </a:rPr>
                                <m:t>[</m:t>
                              </m:r>
                              <m:r>
                                <a:rPr lang="en-US" sz="2400" b="0" i="1" smtClean="0">
                                  <a:latin typeface="Cambria Math" panose="02040503050406030204" pitchFamily="18" charset="0"/>
                                </a:rPr>
                                <m:t>𝑥</m:t>
                              </m:r>
                              <m:r>
                                <a:rPr lang="en-US" sz="2400" b="0" i="1" smtClean="0">
                                  <a:latin typeface="Cambria Math" panose="02040503050406030204" pitchFamily="18" charset="0"/>
                                </a:rPr>
                                <m:t>]</m:t>
                              </m:r>
                            </m:e>
                          </m:d>
                          <m:r>
                            <a:rPr lang="en-US" sz="2400" i="1">
                              <a:latin typeface="Cambria Math" panose="02040503050406030204" pitchFamily="18" charset="0"/>
                            </a:rPr>
                            <m:t>  </m:t>
                          </m:r>
                          <m:r>
                            <a:rPr lang="en-US" sz="2400" i="1">
                              <a:latin typeface="Cambria Math" panose="02040503050406030204" pitchFamily="18" charset="0"/>
                            </a:rPr>
                            <m:t>𝑠</m:t>
                          </m:r>
                          <m:r>
                            <a:rPr lang="en-US" sz="2400" i="1">
                              <a:latin typeface="Cambria Math" panose="02040503050406030204" pitchFamily="18" charset="0"/>
                            </a:rPr>
                            <m:t>.</m:t>
                          </m:r>
                          <m:r>
                            <a:rPr lang="en-US" sz="2400" i="1">
                              <a:latin typeface="Cambria Math" panose="02040503050406030204" pitchFamily="18" charset="0"/>
                            </a:rPr>
                            <m:t>𝑡</m:t>
                          </m:r>
                          <m:r>
                            <a:rPr lang="en-US" sz="2400" i="1">
                              <a:latin typeface="Cambria Math" panose="02040503050406030204" pitchFamily="18" charset="0"/>
                            </a:rPr>
                            <m:t>.  </m:t>
                          </m:r>
                          <m:r>
                            <a:rPr lang="en-US" sz="2400" b="0" i="1" smtClean="0">
                              <a:latin typeface="Cambria Math" panose="02040503050406030204" pitchFamily="18" charset="0"/>
                            </a:rPr>
                            <m:t>𝑄</m:t>
                          </m:r>
                          <m:r>
                            <a:rPr lang="en-US" sz="2400" b="0" i="1" smtClean="0">
                              <a:latin typeface="Cambria Math" panose="02040503050406030204" pitchFamily="18" charset="0"/>
                            </a:rPr>
                            <m:t>≥0</m:t>
                          </m:r>
                        </m:e>
                      </m:func>
                    </m:oMath>
                  </m:oMathPara>
                </a14:m>
                <a:endParaRPr lang="en-US" sz="2400" dirty="0"/>
              </a:p>
            </p:txBody>
          </p:sp>
        </mc:Choice>
        <mc:Fallback xmlns="">
          <p:sp>
            <p:nvSpPr>
              <p:cNvPr id="5" name="Rectangle 4">
                <a:extLst>
                  <a:ext uri="{FF2B5EF4-FFF2-40B4-BE49-F238E27FC236}">
                    <a16:creationId xmlns:a16="http://schemas.microsoft.com/office/drawing/2014/main" id="{7A2D4003-B85A-47F3-8E76-C8432F23BF38}"/>
                  </a:ext>
                </a:extLst>
              </p:cNvPr>
              <p:cNvSpPr>
                <a:spLocks noRot="1" noChangeAspect="1" noMove="1" noResize="1" noEditPoints="1" noAdjustHandles="1" noChangeArrowheads="1" noChangeShapeType="1" noTextEdit="1"/>
              </p:cNvSpPr>
              <p:nvPr/>
            </p:nvSpPr>
            <p:spPr>
              <a:xfrm>
                <a:off x="3152227" y="2866618"/>
                <a:ext cx="3937103" cy="461665"/>
              </a:xfrm>
              <a:prstGeom prst="rect">
                <a:avLst/>
              </a:prstGeom>
              <a:blipFill>
                <a:blip r:embed="rId5"/>
                <a:stretch>
                  <a:fillRect b="-15385"/>
                </a:stretch>
              </a:blipFill>
              <a:ln>
                <a:solidFill>
                  <a:srgbClr val="C00000"/>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Rectangle 5">
                <a:extLst>
                  <a:ext uri="{FF2B5EF4-FFF2-40B4-BE49-F238E27FC236}">
                    <a16:creationId xmlns:a16="http://schemas.microsoft.com/office/drawing/2014/main" id="{C932D4A6-DA1F-4C88-9008-F410A50A9AC2}"/>
                  </a:ext>
                </a:extLst>
              </p:cNvPr>
              <p:cNvSpPr/>
              <p:nvPr/>
            </p:nvSpPr>
            <p:spPr>
              <a:xfrm>
                <a:off x="3152227" y="4894396"/>
                <a:ext cx="3937103" cy="461665"/>
              </a:xfrm>
              <a:prstGeom prst="rect">
                <a:avLst/>
              </a:prstGeom>
              <a:ln>
                <a:solidFill>
                  <a:srgbClr val="C00000"/>
                </a:solidFill>
              </a:ln>
            </p:spPr>
            <p:txBody>
              <a:bodyPr wrap="none">
                <a:spAutoFit/>
              </a:bodyPr>
              <a:lstStyle/>
              <a:p>
                <a:pPr/>
                <a14:m>
                  <m:oMathPara xmlns:m="http://schemas.openxmlformats.org/officeDocument/2006/math">
                    <m:oMathParaPr>
                      <m:jc m:val="centerGroup"/>
                    </m:oMathParaPr>
                    <m:oMath xmlns:m="http://schemas.openxmlformats.org/officeDocument/2006/math">
                      <m:func>
                        <m:funcPr>
                          <m:ctrlPr>
                            <a:rPr lang="en-US" sz="2400" i="1" smtClean="0">
                              <a:latin typeface="Cambria Math" panose="02040503050406030204" pitchFamily="18" charset="0"/>
                            </a:rPr>
                          </m:ctrlPr>
                        </m:funcPr>
                        <m:fName>
                          <m:r>
                            <m:rPr>
                              <m:sty m:val="p"/>
                            </m:rPr>
                            <a:rPr lang="en-US" sz="2400">
                              <a:latin typeface="Cambria Math" panose="02040503050406030204" pitchFamily="18" charset="0"/>
                            </a:rPr>
                            <m:t>m</m:t>
                          </m:r>
                          <m:r>
                            <m:rPr>
                              <m:sty m:val="p"/>
                            </m:rPr>
                            <a:rPr lang="en-US" sz="2400" b="0" i="0" smtClean="0">
                              <a:latin typeface="Cambria Math" panose="02040503050406030204" pitchFamily="18" charset="0"/>
                            </a:rPr>
                            <m:t>ax</m:t>
                          </m:r>
                          <m:r>
                            <a:rPr lang="en-US" sz="2400">
                              <a:latin typeface="Cambria Math" panose="02040503050406030204" pitchFamily="18" charset="0"/>
                            </a:rPr>
                            <m:t>   </m:t>
                          </m:r>
                        </m:fName>
                        <m:e>
                          <m:r>
                            <a:rPr lang="en-US" sz="2400" b="0" i="1" smtClean="0">
                              <a:latin typeface="Cambria Math" panose="02040503050406030204" pitchFamily="18" charset="0"/>
                            </a:rPr>
                            <m:t>𝐸</m:t>
                          </m:r>
                          <m:r>
                            <a:rPr lang="en-US" sz="2400" b="0" i="1" smtClean="0">
                              <a:latin typeface="Cambria Math" panose="02040503050406030204" pitchFamily="18" charset="0"/>
                            </a:rPr>
                            <m:t>[</m:t>
                          </m:r>
                          <m:r>
                            <a:rPr lang="en-US" sz="2400" b="0" i="1" smtClean="0">
                              <a:latin typeface="Cambria Math" panose="02040503050406030204" pitchFamily="18" charset="0"/>
                            </a:rPr>
                            <m:t>𝑃</m:t>
                          </m:r>
                          <m:d>
                            <m:dPr>
                              <m:ctrlPr>
                                <a:rPr lang="en-US" sz="2400" i="1">
                                  <a:latin typeface="Cambria Math" panose="02040503050406030204" pitchFamily="18" charset="0"/>
                                </a:rPr>
                              </m:ctrlPr>
                            </m:dPr>
                            <m:e>
                              <m:r>
                                <a:rPr lang="en-US" sz="2400" b="0" i="1" smtClean="0">
                                  <a:latin typeface="Cambria Math" panose="02040503050406030204" pitchFamily="18" charset="0"/>
                                </a:rPr>
                                <m:t>𝑄</m:t>
                              </m:r>
                              <m:r>
                                <a:rPr lang="en-US" sz="2400" i="1">
                                  <a:latin typeface="Cambria Math" panose="02040503050406030204" pitchFamily="18" charset="0"/>
                                </a:rPr>
                                <m:t>,</m:t>
                              </m:r>
                              <m:r>
                                <a:rPr lang="en-US" sz="2400" b="0" i="1" smtClean="0">
                                  <a:latin typeface="Cambria Math" panose="02040503050406030204" pitchFamily="18" charset="0"/>
                                </a:rPr>
                                <m:t>𝑥</m:t>
                              </m:r>
                            </m:e>
                          </m:d>
                          <m:r>
                            <a:rPr lang="en-US" sz="2400" b="0" i="1" smtClean="0">
                              <a:latin typeface="Cambria Math" panose="02040503050406030204" pitchFamily="18" charset="0"/>
                            </a:rPr>
                            <m:t>]</m:t>
                          </m:r>
                          <m:r>
                            <a:rPr lang="en-US" sz="2400" i="1">
                              <a:latin typeface="Cambria Math" panose="02040503050406030204" pitchFamily="18" charset="0"/>
                            </a:rPr>
                            <m:t>  </m:t>
                          </m:r>
                          <m:r>
                            <a:rPr lang="en-US" sz="2400" i="1">
                              <a:latin typeface="Cambria Math" panose="02040503050406030204" pitchFamily="18" charset="0"/>
                            </a:rPr>
                            <m:t>𝑠</m:t>
                          </m:r>
                          <m:r>
                            <a:rPr lang="en-US" sz="2400" i="1">
                              <a:latin typeface="Cambria Math" panose="02040503050406030204" pitchFamily="18" charset="0"/>
                            </a:rPr>
                            <m:t>.</m:t>
                          </m:r>
                          <m:r>
                            <a:rPr lang="en-US" sz="2400" i="1">
                              <a:latin typeface="Cambria Math" panose="02040503050406030204" pitchFamily="18" charset="0"/>
                            </a:rPr>
                            <m:t>𝑡</m:t>
                          </m:r>
                          <m:r>
                            <a:rPr lang="en-US" sz="2400" i="1">
                              <a:latin typeface="Cambria Math" panose="02040503050406030204" pitchFamily="18" charset="0"/>
                            </a:rPr>
                            <m:t>.  </m:t>
                          </m:r>
                          <m:r>
                            <a:rPr lang="en-US" sz="2400" b="0" i="1" smtClean="0">
                              <a:latin typeface="Cambria Math" panose="02040503050406030204" pitchFamily="18" charset="0"/>
                            </a:rPr>
                            <m:t>𝑄</m:t>
                          </m:r>
                          <m:r>
                            <a:rPr lang="en-US" sz="2400" b="0" i="1" smtClean="0">
                              <a:latin typeface="Cambria Math" panose="02040503050406030204" pitchFamily="18" charset="0"/>
                            </a:rPr>
                            <m:t>≥0</m:t>
                          </m:r>
                        </m:e>
                      </m:func>
                    </m:oMath>
                  </m:oMathPara>
                </a14:m>
                <a:endParaRPr lang="en-US" sz="2400" dirty="0"/>
              </a:p>
            </p:txBody>
          </p:sp>
        </mc:Choice>
        <mc:Fallback xmlns="">
          <p:sp>
            <p:nvSpPr>
              <p:cNvPr id="6" name="Rectangle 5">
                <a:extLst>
                  <a:ext uri="{FF2B5EF4-FFF2-40B4-BE49-F238E27FC236}">
                    <a16:creationId xmlns:a16="http://schemas.microsoft.com/office/drawing/2014/main" id="{C932D4A6-DA1F-4C88-9008-F410A50A9AC2}"/>
                  </a:ext>
                </a:extLst>
              </p:cNvPr>
              <p:cNvSpPr>
                <a:spLocks noRot="1" noChangeAspect="1" noMove="1" noResize="1" noEditPoints="1" noAdjustHandles="1" noChangeArrowheads="1" noChangeShapeType="1" noTextEdit="1"/>
              </p:cNvSpPr>
              <p:nvPr/>
            </p:nvSpPr>
            <p:spPr>
              <a:xfrm>
                <a:off x="3152227" y="4894396"/>
                <a:ext cx="3937103" cy="461665"/>
              </a:xfrm>
              <a:prstGeom prst="rect">
                <a:avLst/>
              </a:prstGeom>
              <a:blipFill>
                <a:blip r:embed="rId6"/>
                <a:stretch>
                  <a:fillRect b="-15385"/>
                </a:stretch>
              </a:blipFill>
              <a:ln>
                <a:solidFill>
                  <a:srgbClr val="C00000"/>
                </a:solidFill>
              </a:ln>
            </p:spPr>
            <p:txBody>
              <a:bodyPr/>
              <a:lstStyle/>
              <a:p>
                <a:r>
                  <a:rPr lang="en-US">
                    <a:noFill/>
                  </a:rPr>
                  <a:t> </a:t>
                </a:r>
              </a:p>
            </p:txBody>
          </p:sp>
        </mc:Fallback>
      </mc:AlternateContent>
    </p:spTree>
    <p:extLst>
      <p:ext uri="{BB962C8B-B14F-4D97-AF65-F5344CB8AC3E}">
        <p14:creationId xmlns:p14="http://schemas.microsoft.com/office/powerpoint/2010/main" val="9294040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5"/>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3">
                                            <p:txEl>
                                              <p:pRg st="5" end="5"/>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6"/>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
                                            <p:txEl>
                                              <p:pRg st="10" end="10"/>
                                            </p:txEl>
                                          </p:spTgt>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Stochastic Optimization</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355002" y="1312432"/>
                <a:ext cx="11478410" cy="5382657"/>
              </a:xfrm>
              <a:ln>
                <a:noFill/>
              </a:ln>
            </p:spPr>
            <p:txBody>
              <a:bodyPr>
                <a:normAutofit/>
              </a:bodyPr>
              <a:lstStyle/>
              <a:p>
                <a:r>
                  <a:rPr lang="en-US" b="1" u="sng" dirty="0"/>
                  <a:t>Example: Newsvendor Problem</a:t>
                </a:r>
              </a:p>
              <a:p>
                <a:pPr lvl="1"/>
                <a:r>
                  <a:rPr lang="en-US" dirty="0"/>
                  <a:t>Luckily, we have a closed-form expression for </a:t>
                </a:r>
                <a14:m>
                  <m:oMath xmlns:m="http://schemas.openxmlformats.org/officeDocument/2006/math">
                    <m:r>
                      <a:rPr lang="en-US" i="1">
                        <a:latin typeface="Cambria Math" panose="02040503050406030204" pitchFamily="18" charset="0"/>
                      </a:rPr>
                      <m:t>𝐸</m:t>
                    </m:r>
                    <m:d>
                      <m:dPr>
                        <m:begChr m:val="["/>
                        <m:endChr m:val="]"/>
                        <m:ctrlPr>
                          <a:rPr lang="en-US" i="1">
                            <a:latin typeface="Cambria Math" panose="02040503050406030204" pitchFamily="18" charset="0"/>
                          </a:rPr>
                        </m:ctrlPr>
                      </m:dPr>
                      <m:e>
                        <m:r>
                          <a:rPr lang="en-US" b="0" i="1" smtClean="0">
                            <a:latin typeface="Cambria Math" panose="02040503050406030204" pitchFamily="18" charset="0"/>
                          </a:rPr>
                          <m:t>𝑃</m:t>
                        </m:r>
                        <m:d>
                          <m:dPr>
                            <m:ctrlPr>
                              <a:rPr lang="en-US" i="1">
                                <a:latin typeface="Cambria Math" panose="02040503050406030204" pitchFamily="18" charset="0"/>
                              </a:rPr>
                            </m:ctrlPr>
                          </m:dPr>
                          <m:e>
                            <m:r>
                              <a:rPr lang="en-US" b="0" i="1" smtClean="0">
                                <a:latin typeface="Cambria Math" panose="02040503050406030204" pitchFamily="18" charset="0"/>
                              </a:rPr>
                              <m:t>𝑄</m:t>
                            </m:r>
                            <m:r>
                              <a:rPr lang="en-US" i="1">
                                <a:latin typeface="Cambria Math" panose="02040503050406030204" pitchFamily="18" charset="0"/>
                              </a:rPr>
                              <m:t>,</m:t>
                            </m:r>
                            <m:r>
                              <a:rPr lang="en-US" b="0" i="1" smtClean="0">
                                <a:latin typeface="Cambria Math" panose="02040503050406030204" pitchFamily="18" charset="0"/>
                              </a:rPr>
                              <m:t>𝑥</m:t>
                            </m:r>
                          </m:e>
                        </m:d>
                      </m:e>
                    </m:d>
                  </m:oMath>
                </a14:m>
                <a:r>
                  <a:rPr lang="en-US" dirty="0"/>
                  <a:t> </a:t>
                </a:r>
                <a:r>
                  <a:rPr lang="en-US" dirty="0">
                    <a:sym typeface="Wingdings" panose="05000000000000000000" pitchFamily="2" charset="2"/>
                  </a:rPr>
                  <a:t></a:t>
                </a:r>
                <a:endParaRPr lang="en-US" dirty="0"/>
              </a:p>
              <a:p>
                <a:pPr lvl="1"/>
                <a:endParaRPr lang="en-US" dirty="0"/>
              </a:p>
              <a:p>
                <a:pPr lvl="1"/>
                <a:endParaRPr lang="en-US" dirty="0"/>
              </a:p>
              <a:p>
                <a:pPr lvl="1"/>
                <a:endParaRPr lang="en-US" dirty="0"/>
              </a:p>
              <a:p>
                <a:pPr lvl="1"/>
                <a:r>
                  <a:rPr lang="en-US" dirty="0"/>
                  <a:t>Furthermore, </a:t>
                </a:r>
                <a14:m>
                  <m:oMath xmlns:m="http://schemas.openxmlformats.org/officeDocument/2006/math">
                    <m:r>
                      <a:rPr lang="en-US" i="1">
                        <a:latin typeface="Cambria Math" panose="02040503050406030204" pitchFamily="18" charset="0"/>
                      </a:rPr>
                      <m:t>𝐸</m:t>
                    </m:r>
                    <m:d>
                      <m:dPr>
                        <m:begChr m:val="["/>
                        <m:endChr m:val="]"/>
                        <m:ctrlPr>
                          <a:rPr lang="en-US" i="1">
                            <a:latin typeface="Cambria Math" panose="02040503050406030204" pitchFamily="18" charset="0"/>
                          </a:rPr>
                        </m:ctrlPr>
                      </m:dPr>
                      <m:e>
                        <m:r>
                          <a:rPr lang="en-US" b="0" i="1" smtClean="0">
                            <a:latin typeface="Cambria Math" panose="02040503050406030204" pitchFamily="18" charset="0"/>
                          </a:rPr>
                          <m:t>𝑃</m:t>
                        </m:r>
                        <m:d>
                          <m:dPr>
                            <m:ctrlPr>
                              <a:rPr lang="en-US" i="1">
                                <a:latin typeface="Cambria Math" panose="02040503050406030204" pitchFamily="18" charset="0"/>
                              </a:rPr>
                            </m:ctrlPr>
                          </m:dPr>
                          <m:e>
                            <m:r>
                              <a:rPr lang="en-US" b="0" i="1" smtClean="0">
                                <a:latin typeface="Cambria Math" panose="02040503050406030204" pitchFamily="18" charset="0"/>
                              </a:rPr>
                              <m:t>𝑄</m:t>
                            </m:r>
                            <m:r>
                              <a:rPr lang="en-US" i="1">
                                <a:latin typeface="Cambria Math" panose="02040503050406030204" pitchFamily="18" charset="0"/>
                              </a:rPr>
                              <m:t>,</m:t>
                            </m:r>
                            <m:r>
                              <a:rPr lang="en-US" b="0" i="1" smtClean="0">
                                <a:latin typeface="Cambria Math" panose="02040503050406030204" pitchFamily="18" charset="0"/>
                              </a:rPr>
                              <m:t>𝑥</m:t>
                            </m:r>
                          </m:e>
                        </m:d>
                      </m:e>
                    </m:d>
                  </m:oMath>
                </a14:m>
                <a:r>
                  <a:rPr lang="en-US" dirty="0"/>
                  <a:t> is strictly concave for any demand distribution! </a:t>
                </a:r>
                <a:r>
                  <a:rPr lang="en-US" dirty="0">
                    <a:sym typeface="Wingdings" panose="05000000000000000000" pitchFamily="2" charset="2"/>
                  </a:rPr>
                  <a:t></a:t>
                </a:r>
              </a:p>
              <a:p>
                <a:pPr lvl="1"/>
                <a:r>
                  <a:rPr lang="en-US" dirty="0">
                    <a:sym typeface="Wingdings" panose="05000000000000000000" pitchFamily="2" charset="2"/>
                  </a:rPr>
                  <a:t>So we can solve</a:t>
                </a:r>
              </a:p>
              <a:p>
                <a:pPr lvl="1"/>
                <a:endParaRPr lang="en-US" dirty="0">
                  <a:sym typeface="Wingdings" panose="05000000000000000000" pitchFamily="2" charset="2"/>
                </a:endParaRPr>
              </a:p>
              <a:p>
                <a:pPr lvl="1"/>
                <a:endParaRPr lang="en-US" dirty="0">
                  <a:sym typeface="Wingdings" panose="05000000000000000000" pitchFamily="2" charset="2"/>
                </a:endParaRPr>
              </a:p>
              <a:p>
                <a:pPr lvl="1"/>
                <a:endParaRPr lang="en-US" dirty="0">
                  <a:sym typeface="Wingdings" panose="05000000000000000000" pitchFamily="2" charset="2"/>
                </a:endParaRPr>
              </a:p>
              <a:p>
                <a:pPr lvl="1"/>
                <a:r>
                  <a:rPr lang="en-US" dirty="0">
                    <a:sym typeface="Wingdings" panose="05000000000000000000" pitchFamily="2" charset="2"/>
                  </a:rPr>
                  <a:t>The optimum solution is </a:t>
                </a:r>
                <a14:m>
                  <m:oMath xmlns:m="http://schemas.openxmlformats.org/officeDocument/2006/math">
                    <m:sSup>
                      <m:sSupPr>
                        <m:ctrlPr>
                          <a:rPr lang="en-US" b="0" i="1" smtClean="0">
                            <a:latin typeface="Cambria Math" panose="02040503050406030204" pitchFamily="18" charset="0"/>
                            <a:sym typeface="Wingdings" panose="05000000000000000000" pitchFamily="2" charset="2"/>
                          </a:rPr>
                        </m:ctrlPr>
                      </m:sSupPr>
                      <m:e>
                        <m:r>
                          <a:rPr lang="en-US" b="0" i="1" smtClean="0">
                            <a:latin typeface="Cambria Math" panose="02040503050406030204" pitchFamily="18" charset="0"/>
                            <a:sym typeface="Wingdings" panose="05000000000000000000" pitchFamily="2" charset="2"/>
                          </a:rPr>
                          <m:t>𝑄</m:t>
                        </m:r>
                      </m:e>
                      <m:sup>
                        <m:r>
                          <a:rPr lang="en-US" b="0" i="1" smtClean="0">
                            <a:latin typeface="Cambria Math" panose="02040503050406030204" pitchFamily="18" charset="0"/>
                            <a:sym typeface="Wingdings" panose="05000000000000000000" pitchFamily="2" charset="2"/>
                          </a:rPr>
                          <m:t>∗</m:t>
                        </m:r>
                      </m:sup>
                    </m:sSup>
                    <m:r>
                      <a:rPr lang="en-US" b="0" i="1" smtClean="0">
                        <a:latin typeface="Cambria Math" panose="02040503050406030204" pitchFamily="18" charset="0"/>
                        <a:sym typeface="Wingdings" panose="05000000000000000000" pitchFamily="2" charset="2"/>
                      </a:rPr>
                      <m:t>=</m:t>
                    </m:r>
                    <m:sSup>
                      <m:sSupPr>
                        <m:ctrlPr>
                          <a:rPr lang="en-US" b="0" i="1" smtClean="0">
                            <a:latin typeface="Cambria Math" panose="02040503050406030204" pitchFamily="18" charset="0"/>
                            <a:sym typeface="Wingdings" panose="05000000000000000000" pitchFamily="2" charset="2"/>
                          </a:rPr>
                        </m:ctrlPr>
                      </m:sSupPr>
                      <m:e>
                        <m:r>
                          <a:rPr lang="en-US" b="0" i="1" smtClean="0">
                            <a:latin typeface="Cambria Math" panose="02040503050406030204" pitchFamily="18" charset="0"/>
                            <a:sym typeface="Wingdings" panose="05000000000000000000" pitchFamily="2" charset="2"/>
                          </a:rPr>
                          <m:t>𝐹</m:t>
                        </m:r>
                      </m:e>
                      <m:sup>
                        <m:r>
                          <a:rPr lang="en-US" b="0" i="1" smtClean="0">
                            <a:latin typeface="Cambria Math" panose="02040503050406030204" pitchFamily="18" charset="0"/>
                            <a:sym typeface="Wingdings" panose="05000000000000000000" pitchFamily="2" charset="2"/>
                          </a:rPr>
                          <m:t>−1</m:t>
                        </m:r>
                      </m:sup>
                    </m:sSup>
                    <m:r>
                      <a:rPr lang="en-US" b="0" i="1" smtClean="0">
                        <a:latin typeface="Cambria Math" panose="02040503050406030204" pitchFamily="18" charset="0"/>
                        <a:sym typeface="Wingdings" panose="05000000000000000000" pitchFamily="2" charset="2"/>
                      </a:rPr>
                      <m:t>(</m:t>
                    </m:r>
                    <m:f>
                      <m:fPr>
                        <m:ctrlPr>
                          <a:rPr lang="en-US" b="0" i="1" smtClean="0">
                            <a:latin typeface="Cambria Math" panose="02040503050406030204" pitchFamily="18" charset="0"/>
                            <a:sym typeface="Wingdings" panose="05000000000000000000" pitchFamily="2" charset="2"/>
                          </a:rPr>
                        </m:ctrlPr>
                      </m:fPr>
                      <m:num>
                        <m:sSub>
                          <m:sSubPr>
                            <m:ctrlPr>
                              <a:rPr lang="en-US" b="0" i="1" smtClean="0">
                                <a:latin typeface="Cambria Math" panose="02040503050406030204" pitchFamily="18" charset="0"/>
                                <a:sym typeface="Wingdings" panose="05000000000000000000" pitchFamily="2" charset="2"/>
                              </a:rPr>
                            </m:ctrlPr>
                          </m:sSubPr>
                          <m:e>
                            <m:r>
                              <a:rPr lang="en-US" b="0" i="1" smtClean="0">
                                <a:latin typeface="Cambria Math" panose="02040503050406030204" pitchFamily="18" charset="0"/>
                                <a:sym typeface="Wingdings" panose="05000000000000000000" pitchFamily="2" charset="2"/>
                              </a:rPr>
                              <m:t>𝐶</m:t>
                            </m:r>
                          </m:e>
                          <m:sub>
                            <m:r>
                              <a:rPr lang="en-US" b="0" i="1" smtClean="0">
                                <a:latin typeface="Cambria Math" panose="02040503050406030204" pitchFamily="18" charset="0"/>
                                <a:sym typeface="Wingdings" panose="05000000000000000000" pitchFamily="2" charset="2"/>
                              </a:rPr>
                              <m:t>𝑈</m:t>
                            </m:r>
                          </m:sub>
                        </m:sSub>
                      </m:num>
                      <m:den>
                        <m:sSub>
                          <m:sSubPr>
                            <m:ctrlPr>
                              <a:rPr lang="en-US" b="0" i="1" smtClean="0">
                                <a:latin typeface="Cambria Math" panose="02040503050406030204" pitchFamily="18" charset="0"/>
                                <a:sym typeface="Wingdings" panose="05000000000000000000" pitchFamily="2" charset="2"/>
                              </a:rPr>
                            </m:ctrlPr>
                          </m:sSubPr>
                          <m:e>
                            <m:r>
                              <a:rPr lang="en-US" b="0" i="1" smtClean="0">
                                <a:latin typeface="Cambria Math" panose="02040503050406030204" pitchFamily="18" charset="0"/>
                                <a:sym typeface="Wingdings" panose="05000000000000000000" pitchFamily="2" charset="2"/>
                              </a:rPr>
                              <m:t>𝐶</m:t>
                            </m:r>
                          </m:e>
                          <m:sub>
                            <m:r>
                              <a:rPr lang="en-US" b="0" i="1" smtClean="0">
                                <a:latin typeface="Cambria Math" panose="02040503050406030204" pitchFamily="18" charset="0"/>
                                <a:sym typeface="Wingdings" panose="05000000000000000000" pitchFamily="2" charset="2"/>
                              </a:rPr>
                              <m:t>𝑈</m:t>
                            </m:r>
                          </m:sub>
                        </m:sSub>
                        <m:r>
                          <a:rPr lang="en-US" b="0" i="1" smtClean="0">
                            <a:latin typeface="Cambria Math" panose="02040503050406030204" pitchFamily="18" charset="0"/>
                            <a:sym typeface="Wingdings" panose="05000000000000000000" pitchFamily="2" charset="2"/>
                          </a:rPr>
                          <m:t>+</m:t>
                        </m:r>
                        <m:sSub>
                          <m:sSubPr>
                            <m:ctrlPr>
                              <a:rPr lang="en-US" b="0" i="1" smtClean="0">
                                <a:latin typeface="Cambria Math" panose="02040503050406030204" pitchFamily="18" charset="0"/>
                                <a:sym typeface="Wingdings" panose="05000000000000000000" pitchFamily="2" charset="2"/>
                              </a:rPr>
                            </m:ctrlPr>
                          </m:sSubPr>
                          <m:e>
                            <m:r>
                              <a:rPr lang="en-US" b="0" i="1" smtClean="0">
                                <a:latin typeface="Cambria Math" panose="02040503050406030204" pitchFamily="18" charset="0"/>
                                <a:sym typeface="Wingdings" panose="05000000000000000000" pitchFamily="2" charset="2"/>
                              </a:rPr>
                              <m:t>𝐶</m:t>
                            </m:r>
                          </m:e>
                          <m:sub>
                            <m:r>
                              <a:rPr lang="en-US" b="0" i="1" smtClean="0">
                                <a:latin typeface="Cambria Math" panose="02040503050406030204" pitchFamily="18" charset="0"/>
                                <a:sym typeface="Wingdings" panose="05000000000000000000" pitchFamily="2" charset="2"/>
                              </a:rPr>
                              <m:t>𝑂</m:t>
                            </m:r>
                          </m:sub>
                        </m:sSub>
                      </m:den>
                    </m:f>
                    <m:r>
                      <a:rPr lang="en-US" b="0" i="1" smtClean="0">
                        <a:latin typeface="Cambria Math" panose="02040503050406030204" pitchFamily="18" charset="0"/>
                        <a:sym typeface="Wingdings" panose="05000000000000000000" pitchFamily="2" charset="2"/>
                      </a:rPr>
                      <m:t>)</m:t>
                    </m:r>
                  </m:oMath>
                </a14:m>
                <a:endParaRPr lang="en-US" dirty="0"/>
              </a:p>
              <a:p>
                <a:pPr lvl="2"/>
                <a:r>
                  <a:rPr lang="en-US" dirty="0"/>
                  <a:t>In Excel, </a:t>
                </a:r>
                <a14:m>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panose="02040503050406030204" pitchFamily="18" charset="0"/>
                          </a:rPr>
                          <m:t>𝑄</m:t>
                        </m:r>
                      </m:e>
                      <m:sup>
                        <m:r>
                          <a:rPr lang="en-US" b="0" i="1" smtClean="0">
                            <a:latin typeface="Cambria Math" panose="02040503050406030204" pitchFamily="18" charset="0"/>
                          </a:rPr>
                          <m:t>∗</m:t>
                        </m:r>
                      </m:sup>
                    </m:sSup>
                    <m:r>
                      <a:rPr lang="en-US" b="0" i="1" smtClean="0">
                        <a:latin typeface="Cambria Math" panose="02040503050406030204" pitchFamily="18" charset="0"/>
                      </a:rPr>
                      <m:t>=</m:t>
                    </m:r>
                    <m:r>
                      <a:rPr lang="en-US" b="0" i="1" smtClean="0">
                        <a:latin typeface="Cambria Math" panose="02040503050406030204" pitchFamily="18" charset="0"/>
                      </a:rPr>
                      <m:t>𝑁𝑂𝑅𝑀𝐼𝑁𝑉</m:t>
                    </m:r>
                    <m:r>
                      <a:rPr lang="en-US" b="0" i="1" smtClean="0">
                        <a:latin typeface="Cambria Math" panose="02040503050406030204" pitchFamily="18" charset="0"/>
                      </a:rPr>
                      <m:t>(</m:t>
                    </m:r>
                    <m:f>
                      <m:fPr>
                        <m:ctrlPr>
                          <a:rPr lang="en-US" b="0" i="1" smtClean="0">
                            <a:latin typeface="Cambria Math" panose="02040503050406030204" pitchFamily="18" charset="0"/>
                          </a:rPr>
                        </m:ctrlPr>
                      </m:fPr>
                      <m:num>
                        <m:sSub>
                          <m:sSubPr>
                            <m:ctrlPr>
                              <a:rPr lang="en-US" b="0" i="1" smtClean="0">
                                <a:latin typeface="Cambria Math" panose="02040503050406030204" pitchFamily="18" charset="0"/>
                              </a:rPr>
                            </m:ctrlPr>
                          </m:sSubPr>
                          <m:e>
                            <m:r>
                              <a:rPr lang="en-US" b="0" i="1" smtClean="0">
                                <a:latin typeface="Cambria Math" panose="02040503050406030204" pitchFamily="18" charset="0"/>
                              </a:rPr>
                              <m:t>𝐶</m:t>
                            </m:r>
                          </m:e>
                          <m:sub>
                            <m:r>
                              <a:rPr lang="en-US" b="0" i="1" smtClean="0">
                                <a:latin typeface="Cambria Math" panose="02040503050406030204" pitchFamily="18" charset="0"/>
                              </a:rPr>
                              <m:t>𝑈</m:t>
                            </m:r>
                          </m:sub>
                        </m:sSub>
                      </m:num>
                      <m:den>
                        <m:sSub>
                          <m:sSubPr>
                            <m:ctrlPr>
                              <a:rPr lang="en-US" b="0" i="1" smtClean="0">
                                <a:latin typeface="Cambria Math" panose="02040503050406030204" pitchFamily="18" charset="0"/>
                              </a:rPr>
                            </m:ctrlPr>
                          </m:sSubPr>
                          <m:e>
                            <m:r>
                              <a:rPr lang="en-US" b="0" i="1" smtClean="0">
                                <a:latin typeface="Cambria Math" panose="02040503050406030204" pitchFamily="18" charset="0"/>
                              </a:rPr>
                              <m:t>𝐶</m:t>
                            </m:r>
                          </m:e>
                          <m:sub>
                            <m:r>
                              <a:rPr lang="en-US" b="0" i="1" smtClean="0">
                                <a:latin typeface="Cambria Math" panose="02040503050406030204" pitchFamily="18" charset="0"/>
                              </a:rPr>
                              <m:t>𝑈</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𝐶</m:t>
                            </m:r>
                          </m:e>
                          <m:sub>
                            <m:r>
                              <a:rPr lang="en-US" b="0" i="1" smtClean="0">
                                <a:latin typeface="Cambria Math" panose="02040503050406030204" pitchFamily="18" charset="0"/>
                              </a:rPr>
                              <m:t>𝑂</m:t>
                            </m:r>
                          </m:sub>
                        </m:sSub>
                      </m:den>
                    </m:f>
                    <m:r>
                      <a:rPr lang="en-US" b="0" i="1" smtClean="0">
                        <a:latin typeface="Cambria Math" panose="02040503050406030204" pitchFamily="18" charset="0"/>
                      </a:rPr>
                      <m:t>,</m:t>
                    </m:r>
                    <m:r>
                      <a:rPr lang="en-US" b="0" i="1" smtClean="0">
                        <a:latin typeface="Cambria Math" panose="02040503050406030204" pitchFamily="18" charset="0"/>
                      </a:rPr>
                      <m:t>𝜇</m:t>
                    </m:r>
                    <m:r>
                      <a:rPr lang="en-US" b="0" i="1" smtClean="0">
                        <a:latin typeface="Cambria Math" panose="02040503050406030204" pitchFamily="18" charset="0"/>
                      </a:rPr>
                      <m:t>,</m:t>
                    </m:r>
                    <m:r>
                      <a:rPr lang="en-US" b="0" i="1" smtClean="0">
                        <a:latin typeface="Cambria Math" panose="02040503050406030204" pitchFamily="18" charset="0"/>
                      </a:rPr>
                      <m:t>𝜎</m:t>
                    </m:r>
                    <m:r>
                      <a:rPr lang="en-US" b="0" i="1" smtClean="0">
                        <a:latin typeface="Cambria Math" panose="02040503050406030204" pitchFamily="18" charset="0"/>
                      </a:rPr>
                      <m:t>)</m:t>
                    </m:r>
                  </m:oMath>
                </a14:m>
                <a:r>
                  <a:rPr lang="en-US" dirty="0"/>
                  <a:t> when demand is normally distributed with mean </a:t>
                </a:r>
                <a14:m>
                  <m:oMath xmlns:m="http://schemas.openxmlformats.org/officeDocument/2006/math">
                    <m:r>
                      <a:rPr lang="en-US" b="0" i="1" smtClean="0">
                        <a:latin typeface="Cambria Math" panose="02040503050406030204" pitchFamily="18" charset="0"/>
                      </a:rPr>
                      <m:t>𝜇</m:t>
                    </m:r>
                  </m:oMath>
                </a14:m>
                <a:r>
                  <a:rPr lang="en-US" dirty="0"/>
                  <a:t> and standard deviation </a:t>
                </a:r>
                <a14:m>
                  <m:oMath xmlns:m="http://schemas.openxmlformats.org/officeDocument/2006/math">
                    <m:r>
                      <a:rPr lang="en-US" b="0" i="1" smtClean="0">
                        <a:latin typeface="Cambria Math" panose="02040503050406030204" pitchFamily="18" charset="0"/>
                      </a:rPr>
                      <m:t>𝜎</m:t>
                    </m:r>
                  </m:oMath>
                </a14:m>
                <a:endParaRPr lang="en-US" dirty="0"/>
              </a:p>
              <a:p>
                <a:pPr marL="457200" lvl="1" indent="0">
                  <a:buNone/>
                </a:pPr>
                <a:endParaRPr lang="en-US" dirty="0"/>
              </a:p>
              <a:p>
                <a:pPr lvl="1"/>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355002" y="1312432"/>
                <a:ext cx="11478410" cy="5382657"/>
              </a:xfrm>
              <a:blipFill>
                <a:blip r:embed="rId3"/>
                <a:stretch>
                  <a:fillRect l="-956" t="-1812" b="-1359"/>
                </a:stretch>
              </a:blipFill>
              <a:ln>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Rectangle 5">
                <a:extLst>
                  <a:ext uri="{FF2B5EF4-FFF2-40B4-BE49-F238E27FC236}">
                    <a16:creationId xmlns:a16="http://schemas.microsoft.com/office/drawing/2014/main" id="{C932D4A6-DA1F-4C88-9008-F410A50A9AC2}"/>
                  </a:ext>
                </a:extLst>
              </p:cNvPr>
              <p:cNvSpPr/>
              <p:nvPr/>
            </p:nvSpPr>
            <p:spPr>
              <a:xfrm>
                <a:off x="3289451" y="3744821"/>
                <a:ext cx="3937103" cy="461665"/>
              </a:xfrm>
              <a:prstGeom prst="rect">
                <a:avLst/>
              </a:prstGeom>
              <a:ln>
                <a:solidFill>
                  <a:srgbClr val="C00000"/>
                </a:solidFill>
              </a:ln>
            </p:spPr>
            <p:txBody>
              <a:bodyPr wrap="none">
                <a:spAutoFit/>
              </a:bodyPr>
              <a:lstStyle/>
              <a:p>
                <a:pPr/>
                <a14:m>
                  <m:oMathPara xmlns:m="http://schemas.openxmlformats.org/officeDocument/2006/math">
                    <m:oMathParaPr>
                      <m:jc m:val="centerGroup"/>
                    </m:oMathParaPr>
                    <m:oMath xmlns:m="http://schemas.openxmlformats.org/officeDocument/2006/math">
                      <m:func>
                        <m:funcPr>
                          <m:ctrlPr>
                            <a:rPr lang="en-US" sz="2400" i="1" smtClean="0">
                              <a:latin typeface="Cambria Math" panose="02040503050406030204" pitchFamily="18" charset="0"/>
                            </a:rPr>
                          </m:ctrlPr>
                        </m:funcPr>
                        <m:fName>
                          <m:r>
                            <m:rPr>
                              <m:sty m:val="p"/>
                            </m:rPr>
                            <a:rPr lang="en-US" sz="2400">
                              <a:latin typeface="Cambria Math" panose="02040503050406030204" pitchFamily="18" charset="0"/>
                            </a:rPr>
                            <m:t>m</m:t>
                          </m:r>
                          <m:r>
                            <m:rPr>
                              <m:sty m:val="p"/>
                            </m:rPr>
                            <a:rPr lang="en-US" sz="2400" b="0" i="0" smtClean="0">
                              <a:latin typeface="Cambria Math" panose="02040503050406030204" pitchFamily="18" charset="0"/>
                            </a:rPr>
                            <m:t>ax</m:t>
                          </m:r>
                          <m:r>
                            <a:rPr lang="en-US" sz="2400">
                              <a:latin typeface="Cambria Math" panose="02040503050406030204" pitchFamily="18" charset="0"/>
                            </a:rPr>
                            <m:t>   </m:t>
                          </m:r>
                        </m:fName>
                        <m:e>
                          <m:r>
                            <a:rPr lang="en-US" sz="2400" b="0" i="1" smtClean="0">
                              <a:latin typeface="Cambria Math" panose="02040503050406030204" pitchFamily="18" charset="0"/>
                            </a:rPr>
                            <m:t>𝐸</m:t>
                          </m:r>
                          <m:r>
                            <a:rPr lang="en-US" sz="2400" b="0" i="1" smtClean="0">
                              <a:latin typeface="Cambria Math" panose="02040503050406030204" pitchFamily="18" charset="0"/>
                            </a:rPr>
                            <m:t>[</m:t>
                          </m:r>
                          <m:r>
                            <a:rPr lang="en-US" sz="2400" b="0" i="1" smtClean="0">
                              <a:latin typeface="Cambria Math" panose="02040503050406030204" pitchFamily="18" charset="0"/>
                            </a:rPr>
                            <m:t>𝑃</m:t>
                          </m:r>
                          <m:d>
                            <m:dPr>
                              <m:ctrlPr>
                                <a:rPr lang="en-US" sz="2400" i="1">
                                  <a:latin typeface="Cambria Math" panose="02040503050406030204" pitchFamily="18" charset="0"/>
                                </a:rPr>
                              </m:ctrlPr>
                            </m:dPr>
                            <m:e>
                              <m:r>
                                <a:rPr lang="en-US" sz="2400" b="0" i="1" smtClean="0">
                                  <a:latin typeface="Cambria Math" panose="02040503050406030204" pitchFamily="18" charset="0"/>
                                </a:rPr>
                                <m:t>𝑄</m:t>
                              </m:r>
                              <m:r>
                                <a:rPr lang="en-US" sz="2400" i="1">
                                  <a:latin typeface="Cambria Math" panose="02040503050406030204" pitchFamily="18" charset="0"/>
                                </a:rPr>
                                <m:t>,</m:t>
                              </m:r>
                              <m:r>
                                <a:rPr lang="en-US" sz="2400" b="0" i="1" smtClean="0">
                                  <a:latin typeface="Cambria Math" panose="02040503050406030204" pitchFamily="18" charset="0"/>
                                </a:rPr>
                                <m:t>𝑥</m:t>
                              </m:r>
                            </m:e>
                          </m:d>
                          <m:r>
                            <a:rPr lang="en-US" sz="2400" b="0" i="1" smtClean="0">
                              <a:latin typeface="Cambria Math" panose="02040503050406030204" pitchFamily="18" charset="0"/>
                            </a:rPr>
                            <m:t>]</m:t>
                          </m:r>
                          <m:r>
                            <a:rPr lang="en-US" sz="2400" i="1">
                              <a:latin typeface="Cambria Math" panose="02040503050406030204" pitchFamily="18" charset="0"/>
                            </a:rPr>
                            <m:t>  </m:t>
                          </m:r>
                          <m:r>
                            <a:rPr lang="en-US" sz="2400" i="1">
                              <a:latin typeface="Cambria Math" panose="02040503050406030204" pitchFamily="18" charset="0"/>
                            </a:rPr>
                            <m:t>𝑠</m:t>
                          </m:r>
                          <m:r>
                            <a:rPr lang="en-US" sz="2400" i="1">
                              <a:latin typeface="Cambria Math" panose="02040503050406030204" pitchFamily="18" charset="0"/>
                            </a:rPr>
                            <m:t>.</m:t>
                          </m:r>
                          <m:r>
                            <a:rPr lang="en-US" sz="2400" i="1">
                              <a:latin typeface="Cambria Math" panose="02040503050406030204" pitchFamily="18" charset="0"/>
                            </a:rPr>
                            <m:t>𝑡</m:t>
                          </m:r>
                          <m:r>
                            <a:rPr lang="en-US" sz="2400" i="1">
                              <a:latin typeface="Cambria Math" panose="02040503050406030204" pitchFamily="18" charset="0"/>
                            </a:rPr>
                            <m:t>.  </m:t>
                          </m:r>
                          <m:r>
                            <a:rPr lang="en-US" sz="2400" b="0" i="1" smtClean="0">
                              <a:latin typeface="Cambria Math" panose="02040503050406030204" pitchFamily="18" charset="0"/>
                            </a:rPr>
                            <m:t>𝑄</m:t>
                          </m:r>
                          <m:r>
                            <a:rPr lang="en-US" sz="2400" b="0" i="1" smtClean="0">
                              <a:latin typeface="Cambria Math" panose="02040503050406030204" pitchFamily="18" charset="0"/>
                            </a:rPr>
                            <m:t>≥0</m:t>
                          </m:r>
                        </m:e>
                      </m:func>
                    </m:oMath>
                  </m:oMathPara>
                </a14:m>
                <a:endParaRPr lang="en-US" sz="2400" dirty="0"/>
              </a:p>
            </p:txBody>
          </p:sp>
        </mc:Choice>
        <mc:Fallback xmlns="">
          <p:sp>
            <p:nvSpPr>
              <p:cNvPr id="6" name="Rectangle 5">
                <a:extLst>
                  <a:ext uri="{FF2B5EF4-FFF2-40B4-BE49-F238E27FC236}">
                    <a16:creationId xmlns:a16="http://schemas.microsoft.com/office/drawing/2014/main" id="{C932D4A6-DA1F-4C88-9008-F410A50A9AC2}"/>
                  </a:ext>
                </a:extLst>
              </p:cNvPr>
              <p:cNvSpPr>
                <a:spLocks noRot="1" noChangeAspect="1" noMove="1" noResize="1" noEditPoints="1" noAdjustHandles="1" noChangeArrowheads="1" noChangeShapeType="1" noTextEdit="1"/>
              </p:cNvSpPr>
              <p:nvPr/>
            </p:nvSpPr>
            <p:spPr>
              <a:xfrm>
                <a:off x="3289451" y="3744821"/>
                <a:ext cx="3937103" cy="461665"/>
              </a:xfrm>
              <a:prstGeom prst="rect">
                <a:avLst/>
              </a:prstGeom>
              <a:blipFill>
                <a:blip r:embed="rId4"/>
                <a:stretch>
                  <a:fillRect b="-15385"/>
                </a:stretch>
              </a:blipFill>
              <a:ln>
                <a:solidFill>
                  <a:srgbClr val="C00000"/>
                </a:solidFill>
              </a:ln>
            </p:spPr>
            <p:txBody>
              <a:bodyPr/>
              <a:lstStyle/>
              <a:p>
                <a:r>
                  <a:rPr lang="en-US">
                    <a:noFill/>
                  </a:rPr>
                  <a:t> </a:t>
                </a:r>
              </a:p>
            </p:txBody>
          </p:sp>
        </mc:Fallback>
      </mc:AlternateContent>
      <p:pic>
        <p:nvPicPr>
          <p:cNvPr id="13" name="Picture 12">
            <a:extLst>
              <a:ext uri="{FF2B5EF4-FFF2-40B4-BE49-F238E27FC236}">
                <a16:creationId xmlns:a16="http://schemas.microsoft.com/office/drawing/2014/main" id="{8EBF5DCD-55B5-4CA6-A096-1559E2CDEC21}"/>
              </a:ext>
            </a:extLst>
          </p:cNvPr>
          <p:cNvPicPr>
            <a:picLocks noChangeAspect="1"/>
          </p:cNvPicPr>
          <p:nvPr/>
        </p:nvPicPr>
        <p:blipFill>
          <a:blip r:embed="rId5"/>
          <a:stretch>
            <a:fillRect/>
          </a:stretch>
        </p:blipFill>
        <p:spPr>
          <a:xfrm>
            <a:off x="1569720" y="2231717"/>
            <a:ext cx="8321040" cy="976182"/>
          </a:xfrm>
          <a:prstGeom prst="rect">
            <a:avLst/>
          </a:prstGeom>
        </p:spPr>
      </p:pic>
      <p:pic>
        <p:nvPicPr>
          <p:cNvPr id="16" name="Picture 15">
            <a:extLst>
              <a:ext uri="{FF2B5EF4-FFF2-40B4-BE49-F238E27FC236}">
                <a16:creationId xmlns:a16="http://schemas.microsoft.com/office/drawing/2014/main" id="{CA52C62A-43E7-47A3-BE4F-9937D2B24778}"/>
              </a:ext>
            </a:extLst>
          </p:cNvPr>
          <p:cNvPicPr>
            <a:picLocks noChangeAspect="1"/>
          </p:cNvPicPr>
          <p:nvPr/>
        </p:nvPicPr>
        <p:blipFill>
          <a:blip r:embed="rId6"/>
          <a:stretch>
            <a:fillRect/>
          </a:stretch>
        </p:blipFill>
        <p:spPr>
          <a:xfrm>
            <a:off x="7294880" y="4373283"/>
            <a:ext cx="4645212" cy="1174272"/>
          </a:xfrm>
          <a:prstGeom prst="rect">
            <a:avLst/>
          </a:prstGeom>
        </p:spPr>
      </p:pic>
      <p:sp>
        <p:nvSpPr>
          <p:cNvPr id="17" name="Arrow: Curved Left 16">
            <a:extLst>
              <a:ext uri="{FF2B5EF4-FFF2-40B4-BE49-F238E27FC236}">
                <a16:creationId xmlns:a16="http://schemas.microsoft.com/office/drawing/2014/main" id="{5357BECF-558C-4674-AC15-EF85846B8FC7}"/>
              </a:ext>
            </a:extLst>
          </p:cNvPr>
          <p:cNvSpPr/>
          <p:nvPr/>
        </p:nvSpPr>
        <p:spPr>
          <a:xfrm>
            <a:off x="6487160" y="4409440"/>
            <a:ext cx="497840" cy="949960"/>
          </a:xfrm>
          <a:prstGeom prst="curved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Tree>
    <p:extLst>
      <p:ext uri="{BB962C8B-B14F-4D97-AF65-F5344CB8AC3E}">
        <p14:creationId xmlns:p14="http://schemas.microsoft.com/office/powerpoint/2010/main" val="16930623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3"/>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6" end="6"/>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6"/>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7"/>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17" grpId="0" animBg="1"/>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Stochastic Optimization</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355002" y="1312433"/>
                <a:ext cx="11478410" cy="4864530"/>
              </a:xfrm>
              <a:ln>
                <a:noFill/>
              </a:ln>
            </p:spPr>
            <p:txBody>
              <a:bodyPr/>
              <a:lstStyle/>
              <a:p>
                <a:r>
                  <a:rPr lang="en-US" b="1" u="sng" dirty="0"/>
                  <a:t>Example: Newsvendor Problem</a:t>
                </a:r>
              </a:p>
              <a:p>
                <a:pPr lvl="1"/>
                <a:r>
                  <a:rPr lang="en-US" dirty="0"/>
                  <a:t>For normally distributed demand with mean </a:t>
                </a:r>
                <a14:m>
                  <m:oMath xmlns:m="http://schemas.openxmlformats.org/officeDocument/2006/math">
                    <m:r>
                      <a:rPr lang="en-US" b="0" i="1" smtClean="0">
                        <a:latin typeface="Cambria Math" panose="02040503050406030204" pitchFamily="18" charset="0"/>
                      </a:rPr>
                      <m:t>𝜇</m:t>
                    </m:r>
                  </m:oMath>
                </a14:m>
                <a:r>
                  <a:rPr lang="en-US" dirty="0"/>
                  <a:t> and standard deviation </a:t>
                </a:r>
                <a14:m>
                  <m:oMath xmlns:m="http://schemas.openxmlformats.org/officeDocument/2006/math">
                    <m:r>
                      <a:rPr lang="en-US" b="0" i="1" smtClean="0">
                        <a:latin typeface="Cambria Math" panose="02040503050406030204" pitchFamily="18" charset="0"/>
                      </a:rPr>
                      <m:t>𝜎</m:t>
                    </m:r>
                  </m:oMath>
                </a14:m>
                <a:endParaRPr lang="en-US" dirty="0"/>
              </a:p>
              <a:p>
                <a:pPr lvl="1"/>
                <a:r>
                  <a:rPr lang="en-US" dirty="0"/>
                  <a:t>Expected profit for ordering O units, i.e., when </a:t>
                </a:r>
                <a14:m>
                  <m:oMath xmlns:m="http://schemas.openxmlformats.org/officeDocument/2006/math">
                    <m:r>
                      <a:rPr lang="en-US" b="0" i="1" smtClean="0">
                        <a:latin typeface="Cambria Math" panose="02040503050406030204" pitchFamily="18" charset="0"/>
                      </a:rPr>
                      <m:t>𝑄</m:t>
                    </m:r>
                    <m:r>
                      <a:rPr lang="en-US" b="0" i="1" smtClean="0">
                        <a:latin typeface="Cambria Math" panose="02040503050406030204" pitchFamily="18" charset="0"/>
                      </a:rPr>
                      <m:t>=</m:t>
                    </m:r>
                    <m:r>
                      <a:rPr lang="en-US" b="0" i="1" smtClean="0">
                        <a:latin typeface="Cambria Math" panose="02040503050406030204" pitchFamily="18" charset="0"/>
                      </a:rPr>
                      <m:t>𝑂</m:t>
                    </m:r>
                  </m:oMath>
                </a14:m>
                <a:r>
                  <a:rPr lang="en-US" dirty="0"/>
                  <a:t>, we have</a:t>
                </a:r>
              </a:p>
              <a:p>
                <a:pPr lvl="1"/>
                <a:endParaRPr lang="en-US" dirty="0"/>
              </a:p>
              <a:p>
                <a:pPr lvl="1"/>
                <a:endParaRPr lang="en-US" dirty="0"/>
              </a:p>
              <a:p>
                <a:pPr lvl="1"/>
                <a:endParaRPr lang="en-US" dirty="0"/>
              </a:p>
              <a:p>
                <a:pPr lvl="1"/>
                <a:endParaRPr lang="en-US" dirty="0"/>
              </a:p>
              <a:p>
                <a:pPr lvl="2"/>
                <a:r>
                  <a:rPr lang="en-US" dirty="0"/>
                  <a:t>Here, </a:t>
                </a:r>
                <a14:m>
                  <m:oMath xmlns:m="http://schemas.openxmlformats.org/officeDocument/2006/math">
                    <m:sSub>
                      <m:sSubPr>
                        <m:ctrlPr>
                          <a:rPr lang="en-US" i="1">
                            <a:latin typeface="Cambria Math" panose="02040503050406030204" pitchFamily="18" charset="0"/>
                          </a:rPr>
                        </m:ctrlPr>
                      </m:sSubPr>
                      <m:e>
                        <m:r>
                          <m:rPr>
                            <m:sty m:val="p"/>
                          </m:rPr>
                          <a:rPr lang="en-US">
                            <a:latin typeface="Cambria Math" panose="02040503050406030204" pitchFamily="18" charset="0"/>
                          </a:rPr>
                          <m:t>f</m:t>
                        </m:r>
                      </m:e>
                      <m:sub>
                        <m:r>
                          <m:rPr>
                            <m:sty m:val="p"/>
                          </m:rPr>
                          <a:rPr lang="en-US">
                            <a:latin typeface="Cambria Math" panose="02040503050406030204" pitchFamily="18" charset="0"/>
                          </a:rPr>
                          <m:t>s</m:t>
                        </m:r>
                      </m:sub>
                    </m:sSub>
                  </m:oMath>
                </a14:m>
                <a:r>
                  <a:rPr lang="en-US" dirty="0"/>
                  <a:t> and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𝐹</m:t>
                        </m:r>
                      </m:e>
                      <m:sub>
                        <m:r>
                          <a:rPr lang="en-US" b="0" i="1" smtClean="0">
                            <a:latin typeface="Cambria Math" panose="02040503050406030204" pitchFamily="18" charset="0"/>
                          </a:rPr>
                          <m:t>𝑠</m:t>
                        </m:r>
                      </m:sub>
                    </m:sSub>
                  </m:oMath>
                </a14:m>
                <a:r>
                  <a:rPr lang="en-US" dirty="0"/>
                  <a:t> denote pdf and </a:t>
                </a:r>
                <a:r>
                  <a:rPr lang="en-US" dirty="0" err="1"/>
                  <a:t>cdf</a:t>
                </a:r>
                <a:r>
                  <a:rPr lang="en-US" dirty="0"/>
                  <a:t> of standard normal distribution</a:t>
                </a:r>
              </a:p>
              <a:p>
                <a:pPr lvl="2"/>
                <a:r>
                  <a:rPr lang="en-US" dirty="0"/>
                  <a:t>In Excel, this can be written as:</a:t>
                </a:r>
                <a:br>
                  <a:rPr lang="en-US" dirty="0"/>
                </a:br>
                <a:r>
                  <a:rPr lang="en-US" dirty="0"/>
                  <a:t>	</a:t>
                </a:r>
              </a:p>
              <a:p>
                <a:endParaRPr lang="en-US" sz="2400" b="1" dirty="0"/>
              </a:p>
              <a:p>
                <a:pPr lvl="1"/>
                <a:endParaRPr lang="en-US" dirty="0"/>
              </a:p>
              <a:p>
                <a:pPr lvl="1"/>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355002" y="1312433"/>
                <a:ext cx="11478410" cy="4864530"/>
              </a:xfrm>
              <a:blipFill>
                <a:blip r:embed="rId3"/>
                <a:stretch>
                  <a:fillRect l="-956" t="-2005"/>
                </a:stretch>
              </a:blipFill>
              <a:ln>
                <a:noFill/>
              </a:ln>
            </p:spPr>
            <p:txBody>
              <a:bodyPr/>
              <a:lstStyle/>
              <a:p>
                <a:r>
                  <a:rPr lang="en-US">
                    <a:noFill/>
                  </a:rPr>
                  <a:t> </a:t>
                </a:r>
              </a:p>
            </p:txBody>
          </p:sp>
        </mc:Fallback>
      </mc:AlternateContent>
      <p:pic>
        <p:nvPicPr>
          <p:cNvPr id="6" name="Picture 5">
            <a:extLst>
              <a:ext uri="{FF2B5EF4-FFF2-40B4-BE49-F238E27FC236}">
                <a16:creationId xmlns:a16="http://schemas.microsoft.com/office/drawing/2014/main" id="{E19C688C-0939-44DE-8422-445268789FFF}"/>
              </a:ext>
            </a:extLst>
          </p:cNvPr>
          <p:cNvPicPr>
            <a:picLocks noChangeAspect="1"/>
          </p:cNvPicPr>
          <p:nvPr/>
        </p:nvPicPr>
        <p:blipFill>
          <a:blip r:embed="rId4"/>
          <a:stretch>
            <a:fillRect/>
          </a:stretch>
        </p:blipFill>
        <p:spPr>
          <a:xfrm>
            <a:off x="2311400" y="2742490"/>
            <a:ext cx="8514080" cy="1144448"/>
          </a:xfrm>
          <a:prstGeom prst="rect">
            <a:avLst/>
          </a:prstGeom>
        </p:spPr>
      </p:pic>
      <p:pic>
        <p:nvPicPr>
          <p:cNvPr id="7" name="Picture 6">
            <a:extLst>
              <a:ext uri="{FF2B5EF4-FFF2-40B4-BE49-F238E27FC236}">
                <a16:creationId xmlns:a16="http://schemas.microsoft.com/office/drawing/2014/main" id="{C1E02EC3-54C4-4D29-989F-43F72E134BF2}"/>
              </a:ext>
            </a:extLst>
          </p:cNvPr>
          <p:cNvPicPr>
            <a:picLocks noChangeAspect="1"/>
          </p:cNvPicPr>
          <p:nvPr/>
        </p:nvPicPr>
        <p:blipFill>
          <a:blip r:embed="rId5"/>
          <a:stretch>
            <a:fillRect/>
          </a:stretch>
        </p:blipFill>
        <p:spPr>
          <a:xfrm>
            <a:off x="2426447" y="4868848"/>
            <a:ext cx="7335520" cy="1537205"/>
          </a:xfrm>
          <a:prstGeom prst="rect">
            <a:avLst/>
          </a:prstGeom>
        </p:spPr>
      </p:pic>
    </p:spTree>
    <p:extLst>
      <p:ext uri="{BB962C8B-B14F-4D97-AF65-F5344CB8AC3E}">
        <p14:creationId xmlns:p14="http://schemas.microsoft.com/office/powerpoint/2010/main" val="16736215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8" end="8"/>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Stochastic Optimization</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355002" y="1312433"/>
                <a:ext cx="11478410" cy="5361636"/>
              </a:xfrm>
              <a:ln>
                <a:noFill/>
              </a:ln>
            </p:spPr>
            <p:txBody>
              <a:bodyPr>
                <a:normAutofit/>
              </a:bodyPr>
              <a:lstStyle/>
              <a:p>
                <a:r>
                  <a:rPr lang="en-US" b="1" u="sng" dirty="0"/>
                  <a:t>Example: Newsvendor Problem</a:t>
                </a:r>
              </a:p>
              <a:p>
                <a:pPr lvl="1"/>
                <a:r>
                  <a:rPr lang="en-US" dirty="0"/>
                  <a:t>A numerical demonstration:</a:t>
                </a:r>
              </a:p>
              <a:p>
                <a:pPr lvl="2"/>
                <a:r>
                  <a:rPr lang="en-US" dirty="0"/>
                  <a:t>Say a company purchases products for </a:t>
                </a:r>
                <a14:m>
                  <m:oMath xmlns:m="http://schemas.openxmlformats.org/officeDocument/2006/math">
                    <m:r>
                      <m:rPr>
                        <m:sty m:val="p"/>
                      </m:rPr>
                      <a:rPr lang="en-US" b="0" i="0" dirty="0" smtClean="0">
                        <a:latin typeface="Cambria Math" panose="02040503050406030204" pitchFamily="18" charset="0"/>
                      </a:rPr>
                      <m:t>c</m:t>
                    </m:r>
                    <m:r>
                      <a:rPr lang="en-US" b="0" i="0" dirty="0" smtClean="0">
                        <a:latin typeface="Cambria Math" panose="02040503050406030204" pitchFamily="18" charset="0"/>
                      </a:rPr>
                      <m:t>=</m:t>
                    </m:r>
                    <m:r>
                      <a:rPr lang="en-US" i="1" dirty="0" smtClean="0">
                        <a:latin typeface="Cambria Math" panose="02040503050406030204" pitchFamily="18" charset="0"/>
                      </a:rPr>
                      <m:t>$100 </m:t>
                    </m:r>
                  </m:oMath>
                </a14:m>
                <a:r>
                  <a:rPr lang="en-US" dirty="0"/>
                  <a:t>per unit, sells it for </a:t>
                </a:r>
                <a14:m>
                  <m:oMath xmlns:m="http://schemas.openxmlformats.org/officeDocument/2006/math">
                    <m:r>
                      <m:rPr>
                        <m:sty m:val="p"/>
                      </m:rPr>
                      <a:rPr lang="en-US" b="0" i="0" dirty="0" smtClean="0">
                        <a:latin typeface="Cambria Math" panose="02040503050406030204" pitchFamily="18" charset="0"/>
                      </a:rPr>
                      <m:t>p</m:t>
                    </m:r>
                    <m:r>
                      <a:rPr lang="en-US" b="0" i="0" dirty="0" smtClean="0">
                        <a:latin typeface="Cambria Math" panose="02040503050406030204" pitchFamily="18" charset="0"/>
                      </a:rPr>
                      <m:t>=</m:t>
                    </m:r>
                    <m:r>
                      <a:rPr lang="en-US" i="1" dirty="0" smtClean="0">
                        <a:latin typeface="Cambria Math" panose="02040503050406030204" pitchFamily="18" charset="0"/>
                      </a:rPr>
                      <m:t>$250 </m:t>
                    </m:r>
                  </m:oMath>
                </a14:m>
                <a:r>
                  <a:rPr lang="en-US" dirty="0"/>
                  <a:t>per unit, each product that is not sold is given to recycling for </a:t>
                </a:r>
                <a14:m>
                  <m:oMath xmlns:m="http://schemas.openxmlformats.org/officeDocument/2006/math">
                    <m:r>
                      <m:rPr>
                        <m:sty m:val="p"/>
                      </m:rPr>
                      <a:rPr lang="en-US" b="0" i="0" dirty="0" smtClean="0">
                        <a:latin typeface="Cambria Math" panose="02040503050406030204" pitchFamily="18" charset="0"/>
                      </a:rPr>
                      <m:t>s</m:t>
                    </m:r>
                    <m:r>
                      <a:rPr lang="en-US" b="0" i="0" dirty="0" smtClean="0">
                        <a:latin typeface="Cambria Math" panose="02040503050406030204" pitchFamily="18" charset="0"/>
                      </a:rPr>
                      <m:t>=</m:t>
                    </m:r>
                    <m:r>
                      <a:rPr lang="en-US" i="1" dirty="0" smtClean="0">
                        <a:latin typeface="Cambria Math" panose="02040503050406030204" pitchFamily="18" charset="0"/>
                      </a:rPr>
                      <m:t>$80 </m:t>
                    </m:r>
                  </m:oMath>
                </a14:m>
                <a:r>
                  <a:rPr lang="en-US" dirty="0"/>
                  <a:t>per unit</a:t>
                </a:r>
              </a:p>
              <a:p>
                <a:pPr lvl="3"/>
                <a:r>
                  <a:rPr lang="en-US" dirty="0"/>
                  <a:t>Overstocking cost is then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𝐶</m:t>
                        </m:r>
                      </m:e>
                      <m:sub>
                        <m:r>
                          <a:rPr lang="en-US" b="0" i="1" smtClean="0">
                            <a:latin typeface="Cambria Math" panose="02040503050406030204" pitchFamily="18" charset="0"/>
                          </a:rPr>
                          <m:t>𝑂</m:t>
                        </m:r>
                      </m:sub>
                    </m:sSub>
                    <m:r>
                      <a:rPr lang="en-US" b="0" i="1" smtClean="0">
                        <a:latin typeface="Cambria Math" panose="02040503050406030204" pitchFamily="18" charset="0"/>
                      </a:rPr>
                      <m:t>=</m:t>
                    </m:r>
                    <m:r>
                      <a:rPr lang="en-US" b="0" i="1" smtClean="0">
                        <a:latin typeface="Cambria Math" panose="02040503050406030204" pitchFamily="18" charset="0"/>
                      </a:rPr>
                      <m:t>𝑐</m:t>
                    </m:r>
                    <m:r>
                      <a:rPr lang="en-US" b="0" i="1" smtClean="0">
                        <a:latin typeface="Cambria Math" panose="02040503050406030204" pitchFamily="18" charset="0"/>
                      </a:rPr>
                      <m:t>−</m:t>
                    </m:r>
                    <m:r>
                      <a:rPr lang="en-US" b="0" i="1" smtClean="0">
                        <a:latin typeface="Cambria Math" panose="02040503050406030204" pitchFamily="18" charset="0"/>
                      </a:rPr>
                      <m:t>𝑠</m:t>
                    </m:r>
                    <m:r>
                      <a:rPr lang="en-US" b="0" i="1" smtClean="0">
                        <a:latin typeface="Cambria Math" panose="02040503050406030204" pitchFamily="18" charset="0"/>
                      </a:rPr>
                      <m:t>=100−80=20</m:t>
                    </m:r>
                  </m:oMath>
                </a14:m>
                <a:endParaRPr lang="en-US" dirty="0"/>
              </a:p>
              <a:p>
                <a:pPr lvl="3"/>
                <a:r>
                  <a:rPr lang="en-US" dirty="0"/>
                  <a:t>Understocking cost is then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𝐶</m:t>
                        </m:r>
                      </m:e>
                      <m:sub>
                        <m:r>
                          <a:rPr lang="en-US" b="0" i="1" smtClean="0">
                            <a:latin typeface="Cambria Math" panose="02040503050406030204" pitchFamily="18" charset="0"/>
                          </a:rPr>
                          <m:t>𝑈</m:t>
                        </m:r>
                      </m:sub>
                    </m:sSub>
                    <m:r>
                      <a:rPr lang="en-US" b="0" i="1" smtClean="0">
                        <a:latin typeface="Cambria Math" panose="02040503050406030204" pitchFamily="18" charset="0"/>
                      </a:rPr>
                      <m:t>=</m:t>
                    </m:r>
                    <m:r>
                      <a:rPr lang="en-US" b="0" i="1" smtClean="0">
                        <a:latin typeface="Cambria Math" panose="02040503050406030204" pitchFamily="18" charset="0"/>
                      </a:rPr>
                      <m:t>𝑝</m:t>
                    </m:r>
                    <m:r>
                      <a:rPr lang="en-US" b="0" i="1" smtClean="0">
                        <a:latin typeface="Cambria Math" panose="02040503050406030204" pitchFamily="18" charset="0"/>
                      </a:rPr>
                      <m:t>−</m:t>
                    </m:r>
                    <m:r>
                      <a:rPr lang="en-US" b="0" i="1" smtClean="0">
                        <a:latin typeface="Cambria Math" panose="02040503050406030204" pitchFamily="18" charset="0"/>
                      </a:rPr>
                      <m:t>𝑐</m:t>
                    </m:r>
                    <m:r>
                      <a:rPr lang="en-US" b="0" i="1" smtClean="0">
                        <a:latin typeface="Cambria Math" panose="02040503050406030204" pitchFamily="18" charset="0"/>
                      </a:rPr>
                      <m:t>=250−100=150</m:t>
                    </m:r>
                  </m:oMath>
                </a14:m>
                <a:endParaRPr lang="en-US" dirty="0"/>
              </a:p>
              <a:p>
                <a:pPr lvl="2"/>
                <a:r>
                  <a:rPr lang="en-US" dirty="0"/>
                  <a:t>Demand is Normally distributed with mean </a:t>
                </a:r>
                <a14:m>
                  <m:oMath xmlns:m="http://schemas.openxmlformats.org/officeDocument/2006/math">
                    <m:r>
                      <a:rPr lang="en-US" b="0" i="1" dirty="0" smtClean="0">
                        <a:latin typeface="Cambria Math" panose="02040503050406030204" pitchFamily="18" charset="0"/>
                      </a:rPr>
                      <m:t>𝜇</m:t>
                    </m:r>
                    <m:r>
                      <a:rPr lang="en-US" b="0" i="1" dirty="0" smtClean="0">
                        <a:latin typeface="Cambria Math" panose="02040503050406030204" pitchFamily="18" charset="0"/>
                      </a:rPr>
                      <m:t>=350</m:t>
                    </m:r>
                  </m:oMath>
                </a14:m>
                <a:r>
                  <a:rPr lang="en-US" dirty="0"/>
                  <a:t> and standard deviation </a:t>
                </a:r>
                <a14:m>
                  <m:oMath xmlns:m="http://schemas.openxmlformats.org/officeDocument/2006/math">
                    <m:r>
                      <a:rPr lang="en-US" b="0" i="1" dirty="0" smtClean="0">
                        <a:latin typeface="Cambria Math" panose="02040503050406030204" pitchFamily="18" charset="0"/>
                      </a:rPr>
                      <m:t>𝜎</m:t>
                    </m:r>
                    <m:r>
                      <a:rPr lang="en-US" b="0" i="1" dirty="0" smtClean="0">
                        <a:latin typeface="Cambria Math" panose="02040503050406030204" pitchFamily="18" charset="0"/>
                      </a:rPr>
                      <m:t>=100</m:t>
                    </m:r>
                  </m:oMath>
                </a14:m>
                <a:endParaRPr lang="en-US" dirty="0"/>
              </a:p>
              <a:p>
                <a:pPr lvl="1"/>
                <a:r>
                  <a:rPr lang="en-US" dirty="0"/>
                  <a:t>Say that the newsvendor focuses on maximizing profit assuming that the expected demand is going to be realized (mean value approximation!)</a:t>
                </a:r>
              </a:p>
              <a:p>
                <a:pPr lvl="2"/>
                <a:r>
                  <a:rPr lang="en-US" dirty="0"/>
                  <a:t>So, we want to                                                       and </a:t>
                </a:r>
                <a14:m>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panose="02040503050406030204" pitchFamily="18" charset="0"/>
                          </a:rPr>
                          <m:t>𝑄</m:t>
                        </m:r>
                      </m:e>
                      <m:sup>
                        <m:r>
                          <a:rPr lang="en-US" b="0" i="1" smtClean="0">
                            <a:latin typeface="Cambria Math" panose="02040503050406030204" pitchFamily="18" charset="0"/>
                          </a:rPr>
                          <m:t>∗</m:t>
                        </m:r>
                      </m:sup>
                    </m:sSup>
                    <m:r>
                      <a:rPr lang="en-US" b="0" i="1" smtClean="0">
                        <a:latin typeface="Cambria Math" panose="02040503050406030204" pitchFamily="18" charset="0"/>
                      </a:rPr>
                      <m:t>=350</m:t>
                    </m:r>
                  </m:oMath>
                </a14:m>
                <a:r>
                  <a:rPr lang="en-US" dirty="0"/>
                  <a:t> </a:t>
                </a:r>
              </a:p>
              <a:p>
                <a:pPr lvl="2"/>
                <a:r>
                  <a:rPr lang="en-US" dirty="0"/>
                  <a:t>When 350 units ordered, expected profit is </a:t>
                </a:r>
                <a14:m>
                  <m:oMath xmlns:m="http://schemas.openxmlformats.org/officeDocument/2006/math">
                    <m:r>
                      <a:rPr lang="en-US" b="0" i="1" smtClean="0">
                        <a:latin typeface="Cambria Math" panose="02040503050406030204" pitchFamily="18" charset="0"/>
                      </a:rPr>
                      <m:t>𝐸</m:t>
                    </m:r>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𝑃</m:t>
                        </m:r>
                        <m:d>
                          <m:dPr>
                            <m:ctrlPr>
                              <a:rPr lang="en-US" b="0" i="1" smtClean="0">
                                <a:latin typeface="Cambria Math" panose="02040503050406030204" pitchFamily="18" charset="0"/>
                              </a:rPr>
                            </m:ctrlPr>
                          </m:dPr>
                          <m:e>
                            <m:r>
                              <a:rPr lang="en-US" b="0" i="1" smtClean="0">
                                <a:latin typeface="Cambria Math" panose="02040503050406030204" pitchFamily="18" charset="0"/>
                              </a:rPr>
                              <m:t>350,</m:t>
                            </m:r>
                            <m:r>
                              <a:rPr lang="en-US" b="0" i="1" smtClean="0">
                                <a:latin typeface="Cambria Math" panose="02040503050406030204" pitchFamily="18" charset="0"/>
                              </a:rPr>
                              <m:t>𝑥</m:t>
                            </m:r>
                          </m:e>
                        </m:d>
                      </m:e>
                    </m:d>
                    <m:r>
                      <a:rPr lang="en-US" b="0" i="1" smtClean="0">
                        <a:latin typeface="Cambria Math" panose="02040503050406030204" pitchFamily="18" charset="0"/>
                      </a:rPr>
                      <m:t>=$45,718</m:t>
                    </m:r>
                  </m:oMath>
                </a14:m>
                <a:endParaRPr lang="en-US" dirty="0"/>
              </a:p>
              <a:p>
                <a:pPr lvl="1"/>
                <a:r>
                  <a:rPr lang="en-US" dirty="0"/>
                  <a:t>Now, say the newsvendor focuses on maximizing expected profit</a:t>
                </a:r>
              </a:p>
              <a:p>
                <a:pPr lvl="2"/>
                <a:r>
                  <a:rPr lang="en-US" dirty="0"/>
                  <a:t>So we want to                                                             and </a:t>
                </a:r>
                <a14:m>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panose="02040503050406030204" pitchFamily="18" charset="0"/>
                          </a:rPr>
                          <m:t>𝑄</m:t>
                        </m:r>
                      </m:e>
                      <m:sup>
                        <m:r>
                          <a:rPr lang="en-US" b="0" i="1" smtClean="0">
                            <a:latin typeface="Cambria Math" panose="02040503050406030204" pitchFamily="18" charset="0"/>
                          </a:rPr>
                          <m:t>∗</m:t>
                        </m:r>
                      </m:sup>
                    </m:sSup>
                    <m:r>
                      <a:rPr lang="en-US" b="0" i="1" smtClean="0">
                        <a:latin typeface="Cambria Math" panose="02040503050406030204" pitchFamily="18" charset="0"/>
                      </a:rPr>
                      <m:t>=</m:t>
                    </m:r>
                    <m:sSup>
                      <m:sSupPr>
                        <m:ctrlPr>
                          <a:rPr lang="en-US" i="1">
                            <a:latin typeface="Cambria Math" panose="02040503050406030204" pitchFamily="18" charset="0"/>
                            <a:sym typeface="Wingdings" panose="05000000000000000000" pitchFamily="2" charset="2"/>
                          </a:rPr>
                        </m:ctrlPr>
                      </m:sSupPr>
                      <m:e>
                        <m:r>
                          <a:rPr lang="en-US" i="1">
                            <a:latin typeface="Cambria Math" panose="02040503050406030204" pitchFamily="18" charset="0"/>
                            <a:sym typeface="Wingdings" panose="05000000000000000000" pitchFamily="2" charset="2"/>
                          </a:rPr>
                          <m:t>𝐹</m:t>
                        </m:r>
                      </m:e>
                      <m:sup>
                        <m:r>
                          <a:rPr lang="en-US" i="1">
                            <a:latin typeface="Cambria Math" panose="02040503050406030204" pitchFamily="18" charset="0"/>
                            <a:sym typeface="Wingdings" panose="05000000000000000000" pitchFamily="2" charset="2"/>
                          </a:rPr>
                          <m:t>−1</m:t>
                        </m:r>
                      </m:sup>
                    </m:sSup>
                    <m:d>
                      <m:dPr>
                        <m:ctrlPr>
                          <a:rPr lang="en-US" i="1">
                            <a:latin typeface="Cambria Math" panose="02040503050406030204" pitchFamily="18" charset="0"/>
                            <a:sym typeface="Wingdings" panose="05000000000000000000" pitchFamily="2" charset="2"/>
                          </a:rPr>
                        </m:ctrlPr>
                      </m:dPr>
                      <m:e>
                        <m:f>
                          <m:fPr>
                            <m:ctrlPr>
                              <a:rPr lang="en-US" i="1">
                                <a:latin typeface="Cambria Math" panose="02040503050406030204" pitchFamily="18" charset="0"/>
                                <a:sym typeface="Wingdings" panose="05000000000000000000" pitchFamily="2" charset="2"/>
                              </a:rPr>
                            </m:ctrlPr>
                          </m:fPr>
                          <m:num>
                            <m:sSub>
                              <m:sSubPr>
                                <m:ctrlPr>
                                  <a:rPr lang="en-US" i="1">
                                    <a:latin typeface="Cambria Math" panose="02040503050406030204" pitchFamily="18" charset="0"/>
                                    <a:sym typeface="Wingdings" panose="05000000000000000000" pitchFamily="2" charset="2"/>
                                  </a:rPr>
                                </m:ctrlPr>
                              </m:sSubPr>
                              <m:e>
                                <m:r>
                                  <a:rPr lang="en-US" i="1">
                                    <a:latin typeface="Cambria Math" panose="02040503050406030204" pitchFamily="18" charset="0"/>
                                    <a:sym typeface="Wingdings" panose="05000000000000000000" pitchFamily="2" charset="2"/>
                                  </a:rPr>
                                  <m:t>𝐶</m:t>
                                </m:r>
                              </m:e>
                              <m:sub>
                                <m:r>
                                  <a:rPr lang="en-US" i="1">
                                    <a:latin typeface="Cambria Math" panose="02040503050406030204" pitchFamily="18" charset="0"/>
                                    <a:sym typeface="Wingdings" panose="05000000000000000000" pitchFamily="2" charset="2"/>
                                  </a:rPr>
                                  <m:t>𝑈</m:t>
                                </m:r>
                              </m:sub>
                            </m:sSub>
                          </m:num>
                          <m:den>
                            <m:sSub>
                              <m:sSubPr>
                                <m:ctrlPr>
                                  <a:rPr lang="en-US" i="1">
                                    <a:latin typeface="Cambria Math" panose="02040503050406030204" pitchFamily="18" charset="0"/>
                                    <a:sym typeface="Wingdings" panose="05000000000000000000" pitchFamily="2" charset="2"/>
                                  </a:rPr>
                                </m:ctrlPr>
                              </m:sSubPr>
                              <m:e>
                                <m:r>
                                  <a:rPr lang="en-US" i="1">
                                    <a:latin typeface="Cambria Math" panose="02040503050406030204" pitchFamily="18" charset="0"/>
                                    <a:sym typeface="Wingdings" panose="05000000000000000000" pitchFamily="2" charset="2"/>
                                  </a:rPr>
                                  <m:t>𝐶</m:t>
                                </m:r>
                              </m:e>
                              <m:sub>
                                <m:r>
                                  <a:rPr lang="en-US" i="1">
                                    <a:latin typeface="Cambria Math" panose="02040503050406030204" pitchFamily="18" charset="0"/>
                                    <a:sym typeface="Wingdings" panose="05000000000000000000" pitchFamily="2" charset="2"/>
                                  </a:rPr>
                                  <m:t>𝑈</m:t>
                                </m:r>
                              </m:sub>
                            </m:sSub>
                            <m:r>
                              <a:rPr lang="en-US" i="1">
                                <a:latin typeface="Cambria Math" panose="02040503050406030204" pitchFamily="18" charset="0"/>
                                <a:sym typeface="Wingdings" panose="05000000000000000000" pitchFamily="2" charset="2"/>
                              </a:rPr>
                              <m:t>+</m:t>
                            </m:r>
                            <m:sSub>
                              <m:sSubPr>
                                <m:ctrlPr>
                                  <a:rPr lang="en-US" i="1">
                                    <a:latin typeface="Cambria Math" panose="02040503050406030204" pitchFamily="18" charset="0"/>
                                    <a:sym typeface="Wingdings" panose="05000000000000000000" pitchFamily="2" charset="2"/>
                                  </a:rPr>
                                </m:ctrlPr>
                              </m:sSubPr>
                              <m:e>
                                <m:r>
                                  <a:rPr lang="en-US" i="1">
                                    <a:latin typeface="Cambria Math" panose="02040503050406030204" pitchFamily="18" charset="0"/>
                                    <a:sym typeface="Wingdings" panose="05000000000000000000" pitchFamily="2" charset="2"/>
                                  </a:rPr>
                                  <m:t>𝐶</m:t>
                                </m:r>
                              </m:e>
                              <m:sub>
                                <m:r>
                                  <a:rPr lang="en-US" i="1">
                                    <a:latin typeface="Cambria Math" panose="02040503050406030204" pitchFamily="18" charset="0"/>
                                    <a:sym typeface="Wingdings" panose="05000000000000000000" pitchFamily="2" charset="2"/>
                                  </a:rPr>
                                  <m:t>𝑂</m:t>
                                </m:r>
                              </m:sub>
                            </m:sSub>
                          </m:den>
                        </m:f>
                      </m:e>
                    </m:d>
                    <m:r>
                      <a:rPr lang="en-US" b="0" i="0" smtClean="0">
                        <a:latin typeface="Cambria Math" panose="02040503050406030204" pitchFamily="18" charset="0"/>
                        <a:sym typeface="Wingdings" panose="05000000000000000000" pitchFamily="2" charset="2"/>
                      </a:rPr>
                      <m:t>=</m:t>
                    </m:r>
                    <m:sSup>
                      <m:sSupPr>
                        <m:ctrlPr>
                          <a:rPr lang="en-US" b="0" i="1" smtClean="0">
                            <a:latin typeface="Cambria Math" panose="02040503050406030204" pitchFamily="18" charset="0"/>
                            <a:sym typeface="Wingdings" panose="05000000000000000000" pitchFamily="2" charset="2"/>
                          </a:rPr>
                        </m:ctrlPr>
                      </m:sSupPr>
                      <m:e>
                        <m:r>
                          <m:rPr>
                            <m:sty m:val="p"/>
                          </m:rPr>
                          <a:rPr lang="en-US" b="0" i="0" smtClean="0">
                            <a:latin typeface="Cambria Math" panose="02040503050406030204" pitchFamily="18" charset="0"/>
                            <a:sym typeface="Wingdings" panose="05000000000000000000" pitchFamily="2" charset="2"/>
                          </a:rPr>
                          <m:t>F</m:t>
                        </m:r>
                      </m:e>
                      <m:sup>
                        <m:r>
                          <a:rPr lang="en-US" b="0" i="0" smtClean="0">
                            <a:latin typeface="Cambria Math" panose="02040503050406030204" pitchFamily="18" charset="0"/>
                            <a:sym typeface="Wingdings" panose="05000000000000000000" pitchFamily="2" charset="2"/>
                          </a:rPr>
                          <m:t>−1</m:t>
                        </m:r>
                      </m:sup>
                    </m:sSup>
                    <m:r>
                      <a:rPr lang="en-US" b="0" i="0" smtClean="0">
                        <a:latin typeface="Cambria Math" panose="02040503050406030204" pitchFamily="18" charset="0"/>
                        <a:sym typeface="Wingdings" panose="05000000000000000000" pitchFamily="2" charset="2"/>
                      </a:rPr>
                      <m:t>(0.88)</m:t>
                    </m:r>
                  </m:oMath>
                </a14:m>
                <a:r>
                  <a:rPr lang="en-US" dirty="0"/>
                  <a:t> </a:t>
                </a:r>
                <a:r>
                  <a:rPr lang="en-US" dirty="0">
                    <a:sym typeface="Wingdings" panose="05000000000000000000" pitchFamily="2" charset="2"/>
                  </a:rPr>
                  <a:t> </a:t>
                </a:r>
                <a14:m>
                  <m:oMath xmlns:m="http://schemas.openxmlformats.org/officeDocument/2006/math">
                    <m:sSup>
                      <m:sSupPr>
                        <m:ctrlPr>
                          <a:rPr lang="en-US" b="0" i="1" smtClean="0">
                            <a:latin typeface="Cambria Math" panose="02040503050406030204" pitchFamily="18" charset="0"/>
                            <a:sym typeface="Wingdings" panose="05000000000000000000" pitchFamily="2" charset="2"/>
                          </a:rPr>
                        </m:ctrlPr>
                      </m:sSupPr>
                      <m:e>
                        <m:r>
                          <a:rPr lang="en-US" b="0" i="1" smtClean="0">
                            <a:latin typeface="Cambria Math" panose="02040503050406030204" pitchFamily="18" charset="0"/>
                            <a:sym typeface="Wingdings" panose="05000000000000000000" pitchFamily="2" charset="2"/>
                          </a:rPr>
                          <m:t>𝑄</m:t>
                        </m:r>
                      </m:e>
                      <m:sup>
                        <m:r>
                          <a:rPr lang="en-US" b="0" i="1" smtClean="0">
                            <a:latin typeface="Cambria Math" panose="02040503050406030204" pitchFamily="18" charset="0"/>
                            <a:sym typeface="Wingdings" panose="05000000000000000000" pitchFamily="2" charset="2"/>
                          </a:rPr>
                          <m:t>∗</m:t>
                        </m:r>
                      </m:sup>
                    </m:sSup>
                    <m:r>
                      <a:rPr lang="en-US" b="0" i="1" smtClean="0">
                        <a:latin typeface="Cambria Math" panose="02040503050406030204" pitchFamily="18" charset="0"/>
                        <a:sym typeface="Wingdings" panose="05000000000000000000" pitchFamily="2" charset="2"/>
                      </a:rPr>
                      <m:t>=468</m:t>
                    </m:r>
                  </m:oMath>
                </a14:m>
                <a:endParaRPr lang="en-US" dirty="0"/>
              </a:p>
              <a:p>
                <a:pPr lvl="2"/>
                <a:r>
                  <a:rPr lang="en-US" dirty="0"/>
                  <a:t>When 468 units are ordered, expected profit is </a:t>
                </a:r>
                <a14:m>
                  <m:oMath xmlns:m="http://schemas.openxmlformats.org/officeDocument/2006/math">
                    <m:r>
                      <a:rPr lang="en-US" i="1">
                        <a:latin typeface="Cambria Math" panose="02040503050406030204" pitchFamily="18" charset="0"/>
                      </a:rPr>
                      <m:t>𝐸</m:t>
                    </m:r>
                    <m:d>
                      <m:dPr>
                        <m:begChr m:val="["/>
                        <m:endChr m:val="]"/>
                        <m:ctrlPr>
                          <a:rPr lang="en-US" i="1">
                            <a:latin typeface="Cambria Math" panose="02040503050406030204" pitchFamily="18" charset="0"/>
                          </a:rPr>
                        </m:ctrlPr>
                      </m:dPr>
                      <m:e>
                        <m:r>
                          <a:rPr lang="en-US" i="1">
                            <a:latin typeface="Cambria Math" panose="02040503050406030204" pitchFamily="18" charset="0"/>
                          </a:rPr>
                          <m:t>𝑃</m:t>
                        </m:r>
                        <m:d>
                          <m:dPr>
                            <m:ctrlPr>
                              <a:rPr lang="en-US" i="1">
                                <a:latin typeface="Cambria Math" panose="02040503050406030204" pitchFamily="18" charset="0"/>
                              </a:rPr>
                            </m:ctrlPr>
                          </m:dPr>
                          <m:e>
                            <m:r>
                              <a:rPr lang="en-US" b="0" i="1" smtClean="0">
                                <a:latin typeface="Cambria Math" panose="02040503050406030204" pitchFamily="18" charset="0"/>
                              </a:rPr>
                              <m:t>468</m:t>
                            </m:r>
                            <m:r>
                              <a:rPr lang="en-US" i="1">
                                <a:latin typeface="Cambria Math" panose="02040503050406030204" pitchFamily="18" charset="0"/>
                              </a:rPr>
                              <m:t>,</m:t>
                            </m:r>
                            <m:r>
                              <a:rPr lang="en-US" i="1">
                                <a:latin typeface="Cambria Math" panose="02040503050406030204" pitchFamily="18" charset="0"/>
                              </a:rPr>
                              <m:t>𝑥</m:t>
                            </m:r>
                          </m:e>
                        </m:d>
                      </m:e>
                    </m:d>
                    <m:r>
                      <a:rPr lang="en-US" i="1">
                        <a:latin typeface="Cambria Math" panose="02040503050406030204" pitchFamily="18" charset="0"/>
                      </a:rPr>
                      <m:t>=$4</m:t>
                    </m:r>
                    <m:r>
                      <a:rPr lang="en-US" b="0" i="1" smtClean="0">
                        <a:latin typeface="Cambria Math" panose="02040503050406030204" pitchFamily="18" charset="0"/>
                      </a:rPr>
                      <m:t>9</m:t>
                    </m:r>
                    <m:r>
                      <a:rPr lang="en-US" i="1">
                        <a:latin typeface="Cambria Math" panose="02040503050406030204" pitchFamily="18" charset="0"/>
                      </a:rPr>
                      <m:t>,</m:t>
                    </m:r>
                    <m:r>
                      <a:rPr lang="en-US" b="0" i="1" smtClean="0">
                        <a:latin typeface="Cambria Math" panose="02040503050406030204" pitchFamily="18" charset="0"/>
                      </a:rPr>
                      <m:t>146</m:t>
                    </m:r>
                  </m:oMath>
                </a14:m>
                <a:br>
                  <a:rPr lang="en-US" dirty="0"/>
                </a:br>
                <a:r>
                  <a:rPr lang="en-US" dirty="0"/>
                  <a:t>	</a:t>
                </a:r>
              </a:p>
              <a:p>
                <a:endParaRPr lang="en-US" sz="2400" b="1" dirty="0"/>
              </a:p>
              <a:p>
                <a:pPr lvl="1"/>
                <a:endParaRPr lang="en-US" dirty="0"/>
              </a:p>
              <a:p>
                <a:pPr lvl="1"/>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355002" y="1312433"/>
                <a:ext cx="11478410" cy="5361636"/>
              </a:xfrm>
              <a:blipFill>
                <a:blip r:embed="rId3"/>
                <a:stretch>
                  <a:fillRect l="-956" t="-1818"/>
                </a:stretch>
              </a:blipFill>
              <a:ln>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Rectangle 4">
                <a:extLst>
                  <a:ext uri="{FF2B5EF4-FFF2-40B4-BE49-F238E27FC236}">
                    <a16:creationId xmlns:a16="http://schemas.microsoft.com/office/drawing/2014/main" id="{84138B03-8BFE-4B96-BF85-1439BBDDF1B0}"/>
                  </a:ext>
                </a:extLst>
              </p:cNvPr>
              <p:cNvSpPr/>
              <p:nvPr/>
            </p:nvSpPr>
            <p:spPr>
              <a:xfrm>
                <a:off x="3187787" y="4437817"/>
                <a:ext cx="2948115" cy="369332"/>
              </a:xfrm>
              <a:prstGeom prst="rect">
                <a:avLst/>
              </a:prstGeom>
              <a:ln>
                <a:solidFill>
                  <a:srgbClr val="C00000"/>
                </a:solidFill>
              </a:ln>
            </p:spPr>
            <p:txBody>
              <a:bodyPr wrap="none">
                <a:spAutoFit/>
              </a:bodyPr>
              <a:lstStyle/>
              <a:p>
                <a:pPr/>
                <a14:m>
                  <m:oMathPara xmlns:m="http://schemas.openxmlformats.org/officeDocument/2006/math">
                    <m:oMathParaPr>
                      <m:jc m:val="centerGroup"/>
                    </m:oMathParaPr>
                    <m:oMath xmlns:m="http://schemas.openxmlformats.org/officeDocument/2006/math">
                      <m:func>
                        <m:funcPr>
                          <m:ctrlPr>
                            <a:rPr lang="en-US" i="1" smtClean="0">
                              <a:latin typeface="Cambria Math" panose="02040503050406030204" pitchFamily="18" charset="0"/>
                            </a:rPr>
                          </m:ctrlPr>
                        </m:funcPr>
                        <m:fName>
                          <m:r>
                            <m:rPr>
                              <m:sty m:val="p"/>
                            </m:rPr>
                            <a:rPr lang="en-US">
                              <a:latin typeface="Cambria Math" panose="02040503050406030204" pitchFamily="18" charset="0"/>
                            </a:rPr>
                            <m:t>m</m:t>
                          </m:r>
                          <m:r>
                            <m:rPr>
                              <m:sty m:val="p"/>
                            </m:rPr>
                            <a:rPr lang="en-US" b="0" i="0" smtClean="0">
                              <a:latin typeface="Cambria Math" panose="02040503050406030204" pitchFamily="18" charset="0"/>
                            </a:rPr>
                            <m:t>ax</m:t>
                          </m:r>
                          <m:r>
                            <a:rPr lang="en-US">
                              <a:latin typeface="Cambria Math" panose="02040503050406030204" pitchFamily="18" charset="0"/>
                            </a:rPr>
                            <m:t>   </m:t>
                          </m:r>
                        </m:fName>
                        <m:e>
                          <m:r>
                            <a:rPr lang="en-US" b="0" i="1" smtClean="0">
                              <a:latin typeface="Cambria Math" panose="02040503050406030204" pitchFamily="18" charset="0"/>
                            </a:rPr>
                            <m:t>𝑃</m:t>
                          </m:r>
                          <m:d>
                            <m:dPr>
                              <m:ctrlPr>
                                <a:rPr lang="en-US" i="1">
                                  <a:latin typeface="Cambria Math" panose="02040503050406030204" pitchFamily="18" charset="0"/>
                                </a:rPr>
                              </m:ctrlPr>
                            </m:dPr>
                            <m:e>
                              <m:r>
                                <a:rPr lang="en-US" b="0" i="1" smtClean="0">
                                  <a:latin typeface="Cambria Math" panose="02040503050406030204" pitchFamily="18" charset="0"/>
                                </a:rPr>
                                <m:t>𝑄</m:t>
                              </m:r>
                              <m:r>
                                <a:rPr lang="en-US" i="1">
                                  <a:latin typeface="Cambria Math" panose="02040503050406030204" pitchFamily="18" charset="0"/>
                                </a:rPr>
                                <m:t>,</m:t>
                              </m:r>
                              <m:r>
                                <a:rPr lang="en-US" b="0" i="1" smtClean="0">
                                  <a:latin typeface="Cambria Math" panose="02040503050406030204" pitchFamily="18" charset="0"/>
                                </a:rPr>
                                <m:t>350</m:t>
                              </m:r>
                            </m:e>
                          </m:d>
                          <m:r>
                            <a:rPr lang="en-US" i="1">
                              <a:latin typeface="Cambria Math" panose="02040503050406030204" pitchFamily="18" charset="0"/>
                            </a:rPr>
                            <m:t>  </m:t>
                          </m:r>
                          <m:r>
                            <a:rPr lang="en-US" i="1">
                              <a:latin typeface="Cambria Math" panose="02040503050406030204" pitchFamily="18" charset="0"/>
                            </a:rPr>
                            <m:t>𝑠</m:t>
                          </m:r>
                          <m:r>
                            <a:rPr lang="en-US" i="1">
                              <a:latin typeface="Cambria Math" panose="02040503050406030204" pitchFamily="18" charset="0"/>
                            </a:rPr>
                            <m:t>.</m:t>
                          </m:r>
                          <m:r>
                            <a:rPr lang="en-US" i="1">
                              <a:latin typeface="Cambria Math" panose="02040503050406030204" pitchFamily="18" charset="0"/>
                            </a:rPr>
                            <m:t>𝑡</m:t>
                          </m:r>
                          <m:r>
                            <a:rPr lang="en-US" i="1">
                              <a:latin typeface="Cambria Math" panose="02040503050406030204" pitchFamily="18" charset="0"/>
                            </a:rPr>
                            <m:t>.  </m:t>
                          </m:r>
                          <m:r>
                            <a:rPr lang="en-US" b="0" i="1" smtClean="0">
                              <a:latin typeface="Cambria Math" panose="02040503050406030204" pitchFamily="18" charset="0"/>
                            </a:rPr>
                            <m:t>𝑄</m:t>
                          </m:r>
                          <m:r>
                            <a:rPr lang="en-US" b="0" i="1" smtClean="0">
                              <a:latin typeface="Cambria Math" panose="02040503050406030204" pitchFamily="18" charset="0"/>
                            </a:rPr>
                            <m:t>≥0</m:t>
                          </m:r>
                        </m:e>
                      </m:func>
                    </m:oMath>
                  </m:oMathPara>
                </a14:m>
                <a:endParaRPr lang="en-US" dirty="0"/>
              </a:p>
            </p:txBody>
          </p:sp>
        </mc:Choice>
        <mc:Fallback xmlns="">
          <p:sp>
            <p:nvSpPr>
              <p:cNvPr id="5" name="Rectangle 4">
                <a:extLst>
                  <a:ext uri="{FF2B5EF4-FFF2-40B4-BE49-F238E27FC236}">
                    <a16:creationId xmlns:a16="http://schemas.microsoft.com/office/drawing/2014/main" id="{84138B03-8BFE-4B96-BF85-1439BBDDF1B0}"/>
                  </a:ext>
                </a:extLst>
              </p:cNvPr>
              <p:cNvSpPr>
                <a:spLocks noRot="1" noChangeAspect="1" noMove="1" noResize="1" noEditPoints="1" noAdjustHandles="1" noChangeArrowheads="1" noChangeShapeType="1" noTextEdit="1"/>
              </p:cNvSpPr>
              <p:nvPr/>
            </p:nvSpPr>
            <p:spPr>
              <a:xfrm>
                <a:off x="3187787" y="4437817"/>
                <a:ext cx="2948115" cy="369332"/>
              </a:xfrm>
              <a:prstGeom prst="rect">
                <a:avLst/>
              </a:prstGeom>
              <a:blipFill>
                <a:blip r:embed="rId4"/>
                <a:stretch>
                  <a:fillRect b="-6349"/>
                </a:stretch>
              </a:blipFill>
              <a:ln>
                <a:solidFill>
                  <a:srgbClr val="C00000"/>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Rectangle 6">
                <a:extLst>
                  <a:ext uri="{FF2B5EF4-FFF2-40B4-BE49-F238E27FC236}">
                    <a16:creationId xmlns:a16="http://schemas.microsoft.com/office/drawing/2014/main" id="{DDC05263-19EA-4B79-8C0F-F0CEC66E26CB}"/>
                  </a:ext>
                </a:extLst>
              </p:cNvPr>
              <p:cNvSpPr/>
              <p:nvPr/>
            </p:nvSpPr>
            <p:spPr>
              <a:xfrm>
                <a:off x="3106571" y="5601447"/>
                <a:ext cx="3312061" cy="400110"/>
              </a:xfrm>
              <a:prstGeom prst="rect">
                <a:avLst/>
              </a:prstGeom>
              <a:ln>
                <a:solidFill>
                  <a:srgbClr val="C00000"/>
                </a:solidFill>
              </a:ln>
            </p:spPr>
            <p:txBody>
              <a:bodyPr wrap="none">
                <a:spAutoFit/>
              </a:bodyPr>
              <a:lstStyle/>
              <a:p>
                <a:pPr/>
                <a14:m>
                  <m:oMathPara xmlns:m="http://schemas.openxmlformats.org/officeDocument/2006/math">
                    <m:oMathParaPr>
                      <m:jc m:val="centerGroup"/>
                    </m:oMathParaPr>
                    <m:oMath xmlns:m="http://schemas.openxmlformats.org/officeDocument/2006/math">
                      <m:func>
                        <m:funcPr>
                          <m:ctrlPr>
                            <a:rPr lang="en-US" sz="2000" i="1" smtClean="0">
                              <a:latin typeface="Cambria Math" panose="02040503050406030204" pitchFamily="18" charset="0"/>
                            </a:rPr>
                          </m:ctrlPr>
                        </m:funcPr>
                        <m:fName>
                          <m:r>
                            <m:rPr>
                              <m:sty m:val="p"/>
                            </m:rPr>
                            <a:rPr lang="en-US" sz="2000">
                              <a:latin typeface="Cambria Math" panose="02040503050406030204" pitchFamily="18" charset="0"/>
                            </a:rPr>
                            <m:t>m</m:t>
                          </m:r>
                          <m:r>
                            <m:rPr>
                              <m:sty m:val="p"/>
                            </m:rPr>
                            <a:rPr lang="en-US" sz="2000" b="0" i="0" smtClean="0">
                              <a:latin typeface="Cambria Math" panose="02040503050406030204" pitchFamily="18" charset="0"/>
                            </a:rPr>
                            <m:t>ax</m:t>
                          </m:r>
                          <m:r>
                            <a:rPr lang="en-US" sz="2000">
                              <a:latin typeface="Cambria Math" panose="02040503050406030204" pitchFamily="18" charset="0"/>
                            </a:rPr>
                            <m:t>   </m:t>
                          </m:r>
                        </m:fName>
                        <m:e>
                          <m:r>
                            <a:rPr lang="en-US" sz="2000" b="0" i="1" smtClean="0">
                              <a:latin typeface="Cambria Math" panose="02040503050406030204" pitchFamily="18" charset="0"/>
                            </a:rPr>
                            <m:t>𝐸</m:t>
                          </m:r>
                          <m:r>
                            <a:rPr lang="en-US" sz="2000" b="0" i="1" smtClean="0">
                              <a:latin typeface="Cambria Math" panose="02040503050406030204" pitchFamily="18" charset="0"/>
                            </a:rPr>
                            <m:t>[</m:t>
                          </m:r>
                          <m:r>
                            <a:rPr lang="en-US" sz="2000" b="0" i="1" smtClean="0">
                              <a:latin typeface="Cambria Math" panose="02040503050406030204" pitchFamily="18" charset="0"/>
                            </a:rPr>
                            <m:t>𝑃</m:t>
                          </m:r>
                          <m:d>
                            <m:dPr>
                              <m:ctrlPr>
                                <a:rPr lang="en-US" sz="2000" i="1">
                                  <a:latin typeface="Cambria Math" panose="02040503050406030204" pitchFamily="18" charset="0"/>
                                </a:rPr>
                              </m:ctrlPr>
                            </m:dPr>
                            <m:e>
                              <m:r>
                                <a:rPr lang="en-US" sz="2000" b="0" i="1" smtClean="0">
                                  <a:latin typeface="Cambria Math" panose="02040503050406030204" pitchFamily="18" charset="0"/>
                                </a:rPr>
                                <m:t>𝑄</m:t>
                              </m:r>
                              <m:r>
                                <a:rPr lang="en-US" sz="2000" i="1">
                                  <a:latin typeface="Cambria Math" panose="02040503050406030204" pitchFamily="18" charset="0"/>
                                </a:rPr>
                                <m:t>,</m:t>
                              </m:r>
                              <m:r>
                                <a:rPr lang="en-US" sz="2000" b="0" i="1" smtClean="0">
                                  <a:latin typeface="Cambria Math" panose="02040503050406030204" pitchFamily="18" charset="0"/>
                                </a:rPr>
                                <m:t>𝑥</m:t>
                              </m:r>
                            </m:e>
                          </m:d>
                          <m:r>
                            <a:rPr lang="en-US" sz="2000" b="0" i="1" smtClean="0">
                              <a:latin typeface="Cambria Math" panose="02040503050406030204" pitchFamily="18" charset="0"/>
                            </a:rPr>
                            <m:t>]</m:t>
                          </m:r>
                          <m:r>
                            <a:rPr lang="en-US" sz="2000" i="1">
                              <a:latin typeface="Cambria Math" panose="02040503050406030204" pitchFamily="18" charset="0"/>
                            </a:rPr>
                            <m:t>  </m:t>
                          </m:r>
                          <m:r>
                            <a:rPr lang="en-US" sz="2000" i="1">
                              <a:latin typeface="Cambria Math" panose="02040503050406030204" pitchFamily="18" charset="0"/>
                            </a:rPr>
                            <m:t>𝑠</m:t>
                          </m:r>
                          <m:r>
                            <a:rPr lang="en-US" sz="2000" i="1">
                              <a:latin typeface="Cambria Math" panose="02040503050406030204" pitchFamily="18" charset="0"/>
                            </a:rPr>
                            <m:t>.</m:t>
                          </m:r>
                          <m:r>
                            <a:rPr lang="en-US" sz="2000" i="1">
                              <a:latin typeface="Cambria Math" panose="02040503050406030204" pitchFamily="18" charset="0"/>
                            </a:rPr>
                            <m:t>𝑡</m:t>
                          </m:r>
                          <m:r>
                            <a:rPr lang="en-US" sz="2000" i="1">
                              <a:latin typeface="Cambria Math" panose="02040503050406030204" pitchFamily="18" charset="0"/>
                            </a:rPr>
                            <m:t>.  </m:t>
                          </m:r>
                          <m:r>
                            <a:rPr lang="en-US" sz="2000" b="0" i="1" smtClean="0">
                              <a:latin typeface="Cambria Math" panose="02040503050406030204" pitchFamily="18" charset="0"/>
                            </a:rPr>
                            <m:t>𝑄</m:t>
                          </m:r>
                          <m:r>
                            <a:rPr lang="en-US" sz="2000" b="0" i="1" smtClean="0">
                              <a:latin typeface="Cambria Math" panose="02040503050406030204" pitchFamily="18" charset="0"/>
                            </a:rPr>
                            <m:t>≥0</m:t>
                          </m:r>
                        </m:e>
                      </m:func>
                    </m:oMath>
                  </m:oMathPara>
                </a14:m>
                <a:endParaRPr lang="en-US" sz="2000" dirty="0"/>
              </a:p>
            </p:txBody>
          </p:sp>
        </mc:Choice>
        <mc:Fallback xmlns="">
          <p:sp>
            <p:nvSpPr>
              <p:cNvPr id="7" name="Rectangle 6">
                <a:extLst>
                  <a:ext uri="{FF2B5EF4-FFF2-40B4-BE49-F238E27FC236}">
                    <a16:creationId xmlns:a16="http://schemas.microsoft.com/office/drawing/2014/main" id="{DDC05263-19EA-4B79-8C0F-F0CEC66E26CB}"/>
                  </a:ext>
                </a:extLst>
              </p:cNvPr>
              <p:cNvSpPr>
                <a:spLocks noRot="1" noChangeAspect="1" noMove="1" noResize="1" noEditPoints="1" noAdjustHandles="1" noChangeArrowheads="1" noChangeShapeType="1" noTextEdit="1"/>
              </p:cNvSpPr>
              <p:nvPr/>
            </p:nvSpPr>
            <p:spPr>
              <a:xfrm>
                <a:off x="3106571" y="5601447"/>
                <a:ext cx="3312061" cy="400110"/>
              </a:xfrm>
              <a:prstGeom prst="rect">
                <a:avLst/>
              </a:prstGeom>
              <a:blipFill>
                <a:blip r:embed="rId5"/>
                <a:stretch>
                  <a:fillRect b="-11765"/>
                </a:stretch>
              </a:blipFill>
              <a:ln>
                <a:solidFill>
                  <a:srgbClr val="C00000"/>
                </a:solidFill>
              </a:ln>
            </p:spPr>
            <p:txBody>
              <a:bodyPr/>
              <a:lstStyle/>
              <a:p>
                <a:r>
                  <a:rPr lang="en-US">
                    <a:noFill/>
                  </a:rPr>
                  <a:t> </a:t>
                </a:r>
              </a:p>
            </p:txBody>
          </p:sp>
        </mc:Fallback>
      </mc:AlternateContent>
    </p:spTree>
    <p:extLst>
      <p:ext uri="{BB962C8B-B14F-4D97-AF65-F5344CB8AC3E}">
        <p14:creationId xmlns:p14="http://schemas.microsoft.com/office/powerpoint/2010/main" val="9609540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8" end="8"/>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5"/>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9" end="9"/>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3">
                                            <p:txEl>
                                              <p:pRg st="10" end="10"/>
                                            </p:tx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3">
                                            <p:txEl>
                                              <p:pRg st="11" end="11"/>
                                            </p:txEl>
                                          </p:spTgt>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7" grpId="0" animBg="1"/>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Stochastic Optimization</a:t>
            </a:r>
          </a:p>
        </p:txBody>
      </p:sp>
      <p:sp>
        <p:nvSpPr>
          <p:cNvPr id="3" name="Content Placeholder 2"/>
          <p:cNvSpPr>
            <a:spLocks noGrp="1"/>
          </p:cNvSpPr>
          <p:nvPr>
            <p:ph idx="1"/>
          </p:nvPr>
        </p:nvSpPr>
        <p:spPr>
          <a:xfrm>
            <a:off x="355002" y="1312433"/>
            <a:ext cx="11478410" cy="4864530"/>
          </a:xfrm>
        </p:spPr>
        <p:txBody>
          <a:bodyPr>
            <a:normAutofit fontScale="92500" lnSpcReduction="10000"/>
          </a:bodyPr>
          <a:lstStyle/>
          <a:p>
            <a:r>
              <a:rPr lang="en-US" dirty="0"/>
              <a:t>Solution approaches</a:t>
            </a:r>
          </a:p>
          <a:p>
            <a:pPr lvl="1"/>
            <a:r>
              <a:rPr lang="en-US" dirty="0">
                <a:solidFill>
                  <a:srgbClr val="C00000"/>
                </a:solidFill>
              </a:rPr>
              <a:t>Deterministic (point-estimate) approach:</a:t>
            </a:r>
          </a:p>
          <a:p>
            <a:pPr lvl="2"/>
            <a:r>
              <a:rPr lang="en-US" dirty="0">
                <a:sym typeface="Wingdings" panose="05000000000000000000" pitchFamily="2" charset="2"/>
              </a:rPr>
              <a:t></a:t>
            </a:r>
            <a:r>
              <a:rPr lang="en-US" dirty="0"/>
              <a:t>use expected values of the random parameters</a:t>
            </a:r>
          </a:p>
          <a:p>
            <a:pPr lvl="2"/>
            <a:r>
              <a:rPr lang="en-US" dirty="0">
                <a:sym typeface="Wingdings" panose="05000000000000000000" pitchFamily="2" charset="2"/>
              </a:rPr>
              <a:t></a:t>
            </a:r>
            <a:r>
              <a:rPr lang="en-US" dirty="0"/>
              <a:t>formulate a deterministic model with those</a:t>
            </a:r>
            <a:endParaRPr lang="en-US" dirty="0">
              <a:sym typeface="Wingdings" panose="05000000000000000000" pitchFamily="2" charset="2"/>
            </a:endParaRPr>
          </a:p>
          <a:p>
            <a:pPr lvl="2"/>
            <a:r>
              <a:rPr lang="en-US" dirty="0">
                <a:sym typeface="Wingdings" panose="05000000000000000000" pitchFamily="2" charset="2"/>
              </a:rPr>
              <a:t>solve the corresponding deterministic model</a:t>
            </a:r>
          </a:p>
          <a:p>
            <a:pPr lvl="2"/>
            <a:r>
              <a:rPr lang="en-US" dirty="0">
                <a:sym typeface="Wingdings" panose="05000000000000000000" pitchFamily="2" charset="2"/>
              </a:rPr>
              <a:t>Issues:</a:t>
            </a:r>
          </a:p>
          <a:p>
            <a:pPr lvl="3"/>
            <a:r>
              <a:rPr lang="en-US" dirty="0"/>
              <a:t>Not necessarily going to optimize the expected value of the objective function!</a:t>
            </a:r>
          </a:p>
          <a:p>
            <a:pPr lvl="3"/>
            <a:r>
              <a:rPr lang="en-US" dirty="0">
                <a:sym typeface="Wingdings" panose="05000000000000000000" pitchFamily="2" charset="2"/>
              </a:rPr>
              <a:t>When the random parameters are in the constraints?</a:t>
            </a:r>
          </a:p>
          <a:p>
            <a:pPr lvl="4"/>
            <a:r>
              <a:rPr lang="en-US" dirty="0">
                <a:sym typeface="Wingdings" panose="05000000000000000000" pitchFamily="2" charset="2"/>
              </a:rPr>
              <a:t>The returned solution can be infeasible for a set of values for the random parameters</a:t>
            </a:r>
          </a:p>
          <a:p>
            <a:pPr lvl="7"/>
            <a:endParaRPr lang="en-US" dirty="0">
              <a:sym typeface="Wingdings" panose="05000000000000000000" pitchFamily="2" charset="2"/>
            </a:endParaRPr>
          </a:p>
          <a:p>
            <a:pPr lvl="1"/>
            <a:r>
              <a:rPr lang="en-US" dirty="0">
                <a:solidFill>
                  <a:srgbClr val="C00000"/>
                </a:solidFill>
                <a:sym typeface="Wingdings" panose="05000000000000000000" pitchFamily="2" charset="2"/>
              </a:rPr>
              <a:t>Stochastic Expectation approach:</a:t>
            </a:r>
          </a:p>
          <a:p>
            <a:pPr lvl="2"/>
            <a:r>
              <a:rPr lang="en-US" dirty="0">
                <a:sym typeface="Wingdings" panose="05000000000000000000" pitchFamily="2" charset="2"/>
              </a:rPr>
              <a:t> optimize the expected value of the objective function (</a:t>
            </a:r>
            <a:r>
              <a:rPr lang="en-US" b="1" u="sng" dirty="0">
                <a:solidFill>
                  <a:srgbClr val="C00000"/>
                </a:solidFill>
                <a:sym typeface="Wingdings" panose="05000000000000000000" pitchFamily="2" charset="2"/>
              </a:rPr>
              <a:t>this is similar to </a:t>
            </a:r>
            <a:r>
              <a:rPr lang="en-US" b="1" u="sng" dirty="0" err="1">
                <a:solidFill>
                  <a:srgbClr val="C00000"/>
                </a:solidFill>
                <a:sym typeface="Wingdings" panose="05000000000000000000" pitchFamily="2" charset="2"/>
              </a:rPr>
              <a:t>Baye’s</a:t>
            </a:r>
            <a:r>
              <a:rPr lang="en-US" b="1" u="sng" dirty="0">
                <a:solidFill>
                  <a:srgbClr val="C00000"/>
                </a:solidFill>
                <a:sym typeface="Wingdings" panose="05000000000000000000" pitchFamily="2" charset="2"/>
              </a:rPr>
              <a:t> Rule</a:t>
            </a:r>
            <a:r>
              <a:rPr lang="en-US" dirty="0">
                <a:sym typeface="Wingdings" panose="05000000000000000000" pitchFamily="2" charset="2"/>
              </a:rPr>
              <a:t>)</a:t>
            </a:r>
          </a:p>
          <a:p>
            <a:pPr lvl="2"/>
            <a:r>
              <a:rPr lang="en-US" dirty="0">
                <a:sym typeface="Wingdings" panose="05000000000000000000" pitchFamily="2" charset="2"/>
              </a:rPr>
              <a:t>Issue:</a:t>
            </a:r>
          </a:p>
          <a:p>
            <a:pPr lvl="3"/>
            <a:r>
              <a:rPr lang="en-US" dirty="0">
                <a:sym typeface="Wingdings" panose="05000000000000000000" pitchFamily="2" charset="2"/>
              </a:rPr>
              <a:t>Deriving the expected objective function: not possible in most cases</a:t>
            </a:r>
          </a:p>
          <a:p>
            <a:pPr lvl="3"/>
            <a:r>
              <a:rPr lang="en-US" dirty="0">
                <a:sym typeface="Wingdings" panose="05000000000000000000" pitchFamily="2" charset="2"/>
              </a:rPr>
              <a:t>When the random parameters are in the constraints?</a:t>
            </a:r>
          </a:p>
          <a:p>
            <a:pPr lvl="3"/>
            <a:r>
              <a:rPr lang="en-US" dirty="0">
                <a:sym typeface="Wingdings" panose="05000000000000000000" pitchFamily="2" charset="2"/>
              </a:rPr>
              <a:t>It does not consider risks</a:t>
            </a:r>
            <a:r>
              <a:rPr lang="en-US" dirty="0"/>
              <a:t>	</a:t>
            </a:r>
          </a:p>
          <a:p>
            <a:endParaRPr lang="en-US" sz="2400" b="1" dirty="0"/>
          </a:p>
          <a:p>
            <a:pPr lvl="1"/>
            <a:endParaRPr lang="en-US" dirty="0"/>
          </a:p>
          <a:p>
            <a:pPr lvl="1"/>
            <a:endParaRPr lang="en-US" dirty="0"/>
          </a:p>
        </p:txBody>
      </p:sp>
    </p:spTree>
    <p:extLst>
      <p:ext uri="{BB962C8B-B14F-4D97-AF65-F5344CB8AC3E}">
        <p14:creationId xmlns:p14="http://schemas.microsoft.com/office/powerpoint/2010/main" val="9383659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6" end="6"/>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7" end="7"/>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
                                            <p:txEl>
                                              <p:pRg st="10" end="10"/>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
                                            <p:txEl>
                                              <p:pRg st="11" end="11"/>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3">
                                            <p:txEl>
                                              <p:pRg st="12" end="12"/>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3">
                                            <p:txEl>
                                              <p:pRg st="13" end="13"/>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3">
                                            <p:txEl>
                                              <p:pRg st="14" end="14"/>
                                            </p:tx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3">
                                            <p:txEl>
                                              <p:pRg st="15" end="1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Stochastic Optimization</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355002" y="1312433"/>
                <a:ext cx="11478410" cy="4864530"/>
              </a:xfrm>
            </p:spPr>
            <p:txBody>
              <a:bodyPr>
                <a:normAutofit/>
              </a:bodyPr>
              <a:lstStyle/>
              <a:p>
                <a:r>
                  <a:rPr lang="en-US" dirty="0"/>
                  <a:t>Solution approaches:</a:t>
                </a:r>
              </a:p>
              <a:p>
                <a:pPr lvl="1"/>
                <a:r>
                  <a:rPr lang="en-US" dirty="0">
                    <a:solidFill>
                      <a:srgbClr val="C00000"/>
                    </a:solidFill>
                    <a:sym typeface="Wingdings" panose="05000000000000000000" pitchFamily="2" charset="2"/>
                  </a:rPr>
                  <a:t>Scenario-based approach</a:t>
                </a:r>
              </a:p>
              <a:p>
                <a:pPr lvl="2"/>
                <a:r>
                  <a:rPr lang="en-US" dirty="0">
                    <a:sym typeface="Wingdings" panose="05000000000000000000" pitchFamily="2" charset="2"/>
                  </a:rPr>
                  <a:t>Say there are </a:t>
                </a:r>
                <a14:m>
                  <m:oMath xmlns:m="http://schemas.openxmlformats.org/officeDocument/2006/math">
                    <m:r>
                      <a:rPr lang="en-US" b="0" i="1" smtClean="0">
                        <a:latin typeface="Cambria Math" panose="02040503050406030204" pitchFamily="18" charset="0"/>
                        <a:sym typeface="Wingdings" panose="05000000000000000000" pitchFamily="2" charset="2"/>
                      </a:rPr>
                      <m:t>𝐾</m:t>
                    </m:r>
                  </m:oMath>
                </a14:m>
                <a:r>
                  <a:rPr lang="en-US" dirty="0">
                    <a:sym typeface="Wingdings" panose="05000000000000000000" pitchFamily="2" charset="2"/>
                  </a:rPr>
                  <a:t> possible cases for the random parameters, i.e., </a:t>
                </a:r>
                <a14:m>
                  <m:oMath xmlns:m="http://schemas.openxmlformats.org/officeDocument/2006/math">
                    <m:r>
                      <a:rPr lang="en-US" b="0" i="1" smtClean="0">
                        <a:latin typeface="Cambria Math" panose="02040503050406030204" pitchFamily="18" charset="0"/>
                        <a:sym typeface="Wingdings" panose="05000000000000000000" pitchFamily="2" charset="2"/>
                      </a:rPr>
                      <m:t>𝜀</m:t>
                    </m:r>
                    <m:r>
                      <a:rPr lang="en-US" b="0" i="1" smtClean="0">
                        <a:latin typeface="Cambria Math" panose="02040503050406030204" pitchFamily="18" charset="0"/>
                        <a:sym typeface="Wingdings" panose="05000000000000000000" pitchFamily="2" charset="2"/>
                      </a:rPr>
                      <m:t>∈{</m:t>
                    </m:r>
                    <m:sSup>
                      <m:sSupPr>
                        <m:ctrlPr>
                          <a:rPr lang="en-US" b="0" i="1" smtClean="0">
                            <a:latin typeface="Cambria Math" panose="02040503050406030204" pitchFamily="18" charset="0"/>
                            <a:sym typeface="Wingdings" panose="05000000000000000000" pitchFamily="2" charset="2"/>
                          </a:rPr>
                        </m:ctrlPr>
                      </m:sSupPr>
                      <m:e>
                        <m:r>
                          <a:rPr lang="en-US" b="0" i="1" smtClean="0">
                            <a:latin typeface="Cambria Math" panose="02040503050406030204" pitchFamily="18" charset="0"/>
                            <a:sym typeface="Wingdings" panose="05000000000000000000" pitchFamily="2" charset="2"/>
                          </a:rPr>
                          <m:t>𝜀</m:t>
                        </m:r>
                      </m:e>
                      <m:sup>
                        <m:r>
                          <a:rPr lang="en-US" b="0" i="1" smtClean="0">
                            <a:latin typeface="Cambria Math" panose="02040503050406030204" pitchFamily="18" charset="0"/>
                            <a:sym typeface="Wingdings" panose="05000000000000000000" pitchFamily="2" charset="2"/>
                          </a:rPr>
                          <m:t>1</m:t>
                        </m:r>
                      </m:sup>
                    </m:sSup>
                    <m:r>
                      <a:rPr lang="en-US" b="0" i="1" smtClean="0">
                        <a:latin typeface="Cambria Math" panose="02040503050406030204" pitchFamily="18" charset="0"/>
                        <a:sym typeface="Wingdings" panose="05000000000000000000" pitchFamily="2" charset="2"/>
                      </a:rPr>
                      <m:t>,</m:t>
                    </m:r>
                    <m:sSup>
                      <m:sSupPr>
                        <m:ctrlPr>
                          <a:rPr lang="en-US" i="1">
                            <a:latin typeface="Cambria Math" panose="02040503050406030204" pitchFamily="18" charset="0"/>
                            <a:sym typeface="Wingdings" panose="05000000000000000000" pitchFamily="2" charset="2"/>
                          </a:rPr>
                        </m:ctrlPr>
                      </m:sSupPr>
                      <m:e>
                        <m:r>
                          <a:rPr lang="en-US" i="1">
                            <a:latin typeface="Cambria Math" panose="02040503050406030204" pitchFamily="18" charset="0"/>
                            <a:sym typeface="Wingdings" panose="05000000000000000000" pitchFamily="2" charset="2"/>
                          </a:rPr>
                          <m:t>𝜀</m:t>
                        </m:r>
                      </m:e>
                      <m:sup>
                        <m:r>
                          <a:rPr lang="en-US" b="0" i="1" smtClean="0">
                            <a:latin typeface="Cambria Math" panose="02040503050406030204" pitchFamily="18" charset="0"/>
                            <a:sym typeface="Wingdings" panose="05000000000000000000" pitchFamily="2" charset="2"/>
                          </a:rPr>
                          <m:t>2</m:t>
                        </m:r>
                      </m:sup>
                    </m:sSup>
                    <m:r>
                      <a:rPr lang="en-US" b="0" i="1" smtClean="0">
                        <a:latin typeface="Cambria Math" panose="02040503050406030204" pitchFamily="18" charset="0"/>
                        <a:sym typeface="Wingdings" panose="05000000000000000000" pitchFamily="2" charset="2"/>
                      </a:rPr>
                      <m:t>,…,</m:t>
                    </m:r>
                    <m:sSup>
                      <m:sSupPr>
                        <m:ctrlPr>
                          <a:rPr lang="en-US" i="1">
                            <a:latin typeface="Cambria Math" panose="02040503050406030204" pitchFamily="18" charset="0"/>
                            <a:sym typeface="Wingdings" panose="05000000000000000000" pitchFamily="2" charset="2"/>
                          </a:rPr>
                        </m:ctrlPr>
                      </m:sSupPr>
                      <m:e>
                        <m:r>
                          <a:rPr lang="en-US" i="1">
                            <a:latin typeface="Cambria Math" panose="02040503050406030204" pitchFamily="18" charset="0"/>
                            <a:sym typeface="Wingdings" panose="05000000000000000000" pitchFamily="2" charset="2"/>
                          </a:rPr>
                          <m:t>𝜀</m:t>
                        </m:r>
                      </m:e>
                      <m:sup>
                        <m:r>
                          <a:rPr lang="en-US" b="0" i="1" smtClean="0">
                            <a:latin typeface="Cambria Math" panose="02040503050406030204" pitchFamily="18" charset="0"/>
                            <a:sym typeface="Wingdings" panose="05000000000000000000" pitchFamily="2" charset="2"/>
                          </a:rPr>
                          <m:t>𝐾</m:t>
                        </m:r>
                      </m:sup>
                    </m:sSup>
                    <m:r>
                      <a:rPr lang="en-US" b="0" i="1" smtClean="0">
                        <a:latin typeface="Cambria Math" panose="02040503050406030204" pitchFamily="18" charset="0"/>
                        <a:sym typeface="Wingdings" panose="05000000000000000000" pitchFamily="2" charset="2"/>
                      </a:rPr>
                      <m:t>}</m:t>
                    </m:r>
                  </m:oMath>
                </a14:m>
                <a:r>
                  <a:rPr lang="en-US" dirty="0">
                    <a:sym typeface="Wingdings" panose="05000000000000000000" pitchFamily="2" charset="2"/>
                  </a:rPr>
                  <a:t> with probabilities </a:t>
                </a:r>
                <a14:m>
                  <m:oMath xmlns:m="http://schemas.openxmlformats.org/officeDocument/2006/math">
                    <m:sSup>
                      <m:sSupPr>
                        <m:ctrlPr>
                          <a:rPr lang="en-US" b="0" i="1" smtClean="0">
                            <a:latin typeface="Cambria Math" panose="02040503050406030204" pitchFamily="18" charset="0"/>
                            <a:sym typeface="Wingdings" panose="05000000000000000000" pitchFamily="2" charset="2"/>
                          </a:rPr>
                        </m:ctrlPr>
                      </m:sSupPr>
                      <m:e>
                        <m:r>
                          <a:rPr lang="en-US" b="0" i="1" smtClean="0">
                            <a:latin typeface="Cambria Math" panose="02040503050406030204" pitchFamily="18" charset="0"/>
                            <a:sym typeface="Wingdings" panose="05000000000000000000" pitchFamily="2" charset="2"/>
                          </a:rPr>
                          <m:t>𝑝</m:t>
                        </m:r>
                      </m:e>
                      <m:sup>
                        <m:r>
                          <a:rPr lang="en-US" b="0" i="1" smtClean="0">
                            <a:latin typeface="Cambria Math" panose="02040503050406030204" pitchFamily="18" charset="0"/>
                            <a:sym typeface="Wingdings" panose="05000000000000000000" pitchFamily="2" charset="2"/>
                          </a:rPr>
                          <m:t>𝑘</m:t>
                        </m:r>
                      </m:sup>
                    </m:sSup>
                  </m:oMath>
                </a14:m>
                <a:endParaRPr lang="en-US" dirty="0">
                  <a:sym typeface="Wingdings" panose="05000000000000000000" pitchFamily="2" charset="2"/>
                </a:endParaRPr>
              </a:p>
              <a:p>
                <a:pPr lvl="2"/>
                <a:endParaRPr lang="en-US" dirty="0">
                  <a:sym typeface="Wingdings" panose="05000000000000000000" pitchFamily="2" charset="2"/>
                </a:endParaRPr>
              </a:p>
              <a:p>
                <a:pPr lvl="2"/>
                <a:endParaRPr lang="en-US" dirty="0">
                  <a:sym typeface="Wingdings" panose="05000000000000000000" pitchFamily="2" charset="2"/>
                </a:endParaRPr>
              </a:p>
              <a:p>
                <a:pPr lvl="2"/>
                <a:endParaRPr lang="en-US" dirty="0">
                  <a:sym typeface="Wingdings" panose="05000000000000000000" pitchFamily="2" charset="2"/>
                </a:endParaRPr>
              </a:p>
              <a:p>
                <a:pPr lvl="2"/>
                <a:endParaRPr lang="en-US" dirty="0">
                  <a:sym typeface="Wingdings" panose="05000000000000000000" pitchFamily="2" charset="2"/>
                </a:endParaRPr>
              </a:p>
              <a:p>
                <a:pPr lvl="2"/>
                <a:endParaRPr lang="en-US" dirty="0">
                  <a:sym typeface="Wingdings" panose="05000000000000000000" pitchFamily="2" charset="2"/>
                </a:endParaRPr>
              </a:p>
              <a:p>
                <a:pPr lvl="2"/>
                <a:r>
                  <a:rPr lang="en-US" dirty="0">
                    <a:sym typeface="Wingdings" panose="05000000000000000000" pitchFamily="2" charset="2"/>
                  </a:rPr>
                  <a:t>Typically, a large-scale problem because there are too many scenarios</a:t>
                </a:r>
              </a:p>
              <a:p>
                <a:pPr lvl="3"/>
                <a:r>
                  <a:rPr lang="en-US" dirty="0">
                    <a:sym typeface="Wingdings" panose="05000000000000000000" pitchFamily="2" charset="2"/>
                  </a:rPr>
                  <a:t>Think about a problem where one random parameter is a continuous random variable!</a:t>
                </a:r>
              </a:p>
              <a:p>
                <a:pPr lvl="4"/>
                <a:r>
                  <a:rPr lang="en-US" dirty="0">
                    <a:sym typeface="Wingdings" panose="05000000000000000000" pitchFamily="2" charset="2"/>
                  </a:rPr>
                  <a:t>There are infinitely many possibilities for that parameter!</a:t>
                </a:r>
                <a:r>
                  <a:rPr lang="en-US" dirty="0"/>
                  <a:t>	</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355002" y="1312433"/>
                <a:ext cx="11478410" cy="4864530"/>
              </a:xfrm>
              <a:blipFill>
                <a:blip r:embed="rId3"/>
                <a:stretch>
                  <a:fillRect l="-956" t="-200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Rectangle 5">
                <a:extLst>
                  <a:ext uri="{FF2B5EF4-FFF2-40B4-BE49-F238E27FC236}">
                    <a16:creationId xmlns:a16="http://schemas.microsoft.com/office/drawing/2014/main" id="{D2725EC0-D25A-4849-8469-F87A208E63E5}"/>
                  </a:ext>
                </a:extLst>
              </p:cNvPr>
              <p:cNvSpPr/>
              <p:nvPr/>
            </p:nvSpPr>
            <p:spPr>
              <a:xfrm>
                <a:off x="2850907" y="2998709"/>
                <a:ext cx="4161267" cy="657424"/>
              </a:xfrm>
              <a:prstGeom prst="rect">
                <a:avLst/>
              </a:prstGeom>
            </p:spPr>
            <p:txBody>
              <a:bodyPr wrap="none">
                <a:spAutoFit/>
              </a:bodyPr>
              <a:lstStyle/>
              <a:p>
                <a14:m>
                  <m:oMath xmlns:m="http://schemas.openxmlformats.org/officeDocument/2006/math">
                    <m:r>
                      <a:rPr lang="en-US" b="0" i="1" smtClean="0">
                        <a:latin typeface="Cambria Math" panose="02040503050406030204" pitchFamily="18" charset="0"/>
                      </a:rPr>
                      <m:t>𝑚𝑖𝑛</m:t>
                    </m:r>
                  </m:oMath>
                </a14:m>
                <a:r>
                  <a:rPr lang="en-US" dirty="0"/>
                  <a:t>	</a:t>
                </a:r>
                <a14:m>
                  <m:oMath xmlns:m="http://schemas.openxmlformats.org/officeDocument/2006/math">
                    <m:nary>
                      <m:naryPr>
                        <m:chr m:val="∑"/>
                        <m:ctrlPr>
                          <a:rPr lang="en-US" i="1">
                            <a:latin typeface="Cambria Math" panose="02040503050406030204" pitchFamily="18" charset="0"/>
                          </a:rPr>
                        </m:ctrlPr>
                      </m:naryPr>
                      <m:sub>
                        <m:r>
                          <m:rPr>
                            <m:brk m:alnAt="23"/>
                          </m:rPr>
                          <a:rPr lang="en-US" i="1">
                            <a:latin typeface="Cambria Math" panose="02040503050406030204" pitchFamily="18" charset="0"/>
                          </a:rPr>
                          <m:t>𝑘</m:t>
                        </m:r>
                        <m:r>
                          <a:rPr lang="en-US" i="1">
                            <a:latin typeface="Cambria Math" panose="02040503050406030204" pitchFamily="18" charset="0"/>
                          </a:rPr>
                          <m:t>=1</m:t>
                        </m:r>
                      </m:sub>
                      <m:sup>
                        <m:r>
                          <a:rPr lang="en-US" i="1">
                            <a:latin typeface="Cambria Math" panose="02040503050406030204" pitchFamily="18" charset="0"/>
                          </a:rPr>
                          <m:t>𝐾</m:t>
                        </m:r>
                      </m:sup>
                      <m:e>
                        <m:sSub>
                          <m:sSubPr>
                            <m:ctrlPr>
                              <a:rPr lang="en-US" i="1">
                                <a:latin typeface="Cambria Math" panose="02040503050406030204" pitchFamily="18" charset="0"/>
                              </a:rPr>
                            </m:ctrlPr>
                          </m:sSubPr>
                          <m:e>
                            <m:r>
                              <a:rPr lang="en-US" i="1">
                                <a:latin typeface="Cambria Math" panose="02040503050406030204" pitchFamily="18" charset="0"/>
                              </a:rPr>
                              <m:t>𝑝</m:t>
                            </m:r>
                          </m:e>
                          <m:sub>
                            <m:r>
                              <a:rPr lang="en-US" i="1">
                                <a:latin typeface="Cambria Math" panose="02040503050406030204" pitchFamily="18" charset="0"/>
                              </a:rPr>
                              <m:t>𝑘</m:t>
                            </m:r>
                          </m:sub>
                        </m:sSub>
                        <m:r>
                          <a:rPr lang="en-US" i="1">
                            <a:latin typeface="Cambria Math" panose="02040503050406030204" pitchFamily="18" charset="0"/>
                          </a:rPr>
                          <m:t>𝑓</m:t>
                        </m:r>
                        <m:r>
                          <a:rPr lang="en-US" i="1">
                            <a:latin typeface="Cambria Math" panose="02040503050406030204" pitchFamily="18" charset="0"/>
                          </a:rPr>
                          <m:t>(</m:t>
                        </m:r>
                        <m:r>
                          <a:rPr lang="en-US" i="1">
                            <a:latin typeface="Cambria Math" panose="02040503050406030204" pitchFamily="18" charset="0"/>
                          </a:rPr>
                          <m:t>𝑥</m:t>
                        </m:r>
                        <m:r>
                          <a:rPr lang="en-US" i="1">
                            <a:latin typeface="Cambria Math" panose="02040503050406030204" pitchFamily="18" charset="0"/>
                          </a:rPr>
                          <m:t>|</m:t>
                        </m:r>
                        <m:r>
                          <a:rPr lang="en-US" i="1">
                            <a:latin typeface="Cambria Math" panose="02040503050406030204" pitchFamily="18" charset="0"/>
                          </a:rPr>
                          <m:t>𝜀</m:t>
                        </m:r>
                        <m:r>
                          <a:rPr lang="en-US" i="1">
                            <a:latin typeface="Cambria Math" panose="02040503050406030204" pitchFamily="18" charset="0"/>
                          </a:rPr>
                          <m:t>=</m:t>
                        </m:r>
                        <m:sSup>
                          <m:sSupPr>
                            <m:ctrlPr>
                              <a:rPr lang="en-US" i="1">
                                <a:latin typeface="Cambria Math" panose="02040503050406030204" pitchFamily="18" charset="0"/>
                              </a:rPr>
                            </m:ctrlPr>
                          </m:sSupPr>
                          <m:e>
                            <m:r>
                              <a:rPr lang="en-US" i="1">
                                <a:latin typeface="Cambria Math" panose="02040503050406030204" pitchFamily="18" charset="0"/>
                              </a:rPr>
                              <m:t>𝜀</m:t>
                            </m:r>
                          </m:e>
                          <m:sup>
                            <m:r>
                              <a:rPr lang="en-US" i="1">
                                <a:latin typeface="Cambria Math" panose="02040503050406030204" pitchFamily="18" charset="0"/>
                              </a:rPr>
                              <m:t>𝑘</m:t>
                            </m:r>
                          </m:sup>
                        </m:sSup>
                        <m:r>
                          <a:rPr lang="en-US" i="1">
                            <a:latin typeface="Cambria Math" panose="02040503050406030204" pitchFamily="18" charset="0"/>
                          </a:rPr>
                          <m:t>)</m:t>
                        </m:r>
                      </m:e>
                    </m:nary>
                  </m:oMath>
                </a14:m>
                <a:r>
                  <a:rPr lang="en-US" dirty="0"/>
                  <a:t> </a:t>
                </a:r>
              </a:p>
              <a:p>
                <a14:m>
                  <m:oMath xmlns:m="http://schemas.openxmlformats.org/officeDocument/2006/math">
                    <m:r>
                      <a:rPr lang="en-US" i="1" dirty="0" smtClean="0">
                        <a:latin typeface="Cambria Math" panose="02040503050406030204" pitchFamily="18" charset="0"/>
                      </a:rPr>
                      <m:t>𝑠</m:t>
                    </m:r>
                    <m:r>
                      <a:rPr lang="en-US" i="1" dirty="0" smtClean="0">
                        <a:latin typeface="Cambria Math" panose="02040503050406030204" pitchFamily="18" charset="0"/>
                      </a:rPr>
                      <m:t>.</m:t>
                    </m:r>
                    <m:r>
                      <a:rPr lang="en-US" i="1" dirty="0" smtClean="0">
                        <a:latin typeface="Cambria Math" panose="02040503050406030204" pitchFamily="18" charset="0"/>
                      </a:rPr>
                      <m:t>𝑡</m:t>
                    </m:r>
                    <m:r>
                      <a:rPr lang="en-US" i="1" dirty="0" smtClean="0">
                        <a:latin typeface="Cambria Math" panose="02040503050406030204" pitchFamily="18" charset="0"/>
                      </a:rPr>
                      <m:t>. </m:t>
                    </m:r>
                  </m:oMath>
                </a14:m>
                <a:r>
                  <a:rPr lang="en-US" dirty="0"/>
                  <a:t>	</a:t>
                </a:r>
                <a14:m>
                  <m:oMath xmlns:m="http://schemas.openxmlformats.org/officeDocument/2006/math">
                    <m:r>
                      <a:rPr lang="en-US" i="1">
                        <a:latin typeface="Cambria Math" panose="02040503050406030204" pitchFamily="18" charset="0"/>
                      </a:rPr>
                      <m:t>𝑥</m:t>
                    </m:r>
                    <m:r>
                      <a:rPr lang="en-US" i="1">
                        <a:latin typeface="Cambria Math" panose="02040503050406030204" pitchFamily="18" charset="0"/>
                      </a:rPr>
                      <m:t>∈</m:t>
                    </m:r>
                    <m:r>
                      <a:rPr lang="en-US" i="1">
                        <a:latin typeface="Cambria Math" panose="02040503050406030204" pitchFamily="18" charset="0"/>
                      </a:rPr>
                      <m:t>𝑋</m:t>
                    </m:r>
                    <m:d>
                      <m:dPr>
                        <m:ctrlPr>
                          <a:rPr lang="en-US" i="1">
                            <a:latin typeface="Cambria Math" panose="02040503050406030204" pitchFamily="18" charset="0"/>
                          </a:rPr>
                        </m:ctrlPr>
                      </m:dPr>
                      <m:e>
                        <m:r>
                          <a:rPr lang="en-US" i="1">
                            <a:latin typeface="Cambria Math" panose="02040503050406030204" pitchFamily="18" charset="0"/>
                          </a:rPr>
                          <m:t>𝜀</m:t>
                        </m:r>
                      </m:e>
                    </m:d>
                    <m:r>
                      <a:rPr lang="en-US" i="1">
                        <a:latin typeface="Cambria Math" panose="02040503050406030204" pitchFamily="18" charset="0"/>
                      </a:rPr>
                      <m:t> </m:t>
                    </m:r>
                    <m:r>
                      <a:rPr lang="en-US" b="0" i="1" smtClean="0">
                        <a:latin typeface="Cambria Math" panose="02040503050406030204" pitchFamily="18" charset="0"/>
                      </a:rPr>
                      <m:t>     </m:t>
                    </m:r>
                    <m:r>
                      <a:rPr lang="en-US" i="1">
                        <a:latin typeface="Cambria Math" panose="02040503050406030204" pitchFamily="18" charset="0"/>
                      </a:rPr>
                      <m:t>∀</m:t>
                    </m:r>
                    <m:r>
                      <a:rPr lang="en-US" i="1">
                        <a:latin typeface="Cambria Math" panose="02040503050406030204" pitchFamily="18" charset="0"/>
                      </a:rPr>
                      <m:t>𝜀</m:t>
                    </m:r>
                    <m:r>
                      <a:rPr lang="en-US" i="1">
                        <a:latin typeface="Cambria Math" panose="02040503050406030204" pitchFamily="18" charset="0"/>
                      </a:rPr>
                      <m:t>∈{</m:t>
                    </m:r>
                    <m:sSup>
                      <m:sSupPr>
                        <m:ctrlPr>
                          <a:rPr lang="en-US" i="1">
                            <a:latin typeface="Cambria Math" panose="02040503050406030204" pitchFamily="18" charset="0"/>
                            <a:sym typeface="Wingdings" panose="05000000000000000000" pitchFamily="2" charset="2"/>
                          </a:rPr>
                        </m:ctrlPr>
                      </m:sSupPr>
                      <m:e>
                        <m:r>
                          <a:rPr lang="en-US" i="1">
                            <a:latin typeface="Cambria Math" panose="02040503050406030204" pitchFamily="18" charset="0"/>
                            <a:sym typeface="Wingdings" panose="05000000000000000000" pitchFamily="2" charset="2"/>
                          </a:rPr>
                          <m:t>𝜀</m:t>
                        </m:r>
                      </m:e>
                      <m:sup>
                        <m:r>
                          <a:rPr lang="en-US" i="1">
                            <a:latin typeface="Cambria Math" panose="02040503050406030204" pitchFamily="18" charset="0"/>
                            <a:sym typeface="Wingdings" panose="05000000000000000000" pitchFamily="2" charset="2"/>
                          </a:rPr>
                          <m:t>1</m:t>
                        </m:r>
                      </m:sup>
                    </m:sSup>
                    <m:r>
                      <a:rPr lang="en-US" i="1">
                        <a:latin typeface="Cambria Math" panose="02040503050406030204" pitchFamily="18" charset="0"/>
                        <a:sym typeface="Wingdings" panose="05000000000000000000" pitchFamily="2" charset="2"/>
                      </a:rPr>
                      <m:t>,</m:t>
                    </m:r>
                    <m:sSup>
                      <m:sSupPr>
                        <m:ctrlPr>
                          <a:rPr lang="en-US" i="1">
                            <a:latin typeface="Cambria Math" panose="02040503050406030204" pitchFamily="18" charset="0"/>
                            <a:sym typeface="Wingdings" panose="05000000000000000000" pitchFamily="2" charset="2"/>
                          </a:rPr>
                        </m:ctrlPr>
                      </m:sSupPr>
                      <m:e>
                        <m:r>
                          <a:rPr lang="en-US" i="1">
                            <a:latin typeface="Cambria Math" panose="02040503050406030204" pitchFamily="18" charset="0"/>
                            <a:sym typeface="Wingdings" panose="05000000000000000000" pitchFamily="2" charset="2"/>
                          </a:rPr>
                          <m:t>𝜀</m:t>
                        </m:r>
                      </m:e>
                      <m:sup>
                        <m:r>
                          <a:rPr lang="en-US" i="1">
                            <a:latin typeface="Cambria Math" panose="02040503050406030204" pitchFamily="18" charset="0"/>
                            <a:sym typeface="Wingdings" panose="05000000000000000000" pitchFamily="2" charset="2"/>
                          </a:rPr>
                          <m:t>2</m:t>
                        </m:r>
                      </m:sup>
                    </m:sSup>
                    <m:r>
                      <a:rPr lang="en-US" i="1">
                        <a:latin typeface="Cambria Math" panose="02040503050406030204" pitchFamily="18" charset="0"/>
                        <a:sym typeface="Wingdings" panose="05000000000000000000" pitchFamily="2" charset="2"/>
                      </a:rPr>
                      <m:t>,…,</m:t>
                    </m:r>
                    <m:sSup>
                      <m:sSupPr>
                        <m:ctrlPr>
                          <a:rPr lang="en-US" i="1">
                            <a:latin typeface="Cambria Math" panose="02040503050406030204" pitchFamily="18" charset="0"/>
                            <a:sym typeface="Wingdings" panose="05000000000000000000" pitchFamily="2" charset="2"/>
                          </a:rPr>
                        </m:ctrlPr>
                      </m:sSupPr>
                      <m:e>
                        <m:r>
                          <a:rPr lang="en-US" i="1">
                            <a:latin typeface="Cambria Math" panose="02040503050406030204" pitchFamily="18" charset="0"/>
                            <a:sym typeface="Wingdings" panose="05000000000000000000" pitchFamily="2" charset="2"/>
                          </a:rPr>
                          <m:t>𝜀</m:t>
                        </m:r>
                      </m:e>
                      <m:sup>
                        <m:r>
                          <a:rPr lang="en-US" i="1">
                            <a:latin typeface="Cambria Math" panose="02040503050406030204" pitchFamily="18" charset="0"/>
                            <a:sym typeface="Wingdings" panose="05000000000000000000" pitchFamily="2" charset="2"/>
                          </a:rPr>
                          <m:t>𝐾</m:t>
                        </m:r>
                      </m:sup>
                    </m:sSup>
                    <m:r>
                      <a:rPr lang="en-US" b="0" i="1" smtClean="0">
                        <a:latin typeface="Cambria Math" panose="02040503050406030204" pitchFamily="18" charset="0"/>
                        <a:sym typeface="Wingdings" panose="05000000000000000000" pitchFamily="2" charset="2"/>
                      </a:rPr>
                      <m:t>}</m:t>
                    </m:r>
                  </m:oMath>
                </a14:m>
                <a:endParaRPr lang="en-US" dirty="0"/>
              </a:p>
            </p:txBody>
          </p:sp>
        </mc:Choice>
        <mc:Fallback xmlns="">
          <p:sp>
            <p:nvSpPr>
              <p:cNvPr id="6" name="Rectangle 5">
                <a:extLst>
                  <a:ext uri="{FF2B5EF4-FFF2-40B4-BE49-F238E27FC236}">
                    <a16:creationId xmlns:a16="http://schemas.microsoft.com/office/drawing/2014/main" id="{D2725EC0-D25A-4849-8469-F87A208E63E5}"/>
                  </a:ext>
                </a:extLst>
              </p:cNvPr>
              <p:cNvSpPr>
                <a:spLocks noRot="1" noChangeAspect="1" noMove="1" noResize="1" noEditPoints="1" noAdjustHandles="1" noChangeArrowheads="1" noChangeShapeType="1" noTextEdit="1"/>
              </p:cNvSpPr>
              <p:nvPr/>
            </p:nvSpPr>
            <p:spPr>
              <a:xfrm>
                <a:off x="2850907" y="2998709"/>
                <a:ext cx="4161267" cy="657424"/>
              </a:xfrm>
              <a:prstGeom prst="rect">
                <a:avLst/>
              </a:prstGeom>
              <a:blipFill>
                <a:blip r:embed="rId4"/>
                <a:stretch>
                  <a:fillRect t="-65741" b="-6203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Rectangle 6">
                <a:extLst>
                  <a:ext uri="{FF2B5EF4-FFF2-40B4-BE49-F238E27FC236}">
                    <a16:creationId xmlns:a16="http://schemas.microsoft.com/office/drawing/2014/main" id="{C9B87A86-3630-4A4B-A716-3BFE79B68DAB}"/>
                  </a:ext>
                </a:extLst>
              </p:cNvPr>
              <p:cNvSpPr/>
              <p:nvPr/>
            </p:nvSpPr>
            <p:spPr>
              <a:xfrm>
                <a:off x="208232" y="2998709"/>
                <a:ext cx="2330318" cy="646331"/>
              </a:xfrm>
              <a:prstGeom prst="rect">
                <a:avLst/>
              </a:prstGeom>
            </p:spPr>
            <p:txBody>
              <a:bodyPr wrap="none">
                <a:spAutoFit/>
              </a:bodyPr>
              <a:lstStyle/>
              <a:p>
                <a14:m>
                  <m:oMath xmlns:m="http://schemas.openxmlformats.org/officeDocument/2006/math">
                    <m:r>
                      <a:rPr lang="en-US" b="0" i="1" smtClean="0">
                        <a:latin typeface="Cambria Math" panose="02040503050406030204" pitchFamily="18" charset="0"/>
                      </a:rPr>
                      <m:t>𝑚𝑖𝑛</m:t>
                    </m:r>
                  </m:oMath>
                </a14:m>
                <a:r>
                  <a:rPr lang="en-US" dirty="0"/>
                  <a:t>	</a:t>
                </a:r>
                <a14:m>
                  <m:oMath xmlns:m="http://schemas.openxmlformats.org/officeDocument/2006/math">
                    <m:r>
                      <a:rPr lang="en-US" b="0" i="1" smtClean="0">
                        <a:latin typeface="Cambria Math" panose="02040503050406030204" pitchFamily="18" charset="0"/>
                      </a:rPr>
                      <m:t>𝑓</m:t>
                    </m:r>
                    <m:d>
                      <m:dPr>
                        <m:ctrlPr>
                          <a:rPr lang="en-US" b="0" i="1" smtClean="0">
                            <a:latin typeface="Cambria Math" panose="02040503050406030204" pitchFamily="18" charset="0"/>
                          </a:rPr>
                        </m:ctrlPr>
                      </m:dPr>
                      <m:e>
                        <m:r>
                          <a:rPr lang="en-US" b="0" i="1" smtClean="0">
                            <a:latin typeface="Cambria Math" panose="02040503050406030204" pitchFamily="18" charset="0"/>
                          </a:rPr>
                          <m:t>𝑥</m:t>
                        </m:r>
                        <m:r>
                          <a:rPr lang="en-US" b="0" i="1" smtClean="0">
                            <a:latin typeface="Cambria Math" panose="02040503050406030204" pitchFamily="18" charset="0"/>
                          </a:rPr>
                          <m:t>,</m:t>
                        </m:r>
                        <m:r>
                          <a:rPr lang="en-US" b="0" i="1" smtClean="0">
                            <a:latin typeface="Cambria Math" panose="02040503050406030204" pitchFamily="18" charset="0"/>
                          </a:rPr>
                          <m:t>𝜀</m:t>
                        </m:r>
                      </m:e>
                    </m:d>
                  </m:oMath>
                </a14:m>
                <a:endParaRPr lang="en-US" dirty="0"/>
              </a:p>
              <a:p>
                <a14:m>
                  <m:oMath xmlns:m="http://schemas.openxmlformats.org/officeDocument/2006/math">
                    <m:r>
                      <a:rPr lang="en-US" b="0" i="1" smtClean="0">
                        <a:latin typeface="Cambria Math" panose="02040503050406030204" pitchFamily="18" charset="0"/>
                      </a:rPr>
                      <m:t>𝑠</m:t>
                    </m:r>
                    <m:r>
                      <a:rPr lang="en-US" b="0" i="1" smtClean="0">
                        <a:latin typeface="Cambria Math" panose="02040503050406030204" pitchFamily="18" charset="0"/>
                      </a:rPr>
                      <m:t>.</m:t>
                    </m:r>
                    <m:r>
                      <a:rPr lang="en-US" b="0" i="1" smtClean="0">
                        <a:latin typeface="Cambria Math" panose="02040503050406030204" pitchFamily="18" charset="0"/>
                      </a:rPr>
                      <m:t>𝑡</m:t>
                    </m:r>
                    <m:r>
                      <a:rPr lang="en-US" b="0" i="1" smtClean="0">
                        <a:latin typeface="Cambria Math" panose="02040503050406030204" pitchFamily="18" charset="0"/>
                      </a:rPr>
                      <m:t>.</m:t>
                    </m:r>
                  </m:oMath>
                </a14:m>
                <a:r>
                  <a:rPr lang="en-US" dirty="0"/>
                  <a:t>	</a:t>
                </a:r>
                <a14:m>
                  <m:oMath xmlns:m="http://schemas.openxmlformats.org/officeDocument/2006/math">
                    <m:r>
                      <a:rPr lang="en-US" i="1">
                        <a:latin typeface="Cambria Math" panose="02040503050406030204" pitchFamily="18" charset="0"/>
                      </a:rPr>
                      <m:t>𝑥</m:t>
                    </m:r>
                    <m:r>
                      <a:rPr lang="en-US" i="1">
                        <a:latin typeface="Cambria Math" panose="02040503050406030204" pitchFamily="18" charset="0"/>
                      </a:rPr>
                      <m:t>∈</m:t>
                    </m:r>
                    <m:r>
                      <a:rPr lang="en-US" i="1">
                        <a:latin typeface="Cambria Math" panose="02040503050406030204" pitchFamily="18" charset="0"/>
                      </a:rPr>
                      <m:t>𝑋</m:t>
                    </m:r>
                    <m:d>
                      <m:dPr>
                        <m:ctrlPr>
                          <a:rPr lang="en-US" i="1">
                            <a:latin typeface="Cambria Math" panose="02040503050406030204" pitchFamily="18" charset="0"/>
                          </a:rPr>
                        </m:ctrlPr>
                      </m:dPr>
                      <m:e>
                        <m:r>
                          <a:rPr lang="en-US" i="1">
                            <a:latin typeface="Cambria Math" panose="02040503050406030204" pitchFamily="18" charset="0"/>
                          </a:rPr>
                          <m:t>𝜀</m:t>
                        </m:r>
                      </m:e>
                    </m:d>
                    <m:r>
                      <a:rPr lang="en-US" b="0" i="1" smtClean="0">
                        <a:latin typeface="Cambria Math" panose="02040503050406030204" pitchFamily="18" charset="0"/>
                      </a:rPr>
                      <m:t>  </m:t>
                    </m:r>
                    <m:r>
                      <a:rPr lang="en-US" i="1">
                        <a:latin typeface="Cambria Math" panose="02040503050406030204" pitchFamily="18" charset="0"/>
                      </a:rPr>
                      <m:t>∀</m:t>
                    </m:r>
                    <m:r>
                      <a:rPr lang="en-US" b="0" i="1" smtClean="0">
                        <a:latin typeface="Cambria Math" panose="02040503050406030204" pitchFamily="18" charset="0"/>
                      </a:rPr>
                      <m:t>𝜀</m:t>
                    </m:r>
                  </m:oMath>
                </a14:m>
                <a:endParaRPr lang="en-US" dirty="0"/>
              </a:p>
            </p:txBody>
          </p:sp>
        </mc:Choice>
        <mc:Fallback xmlns="">
          <p:sp>
            <p:nvSpPr>
              <p:cNvPr id="7" name="Rectangle 6">
                <a:extLst>
                  <a:ext uri="{FF2B5EF4-FFF2-40B4-BE49-F238E27FC236}">
                    <a16:creationId xmlns:a16="http://schemas.microsoft.com/office/drawing/2014/main" id="{C9B87A86-3630-4A4B-A716-3BFE79B68DAB}"/>
                  </a:ext>
                </a:extLst>
              </p:cNvPr>
              <p:cNvSpPr>
                <a:spLocks noRot="1" noChangeAspect="1" noMove="1" noResize="1" noEditPoints="1" noAdjustHandles="1" noChangeArrowheads="1" noChangeShapeType="1" noTextEdit="1"/>
              </p:cNvSpPr>
              <p:nvPr/>
            </p:nvSpPr>
            <p:spPr>
              <a:xfrm>
                <a:off x="208232" y="2998709"/>
                <a:ext cx="2330318" cy="646331"/>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Rectangle 7">
                <a:extLst>
                  <a:ext uri="{FF2B5EF4-FFF2-40B4-BE49-F238E27FC236}">
                    <a16:creationId xmlns:a16="http://schemas.microsoft.com/office/drawing/2014/main" id="{36BE3559-DC38-44C6-8148-39D4A4540715}"/>
                  </a:ext>
                </a:extLst>
              </p:cNvPr>
              <p:cNvSpPr/>
              <p:nvPr/>
            </p:nvSpPr>
            <p:spPr>
              <a:xfrm>
                <a:off x="7342159" y="2998709"/>
                <a:ext cx="4463594" cy="970074"/>
              </a:xfrm>
              <a:prstGeom prst="rect">
                <a:avLst/>
              </a:prstGeom>
            </p:spPr>
            <p:txBody>
              <a:bodyPr wrap="none">
                <a:spAutoFit/>
              </a:bodyPr>
              <a:lstStyle/>
              <a:p>
                <a14:m>
                  <m:oMath xmlns:m="http://schemas.openxmlformats.org/officeDocument/2006/math">
                    <m:r>
                      <a:rPr lang="en-US" b="0" i="1" smtClean="0">
                        <a:latin typeface="Cambria Math" panose="02040503050406030204" pitchFamily="18" charset="0"/>
                      </a:rPr>
                      <m:t>𝑚𝑖𝑛</m:t>
                    </m:r>
                  </m:oMath>
                </a14:m>
                <a:r>
                  <a:rPr lang="en-US" dirty="0"/>
                  <a:t>	</a:t>
                </a:r>
                <a14:m>
                  <m:oMath xmlns:m="http://schemas.openxmlformats.org/officeDocument/2006/math">
                    <m:nary>
                      <m:naryPr>
                        <m:chr m:val="∑"/>
                        <m:ctrlPr>
                          <a:rPr lang="en-US" i="1">
                            <a:latin typeface="Cambria Math" panose="02040503050406030204" pitchFamily="18" charset="0"/>
                          </a:rPr>
                        </m:ctrlPr>
                      </m:naryPr>
                      <m:sub>
                        <m:r>
                          <m:rPr>
                            <m:brk m:alnAt="23"/>
                          </m:rPr>
                          <a:rPr lang="en-US" i="1">
                            <a:latin typeface="Cambria Math" panose="02040503050406030204" pitchFamily="18" charset="0"/>
                          </a:rPr>
                          <m:t>𝑘</m:t>
                        </m:r>
                        <m:r>
                          <a:rPr lang="en-US" i="1">
                            <a:latin typeface="Cambria Math" panose="02040503050406030204" pitchFamily="18" charset="0"/>
                          </a:rPr>
                          <m:t>=1</m:t>
                        </m:r>
                      </m:sub>
                      <m:sup>
                        <m:r>
                          <a:rPr lang="en-US" i="1">
                            <a:latin typeface="Cambria Math" panose="02040503050406030204" pitchFamily="18" charset="0"/>
                          </a:rPr>
                          <m:t>𝐾</m:t>
                        </m:r>
                      </m:sup>
                      <m:e>
                        <m:sSub>
                          <m:sSubPr>
                            <m:ctrlPr>
                              <a:rPr lang="en-US" i="1">
                                <a:latin typeface="Cambria Math" panose="02040503050406030204" pitchFamily="18" charset="0"/>
                              </a:rPr>
                            </m:ctrlPr>
                          </m:sSubPr>
                          <m:e>
                            <m:r>
                              <a:rPr lang="en-US" i="1">
                                <a:latin typeface="Cambria Math" panose="02040503050406030204" pitchFamily="18" charset="0"/>
                              </a:rPr>
                              <m:t>𝑝</m:t>
                            </m:r>
                          </m:e>
                          <m:sub>
                            <m:r>
                              <a:rPr lang="en-US" i="1">
                                <a:latin typeface="Cambria Math" panose="02040503050406030204" pitchFamily="18" charset="0"/>
                              </a:rPr>
                              <m:t>𝑘</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𝑧</m:t>
                            </m:r>
                          </m:e>
                          <m:sub>
                            <m:r>
                              <a:rPr lang="en-US" b="0" i="1" smtClean="0">
                                <a:latin typeface="Cambria Math" panose="02040503050406030204" pitchFamily="18" charset="0"/>
                              </a:rPr>
                              <m:t>𝑘</m:t>
                            </m:r>
                          </m:sub>
                        </m:sSub>
                      </m:e>
                    </m:nary>
                  </m:oMath>
                </a14:m>
                <a:r>
                  <a:rPr lang="en-US" dirty="0"/>
                  <a:t> </a:t>
                </a:r>
              </a:p>
              <a:p>
                <a14:m>
                  <m:oMath xmlns:m="http://schemas.openxmlformats.org/officeDocument/2006/math">
                    <m:r>
                      <a:rPr lang="en-US" i="1" dirty="0" smtClean="0">
                        <a:latin typeface="Cambria Math" panose="02040503050406030204" pitchFamily="18" charset="0"/>
                      </a:rPr>
                      <m:t>𝑠</m:t>
                    </m:r>
                    <m:r>
                      <a:rPr lang="en-US" i="1" dirty="0" smtClean="0">
                        <a:latin typeface="Cambria Math" panose="02040503050406030204" pitchFamily="18" charset="0"/>
                      </a:rPr>
                      <m:t>.</m:t>
                    </m:r>
                    <m:r>
                      <a:rPr lang="en-US" i="1" dirty="0" smtClean="0">
                        <a:latin typeface="Cambria Math" panose="02040503050406030204" pitchFamily="18" charset="0"/>
                      </a:rPr>
                      <m:t>𝑡</m:t>
                    </m:r>
                    <m:r>
                      <a:rPr lang="en-US" i="1" dirty="0" smtClean="0">
                        <a:latin typeface="Cambria Math" panose="02040503050406030204" pitchFamily="18" charset="0"/>
                      </a:rPr>
                      <m:t>. </m:t>
                    </m:r>
                  </m:oMath>
                </a14:m>
                <a:r>
                  <a:rPr lang="en-US" dirty="0"/>
                  <a:t>	</a:t>
                </a:r>
                <a14:m>
                  <m:oMath xmlns:m="http://schemas.openxmlformats.org/officeDocument/2006/math">
                    <m:r>
                      <a:rPr lang="en-US" i="1">
                        <a:latin typeface="Cambria Math" panose="02040503050406030204" pitchFamily="18" charset="0"/>
                      </a:rPr>
                      <m:t>𝑥</m:t>
                    </m:r>
                    <m:r>
                      <a:rPr lang="en-US" i="1">
                        <a:latin typeface="Cambria Math" panose="02040503050406030204" pitchFamily="18" charset="0"/>
                      </a:rPr>
                      <m:t>∈</m:t>
                    </m:r>
                    <m:r>
                      <a:rPr lang="en-US" i="1">
                        <a:latin typeface="Cambria Math" panose="02040503050406030204" pitchFamily="18" charset="0"/>
                      </a:rPr>
                      <m:t>𝑋</m:t>
                    </m:r>
                    <m:d>
                      <m:dPr>
                        <m:ctrlPr>
                          <a:rPr lang="en-US" i="1">
                            <a:latin typeface="Cambria Math" panose="02040503050406030204" pitchFamily="18" charset="0"/>
                          </a:rPr>
                        </m:ctrlPr>
                      </m:dPr>
                      <m:e>
                        <m:r>
                          <a:rPr lang="en-US" i="1">
                            <a:latin typeface="Cambria Math" panose="02040503050406030204" pitchFamily="18" charset="0"/>
                          </a:rPr>
                          <m:t>𝜀</m:t>
                        </m:r>
                      </m:e>
                    </m:d>
                    <m:r>
                      <a:rPr lang="en-US" i="1">
                        <a:latin typeface="Cambria Math" panose="02040503050406030204" pitchFamily="18" charset="0"/>
                      </a:rPr>
                      <m:t> </m:t>
                    </m:r>
                    <m:r>
                      <a:rPr lang="en-US" b="0" i="1" smtClean="0">
                        <a:latin typeface="Cambria Math" panose="02040503050406030204" pitchFamily="18" charset="0"/>
                      </a:rPr>
                      <m:t>          </m:t>
                    </m:r>
                    <m:r>
                      <a:rPr lang="en-US" i="1">
                        <a:latin typeface="Cambria Math" panose="02040503050406030204" pitchFamily="18" charset="0"/>
                      </a:rPr>
                      <m:t>∀</m:t>
                    </m:r>
                    <m:r>
                      <a:rPr lang="en-US" i="1">
                        <a:latin typeface="Cambria Math" panose="02040503050406030204" pitchFamily="18" charset="0"/>
                      </a:rPr>
                      <m:t>𝜀</m:t>
                    </m:r>
                    <m:r>
                      <a:rPr lang="en-US" i="1">
                        <a:latin typeface="Cambria Math" panose="02040503050406030204" pitchFamily="18" charset="0"/>
                      </a:rPr>
                      <m:t>∈{</m:t>
                    </m:r>
                    <m:sSup>
                      <m:sSupPr>
                        <m:ctrlPr>
                          <a:rPr lang="en-US" i="1">
                            <a:latin typeface="Cambria Math" panose="02040503050406030204" pitchFamily="18" charset="0"/>
                            <a:sym typeface="Wingdings" panose="05000000000000000000" pitchFamily="2" charset="2"/>
                          </a:rPr>
                        </m:ctrlPr>
                      </m:sSupPr>
                      <m:e>
                        <m:r>
                          <a:rPr lang="en-US" i="1">
                            <a:latin typeface="Cambria Math" panose="02040503050406030204" pitchFamily="18" charset="0"/>
                            <a:sym typeface="Wingdings" panose="05000000000000000000" pitchFamily="2" charset="2"/>
                          </a:rPr>
                          <m:t>𝜀</m:t>
                        </m:r>
                      </m:e>
                      <m:sup>
                        <m:r>
                          <a:rPr lang="en-US" i="1">
                            <a:latin typeface="Cambria Math" panose="02040503050406030204" pitchFamily="18" charset="0"/>
                            <a:sym typeface="Wingdings" panose="05000000000000000000" pitchFamily="2" charset="2"/>
                          </a:rPr>
                          <m:t>1</m:t>
                        </m:r>
                      </m:sup>
                    </m:sSup>
                    <m:r>
                      <a:rPr lang="en-US" i="1">
                        <a:latin typeface="Cambria Math" panose="02040503050406030204" pitchFamily="18" charset="0"/>
                        <a:sym typeface="Wingdings" panose="05000000000000000000" pitchFamily="2" charset="2"/>
                      </a:rPr>
                      <m:t>,</m:t>
                    </m:r>
                    <m:sSup>
                      <m:sSupPr>
                        <m:ctrlPr>
                          <a:rPr lang="en-US" i="1">
                            <a:latin typeface="Cambria Math" panose="02040503050406030204" pitchFamily="18" charset="0"/>
                            <a:sym typeface="Wingdings" panose="05000000000000000000" pitchFamily="2" charset="2"/>
                          </a:rPr>
                        </m:ctrlPr>
                      </m:sSupPr>
                      <m:e>
                        <m:r>
                          <a:rPr lang="en-US" i="1">
                            <a:latin typeface="Cambria Math" panose="02040503050406030204" pitchFamily="18" charset="0"/>
                            <a:sym typeface="Wingdings" panose="05000000000000000000" pitchFamily="2" charset="2"/>
                          </a:rPr>
                          <m:t>𝜀</m:t>
                        </m:r>
                      </m:e>
                      <m:sup>
                        <m:r>
                          <a:rPr lang="en-US" i="1">
                            <a:latin typeface="Cambria Math" panose="02040503050406030204" pitchFamily="18" charset="0"/>
                            <a:sym typeface="Wingdings" panose="05000000000000000000" pitchFamily="2" charset="2"/>
                          </a:rPr>
                          <m:t>2</m:t>
                        </m:r>
                      </m:sup>
                    </m:sSup>
                    <m:r>
                      <a:rPr lang="en-US" i="1">
                        <a:latin typeface="Cambria Math" panose="02040503050406030204" pitchFamily="18" charset="0"/>
                        <a:sym typeface="Wingdings" panose="05000000000000000000" pitchFamily="2" charset="2"/>
                      </a:rPr>
                      <m:t>,…,</m:t>
                    </m:r>
                    <m:sSup>
                      <m:sSupPr>
                        <m:ctrlPr>
                          <a:rPr lang="en-US" i="1">
                            <a:latin typeface="Cambria Math" panose="02040503050406030204" pitchFamily="18" charset="0"/>
                            <a:sym typeface="Wingdings" panose="05000000000000000000" pitchFamily="2" charset="2"/>
                          </a:rPr>
                        </m:ctrlPr>
                      </m:sSupPr>
                      <m:e>
                        <m:r>
                          <a:rPr lang="en-US" i="1">
                            <a:latin typeface="Cambria Math" panose="02040503050406030204" pitchFamily="18" charset="0"/>
                            <a:sym typeface="Wingdings" panose="05000000000000000000" pitchFamily="2" charset="2"/>
                          </a:rPr>
                          <m:t>𝜀</m:t>
                        </m:r>
                      </m:e>
                      <m:sup>
                        <m:r>
                          <a:rPr lang="en-US" i="1">
                            <a:latin typeface="Cambria Math" panose="02040503050406030204" pitchFamily="18" charset="0"/>
                            <a:sym typeface="Wingdings" panose="05000000000000000000" pitchFamily="2" charset="2"/>
                          </a:rPr>
                          <m:t>𝐾</m:t>
                        </m:r>
                      </m:sup>
                    </m:sSup>
                    <m:r>
                      <a:rPr lang="en-US" b="0" i="1" smtClean="0">
                        <a:latin typeface="Cambria Math" panose="02040503050406030204" pitchFamily="18" charset="0"/>
                        <a:sym typeface="Wingdings" panose="05000000000000000000" pitchFamily="2" charset="2"/>
                      </a:rPr>
                      <m:t>}</m:t>
                    </m:r>
                  </m:oMath>
                </a14:m>
                <a:endParaRPr lang="en-US" dirty="0"/>
              </a:p>
              <a:p>
                <a:r>
                  <a:rPr lang="en-US" dirty="0"/>
                  <a:t>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𝑧</m:t>
                        </m:r>
                      </m:e>
                      <m:sub>
                        <m:r>
                          <a:rPr lang="en-US" b="0" i="1" smtClean="0">
                            <a:latin typeface="Cambria Math" panose="02040503050406030204" pitchFamily="18" charset="0"/>
                          </a:rPr>
                          <m:t>𝑘</m:t>
                        </m:r>
                      </m:sub>
                    </m:sSub>
                    <m:r>
                      <a:rPr lang="en-US" b="0" i="1" smtClean="0">
                        <a:latin typeface="Cambria Math" panose="02040503050406030204" pitchFamily="18" charset="0"/>
                      </a:rPr>
                      <m:t>≥</m:t>
                    </m:r>
                    <m:r>
                      <a:rPr lang="en-US" b="0" i="1" smtClean="0">
                        <a:latin typeface="Cambria Math" panose="02040503050406030204" pitchFamily="18" charset="0"/>
                      </a:rPr>
                      <m:t>𝑓</m:t>
                    </m:r>
                    <m:d>
                      <m:dPr>
                        <m:ctrlPr>
                          <a:rPr lang="en-US" b="0" i="1" smtClean="0">
                            <a:latin typeface="Cambria Math" panose="02040503050406030204" pitchFamily="18" charset="0"/>
                          </a:rPr>
                        </m:ctrlPr>
                      </m:dPr>
                      <m:e>
                        <m:r>
                          <a:rPr lang="en-US" b="0" i="1" smtClean="0">
                            <a:latin typeface="Cambria Math" panose="02040503050406030204" pitchFamily="18" charset="0"/>
                          </a:rPr>
                          <m:t>𝑥</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𝜀</m:t>
                            </m:r>
                          </m:e>
                          <m:sup>
                            <m:r>
                              <a:rPr lang="en-US" b="0" i="1" smtClean="0">
                                <a:latin typeface="Cambria Math" panose="02040503050406030204" pitchFamily="18" charset="0"/>
                              </a:rPr>
                              <m:t>𝑘</m:t>
                            </m:r>
                          </m:sup>
                        </m:sSup>
                      </m:e>
                    </m:d>
                    <m:r>
                      <a:rPr lang="en-US" b="0" i="1" smtClean="0">
                        <a:latin typeface="Cambria Math" panose="02040503050406030204" pitchFamily="18" charset="0"/>
                      </a:rPr>
                      <m:t>  </m:t>
                    </m:r>
                    <m:r>
                      <a:rPr lang="en-US" i="1">
                        <a:latin typeface="Cambria Math" panose="02040503050406030204" pitchFamily="18" charset="0"/>
                      </a:rPr>
                      <m:t>∀</m:t>
                    </m:r>
                    <m:r>
                      <a:rPr lang="en-US" i="1">
                        <a:latin typeface="Cambria Math" panose="02040503050406030204" pitchFamily="18" charset="0"/>
                      </a:rPr>
                      <m:t>𝜀</m:t>
                    </m:r>
                    <m:r>
                      <a:rPr lang="en-US" i="1">
                        <a:latin typeface="Cambria Math" panose="02040503050406030204" pitchFamily="18" charset="0"/>
                      </a:rPr>
                      <m:t>∈{</m:t>
                    </m:r>
                    <m:sSup>
                      <m:sSupPr>
                        <m:ctrlPr>
                          <a:rPr lang="en-US" i="1">
                            <a:latin typeface="Cambria Math" panose="02040503050406030204" pitchFamily="18" charset="0"/>
                            <a:sym typeface="Wingdings" panose="05000000000000000000" pitchFamily="2" charset="2"/>
                          </a:rPr>
                        </m:ctrlPr>
                      </m:sSupPr>
                      <m:e>
                        <m:r>
                          <a:rPr lang="en-US" i="1">
                            <a:latin typeface="Cambria Math" panose="02040503050406030204" pitchFamily="18" charset="0"/>
                            <a:sym typeface="Wingdings" panose="05000000000000000000" pitchFamily="2" charset="2"/>
                          </a:rPr>
                          <m:t>𝜀</m:t>
                        </m:r>
                      </m:e>
                      <m:sup>
                        <m:r>
                          <a:rPr lang="en-US" i="1">
                            <a:latin typeface="Cambria Math" panose="02040503050406030204" pitchFamily="18" charset="0"/>
                            <a:sym typeface="Wingdings" panose="05000000000000000000" pitchFamily="2" charset="2"/>
                          </a:rPr>
                          <m:t>1</m:t>
                        </m:r>
                      </m:sup>
                    </m:sSup>
                    <m:r>
                      <a:rPr lang="en-US" i="1">
                        <a:latin typeface="Cambria Math" panose="02040503050406030204" pitchFamily="18" charset="0"/>
                        <a:sym typeface="Wingdings" panose="05000000000000000000" pitchFamily="2" charset="2"/>
                      </a:rPr>
                      <m:t>,</m:t>
                    </m:r>
                    <m:sSup>
                      <m:sSupPr>
                        <m:ctrlPr>
                          <a:rPr lang="en-US" i="1">
                            <a:latin typeface="Cambria Math" panose="02040503050406030204" pitchFamily="18" charset="0"/>
                            <a:sym typeface="Wingdings" panose="05000000000000000000" pitchFamily="2" charset="2"/>
                          </a:rPr>
                        </m:ctrlPr>
                      </m:sSupPr>
                      <m:e>
                        <m:r>
                          <a:rPr lang="en-US" i="1">
                            <a:latin typeface="Cambria Math" panose="02040503050406030204" pitchFamily="18" charset="0"/>
                            <a:sym typeface="Wingdings" panose="05000000000000000000" pitchFamily="2" charset="2"/>
                          </a:rPr>
                          <m:t>𝜀</m:t>
                        </m:r>
                      </m:e>
                      <m:sup>
                        <m:r>
                          <a:rPr lang="en-US" i="1">
                            <a:latin typeface="Cambria Math" panose="02040503050406030204" pitchFamily="18" charset="0"/>
                            <a:sym typeface="Wingdings" panose="05000000000000000000" pitchFamily="2" charset="2"/>
                          </a:rPr>
                          <m:t>2</m:t>
                        </m:r>
                      </m:sup>
                    </m:sSup>
                    <m:r>
                      <a:rPr lang="en-US" i="1">
                        <a:latin typeface="Cambria Math" panose="02040503050406030204" pitchFamily="18" charset="0"/>
                        <a:sym typeface="Wingdings" panose="05000000000000000000" pitchFamily="2" charset="2"/>
                      </a:rPr>
                      <m:t>,…,</m:t>
                    </m:r>
                    <m:sSup>
                      <m:sSupPr>
                        <m:ctrlPr>
                          <a:rPr lang="en-US" i="1">
                            <a:latin typeface="Cambria Math" panose="02040503050406030204" pitchFamily="18" charset="0"/>
                            <a:sym typeface="Wingdings" panose="05000000000000000000" pitchFamily="2" charset="2"/>
                          </a:rPr>
                        </m:ctrlPr>
                      </m:sSupPr>
                      <m:e>
                        <m:r>
                          <a:rPr lang="en-US" i="1">
                            <a:latin typeface="Cambria Math" panose="02040503050406030204" pitchFamily="18" charset="0"/>
                            <a:sym typeface="Wingdings" panose="05000000000000000000" pitchFamily="2" charset="2"/>
                          </a:rPr>
                          <m:t>𝜀</m:t>
                        </m:r>
                      </m:e>
                      <m:sup>
                        <m:r>
                          <a:rPr lang="en-US" i="1">
                            <a:latin typeface="Cambria Math" panose="02040503050406030204" pitchFamily="18" charset="0"/>
                            <a:sym typeface="Wingdings" panose="05000000000000000000" pitchFamily="2" charset="2"/>
                          </a:rPr>
                          <m:t>𝐾</m:t>
                        </m:r>
                      </m:sup>
                    </m:sSup>
                    <m:r>
                      <a:rPr lang="en-US" b="0" i="1" smtClean="0">
                        <a:latin typeface="Cambria Math" panose="02040503050406030204" pitchFamily="18" charset="0"/>
                        <a:sym typeface="Wingdings" panose="05000000000000000000" pitchFamily="2" charset="2"/>
                      </a:rPr>
                      <m:t>}</m:t>
                    </m:r>
                  </m:oMath>
                </a14:m>
                <a:endParaRPr lang="en-US" dirty="0"/>
              </a:p>
            </p:txBody>
          </p:sp>
        </mc:Choice>
        <mc:Fallback xmlns="">
          <p:sp>
            <p:nvSpPr>
              <p:cNvPr id="8" name="Rectangle 7">
                <a:extLst>
                  <a:ext uri="{FF2B5EF4-FFF2-40B4-BE49-F238E27FC236}">
                    <a16:creationId xmlns:a16="http://schemas.microsoft.com/office/drawing/2014/main" id="{36BE3559-DC38-44C6-8148-39D4A4540715}"/>
                  </a:ext>
                </a:extLst>
              </p:cNvPr>
              <p:cNvSpPr>
                <a:spLocks noRot="1" noChangeAspect="1" noMove="1" noResize="1" noEditPoints="1" noAdjustHandles="1" noChangeArrowheads="1" noChangeShapeType="1" noTextEdit="1"/>
              </p:cNvSpPr>
              <p:nvPr/>
            </p:nvSpPr>
            <p:spPr>
              <a:xfrm>
                <a:off x="7342159" y="2998709"/>
                <a:ext cx="4463594" cy="970074"/>
              </a:xfrm>
              <a:prstGeom prst="rect">
                <a:avLst/>
              </a:prstGeom>
              <a:blipFill>
                <a:blip r:embed="rId6"/>
                <a:stretch>
                  <a:fillRect t="-44654" b="-10063"/>
                </a:stretch>
              </a:blipFill>
            </p:spPr>
            <p:txBody>
              <a:bodyPr/>
              <a:lstStyle/>
              <a:p>
                <a:r>
                  <a:rPr lang="en-US">
                    <a:noFill/>
                  </a:rPr>
                  <a:t> </a:t>
                </a:r>
              </a:p>
            </p:txBody>
          </p:sp>
        </mc:Fallback>
      </mc:AlternateContent>
      <p:cxnSp>
        <p:nvCxnSpPr>
          <p:cNvPr id="10" name="Straight Arrow Connector 9">
            <a:extLst>
              <a:ext uri="{FF2B5EF4-FFF2-40B4-BE49-F238E27FC236}">
                <a16:creationId xmlns:a16="http://schemas.microsoft.com/office/drawing/2014/main" id="{FBC7CB3E-95A3-4675-AB04-A3B891DB63D0}"/>
              </a:ext>
            </a:extLst>
          </p:cNvPr>
          <p:cNvCxnSpPr>
            <a:cxnSpLocks/>
          </p:cNvCxnSpPr>
          <p:nvPr/>
        </p:nvCxnSpPr>
        <p:spPr>
          <a:xfrm>
            <a:off x="2087880" y="4104640"/>
            <a:ext cx="1762760"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055F864F-9846-44C7-96B7-00A4134DA5DB}"/>
              </a:ext>
            </a:extLst>
          </p:cNvPr>
          <p:cNvCxnSpPr>
            <a:cxnSpLocks/>
          </p:cNvCxnSpPr>
          <p:nvPr/>
        </p:nvCxnSpPr>
        <p:spPr>
          <a:xfrm>
            <a:off x="6675120" y="4104640"/>
            <a:ext cx="1762760"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924149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0"/>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8"/>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8" end="8"/>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3">
                                            <p:txEl>
                                              <p:pRg st="9" end="9"/>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8" grpId="0"/>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Stochastic Optimization</a:t>
            </a:r>
          </a:p>
        </p:txBody>
      </p:sp>
      <p:sp>
        <p:nvSpPr>
          <p:cNvPr id="3" name="Content Placeholder 2"/>
          <p:cNvSpPr>
            <a:spLocks noGrp="1"/>
          </p:cNvSpPr>
          <p:nvPr>
            <p:ph idx="1"/>
          </p:nvPr>
        </p:nvSpPr>
        <p:spPr>
          <a:xfrm>
            <a:off x="355002" y="1312433"/>
            <a:ext cx="11478410" cy="4864530"/>
          </a:xfrm>
        </p:spPr>
        <p:txBody>
          <a:bodyPr>
            <a:normAutofit/>
          </a:bodyPr>
          <a:lstStyle/>
          <a:p>
            <a:r>
              <a:rPr lang="en-US" dirty="0"/>
              <a:t>Solution approaches:</a:t>
            </a:r>
          </a:p>
          <a:p>
            <a:pPr lvl="1"/>
            <a:r>
              <a:rPr lang="en-US" dirty="0">
                <a:solidFill>
                  <a:srgbClr val="C00000"/>
                </a:solidFill>
                <a:sym typeface="Wingdings" panose="05000000000000000000" pitchFamily="2" charset="2"/>
              </a:rPr>
              <a:t>Simulation-based approaches</a:t>
            </a:r>
          </a:p>
          <a:p>
            <a:pPr lvl="2"/>
            <a:r>
              <a:rPr lang="en-US" dirty="0">
                <a:sym typeface="Wingdings" panose="05000000000000000000" pitchFamily="2" charset="2"/>
              </a:rPr>
              <a:t>Monte-Carlo Sampling</a:t>
            </a:r>
          </a:p>
          <a:p>
            <a:pPr lvl="3"/>
            <a:r>
              <a:rPr lang="en-US" dirty="0">
                <a:sym typeface="Wingdings" panose="05000000000000000000" pitchFamily="2" charset="2"/>
              </a:rPr>
              <a:t>Generate a set of scenarios</a:t>
            </a:r>
          </a:p>
          <a:p>
            <a:pPr lvl="3"/>
            <a:r>
              <a:rPr lang="en-US" dirty="0">
                <a:sym typeface="Wingdings" panose="05000000000000000000" pitchFamily="2" charset="2"/>
              </a:rPr>
              <a:t>Average performance of a solution over those scenarios is its performance</a:t>
            </a:r>
          </a:p>
          <a:p>
            <a:pPr lvl="3"/>
            <a:r>
              <a:rPr lang="en-US" dirty="0">
                <a:sym typeface="Wingdings" panose="05000000000000000000" pitchFamily="2" charset="2"/>
              </a:rPr>
              <a:t>Pick the solution with the best average performance</a:t>
            </a:r>
          </a:p>
          <a:p>
            <a:pPr lvl="3"/>
            <a:r>
              <a:rPr lang="en-US" dirty="0">
                <a:sym typeface="Wingdings" panose="05000000000000000000" pitchFamily="2" charset="2"/>
              </a:rPr>
              <a:t>Typically, search over the solution space</a:t>
            </a:r>
          </a:p>
          <a:p>
            <a:pPr lvl="2"/>
            <a:r>
              <a:rPr lang="en-US" dirty="0"/>
              <a:t>Or </a:t>
            </a:r>
          </a:p>
          <a:p>
            <a:pPr lvl="3"/>
            <a:r>
              <a:rPr lang="en-US" dirty="0"/>
              <a:t>Pick a solution</a:t>
            </a:r>
          </a:p>
          <a:p>
            <a:pPr lvl="3"/>
            <a:r>
              <a:rPr lang="en-US" dirty="0"/>
              <a:t>Evaluate its performance with simulation</a:t>
            </a:r>
          </a:p>
          <a:p>
            <a:pPr lvl="3"/>
            <a:r>
              <a:rPr lang="en-US" dirty="0"/>
              <a:t>Search over the solution space</a:t>
            </a:r>
          </a:p>
        </p:txBody>
      </p:sp>
    </p:spTree>
    <p:extLst>
      <p:ext uri="{BB962C8B-B14F-4D97-AF65-F5344CB8AC3E}">
        <p14:creationId xmlns:p14="http://schemas.microsoft.com/office/powerpoint/2010/main" val="34387836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7" end="7"/>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8" end="8"/>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9" end="9"/>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Stochastic Optimization</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355002" y="1312433"/>
                <a:ext cx="11478410" cy="4864530"/>
              </a:xfrm>
            </p:spPr>
            <p:txBody>
              <a:bodyPr>
                <a:normAutofit fontScale="92500" lnSpcReduction="10000"/>
              </a:bodyPr>
              <a:lstStyle/>
              <a:p>
                <a:r>
                  <a:rPr lang="en-US" b="1" dirty="0">
                    <a:solidFill>
                      <a:srgbClr val="C00000"/>
                    </a:solidFill>
                  </a:rPr>
                  <a:t>Two-stage stochastic optimization</a:t>
                </a:r>
              </a:p>
              <a:p>
                <a:pPr lvl="1"/>
                <a:r>
                  <a:rPr lang="en-US" dirty="0">
                    <a:sym typeface="Wingdings" panose="05000000000000000000" pitchFamily="2" charset="2"/>
                  </a:rPr>
                  <a:t>Say, we have first stage decision</a:t>
                </a:r>
              </a:p>
              <a:p>
                <a:pPr lvl="2"/>
                <a:r>
                  <a:rPr lang="en-US" dirty="0">
                    <a:sym typeface="Wingdings" panose="05000000000000000000" pitchFamily="2" charset="2"/>
                  </a:rPr>
                  <a:t>order quantity in newsvendor problem (</a:t>
                </a:r>
                <a14:m>
                  <m:oMath xmlns:m="http://schemas.openxmlformats.org/officeDocument/2006/math">
                    <m:r>
                      <a:rPr lang="en-US" i="1" dirty="0" smtClean="0">
                        <a:latin typeface="Cambria Math" panose="02040503050406030204" pitchFamily="18" charset="0"/>
                        <a:sym typeface="Wingdings" panose="05000000000000000000" pitchFamily="2" charset="2"/>
                      </a:rPr>
                      <m:t>𝑄</m:t>
                    </m:r>
                  </m:oMath>
                </a14:m>
                <a:r>
                  <a:rPr lang="en-US" dirty="0">
                    <a:sym typeface="Wingdings" panose="05000000000000000000" pitchFamily="2" charset="2"/>
                  </a:rPr>
                  <a:t>)</a:t>
                </a:r>
              </a:p>
              <a:p>
                <a:pPr lvl="1"/>
                <a:r>
                  <a:rPr lang="en-US" dirty="0">
                    <a:sym typeface="Wingdings" panose="05000000000000000000" pitchFamily="2" charset="2"/>
                  </a:rPr>
                  <a:t>There is a random parameter</a:t>
                </a:r>
              </a:p>
              <a:p>
                <a:pPr lvl="2"/>
                <a:r>
                  <a:rPr lang="en-US" dirty="0">
                    <a:sym typeface="Wingdings" panose="05000000000000000000" pitchFamily="2" charset="2"/>
                  </a:rPr>
                  <a:t>The demand in newsvendor problem (</a:t>
                </a:r>
                <a14:m>
                  <m:oMath xmlns:m="http://schemas.openxmlformats.org/officeDocument/2006/math">
                    <m:r>
                      <a:rPr lang="en-US" b="0" i="1" smtClean="0">
                        <a:latin typeface="Cambria Math" panose="02040503050406030204" pitchFamily="18" charset="0"/>
                        <a:sym typeface="Wingdings" panose="05000000000000000000" pitchFamily="2" charset="2"/>
                      </a:rPr>
                      <m:t>𝑥</m:t>
                    </m:r>
                  </m:oMath>
                </a14:m>
                <a:r>
                  <a:rPr lang="en-US" dirty="0">
                    <a:sym typeface="Wingdings" panose="05000000000000000000" pitchFamily="2" charset="2"/>
                  </a:rPr>
                  <a:t>)</a:t>
                </a:r>
              </a:p>
              <a:p>
                <a:pPr lvl="1"/>
                <a:r>
                  <a:rPr lang="en-US" dirty="0">
                    <a:sym typeface="Wingdings" panose="05000000000000000000" pitchFamily="2" charset="2"/>
                  </a:rPr>
                  <a:t>After random parameter is revealed, we make additional decisions</a:t>
                </a:r>
              </a:p>
              <a:p>
                <a:pPr lvl="2"/>
                <a:r>
                  <a:rPr lang="en-US" dirty="0">
                    <a:sym typeface="Wingdings" panose="05000000000000000000" pitchFamily="2" charset="2"/>
                  </a:rPr>
                  <a:t>In the newsvendor problem, we decide how many to sell (say </a:t>
                </a:r>
                <a14:m>
                  <m:oMath xmlns:m="http://schemas.openxmlformats.org/officeDocument/2006/math">
                    <m:sSub>
                      <m:sSubPr>
                        <m:ctrlPr>
                          <a:rPr lang="en-US" b="0" i="1" smtClean="0">
                            <a:latin typeface="Cambria Math" panose="02040503050406030204" pitchFamily="18" charset="0"/>
                            <a:sym typeface="Wingdings" panose="05000000000000000000" pitchFamily="2" charset="2"/>
                          </a:rPr>
                        </m:ctrlPr>
                      </m:sSubPr>
                      <m:e>
                        <m:r>
                          <a:rPr lang="en-US" b="0" i="1" smtClean="0">
                            <a:latin typeface="Cambria Math" panose="02040503050406030204" pitchFamily="18" charset="0"/>
                            <a:sym typeface="Wingdings" panose="05000000000000000000" pitchFamily="2" charset="2"/>
                          </a:rPr>
                          <m:t>𝑞</m:t>
                        </m:r>
                      </m:e>
                      <m:sub>
                        <m:r>
                          <a:rPr lang="en-US" b="0" i="1" smtClean="0">
                            <a:latin typeface="Cambria Math" panose="02040503050406030204" pitchFamily="18" charset="0"/>
                            <a:sym typeface="Wingdings" panose="05000000000000000000" pitchFamily="2" charset="2"/>
                          </a:rPr>
                          <m:t>1</m:t>
                        </m:r>
                      </m:sub>
                    </m:sSub>
                  </m:oMath>
                </a14:m>
                <a:r>
                  <a:rPr lang="en-US" dirty="0">
                    <a:sym typeface="Wingdings" panose="05000000000000000000" pitchFamily="2" charset="2"/>
                  </a:rPr>
                  <a:t>) &amp; how many to salvage (say </a:t>
                </a:r>
                <a14:m>
                  <m:oMath xmlns:m="http://schemas.openxmlformats.org/officeDocument/2006/math">
                    <m:sSub>
                      <m:sSubPr>
                        <m:ctrlPr>
                          <a:rPr lang="en-US" b="0" i="1" smtClean="0">
                            <a:latin typeface="Cambria Math" panose="02040503050406030204" pitchFamily="18" charset="0"/>
                            <a:sym typeface="Wingdings" panose="05000000000000000000" pitchFamily="2" charset="2"/>
                          </a:rPr>
                        </m:ctrlPr>
                      </m:sSubPr>
                      <m:e>
                        <m:r>
                          <a:rPr lang="en-US" b="0" i="1" smtClean="0">
                            <a:latin typeface="Cambria Math" panose="02040503050406030204" pitchFamily="18" charset="0"/>
                            <a:sym typeface="Wingdings" panose="05000000000000000000" pitchFamily="2" charset="2"/>
                          </a:rPr>
                          <m:t>𝑞</m:t>
                        </m:r>
                      </m:e>
                      <m:sub>
                        <m:r>
                          <a:rPr lang="en-US" b="0" i="1" smtClean="0">
                            <a:latin typeface="Cambria Math" panose="02040503050406030204" pitchFamily="18" charset="0"/>
                            <a:sym typeface="Wingdings" panose="05000000000000000000" pitchFamily="2" charset="2"/>
                          </a:rPr>
                          <m:t>2</m:t>
                        </m:r>
                      </m:sub>
                    </m:sSub>
                  </m:oMath>
                </a14:m>
                <a:r>
                  <a:rPr lang="en-US" dirty="0">
                    <a:sym typeface="Wingdings" panose="05000000000000000000" pitchFamily="2" charset="2"/>
                  </a:rPr>
                  <a:t>)</a:t>
                </a:r>
                <a:endParaRPr lang="en-US" dirty="0"/>
              </a:p>
              <a:p>
                <a:pPr lvl="1"/>
                <a:r>
                  <a:rPr lang="en-US" u="sng" dirty="0">
                    <a:solidFill>
                      <a:srgbClr val="C00000"/>
                    </a:solidFill>
                  </a:rPr>
                  <a:t>Two-stage stochastic model for the newsvendor problem:</a:t>
                </a:r>
              </a:p>
              <a:p>
                <a:pPr marL="457200" lvl="1" indent="0">
                  <a:buNone/>
                </a:pPr>
                <a:endParaRPr lang="en-US" dirty="0"/>
              </a:p>
              <a:p>
                <a:pPr lvl="1"/>
                <a:endParaRPr lang="en-US" dirty="0"/>
              </a:p>
              <a:p>
                <a:pPr lvl="1"/>
                <a:endParaRPr lang="en-US" dirty="0"/>
              </a:p>
              <a:p>
                <a:endParaRPr lang="en-US" dirty="0"/>
              </a:p>
              <a:p>
                <a:pPr marL="457200" lvl="1" indent="0">
                  <a:buNone/>
                </a:pPr>
                <a:br>
                  <a:rPr lang="en-US" dirty="0"/>
                </a:br>
                <a:r>
                  <a:rPr lang="en-US" dirty="0"/>
                  <a:t>	</a:t>
                </a:r>
              </a:p>
              <a:p>
                <a:endParaRPr lang="en-US" sz="2400" b="1" dirty="0"/>
              </a:p>
              <a:p>
                <a:pPr lvl="1"/>
                <a:endParaRPr lang="en-US" dirty="0"/>
              </a:p>
              <a:p>
                <a:pPr lvl="1"/>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355002" y="1312433"/>
                <a:ext cx="11478410" cy="4864530"/>
              </a:xfrm>
              <a:blipFill>
                <a:blip r:embed="rId3"/>
                <a:stretch>
                  <a:fillRect l="-797" t="-250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5DA9604D-0CAB-41EB-82DA-668AE7D4649D}"/>
                  </a:ext>
                </a:extLst>
              </p:cNvPr>
              <p:cNvSpPr txBox="1"/>
              <p:nvPr/>
            </p:nvSpPr>
            <p:spPr>
              <a:xfrm>
                <a:off x="1940560" y="4648200"/>
                <a:ext cx="5140960" cy="1520673"/>
              </a:xfrm>
              <a:prstGeom prst="rect">
                <a:avLst/>
              </a:prstGeom>
              <a:noFill/>
            </p:spPr>
            <p:txBody>
              <a:bodyPr wrap="square" rtlCol="0">
                <a:spAutoFit/>
              </a:bodyPr>
              <a:lstStyle/>
              <a:p>
                <a14:m>
                  <m:oMath xmlns:m="http://schemas.openxmlformats.org/officeDocument/2006/math">
                    <m:func>
                      <m:funcPr>
                        <m:ctrlPr>
                          <a:rPr lang="en-US" b="0" i="1" smtClean="0">
                            <a:latin typeface="Cambria Math" panose="02040503050406030204" pitchFamily="18" charset="0"/>
                          </a:rPr>
                        </m:ctrlPr>
                      </m:funcPr>
                      <m:fName>
                        <m:limLow>
                          <m:limLowPr>
                            <m:ctrlPr>
                              <a:rPr lang="en-US" b="0" i="1" smtClean="0">
                                <a:latin typeface="Cambria Math" panose="02040503050406030204" pitchFamily="18" charset="0"/>
                              </a:rPr>
                            </m:ctrlPr>
                          </m:limLowPr>
                          <m:e>
                            <m:r>
                              <m:rPr>
                                <m:sty m:val="p"/>
                              </m:rPr>
                              <a:rPr lang="en-US" b="0" i="0" smtClean="0">
                                <a:latin typeface="Cambria Math" panose="02040503050406030204" pitchFamily="18" charset="0"/>
                              </a:rPr>
                              <m:t>max</m:t>
                            </m:r>
                          </m:e>
                          <m:lim>
                            <m:r>
                              <a:rPr lang="en-US" b="0" i="1" smtClean="0">
                                <a:latin typeface="Cambria Math" panose="02040503050406030204" pitchFamily="18" charset="0"/>
                              </a:rPr>
                              <m:t>𝑄</m:t>
                            </m:r>
                          </m:lim>
                        </m:limLow>
                      </m:fName>
                      <m:e>
                        <m:r>
                          <a:rPr lang="en-US" b="0" i="1" smtClean="0">
                            <a:latin typeface="Cambria Math" panose="02040503050406030204" pitchFamily="18" charset="0"/>
                          </a:rPr>
                          <m:t> </m:t>
                        </m:r>
                      </m:e>
                    </m:func>
                  </m:oMath>
                </a14:m>
                <a:r>
                  <a:rPr lang="en-US" dirty="0"/>
                  <a:t>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𝑐𝑄</m:t>
                    </m:r>
                    <m:r>
                      <a:rPr lang="en-US" b="0" i="1" smtClean="0">
                        <a:latin typeface="Cambria Math" panose="02040503050406030204" pitchFamily="18" charset="0"/>
                      </a:rPr>
                      <m:t>+</m:t>
                    </m:r>
                    <m:r>
                      <a:rPr lang="en-US" b="0" i="1" smtClean="0">
                        <a:latin typeface="Cambria Math" panose="02040503050406030204" pitchFamily="18" charset="0"/>
                      </a:rPr>
                      <m:t>𝐸</m:t>
                    </m:r>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a:rPr lang="en-US" b="0" i="1" smtClean="0">
                        <a:latin typeface="Cambria Math" panose="02040503050406030204" pitchFamily="18" charset="0"/>
                      </a:rPr>
                      <m:t>𝑄</m:t>
                    </m:r>
                    <m:r>
                      <a:rPr lang="en-US" b="0" i="1" smtClean="0">
                        <a:latin typeface="Cambria Math" panose="02040503050406030204" pitchFamily="18" charset="0"/>
                      </a:rPr>
                      <m:t>,</m:t>
                    </m:r>
                    <m:r>
                      <a:rPr lang="en-US" b="0" i="1" smtClean="0">
                        <a:latin typeface="Cambria Math" panose="02040503050406030204" pitchFamily="18" charset="0"/>
                      </a:rPr>
                      <m:t>𝑥</m:t>
                    </m:r>
                    <m:r>
                      <a:rPr lang="en-US" b="0" i="1" smtClean="0">
                        <a:latin typeface="Cambria Math" panose="02040503050406030204" pitchFamily="18" charset="0"/>
                      </a:rPr>
                      <m:t>)]</m:t>
                    </m:r>
                  </m:oMath>
                </a14:m>
                <a:endParaRPr lang="en-US" dirty="0"/>
              </a:p>
              <a:p>
                <a14:m>
                  <m:oMath xmlns:m="http://schemas.openxmlformats.org/officeDocument/2006/math">
                    <m:r>
                      <a:rPr lang="en-US" b="0" i="1" smtClean="0">
                        <a:latin typeface="Cambria Math" panose="02040503050406030204" pitchFamily="18" charset="0"/>
                      </a:rPr>
                      <m:t>𝑠</m:t>
                    </m:r>
                    <m:r>
                      <a:rPr lang="en-US" b="0" i="1" smtClean="0">
                        <a:latin typeface="Cambria Math" panose="02040503050406030204" pitchFamily="18" charset="0"/>
                      </a:rPr>
                      <m:t>.</m:t>
                    </m:r>
                    <m:r>
                      <a:rPr lang="en-US" b="0" i="1" smtClean="0">
                        <a:latin typeface="Cambria Math" panose="02040503050406030204" pitchFamily="18" charset="0"/>
                      </a:rPr>
                      <m:t>𝑡</m:t>
                    </m:r>
                    <m:r>
                      <a:rPr lang="en-US" b="0" i="1" smtClean="0">
                        <a:latin typeface="Cambria Math" panose="02040503050406030204" pitchFamily="18" charset="0"/>
                      </a:rPr>
                      <m:t>.</m:t>
                    </m:r>
                  </m:oMath>
                </a14:m>
                <a:r>
                  <a:rPr lang="en-US" dirty="0"/>
                  <a:t>	</a:t>
                </a:r>
                <a14:m>
                  <m:oMath xmlns:m="http://schemas.openxmlformats.org/officeDocument/2006/math">
                    <m:r>
                      <a:rPr lang="en-US" b="0" i="1" smtClean="0">
                        <a:latin typeface="Cambria Math" panose="02040503050406030204" pitchFamily="18" charset="0"/>
                      </a:rPr>
                      <m:t>𝑄</m:t>
                    </m:r>
                    <m:r>
                      <a:rPr lang="en-US" b="0" i="1" smtClean="0">
                        <a:latin typeface="Cambria Math" panose="02040503050406030204" pitchFamily="18" charset="0"/>
                      </a:rPr>
                      <m:t>≥0</m:t>
                    </m:r>
                  </m:oMath>
                </a14:m>
                <a:endParaRPr lang="en-US" dirty="0"/>
              </a:p>
              <a:p>
                <a:r>
                  <a:rPr lang="en-US" dirty="0"/>
                  <a:t>	</a:t>
                </a:r>
                <a14:m>
                  <m:oMath xmlns:m="http://schemas.openxmlformats.org/officeDocument/2006/math">
                    <m:r>
                      <a:rPr lang="en-US" b="0" i="1" smtClean="0">
                        <a:latin typeface="Cambria Math" panose="02040503050406030204" pitchFamily="18" charset="0"/>
                      </a:rPr>
                      <m:t>𝑃</m:t>
                    </m:r>
                    <m:d>
                      <m:dPr>
                        <m:ctrlPr>
                          <a:rPr lang="en-US" b="0" i="1" smtClean="0">
                            <a:latin typeface="Cambria Math" panose="02040503050406030204" pitchFamily="18" charset="0"/>
                          </a:rPr>
                        </m:ctrlPr>
                      </m:dPr>
                      <m:e>
                        <m:r>
                          <a:rPr lang="en-US" b="0" i="1" smtClean="0">
                            <a:latin typeface="Cambria Math" panose="02040503050406030204" pitchFamily="18" charset="0"/>
                          </a:rPr>
                          <m:t>𝑄</m:t>
                        </m:r>
                        <m:r>
                          <a:rPr lang="en-US" b="0" i="1" smtClean="0">
                            <a:latin typeface="Cambria Math" panose="02040503050406030204" pitchFamily="18" charset="0"/>
                          </a:rPr>
                          <m:t>,</m:t>
                        </m:r>
                        <m:r>
                          <a:rPr lang="en-US" b="0" i="1" smtClean="0">
                            <a:latin typeface="Cambria Math" panose="02040503050406030204" pitchFamily="18" charset="0"/>
                          </a:rPr>
                          <m:t>𝑥</m:t>
                        </m:r>
                      </m:e>
                    </m:d>
                    <m:r>
                      <a:rPr lang="en-US" b="0" i="1" smtClean="0">
                        <a:latin typeface="Cambria Math" panose="02040503050406030204" pitchFamily="18" charset="0"/>
                      </a:rPr>
                      <m:t>=</m:t>
                    </m:r>
                    <m:func>
                      <m:funcPr>
                        <m:ctrlPr>
                          <a:rPr lang="en-US" b="0" i="1" smtClean="0">
                            <a:latin typeface="Cambria Math" panose="02040503050406030204" pitchFamily="18" charset="0"/>
                          </a:rPr>
                        </m:ctrlPr>
                      </m:funcPr>
                      <m:fName>
                        <m:limLow>
                          <m:limLowPr>
                            <m:ctrlPr>
                              <a:rPr lang="en-US" b="0" i="1" smtClean="0">
                                <a:latin typeface="Cambria Math" panose="02040503050406030204" pitchFamily="18" charset="0"/>
                              </a:rPr>
                            </m:ctrlPr>
                          </m:limLowPr>
                          <m:e>
                            <m:r>
                              <m:rPr>
                                <m:sty m:val="p"/>
                              </m:rPr>
                              <a:rPr lang="en-US" b="0" i="0" smtClean="0">
                                <a:latin typeface="Cambria Math" panose="02040503050406030204" pitchFamily="18" charset="0"/>
                              </a:rPr>
                              <m:t>max</m:t>
                            </m:r>
                          </m:e>
                          <m:lim>
                            <m:d>
                              <m:dPr>
                                <m:begChr m:val="{"/>
                                <m:endChr m:val="}"/>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𝑞</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𝑞</m:t>
                                    </m:r>
                                  </m:e>
                                  <m:sub>
                                    <m:r>
                                      <a:rPr lang="en-US" b="0" i="1" smtClean="0">
                                        <a:latin typeface="Cambria Math" panose="02040503050406030204" pitchFamily="18" charset="0"/>
                                      </a:rPr>
                                      <m:t>2</m:t>
                                    </m:r>
                                  </m:sub>
                                </m:sSub>
                              </m:e>
                            </m:d>
                          </m:lim>
                        </m:limLow>
                      </m:fName>
                      <m:e>
                        <m:r>
                          <a:rPr lang="en-US" b="0" i="1" smtClean="0">
                            <a:latin typeface="Cambria Math" panose="02040503050406030204" pitchFamily="18" charset="0"/>
                          </a:rPr>
                          <m:t> </m:t>
                        </m:r>
                      </m:e>
                    </m:func>
                  </m:oMath>
                </a14:m>
                <a:r>
                  <a:rPr lang="en-US" dirty="0"/>
                  <a:t>	</a:t>
                </a:r>
                <a14:m>
                  <m:oMath xmlns:m="http://schemas.openxmlformats.org/officeDocument/2006/math">
                    <m:r>
                      <a:rPr lang="en-US" b="0" i="1" smtClean="0">
                        <a:latin typeface="Cambria Math" panose="02040503050406030204" pitchFamily="18" charset="0"/>
                      </a:rPr>
                      <m:t>𝑝</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𝑞</m:t>
                        </m:r>
                      </m:e>
                      <m:sub>
                        <m:r>
                          <a:rPr lang="en-US" b="0" i="1" smtClean="0">
                            <a:latin typeface="Cambria Math" panose="02040503050406030204" pitchFamily="18" charset="0"/>
                          </a:rPr>
                          <m:t>1</m:t>
                        </m:r>
                      </m:sub>
                    </m:sSub>
                    <m:r>
                      <a:rPr lang="en-US" b="0" i="1" smtClean="0">
                        <a:latin typeface="Cambria Math" panose="02040503050406030204" pitchFamily="18" charset="0"/>
                      </a:rPr>
                      <m:t>+</m:t>
                    </m:r>
                    <m:r>
                      <a:rPr lang="en-US" b="0" i="1" smtClean="0">
                        <a:latin typeface="Cambria Math" panose="02040503050406030204" pitchFamily="18" charset="0"/>
                      </a:rPr>
                      <m:t>𝑠</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𝑞</m:t>
                        </m:r>
                      </m:e>
                      <m:sub>
                        <m:r>
                          <a:rPr lang="en-US" b="0" i="1" smtClean="0">
                            <a:latin typeface="Cambria Math" panose="02040503050406030204" pitchFamily="18" charset="0"/>
                          </a:rPr>
                          <m:t>2</m:t>
                        </m:r>
                      </m:sub>
                    </m:sSub>
                  </m:oMath>
                </a14:m>
                <a:endParaRPr lang="en-US" dirty="0"/>
              </a:p>
              <a:p>
                <a:r>
                  <a:rPr lang="en-US" dirty="0"/>
                  <a:t>		</a:t>
                </a:r>
                <a14:m>
                  <m:oMath xmlns:m="http://schemas.openxmlformats.org/officeDocument/2006/math">
                    <m:r>
                      <a:rPr lang="en-US" b="0" i="0" smtClean="0">
                        <a:latin typeface="Cambria Math" panose="02040503050406030204" pitchFamily="18" charset="0"/>
                      </a:rPr>
                      <m:t>   </m:t>
                    </m:r>
                    <m:r>
                      <a:rPr lang="en-US" b="0" i="1" smtClean="0">
                        <a:latin typeface="Cambria Math" panose="02040503050406030204" pitchFamily="18" charset="0"/>
                      </a:rPr>
                      <m:t>𝑠</m:t>
                    </m:r>
                    <m:r>
                      <a:rPr lang="en-US" b="0" i="1" smtClean="0">
                        <a:latin typeface="Cambria Math" panose="02040503050406030204" pitchFamily="18" charset="0"/>
                      </a:rPr>
                      <m:t>.</m:t>
                    </m:r>
                    <m:r>
                      <a:rPr lang="en-US" b="0" i="1" smtClean="0">
                        <a:latin typeface="Cambria Math" panose="02040503050406030204" pitchFamily="18" charset="0"/>
                      </a:rPr>
                      <m:t>𝑡</m:t>
                    </m:r>
                    <m:r>
                      <a:rPr lang="en-US" b="0" i="1" smtClean="0">
                        <a:latin typeface="Cambria Math" panose="02040503050406030204" pitchFamily="18" charset="0"/>
                      </a:rPr>
                      <m:t>.</m:t>
                    </m:r>
                  </m:oMath>
                </a14:m>
                <a:r>
                  <a:rPr lang="en-US" dirty="0"/>
                  <a:t>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𝑞</m:t>
                        </m:r>
                      </m:e>
                      <m:sub>
                        <m:r>
                          <a:rPr lang="en-US" b="0" i="1" smtClean="0">
                            <a:latin typeface="Cambria Math" panose="02040503050406030204" pitchFamily="18" charset="0"/>
                          </a:rPr>
                          <m:t>1</m:t>
                        </m:r>
                      </m:sub>
                    </m:sSub>
                    <m:r>
                      <a:rPr lang="en-US" b="0" i="1" smtClean="0">
                        <a:latin typeface="Cambria Math" panose="02040503050406030204" pitchFamily="18" charset="0"/>
                      </a:rPr>
                      <m:t>≤</m:t>
                    </m:r>
                    <m:r>
                      <a:rPr lang="en-US" b="0" i="1" smtClean="0">
                        <a:latin typeface="Cambria Math" panose="02040503050406030204" pitchFamily="18" charset="0"/>
                      </a:rPr>
                      <m:t>𝑥</m:t>
                    </m:r>
                  </m:oMath>
                </a14:m>
                <a:endParaRPr lang="en-US" dirty="0"/>
              </a:p>
              <a:p>
                <a:r>
                  <a:rPr lang="en-US" dirty="0"/>
                  <a:t>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𝑞</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𝑞</m:t>
                        </m:r>
                      </m:e>
                      <m:sub>
                        <m:r>
                          <a:rPr lang="en-US" b="0" i="1" smtClean="0">
                            <a:latin typeface="Cambria Math" panose="02040503050406030204" pitchFamily="18" charset="0"/>
                          </a:rPr>
                          <m:t>2</m:t>
                        </m:r>
                      </m:sub>
                    </m:sSub>
                    <m:r>
                      <a:rPr lang="en-US" b="0" i="1" smtClean="0">
                        <a:latin typeface="Cambria Math" panose="02040503050406030204" pitchFamily="18" charset="0"/>
                      </a:rPr>
                      <m:t>=</m:t>
                    </m:r>
                    <m:r>
                      <a:rPr lang="en-US" b="0" i="1" smtClean="0">
                        <a:latin typeface="Cambria Math" panose="02040503050406030204" pitchFamily="18" charset="0"/>
                      </a:rPr>
                      <m:t>𝑥</m:t>
                    </m:r>
                  </m:oMath>
                </a14:m>
                <a:endParaRPr lang="en-US" dirty="0"/>
              </a:p>
            </p:txBody>
          </p:sp>
        </mc:Choice>
        <mc:Fallback xmlns="">
          <p:sp>
            <p:nvSpPr>
              <p:cNvPr id="4" name="TextBox 3">
                <a:extLst>
                  <a:ext uri="{FF2B5EF4-FFF2-40B4-BE49-F238E27FC236}">
                    <a16:creationId xmlns:a16="http://schemas.microsoft.com/office/drawing/2014/main" id="{5DA9604D-0CAB-41EB-82DA-668AE7D4649D}"/>
                  </a:ext>
                </a:extLst>
              </p:cNvPr>
              <p:cNvSpPr txBox="1">
                <a:spLocks noRot="1" noChangeAspect="1" noMove="1" noResize="1" noEditPoints="1" noAdjustHandles="1" noChangeArrowheads="1" noChangeShapeType="1" noTextEdit="1"/>
              </p:cNvSpPr>
              <p:nvPr/>
            </p:nvSpPr>
            <p:spPr>
              <a:xfrm>
                <a:off x="1940560" y="4648200"/>
                <a:ext cx="5140960" cy="1520673"/>
              </a:xfrm>
              <a:prstGeom prst="rect">
                <a:avLst/>
              </a:prstGeom>
              <a:blipFill>
                <a:blip r:embed="rId4"/>
                <a:stretch>
                  <a:fillRect b="-803"/>
                </a:stretch>
              </a:blipFill>
            </p:spPr>
            <p:txBody>
              <a:bodyPr/>
              <a:lstStyle/>
              <a:p>
                <a:r>
                  <a:rPr lang="en-US">
                    <a:noFill/>
                  </a:rPr>
                  <a:t> </a:t>
                </a:r>
              </a:p>
            </p:txBody>
          </p:sp>
        </mc:Fallback>
      </mc:AlternateContent>
      <p:sp>
        <p:nvSpPr>
          <p:cNvPr id="5" name="Right Brace 4">
            <a:extLst>
              <a:ext uri="{FF2B5EF4-FFF2-40B4-BE49-F238E27FC236}">
                <a16:creationId xmlns:a16="http://schemas.microsoft.com/office/drawing/2014/main" id="{A579A98C-A4B4-4C74-A19B-874230F06692}"/>
              </a:ext>
            </a:extLst>
          </p:cNvPr>
          <p:cNvSpPr/>
          <p:nvPr/>
        </p:nvSpPr>
        <p:spPr>
          <a:xfrm>
            <a:off x="7381240" y="4734560"/>
            <a:ext cx="386080" cy="431800"/>
          </a:xfrm>
          <a:prstGeom prst="rightBrace">
            <a:avLst/>
          </a:prstGeom>
        </p:spPr>
        <p:style>
          <a:lnRef idx="1">
            <a:schemeClr val="accent2"/>
          </a:lnRef>
          <a:fillRef idx="0">
            <a:schemeClr val="accent2"/>
          </a:fillRef>
          <a:effectRef idx="0">
            <a:schemeClr val="accent2"/>
          </a:effectRef>
          <a:fontRef idx="minor">
            <a:schemeClr val="tx1"/>
          </a:fontRef>
        </p:style>
        <p:txBody>
          <a:bodyPr rtlCol="0" anchor="ctr"/>
          <a:lstStyle/>
          <a:p>
            <a:pPr algn="ctr"/>
            <a:endParaRPr lang="en-US"/>
          </a:p>
        </p:txBody>
      </p:sp>
      <p:sp>
        <p:nvSpPr>
          <p:cNvPr id="6" name="Right Brace 5">
            <a:extLst>
              <a:ext uri="{FF2B5EF4-FFF2-40B4-BE49-F238E27FC236}">
                <a16:creationId xmlns:a16="http://schemas.microsoft.com/office/drawing/2014/main" id="{FC686189-7A53-471D-ABD8-FD275176CF29}"/>
              </a:ext>
            </a:extLst>
          </p:cNvPr>
          <p:cNvSpPr/>
          <p:nvPr/>
        </p:nvSpPr>
        <p:spPr>
          <a:xfrm>
            <a:off x="7381240" y="5279017"/>
            <a:ext cx="386080" cy="897946"/>
          </a:xfrm>
          <a:prstGeom prst="rightBrace">
            <a:avLst/>
          </a:prstGeom>
        </p:spPr>
        <p:style>
          <a:lnRef idx="1">
            <a:schemeClr val="accent2"/>
          </a:lnRef>
          <a:fillRef idx="0">
            <a:schemeClr val="accent2"/>
          </a:fillRef>
          <a:effectRef idx="0">
            <a:schemeClr val="accent2"/>
          </a:effectRef>
          <a:fontRef idx="minor">
            <a:schemeClr val="tx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AB385693-F41E-40D7-AAA7-04E74FCCD85B}"/>
                  </a:ext>
                </a:extLst>
              </p:cNvPr>
              <p:cNvSpPr txBox="1"/>
              <p:nvPr/>
            </p:nvSpPr>
            <p:spPr>
              <a:xfrm>
                <a:off x="7852186" y="4627294"/>
                <a:ext cx="3896360" cy="646331"/>
              </a:xfrm>
              <a:prstGeom prst="rect">
                <a:avLst/>
              </a:prstGeom>
              <a:noFill/>
            </p:spPr>
            <p:txBody>
              <a:bodyPr wrap="square" rtlCol="0">
                <a:spAutoFit/>
              </a:bodyPr>
              <a:lstStyle/>
              <a:p>
                <a:r>
                  <a:rPr lang="en-US" u="sng" dirty="0"/>
                  <a:t>First-stage problem</a:t>
                </a:r>
              </a:p>
              <a:p>
                <a14:m>
                  <m:oMath xmlns:m="http://schemas.openxmlformats.org/officeDocument/2006/math">
                    <m:r>
                      <a:rPr lang="en-US" b="0" i="1" smtClean="0">
                        <a:latin typeface="Cambria Math" panose="02040503050406030204" pitchFamily="18" charset="0"/>
                      </a:rPr>
                      <m:t>𝑄</m:t>
                    </m:r>
                  </m:oMath>
                </a14:m>
                <a:r>
                  <a:rPr lang="en-US" dirty="0"/>
                  <a:t> is the first-stage decision variable</a:t>
                </a:r>
              </a:p>
            </p:txBody>
          </p:sp>
        </mc:Choice>
        <mc:Fallback xmlns="">
          <p:sp>
            <p:nvSpPr>
              <p:cNvPr id="7" name="TextBox 6">
                <a:extLst>
                  <a:ext uri="{FF2B5EF4-FFF2-40B4-BE49-F238E27FC236}">
                    <a16:creationId xmlns:a16="http://schemas.microsoft.com/office/drawing/2014/main" id="{AB385693-F41E-40D7-AAA7-04E74FCCD85B}"/>
                  </a:ext>
                </a:extLst>
              </p:cNvPr>
              <p:cNvSpPr txBox="1">
                <a:spLocks noRot="1" noChangeAspect="1" noMove="1" noResize="1" noEditPoints="1" noAdjustHandles="1" noChangeArrowheads="1" noChangeShapeType="1" noTextEdit="1"/>
              </p:cNvSpPr>
              <p:nvPr/>
            </p:nvSpPr>
            <p:spPr>
              <a:xfrm>
                <a:off x="7852186" y="4627294"/>
                <a:ext cx="3896360" cy="646331"/>
              </a:xfrm>
              <a:prstGeom prst="rect">
                <a:avLst/>
              </a:prstGeom>
              <a:blipFill>
                <a:blip r:embed="rId5"/>
                <a:stretch>
                  <a:fillRect l="-1252" t="-4717" b="-1415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3F628D22-A34C-451E-990B-E2B899F37A89}"/>
                  </a:ext>
                </a:extLst>
              </p:cNvPr>
              <p:cNvSpPr txBox="1"/>
              <p:nvPr/>
            </p:nvSpPr>
            <p:spPr>
              <a:xfrm>
                <a:off x="7894619" y="5243637"/>
                <a:ext cx="3896360" cy="923330"/>
              </a:xfrm>
              <a:prstGeom prst="rect">
                <a:avLst/>
              </a:prstGeom>
              <a:noFill/>
            </p:spPr>
            <p:txBody>
              <a:bodyPr wrap="square" rtlCol="0">
                <a:spAutoFit/>
              </a:bodyPr>
              <a:lstStyle/>
              <a:p>
                <a:r>
                  <a:rPr lang="en-US" u="sng" dirty="0"/>
                  <a:t>Second-stage problem</a:t>
                </a:r>
              </a:p>
              <a:p>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𝑞</m:t>
                        </m:r>
                      </m:e>
                      <m:sub>
                        <m:r>
                          <a:rPr lang="en-US" b="0" i="1" smtClean="0">
                            <a:latin typeface="Cambria Math" panose="02040503050406030204" pitchFamily="18" charset="0"/>
                          </a:rPr>
                          <m:t>1</m:t>
                        </m:r>
                      </m:sub>
                    </m:sSub>
                  </m:oMath>
                </a14:m>
                <a:r>
                  <a:rPr lang="en-US" dirty="0"/>
                  <a:t> and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𝑞</m:t>
                        </m:r>
                      </m:e>
                      <m:sub>
                        <m:r>
                          <a:rPr lang="en-US" b="0" i="1" smtClean="0">
                            <a:latin typeface="Cambria Math" panose="02040503050406030204" pitchFamily="18" charset="0"/>
                          </a:rPr>
                          <m:t>2</m:t>
                        </m:r>
                      </m:sub>
                    </m:sSub>
                  </m:oMath>
                </a14:m>
                <a:r>
                  <a:rPr lang="en-US" dirty="0"/>
                  <a:t> are the second-stage decision variables</a:t>
                </a:r>
              </a:p>
            </p:txBody>
          </p:sp>
        </mc:Choice>
        <mc:Fallback xmlns="">
          <p:sp>
            <p:nvSpPr>
              <p:cNvPr id="8" name="TextBox 7">
                <a:extLst>
                  <a:ext uri="{FF2B5EF4-FFF2-40B4-BE49-F238E27FC236}">
                    <a16:creationId xmlns:a16="http://schemas.microsoft.com/office/drawing/2014/main" id="{3F628D22-A34C-451E-990B-E2B899F37A89}"/>
                  </a:ext>
                </a:extLst>
              </p:cNvPr>
              <p:cNvSpPr txBox="1">
                <a:spLocks noRot="1" noChangeAspect="1" noMove="1" noResize="1" noEditPoints="1" noAdjustHandles="1" noChangeArrowheads="1" noChangeShapeType="1" noTextEdit="1"/>
              </p:cNvSpPr>
              <p:nvPr/>
            </p:nvSpPr>
            <p:spPr>
              <a:xfrm>
                <a:off x="7894619" y="5243637"/>
                <a:ext cx="3896360" cy="923330"/>
              </a:xfrm>
              <a:prstGeom prst="rect">
                <a:avLst/>
              </a:prstGeom>
              <a:blipFill>
                <a:blip r:embed="rId6"/>
                <a:stretch>
                  <a:fillRect l="-1252" t="-3289" r="-2504" b="-921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Rectangle 8">
                <a:extLst>
                  <a:ext uri="{FF2B5EF4-FFF2-40B4-BE49-F238E27FC236}">
                    <a16:creationId xmlns:a16="http://schemas.microsoft.com/office/drawing/2014/main" id="{0E09B563-4D05-480D-9679-392FE6AF25A3}"/>
                  </a:ext>
                </a:extLst>
              </p:cNvPr>
              <p:cNvSpPr/>
              <p:nvPr/>
            </p:nvSpPr>
            <p:spPr>
              <a:xfrm>
                <a:off x="761184" y="6058654"/>
                <a:ext cx="3171125" cy="369332"/>
              </a:xfrm>
              <a:prstGeom prst="rect">
                <a:avLst/>
              </a:prstGeom>
            </p:spPr>
            <p:txBody>
              <a:bodyPr wrap="none">
                <a:spAutoFit/>
              </a:bodyPr>
              <a:lstStyle/>
              <a:p>
                <a14:m>
                  <m:oMath xmlns:m="http://schemas.openxmlformats.org/officeDocument/2006/math">
                    <m:r>
                      <a:rPr lang="en-US" i="1">
                        <a:latin typeface="Cambria Math" panose="02040503050406030204" pitchFamily="18" charset="0"/>
                      </a:rPr>
                      <m:t>𝑃</m:t>
                    </m:r>
                    <m:d>
                      <m:dPr>
                        <m:ctrlPr>
                          <a:rPr lang="en-US" i="1">
                            <a:latin typeface="Cambria Math" panose="02040503050406030204" pitchFamily="18" charset="0"/>
                          </a:rPr>
                        </m:ctrlPr>
                      </m:dPr>
                      <m:e>
                        <m:r>
                          <a:rPr lang="en-US" i="1">
                            <a:latin typeface="Cambria Math" panose="02040503050406030204" pitchFamily="18" charset="0"/>
                          </a:rPr>
                          <m:t>𝑄</m:t>
                        </m:r>
                        <m:r>
                          <a:rPr lang="en-US" i="1">
                            <a:latin typeface="Cambria Math" panose="02040503050406030204" pitchFamily="18" charset="0"/>
                          </a:rPr>
                          <m:t>,</m:t>
                        </m:r>
                        <m:r>
                          <a:rPr lang="en-US" i="1">
                            <a:latin typeface="Cambria Math" panose="02040503050406030204" pitchFamily="18" charset="0"/>
                          </a:rPr>
                          <m:t>𝑥</m:t>
                        </m:r>
                      </m:e>
                    </m:d>
                  </m:oMath>
                </a14:m>
                <a:r>
                  <a:rPr lang="en-US" dirty="0"/>
                  <a:t> is the recourse function</a:t>
                </a:r>
              </a:p>
            </p:txBody>
          </p:sp>
        </mc:Choice>
        <mc:Fallback xmlns="">
          <p:sp>
            <p:nvSpPr>
              <p:cNvPr id="9" name="Rectangle 8">
                <a:extLst>
                  <a:ext uri="{FF2B5EF4-FFF2-40B4-BE49-F238E27FC236}">
                    <a16:creationId xmlns:a16="http://schemas.microsoft.com/office/drawing/2014/main" id="{0E09B563-4D05-480D-9679-392FE6AF25A3}"/>
                  </a:ext>
                </a:extLst>
              </p:cNvPr>
              <p:cNvSpPr>
                <a:spLocks noRot="1" noChangeAspect="1" noMove="1" noResize="1" noEditPoints="1" noAdjustHandles="1" noChangeArrowheads="1" noChangeShapeType="1" noTextEdit="1"/>
              </p:cNvSpPr>
              <p:nvPr/>
            </p:nvSpPr>
            <p:spPr>
              <a:xfrm>
                <a:off x="761184" y="6058654"/>
                <a:ext cx="3171125" cy="369332"/>
              </a:xfrm>
              <a:prstGeom prst="rect">
                <a:avLst/>
              </a:prstGeom>
              <a:blipFill>
                <a:blip r:embed="rId7"/>
                <a:stretch>
                  <a:fillRect t="-10000" r="-1154" b="-26667"/>
                </a:stretch>
              </a:blipFill>
            </p:spPr>
            <p:txBody>
              <a:bodyPr/>
              <a:lstStyle/>
              <a:p>
                <a:r>
                  <a:rPr lang="en-US">
                    <a:noFill/>
                  </a:rPr>
                  <a:t> </a:t>
                </a:r>
              </a:p>
            </p:txBody>
          </p:sp>
        </mc:Fallback>
      </mc:AlternateContent>
    </p:spTree>
    <p:extLst>
      <p:ext uri="{BB962C8B-B14F-4D97-AF65-F5344CB8AC3E}">
        <p14:creationId xmlns:p14="http://schemas.microsoft.com/office/powerpoint/2010/main" val="26842429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7" end="7"/>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4"/>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5"/>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7"/>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6"/>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8"/>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animBg="1"/>
      <p:bldP spid="6" grpId="0" animBg="1"/>
      <p:bldP spid="7" grpId="0"/>
      <p:bldP spid="8" grpId="0"/>
      <p:bldP spid="9" grpId="0"/>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Stochastic Optimization</a:t>
            </a:r>
          </a:p>
        </p:txBody>
      </p:sp>
      <p:sp>
        <p:nvSpPr>
          <p:cNvPr id="3" name="Content Placeholder 2"/>
          <p:cNvSpPr>
            <a:spLocks noGrp="1"/>
          </p:cNvSpPr>
          <p:nvPr>
            <p:ph idx="1"/>
          </p:nvPr>
        </p:nvSpPr>
        <p:spPr>
          <a:xfrm>
            <a:off x="355002" y="1312433"/>
            <a:ext cx="11478410" cy="4864530"/>
          </a:xfrm>
        </p:spPr>
        <p:txBody>
          <a:bodyPr>
            <a:normAutofit lnSpcReduction="10000"/>
          </a:bodyPr>
          <a:lstStyle/>
          <a:p>
            <a:r>
              <a:rPr lang="en-US" b="1" dirty="0">
                <a:solidFill>
                  <a:srgbClr val="C00000"/>
                </a:solidFill>
              </a:rPr>
              <a:t>Two-stage stochastic optimization</a:t>
            </a:r>
          </a:p>
          <a:p>
            <a:pPr lvl="1"/>
            <a:r>
              <a:rPr lang="en-US" dirty="0">
                <a:sym typeface="Wingdings" panose="05000000000000000000" pitchFamily="2" charset="2"/>
              </a:rPr>
              <a:t>In the newsvendor example, the second-stage model has an explicit solution, thus, newsvendor problem is easy to solve</a:t>
            </a:r>
          </a:p>
          <a:p>
            <a:pPr lvl="1"/>
            <a:r>
              <a:rPr lang="en-US" dirty="0">
                <a:sym typeface="Wingdings" panose="05000000000000000000" pitchFamily="2" charset="2"/>
              </a:rPr>
              <a:t>But, most of the times, second-stage problem can be challenging to solve</a:t>
            </a:r>
          </a:p>
          <a:p>
            <a:pPr lvl="1"/>
            <a:r>
              <a:rPr lang="en-US" dirty="0">
                <a:sym typeface="Wingdings" panose="05000000000000000000" pitchFamily="2" charset="2"/>
              </a:rPr>
              <a:t>Different approaches are proposed!</a:t>
            </a:r>
          </a:p>
          <a:p>
            <a:pPr lvl="1"/>
            <a:endParaRPr lang="en-US" dirty="0">
              <a:sym typeface="Wingdings" panose="05000000000000000000" pitchFamily="2" charset="2"/>
            </a:endParaRPr>
          </a:p>
          <a:p>
            <a:r>
              <a:rPr lang="en-US" dirty="0">
                <a:sym typeface="Wingdings" panose="05000000000000000000" pitchFamily="2" charset="2"/>
              </a:rPr>
              <a:t>Other points:</a:t>
            </a:r>
          </a:p>
          <a:p>
            <a:pPr lvl="1"/>
            <a:r>
              <a:rPr lang="en-US" dirty="0">
                <a:sym typeface="Wingdings" panose="05000000000000000000" pitchFamily="2" charset="2"/>
              </a:rPr>
              <a:t>Chance constraints!</a:t>
            </a:r>
          </a:p>
          <a:p>
            <a:pPr lvl="2"/>
            <a:r>
              <a:rPr lang="en-US" dirty="0">
                <a:sym typeface="Wingdings" panose="05000000000000000000" pitchFamily="2" charset="2"/>
              </a:rPr>
              <a:t>Add constraints that probability of some situation happening is bounded</a:t>
            </a:r>
          </a:p>
          <a:p>
            <a:pPr lvl="3"/>
            <a:r>
              <a:rPr lang="en-US" dirty="0">
                <a:sym typeface="Wingdings" panose="05000000000000000000" pitchFamily="2" charset="2"/>
              </a:rPr>
              <a:t>Maximize profit such that probability of not satisfying the demand is less than 10%</a:t>
            </a:r>
          </a:p>
          <a:p>
            <a:pPr lvl="1"/>
            <a:r>
              <a:rPr lang="en-US" dirty="0">
                <a:sym typeface="Wingdings" panose="05000000000000000000" pitchFamily="2" charset="2"/>
              </a:rPr>
              <a:t>Other approaches</a:t>
            </a:r>
          </a:p>
          <a:p>
            <a:pPr lvl="2"/>
            <a:r>
              <a:rPr lang="en-US" dirty="0">
                <a:sym typeface="Wingdings" panose="05000000000000000000" pitchFamily="2" charset="2"/>
              </a:rPr>
              <a:t>Risk-averse, risk-taking</a:t>
            </a:r>
          </a:p>
          <a:p>
            <a:pPr lvl="2"/>
            <a:r>
              <a:rPr lang="en-US" dirty="0">
                <a:sym typeface="Wingdings" panose="05000000000000000000" pitchFamily="2" charset="2"/>
              </a:rPr>
              <a:t>Regret</a:t>
            </a:r>
            <a:endParaRPr lang="en-US" dirty="0"/>
          </a:p>
          <a:p>
            <a:pPr lvl="1"/>
            <a:endParaRPr lang="en-US" dirty="0"/>
          </a:p>
        </p:txBody>
      </p:sp>
    </p:spTree>
    <p:extLst>
      <p:ext uri="{BB962C8B-B14F-4D97-AF65-F5344CB8AC3E}">
        <p14:creationId xmlns:p14="http://schemas.microsoft.com/office/powerpoint/2010/main" val="28000887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6" end="6"/>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7" end="7"/>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8" end="8"/>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9" end="9"/>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10" end="10"/>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Outline</a:t>
            </a:r>
          </a:p>
        </p:txBody>
      </p:sp>
      <p:sp>
        <p:nvSpPr>
          <p:cNvPr id="3" name="Content Placeholder 2"/>
          <p:cNvSpPr>
            <a:spLocks noGrp="1"/>
          </p:cNvSpPr>
          <p:nvPr>
            <p:ph idx="1"/>
          </p:nvPr>
        </p:nvSpPr>
        <p:spPr/>
        <p:txBody>
          <a:bodyPr/>
          <a:lstStyle/>
          <a:p>
            <a:r>
              <a:rPr lang="en-US" dirty="0">
                <a:solidFill>
                  <a:schemeClr val="bg2"/>
                </a:solidFill>
              </a:rPr>
              <a:t>Decision Criteria (Chapter 9.1 &amp; 9.2)</a:t>
            </a:r>
          </a:p>
          <a:p>
            <a:r>
              <a:rPr lang="en-US" dirty="0">
                <a:solidFill>
                  <a:schemeClr val="bg2"/>
                </a:solidFill>
              </a:rPr>
              <a:t>Decision Trees and Value of Information (Chapter 9.3-9.7)</a:t>
            </a:r>
          </a:p>
          <a:p>
            <a:r>
              <a:rPr lang="en-US" dirty="0">
                <a:solidFill>
                  <a:schemeClr val="bg2"/>
                </a:solidFill>
              </a:rPr>
              <a:t>Utility Theory Review (Chapter 9.8)</a:t>
            </a:r>
          </a:p>
          <a:p>
            <a:r>
              <a:rPr lang="en-US" dirty="0">
                <a:solidFill>
                  <a:schemeClr val="bg2"/>
                </a:solidFill>
              </a:rPr>
              <a:t>Stochastic Optimization Overview (not in the textbook)</a:t>
            </a:r>
          </a:p>
          <a:p>
            <a:r>
              <a:rPr lang="en-US" dirty="0"/>
              <a:t>Robust Optimization Overview (not in the textbook)</a:t>
            </a:r>
          </a:p>
          <a:p>
            <a:endParaRPr lang="en-US" dirty="0"/>
          </a:p>
          <a:p>
            <a:r>
              <a:rPr lang="en-US" dirty="0">
                <a:solidFill>
                  <a:schemeClr val="bg2"/>
                </a:solidFill>
              </a:rPr>
              <a:t>Probability Basics Review</a:t>
            </a:r>
          </a:p>
          <a:p>
            <a:endParaRPr lang="en-US" dirty="0"/>
          </a:p>
          <a:p>
            <a:pPr lvl="5"/>
            <a:endParaRPr lang="en-US" dirty="0"/>
          </a:p>
          <a:p>
            <a:endParaRPr lang="en-US" dirty="0"/>
          </a:p>
        </p:txBody>
      </p:sp>
    </p:spTree>
    <p:extLst>
      <p:ext uri="{BB962C8B-B14F-4D97-AF65-F5344CB8AC3E}">
        <p14:creationId xmlns:p14="http://schemas.microsoft.com/office/powerpoint/2010/main" val="3170767614"/>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Robust Optimization</a:t>
            </a:r>
          </a:p>
        </p:txBody>
      </p:sp>
      <p:sp>
        <p:nvSpPr>
          <p:cNvPr id="3" name="Content Placeholder 2"/>
          <p:cNvSpPr>
            <a:spLocks noGrp="1"/>
          </p:cNvSpPr>
          <p:nvPr>
            <p:ph idx="1"/>
          </p:nvPr>
        </p:nvSpPr>
        <p:spPr>
          <a:xfrm>
            <a:off x="355002" y="1312433"/>
            <a:ext cx="11478410" cy="4864530"/>
          </a:xfrm>
        </p:spPr>
        <p:txBody>
          <a:bodyPr>
            <a:normAutofit fontScale="92500" lnSpcReduction="10000"/>
          </a:bodyPr>
          <a:lstStyle/>
          <a:p>
            <a:r>
              <a:rPr lang="en-US" sz="2400" dirty="0"/>
              <a:t>In </a:t>
            </a:r>
            <a:r>
              <a:rPr lang="en-US" sz="2400" b="1" dirty="0">
                <a:solidFill>
                  <a:srgbClr val="C00000"/>
                </a:solidFill>
              </a:rPr>
              <a:t>deterministic optimization </a:t>
            </a:r>
            <a:r>
              <a:rPr lang="en-US" sz="2400" dirty="0">
                <a:sym typeface="Wingdings" panose="05000000000000000000" pitchFamily="2" charset="2"/>
              </a:rPr>
              <a:t> all parameters are deterministic</a:t>
            </a:r>
          </a:p>
          <a:p>
            <a:r>
              <a:rPr lang="en-US" sz="2400" dirty="0">
                <a:sym typeface="Wingdings" panose="05000000000000000000" pitchFamily="2" charset="2"/>
              </a:rPr>
              <a:t>In </a:t>
            </a:r>
            <a:r>
              <a:rPr lang="en-US" sz="2400" b="1" dirty="0">
                <a:solidFill>
                  <a:srgbClr val="C00000"/>
                </a:solidFill>
                <a:sym typeface="Wingdings" panose="05000000000000000000" pitchFamily="2" charset="2"/>
              </a:rPr>
              <a:t>stochastic optimization </a:t>
            </a:r>
            <a:r>
              <a:rPr lang="en-US" sz="2400" dirty="0">
                <a:sym typeface="Wingdings" panose="05000000000000000000" pitchFamily="2" charset="2"/>
              </a:rPr>
              <a:t> some parameters are stochastic</a:t>
            </a:r>
          </a:p>
          <a:p>
            <a:pPr lvl="1"/>
            <a:r>
              <a:rPr lang="en-US" sz="2000" dirty="0">
                <a:sym typeface="Wingdings" panose="05000000000000000000" pitchFamily="2" charset="2"/>
              </a:rPr>
              <a:t>That is, they are subject to known uncertainty</a:t>
            </a:r>
          </a:p>
          <a:p>
            <a:pPr lvl="1"/>
            <a:r>
              <a:rPr lang="en-US" sz="2000" dirty="0">
                <a:sym typeface="Wingdings" panose="05000000000000000000" pitchFamily="2" charset="2"/>
              </a:rPr>
              <a:t>We have some probability distributions and statistical knowledge</a:t>
            </a:r>
          </a:p>
          <a:p>
            <a:r>
              <a:rPr lang="en-US" sz="2400" dirty="0">
                <a:sym typeface="Wingdings" panose="05000000000000000000" pitchFamily="2" charset="2"/>
              </a:rPr>
              <a:t>In </a:t>
            </a:r>
            <a:r>
              <a:rPr lang="en-US" sz="2400" b="1" dirty="0">
                <a:solidFill>
                  <a:srgbClr val="C00000"/>
                </a:solidFill>
                <a:sym typeface="Wingdings" panose="05000000000000000000" pitchFamily="2" charset="2"/>
              </a:rPr>
              <a:t>robust optimization </a:t>
            </a:r>
            <a:r>
              <a:rPr lang="en-US" sz="2400" dirty="0">
                <a:sym typeface="Wingdings" panose="05000000000000000000" pitchFamily="2" charset="2"/>
              </a:rPr>
              <a:t> some parameters are uncertain</a:t>
            </a:r>
          </a:p>
          <a:p>
            <a:pPr lvl="1"/>
            <a:r>
              <a:rPr lang="en-US" sz="2000" dirty="0">
                <a:sym typeface="Wingdings" panose="05000000000000000000" pitchFamily="2" charset="2"/>
              </a:rPr>
              <a:t>We do not have much information about their uncertainty</a:t>
            </a:r>
          </a:p>
          <a:p>
            <a:pPr lvl="1"/>
            <a:r>
              <a:rPr lang="en-US" sz="2000" dirty="0">
                <a:sym typeface="Wingdings" panose="05000000000000000000" pitchFamily="2" charset="2"/>
              </a:rPr>
              <a:t>Probabilities are not known, or not reliable (because of lack of data), or changing</a:t>
            </a:r>
          </a:p>
          <a:p>
            <a:pPr lvl="1"/>
            <a:endParaRPr lang="en-US" dirty="0">
              <a:sym typeface="Wingdings" panose="05000000000000000000" pitchFamily="2" charset="2"/>
            </a:endParaRPr>
          </a:p>
          <a:p>
            <a:r>
              <a:rPr lang="en-US" sz="2400" dirty="0">
                <a:sym typeface="Wingdings" panose="05000000000000000000" pitchFamily="2" charset="2"/>
              </a:rPr>
              <a:t>We have already discussed some decision criteria for selecting an alternative from a given set of alternatives</a:t>
            </a:r>
          </a:p>
          <a:p>
            <a:pPr lvl="1"/>
            <a:r>
              <a:rPr lang="en-US" sz="2000" dirty="0">
                <a:sym typeface="Wingdings" panose="05000000000000000000" pitchFamily="2" charset="2"/>
              </a:rPr>
              <a:t>Maximax, maximin…</a:t>
            </a:r>
          </a:p>
          <a:p>
            <a:r>
              <a:rPr lang="en-US" sz="2400" dirty="0">
                <a:sym typeface="Wingdings" panose="05000000000000000000" pitchFamily="2" charset="2"/>
              </a:rPr>
              <a:t>Robust optimization is similar, but our alternatives are defined in a feasible set!</a:t>
            </a:r>
          </a:p>
          <a:p>
            <a:pPr lvl="1"/>
            <a:r>
              <a:rPr lang="en-US" sz="2200" dirty="0">
                <a:sym typeface="Wingdings" panose="05000000000000000000" pitchFamily="2" charset="2"/>
              </a:rPr>
              <a:t>That is, too many (maybe infinitely many) alternatives (solutions)!</a:t>
            </a:r>
          </a:p>
          <a:p>
            <a:pPr lvl="1"/>
            <a:r>
              <a:rPr lang="en-US" sz="2200" dirty="0">
                <a:sym typeface="Wingdings" panose="05000000000000000000" pitchFamily="2" charset="2"/>
              </a:rPr>
              <a:t>So, we take an optimization approach!</a:t>
            </a:r>
            <a:endParaRPr lang="en-US" dirty="0"/>
          </a:p>
          <a:p>
            <a:pPr lvl="1"/>
            <a:endParaRPr lang="en-US" dirty="0"/>
          </a:p>
        </p:txBody>
      </p:sp>
    </p:spTree>
    <p:extLst>
      <p:ext uri="{BB962C8B-B14F-4D97-AF65-F5344CB8AC3E}">
        <p14:creationId xmlns:p14="http://schemas.microsoft.com/office/powerpoint/2010/main" val="20884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8" end="8"/>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10" end="10"/>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11" end="11"/>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Robust Optimization</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355002" y="1312433"/>
                <a:ext cx="11478410" cy="4864530"/>
              </a:xfrm>
            </p:spPr>
            <p:txBody>
              <a:bodyPr>
                <a:normAutofit lnSpcReduction="10000"/>
              </a:bodyPr>
              <a:lstStyle/>
              <a:p>
                <a:r>
                  <a:rPr lang="en-US" dirty="0"/>
                  <a:t>Say problem parameters </a:t>
                </a:r>
                <a14:m>
                  <m:oMath xmlns:m="http://schemas.openxmlformats.org/officeDocument/2006/math">
                    <m:r>
                      <a:rPr lang="en-US" b="0" i="1" smtClean="0">
                        <a:latin typeface="Cambria Math" panose="02040503050406030204" pitchFamily="18" charset="0"/>
                      </a:rPr>
                      <m:t>𝜀</m:t>
                    </m:r>
                  </m:oMath>
                </a14:m>
                <a:r>
                  <a:rPr lang="en-US" dirty="0"/>
                  <a:t> are uncertain </a:t>
                </a:r>
              </a:p>
              <a:p>
                <a:pPr lvl="1">
                  <a:spcAft>
                    <a:spcPts val="1800"/>
                  </a:spcAft>
                </a:pPr>
                <a:r>
                  <a:rPr lang="en-US" dirty="0"/>
                  <a:t>Typically, uncertainty is defined using uncertainty sets, say </a:t>
                </a:r>
                <a14:m>
                  <m:oMath xmlns:m="http://schemas.openxmlformats.org/officeDocument/2006/math">
                    <m:r>
                      <a:rPr lang="en-US" b="0" i="1" smtClean="0">
                        <a:latin typeface="Cambria Math" panose="02040503050406030204" pitchFamily="18" charset="0"/>
                      </a:rPr>
                      <m:t>𝜀</m:t>
                    </m:r>
                    <m:r>
                      <a:rPr lang="en-US" b="0" i="1" smtClean="0">
                        <a:latin typeface="Cambria Math" panose="02040503050406030204" pitchFamily="18" charset="0"/>
                      </a:rPr>
                      <m:t>∈</m:t>
                    </m:r>
                    <m:r>
                      <a:rPr lang="en-US" b="0" i="1" smtClean="0">
                        <a:latin typeface="Cambria Math" panose="02040503050406030204" pitchFamily="18" charset="0"/>
                      </a:rPr>
                      <m:t>𝑈</m:t>
                    </m:r>
                  </m:oMath>
                </a14:m>
                <a:endParaRPr lang="en-US" dirty="0"/>
              </a:p>
              <a:p>
                <a:pPr>
                  <a:spcAft>
                    <a:spcPts val="1800"/>
                  </a:spcAft>
                </a:pPr>
                <a:r>
                  <a:rPr lang="en-US" dirty="0"/>
                  <a:t>A generic robust optimization problem</a:t>
                </a:r>
              </a:p>
              <a:p>
                <a:pPr marL="0" indent="0">
                  <a:buNone/>
                </a:pPr>
                <a14:m>
                  <m:oMathPara xmlns:m="http://schemas.openxmlformats.org/officeDocument/2006/math">
                    <m:oMathParaPr>
                      <m:jc m:val="centerGroup"/>
                    </m:oMathParaPr>
                    <m:oMath xmlns:m="http://schemas.openxmlformats.org/officeDocument/2006/math">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min</m:t>
                          </m:r>
                          <m:r>
                            <a:rPr lang="en-US" b="0" i="0" smtClean="0">
                              <a:latin typeface="Cambria Math" panose="02040503050406030204" pitchFamily="18" charset="0"/>
                            </a:rPr>
                            <m:t>   </m:t>
                          </m:r>
                        </m:fName>
                        <m:e>
                          <m:r>
                            <a:rPr lang="en-US" b="0" i="1" smtClean="0">
                              <a:latin typeface="Cambria Math" panose="02040503050406030204" pitchFamily="18" charset="0"/>
                            </a:rPr>
                            <m:t>𝑓</m:t>
                          </m:r>
                          <m:d>
                            <m:dPr>
                              <m:ctrlPr>
                                <a:rPr lang="en-US" b="0" i="1" smtClean="0">
                                  <a:latin typeface="Cambria Math" panose="02040503050406030204" pitchFamily="18" charset="0"/>
                                </a:rPr>
                              </m:ctrlPr>
                            </m:dPr>
                            <m:e>
                              <m:r>
                                <a:rPr lang="en-US" b="0" i="1" smtClean="0">
                                  <a:latin typeface="Cambria Math" panose="02040503050406030204" pitchFamily="18" charset="0"/>
                                </a:rPr>
                                <m:t>𝑥</m:t>
                              </m:r>
                              <m:r>
                                <a:rPr lang="en-US" b="0" i="1" smtClean="0">
                                  <a:latin typeface="Cambria Math" panose="02040503050406030204" pitchFamily="18" charset="0"/>
                                </a:rPr>
                                <m:t>,</m:t>
                              </m:r>
                              <m:r>
                                <a:rPr lang="en-US" b="0" i="1" smtClean="0">
                                  <a:latin typeface="Cambria Math" panose="02040503050406030204" pitchFamily="18" charset="0"/>
                                </a:rPr>
                                <m:t>𝜀</m:t>
                              </m:r>
                            </m:e>
                          </m:d>
                          <m:r>
                            <a:rPr lang="en-US" b="0" i="1" smtClean="0">
                              <a:latin typeface="Cambria Math" panose="02040503050406030204" pitchFamily="18" charset="0"/>
                            </a:rPr>
                            <m:t>  </m:t>
                          </m:r>
                          <m:r>
                            <a:rPr lang="en-US" b="0" i="1" smtClean="0">
                              <a:latin typeface="Cambria Math" panose="02040503050406030204" pitchFamily="18" charset="0"/>
                            </a:rPr>
                            <m:t>𝑠</m:t>
                          </m:r>
                          <m:r>
                            <a:rPr lang="en-US" b="0" i="1" smtClean="0">
                              <a:latin typeface="Cambria Math" panose="02040503050406030204" pitchFamily="18" charset="0"/>
                            </a:rPr>
                            <m:t>.</m:t>
                          </m:r>
                          <m:r>
                            <a:rPr lang="en-US" b="0" i="1" smtClean="0">
                              <a:latin typeface="Cambria Math" panose="02040503050406030204" pitchFamily="18" charset="0"/>
                            </a:rPr>
                            <m:t>𝑡</m:t>
                          </m:r>
                          <m:r>
                            <a:rPr lang="en-US" b="0" i="1" smtClean="0">
                              <a:latin typeface="Cambria Math" panose="02040503050406030204" pitchFamily="18" charset="0"/>
                            </a:rPr>
                            <m:t>.  </m:t>
                          </m:r>
                          <m:r>
                            <a:rPr lang="en-US" b="0" i="1" smtClean="0">
                              <a:latin typeface="Cambria Math" panose="02040503050406030204" pitchFamily="18" charset="0"/>
                            </a:rPr>
                            <m:t>𝑥</m:t>
                          </m:r>
                          <m:r>
                            <a:rPr lang="en-US" b="0" i="1" smtClean="0">
                              <a:latin typeface="Cambria Math" panose="02040503050406030204" pitchFamily="18" charset="0"/>
                            </a:rPr>
                            <m:t>∈</m:t>
                          </m:r>
                          <m:r>
                            <a:rPr lang="en-US" b="0" i="1" smtClean="0">
                              <a:latin typeface="Cambria Math" panose="02040503050406030204" pitchFamily="18" charset="0"/>
                            </a:rPr>
                            <m:t>𝑋</m:t>
                          </m:r>
                          <m:d>
                            <m:dPr>
                              <m:ctrlPr>
                                <a:rPr lang="en-US" b="0" i="1" smtClean="0">
                                  <a:latin typeface="Cambria Math" panose="02040503050406030204" pitchFamily="18" charset="0"/>
                                </a:rPr>
                              </m:ctrlPr>
                            </m:dPr>
                            <m:e>
                              <m:r>
                                <a:rPr lang="en-US" b="0" i="1" smtClean="0">
                                  <a:latin typeface="Cambria Math" panose="02040503050406030204" pitchFamily="18" charset="0"/>
                                </a:rPr>
                                <m:t>𝜀</m:t>
                              </m:r>
                            </m:e>
                          </m:d>
                          <m:r>
                            <a:rPr lang="en-US" b="0" i="1" smtClean="0">
                              <a:latin typeface="Cambria Math" panose="02040503050406030204" pitchFamily="18" charset="0"/>
                            </a:rPr>
                            <m:t>∀</m:t>
                          </m:r>
                          <m:r>
                            <a:rPr lang="en-US" b="0" i="1" smtClean="0">
                              <a:latin typeface="Cambria Math" panose="02040503050406030204" pitchFamily="18" charset="0"/>
                            </a:rPr>
                            <m:t>𝜀</m:t>
                          </m:r>
                          <m:r>
                            <a:rPr lang="en-US" b="0" i="1" smtClean="0">
                              <a:latin typeface="Cambria Math" panose="02040503050406030204" pitchFamily="18" charset="0"/>
                            </a:rPr>
                            <m:t>∈</m:t>
                          </m:r>
                          <m:r>
                            <a:rPr lang="en-US" b="0" i="1" smtClean="0">
                              <a:latin typeface="Cambria Math" panose="02040503050406030204" pitchFamily="18" charset="0"/>
                            </a:rPr>
                            <m:t>𝑈</m:t>
                          </m:r>
                        </m:e>
                      </m:func>
                    </m:oMath>
                  </m:oMathPara>
                </a14:m>
                <a:endParaRPr lang="en-US" dirty="0"/>
              </a:p>
              <a:p>
                <a:pPr lvl="8"/>
                <a:endParaRPr lang="en-US" b="0" i="1" dirty="0">
                  <a:latin typeface="Cambria Math" panose="02040503050406030204" pitchFamily="18" charset="0"/>
                </a:endParaRPr>
              </a:p>
              <a:p>
                <a:pPr lvl="1"/>
                <a14:m>
                  <m:oMath xmlns:m="http://schemas.openxmlformats.org/officeDocument/2006/math">
                    <m:r>
                      <a:rPr lang="en-US" b="0" i="1" smtClean="0">
                        <a:latin typeface="Cambria Math" panose="02040503050406030204" pitchFamily="18" charset="0"/>
                      </a:rPr>
                      <m:t>𝑥</m:t>
                    </m:r>
                  </m:oMath>
                </a14:m>
                <a:r>
                  <a:rPr lang="en-US" dirty="0"/>
                  <a:t> is the vector of decision variables</a:t>
                </a:r>
              </a:p>
              <a:p>
                <a:pPr lvl="1"/>
                <a14:m>
                  <m:oMath xmlns:m="http://schemas.openxmlformats.org/officeDocument/2006/math">
                    <m:r>
                      <a:rPr lang="en-US" b="0" i="1" smtClean="0">
                        <a:latin typeface="Cambria Math" panose="02040503050406030204" pitchFamily="18" charset="0"/>
                      </a:rPr>
                      <m:t>𝜀</m:t>
                    </m:r>
                  </m:oMath>
                </a14:m>
                <a:r>
                  <a:rPr lang="en-US" dirty="0"/>
                  <a:t> is the uncertain problem parameters</a:t>
                </a:r>
              </a:p>
              <a:p>
                <a:pPr lvl="1"/>
                <a14:m>
                  <m:oMath xmlns:m="http://schemas.openxmlformats.org/officeDocument/2006/math">
                    <m:r>
                      <a:rPr lang="en-US" b="0" i="1" smtClean="0">
                        <a:latin typeface="Cambria Math" panose="02040503050406030204" pitchFamily="18" charset="0"/>
                      </a:rPr>
                      <m:t>𝑈</m:t>
                    </m:r>
                  </m:oMath>
                </a14:m>
                <a:r>
                  <a:rPr lang="en-US" dirty="0"/>
                  <a:t> is the uncertainty set for the uncertain parameters</a:t>
                </a:r>
              </a:p>
              <a:p>
                <a:pPr lvl="2"/>
                <a:r>
                  <a:rPr lang="en-US" dirty="0"/>
                  <a:t>Uncertainty set types:</a:t>
                </a:r>
              </a:p>
              <a:p>
                <a:pPr lvl="3"/>
                <a:r>
                  <a:rPr lang="en-US" dirty="0"/>
                  <a:t>Box uncertainty: each individual parameter has lower and upper limits</a:t>
                </a:r>
              </a:p>
              <a:p>
                <a:pPr lvl="3"/>
                <a:r>
                  <a:rPr lang="en-US" dirty="0"/>
                  <a:t>Discrete uncertainty: each individual parameter has a discrete set of possible values</a:t>
                </a:r>
              </a:p>
              <a:p>
                <a:pPr lvl="3"/>
                <a:r>
                  <a:rPr lang="en-US" dirty="0"/>
                  <a:t>Polyhedral uncertainty: the possible values for a parameter are defined by linear inequalities (constraints)	</a:t>
                </a:r>
              </a:p>
              <a:p>
                <a:endParaRPr lang="en-US" sz="2400" b="1" dirty="0"/>
              </a:p>
              <a:p>
                <a:pPr lvl="1"/>
                <a:endParaRPr lang="en-US" dirty="0"/>
              </a:p>
              <a:p>
                <a:pPr lvl="1"/>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355002" y="1312433"/>
                <a:ext cx="11478410" cy="4864530"/>
              </a:xfrm>
              <a:blipFill>
                <a:blip r:embed="rId3"/>
                <a:stretch>
                  <a:fillRect l="-956" t="-2757" b="-1378"/>
                </a:stretch>
              </a:blipFill>
            </p:spPr>
            <p:txBody>
              <a:bodyPr/>
              <a:lstStyle/>
              <a:p>
                <a:r>
                  <a:rPr lang="en-US">
                    <a:noFill/>
                  </a:rPr>
                  <a:t> </a:t>
                </a:r>
              </a:p>
            </p:txBody>
          </p:sp>
        </mc:Fallback>
      </mc:AlternateContent>
    </p:spTree>
    <p:extLst>
      <p:ext uri="{BB962C8B-B14F-4D97-AF65-F5344CB8AC3E}">
        <p14:creationId xmlns:p14="http://schemas.microsoft.com/office/powerpoint/2010/main" val="30061187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3">
                                            <p:txEl>
                                              <p:pRg st="9" end="9"/>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3">
                                            <p:txEl>
                                              <p:pRg st="10" end="10"/>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Robust Optimization</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355002" y="1312433"/>
                <a:ext cx="11478410" cy="4864530"/>
              </a:xfrm>
            </p:spPr>
            <p:txBody>
              <a:bodyPr>
                <a:normAutofit/>
              </a:bodyPr>
              <a:lstStyle/>
              <a:p>
                <a:r>
                  <a:rPr lang="en-US" b="1" u="sng" dirty="0"/>
                  <a:t>Recall Example: Newsvendor Problem</a:t>
                </a:r>
              </a:p>
              <a:p>
                <a:pPr lvl="1"/>
                <a:r>
                  <a:rPr lang="en-US" dirty="0"/>
                  <a:t>A company needs to decide on order quantity </a:t>
                </a:r>
                <a14:m>
                  <m:oMath xmlns:m="http://schemas.openxmlformats.org/officeDocument/2006/math">
                    <m:r>
                      <a:rPr lang="en-US" i="1">
                        <a:latin typeface="Cambria Math" panose="02040503050406030204" pitchFamily="18" charset="0"/>
                      </a:rPr>
                      <m:t>𝑄</m:t>
                    </m:r>
                  </m:oMath>
                </a14:m>
                <a:r>
                  <a:rPr lang="en-US" dirty="0"/>
                  <a:t> (a single decision variable) for a product that will be sold in a single-period (a season)</a:t>
                </a:r>
              </a:p>
              <a:p>
                <a:pPr lvl="2"/>
                <a:r>
                  <a:rPr lang="en-US" dirty="0"/>
                  <a:t>Each unit is purchased for </a:t>
                </a:r>
                <a14:m>
                  <m:oMath xmlns:m="http://schemas.openxmlformats.org/officeDocument/2006/math">
                    <m:r>
                      <a:rPr lang="en-US" i="1">
                        <a:latin typeface="Cambria Math" panose="02040503050406030204" pitchFamily="18" charset="0"/>
                      </a:rPr>
                      <m:t>$</m:t>
                    </m:r>
                    <m:r>
                      <a:rPr lang="en-US" i="1">
                        <a:latin typeface="Cambria Math" panose="02040503050406030204" pitchFamily="18" charset="0"/>
                      </a:rPr>
                      <m:t>𝑐</m:t>
                    </m:r>
                  </m:oMath>
                </a14:m>
                <a:r>
                  <a:rPr lang="en-US" dirty="0"/>
                  <a:t> and Each unit will be sold for  </a:t>
                </a:r>
                <a14:m>
                  <m:oMath xmlns:m="http://schemas.openxmlformats.org/officeDocument/2006/math">
                    <m:r>
                      <a:rPr lang="en-US" i="1">
                        <a:latin typeface="Cambria Math" panose="02040503050406030204" pitchFamily="18" charset="0"/>
                      </a:rPr>
                      <m:t>$</m:t>
                    </m:r>
                    <m:r>
                      <a:rPr lang="en-US" i="1">
                        <a:latin typeface="Cambria Math" panose="02040503050406030204" pitchFamily="18" charset="0"/>
                      </a:rPr>
                      <m:t>𝑝</m:t>
                    </m:r>
                  </m:oMath>
                </a14:m>
                <a:endParaRPr lang="en-US" dirty="0"/>
              </a:p>
              <a:p>
                <a:pPr lvl="2"/>
                <a:r>
                  <a:rPr lang="en-US" dirty="0"/>
                  <a:t>The selling price is more than the purchase cost, i.e., </a:t>
                </a:r>
                <a14:m>
                  <m:oMath xmlns:m="http://schemas.openxmlformats.org/officeDocument/2006/math">
                    <m:r>
                      <a:rPr lang="en-US" i="1">
                        <a:latin typeface="Cambria Math" panose="02040503050406030204" pitchFamily="18" charset="0"/>
                      </a:rPr>
                      <m:t>𝑝</m:t>
                    </m:r>
                    <m:r>
                      <a:rPr lang="en-US" i="1">
                        <a:latin typeface="Cambria Math" panose="02040503050406030204" pitchFamily="18" charset="0"/>
                      </a:rPr>
                      <m:t>&gt;</m:t>
                    </m:r>
                    <m:r>
                      <a:rPr lang="en-US" i="1">
                        <a:latin typeface="Cambria Math" panose="02040503050406030204" pitchFamily="18" charset="0"/>
                      </a:rPr>
                      <m:t>𝑐</m:t>
                    </m:r>
                  </m:oMath>
                </a14:m>
                <a:endParaRPr lang="en-US" dirty="0"/>
              </a:p>
              <a:p>
                <a:pPr lvl="1"/>
                <a:r>
                  <a:rPr lang="en-US" dirty="0"/>
                  <a:t>The demand, </a:t>
                </a:r>
                <a14:m>
                  <m:oMath xmlns:m="http://schemas.openxmlformats.org/officeDocument/2006/math">
                    <m:r>
                      <a:rPr lang="en-US" i="1">
                        <a:latin typeface="Cambria Math" panose="02040503050406030204" pitchFamily="18" charset="0"/>
                      </a:rPr>
                      <m:t>𝑥</m:t>
                    </m:r>
                  </m:oMath>
                </a14:m>
                <a:r>
                  <a:rPr lang="en-US" dirty="0"/>
                  <a:t>, is uncertain, we only know that </a:t>
                </a:r>
                <a14:m>
                  <m:oMath xmlns:m="http://schemas.openxmlformats.org/officeDocument/2006/math">
                    <m:r>
                      <a:rPr lang="en-US" b="0" i="1" smtClean="0">
                        <a:latin typeface="Cambria Math" panose="02040503050406030204" pitchFamily="18" charset="0"/>
                      </a:rPr>
                      <m:t>𝑥</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𝐷</m:t>
                        </m:r>
                      </m:e>
                      <m:sup>
                        <m:r>
                          <a:rPr lang="en-US" b="0" i="1" smtClean="0">
                            <a:latin typeface="Cambria Math" panose="02040503050406030204" pitchFamily="18" charset="0"/>
                          </a:rPr>
                          <m:t>𝐿</m:t>
                        </m:r>
                      </m:sup>
                    </m:sSup>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𝐷</m:t>
                        </m:r>
                      </m:e>
                      <m:sup>
                        <m:r>
                          <a:rPr lang="en-US" b="0" i="1" smtClean="0">
                            <a:latin typeface="Cambria Math" panose="02040503050406030204" pitchFamily="18" charset="0"/>
                          </a:rPr>
                          <m:t>𝑈</m:t>
                        </m:r>
                      </m:sup>
                    </m:sSup>
                    <m:r>
                      <a:rPr lang="en-US" b="0" i="1" smtClean="0">
                        <a:latin typeface="Cambria Math" panose="02040503050406030204" pitchFamily="18" charset="0"/>
                      </a:rPr>
                      <m:t>]</m:t>
                    </m:r>
                  </m:oMath>
                </a14:m>
                <a:endParaRPr lang="en-US" dirty="0"/>
              </a:p>
              <a:p>
                <a:pPr lvl="1"/>
                <a:r>
                  <a:rPr lang="en-US" dirty="0"/>
                  <a:t>If order quantity is more than the demand </a:t>
                </a:r>
                <a14:m>
                  <m:oMath xmlns:m="http://schemas.openxmlformats.org/officeDocument/2006/math">
                    <m:r>
                      <a:rPr lang="en-US" i="1">
                        <a:latin typeface="Cambria Math" panose="02040503050406030204" pitchFamily="18" charset="0"/>
                      </a:rPr>
                      <m:t>𝑥</m:t>
                    </m:r>
                  </m:oMath>
                </a14:m>
                <a:r>
                  <a:rPr lang="en-US" dirty="0"/>
                  <a:t>, the remaining items will be salvaged</a:t>
                </a:r>
              </a:p>
              <a:p>
                <a:pPr lvl="2"/>
                <a:r>
                  <a:rPr lang="en-US" dirty="0"/>
                  <a:t>Each unit is salvaged at </a:t>
                </a:r>
                <a14:m>
                  <m:oMath xmlns:m="http://schemas.openxmlformats.org/officeDocument/2006/math">
                    <m:r>
                      <a:rPr lang="en-US" i="1">
                        <a:latin typeface="Cambria Math" panose="02040503050406030204" pitchFamily="18" charset="0"/>
                      </a:rPr>
                      <m:t>$</m:t>
                    </m:r>
                    <m:r>
                      <a:rPr lang="en-US" i="1">
                        <a:latin typeface="Cambria Math" panose="02040503050406030204" pitchFamily="18" charset="0"/>
                      </a:rPr>
                      <m:t>𝑠</m:t>
                    </m:r>
                  </m:oMath>
                </a14:m>
                <a:endParaRPr lang="en-US" dirty="0"/>
              </a:p>
              <a:p>
                <a:pPr lvl="2"/>
                <a:r>
                  <a:rPr lang="en-US" dirty="0"/>
                  <a:t>The salvage value is typically less than the purchase cost, i.e., </a:t>
                </a:r>
                <a14:m>
                  <m:oMath xmlns:m="http://schemas.openxmlformats.org/officeDocument/2006/math">
                    <m:r>
                      <a:rPr lang="en-US" i="1">
                        <a:latin typeface="Cambria Math" panose="02040503050406030204" pitchFamily="18" charset="0"/>
                      </a:rPr>
                      <m:t>𝑐</m:t>
                    </m:r>
                    <m:r>
                      <a:rPr lang="en-US" i="1">
                        <a:latin typeface="Cambria Math" panose="02040503050406030204" pitchFamily="18" charset="0"/>
                      </a:rPr>
                      <m:t>&gt;</m:t>
                    </m:r>
                    <m:r>
                      <a:rPr lang="en-US" i="1">
                        <a:latin typeface="Cambria Math" panose="02040503050406030204" pitchFamily="18" charset="0"/>
                      </a:rPr>
                      <m:t>𝑠</m:t>
                    </m:r>
                  </m:oMath>
                </a14:m>
                <a:endParaRPr lang="en-US" dirty="0"/>
              </a:p>
              <a:p>
                <a:pPr lvl="1"/>
                <a:endParaRPr lang="en-US" dirty="0"/>
              </a:p>
              <a:p>
                <a:pPr lvl="1"/>
                <a:r>
                  <a:rPr lang="en-US" dirty="0"/>
                  <a:t>Recall that </a:t>
                </a:r>
                <a14:m>
                  <m:oMath xmlns:m="http://schemas.openxmlformats.org/officeDocument/2006/math">
                    <m:r>
                      <a:rPr lang="en-US" b="0" i="1" smtClean="0">
                        <a:latin typeface="Cambria Math" panose="02040503050406030204" pitchFamily="18" charset="0"/>
                      </a:rPr>
                      <m:t>𝑃</m:t>
                    </m:r>
                    <m:r>
                      <a:rPr lang="en-US" b="0" i="1" smtClean="0">
                        <a:latin typeface="Cambria Math" panose="02040503050406030204" pitchFamily="18" charset="0"/>
                      </a:rPr>
                      <m:t>(</m:t>
                    </m:r>
                    <m:r>
                      <a:rPr lang="en-US" b="0" i="1" smtClean="0">
                        <a:latin typeface="Cambria Math" panose="02040503050406030204" pitchFamily="18" charset="0"/>
                      </a:rPr>
                      <m:t>𝑄</m:t>
                    </m:r>
                    <m:r>
                      <a:rPr lang="en-US" b="0" i="1" smtClean="0">
                        <a:latin typeface="Cambria Math" panose="02040503050406030204" pitchFamily="18" charset="0"/>
                      </a:rPr>
                      <m:t>,</m:t>
                    </m:r>
                    <m:r>
                      <a:rPr lang="en-US" b="0" i="1" smtClean="0">
                        <a:latin typeface="Cambria Math" panose="02040503050406030204" pitchFamily="18" charset="0"/>
                      </a:rPr>
                      <m:t>𝑥</m:t>
                    </m:r>
                    <m:r>
                      <a:rPr lang="en-US" b="0" i="1" smtClean="0">
                        <a:latin typeface="Cambria Math" panose="02040503050406030204" pitchFamily="18" charset="0"/>
                      </a:rPr>
                      <m:t>)</m:t>
                    </m:r>
                  </m:oMath>
                </a14:m>
                <a:r>
                  <a:rPr lang="en-US" dirty="0"/>
                  <a:t> is the profit function for a given demand realization </a:t>
                </a:r>
                <a14:m>
                  <m:oMath xmlns:m="http://schemas.openxmlformats.org/officeDocument/2006/math">
                    <m:r>
                      <a:rPr lang="en-US" b="0" i="1" smtClean="0">
                        <a:latin typeface="Cambria Math" panose="02040503050406030204" pitchFamily="18" charset="0"/>
                      </a:rPr>
                      <m:t>𝑥</m:t>
                    </m:r>
                  </m:oMath>
                </a14:m>
                <a:endParaRPr lang="en-US" dirty="0"/>
              </a:p>
              <a:p>
                <a:pPr lvl="1"/>
                <a:r>
                  <a:rPr lang="en-US" dirty="0">
                    <a:solidFill>
                      <a:srgbClr val="C00000"/>
                    </a:solidFill>
                  </a:rPr>
                  <a:t>Determine </a:t>
                </a:r>
                <a14:m>
                  <m:oMath xmlns:m="http://schemas.openxmlformats.org/officeDocument/2006/math">
                    <m:r>
                      <a:rPr lang="en-US" i="1">
                        <a:solidFill>
                          <a:srgbClr val="C00000"/>
                        </a:solidFill>
                        <a:latin typeface="Cambria Math" panose="02040503050406030204" pitchFamily="18" charset="0"/>
                      </a:rPr>
                      <m:t>𝑄</m:t>
                    </m:r>
                  </m:oMath>
                </a14:m>
                <a:r>
                  <a:rPr lang="en-US" dirty="0">
                    <a:solidFill>
                      <a:srgbClr val="C00000"/>
                    </a:solidFill>
                  </a:rPr>
                  <a:t> to maximize profit</a:t>
                </a:r>
                <a:endParaRPr lang="en-US" dirty="0"/>
              </a:p>
              <a:p>
                <a:endParaRPr lang="en-US" sz="2400" b="1" dirty="0"/>
              </a:p>
              <a:p>
                <a:pPr lvl="1"/>
                <a:endParaRPr lang="en-US" dirty="0"/>
              </a:p>
              <a:p>
                <a:pPr lvl="1"/>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355002" y="1312433"/>
                <a:ext cx="11478410" cy="4864530"/>
              </a:xfrm>
              <a:blipFill>
                <a:blip r:embed="rId3"/>
                <a:stretch>
                  <a:fillRect l="-956" t="-2005"/>
                </a:stretch>
              </a:blipFill>
            </p:spPr>
            <p:txBody>
              <a:bodyPr/>
              <a:lstStyle/>
              <a:p>
                <a:r>
                  <a:rPr lang="en-US">
                    <a:noFill/>
                  </a:rPr>
                  <a:t> </a:t>
                </a:r>
              </a:p>
            </p:txBody>
          </p:sp>
        </mc:Fallback>
      </mc:AlternateContent>
    </p:spTree>
    <p:extLst>
      <p:ext uri="{BB962C8B-B14F-4D97-AF65-F5344CB8AC3E}">
        <p14:creationId xmlns:p14="http://schemas.microsoft.com/office/powerpoint/2010/main" val="26548582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
                                            <p:txEl>
                                              <p:pRg st="9" end="9"/>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Robust Optimization</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355002" y="1312432"/>
                <a:ext cx="11478410" cy="5256533"/>
              </a:xfrm>
            </p:spPr>
            <p:txBody>
              <a:bodyPr>
                <a:normAutofit/>
              </a:bodyPr>
              <a:lstStyle/>
              <a:p>
                <a:r>
                  <a:rPr lang="en-US" b="1" u="sng" dirty="0"/>
                  <a:t>Example: Newsvendor Problem</a:t>
                </a:r>
              </a:p>
              <a:p>
                <a:pPr lvl="1"/>
                <a:r>
                  <a:rPr lang="en-US" dirty="0">
                    <a:solidFill>
                      <a:schemeClr val="tx1"/>
                    </a:solidFill>
                  </a:rPr>
                  <a:t>Determine </a:t>
                </a:r>
                <a14:m>
                  <m:oMath xmlns:m="http://schemas.openxmlformats.org/officeDocument/2006/math">
                    <m:r>
                      <a:rPr lang="en-US" b="0" i="1" smtClean="0">
                        <a:solidFill>
                          <a:schemeClr val="tx1"/>
                        </a:solidFill>
                        <a:latin typeface="Cambria Math" panose="02040503050406030204" pitchFamily="18" charset="0"/>
                      </a:rPr>
                      <m:t>𝑥</m:t>
                    </m:r>
                  </m:oMath>
                </a14:m>
                <a:r>
                  <a:rPr lang="en-US" dirty="0">
                    <a:solidFill>
                      <a:schemeClr val="tx1"/>
                    </a:solidFill>
                  </a:rPr>
                  <a:t> to maximize profit: </a:t>
                </a:r>
              </a:p>
              <a:p>
                <a:pPr lvl="2"/>
                <a:endParaRPr lang="en-US" dirty="0"/>
              </a:p>
              <a:p>
                <a:pPr lvl="2"/>
                <a:r>
                  <a:rPr lang="en-US" dirty="0"/>
                  <a:t>Does not make sense because </a:t>
                </a:r>
                <a14:m>
                  <m:oMath xmlns:m="http://schemas.openxmlformats.org/officeDocument/2006/math">
                    <m:r>
                      <m:rPr>
                        <m:sty m:val="p"/>
                      </m:rPr>
                      <a:rPr lang="en-US" b="0" i="0" smtClean="0">
                        <a:latin typeface="Cambria Math" panose="02040503050406030204" pitchFamily="18" charset="0"/>
                      </a:rPr>
                      <m:t>P</m:t>
                    </m:r>
                    <m:r>
                      <a:rPr lang="en-US" b="0" i="1" smtClean="0">
                        <a:latin typeface="Cambria Math" panose="02040503050406030204" pitchFamily="18" charset="0"/>
                      </a:rPr>
                      <m:t>(</m:t>
                    </m:r>
                    <m:r>
                      <a:rPr lang="en-US" b="0" i="1" smtClean="0">
                        <a:latin typeface="Cambria Math" panose="02040503050406030204" pitchFamily="18" charset="0"/>
                      </a:rPr>
                      <m:t>𝑄</m:t>
                    </m:r>
                    <m:r>
                      <a:rPr lang="en-US" b="0" i="1" smtClean="0">
                        <a:latin typeface="Cambria Math" panose="02040503050406030204" pitchFamily="18" charset="0"/>
                      </a:rPr>
                      <m:t>,</m:t>
                    </m:r>
                    <m:r>
                      <a:rPr lang="en-US" b="0" i="1" smtClean="0">
                        <a:latin typeface="Cambria Math" panose="02040503050406030204" pitchFamily="18" charset="0"/>
                      </a:rPr>
                      <m:t>𝑥</m:t>
                    </m:r>
                    <m:r>
                      <a:rPr lang="en-US" b="0" i="1" smtClean="0">
                        <a:latin typeface="Cambria Math" panose="02040503050406030204" pitchFamily="18" charset="0"/>
                      </a:rPr>
                      <m:t>)</m:t>
                    </m:r>
                  </m:oMath>
                </a14:m>
                <a:r>
                  <a:rPr lang="en-US" dirty="0">
                    <a:solidFill>
                      <a:srgbClr val="C00000"/>
                    </a:solidFill>
                  </a:rPr>
                  <a:t> </a:t>
                </a:r>
                <a:r>
                  <a:rPr lang="en-US" dirty="0"/>
                  <a:t>is</a:t>
                </a:r>
                <a:r>
                  <a:rPr lang="en-US" dirty="0">
                    <a:solidFill>
                      <a:schemeClr val="tx1"/>
                    </a:solidFill>
                  </a:rPr>
                  <a:t> uncertain as well (remember, </a:t>
                </a:r>
                <a14:m>
                  <m:oMath xmlns:m="http://schemas.openxmlformats.org/officeDocument/2006/math">
                    <m:r>
                      <a:rPr lang="en-US" b="0" i="1" smtClean="0">
                        <a:solidFill>
                          <a:schemeClr val="tx1"/>
                        </a:solidFill>
                        <a:latin typeface="Cambria Math" panose="02040503050406030204" pitchFamily="18" charset="0"/>
                      </a:rPr>
                      <m:t>𝑥</m:t>
                    </m:r>
                  </m:oMath>
                </a14:m>
                <a:r>
                  <a:rPr lang="en-US" dirty="0">
                    <a:solidFill>
                      <a:schemeClr val="tx1"/>
                    </a:solidFill>
                  </a:rPr>
                  <a:t> is uncertain!)</a:t>
                </a:r>
              </a:p>
              <a:p>
                <a:pPr lvl="1"/>
                <a:r>
                  <a:rPr lang="en-US" dirty="0"/>
                  <a:t>How about we focus on the expected value of the demand? </a:t>
                </a:r>
                <a:endParaRPr lang="en-US" dirty="0">
                  <a:solidFill>
                    <a:schemeClr val="tx1"/>
                  </a:solidFill>
                </a:endParaRPr>
              </a:p>
              <a:p>
                <a:pPr lvl="2"/>
                <a:endParaRPr lang="en-US" dirty="0">
                  <a:solidFill>
                    <a:schemeClr val="tx1"/>
                  </a:solidFill>
                </a:endParaRPr>
              </a:p>
              <a:p>
                <a:pPr lvl="2"/>
                <a:r>
                  <a:rPr lang="en-US" dirty="0"/>
                  <a:t>Does not make sense because we do not know </a:t>
                </a:r>
                <a14:m>
                  <m:oMath xmlns:m="http://schemas.openxmlformats.org/officeDocument/2006/math">
                    <m:r>
                      <a:rPr lang="en-US" b="0" i="1" smtClean="0">
                        <a:latin typeface="Cambria Math" panose="02040503050406030204" pitchFamily="18" charset="0"/>
                      </a:rPr>
                      <m:t>𝐸</m:t>
                    </m:r>
                    <m:r>
                      <a:rPr lang="en-US" b="0" i="1" smtClean="0">
                        <a:latin typeface="Cambria Math" panose="02040503050406030204" pitchFamily="18" charset="0"/>
                      </a:rPr>
                      <m:t>[</m:t>
                    </m:r>
                    <m:r>
                      <a:rPr lang="en-US" b="0" i="1" smtClean="0">
                        <a:latin typeface="Cambria Math" panose="02040503050406030204" pitchFamily="18" charset="0"/>
                      </a:rPr>
                      <m:t>𝑥</m:t>
                    </m:r>
                    <m:r>
                      <a:rPr lang="en-US" b="0" i="1" smtClean="0">
                        <a:latin typeface="Cambria Math" panose="02040503050406030204" pitchFamily="18" charset="0"/>
                      </a:rPr>
                      <m:t>]</m:t>
                    </m:r>
                  </m:oMath>
                </a14:m>
                <a:r>
                  <a:rPr lang="en-US" dirty="0"/>
                  <a:t> (remember, </a:t>
                </a:r>
                <a14:m>
                  <m:oMath xmlns:m="http://schemas.openxmlformats.org/officeDocument/2006/math">
                    <m:r>
                      <a:rPr lang="en-US" b="0" i="1" smtClean="0">
                        <a:latin typeface="Cambria Math" panose="02040503050406030204" pitchFamily="18" charset="0"/>
                      </a:rPr>
                      <m:t>𝑥</m:t>
                    </m:r>
                  </m:oMath>
                </a14:m>
                <a:r>
                  <a:rPr lang="en-US" dirty="0"/>
                  <a:t> is uncertain!)</a:t>
                </a:r>
              </a:p>
              <a:p>
                <a:pPr lvl="1"/>
                <a:r>
                  <a:rPr lang="en-US" dirty="0">
                    <a:solidFill>
                      <a:schemeClr val="tx1"/>
                    </a:solidFill>
                  </a:rPr>
                  <a:t>How about focusing on expected value of the profit?</a:t>
                </a:r>
              </a:p>
              <a:p>
                <a:pPr lvl="1"/>
                <a:endParaRPr lang="en-US" dirty="0"/>
              </a:p>
              <a:p>
                <a:pPr lvl="2"/>
                <a:r>
                  <a:rPr lang="en-US" dirty="0">
                    <a:solidFill>
                      <a:schemeClr val="tx1"/>
                    </a:solidFill>
                  </a:rPr>
                  <a:t>Does not make sense because we cannot define </a:t>
                </a:r>
                <a14:m>
                  <m:oMath xmlns:m="http://schemas.openxmlformats.org/officeDocument/2006/math">
                    <m:r>
                      <a:rPr lang="en-US" b="0" i="1" smtClean="0">
                        <a:solidFill>
                          <a:schemeClr val="tx1"/>
                        </a:solidFill>
                        <a:latin typeface="Cambria Math" panose="02040503050406030204" pitchFamily="18" charset="0"/>
                      </a:rPr>
                      <m:t>𝐸</m:t>
                    </m:r>
                    <m:r>
                      <a:rPr lang="en-US" b="0" i="1" smtClean="0">
                        <a:solidFill>
                          <a:schemeClr val="tx1"/>
                        </a:solidFill>
                        <a:latin typeface="Cambria Math" panose="02040503050406030204" pitchFamily="18" charset="0"/>
                      </a:rPr>
                      <m:t>[</m:t>
                    </m:r>
                    <m:r>
                      <a:rPr lang="en-US" b="0" i="1" smtClean="0">
                        <a:solidFill>
                          <a:schemeClr val="tx1"/>
                        </a:solidFill>
                        <a:latin typeface="Cambria Math" panose="02040503050406030204" pitchFamily="18" charset="0"/>
                      </a:rPr>
                      <m:t>𝑃</m:t>
                    </m:r>
                    <m:r>
                      <a:rPr lang="en-US" b="0" i="1" smtClean="0">
                        <a:solidFill>
                          <a:schemeClr val="tx1"/>
                        </a:solidFill>
                        <a:latin typeface="Cambria Math" panose="02040503050406030204" pitchFamily="18" charset="0"/>
                      </a:rPr>
                      <m:t>(</m:t>
                    </m:r>
                    <m:r>
                      <a:rPr lang="en-US" b="0" i="1" smtClean="0">
                        <a:solidFill>
                          <a:schemeClr val="tx1"/>
                        </a:solidFill>
                        <a:latin typeface="Cambria Math" panose="02040503050406030204" pitchFamily="18" charset="0"/>
                      </a:rPr>
                      <m:t>𝑄</m:t>
                    </m:r>
                    <m:r>
                      <a:rPr lang="en-US" b="0" i="1" smtClean="0">
                        <a:solidFill>
                          <a:schemeClr val="tx1"/>
                        </a:solidFill>
                        <a:latin typeface="Cambria Math" panose="02040503050406030204" pitchFamily="18" charset="0"/>
                      </a:rPr>
                      <m:t>,</m:t>
                    </m:r>
                    <m:r>
                      <a:rPr lang="en-US" b="0" i="1" smtClean="0">
                        <a:solidFill>
                          <a:schemeClr val="tx1"/>
                        </a:solidFill>
                        <a:latin typeface="Cambria Math" panose="02040503050406030204" pitchFamily="18" charset="0"/>
                      </a:rPr>
                      <m:t>𝑥</m:t>
                    </m:r>
                    <m:r>
                      <a:rPr lang="en-US" b="0" i="1" smtClean="0">
                        <a:solidFill>
                          <a:schemeClr val="tx1"/>
                        </a:solidFill>
                        <a:latin typeface="Cambria Math" panose="02040503050406030204" pitchFamily="18" charset="0"/>
                      </a:rPr>
                      <m:t>)]</m:t>
                    </m:r>
                  </m:oMath>
                </a14:m>
                <a:r>
                  <a:rPr lang="en-US" dirty="0">
                    <a:solidFill>
                      <a:schemeClr val="tx1"/>
                    </a:solidFill>
                  </a:rPr>
                  <a:t> (remember, </a:t>
                </a:r>
                <a14:m>
                  <m:oMath xmlns:m="http://schemas.openxmlformats.org/officeDocument/2006/math">
                    <m:r>
                      <a:rPr lang="en-US" b="0" i="1" smtClean="0">
                        <a:solidFill>
                          <a:schemeClr val="tx1"/>
                        </a:solidFill>
                        <a:latin typeface="Cambria Math" panose="02040503050406030204" pitchFamily="18" charset="0"/>
                      </a:rPr>
                      <m:t>𝑥</m:t>
                    </m:r>
                  </m:oMath>
                </a14:m>
                <a:r>
                  <a:rPr lang="en-US" dirty="0">
                    <a:solidFill>
                      <a:schemeClr val="tx1"/>
                    </a:solidFill>
                  </a:rPr>
                  <a:t> is uncertain!)</a:t>
                </a:r>
              </a:p>
              <a:p>
                <a:pPr lvl="2"/>
                <a:endParaRPr lang="en-US" dirty="0"/>
              </a:p>
              <a:p>
                <a:pPr lvl="1"/>
                <a:r>
                  <a:rPr lang="en-US" dirty="0">
                    <a:solidFill>
                      <a:schemeClr val="tx1"/>
                    </a:solidFill>
                  </a:rPr>
                  <a:t>Helpless?</a:t>
                </a:r>
              </a:p>
              <a:p>
                <a:pPr lvl="2"/>
                <a:r>
                  <a:rPr lang="en-US" dirty="0"/>
                  <a:t>Remember maximin? </a:t>
                </a:r>
                <a:r>
                  <a:rPr lang="en-US" dirty="0">
                    <a:solidFill>
                      <a:schemeClr val="tx1"/>
                    </a:solidFill>
                  </a:rPr>
                  <a:t>Maximize the worst-case profit! </a:t>
                </a:r>
              </a:p>
              <a:p>
                <a:pPr lvl="2"/>
                <a:r>
                  <a:rPr lang="en-US" dirty="0"/>
                  <a:t>That is, find Q with the maximum worst-case profit</a:t>
                </a:r>
              </a:p>
              <a:p>
                <a:endParaRPr lang="en-US" sz="2400" b="1" dirty="0"/>
              </a:p>
              <a:p>
                <a:pPr lvl="1"/>
                <a:endParaRPr lang="en-US" dirty="0"/>
              </a:p>
              <a:p>
                <a:pPr lvl="1"/>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355002" y="1312432"/>
                <a:ext cx="11478410" cy="5256533"/>
              </a:xfrm>
              <a:blipFill>
                <a:blip r:embed="rId3"/>
                <a:stretch>
                  <a:fillRect l="-956" t="-185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 name="Rectangle 3">
                <a:extLst>
                  <a:ext uri="{FF2B5EF4-FFF2-40B4-BE49-F238E27FC236}">
                    <a16:creationId xmlns:a16="http://schemas.microsoft.com/office/drawing/2014/main" id="{A4D79233-8335-4A02-87EF-D2EDF234B71A}"/>
                  </a:ext>
                </a:extLst>
              </p:cNvPr>
              <p:cNvSpPr/>
              <p:nvPr/>
            </p:nvSpPr>
            <p:spPr>
              <a:xfrm>
                <a:off x="3289387" y="2115312"/>
                <a:ext cx="2962221" cy="400110"/>
              </a:xfrm>
              <a:prstGeom prst="rect">
                <a:avLst/>
              </a:prstGeom>
              <a:ln>
                <a:solidFill>
                  <a:srgbClr val="C00000"/>
                </a:solidFill>
              </a:ln>
            </p:spPr>
            <p:txBody>
              <a:bodyPr wrap="none">
                <a:spAutoFit/>
              </a:bodyPr>
              <a:lstStyle/>
              <a:p>
                <a:pPr/>
                <a14:m>
                  <m:oMathPara xmlns:m="http://schemas.openxmlformats.org/officeDocument/2006/math">
                    <m:oMathParaPr>
                      <m:jc m:val="centerGroup"/>
                    </m:oMathParaPr>
                    <m:oMath xmlns:m="http://schemas.openxmlformats.org/officeDocument/2006/math">
                      <m:func>
                        <m:funcPr>
                          <m:ctrlPr>
                            <a:rPr lang="en-US" sz="2000" i="1" smtClean="0">
                              <a:latin typeface="Cambria Math" panose="02040503050406030204" pitchFamily="18" charset="0"/>
                            </a:rPr>
                          </m:ctrlPr>
                        </m:funcPr>
                        <m:fName>
                          <m:r>
                            <m:rPr>
                              <m:sty m:val="p"/>
                            </m:rPr>
                            <a:rPr lang="en-US" sz="2000">
                              <a:latin typeface="Cambria Math" panose="02040503050406030204" pitchFamily="18" charset="0"/>
                            </a:rPr>
                            <m:t>m</m:t>
                          </m:r>
                          <m:r>
                            <m:rPr>
                              <m:sty m:val="p"/>
                            </m:rPr>
                            <a:rPr lang="en-US" sz="2000" b="0" i="0" smtClean="0">
                              <a:latin typeface="Cambria Math" panose="02040503050406030204" pitchFamily="18" charset="0"/>
                            </a:rPr>
                            <m:t>ax</m:t>
                          </m:r>
                          <m:r>
                            <a:rPr lang="en-US" sz="2000">
                              <a:latin typeface="Cambria Math" panose="02040503050406030204" pitchFamily="18" charset="0"/>
                            </a:rPr>
                            <m:t>   </m:t>
                          </m:r>
                        </m:fName>
                        <m:e>
                          <m:r>
                            <a:rPr lang="en-US" sz="2000" b="0" i="1" smtClean="0">
                              <a:latin typeface="Cambria Math" panose="02040503050406030204" pitchFamily="18" charset="0"/>
                            </a:rPr>
                            <m:t>𝑃</m:t>
                          </m:r>
                          <m:d>
                            <m:dPr>
                              <m:ctrlPr>
                                <a:rPr lang="en-US" sz="2000" i="1">
                                  <a:latin typeface="Cambria Math" panose="02040503050406030204" pitchFamily="18" charset="0"/>
                                </a:rPr>
                              </m:ctrlPr>
                            </m:dPr>
                            <m:e>
                              <m:r>
                                <a:rPr lang="en-US" sz="2000" b="0" i="1" smtClean="0">
                                  <a:latin typeface="Cambria Math" panose="02040503050406030204" pitchFamily="18" charset="0"/>
                                </a:rPr>
                                <m:t>𝑄</m:t>
                              </m:r>
                              <m:r>
                                <a:rPr lang="en-US" sz="2000" i="1">
                                  <a:latin typeface="Cambria Math" panose="02040503050406030204" pitchFamily="18" charset="0"/>
                                </a:rPr>
                                <m:t>,</m:t>
                              </m:r>
                              <m:r>
                                <a:rPr lang="en-US" sz="2000" b="0" i="1" smtClean="0">
                                  <a:latin typeface="Cambria Math" panose="02040503050406030204" pitchFamily="18" charset="0"/>
                                </a:rPr>
                                <m:t>𝑥</m:t>
                              </m:r>
                            </m:e>
                          </m:d>
                          <m:r>
                            <a:rPr lang="en-US" sz="2000" i="1">
                              <a:latin typeface="Cambria Math" panose="02040503050406030204" pitchFamily="18" charset="0"/>
                            </a:rPr>
                            <m:t>  </m:t>
                          </m:r>
                          <m:r>
                            <a:rPr lang="en-US" sz="2000" i="1">
                              <a:latin typeface="Cambria Math" panose="02040503050406030204" pitchFamily="18" charset="0"/>
                            </a:rPr>
                            <m:t>𝑠</m:t>
                          </m:r>
                          <m:r>
                            <a:rPr lang="en-US" sz="2000" i="1">
                              <a:latin typeface="Cambria Math" panose="02040503050406030204" pitchFamily="18" charset="0"/>
                            </a:rPr>
                            <m:t>.</m:t>
                          </m:r>
                          <m:r>
                            <a:rPr lang="en-US" sz="2000" i="1">
                              <a:latin typeface="Cambria Math" panose="02040503050406030204" pitchFamily="18" charset="0"/>
                            </a:rPr>
                            <m:t>𝑡</m:t>
                          </m:r>
                          <m:r>
                            <a:rPr lang="en-US" sz="2000" i="1">
                              <a:latin typeface="Cambria Math" panose="02040503050406030204" pitchFamily="18" charset="0"/>
                            </a:rPr>
                            <m:t>.  </m:t>
                          </m:r>
                          <m:r>
                            <a:rPr lang="en-US" sz="2000" b="0" i="1" smtClean="0">
                              <a:latin typeface="Cambria Math" panose="02040503050406030204" pitchFamily="18" charset="0"/>
                            </a:rPr>
                            <m:t>𝑄</m:t>
                          </m:r>
                          <m:r>
                            <a:rPr lang="en-US" sz="2000" b="0" i="1" smtClean="0">
                              <a:latin typeface="Cambria Math" panose="02040503050406030204" pitchFamily="18" charset="0"/>
                            </a:rPr>
                            <m:t>≥0</m:t>
                          </m:r>
                        </m:e>
                      </m:func>
                    </m:oMath>
                  </m:oMathPara>
                </a14:m>
                <a:endParaRPr lang="en-US" sz="2000" dirty="0"/>
              </a:p>
            </p:txBody>
          </p:sp>
        </mc:Choice>
        <mc:Fallback xmlns="">
          <p:sp>
            <p:nvSpPr>
              <p:cNvPr id="4" name="Rectangle 3">
                <a:extLst>
                  <a:ext uri="{FF2B5EF4-FFF2-40B4-BE49-F238E27FC236}">
                    <a16:creationId xmlns:a16="http://schemas.microsoft.com/office/drawing/2014/main" id="{A4D79233-8335-4A02-87EF-D2EDF234B71A}"/>
                  </a:ext>
                </a:extLst>
              </p:cNvPr>
              <p:cNvSpPr>
                <a:spLocks noRot="1" noChangeAspect="1" noMove="1" noResize="1" noEditPoints="1" noAdjustHandles="1" noChangeArrowheads="1" noChangeShapeType="1" noTextEdit="1"/>
              </p:cNvSpPr>
              <p:nvPr/>
            </p:nvSpPr>
            <p:spPr>
              <a:xfrm>
                <a:off x="3289387" y="2115312"/>
                <a:ext cx="2962221" cy="400110"/>
              </a:xfrm>
              <a:prstGeom prst="rect">
                <a:avLst/>
              </a:prstGeom>
              <a:blipFill>
                <a:blip r:embed="rId4"/>
                <a:stretch>
                  <a:fillRect b="-5882"/>
                </a:stretch>
              </a:blipFill>
              <a:ln>
                <a:solidFill>
                  <a:srgbClr val="C00000"/>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Rectangle 4">
                <a:extLst>
                  <a:ext uri="{FF2B5EF4-FFF2-40B4-BE49-F238E27FC236}">
                    <a16:creationId xmlns:a16="http://schemas.microsoft.com/office/drawing/2014/main" id="{7A2D4003-B85A-47F3-8E76-C8432F23BF38}"/>
                  </a:ext>
                </a:extLst>
              </p:cNvPr>
              <p:cNvSpPr/>
              <p:nvPr/>
            </p:nvSpPr>
            <p:spPr>
              <a:xfrm>
                <a:off x="3289386" y="3162884"/>
                <a:ext cx="3312061" cy="400110"/>
              </a:xfrm>
              <a:prstGeom prst="rect">
                <a:avLst/>
              </a:prstGeom>
              <a:ln>
                <a:solidFill>
                  <a:srgbClr val="C00000"/>
                </a:solidFill>
              </a:ln>
            </p:spPr>
            <p:txBody>
              <a:bodyPr wrap="none">
                <a:spAutoFit/>
              </a:bodyPr>
              <a:lstStyle/>
              <a:p>
                <a:pPr/>
                <a14:m>
                  <m:oMathPara xmlns:m="http://schemas.openxmlformats.org/officeDocument/2006/math">
                    <m:oMathParaPr>
                      <m:jc m:val="centerGroup"/>
                    </m:oMathParaPr>
                    <m:oMath xmlns:m="http://schemas.openxmlformats.org/officeDocument/2006/math">
                      <m:func>
                        <m:funcPr>
                          <m:ctrlPr>
                            <a:rPr lang="en-US" sz="2000" i="1" smtClean="0">
                              <a:latin typeface="Cambria Math" panose="02040503050406030204" pitchFamily="18" charset="0"/>
                            </a:rPr>
                          </m:ctrlPr>
                        </m:funcPr>
                        <m:fName>
                          <m:r>
                            <m:rPr>
                              <m:sty m:val="p"/>
                            </m:rPr>
                            <a:rPr lang="en-US" sz="2000">
                              <a:latin typeface="Cambria Math" panose="02040503050406030204" pitchFamily="18" charset="0"/>
                            </a:rPr>
                            <m:t>m</m:t>
                          </m:r>
                          <m:r>
                            <m:rPr>
                              <m:sty m:val="p"/>
                            </m:rPr>
                            <a:rPr lang="en-US" sz="2000" b="0" i="0" smtClean="0">
                              <a:latin typeface="Cambria Math" panose="02040503050406030204" pitchFamily="18" charset="0"/>
                            </a:rPr>
                            <m:t>ax</m:t>
                          </m:r>
                          <m:r>
                            <a:rPr lang="en-US" sz="2000">
                              <a:latin typeface="Cambria Math" panose="02040503050406030204" pitchFamily="18" charset="0"/>
                            </a:rPr>
                            <m:t>   </m:t>
                          </m:r>
                        </m:fName>
                        <m:e>
                          <m:r>
                            <a:rPr lang="en-US" sz="2000" b="0" i="1" smtClean="0">
                              <a:latin typeface="Cambria Math" panose="02040503050406030204" pitchFamily="18" charset="0"/>
                            </a:rPr>
                            <m:t>𝑃</m:t>
                          </m:r>
                          <m:d>
                            <m:dPr>
                              <m:ctrlPr>
                                <a:rPr lang="en-US" sz="2000" i="1">
                                  <a:latin typeface="Cambria Math" panose="02040503050406030204" pitchFamily="18" charset="0"/>
                                </a:rPr>
                              </m:ctrlPr>
                            </m:dPr>
                            <m:e>
                              <m:r>
                                <a:rPr lang="en-US" sz="2000" b="0" i="1" smtClean="0">
                                  <a:latin typeface="Cambria Math" panose="02040503050406030204" pitchFamily="18" charset="0"/>
                                </a:rPr>
                                <m:t>𝑄</m:t>
                              </m:r>
                              <m:r>
                                <a:rPr lang="en-US" sz="2000" i="1">
                                  <a:latin typeface="Cambria Math" panose="02040503050406030204" pitchFamily="18" charset="0"/>
                                </a:rPr>
                                <m:t>,</m:t>
                              </m:r>
                              <m:r>
                                <a:rPr lang="en-US" sz="2000" b="0" i="1" smtClean="0">
                                  <a:latin typeface="Cambria Math" panose="02040503050406030204" pitchFamily="18" charset="0"/>
                                </a:rPr>
                                <m:t>𝐸</m:t>
                              </m:r>
                              <m:r>
                                <a:rPr lang="en-US" sz="2000" b="0" i="1" smtClean="0">
                                  <a:latin typeface="Cambria Math" panose="02040503050406030204" pitchFamily="18" charset="0"/>
                                </a:rPr>
                                <m:t>[</m:t>
                              </m:r>
                              <m:r>
                                <a:rPr lang="en-US" sz="2000" b="0" i="1" smtClean="0">
                                  <a:latin typeface="Cambria Math" panose="02040503050406030204" pitchFamily="18" charset="0"/>
                                </a:rPr>
                                <m:t>𝑥</m:t>
                              </m:r>
                              <m:r>
                                <a:rPr lang="en-US" sz="2000" b="0" i="1" smtClean="0">
                                  <a:latin typeface="Cambria Math" panose="02040503050406030204" pitchFamily="18" charset="0"/>
                                </a:rPr>
                                <m:t>]</m:t>
                              </m:r>
                            </m:e>
                          </m:d>
                          <m:r>
                            <a:rPr lang="en-US" sz="2000" i="1">
                              <a:latin typeface="Cambria Math" panose="02040503050406030204" pitchFamily="18" charset="0"/>
                            </a:rPr>
                            <m:t>  </m:t>
                          </m:r>
                          <m:r>
                            <a:rPr lang="en-US" sz="2000" i="1">
                              <a:latin typeface="Cambria Math" panose="02040503050406030204" pitchFamily="18" charset="0"/>
                            </a:rPr>
                            <m:t>𝑠</m:t>
                          </m:r>
                          <m:r>
                            <a:rPr lang="en-US" sz="2000" i="1">
                              <a:latin typeface="Cambria Math" panose="02040503050406030204" pitchFamily="18" charset="0"/>
                            </a:rPr>
                            <m:t>.</m:t>
                          </m:r>
                          <m:r>
                            <a:rPr lang="en-US" sz="2000" i="1">
                              <a:latin typeface="Cambria Math" panose="02040503050406030204" pitchFamily="18" charset="0"/>
                            </a:rPr>
                            <m:t>𝑡</m:t>
                          </m:r>
                          <m:r>
                            <a:rPr lang="en-US" sz="2000" i="1">
                              <a:latin typeface="Cambria Math" panose="02040503050406030204" pitchFamily="18" charset="0"/>
                            </a:rPr>
                            <m:t>.  </m:t>
                          </m:r>
                          <m:r>
                            <a:rPr lang="en-US" sz="2000" b="0" i="1" smtClean="0">
                              <a:latin typeface="Cambria Math" panose="02040503050406030204" pitchFamily="18" charset="0"/>
                            </a:rPr>
                            <m:t>𝑄</m:t>
                          </m:r>
                          <m:r>
                            <a:rPr lang="en-US" sz="2000" b="0" i="1" smtClean="0">
                              <a:latin typeface="Cambria Math" panose="02040503050406030204" pitchFamily="18" charset="0"/>
                            </a:rPr>
                            <m:t>≥0</m:t>
                          </m:r>
                        </m:e>
                      </m:func>
                    </m:oMath>
                  </m:oMathPara>
                </a14:m>
                <a:endParaRPr lang="en-US" sz="2000" dirty="0"/>
              </a:p>
            </p:txBody>
          </p:sp>
        </mc:Choice>
        <mc:Fallback xmlns="">
          <p:sp>
            <p:nvSpPr>
              <p:cNvPr id="5" name="Rectangle 4">
                <a:extLst>
                  <a:ext uri="{FF2B5EF4-FFF2-40B4-BE49-F238E27FC236}">
                    <a16:creationId xmlns:a16="http://schemas.microsoft.com/office/drawing/2014/main" id="{7A2D4003-B85A-47F3-8E76-C8432F23BF38}"/>
                  </a:ext>
                </a:extLst>
              </p:cNvPr>
              <p:cNvSpPr>
                <a:spLocks noRot="1" noChangeAspect="1" noMove="1" noResize="1" noEditPoints="1" noAdjustHandles="1" noChangeArrowheads="1" noChangeShapeType="1" noTextEdit="1"/>
              </p:cNvSpPr>
              <p:nvPr/>
            </p:nvSpPr>
            <p:spPr>
              <a:xfrm>
                <a:off x="3289386" y="3162884"/>
                <a:ext cx="3312061" cy="400110"/>
              </a:xfrm>
              <a:prstGeom prst="rect">
                <a:avLst/>
              </a:prstGeom>
              <a:blipFill>
                <a:blip r:embed="rId5"/>
                <a:stretch>
                  <a:fillRect b="-13433"/>
                </a:stretch>
              </a:blipFill>
              <a:ln>
                <a:solidFill>
                  <a:srgbClr val="C00000"/>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Rectangle 5">
                <a:extLst>
                  <a:ext uri="{FF2B5EF4-FFF2-40B4-BE49-F238E27FC236}">
                    <a16:creationId xmlns:a16="http://schemas.microsoft.com/office/drawing/2014/main" id="{C932D4A6-DA1F-4C88-9008-F410A50A9AC2}"/>
                  </a:ext>
                </a:extLst>
              </p:cNvPr>
              <p:cNvSpPr/>
              <p:nvPr/>
            </p:nvSpPr>
            <p:spPr>
              <a:xfrm>
                <a:off x="3289386" y="4315276"/>
                <a:ext cx="3312061" cy="400110"/>
              </a:xfrm>
              <a:prstGeom prst="rect">
                <a:avLst/>
              </a:prstGeom>
              <a:ln>
                <a:solidFill>
                  <a:srgbClr val="C00000"/>
                </a:solidFill>
              </a:ln>
            </p:spPr>
            <p:txBody>
              <a:bodyPr wrap="none">
                <a:spAutoFit/>
              </a:bodyPr>
              <a:lstStyle/>
              <a:p>
                <a:pPr/>
                <a14:m>
                  <m:oMathPara xmlns:m="http://schemas.openxmlformats.org/officeDocument/2006/math">
                    <m:oMathParaPr>
                      <m:jc m:val="centerGroup"/>
                    </m:oMathParaPr>
                    <m:oMath xmlns:m="http://schemas.openxmlformats.org/officeDocument/2006/math">
                      <m:func>
                        <m:funcPr>
                          <m:ctrlPr>
                            <a:rPr lang="en-US" sz="2000" i="1" smtClean="0">
                              <a:latin typeface="Cambria Math" panose="02040503050406030204" pitchFamily="18" charset="0"/>
                            </a:rPr>
                          </m:ctrlPr>
                        </m:funcPr>
                        <m:fName>
                          <m:r>
                            <m:rPr>
                              <m:sty m:val="p"/>
                            </m:rPr>
                            <a:rPr lang="en-US" sz="2000">
                              <a:latin typeface="Cambria Math" panose="02040503050406030204" pitchFamily="18" charset="0"/>
                            </a:rPr>
                            <m:t>m</m:t>
                          </m:r>
                          <m:r>
                            <m:rPr>
                              <m:sty m:val="p"/>
                            </m:rPr>
                            <a:rPr lang="en-US" sz="2000" b="0" i="0" smtClean="0">
                              <a:latin typeface="Cambria Math" panose="02040503050406030204" pitchFamily="18" charset="0"/>
                            </a:rPr>
                            <m:t>ax</m:t>
                          </m:r>
                          <m:r>
                            <a:rPr lang="en-US" sz="2000">
                              <a:latin typeface="Cambria Math" panose="02040503050406030204" pitchFamily="18" charset="0"/>
                            </a:rPr>
                            <m:t>   </m:t>
                          </m:r>
                        </m:fName>
                        <m:e>
                          <m:r>
                            <a:rPr lang="en-US" sz="2000" b="0" i="1" smtClean="0">
                              <a:latin typeface="Cambria Math" panose="02040503050406030204" pitchFamily="18" charset="0"/>
                            </a:rPr>
                            <m:t>𝐸</m:t>
                          </m:r>
                          <m:r>
                            <a:rPr lang="en-US" sz="2000" b="0" i="1" smtClean="0">
                              <a:latin typeface="Cambria Math" panose="02040503050406030204" pitchFamily="18" charset="0"/>
                            </a:rPr>
                            <m:t>[</m:t>
                          </m:r>
                          <m:r>
                            <a:rPr lang="en-US" sz="2000" b="0" i="1" smtClean="0">
                              <a:latin typeface="Cambria Math" panose="02040503050406030204" pitchFamily="18" charset="0"/>
                            </a:rPr>
                            <m:t>𝑃</m:t>
                          </m:r>
                          <m:d>
                            <m:dPr>
                              <m:ctrlPr>
                                <a:rPr lang="en-US" sz="2000" i="1">
                                  <a:latin typeface="Cambria Math" panose="02040503050406030204" pitchFamily="18" charset="0"/>
                                </a:rPr>
                              </m:ctrlPr>
                            </m:dPr>
                            <m:e>
                              <m:r>
                                <a:rPr lang="en-US" sz="2000" b="0" i="1" smtClean="0">
                                  <a:latin typeface="Cambria Math" panose="02040503050406030204" pitchFamily="18" charset="0"/>
                                </a:rPr>
                                <m:t>𝑄</m:t>
                              </m:r>
                              <m:r>
                                <a:rPr lang="en-US" sz="2000" i="1">
                                  <a:latin typeface="Cambria Math" panose="02040503050406030204" pitchFamily="18" charset="0"/>
                                </a:rPr>
                                <m:t>,</m:t>
                              </m:r>
                              <m:r>
                                <a:rPr lang="en-US" sz="2000" b="0" i="1" smtClean="0">
                                  <a:latin typeface="Cambria Math" panose="02040503050406030204" pitchFamily="18" charset="0"/>
                                </a:rPr>
                                <m:t>𝑥</m:t>
                              </m:r>
                            </m:e>
                          </m:d>
                          <m:r>
                            <a:rPr lang="en-US" sz="2000" b="0" i="1" smtClean="0">
                              <a:latin typeface="Cambria Math" panose="02040503050406030204" pitchFamily="18" charset="0"/>
                            </a:rPr>
                            <m:t>]</m:t>
                          </m:r>
                          <m:r>
                            <a:rPr lang="en-US" sz="2000" i="1">
                              <a:latin typeface="Cambria Math" panose="02040503050406030204" pitchFamily="18" charset="0"/>
                            </a:rPr>
                            <m:t>  </m:t>
                          </m:r>
                          <m:r>
                            <a:rPr lang="en-US" sz="2000" i="1">
                              <a:latin typeface="Cambria Math" panose="02040503050406030204" pitchFamily="18" charset="0"/>
                            </a:rPr>
                            <m:t>𝑠</m:t>
                          </m:r>
                          <m:r>
                            <a:rPr lang="en-US" sz="2000" i="1">
                              <a:latin typeface="Cambria Math" panose="02040503050406030204" pitchFamily="18" charset="0"/>
                            </a:rPr>
                            <m:t>.</m:t>
                          </m:r>
                          <m:r>
                            <a:rPr lang="en-US" sz="2000" i="1">
                              <a:latin typeface="Cambria Math" panose="02040503050406030204" pitchFamily="18" charset="0"/>
                            </a:rPr>
                            <m:t>𝑡</m:t>
                          </m:r>
                          <m:r>
                            <a:rPr lang="en-US" sz="2000" i="1">
                              <a:latin typeface="Cambria Math" panose="02040503050406030204" pitchFamily="18" charset="0"/>
                            </a:rPr>
                            <m:t>.  </m:t>
                          </m:r>
                          <m:r>
                            <a:rPr lang="en-US" sz="2000" b="0" i="1" smtClean="0">
                              <a:latin typeface="Cambria Math" panose="02040503050406030204" pitchFamily="18" charset="0"/>
                            </a:rPr>
                            <m:t>𝑄</m:t>
                          </m:r>
                          <m:r>
                            <a:rPr lang="en-US" sz="2000" b="0" i="1" smtClean="0">
                              <a:latin typeface="Cambria Math" panose="02040503050406030204" pitchFamily="18" charset="0"/>
                            </a:rPr>
                            <m:t>≥0</m:t>
                          </m:r>
                        </m:e>
                      </m:func>
                    </m:oMath>
                  </m:oMathPara>
                </a14:m>
                <a:endParaRPr lang="en-US" sz="2000" dirty="0"/>
              </a:p>
            </p:txBody>
          </p:sp>
        </mc:Choice>
        <mc:Fallback xmlns="">
          <p:sp>
            <p:nvSpPr>
              <p:cNvPr id="6" name="Rectangle 5">
                <a:extLst>
                  <a:ext uri="{FF2B5EF4-FFF2-40B4-BE49-F238E27FC236}">
                    <a16:creationId xmlns:a16="http://schemas.microsoft.com/office/drawing/2014/main" id="{C932D4A6-DA1F-4C88-9008-F410A50A9AC2}"/>
                  </a:ext>
                </a:extLst>
              </p:cNvPr>
              <p:cNvSpPr>
                <a:spLocks noRot="1" noChangeAspect="1" noMove="1" noResize="1" noEditPoints="1" noAdjustHandles="1" noChangeArrowheads="1" noChangeShapeType="1" noTextEdit="1"/>
              </p:cNvSpPr>
              <p:nvPr/>
            </p:nvSpPr>
            <p:spPr>
              <a:xfrm>
                <a:off x="3289386" y="4315276"/>
                <a:ext cx="3312061" cy="400110"/>
              </a:xfrm>
              <a:prstGeom prst="rect">
                <a:avLst/>
              </a:prstGeom>
              <a:blipFill>
                <a:blip r:embed="rId6"/>
                <a:stretch>
                  <a:fillRect b="-11765"/>
                </a:stretch>
              </a:blipFill>
              <a:ln>
                <a:solidFill>
                  <a:srgbClr val="C00000"/>
                </a:solidFill>
              </a:ln>
            </p:spPr>
            <p:txBody>
              <a:bodyPr/>
              <a:lstStyle/>
              <a:p>
                <a:r>
                  <a:rPr lang="en-US">
                    <a:noFill/>
                  </a:rPr>
                  <a:t> </a:t>
                </a:r>
              </a:p>
            </p:txBody>
          </p:sp>
        </mc:Fallback>
      </mc:AlternateContent>
    </p:spTree>
    <p:extLst>
      <p:ext uri="{BB962C8B-B14F-4D97-AF65-F5344CB8AC3E}">
        <p14:creationId xmlns:p14="http://schemas.microsoft.com/office/powerpoint/2010/main" val="20167354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6"/>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3">
                                            <p:txEl>
                                              <p:pRg st="11" end="11"/>
                                            </p:txEl>
                                          </p:spTgt>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3">
                                            <p:txEl>
                                              <p:pRg st="12" end="12"/>
                                            </p:txEl>
                                          </p:spTgt>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3">
                                            <p:txEl>
                                              <p:pRg st="13" end="1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Robust Optimization</a:t>
            </a:r>
          </a:p>
        </p:txBody>
      </p:sp>
      <p:sp>
        <p:nvSpPr>
          <p:cNvPr id="3" name="Content Placeholder 2"/>
          <p:cNvSpPr>
            <a:spLocks noGrp="1"/>
          </p:cNvSpPr>
          <p:nvPr>
            <p:ph idx="1"/>
          </p:nvPr>
        </p:nvSpPr>
        <p:spPr>
          <a:xfrm>
            <a:off x="355002" y="1312432"/>
            <a:ext cx="11478410" cy="5382657"/>
          </a:xfrm>
        </p:spPr>
        <p:txBody>
          <a:bodyPr>
            <a:normAutofit/>
          </a:bodyPr>
          <a:lstStyle/>
          <a:p>
            <a:r>
              <a:rPr lang="en-US" b="1" u="sng" dirty="0"/>
              <a:t>Example: Newsvendor Problem</a:t>
            </a:r>
          </a:p>
          <a:p>
            <a:pPr lvl="1"/>
            <a:r>
              <a:rPr lang="en-US" dirty="0">
                <a:solidFill>
                  <a:schemeClr val="tx1"/>
                </a:solidFill>
              </a:rPr>
              <a:t>Worst-case approach (maximin!)</a:t>
            </a:r>
          </a:p>
          <a:p>
            <a:pPr lvl="2"/>
            <a:endParaRPr lang="en-US" dirty="0"/>
          </a:p>
          <a:p>
            <a:pPr lvl="1"/>
            <a:endParaRPr lang="en-US" dirty="0"/>
          </a:p>
          <a:p>
            <a:pPr>
              <a:spcAft>
                <a:spcPts val="1200"/>
              </a:spcAft>
            </a:pPr>
            <a:r>
              <a:rPr lang="en-US" dirty="0"/>
              <a:t>A generic linear programming model</a:t>
            </a:r>
          </a:p>
          <a:p>
            <a:pPr lvl="1"/>
            <a:r>
              <a:rPr lang="en-US" dirty="0"/>
              <a:t>Deterministic model:</a:t>
            </a:r>
          </a:p>
          <a:p>
            <a:pPr lvl="1"/>
            <a:endParaRPr lang="en-US" dirty="0"/>
          </a:p>
          <a:p>
            <a:pPr lvl="1"/>
            <a:r>
              <a:rPr lang="en-US" dirty="0"/>
              <a:t>Uncertain model: </a:t>
            </a:r>
          </a:p>
          <a:p>
            <a:pPr lvl="1"/>
            <a:endParaRPr lang="en-US" dirty="0"/>
          </a:p>
          <a:p>
            <a:pPr lvl="1"/>
            <a:r>
              <a:rPr lang="en-US" dirty="0"/>
              <a:t>Robust counterpart:</a:t>
            </a:r>
          </a:p>
          <a:p>
            <a:pPr lvl="2"/>
            <a:endParaRPr lang="en-US" dirty="0"/>
          </a:p>
          <a:p>
            <a:pPr lvl="3"/>
            <a:r>
              <a:rPr lang="en-US" dirty="0"/>
              <a:t>How about we take the dual of the inner problem?</a:t>
            </a:r>
          </a:p>
          <a:p>
            <a:pPr lvl="3"/>
            <a:r>
              <a:rPr lang="en-US" dirty="0"/>
              <a:t>Then, we will have </a:t>
            </a:r>
            <a:r>
              <a:rPr lang="en-US" dirty="0" err="1"/>
              <a:t>minmin</a:t>
            </a:r>
            <a:r>
              <a:rPr lang="en-US" dirty="0"/>
              <a:t> </a:t>
            </a:r>
            <a:r>
              <a:rPr lang="en-US" dirty="0">
                <a:sym typeface="Wingdings" panose="05000000000000000000" pitchFamily="2" charset="2"/>
              </a:rPr>
              <a:t> which can be expressed as min only!</a:t>
            </a:r>
            <a:endParaRPr lang="en-US" sz="2400" b="1" dirty="0"/>
          </a:p>
          <a:p>
            <a:pPr lvl="1"/>
            <a:endParaRPr lang="en-US" dirty="0"/>
          </a:p>
          <a:p>
            <a:pPr lvl="1"/>
            <a:endParaRPr lang="en-US" dirty="0"/>
          </a:p>
        </p:txBody>
      </p:sp>
      <mc:AlternateContent xmlns:mc="http://schemas.openxmlformats.org/markup-compatibility/2006" xmlns:a14="http://schemas.microsoft.com/office/drawing/2010/main">
        <mc:Choice Requires="a14">
          <p:sp>
            <p:nvSpPr>
              <p:cNvPr id="7" name="Rectangle 6">
                <a:extLst>
                  <a:ext uri="{FF2B5EF4-FFF2-40B4-BE49-F238E27FC236}">
                    <a16:creationId xmlns:a16="http://schemas.microsoft.com/office/drawing/2014/main" id="{37185A89-AC47-4A58-A883-070F14F9BFBE}"/>
                  </a:ext>
                </a:extLst>
              </p:cNvPr>
              <p:cNvSpPr/>
              <p:nvPr/>
            </p:nvSpPr>
            <p:spPr>
              <a:xfrm>
                <a:off x="2816947" y="2201672"/>
                <a:ext cx="2769412" cy="553357"/>
              </a:xfrm>
              <a:prstGeom prst="rect">
                <a:avLst/>
              </a:prstGeom>
              <a:ln>
                <a:solidFill>
                  <a:srgbClr val="C00000"/>
                </a:solidFill>
              </a:ln>
            </p:spPr>
            <p:txBody>
              <a:bodyPr wrap="none">
                <a:spAutoFit/>
              </a:bodyPr>
              <a:lstStyle/>
              <a:p>
                <a:pPr/>
                <a14:m>
                  <m:oMathPara xmlns:m="http://schemas.openxmlformats.org/officeDocument/2006/math">
                    <m:oMathParaPr>
                      <m:jc m:val="centerGroup"/>
                    </m:oMathParaPr>
                    <m:oMath xmlns:m="http://schemas.openxmlformats.org/officeDocument/2006/math">
                      <m:func>
                        <m:funcPr>
                          <m:ctrlPr>
                            <a:rPr lang="en-US" sz="2000" i="1" smtClean="0">
                              <a:latin typeface="Cambria Math" panose="02040503050406030204" pitchFamily="18" charset="0"/>
                            </a:rPr>
                          </m:ctrlPr>
                        </m:funcPr>
                        <m:fName>
                          <m:limLow>
                            <m:limLowPr>
                              <m:ctrlPr>
                                <a:rPr lang="en-US" sz="2000" b="0" i="1" smtClean="0">
                                  <a:latin typeface="Cambria Math" panose="02040503050406030204" pitchFamily="18" charset="0"/>
                                </a:rPr>
                              </m:ctrlPr>
                            </m:limLowPr>
                            <m:e>
                              <m:r>
                                <m:rPr>
                                  <m:sty m:val="p"/>
                                </m:rPr>
                                <a:rPr lang="en-US" sz="2000">
                                  <a:latin typeface="Cambria Math" panose="02040503050406030204" pitchFamily="18" charset="0"/>
                                </a:rPr>
                                <m:t>m</m:t>
                              </m:r>
                              <m:r>
                                <m:rPr>
                                  <m:sty m:val="p"/>
                                </m:rPr>
                                <a:rPr lang="en-US" sz="2000" b="0" i="0" smtClean="0">
                                  <a:latin typeface="Cambria Math" panose="02040503050406030204" pitchFamily="18" charset="0"/>
                                </a:rPr>
                                <m:t>ax</m:t>
                              </m:r>
                            </m:e>
                            <m:lim>
                              <m:r>
                                <m:rPr>
                                  <m:sty m:val="p"/>
                                </m:rPr>
                                <a:rPr lang="en-US" sz="2000" b="0" i="0" smtClean="0">
                                  <a:latin typeface="Cambria Math" panose="02040503050406030204" pitchFamily="18" charset="0"/>
                                </a:rPr>
                                <m:t>Q</m:t>
                              </m:r>
                              <m:r>
                                <a:rPr lang="en-US" sz="2000" b="0" i="0" smtClean="0">
                                  <a:latin typeface="Cambria Math" panose="02040503050406030204" pitchFamily="18" charset="0"/>
                                </a:rPr>
                                <m:t>≥0</m:t>
                              </m:r>
                            </m:lim>
                          </m:limLow>
                          <m:r>
                            <a:rPr lang="en-US" sz="2000">
                              <a:latin typeface="Cambria Math" panose="02040503050406030204" pitchFamily="18" charset="0"/>
                            </a:rPr>
                            <m:t>   </m:t>
                          </m:r>
                        </m:fName>
                        <m:e>
                          <m:func>
                            <m:funcPr>
                              <m:ctrlPr>
                                <a:rPr lang="en-US" sz="2000" b="0" i="1" smtClean="0">
                                  <a:latin typeface="Cambria Math" panose="02040503050406030204" pitchFamily="18" charset="0"/>
                                </a:rPr>
                              </m:ctrlPr>
                            </m:funcPr>
                            <m:fName>
                              <m:limLow>
                                <m:limLowPr>
                                  <m:ctrlPr>
                                    <a:rPr lang="en-US" sz="2000" b="0" i="1" smtClean="0">
                                      <a:latin typeface="Cambria Math" panose="02040503050406030204" pitchFamily="18" charset="0"/>
                                    </a:rPr>
                                  </m:ctrlPr>
                                </m:limLowPr>
                                <m:e>
                                  <m:r>
                                    <m:rPr>
                                      <m:sty m:val="p"/>
                                    </m:rPr>
                                    <a:rPr lang="en-US" sz="2000" b="0" i="0" smtClean="0">
                                      <a:latin typeface="Cambria Math" panose="02040503050406030204" pitchFamily="18" charset="0"/>
                                    </a:rPr>
                                    <m:t>min</m:t>
                                  </m:r>
                                </m:e>
                                <m:lim>
                                  <m:r>
                                    <a:rPr lang="en-US" sz="2000" b="0" i="1" smtClean="0">
                                      <a:latin typeface="Cambria Math" panose="02040503050406030204" pitchFamily="18" charset="0"/>
                                    </a:rPr>
                                    <m:t>𝑥</m:t>
                                  </m:r>
                                  <m:r>
                                    <a:rPr lang="en-US" sz="2000" b="0" i="1" smtClean="0">
                                      <a:latin typeface="Cambria Math" panose="02040503050406030204" pitchFamily="18" charset="0"/>
                                    </a:rPr>
                                    <m:t>∈[</m:t>
                                  </m:r>
                                  <m:sSup>
                                    <m:sSupPr>
                                      <m:ctrlPr>
                                        <a:rPr lang="en-US" sz="2000" b="0" i="1" smtClean="0">
                                          <a:latin typeface="Cambria Math" panose="02040503050406030204" pitchFamily="18" charset="0"/>
                                        </a:rPr>
                                      </m:ctrlPr>
                                    </m:sSupPr>
                                    <m:e>
                                      <m:r>
                                        <a:rPr lang="en-US" sz="2000" b="0" i="1" smtClean="0">
                                          <a:latin typeface="Cambria Math" panose="02040503050406030204" pitchFamily="18" charset="0"/>
                                        </a:rPr>
                                        <m:t>𝐷</m:t>
                                      </m:r>
                                    </m:e>
                                    <m:sup>
                                      <m:r>
                                        <a:rPr lang="en-US" sz="2000" b="0" i="1" smtClean="0">
                                          <a:latin typeface="Cambria Math" panose="02040503050406030204" pitchFamily="18" charset="0"/>
                                        </a:rPr>
                                        <m:t>𝐿</m:t>
                                      </m:r>
                                    </m:sup>
                                  </m:sSup>
                                  <m:r>
                                    <a:rPr lang="en-US" sz="2000" b="0" i="1" smtClean="0">
                                      <a:latin typeface="Cambria Math" panose="02040503050406030204" pitchFamily="18" charset="0"/>
                                    </a:rPr>
                                    <m:t>,</m:t>
                                  </m:r>
                                  <m:sSup>
                                    <m:sSupPr>
                                      <m:ctrlPr>
                                        <a:rPr lang="en-US" sz="2000" b="0" i="1" smtClean="0">
                                          <a:latin typeface="Cambria Math" panose="02040503050406030204" pitchFamily="18" charset="0"/>
                                        </a:rPr>
                                      </m:ctrlPr>
                                    </m:sSupPr>
                                    <m:e>
                                      <m:r>
                                        <a:rPr lang="en-US" sz="2000" b="0" i="1" smtClean="0">
                                          <a:latin typeface="Cambria Math" panose="02040503050406030204" pitchFamily="18" charset="0"/>
                                        </a:rPr>
                                        <m:t>𝐷</m:t>
                                      </m:r>
                                    </m:e>
                                    <m:sup>
                                      <m:r>
                                        <a:rPr lang="en-US" sz="2000" b="0" i="1" smtClean="0">
                                          <a:latin typeface="Cambria Math" panose="02040503050406030204" pitchFamily="18" charset="0"/>
                                        </a:rPr>
                                        <m:t>𝑈</m:t>
                                      </m:r>
                                    </m:sup>
                                  </m:sSup>
                                  <m:r>
                                    <a:rPr lang="en-US" sz="2000" b="0" i="1" smtClean="0">
                                      <a:latin typeface="Cambria Math" panose="02040503050406030204" pitchFamily="18" charset="0"/>
                                    </a:rPr>
                                    <m:t>]</m:t>
                                  </m:r>
                                </m:lim>
                              </m:limLow>
                            </m:fName>
                            <m:e>
                              <m:r>
                                <a:rPr lang="en-US" sz="2000" b="0" i="1" smtClean="0">
                                  <a:latin typeface="Cambria Math" panose="02040503050406030204" pitchFamily="18" charset="0"/>
                                </a:rPr>
                                <m:t> </m:t>
                              </m:r>
                            </m:e>
                          </m:func>
                          <m:r>
                            <a:rPr lang="en-US" sz="2000" b="0" i="1" smtClean="0">
                              <a:latin typeface="Cambria Math" panose="02040503050406030204" pitchFamily="18" charset="0"/>
                            </a:rPr>
                            <m:t>𝑃</m:t>
                          </m:r>
                          <m:d>
                            <m:dPr>
                              <m:ctrlPr>
                                <a:rPr lang="en-US" sz="2000" i="1">
                                  <a:latin typeface="Cambria Math" panose="02040503050406030204" pitchFamily="18" charset="0"/>
                                </a:rPr>
                              </m:ctrlPr>
                            </m:dPr>
                            <m:e>
                              <m:r>
                                <a:rPr lang="en-US" sz="2000" b="0" i="1" smtClean="0">
                                  <a:latin typeface="Cambria Math" panose="02040503050406030204" pitchFamily="18" charset="0"/>
                                </a:rPr>
                                <m:t>𝑄</m:t>
                              </m:r>
                              <m:r>
                                <a:rPr lang="en-US" sz="2000" i="1">
                                  <a:latin typeface="Cambria Math" panose="02040503050406030204" pitchFamily="18" charset="0"/>
                                </a:rPr>
                                <m:t>,</m:t>
                              </m:r>
                              <m:r>
                                <a:rPr lang="en-US" sz="2000" b="0" i="1" smtClean="0">
                                  <a:latin typeface="Cambria Math" panose="02040503050406030204" pitchFamily="18" charset="0"/>
                                </a:rPr>
                                <m:t>𝑥</m:t>
                              </m:r>
                            </m:e>
                          </m:d>
                        </m:e>
                      </m:func>
                    </m:oMath>
                  </m:oMathPara>
                </a14:m>
                <a:endParaRPr lang="en-US" sz="2000" dirty="0"/>
              </a:p>
            </p:txBody>
          </p:sp>
        </mc:Choice>
        <mc:Fallback xmlns="">
          <p:sp>
            <p:nvSpPr>
              <p:cNvPr id="7" name="Rectangle 6">
                <a:extLst>
                  <a:ext uri="{FF2B5EF4-FFF2-40B4-BE49-F238E27FC236}">
                    <a16:creationId xmlns:a16="http://schemas.microsoft.com/office/drawing/2014/main" id="{37185A89-AC47-4A58-A883-070F14F9BFBE}"/>
                  </a:ext>
                </a:extLst>
              </p:cNvPr>
              <p:cNvSpPr>
                <a:spLocks noRot="1" noChangeAspect="1" noMove="1" noResize="1" noEditPoints="1" noAdjustHandles="1" noChangeArrowheads="1" noChangeShapeType="1" noTextEdit="1"/>
              </p:cNvSpPr>
              <p:nvPr/>
            </p:nvSpPr>
            <p:spPr>
              <a:xfrm>
                <a:off x="2816947" y="2201672"/>
                <a:ext cx="2769412" cy="553357"/>
              </a:xfrm>
              <a:prstGeom prst="rect">
                <a:avLst/>
              </a:prstGeom>
              <a:blipFill>
                <a:blip r:embed="rId3"/>
                <a:stretch>
                  <a:fillRect b="-7527"/>
                </a:stretch>
              </a:blipFill>
              <a:ln>
                <a:solidFill>
                  <a:srgbClr val="C00000"/>
                </a:solidFill>
              </a:ln>
            </p:spPr>
            <p:txBody>
              <a:bodyPr/>
              <a:lstStyle/>
              <a:p>
                <a:r>
                  <a:rPr lang="en-US">
                    <a:noFill/>
                  </a:rPr>
                  <a:t> </a:t>
                </a:r>
              </a:p>
            </p:txBody>
          </p:sp>
        </mc:Fallback>
      </mc:AlternateContent>
      <p:sp>
        <p:nvSpPr>
          <p:cNvPr id="8" name="TextBox 7">
            <a:extLst>
              <a:ext uri="{FF2B5EF4-FFF2-40B4-BE49-F238E27FC236}">
                <a16:creationId xmlns:a16="http://schemas.microsoft.com/office/drawing/2014/main" id="{13FDCFE8-3D64-4312-ABBC-BADC3411107D}"/>
              </a:ext>
            </a:extLst>
          </p:cNvPr>
          <p:cNvSpPr txBox="1"/>
          <p:nvPr/>
        </p:nvSpPr>
        <p:spPr>
          <a:xfrm>
            <a:off x="6063495" y="2293684"/>
            <a:ext cx="3311558" cy="369332"/>
          </a:xfrm>
          <a:prstGeom prst="rect">
            <a:avLst/>
          </a:prstGeom>
          <a:noFill/>
        </p:spPr>
        <p:txBody>
          <a:bodyPr wrap="square" rtlCol="0">
            <a:spAutoFit/>
          </a:bodyPr>
          <a:lstStyle/>
          <a:p>
            <a:r>
              <a:rPr lang="en-US" dirty="0"/>
              <a:t>Known as the robust-counter</a:t>
            </a:r>
          </a:p>
        </p:txBody>
      </p:sp>
      <p:pic>
        <p:nvPicPr>
          <p:cNvPr id="9" name="Picture 8">
            <a:extLst>
              <a:ext uri="{FF2B5EF4-FFF2-40B4-BE49-F238E27FC236}">
                <a16:creationId xmlns:a16="http://schemas.microsoft.com/office/drawing/2014/main" id="{710D1A75-64B8-4116-B061-1B36C10776FE}"/>
              </a:ext>
            </a:extLst>
          </p:cNvPr>
          <p:cNvPicPr>
            <a:picLocks noChangeAspect="1"/>
          </p:cNvPicPr>
          <p:nvPr/>
        </p:nvPicPr>
        <p:blipFill>
          <a:blip r:embed="rId4"/>
          <a:stretch>
            <a:fillRect/>
          </a:stretch>
        </p:blipFill>
        <p:spPr>
          <a:xfrm>
            <a:off x="3806802" y="3391168"/>
            <a:ext cx="3559114" cy="690224"/>
          </a:xfrm>
          <a:prstGeom prst="rect">
            <a:avLst/>
          </a:prstGeom>
        </p:spPr>
      </p:pic>
      <p:pic>
        <p:nvPicPr>
          <p:cNvPr id="10" name="Picture 9">
            <a:extLst>
              <a:ext uri="{FF2B5EF4-FFF2-40B4-BE49-F238E27FC236}">
                <a16:creationId xmlns:a16="http://schemas.microsoft.com/office/drawing/2014/main" id="{C7F8E27D-F898-4159-9364-20A7F13B0B5F}"/>
              </a:ext>
            </a:extLst>
          </p:cNvPr>
          <p:cNvPicPr>
            <a:picLocks noChangeAspect="1"/>
          </p:cNvPicPr>
          <p:nvPr/>
        </p:nvPicPr>
        <p:blipFill>
          <a:blip r:embed="rId5"/>
          <a:stretch>
            <a:fillRect/>
          </a:stretch>
        </p:blipFill>
        <p:spPr>
          <a:xfrm>
            <a:off x="3445193" y="4185477"/>
            <a:ext cx="4747050" cy="741873"/>
          </a:xfrm>
          <a:prstGeom prst="rect">
            <a:avLst/>
          </a:prstGeom>
        </p:spPr>
      </p:pic>
      <p:pic>
        <p:nvPicPr>
          <p:cNvPr id="11" name="Picture 10">
            <a:extLst>
              <a:ext uri="{FF2B5EF4-FFF2-40B4-BE49-F238E27FC236}">
                <a16:creationId xmlns:a16="http://schemas.microsoft.com/office/drawing/2014/main" id="{39F7DBE3-B4E3-4AAC-9D68-75E7CD0F8654}"/>
              </a:ext>
            </a:extLst>
          </p:cNvPr>
          <p:cNvPicPr>
            <a:picLocks noChangeAspect="1"/>
          </p:cNvPicPr>
          <p:nvPr/>
        </p:nvPicPr>
        <p:blipFill>
          <a:blip r:embed="rId6"/>
          <a:stretch>
            <a:fillRect/>
          </a:stretch>
        </p:blipFill>
        <p:spPr>
          <a:xfrm>
            <a:off x="3743960" y="4927350"/>
            <a:ext cx="8133080" cy="849654"/>
          </a:xfrm>
          <a:prstGeom prst="rect">
            <a:avLst/>
          </a:prstGeom>
        </p:spPr>
      </p:pic>
    </p:spTree>
    <p:extLst>
      <p:ext uri="{BB962C8B-B14F-4D97-AF65-F5344CB8AC3E}">
        <p14:creationId xmlns:p14="http://schemas.microsoft.com/office/powerpoint/2010/main" val="40732311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5" end="5"/>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9"/>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7" end="7"/>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9" end="9"/>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1"/>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3">
                                            <p:txEl>
                                              <p:pRg st="11" end="11"/>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3">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Robust Optimization</a:t>
            </a:r>
          </a:p>
        </p:txBody>
      </p:sp>
      <p:sp>
        <p:nvSpPr>
          <p:cNvPr id="3" name="Content Placeholder 2"/>
          <p:cNvSpPr>
            <a:spLocks noGrp="1"/>
          </p:cNvSpPr>
          <p:nvPr>
            <p:ph idx="1"/>
          </p:nvPr>
        </p:nvSpPr>
        <p:spPr>
          <a:xfrm>
            <a:off x="355002" y="1312433"/>
            <a:ext cx="11478410" cy="4864530"/>
          </a:xfrm>
        </p:spPr>
        <p:txBody>
          <a:bodyPr/>
          <a:lstStyle/>
          <a:p>
            <a:r>
              <a:rPr lang="en-US" dirty="0"/>
              <a:t>Robust optimization problems are typically hard to solve</a:t>
            </a:r>
          </a:p>
          <a:p>
            <a:pPr lvl="1"/>
            <a:r>
              <a:rPr lang="en-US" dirty="0"/>
              <a:t>When the uncertainty is present in the constraints</a:t>
            </a:r>
          </a:p>
          <a:p>
            <a:pPr lvl="1"/>
            <a:r>
              <a:rPr lang="en-US" dirty="0"/>
              <a:t>Robust-feasible solution: A solution that is always feasible (for any possible parameter values)</a:t>
            </a:r>
          </a:p>
          <a:p>
            <a:r>
              <a:rPr lang="en-US" dirty="0"/>
              <a:t>Solution approaches:</a:t>
            </a:r>
          </a:p>
          <a:p>
            <a:pPr lvl="1"/>
            <a:r>
              <a:rPr lang="en-US" dirty="0"/>
              <a:t>For continuously uncertain problems, there might be infinitely many constraints</a:t>
            </a:r>
          </a:p>
          <a:p>
            <a:pPr lvl="1"/>
            <a:r>
              <a:rPr lang="en-US" dirty="0"/>
              <a:t>Conic programming, semi-definite programming, etc.</a:t>
            </a:r>
          </a:p>
        </p:txBody>
      </p:sp>
    </p:spTree>
    <p:extLst>
      <p:ext uri="{BB962C8B-B14F-4D97-AF65-F5344CB8AC3E}">
        <p14:creationId xmlns:p14="http://schemas.microsoft.com/office/powerpoint/2010/main" val="40777276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Outline</a:t>
            </a:r>
          </a:p>
        </p:txBody>
      </p:sp>
      <p:sp>
        <p:nvSpPr>
          <p:cNvPr id="3" name="Content Placeholder 2"/>
          <p:cNvSpPr>
            <a:spLocks noGrp="1"/>
          </p:cNvSpPr>
          <p:nvPr>
            <p:ph idx="1"/>
          </p:nvPr>
        </p:nvSpPr>
        <p:spPr/>
        <p:txBody>
          <a:bodyPr/>
          <a:lstStyle/>
          <a:p>
            <a:r>
              <a:rPr lang="en-US" dirty="0">
                <a:solidFill>
                  <a:schemeClr val="bg2"/>
                </a:solidFill>
              </a:rPr>
              <a:t>Decision Criteria (Chapter 9.1 &amp; 9.2)</a:t>
            </a:r>
          </a:p>
          <a:p>
            <a:r>
              <a:rPr lang="en-US" dirty="0">
                <a:solidFill>
                  <a:schemeClr val="bg2"/>
                </a:solidFill>
              </a:rPr>
              <a:t>Decision Trees and Value of Information (Chapter 9.3-9.7)</a:t>
            </a:r>
          </a:p>
          <a:p>
            <a:r>
              <a:rPr lang="en-US" dirty="0">
                <a:solidFill>
                  <a:schemeClr val="bg2"/>
                </a:solidFill>
              </a:rPr>
              <a:t>Utility Theory Review (Chapter 9.8)</a:t>
            </a:r>
          </a:p>
          <a:p>
            <a:r>
              <a:rPr lang="en-US" dirty="0">
                <a:solidFill>
                  <a:schemeClr val="bg2"/>
                </a:solidFill>
              </a:rPr>
              <a:t>Stochastic Optimization Overview (not in the textbook)</a:t>
            </a:r>
          </a:p>
          <a:p>
            <a:r>
              <a:rPr lang="en-US" dirty="0">
                <a:solidFill>
                  <a:schemeClr val="bg2"/>
                </a:solidFill>
              </a:rPr>
              <a:t>Robust Optimization Overview (not in the textbook)</a:t>
            </a:r>
          </a:p>
          <a:p>
            <a:endParaRPr lang="en-US" dirty="0"/>
          </a:p>
          <a:p>
            <a:r>
              <a:rPr lang="en-US" dirty="0"/>
              <a:t>Probability Basics Review</a:t>
            </a:r>
          </a:p>
          <a:p>
            <a:endParaRPr lang="en-US" dirty="0"/>
          </a:p>
          <a:p>
            <a:pPr lvl="5"/>
            <a:endParaRPr lang="en-US" dirty="0"/>
          </a:p>
          <a:p>
            <a:endParaRPr lang="en-US" dirty="0"/>
          </a:p>
        </p:txBody>
      </p:sp>
    </p:spTree>
    <p:extLst>
      <p:ext uri="{BB962C8B-B14F-4D97-AF65-F5344CB8AC3E}">
        <p14:creationId xmlns:p14="http://schemas.microsoft.com/office/powerpoint/2010/main" val="3778447849"/>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Discrete Random Variables</a:t>
            </a:r>
          </a:p>
        </p:txBody>
      </p:sp>
      <p:sp>
        <p:nvSpPr>
          <p:cNvPr id="3" name="Content Placeholder 2"/>
          <p:cNvSpPr>
            <a:spLocks noGrp="1"/>
          </p:cNvSpPr>
          <p:nvPr>
            <p:ph idx="1"/>
          </p:nvPr>
        </p:nvSpPr>
        <p:spPr/>
        <p:txBody>
          <a:bodyPr/>
          <a:lstStyle/>
          <a:p>
            <a:r>
              <a:rPr lang="en-US" dirty="0"/>
              <a:t>Suppose we have an experiment whose outcome depends on chance</a:t>
            </a:r>
          </a:p>
          <a:p>
            <a:pPr lvl="1"/>
            <a:r>
              <a:rPr lang="en-US" dirty="0"/>
              <a:t>The outcome of the experiment is called random variable</a:t>
            </a:r>
          </a:p>
          <a:p>
            <a:pPr lvl="1"/>
            <a:r>
              <a:rPr lang="en-US" dirty="0"/>
              <a:t>The </a:t>
            </a:r>
            <a:r>
              <a:rPr lang="en-US" i="1" dirty="0"/>
              <a:t>sample space </a:t>
            </a:r>
            <a:r>
              <a:rPr lang="en-US" dirty="0"/>
              <a:t>of the experiment is the set of all possible outcomes.</a:t>
            </a:r>
          </a:p>
          <a:p>
            <a:pPr lvl="1"/>
            <a:r>
              <a:rPr lang="en-US" dirty="0"/>
              <a:t>A Random Variable, X, is said to be discrete if it can take on at most a countable (finite) number of values</a:t>
            </a:r>
          </a:p>
          <a:p>
            <a:pPr lvl="2"/>
            <a:r>
              <a:rPr lang="en-US" dirty="0"/>
              <a:t>That is, the sample space is finite</a:t>
            </a:r>
          </a:p>
          <a:p>
            <a:pPr lvl="1"/>
            <a:r>
              <a:rPr lang="en-US" dirty="0"/>
              <a:t>A subset of the sample space is called event</a:t>
            </a:r>
          </a:p>
        </p:txBody>
      </p:sp>
    </p:spTree>
    <p:extLst>
      <p:ext uri="{BB962C8B-B14F-4D97-AF65-F5344CB8AC3E}">
        <p14:creationId xmlns:p14="http://schemas.microsoft.com/office/powerpoint/2010/main" val="1995920385"/>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Discrete Random Variables</a:t>
            </a:r>
          </a:p>
        </p:txBody>
      </p:sp>
      <p:sp>
        <p:nvSpPr>
          <p:cNvPr id="3" name="Content Placeholder 2"/>
          <p:cNvSpPr>
            <a:spLocks noGrp="1"/>
          </p:cNvSpPr>
          <p:nvPr>
            <p:ph idx="1"/>
          </p:nvPr>
        </p:nvSpPr>
        <p:spPr/>
        <p:txBody>
          <a:bodyPr/>
          <a:lstStyle/>
          <a:p>
            <a:r>
              <a:rPr lang="en-US" dirty="0"/>
              <a:t>Rolling a standard six-sided die</a:t>
            </a:r>
          </a:p>
          <a:p>
            <a:pPr lvl="1"/>
            <a:r>
              <a:rPr lang="en-US" dirty="0"/>
              <a:t>6 possible outcomes</a:t>
            </a:r>
          </a:p>
          <a:p>
            <a:pPr lvl="2"/>
            <a:r>
              <a:rPr lang="en-US" dirty="0"/>
              <a:t>Sample space, S={1,2,3,4,5,6}</a:t>
            </a:r>
          </a:p>
          <a:p>
            <a:pPr lvl="1"/>
            <a:r>
              <a:rPr lang="en-US" dirty="0"/>
              <a:t>X is the outcome we get</a:t>
            </a:r>
          </a:p>
          <a:p>
            <a:pPr lvl="2"/>
            <a:r>
              <a:rPr lang="en-US" dirty="0"/>
              <a:t>X is a random variable</a:t>
            </a:r>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09800" y="3677920"/>
            <a:ext cx="1600200" cy="17490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Rounded Rectangular Callout 3"/>
          <p:cNvSpPr/>
          <p:nvPr/>
        </p:nvSpPr>
        <p:spPr bwMode="auto">
          <a:xfrm>
            <a:off x="6858000" y="3525520"/>
            <a:ext cx="2590800" cy="1371600"/>
          </a:xfrm>
          <a:prstGeom prst="wedgeRoundRectCallout">
            <a:avLst>
              <a:gd name="adj1" fmla="val -84362"/>
              <a:gd name="adj2" fmla="val 40833"/>
              <a:gd name="adj3" fmla="val 16667"/>
            </a:avLst>
          </a:prstGeom>
          <a:ln>
            <a:headEnd type="none" w="med" len="med"/>
            <a:tailEnd type="none" w="med" len="med"/>
          </a:ln>
        </p:spPr>
        <p:style>
          <a:lnRef idx="2">
            <a:schemeClr val="accent1"/>
          </a:lnRef>
          <a:fillRef idx="1">
            <a:schemeClr val="lt1"/>
          </a:fillRef>
          <a:effectRef idx="0">
            <a:schemeClr val="accent1"/>
          </a:effectRef>
          <a:fontRef idx="minor">
            <a:schemeClr val="dk1"/>
          </a:fontRef>
        </p:style>
        <p:txBody>
          <a:bodyPr vert="horz" wrap="square" lIns="91440" tIns="45720" rIns="91440" bIns="45720" numCol="1" rtlCol="0" anchor="t" anchorCtr="0" compatLnSpc="1">
            <a:prstTxWarp prst="textNoShape">
              <a:avLst/>
            </a:prstTxWarp>
          </a:bodyPr>
          <a:lstStyle/>
          <a:p>
            <a:pPr eaLnBrk="0" fontAlgn="base" hangingPunct="0">
              <a:spcBef>
                <a:spcPct val="0"/>
              </a:spcBef>
              <a:spcAft>
                <a:spcPct val="0"/>
              </a:spcAft>
            </a:pPr>
            <a:r>
              <a:rPr lang="en-US" sz="2400" dirty="0">
                <a:latin typeface="Arial" charset="0"/>
                <a:ea typeface="ＭＳ Ｐゴシック" pitchFamily="16" charset="-128"/>
              </a:rPr>
              <a:t>Probability of </a:t>
            </a:r>
            <a:r>
              <a:rPr lang="en-US" sz="2400" b="1" u="sng" dirty="0">
                <a:solidFill>
                  <a:srgbClr val="FF0000"/>
                </a:solidFill>
                <a:latin typeface="Arial" charset="0"/>
                <a:ea typeface="ＭＳ Ｐゴシック" pitchFamily="16" charset="-128"/>
              </a:rPr>
              <a:t>having 4 </a:t>
            </a:r>
            <a:r>
              <a:rPr lang="en-US" sz="2400" dirty="0">
                <a:latin typeface="Arial" charset="0"/>
                <a:ea typeface="ＭＳ Ｐゴシック" pitchFamily="16" charset="-128"/>
              </a:rPr>
              <a:t>after we roll is 1/6</a:t>
            </a:r>
          </a:p>
        </p:txBody>
      </p:sp>
      <p:pic>
        <p:nvPicPr>
          <p:cNvPr id="1029"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67200" y="3521710"/>
            <a:ext cx="1828800" cy="22824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Rounded Rectangular Callout 5"/>
          <p:cNvSpPr/>
          <p:nvPr/>
        </p:nvSpPr>
        <p:spPr bwMode="auto">
          <a:xfrm>
            <a:off x="8305800" y="5426976"/>
            <a:ext cx="1143000" cy="613144"/>
          </a:xfrm>
          <a:prstGeom prst="wedgeRoundRectCallout">
            <a:avLst>
              <a:gd name="adj1" fmla="val -65833"/>
              <a:gd name="adj2" fmla="val -226445"/>
              <a:gd name="adj3" fmla="val 16667"/>
            </a:avLst>
          </a:prstGeom>
          <a:ln>
            <a:headEnd type="none" w="med" len="med"/>
            <a:tailEnd type="none" w="med" len="med"/>
          </a:ln>
        </p:spPr>
        <p:style>
          <a:lnRef idx="2">
            <a:schemeClr val="accent1"/>
          </a:lnRef>
          <a:fillRef idx="1">
            <a:schemeClr val="lt1"/>
          </a:fillRef>
          <a:effectRef idx="0">
            <a:schemeClr val="accent1"/>
          </a:effectRef>
          <a:fontRef idx="minor">
            <a:schemeClr val="dk1"/>
          </a:fontRef>
        </p:style>
        <p:txBody>
          <a:bodyPr vert="horz" wrap="square" lIns="91440" tIns="45720" rIns="91440" bIns="45720" numCol="1" rtlCol="0" anchor="t" anchorCtr="0" compatLnSpc="1">
            <a:prstTxWarp prst="textNoShape">
              <a:avLst/>
            </a:prstTxWarp>
          </a:bodyPr>
          <a:lstStyle/>
          <a:p>
            <a:pPr eaLnBrk="0" fontAlgn="base" hangingPunct="0">
              <a:spcBef>
                <a:spcPct val="0"/>
              </a:spcBef>
              <a:spcAft>
                <a:spcPct val="0"/>
              </a:spcAft>
            </a:pPr>
            <a:r>
              <a:rPr lang="en-US" sz="2400" dirty="0">
                <a:solidFill>
                  <a:srgbClr val="FF0000"/>
                </a:solidFill>
                <a:latin typeface="Arial" charset="0"/>
                <a:ea typeface="ＭＳ Ｐゴシック" pitchFamily="16" charset="-128"/>
              </a:rPr>
              <a:t>event</a:t>
            </a:r>
          </a:p>
        </p:txBody>
      </p:sp>
    </p:spTree>
    <p:extLst>
      <p:ext uri="{BB962C8B-B14F-4D97-AF65-F5344CB8AC3E}">
        <p14:creationId xmlns:p14="http://schemas.microsoft.com/office/powerpoint/2010/main" val="2508217060"/>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Discrete Random Variables</a:t>
            </a:r>
          </a:p>
        </p:txBody>
      </p:sp>
      <p:sp>
        <p:nvSpPr>
          <p:cNvPr id="3" name="Content Placeholder 2"/>
          <p:cNvSpPr>
            <a:spLocks noGrp="1"/>
          </p:cNvSpPr>
          <p:nvPr>
            <p:ph idx="1"/>
          </p:nvPr>
        </p:nvSpPr>
        <p:spPr/>
        <p:txBody>
          <a:bodyPr/>
          <a:lstStyle/>
          <a:p>
            <a:r>
              <a:rPr lang="en-US" dirty="0"/>
              <a:t>Rolling a standard six-sided die</a:t>
            </a:r>
          </a:p>
          <a:p>
            <a:pPr lvl="1"/>
            <a:r>
              <a:rPr lang="en-US" dirty="0"/>
              <a:t>What is the probability of having an even number?</a:t>
            </a:r>
          </a:p>
          <a:p>
            <a:pPr lvl="1"/>
            <a:r>
              <a:rPr lang="en-US" dirty="0"/>
              <a:t>6 possible outcomes after we roll</a:t>
            </a:r>
          </a:p>
          <a:p>
            <a:pPr lvl="1"/>
            <a:endParaRPr lang="en-US" dirty="0"/>
          </a:p>
          <a:p>
            <a:pPr lvl="1"/>
            <a:endParaRPr lang="en-US" dirty="0"/>
          </a:p>
          <a:p>
            <a:pPr lvl="1"/>
            <a:endParaRPr lang="en-US" dirty="0"/>
          </a:p>
          <a:p>
            <a:pPr lvl="1"/>
            <a:endParaRPr lang="en-US" dirty="0"/>
          </a:p>
          <a:p>
            <a:pPr lvl="1"/>
            <a:endParaRPr lang="en-US" dirty="0"/>
          </a:p>
          <a:p>
            <a:pPr lvl="1"/>
            <a:endParaRPr lang="en-US" dirty="0"/>
          </a:p>
          <a:p>
            <a:pPr lvl="1"/>
            <a:r>
              <a:rPr lang="en-US" dirty="0"/>
              <a:t>Our event E={2,4,6} </a:t>
            </a:r>
            <a:r>
              <a:rPr lang="en-US" dirty="0">
                <a:sym typeface="Wingdings" pitchFamily="2" charset="2"/>
              </a:rPr>
              <a:t> </a:t>
            </a:r>
            <a:r>
              <a:rPr lang="en-US" dirty="0"/>
              <a:t>P(E)=1/6+1/6+1/6=1/2</a:t>
            </a:r>
          </a:p>
          <a:p>
            <a:pPr lvl="1"/>
            <a:endParaRPr lang="en-US" dirty="0"/>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70200" y="2646681"/>
            <a:ext cx="1752600" cy="19156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1"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39111" y="2900681"/>
            <a:ext cx="1992663" cy="9422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325774859"/>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Discrete Random Variables</a:t>
            </a:r>
          </a:p>
        </p:txBody>
      </p:sp>
      <p:sp>
        <p:nvSpPr>
          <p:cNvPr id="3" name="Content Placeholder 2"/>
          <p:cNvSpPr>
            <a:spLocks noGrp="1"/>
          </p:cNvSpPr>
          <p:nvPr>
            <p:ph idx="1"/>
          </p:nvPr>
        </p:nvSpPr>
        <p:spPr/>
        <p:txBody>
          <a:bodyPr/>
          <a:lstStyle/>
          <a:p>
            <a:r>
              <a:rPr lang="en-US" dirty="0"/>
              <a:t>P(X=x) = </a:t>
            </a:r>
            <a:r>
              <a:rPr lang="en-US" sz="2400" dirty="0"/>
              <a:t>“Probability that X takes on the value x”</a:t>
            </a:r>
          </a:p>
          <a:p>
            <a:pPr lvl="1"/>
            <a:r>
              <a:rPr lang="en-US" dirty="0"/>
              <a:t>0 </a:t>
            </a:r>
            <a:r>
              <a:rPr lang="en-US" dirty="0">
                <a:cs typeface="Arial" charset="0"/>
              </a:rPr>
              <a:t>≤ P(X=x) ≤ 1 </a:t>
            </a:r>
          </a:p>
          <a:p>
            <a:pPr lvl="1">
              <a:buFontTx/>
              <a:buChar char="-"/>
            </a:pPr>
            <a:r>
              <a:rPr lang="en-US" sz="3200" dirty="0">
                <a:latin typeface="Symbol" pitchFamily="18" charset="2"/>
              </a:rPr>
              <a:t>S</a:t>
            </a:r>
            <a:r>
              <a:rPr lang="en-US" dirty="0"/>
              <a:t> P(X=x) =1</a:t>
            </a:r>
          </a:p>
          <a:p>
            <a:r>
              <a:rPr lang="en-US" sz="2400" dirty="0"/>
              <a:t>Probability of an event is the sum of the probabilities of the outcomes in this event</a:t>
            </a:r>
          </a:p>
          <a:p>
            <a:endParaRPr lang="en-US" dirty="0"/>
          </a:p>
        </p:txBody>
      </p:sp>
      <p:pic>
        <p:nvPicPr>
          <p:cNvPr id="4100" name="Picture 4" descr="C:\Users\konurd\Desktop\200px-Discrete_probability_distrib.svg.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87880" y="3662426"/>
            <a:ext cx="2438400" cy="1146048"/>
          </a:xfrm>
          <a:prstGeom prst="rect">
            <a:avLst/>
          </a:prstGeom>
          <a:noFill/>
          <a:extLst>
            <a:ext uri="{909E8E84-426E-40DD-AFC4-6F175D3DCCD1}">
              <a14:hiddenFill xmlns:a14="http://schemas.microsoft.com/office/drawing/2010/main">
                <a:solidFill>
                  <a:srgbClr val="FFFFFF"/>
                </a:solidFill>
              </a14:hiddenFill>
            </a:ext>
          </a:extLst>
        </p:spPr>
      </p:pic>
      <p:pic>
        <p:nvPicPr>
          <p:cNvPr id="4101" name="Picture 5" descr="C:\Users\konurd\Desktop\600px-Discrete_probability_distribution.svg.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93080" y="3598800"/>
            <a:ext cx="3456214" cy="1209675"/>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p:cNvSpPr txBox="1"/>
          <p:nvPr/>
        </p:nvSpPr>
        <p:spPr>
          <a:xfrm>
            <a:off x="2011680" y="4963161"/>
            <a:ext cx="2362200" cy="646331"/>
          </a:xfrm>
          <a:prstGeom prst="rect">
            <a:avLst/>
          </a:prstGeom>
          <a:noFill/>
        </p:spPr>
        <p:txBody>
          <a:bodyPr wrap="square" rtlCol="0">
            <a:spAutoFit/>
          </a:bodyPr>
          <a:lstStyle/>
          <a:p>
            <a:pPr algn="ctr"/>
            <a:r>
              <a:rPr lang="en-US" dirty="0"/>
              <a:t>Probability distribution function (</a:t>
            </a:r>
            <a:r>
              <a:rPr lang="en-US" dirty="0" err="1"/>
              <a:t>pdf</a:t>
            </a:r>
            <a:r>
              <a:rPr lang="en-US" dirty="0"/>
              <a:t>) = f(X)</a:t>
            </a:r>
          </a:p>
        </p:txBody>
      </p:sp>
      <p:sp>
        <p:nvSpPr>
          <p:cNvPr id="9" name="TextBox 8"/>
          <p:cNvSpPr txBox="1"/>
          <p:nvPr/>
        </p:nvSpPr>
        <p:spPr>
          <a:xfrm>
            <a:off x="6140087" y="4963159"/>
            <a:ext cx="2362200" cy="923330"/>
          </a:xfrm>
          <a:prstGeom prst="rect">
            <a:avLst/>
          </a:prstGeom>
          <a:noFill/>
        </p:spPr>
        <p:txBody>
          <a:bodyPr wrap="square" rtlCol="0">
            <a:spAutoFit/>
          </a:bodyPr>
          <a:lstStyle/>
          <a:p>
            <a:pPr algn="ctr"/>
            <a:r>
              <a:rPr lang="en-US" dirty="0"/>
              <a:t>Cumulative distribution function (</a:t>
            </a:r>
            <a:r>
              <a:rPr lang="en-US" dirty="0" err="1"/>
              <a:t>cdf</a:t>
            </a:r>
            <a:r>
              <a:rPr lang="en-US" dirty="0"/>
              <a:t>) = F(X)</a:t>
            </a:r>
          </a:p>
        </p:txBody>
      </p:sp>
    </p:spTree>
    <p:extLst>
      <p:ext uri="{BB962C8B-B14F-4D97-AF65-F5344CB8AC3E}">
        <p14:creationId xmlns:p14="http://schemas.microsoft.com/office/powerpoint/2010/main" val="3689682731"/>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Discrete Random Variables</a:t>
            </a:r>
          </a:p>
        </p:txBody>
      </p:sp>
      <p:sp>
        <p:nvSpPr>
          <p:cNvPr id="3" name="Content Placeholder 2"/>
          <p:cNvSpPr>
            <a:spLocks noGrp="1"/>
          </p:cNvSpPr>
          <p:nvPr>
            <p:ph idx="1"/>
          </p:nvPr>
        </p:nvSpPr>
        <p:spPr/>
        <p:txBody>
          <a:bodyPr/>
          <a:lstStyle/>
          <a:p>
            <a:pPr>
              <a:lnSpc>
                <a:spcPct val="90000"/>
              </a:lnSpc>
            </a:pPr>
            <a:r>
              <a:rPr lang="en-US" dirty="0"/>
              <a:t>E[X] = “expected value of the X”</a:t>
            </a:r>
          </a:p>
          <a:p>
            <a:pPr lvl="1">
              <a:lnSpc>
                <a:spcPct val="90000"/>
              </a:lnSpc>
            </a:pPr>
            <a:r>
              <a:rPr lang="en-US" dirty="0"/>
              <a:t>E[X] = </a:t>
            </a:r>
            <a:r>
              <a:rPr lang="en-US" dirty="0">
                <a:latin typeface="Symbol" pitchFamily="18" charset="2"/>
              </a:rPr>
              <a:t>S</a:t>
            </a:r>
            <a:r>
              <a:rPr lang="en-US" dirty="0"/>
              <a:t> x P(X=x)</a:t>
            </a:r>
          </a:p>
          <a:p>
            <a:pPr marL="457200" lvl="1" indent="0">
              <a:buNone/>
            </a:pPr>
            <a:endParaRPr lang="en-US" dirty="0"/>
          </a:p>
          <a:p>
            <a:pPr>
              <a:lnSpc>
                <a:spcPct val="90000"/>
              </a:lnSpc>
            </a:pPr>
            <a:r>
              <a:rPr lang="en-US" dirty="0"/>
              <a:t>V[X] = “variance of the X”</a:t>
            </a:r>
          </a:p>
          <a:p>
            <a:pPr lvl="1">
              <a:lnSpc>
                <a:spcPct val="90000"/>
              </a:lnSpc>
            </a:pPr>
            <a:r>
              <a:rPr lang="en-US" dirty="0"/>
              <a:t>V[X] =</a:t>
            </a:r>
            <a:r>
              <a:rPr lang="en-US" dirty="0">
                <a:latin typeface="Symbol" pitchFamily="18" charset="2"/>
              </a:rPr>
              <a:t>S</a:t>
            </a:r>
            <a:r>
              <a:rPr lang="en-US" dirty="0"/>
              <a:t> x</a:t>
            </a:r>
            <a:r>
              <a:rPr lang="en-US" baseline="30000" dirty="0"/>
              <a:t>2</a:t>
            </a:r>
            <a:r>
              <a:rPr lang="en-US" dirty="0"/>
              <a:t> P(X=x) – E[X]</a:t>
            </a:r>
            <a:r>
              <a:rPr lang="en-US" baseline="30000" dirty="0"/>
              <a:t>2</a:t>
            </a:r>
          </a:p>
          <a:p>
            <a:pPr lvl="1">
              <a:lnSpc>
                <a:spcPct val="90000"/>
              </a:lnSpc>
            </a:pPr>
            <a:r>
              <a:rPr lang="en-US" dirty="0"/>
              <a:t>V[X]=</a:t>
            </a:r>
            <a:r>
              <a:rPr lang="en-US" dirty="0">
                <a:latin typeface="Symbol" pitchFamily="18" charset="2"/>
              </a:rPr>
              <a:t> S</a:t>
            </a:r>
            <a:r>
              <a:rPr lang="en-US" dirty="0"/>
              <a:t> P(X=x)(x – E[X])</a:t>
            </a:r>
            <a:r>
              <a:rPr lang="en-US" baseline="30000" dirty="0"/>
              <a:t>2</a:t>
            </a:r>
            <a:endParaRPr lang="en-US" dirty="0"/>
          </a:p>
          <a:p>
            <a:pPr>
              <a:lnSpc>
                <a:spcPct val="90000"/>
              </a:lnSpc>
            </a:pPr>
            <a:endParaRPr lang="en-US" dirty="0"/>
          </a:p>
          <a:p>
            <a:pPr>
              <a:lnSpc>
                <a:spcPct val="90000"/>
              </a:lnSpc>
            </a:pPr>
            <a:r>
              <a:rPr lang="en-US" dirty="0"/>
              <a:t>SD[X] = “standard deviation of X”</a:t>
            </a:r>
          </a:p>
          <a:p>
            <a:pPr lvl="1">
              <a:lnSpc>
                <a:spcPct val="90000"/>
              </a:lnSpc>
            </a:pPr>
            <a:r>
              <a:rPr lang="en-US" dirty="0"/>
              <a:t>SD[X] = </a:t>
            </a:r>
            <a:r>
              <a:rPr lang="en-US" dirty="0">
                <a:cs typeface="Arial" charset="0"/>
              </a:rPr>
              <a:t>√V[X]</a:t>
            </a:r>
          </a:p>
          <a:p>
            <a:pPr marL="0" indent="0">
              <a:buNone/>
            </a:pPr>
            <a:endParaRPr lang="en-US" dirty="0"/>
          </a:p>
          <a:p>
            <a:pPr>
              <a:lnSpc>
                <a:spcPct val="90000"/>
              </a:lnSpc>
            </a:pPr>
            <a:endParaRPr lang="en-US" dirty="0"/>
          </a:p>
          <a:p>
            <a:pPr>
              <a:lnSpc>
                <a:spcPct val="90000"/>
              </a:lnSpc>
            </a:pPr>
            <a:endParaRPr lang="en-US" dirty="0"/>
          </a:p>
          <a:p>
            <a:pPr>
              <a:lnSpc>
                <a:spcPct val="90000"/>
              </a:lnSpc>
            </a:pPr>
            <a:endParaRPr lang="en-US" dirty="0"/>
          </a:p>
          <a:p>
            <a:endParaRPr lang="en-US" dirty="0"/>
          </a:p>
        </p:txBody>
      </p:sp>
      <p:pic>
        <p:nvPicPr>
          <p:cNvPr id="5" name="Picture 4">
            <a:extLst>
              <a:ext uri="{FF2B5EF4-FFF2-40B4-BE49-F238E27FC236}">
                <a16:creationId xmlns:a16="http://schemas.microsoft.com/office/drawing/2014/main" id="{66A6C218-1B24-4B0F-B263-73A185E2CE1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22440" y="2529840"/>
            <a:ext cx="4709244" cy="2590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Rectangle 5">
            <a:extLst>
              <a:ext uri="{FF2B5EF4-FFF2-40B4-BE49-F238E27FC236}">
                <a16:creationId xmlns:a16="http://schemas.microsoft.com/office/drawing/2014/main" id="{CD366EC9-201D-4272-8B1D-60B132A0E8ED}"/>
              </a:ext>
            </a:extLst>
          </p:cNvPr>
          <p:cNvSpPr/>
          <p:nvPr/>
        </p:nvSpPr>
        <p:spPr>
          <a:xfrm>
            <a:off x="6733999" y="2052931"/>
            <a:ext cx="1765355" cy="461665"/>
          </a:xfrm>
          <a:prstGeom prst="rect">
            <a:avLst/>
          </a:prstGeom>
        </p:spPr>
        <p:txBody>
          <a:bodyPr wrap="none">
            <a:spAutoFit/>
          </a:bodyPr>
          <a:lstStyle/>
          <a:p>
            <a:r>
              <a:rPr lang="en-US" sz="2400" u="sng" dirty="0"/>
              <a:t>Rolling a die </a:t>
            </a:r>
          </a:p>
        </p:txBody>
      </p:sp>
    </p:spTree>
    <p:extLst>
      <p:ext uri="{BB962C8B-B14F-4D97-AF65-F5344CB8AC3E}">
        <p14:creationId xmlns:p14="http://schemas.microsoft.com/office/powerpoint/2010/main" val="3138400160"/>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Discrete Random Variables</a:t>
            </a:r>
          </a:p>
        </p:txBody>
      </p:sp>
      <p:sp>
        <p:nvSpPr>
          <p:cNvPr id="3" name="Content Placeholder 2"/>
          <p:cNvSpPr>
            <a:spLocks noGrp="1"/>
          </p:cNvSpPr>
          <p:nvPr>
            <p:ph idx="1"/>
          </p:nvPr>
        </p:nvSpPr>
        <p:spPr/>
        <p:txBody>
          <a:bodyPr/>
          <a:lstStyle/>
          <a:p>
            <a:r>
              <a:rPr lang="en-US" dirty="0"/>
              <a:t>Three coins are tossed. Let X be the number of heads obtained. Construct a probability distribution for X and find its mean and standard deviation. </a:t>
            </a:r>
          </a:p>
        </p:txBody>
      </p:sp>
      <p:pic>
        <p:nvPicPr>
          <p:cNvPr id="5122" name="Picture 2" descr="C:\Users\konurd\Desktop\tree_diagram_three_coins.gif"/>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03728" y="2802513"/>
            <a:ext cx="3664699" cy="2721094"/>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4" name="Table 3"/>
          <p:cNvGraphicFramePr>
            <a:graphicFrameLocks noGrp="1"/>
          </p:cNvGraphicFramePr>
          <p:nvPr>
            <p:extLst>
              <p:ext uri="{D42A27DB-BD31-4B8C-83A1-F6EECF244321}">
                <p14:modId xmlns:p14="http://schemas.microsoft.com/office/powerpoint/2010/main" val="2142063949"/>
              </p:ext>
            </p:extLst>
          </p:nvPr>
        </p:nvGraphicFramePr>
        <p:xfrm>
          <a:off x="5048250" y="3248660"/>
          <a:ext cx="1562100" cy="1828800"/>
        </p:xfrm>
        <a:graphic>
          <a:graphicData uri="http://schemas.openxmlformats.org/drawingml/2006/table">
            <a:tbl>
              <a:tblPr/>
              <a:tblGrid>
                <a:gridCol w="781050">
                  <a:extLst>
                    <a:ext uri="{9D8B030D-6E8A-4147-A177-3AD203B41FA5}">
                      <a16:colId xmlns:a16="http://schemas.microsoft.com/office/drawing/2014/main" val="20000"/>
                    </a:ext>
                  </a:extLst>
                </a:gridCol>
                <a:gridCol w="781050">
                  <a:extLst>
                    <a:ext uri="{9D8B030D-6E8A-4147-A177-3AD203B41FA5}">
                      <a16:colId xmlns:a16="http://schemas.microsoft.com/office/drawing/2014/main" val="20001"/>
                    </a:ext>
                  </a:extLst>
                </a:gridCol>
              </a:tblGrid>
              <a:tr h="0">
                <a:tc>
                  <a:txBody>
                    <a:bodyPr/>
                    <a:lstStyle/>
                    <a:p>
                      <a:pPr algn="ctr"/>
                      <a:r>
                        <a:rPr lang="en-US" u="sng" dirty="0"/>
                        <a:t>X</a:t>
                      </a:r>
                    </a:p>
                  </a:txBody>
                  <a:tcPr anchor="ctr">
                    <a:lnL>
                      <a:noFill/>
                    </a:lnL>
                    <a:lnR>
                      <a:noFill/>
                    </a:lnR>
                    <a:lnT>
                      <a:noFill/>
                    </a:lnT>
                    <a:lnB>
                      <a:noFill/>
                    </a:lnB>
                  </a:tcPr>
                </a:tc>
                <a:tc>
                  <a:txBody>
                    <a:bodyPr/>
                    <a:lstStyle/>
                    <a:p>
                      <a:pPr algn="ctr"/>
                      <a:r>
                        <a:rPr lang="en-US" u="sng" dirty="0"/>
                        <a:t>P(X)</a:t>
                      </a:r>
                    </a:p>
                  </a:txBody>
                  <a:tcPr anchor="ctr">
                    <a:lnL>
                      <a:noFill/>
                    </a:lnL>
                    <a:lnR>
                      <a:noFill/>
                    </a:lnR>
                    <a:lnT>
                      <a:noFill/>
                    </a:lnT>
                    <a:lnB>
                      <a:noFill/>
                    </a:lnB>
                  </a:tcPr>
                </a:tc>
                <a:extLst>
                  <a:ext uri="{0D108BD9-81ED-4DB2-BD59-A6C34878D82A}">
                    <a16:rowId xmlns:a16="http://schemas.microsoft.com/office/drawing/2014/main" val="10000"/>
                  </a:ext>
                </a:extLst>
              </a:tr>
              <a:tr h="0">
                <a:tc>
                  <a:txBody>
                    <a:bodyPr/>
                    <a:lstStyle/>
                    <a:p>
                      <a:pPr algn="ctr"/>
                      <a:r>
                        <a:rPr lang="en-US"/>
                        <a:t>0</a:t>
                      </a:r>
                    </a:p>
                  </a:txBody>
                  <a:tcPr anchor="ctr">
                    <a:lnL>
                      <a:noFill/>
                    </a:lnL>
                    <a:lnR>
                      <a:noFill/>
                    </a:lnR>
                    <a:lnT>
                      <a:noFill/>
                    </a:lnT>
                    <a:lnB>
                      <a:noFill/>
                    </a:lnB>
                  </a:tcPr>
                </a:tc>
                <a:tc>
                  <a:txBody>
                    <a:bodyPr/>
                    <a:lstStyle/>
                    <a:p>
                      <a:pPr algn="ctr"/>
                      <a:r>
                        <a:rPr lang="en-US"/>
                        <a:t>1 / 8</a:t>
                      </a:r>
                    </a:p>
                  </a:txBody>
                  <a:tcPr anchor="ctr">
                    <a:lnL>
                      <a:noFill/>
                    </a:lnL>
                    <a:lnR>
                      <a:noFill/>
                    </a:lnR>
                    <a:lnT>
                      <a:noFill/>
                    </a:lnT>
                    <a:lnB>
                      <a:noFill/>
                    </a:lnB>
                  </a:tcPr>
                </a:tc>
                <a:extLst>
                  <a:ext uri="{0D108BD9-81ED-4DB2-BD59-A6C34878D82A}">
                    <a16:rowId xmlns:a16="http://schemas.microsoft.com/office/drawing/2014/main" val="10001"/>
                  </a:ext>
                </a:extLst>
              </a:tr>
              <a:tr h="0">
                <a:tc>
                  <a:txBody>
                    <a:bodyPr/>
                    <a:lstStyle/>
                    <a:p>
                      <a:pPr algn="ctr"/>
                      <a:r>
                        <a:rPr lang="en-US"/>
                        <a:t>1</a:t>
                      </a:r>
                    </a:p>
                  </a:txBody>
                  <a:tcPr anchor="ctr">
                    <a:lnL>
                      <a:noFill/>
                    </a:lnL>
                    <a:lnR>
                      <a:noFill/>
                    </a:lnR>
                    <a:lnT>
                      <a:noFill/>
                    </a:lnT>
                    <a:lnB>
                      <a:noFill/>
                    </a:lnB>
                  </a:tcPr>
                </a:tc>
                <a:tc>
                  <a:txBody>
                    <a:bodyPr/>
                    <a:lstStyle/>
                    <a:p>
                      <a:pPr algn="ctr"/>
                      <a:r>
                        <a:rPr lang="en-US"/>
                        <a:t>3 / 8</a:t>
                      </a:r>
                    </a:p>
                  </a:txBody>
                  <a:tcPr anchor="ctr">
                    <a:lnL>
                      <a:noFill/>
                    </a:lnL>
                    <a:lnR>
                      <a:noFill/>
                    </a:lnR>
                    <a:lnT>
                      <a:noFill/>
                    </a:lnT>
                    <a:lnB>
                      <a:noFill/>
                    </a:lnB>
                  </a:tcPr>
                </a:tc>
                <a:extLst>
                  <a:ext uri="{0D108BD9-81ED-4DB2-BD59-A6C34878D82A}">
                    <a16:rowId xmlns:a16="http://schemas.microsoft.com/office/drawing/2014/main" val="10002"/>
                  </a:ext>
                </a:extLst>
              </a:tr>
              <a:tr h="0">
                <a:tc>
                  <a:txBody>
                    <a:bodyPr/>
                    <a:lstStyle/>
                    <a:p>
                      <a:pPr algn="ctr"/>
                      <a:r>
                        <a:rPr lang="en-US" dirty="0"/>
                        <a:t>2</a:t>
                      </a:r>
                    </a:p>
                  </a:txBody>
                  <a:tcPr anchor="ctr">
                    <a:lnL>
                      <a:noFill/>
                    </a:lnL>
                    <a:lnR>
                      <a:noFill/>
                    </a:lnR>
                    <a:lnT>
                      <a:noFill/>
                    </a:lnT>
                    <a:lnB>
                      <a:noFill/>
                    </a:lnB>
                  </a:tcPr>
                </a:tc>
                <a:tc>
                  <a:txBody>
                    <a:bodyPr/>
                    <a:lstStyle/>
                    <a:p>
                      <a:pPr algn="ctr"/>
                      <a:r>
                        <a:rPr lang="en-US" dirty="0"/>
                        <a:t>3 / 8</a:t>
                      </a:r>
                    </a:p>
                  </a:txBody>
                  <a:tcPr anchor="ctr">
                    <a:lnL>
                      <a:noFill/>
                    </a:lnL>
                    <a:lnR>
                      <a:noFill/>
                    </a:lnR>
                    <a:lnT>
                      <a:noFill/>
                    </a:lnT>
                    <a:lnB>
                      <a:noFill/>
                    </a:lnB>
                  </a:tcPr>
                </a:tc>
                <a:extLst>
                  <a:ext uri="{0D108BD9-81ED-4DB2-BD59-A6C34878D82A}">
                    <a16:rowId xmlns:a16="http://schemas.microsoft.com/office/drawing/2014/main" val="10003"/>
                  </a:ext>
                </a:extLst>
              </a:tr>
              <a:tr h="0">
                <a:tc>
                  <a:txBody>
                    <a:bodyPr/>
                    <a:lstStyle/>
                    <a:p>
                      <a:pPr algn="ctr"/>
                      <a:r>
                        <a:rPr lang="en-US"/>
                        <a:t>3</a:t>
                      </a:r>
                    </a:p>
                  </a:txBody>
                  <a:tcPr anchor="ctr">
                    <a:lnL>
                      <a:noFill/>
                    </a:lnL>
                    <a:lnR>
                      <a:noFill/>
                    </a:lnR>
                    <a:lnT>
                      <a:noFill/>
                    </a:lnT>
                    <a:lnB>
                      <a:noFill/>
                    </a:lnB>
                  </a:tcPr>
                </a:tc>
                <a:tc>
                  <a:txBody>
                    <a:bodyPr/>
                    <a:lstStyle/>
                    <a:p>
                      <a:pPr algn="ctr"/>
                      <a:r>
                        <a:rPr lang="en-US" dirty="0"/>
                        <a:t>1 / 8</a:t>
                      </a:r>
                    </a:p>
                  </a:txBody>
                  <a:tcPr anchor="ctr">
                    <a:lnL>
                      <a:noFill/>
                    </a:lnL>
                    <a:lnR>
                      <a:noFill/>
                    </a:lnR>
                    <a:lnT>
                      <a:noFill/>
                    </a:lnT>
                    <a:lnB>
                      <a:noFill/>
                    </a:lnB>
                  </a:tcPr>
                </a:tc>
                <a:extLst>
                  <a:ext uri="{0D108BD9-81ED-4DB2-BD59-A6C34878D82A}">
                    <a16:rowId xmlns:a16="http://schemas.microsoft.com/office/drawing/2014/main" val="10004"/>
                  </a:ext>
                </a:extLst>
              </a:tr>
            </a:tbl>
          </a:graphicData>
        </a:graphic>
      </p:graphicFrame>
      <p:sp>
        <p:nvSpPr>
          <p:cNvPr id="5" name="Rectangle 3"/>
          <p:cNvSpPr>
            <a:spLocks noChangeArrowheads="1"/>
          </p:cNvSpPr>
          <p:nvPr/>
        </p:nvSpPr>
        <p:spPr bwMode="auto">
          <a:xfrm>
            <a:off x="5619751" y="225373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6" name="TextBox 5"/>
          <p:cNvSpPr txBox="1"/>
          <p:nvPr/>
        </p:nvSpPr>
        <p:spPr>
          <a:xfrm>
            <a:off x="6987540" y="3076526"/>
            <a:ext cx="2895600" cy="646331"/>
          </a:xfrm>
          <a:prstGeom prst="rect">
            <a:avLst/>
          </a:prstGeom>
          <a:noFill/>
        </p:spPr>
        <p:txBody>
          <a:bodyPr wrap="square" rtlCol="0">
            <a:spAutoFit/>
          </a:bodyPr>
          <a:lstStyle/>
          <a:p>
            <a:r>
              <a:rPr lang="en-US" dirty="0"/>
              <a:t>E[X]= 0 * (1/8) + 1 * (3/8) + 2 * (3/8) + 3 * (1/8) = 1.5</a:t>
            </a:r>
          </a:p>
        </p:txBody>
      </p:sp>
      <p:sp>
        <p:nvSpPr>
          <p:cNvPr id="8" name="TextBox 7"/>
          <p:cNvSpPr txBox="1"/>
          <p:nvPr/>
        </p:nvSpPr>
        <p:spPr>
          <a:xfrm>
            <a:off x="6949440" y="3972560"/>
            <a:ext cx="2971800" cy="923330"/>
          </a:xfrm>
          <a:prstGeom prst="rect">
            <a:avLst/>
          </a:prstGeom>
          <a:noFill/>
        </p:spPr>
        <p:txBody>
          <a:bodyPr wrap="square" rtlCol="0">
            <a:spAutoFit/>
          </a:bodyPr>
          <a:lstStyle/>
          <a:p>
            <a:r>
              <a:rPr lang="en-US" dirty="0"/>
              <a:t>V[X]= (0 - 1.5)</a:t>
            </a:r>
            <a:r>
              <a:rPr lang="en-US" baseline="30000" dirty="0"/>
              <a:t> 2</a:t>
            </a:r>
            <a:r>
              <a:rPr lang="en-US" dirty="0"/>
              <a:t> * (1/8) + (1 - 1.5)</a:t>
            </a:r>
            <a:r>
              <a:rPr lang="en-US" baseline="30000" dirty="0"/>
              <a:t> 2</a:t>
            </a:r>
            <a:r>
              <a:rPr lang="en-US" dirty="0"/>
              <a:t> * (3/8) + (2 - 1.5)</a:t>
            </a:r>
            <a:r>
              <a:rPr lang="en-US" baseline="30000" dirty="0"/>
              <a:t> 2</a:t>
            </a:r>
            <a:r>
              <a:rPr lang="en-US" dirty="0"/>
              <a:t> * (3/8) + (3 - 1.5)</a:t>
            </a:r>
            <a:r>
              <a:rPr lang="en-US" baseline="30000" dirty="0"/>
              <a:t> 2</a:t>
            </a:r>
            <a:r>
              <a:rPr lang="en-US" dirty="0"/>
              <a:t> * (3/8)= 1.11 </a:t>
            </a:r>
          </a:p>
        </p:txBody>
      </p:sp>
    </p:spTree>
    <p:extLst>
      <p:ext uri="{BB962C8B-B14F-4D97-AF65-F5344CB8AC3E}">
        <p14:creationId xmlns:p14="http://schemas.microsoft.com/office/powerpoint/2010/main" val="3162455248"/>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Expectation and Variance</a:t>
            </a:r>
          </a:p>
        </p:txBody>
      </p:sp>
      <p:sp>
        <p:nvSpPr>
          <p:cNvPr id="3" name="Content Placeholder 2"/>
          <p:cNvSpPr>
            <a:spLocks noGrp="1"/>
          </p:cNvSpPr>
          <p:nvPr>
            <p:ph idx="1"/>
          </p:nvPr>
        </p:nvSpPr>
        <p:spPr/>
        <p:txBody>
          <a:bodyPr>
            <a:normAutofit lnSpcReduction="10000"/>
          </a:bodyPr>
          <a:lstStyle/>
          <a:p>
            <a:r>
              <a:rPr lang="en-US" dirty="0"/>
              <a:t>Recall that</a:t>
            </a:r>
          </a:p>
          <a:p>
            <a:pPr lvl="1"/>
            <a:r>
              <a:rPr lang="en-US" dirty="0"/>
              <a:t>E[X] = </a:t>
            </a:r>
            <a:r>
              <a:rPr lang="en-US" dirty="0">
                <a:latin typeface="Symbol" pitchFamily="18" charset="2"/>
              </a:rPr>
              <a:t>S</a:t>
            </a:r>
            <a:r>
              <a:rPr lang="en-US" dirty="0"/>
              <a:t> x P(X=x)</a:t>
            </a:r>
          </a:p>
          <a:p>
            <a:r>
              <a:rPr lang="en-US" dirty="0"/>
              <a:t>We have the following properties</a:t>
            </a:r>
          </a:p>
          <a:p>
            <a:pPr lvl="1"/>
            <a:r>
              <a:rPr lang="en-US" dirty="0"/>
              <a:t>E[</a:t>
            </a:r>
            <a:r>
              <a:rPr lang="en-US" dirty="0" err="1"/>
              <a:t>X+c</a:t>
            </a:r>
            <a:r>
              <a:rPr lang="en-US" dirty="0"/>
              <a:t>]=E[X]+c where </a:t>
            </a:r>
            <a:r>
              <a:rPr lang="en-US" i="1" dirty="0"/>
              <a:t>c</a:t>
            </a:r>
            <a:r>
              <a:rPr lang="en-US" dirty="0"/>
              <a:t> is a constant</a:t>
            </a:r>
          </a:p>
          <a:p>
            <a:pPr lvl="1"/>
            <a:r>
              <a:rPr lang="en-US" dirty="0"/>
              <a:t>E[</a:t>
            </a:r>
            <a:r>
              <a:rPr lang="en-US" dirty="0" err="1"/>
              <a:t>aX</a:t>
            </a:r>
            <a:r>
              <a:rPr lang="en-US" dirty="0"/>
              <a:t>]=</a:t>
            </a:r>
            <a:r>
              <a:rPr lang="en-US" dirty="0" err="1"/>
              <a:t>aE</a:t>
            </a:r>
            <a:r>
              <a:rPr lang="en-US" dirty="0"/>
              <a:t>[X] where </a:t>
            </a:r>
            <a:r>
              <a:rPr lang="en-US" i="1" dirty="0"/>
              <a:t>a</a:t>
            </a:r>
            <a:r>
              <a:rPr lang="en-US" dirty="0"/>
              <a:t> is a constant</a:t>
            </a:r>
          </a:p>
          <a:p>
            <a:pPr lvl="1"/>
            <a:r>
              <a:rPr lang="en-US" dirty="0"/>
              <a:t>E[</a:t>
            </a:r>
            <a:r>
              <a:rPr lang="en-US" dirty="0" err="1"/>
              <a:t>aX+bY</a:t>
            </a:r>
            <a:r>
              <a:rPr lang="en-US" dirty="0"/>
              <a:t>]=</a:t>
            </a:r>
            <a:r>
              <a:rPr lang="en-US" dirty="0" err="1"/>
              <a:t>aE</a:t>
            </a:r>
            <a:r>
              <a:rPr lang="en-US" dirty="0"/>
              <a:t>[X]+</a:t>
            </a:r>
            <a:r>
              <a:rPr lang="en-US" dirty="0" err="1"/>
              <a:t>bE</a:t>
            </a:r>
            <a:r>
              <a:rPr lang="en-US" dirty="0"/>
              <a:t>[Y] where Y is also a random variable</a:t>
            </a:r>
          </a:p>
          <a:p>
            <a:r>
              <a:rPr lang="en-US" dirty="0"/>
              <a:t>Recall that</a:t>
            </a:r>
          </a:p>
          <a:p>
            <a:pPr lvl="1"/>
            <a:r>
              <a:rPr lang="en-US" dirty="0"/>
              <a:t>V[X] =</a:t>
            </a:r>
            <a:r>
              <a:rPr lang="en-US" dirty="0">
                <a:latin typeface="Symbol" pitchFamily="18" charset="2"/>
              </a:rPr>
              <a:t>S</a:t>
            </a:r>
            <a:r>
              <a:rPr lang="en-US" dirty="0"/>
              <a:t> x</a:t>
            </a:r>
            <a:r>
              <a:rPr lang="en-US" baseline="30000" dirty="0"/>
              <a:t>2</a:t>
            </a:r>
            <a:r>
              <a:rPr lang="en-US" dirty="0"/>
              <a:t> P(X=x) – E[X]</a:t>
            </a:r>
            <a:r>
              <a:rPr lang="en-US" baseline="30000" dirty="0"/>
              <a:t>2</a:t>
            </a:r>
          </a:p>
          <a:p>
            <a:r>
              <a:rPr lang="en-US" dirty="0"/>
              <a:t>We have the following properties</a:t>
            </a:r>
          </a:p>
          <a:p>
            <a:pPr lvl="1"/>
            <a:r>
              <a:rPr lang="en-US" dirty="0"/>
              <a:t>V[</a:t>
            </a:r>
            <a:r>
              <a:rPr lang="en-US" dirty="0" err="1"/>
              <a:t>X+c</a:t>
            </a:r>
            <a:r>
              <a:rPr lang="en-US" dirty="0"/>
              <a:t>]=V[X] where </a:t>
            </a:r>
            <a:r>
              <a:rPr lang="en-US" i="1" dirty="0"/>
              <a:t>c</a:t>
            </a:r>
            <a:r>
              <a:rPr lang="en-US" dirty="0"/>
              <a:t> is a constant</a:t>
            </a:r>
          </a:p>
          <a:p>
            <a:pPr lvl="1"/>
            <a:r>
              <a:rPr lang="en-US" dirty="0"/>
              <a:t>V[</a:t>
            </a:r>
            <a:r>
              <a:rPr lang="en-US" dirty="0" err="1"/>
              <a:t>aX</a:t>
            </a:r>
            <a:r>
              <a:rPr lang="en-US" dirty="0"/>
              <a:t>]=a</a:t>
            </a:r>
            <a:r>
              <a:rPr lang="en-US" baseline="30000" dirty="0"/>
              <a:t>2</a:t>
            </a:r>
            <a:r>
              <a:rPr lang="en-US" dirty="0"/>
              <a:t>V[X] where </a:t>
            </a:r>
            <a:r>
              <a:rPr lang="en-US" i="1" dirty="0"/>
              <a:t>a</a:t>
            </a:r>
            <a:r>
              <a:rPr lang="en-US" dirty="0"/>
              <a:t> is a constant</a:t>
            </a:r>
          </a:p>
          <a:p>
            <a:pPr lvl="1"/>
            <a:r>
              <a:rPr lang="en-US" dirty="0"/>
              <a:t>V[</a:t>
            </a:r>
            <a:r>
              <a:rPr lang="en-US" dirty="0" err="1"/>
              <a:t>aX+bY</a:t>
            </a:r>
            <a:r>
              <a:rPr lang="en-US" dirty="0"/>
              <a:t>]= a</a:t>
            </a:r>
            <a:r>
              <a:rPr lang="en-US" baseline="30000" dirty="0"/>
              <a:t>2</a:t>
            </a:r>
            <a:r>
              <a:rPr lang="en-US" dirty="0"/>
              <a:t>V[X]+ b</a:t>
            </a:r>
            <a:r>
              <a:rPr lang="en-US" baseline="30000" dirty="0"/>
              <a:t>2</a:t>
            </a:r>
            <a:r>
              <a:rPr lang="en-US" dirty="0"/>
              <a:t>V[Y] if X and Y are independent variables</a:t>
            </a:r>
          </a:p>
          <a:p>
            <a:pPr lvl="1"/>
            <a:endParaRPr lang="en-US" dirty="0"/>
          </a:p>
        </p:txBody>
      </p:sp>
    </p:spTree>
    <p:extLst>
      <p:ext uri="{BB962C8B-B14F-4D97-AF65-F5344CB8AC3E}">
        <p14:creationId xmlns:p14="http://schemas.microsoft.com/office/powerpoint/2010/main" val="1230543881"/>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Expectation and Variance</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r>
                  <a:rPr lang="en-US" dirty="0"/>
                  <a:t>Multiplication of two random variables</a:t>
                </a:r>
              </a:p>
              <a:p>
                <a:pPr lvl="1"/>
                <a:r>
                  <a:rPr lang="en-US" dirty="0"/>
                  <a:t>Suppose Z = XY,</a:t>
                </a:r>
              </a:p>
              <a:p>
                <a:pPr lvl="1"/>
                <a:r>
                  <a:rPr lang="en-US" dirty="0"/>
                  <a:t>X and Y are </a:t>
                </a:r>
                <a:r>
                  <a:rPr lang="en-US" i="1" dirty="0"/>
                  <a:t>independent</a:t>
                </a:r>
                <a:r>
                  <a:rPr lang="en-US" dirty="0"/>
                  <a:t> random variables</a:t>
                </a:r>
              </a:p>
              <a:p>
                <a:pPr lvl="2"/>
                <a:r>
                  <a:rPr lang="en-US" dirty="0"/>
                  <a:t>That is, if P(X</a:t>
                </a:r>
                <a:r>
                  <a:rPr lang="en-US" dirty="0">
                    <a:ea typeface="Cambria Math"/>
                  </a:rPr>
                  <a:t> </a:t>
                </a:r>
                <a14:m>
                  <m:oMath xmlns:m="http://schemas.openxmlformats.org/officeDocument/2006/math">
                    <m:r>
                      <a:rPr lang="en-US" i="1">
                        <a:latin typeface="Cambria Math"/>
                        <a:ea typeface="Cambria Math"/>
                      </a:rPr>
                      <m:t>∩</m:t>
                    </m:r>
                  </m:oMath>
                </a14:m>
                <a:r>
                  <a:rPr lang="en-US" dirty="0"/>
                  <a:t>Y) = P(X)P(Y)</a:t>
                </a:r>
              </a:p>
              <a:p>
                <a:pPr lvl="1"/>
                <a:r>
                  <a:rPr lang="en-US" dirty="0"/>
                  <a:t>THEN Z is a random variable with</a:t>
                </a:r>
              </a:p>
              <a:p>
                <a:pPr lvl="2"/>
                <a:r>
                  <a:rPr lang="en-US" dirty="0"/>
                  <a:t>E[Z] = E[X]E[Y]</a:t>
                </a:r>
              </a:p>
              <a:p>
                <a:pPr lvl="2"/>
                <a:r>
                  <a:rPr lang="en-US" dirty="0"/>
                  <a:t>V[Z] = V[X]E[Y]</a:t>
                </a:r>
                <a:r>
                  <a:rPr lang="en-US" baseline="30000" dirty="0"/>
                  <a:t>2</a:t>
                </a:r>
                <a:r>
                  <a:rPr lang="en-US" dirty="0"/>
                  <a:t> + V[Y]E[X]</a:t>
                </a:r>
                <a:r>
                  <a:rPr lang="en-US" baseline="30000" dirty="0"/>
                  <a:t>2</a:t>
                </a:r>
                <a:r>
                  <a:rPr lang="en-US" dirty="0"/>
                  <a:t> + V[X]V[Y]</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956" t="-2005"/>
                </a:stretch>
              </a:blipFill>
            </p:spPr>
            <p:txBody>
              <a:bodyPr/>
              <a:lstStyle/>
              <a:p>
                <a:r>
                  <a:rPr lang="en-US">
                    <a:noFill/>
                  </a:rPr>
                  <a:t> </a:t>
                </a:r>
              </a:p>
            </p:txBody>
          </p:sp>
        </mc:Fallback>
      </mc:AlternateContent>
      <p:sp>
        <p:nvSpPr>
          <p:cNvPr id="4" name="Slide Number Placeholder 3"/>
          <p:cNvSpPr>
            <a:spLocks noGrp="1"/>
          </p:cNvSpPr>
          <p:nvPr>
            <p:ph type="sldNum" sz="quarter" idx="12"/>
          </p:nvPr>
        </p:nvSpPr>
        <p:spPr/>
        <p:txBody>
          <a:bodyPr/>
          <a:lstStyle/>
          <a:p>
            <a:pPr>
              <a:defRPr/>
            </a:pPr>
            <a:fld id="{17D8DEC3-86FA-484C-AC83-38B4A6F9AAAF}" type="slidenum">
              <a:rPr lang="en-US" smtClean="0"/>
              <a:pPr>
                <a:defRPr/>
              </a:pPr>
              <a:t>69</a:t>
            </a:fld>
            <a:endParaRPr lang="en-US" dirty="0"/>
          </a:p>
        </p:txBody>
      </p:sp>
    </p:spTree>
    <p:extLst>
      <p:ext uri="{BB962C8B-B14F-4D97-AF65-F5344CB8AC3E}">
        <p14:creationId xmlns:p14="http://schemas.microsoft.com/office/powerpoint/2010/main" val="1748670425"/>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Conditional Probability</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lnSpcReduction="10000"/>
              </a:bodyPr>
              <a:lstStyle/>
              <a:p>
                <a:r>
                  <a:rPr lang="en-US" dirty="0"/>
                  <a:t>The </a:t>
                </a:r>
                <a:r>
                  <a:rPr lang="en-US" b="1" i="1" dirty="0"/>
                  <a:t>conditional probability</a:t>
                </a:r>
                <a:r>
                  <a:rPr lang="en-US" dirty="0"/>
                  <a:t> of an event </a:t>
                </a:r>
                <a:r>
                  <a:rPr lang="en-US" i="1" dirty="0"/>
                  <a:t>A</a:t>
                </a:r>
                <a:r>
                  <a:rPr lang="en-US" dirty="0"/>
                  <a:t> is the probability that the event will occur given the knowledge that an event </a:t>
                </a:r>
                <a:r>
                  <a:rPr lang="en-US" i="1" dirty="0"/>
                  <a:t>B</a:t>
                </a:r>
                <a:r>
                  <a:rPr lang="en-US" dirty="0"/>
                  <a:t> has already occurred</a:t>
                </a:r>
              </a:p>
              <a:p>
                <a:pPr lvl="1"/>
                <a:r>
                  <a:rPr lang="en-US" i="1" dirty="0"/>
                  <a:t>P(A|B)</a:t>
                </a:r>
                <a:r>
                  <a:rPr lang="en-US" dirty="0"/>
                  <a:t>, notation for the </a:t>
                </a:r>
                <a:r>
                  <a:rPr lang="en-US" i="1" dirty="0"/>
                  <a:t>probability of A given B</a:t>
                </a:r>
              </a:p>
              <a:p>
                <a:pPr lvl="1"/>
                <a:r>
                  <a:rPr lang="en-US" i="1" dirty="0"/>
                  <a:t>What is the probability of having a 4 after you roll a die and you know that you have an even number?</a:t>
                </a:r>
              </a:p>
              <a:p>
                <a:pPr lvl="1"/>
                <a:r>
                  <a:rPr lang="en-US" i="1" dirty="0"/>
                  <a:t>P(X=4| even number)=1/3</a:t>
                </a:r>
              </a:p>
              <a:p>
                <a14:m>
                  <m:oMath xmlns:m="http://schemas.openxmlformats.org/officeDocument/2006/math">
                    <m:r>
                      <a:rPr lang="en-US" i="1">
                        <a:latin typeface="Cambria Math"/>
                      </a:rPr>
                      <m:t>𝑃</m:t>
                    </m:r>
                    <m:r>
                      <a:rPr lang="en-US" i="1">
                        <a:latin typeface="Cambria Math"/>
                      </a:rPr>
                      <m:t>(</m:t>
                    </m:r>
                    <m:r>
                      <a:rPr lang="en-US" i="1">
                        <a:latin typeface="Cambria Math"/>
                      </a:rPr>
                      <m:t>𝐴</m:t>
                    </m:r>
                    <m:r>
                      <a:rPr lang="en-US" i="1">
                        <a:latin typeface="Cambria Math"/>
                      </a:rPr>
                      <m:t>|</m:t>
                    </m:r>
                    <m:r>
                      <a:rPr lang="en-US" i="1">
                        <a:latin typeface="Cambria Math"/>
                      </a:rPr>
                      <m:t>𝐵</m:t>
                    </m:r>
                    <m:r>
                      <a:rPr lang="en-US" i="1">
                        <a:latin typeface="Cambria Math"/>
                      </a:rPr>
                      <m:t>)=</m:t>
                    </m:r>
                    <m:f>
                      <m:fPr>
                        <m:ctrlPr>
                          <a:rPr lang="en-US" i="1">
                            <a:latin typeface="Cambria Math" panose="02040503050406030204" pitchFamily="18" charset="0"/>
                          </a:rPr>
                        </m:ctrlPr>
                      </m:fPr>
                      <m:num>
                        <m:r>
                          <a:rPr lang="en-US" i="1">
                            <a:latin typeface="Cambria Math"/>
                          </a:rPr>
                          <m:t>𝑃</m:t>
                        </m:r>
                        <m:r>
                          <a:rPr lang="en-US" i="1">
                            <a:latin typeface="Cambria Math"/>
                          </a:rPr>
                          <m:t>(</m:t>
                        </m:r>
                        <m:r>
                          <a:rPr lang="en-US" i="1">
                            <a:latin typeface="Cambria Math"/>
                          </a:rPr>
                          <m:t>𝐴</m:t>
                        </m:r>
                        <m:r>
                          <a:rPr lang="en-US" i="1">
                            <a:latin typeface="Cambria Math"/>
                            <a:ea typeface="Cambria Math"/>
                          </a:rPr>
                          <m:t>∩</m:t>
                        </m:r>
                        <m:r>
                          <a:rPr lang="en-US" i="1">
                            <a:latin typeface="Cambria Math"/>
                            <a:ea typeface="Cambria Math"/>
                          </a:rPr>
                          <m:t>𝐵</m:t>
                        </m:r>
                        <m:r>
                          <a:rPr lang="en-US" i="1">
                            <a:latin typeface="Cambria Math"/>
                          </a:rPr>
                          <m:t>)</m:t>
                        </m:r>
                      </m:num>
                      <m:den>
                        <m:r>
                          <a:rPr lang="en-US" i="1">
                            <a:latin typeface="Cambria Math"/>
                          </a:rPr>
                          <m:t>𝑃</m:t>
                        </m:r>
                        <m:r>
                          <a:rPr lang="en-US" i="1">
                            <a:latin typeface="Cambria Math"/>
                          </a:rPr>
                          <m:t>(</m:t>
                        </m:r>
                        <m:r>
                          <a:rPr lang="en-US" i="1">
                            <a:latin typeface="Cambria Math"/>
                          </a:rPr>
                          <m:t>𝐵</m:t>
                        </m:r>
                        <m:r>
                          <a:rPr lang="en-US" i="1">
                            <a:latin typeface="Cambria Math"/>
                          </a:rPr>
                          <m:t>)</m:t>
                        </m:r>
                      </m:den>
                    </m:f>
                  </m:oMath>
                </a14:m>
                <a:r>
                  <a:rPr lang="en-US" dirty="0"/>
                  <a:t> </a:t>
                </a:r>
              </a:p>
              <a:p>
                <a:pPr lvl="1"/>
                <a14:m>
                  <m:oMath xmlns:m="http://schemas.openxmlformats.org/officeDocument/2006/math">
                    <m:r>
                      <a:rPr lang="en-US" i="1">
                        <a:latin typeface="Cambria Math"/>
                      </a:rPr>
                      <m:t>𝑃</m:t>
                    </m:r>
                    <m:r>
                      <a:rPr lang="en-US" i="1">
                        <a:latin typeface="Cambria Math"/>
                      </a:rPr>
                      <m:t>(</m:t>
                    </m:r>
                    <m:r>
                      <a:rPr lang="en-US" i="1">
                        <a:latin typeface="Cambria Math"/>
                      </a:rPr>
                      <m:t>𝐴</m:t>
                    </m:r>
                    <m:r>
                      <a:rPr lang="en-US" i="1">
                        <a:latin typeface="Cambria Math"/>
                        <a:ea typeface="Cambria Math"/>
                      </a:rPr>
                      <m:t>∩</m:t>
                    </m:r>
                    <m:r>
                      <a:rPr lang="en-US" i="1">
                        <a:latin typeface="Cambria Math"/>
                        <a:ea typeface="Cambria Math"/>
                      </a:rPr>
                      <m:t>𝐵</m:t>
                    </m:r>
                  </m:oMath>
                </a14:m>
                <a:r>
                  <a:rPr lang="en-US" dirty="0"/>
                  <a:t>) is the probability of A and B</a:t>
                </a:r>
              </a:p>
              <a:p>
                <a:pPr lvl="1"/>
                <a:r>
                  <a:rPr lang="en-US" dirty="0"/>
                  <a:t>E</a:t>
                </a:r>
                <a:r>
                  <a:rPr lang="en-US" baseline="-25000" dirty="0"/>
                  <a:t>A</a:t>
                </a:r>
                <a:r>
                  <a:rPr lang="en-US" dirty="0"/>
                  <a:t>={4}, E</a:t>
                </a:r>
                <a:r>
                  <a:rPr lang="en-US" baseline="-25000" dirty="0"/>
                  <a:t>B</a:t>
                </a:r>
                <a:r>
                  <a:rPr lang="en-US" dirty="0"/>
                  <a:t>={2,4,6} then </a:t>
                </a:r>
                <a:r>
                  <a:rPr lang="en-US" dirty="0" err="1"/>
                  <a:t>E</a:t>
                </a:r>
                <a:r>
                  <a:rPr lang="en-US" baseline="-25000" dirty="0" err="1"/>
                  <a:t>AnB</a:t>
                </a:r>
                <a:r>
                  <a:rPr lang="en-US" dirty="0"/>
                  <a:t>={4}</a:t>
                </a:r>
              </a:p>
              <a:p>
                <a:pPr lvl="1"/>
                <a14:m>
                  <m:oMath xmlns:m="http://schemas.openxmlformats.org/officeDocument/2006/math">
                    <m:r>
                      <a:rPr lang="en-US" i="1">
                        <a:latin typeface="Cambria Math"/>
                      </a:rPr>
                      <m:t>𝑃</m:t>
                    </m:r>
                    <m:d>
                      <m:dPr>
                        <m:ctrlPr>
                          <a:rPr lang="en-US" i="1">
                            <a:latin typeface="Cambria Math" panose="02040503050406030204" pitchFamily="18" charset="0"/>
                          </a:rPr>
                        </m:ctrlPr>
                      </m:dPr>
                      <m:e>
                        <m:r>
                          <a:rPr lang="en-US" i="1">
                            <a:latin typeface="Cambria Math"/>
                          </a:rPr>
                          <m:t>𝐴</m:t>
                        </m:r>
                        <m:r>
                          <a:rPr lang="en-US" i="1">
                            <a:latin typeface="Cambria Math"/>
                            <a:ea typeface="Cambria Math"/>
                          </a:rPr>
                          <m:t>∩</m:t>
                        </m:r>
                        <m:r>
                          <a:rPr lang="en-US" i="1">
                            <a:latin typeface="Cambria Math"/>
                            <a:ea typeface="Cambria Math"/>
                          </a:rPr>
                          <m:t>𝐵</m:t>
                        </m:r>
                      </m:e>
                    </m:d>
                    <m:r>
                      <a:rPr lang="en-US">
                        <a:latin typeface="Cambria Math"/>
                        <a:ea typeface="Cambria Math"/>
                      </a:rPr>
                      <m:t>=</m:t>
                    </m:r>
                    <m:f>
                      <m:fPr>
                        <m:ctrlPr>
                          <a:rPr lang="en-US" i="1">
                            <a:latin typeface="Cambria Math" panose="02040503050406030204" pitchFamily="18" charset="0"/>
                            <a:ea typeface="Cambria Math"/>
                          </a:rPr>
                        </m:ctrlPr>
                      </m:fPr>
                      <m:num>
                        <m:r>
                          <a:rPr lang="en-US">
                            <a:latin typeface="Cambria Math"/>
                            <a:ea typeface="Cambria Math"/>
                          </a:rPr>
                          <m:t>1</m:t>
                        </m:r>
                      </m:num>
                      <m:den>
                        <m:r>
                          <a:rPr lang="en-US">
                            <a:latin typeface="Cambria Math"/>
                            <a:ea typeface="Cambria Math"/>
                          </a:rPr>
                          <m:t>6</m:t>
                        </m:r>
                      </m:den>
                    </m:f>
                    <m:r>
                      <a:rPr lang="en-US" b="0" i="0" smtClean="0">
                        <a:latin typeface="Cambria Math" panose="02040503050406030204" pitchFamily="18" charset="0"/>
                        <a:ea typeface="Cambria Math"/>
                      </a:rPr>
                      <m:t> </m:t>
                    </m:r>
                    <m:r>
                      <m:rPr>
                        <m:sty m:val="p"/>
                      </m:rPr>
                      <a:rPr lang="en-US" b="0" i="0" smtClean="0">
                        <a:latin typeface="Cambria Math" panose="02040503050406030204" pitchFamily="18" charset="0"/>
                        <a:ea typeface="Cambria Math"/>
                      </a:rPr>
                      <m:t>and</m:t>
                    </m:r>
                    <m:r>
                      <a:rPr lang="en-US" b="0" i="0" smtClean="0">
                        <a:latin typeface="Cambria Math" panose="02040503050406030204" pitchFamily="18" charset="0"/>
                        <a:ea typeface="Cambria Math"/>
                      </a:rPr>
                      <m:t> </m:t>
                    </m:r>
                    <m:r>
                      <a:rPr lang="en-US" i="1">
                        <a:latin typeface="Cambria Math"/>
                      </a:rPr>
                      <m:t>𝑃</m:t>
                    </m:r>
                    <m:d>
                      <m:dPr>
                        <m:ctrlPr>
                          <a:rPr lang="en-US" i="1">
                            <a:latin typeface="Cambria Math" panose="02040503050406030204" pitchFamily="18" charset="0"/>
                          </a:rPr>
                        </m:ctrlPr>
                      </m:dPr>
                      <m:e>
                        <m:r>
                          <a:rPr lang="en-US" i="1">
                            <a:latin typeface="Cambria Math"/>
                          </a:rPr>
                          <m:t>𝐵</m:t>
                        </m:r>
                      </m:e>
                    </m:d>
                    <m:r>
                      <a:rPr lang="en-US" i="1">
                        <a:latin typeface="Cambria Math"/>
                      </a:rPr>
                      <m:t>=</m:t>
                    </m:r>
                    <m:f>
                      <m:fPr>
                        <m:ctrlPr>
                          <a:rPr lang="en-US" i="1">
                            <a:latin typeface="Cambria Math" panose="02040503050406030204" pitchFamily="18" charset="0"/>
                          </a:rPr>
                        </m:ctrlPr>
                      </m:fPr>
                      <m:num>
                        <m:r>
                          <a:rPr lang="en-US" i="1">
                            <a:latin typeface="Cambria Math"/>
                          </a:rPr>
                          <m:t>1</m:t>
                        </m:r>
                      </m:num>
                      <m:den>
                        <m:r>
                          <a:rPr lang="en-US" i="1">
                            <a:latin typeface="Cambria Math"/>
                          </a:rPr>
                          <m:t>2</m:t>
                        </m:r>
                      </m:den>
                    </m:f>
                  </m:oMath>
                </a14:m>
                <a:endParaRPr lang="en-US" dirty="0"/>
              </a:p>
              <a:p>
                <a:pPr lvl="1"/>
                <a14:m>
                  <m:oMath xmlns:m="http://schemas.openxmlformats.org/officeDocument/2006/math">
                    <m:r>
                      <a:rPr lang="en-US" i="1">
                        <a:latin typeface="Cambria Math"/>
                      </a:rPr>
                      <m:t>𝑃</m:t>
                    </m:r>
                    <m:d>
                      <m:dPr>
                        <m:ctrlPr>
                          <a:rPr lang="en-US" i="1">
                            <a:latin typeface="Cambria Math" panose="02040503050406030204" pitchFamily="18" charset="0"/>
                          </a:rPr>
                        </m:ctrlPr>
                      </m:dPr>
                      <m:e>
                        <m:r>
                          <a:rPr lang="en-US" i="1">
                            <a:latin typeface="Cambria Math"/>
                          </a:rPr>
                          <m:t>𝐴</m:t>
                        </m:r>
                      </m:e>
                      <m:e>
                        <m:r>
                          <a:rPr lang="en-US" i="1">
                            <a:latin typeface="Cambria Math"/>
                          </a:rPr>
                          <m:t>𝐵</m:t>
                        </m:r>
                      </m:e>
                    </m:d>
                    <m:r>
                      <a:rPr lang="en-US" i="1">
                        <a:latin typeface="Cambria Math"/>
                      </a:rPr>
                      <m:t>=</m:t>
                    </m:r>
                    <m:f>
                      <m:fPr>
                        <m:ctrlPr>
                          <a:rPr lang="en-US" i="1">
                            <a:latin typeface="Cambria Math" panose="02040503050406030204" pitchFamily="18" charset="0"/>
                          </a:rPr>
                        </m:ctrlPr>
                      </m:fPr>
                      <m:num>
                        <m:r>
                          <a:rPr lang="en-US" i="1">
                            <a:latin typeface="Cambria Math"/>
                          </a:rPr>
                          <m:t>𝑃</m:t>
                        </m:r>
                        <m:d>
                          <m:dPr>
                            <m:ctrlPr>
                              <a:rPr lang="en-US" i="1">
                                <a:latin typeface="Cambria Math" panose="02040503050406030204" pitchFamily="18" charset="0"/>
                              </a:rPr>
                            </m:ctrlPr>
                          </m:dPr>
                          <m:e>
                            <m:r>
                              <a:rPr lang="en-US" i="1">
                                <a:latin typeface="Cambria Math"/>
                              </a:rPr>
                              <m:t>𝐴</m:t>
                            </m:r>
                            <m:r>
                              <a:rPr lang="en-US" i="1">
                                <a:latin typeface="Cambria Math"/>
                                <a:ea typeface="Cambria Math"/>
                              </a:rPr>
                              <m:t>∩</m:t>
                            </m:r>
                            <m:r>
                              <a:rPr lang="en-US" i="1">
                                <a:latin typeface="Cambria Math"/>
                                <a:ea typeface="Cambria Math"/>
                              </a:rPr>
                              <m:t>𝐵</m:t>
                            </m:r>
                          </m:e>
                        </m:d>
                      </m:num>
                      <m:den>
                        <m:r>
                          <a:rPr lang="en-US" i="1">
                            <a:latin typeface="Cambria Math"/>
                          </a:rPr>
                          <m:t>𝑃</m:t>
                        </m:r>
                        <m:d>
                          <m:dPr>
                            <m:ctrlPr>
                              <a:rPr lang="en-US" i="1">
                                <a:latin typeface="Cambria Math" panose="02040503050406030204" pitchFamily="18" charset="0"/>
                              </a:rPr>
                            </m:ctrlPr>
                          </m:dPr>
                          <m:e>
                            <m:r>
                              <a:rPr lang="en-US" i="1">
                                <a:latin typeface="Cambria Math"/>
                              </a:rPr>
                              <m:t>𝐵</m:t>
                            </m:r>
                          </m:e>
                        </m:d>
                      </m:den>
                    </m:f>
                    <m:r>
                      <a:rPr lang="en-US">
                        <a:latin typeface="Cambria Math"/>
                      </a:rPr>
                      <m:t>=</m:t>
                    </m:r>
                    <m:f>
                      <m:fPr>
                        <m:ctrlPr>
                          <a:rPr lang="en-US" i="1">
                            <a:latin typeface="Cambria Math" panose="02040503050406030204" pitchFamily="18" charset="0"/>
                          </a:rPr>
                        </m:ctrlPr>
                      </m:fPr>
                      <m:num>
                        <m:f>
                          <m:fPr>
                            <m:ctrlPr>
                              <a:rPr lang="en-US" i="1">
                                <a:latin typeface="Cambria Math" panose="02040503050406030204" pitchFamily="18" charset="0"/>
                              </a:rPr>
                            </m:ctrlPr>
                          </m:fPr>
                          <m:num>
                            <m:r>
                              <a:rPr lang="en-US">
                                <a:latin typeface="Cambria Math"/>
                              </a:rPr>
                              <m:t>1</m:t>
                            </m:r>
                          </m:num>
                          <m:den>
                            <m:r>
                              <a:rPr lang="en-US">
                                <a:latin typeface="Cambria Math"/>
                              </a:rPr>
                              <m:t>6</m:t>
                            </m:r>
                          </m:den>
                        </m:f>
                      </m:num>
                      <m:den>
                        <m:f>
                          <m:fPr>
                            <m:ctrlPr>
                              <a:rPr lang="en-US" i="1">
                                <a:latin typeface="Cambria Math" panose="02040503050406030204" pitchFamily="18" charset="0"/>
                              </a:rPr>
                            </m:ctrlPr>
                          </m:fPr>
                          <m:num>
                            <m:r>
                              <a:rPr lang="en-US">
                                <a:latin typeface="Cambria Math"/>
                              </a:rPr>
                              <m:t>1</m:t>
                            </m:r>
                          </m:num>
                          <m:den>
                            <m:r>
                              <a:rPr lang="en-US">
                                <a:latin typeface="Cambria Math"/>
                              </a:rPr>
                              <m:t>2</m:t>
                            </m:r>
                          </m:den>
                        </m:f>
                      </m:den>
                    </m:f>
                    <m:r>
                      <a:rPr lang="en-US">
                        <a:latin typeface="Cambria Math"/>
                      </a:rPr>
                      <m:t>=</m:t>
                    </m:r>
                    <m:f>
                      <m:fPr>
                        <m:ctrlPr>
                          <a:rPr lang="en-US" i="1">
                            <a:latin typeface="Cambria Math" panose="02040503050406030204" pitchFamily="18" charset="0"/>
                          </a:rPr>
                        </m:ctrlPr>
                      </m:fPr>
                      <m:num>
                        <m:r>
                          <a:rPr lang="en-US">
                            <a:latin typeface="Cambria Math"/>
                          </a:rPr>
                          <m:t>1</m:t>
                        </m:r>
                      </m:num>
                      <m:den>
                        <m:r>
                          <a:rPr lang="en-US">
                            <a:latin typeface="Cambria Math"/>
                          </a:rPr>
                          <m:t>3</m:t>
                        </m:r>
                      </m:den>
                    </m:f>
                  </m:oMath>
                </a14:m>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956" t="-2757"/>
                </a:stretch>
              </a:blipFill>
            </p:spPr>
            <p:txBody>
              <a:bodyPr/>
              <a:lstStyle/>
              <a:p>
                <a:r>
                  <a:rPr lang="en-US">
                    <a:noFill/>
                  </a:rPr>
                  <a:t> </a:t>
                </a:r>
              </a:p>
            </p:txBody>
          </p:sp>
        </mc:Fallback>
      </mc:AlternateContent>
      <p:sp>
        <p:nvSpPr>
          <p:cNvPr id="4" name="Slide Number Placeholder 3"/>
          <p:cNvSpPr>
            <a:spLocks noGrp="1"/>
          </p:cNvSpPr>
          <p:nvPr>
            <p:ph type="sldNum" sz="quarter" idx="12"/>
          </p:nvPr>
        </p:nvSpPr>
        <p:spPr/>
        <p:txBody>
          <a:bodyPr/>
          <a:lstStyle/>
          <a:p>
            <a:pPr>
              <a:defRPr/>
            </a:pPr>
            <a:fld id="{17D8DEC3-86FA-484C-AC83-38B4A6F9AAAF}" type="slidenum">
              <a:rPr lang="en-US" smtClean="0"/>
              <a:pPr>
                <a:defRPr/>
              </a:pPr>
              <a:t>70</a:t>
            </a:fld>
            <a:endParaRPr lang="en-US" dirty="0"/>
          </a:p>
        </p:txBody>
      </p:sp>
    </p:spTree>
    <p:extLst>
      <p:ext uri="{BB962C8B-B14F-4D97-AF65-F5344CB8AC3E}">
        <p14:creationId xmlns:p14="http://schemas.microsoft.com/office/powerpoint/2010/main" val="1309245094"/>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Discrete Distributions</a:t>
            </a:r>
          </a:p>
        </p:txBody>
      </p:sp>
      <p:sp>
        <p:nvSpPr>
          <p:cNvPr id="3" name="Content Placeholder 2"/>
          <p:cNvSpPr>
            <a:spLocks noGrp="1"/>
          </p:cNvSpPr>
          <p:nvPr>
            <p:ph idx="1"/>
          </p:nvPr>
        </p:nvSpPr>
        <p:spPr/>
        <p:txBody>
          <a:bodyPr>
            <a:normAutofit lnSpcReduction="10000"/>
          </a:bodyPr>
          <a:lstStyle/>
          <a:p>
            <a:r>
              <a:rPr lang="en-US" dirty="0"/>
              <a:t>Bernoulli (yes-no) distribution:</a:t>
            </a:r>
          </a:p>
          <a:p>
            <a:pPr lvl="1"/>
            <a:r>
              <a:rPr lang="en-US" dirty="0"/>
              <a:t>Two outcomes: whether an event occurs or not</a:t>
            </a:r>
          </a:p>
          <a:p>
            <a:r>
              <a:rPr lang="en-US" dirty="0"/>
              <a:t>Binomial Distribution:</a:t>
            </a:r>
          </a:p>
          <a:p>
            <a:pPr lvl="1"/>
            <a:r>
              <a:rPr lang="en-US" dirty="0"/>
              <a:t>Describes the number of times an event occurs in a fixed number of trials (e.g., number of heads in 10 flips of a coin)</a:t>
            </a:r>
          </a:p>
          <a:p>
            <a:pPr lvl="1"/>
            <a:r>
              <a:rPr lang="en-US" dirty="0"/>
              <a:t>For each trial, only two outcomes possible</a:t>
            </a:r>
          </a:p>
          <a:p>
            <a:pPr lvl="1"/>
            <a:r>
              <a:rPr lang="en-US" dirty="0"/>
              <a:t>Trials are independent</a:t>
            </a:r>
          </a:p>
          <a:p>
            <a:pPr lvl="1"/>
            <a:r>
              <a:rPr lang="en-US" dirty="0"/>
              <a:t>Probability remains the same for each trial </a:t>
            </a:r>
          </a:p>
          <a:p>
            <a:r>
              <a:rPr lang="en-US" dirty="0"/>
              <a:t>Geometric Distribution:</a:t>
            </a:r>
          </a:p>
          <a:p>
            <a:pPr lvl="1"/>
            <a:r>
              <a:rPr lang="en-US" dirty="0"/>
              <a:t>Describes the number of trials until an event occurs (e.g., number of times to roll a die until you get 6)</a:t>
            </a:r>
          </a:p>
          <a:p>
            <a:pPr lvl="1"/>
            <a:r>
              <a:rPr lang="en-US" dirty="0"/>
              <a:t>Same probability for each trial</a:t>
            </a:r>
          </a:p>
          <a:p>
            <a:pPr lvl="1"/>
            <a:r>
              <a:rPr lang="en-US" dirty="0"/>
              <a:t>Continue until succeed, unlimited trials</a:t>
            </a:r>
          </a:p>
          <a:p>
            <a:pPr lvl="1"/>
            <a:endParaRPr lang="en-US" dirty="0"/>
          </a:p>
        </p:txBody>
      </p:sp>
      <p:sp>
        <p:nvSpPr>
          <p:cNvPr id="4" name="Slide Number Placeholder 3"/>
          <p:cNvSpPr>
            <a:spLocks noGrp="1"/>
          </p:cNvSpPr>
          <p:nvPr>
            <p:ph type="sldNum" sz="quarter" idx="12"/>
          </p:nvPr>
        </p:nvSpPr>
        <p:spPr/>
        <p:txBody>
          <a:bodyPr/>
          <a:lstStyle/>
          <a:p>
            <a:pPr>
              <a:defRPr/>
            </a:pPr>
            <a:fld id="{17D8DEC3-86FA-484C-AC83-38B4A6F9AAAF}" type="slidenum">
              <a:rPr lang="en-US" smtClean="0"/>
              <a:pPr>
                <a:defRPr/>
              </a:pPr>
              <a:t>71</a:t>
            </a:fld>
            <a:endParaRPr lang="en-US" dirty="0"/>
          </a:p>
        </p:txBody>
      </p:sp>
    </p:spTree>
    <p:extLst>
      <p:ext uri="{BB962C8B-B14F-4D97-AF65-F5344CB8AC3E}">
        <p14:creationId xmlns:p14="http://schemas.microsoft.com/office/powerpoint/2010/main" val="2556663156"/>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Discrete Distributions</a:t>
            </a:r>
          </a:p>
        </p:txBody>
      </p:sp>
      <p:sp>
        <p:nvSpPr>
          <p:cNvPr id="3" name="Content Placeholder 2"/>
          <p:cNvSpPr>
            <a:spLocks noGrp="1"/>
          </p:cNvSpPr>
          <p:nvPr>
            <p:ph idx="1"/>
          </p:nvPr>
        </p:nvSpPr>
        <p:spPr/>
        <p:txBody>
          <a:bodyPr/>
          <a:lstStyle/>
          <a:p>
            <a:r>
              <a:rPr lang="en-US" dirty="0"/>
              <a:t>Negative Binomial Distribution:</a:t>
            </a:r>
          </a:p>
          <a:p>
            <a:pPr lvl="1"/>
            <a:r>
              <a:rPr lang="en-US" dirty="0"/>
              <a:t>Describes the number of trials until an event occurs n times</a:t>
            </a:r>
          </a:p>
          <a:p>
            <a:pPr lvl="1"/>
            <a:r>
              <a:rPr lang="en-US" dirty="0"/>
              <a:t>Similar to geometric (when n=1, you have geometric distribution)</a:t>
            </a:r>
          </a:p>
          <a:p>
            <a:r>
              <a:rPr lang="en-US" dirty="0"/>
              <a:t>Poisson Distribution:</a:t>
            </a:r>
          </a:p>
          <a:p>
            <a:pPr lvl="1"/>
            <a:r>
              <a:rPr lang="en-US" dirty="0"/>
              <a:t>Describes the number of times an event occurs during a given period of time or space</a:t>
            </a:r>
          </a:p>
          <a:p>
            <a:pPr lvl="1"/>
            <a:r>
              <a:rPr lang="en-US" dirty="0"/>
              <a:t>Occurrences are independent</a:t>
            </a:r>
          </a:p>
          <a:p>
            <a:pPr lvl="1"/>
            <a:r>
              <a:rPr lang="en-US" dirty="0"/>
              <a:t>Any number of events is possible</a:t>
            </a:r>
          </a:p>
          <a:p>
            <a:r>
              <a:rPr lang="en-US" dirty="0"/>
              <a:t>Discrete Uniform Distribution:</a:t>
            </a:r>
          </a:p>
          <a:p>
            <a:pPr lvl="1"/>
            <a:r>
              <a:rPr lang="en-US" dirty="0"/>
              <a:t>Each outcome is equally likely</a:t>
            </a:r>
          </a:p>
          <a:p>
            <a:pPr lvl="1"/>
            <a:r>
              <a:rPr lang="en-US" dirty="0"/>
              <a:t>Rolling a dice, each outcome is ½ probability</a:t>
            </a:r>
          </a:p>
          <a:p>
            <a:r>
              <a:rPr lang="en-US" dirty="0">
                <a:solidFill>
                  <a:srgbClr val="FF0000"/>
                </a:solidFill>
              </a:rPr>
              <a:t>Read Chapter 13.7</a:t>
            </a:r>
          </a:p>
          <a:p>
            <a:pPr lvl="1"/>
            <a:endParaRPr lang="en-US" dirty="0"/>
          </a:p>
        </p:txBody>
      </p:sp>
      <p:sp>
        <p:nvSpPr>
          <p:cNvPr id="4" name="Slide Number Placeholder 3"/>
          <p:cNvSpPr>
            <a:spLocks noGrp="1"/>
          </p:cNvSpPr>
          <p:nvPr>
            <p:ph type="sldNum" sz="quarter" idx="12"/>
          </p:nvPr>
        </p:nvSpPr>
        <p:spPr/>
        <p:txBody>
          <a:bodyPr/>
          <a:lstStyle/>
          <a:p>
            <a:pPr>
              <a:defRPr/>
            </a:pPr>
            <a:fld id="{17D8DEC3-86FA-484C-AC83-38B4A6F9AAAF}" type="slidenum">
              <a:rPr lang="en-US" smtClean="0"/>
              <a:pPr>
                <a:defRPr/>
              </a:pPr>
              <a:t>72</a:t>
            </a:fld>
            <a:endParaRPr lang="en-US" dirty="0"/>
          </a:p>
        </p:txBody>
      </p:sp>
    </p:spTree>
    <p:extLst>
      <p:ext uri="{BB962C8B-B14F-4D97-AF65-F5344CB8AC3E}">
        <p14:creationId xmlns:p14="http://schemas.microsoft.com/office/powerpoint/2010/main" val="2393699459"/>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Continuous Random Variables</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r>
                  <a:rPr lang="en-US" dirty="0"/>
                  <a:t>A random variable is called continuous if it can assume all possible values in the possible range of the random variable.</a:t>
                </a:r>
              </a:p>
              <a:p>
                <a:pPr lvl="1"/>
                <a:r>
                  <a:rPr lang="en-US" dirty="0"/>
                  <a:t>Interarrival times, age of a </a:t>
                </a:r>
                <a:r>
                  <a:rPr lang="en-US" dirty="0" err="1"/>
                  <a:t>bulp</a:t>
                </a:r>
                <a:r>
                  <a:rPr lang="en-US" dirty="0"/>
                  <a:t>, weight of a fish caught, heat in a day</a:t>
                </a:r>
              </a:p>
              <a:p>
                <a:r>
                  <a:rPr lang="en-US" dirty="0"/>
                  <a:t>Let X be a continuous random variable</a:t>
                </a:r>
              </a:p>
              <a:p>
                <a:pPr lvl="1"/>
                <a:r>
                  <a:rPr lang="en-US" dirty="0"/>
                  <a:t>Then it has a probability density function, f(X)</a:t>
                </a:r>
              </a:p>
              <a:p>
                <a:pPr lvl="1"/>
                <a14:m>
                  <m:oMath xmlns:m="http://schemas.openxmlformats.org/officeDocument/2006/math">
                    <m:r>
                      <a:rPr lang="en-US" i="1">
                        <a:latin typeface="Cambria Math"/>
                      </a:rPr>
                      <m:t>𝑃</m:t>
                    </m:r>
                    <m:d>
                      <m:dPr>
                        <m:ctrlPr>
                          <a:rPr lang="en-US" i="1">
                            <a:latin typeface="Cambria Math" panose="02040503050406030204" pitchFamily="18" charset="0"/>
                          </a:rPr>
                        </m:ctrlPr>
                      </m:dPr>
                      <m:e>
                        <m:r>
                          <a:rPr lang="en-US" i="1">
                            <a:latin typeface="Cambria Math"/>
                          </a:rPr>
                          <m:t>𝑎</m:t>
                        </m:r>
                        <m:r>
                          <a:rPr lang="en-US" i="1">
                            <a:latin typeface="Cambria Math"/>
                          </a:rPr>
                          <m:t>≤</m:t>
                        </m:r>
                        <m:r>
                          <a:rPr lang="en-US" i="1">
                            <a:latin typeface="Cambria Math"/>
                          </a:rPr>
                          <m:t>𝑋</m:t>
                        </m:r>
                        <m:r>
                          <a:rPr lang="en-US" i="1">
                            <a:latin typeface="Cambria Math"/>
                          </a:rPr>
                          <m:t>≤</m:t>
                        </m:r>
                        <m:r>
                          <a:rPr lang="en-US" i="1">
                            <a:latin typeface="Cambria Math"/>
                          </a:rPr>
                          <m:t>𝑏</m:t>
                        </m:r>
                      </m:e>
                    </m:d>
                    <m:r>
                      <a:rPr lang="en-US" i="1">
                        <a:latin typeface="Cambria Math"/>
                      </a:rPr>
                      <m:t>=</m:t>
                    </m:r>
                    <m:nary>
                      <m:naryPr>
                        <m:ctrlPr>
                          <a:rPr lang="en-US" i="1">
                            <a:latin typeface="Cambria Math" panose="02040503050406030204" pitchFamily="18" charset="0"/>
                          </a:rPr>
                        </m:ctrlPr>
                      </m:naryPr>
                      <m:sub>
                        <m:r>
                          <m:rPr>
                            <m:brk m:alnAt="23"/>
                          </m:rPr>
                          <a:rPr lang="en-US" i="1">
                            <a:latin typeface="Cambria Math"/>
                          </a:rPr>
                          <m:t>𝑎</m:t>
                        </m:r>
                      </m:sub>
                      <m:sup>
                        <m:r>
                          <a:rPr lang="en-US" i="1">
                            <a:latin typeface="Cambria Math"/>
                          </a:rPr>
                          <m:t>𝑏</m:t>
                        </m:r>
                      </m:sup>
                      <m:e>
                        <m:r>
                          <a:rPr lang="en-US" i="1">
                            <a:latin typeface="Cambria Math"/>
                          </a:rPr>
                          <m:t>𝑓</m:t>
                        </m:r>
                        <m:d>
                          <m:dPr>
                            <m:ctrlPr>
                              <a:rPr lang="en-US" i="1">
                                <a:latin typeface="Cambria Math" panose="02040503050406030204" pitchFamily="18" charset="0"/>
                              </a:rPr>
                            </m:ctrlPr>
                          </m:dPr>
                          <m:e>
                            <m:r>
                              <a:rPr lang="en-US" i="1">
                                <a:latin typeface="Cambria Math"/>
                              </a:rPr>
                              <m:t>𝑥</m:t>
                            </m:r>
                          </m:e>
                        </m:d>
                        <m:r>
                          <a:rPr lang="en-US" i="1">
                            <a:latin typeface="Cambria Math"/>
                          </a:rPr>
                          <m:t>𝑑𝑥</m:t>
                        </m:r>
                      </m:e>
                    </m:nary>
                  </m:oMath>
                </a14:m>
                <a:endParaRPr lang="en-US" dirty="0"/>
              </a:p>
              <a:p>
                <a:r>
                  <a:rPr lang="en-US" dirty="0"/>
                  <a:t>Let X be a continuous random variable between </a:t>
                </a:r>
                <a:r>
                  <a:rPr lang="en-US" i="1" dirty="0"/>
                  <a:t>a</a:t>
                </a:r>
                <a:r>
                  <a:rPr lang="en-US" dirty="0"/>
                  <a:t> and </a:t>
                </a:r>
                <a:r>
                  <a:rPr lang="en-US" i="1" dirty="0"/>
                  <a:t>b </a:t>
                </a:r>
                <a:endParaRPr lang="en-US" dirty="0"/>
              </a:p>
              <a:p>
                <a:pPr lvl="1"/>
                <a14:m>
                  <m:oMath xmlns:m="http://schemas.openxmlformats.org/officeDocument/2006/math">
                    <m:r>
                      <a:rPr lang="en-US" i="1">
                        <a:latin typeface="Cambria Math"/>
                      </a:rPr>
                      <m:t>𝐸</m:t>
                    </m:r>
                    <m:r>
                      <a:rPr lang="en-US" i="1">
                        <a:latin typeface="Cambria Math"/>
                      </a:rPr>
                      <m:t>[</m:t>
                    </m:r>
                    <m:r>
                      <a:rPr lang="en-US" i="1">
                        <a:latin typeface="Cambria Math"/>
                      </a:rPr>
                      <m:t>𝑋</m:t>
                    </m:r>
                    <m:r>
                      <a:rPr lang="en-US" i="1">
                        <a:latin typeface="Cambria Math"/>
                      </a:rPr>
                      <m:t>]=</m:t>
                    </m:r>
                    <m:nary>
                      <m:naryPr>
                        <m:ctrlPr>
                          <a:rPr lang="en-US" i="1">
                            <a:latin typeface="Cambria Math" panose="02040503050406030204" pitchFamily="18" charset="0"/>
                          </a:rPr>
                        </m:ctrlPr>
                      </m:naryPr>
                      <m:sub>
                        <m:r>
                          <m:rPr>
                            <m:brk m:alnAt="23"/>
                          </m:rPr>
                          <a:rPr lang="en-US" i="1">
                            <a:latin typeface="Cambria Math"/>
                          </a:rPr>
                          <m:t>𝑎</m:t>
                        </m:r>
                      </m:sub>
                      <m:sup>
                        <m:r>
                          <a:rPr lang="en-US" i="1">
                            <a:latin typeface="Cambria Math"/>
                          </a:rPr>
                          <m:t>𝑏</m:t>
                        </m:r>
                      </m:sup>
                      <m:e>
                        <m:r>
                          <a:rPr lang="en-US" i="1">
                            <a:latin typeface="Cambria Math"/>
                          </a:rPr>
                          <m:t>𝑥𝑓</m:t>
                        </m:r>
                        <m:d>
                          <m:dPr>
                            <m:ctrlPr>
                              <a:rPr lang="en-US" i="1">
                                <a:latin typeface="Cambria Math" panose="02040503050406030204" pitchFamily="18" charset="0"/>
                              </a:rPr>
                            </m:ctrlPr>
                          </m:dPr>
                          <m:e>
                            <m:r>
                              <a:rPr lang="en-US" i="1">
                                <a:latin typeface="Cambria Math"/>
                              </a:rPr>
                              <m:t>𝑥</m:t>
                            </m:r>
                          </m:e>
                        </m:d>
                        <m:r>
                          <a:rPr lang="en-US" i="1">
                            <a:latin typeface="Cambria Math"/>
                          </a:rPr>
                          <m:t>𝑑𝑥</m:t>
                        </m:r>
                      </m:e>
                    </m:nary>
                  </m:oMath>
                </a14:m>
                <a:endParaRPr lang="en-US" i="1" dirty="0"/>
              </a:p>
              <a:p>
                <a:pPr lvl="1"/>
                <a:r>
                  <a:rPr lang="en-US" dirty="0"/>
                  <a:t>V</a:t>
                </a:r>
                <a14:m>
                  <m:oMath xmlns:m="http://schemas.openxmlformats.org/officeDocument/2006/math">
                    <m:r>
                      <a:rPr lang="en-US" i="1">
                        <a:latin typeface="Cambria Math"/>
                      </a:rPr>
                      <m:t>[</m:t>
                    </m:r>
                    <m:r>
                      <a:rPr lang="en-US" i="1">
                        <a:latin typeface="Cambria Math"/>
                      </a:rPr>
                      <m:t>𝑋</m:t>
                    </m:r>
                    <m:r>
                      <a:rPr lang="en-US" i="1">
                        <a:latin typeface="Cambria Math"/>
                      </a:rPr>
                      <m:t>]=</m:t>
                    </m:r>
                    <m:nary>
                      <m:naryPr>
                        <m:ctrlPr>
                          <a:rPr lang="en-US" i="1">
                            <a:latin typeface="Cambria Math" panose="02040503050406030204" pitchFamily="18" charset="0"/>
                          </a:rPr>
                        </m:ctrlPr>
                      </m:naryPr>
                      <m:sub>
                        <m:r>
                          <m:rPr>
                            <m:brk m:alnAt="23"/>
                          </m:rPr>
                          <a:rPr lang="en-US" i="1">
                            <a:latin typeface="Cambria Math"/>
                          </a:rPr>
                          <m:t>𝑎</m:t>
                        </m:r>
                      </m:sub>
                      <m:sup>
                        <m:r>
                          <a:rPr lang="en-US" i="1">
                            <a:latin typeface="Cambria Math"/>
                          </a:rPr>
                          <m:t>𝑏</m:t>
                        </m:r>
                      </m:sup>
                      <m:e>
                        <m:r>
                          <a:rPr lang="en-US" i="1">
                            <a:latin typeface="Cambria Math"/>
                          </a:rPr>
                          <m:t>(</m:t>
                        </m:r>
                        <m:r>
                          <a:rPr lang="en-US" i="1">
                            <a:latin typeface="Cambria Math"/>
                          </a:rPr>
                          <m:t>𝑥</m:t>
                        </m:r>
                        <m:r>
                          <a:rPr lang="en-US" i="1">
                            <a:latin typeface="Cambria Math"/>
                          </a:rPr>
                          <m:t>−</m:t>
                        </m:r>
                        <m:r>
                          <a:rPr lang="en-US" i="1">
                            <a:latin typeface="Cambria Math"/>
                          </a:rPr>
                          <m:t>𝐸</m:t>
                        </m:r>
                        <m:r>
                          <a:rPr lang="en-US" i="1">
                            <a:latin typeface="Cambria Math"/>
                          </a:rPr>
                          <m:t>[</m:t>
                        </m:r>
                        <m:r>
                          <a:rPr lang="en-US" i="1">
                            <a:latin typeface="Cambria Math"/>
                          </a:rPr>
                          <m:t>𝑋</m:t>
                        </m:r>
                        <m:r>
                          <a:rPr lang="en-US" i="1">
                            <a:latin typeface="Cambria Math"/>
                          </a:rPr>
                          <m:t>])2</m:t>
                        </m:r>
                        <m:r>
                          <a:rPr lang="en-US" i="1">
                            <a:latin typeface="Cambria Math"/>
                          </a:rPr>
                          <m:t>𝑓</m:t>
                        </m:r>
                        <m:d>
                          <m:dPr>
                            <m:ctrlPr>
                              <a:rPr lang="en-US" i="1">
                                <a:latin typeface="Cambria Math" panose="02040503050406030204" pitchFamily="18" charset="0"/>
                              </a:rPr>
                            </m:ctrlPr>
                          </m:dPr>
                          <m:e>
                            <m:r>
                              <a:rPr lang="en-US" i="1">
                                <a:latin typeface="Cambria Math"/>
                              </a:rPr>
                              <m:t>𝑥</m:t>
                            </m:r>
                          </m:e>
                        </m:d>
                        <m:r>
                          <a:rPr lang="en-US" i="1">
                            <a:latin typeface="Cambria Math"/>
                          </a:rPr>
                          <m:t>𝑑𝑥</m:t>
                        </m:r>
                      </m:e>
                    </m:nary>
                  </m:oMath>
                </a14:m>
                <a:endParaRPr lang="en-US" i="1" dirty="0"/>
              </a:p>
              <a:p>
                <a:pPr lvl="1"/>
                <a14:m>
                  <m:oMath xmlns:m="http://schemas.openxmlformats.org/officeDocument/2006/math">
                    <m:r>
                      <a:rPr lang="en-US" i="1">
                        <a:latin typeface="Cambria Math"/>
                      </a:rPr>
                      <m:t>𝐹</m:t>
                    </m:r>
                    <m:d>
                      <m:dPr>
                        <m:ctrlPr>
                          <a:rPr lang="en-US" i="1">
                            <a:latin typeface="Cambria Math" panose="02040503050406030204" pitchFamily="18" charset="0"/>
                          </a:rPr>
                        </m:ctrlPr>
                      </m:dPr>
                      <m:e>
                        <m:r>
                          <a:rPr lang="en-US" i="1">
                            <a:latin typeface="Cambria Math"/>
                          </a:rPr>
                          <m:t>𝑐</m:t>
                        </m:r>
                      </m:e>
                    </m:d>
                    <m:r>
                      <a:rPr lang="en-US" i="1">
                        <a:latin typeface="Cambria Math"/>
                      </a:rPr>
                      <m:t>=</m:t>
                    </m:r>
                    <m:r>
                      <a:rPr lang="en-US" i="1">
                        <a:latin typeface="Cambria Math"/>
                      </a:rPr>
                      <m:t>𝑃</m:t>
                    </m:r>
                    <m:r>
                      <a:rPr lang="en-US" i="1">
                        <a:latin typeface="Cambria Math"/>
                      </a:rPr>
                      <m:t>(</m:t>
                    </m:r>
                    <m:r>
                      <a:rPr lang="en-US" i="1">
                        <a:latin typeface="Cambria Math"/>
                      </a:rPr>
                      <m:t>𝑋</m:t>
                    </m:r>
                    <m:r>
                      <a:rPr lang="en-US" i="1">
                        <a:latin typeface="Cambria Math"/>
                      </a:rPr>
                      <m:t>≤</m:t>
                    </m:r>
                    <m:r>
                      <a:rPr lang="en-US" i="1">
                        <a:latin typeface="Cambria Math"/>
                      </a:rPr>
                      <m:t>𝑐</m:t>
                    </m:r>
                    <m:r>
                      <a:rPr lang="en-US" i="1">
                        <a:latin typeface="Cambria Math"/>
                      </a:rPr>
                      <m:t>)=</m:t>
                    </m:r>
                    <m:nary>
                      <m:naryPr>
                        <m:ctrlPr>
                          <a:rPr lang="en-US" i="1">
                            <a:latin typeface="Cambria Math" panose="02040503050406030204" pitchFamily="18" charset="0"/>
                          </a:rPr>
                        </m:ctrlPr>
                      </m:naryPr>
                      <m:sub>
                        <m:r>
                          <m:rPr>
                            <m:brk m:alnAt="23"/>
                          </m:rPr>
                          <a:rPr lang="en-US" i="1">
                            <a:latin typeface="Cambria Math"/>
                          </a:rPr>
                          <m:t>𝑎</m:t>
                        </m:r>
                      </m:sub>
                      <m:sup>
                        <m:r>
                          <a:rPr lang="en-US" i="1">
                            <a:latin typeface="Cambria Math"/>
                          </a:rPr>
                          <m:t>𝑐</m:t>
                        </m:r>
                      </m:sup>
                      <m:e>
                        <m:r>
                          <a:rPr lang="en-US" i="1">
                            <a:latin typeface="Cambria Math"/>
                          </a:rPr>
                          <m:t>𝑓</m:t>
                        </m:r>
                        <m:d>
                          <m:dPr>
                            <m:ctrlPr>
                              <a:rPr lang="en-US" i="1">
                                <a:latin typeface="Cambria Math" panose="02040503050406030204" pitchFamily="18" charset="0"/>
                              </a:rPr>
                            </m:ctrlPr>
                          </m:dPr>
                          <m:e>
                            <m:r>
                              <a:rPr lang="en-US" i="1">
                                <a:latin typeface="Cambria Math"/>
                              </a:rPr>
                              <m:t>𝑥</m:t>
                            </m:r>
                          </m:e>
                        </m:d>
                        <m:r>
                          <a:rPr lang="en-US" i="1">
                            <a:latin typeface="Cambria Math"/>
                          </a:rPr>
                          <m:t>𝑑𝑥</m:t>
                        </m:r>
                      </m:e>
                    </m:nary>
                  </m:oMath>
                </a14:m>
                <a:r>
                  <a:rPr lang="en-US" i="1" dirty="0"/>
                  <a:t> where </a:t>
                </a:r>
                <a14:m>
                  <m:oMath xmlns:m="http://schemas.openxmlformats.org/officeDocument/2006/math">
                    <m:r>
                      <a:rPr lang="en-US" i="1">
                        <a:latin typeface="Cambria Math"/>
                      </a:rPr>
                      <m:t>𝑎</m:t>
                    </m:r>
                    <m:r>
                      <a:rPr lang="en-US" i="1">
                        <a:latin typeface="Cambria Math"/>
                      </a:rPr>
                      <m:t>≤</m:t>
                    </m:r>
                    <m:r>
                      <a:rPr lang="en-US" i="1">
                        <a:latin typeface="Cambria Math"/>
                      </a:rPr>
                      <m:t>𝑐</m:t>
                    </m:r>
                    <m:r>
                      <a:rPr lang="en-US" i="1">
                        <a:latin typeface="Cambria Math"/>
                      </a:rPr>
                      <m:t>≤</m:t>
                    </m:r>
                    <m:r>
                      <a:rPr lang="en-US" i="1">
                        <a:latin typeface="Cambria Math"/>
                      </a:rPr>
                      <m:t>𝑏</m:t>
                    </m:r>
                  </m:oMath>
                </a14:m>
                <a:endParaRPr lang="en-US" i="1" dirty="0"/>
              </a:p>
              <a:p>
                <a:pPr lvl="1"/>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956" t="-2005" r="-266"/>
                </a:stretch>
              </a:blipFill>
            </p:spPr>
            <p:txBody>
              <a:bodyPr/>
              <a:lstStyle/>
              <a:p>
                <a:r>
                  <a:rPr lang="en-US">
                    <a:noFill/>
                  </a:rPr>
                  <a:t> </a:t>
                </a:r>
              </a:p>
            </p:txBody>
          </p:sp>
        </mc:Fallback>
      </mc:AlternateContent>
      <p:sp>
        <p:nvSpPr>
          <p:cNvPr id="4" name="Slide Number Placeholder 3"/>
          <p:cNvSpPr>
            <a:spLocks noGrp="1"/>
          </p:cNvSpPr>
          <p:nvPr>
            <p:ph type="sldNum" sz="quarter" idx="12"/>
          </p:nvPr>
        </p:nvSpPr>
        <p:spPr/>
        <p:txBody>
          <a:bodyPr/>
          <a:lstStyle/>
          <a:p>
            <a:pPr>
              <a:defRPr/>
            </a:pPr>
            <a:fld id="{17D8DEC3-86FA-484C-AC83-38B4A6F9AAAF}" type="slidenum">
              <a:rPr lang="en-US" smtClean="0"/>
              <a:pPr>
                <a:defRPr/>
              </a:pPr>
              <a:t>73</a:t>
            </a:fld>
            <a:endParaRPr lang="en-US" dirty="0"/>
          </a:p>
        </p:txBody>
      </p:sp>
    </p:spTree>
    <p:extLst>
      <p:ext uri="{BB962C8B-B14F-4D97-AF65-F5344CB8AC3E}">
        <p14:creationId xmlns:p14="http://schemas.microsoft.com/office/powerpoint/2010/main" val="4243333956"/>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Continuous Distributions</a:t>
            </a:r>
          </a:p>
        </p:txBody>
      </p:sp>
      <p:sp>
        <p:nvSpPr>
          <p:cNvPr id="3" name="Content Placeholder 2"/>
          <p:cNvSpPr>
            <a:spLocks noGrp="1"/>
          </p:cNvSpPr>
          <p:nvPr>
            <p:ph idx="1"/>
          </p:nvPr>
        </p:nvSpPr>
        <p:spPr/>
        <p:txBody>
          <a:bodyPr/>
          <a:lstStyle/>
          <a:p>
            <a:r>
              <a:rPr lang="en-US" dirty="0"/>
              <a:t>Uniform Distribution</a:t>
            </a:r>
          </a:p>
          <a:p>
            <a:r>
              <a:rPr lang="en-US" dirty="0"/>
              <a:t>Triangular Distribution</a:t>
            </a:r>
          </a:p>
          <a:p>
            <a:r>
              <a:rPr lang="en-US" dirty="0"/>
              <a:t>Normal Distribution</a:t>
            </a:r>
          </a:p>
          <a:p>
            <a:r>
              <a:rPr lang="en-US" dirty="0"/>
              <a:t>Exponential Distribution</a:t>
            </a:r>
          </a:p>
          <a:p>
            <a:r>
              <a:rPr lang="en-US" dirty="0"/>
              <a:t>Gamma Distribution</a:t>
            </a:r>
          </a:p>
          <a:p>
            <a:r>
              <a:rPr lang="en-US" dirty="0" err="1"/>
              <a:t>Erlang</a:t>
            </a:r>
            <a:r>
              <a:rPr lang="en-US" dirty="0"/>
              <a:t> Distribution</a:t>
            </a:r>
          </a:p>
          <a:p>
            <a:r>
              <a:rPr lang="en-US" dirty="0"/>
              <a:t>Lognormal Distribution</a:t>
            </a:r>
          </a:p>
          <a:p>
            <a:r>
              <a:rPr lang="en-US" dirty="0">
                <a:solidFill>
                  <a:srgbClr val="FF0000"/>
                </a:solidFill>
              </a:rPr>
              <a:t>Read Chapter 13.7</a:t>
            </a:r>
          </a:p>
        </p:txBody>
      </p:sp>
      <p:sp>
        <p:nvSpPr>
          <p:cNvPr id="4" name="Slide Number Placeholder 3"/>
          <p:cNvSpPr>
            <a:spLocks noGrp="1"/>
          </p:cNvSpPr>
          <p:nvPr>
            <p:ph type="sldNum" sz="quarter" idx="12"/>
          </p:nvPr>
        </p:nvSpPr>
        <p:spPr/>
        <p:txBody>
          <a:bodyPr/>
          <a:lstStyle/>
          <a:p>
            <a:pPr>
              <a:defRPr/>
            </a:pPr>
            <a:fld id="{17D8DEC3-86FA-484C-AC83-38B4A6F9AAAF}" type="slidenum">
              <a:rPr lang="en-US" smtClean="0"/>
              <a:pPr>
                <a:defRPr/>
              </a:pPr>
              <a:t>74</a:t>
            </a:fld>
            <a:endParaRPr lang="en-US" dirty="0"/>
          </a:p>
        </p:txBody>
      </p:sp>
      <p:pic>
        <p:nvPicPr>
          <p:cNvPr id="5" name="Picture 2" descr="C:\Users\konurd\Desktop\Capture.PNG">
            <a:extLst>
              <a:ext uri="{FF2B5EF4-FFF2-40B4-BE49-F238E27FC236}">
                <a16:creationId xmlns:a16="http://schemas.microsoft.com/office/drawing/2014/main" id="{5A2C3830-E91C-41A6-8C67-24C2952A0C4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50840" y="2423160"/>
            <a:ext cx="5680710" cy="1333500"/>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3" descr="C:\Users\konurd\Desktop\Uniform_distribution_PDF.png">
            <a:extLst>
              <a:ext uri="{FF2B5EF4-FFF2-40B4-BE49-F238E27FC236}">
                <a16:creationId xmlns:a16="http://schemas.microsoft.com/office/drawing/2014/main" id="{79CBACF0-D297-4511-B6F8-75DDD74737C2}"/>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450840" y="4251960"/>
            <a:ext cx="2762250" cy="1981200"/>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4" descr="C:\Users\konurd\Desktop\Uniform_distribution_CDF.png">
            <a:extLst>
              <a:ext uri="{FF2B5EF4-FFF2-40B4-BE49-F238E27FC236}">
                <a16:creationId xmlns:a16="http://schemas.microsoft.com/office/drawing/2014/main" id="{E2F83175-DAE3-4149-866A-296009CDAD35}"/>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803640" y="4114310"/>
            <a:ext cx="2686050" cy="2118850"/>
          </a:xfrm>
          <a:prstGeom prst="rect">
            <a:avLst/>
          </a:prstGeom>
          <a:noFill/>
          <a:extLst>
            <a:ext uri="{909E8E84-426E-40DD-AFC4-6F175D3DCCD1}">
              <a14:hiddenFill xmlns:a14="http://schemas.microsoft.com/office/drawing/2010/main">
                <a:solidFill>
                  <a:srgbClr val="FFFFFF"/>
                </a:solidFill>
              </a14:hiddenFill>
            </a:ext>
          </a:extLst>
        </p:spPr>
      </p:pic>
      <p:sp>
        <p:nvSpPr>
          <p:cNvPr id="8" name="Rectangle 7">
            <a:extLst>
              <a:ext uri="{FF2B5EF4-FFF2-40B4-BE49-F238E27FC236}">
                <a16:creationId xmlns:a16="http://schemas.microsoft.com/office/drawing/2014/main" id="{BDE38E59-1BBA-47EE-99AA-15C85AA490D1}"/>
              </a:ext>
            </a:extLst>
          </p:cNvPr>
          <p:cNvSpPr/>
          <p:nvPr/>
        </p:nvSpPr>
        <p:spPr>
          <a:xfrm>
            <a:off x="5450840" y="1874441"/>
            <a:ext cx="3860993" cy="461665"/>
          </a:xfrm>
          <a:prstGeom prst="rect">
            <a:avLst/>
          </a:prstGeom>
        </p:spPr>
        <p:txBody>
          <a:bodyPr wrap="none">
            <a:spAutoFit/>
          </a:bodyPr>
          <a:lstStyle/>
          <a:p>
            <a:r>
              <a:rPr lang="en-US" sz="2400" u="sng" dirty="0"/>
              <a:t>Uniform distribution example</a:t>
            </a:r>
          </a:p>
        </p:txBody>
      </p:sp>
    </p:spTree>
    <p:extLst>
      <p:ext uri="{BB962C8B-B14F-4D97-AF65-F5344CB8AC3E}">
        <p14:creationId xmlns:p14="http://schemas.microsoft.com/office/powerpoint/2010/main" val="39566665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13374</TotalTime>
  <Words>7184</Words>
  <Application>Microsoft Macintosh PowerPoint</Application>
  <PresentationFormat>Widescreen</PresentationFormat>
  <Paragraphs>1223</Paragraphs>
  <Slides>74</Slides>
  <Notes>54</Notes>
  <HiddenSlides>0</HiddenSlides>
  <MMClips>0</MMClips>
  <ScaleCrop>false</ScaleCrop>
  <HeadingPairs>
    <vt:vector size="8" baseType="variant">
      <vt:variant>
        <vt:lpstr>Fonts Used</vt:lpstr>
      </vt:variant>
      <vt:variant>
        <vt:i4>7</vt:i4>
      </vt:variant>
      <vt:variant>
        <vt:lpstr>Theme</vt:lpstr>
      </vt:variant>
      <vt:variant>
        <vt:i4>1</vt:i4>
      </vt:variant>
      <vt:variant>
        <vt:lpstr>Embedded OLE Servers</vt:lpstr>
      </vt:variant>
      <vt:variant>
        <vt:i4>2</vt:i4>
      </vt:variant>
      <vt:variant>
        <vt:lpstr>Slide Titles</vt:lpstr>
      </vt:variant>
      <vt:variant>
        <vt:i4>74</vt:i4>
      </vt:variant>
    </vt:vector>
  </HeadingPairs>
  <TitlesOfParts>
    <vt:vector size="84" baseType="lpstr">
      <vt:lpstr>Arial</vt:lpstr>
      <vt:lpstr>Calibri</vt:lpstr>
      <vt:lpstr>Calibri Light</vt:lpstr>
      <vt:lpstr>Cambria Math</vt:lpstr>
      <vt:lpstr>Symbol</vt:lpstr>
      <vt:lpstr>Times New Roman</vt:lpstr>
      <vt:lpstr>Wingdings</vt:lpstr>
      <vt:lpstr>Office Theme</vt:lpstr>
      <vt:lpstr>Equation</vt:lpstr>
      <vt:lpstr>Worksheet</vt:lpstr>
      <vt:lpstr>ANLY 5332   Department of Information Systems and Analytics McCoy College of Business Texas State University</vt:lpstr>
      <vt:lpstr>Outline</vt:lpstr>
      <vt:lpstr>Outline</vt:lpstr>
      <vt:lpstr>Decision Analysis</vt:lpstr>
      <vt:lpstr>Decision Analysis</vt:lpstr>
      <vt:lpstr>Decision Analysis</vt:lpstr>
      <vt:lpstr>Decision Analysis</vt:lpstr>
      <vt:lpstr>Decision Criteria</vt:lpstr>
      <vt:lpstr>Decision Making under Uncertainty</vt:lpstr>
      <vt:lpstr>Decision Making under Uncertainty</vt:lpstr>
      <vt:lpstr>Decision Making under Uncertainty</vt:lpstr>
      <vt:lpstr>Decision Making under Uncertainty</vt:lpstr>
      <vt:lpstr>Decision Making under Uncertainty</vt:lpstr>
      <vt:lpstr>Decision Making under Uncertainty</vt:lpstr>
      <vt:lpstr>Decision Making under Uncertainty</vt:lpstr>
      <vt:lpstr>Decision Making under Uncertainty</vt:lpstr>
      <vt:lpstr>Decision Making under Uncertainty</vt:lpstr>
      <vt:lpstr>Decision Making under Risk</vt:lpstr>
      <vt:lpstr>Decision Making under Risk</vt:lpstr>
      <vt:lpstr>Decision Making under Risk</vt:lpstr>
      <vt:lpstr>Decision Making under Risk</vt:lpstr>
      <vt:lpstr>Decision Making under Risk</vt:lpstr>
      <vt:lpstr>Decision Making under Risk</vt:lpstr>
      <vt:lpstr>Decision Criteria</vt:lpstr>
      <vt:lpstr>Outline</vt:lpstr>
      <vt:lpstr>Decision Tree</vt:lpstr>
      <vt:lpstr>Value of Information</vt:lpstr>
      <vt:lpstr>Value of Information</vt:lpstr>
      <vt:lpstr>Value of Information</vt:lpstr>
      <vt:lpstr>Value of Information</vt:lpstr>
      <vt:lpstr>Value of Information</vt:lpstr>
      <vt:lpstr>Value of Information</vt:lpstr>
      <vt:lpstr>Value of Information</vt:lpstr>
      <vt:lpstr>Value of Information</vt:lpstr>
      <vt:lpstr>Value of Information</vt:lpstr>
      <vt:lpstr>Outline</vt:lpstr>
      <vt:lpstr>Utility Theory</vt:lpstr>
      <vt:lpstr>Utility Theory</vt:lpstr>
      <vt:lpstr>Utility Theory</vt:lpstr>
      <vt:lpstr>Utility Theory</vt:lpstr>
      <vt:lpstr>Outline</vt:lpstr>
      <vt:lpstr>Stochastic Optimization</vt:lpstr>
      <vt:lpstr>Stochastic Optimization</vt:lpstr>
      <vt:lpstr>Stochastic Optimization</vt:lpstr>
      <vt:lpstr>Stochastic Optimization</vt:lpstr>
      <vt:lpstr>Stochastic Optimization</vt:lpstr>
      <vt:lpstr>Stochastic Optimization</vt:lpstr>
      <vt:lpstr>Stochastic Optimization</vt:lpstr>
      <vt:lpstr>Stochastic Optimization</vt:lpstr>
      <vt:lpstr>Stochastic Optimization</vt:lpstr>
      <vt:lpstr>Stochastic Optimization</vt:lpstr>
      <vt:lpstr>Stochastic Optimization</vt:lpstr>
      <vt:lpstr>Stochastic Optimization</vt:lpstr>
      <vt:lpstr>Outline</vt:lpstr>
      <vt:lpstr>Robust Optimization</vt:lpstr>
      <vt:lpstr>Robust Optimization</vt:lpstr>
      <vt:lpstr>Robust Optimization</vt:lpstr>
      <vt:lpstr>Robust Optimization</vt:lpstr>
      <vt:lpstr>Robust Optimization</vt:lpstr>
      <vt:lpstr>Robust Optimization</vt:lpstr>
      <vt:lpstr>Outline</vt:lpstr>
      <vt:lpstr>Discrete Random Variables</vt:lpstr>
      <vt:lpstr>Discrete Random Variables</vt:lpstr>
      <vt:lpstr>Discrete Random Variables</vt:lpstr>
      <vt:lpstr>Discrete Random Variables</vt:lpstr>
      <vt:lpstr>Discrete Random Variables</vt:lpstr>
      <vt:lpstr>Discrete Random Variables</vt:lpstr>
      <vt:lpstr>Expectation and Variance</vt:lpstr>
      <vt:lpstr>Expectation and Variance</vt:lpstr>
      <vt:lpstr>Conditional Probability</vt:lpstr>
      <vt:lpstr>Discrete Distributions</vt:lpstr>
      <vt:lpstr>Discrete Distributions</vt:lpstr>
      <vt:lpstr>Continuous Random Variables</vt:lpstr>
      <vt:lpstr>Continuous Distributions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QMST 5332 by Sahika Sahan Konur  Department of Information Systems and Analytics McCoy College of Business Texas State University</dc:title>
  <cp:lastModifiedBy>Lin, Zewei (linzw)</cp:lastModifiedBy>
  <cp:revision>2</cp:revision>
  <cp:lastPrinted>2023-11-13T14:53:11Z</cp:lastPrinted>
  <dcterms:created xsi:type="dcterms:W3CDTF">2018-08-17T02:14:39Z</dcterms:created>
  <dcterms:modified xsi:type="dcterms:W3CDTF">2024-11-18T04:47:31Z</dcterms:modified>
</cp:coreProperties>
</file>