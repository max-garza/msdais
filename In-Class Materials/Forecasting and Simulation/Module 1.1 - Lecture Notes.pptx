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358" r:id="rId3"/>
    <p:sldId id="257" r:id="rId4"/>
    <p:sldId id="356" r:id="rId5"/>
    <p:sldId id="267" r:id="rId6"/>
    <p:sldId id="270" r:id="rId7"/>
    <p:sldId id="271" r:id="rId8"/>
    <p:sldId id="360" r:id="rId9"/>
    <p:sldId id="272" r:id="rId10"/>
    <p:sldId id="274" r:id="rId11"/>
    <p:sldId id="287" r:id="rId12"/>
    <p:sldId id="359" r:id="rId13"/>
    <p:sldId id="288" r:id="rId14"/>
    <p:sldId id="275" r:id="rId15"/>
    <p:sldId id="281" r:id="rId16"/>
    <p:sldId id="278" r:id="rId17"/>
    <p:sldId id="279" r:id="rId18"/>
    <p:sldId id="280" r:id="rId19"/>
    <p:sldId id="283" r:id="rId20"/>
    <p:sldId id="357" r:id="rId21"/>
    <p:sldId id="337" r:id="rId22"/>
    <p:sldId id="338" r:id="rId23"/>
    <p:sldId id="343" r:id="rId24"/>
    <p:sldId id="341" r:id="rId25"/>
    <p:sldId id="344" r:id="rId26"/>
    <p:sldId id="351" r:id="rId27"/>
    <p:sldId id="354" r:id="rId28"/>
    <p:sldId id="350" r:id="rId29"/>
    <p:sldId id="355" r:id="rId30"/>
    <p:sldId id="35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25DD5B-61D1-42FA-9D92-85FE818A8B4B}" v="4" dt="2024-01-10T18:12:22.6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n Konur, Sahika" userId="739a6e03-9a4a-49c6-a350-571b31db94be" providerId="ADAL" clId="{C125DD5B-61D1-42FA-9D92-85FE818A8B4B}"/>
    <pc:docChg chg="undo custSel addSld modSld">
      <pc:chgData name="Sahan Konur, Sahika" userId="739a6e03-9a4a-49c6-a350-571b31db94be" providerId="ADAL" clId="{C125DD5B-61D1-42FA-9D92-85FE818A8B4B}" dt="2024-01-18T14:53:07.030" v="1665" actId="1076"/>
      <pc:docMkLst>
        <pc:docMk/>
      </pc:docMkLst>
      <pc:sldChg chg="modSp mod">
        <pc:chgData name="Sahan Konur, Sahika" userId="739a6e03-9a4a-49c6-a350-571b31db94be" providerId="ADAL" clId="{C125DD5B-61D1-42FA-9D92-85FE818A8B4B}" dt="2024-01-10T17:28:24.453" v="338" actId="27636"/>
        <pc:sldMkLst>
          <pc:docMk/>
          <pc:sldMk cId="1872432867" sldId="257"/>
        </pc:sldMkLst>
        <pc:spChg chg="mod">
          <ac:chgData name="Sahan Konur, Sahika" userId="739a6e03-9a4a-49c6-a350-571b31db94be" providerId="ADAL" clId="{C125DD5B-61D1-42FA-9D92-85FE818A8B4B}" dt="2024-01-10T17:28:24.453" v="338" actId="27636"/>
          <ac:spMkLst>
            <pc:docMk/>
            <pc:sldMk cId="1872432867" sldId="257"/>
            <ac:spMk id="3" creationId="{00000000-0000-0000-0000-000000000000}"/>
          </ac:spMkLst>
        </pc:spChg>
      </pc:sldChg>
      <pc:sldChg chg="modSp mod">
        <pc:chgData name="Sahan Konur, Sahika" userId="739a6e03-9a4a-49c6-a350-571b31db94be" providerId="ADAL" clId="{C125DD5B-61D1-42FA-9D92-85FE818A8B4B}" dt="2024-01-10T17:24:47.890" v="274" actId="113"/>
        <pc:sldMkLst>
          <pc:docMk/>
          <pc:sldMk cId="698425873" sldId="266"/>
        </pc:sldMkLst>
        <pc:spChg chg="mod">
          <ac:chgData name="Sahan Konur, Sahika" userId="739a6e03-9a4a-49c6-a350-571b31db94be" providerId="ADAL" clId="{C125DD5B-61D1-42FA-9D92-85FE818A8B4B}" dt="2024-01-10T17:24:47.890" v="274" actId="113"/>
          <ac:spMkLst>
            <pc:docMk/>
            <pc:sldMk cId="698425873" sldId="266"/>
            <ac:spMk id="2" creationId="{00000000-0000-0000-0000-000000000000}"/>
          </ac:spMkLst>
        </pc:spChg>
      </pc:sldChg>
      <pc:sldChg chg="modSp mod">
        <pc:chgData name="Sahan Konur, Sahika" userId="739a6e03-9a4a-49c6-a350-571b31db94be" providerId="ADAL" clId="{C125DD5B-61D1-42FA-9D92-85FE818A8B4B}" dt="2024-01-10T18:23:07.513" v="1351" actId="5793"/>
        <pc:sldMkLst>
          <pc:docMk/>
          <pc:sldMk cId="219115890" sldId="267"/>
        </pc:sldMkLst>
        <pc:spChg chg="mod">
          <ac:chgData name="Sahan Konur, Sahika" userId="739a6e03-9a4a-49c6-a350-571b31db94be" providerId="ADAL" clId="{C125DD5B-61D1-42FA-9D92-85FE818A8B4B}" dt="2024-01-10T18:23:07.513" v="1351" actId="5793"/>
          <ac:spMkLst>
            <pc:docMk/>
            <pc:sldMk cId="219115890" sldId="267"/>
            <ac:spMk id="3" creationId="{00000000-0000-0000-0000-000000000000}"/>
          </ac:spMkLst>
        </pc:spChg>
      </pc:sldChg>
      <pc:sldChg chg="modSp mod">
        <pc:chgData name="Sahan Konur, Sahika" userId="739a6e03-9a4a-49c6-a350-571b31db94be" providerId="ADAL" clId="{C125DD5B-61D1-42FA-9D92-85FE818A8B4B}" dt="2024-01-10T18:22:54.283" v="1350" actId="255"/>
        <pc:sldMkLst>
          <pc:docMk/>
          <pc:sldMk cId="763821931" sldId="270"/>
        </pc:sldMkLst>
        <pc:spChg chg="mod">
          <ac:chgData name="Sahan Konur, Sahika" userId="739a6e03-9a4a-49c6-a350-571b31db94be" providerId="ADAL" clId="{C125DD5B-61D1-42FA-9D92-85FE818A8B4B}" dt="2024-01-10T18:22:54.283" v="1350" actId="255"/>
          <ac:spMkLst>
            <pc:docMk/>
            <pc:sldMk cId="763821931" sldId="270"/>
            <ac:spMk id="3" creationId="{00000000-0000-0000-0000-000000000000}"/>
          </ac:spMkLst>
        </pc:spChg>
      </pc:sldChg>
      <pc:sldChg chg="modSp mod">
        <pc:chgData name="Sahan Konur, Sahika" userId="739a6e03-9a4a-49c6-a350-571b31db94be" providerId="ADAL" clId="{C125DD5B-61D1-42FA-9D92-85FE818A8B4B}" dt="2024-01-11T15:23:43.405" v="1352" actId="255"/>
        <pc:sldMkLst>
          <pc:docMk/>
          <pc:sldMk cId="69167976" sldId="271"/>
        </pc:sldMkLst>
        <pc:spChg chg="mod">
          <ac:chgData name="Sahan Konur, Sahika" userId="739a6e03-9a4a-49c6-a350-571b31db94be" providerId="ADAL" clId="{C125DD5B-61D1-42FA-9D92-85FE818A8B4B}" dt="2024-01-11T15:23:43.405" v="1352" actId="255"/>
          <ac:spMkLst>
            <pc:docMk/>
            <pc:sldMk cId="69167976" sldId="271"/>
            <ac:spMk id="3" creationId="{00000000-0000-0000-0000-000000000000}"/>
          </ac:spMkLst>
        </pc:spChg>
      </pc:sldChg>
      <pc:sldChg chg="modSp mod">
        <pc:chgData name="Sahan Konur, Sahika" userId="739a6e03-9a4a-49c6-a350-571b31db94be" providerId="ADAL" clId="{C125DD5B-61D1-42FA-9D92-85FE818A8B4B}" dt="2024-01-10T18:21:18.486" v="1334" actId="2710"/>
        <pc:sldMkLst>
          <pc:docMk/>
          <pc:sldMk cId="934391586" sldId="272"/>
        </pc:sldMkLst>
        <pc:spChg chg="mod">
          <ac:chgData name="Sahan Konur, Sahika" userId="739a6e03-9a4a-49c6-a350-571b31db94be" providerId="ADAL" clId="{C125DD5B-61D1-42FA-9D92-85FE818A8B4B}" dt="2024-01-10T18:21:18.486" v="1334" actId="2710"/>
          <ac:spMkLst>
            <pc:docMk/>
            <pc:sldMk cId="934391586" sldId="272"/>
            <ac:spMk id="3" creationId="{00000000-0000-0000-0000-000000000000}"/>
          </ac:spMkLst>
        </pc:spChg>
      </pc:sldChg>
      <pc:sldChg chg="modSp mod">
        <pc:chgData name="Sahan Konur, Sahika" userId="739a6e03-9a4a-49c6-a350-571b31db94be" providerId="ADAL" clId="{C125DD5B-61D1-42FA-9D92-85FE818A8B4B}" dt="2024-01-11T15:25:04.567" v="1393" actId="255"/>
        <pc:sldMkLst>
          <pc:docMk/>
          <pc:sldMk cId="4085209939" sldId="274"/>
        </pc:sldMkLst>
        <pc:spChg chg="mod">
          <ac:chgData name="Sahan Konur, Sahika" userId="739a6e03-9a4a-49c6-a350-571b31db94be" providerId="ADAL" clId="{C125DD5B-61D1-42FA-9D92-85FE818A8B4B}" dt="2024-01-11T15:25:04.567" v="1393" actId="255"/>
          <ac:spMkLst>
            <pc:docMk/>
            <pc:sldMk cId="4085209939" sldId="274"/>
            <ac:spMk id="3" creationId="{00000000-0000-0000-0000-000000000000}"/>
          </ac:spMkLst>
        </pc:spChg>
      </pc:sldChg>
      <pc:sldChg chg="addSp delSp modSp mod">
        <pc:chgData name="Sahan Konur, Sahika" userId="739a6e03-9a4a-49c6-a350-571b31db94be" providerId="ADAL" clId="{C125DD5B-61D1-42FA-9D92-85FE818A8B4B}" dt="2024-01-18T14:48:32.709" v="1465" actId="14100"/>
        <pc:sldMkLst>
          <pc:docMk/>
          <pc:sldMk cId="1181189770" sldId="275"/>
        </pc:sldMkLst>
        <pc:spChg chg="mod">
          <ac:chgData name="Sahan Konur, Sahika" userId="739a6e03-9a4a-49c6-a350-571b31db94be" providerId="ADAL" clId="{C125DD5B-61D1-42FA-9D92-85FE818A8B4B}" dt="2024-01-13T18:11:54.942" v="1459" actId="20577"/>
          <ac:spMkLst>
            <pc:docMk/>
            <pc:sldMk cId="1181189770" sldId="275"/>
            <ac:spMk id="3" creationId="{00000000-0000-0000-0000-000000000000}"/>
          </ac:spMkLst>
        </pc:spChg>
        <pc:spChg chg="add del mod">
          <ac:chgData name="Sahan Konur, Sahika" userId="739a6e03-9a4a-49c6-a350-571b31db94be" providerId="ADAL" clId="{C125DD5B-61D1-42FA-9D92-85FE818A8B4B}" dt="2024-01-13T18:12:07.441" v="1462" actId="478"/>
          <ac:spMkLst>
            <pc:docMk/>
            <pc:sldMk cId="1181189770" sldId="275"/>
            <ac:spMk id="7" creationId="{151F265B-54B1-7CC6-A17B-70560D6ADE7D}"/>
          </ac:spMkLst>
        </pc:spChg>
        <pc:picChg chg="del">
          <ac:chgData name="Sahan Konur, Sahika" userId="739a6e03-9a4a-49c6-a350-571b31db94be" providerId="ADAL" clId="{C125DD5B-61D1-42FA-9D92-85FE818A8B4B}" dt="2024-01-11T15:29:17.356" v="1394" actId="478"/>
          <ac:picMkLst>
            <pc:docMk/>
            <pc:sldMk cId="1181189770" sldId="275"/>
            <ac:picMk id="4" creationId="{4EF381E3-BB43-2858-CB3D-4AACAD706B15}"/>
          </ac:picMkLst>
        </pc:picChg>
        <pc:picChg chg="add del mod">
          <ac:chgData name="Sahan Konur, Sahika" userId="739a6e03-9a4a-49c6-a350-571b31db94be" providerId="ADAL" clId="{C125DD5B-61D1-42FA-9D92-85FE818A8B4B}" dt="2024-01-13T18:11:36.273" v="1453" actId="478"/>
          <ac:picMkLst>
            <pc:docMk/>
            <pc:sldMk cId="1181189770" sldId="275"/>
            <ac:picMk id="5" creationId="{5A40EEEB-91B8-1700-F1C7-F421803CB882}"/>
          </ac:picMkLst>
        </pc:picChg>
        <pc:picChg chg="add mod">
          <ac:chgData name="Sahan Konur, Sahika" userId="739a6e03-9a4a-49c6-a350-571b31db94be" providerId="ADAL" clId="{C125DD5B-61D1-42FA-9D92-85FE818A8B4B}" dt="2024-01-18T14:48:32.709" v="1465" actId="14100"/>
          <ac:picMkLst>
            <pc:docMk/>
            <pc:sldMk cId="1181189770" sldId="275"/>
            <ac:picMk id="6" creationId="{C555F8EF-508F-284D-23A1-0288814BD218}"/>
          </ac:picMkLst>
        </pc:picChg>
        <pc:picChg chg="add del mod modCrop">
          <ac:chgData name="Sahan Konur, Sahika" userId="739a6e03-9a4a-49c6-a350-571b31db94be" providerId="ADAL" clId="{C125DD5B-61D1-42FA-9D92-85FE818A8B4B}" dt="2024-01-11T15:37:17.684" v="1409" actId="478"/>
          <ac:picMkLst>
            <pc:docMk/>
            <pc:sldMk cId="1181189770" sldId="275"/>
            <ac:picMk id="6" creationId="{E0A975C3-E0AF-6CE6-33F6-291853F8446B}"/>
          </ac:picMkLst>
        </pc:picChg>
      </pc:sldChg>
      <pc:sldChg chg="modSp mod">
        <pc:chgData name="Sahan Konur, Sahika" userId="739a6e03-9a4a-49c6-a350-571b31db94be" providerId="ADAL" clId="{C125DD5B-61D1-42FA-9D92-85FE818A8B4B}" dt="2024-01-18T14:52:46.687" v="1664" actId="115"/>
        <pc:sldMkLst>
          <pc:docMk/>
          <pc:sldMk cId="4000116978" sldId="278"/>
        </pc:sldMkLst>
        <pc:spChg chg="mod">
          <ac:chgData name="Sahan Konur, Sahika" userId="739a6e03-9a4a-49c6-a350-571b31db94be" providerId="ADAL" clId="{C125DD5B-61D1-42FA-9D92-85FE818A8B4B}" dt="2024-01-18T14:52:46.687" v="1664" actId="115"/>
          <ac:spMkLst>
            <pc:docMk/>
            <pc:sldMk cId="4000116978" sldId="278"/>
            <ac:spMk id="3" creationId="{00000000-0000-0000-0000-000000000000}"/>
          </ac:spMkLst>
        </pc:spChg>
      </pc:sldChg>
      <pc:sldChg chg="modSp mod">
        <pc:chgData name="Sahan Konur, Sahika" userId="739a6e03-9a4a-49c6-a350-571b31db94be" providerId="ADAL" clId="{C125DD5B-61D1-42FA-9D92-85FE818A8B4B}" dt="2024-01-10T17:28:24.390" v="325" actId="27636"/>
        <pc:sldMkLst>
          <pc:docMk/>
          <pc:sldMk cId="4229896974" sldId="279"/>
        </pc:sldMkLst>
        <pc:spChg chg="mod">
          <ac:chgData name="Sahan Konur, Sahika" userId="739a6e03-9a4a-49c6-a350-571b31db94be" providerId="ADAL" clId="{C125DD5B-61D1-42FA-9D92-85FE818A8B4B}" dt="2024-01-10T17:28:24.390" v="325" actId="27636"/>
          <ac:spMkLst>
            <pc:docMk/>
            <pc:sldMk cId="4229896974" sldId="279"/>
            <ac:spMk id="3" creationId="{00000000-0000-0000-0000-000000000000}"/>
          </ac:spMkLst>
        </pc:spChg>
      </pc:sldChg>
      <pc:sldChg chg="modSp mod">
        <pc:chgData name="Sahan Konur, Sahika" userId="739a6e03-9a4a-49c6-a350-571b31db94be" providerId="ADAL" clId="{C125DD5B-61D1-42FA-9D92-85FE818A8B4B}" dt="2024-01-18T14:53:07.030" v="1665" actId="1076"/>
        <pc:sldMkLst>
          <pc:docMk/>
          <pc:sldMk cId="4192352721" sldId="280"/>
        </pc:sldMkLst>
        <pc:spChg chg="mod">
          <ac:chgData name="Sahan Konur, Sahika" userId="739a6e03-9a4a-49c6-a350-571b31db94be" providerId="ADAL" clId="{C125DD5B-61D1-42FA-9D92-85FE818A8B4B}" dt="2024-01-10T17:28:24.406" v="326" actId="27636"/>
          <ac:spMkLst>
            <pc:docMk/>
            <pc:sldMk cId="4192352721" sldId="280"/>
            <ac:spMk id="3" creationId="{00000000-0000-0000-0000-000000000000}"/>
          </ac:spMkLst>
        </pc:spChg>
        <pc:picChg chg="mod">
          <ac:chgData name="Sahan Konur, Sahika" userId="739a6e03-9a4a-49c6-a350-571b31db94be" providerId="ADAL" clId="{C125DD5B-61D1-42FA-9D92-85FE818A8B4B}" dt="2024-01-18T14:53:07.030" v="1665" actId="1076"/>
          <ac:picMkLst>
            <pc:docMk/>
            <pc:sldMk cId="4192352721" sldId="280"/>
            <ac:picMk id="4" creationId="{00000000-0000-0000-0000-000000000000}"/>
          </ac:picMkLst>
        </pc:picChg>
      </pc:sldChg>
      <pc:sldChg chg="modSp mod">
        <pc:chgData name="Sahan Konur, Sahika" userId="739a6e03-9a4a-49c6-a350-571b31db94be" providerId="ADAL" clId="{C125DD5B-61D1-42FA-9D92-85FE818A8B4B}" dt="2024-01-10T18:11:26.629" v="1234" actId="115"/>
        <pc:sldMkLst>
          <pc:docMk/>
          <pc:sldMk cId="1813927344" sldId="281"/>
        </pc:sldMkLst>
        <pc:spChg chg="mod">
          <ac:chgData name="Sahan Konur, Sahika" userId="739a6e03-9a4a-49c6-a350-571b31db94be" providerId="ADAL" clId="{C125DD5B-61D1-42FA-9D92-85FE818A8B4B}" dt="2024-01-10T18:11:26.629" v="1234" actId="115"/>
          <ac:spMkLst>
            <pc:docMk/>
            <pc:sldMk cId="1813927344" sldId="281"/>
            <ac:spMk id="3" creationId="{00000000-0000-0000-0000-000000000000}"/>
          </ac:spMkLst>
        </pc:spChg>
      </pc:sldChg>
      <pc:sldChg chg="modSp mod">
        <pc:chgData name="Sahan Konur, Sahika" userId="739a6e03-9a4a-49c6-a350-571b31db94be" providerId="ADAL" clId="{C125DD5B-61D1-42FA-9D92-85FE818A8B4B}" dt="2024-01-10T17:28:24.406" v="327" actId="27636"/>
        <pc:sldMkLst>
          <pc:docMk/>
          <pc:sldMk cId="2523249124" sldId="283"/>
        </pc:sldMkLst>
        <pc:spChg chg="mod">
          <ac:chgData name="Sahan Konur, Sahika" userId="739a6e03-9a4a-49c6-a350-571b31db94be" providerId="ADAL" clId="{C125DD5B-61D1-42FA-9D92-85FE818A8B4B}" dt="2024-01-10T17:28:24.406" v="327" actId="27636"/>
          <ac:spMkLst>
            <pc:docMk/>
            <pc:sldMk cId="2523249124" sldId="283"/>
            <ac:spMk id="3" creationId="{00000000-0000-0000-0000-000000000000}"/>
          </ac:spMkLst>
        </pc:spChg>
      </pc:sldChg>
      <pc:sldChg chg="modSp mod">
        <pc:chgData name="Sahan Konur, Sahika" userId="739a6e03-9a4a-49c6-a350-571b31db94be" providerId="ADAL" clId="{C125DD5B-61D1-42FA-9D92-85FE818A8B4B}" dt="2024-01-10T18:13:34.390" v="1267" actId="114"/>
        <pc:sldMkLst>
          <pc:docMk/>
          <pc:sldMk cId="1530832756" sldId="287"/>
        </pc:sldMkLst>
        <pc:spChg chg="mod">
          <ac:chgData name="Sahan Konur, Sahika" userId="739a6e03-9a4a-49c6-a350-571b31db94be" providerId="ADAL" clId="{C125DD5B-61D1-42FA-9D92-85FE818A8B4B}" dt="2024-01-10T18:13:34.390" v="1267" actId="114"/>
          <ac:spMkLst>
            <pc:docMk/>
            <pc:sldMk cId="1530832756" sldId="287"/>
            <ac:spMk id="3" creationId="{00000000-0000-0000-0000-000000000000}"/>
          </ac:spMkLst>
        </pc:spChg>
      </pc:sldChg>
      <pc:sldChg chg="modSp mod">
        <pc:chgData name="Sahan Konur, Sahika" userId="739a6e03-9a4a-49c6-a350-571b31db94be" providerId="ADAL" clId="{C125DD5B-61D1-42FA-9D92-85FE818A8B4B}" dt="2024-01-10T18:10:43.609" v="1227" actId="255"/>
        <pc:sldMkLst>
          <pc:docMk/>
          <pc:sldMk cId="785944956" sldId="288"/>
        </pc:sldMkLst>
        <pc:spChg chg="mod">
          <ac:chgData name="Sahan Konur, Sahika" userId="739a6e03-9a4a-49c6-a350-571b31db94be" providerId="ADAL" clId="{C125DD5B-61D1-42FA-9D92-85FE818A8B4B}" dt="2024-01-10T18:10:43.609" v="1227" actId="255"/>
          <ac:spMkLst>
            <pc:docMk/>
            <pc:sldMk cId="785944956" sldId="288"/>
            <ac:spMk id="3" creationId="{00000000-0000-0000-0000-000000000000}"/>
          </ac:spMkLst>
        </pc:spChg>
      </pc:sldChg>
      <pc:sldChg chg="modSp mod">
        <pc:chgData name="Sahan Konur, Sahika" userId="739a6e03-9a4a-49c6-a350-571b31db94be" providerId="ADAL" clId="{C125DD5B-61D1-42FA-9D92-85FE818A8B4B}" dt="2024-01-10T17:28:24.406" v="329" actId="27636"/>
        <pc:sldMkLst>
          <pc:docMk/>
          <pc:sldMk cId="914106071" sldId="337"/>
        </pc:sldMkLst>
        <pc:spChg chg="mod">
          <ac:chgData name="Sahan Konur, Sahika" userId="739a6e03-9a4a-49c6-a350-571b31db94be" providerId="ADAL" clId="{C125DD5B-61D1-42FA-9D92-85FE818A8B4B}" dt="2024-01-10T17:28:24.406" v="329" actId="27636"/>
          <ac:spMkLst>
            <pc:docMk/>
            <pc:sldMk cId="914106071" sldId="337"/>
            <ac:spMk id="3" creationId="{00000000-0000-0000-0000-000000000000}"/>
          </ac:spMkLst>
        </pc:spChg>
      </pc:sldChg>
      <pc:sldChg chg="modSp mod">
        <pc:chgData name="Sahan Konur, Sahika" userId="739a6e03-9a4a-49c6-a350-571b31db94be" providerId="ADAL" clId="{C125DD5B-61D1-42FA-9D92-85FE818A8B4B}" dt="2024-01-10T17:28:24.421" v="330" actId="27636"/>
        <pc:sldMkLst>
          <pc:docMk/>
          <pc:sldMk cId="2648660344" sldId="338"/>
        </pc:sldMkLst>
        <pc:spChg chg="mod">
          <ac:chgData name="Sahan Konur, Sahika" userId="739a6e03-9a4a-49c6-a350-571b31db94be" providerId="ADAL" clId="{C125DD5B-61D1-42FA-9D92-85FE818A8B4B}" dt="2024-01-10T17:28:24.421" v="330" actId="27636"/>
          <ac:spMkLst>
            <pc:docMk/>
            <pc:sldMk cId="2648660344" sldId="338"/>
            <ac:spMk id="3" creationId="{00000000-0000-0000-0000-000000000000}"/>
          </ac:spMkLst>
        </pc:spChg>
      </pc:sldChg>
      <pc:sldChg chg="modSp mod">
        <pc:chgData name="Sahan Konur, Sahika" userId="739a6e03-9a4a-49c6-a350-571b31db94be" providerId="ADAL" clId="{C125DD5B-61D1-42FA-9D92-85FE818A8B4B}" dt="2024-01-10T17:28:24.421" v="332" actId="27636"/>
        <pc:sldMkLst>
          <pc:docMk/>
          <pc:sldMk cId="1446287136" sldId="341"/>
        </pc:sldMkLst>
        <pc:spChg chg="mod">
          <ac:chgData name="Sahan Konur, Sahika" userId="739a6e03-9a4a-49c6-a350-571b31db94be" providerId="ADAL" clId="{C125DD5B-61D1-42FA-9D92-85FE818A8B4B}" dt="2024-01-10T17:28:24.421" v="332" actId="27636"/>
          <ac:spMkLst>
            <pc:docMk/>
            <pc:sldMk cId="1446287136" sldId="341"/>
            <ac:spMk id="3" creationId="{00000000-0000-0000-0000-000000000000}"/>
          </ac:spMkLst>
        </pc:spChg>
      </pc:sldChg>
      <pc:sldChg chg="modSp mod">
        <pc:chgData name="Sahan Konur, Sahika" userId="739a6e03-9a4a-49c6-a350-571b31db94be" providerId="ADAL" clId="{C125DD5B-61D1-42FA-9D92-85FE818A8B4B}" dt="2024-01-10T17:28:24.421" v="331" actId="27636"/>
        <pc:sldMkLst>
          <pc:docMk/>
          <pc:sldMk cId="2322890665" sldId="343"/>
        </pc:sldMkLst>
        <pc:spChg chg="mod">
          <ac:chgData name="Sahan Konur, Sahika" userId="739a6e03-9a4a-49c6-a350-571b31db94be" providerId="ADAL" clId="{C125DD5B-61D1-42FA-9D92-85FE818A8B4B}" dt="2024-01-10T17:28:24.421" v="331" actId="27636"/>
          <ac:spMkLst>
            <pc:docMk/>
            <pc:sldMk cId="2322890665" sldId="343"/>
            <ac:spMk id="3" creationId="{00000000-0000-0000-0000-000000000000}"/>
          </ac:spMkLst>
        </pc:spChg>
      </pc:sldChg>
      <pc:sldChg chg="modSp mod">
        <pc:chgData name="Sahan Konur, Sahika" userId="739a6e03-9a4a-49c6-a350-571b31db94be" providerId="ADAL" clId="{C125DD5B-61D1-42FA-9D92-85FE818A8B4B}" dt="2024-01-10T17:28:24.421" v="333" actId="27636"/>
        <pc:sldMkLst>
          <pc:docMk/>
          <pc:sldMk cId="3078305114" sldId="344"/>
        </pc:sldMkLst>
        <pc:spChg chg="mod">
          <ac:chgData name="Sahan Konur, Sahika" userId="739a6e03-9a4a-49c6-a350-571b31db94be" providerId="ADAL" clId="{C125DD5B-61D1-42FA-9D92-85FE818A8B4B}" dt="2024-01-10T17:28:24.421" v="333" actId="27636"/>
          <ac:spMkLst>
            <pc:docMk/>
            <pc:sldMk cId="3078305114" sldId="344"/>
            <ac:spMk id="3" creationId="{00000000-0000-0000-0000-000000000000}"/>
          </ac:spMkLst>
        </pc:spChg>
      </pc:sldChg>
      <pc:sldChg chg="modSp mod">
        <pc:chgData name="Sahan Konur, Sahika" userId="739a6e03-9a4a-49c6-a350-571b31db94be" providerId="ADAL" clId="{C125DD5B-61D1-42FA-9D92-85FE818A8B4B}" dt="2024-01-10T17:28:24.443" v="335" actId="27636"/>
        <pc:sldMkLst>
          <pc:docMk/>
          <pc:sldMk cId="515410641" sldId="350"/>
        </pc:sldMkLst>
        <pc:spChg chg="mod">
          <ac:chgData name="Sahan Konur, Sahika" userId="739a6e03-9a4a-49c6-a350-571b31db94be" providerId="ADAL" clId="{C125DD5B-61D1-42FA-9D92-85FE818A8B4B}" dt="2024-01-10T17:28:24.443" v="335" actId="27636"/>
          <ac:spMkLst>
            <pc:docMk/>
            <pc:sldMk cId="515410641" sldId="350"/>
            <ac:spMk id="3" creationId="{00000000-0000-0000-0000-000000000000}"/>
          </ac:spMkLst>
        </pc:spChg>
      </pc:sldChg>
      <pc:sldChg chg="modSp mod">
        <pc:chgData name="Sahan Konur, Sahika" userId="739a6e03-9a4a-49c6-a350-571b31db94be" providerId="ADAL" clId="{C125DD5B-61D1-42FA-9D92-85FE818A8B4B}" dt="2024-01-10T17:28:24.453" v="337" actId="27636"/>
        <pc:sldMkLst>
          <pc:docMk/>
          <pc:sldMk cId="156174472" sldId="353"/>
        </pc:sldMkLst>
        <pc:spChg chg="mod">
          <ac:chgData name="Sahan Konur, Sahika" userId="739a6e03-9a4a-49c6-a350-571b31db94be" providerId="ADAL" clId="{C125DD5B-61D1-42FA-9D92-85FE818A8B4B}" dt="2024-01-10T17:28:24.453" v="337" actId="27636"/>
          <ac:spMkLst>
            <pc:docMk/>
            <pc:sldMk cId="156174472" sldId="353"/>
            <ac:spMk id="3" creationId="{00000000-0000-0000-0000-000000000000}"/>
          </ac:spMkLst>
        </pc:spChg>
      </pc:sldChg>
      <pc:sldChg chg="modSp mod">
        <pc:chgData name="Sahan Konur, Sahika" userId="739a6e03-9a4a-49c6-a350-571b31db94be" providerId="ADAL" clId="{C125DD5B-61D1-42FA-9D92-85FE818A8B4B}" dt="2024-01-10T17:28:24.437" v="334" actId="27636"/>
        <pc:sldMkLst>
          <pc:docMk/>
          <pc:sldMk cId="2819452756" sldId="354"/>
        </pc:sldMkLst>
        <pc:spChg chg="mod">
          <ac:chgData name="Sahan Konur, Sahika" userId="739a6e03-9a4a-49c6-a350-571b31db94be" providerId="ADAL" clId="{C125DD5B-61D1-42FA-9D92-85FE818A8B4B}" dt="2024-01-10T17:28:24.437" v="334" actId="27636"/>
          <ac:spMkLst>
            <pc:docMk/>
            <pc:sldMk cId="2819452756" sldId="354"/>
            <ac:spMk id="3" creationId="{00000000-0000-0000-0000-000000000000}"/>
          </ac:spMkLst>
        </pc:spChg>
      </pc:sldChg>
      <pc:sldChg chg="modSp mod">
        <pc:chgData name="Sahan Konur, Sahika" userId="739a6e03-9a4a-49c6-a350-571b31db94be" providerId="ADAL" clId="{C125DD5B-61D1-42FA-9D92-85FE818A8B4B}" dt="2024-01-10T17:28:24.443" v="336" actId="27636"/>
        <pc:sldMkLst>
          <pc:docMk/>
          <pc:sldMk cId="4192695856" sldId="355"/>
        </pc:sldMkLst>
        <pc:spChg chg="mod">
          <ac:chgData name="Sahan Konur, Sahika" userId="739a6e03-9a4a-49c6-a350-571b31db94be" providerId="ADAL" clId="{C125DD5B-61D1-42FA-9D92-85FE818A8B4B}" dt="2024-01-10T17:28:24.443" v="336" actId="27636"/>
          <ac:spMkLst>
            <pc:docMk/>
            <pc:sldMk cId="4192695856" sldId="355"/>
            <ac:spMk id="3" creationId="{00000000-0000-0000-0000-000000000000}"/>
          </ac:spMkLst>
        </pc:spChg>
      </pc:sldChg>
      <pc:sldChg chg="modSp mod">
        <pc:chgData name="Sahan Konur, Sahika" userId="739a6e03-9a4a-49c6-a350-571b31db94be" providerId="ADAL" clId="{C125DD5B-61D1-42FA-9D92-85FE818A8B4B}" dt="2024-01-10T17:28:24.453" v="339" actId="27636"/>
        <pc:sldMkLst>
          <pc:docMk/>
          <pc:sldMk cId="186580316" sldId="356"/>
        </pc:sldMkLst>
        <pc:spChg chg="mod">
          <ac:chgData name="Sahan Konur, Sahika" userId="739a6e03-9a4a-49c6-a350-571b31db94be" providerId="ADAL" clId="{C125DD5B-61D1-42FA-9D92-85FE818A8B4B}" dt="2024-01-10T17:28:24.453" v="339" actId="27636"/>
          <ac:spMkLst>
            <pc:docMk/>
            <pc:sldMk cId="186580316" sldId="356"/>
            <ac:spMk id="3" creationId="{00000000-0000-0000-0000-000000000000}"/>
          </ac:spMkLst>
        </pc:spChg>
      </pc:sldChg>
      <pc:sldChg chg="modSp mod">
        <pc:chgData name="Sahan Konur, Sahika" userId="739a6e03-9a4a-49c6-a350-571b31db94be" providerId="ADAL" clId="{C125DD5B-61D1-42FA-9D92-85FE818A8B4B}" dt="2024-01-10T17:28:24.406" v="328" actId="27636"/>
        <pc:sldMkLst>
          <pc:docMk/>
          <pc:sldMk cId="2137510144" sldId="357"/>
        </pc:sldMkLst>
        <pc:spChg chg="mod">
          <ac:chgData name="Sahan Konur, Sahika" userId="739a6e03-9a4a-49c6-a350-571b31db94be" providerId="ADAL" clId="{C125DD5B-61D1-42FA-9D92-85FE818A8B4B}" dt="2024-01-10T17:28:24.406" v="328" actId="27636"/>
          <ac:spMkLst>
            <pc:docMk/>
            <pc:sldMk cId="2137510144" sldId="357"/>
            <ac:spMk id="3" creationId="{00000000-0000-0000-0000-000000000000}"/>
          </ac:spMkLst>
        </pc:spChg>
      </pc:sldChg>
      <pc:sldChg chg="modSp add mod">
        <pc:chgData name="Sahan Konur, Sahika" userId="739a6e03-9a4a-49c6-a350-571b31db94be" providerId="ADAL" clId="{C125DD5B-61D1-42FA-9D92-85FE818A8B4B}" dt="2024-01-13T18:11:24.052" v="1452" actId="20577"/>
        <pc:sldMkLst>
          <pc:docMk/>
          <pc:sldMk cId="2078878057" sldId="359"/>
        </pc:sldMkLst>
        <pc:spChg chg="mod">
          <ac:chgData name="Sahan Konur, Sahika" userId="739a6e03-9a4a-49c6-a350-571b31db94be" providerId="ADAL" clId="{C125DD5B-61D1-42FA-9D92-85FE818A8B4B}" dt="2024-01-13T18:11:24.052" v="1452" actId="20577"/>
          <ac:spMkLst>
            <pc:docMk/>
            <pc:sldMk cId="2078878057" sldId="359"/>
            <ac:spMk id="3" creationId="{00000000-0000-0000-0000-000000000000}"/>
          </ac:spMkLst>
        </pc:spChg>
      </pc:sldChg>
      <pc:sldChg chg="modSp add mod">
        <pc:chgData name="Sahan Konur, Sahika" userId="739a6e03-9a4a-49c6-a350-571b31db94be" providerId="ADAL" clId="{C125DD5B-61D1-42FA-9D92-85FE818A8B4B}" dt="2024-01-10T18:21:05.600" v="1333" actId="27636"/>
        <pc:sldMkLst>
          <pc:docMk/>
          <pc:sldMk cId="3354305851" sldId="360"/>
        </pc:sldMkLst>
        <pc:spChg chg="mod">
          <ac:chgData name="Sahan Konur, Sahika" userId="739a6e03-9a4a-49c6-a350-571b31db94be" providerId="ADAL" clId="{C125DD5B-61D1-42FA-9D92-85FE818A8B4B}" dt="2024-01-10T18:21:05.600" v="1333" actId="27636"/>
          <ac:spMkLst>
            <pc:docMk/>
            <pc:sldMk cId="3354305851" sldId="360"/>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4DD3099-EF0D-4B9A-BBFF-09FBE6BF6054}"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486018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002" y="365125"/>
            <a:ext cx="11478410" cy="839731"/>
          </a:xfrm>
        </p:spPr>
        <p:txBody>
          <a:bodyPr/>
          <a:lstStyle/>
          <a:p>
            <a:r>
              <a:rPr lang="en-US"/>
              <a:t>Click to edit Master title style</a:t>
            </a:r>
          </a:p>
        </p:txBody>
      </p:sp>
      <p:sp>
        <p:nvSpPr>
          <p:cNvPr id="3" name="Content Placeholder 2"/>
          <p:cNvSpPr>
            <a:spLocks noGrp="1"/>
          </p:cNvSpPr>
          <p:nvPr>
            <p:ph idx="1"/>
          </p:nvPr>
        </p:nvSpPr>
        <p:spPr>
          <a:xfrm>
            <a:off x="355002" y="1312433"/>
            <a:ext cx="11478410" cy="48645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002" y="6356350"/>
            <a:ext cx="3226398" cy="365125"/>
          </a:xfrm>
        </p:spPr>
        <p:txBody>
          <a:bodyPr/>
          <a:lstStyle/>
          <a:p>
            <a:fld id="{B1E3B061-4FCE-4A21-AC74-81FE2BC5CF3E}"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3222812" cy="365125"/>
          </a:xfrm>
        </p:spPr>
        <p:txBody>
          <a:bodyPr/>
          <a:lstStyle/>
          <a:p>
            <a:fld id="{1F4BF737-9C2B-4B9F-9835-28D7237AA9BE}" type="slidenum">
              <a:rPr lang="en-US" smtClean="0"/>
              <a:t>‹#›</a:t>
            </a:fld>
            <a:endParaRPr lang="en-US"/>
          </a:p>
        </p:txBody>
      </p:sp>
      <p:cxnSp>
        <p:nvCxnSpPr>
          <p:cNvPr id="8" name="Straight Connector 7"/>
          <p:cNvCxnSpPr/>
          <p:nvPr userDrawn="1"/>
        </p:nvCxnSpPr>
        <p:spPr>
          <a:xfrm>
            <a:off x="355002" y="1193795"/>
            <a:ext cx="1147841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9817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759F54-5CF2-4FD0-836E-B479A78D51A3}"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627419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3933E6-EEC8-49F6-86B1-D403F7BCF2D7}" type="datetime1">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97853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7FC5F4-FF8A-4310-ACDA-118E50908757}" type="datetime1">
              <a:rPr lang="en-US" smtClean="0"/>
              <a:t>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065875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1ECC70-ED3C-42E3-B9D4-4CDAF46FBF6D}" type="datetime1">
              <a:rPr lang="en-US" smtClean="0"/>
              <a:t>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913569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CC83FA-2A64-4953-B019-1B95DE5F0E9D}" type="datetime1">
              <a:rPr lang="en-US" smtClean="0"/>
              <a:t>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891650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949A69-C0C1-4748-81A5-B3EAE2845645}" type="datetime1">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4130942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AE0C7C-8B0D-4808-9EE9-6B3127DD99F3}" type="datetime1">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607238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B08BD7-923F-4248-A98A-25295194946A}"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051559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5BBA94-316C-4F17-807F-67A425FEAD68}"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904035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98F577-5F6A-4371-8B61-A5EB0D2162DC}" type="datetime1">
              <a:rPr lang="en-US" smtClean="0"/>
              <a:t>1/18/2024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BF737-9C2B-4B9F-9835-28D7237AA9BE}" type="slidenum">
              <a:rPr lang="en-US" smtClean="0"/>
              <a:t>‹#›</a:t>
            </a:fld>
            <a:endParaRPr lang="en-US"/>
          </a:p>
        </p:txBody>
      </p:sp>
    </p:spTree>
    <p:extLst>
      <p:ext uri="{BB962C8B-B14F-4D97-AF65-F5344CB8AC3E}">
        <p14:creationId xmlns:p14="http://schemas.microsoft.com/office/powerpoint/2010/main" val="2435649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textbook.simio.com/books/SASMAA6.php#download" TargetMode="External"/><Relationship Id="rId2" Type="http://schemas.openxmlformats.org/officeDocument/2006/relationships/hyperlink" Target="https://otexts.com/fpp3/" TargetMode="External"/><Relationship Id="rId1" Type="http://schemas.openxmlformats.org/officeDocument/2006/relationships/slideLayout" Target="../slideLayouts/slideLayout2.xml"/><Relationship Id="rId4" Type="http://schemas.openxmlformats.org/officeDocument/2006/relationships/hyperlink" Target="https://www.simio.com/publications/SASMAA/students/"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www.txstate.edu/office365/"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support.office.com/en-us/article/load-the-solver-add-in-in-excel-612926fc-d53b-46b4-872c-e24772f078ca" TargetMode="External"/><Relationship Id="rId2" Type="http://schemas.openxmlformats.org/officeDocument/2006/relationships/hyperlink" Target="https://support.office.com/en-us/article/use-the-analysis-toolpak-to-perform-complex-data-analysis-6c67ccf0-f4a9-487c-8dec-bdb5a2cefab6" TargetMode="External"/><Relationship Id="rId1" Type="http://schemas.openxmlformats.org/officeDocument/2006/relationships/slideLayout" Target="../slideLayouts/slideLayout2.xml"/><Relationship Id="rId5" Type="http://schemas.openxmlformats.org/officeDocument/2006/relationships/hyperlink" Target="https://www.excel-easy.com/data-analysis/solver.html" TargetMode="External"/><Relationship Id="rId4" Type="http://schemas.openxmlformats.org/officeDocument/2006/relationships/hyperlink" Target="https://support.office.com/en-us/article/define-and-solve-a-problem-by-using-solver-5d1a388f-079d-43ac-a7eb-f63e45925040"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simio.com/publications/SASMAA/students/" TargetMode="External"/><Relationship Id="rId2" Type="http://schemas.openxmlformats.org/officeDocument/2006/relationships/hyperlink" Target="https://www.simio.com/download/simio.php"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682433"/>
            <a:ext cx="11487150" cy="2387600"/>
          </a:xfrm>
        </p:spPr>
        <p:txBody>
          <a:bodyPr>
            <a:normAutofit fontScale="90000"/>
          </a:bodyPr>
          <a:lstStyle/>
          <a:p>
            <a:r>
              <a:rPr lang="en-US" sz="3200" dirty="0"/>
              <a:t>QMST 5335</a:t>
            </a:r>
            <a:br>
              <a:rPr lang="en-US" sz="5400" dirty="0"/>
            </a:br>
            <a:r>
              <a:rPr lang="en-US" sz="5400" b="1" dirty="0"/>
              <a:t>Course Overview and Introduction to Forecasting</a:t>
            </a:r>
            <a:br>
              <a:rPr lang="en-US" sz="5400" dirty="0"/>
            </a:br>
            <a:endParaRPr lang="en-US" sz="4400" b="1" dirty="0">
              <a:solidFill>
                <a:srgbClr val="C00000"/>
              </a:solidFill>
            </a:endParaRPr>
          </a:p>
        </p:txBody>
      </p:sp>
      <p:sp>
        <p:nvSpPr>
          <p:cNvPr id="5" name="Subtitle 4">
            <a:extLst>
              <a:ext uri="{FF2B5EF4-FFF2-40B4-BE49-F238E27FC236}">
                <a16:creationId xmlns:a16="http://schemas.microsoft.com/office/drawing/2014/main" id="{E6D8F2F0-9F34-E6E3-80DD-EB3A31E41FB9}"/>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698425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F9A2C-3D53-CD9D-044D-9740137293C7}"/>
              </a:ext>
            </a:extLst>
          </p:cNvPr>
          <p:cNvSpPr>
            <a:spLocks noGrp="1"/>
          </p:cNvSpPr>
          <p:nvPr>
            <p:ph type="title"/>
          </p:nvPr>
        </p:nvSpPr>
        <p:spPr/>
        <p:txBody>
          <a:bodyPr/>
          <a:lstStyle/>
          <a:p>
            <a:r>
              <a:rPr lang="en-US" dirty="0">
                <a:solidFill>
                  <a:srgbClr val="C00000"/>
                </a:solidFill>
              </a:rPr>
              <a:t>Learning Objectives:</a:t>
            </a:r>
          </a:p>
        </p:txBody>
      </p:sp>
      <p:sp>
        <p:nvSpPr>
          <p:cNvPr id="3" name="Content Placeholder 2">
            <a:extLst>
              <a:ext uri="{FF2B5EF4-FFF2-40B4-BE49-F238E27FC236}">
                <a16:creationId xmlns:a16="http://schemas.microsoft.com/office/drawing/2014/main" id="{698D41C9-0B92-95F3-E7AD-C8F387519FB4}"/>
              </a:ext>
            </a:extLst>
          </p:cNvPr>
          <p:cNvSpPr>
            <a:spLocks noGrp="1"/>
          </p:cNvSpPr>
          <p:nvPr>
            <p:ph idx="1"/>
          </p:nvPr>
        </p:nvSpPr>
        <p:spPr/>
        <p:txBody>
          <a:bodyPr/>
          <a:lstStyle/>
          <a:p>
            <a:r>
              <a:rPr lang="en-US" dirty="0"/>
              <a:t>Course overview</a:t>
            </a:r>
          </a:p>
          <a:p>
            <a:pPr lvl="1"/>
            <a:r>
              <a:rPr lang="en-US" dirty="0"/>
              <a:t>Description, materials, requirements</a:t>
            </a:r>
          </a:p>
          <a:p>
            <a:pPr lvl="1"/>
            <a:r>
              <a:rPr lang="en-US" dirty="0"/>
              <a:t>Syllabus details and methodology</a:t>
            </a:r>
          </a:p>
          <a:p>
            <a:r>
              <a:rPr lang="en-US" dirty="0"/>
              <a:t>Forecasting</a:t>
            </a:r>
          </a:p>
          <a:p>
            <a:pPr lvl="1"/>
            <a:r>
              <a:rPr lang="en-US" dirty="0"/>
              <a:t>What is forecasting? The steps involved!</a:t>
            </a:r>
          </a:p>
          <a:p>
            <a:pPr lvl="1"/>
            <a:r>
              <a:rPr lang="en-US" dirty="0"/>
              <a:t>Main forecasting approaches</a:t>
            </a:r>
          </a:p>
          <a:p>
            <a:pPr lvl="1"/>
            <a:r>
              <a:rPr lang="en-US" dirty="0" err="1"/>
              <a:t>Judgemental</a:t>
            </a:r>
            <a:r>
              <a:rPr lang="en-US" dirty="0"/>
              <a:t> forecasting approaches and how they work</a:t>
            </a:r>
          </a:p>
          <a:p>
            <a:pPr lvl="1"/>
            <a:endParaRPr lang="en-US" dirty="0"/>
          </a:p>
        </p:txBody>
      </p:sp>
    </p:spTree>
    <p:extLst>
      <p:ext uri="{BB962C8B-B14F-4D97-AF65-F5344CB8AC3E}">
        <p14:creationId xmlns:p14="http://schemas.microsoft.com/office/powerpoint/2010/main" val="3723040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1" y="1312433"/>
            <a:ext cx="11633799" cy="4864530"/>
          </a:xfrm>
        </p:spPr>
        <p:txBody>
          <a:bodyPr>
            <a:normAutofit/>
          </a:bodyPr>
          <a:lstStyle/>
          <a:p>
            <a:r>
              <a:rPr lang="en-US" dirty="0"/>
              <a:t>Course Overview</a:t>
            </a:r>
          </a:p>
          <a:p>
            <a:pPr lvl="1"/>
            <a:r>
              <a:rPr lang="en-US" dirty="0"/>
              <a:t>Course Description, Materials, Delivery, and Schedule</a:t>
            </a:r>
          </a:p>
          <a:p>
            <a:pPr lvl="1"/>
            <a:r>
              <a:rPr lang="en-US" dirty="0"/>
              <a:t>Course Requirements and CANVAS Site</a:t>
            </a:r>
          </a:p>
          <a:p>
            <a:endParaRPr lang="en-US" dirty="0"/>
          </a:p>
          <a:p>
            <a:r>
              <a:rPr lang="en-US" dirty="0"/>
              <a:t>Introduction to Forecasting</a:t>
            </a:r>
          </a:p>
          <a:p>
            <a:pPr lvl="1"/>
            <a:r>
              <a:rPr lang="en-US" dirty="0"/>
              <a:t>Forecasting, Forecasting Horizon, and Forecasting Task</a:t>
            </a:r>
          </a:p>
          <a:p>
            <a:pPr lvl="1"/>
            <a:r>
              <a:rPr lang="en-US" dirty="0"/>
              <a:t>Forecasts and Forecasting Methods</a:t>
            </a:r>
          </a:p>
          <a:p>
            <a:pPr lvl="1"/>
            <a:r>
              <a:rPr lang="en-US" dirty="0"/>
              <a:t>Qualitative (Judgmental) Forecasting</a:t>
            </a:r>
          </a:p>
          <a:p>
            <a:pPr lvl="1"/>
            <a:r>
              <a:rPr lang="en-US" dirty="0"/>
              <a:t>Quantitative Forecasting</a:t>
            </a:r>
          </a:p>
          <a:p>
            <a:endParaRPr lang="en-US" dirty="0"/>
          </a:p>
        </p:txBody>
      </p:sp>
    </p:spTree>
    <p:extLst>
      <p:ext uri="{BB962C8B-B14F-4D97-AF65-F5344CB8AC3E}">
        <p14:creationId xmlns:p14="http://schemas.microsoft.com/office/powerpoint/2010/main" val="1872432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1" y="1312433"/>
            <a:ext cx="11633799" cy="4864530"/>
          </a:xfrm>
        </p:spPr>
        <p:txBody>
          <a:bodyPr>
            <a:normAutofit/>
          </a:bodyPr>
          <a:lstStyle/>
          <a:p>
            <a:r>
              <a:rPr lang="en-US" dirty="0"/>
              <a:t>Course Overview</a:t>
            </a:r>
          </a:p>
          <a:p>
            <a:pPr lvl="1"/>
            <a:r>
              <a:rPr lang="en-US" dirty="0"/>
              <a:t>Course Description, Materials, Delivery, and Schedule</a:t>
            </a:r>
          </a:p>
          <a:p>
            <a:pPr lvl="1"/>
            <a:r>
              <a:rPr lang="en-US" dirty="0"/>
              <a:t>Course Requirements and CANVAS Site</a:t>
            </a:r>
          </a:p>
          <a:p>
            <a:endParaRPr lang="en-US" dirty="0"/>
          </a:p>
          <a:p>
            <a:r>
              <a:rPr lang="en-US" dirty="0">
                <a:solidFill>
                  <a:schemeClr val="bg2"/>
                </a:solidFill>
              </a:rPr>
              <a:t>Introduction to Forecasting</a:t>
            </a:r>
          </a:p>
          <a:p>
            <a:pPr lvl="1"/>
            <a:r>
              <a:rPr lang="en-US" dirty="0">
                <a:solidFill>
                  <a:schemeClr val="bg2"/>
                </a:solidFill>
              </a:rPr>
              <a:t>Forecasting, Forecasting Horizon, and Forecasting Task</a:t>
            </a:r>
          </a:p>
          <a:p>
            <a:pPr lvl="1"/>
            <a:r>
              <a:rPr lang="en-US" dirty="0">
                <a:solidFill>
                  <a:schemeClr val="bg2"/>
                </a:solidFill>
              </a:rPr>
              <a:t>Forecasts and Forecasting Methods</a:t>
            </a:r>
          </a:p>
          <a:p>
            <a:pPr lvl="1"/>
            <a:r>
              <a:rPr lang="en-US" dirty="0">
                <a:solidFill>
                  <a:schemeClr val="bg2"/>
                </a:solidFill>
              </a:rPr>
              <a:t>Qualitative (Judgmental) Forecasting</a:t>
            </a:r>
          </a:p>
          <a:p>
            <a:pPr lvl="1"/>
            <a:r>
              <a:rPr lang="en-US" dirty="0">
                <a:solidFill>
                  <a:schemeClr val="bg2"/>
                </a:solidFill>
              </a:rPr>
              <a:t>Quantitative Forecasting</a:t>
            </a:r>
          </a:p>
          <a:p>
            <a:endParaRPr lang="en-US" dirty="0"/>
          </a:p>
        </p:txBody>
      </p:sp>
    </p:spTree>
    <p:extLst>
      <p:ext uri="{BB962C8B-B14F-4D97-AF65-F5344CB8AC3E}">
        <p14:creationId xmlns:p14="http://schemas.microsoft.com/office/powerpoint/2010/main" val="186580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Description</a:t>
            </a:r>
          </a:p>
        </p:txBody>
      </p:sp>
      <p:sp>
        <p:nvSpPr>
          <p:cNvPr id="3" name="Content Placeholder 2"/>
          <p:cNvSpPr>
            <a:spLocks noGrp="1"/>
          </p:cNvSpPr>
          <p:nvPr>
            <p:ph idx="1"/>
          </p:nvPr>
        </p:nvSpPr>
        <p:spPr>
          <a:xfrm>
            <a:off x="355001" y="1312433"/>
            <a:ext cx="11633799" cy="4864530"/>
          </a:xfrm>
        </p:spPr>
        <p:txBody>
          <a:bodyPr>
            <a:normAutofit lnSpcReduction="10000"/>
          </a:bodyPr>
          <a:lstStyle/>
          <a:p>
            <a:pPr marL="0" indent="0">
              <a:buNone/>
            </a:pPr>
            <a:r>
              <a:rPr lang="en-US" dirty="0"/>
              <a:t>This course introduces the concepts and principles of forecasting and simulation techniques as applies to planning and decision making in organizations. Topical coverage includes time series forecasting, casual forecasting, discrete event simulation, and continues-event simulation techniques.</a:t>
            </a:r>
          </a:p>
          <a:p>
            <a:r>
              <a:rPr lang="en-US" dirty="0"/>
              <a:t>What you will acquire in this course:</a:t>
            </a:r>
          </a:p>
          <a:p>
            <a:pPr lvl="1"/>
            <a:r>
              <a:rPr lang="en-US" dirty="0"/>
              <a:t>Understanding forecasts and forecasting process</a:t>
            </a:r>
          </a:p>
          <a:p>
            <a:pPr lvl="1"/>
            <a:r>
              <a:rPr lang="en-US" dirty="0"/>
              <a:t>Learning the basics of time series and casual forecasting methods</a:t>
            </a:r>
          </a:p>
          <a:p>
            <a:pPr lvl="1"/>
            <a:r>
              <a:rPr lang="en-US" dirty="0"/>
              <a:t>Learning how to evaluate forecasts</a:t>
            </a:r>
          </a:p>
          <a:p>
            <a:pPr lvl="1"/>
            <a:r>
              <a:rPr lang="en-US" dirty="0"/>
              <a:t>Understanding the basics of simulation and designing simulation models</a:t>
            </a:r>
          </a:p>
          <a:p>
            <a:pPr lvl="1"/>
            <a:r>
              <a:rPr lang="en-US" dirty="0"/>
              <a:t>Learning basics of queueing models</a:t>
            </a:r>
          </a:p>
          <a:p>
            <a:pPr lvl="1"/>
            <a:r>
              <a:rPr lang="en-US" dirty="0"/>
              <a:t>Designing discrete-event simulation for analyzing various systems</a:t>
            </a:r>
          </a:p>
          <a:p>
            <a:pPr lvl="1"/>
            <a:r>
              <a:rPr lang="en-US" dirty="0"/>
              <a:t>Analyzing input and output data using simulation models</a:t>
            </a:r>
          </a:p>
          <a:p>
            <a:endParaRPr lang="en-US" dirty="0"/>
          </a:p>
        </p:txBody>
      </p:sp>
    </p:spTree>
    <p:extLst>
      <p:ext uri="{BB962C8B-B14F-4D97-AF65-F5344CB8AC3E}">
        <p14:creationId xmlns:p14="http://schemas.microsoft.com/office/powerpoint/2010/main" val="219115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Materials: Textbooks</a:t>
            </a:r>
          </a:p>
        </p:txBody>
      </p:sp>
      <p:sp>
        <p:nvSpPr>
          <p:cNvPr id="3" name="Content Placeholder 2"/>
          <p:cNvSpPr>
            <a:spLocks noGrp="1"/>
          </p:cNvSpPr>
          <p:nvPr>
            <p:ph idx="1"/>
          </p:nvPr>
        </p:nvSpPr>
        <p:spPr>
          <a:xfrm>
            <a:off x="355001" y="1312433"/>
            <a:ext cx="11633799" cy="4864530"/>
          </a:xfrm>
        </p:spPr>
        <p:txBody>
          <a:bodyPr>
            <a:normAutofit/>
          </a:bodyPr>
          <a:lstStyle/>
          <a:p>
            <a:pPr marL="0" indent="0">
              <a:buNone/>
            </a:pPr>
            <a:r>
              <a:rPr lang="en-US" sz="2600" b="1" u="sng" dirty="0">
                <a:solidFill>
                  <a:srgbClr val="C00000"/>
                </a:solidFill>
              </a:rPr>
              <a:t>Required Textbooks:</a:t>
            </a:r>
          </a:p>
          <a:p>
            <a:pPr marL="0" indent="0">
              <a:buNone/>
            </a:pPr>
            <a:r>
              <a:rPr lang="en-US" sz="2400" b="1" dirty="0"/>
              <a:t>Required Textbook 1 - </a:t>
            </a:r>
            <a:r>
              <a:rPr lang="en-US" sz="2400" b="1" dirty="0">
                <a:solidFill>
                  <a:srgbClr val="C00000"/>
                </a:solidFill>
              </a:rPr>
              <a:t>FPP</a:t>
            </a:r>
            <a:r>
              <a:rPr lang="en-US" sz="2400" b="1" dirty="0"/>
              <a:t>:</a:t>
            </a:r>
            <a:r>
              <a:rPr lang="en-US" sz="2400" dirty="0"/>
              <a:t> “Forecasting Principles and Practice”, 3rd Edition, by Rob Hyndman and George </a:t>
            </a:r>
            <a:r>
              <a:rPr lang="en-US" sz="2400" dirty="0" err="1"/>
              <a:t>Athanasopoulos</a:t>
            </a:r>
            <a:r>
              <a:rPr lang="en-US" sz="2400" dirty="0"/>
              <a:t>. Published by </a:t>
            </a:r>
            <a:r>
              <a:rPr lang="en-US" sz="2400" dirty="0" err="1"/>
              <a:t>OTexts</a:t>
            </a:r>
            <a:r>
              <a:rPr lang="en-US" sz="2400" dirty="0"/>
              <a:t>: Melbourne, Australia. OTexts.com/fpp3. </a:t>
            </a:r>
          </a:p>
          <a:p>
            <a:pPr lvl="1"/>
            <a:r>
              <a:rPr lang="en-US" sz="2000" dirty="0"/>
              <a:t>Available free at: </a:t>
            </a:r>
            <a:r>
              <a:rPr lang="en-US" sz="2000" u="sng" dirty="0">
                <a:hlinkClick r:id="rId2"/>
              </a:rPr>
              <a:t>https://otexts.com/fpp3/</a:t>
            </a:r>
            <a:r>
              <a:rPr lang="en-US" sz="2000" dirty="0"/>
              <a:t>  </a:t>
            </a:r>
            <a:endParaRPr lang="en-US" sz="1800" dirty="0"/>
          </a:p>
          <a:p>
            <a:pPr marL="0" indent="0">
              <a:buNone/>
            </a:pPr>
            <a:r>
              <a:rPr lang="en-US" sz="2400" b="1" dirty="0"/>
              <a:t>Required Textbook 2 - </a:t>
            </a:r>
            <a:r>
              <a:rPr lang="en-US" sz="2400" b="1" dirty="0">
                <a:solidFill>
                  <a:srgbClr val="C00000"/>
                </a:solidFill>
              </a:rPr>
              <a:t>SS</a:t>
            </a:r>
            <a:r>
              <a:rPr lang="en-US" sz="2400" b="1" dirty="0"/>
              <a:t>: </a:t>
            </a:r>
            <a:r>
              <a:rPr lang="en-US" sz="2400" dirty="0"/>
              <a:t>“</a:t>
            </a:r>
            <a:r>
              <a:rPr lang="en-US" sz="2400" dirty="0" err="1"/>
              <a:t>Simio</a:t>
            </a:r>
            <a:r>
              <a:rPr lang="en-US" sz="2400" dirty="0"/>
              <a:t> and Simulation: Modeling, Analysis, Applications”, 6th Edition, by Jeffrey S. Smith, David T. </a:t>
            </a:r>
            <a:r>
              <a:rPr lang="en-US" sz="2400" dirty="0" err="1"/>
              <a:t>Sturrock</a:t>
            </a:r>
            <a:r>
              <a:rPr lang="en-US" sz="2400" dirty="0"/>
              <a:t> and W. David Kelton. </a:t>
            </a:r>
          </a:p>
          <a:p>
            <a:pPr lvl="1"/>
            <a:r>
              <a:rPr lang="en-US" sz="2000" dirty="0"/>
              <a:t>Available free at: </a:t>
            </a:r>
            <a:r>
              <a:rPr lang="en-US" sz="2000" dirty="0">
                <a:hlinkClick r:id="rId3"/>
              </a:rPr>
              <a:t>https://textbook.simio.com/books/SASMAA6.php#download</a:t>
            </a:r>
            <a:r>
              <a:rPr lang="en-US" sz="2000" dirty="0"/>
              <a:t>  </a:t>
            </a:r>
          </a:p>
          <a:p>
            <a:pPr lvl="1"/>
            <a:r>
              <a:rPr lang="en-US" sz="2000" dirty="0"/>
              <a:t>The textbook has student resources at </a:t>
            </a:r>
            <a:r>
              <a:rPr lang="en-US" sz="2000" dirty="0">
                <a:hlinkClick r:id="rId4"/>
              </a:rPr>
              <a:t>https://www.simio.com/publications/SASMAA/students/</a:t>
            </a:r>
            <a:r>
              <a:rPr lang="en-US" sz="2000" dirty="0"/>
              <a:t>  </a:t>
            </a:r>
          </a:p>
          <a:p>
            <a:pPr lvl="1"/>
            <a:r>
              <a:rPr lang="en-US" sz="2000" dirty="0"/>
              <a:t>To access the student resources, use username </a:t>
            </a:r>
            <a:r>
              <a:rPr lang="en-US" sz="2000" dirty="0">
                <a:solidFill>
                  <a:srgbClr val="C00000"/>
                </a:solidFill>
              </a:rPr>
              <a:t>student</a:t>
            </a:r>
            <a:r>
              <a:rPr lang="en-US" sz="2000" dirty="0"/>
              <a:t> and password </a:t>
            </a:r>
            <a:r>
              <a:rPr lang="en-US" sz="2000" dirty="0">
                <a:solidFill>
                  <a:srgbClr val="C00000"/>
                </a:solidFill>
              </a:rPr>
              <a:t>Reg!stered5tudent</a:t>
            </a:r>
            <a:r>
              <a:rPr lang="en-US" sz="2000" dirty="0"/>
              <a:t> . Further details are available in the Preface of the textbook. </a:t>
            </a:r>
          </a:p>
        </p:txBody>
      </p:sp>
    </p:spTree>
    <p:extLst>
      <p:ext uri="{BB962C8B-B14F-4D97-AF65-F5344CB8AC3E}">
        <p14:creationId xmlns:p14="http://schemas.microsoft.com/office/powerpoint/2010/main" val="763821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Materials: Software</a:t>
            </a:r>
          </a:p>
        </p:txBody>
      </p:sp>
      <p:sp>
        <p:nvSpPr>
          <p:cNvPr id="3" name="Content Placeholder 2"/>
          <p:cNvSpPr>
            <a:spLocks noGrp="1"/>
          </p:cNvSpPr>
          <p:nvPr>
            <p:ph idx="1"/>
          </p:nvPr>
        </p:nvSpPr>
        <p:spPr>
          <a:xfrm>
            <a:off x="355001" y="1312433"/>
            <a:ext cx="11633799" cy="4864530"/>
          </a:xfrm>
        </p:spPr>
        <p:txBody>
          <a:bodyPr>
            <a:normAutofit/>
          </a:bodyPr>
          <a:lstStyle/>
          <a:p>
            <a:pPr marL="0" indent="0">
              <a:buNone/>
            </a:pPr>
            <a:r>
              <a:rPr lang="en-US" sz="2600" b="1" u="sng" dirty="0">
                <a:solidFill>
                  <a:srgbClr val="C00000"/>
                </a:solidFill>
              </a:rPr>
              <a:t>Required Software:</a:t>
            </a:r>
          </a:p>
          <a:p>
            <a:pPr marL="0" indent="0">
              <a:lnSpc>
                <a:spcPct val="120000"/>
              </a:lnSpc>
              <a:buNone/>
            </a:pPr>
            <a:r>
              <a:rPr lang="en-US" sz="2400" b="1" dirty="0"/>
              <a:t>Required Software Set 1: </a:t>
            </a:r>
            <a:r>
              <a:rPr lang="en-US" sz="2400" dirty="0"/>
              <a:t>A Windows or MAC laptop with an installation of MS Excel 2016 or later (no trial versions or earlier versions acceptable). Also, other MS Office programs, PowerPoint and Word, and Adobe for pdf documents are required.</a:t>
            </a:r>
          </a:p>
          <a:p>
            <a:pPr lvl="1">
              <a:lnSpc>
                <a:spcPct val="120000"/>
              </a:lnSpc>
            </a:pPr>
            <a:r>
              <a:rPr lang="en-US" sz="2000" dirty="0"/>
              <a:t>Please check information on installing Office 365: </a:t>
            </a:r>
            <a:r>
              <a:rPr lang="en-US" sz="2000" u="sng" dirty="0">
                <a:hlinkClick r:id="rId2"/>
              </a:rPr>
              <a:t>http://www.txstate.edu/office365/</a:t>
            </a:r>
            <a:endParaRPr lang="en-US" sz="2000" dirty="0"/>
          </a:p>
          <a:p>
            <a:pPr lvl="1">
              <a:lnSpc>
                <a:spcPct val="120000"/>
              </a:lnSpc>
            </a:pPr>
            <a:r>
              <a:rPr lang="en-US" sz="2000" dirty="0"/>
              <a:t>We will use MS Excel extensively in forecasting and simulation portions.</a:t>
            </a:r>
          </a:p>
          <a:p>
            <a:pPr lvl="1">
              <a:lnSpc>
                <a:spcPct val="120000"/>
              </a:lnSpc>
            </a:pPr>
            <a:r>
              <a:rPr lang="en-US" sz="2000" dirty="0"/>
              <a:t>You will need to add the following </a:t>
            </a:r>
            <a:r>
              <a:rPr lang="en-US" sz="2000" dirty="0" err="1"/>
              <a:t>ToolPaks</a:t>
            </a:r>
            <a:r>
              <a:rPr lang="en-US" sz="2000" dirty="0"/>
              <a:t>:</a:t>
            </a:r>
          </a:p>
          <a:p>
            <a:endParaRPr lang="en-US" sz="3600" dirty="0"/>
          </a:p>
        </p:txBody>
      </p:sp>
    </p:spTree>
    <p:extLst>
      <p:ext uri="{BB962C8B-B14F-4D97-AF65-F5344CB8AC3E}">
        <p14:creationId xmlns:p14="http://schemas.microsoft.com/office/powerpoint/2010/main" val="69167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Materials: Software</a:t>
            </a:r>
          </a:p>
        </p:txBody>
      </p:sp>
      <p:sp>
        <p:nvSpPr>
          <p:cNvPr id="3" name="Content Placeholder 2"/>
          <p:cNvSpPr>
            <a:spLocks noGrp="1"/>
          </p:cNvSpPr>
          <p:nvPr>
            <p:ph idx="1"/>
          </p:nvPr>
        </p:nvSpPr>
        <p:spPr>
          <a:xfrm>
            <a:off x="355001" y="1312433"/>
            <a:ext cx="11633799" cy="4864530"/>
          </a:xfrm>
        </p:spPr>
        <p:txBody>
          <a:bodyPr>
            <a:normAutofit fontScale="85000" lnSpcReduction="20000"/>
          </a:bodyPr>
          <a:lstStyle/>
          <a:p>
            <a:pPr marL="0" indent="0">
              <a:buNone/>
            </a:pPr>
            <a:r>
              <a:rPr lang="en-US" sz="3100" b="1" u="sng" dirty="0">
                <a:solidFill>
                  <a:srgbClr val="C00000"/>
                </a:solidFill>
              </a:rPr>
              <a:t>Required Software:</a:t>
            </a:r>
          </a:p>
          <a:p>
            <a:pPr marL="0" indent="0">
              <a:lnSpc>
                <a:spcPct val="120000"/>
              </a:lnSpc>
              <a:buNone/>
            </a:pPr>
            <a:r>
              <a:rPr lang="en-US" b="1" dirty="0"/>
              <a:t>Required Software Set 1 (cont’d):</a:t>
            </a:r>
          </a:p>
          <a:p>
            <a:pPr lvl="1">
              <a:lnSpc>
                <a:spcPct val="120000"/>
              </a:lnSpc>
            </a:pPr>
            <a:r>
              <a:rPr lang="en-US" dirty="0"/>
              <a:t>You will need to add the following </a:t>
            </a:r>
            <a:r>
              <a:rPr lang="en-US" dirty="0" err="1"/>
              <a:t>ToolPaks</a:t>
            </a:r>
            <a:r>
              <a:rPr lang="en-US" dirty="0"/>
              <a:t>:</a:t>
            </a:r>
          </a:p>
          <a:p>
            <a:pPr lvl="2">
              <a:lnSpc>
                <a:spcPct val="120000"/>
              </a:lnSpc>
            </a:pPr>
            <a:r>
              <a:rPr lang="en-US" sz="2100" b="1" i="1" dirty="0"/>
              <a:t>Data Analysis </a:t>
            </a:r>
            <a:r>
              <a:rPr lang="en-US" sz="2100" b="1" i="1" dirty="0" err="1"/>
              <a:t>ToolPak</a:t>
            </a:r>
            <a:r>
              <a:rPr lang="en-US" sz="2100" dirty="0"/>
              <a:t>. See </a:t>
            </a:r>
            <a:r>
              <a:rPr lang="en-US" sz="2100" u="sng" dirty="0">
                <a:hlinkClick r:id="rId2"/>
              </a:rPr>
              <a:t>https://support.office.com/en-us/article/use-the-analysis-toolpak-to-perform-complex-data-analysis-6c67ccf0-f4a9-487c-8dec-bdb5a2cefab6</a:t>
            </a:r>
            <a:r>
              <a:rPr lang="en-US" sz="2100" dirty="0"/>
              <a:t> for how to load and activate the Analysis </a:t>
            </a:r>
            <a:r>
              <a:rPr lang="en-US" sz="2100" dirty="0" err="1"/>
              <a:t>ToolPak</a:t>
            </a:r>
            <a:r>
              <a:rPr lang="en-US" sz="2100" dirty="0"/>
              <a:t> as well as the basics of its functions. We will review how to use some of these functions as we need. Students are encouraged to use the above link if they need reference for the functions we use.</a:t>
            </a:r>
          </a:p>
          <a:p>
            <a:pPr lvl="2">
              <a:lnSpc>
                <a:spcPct val="120000"/>
              </a:lnSpc>
            </a:pPr>
            <a:r>
              <a:rPr lang="en-US" sz="2100" b="1" i="1" dirty="0"/>
              <a:t>Solver Add-in</a:t>
            </a:r>
            <a:r>
              <a:rPr lang="en-US" sz="2100" dirty="0"/>
              <a:t>: See </a:t>
            </a:r>
            <a:r>
              <a:rPr lang="en-US" sz="2100" u="sng" dirty="0">
                <a:hlinkClick r:id="rId3"/>
              </a:rPr>
              <a:t>https://support.office.com/en-us/article/load-the-solver-add-in-in-excel-612926fc-d53b-46b4-872c-e24772f078ca</a:t>
            </a:r>
            <a:r>
              <a:rPr lang="en-US" sz="2100" dirty="0"/>
              <a:t> for how to load the Solver Add-in. We will briefly use it and </a:t>
            </a:r>
            <a:r>
              <a:rPr lang="en-US" sz="2100" u="sng" dirty="0">
                <a:hlinkClick r:id="rId4"/>
              </a:rPr>
              <a:t>https://support.office.com/en-us/article/define-and-solve-a-problem-by-using-solver-5d1a388f-079d-43ac-a7eb-f63e45925040</a:t>
            </a:r>
            <a:r>
              <a:rPr lang="en-US" sz="2100" dirty="0"/>
              <a:t> has basic instruction. </a:t>
            </a:r>
            <a:r>
              <a:rPr lang="en-US" sz="2100" u="sng" dirty="0">
                <a:hlinkClick r:id="rId5"/>
              </a:rPr>
              <a:t>https://www.excel-easy.com/data-analysis/solver.html</a:t>
            </a:r>
            <a:r>
              <a:rPr lang="en-US" sz="2100" dirty="0"/>
              <a:t> has additional information. We will review how to use some tools of Solver Add-in as needed.</a:t>
            </a:r>
          </a:p>
          <a:p>
            <a:pPr lvl="1">
              <a:lnSpc>
                <a:spcPct val="120000"/>
              </a:lnSpc>
            </a:pPr>
            <a:r>
              <a:rPr lang="en-US" dirty="0"/>
              <a:t>Once they are loaded, both tools will be shown in Data tab.</a:t>
            </a:r>
          </a:p>
          <a:p>
            <a:pPr lvl="1">
              <a:lnSpc>
                <a:spcPct val="120000"/>
              </a:lnSpc>
            </a:pPr>
            <a:r>
              <a:rPr lang="en-US" dirty="0"/>
              <a:t>Course assignments require submitting Excel, Word and/or pdf, and PowerPoint documents.</a:t>
            </a:r>
          </a:p>
          <a:p>
            <a:endParaRPr lang="en-US" sz="3600" dirty="0"/>
          </a:p>
        </p:txBody>
      </p:sp>
    </p:spTree>
    <p:extLst>
      <p:ext uri="{BB962C8B-B14F-4D97-AF65-F5344CB8AC3E}">
        <p14:creationId xmlns:p14="http://schemas.microsoft.com/office/powerpoint/2010/main" val="3354305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Materials: Software</a:t>
            </a:r>
          </a:p>
        </p:txBody>
      </p:sp>
      <p:sp>
        <p:nvSpPr>
          <p:cNvPr id="3" name="Content Placeholder 2"/>
          <p:cNvSpPr>
            <a:spLocks noGrp="1"/>
          </p:cNvSpPr>
          <p:nvPr>
            <p:ph idx="1"/>
          </p:nvPr>
        </p:nvSpPr>
        <p:spPr>
          <a:xfrm>
            <a:off x="355001" y="1312433"/>
            <a:ext cx="11633799" cy="4864530"/>
          </a:xfrm>
        </p:spPr>
        <p:txBody>
          <a:bodyPr>
            <a:normAutofit/>
          </a:bodyPr>
          <a:lstStyle/>
          <a:p>
            <a:pPr marL="0" indent="0">
              <a:buNone/>
            </a:pPr>
            <a:r>
              <a:rPr lang="en-US" sz="2600" b="1" u="sng" dirty="0">
                <a:solidFill>
                  <a:srgbClr val="C00000"/>
                </a:solidFill>
              </a:rPr>
              <a:t>Required Software:</a:t>
            </a:r>
          </a:p>
          <a:p>
            <a:pPr marL="0" indent="0">
              <a:lnSpc>
                <a:spcPct val="100000"/>
              </a:lnSpc>
              <a:buNone/>
            </a:pPr>
            <a:r>
              <a:rPr lang="en-US" sz="2400" b="1" dirty="0"/>
              <a:t>Required Software Set 2: </a:t>
            </a:r>
            <a:r>
              <a:rPr lang="en-US" sz="2400" dirty="0"/>
              <a:t>You will need to download and install </a:t>
            </a:r>
            <a:r>
              <a:rPr lang="en-US" sz="2400" dirty="0" err="1"/>
              <a:t>Simio</a:t>
            </a:r>
            <a:r>
              <a:rPr lang="en-US" sz="2400" dirty="0"/>
              <a:t> software, Free </a:t>
            </a:r>
            <a:r>
              <a:rPr lang="en-US" sz="2400" dirty="0" err="1"/>
              <a:t>Simio</a:t>
            </a:r>
            <a:r>
              <a:rPr lang="en-US" sz="2400" dirty="0"/>
              <a:t> Personal Edition. We will use </a:t>
            </a:r>
            <a:r>
              <a:rPr lang="en-US" sz="2400" dirty="0" err="1"/>
              <a:t>Simio</a:t>
            </a:r>
            <a:r>
              <a:rPr lang="en-US" sz="2400" dirty="0"/>
              <a:t> after Spring break, so the students are advised to install </a:t>
            </a:r>
            <a:r>
              <a:rPr lang="en-US" sz="2400" dirty="0" err="1"/>
              <a:t>Simio</a:t>
            </a:r>
            <a:r>
              <a:rPr lang="en-US" sz="2400" dirty="0"/>
              <a:t> before Spring break.</a:t>
            </a:r>
          </a:p>
          <a:p>
            <a:pPr lvl="1">
              <a:lnSpc>
                <a:spcPct val="100000"/>
              </a:lnSpc>
            </a:pPr>
            <a:r>
              <a:rPr lang="en-US" sz="2000" dirty="0"/>
              <a:t>To download: </a:t>
            </a:r>
            <a:r>
              <a:rPr lang="en-US" sz="2000" dirty="0">
                <a:hlinkClick r:id="rId2"/>
              </a:rPr>
              <a:t>https://www.simio.com/download/simio.php</a:t>
            </a:r>
            <a:r>
              <a:rPr lang="en-US" sz="2000" dirty="0"/>
              <a:t>  </a:t>
            </a:r>
          </a:p>
          <a:p>
            <a:pPr lvl="1">
              <a:lnSpc>
                <a:spcPct val="100000"/>
              </a:lnSpc>
            </a:pPr>
            <a:r>
              <a:rPr lang="en-US" sz="2000" dirty="0"/>
              <a:t>In addition, we will use Stat::Fit software. </a:t>
            </a:r>
          </a:p>
          <a:p>
            <a:pPr lvl="2">
              <a:lnSpc>
                <a:spcPct val="100000"/>
              </a:lnSpc>
            </a:pPr>
            <a:r>
              <a:rPr lang="en-US" sz="1800" dirty="0"/>
              <a:t>Go to </a:t>
            </a:r>
            <a:r>
              <a:rPr lang="en-US" sz="1800" u="sng" dirty="0">
                <a:hlinkClick r:id="rId3"/>
              </a:rPr>
              <a:t>https://www.simio.com/publications/SASMAA/students/</a:t>
            </a:r>
            <a:r>
              <a:rPr lang="en-US" sz="1800" dirty="0"/>
              <a:t> and scroll down to Supplemental Software section and download the ‘textbook version of Stat::Fit. You do not need to install it. After extracting the files, you can directly run the application file.</a:t>
            </a:r>
          </a:p>
        </p:txBody>
      </p:sp>
    </p:spTree>
    <p:extLst>
      <p:ext uri="{BB962C8B-B14F-4D97-AF65-F5344CB8AC3E}">
        <p14:creationId xmlns:p14="http://schemas.microsoft.com/office/powerpoint/2010/main" val="934391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Delivery and Schedule</a:t>
            </a:r>
          </a:p>
        </p:txBody>
      </p:sp>
      <p:sp>
        <p:nvSpPr>
          <p:cNvPr id="3" name="Content Placeholder 2"/>
          <p:cNvSpPr>
            <a:spLocks noGrp="1"/>
          </p:cNvSpPr>
          <p:nvPr>
            <p:ph idx="1"/>
          </p:nvPr>
        </p:nvSpPr>
        <p:spPr>
          <a:xfrm>
            <a:off x="355001" y="1312433"/>
            <a:ext cx="11633799" cy="4864530"/>
          </a:xfrm>
        </p:spPr>
        <p:txBody>
          <a:bodyPr>
            <a:normAutofit/>
          </a:bodyPr>
          <a:lstStyle/>
          <a:p>
            <a:pPr marL="0" indent="0">
              <a:buNone/>
            </a:pPr>
            <a:r>
              <a:rPr lang="en-US" sz="2600" b="1" dirty="0"/>
              <a:t>The course is organized in three main modules:</a:t>
            </a:r>
          </a:p>
          <a:p>
            <a:pPr lvl="1"/>
            <a:r>
              <a:rPr lang="en-US" dirty="0"/>
              <a:t>Module 1 – Forecasting – Weeks 1-6</a:t>
            </a:r>
          </a:p>
          <a:p>
            <a:pPr lvl="1"/>
            <a:r>
              <a:rPr lang="en-US" dirty="0"/>
              <a:t>Module 2 –Queueing Models and Simulation Basics – Weeks 7-11</a:t>
            </a:r>
          </a:p>
          <a:p>
            <a:pPr lvl="1"/>
            <a:r>
              <a:rPr lang="en-US" dirty="0"/>
              <a:t>Module 3 – Simulation Modeling and </a:t>
            </a:r>
            <a:r>
              <a:rPr lang="en-US" dirty="0" err="1"/>
              <a:t>Simio</a:t>
            </a:r>
            <a:r>
              <a:rPr lang="en-US" dirty="0"/>
              <a:t> – Weeks 11-16</a:t>
            </a:r>
          </a:p>
          <a:p>
            <a:pPr lvl="1"/>
            <a:endParaRPr lang="en-US" dirty="0"/>
          </a:p>
          <a:p>
            <a:r>
              <a:rPr lang="en-US" sz="2600" b="1" dirty="0"/>
              <a:t>Each module covers several weeks</a:t>
            </a:r>
          </a:p>
          <a:p>
            <a:pPr lvl="1"/>
            <a:r>
              <a:rPr lang="en-US" dirty="0"/>
              <a:t>Each week within a module focuses on a main topic from the theme of the module. </a:t>
            </a:r>
          </a:p>
          <a:p>
            <a:pPr lvl="1"/>
            <a:r>
              <a:rPr lang="en-US" dirty="0"/>
              <a:t>For each week within each of module, there will be a page posted on CANVAS under the module. </a:t>
            </a:r>
          </a:p>
          <a:p>
            <a:endParaRPr lang="en-US" sz="1600" dirty="0"/>
          </a:p>
          <a:p>
            <a:pPr marL="914400" lvl="2" indent="0">
              <a:buNone/>
            </a:pPr>
            <a:endParaRPr lang="en-US" sz="1800" dirty="0"/>
          </a:p>
          <a:p>
            <a:pPr lvl="2"/>
            <a:endParaRPr lang="en-US" sz="1800" dirty="0"/>
          </a:p>
        </p:txBody>
      </p:sp>
    </p:spTree>
    <p:extLst>
      <p:ext uri="{BB962C8B-B14F-4D97-AF65-F5344CB8AC3E}">
        <p14:creationId xmlns:p14="http://schemas.microsoft.com/office/powerpoint/2010/main" val="4085209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Delivery and Schedule</a:t>
            </a:r>
          </a:p>
        </p:txBody>
      </p:sp>
      <p:sp>
        <p:nvSpPr>
          <p:cNvPr id="3" name="Content Placeholder 2"/>
          <p:cNvSpPr>
            <a:spLocks noGrp="1"/>
          </p:cNvSpPr>
          <p:nvPr>
            <p:ph idx="1"/>
          </p:nvPr>
        </p:nvSpPr>
        <p:spPr>
          <a:xfrm>
            <a:off x="355001" y="1312433"/>
            <a:ext cx="11633799" cy="4864530"/>
          </a:xfrm>
        </p:spPr>
        <p:txBody>
          <a:bodyPr>
            <a:normAutofit lnSpcReduction="10000"/>
          </a:bodyPr>
          <a:lstStyle/>
          <a:p>
            <a:pPr marL="0" indent="0">
              <a:buNone/>
            </a:pPr>
            <a:r>
              <a:rPr lang="en-US" sz="2600" b="1" u="sng" dirty="0">
                <a:solidFill>
                  <a:srgbClr val="C00000"/>
                </a:solidFill>
              </a:rPr>
              <a:t>Weekly Class Meetings:</a:t>
            </a:r>
          </a:p>
          <a:p>
            <a:pPr marL="0" indent="0">
              <a:buNone/>
            </a:pPr>
            <a:r>
              <a:rPr lang="en-US" sz="2400" b="1" dirty="0"/>
              <a:t>Mondays, 6:30pm-9:20pm </a:t>
            </a:r>
          </a:p>
          <a:p>
            <a:pPr marL="0" indent="0">
              <a:buNone/>
            </a:pPr>
            <a:r>
              <a:rPr lang="en-US" sz="2400" dirty="0"/>
              <a:t>In this course, there are three distinct modes of attendance. Class mode can be found in class schedule posted on course Canvas Home page:</a:t>
            </a:r>
          </a:p>
          <a:p>
            <a:r>
              <a:rPr lang="en-US" sz="2400" b="1" i="1" u="sng" dirty="0"/>
              <a:t>Mode 1: </a:t>
            </a:r>
            <a:r>
              <a:rPr lang="en-US" sz="2400" i="1" dirty="0"/>
              <a:t>Hybrid In-Person (San Marcos &amp; Round Rock)</a:t>
            </a:r>
          </a:p>
          <a:p>
            <a:pPr lvl="1"/>
            <a:r>
              <a:rPr lang="en-US" sz="2000" dirty="0"/>
              <a:t>San Marcos students will attend the class in-person at our San Marcos location.</a:t>
            </a:r>
          </a:p>
          <a:p>
            <a:pPr lvl="1"/>
            <a:r>
              <a:rPr lang="en-US" sz="2000" dirty="0"/>
              <a:t>Round Rock students will attend in-person at our Round Rock location and join the live class held in San Marcos via video conferencing.</a:t>
            </a:r>
          </a:p>
          <a:p>
            <a:r>
              <a:rPr lang="en-US" sz="2400" b="1" i="1" u="sng" dirty="0"/>
              <a:t>Mode 2: </a:t>
            </a:r>
            <a:r>
              <a:rPr lang="en-US" sz="2400" i="1" dirty="0"/>
              <a:t>Hybrid In-Person (Round Rock &amp; San Marcos)</a:t>
            </a:r>
          </a:p>
          <a:p>
            <a:pPr lvl="1"/>
            <a:r>
              <a:rPr lang="en-US" sz="2000" dirty="0"/>
              <a:t>Round Rock students will attend the class in-person at our Round Rock location.</a:t>
            </a:r>
          </a:p>
          <a:p>
            <a:pPr lvl="1"/>
            <a:r>
              <a:rPr lang="en-US" sz="2000" dirty="0"/>
              <a:t>San Marcos students will attend in-person at our San Marcos location and join the live class held in Round Rock via video conferencing.</a:t>
            </a:r>
          </a:p>
          <a:p>
            <a:r>
              <a:rPr lang="en-US" sz="2400" b="1" i="1" u="sng" dirty="0"/>
              <a:t>Mode 3: </a:t>
            </a:r>
            <a:r>
              <a:rPr lang="en-US" sz="2400" i="1" dirty="0"/>
              <a:t>Online via Zoom</a:t>
            </a:r>
          </a:p>
          <a:p>
            <a:pPr lvl="1"/>
            <a:r>
              <a:rPr lang="en-US" sz="2000" dirty="0"/>
              <a:t>The class will be conducted entirely online over Zoom.</a:t>
            </a:r>
          </a:p>
          <a:p>
            <a:pPr lvl="2"/>
            <a:endParaRPr lang="en-US" sz="1800" dirty="0"/>
          </a:p>
        </p:txBody>
      </p:sp>
    </p:spTree>
    <p:extLst>
      <p:ext uri="{BB962C8B-B14F-4D97-AF65-F5344CB8AC3E}">
        <p14:creationId xmlns:p14="http://schemas.microsoft.com/office/powerpoint/2010/main" val="1530832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Delivery and Schedule</a:t>
            </a:r>
          </a:p>
        </p:txBody>
      </p:sp>
      <p:sp>
        <p:nvSpPr>
          <p:cNvPr id="3" name="Content Placeholder 2"/>
          <p:cNvSpPr>
            <a:spLocks noGrp="1"/>
          </p:cNvSpPr>
          <p:nvPr>
            <p:ph idx="1"/>
          </p:nvPr>
        </p:nvSpPr>
        <p:spPr>
          <a:xfrm>
            <a:off x="355001" y="1312433"/>
            <a:ext cx="11633799" cy="4864530"/>
          </a:xfrm>
        </p:spPr>
        <p:txBody>
          <a:bodyPr>
            <a:normAutofit/>
          </a:bodyPr>
          <a:lstStyle/>
          <a:p>
            <a:pPr marL="0" indent="0">
              <a:buNone/>
            </a:pPr>
            <a:r>
              <a:rPr lang="en-US" sz="2600" b="1" u="sng" dirty="0">
                <a:solidFill>
                  <a:srgbClr val="C00000"/>
                </a:solidFill>
              </a:rPr>
              <a:t>Weekly Office Hours (over Zoom): </a:t>
            </a:r>
          </a:p>
          <a:p>
            <a:pPr marL="0" indent="0">
              <a:buNone/>
            </a:pPr>
            <a:r>
              <a:rPr lang="en-US" sz="2400" b="1" dirty="0"/>
              <a:t>Mondays, 4:00-6:00pm every week</a:t>
            </a:r>
          </a:p>
          <a:p>
            <a:r>
              <a:rPr lang="en-US" sz="2400" dirty="0"/>
              <a:t>All the office hours will be conducted over Zoom. You can find the Zoom links for office hours in the course Canvas page and the course syllabus. </a:t>
            </a:r>
            <a:endParaRPr lang="en-US" sz="2400" b="1" dirty="0"/>
          </a:p>
          <a:p>
            <a:r>
              <a:rPr lang="en-US" sz="2400" dirty="0"/>
              <a:t>Join office-hours to ask questions, participate in possible discussions, etc.</a:t>
            </a:r>
          </a:p>
          <a:p>
            <a:r>
              <a:rPr lang="en-US" sz="2400" dirty="0"/>
              <a:t>Homework assignments are typically due before the class meetings, so office-hours are great for asking last questions before submitting your homework assignments!</a:t>
            </a:r>
          </a:p>
          <a:p>
            <a:pPr marL="0" indent="0">
              <a:buNone/>
            </a:pPr>
            <a:endParaRPr lang="en-US" sz="2400" b="1" u="sng" dirty="0">
              <a:solidFill>
                <a:srgbClr val="C00000"/>
              </a:solidFill>
            </a:endParaRPr>
          </a:p>
          <a:p>
            <a:pPr marL="0" indent="0">
              <a:buNone/>
            </a:pPr>
            <a:r>
              <a:rPr lang="en-US" sz="2600" b="1" u="sng" dirty="0">
                <a:solidFill>
                  <a:srgbClr val="C00000"/>
                </a:solidFill>
              </a:rPr>
              <a:t>Pre-recorded Lecture videos: </a:t>
            </a:r>
          </a:p>
          <a:p>
            <a:pPr marL="0" indent="0">
              <a:buNone/>
            </a:pPr>
            <a:r>
              <a:rPr lang="en-US" sz="2400" dirty="0"/>
              <a:t>For some of the weeks, the instructor may post pre-recorded lecture videos or direct the students to watch some videos.</a:t>
            </a:r>
          </a:p>
          <a:p>
            <a:pPr lvl="2"/>
            <a:endParaRPr lang="en-US" sz="1800" dirty="0"/>
          </a:p>
        </p:txBody>
      </p:sp>
    </p:spTree>
    <p:extLst>
      <p:ext uri="{BB962C8B-B14F-4D97-AF65-F5344CB8AC3E}">
        <p14:creationId xmlns:p14="http://schemas.microsoft.com/office/powerpoint/2010/main" val="2078878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Delivery and Schedule</a:t>
            </a:r>
          </a:p>
        </p:txBody>
      </p:sp>
      <p:sp>
        <p:nvSpPr>
          <p:cNvPr id="3" name="Content Placeholder 2"/>
          <p:cNvSpPr>
            <a:spLocks noGrp="1"/>
          </p:cNvSpPr>
          <p:nvPr>
            <p:ph idx="1"/>
          </p:nvPr>
        </p:nvSpPr>
        <p:spPr>
          <a:xfrm>
            <a:off x="362531" y="1294145"/>
            <a:ext cx="11633799" cy="4864530"/>
          </a:xfrm>
        </p:spPr>
        <p:txBody>
          <a:bodyPr>
            <a:normAutofit/>
          </a:bodyPr>
          <a:lstStyle/>
          <a:p>
            <a:pPr marL="0" indent="0">
              <a:buNone/>
            </a:pPr>
            <a:r>
              <a:rPr lang="en-US" sz="2600" b="1" u="sng" dirty="0">
                <a:solidFill>
                  <a:srgbClr val="C00000"/>
                </a:solidFill>
              </a:rPr>
              <a:t>Weekly Flow:</a:t>
            </a:r>
            <a:r>
              <a:rPr lang="en-US" sz="2600" u="sng" dirty="0">
                <a:solidFill>
                  <a:srgbClr val="C00000"/>
                </a:solidFill>
              </a:rPr>
              <a:t> </a:t>
            </a:r>
          </a:p>
          <a:p>
            <a:pPr marL="0" indent="0">
              <a:buNone/>
            </a:pPr>
            <a:r>
              <a:rPr lang="en-US" sz="2400" dirty="0"/>
              <a:t>To succeed in this course and not to fall behind, the students are encouraged to follow the weekly schedule and complete the week’s learning tasks. </a:t>
            </a:r>
          </a:p>
          <a:p>
            <a:r>
              <a:rPr lang="en-US" sz="2400" dirty="0"/>
              <a:t>A typical week’s flow is as follows:</a:t>
            </a:r>
            <a:endParaRPr lang="en-US" sz="3200" dirty="0"/>
          </a:p>
          <a:p>
            <a:pPr lvl="1"/>
            <a:r>
              <a:rPr lang="en-US" sz="2000" dirty="0"/>
              <a:t>The week’s page on CANVAS under the corresponding module includes all the learning tasks and materials and pre-recorded online video links, if any. </a:t>
            </a:r>
            <a:endParaRPr lang="en-US" sz="2800" dirty="0"/>
          </a:p>
          <a:p>
            <a:pPr lvl="1"/>
            <a:r>
              <a:rPr lang="en-US" sz="2000" dirty="0"/>
              <a:t>The students review the materials and watch the pre-recorded online videos (if any).</a:t>
            </a:r>
            <a:endParaRPr lang="en-US" sz="2800" dirty="0"/>
          </a:p>
          <a:p>
            <a:pPr lvl="1"/>
            <a:r>
              <a:rPr lang="en-US" sz="2000" dirty="0"/>
              <a:t>The students attend the online live class-meeting or come to the classroom.</a:t>
            </a:r>
            <a:endParaRPr lang="en-US" sz="2800" dirty="0"/>
          </a:p>
          <a:p>
            <a:pPr lvl="1"/>
            <a:r>
              <a:rPr lang="en-US" sz="2000" dirty="0"/>
              <a:t>The students complete the week’s learning tasks and work on the related assignment.</a:t>
            </a:r>
            <a:endParaRPr lang="en-US" sz="2800" dirty="0"/>
          </a:p>
          <a:p>
            <a:pPr lvl="1"/>
            <a:r>
              <a:rPr lang="en-US" sz="2000" dirty="0"/>
              <a:t>The students submit the assignment (if any) before the class-meeting.</a:t>
            </a:r>
            <a:endParaRPr lang="en-US" sz="2800" dirty="0"/>
          </a:p>
          <a:p>
            <a:r>
              <a:rPr lang="en-US" sz="2400" u="sng" dirty="0"/>
              <a:t>Throughout each week, the students are encouraged to join the office hours</a:t>
            </a:r>
            <a:endParaRPr lang="en-US" sz="1800" dirty="0"/>
          </a:p>
          <a:p>
            <a:pPr lvl="2"/>
            <a:endParaRPr lang="en-US" sz="1800" dirty="0"/>
          </a:p>
        </p:txBody>
      </p:sp>
    </p:spTree>
    <p:extLst>
      <p:ext uri="{BB962C8B-B14F-4D97-AF65-F5344CB8AC3E}">
        <p14:creationId xmlns:p14="http://schemas.microsoft.com/office/powerpoint/2010/main" val="785944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Delivery and Schedule</a:t>
            </a:r>
          </a:p>
        </p:txBody>
      </p:sp>
      <p:sp>
        <p:nvSpPr>
          <p:cNvPr id="3" name="Content Placeholder 2"/>
          <p:cNvSpPr>
            <a:spLocks noGrp="1"/>
          </p:cNvSpPr>
          <p:nvPr>
            <p:ph idx="1"/>
          </p:nvPr>
        </p:nvSpPr>
        <p:spPr>
          <a:xfrm>
            <a:off x="355001" y="1312433"/>
            <a:ext cx="11633799" cy="4864530"/>
          </a:xfrm>
        </p:spPr>
        <p:txBody>
          <a:bodyPr>
            <a:normAutofit fontScale="92500" lnSpcReduction="20000"/>
          </a:bodyPr>
          <a:lstStyle/>
          <a:p>
            <a:pPr marL="0" indent="0">
              <a:buNone/>
            </a:pPr>
            <a:r>
              <a:rPr lang="en-US" b="1" u="sng" dirty="0">
                <a:solidFill>
                  <a:srgbClr val="C00000"/>
                </a:solidFill>
              </a:rPr>
              <a:t>Outline of the schedule</a:t>
            </a:r>
            <a:r>
              <a:rPr lang="en-US" b="1" dirty="0">
                <a:solidFill>
                  <a:srgbClr val="C00000"/>
                </a:solidFill>
              </a:rPr>
              <a:t>:</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pPr lvl="1"/>
            <a:endParaRPr lang="en-US" sz="2000" dirty="0"/>
          </a:p>
          <a:p>
            <a:pPr lvl="1"/>
            <a:endParaRPr lang="en-US" sz="2000" dirty="0"/>
          </a:p>
          <a:p>
            <a:pPr lvl="1"/>
            <a:r>
              <a:rPr lang="en-US" sz="2000" dirty="0"/>
              <a:t>Things might change! I will make announcements accordingly</a:t>
            </a:r>
          </a:p>
          <a:p>
            <a:pPr lvl="2"/>
            <a:endParaRPr lang="en-US" sz="1800" dirty="0"/>
          </a:p>
          <a:p>
            <a:pPr lvl="2"/>
            <a:endParaRPr lang="en-US" sz="1800" dirty="0"/>
          </a:p>
        </p:txBody>
      </p:sp>
      <p:pic>
        <p:nvPicPr>
          <p:cNvPr id="6" name="Picture 5">
            <a:extLst>
              <a:ext uri="{FF2B5EF4-FFF2-40B4-BE49-F238E27FC236}">
                <a16:creationId xmlns:a16="http://schemas.microsoft.com/office/drawing/2014/main" id="{C555F8EF-508F-284D-23A1-0288814BD218}"/>
              </a:ext>
            </a:extLst>
          </p:cNvPr>
          <p:cNvPicPr>
            <a:picLocks noChangeAspect="1"/>
          </p:cNvPicPr>
          <p:nvPr/>
        </p:nvPicPr>
        <p:blipFill>
          <a:blip r:embed="rId2"/>
          <a:stretch>
            <a:fillRect/>
          </a:stretch>
        </p:blipFill>
        <p:spPr>
          <a:xfrm>
            <a:off x="410583" y="1839598"/>
            <a:ext cx="11367247" cy="3847970"/>
          </a:xfrm>
          <a:prstGeom prst="rect">
            <a:avLst/>
          </a:prstGeom>
        </p:spPr>
      </p:pic>
    </p:spTree>
    <p:extLst>
      <p:ext uri="{BB962C8B-B14F-4D97-AF65-F5344CB8AC3E}">
        <p14:creationId xmlns:p14="http://schemas.microsoft.com/office/powerpoint/2010/main" val="1181189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Delivery and Schedule</a:t>
            </a:r>
          </a:p>
        </p:txBody>
      </p:sp>
      <p:sp>
        <p:nvSpPr>
          <p:cNvPr id="3" name="Content Placeholder 2"/>
          <p:cNvSpPr>
            <a:spLocks noGrp="1"/>
          </p:cNvSpPr>
          <p:nvPr>
            <p:ph idx="1"/>
          </p:nvPr>
        </p:nvSpPr>
        <p:spPr>
          <a:xfrm>
            <a:off x="355001" y="1312433"/>
            <a:ext cx="11633799" cy="5180442"/>
          </a:xfrm>
        </p:spPr>
        <p:txBody>
          <a:bodyPr>
            <a:normAutofit lnSpcReduction="10000"/>
          </a:bodyPr>
          <a:lstStyle/>
          <a:p>
            <a:pPr marL="0" indent="0">
              <a:buNone/>
            </a:pPr>
            <a:r>
              <a:rPr lang="en-US" sz="2600" b="1" u="sng" dirty="0">
                <a:solidFill>
                  <a:srgbClr val="C00000"/>
                </a:solidFill>
              </a:rPr>
              <a:t>Communication:</a:t>
            </a:r>
          </a:p>
          <a:p>
            <a:pPr lvl="1"/>
            <a:r>
              <a:rPr lang="en-US" u="sng" dirty="0"/>
              <a:t>Check your emails! </a:t>
            </a:r>
            <a:r>
              <a:rPr lang="en-US" dirty="0"/>
              <a:t>Check the CANVAS site.</a:t>
            </a:r>
          </a:p>
          <a:p>
            <a:pPr lvl="2"/>
            <a:r>
              <a:rPr lang="en-US" dirty="0"/>
              <a:t>It is student’s responsibility to follow the CANVAS site and university emails for course related announcements</a:t>
            </a:r>
          </a:p>
          <a:p>
            <a:pPr lvl="1"/>
            <a:r>
              <a:rPr lang="en-US" dirty="0"/>
              <a:t>Communication channels:</a:t>
            </a:r>
          </a:p>
          <a:p>
            <a:pPr lvl="2">
              <a:lnSpc>
                <a:spcPct val="100000"/>
              </a:lnSpc>
            </a:pPr>
            <a:r>
              <a:rPr lang="en-US" sz="1800" b="1" i="1" u="sng" dirty="0"/>
              <a:t>Email: </a:t>
            </a:r>
            <a:r>
              <a:rPr lang="en-US" sz="1800" dirty="0"/>
              <a:t>When you email the instructor during the weekdays, expect to get a response within 24-36 hours. If you do not get a response after 36 hours, send the second email. Note that during the weekends, there might be delays in responses. If there is an urgent situation, please try the other communication channels (see below).</a:t>
            </a:r>
          </a:p>
          <a:p>
            <a:pPr lvl="3">
              <a:lnSpc>
                <a:spcPct val="100000"/>
              </a:lnSpc>
            </a:pPr>
            <a:r>
              <a:rPr lang="en-US" sz="1600" i="1" u="sng" dirty="0"/>
              <a:t>About questions related to assignments:</a:t>
            </a:r>
            <a:r>
              <a:rPr lang="en-US" sz="1600" dirty="0"/>
              <a:t> Please send emails about your questions related to the assignments in a timely manner and allocate time for the response as well as for yourself to incorporate any feedback by the instructor. It is student’s responsibility to contact with the instructor on a timely manner. For instance, emailing a question about a homework on the day it is due or just couple of hours before its submission deadline is not a feasible approach.</a:t>
            </a:r>
          </a:p>
          <a:p>
            <a:pPr lvl="3">
              <a:lnSpc>
                <a:spcPct val="100000"/>
              </a:lnSpc>
            </a:pPr>
            <a:r>
              <a:rPr lang="en-US" sz="1600" dirty="0"/>
              <a:t>When you email the instructor, </a:t>
            </a:r>
            <a:r>
              <a:rPr lang="en-US" sz="1600" u="sng" dirty="0"/>
              <a:t>in the </a:t>
            </a:r>
            <a:r>
              <a:rPr lang="en-US" sz="1600" i="1" u="sng" dirty="0"/>
              <a:t>subject line of the email, please note </a:t>
            </a:r>
            <a:r>
              <a:rPr lang="en-US" sz="1600" b="1" i="1" u="sng" dirty="0">
                <a:solidFill>
                  <a:srgbClr val="C00000"/>
                </a:solidFill>
              </a:rPr>
              <a:t>QMST 5335</a:t>
            </a:r>
            <a:r>
              <a:rPr lang="en-US" sz="1600" b="1" u="sng" dirty="0">
                <a:solidFill>
                  <a:srgbClr val="C00000"/>
                </a:solidFill>
              </a:rPr>
              <a:t> and then the subject </a:t>
            </a:r>
            <a:r>
              <a:rPr lang="en-US" sz="1600" dirty="0"/>
              <a:t>briefly.  Emails without QMST 5335 in the subject risk being lost in a mass of unsorted messages.</a:t>
            </a:r>
          </a:p>
          <a:p>
            <a:pPr lvl="2">
              <a:lnSpc>
                <a:spcPct val="100000"/>
              </a:lnSpc>
            </a:pPr>
            <a:r>
              <a:rPr lang="en-US" sz="1800" b="1" i="1" u="sng" dirty="0"/>
              <a:t>Office phone:</a:t>
            </a:r>
            <a:r>
              <a:rPr lang="en-US" sz="1800" i="1" dirty="0"/>
              <a:t> </a:t>
            </a:r>
            <a:r>
              <a:rPr lang="en-US" sz="1800" dirty="0"/>
              <a:t>As the instructor is teaching other courses and might have other faculty responsibilities, the instructor might not be in my office all the times. If the instructor does not answer, please leave a voice mail. The instructor will not be in the office most late afternoons and weekends.</a:t>
            </a:r>
            <a:endParaRPr lang="en-US" dirty="0"/>
          </a:p>
        </p:txBody>
      </p:sp>
    </p:spTree>
    <p:extLst>
      <p:ext uri="{BB962C8B-B14F-4D97-AF65-F5344CB8AC3E}">
        <p14:creationId xmlns:p14="http://schemas.microsoft.com/office/powerpoint/2010/main" val="1813927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Requirements</a:t>
            </a:r>
          </a:p>
        </p:txBody>
      </p:sp>
      <p:sp>
        <p:nvSpPr>
          <p:cNvPr id="3" name="Content Placeholder 2"/>
          <p:cNvSpPr>
            <a:spLocks noGrp="1"/>
          </p:cNvSpPr>
          <p:nvPr>
            <p:ph idx="1"/>
          </p:nvPr>
        </p:nvSpPr>
        <p:spPr>
          <a:xfrm>
            <a:off x="355001" y="1312432"/>
            <a:ext cx="11633799" cy="5088367"/>
          </a:xfrm>
        </p:spPr>
        <p:txBody>
          <a:bodyPr>
            <a:normAutofit fontScale="92500" lnSpcReduction="20000"/>
          </a:bodyPr>
          <a:lstStyle/>
          <a:p>
            <a:r>
              <a:rPr lang="en-US" sz="2400" u="sng" dirty="0">
                <a:solidFill>
                  <a:srgbClr val="C00000"/>
                </a:solidFill>
              </a:rPr>
              <a:t>Forum Post (1% of the total)</a:t>
            </a:r>
          </a:p>
          <a:p>
            <a:pPr lvl="1"/>
            <a:r>
              <a:rPr lang="en-US" sz="2000" dirty="0"/>
              <a:t>Students should read the syllabus, and post in the introduction forum introducing themselves and noting they read the syllabus</a:t>
            </a:r>
          </a:p>
          <a:p>
            <a:pPr lvl="2"/>
            <a:r>
              <a:rPr lang="en-US" sz="1600" dirty="0"/>
              <a:t>Good opportunity to introduce yourself, interact with other students, and maybe start forming project teams!</a:t>
            </a:r>
          </a:p>
          <a:p>
            <a:pPr lvl="2"/>
            <a:r>
              <a:rPr lang="en-US" sz="1600" dirty="0"/>
              <a:t>Post by </a:t>
            </a:r>
            <a:r>
              <a:rPr lang="en-US" sz="1600" u="sng" dirty="0"/>
              <a:t>2</a:t>
            </a:r>
            <a:r>
              <a:rPr lang="en-US" sz="1600" u="sng" baseline="30000" dirty="0"/>
              <a:t>nd</a:t>
            </a:r>
            <a:r>
              <a:rPr lang="en-US" sz="1600" u="sng" dirty="0"/>
              <a:t> week’s class-meeting</a:t>
            </a:r>
          </a:p>
          <a:p>
            <a:r>
              <a:rPr lang="en-US" sz="2400" u="sng" dirty="0">
                <a:solidFill>
                  <a:srgbClr val="C00000"/>
                </a:solidFill>
              </a:rPr>
              <a:t>Homework Assignments (45% of the total)</a:t>
            </a:r>
          </a:p>
          <a:p>
            <a:r>
              <a:rPr lang="en-US" sz="2400" dirty="0"/>
              <a:t>There will be 3 homework assignments in total</a:t>
            </a:r>
          </a:p>
          <a:p>
            <a:pPr lvl="1"/>
            <a:r>
              <a:rPr lang="en-US" sz="2000" dirty="0"/>
              <a:t>Each homework is 15%</a:t>
            </a:r>
          </a:p>
          <a:p>
            <a:pPr lvl="1"/>
            <a:r>
              <a:rPr lang="en-US" sz="2000" dirty="0"/>
              <a:t>Homework assignments are individual assignments</a:t>
            </a:r>
          </a:p>
          <a:p>
            <a:pPr lvl="1"/>
            <a:r>
              <a:rPr lang="en-US" sz="2000" dirty="0"/>
              <a:t>The dates are posted and the details of the </a:t>
            </a:r>
            <a:r>
              <a:rPr lang="en-US" sz="2000" dirty="0" err="1"/>
              <a:t>homeworks</a:t>
            </a:r>
            <a:r>
              <a:rPr lang="en-US" sz="2000" dirty="0"/>
              <a:t> will be posted</a:t>
            </a:r>
          </a:p>
          <a:p>
            <a:pPr lvl="1"/>
            <a:r>
              <a:rPr lang="en-US" sz="2000" dirty="0"/>
              <a:t>Students are recommended to start homework assignment as soon as possible</a:t>
            </a:r>
          </a:p>
          <a:p>
            <a:pPr lvl="2"/>
            <a:r>
              <a:rPr lang="en-US" sz="1600" dirty="0"/>
              <a:t>Ask questions, if needed, to the instructor in a timely manner</a:t>
            </a:r>
          </a:p>
          <a:p>
            <a:pPr lvl="2"/>
            <a:r>
              <a:rPr lang="en-US" sz="1600" dirty="0"/>
              <a:t>Utilize the office hours before the submission to ask final questions</a:t>
            </a:r>
          </a:p>
          <a:p>
            <a:pPr lvl="2"/>
            <a:r>
              <a:rPr lang="en-US" sz="1600" dirty="0"/>
              <a:t>Submit on time! Late submissions will not be graded</a:t>
            </a:r>
          </a:p>
          <a:p>
            <a:r>
              <a:rPr lang="en-US" sz="2400" u="sng" dirty="0">
                <a:solidFill>
                  <a:srgbClr val="C00000"/>
                </a:solidFill>
              </a:rPr>
              <a:t>Attendance (9% of the total)</a:t>
            </a:r>
          </a:p>
          <a:p>
            <a:pPr lvl="1"/>
            <a:r>
              <a:rPr lang="en-US" sz="2000" dirty="0"/>
              <a:t>Random attendance taken throughout the semester. Your absence from class will not be excused unless you have a valid and verifiable reason for missing it. You need to let me know </a:t>
            </a:r>
            <a:r>
              <a:rPr lang="en-US" sz="2000" u="sng" dirty="0"/>
              <a:t>at least 48 hours prior </a:t>
            </a:r>
            <a:r>
              <a:rPr lang="en-US" sz="2000" dirty="0"/>
              <a:t>to the class time about your absence.</a:t>
            </a:r>
          </a:p>
          <a:p>
            <a:pPr lvl="1"/>
            <a:endParaRPr lang="en-US" sz="2000" dirty="0"/>
          </a:p>
          <a:p>
            <a:endParaRPr lang="en-US" sz="2000" dirty="0"/>
          </a:p>
          <a:p>
            <a:pPr lvl="2"/>
            <a:endParaRPr lang="en-US" sz="1800" dirty="0"/>
          </a:p>
          <a:p>
            <a:pPr lvl="2"/>
            <a:endParaRPr lang="en-US" sz="1800" dirty="0"/>
          </a:p>
        </p:txBody>
      </p:sp>
    </p:spTree>
    <p:extLst>
      <p:ext uri="{BB962C8B-B14F-4D97-AF65-F5344CB8AC3E}">
        <p14:creationId xmlns:p14="http://schemas.microsoft.com/office/powerpoint/2010/main" val="4000116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Requirements</a:t>
            </a:r>
          </a:p>
        </p:txBody>
      </p:sp>
      <p:sp>
        <p:nvSpPr>
          <p:cNvPr id="3" name="Content Placeholder 2"/>
          <p:cNvSpPr>
            <a:spLocks noGrp="1"/>
          </p:cNvSpPr>
          <p:nvPr>
            <p:ph idx="1"/>
          </p:nvPr>
        </p:nvSpPr>
        <p:spPr>
          <a:xfrm>
            <a:off x="355001" y="1312433"/>
            <a:ext cx="11633799" cy="4864530"/>
          </a:xfrm>
        </p:spPr>
        <p:txBody>
          <a:bodyPr>
            <a:normAutofit/>
          </a:bodyPr>
          <a:lstStyle/>
          <a:p>
            <a:r>
              <a:rPr lang="en-US" sz="2400" u="sng" dirty="0">
                <a:solidFill>
                  <a:srgbClr val="C00000"/>
                </a:solidFill>
              </a:rPr>
              <a:t>Projects (44% of the total)</a:t>
            </a:r>
          </a:p>
          <a:p>
            <a:r>
              <a:rPr lang="en-US" sz="2400" dirty="0"/>
              <a:t>There will be 3 project assignments</a:t>
            </a:r>
          </a:p>
          <a:p>
            <a:r>
              <a:rPr lang="en-US" sz="2400" dirty="0"/>
              <a:t>Project assignments are team assignments!</a:t>
            </a:r>
          </a:p>
          <a:p>
            <a:pPr lvl="1"/>
            <a:r>
              <a:rPr lang="en-US" sz="2000" dirty="0">
                <a:sym typeface="Wingdings" panose="05000000000000000000" pitchFamily="2" charset="2"/>
              </a:rPr>
              <a:t>Project 1 (15%) is an individual project</a:t>
            </a:r>
          </a:p>
          <a:p>
            <a:pPr lvl="2"/>
            <a:r>
              <a:rPr lang="en-US" sz="1600" dirty="0">
                <a:sym typeface="Wingdings" panose="05000000000000000000" pitchFamily="2" charset="2"/>
              </a:rPr>
              <a:t>Project 1 is about forecasting</a:t>
            </a:r>
          </a:p>
          <a:p>
            <a:pPr lvl="1"/>
            <a:r>
              <a:rPr lang="en-US" sz="2000" dirty="0">
                <a:sym typeface="Wingdings" panose="05000000000000000000" pitchFamily="2" charset="2"/>
              </a:rPr>
              <a:t>Project 2 (15%) is an individual project</a:t>
            </a:r>
          </a:p>
          <a:p>
            <a:pPr lvl="2"/>
            <a:r>
              <a:rPr lang="en-US" sz="1600" dirty="0">
                <a:sym typeface="Wingdings" panose="05000000000000000000" pitchFamily="2" charset="2"/>
              </a:rPr>
              <a:t>Project 2 is about Monte-Carlo simulation</a:t>
            </a:r>
          </a:p>
          <a:p>
            <a:pPr lvl="1"/>
            <a:r>
              <a:rPr lang="en-US" sz="2000" dirty="0"/>
              <a:t>Project 3 (14%) is a team project</a:t>
            </a:r>
          </a:p>
          <a:p>
            <a:pPr lvl="2"/>
            <a:r>
              <a:rPr lang="en-US" sz="1600" dirty="0"/>
              <a:t>Project 3 is about Simulation modeling</a:t>
            </a:r>
            <a:endParaRPr lang="en-US" sz="1400" dirty="0">
              <a:sym typeface="Wingdings" panose="05000000000000000000" pitchFamily="2" charset="2"/>
            </a:endParaRPr>
          </a:p>
          <a:p>
            <a:r>
              <a:rPr lang="en-US" sz="2000" dirty="0">
                <a:sym typeface="Wingdings" panose="05000000000000000000" pitchFamily="2" charset="2"/>
              </a:rPr>
              <a:t>Students are encouraged to ask questions about projects during office hours</a:t>
            </a:r>
          </a:p>
          <a:p>
            <a:pPr lvl="1"/>
            <a:endParaRPr lang="en-US" sz="2000" dirty="0"/>
          </a:p>
          <a:p>
            <a:endParaRPr lang="en-US" sz="2000" dirty="0"/>
          </a:p>
          <a:p>
            <a:pPr lvl="2"/>
            <a:endParaRPr lang="en-US" sz="1800" dirty="0"/>
          </a:p>
          <a:p>
            <a:pPr lvl="2"/>
            <a:endParaRPr lang="en-US" sz="1800" dirty="0"/>
          </a:p>
        </p:txBody>
      </p:sp>
    </p:spTree>
    <p:extLst>
      <p:ext uri="{BB962C8B-B14F-4D97-AF65-F5344CB8AC3E}">
        <p14:creationId xmlns:p14="http://schemas.microsoft.com/office/powerpoint/2010/main" val="4229896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Requirements</a:t>
            </a:r>
          </a:p>
        </p:txBody>
      </p:sp>
      <p:sp>
        <p:nvSpPr>
          <p:cNvPr id="3" name="Content Placeholder 2"/>
          <p:cNvSpPr>
            <a:spLocks noGrp="1"/>
          </p:cNvSpPr>
          <p:nvPr>
            <p:ph idx="1"/>
          </p:nvPr>
        </p:nvSpPr>
        <p:spPr>
          <a:xfrm>
            <a:off x="355001" y="1312433"/>
            <a:ext cx="11633799" cy="4864530"/>
          </a:xfrm>
        </p:spPr>
        <p:txBody>
          <a:bodyPr>
            <a:normAutofit fontScale="92500" lnSpcReduction="20000"/>
          </a:bodyPr>
          <a:lstStyle/>
          <a:p>
            <a:r>
              <a:rPr lang="en-US" sz="2400" u="sng" dirty="0">
                <a:solidFill>
                  <a:srgbClr val="C00000"/>
                </a:solidFill>
              </a:rPr>
              <a:t>Grading:</a:t>
            </a:r>
          </a:p>
          <a:p>
            <a:endParaRPr lang="en-US" sz="2400" u="sng" dirty="0">
              <a:solidFill>
                <a:srgbClr val="C00000"/>
              </a:solidFill>
            </a:endParaRPr>
          </a:p>
          <a:p>
            <a:endParaRPr lang="en-US" sz="2400" u="sng" dirty="0">
              <a:solidFill>
                <a:srgbClr val="C00000"/>
              </a:solidFill>
            </a:endParaRPr>
          </a:p>
          <a:p>
            <a:endParaRPr lang="en-US" sz="2400" u="sng" dirty="0">
              <a:solidFill>
                <a:srgbClr val="C00000"/>
              </a:solidFill>
            </a:endParaRPr>
          </a:p>
          <a:p>
            <a:endParaRPr lang="en-US" sz="2400" u="sng" dirty="0">
              <a:solidFill>
                <a:srgbClr val="C00000"/>
              </a:solidFill>
            </a:endParaRPr>
          </a:p>
          <a:p>
            <a:r>
              <a:rPr lang="en-US" sz="2000" dirty="0"/>
              <a:t>You can request regrading if you believe that I made a mistake in grading your assignment</a:t>
            </a:r>
          </a:p>
          <a:p>
            <a:pPr lvl="1"/>
            <a:r>
              <a:rPr lang="en-US" sz="1800" dirty="0"/>
              <a:t>To do so, email the instructor within 3 days following the announcement of the grade (after that, the grade of the assignment is not going to change).</a:t>
            </a:r>
          </a:p>
          <a:p>
            <a:pPr lvl="1"/>
            <a:r>
              <a:rPr lang="en-US" sz="1800" dirty="0"/>
              <a:t>In your email, specify the parts you want to be regraded referring to the solutions posted</a:t>
            </a:r>
          </a:p>
          <a:p>
            <a:pPr lvl="1"/>
            <a:r>
              <a:rPr lang="en-US" sz="1800" b="1" dirty="0"/>
              <a:t>Note: </a:t>
            </a:r>
            <a:r>
              <a:rPr lang="en-US" sz="1800" dirty="0"/>
              <a:t>Partial credits from the sections of the assignments are typically not negotiable as the assignments include numerical analyses </a:t>
            </a:r>
          </a:p>
          <a:p>
            <a:pPr lvl="1"/>
            <a:r>
              <a:rPr lang="en-US" sz="1800" b="1" dirty="0"/>
              <a:t>Note: </a:t>
            </a:r>
            <a:r>
              <a:rPr lang="en-US" sz="1800" dirty="0"/>
              <a:t>Regrading is not resubmission, it is just to avoid the cases where I make a mistake </a:t>
            </a:r>
          </a:p>
          <a:p>
            <a:pPr lvl="2"/>
            <a:r>
              <a:rPr lang="en-US" sz="1400" dirty="0"/>
              <a:t>Summation mistake maybe? Did not see your file maybe? Did not see something on your file maybe?....</a:t>
            </a:r>
          </a:p>
          <a:p>
            <a:r>
              <a:rPr lang="en-US" sz="2000" dirty="0">
                <a:solidFill>
                  <a:srgbClr val="C00000"/>
                </a:solidFill>
              </a:rPr>
              <a:t>Makeups: </a:t>
            </a:r>
            <a:r>
              <a:rPr lang="en-US" sz="2000" dirty="0"/>
              <a:t>No makeups for the homework assignments and no makeups for the project submissions! These assignments will have approximately one-week time window (even more!). Please plan accordingly</a:t>
            </a:r>
          </a:p>
          <a:p>
            <a:r>
              <a:rPr lang="en-US" sz="2000" dirty="0"/>
              <a:t>There is no exam in this course.</a:t>
            </a:r>
          </a:p>
          <a:p>
            <a:pPr lvl="1"/>
            <a:endParaRPr lang="en-US" sz="2000" dirty="0"/>
          </a:p>
          <a:p>
            <a:endParaRPr lang="en-US" sz="2000" dirty="0"/>
          </a:p>
          <a:p>
            <a:pPr lvl="2"/>
            <a:endParaRPr lang="en-US" sz="1800" dirty="0"/>
          </a:p>
          <a:p>
            <a:pPr lvl="2"/>
            <a:endParaRPr lang="en-US" sz="1800" dirty="0"/>
          </a:p>
        </p:txBody>
      </p:sp>
      <p:pic>
        <p:nvPicPr>
          <p:cNvPr id="4" name="Picture 3"/>
          <p:cNvPicPr>
            <a:picLocks noChangeAspect="1"/>
          </p:cNvPicPr>
          <p:nvPr/>
        </p:nvPicPr>
        <p:blipFill>
          <a:blip r:embed="rId2"/>
          <a:stretch>
            <a:fillRect/>
          </a:stretch>
        </p:blipFill>
        <p:spPr>
          <a:xfrm>
            <a:off x="951104" y="1697817"/>
            <a:ext cx="8748627" cy="1731183"/>
          </a:xfrm>
          <a:prstGeom prst="rect">
            <a:avLst/>
          </a:prstGeom>
        </p:spPr>
      </p:pic>
    </p:spTree>
    <p:extLst>
      <p:ext uri="{BB962C8B-B14F-4D97-AF65-F5344CB8AC3E}">
        <p14:creationId xmlns:p14="http://schemas.microsoft.com/office/powerpoint/2010/main" val="4192352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CANVAS Site</a:t>
            </a:r>
          </a:p>
        </p:txBody>
      </p:sp>
      <p:sp>
        <p:nvSpPr>
          <p:cNvPr id="3" name="Content Placeholder 2"/>
          <p:cNvSpPr>
            <a:spLocks noGrp="1"/>
          </p:cNvSpPr>
          <p:nvPr>
            <p:ph idx="1"/>
          </p:nvPr>
        </p:nvSpPr>
        <p:spPr>
          <a:xfrm>
            <a:off x="355001" y="1312433"/>
            <a:ext cx="11633799" cy="4864530"/>
          </a:xfrm>
        </p:spPr>
        <p:txBody>
          <a:bodyPr>
            <a:normAutofit/>
          </a:bodyPr>
          <a:lstStyle/>
          <a:p>
            <a:r>
              <a:rPr lang="en-US" b="1" u="sng" dirty="0">
                <a:solidFill>
                  <a:srgbClr val="C00000"/>
                </a:solidFill>
              </a:rPr>
              <a:t>CANVAS tools:</a:t>
            </a:r>
          </a:p>
        </p:txBody>
      </p:sp>
      <p:pic>
        <p:nvPicPr>
          <p:cNvPr id="9" name="Picture 8">
            <a:extLst>
              <a:ext uri="{FF2B5EF4-FFF2-40B4-BE49-F238E27FC236}">
                <a16:creationId xmlns:a16="http://schemas.microsoft.com/office/drawing/2014/main" id="{BB4AAE9E-2DFD-40B8-A4A6-ED7A4ACF09FC}"/>
              </a:ext>
            </a:extLst>
          </p:cNvPr>
          <p:cNvPicPr>
            <a:picLocks noChangeAspect="1"/>
          </p:cNvPicPr>
          <p:nvPr/>
        </p:nvPicPr>
        <p:blipFill>
          <a:blip r:embed="rId2"/>
          <a:stretch>
            <a:fillRect/>
          </a:stretch>
        </p:blipFill>
        <p:spPr>
          <a:xfrm>
            <a:off x="615355" y="1736922"/>
            <a:ext cx="1651313" cy="4346681"/>
          </a:xfrm>
          <a:prstGeom prst="rect">
            <a:avLst/>
          </a:prstGeom>
        </p:spPr>
      </p:pic>
      <p:sp>
        <p:nvSpPr>
          <p:cNvPr id="11" name="Rounded Rectangular Callout 10"/>
          <p:cNvSpPr/>
          <p:nvPr/>
        </p:nvSpPr>
        <p:spPr>
          <a:xfrm>
            <a:off x="2848732" y="1632509"/>
            <a:ext cx="3190230" cy="486548"/>
          </a:xfrm>
          <a:prstGeom prst="wedgeRoundRectCallout">
            <a:avLst>
              <a:gd name="adj1" fmla="val -82601"/>
              <a:gd name="adj2" fmla="val 48684"/>
              <a:gd name="adj3" fmla="val 16667"/>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Course overview, outline</a:t>
            </a:r>
          </a:p>
        </p:txBody>
      </p:sp>
      <p:sp>
        <p:nvSpPr>
          <p:cNvPr id="5" name="Rounded Rectangular Callout 4"/>
          <p:cNvSpPr/>
          <p:nvPr/>
        </p:nvSpPr>
        <p:spPr>
          <a:xfrm>
            <a:off x="2647476" y="2281330"/>
            <a:ext cx="3190230" cy="430436"/>
          </a:xfrm>
          <a:prstGeom prst="wedgeRoundRectCallout">
            <a:avLst>
              <a:gd name="adj1" fmla="val -69366"/>
              <a:gd name="adj2" fmla="val 8458"/>
              <a:gd name="adj3" fmla="val 16667"/>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Announcements are here</a:t>
            </a:r>
          </a:p>
        </p:txBody>
      </p:sp>
      <p:sp>
        <p:nvSpPr>
          <p:cNvPr id="7" name="Rounded Rectangular Callout 6"/>
          <p:cNvSpPr/>
          <p:nvPr/>
        </p:nvSpPr>
        <p:spPr>
          <a:xfrm>
            <a:off x="2686853" y="2730225"/>
            <a:ext cx="5846264" cy="486549"/>
          </a:xfrm>
          <a:prstGeom prst="wedgeRoundRectCallout">
            <a:avLst>
              <a:gd name="adj1" fmla="val -62330"/>
              <a:gd name="adj2" fmla="val -1933"/>
              <a:gd name="adj3" fmla="val 16667"/>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See homework/project dues, submit the assignments here</a:t>
            </a:r>
          </a:p>
        </p:txBody>
      </p:sp>
      <p:sp>
        <p:nvSpPr>
          <p:cNvPr id="6" name="Rounded Rectangular Callout 5"/>
          <p:cNvSpPr/>
          <p:nvPr/>
        </p:nvSpPr>
        <p:spPr>
          <a:xfrm>
            <a:off x="3010612" y="3314261"/>
            <a:ext cx="6903409" cy="430437"/>
          </a:xfrm>
          <a:prstGeom prst="wedgeRoundRectCallout">
            <a:avLst>
              <a:gd name="adj1" fmla="val -70586"/>
              <a:gd name="adj2" fmla="val -56349"/>
              <a:gd name="adj3" fmla="val 16667"/>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Discussion forums! Introduce yourself here and form teams!</a:t>
            </a:r>
          </a:p>
        </p:txBody>
      </p:sp>
      <p:sp>
        <p:nvSpPr>
          <p:cNvPr id="21" name="Rounded Rectangular Callout 4">
            <a:extLst>
              <a:ext uri="{FF2B5EF4-FFF2-40B4-BE49-F238E27FC236}">
                <a16:creationId xmlns:a16="http://schemas.microsoft.com/office/drawing/2014/main" id="{77B7A01D-9BCA-43C4-8B8C-3806C3E07E4A}"/>
              </a:ext>
            </a:extLst>
          </p:cNvPr>
          <p:cNvSpPr/>
          <p:nvPr/>
        </p:nvSpPr>
        <p:spPr>
          <a:xfrm>
            <a:off x="2527022" y="4745612"/>
            <a:ext cx="3190230" cy="430436"/>
          </a:xfrm>
          <a:prstGeom prst="wedgeRoundRectCallout">
            <a:avLst>
              <a:gd name="adj1" fmla="val -81863"/>
              <a:gd name="adj2" fmla="val 28594"/>
              <a:gd name="adj3" fmla="val 16667"/>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Syllabus file here</a:t>
            </a:r>
          </a:p>
        </p:txBody>
      </p:sp>
      <p:sp>
        <p:nvSpPr>
          <p:cNvPr id="13" name="Rounded Rectangular Callout 4">
            <a:extLst>
              <a:ext uri="{FF2B5EF4-FFF2-40B4-BE49-F238E27FC236}">
                <a16:creationId xmlns:a16="http://schemas.microsoft.com/office/drawing/2014/main" id="{D7396CD1-E1AB-40F4-9228-22D0EB3D601B}"/>
              </a:ext>
            </a:extLst>
          </p:cNvPr>
          <p:cNvSpPr/>
          <p:nvPr/>
        </p:nvSpPr>
        <p:spPr>
          <a:xfrm>
            <a:off x="2478166" y="4217688"/>
            <a:ext cx="3190230" cy="430436"/>
          </a:xfrm>
          <a:prstGeom prst="wedgeRoundRectCallout">
            <a:avLst>
              <a:gd name="adj1" fmla="val -87349"/>
              <a:gd name="adj2" fmla="val 57054"/>
              <a:gd name="adj3" fmla="val 16667"/>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All course files here</a:t>
            </a:r>
          </a:p>
        </p:txBody>
      </p:sp>
      <p:sp>
        <p:nvSpPr>
          <p:cNvPr id="14" name="Rounded Rectangular Callout 4">
            <a:extLst>
              <a:ext uri="{FF2B5EF4-FFF2-40B4-BE49-F238E27FC236}">
                <a16:creationId xmlns:a16="http://schemas.microsoft.com/office/drawing/2014/main" id="{884585D0-817B-4AAE-9E4D-3CD277AC0C2F}"/>
              </a:ext>
            </a:extLst>
          </p:cNvPr>
          <p:cNvSpPr/>
          <p:nvPr/>
        </p:nvSpPr>
        <p:spPr>
          <a:xfrm>
            <a:off x="2647476" y="3765975"/>
            <a:ext cx="3190230" cy="430436"/>
          </a:xfrm>
          <a:prstGeom prst="wedgeRoundRectCallout">
            <a:avLst>
              <a:gd name="adj1" fmla="val -91874"/>
              <a:gd name="adj2" fmla="val -74066"/>
              <a:gd name="adj3" fmla="val 16667"/>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See your grades here</a:t>
            </a:r>
          </a:p>
        </p:txBody>
      </p:sp>
      <p:sp>
        <p:nvSpPr>
          <p:cNvPr id="15" name="Rounded Rectangular Callout 4">
            <a:extLst>
              <a:ext uri="{FF2B5EF4-FFF2-40B4-BE49-F238E27FC236}">
                <a16:creationId xmlns:a16="http://schemas.microsoft.com/office/drawing/2014/main" id="{FC1C96E2-DAD6-4769-B74E-4B5A2CFA5D59}"/>
              </a:ext>
            </a:extLst>
          </p:cNvPr>
          <p:cNvSpPr/>
          <p:nvPr/>
        </p:nvSpPr>
        <p:spPr>
          <a:xfrm>
            <a:off x="2804252" y="5580053"/>
            <a:ext cx="3190230" cy="430436"/>
          </a:xfrm>
          <a:prstGeom prst="wedgeRoundRectCallout">
            <a:avLst>
              <a:gd name="adj1" fmla="val -91874"/>
              <a:gd name="adj2" fmla="val -74066"/>
              <a:gd name="adj3" fmla="val 16667"/>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Weekly pages for the modules!</a:t>
            </a:r>
          </a:p>
        </p:txBody>
      </p:sp>
    </p:spTree>
    <p:extLst>
      <p:ext uri="{BB962C8B-B14F-4D97-AF65-F5344CB8AC3E}">
        <p14:creationId xmlns:p14="http://schemas.microsoft.com/office/powerpoint/2010/main" val="2523249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1" y="1312433"/>
            <a:ext cx="11633799" cy="4864530"/>
          </a:xfrm>
        </p:spPr>
        <p:txBody>
          <a:bodyPr>
            <a:normAutofit/>
          </a:bodyPr>
          <a:lstStyle/>
          <a:p>
            <a:r>
              <a:rPr lang="en-US" dirty="0">
                <a:solidFill>
                  <a:schemeClr val="bg2"/>
                </a:solidFill>
              </a:rPr>
              <a:t>Course Overview</a:t>
            </a:r>
          </a:p>
          <a:p>
            <a:pPr lvl="1"/>
            <a:r>
              <a:rPr lang="en-US" dirty="0">
                <a:solidFill>
                  <a:schemeClr val="bg2"/>
                </a:solidFill>
              </a:rPr>
              <a:t>Course Description, Materials, Delivery, and Schedule</a:t>
            </a:r>
          </a:p>
          <a:p>
            <a:pPr lvl="1"/>
            <a:r>
              <a:rPr lang="en-US" dirty="0">
                <a:solidFill>
                  <a:schemeClr val="bg2"/>
                </a:solidFill>
              </a:rPr>
              <a:t>Course Requirements and CANVAS Site</a:t>
            </a:r>
          </a:p>
          <a:p>
            <a:endParaRPr lang="en-US" dirty="0"/>
          </a:p>
          <a:p>
            <a:r>
              <a:rPr lang="en-US" dirty="0"/>
              <a:t>Introduction to Forecasting</a:t>
            </a:r>
          </a:p>
          <a:p>
            <a:pPr lvl="1"/>
            <a:r>
              <a:rPr lang="en-US" dirty="0"/>
              <a:t>Forecasting, Forecasting Horizon, and Forecasting Task</a:t>
            </a:r>
          </a:p>
          <a:p>
            <a:pPr lvl="1"/>
            <a:r>
              <a:rPr lang="en-US" dirty="0"/>
              <a:t>Forecasts and Forecasting Methods</a:t>
            </a:r>
          </a:p>
          <a:p>
            <a:pPr lvl="1"/>
            <a:r>
              <a:rPr lang="en-US" dirty="0"/>
              <a:t>Qualitative (Judgmental) Forecasting</a:t>
            </a:r>
          </a:p>
          <a:p>
            <a:pPr lvl="1"/>
            <a:r>
              <a:rPr lang="en-US" dirty="0"/>
              <a:t>Quantitative Forecasting</a:t>
            </a:r>
          </a:p>
          <a:p>
            <a:endParaRPr lang="en-US" dirty="0"/>
          </a:p>
        </p:txBody>
      </p:sp>
    </p:spTree>
    <p:extLst>
      <p:ext uri="{BB962C8B-B14F-4D97-AF65-F5344CB8AC3E}">
        <p14:creationId xmlns:p14="http://schemas.microsoft.com/office/powerpoint/2010/main" val="2137510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Forecasting</a:t>
            </a:r>
          </a:p>
        </p:txBody>
      </p:sp>
      <p:sp>
        <p:nvSpPr>
          <p:cNvPr id="3" name="Content Placeholder 2"/>
          <p:cNvSpPr>
            <a:spLocks noGrp="1"/>
          </p:cNvSpPr>
          <p:nvPr>
            <p:ph idx="1"/>
          </p:nvPr>
        </p:nvSpPr>
        <p:spPr/>
        <p:txBody>
          <a:bodyPr>
            <a:normAutofit fontScale="92500" lnSpcReduction="20000"/>
          </a:bodyPr>
          <a:lstStyle/>
          <a:p>
            <a:r>
              <a:rPr lang="en-US" dirty="0">
                <a:solidFill>
                  <a:srgbClr val="C00000"/>
                </a:solidFill>
              </a:rPr>
              <a:t>Forecasting</a:t>
            </a:r>
            <a:r>
              <a:rPr lang="en-US" dirty="0"/>
              <a:t> is about predicting the future as accurately as possible</a:t>
            </a:r>
          </a:p>
          <a:p>
            <a:pPr lvl="1"/>
            <a:r>
              <a:rPr lang="en-US" dirty="0"/>
              <a:t>It accounts for all of the information available, including historical data and knowledge of any future events that might impact the forecasts. </a:t>
            </a:r>
          </a:p>
          <a:p>
            <a:r>
              <a:rPr lang="en-US" dirty="0"/>
              <a:t>Forecasting is required in many situations: </a:t>
            </a:r>
          </a:p>
          <a:p>
            <a:pPr lvl="1"/>
            <a:r>
              <a:rPr lang="en-US" dirty="0"/>
              <a:t>Deciding whether to build another power generation plant in the next five years requires forecasts of future demand </a:t>
            </a:r>
          </a:p>
          <a:p>
            <a:pPr lvl="1"/>
            <a:r>
              <a:rPr lang="en-US" dirty="0"/>
              <a:t>Scheduling staff in a call center next week requires forecasts of call volumes </a:t>
            </a:r>
          </a:p>
          <a:p>
            <a:pPr lvl="1"/>
            <a:r>
              <a:rPr lang="en-US" dirty="0"/>
              <a:t>Stocking an inventory requires forecasts of stock requirements</a:t>
            </a:r>
          </a:p>
          <a:p>
            <a:pPr lvl="1"/>
            <a:r>
              <a:rPr lang="en-US" dirty="0"/>
              <a:t>Demand forecasting forms the basis for all planning decisions in a supply chain</a:t>
            </a:r>
          </a:p>
          <a:p>
            <a:r>
              <a:rPr lang="en-US" dirty="0">
                <a:solidFill>
                  <a:srgbClr val="C00000"/>
                </a:solidFill>
              </a:rPr>
              <a:t>Goals</a:t>
            </a:r>
            <a:r>
              <a:rPr lang="en-US" dirty="0"/>
              <a:t> are what you would like to have happen. </a:t>
            </a:r>
          </a:p>
          <a:p>
            <a:pPr lvl="1"/>
            <a:r>
              <a:rPr lang="en-US" dirty="0"/>
              <a:t>Goals should be linked to forecasts and plans</a:t>
            </a:r>
          </a:p>
          <a:p>
            <a:r>
              <a:rPr lang="en-US" dirty="0">
                <a:solidFill>
                  <a:srgbClr val="C00000"/>
                </a:solidFill>
              </a:rPr>
              <a:t>Planning</a:t>
            </a:r>
            <a:r>
              <a:rPr lang="en-US" dirty="0"/>
              <a:t> is a response to forecasts and goals. </a:t>
            </a:r>
          </a:p>
          <a:p>
            <a:pPr lvl="1"/>
            <a:r>
              <a:rPr lang="en-US" dirty="0"/>
              <a:t>Planning involves determining the appropriate actions that are required to make your forecasts match your goals. </a:t>
            </a:r>
          </a:p>
          <a:p>
            <a:pPr lvl="1"/>
            <a:endParaRPr lang="en-US" dirty="0"/>
          </a:p>
        </p:txBody>
      </p:sp>
    </p:spTree>
    <p:extLst>
      <p:ext uri="{BB962C8B-B14F-4D97-AF65-F5344CB8AC3E}">
        <p14:creationId xmlns:p14="http://schemas.microsoft.com/office/powerpoint/2010/main" val="914106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Forecasting Horizon </a:t>
            </a:r>
          </a:p>
        </p:txBody>
      </p:sp>
      <p:sp>
        <p:nvSpPr>
          <p:cNvPr id="3" name="Content Placeholder 2"/>
          <p:cNvSpPr>
            <a:spLocks noGrp="1"/>
          </p:cNvSpPr>
          <p:nvPr>
            <p:ph idx="1"/>
          </p:nvPr>
        </p:nvSpPr>
        <p:spPr>
          <a:xfrm>
            <a:off x="355002" y="1312433"/>
            <a:ext cx="6974946" cy="4864530"/>
          </a:xfrm>
        </p:spPr>
        <p:txBody>
          <a:bodyPr>
            <a:normAutofit fontScale="92500" lnSpcReduction="10000"/>
          </a:bodyPr>
          <a:lstStyle/>
          <a:p>
            <a:r>
              <a:rPr lang="en-US" dirty="0">
                <a:solidFill>
                  <a:srgbClr val="C00000"/>
                </a:solidFill>
              </a:rPr>
              <a:t>Time horizon in forecasting:</a:t>
            </a:r>
          </a:p>
          <a:p>
            <a:pPr lvl="1"/>
            <a:r>
              <a:rPr lang="en-US" dirty="0"/>
              <a:t>Short-term forecasting (days/weeks)</a:t>
            </a:r>
          </a:p>
          <a:p>
            <a:pPr lvl="2"/>
            <a:r>
              <a:rPr lang="en-US" dirty="0"/>
              <a:t>Used for short-term operational planning </a:t>
            </a:r>
          </a:p>
          <a:p>
            <a:pPr lvl="2"/>
            <a:r>
              <a:rPr lang="en-US" dirty="0"/>
              <a:t>Such as inventory management, material requirements planning, scheduling of personnel, production and transportation. </a:t>
            </a:r>
          </a:p>
          <a:p>
            <a:pPr lvl="1"/>
            <a:r>
              <a:rPr lang="en-US" dirty="0"/>
              <a:t>Intermediate-term forecasting (weeks/months)</a:t>
            </a:r>
          </a:p>
          <a:p>
            <a:pPr lvl="2"/>
            <a:r>
              <a:rPr lang="en-US" dirty="0"/>
              <a:t>Needed to determine future resource requirements, in order to purchase raw materials, hire personnel, or buy machinery and equipment. </a:t>
            </a:r>
          </a:p>
          <a:p>
            <a:pPr lvl="2"/>
            <a:r>
              <a:rPr lang="en-US" dirty="0"/>
              <a:t>Used for sales patterns, resource requirements, labor management</a:t>
            </a:r>
          </a:p>
          <a:p>
            <a:pPr lvl="1"/>
            <a:r>
              <a:rPr lang="en-US" dirty="0"/>
              <a:t>Long-term forecasting (months/years)</a:t>
            </a:r>
          </a:p>
          <a:p>
            <a:pPr lvl="2"/>
            <a:r>
              <a:rPr lang="en-US" dirty="0"/>
              <a:t>Used in strategic planning. Such decisions must take account of market opportunities, environmental factors and internal resources. </a:t>
            </a:r>
          </a:p>
          <a:p>
            <a:pPr lvl="2"/>
            <a:r>
              <a:rPr lang="en-US" dirty="0"/>
              <a:t>Capacity management, long-term production planning</a:t>
            </a:r>
          </a:p>
          <a:p>
            <a:endParaRPr lang="en-US" dirty="0"/>
          </a:p>
          <a:p>
            <a:pPr lvl="1"/>
            <a:endParaRPr lang="en-US" dirty="0"/>
          </a:p>
        </p:txBody>
      </p:sp>
      <p:pic>
        <p:nvPicPr>
          <p:cNvPr id="14" name="Picture 13"/>
          <p:cNvPicPr>
            <a:picLocks noChangeAspect="1"/>
          </p:cNvPicPr>
          <p:nvPr/>
        </p:nvPicPr>
        <p:blipFill>
          <a:blip r:embed="rId2"/>
          <a:stretch>
            <a:fillRect/>
          </a:stretch>
        </p:blipFill>
        <p:spPr>
          <a:xfrm>
            <a:off x="7515341" y="1691772"/>
            <a:ext cx="4213277" cy="3869875"/>
          </a:xfrm>
          <a:prstGeom prst="rect">
            <a:avLst/>
          </a:prstGeom>
        </p:spPr>
      </p:pic>
    </p:spTree>
    <p:extLst>
      <p:ext uri="{BB962C8B-B14F-4D97-AF65-F5344CB8AC3E}">
        <p14:creationId xmlns:p14="http://schemas.microsoft.com/office/powerpoint/2010/main" val="264866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Forecasting Task</a:t>
            </a:r>
          </a:p>
        </p:txBody>
      </p:sp>
      <p:sp>
        <p:nvSpPr>
          <p:cNvPr id="3" name="Content Placeholder 2"/>
          <p:cNvSpPr>
            <a:spLocks noGrp="1"/>
          </p:cNvSpPr>
          <p:nvPr>
            <p:ph idx="1"/>
          </p:nvPr>
        </p:nvSpPr>
        <p:spPr/>
        <p:txBody>
          <a:bodyPr>
            <a:normAutofit/>
          </a:bodyPr>
          <a:lstStyle/>
          <a:p>
            <a:r>
              <a:rPr lang="en-US" dirty="0">
                <a:solidFill>
                  <a:srgbClr val="C00000"/>
                </a:solidFill>
              </a:rPr>
              <a:t>Basic steps in a forecasting task:</a:t>
            </a:r>
          </a:p>
          <a:p>
            <a:pPr marL="971550" lvl="1" indent="-514350">
              <a:buFont typeface="+mj-lt"/>
              <a:buAutoNum type="arabicPeriod"/>
            </a:pPr>
            <a:r>
              <a:rPr lang="en-US" dirty="0">
                <a:solidFill>
                  <a:srgbClr val="C00000"/>
                </a:solidFill>
              </a:rPr>
              <a:t>Problem Definition: </a:t>
            </a:r>
            <a:r>
              <a:rPr lang="en-US" dirty="0"/>
              <a:t>Why needed? Who will use them? For what? What will be the effects of forecasts? </a:t>
            </a:r>
          </a:p>
          <a:p>
            <a:pPr marL="971550" lvl="1" indent="-514350">
              <a:buFont typeface="+mj-lt"/>
              <a:buAutoNum type="arabicPeriod"/>
            </a:pPr>
            <a:r>
              <a:rPr lang="en-US" dirty="0">
                <a:solidFill>
                  <a:srgbClr val="C00000"/>
                </a:solidFill>
              </a:rPr>
              <a:t>Gather information: </a:t>
            </a:r>
            <a:r>
              <a:rPr lang="en-US" dirty="0"/>
              <a:t>Collect all the data! Statistical data and input from experts. Know the dynamics! </a:t>
            </a:r>
          </a:p>
          <a:p>
            <a:pPr marL="971550" lvl="1" indent="-514350">
              <a:buFont typeface="+mj-lt"/>
              <a:buAutoNum type="arabicPeriod"/>
            </a:pPr>
            <a:r>
              <a:rPr lang="en-US" dirty="0">
                <a:solidFill>
                  <a:srgbClr val="C00000"/>
                </a:solidFill>
              </a:rPr>
              <a:t>Preliminary analyses: </a:t>
            </a:r>
            <a:r>
              <a:rPr lang="en-US" dirty="0"/>
              <a:t>Analyze the data, observe patterns (trends, seasonality, cycles, etc.), observe relations.</a:t>
            </a:r>
          </a:p>
          <a:p>
            <a:pPr marL="971550" lvl="1" indent="-514350">
              <a:buFont typeface="+mj-lt"/>
              <a:buAutoNum type="arabicPeriod"/>
            </a:pPr>
            <a:r>
              <a:rPr lang="en-US" dirty="0">
                <a:solidFill>
                  <a:srgbClr val="C00000"/>
                </a:solidFill>
              </a:rPr>
              <a:t>Choose and fit model: </a:t>
            </a:r>
            <a:r>
              <a:rPr lang="en-US" dirty="0"/>
              <a:t>Depending on the data and the dynamics, fit and compare couple of models, and select a final model to use.</a:t>
            </a:r>
          </a:p>
          <a:p>
            <a:pPr marL="971550" lvl="1" indent="-514350">
              <a:buFont typeface="+mj-lt"/>
              <a:buAutoNum type="arabicPeriod"/>
            </a:pPr>
            <a:r>
              <a:rPr lang="en-US" dirty="0">
                <a:solidFill>
                  <a:srgbClr val="C00000"/>
                </a:solidFill>
              </a:rPr>
              <a:t>Use and evaluate: </a:t>
            </a:r>
            <a:r>
              <a:rPr lang="en-US" dirty="0"/>
              <a:t>Use the model and evaluate it continuously (check the accuracy as new information becomes available), make changes in the model specifications as needed (or maybe change the model)</a:t>
            </a:r>
          </a:p>
          <a:p>
            <a:endParaRPr lang="en-US" dirty="0"/>
          </a:p>
        </p:txBody>
      </p:sp>
    </p:spTree>
    <p:extLst>
      <p:ext uri="{BB962C8B-B14F-4D97-AF65-F5344CB8AC3E}">
        <p14:creationId xmlns:p14="http://schemas.microsoft.com/office/powerpoint/2010/main" val="2322890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Forecasts</a:t>
            </a:r>
          </a:p>
        </p:txBody>
      </p:sp>
      <p:sp>
        <p:nvSpPr>
          <p:cNvPr id="3" name="Content Placeholder 2"/>
          <p:cNvSpPr>
            <a:spLocks noGrp="1"/>
          </p:cNvSpPr>
          <p:nvPr>
            <p:ph idx="1"/>
          </p:nvPr>
        </p:nvSpPr>
        <p:spPr/>
        <p:txBody>
          <a:bodyPr>
            <a:normAutofit/>
          </a:bodyPr>
          <a:lstStyle/>
          <a:p>
            <a:r>
              <a:rPr lang="en-US" dirty="0">
                <a:solidFill>
                  <a:srgbClr val="C00000"/>
                </a:solidFill>
              </a:rPr>
              <a:t>Characteristics of forecasts:</a:t>
            </a:r>
          </a:p>
          <a:p>
            <a:pPr lvl="1"/>
            <a:r>
              <a:rPr lang="en-US" dirty="0"/>
              <a:t>Forecasts are always inaccurate and should thus include both the expected value of the forecast and a measure of forecast error</a:t>
            </a:r>
          </a:p>
          <a:p>
            <a:pPr lvl="1"/>
            <a:r>
              <a:rPr lang="en-US" dirty="0"/>
              <a:t>Long-term forecasts are usually less accurate than short-term forecasts</a:t>
            </a:r>
          </a:p>
          <a:p>
            <a:pPr lvl="2"/>
            <a:r>
              <a:rPr lang="en-US" dirty="0"/>
              <a:t>Predicting the further future is more difficult!</a:t>
            </a:r>
          </a:p>
          <a:p>
            <a:pPr lvl="1"/>
            <a:r>
              <a:rPr lang="en-US" dirty="0"/>
              <a:t>Aggregate forecasts are usually more accurate than disaggregate forecasts</a:t>
            </a:r>
          </a:p>
          <a:p>
            <a:pPr lvl="2"/>
            <a:r>
              <a:rPr lang="en-US" dirty="0"/>
              <a:t>Forecasting the demand for Large-brown pants vs. forecasting the demand for Large-pants</a:t>
            </a:r>
          </a:p>
          <a:p>
            <a:pPr lvl="2"/>
            <a:r>
              <a:rPr lang="en-US" dirty="0"/>
              <a:t>Forecasting the sales in one outlet vs. forecasting the total sales</a:t>
            </a:r>
          </a:p>
          <a:p>
            <a:r>
              <a:rPr lang="en-US" dirty="0">
                <a:solidFill>
                  <a:srgbClr val="C00000"/>
                </a:solidFill>
              </a:rPr>
              <a:t>A good forecast is:</a:t>
            </a:r>
          </a:p>
          <a:p>
            <a:pPr lvl="1"/>
            <a:r>
              <a:rPr lang="en-US" dirty="0"/>
              <a:t>Timely and in meaningful units</a:t>
            </a:r>
          </a:p>
          <a:p>
            <a:pPr lvl="1"/>
            <a:r>
              <a:rPr lang="en-US" dirty="0"/>
              <a:t>Reliable and as accurate as possible</a:t>
            </a:r>
          </a:p>
          <a:p>
            <a:pPr lvl="1"/>
            <a:r>
              <a:rPr lang="en-US" dirty="0"/>
              <a:t>Easily determined and documented</a:t>
            </a:r>
          </a:p>
          <a:p>
            <a:endParaRPr lang="en-US" dirty="0"/>
          </a:p>
        </p:txBody>
      </p:sp>
    </p:spTree>
    <p:extLst>
      <p:ext uri="{BB962C8B-B14F-4D97-AF65-F5344CB8AC3E}">
        <p14:creationId xmlns:p14="http://schemas.microsoft.com/office/powerpoint/2010/main" val="14462871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Forecasting Methods</a:t>
            </a:r>
          </a:p>
        </p:txBody>
      </p:sp>
      <p:sp>
        <p:nvSpPr>
          <p:cNvPr id="3" name="Content Placeholder 2"/>
          <p:cNvSpPr>
            <a:spLocks noGrp="1"/>
          </p:cNvSpPr>
          <p:nvPr>
            <p:ph idx="1"/>
          </p:nvPr>
        </p:nvSpPr>
        <p:spPr/>
        <p:txBody>
          <a:bodyPr>
            <a:normAutofit/>
          </a:bodyPr>
          <a:lstStyle/>
          <a:p>
            <a:r>
              <a:rPr lang="en-US" dirty="0"/>
              <a:t>The appropriate forecasting methods depend largely on what data are available</a:t>
            </a:r>
          </a:p>
          <a:p>
            <a:r>
              <a:rPr lang="en-US" dirty="0">
                <a:solidFill>
                  <a:srgbClr val="C00000"/>
                </a:solidFill>
              </a:rPr>
              <a:t>Qualitative/Judgmental forecasting methods:</a:t>
            </a:r>
          </a:p>
          <a:p>
            <a:pPr lvl="1"/>
            <a:r>
              <a:rPr lang="en-US" dirty="0"/>
              <a:t>Typically, used when statistical methods do not apply</a:t>
            </a:r>
          </a:p>
          <a:p>
            <a:pPr lvl="1"/>
            <a:r>
              <a:rPr lang="en-US" dirty="0"/>
              <a:t>Or, can be used to modify forecasts from other methods</a:t>
            </a:r>
          </a:p>
          <a:p>
            <a:r>
              <a:rPr lang="en-US" dirty="0">
                <a:solidFill>
                  <a:srgbClr val="C00000"/>
                </a:solidFill>
              </a:rPr>
              <a:t>Quantitative forecasting methods:</a:t>
            </a:r>
          </a:p>
          <a:p>
            <a:pPr lvl="1"/>
            <a:r>
              <a:rPr lang="en-US" dirty="0"/>
              <a:t>Can be used when:</a:t>
            </a:r>
          </a:p>
          <a:p>
            <a:pPr marL="1428750" lvl="2" indent="-514350">
              <a:buFont typeface="+mj-lt"/>
              <a:buAutoNum type="romanLcPeriod"/>
            </a:pPr>
            <a:r>
              <a:rPr lang="en-US" dirty="0"/>
              <a:t>Numerical information about the past is available</a:t>
            </a:r>
          </a:p>
          <a:p>
            <a:pPr marL="1428750" lvl="2" indent="-514350">
              <a:buFont typeface="+mj-lt"/>
              <a:buAutoNum type="romanLcPeriod"/>
            </a:pPr>
            <a:r>
              <a:rPr lang="en-US" dirty="0"/>
              <a:t>It is reasonable to assume that some aspects of the past patterns will continue into future</a:t>
            </a:r>
          </a:p>
          <a:p>
            <a:endParaRPr lang="en-US" dirty="0"/>
          </a:p>
        </p:txBody>
      </p:sp>
    </p:spTree>
    <p:extLst>
      <p:ext uri="{BB962C8B-B14F-4D97-AF65-F5344CB8AC3E}">
        <p14:creationId xmlns:p14="http://schemas.microsoft.com/office/powerpoint/2010/main" val="30783051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Judgmental Forecasting</a:t>
            </a:r>
          </a:p>
        </p:txBody>
      </p:sp>
      <p:sp>
        <p:nvSpPr>
          <p:cNvPr id="3" name="Content Placeholder 2"/>
          <p:cNvSpPr>
            <a:spLocks noGrp="1"/>
          </p:cNvSpPr>
          <p:nvPr>
            <p:ph idx="1"/>
          </p:nvPr>
        </p:nvSpPr>
        <p:spPr/>
        <p:txBody>
          <a:bodyPr>
            <a:normAutofit lnSpcReduction="10000"/>
          </a:bodyPr>
          <a:lstStyle/>
          <a:p>
            <a:r>
              <a:rPr lang="en-US" dirty="0"/>
              <a:t>Forecasting using judgement is common in practice:</a:t>
            </a:r>
          </a:p>
          <a:p>
            <a:pPr marL="971550" lvl="1" indent="-514350">
              <a:buFont typeface="+mj-lt"/>
              <a:buAutoNum type="romanLcPeriod"/>
            </a:pPr>
            <a:r>
              <a:rPr lang="en-US" dirty="0"/>
              <a:t>There are no available data, so that statistical methods are not applicable and judgmental forecasting is the only feasible approach</a:t>
            </a:r>
          </a:p>
          <a:p>
            <a:pPr lvl="2"/>
            <a:r>
              <a:rPr lang="en-US" dirty="0"/>
              <a:t>No data, incomplete data, delayed data</a:t>
            </a:r>
          </a:p>
          <a:p>
            <a:pPr marL="971550" lvl="1" indent="-514350">
              <a:buFont typeface="+mj-lt"/>
              <a:buAutoNum type="romanLcPeriod"/>
            </a:pPr>
            <a:r>
              <a:rPr lang="en-US" dirty="0"/>
              <a:t>Data are available, statistical forecasts are generated, and these are then adjusted using judgement; </a:t>
            </a:r>
          </a:p>
          <a:p>
            <a:pPr marL="971550" lvl="1" indent="-514350">
              <a:buFont typeface="+mj-lt"/>
              <a:buAutoNum type="romanLcPeriod"/>
            </a:pPr>
            <a:r>
              <a:rPr lang="en-US" dirty="0"/>
              <a:t>Data are available and statistical and judgmental forecasts are generated independently and then combined. </a:t>
            </a:r>
          </a:p>
          <a:p>
            <a:r>
              <a:rPr lang="en-US" dirty="0"/>
              <a:t>Judgmental forecasts are:</a:t>
            </a:r>
          </a:p>
          <a:p>
            <a:pPr lvl="1"/>
            <a:r>
              <a:rPr lang="en-US" dirty="0"/>
              <a:t>Subjective, so not unbiased</a:t>
            </a:r>
          </a:p>
          <a:p>
            <a:pPr lvl="1"/>
            <a:r>
              <a:rPr lang="en-US" dirty="0"/>
              <a:t>Can be inconsistent as they heavily depend on someone’s perception</a:t>
            </a:r>
          </a:p>
          <a:p>
            <a:pPr lvl="1"/>
            <a:r>
              <a:rPr lang="en-US" dirty="0"/>
              <a:t>Based on a person’s own experiences and can lean towards initial/previous knowledge</a:t>
            </a:r>
          </a:p>
          <a:p>
            <a:endParaRPr lang="en-US" dirty="0"/>
          </a:p>
        </p:txBody>
      </p:sp>
    </p:spTree>
    <p:extLst>
      <p:ext uri="{BB962C8B-B14F-4D97-AF65-F5344CB8AC3E}">
        <p14:creationId xmlns:p14="http://schemas.microsoft.com/office/powerpoint/2010/main" val="3103786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Judgmental Forecasting</a:t>
            </a:r>
          </a:p>
        </p:txBody>
      </p:sp>
      <p:sp>
        <p:nvSpPr>
          <p:cNvPr id="3" name="Content Placeholder 2"/>
          <p:cNvSpPr>
            <a:spLocks noGrp="1"/>
          </p:cNvSpPr>
          <p:nvPr>
            <p:ph idx="1"/>
          </p:nvPr>
        </p:nvSpPr>
        <p:spPr/>
        <p:txBody>
          <a:bodyPr>
            <a:normAutofit/>
          </a:bodyPr>
          <a:lstStyle/>
          <a:p>
            <a:r>
              <a:rPr lang="en-US" dirty="0"/>
              <a:t>Need to be systematic when using judgmental forecasting methods:</a:t>
            </a:r>
          </a:p>
          <a:p>
            <a:pPr lvl="1"/>
            <a:r>
              <a:rPr lang="en-US" dirty="0"/>
              <a:t>Define the forecasting task clearly</a:t>
            </a:r>
          </a:p>
          <a:p>
            <a:pPr lvl="1"/>
            <a:r>
              <a:rPr lang="en-US" dirty="0"/>
              <a:t>Adopt a systematic approach</a:t>
            </a:r>
          </a:p>
          <a:p>
            <a:pPr lvl="1"/>
            <a:r>
              <a:rPr lang="en-US" dirty="0"/>
              <a:t>Document and justify</a:t>
            </a:r>
          </a:p>
          <a:p>
            <a:pPr lvl="1"/>
            <a:r>
              <a:rPr lang="en-US" dirty="0"/>
              <a:t>Systematically evaluate forecasts</a:t>
            </a:r>
          </a:p>
          <a:p>
            <a:pPr lvl="1"/>
            <a:r>
              <a:rPr lang="en-US" dirty="0"/>
              <a:t>Segregate forecaster and user</a:t>
            </a:r>
          </a:p>
          <a:p>
            <a:r>
              <a:rPr lang="en-US" dirty="0"/>
              <a:t>Some judgmental forecasting methods:</a:t>
            </a:r>
          </a:p>
          <a:p>
            <a:pPr lvl="1"/>
            <a:r>
              <a:rPr lang="en-US" dirty="0"/>
              <a:t>Delphi method</a:t>
            </a:r>
          </a:p>
          <a:p>
            <a:pPr lvl="1"/>
            <a:r>
              <a:rPr lang="en-US" dirty="0"/>
              <a:t>Forecasting by analogy</a:t>
            </a:r>
          </a:p>
          <a:p>
            <a:pPr lvl="1"/>
            <a:r>
              <a:rPr lang="en-US" dirty="0"/>
              <a:t>Scenario forecasting</a:t>
            </a:r>
          </a:p>
          <a:p>
            <a:pPr lvl="1"/>
            <a:r>
              <a:rPr lang="en-US" dirty="0"/>
              <a:t>New product forecasting</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28194527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Judgmental Forecasting Methods</a:t>
            </a:r>
          </a:p>
        </p:txBody>
      </p:sp>
      <p:sp>
        <p:nvSpPr>
          <p:cNvPr id="3" name="Content Placeholder 2"/>
          <p:cNvSpPr>
            <a:spLocks noGrp="1"/>
          </p:cNvSpPr>
          <p:nvPr>
            <p:ph idx="1"/>
          </p:nvPr>
        </p:nvSpPr>
        <p:spPr/>
        <p:txBody>
          <a:bodyPr>
            <a:normAutofit/>
          </a:bodyPr>
          <a:lstStyle/>
          <a:p>
            <a:r>
              <a:rPr lang="en-US" b="1" dirty="0">
                <a:solidFill>
                  <a:srgbClr val="C00000"/>
                </a:solidFill>
              </a:rPr>
              <a:t>Delphi method: </a:t>
            </a:r>
            <a:r>
              <a:rPr lang="en-US" dirty="0"/>
              <a:t>The method relies on the key assumption that forecasts from a group are generally more accurate than those from individuals. The aim of the Delphi method is to construct consensus forecasts from a group of experts in a structured iterative manner. </a:t>
            </a:r>
          </a:p>
          <a:p>
            <a:pPr marL="914400" lvl="1" indent="-457200">
              <a:buFont typeface="+mj-lt"/>
              <a:buAutoNum type="arabicPeriod"/>
            </a:pPr>
            <a:r>
              <a:rPr lang="en-US" dirty="0"/>
              <a:t>A panel of experts is assembled.</a:t>
            </a:r>
          </a:p>
          <a:p>
            <a:pPr marL="914400" lvl="1" indent="-457200">
              <a:buFont typeface="+mj-lt"/>
              <a:buAutoNum type="arabicPeriod"/>
            </a:pPr>
            <a:r>
              <a:rPr lang="en-US" dirty="0"/>
              <a:t>Forecasting tasks/challenges are set and distributed to the experts.</a:t>
            </a:r>
          </a:p>
          <a:p>
            <a:pPr marL="914400" lvl="1" indent="-457200">
              <a:buFont typeface="+mj-lt"/>
              <a:buAutoNum type="arabicPeriod"/>
            </a:pPr>
            <a:r>
              <a:rPr lang="en-US" dirty="0"/>
              <a:t>Experts return initial forecasts and justifications. These are compiled and summarized in order to provide feedback.</a:t>
            </a:r>
          </a:p>
          <a:p>
            <a:pPr marL="914400" lvl="1" indent="-457200">
              <a:buFont typeface="+mj-lt"/>
              <a:buAutoNum type="arabicPeriod"/>
            </a:pPr>
            <a:r>
              <a:rPr lang="en-US" dirty="0"/>
              <a:t>Feedback is provided to the experts, who now review their forecasts in light of the feedback. This step may be iterated until a satisfactory level of consensus is reached.</a:t>
            </a:r>
          </a:p>
          <a:p>
            <a:pPr marL="914400" lvl="1" indent="-457200">
              <a:buFont typeface="+mj-lt"/>
              <a:buAutoNum type="arabicPeriod"/>
            </a:pPr>
            <a:r>
              <a:rPr lang="en-US" dirty="0"/>
              <a:t>Final forecasts are constructed by aggregating the experts’ forecasts.</a:t>
            </a:r>
          </a:p>
          <a:p>
            <a:pPr lvl="2"/>
            <a:endParaRPr lang="en-US" dirty="0"/>
          </a:p>
        </p:txBody>
      </p:sp>
    </p:spTree>
    <p:extLst>
      <p:ext uri="{BB962C8B-B14F-4D97-AF65-F5344CB8AC3E}">
        <p14:creationId xmlns:p14="http://schemas.microsoft.com/office/powerpoint/2010/main" val="515410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Judgmental Forecasting Methods</a:t>
            </a:r>
          </a:p>
        </p:txBody>
      </p:sp>
      <p:sp>
        <p:nvSpPr>
          <p:cNvPr id="3" name="Content Placeholder 2"/>
          <p:cNvSpPr>
            <a:spLocks noGrp="1"/>
          </p:cNvSpPr>
          <p:nvPr>
            <p:ph idx="1"/>
          </p:nvPr>
        </p:nvSpPr>
        <p:spPr/>
        <p:txBody>
          <a:bodyPr>
            <a:normAutofit fontScale="92500" lnSpcReduction="10000"/>
          </a:bodyPr>
          <a:lstStyle/>
          <a:p>
            <a:r>
              <a:rPr lang="en-US" b="1" dirty="0">
                <a:solidFill>
                  <a:srgbClr val="C00000"/>
                </a:solidFill>
              </a:rPr>
              <a:t>Forecasting by analogy: </a:t>
            </a:r>
            <a:r>
              <a:rPr lang="en-US" dirty="0"/>
              <a:t>Thinking and discussing analogous products or situations can generate useful (and sometimes crucial) information. </a:t>
            </a:r>
          </a:p>
          <a:p>
            <a:pPr lvl="1"/>
            <a:r>
              <a:rPr lang="en-US" dirty="0"/>
              <a:t>A common example is the pricing of a house through an appraisal process</a:t>
            </a:r>
          </a:p>
          <a:p>
            <a:pPr lvl="1"/>
            <a:r>
              <a:rPr lang="en-US" dirty="0"/>
              <a:t>Structured analogy: similar to Delphi method, but ask experts to use analogy</a:t>
            </a:r>
          </a:p>
          <a:p>
            <a:r>
              <a:rPr lang="en-US" b="1" dirty="0">
                <a:solidFill>
                  <a:srgbClr val="C00000"/>
                </a:solidFill>
              </a:rPr>
              <a:t>Scenario forecasting: </a:t>
            </a:r>
            <a:r>
              <a:rPr lang="en-US" dirty="0"/>
              <a:t>Generate forecasts based on plausible scenarios.</a:t>
            </a:r>
          </a:p>
          <a:p>
            <a:pPr lvl="1"/>
            <a:r>
              <a:rPr lang="en-US" dirty="0"/>
              <a:t>Building forecasts based on scenarios allows a wide range of possible forecasts to be generated and some extremes to be </a:t>
            </a:r>
            <a:r>
              <a:rPr lang="en-US" dirty="0" err="1"/>
              <a:t>identiied</a:t>
            </a:r>
            <a:endParaRPr lang="en-US" dirty="0"/>
          </a:p>
          <a:p>
            <a:pPr lvl="1"/>
            <a:r>
              <a:rPr lang="en-US" dirty="0"/>
              <a:t>Decision makers often participate in the generation of scenarios</a:t>
            </a:r>
          </a:p>
          <a:p>
            <a:r>
              <a:rPr lang="en-US" b="1" dirty="0">
                <a:solidFill>
                  <a:srgbClr val="C00000"/>
                </a:solidFill>
              </a:rPr>
              <a:t>New product forecasting: </a:t>
            </a:r>
            <a:r>
              <a:rPr lang="en-US" dirty="0"/>
              <a:t>Historical data is not available, so judgmental methods can be used. In addition to the other judgmental methods:</a:t>
            </a:r>
          </a:p>
          <a:p>
            <a:pPr lvl="1"/>
            <a:r>
              <a:rPr lang="en-US" dirty="0"/>
              <a:t>Sales force composite: each store/outlet forecasts individually, then these are aggregated</a:t>
            </a:r>
          </a:p>
          <a:p>
            <a:pPr lvl="1"/>
            <a:r>
              <a:rPr lang="en-US" dirty="0"/>
              <a:t>Executive opinion: Top of the management generates forecasts</a:t>
            </a:r>
          </a:p>
          <a:p>
            <a:pPr lvl="1"/>
            <a:r>
              <a:rPr lang="en-US" dirty="0"/>
              <a:t>Customer intentions: Survey customers and use the results </a:t>
            </a:r>
          </a:p>
          <a:p>
            <a:pPr lvl="2"/>
            <a:endParaRPr lang="en-US" dirty="0"/>
          </a:p>
        </p:txBody>
      </p:sp>
    </p:spTree>
    <p:extLst>
      <p:ext uri="{BB962C8B-B14F-4D97-AF65-F5344CB8AC3E}">
        <p14:creationId xmlns:p14="http://schemas.microsoft.com/office/powerpoint/2010/main" val="4192695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Quantitative Forecasting</a:t>
            </a:r>
          </a:p>
        </p:txBody>
      </p:sp>
      <p:sp>
        <p:nvSpPr>
          <p:cNvPr id="3" name="Content Placeholder 2"/>
          <p:cNvSpPr>
            <a:spLocks noGrp="1"/>
          </p:cNvSpPr>
          <p:nvPr>
            <p:ph idx="1"/>
          </p:nvPr>
        </p:nvSpPr>
        <p:spPr/>
        <p:txBody>
          <a:bodyPr>
            <a:normAutofit fontScale="92500" lnSpcReduction="20000"/>
          </a:bodyPr>
          <a:lstStyle/>
          <a:p>
            <a:r>
              <a:rPr lang="en-US" dirty="0"/>
              <a:t>Quantitative forecasting methods can be used when:</a:t>
            </a:r>
          </a:p>
          <a:p>
            <a:pPr lvl="1"/>
            <a:r>
              <a:rPr lang="en-US" dirty="0"/>
              <a:t>Numerical information about the past is available</a:t>
            </a:r>
          </a:p>
          <a:p>
            <a:pPr lvl="1"/>
            <a:r>
              <a:rPr lang="en-US" dirty="0"/>
              <a:t>It is reasonable to assume that some aspects of the past patterns will continue</a:t>
            </a:r>
          </a:p>
          <a:p>
            <a:r>
              <a:rPr lang="en-US" dirty="0"/>
              <a:t>There are many quantitative forecasting methods, and they use either time-series or cross-sectional data</a:t>
            </a:r>
          </a:p>
          <a:p>
            <a:pPr lvl="1"/>
            <a:r>
              <a:rPr lang="en-US" dirty="0"/>
              <a:t>Time series data: collected at regular intervals over time for a particular value</a:t>
            </a:r>
          </a:p>
          <a:p>
            <a:pPr lvl="2"/>
            <a:r>
              <a:rPr lang="en-US" dirty="0"/>
              <a:t>Daily sales over two years, monthly consumption over 5 years, annual GDP over 50 years…</a:t>
            </a:r>
          </a:p>
          <a:p>
            <a:pPr lvl="1"/>
            <a:r>
              <a:rPr lang="en-US" dirty="0"/>
              <a:t>Cross-sectional data: collected at similar times from different sources</a:t>
            </a:r>
          </a:p>
          <a:p>
            <a:pPr lvl="2"/>
            <a:r>
              <a:rPr lang="en-US" dirty="0"/>
              <a:t>Profits of Fortune 500 companies, 2020 GDP of the countries…</a:t>
            </a:r>
          </a:p>
          <a:p>
            <a:r>
              <a:rPr lang="en-US" dirty="0"/>
              <a:t>Common classes of quantitative forecasting methods:</a:t>
            </a:r>
          </a:p>
          <a:p>
            <a:pPr lvl="1"/>
            <a:r>
              <a:rPr lang="en-US" dirty="0">
                <a:solidFill>
                  <a:srgbClr val="C00000"/>
                </a:solidFill>
              </a:rPr>
              <a:t>Causal forecasting methods: </a:t>
            </a:r>
            <a:r>
              <a:rPr lang="en-US" dirty="0"/>
              <a:t>Use historical data and/or other factors</a:t>
            </a:r>
          </a:p>
          <a:p>
            <a:pPr lvl="2"/>
            <a:r>
              <a:rPr lang="en-US" dirty="0"/>
              <a:t>Regression models, prediction models (e.g., weather forecasting)</a:t>
            </a:r>
          </a:p>
          <a:p>
            <a:pPr lvl="1"/>
            <a:r>
              <a:rPr lang="en-US" dirty="0">
                <a:solidFill>
                  <a:srgbClr val="C00000"/>
                </a:solidFill>
              </a:rPr>
              <a:t>Time series forecasting methods: </a:t>
            </a:r>
            <a:r>
              <a:rPr lang="en-US" dirty="0"/>
              <a:t>Use historical data (time series)</a:t>
            </a:r>
          </a:p>
          <a:p>
            <a:pPr lvl="2"/>
            <a:r>
              <a:rPr lang="en-US" dirty="0"/>
              <a:t>Simple methods, Exponential smoothing methods, ARIMA</a:t>
            </a:r>
          </a:p>
          <a:p>
            <a:pPr lvl="1"/>
            <a:r>
              <a:rPr lang="en-US" dirty="0"/>
              <a:t>Or a mix of these methods…</a:t>
            </a:r>
          </a:p>
          <a:p>
            <a:pPr lvl="1"/>
            <a:endParaRPr lang="en-US" dirty="0"/>
          </a:p>
        </p:txBody>
      </p:sp>
    </p:spTree>
    <p:extLst>
      <p:ext uri="{BB962C8B-B14F-4D97-AF65-F5344CB8AC3E}">
        <p14:creationId xmlns:p14="http://schemas.microsoft.com/office/powerpoint/2010/main" val="15617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6286</TotalTime>
  <Words>3238</Words>
  <Application>Microsoft Office PowerPoint</Application>
  <PresentationFormat>Widescreen</PresentationFormat>
  <Paragraphs>306</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Wingdings</vt:lpstr>
      <vt:lpstr>1_Office Theme</vt:lpstr>
      <vt:lpstr>QMST 5335 Course Overview and Introduction to Forecasting </vt:lpstr>
      <vt:lpstr>Learning Objectives:</vt:lpstr>
      <vt:lpstr>Outline</vt:lpstr>
      <vt:lpstr>Outline</vt:lpstr>
      <vt:lpstr>Course Description</vt:lpstr>
      <vt:lpstr>Course Materials: Textbooks</vt:lpstr>
      <vt:lpstr>Course Materials: Software</vt:lpstr>
      <vt:lpstr>Course Materials: Software</vt:lpstr>
      <vt:lpstr>Course Materials: Software</vt:lpstr>
      <vt:lpstr>Course Delivery and Schedule</vt:lpstr>
      <vt:lpstr>Course Delivery and Schedule</vt:lpstr>
      <vt:lpstr>Course Delivery and Schedule</vt:lpstr>
      <vt:lpstr>Course Delivery and Schedule</vt:lpstr>
      <vt:lpstr>Course Delivery and Schedule</vt:lpstr>
      <vt:lpstr>Course Delivery and Schedule</vt:lpstr>
      <vt:lpstr>Course Requirements</vt:lpstr>
      <vt:lpstr>Course Requirements</vt:lpstr>
      <vt:lpstr>Course Requirements</vt:lpstr>
      <vt:lpstr>CANVAS Site</vt:lpstr>
      <vt:lpstr>Outline</vt:lpstr>
      <vt:lpstr>Forecasting</vt:lpstr>
      <vt:lpstr>Forecasting Horizon </vt:lpstr>
      <vt:lpstr>Forecasting Task</vt:lpstr>
      <vt:lpstr>Forecasts</vt:lpstr>
      <vt:lpstr>Forecasting Methods</vt:lpstr>
      <vt:lpstr>Judgmental Forecasting</vt:lpstr>
      <vt:lpstr>Judgmental Forecasting</vt:lpstr>
      <vt:lpstr>Judgmental Forecasting Methods</vt:lpstr>
      <vt:lpstr>Judgmental Forecasting Methods</vt:lpstr>
      <vt:lpstr>Quantitative Forecasting</vt:lpstr>
    </vt:vector>
  </TitlesOfParts>
  <Company>Missouri S&amp;T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konurdlocal</dc:creator>
  <cp:lastModifiedBy>Sahan Konur, Sahika</cp:lastModifiedBy>
  <cp:revision>46</cp:revision>
  <dcterms:created xsi:type="dcterms:W3CDTF">2019-01-16T01:46:19Z</dcterms:created>
  <dcterms:modified xsi:type="dcterms:W3CDTF">2024-01-18T14:53:08Z</dcterms:modified>
</cp:coreProperties>
</file>