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74" r:id="rId1"/>
    <p:sldMasterId id="2147484132" r:id="rId2"/>
    <p:sldMasterId id="2147484156" r:id="rId3"/>
  </p:sldMasterIdLst>
  <p:notesMasterIdLst>
    <p:notesMasterId r:id="rId35"/>
  </p:notesMasterIdLst>
  <p:handoutMasterIdLst>
    <p:handoutMasterId r:id="rId36"/>
  </p:handoutMasterIdLst>
  <p:sldIdLst>
    <p:sldId id="427" r:id="rId4"/>
    <p:sldId id="543" r:id="rId5"/>
    <p:sldId id="326" r:id="rId6"/>
    <p:sldId id="539" r:id="rId7"/>
    <p:sldId id="337" r:id="rId8"/>
    <p:sldId id="292" r:id="rId9"/>
    <p:sldId id="395" r:id="rId10"/>
    <p:sldId id="293" r:id="rId11"/>
    <p:sldId id="396" r:id="rId12"/>
    <p:sldId id="397" r:id="rId13"/>
    <p:sldId id="398" r:id="rId14"/>
    <p:sldId id="541" r:id="rId15"/>
    <p:sldId id="307" r:id="rId16"/>
    <p:sldId id="403" r:id="rId17"/>
    <p:sldId id="328" r:id="rId18"/>
    <p:sldId id="540" r:id="rId19"/>
    <p:sldId id="271" r:id="rId20"/>
    <p:sldId id="339" r:id="rId21"/>
    <p:sldId id="542" r:id="rId22"/>
    <p:sldId id="274" r:id="rId23"/>
    <p:sldId id="299" r:id="rId24"/>
    <p:sldId id="409" r:id="rId25"/>
    <p:sldId id="410" r:id="rId26"/>
    <p:sldId id="401" r:id="rId27"/>
    <p:sldId id="353" r:id="rId28"/>
    <p:sldId id="406" r:id="rId29"/>
    <p:sldId id="361" r:id="rId30"/>
    <p:sldId id="411" r:id="rId31"/>
    <p:sldId id="412" r:id="rId32"/>
    <p:sldId id="375" r:id="rId33"/>
    <p:sldId id="431" r:id="rId34"/>
  </p:sldIdLst>
  <p:sldSz cx="9144000" cy="64008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1" autoAdjust="0"/>
    <p:restoredTop sz="94707" autoAdjust="0"/>
  </p:normalViewPr>
  <p:slideViewPr>
    <p:cSldViewPr>
      <p:cViewPr varScale="1">
        <p:scale>
          <a:sx n="67" d="100"/>
          <a:sy n="67" d="100"/>
        </p:scale>
        <p:origin x="1016" y="48"/>
      </p:cViewPr>
      <p:guideLst>
        <p:guide orient="horz" pos="201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8278391-205F-4A3D-A219-C2F647AF9EC5}" type="slidenum">
              <a:rPr lang="en-US" altLang="en-US">
                <a:latin typeface="Arial" pitchFamily="34" charset="0"/>
              </a:rPr>
              <a:pPr>
                <a:defRPr/>
              </a:pPr>
              <a:t>‹#›</a:t>
            </a:fld>
            <a:endParaRPr lang="en-US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81125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1075" y="685800"/>
            <a:ext cx="48958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39D48BB0-D4B5-4556-A3EE-19BD65DB638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54847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5654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>
                <a:solidFill>
                  <a:schemeClr val="tx1"/>
                </a:solidFill>
                <a:latin typeface="Arial" charset="0"/>
              </a:defRPr>
            </a:lvl1pPr>
            <a:lvl2pPr marL="716130" indent="-275434" defTabSz="931887">
              <a:defRPr>
                <a:solidFill>
                  <a:schemeClr val="tx1"/>
                </a:solidFill>
                <a:latin typeface="Arial" charset="0"/>
              </a:defRPr>
            </a:lvl2pPr>
            <a:lvl3pPr marL="1101738" indent="-220348" defTabSz="931887">
              <a:defRPr>
                <a:solidFill>
                  <a:schemeClr val="tx1"/>
                </a:solidFill>
                <a:latin typeface="Arial" charset="0"/>
              </a:defRPr>
            </a:lvl3pPr>
            <a:lvl4pPr marL="1542433" indent="-220348" defTabSz="931887">
              <a:defRPr>
                <a:solidFill>
                  <a:schemeClr val="tx1"/>
                </a:solidFill>
                <a:latin typeface="Arial" charset="0"/>
              </a:defRPr>
            </a:lvl4pPr>
            <a:lvl5pPr marL="1983128" indent="-220348" defTabSz="931887">
              <a:defRPr>
                <a:solidFill>
                  <a:schemeClr val="tx1"/>
                </a:solidFill>
                <a:latin typeface="Arial" charset="0"/>
              </a:defRPr>
            </a:lvl5pPr>
            <a:lvl6pPr marL="242382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6451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0521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4590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318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F56053-222B-4632-B35D-E6B8A31623EA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188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69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>
                <a:solidFill>
                  <a:schemeClr val="tx1"/>
                </a:solidFill>
                <a:latin typeface="Arial" charset="0"/>
              </a:defRPr>
            </a:lvl1pPr>
            <a:lvl2pPr marL="716130" indent="-275434" defTabSz="931887">
              <a:defRPr>
                <a:solidFill>
                  <a:schemeClr val="tx1"/>
                </a:solidFill>
                <a:latin typeface="Arial" charset="0"/>
              </a:defRPr>
            </a:lvl2pPr>
            <a:lvl3pPr marL="1101738" indent="-220348" defTabSz="931887">
              <a:defRPr>
                <a:solidFill>
                  <a:schemeClr val="tx1"/>
                </a:solidFill>
                <a:latin typeface="Arial" charset="0"/>
              </a:defRPr>
            </a:lvl3pPr>
            <a:lvl4pPr marL="1542433" indent="-220348" defTabSz="931887">
              <a:defRPr>
                <a:solidFill>
                  <a:schemeClr val="tx1"/>
                </a:solidFill>
                <a:latin typeface="Arial" charset="0"/>
              </a:defRPr>
            </a:lvl4pPr>
            <a:lvl5pPr marL="1983128" indent="-220348" defTabSz="931887">
              <a:defRPr>
                <a:solidFill>
                  <a:schemeClr val="tx1"/>
                </a:solidFill>
                <a:latin typeface="Arial" charset="0"/>
              </a:defRPr>
            </a:lvl5pPr>
            <a:lvl6pPr marL="242382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6451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0521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4590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318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F56053-222B-4632-B35D-E6B8A31623EA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188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84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325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99C856-DA1F-4F1F-8F64-A926C5366908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51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52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682625"/>
            <a:ext cx="4878388" cy="3416300"/>
          </a:xfrm>
          <a:ln/>
        </p:spPr>
      </p:sp>
      <p:sp>
        <p:nvSpPr>
          <p:cNvPr id="41987" name="Notes Placeholder 3"/>
          <p:cNvSpPr>
            <a:spLocks noGrp="1"/>
          </p:cNvSpPr>
          <p:nvPr/>
        </p:nvSpPr>
        <p:spPr bwMode="auto">
          <a:xfrm>
            <a:off x="914711" y="4342464"/>
            <a:ext cx="5028579" cy="41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226" tIns="44321" rIns="90226" bIns="4432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>
                <a:solidFill>
                  <a:schemeClr val="tx1"/>
                </a:solidFill>
                <a:latin typeface="Arial" charset="0"/>
              </a:defRPr>
            </a:lvl1pPr>
            <a:lvl2pPr marL="716130" indent="-275434" defTabSz="931887">
              <a:defRPr>
                <a:solidFill>
                  <a:schemeClr val="tx1"/>
                </a:solidFill>
                <a:latin typeface="Arial" charset="0"/>
              </a:defRPr>
            </a:lvl2pPr>
            <a:lvl3pPr marL="1101738" indent="-220348" defTabSz="931887">
              <a:defRPr>
                <a:solidFill>
                  <a:schemeClr val="tx1"/>
                </a:solidFill>
                <a:latin typeface="Arial" charset="0"/>
              </a:defRPr>
            </a:lvl3pPr>
            <a:lvl4pPr marL="1542433" indent="-220348" defTabSz="931887">
              <a:defRPr>
                <a:solidFill>
                  <a:schemeClr val="tx1"/>
                </a:solidFill>
                <a:latin typeface="Arial" charset="0"/>
              </a:defRPr>
            </a:lvl4pPr>
            <a:lvl5pPr marL="1983128" indent="-220348" defTabSz="931887">
              <a:defRPr>
                <a:solidFill>
                  <a:schemeClr val="tx1"/>
                </a:solidFill>
                <a:latin typeface="Arial" charset="0"/>
              </a:defRPr>
            </a:lvl5pPr>
            <a:lvl6pPr marL="242382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6451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0521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4590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318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33C238-0BCE-47CC-AAD4-E0C513502956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188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51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28177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325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D4BDFA-8DE8-43FE-BE91-517F860D86F6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51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82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325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FF09E3-A70E-406F-BCC9-4F6B41F6682F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51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73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>
                <a:solidFill>
                  <a:schemeClr val="tx1"/>
                </a:solidFill>
                <a:latin typeface="Arial" charset="0"/>
              </a:defRPr>
            </a:lvl1pPr>
            <a:lvl2pPr marL="716130" indent="-275434" defTabSz="931887">
              <a:defRPr>
                <a:solidFill>
                  <a:schemeClr val="tx1"/>
                </a:solidFill>
                <a:latin typeface="Arial" charset="0"/>
              </a:defRPr>
            </a:lvl2pPr>
            <a:lvl3pPr marL="1101738" indent="-220348" defTabSz="931887">
              <a:defRPr>
                <a:solidFill>
                  <a:schemeClr val="tx1"/>
                </a:solidFill>
                <a:latin typeface="Arial" charset="0"/>
              </a:defRPr>
            </a:lvl3pPr>
            <a:lvl4pPr marL="1542433" indent="-220348" defTabSz="931887">
              <a:defRPr>
                <a:solidFill>
                  <a:schemeClr val="tx1"/>
                </a:solidFill>
                <a:latin typeface="Arial" charset="0"/>
              </a:defRPr>
            </a:lvl4pPr>
            <a:lvl5pPr marL="1983128" indent="-220348" defTabSz="931887">
              <a:defRPr>
                <a:solidFill>
                  <a:schemeClr val="tx1"/>
                </a:solidFill>
                <a:latin typeface="Arial" charset="0"/>
              </a:defRPr>
            </a:lvl5pPr>
            <a:lvl6pPr marL="242382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6451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0521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4590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318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28743A-E265-4C0F-8A67-0E9370F714A5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188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553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325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523D77-A171-4002-9777-EA7753D88BA6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251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05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5038" y="676275"/>
            <a:ext cx="4937125" cy="3457575"/>
          </a:xfrm>
          <a:ln/>
        </p:spPr>
      </p:sp>
      <p:sp>
        <p:nvSpPr>
          <p:cNvPr id="47107" name="Notes Placeholder 3"/>
          <p:cNvSpPr>
            <a:spLocks noGrp="1"/>
          </p:cNvSpPr>
          <p:nvPr/>
        </p:nvSpPr>
        <p:spPr bwMode="auto">
          <a:xfrm>
            <a:off x="914711" y="4342464"/>
            <a:ext cx="5028579" cy="411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226" tIns="44321" rIns="90226" bIns="44321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42088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6714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8476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37069"/>
            <a:ext cx="8713465" cy="60916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517488"/>
            <a:ext cx="7747000" cy="366254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  <a:latin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129280"/>
            <a:ext cx="7747000" cy="23391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82340" y="208619"/>
            <a:ext cx="2125980" cy="919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</a:endParaRPr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49220"/>
            <a:ext cx="10034016" cy="925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8" y="4559433"/>
            <a:ext cx="2080291" cy="1797719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</a:endParaRPr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030220"/>
            <a:ext cx="987056" cy="9715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93" y="4780294"/>
            <a:ext cx="275507" cy="66275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73" y="5966820"/>
            <a:ext cx="386047" cy="266067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28093" y="5077853"/>
            <a:ext cx="552064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443051"/>
            <a:ext cx="672857" cy="69615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5939613"/>
            <a:ext cx="6201666" cy="341771"/>
          </a:xfrm>
        </p:spPr>
        <p:txBody>
          <a:bodyPr/>
          <a:lstStyle>
            <a:lvl1pPr>
              <a:defRPr sz="600">
                <a:latin typeface="Arial" pitchFamily="34" charset="0"/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0" y="5987928"/>
            <a:ext cx="1151034" cy="33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072461"/>
            <a:ext cx="6172200" cy="366254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  <a:latin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746494"/>
            <a:ext cx="6172200" cy="263149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7" y="6055123"/>
            <a:ext cx="11423745" cy="84779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2" y="337823"/>
            <a:ext cx="1840495" cy="1811584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788519"/>
            <a:ext cx="908570" cy="626196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44547" y="3286586"/>
            <a:ext cx="742809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431261"/>
            <a:ext cx="1101550" cy="11396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232438"/>
            <a:ext cx="596838" cy="74273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484439"/>
            <a:ext cx="252342" cy="60703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7" y="6139903"/>
            <a:ext cx="6781693" cy="228233"/>
          </a:xfrm>
        </p:spPr>
        <p:txBody>
          <a:bodyPr/>
          <a:lstStyle>
            <a:lvl1pPr>
              <a:defRPr sz="600">
                <a:latin typeface="Arial" pitchFamily="34" charset="0"/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8725" y="5938833"/>
            <a:ext cx="1400289" cy="4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>
                <a:latin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72423"/>
            <a:ext cx="8026400" cy="287771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885049"/>
            <a:ext cx="8586216" cy="417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07448"/>
            <a:ext cx="628992" cy="650771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7" y="6055123"/>
            <a:ext cx="11423745" cy="8477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7" y="6139903"/>
            <a:ext cx="6781693" cy="228233"/>
          </a:xfrm>
        </p:spPr>
        <p:txBody>
          <a:bodyPr/>
          <a:lstStyle>
            <a:lvl1pPr>
              <a:defRPr sz="600">
                <a:latin typeface="Arial" pitchFamily="34" charset="0"/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82" y="5902960"/>
            <a:ext cx="1439449" cy="41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3535"/>
            <a:ext cx="8026400" cy="287771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885049"/>
            <a:ext cx="8586216" cy="417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07448"/>
            <a:ext cx="628992" cy="650771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7" y="6055123"/>
            <a:ext cx="11423745" cy="8477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7" y="6139903"/>
            <a:ext cx="6781693" cy="228233"/>
          </a:xfrm>
        </p:spPr>
        <p:txBody>
          <a:bodyPr/>
          <a:lstStyle>
            <a:lvl1pPr>
              <a:defRPr sz="600">
                <a:latin typeface="Arial" pitchFamily="34" charset="0"/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488" y="5885582"/>
            <a:ext cx="1403024" cy="40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3861223"/>
            <a:ext cx="9144000" cy="42969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698244"/>
            <a:ext cx="3063875" cy="2518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3790106"/>
            <a:ext cx="1600200" cy="3407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698244"/>
            <a:ext cx="9144000" cy="228177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705649"/>
            <a:ext cx="9144000" cy="131868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"/>
            <a:ext cx="9144000" cy="370564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409440"/>
            <a:ext cx="6324600" cy="120904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  <a:latin typeface="Arial" pitchFamily="34" charset="0"/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52404"/>
            <a:ext cx="2667000" cy="344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13849"/>
            <a:ext cx="8382000" cy="418576"/>
          </a:xfrm>
        </p:spPr>
        <p:txBody>
          <a:bodyPr/>
          <a:lstStyle>
            <a:lvl1pPr>
              <a:defRPr sz="3200" b="0" i="0" cap="none" baseline="0">
                <a:solidFill>
                  <a:schemeClr val="accent3">
                    <a:lumMod val="75000"/>
                  </a:schemeClr>
                </a:solidFill>
                <a:latin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1706880"/>
            <a:ext cx="4041648" cy="1877373"/>
          </a:xfr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1867">
                <a:latin typeface="Arial" pitchFamily="34" charset="0"/>
              </a:defRPr>
            </a:lvl2pPr>
            <a:lvl3pPr>
              <a:defRPr sz="1680">
                <a:latin typeface="Arial" pitchFamily="34" charset="0"/>
              </a:defRPr>
            </a:lvl3pPr>
            <a:lvl4pPr>
              <a:defRPr sz="1493">
                <a:latin typeface="Arial" pitchFamily="34" charset="0"/>
              </a:defRPr>
            </a:lvl4pPr>
            <a:lvl5pPr>
              <a:defRPr sz="1493">
                <a:latin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13" y="1706880"/>
            <a:ext cx="4041775" cy="1877373"/>
          </a:xfr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1867">
                <a:latin typeface="Arial" pitchFamily="34" charset="0"/>
              </a:defRPr>
            </a:lvl2pPr>
            <a:lvl3pPr>
              <a:defRPr sz="1680">
                <a:latin typeface="Arial" pitchFamily="34" charset="0"/>
              </a:defRPr>
            </a:lvl3pPr>
            <a:lvl4pPr>
              <a:defRPr sz="1493">
                <a:latin typeface="Arial" pitchFamily="34" charset="0"/>
              </a:defRPr>
            </a:lvl4pPr>
            <a:lvl5pPr>
              <a:defRPr sz="1493">
                <a:latin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207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3861223"/>
            <a:ext cx="9144000" cy="42969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698246"/>
            <a:ext cx="3063875" cy="2518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3790106"/>
            <a:ext cx="1600200" cy="3407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698246"/>
            <a:ext cx="9144000" cy="228177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705649"/>
            <a:ext cx="9144000" cy="131868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5"/>
            <a:ext cx="9144000" cy="370564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409440"/>
            <a:ext cx="6324600" cy="120904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  <a:latin typeface="Arial" pitchFamily="34" charset="0"/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52405"/>
            <a:ext cx="2667000" cy="344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3861223"/>
            <a:ext cx="9144000" cy="42969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1" y="3698240"/>
            <a:ext cx="3063875" cy="2518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3790104"/>
            <a:ext cx="1600200" cy="3407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698240"/>
            <a:ext cx="9144000" cy="228177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705649"/>
            <a:ext cx="9144000" cy="131868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370564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409440"/>
            <a:ext cx="6324600" cy="120904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  <a:latin typeface="Arial" pitchFamily="34" charset="0"/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52400"/>
            <a:ext cx="2667000" cy="344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752B-BEC5-4AB5-9C0B-7022C325D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047539"/>
            <a:ext cx="6858000" cy="222842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39FEB-B6EF-4235-B710-257B82A28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361902"/>
            <a:ext cx="6858000" cy="154537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FC575-0525-48FA-B62A-7BB1FCDD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6D504-1F76-41FC-9407-15F7937F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FABB9-4B8D-4D0E-B3D3-0A7F7012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2CE207-2410-4414-9250-C15361C699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40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9588-EABB-488F-BEE8-D6D0E97C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A3A3-A3E2-46C2-BA2F-E6B2448AA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DCC0-6377-4C65-8D0F-23C2799F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F4D1C-2A71-4917-B4AB-02F6F78A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B4D30-64E6-46BE-B88C-28AA673F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A8058-C106-4FCC-BE8E-4C981CEB01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68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4439-AFAF-4EBA-954F-7AAF0479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95756"/>
            <a:ext cx="7886700" cy="2662555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6AC90-4702-4131-897B-1F70CCA87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283499"/>
            <a:ext cx="7886700" cy="140017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F8A7-F32C-4C98-92F0-FA36764A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FAF22-60BB-461D-B2E5-64050E94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08A42-9D4B-4AA2-A48C-8A8AABCB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4E0DBB-63ED-47DF-90B6-6037FB34F8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84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55D4-3014-487D-B21C-1FC37FD4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613E-32F3-4F05-A881-DFE12F266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703917"/>
            <a:ext cx="38862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A39AC-604D-4367-A0EA-3685D4916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703917"/>
            <a:ext cx="38862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C6FC5-3891-4E49-8EBB-2EF7F0C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676A1-E33F-4051-8CC5-94F37A16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FE000-25D2-4E6E-A09F-4E087807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5A0654-FB8A-44E0-8AFD-7F3C508447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91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25C6-9870-4BED-9ED6-5B541939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0784"/>
            <a:ext cx="7886700" cy="1237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4E9E4-14F3-476C-BEC7-B8B8792E9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569085"/>
            <a:ext cx="3868340" cy="7689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FF0FB-4BFF-4FB8-98A7-658BB333D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338070"/>
            <a:ext cx="386834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D293A-D161-4F38-A78B-A072A6E11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569085"/>
            <a:ext cx="3887391" cy="7689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9D2E8-6AC1-4BBB-81E8-E3F907B79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338070"/>
            <a:ext cx="3887391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6CD2C-639A-4B44-BC16-A35B0044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FB66D-F36B-4C2E-A3AD-A5AF3BDC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514899-90D3-4103-A50D-83B9C27D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138EA2-3DB5-4265-BD97-697DFB819B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9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E80E-A6AE-4CCF-B08C-1E012F54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0A794-F0D2-4644-843A-DD267EF6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4F112-87F3-44F5-B3C4-8EC5606B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DC1FD-9100-4DC9-906F-7E1B6D13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FF3E5-94A7-4463-BDBB-C8CE096605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40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302B3-59B6-479E-9D41-8D30BEAB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91173-BEFE-4B06-B1EB-EB8831FF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29641-F1F9-4F4B-8CC9-CA6D90F4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9711A-2051-4C6E-BC51-8CB804490E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08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AC35-037D-4CE0-9456-27476611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26720"/>
            <a:ext cx="2949178" cy="14935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C615B-3C33-48C7-90B0-E6504B10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21597"/>
            <a:ext cx="4629150" cy="454871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F594A-3608-4C8F-A024-FB67394F8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920240"/>
            <a:ext cx="2949178" cy="35574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343A7-CCEA-4DC1-A9CF-EA82AE48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74EAE-E928-42DB-9DE2-C20F6E8B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44A73-61FF-4E73-ACE3-F7133E27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E0F44F-117A-4B01-B2D5-B8032287A3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09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CCFA-123B-4EF7-9B19-00862ACD7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26720"/>
            <a:ext cx="2949178" cy="14935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BC22F-37BC-42EB-8F17-B29FE106A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21597"/>
            <a:ext cx="4629150" cy="4548717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5AE2F-93D2-441D-8E79-F540578F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920240"/>
            <a:ext cx="2949178" cy="35574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07CA-9929-4108-AB22-75F6594D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14D09-9C9E-4D23-9E89-1847C95A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9B3A0-1567-48E2-BAD7-37A7F5D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1CCB6-B856-4CBA-8C9B-8A7B11A00D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77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8FCE-993B-4832-9310-28434A96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730EC-58C4-4E86-9C39-5A4D5D01A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E90BC-DB62-46AD-819B-B0FD15CD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74BA9-D4B5-4B01-9077-D411C419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98AF-EAB9-4219-A2CF-2B6F57CA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326A4B-75AB-46D4-AFB2-EAA9AA3821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12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97752-DEC6-4FE1-8969-14868B499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40783"/>
            <a:ext cx="1971675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19412-3ADF-4E62-A579-9E1815BEE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40783"/>
            <a:ext cx="5800725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495DF-589F-457D-8892-F2F4A35E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83170-D428-42E3-B51E-E5B62EAE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9799C-AEB5-4E37-BD98-0C03090B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CB300C-2A14-4AE0-A1AA-76D76F6944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86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752B-BEC5-4AB5-9C0B-7022C325D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047539"/>
            <a:ext cx="6858000" cy="222842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39FEB-B6EF-4235-B710-257B82A28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361902"/>
            <a:ext cx="6858000" cy="154537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FC575-0525-48FA-B62A-7BB1FCDDE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6D504-1F76-41FC-9407-15F7937F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FABB9-4B8D-4D0E-B3D3-0A7F7012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2CE207-2410-4414-9250-C15361C699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18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9588-EABB-488F-BEE8-D6D0E97C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A3A3-A3E2-46C2-BA2F-E6B2448AA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FDCC0-6377-4C65-8D0F-23C2799F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F4D1C-2A71-4917-B4AB-02F6F78A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B4D30-64E6-46BE-B88C-28AA673F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A8058-C106-4FCC-BE8E-4C981CEB01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269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4439-AFAF-4EBA-954F-7AAF0479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95756"/>
            <a:ext cx="7886700" cy="2662555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6AC90-4702-4131-897B-1F70CCA87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283499"/>
            <a:ext cx="7886700" cy="140017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F8A7-F32C-4C98-92F0-FA36764A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FAF22-60BB-461D-B2E5-64050E94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08A42-9D4B-4AA2-A48C-8A8AABCB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4E0DBB-63ED-47DF-90B6-6037FB34F8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641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55D4-3014-487D-B21C-1FC37FD4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613E-32F3-4F05-A881-DFE12F266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703917"/>
            <a:ext cx="38862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A39AC-604D-4367-A0EA-3685D4916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703917"/>
            <a:ext cx="38862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C6FC5-3891-4E49-8EBB-2EF7F0C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676A1-E33F-4051-8CC5-94F37A16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FE000-25D2-4E6E-A09F-4E087807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5A0654-FB8A-44E0-8AFD-7F3C508447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802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425C6-9870-4BED-9ED6-5B541939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0784"/>
            <a:ext cx="7886700" cy="1237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4E9E4-14F3-476C-BEC7-B8B8792E9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569085"/>
            <a:ext cx="3868340" cy="7689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FF0FB-4BFF-4FB8-98A7-658BB333D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338070"/>
            <a:ext cx="386834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D293A-D161-4F38-A78B-A072A6E11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569085"/>
            <a:ext cx="3887391" cy="76898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9D2E8-6AC1-4BBB-81E8-E3F907B79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338070"/>
            <a:ext cx="3887391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6CD2C-639A-4B44-BC16-A35B0044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FB66D-F36B-4C2E-A3AD-A5AF3BDC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514899-90D3-4103-A50D-83B9C27D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138EA2-3DB5-4265-BD97-697DFB819B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596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E80E-A6AE-4CCF-B08C-1E012F541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0A794-F0D2-4644-843A-DD267EF6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4F112-87F3-44F5-B3C4-8EC5606B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DC1FD-9100-4DC9-906F-7E1B6D13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FF3E5-94A7-4463-BDBB-C8CE096605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944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302B3-59B6-479E-9D41-8D30BEAB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91173-BEFE-4B06-B1EB-EB8831FF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29641-F1F9-4F4B-8CC9-CA6D90F4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9711A-2051-4C6E-BC51-8CB804490E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880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AC35-037D-4CE0-9456-27476611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26720"/>
            <a:ext cx="2949178" cy="14935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C615B-3C33-48C7-90B0-E6504B10A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21597"/>
            <a:ext cx="4629150" cy="454871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F594A-3608-4C8F-A024-FB67394F8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920240"/>
            <a:ext cx="2949178" cy="35574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343A7-CCEA-4DC1-A9CF-EA82AE48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74EAE-E928-42DB-9DE2-C20F6E8B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44A73-61FF-4E73-ACE3-F7133E27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E0F44F-117A-4B01-B2D5-B8032287A3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052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CCFA-123B-4EF7-9B19-00862ACD7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26720"/>
            <a:ext cx="2949178" cy="14935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BC22F-37BC-42EB-8F17-B29FE106A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21597"/>
            <a:ext cx="4629150" cy="4548717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5AE2F-93D2-441D-8E79-F540578F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920240"/>
            <a:ext cx="2949178" cy="355748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07CA-9929-4108-AB22-75F6594D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14D09-9C9E-4D23-9E89-1847C95A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9B3A0-1567-48E2-BAD7-37A7F5D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1CCB6-B856-4CBA-8C9B-8A7B11A00D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18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8FCE-993B-4832-9310-28434A96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730EC-58C4-4E86-9C39-5A4D5D01A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E90BC-DB62-46AD-819B-B0FD15CD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74BA9-D4B5-4B01-9077-D411C419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98AF-EAB9-4219-A2CF-2B6F57CA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326A4B-75AB-46D4-AFB2-EAA9AA3821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46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97752-DEC6-4FE1-8969-14868B499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40783"/>
            <a:ext cx="1971675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19412-3ADF-4E62-A579-9E1815BEE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40783"/>
            <a:ext cx="5800725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495DF-589F-457D-8892-F2F4A35E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83170-D428-42E3-B51E-E5B62EAE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9799C-AEB5-4E37-BD98-0C03090B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CB300C-2A14-4AE0-A1AA-76D76F6944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5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436231"/>
            <a:ext cx="8415338" cy="141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9372" y="6072313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43092"/>
            <a:ext cx="8415338" cy="28777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9" y="6170275"/>
            <a:ext cx="8014247" cy="197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411"/>
            <a:ext cx="9144000" cy="205951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355600"/>
            <a:ext cx="9144000" cy="54822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7" r:id="rId3"/>
    <p:sldLayoutId id="2147484078" r:id="rId4"/>
    <p:sldLayoutId id="2147484079" r:id="rId5"/>
    <p:sldLayoutId id="2147484080" r:id="rId6"/>
    <p:sldLayoutId id="2147484081" r:id="rId7"/>
    <p:sldLayoutId id="2147484082" r:id="rId8"/>
    <p:sldLayoutId id="2147484083" r:id="rId9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Arial" pitchFamily="34" charset="0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4C478D-93AC-4A98-9A08-8F9D29F3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0784"/>
            <a:ext cx="788670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3400C-08CC-428A-B85C-A804DDC25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703917"/>
            <a:ext cx="788670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90295-14A5-4675-81B6-414BD04CB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932594"/>
            <a:ext cx="2057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B766B-2122-4F13-AE7D-18E42BCD3B9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8C205-EF07-4D06-A321-956C9953E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932594"/>
            <a:ext cx="30861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DC0B5-77E7-4816-A46B-5EFBF0F4A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932594"/>
            <a:ext cx="2057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BCB8-FC48-4F76-A628-ED4A1E4FB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6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4C478D-93AC-4A98-9A08-8F9D29F3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0784"/>
            <a:ext cx="788670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3400C-08CC-428A-B85C-A804DDC25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703917"/>
            <a:ext cx="788670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90295-14A5-4675-81B6-414BD04CB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932594"/>
            <a:ext cx="2057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B766B-2122-4F13-AE7D-18E42BCD3B9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8C205-EF07-4D06-A321-956C9953E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932594"/>
            <a:ext cx="30861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DC0B5-77E7-4816-A46B-5EFBF0F4A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932594"/>
            <a:ext cx="20574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BCB8-FC48-4F76-A628-ED4A1E4FB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7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4</a:t>
            </a:r>
          </a:p>
          <a:p>
            <a:r>
              <a:rPr lang="en-US" altLang="en-US" dirty="0"/>
              <a:t>Entity Relationship (ER) Modeling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A031-3722-441A-8BCB-AF8E2EBA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 (beginning – till page 146)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555F0-894B-44D7-8C7F-659B22CC08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3E4F3-1FA6-4AD3-9848-7F57FFF0F912}"/>
              </a:ext>
            </a:extLst>
          </p:cNvPr>
          <p:cNvSpPr txBox="1"/>
          <p:nvPr/>
        </p:nvSpPr>
        <p:spPr>
          <a:xfrm>
            <a:off x="685800" y="1600200"/>
            <a:ext cx="802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cover Relationship Strength next day (pages 123-125)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cover Associative (Composite) Entities next day (pages 136-137)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Relationship Degree -Ternary relationship is not included in the course (unary and binary relationships are included in the course (page 131)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150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Entity Relationship Model (ERM)</a:t>
            </a:r>
          </a:p>
        </p:txBody>
      </p:sp>
      <p:sp>
        <p:nvSpPr>
          <p:cNvPr id="18435" name="Rectangle 1027"/>
          <p:cNvSpPr>
            <a:spLocks noGrp="1" noChangeArrowheads="1"/>
          </p:cNvSpPr>
          <p:nvPr>
            <p:ph idx="1"/>
          </p:nvPr>
        </p:nvSpPr>
        <p:spPr>
          <a:xfrm>
            <a:off x="365125" y="1436230"/>
            <a:ext cx="8415338" cy="3059569"/>
          </a:xfrm>
        </p:spPr>
        <p:txBody>
          <a:bodyPr/>
          <a:lstStyle/>
          <a:p>
            <a:r>
              <a:rPr lang="en-US" altLang="en-US" dirty="0"/>
              <a:t>Forms the basis of an entity relationship diagram (ERD) </a:t>
            </a:r>
          </a:p>
          <a:p>
            <a:pPr lvl="1"/>
            <a:r>
              <a:rPr lang="en-US" altLang="en-US" dirty="0"/>
              <a:t>Conceptual database</a:t>
            </a:r>
          </a:p>
          <a:p>
            <a:r>
              <a:rPr lang="en-US" altLang="en-US" dirty="0"/>
              <a:t>Database’s main components</a:t>
            </a:r>
          </a:p>
          <a:p>
            <a:pPr lvl="1"/>
            <a:r>
              <a:rPr lang="en-US" altLang="en-US" dirty="0"/>
              <a:t>Entities</a:t>
            </a:r>
          </a:p>
          <a:p>
            <a:pPr lvl="1"/>
            <a:r>
              <a:rPr lang="en-US" altLang="en-US" dirty="0"/>
              <a:t>Attributes</a:t>
            </a:r>
          </a:p>
          <a:p>
            <a:pPr lvl="1"/>
            <a:r>
              <a:rPr lang="en-US" altLang="en-US" dirty="0"/>
              <a:t>Relationships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0784"/>
            <a:ext cx="7886700" cy="802216"/>
          </a:xfrm>
        </p:spPr>
        <p:txBody>
          <a:bodyPr/>
          <a:lstStyle/>
          <a:p>
            <a:pPr>
              <a:defRPr/>
            </a:pPr>
            <a:r>
              <a:rPr lang="en-US" b="1" dirty="0"/>
              <a:t>Entities are represented by rectangles</a:t>
            </a:r>
          </a:p>
        </p:txBody>
      </p:sp>
      <p:sp>
        <p:nvSpPr>
          <p:cNvPr id="133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693395" indent="-266690">
              <a:defRPr>
                <a:solidFill>
                  <a:schemeClr val="tx1"/>
                </a:solidFill>
                <a:latin typeface="Arial" charset="0"/>
              </a:defRPr>
            </a:lvl2pPr>
            <a:lvl3pPr marL="1066762" indent="-213352">
              <a:defRPr>
                <a:solidFill>
                  <a:schemeClr val="tx1"/>
                </a:solidFill>
                <a:latin typeface="Arial" charset="0"/>
              </a:defRPr>
            </a:lvl3pPr>
            <a:lvl4pPr marL="1493467" indent="-213352">
              <a:defRPr>
                <a:solidFill>
                  <a:schemeClr val="tx1"/>
                </a:solidFill>
                <a:latin typeface="Arial" charset="0"/>
              </a:defRPr>
            </a:lvl4pPr>
            <a:lvl5pPr marL="1920171" indent="-213352">
              <a:defRPr>
                <a:solidFill>
                  <a:schemeClr val="tx1"/>
                </a:solidFill>
                <a:latin typeface="Arial" charset="0"/>
              </a:defRPr>
            </a:lvl5pPr>
            <a:lvl6pPr marL="234687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73581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0028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26990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/>
            <a:fld id="{504734B2-7559-4257-9D4D-5A1BF7D15563}" type="slidenum">
              <a:rPr lang="en-US">
                <a:solidFill>
                  <a:srgbClr val="0000FF"/>
                </a:solidFill>
                <a:latin typeface="Garamond" pitchFamily="18" charset="0"/>
                <a:ea typeface="+mn-ea"/>
              </a:rPr>
              <a:pPr defTabSz="853410"/>
              <a:t>4</a:t>
            </a:fld>
            <a:endParaRPr lang="en-US">
              <a:solidFill>
                <a:srgbClr val="0000FF"/>
              </a:solidFill>
              <a:latin typeface="Garamond" pitchFamily="18" charset="0"/>
              <a:ea typeface="+mn-ea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1869440" y="1422400"/>
            <a:ext cx="1920240" cy="3508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853410">
              <a:spcBef>
                <a:spcPct val="50000"/>
              </a:spcBef>
            </a:pPr>
            <a:r>
              <a:rPr lang="en-US" sz="1680" b="1" dirty="0">
                <a:solidFill>
                  <a:srgbClr val="0000FF"/>
                </a:solidFill>
                <a:ea typeface="+mn-ea"/>
              </a:rPr>
              <a:t>Customer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1869440" y="1778000"/>
            <a:ext cx="1920240" cy="216059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/>
            <a:r>
              <a:rPr lang="en-US" sz="1680" u="sng" dirty="0" err="1">
                <a:solidFill>
                  <a:srgbClr val="0000FF"/>
                </a:solidFill>
                <a:ea typeface="+mn-ea"/>
              </a:rPr>
              <a:t>CustomerID</a:t>
            </a:r>
            <a:endParaRPr lang="en-US" sz="1680" u="sng" dirty="0">
              <a:solidFill>
                <a:srgbClr val="0000FF"/>
              </a:solidFill>
              <a:ea typeface="+mn-ea"/>
            </a:endParaRPr>
          </a:p>
          <a:p>
            <a:pPr defTabSz="853410"/>
            <a:r>
              <a:rPr lang="en-US" sz="1680" dirty="0" err="1">
                <a:solidFill>
                  <a:srgbClr val="0000FF"/>
                </a:solidFill>
                <a:ea typeface="+mn-ea"/>
              </a:rPr>
              <a:t>LastName</a:t>
            </a:r>
            <a:endParaRPr lang="en-US" sz="1680" dirty="0">
              <a:solidFill>
                <a:srgbClr val="0000FF"/>
              </a:solidFill>
              <a:ea typeface="+mn-ea"/>
            </a:endParaRP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FirstName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Phone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Address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City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State</a:t>
            </a:r>
          </a:p>
          <a:p>
            <a:pPr defTabSz="853410"/>
            <a:r>
              <a:rPr lang="en-US" sz="1680" dirty="0" err="1">
                <a:solidFill>
                  <a:srgbClr val="0000FF"/>
                </a:solidFill>
                <a:ea typeface="+mn-ea"/>
              </a:rPr>
              <a:t>ZipCode</a:t>
            </a:r>
            <a:endParaRPr lang="en-US" sz="1680" dirty="0">
              <a:solidFill>
                <a:srgbClr val="0000FF"/>
              </a:solidFill>
              <a:ea typeface="+mn-ea"/>
            </a:endParaRP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4287520" y="1280161"/>
            <a:ext cx="4409441" cy="319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>
              <a:spcBef>
                <a:spcPct val="50000"/>
              </a:spcBef>
            </a:pPr>
            <a:r>
              <a:rPr lang="en-US" sz="1680" dirty="0">
                <a:solidFill>
                  <a:srgbClr val="0000FF"/>
                </a:solidFill>
                <a:ea typeface="+mn-ea"/>
              </a:rPr>
              <a:t>Here, </a:t>
            </a:r>
            <a:r>
              <a:rPr lang="en-US" sz="1680" b="1" dirty="0">
                <a:solidFill>
                  <a:srgbClr val="0000FF"/>
                </a:solidFill>
                <a:ea typeface="+mn-ea"/>
              </a:rPr>
              <a:t>Customer</a:t>
            </a:r>
            <a:r>
              <a:rPr lang="en-US" sz="1680" dirty="0">
                <a:solidFill>
                  <a:srgbClr val="0000FF"/>
                </a:solidFill>
                <a:ea typeface="+mn-ea"/>
              </a:rPr>
              <a:t> is the entity for which we want to store data</a:t>
            </a:r>
          </a:p>
          <a:p>
            <a:pPr defTabSz="853410">
              <a:spcBef>
                <a:spcPct val="50000"/>
              </a:spcBef>
            </a:pPr>
            <a:r>
              <a:rPr lang="en-US" sz="1680" dirty="0">
                <a:solidFill>
                  <a:srgbClr val="0000FF"/>
                </a:solidFill>
                <a:ea typeface="+mn-ea"/>
              </a:rPr>
              <a:t>The customer entity has </a:t>
            </a:r>
            <a:r>
              <a:rPr lang="en-US" sz="1680" b="1" dirty="0">
                <a:solidFill>
                  <a:srgbClr val="0000FF"/>
                </a:solidFill>
                <a:ea typeface="+mn-ea"/>
              </a:rPr>
              <a:t>8 Attributes</a:t>
            </a:r>
          </a:p>
          <a:p>
            <a:pPr defTabSz="853410">
              <a:spcBef>
                <a:spcPct val="50000"/>
              </a:spcBef>
            </a:pPr>
            <a:r>
              <a:rPr lang="en-US" sz="1680" u="sng" dirty="0" err="1">
                <a:solidFill>
                  <a:srgbClr val="0000FF"/>
                </a:solidFill>
                <a:ea typeface="+mn-ea"/>
              </a:rPr>
              <a:t>CustomerID</a:t>
            </a:r>
            <a:r>
              <a:rPr lang="en-US" sz="1680" u="sng" dirty="0">
                <a:solidFill>
                  <a:srgbClr val="0000FF"/>
                </a:solidFill>
                <a:ea typeface="+mn-ea"/>
              </a:rPr>
              <a:t> </a:t>
            </a:r>
            <a:r>
              <a:rPr lang="en-US" sz="1680" dirty="0">
                <a:solidFill>
                  <a:srgbClr val="0000FF"/>
                </a:solidFill>
                <a:ea typeface="+mn-ea"/>
              </a:rPr>
              <a:t>is the primary key.</a:t>
            </a:r>
          </a:p>
          <a:p>
            <a:pPr defTabSz="853410">
              <a:spcBef>
                <a:spcPct val="50000"/>
              </a:spcBef>
            </a:pPr>
            <a:r>
              <a:rPr lang="en-US" sz="1680" b="1" dirty="0">
                <a:solidFill>
                  <a:srgbClr val="0000FF"/>
                </a:solidFill>
                <a:ea typeface="+mn-ea"/>
              </a:rPr>
              <a:t>Primary key should always be underlined in a conceptual modeling</a:t>
            </a:r>
            <a:r>
              <a:rPr lang="en-US" sz="1680" dirty="0">
                <a:solidFill>
                  <a:srgbClr val="0000FF"/>
                </a:solidFill>
                <a:ea typeface="+mn-ea"/>
              </a:rPr>
              <a:t>. This is very important concept. If you forget to underline primary key in your design, points will be deducted.</a:t>
            </a:r>
          </a:p>
          <a:p>
            <a:pPr defTabSz="853410">
              <a:spcBef>
                <a:spcPct val="50000"/>
              </a:spcBef>
            </a:pPr>
            <a:endParaRPr lang="en-US" sz="1680" b="1" dirty="0">
              <a:solidFill>
                <a:srgbClr val="0000FF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137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0784"/>
            <a:ext cx="7886700" cy="873676"/>
          </a:xfrm>
        </p:spPr>
        <p:txBody>
          <a:bodyPr/>
          <a:lstStyle/>
          <a:p>
            <a:pPr>
              <a:defRPr/>
            </a:pPr>
            <a:r>
              <a:rPr lang="en-US" b="1" dirty="0"/>
              <a:t>Entity Class</a:t>
            </a:r>
          </a:p>
        </p:txBody>
      </p:sp>
      <p:sp>
        <p:nvSpPr>
          <p:cNvPr id="133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693395" indent="-266690">
              <a:defRPr>
                <a:solidFill>
                  <a:schemeClr val="tx1"/>
                </a:solidFill>
                <a:latin typeface="Arial" charset="0"/>
              </a:defRPr>
            </a:lvl2pPr>
            <a:lvl3pPr marL="1066762" indent="-213352">
              <a:defRPr>
                <a:solidFill>
                  <a:schemeClr val="tx1"/>
                </a:solidFill>
                <a:latin typeface="Arial" charset="0"/>
              </a:defRPr>
            </a:lvl3pPr>
            <a:lvl4pPr marL="1493467" indent="-213352">
              <a:defRPr>
                <a:solidFill>
                  <a:schemeClr val="tx1"/>
                </a:solidFill>
                <a:latin typeface="Arial" charset="0"/>
              </a:defRPr>
            </a:lvl4pPr>
            <a:lvl5pPr marL="1920171" indent="-213352">
              <a:defRPr>
                <a:solidFill>
                  <a:schemeClr val="tx1"/>
                </a:solidFill>
                <a:latin typeface="Arial" charset="0"/>
              </a:defRPr>
            </a:lvl5pPr>
            <a:lvl6pPr marL="234687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73581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0028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26990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/>
            <a:fld id="{504734B2-7559-4257-9D4D-5A1BF7D15563}" type="slidenum">
              <a:rPr lang="en-US">
                <a:solidFill>
                  <a:srgbClr val="0000FF"/>
                </a:solidFill>
                <a:latin typeface="Garamond" pitchFamily="18" charset="0"/>
                <a:ea typeface="+mn-ea"/>
              </a:rPr>
              <a:pPr defTabSz="853410"/>
              <a:t>5</a:t>
            </a:fld>
            <a:endParaRPr lang="en-US">
              <a:solidFill>
                <a:srgbClr val="0000FF"/>
              </a:solidFill>
              <a:latin typeface="Garamond" pitchFamily="18" charset="0"/>
              <a:ea typeface="+mn-ea"/>
            </a:endParaRP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1869440" y="1422400"/>
            <a:ext cx="1920240" cy="3508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853410">
              <a:spcBef>
                <a:spcPct val="50000"/>
              </a:spcBef>
            </a:pPr>
            <a:r>
              <a:rPr lang="en-US" sz="1680" b="1" dirty="0">
                <a:solidFill>
                  <a:srgbClr val="0000FF"/>
                </a:solidFill>
                <a:ea typeface="+mn-ea"/>
              </a:rPr>
              <a:t>Customer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1869440" y="1778000"/>
            <a:ext cx="1920240" cy="216059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/>
            <a:r>
              <a:rPr lang="en-US" sz="1680" u="sng" dirty="0" err="1">
                <a:solidFill>
                  <a:srgbClr val="0000FF"/>
                </a:solidFill>
                <a:ea typeface="+mn-ea"/>
              </a:rPr>
              <a:t>CustomerID</a:t>
            </a:r>
            <a:endParaRPr lang="en-US" sz="1680" u="sng" dirty="0">
              <a:solidFill>
                <a:srgbClr val="0000FF"/>
              </a:solidFill>
              <a:ea typeface="+mn-ea"/>
            </a:endParaRPr>
          </a:p>
          <a:p>
            <a:pPr defTabSz="853410"/>
            <a:r>
              <a:rPr lang="en-US" sz="1680" dirty="0" err="1">
                <a:solidFill>
                  <a:srgbClr val="0000FF"/>
                </a:solidFill>
                <a:ea typeface="+mn-ea"/>
              </a:rPr>
              <a:t>LastName</a:t>
            </a:r>
            <a:endParaRPr lang="en-US" sz="1680" dirty="0">
              <a:solidFill>
                <a:srgbClr val="0000FF"/>
              </a:solidFill>
              <a:ea typeface="+mn-ea"/>
            </a:endParaRP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FirstName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Phone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Address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City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State</a:t>
            </a:r>
          </a:p>
          <a:p>
            <a:pPr defTabSz="853410"/>
            <a:r>
              <a:rPr lang="en-US" sz="1680" dirty="0" err="1">
                <a:solidFill>
                  <a:srgbClr val="0000FF"/>
                </a:solidFill>
                <a:ea typeface="+mn-ea"/>
              </a:rPr>
              <a:t>ZipCode</a:t>
            </a:r>
            <a:endParaRPr lang="en-US" sz="1680" dirty="0">
              <a:solidFill>
                <a:srgbClr val="0000FF"/>
              </a:solidFill>
              <a:ea typeface="+mn-ea"/>
            </a:endParaRP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4714240" y="1456479"/>
            <a:ext cx="1955985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>
              <a:spcBef>
                <a:spcPct val="50000"/>
              </a:spcBef>
            </a:pPr>
            <a:r>
              <a:rPr lang="en-US" sz="1680" dirty="0">
                <a:solidFill>
                  <a:srgbClr val="0000FF"/>
                </a:solidFill>
                <a:ea typeface="+mn-ea"/>
              </a:rPr>
              <a:t>Entity/Class Name</a:t>
            </a: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4714241" y="2309919"/>
            <a:ext cx="2138727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>
              <a:spcBef>
                <a:spcPct val="50000"/>
              </a:spcBef>
            </a:pPr>
            <a:r>
              <a:rPr lang="en-US" sz="1680">
                <a:solidFill>
                  <a:srgbClr val="0000FF"/>
                </a:solidFill>
                <a:ea typeface="+mn-ea"/>
              </a:rPr>
              <a:t>Attributes/Properties</a:t>
            </a:r>
          </a:p>
        </p:txBody>
      </p:sp>
      <p:sp>
        <p:nvSpPr>
          <p:cNvPr id="13320" name="Line 10"/>
          <p:cNvSpPr>
            <a:spLocks noChangeShapeType="1"/>
          </p:cNvSpPr>
          <p:nvPr/>
        </p:nvSpPr>
        <p:spPr bwMode="auto">
          <a:xfrm flipH="1" flipV="1">
            <a:off x="3860800" y="2418080"/>
            <a:ext cx="71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algn="ctr" defTabSz="853410">
              <a:spcBef>
                <a:spcPct val="50000"/>
              </a:spcBef>
            </a:pPr>
            <a:endParaRPr lang="en-US" sz="1680">
              <a:solidFill>
                <a:srgbClr val="0000FF"/>
              </a:solidFill>
              <a:latin typeface="Arial" charset="0"/>
              <a:ea typeface="+mn-ea"/>
            </a:endParaRPr>
          </a:p>
        </p:txBody>
      </p:sp>
      <p:sp>
        <p:nvSpPr>
          <p:cNvPr id="13321" name="Line 11"/>
          <p:cNvSpPr>
            <a:spLocks noChangeShapeType="1"/>
          </p:cNvSpPr>
          <p:nvPr/>
        </p:nvSpPr>
        <p:spPr bwMode="auto">
          <a:xfrm flipH="1" flipV="1">
            <a:off x="3860800" y="1564640"/>
            <a:ext cx="71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pPr algn="ctr" defTabSz="853410">
              <a:spcBef>
                <a:spcPct val="50000"/>
              </a:spcBef>
            </a:pPr>
            <a:endParaRPr lang="en-US" sz="1680">
              <a:solidFill>
                <a:srgbClr val="0000FF"/>
              </a:solidFill>
              <a:latin typeface="Arial" charset="0"/>
              <a:ea typeface="+mn-ea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51F7FEDB-306E-4164-95EA-3AB114AFEB4B}"/>
              </a:ext>
            </a:extLst>
          </p:cNvPr>
          <p:cNvSpPr/>
          <p:nvPr/>
        </p:nvSpPr>
        <p:spPr>
          <a:xfrm>
            <a:off x="6852968" y="1422400"/>
            <a:ext cx="421592" cy="251619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28748-A42C-4953-98BC-6030645E7107}"/>
              </a:ext>
            </a:extLst>
          </p:cNvPr>
          <p:cNvSpPr txBox="1"/>
          <p:nvPr/>
        </p:nvSpPr>
        <p:spPr>
          <a:xfrm>
            <a:off x="7635288" y="2309919"/>
            <a:ext cx="1173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Entity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0784"/>
            <a:ext cx="7886700" cy="95461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Types of Attributes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/>
              <a:t>Required vs Optional</a:t>
            </a:r>
          </a:p>
          <a:p>
            <a:pPr eaLnBrk="1" hangingPunct="1"/>
            <a:r>
              <a:rPr lang="en-US" sz="2400" dirty="0"/>
              <a:t>Simple vs Composite</a:t>
            </a:r>
          </a:p>
          <a:p>
            <a:pPr eaLnBrk="1" hangingPunct="1"/>
            <a:r>
              <a:rPr lang="en-US" sz="2400" dirty="0"/>
              <a:t>Single-valued vs Multivalued</a:t>
            </a:r>
          </a:p>
          <a:p>
            <a:pPr eaLnBrk="1" hangingPunct="1"/>
            <a:r>
              <a:rPr lang="en-US" sz="2400" dirty="0"/>
              <a:t>Stored vs Derived</a:t>
            </a:r>
          </a:p>
        </p:txBody>
      </p:sp>
    </p:spTree>
    <p:extLst>
      <p:ext uri="{BB962C8B-B14F-4D97-AF65-F5344CB8AC3E}">
        <p14:creationId xmlns:p14="http://schemas.microsoft.com/office/powerpoint/2010/main" val="280376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Required vs Optional Attributes</a:t>
            </a:r>
          </a:p>
        </p:txBody>
      </p:sp>
      <p:pic>
        <p:nvPicPr>
          <p:cNvPr id="2" name="Picture 1" descr="In Figure 4.1, Chen and Crow's Foot notation are used to depict attributes of the student entity including their name, initial, email, and phone number.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20" t="13363" r="8412"/>
          <a:stretch/>
        </p:blipFill>
        <p:spPr>
          <a:xfrm>
            <a:off x="2362200" y="1371600"/>
            <a:ext cx="3809999" cy="3352800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944880" y="5831840"/>
            <a:ext cx="1778000" cy="426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defTabSz="853410" eaLnBrk="1" hangingPunct="1">
              <a:spcBef>
                <a:spcPct val="0"/>
              </a:spcBef>
              <a:buClrTx/>
              <a:buNone/>
            </a:pPr>
            <a:endParaRPr lang="en-US" altLang="en-US" sz="224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220720" y="5831840"/>
            <a:ext cx="2702560" cy="426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defTabSz="853410" eaLnBrk="1" hangingPunct="1">
              <a:spcBef>
                <a:spcPct val="0"/>
              </a:spcBef>
              <a:buClrTx/>
              <a:buNone/>
            </a:pPr>
            <a:endParaRPr lang="en-US" altLang="en-US" sz="224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731520" y="142240"/>
            <a:ext cx="7396480" cy="897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937" tIns="42969" rIns="85937" bIns="42969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defTabSz="85341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FF0066"/>
                </a:solidFill>
                <a:latin typeface="Arial"/>
                <a:ea typeface="+mn-ea"/>
              </a:rPr>
              <a:t>Composite and Multivalued Attributes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731520" y="1586866"/>
            <a:ext cx="8107680" cy="431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937" tIns="42969" rIns="85937" bIns="42969"/>
          <a:lstStyle>
            <a:lvl1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20029" indent="-320029" algn="ctr" defTabSz="853410">
              <a:buClr>
                <a:srgbClr val="FF0066"/>
              </a:buClr>
              <a:buSzPct val="70000"/>
              <a:buFont typeface="Wingdings" pitchFamily="2" charset="2"/>
              <a:buChar char="u"/>
            </a:pPr>
            <a:r>
              <a:rPr kumimoji="1" lang="en-US" altLang="en-US" sz="2240" b="1" dirty="0">
                <a:solidFill>
                  <a:srgbClr val="0000FF"/>
                </a:solidFill>
                <a:latin typeface="Arial"/>
                <a:ea typeface="+mn-ea"/>
              </a:rPr>
              <a:t>Attribute types: </a:t>
            </a:r>
          </a:p>
          <a:p>
            <a:pPr marL="693395" lvl="1" indent="-266690" algn="ctr" defTabSz="853410">
              <a:buClr>
                <a:srgbClr val="0000FF"/>
              </a:buClr>
              <a:buSzPct val="75000"/>
              <a:buFont typeface="Wingdings" pitchFamily="2" charset="2"/>
              <a:buChar char="n"/>
            </a:pPr>
            <a:r>
              <a:rPr kumimoji="1" lang="en-US" altLang="en-US" sz="2240" dirty="0">
                <a:solidFill>
                  <a:srgbClr val="FF0000"/>
                </a:solidFill>
                <a:latin typeface="Arial"/>
                <a:ea typeface="+mn-ea"/>
              </a:rPr>
              <a:t>Simple </a:t>
            </a:r>
            <a:r>
              <a:rPr kumimoji="1" lang="en-US" altLang="en-US" sz="2240" dirty="0">
                <a:solidFill>
                  <a:srgbClr val="0000FF"/>
                </a:solidFill>
                <a:latin typeface="Arial"/>
                <a:ea typeface="+mn-ea"/>
              </a:rPr>
              <a:t>(atomic) vs. </a:t>
            </a:r>
            <a:r>
              <a:rPr kumimoji="1" lang="en-US" altLang="en-US" sz="2240" dirty="0">
                <a:solidFill>
                  <a:srgbClr val="FF0000"/>
                </a:solidFill>
                <a:latin typeface="Arial"/>
                <a:ea typeface="+mn-ea"/>
              </a:rPr>
              <a:t>composite</a:t>
            </a:r>
            <a:r>
              <a:rPr kumimoji="1" lang="en-US" altLang="en-US" sz="2240" dirty="0">
                <a:solidFill>
                  <a:srgbClr val="0000FF"/>
                </a:solidFill>
                <a:latin typeface="Arial"/>
                <a:ea typeface="+mn-ea"/>
              </a:rPr>
              <a:t> attributes</a:t>
            </a:r>
          </a:p>
          <a:p>
            <a:pPr marL="1066762" lvl="2" indent="-213352" algn="ctr" defTabSz="853410">
              <a:buClr>
                <a:srgbClr val="0000FF"/>
              </a:buClr>
              <a:buSzPct val="65000"/>
              <a:buNone/>
            </a:pPr>
            <a:endParaRPr kumimoji="1" lang="en-US" altLang="en-US" sz="2240" dirty="0">
              <a:solidFill>
                <a:srgbClr val="0000FF"/>
              </a:solidFill>
              <a:latin typeface="Arial"/>
              <a:ea typeface="+mn-ea"/>
            </a:endParaRPr>
          </a:p>
          <a:p>
            <a:pPr marL="1066762" lvl="2" indent="-213352" algn="ctr" defTabSz="853410">
              <a:buClr>
                <a:srgbClr val="0000FF"/>
              </a:buClr>
              <a:buSzPct val="65000"/>
              <a:buNone/>
            </a:pPr>
            <a:r>
              <a:rPr kumimoji="1" lang="en-US" altLang="en-US" sz="1867" dirty="0">
                <a:solidFill>
                  <a:srgbClr val="0000FF"/>
                </a:solidFill>
                <a:latin typeface="Arial"/>
                <a:ea typeface="+mn-ea"/>
              </a:rPr>
              <a:t>cannot be subdivided		 can be subdivided</a:t>
            </a:r>
          </a:p>
          <a:p>
            <a:pPr marL="1066762" lvl="2" indent="-213352" algn="ctr" defTabSz="853410">
              <a:buClr>
                <a:srgbClr val="0000FF"/>
              </a:buClr>
              <a:buSzPct val="65000"/>
              <a:buNone/>
            </a:pPr>
            <a:r>
              <a:rPr kumimoji="1" lang="en-US" altLang="en-US" sz="1867" dirty="0">
                <a:solidFill>
                  <a:srgbClr val="0000FF"/>
                </a:solidFill>
                <a:latin typeface="Arial"/>
                <a:ea typeface="+mn-ea"/>
              </a:rPr>
              <a:t>e.g., Gender, Age, </a:t>
            </a:r>
            <a:r>
              <a:rPr kumimoji="1" lang="en-US" altLang="en-US" sz="1867" dirty="0" err="1">
                <a:solidFill>
                  <a:srgbClr val="0000FF"/>
                </a:solidFill>
                <a:latin typeface="Arial"/>
                <a:ea typeface="+mn-ea"/>
              </a:rPr>
              <a:t>First_Name</a:t>
            </a:r>
            <a:r>
              <a:rPr kumimoji="1" lang="en-US" altLang="en-US" sz="1867" dirty="0">
                <a:solidFill>
                  <a:srgbClr val="0000FF"/>
                </a:solidFill>
                <a:latin typeface="Arial"/>
                <a:ea typeface="+mn-ea"/>
              </a:rPr>
              <a:t>	 e.g. Name (last, first, middle); 				             Address  (street#, city, state,                     	                                    </a:t>
            </a:r>
            <a:r>
              <a:rPr kumimoji="1" lang="en-US" altLang="en-US" sz="1867" dirty="0" err="1">
                <a:solidFill>
                  <a:srgbClr val="0000FF"/>
                </a:solidFill>
                <a:latin typeface="Arial"/>
                <a:ea typeface="+mn-ea"/>
              </a:rPr>
              <a:t>ZIP_Code</a:t>
            </a:r>
            <a:r>
              <a:rPr kumimoji="1" lang="en-US" altLang="en-US" sz="1867" dirty="0">
                <a:solidFill>
                  <a:srgbClr val="0000FF"/>
                </a:solidFill>
                <a:latin typeface="Arial"/>
                <a:ea typeface="+mn-ea"/>
              </a:rPr>
              <a:t>)</a:t>
            </a:r>
          </a:p>
          <a:p>
            <a:pPr marL="693395" lvl="1" indent="-266690" algn="ctr" defTabSz="853410">
              <a:buClr>
                <a:srgbClr val="0000FF"/>
              </a:buClr>
              <a:buSzPct val="75000"/>
              <a:buFont typeface="Wingdings" pitchFamily="2" charset="2"/>
              <a:buChar char="n"/>
            </a:pPr>
            <a:r>
              <a:rPr kumimoji="1" lang="en-US" altLang="en-US" sz="2240" dirty="0">
                <a:solidFill>
                  <a:srgbClr val="FF0000"/>
                </a:solidFill>
                <a:latin typeface="Arial"/>
                <a:ea typeface="+mn-ea"/>
              </a:rPr>
              <a:t>Single-valued</a:t>
            </a:r>
            <a:r>
              <a:rPr kumimoji="1" lang="en-US" altLang="en-US" sz="2240" dirty="0">
                <a:solidFill>
                  <a:srgbClr val="0000FF"/>
                </a:solidFill>
                <a:latin typeface="Arial"/>
                <a:ea typeface="+mn-ea"/>
              </a:rPr>
              <a:t> vs. </a:t>
            </a:r>
            <a:r>
              <a:rPr kumimoji="1" lang="en-US" altLang="en-US" sz="2240" dirty="0">
                <a:solidFill>
                  <a:srgbClr val="FF0000"/>
                </a:solidFill>
                <a:latin typeface="Arial"/>
                <a:ea typeface="+mn-ea"/>
              </a:rPr>
              <a:t>Multi-valued</a:t>
            </a:r>
            <a:r>
              <a:rPr kumimoji="1" lang="en-US" altLang="en-US" sz="2240" dirty="0">
                <a:solidFill>
                  <a:srgbClr val="0000FF"/>
                </a:solidFill>
                <a:latin typeface="Arial"/>
                <a:ea typeface="+mn-ea"/>
              </a:rPr>
              <a:t> attributes</a:t>
            </a:r>
          </a:p>
          <a:p>
            <a:pPr marL="693395" lvl="1" indent="-266690" algn="ctr" defTabSz="853410">
              <a:buClr>
                <a:srgbClr val="0000FF"/>
              </a:buClr>
              <a:buSzPct val="75000"/>
              <a:buNone/>
            </a:pPr>
            <a:r>
              <a:rPr kumimoji="1" lang="en-US" altLang="en-US" sz="2240" dirty="0">
                <a:solidFill>
                  <a:srgbClr val="0000FF"/>
                </a:solidFill>
                <a:latin typeface="Arial"/>
                <a:ea typeface="+mn-ea"/>
              </a:rPr>
              <a:t>     </a:t>
            </a:r>
          </a:p>
          <a:p>
            <a:pPr marL="693395" lvl="1" indent="-266690" algn="ctr" defTabSz="853410">
              <a:buClr>
                <a:srgbClr val="0000FF"/>
              </a:buClr>
              <a:buSzPct val="75000"/>
              <a:buNone/>
            </a:pPr>
            <a:r>
              <a:rPr kumimoji="1" lang="en-US" altLang="en-US" sz="2240" dirty="0">
                <a:solidFill>
                  <a:srgbClr val="0000FF"/>
                </a:solidFill>
                <a:latin typeface="Arial"/>
                <a:ea typeface="+mn-ea"/>
              </a:rPr>
              <a:t>    one value only		  </a:t>
            </a:r>
            <a:r>
              <a:rPr kumimoji="1" lang="en-US" altLang="en-US" sz="1867" dirty="0">
                <a:solidFill>
                  <a:srgbClr val="0000FF"/>
                </a:solidFill>
                <a:latin typeface="Arial"/>
                <a:ea typeface="+mn-ea"/>
              </a:rPr>
              <a:t>more than one value</a:t>
            </a:r>
          </a:p>
          <a:p>
            <a:pPr marL="1066762" lvl="2" indent="-213352" algn="ctr" defTabSz="853410">
              <a:buClr>
                <a:srgbClr val="0000FF"/>
              </a:buClr>
              <a:buSzPct val="65000"/>
              <a:buNone/>
            </a:pPr>
            <a:r>
              <a:rPr kumimoji="1" lang="en-US" altLang="en-US" sz="1867" dirty="0">
                <a:solidFill>
                  <a:srgbClr val="0000FF"/>
                </a:solidFill>
                <a:latin typeface="Arial"/>
                <a:ea typeface="+mn-ea"/>
              </a:rPr>
              <a:t>					  e.g. hobbies for a person</a:t>
            </a:r>
          </a:p>
          <a:p>
            <a:pPr marL="1066762" lvl="2" indent="-213352" algn="ctr" defTabSz="853410">
              <a:buClr>
                <a:srgbClr val="0000FF"/>
              </a:buClr>
              <a:buSzPct val="65000"/>
              <a:buNone/>
            </a:pPr>
            <a:r>
              <a:rPr kumimoji="1" lang="en-US" altLang="en-US" sz="1867" dirty="0">
                <a:solidFill>
                  <a:srgbClr val="0000FF"/>
                </a:solidFill>
                <a:latin typeface="Arial"/>
                <a:ea typeface="+mn-ea"/>
              </a:rPr>
              <a:t>					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513840" y="2844800"/>
            <a:ext cx="3529330" cy="83121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defTabSz="853410" eaLnBrk="1" hangingPunct="1">
              <a:spcBef>
                <a:spcPct val="0"/>
              </a:spcBef>
              <a:buClrTx/>
              <a:buNone/>
            </a:pPr>
            <a:endParaRPr lang="en-US" altLang="en-US" sz="224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5069840" y="2844800"/>
            <a:ext cx="3342640" cy="128016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defTabSz="853410" eaLnBrk="1" hangingPunct="1">
              <a:spcBef>
                <a:spcPct val="0"/>
              </a:spcBef>
              <a:buClrTx/>
              <a:buNone/>
            </a:pPr>
            <a:endParaRPr lang="en-US" altLang="en-US" sz="224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 flipH="1" flipV="1">
            <a:off x="2651760" y="2418080"/>
            <a:ext cx="71120" cy="426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853410">
              <a:spcBef>
                <a:spcPct val="50000"/>
              </a:spcBef>
            </a:pPr>
            <a:endParaRPr lang="en-US" sz="168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 flipH="1" flipV="1">
            <a:off x="5425440" y="2418080"/>
            <a:ext cx="1493520" cy="426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853410">
              <a:spcBef>
                <a:spcPct val="50000"/>
              </a:spcBef>
            </a:pPr>
            <a:endParaRPr lang="en-US" sz="168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1571625" y="4933950"/>
            <a:ext cx="2702555" cy="49339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defTabSz="853410" eaLnBrk="1" hangingPunct="1">
              <a:spcBef>
                <a:spcPct val="0"/>
              </a:spcBef>
              <a:buClrTx/>
              <a:buNone/>
            </a:pPr>
            <a:endParaRPr lang="en-US" altLang="en-US" sz="224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5043170" y="4947285"/>
            <a:ext cx="3484880" cy="106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sz="3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sz="28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sz="2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defTabSz="853410" eaLnBrk="1" hangingPunct="1">
              <a:spcBef>
                <a:spcPct val="0"/>
              </a:spcBef>
              <a:buClrTx/>
              <a:buNone/>
            </a:pPr>
            <a:endParaRPr lang="en-US" altLang="en-US" sz="224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 flipV="1">
            <a:off x="2509520" y="4458335"/>
            <a:ext cx="21336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853410">
              <a:spcBef>
                <a:spcPct val="50000"/>
              </a:spcBef>
            </a:pPr>
            <a:endParaRPr lang="en-US" sz="1680">
              <a:solidFill>
                <a:srgbClr val="0000FF"/>
              </a:solidFill>
              <a:latin typeface="Arial"/>
              <a:ea typeface="+mn-ea"/>
            </a:endParaRPr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 rot="521369" flipH="1" flipV="1">
            <a:off x="4983903" y="4517602"/>
            <a:ext cx="1564640" cy="2844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853410">
              <a:spcBef>
                <a:spcPct val="50000"/>
              </a:spcBef>
            </a:pPr>
            <a:endParaRPr lang="en-US" sz="1680">
              <a:solidFill>
                <a:srgbClr val="0000FF"/>
              </a:solidFill>
              <a:latin typeface="Arial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288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Multivalued Attributes</a:t>
            </a:r>
          </a:p>
        </p:txBody>
      </p:sp>
      <p:pic>
        <p:nvPicPr>
          <p:cNvPr id="2" name="Picture 1" descr="In Figure 4.2, Chen and Crow's Foot notation are used to depict a multivalued attribute in an entity using car information including VIN, model code, year, and color.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33600"/>
            <a:ext cx="8380301" cy="229017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Courses of Actions for Multivalued Attributes 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65125" y="1436231"/>
            <a:ext cx="8415338" cy="1838965"/>
          </a:xfrm>
        </p:spPr>
        <p:txBody>
          <a:bodyPr/>
          <a:lstStyle/>
          <a:p>
            <a:r>
              <a:rPr lang="en-US" altLang="en-US" dirty="0"/>
              <a:t>Requirements of multivalued attributes</a:t>
            </a:r>
          </a:p>
          <a:p>
            <a:pPr lvl="1"/>
            <a:r>
              <a:rPr lang="en-US" altLang="en-US" dirty="0"/>
              <a:t>Create several new attributes, one for each component of the original multivalued attribute</a:t>
            </a:r>
          </a:p>
          <a:p>
            <a:pPr lvl="1"/>
            <a:r>
              <a:rPr lang="en-US" altLang="en-US" dirty="0"/>
              <a:t>Develop a new entity composed of the original multivalued attribute’s components</a:t>
            </a:r>
          </a:p>
          <a:p>
            <a:pPr lvl="1"/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3A51B0-6886-5745-70BD-FC48F92FCDE8}"/>
              </a:ext>
            </a:extLst>
          </p:cNvPr>
          <p:cNvSpPr/>
          <p:nvPr/>
        </p:nvSpPr>
        <p:spPr>
          <a:xfrm>
            <a:off x="685800" y="2362200"/>
            <a:ext cx="7162800" cy="5334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Create several new attributes</a:t>
            </a:r>
          </a:p>
        </p:txBody>
      </p:sp>
      <p:pic>
        <p:nvPicPr>
          <p:cNvPr id="2" name="Picture 1" descr="In Figure 4.4, Chen and Crow's Foot notation are used to depict splitting the car color into top, trim, and body color.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81200"/>
            <a:ext cx="7510526" cy="253185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419CE6-534D-48A0-BE77-D32AE726A9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D3313-7372-4F68-B1EC-4A9F0DE905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33" t="24814" r="24167" b="38148"/>
          <a:stretch/>
        </p:blipFill>
        <p:spPr>
          <a:xfrm>
            <a:off x="1219200" y="1905001"/>
            <a:ext cx="5715000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335A6E-4E8D-42AC-BB5D-9459F908E24D}"/>
              </a:ext>
            </a:extLst>
          </p:cNvPr>
          <p:cNvSpPr txBox="1"/>
          <p:nvPr/>
        </p:nvSpPr>
        <p:spPr>
          <a:xfrm>
            <a:off x="365129" y="685800"/>
            <a:ext cx="816927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Develop a new entity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65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0784"/>
            <a:ext cx="7886700" cy="687454"/>
          </a:xfrm>
        </p:spPr>
        <p:txBody>
          <a:bodyPr/>
          <a:lstStyle/>
          <a:p>
            <a:pPr>
              <a:defRPr/>
            </a:pPr>
            <a:r>
              <a:rPr lang="en-US" b="1" dirty="0"/>
              <a:t>Derived/Computed Attributes</a:t>
            </a:r>
          </a:p>
        </p:txBody>
      </p:sp>
      <p:sp>
        <p:nvSpPr>
          <p:cNvPr id="235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693395" indent="-266690">
              <a:defRPr>
                <a:solidFill>
                  <a:schemeClr val="tx1"/>
                </a:solidFill>
                <a:latin typeface="Arial" charset="0"/>
              </a:defRPr>
            </a:lvl2pPr>
            <a:lvl3pPr marL="1066762" indent="-213352">
              <a:defRPr>
                <a:solidFill>
                  <a:schemeClr val="tx1"/>
                </a:solidFill>
                <a:latin typeface="Arial" charset="0"/>
              </a:defRPr>
            </a:lvl3pPr>
            <a:lvl4pPr marL="1493467" indent="-213352">
              <a:defRPr>
                <a:solidFill>
                  <a:schemeClr val="tx1"/>
                </a:solidFill>
                <a:latin typeface="Arial" charset="0"/>
              </a:defRPr>
            </a:lvl4pPr>
            <a:lvl5pPr marL="1920171" indent="-213352">
              <a:defRPr>
                <a:solidFill>
                  <a:schemeClr val="tx1"/>
                </a:solidFill>
                <a:latin typeface="Arial" charset="0"/>
              </a:defRPr>
            </a:lvl5pPr>
            <a:lvl6pPr marL="234687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73581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0028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26990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/>
            <a:fld id="{0AF41A1B-2FAF-4196-89B6-C001BAF15515}" type="slidenum">
              <a:rPr lang="en-US">
                <a:solidFill>
                  <a:srgbClr val="0000FF"/>
                </a:solidFill>
                <a:latin typeface="Garamond" pitchFamily="18" charset="0"/>
                <a:ea typeface="+mn-ea"/>
              </a:rPr>
              <a:pPr defTabSz="853410"/>
              <a:t>13</a:t>
            </a:fld>
            <a:endParaRPr lang="en-US">
              <a:solidFill>
                <a:srgbClr val="0000FF"/>
              </a:solidFill>
              <a:latin typeface="Garamond" pitchFamily="18" charset="0"/>
              <a:ea typeface="+mn-ea"/>
            </a:endParaRP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1656080" y="1278616"/>
            <a:ext cx="5506720" cy="345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5937" tIns="42969" rIns="85937" bIns="42969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/>
            <a:r>
              <a:rPr lang="en-US" sz="1680" dirty="0">
                <a:solidFill>
                  <a:srgbClr val="0000FF"/>
                </a:solidFill>
                <a:ea typeface="+mn-ea"/>
              </a:rPr>
              <a:t>Denote computed values with a preceding slash (/).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2225040" y="2133600"/>
            <a:ext cx="1635760" cy="163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defTabSz="853410"/>
            <a:r>
              <a:rPr lang="en-US" sz="1680" dirty="0">
                <a:solidFill>
                  <a:srgbClr val="0000FF"/>
                </a:solidFill>
                <a:latin typeface="Arial" charset="0"/>
                <a:ea typeface="+mn-ea"/>
              </a:rPr>
              <a:t>Employee</a:t>
            </a:r>
          </a:p>
          <a:p>
            <a:pPr defTabSz="853410"/>
            <a:r>
              <a:rPr lang="en-US" sz="1680" u="sng" dirty="0" err="1">
                <a:solidFill>
                  <a:srgbClr val="0000FF"/>
                </a:solidFill>
                <a:latin typeface="Arial" charset="0"/>
                <a:ea typeface="+mn-ea"/>
              </a:rPr>
              <a:t>EmpID</a:t>
            </a:r>
            <a:endParaRPr lang="en-US" sz="1680" u="sng" dirty="0">
              <a:solidFill>
                <a:srgbClr val="0000FF"/>
              </a:solidFill>
              <a:latin typeface="Arial" charset="0"/>
              <a:ea typeface="+mn-ea"/>
            </a:endParaRPr>
          </a:p>
          <a:p>
            <a:pPr defTabSz="853410"/>
            <a:r>
              <a:rPr lang="en-US" sz="1680" dirty="0">
                <a:solidFill>
                  <a:srgbClr val="0000FF"/>
                </a:solidFill>
                <a:latin typeface="Arial" charset="0"/>
                <a:ea typeface="+mn-ea"/>
              </a:rPr>
              <a:t>Name</a:t>
            </a:r>
          </a:p>
          <a:p>
            <a:pPr defTabSz="853410"/>
            <a:r>
              <a:rPr lang="en-US" sz="1680" dirty="0" err="1">
                <a:solidFill>
                  <a:srgbClr val="0000FF"/>
                </a:solidFill>
                <a:latin typeface="Arial" charset="0"/>
                <a:ea typeface="+mn-ea"/>
              </a:rPr>
              <a:t>DateOfBirth</a:t>
            </a:r>
            <a:endParaRPr lang="en-US" sz="1680" dirty="0">
              <a:solidFill>
                <a:srgbClr val="0000FF"/>
              </a:solidFill>
              <a:latin typeface="Arial" charset="0"/>
              <a:ea typeface="+mn-ea"/>
            </a:endParaRPr>
          </a:p>
          <a:p>
            <a:pPr defTabSz="853410"/>
            <a:r>
              <a:rPr lang="en-US" sz="1680" dirty="0">
                <a:solidFill>
                  <a:srgbClr val="0000FF"/>
                </a:solidFill>
                <a:latin typeface="Arial" charset="0"/>
                <a:ea typeface="+mn-ea"/>
              </a:rPr>
              <a:t>/Age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latin typeface="Arial" charset="0"/>
                <a:ea typeface="+mn-ea"/>
              </a:rPr>
              <a:t>Phone</a:t>
            </a:r>
          </a:p>
          <a:p>
            <a:pPr defTabSz="853410"/>
            <a:r>
              <a:rPr lang="en-US" sz="1680" dirty="0">
                <a:solidFill>
                  <a:srgbClr val="0000FF"/>
                </a:solidFill>
                <a:latin typeface="Arial" charset="0"/>
                <a:ea typeface="+mn-ea"/>
              </a:rPr>
              <a:t>… </a:t>
            </a: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225040" y="2418080"/>
            <a:ext cx="163576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853410">
              <a:spcBef>
                <a:spcPct val="50000"/>
              </a:spcBef>
            </a:pPr>
            <a:endParaRPr lang="en-US" sz="1680" dirty="0">
              <a:solidFill>
                <a:srgbClr val="0000FF"/>
              </a:solidFill>
              <a:latin typeface="Arial" charset="0"/>
              <a:ea typeface="+mn-ea"/>
            </a:endParaRPr>
          </a:p>
        </p:txBody>
      </p:sp>
      <p:grpSp>
        <p:nvGrpSpPr>
          <p:cNvPr id="23559" name="Group 11"/>
          <p:cNvGrpSpPr>
            <a:grpSpLocks/>
          </p:cNvGrpSpPr>
          <p:nvPr/>
        </p:nvGrpSpPr>
        <p:grpSpPr bwMode="auto">
          <a:xfrm>
            <a:off x="4997237" y="2773680"/>
            <a:ext cx="2545503" cy="640080"/>
            <a:chOff x="3647" y="1968"/>
            <a:chExt cx="1718" cy="432"/>
          </a:xfrm>
        </p:grpSpPr>
        <p:sp>
          <p:nvSpPr>
            <p:cNvPr id="23561" name="Freeform 8"/>
            <p:cNvSpPr>
              <a:spLocks/>
            </p:cNvSpPr>
            <p:nvPr/>
          </p:nvSpPr>
          <p:spPr bwMode="auto">
            <a:xfrm>
              <a:off x="3696" y="1968"/>
              <a:ext cx="1632" cy="432"/>
            </a:xfrm>
            <a:custGeom>
              <a:avLst/>
              <a:gdLst>
                <a:gd name="T0" fmla="*/ 12906 w 1392"/>
                <a:gd name="T1" fmla="*/ 2 h 576"/>
                <a:gd name="T2" fmla="*/ 12906 w 1392"/>
                <a:gd name="T3" fmla="*/ 10 h 576"/>
                <a:gd name="T4" fmla="*/ 0 w 1392"/>
                <a:gd name="T5" fmla="*/ 10 h 576"/>
                <a:gd name="T6" fmla="*/ 0 w 1392"/>
                <a:gd name="T7" fmla="*/ 0 h 576"/>
                <a:gd name="T8" fmla="*/ 12011 w 1392"/>
                <a:gd name="T9" fmla="*/ 0 h 576"/>
                <a:gd name="T10" fmla="*/ 12906 w 1392"/>
                <a:gd name="T11" fmla="*/ 2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2"/>
                <a:gd name="T19" fmla="*/ 0 h 576"/>
                <a:gd name="T20" fmla="*/ 1392 w 1392"/>
                <a:gd name="T21" fmla="*/ 576 h 5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2" h="576">
                  <a:moveTo>
                    <a:pt x="1392" y="144"/>
                  </a:moveTo>
                  <a:lnTo>
                    <a:pt x="1392" y="576"/>
                  </a:lnTo>
                  <a:lnTo>
                    <a:pt x="0" y="576"/>
                  </a:lnTo>
                  <a:lnTo>
                    <a:pt x="0" y="0"/>
                  </a:lnTo>
                  <a:lnTo>
                    <a:pt x="1296" y="0"/>
                  </a:lnTo>
                  <a:lnTo>
                    <a:pt x="1392" y="144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23562" name="Freeform 9"/>
            <p:cNvSpPr>
              <a:spLocks/>
            </p:cNvSpPr>
            <p:nvPr/>
          </p:nvSpPr>
          <p:spPr bwMode="auto">
            <a:xfrm>
              <a:off x="5169" y="1968"/>
              <a:ext cx="151" cy="113"/>
            </a:xfrm>
            <a:custGeom>
              <a:avLst/>
              <a:gdLst>
                <a:gd name="T0" fmla="*/ 93 w 144"/>
                <a:gd name="T1" fmla="*/ 0 h 144"/>
                <a:gd name="T2" fmla="*/ 0 w 144"/>
                <a:gd name="T3" fmla="*/ 5 h 144"/>
                <a:gd name="T4" fmla="*/ 279 w 144"/>
                <a:gd name="T5" fmla="*/ 5 h 144"/>
                <a:gd name="T6" fmla="*/ 93 w 144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144"/>
                <a:gd name="T14" fmla="*/ 144 w 14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144">
                  <a:moveTo>
                    <a:pt x="48" y="0"/>
                  </a:moveTo>
                  <a:lnTo>
                    <a:pt x="0" y="144"/>
                  </a:lnTo>
                  <a:lnTo>
                    <a:pt x="144" y="144"/>
                  </a:lnTo>
                  <a:lnTo>
                    <a:pt x="48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23563" name="Text Box 10"/>
            <p:cNvSpPr txBox="1">
              <a:spLocks noChangeArrowheads="1"/>
            </p:cNvSpPr>
            <p:nvPr/>
          </p:nvSpPr>
          <p:spPr bwMode="auto">
            <a:xfrm>
              <a:off x="3647" y="2110"/>
              <a:ext cx="171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defTabSz="853410">
                <a:spcBef>
                  <a:spcPct val="50000"/>
                </a:spcBef>
              </a:pPr>
              <a:r>
                <a:rPr lang="en-US" sz="1493">
                  <a:solidFill>
                    <a:srgbClr val="0000FF"/>
                  </a:solidFill>
                  <a:ea typeface="+mn-ea"/>
                </a:rPr>
                <a:t>{Age = Today - DateOfBirth}</a:t>
              </a:r>
            </a:p>
          </p:txBody>
        </p:sp>
      </p:grpSp>
      <p:sp>
        <p:nvSpPr>
          <p:cNvPr id="23560" name="Line 12"/>
          <p:cNvSpPr>
            <a:spLocks noChangeShapeType="1"/>
          </p:cNvSpPr>
          <p:nvPr/>
        </p:nvSpPr>
        <p:spPr bwMode="auto">
          <a:xfrm>
            <a:off x="2936240" y="3129280"/>
            <a:ext cx="2062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853410">
              <a:spcBef>
                <a:spcPct val="50000"/>
              </a:spcBef>
            </a:pPr>
            <a:endParaRPr lang="en-US" sz="1680">
              <a:solidFill>
                <a:srgbClr val="0000FF"/>
              </a:solidFill>
              <a:latin typeface="Arial" charset="0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301946-3AC7-40FE-A601-4E58DA1902D6}"/>
              </a:ext>
            </a:extLst>
          </p:cNvPr>
          <p:cNvSpPr txBox="1"/>
          <p:nvPr/>
        </p:nvSpPr>
        <p:spPr>
          <a:xfrm>
            <a:off x="838200" y="4347209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Derived attribute: attribute whose value is calculated from other attributes.</a:t>
            </a:r>
          </a:p>
          <a:p>
            <a:pPr lvl="1"/>
            <a:r>
              <a:rPr lang="en-US" altLang="en-US" dirty="0"/>
              <a:t>Derived using an algorithm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 store or not to store Derived attribute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</p:nvPr>
        </p:nvGraphicFramePr>
        <p:xfrm>
          <a:off x="365125" y="1436688"/>
          <a:ext cx="84153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Table 4.2</a:t>
                      </a:r>
                      <a:endParaRPr lang="en-US" b="1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Advantages and Disadvantages of Storing Derived Attributes</a:t>
                      </a:r>
                      <a:endParaRPr lang="en-US" b="1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latin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Derived Attribute: Stored </a:t>
                      </a:r>
                      <a:endParaRPr lang="en-US" b="1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Derived Attribute: Not Stored </a:t>
                      </a:r>
                      <a:endParaRPr lang="en-US" b="1" dirty="0">
                        <a:latin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Advantage</a:t>
                      </a:r>
                      <a:endParaRPr lang="en-US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Saves CPU processing cycles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Saves data access time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Data value is readily available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Can be used to keep track of historical data</a:t>
                      </a:r>
                      <a:endParaRPr lang="en-US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Saves storage space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Computation always yields current value</a:t>
                      </a:r>
                      <a:endParaRPr lang="en-US" dirty="0">
                        <a:latin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Disadvantage</a:t>
                      </a:r>
                      <a:endParaRPr lang="en-US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Requires constant maintenance to ensure derived value is current, especially if any values used in the calculation change</a:t>
                      </a:r>
                      <a:endParaRPr lang="en-US" dirty="0">
                        <a:latin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Uses CPU processing cycles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Increases data access time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+mn-cs"/>
                        </a:rPr>
                        <a:t>Adds coding complexity to queries</a:t>
                      </a:r>
                      <a:endParaRPr lang="en-US" dirty="0">
                        <a:latin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Few other important characteristics of entities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436231"/>
            <a:ext cx="8415338" cy="3459409"/>
          </a:xfrm>
        </p:spPr>
        <p:txBody>
          <a:bodyPr/>
          <a:lstStyle/>
          <a:p>
            <a:r>
              <a:rPr lang="en-US" altLang="en-US" dirty="0"/>
              <a:t>Characteristics of entities</a:t>
            </a:r>
          </a:p>
          <a:p>
            <a:pPr lvl="1"/>
            <a:r>
              <a:rPr lang="en-US" altLang="en-US" dirty="0"/>
              <a:t>Domain: set of possible values for a given attribute</a:t>
            </a:r>
          </a:p>
          <a:p>
            <a:pPr lvl="1"/>
            <a:r>
              <a:rPr lang="en-US" altLang="en-US" dirty="0"/>
              <a:t>Identifier: one or more attributes that uniquely identify each entity instance</a:t>
            </a:r>
          </a:p>
          <a:p>
            <a:pPr lvl="1"/>
            <a:r>
              <a:rPr lang="en-US" altLang="en-US" dirty="0"/>
              <a:t>Composite identifier: primary key composed of more than one attribute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0784"/>
            <a:ext cx="7886700" cy="87841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733" b="1" dirty="0"/>
              <a:t>Relationships	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Association between entities that always operate in both directions</a:t>
            </a:r>
          </a:p>
          <a:p>
            <a:pPr lvl="1"/>
            <a:r>
              <a:rPr lang="en-US" altLang="en-US" sz="2400" dirty="0"/>
              <a:t>Participants: entities that participate in a relationship</a:t>
            </a:r>
          </a:p>
          <a:p>
            <a:r>
              <a:rPr lang="en-US" sz="2400" dirty="0"/>
              <a:t>The relationships are realized through the primary key – foreign key pairing.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0784"/>
            <a:ext cx="7886700" cy="72601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Describing Relationships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1371600"/>
            <a:ext cx="7680960" cy="5029200"/>
          </a:xfrm>
        </p:spPr>
        <p:txBody>
          <a:bodyPr/>
          <a:lstStyle/>
          <a:p>
            <a:pPr eaLnBrk="1" hangingPunct="1"/>
            <a:r>
              <a:rPr lang="en-US" sz="2400" dirty="0"/>
              <a:t>The relationship is often associated with a verb that logically describes the relationship between an instance of one entity and another.</a:t>
            </a:r>
          </a:p>
          <a:p>
            <a:pPr lvl="1" eaLnBrk="1" hangingPunct="1"/>
            <a:r>
              <a:rPr lang="en-US" sz="2400" dirty="0"/>
              <a:t>A faculty member ADVISES students</a:t>
            </a:r>
          </a:p>
          <a:p>
            <a:pPr lvl="1" eaLnBrk="1" hangingPunct="1"/>
            <a:r>
              <a:rPr lang="en-US" sz="2400" dirty="0"/>
              <a:t>A salesperson SERVICES customers</a:t>
            </a:r>
          </a:p>
          <a:p>
            <a:pPr lvl="1" eaLnBrk="1" hangingPunct="1"/>
            <a:r>
              <a:rPr lang="en-US" sz="2400" dirty="0"/>
              <a:t>A customer ORDERS products</a:t>
            </a:r>
          </a:p>
          <a:p>
            <a:pPr lvl="1" eaLnBrk="1" hangingPunct="1"/>
            <a:r>
              <a:rPr lang="en-US" sz="2400" dirty="0"/>
              <a:t>An actor PLAYS a role</a:t>
            </a:r>
          </a:p>
          <a:p>
            <a:pPr lvl="1" eaLnBrk="1" hangingPunct="1"/>
            <a:r>
              <a:rPr lang="en-US" sz="2400" dirty="0"/>
              <a:t>A network AIRS programs</a:t>
            </a:r>
          </a:p>
          <a:p>
            <a:pPr eaLnBrk="1" hangingPunct="1">
              <a:buFont typeface="Wingdings" pitchFamily="2" charset="2"/>
              <a:buNone/>
            </a:pPr>
            <a:endParaRPr lang="en-US" sz="2613" dirty="0">
              <a:solidFill>
                <a:srgbClr val="99290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40784"/>
            <a:ext cx="7886700" cy="797136"/>
          </a:xfrm>
        </p:spPr>
        <p:txBody>
          <a:bodyPr/>
          <a:lstStyle/>
          <a:p>
            <a:pPr>
              <a:defRPr/>
            </a:pPr>
            <a:r>
              <a:rPr lang="en-US" sz="2613" b="1" dirty="0"/>
              <a:t>Relationships (Connectivity)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137920"/>
            <a:ext cx="7997190" cy="41249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term connectivity is used to describe the relationship classification. </a:t>
            </a:r>
          </a:p>
          <a:p>
            <a:pPr lvl="1"/>
            <a:endParaRPr lang="en-US" sz="1680" dirty="0"/>
          </a:p>
          <a:p>
            <a:r>
              <a:rPr lang="en-US" dirty="0"/>
              <a:t>One-to-one (1:1) relationship	</a:t>
            </a:r>
          </a:p>
          <a:p>
            <a:pPr lvl="1"/>
            <a:r>
              <a:rPr lang="en-US" sz="1680" dirty="0"/>
              <a:t>Usually few, if any, in a relational database design</a:t>
            </a:r>
          </a:p>
          <a:p>
            <a:pPr lvl="1"/>
            <a:endParaRPr lang="en-US" sz="1680" dirty="0"/>
          </a:p>
          <a:p>
            <a:r>
              <a:rPr lang="en-US" dirty="0"/>
              <a:t>One-to-many (1:M) relationship </a:t>
            </a:r>
          </a:p>
          <a:p>
            <a:pPr lvl="1"/>
            <a:r>
              <a:rPr lang="en-US" sz="1680" dirty="0"/>
              <a:t>The norm in a relational database design</a:t>
            </a:r>
          </a:p>
          <a:p>
            <a:pPr lvl="1"/>
            <a:endParaRPr lang="en-US" sz="1680" dirty="0"/>
          </a:p>
          <a:p>
            <a:r>
              <a:rPr lang="en-US" dirty="0"/>
              <a:t>Many-to-many (M:N) relationships </a:t>
            </a:r>
          </a:p>
          <a:p>
            <a:pPr lvl="1"/>
            <a:r>
              <a:rPr lang="en-US" sz="1680" dirty="0"/>
              <a:t>Cannot be implemented as such in the relational model</a:t>
            </a:r>
          </a:p>
          <a:p>
            <a:pPr lvl="1"/>
            <a:r>
              <a:rPr lang="en-US" sz="1680" dirty="0"/>
              <a:t>M:N relationships converted into two 1:M relationships</a:t>
            </a:r>
          </a:p>
          <a:p>
            <a:endParaRPr lang="en-US" dirty="0"/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693395" indent="-266690">
              <a:defRPr>
                <a:solidFill>
                  <a:schemeClr val="tx1"/>
                </a:solidFill>
                <a:latin typeface="Arial" charset="0"/>
              </a:defRPr>
            </a:lvl2pPr>
            <a:lvl3pPr marL="1066762" indent="-213352">
              <a:defRPr>
                <a:solidFill>
                  <a:schemeClr val="tx1"/>
                </a:solidFill>
                <a:latin typeface="Arial" charset="0"/>
              </a:defRPr>
            </a:lvl3pPr>
            <a:lvl4pPr marL="1493467" indent="-213352">
              <a:defRPr>
                <a:solidFill>
                  <a:schemeClr val="tx1"/>
                </a:solidFill>
                <a:latin typeface="Arial" charset="0"/>
              </a:defRPr>
            </a:lvl4pPr>
            <a:lvl5pPr marL="1920171" indent="-213352">
              <a:defRPr>
                <a:solidFill>
                  <a:schemeClr val="tx1"/>
                </a:solidFill>
                <a:latin typeface="Arial" charset="0"/>
              </a:defRPr>
            </a:lvl5pPr>
            <a:lvl6pPr marL="234687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73581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00286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26990" indent="-213352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853410"/>
            <a:fld id="{3147C25B-1066-4B78-9E7B-0F81ED43556B}" type="slidenum">
              <a:rPr lang="en-US">
                <a:solidFill>
                  <a:srgbClr val="0000FF"/>
                </a:solidFill>
                <a:latin typeface="Garamond" pitchFamily="18" charset="0"/>
                <a:ea typeface="+mn-ea"/>
              </a:rPr>
              <a:pPr defTabSz="853410"/>
              <a:t>18</a:t>
            </a:fld>
            <a:endParaRPr lang="en-US">
              <a:solidFill>
                <a:srgbClr val="0000FF"/>
              </a:solidFill>
              <a:latin typeface="Garamond" pitchFamily="18" charset="0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E27F-C5A9-46AE-80D3-FA17B991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0784"/>
            <a:ext cx="7886700" cy="878416"/>
          </a:xfrm>
        </p:spPr>
        <p:txBody>
          <a:bodyPr/>
          <a:lstStyle/>
          <a:p>
            <a:r>
              <a:rPr lang="en-US" b="1" dirty="0"/>
              <a:t>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473D0-6651-4136-A92A-545FBD6B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1"/>
            <a:ext cx="7886700" cy="4317366"/>
          </a:xfrm>
        </p:spPr>
        <p:txBody>
          <a:bodyPr>
            <a:normAutofit/>
          </a:bodyPr>
          <a:lstStyle/>
          <a:p>
            <a:r>
              <a:rPr lang="en-US" sz="2400" dirty="0"/>
              <a:t>cardinality expresses the minimum and maximum number of entity occurrences associated with one occurrence of the related entity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FC358-43D9-41B3-B782-8C2C30603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2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360" b="1" dirty="0"/>
              <a:t>Participation in a relationship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613" dirty="0"/>
              <a:t>Two choices</a:t>
            </a:r>
          </a:p>
          <a:p>
            <a:pPr lvl="1" eaLnBrk="1" hangingPunct="1"/>
            <a:r>
              <a:rPr lang="en-US" sz="2240" dirty="0"/>
              <a:t>Optional – There are some instances that do not participate in the relationship</a:t>
            </a:r>
          </a:p>
          <a:p>
            <a:pPr lvl="1" eaLnBrk="1" hangingPunct="1"/>
            <a:r>
              <a:rPr lang="en-US" sz="2240" dirty="0"/>
              <a:t>Mandatory – All instances participate in the relationship</a:t>
            </a:r>
          </a:p>
          <a:p>
            <a:pPr lvl="1" eaLnBrk="1" hangingPunct="1"/>
            <a:r>
              <a:rPr lang="en-US" sz="2240" dirty="0"/>
              <a:t>These choices are based on business rules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12359" y="142240"/>
            <a:ext cx="7254240" cy="357082"/>
          </a:xfrm>
          <a:noFill/>
        </p:spPr>
        <p:txBody>
          <a:bodyPr anchor="ctr">
            <a:normAutofit fontScale="90000"/>
          </a:bodyPr>
          <a:lstStyle/>
          <a:p>
            <a:pPr eaLnBrk="1" hangingPunct="1"/>
            <a:br>
              <a:rPr lang="en-US" altLang="en-US" b="1" dirty="0"/>
            </a:br>
            <a:br>
              <a:rPr lang="en-US" altLang="en-US" b="1" dirty="0"/>
            </a:br>
            <a:r>
              <a:rPr lang="en-US" altLang="en-US" b="1" dirty="0"/>
              <a:t>Relationships</a:t>
            </a:r>
            <a:br>
              <a:rPr lang="en-US" altLang="en-US" b="1" dirty="0"/>
            </a:br>
            <a:br>
              <a:rPr lang="en-US" altLang="en-US" b="1" dirty="0"/>
            </a:br>
            <a:r>
              <a:rPr lang="en-US" altLang="en-US" sz="2240" dirty="0"/>
              <a:t>How do you read the below diagram?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1005629" y="3441912"/>
            <a:ext cx="3111500" cy="2009140"/>
            <a:chOff x="528" y="2323"/>
            <a:chExt cx="2100" cy="1356"/>
          </a:xfrm>
        </p:grpSpPr>
        <p:sp>
          <p:nvSpPr>
            <p:cNvPr id="14371" name="Rectangle 4"/>
            <p:cNvSpPr>
              <a:spLocks noChangeArrowheads="1"/>
            </p:cNvSpPr>
            <p:nvPr/>
          </p:nvSpPr>
          <p:spPr bwMode="auto">
            <a:xfrm>
              <a:off x="561" y="2323"/>
              <a:ext cx="198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 dirty="0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0     </a:t>
              </a:r>
              <a:r>
                <a:rPr lang="en-US" altLang="en-US" sz="1867" b="1" u="sng" dirty="0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Optional</a:t>
              </a:r>
              <a:r>
                <a:rPr lang="en-US" altLang="en-US" sz="1867" b="1" dirty="0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  participation</a:t>
              </a:r>
            </a:p>
          </p:txBody>
        </p:sp>
        <p:sp>
          <p:nvSpPr>
            <p:cNvPr id="14372" name="Line 5"/>
            <p:cNvSpPr>
              <a:spLocks noChangeShapeType="1"/>
            </p:cNvSpPr>
            <p:nvPr/>
          </p:nvSpPr>
          <p:spPr bwMode="auto">
            <a:xfrm>
              <a:off x="1008" y="2928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73" name="Rectangle 6"/>
            <p:cNvSpPr>
              <a:spLocks noChangeArrowheads="1"/>
            </p:cNvSpPr>
            <p:nvPr/>
          </p:nvSpPr>
          <p:spPr bwMode="auto">
            <a:xfrm>
              <a:off x="1645" y="2899"/>
              <a:ext cx="9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none or one</a:t>
              </a:r>
            </a:p>
          </p:txBody>
        </p:sp>
        <p:sp>
          <p:nvSpPr>
            <p:cNvPr id="14374" name="Line 7"/>
            <p:cNvSpPr>
              <a:spLocks noChangeShapeType="1"/>
            </p:cNvSpPr>
            <p:nvPr/>
          </p:nvSpPr>
          <p:spPr bwMode="auto">
            <a:xfrm>
              <a:off x="528" y="3025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75" name="Rectangle 8"/>
            <p:cNvSpPr>
              <a:spLocks noChangeArrowheads="1"/>
            </p:cNvSpPr>
            <p:nvPr/>
          </p:nvSpPr>
          <p:spPr bwMode="auto">
            <a:xfrm>
              <a:off x="1060" y="2933"/>
              <a:ext cx="328" cy="184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 eaLnBrk="1" hangingPunct="1">
                <a:spcBef>
                  <a:spcPct val="0"/>
                </a:spcBef>
                <a:buClrTx/>
                <a:buNone/>
              </a:pPr>
              <a:endParaRPr lang="en-US" altLang="en-US" sz="2240">
                <a:solidFill>
                  <a:srgbClr val="0000FF"/>
                </a:solidFill>
                <a:latin typeface="Times New Roman" pitchFamily="18" charset="0"/>
                <a:ea typeface="+mn-ea"/>
              </a:endParaRPr>
            </a:p>
          </p:txBody>
        </p:sp>
        <p:grpSp>
          <p:nvGrpSpPr>
            <p:cNvPr id="14376" name="Group 9"/>
            <p:cNvGrpSpPr>
              <a:grpSpLocks/>
            </p:cNvGrpSpPr>
            <p:nvPr/>
          </p:nvGrpSpPr>
          <p:grpSpPr bwMode="auto">
            <a:xfrm>
              <a:off x="528" y="3460"/>
              <a:ext cx="860" cy="184"/>
              <a:chOff x="528" y="3460"/>
              <a:chExt cx="860" cy="184"/>
            </a:xfrm>
          </p:grpSpPr>
          <p:sp>
            <p:nvSpPr>
              <p:cNvPr id="14382" name="Line 10"/>
              <p:cNvSpPr>
                <a:spLocks noChangeShapeType="1"/>
              </p:cNvSpPr>
              <p:nvPr/>
            </p:nvSpPr>
            <p:spPr bwMode="auto">
              <a:xfrm>
                <a:off x="528" y="3552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853410">
                  <a:spcBef>
                    <a:spcPct val="50000"/>
                  </a:spcBef>
                </a:pPr>
                <a:endParaRPr lang="en-US" sz="1680">
                  <a:solidFill>
                    <a:srgbClr val="0000FF"/>
                  </a:solidFill>
                  <a:latin typeface="Arial" charset="0"/>
                  <a:ea typeface="+mn-ea"/>
                </a:endParaRPr>
              </a:p>
            </p:txBody>
          </p:sp>
          <p:sp>
            <p:nvSpPr>
              <p:cNvPr id="14383" name="Rectangle 11"/>
              <p:cNvSpPr>
                <a:spLocks noChangeArrowheads="1"/>
              </p:cNvSpPr>
              <p:nvPr/>
            </p:nvSpPr>
            <p:spPr bwMode="auto">
              <a:xfrm>
                <a:off x="1060" y="3460"/>
                <a:ext cx="328" cy="184"/>
              </a:xfrm>
              <a:prstGeom prst="rect">
                <a:avLst/>
              </a:prstGeom>
              <a:solidFill>
                <a:srgbClr val="B2B2B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sz="32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defTabSz="853410" eaLnBrk="1" hangingPunct="1">
                  <a:spcBef>
                    <a:spcPct val="0"/>
                  </a:spcBef>
                  <a:buClrTx/>
                  <a:buNone/>
                </a:pPr>
                <a:endParaRPr lang="en-US" altLang="en-US" sz="2240">
                  <a:solidFill>
                    <a:srgbClr val="0000FF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14377" name="Rectangle 12"/>
            <p:cNvSpPr>
              <a:spLocks noChangeArrowheads="1"/>
            </p:cNvSpPr>
            <p:nvPr/>
          </p:nvSpPr>
          <p:spPr bwMode="auto">
            <a:xfrm>
              <a:off x="841" y="2900"/>
              <a:ext cx="19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>
                  <a:solidFill>
                    <a:srgbClr val="0000FF"/>
                  </a:solidFill>
                  <a:latin typeface="Times New Roman" pitchFamily="18" charset="0"/>
                  <a:ea typeface="+mn-ea"/>
                </a:rPr>
                <a:t>0</a:t>
              </a:r>
            </a:p>
          </p:txBody>
        </p:sp>
        <p:sp>
          <p:nvSpPr>
            <p:cNvPr id="14378" name="Rectangle 13"/>
            <p:cNvSpPr>
              <a:spLocks noChangeArrowheads="1"/>
            </p:cNvSpPr>
            <p:nvPr/>
          </p:nvSpPr>
          <p:spPr bwMode="auto">
            <a:xfrm>
              <a:off x="800" y="3427"/>
              <a:ext cx="19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>
                  <a:solidFill>
                    <a:srgbClr val="0000FF"/>
                  </a:solidFill>
                  <a:latin typeface="Times New Roman" pitchFamily="18" charset="0"/>
                  <a:ea typeface="+mn-ea"/>
                </a:rPr>
                <a:t>0</a:t>
              </a:r>
            </a:p>
          </p:txBody>
        </p:sp>
        <p:sp>
          <p:nvSpPr>
            <p:cNvPr id="14379" name="Line 14"/>
            <p:cNvSpPr>
              <a:spLocks noChangeShapeType="1"/>
            </p:cNvSpPr>
            <p:nvPr/>
          </p:nvSpPr>
          <p:spPr bwMode="auto">
            <a:xfrm flipV="1">
              <a:off x="960" y="3504"/>
              <a:ext cx="96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80" name="Line 15"/>
            <p:cNvSpPr>
              <a:spLocks noChangeShapeType="1"/>
            </p:cNvSpPr>
            <p:nvPr/>
          </p:nvSpPr>
          <p:spPr bwMode="auto">
            <a:xfrm>
              <a:off x="960" y="3552"/>
              <a:ext cx="96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81" name="Rectangle 16"/>
            <p:cNvSpPr>
              <a:spLocks noChangeArrowheads="1"/>
            </p:cNvSpPr>
            <p:nvPr/>
          </p:nvSpPr>
          <p:spPr bwMode="auto">
            <a:xfrm>
              <a:off x="1594" y="3427"/>
              <a:ext cx="103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none or more</a:t>
              </a:r>
            </a:p>
          </p:txBody>
        </p:sp>
      </p:grpSp>
      <p:grpSp>
        <p:nvGrpSpPr>
          <p:cNvPr id="14340" name="Group 17"/>
          <p:cNvGrpSpPr>
            <a:grpSpLocks/>
          </p:cNvGrpSpPr>
          <p:nvPr/>
        </p:nvGrpSpPr>
        <p:grpSpPr bwMode="auto">
          <a:xfrm>
            <a:off x="4937973" y="3441912"/>
            <a:ext cx="3578224" cy="2013585"/>
            <a:chOff x="3072" y="2323"/>
            <a:chExt cx="2415" cy="1359"/>
          </a:xfrm>
        </p:grpSpPr>
        <p:sp>
          <p:nvSpPr>
            <p:cNvPr id="14356" name="Line 18"/>
            <p:cNvSpPr>
              <a:spLocks noChangeShapeType="1"/>
            </p:cNvSpPr>
            <p:nvPr/>
          </p:nvSpPr>
          <p:spPr bwMode="auto">
            <a:xfrm>
              <a:off x="3072" y="2381"/>
              <a:ext cx="0" cy="14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57" name="Rectangle 19"/>
            <p:cNvSpPr>
              <a:spLocks noChangeArrowheads="1"/>
            </p:cNvSpPr>
            <p:nvPr/>
          </p:nvSpPr>
          <p:spPr bwMode="auto">
            <a:xfrm>
              <a:off x="3255" y="2323"/>
              <a:ext cx="189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 u="sng" dirty="0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Mandatory</a:t>
              </a:r>
              <a:r>
                <a:rPr lang="en-US" altLang="en-US" sz="1867" b="1" dirty="0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 participation</a:t>
              </a:r>
            </a:p>
          </p:txBody>
        </p:sp>
        <p:sp>
          <p:nvSpPr>
            <p:cNvPr id="14358" name="Line 20"/>
            <p:cNvSpPr>
              <a:spLocks noChangeShapeType="1"/>
            </p:cNvSpPr>
            <p:nvPr/>
          </p:nvSpPr>
          <p:spPr bwMode="auto">
            <a:xfrm>
              <a:off x="3481" y="2925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59" name="Line 21"/>
            <p:cNvSpPr>
              <a:spLocks noChangeShapeType="1"/>
            </p:cNvSpPr>
            <p:nvPr/>
          </p:nvSpPr>
          <p:spPr bwMode="auto">
            <a:xfrm>
              <a:off x="3544" y="2925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grpSp>
          <p:nvGrpSpPr>
            <p:cNvPr id="14360" name="Group 22"/>
            <p:cNvGrpSpPr>
              <a:grpSpLocks/>
            </p:cNvGrpSpPr>
            <p:nvPr/>
          </p:nvGrpSpPr>
          <p:grpSpPr bwMode="auto">
            <a:xfrm>
              <a:off x="3072" y="2929"/>
              <a:ext cx="860" cy="184"/>
              <a:chOff x="3072" y="3028"/>
              <a:chExt cx="860" cy="184"/>
            </a:xfrm>
          </p:grpSpPr>
          <p:sp>
            <p:nvSpPr>
              <p:cNvPr id="14369" name="Line 23"/>
              <p:cNvSpPr>
                <a:spLocks noChangeShapeType="1"/>
              </p:cNvSpPr>
              <p:nvPr/>
            </p:nvSpPr>
            <p:spPr bwMode="auto">
              <a:xfrm>
                <a:off x="3072" y="3120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853410">
                  <a:spcBef>
                    <a:spcPct val="50000"/>
                  </a:spcBef>
                </a:pPr>
                <a:endParaRPr lang="en-US" sz="1680">
                  <a:solidFill>
                    <a:srgbClr val="0000FF"/>
                  </a:solidFill>
                  <a:latin typeface="Arial" charset="0"/>
                  <a:ea typeface="+mn-ea"/>
                </a:endParaRPr>
              </a:p>
            </p:txBody>
          </p:sp>
          <p:sp>
            <p:nvSpPr>
              <p:cNvPr id="14370" name="Rectangle 24"/>
              <p:cNvSpPr>
                <a:spLocks noChangeArrowheads="1"/>
              </p:cNvSpPr>
              <p:nvPr/>
            </p:nvSpPr>
            <p:spPr bwMode="auto">
              <a:xfrm>
                <a:off x="3604" y="3028"/>
                <a:ext cx="328" cy="184"/>
              </a:xfrm>
              <a:prstGeom prst="rect">
                <a:avLst/>
              </a:prstGeom>
              <a:solidFill>
                <a:srgbClr val="B2B2B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sz="32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defTabSz="853410" eaLnBrk="1" hangingPunct="1">
                  <a:spcBef>
                    <a:spcPct val="0"/>
                  </a:spcBef>
                  <a:buClrTx/>
                  <a:buNone/>
                </a:pPr>
                <a:endParaRPr lang="en-US" altLang="en-US" sz="2240">
                  <a:solidFill>
                    <a:srgbClr val="0000FF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14361" name="Rectangle 25"/>
            <p:cNvSpPr>
              <a:spLocks noChangeArrowheads="1"/>
            </p:cNvSpPr>
            <p:nvPr/>
          </p:nvSpPr>
          <p:spPr bwMode="auto">
            <a:xfrm>
              <a:off x="4208" y="2899"/>
              <a:ext cx="127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one and only one</a:t>
              </a:r>
            </a:p>
          </p:txBody>
        </p:sp>
        <p:grpSp>
          <p:nvGrpSpPr>
            <p:cNvPr id="14362" name="Group 26"/>
            <p:cNvGrpSpPr>
              <a:grpSpLocks/>
            </p:cNvGrpSpPr>
            <p:nvPr/>
          </p:nvGrpSpPr>
          <p:grpSpPr bwMode="auto">
            <a:xfrm>
              <a:off x="3072" y="3460"/>
              <a:ext cx="860" cy="184"/>
              <a:chOff x="3072" y="3460"/>
              <a:chExt cx="860" cy="184"/>
            </a:xfrm>
          </p:grpSpPr>
          <p:sp>
            <p:nvSpPr>
              <p:cNvPr id="14367" name="Line 27"/>
              <p:cNvSpPr>
                <a:spLocks noChangeShapeType="1"/>
              </p:cNvSpPr>
              <p:nvPr/>
            </p:nvSpPr>
            <p:spPr bwMode="auto">
              <a:xfrm>
                <a:off x="3072" y="3552"/>
                <a:ext cx="5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 defTabSz="853410">
                  <a:spcBef>
                    <a:spcPct val="50000"/>
                  </a:spcBef>
                </a:pPr>
                <a:endParaRPr lang="en-US" sz="1680">
                  <a:solidFill>
                    <a:srgbClr val="0000FF"/>
                  </a:solidFill>
                  <a:latin typeface="Arial" charset="0"/>
                  <a:ea typeface="+mn-ea"/>
                </a:endParaRPr>
              </a:p>
            </p:txBody>
          </p:sp>
          <p:sp>
            <p:nvSpPr>
              <p:cNvPr id="14368" name="Rectangle 28"/>
              <p:cNvSpPr>
                <a:spLocks noChangeArrowheads="1"/>
              </p:cNvSpPr>
              <p:nvPr/>
            </p:nvSpPr>
            <p:spPr bwMode="auto">
              <a:xfrm>
                <a:off x="3604" y="3460"/>
                <a:ext cx="328" cy="184"/>
              </a:xfrm>
              <a:prstGeom prst="rect">
                <a:avLst/>
              </a:prstGeom>
              <a:solidFill>
                <a:srgbClr val="B2B2B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z"/>
                  <a:defRPr sz="32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y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Monotype Sorts" pitchFamily="2" charset="2"/>
                  <a:buChar char="x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defTabSz="853410" eaLnBrk="1" hangingPunct="1">
                  <a:spcBef>
                    <a:spcPct val="0"/>
                  </a:spcBef>
                  <a:buClrTx/>
                  <a:buNone/>
                </a:pPr>
                <a:endParaRPr lang="en-US" altLang="en-US" sz="2240">
                  <a:solidFill>
                    <a:srgbClr val="0000FF"/>
                  </a:solidFill>
                  <a:latin typeface="Times New Roman" pitchFamily="18" charset="0"/>
                  <a:ea typeface="+mn-ea"/>
                </a:endParaRPr>
              </a:p>
            </p:txBody>
          </p:sp>
        </p:grpSp>
        <p:sp>
          <p:nvSpPr>
            <p:cNvPr id="14363" name="Line 29"/>
            <p:cNvSpPr>
              <a:spLocks noChangeShapeType="1"/>
            </p:cNvSpPr>
            <p:nvPr/>
          </p:nvSpPr>
          <p:spPr bwMode="auto">
            <a:xfrm flipV="1">
              <a:off x="3456" y="3490"/>
              <a:ext cx="158" cy="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64" name="Line 30"/>
            <p:cNvSpPr>
              <a:spLocks noChangeShapeType="1"/>
            </p:cNvSpPr>
            <p:nvPr/>
          </p:nvSpPr>
          <p:spPr bwMode="auto">
            <a:xfrm>
              <a:off x="3456" y="3552"/>
              <a:ext cx="144" cy="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65" name="Line 31"/>
            <p:cNvSpPr>
              <a:spLocks noChangeShapeType="1"/>
            </p:cNvSpPr>
            <p:nvPr/>
          </p:nvSpPr>
          <p:spPr bwMode="auto">
            <a:xfrm>
              <a:off x="3419" y="345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66" name="Rectangle 32"/>
            <p:cNvSpPr>
              <a:spLocks noChangeArrowheads="1"/>
            </p:cNvSpPr>
            <p:nvPr/>
          </p:nvSpPr>
          <p:spPr bwMode="auto">
            <a:xfrm>
              <a:off x="4261" y="3430"/>
              <a:ext cx="10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>
                  <a:solidFill>
                    <a:srgbClr val="003399"/>
                  </a:solidFill>
                  <a:latin typeface="Times New Roman" pitchFamily="18" charset="0"/>
                  <a:ea typeface="+mn-ea"/>
                </a:rPr>
                <a:t>  one or more</a:t>
              </a:r>
            </a:p>
          </p:txBody>
        </p:sp>
      </p:grpSp>
      <p:grpSp>
        <p:nvGrpSpPr>
          <p:cNvPr id="14341" name="Group 33"/>
          <p:cNvGrpSpPr>
            <a:grpSpLocks/>
          </p:cNvGrpSpPr>
          <p:nvPr/>
        </p:nvGrpSpPr>
        <p:grpSpPr bwMode="auto">
          <a:xfrm>
            <a:off x="1300480" y="1862456"/>
            <a:ext cx="6486737" cy="880110"/>
            <a:chOff x="672" y="1257"/>
            <a:chExt cx="4378" cy="594"/>
          </a:xfrm>
        </p:grpSpPr>
        <p:sp>
          <p:nvSpPr>
            <p:cNvPr id="14343" name="Rectangle 35"/>
            <p:cNvSpPr>
              <a:spLocks noChangeArrowheads="1"/>
            </p:cNvSpPr>
            <p:nvPr/>
          </p:nvSpPr>
          <p:spPr bwMode="auto">
            <a:xfrm>
              <a:off x="672" y="1268"/>
              <a:ext cx="1188" cy="583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 eaLnBrk="1" hangingPunct="1">
                <a:spcBef>
                  <a:spcPct val="0"/>
                </a:spcBef>
                <a:buClrTx/>
                <a:buNone/>
              </a:pPr>
              <a:endParaRPr lang="en-US" altLang="en-US" sz="2240">
                <a:solidFill>
                  <a:srgbClr val="0000FF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4344" name="Line 36"/>
            <p:cNvSpPr>
              <a:spLocks noChangeShapeType="1"/>
            </p:cNvSpPr>
            <p:nvPr/>
          </p:nvSpPr>
          <p:spPr bwMode="auto">
            <a:xfrm flipH="1">
              <a:off x="3758" y="1439"/>
              <a:ext cx="100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45" name="Line 37"/>
            <p:cNvSpPr>
              <a:spLocks noChangeShapeType="1"/>
            </p:cNvSpPr>
            <p:nvPr/>
          </p:nvSpPr>
          <p:spPr bwMode="auto">
            <a:xfrm>
              <a:off x="3758" y="1543"/>
              <a:ext cx="111" cy="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46" name="Rectangle 38"/>
            <p:cNvSpPr>
              <a:spLocks noChangeArrowheads="1"/>
            </p:cNvSpPr>
            <p:nvPr/>
          </p:nvSpPr>
          <p:spPr bwMode="auto">
            <a:xfrm>
              <a:off x="3862" y="1257"/>
              <a:ext cx="1188" cy="583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 eaLnBrk="1" hangingPunct="1">
                <a:spcBef>
                  <a:spcPct val="0"/>
                </a:spcBef>
                <a:buClrTx/>
                <a:buNone/>
              </a:pPr>
              <a:endParaRPr lang="en-US" altLang="en-US" sz="2240">
                <a:solidFill>
                  <a:srgbClr val="0000FF"/>
                </a:solidFill>
                <a:latin typeface="Times New Roman" pitchFamily="18" charset="0"/>
                <a:ea typeface="+mn-ea"/>
              </a:endParaRPr>
            </a:p>
          </p:txBody>
        </p:sp>
        <p:sp>
          <p:nvSpPr>
            <p:cNvPr id="14347" name="Rectangle 39"/>
            <p:cNvSpPr>
              <a:spLocks noChangeArrowheads="1"/>
            </p:cNvSpPr>
            <p:nvPr/>
          </p:nvSpPr>
          <p:spPr bwMode="auto">
            <a:xfrm>
              <a:off x="866" y="1418"/>
              <a:ext cx="79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 dirty="0">
                  <a:solidFill>
                    <a:srgbClr val="00B050"/>
                  </a:solidFill>
                  <a:latin typeface="Times New Roman" pitchFamily="18" charset="0"/>
                  <a:ea typeface="+mn-ea"/>
                </a:rPr>
                <a:t>WOMAN</a:t>
              </a:r>
            </a:p>
          </p:txBody>
        </p:sp>
        <p:sp>
          <p:nvSpPr>
            <p:cNvPr id="14348" name="Rectangle 40"/>
            <p:cNvSpPr>
              <a:spLocks noChangeArrowheads="1"/>
            </p:cNvSpPr>
            <p:nvPr/>
          </p:nvSpPr>
          <p:spPr bwMode="auto">
            <a:xfrm>
              <a:off x="3964" y="1414"/>
              <a:ext cx="98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b="1" dirty="0">
                  <a:solidFill>
                    <a:srgbClr val="00B050"/>
                  </a:solidFill>
                  <a:latin typeface="Times New Roman" pitchFamily="18" charset="0"/>
                  <a:ea typeface="+mn-ea"/>
                </a:rPr>
                <a:t>CHILDREN</a:t>
              </a:r>
            </a:p>
          </p:txBody>
        </p:sp>
        <p:sp>
          <p:nvSpPr>
            <p:cNvPr id="14350" name="Line 42"/>
            <p:cNvSpPr>
              <a:spLocks noChangeShapeType="1"/>
            </p:cNvSpPr>
            <p:nvPr/>
          </p:nvSpPr>
          <p:spPr bwMode="auto">
            <a:xfrm>
              <a:off x="1864" y="1543"/>
              <a:ext cx="59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51" name="Line 43"/>
            <p:cNvSpPr>
              <a:spLocks noChangeShapeType="1"/>
            </p:cNvSpPr>
            <p:nvPr/>
          </p:nvSpPr>
          <p:spPr bwMode="auto">
            <a:xfrm>
              <a:off x="3359" y="1543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53" name="Rectangle 45"/>
            <p:cNvSpPr>
              <a:spLocks noChangeArrowheads="1"/>
            </p:cNvSpPr>
            <p:nvPr/>
          </p:nvSpPr>
          <p:spPr bwMode="auto">
            <a:xfrm>
              <a:off x="3597" y="1415"/>
              <a:ext cx="19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5937" tIns="42969" rIns="85937" bIns="42969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z"/>
                <a:defRPr sz="32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y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Font typeface="Monotype Sorts" pitchFamily="2" charset="2"/>
                <a:buChar char="x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defTabSz="853410">
                <a:spcBef>
                  <a:spcPct val="0"/>
                </a:spcBef>
                <a:buClrTx/>
                <a:buNone/>
              </a:pPr>
              <a:r>
                <a:rPr lang="en-US" altLang="en-US" sz="1867" dirty="0">
                  <a:solidFill>
                    <a:srgbClr val="0000FF"/>
                  </a:solidFill>
                  <a:latin typeface="Times New Roman" pitchFamily="18" charset="0"/>
                  <a:ea typeface="+mn-ea"/>
                </a:rPr>
                <a:t>0</a:t>
              </a:r>
            </a:p>
          </p:txBody>
        </p:sp>
        <p:sp>
          <p:nvSpPr>
            <p:cNvPr id="14354" name="Line 46"/>
            <p:cNvSpPr>
              <a:spLocks noChangeShapeType="1"/>
            </p:cNvSpPr>
            <p:nvPr/>
          </p:nvSpPr>
          <p:spPr bwMode="auto">
            <a:xfrm>
              <a:off x="1931" y="1445"/>
              <a:ext cx="0" cy="1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  <p:sp>
          <p:nvSpPr>
            <p:cNvPr id="14355" name="Line 47"/>
            <p:cNvSpPr>
              <a:spLocks noChangeShapeType="1"/>
            </p:cNvSpPr>
            <p:nvPr/>
          </p:nvSpPr>
          <p:spPr bwMode="auto">
            <a:xfrm>
              <a:off x="2005" y="1440"/>
              <a:ext cx="0" cy="2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defTabSz="853410">
                <a:spcBef>
                  <a:spcPct val="50000"/>
                </a:spcBef>
              </a:pPr>
              <a:endParaRPr lang="en-US" sz="1680">
                <a:solidFill>
                  <a:srgbClr val="0000FF"/>
                </a:solidFill>
                <a:latin typeface="Arial" charset="0"/>
                <a:ea typeface="+mn-ea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EDFCF8-38E9-4D5C-B97D-D4F41F41DC3B}"/>
              </a:ext>
            </a:extLst>
          </p:cNvPr>
          <p:cNvCxnSpPr>
            <a:endCxn id="14351" idx="0"/>
          </p:cNvCxnSpPr>
          <p:nvPr/>
        </p:nvCxnSpPr>
        <p:spPr bwMode="auto">
          <a:xfrm>
            <a:off x="3434080" y="2286212"/>
            <a:ext cx="184763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66A212E-3219-4C8A-A038-CB956E2B595B}"/>
              </a:ext>
            </a:extLst>
          </p:cNvPr>
          <p:cNvSpPr/>
          <p:nvPr/>
        </p:nvSpPr>
        <p:spPr bwMode="auto">
          <a:xfrm>
            <a:off x="1940560" y="2915920"/>
            <a:ext cx="5405113" cy="4904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85344" tIns="42672" rIns="85344" bIns="42672" numCol="1" rtlCol="0" anchor="ctr" anchorCtr="0" compatLnSpc="1">
            <a:prstTxWarp prst="textNoShape">
              <a:avLst/>
            </a:prstTxWarp>
          </a:bodyPr>
          <a:lstStyle/>
          <a:p>
            <a:pPr algn="ctr" defTabSz="853410">
              <a:spcBef>
                <a:spcPct val="50000"/>
              </a:spcBef>
            </a:pPr>
            <a:r>
              <a:rPr lang="en-US" sz="1680" dirty="0">
                <a:solidFill>
                  <a:srgbClr val="0000FF"/>
                </a:solidFill>
                <a:latin typeface="Arial" charset="0"/>
                <a:ea typeface="+mn-ea"/>
              </a:rPr>
              <a:t>A woman can have zero or many children, but a child belongs to one and only one mother</a:t>
            </a:r>
          </a:p>
        </p:txBody>
      </p:sp>
    </p:spTree>
    <p:extLst>
      <p:ext uri="{BB962C8B-B14F-4D97-AF65-F5344CB8AC3E}">
        <p14:creationId xmlns:p14="http://schemas.microsoft.com/office/powerpoint/2010/main" val="3577246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Relationship Participation</a:t>
            </a:r>
          </a:p>
        </p:txBody>
      </p:sp>
      <p:pic>
        <p:nvPicPr>
          <p:cNvPr id="2" name="Picture 1" descr="Figure 4.13 shows how a CLASS entity may be written if optional to COURSE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28800"/>
            <a:ext cx="7173528" cy="2243214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Relationship Participation</a:t>
            </a:r>
          </a:p>
        </p:txBody>
      </p:sp>
      <p:pic>
        <p:nvPicPr>
          <p:cNvPr id="2" name="Picture 1" descr="Figure 4.14 shows how a CLASS entity is written in a mandatory relationship to COURSE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68792"/>
            <a:ext cx="7408111" cy="216980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Existence Dependence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365125" y="1436231"/>
            <a:ext cx="8415338" cy="2362185"/>
          </a:xfrm>
        </p:spPr>
        <p:txBody>
          <a:bodyPr/>
          <a:lstStyle/>
          <a:p>
            <a:r>
              <a:rPr lang="en-US" dirty="0"/>
              <a:t>Existence dependence</a:t>
            </a:r>
          </a:p>
          <a:p>
            <a:pPr lvl="1"/>
            <a:r>
              <a:rPr lang="en-US" dirty="0"/>
              <a:t>Entity exists in the database only when it is associated with another related entity occurrence</a:t>
            </a:r>
          </a:p>
          <a:p>
            <a:r>
              <a:rPr lang="en-US" dirty="0"/>
              <a:t>Existence independence</a:t>
            </a:r>
          </a:p>
          <a:p>
            <a:pPr lvl="1"/>
            <a:r>
              <a:rPr lang="en-US" dirty="0"/>
              <a:t>Entity exists apart from all of its related entities</a:t>
            </a:r>
          </a:p>
          <a:p>
            <a:pPr lvl="1"/>
            <a:r>
              <a:rPr lang="en-US" dirty="0"/>
              <a:t>Referred to as a strong entity or regular entity</a:t>
            </a:r>
          </a:p>
          <a:p>
            <a:pPr lvl="1"/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Weak Entities (1 of 3)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436231"/>
            <a:ext cx="8415338" cy="2022092"/>
          </a:xfrm>
        </p:spPr>
        <p:txBody>
          <a:bodyPr/>
          <a:lstStyle/>
          <a:p>
            <a:r>
              <a:rPr lang="en-US" altLang="en-US" dirty="0"/>
              <a:t>Conditions of a weak entity </a:t>
            </a:r>
          </a:p>
          <a:p>
            <a:pPr lvl="1"/>
            <a:r>
              <a:rPr lang="en-US" altLang="en-US" dirty="0"/>
              <a:t>Existence-dependent </a:t>
            </a:r>
          </a:p>
          <a:p>
            <a:pPr lvl="1"/>
            <a:r>
              <a:rPr lang="en-US" altLang="en-US" dirty="0"/>
              <a:t>Has a primary key that is partially or totally derived from parent entity in the relationship</a:t>
            </a:r>
          </a:p>
          <a:p>
            <a:r>
              <a:rPr lang="en-US" altLang="en-US" dirty="0"/>
              <a:t>Database designer determines whether an entity is weak </a:t>
            </a:r>
          </a:p>
          <a:p>
            <a:pPr lvl="1"/>
            <a:r>
              <a:rPr lang="en-US" altLang="en-US" dirty="0"/>
              <a:t>Based on business rules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Weak Entities (2 of 3)</a:t>
            </a:r>
          </a:p>
        </p:txBody>
      </p:sp>
      <p:pic>
        <p:nvPicPr>
          <p:cNvPr id="2" name="Picture 1" descr="In Figure 4.10, a weak entity using employee information in an ERD is depicted with Chen and Crow's Foot notation.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143000"/>
            <a:ext cx="6172200" cy="4495800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Relationship Degree (1 of 2)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436231"/>
            <a:ext cx="8415338" cy="1264962"/>
          </a:xfrm>
        </p:spPr>
        <p:txBody>
          <a:bodyPr/>
          <a:lstStyle/>
          <a:p>
            <a:r>
              <a:rPr lang="en-US" altLang="en-US" dirty="0"/>
              <a:t>Indicates the number of entities or participants associated with a relationship</a:t>
            </a:r>
          </a:p>
          <a:p>
            <a:pPr lvl="1"/>
            <a:r>
              <a:rPr lang="en-US" altLang="en-US" dirty="0"/>
              <a:t>Unary relationship: association is maintained within a single entity </a:t>
            </a:r>
          </a:p>
          <a:p>
            <a:pPr lvl="1"/>
            <a:r>
              <a:rPr lang="en-US" altLang="en-US" dirty="0"/>
              <a:t>Binary relationship: two entities are associated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Relationship Degree (2 of 2)</a:t>
            </a:r>
          </a:p>
        </p:txBody>
      </p:sp>
      <p:pic>
        <p:nvPicPr>
          <p:cNvPr id="2" name="Picture 1" descr="Unary, binary, ternary (both conceptual and logical) relationships are shown in Figure 4.15.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2526"/>
          <a:stretch/>
        </p:blipFill>
        <p:spPr>
          <a:xfrm>
            <a:off x="1597687" y="1143001"/>
            <a:ext cx="6174713" cy="3428999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Relationships</a:t>
            </a:r>
            <a:endParaRPr lang="en-US" altLang="en-US" dirty="0"/>
          </a:p>
        </p:txBody>
      </p:sp>
      <p:pic>
        <p:nvPicPr>
          <p:cNvPr id="2" name="Picture 1" descr="In Figure 4.17, an ER representation of recursive relationships is shown using marriage, management, and a course between employees.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" t="1005" r="30673" b="-1005"/>
          <a:stretch/>
        </p:blipFill>
        <p:spPr>
          <a:xfrm>
            <a:off x="1597687" y="1956202"/>
            <a:ext cx="5260313" cy="2488395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Developing an ER Diagram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436231"/>
            <a:ext cx="8415338" cy="2332946"/>
          </a:xfrm>
        </p:spPr>
        <p:txBody>
          <a:bodyPr/>
          <a:lstStyle/>
          <a:p>
            <a:r>
              <a:rPr lang="en-US" altLang="en-US" dirty="0"/>
              <a:t>Activities involved in building an ERD</a:t>
            </a:r>
          </a:p>
          <a:p>
            <a:pPr lvl="1"/>
            <a:r>
              <a:rPr lang="en-US" altLang="en-US" dirty="0"/>
              <a:t>Create a detailed narrative of the organization’s description of operations</a:t>
            </a:r>
          </a:p>
          <a:p>
            <a:pPr lvl="1"/>
            <a:r>
              <a:rPr lang="en-US" altLang="en-US" dirty="0"/>
              <a:t>Identify business rules based on the descriptions</a:t>
            </a:r>
          </a:p>
          <a:p>
            <a:pPr lvl="1"/>
            <a:r>
              <a:rPr lang="en-US" altLang="en-US" dirty="0"/>
              <a:t>Identify main entities and relationships from the business rules</a:t>
            </a:r>
          </a:p>
          <a:p>
            <a:pPr lvl="1"/>
            <a:r>
              <a:rPr lang="en-US" altLang="en-US" dirty="0"/>
              <a:t>Develop the initial ERD</a:t>
            </a:r>
          </a:p>
          <a:p>
            <a:pPr lvl="1"/>
            <a:r>
              <a:rPr lang="en-US" altLang="en-US" dirty="0"/>
              <a:t>Identify the attributes and primary keys that adequately describe entities</a:t>
            </a:r>
          </a:p>
          <a:p>
            <a:pPr lvl="1"/>
            <a:r>
              <a:rPr lang="en-US" altLang="en-US" dirty="0"/>
              <a:t>Revise and review ERD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36231"/>
            <a:ext cx="8415338" cy="2508379"/>
          </a:xfrm>
        </p:spPr>
        <p:txBody>
          <a:bodyPr/>
          <a:lstStyle/>
          <a:p>
            <a:r>
              <a:rPr lang="en-US" dirty="0"/>
              <a:t>The ERM uses ERDs to represent the conceptual database as viewed by the end user</a:t>
            </a:r>
          </a:p>
          <a:p>
            <a:r>
              <a:rPr lang="en-US" dirty="0"/>
              <a:t>Connectivity describes the relationship classification (1:1, 1:M, or M:N)</a:t>
            </a:r>
          </a:p>
          <a:p>
            <a:r>
              <a:rPr lang="en-US" dirty="0"/>
              <a:t>In the ERM, an M:N relationship is valid at the conceptual level</a:t>
            </a:r>
          </a:p>
          <a:p>
            <a:r>
              <a:rPr lang="en-US" dirty="0"/>
              <a:t>Database designers, no matter how well they can produce designs that conform to all applicable modeling conventions, are often forced to make design compromises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1916</Words>
  <Application>Microsoft Office PowerPoint</Application>
  <PresentationFormat>Custom</PresentationFormat>
  <Paragraphs>212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Calibri Light</vt:lpstr>
      <vt:lpstr>Garamond</vt:lpstr>
      <vt:lpstr>Monotype Sorts</vt:lpstr>
      <vt:lpstr>Times New Roman</vt:lpstr>
      <vt:lpstr>Wingdings</vt:lpstr>
      <vt:lpstr>1_Word 2016 Med Module  1_PPT_2019</vt:lpstr>
      <vt:lpstr>Office Theme</vt:lpstr>
      <vt:lpstr>1_Office Theme</vt:lpstr>
      <vt:lpstr>PowerPoint Presentation</vt:lpstr>
      <vt:lpstr>Chapter 4 (beginning – till page 146)</vt:lpstr>
      <vt:lpstr>The Entity Relationship Model (ERM)</vt:lpstr>
      <vt:lpstr>Entities are represented by rectangles</vt:lpstr>
      <vt:lpstr>Entity Class</vt:lpstr>
      <vt:lpstr>Types of Attributes</vt:lpstr>
      <vt:lpstr>Required vs Optional Attributes</vt:lpstr>
      <vt:lpstr>PowerPoint Presentation</vt:lpstr>
      <vt:lpstr>Multivalued Attributes</vt:lpstr>
      <vt:lpstr>Courses of Actions for Multivalued Attributes </vt:lpstr>
      <vt:lpstr>Create several new attributes</vt:lpstr>
      <vt:lpstr>PowerPoint Presentation</vt:lpstr>
      <vt:lpstr>Derived/Computed Attributes</vt:lpstr>
      <vt:lpstr>To store or not to store Derived attribute</vt:lpstr>
      <vt:lpstr>Few other important characteristics of entities</vt:lpstr>
      <vt:lpstr>Relationships </vt:lpstr>
      <vt:lpstr>Describing Relationships</vt:lpstr>
      <vt:lpstr>Relationships (Connectivity)</vt:lpstr>
      <vt:lpstr>Cardinality</vt:lpstr>
      <vt:lpstr>Participation in a relationship</vt:lpstr>
      <vt:lpstr>  Relationships  How do you read the below diagram?</vt:lpstr>
      <vt:lpstr>Relationship Participation</vt:lpstr>
      <vt:lpstr>Relationship Participation</vt:lpstr>
      <vt:lpstr>Existence Dependence</vt:lpstr>
      <vt:lpstr>Weak Entities (1 of 3)</vt:lpstr>
      <vt:lpstr>Weak Entities (2 of 3)</vt:lpstr>
      <vt:lpstr>Relationship Degree (1 of 2)</vt:lpstr>
      <vt:lpstr>Relationship Degree (2 of 2)</vt:lpstr>
      <vt:lpstr>Recursive Relationships</vt:lpstr>
      <vt:lpstr>Developing an ER Diagram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2017-08-16T21:28:16Z</dcterms:created>
  <dcterms:modified xsi:type="dcterms:W3CDTF">2023-08-28T04:57:01Z</dcterms:modified>
</cp:coreProperties>
</file>