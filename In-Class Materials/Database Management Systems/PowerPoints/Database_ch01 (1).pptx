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0" r:id="rId1"/>
    <p:sldMasterId id="2147483717" r:id="rId2"/>
  </p:sldMasterIdLst>
  <p:notesMasterIdLst>
    <p:notesMasterId r:id="rId24"/>
  </p:notesMasterIdLst>
  <p:handoutMasterIdLst>
    <p:handoutMasterId r:id="rId25"/>
  </p:handoutMasterIdLst>
  <p:sldIdLst>
    <p:sldId id="400" r:id="rId3"/>
    <p:sldId id="539" r:id="rId4"/>
    <p:sldId id="401" r:id="rId5"/>
    <p:sldId id="329" r:id="rId6"/>
    <p:sldId id="549" r:id="rId7"/>
    <p:sldId id="383" r:id="rId8"/>
    <p:sldId id="408" r:id="rId9"/>
    <p:sldId id="333" r:id="rId10"/>
    <p:sldId id="540" r:id="rId11"/>
    <p:sldId id="538" r:id="rId12"/>
    <p:sldId id="533" r:id="rId13"/>
    <p:sldId id="394" r:id="rId14"/>
    <p:sldId id="403" r:id="rId15"/>
    <p:sldId id="541" r:id="rId16"/>
    <p:sldId id="274" r:id="rId17"/>
    <p:sldId id="405" r:id="rId18"/>
    <p:sldId id="406" r:id="rId19"/>
    <p:sldId id="542" r:id="rId20"/>
    <p:sldId id="376" r:id="rId21"/>
    <p:sldId id="551" r:id="rId22"/>
    <p:sldId id="552" r:id="rId23"/>
  </p:sldIdLst>
  <p:sldSz cx="9144000" cy="64008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6232"/>
    <a:srgbClr val="3C41AA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87747" autoAdjust="0"/>
  </p:normalViewPr>
  <p:slideViewPr>
    <p:cSldViewPr>
      <p:cViewPr>
        <p:scale>
          <a:sx n="64" d="100"/>
          <a:sy n="64" d="100"/>
        </p:scale>
        <p:origin x="1292" y="44"/>
      </p:cViewPr>
      <p:guideLst>
        <p:guide orient="horz" pos="201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922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2998C030-7F05-4FEB-A097-590EC6255CD7}" type="slidenum">
              <a:rPr lang="en-US" altLang="en-US">
                <a:latin typeface="Arial" pitchFamily="34" charset="0"/>
              </a:rPr>
              <a:pPr/>
              <a:t>‹#›</a:t>
            </a:fld>
            <a:endParaRPr lang="en-US" alt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8731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1075" y="685800"/>
            <a:ext cx="48958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fld id="{C32B3BCA-EBBF-44BC-853D-C22737AD10C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77649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fld id="{C603EDB1-EF97-47DF-B2D1-914D9D45F6DC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1479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378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A4AB95E7-C87C-4D47-A59F-08748383B574}" type="slidenum">
              <a:rPr lang="en-US" smtClean="0"/>
              <a:pPr eaLnBrk="1" hangingPunct="1"/>
              <a:t>7</a:t>
            </a:fld>
            <a:endParaRPr lang="en-US" dirty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862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fld id="{994FDB97-CA93-4674-8E7C-75C5BFA5E7B3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98459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+mn-cs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9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81075" y="685800"/>
            <a:ext cx="4895850" cy="3429000"/>
          </a:xfrm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</a:defRPr>
            </a:lvl9pPr>
          </a:lstStyle>
          <a:p>
            <a:fld id="{A6153B0B-C6FB-4D68-9992-7BAEC033F86C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7592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37067"/>
            <a:ext cx="8713465" cy="60916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517488"/>
            <a:ext cx="7747000" cy="366254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129280"/>
            <a:ext cx="7747000" cy="23391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482340" y="208619"/>
            <a:ext cx="2125980" cy="9198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49218"/>
            <a:ext cx="10034016" cy="9250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4" y="4559433"/>
            <a:ext cx="2080291" cy="1797719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030218"/>
            <a:ext cx="987056" cy="97155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9" y="4780292"/>
            <a:ext cx="275507" cy="66275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9" y="5966818"/>
            <a:ext cx="386047" cy="266067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28093" y="5077851"/>
            <a:ext cx="552064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443051"/>
            <a:ext cx="672857" cy="69615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5939611"/>
            <a:ext cx="6201666" cy="341771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0" y="5987926"/>
            <a:ext cx="1151034" cy="33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072461"/>
            <a:ext cx="6172200" cy="366254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746492"/>
            <a:ext cx="6172200" cy="263149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3" y="6055121"/>
            <a:ext cx="11423745" cy="84779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8" y="337823"/>
            <a:ext cx="1840495" cy="1811584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788519"/>
            <a:ext cx="908570" cy="626196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44547" y="3286586"/>
            <a:ext cx="742809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431259"/>
            <a:ext cx="1101550" cy="11396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232438"/>
            <a:ext cx="596838" cy="74273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484437"/>
            <a:ext cx="252342" cy="60703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3" y="6139901"/>
            <a:ext cx="6781693" cy="22823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721" y="5938833"/>
            <a:ext cx="1400289" cy="4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373533"/>
            <a:ext cx="8026400" cy="4646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885049"/>
            <a:ext cx="8586216" cy="417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07446"/>
            <a:ext cx="628992" cy="650771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3" y="6055121"/>
            <a:ext cx="11423745" cy="84779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3" y="6139901"/>
            <a:ext cx="6781693" cy="22823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8" y="5902960"/>
            <a:ext cx="1439449" cy="41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3533"/>
            <a:ext cx="8026400" cy="2877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885049"/>
            <a:ext cx="8586216" cy="417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07446"/>
            <a:ext cx="628992" cy="650771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3" y="6055121"/>
            <a:ext cx="11423745" cy="8477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3" y="6139901"/>
            <a:ext cx="6781693" cy="22823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0488" y="5885580"/>
            <a:ext cx="1403024" cy="40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3861223"/>
            <a:ext cx="9144000" cy="42969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1" y="3698240"/>
            <a:ext cx="3063875" cy="2518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3790104"/>
            <a:ext cx="1600200" cy="34079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698240"/>
            <a:ext cx="9144000" cy="228177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705649"/>
            <a:ext cx="9144000" cy="131868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3705649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409440"/>
            <a:ext cx="6324600" cy="120904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52400"/>
            <a:ext cx="2667000" cy="3442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6080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Title"/>
          <p:cNvSpPr>
            <a:spLocks noGrp="1"/>
          </p:cNvSpPr>
          <p:nvPr>
            <p:ph type="title"/>
          </p:nvPr>
        </p:nvSpPr>
        <p:spPr>
          <a:xfrm>
            <a:off x="0" y="213360"/>
            <a:ext cx="9144000" cy="56896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0" y="924560"/>
            <a:ext cx="8229600" cy="519176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86200" y="6116320"/>
            <a:ext cx="137160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97118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Six Content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0" y="213360"/>
            <a:ext cx="9144000" cy="597111"/>
          </a:xfrm>
          <a:prstGeom prst="rect">
            <a:avLst/>
          </a:prstGeom>
        </p:spPr>
        <p:txBody>
          <a:bodyPr/>
          <a:lstStyle>
            <a:lvl1pPr>
              <a:defRPr lang="en-US" sz="336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"/>
          <p:cNvSpPr>
            <a:spLocks noGrp="1"/>
          </p:cNvSpPr>
          <p:nvPr>
            <p:ph sz="quarter" idx="12"/>
          </p:nvPr>
        </p:nvSpPr>
        <p:spPr>
          <a:xfrm>
            <a:off x="533400" y="995680"/>
            <a:ext cx="8153400" cy="78232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1877568"/>
            <a:ext cx="8153400" cy="7112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4"/>
          </p:nvPr>
        </p:nvSpPr>
        <p:spPr>
          <a:xfrm>
            <a:off x="533400" y="2688336"/>
            <a:ext cx="8153400" cy="64008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/>
          <p:cNvSpPr>
            <a:spLocks noGrp="1"/>
          </p:cNvSpPr>
          <p:nvPr>
            <p:ph sz="quarter" idx="15"/>
          </p:nvPr>
        </p:nvSpPr>
        <p:spPr>
          <a:xfrm>
            <a:off x="533400" y="3427984"/>
            <a:ext cx="8153400" cy="78232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4309872"/>
            <a:ext cx="8153400" cy="85344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quarter" idx="11"/>
          </p:nvPr>
        </p:nvSpPr>
        <p:spPr>
          <a:xfrm>
            <a:off x="533400" y="5262880"/>
            <a:ext cx="8153400" cy="71120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hoto Credit"/>
          <p:cNvSpPr>
            <a:spLocks noGrp="1"/>
          </p:cNvSpPr>
          <p:nvPr>
            <p:ph type="body" sz="quarter" idx="16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8536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Title"/>
          <p:cNvSpPr>
            <a:spLocks noGrp="1"/>
          </p:cNvSpPr>
          <p:nvPr>
            <p:ph type="title"/>
          </p:nvPr>
        </p:nvSpPr>
        <p:spPr>
          <a:xfrm>
            <a:off x="-1" y="213360"/>
            <a:ext cx="9144001" cy="56896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457200" y="853440"/>
            <a:ext cx="4038600" cy="5241544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sz="half" idx="2"/>
          </p:nvPr>
        </p:nvSpPr>
        <p:spPr>
          <a:xfrm>
            <a:off x="4648200" y="853440"/>
            <a:ext cx="4038600" cy="5241544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3817620" y="6094153"/>
            <a:ext cx="150876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0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4088565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wo-Up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/>
          <p:cNvSpPr>
            <a:spLocks noGrp="1"/>
          </p:cNvSpPr>
          <p:nvPr>
            <p:ph type="title"/>
          </p:nvPr>
        </p:nvSpPr>
        <p:spPr>
          <a:xfrm>
            <a:off x="-20713" y="213360"/>
            <a:ext cx="9185426" cy="56896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er 1"/>
          <p:cNvSpPr>
            <a:spLocks noGrp="1"/>
          </p:cNvSpPr>
          <p:nvPr>
            <p:ph type="body" idx="1"/>
          </p:nvPr>
        </p:nvSpPr>
        <p:spPr>
          <a:xfrm>
            <a:off x="457201" y="896409"/>
            <a:ext cx="4040188" cy="5971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57201" y="1493520"/>
            <a:ext cx="4040188" cy="4584722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er 2"/>
          <p:cNvSpPr>
            <a:spLocks noGrp="1"/>
          </p:cNvSpPr>
          <p:nvPr>
            <p:ph type="body" sz="quarter" idx="3"/>
          </p:nvPr>
        </p:nvSpPr>
        <p:spPr>
          <a:xfrm>
            <a:off x="4645027" y="896409"/>
            <a:ext cx="4041775" cy="5971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40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4645027" y="1493520"/>
            <a:ext cx="4041775" cy="4584722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3817620" y="6094153"/>
            <a:ext cx="150876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2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527083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4-up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/>
          <p:cNvSpPr>
            <a:spLocks noGrp="1"/>
          </p:cNvSpPr>
          <p:nvPr>
            <p:ph type="title"/>
          </p:nvPr>
        </p:nvSpPr>
        <p:spPr>
          <a:xfrm>
            <a:off x="-20713" y="213360"/>
            <a:ext cx="9185426" cy="56896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Header 1"/>
          <p:cNvSpPr>
            <a:spLocks noGrp="1"/>
          </p:cNvSpPr>
          <p:nvPr>
            <p:ph type="body" idx="1"/>
          </p:nvPr>
        </p:nvSpPr>
        <p:spPr>
          <a:xfrm>
            <a:off x="457201" y="896409"/>
            <a:ext cx="4040188" cy="5971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7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2"/>
          </p:nvPr>
        </p:nvSpPr>
        <p:spPr>
          <a:xfrm>
            <a:off x="457201" y="1493520"/>
            <a:ext cx="4040188" cy="163576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Header 2"/>
          <p:cNvSpPr>
            <a:spLocks noGrp="1"/>
          </p:cNvSpPr>
          <p:nvPr>
            <p:ph type="body" sz="quarter" idx="3"/>
          </p:nvPr>
        </p:nvSpPr>
        <p:spPr>
          <a:xfrm>
            <a:off x="4645027" y="896409"/>
            <a:ext cx="4041775" cy="59711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67" b="1"/>
            </a:lvl1pPr>
            <a:lvl2pPr marL="426705" indent="0">
              <a:buNone/>
              <a:defRPr sz="1867" b="1"/>
            </a:lvl2pPr>
            <a:lvl3pPr marL="853410" indent="0">
              <a:buNone/>
              <a:defRPr sz="1680" b="1"/>
            </a:lvl3pPr>
            <a:lvl4pPr marL="1280114" indent="0">
              <a:buNone/>
              <a:defRPr sz="1493" b="1"/>
            </a:lvl4pPr>
            <a:lvl5pPr marL="1706819" indent="0">
              <a:buNone/>
              <a:defRPr sz="1493" b="1"/>
            </a:lvl5pPr>
            <a:lvl6pPr marL="2133524" indent="0">
              <a:buNone/>
              <a:defRPr sz="1493" b="1"/>
            </a:lvl6pPr>
            <a:lvl7pPr marL="2560229" indent="0">
              <a:buNone/>
              <a:defRPr sz="1493" b="1"/>
            </a:lvl7pPr>
            <a:lvl8pPr marL="2986933" indent="0">
              <a:buNone/>
              <a:defRPr sz="1493" b="1"/>
            </a:lvl8pPr>
            <a:lvl9pPr marL="3413638" indent="0">
              <a:buNone/>
              <a:defRPr sz="14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4"/>
          </p:nvPr>
        </p:nvSpPr>
        <p:spPr>
          <a:xfrm>
            <a:off x="4645027" y="1493520"/>
            <a:ext cx="4041775" cy="163576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Header 3"/>
          <p:cNvSpPr>
            <a:spLocks noGrp="1"/>
          </p:cNvSpPr>
          <p:nvPr>
            <p:ph type="body" sz="quarter" idx="12"/>
          </p:nvPr>
        </p:nvSpPr>
        <p:spPr>
          <a:xfrm>
            <a:off x="457200" y="3342640"/>
            <a:ext cx="4038600" cy="568960"/>
          </a:xfrm>
          <a:prstGeom prst="rect">
            <a:avLst/>
          </a:prstGeom>
        </p:spPr>
        <p:txBody>
          <a:bodyPr anchor="b"/>
          <a:lstStyle>
            <a:lvl1pPr>
              <a:defRPr lang="en-US" sz="1867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26705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4"/>
          </p:nvPr>
        </p:nvSpPr>
        <p:spPr>
          <a:xfrm>
            <a:off x="457200" y="3911600"/>
            <a:ext cx="4040188" cy="163576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Header 4"/>
          <p:cNvSpPr>
            <a:spLocks noGrp="1"/>
          </p:cNvSpPr>
          <p:nvPr>
            <p:ph type="body" sz="quarter" idx="13"/>
          </p:nvPr>
        </p:nvSpPr>
        <p:spPr>
          <a:xfrm>
            <a:off x="4648200" y="3342640"/>
            <a:ext cx="4038600" cy="568960"/>
          </a:xfrm>
          <a:prstGeom prst="rect">
            <a:avLst/>
          </a:prstGeom>
        </p:spPr>
        <p:txBody>
          <a:bodyPr anchor="b"/>
          <a:lstStyle>
            <a:lvl1pPr>
              <a:defRPr lang="en-US" sz="1867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26705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5" name="Content Placeholder 4"/>
          <p:cNvSpPr>
            <a:spLocks noGrp="1"/>
          </p:cNvSpPr>
          <p:nvPr>
            <p:ph sz="quarter" idx="15"/>
          </p:nvPr>
        </p:nvSpPr>
        <p:spPr>
          <a:xfrm>
            <a:off x="4645026" y="3911600"/>
            <a:ext cx="4041775" cy="1635760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1867"/>
            </a:lvl1pPr>
            <a:lvl2pPr>
              <a:spcAft>
                <a:spcPts val="747"/>
              </a:spcAft>
              <a:defRPr sz="1680"/>
            </a:lvl2pPr>
            <a:lvl3pPr>
              <a:spcAft>
                <a:spcPts val="747"/>
              </a:spcAft>
              <a:defRPr sz="1493"/>
            </a:lvl3pPr>
            <a:lvl4pPr>
              <a:spcAft>
                <a:spcPts val="747"/>
              </a:spcAft>
              <a:defRPr sz="1307"/>
            </a:lvl4pPr>
            <a:lvl5pPr>
              <a:spcAft>
                <a:spcPts val="747"/>
              </a:spcAft>
              <a:defRPr sz="1307"/>
            </a:lvl5pPr>
            <a:lvl6pPr>
              <a:defRPr sz="1493"/>
            </a:lvl6pPr>
            <a:lvl7pPr>
              <a:defRPr sz="1493"/>
            </a:lvl7pPr>
            <a:lvl8pPr>
              <a:defRPr sz="1493"/>
            </a:lvl8pPr>
            <a:lvl9pPr>
              <a:defRPr sz="14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17620" y="5596313"/>
            <a:ext cx="150876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description(s)</a:t>
            </a:r>
          </a:p>
        </p:txBody>
      </p:sp>
      <p:sp>
        <p:nvSpPr>
          <p:cNvPr id="16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249387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Content with Left Side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457202" y="284480"/>
            <a:ext cx="3008313" cy="782320"/>
          </a:xfrm>
          <a:prstGeom prst="rect">
            <a:avLst/>
          </a:prstGeom>
        </p:spPr>
        <p:txBody>
          <a:bodyPr anchor="b"/>
          <a:lstStyle>
            <a:lvl1pPr algn="l">
              <a:defRPr sz="168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457202" y="1066800"/>
            <a:ext cx="3008313" cy="497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3575051" y="284481"/>
            <a:ext cx="5111751" cy="5767831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5445125" y="6056283"/>
            <a:ext cx="137160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8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3782621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Content with Right Side-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5678488" y="284480"/>
            <a:ext cx="3008313" cy="782320"/>
          </a:xfrm>
          <a:prstGeom prst="rect">
            <a:avLst/>
          </a:prstGeom>
        </p:spPr>
        <p:txBody>
          <a:bodyPr anchor="b"/>
          <a:lstStyle>
            <a:lvl1pPr algn="l">
              <a:defRPr sz="168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5678488" y="1066800"/>
            <a:ext cx="3008313" cy="4978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/>
          </p:nvPr>
        </p:nvSpPr>
        <p:spPr>
          <a:xfrm>
            <a:off x="457201" y="284481"/>
            <a:ext cx="5111751" cy="5767831"/>
          </a:xfrm>
          <a:prstGeom prst="rect">
            <a:avLst/>
          </a:prstGeom>
        </p:spPr>
        <p:txBody>
          <a:bodyPr/>
          <a:lstStyle>
            <a:lvl1pPr>
              <a:spcAft>
                <a:spcPts val="747"/>
              </a:spcAft>
              <a:defRPr sz="2240"/>
            </a:lvl1pPr>
            <a:lvl2pPr>
              <a:spcAft>
                <a:spcPts val="747"/>
              </a:spcAft>
              <a:defRPr sz="1867"/>
            </a:lvl2pPr>
            <a:lvl3pPr>
              <a:spcAft>
                <a:spcPts val="747"/>
              </a:spcAft>
              <a:defRPr sz="1680"/>
            </a:lvl3pPr>
            <a:lvl4pPr>
              <a:spcAft>
                <a:spcPts val="747"/>
              </a:spcAft>
              <a:defRPr sz="1493"/>
            </a:lvl4pPr>
            <a:lvl5pPr>
              <a:spcAft>
                <a:spcPts val="747"/>
              </a:spcAft>
              <a:defRPr sz="1493"/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Jump Link"/>
          <p:cNvSpPr>
            <a:spLocks noGrp="1"/>
          </p:cNvSpPr>
          <p:nvPr>
            <p:ph type="body" sz="quarter" idx="12" hasCustomPrompt="1"/>
          </p:nvPr>
        </p:nvSpPr>
        <p:spPr>
          <a:xfrm>
            <a:off x="2327275" y="6056283"/>
            <a:ext cx="137160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3414613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1828800" y="4902835"/>
            <a:ext cx="5486400" cy="528955"/>
          </a:xfrm>
          <a:prstGeom prst="rect">
            <a:avLst/>
          </a:prstGeom>
        </p:spPr>
        <p:txBody>
          <a:bodyPr anchor="b"/>
          <a:lstStyle>
            <a:lvl1pPr algn="l">
              <a:defRPr sz="2240" b="1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"/>
          <p:cNvSpPr>
            <a:spLocks noGrp="1"/>
          </p:cNvSpPr>
          <p:nvPr>
            <p:ph type="body" sz="half" idx="2"/>
          </p:nvPr>
        </p:nvSpPr>
        <p:spPr>
          <a:xfrm>
            <a:off x="1828800" y="5502910"/>
            <a:ext cx="5486400" cy="568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7"/>
            </a:lvl1pPr>
            <a:lvl2pPr marL="426705" indent="0">
              <a:buNone/>
              <a:defRPr sz="1120"/>
            </a:lvl2pPr>
            <a:lvl3pPr marL="853410" indent="0">
              <a:buNone/>
              <a:defRPr sz="933"/>
            </a:lvl3pPr>
            <a:lvl4pPr marL="1280114" indent="0">
              <a:buNone/>
              <a:defRPr sz="840"/>
            </a:lvl4pPr>
            <a:lvl5pPr marL="1706819" indent="0">
              <a:buNone/>
              <a:defRPr sz="840"/>
            </a:lvl5pPr>
            <a:lvl6pPr marL="2133524" indent="0">
              <a:buNone/>
              <a:defRPr sz="840"/>
            </a:lvl6pPr>
            <a:lvl7pPr marL="2560229" indent="0">
              <a:buNone/>
              <a:defRPr sz="840"/>
            </a:lvl7pPr>
            <a:lvl8pPr marL="2986933" indent="0">
              <a:buNone/>
              <a:defRPr sz="840"/>
            </a:lvl8pPr>
            <a:lvl9pPr marL="3413638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idx="1"/>
          </p:nvPr>
        </p:nvSpPr>
        <p:spPr>
          <a:xfrm>
            <a:off x="1028700" y="120074"/>
            <a:ext cx="7086600" cy="46149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87"/>
            </a:lvl1pPr>
            <a:lvl2pPr marL="426705" indent="0">
              <a:buNone/>
              <a:defRPr sz="2613"/>
            </a:lvl2pPr>
            <a:lvl3pPr marL="853410" indent="0">
              <a:buNone/>
              <a:defRPr sz="2240"/>
            </a:lvl3pPr>
            <a:lvl4pPr marL="1280114" indent="0">
              <a:buNone/>
              <a:defRPr sz="1867"/>
            </a:lvl4pPr>
            <a:lvl5pPr marL="1706819" indent="0">
              <a:buNone/>
              <a:defRPr sz="1867"/>
            </a:lvl5pPr>
            <a:lvl6pPr marL="2133524" indent="0">
              <a:buNone/>
              <a:defRPr sz="1867"/>
            </a:lvl6pPr>
            <a:lvl7pPr marL="2560229" indent="0">
              <a:buNone/>
              <a:defRPr sz="1867"/>
            </a:lvl7pPr>
            <a:lvl8pPr marL="2986933" indent="0">
              <a:buNone/>
              <a:defRPr sz="1867"/>
            </a:lvl8pPr>
            <a:lvl9pPr marL="3413638" indent="0">
              <a:buNone/>
              <a:defRPr sz="1867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7" name="Jump Link"/>
          <p:cNvSpPr>
            <a:spLocks noGrp="1"/>
          </p:cNvSpPr>
          <p:nvPr>
            <p:ph type="body" sz="quarter" idx="16" hasCustomPrompt="1"/>
          </p:nvPr>
        </p:nvSpPr>
        <p:spPr>
          <a:xfrm>
            <a:off x="3886200" y="4742873"/>
            <a:ext cx="1371600" cy="932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747"/>
            </a:lvl1pPr>
          </a:lstStyle>
          <a:p>
            <a:pPr lvl="0"/>
            <a:r>
              <a:rPr lang="en-US" dirty="0"/>
              <a:t>Jump to long image description</a:t>
            </a:r>
          </a:p>
        </p:txBody>
      </p:sp>
      <p:sp>
        <p:nvSpPr>
          <p:cNvPr id="9" name="Photo Credit"/>
          <p:cNvSpPr>
            <a:spLocks noGrp="1"/>
          </p:cNvSpPr>
          <p:nvPr>
            <p:ph type="body" sz="quarter" idx="11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Photo Credit Here</a:t>
            </a:r>
          </a:p>
        </p:txBody>
      </p:sp>
    </p:spTree>
    <p:extLst>
      <p:ext uri="{BB962C8B-B14F-4D97-AF65-F5344CB8AC3E}">
        <p14:creationId xmlns:p14="http://schemas.microsoft.com/office/powerpoint/2010/main" val="1387959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dBar-Title an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-2251" y="213360"/>
            <a:ext cx="9172252" cy="568960"/>
          </a:xfrm>
          <a:prstGeom prst="rect">
            <a:avLst/>
          </a:prstGeom>
        </p:spPr>
        <p:txBody>
          <a:bodyPr/>
          <a:lstStyle>
            <a:lvl1pPr>
              <a:defRPr sz="336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1"/>
          </p:nvPr>
        </p:nvSpPr>
        <p:spPr>
          <a:xfrm>
            <a:off x="0" y="995679"/>
            <a:ext cx="9144000" cy="4961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media</a:t>
            </a:r>
          </a:p>
        </p:txBody>
      </p:sp>
      <p:sp>
        <p:nvSpPr>
          <p:cNvPr id="5" name="Video Credit"/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6258560"/>
            <a:ext cx="2667000" cy="142240"/>
          </a:xfrm>
          <a:prstGeom prst="rect">
            <a:avLst/>
          </a:prstGeom>
        </p:spPr>
        <p:txBody>
          <a:bodyPr wrap="none" lIns="0" tIns="0" rIns="45720" bIns="0"/>
          <a:lstStyle>
            <a:lvl1pPr marL="0" marR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7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r" defTabSz="8534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47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Insert Video Credit Here</a:t>
            </a:r>
          </a:p>
        </p:txBody>
      </p:sp>
    </p:spTree>
    <p:extLst>
      <p:ext uri="{BB962C8B-B14F-4D97-AF65-F5344CB8AC3E}">
        <p14:creationId xmlns:p14="http://schemas.microsoft.com/office/powerpoint/2010/main" val="305574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28">
          <p15:clr>
            <a:srgbClr val="FBAE40"/>
          </p15:clr>
        </p15:guide>
        <p15:guide id="3" pos="51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97840"/>
            <a:ext cx="8153400" cy="1066800"/>
          </a:xfrm>
          <a:prstGeom prst="roundRect">
            <a:avLst>
              <a:gd name="adj" fmla="val 16667"/>
            </a:avLst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706880"/>
            <a:ext cx="8153400" cy="4622800"/>
          </a:xfrm>
          <a:prstGeom prst="rect">
            <a:avLst/>
          </a:prstGeom>
        </p:spPr>
        <p:txBody>
          <a:bodyPr/>
          <a:lstStyle>
            <a:lvl1pPr>
              <a:buClrTx/>
              <a:buFont typeface="Wingdings" pitchFamily="2" charset="2"/>
              <a:buChar char="§"/>
              <a:defRPr/>
            </a:lvl1pPr>
            <a:lvl2pPr>
              <a:buClrTx/>
              <a:buFont typeface="Arial" pitchFamily="34" charset="0"/>
              <a:buChar char="•"/>
              <a:defRPr/>
            </a:lvl2pPr>
            <a:lvl3pPr>
              <a:buClrTx/>
              <a:buFont typeface="Wingdings" pitchFamily="2" charset="2"/>
              <a:buChar char="v"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032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ic Level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/>
          <p:nvPr userDrawn="1"/>
        </p:nvCxnSpPr>
        <p:spPr>
          <a:xfrm>
            <a:off x="609600" y="5902960"/>
            <a:ext cx="85344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 userDrawn="1"/>
        </p:nvSpPr>
        <p:spPr>
          <a:xfrm>
            <a:off x="6781800" y="5938520"/>
            <a:ext cx="2362200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6729" y="568960"/>
            <a:ext cx="8063871" cy="1280160"/>
          </a:xfrm>
        </p:spPr>
        <p:txBody>
          <a:bodyPr>
            <a:normAutofit/>
          </a:bodyPr>
          <a:lstStyle>
            <a:lvl1pPr marL="0" indent="0" algn="l">
              <a:spcBef>
                <a:spcPts val="560"/>
              </a:spcBef>
              <a:spcAft>
                <a:spcPts val="560"/>
              </a:spcAft>
              <a:buNone/>
              <a:defRPr sz="4480" baseline="0">
                <a:solidFill>
                  <a:schemeClr val="accent1">
                    <a:lumMod val="75000"/>
                  </a:schemeClr>
                </a:solidFill>
                <a:latin typeface="Rockwell" pitchFamily="18" charset="0"/>
                <a:cs typeface="Times New Roman" pitchFamily="18" charset="0"/>
              </a:defRPr>
            </a:lvl1pPr>
            <a:lvl2pPr marL="42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53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801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06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335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60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86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13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Level 3 Topic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C392DC9-9688-4E44-A90B-C333AD8FEA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142240"/>
            <a:ext cx="2362200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920240"/>
            <a:ext cx="8534400" cy="0"/>
          </a:xfrm>
          <a:prstGeom prst="line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33400" y="1991360"/>
            <a:ext cx="8153400" cy="3769360"/>
          </a:xfrm>
        </p:spPr>
        <p:txBody>
          <a:bodyPr/>
          <a:lstStyle>
            <a:lvl1pPr>
              <a:defRPr baseline="0">
                <a:solidFill>
                  <a:schemeClr val="accent6">
                    <a:lumMod val="50000"/>
                  </a:schemeClr>
                </a:solidFill>
                <a:latin typeface="Rockwell" pitchFamily="18" charset="0"/>
              </a:defRPr>
            </a:lvl1pPr>
            <a:lvl2pPr>
              <a:defRPr baseline="0">
                <a:latin typeface="Times New Roman" pitchFamily="18" charset="0"/>
              </a:defRPr>
            </a:lvl2pPr>
            <a:lvl3pPr>
              <a:defRPr baseline="0">
                <a:latin typeface="Times New Roman" pitchFamily="18" charset="0"/>
              </a:defRPr>
            </a:lvl3pPr>
            <a:lvl4pPr>
              <a:defRPr baseline="0">
                <a:latin typeface="Times New Roman" pitchFamily="18" charset="0"/>
              </a:defRPr>
            </a:lvl4pPr>
            <a:lvl5pPr>
              <a:defRPr baseline="0">
                <a:latin typeface="Times New Roman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37228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01E674D-A984-4943-8D4E-FD355A028C8E}" type="datetimeFigureOut">
              <a:rPr lang="en-US" smtClean="0"/>
              <a:pPr>
                <a:defRPr/>
              </a:pPr>
              <a:t>8/21/2022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7F2F25-494F-4EA1-B529-31FA38D1731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33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436231"/>
            <a:ext cx="8415338" cy="14111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82578" y="6072313"/>
            <a:ext cx="306494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43091"/>
            <a:ext cx="8415338" cy="28777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7" y="6170274"/>
            <a:ext cx="8014247" cy="1978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355600"/>
          </a:xfrm>
          <a:prstGeom prst="rect">
            <a:avLst/>
          </a:prstGeom>
          <a:solidFill>
            <a:srgbClr val="0070C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7409"/>
            <a:ext cx="9144000" cy="205951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355600"/>
            <a:ext cx="9144000" cy="54822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d Bar"/>
          <p:cNvSpPr/>
          <p:nvPr/>
        </p:nvSpPr>
        <p:spPr>
          <a:xfrm>
            <a:off x="0" y="6258560"/>
            <a:ext cx="9144000" cy="142240"/>
          </a:xfrm>
          <a:prstGeom prst="rect">
            <a:avLst/>
          </a:prstGeom>
          <a:solidFill>
            <a:srgbClr val="C30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 dirty="0">
              <a:solidFill>
                <a:schemeClr val="bg2"/>
              </a:solidFill>
            </a:endParaRPr>
          </a:p>
        </p:txBody>
      </p:sp>
      <p:sp>
        <p:nvSpPr>
          <p:cNvPr id="10" name="Copyright" descr="©McGraw-Hill Education&#10;"/>
          <p:cNvSpPr txBox="1">
            <a:spLocks/>
          </p:cNvSpPr>
          <p:nvPr/>
        </p:nvSpPr>
        <p:spPr>
          <a:xfrm>
            <a:off x="0" y="6258560"/>
            <a:ext cx="1371600" cy="142240"/>
          </a:xfrm>
          <a:prstGeom prst="rect">
            <a:avLst/>
          </a:prstGeom>
        </p:spPr>
        <p:txBody>
          <a:bodyPr vert="horz" lIns="85344" tIns="42672" rIns="85344" bIns="42672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987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©McGraw-Hill Education.</a:t>
            </a:r>
          </a:p>
        </p:txBody>
      </p:sp>
    </p:spTree>
    <p:extLst>
      <p:ext uri="{BB962C8B-B14F-4D97-AF65-F5344CB8AC3E}">
        <p14:creationId xmlns:p14="http://schemas.microsoft.com/office/powerpoint/2010/main" val="2062811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ctr" defTabSz="426705" rtl="0" eaLnBrk="1" latinLnBrk="0" hangingPunct="1">
        <a:spcBef>
          <a:spcPct val="0"/>
        </a:spcBef>
        <a:buNone/>
        <a:defRPr sz="4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29" indent="-320029" algn="l" defTabSz="426705" rtl="0" eaLnBrk="1" latinLnBrk="0" hangingPunct="1">
        <a:spcBef>
          <a:spcPct val="20000"/>
        </a:spcBef>
        <a:buFont typeface="Arial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693395" indent="-266690" algn="l" defTabSz="426705" rtl="0" eaLnBrk="1" latinLnBrk="0" hangingPunct="1">
        <a:spcBef>
          <a:spcPct val="20000"/>
        </a:spcBef>
        <a:buFont typeface="Arial"/>
        <a:buChar char="–"/>
        <a:defRPr sz="2613" kern="1200">
          <a:solidFill>
            <a:schemeClr val="tx1"/>
          </a:solidFill>
          <a:latin typeface="+mn-lt"/>
          <a:ea typeface="+mn-ea"/>
          <a:cs typeface="+mn-cs"/>
        </a:defRPr>
      </a:lvl2pPr>
      <a:lvl3pPr marL="1066762" indent="-213352" algn="l" defTabSz="426705" rtl="0" eaLnBrk="1" latinLnBrk="0" hangingPunct="1">
        <a:spcBef>
          <a:spcPct val="20000"/>
        </a:spcBef>
        <a:buFont typeface="Arial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3pPr>
      <a:lvl4pPr marL="1493467" indent="-213352" algn="l" defTabSz="426705" rtl="0" eaLnBrk="1" latinLnBrk="0" hangingPunct="1">
        <a:spcBef>
          <a:spcPct val="20000"/>
        </a:spcBef>
        <a:buFont typeface="Arial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920171" indent="-213352" algn="l" defTabSz="42670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346876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73581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6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26990" indent="-213352" algn="l" defTabSz="42670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26705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53410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14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1706819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2133524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2560229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2986933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3413638" algn="l" defTabSz="426705" rtl="0" eaLnBrk="1" latinLnBrk="0" hangingPunct="1"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Chapter 1</a:t>
            </a:r>
          </a:p>
          <a:p>
            <a:r>
              <a:rPr lang="en-US" altLang="en-US" dirty="0"/>
              <a:t>Database Systems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6B56-381A-4545-86BA-76DCB4740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Database?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2D2C-0D33-4731-ABA1-CD599C08C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Database</a:t>
            </a:r>
            <a:r>
              <a:rPr lang="en-US" dirty="0"/>
              <a:t> refers to an organized collection of electronic records that could be processed to produce useful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689705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436231"/>
            <a:ext cx="8415338" cy="895630"/>
          </a:xfrm>
        </p:spPr>
        <p:txBody>
          <a:bodyPr/>
          <a:lstStyle/>
          <a:p>
            <a:r>
              <a:rPr lang="en-US" dirty="0"/>
              <a:t>Databases make data persistent and shareable in a secure way</a:t>
            </a:r>
          </a:p>
          <a:p>
            <a:pPr lvl="1"/>
            <a:r>
              <a:rPr lang="en-US" dirty="0"/>
              <a:t>Specialized structures that allow computer-based systems to store, manage, and retrieve data very quickly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Databases?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Single-user database: supports one user at a time</a:t>
            </a:r>
          </a:p>
          <a:p>
            <a:pPr lvl="1"/>
            <a:r>
              <a:rPr lang="en-US" altLang="en-US" dirty="0"/>
              <a:t>Desktop database: single-user database on a personal computer </a:t>
            </a:r>
          </a:p>
          <a:p>
            <a:r>
              <a:rPr lang="en-US" altLang="en-US" dirty="0"/>
              <a:t>Multiuser database: supports multiple users at the same time</a:t>
            </a:r>
          </a:p>
          <a:p>
            <a:pPr lvl="1"/>
            <a:r>
              <a:rPr lang="en-US" altLang="en-US" dirty="0"/>
              <a:t>Workgroup databases: supports a small number of users or a specific department</a:t>
            </a:r>
          </a:p>
          <a:p>
            <a:pPr lvl="1"/>
            <a:r>
              <a:rPr lang="en-US" altLang="en-US" dirty="0"/>
              <a:t>Enterprise database: supports many users across many departments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60698"/>
            <a:ext cx="8026400" cy="290336"/>
          </a:xfrm>
        </p:spPr>
        <p:txBody>
          <a:bodyPr/>
          <a:lstStyle/>
          <a:p>
            <a:r>
              <a:rPr lang="en-US" altLang="en-US" dirty="0"/>
              <a:t>Types of Databases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2E81-9E2A-4805-A77F-669CC4404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0" y="142240"/>
            <a:ext cx="7609840" cy="92456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Types of Databases</a:t>
            </a:r>
            <a:endParaRPr lang="en-US" sz="2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3881D-2017-4740-8661-FB9F94239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7945120" cy="3305457"/>
          </a:xfrm>
        </p:spPr>
        <p:txBody>
          <a:bodyPr/>
          <a:lstStyle/>
          <a:p>
            <a:r>
              <a:rPr lang="en-US" dirty="0"/>
              <a:t> </a:t>
            </a:r>
            <a:r>
              <a:rPr lang="en-US" sz="2400" dirty="0"/>
              <a:t>Databases can be classified to reflect how they will be used.</a:t>
            </a:r>
          </a:p>
          <a:p>
            <a:pPr algn="l"/>
            <a:endParaRPr lang="en-US" sz="2240" dirty="0"/>
          </a:p>
          <a:p>
            <a:pPr algn="l"/>
            <a:r>
              <a:rPr lang="en-US" sz="2240" dirty="0"/>
              <a:t>Operational Database -OLTP (online transaction processing) database – support a company’s day-to-day operations.</a:t>
            </a:r>
          </a:p>
          <a:p>
            <a:pPr algn="l"/>
            <a:endParaRPr lang="en-US" sz="2240" dirty="0"/>
          </a:p>
          <a:p>
            <a:r>
              <a:rPr lang="en-US" sz="2240" dirty="0"/>
              <a:t>Data warehouse-OLAP (online analytical processing) database- </a:t>
            </a:r>
            <a:br>
              <a:rPr lang="en-US" sz="2240" dirty="0"/>
            </a:b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stores historical data, </a:t>
            </a: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helps with enterprise wide planning, problem solving, and decision making.</a:t>
            </a:r>
          </a:p>
        </p:txBody>
      </p:sp>
    </p:spTree>
    <p:extLst>
      <p:ext uri="{BB962C8B-B14F-4D97-AF65-F5344CB8AC3E}">
        <p14:creationId xmlns:p14="http://schemas.microsoft.com/office/powerpoint/2010/main" val="3597412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Grp="1" noChangeArrowheads="1"/>
          </p:cNvSpPr>
          <p:nvPr>
            <p:ph type="title"/>
          </p:nvPr>
        </p:nvSpPr>
        <p:spPr>
          <a:xfrm>
            <a:off x="944880" y="338594"/>
            <a:ext cx="7609840" cy="799326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b="1" dirty="0"/>
              <a:t>DATA &amp; INFORMATION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89280" y="1219200"/>
            <a:ext cx="7965440" cy="4470400"/>
          </a:xfrm>
        </p:spPr>
        <p:txBody>
          <a:bodyPr/>
          <a:lstStyle/>
          <a:p>
            <a:pPr>
              <a:spcAft>
                <a:spcPts val="1680"/>
              </a:spcAft>
            </a:pPr>
            <a:r>
              <a:rPr lang="en-US" sz="2613" b="1" dirty="0"/>
              <a:t>Data</a:t>
            </a:r>
            <a:r>
              <a:rPr lang="en-US" sz="2613" b="1" i="1" dirty="0">
                <a:solidFill>
                  <a:srgbClr val="5CA3DE"/>
                </a:solidFill>
              </a:rPr>
              <a:t> </a:t>
            </a:r>
            <a:r>
              <a:rPr lang="en-US" sz="2613" dirty="0"/>
              <a:t>- Raw facts that describe the characteristics of an event or object</a:t>
            </a:r>
          </a:p>
          <a:p>
            <a:pPr>
              <a:spcAft>
                <a:spcPts val="1680"/>
              </a:spcAft>
            </a:pPr>
            <a:r>
              <a:rPr lang="en-US" sz="2613" b="1" dirty="0"/>
              <a:t>Information </a:t>
            </a:r>
            <a:r>
              <a:rPr lang="en-US" sz="2613" dirty="0"/>
              <a:t>- Data converted into a meaningful and useful context</a:t>
            </a:r>
          </a:p>
          <a:p>
            <a:pPr>
              <a:spcAft>
                <a:spcPts val="1680"/>
              </a:spcAft>
            </a:pPr>
            <a:endParaRPr lang="en-US" sz="2613" dirty="0"/>
          </a:p>
          <a:p>
            <a:pPr>
              <a:spcAft>
                <a:spcPts val="1680"/>
              </a:spcAft>
              <a:buNone/>
            </a:pPr>
            <a:endParaRPr lang="en-US" sz="26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Grp="1" noChangeArrowheads="1"/>
          </p:cNvSpPr>
          <p:nvPr>
            <p:ph type="title"/>
          </p:nvPr>
        </p:nvSpPr>
        <p:spPr>
          <a:xfrm>
            <a:off x="944880" y="284480"/>
            <a:ext cx="7609840" cy="7112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b="1" dirty="0"/>
              <a:t>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77903" y="995680"/>
            <a:ext cx="7965440" cy="1422400"/>
          </a:xfrm>
        </p:spPr>
        <p:txBody>
          <a:bodyPr/>
          <a:lstStyle/>
          <a:p>
            <a:pPr>
              <a:spcAft>
                <a:spcPts val="1680"/>
              </a:spcAft>
              <a:buNone/>
            </a:pPr>
            <a:endParaRPr lang="en-US" sz="2613" dirty="0"/>
          </a:p>
        </p:txBody>
      </p:sp>
      <p:graphicFrame>
        <p:nvGraphicFramePr>
          <p:cNvPr id="4" name="Table 3" descr="NULL"/>
          <p:cNvGraphicFramePr>
            <a:graphicFrameLocks noGrp="1"/>
          </p:cNvGraphicFramePr>
          <p:nvPr/>
        </p:nvGraphicFramePr>
        <p:xfrm>
          <a:off x="1371600" y="1209040"/>
          <a:ext cx="6258562" cy="4693922"/>
        </p:xfrm>
        <a:graphic>
          <a:graphicData uri="http://schemas.openxmlformats.org/drawingml/2006/table">
            <a:tbl>
              <a:tblPr firstRow="1" firstCol="1" bandRow="1"/>
              <a:tblGrid>
                <a:gridCol w="1446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5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29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08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00815">
                  <a:extLst>
                    <a:ext uri="{9D8B030D-6E8A-4147-A177-3AD203B41FA5}">
                      <a16:colId xmlns:a16="http://schemas.microsoft.com/office/drawing/2014/main" val="3727665858"/>
                    </a:ext>
                  </a:extLst>
                </a:gridCol>
              </a:tblGrid>
              <a:tr h="9464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Customer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Product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Qty Sold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Proﬁt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b="1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Date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1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Walmart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Doritos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41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$246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2/3/2017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9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Walmart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Ruffles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90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$450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3/5/2017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Safeway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Ruffles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$135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5/6/2017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0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Walmart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Ruffles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67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$335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7/8/2017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9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7-Eleven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Pringles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79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$474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2/7/2018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9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Kroger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Ruffles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52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$260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5/7/2018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99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Walmart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Ruffles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39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$195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900" dirty="0">
                          <a:effectLst/>
                          <a:latin typeface="Calibri" charset="0"/>
                          <a:ea typeface="Calibri" charset="0"/>
                          <a:cs typeface="Times New Roman" charset="0"/>
                        </a:rPr>
                        <a:t>5/10/2018</a:t>
                      </a:r>
                    </a:p>
                  </a:txBody>
                  <a:tcPr marL="60919" marR="609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62317B42-A9CF-4ACF-8AB8-D53EA3DF64B8}"/>
              </a:ext>
            </a:extLst>
          </p:cNvPr>
          <p:cNvSpPr/>
          <p:nvPr/>
        </p:nvSpPr>
        <p:spPr>
          <a:xfrm>
            <a:off x="5283200" y="4409440"/>
            <a:ext cx="640080" cy="1351280"/>
          </a:xfrm>
          <a:prstGeom prst="ellipse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B656D7-5EEF-45F5-B4A7-CAA6D48BC73C}"/>
              </a:ext>
            </a:extLst>
          </p:cNvPr>
          <p:cNvSpPr/>
          <p:nvPr/>
        </p:nvSpPr>
        <p:spPr>
          <a:xfrm>
            <a:off x="4358640" y="4409440"/>
            <a:ext cx="355600" cy="355600"/>
          </a:xfrm>
          <a:prstGeom prst="ellipse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07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E90E8-1582-4E10-A9E1-442A46D9C433}"/>
              </a:ext>
            </a:extLst>
          </p:cNvPr>
          <p:cNvSpPr/>
          <p:nvPr/>
        </p:nvSpPr>
        <p:spPr>
          <a:xfrm>
            <a:off x="6096000" y="5710809"/>
            <a:ext cx="2718463" cy="42672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7" dirty="0">
                <a:solidFill>
                  <a:schemeClr val="tx1"/>
                </a:solidFill>
              </a:rPr>
              <a:t>$474+$260+$195 = $929</a:t>
            </a:r>
          </a:p>
        </p:txBody>
      </p:sp>
    </p:spTree>
    <p:extLst>
      <p:ext uri="{BB962C8B-B14F-4D97-AF65-F5344CB8AC3E}">
        <p14:creationId xmlns:p14="http://schemas.microsoft.com/office/powerpoint/2010/main" val="415612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436231"/>
            <a:ext cx="8415338" cy="1791260"/>
          </a:xfrm>
        </p:spPr>
        <p:txBody>
          <a:bodyPr/>
          <a:lstStyle/>
          <a:p>
            <a:r>
              <a:rPr lang="en-US" altLang="en-US" dirty="0"/>
              <a:t>Focuses on design of database structure that will be used to store and manage end-user data</a:t>
            </a:r>
          </a:p>
          <a:p>
            <a:pPr lvl="1"/>
            <a:r>
              <a:rPr lang="en-US" altLang="en-US" dirty="0"/>
              <a:t>Well-designed database facilitates data management and generates accurate and valuable information</a:t>
            </a:r>
          </a:p>
          <a:p>
            <a:pPr lvl="1"/>
            <a:r>
              <a:rPr lang="en-US" altLang="en-US" dirty="0"/>
              <a:t>Poorly designed database causes difficult-to-trace errors that may lead to poor decision making 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Database Design Is Important</a:t>
            </a: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Grp="1" noChangeArrowheads="1"/>
          </p:cNvSpPr>
          <p:nvPr>
            <p:ph type="title"/>
          </p:nvPr>
        </p:nvSpPr>
        <p:spPr>
          <a:xfrm>
            <a:off x="762000" y="381000"/>
            <a:ext cx="7792720" cy="75692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b="1" dirty="0"/>
              <a:t>Requirements of a good database design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89280" y="2057400"/>
            <a:ext cx="7965440" cy="3632200"/>
          </a:xfrm>
        </p:spPr>
        <p:txBody>
          <a:bodyPr/>
          <a:lstStyle/>
          <a:p>
            <a:pPr algn="l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Preserve relationships between data. </a:t>
            </a:r>
            <a:b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Store all data. </a:t>
            </a:r>
          </a:p>
          <a:p>
            <a:pPr algn="l">
              <a:buNone/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Avoid redundant storage of data. </a:t>
            </a:r>
            <a:endParaRPr lang="en-US" sz="2000" dirty="0"/>
          </a:p>
          <a:p>
            <a:pPr>
              <a:spcAft>
                <a:spcPts val="1680"/>
              </a:spcAft>
              <a:buNone/>
            </a:pPr>
            <a:endParaRPr lang="en-US" sz="2613" dirty="0"/>
          </a:p>
        </p:txBody>
      </p:sp>
    </p:spTree>
    <p:extLst>
      <p:ext uri="{BB962C8B-B14F-4D97-AF65-F5344CB8AC3E}">
        <p14:creationId xmlns:p14="http://schemas.microsoft.com/office/powerpoint/2010/main" val="356557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42241"/>
            <a:ext cx="7680960" cy="568959"/>
          </a:xfrm>
        </p:spPr>
        <p:txBody>
          <a:bodyPr>
            <a:noAutofit/>
          </a:bodyPr>
          <a:lstStyle/>
          <a:p>
            <a:r>
              <a:rPr lang="en-US" sz="224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Storing Data Efficiently (University Database Example)</a:t>
            </a:r>
            <a:endParaRPr lang="en-US" sz="224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31520" y="943308"/>
          <a:ext cx="7894320" cy="498928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924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9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4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89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StudentID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StudentFirstName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Major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CourseID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err="1">
                          <a:effectLst/>
                        </a:rPr>
                        <a:t>CourseName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effectLst/>
                        </a:rPr>
                        <a:t>Grade</a:t>
                      </a:r>
                      <a:endParaRPr lang="en-US" sz="11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A1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Amy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Finance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101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Finance Fundamentals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A2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Casandra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CIS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102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Business Info Systems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B+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A3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Joe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Accounting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103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Marketing Management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A-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A1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Amy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Finance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103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Marketing Management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B-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A2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Casandra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CIS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101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Finance Fundamentals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A3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Joe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Accounting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102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Business Info Systems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B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A4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Tim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Management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A5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Shawn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Marketing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A6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Chen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CIS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A7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James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Accounting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88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104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Financial Accounting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577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105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Managing Organizations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 defTabSz="853410">
              <a:defRPr/>
            </a:pPr>
            <a:fld id="{737A8058-C106-4FCC-BE8E-4C981CEB0161}" type="slidenum">
              <a:rPr lang="en-US" smtClean="0"/>
              <a:pPr algn="r" defTabSz="853410">
                <a:defRPr/>
              </a:pPr>
              <a:t>10</a:t>
            </a:fld>
            <a:endParaRPr lang="en-US" sz="1307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7CD17-7510-48D4-AD94-8A3B286BE126}"/>
              </a:ext>
            </a:extLst>
          </p:cNvPr>
          <p:cNvSpPr/>
          <p:nvPr/>
        </p:nvSpPr>
        <p:spPr>
          <a:xfrm>
            <a:off x="375920" y="213360"/>
            <a:ext cx="711200" cy="28448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3410">
              <a:spcBef>
                <a:spcPct val="50000"/>
              </a:spcBef>
              <a:defRPr/>
            </a:pPr>
            <a:endParaRPr lang="en-US" sz="1680">
              <a:solidFill>
                <a:srgbClr val="FFFF9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3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819" y="1"/>
            <a:ext cx="7013099" cy="667224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r>
              <a:rPr lang="en-US" sz="217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Storing Data Efficiently (University Database Example)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5091" y="1011934"/>
          <a:ext cx="3950271" cy="206270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05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16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3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37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effectLst/>
                        </a:rPr>
                        <a:t>StudentID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effectLst/>
                        </a:rPr>
                        <a:t>StudentFirstName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Major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A1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Amy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Finance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A2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Casandra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CIS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A3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Joe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Accounting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A4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Tim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Management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A5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Shawn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Marketing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A6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Chen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CIS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1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A7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James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Accounting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 defTabSz="853410">
              <a:defRPr/>
            </a:pPr>
            <a:fld id="{737A8058-C106-4FCC-BE8E-4C981CEB0161}" type="slidenum">
              <a:rPr lang="en-US" smtClean="0"/>
              <a:pPr algn="r" defTabSz="853410">
                <a:defRPr/>
              </a:pPr>
              <a:t>11</a:t>
            </a:fld>
            <a:endParaRPr lang="en-US" sz="1307">
              <a:solidFill>
                <a:srgbClr val="0000FF"/>
              </a:solidFill>
              <a:latin typeface="Garamond" pitchFamily="18" charset="0"/>
              <a:ea typeface="+mn-ea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134496" y="1011934"/>
          <a:ext cx="3174413" cy="20627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5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65">
                <a:tc>
                  <a:txBody>
                    <a:bodyPr/>
                    <a:lstStyle/>
                    <a:p>
                      <a:r>
                        <a:rPr lang="en-US" sz="1500" b="1" dirty="0" err="1"/>
                        <a:t>CourseID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b="1" dirty="0" err="1"/>
                        <a:t>CourseName</a:t>
                      </a:r>
                      <a:endParaRPr lang="en-US" sz="15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70">
                <a:tc>
                  <a:txBody>
                    <a:bodyPr/>
                    <a:lstStyle/>
                    <a:p>
                      <a:r>
                        <a:rPr lang="en-US" sz="1500" dirty="0"/>
                        <a:t>101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Finance Fundamentals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65">
                <a:tc>
                  <a:txBody>
                    <a:bodyPr/>
                    <a:lstStyle/>
                    <a:p>
                      <a:r>
                        <a:rPr lang="en-US" sz="1500" dirty="0"/>
                        <a:t>102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Business Info Systems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170">
                <a:tc>
                  <a:txBody>
                    <a:bodyPr/>
                    <a:lstStyle/>
                    <a:p>
                      <a:r>
                        <a:rPr lang="en-US" sz="1500" dirty="0"/>
                        <a:t>103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Marketing Management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65">
                <a:tc>
                  <a:txBody>
                    <a:bodyPr/>
                    <a:lstStyle/>
                    <a:p>
                      <a:r>
                        <a:rPr lang="en-US" sz="1500" dirty="0"/>
                        <a:t>104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Financial Accounting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575">
                <a:tc>
                  <a:txBody>
                    <a:bodyPr/>
                    <a:lstStyle/>
                    <a:p>
                      <a:r>
                        <a:rPr lang="en-US" sz="1500" dirty="0"/>
                        <a:t>105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Managing Organizations</a:t>
                      </a:r>
                      <a:endParaRPr lang="en-US" sz="15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4008" marR="64008" marT="32004" marB="3200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65120" y="3840481"/>
          <a:ext cx="3271519" cy="2346957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3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5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2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effectLst/>
                        </a:rPr>
                        <a:t>StudentID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effectLst/>
                        </a:rPr>
                        <a:t>CourseID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effectLst/>
                        </a:rPr>
                        <a:t>Grade</a:t>
                      </a:r>
                      <a:endParaRPr lang="en-US" sz="15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A1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101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89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A2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102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B+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A3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103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A-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A1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103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>
                          <a:effectLst/>
                        </a:rPr>
                        <a:t>B-</a:t>
                      </a:r>
                      <a:endParaRPr lang="en-US" sz="15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A2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101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5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A3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102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dirty="0">
                          <a:effectLst/>
                        </a:rPr>
                        <a:t>B</a:t>
                      </a:r>
                      <a:endParaRPr lang="en-US" sz="15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48006" marR="480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42720" y="667225"/>
            <a:ext cx="29159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53410">
              <a:spcBef>
                <a:spcPct val="50000"/>
              </a:spcBef>
              <a:defRPr/>
            </a:pPr>
            <a:r>
              <a:rPr lang="en-US" sz="1680" b="1" dirty="0">
                <a:solidFill>
                  <a:srgbClr val="0000FF"/>
                </a:solidFill>
                <a:ea typeface="+mn-ea"/>
                <a:cs typeface="Arial" panose="020B0604020202020204" pitchFamily="34" charset="0"/>
              </a:rPr>
              <a:t>Figure 1. Students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9484" y="667225"/>
            <a:ext cx="291592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53410">
              <a:spcBef>
                <a:spcPct val="50000"/>
              </a:spcBef>
              <a:defRPr/>
            </a:pPr>
            <a:r>
              <a:rPr lang="en-US" sz="1680" b="1" dirty="0">
                <a:solidFill>
                  <a:srgbClr val="0000FF"/>
                </a:solidFill>
                <a:ea typeface="+mn-ea"/>
                <a:cs typeface="Arial" panose="020B0604020202020204" pitchFamily="34" charset="0"/>
              </a:rPr>
              <a:t>Figure 2. Courses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040" y="3326156"/>
            <a:ext cx="4124960" cy="35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53410">
              <a:spcBef>
                <a:spcPct val="50000"/>
              </a:spcBef>
              <a:defRPr/>
            </a:pPr>
            <a:r>
              <a:rPr lang="en-US" sz="1680" b="1" dirty="0">
                <a:solidFill>
                  <a:srgbClr val="0000FF"/>
                </a:solidFill>
                <a:latin typeface="Arial" charset="0"/>
                <a:ea typeface="+mn-ea"/>
              </a:rPr>
              <a:t>               Figure 3. Grades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B7C44F-CB98-405B-A985-249B5D0B3DE1}"/>
              </a:ext>
            </a:extLst>
          </p:cNvPr>
          <p:cNvSpPr/>
          <p:nvPr/>
        </p:nvSpPr>
        <p:spPr>
          <a:xfrm>
            <a:off x="375920" y="213360"/>
            <a:ext cx="995680" cy="28448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53410">
              <a:spcBef>
                <a:spcPct val="50000"/>
              </a:spcBef>
              <a:defRPr/>
            </a:pPr>
            <a:endParaRPr lang="en-US" sz="1680">
              <a:solidFill>
                <a:srgbClr val="FFFF9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391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results of uncontrolled data redundancy </a:t>
            </a:r>
          </a:p>
          <a:p>
            <a:pPr lvl="1"/>
            <a:r>
              <a:rPr lang="en-US" altLang="en-US" dirty="0"/>
              <a:t>Poor data security </a:t>
            </a:r>
          </a:p>
          <a:p>
            <a:pPr lvl="1"/>
            <a:r>
              <a:rPr lang="en-US" altLang="en-US" dirty="0"/>
              <a:t>Data inconsistency </a:t>
            </a:r>
          </a:p>
          <a:p>
            <a:pPr lvl="1"/>
            <a:r>
              <a:rPr lang="en-CA" altLang="en-US" dirty="0"/>
              <a:t>Data-entry errors </a:t>
            </a:r>
          </a:p>
          <a:p>
            <a:pPr lvl="1"/>
            <a:r>
              <a:rPr lang="en-CA" altLang="en-US" dirty="0"/>
              <a:t>Data integrity problems </a:t>
            </a:r>
          </a:p>
        </p:txBody>
      </p:sp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762000" y="460698"/>
            <a:ext cx="8026400" cy="290336"/>
          </a:xfrm>
        </p:spPr>
        <p:txBody>
          <a:bodyPr/>
          <a:lstStyle/>
          <a:p>
            <a:r>
              <a:rPr lang="en-US" altLang="en-US" dirty="0"/>
              <a:t>Data Redundancy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Develop when not all of the required changes in the redundant data are made successfully </a:t>
            </a:r>
            <a:endParaRPr lang="en-US" altLang="en-US" dirty="0"/>
          </a:p>
          <a:p>
            <a:pPr lvl="1"/>
            <a:r>
              <a:rPr lang="en-US" dirty="0"/>
              <a:t>Update anomalies</a:t>
            </a:r>
          </a:p>
          <a:p>
            <a:pPr lvl="1"/>
            <a:r>
              <a:rPr lang="en-US" dirty="0"/>
              <a:t>Insertion anomalies</a:t>
            </a:r>
          </a:p>
          <a:p>
            <a:pPr lvl="1"/>
            <a:r>
              <a:rPr lang="en-US" dirty="0"/>
              <a:t>Deletion anomalies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Anomalies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02F5-35DE-49A7-B1F9-1735FEBB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DBMS?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F8016-1E97-43AC-9286-1229023B5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Database Management System (DBMS)</a:t>
            </a:r>
            <a:r>
              <a:rPr lang="en-US" dirty="0"/>
              <a:t> refers to the technology solution used to optimize and manage the storage and retrieval of data from databases.</a:t>
            </a:r>
          </a:p>
          <a:p>
            <a:endParaRPr lang="en-US" dirty="0"/>
          </a:p>
          <a:p>
            <a:r>
              <a:rPr lang="en-US" b="1" dirty="0"/>
              <a:t>Examples</a:t>
            </a:r>
            <a:r>
              <a:rPr lang="en-US" dirty="0"/>
              <a:t>: MySQL, Oracle, PostgreSQL, Microsoft Access, SQL Server</a:t>
            </a:r>
          </a:p>
        </p:txBody>
      </p:sp>
    </p:spTree>
    <p:extLst>
      <p:ext uri="{BB962C8B-B14F-4D97-AF65-F5344CB8AC3E}">
        <p14:creationId xmlns:p14="http://schemas.microsoft.com/office/powerpoint/2010/main" val="335066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213361"/>
            <a:ext cx="6986428" cy="64007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Relational Database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840" y="2418080"/>
            <a:ext cx="6045200" cy="3307081"/>
          </a:xfr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53410" eaLnBrk="1" hangingPunct="1"/>
            <a:endParaRPr lang="en-US" sz="1680" dirty="0">
              <a:solidFill>
                <a:prstClr val="black"/>
              </a:solidFill>
              <a:ea typeface="+mn-e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842B9C-A5C8-4EBE-B36C-40FBD00FD477}"/>
              </a:ext>
            </a:extLst>
          </p:cNvPr>
          <p:cNvSpPr/>
          <p:nvPr/>
        </p:nvSpPr>
        <p:spPr>
          <a:xfrm>
            <a:off x="785972" y="924560"/>
            <a:ext cx="7626508" cy="1209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853410" eaLnBrk="1" hangingPunct="1"/>
            <a:r>
              <a:rPr lang="en-US" sz="2240" dirty="0">
                <a:solidFill>
                  <a:prstClr val="black"/>
                </a:solidFill>
                <a:latin typeface="Calibri"/>
              </a:rPr>
              <a:t>A relational database data in a collection of tables that are connected to each other. Each table corresponds to a real-world object. </a:t>
            </a:r>
            <a:r>
              <a:rPr lang="en-US" sz="2240" dirty="0">
                <a:solidFill>
                  <a:prstClr val="white"/>
                </a:solidFill>
                <a:latin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65571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dictionary management</a:t>
            </a:r>
            <a:endParaRPr lang="en-CA" dirty="0"/>
          </a:p>
          <a:p>
            <a:pPr lvl="1"/>
            <a:r>
              <a:rPr lang="en-US" dirty="0"/>
              <a:t>Data dictionary: stores definitions of data elements and their relationships</a:t>
            </a:r>
          </a:p>
          <a:p>
            <a:r>
              <a:rPr lang="en-US" dirty="0"/>
              <a:t>Data storage management</a:t>
            </a:r>
          </a:p>
          <a:p>
            <a:pPr lvl="1"/>
            <a:r>
              <a:rPr lang="en-US" dirty="0"/>
              <a:t>Performance tuning ensures efficient performance </a:t>
            </a:r>
          </a:p>
          <a:p>
            <a:r>
              <a:rPr lang="en-US" dirty="0"/>
              <a:t>Data transformation and presentation</a:t>
            </a:r>
          </a:p>
          <a:p>
            <a:pPr lvl="1"/>
            <a:r>
              <a:rPr lang="en-US" dirty="0"/>
              <a:t>Data is formatted to conform to logical expectations</a:t>
            </a:r>
          </a:p>
          <a:p>
            <a:r>
              <a:rPr lang="en-US" dirty="0"/>
              <a:t>Security management</a:t>
            </a:r>
          </a:p>
          <a:p>
            <a:pPr lvl="1"/>
            <a:r>
              <a:rPr lang="en-CA" dirty="0"/>
              <a:t>Enforces user security and data privacy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60698"/>
            <a:ext cx="8026400" cy="290336"/>
          </a:xfrm>
        </p:spPr>
        <p:txBody>
          <a:bodyPr/>
          <a:lstStyle/>
          <a:p>
            <a:r>
              <a:rPr lang="en-US" altLang="en-US" dirty="0"/>
              <a:t>DBMS Functions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Multiuser access control</a:t>
            </a:r>
            <a:endParaRPr lang="en-CA" dirty="0"/>
          </a:p>
          <a:p>
            <a:pPr lvl="1"/>
            <a:r>
              <a:rPr lang="en-US" dirty="0"/>
              <a:t>Sophisticated algorithms ensure that multiple users can access the database concurrently without compromising its integrity</a:t>
            </a:r>
          </a:p>
          <a:p>
            <a:r>
              <a:rPr lang="en-US" dirty="0"/>
              <a:t>Backup and recovery management</a:t>
            </a:r>
          </a:p>
          <a:p>
            <a:pPr lvl="1"/>
            <a:r>
              <a:rPr lang="en-CA" dirty="0"/>
              <a:t>Enables recovery of the database after a failure</a:t>
            </a:r>
          </a:p>
          <a:p>
            <a:r>
              <a:rPr lang="en-US" dirty="0"/>
              <a:t>Data integrity management </a:t>
            </a:r>
            <a:endParaRPr lang="en-CA" dirty="0"/>
          </a:p>
          <a:p>
            <a:pPr lvl="1"/>
            <a:r>
              <a:rPr lang="en-US" dirty="0"/>
              <a:t>Minimizes redundancy and maximizes consistency</a:t>
            </a:r>
            <a:endParaRPr lang="en-CA" dirty="0"/>
          </a:p>
          <a:p>
            <a:pPr lvl="2"/>
            <a:endParaRPr lang="en-CA" dirty="0"/>
          </a:p>
          <a:p>
            <a:pPr lvl="1"/>
            <a:endParaRPr lang="en-CA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60698"/>
            <a:ext cx="8026400" cy="290336"/>
          </a:xfrm>
        </p:spPr>
        <p:txBody>
          <a:bodyPr/>
          <a:lstStyle/>
          <a:p>
            <a:r>
              <a:rPr lang="en-US" altLang="en-US" dirty="0"/>
              <a:t>DBMS Functions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295C-17F4-4F8A-9A44-16C4E610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880" y="213360"/>
            <a:ext cx="7609840" cy="640080"/>
          </a:xfrm>
        </p:spPr>
        <p:txBody>
          <a:bodyPr/>
          <a:lstStyle/>
          <a:p>
            <a:r>
              <a:rPr lang="en-US" b="1" dirty="0"/>
              <a:t>SQL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3FB1C-D657-4FB7-9BB9-0B7E30852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924560"/>
            <a:ext cx="7609840" cy="51422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SQL</a:t>
            </a:r>
            <a:r>
              <a:rPr lang="en-US" dirty="0"/>
              <a:t> stands for </a:t>
            </a:r>
          </a:p>
          <a:p>
            <a:pPr marL="0" indent="0">
              <a:buNone/>
            </a:pPr>
            <a:r>
              <a:rPr lang="en-US" dirty="0"/>
              <a:t>Structured Query Language. </a:t>
            </a:r>
          </a:p>
          <a:p>
            <a:pPr marL="0" indent="0">
              <a:buNone/>
            </a:pPr>
            <a:r>
              <a:rPr lang="en-US" dirty="0"/>
              <a:t>SQL is a special-purpose programming language designed to handle data in a relational database management system. </a:t>
            </a:r>
            <a:br>
              <a:rPr lang="en-US" dirty="0"/>
            </a:br>
            <a:r>
              <a:rPr lang="en-US" dirty="0"/>
              <a:t>A database server is a computer program that provides database services to other programs or computers, as defined by the client-server model. Therefore, a SQL Server is a database server that implements the Structured Query Language (SQL).</a:t>
            </a:r>
          </a:p>
        </p:txBody>
      </p:sp>
    </p:spTree>
    <p:extLst>
      <p:ext uri="{BB962C8B-B14F-4D97-AF65-F5344CB8AC3E}">
        <p14:creationId xmlns:p14="http://schemas.microsoft.com/office/powerpoint/2010/main" val="411879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762000" y="174210"/>
            <a:ext cx="8026400" cy="863313"/>
          </a:xfrm>
        </p:spPr>
        <p:txBody>
          <a:bodyPr/>
          <a:lstStyle/>
          <a:p>
            <a:br>
              <a:rPr lang="en-US" altLang="en-US" dirty="0"/>
            </a:br>
            <a:r>
              <a:rPr lang="en-US" altLang="en-US" dirty="0"/>
              <a:t>Preparing for Your Database Professional Career</a:t>
            </a:r>
            <a:br>
              <a:rPr lang="en-US" altLang="en-US" dirty="0"/>
            </a:br>
            <a:endParaRPr lang="en-US" alt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43000" y="1066800"/>
          <a:ext cx="6781799" cy="4688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0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TABLE 1.3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CAREER OPPORTUNITIES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3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JOB TITLE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DESCRIPTION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SAMPLE SKILLS REQUIRED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6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Developer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Create and maintain database-based applications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Programming, database fundamentals, SQL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16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Designer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Design and maintain databases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Systems design, database design, SQL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6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Administrator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Manage and maintain DBMS and databases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fundamentals, SQL, vendor courses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6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Analyst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Develop databases for decision support reporting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QL, query optimization, data warehouses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900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Architect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Design and implementation of database environments (conceptual, logical, and physical)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DBMS fundamentals, data modeling, SQL, hardware knowledge, etc.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3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Consultant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Help companies leverage database technologies to improve business processes and achieve specific goals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fundamentals, data modeling, database design, SQL, DBMS, hardware, vendor-specific technologies, etc.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4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Database Security Officer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Implement security policies for data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administration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DBMS fundamentals, database administration, SQL, data security technologies, etc.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40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Cloud Computing Data Architect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Design and implement the infrastructure for next-generation cloud database systems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Internet technologies, cloud storage technologies, data security, performance tuning, large databases, etc.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033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 Scientist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Analyze large amounts of varied data to generate insights, relationships, and predictable behaviors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Arial" pitchFamily="34" charset="0"/>
                        </a:rPr>
                        <a:t>Data analysis, statistics, advanced mathematics, SQL, programming, data mining, machine learning, data visualization</a:t>
                      </a:r>
                      <a:endParaRPr lang="en-US" sz="1000" dirty="0">
                        <a:effectLst/>
                        <a:latin typeface="Arial" pitchFamily="34" charset="0"/>
                        <a:ea typeface="Calibri"/>
                        <a:cs typeface="Arial" pitchFamily="34" charset="0"/>
                      </a:endParaRPr>
                    </a:p>
                  </a:txBody>
                  <a:tcPr marL="65034" marR="65034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2019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860F-51AD-4ED9-9861-65DF35952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C22B72-F2D5-4E18-B892-CF69640D1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871" b="1"/>
          <a:stretch/>
        </p:blipFill>
        <p:spPr>
          <a:xfrm>
            <a:off x="533400" y="1102936"/>
            <a:ext cx="8001000" cy="148456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D87BC-E260-4224-9C71-49A3E2A6FE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C024B-2DB3-481F-BE4F-22BD1CF53C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8286FF-B571-4ED0-9F9F-FA75AF199635}"/>
              </a:ext>
            </a:extLst>
          </p:cNvPr>
          <p:cNvSpPr txBox="1"/>
          <p:nvPr/>
        </p:nvSpPr>
        <p:spPr>
          <a:xfrm>
            <a:off x="609600" y="2819400"/>
            <a:ext cx="76962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many records does the file contain? How many fields are there per record?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wanted to produce a listing of the file contents by last name, area code, city, state, or zip code, how would you alter the file structure?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2286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data redundancies do you detect? How could those redundancies lead to anomalies?</a:t>
            </a:r>
            <a:endParaRPr lang="en-US" sz="1800" dirty="0">
              <a:effectLst/>
              <a:latin typeface="New York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139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New York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1800" dirty="0">
              <a:effectLst/>
              <a:latin typeface="New York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0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399F-8FCF-4BD9-AC92-5619769C3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4820DB5-0362-4CE0-916C-C09A4E53B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222"/>
          <a:stretch/>
        </p:blipFill>
        <p:spPr>
          <a:xfrm>
            <a:off x="1447800" y="1295400"/>
            <a:ext cx="6399276" cy="17412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6C642B-9F3C-4F8E-8B97-81A6324397C1}"/>
              </a:ext>
            </a:extLst>
          </p:cNvPr>
          <p:cNvSpPr txBox="1"/>
          <p:nvPr/>
        </p:nvSpPr>
        <p:spPr>
          <a:xfrm>
            <a:off x="1219200" y="3429000"/>
            <a:ext cx="746760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and discuss the serious data redundancy problems exhibited by the file structure shown above.</a:t>
            </a:r>
          </a:p>
          <a:p>
            <a:pPr marL="342900" indent="-342900"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 the various data sources in the file.</a:t>
            </a:r>
          </a:p>
          <a:p>
            <a:pPr marL="342900" indent="-342900">
              <a:buAutoNum type="arabicPeriod"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changes do you recommend to eliminate the data redundancies from the above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structure.</a:t>
            </a:r>
            <a:endParaRPr lang="en-US" sz="1800" b="1" spc="-2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898506"/>
      </p:ext>
    </p:extLst>
  </p:cSld>
  <p:clrMapOvr>
    <a:masterClrMapping/>
  </p:clrMapOvr>
</p:sld>
</file>

<file path=ppt/theme/theme1.xml><?xml version="1.0" encoding="utf-8"?>
<a:theme xmlns:a="http://schemas.openxmlformats.org/drawingml/2006/main" name="Word 2016 Med Module  1_PPT_2019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d bar footer BODY/MAIN CONTENT">
  <a:themeElements>
    <a:clrScheme name="MHHE Branding">
      <a:dk1>
        <a:sysClr val="windowText" lastClr="000000"/>
      </a:dk1>
      <a:lt1>
        <a:sysClr val="window" lastClr="FFFFFF"/>
      </a:lt1>
      <a:dk2>
        <a:srgbClr val="E6E4CC"/>
      </a:dk2>
      <a:lt2>
        <a:srgbClr val="C30C20"/>
      </a:lt2>
      <a:accent1>
        <a:srgbClr val="7AC1AC"/>
      </a:accent1>
      <a:accent2>
        <a:srgbClr val="802754"/>
      </a:accent2>
      <a:accent3>
        <a:srgbClr val="777777"/>
      </a:accent3>
      <a:accent4>
        <a:srgbClr val="DC5A20"/>
      </a:accent4>
      <a:accent5>
        <a:srgbClr val="39858E"/>
      </a:accent5>
      <a:accent6>
        <a:srgbClr val="FFCE00"/>
      </a:accent6>
      <a:hlink>
        <a:srgbClr val="39858E"/>
      </a:hlink>
      <a:folHlink>
        <a:srgbClr val="39858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1480</Words>
  <Application>Microsoft Office PowerPoint</Application>
  <PresentationFormat>Custom</PresentationFormat>
  <Paragraphs>310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Calibri</vt:lpstr>
      <vt:lpstr>Calibri Light</vt:lpstr>
      <vt:lpstr>Garamond</vt:lpstr>
      <vt:lpstr>New York</vt:lpstr>
      <vt:lpstr>Rockwell</vt:lpstr>
      <vt:lpstr>Times New Roman</vt:lpstr>
      <vt:lpstr>Wingdings</vt:lpstr>
      <vt:lpstr>Word 2016 Med Module  1_PPT_2019</vt:lpstr>
      <vt:lpstr>Red bar footer BODY/MAIN CONTENT</vt:lpstr>
      <vt:lpstr>PowerPoint Presentation</vt:lpstr>
      <vt:lpstr>What is Database?</vt:lpstr>
      <vt:lpstr>Why Databases?</vt:lpstr>
      <vt:lpstr>Types of Databases</vt:lpstr>
      <vt:lpstr>Types of Databases</vt:lpstr>
      <vt:lpstr>DATA &amp; INFORMATION</vt:lpstr>
      <vt:lpstr>Example</vt:lpstr>
      <vt:lpstr>Why Database Design Is Important</vt:lpstr>
      <vt:lpstr>Requirements of a good database design</vt:lpstr>
      <vt:lpstr>Storing Data Efficiently (University Database Example)</vt:lpstr>
      <vt:lpstr> Storing Data Efficiently (University Database Example)</vt:lpstr>
      <vt:lpstr>Data Redundancy</vt:lpstr>
      <vt:lpstr>Data Anomalies</vt:lpstr>
      <vt:lpstr>What is DBMS?</vt:lpstr>
      <vt:lpstr>Relational Database</vt:lpstr>
      <vt:lpstr>DBMS Functions</vt:lpstr>
      <vt:lpstr>DBMS Functions</vt:lpstr>
      <vt:lpstr>SQL Server</vt:lpstr>
      <vt:lpstr> Preparing for Your Database Professional Career </vt:lpstr>
      <vt:lpstr>Exercise 1</vt:lpstr>
      <vt:lpstr>Exercise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/>
  <cp:lastModifiedBy/>
  <cp:revision>462</cp:revision>
  <dcterms:created xsi:type="dcterms:W3CDTF">2009-09-28T17:47:54Z</dcterms:created>
  <dcterms:modified xsi:type="dcterms:W3CDTF">2022-08-21T16:55:02Z</dcterms:modified>
</cp:coreProperties>
</file>