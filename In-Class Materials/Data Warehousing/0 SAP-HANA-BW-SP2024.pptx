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357" r:id="rId3"/>
    <p:sldId id="449" r:id="rId4"/>
    <p:sldId id="448" r:id="rId5"/>
    <p:sldId id="450" r:id="rId6"/>
    <p:sldId id="441" r:id="rId7"/>
    <p:sldId id="460" r:id="rId8"/>
    <p:sldId id="461" r:id="rId9"/>
    <p:sldId id="462" r:id="rId10"/>
    <p:sldId id="446" r:id="rId11"/>
    <p:sldId id="364" r:id="rId12"/>
    <p:sldId id="365" r:id="rId13"/>
    <p:sldId id="456" r:id="rId14"/>
    <p:sldId id="457" r:id="rId15"/>
    <p:sldId id="366" r:id="rId16"/>
    <p:sldId id="367" r:id="rId17"/>
    <p:sldId id="368" r:id="rId18"/>
    <p:sldId id="369" r:id="rId19"/>
    <p:sldId id="370" r:id="rId20"/>
    <p:sldId id="459" r:id="rId21"/>
    <p:sldId id="371" r:id="rId22"/>
    <p:sldId id="373" r:id="rId23"/>
    <p:sldId id="375" r:id="rId24"/>
    <p:sldId id="376" r:id="rId25"/>
    <p:sldId id="377" r:id="rId26"/>
    <p:sldId id="382" r:id="rId27"/>
    <p:sldId id="452" r:id="rId28"/>
    <p:sldId id="451" r:id="rId29"/>
    <p:sldId id="458" r:id="rId30"/>
    <p:sldId id="372" r:id="rId31"/>
    <p:sldId id="454" r:id="rId32"/>
    <p:sldId id="442" r:id="rId33"/>
    <p:sldId id="444" r:id="rId34"/>
    <p:sldId id="361" r:id="rId35"/>
    <p:sldId id="358" r:id="rId36"/>
    <p:sldId id="46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954" autoAdjust="0"/>
  </p:normalViewPr>
  <p:slideViewPr>
    <p:cSldViewPr snapToGrid="0">
      <p:cViewPr varScale="1">
        <p:scale>
          <a:sx n="98" d="100"/>
          <a:sy n="98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27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73E31D-FA49-458C-8098-1A8E480BB2E3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08E1B-5CF6-4992-AF9A-16D80B354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80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0228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PT Sans" panose="020B0503020203020204" pitchFamily="34" charset="0"/>
              </a:rPr>
              <a:t>Businesses that need aggregated historical data for analytics often set up a complementary data warehouse. Similarly, if a business with a data warehouse needs current, integrated operational data for day-to-day functioning, it can implement an ODS. (stitchdata.com)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08E1B-5CF6-4992-AF9A-16D80B354B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20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3329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2724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In Global Bike case Order</a:t>
            </a:r>
            <a:r>
              <a:rPr lang="de-DE" baseline="0" dirty="0"/>
              <a:t> Number and Order Item are database fields;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/>
              <a:t>Calendar day, Customer, Material are InfoObjects of type Characteristics;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/>
              <a:t>Sales Quantity, Revenue, Discount are Infoobjects of type Key Figure;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/>
              <a:t>the Units are Characteristics </a:t>
            </a:r>
            <a:endParaRPr lang="de-DE" dirty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4279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de-DE" dirty="0"/>
              <a:t>More </a:t>
            </a:r>
            <a:r>
              <a:rPr lang="de-DE" dirty="0" err="1"/>
              <a:t>flexibility</a:t>
            </a:r>
            <a:r>
              <a:rPr lang="de-DE" dirty="0"/>
              <a:t>, Navigation </a:t>
            </a:r>
            <a:r>
              <a:rPr lang="de-DE" dirty="0" err="1"/>
              <a:t>attributes</a:t>
            </a:r>
            <a:endParaRPr lang="de-DE" dirty="0"/>
          </a:p>
          <a:p>
            <a:pPr algn="l"/>
            <a:endParaRPr lang="de-DE" dirty="0"/>
          </a:p>
          <a:p>
            <a:pPr algn="l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0530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980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28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64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77578-1B33-45EA-BD89-376860BE4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F2E83-0B87-413F-93E1-F39300028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7ED0A-4E4A-44FF-AD26-6B953799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B4537-F415-4C43-8514-F26AC7912014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D3FA0-5558-4B7B-84A6-96E47220E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0BA2F-6E6E-42D7-85B1-4F833599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866B-AB88-437B-BF04-CE71E902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57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9ACB2-8ECB-4964-9628-E602BFE1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34138-EFF6-4AC8-B9ED-ED7D01129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8CD99-CA13-4348-9F4D-BB0D8ACA3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B4537-F415-4C43-8514-F26AC7912014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1E582-A74B-4F9A-B910-C4C284E6E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52310-955C-4841-BE74-74BB8A93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866B-AB88-437B-BF04-CE71E902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18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9110-AC71-40E8-810A-12A4EE85A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BE639-C473-484C-B21E-334DEB7B7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AB444-E4E6-4945-8272-E26B2C0BF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B4537-F415-4C43-8514-F26AC7912014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A9465-0D46-4688-BA99-00E15EE8C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FC791-D3B0-49D8-9710-A4052AF3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866B-AB88-437B-BF04-CE71E902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2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E338-D363-4380-8728-3C3E6E97E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68AB4-3616-4A60-9413-7AB5EDC42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61E97-0A32-49A8-9720-AB690BAC5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E46CB-5350-4812-9878-FC0A5BCA4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B4537-F415-4C43-8514-F26AC7912014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BD562-F27D-44A9-A48B-AE06E6696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05B75-23DB-493E-BD82-EAAA59C1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866B-AB88-437B-BF04-CE71E902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84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F9B0E-BB5D-4BAF-8870-97B354B1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482AD-3DD5-4D65-B30B-8881F5BA6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51CB6-1123-4D9C-BD2F-1C0CC969E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74B25A-9631-40B4-8EDC-5D22B34C3A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76C1A-B6AD-4318-B0B1-C3F2CCB05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3DE57A-EE96-4767-98EF-DE9EE27B5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B4537-F415-4C43-8514-F26AC7912014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C6077C-1D3C-4CFC-98B2-62264B865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A500A9-CDB5-48C4-84F1-C05B7A859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866B-AB88-437B-BF04-CE71E902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43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02540-D14E-46CB-8C9B-1078C137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B3269D-09D6-4FD2-B7E4-EBB9C5EC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B4537-F415-4C43-8514-F26AC7912014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8EA49B-E84A-44FD-88C6-464447185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90450-5505-495B-8A4F-8959F9A6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866B-AB88-437B-BF04-CE71E902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3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F84A47-D588-4722-847E-DAE9420D4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B4537-F415-4C43-8514-F26AC7912014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82B7E4-C5DB-4051-9B9C-9ABEBAF97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0BA73-84E2-456D-B5B4-02098614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866B-AB88-437B-BF04-CE71E902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6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56D9-10F8-4677-AC7B-30D8B94B6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C0E83-4206-4C46-A19B-1EB8E2920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48064-B73B-440C-ADFC-2016B3629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7A507-2CF0-480E-B050-C07E316BF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B4537-F415-4C43-8514-F26AC7912014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3A244-3DA2-457F-A4A7-D1DB038F0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B3301-0BC2-4DD8-864B-9A000F88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866B-AB88-437B-BF04-CE71E902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47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BB130-FFF3-4245-A2C7-9628E79FB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E5D5A0-A756-4FB9-A4F4-A8B02E2A4B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89B84-6780-45AC-9D56-76962B4E0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3D3D3-BA23-4AD0-A366-B205BF989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B4537-F415-4C43-8514-F26AC7912014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F3FD0-FED6-43C1-A20B-ED3766DDC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4181F-5179-429A-8C21-9FAE2C042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866B-AB88-437B-BF04-CE71E902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71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47A6D-8899-4BAA-92E0-E00BE91E7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C639FF-528B-48CC-BF98-2CCF1A2A0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D3D29-EBEF-448F-A90F-098FB8F4F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B4537-F415-4C43-8514-F26AC7912014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119C0-2F23-4872-A7EA-76C93DF5A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12917-DD4E-42AB-A385-173369E0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866B-AB88-437B-BF04-CE71E902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10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C8A66-1823-4153-A485-F9613B5017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428C4-0280-4ADB-9D75-2221F4171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DB63B-2D7F-41C9-8133-CFDD1C65A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B4537-F415-4C43-8514-F26AC7912014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FB64-ABF5-4548-B6AA-96EFD7DEC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FFD11-5C74-4ADD-A721-EE3A83A4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866B-AB88-437B-BF04-CE71E902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23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genda items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620000"/>
            <a:ext cx="11182288" cy="4716000"/>
          </a:xfrm>
        </p:spPr>
        <p:txBody>
          <a:bodyPr>
            <a:normAutofit/>
          </a:bodyPr>
          <a:lstStyle>
            <a:lvl1pPr marL="0" marR="0" indent="0" algn="l" defTabSz="1088231" rtl="0" eaLnBrk="1" fontAlgn="auto" latinLnBrk="0" hangingPunct="1">
              <a:lnSpc>
                <a:spcPct val="100000"/>
              </a:lnSpc>
              <a:spcBef>
                <a:spcPts val="2999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999" b="0"/>
            </a:lvl1pPr>
            <a:lvl2pPr marL="179910" marR="0" indent="-179910" algn="l" defTabSz="1088231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tabLst/>
              <a:defRPr sz="1799"/>
            </a:lvl2pPr>
            <a:lvl3pPr marL="359820" marR="0" indent="-179298" algn="l" defTabSz="1088231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itchFamily="34" charset="0"/>
              <a:buChar char="–"/>
              <a:tabLst/>
              <a:defRPr sz="1799" baseline="0"/>
            </a:lvl3pPr>
            <a:lvl4pPr marL="539730" marR="0" indent="-179910" algn="l" defTabSz="1088231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Courier New" pitchFamily="49" charset="0"/>
              <a:buChar char="o"/>
              <a:tabLst/>
              <a:defRPr sz="1600"/>
            </a:lvl4pPr>
            <a:lvl5pPr>
              <a:buClr>
                <a:schemeClr val="accent2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 dirty="0"/>
              <a:t>Agenda Item/Divider Headline</a:t>
            </a:r>
          </a:p>
          <a:p>
            <a:pPr lvl="1"/>
            <a:r>
              <a:rPr lang="en-US" dirty="0"/>
              <a:t>Details</a:t>
            </a:r>
          </a:p>
        </p:txBody>
      </p:sp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023080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1020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432000" y="1690688"/>
            <a:ext cx="11328000" cy="4391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6551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&lt;Agenda&gt;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432000" y="1690688"/>
            <a:ext cx="11328000" cy="4391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358006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 with picture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idx="17"/>
          </p:nvPr>
        </p:nvSpPr>
        <p:spPr bwMode="gray">
          <a:xfrm>
            <a:off x="6206400" y="1690688"/>
            <a:ext cx="5553600" cy="17208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gray">
          <a:xfrm>
            <a:off x="432000" y="1690688"/>
            <a:ext cx="5553600" cy="17208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5"/>
          </p:nvPr>
        </p:nvSpPr>
        <p:spPr bwMode="gray">
          <a:xfrm>
            <a:off x="432000" y="3573491"/>
            <a:ext cx="5553600" cy="2508223"/>
          </a:xfrm>
          <a:solidFill>
            <a:schemeClr val="bg1">
              <a:lumMod val="95000"/>
            </a:schemeClr>
          </a:solidFill>
        </p:spPr>
        <p:txBody>
          <a:bodyPr tIns="504000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/>
          </p:nvPr>
        </p:nvSpPr>
        <p:spPr bwMode="gray">
          <a:xfrm>
            <a:off x="6206400" y="3573491"/>
            <a:ext cx="5553600" cy="2508223"/>
          </a:xfrm>
          <a:solidFill>
            <a:schemeClr val="bg1">
              <a:lumMod val="95000"/>
            </a:schemeClr>
          </a:solidFill>
        </p:spPr>
        <p:txBody>
          <a:bodyPr tIns="504000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728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idx="11"/>
          </p:nvPr>
        </p:nvSpPr>
        <p:spPr bwMode="gray">
          <a:xfrm>
            <a:off x="432000" y="1690688"/>
            <a:ext cx="5553600" cy="4391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gray">
          <a:xfrm>
            <a:off x="6206400" y="1690688"/>
            <a:ext cx="5553600" cy="4391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35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0820" y="1620000"/>
            <a:ext cx="5326613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620000"/>
            <a:ext cx="5326613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50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pos="3674">
          <p15:clr>
            <a:srgbClr val="FBAE40"/>
          </p15:clr>
        </p15:guide>
        <p15:guide id="5" pos="4007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10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A0064-905C-4C61-938B-15F207580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0A7E4-409D-454F-9E1A-D0C47109D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38079-8EC0-4294-8D0E-E4FEF56B2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B4537-F415-4C43-8514-F26AC7912014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C40E-A17A-4183-9420-CC0E5AEB4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F2825-C1D7-4026-A65E-F9EFAF4F0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9866B-AB88-437B-BF04-CE71E902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41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6" r:id="rId16"/>
    <p:sldLayoutId id="214748366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tm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7836-282F-4F48-AC30-C87DA6B925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000" b="1" dirty="0"/>
              <a:t>SAP BW/4HANA</a:t>
            </a:r>
          </a:p>
        </p:txBody>
      </p:sp>
    </p:spTree>
    <p:extLst>
      <p:ext uri="{BB962C8B-B14F-4D97-AF65-F5344CB8AC3E}">
        <p14:creationId xmlns:p14="http://schemas.microsoft.com/office/powerpoint/2010/main" val="1304636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921800" cy="4391025"/>
          </a:xfrm>
        </p:spPr>
        <p:txBody>
          <a:bodyPr/>
          <a:lstStyle/>
          <a:p>
            <a:r>
              <a:rPr lang="de-DE" dirty="0"/>
              <a:t>Data Warehouse</a:t>
            </a:r>
          </a:p>
          <a:p>
            <a:r>
              <a:rPr lang="de-DE" dirty="0"/>
              <a:t>Reference Architectures</a:t>
            </a:r>
          </a:p>
          <a:p>
            <a:r>
              <a:rPr lang="de-DE" dirty="0"/>
              <a:t>In-memory Appliance Development</a:t>
            </a:r>
          </a:p>
          <a:p>
            <a:r>
              <a:rPr lang="en-US" dirty="0"/>
              <a:t>SAP HANA</a:t>
            </a:r>
          </a:p>
          <a:p>
            <a:r>
              <a:rPr lang="en-US" dirty="0"/>
              <a:t>SAP BW/4HANA: Architecture</a:t>
            </a:r>
          </a:p>
          <a:p>
            <a:r>
              <a:rPr lang="de-DE" dirty="0"/>
              <a:t>SAP Business Intelligence Platform </a:t>
            </a:r>
          </a:p>
          <a:p>
            <a:r>
              <a:rPr lang="en-US" dirty="0"/>
              <a:t>SAP BW/4HANA Objects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722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Kimball’s Dimensional Data Warehouse</a:t>
            </a:r>
            <a:endParaRPr lang="de-DE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52" y="1900487"/>
            <a:ext cx="9583387" cy="4761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7197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Business </a:t>
            </a:r>
            <a:r>
              <a:rPr lang="de-DE" dirty="0" err="1"/>
              <a:t>Intelligence</a:t>
            </a:r>
            <a:r>
              <a:rPr lang="de-DE" dirty="0"/>
              <a:t> Reference </a:t>
            </a:r>
            <a:r>
              <a:rPr lang="de-DE" dirty="0" err="1"/>
              <a:t>Architecture</a:t>
            </a:r>
            <a:endParaRPr lang="de-DE" dirty="0"/>
          </a:p>
        </p:txBody>
      </p:sp>
      <p:grpSp>
        <p:nvGrpSpPr>
          <p:cNvPr id="122" name="Gruppieren 121"/>
          <p:cNvGrpSpPr/>
          <p:nvPr/>
        </p:nvGrpSpPr>
        <p:grpSpPr>
          <a:xfrm>
            <a:off x="1377538" y="1603169"/>
            <a:ext cx="9191501" cy="5153891"/>
            <a:chOff x="917044" y="1827275"/>
            <a:chExt cx="6777864" cy="3761965"/>
          </a:xfrm>
        </p:grpSpPr>
        <p:sp>
          <p:nvSpPr>
            <p:cNvPr id="123" name="Rectangle 3"/>
            <p:cNvSpPr>
              <a:spLocks noChangeArrowheads="1"/>
            </p:cNvSpPr>
            <p:nvPr/>
          </p:nvSpPr>
          <p:spPr bwMode="auto">
            <a:xfrm>
              <a:off x="928612" y="5013926"/>
              <a:ext cx="6766296" cy="575314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4695" tIns="47347" rIns="94695" bIns="47347" anchor="ctr"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defRPr/>
              </a:pPr>
              <a:endParaRPr lang="en-US" sz="2800" b="1" kern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24" name="Rectangle 4"/>
            <p:cNvSpPr>
              <a:spLocks noChangeArrowheads="1"/>
            </p:cNvSpPr>
            <p:nvPr/>
          </p:nvSpPr>
          <p:spPr bwMode="auto">
            <a:xfrm>
              <a:off x="1070711" y="5085842"/>
              <a:ext cx="4968560" cy="43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4695" tIns="47347" rIns="94695" bIns="47347" anchor="ctr"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defRPr/>
              </a:pPr>
              <a:r>
                <a:rPr sz="2100" b="1" kern="0" dirty="0">
                  <a:solidFill>
                    <a:srgbClr val="333333"/>
                  </a:solidFill>
                  <a:latin typeface="Arial Narrow" pitchFamily="34" charset="0"/>
                </a:rPr>
                <a:t>Source </a:t>
              </a:r>
              <a:r>
                <a:rPr sz="2100" b="1" kern="0" dirty="0" err="1">
                  <a:solidFill>
                    <a:srgbClr val="333333"/>
                  </a:solidFill>
                  <a:latin typeface="Arial Narrow" pitchFamily="34" charset="0"/>
                </a:rPr>
                <a:t>systems</a:t>
              </a:r>
              <a:endParaRPr lang="en-GB" sz="2100" kern="0" dirty="0">
                <a:solidFill>
                  <a:srgbClr val="333333"/>
                </a:solidFill>
                <a:latin typeface="Arial Narrow" pitchFamily="34" charset="0"/>
              </a:endParaRPr>
            </a:p>
          </p:txBody>
        </p:sp>
        <p:sp>
          <p:nvSpPr>
            <p:cNvPr id="125" name="Rectangle 5"/>
            <p:cNvSpPr>
              <a:spLocks noChangeArrowheads="1"/>
            </p:cNvSpPr>
            <p:nvPr/>
          </p:nvSpPr>
          <p:spPr bwMode="auto">
            <a:xfrm>
              <a:off x="3950724" y="5085842"/>
              <a:ext cx="3421977" cy="43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4695" tIns="47347" rIns="94695" bIns="47347" anchor="ctr"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Tx/>
                <a:buChar char="-"/>
                <a:defRPr/>
              </a:pPr>
              <a:r>
                <a:rPr sz="1500" kern="0">
                  <a:solidFill>
                    <a:srgbClr val="333333"/>
                  </a:solidFill>
                  <a:latin typeface="Arial" pitchFamily="34" charset="0"/>
                </a:rPr>
                <a:t> External data sources</a:t>
              </a:r>
            </a:p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Tx/>
                <a:buChar char="-"/>
                <a:defRPr/>
              </a:pPr>
              <a:r>
                <a:rPr sz="1500" kern="0">
                  <a:solidFill>
                    <a:srgbClr val="333333"/>
                  </a:solidFill>
                  <a:latin typeface="Arial" pitchFamily="34" charset="0"/>
                </a:rPr>
                <a:t> Internal data sources</a:t>
              </a:r>
              <a:endParaRPr lang="en-GB" sz="1500" kern="0">
                <a:solidFill>
                  <a:srgbClr val="333333"/>
                </a:solidFill>
                <a:latin typeface="Arial" pitchFamily="34" charset="0"/>
              </a:endParaRPr>
            </a:p>
          </p:txBody>
        </p:sp>
        <p:grpSp>
          <p:nvGrpSpPr>
            <p:cNvPr id="126" name="Group 6"/>
            <p:cNvGrpSpPr>
              <a:grpSpLocks/>
            </p:cNvGrpSpPr>
            <p:nvPr/>
          </p:nvGrpSpPr>
          <p:grpSpPr bwMode="auto">
            <a:xfrm>
              <a:off x="917044" y="2619966"/>
              <a:ext cx="6767948" cy="769808"/>
              <a:chOff x="924" y="1933"/>
              <a:chExt cx="4263" cy="485"/>
            </a:xfrm>
          </p:grpSpPr>
          <p:sp>
            <p:nvSpPr>
              <p:cNvPr id="173" name="Rectangle 7"/>
              <p:cNvSpPr>
                <a:spLocks noChangeArrowheads="1"/>
              </p:cNvSpPr>
              <p:nvPr/>
            </p:nvSpPr>
            <p:spPr bwMode="auto">
              <a:xfrm>
                <a:off x="924" y="1933"/>
                <a:ext cx="4263" cy="363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800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74" name="Rectangle 8"/>
              <p:cNvSpPr>
                <a:spLocks noChangeArrowheads="1"/>
              </p:cNvSpPr>
              <p:nvPr/>
            </p:nvSpPr>
            <p:spPr bwMode="auto">
              <a:xfrm>
                <a:off x="1020" y="1981"/>
                <a:ext cx="313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r>
                  <a:rPr sz="2100" b="1" kern="0">
                    <a:solidFill>
                      <a:srgbClr val="333333"/>
                    </a:solidFill>
                    <a:latin typeface="Arial Narrow" pitchFamily="34" charset="0"/>
                  </a:rPr>
                  <a:t>Multi-dimensional data</a:t>
                </a:r>
                <a:endParaRPr lang="en-GB" sz="2100" kern="0">
                  <a:solidFill>
                    <a:srgbClr val="333333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175" name="Rectangle 9"/>
              <p:cNvSpPr>
                <a:spLocks noChangeArrowheads="1"/>
              </p:cNvSpPr>
              <p:nvPr/>
            </p:nvSpPr>
            <p:spPr bwMode="auto">
              <a:xfrm>
                <a:off x="2835" y="1979"/>
                <a:ext cx="2155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Tx/>
                  <a:buChar char="-"/>
                  <a:defRPr/>
                </a:pPr>
                <a:r>
                  <a:rPr sz="1500" kern="0" dirty="0">
                    <a:solidFill>
                      <a:srgbClr val="333333"/>
                    </a:solidFill>
                    <a:latin typeface="Arial" pitchFamily="34" charset="0"/>
                  </a:rPr>
                  <a:t> Information </a:t>
                </a:r>
                <a:r>
                  <a:rPr sz="1500" kern="0" dirty="0" err="1">
                    <a:solidFill>
                      <a:srgbClr val="333333"/>
                    </a:solidFill>
                    <a:latin typeface="Arial" pitchFamily="34" charset="0"/>
                  </a:rPr>
                  <a:t>models</a:t>
                </a:r>
                <a:endParaRPr sz="1500" kern="0" dirty="0">
                  <a:solidFill>
                    <a:srgbClr val="333333"/>
                  </a:solidFill>
                  <a:latin typeface="Arial" pitchFamily="34" charset="0"/>
                </a:endParaRPr>
              </a:p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Tx/>
                  <a:buChar char="-"/>
                  <a:defRPr/>
                </a:pPr>
                <a:r>
                  <a:rPr sz="1500" kern="0" dirty="0">
                    <a:solidFill>
                      <a:srgbClr val="333333"/>
                    </a:solidFill>
                    <a:latin typeface="Arial" pitchFamily="34" charset="0"/>
                  </a:rPr>
                  <a:t> Aggregation</a:t>
                </a:r>
                <a:endParaRPr lang="en-GB" sz="1500" kern="0" dirty="0">
                  <a:solidFill>
                    <a:srgbClr val="333333"/>
                  </a:solidFill>
                  <a:latin typeface="Arial" pitchFamily="34" charset="0"/>
                </a:endParaRPr>
              </a:p>
            </p:txBody>
          </p:sp>
          <p:sp>
            <p:nvSpPr>
              <p:cNvPr id="176" name="AutoShape 10"/>
              <p:cNvSpPr>
                <a:spLocks noChangeArrowheads="1"/>
              </p:cNvSpPr>
              <p:nvPr/>
            </p:nvSpPr>
            <p:spPr bwMode="auto">
              <a:xfrm>
                <a:off x="4467" y="2024"/>
                <a:ext cx="182" cy="181"/>
              </a:xfrm>
              <a:prstGeom prst="cube">
                <a:avLst>
                  <a:gd name="adj" fmla="val 25000"/>
                </a:avLst>
              </a:prstGeom>
              <a:solidFill>
                <a:srgbClr val="4F81BD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800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77" name="AutoShape 11"/>
              <p:cNvSpPr>
                <a:spLocks noChangeArrowheads="1"/>
              </p:cNvSpPr>
              <p:nvPr/>
            </p:nvSpPr>
            <p:spPr bwMode="auto">
              <a:xfrm>
                <a:off x="4694" y="2024"/>
                <a:ext cx="182" cy="181"/>
              </a:xfrm>
              <a:prstGeom prst="cube">
                <a:avLst>
                  <a:gd name="adj" fmla="val 25000"/>
                </a:avLst>
              </a:prstGeom>
              <a:solidFill>
                <a:srgbClr val="4F81BD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800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78" name="AutoShape 12"/>
              <p:cNvSpPr>
                <a:spLocks noChangeArrowheads="1"/>
              </p:cNvSpPr>
              <p:nvPr/>
            </p:nvSpPr>
            <p:spPr bwMode="auto">
              <a:xfrm>
                <a:off x="4921" y="2024"/>
                <a:ext cx="182" cy="181"/>
              </a:xfrm>
              <a:prstGeom prst="cube">
                <a:avLst>
                  <a:gd name="adj" fmla="val 25000"/>
                </a:avLst>
              </a:prstGeom>
              <a:solidFill>
                <a:srgbClr val="4F81BD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800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79" name="AutoShape 13"/>
              <p:cNvSpPr>
                <a:spLocks noChangeArrowheads="1"/>
              </p:cNvSpPr>
              <p:nvPr/>
            </p:nvSpPr>
            <p:spPr bwMode="auto">
              <a:xfrm>
                <a:off x="4006" y="2320"/>
                <a:ext cx="273" cy="90"/>
              </a:xfrm>
              <a:prstGeom prst="upArrow">
                <a:avLst>
                  <a:gd name="adj1" fmla="val 50000"/>
                  <a:gd name="adj2" fmla="val 25000"/>
                </a:avLst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800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0" name="AutoShape 14"/>
              <p:cNvSpPr>
                <a:spLocks noChangeArrowheads="1"/>
              </p:cNvSpPr>
              <p:nvPr/>
            </p:nvSpPr>
            <p:spPr bwMode="auto">
              <a:xfrm>
                <a:off x="2744" y="2328"/>
                <a:ext cx="273" cy="90"/>
              </a:xfrm>
              <a:prstGeom prst="upArrow">
                <a:avLst>
                  <a:gd name="adj1" fmla="val 50000"/>
                  <a:gd name="adj2" fmla="val 25000"/>
                </a:avLst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800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127" name="Group 15"/>
            <p:cNvGrpSpPr>
              <a:grpSpLocks/>
            </p:cNvGrpSpPr>
            <p:nvPr/>
          </p:nvGrpSpPr>
          <p:grpSpPr bwMode="auto">
            <a:xfrm>
              <a:off x="928612" y="4203714"/>
              <a:ext cx="6766296" cy="755099"/>
              <a:chOff x="930" y="2931"/>
              <a:chExt cx="4263" cy="475"/>
            </a:xfrm>
          </p:grpSpPr>
          <p:sp>
            <p:nvSpPr>
              <p:cNvPr id="163" name="Rectangle 16"/>
              <p:cNvSpPr>
                <a:spLocks noChangeArrowheads="1"/>
              </p:cNvSpPr>
              <p:nvPr/>
            </p:nvSpPr>
            <p:spPr bwMode="auto">
              <a:xfrm>
                <a:off x="930" y="2931"/>
                <a:ext cx="4263" cy="363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800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64" name="Rectangle 17"/>
              <p:cNvSpPr>
                <a:spLocks noChangeArrowheads="1"/>
              </p:cNvSpPr>
              <p:nvPr/>
            </p:nvSpPr>
            <p:spPr bwMode="auto">
              <a:xfrm>
                <a:off x="1020" y="2977"/>
                <a:ext cx="313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r>
                  <a:rPr sz="2100" b="1" kern="0" dirty="0" err="1">
                    <a:solidFill>
                      <a:srgbClr val="333333"/>
                    </a:solidFill>
                    <a:latin typeface="Arial Narrow" pitchFamily="34" charset="0"/>
                  </a:rPr>
                  <a:t>Extraction</a:t>
                </a:r>
                <a:r>
                  <a:rPr sz="2100" b="1" kern="0" dirty="0">
                    <a:solidFill>
                      <a:srgbClr val="333333"/>
                    </a:solidFill>
                    <a:latin typeface="Arial Narrow" pitchFamily="34" charset="0"/>
                  </a:rPr>
                  <a:t>, trans-</a:t>
                </a:r>
              </a:p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r>
                  <a:rPr sz="2100" b="1" kern="0" dirty="0" err="1">
                    <a:solidFill>
                      <a:srgbClr val="333333"/>
                    </a:solidFill>
                    <a:latin typeface="Arial Narrow" pitchFamily="34" charset="0"/>
                  </a:rPr>
                  <a:t>formation</a:t>
                </a:r>
                <a:r>
                  <a:rPr sz="2100" b="1" kern="0" dirty="0">
                    <a:solidFill>
                      <a:srgbClr val="333333"/>
                    </a:solidFill>
                    <a:latin typeface="Arial Narrow" pitchFamily="34" charset="0"/>
                  </a:rPr>
                  <a:t>, </a:t>
                </a:r>
                <a:r>
                  <a:rPr sz="2100" b="1" kern="0" dirty="0" err="1">
                    <a:solidFill>
                      <a:srgbClr val="333333"/>
                    </a:solidFill>
                    <a:latin typeface="Arial Narrow" pitchFamily="34" charset="0"/>
                  </a:rPr>
                  <a:t>loading</a:t>
                </a:r>
                <a:endParaRPr lang="en-GB" sz="2100" kern="0" dirty="0">
                  <a:solidFill>
                    <a:srgbClr val="333333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165" name="Rectangle 18"/>
              <p:cNvSpPr>
                <a:spLocks noChangeArrowheads="1"/>
              </p:cNvSpPr>
              <p:nvPr/>
            </p:nvSpPr>
            <p:spPr bwMode="auto">
              <a:xfrm>
                <a:off x="2835" y="2976"/>
                <a:ext cx="2155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Tx/>
                  <a:buChar char="-"/>
                  <a:defRPr/>
                </a:pPr>
                <a:r>
                  <a:rPr sz="1500" kern="0" dirty="0">
                    <a:solidFill>
                      <a:srgbClr val="333333"/>
                    </a:solidFill>
                    <a:latin typeface="Arial" pitchFamily="34" charset="0"/>
                  </a:rPr>
                  <a:t> Selection</a:t>
                </a:r>
                <a:r>
                  <a:rPr sz="1500" kern="0">
                    <a:solidFill>
                      <a:srgbClr val="333333"/>
                    </a:solidFill>
                    <a:latin typeface="Arial" pitchFamily="34" charset="0"/>
                  </a:rPr>
                  <a:t>, extraction </a:t>
                </a:r>
                <a:endParaRPr sz="1500" kern="0" dirty="0">
                  <a:solidFill>
                    <a:srgbClr val="333333"/>
                  </a:solidFill>
                  <a:latin typeface="Arial" pitchFamily="34" charset="0"/>
                </a:endParaRPr>
              </a:p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buFontTx/>
                  <a:buChar char="-"/>
                  <a:defRPr/>
                </a:pPr>
                <a:r>
                  <a:rPr sz="1500" kern="0" dirty="0">
                    <a:solidFill>
                      <a:srgbClr val="333333"/>
                    </a:solidFill>
                    <a:latin typeface="Arial" pitchFamily="34" charset="0"/>
                  </a:rPr>
                  <a:t> Modification, loading</a:t>
                </a:r>
                <a:endParaRPr lang="en-GB" sz="1500" kern="0" dirty="0">
                  <a:solidFill>
                    <a:srgbClr val="333333"/>
                  </a:solidFill>
                  <a:latin typeface="Arial" pitchFamily="34" charset="0"/>
                </a:endParaRPr>
              </a:p>
            </p:txBody>
          </p:sp>
          <p:sp>
            <p:nvSpPr>
              <p:cNvPr id="166" name="AutoShape 19"/>
              <p:cNvSpPr>
                <a:spLocks noChangeArrowheads="1"/>
              </p:cNvSpPr>
              <p:nvPr/>
            </p:nvSpPr>
            <p:spPr bwMode="auto">
              <a:xfrm>
                <a:off x="4559" y="3067"/>
                <a:ext cx="181" cy="181"/>
              </a:xfrm>
              <a:prstGeom prst="sun">
                <a:avLst>
                  <a:gd name="adj" fmla="val 25000"/>
                </a:avLst>
              </a:prstGeom>
              <a:solidFill>
                <a:srgbClr val="4F81BD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800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67" name="AutoShape 20"/>
              <p:cNvSpPr>
                <a:spLocks noChangeArrowheads="1"/>
              </p:cNvSpPr>
              <p:nvPr/>
            </p:nvSpPr>
            <p:spPr bwMode="auto">
              <a:xfrm>
                <a:off x="4695" y="2976"/>
                <a:ext cx="181" cy="181"/>
              </a:xfrm>
              <a:prstGeom prst="sun">
                <a:avLst>
                  <a:gd name="adj" fmla="val 25000"/>
                </a:avLst>
              </a:prstGeom>
              <a:solidFill>
                <a:srgbClr val="4F81BD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800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68" name="Line 21"/>
              <p:cNvSpPr>
                <a:spLocks noChangeShapeType="1"/>
              </p:cNvSpPr>
              <p:nvPr/>
            </p:nvSpPr>
            <p:spPr bwMode="auto">
              <a:xfrm>
                <a:off x="4649" y="3158"/>
                <a:ext cx="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sz="2800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69" name="Oval 22"/>
              <p:cNvSpPr>
                <a:spLocks noChangeArrowheads="1"/>
              </p:cNvSpPr>
              <p:nvPr/>
            </p:nvSpPr>
            <p:spPr bwMode="auto">
              <a:xfrm>
                <a:off x="4639" y="3146"/>
                <a:ext cx="23" cy="23"/>
              </a:xfrm>
              <a:prstGeom prst="ellipse">
                <a:avLst/>
              </a:prstGeom>
              <a:solidFill>
                <a:srgbClr val="1F497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800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70" name="Oval 23"/>
              <p:cNvSpPr>
                <a:spLocks noChangeArrowheads="1"/>
              </p:cNvSpPr>
              <p:nvPr/>
            </p:nvSpPr>
            <p:spPr bwMode="auto">
              <a:xfrm>
                <a:off x="4775" y="3053"/>
                <a:ext cx="23" cy="23"/>
              </a:xfrm>
              <a:prstGeom prst="ellipse">
                <a:avLst/>
              </a:prstGeom>
              <a:solidFill>
                <a:srgbClr val="1F497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800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71" name="AutoShape 24"/>
              <p:cNvSpPr>
                <a:spLocks noChangeArrowheads="1"/>
              </p:cNvSpPr>
              <p:nvPr/>
            </p:nvSpPr>
            <p:spPr bwMode="auto">
              <a:xfrm>
                <a:off x="4006" y="3308"/>
                <a:ext cx="273" cy="90"/>
              </a:xfrm>
              <a:prstGeom prst="upArrow">
                <a:avLst>
                  <a:gd name="adj1" fmla="val 50000"/>
                  <a:gd name="adj2" fmla="val 25000"/>
                </a:avLst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800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72" name="AutoShape 25"/>
              <p:cNvSpPr>
                <a:spLocks noChangeArrowheads="1"/>
              </p:cNvSpPr>
              <p:nvPr/>
            </p:nvSpPr>
            <p:spPr bwMode="auto">
              <a:xfrm>
                <a:off x="2744" y="3316"/>
                <a:ext cx="273" cy="90"/>
              </a:xfrm>
              <a:prstGeom prst="upArrow">
                <a:avLst>
                  <a:gd name="adj1" fmla="val 50000"/>
                  <a:gd name="adj2" fmla="val 25000"/>
                </a:avLst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800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128" name="Group 27"/>
            <p:cNvGrpSpPr>
              <a:grpSpLocks/>
            </p:cNvGrpSpPr>
            <p:nvPr/>
          </p:nvGrpSpPr>
          <p:grpSpPr bwMode="auto">
            <a:xfrm>
              <a:off x="928612" y="3239177"/>
              <a:ext cx="6766296" cy="928583"/>
              <a:chOff x="431" y="2312"/>
              <a:chExt cx="4263" cy="585"/>
            </a:xfrm>
          </p:grpSpPr>
          <p:grpSp>
            <p:nvGrpSpPr>
              <p:cNvPr id="152" name="Group 28"/>
              <p:cNvGrpSpPr>
                <a:grpSpLocks/>
              </p:cNvGrpSpPr>
              <p:nvPr/>
            </p:nvGrpSpPr>
            <p:grpSpPr bwMode="auto">
              <a:xfrm>
                <a:off x="431" y="2421"/>
                <a:ext cx="4263" cy="476"/>
                <a:chOff x="930" y="2432"/>
                <a:chExt cx="4263" cy="476"/>
              </a:xfrm>
            </p:grpSpPr>
            <p:sp>
              <p:nvSpPr>
                <p:cNvPr id="154" name="Rectangle 29"/>
                <p:cNvSpPr>
                  <a:spLocks noChangeArrowheads="1"/>
                </p:cNvSpPr>
                <p:nvPr/>
              </p:nvSpPr>
              <p:spPr bwMode="auto">
                <a:xfrm>
                  <a:off x="930" y="2432"/>
                  <a:ext cx="4263" cy="363"/>
                </a:xfrm>
                <a:prstGeom prst="rect">
                  <a:avLst/>
                </a:prstGeom>
                <a:solidFill>
                  <a:srgbClr val="CCFF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endParaRPr lang="en-US" sz="2800" b="1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55" name="Rectangle 30"/>
                <p:cNvSpPr>
                  <a:spLocks noChangeArrowheads="1"/>
                </p:cNvSpPr>
                <p:nvPr/>
              </p:nvSpPr>
              <p:spPr bwMode="auto">
                <a:xfrm>
                  <a:off x="1020" y="2479"/>
                  <a:ext cx="3130" cy="2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r>
                    <a:rPr sz="2100" b="1" kern="0">
                      <a:solidFill>
                        <a:srgbClr val="333333"/>
                      </a:solidFill>
                      <a:latin typeface="Arial Narrow" pitchFamily="34" charset="0"/>
                    </a:rPr>
                    <a:t>Data warehouse</a:t>
                  </a:r>
                  <a:endParaRPr lang="en-GB" sz="2100" kern="0">
                    <a:solidFill>
                      <a:srgbClr val="333333"/>
                    </a:solidFill>
                    <a:latin typeface="Arial Narrow" pitchFamily="34" charset="0"/>
                  </a:endParaRPr>
                </a:p>
              </p:txBody>
            </p:sp>
            <p:sp>
              <p:nvSpPr>
                <p:cNvPr id="156" name="Rectangle 31"/>
                <p:cNvSpPr>
                  <a:spLocks noChangeArrowheads="1"/>
                </p:cNvSpPr>
                <p:nvPr/>
              </p:nvSpPr>
              <p:spPr bwMode="auto">
                <a:xfrm>
                  <a:off x="2835" y="2478"/>
                  <a:ext cx="2155" cy="2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buFontTx/>
                    <a:buChar char="-"/>
                    <a:defRPr/>
                  </a:pPr>
                  <a:r>
                    <a:rPr sz="1500" kern="0" dirty="0">
                      <a:solidFill>
                        <a:srgbClr val="333333"/>
                      </a:solidFill>
                      <a:latin typeface="Arial" pitchFamily="34" charset="0"/>
                    </a:rPr>
                    <a:t> Data </a:t>
                  </a:r>
                  <a:r>
                    <a:rPr sz="1500" kern="0" dirty="0" err="1">
                      <a:solidFill>
                        <a:srgbClr val="333333"/>
                      </a:solidFill>
                      <a:latin typeface="Arial" pitchFamily="34" charset="0"/>
                    </a:rPr>
                    <a:t>storage</a:t>
                  </a:r>
                  <a:endParaRPr sz="1500" kern="0" dirty="0">
                    <a:solidFill>
                      <a:srgbClr val="333333"/>
                    </a:solidFill>
                    <a:latin typeface="Arial" pitchFamily="34" charset="0"/>
                  </a:endParaRPr>
                </a:p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buFontTx/>
                    <a:buChar char="-"/>
                    <a:defRPr/>
                  </a:pPr>
                  <a:r>
                    <a:rPr sz="1500" kern="0" dirty="0">
                      <a:solidFill>
                        <a:srgbClr val="333333"/>
                      </a:solidFill>
                      <a:latin typeface="Arial" pitchFamily="34" charset="0"/>
                    </a:rPr>
                    <a:t> Administration</a:t>
                  </a:r>
                  <a:endParaRPr lang="en-GB" sz="1500" kern="0" dirty="0">
                    <a:solidFill>
                      <a:srgbClr val="333333"/>
                    </a:solidFill>
                    <a:latin typeface="Arial" pitchFamily="34" charset="0"/>
                  </a:endParaRPr>
                </a:p>
              </p:txBody>
            </p:sp>
            <p:sp>
              <p:nvSpPr>
                <p:cNvPr id="157" name="AutoShape 32"/>
                <p:cNvSpPr>
                  <a:spLocks noChangeArrowheads="1"/>
                </p:cNvSpPr>
                <p:nvPr/>
              </p:nvSpPr>
              <p:spPr bwMode="auto">
                <a:xfrm>
                  <a:off x="4377" y="2659"/>
                  <a:ext cx="317" cy="91"/>
                </a:xfrm>
                <a:prstGeom prst="can">
                  <a:avLst>
                    <a:gd name="adj" fmla="val 25000"/>
                  </a:avLst>
                </a:prstGeom>
                <a:solidFill>
                  <a:srgbClr val="4F81B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endParaRPr lang="en-US" sz="2800" b="1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58" name="AutoShape 33"/>
                <p:cNvSpPr>
                  <a:spLocks noChangeArrowheads="1"/>
                </p:cNvSpPr>
                <p:nvPr/>
              </p:nvSpPr>
              <p:spPr bwMode="auto">
                <a:xfrm>
                  <a:off x="4422" y="2523"/>
                  <a:ext cx="317" cy="91"/>
                </a:xfrm>
                <a:prstGeom prst="can">
                  <a:avLst>
                    <a:gd name="adj" fmla="val 25000"/>
                  </a:avLst>
                </a:prstGeom>
                <a:solidFill>
                  <a:srgbClr val="4F81B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endParaRPr lang="en-US" sz="2800" b="1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59" name="AutoShape 34"/>
                <p:cNvSpPr>
                  <a:spLocks noChangeArrowheads="1"/>
                </p:cNvSpPr>
                <p:nvPr/>
              </p:nvSpPr>
              <p:spPr bwMode="auto">
                <a:xfrm>
                  <a:off x="4830" y="2523"/>
                  <a:ext cx="317" cy="91"/>
                </a:xfrm>
                <a:prstGeom prst="can">
                  <a:avLst>
                    <a:gd name="adj" fmla="val 25000"/>
                  </a:avLst>
                </a:prstGeom>
                <a:solidFill>
                  <a:srgbClr val="4F81B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endParaRPr lang="en-US" sz="2800" b="1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60" name="AutoShape 35"/>
                <p:cNvSpPr>
                  <a:spLocks noChangeArrowheads="1"/>
                </p:cNvSpPr>
                <p:nvPr/>
              </p:nvSpPr>
              <p:spPr bwMode="auto">
                <a:xfrm>
                  <a:off x="4006" y="2810"/>
                  <a:ext cx="273" cy="90"/>
                </a:xfrm>
                <a:prstGeom prst="upArrow">
                  <a:avLst>
                    <a:gd name="adj1" fmla="val 50000"/>
                    <a:gd name="adj2" fmla="val 25000"/>
                  </a:avLst>
                </a:prstGeom>
                <a:solidFill>
                  <a:srgbClr val="969696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endParaRPr lang="en-US" sz="2800" b="1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61" name="AutoShape 36"/>
                <p:cNvSpPr>
                  <a:spLocks noChangeArrowheads="1"/>
                </p:cNvSpPr>
                <p:nvPr/>
              </p:nvSpPr>
              <p:spPr bwMode="auto">
                <a:xfrm>
                  <a:off x="2744" y="2818"/>
                  <a:ext cx="273" cy="90"/>
                </a:xfrm>
                <a:prstGeom prst="upArrow">
                  <a:avLst>
                    <a:gd name="adj1" fmla="val 50000"/>
                    <a:gd name="adj2" fmla="val 25000"/>
                  </a:avLst>
                </a:prstGeom>
                <a:solidFill>
                  <a:srgbClr val="969696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endParaRPr lang="en-US" sz="2800" b="1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62" name="AutoShape 37"/>
                <p:cNvSpPr>
                  <a:spLocks noChangeArrowheads="1"/>
                </p:cNvSpPr>
                <p:nvPr/>
              </p:nvSpPr>
              <p:spPr bwMode="auto">
                <a:xfrm>
                  <a:off x="4785" y="2659"/>
                  <a:ext cx="317" cy="91"/>
                </a:xfrm>
                <a:prstGeom prst="can">
                  <a:avLst>
                    <a:gd name="adj" fmla="val 25000"/>
                  </a:avLst>
                </a:prstGeom>
                <a:solidFill>
                  <a:srgbClr val="4F81B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endParaRPr lang="en-US" sz="2800" b="1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153" name="AutoShape 38"/>
              <p:cNvSpPr>
                <a:spLocks noChangeArrowheads="1"/>
              </p:cNvSpPr>
              <p:nvPr/>
            </p:nvSpPr>
            <p:spPr bwMode="auto">
              <a:xfrm>
                <a:off x="3872" y="2312"/>
                <a:ext cx="786" cy="578"/>
              </a:xfrm>
              <a:prstGeom prst="can">
                <a:avLst>
                  <a:gd name="adj" fmla="val 32745"/>
                </a:avLst>
              </a:prstGeom>
              <a:gradFill rotWithShape="1">
                <a:gsLst>
                  <a:gs pos="0">
                    <a:srgbClr val="4F81BD">
                      <a:gamma/>
                      <a:shade val="46275"/>
                      <a:invGamma/>
                    </a:srgbClr>
                  </a:gs>
                  <a:gs pos="50000">
                    <a:srgbClr val="4F81BD"/>
                  </a:gs>
                  <a:gs pos="100000">
                    <a:srgbClr val="4F81BD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800" b="1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129" name="Group 39"/>
            <p:cNvGrpSpPr>
              <a:grpSpLocks/>
            </p:cNvGrpSpPr>
            <p:nvPr/>
          </p:nvGrpSpPr>
          <p:grpSpPr bwMode="auto">
            <a:xfrm>
              <a:off x="928612" y="1827275"/>
              <a:ext cx="6766296" cy="758368"/>
              <a:chOff x="431" y="1423"/>
              <a:chExt cx="4263" cy="478"/>
            </a:xfrm>
          </p:grpSpPr>
          <p:grpSp>
            <p:nvGrpSpPr>
              <p:cNvPr id="139" name="Group 40"/>
              <p:cNvGrpSpPr>
                <a:grpSpLocks/>
              </p:cNvGrpSpPr>
              <p:nvPr/>
            </p:nvGrpSpPr>
            <p:grpSpPr bwMode="auto">
              <a:xfrm>
                <a:off x="431" y="1423"/>
                <a:ext cx="4263" cy="478"/>
                <a:chOff x="930" y="1434"/>
                <a:chExt cx="4263" cy="478"/>
              </a:xfrm>
            </p:grpSpPr>
            <p:sp>
              <p:nvSpPr>
                <p:cNvPr id="141" name="Rectangle 41"/>
                <p:cNvSpPr>
                  <a:spLocks noChangeArrowheads="1"/>
                </p:cNvSpPr>
                <p:nvPr/>
              </p:nvSpPr>
              <p:spPr bwMode="auto">
                <a:xfrm>
                  <a:off x="930" y="1434"/>
                  <a:ext cx="4263" cy="363"/>
                </a:xfrm>
                <a:prstGeom prst="rect">
                  <a:avLst/>
                </a:prstGeom>
                <a:solidFill>
                  <a:srgbClr val="F8F8F8"/>
                </a:solidFill>
                <a:ln w="9525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endParaRPr lang="en-US" sz="2800" b="1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42" name="Rectangle 42"/>
                <p:cNvSpPr>
                  <a:spLocks noChangeArrowheads="1"/>
                </p:cNvSpPr>
                <p:nvPr/>
              </p:nvSpPr>
              <p:spPr bwMode="auto">
                <a:xfrm>
                  <a:off x="1020" y="1483"/>
                  <a:ext cx="3130" cy="2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r>
                    <a:rPr sz="2100" b="1" kern="0" dirty="0">
                      <a:solidFill>
                        <a:srgbClr val="333333"/>
                      </a:solidFill>
                      <a:latin typeface="Arial Narrow" pitchFamily="34" charset="0"/>
                    </a:rPr>
                    <a:t>Data </a:t>
                  </a:r>
                  <a:r>
                    <a:rPr sz="2100" b="1" kern="0" dirty="0" err="1">
                      <a:solidFill>
                        <a:srgbClr val="333333"/>
                      </a:solidFill>
                      <a:latin typeface="Arial Narrow" pitchFamily="34" charset="0"/>
                    </a:rPr>
                    <a:t>analysis</a:t>
                  </a:r>
                  <a:r>
                    <a:rPr sz="2100" b="1" kern="0" dirty="0">
                      <a:solidFill>
                        <a:srgbClr val="333333"/>
                      </a:solidFill>
                      <a:latin typeface="Arial Narrow" pitchFamily="34" charset="0"/>
                    </a:rPr>
                    <a:t> </a:t>
                  </a:r>
                  <a:r>
                    <a:rPr sz="2100" b="1" kern="0" dirty="0" err="1">
                      <a:solidFill>
                        <a:srgbClr val="333333"/>
                      </a:solidFill>
                      <a:latin typeface="Arial Narrow" pitchFamily="34" charset="0"/>
                    </a:rPr>
                    <a:t>and</a:t>
                  </a:r>
                  <a:r>
                    <a:rPr sz="2100" b="1" kern="0" dirty="0">
                      <a:solidFill>
                        <a:srgbClr val="333333"/>
                      </a:solidFill>
                      <a:latin typeface="Arial Narrow" pitchFamily="34" charset="0"/>
                    </a:rPr>
                    <a:t> </a:t>
                  </a:r>
                </a:p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r>
                    <a:rPr sz="2100" b="1" kern="0" dirty="0" err="1">
                      <a:solidFill>
                        <a:srgbClr val="333333"/>
                      </a:solidFill>
                      <a:latin typeface="Arial Narrow" pitchFamily="34" charset="0"/>
                    </a:rPr>
                    <a:t>analytical</a:t>
                  </a:r>
                  <a:r>
                    <a:rPr sz="2100" b="1" kern="0" dirty="0">
                      <a:solidFill>
                        <a:srgbClr val="333333"/>
                      </a:solidFill>
                      <a:latin typeface="Arial Narrow" pitchFamily="34" charset="0"/>
                    </a:rPr>
                    <a:t> </a:t>
                  </a:r>
                  <a:r>
                    <a:rPr sz="2100" b="1" kern="0" dirty="0" err="1">
                      <a:solidFill>
                        <a:srgbClr val="333333"/>
                      </a:solidFill>
                      <a:latin typeface="Arial Narrow" pitchFamily="34" charset="0"/>
                    </a:rPr>
                    <a:t>applications</a:t>
                  </a:r>
                  <a:endParaRPr lang="en-GB" sz="2100" kern="0" dirty="0">
                    <a:solidFill>
                      <a:srgbClr val="333333"/>
                    </a:solidFill>
                    <a:latin typeface="Arial Narrow" pitchFamily="34" charset="0"/>
                  </a:endParaRPr>
                </a:p>
              </p:txBody>
            </p:sp>
            <p:sp>
              <p:nvSpPr>
                <p:cNvPr id="143" name="Rectangle 43"/>
                <p:cNvSpPr>
                  <a:spLocks noChangeArrowheads="1"/>
                </p:cNvSpPr>
                <p:nvPr/>
              </p:nvSpPr>
              <p:spPr bwMode="auto">
                <a:xfrm>
                  <a:off x="2835" y="1480"/>
                  <a:ext cx="2155" cy="2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buFontTx/>
                    <a:buChar char="-"/>
                    <a:defRPr/>
                  </a:pPr>
                  <a:r>
                    <a:rPr sz="1500" kern="0" dirty="0">
                      <a:solidFill>
                        <a:srgbClr val="333333"/>
                      </a:solidFill>
                      <a:latin typeface="Arial" pitchFamily="34" charset="0"/>
                    </a:rPr>
                    <a:t> </a:t>
                  </a:r>
                  <a:r>
                    <a:rPr lang="en-US" sz="1500" kern="0" dirty="0">
                      <a:solidFill>
                        <a:srgbClr val="333333"/>
                      </a:solidFill>
                      <a:latin typeface="Arial" pitchFamily="34" charset="0"/>
                    </a:rPr>
                    <a:t>Dashboards</a:t>
                  </a:r>
                  <a:r>
                    <a:rPr sz="1500" kern="0" dirty="0">
                      <a:solidFill>
                        <a:srgbClr val="333333"/>
                      </a:solidFill>
                      <a:latin typeface="Arial" pitchFamily="34" charset="0"/>
                    </a:rPr>
                    <a:t>, …</a:t>
                  </a:r>
                </a:p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buFontTx/>
                    <a:buChar char="-"/>
                    <a:defRPr/>
                  </a:pPr>
                  <a:r>
                    <a:rPr sz="1500" kern="0" dirty="0">
                      <a:solidFill>
                        <a:srgbClr val="333333"/>
                      </a:solidFill>
                      <a:latin typeface="Arial" pitchFamily="34" charset="0"/>
                    </a:rPr>
                    <a:t> </a:t>
                  </a:r>
                  <a:r>
                    <a:rPr lang="en-US" sz="1500" kern="0" dirty="0">
                      <a:solidFill>
                        <a:srgbClr val="333333"/>
                      </a:solidFill>
                      <a:latin typeface="Arial" pitchFamily="34" charset="0"/>
                    </a:rPr>
                    <a:t>Planning, s</a:t>
                  </a:r>
                  <a:r>
                    <a:rPr sz="1500" kern="0" dirty="0">
                      <a:solidFill>
                        <a:srgbClr val="333333"/>
                      </a:solidFill>
                      <a:latin typeface="Arial" pitchFamily="34" charset="0"/>
                    </a:rPr>
                    <a:t>corecard, …</a:t>
                  </a:r>
                  <a:endParaRPr lang="en-GB" sz="1500" kern="0" dirty="0">
                    <a:solidFill>
                      <a:srgbClr val="333333"/>
                    </a:solidFill>
                    <a:latin typeface="Arial" pitchFamily="34" charset="0"/>
                  </a:endParaRPr>
                </a:p>
              </p:txBody>
            </p:sp>
            <p:sp>
              <p:nvSpPr>
                <p:cNvPr id="144" name="Rectangle 44"/>
                <p:cNvSpPr>
                  <a:spLocks noChangeArrowheads="1"/>
                </p:cNvSpPr>
                <p:nvPr/>
              </p:nvSpPr>
              <p:spPr bwMode="auto">
                <a:xfrm>
                  <a:off x="4549" y="1661"/>
                  <a:ext cx="100" cy="73"/>
                </a:xfrm>
                <a:prstGeom prst="rect">
                  <a:avLst/>
                </a:prstGeom>
                <a:solidFill>
                  <a:srgbClr val="4F81BD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endParaRPr lang="en-US" sz="2800" b="1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45" name="Rectangle 45"/>
                <p:cNvSpPr>
                  <a:spLocks noChangeArrowheads="1"/>
                </p:cNvSpPr>
                <p:nvPr/>
              </p:nvSpPr>
              <p:spPr bwMode="auto">
                <a:xfrm>
                  <a:off x="4639" y="1598"/>
                  <a:ext cx="90" cy="136"/>
                </a:xfrm>
                <a:prstGeom prst="rect">
                  <a:avLst/>
                </a:prstGeom>
                <a:solidFill>
                  <a:srgbClr val="4F81BD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endParaRPr lang="en-US" sz="2800" b="1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46" name="Rectangle 46"/>
                <p:cNvSpPr>
                  <a:spLocks noChangeArrowheads="1"/>
                </p:cNvSpPr>
                <p:nvPr/>
              </p:nvSpPr>
              <p:spPr bwMode="auto">
                <a:xfrm>
                  <a:off x="4729" y="1644"/>
                  <a:ext cx="92" cy="90"/>
                </a:xfrm>
                <a:prstGeom prst="rect">
                  <a:avLst/>
                </a:prstGeom>
                <a:solidFill>
                  <a:srgbClr val="4F81BD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endParaRPr lang="en-US" sz="2800" b="1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47" name="Rectangle 47"/>
                <p:cNvSpPr>
                  <a:spLocks noChangeArrowheads="1"/>
                </p:cNvSpPr>
                <p:nvPr/>
              </p:nvSpPr>
              <p:spPr bwMode="auto">
                <a:xfrm>
                  <a:off x="4533" y="1508"/>
                  <a:ext cx="408" cy="226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endParaRPr lang="en-US" sz="2800" b="1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48" name="Rectangle 48"/>
                <p:cNvSpPr>
                  <a:spLocks noChangeArrowheads="1"/>
                </p:cNvSpPr>
                <p:nvPr/>
              </p:nvSpPr>
              <p:spPr bwMode="auto">
                <a:xfrm>
                  <a:off x="4821" y="1525"/>
                  <a:ext cx="100" cy="209"/>
                </a:xfrm>
                <a:prstGeom prst="rect">
                  <a:avLst/>
                </a:prstGeom>
                <a:solidFill>
                  <a:srgbClr val="4F81BD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endParaRPr lang="en-US" sz="2800" b="1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49" name="Freeform 49"/>
                <p:cNvSpPr>
                  <a:spLocks/>
                </p:cNvSpPr>
                <p:nvPr/>
              </p:nvSpPr>
              <p:spPr bwMode="auto">
                <a:xfrm>
                  <a:off x="4576" y="1616"/>
                  <a:ext cx="338" cy="80"/>
                </a:xfrm>
                <a:custGeom>
                  <a:avLst/>
                  <a:gdLst>
                    <a:gd name="T0" fmla="*/ 0 w 338"/>
                    <a:gd name="T1" fmla="*/ 80 h 80"/>
                    <a:gd name="T2" fmla="*/ 96 w 338"/>
                    <a:gd name="T3" fmla="*/ 72 h 80"/>
                    <a:gd name="T4" fmla="*/ 152 w 338"/>
                    <a:gd name="T5" fmla="*/ 16 h 80"/>
                    <a:gd name="T6" fmla="*/ 240 w 338"/>
                    <a:gd name="T7" fmla="*/ 64 h 80"/>
                    <a:gd name="T8" fmla="*/ 264 w 338"/>
                    <a:gd name="T9" fmla="*/ 40 h 80"/>
                    <a:gd name="T10" fmla="*/ 280 w 338"/>
                    <a:gd name="T11" fmla="*/ 16 h 80"/>
                    <a:gd name="T12" fmla="*/ 304 w 338"/>
                    <a:gd name="T13" fmla="*/ 32 h 80"/>
                    <a:gd name="T14" fmla="*/ 328 w 338"/>
                    <a:gd name="T15" fmla="*/ 40 h 80"/>
                    <a:gd name="T16" fmla="*/ 336 w 338"/>
                    <a:gd name="T17" fmla="*/ 0 h 8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38"/>
                    <a:gd name="T28" fmla="*/ 0 h 80"/>
                    <a:gd name="T29" fmla="*/ 338 w 338"/>
                    <a:gd name="T30" fmla="*/ 80 h 8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38" h="80">
                      <a:moveTo>
                        <a:pt x="0" y="80"/>
                      </a:moveTo>
                      <a:cubicBezTo>
                        <a:pt x="57" y="42"/>
                        <a:pt x="41" y="35"/>
                        <a:pt x="96" y="72"/>
                      </a:cubicBezTo>
                      <a:cubicBezTo>
                        <a:pt x="125" y="53"/>
                        <a:pt x="123" y="35"/>
                        <a:pt x="152" y="16"/>
                      </a:cubicBezTo>
                      <a:cubicBezTo>
                        <a:pt x="179" y="57"/>
                        <a:pt x="201" y="38"/>
                        <a:pt x="240" y="64"/>
                      </a:cubicBezTo>
                      <a:cubicBezTo>
                        <a:pt x="248" y="56"/>
                        <a:pt x="257" y="49"/>
                        <a:pt x="264" y="40"/>
                      </a:cubicBezTo>
                      <a:cubicBezTo>
                        <a:pt x="270" y="33"/>
                        <a:pt x="271" y="18"/>
                        <a:pt x="280" y="16"/>
                      </a:cubicBezTo>
                      <a:cubicBezTo>
                        <a:pt x="289" y="14"/>
                        <a:pt x="295" y="28"/>
                        <a:pt x="304" y="32"/>
                      </a:cubicBezTo>
                      <a:cubicBezTo>
                        <a:pt x="312" y="36"/>
                        <a:pt x="320" y="37"/>
                        <a:pt x="328" y="40"/>
                      </a:cubicBezTo>
                      <a:cubicBezTo>
                        <a:pt x="338" y="11"/>
                        <a:pt x="336" y="24"/>
                        <a:pt x="336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endParaRPr sz="2800" b="1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50" name="AutoShape 50"/>
                <p:cNvSpPr>
                  <a:spLocks noChangeArrowheads="1"/>
                </p:cNvSpPr>
                <p:nvPr/>
              </p:nvSpPr>
              <p:spPr bwMode="auto">
                <a:xfrm>
                  <a:off x="4006" y="1814"/>
                  <a:ext cx="273" cy="90"/>
                </a:xfrm>
                <a:prstGeom prst="upArrow">
                  <a:avLst>
                    <a:gd name="adj1" fmla="val 50000"/>
                    <a:gd name="adj2" fmla="val 25000"/>
                  </a:avLst>
                </a:prstGeom>
                <a:solidFill>
                  <a:srgbClr val="969696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endParaRPr lang="en-US" sz="2800" b="1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51" name="AutoShape 51"/>
                <p:cNvSpPr>
                  <a:spLocks noChangeArrowheads="1"/>
                </p:cNvSpPr>
                <p:nvPr/>
              </p:nvSpPr>
              <p:spPr bwMode="auto">
                <a:xfrm>
                  <a:off x="2744" y="1822"/>
                  <a:ext cx="273" cy="90"/>
                </a:xfrm>
                <a:prstGeom prst="upArrow">
                  <a:avLst>
                    <a:gd name="adj1" fmla="val 50000"/>
                    <a:gd name="adj2" fmla="val 25000"/>
                  </a:avLst>
                </a:prstGeom>
                <a:solidFill>
                  <a:srgbClr val="969696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48B00"/>
                    </a:buClr>
                    <a:defRPr/>
                  </a:pPr>
                  <a:endParaRPr lang="en-US" sz="2800" b="1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graphicFrame>
            <p:nvGraphicFramePr>
              <p:cNvPr id="140" name="Object 52"/>
              <p:cNvGraphicFramePr>
                <a:graphicFrameLocks noChangeAspect="1"/>
              </p:cNvGraphicFramePr>
              <p:nvPr/>
            </p:nvGraphicFramePr>
            <p:xfrm>
              <a:off x="4022" y="1467"/>
              <a:ext cx="454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" r:id="rId2" imgW="5904762" imgH="4019048" progId="PBrush">
                      <p:embed/>
                    </p:oleObj>
                  </mc:Choice>
                  <mc:Fallback>
                    <p:oleObj name="Bitmap" r:id="rId2" imgW="5904762" imgH="4019048" progId="PBrush">
                      <p:embed/>
                      <p:pic>
                        <p:nvPicPr>
                          <p:cNvPr id="140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2" y="1467"/>
                            <a:ext cx="454" cy="27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0" name="Group 56"/>
            <p:cNvGrpSpPr>
              <a:grpSpLocks/>
            </p:cNvGrpSpPr>
            <p:nvPr/>
          </p:nvGrpSpPr>
          <p:grpSpPr bwMode="auto">
            <a:xfrm>
              <a:off x="6100406" y="5053152"/>
              <a:ext cx="1573019" cy="527915"/>
              <a:chOff x="485775" y="2151064"/>
              <a:chExt cx="7854950" cy="2808287"/>
            </a:xfrm>
          </p:grpSpPr>
          <p:graphicFrame>
            <p:nvGraphicFramePr>
              <p:cNvPr id="131" name="Object 55"/>
              <p:cNvGraphicFramePr>
                <a:graphicFrameLocks noChangeAspect="1"/>
              </p:cNvGraphicFramePr>
              <p:nvPr/>
            </p:nvGraphicFramePr>
            <p:xfrm>
              <a:off x="485775" y="2151064"/>
              <a:ext cx="7854950" cy="2808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-Foto" r:id="rId4" imgW="5601482" imgH="1924319" progId="">
                      <p:embed/>
                    </p:oleObj>
                  </mc:Choice>
                  <mc:Fallback>
                    <p:oleObj name="Photo Editor-Foto" r:id="rId4" imgW="5601482" imgH="1924319" progId="">
                      <p:embed/>
                      <p:pic>
                        <p:nvPicPr>
                          <p:cNvPr id="131" name="Object 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5775" y="2151064"/>
                            <a:ext cx="7854950" cy="2808287"/>
                          </a:xfrm>
                          <a:prstGeom prst="rect">
                            <a:avLst/>
                          </a:prstGeom>
                          <a:solidFill>
                            <a:srgbClr val="CC6600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2" name="Rectangle 58"/>
              <p:cNvSpPr>
                <a:spLocks noChangeArrowheads="1"/>
              </p:cNvSpPr>
              <p:nvPr/>
            </p:nvSpPr>
            <p:spPr bwMode="auto">
              <a:xfrm>
                <a:off x="1428976" y="2338161"/>
                <a:ext cx="933450" cy="223158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900" b="1" kern="0">
                  <a:solidFill>
                    <a:srgbClr val="000000"/>
                  </a:solidFill>
                  <a:latin typeface="Arial" pitchFamily="34" charset="0"/>
                </a:endParaRPr>
              </a:p>
            </p:txBody>
          </p:sp>
          <p:sp>
            <p:nvSpPr>
              <p:cNvPr id="133" name="Rectangle 59"/>
              <p:cNvSpPr>
                <a:spLocks noChangeArrowheads="1"/>
              </p:cNvSpPr>
              <p:nvPr/>
            </p:nvSpPr>
            <p:spPr bwMode="auto">
              <a:xfrm>
                <a:off x="4437062" y="2397125"/>
                <a:ext cx="1600200" cy="267608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900" b="1" kern="0">
                  <a:solidFill>
                    <a:srgbClr val="000000"/>
                  </a:solidFill>
                  <a:latin typeface="Arial" pitchFamily="34" charset="0"/>
                </a:endParaRPr>
              </a:p>
            </p:txBody>
          </p:sp>
          <p:sp>
            <p:nvSpPr>
              <p:cNvPr id="134" name="Rectangle 60"/>
              <p:cNvSpPr>
                <a:spLocks noChangeArrowheads="1"/>
              </p:cNvSpPr>
              <p:nvPr/>
            </p:nvSpPr>
            <p:spPr bwMode="auto">
              <a:xfrm>
                <a:off x="5756048" y="3375025"/>
                <a:ext cx="889000" cy="400050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900" b="1" kern="0">
                  <a:solidFill>
                    <a:srgbClr val="000000"/>
                  </a:solidFill>
                  <a:latin typeface="Arial" pitchFamily="34" charset="0"/>
                </a:endParaRPr>
              </a:p>
            </p:txBody>
          </p:sp>
          <p:sp>
            <p:nvSpPr>
              <p:cNvPr id="135" name="Rectangle 61"/>
              <p:cNvSpPr>
                <a:spLocks noChangeArrowheads="1"/>
              </p:cNvSpPr>
              <p:nvPr/>
            </p:nvSpPr>
            <p:spPr bwMode="auto">
              <a:xfrm>
                <a:off x="6555240" y="2159453"/>
                <a:ext cx="1600200" cy="415472"/>
              </a:xfrm>
              <a:prstGeom prst="rect">
                <a:avLst/>
              </a:prstGeom>
              <a:solidFill>
                <a:srgbClr val="800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900" b="1" kern="0">
                  <a:solidFill>
                    <a:srgbClr val="000000"/>
                  </a:solidFill>
                  <a:latin typeface="Arial" pitchFamily="34" charset="0"/>
                </a:endParaRPr>
              </a:p>
            </p:txBody>
          </p:sp>
          <p:sp>
            <p:nvSpPr>
              <p:cNvPr id="136" name="Rectangle 62"/>
              <p:cNvSpPr>
                <a:spLocks noChangeArrowheads="1"/>
              </p:cNvSpPr>
              <p:nvPr/>
            </p:nvSpPr>
            <p:spPr bwMode="auto">
              <a:xfrm>
                <a:off x="5385934" y="4441825"/>
                <a:ext cx="1006928" cy="400050"/>
              </a:xfrm>
              <a:prstGeom prst="rect">
                <a:avLst/>
              </a:prstGeom>
              <a:solidFill>
                <a:srgbClr val="800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900" b="1" kern="0">
                  <a:solidFill>
                    <a:srgbClr val="000000"/>
                  </a:solidFill>
                  <a:latin typeface="Arial" pitchFamily="34" charset="0"/>
                </a:endParaRPr>
              </a:p>
            </p:txBody>
          </p:sp>
          <p:sp>
            <p:nvSpPr>
              <p:cNvPr id="137" name="Rectangle 63"/>
              <p:cNvSpPr>
                <a:spLocks noChangeArrowheads="1"/>
              </p:cNvSpPr>
              <p:nvPr/>
            </p:nvSpPr>
            <p:spPr bwMode="auto">
              <a:xfrm>
                <a:off x="1414462" y="3463925"/>
                <a:ext cx="933450" cy="222250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900" b="1" kern="0">
                  <a:solidFill>
                    <a:srgbClr val="000000"/>
                  </a:solidFill>
                  <a:latin typeface="Arial" pitchFamily="34" charset="0"/>
                </a:endParaRPr>
              </a:p>
            </p:txBody>
          </p:sp>
          <p:sp>
            <p:nvSpPr>
              <p:cNvPr id="138" name="Rectangle 64"/>
              <p:cNvSpPr>
                <a:spLocks noChangeArrowheads="1"/>
              </p:cNvSpPr>
              <p:nvPr/>
            </p:nvSpPr>
            <p:spPr bwMode="auto">
              <a:xfrm>
                <a:off x="1636712" y="4352925"/>
                <a:ext cx="1422400" cy="355600"/>
              </a:xfrm>
              <a:prstGeom prst="rect">
                <a:avLst/>
              </a:prstGeom>
              <a:solidFill>
                <a:srgbClr val="8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48B00"/>
                  </a:buClr>
                  <a:defRPr/>
                </a:pPr>
                <a:endParaRPr lang="en-US" sz="2900" b="1" kern="0">
                  <a:solidFill>
                    <a:srgbClr val="000000"/>
                  </a:solidFill>
                  <a:latin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0771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Warehousing Architecture Alternatives</a:t>
            </a:r>
            <a:endParaRPr lang="de-DE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53"/>
          <a:stretch>
            <a:fillRect/>
          </a:stretch>
        </p:blipFill>
        <p:spPr bwMode="auto">
          <a:xfrm>
            <a:off x="943583" y="1387104"/>
            <a:ext cx="5978078" cy="526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85" t="66145" r="10008"/>
          <a:stretch>
            <a:fillRect/>
          </a:stretch>
        </p:blipFill>
        <p:spPr bwMode="auto">
          <a:xfrm>
            <a:off x="6921661" y="2210765"/>
            <a:ext cx="4041411" cy="3102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3884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4E818E-2C78-4594-8A7F-B8AD9A2E6E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3777" y="1690688"/>
            <a:ext cx="10712380" cy="4645312"/>
          </a:xfrm>
        </p:spPr>
        <p:txBody>
          <a:bodyPr/>
          <a:lstStyle/>
          <a:p>
            <a:r>
              <a:rPr lang="en-US" sz="2800" dirty="0"/>
              <a:t>SAP ERP </a:t>
            </a:r>
            <a:r>
              <a:rPr lang="en-US" sz="2800" dirty="0">
                <a:sym typeface="Wingdings" panose="05000000000000000000" pitchFamily="2" charset="2"/>
              </a:rPr>
              <a:t> SAP S/4 </a:t>
            </a:r>
            <a:r>
              <a:rPr lang="en-US" sz="2800" dirty="0">
                <a:solidFill>
                  <a:srgbClr val="FF0000"/>
                </a:solidFill>
                <a:sym typeface="Wingdings" panose="05000000000000000000" pitchFamily="2" charset="2"/>
              </a:rPr>
              <a:t>HANA</a:t>
            </a:r>
          </a:p>
          <a:p>
            <a:r>
              <a:rPr lang="en-US" sz="2800" dirty="0">
                <a:sym typeface="Wingdings" panose="05000000000000000000" pitchFamily="2" charset="2"/>
              </a:rPr>
              <a:t>SAP BW  SAP BW/4</a:t>
            </a:r>
            <a:r>
              <a:rPr lang="en-US" sz="2800" dirty="0">
                <a:solidFill>
                  <a:srgbClr val="FF0000"/>
                </a:solidFill>
                <a:sym typeface="Wingdings" panose="05000000000000000000" pitchFamily="2" charset="2"/>
              </a:rPr>
              <a:t>HANA</a:t>
            </a:r>
          </a:p>
          <a:p>
            <a:r>
              <a:rPr lang="en-US" sz="2800" dirty="0">
                <a:sym typeface="Wingdings" panose="05000000000000000000" pitchFamily="2" charset="2"/>
              </a:rPr>
              <a:t>SAP Analytics  SAP Predictive Analytics with </a:t>
            </a:r>
            <a:r>
              <a:rPr lang="en-US" sz="2800" dirty="0">
                <a:solidFill>
                  <a:srgbClr val="FF0000"/>
                </a:solidFill>
                <a:sym typeface="Wingdings" panose="05000000000000000000" pitchFamily="2" charset="2"/>
              </a:rPr>
              <a:t>HANA</a:t>
            </a:r>
          </a:p>
          <a:p>
            <a:r>
              <a:rPr lang="en-US" sz="2800" dirty="0">
                <a:sym typeface="Wingdings" panose="05000000000000000000" pitchFamily="2" charset="2"/>
              </a:rPr>
              <a:t>SAP Cloud/4</a:t>
            </a:r>
            <a:r>
              <a:rPr lang="en-US" sz="2800" dirty="0">
                <a:solidFill>
                  <a:srgbClr val="FF0000"/>
                </a:solidFill>
                <a:sym typeface="Wingdings" panose="05000000000000000000" pitchFamily="2" charset="2"/>
              </a:rPr>
              <a:t>HANA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2BF2DC-2DC1-45AE-8550-FDECB4F80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SAP HANA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92016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139997-A226-462E-B6CE-F3EBBDCFE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amount of RAM </a:t>
            </a:r>
          </a:p>
          <a:p>
            <a:r>
              <a:rPr lang="en-US" dirty="0"/>
              <a:t>Persistent Memory (PMEM)</a:t>
            </a:r>
          </a:p>
          <a:p>
            <a:pPr lvl="1"/>
            <a:r>
              <a:rPr lang="en-US" dirty="0"/>
              <a:t>Data retained when there is power outage</a:t>
            </a:r>
          </a:p>
          <a:p>
            <a:pPr lvl="1"/>
            <a:r>
              <a:rPr lang="en-US" dirty="0"/>
              <a:t>Cheaper than DRAM (Dynamic Random Access Memory)</a:t>
            </a:r>
          </a:p>
          <a:p>
            <a:pPr lvl="1"/>
            <a:r>
              <a:rPr lang="en-US" dirty="0"/>
              <a:t>Available in much larger size</a:t>
            </a:r>
          </a:p>
          <a:p>
            <a:r>
              <a:rPr lang="en-US" dirty="0"/>
              <a:t>HANA (High-Performance Analytic Appliance) natively uses PMEM alongside DRAM</a:t>
            </a:r>
          </a:p>
          <a:p>
            <a:r>
              <a:rPr lang="en-US" dirty="0"/>
              <a:t>Can have up to 128 TB of memory</a:t>
            </a:r>
          </a:p>
          <a:p>
            <a:pPr lvl="1"/>
            <a:r>
              <a:rPr lang="en-US" dirty="0"/>
              <a:t>Possible to store entire database in memory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3B0147-9C13-429D-B5A4-AAF25FB5F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In-Memory Appliance Development (1)</a:t>
            </a:r>
          </a:p>
        </p:txBody>
      </p:sp>
    </p:spTree>
    <p:extLst>
      <p:ext uri="{BB962C8B-B14F-4D97-AF65-F5344CB8AC3E}">
        <p14:creationId xmlns:p14="http://schemas.microsoft.com/office/powerpoint/2010/main" val="835030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E649DF-2BE1-492E-81B5-3AE556573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Factors that enable in-memory database in SAP HANA</a:t>
            </a:r>
          </a:p>
          <a:p>
            <a:pPr lvl="1"/>
            <a:r>
              <a:rPr lang="en-US" dirty="0"/>
              <a:t>Huge amounts of memory</a:t>
            </a:r>
          </a:p>
          <a:p>
            <a:pPr lvl="1"/>
            <a:r>
              <a:rPr lang="en-US" dirty="0"/>
              <a:t>Automatic data compression</a:t>
            </a:r>
          </a:p>
          <a:p>
            <a:pPr lvl="1"/>
            <a:r>
              <a:rPr lang="en-US" dirty="0"/>
              <a:t>Data tiering</a:t>
            </a:r>
          </a:p>
          <a:p>
            <a:pPr lvl="2"/>
            <a:r>
              <a:rPr lang="en-US" dirty="0"/>
              <a:t>Hot data stored in memory</a:t>
            </a:r>
          </a:p>
          <a:p>
            <a:pPr lvl="2"/>
            <a:r>
              <a:rPr lang="en-US" dirty="0"/>
              <a:t>Warm data stored on disk</a:t>
            </a:r>
          </a:p>
          <a:p>
            <a:pPr lvl="2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53785D-CF27-4057-B4B7-593084C5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In-Memory Appliance Development (2)</a:t>
            </a:r>
          </a:p>
        </p:txBody>
      </p:sp>
    </p:spTree>
    <p:extLst>
      <p:ext uri="{BB962C8B-B14F-4D97-AF65-F5344CB8AC3E}">
        <p14:creationId xmlns:p14="http://schemas.microsoft.com/office/powerpoint/2010/main" val="2632452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E57EB6-8FDC-4DD0-9ED7-EBD1DE6A6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Lower latency for data access compared to disk access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4F8717-B928-45AB-84F5-4D69E3BA1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Persistent Memory (PMEM)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F9F396-6F08-4AF7-92EC-7EA75EC99B07}"/>
              </a:ext>
            </a:extLst>
          </p:cNvPr>
          <p:cNvPicPr/>
          <p:nvPr/>
        </p:nvPicPr>
        <p:blipFill rotWithShape="1">
          <a:blip r:embed="rId2"/>
          <a:srcRect l="14539" t="13134" r="4774"/>
          <a:stretch/>
        </p:blipFill>
        <p:spPr>
          <a:xfrm>
            <a:off x="672830" y="2237363"/>
            <a:ext cx="10680970" cy="41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2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1784"/>
          </a:xfrm>
        </p:spPr>
        <p:txBody>
          <a:bodyPr/>
          <a:lstStyle/>
          <a:p>
            <a:r>
              <a:rPr lang="en-US" dirty="0"/>
              <a:t>SAP BW HANA: Architecture</a:t>
            </a:r>
            <a:endParaRPr lang="de-DE" dirty="0"/>
          </a:p>
        </p:txBody>
      </p:sp>
      <p:pic>
        <p:nvPicPr>
          <p:cNvPr id="4" name="Inhaltsplatzhalter 3" descr="Bildschirmausschnitt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476" y="1246911"/>
            <a:ext cx="8107541" cy="561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82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0536"/>
          </a:xfrm>
        </p:spPr>
        <p:txBody>
          <a:bodyPr/>
          <a:lstStyle/>
          <a:p>
            <a:r>
              <a:rPr lang="en-US" dirty="0"/>
              <a:t>SAP Business Intelligence Platform </a:t>
            </a:r>
          </a:p>
        </p:txBody>
      </p:sp>
      <p:pic>
        <p:nvPicPr>
          <p:cNvPr id="4" name="Inhaltsplatzhalter 3" descr="Bildschirmausschnitt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777" y="1151907"/>
            <a:ext cx="7598104" cy="570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245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983848" y="1690688"/>
            <a:ext cx="10776152" cy="4391025"/>
          </a:xfrm>
        </p:spPr>
        <p:txBody>
          <a:bodyPr/>
          <a:lstStyle/>
          <a:p>
            <a:r>
              <a:rPr lang="en-US" dirty="0"/>
              <a:t>A data source is the internal representation of an external source of data for a specific source system</a:t>
            </a:r>
          </a:p>
          <a:p>
            <a:pPr lvl="1"/>
            <a:r>
              <a:rPr lang="en-US" dirty="0"/>
              <a:t>Field list (order of fields, data types, length, ...) </a:t>
            </a:r>
          </a:p>
          <a:p>
            <a:pPr lvl="1"/>
            <a:r>
              <a:rPr lang="en-US" dirty="0"/>
              <a:t>Adapter specific settings (e.g., type of file)</a:t>
            </a:r>
          </a:p>
          <a:p>
            <a:pPr lvl="1"/>
            <a:r>
              <a:rPr lang="en-US" dirty="0"/>
              <a:t>Persistency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Source</a:t>
            </a:r>
          </a:p>
        </p:txBody>
      </p:sp>
    </p:spTree>
    <p:extLst>
      <p:ext uri="{BB962C8B-B14F-4D97-AF65-F5344CB8AC3E}">
        <p14:creationId xmlns:p14="http://schemas.microsoft.com/office/powerpoint/2010/main" val="1890875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972531" y="1690688"/>
            <a:ext cx="4257525" cy="4391025"/>
          </a:xfrm>
        </p:spPr>
        <p:txBody>
          <a:bodyPr/>
          <a:lstStyle/>
          <a:p>
            <a:r>
              <a:rPr lang="en-US" dirty="0"/>
              <a:t>File name, number of header rows, data format, number format, field list, preview, ….</a:t>
            </a:r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 - File Interface</a:t>
            </a:r>
            <a:endParaRPr lang="de-DE" dirty="0"/>
          </a:p>
        </p:txBody>
      </p:sp>
      <p:pic>
        <p:nvPicPr>
          <p:cNvPr id="4" name="Picture 9" descr="ladenvonstammdatenausflachendateien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121" y="3338121"/>
            <a:ext cx="6542087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864" y="1469027"/>
            <a:ext cx="4068762" cy="138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16"/>
          <p:cNvSpPr>
            <a:spLocks noChangeArrowheads="1"/>
          </p:cNvSpPr>
          <p:nvPr/>
        </p:nvSpPr>
        <p:spPr bwMode="auto">
          <a:xfrm>
            <a:off x="6066006" y="1812100"/>
            <a:ext cx="720725" cy="11525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4967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E3620-FFD5-4094-977F-B79D559D3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Modeling Objects in SAP BW/4HANA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EF6670E-40B9-492D-B144-46CC81504E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5911152"/>
              </p:ext>
            </p:extLst>
          </p:nvPr>
        </p:nvGraphicFramePr>
        <p:xfrm>
          <a:off x="964096" y="1888435"/>
          <a:ext cx="9640956" cy="29817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21607">
                  <a:extLst>
                    <a:ext uri="{9D8B030D-6E8A-4147-A177-3AD203B41FA5}">
                      <a16:colId xmlns:a16="http://schemas.microsoft.com/office/drawing/2014/main" val="4274433144"/>
                    </a:ext>
                  </a:extLst>
                </a:gridCol>
                <a:gridCol w="4719349">
                  <a:extLst>
                    <a:ext uri="{9D8B030D-6E8A-4147-A177-3AD203B41FA5}">
                      <a16:colId xmlns:a16="http://schemas.microsoft.com/office/drawing/2014/main" val="1972368309"/>
                    </a:ext>
                  </a:extLst>
                </a:gridCol>
              </a:tblGrid>
              <a:tr h="59634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SAP BW/4HANA Object</a:t>
                      </a:r>
                      <a:endParaRPr lang="en-US" sz="2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Main Modeling Purpose</a:t>
                      </a:r>
                      <a:endParaRPr lang="en-US" sz="2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827860"/>
                  </a:ext>
                </a:extLst>
              </a:tr>
              <a:tr h="596348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2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InfoObjects</a:t>
                      </a:r>
                      <a:endParaRPr lang="en-US" sz="2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Master data storage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7633093"/>
                  </a:ext>
                </a:extLst>
              </a:tr>
              <a:tr h="596348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 ODS Views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virtualization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2032787"/>
                  </a:ext>
                </a:extLst>
              </a:tr>
              <a:tr h="596348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Advanced DSOs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persistency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8971154"/>
                  </a:ext>
                </a:extLst>
              </a:tr>
              <a:tr h="596348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2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CompositeProviders</a:t>
                      </a:r>
                      <a:endParaRPr lang="en-US" sz="2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Logical layer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3600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665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925974" y="1690688"/>
            <a:ext cx="10834025" cy="4391025"/>
          </a:xfrm>
        </p:spPr>
        <p:txBody>
          <a:bodyPr/>
          <a:lstStyle/>
          <a:p>
            <a:r>
              <a:rPr lang="en-US" dirty="0" err="1"/>
              <a:t>InfoObjects</a:t>
            </a:r>
            <a:r>
              <a:rPr lang="en-US" dirty="0"/>
              <a:t> are used to focus on </a:t>
            </a:r>
            <a:r>
              <a:rPr lang="en-US" b="1" dirty="0"/>
              <a:t>business requirements.</a:t>
            </a:r>
          </a:p>
          <a:p>
            <a:pPr lvl="1"/>
            <a:r>
              <a:rPr lang="en-US" dirty="0" err="1"/>
              <a:t>InfoObjects</a:t>
            </a:r>
            <a:r>
              <a:rPr lang="en-US" dirty="0"/>
              <a:t> are the “</a:t>
            </a:r>
            <a:r>
              <a:rPr lang="en-US" b="1" dirty="0"/>
              <a:t>bricks</a:t>
            </a:r>
            <a:r>
              <a:rPr lang="en-US" dirty="0"/>
              <a:t>” to build data structures inside SAP BW</a:t>
            </a:r>
          </a:p>
          <a:p>
            <a:pPr lvl="1"/>
            <a:r>
              <a:rPr lang="en-US" dirty="0"/>
              <a:t>Technically it can be looked like a database field with properties (e.g., type, length, permitted values)</a:t>
            </a:r>
          </a:p>
          <a:p>
            <a:pPr lvl="1"/>
            <a:r>
              <a:rPr lang="en-US" dirty="0" err="1"/>
              <a:t>InfoObjects</a:t>
            </a:r>
            <a:r>
              <a:rPr lang="en-US" dirty="0"/>
              <a:t> represent business objects from an end user’s view</a:t>
            </a:r>
          </a:p>
          <a:p>
            <a:pPr lvl="1"/>
            <a:r>
              <a:rPr lang="en-US" dirty="0"/>
              <a:t>Main modeling purpose is </a:t>
            </a:r>
            <a:r>
              <a:rPr lang="en-US" i="1" dirty="0"/>
              <a:t>master data storage</a:t>
            </a:r>
          </a:p>
          <a:p>
            <a:pPr lvl="1"/>
            <a:r>
              <a:rPr lang="en-US" dirty="0"/>
              <a:t>The most important </a:t>
            </a:r>
            <a:r>
              <a:rPr lang="en-US" dirty="0" err="1"/>
              <a:t>InfoObject</a:t>
            </a:r>
            <a:r>
              <a:rPr lang="en-US" dirty="0"/>
              <a:t> types used for business analysis are </a:t>
            </a:r>
            <a:r>
              <a:rPr lang="en-US" b="1" dirty="0"/>
              <a:t>Characteristics</a:t>
            </a:r>
            <a:r>
              <a:rPr lang="en-US" dirty="0"/>
              <a:t> and </a:t>
            </a:r>
            <a:r>
              <a:rPr lang="en-US" b="1" dirty="0"/>
              <a:t>Key Figures</a:t>
            </a:r>
          </a:p>
          <a:p>
            <a:pPr lvl="2"/>
            <a:r>
              <a:rPr lang="en-US" dirty="0" err="1"/>
              <a:t>InfoObjects</a:t>
            </a:r>
            <a:r>
              <a:rPr lang="en-US" dirty="0"/>
              <a:t> of </a:t>
            </a:r>
            <a:r>
              <a:rPr lang="en-US" b="1" i="1" dirty="0"/>
              <a:t>Characteristic types</a:t>
            </a:r>
            <a:r>
              <a:rPr lang="en-US" dirty="0"/>
              <a:t> are </a:t>
            </a:r>
            <a:r>
              <a:rPr lang="en-US" i="1" dirty="0"/>
              <a:t>contextual elements</a:t>
            </a:r>
            <a:endParaRPr lang="en-US" dirty="0"/>
          </a:p>
          <a:p>
            <a:pPr lvl="2"/>
            <a:r>
              <a:rPr lang="en-US" dirty="0" err="1"/>
              <a:t>InfoObjects</a:t>
            </a:r>
            <a:r>
              <a:rPr lang="en-US" dirty="0"/>
              <a:t> of </a:t>
            </a:r>
            <a:r>
              <a:rPr lang="en-US" b="1" i="1" dirty="0"/>
              <a:t>Key Figure types</a:t>
            </a:r>
            <a:r>
              <a:rPr lang="en-US" dirty="0"/>
              <a:t> represent the </a:t>
            </a:r>
            <a:r>
              <a:rPr lang="en-US" i="1" dirty="0"/>
              <a:t>metrics</a:t>
            </a: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an </a:t>
            </a:r>
            <a:r>
              <a:rPr lang="de-DE" dirty="0" err="1"/>
              <a:t>InfoObject</a:t>
            </a:r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72570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/>
          <p:cNvSpPr>
            <a:spLocks noGrp="1"/>
          </p:cNvSpPr>
          <p:nvPr>
            <p:ph idx="1"/>
          </p:nvPr>
        </p:nvSpPr>
        <p:spPr>
          <a:xfrm>
            <a:off x="972273" y="1690688"/>
            <a:ext cx="9653286" cy="1720801"/>
          </a:xfrm>
        </p:spPr>
        <p:txBody>
          <a:bodyPr/>
          <a:lstStyle/>
          <a:p>
            <a:r>
              <a:rPr lang="de-DE" altLang="ja-JP" dirty="0">
                <a:ea typeface="ＭＳ Ｐゴシック"/>
                <a:cs typeface="ＭＳ Ｐゴシック"/>
              </a:rPr>
              <a:t>A Characteristics represent a </a:t>
            </a:r>
            <a:r>
              <a:rPr lang="en-US" dirty="0"/>
              <a:t>business object (or business entity, business term).</a:t>
            </a:r>
            <a:endParaRPr lang="en-US" u="sng" dirty="0"/>
          </a:p>
          <a:p>
            <a:pPr lvl="1"/>
            <a:r>
              <a:rPr lang="en-US" dirty="0"/>
              <a:t>E.g., Customer, Product, Country, Product Category</a:t>
            </a:r>
          </a:p>
          <a:p>
            <a:pPr lvl="1"/>
            <a:r>
              <a:rPr lang="en-US" dirty="0"/>
              <a:t>In most cases every item has a key (language independent) and a description (language dependent)</a:t>
            </a:r>
          </a:p>
          <a:p>
            <a:pPr lvl="2"/>
            <a:r>
              <a:rPr lang="en-US" dirty="0"/>
              <a:t>Example:  </a:t>
            </a:r>
          </a:p>
          <a:p>
            <a:pPr lvl="2"/>
            <a:endParaRPr lang="en-US" dirty="0">
              <a:latin typeface="Arial" charset="0"/>
            </a:endParaRPr>
          </a:p>
          <a:p>
            <a:pPr lvl="2"/>
            <a:endParaRPr lang="en-US" dirty="0">
              <a:latin typeface="Arial" charset="0"/>
            </a:endParaRPr>
          </a:p>
          <a:p>
            <a:pPr lvl="1"/>
            <a:endParaRPr lang="en-US" dirty="0">
              <a:latin typeface="Arial" charset="0"/>
            </a:endParaRPr>
          </a:p>
          <a:p>
            <a:pPr lvl="1"/>
            <a:endParaRPr lang="en-US" dirty="0">
              <a:latin typeface="Arial" charset="0"/>
            </a:endParaRPr>
          </a:p>
          <a:p>
            <a:pPr>
              <a:buFont typeface="Arial" charset="0"/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InfoObject</a:t>
            </a:r>
            <a:r>
              <a:rPr lang="de-DE" dirty="0"/>
              <a:t>: </a:t>
            </a:r>
            <a:r>
              <a:rPr lang="de-DE" dirty="0" err="1"/>
              <a:t>Characteristics</a:t>
            </a:r>
            <a:r>
              <a:rPr lang="de-DE" dirty="0"/>
              <a:t> (1) </a:t>
            </a:r>
            <a:endParaRPr lang="en-US" dirty="0"/>
          </a:p>
        </p:txBody>
      </p:sp>
      <p:grpSp>
        <p:nvGrpSpPr>
          <p:cNvPr id="12" name="Gruppieren 11"/>
          <p:cNvGrpSpPr/>
          <p:nvPr/>
        </p:nvGrpSpPr>
        <p:grpSpPr>
          <a:xfrm>
            <a:off x="2106592" y="3993266"/>
            <a:ext cx="6146157" cy="2206420"/>
            <a:chOff x="2436906" y="37829"/>
            <a:chExt cx="3791479" cy="1815968"/>
          </a:xfrm>
        </p:grpSpPr>
        <p:pic>
          <p:nvPicPr>
            <p:cNvPr id="13" name="Grafik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36906" y="37829"/>
              <a:ext cx="3791479" cy="276264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46432" y="310532"/>
              <a:ext cx="3781953" cy="1543265"/>
            </a:xfrm>
            <a:prstGeom prst="rect">
              <a:avLst/>
            </a:prstGeom>
          </p:spPr>
        </p:pic>
      </p:grpSp>
      <p:sp>
        <p:nvSpPr>
          <p:cNvPr id="15" name="Abgerundetes Rechteck 14"/>
          <p:cNvSpPr/>
          <p:nvPr/>
        </p:nvSpPr>
        <p:spPr>
          <a:xfrm>
            <a:off x="3644216" y="6288563"/>
            <a:ext cx="2316745" cy="4086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US" dirty="0"/>
              <a:t>Master Data</a:t>
            </a:r>
          </a:p>
        </p:txBody>
      </p:sp>
    </p:spTree>
    <p:extLst>
      <p:ext uri="{BB962C8B-B14F-4D97-AF65-F5344CB8AC3E}">
        <p14:creationId xmlns:p14="http://schemas.microsoft.com/office/powerpoint/2010/main" val="2812902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838200" y="1690688"/>
            <a:ext cx="10921800" cy="4391025"/>
          </a:xfrm>
        </p:spPr>
        <p:txBody>
          <a:bodyPr/>
          <a:lstStyle/>
          <a:p>
            <a:r>
              <a:rPr lang="en-US" dirty="0"/>
              <a:t>In addition to key and description a characteristic may have attributes which describes the business object in more detail.</a:t>
            </a:r>
          </a:p>
          <a:p>
            <a:pPr lvl="1"/>
            <a:r>
              <a:rPr lang="en-US" sz="1800" dirty="0"/>
              <a:t>Example: </a:t>
            </a:r>
            <a:r>
              <a:rPr lang="en-US" sz="1800" dirty="0" err="1"/>
              <a:t>InfoObject</a:t>
            </a:r>
            <a:r>
              <a:rPr lang="en-US" sz="1800" dirty="0"/>
              <a:t> “Customer” is a characteristic with attributes such as “Location”, “Sales Organization” and “Country”</a:t>
            </a:r>
          </a:p>
          <a:p>
            <a:pPr lvl="1"/>
            <a:endParaRPr lang="en-US" dirty="0">
              <a:latin typeface="Arial" charset="0"/>
            </a:endParaRPr>
          </a:p>
          <a:p>
            <a:pPr lvl="1"/>
            <a:endParaRPr lang="en-US" dirty="0">
              <a:latin typeface="Arial" charset="0"/>
            </a:endParaRPr>
          </a:p>
          <a:p>
            <a:pPr lvl="1"/>
            <a:endParaRPr lang="en-US" dirty="0">
              <a:latin typeface="Arial" charset="0"/>
            </a:endParaRPr>
          </a:p>
          <a:p>
            <a:pPr lvl="1"/>
            <a:endParaRPr lang="en-US" dirty="0">
              <a:latin typeface="Arial" charset="0"/>
            </a:endParaRPr>
          </a:p>
          <a:p>
            <a:pPr lvl="1"/>
            <a:endParaRPr lang="de-DE" dirty="0">
              <a:latin typeface="Arial" charset="0"/>
            </a:endParaRPr>
          </a:p>
          <a:p>
            <a:pPr lvl="1"/>
            <a:endParaRPr lang="de-DE" dirty="0">
              <a:latin typeface="Arial" charset="0"/>
            </a:endParaRPr>
          </a:p>
          <a:p>
            <a:pPr lvl="1"/>
            <a:endParaRPr lang="en-US" dirty="0">
              <a:latin typeface="Arial" charset="0"/>
            </a:endParaRPr>
          </a:p>
          <a:p>
            <a:r>
              <a:rPr lang="en-US" dirty="0"/>
              <a:t>Often attributes are used to form hierarchies</a:t>
            </a:r>
          </a:p>
          <a:p>
            <a:pPr lvl="1"/>
            <a:r>
              <a:rPr lang="en-US" sz="1800" dirty="0"/>
              <a:t>Example: Country </a:t>
            </a:r>
            <a:r>
              <a:rPr lang="en-US" sz="1800" dirty="0">
                <a:sym typeface="Wingdings" panose="05000000000000000000" pitchFamily="2" charset="2"/>
              </a:rPr>
              <a:t> S</a:t>
            </a:r>
            <a:r>
              <a:rPr lang="en-US" sz="1800" dirty="0"/>
              <a:t>ales Organization </a:t>
            </a:r>
            <a:r>
              <a:rPr lang="en-US" sz="1800" dirty="0">
                <a:sym typeface="Wingdings" panose="05000000000000000000" pitchFamily="2" charset="2"/>
              </a:rPr>
              <a:t> C</a:t>
            </a:r>
            <a:r>
              <a:rPr lang="en-US" sz="1800" dirty="0"/>
              <a:t>ustomer</a:t>
            </a:r>
          </a:p>
          <a:p>
            <a:pPr lvl="1"/>
            <a:endParaRPr lang="en-US" sz="1800" dirty="0">
              <a:latin typeface="Arial" charset="0"/>
            </a:endParaRPr>
          </a:p>
          <a:p>
            <a:pPr>
              <a:buFont typeface="Arial" charset="0"/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InfoObject</a:t>
            </a:r>
            <a:r>
              <a:rPr lang="de-DE" dirty="0"/>
              <a:t>: </a:t>
            </a:r>
            <a:r>
              <a:rPr lang="de-DE" dirty="0" err="1"/>
              <a:t>Characteristics</a:t>
            </a:r>
            <a:r>
              <a:rPr lang="de-DE" dirty="0"/>
              <a:t> (2) </a:t>
            </a:r>
          </a:p>
        </p:txBody>
      </p:sp>
      <p:grpSp>
        <p:nvGrpSpPr>
          <p:cNvPr id="4" name="Gruppieren 3"/>
          <p:cNvGrpSpPr/>
          <p:nvPr/>
        </p:nvGrpSpPr>
        <p:grpSpPr>
          <a:xfrm>
            <a:off x="1929799" y="3114731"/>
            <a:ext cx="6959557" cy="2052581"/>
            <a:chOff x="2051720" y="4365104"/>
            <a:chExt cx="4587884" cy="1813032"/>
          </a:xfrm>
        </p:grpSpPr>
        <p:pic>
          <p:nvPicPr>
            <p:cNvPr id="5" name="Grafik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51720" y="4365104"/>
              <a:ext cx="4582164" cy="285790"/>
            </a:xfrm>
            <a:prstGeom prst="rect">
              <a:avLst/>
            </a:prstGeom>
          </p:spPr>
        </p:pic>
        <p:pic>
          <p:nvPicPr>
            <p:cNvPr id="6" name="Grafik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66966" y="4615818"/>
              <a:ext cx="4572638" cy="1562318"/>
            </a:xfrm>
            <a:prstGeom prst="rect">
              <a:avLst/>
            </a:prstGeom>
          </p:spPr>
        </p:pic>
        <p:pic>
          <p:nvPicPr>
            <p:cNvPr id="7" name="Grafik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71016" y="4369138"/>
              <a:ext cx="1182776" cy="259853"/>
            </a:xfrm>
            <a:prstGeom prst="rect">
              <a:avLst/>
            </a:prstGeom>
          </p:spPr>
        </p:pic>
        <p:pic>
          <p:nvPicPr>
            <p:cNvPr id="8" name="Grafik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59635" y="4628991"/>
              <a:ext cx="1194158" cy="1536313"/>
            </a:xfrm>
            <a:prstGeom prst="rect">
              <a:avLst/>
            </a:prstGeom>
          </p:spPr>
        </p:pic>
      </p:grpSp>
      <p:sp>
        <p:nvSpPr>
          <p:cNvPr id="9" name="Inhaltsplatzhalter 2"/>
          <p:cNvSpPr>
            <a:spLocks/>
          </p:cNvSpPr>
          <p:nvPr/>
        </p:nvSpPr>
        <p:spPr bwMode="auto">
          <a:xfrm>
            <a:off x="1929799" y="5146163"/>
            <a:ext cx="8309275" cy="745352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ctr" eaLnBrk="0" hangingPunct="0">
              <a:spcBef>
                <a:spcPct val="20000"/>
              </a:spcBef>
            </a:pPr>
            <a:r>
              <a:rPr lang="en-US" sz="2000" b="1" dirty="0">
                <a:latin typeface="Arial Narrow" pitchFamily="34" charset="0"/>
              </a:rPr>
              <a:t>	</a:t>
            </a:r>
            <a:r>
              <a:rPr lang="en-US" sz="2000" b="1" dirty="0"/>
              <a:t>Note: </a:t>
            </a:r>
            <a:r>
              <a:rPr lang="en-US" sz="2000" dirty="0"/>
              <a:t>What SAP calls a Characteristic is often referred to in the data warehouse community as a Dimension.</a:t>
            </a:r>
          </a:p>
        </p:txBody>
      </p:sp>
    </p:spTree>
    <p:extLst>
      <p:ext uri="{BB962C8B-B14F-4D97-AF65-F5344CB8AC3E}">
        <p14:creationId xmlns:p14="http://schemas.microsoft.com/office/powerpoint/2010/main" val="833020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838200" y="1690688"/>
            <a:ext cx="10921800" cy="5022628"/>
          </a:xfrm>
        </p:spPr>
        <p:txBody>
          <a:bodyPr/>
          <a:lstStyle/>
          <a:p>
            <a:r>
              <a:rPr lang="de-DE" altLang="ja-JP" dirty="0">
                <a:ea typeface="ＭＳ Ｐゴシック"/>
                <a:cs typeface="ＭＳ Ｐゴシック"/>
              </a:rPr>
              <a:t>A </a:t>
            </a:r>
            <a:r>
              <a:rPr lang="de-DE" altLang="ja-JP" b="1" dirty="0">
                <a:ea typeface="ＭＳ Ｐゴシック"/>
                <a:cs typeface="ＭＳ Ｐゴシック"/>
              </a:rPr>
              <a:t>Key Figure </a:t>
            </a:r>
            <a:r>
              <a:rPr lang="de-DE" altLang="ja-JP" dirty="0">
                <a:ea typeface="ＭＳ Ｐゴシック"/>
                <a:cs typeface="ＭＳ Ｐゴシック"/>
              </a:rPr>
              <a:t>(or measure) is often used to </a:t>
            </a:r>
            <a:r>
              <a:rPr lang="de-DE" altLang="ja-JP" b="1" dirty="0">
                <a:ea typeface="ＭＳ Ｐゴシック"/>
                <a:cs typeface="ＭＳ Ｐゴシック"/>
              </a:rPr>
              <a:t>document the performance </a:t>
            </a:r>
            <a:r>
              <a:rPr lang="de-DE" altLang="ja-JP" dirty="0">
                <a:ea typeface="ＭＳ Ｐゴシック"/>
                <a:cs typeface="ＭＳ Ｐゴシック"/>
              </a:rPr>
              <a:t>of a business process over time.</a:t>
            </a:r>
          </a:p>
          <a:p>
            <a:pPr lvl="1"/>
            <a:r>
              <a:rPr lang="de-DE" dirty="0"/>
              <a:t>It can be found in document records such as invoice, delivery note, purchase order, goods receipt, etc.</a:t>
            </a:r>
            <a:endParaRPr lang="en-US" dirty="0"/>
          </a:p>
          <a:p>
            <a:pPr lvl="1"/>
            <a:r>
              <a:rPr lang="de-DE" altLang="ja-JP" dirty="0" err="1">
                <a:ea typeface="ＭＳ Ｐゴシック"/>
                <a:cs typeface="ＭＳ Ｐゴシック"/>
              </a:rPr>
              <a:t>Examples</a:t>
            </a:r>
            <a:r>
              <a:rPr lang="de-DE" altLang="ja-JP" dirty="0">
                <a:ea typeface="ＭＳ Ｐゴシック"/>
                <a:cs typeface="ＭＳ Ｐゴシック"/>
              </a:rPr>
              <a:t>: </a:t>
            </a:r>
            <a:r>
              <a:rPr lang="en-US" dirty="0"/>
              <a:t>“</a:t>
            </a:r>
            <a:r>
              <a:rPr lang="de-DE" altLang="ja-JP" dirty="0">
                <a:ea typeface="ＭＳ Ｐゴシック"/>
                <a:cs typeface="ＭＳ Ｐゴシック"/>
              </a:rPr>
              <a:t>Revenue</a:t>
            </a:r>
            <a:r>
              <a:rPr lang="en-US" dirty="0"/>
              <a:t>”, “</a:t>
            </a:r>
            <a:r>
              <a:rPr lang="de-DE" altLang="ja-JP" dirty="0" err="1">
                <a:ea typeface="ＭＳ Ｐゴシック"/>
                <a:cs typeface="ＭＳ Ｐゴシック"/>
              </a:rPr>
              <a:t>Sales</a:t>
            </a:r>
            <a:r>
              <a:rPr lang="de-DE" altLang="ja-JP" dirty="0">
                <a:ea typeface="ＭＳ Ｐゴシック"/>
                <a:cs typeface="ＭＳ Ｐゴシック"/>
              </a:rPr>
              <a:t> </a:t>
            </a:r>
            <a:r>
              <a:rPr lang="de-DE" altLang="ja-JP" dirty="0" err="1">
                <a:ea typeface="ＭＳ Ｐゴシック"/>
                <a:cs typeface="ＭＳ Ｐゴシック"/>
              </a:rPr>
              <a:t>Amount</a:t>
            </a:r>
            <a:r>
              <a:rPr lang="en-US" dirty="0"/>
              <a:t>”</a:t>
            </a:r>
            <a:endParaRPr lang="de-DE" altLang="ja-JP" dirty="0">
              <a:ea typeface="ＭＳ Ｐゴシック"/>
              <a:cs typeface="ＭＳ Ｐゴシック"/>
            </a:endParaRPr>
          </a:p>
          <a:p>
            <a:pPr lvl="1"/>
            <a:endParaRPr lang="de-DE" dirty="0">
              <a:latin typeface="Arial" charset="0"/>
            </a:endParaRPr>
          </a:p>
          <a:p>
            <a:r>
              <a:rPr lang="de-DE" dirty="0"/>
              <a:t>Note: </a:t>
            </a:r>
            <a:r>
              <a:rPr lang="de-DE" b="1" dirty="0"/>
              <a:t>InfoObjects</a:t>
            </a:r>
            <a:r>
              <a:rPr lang="de-DE" dirty="0"/>
              <a:t> are unique inside SAP BW; they are used to build the data structures for analysis requirements.</a:t>
            </a:r>
          </a:p>
          <a:p>
            <a:pPr lvl="1"/>
            <a:r>
              <a:rPr lang="de-DE" dirty="0"/>
              <a:t>The data type, value range or field length is uniquely defined system-wide inside SAP BW.</a:t>
            </a:r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InfoObject</a:t>
            </a:r>
            <a:r>
              <a:rPr lang="de-DE" dirty="0"/>
              <a:t>: Key </a:t>
            </a:r>
            <a:r>
              <a:rPr lang="de-DE" dirty="0" err="1"/>
              <a:t>Figures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3448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838199" y="1389414"/>
            <a:ext cx="11262757" cy="5379522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US" sz="2500" dirty="0"/>
              <a:t>A</a:t>
            </a:r>
            <a:r>
              <a:rPr lang="en-US" sz="2500" b="1" dirty="0"/>
              <a:t> Business Transaction </a:t>
            </a:r>
            <a:r>
              <a:rPr lang="en-US" sz="2500" dirty="0"/>
              <a:t>can be described by a data record which consists of a combination of characteristics and key figures (and ordinary database fields potentially)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US" sz="2500" dirty="0"/>
              <a:t>When designing the Data Warehouse system, granularity for storing data has to be designed (single business transactions or higher level; e.g., month)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lang="de-DE" sz="2500" dirty="0"/>
              <a:t>In Global Bike case Order Number and Order Item are </a:t>
            </a:r>
            <a:r>
              <a:rPr lang="de-DE" sz="2500" b="1" i="1" dirty="0"/>
              <a:t>database fields</a:t>
            </a:r>
            <a:r>
              <a:rPr lang="de-DE" sz="2500" dirty="0"/>
              <a:t>; Calendar day, Customer, Material are </a:t>
            </a:r>
            <a:r>
              <a:rPr lang="de-DE" sz="2500" b="1" i="1" dirty="0"/>
              <a:t>InfoObjects of type Characteristics</a:t>
            </a:r>
            <a:r>
              <a:rPr lang="de-DE" sz="2500" dirty="0"/>
              <a:t>; Sales Quantity, Revenue, Discount are </a:t>
            </a:r>
            <a:r>
              <a:rPr lang="de-DE" sz="2500" b="1" i="1" dirty="0"/>
              <a:t>InfoObjects of type Key Figure</a:t>
            </a:r>
            <a:r>
              <a:rPr lang="de-DE" sz="2500" dirty="0"/>
              <a:t>; the Units are </a:t>
            </a:r>
            <a:r>
              <a:rPr lang="de-DE" sz="2500" b="1" i="1" dirty="0"/>
              <a:t>Characteristics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9291"/>
          </a:xfrm>
        </p:spPr>
        <p:txBody>
          <a:bodyPr/>
          <a:lstStyle/>
          <a:p>
            <a:r>
              <a:rPr lang="en-US" dirty="0" err="1"/>
              <a:t>InfoObjects</a:t>
            </a:r>
            <a:r>
              <a:rPr lang="en-US" dirty="0"/>
              <a:t> are “Bricks” for Data Structures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38AD84-56D5-4C4A-8A90-4714600C9960}"/>
              </a:ext>
            </a:extLst>
          </p:cNvPr>
          <p:cNvGrpSpPr/>
          <p:nvPr/>
        </p:nvGrpSpPr>
        <p:grpSpPr>
          <a:xfrm>
            <a:off x="1211777" y="4757782"/>
            <a:ext cx="10515599" cy="2060590"/>
            <a:chOff x="1076445" y="4201610"/>
            <a:chExt cx="10515599" cy="2060590"/>
          </a:xfrm>
        </p:grpSpPr>
        <p:pic>
          <p:nvPicPr>
            <p:cNvPr id="4" name="Grafik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6445" y="4201610"/>
              <a:ext cx="10515599" cy="1325563"/>
            </a:xfrm>
            <a:prstGeom prst="rect">
              <a:avLst/>
            </a:prstGeom>
          </p:spPr>
        </p:pic>
        <p:sp>
          <p:nvSpPr>
            <p:cNvPr id="5" name="Inhaltsplatzhalter 2"/>
            <p:cNvSpPr>
              <a:spLocks/>
            </p:cNvSpPr>
            <p:nvPr/>
          </p:nvSpPr>
          <p:spPr bwMode="auto">
            <a:xfrm>
              <a:off x="4583832" y="5716029"/>
              <a:ext cx="3024336" cy="546171"/>
            </a:xfrm>
            <a:prstGeom prst="roundRect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342900" indent="-342900" algn="ctr" eaLnBrk="0" hangingPunct="0">
                <a:spcBef>
                  <a:spcPct val="20000"/>
                </a:spcBef>
              </a:pPr>
              <a:r>
                <a:rPr lang="en-US" sz="2000" dirty="0"/>
                <a:t>Transaction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6878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D7897-A577-4930-B4A2-C4B982557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ODS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36D9B-F651-4E4E-BFD9-B95667DED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Open ODS Views</a:t>
            </a:r>
            <a:r>
              <a:rPr lang="en-US" dirty="0"/>
              <a:t> enable direct data access without the need to create </a:t>
            </a:r>
            <a:r>
              <a:rPr lang="en-US" dirty="0" err="1"/>
              <a:t>InfoObjects</a:t>
            </a:r>
            <a:r>
              <a:rPr lang="en-US" dirty="0"/>
              <a:t>. (ODS – Operational Data Store)</a:t>
            </a:r>
          </a:p>
          <a:p>
            <a:r>
              <a:rPr lang="en-US" dirty="0"/>
              <a:t>An Open ODS View is a view on the source object, it does not contain any data persistence. (Purpose – Virtualization)</a:t>
            </a:r>
          </a:p>
          <a:p>
            <a:r>
              <a:rPr lang="en-US" dirty="0"/>
              <a:t>It is generally used to pull in data from external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013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838200" y="1690688"/>
            <a:ext cx="10921800" cy="5068927"/>
          </a:xfrm>
        </p:spPr>
        <p:txBody>
          <a:bodyPr/>
          <a:lstStyle/>
          <a:p>
            <a:r>
              <a:rPr lang="en-US" dirty="0" err="1"/>
              <a:t>InfoProviders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Are the data containers inside SAP BW providing specific view of data</a:t>
            </a:r>
          </a:p>
          <a:p>
            <a:pPr lvl="1"/>
            <a:r>
              <a:rPr lang="en-US" dirty="0"/>
              <a:t>May store data records </a:t>
            </a:r>
            <a:r>
              <a:rPr lang="en-US" b="1" dirty="0"/>
              <a:t>physically</a:t>
            </a:r>
            <a:r>
              <a:rPr lang="en-US" dirty="0"/>
              <a:t> (persistent)</a:t>
            </a:r>
          </a:p>
          <a:p>
            <a:pPr lvl="1"/>
            <a:r>
              <a:rPr lang="en-US" dirty="0"/>
              <a:t>May be accessed with front end tools such as SAP Business Objects Advanced Analysis for Office using a query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InfoProviders</a:t>
            </a:r>
            <a:r>
              <a:rPr lang="de-DE" dirty="0"/>
              <a:t> “</a:t>
            </a:r>
            <a:r>
              <a:rPr lang="de-DE" dirty="0" err="1"/>
              <a:t>Provide</a:t>
            </a:r>
            <a:r>
              <a:rPr lang="de-DE" dirty="0"/>
              <a:t>” Access </a:t>
            </a:r>
            <a:r>
              <a:rPr lang="de-DE" dirty="0" err="1"/>
              <a:t>to</a:t>
            </a:r>
            <a:r>
              <a:rPr lang="de-DE" dirty="0"/>
              <a:t> Data Records </a:t>
            </a:r>
            <a:endParaRPr lang="en-US" dirty="0"/>
          </a:p>
        </p:txBody>
      </p:sp>
      <p:pic>
        <p:nvPicPr>
          <p:cNvPr id="4" name="Grafik 3" descr="Bildschirmausschnit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948" y="3598223"/>
            <a:ext cx="4990642" cy="31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68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838200" y="1782500"/>
            <a:ext cx="10921800" cy="4856839"/>
          </a:xfrm>
        </p:spPr>
        <p:txBody>
          <a:bodyPr/>
          <a:lstStyle/>
          <a:p>
            <a:r>
              <a:rPr lang="en-US" dirty="0" err="1"/>
              <a:t>InfoProviders</a:t>
            </a:r>
            <a:r>
              <a:rPr lang="en-US" dirty="0"/>
              <a:t> in </a:t>
            </a:r>
            <a:r>
              <a:rPr lang="en-US" b="1" dirty="0"/>
              <a:t>BW/4HANA: </a:t>
            </a:r>
          </a:p>
          <a:p>
            <a:pPr lvl="1"/>
            <a:r>
              <a:rPr lang="en-US" b="1" dirty="0"/>
              <a:t>Physical data</a:t>
            </a:r>
            <a:r>
              <a:rPr lang="en-US" dirty="0"/>
              <a:t>: Advanced Data Store Objects (</a:t>
            </a:r>
            <a:r>
              <a:rPr lang="en-US" dirty="0" err="1"/>
              <a:t>aDSO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Provides </a:t>
            </a:r>
            <a:r>
              <a:rPr lang="en-US" i="1" dirty="0"/>
              <a:t>data persistency</a:t>
            </a:r>
          </a:p>
          <a:p>
            <a:pPr lvl="2"/>
            <a:r>
              <a:rPr lang="en-US" dirty="0"/>
              <a:t>Can optimize data for fast multi-dimensional analysis or fast update (different settings)</a:t>
            </a:r>
          </a:p>
          <a:p>
            <a:pPr lvl="1"/>
            <a:r>
              <a:rPr lang="en-US" b="1" dirty="0"/>
              <a:t>Virtual data: </a:t>
            </a:r>
            <a:r>
              <a:rPr lang="en-US" dirty="0"/>
              <a:t>Composite Providers</a:t>
            </a:r>
          </a:p>
          <a:p>
            <a:pPr lvl="2"/>
            <a:r>
              <a:rPr lang="en-US" dirty="0"/>
              <a:t>Can combine data from several other </a:t>
            </a:r>
            <a:r>
              <a:rPr lang="en-US" dirty="0" err="1"/>
              <a:t>InfoProviders</a:t>
            </a:r>
            <a:r>
              <a:rPr lang="en-US" dirty="0"/>
              <a:t> (by Join or Union) and make this data available for reporting/analysis </a:t>
            </a:r>
          </a:p>
          <a:p>
            <a:pPr marL="20295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InfoProviders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058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838200" y="1690688"/>
            <a:ext cx="10921800" cy="4391025"/>
          </a:xfrm>
        </p:spPr>
        <p:txBody>
          <a:bodyPr/>
          <a:lstStyle/>
          <a:p>
            <a:r>
              <a:rPr lang="en-US" dirty="0"/>
              <a:t>Can consist of </a:t>
            </a:r>
            <a:r>
              <a:rPr lang="en-US" dirty="0" err="1"/>
              <a:t>InfoObjects</a:t>
            </a:r>
            <a:r>
              <a:rPr lang="en-US" dirty="0"/>
              <a:t> and / or ordinary database fields</a:t>
            </a:r>
          </a:p>
          <a:p>
            <a:r>
              <a:rPr lang="en-US" dirty="0"/>
              <a:t>Main modeling purpose is to provide </a:t>
            </a:r>
            <a:r>
              <a:rPr lang="en-US" i="1" dirty="0"/>
              <a:t>data persistency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Advanced</a:t>
            </a:r>
            <a:r>
              <a:rPr lang="de-DE" dirty="0"/>
              <a:t> Data Store </a:t>
            </a:r>
            <a:r>
              <a:rPr lang="de-DE" dirty="0" err="1"/>
              <a:t>Object</a:t>
            </a:r>
            <a:r>
              <a:rPr lang="de-DE" dirty="0"/>
              <a:t> (</a:t>
            </a:r>
            <a:r>
              <a:rPr lang="de-DE" dirty="0" err="1"/>
              <a:t>aDSO</a:t>
            </a:r>
            <a:r>
              <a:rPr lang="de-DE" dirty="0"/>
              <a:t>)</a:t>
            </a:r>
            <a:endParaRPr lang="en-US" dirty="0"/>
          </a:p>
        </p:txBody>
      </p:sp>
      <p:pic>
        <p:nvPicPr>
          <p:cNvPr id="4" name="Grafik 3" descr="Bildschirmausschnit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138" y="1796503"/>
            <a:ext cx="1202222" cy="73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080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838199" y="1690688"/>
            <a:ext cx="11141597" cy="4391025"/>
          </a:xfrm>
        </p:spPr>
        <p:txBody>
          <a:bodyPr/>
          <a:lstStyle/>
          <a:p>
            <a:r>
              <a:rPr lang="en-US" dirty="0"/>
              <a:t>Consists of a maximum three tables: the </a:t>
            </a:r>
            <a:r>
              <a:rPr lang="en-US" b="1" dirty="0"/>
              <a:t>Inbound Table</a:t>
            </a:r>
            <a:r>
              <a:rPr lang="en-US" dirty="0"/>
              <a:t>, the </a:t>
            </a:r>
            <a:r>
              <a:rPr lang="en-US" b="1" dirty="0"/>
              <a:t>Change Log </a:t>
            </a:r>
            <a:r>
              <a:rPr lang="en-US" dirty="0"/>
              <a:t>and the table of </a:t>
            </a:r>
            <a:r>
              <a:rPr lang="en-US" b="1" dirty="0"/>
              <a:t>Active Data</a:t>
            </a:r>
            <a:r>
              <a:rPr lang="en-US" dirty="0"/>
              <a:t>.</a:t>
            </a:r>
          </a:p>
          <a:p>
            <a:r>
              <a:rPr lang="en-US" dirty="0"/>
              <a:t>In general, the data is always written to the inbound table. </a:t>
            </a:r>
          </a:p>
          <a:p>
            <a:r>
              <a:rPr lang="en-US" dirty="0"/>
              <a:t>All reporting done on Union of Inbound and Active Tables.</a:t>
            </a:r>
          </a:p>
          <a:p>
            <a:endParaRPr lang="de-DE" dirty="0">
              <a:latin typeface="Arial" charset="0"/>
            </a:endParaRPr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aDSO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Modeling Properties </a:t>
            </a:r>
            <a:endParaRPr lang="en-US" dirty="0"/>
          </a:p>
        </p:txBody>
      </p:sp>
      <p:pic>
        <p:nvPicPr>
          <p:cNvPr id="4" name="Grafik 3" descr="Bildschirmausschnit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855" y="3732256"/>
            <a:ext cx="3063833" cy="214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159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944380" y="1500810"/>
            <a:ext cx="10815620" cy="4502810"/>
          </a:xfrm>
        </p:spPr>
        <p:txBody>
          <a:bodyPr/>
          <a:lstStyle/>
          <a:p>
            <a:r>
              <a:rPr lang="en-US" dirty="0"/>
              <a:t>Does not persist data</a:t>
            </a:r>
          </a:p>
          <a:p>
            <a:r>
              <a:rPr lang="en-US" dirty="0"/>
              <a:t>Can merge data from different BW </a:t>
            </a:r>
            <a:r>
              <a:rPr lang="en-US" dirty="0" err="1"/>
              <a:t>InfoProviders</a:t>
            </a:r>
            <a:r>
              <a:rPr lang="en-US" dirty="0"/>
              <a:t> and / or HANA views</a:t>
            </a:r>
          </a:p>
          <a:p>
            <a:endParaRPr lang="en-US" dirty="0"/>
          </a:p>
          <a:p>
            <a:endParaRPr lang="en-US" dirty="0"/>
          </a:p>
          <a:p>
            <a:endParaRPr lang="de-DE" dirty="0"/>
          </a:p>
          <a:p>
            <a:r>
              <a:rPr lang="en-US" dirty="0"/>
              <a:t>Can use union and join; supported join types: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Composite Provider provides an a</a:t>
            </a:r>
            <a:r>
              <a:rPr lang="en-US" dirty="0">
                <a:sym typeface="Wingdings"/>
              </a:rPr>
              <a:t>dditional layer to decouple reporting from data storage</a:t>
            </a:r>
            <a:endParaRPr lang="en-US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de-DE" dirty="0">
              <a:latin typeface="Arial" charset="0"/>
            </a:endParaRPr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Composite Provider</a:t>
            </a:r>
            <a:endParaRPr lang="en-US" dirty="0"/>
          </a:p>
        </p:txBody>
      </p:sp>
      <p:pic>
        <p:nvPicPr>
          <p:cNvPr id="4" name="Grafik 3" descr="Bildschirmausschnitt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2117" y="2418179"/>
            <a:ext cx="7252491" cy="1616342"/>
          </a:xfrm>
          <a:prstGeom prst="rect">
            <a:avLst/>
          </a:prstGeom>
        </p:spPr>
      </p:pic>
      <p:pic>
        <p:nvPicPr>
          <p:cNvPr id="5" name="Grafik 4" descr="Bildschirmausschnitt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4"/>
          <a:stretch/>
        </p:blipFill>
        <p:spPr>
          <a:xfrm>
            <a:off x="1311812" y="4532244"/>
            <a:ext cx="7133738" cy="152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200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1"/>
          </p:nvPr>
        </p:nvSpPr>
        <p:spPr>
          <a:xfrm>
            <a:off x="1004341" y="1690688"/>
            <a:ext cx="9339659" cy="4391025"/>
          </a:xfrm>
        </p:spPr>
        <p:txBody>
          <a:bodyPr/>
          <a:lstStyle/>
          <a:p>
            <a:r>
              <a:rPr lang="de-DE" dirty="0"/>
              <a:t>Attributes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InfoObjetcs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added</a:t>
            </a:r>
            <a:endParaRPr lang="de-DE" dirty="0"/>
          </a:p>
          <a:p>
            <a:endParaRPr lang="en-US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SAP BW/4HANA: Beyond Star Schema</a:t>
            </a:r>
            <a:endParaRPr lang="en-US" dirty="0"/>
          </a:p>
        </p:txBody>
      </p:sp>
      <p:pic>
        <p:nvPicPr>
          <p:cNvPr id="5" name="Grafik 4" descr="Bildschirmausschnit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001" y="2265289"/>
            <a:ext cx="7421011" cy="2981741"/>
          </a:xfrm>
          <a:prstGeom prst="rect">
            <a:avLst/>
          </a:prstGeom>
        </p:spPr>
      </p:pic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6993625" y="5013227"/>
            <a:ext cx="3528392" cy="984845"/>
          </a:xfrm>
          <a:prstGeom prst="wedgeRoundRectCallout">
            <a:avLst>
              <a:gd name="adj1" fmla="val -69277"/>
              <a:gd name="adj2" fmla="val -239410"/>
              <a:gd name="adj3" fmla="val 16667"/>
            </a:avLst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Characteristic as part of a Advanced Data Store Object “All Characteristics are Key”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 flipH="1">
            <a:off x="1822476" y="5032624"/>
            <a:ext cx="2857500" cy="946050"/>
          </a:xfrm>
          <a:prstGeom prst="wedgeRoundRectCallout">
            <a:avLst>
              <a:gd name="adj1" fmla="val -292"/>
              <a:gd name="adj2" fmla="val -126610"/>
              <a:gd name="adj3" fmla="val 16667"/>
            </a:avLst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Characteristic as navigation attribute in Composite Provider</a:t>
            </a:r>
          </a:p>
        </p:txBody>
      </p:sp>
    </p:spTree>
    <p:extLst>
      <p:ext uri="{BB962C8B-B14F-4D97-AF65-F5344CB8AC3E}">
        <p14:creationId xmlns:p14="http://schemas.microsoft.com/office/powerpoint/2010/main" val="39942346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SAP Business </a:t>
            </a:r>
            <a:r>
              <a:rPr lang="de-DE" dirty="0" err="1"/>
              <a:t>Intelligence</a:t>
            </a:r>
            <a:r>
              <a:rPr lang="de-DE" dirty="0"/>
              <a:t> </a:t>
            </a:r>
            <a:r>
              <a:rPr lang="de-DE" dirty="0" err="1"/>
              <a:t>Platform</a:t>
            </a:r>
            <a:r>
              <a:rPr lang="de-DE" dirty="0"/>
              <a:t>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07FE304-3E76-47E1-9AAC-3DA5F5EACEB3}"/>
              </a:ext>
            </a:extLst>
          </p:cNvPr>
          <p:cNvGrpSpPr/>
          <p:nvPr/>
        </p:nvGrpSpPr>
        <p:grpSpPr>
          <a:xfrm>
            <a:off x="1851026" y="2572284"/>
            <a:ext cx="4183886" cy="2699194"/>
            <a:chOff x="1851026" y="2572284"/>
            <a:chExt cx="4183886" cy="2699194"/>
          </a:xfrm>
        </p:grpSpPr>
        <p:pic>
          <p:nvPicPr>
            <p:cNvPr id="8" name="Picture 8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1026" y="3625043"/>
              <a:ext cx="2973561" cy="1646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Freeform 81"/>
            <p:cNvSpPr>
              <a:spLocks/>
            </p:cNvSpPr>
            <p:nvPr/>
          </p:nvSpPr>
          <p:spPr bwMode="auto">
            <a:xfrm>
              <a:off x="4824586" y="2572284"/>
              <a:ext cx="1210326" cy="2474727"/>
            </a:xfrm>
            <a:custGeom>
              <a:avLst/>
              <a:gdLst>
                <a:gd name="T0" fmla="*/ 1370965000 w 544"/>
                <a:gd name="T1" fmla="*/ 0 h 1905"/>
                <a:gd name="T2" fmla="*/ 0 w 544"/>
                <a:gd name="T3" fmla="*/ 2147483647 h 1905"/>
                <a:gd name="T4" fmla="*/ 0 w 544"/>
                <a:gd name="T5" fmla="*/ 2147483647 h 1905"/>
                <a:gd name="T6" fmla="*/ 1370965000 w 544"/>
                <a:gd name="T7" fmla="*/ 2147483647 h 1905"/>
                <a:gd name="T8" fmla="*/ 1370965000 w 544"/>
                <a:gd name="T9" fmla="*/ 0 h 19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4"/>
                <a:gd name="T16" fmla="*/ 0 h 1905"/>
                <a:gd name="T17" fmla="*/ 544 w 544"/>
                <a:gd name="T18" fmla="*/ 1905 h 1905"/>
                <a:gd name="connsiteX0" fmla="*/ 10000 w 10209"/>
                <a:gd name="connsiteY0" fmla="*/ 0 h 10771"/>
                <a:gd name="connsiteX1" fmla="*/ 0 w 10209"/>
                <a:gd name="connsiteY1" fmla="*/ 6667 h 10771"/>
                <a:gd name="connsiteX2" fmla="*/ 0 w 10209"/>
                <a:gd name="connsiteY2" fmla="*/ 10000 h 10771"/>
                <a:gd name="connsiteX3" fmla="*/ 10209 w 10209"/>
                <a:gd name="connsiteY3" fmla="*/ 10771 h 10771"/>
                <a:gd name="connsiteX4" fmla="*/ 10000 w 10209"/>
                <a:gd name="connsiteY4" fmla="*/ 0 h 10771"/>
                <a:gd name="connsiteX0" fmla="*/ 10000 w 10209"/>
                <a:gd name="connsiteY0" fmla="*/ 0 h 10771"/>
                <a:gd name="connsiteX1" fmla="*/ 209 w 10209"/>
                <a:gd name="connsiteY1" fmla="*/ 6087 h 10771"/>
                <a:gd name="connsiteX2" fmla="*/ 0 w 10209"/>
                <a:gd name="connsiteY2" fmla="*/ 10000 h 10771"/>
                <a:gd name="connsiteX3" fmla="*/ 10209 w 10209"/>
                <a:gd name="connsiteY3" fmla="*/ 10771 h 10771"/>
                <a:gd name="connsiteX4" fmla="*/ 10000 w 10209"/>
                <a:gd name="connsiteY4" fmla="*/ 0 h 10771"/>
                <a:gd name="connsiteX0" fmla="*/ 10000 w 10209"/>
                <a:gd name="connsiteY0" fmla="*/ 0 h 10771"/>
                <a:gd name="connsiteX1" fmla="*/ 279 w 10209"/>
                <a:gd name="connsiteY1" fmla="*/ 6087 h 10771"/>
                <a:gd name="connsiteX2" fmla="*/ 0 w 10209"/>
                <a:gd name="connsiteY2" fmla="*/ 10000 h 10771"/>
                <a:gd name="connsiteX3" fmla="*/ 10209 w 10209"/>
                <a:gd name="connsiteY3" fmla="*/ 10771 h 10771"/>
                <a:gd name="connsiteX4" fmla="*/ 10000 w 10209"/>
                <a:gd name="connsiteY4" fmla="*/ 0 h 10771"/>
                <a:gd name="connsiteX0" fmla="*/ 9742 w 9951"/>
                <a:gd name="connsiteY0" fmla="*/ 0 h 10771"/>
                <a:gd name="connsiteX1" fmla="*/ 21 w 9951"/>
                <a:gd name="connsiteY1" fmla="*/ 6087 h 10771"/>
                <a:gd name="connsiteX2" fmla="*/ 20 w 9951"/>
                <a:gd name="connsiteY2" fmla="*/ 10134 h 10771"/>
                <a:gd name="connsiteX3" fmla="*/ 9951 w 9951"/>
                <a:gd name="connsiteY3" fmla="*/ 10771 h 10771"/>
                <a:gd name="connsiteX4" fmla="*/ 9742 w 9951"/>
                <a:gd name="connsiteY4" fmla="*/ 0 h 1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51" h="10771">
                  <a:moveTo>
                    <a:pt x="9742" y="0"/>
                  </a:moveTo>
                  <a:lnTo>
                    <a:pt x="21" y="6087"/>
                  </a:lnTo>
                  <a:cubicBezTo>
                    <a:pt x="-49" y="7391"/>
                    <a:pt x="90" y="8830"/>
                    <a:pt x="20" y="10134"/>
                  </a:cubicBezTo>
                  <a:lnTo>
                    <a:pt x="9951" y="10771"/>
                  </a:lnTo>
                  <a:cubicBezTo>
                    <a:pt x="9881" y="7181"/>
                    <a:pt x="9812" y="3590"/>
                    <a:pt x="9742" y="0"/>
                  </a:cubicBez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 wrap="none" lIns="0" tIns="0" rIns="0" bIns="0"/>
            <a:lstStyle/>
            <a:p>
              <a:endParaRPr lang="de-DE"/>
            </a:p>
          </p:txBody>
        </p:sp>
      </p:grpSp>
      <p:pic>
        <p:nvPicPr>
          <p:cNvPr id="7" name="Grafik 6" descr="Bildschirmausschnit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053" y="1472771"/>
            <a:ext cx="4414851" cy="450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204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– ETL Process</a:t>
            </a:r>
            <a:endParaRPr lang="de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E03F82-108A-46C5-B563-3A5D679E5ECB}"/>
              </a:ext>
            </a:extLst>
          </p:cNvPr>
          <p:cNvSpPr/>
          <p:nvPr/>
        </p:nvSpPr>
        <p:spPr>
          <a:xfrm>
            <a:off x="838199" y="1720840"/>
            <a:ext cx="1051559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prstClr val="black"/>
                </a:solidFill>
              </a:rPr>
              <a:t>Data Acquisition – Extraction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</a:rPr>
              <a:t>“Raw data” has to be extracted from the source system (transferred to target by using an </a:t>
            </a:r>
            <a:r>
              <a:rPr lang="en-US" sz="2800" dirty="0" err="1">
                <a:solidFill>
                  <a:prstClr val="black"/>
                </a:solidFill>
              </a:rPr>
              <a:t>InfoPackage</a:t>
            </a:r>
            <a:r>
              <a:rPr lang="en-US" sz="2800" dirty="0">
                <a:solidFill>
                  <a:prstClr val="black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prstClr val="black"/>
                </a:solidFill>
              </a:rPr>
              <a:t>Different kind of data (master data, transaction data, metadata) can be retrieved via various interfaces from several source systems (e.g., SAP Source, Flat files,..)</a:t>
            </a:r>
            <a:endParaRPr lang="en-US" sz="2800" dirty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•"/>
            </a:pPr>
            <a:endParaRPr lang="en-US" sz="2800" dirty="0">
              <a:solidFill>
                <a:prstClr val="black"/>
              </a:solidFill>
            </a:endParaRPr>
          </a:p>
          <a:p>
            <a:pPr lvl="0"/>
            <a:r>
              <a:rPr lang="en-US" sz="2800" b="1" dirty="0">
                <a:solidFill>
                  <a:prstClr val="black"/>
                </a:solidFill>
              </a:rPr>
              <a:t>Persistent Staging Area (PSA):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</a:rPr>
              <a:t>Inbound storage area for data from the source systems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209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F819-A8DD-4AB5-80CE-01BC1C643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– ETL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64F86-E307-4892-A0FB-896F562D0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>
                <a:solidFill>
                  <a:prstClr val="black"/>
                </a:solidFill>
              </a:rPr>
              <a:t>Transformation</a:t>
            </a:r>
          </a:p>
          <a:p>
            <a:pPr marL="457200" lvl="0" indent="-223838"/>
            <a:r>
              <a:rPr lang="de-DE" dirty="0">
                <a:solidFill>
                  <a:prstClr val="black"/>
                </a:solidFill>
              </a:rPr>
              <a:t>During the transformation process data can be consolidated, cleansed, and integrated. It is also possible to combine data from heterogenous sources.</a:t>
            </a:r>
          </a:p>
          <a:p>
            <a:pPr lvl="0"/>
            <a:endParaRPr lang="en-US" b="1" dirty="0">
              <a:solidFill>
                <a:prstClr val="black"/>
              </a:solidFill>
            </a:endParaRPr>
          </a:p>
          <a:p>
            <a:pPr lvl="0"/>
            <a:r>
              <a:rPr lang="en-US" b="1" dirty="0">
                <a:solidFill>
                  <a:prstClr val="black"/>
                </a:solidFill>
              </a:rPr>
              <a:t>Data Flow Control – Loading</a:t>
            </a:r>
          </a:p>
          <a:p>
            <a:pPr marL="457200" lvl="0" indent="-223838"/>
            <a:r>
              <a:rPr lang="de-DE" dirty="0">
                <a:solidFill>
                  <a:prstClr val="black"/>
                </a:solidFill>
              </a:rPr>
              <a:t>Design and use InfoPackages for loading data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6858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838200" y="1446835"/>
            <a:ext cx="10921800" cy="5411165"/>
          </a:xfrm>
        </p:spPr>
        <p:txBody>
          <a:bodyPr/>
          <a:lstStyle/>
          <a:p>
            <a:r>
              <a:rPr lang="en-US" b="1" dirty="0" err="1"/>
              <a:t>DataSource</a:t>
            </a:r>
            <a:r>
              <a:rPr lang="en-US" dirty="0"/>
              <a:t> – interface object to source system representing the source data structure</a:t>
            </a:r>
          </a:p>
          <a:p>
            <a:r>
              <a:rPr lang="en-US" b="1" dirty="0"/>
              <a:t>Transformation </a:t>
            </a:r>
            <a:r>
              <a:rPr lang="en-US" dirty="0"/>
              <a:t>– transforms the data according to defined rules</a:t>
            </a:r>
          </a:p>
          <a:p>
            <a:r>
              <a:rPr lang="en-US" b="1" dirty="0"/>
              <a:t>Data Transfer Process (DTP) </a:t>
            </a:r>
            <a:r>
              <a:rPr lang="en-US" dirty="0"/>
              <a:t>– triggers the data transfer between a source and target</a:t>
            </a:r>
          </a:p>
          <a:p>
            <a:r>
              <a:rPr lang="en-US" b="1" dirty="0"/>
              <a:t>Process Chain – </a:t>
            </a:r>
            <a:r>
              <a:rPr lang="en-US" dirty="0"/>
              <a:t>a sequence of processes that get triggered in a specified order</a:t>
            </a:r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Flows in SAP BW</a:t>
            </a:r>
          </a:p>
        </p:txBody>
      </p:sp>
      <p:pic>
        <p:nvPicPr>
          <p:cNvPr id="4" name="Grafik 3" descr="Bildschirmausschnit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213" y="4275117"/>
            <a:ext cx="6424551" cy="257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60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974360" y="1427007"/>
            <a:ext cx="10785639" cy="4654707"/>
          </a:xfrm>
        </p:spPr>
        <p:txBody>
          <a:bodyPr/>
          <a:lstStyle/>
          <a:p>
            <a:r>
              <a:rPr lang="en-US" b="1" dirty="0" err="1"/>
              <a:t>DataSource</a:t>
            </a:r>
            <a:r>
              <a:rPr lang="en-US" dirty="0"/>
              <a:t> – interface object to source system representing the source data structure; can have persistency (</a:t>
            </a:r>
            <a:r>
              <a:rPr lang="en-US" b="1" dirty="0"/>
              <a:t>Persistent Staging Area - PSA</a:t>
            </a:r>
            <a:r>
              <a:rPr lang="en-US" dirty="0"/>
              <a:t>)</a:t>
            </a:r>
          </a:p>
          <a:p>
            <a:r>
              <a:rPr lang="en-US" dirty="0"/>
              <a:t>Data is transferred to PSA by an </a:t>
            </a:r>
            <a:r>
              <a:rPr lang="en-US" b="1" dirty="0" err="1"/>
              <a:t>InfoPackage</a:t>
            </a:r>
            <a:r>
              <a:rPr lang="en-US" b="1" dirty="0"/>
              <a:t> </a:t>
            </a:r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Example: Transaction Data</a:t>
            </a:r>
            <a:br>
              <a:rPr lang="de-DE" dirty="0"/>
            </a:br>
            <a:endParaRPr lang="de-DE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22305F-DA70-446F-A9AF-556A75799F13}"/>
              </a:ext>
            </a:extLst>
          </p:cNvPr>
          <p:cNvGrpSpPr/>
          <p:nvPr/>
        </p:nvGrpSpPr>
        <p:grpSpPr>
          <a:xfrm>
            <a:off x="2529444" y="2752570"/>
            <a:ext cx="6638307" cy="3997462"/>
            <a:chOff x="3529819" y="2958378"/>
            <a:chExt cx="5179945" cy="3543176"/>
          </a:xfrm>
        </p:grpSpPr>
        <p:sp>
          <p:nvSpPr>
            <p:cNvPr id="4" name="Rectangle 84"/>
            <p:cNvSpPr/>
            <p:nvPr/>
          </p:nvSpPr>
          <p:spPr bwMode="gray">
            <a:xfrm>
              <a:off x="3529819" y="2996540"/>
              <a:ext cx="5167942" cy="2915940"/>
            </a:xfrm>
            <a:prstGeom prst="rect">
              <a:avLst/>
            </a:prstGeom>
            <a:gradFill>
              <a:gsLst>
                <a:gs pos="1000">
                  <a:srgbClr val="FFC328"/>
                </a:gs>
                <a:gs pos="100000">
                  <a:srgbClr val="F0AB00"/>
                </a:gs>
              </a:gsLst>
              <a:lin ang="5400000" scaled="1"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307" tIns="45654" rIns="91307" bIns="45654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algn="ctr" defTabSz="1086097">
                <a:defRPr/>
              </a:pPr>
              <a:endParaRPr lang="en-US" sz="900" kern="0" dirty="0">
                <a:solidFill>
                  <a:srgbClr val="000000"/>
                </a:solidFill>
                <a:latin typeface="Arial"/>
                <a:cs typeface="Arial" pitchFamily="34" charset="0"/>
              </a:endParaRPr>
            </a:p>
          </p:txBody>
        </p:sp>
        <p:sp>
          <p:nvSpPr>
            <p:cNvPr id="5" name="Rectangle 86"/>
            <p:cNvSpPr/>
            <p:nvPr/>
          </p:nvSpPr>
          <p:spPr bwMode="gray">
            <a:xfrm>
              <a:off x="3716895" y="2958378"/>
              <a:ext cx="4831051" cy="2893056"/>
            </a:xfrm>
            <a:prstGeom prst="rect">
              <a:avLst/>
            </a:prstGeom>
            <a:gradFill>
              <a:gsLst>
                <a:gs pos="1000">
                  <a:srgbClr val="CCCCCC">
                    <a:lumMod val="50000"/>
                  </a:srgbClr>
                </a:gs>
                <a:gs pos="100000">
                  <a:srgbClr val="666666">
                    <a:lumMod val="60000"/>
                    <a:lumOff val="40000"/>
                  </a:srgbClr>
                </a:gs>
              </a:gsLst>
              <a:lin ang="16200000" scaled="1"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108814" tIns="54406" rIns="108814" bIns="54406" rtlCol="0" anchor="b" anchorCtr="0">
              <a:noAutofit/>
            </a:bodyPr>
            <a:lstStyle/>
            <a:p>
              <a:pPr defTabSz="1088449">
                <a:defRPr/>
              </a:pPr>
              <a:endParaRPr lang="en-US" sz="900" kern="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6" name="Rectangle 94"/>
            <p:cNvSpPr/>
            <p:nvPr/>
          </p:nvSpPr>
          <p:spPr bwMode="gray">
            <a:xfrm>
              <a:off x="4161257" y="3953413"/>
              <a:ext cx="1623021" cy="732038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noFill/>
              <a:prstDash val="solid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algn="ctr" defTabSz="913352">
                <a:spcBef>
                  <a:spcPct val="50000"/>
                </a:spcBef>
                <a:buClr>
                  <a:srgbClr val="F0AB00"/>
                </a:buClr>
                <a:buSzPct val="80000"/>
                <a:defRPr/>
              </a:pPr>
              <a:r>
                <a:rPr lang="en-US" kern="0" dirty="0">
                  <a:solidFill>
                    <a:srgbClr val="FFFFFF"/>
                  </a:solidFill>
                  <a:latin typeface="Arial"/>
                  <a:ea typeface="Arial Unicode MS" pitchFamily="34" charset="-128"/>
                  <a:cs typeface="Arial Narrow"/>
                </a:rPr>
                <a:t>Transformation</a:t>
              </a:r>
            </a:p>
          </p:txBody>
        </p:sp>
        <p:sp>
          <p:nvSpPr>
            <p:cNvPr id="7" name="Rectangle 108"/>
            <p:cNvSpPr/>
            <p:nvPr/>
          </p:nvSpPr>
          <p:spPr bwMode="gray">
            <a:xfrm>
              <a:off x="4851904" y="5117713"/>
              <a:ext cx="2693729" cy="313280"/>
            </a:xfrm>
            <a:prstGeom prst="rect">
              <a:avLst/>
            </a:prstGeom>
            <a:gradFill>
              <a:gsLst>
                <a:gs pos="1000">
                  <a:srgbClr val="CCCCCC">
                    <a:lumMod val="90000"/>
                  </a:srgbClr>
                </a:gs>
                <a:gs pos="100000">
                  <a:srgbClr val="CCCCCC">
                    <a:lumMod val="75000"/>
                  </a:srgbClr>
                </a:gs>
              </a:gsLst>
              <a:lin ang="5400000" scaled="1"/>
            </a:gradFill>
            <a:ln w="6350" cap="flat" cmpd="sng" algn="ctr">
              <a:solidFill>
                <a:srgbClr val="000000"/>
              </a:solidFill>
              <a:prstDash val="solid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algn="ctr" defTabSz="913352">
                <a:spcBef>
                  <a:spcPct val="50000"/>
                </a:spcBef>
                <a:buClr>
                  <a:srgbClr val="F0AB00"/>
                </a:buClr>
                <a:buSzPct val="80000"/>
                <a:defRPr/>
              </a:pPr>
              <a:r>
                <a:rPr lang="en-US" kern="0" dirty="0">
                  <a:solidFill>
                    <a:srgbClr val="000000"/>
                  </a:solidFill>
                  <a:latin typeface="Arial"/>
                  <a:ea typeface="Arial Unicode MS" pitchFamily="34" charset="-128"/>
                  <a:cs typeface="Arial Narrow"/>
                </a:rPr>
                <a:t>Data Source (PSA)</a:t>
              </a:r>
            </a:p>
          </p:txBody>
        </p:sp>
        <p:sp>
          <p:nvSpPr>
            <p:cNvPr id="8" name="Flussdiagramm: Magnetplattenspeicher 22"/>
            <p:cNvSpPr/>
            <p:nvPr/>
          </p:nvSpPr>
          <p:spPr bwMode="gray">
            <a:xfrm>
              <a:off x="5529408" y="2982721"/>
              <a:ext cx="1083574" cy="691182"/>
            </a:xfrm>
            <a:prstGeom prst="flowChartMagneticDisk">
              <a:avLst/>
            </a:prstGeom>
            <a:solidFill>
              <a:srgbClr val="000000"/>
            </a:solidFill>
            <a:ln w="127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txBody>
            <a:bodyPr lIns="107127" tIns="85701" rIns="107127" bIns="85701" rtlCol="0" anchor="ctr"/>
            <a:lstStyle/>
            <a:p>
              <a:pPr algn="ctr">
                <a:spcBef>
                  <a:spcPct val="50000"/>
                </a:spcBef>
                <a:buClr>
                  <a:srgbClr val="F0AB00"/>
                </a:buClr>
                <a:buSzPct val="80000"/>
                <a:defRPr/>
              </a:pPr>
              <a:r>
                <a:rPr lang="en-US" kern="0" dirty="0" err="1">
                  <a:solidFill>
                    <a:srgbClr val="FFFFFF"/>
                  </a:solidFill>
                  <a:latin typeface="Arial"/>
                  <a:ea typeface="Arial Unicode MS" pitchFamily="34" charset="-128"/>
                  <a:cs typeface="Arial Unicode MS" pitchFamily="34" charset="-128"/>
                </a:rPr>
                <a:t>aDSO</a:t>
              </a:r>
              <a:endParaRPr lang="en-US" sz="800" kern="0" dirty="0">
                <a:solidFill>
                  <a:srgbClr val="FFFFFF"/>
                </a:solidFill>
                <a:latin typeface="Arial"/>
                <a:ea typeface="Arial Unicode MS" pitchFamily="34" charset="-128"/>
                <a:cs typeface="Arial Unicode MS" pitchFamily="34" charset="-128"/>
              </a:endParaRPr>
            </a:p>
          </p:txBody>
        </p:sp>
        <p:cxnSp>
          <p:nvCxnSpPr>
            <p:cNvPr id="9" name="Gerade Verbindung mit Pfeil 8"/>
            <p:cNvCxnSpPr/>
            <p:nvPr/>
          </p:nvCxnSpPr>
          <p:spPr>
            <a:xfrm flipH="1" flipV="1">
              <a:off x="6091006" y="3811530"/>
              <a:ext cx="736" cy="1228590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tailEnd type="triangle"/>
            </a:ln>
            <a:effectLst/>
          </p:spPr>
        </p:cxnSp>
        <p:sp>
          <p:nvSpPr>
            <p:cNvPr id="11" name="Bogen 10"/>
            <p:cNvSpPr/>
            <p:nvPr/>
          </p:nvSpPr>
          <p:spPr>
            <a:xfrm>
              <a:off x="6263423" y="3498243"/>
              <a:ext cx="776164" cy="1848162"/>
            </a:xfrm>
            <a:prstGeom prst="arc">
              <a:avLst>
                <a:gd name="adj1" fmla="val 16200000"/>
                <a:gd name="adj2" fmla="val 4698307"/>
              </a:avLst>
            </a:prstGeom>
            <a:noFill/>
            <a:ln w="12700" cap="flat" cmpd="sng" algn="ctr">
              <a:solidFill>
                <a:srgbClr val="000000"/>
              </a:solidFill>
              <a:prstDash val="solid"/>
              <a:headEnd type="triangle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de-DE" kern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8468" y="4279571"/>
              <a:ext cx="418729" cy="296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Rectangle 109"/>
            <p:cNvSpPr/>
            <p:nvPr/>
          </p:nvSpPr>
          <p:spPr bwMode="gray">
            <a:xfrm>
              <a:off x="3529819" y="5857746"/>
              <a:ext cx="5179945" cy="643808"/>
            </a:xfrm>
            <a:prstGeom prst="rect">
              <a:avLst/>
            </a:prstGeom>
            <a:gradFill>
              <a:gsLst>
                <a:gs pos="1000">
                  <a:srgbClr val="FFC328"/>
                </a:gs>
                <a:gs pos="100000">
                  <a:srgbClr val="F0AB00"/>
                </a:gs>
              </a:gsLst>
              <a:lin ang="5400000" scaled="1"/>
            </a:gradFill>
            <a:ln w="6350" cap="flat" cmpd="sng" algn="ctr">
              <a:noFill/>
              <a:prstDash val="solid"/>
              <a:headEnd/>
              <a:tailEnd/>
            </a:ln>
            <a:effectLst/>
          </p:spPr>
          <p:txBody>
            <a:bodyPr lIns="0" tIns="0" rIns="0" bIns="0" rtlCol="0" anchor="ctr"/>
            <a:lstStyle/>
            <a:p>
              <a:pPr algn="ctr" defTabSz="913352">
                <a:spcBef>
                  <a:spcPct val="50000"/>
                </a:spcBef>
                <a:buClr>
                  <a:srgbClr val="F0AB00"/>
                </a:buClr>
                <a:buSzPct val="80000"/>
                <a:defRPr/>
              </a:pPr>
              <a:endParaRPr lang="en-US" kern="0" dirty="0">
                <a:solidFill>
                  <a:srgbClr val="000000"/>
                </a:solidFill>
                <a:latin typeface="Arial"/>
                <a:ea typeface="Arial Unicode MS" pitchFamily="34" charset="-128"/>
                <a:cs typeface="Arial Narrow"/>
              </a:endParaRPr>
            </a:p>
          </p:txBody>
        </p:sp>
        <p:pic>
          <p:nvPicPr>
            <p:cNvPr id="14" name="Bild 42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8"/>
            <a:stretch/>
          </p:blipFill>
          <p:spPr>
            <a:xfrm>
              <a:off x="5906082" y="5950523"/>
              <a:ext cx="486648" cy="491055"/>
            </a:xfrm>
            <a:prstGeom prst="rect">
              <a:avLst/>
            </a:prstGeom>
            <a:solidFill>
              <a:srgbClr val="FFFFFF"/>
            </a:solidFill>
          </p:spPr>
        </p:pic>
        <p:sp>
          <p:nvSpPr>
            <p:cNvPr id="15" name="Down Arrow 102"/>
            <p:cNvSpPr/>
            <p:nvPr/>
          </p:nvSpPr>
          <p:spPr bwMode="gray">
            <a:xfrm rot="10800000">
              <a:off x="6040752" y="5585658"/>
              <a:ext cx="199867" cy="340398"/>
            </a:xfrm>
            <a:prstGeom prst="downArrow">
              <a:avLst>
                <a:gd name="adj1" fmla="val 63885"/>
                <a:gd name="adj2" fmla="val 50000"/>
              </a:avLst>
            </a:prstGeom>
            <a:solidFill>
              <a:srgbClr val="000000"/>
            </a:solidFill>
            <a:ln w="6350" algn="ctr">
              <a:noFill/>
              <a:miter lim="800000"/>
              <a:headEnd/>
              <a:tailEnd/>
            </a:ln>
          </p:spPr>
          <p:txBody>
            <a:bodyPr lIns="89946" tIns="71955" rIns="89946" bIns="71955" rtlCol="0" anchor="ctr"/>
            <a:lstStyle/>
            <a:p>
              <a:pPr algn="ctr" defTabSz="913817">
                <a:spcBef>
                  <a:spcPct val="50000"/>
                </a:spcBef>
                <a:buClr>
                  <a:srgbClr val="F0AB00"/>
                </a:buClr>
                <a:buSzPct val="80000"/>
                <a:defRPr/>
              </a:pPr>
              <a:endParaRPr lang="en-US" sz="1400" kern="0" dirty="0" err="1">
                <a:solidFill>
                  <a:srgbClr val="000000"/>
                </a:solidFill>
                <a:latin typeface="Arial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6" name="Flussdiagramm: Magnetplattenspeicher 22"/>
            <p:cNvSpPr/>
            <p:nvPr/>
          </p:nvSpPr>
          <p:spPr bwMode="gray">
            <a:xfrm>
              <a:off x="6593980" y="5625915"/>
              <a:ext cx="1472342" cy="642159"/>
            </a:xfrm>
            <a:prstGeom prst="rect">
              <a:avLst/>
            </a:prstGeom>
            <a:solidFill>
              <a:srgbClr val="F0AB00">
                <a:lumMod val="60000"/>
                <a:lumOff val="40000"/>
              </a:srgbClr>
            </a:solidFill>
            <a:ln w="6350" algn="ctr">
              <a:solidFill>
                <a:srgbClr val="F0AB00">
                  <a:lumMod val="40000"/>
                  <a:lumOff val="60000"/>
                </a:srgbClr>
              </a:solidFill>
              <a:miter lim="800000"/>
              <a:headEnd/>
              <a:tailEnd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txBody>
            <a:bodyPr lIns="36000" tIns="36000" rIns="36000" bIns="36000" rtlCol="0" anchor="ctr" anchorCtr="0"/>
            <a:lstStyle/>
            <a:p>
              <a:pPr>
                <a:spcBef>
                  <a:spcPct val="50000"/>
                </a:spcBef>
                <a:buClr>
                  <a:srgbClr val="F0AB00"/>
                </a:buClr>
                <a:buSzPct val="80000"/>
                <a:defRPr/>
              </a:pPr>
              <a:r>
                <a:rPr lang="de-DE" kern="0" dirty="0">
                  <a:solidFill>
                    <a:srgbClr val="000000"/>
                  </a:solidFill>
                  <a:latin typeface="Arial"/>
                  <a:ea typeface="Arial Unicode MS" pitchFamily="34" charset="-128"/>
                  <a:cs typeface="Arial Unicode MS" pitchFamily="34" charset="-128"/>
                </a:rPr>
                <a:t>Info Package</a:t>
              </a:r>
            </a:p>
          </p:txBody>
        </p:sp>
        <p:sp>
          <p:nvSpPr>
            <p:cNvPr id="17" name="Bogen 16"/>
            <p:cNvSpPr/>
            <p:nvPr/>
          </p:nvSpPr>
          <p:spPr>
            <a:xfrm>
              <a:off x="6916760" y="5270466"/>
              <a:ext cx="1149563" cy="1044160"/>
            </a:xfrm>
            <a:prstGeom prst="arc">
              <a:avLst>
                <a:gd name="adj1" fmla="val 16200000"/>
                <a:gd name="adj2" fmla="val 5081151"/>
              </a:avLst>
            </a:prstGeom>
            <a:noFill/>
            <a:ln w="12700" cap="flat" cmpd="sng" algn="ctr">
              <a:solidFill>
                <a:srgbClr val="000000"/>
              </a:solidFill>
              <a:prstDash val="solid"/>
              <a:headEnd type="triangle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de-DE" kern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" name="Flussdiagramm: Magnetplattenspeicher 22"/>
            <p:cNvSpPr/>
            <p:nvPr/>
          </p:nvSpPr>
          <p:spPr bwMode="gray">
            <a:xfrm>
              <a:off x="7373368" y="3448976"/>
              <a:ext cx="1116543" cy="1339961"/>
            </a:xfrm>
            <a:prstGeom prst="rect">
              <a:avLst/>
            </a:prstGeom>
            <a:solidFill>
              <a:srgbClr val="F0AB00">
                <a:lumMod val="60000"/>
                <a:lumOff val="40000"/>
              </a:srgbClr>
            </a:solidFill>
            <a:ln w="6350" algn="ctr">
              <a:solidFill>
                <a:srgbClr val="F0AB00">
                  <a:lumMod val="40000"/>
                  <a:lumOff val="60000"/>
                </a:srgbClr>
              </a:solidFill>
              <a:miter lim="800000"/>
              <a:headEnd/>
              <a:tailEnd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txBody>
            <a:bodyPr lIns="36000" tIns="36000" rIns="36000" bIns="36000" rtlCol="0" anchor="ctr" anchorCtr="0"/>
            <a:lstStyle/>
            <a:p>
              <a:pPr>
                <a:spcBef>
                  <a:spcPct val="50000"/>
                </a:spcBef>
                <a:buClr>
                  <a:srgbClr val="F0AB00"/>
                </a:buClr>
                <a:buSzPct val="80000"/>
                <a:defRPr/>
              </a:pPr>
              <a:r>
                <a:rPr lang="de-DE" kern="0" dirty="0">
                  <a:solidFill>
                    <a:srgbClr val="000000"/>
                  </a:solidFill>
                  <a:latin typeface="Arial"/>
                  <a:ea typeface="Arial Unicode MS" pitchFamily="34" charset="-128"/>
                  <a:cs typeface="Arial Unicode MS" pitchFamily="34" charset="-128"/>
                </a:rPr>
                <a:t>Data</a:t>
              </a:r>
            </a:p>
            <a:p>
              <a:pPr>
                <a:buClr>
                  <a:srgbClr val="F0AB00"/>
                </a:buClr>
                <a:buSzPct val="80000"/>
                <a:defRPr/>
              </a:pPr>
              <a:r>
                <a:rPr lang="de-DE" kern="0" dirty="0">
                  <a:solidFill>
                    <a:srgbClr val="000000"/>
                  </a:solidFill>
                  <a:latin typeface="Arial"/>
                  <a:ea typeface="Arial Unicode MS" pitchFamily="34" charset="-128"/>
                  <a:cs typeface="Arial Unicode MS" pitchFamily="34" charset="-128"/>
                </a:rPr>
                <a:t>Transfer</a:t>
              </a:r>
            </a:p>
            <a:p>
              <a:pPr>
                <a:buClr>
                  <a:srgbClr val="F0AB00"/>
                </a:buClr>
                <a:buSzPct val="80000"/>
                <a:defRPr/>
              </a:pPr>
              <a:r>
                <a:rPr lang="de-DE" kern="0" dirty="0">
                  <a:solidFill>
                    <a:srgbClr val="000000"/>
                  </a:solidFill>
                  <a:latin typeface="Arial"/>
                  <a:ea typeface="Arial Unicode MS" pitchFamily="34" charset="-128"/>
                  <a:cs typeface="Arial Unicode MS" pitchFamily="34" charset="-128"/>
                </a:rPr>
                <a:t>Process (DTP)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3256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0E4842-922C-4C9B-B15E-AF6C5740B7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3870" y="1457954"/>
            <a:ext cx="6649284" cy="4716000"/>
          </a:xfrm>
        </p:spPr>
        <p:txBody>
          <a:bodyPr/>
          <a:lstStyle/>
          <a:p>
            <a:r>
              <a:rPr lang="en-US" sz="3200" b="1" dirty="0"/>
              <a:t>Building the data warehouse</a:t>
            </a:r>
          </a:p>
          <a:p>
            <a:pPr lvl="1"/>
            <a:r>
              <a:rPr lang="en-US" sz="2800" dirty="0"/>
              <a:t>BW modeling tools</a:t>
            </a:r>
          </a:p>
          <a:p>
            <a:pPr lvl="1"/>
            <a:r>
              <a:rPr lang="en-US" sz="2800" dirty="0"/>
              <a:t>Data Acquisition</a:t>
            </a:r>
          </a:p>
          <a:p>
            <a:pPr lvl="1"/>
            <a:r>
              <a:rPr lang="en-US" sz="2800" dirty="0"/>
              <a:t>Modeling Basics</a:t>
            </a:r>
          </a:p>
          <a:p>
            <a:pPr lvl="1"/>
            <a:r>
              <a:rPr lang="en-US" sz="2800" dirty="0"/>
              <a:t>Master Data</a:t>
            </a:r>
          </a:p>
          <a:p>
            <a:pPr lvl="1"/>
            <a:r>
              <a:rPr lang="en-US" sz="2800" dirty="0"/>
              <a:t>Data warehouse</a:t>
            </a:r>
          </a:p>
          <a:p>
            <a:pPr lvl="1"/>
            <a:r>
              <a:rPr lang="en-US" sz="2800" dirty="0"/>
              <a:t>Hierarchies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1455FD-9CD0-42BF-96E5-D4626EC18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0" y="471082"/>
            <a:ext cx="11183564" cy="369236"/>
          </a:xfrm>
        </p:spPr>
        <p:txBody>
          <a:bodyPr>
            <a:noAutofit/>
          </a:bodyPr>
          <a:lstStyle/>
          <a:p>
            <a:r>
              <a:rPr lang="en-US" dirty="0"/>
              <a:t>SAP BW Exercises</a:t>
            </a:r>
          </a:p>
        </p:txBody>
      </p:sp>
    </p:spTree>
    <p:extLst>
      <p:ext uri="{BB962C8B-B14F-4D97-AF65-F5344CB8AC3E}">
        <p14:creationId xmlns:p14="http://schemas.microsoft.com/office/powerpoint/2010/main" val="1728359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AA73D-316C-47A2-AC4A-CBFA1C5B2C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869" y="1620000"/>
            <a:ext cx="7667365" cy="4716000"/>
          </a:xfrm>
        </p:spPr>
        <p:txBody>
          <a:bodyPr/>
          <a:lstStyle/>
          <a:p>
            <a:pPr marL="342797" indent="-342797"/>
            <a:r>
              <a:rPr lang="en-US" dirty="0"/>
              <a:t>SAP GUI</a:t>
            </a:r>
          </a:p>
          <a:p>
            <a:pPr marL="342797" indent="-342797"/>
            <a:r>
              <a:rPr lang="en-US" dirty="0"/>
              <a:t>SAP BW/4HANA</a:t>
            </a:r>
          </a:p>
          <a:p>
            <a:pPr marL="342797" indent="-342797"/>
            <a:r>
              <a:rPr lang="en-US" dirty="0"/>
              <a:t>Eclipse/BW Modeling Tools in Eclipse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72A956-7CBE-4F7B-9DA7-E8746070E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Software</a:t>
            </a:r>
          </a:p>
        </p:txBody>
      </p:sp>
    </p:spTree>
    <p:extLst>
      <p:ext uri="{BB962C8B-B14F-4D97-AF65-F5344CB8AC3E}">
        <p14:creationId xmlns:p14="http://schemas.microsoft.com/office/powerpoint/2010/main" val="19140493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983848" y="1690688"/>
            <a:ext cx="9360152" cy="4391024"/>
          </a:xfrm>
        </p:spPr>
        <p:txBody>
          <a:bodyPr/>
          <a:lstStyle/>
          <a:p>
            <a:r>
              <a:rPr lang="en-US" dirty="0"/>
              <a:t>Customers in Germany and United States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Bicycles and Accessories</a:t>
            </a:r>
          </a:p>
          <a:p>
            <a:r>
              <a:rPr lang="en-US" dirty="0"/>
              <a:t>Product Categories: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Global Bike Incorporated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608" y="3812323"/>
            <a:ext cx="2006699" cy="1209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591" y="3722079"/>
            <a:ext cx="1786518" cy="1209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28" y="3812324"/>
            <a:ext cx="1729745" cy="1209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848" y="2095018"/>
            <a:ext cx="8117428" cy="1717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388" y="4931414"/>
            <a:ext cx="1368896" cy="1866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37666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925975" y="2999234"/>
            <a:ext cx="10427825" cy="3082479"/>
          </a:xfrm>
        </p:spPr>
        <p:txBody>
          <a:bodyPr/>
          <a:lstStyle/>
          <a:p>
            <a:r>
              <a:rPr lang="en-US" dirty="0"/>
              <a:t>Company in the bicycle business</a:t>
            </a:r>
          </a:p>
          <a:p>
            <a:r>
              <a:rPr lang="en-US" dirty="0"/>
              <a:t>Manufactures and distributes different product lines of high-quality bicycles</a:t>
            </a:r>
          </a:p>
          <a:p>
            <a:r>
              <a:rPr lang="en-US" dirty="0"/>
              <a:t>Re-sells accessories for bicycles</a:t>
            </a:r>
          </a:p>
          <a:p>
            <a:r>
              <a:rPr lang="en-US" dirty="0"/>
              <a:t>Sells to </a:t>
            </a:r>
            <a:r>
              <a:rPr lang="en-US" b="1" dirty="0"/>
              <a:t>wholesalers</a:t>
            </a:r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6169"/>
          </a:xfrm>
        </p:spPr>
        <p:txBody>
          <a:bodyPr/>
          <a:lstStyle/>
          <a:p>
            <a:r>
              <a:rPr lang="de-DE" dirty="0"/>
              <a:t>Global Bike Incorporated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044" y="1268413"/>
            <a:ext cx="2559382" cy="1542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642" y="1268413"/>
            <a:ext cx="2278559" cy="1542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281" y="1268413"/>
            <a:ext cx="2206150" cy="1542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04006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79778-6713-3906-F548-6DF599A86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DEDA-FB07-E610-B510-7B39193D6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SAP University Alliances</a:t>
            </a:r>
          </a:p>
          <a:p>
            <a:r>
              <a:rPr lang="en-US" dirty="0"/>
              <a:t>The Kimball Group Reader by Ralph Kimball and Margy Ross</a:t>
            </a:r>
          </a:p>
          <a:p>
            <a:r>
              <a:rPr lang="en-US" dirty="0"/>
              <a:t>Intel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623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1272</TotalTime>
  <Words>1525</Words>
  <Application>Microsoft Office PowerPoint</Application>
  <PresentationFormat>Widescreen</PresentationFormat>
  <Paragraphs>237</Paragraphs>
  <Slides>36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ＭＳ Ｐゴシック</vt:lpstr>
      <vt:lpstr>Arial</vt:lpstr>
      <vt:lpstr>Arial Narrow</vt:lpstr>
      <vt:lpstr>Calibri</vt:lpstr>
      <vt:lpstr>Calibri Light</vt:lpstr>
      <vt:lpstr>Courier New</vt:lpstr>
      <vt:lpstr>PT Sans</vt:lpstr>
      <vt:lpstr>Wingdings</vt:lpstr>
      <vt:lpstr>Office Theme</vt:lpstr>
      <vt:lpstr>Bitmap</vt:lpstr>
      <vt:lpstr>Photo Editor-Foto</vt:lpstr>
      <vt:lpstr>SAP BW/4HANA</vt:lpstr>
      <vt:lpstr>Outline</vt:lpstr>
      <vt:lpstr>Kimball’s Dimensional Data Warehouse</vt:lpstr>
      <vt:lpstr>Business Intelligence Reference Architecture</vt:lpstr>
      <vt:lpstr>Data Warehousing Architecture Alternatives</vt:lpstr>
      <vt:lpstr>SAP HANA Transformation</vt:lpstr>
      <vt:lpstr>In-Memory Appliance Development (1)</vt:lpstr>
      <vt:lpstr>In-Memory Appliance Development (2)</vt:lpstr>
      <vt:lpstr>Persistent Memory (PMEM)</vt:lpstr>
      <vt:lpstr>SAP BW HANA: Architecture</vt:lpstr>
      <vt:lpstr>SAP Business Intelligence Platform </vt:lpstr>
      <vt:lpstr>Data Source</vt:lpstr>
      <vt:lpstr>Data Source - File Interface</vt:lpstr>
      <vt:lpstr>Modeling Objects in SAP BW/4HANA</vt:lpstr>
      <vt:lpstr>What is an InfoObject?</vt:lpstr>
      <vt:lpstr>InfoObject: Characteristics (1) </vt:lpstr>
      <vt:lpstr>InfoObject: Characteristics (2) </vt:lpstr>
      <vt:lpstr>InfoObject: Key Figures</vt:lpstr>
      <vt:lpstr>InfoObjects are “Bricks” for Data Structures</vt:lpstr>
      <vt:lpstr>Open ODS Views</vt:lpstr>
      <vt:lpstr>InfoProviders “Provide” Access to Data Records </vt:lpstr>
      <vt:lpstr>InfoProviders</vt:lpstr>
      <vt:lpstr>Advanced Data Store Object (aDSO)</vt:lpstr>
      <vt:lpstr>aDSO Structure and Modeling Properties </vt:lpstr>
      <vt:lpstr>Composite Provider</vt:lpstr>
      <vt:lpstr>SAP BW/4HANA: Beyond Star Schema</vt:lpstr>
      <vt:lpstr>SAP Business Intelligence Platform </vt:lpstr>
      <vt:lpstr>Overview – ETL Process</vt:lpstr>
      <vt:lpstr>Overview – ETL Process</vt:lpstr>
      <vt:lpstr>Data Flows in SAP BW</vt:lpstr>
      <vt:lpstr>Example: Transaction Data </vt:lpstr>
      <vt:lpstr>SAP BW Exercises</vt:lpstr>
      <vt:lpstr>Software</vt:lpstr>
      <vt:lpstr>Global Bike Incorporated</vt:lpstr>
      <vt:lpstr>Global Bike Incorporated</vt:lpstr>
      <vt:lpstr>Source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Shah, Jaymeen</dc:creator>
  <cp:lastModifiedBy>Shah, Jaymeen</cp:lastModifiedBy>
  <cp:revision>130</cp:revision>
  <dcterms:created xsi:type="dcterms:W3CDTF">2019-04-03T00:54:45Z</dcterms:created>
  <dcterms:modified xsi:type="dcterms:W3CDTF">2024-02-14T21:28:29Z</dcterms:modified>
</cp:coreProperties>
</file>