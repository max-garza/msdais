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89" r:id="rId3"/>
    <p:sldId id="442" r:id="rId4"/>
    <p:sldId id="443" r:id="rId5"/>
    <p:sldId id="390" r:id="rId6"/>
    <p:sldId id="391" r:id="rId7"/>
    <p:sldId id="393" r:id="rId8"/>
    <p:sldId id="394" r:id="rId9"/>
    <p:sldId id="395" r:id="rId10"/>
    <p:sldId id="396" r:id="rId11"/>
    <p:sldId id="397" r:id="rId12"/>
    <p:sldId id="398" r:id="rId13"/>
    <p:sldId id="444" r:id="rId14"/>
    <p:sldId id="407" r:id="rId15"/>
    <p:sldId id="408" r:id="rId16"/>
    <p:sldId id="441" r:id="rId17"/>
    <p:sldId id="294" r:id="rId18"/>
    <p:sldId id="427" r:id="rId19"/>
    <p:sldId id="428" r:id="rId20"/>
    <p:sldId id="337" r:id="rId21"/>
    <p:sldId id="348" r:id="rId22"/>
    <p:sldId id="445" r:id="rId23"/>
    <p:sldId id="257" r:id="rId24"/>
    <p:sldId id="258" r:id="rId25"/>
    <p:sldId id="267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588" autoAdjust="0"/>
  </p:normalViewPr>
  <p:slideViewPr>
    <p:cSldViewPr snapToGrid="0">
      <p:cViewPr varScale="1">
        <p:scale>
          <a:sx n="104" d="100"/>
          <a:sy n="104" d="100"/>
        </p:scale>
        <p:origin x="26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4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099-EF0D-4B9A-BBFF-09FBE6BF6054}" type="datetime1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B1E3B061-4FCE-4A21-AC74-81FE2BC5CF3E}" type="datetime1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9F54-5CF2-4FD0-836E-B479A78D51A3}" type="datetime1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33E6-EEC8-49F6-86B1-D403F7BCF2D7}" type="datetime1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C5F4-FF8A-4310-ACDA-118E50908757}" type="datetime1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CC70-ED3C-42E3-B9D4-4CDAF46FBF6D}" type="datetime1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83FA-2A64-4953-B019-1B95DE5F0E9D}" type="datetime1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9A69-C0C1-4748-81A5-B3EAE2845645}" type="datetime1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0C7C-8B0D-4808-9EE9-6B3127DD99F3}" type="datetime1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8BD7-923F-4248-A98A-25295194946A}" type="datetime1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94-316C-4F17-807F-67A425FEAD68}" type="datetime1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8F577-5F6A-4371-8B61-A5EB0D2162DC}" type="datetime1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flo.txstate.edu/hapi/v1/contents/permalinks/a9X6Zmo5/view" TargetMode="External"/><Relationship Id="rId2" Type="http://schemas.openxmlformats.org/officeDocument/2006/relationships/hyperlink" Target="https://support.office.com/en-us/article/load-the-solver-add-in-in-excel-612926fc-d53b-46b4-872c-e24772f078ca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user/ForecastPro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682433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QMST 5335</a:t>
            </a:r>
            <a:br>
              <a:rPr lang="en-US" sz="5400" dirty="0"/>
            </a:br>
            <a:r>
              <a:rPr lang="en-US" sz="5400" dirty="0"/>
              <a:t>Causal Forecasting, Overview, and Forecasting Project</a:t>
            </a:r>
            <a:endParaRPr 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94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Learning 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Understanding basics of regression models for forecasting </a:t>
            </a:r>
          </a:p>
          <a:p>
            <a:pPr lvl="1"/>
            <a:r>
              <a:rPr lang="en-US" dirty="0"/>
              <a:t>Linear regression and how to use it for forecasting </a:t>
            </a:r>
          </a:p>
          <a:p>
            <a:r>
              <a:rPr lang="en-US" dirty="0"/>
              <a:t>Learning basics of some Excel tools that can be useful </a:t>
            </a:r>
          </a:p>
          <a:p>
            <a:r>
              <a:rPr lang="en-US" dirty="0"/>
              <a:t>Getting familiar with additional concepts and review of forecasting</a:t>
            </a: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6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DB07-0043-7CD1-B03E-2370DCC0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CA23-3F57-31E0-E832-904A0B6D1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Causal Models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Forecasting with linear regression</a:t>
            </a:r>
          </a:p>
          <a:p>
            <a:endParaRPr lang="en-US" dirty="0"/>
          </a:p>
          <a:p>
            <a:r>
              <a:rPr lang="en-US" dirty="0"/>
              <a:t>Excel tools and Overview</a:t>
            </a:r>
          </a:p>
          <a:p>
            <a:pPr lvl="1"/>
            <a:r>
              <a:rPr lang="en-US" dirty="0"/>
              <a:t>Regression, Moving Average method, Simple Exponential Smoothing</a:t>
            </a:r>
          </a:p>
          <a:p>
            <a:pPr lvl="1"/>
            <a:r>
              <a:rPr lang="en-US" dirty="0"/>
              <a:t>Forecasting Overview and Further Concepts</a:t>
            </a:r>
          </a:p>
          <a:p>
            <a:endParaRPr lang="en-US" dirty="0"/>
          </a:p>
          <a:p>
            <a:r>
              <a:rPr lang="en-US" dirty="0"/>
              <a:t>Forecasting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578624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DB07-0043-7CD1-B03E-2370DCC0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CA23-3F57-31E0-E832-904A0B6D1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Causal Models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Forecasting with linear regression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Excel tools and Overview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Regression, Moving Average method, Simple Exponential Smoothing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Forecasting Overview and Further Concepts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Forecasting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979383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Causal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Causal models can be used to model the relationship between a variable (the one we want to forecast) with other variables</a:t>
                </a:r>
              </a:p>
              <a:p>
                <a:pPr lvl="1"/>
                <a:r>
                  <a:rPr lang="en-US" dirty="0"/>
                  <a:t>In the time series methods we discussed, our assumption was that what we want to forecast depends on time only</a:t>
                </a:r>
              </a:p>
              <a:p>
                <a:pPr lvl="1"/>
                <a:r>
                  <a:rPr lang="en-US" dirty="0"/>
                  <a:t>Regression models can be used for time series forecasting</a:t>
                </a:r>
              </a:p>
              <a:p>
                <a:r>
                  <a:rPr lang="en-US" dirty="0"/>
                  <a:t>Linear regression:</a:t>
                </a:r>
              </a:p>
              <a:p>
                <a:pPr lvl="1"/>
                <a:r>
                  <a:rPr lang="en-US" dirty="0"/>
                  <a:t>We forecast the time series of interest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assuming that it has a linear relationship with other time series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forecast variable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sometimes also called the </a:t>
                </a:r>
                <a:r>
                  <a:rPr lang="en-US" dirty="0" err="1"/>
                  <a:t>regressand</a:t>
                </a:r>
                <a:r>
                  <a:rPr lang="en-US" dirty="0"/>
                  <a:t>, dependent or explained variable.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predictor variables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sometimes also called the </a:t>
                </a:r>
                <a:r>
                  <a:rPr lang="en-US" dirty="0" err="1"/>
                  <a:t>regressors</a:t>
                </a:r>
                <a:r>
                  <a:rPr lang="en-US" dirty="0"/>
                  <a:t>, independent or explanatory variables.</a:t>
                </a:r>
              </a:p>
              <a:p>
                <a:pPr lvl="1"/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  <a:blipFill>
                <a:blip r:embed="rId2"/>
                <a:stretch>
                  <a:fillRect l="-943" t="-2757" r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0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3"/>
                <a:ext cx="4920384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Simple Linear Regression:</a:t>
                </a:r>
              </a:p>
              <a:p>
                <a:pPr lvl="1"/>
                <a:r>
                  <a:rPr lang="en-US" dirty="0"/>
                  <a:t>In the simplest case, the regression model allows for a linear relationship between the forecast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a single predictor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assumed that: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denote the intercept and the slope of the line, respectively</a:t>
                </a:r>
              </a:p>
              <a:p>
                <a:pPr lvl="1"/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3"/>
                <a:ext cx="4920384" cy="4864530"/>
              </a:xfrm>
              <a:blipFill>
                <a:blip r:embed="rId2"/>
                <a:stretch>
                  <a:fillRect l="-2230" t="-2757" r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182" y="1483621"/>
            <a:ext cx="6671276" cy="413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5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Multiple Linear Regression:</a:t>
                </a:r>
              </a:p>
              <a:p>
                <a:pPr lvl="1"/>
                <a:r>
                  <a:rPr lang="en-US" dirty="0"/>
                  <a:t>When there are two or more predictor variables, the model is called a </a:t>
                </a:r>
                <a:r>
                  <a:rPr lang="en-US" b="1" dirty="0"/>
                  <a:t>multiple regression model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The general form of a multiple regression model is </a:t>
                </a:r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the variable to be forecast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predictor variables. </a:t>
                </a:r>
              </a:p>
              <a:p>
                <a:pPr lvl="2"/>
                <a:r>
                  <a:rPr lang="en-US" dirty="0"/>
                  <a:t>Each of the predictor variables must be numerical. </a:t>
                </a:r>
              </a:p>
              <a:p>
                <a:pPr lvl="2"/>
                <a:r>
                  <a:rPr lang="en-US" dirty="0"/>
                  <a:t>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measure the effect of each predictor after taking into account the effects of all the other predictors in the model. </a:t>
                </a:r>
              </a:p>
              <a:p>
                <a:pPr lvl="2"/>
                <a:r>
                  <a:rPr lang="en-US" dirty="0"/>
                  <a:t>Thus, the coefficients measure the </a:t>
                </a:r>
                <a:r>
                  <a:rPr lang="en-US" i="1" dirty="0"/>
                  <a:t>marginal effects</a:t>
                </a:r>
                <a:r>
                  <a:rPr lang="en-US" dirty="0"/>
                  <a:t> of the predictor variables.</a:t>
                </a: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  <a:blipFill>
                <a:blip r:embed="rId2"/>
                <a:stretch>
                  <a:fillRect l="-943" t="-2757" r="-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453" y="2802898"/>
            <a:ext cx="6315759" cy="65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4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Estimating the coefficients:</a:t>
                </a:r>
              </a:p>
              <a:p>
                <a:pPr lvl="1"/>
                <a:r>
                  <a:rPr lang="en-US" dirty="0"/>
                  <a:t>One common approach is to minimize sum of squared errors</a:t>
                </a:r>
              </a:p>
              <a:p>
                <a:pPr lvl="1"/>
                <a:r>
                  <a:rPr lang="en-US" dirty="0"/>
                  <a:t>This is known as least squares estimation</a:t>
                </a:r>
              </a:p>
              <a:p>
                <a:pPr lvl="2"/>
                <a:r>
                  <a:rPr lang="en-US" dirty="0"/>
                  <a:t>Given that you know the actual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Find the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that will minimize: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Typically, a software is used to find these values (Excel can do this!)</a:t>
                </a:r>
              </a:p>
              <a:p>
                <a:pPr lvl="2"/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(i.e., one independent variable), we can use the following equations:</a:t>
                </a:r>
              </a:p>
              <a:p>
                <a:pPr lvl="3"/>
                <a:endParaRPr lang="en-US" dirty="0"/>
              </a:p>
              <a:p>
                <a:pPr lvl="3"/>
                <a:r>
                  <a:rPr lang="en-US" dirty="0"/>
                  <a:t>Estimator of the slope:</a:t>
                </a:r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3"/>
                <a:r>
                  <a:rPr lang="en-US" dirty="0"/>
                  <a:t>Estimator of the intercept:</a:t>
                </a: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  <a:blipFill>
                <a:blip r:embed="rId2"/>
                <a:stretch>
                  <a:fillRect l="-943" t="-2757" b="-5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092" y="3181290"/>
            <a:ext cx="6160308" cy="1048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55596" y="4940984"/>
                <a:ext cx="2662459" cy="635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596" y="4940984"/>
                <a:ext cx="2662459" cy="6353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34106" y="5947725"/>
                <a:ext cx="1537793" cy="38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106" y="5947725"/>
                <a:ext cx="1537793" cy="384336"/>
              </a:xfrm>
              <a:prstGeom prst="rect">
                <a:avLst/>
              </a:prstGeom>
              <a:blipFill>
                <a:blip r:embed="rId5"/>
                <a:stretch>
                  <a:fillRect t="-7937" r="-15476"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464061" y="5050148"/>
                <a:ext cx="1385123" cy="559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061" y="5050148"/>
                <a:ext cx="1385123" cy="5599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87788" y="5792053"/>
                <a:ext cx="1390188" cy="559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788" y="5792053"/>
                <a:ext cx="1390188" cy="5599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59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with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we consider that the value we want to forecast purely depends on time only, then we can say that the independent variable is the time!</a:t>
                </a:r>
              </a:p>
              <a:p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Then, we end up with a simple linear regression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can find the estimates of the slope and intercept using the data we have</a:t>
                </a:r>
              </a:p>
              <a:p>
                <a:pPr lvl="1"/>
                <a:r>
                  <a:rPr lang="en-US" dirty="0"/>
                  <a:t>Suppose that we are in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the estimates </a:t>
                </a:r>
              </a:p>
              <a:p>
                <a:r>
                  <a:rPr lang="en-US" dirty="0"/>
                  <a:t>Then, the forecasts made in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for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will be: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When we observe new data, we can update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estimates and use the updated ones</a:t>
                </a: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  <a:blipFill>
                <a:blip r:embed="rId2"/>
                <a:stretch>
                  <a:fillRect l="-943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092169" y="4264683"/>
                <a:ext cx="3473964" cy="523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169" y="4264683"/>
                <a:ext cx="3473964" cy="523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58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with Linear Regression: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See</a:t>
            </a:r>
            <a:r>
              <a:rPr lang="en-US" dirty="0"/>
              <a:t> </a:t>
            </a:r>
            <a:r>
              <a:rPr lang="en-US" i="1" dirty="0"/>
              <a:t>Module 1.5 – Example – Forecasting with Regression.xlsx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74" y="1941974"/>
            <a:ext cx="5832179" cy="34582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178" y="1941974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10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with Linear Regression: Seasonality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We can make seasonality adjustment while forecasting with regression</a:t>
                </a:r>
              </a:p>
              <a:p>
                <a:pPr lvl="1"/>
                <a:r>
                  <a:rPr lang="en-US" dirty="0"/>
                  <a:t>When we use the simple linear regression, it ignores seasonality or cycles!</a:t>
                </a:r>
              </a:p>
              <a:p>
                <a:pPr lvl="1"/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does not capture seasons </a:t>
                </a:r>
              </a:p>
              <a:p>
                <a:pPr lvl="1"/>
                <a:r>
                  <a:rPr lang="en-US" dirty="0"/>
                  <a:t>One remedy for this is to adjust the forecasts for each period accordingly</a:t>
                </a:r>
              </a:p>
              <a:p>
                <a:pPr lvl="1"/>
                <a:r>
                  <a:rPr lang="en-US" dirty="0"/>
                  <a:t>For instance, say we have demand data for each month</a:t>
                </a:r>
              </a:p>
              <a:p>
                <a:pPr lvl="1"/>
                <a:r>
                  <a:rPr lang="en-US" dirty="0"/>
                  <a:t>Then: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dirty="0"/>
                  <a:t>For each of the demand values in the time series, calculate the corresponding forecast using the unadjusted forecast model.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dirty="0"/>
                  <a:t>For each demand value, calculate (Demand/Forecast). If the ratio is less than 1, then the forecast model </a:t>
                </a:r>
                <a:r>
                  <a:rPr lang="en-US" dirty="0" err="1"/>
                  <a:t>overforecast</a:t>
                </a:r>
                <a:r>
                  <a:rPr lang="en-US" dirty="0"/>
                  <a:t>; if it is greater than 1, then the model </a:t>
                </a:r>
                <a:r>
                  <a:rPr lang="en-US" dirty="0" err="1"/>
                  <a:t>underforecast</a:t>
                </a:r>
                <a:r>
                  <a:rPr lang="en-US" dirty="0"/>
                  <a:t>.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dirty="0"/>
                  <a:t>If the time series covers multiple years, take the average (Demand/Forecast) for corresponding months or quarters to derive the seasonal index. Otherwise use (Demand/Forecast) calculated in Step 2 as the seasonal index.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dirty="0"/>
                  <a:t>Multiply the unadjusted forecast by the seasonal index to get the seasonally adjusted forecast value.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See</a:t>
                </a:r>
                <a:r>
                  <a:rPr lang="en-US" dirty="0"/>
                  <a:t> </a:t>
                </a:r>
                <a:r>
                  <a:rPr lang="en-US" i="1" dirty="0"/>
                  <a:t>Module 1.5 – Example – Forecasting with Regression.xlsx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  <a:blipFill>
                <a:blip r:embed="rId2"/>
                <a:stretch>
                  <a:fillRect l="-1048" t="-2757" r="-105" b="-9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34206" y="3042791"/>
            <a:ext cx="64541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7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with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we consider that the value we want to forecast depends a single independent variable, which is not time!</a:t>
                </a:r>
              </a:p>
              <a:p>
                <a:r>
                  <a:rPr lang="en-US" dirty="0"/>
                  <a:t>We have a simple linear regression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can find the estimates of the slope and intercept using the data we have</a:t>
                </a:r>
              </a:p>
              <a:p>
                <a:pPr lvl="1"/>
                <a:r>
                  <a:rPr lang="en-US" dirty="0"/>
                  <a:t>Suppose that we are in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the estimates </a:t>
                </a:r>
              </a:p>
              <a:p>
                <a:pPr lvl="1"/>
                <a:r>
                  <a:rPr lang="en-US" dirty="0"/>
                  <a:t>Then, the forecasts made in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for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will be:</a:t>
                </a:r>
              </a:p>
              <a:p>
                <a:pPr lvl="1"/>
                <a:r>
                  <a:rPr lang="en-US" dirty="0"/>
                  <a:t>But we do not know the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 as we did not observe it</a:t>
                </a:r>
              </a:p>
              <a:p>
                <a:pPr lvl="1"/>
                <a:r>
                  <a:rPr lang="en-US" dirty="0"/>
                  <a:t>What we can do is to forecast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 value, i.e.,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, then use it</a:t>
                </a:r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Again, when we observe new data, we can update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estimates and use the updated ones as well as update the forecast for the independent variable 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See</a:t>
                </a:r>
                <a:r>
                  <a:rPr lang="en-US" dirty="0"/>
                  <a:t> </a:t>
                </a:r>
                <a:r>
                  <a:rPr lang="en-US" i="1" dirty="0"/>
                  <a:t>Module 1.5 – Example – Forecasting with Regression.xlsx</a:t>
                </a:r>
                <a:endParaRPr lang="en-US" dirty="0"/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400" kern="0" dirty="0"/>
              </a:p>
              <a:p>
                <a:endParaRPr lang="en-US" sz="2400" kern="0" dirty="0"/>
              </a:p>
              <a:p>
                <a:pPr lvl="2"/>
                <a:endParaRPr lang="en-US" sz="1600" kern="0" dirty="0"/>
              </a:p>
              <a:p>
                <a:pPr lvl="1"/>
                <a:endParaRPr lang="en-US" sz="2000" kern="0" dirty="0">
                  <a:solidFill>
                    <a:srgbClr val="000000"/>
                  </a:solidFill>
                </a:endParaRPr>
              </a:p>
              <a:p>
                <a:pPr lvl="1"/>
                <a:endParaRPr lang="en-US" sz="2000" kern="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11633799" cy="4864530"/>
              </a:xfrm>
              <a:blipFill>
                <a:blip r:embed="rId2"/>
                <a:stretch>
                  <a:fillRect l="-1048" t="-2757" b="-9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764786" y="3156541"/>
                <a:ext cx="2643737" cy="4514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786" y="3156541"/>
                <a:ext cx="2643737" cy="451470"/>
              </a:xfrm>
              <a:prstGeom prst="rect">
                <a:avLst/>
              </a:prstGeom>
              <a:blipFill>
                <a:blip r:embed="rId3"/>
                <a:stretch>
                  <a:fillRect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849869" y="4379283"/>
                <a:ext cx="2556597" cy="4155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869" y="4379283"/>
                <a:ext cx="2556597" cy="415563"/>
              </a:xfrm>
              <a:prstGeom prst="rect">
                <a:avLst/>
              </a:prstGeom>
              <a:blipFill>
                <a:blip r:embed="rId4"/>
                <a:stretch>
                  <a:fillRect t="-5797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64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DB07-0043-7CD1-B03E-2370DCC0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CA23-3F57-31E0-E832-904A0B6D1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Overview of Causal Models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Linear regression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Forecasting with linear regression</a:t>
            </a:r>
          </a:p>
          <a:p>
            <a:endParaRPr lang="en-US" dirty="0"/>
          </a:p>
          <a:p>
            <a:r>
              <a:rPr lang="en-US" dirty="0"/>
              <a:t>Excel tools and Overview</a:t>
            </a:r>
          </a:p>
          <a:p>
            <a:pPr lvl="1"/>
            <a:r>
              <a:rPr lang="en-US" dirty="0"/>
              <a:t>Regression, Moving Average method, Simple Exponential Smoothing</a:t>
            </a:r>
          </a:p>
          <a:p>
            <a:pPr lvl="1"/>
            <a:r>
              <a:rPr lang="en-US" dirty="0"/>
              <a:t>Forecasting Overview and Further Concepts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Forecasting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33723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Excel tools can make life easier!</a:t>
            </a:r>
          </a:p>
          <a:p>
            <a:pPr lvl="1"/>
            <a:r>
              <a:rPr lang="en-US" dirty="0"/>
              <a:t>Excel can do linear regression</a:t>
            </a:r>
          </a:p>
          <a:p>
            <a:pPr lvl="1"/>
            <a:r>
              <a:rPr lang="en-US" dirty="0"/>
              <a:t>Excel can do Moving Average Method</a:t>
            </a:r>
          </a:p>
          <a:p>
            <a:pPr lvl="1"/>
            <a:r>
              <a:rPr lang="en-US" dirty="0"/>
              <a:t>Excel can do Exponential Smoothing Method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44" y="4085494"/>
            <a:ext cx="4792723" cy="24208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03" y="3116322"/>
            <a:ext cx="11178697" cy="8730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66092" y="4888523"/>
            <a:ext cx="1899139" cy="18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04544" y="5532743"/>
            <a:ext cx="1899139" cy="18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04544" y="6012840"/>
            <a:ext cx="1899139" cy="18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own Arrow 3"/>
          <p:cNvSpPr/>
          <p:nvPr/>
        </p:nvSpPr>
        <p:spPr>
          <a:xfrm>
            <a:off x="11007969" y="2919046"/>
            <a:ext cx="304800" cy="37513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296105" y="2786977"/>
            <a:ext cx="304800" cy="31963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See</a:t>
            </a:r>
            <a:r>
              <a:rPr lang="en-US" i="1" dirty="0"/>
              <a:t> Module 1.5 – Example – Excel Tools.xlsx </a:t>
            </a:r>
            <a:r>
              <a:rPr lang="en-US" dirty="0"/>
              <a:t>for a small demonstration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20" y="1724584"/>
            <a:ext cx="3381741" cy="21060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981" y="3949755"/>
            <a:ext cx="6067946" cy="2762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46" y="1841262"/>
            <a:ext cx="3082048" cy="277088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9261230" y="2055898"/>
            <a:ext cx="1535723" cy="949570"/>
          </a:xfrm>
          <a:prstGeom prst="wedgeRoundRectCallout">
            <a:avLst>
              <a:gd name="adj1" fmla="val -190238"/>
              <a:gd name="adj2" fmla="val -2389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Dependent variable’s values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9391822" y="3306036"/>
            <a:ext cx="1535723" cy="949570"/>
          </a:xfrm>
          <a:prstGeom prst="wedgeRoundRectCallout">
            <a:avLst>
              <a:gd name="adj1" fmla="val -199967"/>
              <a:gd name="adj2" fmla="val -1321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Independent  variables’ values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1503340" y="6176963"/>
            <a:ext cx="1837737" cy="535092"/>
          </a:xfrm>
          <a:prstGeom prst="borderCallout1">
            <a:avLst>
              <a:gd name="adj1" fmla="val 38468"/>
              <a:gd name="adj2" fmla="val -678"/>
              <a:gd name="adj3" fmla="val 9530"/>
              <a:gd name="adj4" fmla="val -3131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07049" y="5651725"/>
            <a:ext cx="1280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B0, B1, B2,… estimates</a:t>
            </a:r>
          </a:p>
        </p:txBody>
      </p:sp>
    </p:spTree>
    <p:extLst>
      <p:ext uri="{BB962C8B-B14F-4D97-AF65-F5344CB8AC3E}">
        <p14:creationId xmlns:p14="http://schemas.microsoft.com/office/powerpoint/2010/main" val="186418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 Method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See</a:t>
            </a:r>
            <a:r>
              <a:rPr lang="en-US" i="1" dirty="0"/>
              <a:t> Module 1.5 – Example – Excel Tools.xlsx </a:t>
            </a:r>
            <a:r>
              <a:rPr lang="en-US" dirty="0"/>
              <a:t>for a small demonstration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33" y="1947863"/>
            <a:ext cx="1647825" cy="42291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284" y="2757725"/>
            <a:ext cx="3704762" cy="24190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327" y="1785571"/>
            <a:ext cx="2314575" cy="4248150"/>
          </a:xfrm>
          <a:prstGeom prst="rect">
            <a:avLst/>
          </a:prstGeom>
        </p:spPr>
      </p:pic>
      <p:sp>
        <p:nvSpPr>
          <p:cNvPr id="18" name="Rounded Rectangular Callout 17"/>
          <p:cNvSpPr/>
          <p:nvPr/>
        </p:nvSpPr>
        <p:spPr>
          <a:xfrm>
            <a:off x="4558484" y="1923846"/>
            <a:ext cx="1535723" cy="512734"/>
          </a:xfrm>
          <a:prstGeom prst="wedgeRoundRectCallout">
            <a:avLst>
              <a:gd name="adj1" fmla="val -14831"/>
              <a:gd name="adj2" fmla="val 2111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Observations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2523758" y="5532959"/>
            <a:ext cx="1535723" cy="512734"/>
          </a:xfrm>
          <a:prstGeom prst="wedgeRoundRectCallout">
            <a:avLst>
              <a:gd name="adj1" fmla="val 85169"/>
              <a:gd name="adj2" fmla="val -38101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4701684" y="5934092"/>
            <a:ext cx="1837362" cy="771508"/>
          </a:xfrm>
          <a:prstGeom prst="wedgeRoundRectCallout">
            <a:avLst>
              <a:gd name="adj1" fmla="val -28332"/>
              <a:gd name="adj2" fmla="val -26167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Where the forecasts will be written</a:t>
            </a:r>
          </a:p>
        </p:txBody>
      </p:sp>
    </p:spTree>
    <p:extLst>
      <p:ext uri="{BB962C8B-B14F-4D97-AF65-F5344CB8AC3E}">
        <p14:creationId xmlns:p14="http://schemas.microsoft.com/office/powerpoint/2010/main" val="1837252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Exponential Smoothing in Excel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See</a:t>
            </a:r>
            <a:r>
              <a:rPr lang="en-US" i="1" dirty="0"/>
              <a:t> Module 1.5 – Example – Excel Tools.xlsx </a:t>
            </a:r>
            <a:r>
              <a:rPr lang="en-US" dirty="0"/>
              <a:t>for a small demonstration</a:t>
            </a:r>
          </a:p>
          <a:p>
            <a:pPr lvl="1"/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2D197B-DCF2-260D-83EA-F37FA8DAA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02" y="2390366"/>
            <a:ext cx="1485900" cy="4095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E6F9A-28A0-2D82-E1B3-9AD9CB80F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87" y="3247617"/>
            <a:ext cx="3781425" cy="2314575"/>
          </a:xfrm>
          <a:prstGeom prst="rect">
            <a:avLst/>
          </a:prstGeom>
        </p:spPr>
      </p:pic>
      <p:sp>
        <p:nvSpPr>
          <p:cNvPr id="4" name="Rounded Rectangular Callout 17">
            <a:extLst>
              <a:ext uri="{FF2B5EF4-FFF2-40B4-BE49-F238E27FC236}">
                <a16:creationId xmlns:a16="http://schemas.microsoft.com/office/drawing/2014/main" id="{FFDD0731-0E60-7C9A-201D-7D371A9B7AFD}"/>
              </a:ext>
            </a:extLst>
          </p:cNvPr>
          <p:cNvSpPr/>
          <p:nvPr/>
        </p:nvSpPr>
        <p:spPr>
          <a:xfrm>
            <a:off x="6278489" y="2305922"/>
            <a:ext cx="1535723" cy="512734"/>
          </a:xfrm>
          <a:prstGeom prst="wedgeRoundRectCallout">
            <a:avLst>
              <a:gd name="adj1" fmla="val -44781"/>
              <a:gd name="adj2" fmla="val 2190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Observations</a:t>
            </a:r>
          </a:p>
        </p:txBody>
      </p:sp>
      <p:sp>
        <p:nvSpPr>
          <p:cNvPr id="5" name="Rounded Rectangular Callout 18">
            <a:extLst>
              <a:ext uri="{FF2B5EF4-FFF2-40B4-BE49-F238E27FC236}">
                <a16:creationId xmlns:a16="http://schemas.microsoft.com/office/drawing/2014/main" id="{320EDAB8-6FA6-B725-AD18-962429499086}"/>
              </a:ext>
            </a:extLst>
          </p:cNvPr>
          <p:cNvSpPr/>
          <p:nvPr/>
        </p:nvSpPr>
        <p:spPr>
          <a:xfrm>
            <a:off x="4046150" y="2492405"/>
            <a:ext cx="1535723" cy="512734"/>
          </a:xfrm>
          <a:prstGeom prst="wedgeRoundRectCallout">
            <a:avLst>
              <a:gd name="adj1" fmla="val 50040"/>
              <a:gd name="adj2" fmla="val 24657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(1-</a:t>
            </a:r>
            <a:r>
              <a:rPr lang="el-GR" dirty="0"/>
              <a:t>α</a:t>
            </a:r>
            <a:r>
              <a:rPr lang="en-US" dirty="0"/>
              <a:t>)</a:t>
            </a:r>
          </a:p>
        </p:txBody>
      </p:sp>
      <p:sp>
        <p:nvSpPr>
          <p:cNvPr id="6" name="Rounded Rectangular Callout 19">
            <a:extLst>
              <a:ext uri="{FF2B5EF4-FFF2-40B4-BE49-F238E27FC236}">
                <a16:creationId xmlns:a16="http://schemas.microsoft.com/office/drawing/2014/main" id="{0BABA6BE-5FE1-2F92-A9C2-2DD72489E92C}"/>
              </a:ext>
            </a:extLst>
          </p:cNvPr>
          <p:cNvSpPr/>
          <p:nvPr/>
        </p:nvSpPr>
        <p:spPr>
          <a:xfrm>
            <a:off x="5414752" y="5791209"/>
            <a:ext cx="2318800" cy="771508"/>
          </a:xfrm>
          <a:prstGeom prst="wedgeRoundRectCallout">
            <a:avLst>
              <a:gd name="adj1" fmla="val -26786"/>
              <a:gd name="adj2" fmla="val -19272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Where the forecasts will be written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12715-9E0C-E1C9-4E37-97EA08435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818" y="2390366"/>
            <a:ext cx="2114550" cy="4029075"/>
          </a:xfrm>
          <a:prstGeom prst="rect">
            <a:avLst/>
          </a:prstGeom>
        </p:spPr>
      </p:pic>
      <p:sp>
        <p:nvSpPr>
          <p:cNvPr id="8" name="Rounded Rectangular Callout 13">
            <a:extLst>
              <a:ext uri="{FF2B5EF4-FFF2-40B4-BE49-F238E27FC236}">
                <a16:creationId xmlns:a16="http://schemas.microsoft.com/office/drawing/2014/main" id="{B56F8DCB-BC81-1EB6-4CED-BE84E4590466}"/>
              </a:ext>
            </a:extLst>
          </p:cNvPr>
          <p:cNvSpPr/>
          <p:nvPr/>
        </p:nvSpPr>
        <p:spPr>
          <a:xfrm>
            <a:off x="10930634" y="3992844"/>
            <a:ext cx="1147813" cy="1846167"/>
          </a:xfrm>
          <a:prstGeom prst="wedgeRoundRectCallout">
            <a:avLst>
              <a:gd name="adj1" fmla="val -107053"/>
              <a:gd name="adj2" fmla="val -9489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forecast is the last year’s data</a:t>
            </a:r>
          </a:p>
        </p:txBody>
      </p:sp>
    </p:spTree>
    <p:extLst>
      <p:ext uri="{BB962C8B-B14F-4D97-AF65-F5344CB8AC3E}">
        <p14:creationId xmlns:p14="http://schemas.microsoft.com/office/powerpoint/2010/main" val="3835011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Solver Add-in (can be used to find the best values for the parameters)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5" y="2280263"/>
            <a:ext cx="11178697" cy="873003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10668000" y="2283615"/>
            <a:ext cx="304800" cy="37513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225767" y="2012867"/>
            <a:ext cx="304800" cy="31963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993" y="3229760"/>
            <a:ext cx="2947147" cy="3097617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8565232" y="3434542"/>
            <a:ext cx="3171392" cy="700434"/>
          </a:xfrm>
          <a:prstGeom prst="wedgeRectCallout">
            <a:avLst>
              <a:gd name="adj1" fmla="val -113615"/>
              <a:gd name="adj2" fmla="val -245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the cell that has the performance measure, such as sum of squared errors</a:t>
            </a:r>
          </a:p>
        </p:txBody>
      </p:sp>
      <p:sp>
        <p:nvSpPr>
          <p:cNvPr id="15" name="Rectangular Callout 14"/>
          <p:cNvSpPr/>
          <p:nvPr/>
        </p:nvSpPr>
        <p:spPr>
          <a:xfrm>
            <a:off x="8600401" y="4306596"/>
            <a:ext cx="3171392" cy="700434"/>
          </a:xfrm>
          <a:prstGeom prst="wedgeRectCallout">
            <a:avLst>
              <a:gd name="adj1" fmla="val -151320"/>
              <a:gd name="adj2" fmla="val -1165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‘min’ or ‘max’ depending on what you want. We want to minimize sum of squared errors</a:t>
            </a:r>
          </a:p>
        </p:txBody>
      </p:sp>
      <p:sp>
        <p:nvSpPr>
          <p:cNvPr id="16" name="Rectangular Callout 15"/>
          <p:cNvSpPr/>
          <p:nvPr/>
        </p:nvSpPr>
        <p:spPr>
          <a:xfrm>
            <a:off x="8565232" y="5138094"/>
            <a:ext cx="3171392" cy="700434"/>
          </a:xfrm>
          <a:prstGeom prst="wedgeRectCallout">
            <a:avLst>
              <a:gd name="adj1" fmla="val -167953"/>
              <a:gd name="adj2" fmla="val -20027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the parameter cells, for which we want to find the best values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8565232" y="5969593"/>
            <a:ext cx="3171392" cy="700434"/>
          </a:xfrm>
          <a:prstGeom prst="wedgeRectCallout">
            <a:avLst>
              <a:gd name="adj1" fmla="val -138012"/>
              <a:gd name="adj2" fmla="val -12662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‘GRG Nonlinear’ as sum of squared errors will be nonlinear</a:t>
            </a:r>
          </a:p>
        </p:txBody>
      </p:sp>
      <p:sp>
        <p:nvSpPr>
          <p:cNvPr id="18" name="Rectangular Callout 17"/>
          <p:cNvSpPr/>
          <p:nvPr/>
        </p:nvSpPr>
        <p:spPr>
          <a:xfrm>
            <a:off x="763301" y="4634090"/>
            <a:ext cx="3171392" cy="1051601"/>
          </a:xfrm>
          <a:prstGeom prst="wedgeRectCallout">
            <a:avLst>
              <a:gd name="adj1" fmla="val 131463"/>
              <a:gd name="adj2" fmla="val -7311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there are some restrictions on the parameters, say gamma should be &lt;= 0.5, these are added as constraints</a:t>
            </a:r>
          </a:p>
        </p:txBody>
      </p:sp>
    </p:spTree>
    <p:extLst>
      <p:ext uri="{BB962C8B-B14F-4D97-AF65-F5344CB8AC3E}">
        <p14:creationId xmlns:p14="http://schemas.microsoft.com/office/powerpoint/2010/main" val="185164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Excel tools can make life easier!</a:t>
            </a:r>
          </a:p>
          <a:p>
            <a:pPr lvl="1"/>
            <a:r>
              <a:rPr lang="en-US" dirty="0"/>
              <a:t>Solver Add-in (can be used to find the best values for the parameters)</a:t>
            </a:r>
          </a:p>
          <a:p>
            <a:pPr lvl="2"/>
            <a:r>
              <a:rPr lang="en-US" dirty="0"/>
              <a:t>How to add the solver add-in?</a:t>
            </a:r>
          </a:p>
          <a:p>
            <a:pPr lvl="3"/>
            <a:r>
              <a:rPr lang="en-US" sz="2000" dirty="0"/>
              <a:t>If you do not see Solver under the Data tab, go to File--&gt;Options--&gt;Add-ins--&gt;Manage 'Excel Add-ins'--&gt;Click on 'Go'--&gt;Check 'Solver'--&gt;Click ok</a:t>
            </a:r>
          </a:p>
          <a:p>
            <a:pPr lvl="3"/>
            <a:r>
              <a:rPr lang="en-US" sz="2000" dirty="0"/>
              <a:t>See also:</a:t>
            </a:r>
          </a:p>
          <a:p>
            <a:pPr lvl="3"/>
            <a:r>
              <a:rPr lang="en-US" sz="2000" dirty="0">
                <a:solidFill>
                  <a:srgbClr val="C00000"/>
                </a:solidFill>
                <a:hlinkClick r:id="rId2"/>
              </a:rPr>
              <a:t>https://support.office.com/en-us/article/load-the-solver-add-in-in-excel-612926fc-d53b-46b4-872c-e24772f078ca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</a:p>
          <a:p>
            <a:pPr lvl="3"/>
            <a:endParaRPr lang="en-US" sz="2000" dirty="0"/>
          </a:p>
          <a:p>
            <a:pPr lvl="3"/>
            <a:r>
              <a:rPr lang="en-US" sz="2000" dirty="0"/>
              <a:t>Or you can watch my video below starting from 23:30 for Windows</a:t>
            </a:r>
          </a:p>
          <a:p>
            <a:pPr lvl="3"/>
            <a:r>
              <a:rPr lang="en-US" sz="2000" kern="0" dirty="0">
                <a:hlinkClick r:id="rId3"/>
              </a:rPr>
              <a:t>https://mediaflo.txstate.edu/hapi/v1/contents/permalinks/a9X6Zmo5/view</a:t>
            </a:r>
            <a:r>
              <a:rPr lang="en-US" sz="2000" kern="0" dirty="0"/>
              <a:t> </a:t>
            </a:r>
          </a:p>
          <a:p>
            <a:endParaRPr lang="en-US" sz="2400" kern="0" dirty="0"/>
          </a:p>
          <a:p>
            <a:pPr marL="914400" lvl="2" indent="0">
              <a:buNone/>
            </a:pPr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53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we have learned:</a:t>
            </a:r>
          </a:p>
          <a:p>
            <a:pPr lvl="1"/>
            <a:r>
              <a:rPr lang="en-US" dirty="0"/>
              <a:t>Basics of forecasts and forecasting</a:t>
            </a:r>
          </a:p>
          <a:p>
            <a:pPr lvl="2"/>
            <a:r>
              <a:rPr lang="en-US" dirty="0"/>
              <a:t>Time-dimension in forecasting (short vs. medium vs. long horizon), accuracy of forecasting (single item vs. group of items), desired and undesired characteristics</a:t>
            </a:r>
          </a:p>
          <a:p>
            <a:pPr lvl="2"/>
            <a:r>
              <a:rPr lang="en-US" dirty="0"/>
              <a:t>Forecast errors</a:t>
            </a:r>
          </a:p>
          <a:p>
            <a:pPr lvl="1"/>
            <a:r>
              <a:rPr lang="en-US" dirty="0"/>
              <a:t>Different approaches to forecasting</a:t>
            </a:r>
          </a:p>
          <a:p>
            <a:pPr lvl="2"/>
            <a:r>
              <a:rPr lang="en-US" dirty="0"/>
              <a:t>Judgmental approaches: Delphi, Analogy, Scenarios</a:t>
            </a:r>
          </a:p>
          <a:p>
            <a:pPr lvl="2"/>
            <a:r>
              <a:rPr lang="en-US" dirty="0"/>
              <a:t>Time Series and simple forecasting methods</a:t>
            </a:r>
          </a:p>
          <a:p>
            <a:pPr lvl="2"/>
            <a:r>
              <a:rPr lang="en-US" dirty="0"/>
              <a:t>Exponential Smoothing Methods: </a:t>
            </a:r>
          </a:p>
          <a:p>
            <a:pPr lvl="3"/>
            <a:r>
              <a:rPr lang="en-US" dirty="0"/>
              <a:t>Simple Exponential Smoothing for stationary series</a:t>
            </a:r>
          </a:p>
          <a:p>
            <a:pPr lvl="3"/>
            <a:r>
              <a:rPr lang="en-US" dirty="0"/>
              <a:t>Holt’s Linear Trend Method for series with trend</a:t>
            </a:r>
          </a:p>
          <a:p>
            <a:pPr lvl="3"/>
            <a:r>
              <a:rPr lang="en-US" dirty="0"/>
              <a:t>Holt-Winters’ method for series with seasonality and/trend</a:t>
            </a:r>
          </a:p>
          <a:p>
            <a:pPr lvl="2"/>
            <a:r>
              <a:rPr lang="en-US" dirty="0"/>
              <a:t>ARIMA overview</a:t>
            </a:r>
          </a:p>
          <a:p>
            <a:pPr lvl="2"/>
            <a:r>
              <a:rPr lang="en-US" dirty="0"/>
              <a:t>Hierarchical/Grouped time series forecasting</a:t>
            </a:r>
          </a:p>
          <a:p>
            <a:pPr lvl="2"/>
            <a:r>
              <a:rPr lang="en-US" dirty="0"/>
              <a:t>Causal methods</a:t>
            </a:r>
          </a:p>
          <a:p>
            <a:pPr lvl="2"/>
            <a:r>
              <a:rPr lang="en-US" dirty="0"/>
              <a:t>Excel’s tools that can be useful (regression, moving average, exponential smoothing, solver)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0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Concluding remarks:</a:t>
            </a:r>
          </a:p>
          <a:p>
            <a:r>
              <a:rPr lang="en-US" dirty="0"/>
              <a:t>Forecasting is very important in business applications!</a:t>
            </a:r>
          </a:p>
          <a:p>
            <a:r>
              <a:rPr lang="en-US" dirty="0"/>
              <a:t>To successfully forecast values of interest</a:t>
            </a:r>
          </a:p>
          <a:p>
            <a:pPr lvl="1"/>
            <a:r>
              <a:rPr lang="en-US" dirty="0"/>
              <a:t>Know what you are forecasting and why? The possible effects of forecasts? Etc.</a:t>
            </a:r>
          </a:p>
          <a:p>
            <a:pPr lvl="1"/>
            <a:r>
              <a:rPr lang="en-US" dirty="0"/>
              <a:t>Do preliminary analyses on the data (observe the characteristics of the time series)</a:t>
            </a:r>
          </a:p>
          <a:p>
            <a:pPr lvl="1"/>
            <a:r>
              <a:rPr lang="en-US" dirty="0"/>
              <a:t>Determine alternative methods and test them</a:t>
            </a:r>
          </a:p>
          <a:p>
            <a:pPr lvl="1"/>
            <a:r>
              <a:rPr lang="en-US" dirty="0"/>
              <a:t>Choose a method and continuously check its performance</a:t>
            </a:r>
          </a:p>
          <a:p>
            <a:pPr lvl="2"/>
            <a:r>
              <a:rPr lang="en-US" dirty="0"/>
              <a:t>Continuously check the forecast errors</a:t>
            </a:r>
          </a:p>
          <a:p>
            <a:pPr lvl="1"/>
            <a:r>
              <a:rPr lang="en-US" dirty="0"/>
              <a:t>Be on the look for reasons of significant changes in the observations</a:t>
            </a:r>
          </a:p>
          <a:p>
            <a:r>
              <a:rPr lang="en-US" dirty="0"/>
              <a:t>There are many available software:</a:t>
            </a:r>
          </a:p>
          <a:p>
            <a:pPr lvl="1"/>
            <a:r>
              <a:rPr lang="en-US" dirty="0"/>
              <a:t>See an example and how it works at:</a:t>
            </a:r>
          </a:p>
          <a:p>
            <a:pPr lvl="1"/>
            <a:r>
              <a:rPr lang="en-US" dirty="0">
                <a:hlinkClick r:id="rId2"/>
              </a:rPr>
              <a:t>https://www.youtube.com/user/ForecastPro</a:t>
            </a:r>
            <a:r>
              <a:rPr lang="en-US" dirty="0"/>
              <a:t> 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03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DB07-0043-7CD1-B03E-2370DCC0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CA23-3F57-31E0-E832-904A0B6D1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Overview of Causal Models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Linear regression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Forecasting with linear regression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Excel tools and Overview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Regression, Moving Average method, Simple Exponential Smoothing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Forecasting Overview and Further Concepts</a:t>
            </a:r>
          </a:p>
          <a:p>
            <a:endParaRPr lang="en-US" dirty="0"/>
          </a:p>
          <a:p>
            <a:r>
              <a:rPr lang="en-US" dirty="0"/>
              <a:t>Forecasting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285195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purpose of Project 1 – Forecasting project is to use the various tools discussed so far for forecasting</a:t>
            </a:r>
          </a:p>
          <a:p>
            <a:r>
              <a:rPr lang="en-US" dirty="0"/>
              <a:t>It has 2 parts (corresponding to a total of 15 points)</a:t>
            </a:r>
          </a:p>
          <a:p>
            <a:pPr lvl="1"/>
            <a:r>
              <a:rPr lang="en-US" dirty="0"/>
              <a:t>Part A - Data generation (1 point)</a:t>
            </a:r>
          </a:p>
          <a:p>
            <a:pPr lvl="1"/>
            <a:r>
              <a:rPr lang="en-US" dirty="0"/>
              <a:t>Part B – Forecasting (14 points)</a:t>
            </a:r>
          </a:p>
          <a:p>
            <a:r>
              <a:rPr lang="en-US" dirty="0"/>
              <a:t>The files:</a:t>
            </a:r>
          </a:p>
          <a:p>
            <a:pPr lvl="1"/>
            <a:r>
              <a:rPr lang="en-US" dirty="0"/>
              <a:t>There is a single ‘Module 1 - Project.xlsx’ file. </a:t>
            </a:r>
          </a:p>
          <a:p>
            <a:pPr lvl="2"/>
            <a:r>
              <a:rPr lang="en-US" dirty="0"/>
              <a:t>It has 2 sheet, one for each part.</a:t>
            </a:r>
          </a:p>
          <a:p>
            <a:pPr lvl="2"/>
            <a:r>
              <a:rPr lang="en-US" dirty="0"/>
              <a:t>You will submit the same file after completing the requirements of the project on the file</a:t>
            </a:r>
          </a:p>
          <a:p>
            <a:pPr lvl="2"/>
            <a:r>
              <a:rPr lang="en-US" dirty="0"/>
              <a:t>Please change the name of the file to ‘Project 1 - Name’ after working on it before submitting it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32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Part A – Data Generation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D063B-D257-44A4-B175-D9B5E26B1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8" y="1938041"/>
            <a:ext cx="97821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68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Part B – Forecasting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8FA93-949B-4F87-A0B2-AD363946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43" y="1741297"/>
            <a:ext cx="7874201" cy="504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79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Important points:</a:t>
            </a:r>
          </a:p>
          <a:p>
            <a:pPr lvl="1"/>
            <a:r>
              <a:rPr lang="en-US" dirty="0"/>
              <a:t>In Forecasting sheet, do not type in values for level estimate, trend estimate, forecast, forecast error, squared error values. They will have formulas!</a:t>
            </a:r>
          </a:p>
          <a:p>
            <a:pPr lvl="1"/>
            <a:r>
              <a:rPr lang="en-US" dirty="0"/>
              <a:t>In the boxes where you type answers, make sure the text is wrapped, left-adjusted!</a:t>
            </a:r>
          </a:p>
          <a:p>
            <a:pPr lvl="1"/>
            <a:r>
              <a:rPr lang="en-US" dirty="0"/>
              <a:t>If you need more space in the boxes, just make them larger to the right!</a:t>
            </a:r>
          </a:p>
          <a:p>
            <a:r>
              <a:rPr lang="en-US" dirty="0"/>
              <a:t>Submission:</a:t>
            </a:r>
          </a:p>
          <a:p>
            <a:pPr lvl="1"/>
            <a:r>
              <a:rPr lang="en-US" dirty="0"/>
              <a:t>On Canvas under Project 1 assignment</a:t>
            </a:r>
          </a:p>
          <a:p>
            <a:pPr lvl="1"/>
            <a:r>
              <a:rPr lang="en-US" dirty="0"/>
              <a:t>Project 1 is an individual project!</a:t>
            </a:r>
          </a:p>
          <a:p>
            <a:pPr lvl="1"/>
            <a:r>
              <a:rPr lang="en-US" dirty="0"/>
              <a:t>Submission is one Excel file. No other format will be graded.</a:t>
            </a:r>
          </a:p>
          <a:p>
            <a:pPr lvl="1"/>
            <a:r>
              <a:rPr lang="en-US" dirty="0"/>
              <a:t>Name your file: ‘Project 1– Name’</a:t>
            </a:r>
          </a:p>
          <a:p>
            <a:pPr lvl="1"/>
            <a:r>
              <a:rPr lang="en-US" dirty="0"/>
              <a:t>Do not forget to put your name and student ID in Data Generation part!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65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5047</TotalTime>
  <Words>1887</Words>
  <Application>Microsoft Office PowerPoint</Application>
  <PresentationFormat>Widescreen</PresentationFormat>
  <Paragraphs>845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QMST 5335 Causal Forecasting, Overview, and Forecasting Project</vt:lpstr>
      <vt:lpstr>Learning Objectives:</vt:lpstr>
      <vt:lpstr>Outline</vt:lpstr>
      <vt:lpstr>Outline</vt:lpstr>
      <vt:lpstr>Causal Models</vt:lpstr>
      <vt:lpstr>Linear Regression</vt:lpstr>
      <vt:lpstr>Linear Regression</vt:lpstr>
      <vt:lpstr>Linear Regression</vt:lpstr>
      <vt:lpstr>Forecasting with Linear Regression</vt:lpstr>
      <vt:lpstr>Forecasting with Linear Regression: Example</vt:lpstr>
      <vt:lpstr>Forecasting with Linear Regression: Seasonality</vt:lpstr>
      <vt:lpstr>Forecasting with Linear Regression</vt:lpstr>
      <vt:lpstr>Outline</vt:lpstr>
      <vt:lpstr>Excel Tools</vt:lpstr>
      <vt:lpstr>Linear Regression in Excel</vt:lpstr>
      <vt:lpstr>Moving Average Method in Excel</vt:lpstr>
      <vt:lpstr>Simple Exponential Smoothing in Excel</vt:lpstr>
      <vt:lpstr>Excel Tools</vt:lpstr>
      <vt:lpstr>Excel Tools</vt:lpstr>
      <vt:lpstr>Overview of Forecasting</vt:lpstr>
      <vt:lpstr>Further Discussion</vt:lpstr>
      <vt:lpstr>Outline</vt:lpstr>
      <vt:lpstr>Forecasting Project</vt:lpstr>
      <vt:lpstr>Forecasting Project</vt:lpstr>
      <vt:lpstr>Forecasting Project</vt:lpstr>
      <vt:lpstr>Forecasting Project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Konur, Dincer</dc:creator>
  <cp:lastModifiedBy>Konur, Dincer</cp:lastModifiedBy>
  <cp:revision>277</cp:revision>
  <dcterms:created xsi:type="dcterms:W3CDTF">2018-08-17T02:14:39Z</dcterms:created>
  <dcterms:modified xsi:type="dcterms:W3CDTF">2024-10-27T21:30:03Z</dcterms:modified>
</cp:coreProperties>
</file>