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594" r:id="rId2"/>
    <p:sldId id="260" r:id="rId3"/>
    <p:sldId id="600" r:id="rId4"/>
    <p:sldId id="257" r:id="rId5"/>
    <p:sldId id="499" r:id="rId6"/>
    <p:sldId id="498" r:id="rId7"/>
    <p:sldId id="500" r:id="rId8"/>
    <p:sldId id="501" r:id="rId9"/>
    <p:sldId id="502" r:id="rId10"/>
    <p:sldId id="509" r:id="rId11"/>
    <p:sldId id="504" r:id="rId12"/>
    <p:sldId id="510" r:id="rId13"/>
    <p:sldId id="511" r:id="rId14"/>
    <p:sldId id="508" r:id="rId15"/>
    <p:sldId id="512" r:id="rId16"/>
    <p:sldId id="513" r:id="rId17"/>
    <p:sldId id="514" r:id="rId18"/>
    <p:sldId id="601" r:id="rId19"/>
    <p:sldId id="516" r:id="rId20"/>
    <p:sldId id="517" r:id="rId21"/>
    <p:sldId id="518" r:id="rId22"/>
    <p:sldId id="526" r:id="rId23"/>
    <p:sldId id="521" r:id="rId24"/>
    <p:sldId id="522" r:id="rId25"/>
    <p:sldId id="523" r:id="rId26"/>
    <p:sldId id="524" r:id="rId27"/>
    <p:sldId id="525" r:id="rId28"/>
    <p:sldId id="602" r:id="rId29"/>
    <p:sldId id="528" r:id="rId30"/>
    <p:sldId id="529" r:id="rId31"/>
    <p:sldId id="532" r:id="rId32"/>
    <p:sldId id="535" r:id="rId33"/>
    <p:sldId id="533" r:id="rId34"/>
    <p:sldId id="537" r:id="rId35"/>
    <p:sldId id="536" r:id="rId36"/>
    <p:sldId id="603" r:id="rId37"/>
    <p:sldId id="539" r:id="rId38"/>
    <p:sldId id="540" r:id="rId39"/>
    <p:sldId id="554" r:id="rId40"/>
    <p:sldId id="555" r:id="rId41"/>
    <p:sldId id="541" r:id="rId42"/>
    <p:sldId id="604" r:id="rId43"/>
    <p:sldId id="544" r:id="rId44"/>
    <p:sldId id="547" r:id="rId45"/>
    <p:sldId id="548" r:id="rId46"/>
    <p:sldId id="549" r:id="rId47"/>
    <p:sldId id="550" r:id="rId48"/>
    <p:sldId id="551" r:id="rId49"/>
    <p:sldId id="552" r:id="rId50"/>
    <p:sldId id="605" r:id="rId51"/>
    <p:sldId id="571" r:id="rId52"/>
    <p:sldId id="572" r:id="rId53"/>
    <p:sldId id="573" r:id="rId54"/>
    <p:sldId id="559" r:id="rId55"/>
    <p:sldId id="560" r:id="rId56"/>
    <p:sldId id="561" r:id="rId57"/>
    <p:sldId id="562" r:id="rId58"/>
    <p:sldId id="563" r:id="rId59"/>
    <p:sldId id="564" r:id="rId60"/>
    <p:sldId id="606" r:id="rId61"/>
    <p:sldId id="567" r:id="rId62"/>
    <p:sldId id="568" r:id="rId63"/>
    <p:sldId id="569" r:id="rId64"/>
    <p:sldId id="570" r:id="rId65"/>
    <p:sldId id="574" r:id="rId66"/>
    <p:sldId id="575" r:id="rId67"/>
    <p:sldId id="591" r:id="rId68"/>
    <p:sldId id="592" r:id="rId69"/>
    <p:sldId id="593"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E137E4-649F-41A0-8A87-9C5B923DA5CB}" v="3" dt="2023-09-18T22:49:00.2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7146" autoAdjust="0"/>
  </p:normalViewPr>
  <p:slideViewPr>
    <p:cSldViewPr snapToGrid="0">
      <p:cViewPr varScale="1">
        <p:scale>
          <a:sx n="140" d="100"/>
          <a:sy n="140" d="100"/>
        </p:scale>
        <p:origin x="20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84E137E4-649F-41A0-8A87-9C5B923DA5CB}"/>
    <pc:docChg chg="undo custSel modSld">
      <pc:chgData name="Sahan Konur, Sahika" userId="739a6e03-9a4a-49c6-a350-571b31db94be" providerId="ADAL" clId="{84E137E4-649F-41A0-8A87-9C5B923DA5CB}" dt="2023-09-18T22:49:03.505" v="52" actId="1076"/>
      <pc:docMkLst>
        <pc:docMk/>
      </pc:docMkLst>
      <pc:sldChg chg="modSp mod modAnim">
        <pc:chgData name="Sahan Konur, Sahika" userId="739a6e03-9a4a-49c6-a350-571b31db94be" providerId="ADAL" clId="{84E137E4-649F-41A0-8A87-9C5B923DA5CB}" dt="2023-09-18T22:49:03.505" v="52" actId="1076"/>
        <pc:sldMkLst>
          <pc:docMk/>
          <pc:sldMk cId="1766324001" sldId="504"/>
        </pc:sldMkLst>
        <pc:spChg chg="mod">
          <ac:chgData name="Sahan Konur, Sahika" userId="739a6e03-9a4a-49c6-a350-571b31db94be" providerId="ADAL" clId="{84E137E4-649F-41A0-8A87-9C5B923DA5CB}" dt="2023-09-18T22:49:00.286" v="51" actId="20577"/>
          <ac:spMkLst>
            <pc:docMk/>
            <pc:sldMk cId="1766324001" sldId="504"/>
            <ac:spMk id="3" creationId="{00000000-0000-0000-0000-000000000000}"/>
          </ac:spMkLst>
        </pc:spChg>
        <pc:spChg chg="mod">
          <ac:chgData name="Sahan Konur, Sahika" userId="739a6e03-9a4a-49c6-a350-571b31db94be" providerId="ADAL" clId="{84E137E4-649F-41A0-8A87-9C5B923DA5CB}" dt="2023-09-18T22:48:56.533" v="47" actId="1076"/>
          <ac:spMkLst>
            <pc:docMk/>
            <pc:sldMk cId="1766324001" sldId="504"/>
            <ac:spMk id="7" creationId="{00000000-0000-0000-0000-000000000000}"/>
          </ac:spMkLst>
        </pc:spChg>
        <pc:spChg chg="mod">
          <ac:chgData name="Sahan Konur, Sahika" userId="739a6e03-9a4a-49c6-a350-571b31db94be" providerId="ADAL" clId="{84E137E4-649F-41A0-8A87-9C5B923DA5CB}" dt="2023-09-18T22:49:03.505" v="52" actId="1076"/>
          <ac:spMkLst>
            <pc:docMk/>
            <pc:sldMk cId="1766324001" sldId="504"/>
            <ac:spMk id="8" creationId="{00000000-0000-0000-0000-000000000000}"/>
          </ac:spMkLst>
        </pc:spChg>
      </pc:sldChg>
      <pc:sldChg chg="modSp mod">
        <pc:chgData name="Sahan Konur, Sahika" userId="739a6e03-9a4a-49c6-a350-571b31db94be" providerId="ADAL" clId="{84E137E4-649F-41A0-8A87-9C5B923DA5CB}" dt="2023-08-28T17:29:32.748" v="29" actId="27636"/>
        <pc:sldMkLst>
          <pc:docMk/>
          <pc:sldMk cId="3602939987" sldId="508"/>
        </pc:sldMkLst>
        <pc:spChg chg="mod">
          <ac:chgData name="Sahan Konur, Sahika" userId="739a6e03-9a4a-49c6-a350-571b31db94be" providerId="ADAL" clId="{84E137E4-649F-41A0-8A87-9C5B923DA5CB}" dt="2023-08-28T17:29:32.748" v="29" actId="27636"/>
          <ac:spMkLst>
            <pc:docMk/>
            <pc:sldMk cId="3602939987" sldId="508"/>
            <ac:spMk id="3" creationId="{00000000-0000-0000-0000-000000000000}"/>
          </ac:spMkLst>
        </pc:spChg>
      </pc:sldChg>
      <pc:sldChg chg="modSp mod">
        <pc:chgData name="Sahan Konur, Sahika" userId="739a6e03-9a4a-49c6-a350-571b31db94be" providerId="ADAL" clId="{84E137E4-649F-41A0-8A87-9C5B923DA5CB}" dt="2023-08-28T17:29:32.755" v="30" actId="27636"/>
        <pc:sldMkLst>
          <pc:docMk/>
          <pc:sldMk cId="3690231866" sldId="514"/>
        </pc:sldMkLst>
        <pc:spChg chg="mod">
          <ac:chgData name="Sahan Konur, Sahika" userId="739a6e03-9a4a-49c6-a350-571b31db94be" providerId="ADAL" clId="{84E137E4-649F-41A0-8A87-9C5B923DA5CB}" dt="2023-08-28T17:29:32.755" v="30" actId="27636"/>
          <ac:spMkLst>
            <pc:docMk/>
            <pc:sldMk cId="3690231866" sldId="514"/>
            <ac:spMk id="3" creationId="{00000000-0000-0000-0000-000000000000}"/>
          </ac:spMkLst>
        </pc:spChg>
      </pc:sldChg>
      <pc:sldChg chg="modSp mod">
        <pc:chgData name="Sahan Konur, Sahika" userId="739a6e03-9a4a-49c6-a350-571b31db94be" providerId="ADAL" clId="{84E137E4-649F-41A0-8A87-9C5B923DA5CB}" dt="2023-09-18T22:48:42.895" v="46" actId="1076"/>
        <pc:sldMkLst>
          <pc:docMk/>
          <pc:sldMk cId="394468826" sldId="522"/>
        </pc:sldMkLst>
        <pc:spChg chg="mod">
          <ac:chgData name="Sahan Konur, Sahika" userId="739a6e03-9a4a-49c6-a350-571b31db94be" providerId="ADAL" clId="{84E137E4-649F-41A0-8A87-9C5B923DA5CB}" dt="2023-08-28T17:29:32.764" v="31" actId="27636"/>
          <ac:spMkLst>
            <pc:docMk/>
            <pc:sldMk cId="394468826" sldId="522"/>
            <ac:spMk id="3" creationId="{00000000-0000-0000-0000-000000000000}"/>
          </ac:spMkLst>
        </pc:spChg>
        <pc:spChg chg="mod">
          <ac:chgData name="Sahan Konur, Sahika" userId="739a6e03-9a4a-49c6-a350-571b31db94be" providerId="ADAL" clId="{84E137E4-649F-41A0-8A87-9C5B923DA5CB}" dt="2023-09-18T22:48:39.625" v="45" actId="1076"/>
          <ac:spMkLst>
            <pc:docMk/>
            <pc:sldMk cId="394468826" sldId="522"/>
            <ac:spMk id="7" creationId="{00000000-0000-0000-0000-000000000000}"/>
          </ac:spMkLst>
        </pc:spChg>
        <pc:spChg chg="mod">
          <ac:chgData name="Sahan Konur, Sahika" userId="739a6e03-9a4a-49c6-a350-571b31db94be" providerId="ADAL" clId="{84E137E4-649F-41A0-8A87-9C5B923DA5CB}" dt="2023-09-18T22:48:42.895" v="46" actId="1076"/>
          <ac:spMkLst>
            <pc:docMk/>
            <pc:sldMk cId="394468826" sldId="522"/>
            <ac:spMk id="8" creationId="{00000000-0000-0000-0000-000000000000}"/>
          </ac:spMkLst>
        </pc:spChg>
      </pc:sldChg>
      <pc:sldChg chg="modSp mod">
        <pc:chgData name="Sahan Konur, Sahika" userId="739a6e03-9a4a-49c6-a350-571b31db94be" providerId="ADAL" clId="{84E137E4-649F-41A0-8A87-9C5B923DA5CB}" dt="2023-08-28T17:29:32.764" v="32" actId="27636"/>
        <pc:sldMkLst>
          <pc:docMk/>
          <pc:sldMk cId="3962135832" sldId="523"/>
        </pc:sldMkLst>
        <pc:spChg chg="mod">
          <ac:chgData name="Sahan Konur, Sahika" userId="739a6e03-9a4a-49c6-a350-571b31db94be" providerId="ADAL" clId="{84E137E4-649F-41A0-8A87-9C5B923DA5CB}" dt="2023-08-28T17:29:32.764" v="32" actId="27636"/>
          <ac:spMkLst>
            <pc:docMk/>
            <pc:sldMk cId="3962135832" sldId="523"/>
            <ac:spMk id="3" creationId="{00000000-0000-0000-0000-000000000000}"/>
          </ac:spMkLst>
        </pc:spChg>
      </pc:sldChg>
      <pc:sldChg chg="modSp mod">
        <pc:chgData name="Sahan Konur, Sahika" userId="739a6e03-9a4a-49c6-a350-571b31db94be" providerId="ADAL" clId="{84E137E4-649F-41A0-8A87-9C5B923DA5CB}" dt="2023-08-28T17:29:32.780" v="33" actId="27636"/>
        <pc:sldMkLst>
          <pc:docMk/>
          <pc:sldMk cId="900624006" sldId="532"/>
        </pc:sldMkLst>
        <pc:spChg chg="mod">
          <ac:chgData name="Sahan Konur, Sahika" userId="739a6e03-9a4a-49c6-a350-571b31db94be" providerId="ADAL" clId="{84E137E4-649F-41A0-8A87-9C5B923DA5CB}" dt="2023-08-28T17:29:32.780" v="33" actId="27636"/>
          <ac:spMkLst>
            <pc:docMk/>
            <pc:sldMk cId="900624006" sldId="532"/>
            <ac:spMk id="3" creationId="{00000000-0000-0000-0000-000000000000}"/>
          </ac:spMkLst>
        </pc:spChg>
      </pc:sldChg>
      <pc:sldChg chg="modSp">
        <pc:chgData name="Sahan Konur, Sahika" userId="739a6e03-9a4a-49c6-a350-571b31db94be" providerId="ADAL" clId="{84E137E4-649F-41A0-8A87-9C5B923DA5CB}" dt="2023-08-28T17:29:32.655" v="19" actId="33524"/>
        <pc:sldMkLst>
          <pc:docMk/>
          <pc:sldMk cId="2449915479" sldId="533"/>
        </pc:sldMkLst>
        <pc:spChg chg="mod">
          <ac:chgData name="Sahan Konur, Sahika" userId="739a6e03-9a4a-49c6-a350-571b31db94be" providerId="ADAL" clId="{84E137E4-649F-41A0-8A87-9C5B923DA5CB}" dt="2023-08-28T17:29:32.655" v="19" actId="33524"/>
          <ac:spMkLst>
            <pc:docMk/>
            <pc:sldMk cId="2449915479" sldId="533"/>
            <ac:spMk id="3" creationId="{00000000-0000-0000-0000-000000000000}"/>
          </ac:spMkLst>
        </pc:spChg>
      </pc:sldChg>
      <pc:sldChg chg="modSp mod">
        <pc:chgData name="Sahan Konur, Sahika" userId="739a6e03-9a4a-49c6-a350-571b31db94be" providerId="ADAL" clId="{84E137E4-649F-41A0-8A87-9C5B923DA5CB}" dt="2023-08-28T17:29:32.796" v="34" actId="27636"/>
        <pc:sldMkLst>
          <pc:docMk/>
          <pc:sldMk cId="2846268761" sldId="535"/>
        </pc:sldMkLst>
        <pc:spChg chg="mod">
          <ac:chgData name="Sahan Konur, Sahika" userId="739a6e03-9a4a-49c6-a350-571b31db94be" providerId="ADAL" clId="{84E137E4-649F-41A0-8A87-9C5B923DA5CB}" dt="2023-08-28T17:29:32.796" v="34" actId="27636"/>
          <ac:spMkLst>
            <pc:docMk/>
            <pc:sldMk cId="2846268761" sldId="535"/>
            <ac:spMk id="3" creationId="{00000000-0000-0000-0000-000000000000}"/>
          </ac:spMkLst>
        </pc:spChg>
      </pc:sldChg>
      <pc:sldChg chg="modSp mod">
        <pc:chgData name="Sahan Konur, Sahika" userId="739a6e03-9a4a-49c6-a350-571b31db94be" providerId="ADAL" clId="{84E137E4-649F-41A0-8A87-9C5B923DA5CB}" dt="2023-08-28T17:29:32.670" v="20" actId="27636"/>
        <pc:sldMkLst>
          <pc:docMk/>
          <pc:sldMk cId="3878672058" sldId="539"/>
        </pc:sldMkLst>
        <pc:spChg chg="mod">
          <ac:chgData name="Sahan Konur, Sahika" userId="739a6e03-9a4a-49c6-a350-571b31db94be" providerId="ADAL" clId="{84E137E4-649F-41A0-8A87-9C5B923DA5CB}" dt="2023-08-28T17:29:32.670" v="20" actId="27636"/>
          <ac:spMkLst>
            <pc:docMk/>
            <pc:sldMk cId="3878672058" sldId="539"/>
            <ac:spMk id="3" creationId="{00000000-0000-0000-0000-000000000000}"/>
          </ac:spMkLst>
        </pc:spChg>
      </pc:sldChg>
      <pc:sldChg chg="modSp mod">
        <pc:chgData name="Sahan Konur, Sahika" userId="739a6e03-9a4a-49c6-a350-571b31db94be" providerId="ADAL" clId="{84E137E4-649F-41A0-8A87-9C5B923DA5CB}" dt="2023-08-28T17:29:32.686" v="21" actId="27636"/>
        <pc:sldMkLst>
          <pc:docMk/>
          <pc:sldMk cId="2001324748" sldId="544"/>
        </pc:sldMkLst>
        <pc:spChg chg="mod">
          <ac:chgData name="Sahan Konur, Sahika" userId="739a6e03-9a4a-49c6-a350-571b31db94be" providerId="ADAL" clId="{84E137E4-649F-41A0-8A87-9C5B923DA5CB}" dt="2023-08-28T17:29:32.686" v="21" actId="27636"/>
          <ac:spMkLst>
            <pc:docMk/>
            <pc:sldMk cId="2001324748" sldId="544"/>
            <ac:spMk id="3" creationId="{00000000-0000-0000-0000-000000000000}"/>
          </ac:spMkLst>
        </pc:spChg>
      </pc:sldChg>
      <pc:sldChg chg="modSp mod">
        <pc:chgData name="Sahan Konur, Sahika" userId="739a6e03-9a4a-49c6-a350-571b31db94be" providerId="ADAL" clId="{84E137E4-649F-41A0-8A87-9C5B923DA5CB}" dt="2023-08-28T17:30:01.785" v="36" actId="27636"/>
        <pc:sldMkLst>
          <pc:docMk/>
          <pc:sldMk cId="1735705452" sldId="549"/>
        </pc:sldMkLst>
        <pc:spChg chg="mod">
          <ac:chgData name="Sahan Konur, Sahika" userId="739a6e03-9a4a-49c6-a350-571b31db94be" providerId="ADAL" clId="{84E137E4-649F-41A0-8A87-9C5B923DA5CB}" dt="2023-08-28T17:30:01.785" v="36" actId="27636"/>
          <ac:spMkLst>
            <pc:docMk/>
            <pc:sldMk cId="1735705452" sldId="549"/>
            <ac:spMk id="3" creationId="{00000000-0000-0000-0000-000000000000}"/>
          </ac:spMkLst>
        </pc:spChg>
      </pc:sldChg>
      <pc:sldChg chg="modSp mod">
        <pc:chgData name="Sahan Konur, Sahika" userId="739a6e03-9a4a-49c6-a350-571b31db94be" providerId="ADAL" clId="{84E137E4-649F-41A0-8A87-9C5B923DA5CB}" dt="2023-08-28T17:29:32.701" v="23" actId="27636"/>
        <pc:sldMkLst>
          <pc:docMk/>
          <pc:sldMk cId="3447308669" sldId="551"/>
        </pc:sldMkLst>
        <pc:spChg chg="mod">
          <ac:chgData name="Sahan Konur, Sahika" userId="739a6e03-9a4a-49c6-a350-571b31db94be" providerId="ADAL" clId="{84E137E4-649F-41A0-8A87-9C5B923DA5CB}" dt="2023-08-28T17:29:32.701" v="23" actId="27636"/>
          <ac:spMkLst>
            <pc:docMk/>
            <pc:sldMk cId="3447308669" sldId="551"/>
            <ac:spMk id="3" creationId="{00000000-0000-0000-0000-000000000000}"/>
          </ac:spMkLst>
        </pc:spChg>
      </pc:sldChg>
      <pc:sldChg chg="modSp mod">
        <pc:chgData name="Sahan Konur, Sahika" userId="739a6e03-9a4a-49c6-a350-571b31db94be" providerId="ADAL" clId="{84E137E4-649F-41A0-8A87-9C5B923DA5CB}" dt="2023-08-28T17:29:32.701" v="24" actId="27636"/>
        <pc:sldMkLst>
          <pc:docMk/>
          <pc:sldMk cId="2171361950" sldId="552"/>
        </pc:sldMkLst>
        <pc:spChg chg="mod">
          <ac:chgData name="Sahan Konur, Sahika" userId="739a6e03-9a4a-49c6-a350-571b31db94be" providerId="ADAL" clId="{84E137E4-649F-41A0-8A87-9C5B923DA5CB}" dt="2023-08-28T17:29:32.701" v="24" actId="27636"/>
          <ac:spMkLst>
            <pc:docMk/>
            <pc:sldMk cId="2171361950" sldId="552"/>
            <ac:spMk id="3" creationId="{00000000-0000-0000-0000-000000000000}"/>
          </ac:spMkLst>
        </pc:spChg>
      </pc:sldChg>
      <pc:sldChg chg="modSp mod">
        <pc:chgData name="Sahan Konur, Sahika" userId="739a6e03-9a4a-49c6-a350-571b31db94be" providerId="ADAL" clId="{84E137E4-649F-41A0-8A87-9C5B923DA5CB}" dt="2023-08-28T17:30:37.643" v="39" actId="14100"/>
        <pc:sldMkLst>
          <pc:docMk/>
          <pc:sldMk cId="2715418439" sldId="574"/>
        </pc:sldMkLst>
        <pc:spChg chg="mod">
          <ac:chgData name="Sahan Konur, Sahika" userId="739a6e03-9a4a-49c6-a350-571b31db94be" providerId="ADAL" clId="{84E137E4-649F-41A0-8A87-9C5B923DA5CB}" dt="2023-08-28T17:30:37.643" v="39" actId="14100"/>
          <ac:spMkLst>
            <pc:docMk/>
            <pc:sldMk cId="2715418439" sldId="574"/>
            <ac:spMk id="3" creationId="{00000000-0000-0000-0000-000000000000}"/>
          </ac:spMkLst>
        </pc:spChg>
      </pc:sldChg>
      <pc:sldChg chg="modSp mod">
        <pc:chgData name="Sahan Konur, Sahika" userId="739a6e03-9a4a-49c6-a350-571b31db94be" providerId="ADAL" clId="{84E137E4-649F-41A0-8A87-9C5B923DA5CB}" dt="2023-08-28T17:31:28.089" v="44" actId="20577"/>
        <pc:sldMkLst>
          <pc:docMk/>
          <pc:sldMk cId="3990748391" sldId="591"/>
        </pc:sldMkLst>
        <pc:spChg chg="mod">
          <ac:chgData name="Sahan Konur, Sahika" userId="739a6e03-9a4a-49c6-a350-571b31db94be" providerId="ADAL" clId="{84E137E4-649F-41A0-8A87-9C5B923DA5CB}" dt="2023-08-28T17:31:28.089" v="44" actId="20577"/>
          <ac:spMkLst>
            <pc:docMk/>
            <pc:sldMk cId="3990748391" sldId="591"/>
            <ac:spMk id="3" creationId="{00000000-0000-0000-0000-000000000000}"/>
          </ac:spMkLst>
        </pc:spChg>
      </pc:sldChg>
      <pc:sldChg chg="modSp mod">
        <pc:chgData name="Sahan Konur, Sahika" userId="739a6e03-9a4a-49c6-a350-571b31db94be" providerId="ADAL" clId="{84E137E4-649F-41A0-8A87-9C5B923DA5CB}" dt="2023-08-28T17:29:32.733" v="27" actId="27636"/>
        <pc:sldMkLst>
          <pc:docMk/>
          <pc:sldMk cId="877211411" sldId="594"/>
        </pc:sldMkLst>
        <pc:spChg chg="mod">
          <ac:chgData name="Sahan Konur, Sahika" userId="739a6e03-9a4a-49c6-a350-571b31db94be" providerId="ADAL" clId="{84E137E4-649F-41A0-8A87-9C5B923DA5CB}" dt="2023-08-28T17:17:47.856" v="18" actId="20577"/>
          <ac:spMkLst>
            <pc:docMk/>
            <pc:sldMk cId="877211411" sldId="594"/>
            <ac:spMk id="2" creationId="{00000000-0000-0000-0000-000000000000}"/>
          </ac:spMkLst>
        </pc:spChg>
        <pc:spChg chg="mod">
          <ac:chgData name="Sahan Konur, Sahika" userId="739a6e03-9a4a-49c6-a350-571b31db94be" providerId="ADAL" clId="{84E137E4-649F-41A0-8A87-9C5B923DA5CB}" dt="2023-08-28T17:29:32.733" v="27" actId="27636"/>
          <ac:spMkLst>
            <pc:docMk/>
            <pc:sldMk cId="877211411" sldId="594"/>
            <ac:spMk id="3" creationId="{00000000-0000-0000-0000-000000000000}"/>
          </ac:spMkLst>
        </pc:spChg>
      </pc:sldChg>
    </pc:docChg>
  </pc:docChgLst>
  <pc:docChgLst>
    <pc:chgData name="Dincer Konur" userId="0cb337efb386619d" providerId="LiveId" clId="{63DEA58B-59AC-4DCA-BC7C-A3708ECAC2F4}"/>
    <pc:docChg chg="undo custSel addSld delSld modSld sldOrd">
      <pc:chgData name="Dincer Konur" userId="0cb337efb386619d" providerId="LiveId" clId="{63DEA58B-59AC-4DCA-BC7C-A3708ECAC2F4}" dt="2019-08-20T17:20:49.392" v="2288" actId="1076"/>
      <pc:docMkLst>
        <pc:docMk/>
      </pc:docMkLst>
      <pc:sldChg chg="addSp delSp modSp">
        <pc:chgData name="Dincer Konur" userId="0cb337efb386619d" providerId="LiveId" clId="{63DEA58B-59AC-4DCA-BC7C-A3708ECAC2F4}" dt="2019-08-03T15:46:46.332" v="2172" actId="478"/>
        <pc:sldMkLst>
          <pc:docMk/>
          <pc:sldMk cId="2541942282" sldId="256"/>
        </pc:sldMkLst>
        <pc:spChg chg="mod">
          <ac:chgData name="Dincer Konur" userId="0cb337efb386619d" providerId="LiveId" clId="{63DEA58B-59AC-4DCA-BC7C-A3708ECAC2F4}" dt="2019-07-23T14:12:44.932" v="1"/>
          <ac:spMkLst>
            <pc:docMk/>
            <pc:sldMk cId="2541942282" sldId="256"/>
            <ac:spMk id="2" creationId="{00000000-0000-0000-0000-000000000000}"/>
          </ac:spMkLst>
        </pc:spChg>
        <pc:spChg chg="mod">
          <ac:chgData name="Dincer Konur" userId="0cb337efb386619d" providerId="LiveId" clId="{63DEA58B-59AC-4DCA-BC7C-A3708ECAC2F4}" dt="2019-07-23T14:12:48.180" v="2" actId="20577"/>
          <ac:spMkLst>
            <pc:docMk/>
            <pc:sldMk cId="2541942282" sldId="256"/>
            <ac:spMk id="3" creationId="{00000000-0000-0000-0000-000000000000}"/>
          </ac:spMkLst>
        </pc:spChg>
        <pc:inkChg chg="add del">
          <ac:chgData name="Dincer Konur" userId="0cb337efb386619d" providerId="LiveId" clId="{63DEA58B-59AC-4DCA-BC7C-A3708ECAC2F4}" dt="2019-08-03T15:46:46.332" v="2172" actId="478"/>
          <ac:inkMkLst>
            <pc:docMk/>
            <pc:sldMk cId="2541942282" sldId="256"/>
            <ac:inkMk id="4" creationId="{7C9D9FDA-BCD9-4892-8CCD-14709AD96236}"/>
          </ac:inkMkLst>
        </pc:inkChg>
      </pc:sldChg>
      <pc:sldChg chg="modSp">
        <pc:chgData name="Dincer Konur" userId="0cb337efb386619d" providerId="LiveId" clId="{63DEA58B-59AC-4DCA-BC7C-A3708ECAC2F4}" dt="2019-07-23T15:41:43.699" v="1931" actId="1076"/>
        <pc:sldMkLst>
          <pc:docMk/>
          <pc:sldMk cId="2474569206" sldId="260"/>
        </pc:sldMkLst>
        <pc:spChg chg="mod">
          <ac:chgData name="Dincer Konur" userId="0cb337efb386619d" providerId="LiveId" clId="{63DEA58B-59AC-4DCA-BC7C-A3708ECAC2F4}" dt="2019-07-23T14:14:05.062" v="3" actId="20577"/>
          <ac:spMkLst>
            <pc:docMk/>
            <pc:sldMk cId="2474569206" sldId="260"/>
            <ac:spMk id="2" creationId="{00000000-0000-0000-0000-000000000000}"/>
          </ac:spMkLst>
        </pc:spChg>
        <pc:spChg chg="mod">
          <ac:chgData name="Dincer Konur" userId="0cb337efb386619d" providerId="LiveId" clId="{63DEA58B-59AC-4DCA-BC7C-A3708ECAC2F4}" dt="2019-07-23T15:41:30.547" v="1929" actId="20577"/>
          <ac:spMkLst>
            <pc:docMk/>
            <pc:sldMk cId="2474569206" sldId="260"/>
            <ac:spMk id="3" creationId="{00000000-0000-0000-0000-000000000000}"/>
          </ac:spMkLst>
        </pc:spChg>
        <pc:spChg chg="mod">
          <ac:chgData name="Dincer Konur" userId="0cb337efb386619d" providerId="LiveId" clId="{63DEA58B-59AC-4DCA-BC7C-A3708ECAC2F4}" dt="2019-07-23T15:40:51.885" v="1907" actId="14100"/>
          <ac:spMkLst>
            <pc:docMk/>
            <pc:sldMk cId="2474569206" sldId="260"/>
            <ac:spMk id="5" creationId="{00000000-0000-0000-0000-000000000000}"/>
          </ac:spMkLst>
        </pc:spChg>
        <pc:spChg chg="mod">
          <ac:chgData name="Dincer Konur" userId="0cb337efb386619d" providerId="LiveId" clId="{63DEA58B-59AC-4DCA-BC7C-A3708ECAC2F4}" dt="2019-07-23T15:41:11.682" v="1916" actId="14100"/>
          <ac:spMkLst>
            <pc:docMk/>
            <pc:sldMk cId="2474569206" sldId="260"/>
            <ac:spMk id="6" creationId="{00000000-0000-0000-0000-000000000000}"/>
          </ac:spMkLst>
        </pc:spChg>
        <pc:spChg chg="mod">
          <ac:chgData name="Dincer Konur" userId="0cb337efb386619d" providerId="LiveId" clId="{63DEA58B-59AC-4DCA-BC7C-A3708ECAC2F4}" dt="2019-07-23T15:40:55.332" v="1913" actId="20577"/>
          <ac:spMkLst>
            <pc:docMk/>
            <pc:sldMk cId="2474569206" sldId="260"/>
            <ac:spMk id="7" creationId="{00000000-0000-0000-0000-000000000000}"/>
          </ac:spMkLst>
        </pc:spChg>
        <pc:spChg chg="mod">
          <ac:chgData name="Dincer Konur" userId="0cb337efb386619d" providerId="LiveId" clId="{63DEA58B-59AC-4DCA-BC7C-A3708ECAC2F4}" dt="2019-07-23T15:41:28.129" v="1928" actId="1076"/>
          <ac:spMkLst>
            <pc:docMk/>
            <pc:sldMk cId="2474569206" sldId="260"/>
            <ac:spMk id="8" creationId="{00000000-0000-0000-0000-000000000000}"/>
          </ac:spMkLst>
        </pc:spChg>
        <pc:spChg chg="mod">
          <ac:chgData name="Dincer Konur" userId="0cb337efb386619d" providerId="LiveId" clId="{63DEA58B-59AC-4DCA-BC7C-A3708ECAC2F4}" dt="2019-07-23T15:41:37.500" v="1930" actId="1076"/>
          <ac:spMkLst>
            <pc:docMk/>
            <pc:sldMk cId="2474569206" sldId="260"/>
            <ac:spMk id="9" creationId="{00000000-0000-0000-0000-000000000000}"/>
          </ac:spMkLst>
        </pc:spChg>
        <pc:spChg chg="mod">
          <ac:chgData name="Dincer Konur" userId="0cb337efb386619d" providerId="LiveId" clId="{63DEA58B-59AC-4DCA-BC7C-A3708ECAC2F4}" dt="2019-07-23T15:41:43.699" v="1931" actId="1076"/>
          <ac:spMkLst>
            <pc:docMk/>
            <pc:sldMk cId="2474569206" sldId="260"/>
            <ac:spMk id="10" creationId="{00000000-0000-0000-0000-000000000000}"/>
          </ac:spMkLst>
        </pc:spChg>
      </pc:sldChg>
      <pc:sldChg chg="modAnim">
        <pc:chgData name="Dincer Konur" userId="0cb337efb386619d" providerId="LiveId" clId="{63DEA58B-59AC-4DCA-BC7C-A3708ECAC2F4}" dt="2019-07-25T00:16:41.652" v="2092"/>
        <pc:sldMkLst>
          <pc:docMk/>
          <pc:sldMk cId="4044417086" sldId="548"/>
        </pc:sldMkLst>
      </pc:sldChg>
      <pc:sldChg chg="addSp delSp modSp ord">
        <pc:chgData name="Dincer Konur" userId="0cb337efb386619d" providerId="LiveId" clId="{63DEA58B-59AC-4DCA-BC7C-A3708ECAC2F4}" dt="2019-08-20T17:16:10.215" v="2244" actId="207"/>
        <pc:sldMkLst>
          <pc:docMk/>
          <pc:sldMk cId="2174426670" sldId="571"/>
        </pc:sldMkLst>
        <pc:spChg chg="mod">
          <ac:chgData name="Dincer Konur" userId="0cb337efb386619d" providerId="LiveId" clId="{63DEA58B-59AC-4DCA-BC7C-A3708ECAC2F4}" dt="2019-08-20T17:14:40.697" v="2228"/>
          <ac:spMkLst>
            <pc:docMk/>
            <pc:sldMk cId="2174426670" sldId="571"/>
            <ac:spMk id="3" creationId="{00000000-0000-0000-0000-000000000000}"/>
          </ac:spMkLst>
        </pc:spChg>
        <pc:spChg chg="del">
          <ac:chgData name="Dincer Konur" userId="0cb337efb386619d" providerId="LiveId" clId="{63DEA58B-59AC-4DCA-BC7C-A3708ECAC2F4}" dt="2019-08-20T17:13:15.352" v="2209" actId="478"/>
          <ac:spMkLst>
            <pc:docMk/>
            <pc:sldMk cId="2174426670" sldId="571"/>
            <ac:spMk id="6" creationId="{00000000-0000-0000-0000-000000000000}"/>
          </ac:spMkLst>
        </pc:spChg>
        <pc:spChg chg="del">
          <ac:chgData name="Dincer Konur" userId="0cb337efb386619d" providerId="LiveId" clId="{63DEA58B-59AC-4DCA-BC7C-A3708ECAC2F4}" dt="2019-08-20T17:13:16.867" v="2210" actId="478"/>
          <ac:spMkLst>
            <pc:docMk/>
            <pc:sldMk cId="2174426670" sldId="571"/>
            <ac:spMk id="7" creationId="{00000000-0000-0000-0000-000000000000}"/>
          </ac:spMkLst>
        </pc:spChg>
        <pc:spChg chg="add mod">
          <ac:chgData name="Dincer Konur" userId="0cb337efb386619d" providerId="LiveId" clId="{63DEA58B-59AC-4DCA-BC7C-A3708ECAC2F4}" dt="2019-08-20T17:15:04.136" v="2231" actId="1076"/>
          <ac:spMkLst>
            <pc:docMk/>
            <pc:sldMk cId="2174426670" sldId="571"/>
            <ac:spMk id="8" creationId="{D4B0E19E-88C5-466F-ABDC-F3F1EB9A8115}"/>
          </ac:spMkLst>
        </pc:spChg>
        <pc:spChg chg="add mod">
          <ac:chgData name="Dincer Konur" userId="0cb337efb386619d" providerId="LiveId" clId="{63DEA58B-59AC-4DCA-BC7C-A3708ECAC2F4}" dt="2019-08-20T17:16:10.215" v="2244" actId="207"/>
          <ac:spMkLst>
            <pc:docMk/>
            <pc:sldMk cId="2174426670" sldId="571"/>
            <ac:spMk id="10" creationId="{36946F5C-6F9D-4FED-9752-97BB8B9310D1}"/>
          </ac:spMkLst>
        </pc:spChg>
        <pc:picChg chg="del">
          <ac:chgData name="Dincer Konur" userId="0cb337efb386619d" providerId="LiveId" clId="{63DEA58B-59AC-4DCA-BC7C-A3708ECAC2F4}" dt="2019-08-20T17:13:11.576" v="2207" actId="478"/>
          <ac:picMkLst>
            <pc:docMk/>
            <pc:sldMk cId="2174426670" sldId="571"/>
            <ac:picMk id="4" creationId="{00000000-0000-0000-0000-000000000000}"/>
          </ac:picMkLst>
        </pc:picChg>
        <pc:picChg chg="del">
          <ac:chgData name="Dincer Konur" userId="0cb337efb386619d" providerId="LiveId" clId="{63DEA58B-59AC-4DCA-BC7C-A3708ECAC2F4}" dt="2019-08-20T17:13:12.485" v="2208" actId="478"/>
          <ac:picMkLst>
            <pc:docMk/>
            <pc:sldMk cId="2174426670" sldId="571"/>
            <ac:picMk id="5" creationId="{00000000-0000-0000-0000-000000000000}"/>
          </ac:picMkLst>
        </pc:picChg>
        <pc:picChg chg="add mod">
          <ac:chgData name="Dincer Konur" userId="0cb337efb386619d" providerId="LiveId" clId="{63DEA58B-59AC-4DCA-BC7C-A3708ECAC2F4}" dt="2019-08-20T17:15:27.280" v="2234" actId="1076"/>
          <ac:picMkLst>
            <pc:docMk/>
            <pc:sldMk cId="2174426670" sldId="571"/>
            <ac:picMk id="9" creationId="{DD25D820-90DB-4B88-83A3-25743E7B3FD0}"/>
          </ac:picMkLst>
        </pc:picChg>
      </pc:sldChg>
      <pc:sldChg chg="addSp delSp modSp ord">
        <pc:chgData name="Dincer Konur" userId="0cb337efb386619d" providerId="LiveId" clId="{63DEA58B-59AC-4DCA-BC7C-A3708ECAC2F4}" dt="2019-08-20T17:20:35.125" v="2283"/>
        <pc:sldMkLst>
          <pc:docMk/>
          <pc:sldMk cId="1214690420" sldId="572"/>
        </pc:sldMkLst>
        <pc:spChg chg="mod">
          <ac:chgData name="Dincer Konur" userId="0cb337efb386619d" providerId="LiveId" clId="{63DEA58B-59AC-4DCA-BC7C-A3708ECAC2F4}" dt="2019-08-20T17:20:35.125" v="2283"/>
          <ac:spMkLst>
            <pc:docMk/>
            <pc:sldMk cId="1214690420" sldId="572"/>
            <ac:spMk id="3" creationId="{00000000-0000-0000-0000-000000000000}"/>
          </ac:spMkLst>
        </pc:spChg>
        <pc:spChg chg="add mod">
          <ac:chgData name="Dincer Konur" userId="0cb337efb386619d" providerId="LiveId" clId="{63DEA58B-59AC-4DCA-BC7C-A3708ECAC2F4}" dt="2019-08-20T17:19:05.047" v="2270" actId="14100"/>
          <ac:spMkLst>
            <pc:docMk/>
            <pc:sldMk cId="1214690420" sldId="572"/>
            <ac:spMk id="5" creationId="{AD33880D-11F0-42D1-99FE-BCE365621B18}"/>
          </ac:spMkLst>
        </pc:spChg>
        <pc:spChg chg="add mod">
          <ac:chgData name="Dincer Konur" userId="0cb337efb386619d" providerId="LiveId" clId="{63DEA58B-59AC-4DCA-BC7C-A3708ECAC2F4}" dt="2019-08-20T17:19:18.487" v="2273" actId="1076"/>
          <ac:spMkLst>
            <pc:docMk/>
            <pc:sldMk cId="1214690420" sldId="572"/>
            <ac:spMk id="6" creationId="{D9F2F03A-90FE-43E2-9142-4DB2B86FF39E}"/>
          </ac:spMkLst>
        </pc:spChg>
        <pc:spChg chg="add mod">
          <ac:chgData name="Dincer Konur" userId="0cb337efb386619d" providerId="LiveId" clId="{63DEA58B-59AC-4DCA-BC7C-A3708ECAC2F4}" dt="2019-08-20T17:19:42.147" v="2278" actId="14100"/>
          <ac:spMkLst>
            <pc:docMk/>
            <pc:sldMk cId="1214690420" sldId="572"/>
            <ac:spMk id="7" creationId="{AFCD5E0E-4D84-40E6-8D17-83B77FDFAA46}"/>
          </ac:spMkLst>
        </pc:spChg>
        <pc:spChg chg="mod">
          <ac:chgData name="Dincer Konur" userId="0cb337efb386619d" providerId="LiveId" clId="{63DEA58B-59AC-4DCA-BC7C-A3708ECAC2F4}" dt="2019-08-20T17:18:52.519" v="2268" actId="1076"/>
          <ac:spMkLst>
            <pc:docMk/>
            <pc:sldMk cId="1214690420" sldId="572"/>
            <ac:spMk id="9" creationId="{00000000-0000-0000-0000-000000000000}"/>
          </ac:spMkLst>
        </pc:spChg>
        <pc:spChg chg="del">
          <ac:chgData name="Dincer Konur" userId="0cb337efb386619d" providerId="LiveId" clId="{63DEA58B-59AC-4DCA-BC7C-A3708ECAC2F4}" dt="2019-08-20T17:16:36.289" v="2247" actId="478"/>
          <ac:spMkLst>
            <pc:docMk/>
            <pc:sldMk cId="1214690420" sldId="572"/>
            <ac:spMk id="10" creationId="{00000000-0000-0000-0000-000000000000}"/>
          </ac:spMkLst>
        </pc:spChg>
        <pc:spChg chg="del">
          <ac:chgData name="Dincer Konur" userId="0cb337efb386619d" providerId="LiveId" clId="{63DEA58B-59AC-4DCA-BC7C-A3708ECAC2F4}" dt="2019-08-20T17:16:36.289" v="2247" actId="478"/>
          <ac:spMkLst>
            <pc:docMk/>
            <pc:sldMk cId="1214690420" sldId="572"/>
            <ac:spMk id="11" creationId="{00000000-0000-0000-0000-000000000000}"/>
          </ac:spMkLst>
        </pc:spChg>
        <pc:spChg chg="del">
          <ac:chgData name="Dincer Konur" userId="0cb337efb386619d" providerId="LiveId" clId="{63DEA58B-59AC-4DCA-BC7C-A3708ECAC2F4}" dt="2019-08-20T17:16:36.289" v="2247" actId="478"/>
          <ac:spMkLst>
            <pc:docMk/>
            <pc:sldMk cId="1214690420" sldId="572"/>
            <ac:spMk id="12" creationId="{00000000-0000-0000-0000-000000000000}"/>
          </ac:spMkLst>
        </pc:spChg>
        <pc:spChg chg="del">
          <ac:chgData name="Dincer Konur" userId="0cb337efb386619d" providerId="LiveId" clId="{63DEA58B-59AC-4DCA-BC7C-A3708ECAC2F4}" dt="2019-08-20T17:16:36.289" v="2247" actId="478"/>
          <ac:spMkLst>
            <pc:docMk/>
            <pc:sldMk cId="1214690420" sldId="572"/>
            <ac:spMk id="13" creationId="{00000000-0000-0000-0000-000000000000}"/>
          </ac:spMkLst>
        </pc:spChg>
        <pc:picChg chg="add mod">
          <ac:chgData name="Dincer Konur" userId="0cb337efb386619d" providerId="LiveId" clId="{63DEA58B-59AC-4DCA-BC7C-A3708ECAC2F4}" dt="2019-08-20T17:17:07.604" v="2250" actId="1076"/>
          <ac:picMkLst>
            <pc:docMk/>
            <pc:sldMk cId="1214690420" sldId="572"/>
            <ac:picMk id="4" creationId="{88E45282-1C05-4408-93AD-2B7C7461BD05}"/>
          </ac:picMkLst>
        </pc:picChg>
        <pc:picChg chg="del">
          <ac:chgData name="Dincer Konur" userId="0cb337efb386619d" providerId="LiveId" clId="{63DEA58B-59AC-4DCA-BC7C-A3708ECAC2F4}" dt="2019-08-20T17:16:30.026" v="2246" actId="478"/>
          <ac:picMkLst>
            <pc:docMk/>
            <pc:sldMk cId="1214690420" sldId="572"/>
            <ac:picMk id="8" creationId="{00000000-0000-0000-0000-000000000000}"/>
          </ac:picMkLst>
        </pc:picChg>
      </pc:sldChg>
      <pc:sldChg chg="addSp delSp modSp ord">
        <pc:chgData name="Dincer Konur" userId="0cb337efb386619d" providerId="LiveId" clId="{63DEA58B-59AC-4DCA-BC7C-A3708ECAC2F4}" dt="2019-08-20T17:20:49.392" v="2288" actId="1076"/>
        <pc:sldMkLst>
          <pc:docMk/>
          <pc:sldMk cId="1333276568" sldId="573"/>
        </pc:sldMkLst>
        <pc:spChg chg="mod">
          <ac:chgData name="Dincer Konur" userId="0cb337efb386619d" providerId="LiveId" clId="{63DEA58B-59AC-4DCA-BC7C-A3708ECAC2F4}" dt="2019-08-20T17:20:43.796" v="2287" actId="20577"/>
          <ac:spMkLst>
            <pc:docMk/>
            <pc:sldMk cId="1333276568" sldId="573"/>
            <ac:spMk id="3" creationId="{00000000-0000-0000-0000-000000000000}"/>
          </ac:spMkLst>
        </pc:spChg>
        <pc:picChg chg="add mod">
          <ac:chgData name="Dincer Konur" userId="0cb337efb386619d" providerId="LiveId" clId="{63DEA58B-59AC-4DCA-BC7C-A3708ECAC2F4}" dt="2019-08-20T17:20:49.392" v="2288" actId="1076"/>
          <ac:picMkLst>
            <pc:docMk/>
            <pc:sldMk cId="1333276568" sldId="573"/>
            <ac:picMk id="4" creationId="{5792EA9B-8776-442A-B0F9-DF45B4C91CA3}"/>
          </ac:picMkLst>
        </pc:picChg>
        <pc:picChg chg="del">
          <ac:chgData name="Dincer Konur" userId="0cb337efb386619d" providerId="LiveId" clId="{63DEA58B-59AC-4DCA-BC7C-A3708ECAC2F4}" dt="2019-08-20T17:19:56.476" v="2279" actId="478"/>
          <ac:picMkLst>
            <pc:docMk/>
            <pc:sldMk cId="1333276568" sldId="573"/>
            <ac:picMk id="5" creationId="{00000000-0000-0000-0000-000000000000}"/>
          </ac:picMkLst>
        </pc:picChg>
      </pc:sldChg>
      <pc:sldChg chg="delSp modSp add ord modAnim">
        <pc:chgData name="Dincer Konur" userId="0cb337efb386619d" providerId="LiveId" clId="{63DEA58B-59AC-4DCA-BC7C-A3708ECAC2F4}" dt="2019-08-02T00:00:10.229" v="2103"/>
        <pc:sldMkLst>
          <pc:docMk/>
          <pc:sldMk cId="1539528871" sldId="576"/>
        </pc:sldMkLst>
        <pc:spChg chg="mod">
          <ac:chgData name="Dincer Konur" userId="0cb337efb386619d" providerId="LiveId" clId="{63DEA58B-59AC-4DCA-BC7C-A3708ECAC2F4}" dt="2019-07-23T14:48:00.918" v="75" actId="20577"/>
          <ac:spMkLst>
            <pc:docMk/>
            <pc:sldMk cId="1539528871" sldId="576"/>
            <ac:spMk id="2" creationId="{00000000-0000-0000-0000-000000000000}"/>
          </ac:spMkLst>
        </pc:spChg>
        <pc:spChg chg="mod">
          <ac:chgData name="Dincer Konur" userId="0cb337efb386619d" providerId="LiveId" clId="{63DEA58B-59AC-4DCA-BC7C-A3708ECAC2F4}" dt="2019-07-23T14:53:07.058" v="614" actId="207"/>
          <ac:spMkLst>
            <pc:docMk/>
            <pc:sldMk cId="1539528871" sldId="576"/>
            <ac:spMk id="3" creationId="{00000000-0000-0000-0000-000000000000}"/>
          </ac:spMkLst>
        </pc:spChg>
        <pc:spChg chg="del">
          <ac:chgData name="Dincer Konur" userId="0cb337efb386619d" providerId="LiveId" clId="{63DEA58B-59AC-4DCA-BC7C-A3708ECAC2F4}" dt="2019-07-23T14:48:17.189" v="95" actId="478"/>
          <ac:spMkLst>
            <pc:docMk/>
            <pc:sldMk cId="1539528871" sldId="576"/>
            <ac:spMk id="6" creationId="{00000000-0000-0000-0000-000000000000}"/>
          </ac:spMkLst>
        </pc:spChg>
        <pc:spChg chg="del">
          <ac:chgData name="Dincer Konur" userId="0cb337efb386619d" providerId="LiveId" clId="{63DEA58B-59AC-4DCA-BC7C-A3708ECAC2F4}" dt="2019-07-23T14:48:17.189" v="95" actId="478"/>
          <ac:spMkLst>
            <pc:docMk/>
            <pc:sldMk cId="1539528871" sldId="576"/>
            <ac:spMk id="7" creationId="{00000000-0000-0000-0000-000000000000}"/>
          </ac:spMkLst>
        </pc:spChg>
        <pc:picChg chg="del">
          <ac:chgData name="Dincer Konur" userId="0cb337efb386619d" providerId="LiveId" clId="{63DEA58B-59AC-4DCA-BC7C-A3708ECAC2F4}" dt="2019-07-23T14:48:11.886" v="93" actId="478"/>
          <ac:picMkLst>
            <pc:docMk/>
            <pc:sldMk cId="1539528871" sldId="576"/>
            <ac:picMk id="4" creationId="{00000000-0000-0000-0000-000000000000}"/>
          </ac:picMkLst>
        </pc:picChg>
        <pc:picChg chg="del">
          <ac:chgData name="Dincer Konur" userId="0cb337efb386619d" providerId="LiveId" clId="{63DEA58B-59AC-4DCA-BC7C-A3708ECAC2F4}" dt="2019-07-23T14:48:13.854" v="94" actId="478"/>
          <ac:picMkLst>
            <pc:docMk/>
            <pc:sldMk cId="1539528871" sldId="576"/>
            <ac:picMk id="5" creationId="{00000000-0000-0000-0000-000000000000}"/>
          </ac:picMkLst>
        </pc:picChg>
      </pc:sldChg>
      <pc:sldChg chg="addSp delSp modSp add ord modAnim">
        <pc:chgData name="Dincer Konur" userId="0cb337efb386619d" providerId="LiveId" clId="{63DEA58B-59AC-4DCA-BC7C-A3708ECAC2F4}" dt="2019-08-02T00:16:18.876" v="2114"/>
        <pc:sldMkLst>
          <pc:docMk/>
          <pc:sldMk cId="3148870392" sldId="578"/>
        </pc:sldMkLst>
        <pc:spChg chg="mod">
          <ac:chgData name="Dincer Konur" userId="0cb337efb386619d" providerId="LiveId" clId="{63DEA58B-59AC-4DCA-BC7C-A3708ECAC2F4}" dt="2019-07-23T15:07:41.489" v="988" actId="14"/>
          <ac:spMkLst>
            <pc:docMk/>
            <pc:sldMk cId="3148870392" sldId="578"/>
            <ac:spMk id="3" creationId="{00000000-0000-0000-0000-000000000000}"/>
          </ac:spMkLst>
        </pc:spChg>
        <pc:spChg chg="add mod">
          <ac:chgData name="Dincer Konur" userId="0cb337efb386619d" providerId="LiveId" clId="{63DEA58B-59AC-4DCA-BC7C-A3708ECAC2F4}" dt="2019-07-23T15:27:53.244" v="1591" actId="1582"/>
          <ac:spMkLst>
            <pc:docMk/>
            <pc:sldMk cId="3148870392" sldId="578"/>
            <ac:spMk id="5" creationId="{AC6F9E4F-103A-4564-82ED-57EE2C0B88ED}"/>
          </ac:spMkLst>
        </pc:spChg>
        <pc:spChg chg="add mod">
          <ac:chgData name="Dincer Konur" userId="0cb337efb386619d" providerId="LiveId" clId="{63DEA58B-59AC-4DCA-BC7C-A3708ECAC2F4}" dt="2019-07-23T15:28:09.878" v="1598" actId="1076"/>
          <ac:spMkLst>
            <pc:docMk/>
            <pc:sldMk cId="3148870392" sldId="578"/>
            <ac:spMk id="8" creationId="{2B4D6135-5B08-4A7D-991E-82D76CC04E3D}"/>
          </ac:spMkLst>
        </pc:spChg>
        <pc:graphicFrameChg chg="mod">
          <ac:chgData name="Dincer Konur" userId="0cb337efb386619d" providerId="LiveId" clId="{63DEA58B-59AC-4DCA-BC7C-A3708ECAC2F4}" dt="2019-08-02T00:16:18.876" v="2114"/>
          <ac:graphicFrameMkLst>
            <pc:docMk/>
            <pc:sldMk cId="3148870392" sldId="578"/>
            <ac:graphicFrameMk id="7" creationId="{E09E0F04-F072-42BD-9235-E7169577C725}"/>
          </ac:graphicFrameMkLst>
        </pc:graphicFrameChg>
        <pc:picChg chg="del">
          <ac:chgData name="Dincer Konur" userId="0cb337efb386619d" providerId="LiveId" clId="{63DEA58B-59AC-4DCA-BC7C-A3708ECAC2F4}" dt="2019-07-23T15:11:40.672" v="1077" actId="478"/>
          <ac:picMkLst>
            <pc:docMk/>
            <pc:sldMk cId="3148870392" sldId="578"/>
            <ac:picMk id="4" creationId="{4B44FF92-49A1-4F54-A8CE-1BBEA9E94093}"/>
          </ac:picMkLst>
        </pc:picChg>
        <pc:picChg chg="add mod">
          <ac:chgData name="Dincer Konur" userId="0cb337efb386619d" providerId="LiveId" clId="{63DEA58B-59AC-4DCA-BC7C-A3708ECAC2F4}" dt="2019-07-23T15:11:51.498" v="1081" actId="1076"/>
          <ac:picMkLst>
            <pc:docMk/>
            <pc:sldMk cId="3148870392" sldId="578"/>
            <ac:picMk id="6" creationId="{7B8FD809-CA4F-4D44-886D-393CDAB39009}"/>
          </ac:picMkLst>
        </pc:picChg>
      </pc:sldChg>
      <pc:sldChg chg="addSp delSp modSp add ord delAnim modAnim">
        <pc:chgData name="Dincer Konur" userId="0cb337efb386619d" providerId="LiveId" clId="{63DEA58B-59AC-4DCA-BC7C-A3708ECAC2F4}" dt="2019-08-02T00:22:09.797" v="2170"/>
        <pc:sldMkLst>
          <pc:docMk/>
          <pc:sldMk cId="4077784373" sldId="579"/>
        </pc:sldMkLst>
        <pc:spChg chg="mod">
          <ac:chgData name="Dincer Konur" userId="0cb337efb386619d" providerId="LiveId" clId="{63DEA58B-59AC-4DCA-BC7C-A3708ECAC2F4}" dt="2019-08-02T00:21:33.450" v="2167" actId="20577"/>
          <ac:spMkLst>
            <pc:docMk/>
            <pc:sldMk cId="4077784373" sldId="579"/>
            <ac:spMk id="3" creationId="{00000000-0000-0000-0000-000000000000}"/>
          </ac:spMkLst>
        </pc:spChg>
        <pc:graphicFrameChg chg="add del mod">
          <ac:chgData name="Dincer Konur" userId="0cb337efb386619d" providerId="LiveId" clId="{63DEA58B-59AC-4DCA-BC7C-A3708ECAC2F4}" dt="2019-08-02T00:10:01.565" v="2106" actId="478"/>
          <ac:graphicFrameMkLst>
            <pc:docMk/>
            <pc:sldMk cId="4077784373" sldId="579"/>
            <ac:graphicFrameMk id="5" creationId="{EC4C67F8-0B91-4480-96F0-17487FB7CD86}"/>
          </ac:graphicFrameMkLst>
        </pc:graphicFrameChg>
        <pc:graphicFrameChg chg="add del mod">
          <ac:chgData name="Dincer Konur" userId="0cb337efb386619d" providerId="LiveId" clId="{63DEA58B-59AC-4DCA-BC7C-A3708ECAC2F4}" dt="2019-08-02T00:16:36.292" v="2115" actId="478"/>
          <ac:graphicFrameMkLst>
            <pc:docMk/>
            <pc:sldMk cId="4077784373" sldId="579"/>
            <ac:graphicFrameMk id="6" creationId="{C854B77C-89C2-429D-A3E5-6DD4586DC728}"/>
          </ac:graphicFrameMkLst>
        </pc:graphicFrameChg>
        <pc:graphicFrameChg chg="add mod">
          <ac:chgData name="Dincer Konur" userId="0cb337efb386619d" providerId="LiveId" clId="{63DEA58B-59AC-4DCA-BC7C-A3708ECAC2F4}" dt="2019-08-02T00:16:48.838" v="2119" actId="1076"/>
          <ac:graphicFrameMkLst>
            <pc:docMk/>
            <pc:sldMk cId="4077784373" sldId="579"/>
            <ac:graphicFrameMk id="7" creationId="{81836B20-4F2A-4C5E-A658-B6785CAC6517}"/>
          </ac:graphicFrameMkLst>
        </pc:graphicFrameChg>
        <pc:picChg chg="add mod">
          <ac:chgData name="Dincer Konur" userId="0cb337efb386619d" providerId="LiveId" clId="{63DEA58B-59AC-4DCA-BC7C-A3708ECAC2F4}" dt="2019-07-23T15:17:57.834" v="1562" actId="1076"/>
          <ac:picMkLst>
            <pc:docMk/>
            <pc:sldMk cId="4077784373" sldId="579"/>
            <ac:picMk id="4" creationId="{4E57CF0A-26D2-4233-9A21-64385E143269}"/>
          </ac:picMkLst>
        </pc:picChg>
      </pc:sldChg>
      <pc:sldChg chg="addSp delSp modSp add ord modAnim">
        <pc:chgData name="Dincer Konur" userId="0cb337efb386619d" providerId="LiveId" clId="{63DEA58B-59AC-4DCA-BC7C-A3708ECAC2F4}" dt="2019-07-25T00:16:11.500" v="2089"/>
        <pc:sldMkLst>
          <pc:docMk/>
          <pc:sldMk cId="2659313045" sldId="580"/>
        </pc:sldMkLst>
        <pc:spChg chg="mod">
          <ac:chgData name="Dincer Konur" userId="0cb337efb386619d" providerId="LiveId" clId="{63DEA58B-59AC-4DCA-BC7C-A3708ECAC2F4}" dt="2019-07-23T15:30:02.029" v="1659" actId="20577"/>
          <ac:spMkLst>
            <pc:docMk/>
            <pc:sldMk cId="2659313045" sldId="580"/>
            <ac:spMk id="3" creationId="{00000000-0000-0000-0000-000000000000}"/>
          </ac:spMkLst>
        </pc:spChg>
        <pc:spChg chg="add mod">
          <ac:chgData name="Dincer Konur" userId="0cb337efb386619d" providerId="LiveId" clId="{63DEA58B-59AC-4DCA-BC7C-A3708ECAC2F4}" dt="2019-07-23T15:32:51.518" v="1741" actId="1076"/>
          <ac:spMkLst>
            <pc:docMk/>
            <pc:sldMk cId="2659313045" sldId="580"/>
            <ac:spMk id="4" creationId="{CF6A4D5D-586C-4532-B7CC-E038B0C65AF0}"/>
          </ac:spMkLst>
        </pc:spChg>
        <pc:spChg chg="add mod">
          <ac:chgData name="Dincer Konur" userId="0cb337efb386619d" providerId="LiveId" clId="{63DEA58B-59AC-4DCA-BC7C-A3708ECAC2F4}" dt="2019-07-23T15:32:49.092" v="1740" actId="1076"/>
          <ac:spMkLst>
            <pc:docMk/>
            <pc:sldMk cId="2659313045" sldId="580"/>
            <ac:spMk id="5" creationId="{2915F77A-E6ED-4A8E-80DF-0C2E7E719BA9}"/>
          </ac:spMkLst>
        </pc:spChg>
        <pc:spChg chg="add mod">
          <ac:chgData name="Dincer Konur" userId="0cb337efb386619d" providerId="LiveId" clId="{63DEA58B-59AC-4DCA-BC7C-A3708ECAC2F4}" dt="2019-07-23T15:32:44.852" v="1739" actId="207"/>
          <ac:spMkLst>
            <pc:docMk/>
            <pc:sldMk cId="2659313045" sldId="580"/>
            <ac:spMk id="6" creationId="{02C43D0B-A0AC-487D-B00D-2C99D5CB4958}"/>
          </ac:spMkLst>
        </pc:spChg>
        <pc:spChg chg="add del mod">
          <ac:chgData name="Dincer Konur" userId="0cb337efb386619d" providerId="LiveId" clId="{63DEA58B-59AC-4DCA-BC7C-A3708ECAC2F4}" dt="2019-07-23T15:36:05.986" v="1841" actId="478"/>
          <ac:spMkLst>
            <pc:docMk/>
            <pc:sldMk cId="2659313045" sldId="580"/>
            <ac:spMk id="7" creationId="{A0555A32-4903-4F1C-95FB-E4A659B41F2F}"/>
          </ac:spMkLst>
        </pc:spChg>
        <pc:picChg chg="add mod">
          <ac:chgData name="Dincer Konur" userId="0cb337efb386619d" providerId="LiveId" clId="{63DEA58B-59AC-4DCA-BC7C-A3708ECAC2F4}" dt="2019-07-23T15:36:21.589" v="1846" actId="14100"/>
          <ac:picMkLst>
            <pc:docMk/>
            <pc:sldMk cId="2659313045" sldId="580"/>
            <ac:picMk id="8" creationId="{A53394C5-6F78-4E61-85DA-4D782FF43216}"/>
          </ac:picMkLst>
        </pc:picChg>
      </pc:sldChg>
      <pc:sldChg chg="delSp modSp add">
        <pc:chgData name="Dincer Konur" userId="0cb337efb386619d" providerId="LiveId" clId="{63DEA58B-59AC-4DCA-BC7C-A3708ECAC2F4}" dt="2019-07-23T15:42:30.280" v="1956" actId="20577"/>
        <pc:sldMkLst>
          <pc:docMk/>
          <pc:sldMk cId="3336869198" sldId="581"/>
        </pc:sldMkLst>
        <pc:spChg chg="mod">
          <ac:chgData name="Dincer Konur" userId="0cb337efb386619d" providerId="LiveId" clId="{63DEA58B-59AC-4DCA-BC7C-A3708ECAC2F4}" dt="2019-07-23T15:42:30.280" v="1956" actId="20577"/>
          <ac:spMkLst>
            <pc:docMk/>
            <pc:sldMk cId="3336869198" sldId="581"/>
            <ac:spMk id="2" creationId="{00000000-0000-0000-0000-000000000000}"/>
          </ac:spMkLst>
        </pc:spChg>
        <pc:spChg chg="mod">
          <ac:chgData name="Dincer Konur" userId="0cb337efb386619d" providerId="LiveId" clId="{63DEA58B-59AC-4DCA-BC7C-A3708ECAC2F4}" dt="2019-07-23T15:42:12.994" v="1935" actId="20577"/>
          <ac:spMkLst>
            <pc:docMk/>
            <pc:sldMk cId="3336869198" sldId="581"/>
            <ac:spMk id="3" creationId="{00000000-0000-0000-0000-000000000000}"/>
          </ac:spMkLst>
        </pc:spChg>
        <pc:spChg chg="del">
          <ac:chgData name="Dincer Konur" userId="0cb337efb386619d" providerId="LiveId" clId="{63DEA58B-59AC-4DCA-BC7C-A3708ECAC2F4}" dt="2019-07-23T15:42:14.223" v="1936" actId="478"/>
          <ac:spMkLst>
            <pc:docMk/>
            <pc:sldMk cId="3336869198" sldId="581"/>
            <ac:spMk id="6" creationId="{00000000-0000-0000-0000-000000000000}"/>
          </ac:spMkLst>
        </pc:spChg>
        <pc:spChg chg="del">
          <ac:chgData name="Dincer Konur" userId="0cb337efb386619d" providerId="LiveId" clId="{63DEA58B-59AC-4DCA-BC7C-A3708ECAC2F4}" dt="2019-07-23T15:42:14.872" v="1937" actId="478"/>
          <ac:spMkLst>
            <pc:docMk/>
            <pc:sldMk cId="3336869198" sldId="581"/>
            <ac:spMk id="8" creationId="{00000000-0000-0000-0000-000000000000}"/>
          </ac:spMkLst>
        </pc:spChg>
        <pc:spChg chg="del">
          <ac:chgData name="Dincer Konur" userId="0cb337efb386619d" providerId="LiveId" clId="{63DEA58B-59AC-4DCA-BC7C-A3708ECAC2F4}" dt="2019-07-23T15:42:16.591" v="1939" actId="478"/>
          <ac:spMkLst>
            <pc:docMk/>
            <pc:sldMk cId="3336869198" sldId="581"/>
            <ac:spMk id="9" creationId="{00000000-0000-0000-0000-000000000000}"/>
          </ac:spMkLst>
        </pc:spChg>
        <pc:spChg chg="del">
          <ac:chgData name="Dincer Konur" userId="0cb337efb386619d" providerId="LiveId" clId="{63DEA58B-59AC-4DCA-BC7C-A3708ECAC2F4}" dt="2019-07-23T15:42:15.490" v="1938" actId="478"/>
          <ac:spMkLst>
            <pc:docMk/>
            <pc:sldMk cId="3336869198" sldId="581"/>
            <ac:spMk id="10" creationId="{00000000-0000-0000-0000-000000000000}"/>
          </ac:spMkLst>
        </pc:spChg>
      </pc:sldChg>
      <pc:sldChg chg="delSp modSp add">
        <pc:chgData name="Dincer Konur" userId="0cb337efb386619d" providerId="LiveId" clId="{63DEA58B-59AC-4DCA-BC7C-A3708ECAC2F4}" dt="2019-07-23T15:44:28.266" v="1977" actId="207"/>
        <pc:sldMkLst>
          <pc:docMk/>
          <pc:sldMk cId="2499891535" sldId="582"/>
        </pc:sldMkLst>
        <pc:spChg chg="mod">
          <ac:chgData name="Dincer Konur" userId="0cb337efb386619d" providerId="LiveId" clId="{63DEA58B-59AC-4DCA-BC7C-A3708ECAC2F4}" dt="2019-07-23T15:42:47.927" v="1964" actId="20577"/>
          <ac:spMkLst>
            <pc:docMk/>
            <pc:sldMk cId="2499891535" sldId="582"/>
            <ac:spMk id="2" creationId="{00000000-0000-0000-0000-000000000000}"/>
          </ac:spMkLst>
        </pc:spChg>
        <pc:spChg chg="mod">
          <ac:chgData name="Dincer Konur" userId="0cb337efb386619d" providerId="LiveId" clId="{63DEA58B-59AC-4DCA-BC7C-A3708ECAC2F4}" dt="2019-07-23T15:44:28.266" v="1977" actId="207"/>
          <ac:spMkLst>
            <pc:docMk/>
            <pc:sldMk cId="2499891535" sldId="582"/>
            <ac:spMk id="3" creationId="{00000000-0000-0000-0000-000000000000}"/>
          </ac:spMkLst>
        </pc:spChg>
        <pc:spChg chg="del">
          <ac:chgData name="Dincer Konur" userId="0cb337efb386619d" providerId="LiveId" clId="{63DEA58B-59AC-4DCA-BC7C-A3708ECAC2F4}" dt="2019-07-23T15:42:52.322" v="1965" actId="478"/>
          <ac:spMkLst>
            <pc:docMk/>
            <pc:sldMk cId="2499891535" sldId="582"/>
            <ac:spMk id="5" creationId="{00000000-0000-0000-0000-000000000000}"/>
          </ac:spMkLst>
        </pc:spChg>
        <pc:spChg chg="del">
          <ac:chgData name="Dincer Konur" userId="0cb337efb386619d" providerId="LiveId" clId="{63DEA58B-59AC-4DCA-BC7C-A3708ECAC2F4}" dt="2019-07-23T15:42:53.280" v="1966" actId="478"/>
          <ac:spMkLst>
            <pc:docMk/>
            <pc:sldMk cId="2499891535" sldId="582"/>
            <ac:spMk id="7" creationId="{00000000-0000-0000-0000-000000000000}"/>
          </ac:spMkLst>
        </pc:spChg>
      </pc:sldChg>
      <pc:sldChg chg="modSp add">
        <pc:chgData name="Dincer Konur" userId="0cb337efb386619d" providerId="LiveId" clId="{63DEA58B-59AC-4DCA-BC7C-A3708ECAC2F4}" dt="2019-07-23T15:44:43.210" v="1981" actId="207"/>
        <pc:sldMkLst>
          <pc:docMk/>
          <pc:sldMk cId="892302427" sldId="583"/>
        </pc:sldMkLst>
        <pc:spChg chg="mod">
          <ac:chgData name="Dincer Konur" userId="0cb337efb386619d" providerId="LiveId" clId="{63DEA58B-59AC-4DCA-BC7C-A3708ECAC2F4}" dt="2019-07-23T15:44:36.691" v="1979" actId="20577"/>
          <ac:spMkLst>
            <pc:docMk/>
            <pc:sldMk cId="892302427" sldId="583"/>
            <ac:spMk id="2" creationId="{00000000-0000-0000-0000-000000000000}"/>
          </ac:spMkLst>
        </pc:spChg>
        <pc:spChg chg="mod">
          <ac:chgData name="Dincer Konur" userId="0cb337efb386619d" providerId="LiveId" clId="{63DEA58B-59AC-4DCA-BC7C-A3708ECAC2F4}" dt="2019-07-23T15:44:43.210" v="1981" actId="207"/>
          <ac:spMkLst>
            <pc:docMk/>
            <pc:sldMk cId="892302427" sldId="583"/>
            <ac:spMk id="3" creationId="{00000000-0000-0000-0000-000000000000}"/>
          </ac:spMkLst>
        </pc:spChg>
      </pc:sldChg>
      <pc:sldChg chg="modSp add">
        <pc:chgData name="Dincer Konur" userId="0cb337efb386619d" providerId="LiveId" clId="{63DEA58B-59AC-4DCA-BC7C-A3708ECAC2F4}" dt="2019-07-23T15:44:57.574" v="1985" actId="20577"/>
        <pc:sldMkLst>
          <pc:docMk/>
          <pc:sldMk cId="3501625755" sldId="584"/>
        </pc:sldMkLst>
        <pc:spChg chg="mod">
          <ac:chgData name="Dincer Konur" userId="0cb337efb386619d" providerId="LiveId" clId="{63DEA58B-59AC-4DCA-BC7C-A3708ECAC2F4}" dt="2019-07-23T15:44:57.574" v="1985" actId="20577"/>
          <ac:spMkLst>
            <pc:docMk/>
            <pc:sldMk cId="3501625755" sldId="584"/>
            <ac:spMk id="2" creationId="{00000000-0000-0000-0000-000000000000}"/>
          </ac:spMkLst>
        </pc:spChg>
        <pc:spChg chg="mod">
          <ac:chgData name="Dincer Konur" userId="0cb337efb386619d" providerId="LiveId" clId="{63DEA58B-59AC-4DCA-BC7C-A3708ECAC2F4}" dt="2019-07-23T15:44:55.022" v="1983" actId="207"/>
          <ac:spMkLst>
            <pc:docMk/>
            <pc:sldMk cId="3501625755" sldId="584"/>
            <ac:spMk id="3" creationId="{00000000-0000-0000-0000-000000000000}"/>
          </ac:spMkLst>
        </pc:spChg>
      </pc:sldChg>
      <pc:sldChg chg="modSp add">
        <pc:chgData name="Dincer Konur" userId="0cb337efb386619d" providerId="LiveId" clId="{63DEA58B-59AC-4DCA-BC7C-A3708ECAC2F4}" dt="2019-07-23T15:45:16.369" v="1989" actId="207"/>
        <pc:sldMkLst>
          <pc:docMk/>
          <pc:sldMk cId="1173368707" sldId="585"/>
        </pc:sldMkLst>
        <pc:spChg chg="mod">
          <ac:chgData name="Dincer Konur" userId="0cb337efb386619d" providerId="LiveId" clId="{63DEA58B-59AC-4DCA-BC7C-A3708ECAC2F4}" dt="2019-07-23T15:45:12.772" v="1988" actId="20577"/>
          <ac:spMkLst>
            <pc:docMk/>
            <pc:sldMk cId="1173368707" sldId="585"/>
            <ac:spMk id="2" creationId="{00000000-0000-0000-0000-000000000000}"/>
          </ac:spMkLst>
        </pc:spChg>
        <pc:spChg chg="mod">
          <ac:chgData name="Dincer Konur" userId="0cb337efb386619d" providerId="LiveId" clId="{63DEA58B-59AC-4DCA-BC7C-A3708ECAC2F4}" dt="2019-07-23T15:45:16.369" v="1989" actId="207"/>
          <ac:spMkLst>
            <pc:docMk/>
            <pc:sldMk cId="1173368707" sldId="585"/>
            <ac:spMk id="3" creationId="{00000000-0000-0000-0000-000000000000}"/>
          </ac:spMkLst>
        </pc:spChg>
      </pc:sldChg>
      <pc:sldChg chg="modSp add">
        <pc:chgData name="Dincer Konur" userId="0cb337efb386619d" providerId="LiveId" clId="{63DEA58B-59AC-4DCA-BC7C-A3708ECAC2F4}" dt="2019-07-23T15:45:25.275" v="1992" actId="20577"/>
        <pc:sldMkLst>
          <pc:docMk/>
          <pc:sldMk cId="386889977" sldId="586"/>
        </pc:sldMkLst>
        <pc:spChg chg="mod">
          <ac:chgData name="Dincer Konur" userId="0cb337efb386619d" providerId="LiveId" clId="{63DEA58B-59AC-4DCA-BC7C-A3708ECAC2F4}" dt="2019-07-23T15:45:25.275" v="1992" actId="20577"/>
          <ac:spMkLst>
            <pc:docMk/>
            <pc:sldMk cId="386889977" sldId="586"/>
            <ac:spMk id="2" creationId="{00000000-0000-0000-0000-000000000000}"/>
          </ac:spMkLst>
        </pc:spChg>
        <pc:spChg chg="mod">
          <ac:chgData name="Dincer Konur" userId="0cb337efb386619d" providerId="LiveId" clId="{63DEA58B-59AC-4DCA-BC7C-A3708ECAC2F4}" dt="2019-07-23T15:45:23.030" v="1990" actId="207"/>
          <ac:spMkLst>
            <pc:docMk/>
            <pc:sldMk cId="386889977" sldId="586"/>
            <ac:spMk id="3" creationId="{00000000-0000-0000-0000-000000000000}"/>
          </ac:spMkLst>
        </pc:spChg>
      </pc:sldChg>
      <pc:sldChg chg="delSp modSp add">
        <pc:chgData name="Dincer Konur" userId="0cb337efb386619d" providerId="LiveId" clId="{63DEA58B-59AC-4DCA-BC7C-A3708ECAC2F4}" dt="2019-07-23T15:46:44.501" v="2028" actId="20577"/>
        <pc:sldMkLst>
          <pc:docMk/>
          <pc:sldMk cId="273307624" sldId="587"/>
        </pc:sldMkLst>
        <pc:spChg chg="mod">
          <ac:chgData name="Dincer Konur" userId="0cb337efb386619d" providerId="LiveId" clId="{63DEA58B-59AC-4DCA-BC7C-A3708ECAC2F4}" dt="2019-07-23T15:46:14.140" v="2007" actId="20577"/>
          <ac:spMkLst>
            <pc:docMk/>
            <pc:sldMk cId="273307624" sldId="587"/>
            <ac:spMk id="2" creationId="{00000000-0000-0000-0000-000000000000}"/>
          </ac:spMkLst>
        </pc:spChg>
        <pc:spChg chg="mod">
          <ac:chgData name="Dincer Konur" userId="0cb337efb386619d" providerId="LiveId" clId="{63DEA58B-59AC-4DCA-BC7C-A3708ECAC2F4}" dt="2019-07-23T15:46:44.501" v="2028" actId="20577"/>
          <ac:spMkLst>
            <pc:docMk/>
            <pc:sldMk cId="273307624" sldId="587"/>
            <ac:spMk id="3" creationId="{00000000-0000-0000-0000-000000000000}"/>
          </ac:spMkLst>
        </pc:spChg>
        <pc:spChg chg="del">
          <ac:chgData name="Dincer Konur" userId="0cb337efb386619d" providerId="LiveId" clId="{63DEA58B-59AC-4DCA-BC7C-A3708ECAC2F4}" dt="2019-07-23T15:46:18.669" v="2008" actId="478"/>
          <ac:spMkLst>
            <pc:docMk/>
            <pc:sldMk cId="273307624" sldId="587"/>
            <ac:spMk id="5" creationId="{00000000-0000-0000-0000-000000000000}"/>
          </ac:spMkLst>
        </pc:spChg>
        <pc:spChg chg="del">
          <ac:chgData name="Dincer Konur" userId="0cb337efb386619d" providerId="LiveId" clId="{63DEA58B-59AC-4DCA-BC7C-A3708ECAC2F4}" dt="2019-07-23T15:46:20.033" v="2009" actId="478"/>
          <ac:spMkLst>
            <pc:docMk/>
            <pc:sldMk cId="273307624" sldId="587"/>
            <ac:spMk id="7" creationId="{00000000-0000-0000-0000-000000000000}"/>
          </ac:spMkLst>
        </pc:spChg>
        <pc:spChg chg="del">
          <ac:chgData name="Dincer Konur" userId="0cb337efb386619d" providerId="LiveId" clId="{63DEA58B-59AC-4DCA-BC7C-A3708ECAC2F4}" dt="2019-07-23T15:46:42.091" v="2027" actId="478"/>
          <ac:spMkLst>
            <pc:docMk/>
            <pc:sldMk cId="273307624" sldId="587"/>
            <ac:spMk id="9" creationId="{00000000-0000-0000-0000-000000000000}"/>
          </ac:spMkLst>
        </pc:spChg>
        <pc:spChg chg="del">
          <ac:chgData name="Dincer Konur" userId="0cb337efb386619d" providerId="LiveId" clId="{63DEA58B-59AC-4DCA-BC7C-A3708ECAC2F4}" dt="2019-07-23T15:46:39.562" v="2026" actId="478"/>
          <ac:spMkLst>
            <pc:docMk/>
            <pc:sldMk cId="273307624" sldId="587"/>
            <ac:spMk id="10" creationId="{00000000-0000-0000-0000-000000000000}"/>
          </ac:spMkLst>
        </pc:spChg>
      </pc:sldChg>
      <pc:sldChg chg="delSp modSp add">
        <pc:chgData name="Dincer Konur" userId="0cb337efb386619d" providerId="LiveId" clId="{63DEA58B-59AC-4DCA-BC7C-A3708ECAC2F4}" dt="2019-07-23T15:47:36.523" v="2033" actId="207"/>
        <pc:sldMkLst>
          <pc:docMk/>
          <pc:sldMk cId="1312505146" sldId="588"/>
        </pc:sldMkLst>
        <pc:spChg chg="mod">
          <ac:chgData name="Dincer Konur" userId="0cb337efb386619d" providerId="LiveId" clId="{63DEA58B-59AC-4DCA-BC7C-A3708ECAC2F4}" dt="2019-07-23T15:47:36.523" v="2033" actId="207"/>
          <ac:spMkLst>
            <pc:docMk/>
            <pc:sldMk cId="1312505146" sldId="588"/>
            <ac:spMk id="3" creationId="{00000000-0000-0000-0000-000000000000}"/>
          </ac:spMkLst>
        </pc:spChg>
        <pc:spChg chg="del">
          <ac:chgData name="Dincer Konur" userId="0cb337efb386619d" providerId="LiveId" clId="{63DEA58B-59AC-4DCA-BC7C-A3708ECAC2F4}" dt="2019-07-23T15:47:32.196" v="2031" actId="478"/>
          <ac:spMkLst>
            <pc:docMk/>
            <pc:sldMk cId="1312505146" sldId="588"/>
            <ac:spMk id="6" creationId="{00000000-0000-0000-0000-000000000000}"/>
          </ac:spMkLst>
        </pc:spChg>
        <pc:spChg chg="del">
          <ac:chgData name="Dincer Konur" userId="0cb337efb386619d" providerId="LiveId" clId="{63DEA58B-59AC-4DCA-BC7C-A3708ECAC2F4}" dt="2019-07-23T15:47:33.289" v="2032" actId="478"/>
          <ac:spMkLst>
            <pc:docMk/>
            <pc:sldMk cId="1312505146" sldId="588"/>
            <ac:spMk id="8" creationId="{00000000-0000-0000-0000-000000000000}"/>
          </ac:spMkLst>
        </pc:spChg>
      </pc:sldChg>
      <pc:sldChg chg="modSp add">
        <pc:chgData name="Dincer Konur" userId="0cb337efb386619d" providerId="LiveId" clId="{63DEA58B-59AC-4DCA-BC7C-A3708ECAC2F4}" dt="2019-07-23T15:47:54.886" v="2036" actId="207"/>
        <pc:sldMkLst>
          <pc:docMk/>
          <pc:sldMk cId="3024166854" sldId="589"/>
        </pc:sldMkLst>
        <pc:spChg chg="mod">
          <ac:chgData name="Dincer Konur" userId="0cb337efb386619d" providerId="LiveId" clId="{63DEA58B-59AC-4DCA-BC7C-A3708ECAC2F4}" dt="2019-07-23T15:47:54.886" v="2036" actId="207"/>
          <ac:spMkLst>
            <pc:docMk/>
            <pc:sldMk cId="3024166854" sldId="589"/>
            <ac:spMk id="3" creationId="{00000000-0000-0000-0000-000000000000}"/>
          </ac:spMkLst>
        </pc:spChg>
      </pc:sldChg>
      <pc:sldChg chg="delSp modSp add">
        <pc:chgData name="Dincer Konur" userId="0cb337efb386619d" providerId="LiveId" clId="{63DEA58B-59AC-4DCA-BC7C-A3708ECAC2F4}" dt="2019-07-23T15:49:08.552" v="2073" actId="20577"/>
        <pc:sldMkLst>
          <pc:docMk/>
          <pc:sldMk cId="1747637436" sldId="590"/>
        </pc:sldMkLst>
        <pc:spChg chg="mod">
          <ac:chgData name="Dincer Konur" userId="0cb337efb386619d" providerId="LiveId" clId="{63DEA58B-59AC-4DCA-BC7C-A3708ECAC2F4}" dt="2019-07-23T15:49:08.552" v="2073" actId="20577"/>
          <ac:spMkLst>
            <pc:docMk/>
            <pc:sldMk cId="1747637436" sldId="590"/>
            <ac:spMk id="2" creationId="{00000000-0000-0000-0000-000000000000}"/>
          </ac:spMkLst>
        </pc:spChg>
        <pc:spChg chg="mod">
          <ac:chgData name="Dincer Konur" userId="0cb337efb386619d" providerId="LiveId" clId="{63DEA58B-59AC-4DCA-BC7C-A3708ECAC2F4}" dt="2019-07-23T15:48:48.524" v="2058" actId="15"/>
          <ac:spMkLst>
            <pc:docMk/>
            <pc:sldMk cId="1747637436" sldId="590"/>
            <ac:spMk id="3" creationId="{00000000-0000-0000-0000-000000000000}"/>
          </ac:spMkLst>
        </pc:spChg>
        <pc:spChg chg="del">
          <ac:chgData name="Dincer Konur" userId="0cb337efb386619d" providerId="LiveId" clId="{63DEA58B-59AC-4DCA-BC7C-A3708ECAC2F4}" dt="2019-07-23T15:48:37.806" v="2041" actId="478"/>
          <ac:spMkLst>
            <pc:docMk/>
            <pc:sldMk cId="1747637436" sldId="590"/>
            <ac:spMk id="5" creationId="{00000000-0000-0000-0000-000000000000}"/>
          </ac:spMkLst>
        </pc:spChg>
        <pc:spChg chg="del">
          <ac:chgData name="Dincer Konur" userId="0cb337efb386619d" providerId="LiveId" clId="{63DEA58B-59AC-4DCA-BC7C-A3708ECAC2F4}" dt="2019-07-23T15:48:36.368" v="2040" actId="478"/>
          <ac:spMkLst>
            <pc:docMk/>
            <pc:sldMk cId="1747637436" sldId="590"/>
            <ac:spMk id="6" creationId="{00000000-0000-0000-0000-000000000000}"/>
          </ac:spMkLst>
        </pc:spChg>
        <pc:spChg chg="del">
          <ac:chgData name="Dincer Konur" userId="0cb337efb386619d" providerId="LiveId" clId="{63DEA58B-59AC-4DCA-BC7C-A3708ECAC2F4}" dt="2019-07-23T15:48:38.665" v="2042" actId="478"/>
          <ac:spMkLst>
            <pc:docMk/>
            <pc:sldMk cId="1747637436" sldId="590"/>
            <ac:spMk id="7" creationId="{00000000-0000-0000-0000-000000000000}"/>
          </ac:spMkLst>
        </pc:spChg>
        <pc:spChg chg="del">
          <ac:chgData name="Dincer Konur" userId="0cb337efb386619d" providerId="LiveId" clId="{63DEA58B-59AC-4DCA-BC7C-A3708ECAC2F4}" dt="2019-07-23T15:48:35.416" v="2039" actId="478"/>
          <ac:spMkLst>
            <pc:docMk/>
            <pc:sldMk cId="1747637436" sldId="590"/>
            <ac:spMk id="8" creationId="{00000000-0000-0000-0000-000000000000}"/>
          </ac:spMkLst>
        </pc:spChg>
      </pc:sldChg>
      <pc:sldChg chg="add">
        <pc:chgData name="Dincer Konur" userId="0cb337efb386619d" providerId="LiveId" clId="{63DEA58B-59AC-4DCA-BC7C-A3708ECAC2F4}" dt="2019-08-20T17:08:03.196" v="2173"/>
        <pc:sldMkLst>
          <pc:docMk/>
          <pc:sldMk cId="3990748391" sldId="591"/>
        </pc:sldMkLst>
      </pc:sldChg>
      <pc:sldChg chg="add">
        <pc:chgData name="Dincer Konur" userId="0cb337efb386619d" providerId="LiveId" clId="{63DEA58B-59AC-4DCA-BC7C-A3708ECAC2F4}" dt="2019-08-20T17:08:03.196" v="2173"/>
        <pc:sldMkLst>
          <pc:docMk/>
          <pc:sldMk cId="1660348585" sldId="592"/>
        </pc:sldMkLst>
      </pc:sldChg>
      <pc:sldChg chg="add">
        <pc:chgData name="Dincer Konur" userId="0cb337efb386619d" providerId="LiveId" clId="{63DEA58B-59AC-4DCA-BC7C-A3708ECAC2F4}" dt="2019-08-20T17:08:03.196" v="2173"/>
        <pc:sldMkLst>
          <pc:docMk/>
          <pc:sldMk cId="2487911727" sldId="593"/>
        </pc:sldMkLst>
      </pc:sldChg>
      <pc:sldChg chg="add del">
        <pc:chgData name="Dincer Konur" userId="0cb337efb386619d" providerId="LiveId" clId="{63DEA58B-59AC-4DCA-BC7C-A3708ECAC2F4}" dt="2019-08-20T17:16:14.444" v="2245" actId="2696"/>
        <pc:sldMkLst>
          <pc:docMk/>
          <pc:sldMk cId="40388850" sldId="5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9/30/24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4214840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2650334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4188747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3636257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8</a:t>
            </a:fld>
            <a:endParaRPr lang="en-US"/>
          </a:p>
        </p:txBody>
      </p:sp>
    </p:spTree>
    <p:extLst>
      <p:ext uri="{BB962C8B-B14F-4D97-AF65-F5344CB8AC3E}">
        <p14:creationId xmlns:p14="http://schemas.microsoft.com/office/powerpoint/2010/main" val="358655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9</a:t>
            </a:fld>
            <a:endParaRPr lang="en-US"/>
          </a:p>
        </p:txBody>
      </p:sp>
    </p:spTree>
    <p:extLst>
      <p:ext uri="{BB962C8B-B14F-4D97-AF65-F5344CB8AC3E}">
        <p14:creationId xmlns:p14="http://schemas.microsoft.com/office/powerpoint/2010/main" val="2327863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1657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4380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0533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8603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506738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16</a:t>
            </a:fld>
            <a:endParaRPr lang="en-US"/>
          </a:p>
        </p:txBody>
      </p:sp>
    </p:spTree>
    <p:extLst>
      <p:ext uri="{BB962C8B-B14F-4D97-AF65-F5344CB8AC3E}">
        <p14:creationId xmlns:p14="http://schemas.microsoft.com/office/powerpoint/2010/main" val="1360762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3766113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19</a:t>
            </a:fld>
            <a:endParaRPr lang="en-US"/>
          </a:p>
        </p:txBody>
      </p:sp>
    </p:spTree>
    <p:extLst>
      <p:ext uri="{BB962C8B-B14F-4D97-AF65-F5344CB8AC3E}">
        <p14:creationId xmlns:p14="http://schemas.microsoft.com/office/powerpoint/2010/main" val="84124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20</a:t>
            </a:fld>
            <a:endParaRPr lang="en-US"/>
          </a:p>
        </p:txBody>
      </p:sp>
    </p:spTree>
    <p:extLst>
      <p:ext uri="{BB962C8B-B14F-4D97-AF65-F5344CB8AC3E}">
        <p14:creationId xmlns:p14="http://schemas.microsoft.com/office/powerpoint/2010/main" val="306939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2887773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1652334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90996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6734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98269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3689295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1044222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3458239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595769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31</a:t>
            </a:fld>
            <a:endParaRPr lang="en-US"/>
          </a:p>
        </p:txBody>
      </p:sp>
    </p:spTree>
    <p:extLst>
      <p:ext uri="{BB962C8B-B14F-4D97-AF65-F5344CB8AC3E}">
        <p14:creationId xmlns:p14="http://schemas.microsoft.com/office/powerpoint/2010/main" val="1463855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32</a:t>
            </a:fld>
            <a:endParaRPr lang="en-US"/>
          </a:p>
        </p:txBody>
      </p:sp>
    </p:spTree>
    <p:extLst>
      <p:ext uri="{BB962C8B-B14F-4D97-AF65-F5344CB8AC3E}">
        <p14:creationId xmlns:p14="http://schemas.microsoft.com/office/powerpoint/2010/main" val="27941136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33</a:t>
            </a:fld>
            <a:endParaRPr lang="en-US"/>
          </a:p>
        </p:txBody>
      </p:sp>
    </p:spTree>
    <p:extLst>
      <p:ext uri="{BB962C8B-B14F-4D97-AF65-F5344CB8AC3E}">
        <p14:creationId xmlns:p14="http://schemas.microsoft.com/office/powerpoint/2010/main" val="35926141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34</a:t>
            </a:fld>
            <a:endParaRPr lang="en-US"/>
          </a:p>
        </p:txBody>
      </p:sp>
    </p:spTree>
    <p:extLst>
      <p:ext uri="{BB962C8B-B14F-4D97-AF65-F5344CB8AC3E}">
        <p14:creationId xmlns:p14="http://schemas.microsoft.com/office/powerpoint/2010/main" val="3035749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35</a:t>
            </a:fld>
            <a:endParaRPr lang="en-US"/>
          </a:p>
        </p:txBody>
      </p:sp>
    </p:spTree>
    <p:extLst>
      <p:ext uri="{BB962C8B-B14F-4D97-AF65-F5344CB8AC3E}">
        <p14:creationId xmlns:p14="http://schemas.microsoft.com/office/powerpoint/2010/main" val="269307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37</a:t>
            </a:fld>
            <a:endParaRPr lang="en-US"/>
          </a:p>
        </p:txBody>
      </p:sp>
    </p:spTree>
    <p:extLst>
      <p:ext uri="{BB962C8B-B14F-4D97-AF65-F5344CB8AC3E}">
        <p14:creationId xmlns:p14="http://schemas.microsoft.com/office/powerpoint/2010/main" val="4360917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38</a:t>
            </a:fld>
            <a:endParaRPr lang="en-US"/>
          </a:p>
        </p:txBody>
      </p:sp>
    </p:spTree>
    <p:extLst>
      <p:ext uri="{BB962C8B-B14F-4D97-AF65-F5344CB8AC3E}">
        <p14:creationId xmlns:p14="http://schemas.microsoft.com/office/powerpoint/2010/main" val="9125093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39</a:t>
            </a:fld>
            <a:endParaRPr lang="en-US"/>
          </a:p>
        </p:txBody>
      </p:sp>
    </p:spTree>
    <p:extLst>
      <p:ext uri="{BB962C8B-B14F-4D97-AF65-F5344CB8AC3E}">
        <p14:creationId xmlns:p14="http://schemas.microsoft.com/office/powerpoint/2010/main" val="1576075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40</a:t>
            </a:fld>
            <a:endParaRPr lang="en-US"/>
          </a:p>
        </p:txBody>
      </p:sp>
    </p:spTree>
    <p:extLst>
      <p:ext uri="{BB962C8B-B14F-4D97-AF65-F5344CB8AC3E}">
        <p14:creationId xmlns:p14="http://schemas.microsoft.com/office/powerpoint/2010/main" val="29045929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41</a:t>
            </a:fld>
            <a:endParaRPr lang="en-US"/>
          </a:p>
        </p:txBody>
      </p:sp>
    </p:spTree>
    <p:extLst>
      <p:ext uri="{BB962C8B-B14F-4D97-AF65-F5344CB8AC3E}">
        <p14:creationId xmlns:p14="http://schemas.microsoft.com/office/powerpoint/2010/main" val="3014508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2B1CA3-1C08-4ED8-A12C-6788D6280A15}" type="datetime1">
              <a:rPr lang="en-US" smtClean="0"/>
              <a:t>9/30/24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C582EA13-2FAD-481E-9203-0F3A56618FA1}" type="datetime1">
              <a:rPr lang="en-US" smtClean="0"/>
              <a:t>9/30/24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1F818A-CFF1-4D5A-B78B-0F7AE2264FBF}" type="datetime1">
              <a:rPr lang="en-US" smtClean="0"/>
              <a:t>9/30/24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ABE02C-2198-461C-804D-A27E6144A513}" type="datetime1">
              <a:rPr lang="en-US" smtClean="0"/>
              <a:t>9/30/24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98554A-7275-4AC1-AEF2-DDABDD890828}" type="datetime1">
              <a:rPr lang="en-US" smtClean="0"/>
              <a:t>9/30/24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2C1EA94-0656-48C2-8A99-94CEB6FB31F9}" type="datetime1">
              <a:rPr lang="en-US" smtClean="0"/>
              <a:t>9/30/24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67FBC3-7BA4-4B84-91F2-4F156B3A8163}" type="datetime1">
              <a:rPr lang="en-US" smtClean="0"/>
              <a:t>9/30/24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DC03DE-90B0-4EF5-8C3B-8487FAE27198}" type="datetime1">
              <a:rPr lang="en-US" smtClean="0"/>
              <a:t>9/30/24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219C5-57E1-45F1-86B0-B5E1593A0F9A}" type="datetime1">
              <a:rPr lang="en-US" smtClean="0"/>
              <a:t>9/30/24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3800A-2B68-4448-80DE-25918F4222A0}" type="datetime1">
              <a:rPr lang="en-US" smtClean="0"/>
              <a:t>9/30/24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456947-768B-48FE-9282-D4C8406DFF4A}" type="datetime1">
              <a:rPr lang="en-US" smtClean="0"/>
              <a:t>9/30/24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6E6A2-45D0-4EE1-9C4A-F9227381DA3B}" type="datetime1">
              <a:rPr lang="en-US" smtClean="0"/>
              <a:t>9/30/24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dirty="0"/>
            </a:br>
            <a:r>
              <a:rPr lang="en-US" sz="5400" dirty="0"/>
              <a:t>ANLY 5332</a:t>
            </a:r>
            <a:br>
              <a:rPr lang="en-US" sz="5400"/>
            </a:b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Network Optimization</a:t>
            </a:r>
          </a:p>
          <a:p>
            <a:endParaRPr lang="en-US" dirty="0"/>
          </a:p>
        </p:txBody>
      </p:sp>
    </p:spTree>
    <p:extLst>
      <p:ext uri="{BB962C8B-B14F-4D97-AF65-F5344CB8AC3E}">
        <p14:creationId xmlns:p14="http://schemas.microsoft.com/office/powerpoint/2010/main" val="87721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Minimum-Cost Flow Problem (Chapter 6.1)</a:t>
            </a:r>
          </a:p>
          <a:p>
            <a:r>
              <a:rPr lang="en-US" dirty="0"/>
              <a:t>Maximum Flow Problem (Chapter 6.2 - 6.3)</a:t>
            </a:r>
          </a:p>
          <a:p>
            <a:r>
              <a:rPr lang="en-US" dirty="0"/>
              <a:t>Shortest Path Problem (Chapter 6.4)</a:t>
            </a:r>
          </a:p>
          <a:p>
            <a:r>
              <a:rPr lang="en-US" dirty="0"/>
              <a:t>Minimum Spanning Tree Problem (Chapter 6S)</a:t>
            </a:r>
          </a:p>
          <a:p>
            <a:r>
              <a:rPr lang="en-US" dirty="0"/>
              <a:t>Network Modifications (not in the textbook)</a:t>
            </a:r>
          </a:p>
          <a:p>
            <a:r>
              <a:rPr lang="en-US" dirty="0"/>
              <a:t>Network Optimization Cases (Chapter 6)</a:t>
            </a:r>
          </a:p>
          <a:p>
            <a:r>
              <a:rPr lang="en-US" dirty="0"/>
              <a:t>Further Cases</a:t>
            </a:r>
          </a:p>
          <a:p>
            <a:endParaRPr lang="en-US" dirty="0"/>
          </a:p>
          <a:p>
            <a:pPr lvl="5"/>
            <a:endParaRPr lang="en-US" dirty="0"/>
          </a:p>
          <a:p>
            <a:endParaRPr lang="en-US" dirty="0"/>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Minimum-Cost Flow Problem (Chapter 6.1)</a:t>
            </a:r>
          </a:p>
          <a:p>
            <a:r>
              <a:rPr lang="en-US" dirty="0">
                <a:solidFill>
                  <a:schemeClr val="bg2"/>
                </a:solidFill>
              </a:rPr>
              <a:t>Maximum Flow Problem (Chapter 6.2 - 6.3)</a:t>
            </a:r>
          </a:p>
          <a:p>
            <a:r>
              <a:rPr lang="en-US" dirty="0">
                <a:solidFill>
                  <a:schemeClr val="bg2"/>
                </a:solidFill>
              </a:rPr>
              <a:t>Shortest Path Problem (Chapter 6.4)</a:t>
            </a:r>
          </a:p>
          <a:p>
            <a:r>
              <a:rPr lang="en-US" dirty="0">
                <a:solidFill>
                  <a:schemeClr val="bg2"/>
                </a:solidFill>
              </a:rPr>
              <a:t>Minimum Spanning Tree Problem (Chapter 6S)</a:t>
            </a:r>
          </a:p>
          <a:p>
            <a:r>
              <a:rPr lang="en-US" dirty="0">
                <a:solidFill>
                  <a:schemeClr val="bg2"/>
                </a:solidFill>
              </a:rPr>
              <a:t>Network Modifications (not in the textbook)</a:t>
            </a:r>
          </a:p>
          <a:p>
            <a:r>
              <a:rPr lang="en-US" dirty="0">
                <a:solidFill>
                  <a:schemeClr val="bg2"/>
                </a:solidFill>
              </a:rPr>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242440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dirty="0"/>
              <a:t>Network: </a:t>
            </a:r>
            <a:r>
              <a:rPr lang="en-US" dirty="0"/>
              <a:t>A set of arcs and nodes</a:t>
            </a:r>
          </a:p>
          <a:p>
            <a:endParaRPr lang="en-US" dirty="0"/>
          </a:p>
          <a:p>
            <a:endParaRPr lang="en-US" dirty="0"/>
          </a:p>
          <a:p>
            <a:endParaRPr lang="en-US" dirty="0"/>
          </a:p>
          <a:p>
            <a:endParaRPr lang="en-US" dirty="0"/>
          </a:p>
          <a:p>
            <a:pPr lvl="1"/>
            <a:r>
              <a:rPr lang="en-US" dirty="0"/>
              <a:t>Arcs can be directed or undirected</a:t>
            </a:r>
          </a:p>
          <a:p>
            <a:pPr lvl="1"/>
            <a:r>
              <a:rPr lang="en-US" dirty="0"/>
              <a:t>Many practical problems have network representation</a:t>
            </a:r>
          </a:p>
          <a:p>
            <a:pPr lvl="2"/>
            <a:r>
              <a:rPr lang="en-US" dirty="0"/>
              <a:t>Assignment problems</a:t>
            </a:r>
          </a:p>
          <a:p>
            <a:pPr lvl="2"/>
            <a:r>
              <a:rPr lang="en-US" dirty="0"/>
              <a:t>Transportation problems</a:t>
            </a:r>
          </a:p>
          <a:p>
            <a:pPr lvl="2"/>
            <a:r>
              <a:rPr lang="en-US" dirty="0"/>
              <a:t>Transshipment problems</a:t>
            </a:r>
          </a:p>
          <a:p>
            <a:pPr lvl="2"/>
            <a:r>
              <a:rPr lang="en-US" dirty="0"/>
              <a:t>Project management</a:t>
            </a:r>
          </a:p>
          <a:p>
            <a:pPr lvl="1"/>
            <a:endParaRPr lang="en-US" dirty="0"/>
          </a:p>
        </p:txBody>
      </p:sp>
      <p:pic>
        <p:nvPicPr>
          <p:cNvPr id="7" name="Picture 6"/>
          <p:cNvPicPr>
            <a:picLocks noChangeAspect="1"/>
          </p:cNvPicPr>
          <p:nvPr/>
        </p:nvPicPr>
        <p:blipFill>
          <a:blip r:embed="rId3"/>
          <a:stretch>
            <a:fillRect/>
          </a:stretch>
        </p:blipFill>
        <p:spPr>
          <a:xfrm>
            <a:off x="2383291" y="1925423"/>
            <a:ext cx="3419475" cy="1819275"/>
          </a:xfrm>
          <a:prstGeom prst="rect">
            <a:avLst/>
          </a:prstGeom>
        </p:spPr>
      </p:pic>
    </p:spTree>
    <p:extLst>
      <p:ext uri="{BB962C8B-B14F-4D97-AF65-F5344CB8AC3E}">
        <p14:creationId xmlns:p14="http://schemas.microsoft.com/office/powerpoint/2010/main" val="37893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Introduction:</a:t>
            </a:r>
            <a:r>
              <a:rPr lang="en-US" b="1" dirty="0"/>
              <a:t> </a:t>
            </a:r>
            <a:r>
              <a:rPr lang="en-US" dirty="0"/>
              <a:t>In a min-cost flow problem</a:t>
            </a:r>
          </a:p>
          <a:p>
            <a:pPr lvl="1"/>
            <a:r>
              <a:rPr lang="en-US" dirty="0"/>
              <a:t>There is a set of supply points, each such point has a supply</a:t>
            </a:r>
          </a:p>
          <a:p>
            <a:pPr lvl="1"/>
            <a:r>
              <a:rPr lang="en-US" dirty="0"/>
              <a:t>There is a set of demand points, each such point has a demand</a:t>
            </a:r>
          </a:p>
          <a:p>
            <a:pPr lvl="1"/>
            <a:r>
              <a:rPr lang="en-US" dirty="0"/>
              <a:t>There is a set of transshipment points, each such point has no supply &amp; no demand</a:t>
            </a:r>
          </a:p>
          <a:p>
            <a:pPr lvl="1"/>
            <a:r>
              <a:rPr lang="en-US" dirty="0"/>
              <a:t>There are a set of arcs connecting various points</a:t>
            </a:r>
          </a:p>
          <a:p>
            <a:pPr lvl="2"/>
            <a:r>
              <a:rPr lang="en-US" dirty="0"/>
              <a:t>Each arc has a unit cost and might have capacity</a:t>
            </a:r>
          </a:p>
          <a:p>
            <a:pPr lvl="1"/>
            <a:r>
              <a:rPr lang="en-US" b="1" u="sng" dirty="0"/>
              <a:t>Problem Description: </a:t>
            </a:r>
            <a:r>
              <a:rPr lang="en-US" dirty="0"/>
              <a:t>There are supply nodes, demand nodes, and transshipments nodes and there are arcs. Determine the cost-minimum flows on the arcs so that the supply meets the demand</a:t>
            </a:r>
          </a:p>
          <a:p>
            <a:pPr lvl="1"/>
            <a:r>
              <a:rPr lang="en-US" dirty="0"/>
              <a:t>Using a case, we will discuss:</a:t>
            </a:r>
          </a:p>
          <a:p>
            <a:pPr lvl="2"/>
            <a:r>
              <a:rPr lang="en-US" dirty="0"/>
              <a:t>Algebraic modeling (not in the textbook)</a:t>
            </a:r>
          </a:p>
          <a:p>
            <a:pPr lvl="2"/>
            <a:r>
              <a:rPr lang="en-US" dirty="0"/>
              <a:t>Spreadsheet modeling (Chapter 6.1)</a:t>
            </a:r>
          </a:p>
          <a:p>
            <a:endParaRPr lang="en-US" dirty="0"/>
          </a:p>
          <a:p>
            <a:endParaRPr lang="en-US" dirty="0"/>
          </a:p>
          <a:p>
            <a:endParaRPr lang="en-US" dirty="0"/>
          </a:p>
          <a:p>
            <a:endParaRPr lang="en-US" dirty="0"/>
          </a:p>
          <a:p>
            <a:pPr lvl="1"/>
            <a:endParaRPr lang="en-US" dirty="0"/>
          </a:p>
        </p:txBody>
      </p:sp>
      <p:pic>
        <p:nvPicPr>
          <p:cNvPr id="6" name="Picture 5"/>
          <p:cNvPicPr>
            <a:picLocks noChangeAspect="1"/>
          </p:cNvPicPr>
          <p:nvPr/>
        </p:nvPicPr>
        <p:blipFill>
          <a:blip r:embed="rId3"/>
          <a:stretch>
            <a:fillRect/>
          </a:stretch>
        </p:blipFill>
        <p:spPr>
          <a:xfrm>
            <a:off x="5997463" y="4565884"/>
            <a:ext cx="5702887" cy="1813143"/>
          </a:xfrm>
          <a:prstGeom prst="rect">
            <a:avLst/>
          </a:prstGeom>
        </p:spPr>
      </p:pic>
    </p:spTree>
    <p:extLst>
      <p:ext uri="{BB962C8B-B14F-4D97-AF65-F5344CB8AC3E}">
        <p14:creationId xmlns:p14="http://schemas.microsoft.com/office/powerpoint/2010/main" val="399351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Case: The Distribution Unlimited Co. Problem</a:t>
            </a:r>
          </a:p>
          <a:p>
            <a:pPr lvl="1"/>
            <a:r>
              <a:rPr lang="en-US" dirty="0"/>
              <a:t>The Distribution Unlimited Co. has two factories producing a product that needs to be shipped to two warehouses</a:t>
            </a:r>
          </a:p>
          <a:p>
            <a:pPr lvl="2"/>
            <a:r>
              <a:rPr lang="en-US" dirty="0"/>
              <a:t>Factory 1 produces 80 units.</a:t>
            </a:r>
          </a:p>
          <a:p>
            <a:pPr lvl="2"/>
            <a:r>
              <a:rPr lang="en-US" dirty="0"/>
              <a:t>Factory 2 produces 70 units.</a:t>
            </a:r>
          </a:p>
          <a:p>
            <a:pPr lvl="2"/>
            <a:r>
              <a:rPr lang="en-US" dirty="0"/>
              <a:t>Warehouse 1 needs 60 units.</a:t>
            </a:r>
          </a:p>
          <a:p>
            <a:pPr lvl="2"/>
            <a:r>
              <a:rPr lang="en-US" dirty="0"/>
              <a:t>Warehouse 2 needs 90 units.</a:t>
            </a:r>
          </a:p>
          <a:p>
            <a:pPr lvl="1"/>
            <a:r>
              <a:rPr lang="en-US" dirty="0"/>
              <a:t>There are rail links directly </a:t>
            </a:r>
          </a:p>
          <a:p>
            <a:pPr lvl="2"/>
            <a:r>
              <a:rPr lang="en-US" dirty="0"/>
              <a:t>From Factory 1 to Warehouse 1 and </a:t>
            </a:r>
          </a:p>
          <a:p>
            <a:pPr lvl="2"/>
            <a:r>
              <a:rPr lang="en-US" dirty="0"/>
              <a:t>From Factory 2 to Warehouse 2.</a:t>
            </a:r>
          </a:p>
          <a:p>
            <a:pPr lvl="1"/>
            <a:r>
              <a:rPr lang="en-US" dirty="0"/>
              <a:t>Independent truckers are available to ship up to 50 units from each factory to the distribution center, and then 50 units from the distribution center to each warehouse.</a:t>
            </a:r>
          </a:p>
          <a:p>
            <a:pPr lvl="2"/>
            <a:endParaRPr lang="en-US" dirty="0"/>
          </a:p>
          <a:p>
            <a:endParaRPr lang="en-US" dirty="0"/>
          </a:p>
          <a:p>
            <a:endParaRPr lang="en-US" dirty="0"/>
          </a:p>
          <a:p>
            <a:endParaRPr lang="en-US" dirty="0"/>
          </a:p>
          <a:p>
            <a:endParaRPr lang="en-US" dirty="0"/>
          </a:p>
          <a:p>
            <a:endParaRPr lang="en-US" dirty="0"/>
          </a:p>
          <a:p>
            <a:pPr lvl="1"/>
            <a:endParaRPr lang="en-US" dirty="0"/>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171" y="2506677"/>
            <a:ext cx="5048852" cy="2163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252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Case: The Distribution Unlimited Co. Problem</a:t>
            </a:r>
          </a:p>
          <a:p>
            <a:pPr lvl="1"/>
            <a:r>
              <a:rPr lang="en-US" dirty="0"/>
              <a:t>The cost and capacity of each link:</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b="1" dirty="0">
                <a:solidFill>
                  <a:srgbClr val="C00000"/>
                </a:solidFill>
              </a:rPr>
              <a:t>Question: </a:t>
            </a:r>
            <a:r>
              <a:rPr lang="en-US" dirty="0"/>
              <a:t>How many units (truckloads) should be shipped along each shipping lane so that the demands are met at the cost-minimum way?</a:t>
            </a:r>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pic>
        <p:nvPicPr>
          <p:cNvPr id="6" name="Picture 5"/>
          <p:cNvPicPr>
            <a:picLocks noChangeAspect="1"/>
          </p:cNvPicPr>
          <p:nvPr/>
        </p:nvPicPr>
        <p:blipFill>
          <a:blip r:embed="rId3"/>
          <a:stretch>
            <a:fillRect/>
          </a:stretch>
        </p:blipFill>
        <p:spPr>
          <a:xfrm>
            <a:off x="2261505" y="2110467"/>
            <a:ext cx="6462251" cy="3027590"/>
          </a:xfrm>
          <a:prstGeom prst="rect">
            <a:avLst/>
          </a:prstGeom>
        </p:spPr>
      </p:pic>
    </p:spTree>
    <p:extLst>
      <p:ext uri="{BB962C8B-B14F-4D97-AF65-F5344CB8AC3E}">
        <p14:creationId xmlns:p14="http://schemas.microsoft.com/office/powerpoint/2010/main" val="198086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t>Case: The Distribution Unlimited Co. Problem</a:t>
            </a:r>
          </a:p>
          <a:p>
            <a:pPr lvl="1"/>
            <a:r>
              <a:rPr lang="en-US" dirty="0"/>
              <a:t>A network representation</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lvl="1"/>
            <a:r>
              <a:rPr lang="en-US" dirty="0"/>
              <a:t>Determine the flow on each arc to minimize total costs while shipping the demand?</a:t>
            </a:r>
          </a:p>
        </p:txBody>
      </p:sp>
      <p:pic>
        <p:nvPicPr>
          <p:cNvPr id="4" name="Picture 256"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9928" y="2209801"/>
            <a:ext cx="4933072" cy="32290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Minimum-Cost Flow Problem</a:t>
            </a:r>
          </a:p>
        </p:txBody>
      </p:sp>
      <p:sp>
        <p:nvSpPr>
          <p:cNvPr id="5" name="Rectangular Callout 4"/>
          <p:cNvSpPr/>
          <p:nvPr/>
        </p:nvSpPr>
        <p:spPr bwMode="auto">
          <a:xfrm>
            <a:off x="2077328" y="2438400"/>
            <a:ext cx="1580272" cy="870857"/>
          </a:xfrm>
          <a:prstGeom prst="wedgeRectCallout">
            <a:avLst>
              <a:gd name="adj1" fmla="val 79703"/>
              <a:gd name="adj2" fmla="val -41427"/>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rPr>
              <a:t>Positive value implies </a:t>
            </a:r>
            <a:r>
              <a:rPr lang="en-US" b="1" u="sng" dirty="0">
                <a:solidFill>
                  <a:srgbClr val="C00000"/>
                </a:solidFill>
              </a:rPr>
              <a:t>supply node</a:t>
            </a:r>
          </a:p>
        </p:txBody>
      </p:sp>
      <p:cxnSp>
        <p:nvCxnSpPr>
          <p:cNvPr id="14" name="Straight Arrow Connector 13"/>
          <p:cNvCxnSpPr/>
          <p:nvPr/>
        </p:nvCxnSpPr>
        <p:spPr bwMode="auto">
          <a:xfrm>
            <a:off x="8763000" y="3993083"/>
            <a:ext cx="1266343" cy="0"/>
          </a:xfrm>
          <a:prstGeom prst="straightConnector1">
            <a:avLst/>
          </a:prstGeom>
          <a:ln w="57150">
            <a:headEnd type="none" w="med" len="med"/>
            <a:tailEnd type="arrow"/>
          </a:ln>
        </p:spPr>
        <p:style>
          <a:lnRef idx="3">
            <a:schemeClr val="dk1"/>
          </a:lnRef>
          <a:fillRef idx="0">
            <a:schemeClr val="dk1"/>
          </a:fillRef>
          <a:effectRef idx="2">
            <a:schemeClr val="dk1"/>
          </a:effectRef>
          <a:fontRef idx="minor">
            <a:schemeClr val="tx1"/>
          </a:fontRef>
        </p:style>
      </p:cxnSp>
      <p:sp>
        <p:nvSpPr>
          <p:cNvPr id="13" name="Rectangular Callout 12"/>
          <p:cNvSpPr/>
          <p:nvPr/>
        </p:nvSpPr>
        <p:spPr bwMode="auto">
          <a:xfrm>
            <a:off x="2198914" y="3541315"/>
            <a:ext cx="1839686" cy="870857"/>
          </a:xfrm>
          <a:prstGeom prst="wedgeRectCallout">
            <a:avLst>
              <a:gd name="adj1" fmla="val 154851"/>
              <a:gd name="adj2" fmla="val -58927"/>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rPr>
              <a:t>0 value implies </a:t>
            </a:r>
            <a:r>
              <a:rPr lang="en-US" b="1" u="sng" dirty="0">
                <a:solidFill>
                  <a:srgbClr val="C00000"/>
                </a:solidFill>
              </a:rPr>
              <a:t>transshipment node</a:t>
            </a:r>
          </a:p>
        </p:txBody>
      </p:sp>
      <p:sp>
        <p:nvSpPr>
          <p:cNvPr id="15" name="Rectangular Callout 14"/>
          <p:cNvSpPr/>
          <p:nvPr/>
        </p:nvSpPr>
        <p:spPr bwMode="auto">
          <a:xfrm>
            <a:off x="9153043" y="2332265"/>
            <a:ext cx="1580272" cy="870857"/>
          </a:xfrm>
          <a:prstGeom prst="wedgeRectCallout">
            <a:avLst>
              <a:gd name="adj1" fmla="val -100776"/>
              <a:gd name="adj2" fmla="val -28927"/>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rPr>
              <a:t>Negative value implies </a:t>
            </a:r>
            <a:r>
              <a:rPr lang="en-US" b="1" u="sng" dirty="0">
                <a:solidFill>
                  <a:srgbClr val="C00000"/>
                </a:solidFill>
              </a:rPr>
              <a:t>demand node</a:t>
            </a:r>
          </a:p>
        </p:txBody>
      </p:sp>
      <p:sp>
        <p:nvSpPr>
          <p:cNvPr id="16" name="Rectangular Callout 15"/>
          <p:cNvSpPr/>
          <p:nvPr/>
        </p:nvSpPr>
        <p:spPr bwMode="auto">
          <a:xfrm>
            <a:off x="8610600" y="3608626"/>
            <a:ext cx="1580272" cy="704147"/>
          </a:xfrm>
          <a:prstGeom prst="wedgeRectCallout">
            <a:avLst>
              <a:gd name="adj1" fmla="val -116620"/>
              <a:gd name="adj2" fmla="val 27323"/>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dirty="0">
                <a:solidFill>
                  <a:srgbClr val="C00000"/>
                </a:solidFill>
              </a:rPr>
              <a:t>Arc cost</a:t>
            </a:r>
          </a:p>
        </p:txBody>
      </p:sp>
      <p:cxnSp>
        <p:nvCxnSpPr>
          <p:cNvPr id="17" name="Straight Arrow Connector 16"/>
          <p:cNvCxnSpPr/>
          <p:nvPr/>
        </p:nvCxnSpPr>
        <p:spPr bwMode="auto">
          <a:xfrm>
            <a:off x="6139499" y="5212971"/>
            <a:ext cx="1266343" cy="0"/>
          </a:xfrm>
          <a:prstGeom prst="straightConnector1">
            <a:avLst/>
          </a:prstGeom>
          <a:ln w="57150">
            <a:headEnd type="none" w="med" len="med"/>
            <a:tailEnd type="arrow"/>
          </a:ln>
        </p:spPr>
        <p:style>
          <a:lnRef idx="3">
            <a:schemeClr val="dk1"/>
          </a:lnRef>
          <a:fillRef idx="0">
            <a:schemeClr val="dk1"/>
          </a:fillRef>
          <a:effectRef idx="2">
            <a:schemeClr val="dk1"/>
          </a:effectRef>
          <a:fontRef idx="minor">
            <a:schemeClr val="tx1"/>
          </a:fontRef>
        </p:style>
      </p:cxnSp>
      <p:sp>
        <p:nvSpPr>
          <p:cNvPr id="18" name="Rectangular Callout 17"/>
          <p:cNvSpPr/>
          <p:nvPr/>
        </p:nvSpPr>
        <p:spPr bwMode="auto">
          <a:xfrm>
            <a:off x="5982534" y="4962972"/>
            <a:ext cx="1580272" cy="704147"/>
          </a:xfrm>
          <a:prstGeom prst="wedgeRectCallout">
            <a:avLst>
              <a:gd name="adj1" fmla="val 13573"/>
              <a:gd name="adj2" fmla="val -117996"/>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en-US" b="1" dirty="0">
              <a:solidFill>
                <a:srgbClr val="C00000"/>
              </a:solidFill>
            </a:endParaRPr>
          </a:p>
          <a:p>
            <a:pPr algn="ctr" eaLnBrk="0" fontAlgn="base" hangingPunct="0">
              <a:spcBef>
                <a:spcPct val="0"/>
              </a:spcBef>
              <a:spcAft>
                <a:spcPct val="0"/>
              </a:spcAft>
            </a:pPr>
            <a:r>
              <a:rPr lang="en-US" b="1" dirty="0">
                <a:solidFill>
                  <a:srgbClr val="C00000"/>
                </a:solidFill>
              </a:rPr>
              <a:t>[Arc capacity]</a:t>
            </a:r>
          </a:p>
        </p:txBody>
      </p:sp>
    </p:spTree>
    <p:extLst>
      <p:ext uri="{BB962C8B-B14F-4D97-AF65-F5344CB8AC3E}">
        <p14:creationId xmlns:p14="http://schemas.microsoft.com/office/powerpoint/2010/main" val="170921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Assumptions of Min-Cost Flow Problem:</a:t>
            </a:r>
          </a:p>
          <a:p>
            <a:pPr marL="1371600" lvl="2" indent="-457200">
              <a:buFont typeface="+mj-lt"/>
              <a:buAutoNum type="arabicPeriod"/>
            </a:pPr>
            <a:r>
              <a:rPr lang="en-US" dirty="0"/>
              <a:t>At least one of the nodes is a supply node.</a:t>
            </a:r>
          </a:p>
          <a:p>
            <a:pPr marL="1371600" lvl="2" indent="-457200">
              <a:buFont typeface="+mj-lt"/>
              <a:buAutoNum type="arabicPeriod"/>
            </a:pPr>
            <a:r>
              <a:rPr lang="en-US" dirty="0"/>
              <a:t>At least one of the other nodes is a demand node.</a:t>
            </a:r>
          </a:p>
          <a:p>
            <a:pPr marL="1371600" lvl="2" indent="-457200">
              <a:buFont typeface="+mj-lt"/>
              <a:buAutoNum type="arabicPeriod"/>
            </a:pPr>
            <a:r>
              <a:rPr lang="en-US" dirty="0"/>
              <a:t>All the remaining nodes are transshipment nodes.</a:t>
            </a:r>
          </a:p>
          <a:p>
            <a:pPr marL="1371600" lvl="2" indent="-457200">
              <a:buFont typeface="+mj-lt"/>
              <a:buAutoNum type="arabicPeriod"/>
            </a:pPr>
            <a:r>
              <a:rPr lang="en-US" dirty="0"/>
              <a:t>Flow through an arc is only allowed in the direction indicated by the arrowhead, where the maximum amount of flow is given by the capacity of that arc. (If flow can occur in both directions, this would be represented by a pair of arcs pointing in opposite directions.)</a:t>
            </a:r>
          </a:p>
          <a:p>
            <a:pPr marL="1371600" lvl="2" indent="-457200">
              <a:buFont typeface="+mj-lt"/>
              <a:buAutoNum type="arabicPeriod"/>
            </a:pPr>
            <a:r>
              <a:rPr lang="en-US" dirty="0"/>
              <a:t>The network has enough arcs with sufficient capacity to enable all the flow generated at the supply nodes to reach all the demand nodes.</a:t>
            </a:r>
          </a:p>
          <a:p>
            <a:pPr marL="1371600" lvl="2" indent="-457200">
              <a:buFont typeface="+mj-lt"/>
              <a:buAutoNum type="arabicPeriod"/>
            </a:pPr>
            <a:r>
              <a:rPr lang="en-US" dirty="0"/>
              <a:t>The cost of the flow through each arc is proportional to the amount of that flow, where the cost per unit flow is known.</a:t>
            </a:r>
          </a:p>
          <a:p>
            <a:pPr marL="1371600" lvl="2" indent="-457200">
              <a:buFont typeface="+mj-lt"/>
              <a:buAutoNum type="arabicPeriod"/>
            </a:pPr>
            <a:r>
              <a:rPr lang="en-US" dirty="0"/>
              <a:t>The objective is to minimize the total cost of sending the available supply through the network to satisfy the given demand. (An alternative objective is to maximize the total profit from doing this.)</a:t>
            </a:r>
          </a:p>
          <a:p>
            <a:pPr marL="914400" lvl="2" indent="-573088">
              <a:buNone/>
            </a:pPr>
            <a:r>
              <a:rPr lang="en-US" sz="1800" i="1" dirty="0">
                <a:solidFill>
                  <a:srgbClr val="C00000"/>
                </a:solidFill>
              </a:rPr>
              <a:t>Later we will discuss how to modify the network representation when some of these assumptions do not hold true.</a:t>
            </a:r>
          </a:p>
          <a:p>
            <a:pPr lvl="1"/>
            <a:endParaRPr lang="en-US" dirty="0"/>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19821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Algebraic Model for Min-Cost Flow Problem: </a:t>
            </a:r>
            <a:r>
              <a:rPr lang="en-US" dirty="0"/>
              <a:t>We can mathematically formulate a linear programming model for the min-cost flow problem</a:t>
            </a:r>
          </a:p>
          <a:p>
            <a:pPr lvl="1"/>
            <a:r>
              <a:rPr lang="en-US" b="1" dirty="0">
                <a:solidFill>
                  <a:srgbClr val="C00000"/>
                </a:solidFill>
              </a:rPr>
              <a:t>Decision variables: </a:t>
            </a:r>
            <a:r>
              <a:rPr lang="en-US" dirty="0"/>
              <a:t>Flow on each arc</a:t>
            </a:r>
          </a:p>
          <a:p>
            <a:pPr lvl="2"/>
            <a:r>
              <a:rPr lang="en-US" dirty="0"/>
              <a:t>Number of decision variables = Number of arcs</a:t>
            </a:r>
          </a:p>
          <a:p>
            <a:pPr lvl="2"/>
            <a:r>
              <a:rPr lang="en-US" dirty="0"/>
              <a:t>X(</a:t>
            </a:r>
            <a:r>
              <a:rPr lang="en-US" dirty="0" err="1"/>
              <a:t>i,j</a:t>
            </a:r>
            <a:r>
              <a:rPr lang="en-US" dirty="0"/>
              <a:t>): the flow on arc (</a:t>
            </a:r>
            <a:r>
              <a:rPr lang="en-US" dirty="0" err="1"/>
              <a:t>i,j</a:t>
            </a:r>
            <a:r>
              <a:rPr lang="en-US" dirty="0"/>
              <a:t>)</a:t>
            </a:r>
          </a:p>
          <a:p>
            <a:pPr lvl="4"/>
            <a:endParaRPr lang="en-US" dirty="0"/>
          </a:p>
          <a:p>
            <a:pPr lvl="1"/>
            <a:r>
              <a:rPr lang="en-US" b="1" dirty="0">
                <a:solidFill>
                  <a:srgbClr val="C00000"/>
                </a:solidFill>
              </a:rPr>
              <a:t>The model template for min-cost flow problem:</a:t>
            </a:r>
          </a:p>
          <a:p>
            <a:pPr marL="457200" lvl="1" indent="0">
              <a:buNone/>
            </a:pPr>
            <a:r>
              <a:rPr lang="en-US" dirty="0"/>
              <a:t>		Minimize       	Total Cost</a:t>
            </a:r>
          </a:p>
          <a:p>
            <a:pPr marL="457200" lvl="1" indent="0">
              <a:buNone/>
            </a:pPr>
            <a:r>
              <a:rPr lang="en-US" dirty="0"/>
              <a:t>		Subject to     	</a:t>
            </a:r>
            <a:r>
              <a:rPr lang="en-US" dirty="0">
                <a:solidFill>
                  <a:srgbClr val="FF0000"/>
                </a:solidFill>
              </a:rPr>
              <a:t>Flow-Balance Constraints</a:t>
            </a:r>
          </a:p>
          <a:p>
            <a:pPr marL="457200" lvl="1" indent="0">
              <a:buNone/>
            </a:pPr>
            <a:r>
              <a:rPr lang="en-US" dirty="0"/>
              <a:t>		    	 	Arc-Capacity Constraints</a:t>
            </a:r>
          </a:p>
          <a:p>
            <a:pPr marL="457200" lvl="1" indent="0">
              <a:buNone/>
            </a:pPr>
            <a:r>
              <a:rPr lang="en-US" dirty="0"/>
              <a:t>		     		Non-negativity Constraints</a:t>
            </a:r>
          </a:p>
          <a:p>
            <a:pPr lvl="1"/>
            <a:endParaRPr lang="en-US" dirty="0"/>
          </a:p>
          <a:p>
            <a:pPr marL="914400" lvl="2" indent="0">
              <a:buNone/>
            </a:pPr>
            <a:endParaRPr lang="en-US" dirty="0"/>
          </a:p>
        </p:txBody>
      </p:sp>
      <p:sp>
        <p:nvSpPr>
          <p:cNvPr id="5" name="Rounded Rectangle 4"/>
          <p:cNvSpPr/>
          <p:nvPr/>
        </p:nvSpPr>
        <p:spPr>
          <a:xfrm>
            <a:off x="2068286" y="3907971"/>
            <a:ext cx="5551714" cy="181791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ular Callout 5"/>
          <p:cNvSpPr/>
          <p:nvPr/>
        </p:nvSpPr>
        <p:spPr bwMode="auto">
          <a:xfrm>
            <a:off x="8511158" y="3744698"/>
            <a:ext cx="2222159" cy="413645"/>
          </a:xfrm>
          <a:prstGeom prst="wedgeRectCallout">
            <a:avLst>
              <a:gd name="adj1" fmla="val -99166"/>
              <a:gd name="adj2" fmla="val 129579"/>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One for each node!</a:t>
            </a:r>
          </a:p>
        </p:txBody>
      </p:sp>
      <p:sp>
        <p:nvSpPr>
          <p:cNvPr id="7" name="Rectangular Callout 6"/>
          <p:cNvSpPr/>
          <p:nvPr/>
        </p:nvSpPr>
        <p:spPr bwMode="auto">
          <a:xfrm>
            <a:off x="8511158" y="4513248"/>
            <a:ext cx="2211274" cy="668352"/>
          </a:xfrm>
          <a:prstGeom prst="wedgeRectCallout">
            <a:avLst>
              <a:gd name="adj1" fmla="val -103087"/>
              <a:gd name="adj2" fmla="val 8154"/>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One for each capacitated arc</a:t>
            </a:r>
          </a:p>
        </p:txBody>
      </p:sp>
      <p:sp>
        <p:nvSpPr>
          <p:cNvPr id="8" name="Rectangular Callout 7"/>
          <p:cNvSpPr/>
          <p:nvPr/>
        </p:nvSpPr>
        <p:spPr bwMode="auto">
          <a:xfrm>
            <a:off x="8500269" y="5391710"/>
            <a:ext cx="2211274" cy="421261"/>
          </a:xfrm>
          <a:prstGeom prst="wedgeRectCallout">
            <a:avLst>
              <a:gd name="adj1" fmla="val -93241"/>
              <a:gd name="adj2" fmla="val -58624"/>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For each arc</a:t>
            </a:r>
          </a:p>
        </p:txBody>
      </p:sp>
    </p:spTree>
    <p:extLst>
      <p:ext uri="{BB962C8B-B14F-4D97-AF65-F5344CB8AC3E}">
        <p14:creationId xmlns:p14="http://schemas.microsoft.com/office/powerpoint/2010/main" val="321290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normAutofit lnSpcReduction="10000"/>
          </a:bodyPr>
          <a:lstStyle/>
          <a:p>
            <a:r>
              <a:rPr lang="en-US" b="1" u="sng" dirty="0"/>
              <a:t>Algebraic Model for Min-Cost Flow Problem: </a:t>
            </a:r>
          </a:p>
          <a:p>
            <a:pPr lvl="1"/>
            <a:r>
              <a:rPr lang="en-US" b="1" dirty="0">
                <a:solidFill>
                  <a:srgbClr val="C00000"/>
                </a:solidFill>
              </a:rPr>
              <a:t>Objective and Objective Function: </a:t>
            </a:r>
            <a:r>
              <a:rPr lang="en-US" dirty="0"/>
              <a:t>Minimize the total cost. Total cost is the sum of the costs on the arcs. Cost on an arc is unit cost of the arc times the flow on the arc</a:t>
            </a:r>
          </a:p>
          <a:p>
            <a:pPr marL="457200" lvl="1" indent="0">
              <a:buNone/>
            </a:pPr>
            <a:r>
              <a:rPr lang="en-US" dirty="0"/>
              <a:t>	Minimize	700X(F1,W1) + 300X(F1,DC) + 200X(DC,W1) </a:t>
            </a:r>
          </a:p>
          <a:p>
            <a:pPr marL="457200" lvl="1" indent="0">
              <a:buNone/>
            </a:pPr>
            <a:r>
              <a:rPr lang="en-US" dirty="0"/>
              <a:t>			+ 400X(DC,W2) + 500X(F2,DC) + 1,000X(F2,W2)</a:t>
            </a:r>
          </a:p>
          <a:p>
            <a:pPr lvl="1"/>
            <a:endParaRPr lang="en-US" b="1" dirty="0">
              <a:solidFill>
                <a:srgbClr val="C00000"/>
              </a:solidFill>
              <a:sym typeface="Wingdings" pitchFamily="2" charset="2"/>
            </a:endParaRPr>
          </a:p>
          <a:p>
            <a:pPr lvl="1"/>
            <a:r>
              <a:rPr lang="en-US" b="1" dirty="0">
                <a:solidFill>
                  <a:srgbClr val="C00000"/>
                </a:solidFill>
                <a:sym typeface="Wingdings" pitchFamily="2" charset="2"/>
              </a:rPr>
              <a:t>Constraints:</a:t>
            </a:r>
            <a:r>
              <a:rPr lang="en-US" b="1" dirty="0">
                <a:sym typeface="Wingdings" pitchFamily="2" charset="2"/>
              </a:rPr>
              <a:t> </a:t>
            </a:r>
            <a:r>
              <a:rPr lang="en-US" dirty="0">
                <a:sym typeface="Wingdings" pitchFamily="2" charset="2"/>
              </a:rPr>
              <a:t>Two sets of main constraints plus non-negativity constraints</a:t>
            </a:r>
          </a:p>
          <a:p>
            <a:pPr lvl="2"/>
            <a:r>
              <a:rPr lang="en-US" u="sng" dirty="0">
                <a:sym typeface="Wingdings" pitchFamily="2" charset="2"/>
              </a:rPr>
              <a:t>Arc-capacity constraints</a:t>
            </a:r>
            <a:r>
              <a:rPr lang="en-US" dirty="0">
                <a:sym typeface="Wingdings" pitchFamily="2" charset="2"/>
              </a:rPr>
              <a:t>: </a:t>
            </a:r>
            <a:r>
              <a:rPr lang="en-US" b="1" dirty="0">
                <a:solidFill>
                  <a:srgbClr val="C00000"/>
                </a:solidFill>
                <a:sym typeface="Wingdings" pitchFamily="2" charset="2"/>
              </a:rPr>
              <a:t>One for each arc (if the arc has a capacity)</a:t>
            </a:r>
          </a:p>
          <a:p>
            <a:pPr marL="3657600" lvl="8" indent="0">
              <a:spcBef>
                <a:spcPts val="600"/>
              </a:spcBef>
              <a:spcAft>
                <a:spcPts val="1200"/>
              </a:spcAft>
              <a:buNone/>
            </a:pPr>
            <a:r>
              <a:rPr lang="en-US" dirty="0"/>
              <a:t>       </a:t>
            </a:r>
            <a:r>
              <a:rPr lang="en-US" sz="2400" dirty="0"/>
              <a:t>  X(</a:t>
            </a:r>
            <a:r>
              <a:rPr lang="en-US" sz="2400" dirty="0" err="1"/>
              <a:t>i,j</a:t>
            </a:r>
            <a:r>
              <a:rPr lang="en-US" sz="2400" dirty="0"/>
              <a:t>) &lt;= Capacity(</a:t>
            </a:r>
            <a:r>
              <a:rPr lang="en-US" sz="2400" dirty="0" err="1"/>
              <a:t>i,j</a:t>
            </a:r>
            <a:r>
              <a:rPr lang="en-US" sz="2400" dirty="0"/>
              <a:t>)</a:t>
            </a:r>
            <a:endParaRPr lang="en-US" dirty="0"/>
          </a:p>
          <a:p>
            <a:pPr marL="914400" lvl="2" indent="0">
              <a:buNone/>
            </a:pPr>
            <a:r>
              <a:rPr lang="en-US" dirty="0"/>
              <a:t>		X(F1,DC)&lt;=50</a:t>
            </a:r>
          </a:p>
          <a:p>
            <a:pPr marL="914400" lvl="2" indent="0">
              <a:buNone/>
            </a:pPr>
            <a:r>
              <a:rPr lang="en-US" dirty="0"/>
              <a:t>		X(F2,DC)&lt;=50</a:t>
            </a:r>
          </a:p>
          <a:p>
            <a:pPr marL="914400" lvl="2" indent="0">
              <a:buNone/>
            </a:pPr>
            <a:r>
              <a:rPr lang="en-US" dirty="0"/>
              <a:t>		X(DC,W1)&lt;=50</a:t>
            </a:r>
          </a:p>
          <a:p>
            <a:pPr marL="914400" lvl="2" indent="0">
              <a:buNone/>
            </a:pPr>
            <a:r>
              <a:rPr lang="en-US" dirty="0"/>
              <a:t>		X(DC,W2)&lt;=50</a:t>
            </a:r>
          </a:p>
          <a:p>
            <a:pPr marL="914400" lvl="2" indent="0">
              <a:buNone/>
            </a:pPr>
            <a:endParaRPr lang="en-US" dirty="0"/>
          </a:p>
          <a:p>
            <a:endParaRPr lang="en-US" dirty="0"/>
          </a:p>
          <a:p>
            <a:pPr marL="457200" lvl="1" indent="0">
              <a:buNone/>
            </a:pPr>
            <a:endParaRPr lang="en-US" dirty="0"/>
          </a:p>
        </p:txBody>
      </p:sp>
      <p:sp>
        <p:nvSpPr>
          <p:cNvPr id="6" name="TextBox 5"/>
          <p:cNvSpPr txBox="1"/>
          <p:nvPr/>
        </p:nvSpPr>
        <p:spPr>
          <a:xfrm>
            <a:off x="740009" y="5113306"/>
            <a:ext cx="2344713" cy="1077218"/>
          </a:xfrm>
          <a:prstGeom prst="rect">
            <a:avLst/>
          </a:prstGeom>
          <a:noFill/>
        </p:spPr>
        <p:txBody>
          <a:bodyPr wrap="square" rtlCol="0">
            <a:spAutoFit/>
          </a:bodyPr>
          <a:lstStyle/>
          <a:p>
            <a:r>
              <a:rPr lang="en-US" sz="1600" i="1" dirty="0"/>
              <a:t>No need for an arc capacity constraint for arcs with infinite capacity</a:t>
            </a:r>
          </a:p>
          <a:p>
            <a:r>
              <a:rPr lang="en-US" sz="1600" i="1" dirty="0">
                <a:sym typeface="Wingdings" panose="05000000000000000000" pitchFamily="2" charset="2"/>
              </a:rPr>
              <a:t> </a:t>
            </a:r>
            <a:r>
              <a:rPr lang="en-US" sz="1600" i="1" dirty="0"/>
              <a:t>(F1,W1) and (F2,W2)</a:t>
            </a:r>
          </a:p>
        </p:txBody>
      </p:sp>
      <p:sp>
        <p:nvSpPr>
          <p:cNvPr id="7" name="Rounded Rectangle 6"/>
          <p:cNvSpPr/>
          <p:nvPr/>
        </p:nvSpPr>
        <p:spPr>
          <a:xfrm>
            <a:off x="1297295" y="2399201"/>
            <a:ext cx="7836928" cy="77288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483406" y="4094860"/>
            <a:ext cx="2667000" cy="38644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56" descr="Imag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9090" y="4430428"/>
            <a:ext cx="3398310" cy="2224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32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Algebraic Model for Min-Cost Flow Problem:</a:t>
            </a:r>
            <a:endParaRPr lang="en-US" dirty="0"/>
          </a:p>
          <a:p>
            <a:pPr lvl="1"/>
            <a:r>
              <a:rPr lang="en-US" b="1" dirty="0">
                <a:solidFill>
                  <a:srgbClr val="C00000"/>
                </a:solidFill>
                <a:sym typeface="Wingdings" pitchFamily="2" charset="2"/>
              </a:rPr>
              <a:t>Constraints:</a:t>
            </a:r>
            <a:r>
              <a:rPr lang="en-US" b="1" dirty="0">
                <a:sym typeface="Wingdings" pitchFamily="2" charset="2"/>
              </a:rPr>
              <a:t> </a:t>
            </a:r>
            <a:r>
              <a:rPr lang="en-US" dirty="0">
                <a:sym typeface="Wingdings" pitchFamily="2" charset="2"/>
              </a:rPr>
              <a:t>Two sets of main constraints plus non-negativity constraints</a:t>
            </a:r>
          </a:p>
          <a:p>
            <a:pPr lvl="2"/>
            <a:r>
              <a:rPr lang="en-US" u="sng" dirty="0">
                <a:sym typeface="Wingdings" pitchFamily="2" charset="2"/>
              </a:rPr>
              <a:t>Flow-balance constraints: </a:t>
            </a:r>
            <a:r>
              <a:rPr lang="en-US" b="1" dirty="0">
                <a:solidFill>
                  <a:srgbClr val="C00000"/>
                </a:solidFill>
                <a:sym typeface="Wingdings" pitchFamily="2" charset="2"/>
              </a:rPr>
              <a:t>One for each node</a:t>
            </a: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3"/>
            <a:endParaRPr lang="en-US" dirty="0"/>
          </a:p>
          <a:p>
            <a:pPr lvl="3"/>
            <a:r>
              <a:rPr lang="en-US" dirty="0"/>
              <a:t>If What is going out&gt;What is coming in </a:t>
            </a:r>
            <a:r>
              <a:rPr lang="en-US" dirty="0">
                <a:sym typeface="Wingdings" pitchFamily="2" charset="2"/>
              </a:rPr>
              <a:t> Supply Node (node value is positive)</a:t>
            </a:r>
          </a:p>
          <a:p>
            <a:pPr lvl="3"/>
            <a:r>
              <a:rPr lang="en-US" dirty="0">
                <a:sym typeface="Wingdings" pitchFamily="2" charset="2"/>
              </a:rPr>
              <a:t>If What is going out&lt;What is coming in  Demand Node (node value is negative)</a:t>
            </a:r>
          </a:p>
          <a:p>
            <a:pPr lvl="3"/>
            <a:r>
              <a:rPr lang="en-US" dirty="0">
                <a:sym typeface="Wingdings" pitchFamily="2" charset="2"/>
              </a:rPr>
              <a:t>If What is going out=What is coming in  Transshipment Node (node value is zero)</a:t>
            </a:r>
          </a:p>
          <a:p>
            <a:pPr lvl="3"/>
            <a:endParaRPr lang="en-US" b="1" u="sng" dirty="0">
              <a:solidFill>
                <a:srgbClr val="C00000"/>
              </a:solidFill>
              <a:sym typeface="Wingdings" pitchFamily="2" charset="2"/>
            </a:endParaRPr>
          </a:p>
          <a:p>
            <a:pPr marL="914400" lvl="2" indent="0">
              <a:buNone/>
            </a:pPr>
            <a:r>
              <a:rPr lang="en-US" dirty="0"/>
              <a:t>		</a:t>
            </a:r>
          </a:p>
          <a:p>
            <a:endParaRPr lang="en-US" dirty="0"/>
          </a:p>
          <a:p>
            <a:pPr marL="457200" lvl="1" indent="0">
              <a:buNone/>
            </a:pPr>
            <a:endParaRPr lang="en-US" dirty="0"/>
          </a:p>
        </p:txBody>
      </p:sp>
      <p:sp>
        <p:nvSpPr>
          <p:cNvPr id="5" name="Rectangle 4"/>
          <p:cNvSpPr/>
          <p:nvPr/>
        </p:nvSpPr>
        <p:spPr>
          <a:xfrm>
            <a:off x="2426156" y="2748447"/>
            <a:ext cx="7078861" cy="461665"/>
          </a:xfrm>
          <a:prstGeom prst="rect">
            <a:avLst/>
          </a:prstGeom>
        </p:spPr>
        <p:txBody>
          <a:bodyPr wrap="none">
            <a:spAutoFit/>
          </a:bodyPr>
          <a:lstStyle/>
          <a:p>
            <a:pPr lvl="1"/>
            <a:r>
              <a:rPr lang="en-US" sz="2400" dirty="0"/>
              <a:t>What is going out – What is coming in = Node Value</a:t>
            </a:r>
          </a:p>
        </p:txBody>
      </p:sp>
      <p:sp>
        <p:nvSpPr>
          <p:cNvPr id="8" name="Left Brace 7"/>
          <p:cNvSpPr/>
          <p:nvPr/>
        </p:nvSpPr>
        <p:spPr bwMode="auto">
          <a:xfrm rot="16200000">
            <a:off x="5049041" y="1101907"/>
            <a:ext cx="383234" cy="4656855"/>
          </a:xfrm>
          <a:prstGeom prst="leftBrace">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9" name="TextBox 8"/>
          <p:cNvSpPr txBox="1"/>
          <p:nvPr/>
        </p:nvSpPr>
        <p:spPr>
          <a:xfrm>
            <a:off x="4402458" y="3633389"/>
            <a:ext cx="1676400" cy="369332"/>
          </a:xfrm>
          <a:prstGeom prst="rect">
            <a:avLst/>
          </a:prstGeom>
          <a:noFill/>
        </p:spPr>
        <p:txBody>
          <a:bodyPr wrap="square" rtlCol="0">
            <a:spAutoFit/>
          </a:bodyPr>
          <a:lstStyle/>
          <a:p>
            <a:pPr algn="ctr"/>
            <a:r>
              <a:rPr lang="en-US" dirty="0">
                <a:solidFill>
                  <a:srgbClr val="FF0000"/>
                </a:solidFill>
              </a:rPr>
              <a:t>Net Flow</a:t>
            </a:r>
          </a:p>
        </p:txBody>
      </p:sp>
      <p:sp>
        <p:nvSpPr>
          <p:cNvPr id="10" name="TextBox 9"/>
          <p:cNvSpPr txBox="1"/>
          <p:nvPr/>
        </p:nvSpPr>
        <p:spPr>
          <a:xfrm>
            <a:off x="7362513" y="3662824"/>
            <a:ext cx="2489982" cy="369332"/>
          </a:xfrm>
          <a:prstGeom prst="rect">
            <a:avLst/>
          </a:prstGeom>
          <a:noFill/>
        </p:spPr>
        <p:txBody>
          <a:bodyPr wrap="square" rtlCol="0">
            <a:spAutoFit/>
          </a:bodyPr>
          <a:lstStyle/>
          <a:p>
            <a:pPr algn="ctr"/>
            <a:r>
              <a:rPr lang="en-US" dirty="0">
                <a:solidFill>
                  <a:srgbClr val="FF0000"/>
                </a:solidFill>
              </a:rPr>
              <a:t>Supply/Demand</a:t>
            </a:r>
          </a:p>
        </p:txBody>
      </p:sp>
      <p:sp>
        <p:nvSpPr>
          <p:cNvPr id="11" name="Left Brace 10"/>
          <p:cNvSpPr/>
          <p:nvPr/>
        </p:nvSpPr>
        <p:spPr bwMode="auto">
          <a:xfrm rot="16200000">
            <a:off x="8415887" y="2741435"/>
            <a:ext cx="383234" cy="1377799"/>
          </a:xfrm>
          <a:prstGeom prst="leftBrace">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Tree>
    <p:extLst>
      <p:ext uri="{BB962C8B-B14F-4D97-AF65-F5344CB8AC3E}">
        <p14:creationId xmlns:p14="http://schemas.microsoft.com/office/powerpoint/2010/main" val="365651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0"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a:xfrm>
            <a:off x="355002" y="1312433"/>
            <a:ext cx="10334770" cy="4864530"/>
          </a:xfrm>
        </p:spPr>
        <p:txBody>
          <a:bodyPr/>
          <a:lstStyle/>
          <a:p>
            <a:r>
              <a:rPr lang="en-US" b="1" u="sng" dirty="0"/>
              <a:t>Algebraic Model for Min-Cost Flow Problem:</a:t>
            </a:r>
            <a:endParaRPr lang="en-US" dirty="0"/>
          </a:p>
          <a:p>
            <a:pPr lvl="1"/>
            <a:r>
              <a:rPr lang="en-US" b="1" dirty="0">
                <a:solidFill>
                  <a:srgbClr val="C00000"/>
                </a:solidFill>
                <a:sym typeface="Wingdings" pitchFamily="2" charset="2"/>
              </a:rPr>
              <a:t>Constraints:</a:t>
            </a:r>
            <a:r>
              <a:rPr lang="en-US" b="1" dirty="0">
                <a:sym typeface="Wingdings" pitchFamily="2" charset="2"/>
              </a:rPr>
              <a:t> </a:t>
            </a:r>
            <a:r>
              <a:rPr lang="en-US" dirty="0">
                <a:sym typeface="Wingdings" pitchFamily="2" charset="2"/>
              </a:rPr>
              <a:t>Two sets of main constraints plus non-negativity constraints</a:t>
            </a:r>
          </a:p>
          <a:p>
            <a:pPr lvl="2"/>
            <a:r>
              <a:rPr lang="en-US" u="sng" dirty="0">
                <a:sym typeface="Wingdings" pitchFamily="2" charset="2"/>
              </a:rPr>
              <a:t>Flow-balance constraints: </a:t>
            </a:r>
            <a:r>
              <a:rPr lang="en-US" b="1" dirty="0">
                <a:solidFill>
                  <a:srgbClr val="C00000"/>
                </a:solidFill>
                <a:sym typeface="Wingdings" pitchFamily="2" charset="2"/>
              </a:rPr>
              <a:t>One for each node</a:t>
            </a:r>
          </a:p>
          <a:p>
            <a:pPr marL="1828800" lvl="4" indent="0">
              <a:buNone/>
            </a:pPr>
            <a:endParaRPr lang="en-US" sz="1400" dirty="0">
              <a:sym typeface="Wingdings" pitchFamily="2" charset="2"/>
            </a:endParaRPr>
          </a:p>
          <a:p>
            <a:pPr lvl="3"/>
            <a:endParaRPr lang="en-US" sz="1400" dirty="0">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marL="1371600" lvl="3" indent="0">
              <a:buNone/>
            </a:pPr>
            <a:endParaRPr lang="en-US" b="1" u="sng" dirty="0">
              <a:solidFill>
                <a:srgbClr val="C00000"/>
              </a:solidFill>
              <a:sym typeface="Wingdings" pitchFamily="2" charset="2"/>
            </a:endParaRPr>
          </a:p>
          <a:p>
            <a:pPr marL="914400" lvl="2" indent="0">
              <a:buNone/>
            </a:pPr>
            <a:r>
              <a:rPr lang="en-US" dirty="0"/>
              <a:t>		</a:t>
            </a:r>
          </a:p>
          <a:p>
            <a:endParaRPr lang="en-US" dirty="0"/>
          </a:p>
          <a:p>
            <a:pPr marL="457200" lvl="1" indent="0">
              <a:buNone/>
            </a:pPr>
            <a:endParaRPr lang="en-US" dirty="0"/>
          </a:p>
        </p:txBody>
      </p:sp>
      <p:sp>
        <p:nvSpPr>
          <p:cNvPr id="5" name="Rectangle 4"/>
          <p:cNvSpPr/>
          <p:nvPr/>
        </p:nvSpPr>
        <p:spPr>
          <a:xfrm>
            <a:off x="6466115" y="2208295"/>
            <a:ext cx="3548743" cy="276999"/>
          </a:xfrm>
          <a:prstGeom prst="rect">
            <a:avLst/>
          </a:prstGeom>
        </p:spPr>
        <p:txBody>
          <a:bodyPr wrap="square" lIns="0" rIns="0">
            <a:spAutoFit/>
          </a:bodyPr>
          <a:lstStyle/>
          <a:p>
            <a:pPr algn="ctr"/>
            <a:r>
              <a:rPr lang="en-US" sz="1200" dirty="0"/>
              <a:t>What is going out – What is coming in = Node Value</a:t>
            </a:r>
          </a:p>
        </p:txBody>
      </p:sp>
      <p:sp>
        <p:nvSpPr>
          <p:cNvPr id="13" name="Rectangle 12"/>
          <p:cNvSpPr/>
          <p:nvPr/>
        </p:nvSpPr>
        <p:spPr>
          <a:xfrm>
            <a:off x="355002" y="2622281"/>
            <a:ext cx="3580573" cy="1015663"/>
          </a:xfrm>
          <a:prstGeom prst="rect">
            <a:avLst/>
          </a:prstGeom>
        </p:spPr>
        <p:txBody>
          <a:bodyPr wrap="square">
            <a:spAutoFit/>
          </a:bodyPr>
          <a:lstStyle/>
          <a:p>
            <a:r>
              <a:rPr lang="en-US" u="sng" dirty="0">
                <a:sym typeface="Wingdings" pitchFamily="2" charset="2"/>
              </a:rPr>
              <a:t>For node F1:</a:t>
            </a:r>
          </a:p>
          <a:p>
            <a:pPr lvl="1"/>
            <a:r>
              <a:rPr lang="en-US" sz="1400" dirty="0">
                <a:sym typeface="Wingdings" pitchFamily="2" charset="2"/>
              </a:rPr>
              <a:t>What is going out: </a:t>
            </a:r>
            <a:r>
              <a:rPr lang="en-US" sz="1400" dirty="0"/>
              <a:t>X(F1,DC) + X(F1,W1) </a:t>
            </a:r>
          </a:p>
          <a:p>
            <a:pPr lvl="1"/>
            <a:r>
              <a:rPr lang="en-US" sz="1400" dirty="0">
                <a:sym typeface="Wingdings" pitchFamily="2" charset="2"/>
              </a:rPr>
              <a:t>What is coming in: Nothing</a:t>
            </a:r>
          </a:p>
          <a:p>
            <a:pPr lvl="1"/>
            <a:r>
              <a:rPr lang="en-US" sz="1400" dirty="0">
                <a:sym typeface="Wingdings" pitchFamily="2" charset="2"/>
              </a:rPr>
              <a:t>Node value: 80</a:t>
            </a:r>
          </a:p>
        </p:txBody>
      </p:sp>
      <p:sp>
        <p:nvSpPr>
          <p:cNvPr id="15" name="Rectangle 14"/>
          <p:cNvSpPr/>
          <p:nvPr/>
        </p:nvSpPr>
        <p:spPr>
          <a:xfrm>
            <a:off x="4268334" y="2665717"/>
            <a:ext cx="3651745" cy="1015663"/>
          </a:xfrm>
          <a:prstGeom prst="rect">
            <a:avLst/>
          </a:prstGeom>
        </p:spPr>
        <p:txBody>
          <a:bodyPr wrap="square">
            <a:spAutoFit/>
          </a:bodyPr>
          <a:lstStyle/>
          <a:p>
            <a:r>
              <a:rPr lang="en-US" u="sng" dirty="0">
                <a:sym typeface="Wingdings" pitchFamily="2" charset="2"/>
              </a:rPr>
              <a:t>For node DC:</a:t>
            </a:r>
          </a:p>
          <a:p>
            <a:pPr lvl="1"/>
            <a:r>
              <a:rPr lang="en-US" sz="1400" dirty="0">
                <a:sym typeface="Wingdings" pitchFamily="2" charset="2"/>
              </a:rPr>
              <a:t>What is going out: </a:t>
            </a:r>
            <a:r>
              <a:rPr lang="en-US" sz="1400" dirty="0"/>
              <a:t>X(DC,W1) + X(DC,W2) </a:t>
            </a:r>
          </a:p>
          <a:p>
            <a:pPr lvl="1"/>
            <a:r>
              <a:rPr lang="en-US" sz="1400" dirty="0">
                <a:sym typeface="Wingdings" pitchFamily="2" charset="2"/>
              </a:rPr>
              <a:t>What is coming in: </a:t>
            </a:r>
            <a:r>
              <a:rPr lang="en-US" sz="1400" dirty="0"/>
              <a:t>X(F1, DC) + X(F2, DC) </a:t>
            </a:r>
          </a:p>
          <a:p>
            <a:pPr lvl="1"/>
            <a:r>
              <a:rPr lang="en-US" sz="1400" dirty="0">
                <a:sym typeface="Wingdings" pitchFamily="2" charset="2"/>
              </a:rPr>
              <a:t>Node value: 0</a:t>
            </a:r>
          </a:p>
        </p:txBody>
      </p:sp>
      <p:sp>
        <p:nvSpPr>
          <p:cNvPr id="16" name="Rectangle 15"/>
          <p:cNvSpPr/>
          <p:nvPr/>
        </p:nvSpPr>
        <p:spPr>
          <a:xfrm>
            <a:off x="8610600" y="2684749"/>
            <a:ext cx="3488457" cy="1015663"/>
          </a:xfrm>
          <a:prstGeom prst="rect">
            <a:avLst/>
          </a:prstGeom>
        </p:spPr>
        <p:txBody>
          <a:bodyPr wrap="square">
            <a:spAutoFit/>
          </a:bodyPr>
          <a:lstStyle/>
          <a:p>
            <a:r>
              <a:rPr lang="en-US" u="sng" dirty="0">
                <a:sym typeface="Wingdings" pitchFamily="2" charset="2"/>
              </a:rPr>
              <a:t>For node F2:</a:t>
            </a:r>
          </a:p>
          <a:p>
            <a:pPr lvl="1"/>
            <a:r>
              <a:rPr lang="en-US" sz="1400" dirty="0">
                <a:sym typeface="Wingdings" pitchFamily="2" charset="2"/>
              </a:rPr>
              <a:t>What is going out: </a:t>
            </a:r>
            <a:r>
              <a:rPr lang="en-US" sz="1400" dirty="0"/>
              <a:t>X(F2,DC) + X(F2,W2) </a:t>
            </a:r>
          </a:p>
          <a:p>
            <a:pPr lvl="1"/>
            <a:r>
              <a:rPr lang="en-US" sz="1400" dirty="0">
                <a:sym typeface="Wingdings" pitchFamily="2" charset="2"/>
              </a:rPr>
              <a:t>What is coming in: Nothing</a:t>
            </a:r>
          </a:p>
          <a:p>
            <a:pPr lvl="1"/>
            <a:r>
              <a:rPr lang="en-US" sz="1400" dirty="0">
                <a:sym typeface="Wingdings" pitchFamily="2" charset="2"/>
              </a:rPr>
              <a:t>Node value: 70</a:t>
            </a:r>
            <a:endParaRPr lang="en-US" dirty="0">
              <a:solidFill>
                <a:srgbClr val="FF0000"/>
              </a:solidFill>
            </a:endParaRPr>
          </a:p>
        </p:txBody>
      </p:sp>
      <p:sp>
        <p:nvSpPr>
          <p:cNvPr id="17" name="Rectangle 16"/>
          <p:cNvSpPr/>
          <p:nvPr/>
        </p:nvSpPr>
        <p:spPr>
          <a:xfrm>
            <a:off x="1782873" y="4747635"/>
            <a:ext cx="3529357" cy="1015663"/>
          </a:xfrm>
          <a:prstGeom prst="rect">
            <a:avLst/>
          </a:prstGeom>
        </p:spPr>
        <p:txBody>
          <a:bodyPr wrap="square">
            <a:spAutoFit/>
          </a:bodyPr>
          <a:lstStyle/>
          <a:p>
            <a:r>
              <a:rPr lang="en-US" u="sng" dirty="0">
                <a:sym typeface="Wingdings" pitchFamily="2" charset="2"/>
              </a:rPr>
              <a:t>For node W1:</a:t>
            </a:r>
          </a:p>
          <a:p>
            <a:pPr lvl="1"/>
            <a:r>
              <a:rPr lang="en-US" sz="1400" dirty="0">
                <a:sym typeface="Wingdings" pitchFamily="2" charset="2"/>
              </a:rPr>
              <a:t>What is going out: Nothing</a:t>
            </a:r>
            <a:r>
              <a:rPr lang="en-US" sz="1400" dirty="0"/>
              <a:t> </a:t>
            </a:r>
          </a:p>
          <a:p>
            <a:pPr lvl="1"/>
            <a:r>
              <a:rPr lang="en-US" sz="1400" dirty="0">
                <a:sym typeface="Wingdings" pitchFamily="2" charset="2"/>
              </a:rPr>
              <a:t>What is coming in: X(F1,W1)+X(DC,W1)</a:t>
            </a:r>
          </a:p>
          <a:p>
            <a:pPr lvl="1"/>
            <a:r>
              <a:rPr lang="en-US" sz="1400" dirty="0">
                <a:sym typeface="Wingdings" pitchFamily="2" charset="2"/>
              </a:rPr>
              <a:t>Node value: -60</a:t>
            </a:r>
          </a:p>
        </p:txBody>
      </p:sp>
      <p:sp>
        <p:nvSpPr>
          <p:cNvPr id="18" name="Rectangle 17"/>
          <p:cNvSpPr/>
          <p:nvPr/>
        </p:nvSpPr>
        <p:spPr>
          <a:xfrm>
            <a:off x="7239001" y="4747635"/>
            <a:ext cx="3450771" cy="1015663"/>
          </a:xfrm>
          <a:prstGeom prst="rect">
            <a:avLst/>
          </a:prstGeom>
        </p:spPr>
        <p:txBody>
          <a:bodyPr wrap="square">
            <a:spAutoFit/>
          </a:bodyPr>
          <a:lstStyle/>
          <a:p>
            <a:r>
              <a:rPr lang="en-US" u="sng" dirty="0">
                <a:sym typeface="Wingdings" pitchFamily="2" charset="2"/>
              </a:rPr>
              <a:t>For node W2:</a:t>
            </a:r>
          </a:p>
          <a:p>
            <a:pPr lvl="1"/>
            <a:r>
              <a:rPr lang="en-US" sz="1400" dirty="0">
                <a:sym typeface="Wingdings" pitchFamily="2" charset="2"/>
              </a:rPr>
              <a:t>What is going out: </a:t>
            </a:r>
            <a:r>
              <a:rPr lang="en-US" sz="1400" dirty="0"/>
              <a:t>Nothing</a:t>
            </a:r>
          </a:p>
          <a:p>
            <a:pPr lvl="1"/>
            <a:r>
              <a:rPr lang="en-US" sz="1400" dirty="0">
                <a:sym typeface="Wingdings" pitchFamily="2" charset="2"/>
              </a:rPr>
              <a:t>What is coming in: X(F2,W2)+X(DC,W2)</a:t>
            </a:r>
          </a:p>
          <a:p>
            <a:pPr lvl="1"/>
            <a:r>
              <a:rPr lang="en-US" sz="1400" dirty="0">
                <a:sym typeface="Wingdings" pitchFamily="2" charset="2"/>
              </a:rPr>
              <a:t>Node value: -90</a:t>
            </a:r>
          </a:p>
        </p:txBody>
      </p:sp>
      <p:sp>
        <p:nvSpPr>
          <p:cNvPr id="19" name="TextBox 18"/>
          <p:cNvSpPr txBox="1"/>
          <p:nvPr/>
        </p:nvSpPr>
        <p:spPr>
          <a:xfrm>
            <a:off x="660764" y="3902619"/>
            <a:ext cx="2700483" cy="800219"/>
          </a:xfrm>
          <a:prstGeom prst="rect">
            <a:avLst/>
          </a:prstGeom>
          <a:noFill/>
        </p:spPr>
        <p:txBody>
          <a:bodyPr wrap="none" rtlCol="0">
            <a:spAutoFit/>
          </a:bodyPr>
          <a:lstStyle/>
          <a:p>
            <a:r>
              <a:rPr lang="en-US" sz="2800" dirty="0">
                <a:solidFill>
                  <a:srgbClr val="FF0000"/>
                </a:solidFill>
              </a:rPr>
              <a:t>X</a:t>
            </a:r>
            <a:r>
              <a:rPr lang="en-US" dirty="0">
                <a:solidFill>
                  <a:srgbClr val="FF0000"/>
                </a:solidFill>
              </a:rPr>
              <a:t>(F1,DC) + </a:t>
            </a:r>
            <a:r>
              <a:rPr lang="en-US" sz="2800" dirty="0">
                <a:solidFill>
                  <a:srgbClr val="FF0000"/>
                </a:solidFill>
              </a:rPr>
              <a:t>X</a:t>
            </a:r>
            <a:r>
              <a:rPr lang="en-US" dirty="0">
                <a:solidFill>
                  <a:srgbClr val="FF0000"/>
                </a:solidFill>
              </a:rPr>
              <a:t>(F1,W1) = 80</a:t>
            </a:r>
          </a:p>
          <a:p>
            <a:endParaRPr lang="en-US" dirty="0"/>
          </a:p>
        </p:txBody>
      </p:sp>
      <p:sp>
        <p:nvSpPr>
          <p:cNvPr id="20" name="TextBox 19"/>
          <p:cNvSpPr txBox="1"/>
          <p:nvPr/>
        </p:nvSpPr>
        <p:spPr>
          <a:xfrm>
            <a:off x="3252390" y="3822324"/>
            <a:ext cx="5465920" cy="646331"/>
          </a:xfrm>
          <a:prstGeom prst="rect">
            <a:avLst/>
          </a:prstGeom>
          <a:noFill/>
        </p:spPr>
        <p:txBody>
          <a:bodyPr wrap="none" rtlCol="0">
            <a:spAutoFit/>
          </a:bodyPr>
          <a:lstStyle/>
          <a:p>
            <a:pPr lvl="1"/>
            <a:r>
              <a:rPr lang="en-US" sz="3600" dirty="0">
                <a:solidFill>
                  <a:srgbClr val="FF0000"/>
                </a:solidFill>
              </a:rPr>
              <a:t>[</a:t>
            </a:r>
            <a:r>
              <a:rPr lang="en-US" dirty="0">
                <a:solidFill>
                  <a:srgbClr val="FF0000"/>
                </a:solidFill>
              </a:rPr>
              <a:t>X(DC,W1) + X(DC,W2)</a:t>
            </a:r>
            <a:r>
              <a:rPr lang="en-US" sz="3200" dirty="0">
                <a:solidFill>
                  <a:srgbClr val="FF0000"/>
                </a:solidFill>
              </a:rPr>
              <a:t>]</a:t>
            </a:r>
            <a:r>
              <a:rPr lang="en-US" dirty="0">
                <a:solidFill>
                  <a:srgbClr val="FF0000"/>
                </a:solidFill>
              </a:rPr>
              <a:t> - </a:t>
            </a:r>
            <a:r>
              <a:rPr lang="en-US" sz="3200" dirty="0">
                <a:solidFill>
                  <a:srgbClr val="FF0000"/>
                </a:solidFill>
              </a:rPr>
              <a:t>[</a:t>
            </a:r>
            <a:r>
              <a:rPr lang="en-US" dirty="0">
                <a:solidFill>
                  <a:srgbClr val="FF0000"/>
                </a:solidFill>
              </a:rPr>
              <a:t>X(F1,DC) + X(F2,DC) </a:t>
            </a:r>
            <a:r>
              <a:rPr lang="en-US" sz="3200" dirty="0">
                <a:solidFill>
                  <a:srgbClr val="FF0000"/>
                </a:solidFill>
              </a:rPr>
              <a:t>]</a:t>
            </a:r>
            <a:r>
              <a:rPr lang="en-US" dirty="0">
                <a:solidFill>
                  <a:srgbClr val="FF0000"/>
                </a:solidFill>
              </a:rPr>
              <a:t>=0</a:t>
            </a:r>
            <a:endParaRPr lang="en-US" dirty="0">
              <a:solidFill>
                <a:srgbClr val="FF0000"/>
              </a:solidFill>
              <a:sym typeface="Wingdings" pitchFamily="2" charset="2"/>
            </a:endParaRPr>
          </a:p>
        </p:txBody>
      </p:sp>
      <p:sp>
        <p:nvSpPr>
          <p:cNvPr id="21" name="TextBox 20"/>
          <p:cNvSpPr txBox="1"/>
          <p:nvPr/>
        </p:nvSpPr>
        <p:spPr>
          <a:xfrm>
            <a:off x="9072959" y="3955205"/>
            <a:ext cx="2826864" cy="677108"/>
          </a:xfrm>
          <a:prstGeom prst="rect">
            <a:avLst/>
          </a:prstGeom>
          <a:noFill/>
        </p:spPr>
        <p:txBody>
          <a:bodyPr wrap="none" rtlCol="0">
            <a:spAutoFit/>
          </a:bodyPr>
          <a:lstStyle/>
          <a:p>
            <a:r>
              <a:rPr lang="en-US" sz="2000" dirty="0">
                <a:solidFill>
                  <a:srgbClr val="FF0000"/>
                </a:solidFill>
              </a:rPr>
              <a:t>X(F2,DC) + X(F2,W2) = 70 </a:t>
            </a:r>
          </a:p>
          <a:p>
            <a:endParaRPr lang="en-US" dirty="0"/>
          </a:p>
        </p:txBody>
      </p:sp>
      <p:sp>
        <p:nvSpPr>
          <p:cNvPr id="22" name="Left Brace 21"/>
          <p:cNvSpPr/>
          <p:nvPr/>
        </p:nvSpPr>
        <p:spPr bwMode="auto">
          <a:xfrm rot="16200000">
            <a:off x="1825572" y="2095394"/>
            <a:ext cx="383234" cy="3324373"/>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23" name="Left Brace 22"/>
          <p:cNvSpPr/>
          <p:nvPr/>
        </p:nvSpPr>
        <p:spPr bwMode="auto">
          <a:xfrm rot="16200000">
            <a:off x="5904902" y="1911539"/>
            <a:ext cx="383234" cy="3647124"/>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24" name="Left Brace 23"/>
          <p:cNvSpPr/>
          <p:nvPr/>
        </p:nvSpPr>
        <p:spPr bwMode="auto">
          <a:xfrm rot="16200000">
            <a:off x="10096801" y="2090718"/>
            <a:ext cx="383234" cy="3355635"/>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25" name="Left Brace 24"/>
          <p:cNvSpPr/>
          <p:nvPr/>
        </p:nvSpPr>
        <p:spPr bwMode="auto">
          <a:xfrm rot="16200000">
            <a:off x="3253442" y="4150659"/>
            <a:ext cx="383234" cy="3324373"/>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26" name="Left Brace 25"/>
          <p:cNvSpPr/>
          <p:nvPr/>
        </p:nvSpPr>
        <p:spPr bwMode="auto">
          <a:xfrm rot="16200000">
            <a:off x="8772770" y="4097767"/>
            <a:ext cx="383234" cy="3450770"/>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27" name="TextBox 26"/>
          <p:cNvSpPr txBox="1"/>
          <p:nvPr/>
        </p:nvSpPr>
        <p:spPr>
          <a:xfrm>
            <a:off x="2041751" y="6093297"/>
            <a:ext cx="3230115" cy="400110"/>
          </a:xfrm>
          <a:prstGeom prst="rect">
            <a:avLst/>
          </a:prstGeom>
          <a:noFill/>
        </p:spPr>
        <p:txBody>
          <a:bodyPr wrap="none" rtlCol="0">
            <a:spAutoFit/>
          </a:bodyPr>
          <a:lstStyle/>
          <a:p>
            <a:r>
              <a:rPr lang="en-US" sz="2000" dirty="0">
                <a:solidFill>
                  <a:srgbClr val="FF0000"/>
                </a:solidFill>
              </a:rPr>
              <a:t>-[X(F1,W1) + X(DC,W1)] = -60 </a:t>
            </a:r>
          </a:p>
        </p:txBody>
      </p:sp>
      <p:sp>
        <p:nvSpPr>
          <p:cNvPr id="28" name="TextBox 27"/>
          <p:cNvSpPr txBox="1"/>
          <p:nvPr/>
        </p:nvSpPr>
        <p:spPr>
          <a:xfrm>
            <a:off x="7753270" y="6075487"/>
            <a:ext cx="3172407" cy="677108"/>
          </a:xfrm>
          <a:prstGeom prst="rect">
            <a:avLst/>
          </a:prstGeom>
          <a:noFill/>
        </p:spPr>
        <p:txBody>
          <a:bodyPr wrap="none" rtlCol="0">
            <a:spAutoFit/>
          </a:bodyPr>
          <a:lstStyle/>
          <a:p>
            <a:r>
              <a:rPr lang="en-US" sz="2000" dirty="0">
                <a:solidFill>
                  <a:srgbClr val="FF0000"/>
                </a:solidFill>
              </a:rPr>
              <a:t>-[X(F2,W2) + X(DC,W2)]= -90 </a:t>
            </a:r>
          </a:p>
          <a:p>
            <a:endParaRPr lang="en-US" dirty="0"/>
          </a:p>
        </p:txBody>
      </p:sp>
      <p:pic>
        <p:nvPicPr>
          <p:cNvPr id="29" name="Picture 256" descr="Image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4306" y="1416127"/>
            <a:ext cx="1761930" cy="115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57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16" grpId="0"/>
      <p:bldP spid="17" grpId="0"/>
      <p:bldP spid="18" grpId="0"/>
      <p:bldP spid="19" grpId="0"/>
      <p:bldP spid="20" grpId="0"/>
      <p:bldP spid="21" grpId="0"/>
      <p:bldP spid="22" grpId="0" animBg="1"/>
      <p:bldP spid="23" grpId="0" animBg="1"/>
      <p:bldP spid="24" grpId="0" animBg="1"/>
      <p:bldP spid="25" grpId="0" animBg="1"/>
      <p:bldP spid="26" grpId="0" animBg="1"/>
      <p:bldP spid="27"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normAutofit lnSpcReduction="10000"/>
          </a:bodyPr>
          <a:lstStyle/>
          <a:p>
            <a:r>
              <a:rPr lang="en-US" b="1" u="sng" dirty="0"/>
              <a:t>Case: The Distribution Unlimited Co. Problem</a:t>
            </a:r>
          </a:p>
          <a:p>
            <a:pPr lvl="1"/>
            <a:r>
              <a:rPr lang="en-US" b="1" dirty="0">
                <a:solidFill>
                  <a:srgbClr val="C00000"/>
                </a:solidFill>
              </a:rPr>
              <a:t>Algebraic Model:</a:t>
            </a:r>
          </a:p>
          <a:p>
            <a:pPr marL="1828800" lvl="4" indent="0">
              <a:buNone/>
            </a:pPr>
            <a:endParaRPr lang="en-US" dirty="0"/>
          </a:p>
          <a:p>
            <a:pPr marL="0" indent="0">
              <a:buNone/>
            </a:pPr>
            <a:r>
              <a:rPr lang="en-US" sz="1800" dirty="0"/>
              <a:t>	Minimize		700X(F1,W1) + 300X(F1,DC) + 200X(DC,W1) +400X(DC,W2) + 500X(F2,DC) + 1000X(F2,W2)</a:t>
            </a:r>
          </a:p>
          <a:p>
            <a:pPr marL="0" indent="0">
              <a:buNone/>
            </a:pPr>
            <a:r>
              <a:rPr lang="en-US" sz="1800" dirty="0"/>
              <a:t>	Subject to	X(F1,DC) + X(F1,W1) = 80 </a:t>
            </a:r>
          </a:p>
          <a:p>
            <a:pPr marL="0" indent="0">
              <a:buNone/>
            </a:pPr>
            <a:r>
              <a:rPr lang="en-US" sz="1800" dirty="0"/>
              <a:t>			X(F2,DC) + X(F2,W2) = 70 </a:t>
            </a:r>
          </a:p>
          <a:p>
            <a:pPr marL="0" indent="0">
              <a:buNone/>
            </a:pPr>
            <a:r>
              <a:rPr lang="en-US" sz="1800" dirty="0"/>
              <a:t>			[X(DC,W1) + X(DC,W2)] - [X(F1,DC) + X(F2,DC) ]=0</a:t>
            </a:r>
            <a:endParaRPr lang="en-US" sz="1800" dirty="0">
              <a:sym typeface="Wingdings" pitchFamily="2" charset="2"/>
            </a:endParaRPr>
          </a:p>
          <a:p>
            <a:pPr marL="0" indent="0">
              <a:buNone/>
            </a:pPr>
            <a:r>
              <a:rPr lang="en-US" sz="1800" dirty="0"/>
              <a:t>			-[X(F1,W1) + X(DC,W1)] = -60 </a:t>
            </a:r>
          </a:p>
          <a:p>
            <a:pPr marL="0" indent="0">
              <a:buNone/>
            </a:pPr>
            <a:r>
              <a:rPr lang="en-US" sz="1800" dirty="0"/>
              <a:t>			-[X(F2,W2) + X(DC,W2)]= -90 </a:t>
            </a:r>
          </a:p>
          <a:p>
            <a:pPr marL="914400" lvl="2" indent="0">
              <a:buNone/>
            </a:pPr>
            <a:r>
              <a:rPr lang="en-US" sz="1800" dirty="0"/>
              <a:t>		X(F1,DC)&lt;=50</a:t>
            </a:r>
          </a:p>
          <a:p>
            <a:pPr marL="914400" lvl="2" indent="0">
              <a:buNone/>
            </a:pPr>
            <a:r>
              <a:rPr lang="en-US" sz="1800" dirty="0"/>
              <a:t>		X(F2,DC)&lt;=50</a:t>
            </a:r>
          </a:p>
          <a:p>
            <a:pPr marL="914400" lvl="2" indent="0">
              <a:buNone/>
            </a:pPr>
            <a:r>
              <a:rPr lang="en-US" sz="1800" dirty="0"/>
              <a:t>		X(DC,W1)&lt;=50</a:t>
            </a:r>
          </a:p>
          <a:p>
            <a:pPr marL="914400" lvl="2" indent="0">
              <a:buNone/>
            </a:pPr>
            <a:r>
              <a:rPr lang="en-US" sz="1800" dirty="0"/>
              <a:t>		X(DC,W2)&lt;=50</a:t>
            </a:r>
          </a:p>
          <a:p>
            <a:pPr marL="914400" lvl="2" indent="0">
              <a:buNone/>
            </a:pPr>
            <a:r>
              <a:rPr lang="en-US" sz="1800" dirty="0"/>
              <a:t>		X(</a:t>
            </a:r>
            <a:r>
              <a:rPr lang="en-US" sz="1800" dirty="0" err="1"/>
              <a:t>i,j</a:t>
            </a:r>
            <a:r>
              <a:rPr lang="en-US" sz="1800" dirty="0"/>
              <a:t>)&gt;=0 for all arcs (</a:t>
            </a:r>
            <a:r>
              <a:rPr lang="en-US" sz="1800" dirty="0" err="1"/>
              <a:t>i,j</a:t>
            </a:r>
            <a:r>
              <a:rPr lang="en-US" sz="1800" dirty="0"/>
              <a:t>)</a:t>
            </a:r>
          </a:p>
          <a:p>
            <a:endParaRPr lang="en-US" dirty="0">
              <a:solidFill>
                <a:srgbClr val="FF0000"/>
              </a:solidFill>
            </a:endParaRPr>
          </a:p>
          <a:p>
            <a:endParaRPr lang="en-US" dirty="0">
              <a:solidFill>
                <a:srgbClr val="FF0000"/>
              </a:solidFill>
            </a:endParaRPr>
          </a:p>
          <a:p>
            <a:endParaRPr lang="en-US" dirty="0"/>
          </a:p>
        </p:txBody>
      </p:sp>
      <p:sp>
        <p:nvSpPr>
          <p:cNvPr id="5" name="Rounded Rectangle 4"/>
          <p:cNvSpPr/>
          <p:nvPr/>
        </p:nvSpPr>
        <p:spPr>
          <a:xfrm>
            <a:off x="1077687" y="2340427"/>
            <a:ext cx="10580914" cy="401592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2939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Case: The Distribution Unlimited Co. Problem</a:t>
            </a:r>
          </a:p>
          <a:p>
            <a:pPr lvl="1"/>
            <a:r>
              <a:rPr lang="en-US" b="1" dirty="0">
                <a:solidFill>
                  <a:srgbClr val="C00000"/>
                </a:solidFill>
              </a:rPr>
              <a:t>Spreadsheet Model:</a:t>
            </a:r>
          </a:p>
          <a:p>
            <a:pPr marL="1828800" lvl="4" indent="0">
              <a:buNone/>
            </a:pPr>
            <a:endParaRPr lang="en-US" dirty="0"/>
          </a:p>
          <a:p>
            <a:endParaRPr lang="en-US" dirty="0">
              <a:solidFill>
                <a:srgbClr val="FF0000"/>
              </a:solidFill>
            </a:endParaRPr>
          </a:p>
          <a:p>
            <a:endParaRPr lang="en-US" dirty="0">
              <a:solidFill>
                <a:srgbClr val="FF0000"/>
              </a:solidFill>
            </a:endParaRPr>
          </a:p>
          <a:p>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499066340"/>
              </p:ext>
            </p:extLst>
          </p:nvPr>
        </p:nvGraphicFramePr>
        <p:xfrm>
          <a:off x="1117705" y="4873294"/>
          <a:ext cx="3182793" cy="1225181"/>
        </p:xfrm>
        <a:graphic>
          <a:graphicData uri="http://schemas.openxmlformats.org/presentationml/2006/ole">
            <mc:AlternateContent xmlns:mc="http://schemas.openxmlformats.org/markup-compatibility/2006">
              <mc:Choice xmlns:v="urn:schemas-microsoft-com:vml" Requires="v">
                <p:oleObj name="Worksheet" r:id="rId3" imgW="2822448" imgH="1088136" progId="Excel.Sheet.8">
                  <p:embed/>
                </p:oleObj>
              </mc:Choice>
              <mc:Fallback>
                <p:oleObj name="Worksheet" r:id="rId3" imgW="2822448" imgH="1088136" progId="Excel.Sheet.8">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705" y="4873294"/>
                        <a:ext cx="3182793" cy="1225181"/>
                      </a:xfrm>
                      <a:prstGeom prst="rect">
                        <a:avLst/>
                      </a:prstGeom>
                      <a:noFill/>
                      <a:ln>
                        <a:noFill/>
                      </a:ln>
                      <a:effectLst/>
                    </p:spPr>
                  </p:pic>
                </p:oleObj>
              </mc:Fallback>
            </mc:AlternateContent>
          </a:graphicData>
        </a:graphic>
      </p:graphicFrame>
      <p:sp>
        <p:nvSpPr>
          <p:cNvPr id="4" name="Rectangle 3"/>
          <p:cNvSpPr/>
          <p:nvPr/>
        </p:nvSpPr>
        <p:spPr>
          <a:xfrm>
            <a:off x="4607586" y="4470221"/>
            <a:ext cx="7532914" cy="2031325"/>
          </a:xfrm>
          <a:prstGeom prst="rect">
            <a:avLst/>
          </a:prstGeom>
        </p:spPr>
        <p:txBody>
          <a:bodyPr wrap="square">
            <a:spAutoFit/>
          </a:bodyPr>
          <a:lstStyle/>
          <a:p>
            <a:pPr algn="just"/>
            <a:r>
              <a:rPr lang="en-US" dirty="0"/>
              <a:t>The </a:t>
            </a:r>
            <a:r>
              <a:rPr lang="en-US" b="1" dirty="0"/>
              <a:t>SUMIF</a:t>
            </a:r>
            <a:r>
              <a:rPr lang="en-US" dirty="0"/>
              <a:t> formula can be used to simplify the node flow constraints.</a:t>
            </a:r>
          </a:p>
          <a:p>
            <a:pPr algn="ctr"/>
            <a:r>
              <a:rPr lang="en-US" b="1" dirty="0"/>
              <a:t>=SUMIF(Range A, </a:t>
            </a:r>
            <a:r>
              <a:rPr lang="en-US" b="1" i="1" dirty="0"/>
              <a:t>x</a:t>
            </a:r>
            <a:r>
              <a:rPr lang="en-US" b="1" dirty="0"/>
              <a:t>, Range B)</a:t>
            </a:r>
            <a:endParaRPr lang="en-US" dirty="0"/>
          </a:p>
          <a:p>
            <a:pPr algn="just"/>
            <a:r>
              <a:rPr lang="en-US" dirty="0"/>
              <a:t>For each quantity in (Range A) that equals </a:t>
            </a:r>
            <a:r>
              <a:rPr lang="en-US" i="1" dirty="0"/>
              <a:t>x</a:t>
            </a:r>
            <a:r>
              <a:rPr lang="en-US" dirty="0"/>
              <a:t>, SUMIF sums the corresponding entries in (Range B).</a:t>
            </a:r>
          </a:p>
          <a:p>
            <a:endParaRPr lang="en-US" dirty="0"/>
          </a:p>
          <a:p>
            <a:r>
              <a:rPr lang="en-US" dirty="0"/>
              <a:t>The net flow (flow out – flow in) from node </a:t>
            </a:r>
            <a:r>
              <a:rPr lang="en-US" i="1" dirty="0"/>
              <a:t>x</a:t>
            </a:r>
            <a:r>
              <a:rPr lang="en-US" dirty="0"/>
              <a:t> is then</a:t>
            </a:r>
          </a:p>
          <a:p>
            <a:pPr algn="ctr"/>
            <a:r>
              <a:rPr lang="en-US" b="1" dirty="0"/>
              <a:t>	=SUMIF(“From labels”, </a:t>
            </a:r>
            <a:r>
              <a:rPr lang="en-US" b="1" i="1" dirty="0"/>
              <a:t>x</a:t>
            </a:r>
            <a:r>
              <a:rPr lang="en-US" b="1" dirty="0"/>
              <a:t>, “Flow”) – SUMIF(“To labels”, </a:t>
            </a:r>
            <a:r>
              <a:rPr lang="en-US" b="1" i="1" dirty="0"/>
              <a:t>x</a:t>
            </a:r>
            <a:r>
              <a:rPr lang="en-US" b="1" dirty="0"/>
              <a:t>, “Flow”)</a:t>
            </a:r>
            <a:endParaRPr lang="en-US" dirty="0"/>
          </a:p>
        </p:txBody>
      </p:sp>
      <p:pic>
        <p:nvPicPr>
          <p:cNvPr id="8" name="Picture 7"/>
          <p:cNvPicPr>
            <a:picLocks noChangeAspect="1"/>
          </p:cNvPicPr>
          <p:nvPr/>
        </p:nvPicPr>
        <p:blipFill>
          <a:blip r:embed="rId5"/>
          <a:stretch>
            <a:fillRect/>
          </a:stretch>
        </p:blipFill>
        <p:spPr>
          <a:xfrm>
            <a:off x="1099589" y="2142794"/>
            <a:ext cx="7015994" cy="2194253"/>
          </a:xfrm>
          <a:prstGeom prst="rect">
            <a:avLst/>
          </a:prstGeom>
        </p:spPr>
      </p:pic>
    </p:spTree>
    <p:extLst>
      <p:ext uri="{BB962C8B-B14F-4D97-AF65-F5344CB8AC3E}">
        <p14:creationId xmlns:p14="http://schemas.microsoft.com/office/powerpoint/2010/main" val="122475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lstStyle/>
          <a:p>
            <a:r>
              <a:rPr lang="en-US" b="1" u="sng" dirty="0"/>
              <a:t>Case: The Distribution Unlimited Co. Problem</a:t>
            </a:r>
          </a:p>
          <a:p>
            <a:pPr lvl="1"/>
            <a:r>
              <a:rPr lang="en-US" b="1" dirty="0">
                <a:solidFill>
                  <a:srgbClr val="C00000"/>
                </a:solidFill>
              </a:rPr>
              <a:t>Optimal Solution: </a:t>
            </a:r>
            <a:r>
              <a:rPr lang="en-US" dirty="0"/>
              <a:t>Minimum total cost is $117,000</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828800" lvl="4" indent="0">
              <a:buNone/>
            </a:pPr>
            <a:endParaRPr lang="en-US" dirty="0"/>
          </a:p>
          <a:p>
            <a:endParaRPr lang="en-US" dirty="0">
              <a:solidFill>
                <a:srgbClr val="FF0000"/>
              </a:solidFill>
            </a:endParaRPr>
          </a:p>
          <a:p>
            <a:endParaRPr lang="en-US" dirty="0">
              <a:solidFill>
                <a:srgbClr val="FF0000"/>
              </a:solidFill>
            </a:endParaRPr>
          </a:p>
          <a:p>
            <a:endParaRPr lang="en-US"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8558" y="2545282"/>
            <a:ext cx="5325193" cy="349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7052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a:xfrm>
            <a:off x="355002" y="1312433"/>
            <a:ext cx="7754855" cy="4864530"/>
          </a:xfrm>
        </p:spPr>
        <p:txBody>
          <a:bodyPr>
            <a:normAutofit lnSpcReduction="10000"/>
          </a:bodyPr>
          <a:lstStyle/>
          <a:p>
            <a:r>
              <a:rPr lang="en-US" b="1" u="sng" dirty="0"/>
              <a:t>Properties:</a:t>
            </a:r>
          </a:p>
          <a:p>
            <a:pPr lvl="1"/>
            <a:r>
              <a:rPr lang="en-US" b="1" dirty="0">
                <a:solidFill>
                  <a:srgbClr val="C00000"/>
                </a:solidFill>
              </a:rPr>
              <a:t>The Feasible Solutions Property</a:t>
            </a:r>
          </a:p>
          <a:p>
            <a:pPr lvl="2"/>
            <a:r>
              <a:rPr lang="en-US" dirty="0"/>
              <a:t> Under the previous assumptions, a minimum-cost flow problem will have feasible solutions if and only if the sum of the supplies from its supply nodes </a:t>
            </a:r>
            <a:r>
              <a:rPr lang="en-US" i="1" dirty="0"/>
              <a:t>equals</a:t>
            </a:r>
            <a:r>
              <a:rPr lang="en-US" dirty="0"/>
              <a:t> the sum of the demands at its demand nodes.</a:t>
            </a:r>
          </a:p>
          <a:p>
            <a:pPr lvl="1"/>
            <a:r>
              <a:rPr lang="en-US" b="1" dirty="0">
                <a:solidFill>
                  <a:srgbClr val="C00000"/>
                </a:solidFill>
              </a:rPr>
              <a:t>The Integer Solutions Property</a:t>
            </a:r>
          </a:p>
          <a:p>
            <a:pPr lvl="2"/>
            <a:r>
              <a:rPr lang="en-US" dirty="0"/>
              <a:t>As long as all the supplies, demands, and arc capacities have integer values, any minimum-cost flow problem with feasible solutions is guaranteed to have an optimal solution with integer values for all its flow quantities</a:t>
            </a:r>
          </a:p>
          <a:p>
            <a:r>
              <a:rPr lang="en-US" b="1" u="sng" dirty="0"/>
              <a:t>Assumptions:</a:t>
            </a:r>
          </a:p>
          <a:p>
            <a:pPr lvl="1"/>
            <a:r>
              <a:rPr lang="en-US" dirty="0"/>
              <a:t>Total supply = total demand</a:t>
            </a:r>
          </a:p>
          <a:p>
            <a:pPr lvl="1"/>
            <a:r>
              <a:rPr lang="en-US" dirty="0"/>
              <a:t>Arcs are directed</a:t>
            </a:r>
          </a:p>
          <a:p>
            <a:pPr lvl="1"/>
            <a:endParaRPr lang="en-US" dirty="0"/>
          </a:p>
          <a:p>
            <a:pPr lvl="1"/>
            <a:endParaRPr lang="en-US" dirty="0"/>
          </a:p>
          <a:p>
            <a:pPr lvl="1"/>
            <a:endParaRPr lang="en-US" dirty="0"/>
          </a:p>
          <a:p>
            <a:pPr lvl="1"/>
            <a:endParaRPr lang="en-US" dirty="0"/>
          </a:p>
          <a:p>
            <a:pPr marL="1828800" lvl="4" indent="0">
              <a:buNone/>
            </a:pPr>
            <a:endParaRPr lang="en-US" dirty="0"/>
          </a:p>
          <a:p>
            <a:endParaRPr lang="en-US" dirty="0">
              <a:solidFill>
                <a:srgbClr val="FF0000"/>
              </a:solidFill>
            </a:endParaRPr>
          </a:p>
          <a:p>
            <a:endParaRPr lang="en-US" dirty="0">
              <a:solidFill>
                <a:srgbClr val="FF0000"/>
              </a:solidFill>
            </a:endParaRPr>
          </a:p>
          <a:p>
            <a:endParaRPr lang="en-US" dirty="0"/>
          </a:p>
        </p:txBody>
      </p:sp>
      <p:sp>
        <p:nvSpPr>
          <p:cNvPr id="4" name="Right Brace 3"/>
          <p:cNvSpPr/>
          <p:nvPr/>
        </p:nvSpPr>
        <p:spPr>
          <a:xfrm>
            <a:off x="4828453" y="5267963"/>
            <a:ext cx="424543" cy="909000"/>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5476155" y="5013833"/>
            <a:ext cx="6237515"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t>If total supply &lt; total demand, the problem is practically infeasible as you cannot supply the demand</a:t>
            </a:r>
          </a:p>
          <a:p>
            <a:pPr marL="285750" indent="-285750">
              <a:buFont typeface="Arial" panose="020B0604020202020204" pitchFamily="34" charset="0"/>
              <a:buChar char="•"/>
            </a:pPr>
            <a:r>
              <a:rPr lang="en-US" sz="1600" dirty="0"/>
              <a:t>If total supply &gt; total demand, network can be modified with a dummy demand node, of which demand is equal to excess supply</a:t>
            </a:r>
          </a:p>
          <a:p>
            <a:pPr marL="285750" indent="-285750">
              <a:buFont typeface="Arial" panose="020B0604020202020204" pitchFamily="34" charset="0"/>
              <a:buChar char="•"/>
            </a:pPr>
            <a:r>
              <a:rPr lang="en-US" sz="1600" dirty="0"/>
              <a:t>If arcs are undirected (i.e., flow is possible on both directions), we will replace is with two arcs: one in each direction</a:t>
            </a:r>
          </a:p>
        </p:txBody>
      </p:sp>
      <p:pic>
        <p:nvPicPr>
          <p:cNvPr id="6" name="Picture 5"/>
          <p:cNvPicPr>
            <a:picLocks noChangeAspect="1"/>
          </p:cNvPicPr>
          <p:nvPr/>
        </p:nvPicPr>
        <p:blipFill>
          <a:blip r:embed="rId3"/>
          <a:stretch>
            <a:fillRect/>
          </a:stretch>
        </p:blipFill>
        <p:spPr>
          <a:xfrm>
            <a:off x="8490858" y="2119993"/>
            <a:ext cx="3124841" cy="1333500"/>
          </a:xfrm>
          <a:prstGeom prst="rect">
            <a:avLst/>
          </a:prstGeom>
        </p:spPr>
      </p:pic>
      <p:sp>
        <p:nvSpPr>
          <p:cNvPr id="9" name="TextBox 8"/>
          <p:cNvSpPr txBox="1"/>
          <p:nvPr/>
        </p:nvSpPr>
        <p:spPr>
          <a:xfrm>
            <a:off x="8197263" y="3744698"/>
            <a:ext cx="3712030" cy="830997"/>
          </a:xfrm>
          <a:prstGeom prst="rect">
            <a:avLst/>
          </a:prstGeom>
          <a:noFill/>
        </p:spPr>
        <p:txBody>
          <a:bodyPr wrap="square" rtlCol="0">
            <a:spAutoFit/>
          </a:bodyPr>
          <a:lstStyle/>
          <a:p>
            <a:pPr algn="ctr"/>
            <a:r>
              <a:rPr lang="en-US" sz="1200" dirty="0"/>
              <a:t>If we deviate from this formulation, the properties will not hold. For instance, if a constraint, which is not a flow balance constraint or arc capacity constraint is added, then we deviate from the min-cost flow model</a:t>
            </a:r>
          </a:p>
        </p:txBody>
      </p:sp>
    </p:spTree>
    <p:extLst>
      <p:ext uri="{BB962C8B-B14F-4D97-AF65-F5344CB8AC3E}">
        <p14:creationId xmlns:p14="http://schemas.microsoft.com/office/powerpoint/2010/main" val="3690231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t>Maximum Flow Problem (Chapter 6.2 - 6.3)</a:t>
            </a:r>
          </a:p>
          <a:p>
            <a:r>
              <a:rPr lang="en-US" dirty="0">
                <a:solidFill>
                  <a:schemeClr val="bg2"/>
                </a:solidFill>
              </a:rPr>
              <a:t>Shortest Path Problem (Chapter 6.4)</a:t>
            </a:r>
          </a:p>
          <a:p>
            <a:r>
              <a:rPr lang="en-US" dirty="0">
                <a:solidFill>
                  <a:schemeClr val="bg2"/>
                </a:solidFill>
              </a:rPr>
              <a:t>Minimum Spanning Tree Problem (Chapter 6S)</a:t>
            </a:r>
          </a:p>
          <a:p>
            <a:r>
              <a:rPr lang="en-US" dirty="0">
                <a:solidFill>
                  <a:schemeClr val="bg2"/>
                </a:solidFill>
              </a:rPr>
              <a:t>Network Modifications (not in the textbook)</a:t>
            </a:r>
          </a:p>
          <a:p>
            <a:r>
              <a:rPr lang="en-US" dirty="0">
                <a:solidFill>
                  <a:schemeClr val="bg2"/>
                </a:solidFill>
              </a:rPr>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3281902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Introduction:</a:t>
            </a:r>
            <a:r>
              <a:rPr lang="en-US" b="1" dirty="0"/>
              <a:t> </a:t>
            </a:r>
            <a:r>
              <a:rPr lang="en-US" dirty="0"/>
              <a:t>In a maximum flow problem</a:t>
            </a:r>
          </a:p>
          <a:p>
            <a:pPr lvl="1"/>
            <a:r>
              <a:rPr lang="en-US" dirty="0"/>
              <a:t>There is a set of source nodes, each such node can supply</a:t>
            </a:r>
          </a:p>
          <a:p>
            <a:pPr lvl="1"/>
            <a:r>
              <a:rPr lang="en-US" dirty="0"/>
              <a:t>There is a set of sink nodes, each such node can receive</a:t>
            </a:r>
          </a:p>
          <a:p>
            <a:pPr lvl="1"/>
            <a:r>
              <a:rPr lang="en-US" dirty="0"/>
              <a:t>There is a set of transshipment nodes, each such node is an intermediate point</a:t>
            </a:r>
          </a:p>
          <a:p>
            <a:pPr lvl="1"/>
            <a:r>
              <a:rPr lang="en-US" dirty="0"/>
              <a:t>Each arc has a capacity, and cost is not of concern</a:t>
            </a:r>
          </a:p>
          <a:p>
            <a:pPr lvl="1"/>
            <a:r>
              <a:rPr lang="en-US" b="1" u="sng" dirty="0"/>
              <a:t>Problem Description: </a:t>
            </a:r>
            <a:r>
              <a:rPr lang="en-US" dirty="0"/>
              <a:t>There are sources, sinks, and intermediate nodes. Determine the maximum amount that can be sent from sources to the sinks on the network.</a:t>
            </a:r>
          </a:p>
          <a:p>
            <a:pPr lvl="1"/>
            <a:r>
              <a:rPr lang="en-US" dirty="0"/>
              <a:t>Using a case, we will discuss:</a:t>
            </a:r>
          </a:p>
          <a:p>
            <a:pPr lvl="2"/>
            <a:r>
              <a:rPr lang="en-US" dirty="0"/>
              <a:t>Algebraic modeling (not in the textbook)</a:t>
            </a:r>
          </a:p>
          <a:p>
            <a:pPr lvl="2"/>
            <a:r>
              <a:rPr lang="en-US" dirty="0"/>
              <a:t>Spreadsheet modeling (Chapter 6.2-6.3)</a:t>
            </a:r>
          </a:p>
          <a:p>
            <a:endParaRPr lang="en-US" dirty="0"/>
          </a:p>
          <a:p>
            <a:endParaRPr lang="en-US" dirty="0"/>
          </a:p>
          <a:p>
            <a:endParaRPr lang="en-US" dirty="0"/>
          </a:p>
          <a:p>
            <a:endParaRPr lang="en-US" dirty="0"/>
          </a:p>
          <a:p>
            <a:pPr lvl="1"/>
            <a:endParaRPr lang="en-US" dirty="0"/>
          </a:p>
        </p:txBody>
      </p:sp>
      <p:sp>
        <p:nvSpPr>
          <p:cNvPr id="4" name="Rectangle 3"/>
          <p:cNvSpPr/>
          <p:nvPr/>
        </p:nvSpPr>
        <p:spPr>
          <a:xfrm>
            <a:off x="6094207" y="4577754"/>
            <a:ext cx="5869193" cy="1815882"/>
          </a:xfrm>
          <a:prstGeom prst="rect">
            <a:avLst/>
          </a:prstGeom>
        </p:spPr>
        <p:txBody>
          <a:bodyPr wrap="square">
            <a:spAutoFit/>
          </a:bodyPr>
          <a:lstStyle/>
          <a:p>
            <a:r>
              <a:rPr lang="en-US" sz="1600" b="1" u="sng" dirty="0"/>
              <a:t>Applications:</a:t>
            </a:r>
          </a:p>
          <a:p>
            <a:pPr marL="285750" indent="-285750">
              <a:buFont typeface="Arial" panose="020B0604020202020204" pitchFamily="34" charset="0"/>
              <a:buChar char="•"/>
            </a:pPr>
            <a:r>
              <a:rPr lang="en-US" sz="1600" dirty="0"/>
              <a:t>Maximize the flow through a distribution network</a:t>
            </a:r>
          </a:p>
          <a:p>
            <a:pPr marL="285750" indent="-285750">
              <a:buFont typeface="Arial" panose="020B0604020202020204" pitchFamily="34" charset="0"/>
              <a:buChar char="•"/>
            </a:pPr>
            <a:r>
              <a:rPr lang="en-US" sz="1600" dirty="0"/>
              <a:t>Maximize the flow through a company’s supply network from its vendors to its processing facilities.</a:t>
            </a:r>
          </a:p>
          <a:p>
            <a:pPr marL="285750" indent="-285750">
              <a:buFont typeface="Arial" panose="020B0604020202020204" pitchFamily="34" charset="0"/>
              <a:buChar char="•"/>
            </a:pPr>
            <a:r>
              <a:rPr lang="en-US" sz="1600" dirty="0"/>
              <a:t>Maximize the flow of oil through a system of pipelines.</a:t>
            </a:r>
          </a:p>
          <a:p>
            <a:pPr marL="285750" indent="-285750">
              <a:buFont typeface="Arial" panose="020B0604020202020204" pitchFamily="34" charset="0"/>
              <a:buChar char="•"/>
            </a:pPr>
            <a:r>
              <a:rPr lang="en-US" sz="1600" dirty="0"/>
              <a:t>Maximize the flow of water through a system of aqueducts.</a:t>
            </a:r>
          </a:p>
          <a:p>
            <a:pPr marL="285750" indent="-285750">
              <a:buFont typeface="Arial" panose="020B0604020202020204" pitchFamily="34" charset="0"/>
              <a:buChar char="•"/>
            </a:pPr>
            <a:r>
              <a:rPr lang="en-US" sz="1600" dirty="0"/>
              <a:t>Maximize the flow of vehicles through a transportation network.</a:t>
            </a:r>
          </a:p>
        </p:txBody>
      </p:sp>
    </p:spTree>
    <p:extLst>
      <p:ext uri="{BB962C8B-B14F-4D97-AF65-F5344CB8AC3E}">
        <p14:creationId xmlns:p14="http://schemas.microsoft.com/office/powerpoint/2010/main" val="410362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Case: The BMZ Co. Problem</a:t>
            </a:r>
          </a:p>
          <a:p>
            <a:pPr lvl="1"/>
            <a:r>
              <a:rPr lang="en-US" dirty="0"/>
              <a:t>The BMZ Company is a European manufacturer of luxury automobiles. Its exports to the United States are particularly important. </a:t>
            </a:r>
          </a:p>
          <a:p>
            <a:endParaRPr lang="en-US" dirty="0"/>
          </a:p>
          <a:p>
            <a:endParaRPr lang="en-US" dirty="0"/>
          </a:p>
          <a:p>
            <a:endParaRPr lang="en-US" dirty="0"/>
          </a:p>
          <a:p>
            <a:endParaRPr lang="en-US" dirty="0"/>
          </a:p>
          <a:p>
            <a:endParaRPr lang="en-US" dirty="0"/>
          </a:p>
          <a:p>
            <a:pPr lvl="1"/>
            <a:endParaRPr lang="en-US" dirty="0"/>
          </a:p>
        </p:txBody>
      </p:sp>
      <p:sp>
        <p:nvSpPr>
          <p:cNvPr id="6" name="Rectangle 5"/>
          <p:cNvSpPr/>
          <p:nvPr/>
        </p:nvSpPr>
        <p:spPr>
          <a:xfrm>
            <a:off x="355002" y="2447167"/>
            <a:ext cx="6096000" cy="4093428"/>
          </a:xfrm>
          <a:prstGeom prst="rect">
            <a:avLst/>
          </a:prstGeom>
        </p:spPr>
        <p:txBody>
          <a:bodyPr>
            <a:spAutoFit/>
          </a:bodyPr>
          <a:lstStyle/>
          <a:p>
            <a:pPr marL="1257300" lvl="2" indent="-342900">
              <a:buFont typeface="Arial" panose="020B0604020202020204" pitchFamily="34" charset="0"/>
              <a:buChar char="•"/>
            </a:pPr>
            <a:r>
              <a:rPr lang="en-US" sz="2000" dirty="0"/>
              <a:t>BMZ cars are becoming especially popular in California, so it is particularly important to keep the Los Angeles center well supplied with replacement parts for repairing these cars.</a:t>
            </a:r>
          </a:p>
          <a:p>
            <a:pPr marL="1257300" lvl="2" indent="-342900">
              <a:buFont typeface="Arial" panose="020B0604020202020204" pitchFamily="34" charset="0"/>
              <a:buChar char="•"/>
            </a:pPr>
            <a:r>
              <a:rPr lang="en-US" sz="2000" dirty="0"/>
              <a:t>BMZ needs to execute a plan quickly for shipping as much as possible from the main factory in Stuttgart, Germany to the distribution center in Los Angeles over the next month.</a:t>
            </a:r>
          </a:p>
          <a:p>
            <a:pPr marL="1257300" lvl="2" indent="-342900">
              <a:buFont typeface="Arial" panose="020B0604020202020204" pitchFamily="34" charset="0"/>
              <a:buChar char="•"/>
            </a:pPr>
            <a:r>
              <a:rPr lang="en-US" sz="2000" dirty="0"/>
              <a:t>The limiting factor on how much can be shipped is the limited capacity of the company’s distribution network.</a:t>
            </a: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6529" y="2447167"/>
            <a:ext cx="5038022" cy="372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689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a:xfrm>
            <a:off x="355002" y="1312433"/>
            <a:ext cx="4828412" cy="4864530"/>
          </a:xfrm>
        </p:spPr>
        <p:txBody>
          <a:bodyPr/>
          <a:lstStyle/>
          <a:p>
            <a:r>
              <a:rPr lang="en-US" b="1" u="sng" dirty="0"/>
              <a:t>Case: The BMZ Co. Problem</a:t>
            </a:r>
          </a:p>
          <a:p>
            <a:pPr lvl="1"/>
            <a:r>
              <a:rPr lang="en-US" dirty="0"/>
              <a:t>A network representation</a:t>
            </a:r>
          </a:p>
          <a:p>
            <a:pPr lvl="2"/>
            <a:r>
              <a:rPr lang="en-US" dirty="0"/>
              <a:t>Arcs have capacities</a:t>
            </a:r>
          </a:p>
          <a:p>
            <a:pPr lvl="2"/>
            <a:r>
              <a:rPr lang="en-US" dirty="0"/>
              <a:t>Cost is not of concern</a:t>
            </a:r>
          </a:p>
          <a:p>
            <a:pPr lvl="1"/>
            <a:endParaRPr lang="en-US" dirty="0"/>
          </a:p>
          <a:p>
            <a:pPr lvl="1"/>
            <a:r>
              <a:rPr lang="en-US" b="1" dirty="0">
                <a:solidFill>
                  <a:srgbClr val="C00000"/>
                </a:solidFill>
              </a:rPr>
              <a:t>Question: </a:t>
            </a:r>
            <a:r>
              <a:rPr lang="en-US" dirty="0"/>
              <a:t>How many units should be sent through each shipping lane to maximize the total units flowing from Stuttgart to Los Angeles?</a:t>
            </a:r>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4464" y="1204856"/>
            <a:ext cx="47117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ular Callout 6"/>
          <p:cNvSpPr/>
          <p:nvPr/>
        </p:nvSpPr>
        <p:spPr bwMode="auto">
          <a:xfrm>
            <a:off x="10802876" y="2131672"/>
            <a:ext cx="935531" cy="698613"/>
          </a:xfrm>
          <a:prstGeom prst="wedgeRectCallout">
            <a:avLst>
              <a:gd name="adj1" fmla="val -63270"/>
              <a:gd name="adj2" fmla="val 119293"/>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Source node</a:t>
            </a:r>
          </a:p>
        </p:txBody>
      </p:sp>
      <p:sp>
        <p:nvSpPr>
          <p:cNvPr id="8" name="Rectangular Callout 7"/>
          <p:cNvSpPr/>
          <p:nvPr/>
        </p:nvSpPr>
        <p:spPr bwMode="auto">
          <a:xfrm>
            <a:off x="5506698" y="4395901"/>
            <a:ext cx="935531" cy="698613"/>
          </a:xfrm>
          <a:prstGeom prst="wedgeRectCallout">
            <a:avLst>
              <a:gd name="adj1" fmla="val 23999"/>
              <a:gd name="adj2" fmla="val -139366"/>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Sink node</a:t>
            </a:r>
          </a:p>
        </p:txBody>
      </p:sp>
      <p:cxnSp>
        <p:nvCxnSpPr>
          <p:cNvPr id="9" name="Straight Arrow Connector 8"/>
          <p:cNvCxnSpPr/>
          <p:nvPr/>
        </p:nvCxnSpPr>
        <p:spPr bwMode="auto">
          <a:xfrm>
            <a:off x="5826308" y="1846416"/>
            <a:ext cx="1266343" cy="0"/>
          </a:xfrm>
          <a:prstGeom prst="straightConnector1">
            <a:avLst/>
          </a:prstGeom>
          <a:ln w="57150">
            <a:headEnd type="none" w="med" len="med"/>
            <a:tailEnd type="arrow"/>
          </a:ln>
        </p:spPr>
        <p:style>
          <a:lnRef idx="3">
            <a:schemeClr val="dk1"/>
          </a:lnRef>
          <a:fillRef idx="0">
            <a:schemeClr val="dk1"/>
          </a:fillRef>
          <a:effectRef idx="2">
            <a:schemeClr val="dk1"/>
          </a:effectRef>
          <a:fontRef idx="minor">
            <a:schemeClr val="tx1"/>
          </a:fontRef>
        </p:style>
      </p:cxnSp>
      <p:sp>
        <p:nvSpPr>
          <p:cNvPr id="10" name="Rectangular Callout 9"/>
          <p:cNvSpPr/>
          <p:nvPr/>
        </p:nvSpPr>
        <p:spPr bwMode="auto">
          <a:xfrm>
            <a:off x="5669344" y="1600200"/>
            <a:ext cx="1580272" cy="704147"/>
          </a:xfrm>
          <a:prstGeom prst="wedgeRectCallout">
            <a:avLst>
              <a:gd name="adj1" fmla="val 110012"/>
              <a:gd name="adj2" fmla="val 10317"/>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en-US" b="1" dirty="0">
              <a:solidFill>
                <a:srgbClr val="C00000"/>
              </a:solidFill>
            </a:endParaRPr>
          </a:p>
          <a:p>
            <a:pPr algn="ctr" eaLnBrk="0" fontAlgn="base" hangingPunct="0">
              <a:spcBef>
                <a:spcPct val="0"/>
              </a:spcBef>
              <a:spcAft>
                <a:spcPct val="0"/>
              </a:spcAft>
            </a:pPr>
            <a:r>
              <a:rPr lang="en-US" b="1" dirty="0">
                <a:solidFill>
                  <a:srgbClr val="C00000"/>
                </a:solidFill>
              </a:rPr>
              <a:t>[Arc capacity]</a:t>
            </a:r>
          </a:p>
        </p:txBody>
      </p:sp>
      <p:sp>
        <p:nvSpPr>
          <p:cNvPr id="11" name="Left Brace 10"/>
          <p:cNvSpPr/>
          <p:nvPr/>
        </p:nvSpPr>
        <p:spPr bwMode="auto">
          <a:xfrm rot="16200000">
            <a:off x="8608001" y="4755261"/>
            <a:ext cx="383234" cy="2460170"/>
          </a:xfrm>
          <a:prstGeom prst="leftBrace">
            <a:avLst>
              <a:gd name="adj1" fmla="val 59462"/>
              <a:gd name="adj2" fmla="val 50000"/>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12" name="Rectangular Callout 11"/>
          <p:cNvSpPr/>
          <p:nvPr/>
        </p:nvSpPr>
        <p:spPr bwMode="auto">
          <a:xfrm>
            <a:off x="6868106" y="6311900"/>
            <a:ext cx="3863024" cy="397555"/>
          </a:xfrm>
          <a:prstGeom prst="wedgeRectCallout">
            <a:avLst>
              <a:gd name="adj1" fmla="val 17018"/>
              <a:gd name="adj2" fmla="val -33409"/>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Transshipment (intermediate) nodes</a:t>
            </a:r>
          </a:p>
        </p:txBody>
      </p:sp>
    </p:spTree>
    <p:extLst>
      <p:ext uri="{BB962C8B-B14F-4D97-AF65-F5344CB8AC3E}">
        <p14:creationId xmlns:p14="http://schemas.microsoft.com/office/powerpoint/2010/main" val="431837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Assumptions of Max Flow Problem:</a:t>
            </a:r>
          </a:p>
          <a:p>
            <a:pPr marL="1371600" lvl="2" indent="-457200">
              <a:buFont typeface="+mj-lt"/>
              <a:buAutoNum type="arabicPeriod"/>
            </a:pPr>
            <a:r>
              <a:rPr lang="en-US" dirty="0"/>
              <a:t>All flow through the network originates at one node, called the source, and terminates at one other node, called the sink. (The source and sink in the BMZ problem are the factory in </a:t>
            </a:r>
            <a:r>
              <a:rPr lang="en-US" dirty="0" err="1"/>
              <a:t>Stutgart</a:t>
            </a:r>
            <a:r>
              <a:rPr lang="en-US" dirty="0"/>
              <a:t> and the distribution center in LA, respectively.)</a:t>
            </a:r>
          </a:p>
          <a:p>
            <a:pPr lvl="3"/>
            <a:r>
              <a:rPr lang="en-US" dirty="0"/>
              <a:t>Later, we will discuss multi-source and multi-sink problems</a:t>
            </a:r>
          </a:p>
          <a:p>
            <a:pPr marL="1371600" lvl="2" indent="-457200">
              <a:buFont typeface="+mj-lt"/>
              <a:buAutoNum type="arabicPeriod"/>
            </a:pPr>
            <a:r>
              <a:rPr lang="en-US" dirty="0"/>
              <a:t>All the remaining nodes are transshipment nodes.</a:t>
            </a:r>
          </a:p>
          <a:p>
            <a:pPr marL="1371600" lvl="2" indent="-457200">
              <a:buFont typeface="+mj-lt"/>
              <a:buAutoNum type="arabicPeriod"/>
            </a:pPr>
            <a:r>
              <a:rPr lang="en-US" dirty="0"/>
              <a:t>Flow through an arc is only allowed in the direction indicated by the arrowhead, where the maximum amount of flow is given by the capacity of that arc. At the source, all arcs point away from the node. At the sink, all arcs point into the node.</a:t>
            </a:r>
          </a:p>
          <a:p>
            <a:pPr marL="1371600" lvl="2" indent="-457200">
              <a:buFont typeface="+mj-lt"/>
              <a:buAutoNum type="arabicPeriod"/>
            </a:pPr>
            <a:r>
              <a:rPr lang="en-US" dirty="0"/>
              <a:t>The objective is to maximize the total amount of flow from the source to the sink. This amount is measured in either of two equivalent ways, namely, either the amount leaving the source or the amount entering the sink.</a:t>
            </a:r>
          </a:p>
          <a:p>
            <a:pPr marL="914400" lvl="2" indent="0">
              <a:buNone/>
            </a:pPr>
            <a:endParaRPr lang="en-US" dirty="0"/>
          </a:p>
          <a:p>
            <a:pPr marL="341313" lvl="2" indent="-109538">
              <a:buNone/>
            </a:pPr>
            <a:r>
              <a:rPr lang="en-US" sz="1800" i="1" dirty="0">
                <a:solidFill>
                  <a:srgbClr val="C00000"/>
                </a:solidFill>
              </a:rPr>
              <a:t>Later we will discuss how to modify the network representation when some of these assumptions do not hold true.</a:t>
            </a:r>
          </a:p>
          <a:p>
            <a:pPr lvl="1"/>
            <a:endParaRPr lang="en-US" dirty="0"/>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186541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Algebraic Model for Maximum Flow Problem: </a:t>
            </a:r>
            <a:r>
              <a:rPr lang="en-US" dirty="0"/>
              <a:t>We can mathematically formulate a linear programming model for the max flow problem</a:t>
            </a:r>
          </a:p>
          <a:p>
            <a:pPr lvl="1"/>
            <a:r>
              <a:rPr lang="en-US" b="1" dirty="0">
                <a:solidFill>
                  <a:srgbClr val="C00000"/>
                </a:solidFill>
              </a:rPr>
              <a:t>Decision variables: </a:t>
            </a:r>
            <a:r>
              <a:rPr lang="en-US" dirty="0"/>
              <a:t>Flow on each arc</a:t>
            </a:r>
          </a:p>
          <a:p>
            <a:pPr lvl="2"/>
            <a:r>
              <a:rPr lang="en-US" dirty="0"/>
              <a:t>Number of decision variables = Number of arcs</a:t>
            </a:r>
          </a:p>
          <a:p>
            <a:pPr lvl="2"/>
            <a:r>
              <a:rPr lang="en-US" dirty="0"/>
              <a:t>F(</a:t>
            </a:r>
            <a:r>
              <a:rPr lang="en-US" dirty="0" err="1"/>
              <a:t>i,j</a:t>
            </a:r>
            <a:r>
              <a:rPr lang="en-US" dirty="0"/>
              <a:t>): the flow on arc (</a:t>
            </a:r>
            <a:r>
              <a:rPr lang="en-US" dirty="0" err="1"/>
              <a:t>i,j</a:t>
            </a:r>
            <a:r>
              <a:rPr lang="en-US" dirty="0"/>
              <a:t>)</a:t>
            </a:r>
          </a:p>
          <a:p>
            <a:pPr lvl="4"/>
            <a:endParaRPr lang="en-US" dirty="0"/>
          </a:p>
          <a:p>
            <a:pPr lvl="1"/>
            <a:r>
              <a:rPr lang="en-US" b="1" dirty="0">
                <a:solidFill>
                  <a:srgbClr val="C00000"/>
                </a:solidFill>
              </a:rPr>
              <a:t>The model template for max-flow problem:</a:t>
            </a:r>
          </a:p>
          <a:p>
            <a:pPr marL="457200" lvl="1" indent="0">
              <a:buNone/>
            </a:pPr>
            <a:r>
              <a:rPr lang="en-US" dirty="0"/>
              <a:t>		Maximize       	Flow out of Sources </a:t>
            </a:r>
          </a:p>
          <a:p>
            <a:pPr marL="457200" lvl="1" indent="0">
              <a:buNone/>
            </a:pPr>
            <a:r>
              <a:rPr lang="en-US" dirty="0"/>
              <a:t>				(or Flow into sinks)</a:t>
            </a:r>
          </a:p>
          <a:p>
            <a:pPr marL="457200" lvl="1" indent="0">
              <a:buNone/>
            </a:pPr>
            <a:r>
              <a:rPr lang="en-US" dirty="0"/>
              <a:t>		Subject to     	</a:t>
            </a:r>
            <a:r>
              <a:rPr lang="en-US" dirty="0">
                <a:solidFill>
                  <a:srgbClr val="FF0000"/>
                </a:solidFill>
              </a:rPr>
              <a:t>Flow-Balance Constraints</a:t>
            </a:r>
          </a:p>
          <a:p>
            <a:pPr marL="457200" lvl="1" indent="0">
              <a:buNone/>
            </a:pPr>
            <a:r>
              <a:rPr lang="en-US" dirty="0"/>
              <a:t>		    	 	Arc-Capacity Constraints</a:t>
            </a:r>
          </a:p>
          <a:p>
            <a:pPr marL="457200" lvl="1" indent="0">
              <a:buNone/>
            </a:pPr>
            <a:r>
              <a:rPr lang="en-US" dirty="0"/>
              <a:t>		     		Non-negativity Constraints</a:t>
            </a:r>
          </a:p>
          <a:p>
            <a:pPr lvl="1"/>
            <a:endParaRPr lang="en-US" dirty="0"/>
          </a:p>
          <a:p>
            <a:pPr marL="914400" lvl="2" indent="0">
              <a:buNone/>
            </a:pPr>
            <a:endParaRPr lang="en-US" dirty="0"/>
          </a:p>
        </p:txBody>
      </p:sp>
      <p:sp>
        <p:nvSpPr>
          <p:cNvPr id="5" name="Rounded Rectangle 4"/>
          <p:cNvSpPr/>
          <p:nvPr/>
        </p:nvSpPr>
        <p:spPr>
          <a:xfrm>
            <a:off x="2068285" y="3907970"/>
            <a:ext cx="5562601" cy="214448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ular Callout 5"/>
          <p:cNvSpPr/>
          <p:nvPr/>
        </p:nvSpPr>
        <p:spPr bwMode="auto">
          <a:xfrm>
            <a:off x="8234468" y="3261161"/>
            <a:ext cx="3598944" cy="1293618"/>
          </a:xfrm>
          <a:prstGeom prst="wedgeRectCallout">
            <a:avLst>
              <a:gd name="adj1" fmla="val -74218"/>
              <a:gd name="adj2" fmla="val 74403"/>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One for each transshipment/intermediate node!</a:t>
            </a:r>
          </a:p>
          <a:p>
            <a:pPr algn="ctr" eaLnBrk="0" fontAlgn="base" hangingPunct="0">
              <a:spcBef>
                <a:spcPct val="0"/>
              </a:spcBef>
              <a:spcAft>
                <a:spcPct val="0"/>
              </a:spcAft>
            </a:pPr>
            <a:r>
              <a:rPr lang="en-US" b="1" u="sng" dirty="0">
                <a:solidFill>
                  <a:srgbClr val="C00000"/>
                </a:solidFill>
                <a:sym typeface="Wingdings" panose="05000000000000000000" pitchFamily="2" charset="2"/>
              </a:rPr>
              <a:t></a:t>
            </a:r>
            <a:r>
              <a:rPr lang="en-US" b="1" u="sng" dirty="0">
                <a:solidFill>
                  <a:srgbClr val="C00000"/>
                </a:solidFill>
              </a:rPr>
              <a:t>No flow balance for sources</a:t>
            </a:r>
          </a:p>
          <a:p>
            <a:pPr algn="ctr" eaLnBrk="0" fontAlgn="base" hangingPunct="0">
              <a:spcBef>
                <a:spcPct val="0"/>
              </a:spcBef>
              <a:spcAft>
                <a:spcPct val="0"/>
              </a:spcAft>
            </a:pPr>
            <a:r>
              <a:rPr lang="en-US" b="1" u="sng" dirty="0">
                <a:solidFill>
                  <a:srgbClr val="C00000"/>
                </a:solidFill>
                <a:sym typeface="Wingdings" panose="05000000000000000000" pitchFamily="2" charset="2"/>
              </a:rPr>
              <a:t></a:t>
            </a:r>
            <a:r>
              <a:rPr lang="en-US" b="1" u="sng" dirty="0">
                <a:solidFill>
                  <a:srgbClr val="C00000"/>
                </a:solidFill>
              </a:rPr>
              <a:t>No Flow balance for sinks</a:t>
            </a:r>
          </a:p>
        </p:txBody>
      </p:sp>
      <p:sp>
        <p:nvSpPr>
          <p:cNvPr id="7" name="Rectangular Callout 6"/>
          <p:cNvSpPr/>
          <p:nvPr/>
        </p:nvSpPr>
        <p:spPr bwMode="auto">
          <a:xfrm>
            <a:off x="8516855" y="4940632"/>
            <a:ext cx="2211274" cy="668352"/>
          </a:xfrm>
          <a:prstGeom prst="wedgeRectCallout">
            <a:avLst>
              <a:gd name="adj1" fmla="val -103087"/>
              <a:gd name="adj2" fmla="val 8154"/>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One for each capacitated arc</a:t>
            </a:r>
          </a:p>
        </p:txBody>
      </p:sp>
      <p:sp>
        <p:nvSpPr>
          <p:cNvPr id="8" name="Rectangular Callout 7"/>
          <p:cNvSpPr/>
          <p:nvPr/>
        </p:nvSpPr>
        <p:spPr bwMode="auto">
          <a:xfrm>
            <a:off x="8516855" y="5829061"/>
            <a:ext cx="2211274" cy="421261"/>
          </a:xfrm>
          <a:prstGeom prst="wedgeRectCallout">
            <a:avLst>
              <a:gd name="adj1" fmla="val -93241"/>
              <a:gd name="adj2" fmla="val -58624"/>
            </a:avLst>
          </a:prstGeom>
          <a:noFill/>
          <a:ln w="38100">
            <a:solidFill>
              <a:srgbClr val="C00000"/>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r>
              <a:rPr lang="en-US" b="1" u="sng" dirty="0">
                <a:solidFill>
                  <a:srgbClr val="C00000"/>
                </a:solidFill>
              </a:rPr>
              <a:t>For each arc</a:t>
            </a:r>
          </a:p>
        </p:txBody>
      </p:sp>
    </p:spTree>
    <p:extLst>
      <p:ext uri="{BB962C8B-B14F-4D97-AF65-F5344CB8AC3E}">
        <p14:creationId xmlns:p14="http://schemas.microsoft.com/office/powerpoint/2010/main" val="117202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a:xfrm>
            <a:off x="355002" y="1312433"/>
            <a:ext cx="9857634" cy="4864530"/>
          </a:xfrm>
        </p:spPr>
        <p:txBody>
          <a:bodyPr>
            <a:normAutofit lnSpcReduction="10000"/>
          </a:bodyPr>
          <a:lstStyle/>
          <a:p>
            <a:r>
              <a:rPr lang="en-US" b="1" u="sng" dirty="0"/>
              <a:t>Algebraic Model for Maximum Flow Problem: </a:t>
            </a:r>
          </a:p>
          <a:p>
            <a:pPr lvl="1"/>
            <a:r>
              <a:rPr lang="en-US" b="1" dirty="0">
                <a:solidFill>
                  <a:srgbClr val="C00000"/>
                </a:solidFill>
              </a:rPr>
              <a:t>Objective and Objective Function: </a:t>
            </a:r>
            <a:r>
              <a:rPr lang="en-US" dirty="0"/>
              <a:t>Maximize the flow out of the sources or maximize the flow coming into the sinks. </a:t>
            </a:r>
          </a:p>
          <a:p>
            <a:pPr marL="457200" lvl="1" indent="0">
              <a:buNone/>
            </a:pPr>
            <a:r>
              <a:rPr lang="en-US" dirty="0"/>
              <a:t>		Maximize	F(ST,RO)+F(ST,BO)+F(ST,LI)</a:t>
            </a:r>
          </a:p>
          <a:p>
            <a:pPr marL="457200" lvl="1" indent="0">
              <a:buNone/>
            </a:pPr>
            <a:r>
              <a:rPr lang="en-US" dirty="0"/>
              <a:t>				</a:t>
            </a:r>
            <a:r>
              <a:rPr lang="en-US" i="1" dirty="0"/>
              <a:t>OR </a:t>
            </a:r>
            <a:r>
              <a:rPr lang="en-US" dirty="0"/>
              <a:t> </a:t>
            </a:r>
          </a:p>
          <a:p>
            <a:pPr marL="457200" lvl="1" indent="0">
              <a:buNone/>
            </a:pPr>
            <a:r>
              <a:rPr lang="en-US" dirty="0"/>
              <a:t>		Maximize	F(NY,LA)+F(NO,LA)</a:t>
            </a:r>
          </a:p>
          <a:p>
            <a:pPr lvl="1"/>
            <a:endParaRPr lang="en-US" b="1" dirty="0">
              <a:solidFill>
                <a:srgbClr val="C00000"/>
              </a:solidFill>
              <a:sym typeface="Wingdings" pitchFamily="2" charset="2"/>
            </a:endParaRPr>
          </a:p>
          <a:p>
            <a:pPr lvl="1"/>
            <a:r>
              <a:rPr lang="en-US" b="1" dirty="0">
                <a:solidFill>
                  <a:srgbClr val="C00000"/>
                </a:solidFill>
                <a:sym typeface="Wingdings" pitchFamily="2" charset="2"/>
              </a:rPr>
              <a:t>Constraints:</a:t>
            </a:r>
            <a:r>
              <a:rPr lang="en-US" b="1" dirty="0">
                <a:sym typeface="Wingdings" pitchFamily="2" charset="2"/>
              </a:rPr>
              <a:t> </a:t>
            </a:r>
            <a:r>
              <a:rPr lang="en-US" dirty="0">
                <a:sym typeface="Wingdings" pitchFamily="2" charset="2"/>
              </a:rPr>
              <a:t>Two sets of main constraints plus non-negativity constraints</a:t>
            </a:r>
          </a:p>
          <a:p>
            <a:pPr lvl="2"/>
            <a:r>
              <a:rPr lang="en-US" u="sng" dirty="0">
                <a:sym typeface="Wingdings" pitchFamily="2" charset="2"/>
              </a:rPr>
              <a:t>Arc-capacity constraints</a:t>
            </a:r>
            <a:r>
              <a:rPr lang="en-US" dirty="0">
                <a:sym typeface="Wingdings" pitchFamily="2" charset="2"/>
              </a:rPr>
              <a:t>: </a:t>
            </a:r>
            <a:r>
              <a:rPr lang="en-US" b="1" dirty="0">
                <a:solidFill>
                  <a:srgbClr val="C00000"/>
                </a:solidFill>
                <a:sym typeface="Wingdings" pitchFamily="2" charset="2"/>
              </a:rPr>
              <a:t>One for each arc (if the arc has a capacity)</a:t>
            </a:r>
          </a:p>
          <a:p>
            <a:pPr marL="3657600" lvl="8" indent="0">
              <a:spcBef>
                <a:spcPts val="600"/>
              </a:spcBef>
              <a:spcAft>
                <a:spcPts val="1200"/>
              </a:spcAft>
              <a:buNone/>
            </a:pPr>
            <a:r>
              <a:rPr lang="en-US" dirty="0"/>
              <a:t>       </a:t>
            </a:r>
            <a:r>
              <a:rPr lang="en-US" sz="2400" dirty="0"/>
              <a:t>  X(</a:t>
            </a:r>
            <a:r>
              <a:rPr lang="en-US" sz="2400" dirty="0" err="1"/>
              <a:t>i,j</a:t>
            </a:r>
            <a:r>
              <a:rPr lang="en-US" sz="2400" dirty="0"/>
              <a:t>) &lt;= Capacity(</a:t>
            </a:r>
            <a:r>
              <a:rPr lang="en-US" sz="2400" dirty="0" err="1"/>
              <a:t>i,j</a:t>
            </a:r>
            <a:r>
              <a:rPr lang="en-US" sz="2400" dirty="0"/>
              <a:t>)</a:t>
            </a:r>
            <a:endParaRPr lang="en-US" dirty="0"/>
          </a:p>
          <a:p>
            <a:pPr marL="914400" lvl="2" indent="0">
              <a:buNone/>
            </a:pPr>
            <a:r>
              <a:rPr lang="en-US" dirty="0"/>
              <a:t>		F(ST,RO)&lt;=50	F(ST,BO)&lt;=70	F(ST,LI)&lt;=40</a:t>
            </a:r>
          </a:p>
          <a:p>
            <a:pPr marL="914400" lvl="2" indent="0">
              <a:buNone/>
            </a:pPr>
            <a:r>
              <a:rPr lang="en-US" dirty="0"/>
              <a:t>		F(RO,NY)&lt;=60	F(BO,NY)&lt;=40	F(BO,NO)&lt;=50</a:t>
            </a:r>
          </a:p>
          <a:p>
            <a:pPr marL="914400" lvl="2" indent="0">
              <a:buNone/>
            </a:pPr>
            <a:r>
              <a:rPr lang="en-US" dirty="0"/>
              <a:t>		F(LI,NO)&lt;=30	F(NY,LA)&lt;=80	F(NO,LA)&lt;=70</a:t>
            </a:r>
          </a:p>
          <a:p>
            <a:pPr marL="914400" lvl="2" indent="0">
              <a:buNone/>
            </a:pPr>
            <a:endParaRPr lang="en-US" dirty="0"/>
          </a:p>
          <a:p>
            <a:pPr marL="914400" lvl="2" indent="0">
              <a:buNone/>
            </a:pPr>
            <a:endParaRPr lang="en-US" dirty="0"/>
          </a:p>
          <a:p>
            <a:endParaRPr lang="en-US" dirty="0"/>
          </a:p>
          <a:p>
            <a:pPr marL="457200" lvl="1" indent="0">
              <a:buNone/>
            </a:pPr>
            <a:endParaRPr lang="en-US" dirty="0"/>
          </a:p>
        </p:txBody>
      </p:sp>
      <p:sp>
        <p:nvSpPr>
          <p:cNvPr id="6" name="TextBox 5"/>
          <p:cNvSpPr txBox="1"/>
          <p:nvPr/>
        </p:nvSpPr>
        <p:spPr>
          <a:xfrm>
            <a:off x="8914502" y="5345966"/>
            <a:ext cx="2505508" cy="830997"/>
          </a:xfrm>
          <a:prstGeom prst="rect">
            <a:avLst/>
          </a:prstGeom>
          <a:noFill/>
        </p:spPr>
        <p:txBody>
          <a:bodyPr wrap="square" rtlCol="0">
            <a:spAutoFit/>
          </a:bodyPr>
          <a:lstStyle/>
          <a:p>
            <a:r>
              <a:rPr lang="en-US" sz="1600" i="1" dirty="0"/>
              <a:t>No need for an arc capacity constraint for arcs with infinite capacity</a:t>
            </a:r>
          </a:p>
        </p:txBody>
      </p:sp>
      <p:sp>
        <p:nvSpPr>
          <p:cNvPr id="7" name="Rounded Rectangle 6"/>
          <p:cNvSpPr/>
          <p:nvPr/>
        </p:nvSpPr>
        <p:spPr>
          <a:xfrm>
            <a:off x="2121890" y="2356756"/>
            <a:ext cx="5921829" cy="124097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505054" y="4448830"/>
            <a:ext cx="2667000" cy="38644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1093" y="1710586"/>
            <a:ext cx="2761912" cy="276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46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normAutofit fontScale="92500" lnSpcReduction="10000"/>
          </a:bodyPr>
          <a:lstStyle/>
          <a:p>
            <a:r>
              <a:rPr lang="en-US" b="1" u="sng" dirty="0"/>
              <a:t>Algebraic Model for Maximum Flow Problem: </a:t>
            </a:r>
          </a:p>
          <a:p>
            <a:pPr lvl="1"/>
            <a:r>
              <a:rPr lang="en-US" b="1" dirty="0">
                <a:solidFill>
                  <a:srgbClr val="C00000"/>
                </a:solidFill>
                <a:sym typeface="Wingdings" pitchFamily="2" charset="2"/>
              </a:rPr>
              <a:t>Constraints:</a:t>
            </a:r>
            <a:r>
              <a:rPr lang="en-US" b="1" dirty="0">
                <a:sym typeface="Wingdings" pitchFamily="2" charset="2"/>
              </a:rPr>
              <a:t> </a:t>
            </a:r>
            <a:r>
              <a:rPr lang="en-US" dirty="0">
                <a:sym typeface="Wingdings" pitchFamily="2" charset="2"/>
              </a:rPr>
              <a:t>Two sets of main constraints plus non-negativity constraints</a:t>
            </a:r>
          </a:p>
          <a:p>
            <a:pPr lvl="2"/>
            <a:r>
              <a:rPr lang="en-US" u="sng" dirty="0">
                <a:sym typeface="Wingdings" pitchFamily="2" charset="2"/>
              </a:rPr>
              <a:t>Flow-balance constraints: </a:t>
            </a:r>
            <a:r>
              <a:rPr lang="en-US" b="1" u="sng" dirty="0">
                <a:solidFill>
                  <a:srgbClr val="C00000"/>
                </a:solidFill>
                <a:sym typeface="Wingdings" pitchFamily="2" charset="2"/>
              </a:rPr>
              <a:t>One for each intermediate/transshipment node</a:t>
            </a:r>
          </a:p>
          <a:p>
            <a:pPr lvl="3"/>
            <a:r>
              <a:rPr lang="en-US" b="1" u="sng" dirty="0">
                <a:solidFill>
                  <a:srgbClr val="C00000"/>
                </a:solidFill>
                <a:sym typeface="Wingdings" pitchFamily="2" charset="2"/>
              </a:rPr>
              <a:t>No flow balance constraints for source nodes</a:t>
            </a:r>
          </a:p>
          <a:p>
            <a:pPr lvl="3"/>
            <a:r>
              <a:rPr lang="en-US" b="1" u="sng" dirty="0">
                <a:solidFill>
                  <a:srgbClr val="C00000"/>
                </a:solidFill>
                <a:sym typeface="Wingdings" pitchFamily="2" charset="2"/>
              </a:rPr>
              <a:t>No flow balance constraints for the sink nodes</a:t>
            </a: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2"/>
            <a:endParaRPr lang="en-US" b="1" u="sng" dirty="0">
              <a:solidFill>
                <a:srgbClr val="C00000"/>
              </a:solidFill>
              <a:sym typeface="Wingdings" pitchFamily="2" charset="2"/>
            </a:endParaRPr>
          </a:p>
          <a:p>
            <a:pPr lvl="3"/>
            <a:endParaRPr lang="en-US" dirty="0"/>
          </a:p>
          <a:p>
            <a:pPr lvl="3"/>
            <a:endParaRPr lang="en-US" dirty="0"/>
          </a:p>
          <a:p>
            <a:pPr lvl="3"/>
            <a:r>
              <a:rPr lang="en-US" dirty="0"/>
              <a:t>No flow balance for the sources and sinks because:</a:t>
            </a:r>
          </a:p>
          <a:p>
            <a:pPr lvl="4"/>
            <a:r>
              <a:rPr lang="en-US" dirty="0"/>
              <a:t>We do not know how much is going out of the sources before solving the model</a:t>
            </a:r>
          </a:p>
          <a:p>
            <a:pPr lvl="4"/>
            <a:r>
              <a:rPr lang="en-US" dirty="0">
                <a:sym typeface="Wingdings" pitchFamily="2" charset="2"/>
              </a:rPr>
              <a:t>We do not know how much is coming to the sinks before solving the model</a:t>
            </a:r>
          </a:p>
          <a:p>
            <a:pPr lvl="3"/>
            <a:endParaRPr lang="en-US" b="1" u="sng" dirty="0">
              <a:solidFill>
                <a:srgbClr val="C00000"/>
              </a:solidFill>
              <a:sym typeface="Wingdings" pitchFamily="2" charset="2"/>
            </a:endParaRPr>
          </a:p>
          <a:p>
            <a:pPr marL="914400" lvl="2" indent="0">
              <a:buNone/>
            </a:pPr>
            <a:r>
              <a:rPr lang="en-US" dirty="0"/>
              <a:t>		</a:t>
            </a:r>
          </a:p>
          <a:p>
            <a:endParaRPr lang="en-US" dirty="0"/>
          </a:p>
          <a:p>
            <a:pPr marL="457200" lvl="1" indent="0">
              <a:buNone/>
            </a:pPr>
            <a:endParaRPr lang="en-US" dirty="0"/>
          </a:p>
        </p:txBody>
      </p:sp>
      <p:sp>
        <p:nvSpPr>
          <p:cNvPr id="5" name="Rectangle 4"/>
          <p:cNvSpPr/>
          <p:nvPr/>
        </p:nvSpPr>
        <p:spPr>
          <a:xfrm>
            <a:off x="2539427" y="3093582"/>
            <a:ext cx="7078861" cy="461665"/>
          </a:xfrm>
          <a:prstGeom prst="rect">
            <a:avLst/>
          </a:prstGeom>
        </p:spPr>
        <p:txBody>
          <a:bodyPr wrap="none">
            <a:spAutoFit/>
          </a:bodyPr>
          <a:lstStyle/>
          <a:p>
            <a:pPr lvl="1"/>
            <a:r>
              <a:rPr lang="en-US" sz="2400" dirty="0"/>
              <a:t>What is going out – What is coming in = Node Value</a:t>
            </a:r>
          </a:p>
        </p:txBody>
      </p:sp>
      <p:sp>
        <p:nvSpPr>
          <p:cNvPr id="8" name="Left Brace 7"/>
          <p:cNvSpPr/>
          <p:nvPr/>
        </p:nvSpPr>
        <p:spPr bwMode="auto">
          <a:xfrm rot="16200000">
            <a:off x="5212327" y="1418437"/>
            <a:ext cx="383234" cy="4656855"/>
          </a:xfrm>
          <a:prstGeom prst="leftBrace">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
        <p:nvSpPr>
          <p:cNvPr id="9" name="TextBox 8"/>
          <p:cNvSpPr txBox="1"/>
          <p:nvPr/>
        </p:nvSpPr>
        <p:spPr>
          <a:xfrm>
            <a:off x="4565744" y="3949919"/>
            <a:ext cx="1676400" cy="369332"/>
          </a:xfrm>
          <a:prstGeom prst="rect">
            <a:avLst/>
          </a:prstGeom>
          <a:noFill/>
        </p:spPr>
        <p:txBody>
          <a:bodyPr wrap="square" rtlCol="0">
            <a:spAutoFit/>
          </a:bodyPr>
          <a:lstStyle/>
          <a:p>
            <a:pPr algn="ctr"/>
            <a:r>
              <a:rPr lang="en-US" dirty="0">
                <a:solidFill>
                  <a:srgbClr val="FF0000"/>
                </a:solidFill>
              </a:rPr>
              <a:t>Net Flow</a:t>
            </a:r>
          </a:p>
        </p:txBody>
      </p:sp>
      <p:sp>
        <p:nvSpPr>
          <p:cNvPr id="10" name="TextBox 9"/>
          <p:cNvSpPr txBox="1"/>
          <p:nvPr/>
        </p:nvSpPr>
        <p:spPr>
          <a:xfrm>
            <a:off x="7248675" y="4016912"/>
            <a:ext cx="3044230" cy="923330"/>
          </a:xfrm>
          <a:prstGeom prst="rect">
            <a:avLst/>
          </a:prstGeom>
          <a:noFill/>
        </p:spPr>
        <p:txBody>
          <a:bodyPr wrap="square" rtlCol="0">
            <a:spAutoFit/>
          </a:bodyPr>
          <a:lstStyle/>
          <a:p>
            <a:pPr algn="ctr"/>
            <a:r>
              <a:rPr lang="en-US" dirty="0">
                <a:solidFill>
                  <a:srgbClr val="FF0000"/>
                </a:solidFill>
              </a:rPr>
              <a:t>0 for </a:t>
            </a:r>
          </a:p>
          <a:p>
            <a:pPr algn="ctr"/>
            <a:r>
              <a:rPr lang="en-US" dirty="0">
                <a:solidFill>
                  <a:srgbClr val="FF0000"/>
                </a:solidFill>
              </a:rPr>
              <a:t>intermediate/transshipment </a:t>
            </a:r>
          </a:p>
          <a:p>
            <a:pPr algn="ctr"/>
            <a:r>
              <a:rPr lang="en-US" dirty="0">
                <a:solidFill>
                  <a:srgbClr val="FF0000"/>
                </a:solidFill>
              </a:rPr>
              <a:t>nodes</a:t>
            </a:r>
          </a:p>
        </p:txBody>
      </p:sp>
      <p:sp>
        <p:nvSpPr>
          <p:cNvPr id="11" name="Left Brace 10"/>
          <p:cNvSpPr/>
          <p:nvPr/>
        </p:nvSpPr>
        <p:spPr bwMode="auto">
          <a:xfrm rot="16200000">
            <a:off x="8579173" y="3057965"/>
            <a:ext cx="383234" cy="1377799"/>
          </a:xfrm>
          <a:prstGeom prst="leftBrace">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ＭＳ Ｐゴシック" pitchFamily="16" charset="-128"/>
            </a:endParaRPr>
          </a:p>
        </p:txBody>
      </p:sp>
    </p:spTree>
    <p:extLst>
      <p:ext uri="{BB962C8B-B14F-4D97-AF65-F5344CB8AC3E}">
        <p14:creationId xmlns:p14="http://schemas.microsoft.com/office/powerpoint/2010/main" val="396213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0" grpId="0"/>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Case: The BMZ Co. Problem</a:t>
            </a:r>
          </a:p>
          <a:p>
            <a:pPr lvl="1"/>
            <a:r>
              <a:rPr lang="en-US" b="1" dirty="0">
                <a:solidFill>
                  <a:srgbClr val="C00000"/>
                </a:solidFill>
              </a:rPr>
              <a:t>Algebraic Model:</a:t>
            </a:r>
          </a:p>
          <a:p>
            <a:pPr marL="1828800" lvl="4" indent="0">
              <a:buNone/>
            </a:pPr>
            <a:endParaRPr lang="en-US" dirty="0"/>
          </a:p>
          <a:p>
            <a:pPr marL="0" indent="0">
              <a:buNone/>
            </a:pPr>
            <a:r>
              <a:rPr lang="en-US" sz="1800" dirty="0"/>
              <a:t>	</a:t>
            </a:r>
            <a:endParaRPr lang="en-US" dirty="0">
              <a:solidFill>
                <a:srgbClr val="FF0000"/>
              </a:solidFill>
            </a:endParaRPr>
          </a:p>
          <a:p>
            <a:endParaRPr lang="en-US" dirty="0">
              <a:solidFill>
                <a:srgbClr val="FF0000"/>
              </a:solidFill>
            </a:endParaRPr>
          </a:p>
          <a:p>
            <a:endParaRPr lang="en-US" dirty="0"/>
          </a:p>
        </p:txBody>
      </p:sp>
      <p:sp>
        <p:nvSpPr>
          <p:cNvPr id="5" name="Rounded Rectangle 4"/>
          <p:cNvSpPr/>
          <p:nvPr/>
        </p:nvSpPr>
        <p:spPr>
          <a:xfrm>
            <a:off x="947059" y="2139948"/>
            <a:ext cx="6912427" cy="458742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682755919"/>
              </p:ext>
            </p:extLst>
          </p:nvPr>
        </p:nvGraphicFramePr>
        <p:xfrm>
          <a:off x="539750" y="2280920"/>
          <a:ext cx="7908925" cy="4760913"/>
        </p:xfrm>
        <a:graphic>
          <a:graphicData uri="http://schemas.openxmlformats.org/presentationml/2006/ole">
            <mc:AlternateContent xmlns:mc="http://schemas.openxmlformats.org/markup-compatibility/2006">
              <mc:Choice xmlns:v="urn:schemas-microsoft-com:vml" Requires="v">
                <p:oleObj name="Document" r:id="rId3" imgW="5956300" imgH="3581400" progId="Word.Document.12">
                  <p:embed/>
                </p:oleObj>
              </mc:Choice>
              <mc:Fallback>
                <p:oleObj name="Document" r:id="rId3" imgW="5956300" imgH="3581400" progId="Word.Document.12">
                  <p:embed/>
                  <p:pic>
                    <p:nvPicPr>
                      <p:cNvPr id="6" name="Object 5"/>
                      <p:cNvPicPr/>
                      <p:nvPr/>
                    </p:nvPicPr>
                    <p:blipFill>
                      <a:blip r:embed="rId4"/>
                      <a:stretch>
                        <a:fillRect/>
                      </a:stretch>
                    </p:blipFill>
                    <p:spPr>
                      <a:xfrm>
                        <a:off x="539750" y="2280920"/>
                        <a:ext cx="7908925" cy="4760913"/>
                      </a:xfrm>
                      <a:prstGeom prst="rect">
                        <a:avLst/>
                      </a:prstGeom>
                    </p:spPr>
                  </p:pic>
                </p:oleObj>
              </mc:Fallback>
            </mc:AlternateContent>
          </a:graphicData>
        </a:graphic>
      </p:graphicFrame>
      <p:sp>
        <p:nvSpPr>
          <p:cNvPr id="7" name="Right Brace 6"/>
          <p:cNvSpPr/>
          <p:nvPr/>
        </p:nvSpPr>
        <p:spPr bwMode="auto">
          <a:xfrm>
            <a:off x="7933622" y="2494083"/>
            <a:ext cx="457200" cy="129540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8" name="TextBox 7"/>
          <p:cNvSpPr txBox="1"/>
          <p:nvPr/>
        </p:nvSpPr>
        <p:spPr>
          <a:xfrm>
            <a:off x="8451543" y="2714379"/>
            <a:ext cx="2286000" cy="1384995"/>
          </a:xfrm>
          <a:prstGeom prst="rect">
            <a:avLst/>
          </a:prstGeom>
          <a:noFill/>
        </p:spPr>
        <p:txBody>
          <a:bodyPr wrap="square" rtlCol="0">
            <a:spAutoFit/>
          </a:bodyPr>
          <a:lstStyle/>
          <a:p>
            <a:pPr marL="285750" indent="-285750">
              <a:buFont typeface="Arial" panose="020B0604020202020204" pitchFamily="34" charset="0"/>
              <a:buChar char="•"/>
            </a:pPr>
            <a:r>
              <a:rPr lang="en-US" sz="1400" b="1" u="sng" dirty="0">
                <a:solidFill>
                  <a:srgbClr val="FF0000"/>
                </a:solidFill>
              </a:rPr>
              <a:t>No</a:t>
            </a:r>
            <a:r>
              <a:rPr lang="en-US" sz="1400" u="sng" dirty="0">
                <a:solidFill>
                  <a:srgbClr val="FF0000"/>
                </a:solidFill>
              </a:rPr>
              <a:t> flow balance constraints for the </a:t>
            </a:r>
            <a:r>
              <a:rPr lang="en-US" sz="1400" b="1" u="sng" dirty="0">
                <a:solidFill>
                  <a:srgbClr val="FF0000"/>
                </a:solidFill>
              </a:rPr>
              <a:t>sinks</a:t>
            </a:r>
            <a:r>
              <a:rPr lang="en-US" sz="1400" u="sng" dirty="0">
                <a:solidFill>
                  <a:srgbClr val="FF0000"/>
                </a:solidFill>
              </a:rPr>
              <a:t> and </a:t>
            </a:r>
            <a:r>
              <a:rPr lang="en-US" sz="1400" b="1" u="sng" dirty="0">
                <a:solidFill>
                  <a:srgbClr val="FF0000"/>
                </a:solidFill>
              </a:rPr>
              <a:t>sources</a:t>
            </a:r>
          </a:p>
          <a:p>
            <a:pPr marL="285750" indent="-285750">
              <a:buFont typeface="Arial" panose="020B0604020202020204" pitchFamily="34" charset="0"/>
              <a:buChar char="•"/>
            </a:pPr>
            <a:r>
              <a:rPr lang="en-US" sz="1400" dirty="0">
                <a:solidFill>
                  <a:srgbClr val="FF0000"/>
                </a:solidFill>
              </a:rPr>
              <a:t>A Flow balance constraint for each intermediate node</a:t>
            </a:r>
          </a:p>
        </p:txBody>
      </p:sp>
      <p:sp>
        <p:nvSpPr>
          <p:cNvPr id="9" name="Right Brace 8"/>
          <p:cNvSpPr/>
          <p:nvPr/>
        </p:nvSpPr>
        <p:spPr bwMode="auto">
          <a:xfrm>
            <a:off x="7933622" y="3922360"/>
            <a:ext cx="457200" cy="2498179"/>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0" name="TextBox 9"/>
          <p:cNvSpPr txBox="1"/>
          <p:nvPr/>
        </p:nvSpPr>
        <p:spPr>
          <a:xfrm>
            <a:off x="8466782" y="4582886"/>
            <a:ext cx="1733131" cy="2185214"/>
          </a:xfrm>
          <a:prstGeom prst="rect">
            <a:avLst/>
          </a:prstGeom>
          <a:noFill/>
        </p:spPr>
        <p:txBody>
          <a:bodyPr wrap="square" rtlCol="0">
            <a:spAutoFit/>
          </a:bodyPr>
          <a:lstStyle/>
          <a:p>
            <a:endParaRPr lang="en-US" sz="1400" dirty="0">
              <a:solidFill>
                <a:srgbClr val="FF0000"/>
              </a:solidFill>
            </a:endParaRPr>
          </a:p>
          <a:p>
            <a:pPr>
              <a:spcAft>
                <a:spcPts val="600"/>
              </a:spcAft>
            </a:pPr>
            <a:r>
              <a:rPr lang="en-US" sz="1400" dirty="0">
                <a:solidFill>
                  <a:srgbClr val="FF0000"/>
                </a:solidFill>
              </a:rPr>
              <a:t>Arc capacity constraint for each capacitated arc</a:t>
            </a:r>
          </a:p>
          <a:p>
            <a:endParaRPr lang="en-US" sz="1400" dirty="0">
              <a:solidFill>
                <a:srgbClr val="FF0000"/>
              </a:solidFill>
            </a:endParaRPr>
          </a:p>
          <a:p>
            <a:endParaRPr lang="en-US" sz="1400" dirty="0">
              <a:solidFill>
                <a:srgbClr val="FF0000"/>
              </a:solidFill>
            </a:endParaRPr>
          </a:p>
          <a:p>
            <a:endParaRPr lang="en-US" sz="1400" dirty="0">
              <a:solidFill>
                <a:srgbClr val="FF0000"/>
              </a:solidFill>
            </a:endParaRPr>
          </a:p>
          <a:p>
            <a:endParaRPr lang="en-US" sz="1400" dirty="0">
              <a:solidFill>
                <a:srgbClr val="FF0000"/>
              </a:solidFill>
            </a:endParaRPr>
          </a:p>
          <a:p>
            <a:r>
              <a:rPr lang="en-US" sz="1400" dirty="0">
                <a:solidFill>
                  <a:srgbClr val="FF0000"/>
                </a:solidFill>
              </a:rPr>
              <a:t>Non-negativity</a:t>
            </a:r>
          </a:p>
        </p:txBody>
      </p:sp>
      <p:sp>
        <p:nvSpPr>
          <p:cNvPr id="11" name="Right Brace 10"/>
          <p:cNvSpPr/>
          <p:nvPr/>
        </p:nvSpPr>
        <p:spPr bwMode="auto">
          <a:xfrm>
            <a:off x="7933622" y="6453050"/>
            <a:ext cx="457200" cy="220006"/>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Tree>
    <p:extLst>
      <p:ext uri="{BB962C8B-B14F-4D97-AF65-F5344CB8AC3E}">
        <p14:creationId xmlns:p14="http://schemas.microsoft.com/office/powerpoint/2010/main" val="112470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Flow Problem</a:t>
            </a:r>
          </a:p>
        </p:txBody>
      </p:sp>
      <p:sp>
        <p:nvSpPr>
          <p:cNvPr id="3" name="Content Placeholder 2"/>
          <p:cNvSpPr>
            <a:spLocks noGrp="1"/>
          </p:cNvSpPr>
          <p:nvPr>
            <p:ph idx="1"/>
          </p:nvPr>
        </p:nvSpPr>
        <p:spPr/>
        <p:txBody>
          <a:bodyPr/>
          <a:lstStyle/>
          <a:p>
            <a:r>
              <a:rPr lang="en-US" b="1" u="sng" dirty="0"/>
              <a:t>Case: The BMZ Co. Problem</a:t>
            </a:r>
          </a:p>
          <a:p>
            <a:pPr lvl="1"/>
            <a:r>
              <a:rPr lang="en-US" b="1" dirty="0">
                <a:solidFill>
                  <a:srgbClr val="C00000"/>
                </a:solidFill>
              </a:rPr>
              <a:t>Spreadsheet Model:</a:t>
            </a:r>
          </a:p>
          <a:p>
            <a:pPr marL="1828800" lvl="4" indent="0">
              <a:buNone/>
            </a:pPr>
            <a:endParaRPr lang="en-US" dirty="0"/>
          </a:p>
          <a:p>
            <a:endParaRPr lang="en-US" dirty="0">
              <a:solidFill>
                <a:srgbClr val="FF0000"/>
              </a:solidFill>
            </a:endParaRPr>
          </a:p>
          <a:p>
            <a:endParaRPr lang="en-US" dirty="0">
              <a:solidFill>
                <a:srgbClr val="FF0000"/>
              </a:solidFill>
            </a:endParaRPr>
          </a:p>
          <a:p>
            <a:endParaRPr lang="en-US" dirty="0"/>
          </a:p>
        </p:txBody>
      </p:sp>
      <p:sp>
        <p:nvSpPr>
          <p:cNvPr id="4" name="Rectangle 3"/>
          <p:cNvSpPr/>
          <p:nvPr/>
        </p:nvSpPr>
        <p:spPr>
          <a:xfrm>
            <a:off x="2710543" y="4869410"/>
            <a:ext cx="7532914" cy="646331"/>
          </a:xfrm>
          <a:prstGeom prst="rect">
            <a:avLst/>
          </a:prstGeom>
        </p:spPr>
        <p:txBody>
          <a:bodyPr wrap="square">
            <a:spAutoFit/>
          </a:bodyPr>
          <a:lstStyle/>
          <a:p>
            <a:r>
              <a:rPr lang="en-US" dirty="0"/>
              <a:t>We can use the SUMIF function for the flow balance constraints:</a:t>
            </a:r>
          </a:p>
          <a:p>
            <a:pPr algn="ctr"/>
            <a:r>
              <a:rPr lang="en-US" b="1" dirty="0"/>
              <a:t>	=SUMIF(“From labels”, </a:t>
            </a:r>
            <a:r>
              <a:rPr lang="en-US" b="1" i="1" dirty="0"/>
              <a:t>x</a:t>
            </a:r>
            <a:r>
              <a:rPr lang="en-US" b="1" dirty="0"/>
              <a:t>, “Flow”) – SUMIF(“To labels”, </a:t>
            </a:r>
            <a:r>
              <a:rPr lang="en-US" b="1" i="1" dirty="0"/>
              <a:t>x</a:t>
            </a:r>
            <a:r>
              <a:rPr lang="en-US" b="1" dirty="0"/>
              <a:t>, “Flow”)</a:t>
            </a:r>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2525168546"/>
              </p:ext>
            </p:extLst>
          </p:nvPr>
        </p:nvGraphicFramePr>
        <p:xfrm>
          <a:off x="812264" y="2246823"/>
          <a:ext cx="8180388" cy="2163763"/>
        </p:xfrm>
        <a:graphic>
          <a:graphicData uri="http://schemas.openxmlformats.org/presentationml/2006/ole">
            <mc:AlternateContent xmlns:mc="http://schemas.openxmlformats.org/markup-compatibility/2006">
              <mc:Choice xmlns:v="urn:schemas-microsoft-com:vml" Requires="v">
                <p:oleObj name="Worksheet" r:id="rId3" imgW="7674864" imgH="2029968" progId="Excel.Sheet.8">
                  <p:embed/>
                </p:oleObj>
              </mc:Choice>
              <mc:Fallback>
                <p:oleObj name="Worksheet" r:id="rId3" imgW="7674864" imgH="2029968" progId="Excel.Sheet.8">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264" y="2246823"/>
                        <a:ext cx="8180388" cy="216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4170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solidFill>
                  <a:schemeClr val="bg2"/>
                </a:solidFill>
              </a:rPr>
              <a:t>Maximum Flow Problem (Chapter 6.2 - 6.3)</a:t>
            </a:r>
          </a:p>
          <a:p>
            <a:r>
              <a:rPr lang="en-US" dirty="0"/>
              <a:t>Shortest Path Problem (Chapter 6.4)</a:t>
            </a:r>
          </a:p>
          <a:p>
            <a:r>
              <a:rPr lang="en-US" dirty="0">
                <a:solidFill>
                  <a:schemeClr val="bg2"/>
                </a:solidFill>
              </a:rPr>
              <a:t>Minimum Spanning Tree Problem (Chapter 6S)</a:t>
            </a:r>
          </a:p>
          <a:p>
            <a:r>
              <a:rPr lang="en-US" dirty="0">
                <a:solidFill>
                  <a:schemeClr val="bg2"/>
                </a:solidFill>
              </a:rPr>
              <a:t>Network Modifications (not in the textbook)</a:t>
            </a:r>
          </a:p>
          <a:p>
            <a:r>
              <a:rPr lang="en-US" dirty="0">
                <a:solidFill>
                  <a:schemeClr val="bg2"/>
                </a:solidFill>
              </a:rPr>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1991212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lstStyle/>
          <a:p>
            <a:r>
              <a:rPr lang="en-US" b="1" u="sng" dirty="0"/>
              <a:t>Introduction:</a:t>
            </a:r>
            <a:r>
              <a:rPr lang="en-US" b="1" dirty="0"/>
              <a:t> </a:t>
            </a:r>
            <a:r>
              <a:rPr lang="en-US" dirty="0"/>
              <a:t>In a shortest path problem</a:t>
            </a:r>
          </a:p>
          <a:p>
            <a:pPr lvl="1"/>
            <a:r>
              <a:rPr lang="en-US" dirty="0"/>
              <a:t>There is an origin node</a:t>
            </a:r>
          </a:p>
          <a:p>
            <a:pPr lvl="1"/>
            <a:r>
              <a:rPr lang="en-US" dirty="0"/>
              <a:t>There is a destination node</a:t>
            </a:r>
          </a:p>
          <a:p>
            <a:pPr lvl="1"/>
            <a:r>
              <a:rPr lang="en-US" dirty="0"/>
              <a:t>Each arc has a distance (might be cost, time, risk, etc. depending on the application)</a:t>
            </a:r>
          </a:p>
          <a:p>
            <a:pPr lvl="1"/>
            <a:r>
              <a:rPr lang="en-US" b="1" u="sng" dirty="0"/>
              <a:t>Problem Description: </a:t>
            </a:r>
            <a:r>
              <a:rPr lang="en-US" dirty="0"/>
              <a:t>Find the shortest path from the origin to the destination on the network.</a:t>
            </a:r>
          </a:p>
          <a:p>
            <a:pPr lvl="2"/>
            <a:r>
              <a:rPr lang="en-US" b="1" u="sng" dirty="0">
                <a:solidFill>
                  <a:srgbClr val="C00000"/>
                </a:solidFill>
              </a:rPr>
              <a:t>Path: </a:t>
            </a:r>
            <a:r>
              <a:rPr lang="en-US" dirty="0"/>
              <a:t>A collection of arcs that lead from the origin node to the destination node</a:t>
            </a:r>
          </a:p>
          <a:p>
            <a:pPr lvl="1"/>
            <a:r>
              <a:rPr lang="en-US" dirty="0"/>
              <a:t>Using a case, we will discuss:</a:t>
            </a:r>
          </a:p>
          <a:p>
            <a:pPr lvl="2"/>
            <a:r>
              <a:rPr lang="en-US" dirty="0"/>
              <a:t>Algebraic modeling (not in the textbook)</a:t>
            </a:r>
          </a:p>
          <a:p>
            <a:pPr lvl="2"/>
            <a:r>
              <a:rPr lang="en-US" dirty="0"/>
              <a:t>Spreadsheet modeling (Chapter 6.4)</a:t>
            </a:r>
          </a:p>
          <a:p>
            <a:endParaRPr lang="en-US" dirty="0"/>
          </a:p>
          <a:p>
            <a:endParaRPr lang="en-US" dirty="0"/>
          </a:p>
          <a:p>
            <a:endParaRPr lang="en-US" dirty="0"/>
          </a:p>
          <a:p>
            <a:endParaRPr lang="en-US" dirty="0"/>
          </a:p>
          <a:p>
            <a:pPr lvl="1"/>
            <a:endParaRPr lang="en-US" dirty="0"/>
          </a:p>
        </p:txBody>
      </p:sp>
      <p:sp>
        <p:nvSpPr>
          <p:cNvPr id="4" name="Rectangle 3"/>
          <p:cNvSpPr/>
          <p:nvPr/>
        </p:nvSpPr>
        <p:spPr>
          <a:xfrm>
            <a:off x="6094207" y="4577754"/>
            <a:ext cx="5869193" cy="1569660"/>
          </a:xfrm>
          <a:prstGeom prst="rect">
            <a:avLst/>
          </a:prstGeom>
        </p:spPr>
        <p:txBody>
          <a:bodyPr wrap="square">
            <a:spAutoFit/>
          </a:bodyPr>
          <a:lstStyle/>
          <a:p>
            <a:r>
              <a:rPr lang="en-US" sz="1600" b="1" u="sng" dirty="0"/>
              <a:t>Applications:</a:t>
            </a:r>
          </a:p>
          <a:p>
            <a:pPr marL="285750" indent="-285750">
              <a:buFont typeface="Arial" panose="020B0604020202020204" pitchFamily="34" charset="0"/>
              <a:buChar char="•"/>
            </a:pPr>
            <a:r>
              <a:rPr lang="en-US" sz="1600" dirty="0"/>
              <a:t>Routing (</a:t>
            </a:r>
            <a:r>
              <a:rPr lang="en-US" sz="1600" dirty="0" err="1"/>
              <a:t>gps</a:t>
            </a:r>
            <a:r>
              <a:rPr lang="en-US" sz="1600" dirty="0"/>
              <a:t>)</a:t>
            </a:r>
          </a:p>
          <a:p>
            <a:pPr marL="285750" indent="-285750">
              <a:buFont typeface="Arial" panose="020B0604020202020204" pitchFamily="34" charset="0"/>
              <a:buChar char="•"/>
            </a:pPr>
            <a:r>
              <a:rPr lang="en-US" sz="1600" dirty="0"/>
              <a:t>Maintenance (see Sarah’s car maintenance problem, page 212-214)</a:t>
            </a:r>
          </a:p>
          <a:p>
            <a:pPr marL="285750" indent="-285750">
              <a:buFont typeface="Arial" panose="020B0604020202020204" pitchFamily="34" charset="0"/>
              <a:buChar char="•"/>
            </a:pPr>
            <a:r>
              <a:rPr lang="en-US" sz="1600" dirty="0"/>
              <a:t>Project Management (see Quick Company problem, page 214-218</a:t>
            </a:r>
          </a:p>
        </p:txBody>
      </p:sp>
    </p:spTree>
    <p:extLst>
      <p:ext uri="{BB962C8B-B14F-4D97-AF65-F5344CB8AC3E}">
        <p14:creationId xmlns:p14="http://schemas.microsoft.com/office/powerpoint/2010/main" val="149526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lstStyle/>
          <a:p>
            <a:r>
              <a:rPr lang="en-US" b="1" u="sng" dirty="0"/>
              <a:t>Case: </a:t>
            </a:r>
            <a:r>
              <a:rPr lang="en-US" b="1" u="sng" dirty="0" err="1"/>
              <a:t>Littletown</a:t>
            </a:r>
            <a:r>
              <a:rPr lang="en-US" b="1" u="sng" dirty="0"/>
              <a:t> Fire Department Problem</a:t>
            </a:r>
          </a:p>
          <a:p>
            <a:pPr lvl="1"/>
            <a:r>
              <a:rPr lang="en-US" dirty="0" err="1"/>
              <a:t>Littletown</a:t>
            </a:r>
            <a:r>
              <a:rPr lang="en-US" dirty="0"/>
              <a:t> is a small town in a rural area</a:t>
            </a:r>
          </a:p>
          <a:p>
            <a:pPr lvl="2"/>
            <a:r>
              <a:rPr lang="en-US" dirty="0"/>
              <a:t>Its fire department serves a relatively large geographical area that includes many farming communities.</a:t>
            </a:r>
          </a:p>
          <a:p>
            <a:pPr lvl="2"/>
            <a:r>
              <a:rPr lang="en-US" dirty="0"/>
              <a:t>Since there are numerous roads throughout the area, many possible routes may be available for traveling to any given farming community.</a:t>
            </a:r>
          </a:p>
          <a:p>
            <a:pPr lvl="2"/>
            <a:endParaRPr lang="en-US" dirty="0"/>
          </a:p>
          <a:p>
            <a:endParaRPr lang="en-US" dirty="0"/>
          </a:p>
          <a:p>
            <a:endParaRPr lang="en-US" dirty="0"/>
          </a:p>
          <a:p>
            <a:endParaRPr lang="en-US" dirty="0"/>
          </a:p>
          <a:p>
            <a:endParaRPr lang="en-US" dirty="0"/>
          </a:p>
          <a:p>
            <a:endParaRPr lang="en-US" dirty="0"/>
          </a:p>
          <a:p>
            <a:pPr lvl="1"/>
            <a:endParaRPr lang="en-US"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484" y="3142604"/>
            <a:ext cx="6814458" cy="314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355001" y="4046210"/>
            <a:ext cx="4336741" cy="1938992"/>
          </a:xfrm>
          <a:prstGeom prst="rect">
            <a:avLst/>
          </a:prstGeom>
        </p:spPr>
        <p:txBody>
          <a:bodyPr wrap="square">
            <a:spAutoFit/>
          </a:bodyPr>
          <a:lstStyle/>
          <a:p>
            <a:pPr marL="742950" lvl="1" indent="-285750">
              <a:buFont typeface="Arial" panose="020B0604020202020204" pitchFamily="34" charset="0"/>
              <a:buChar char="•"/>
            </a:pPr>
            <a:r>
              <a:rPr lang="en-US" sz="2400" b="1" dirty="0">
                <a:solidFill>
                  <a:srgbClr val="C00000"/>
                </a:solidFill>
              </a:rPr>
              <a:t>Question: </a:t>
            </a:r>
            <a:r>
              <a:rPr lang="en-US" sz="2400" dirty="0"/>
              <a:t>Which route from the fire station to a certain farming community minimizes the total number of miles?</a:t>
            </a:r>
          </a:p>
        </p:txBody>
      </p:sp>
    </p:spTree>
    <p:extLst>
      <p:ext uri="{BB962C8B-B14F-4D97-AF65-F5344CB8AC3E}">
        <p14:creationId xmlns:p14="http://schemas.microsoft.com/office/powerpoint/2010/main" val="87544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normAutofit lnSpcReduction="10000"/>
          </a:bodyPr>
          <a:lstStyle/>
          <a:p>
            <a:r>
              <a:rPr lang="en-US" b="1" u="sng" dirty="0"/>
              <a:t>Case: </a:t>
            </a:r>
            <a:r>
              <a:rPr lang="en-US" b="1" u="sng" dirty="0" err="1"/>
              <a:t>Littletown</a:t>
            </a:r>
            <a:r>
              <a:rPr lang="en-US" b="1" u="sng" dirty="0"/>
              <a:t> Fire Department Problem</a:t>
            </a:r>
          </a:p>
          <a:p>
            <a:pPr lvl="1"/>
            <a:r>
              <a:rPr lang="en-US" dirty="0"/>
              <a:t>A network representation</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A path is a collection of arcs lead from origin to destination</a:t>
            </a:r>
          </a:p>
          <a:p>
            <a:pPr lvl="2"/>
            <a:r>
              <a:rPr lang="en-US" b="1" dirty="0">
                <a:solidFill>
                  <a:srgbClr val="FF0000"/>
                </a:solidFill>
              </a:rPr>
              <a:t>O</a:t>
            </a:r>
            <a:r>
              <a:rPr lang="en-US" dirty="0">
                <a:solidFill>
                  <a:srgbClr val="FF0000"/>
                </a:solidFill>
                <a:sym typeface="Wingdings" panose="05000000000000000000" pitchFamily="2" charset="2"/>
              </a:rPr>
              <a:t>BDF</a:t>
            </a:r>
            <a:r>
              <a:rPr lang="en-US" b="1" dirty="0">
                <a:solidFill>
                  <a:srgbClr val="FF0000"/>
                </a:solidFill>
                <a:sym typeface="Wingdings" panose="05000000000000000000" pitchFamily="2" charset="2"/>
              </a:rPr>
              <a:t>T</a:t>
            </a:r>
            <a:r>
              <a:rPr lang="en-US" dirty="0">
                <a:solidFill>
                  <a:srgbClr val="FF0000"/>
                </a:solidFill>
                <a:sym typeface="Wingdings" panose="05000000000000000000" pitchFamily="2" charset="2"/>
              </a:rPr>
              <a:t> </a:t>
            </a:r>
            <a:r>
              <a:rPr lang="en-US" dirty="0">
                <a:sym typeface="Wingdings" panose="05000000000000000000" pitchFamily="2" charset="2"/>
              </a:rPr>
              <a:t>is one path with a total distance of 22 miles</a:t>
            </a:r>
          </a:p>
          <a:p>
            <a:pPr lvl="2"/>
            <a:r>
              <a:rPr lang="en-US" b="1" dirty="0">
                <a:solidFill>
                  <a:srgbClr val="00B0F0"/>
                </a:solidFill>
                <a:sym typeface="Wingdings" panose="05000000000000000000" pitchFamily="2" charset="2"/>
              </a:rPr>
              <a:t>O</a:t>
            </a:r>
            <a:r>
              <a:rPr lang="en-US" dirty="0">
                <a:solidFill>
                  <a:srgbClr val="00B0F0"/>
                </a:solidFill>
                <a:sym typeface="Wingdings" panose="05000000000000000000" pitchFamily="2" charset="2"/>
              </a:rPr>
              <a:t>CBEGH</a:t>
            </a:r>
            <a:r>
              <a:rPr lang="en-US" b="1" dirty="0">
                <a:solidFill>
                  <a:srgbClr val="00B0F0"/>
                </a:solidFill>
                <a:sym typeface="Wingdings" panose="05000000000000000000" pitchFamily="2" charset="2"/>
              </a:rPr>
              <a:t>T</a:t>
            </a:r>
            <a:r>
              <a:rPr lang="en-US" dirty="0">
                <a:solidFill>
                  <a:srgbClr val="00B0F0"/>
                </a:solidFill>
                <a:sym typeface="Wingdings" panose="05000000000000000000" pitchFamily="2" charset="2"/>
              </a:rPr>
              <a:t> </a:t>
            </a:r>
            <a:r>
              <a:rPr lang="en-US" dirty="0">
                <a:sym typeface="Wingdings" panose="05000000000000000000" pitchFamily="2" charset="2"/>
              </a:rPr>
              <a:t>is another path with total distance of 25 miles</a:t>
            </a:r>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pic>
        <p:nvPicPr>
          <p:cNvPr id="5" name="Picture 4"/>
          <p:cNvPicPr>
            <a:picLocks noChangeAspect="1"/>
          </p:cNvPicPr>
          <p:nvPr/>
        </p:nvPicPr>
        <p:blipFill>
          <a:blip r:embed="rId3"/>
          <a:stretch>
            <a:fillRect/>
          </a:stretch>
        </p:blipFill>
        <p:spPr>
          <a:xfrm>
            <a:off x="1600880" y="2225460"/>
            <a:ext cx="6943725" cy="3038475"/>
          </a:xfrm>
          <a:prstGeom prst="rect">
            <a:avLst/>
          </a:prstGeom>
        </p:spPr>
      </p:pic>
      <p:sp>
        <p:nvSpPr>
          <p:cNvPr id="56" name="TextBox 55"/>
          <p:cNvSpPr txBox="1"/>
          <p:nvPr/>
        </p:nvSpPr>
        <p:spPr>
          <a:xfrm>
            <a:off x="8871178" y="4223947"/>
            <a:ext cx="2911949" cy="1200329"/>
          </a:xfrm>
          <a:prstGeom prst="rect">
            <a:avLst/>
          </a:prstGeom>
          <a:noFill/>
        </p:spPr>
        <p:txBody>
          <a:bodyPr wrap="square" rtlCol="0">
            <a:spAutoFit/>
          </a:bodyPr>
          <a:lstStyle/>
          <a:p>
            <a:r>
              <a:rPr lang="en-US" sz="2400" dirty="0">
                <a:solidFill>
                  <a:srgbClr val="C00000"/>
                </a:solidFill>
              </a:rPr>
              <a:t>Find the path with the minimum total distance.</a:t>
            </a:r>
          </a:p>
        </p:txBody>
      </p:sp>
      <p:cxnSp>
        <p:nvCxnSpPr>
          <p:cNvPr id="60" name="Straight Connector 59"/>
          <p:cNvCxnSpPr/>
          <p:nvPr/>
        </p:nvCxnSpPr>
        <p:spPr>
          <a:xfrm>
            <a:off x="2351314" y="2939143"/>
            <a:ext cx="1066800" cy="805554"/>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V="1">
            <a:off x="3744686" y="2939143"/>
            <a:ext cx="1088571" cy="70757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5132294" y="2427514"/>
            <a:ext cx="1072563" cy="39794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6503894" y="2515825"/>
            <a:ext cx="1050792" cy="510404"/>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475840" y="3046720"/>
            <a:ext cx="681017" cy="1895394"/>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H="1">
            <a:off x="3281383" y="3825933"/>
            <a:ext cx="256474" cy="1116181"/>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744687" y="3744697"/>
            <a:ext cx="1162379" cy="79522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H="1">
            <a:off x="5233641" y="3907971"/>
            <a:ext cx="1006586" cy="631953"/>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6301187" y="3907971"/>
            <a:ext cx="589292" cy="816429"/>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flipH="1">
            <a:off x="6944443" y="3133806"/>
            <a:ext cx="725954" cy="1590594"/>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62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Minimum-Cost Flow Problem</a:t>
            </a:r>
          </a:p>
        </p:txBody>
      </p:sp>
      <p:sp>
        <p:nvSpPr>
          <p:cNvPr id="3" name="Content Placeholder 2"/>
          <p:cNvSpPr>
            <a:spLocks noGrp="1"/>
          </p:cNvSpPr>
          <p:nvPr>
            <p:ph idx="1"/>
          </p:nvPr>
        </p:nvSpPr>
        <p:spPr/>
        <p:txBody>
          <a:bodyPr>
            <a:normAutofit fontScale="92500" lnSpcReduction="10000"/>
          </a:bodyPr>
          <a:lstStyle/>
          <a:p>
            <a:r>
              <a:rPr lang="en-US" b="1" u="sng" dirty="0"/>
              <a:t>Assumptions of Shortest Path Problem:</a:t>
            </a:r>
          </a:p>
          <a:p>
            <a:pPr marL="1371600" lvl="2" indent="-457200">
              <a:buFont typeface="+mj-lt"/>
              <a:buAutoNum type="arabicPeriod"/>
            </a:pPr>
            <a:r>
              <a:rPr lang="en-US" dirty="0"/>
              <a:t>You need to choose a path through the network that starts at a certain node, called the origin, and ends at another certain node, called the destination.</a:t>
            </a:r>
          </a:p>
          <a:p>
            <a:pPr marL="1371600" lvl="2" indent="-457200">
              <a:buFont typeface="+mj-lt"/>
              <a:buAutoNum type="arabicPeriod"/>
            </a:pPr>
            <a:r>
              <a:rPr lang="en-US" dirty="0"/>
              <a:t>The lines connecting certain pairs of nodes commonly are links (which allow travel in either direction), although arcs (which only permit travel in one direction) also are allowed.</a:t>
            </a:r>
          </a:p>
          <a:p>
            <a:pPr marL="1371600" lvl="2" indent="-457200">
              <a:buFont typeface="+mj-lt"/>
              <a:buAutoNum type="arabicPeriod"/>
            </a:pPr>
            <a:r>
              <a:rPr lang="en-US" dirty="0"/>
              <a:t>Associated with each link (or arc) is a nonnegative number called its length. (Be aware that the drawing of each link in the network typically makes no effort to show its true length other than giving the correct number next to the link.)</a:t>
            </a:r>
          </a:p>
          <a:p>
            <a:pPr marL="1371600" lvl="2" indent="-457200">
              <a:buFont typeface="+mj-lt"/>
              <a:buAutoNum type="arabicPeriod"/>
            </a:pPr>
            <a:r>
              <a:rPr lang="en-US" dirty="0"/>
              <a:t>The objective is to find the shortest path (the path with the minimum total length) from the origin to the destination.</a:t>
            </a:r>
          </a:p>
          <a:p>
            <a:r>
              <a:rPr lang="en-US" b="1" u="sng" dirty="0"/>
              <a:t>Relation to minimum-cost flow problem:</a:t>
            </a:r>
          </a:p>
          <a:p>
            <a:pPr lvl="1"/>
            <a:r>
              <a:rPr lang="en-US" dirty="0"/>
              <a:t>Consider a min-cost flow problem such that</a:t>
            </a:r>
          </a:p>
          <a:p>
            <a:pPr lvl="2"/>
            <a:r>
              <a:rPr lang="en-US" dirty="0"/>
              <a:t>There is one supply node with a supply of 1 unit (so its node value is 1)</a:t>
            </a:r>
          </a:p>
          <a:p>
            <a:pPr lvl="2"/>
            <a:r>
              <a:rPr lang="en-US" dirty="0"/>
              <a:t>There is one demand node with a demand of 1 unit (so its node value is -1)</a:t>
            </a:r>
          </a:p>
          <a:p>
            <a:pPr lvl="2"/>
            <a:r>
              <a:rPr lang="en-US" dirty="0"/>
              <a:t>Every other node is a transshipment node (so their node values are 0)</a:t>
            </a:r>
          </a:p>
          <a:p>
            <a:pPr lvl="2"/>
            <a:r>
              <a:rPr lang="en-US" dirty="0"/>
              <a:t>How would you send the one unit of flow from the supply node to the demand node?</a:t>
            </a:r>
          </a:p>
          <a:p>
            <a:pPr lvl="1"/>
            <a:endParaRPr lang="en-US" dirty="0"/>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284626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lstStyle/>
          <a:p>
            <a:r>
              <a:rPr lang="en-US" b="1" u="sng" dirty="0"/>
              <a:t>Algebraic Model for Shortest Path Problem: </a:t>
            </a:r>
            <a:r>
              <a:rPr lang="en-US" dirty="0"/>
              <a:t>We can mathematically formulate a shortest path problem as a min-cost flow problem</a:t>
            </a:r>
          </a:p>
          <a:p>
            <a:pPr lvl="1"/>
            <a:r>
              <a:rPr lang="en-US" dirty="0"/>
              <a:t>Make the origin node a supply node of 1 unit (so its node value is 1)</a:t>
            </a:r>
          </a:p>
          <a:p>
            <a:pPr lvl="1"/>
            <a:r>
              <a:rPr lang="en-US" dirty="0"/>
              <a:t>Make the destination node a demand node of 1 unit (so its node value is -1)</a:t>
            </a:r>
          </a:p>
          <a:p>
            <a:pPr lvl="1"/>
            <a:r>
              <a:rPr lang="en-US" dirty="0"/>
              <a:t>Make all other nodes a transshipment node (so their node values are 0)</a:t>
            </a:r>
          </a:p>
          <a:p>
            <a:pPr lvl="1"/>
            <a:r>
              <a:rPr lang="en-US" dirty="0"/>
              <a:t>Make all the arcs directed by replacing an undirected are with two arcs: </a:t>
            </a:r>
          </a:p>
          <a:p>
            <a:pPr lvl="2"/>
            <a:r>
              <a:rPr lang="en-US" dirty="0"/>
              <a:t>One in each direction, with the same distance (which are the arc costs)</a:t>
            </a:r>
          </a:p>
          <a:p>
            <a:pPr lvl="2"/>
            <a:r>
              <a:rPr lang="en-US" dirty="0"/>
              <a:t>No arc capacities</a:t>
            </a:r>
          </a:p>
          <a:p>
            <a:pPr lvl="1"/>
            <a:endParaRPr lang="en-US" dirty="0"/>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sp>
        <p:nvSpPr>
          <p:cNvPr id="4" name="Rectangle 3"/>
          <p:cNvSpPr/>
          <p:nvPr/>
        </p:nvSpPr>
        <p:spPr>
          <a:xfrm>
            <a:off x="355002" y="4376073"/>
            <a:ext cx="7079941" cy="2369880"/>
          </a:xfrm>
          <a:prstGeom prst="rect">
            <a:avLst/>
          </a:prstGeom>
        </p:spPr>
        <p:txBody>
          <a:bodyPr wrap="square">
            <a:spAutoFit/>
          </a:bodyPr>
          <a:lstStyle/>
          <a:p>
            <a:pPr marL="800100" lvl="1" indent="-342900">
              <a:buFont typeface="Arial" panose="020B0604020202020204" pitchFamily="34" charset="0"/>
              <a:buChar char="•"/>
            </a:pPr>
            <a:r>
              <a:rPr lang="en-US" sz="2400" dirty="0"/>
              <a:t>Then formulate and solve a min-cost flow problem for the resulting network</a:t>
            </a:r>
          </a:p>
          <a:p>
            <a:pPr marL="1257300" lvl="2" indent="-342900">
              <a:buFont typeface="Arial" panose="020B0604020202020204" pitchFamily="34" charset="0"/>
              <a:buChar char="•"/>
            </a:pPr>
            <a:r>
              <a:rPr lang="en-US" sz="2000" dirty="0"/>
              <a:t>Due to integer solutions property of min-cost flow problem, the flows will be 1’s or 0’s at the optimum solution of the resulting min-cost flow problem</a:t>
            </a:r>
          </a:p>
          <a:p>
            <a:pPr marL="1257300" lvl="2" indent="-342900">
              <a:buFont typeface="Arial" panose="020B0604020202020204" pitchFamily="34" charset="0"/>
              <a:buChar char="•"/>
            </a:pPr>
            <a:r>
              <a:rPr lang="en-US" sz="2000" dirty="0"/>
              <a:t>Following the arcs with flows of 1 unit, we get the shortest path</a:t>
            </a:r>
          </a:p>
        </p:txBody>
      </p:sp>
      <p:pic>
        <p:nvPicPr>
          <p:cNvPr id="5" name="Picture 4"/>
          <p:cNvPicPr>
            <a:picLocks noChangeAspect="1"/>
          </p:cNvPicPr>
          <p:nvPr/>
        </p:nvPicPr>
        <p:blipFill>
          <a:blip r:embed="rId3"/>
          <a:stretch>
            <a:fillRect/>
          </a:stretch>
        </p:blipFill>
        <p:spPr>
          <a:xfrm>
            <a:off x="8143195" y="4926520"/>
            <a:ext cx="3558949" cy="1023292"/>
          </a:xfrm>
          <a:prstGeom prst="rect">
            <a:avLst/>
          </a:prstGeom>
        </p:spPr>
      </p:pic>
      <p:sp>
        <p:nvSpPr>
          <p:cNvPr id="6" name="Rounded Rectangle 5"/>
          <p:cNvSpPr/>
          <p:nvPr/>
        </p:nvSpPr>
        <p:spPr>
          <a:xfrm>
            <a:off x="8011926" y="4778828"/>
            <a:ext cx="3821486" cy="139813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991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023258" y="1762945"/>
            <a:ext cx="4267200" cy="3562350"/>
          </a:xfrm>
          <a:prstGeom prst="rect">
            <a:avLst/>
          </a:prstGeom>
        </p:spPr>
      </p:pic>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lstStyle/>
          <a:p>
            <a:r>
              <a:rPr lang="en-US" b="1" u="sng" dirty="0"/>
              <a:t>Algebraic Model for Shortest Path Problem:</a:t>
            </a:r>
          </a:p>
          <a:p>
            <a:pPr lvl="1"/>
            <a:r>
              <a:rPr lang="en-US" b="1" dirty="0">
                <a:solidFill>
                  <a:srgbClr val="C00000"/>
                </a:solidFill>
              </a:rPr>
              <a:t>A small demonstration: </a:t>
            </a:r>
            <a:r>
              <a:rPr lang="en-US" dirty="0"/>
              <a:t>Find the shortest path from A to D</a:t>
            </a:r>
          </a:p>
          <a:p>
            <a:endParaRPr lang="en-US" dirty="0"/>
          </a:p>
          <a:p>
            <a:endParaRPr lang="en-US" dirty="0"/>
          </a:p>
          <a:p>
            <a:endParaRPr lang="en-US" dirty="0"/>
          </a:p>
          <a:p>
            <a:pPr lvl="1"/>
            <a:endParaRPr lang="en-US" dirty="0"/>
          </a:p>
        </p:txBody>
      </p:sp>
      <p:pic>
        <p:nvPicPr>
          <p:cNvPr id="8" name="Picture 7"/>
          <p:cNvPicPr>
            <a:picLocks noChangeAspect="1"/>
          </p:cNvPicPr>
          <p:nvPr/>
        </p:nvPicPr>
        <p:blipFill>
          <a:blip r:embed="rId4"/>
          <a:stretch>
            <a:fillRect/>
          </a:stretch>
        </p:blipFill>
        <p:spPr>
          <a:xfrm>
            <a:off x="5146862" y="2613472"/>
            <a:ext cx="6686550" cy="2819400"/>
          </a:xfrm>
          <a:prstGeom prst="rect">
            <a:avLst/>
          </a:prstGeom>
        </p:spPr>
      </p:pic>
      <p:sp>
        <p:nvSpPr>
          <p:cNvPr id="5" name="TextBox 4"/>
          <p:cNvSpPr txBox="1"/>
          <p:nvPr/>
        </p:nvSpPr>
        <p:spPr>
          <a:xfrm>
            <a:off x="749147" y="3613533"/>
            <a:ext cx="484742" cy="369332"/>
          </a:xfrm>
          <a:prstGeom prst="rect">
            <a:avLst/>
          </a:prstGeom>
          <a:noFill/>
        </p:spPr>
        <p:txBody>
          <a:bodyPr wrap="square" rtlCol="0">
            <a:spAutoFit/>
          </a:bodyPr>
          <a:lstStyle/>
          <a:p>
            <a:r>
              <a:rPr lang="en-US" dirty="0"/>
              <a:t>[1]</a:t>
            </a:r>
          </a:p>
        </p:txBody>
      </p:sp>
      <p:sp>
        <p:nvSpPr>
          <p:cNvPr id="9" name="TextBox 8"/>
          <p:cNvSpPr txBox="1"/>
          <p:nvPr/>
        </p:nvSpPr>
        <p:spPr>
          <a:xfrm>
            <a:off x="2705634" y="5325295"/>
            <a:ext cx="621460" cy="369332"/>
          </a:xfrm>
          <a:prstGeom prst="rect">
            <a:avLst/>
          </a:prstGeom>
          <a:noFill/>
        </p:spPr>
        <p:txBody>
          <a:bodyPr wrap="square" rtlCol="0">
            <a:spAutoFit/>
          </a:bodyPr>
          <a:lstStyle/>
          <a:p>
            <a:r>
              <a:rPr lang="en-US" dirty="0"/>
              <a:t>[-1]</a:t>
            </a:r>
          </a:p>
        </p:txBody>
      </p:sp>
      <p:sp>
        <p:nvSpPr>
          <p:cNvPr id="10" name="TextBox 9"/>
          <p:cNvSpPr txBox="1"/>
          <p:nvPr/>
        </p:nvSpPr>
        <p:spPr>
          <a:xfrm>
            <a:off x="4736033" y="3744698"/>
            <a:ext cx="621460" cy="369332"/>
          </a:xfrm>
          <a:prstGeom prst="rect">
            <a:avLst/>
          </a:prstGeom>
          <a:noFill/>
        </p:spPr>
        <p:txBody>
          <a:bodyPr wrap="square" rtlCol="0">
            <a:spAutoFit/>
          </a:bodyPr>
          <a:lstStyle/>
          <a:p>
            <a:r>
              <a:rPr lang="en-US" dirty="0"/>
              <a:t>[0]</a:t>
            </a:r>
          </a:p>
        </p:txBody>
      </p:sp>
      <p:sp>
        <p:nvSpPr>
          <p:cNvPr id="11" name="TextBox 10"/>
          <p:cNvSpPr txBox="1"/>
          <p:nvPr/>
        </p:nvSpPr>
        <p:spPr>
          <a:xfrm>
            <a:off x="2705634" y="2321686"/>
            <a:ext cx="621460" cy="369332"/>
          </a:xfrm>
          <a:prstGeom prst="rect">
            <a:avLst/>
          </a:prstGeom>
          <a:noFill/>
        </p:spPr>
        <p:txBody>
          <a:bodyPr wrap="square" rtlCol="0">
            <a:spAutoFit/>
          </a:bodyPr>
          <a:lstStyle/>
          <a:p>
            <a:r>
              <a:rPr lang="en-US" dirty="0"/>
              <a:t>[0]</a:t>
            </a:r>
          </a:p>
        </p:txBody>
      </p:sp>
    </p:spTree>
    <p:extLst>
      <p:ext uri="{BB962C8B-B14F-4D97-AF65-F5344CB8AC3E}">
        <p14:creationId xmlns:p14="http://schemas.microsoft.com/office/powerpoint/2010/main" val="303516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Path Problem</a:t>
            </a:r>
          </a:p>
        </p:txBody>
      </p:sp>
      <p:sp>
        <p:nvSpPr>
          <p:cNvPr id="3" name="Content Placeholder 2"/>
          <p:cNvSpPr>
            <a:spLocks noGrp="1"/>
          </p:cNvSpPr>
          <p:nvPr>
            <p:ph idx="1"/>
          </p:nvPr>
        </p:nvSpPr>
        <p:spPr/>
        <p:txBody>
          <a:bodyPr/>
          <a:lstStyle/>
          <a:p>
            <a:r>
              <a:rPr lang="en-US" b="1" u="sng" dirty="0"/>
              <a:t>Case: The </a:t>
            </a:r>
            <a:r>
              <a:rPr lang="en-US" b="1" u="sng" dirty="0" err="1"/>
              <a:t>Littletown</a:t>
            </a:r>
            <a:r>
              <a:rPr lang="en-US" b="1" u="sng" dirty="0"/>
              <a:t> Fire Department Problem</a:t>
            </a:r>
          </a:p>
          <a:p>
            <a:pPr lvl="1"/>
            <a:r>
              <a:rPr lang="en-US" b="1" dirty="0">
                <a:solidFill>
                  <a:srgbClr val="C00000"/>
                </a:solidFill>
              </a:rPr>
              <a:t>Spreadsheet Model: </a:t>
            </a:r>
            <a:r>
              <a:rPr lang="en-US" dirty="0"/>
              <a:t>As a min-cost flow problem</a:t>
            </a:r>
          </a:p>
          <a:p>
            <a:pPr lvl="1"/>
            <a:endParaRPr lang="en-US" dirty="0"/>
          </a:p>
          <a:p>
            <a:pPr lvl="1"/>
            <a:endParaRPr lang="en-US" dirty="0"/>
          </a:p>
          <a:p>
            <a:pPr lvl="2"/>
            <a:endParaRPr lang="en-US" dirty="0"/>
          </a:p>
          <a:p>
            <a:endParaRPr lang="en-US" dirty="0"/>
          </a:p>
          <a:p>
            <a:endParaRPr lang="en-US" dirty="0"/>
          </a:p>
          <a:p>
            <a:endParaRPr lang="en-US" dirty="0"/>
          </a:p>
          <a:p>
            <a:endParaRPr lang="en-US" dirty="0"/>
          </a:p>
          <a:p>
            <a:endParaRPr lang="en-US" dirty="0"/>
          </a:p>
          <a:p>
            <a:pPr lvl="1"/>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909425628"/>
              </p:ext>
            </p:extLst>
          </p:nvPr>
        </p:nvGraphicFramePr>
        <p:xfrm>
          <a:off x="1012371" y="2227818"/>
          <a:ext cx="7010401" cy="4445126"/>
        </p:xfrm>
        <a:graphic>
          <a:graphicData uri="http://schemas.openxmlformats.org/presentationml/2006/ole">
            <mc:AlternateContent xmlns:mc="http://schemas.openxmlformats.org/markup-compatibility/2006">
              <mc:Choice xmlns:v="urn:schemas-microsoft-com:vml" Requires="v">
                <p:oleObj name="Worksheet" r:id="rId3" imgW="6733032" imgH="4270248" progId="Excel.Sheet.8">
                  <p:embed/>
                </p:oleObj>
              </mc:Choice>
              <mc:Fallback>
                <p:oleObj name="Worksheet" r:id="rId3" imgW="6733032" imgH="4270248" progId="Excel.Sheet.8">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371" y="2227818"/>
                        <a:ext cx="7010401" cy="4445126"/>
                      </a:xfrm>
                      <a:prstGeom prst="rect">
                        <a:avLst/>
                      </a:prstGeom>
                      <a:noFill/>
                      <a:ln>
                        <a:noFill/>
                      </a:ln>
                      <a:effectLst/>
                    </p:spPr>
                  </p:pic>
                </p:oleObj>
              </mc:Fallback>
            </mc:AlternateContent>
          </a:graphicData>
        </a:graphic>
      </p:graphicFrame>
      <p:sp>
        <p:nvSpPr>
          <p:cNvPr id="8" name="TextBox 7"/>
          <p:cNvSpPr txBox="1"/>
          <p:nvPr/>
        </p:nvSpPr>
        <p:spPr>
          <a:xfrm>
            <a:off x="8273783" y="1898038"/>
            <a:ext cx="3700503" cy="3416320"/>
          </a:xfrm>
          <a:prstGeom prst="rect">
            <a:avLst/>
          </a:prstGeom>
          <a:noFill/>
        </p:spPr>
        <p:txBody>
          <a:bodyPr wrap="square" rtlCol="0">
            <a:spAutoFit/>
          </a:bodyPr>
          <a:lstStyle/>
          <a:p>
            <a:r>
              <a:rPr lang="en-US" dirty="0">
                <a:solidFill>
                  <a:srgbClr val="C00000"/>
                </a:solidFill>
              </a:rPr>
              <a:t>You do not need to replace each undirected arc with two directed arcs</a:t>
            </a:r>
          </a:p>
          <a:p>
            <a:pPr marL="285750" indent="-285750">
              <a:buFont typeface="Arial" panose="020B0604020202020204" pitchFamily="34" charset="0"/>
              <a:buChar char="•"/>
            </a:pPr>
            <a:r>
              <a:rPr lang="en-US" dirty="0">
                <a:solidFill>
                  <a:srgbClr val="C00000"/>
                </a:solidFill>
              </a:rPr>
              <a:t>For instance, we know that if you go from Fire St. to A, we will not go back from A to Fire St. So there is no need for </a:t>
            </a:r>
            <a:r>
              <a:rPr lang="en-US" dirty="0" err="1">
                <a:solidFill>
                  <a:srgbClr val="C00000"/>
                </a:solidFill>
              </a:rPr>
              <a:t>A</a:t>
            </a:r>
            <a:r>
              <a:rPr lang="en-US" dirty="0" err="1">
                <a:solidFill>
                  <a:srgbClr val="C00000"/>
                </a:solidFill>
                <a:sym typeface="Wingdings" panose="05000000000000000000" pitchFamily="2" charset="2"/>
              </a:rPr>
              <a:t>Fire</a:t>
            </a:r>
            <a:r>
              <a:rPr lang="en-US" dirty="0">
                <a:solidFill>
                  <a:srgbClr val="C00000"/>
                </a:solidFill>
                <a:sym typeface="Wingdings" panose="05000000000000000000" pitchFamily="2" charset="2"/>
              </a:rPr>
              <a:t> St.</a:t>
            </a:r>
          </a:p>
          <a:p>
            <a:pPr marL="285750" indent="-285750">
              <a:buFont typeface="Arial" panose="020B0604020202020204" pitchFamily="34" charset="0"/>
              <a:buChar char="•"/>
            </a:pPr>
            <a:r>
              <a:rPr lang="en-US" dirty="0">
                <a:solidFill>
                  <a:srgbClr val="C00000"/>
                </a:solidFill>
                <a:sym typeface="Wingdings" panose="05000000000000000000" pitchFamily="2" charset="2"/>
              </a:rPr>
              <a:t>It is ok if you replace each undirected arc with two directed arcs, it would just increase the number of arcs in the model, it will not affect the optimal solution (i.e., the shortest path)</a:t>
            </a:r>
            <a:endParaRPr lang="en-US" dirty="0">
              <a:solidFill>
                <a:srgbClr val="C00000"/>
              </a:solidFill>
            </a:endParaRPr>
          </a:p>
        </p:txBody>
      </p:sp>
      <p:sp>
        <p:nvSpPr>
          <p:cNvPr id="9" name="TextBox 8"/>
          <p:cNvSpPr txBox="1"/>
          <p:nvPr/>
        </p:nvSpPr>
        <p:spPr>
          <a:xfrm>
            <a:off x="8153879" y="5545875"/>
            <a:ext cx="3940309" cy="923330"/>
          </a:xfrm>
          <a:prstGeom prst="rect">
            <a:avLst/>
          </a:prstGeom>
          <a:noFill/>
        </p:spPr>
        <p:txBody>
          <a:bodyPr wrap="square" rtlCol="0">
            <a:spAutoFit/>
          </a:bodyPr>
          <a:lstStyle/>
          <a:p>
            <a:r>
              <a:rPr lang="en-US" b="1" u="sng" dirty="0"/>
              <a:t>Shortest Path is:</a:t>
            </a:r>
          </a:p>
          <a:p>
            <a:r>
              <a:rPr lang="en-US" dirty="0"/>
              <a:t>Fire St. </a:t>
            </a:r>
            <a:r>
              <a:rPr lang="en-US" dirty="0">
                <a:sym typeface="Wingdings" panose="05000000000000000000" pitchFamily="2" charset="2"/>
              </a:rPr>
              <a:t></a:t>
            </a:r>
            <a:r>
              <a:rPr lang="en-US" dirty="0" err="1">
                <a:sym typeface="Wingdings" panose="05000000000000000000" pitchFamily="2" charset="2"/>
              </a:rPr>
              <a:t>ABEFFarm</a:t>
            </a:r>
            <a:r>
              <a:rPr lang="en-US" dirty="0">
                <a:sym typeface="Wingdings" panose="05000000000000000000" pitchFamily="2" charset="2"/>
              </a:rPr>
              <a:t> Com.</a:t>
            </a:r>
          </a:p>
          <a:p>
            <a:r>
              <a:rPr lang="en-US" dirty="0">
                <a:sym typeface="Wingdings" panose="05000000000000000000" pitchFamily="2" charset="2"/>
              </a:rPr>
              <a:t>(follow the 1’s in the optimum solution)</a:t>
            </a:r>
            <a:endParaRPr lang="en-US" dirty="0"/>
          </a:p>
        </p:txBody>
      </p:sp>
    </p:spTree>
    <p:extLst>
      <p:ext uri="{BB962C8B-B14F-4D97-AF65-F5344CB8AC3E}">
        <p14:creationId xmlns:p14="http://schemas.microsoft.com/office/powerpoint/2010/main" val="373222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solidFill>
                  <a:schemeClr val="bg2"/>
                </a:solidFill>
              </a:rPr>
              <a:t>Maximum Flow Problem (Chapter 6.2 - 6.3)</a:t>
            </a:r>
          </a:p>
          <a:p>
            <a:r>
              <a:rPr lang="en-US" dirty="0">
                <a:solidFill>
                  <a:schemeClr val="bg2"/>
                </a:solidFill>
              </a:rPr>
              <a:t>Shortest Path Problem (Chapter 6.4)</a:t>
            </a:r>
          </a:p>
          <a:p>
            <a:r>
              <a:rPr lang="en-US" dirty="0"/>
              <a:t>Minimum Spanning Tree Problem (Chapter 6S)</a:t>
            </a:r>
          </a:p>
          <a:p>
            <a:r>
              <a:rPr lang="en-US" dirty="0">
                <a:solidFill>
                  <a:schemeClr val="bg2"/>
                </a:solidFill>
              </a:rPr>
              <a:t>Network Modifications (not in the textbook)</a:t>
            </a:r>
          </a:p>
          <a:p>
            <a:r>
              <a:rPr lang="en-US" dirty="0">
                <a:solidFill>
                  <a:schemeClr val="bg2"/>
                </a:solidFill>
              </a:rPr>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3266392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Problem</a:t>
            </a:r>
          </a:p>
        </p:txBody>
      </p:sp>
      <p:sp>
        <p:nvSpPr>
          <p:cNvPr id="3" name="Content Placeholder 2"/>
          <p:cNvSpPr>
            <a:spLocks noGrp="1"/>
          </p:cNvSpPr>
          <p:nvPr>
            <p:ph idx="1"/>
          </p:nvPr>
        </p:nvSpPr>
        <p:spPr/>
        <p:txBody>
          <a:bodyPr>
            <a:normAutofit lnSpcReduction="10000"/>
          </a:bodyPr>
          <a:lstStyle/>
          <a:p>
            <a:r>
              <a:rPr lang="en-US" b="1" u="sng" dirty="0"/>
              <a:t>Introduction:</a:t>
            </a:r>
            <a:r>
              <a:rPr lang="en-US" b="1" dirty="0"/>
              <a:t> </a:t>
            </a:r>
            <a:r>
              <a:rPr lang="en-US" dirty="0"/>
              <a:t>In a minimum spanning tree problem</a:t>
            </a:r>
          </a:p>
          <a:p>
            <a:pPr lvl="1"/>
            <a:r>
              <a:rPr lang="en-US" dirty="0"/>
              <a:t>You are given the nodes of a network but not the links. Instead, you are given the potential links and the positive cost (or a similar measure) for each if it is inserted into the network.</a:t>
            </a:r>
          </a:p>
          <a:p>
            <a:pPr lvl="1"/>
            <a:r>
              <a:rPr lang="en-US" b="1" u="sng" dirty="0"/>
              <a:t>Problem Description: </a:t>
            </a:r>
            <a:r>
              <a:rPr lang="en-US" dirty="0"/>
              <a:t>You wish to design the network by inserting enough links to satisfy the requirement that there be a path between every pair of nodes.</a:t>
            </a:r>
          </a:p>
          <a:p>
            <a:pPr lvl="1"/>
            <a:r>
              <a:rPr lang="en-US" dirty="0"/>
              <a:t>The objective is to satisfy this requirement in a way that minimizes the total cost.</a:t>
            </a:r>
          </a:p>
          <a:p>
            <a:pPr lvl="2"/>
            <a:r>
              <a:rPr lang="en-US" b="1" u="sng" dirty="0"/>
              <a:t>Applications:</a:t>
            </a:r>
          </a:p>
          <a:p>
            <a:pPr lvl="3"/>
            <a:r>
              <a:rPr lang="en-US" dirty="0"/>
              <a:t>Design of telecommunication networks (computer networks, lease-line telephone networks, cable television networks, etc.)</a:t>
            </a:r>
          </a:p>
          <a:p>
            <a:pPr lvl="3"/>
            <a:r>
              <a:rPr lang="en-US" dirty="0"/>
              <a:t>Design of a lightly-used transportation network to minimize the total cost of providing the links (rail lines, roads, etc.)</a:t>
            </a:r>
          </a:p>
          <a:p>
            <a:pPr lvl="3"/>
            <a:r>
              <a:rPr lang="en-US" dirty="0"/>
              <a:t>Design of a network of high-voltage electrical power transmission lines.</a:t>
            </a:r>
          </a:p>
          <a:p>
            <a:pPr lvl="3"/>
            <a:r>
              <a:rPr lang="en-US" dirty="0"/>
              <a:t>Design of a network of wiring on electrical equipment (e.g., a digital computer system) to minimize the total length of the wire.</a:t>
            </a:r>
          </a:p>
          <a:p>
            <a:pPr lvl="3"/>
            <a:r>
              <a:rPr lang="en-US" dirty="0"/>
              <a:t>Design of a network of pipelines to connect a number of locations.</a:t>
            </a:r>
          </a:p>
          <a:p>
            <a:pPr lvl="1"/>
            <a:endParaRPr lang="en-US" dirty="0"/>
          </a:p>
          <a:p>
            <a:endParaRPr lang="en-US" dirty="0"/>
          </a:p>
          <a:p>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387867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Problem</a:t>
            </a:r>
          </a:p>
        </p:txBody>
      </p:sp>
      <p:sp>
        <p:nvSpPr>
          <p:cNvPr id="3" name="Content Placeholder 2"/>
          <p:cNvSpPr>
            <a:spLocks noGrp="1"/>
          </p:cNvSpPr>
          <p:nvPr>
            <p:ph idx="1"/>
          </p:nvPr>
        </p:nvSpPr>
        <p:spPr/>
        <p:txBody>
          <a:bodyPr/>
          <a:lstStyle/>
          <a:p>
            <a:r>
              <a:rPr lang="en-US" sz="2400" b="1" u="sng" dirty="0"/>
              <a:t>Case Description: </a:t>
            </a:r>
            <a:r>
              <a:rPr lang="en-US" sz="2400" dirty="0"/>
              <a:t>Modern Corporation has decided to have a state-of-the-art fiber-optic network installed to provide high-speed communication (data, voice, and video) between its major centers.</a:t>
            </a:r>
          </a:p>
          <a:p>
            <a:pPr lvl="1"/>
            <a:r>
              <a:rPr lang="en-US" sz="2000" dirty="0"/>
              <a:t>Any pair of centers do not need to have a cable directly connecting them in order to take advantage of the technology. All that is necessary is to have a series of cables that connect the centers.</a:t>
            </a:r>
          </a:p>
          <a:p>
            <a:pPr lvl="1"/>
            <a:r>
              <a:rPr lang="en-US" sz="2000" b="1" dirty="0">
                <a:solidFill>
                  <a:srgbClr val="C00000"/>
                </a:solidFill>
              </a:rPr>
              <a:t>Question: </a:t>
            </a:r>
            <a:r>
              <a:rPr lang="en-US" sz="2000" dirty="0"/>
              <a:t>Which cables should be installed to provide high-speed communications between </a:t>
            </a:r>
            <a:r>
              <a:rPr lang="en-US" sz="2000" i="1" dirty="0"/>
              <a:t>every</a:t>
            </a:r>
            <a:r>
              <a:rPr lang="en-US" sz="2000" dirty="0"/>
              <a:t> pair of centers?</a:t>
            </a:r>
          </a:p>
          <a:p>
            <a:pPr lvl="1"/>
            <a:endParaRPr lang="en-US" b="1" u="sng" dirty="0">
              <a:solidFill>
                <a:srgbClr val="C00000"/>
              </a:solidFill>
            </a:endParaRPr>
          </a:p>
          <a:p>
            <a:pPr lvl="1"/>
            <a:r>
              <a:rPr lang="en-US" b="1" u="sng" dirty="0">
                <a:solidFill>
                  <a:srgbClr val="C00000"/>
                </a:solidFill>
              </a:rPr>
              <a:t>Solution Algorithm:</a:t>
            </a:r>
          </a:p>
          <a:p>
            <a:pPr marL="1466850" lvl="2" indent="-609600">
              <a:buFont typeface="Wingdings" pitchFamily="2" charset="2"/>
              <a:buAutoNum type="arabicPeriod"/>
            </a:pPr>
            <a:r>
              <a:rPr lang="en-US" dirty="0"/>
              <a:t>Select the cheapest link.</a:t>
            </a:r>
          </a:p>
          <a:p>
            <a:pPr marL="1466850" lvl="2" indent="-609600">
              <a:buFont typeface="Wingdings" pitchFamily="2" charset="2"/>
              <a:buAutoNum type="arabicPeriod"/>
            </a:pPr>
            <a:r>
              <a:rPr lang="en-US" dirty="0"/>
              <a:t>Select the cheapest potential link between a connected node and an unconnected node.</a:t>
            </a:r>
          </a:p>
          <a:p>
            <a:pPr marL="1466850" lvl="2" indent="-609600">
              <a:buFont typeface="Wingdings" pitchFamily="2" charset="2"/>
              <a:buAutoNum type="arabicPeriod"/>
            </a:pPr>
            <a:r>
              <a:rPr lang="en-US" dirty="0"/>
              <a:t>Repeat until all nodes are connected.</a:t>
            </a:r>
          </a:p>
          <a:p>
            <a:pPr marL="609600" indent="-609600">
              <a:buNone/>
            </a:pPr>
            <a:r>
              <a:rPr lang="en-US" sz="2400" b="1" u="sng" dirty="0"/>
              <a:t>Note:</a:t>
            </a:r>
            <a:r>
              <a:rPr lang="en-US" sz="2400" dirty="0">
                <a:solidFill>
                  <a:srgbClr val="C00000"/>
                </a:solidFill>
              </a:rPr>
              <a:t> </a:t>
            </a:r>
            <a:r>
              <a:rPr lang="en-US" sz="2000" dirty="0">
                <a:solidFill>
                  <a:srgbClr val="C00000"/>
                </a:solidFill>
              </a:rPr>
              <a:t>Ties may be broken arbitrarily! There may or may not be multiple optimal solutions.</a:t>
            </a:r>
          </a:p>
          <a:p>
            <a:pPr marL="0" indent="0">
              <a:buNone/>
            </a:pPr>
            <a:endParaRPr lang="en-US" dirty="0"/>
          </a:p>
        </p:txBody>
      </p:sp>
    </p:spTree>
    <p:extLst>
      <p:ext uri="{BB962C8B-B14F-4D97-AF65-F5344CB8AC3E}">
        <p14:creationId xmlns:p14="http://schemas.microsoft.com/office/powerpoint/2010/main" val="2789169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Problem</a:t>
            </a:r>
          </a:p>
        </p:txBody>
      </p:sp>
      <p:sp>
        <p:nvSpPr>
          <p:cNvPr id="3" name="Content Placeholder 2"/>
          <p:cNvSpPr>
            <a:spLocks noGrp="1"/>
          </p:cNvSpPr>
          <p:nvPr>
            <p:ph idx="1"/>
          </p:nvPr>
        </p:nvSpPr>
        <p:spPr/>
        <p:txBody>
          <a:bodyPr/>
          <a:lstStyle/>
          <a:p>
            <a:r>
              <a:rPr lang="en-US" b="1" u="sng" dirty="0"/>
              <a:t>Case Solution: </a:t>
            </a:r>
            <a:r>
              <a:rPr lang="en-US" dirty="0"/>
              <a:t>A spanning tree</a:t>
            </a:r>
          </a:p>
        </p:txBody>
      </p:sp>
      <p:sp>
        <p:nvSpPr>
          <p:cNvPr id="4" name="Rectangle 3"/>
          <p:cNvSpPr txBox="1">
            <a:spLocks noChangeArrowheads="1"/>
          </p:cNvSpPr>
          <p:nvPr/>
        </p:nvSpPr>
        <p:spPr bwMode="auto">
          <a:xfrm>
            <a:off x="2209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endParaRPr lang="en-US"/>
          </a:p>
          <a:p>
            <a:endParaRPr lang="en-US" dirty="0"/>
          </a:p>
        </p:txBody>
      </p:sp>
      <p:sp>
        <p:nvSpPr>
          <p:cNvPr id="5" name="Oval 4"/>
          <p:cNvSpPr>
            <a:spLocks noChangeArrowheads="1"/>
          </p:cNvSpPr>
          <p:nvPr/>
        </p:nvSpPr>
        <p:spPr bwMode="auto">
          <a:xfrm>
            <a:off x="2743200" y="2693988"/>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 name="Oval 5"/>
          <p:cNvSpPr>
            <a:spLocks noChangeArrowheads="1"/>
          </p:cNvSpPr>
          <p:nvPr/>
        </p:nvSpPr>
        <p:spPr bwMode="auto">
          <a:xfrm>
            <a:off x="4795839" y="1973263"/>
            <a:ext cx="420687"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7" name="Oval 6"/>
          <p:cNvSpPr>
            <a:spLocks noChangeArrowheads="1"/>
          </p:cNvSpPr>
          <p:nvPr/>
        </p:nvSpPr>
        <p:spPr bwMode="auto">
          <a:xfrm>
            <a:off x="4121150" y="590550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 name="Oval 7"/>
          <p:cNvSpPr>
            <a:spLocks noChangeArrowheads="1"/>
          </p:cNvSpPr>
          <p:nvPr/>
        </p:nvSpPr>
        <p:spPr bwMode="auto">
          <a:xfrm>
            <a:off x="5006975" y="388937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 name="Oval 8"/>
          <p:cNvSpPr>
            <a:spLocks noChangeArrowheads="1"/>
          </p:cNvSpPr>
          <p:nvPr/>
        </p:nvSpPr>
        <p:spPr bwMode="auto">
          <a:xfrm>
            <a:off x="8410575" y="5180013"/>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0" name="Oval 9"/>
          <p:cNvSpPr>
            <a:spLocks noChangeArrowheads="1"/>
          </p:cNvSpPr>
          <p:nvPr/>
        </p:nvSpPr>
        <p:spPr bwMode="auto">
          <a:xfrm>
            <a:off x="7169150" y="314325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1" name="Oval 10"/>
          <p:cNvSpPr>
            <a:spLocks noChangeArrowheads="1"/>
          </p:cNvSpPr>
          <p:nvPr/>
        </p:nvSpPr>
        <p:spPr bwMode="auto">
          <a:xfrm>
            <a:off x="9229725" y="242252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2" name="Line 11"/>
          <p:cNvSpPr>
            <a:spLocks noChangeShapeType="1"/>
          </p:cNvSpPr>
          <p:nvPr/>
        </p:nvSpPr>
        <p:spPr bwMode="auto">
          <a:xfrm flipV="1">
            <a:off x="3163888" y="2198689"/>
            <a:ext cx="1631950" cy="674687"/>
          </a:xfrm>
          <a:prstGeom prst="line">
            <a:avLst/>
          </a:prstGeom>
          <a:noFill/>
          <a:ln w="9525" cap="rnd">
            <a:solidFill>
              <a:schemeClr val="tx1"/>
            </a:solidFill>
            <a:prstDash val="sysDot"/>
            <a:round/>
            <a:headEnd/>
            <a:tailEnd/>
          </a:ln>
        </p:spPr>
        <p:txBody>
          <a:bodyPr/>
          <a:lstStyle/>
          <a:p>
            <a:endParaRPr lang="en-US"/>
          </a:p>
        </p:txBody>
      </p:sp>
      <p:sp>
        <p:nvSpPr>
          <p:cNvPr id="13" name="Line 12"/>
          <p:cNvSpPr>
            <a:spLocks noChangeShapeType="1"/>
          </p:cNvSpPr>
          <p:nvPr/>
        </p:nvSpPr>
        <p:spPr bwMode="auto">
          <a:xfrm>
            <a:off x="3163889" y="2873375"/>
            <a:ext cx="1843087" cy="1219200"/>
          </a:xfrm>
          <a:prstGeom prst="line">
            <a:avLst/>
          </a:prstGeom>
          <a:noFill/>
          <a:ln w="9525" cap="rnd">
            <a:solidFill>
              <a:schemeClr val="tx1"/>
            </a:solidFill>
            <a:prstDash val="sysDot"/>
            <a:round/>
            <a:headEnd/>
            <a:tailEnd/>
          </a:ln>
        </p:spPr>
        <p:txBody>
          <a:bodyPr/>
          <a:lstStyle/>
          <a:p>
            <a:endParaRPr lang="en-US"/>
          </a:p>
        </p:txBody>
      </p:sp>
      <p:sp>
        <p:nvSpPr>
          <p:cNvPr id="14" name="Line 13"/>
          <p:cNvSpPr>
            <a:spLocks noChangeShapeType="1"/>
          </p:cNvSpPr>
          <p:nvPr/>
        </p:nvSpPr>
        <p:spPr bwMode="auto">
          <a:xfrm>
            <a:off x="3163888" y="2873376"/>
            <a:ext cx="1147762" cy="3032125"/>
          </a:xfrm>
          <a:prstGeom prst="line">
            <a:avLst/>
          </a:prstGeom>
          <a:noFill/>
          <a:ln w="9525" cap="rnd">
            <a:solidFill>
              <a:schemeClr val="tx1"/>
            </a:solidFill>
            <a:prstDash val="sysDot"/>
            <a:round/>
            <a:headEnd/>
            <a:tailEnd/>
          </a:ln>
        </p:spPr>
        <p:txBody>
          <a:bodyPr/>
          <a:lstStyle/>
          <a:p>
            <a:endParaRPr lang="en-US"/>
          </a:p>
        </p:txBody>
      </p:sp>
      <p:sp>
        <p:nvSpPr>
          <p:cNvPr id="15" name="Line 14"/>
          <p:cNvSpPr>
            <a:spLocks noChangeShapeType="1"/>
          </p:cNvSpPr>
          <p:nvPr/>
        </p:nvSpPr>
        <p:spPr bwMode="auto">
          <a:xfrm>
            <a:off x="5006975" y="2424113"/>
            <a:ext cx="209550" cy="1465262"/>
          </a:xfrm>
          <a:prstGeom prst="line">
            <a:avLst/>
          </a:prstGeom>
          <a:noFill/>
          <a:ln w="9525" cap="rnd">
            <a:solidFill>
              <a:schemeClr val="tx1"/>
            </a:solidFill>
            <a:prstDash val="sysDot"/>
            <a:round/>
            <a:headEnd/>
            <a:tailEnd/>
          </a:ln>
        </p:spPr>
        <p:txBody>
          <a:bodyPr/>
          <a:lstStyle/>
          <a:p>
            <a:endParaRPr lang="en-US"/>
          </a:p>
        </p:txBody>
      </p:sp>
      <p:sp>
        <p:nvSpPr>
          <p:cNvPr id="16" name="Line 15"/>
          <p:cNvSpPr>
            <a:spLocks noChangeShapeType="1"/>
          </p:cNvSpPr>
          <p:nvPr/>
        </p:nvSpPr>
        <p:spPr bwMode="auto">
          <a:xfrm>
            <a:off x="5216526" y="2198689"/>
            <a:ext cx="1952625" cy="1139825"/>
          </a:xfrm>
          <a:prstGeom prst="line">
            <a:avLst/>
          </a:prstGeom>
          <a:noFill/>
          <a:ln w="9525" cap="rnd">
            <a:solidFill>
              <a:schemeClr val="tx1"/>
            </a:solidFill>
            <a:prstDash val="sysDot"/>
            <a:round/>
            <a:headEnd/>
            <a:tailEnd/>
          </a:ln>
        </p:spPr>
        <p:txBody>
          <a:bodyPr/>
          <a:lstStyle/>
          <a:p>
            <a:endParaRPr lang="en-US"/>
          </a:p>
        </p:txBody>
      </p:sp>
      <p:sp>
        <p:nvSpPr>
          <p:cNvPr id="17" name="Line 16"/>
          <p:cNvSpPr>
            <a:spLocks noChangeShapeType="1"/>
          </p:cNvSpPr>
          <p:nvPr/>
        </p:nvSpPr>
        <p:spPr bwMode="auto">
          <a:xfrm flipV="1">
            <a:off x="4400551" y="4338638"/>
            <a:ext cx="815975" cy="1566862"/>
          </a:xfrm>
          <a:prstGeom prst="line">
            <a:avLst/>
          </a:prstGeom>
          <a:noFill/>
          <a:ln w="9525" cap="rnd">
            <a:solidFill>
              <a:schemeClr val="tx1"/>
            </a:solidFill>
            <a:prstDash val="sysDot"/>
            <a:round/>
            <a:headEnd/>
            <a:tailEnd/>
          </a:ln>
        </p:spPr>
        <p:txBody>
          <a:bodyPr/>
          <a:lstStyle/>
          <a:p>
            <a:endParaRPr lang="en-US"/>
          </a:p>
        </p:txBody>
      </p:sp>
      <p:sp>
        <p:nvSpPr>
          <p:cNvPr id="18" name="Line 17"/>
          <p:cNvSpPr>
            <a:spLocks noChangeShapeType="1"/>
          </p:cNvSpPr>
          <p:nvPr/>
        </p:nvSpPr>
        <p:spPr bwMode="auto">
          <a:xfrm flipV="1">
            <a:off x="5427664" y="3338513"/>
            <a:ext cx="1741487" cy="754062"/>
          </a:xfrm>
          <a:prstGeom prst="line">
            <a:avLst/>
          </a:prstGeom>
          <a:noFill/>
          <a:ln w="9525" cap="rnd">
            <a:solidFill>
              <a:schemeClr val="tx1"/>
            </a:solidFill>
            <a:prstDash val="sysDot"/>
            <a:round/>
            <a:headEnd/>
            <a:tailEnd/>
          </a:ln>
        </p:spPr>
        <p:txBody>
          <a:bodyPr/>
          <a:lstStyle/>
          <a:p>
            <a:endParaRPr lang="en-US"/>
          </a:p>
        </p:txBody>
      </p:sp>
      <p:sp>
        <p:nvSpPr>
          <p:cNvPr id="19" name="Line 18"/>
          <p:cNvSpPr>
            <a:spLocks noChangeShapeType="1"/>
          </p:cNvSpPr>
          <p:nvPr/>
        </p:nvSpPr>
        <p:spPr bwMode="auto">
          <a:xfrm flipV="1">
            <a:off x="4541839" y="5405439"/>
            <a:ext cx="3868737" cy="725487"/>
          </a:xfrm>
          <a:prstGeom prst="line">
            <a:avLst/>
          </a:prstGeom>
          <a:noFill/>
          <a:ln w="9525" cap="rnd">
            <a:solidFill>
              <a:schemeClr val="tx1"/>
            </a:solidFill>
            <a:prstDash val="sysDot"/>
            <a:round/>
            <a:headEnd/>
            <a:tailEnd/>
          </a:ln>
        </p:spPr>
        <p:txBody>
          <a:bodyPr/>
          <a:lstStyle/>
          <a:p>
            <a:endParaRPr lang="en-US"/>
          </a:p>
        </p:txBody>
      </p:sp>
      <p:sp>
        <p:nvSpPr>
          <p:cNvPr id="20" name="Line 19"/>
          <p:cNvSpPr>
            <a:spLocks noChangeShapeType="1"/>
          </p:cNvSpPr>
          <p:nvPr/>
        </p:nvSpPr>
        <p:spPr bwMode="auto">
          <a:xfrm>
            <a:off x="5427663" y="4225926"/>
            <a:ext cx="2982912" cy="1179513"/>
          </a:xfrm>
          <a:prstGeom prst="line">
            <a:avLst/>
          </a:prstGeom>
          <a:noFill/>
          <a:ln w="9525" cap="rnd">
            <a:solidFill>
              <a:schemeClr val="tx1"/>
            </a:solidFill>
            <a:prstDash val="sysDot"/>
            <a:round/>
            <a:headEnd/>
            <a:tailEnd/>
          </a:ln>
        </p:spPr>
        <p:txBody>
          <a:bodyPr/>
          <a:lstStyle/>
          <a:p>
            <a:endParaRPr lang="en-US"/>
          </a:p>
        </p:txBody>
      </p:sp>
      <p:sp>
        <p:nvSpPr>
          <p:cNvPr id="21" name="Line 20"/>
          <p:cNvSpPr>
            <a:spLocks noChangeShapeType="1"/>
          </p:cNvSpPr>
          <p:nvPr/>
        </p:nvSpPr>
        <p:spPr bwMode="auto">
          <a:xfrm>
            <a:off x="7408864" y="3592513"/>
            <a:ext cx="1184275" cy="1587500"/>
          </a:xfrm>
          <a:prstGeom prst="line">
            <a:avLst/>
          </a:prstGeom>
          <a:noFill/>
          <a:ln w="9525" cap="rnd">
            <a:solidFill>
              <a:schemeClr val="tx1"/>
            </a:solidFill>
            <a:prstDash val="sysDot"/>
            <a:round/>
            <a:headEnd/>
            <a:tailEnd/>
          </a:ln>
        </p:spPr>
        <p:txBody>
          <a:bodyPr/>
          <a:lstStyle/>
          <a:p>
            <a:endParaRPr lang="en-US"/>
          </a:p>
        </p:txBody>
      </p:sp>
      <p:sp>
        <p:nvSpPr>
          <p:cNvPr id="22" name="Line 21"/>
          <p:cNvSpPr>
            <a:spLocks noChangeShapeType="1"/>
          </p:cNvSpPr>
          <p:nvPr/>
        </p:nvSpPr>
        <p:spPr bwMode="auto">
          <a:xfrm flipV="1">
            <a:off x="7589838" y="2663825"/>
            <a:ext cx="1631950" cy="674688"/>
          </a:xfrm>
          <a:prstGeom prst="line">
            <a:avLst/>
          </a:prstGeom>
          <a:noFill/>
          <a:ln w="9525" cap="rnd">
            <a:solidFill>
              <a:schemeClr val="tx1"/>
            </a:solidFill>
            <a:prstDash val="sysDot"/>
            <a:round/>
            <a:headEnd/>
            <a:tailEnd/>
          </a:ln>
        </p:spPr>
        <p:txBody>
          <a:bodyPr/>
          <a:lstStyle/>
          <a:p>
            <a:endParaRPr lang="en-US"/>
          </a:p>
        </p:txBody>
      </p:sp>
      <p:sp>
        <p:nvSpPr>
          <p:cNvPr id="23" name="Line 22"/>
          <p:cNvSpPr>
            <a:spLocks noChangeShapeType="1"/>
          </p:cNvSpPr>
          <p:nvPr/>
        </p:nvSpPr>
        <p:spPr bwMode="auto">
          <a:xfrm flipV="1">
            <a:off x="8593139" y="2873375"/>
            <a:ext cx="827087" cy="2306638"/>
          </a:xfrm>
          <a:prstGeom prst="line">
            <a:avLst/>
          </a:prstGeom>
          <a:noFill/>
          <a:ln w="9525" cap="rnd">
            <a:solidFill>
              <a:schemeClr val="tx1"/>
            </a:solidFill>
            <a:prstDash val="sysDot"/>
            <a:round/>
            <a:headEnd/>
            <a:tailEnd/>
          </a:ln>
        </p:spPr>
        <p:txBody>
          <a:bodyPr/>
          <a:lstStyle/>
          <a:p>
            <a:endParaRPr lang="en-US"/>
          </a:p>
        </p:txBody>
      </p:sp>
      <p:sp>
        <p:nvSpPr>
          <p:cNvPr id="24" name="Text Box 23"/>
          <p:cNvSpPr txBox="1">
            <a:spLocks noChangeArrowheads="1"/>
          </p:cNvSpPr>
          <p:nvPr/>
        </p:nvSpPr>
        <p:spPr bwMode="auto">
          <a:xfrm>
            <a:off x="3754438" y="2085975"/>
            <a:ext cx="301686" cy="369332"/>
          </a:xfrm>
          <a:prstGeom prst="rect">
            <a:avLst/>
          </a:prstGeom>
          <a:noFill/>
          <a:ln w="9525">
            <a:noFill/>
            <a:miter lim="800000"/>
            <a:headEnd/>
            <a:tailEnd/>
          </a:ln>
        </p:spPr>
        <p:txBody>
          <a:bodyPr wrap="none">
            <a:spAutoFit/>
          </a:bodyPr>
          <a:lstStyle/>
          <a:p>
            <a:r>
              <a:rPr lang="en-US"/>
              <a:t>2</a:t>
            </a:r>
          </a:p>
        </p:txBody>
      </p:sp>
      <p:sp>
        <p:nvSpPr>
          <p:cNvPr id="25" name="Text Box 24"/>
          <p:cNvSpPr txBox="1">
            <a:spLocks noChangeArrowheads="1"/>
          </p:cNvSpPr>
          <p:nvPr/>
        </p:nvSpPr>
        <p:spPr bwMode="auto">
          <a:xfrm>
            <a:off x="3417888" y="4338638"/>
            <a:ext cx="301686" cy="369332"/>
          </a:xfrm>
          <a:prstGeom prst="rect">
            <a:avLst/>
          </a:prstGeom>
          <a:noFill/>
          <a:ln w="9525">
            <a:noFill/>
            <a:miter lim="800000"/>
            <a:headEnd/>
            <a:tailEnd/>
          </a:ln>
        </p:spPr>
        <p:txBody>
          <a:bodyPr wrap="none">
            <a:spAutoFit/>
          </a:bodyPr>
          <a:lstStyle/>
          <a:p>
            <a:r>
              <a:rPr lang="en-US"/>
              <a:t>4</a:t>
            </a:r>
          </a:p>
        </p:txBody>
      </p:sp>
      <p:sp>
        <p:nvSpPr>
          <p:cNvPr id="26" name="Text Box 25"/>
          <p:cNvSpPr txBox="1">
            <a:spLocks noChangeArrowheads="1"/>
          </p:cNvSpPr>
          <p:nvPr/>
        </p:nvSpPr>
        <p:spPr bwMode="auto">
          <a:xfrm>
            <a:off x="4064000" y="3143250"/>
            <a:ext cx="301686" cy="369332"/>
          </a:xfrm>
          <a:prstGeom prst="rect">
            <a:avLst/>
          </a:prstGeom>
          <a:noFill/>
          <a:ln w="9525">
            <a:noFill/>
            <a:miter lim="800000"/>
            <a:headEnd/>
            <a:tailEnd/>
          </a:ln>
        </p:spPr>
        <p:txBody>
          <a:bodyPr wrap="none">
            <a:spAutoFit/>
          </a:bodyPr>
          <a:lstStyle/>
          <a:p>
            <a:r>
              <a:rPr lang="en-US"/>
              <a:t>5</a:t>
            </a:r>
          </a:p>
        </p:txBody>
      </p:sp>
      <p:sp>
        <p:nvSpPr>
          <p:cNvPr id="27" name="Text Box 26"/>
          <p:cNvSpPr txBox="1">
            <a:spLocks noChangeArrowheads="1"/>
          </p:cNvSpPr>
          <p:nvPr/>
        </p:nvSpPr>
        <p:spPr bwMode="auto">
          <a:xfrm>
            <a:off x="5967413" y="2314575"/>
            <a:ext cx="301686" cy="369332"/>
          </a:xfrm>
          <a:prstGeom prst="rect">
            <a:avLst/>
          </a:prstGeom>
          <a:noFill/>
          <a:ln w="9525">
            <a:noFill/>
            <a:miter lim="800000"/>
            <a:headEnd/>
            <a:tailEnd/>
          </a:ln>
        </p:spPr>
        <p:txBody>
          <a:bodyPr wrap="none">
            <a:spAutoFit/>
          </a:bodyPr>
          <a:lstStyle/>
          <a:p>
            <a:r>
              <a:rPr lang="en-US"/>
              <a:t>7</a:t>
            </a:r>
          </a:p>
        </p:txBody>
      </p:sp>
      <p:sp>
        <p:nvSpPr>
          <p:cNvPr id="28" name="Text Box 27"/>
          <p:cNvSpPr txBox="1">
            <a:spLocks noChangeArrowheads="1"/>
          </p:cNvSpPr>
          <p:nvPr/>
        </p:nvSpPr>
        <p:spPr bwMode="auto">
          <a:xfrm>
            <a:off x="5091113" y="2881313"/>
            <a:ext cx="301686" cy="369332"/>
          </a:xfrm>
          <a:prstGeom prst="rect">
            <a:avLst/>
          </a:prstGeom>
          <a:noFill/>
          <a:ln w="9525">
            <a:noFill/>
            <a:miter lim="800000"/>
            <a:headEnd/>
            <a:tailEnd/>
          </a:ln>
        </p:spPr>
        <p:txBody>
          <a:bodyPr wrap="none">
            <a:spAutoFit/>
          </a:bodyPr>
          <a:lstStyle/>
          <a:p>
            <a:r>
              <a:rPr lang="en-US"/>
              <a:t>2</a:t>
            </a:r>
          </a:p>
        </p:txBody>
      </p:sp>
      <p:sp>
        <p:nvSpPr>
          <p:cNvPr id="29" name="Text Box 28"/>
          <p:cNvSpPr txBox="1">
            <a:spLocks noChangeArrowheads="1"/>
          </p:cNvSpPr>
          <p:nvPr/>
        </p:nvSpPr>
        <p:spPr bwMode="auto">
          <a:xfrm>
            <a:off x="4838700" y="4795838"/>
            <a:ext cx="301686" cy="369332"/>
          </a:xfrm>
          <a:prstGeom prst="rect">
            <a:avLst/>
          </a:prstGeom>
          <a:noFill/>
          <a:ln w="9525">
            <a:noFill/>
            <a:miter lim="800000"/>
            <a:headEnd/>
            <a:tailEnd/>
          </a:ln>
        </p:spPr>
        <p:txBody>
          <a:bodyPr wrap="none">
            <a:spAutoFit/>
          </a:bodyPr>
          <a:lstStyle/>
          <a:p>
            <a:r>
              <a:rPr lang="en-US"/>
              <a:t>1</a:t>
            </a:r>
          </a:p>
        </p:txBody>
      </p:sp>
      <p:sp>
        <p:nvSpPr>
          <p:cNvPr id="30" name="Text Box 29"/>
          <p:cNvSpPr txBox="1">
            <a:spLocks noChangeArrowheads="1"/>
          </p:cNvSpPr>
          <p:nvPr/>
        </p:nvSpPr>
        <p:spPr bwMode="auto">
          <a:xfrm>
            <a:off x="5967413" y="3371850"/>
            <a:ext cx="301686" cy="369332"/>
          </a:xfrm>
          <a:prstGeom prst="rect">
            <a:avLst/>
          </a:prstGeom>
          <a:noFill/>
          <a:ln w="9525">
            <a:noFill/>
            <a:miter lim="800000"/>
            <a:headEnd/>
            <a:tailEnd/>
          </a:ln>
        </p:spPr>
        <p:txBody>
          <a:bodyPr wrap="none">
            <a:spAutoFit/>
          </a:bodyPr>
          <a:lstStyle/>
          <a:p>
            <a:r>
              <a:rPr lang="en-US"/>
              <a:t>4</a:t>
            </a:r>
          </a:p>
        </p:txBody>
      </p:sp>
      <p:sp>
        <p:nvSpPr>
          <p:cNvPr id="31" name="Text Box 30"/>
          <p:cNvSpPr txBox="1">
            <a:spLocks noChangeArrowheads="1"/>
          </p:cNvSpPr>
          <p:nvPr/>
        </p:nvSpPr>
        <p:spPr bwMode="auto">
          <a:xfrm>
            <a:off x="6650038" y="4338638"/>
            <a:ext cx="301686" cy="369332"/>
          </a:xfrm>
          <a:prstGeom prst="rect">
            <a:avLst/>
          </a:prstGeom>
          <a:noFill/>
          <a:ln w="9525">
            <a:noFill/>
            <a:miter lim="800000"/>
            <a:headEnd/>
            <a:tailEnd/>
          </a:ln>
        </p:spPr>
        <p:txBody>
          <a:bodyPr wrap="none">
            <a:spAutoFit/>
          </a:bodyPr>
          <a:lstStyle/>
          <a:p>
            <a:r>
              <a:rPr lang="en-US"/>
              <a:t>3</a:t>
            </a:r>
          </a:p>
        </p:txBody>
      </p:sp>
      <p:sp>
        <p:nvSpPr>
          <p:cNvPr id="32" name="Text Box 31"/>
          <p:cNvSpPr txBox="1">
            <a:spLocks noChangeArrowheads="1"/>
          </p:cNvSpPr>
          <p:nvPr/>
        </p:nvSpPr>
        <p:spPr bwMode="auto">
          <a:xfrm>
            <a:off x="6135688" y="5405438"/>
            <a:ext cx="301686" cy="369332"/>
          </a:xfrm>
          <a:prstGeom prst="rect">
            <a:avLst/>
          </a:prstGeom>
          <a:noFill/>
          <a:ln w="9525">
            <a:noFill/>
            <a:miter lim="800000"/>
            <a:headEnd/>
            <a:tailEnd/>
          </a:ln>
        </p:spPr>
        <p:txBody>
          <a:bodyPr wrap="none">
            <a:spAutoFit/>
          </a:bodyPr>
          <a:lstStyle/>
          <a:p>
            <a:r>
              <a:rPr lang="en-US"/>
              <a:t>4</a:t>
            </a:r>
          </a:p>
        </p:txBody>
      </p:sp>
      <p:sp>
        <p:nvSpPr>
          <p:cNvPr id="33" name="Text Box 32"/>
          <p:cNvSpPr txBox="1">
            <a:spLocks noChangeArrowheads="1"/>
          </p:cNvSpPr>
          <p:nvPr/>
        </p:nvSpPr>
        <p:spPr bwMode="auto">
          <a:xfrm>
            <a:off x="8242300" y="2606675"/>
            <a:ext cx="301686" cy="369332"/>
          </a:xfrm>
          <a:prstGeom prst="rect">
            <a:avLst/>
          </a:prstGeom>
          <a:noFill/>
          <a:ln w="9525">
            <a:noFill/>
            <a:miter lim="800000"/>
            <a:headEnd/>
            <a:tailEnd/>
          </a:ln>
        </p:spPr>
        <p:txBody>
          <a:bodyPr wrap="none">
            <a:spAutoFit/>
          </a:bodyPr>
          <a:lstStyle/>
          <a:p>
            <a:r>
              <a:rPr lang="en-US"/>
              <a:t>5</a:t>
            </a:r>
          </a:p>
        </p:txBody>
      </p:sp>
      <p:sp>
        <p:nvSpPr>
          <p:cNvPr id="34" name="Text Box 33"/>
          <p:cNvSpPr txBox="1">
            <a:spLocks noChangeArrowheads="1"/>
          </p:cNvSpPr>
          <p:nvPr/>
        </p:nvSpPr>
        <p:spPr bwMode="auto">
          <a:xfrm>
            <a:off x="7905750" y="3997325"/>
            <a:ext cx="301686" cy="369332"/>
          </a:xfrm>
          <a:prstGeom prst="rect">
            <a:avLst/>
          </a:prstGeom>
          <a:noFill/>
          <a:ln w="9525">
            <a:noFill/>
            <a:miter lim="800000"/>
            <a:headEnd/>
            <a:tailEnd/>
          </a:ln>
        </p:spPr>
        <p:txBody>
          <a:bodyPr wrap="none">
            <a:spAutoFit/>
          </a:bodyPr>
          <a:lstStyle/>
          <a:p>
            <a:r>
              <a:rPr lang="en-US"/>
              <a:t>1</a:t>
            </a:r>
          </a:p>
        </p:txBody>
      </p:sp>
      <p:sp>
        <p:nvSpPr>
          <p:cNvPr id="35" name="Text Box 34"/>
          <p:cNvSpPr txBox="1">
            <a:spLocks noChangeArrowheads="1"/>
          </p:cNvSpPr>
          <p:nvPr/>
        </p:nvSpPr>
        <p:spPr bwMode="auto">
          <a:xfrm>
            <a:off x="8788400" y="3475038"/>
            <a:ext cx="301686" cy="369332"/>
          </a:xfrm>
          <a:prstGeom prst="rect">
            <a:avLst/>
          </a:prstGeom>
          <a:noFill/>
          <a:ln w="9525">
            <a:noFill/>
            <a:miter lim="800000"/>
            <a:headEnd/>
            <a:tailEnd/>
          </a:ln>
        </p:spPr>
        <p:txBody>
          <a:bodyPr wrap="none">
            <a:spAutoFit/>
          </a:bodyPr>
          <a:lstStyle/>
          <a:p>
            <a:r>
              <a:rPr lang="en-US" dirty="0"/>
              <a:t>7</a:t>
            </a:r>
          </a:p>
        </p:txBody>
      </p:sp>
      <p:sp>
        <p:nvSpPr>
          <p:cNvPr id="37" name="Line 16"/>
          <p:cNvSpPr>
            <a:spLocks noChangeShapeType="1"/>
          </p:cNvSpPr>
          <p:nvPr/>
        </p:nvSpPr>
        <p:spPr bwMode="auto">
          <a:xfrm flipH="1" flipV="1">
            <a:off x="3168686" y="3001169"/>
            <a:ext cx="1187509" cy="2860673"/>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8" name="Line 14"/>
          <p:cNvSpPr>
            <a:spLocks noChangeShapeType="1"/>
          </p:cNvSpPr>
          <p:nvPr/>
        </p:nvSpPr>
        <p:spPr bwMode="auto">
          <a:xfrm>
            <a:off x="4992749" y="2409807"/>
            <a:ext cx="209550" cy="1465262"/>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9" name="Line 11"/>
          <p:cNvSpPr>
            <a:spLocks noChangeShapeType="1"/>
          </p:cNvSpPr>
          <p:nvPr/>
        </p:nvSpPr>
        <p:spPr bwMode="auto">
          <a:xfrm flipV="1">
            <a:off x="3162361" y="2220119"/>
            <a:ext cx="1631950" cy="674687"/>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0" name="Line 19"/>
          <p:cNvSpPr>
            <a:spLocks noChangeShapeType="1"/>
          </p:cNvSpPr>
          <p:nvPr/>
        </p:nvSpPr>
        <p:spPr bwMode="auto">
          <a:xfrm flipV="1">
            <a:off x="5416736" y="3371849"/>
            <a:ext cx="1797813" cy="752980"/>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1" name="Line 20"/>
          <p:cNvSpPr>
            <a:spLocks noChangeShapeType="1"/>
          </p:cNvSpPr>
          <p:nvPr/>
        </p:nvSpPr>
        <p:spPr bwMode="auto">
          <a:xfrm>
            <a:off x="7417688" y="3591718"/>
            <a:ext cx="1184275" cy="1587500"/>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2" name="Line 21"/>
          <p:cNvSpPr>
            <a:spLocks noChangeShapeType="1"/>
          </p:cNvSpPr>
          <p:nvPr/>
        </p:nvSpPr>
        <p:spPr bwMode="auto">
          <a:xfrm flipV="1">
            <a:off x="8642292" y="2894805"/>
            <a:ext cx="762060" cy="2250280"/>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Tree>
    <p:extLst>
      <p:ext uri="{BB962C8B-B14F-4D97-AF65-F5344CB8AC3E}">
        <p14:creationId xmlns:p14="http://schemas.microsoft.com/office/powerpoint/2010/main" val="1663209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Problem</a:t>
            </a:r>
          </a:p>
        </p:txBody>
      </p:sp>
      <p:sp>
        <p:nvSpPr>
          <p:cNvPr id="3" name="Content Placeholder 2"/>
          <p:cNvSpPr>
            <a:spLocks noGrp="1"/>
          </p:cNvSpPr>
          <p:nvPr>
            <p:ph idx="1"/>
          </p:nvPr>
        </p:nvSpPr>
        <p:spPr/>
        <p:txBody>
          <a:bodyPr/>
          <a:lstStyle/>
          <a:p>
            <a:r>
              <a:rPr lang="en-US" b="1" u="sng" dirty="0"/>
              <a:t>Case Solution: </a:t>
            </a:r>
            <a:r>
              <a:rPr lang="en-US" dirty="0"/>
              <a:t>Another spanning tree</a:t>
            </a:r>
          </a:p>
          <a:p>
            <a:endParaRPr lang="en-US" dirty="0"/>
          </a:p>
        </p:txBody>
      </p:sp>
      <p:sp>
        <p:nvSpPr>
          <p:cNvPr id="4" name="Rectangle 3"/>
          <p:cNvSpPr txBox="1">
            <a:spLocks noChangeArrowheads="1"/>
          </p:cNvSpPr>
          <p:nvPr/>
        </p:nvSpPr>
        <p:spPr bwMode="auto">
          <a:xfrm>
            <a:off x="2209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endParaRPr lang="en-US"/>
          </a:p>
          <a:p>
            <a:endParaRPr lang="en-US" dirty="0"/>
          </a:p>
        </p:txBody>
      </p:sp>
      <p:sp>
        <p:nvSpPr>
          <p:cNvPr id="5" name="Oval 4"/>
          <p:cNvSpPr>
            <a:spLocks noChangeArrowheads="1"/>
          </p:cNvSpPr>
          <p:nvPr/>
        </p:nvSpPr>
        <p:spPr bwMode="auto">
          <a:xfrm>
            <a:off x="2743200" y="2693988"/>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 name="Oval 5"/>
          <p:cNvSpPr>
            <a:spLocks noChangeArrowheads="1"/>
          </p:cNvSpPr>
          <p:nvPr/>
        </p:nvSpPr>
        <p:spPr bwMode="auto">
          <a:xfrm>
            <a:off x="4795839" y="1973263"/>
            <a:ext cx="420687"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7" name="Oval 6"/>
          <p:cNvSpPr>
            <a:spLocks noChangeArrowheads="1"/>
          </p:cNvSpPr>
          <p:nvPr/>
        </p:nvSpPr>
        <p:spPr bwMode="auto">
          <a:xfrm>
            <a:off x="4121150" y="590550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 name="Oval 7"/>
          <p:cNvSpPr>
            <a:spLocks noChangeArrowheads="1"/>
          </p:cNvSpPr>
          <p:nvPr/>
        </p:nvSpPr>
        <p:spPr bwMode="auto">
          <a:xfrm>
            <a:off x="5006975" y="388937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 name="Oval 8"/>
          <p:cNvSpPr>
            <a:spLocks noChangeArrowheads="1"/>
          </p:cNvSpPr>
          <p:nvPr/>
        </p:nvSpPr>
        <p:spPr bwMode="auto">
          <a:xfrm>
            <a:off x="8410575" y="5180013"/>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0" name="Oval 9"/>
          <p:cNvSpPr>
            <a:spLocks noChangeArrowheads="1"/>
          </p:cNvSpPr>
          <p:nvPr/>
        </p:nvSpPr>
        <p:spPr bwMode="auto">
          <a:xfrm>
            <a:off x="7169150" y="314325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1" name="Oval 10"/>
          <p:cNvSpPr>
            <a:spLocks noChangeArrowheads="1"/>
          </p:cNvSpPr>
          <p:nvPr/>
        </p:nvSpPr>
        <p:spPr bwMode="auto">
          <a:xfrm>
            <a:off x="9229725" y="242252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2" name="Line 11"/>
          <p:cNvSpPr>
            <a:spLocks noChangeShapeType="1"/>
          </p:cNvSpPr>
          <p:nvPr/>
        </p:nvSpPr>
        <p:spPr bwMode="auto">
          <a:xfrm flipV="1">
            <a:off x="3163888" y="2198689"/>
            <a:ext cx="1631950" cy="674687"/>
          </a:xfrm>
          <a:prstGeom prst="line">
            <a:avLst/>
          </a:prstGeom>
          <a:noFill/>
          <a:ln w="9525" cap="rnd">
            <a:solidFill>
              <a:schemeClr val="tx1"/>
            </a:solidFill>
            <a:prstDash val="sysDot"/>
            <a:round/>
            <a:headEnd/>
            <a:tailEnd/>
          </a:ln>
        </p:spPr>
        <p:txBody>
          <a:bodyPr/>
          <a:lstStyle/>
          <a:p>
            <a:endParaRPr lang="en-US"/>
          </a:p>
        </p:txBody>
      </p:sp>
      <p:sp>
        <p:nvSpPr>
          <p:cNvPr id="13" name="Line 12"/>
          <p:cNvSpPr>
            <a:spLocks noChangeShapeType="1"/>
          </p:cNvSpPr>
          <p:nvPr/>
        </p:nvSpPr>
        <p:spPr bwMode="auto">
          <a:xfrm>
            <a:off x="3163889" y="2873375"/>
            <a:ext cx="1843087" cy="1219200"/>
          </a:xfrm>
          <a:prstGeom prst="line">
            <a:avLst/>
          </a:prstGeom>
          <a:noFill/>
          <a:ln w="9525" cap="rnd">
            <a:solidFill>
              <a:schemeClr val="tx1"/>
            </a:solidFill>
            <a:prstDash val="sysDot"/>
            <a:round/>
            <a:headEnd/>
            <a:tailEnd/>
          </a:ln>
        </p:spPr>
        <p:txBody>
          <a:bodyPr/>
          <a:lstStyle/>
          <a:p>
            <a:endParaRPr lang="en-US"/>
          </a:p>
        </p:txBody>
      </p:sp>
      <p:sp>
        <p:nvSpPr>
          <p:cNvPr id="14" name="Line 13"/>
          <p:cNvSpPr>
            <a:spLocks noChangeShapeType="1"/>
          </p:cNvSpPr>
          <p:nvPr/>
        </p:nvSpPr>
        <p:spPr bwMode="auto">
          <a:xfrm>
            <a:off x="3163888" y="2873376"/>
            <a:ext cx="1147762" cy="3032125"/>
          </a:xfrm>
          <a:prstGeom prst="line">
            <a:avLst/>
          </a:prstGeom>
          <a:noFill/>
          <a:ln w="9525" cap="rnd">
            <a:solidFill>
              <a:schemeClr val="tx1"/>
            </a:solidFill>
            <a:prstDash val="sysDot"/>
            <a:round/>
            <a:headEnd/>
            <a:tailEnd/>
          </a:ln>
        </p:spPr>
        <p:txBody>
          <a:bodyPr/>
          <a:lstStyle/>
          <a:p>
            <a:endParaRPr lang="en-US"/>
          </a:p>
        </p:txBody>
      </p:sp>
      <p:sp>
        <p:nvSpPr>
          <p:cNvPr id="15" name="Line 14"/>
          <p:cNvSpPr>
            <a:spLocks noChangeShapeType="1"/>
          </p:cNvSpPr>
          <p:nvPr/>
        </p:nvSpPr>
        <p:spPr bwMode="auto">
          <a:xfrm>
            <a:off x="5006975" y="2424113"/>
            <a:ext cx="209550" cy="1465262"/>
          </a:xfrm>
          <a:prstGeom prst="line">
            <a:avLst/>
          </a:prstGeom>
          <a:noFill/>
          <a:ln w="9525" cap="rnd">
            <a:solidFill>
              <a:schemeClr val="tx1"/>
            </a:solidFill>
            <a:prstDash val="sysDot"/>
            <a:round/>
            <a:headEnd/>
            <a:tailEnd/>
          </a:ln>
        </p:spPr>
        <p:txBody>
          <a:bodyPr/>
          <a:lstStyle/>
          <a:p>
            <a:endParaRPr lang="en-US"/>
          </a:p>
        </p:txBody>
      </p:sp>
      <p:sp>
        <p:nvSpPr>
          <p:cNvPr id="16" name="Line 15"/>
          <p:cNvSpPr>
            <a:spLocks noChangeShapeType="1"/>
          </p:cNvSpPr>
          <p:nvPr/>
        </p:nvSpPr>
        <p:spPr bwMode="auto">
          <a:xfrm>
            <a:off x="5216526" y="2198689"/>
            <a:ext cx="1952625" cy="1139825"/>
          </a:xfrm>
          <a:prstGeom prst="line">
            <a:avLst/>
          </a:prstGeom>
          <a:noFill/>
          <a:ln w="9525" cap="rnd">
            <a:solidFill>
              <a:schemeClr val="tx1"/>
            </a:solidFill>
            <a:prstDash val="sysDot"/>
            <a:round/>
            <a:headEnd/>
            <a:tailEnd/>
          </a:ln>
        </p:spPr>
        <p:txBody>
          <a:bodyPr/>
          <a:lstStyle/>
          <a:p>
            <a:endParaRPr lang="en-US"/>
          </a:p>
        </p:txBody>
      </p:sp>
      <p:sp>
        <p:nvSpPr>
          <p:cNvPr id="17" name="Line 16"/>
          <p:cNvSpPr>
            <a:spLocks noChangeShapeType="1"/>
          </p:cNvSpPr>
          <p:nvPr/>
        </p:nvSpPr>
        <p:spPr bwMode="auto">
          <a:xfrm flipV="1">
            <a:off x="4400551" y="4338638"/>
            <a:ext cx="815975" cy="1566862"/>
          </a:xfrm>
          <a:prstGeom prst="line">
            <a:avLst/>
          </a:prstGeom>
          <a:noFill/>
          <a:ln w="9525" cap="rnd">
            <a:solidFill>
              <a:schemeClr val="tx1"/>
            </a:solidFill>
            <a:prstDash val="sysDot"/>
            <a:round/>
            <a:headEnd/>
            <a:tailEnd/>
          </a:ln>
        </p:spPr>
        <p:txBody>
          <a:bodyPr/>
          <a:lstStyle/>
          <a:p>
            <a:endParaRPr lang="en-US"/>
          </a:p>
        </p:txBody>
      </p:sp>
      <p:sp>
        <p:nvSpPr>
          <p:cNvPr id="18" name="Line 17"/>
          <p:cNvSpPr>
            <a:spLocks noChangeShapeType="1"/>
          </p:cNvSpPr>
          <p:nvPr/>
        </p:nvSpPr>
        <p:spPr bwMode="auto">
          <a:xfrm flipV="1">
            <a:off x="5427664" y="3338513"/>
            <a:ext cx="1741487" cy="754062"/>
          </a:xfrm>
          <a:prstGeom prst="line">
            <a:avLst/>
          </a:prstGeom>
          <a:noFill/>
          <a:ln w="9525" cap="rnd">
            <a:solidFill>
              <a:schemeClr val="tx1"/>
            </a:solidFill>
            <a:prstDash val="sysDot"/>
            <a:round/>
            <a:headEnd/>
            <a:tailEnd/>
          </a:ln>
        </p:spPr>
        <p:txBody>
          <a:bodyPr/>
          <a:lstStyle/>
          <a:p>
            <a:endParaRPr lang="en-US"/>
          </a:p>
        </p:txBody>
      </p:sp>
      <p:sp>
        <p:nvSpPr>
          <p:cNvPr id="19" name="Line 18"/>
          <p:cNvSpPr>
            <a:spLocks noChangeShapeType="1"/>
          </p:cNvSpPr>
          <p:nvPr/>
        </p:nvSpPr>
        <p:spPr bwMode="auto">
          <a:xfrm flipV="1">
            <a:off x="4541839" y="5405439"/>
            <a:ext cx="3868737" cy="725487"/>
          </a:xfrm>
          <a:prstGeom prst="line">
            <a:avLst/>
          </a:prstGeom>
          <a:noFill/>
          <a:ln w="9525" cap="rnd">
            <a:solidFill>
              <a:schemeClr val="tx1"/>
            </a:solidFill>
            <a:prstDash val="sysDot"/>
            <a:round/>
            <a:headEnd/>
            <a:tailEnd/>
          </a:ln>
        </p:spPr>
        <p:txBody>
          <a:bodyPr/>
          <a:lstStyle/>
          <a:p>
            <a:endParaRPr lang="en-US"/>
          </a:p>
        </p:txBody>
      </p:sp>
      <p:sp>
        <p:nvSpPr>
          <p:cNvPr id="20" name="Line 19"/>
          <p:cNvSpPr>
            <a:spLocks noChangeShapeType="1"/>
          </p:cNvSpPr>
          <p:nvPr/>
        </p:nvSpPr>
        <p:spPr bwMode="auto">
          <a:xfrm>
            <a:off x="5427663" y="4225926"/>
            <a:ext cx="2982912" cy="1179513"/>
          </a:xfrm>
          <a:prstGeom prst="line">
            <a:avLst/>
          </a:prstGeom>
          <a:noFill/>
          <a:ln w="9525" cap="rnd">
            <a:solidFill>
              <a:schemeClr val="tx1"/>
            </a:solidFill>
            <a:prstDash val="sysDot"/>
            <a:round/>
            <a:headEnd/>
            <a:tailEnd/>
          </a:ln>
        </p:spPr>
        <p:txBody>
          <a:bodyPr/>
          <a:lstStyle/>
          <a:p>
            <a:endParaRPr lang="en-US"/>
          </a:p>
        </p:txBody>
      </p:sp>
      <p:sp>
        <p:nvSpPr>
          <p:cNvPr id="21" name="Line 20"/>
          <p:cNvSpPr>
            <a:spLocks noChangeShapeType="1"/>
          </p:cNvSpPr>
          <p:nvPr/>
        </p:nvSpPr>
        <p:spPr bwMode="auto">
          <a:xfrm>
            <a:off x="7408864" y="3592513"/>
            <a:ext cx="1184275" cy="1587500"/>
          </a:xfrm>
          <a:prstGeom prst="line">
            <a:avLst/>
          </a:prstGeom>
          <a:noFill/>
          <a:ln w="9525" cap="rnd">
            <a:solidFill>
              <a:schemeClr val="tx1"/>
            </a:solidFill>
            <a:prstDash val="sysDot"/>
            <a:round/>
            <a:headEnd/>
            <a:tailEnd/>
          </a:ln>
        </p:spPr>
        <p:txBody>
          <a:bodyPr/>
          <a:lstStyle/>
          <a:p>
            <a:endParaRPr lang="en-US"/>
          </a:p>
        </p:txBody>
      </p:sp>
      <p:sp>
        <p:nvSpPr>
          <p:cNvPr id="22" name="Line 21"/>
          <p:cNvSpPr>
            <a:spLocks noChangeShapeType="1"/>
          </p:cNvSpPr>
          <p:nvPr/>
        </p:nvSpPr>
        <p:spPr bwMode="auto">
          <a:xfrm flipV="1">
            <a:off x="7589838" y="2663825"/>
            <a:ext cx="1631950" cy="674688"/>
          </a:xfrm>
          <a:prstGeom prst="line">
            <a:avLst/>
          </a:prstGeom>
          <a:noFill/>
          <a:ln w="9525" cap="rnd">
            <a:solidFill>
              <a:schemeClr val="tx1"/>
            </a:solidFill>
            <a:prstDash val="sysDot"/>
            <a:round/>
            <a:headEnd/>
            <a:tailEnd/>
          </a:ln>
        </p:spPr>
        <p:txBody>
          <a:bodyPr/>
          <a:lstStyle/>
          <a:p>
            <a:endParaRPr lang="en-US"/>
          </a:p>
        </p:txBody>
      </p:sp>
      <p:sp>
        <p:nvSpPr>
          <p:cNvPr id="23" name="Line 22"/>
          <p:cNvSpPr>
            <a:spLocks noChangeShapeType="1"/>
          </p:cNvSpPr>
          <p:nvPr/>
        </p:nvSpPr>
        <p:spPr bwMode="auto">
          <a:xfrm flipV="1">
            <a:off x="8593139" y="2873375"/>
            <a:ext cx="827087" cy="2306638"/>
          </a:xfrm>
          <a:prstGeom prst="line">
            <a:avLst/>
          </a:prstGeom>
          <a:noFill/>
          <a:ln w="9525" cap="rnd">
            <a:solidFill>
              <a:schemeClr val="tx1"/>
            </a:solidFill>
            <a:prstDash val="sysDot"/>
            <a:round/>
            <a:headEnd/>
            <a:tailEnd/>
          </a:ln>
        </p:spPr>
        <p:txBody>
          <a:bodyPr/>
          <a:lstStyle/>
          <a:p>
            <a:endParaRPr lang="en-US"/>
          </a:p>
        </p:txBody>
      </p:sp>
      <p:sp>
        <p:nvSpPr>
          <p:cNvPr id="24" name="Text Box 23"/>
          <p:cNvSpPr txBox="1">
            <a:spLocks noChangeArrowheads="1"/>
          </p:cNvSpPr>
          <p:nvPr/>
        </p:nvSpPr>
        <p:spPr bwMode="auto">
          <a:xfrm>
            <a:off x="3754438" y="2085975"/>
            <a:ext cx="301686" cy="369332"/>
          </a:xfrm>
          <a:prstGeom prst="rect">
            <a:avLst/>
          </a:prstGeom>
          <a:noFill/>
          <a:ln w="9525">
            <a:noFill/>
            <a:miter lim="800000"/>
            <a:headEnd/>
            <a:tailEnd/>
          </a:ln>
        </p:spPr>
        <p:txBody>
          <a:bodyPr wrap="none">
            <a:spAutoFit/>
          </a:bodyPr>
          <a:lstStyle/>
          <a:p>
            <a:r>
              <a:rPr lang="en-US"/>
              <a:t>2</a:t>
            </a:r>
          </a:p>
        </p:txBody>
      </p:sp>
      <p:sp>
        <p:nvSpPr>
          <p:cNvPr id="25" name="Text Box 24"/>
          <p:cNvSpPr txBox="1">
            <a:spLocks noChangeArrowheads="1"/>
          </p:cNvSpPr>
          <p:nvPr/>
        </p:nvSpPr>
        <p:spPr bwMode="auto">
          <a:xfrm>
            <a:off x="3417888" y="4338638"/>
            <a:ext cx="301686" cy="369332"/>
          </a:xfrm>
          <a:prstGeom prst="rect">
            <a:avLst/>
          </a:prstGeom>
          <a:noFill/>
          <a:ln w="9525">
            <a:noFill/>
            <a:miter lim="800000"/>
            <a:headEnd/>
            <a:tailEnd/>
          </a:ln>
        </p:spPr>
        <p:txBody>
          <a:bodyPr wrap="none">
            <a:spAutoFit/>
          </a:bodyPr>
          <a:lstStyle/>
          <a:p>
            <a:r>
              <a:rPr lang="en-US"/>
              <a:t>4</a:t>
            </a:r>
          </a:p>
        </p:txBody>
      </p:sp>
      <p:sp>
        <p:nvSpPr>
          <p:cNvPr id="26" name="Text Box 25"/>
          <p:cNvSpPr txBox="1">
            <a:spLocks noChangeArrowheads="1"/>
          </p:cNvSpPr>
          <p:nvPr/>
        </p:nvSpPr>
        <p:spPr bwMode="auto">
          <a:xfrm>
            <a:off x="4064000" y="3143250"/>
            <a:ext cx="301686" cy="369332"/>
          </a:xfrm>
          <a:prstGeom prst="rect">
            <a:avLst/>
          </a:prstGeom>
          <a:noFill/>
          <a:ln w="9525">
            <a:noFill/>
            <a:miter lim="800000"/>
            <a:headEnd/>
            <a:tailEnd/>
          </a:ln>
        </p:spPr>
        <p:txBody>
          <a:bodyPr wrap="none">
            <a:spAutoFit/>
          </a:bodyPr>
          <a:lstStyle/>
          <a:p>
            <a:r>
              <a:rPr lang="en-US"/>
              <a:t>5</a:t>
            </a:r>
          </a:p>
        </p:txBody>
      </p:sp>
      <p:sp>
        <p:nvSpPr>
          <p:cNvPr id="27" name="Text Box 26"/>
          <p:cNvSpPr txBox="1">
            <a:spLocks noChangeArrowheads="1"/>
          </p:cNvSpPr>
          <p:nvPr/>
        </p:nvSpPr>
        <p:spPr bwMode="auto">
          <a:xfrm>
            <a:off x="5967413" y="2314575"/>
            <a:ext cx="301686" cy="369332"/>
          </a:xfrm>
          <a:prstGeom prst="rect">
            <a:avLst/>
          </a:prstGeom>
          <a:noFill/>
          <a:ln w="9525">
            <a:noFill/>
            <a:miter lim="800000"/>
            <a:headEnd/>
            <a:tailEnd/>
          </a:ln>
        </p:spPr>
        <p:txBody>
          <a:bodyPr wrap="none">
            <a:spAutoFit/>
          </a:bodyPr>
          <a:lstStyle/>
          <a:p>
            <a:r>
              <a:rPr lang="en-US"/>
              <a:t>7</a:t>
            </a:r>
          </a:p>
        </p:txBody>
      </p:sp>
      <p:sp>
        <p:nvSpPr>
          <p:cNvPr id="28" name="Text Box 27"/>
          <p:cNvSpPr txBox="1">
            <a:spLocks noChangeArrowheads="1"/>
          </p:cNvSpPr>
          <p:nvPr/>
        </p:nvSpPr>
        <p:spPr bwMode="auto">
          <a:xfrm>
            <a:off x="5091113" y="2881313"/>
            <a:ext cx="301686" cy="369332"/>
          </a:xfrm>
          <a:prstGeom prst="rect">
            <a:avLst/>
          </a:prstGeom>
          <a:noFill/>
          <a:ln w="9525">
            <a:noFill/>
            <a:miter lim="800000"/>
            <a:headEnd/>
            <a:tailEnd/>
          </a:ln>
        </p:spPr>
        <p:txBody>
          <a:bodyPr wrap="none">
            <a:spAutoFit/>
          </a:bodyPr>
          <a:lstStyle/>
          <a:p>
            <a:r>
              <a:rPr lang="en-US"/>
              <a:t>2</a:t>
            </a:r>
          </a:p>
        </p:txBody>
      </p:sp>
      <p:sp>
        <p:nvSpPr>
          <p:cNvPr id="29" name="Text Box 28"/>
          <p:cNvSpPr txBox="1">
            <a:spLocks noChangeArrowheads="1"/>
          </p:cNvSpPr>
          <p:nvPr/>
        </p:nvSpPr>
        <p:spPr bwMode="auto">
          <a:xfrm>
            <a:off x="4838700" y="4795838"/>
            <a:ext cx="301686" cy="369332"/>
          </a:xfrm>
          <a:prstGeom prst="rect">
            <a:avLst/>
          </a:prstGeom>
          <a:noFill/>
          <a:ln w="9525">
            <a:noFill/>
            <a:miter lim="800000"/>
            <a:headEnd/>
            <a:tailEnd/>
          </a:ln>
        </p:spPr>
        <p:txBody>
          <a:bodyPr wrap="none">
            <a:spAutoFit/>
          </a:bodyPr>
          <a:lstStyle/>
          <a:p>
            <a:r>
              <a:rPr lang="en-US"/>
              <a:t>1</a:t>
            </a:r>
          </a:p>
        </p:txBody>
      </p:sp>
      <p:sp>
        <p:nvSpPr>
          <p:cNvPr id="30" name="Text Box 29"/>
          <p:cNvSpPr txBox="1">
            <a:spLocks noChangeArrowheads="1"/>
          </p:cNvSpPr>
          <p:nvPr/>
        </p:nvSpPr>
        <p:spPr bwMode="auto">
          <a:xfrm>
            <a:off x="5967413" y="3371850"/>
            <a:ext cx="301686" cy="369332"/>
          </a:xfrm>
          <a:prstGeom prst="rect">
            <a:avLst/>
          </a:prstGeom>
          <a:noFill/>
          <a:ln w="9525">
            <a:noFill/>
            <a:miter lim="800000"/>
            <a:headEnd/>
            <a:tailEnd/>
          </a:ln>
        </p:spPr>
        <p:txBody>
          <a:bodyPr wrap="none">
            <a:spAutoFit/>
          </a:bodyPr>
          <a:lstStyle/>
          <a:p>
            <a:r>
              <a:rPr lang="en-US"/>
              <a:t>4</a:t>
            </a:r>
          </a:p>
        </p:txBody>
      </p:sp>
      <p:sp>
        <p:nvSpPr>
          <p:cNvPr id="31" name="Text Box 30"/>
          <p:cNvSpPr txBox="1">
            <a:spLocks noChangeArrowheads="1"/>
          </p:cNvSpPr>
          <p:nvPr/>
        </p:nvSpPr>
        <p:spPr bwMode="auto">
          <a:xfrm>
            <a:off x="6650038" y="4338638"/>
            <a:ext cx="301686" cy="369332"/>
          </a:xfrm>
          <a:prstGeom prst="rect">
            <a:avLst/>
          </a:prstGeom>
          <a:noFill/>
          <a:ln w="9525">
            <a:noFill/>
            <a:miter lim="800000"/>
            <a:headEnd/>
            <a:tailEnd/>
          </a:ln>
        </p:spPr>
        <p:txBody>
          <a:bodyPr wrap="none">
            <a:spAutoFit/>
          </a:bodyPr>
          <a:lstStyle/>
          <a:p>
            <a:r>
              <a:rPr lang="en-US"/>
              <a:t>3</a:t>
            </a:r>
          </a:p>
        </p:txBody>
      </p:sp>
      <p:sp>
        <p:nvSpPr>
          <p:cNvPr id="32" name="Text Box 31"/>
          <p:cNvSpPr txBox="1">
            <a:spLocks noChangeArrowheads="1"/>
          </p:cNvSpPr>
          <p:nvPr/>
        </p:nvSpPr>
        <p:spPr bwMode="auto">
          <a:xfrm>
            <a:off x="6135688" y="5405438"/>
            <a:ext cx="301686" cy="369332"/>
          </a:xfrm>
          <a:prstGeom prst="rect">
            <a:avLst/>
          </a:prstGeom>
          <a:noFill/>
          <a:ln w="9525">
            <a:noFill/>
            <a:miter lim="800000"/>
            <a:headEnd/>
            <a:tailEnd/>
          </a:ln>
        </p:spPr>
        <p:txBody>
          <a:bodyPr wrap="none">
            <a:spAutoFit/>
          </a:bodyPr>
          <a:lstStyle/>
          <a:p>
            <a:r>
              <a:rPr lang="en-US"/>
              <a:t>4</a:t>
            </a:r>
          </a:p>
        </p:txBody>
      </p:sp>
      <p:sp>
        <p:nvSpPr>
          <p:cNvPr id="33" name="Text Box 32"/>
          <p:cNvSpPr txBox="1">
            <a:spLocks noChangeArrowheads="1"/>
          </p:cNvSpPr>
          <p:nvPr/>
        </p:nvSpPr>
        <p:spPr bwMode="auto">
          <a:xfrm>
            <a:off x="8242300" y="2606675"/>
            <a:ext cx="301686" cy="369332"/>
          </a:xfrm>
          <a:prstGeom prst="rect">
            <a:avLst/>
          </a:prstGeom>
          <a:noFill/>
          <a:ln w="9525">
            <a:noFill/>
            <a:miter lim="800000"/>
            <a:headEnd/>
            <a:tailEnd/>
          </a:ln>
        </p:spPr>
        <p:txBody>
          <a:bodyPr wrap="none">
            <a:spAutoFit/>
          </a:bodyPr>
          <a:lstStyle/>
          <a:p>
            <a:r>
              <a:rPr lang="en-US"/>
              <a:t>5</a:t>
            </a:r>
          </a:p>
        </p:txBody>
      </p:sp>
      <p:sp>
        <p:nvSpPr>
          <p:cNvPr id="34" name="Text Box 33"/>
          <p:cNvSpPr txBox="1">
            <a:spLocks noChangeArrowheads="1"/>
          </p:cNvSpPr>
          <p:nvPr/>
        </p:nvSpPr>
        <p:spPr bwMode="auto">
          <a:xfrm>
            <a:off x="7905750" y="3997325"/>
            <a:ext cx="301686" cy="369332"/>
          </a:xfrm>
          <a:prstGeom prst="rect">
            <a:avLst/>
          </a:prstGeom>
          <a:noFill/>
          <a:ln w="9525">
            <a:noFill/>
            <a:miter lim="800000"/>
            <a:headEnd/>
            <a:tailEnd/>
          </a:ln>
        </p:spPr>
        <p:txBody>
          <a:bodyPr wrap="none">
            <a:spAutoFit/>
          </a:bodyPr>
          <a:lstStyle/>
          <a:p>
            <a:r>
              <a:rPr lang="en-US"/>
              <a:t>1</a:t>
            </a:r>
          </a:p>
        </p:txBody>
      </p:sp>
      <p:sp>
        <p:nvSpPr>
          <p:cNvPr id="35" name="Text Box 34"/>
          <p:cNvSpPr txBox="1">
            <a:spLocks noChangeArrowheads="1"/>
          </p:cNvSpPr>
          <p:nvPr/>
        </p:nvSpPr>
        <p:spPr bwMode="auto">
          <a:xfrm>
            <a:off x="8788400" y="3475038"/>
            <a:ext cx="301686" cy="369332"/>
          </a:xfrm>
          <a:prstGeom prst="rect">
            <a:avLst/>
          </a:prstGeom>
          <a:noFill/>
          <a:ln w="9525">
            <a:noFill/>
            <a:miter lim="800000"/>
            <a:headEnd/>
            <a:tailEnd/>
          </a:ln>
        </p:spPr>
        <p:txBody>
          <a:bodyPr wrap="none">
            <a:spAutoFit/>
          </a:bodyPr>
          <a:lstStyle/>
          <a:p>
            <a:r>
              <a:rPr lang="en-US" dirty="0"/>
              <a:t>7</a:t>
            </a:r>
          </a:p>
        </p:txBody>
      </p:sp>
      <p:sp>
        <p:nvSpPr>
          <p:cNvPr id="37" name="Line 16"/>
          <p:cNvSpPr>
            <a:spLocks noChangeShapeType="1"/>
          </p:cNvSpPr>
          <p:nvPr/>
        </p:nvSpPr>
        <p:spPr bwMode="auto">
          <a:xfrm flipH="1" flipV="1">
            <a:off x="3168686" y="3001169"/>
            <a:ext cx="1187509" cy="2860673"/>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8" name="Line 14"/>
          <p:cNvSpPr>
            <a:spLocks noChangeShapeType="1"/>
          </p:cNvSpPr>
          <p:nvPr/>
        </p:nvSpPr>
        <p:spPr bwMode="auto">
          <a:xfrm flipV="1">
            <a:off x="4445001" y="4225925"/>
            <a:ext cx="752475" cy="1598611"/>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9" name="Line 11"/>
          <p:cNvSpPr>
            <a:spLocks noChangeShapeType="1"/>
          </p:cNvSpPr>
          <p:nvPr/>
        </p:nvSpPr>
        <p:spPr bwMode="auto">
          <a:xfrm flipH="1" flipV="1">
            <a:off x="5242627" y="2271655"/>
            <a:ext cx="1877369" cy="1019229"/>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0" name="Line 19"/>
          <p:cNvSpPr>
            <a:spLocks noChangeShapeType="1"/>
          </p:cNvSpPr>
          <p:nvPr/>
        </p:nvSpPr>
        <p:spPr bwMode="auto">
          <a:xfrm flipV="1">
            <a:off x="5416736" y="3371849"/>
            <a:ext cx="1797813" cy="752980"/>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1" name="Line 20"/>
          <p:cNvSpPr>
            <a:spLocks noChangeShapeType="1"/>
          </p:cNvSpPr>
          <p:nvPr/>
        </p:nvSpPr>
        <p:spPr bwMode="auto">
          <a:xfrm flipV="1">
            <a:off x="4586194" y="5179218"/>
            <a:ext cx="4015769" cy="916782"/>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2" name="Line 21"/>
          <p:cNvSpPr>
            <a:spLocks noChangeShapeType="1"/>
          </p:cNvSpPr>
          <p:nvPr/>
        </p:nvSpPr>
        <p:spPr bwMode="auto">
          <a:xfrm flipV="1">
            <a:off x="7578911" y="2693988"/>
            <a:ext cx="1642877" cy="652462"/>
          </a:xfrm>
          <a:prstGeom prst="line">
            <a:avLst/>
          </a:prstGeom>
          <a:ln w="57150">
            <a:solidFill>
              <a:srgbClr val="FF0000"/>
            </a:solidFill>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Tree>
    <p:extLst>
      <p:ext uri="{BB962C8B-B14F-4D97-AF65-F5344CB8AC3E}">
        <p14:creationId xmlns:p14="http://schemas.microsoft.com/office/powerpoint/2010/main" val="2378781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 Problem</a:t>
            </a:r>
          </a:p>
        </p:txBody>
      </p:sp>
      <p:sp>
        <p:nvSpPr>
          <p:cNvPr id="3" name="Content Placeholder 2"/>
          <p:cNvSpPr>
            <a:spLocks noGrp="1"/>
          </p:cNvSpPr>
          <p:nvPr>
            <p:ph idx="1"/>
          </p:nvPr>
        </p:nvSpPr>
        <p:spPr/>
        <p:txBody>
          <a:bodyPr/>
          <a:lstStyle/>
          <a:p>
            <a:r>
              <a:rPr lang="en-US" b="1" u="sng" dirty="0"/>
              <a:t>Case Solution:</a:t>
            </a:r>
            <a:endParaRPr lang="en-US" dirty="0"/>
          </a:p>
        </p:txBody>
      </p:sp>
      <p:sp>
        <p:nvSpPr>
          <p:cNvPr id="4" name="Rectangle 3"/>
          <p:cNvSpPr txBox="1">
            <a:spLocks noChangeArrowheads="1"/>
          </p:cNvSpPr>
          <p:nvPr/>
        </p:nvSpPr>
        <p:spPr bwMode="auto">
          <a:xfrm>
            <a:off x="2209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endParaRPr lang="en-US"/>
          </a:p>
          <a:p>
            <a:endParaRPr lang="en-US" dirty="0"/>
          </a:p>
        </p:txBody>
      </p:sp>
      <p:sp>
        <p:nvSpPr>
          <p:cNvPr id="5" name="Oval 4"/>
          <p:cNvSpPr>
            <a:spLocks noChangeArrowheads="1"/>
          </p:cNvSpPr>
          <p:nvPr/>
        </p:nvSpPr>
        <p:spPr bwMode="auto">
          <a:xfrm>
            <a:off x="2743200" y="2693988"/>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 name="Oval 5"/>
          <p:cNvSpPr>
            <a:spLocks noChangeArrowheads="1"/>
          </p:cNvSpPr>
          <p:nvPr/>
        </p:nvSpPr>
        <p:spPr bwMode="auto">
          <a:xfrm>
            <a:off x="4795839" y="1973263"/>
            <a:ext cx="420687"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7" name="Oval 6"/>
          <p:cNvSpPr>
            <a:spLocks noChangeArrowheads="1"/>
          </p:cNvSpPr>
          <p:nvPr/>
        </p:nvSpPr>
        <p:spPr bwMode="auto">
          <a:xfrm>
            <a:off x="4121150" y="590550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8" name="Oval 7"/>
          <p:cNvSpPr>
            <a:spLocks noChangeArrowheads="1"/>
          </p:cNvSpPr>
          <p:nvPr/>
        </p:nvSpPr>
        <p:spPr bwMode="auto">
          <a:xfrm>
            <a:off x="5006975" y="388937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9" name="Oval 8"/>
          <p:cNvSpPr>
            <a:spLocks noChangeArrowheads="1"/>
          </p:cNvSpPr>
          <p:nvPr/>
        </p:nvSpPr>
        <p:spPr bwMode="auto">
          <a:xfrm>
            <a:off x="8410575" y="5180013"/>
            <a:ext cx="420688" cy="449262"/>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0" name="Oval 9"/>
          <p:cNvSpPr>
            <a:spLocks noChangeArrowheads="1"/>
          </p:cNvSpPr>
          <p:nvPr/>
        </p:nvSpPr>
        <p:spPr bwMode="auto">
          <a:xfrm>
            <a:off x="7169150" y="3143251"/>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1" name="Oval 10"/>
          <p:cNvSpPr>
            <a:spLocks noChangeArrowheads="1"/>
          </p:cNvSpPr>
          <p:nvPr/>
        </p:nvSpPr>
        <p:spPr bwMode="auto">
          <a:xfrm>
            <a:off x="9229725" y="2422526"/>
            <a:ext cx="420688" cy="449263"/>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2" name="Line 11"/>
          <p:cNvSpPr>
            <a:spLocks noChangeShapeType="1"/>
          </p:cNvSpPr>
          <p:nvPr/>
        </p:nvSpPr>
        <p:spPr bwMode="auto">
          <a:xfrm flipV="1">
            <a:off x="3163888" y="2198689"/>
            <a:ext cx="1631950" cy="674687"/>
          </a:xfrm>
          <a:prstGeom prst="line">
            <a:avLst/>
          </a:prstGeom>
          <a:noFill/>
          <a:ln w="9525" cap="rnd">
            <a:solidFill>
              <a:schemeClr val="tx1"/>
            </a:solidFill>
            <a:prstDash val="sysDot"/>
            <a:round/>
            <a:headEnd/>
            <a:tailEnd/>
          </a:ln>
        </p:spPr>
        <p:txBody>
          <a:bodyPr/>
          <a:lstStyle/>
          <a:p>
            <a:endParaRPr lang="en-US"/>
          </a:p>
        </p:txBody>
      </p:sp>
      <p:sp>
        <p:nvSpPr>
          <p:cNvPr id="13" name="Line 12"/>
          <p:cNvSpPr>
            <a:spLocks noChangeShapeType="1"/>
          </p:cNvSpPr>
          <p:nvPr/>
        </p:nvSpPr>
        <p:spPr bwMode="auto">
          <a:xfrm>
            <a:off x="3163889" y="2873375"/>
            <a:ext cx="1843087" cy="1219200"/>
          </a:xfrm>
          <a:prstGeom prst="line">
            <a:avLst/>
          </a:prstGeom>
          <a:noFill/>
          <a:ln w="9525" cap="rnd">
            <a:solidFill>
              <a:schemeClr val="tx1"/>
            </a:solidFill>
            <a:prstDash val="sysDot"/>
            <a:round/>
            <a:headEnd/>
            <a:tailEnd/>
          </a:ln>
        </p:spPr>
        <p:txBody>
          <a:bodyPr/>
          <a:lstStyle/>
          <a:p>
            <a:endParaRPr lang="en-US"/>
          </a:p>
        </p:txBody>
      </p:sp>
      <p:sp>
        <p:nvSpPr>
          <p:cNvPr id="14" name="Line 13"/>
          <p:cNvSpPr>
            <a:spLocks noChangeShapeType="1"/>
          </p:cNvSpPr>
          <p:nvPr/>
        </p:nvSpPr>
        <p:spPr bwMode="auto">
          <a:xfrm>
            <a:off x="3163888" y="2873376"/>
            <a:ext cx="1147762" cy="3032125"/>
          </a:xfrm>
          <a:prstGeom prst="line">
            <a:avLst/>
          </a:prstGeom>
          <a:noFill/>
          <a:ln w="9525" cap="rnd">
            <a:solidFill>
              <a:schemeClr val="tx1"/>
            </a:solidFill>
            <a:prstDash val="sysDot"/>
            <a:round/>
            <a:headEnd/>
            <a:tailEnd/>
          </a:ln>
        </p:spPr>
        <p:txBody>
          <a:bodyPr/>
          <a:lstStyle/>
          <a:p>
            <a:endParaRPr lang="en-US"/>
          </a:p>
        </p:txBody>
      </p:sp>
      <p:sp>
        <p:nvSpPr>
          <p:cNvPr id="15" name="Line 14"/>
          <p:cNvSpPr>
            <a:spLocks noChangeShapeType="1"/>
          </p:cNvSpPr>
          <p:nvPr/>
        </p:nvSpPr>
        <p:spPr bwMode="auto">
          <a:xfrm>
            <a:off x="5006975" y="2424113"/>
            <a:ext cx="209550" cy="1465262"/>
          </a:xfrm>
          <a:prstGeom prst="line">
            <a:avLst/>
          </a:prstGeom>
          <a:noFill/>
          <a:ln w="9525" cap="rnd">
            <a:solidFill>
              <a:schemeClr val="tx1"/>
            </a:solidFill>
            <a:prstDash val="sysDot"/>
            <a:round/>
            <a:headEnd/>
            <a:tailEnd/>
          </a:ln>
        </p:spPr>
        <p:txBody>
          <a:bodyPr/>
          <a:lstStyle/>
          <a:p>
            <a:endParaRPr lang="en-US"/>
          </a:p>
        </p:txBody>
      </p:sp>
      <p:sp>
        <p:nvSpPr>
          <p:cNvPr id="16" name="Line 15"/>
          <p:cNvSpPr>
            <a:spLocks noChangeShapeType="1"/>
          </p:cNvSpPr>
          <p:nvPr/>
        </p:nvSpPr>
        <p:spPr bwMode="auto">
          <a:xfrm>
            <a:off x="5216526" y="2198689"/>
            <a:ext cx="1952625" cy="1139825"/>
          </a:xfrm>
          <a:prstGeom prst="line">
            <a:avLst/>
          </a:prstGeom>
          <a:noFill/>
          <a:ln w="9525" cap="rnd">
            <a:solidFill>
              <a:schemeClr val="tx1"/>
            </a:solidFill>
            <a:prstDash val="sysDot"/>
            <a:round/>
            <a:headEnd/>
            <a:tailEnd/>
          </a:ln>
        </p:spPr>
        <p:txBody>
          <a:bodyPr/>
          <a:lstStyle/>
          <a:p>
            <a:endParaRPr lang="en-US"/>
          </a:p>
        </p:txBody>
      </p:sp>
      <p:sp>
        <p:nvSpPr>
          <p:cNvPr id="17" name="Line 16"/>
          <p:cNvSpPr>
            <a:spLocks noChangeShapeType="1"/>
          </p:cNvSpPr>
          <p:nvPr/>
        </p:nvSpPr>
        <p:spPr bwMode="auto">
          <a:xfrm flipV="1">
            <a:off x="4400551" y="4338638"/>
            <a:ext cx="815975" cy="1566862"/>
          </a:xfrm>
          <a:prstGeom prst="line">
            <a:avLst/>
          </a:prstGeom>
          <a:noFill/>
          <a:ln w="9525" cap="rnd">
            <a:solidFill>
              <a:schemeClr val="tx1"/>
            </a:solidFill>
            <a:prstDash val="sysDot"/>
            <a:round/>
            <a:headEnd/>
            <a:tailEnd/>
          </a:ln>
        </p:spPr>
        <p:txBody>
          <a:bodyPr/>
          <a:lstStyle/>
          <a:p>
            <a:endParaRPr lang="en-US"/>
          </a:p>
        </p:txBody>
      </p:sp>
      <p:sp>
        <p:nvSpPr>
          <p:cNvPr id="18" name="Line 17"/>
          <p:cNvSpPr>
            <a:spLocks noChangeShapeType="1"/>
          </p:cNvSpPr>
          <p:nvPr/>
        </p:nvSpPr>
        <p:spPr bwMode="auto">
          <a:xfrm flipV="1">
            <a:off x="5427664" y="3338513"/>
            <a:ext cx="1741487" cy="754062"/>
          </a:xfrm>
          <a:prstGeom prst="line">
            <a:avLst/>
          </a:prstGeom>
          <a:noFill/>
          <a:ln w="9525" cap="rnd">
            <a:solidFill>
              <a:schemeClr val="tx1"/>
            </a:solidFill>
            <a:prstDash val="sysDot"/>
            <a:round/>
            <a:headEnd/>
            <a:tailEnd/>
          </a:ln>
        </p:spPr>
        <p:txBody>
          <a:bodyPr/>
          <a:lstStyle/>
          <a:p>
            <a:endParaRPr lang="en-US"/>
          </a:p>
        </p:txBody>
      </p:sp>
      <p:sp>
        <p:nvSpPr>
          <p:cNvPr id="19" name="Line 18"/>
          <p:cNvSpPr>
            <a:spLocks noChangeShapeType="1"/>
          </p:cNvSpPr>
          <p:nvPr/>
        </p:nvSpPr>
        <p:spPr bwMode="auto">
          <a:xfrm flipV="1">
            <a:off x="4541839" y="5405439"/>
            <a:ext cx="3868737" cy="725487"/>
          </a:xfrm>
          <a:prstGeom prst="line">
            <a:avLst/>
          </a:prstGeom>
          <a:noFill/>
          <a:ln w="9525" cap="rnd">
            <a:solidFill>
              <a:schemeClr val="tx1"/>
            </a:solidFill>
            <a:prstDash val="sysDot"/>
            <a:round/>
            <a:headEnd/>
            <a:tailEnd/>
          </a:ln>
        </p:spPr>
        <p:txBody>
          <a:bodyPr/>
          <a:lstStyle/>
          <a:p>
            <a:endParaRPr lang="en-US"/>
          </a:p>
        </p:txBody>
      </p:sp>
      <p:sp>
        <p:nvSpPr>
          <p:cNvPr id="20" name="Line 19"/>
          <p:cNvSpPr>
            <a:spLocks noChangeShapeType="1"/>
          </p:cNvSpPr>
          <p:nvPr/>
        </p:nvSpPr>
        <p:spPr bwMode="auto">
          <a:xfrm>
            <a:off x="5427663" y="4225926"/>
            <a:ext cx="2982912" cy="1179513"/>
          </a:xfrm>
          <a:prstGeom prst="line">
            <a:avLst/>
          </a:prstGeom>
          <a:noFill/>
          <a:ln w="9525" cap="rnd">
            <a:solidFill>
              <a:schemeClr val="tx1"/>
            </a:solidFill>
            <a:prstDash val="sysDot"/>
            <a:round/>
            <a:headEnd/>
            <a:tailEnd/>
          </a:ln>
        </p:spPr>
        <p:txBody>
          <a:bodyPr/>
          <a:lstStyle/>
          <a:p>
            <a:endParaRPr lang="en-US"/>
          </a:p>
        </p:txBody>
      </p:sp>
      <p:sp>
        <p:nvSpPr>
          <p:cNvPr id="21" name="Line 20"/>
          <p:cNvSpPr>
            <a:spLocks noChangeShapeType="1"/>
          </p:cNvSpPr>
          <p:nvPr/>
        </p:nvSpPr>
        <p:spPr bwMode="auto">
          <a:xfrm>
            <a:off x="7408864" y="3592513"/>
            <a:ext cx="1184275" cy="1587500"/>
          </a:xfrm>
          <a:prstGeom prst="line">
            <a:avLst/>
          </a:prstGeom>
          <a:noFill/>
          <a:ln w="9525" cap="rnd">
            <a:solidFill>
              <a:schemeClr val="tx1"/>
            </a:solidFill>
            <a:prstDash val="sysDot"/>
            <a:round/>
            <a:headEnd/>
            <a:tailEnd/>
          </a:ln>
        </p:spPr>
        <p:txBody>
          <a:bodyPr/>
          <a:lstStyle/>
          <a:p>
            <a:endParaRPr lang="en-US"/>
          </a:p>
        </p:txBody>
      </p:sp>
      <p:sp>
        <p:nvSpPr>
          <p:cNvPr id="22" name="Line 21"/>
          <p:cNvSpPr>
            <a:spLocks noChangeShapeType="1"/>
          </p:cNvSpPr>
          <p:nvPr/>
        </p:nvSpPr>
        <p:spPr bwMode="auto">
          <a:xfrm flipV="1">
            <a:off x="7589838" y="2663825"/>
            <a:ext cx="1631950" cy="674688"/>
          </a:xfrm>
          <a:prstGeom prst="line">
            <a:avLst/>
          </a:prstGeom>
          <a:noFill/>
          <a:ln w="9525" cap="rnd">
            <a:solidFill>
              <a:schemeClr val="tx1"/>
            </a:solidFill>
            <a:prstDash val="sysDot"/>
            <a:round/>
            <a:headEnd/>
            <a:tailEnd/>
          </a:ln>
        </p:spPr>
        <p:txBody>
          <a:bodyPr/>
          <a:lstStyle/>
          <a:p>
            <a:endParaRPr lang="en-US"/>
          </a:p>
        </p:txBody>
      </p:sp>
      <p:sp>
        <p:nvSpPr>
          <p:cNvPr id="23" name="Line 22"/>
          <p:cNvSpPr>
            <a:spLocks noChangeShapeType="1"/>
          </p:cNvSpPr>
          <p:nvPr/>
        </p:nvSpPr>
        <p:spPr bwMode="auto">
          <a:xfrm flipV="1">
            <a:off x="8593139" y="2873375"/>
            <a:ext cx="827087" cy="2306638"/>
          </a:xfrm>
          <a:prstGeom prst="line">
            <a:avLst/>
          </a:prstGeom>
          <a:noFill/>
          <a:ln w="9525" cap="rnd">
            <a:solidFill>
              <a:schemeClr val="tx1"/>
            </a:solidFill>
            <a:prstDash val="sysDot"/>
            <a:round/>
            <a:headEnd/>
            <a:tailEnd/>
          </a:ln>
        </p:spPr>
        <p:txBody>
          <a:bodyPr/>
          <a:lstStyle/>
          <a:p>
            <a:endParaRPr lang="en-US"/>
          </a:p>
        </p:txBody>
      </p:sp>
      <p:sp>
        <p:nvSpPr>
          <p:cNvPr id="24" name="Text Box 23"/>
          <p:cNvSpPr txBox="1">
            <a:spLocks noChangeArrowheads="1"/>
          </p:cNvSpPr>
          <p:nvPr/>
        </p:nvSpPr>
        <p:spPr bwMode="auto">
          <a:xfrm>
            <a:off x="3754438" y="2085975"/>
            <a:ext cx="301686" cy="369332"/>
          </a:xfrm>
          <a:prstGeom prst="rect">
            <a:avLst/>
          </a:prstGeom>
          <a:noFill/>
          <a:ln w="9525">
            <a:noFill/>
            <a:miter lim="800000"/>
            <a:headEnd/>
            <a:tailEnd/>
          </a:ln>
        </p:spPr>
        <p:txBody>
          <a:bodyPr wrap="none">
            <a:spAutoFit/>
          </a:bodyPr>
          <a:lstStyle/>
          <a:p>
            <a:r>
              <a:rPr lang="en-US"/>
              <a:t>2</a:t>
            </a:r>
          </a:p>
        </p:txBody>
      </p:sp>
      <p:sp>
        <p:nvSpPr>
          <p:cNvPr id="25" name="Text Box 24"/>
          <p:cNvSpPr txBox="1">
            <a:spLocks noChangeArrowheads="1"/>
          </p:cNvSpPr>
          <p:nvPr/>
        </p:nvSpPr>
        <p:spPr bwMode="auto">
          <a:xfrm>
            <a:off x="3417888" y="4338638"/>
            <a:ext cx="301686" cy="369332"/>
          </a:xfrm>
          <a:prstGeom prst="rect">
            <a:avLst/>
          </a:prstGeom>
          <a:noFill/>
          <a:ln w="9525">
            <a:noFill/>
            <a:miter lim="800000"/>
            <a:headEnd/>
            <a:tailEnd/>
          </a:ln>
        </p:spPr>
        <p:txBody>
          <a:bodyPr wrap="none">
            <a:spAutoFit/>
          </a:bodyPr>
          <a:lstStyle/>
          <a:p>
            <a:r>
              <a:rPr lang="en-US"/>
              <a:t>4</a:t>
            </a:r>
          </a:p>
        </p:txBody>
      </p:sp>
      <p:sp>
        <p:nvSpPr>
          <p:cNvPr id="26" name="Text Box 25"/>
          <p:cNvSpPr txBox="1">
            <a:spLocks noChangeArrowheads="1"/>
          </p:cNvSpPr>
          <p:nvPr/>
        </p:nvSpPr>
        <p:spPr bwMode="auto">
          <a:xfrm>
            <a:off x="4064000" y="3143250"/>
            <a:ext cx="301686" cy="369332"/>
          </a:xfrm>
          <a:prstGeom prst="rect">
            <a:avLst/>
          </a:prstGeom>
          <a:noFill/>
          <a:ln w="9525">
            <a:noFill/>
            <a:miter lim="800000"/>
            <a:headEnd/>
            <a:tailEnd/>
          </a:ln>
        </p:spPr>
        <p:txBody>
          <a:bodyPr wrap="none">
            <a:spAutoFit/>
          </a:bodyPr>
          <a:lstStyle/>
          <a:p>
            <a:r>
              <a:rPr lang="en-US"/>
              <a:t>5</a:t>
            </a:r>
          </a:p>
        </p:txBody>
      </p:sp>
      <p:sp>
        <p:nvSpPr>
          <p:cNvPr id="27" name="Text Box 26"/>
          <p:cNvSpPr txBox="1">
            <a:spLocks noChangeArrowheads="1"/>
          </p:cNvSpPr>
          <p:nvPr/>
        </p:nvSpPr>
        <p:spPr bwMode="auto">
          <a:xfrm>
            <a:off x="5967413" y="2314575"/>
            <a:ext cx="301686" cy="369332"/>
          </a:xfrm>
          <a:prstGeom prst="rect">
            <a:avLst/>
          </a:prstGeom>
          <a:noFill/>
          <a:ln w="9525">
            <a:noFill/>
            <a:miter lim="800000"/>
            <a:headEnd/>
            <a:tailEnd/>
          </a:ln>
        </p:spPr>
        <p:txBody>
          <a:bodyPr wrap="none">
            <a:spAutoFit/>
          </a:bodyPr>
          <a:lstStyle/>
          <a:p>
            <a:r>
              <a:rPr lang="en-US"/>
              <a:t>7</a:t>
            </a:r>
          </a:p>
        </p:txBody>
      </p:sp>
      <p:sp>
        <p:nvSpPr>
          <p:cNvPr id="28" name="Text Box 27"/>
          <p:cNvSpPr txBox="1">
            <a:spLocks noChangeArrowheads="1"/>
          </p:cNvSpPr>
          <p:nvPr/>
        </p:nvSpPr>
        <p:spPr bwMode="auto">
          <a:xfrm>
            <a:off x="5091113" y="2881313"/>
            <a:ext cx="301686" cy="369332"/>
          </a:xfrm>
          <a:prstGeom prst="rect">
            <a:avLst/>
          </a:prstGeom>
          <a:noFill/>
          <a:ln w="9525">
            <a:noFill/>
            <a:miter lim="800000"/>
            <a:headEnd/>
            <a:tailEnd/>
          </a:ln>
        </p:spPr>
        <p:txBody>
          <a:bodyPr wrap="none">
            <a:spAutoFit/>
          </a:bodyPr>
          <a:lstStyle/>
          <a:p>
            <a:r>
              <a:rPr lang="en-US"/>
              <a:t>2</a:t>
            </a:r>
          </a:p>
        </p:txBody>
      </p:sp>
      <p:sp>
        <p:nvSpPr>
          <p:cNvPr id="29" name="Text Box 28"/>
          <p:cNvSpPr txBox="1">
            <a:spLocks noChangeArrowheads="1"/>
          </p:cNvSpPr>
          <p:nvPr/>
        </p:nvSpPr>
        <p:spPr bwMode="auto">
          <a:xfrm>
            <a:off x="4838700" y="4795838"/>
            <a:ext cx="301686" cy="369332"/>
          </a:xfrm>
          <a:prstGeom prst="rect">
            <a:avLst/>
          </a:prstGeom>
          <a:noFill/>
          <a:ln w="9525">
            <a:noFill/>
            <a:miter lim="800000"/>
            <a:headEnd/>
            <a:tailEnd/>
          </a:ln>
        </p:spPr>
        <p:txBody>
          <a:bodyPr wrap="none">
            <a:spAutoFit/>
          </a:bodyPr>
          <a:lstStyle/>
          <a:p>
            <a:r>
              <a:rPr lang="en-US"/>
              <a:t>1</a:t>
            </a:r>
          </a:p>
        </p:txBody>
      </p:sp>
      <p:sp>
        <p:nvSpPr>
          <p:cNvPr id="30" name="Text Box 29"/>
          <p:cNvSpPr txBox="1">
            <a:spLocks noChangeArrowheads="1"/>
          </p:cNvSpPr>
          <p:nvPr/>
        </p:nvSpPr>
        <p:spPr bwMode="auto">
          <a:xfrm>
            <a:off x="5967413" y="3371850"/>
            <a:ext cx="301686" cy="369332"/>
          </a:xfrm>
          <a:prstGeom prst="rect">
            <a:avLst/>
          </a:prstGeom>
          <a:noFill/>
          <a:ln w="9525">
            <a:noFill/>
            <a:miter lim="800000"/>
            <a:headEnd/>
            <a:tailEnd/>
          </a:ln>
        </p:spPr>
        <p:txBody>
          <a:bodyPr wrap="none">
            <a:spAutoFit/>
          </a:bodyPr>
          <a:lstStyle/>
          <a:p>
            <a:r>
              <a:rPr lang="en-US"/>
              <a:t>4</a:t>
            </a:r>
          </a:p>
        </p:txBody>
      </p:sp>
      <p:sp>
        <p:nvSpPr>
          <p:cNvPr id="31" name="Text Box 30"/>
          <p:cNvSpPr txBox="1">
            <a:spLocks noChangeArrowheads="1"/>
          </p:cNvSpPr>
          <p:nvPr/>
        </p:nvSpPr>
        <p:spPr bwMode="auto">
          <a:xfrm>
            <a:off x="6650038" y="4338638"/>
            <a:ext cx="301686" cy="369332"/>
          </a:xfrm>
          <a:prstGeom prst="rect">
            <a:avLst/>
          </a:prstGeom>
          <a:noFill/>
          <a:ln w="9525">
            <a:noFill/>
            <a:miter lim="800000"/>
            <a:headEnd/>
            <a:tailEnd/>
          </a:ln>
        </p:spPr>
        <p:txBody>
          <a:bodyPr wrap="none">
            <a:spAutoFit/>
          </a:bodyPr>
          <a:lstStyle/>
          <a:p>
            <a:r>
              <a:rPr lang="en-US"/>
              <a:t>3</a:t>
            </a:r>
          </a:p>
        </p:txBody>
      </p:sp>
      <p:sp>
        <p:nvSpPr>
          <p:cNvPr id="32" name="Text Box 31"/>
          <p:cNvSpPr txBox="1">
            <a:spLocks noChangeArrowheads="1"/>
          </p:cNvSpPr>
          <p:nvPr/>
        </p:nvSpPr>
        <p:spPr bwMode="auto">
          <a:xfrm>
            <a:off x="6135688" y="5405438"/>
            <a:ext cx="301686" cy="369332"/>
          </a:xfrm>
          <a:prstGeom prst="rect">
            <a:avLst/>
          </a:prstGeom>
          <a:noFill/>
          <a:ln w="9525">
            <a:noFill/>
            <a:miter lim="800000"/>
            <a:headEnd/>
            <a:tailEnd/>
          </a:ln>
        </p:spPr>
        <p:txBody>
          <a:bodyPr wrap="none">
            <a:spAutoFit/>
          </a:bodyPr>
          <a:lstStyle/>
          <a:p>
            <a:r>
              <a:rPr lang="en-US"/>
              <a:t>4</a:t>
            </a:r>
          </a:p>
        </p:txBody>
      </p:sp>
      <p:sp>
        <p:nvSpPr>
          <p:cNvPr id="33" name="Text Box 32"/>
          <p:cNvSpPr txBox="1">
            <a:spLocks noChangeArrowheads="1"/>
          </p:cNvSpPr>
          <p:nvPr/>
        </p:nvSpPr>
        <p:spPr bwMode="auto">
          <a:xfrm>
            <a:off x="8242300" y="2606675"/>
            <a:ext cx="301686" cy="369332"/>
          </a:xfrm>
          <a:prstGeom prst="rect">
            <a:avLst/>
          </a:prstGeom>
          <a:noFill/>
          <a:ln w="9525">
            <a:noFill/>
            <a:miter lim="800000"/>
            <a:headEnd/>
            <a:tailEnd/>
          </a:ln>
        </p:spPr>
        <p:txBody>
          <a:bodyPr wrap="none">
            <a:spAutoFit/>
          </a:bodyPr>
          <a:lstStyle/>
          <a:p>
            <a:r>
              <a:rPr lang="en-US"/>
              <a:t>5</a:t>
            </a:r>
          </a:p>
        </p:txBody>
      </p:sp>
      <p:sp>
        <p:nvSpPr>
          <p:cNvPr id="34" name="Text Box 33"/>
          <p:cNvSpPr txBox="1">
            <a:spLocks noChangeArrowheads="1"/>
          </p:cNvSpPr>
          <p:nvPr/>
        </p:nvSpPr>
        <p:spPr bwMode="auto">
          <a:xfrm>
            <a:off x="7905750" y="3997325"/>
            <a:ext cx="301686" cy="369332"/>
          </a:xfrm>
          <a:prstGeom prst="rect">
            <a:avLst/>
          </a:prstGeom>
          <a:noFill/>
          <a:ln w="9525">
            <a:noFill/>
            <a:miter lim="800000"/>
            <a:headEnd/>
            <a:tailEnd/>
          </a:ln>
        </p:spPr>
        <p:txBody>
          <a:bodyPr wrap="none">
            <a:spAutoFit/>
          </a:bodyPr>
          <a:lstStyle/>
          <a:p>
            <a:r>
              <a:rPr lang="en-US"/>
              <a:t>1</a:t>
            </a:r>
          </a:p>
        </p:txBody>
      </p:sp>
      <p:sp>
        <p:nvSpPr>
          <p:cNvPr id="35" name="Text Box 34"/>
          <p:cNvSpPr txBox="1">
            <a:spLocks noChangeArrowheads="1"/>
          </p:cNvSpPr>
          <p:nvPr/>
        </p:nvSpPr>
        <p:spPr bwMode="auto">
          <a:xfrm>
            <a:off x="8788400" y="3475038"/>
            <a:ext cx="301686" cy="369332"/>
          </a:xfrm>
          <a:prstGeom prst="rect">
            <a:avLst/>
          </a:prstGeom>
          <a:noFill/>
          <a:ln w="9525">
            <a:noFill/>
            <a:miter lim="800000"/>
            <a:headEnd/>
            <a:tailEnd/>
          </a:ln>
        </p:spPr>
        <p:txBody>
          <a:bodyPr wrap="none">
            <a:spAutoFit/>
          </a:bodyPr>
          <a:lstStyle/>
          <a:p>
            <a:r>
              <a:rPr lang="en-US" dirty="0"/>
              <a:t>7</a:t>
            </a:r>
          </a:p>
        </p:txBody>
      </p:sp>
      <p:sp>
        <p:nvSpPr>
          <p:cNvPr id="37" name="Line 16"/>
          <p:cNvSpPr>
            <a:spLocks noChangeShapeType="1"/>
          </p:cNvSpPr>
          <p:nvPr/>
        </p:nvSpPr>
        <p:spPr bwMode="auto">
          <a:xfrm flipV="1">
            <a:off x="4400550" y="4346575"/>
            <a:ext cx="815975" cy="1566862"/>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8" name="Line 14"/>
          <p:cNvSpPr>
            <a:spLocks noChangeShapeType="1"/>
          </p:cNvSpPr>
          <p:nvPr/>
        </p:nvSpPr>
        <p:spPr bwMode="auto">
          <a:xfrm>
            <a:off x="4992749" y="2409807"/>
            <a:ext cx="209550" cy="1465262"/>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39" name="Line 11"/>
          <p:cNvSpPr>
            <a:spLocks noChangeShapeType="1"/>
          </p:cNvSpPr>
          <p:nvPr/>
        </p:nvSpPr>
        <p:spPr bwMode="auto">
          <a:xfrm flipV="1">
            <a:off x="3162361" y="2220119"/>
            <a:ext cx="1631950" cy="674687"/>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0" name="Line 19"/>
          <p:cNvSpPr>
            <a:spLocks noChangeShapeType="1"/>
          </p:cNvSpPr>
          <p:nvPr/>
        </p:nvSpPr>
        <p:spPr bwMode="auto">
          <a:xfrm>
            <a:off x="5436487" y="4225131"/>
            <a:ext cx="2982912" cy="1179513"/>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1" name="Line 20"/>
          <p:cNvSpPr>
            <a:spLocks noChangeShapeType="1"/>
          </p:cNvSpPr>
          <p:nvPr/>
        </p:nvSpPr>
        <p:spPr bwMode="auto">
          <a:xfrm>
            <a:off x="7417688" y="3591718"/>
            <a:ext cx="1184275" cy="1587500"/>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
        <p:nvSpPr>
          <p:cNvPr id="42" name="Line 21"/>
          <p:cNvSpPr>
            <a:spLocks noChangeShapeType="1"/>
          </p:cNvSpPr>
          <p:nvPr/>
        </p:nvSpPr>
        <p:spPr bwMode="auto">
          <a:xfrm flipV="1">
            <a:off x="7589838" y="2650910"/>
            <a:ext cx="1631950" cy="674688"/>
          </a:xfrm>
          <a:prstGeom prst="line">
            <a:avLst/>
          </a:prstGeom>
          <a:ln w="57150">
            <a:headEnd/>
            <a:tailEnd/>
          </a:ln>
        </p:spPr>
        <p:style>
          <a:lnRef idx="3">
            <a:schemeClr val="accent6"/>
          </a:lnRef>
          <a:fillRef idx="0">
            <a:schemeClr val="accent6"/>
          </a:fillRef>
          <a:effectRef idx="2">
            <a:schemeClr val="accent6"/>
          </a:effectRef>
          <a:fontRef idx="minor">
            <a:schemeClr val="tx1"/>
          </a:fontRef>
        </p:style>
        <p:txBody>
          <a:bodyPr/>
          <a:lstStyle/>
          <a:p>
            <a:endParaRPr lang="en-US"/>
          </a:p>
        </p:txBody>
      </p:sp>
    </p:spTree>
    <p:extLst>
      <p:ext uri="{BB962C8B-B14F-4D97-AF65-F5344CB8AC3E}">
        <p14:creationId xmlns:p14="http://schemas.microsoft.com/office/powerpoint/2010/main" val="162870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8" grpId="0" animBg="1"/>
      <p:bldP spid="19" grpId="0" animBg="1"/>
      <p:bldP spid="23" grpId="0" animBg="1"/>
      <p:bldP spid="37" grpId="0" animBg="1"/>
      <p:bldP spid="38" grpId="0" animBg="1"/>
      <p:bldP spid="39" grpId="0" animBg="1"/>
      <p:bldP spid="40" grpId="0" animBg="1"/>
      <p:bldP spid="41" grpId="0" animBg="1"/>
      <p:bldP spid="4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solidFill>
                  <a:schemeClr val="bg2"/>
                </a:solidFill>
              </a:rPr>
              <a:t>Maximum Flow Problem (Chapter 6.2 - 6.3)</a:t>
            </a:r>
          </a:p>
          <a:p>
            <a:r>
              <a:rPr lang="en-US" dirty="0">
                <a:solidFill>
                  <a:schemeClr val="bg2"/>
                </a:solidFill>
              </a:rPr>
              <a:t>Shortest Path Problem (Chapter 6.4)</a:t>
            </a:r>
          </a:p>
          <a:p>
            <a:r>
              <a:rPr lang="en-US" dirty="0">
                <a:solidFill>
                  <a:schemeClr val="bg2"/>
                </a:solidFill>
              </a:rPr>
              <a:t>Minimum Spanning Tree Problem (Chapter 6S)</a:t>
            </a:r>
          </a:p>
          <a:p>
            <a:r>
              <a:rPr lang="en-US" dirty="0"/>
              <a:t>Network Modifications (not in the textbook)</a:t>
            </a:r>
          </a:p>
          <a:p>
            <a:r>
              <a:rPr lang="en-US" dirty="0">
                <a:solidFill>
                  <a:schemeClr val="bg2"/>
                </a:solidFill>
              </a:rPr>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3546108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normAutofit lnSpcReduction="10000"/>
          </a:bodyPr>
          <a:lstStyle/>
          <a:p>
            <a:r>
              <a:rPr lang="en-US" dirty="0"/>
              <a:t>The network optimization models have specific algebraic structures that help with developing efficient methods to solve them</a:t>
            </a:r>
          </a:p>
          <a:p>
            <a:pPr lvl="1"/>
            <a:r>
              <a:rPr lang="en-US" dirty="0"/>
              <a:t>If deviated from the structure, the methods will not work because some of the properties will not hold</a:t>
            </a:r>
          </a:p>
          <a:p>
            <a:pPr lvl="1"/>
            <a:r>
              <a:rPr lang="en-US" dirty="0"/>
              <a:t>Therefore, it is important to maintain the algebraic model’s structure</a:t>
            </a:r>
          </a:p>
          <a:p>
            <a:r>
              <a:rPr lang="en-US" dirty="0"/>
              <a:t>Assumptions we have:</a:t>
            </a:r>
          </a:p>
          <a:p>
            <a:pPr lvl="1"/>
            <a:r>
              <a:rPr lang="en-US" dirty="0"/>
              <a:t>Arcs are directed</a:t>
            </a:r>
          </a:p>
          <a:p>
            <a:pPr lvl="1"/>
            <a:r>
              <a:rPr lang="en-US" dirty="0"/>
              <a:t>Total supply = total demand</a:t>
            </a:r>
          </a:p>
          <a:p>
            <a:pPr lvl="1"/>
            <a:r>
              <a:rPr lang="en-US" dirty="0"/>
              <a:t>No node capacities</a:t>
            </a:r>
          </a:p>
          <a:p>
            <a:r>
              <a:rPr lang="en-US" dirty="0"/>
              <a:t>If these assumptions are not satisfied, we can modify the network representation and algebraically model the problem on the modified network</a:t>
            </a:r>
          </a:p>
        </p:txBody>
      </p:sp>
    </p:spTree>
    <p:extLst>
      <p:ext uri="{BB962C8B-B14F-4D97-AF65-F5344CB8AC3E}">
        <p14:creationId xmlns:p14="http://schemas.microsoft.com/office/powerpoint/2010/main" val="200132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lstStyle/>
          <a:p>
            <a:r>
              <a:rPr lang="en-US" b="1" dirty="0">
                <a:solidFill>
                  <a:srgbClr val="C00000"/>
                </a:solidFill>
              </a:rPr>
              <a:t>Undirected arcs: </a:t>
            </a:r>
            <a:r>
              <a:rPr lang="en-US" dirty="0"/>
              <a:t>When there is an undirected arc in a min-cost, max flow, or shortest path problem</a:t>
            </a:r>
          </a:p>
          <a:p>
            <a:pPr lvl="1"/>
            <a:r>
              <a:rPr lang="en-US" dirty="0"/>
              <a:t>Replace the undirected arc with two arcs, one in each direction</a:t>
            </a:r>
          </a:p>
          <a:p>
            <a:pPr lvl="1"/>
            <a:r>
              <a:rPr lang="en-US" dirty="0"/>
              <a:t>Cost of each directed arc will be the cost of the undirected arc</a:t>
            </a:r>
          </a:p>
          <a:p>
            <a:pPr lvl="1"/>
            <a:r>
              <a:rPr lang="en-US" dirty="0"/>
              <a:t>Capacity of each directed arc will be the capacity of the undirected arc</a:t>
            </a:r>
          </a:p>
          <a:p>
            <a:pPr lvl="1"/>
            <a:endParaRPr lang="en-US" dirty="0"/>
          </a:p>
          <a:p>
            <a:pPr lvl="1"/>
            <a:endParaRPr lang="en-US" dirty="0"/>
          </a:p>
          <a:p>
            <a:pPr lvl="1"/>
            <a:endParaRPr lang="en-US" dirty="0"/>
          </a:p>
          <a:p>
            <a:pPr lvl="1"/>
            <a:endParaRPr lang="en-US" dirty="0"/>
          </a:p>
          <a:p>
            <a:pPr lvl="1"/>
            <a:r>
              <a:rPr lang="en-US" dirty="0"/>
              <a:t>This will work because, at the optimal solution, we will not be sending flows in both direction because it is additional cost for sending flow from a point back to that point (instead, we can keep the flow at the original place)</a:t>
            </a:r>
          </a:p>
        </p:txBody>
      </p:sp>
      <p:pic>
        <p:nvPicPr>
          <p:cNvPr id="4" name="Picture 3"/>
          <p:cNvPicPr>
            <a:picLocks noChangeAspect="1"/>
          </p:cNvPicPr>
          <p:nvPr/>
        </p:nvPicPr>
        <p:blipFill>
          <a:blip r:embed="rId2"/>
          <a:stretch>
            <a:fillRect/>
          </a:stretch>
        </p:blipFill>
        <p:spPr>
          <a:xfrm>
            <a:off x="2426154" y="3744698"/>
            <a:ext cx="5937710" cy="1045710"/>
          </a:xfrm>
          <a:prstGeom prst="rect">
            <a:avLst/>
          </a:prstGeom>
        </p:spPr>
      </p:pic>
    </p:spTree>
    <p:extLst>
      <p:ext uri="{BB962C8B-B14F-4D97-AF65-F5344CB8AC3E}">
        <p14:creationId xmlns:p14="http://schemas.microsoft.com/office/powerpoint/2010/main" val="2929651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lstStyle/>
          <a:p>
            <a:r>
              <a:rPr lang="en-US" b="1" dirty="0">
                <a:solidFill>
                  <a:srgbClr val="C00000"/>
                </a:solidFill>
              </a:rPr>
              <a:t>Total Supply vs. Total Demand: </a:t>
            </a:r>
            <a:r>
              <a:rPr lang="en-US" dirty="0"/>
              <a:t>In min-cost flow problems, we assumed that total supply is equal to total demand</a:t>
            </a:r>
          </a:p>
          <a:p>
            <a:pPr lvl="1"/>
            <a:r>
              <a:rPr lang="en-US" dirty="0"/>
              <a:t>If total supply is less than total demand, the problem is infeasible</a:t>
            </a:r>
          </a:p>
          <a:p>
            <a:pPr lvl="1"/>
            <a:r>
              <a:rPr lang="en-US" dirty="0"/>
              <a:t>If total supply is more than total demand, the problem is actually not infeasible</a:t>
            </a:r>
          </a:p>
          <a:p>
            <a:pPr lvl="2"/>
            <a:r>
              <a:rPr lang="en-US" dirty="0"/>
              <a:t>But, we cannot have flow balance constraints as = constraints</a:t>
            </a:r>
          </a:p>
          <a:p>
            <a:pPr lvl="1"/>
            <a:r>
              <a:rPr lang="en-US" dirty="0"/>
              <a:t>If total supply is more than total demand</a:t>
            </a:r>
          </a:p>
          <a:p>
            <a:pPr lvl="2"/>
            <a:r>
              <a:rPr lang="en-US" dirty="0"/>
              <a:t>Create a dummy demand node of which demand is equal to excess supply</a:t>
            </a:r>
          </a:p>
          <a:p>
            <a:pPr lvl="2"/>
            <a:r>
              <a:rPr lang="en-US" dirty="0"/>
              <a:t>Draw an arc from each supply node to the dummy demand node</a:t>
            </a:r>
          </a:p>
          <a:p>
            <a:pPr lvl="2"/>
            <a:r>
              <a:rPr lang="en-US" dirty="0"/>
              <a:t>The arcs will have 0 cost and no capacity</a:t>
            </a:r>
          </a:p>
          <a:p>
            <a:pPr lvl="1"/>
            <a:endParaRPr lang="en-US" dirty="0"/>
          </a:p>
        </p:txBody>
      </p:sp>
      <p:pic>
        <p:nvPicPr>
          <p:cNvPr id="7" name="Picture 6"/>
          <p:cNvPicPr>
            <a:picLocks noChangeAspect="1"/>
          </p:cNvPicPr>
          <p:nvPr/>
        </p:nvPicPr>
        <p:blipFill>
          <a:blip r:embed="rId2"/>
          <a:stretch>
            <a:fillRect/>
          </a:stretch>
        </p:blipFill>
        <p:spPr>
          <a:xfrm>
            <a:off x="1716541" y="4683125"/>
            <a:ext cx="3076575" cy="2038350"/>
          </a:xfrm>
          <a:prstGeom prst="rect">
            <a:avLst/>
          </a:prstGeom>
        </p:spPr>
      </p:pic>
      <p:pic>
        <p:nvPicPr>
          <p:cNvPr id="9" name="Picture 8"/>
          <p:cNvPicPr>
            <a:picLocks noChangeAspect="1"/>
          </p:cNvPicPr>
          <p:nvPr/>
        </p:nvPicPr>
        <p:blipFill>
          <a:blip r:embed="rId3"/>
          <a:stretch>
            <a:fillRect/>
          </a:stretch>
        </p:blipFill>
        <p:spPr>
          <a:xfrm>
            <a:off x="4793116" y="5309394"/>
            <a:ext cx="1095375" cy="638175"/>
          </a:xfrm>
          <a:prstGeom prst="rect">
            <a:avLst/>
          </a:prstGeom>
        </p:spPr>
      </p:pic>
      <p:sp>
        <p:nvSpPr>
          <p:cNvPr id="10" name="TextBox 9"/>
          <p:cNvSpPr txBox="1"/>
          <p:nvPr/>
        </p:nvSpPr>
        <p:spPr>
          <a:xfrm>
            <a:off x="9716510" y="4876800"/>
            <a:ext cx="2043053" cy="1200329"/>
          </a:xfrm>
          <a:prstGeom prst="rect">
            <a:avLst/>
          </a:prstGeom>
          <a:noFill/>
        </p:spPr>
        <p:txBody>
          <a:bodyPr wrap="square" rtlCol="0">
            <a:spAutoFit/>
          </a:bodyPr>
          <a:lstStyle/>
          <a:p>
            <a:r>
              <a:rPr lang="en-US" dirty="0">
                <a:solidFill>
                  <a:srgbClr val="C00000"/>
                </a:solidFill>
              </a:rPr>
              <a:t>We can formulate a min-cost flow problem on the modified network</a:t>
            </a:r>
          </a:p>
        </p:txBody>
      </p:sp>
      <p:pic>
        <p:nvPicPr>
          <p:cNvPr id="6" name="Picture 5"/>
          <p:cNvPicPr>
            <a:picLocks noChangeAspect="1"/>
          </p:cNvPicPr>
          <p:nvPr/>
        </p:nvPicPr>
        <p:blipFill>
          <a:blip r:embed="rId4"/>
          <a:stretch>
            <a:fillRect/>
          </a:stretch>
        </p:blipFill>
        <p:spPr>
          <a:xfrm>
            <a:off x="6253843" y="4567326"/>
            <a:ext cx="3096986" cy="1998393"/>
          </a:xfrm>
          <a:prstGeom prst="rect">
            <a:avLst/>
          </a:prstGeom>
        </p:spPr>
      </p:pic>
    </p:spTree>
    <p:extLst>
      <p:ext uri="{BB962C8B-B14F-4D97-AF65-F5344CB8AC3E}">
        <p14:creationId xmlns:p14="http://schemas.microsoft.com/office/powerpoint/2010/main" val="404441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a:xfrm>
            <a:off x="355002" y="1312432"/>
            <a:ext cx="11478410" cy="5282677"/>
          </a:xfrm>
        </p:spPr>
        <p:txBody>
          <a:bodyPr>
            <a:normAutofit lnSpcReduction="10000"/>
          </a:bodyPr>
          <a:lstStyle/>
          <a:p>
            <a:r>
              <a:rPr lang="en-US" b="1" dirty="0">
                <a:solidFill>
                  <a:srgbClr val="C00000"/>
                </a:solidFill>
              </a:rPr>
              <a:t>Node Capacity: </a:t>
            </a:r>
            <a:r>
              <a:rPr lang="en-US" dirty="0"/>
              <a:t>Sometimes, the problem might have capacity on the node</a:t>
            </a:r>
          </a:p>
          <a:p>
            <a:pPr lvl="1"/>
            <a:r>
              <a:rPr lang="en-US" dirty="0"/>
              <a:t>The flow through the node cannot exceed the capacity</a:t>
            </a:r>
          </a:p>
          <a:p>
            <a:pPr lvl="1"/>
            <a:r>
              <a:rPr lang="en-US" dirty="0"/>
              <a:t>We can formulate a constraint for this: </a:t>
            </a:r>
            <a:r>
              <a:rPr lang="en-US" dirty="0" err="1"/>
              <a:t>What’s_coming_in_to_node</a:t>
            </a:r>
            <a:r>
              <a:rPr lang="en-US" dirty="0"/>
              <a:t> &lt;= </a:t>
            </a:r>
            <a:r>
              <a:rPr lang="en-US" dirty="0" err="1"/>
              <a:t>Node_capacity</a:t>
            </a:r>
            <a:endParaRPr lang="en-US" dirty="0"/>
          </a:p>
          <a:p>
            <a:pPr lvl="1"/>
            <a:r>
              <a:rPr lang="en-US" dirty="0"/>
              <a:t>But this is not a flow balance constraints and it is not an arc capacity constraint when there are multiples arcs coming in</a:t>
            </a:r>
          </a:p>
          <a:p>
            <a:pPr lvl="2"/>
            <a:r>
              <a:rPr lang="en-US" dirty="0"/>
              <a:t>For instance, we would have X(A,B)+X(C,B)&lt;=50 if node B has a capacity of 50 and two arcs coming into node B from nodes A and C</a:t>
            </a:r>
          </a:p>
          <a:p>
            <a:pPr lvl="1"/>
            <a:r>
              <a:rPr lang="en-US" dirty="0"/>
              <a:t>If we have a node with capacity</a:t>
            </a:r>
          </a:p>
          <a:p>
            <a:pPr lvl="2"/>
            <a:r>
              <a:rPr lang="en-US" dirty="0"/>
              <a:t>Replace the node with two nodes: one representing entrance to the node and one representing exit from the node</a:t>
            </a:r>
          </a:p>
          <a:p>
            <a:pPr lvl="3"/>
            <a:r>
              <a:rPr lang="en-US" dirty="0"/>
              <a:t>All of the arcs coming into the original node are now coming into the entrance node</a:t>
            </a:r>
          </a:p>
          <a:p>
            <a:pPr lvl="3"/>
            <a:r>
              <a:rPr lang="en-US" dirty="0"/>
              <a:t>All of the arcs going out of the original node are now going out of the exist node</a:t>
            </a:r>
          </a:p>
          <a:p>
            <a:pPr lvl="2"/>
            <a:r>
              <a:rPr lang="en-US" dirty="0"/>
              <a:t>Connect the entrance and exit nodes with an arc from entrance to the exit</a:t>
            </a:r>
          </a:p>
          <a:p>
            <a:pPr lvl="2"/>
            <a:r>
              <a:rPr lang="en-US" dirty="0"/>
              <a:t>The capacity of the node is the capacity of the arc connecting the entrance and exist nodes</a:t>
            </a:r>
          </a:p>
          <a:p>
            <a:pPr lvl="2"/>
            <a:r>
              <a:rPr lang="en-US" dirty="0"/>
              <a:t>The node value of the original node will either be in the entrance or exit node depending on whether the original node is supply or demand node</a:t>
            </a:r>
          </a:p>
          <a:p>
            <a:pPr lvl="2"/>
            <a:endParaRPr lang="en-US" dirty="0"/>
          </a:p>
          <a:p>
            <a:pPr lvl="2"/>
            <a:endParaRPr lang="en-US" dirty="0"/>
          </a:p>
          <a:p>
            <a:pPr lvl="1"/>
            <a:endParaRPr lang="en-US" dirty="0"/>
          </a:p>
        </p:txBody>
      </p:sp>
    </p:spTree>
    <p:extLst>
      <p:ext uri="{BB962C8B-B14F-4D97-AF65-F5344CB8AC3E}">
        <p14:creationId xmlns:p14="http://schemas.microsoft.com/office/powerpoint/2010/main" val="173570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3239" y="2327949"/>
            <a:ext cx="4889046" cy="1101860"/>
          </a:xfrm>
          <a:prstGeom prst="rect">
            <a:avLst/>
          </a:prstGeom>
        </p:spPr>
      </p:pic>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lstStyle/>
          <a:p>
            <a:r>
              <a:rPr lang="en-US" b="1" dirty="0">
                <a:solidFill>
                  <a:srgbClr val="C00000"/>
                </a:solidFill>
              </a:rPr>
              <a:t>Node Capacity:</a:t>
            </a:r>
          </a:p>
          <a:p>
            <a:pPr lvl="1"/>
            <a:r>
              <a:rPr lang="en-US" b="1" dirty="0"/>
              <a:t>Demonstration: </a:t>
            </a:r>
            <a:r>
              <a:rPr lang="en-US" dirty="0"/>
              <a:t>Suppose node N in the network has a capacity of 10 units</a:t>
            </a:r>
          </a:p>
          <a:p>
            <a:pPr lvl="2"/>
            <a:r>
              <a:rPr lang="en-US" dirty="0"/>
              <a:t>If node N is a supply node with node value 25, assign supply to the exit</a:t>
            </a:r>
          </a:p>
          <a:p>
            <a:pPr lvl="1"/>
            <a:endParaRPr lang="en-US" dirty="0"/>
          </a:p>
          <a:p>
            <a:pPr lvl="1"/>
            <a:endParaRPr lang="en-US" dirty="0"/>
          </a:p>
          <a:p>
            <a:pPr lvl="5"/>
            <a:endParaRPr lang="en-US" dirty="0"/>
          </a:p>
          <a:p>
            <a:pPr lvl="2"/>
            <a:r>
              <a:rPr lang="en-US" dirty="0"/>
              <a:t>If node N is a demand node with node value -25, assign demand to the entrance</a:t>
            </a:r>
          </a:p>
          <a:p>
            <a:pPr lvl="1"/>
            <a:endParaRPr lang="en-US" dirty="0"/>
          </a:p>
          <a:p>
            <a:pPr lvl="1"/>
            <a:endParaRPr lang="en-US" dirty="0"/>
          </a:p>
          <a:p>
            <a:pPr lvl="7"/>
            <a:endParaRPr lang="en-US" dirty="0"/>
          </a:p>
          <a:p>
            <a:pPr lvl="2"/>
            <a:r>
              <a:rPr lang="en-US" dirty="0"/>
              <a:t>If node N is a transshipment node with node value 0, both entrance and exit nodes are transshipment nodes too</a:t>
            </a:r>
          </a:p>
          <a:p>
            <a:pPr lvl="1"/>
            <a:endParaRPr lang="en-US" dirty="0"/>
          </a:p>
          <a:p>
            <a:pPr lvl="2"/>
            <a:endParaRPr lang="en-US" dirty="0"/>
          </a:p>
          <a:p>
            <a:pPr lvl="1"/>
            <a:endParaRPr lang="en-US" dirty="0"/>
          </a:p>
        </p:txBody>
      </p:sp>
      <p:pic>
        <p:nvPicPr>
          <p:cNvPr id="5" name="Picture 4"/>
          <p:cNvPicPr>
            <a:picLocks noChangeAspect="1"/>
          </p:cNvPicPr>
          <p:nvPr/>
        </p:nvPicPr>
        <p:blipFill>
          <a:blip r:embed="rId3"/>
          <a:stretch>
            <a:fillRect/>
          </a:stretch>
        </p:blipFill>
        <p:spPr>
          <a:xfrm>
            <a:off x="2339068" y="3973348"/>
            <a:ext cx="5063217" cy="830037"/>
          </a:xfrm>
          <a:prstGeom prst="rect">
            <a:avLst/>
          </a:prstGeom>
        </p:spPr>
      </p:pic>
      <p:pic>
        <p:nvPicPr>
          <p:cNvPr id="7" name="Picture 6"/>
          <p:cNvPicPr>
            <a:picLocks noChangeAspect="1"/>
          </p:cNvPicPr>
          <p:nvPr/>
        </p:nvPicPr>
        <p:blipFill>
          <a:blip r:embed="rId4"/>
          <a:stretch>
            <a:fillRect/>
          </a:stretch>
        </p:blipFill>
        <p:spPr>
          <a:xfrm>
            <a:off x="2426833" y="5771722"/>
            <a:ext cx="4975452" cy="810481"/>
          </a:xfrm>
          <a:prstGeom prst="rect">
            <a:avLst/>
          </a:prstGeom>
        </p:spPr>
      </p:pic>
    </p:spTree>
    <p:extLst>
      <p:ext uri="{BB962C8B-B14F-4D97-AF65-F5344CB8AC3E}">
        <p14:creationId xmlns:p14="http://schemas.microsoft.com/office/powerpoint/2010/main" val="474199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normAutofit fontScale="92500"/>
          </a:bodyPr>
          <a:lstStyle/>
          <a:p>
            <a:r>
              <a:rPr lang="en-US" b="1" dirty="0">
                <a:solidFill>
                  <a:srgbClr val="C00000"/>
                </a:solidFill>
              </a:rPr>
              <a:t>Alternative Origins and/or Destinations: </a:t>
            </a:r>
            <a:r>
              <a:rPr lang="en-US" dirty="0"/>
              <a:t>In a shortest path problem, if there are nodes, each of which can be a potential origin, or there are nodes, each of which can be a potential destination, we can modify the network and have a single origin and single destination</a:t>
            </a:r>
          </a:p>
          <a:p>
            <a:pPr lvl="1"/>
            <a:r>
              <a:rPr lang="en-US" dirty="0"/>
              <a:t>This will avoid solving a shortest path problem for each possible origin-destination pair</a:t>
            </a:r>
          </a:p>
          <a:p>
            <a:pPr lvl="1"/>
            <a:r>
              <a:rPr lang="en-US" dirty="0"/>
              <a:t>When there are multiple possible origins: </a:t>
            </a:r>
          </a:p>
          <a:p>
            <a:pPr lvl="2"/>
            <a:r>
              <a:rPr lang="en-US" dirty="0"/>
              <a:t>Create a dummy origin node</a:t>
            </a:r>
          </a:p>
          <a:p>
            <a:pPr lvl="2"/>
            <a:r>
              <a:rPr lang="en-US" dirty="0"/>
              <a:t>Draw and arc from the dummy origin to each potential origin</a:t>
            </a:r>
          </a:p>
          <a:p>
            <a:pPr lvl="2"/>
            <a:r>
              <a:rPr lang="en-US" dirty="0"/>
              <a:t>The arcs connecting dummy origin to the potential origins will have 0 cost (0 distance)</a:t>
            </a:r>
          </a:p>
          <a:p>
            <a:pPr lvl="1"/>
            <a:r>
              <a:rPr lang="en-US" dirty="0"/>
              <a:t>When there are multiple possible destinations:</a:t>
            </a:r>
          </a:p>
          <a:p>
            <a:pPr lvl="2"/>
            <a:r>
              <a:rPr lang="en-US" dirty="0"/>
              <a:t>Create a dummy destination node</a:t>
            </a:r>
          </a:p>
          <a:p>
            <a:pPr lvl="2"/>
            <a:r>
              <a:rPr lang="en-US" dirty="0"/>
              <a:t>Draw an arc from each possible destination node to the dummy destination node</a:t>
            </a:r>
          </a:p>
          <a:p>
            <a:pPr lvl="2"/>
            <a:r>
              <a:rPr lang="en-US" dirty="0"/>
              <a:t>The arcs connecting the possible destination nodes to the dummy destination node will have 0 cost (0 distance)</a:t>
            </a:r>
          </a:p>
          <a:p>
            <a:pPr lvl="1"/>
            <a:endParaRPr lang="en-US" dirty="0"/>
          </a:p>
        </p:txBody>
      </p:sp>
    </p:spTree>
    <p:extLst>
      <p:ext uri="{BB962C8B-B14F-4D97-AF65-F5344CB8AC3E}">
        <p14:creationId xmlns:p14="http://schemas.microsoft.com/office/powerpoint/2010/main" val="344730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Modifications</a:t>
            </a:r>
          </a:p>
        </p:txBody>
      </p:sp>
      <p:sp>
        <p:nvSpPr>
          <p:cNvPr id="3" name="Content Placeholder 2"/>
          <p:cNvSpPr>
            <a:spLocks noGrp="1"/>
          </p:cNvSpPr>
          <p:nvPr>
            <p:ph idx="1"/>
          </p:nvPr>
        </p:nvSpPr>
        <p:spPr/>
        <p:txBody>
          <a:bodyPr>
            <a:normAutofit fontScale="92500" lnSpcReduction="10000"/>
          </a:bodyPr>
          <a:lstStyle/>
          <a:p>
            <a:r>
              <a:rPr lang="en-US" b="1" dirty="0">
                <a:solidFill>
                  <a:srgbClr val="C00000"/>
                </a:solidFill>
              </a:rPr>
              <a:t>Alternative Origins and/or Destinations:</a:t>
            </a:r>
          </a:p>
          <a:p>
            <a:pPr lvl="1"/>
            <a:r>
              <a:rPr lang="en-US" b="1" dirty="0"/>
              <a:t>Demonstration: </a:t>
            </a:r>
            <a:r>
              <a:rPr lang="en-US" dirty="0"/>
              <a:t>Suppose you want to find a shortest path from start to end, your start can be either node A or node B and your end-point can be either F or H</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200" lvl="1" indent="0">
              <a:buNone/>
            </a:pPr>
            <a:r>
              <a:rPr lang="en-US" dirty="0"/>
              <a:t>After the modification, we can solve a single shortest path problem from O to T, and find where to start and where to end (the ones that are on the path)!</a:t>
            </a:r>
          </a:p>
        </p:txBody>
      </p:sp>
      <p:pic>
        <p:nvPicPr>
          <p:cNvPr id="4" name="Picture 3"/>
          <p:cNvPicPr>
            <a:picLocks noChangeAspect="1"/>
          </p:cNvPicPr>
          <p:nvPr/>
        </p:nvPicPr>
        <p:blipFill>
          <a:blip r:embed="rId2"/>
          <a:stretch>
            <a:fillRect/>
          </a:stretch>
        </p:blipFill>
        <p:spPr>
          <a:xfrm>
            <a:off x="829841" y="2501560"/>
            <a:ext cx="3698165" cy="2654754"/>
          </a:xfrm>
          <a:prstGeom prst="rect">
            <a:avLst/>
          </a:prstGeom>
        </p:spPr>
      </p:pic>
      <p:pic>
        <p:nvPicPr>
          <p:cNvPr id="5" name="Picture 4"/>
          <p:cNvPicPr>
            <a:picLocks noChangeAspect="1"/>
          </p:cNvPicPr>
          <p:nvPr/>
        </p:nvPicPr>
        <p:blipFill>
          <a:blip r:embed="rId3"/>
          <a:stretch>
            <a:fillRect/>
          </a:stretch>
        </p:blipFill>
        <p:spPr>
          <a:xfrm>
            <a:off x="5540788" y="2435521"/>
            <a:ext cx="6292624" cy="2786831"/>
          </a:xfrm>
          <a:prstGeom prst="rect">
            <a:avLst/>
          </a:prstGeom>
        </p:spPr>
      </p:pic>
      <p:pic>
        <p:nvPicPr>
          <p:cNvPr id="7" name="Picture 6"/>
          <p:cNvPicPr>
            <a:picLocks noChangeAspect="1"/>
          </p:cNvPicPr>
          <p:nvPr/>
        </p:nvPicPr>
        <p:blipFill>
          <a:blip r:embed="rId4"/>
          <a:stretch>
            <a:fillRect/>
          </a:stretch>
        </p:blipFill>
        <p:spPr>
          <a:xfrm>
            <a:off x="4840100" y="3828937"/>
            <a:ext cx="1095375" cy="638175"/>
          </a:xfrm>
          <a:prstGeom prst="rect">
            <a:avLst/>
          </a:prstGeom>
        </p:spPr>
      </p:pic>
    </p:spTree>
    <p:extLst>
      <p:ext uri="{BB962C8B-B14F-4D97-AF65-F5344CB8AC3E}">
        <p14:creationId xmlns:p14="http://schemas.microsoft.com/office/powerpoint/2010/main" val="21713619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solidFill>
                  <a:schemeClr val="bg2"/>
                </a:solidFill>
              </a:rPr>
              <a:t>Maximum Flow Problem (Chapter 6.2 - 6.3)</a:t>
            </a:r>
          </a:p>
          <a:p>
            <a:r>
              <a:rPr lang="en-US" dirty="0">
                <a:solidFill>
                  <a:schemeClr val="bg2"/>
                </a:solidFill>
              </a:rPr>
              <a:t>Shortest Path Problem (Chapter 6.4)</a:t>
            </a:r>
          </a:p>
          <a:p>
            <a:r>
              <a:rPr lang="en-US" dirty="0">
                <a:solidFill>
                  <a:schemeClr val="bg2"/>
                </a:solidFill>
              </a:rPr>
              <a:t>Minimum Spanning Tree Problem (Chapter 6S)</a:t>
            </a:r>
          </a:p>
          <a:p>
            <a:r>
              <a:rPr lang="en-US" dirty="0">
                <a:solidFill>
                  <a:schemeClr val="bg2"/>
                </a:solidFill>
              </a:rPr>
              <a:t>Network Modifications (not in the textbook)</a:t>
            </a:r>
          </a:p>
          <a:p>
            <a:r>
              <a:rPr lang="en-US" dirty="0"/>
              <a:t>Network Optimization Cases (Chapter 6)</a:t>
            </a:r>
          </a:p>
          <a:p>
            <a:r>
              <a:rPr lang="en-US" dirty="0">
                <a:solidFill>
                  <a:schemeClr val="bg2"/>
                </a:solidFill>
              </a:rPr>
              <a:t>Further Cases</a:t>
            </a:r>
          </a:p>
          <a:p>
            <a:endParaRPr lang="en-US" dirty="0"/>
          </a:p>
          <a:p>
            <a:pPr lvl="5"/>
            <a:endParaRPr lang="en-US" dirty="0"/>
          </a:p>
          <a:p>
            <a:endParaRPr lang="en-US" dirty="0"/>
          </a:p>
        </p:txBody>
      </p:sp>
    </p:spTree>
    <p:extLst>
      <p:ext uri="{BB962C8B-B14F-4D97-AF65-F5344CB8AC3E}">
        <p14:creationId xmlns:p14="http://schemas.microsoft.com/office/powerpoint/2010/main" val="1495794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p:txBody>
          <a:bodyPr/>
          <a:lstStyle/>
          <a:p>
            <a:r>
              <a:rPr lang="en-US" sz="2400" b="1" u="sng" dirty="0">
                <a:ea typeface="ＭＳ Ｐゴシック"/>
              </a:rPr>
              <a:t>Case: Carrier Selection (not in the textbook): </a:t>
            </a:r>
          </a:p>
          <a:p>
            <a:pPr lvl="1"/>
            <a:r>
              <a:rPr lang="en-US" sz="2000" dirty="0"/>
              <a:t>Suppose that you are the distribution manager of a warehouse. You need to determine how to ship 100 units of a specific product to two retailer stores. Each retailer store requires 50 units of the product. There are three carriers that you can use to ship the product from the warehouse to the retailer stores and there is another carrier that can ship the product between the retailer stores. The specifications of the carriers are as follows:</a:t>
            </a:r>
          </a:p>
        </p:txBody>
      </p:sp>
      <p:sp>
        <p:nvSpPr>
          <p:cNvPr id="8" name="Rectangle 7">
            <a:extLst>
              <a:ext uri="{FF2B5EF4-FFF2-40B4-BE49-F238E27FC236}">
                <a16:creationId xmlns:a16="http://schemas.microsoft.com/office/drawing/2014/main" id="{D4B0E19E-88C5-466F-ABDC-F3F1EB9A8115}"/>
              </a:ext>
            </a:extLst>
          </p:cNvPr>
          <p:cNvSpPr/>
          <p:nvPr/>
        </p:nvSpPr>
        <p:spPr>
          <a:xfrm>
            <a:off x="155170" y="3162081"/>
            <a:ext cx="8573193" cy="3416320"/>
          </a:xfrm>
          <a:prstGeom prst="rect">
            <a:avLst/>
          </a:prstGeom>
        </p:spPr>
        <p:txBody>
          <a:bodyPr wrap="square">
            <a:spAutoFit/>
          </a:bodyPr>
          <a:lstStyle/>
          <a:p>
            <a:pPr lvl="2"/>
            <a:r>
              <a:rPr lang="en-US" b="1" dirty="0"/>
              <a:t>Carrier 1: </a:t>
            </a:r>
            <a:r>
              <a:rPr lang="en-US" dirty="0"/>
              <a:t>It charges $15 to pick up one unit of the product from the warehouse. It charges $0.25 to ship one unit of the product one mile. It can ship at most 40 units of the product. It can only ship to retailer store 1 from the warehouse.</a:t>
            </a:r>
          </a:p>
          <a:p>
            <a:pPr lvl="2"/>
            <a:r>
              <a:rPr lang="en-US" b="1" dirty="0"/>
              <a:t>Carrier 2: </a:t>
            </a:r>
            <a:r>
              <a:rPr lang="en-US" dirty="0"/>
              <a:t>It charges $8 to pick up one unit of the product from the warehouse. It charges $0.30 to ship one unit of the product one mile. It can ship at most 30 units of the product. It can ship to both retailer stores from the warehouse.</a:t>
            </a:r>
          </a:p>
          <a:p>
            <a:pPr lvl="2"/>
            <a:r>
              <a:rPr lang="en-US" b="1" dirty="0"/>
              <a:t>Carrier 3: </a:t>
            </a:r>
            <a:r>
              <a:rPr lang="en-US" dirty="0"/>
              <a:t>It charges $12 to pick up one unit of the product from the warehouse. It charges $0.20 to ship one unit of the product one mile. It can ship at most 50 units of the product. It can only ship to retailer store 2 from the warehouse.</a:t>
            </a:r>
          </a:p>
          <a:p>
            <a:pPr lvl="2"/>
            <a:r>
              <a:rPr lang="en-US" b="1" dirty="0"/>
              <a:t>Carrier 4: </a:t>
            </a:r>
            <a:r>
              <a:rPr lang="en-US" dirty="0"/>
              <a:t>It charges $10 to pick up one unit of the product from any retailer store. It charges $0.40 to ship one unit of the product one mile. It can ship as much as you want. It can only ship between the retailer stores.</a:t>
            </a:r>
          </a:p>
        </p:txBody>
      </p:sp>
      <p:pic>
        <p:nvPicPr>
          <p:cNvPr id="9" name="Picture 8">
            <a:extLst>
              <a:ext uri="{FF2B5EF4-FFF2-40B4-BE49-F238E27FC236}">
                <a16:creationId xmlns:a16="http://schemas.microsoft.com/office/drawing/2014/main" id="{DD25D820-90DB-4B88-83A3-25743E7B3FD0}"/>
              </a:ext>
            </a:extLst>
          </p:cNvPr>
          <p:cNvPicPr>
            <a:picLocks noChangeAspect="1"/>
          </p:cNvPicPr>
          <p:nvPr/>
        </p:nvPicPr>
        <p:blipFill>
          <a:blip r:embed="rId2"/>
          <a:stretch>
            <a:fillRect/>
          </a:stretch>
        </p:blipFill>
        <p:spPr>
          <a:xfrm>
            <a:off x="8827775" y="5148349"/>
            <a:ext cx="3205469" cy="1080914"/>
          </a:xfrm>
          <a:prstGeom prst="rect">
            <a:avLst/>
          </a:prstGeom>
        </p:spPr>
      </p:pic>
      <p:sp>
        <p:nvSpPr>
          <p:cNvPr id="10" name="Rectangle 9">
            <a:extLst>
              <a:ext uri="{FF2B5EF4-FFF2-40B4-BE49-F238E27FC236}">
                <a16:creationId xmlns:a16="http://schemas.microsoft.com/office/drawing/2014/main" id="{36946F5C-6F9D-4FED-9752-97BB8B9310D1}"/>
              </a:ext>
            </a:extLst>
          </p:cNvPr>
          <p:cNvSpPr/>
          <p:nvPr/>
        </p:nvSpPr>
        <p:spPr>
          <a:xfrm>
            <a:off x="8818485" y="4263563"/>
            <a:ext cx="3114843" cy="830997"/>
          </a:xfrm>
          <a:prstGeom prst="rect">
            <a:avLst/>
          </a:prstGeom>
        </p:spPr>
        <p:txBody>
          <a:bodyPr wrap="square">
            <a:spAutoFit/>
          </a:bodyPr>
          <a:lstStyle/>
          <a:p>
            <a:r>
              <a:rPr lang="en-US" sz="1600" dirty="0">
                <a:solidFill>
                  <a:srgbClr val="C00000"/>
                </a:solidFill>
                <a:latin typeface="Calibri" panose="020F0502020204030204" pitchFamily="34" charset="0"/>
              </a:rPr>
              <a:t>The distances from the warehouse to each retailer store and between the retailer stores :</a:t>
            </a:r>
            <a:endParaRPr lang="en-US" sz="1600" dirty="0">
              <a:solidFill>
                <a:srgbClr val="C00000"/>
              </a:solidFill>
            </a:endParaRPr>
          </a:p>
        </p:txBody>
      </p:sp>
    </p:spTree>
    <p:extLst>
      <p:ext uri="{BB962C8B-B14F-4D97-AF65-F5344CB8AC3E}">
        <p14:creationId xmlns:p14="http://schemas.microsoft.com/office/powerpoint/2010/main" val="21744266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p:txBody>
          <a:bodyPr/>
          <a:lstStyle/>
          <a:p>
            <a:r>
              <a:rPr lang="en-US" b="1" u="sng" dirty="0">
                <a:ea typeface="ＭＳ Ｐゴシック"/>
              </a:rPr>
              <a:t>Case: Carrier Selection (not in the textbook): </a:t>
            </a:r>
          </a:p>
          <a:p>
            <a:endParaRPr lang="en-US" b="1" u="sng" dirty="0">
              <a:ea typeface="ＭＳ Ｐゴシック"/>
            </a:endParaRPr>
          </a:p>
          <a:p>
            <a:pPr lvl="1"/>
            <a:r>
              <a:rPr lang="en-US" dirty="0"/>
              <a:t>A network representation:</a:t>
            </a:r>
          </a:p>
        </p:txBody>
      </p:sp>
      <p:sp>
        <p:nvSpPr>
          <p:cNvPr id="9" name="Rectangle 8"/>
          <p:cNvSpPr/>
          <p:nvPr/>
        </p:nvSpPr>
        <p:spPr>
          <a:xfrm>
            <a:off x="6939430" y="1960919"/>
            <a:ext cx="4428470" cy="1815882"/>
          </a:xfrm>
          <a:prstGeom prst="rect">
            <a:avLst/>
          </a:prstGeom>
        </p:spPr>
        <p:txBody>
          <a:bodyPr wrap="square">
            <a:spAutoFit/>
          </a:bodyPr>
          <a:lstStyle/>
          <a:p>
            <a:r>
              <a:rPr lang="en-US" sz="1400" b="1" u="sng" dirty="0">
                <a:latin typeface="Calibri" panose="020F0502020204030204" pitchFamily="34" charset="0"/>
                <a:ea typeface="Calibri" panose="020F0502020204030204" pitchFamily="34" charset="0"/>
                <a:cs typeface="Times New Roman" panose="02020603050405020304" pitchFamily="18" charset="0"/>
              </a:rPr>
              <a:t>Nodes: </a:t>
            </a:r>
            <a:r>
              <a:rPr lang="en-US" sz="1400" dirty="0"/>
              <a:t>1 node for the warehouse (node 0), 3 nodes for carriers 1, 2, and 3 (node 1, node 2, and node 3, respectively), and 2 nodes for the retailers (node 4 and node 5). Node 0 is the supply node with supply of 100, i.e., node value 100. Nodes 4 and 5 are demand nodes with demand of 50, i.e., node values are -50 for each. Nodes 1, 2, and 3 are transshipment nodes, they have node values of 0 as they needed to ship whatever they pick. </a:t>
            </a:r>
          </a:p>
        </p:txBody>
      </p:sp>
      <p:pic>
        <p:nvPicPr>
          <p:cNvPr id="4" name="Picture 3">
            <a:extLst>
              <a:ext uri="{FF2B5EF4-FFF2-40B4-BE49-F238E27FC236}">
                <a16:creationId xmlns:a16="http://schemas.microsoft.com/office/drawing/2014/main" id="{88E45282-1C05-4408-93AD-2B7C7461BD05}"/>
              </a:ext>
            </a:extLst>
          </p:cNvPr>
          <p:cNvPicPr>
            <a:picLocks noChangeAspect="1"/>
          </p:cNvPicPr>
          <p:nvPr/>
        </p:nvPicPr>
        <p:blipFill>
          <a:blip r:embed="rId2"/>
          <a:stretch>
            <a:fillRect/>
          </a:stretch>
        </p:blipFill>
        <p:spPr>
          <a:xfrm>
            <a:off x="1030778" y="2255719"/>
            <a:ext cx="5009543" cy="2807598"/>
          </a:xfrm>
          <a:prstGeom prst="rect">
            <a:avLst/>
          </a:prstGeom>
        </p:spPr>
      </p:pic>
      <p:sp>
        <p:nvSpPr>
          <p:cNvPr id="5" name="Rectangle 4">
            <a:extLst>
              <a:ext uri="{FF2B5EF4-FFF2-40B4-BE49-F238E27FC236}">
                <a16:creationId xmlns:a16="http://schemas.microsoft.com/office/drawing/2014/main" id="{AD33880D-11F0-42D1-99FE-BCE365621B18}"/>
              </a:ext>
            </a:extLst>
          </p:cNvPr>
          <p:cNvSpPr/>
          <p:nvPr/>
        </p:nvSpPr>
        <p:spPr>
          <a:xfrm>
            <a:off x="487549" y="5207322"/>
            <a:ext cx="3524727" cy="1384995"/>
          </a:xfrm>
          <a:prstGeom prst="rect">
            <a:avLst/>
          </a:prstGeom>
        </p:spPr>
        <p:txBody>
          <a:bodyPr wrap="square">
            <a:spAutoFit/>
          </a:bodyPr>
          <a:lstStyle/>
          <a:p>
            <a:r>
              <a:rPr lang="en-US" sz="1400" b="1" u="sng" dirty="0">
                <a:solidFill>
                  <a:srgbClr val="000000"/>
                </a:solidFill>
                <a:latin typeface="Calibri" panose="020F0502020204030204" pitchFamily="34" charset="0"/>
              </a:rPr>
              <a:t>Arcs: </a:t>
            </a:r>
            <a:r>
              <a:rPr lang="en-US" sz="1400" dirty="0">
                <a:solidFill>
                  <a:srgbClr val="000000"/>
                </a:solidFill>
                <a:latin typeface="Calibri" panose="020F0502020204030204" pitchFamily="34" charset="0"/>
              </a:rPr>
              <a:t>Arcs from node 0 to node 1, node 2, and node 3 represent the number of items picked by carriers 1, 2, and 3 from the warehouse. Therefore, those arcs have the pickup cost specific to each carrier and the capacity representing how much each carrier can ship. </a:t>
            </a:r>
            <a:endParaRPr lang="en-US" sz="1400" dirty="0"/>
          </a:p>
        </p:txBody>
      </p:sp>
      <p:sp>
        <p:nvSpPr>
          <p:cNvPr id="6" name="Rectangle 5">
            <a:extLst>
              <a:ext uri="{FF2B5EF4-FFF2-40B4-BE49-F238E27FC236}">
                <a16:creationId xmlns:a16="http://schemas.microsoft.com/office/drawing/2014/main" id="{D9F2F03A-90FE-43E2-9142-4DB2B86FF39E}"/>
              </a:ext>
            </a:extLst>
          </p:cNvPr>
          <p:cNvSpPr/>
          <p:nvPr/>
        </p:nvSpPr>
        <p:spPr>
          <a:xfrm>
            <a:off x="4495294" y="4917904"/>
            <a:ext cx="3989163" cy="1815882"/>
          </a:xfrm>
          <a:prstGeom prst="rect">
            <a:avLst/>
          </a:prstGeom>
        </p:spPr>
        <p:txBody>
          <a:bodyPr wrap="square">
            <a:spAutoFit/>
          </a:bodyPr>
          <a:lstStyle/>
          <a:p>
            <a:r>
              <a:rPr lang="en-US" sz="1400" dirty="0">
                <a:solidFill>
                  <a:srgbClr val="000000"/>
                </a:solidFill>
                <a:latin typeface="Calibri" panose="020F0502020204030204" pitchFamily="34" charset="0"/>
              </a:rPr>
              <a:t>The arcs from nodes 1, 2, and 3 to nodes 4 and/or 5 represent the items shipped by carriers from the warehouse to the retailer stores. They do not have capacities as we have already enforced the capacities of the carriers. They have the unit transportation cost calculated by using the distance from the warehouse to the retailer stores and the charge of each carrier for one unit for one mile. </a:t>
            </a:r>
            <a:endParaRPr lang="en-US" sz="1400" dirty="0"/>
          </a:p>
        </p:txBody>
      </p:sp>
      <p:sp>
        <p:nvSpPr>
          <p:cNvPr id="7" name="Rectangle 6">
            <a:extLst>
              <a:ext uri="{FF2B5EF4-FFF2-40B4-BE49-F238E27FC236}">
                <a16:creationId xmlns:a16="http://schemas.microsoft.com/office/drawing/2014/main" id="{AFCD5E0E-4D84-40E6-8D17-83B77FDFAA46}"/>
              </a:ext>
            </a:extLst>
          </p:cNvPr>
          <p:cNvSpPr/>
          <p:nvPr/>
        </p:nvSpPr>
        <p:spPr>
          <a:xfrm>
            <a:off x="8484457" y="4842007"/>
            <a:ext cx="3481502" cy="1815882"/>
          </a:xfrm>
          <a:prstGeom prst="rect">
            <a:avLst/>
          </a:prstGeom>
        </p:spPr>
        <p:txBody>
          <a:bodyPr wrap="square">
            <a:spAutoFit/>
          </a:bodyPr>
          <a:lstStyle/>
          <a:p>
            <a:r>
              <a:rPr lang="en-US" sz="1400" dirty="0">
                <a:solidFill>
                  <a:srgbClr val="000000"/>
                </a:solidFill>
                <a:latin typeface="Calibri" panose="020F0502020204030204" pitchFamily="34" charset="0"/>
              </a:rPr>
              <a:t>Finally, the arcs between nodes 4 and 5 represent the carrier 4 as it can ship between the retailer stores. The costs on these arcs include the pick-up cost by carrier 4 and the unit transportation cost calculated considering the distance between the retailer stores and carrier 4’s charge per unit per mile. Carrier 4 does not have capacity. </a:t>
            </a:r>
            <a:endParaRPr lang="en-US" sz="1400" dirty="0"/>
          </a:p>
        </p:txBody>
      </p:sp>
    </p:spTree>
    <p:extLst>
      <p:ext uri="{BB962C8B-B14F-4D97-AF65-F5344CB8AC3E}">
        <p14:creationId xmlns:p14="http://schemas.microsoft.com/office/powerpoint/2010/main" val="12146904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p:txBody>
          <a:bodyPr/>
          <a:lstStyle/>
          <a:p>
            <a:r>
              <a:rPr lang="en-US" b="1" u="sng" dirty="0">
                <a:ea typeface="ＭＳ Ｐゴシック"/>
              </a:rPr>
              <a:t>Case: Carrier Selection (not in the textbook): </a:t>
            </a:r>
          </a:p>
          <a:p>
            <a:pPr lvl="1"/>
            <a:r>
              <a:rPr lang="en-US" dirty="0"/>
              <a:t>Algebraic model:</a:t>
            </a:r>
          </a:p>
          <a:p>
            <a:pPr lvl="2"/>
            <a:r>
              <a:rPr lang="en-US" dirty="0"/>
              <a:t>Let F(</a:t>
            </a:r>
            <a:r>
              <a:rPr lang="en-US" dirty="0" err="1"/>
              <a:t>i,j</a:t>
            </a:r>
            <a:r>
              <a:rPr lang="en-US" dirty="0"/>
              <a:t>) denote the flow on arc (</a:t>
            </a:r>
            <a:r>
              <a:rPr lang="en-US" dirty="0" err="1"/>
              <a:t>i,j</a:t>
            </a:r>
            <a:r>
              <a:rPr lang="en-US" dirty="0"/>
              <a:t>). </a:t>
            </a:r>
          </a:p>
        </p:txBody>
      </p:sp>
      <p:pic>
        <p:nvPicPr>
          <p:cNvPr id="4" name="Picture 3">
            <a:extLst>
              <a:ext uri="{FF2B5EF4-FFF2-40B4-BE49-F238E27FC236}">
                <a16:creationId xmlns:a16="http://schemas.microsoft.com/office/drawing/2014/main" id="{5792EA9B-8776-442A-B0F9-DF45B4C91CA3}"/>
              </a:ext>
            </a:extLst>
          </p:cNvPr>
          <p:cNvPicPr>
            <a:picLocks noChangeAspect="1"/>
          </p:cNvPicPr>
          <p:nvPr/>
        </p:nvPicPr>
        <p:blipFill>
          <a:blip r:embed="rId2"/>
          <a:stretch>
            <a:fillRect/>
          </a:stretch>
        </p:blipFill>
        <p:spPr>
          <a:xfrm>
            <a:off x="1463039" y="2788938"/>
            <a:ext cx="6964766" cy="2871164"/>
          </a:xfrm>
          <a:prstGeom prst="rect">
            <a:avLst/>
          </a:prstGeom>
        </p:spPr>
      </p:pic>
    </p:spTree>
    <p:extLst>
      <p:ext uri="{BB962C8B-B14F-4D97-AF65-F5344CB8AC3E}">
        <p14:creationId xmlns:p14="http://schemas.microsoft.com/office/powerpoint/2010/main" val="13332765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Multi-Source Multi-Sink Max Flow Problem</a:t>
            </a:r>
          </a:p>
        </p:txBody>
      </p:sp>
      <p:sp>
        <p:nvSpPr>
          <p:cNvPr id="3" name="Content Placeholder 2"/>
          <p:cNvSpPr>
            <a:spLocks noGrp="1"/>
          </p:cNvSpPr>
          <p:nvPr>
            <p:ph idx="1"/>
          </p:nvPr>
        </p:nvSpPr>
        <p:spPr/>
        <p:txBody>
          <a:bodyPr/>
          <a:lstStyle/>
          <a:p>
            <a:r>
              <a:rPr lang="en-US" dirty="0">
                <a:ea typeface="ＭＳ Ｐゴシック"/>
              </a:rPr>
              <a:t>We discussed maximum flow problems with one source node and one sink node. It is possible that there are multiple sources and/or multiple sinks</a:t>
            </a:r>
          </a:p>
          <a:p>
            <a:pPr lvl="1"/>
            <a:r>
              <a:rPr lang="en-US" dirty="0">
                <a:ea typeface="ＭＳ Ｐゴシック"/>
              </a:rPr>
              <a:t>One approach is to modify the network so that we have single source &amp; single sink</a:t>
            </a:r>
          </a:p>
          <a:p>
            <a:pPr lvl="2"/>
            <a:r>
              <a:rPr lang="en-US" dirty="0">
                <a:ea typeface="ＭＳ Ｐゴシック"/>
              </a:rPr>
              <a:t>Introduce a dummy source node, include arcs from the dummy source node to each original source node such that those arcs have unlimited capacity (they are </a:t>
            </a:r>
            <a:r>
              <a:rPr lang="en-US" dirty="0" err="1">
                <a:ea typeface="ＭＳ Ｐゴシック"/>
              </a:rPr>
              <a:t>uncapacitated</a:t>
            </a:r>
            <a:r>
              <a:rPr lang="en-US" dirty="0">
                <a:ea typeface="ＭＳ Ｐゴシック"/>
              </a:rPr>
              <a:t>)</a:t>
            </a:r>
          </a:p>
          <a:p>
            <a:pPr lvl="2"/>
            <a:r>
              <a:rPr lang="en-US" dirty="0">
                <a:ea typeface="ＭＳ Ｐゴシック"/>
              </a:rPr>
              <a:t>Introduce a dummy sink node, include arcs from each original sink node to the dummy sink node such that those arcs have unlimited capacity (they are </a:t>
            </a:r>
            <a:r>
              <a:rPr lang="en-US" dirty="0" err="1">
                <a:ea typeface="ＭＳ Ｐゴシック"/>
              </a:rPr>
              <a:t>uncapacitated</a:t>
            </a:r>
            <a:r>
              <a:rPr lang="en-US" dirty="0">
                <a:ea typeface="ＭＳ Ｐゴシック"/>
              </a:rPr>
              <a:t>)</a:t>
            </a:r>
          </a:p>
          <a:p>
            <a:pPr lvl="2"/>
            <a:r>
              <a:rPr lang="en-US" dirty="0">
                <a:ea typeface="ＭＳ Ｐゴシック"/>
              </a:rPr>
              <a:t>Maximize the flow from the dummy source node to the dummy sink node! </a:t>
            </a:r>
          </a:p>
          <a:p>
            <a:pPr lvl="1"/>
            <a:r>
              <a:rPr lang="en-US" dirty="0">
                <a:ea typeface="ＭＳ Ｐゴシック"/>
              </a:rPr>
              <a:t>The other approach is to formulate with multiple sources and multiple sinks</a:t>
            </a:r>
          </a:p>
          <a:p>
            <a:pPr lvl="2"/>
            <a:r>
              <a:rPr lang="en-US" dirty="0">
                <a:ea typeface="ＭＳ Ｐゴシック"/>
              </a:rPr>
              <a:t>Maximize the total flow out of all sources (or maximize the total flow into all sinks)</a:t>
            </a:r>
          </a:p>
          <a:p>
            <a:pPr lvl="2"/>
            <a:r>
              <a:rPr lang="en-US" dirty="0">
                <a:ea typeface="ＭＳ Ｐゴシック"/>
              </a:rPr>
              <a:t>No flow balance for the sources and no flow balance for the sinks</a:t>
            </a:r>
          </a:p>
          <a:p>
            <a:pPr lvl="2"/>
            <a:r>
              <a:rPr lang="en-US" dirty="0">
                <a:ea typeface="ＭＳ Ｐゴシック"/>
              </a:rPr>
              <a:t>Flow balance for non-source non-sink nodes (i.e., intermediate/transshipment nodes)</a:t>
            </a:r>
          </a:p>
          <a:p>
            <a:pPr lvl="2"/>
            <a:r>
              <a:rPr lang="en-US" dirty="0">
                <a:ea typeface="ＭＳ Ｐゴシック"/>
              </a:rPr>
              <a:t>And arc capacity and non-negativity constraints</a:t>
            </a:r>
          </a:p>
          <a:p>
            <a:endParaRPr lang="en-US" dirty="0"/>
          </a:p>
        </p:txBody>
      </p:sp>
    </p:spTree>
    <p:extLst>
      <p:ext uri="{BB962C8B-B14F-4D97-AF65-F5344CB8AC3E}">
        <p14:creationId xmlns:p14="http://schemas.microsoft.com/office/powerpoint/2010/main" val="271066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Multi-Source Multi-Sink Max Flow Problem</a:t>
            </a:r>
          </a:p>
        </p:txBody>
      </p:sp>
      <p:sp>
        <p:nvSpPr>
          <p:cNvPr id="3" name="Content Placeholder 2"/>
          <p:cNvSpPr>
            <a:spLocks noGrp="1"/>
          </p:cNvSpPr>
          <p:nvPr>
            <p:ph idx="1"/>
          </p:nvPr>
        </p:nvSpPr>
        <p:spPr>
          <a:xfrm>
            <a:off x="355002" y="1312433"/>
            <a:ext cx="6296169" cy="4864530"/>
          </a:xfrm>
        </p:spPr>
        <p:txBody>
          <a:bodyPr/>
          <a:lstStyle/>
          <a:p>
            <a:r>
              <a:rPr lang="en-US" b="1" u="sng" dirty="0">
                <a:ea typeface="ＭＳ Ｐゴシック"/>
              </a:rPr>
              <a:t>Case: Extended BMZ Co. Problem:</a:t>
            </a:r>
          </a:p>
          <a:p>
            <a:pPr lvl="1"/>
            <a:r>
              <a:rPr lang="en-US" dirty="0"/>
              <a:t>BMZ has a second, smaller factory in Berlin.</a:t>
            </a:r>
          </a:p>
          <a:p>
            <a:pPr lvl="1"/>
            <a:r>
              <a:rPr lang="en-US" dirty="0"/>
              <a:t>The distribution center in Seattle has the capability of supplying parts to the customers of the distribution center in Los Angeles when shortages occur at the latter center.</a:t>
            </a:r>
          </a:p>
          <a:p>
            <a:pPr lvl="1"/>
            <a:r>
              <a:rPr lang="en-US" b="1" dirty="0"/>
              <a:t>Question: </a:t>
            </a:r>
            <a:r>
              <a:rPr lang="en-US" dirty="0"/>
              <a:t>How many units should be sent through each shipping lane to maximize the total units flowing from Stuttgart and Berlin to Los Angeles and Seattle?</a:t>
            </a:r>
          </a:p>
          <a:p>
            <a:pPr lvl="1"/>
            <a:endParaRPr lang="en-US" dirty="0"/>
          </a:p>
          <a:p>
            <a:endParaRPr lang="en-US" dirty="0">
              <a:ea typeface="ＭＳ Ｐゴシック"/>
            </a:endParaRPr>
          </a:p>
          <a:p>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9" y="1602027"/>
            <a:ext cx="4790355" cy="410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45684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Multi-Source Multi-Sink Max Flow Problem</a:t>
            </a:r>
          </a:p>
        </p:txBody>
      </p:sp>
      <p:sp>
        <p:nvSpPr>
          <p:cNvPr id="3" name="Content Placeholder 2"/>
          <p:cNvSpPr>
            <a:spLocks noGrp="1"/>
          </p:cNvSpPr>
          <p:nvPr>
            <p:ph idx="1"/>
          </p:nvPr>
        </p:nvSpPr>
        <p:spPr/>
        <p:txBody>
          <a:bodyPr/>
          <a:lstStyle/>
          <a:p>
            <a:r>
              <a:rPr lang="en-US" b="1" u="sng" dirty="0">
                <a:ea typeface="ＭＳ Ｐゴシック"/>
              </a:rPr>
              <a:t>Case: Extended BMZ Co. Problem:</a:t>
            </a:r>
          </a:p>
          <a:p>
            <a:pPr lvl="1"/>
            <a:r>
              <a:rPr lang="en-US" b="1" dirty="0">
                <a:solidFill>
                  <a:srgbClr val="C00000"/>
                </a:solidFill>
              </a:rPr>
              <a:t>Spreadsheet model:</a:t>
            </a:r>
          </a:p>
        </p:txBody>
      </p:sp>
      <p:pic>
        <p:nvPicPr>
          <p:cNvPr id="4" name="Picture 3"/>
          <p:cNvPicPr>
            <a:picLocks noChangeAspect="1"/>
          </p:cNvPicPr>
          <p:nvPr/>
        </p:nvPicPr>
        <p:blipFill>
          <a:blip r:embed="rId2"/>
          <a:stretch>
            <a:fillRect/>
          </a:stretch>
        </p:blipFill>
        <p:spPr>
          <a:xfrm>
            <a:off x="1617263" y="2341663"/>
            <a:ext cx="8108387" cy="3241473"/>
          </a:xfrm>
          <a:prstGeom prst="rect">
            <a:avLst/>
          </a:prstGeom>
        </p:spPr>
      </p:pic>
    </p:spTree>
    <p:extLst>
      <p:ext uri="{BB962C8B-B14F-4D97-AF65-F5344CB8AC3E}">
        <p14:creationId xmlns:p14="http://schemas.microsoft.com/office/powerpoint/2010/main" val="7675499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Planning as a Shortest Path Problem</a:t>
            </a:r>
          </a:p>
        </p:txBody>
      </p:sp>
      <p:sp>
        <p:nvSpPr>
          <p:cNvPr id="3" name="Content Placeholder 2"/>
          <p:cNvSpPr>
            <a:spLocks noGrp="1"/>
          </p:cNvSpPr>
          <p:nvPr>
            <p:ph idx="1"/>
          </p:nvPr>
        </p:nvSpPr>
        <p:spPr/>
        <p:txBody>
          <a:bodyPr/>
          <a:lstStyle/>
          <a:p>
            <a:r>
              <a:rPr lang="en-US" b="1" u="sng" dirty="0">
                <a:ea typeface="ＭＳ Ｐゴシック"/>
              </a:rPr>
              <a:t>Case: Sarah’s Car Purchase Problem (Chapter 6.4):</a:t>
            </a:r>
          </a:p>
          <a:p>
            <a:pPr lvl="1">
              <a:lnSpc>
                <a:spcPct val="80000"/>
              </a:lnSpc>
            </a:pPr>
            <a:r>
              <a:rPr lang="en-US" dirty="0"/>
              <a:t>Sarah has just graduated from high school.  As a graduation present, her parents have given her a car fund of $21,000 to help purchase and maintain a three-year-old used car for college</a:t>
            </a:r>
          </a:p>
          <a:p>
            <a:pPr lvl="1">
              <a:lnSpc>
                <a:spcPct val="80000"/>
              </a:lnSpc>
            </a:pPr>
            <a:r>
              <a:rPr lang="en-US" dirty="0"/>
              <a:t>Since operating and maintenance costs go up rapidly as the car ages, Sarah may trade in her car on another three-year-old car one or more times during the next three summers if it will minimize her total net cost. (At the end of the four years of college, her parents will trade in the current used car on a new car for Sarah.)</a:t>
            </a:r>
          </a:p>
          <a:p>
            <a:pPr lvl="1">
              <a:lnSpc>
                <a:spcPct val="80000"/>
              </a:lnSpc>
            </a:pPr>
            <a:r>
              <a:rPr lang="en-US" b="1" dirty="0"/>
              <a:t>When should Sarah trade in her car (if at all) during the next three summers?</a:t>
            </a:r>
            <a:endParaRPr lang="en-US" dirty="0"/>
          </a:p>
        </p:txBody>
      </p:sp>
      <p:graphicFrame>
        <p:nvGraphicFramePr>
          <p:cNvPr id="5" name="Group 137"/>
          <p:cNvGraphicFramePr>
            <a:graphicFrameLocks/>
          </p:cNvGraphicFramePr>
          <p:nvPr>
            <p:extLst>
              <p:ext uri="{D42A27DB-BD31-4B8C-83A1-F6EECF244321}">
                <p14:modId xmlns:p14="http://schemas.microsoft.com/office/powerpoint/2010/main" val="60178662"/>
              </p:ext>
            </p:extLst>
          </p:nvPr>
        </p:nvGraphicFramePr>
        <p:xfrm>
          <a:off x="2283309" y="4752666"/>
          <a:ext cx="7621795" cy="1531874"/>
        </p:xfrm>
        <a:graphic>
          <a:graphicData uri="http://schemas.openxmlformats.org/drawingml/2006/table">
            <a:tbl>
              <a:tblPr/>
              <a:tblGrid>
                <a:gridCol w="1011534">
                  <a:extLst>
                    <a:ext uri="{9D8B030D-6E8A-4147-A177-3AD203B41FA5}">
                      <a16:colId xmlns:a16="http://schemas.microsoft.com/office/drawing/2014/main" val="20000"/>
                    </a:ext>
                  </a:extLst>
                </a:gridCol>
                <a:gridCol w="799818">
                  <a:extLst>
                    <a:ext uri="{9D8B030D-6E8A-4147-A177-3AD203B41FA5}">
                      <a16:colId xmlns:a16="http://schemas.microsoft.com/office/drawing/2014/main" val="20001"/>
                    </a:ext>
                  </a:extLst>
                </a:gridCol>
                <a:gridCol w="799818">
                  <a:extLst>
                    <a:ext uri="{9D8B030D-6E8A-4147-A177-3AD203B41FA5}">
                      <a16:colId xmlns:a16="http://schemas.microsoft.com/office/drawing/2014/main" val="20002"/>
                    </a:ext>
                  </a:extLst>
                </a:gridCol>
                <a:gridCol w="799818">
                  <a:extLst>
                    <a:ext uri="{9D8B030D-6E8A-4147-A177-3AD203B41FA5}">
                      <a16:colId xmlns:a16="http://schemas.microsoft.com/office/drawing/2014/main" val="20003"/>
                    </a:ext>
                  </a:extLst>
                </a:gridCol>
                <a:gridCol w="799818">
                  <a:extLst>
                    <a:ext uri="{9D8B030D-6E8A-4147-A177-3AD203B41FA5}">
                      <a16:colId xmlns:a16="http://schemas.microsoft.com/office/drawing/2014/main" val="20004"/>
                    </a:ext>
                  </a:extLst>
                </a:gridCol>
                <a:gridCol w="235241">
                  <a:extLst>
                    <a:ext uri="{9D8B030D-6E8A-4147-A177-3AD203B41FA5}">
                      <a16:colId xmlns:a16="http://schemas.microsoft.com/office/drawing/2014/main" val="20005"/>
                    </a:ext>
                  </a:extLst>
                </a:gridCol>
                <a:gridCol w="776294">
                  <a:extLst>
                    <a:ext uri="{9D8B030D-6E8A-4147-A177-3AD203B41FA5}">
                      <a16:colId xmlns:a16="http://schemas.microsoft.com/office/drawing/2014/main" val="20006"/>
                    </a:ext>
                  </a:extLst>
                </a:gridCol>
                <a:gridCol w="776294">
                  <a:extLst>
                    <a:ext uri="{9D8B030D-6E8A-4147-A177-3AD203B41FA5}">
                      <a16:colId xmlns:a16="http://schemas.microsoft.com/office/drawing/2014/main" val="20007"/>
                    </a:ext>
                  </a:extLst>
                </a:gridCol>
                <a:gridCol w="776294">
                  <a:extLst>
                    <a:ext uri="{9D8B030D-6E8A-4147-A177-3AD203B41FA5}">
                      <a16:colId xmlns:a16="http://schemas.microsoft.com/office/drawing/2014/main" val="20008"/>
                    </a:ext>
                  </a:extLst>
                </a:gridCol>
                <a:gridCol w="846866">
                  <a:extLst>
                    <a:ext uri="{9D8B030D-6E8A-4147-A177-3AD203B41FA5}">
                      <a16:colId xmlns:a16="http://schemas.microsoft.com/office/drawing/2014/main" val="20009"/>
                    </a:ext>
                  </a:extLst>
                </a:gridCol>
              </a:tblGrid>
              <a:tr h="48038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anchor="ctr" horzOverflow="overflow">
                    <a:lnL cap="flat">
                      <a:noFill/>
                    </a:lnL>
                    <a:lnR>
                      <a:noFill/>
                    </a:lnR>
                    <a:lnT cap="fla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Operating and Maintenance Costs</a:t>
                      </a:r>
                      <a:br>
                        <a:rPr kumimoji="0" lang="en-US" sz="1600" b="1" i="0" u="none" strike="noStrike" cap="none" normalizeH="0" baseline="0" dirty="0">
                          <a:ln>
                            <a:noFill/>
                          </a:ln>
                          <a:solidFill>
                            <a:schemeClr val="tx1"/>
                          </a:solidFill>
                          <a:effectLst/>
                          <a:latin typeface="Times New Roman" pitchFamily="1" charset="0"/>
                        </a:rPr>
                      </a:br>
                      <a:r>
                        <a:rPr kumimoji="0" lang="en-US" sz="1600" b="1" i="0" u="none" strike="noStrike" cap="none" normalizeH="0" baseline="0" dirty="0">
                          <a:ln>
                            <a:noFill/>
                          </a:ln>
                          <a:solidFill>
                            <a:schemeClr val="tx1"/>
                          </a:solidFill>
                          <a:effectLst/>
                          <a:latin typeface="Times New Roman" pitchFamily="1" charset="0"/>
                        </a:rPr>
                        <a:t>for Ownership Year</a:t>
                      </a:r>
                    </a:p>
                  </a:txBody>
                  <a:tcPr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anchor="ctr" horzOverflow="overflow">
                    <a:lnL>
                      <a:noFill/>
                    </a:lnL>
                    <a:lnR>
                      <a:noFill/>
                    </a:lnR>
                    <a:lnT cap="fla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Trade-in Value at End</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of Ownership Year</a:t>
                      </a:r>
                    </a:p>
                  </a:txBody>
                  <a:tcPr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2701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Purchase</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Price</a:t>
                      </a:r>
                      <a:endParaRPr kumimoji="0" lang="en-US" sz="1600" b="0" i="0" u="none" strike="noStrike" cap="none" normalizeH="0" baseline="0">
                        <a:ln>
                          <a:noFill/>
                        </a:ln>
                        <a:solidFill>
                          <a:schemeClr val="tx1"/>
                        </a:solidFill>
                        <a:effectLst/>
                        <a:latin typeface="Times New Roman" pitchFamily="1"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1</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2</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3</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4</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a:ln>
                          <a:noFill/>
                        </a:ln>
                        <a:solidFill>
                          <a:schemeClr val="tx1"/>
                        </a:solidFill>
                        <a:effectLst/>
                        <a:latin typeface="Times New Roman" pitchFamily="1"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1</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2</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3</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4</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73634">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$12,000</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$2,000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$3,000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$4,500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$6,500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$8,500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$6,500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$4,500</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$3,000</a:t>
                      </a: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68876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Planning as a Shortest Path Problem</a:t>
            </a:r>
          </a:p>
        </p:txBody>
      </p:sp>
      <p:sp>
        <p:nvSpPr>
          <p:cNvPr id="3" name="Content Placeholder 2"/>
          <p:cNvSpPr>
            <a:spLocks noGrp="1"/>
          </p:cNvSpPr>
          <p:nvPr>
            <p:ph idx="1"/>
          </p:nvPr>
        </p:nvSpPr>
        <p:spPr/>
        <p:txBody>
          <a:bodyPr/>
          <a:lstStyle/>
          <a:p>
            <a:r>
              <a:rPr lang="en-US" b="1" u="sng" dirty="0">
                <a:ea typeface="ＭＳ Ｐゴシック"/>
              </a:rPr>
              <a:t>Case: Sarah’s Car Purchase Problem (Chapter 6.4):</a:t>
            </a:r>
          </a:p>
          <a:p>
            <a:pPr lvl="1">
              <a:lnSpc>
                <a:spcPct val="80000"/>
              </a:lnSpc>
            </a:pPr>
            <a:r>
              <a:rPr lang="en-US" dirty="0"/>
              <a:t>Network representation:</a:t>
            </a:r>
          </a:p>
        </p:txBody>
      </p:sp>
      <p:pic>
        <p:nvPicPr>
          <p:cNvPr id="6" name="Picture 51"/>
          <p:cNvPicPr>
            <a:picLocks noChangeAspect="1" noChangeArrowheads="1"/>
          </p:cNvPicPr>
          <p:nvPr/>
        </p:nvPicPr>
        <p:blipFill>
          <a:blip r:embed="rId2" cstate="print"/>
          <a:srcRect/>
          <a:stretch>
            <a:fillRect/>
          </a:stretch>
        </p:blipFill>
        <p:spPr bwMode="auto">
          <a:xfrm>
            <a:off x="2119993" y="2816678"/>
            <a:ext cx="8153400" cy="3633788"/>
          </a:xfrm>
          <a:prstGeom prst="rect">
            <a:avLst/>
          </a:prstGeom>
          <a:noFill/>
          <a:ln w="9525">
            <a:noFill/>
            <a:miter lim="800000"/>
            <a:headEnd/>
            <a:tailEnd/>
          </a:ln>
        </p:spPr>
      </p:pic>
      <p:sp>
        <p:nvSpPr>
          <p:cNvPr id="7" name="Rectangle 5"/>
          <p:cNvSpPr>
            <a:spLocks noChangeArrowheads="1"/>
          </p:cNvSpPr>
          <p:nvPr/>
        </p:nvSpPr>
        <p:spPr bwMode="auto">
          <a:xfrm>
            <a:off x="3586843" y="2125436"/>
            <a:ext cx="5219700" cy="417739"/>
          </a:xfrm>
          <a:prstGeom prst="rect">
            <a:avLst/>
          </a:prstGeom>
          <a:noFill/>
          <a:ln w="38100" algn="ctr">
            <a:solidFill>
              <a:srgbClr val="C00000"/>
            </a:solidFill>
            <a:round/>
            <a:headEnd/>
            <a:tailEnd/>
          </a:ln>
        </p:spPr>
        <p:txBody>
          <a:bodyPr/>
          <a:lstStyle/>
          <a:p>
            <a:r>
              <a:rPr lang="en-US" dirty="0">
                <a:sym typeface="Wingdings" pitchFamily="2" charset="2"/>
              </a:rPr>
              <a:t> </a:t>
            </a:r>
            <a:r>
              <a:rPr lang="en-US" dirty="0"/>
              <a:t>Arc length = Purchase Price + O/M Costs – Trade-In</a:t>
            </a:r>
          </a:p>
        </p:txBody>
      </p:sp>
    </p:spTree>
    <p:extLst>
      <p:ext uri="{BB962C8B-B14F-4D97-AF65-F5344CB8AC3E}">
        <p14:creationId xmlns:p14="http://schemas.microsoft.com/office/powerpoint/2010/main" val="4588526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Planning as a Shortest Path Problem</a:t>
            </a:r>
          </a:p>
        </p:txBody>
      </p:sp>
      <p:sp>
        <p:nvSpPr>
          <p:cNvPr id="3" name="Content Placeholder 2"/>
          <p:cNvSpPr>
            <a:spLocks noGrp="1"/>
          </p:cNvSpPr>
          <p:nvPr>
            <p:ph idx="1"/>
          </p:nvPr>
        </p:nvSpPr>
        <p:spPr/>
        <p:txBody>
          <a:bodyPr/>
          <a:lstStyle/>
          <a:p>
            <a:r>
              <a:rPr lang="en-US" b="1" u="sng" dirty="0">
                <a:ea typeface="ＭＳ Ｐゴシック"/>
              </a:rPr>
              <a:t>Case: Sarah’s Car Purchase Problem (Chapter 6.4):</a:t>
            </a:r>
          </a:p>
          <a:p>
            <a:pPr lvl="1">
              <a:lnSpc>
                <a:spcPct val="80000"/>
              </a:lnSpc>
            </a:pPr>
            <a:r>
              <a:rPr lang="en-US" b="1" dirty="0">
                <a:solidFill>
                  <a:srgbClr val="C00000"/>
                </a:solidFill>
              </a:rPr>
              <a:t>Spreadsheet model:</a:t>
            </a:r>
          </a:p>
        </p:txBody>
      </p:sp>
      <p:graphicFrame>
        <p:nvGraphicFramePr>
          <p:cNvPr id="8" name="Object 7"/>
          <p:cNvGraphicFramePr>
            <a:graphicFrameLocks noChangeAspect="1"/>
          </p:cNvGraphicFramePr>
          <p:nvPr>
            <p:extLst>
              <p:ext uri="{D42A27DB-BD31-4B8C-83A1-F6EECF244321}">
                <p14:modId xmlns:p14="http://schemas.microsoft.com/office/powerpoint/2010/main" val="2270281477"/>
              </p:ext>
            </p:extLst>
          </p:nvPr>
        </p:nvGraphicFramePr>
        <p:xfrm>
          <a:off x="2169907" y="2325315"/>
          <a:ext cx="7848600" cy="3959225"/>
        </p:xfrm>
        <a:graphic>
          <a:graphicData uri="http://schemas.openxmlformats.org/presentationml/2006/ole">
            <mc:AlternateContent xmlns:mc="http://schemas.openxmlformats.org/markup-compatibility/2006">
              <mc:Choice xmlns:v="urn:schemas-microsoft-com:vml" Requires="v">
                <p:oleObj name="Worksheet" r:id="rId2" imgW="6821424" imgH="3374136" progId="Excel.Sheet.8">
                  <p:embed/>
                </p:oleObj>
              </mc:Choice>
              <mc:Fallback>
                <p:oleObj name="Worksheet" r:id="rId2" imgW="6821424" imgH="3374136" progId="Excel.Sheet.8">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907" y="2325315"/>
                        <a:ext cx="7848600" cy="39592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192621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Minimum-Cost Flow Problem (Chapter 6.1)</a:t>
            </a:r>
          </a:p>
          <a:p>
            <a:r>
              <a:rPr lang="en-US" dirty="0">
                <a:solidFill>
                  <a:schemeClr val="bg2"/>
                </a:solidFill>
              </a:rPr>
              <a:t>Maximum Flow Problem (Chapter 6.2 - 6.3)</a:t>
            </a:r>
          </a:p>
          <a:p>
            <a:r>
              <a:rPr lang="en-US" dirty="0">
                <a:solidFill>
                  <a:schemeClr val="bg2"/>
                </a:solidFill>
              </a:rPr>
              <a:t>Shortest Path Problem (Chapter 6.4)</a:t>
            </a:r>
          </a:p>
          <a:p>
            <a:r>
              <a:rPr lang="en-US" dirty="0">
                <a:solidFill>
                  <a:schemeClr val="bg2"/>
                </a:solidFill>
              </a:rPr>
              <a:t>Minimum Spanning Tree Problem (Chapter 6S)</a:t>
            </a:r>
          </a:p>
          <a:p>
            <a:r>
              <a:rPr lang="en-US" dirty="0">
                <a:solidFill>
                  <a:schemeClr val="bg2"/>
                </a:solidFill>
              </a:rPr>
              <a:t>Network Modifications (not in the textbook)</a:t>
            </a:r>
          </a:p>
          <a:p>
            <a:r>
              <a:rPr lang="en-US" dirty="0">
                <a:solidFill>
                  <a:schemeClr val="bg2"/>
                </a:solidFill>
              </a:rPr>
              <a:t>Network Optimization Cases (Chapter 6)</a:t>
            </a:r>
          </a:p>
          <a:p>
            <a:r>
              <a:rPr lang="en-US" dirty="0"/>
              <a:t>Further Cases</a:t>
            </a:r>
          </a:p>
          <a:p>
            <a:endParaRPr lang="en-US" dirty="0"/>
          </a:p>
          <a:p>
            <a:pPr lvl="5"/>
            <a:endParaRPr lang="en-US" dirty="0"/>
          </a:p>
          <a:p>
            <a:endParaRPr lang="en-US" dirty="0"/>
          </a:p>
        </p:txBody>
      </p:sp>
    </p:spTree>
    <p:extLst>
      <p:ext uri="{BB962C8B-B14F-4D97-AF65-F5344CB8AC3E}">
        <p14:creationId xmlns:p14="http://schemas.microsoft.com/office/powerpoint/2010/main" val="1536590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Shortest Path Problem</a:t>
            </a:r>
          </a:p>
        </p:txBody>
      </p:sp>
      <p:sp>
        <p:nvSpPr>
          <p:cNvPr id="3" name="Content Placeholder 2"/>
          <p:cNvSpPr>
            <a:spLocks noGrp="1"/>
          </p:cNvSpPr>
          <p:nvPr>
            <p:ph idx="1"/>
          </p:nvPr>
        </p:nvSpPr>
        <p:spPr/>
        <p:txBody>
          <a:bodyPr/>
          <a:lstStyle/>
          <a:p>
            <a:r>
              <a:rPr lang="en-US" b="1" u="sng" dirty="0">
                <a:ea typeface="ＭＳ Ｐゴシック"/>
              </a:rPr>
              <a:t>Case: Quick Co. Product Development Scheduling Problem (Chapter 6.4): </a:t>
            </a:r>
          </a:p>
          <a:p>
            <a:pPr lvl="1">
              <a:lnSpc>
                <a:spcPct val="80000"/>
              </a:lnSpc>
            </a:pPr>
            <a:r>
              <a:rPr lang="en-US" dirty="0"/>
              <a:t>The Quick Company has learned that a competitor is planning to come out with a new kind of product with great sales potential.  </a:t>
            </a:r>
          </a:p>
          <a:p>
            <a:pPr lvl="2">
              <a:lnSpc>
                <a:spcPct val="80000"/>
              </a:lnSpc>
            </a:pPr>
            <a:r>
              <a:rPr lang="en-US" dirty="0"/>
              <a:t>Quick has been working on a similar product that had been scheduled to come to market in 20 months.  Quick’s management wishes to rush the product out to meet the competition.</a:t>
            </a:r>
          </a:p>
          <a:p>
            <a:pPr lvl="2">
              <a:lnSpc>
                <a:spcPct val="80000"/>
              </a:lnSpc>
            </a:pPr>
            <a:r>
              <a:rPr lang="en-US" dirty="0"/>
              <a:t>Each of four remaining phases can be conducted at a normal pace, at a priority pace, or at crash level to expedite completion. However, the normal pace has been ruled out as too slow for the last three phases.</a:t>
            </a:r>
          </a:p>
          <a:p>
            <a:pPr lvl="2">
              <a:lnSpc>
                <a:spcPct val="80000"/>
              </a:lnSpc>
            </a:pPr>
            <a:r>
              <a:rPr lang="en-US" dirty="0"/>
              <a:t>$30 million is available for all four phases.</a:t>
            </a:r>
          </a:p>
          <a:p>
            <a:pPr lvl="1">
              <a:lnSpc>
                <a:spcPct val="80000"/>
              </a:lnSpc>
            </a:pPr>
            <a:r>
              <a:rPr lang="en-US" b="1" dirty="0"/>
              <a:t>Question: </a:t>
            </a:r>
            <a:r>
              <a:rPr lang="en-US" dirty="0"/>
              <a:t>At what pace should each of the phases be conducted?</a:t>
            </a:r>
          </a:p>
        </p:txBody>
      </p:sp>
    </p:spTree>
    <p:extLst>
      <p:ext uri="{BB962C8B-B14F-4D97-AF65-F5344CB8AC3E}">
        <p14:creationId xmlns:p14="http://schemas.microsoft.com/office/powerpoint/2010/main" val="28527388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Shortest Path Problem</a:t>
            </a:r>
          </a:p>
        </p:txBody>
      </p:sp>
      <p:sp>
        <p:nvSpPr>
          <p:cNvPr id="3" name="Content Placeholder 2"/>
          <p:cNvSpPr>
            <a:spLocks noGrp="1"/>
          </p:cNvSpPr>
          <p:nvPr>
            <p:ph idx="1"/>
          </p:nvPr>
        </p:nvSpPr>
        <p:spPr/>
        <p:txBody>
          <a:bodyPr/>
          <a:lstStyle/>
          <a:p>
            <a:r>
              <a:rPr lang="en-US" b="1" u="sng" dirty="0">
                <a:ea typeface="ＭＳ Ｐゴシック"/>
              </a:rPr>
              <a:t>Case: Quick Co. Product Development Scheduling Problem (Chapter 6.4): </a:t>
            </a:r>
          </a:p>
        </p:txBody>
      </p:sp>
      <p:graphicFrame>
        <p:nvGraphicFramePr>
          <p:cNvPr id="4" name="Group 206"/>
          <p:cNvGraphicFramePr>
            <a:graphicFrameLocks/>
          </p:cNvGraphicFramePr>
          <p:nvPr>
            <p:extLst>
              <p:ext uri="{D42A27DB-BD31-4B8C-83A1-F6EECF244321}">
                <p14:modId xmlns:p14="http://schemas.microsoft.com/office/powerpoint/2010/main" val="4147861062"/>
              </p:ext>
            </p:extLst>
          </p:nvPr>
        </p:nvGraphicFramePr>
        <p:xfrm>
          <a:off x="1121229" y="2090058"/>
          <a:ext cx="6705599" cy="3992880"/>
        </p:xfrm>
        <a:graphic>
          <a:graphicData uri="http://schemas.openxmlformats.org/drawingml/2006/table">
            <a:tbl>
              <a:tblPr/>
              <a:tblGrid>
                <a:gridCol w="1042810">
                  <a:extLst>
                    <a:ext uri="{9D8B030D-6E8A-4147-A177-3AD203B41FA5}">
                      <a16:colId xmlns:a16="http://schemas.microsoft.com/office/drawing/2014/main" val="20000"/>
                    </a:ext>
                  </a:extLst>
                </a:gridCol>
                <a:gridCol w="1260122">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77584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Level</a:t>
                      </a:r>
                    </a:p>
                  </a:txBody>
                  <a:tcPr anchor="b"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Remaining</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Research</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Development</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Design of</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Mfg. System</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Initiate Production</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and Distribution</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Normal</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 months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Priority</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 months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 months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 months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 months</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Crash</a:t>
                      </a:r>
                    </a:p>
                  </a:txBody>
                  <a:tcPr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 months</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 months</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 months</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 month</a:t>
                      </a:r>
                    </a:p>
                  </a:txBody>
                  <a:tcPr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7584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Level</a:t>
                      </a:r>
                    </a:p>
                  </a:txBody>
                  <a:tcPr anchor="b"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Remaining</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Research</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Development</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Design of</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Mfg. System</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Initiate Production</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and Distribution</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Normal</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 million</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Priority</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 million</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 million</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$9 million</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 million</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1608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Crash</a:t>
                      </a:r>
                    </a:p>
                  </a:txBody>
                  <a:tcPr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 million</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9 million</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12 million</a:t>
                      </a:r>
                    </a:p>
                  </a:txBody>
                  <a:tcPr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6 million</a:t>
                      </a:r>
                    </a:p>
                  </a:txBody>
                  <a:tcPr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TextBox 4"/>
          <p:cNvSpPr txBox="1"/>
          <p:nvPr/>
        </p:nvSpPr>
        <p:spPr>
          <a:xfrm>
            <a:off x="8556171" y="2950029"/>
            <a:ext cx="3277241" cy="1477328"/>
          </a:xfrm>
          <a:prstGeom prst="rect">
            <a:avLst/>
          </a:prstGeom>
          <a:noFill/>
        </p:spPr>
        <p:txBody>
          <a:bodyPr wrap="square" rtlCol="0">
            <a:spAutoFit/>
          </a:bodyPr>
          <a:lstStyle/>
          <a:p>
            <a:r>
              <a:rPr lang="en-US" dirty="0"/>
              <a:t>We can construct a network such that each node corresponds to a state, which includes the phase completed and remaining budget</a:t>
            </a:r>
          </a:p>
        </p:txBody>
      </p:sp>
    </p:spTree>
    <p:extLst>
      <p:ext uri="{BB962C8B-B14F-4D97-AF65-F5344CB8AC3E}">
        <p14:creationId xmlns:p14="http://schemas.microsoft.com/office/powerpoint/2010/main" val="10229798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Shortest Path Problem</a:t>
            </a:r>
          </a:p>
        </p:txBody>
      </p:sp>
      <p:sp>
        <p:nvSpPr>
          <p:cNvPr id="3" name="Content Placeholder 2"/>
          <p:cNvSpPr>
            <a:spLocks noGrp="1"/>
          </p:cNvSpPr>
          <p:nvPr>
            <p:ph idx="1"/>
          </p:nvPr>
        </p:nvSpPr>
        <p:spPr/>
        <p:txBody>
          <a:bodyPr/>
          <a:lstStyle/>
          <a:p>
            <a:r>
              <a:rPr lang="en-US" b="1" u="sng" dirty="0">
                <a:ea typeface="ＭＳ Ｐゴシック"/>
              </a:rPr>
              <a:t>Case: Quick Co. Product Development Scheduling Problem (Chapter 6.4):</a:t>
            </a:r>
          </a:p>
          <a:p>
            <a:pPr lvl="1"/>
            <a:r>
              <a:rPr lang="en-US" dirty="0">
                <a:ea typeface="ＭＳ Ｐゴシック"/>
              </a:rPr>
              <a:t>A network representation: </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5229" y="1829098"/>
            <a:ext cx="7543800"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340429" y="5715298"/>
            <a:ext cx="7543800" cy="461665"/>
          </a:xfrm>
          <a:prstGeom prst="rect">
            <a:avLst/>
          </a:prstGeom>
        </p:spPr>
        <p:txBody>
          <a:bodyPr wrap="square">
            <a:spAutoFit/>
          </a:bodyPr>
          <a:lstStyle/>
          <a:p>
            <a:pPr>
              <a:buFontTx/>
              <a:buNone/>
            </a:pPr>
            <a:r>
              <a:rPr lang="en-US" dirty="0"/>
              <a:t>State:  (# of phases complete, remaining budget)</a:t>
            </a:r>
          </a:p>
        </p:txBody>
      </p:sp>
    </p:spTree>
    <p:extLst>
      <p:ext uri="{BB962C8B-B14F-4D97-AF65-F5344CB8AC3E}">
        <p14:creationId xmlns:p14="http://schemas.microsoft.com/office/powerpoint/2010/main" val="12199187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Shortest Path Problem</a:t>
            </a:r>
          </a:p>
        </p:txBody>
      </p:sp>
      <p:sp>
        <p:nvSpPr>
          <p:cNvPr id="3" name="Content Placeholder 2"/>
          <p:cNvSpPr>
            <a:spLocks noGrp="1"/>
          </p:cNvSpPr>
          <p:nvPr>
            <p:ph idx="1"/>
          </p:nvPr>
        </p:nvSpPr>
        <p:spPr/>
        <p:txBody>
          <a:bodyPr/>
          <a:lstStyle/>
          <a:p>
            <a:r>
              <a:rPr lang="en-US" b="1" u="sng" dirty="0">
                <a:ea typeface="ＭＳ Ｐゴシック"/>
              </a:rPr>
              <a:t>Case: Quick Co. Product Development Scheduling Problem (Chapter 6.4):</a:t>
            </a:r>
          </a:p>
          <a:p>
            <a:pPr lvl="1"/>
            <a:r>
              <a:rPr lang="en-US" b="1" dirty="0">
                <a:solidFill>
                  <a:srgbClr val="C00000"/>
                </a:solidFill>
                <a:ea typeface="ＭＳ Ｐゴシック"/>
              </a:rPr>
              <a:t>Spreadsheet model: </a:t>
            </a:r>
          </a:p>
        </p:txBody>
      </p:sp>
      <p:graphicFrame>
        <p:nvGraphicFramePr>
          <p:cNvPr id="8" name="Object 7"/>
          <p:cNvGraphicFramePr>
            <a:graphicFrameLocks noChangeAspect="1"/>
          </p:cNvGraphicFramePr>
          <p:nvPr>
            <p:extLst>
              <p:ext uri="{D42A27DB-BD31-4B8C-83A1-F6EECF244321}">
                <p14:modId xmlns:p14="http://schemas.microsoft.com/office/powerpoint/2010/main" val="1009574625"/>
              </p:ext>
            </p:extLst>
          </p:nvPr>
        </p:nvGraphicFramePr>
        <p:xfrm>
          <a:off x="1088571" y="2313379"/>
          <a:ext cx="5889171" cy="4254190"/>
        </p:xfrm>
        <a:graphic>
          <a:graphicData uri="http://schemas.openxmlformats.org/presentationml/2006/ole">
            <mc:AlternateContent xmlns:mc="http://schemas.openxmlformats.org/markup-compatibility/2006">
              <mc:Choice xmlns:v="urn:schemas-microsoft-com:vml" Requires="v">
                <p:oleObj name="Worksheet" r:id="rId2" imgW="6531864" imgH="4718304" progId="Excel.Sheet.8">
                  <p:embed/>
                </p:oleObj>
              </mc:Choice>
              <mc:Fallback>
                <p:oleObj name="Worksheet" r:id="rId2" imgW="6531864" imgH="4718304" progId="Excel.Sheet.8">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571" y="2313379"/>
                        <a:ext cx="5889171" cy="4254190"/>
                      </a:xfrm>
                      <a:prstGeom prst="rect">
                        <a:avLst/>
                      </a:prstGeom>
                      <a:noFill/>
                      <a:ln>
                        <a:noFill/>
                      </a:ln>
                      <a:effectLst/>
                    </p:spPr>
                  </p:pic>
                </p:oleObj>
              </mc:Fallback>
            </mc:AlternateContent>
          </a:graphicData>
        </a:graphic>
      </p:graphicFrame>
      <p:graphicFrame>
        <p:nvGraphicFramePr>
          <p:cNvPr id="9" name="Group 100"/>
          <p:cNvGraphicFramePr>
            <a:graphicFrameLocks/>
          </p:cNvGraphicFramePr>
          <p:nvPr>
            <p:extLst>
              <p:ext uri="{D42A27DB-BD31-4B8C-83A1-F6EECF244321}">
                <p14:modId xmlns:p14="http://schemas.microsoft.com/office/powerpoint/2010/main" val="2839446411"/>
              </p:ext>
            </p:extLst>
          </p:nvPr>
        </p:nvGraphicFramePr>
        <p:xfrm>
          <a:off x="7815943" y="2911031"/>
          <a:ext cx="3635828" cy="2667000"/>
        </p:xfrm>
        <a:graphic>
          <a:graphicData uri="http://schemas.openxmlformats.org/drawingml/2006/table">
            <a:tbl>
              <a:tblPr>
                <a:tableStyleId>{616DA210-FB5B-4158-B5E0-FEB733F419BA}</a:tableStyleId>
              </a:tblPr>
              <a:tblGrid>
                <a:gridCol w="1615923">
                  <a:extLst>
                    <a:ext uri="{9D8B030D-6E8A-4147-A177-3AD203B41FA5}">
                      <a16:colId xmlns:a16="http://schemas.microsoft.com/office/drawing/2014/main" val="20000"/>
                    </a:ext>
                  </a:extLst>
                </a:gridCol>
                <a:gridCol w="661060">
                  <a:extLst>
                    <a:ext uri="{9D8B030D-6E8A-4147-A177-3AD203B41FA5}">
                      <a16:colId xmlns:a16="http://schemas.microsoft.com/office/drawing/2014/main" val="20001"/>
                    </a:ext>
                  </a:extLst>
                </a:gridCol>
                <a:gridCol w="661060">
                  <a:extLst>
                    <a:ext uri="{9D8B030D-6E8A-4147-A177-3AD203B41FA5}">
                      <a16:colId xmlns:a16="http://schemas.microsoft.com/office/drawing/2014/main" val="20002"/>
                    </a:ext>
                  </a:extLst>
                </a:gridCol>
                <a:gridCol w="697785">
                  <a:extLst>
                    <a:ext uri="{9D8B030D-6E8A-4147-A177-3AD203B41FA5}">
                      <a16:colId xmlns:a16="http://schemas.microsoft.com/office/drawing/2014/main" val="20003"/>
                    </a:ext>
                  </a:extLst>
                </a:gridCol>
              </a:tblGrid>
              <a:tr h="3810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b="1" u="none" strike="noStrike" cap="none" normalizeH="0" baseline="0" dirty="0">
                          <a:ln>
                            <a:noFill/>
                          </a:ln>
                          <a:effectLst/>
                        </a:rPr>
                        <a:t>Phase</a:t>
                      </a:r>
                      <a:endParaRPr kumimoji="0" lang="en-US" sz="1200" b="1" i="0" u="none" strike="noStrike" cap="none" normalizeH="0" baseline="0" dirty="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u="none" strike="noStrike" cap="none" normalizeH="0" baseline="0">
                          <a:ln>
                            <a:noFill/>
                          </a:ln>
                          <a:effectLst/>
                        </a:rPr>
                        <a:t>Level</a:t>
                      </a:r>
                      <a:endParaRPr kumimoji="0" lang="en-US" sz="1200" b="1"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u="none" strike="noStrike" cap="none" normalizeH="0" baseline="0">
                          <a:ln>
                            <a:noFill/>
                          </a:ln>
                          <a:effectLst/>
                        </a:rPr>
                        <a:t>Time</a:t>
                      </a:r>
                      <a:endParaRPr kumimoji="0" lang="en-US" sz="1200" b="1"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u="none" strike="noStrike" cap="none" normalizeH="0" baseline="0" dirty="0">
                          <a:ln>
                            <a:noFill/>
                          </a:ln>
                          <a:effectLst/>
                        </a:rPr>
                        <a:t>Cost</a:t>
                      </a:r>
                      <a:endParaRPr kumimoji="0" lang="en-US" sz="1200" b="1" i="0" u="none" strike="noStrike" cap="none" normalizeH="0" baseline="0" dirty="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Remaining research</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Crash</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2 months</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$9 million</a:t>
                      </a:r>
                      <a:endParaRPr kumimoji="0" lang="en-US" sz="1200" b="0" i="0" u="none" strike="noStrike" cap="none" normalizeH="0" baseline="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Development</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Priority</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3 months</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6 million</a:t>
                      </a:r>
                      <a:endParaRPr kumimoji="0" lang="en-US" sz="1200" b="0" i="0" u="none" strike="noStrike" cap="none" normalizeH="0" baseline="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dirty="0">
                          <a:ln>
                            <a:noFill/>
                          </a:ln>
                          <a:effectLst/>
                        </a:rPr>
                        <a:t>Design of manufacturing system</a:t>
                      </a:r>
                      <a:endParaRPr kumimoji="0" lang="en-US" sz="1200" b="0" i="0" u="none" strike="noStrike" cap="none" normalizeH="0" baseline="0" dirty="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Crash</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3 months</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12 million</a:t>
                      </a:r>
                      <a:endParaRPr kumimoji="0" lang="en-US" sz="1200" b="0" i="0" u="none" strike="noStrike" cap="none" normalizeH="0" baseline="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3"/>
                  </a:ext>
                </a:extLst>
              </a:tr>
              <a:tr h="45720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Initiate production and distribution</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a:ln>
                            <a:noFill/>
                          </a:ln>
                          <a:effectLst/>
                        </a:rPr>
                        <a:t>Priority</a:t>
                      </a:r>
                      <a:endParaRPr kumimoji="0" lang="en-US" sz="1200" b="0" i="0" u="none"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sng" strike="noStrike" cap="none" normalizeH="0" baseline="0">
                          <a:ln>
                            <a:noFill/>
                          </a:ln>
                          <a:effectLst/>
                        </a:rPr>
                        <a:t>2 months</a:t>
                      </a:r>
                      <a:endParaRPr kumimoji="0" lang="en-US" sz="1200" b="0" i="0" u="sng" strike="noStrike" cap="none" normalizeH="0" baseline="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sng" strike="noStrike" cap="none" normalizeH="0" baseline="0">
                          <a:ln>
                            <a:noFill/>
                          </a:ln>
                          <a:effectLst/>
                        </a:rPr>
                        <a:t>3 million</a:t>
                      </a:r>
                      <a:endParaRPr kumimoji="0" lang="en-US" sz="1200" b="0" i="0" u="none" strike="noStrike" cap="none" normalizeH="0" baseline="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4"/>
                  </a:ext>
                </a:extLst>
              </a:tr>
              <a:tr h="381000">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dirty="0">
                          <a:ln>
                            <a:noFill/>
                          </a:ln>
                          <a:effectLst/>
                        </a:rPr>
                        <a:t>Total</a:t>
                      </a:r>
                      <a:endParaRPr kumimoji="0" lang="en-US" sz="1200" b="0" i="0" u="none" strike="noStrike" cap="none" normalizeH="0" baseline="0" dirty="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dirty="0">
                          <a:ln>
                            <a:noFill/>
                          </a:ln>
                          <a:effectLst/>
                        </a:rPr>
                        <a:t>10 months</a:t>
                      </a:r>
                      <a:endParaRPr kumimoji="0" lang="en-US" sz="1200" b="0" i="0" u="none" strike="noStrike" cap="none" normalizeH="0" baseline="0" dirty="0">
                        <a:ln>
                          <a:noFill/>
                        </a:ln>
                        <a:solidFill>
                          <a:schemeClr val="tx1"/>
                        </a:solidFill>
                        <a:effectLst/>
                        <a:latin typeface="Times New Roman" pitchFamily="1" charset="0"/>
                      </a:endParaRPr>
                    </a:p>
                  </a:txBody>
                  <a:tcPr horzOverflow="overflow"/>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u="none" strike="noStrike" cap="none" normalizeH="0" baseline="0" dirty="0">
                          <a:ln>
                            <a:noFill/>
                          </a:ln>
                          <a:effectLst/>
                        </a:rPr>
                        <a:t>$30 million</a:t>
                      </a:r>
                      <a:endParaRPr kumimoji="0" lang="en-US" sz="1200" b="0" i="0" u="none" strike="noStrike" cap="none" normalizeH="0" baseline="0" dirty="0">
                        <a:ln>
                          <a:noFill/>
                        </a:ln>
                        <a:solidFill>
                          <a:schemeClr val="tx1"/>
                        </a:solidFill>
                        <a:effectLst/>
                        <a:latin typeface="Times New Roman" pitchFamily="1" charset="0"/>
                      </a:endParaRPr>
                    </a:p>
                  </a:txBody>
                  <a:tcPr horzOverflow="overflow"/>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839548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Maximum Flow Problem</a:t>
            </a:r>
          </a:p>
        </p:txBody>
      </p:sp>
      <p:sp>
        <p:nvSpPr>
          <p:cNvPr id="3" name="Content Placeholder 2"/>
          <p:cNvSpPr>
            <a:spLocks noGrp="1"/>
          </p:cNvSpPr>
          <p:nvPr>
            <p:ph idx="1"/>
          </p:nvPr>
        </p:nvSpPr>
        <p:spPr>
          <a:xfrm>
            <a:off x="355002" y="1312433"/>
            <a:ext cx="11478410" cy="5076937"/>
          </a:xfrm>
        </p:spPr>
        <p:txBody>
          <a:bodyPr>
            <a:normAutofit/>
          </a:bodyPr>
          <a:lstStyle/>
          <a:p>
            <a:r>
              <a:rPr lang="en-US" b="1" u="sng" dirty="0">
                <a:ea typeface="ＭＳ Ｐゴシック"/>
              </a:rPr>
              <a:t>Case: Evacuation Planning (not in the textbook): </a:t>
            </a:r>
          </a:p>
          <a:p>
            <a:pPr lvl="1"/>
            <a:r>
              <a:rPr lang="en-US" dirty="0">
                <a:ea typeface="ＭＳ Ｐゴシック"/>
              </a:rPr>
              <a:t>Suppose that you are planning to come up with an evacuation plan in case of emergency. In particular, your goal is to send as many people as possible from facility A to safe facilities E and F. The network is depicted below. The numbers on the arcs represent the number of people that can travel on the arc per minute.</a:t>
            </a:r>
          </a:p>
          <a:p>
            <a:pPr lvl="1"/>
            <a:endParaRPr lang="en-US" dirty="0">
              <a:ea typeface="ＭＳ Ｐゴシック"/>
            </a:endParaRPr>
          </a:p>
          <a:p>
            <a:pPr lvl="1"/>
            <a:endParaRPr lang="en-US" dirty="0">
              <a:ea typeface="ＭＳ Ｐゴシック"/>
            </a:endParaRPr>
          </a:p>
          <a:p>
            <a:pPr lvl="1"/>
            <a:endParaRPr lang="en-US" dirty="0">
              <a:ea typeface="ＭＳ Ｐゴシック"/>
            </a:endParaRPr>
          </a:p>
          <a:p>
            <a:pPr lvl="1"/>
            <a:endParaRPr lang="en-US" dirty="0">
              <a:ea typeface="ＭＳ Ｐゴシック"/>
            </a:endParaRPr>
          </a:p>
          <a:p>
            <a:pPr lvl="1"/>
            <a:endParaRPr lang="en-US" dirty="0">
              <a:ea typeface="ＭＳ Ｐゴシック"/>
            </a:endParaRPr>
          </a:p>
          <a:p>
            <a:pPr lvl="1"/>
            <a:endParaRPr lang="en-US" dirty="0">
              <a:ea typeface="ＭＳ Ｐゴシック"/>
            </a:endParaRPr>
          </a:p>
          <a:p>
            <a:pPr lvl="1"/>
            <a:r>
              <a:rPr lang="en-US" dirty="0">
                <a:ea typeface="ＭＳ Ｐゴシック"/>
              </a:rPr>
              <a:t>Determine how to evacuate as many people as possible per minute from facility A to facilities E and F by finding how many people will use each link.</a:t>
            </a:r>
          </a:p>
        </p:txBody>
      </p:sp>
      <p:pic>
        <p:nvPicPr>
          <p:cNvPr id="4" name="Picture 3"/>
          <p:cNvPicPr>
            <a:picLocks noChangeAspect="1"/>
          </p:cNvPicPr>
          <p:nvPr/>
        </p:nvPicPr>
        <p:blipFill>
          <a:blip r:embed="rId2"/>
          <a:stretch>
            <a:fillRect/>
          </a:stretch>
        </p:blipFill>
        <p:spPr>
          <a:xfrm>
            <a:off x="2935061" y="3204482"/>
            <a:ext cx="5429250" cy="2038350"/>
          </a:xfrm>
          <a:prstGeom prst="rect">
            <a:avLst/>
          </a:prstGeom>
        </p:spPr>
      </p:pic>
    </p:spTree>
    <p:extLst>
      <p:ext uri="{BB962C8B-B14F-4D97-AF65-F5344CB8AC3E}">
        <p14:creationId xmlns:p14="http://schemas.microsoft.com/office/powerpoint/2010/main" val="2715418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Maximum Flow Problem</a:t>
            </a:r>
          </a:p>
        </p:txBody>
      </p:sp>
      <p:sp>
        <p:nvSpPr>
          <p:cNvPr id="3" name="Content Placeholder 2"/>
          <p:cNvSpPr>
            <a:spLocks noGrp="1"/>
          </p:cNvSpPr>
          <p:nvPr>
            <p:ph idx="1"/>
          </p:nvPr>
        </p:nvSpPr>
        <p:spPr/>
        <p:txBody>
          <a:bodyPr/>
          <a:lstStyle/>
          <a:p>
            <a:r>
              <a:rPr lang="en-US" b="1" u="sng" dirty="0">
                <a:ea typeface="ＭＳ Ｐゴシック"/>
              </a:rPr>
              <a:t>Case: Evacuation Planning (not in the textbook): </a:t>
            </a:r>
          </a:p>
          <a:p>
            <a:pPr lvl="1"/>
            <a:r>
              <a:rPr lang="en-US" dirty="0">
                <a:ea typeface="ＭＳ Ｐゴシック"/>
              </a:rPr>
              <a:t>The problem is a maximum flow problem with source being node A and sinks being nodes E and F. </a:t>
            </a:r>
          </a:p>
          <a:p>
            <a:pPr lvl="2"/>
            <a:r>
              <a:rPr lang="en-US" dirty="0">
                <a:ea typeface="ＭＳ Ｐゴシック"/>
              </a:rPr>
              <a:t>Let F(</a:t>
            </a:r>
            <a:r>
              <a:rPr lang="en-US" dirty="0" err="1">
                <a:ea typeface="ＭＳ Ｐゴシック"/>
              </a:rPr>
              <a:t>i,j</a:t>
            </a:r>
            <a:r>
              <a:rPr lang="en-US" dirty="0">
                <a:ea typeface="ＭＳ Ｐゴシック"/>
              </a:rPr>
              <a:t>) be the flow on arc (</a:t>
            </a:r>
            <a:r>
              <a:rPr lang="en-US" dirty="0" err="1">
                <a:ea typeface="ＭＳ Ｐゴシック"/>
              </a:rPr>
              <a:t>i,j</a:t>
            </a:r>
            <a:r>
              <a:rPr lang="en-US" dirty="0">
                <a:ea typeface="ＭＳ Ｐゴシック"/>
              </a:rPr>
              <a:t>)</a:t>
            </a:r>
          </a:p>
          <a:p>
            <a:pPr lvl="1"/>
            <a:endParaRPr lang="en-US" dirty="0">
              <a:ea typeface="ＭＳ Ｐゴシック"/>
            </a:endParaRPr>
          </a:p>
          <a:p>
            <a:pPr lvl="1"/>
            <a:endParaRPr lang="en-US" dirty="0">
              <a:ea typeface="ＭＳ Ｐゴシック"/>
            </a:endParaRPr>
          </a:p>
        </p:txBody>
      </p:sp>
      <p:sp>
        <p:nvSpPr>
          <p:cNvPr id="5" name="Rectangle 4"/>
          <p:cNvSpPr/>
          <p:nvPr/>
        </p:nvSpPr>
        <p:spPr>
          <a:xfrm>
            <a:off x="1436914" y="3217691"/>
            <a:ext cx="6096000" cy="2959272"/>
          </a:xfrm>
          <a:prstGeom prst="rect">
            <a:avLst/>
          </a:prstGeom>
        </p:spPr>
        <p:txBody>
          <a:bodyPr>
            <a:spAutoFit/>
          </a:bodyPr>
          <a:lstStyle/>
          <a:p>
            <a:pPr marL="4572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Maximize 	F(A,B)+ F(A,C)</a:t>
            </a:r>
          </a:p>
          <a:p>
            <a:pPr marL="4572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Subject to 	F(B,C)+F(B,E)+F(B,D)-F(A,B)=0</a:t>
            </a:r>
          </a:p>
          <a:p>
            <a:pPr marL="13716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F(C,E)-F(A,C)-F(B,C)=0</a:t>
            </a:r>
          </a:p>
          <a:p>
            <a:pPr marL="13716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F(D,F)+F(D,E)-F(B,D)=0</a:t>
            </a:r>
          </a:p>
          <a:p>
            <a:pPr marL="13716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F(A,B)&lt;=50, F(A,C)&lt;=60, 			F(B,C)&lt;=20, F(B,D)&lt;=25			F(B,E)&lt;=55,F(D,E)&lt;=20, 			F(D,F)&lt;=10, F(C,E)&lt;=35</a:t>
            </a:r>
          </a:p>
          <a:p>
            <a:pPr marL="1371600" marR="0" indent="45720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F(</a:t>
            </a:r>
            <a:r>
              <a:rPr lang="en-US" dirty="0" err="1">
                <a:latin typeface="Calibri" panose="020F0502020204030204" pitchFamily="34" charset="0"/>
                <a:ea typeface="Calibri" panose="020F0502020204030204" pitchFamily="34" charset="0"/>
                <a:cs typeface="Times New Roman" panose="02020603050405020304" pitchFamily="18" charset="0"/>
              </a:rPr>
              <a:t>i,j</a:t>
            </a:r>
            <a:r>
              <a:rPr lang="en-US" dirty="0">
                <a:latin typeface="Calibri" panose="020F0502020204030204" pitchFamily="34" charset="0"/>
                <a:ea typeface="Calibri" panose="020F0502020204030204" pitchFamily="34" charset="0"/>
                <a:cs typeface="Times New Roman" panose="02020603050405020304" pitchFamily="18" charset="0"/>
              </a:rPr>
              <a:t>)&gt;=0</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89859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a:xfrm>
            <a:off x="355002" y="1312433"/>
            <a:ext cx="11478410" cy="5180442"/>
          </a:xfrm>
        </p:spPr>
        <p:txBody>
          <a:bodyPr>
            <a:normAutofit lnSpcReduction="10000"/>
          </a:bodyPr>
          <a:lstStyle/>
          <a:p>
            <a:r>
              <a:rPr lang="en-US" b="1" u="sng" dirty="0">
                <a:ea typeface="ＭＳ Ｐゴシック"/>
              </a:rPr>
              <a:t>Case: Production and Distribution Planning (not in the textbook): </a:t>
            </a:r>
          </a:p>
          <a:p>
            <a:pPr lvl="1"/>
            <a:r>
              <a:rPr lang="en-US" dirty="0"/>
              <a:t>Suppose that you are the production and distribution manager of a product which has 3 different sizes: 5lbs packets, 8lbs packets and 10lbs packets. </a:t>
            </a:r>
          </a:p>
          <a:p>
            <a:pPr lvl="2"/>
            <a:r>
              <a:rPr lang="en-US" dirty="0"/>
              <a:t>Your company manufactures all different sizes of this product in the same manufacturing plant.</a:t>
            </a:r>
          </a:p>
          <a:p>
            <a:pPr lvl="2"/>
            <a:r>
              <a:rPr lang="en-US" dirty="0"/>
              <a:t>Then, 5lb packets have to be shipped to Assembly Plant 1, 8lbs packets have to be shipped to Assembly Plant 2, and 10lbs packets have to be shipped to Assembly Plant 3 for their special boxing operations. The products with varying sizes are then shipped to the customers. </a:t>
            </a:r>
          </a:p>
          <a:p>
            <a:pPr lvl="2"/>
            <a:r>
              <a:rPr lang="en-US" dirty="0"/>
              <a:t>The demand for 5lbs packets is 300, the demand for 8lbs packets is 450 and the demand for 10lbs packets is 250. However, if you desire, you can satisfy the demand for a specific size of the product by a larger size of the product (the customers would not say no when they get more).</a:t>
            </a:r>
          </a:p>
          <a:p>
            <a:pPr lvl="2"/>
            <a:endParaRPr lang="en-US" dirty="0"/>
          </a:p>
          <a:p>
            <a:pPr lvl="2"/>
            <a:endParaRPr lang="en-US" dirty="0"/>
          </a:p>
          <a:p>
            <a:pPr lvl="2"/>
            <a:endParaRPr lang="en-US" dirty="0"/>
          </a:p>
          <a:p>
            <a:pPr lvl="2"/>
            <a:endParaRPr lang="en-US" dirty="0"/>
          </a:p>
          <a:p>
            <a:pPr lvl="2"/>
            <a:endParaRPr lang="en-US" b="1"/>
          </a:p>
          <a:p>
            <a:pPr lvl="2"/>
            <a:r>
              <a:rPr lang="en-US" b="1"/>
              <a:t>Question</a:t>
            </a:r>
            <a:r>
              <a:rPr lang="en-US" b="1" dirty="0"/>
              <a:t>: </a:t>
            </a:r>
            <a:r>
              <a:rPr lang="en-US" dirty="0"/>
              <a:t>Determine how many of each different size of this product to produce in your manufacturing plant and how to ship them to the customers so that you minimize the total costs.</a:t>
            </a:r>
            <a:endParaRPr lang="en-US" b="1" u="sng" dirty="0">
              <a:ea typeface="ＭＳ Ｐゴシック"/>
            </a:endParaRPr>
          </a:p>
        </p:txBody>
      </p:sp>
      <p:pic>
        <p:nvPicPr>
          <p:cNvPr id="4" name="Picture 3"/>
          <p:cNvPicPr>
            <a:picLocks noChangeAspect="1"/>
          </p:cNvPicPr>
          <p:nvPr/>
        </p:nvPicPr>
        <p:blipFill>
          <a:blip r:embed="rId2"/>
          <a:stretch>
            <a:fillRect/>
          </a:stretch>
        </p:blipFill>
        <p:spPr>
          <a:xfrm>
            <a:off x="706517" y="4909319"/>
            <a:ext cx="5945707" cy="1099008"/>
          </a:xfrm>
          <a:prstGeom prst="rect">
            <a:avLst/>
          </a:prstGeom>
        </p:spPr>
      </p:pic>
      <p:pic>
        <p:nvPicPr>
          <p:cNvPr id="5" name="Picture 4"/>
          <p:cNvPicPr>
            <a:picLocks noChangeAspect="1"/>
          </p:cNvPicPr>
          <p:nvPr/>
        </p:nvPicPr>
        <p:blipFill>
          <a:blip r:embed="rId3"/>
          <a:stretch>
            <a:fillRect/>
          </a:stretch>
        </p:blipFill>
        <p:spPr>
          <a:xfrm>
            <a:off x="6480243" y="4967910"/>
            <a:ext cx="5945707" cy="1099008"/>
          </a:xfrm>
          <a:prstGeom prst="rect">
            <a:avLst/>
          </a:prstGeom>
        </p:spPr>
      </p:pic>
      <p:sp>
        <p:nvSpPr>
          <p:cNvPr id="6" name="TextBox 5"/>
          <p:cNvSpPr txBox="1"/>
          <p:nvPr/>
        </p:nvSpPr>
        <p:spPr>
          <a:xfrm>
            <a:off x="2656114" y="4629356"/>
            <a:ext cx="2046515" cy="338554"/>
          </a:xfrm>
          <a:prstGeom prst="rect">
            <a:avLst/>
          </a:prstGeom>
          <a:noFill/>
        </p:spPr>
        <p:txBody>
          <a:bodyPr wrap="square" rtlCol="0">
            <a:spAutoFit/>
          </a:bodyPr>
          <a:lstStyle/>
          <a:p>
            <a:r>
              <a:rPr lang="en-US" sz="1600" u="sng" dirty="0"/>
              <a:t>Unit Shipping Costs:</a:t>
            </a:r>
          </a:p>
        </p:txBody>
      </p:sp>
      <p:sp>
        <p:nvSpPr>
          <p:cNvPr id="7" name="TextBox 6"/>
          <p:cNvSpPr txBox="1"/>
          <p:nvPr/>
        </p:nvSpPr>
        <p:spPr>
          <a:xfrm>
            <a:off x="8638774" y="4629356"/>
            <a:ext cx="2046515" cy="338554"/>
          </a:xfrm>
          <a:prstGeom prst="rect">
            <a:avLst/>
          </a:prstGeom>
          <a:noFill/>
        </p:spPr>
        <p:txBody>
          <a:bodyPr wrap="square" rtlCol="0">
            <a:spAutoFit/>
          </a:bodyPr>
          <a:lstStyle/>
          <a:p>
            <a:r>
              <a:rPr lang="en-US" sz="1600" u="sng" dirty="0"/>
              <a:t>Unit Shipping Costs:</a:t>
            </a:r>
          </a:p>
        </p:txBody>
      </p:sp>
    </p:spTree>
    <p:extLst>
      <p:ext uri="{BB962C8B-B14F-4D97-AF65-F5344CB8AC3E}">
        <p14:creationId xmlns:p14="http://schemas.microsoft.com/office/powerpoint/2010/main" val="39907483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p:txBody>
          <a:bodyPr/>
          <a:lstStyle/>
          <a:p>
            <a:r>
              <a:rPr lang="en-US" b="1" u="sng" dirty="0">
                <a:ea typeface="ＭＳ Ｐゴシック"/>
              </a:rPr>
              <a:t>Case: Production and Distribution Planning (not in the textbook): </a:t>
            </a:r>
          </a:p>
          <a:p>
            <a:pPr lvl="1"/>
            <a:r>
              <a:rPr lang="en-US" dirty="0"/>
              <a:t>A network representation:</a:t>
            </a:r>
          </a:p>
        </p:txBody>
      </p:sp>
      <p:pic>
        <p:nvPicPr>
          <p:cNvPr id="8" name="Picture 7"/>
          <p:cNvPicPr>
            <a:picLocks noChangeAspect="1"/>
          </p:cNvPicPr>
          <p:nvPr/>
        </p:nvPicPr>
        <p:blipFill>
          <a:blip r:embed="rId2"/>
          <a:stretch>
            <a:fillRect/>
          </a:stretch>
        </p:blipFill>
        <p:spPr>
          <a:xfrm>
            <a:off x="1892001" y="2176171"/>
            <a:ext cx="5266964" cy="2571750"/>
          </a:xfrm>
          <a:prstGeom prst="rect">
            <a:avLst/>
          </a:prstGeom>
        </p:spPr>
      </p:pic>
      <p:sp>
        <p:nvSpPr>
          <p:cNvPr id="9" name="Rectangle 8"/>
          <p:cNvSpPr/>
          <p:nvPr/>
        </p:nvSpPr>
        <p:spPr>
          <a:xfrm>
            <a:off x="7576738" y="2385939"/>
            <a:ext cx="4256674" cy="923330"/>
          </a:xfrm>
          <a:prstGeom prst="rect">
            <a:avLst/>
          </a:prstGeom>
        </p:spPr>
        <p:txBody>
          <a:bodyPr wrap="square">
            <a:spAutoFit/>
          </a:bodyPr>
          <a:lstStyle/>
          <a:p>
            <a:r>
              <a:rPr lang="en-US" b="1" u="sng" dirty="0">
                <a:latin typeface="Calibri" panose="020F0502020204030204" pitchFamily="34" charset="0"/>
                <a:ea typeface="Calibri" panose="020F0502020204030204" pitchFamily="34" charset="0"/>
                <a:cs typeface="Times New Roman" panose="02020603050405020304" pitchFamily="18" charset="0"/>
              </a:rPr>
              <a:t>Nodes: </a:t>
            </a:r>
            <a:r>
              <a:rPr lang="en-US" dirty="0">
                <a:latin typeface="Calibri" panose="020F0502020204030204" pitchFamily="34" charset="0"/>
                <a:ea typeface="Calibri" panose="020F0502020204030204" pitchFamily="34" charset="0"/>
                <a:cs typeface="Times New Roman" panose="02020603050405020304" pitchFamily="18" charset="0"/>
              </a:rPr>
              <a:t>manufacturing plant (M), three assembly plants (A1,A2,A3) and 3 different types of customers (C1,C2,C3). </a:t>
            </a:r>
            <a:endParaRPr lang="en-US" dirty="0"/>
          </a:p>
        </p:txBody>
      </p:sp>
      <p:sp>
        <p:nvSpPr>
          <p:cNvPr id="10" name="Rectangle 9"/>
          <p:cNvSpPr/>
          <p:nvPr/>
        </p:nvSpPr>
        <p:spPr>
          <a:xfrm>
            <a:off x="159059" y="4917273"/>
            <a:ext cx="3465884" cy="1169551"/>
          </a:xfrm>
          <a:prstGeom prst="rect">
            <a:avLst/>
          </a:prstGeom>
        </p:spPr>
        <p:txBody>
          <a:bodyPr wrap="square">
            <a:spAutoFit/>
          </a:bodyPr>
          <a:lstStyle/>
          <a:p>
            <a:r>
              <a:rPr lang="en-US" sz="1400" dirty="0">
                <a:latin typeface="Calibri" panose="020F0502020204030204" pitchFamily="34" charset="0"/>
                <a:ea typeface="Calibri" panose="020F0502020204030204" pitchFamily="34" charset="0"/>
                <a:cs typeface="Times New Roman" panose="02020603050405020304" pitchFamily="18" charset="0"/>
              </a:rPr>
              <a:t>From M, we can send products to A1, A2, and A3 depending on their sizes. The flows on these arcs are the production quantities. For instance, </a:t>
            </a:r>
            <a:r>
              <a:rPr lang="en-US" sz="1400" dirty="0"/>
              <a:t>the flow on arc (M,A1) would be the number of 5lbs packets we produce.</a:t>
            </a:r>
          </a:p>
        </p:txBody>
      </p:sp>
      <p:sp>
        <p:nvSpPr>
          <p:cNvPr id="11" name="Rectangle 10"/>
          <p:cNvSpPr/>
          <p:nvPr/>
        </p:nvSpPr>
        <p:spPr>
          <a:xfrm>
            <a:off x="4180115" y="5024994"/>
            <a:ext cx="4125686" cy="1169551"/>
          </a:xfrm>
          <a:prstGeom prst="rect">
            <a:avLst/>
          </a:prstGeom>
        </p:spPr>
        <p:txBody>
          <a:bodyPr wrap="square">
            <a:spAutoFit/>
          </a:bodyPr>
          <a:lstStyle/>
          <a:p>
            <a:r>
              <a:rPr lang="en-US" sz="1400" dirty="0">
                <a:latin typeface="Calibri" panose="020F0502020204030204" pitchFamily="34" charset="0"/>
                <a:ea typeface="Calibri" panose="020F0502020204030204" pitchFamily="34" charset="0"/>
                <a:cs typeface="Times New Roman" panose="02020603050405020304" pitchFamily="18" charset="0"/>
              </a:rPr>
              <a:t>From assembly plants, we will ship to customers. Note that we can ship 5lbs packets as well as 8lbs and 10lbs packets to customer 1, and we can ship 8lbs as well as 10lbs packets to customers 2, and we can ship 10lbs packets to customer 3. </a:t>
            </a:r>
            <a:endParaRPr lang="en-US" sz="1400" dirty="0"/>
          </a:p>
        </p:txBody>
      </p:sp>
      <p:sp>
        <p:nvSpPr>
          <p:cNvPr id="12" name="Left Brace 11"/>
          <p:cNvSpPr/>
          <p:nvPr/>
        </p:nvSpPr>
        <p:spPr>
          <a:xfrm rot="18110695">
            <a:off x="2634019" y="4104733"/>
            <a:ext cx="317578" cy="1028231"/>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a:xfrm rot="16200000">
            <a:off x="5003153" y="4094850"/>
            <a:ext cx="317578" cy="1447582"/>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60348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Minimum-Cost Flow Problem</a:t>
            </a:r>
          </a:p>
        </p:txBody>
      </p:sp>
      <p:sp>
        <p:nvSpPr>
          <p:cNvPr id="3" name="Content Placeholder 2"/>
          <p:cNvSpPr>
            <a:spLocks noGrp="1"/>
          </p:cNvSpPr>
          <p:nvPr>
            <p:ph idx="1"/>
          </p:nvPr>
        </p:nvSpPr>
        <p:spPr/>
        <p:txBody>
          <a:bodyPr/>
          <a:lstStyle/>
          <a:p>
            <a:r>
              <a:rPr lang="en-US" b="1" u="sng" dirty="0">
                <a:ea typeface="ＭＳ Ｐゴシック"/>
              </a:rPr>
              <a:t>Case: Production and Distribution Planning (not in the textbook): </a:t>
            </a:r>
          </a:p>
          <a:p>
            <a:pPr lvl="1"/>
            <a:r>
              <a:rPr lang="en-US" dirty="0"/>
              <a:t>Algebraic model:</a:t>
            </a:r>
          </a:p>
          <a:p>
            <a:pPr lvl="2"/>
            <a:r>
              <a:rPr lang="en-US" dirty="0"/>
              <a:t>Let X(</a:t>
            </a:r>
            <a:r>
              <a:rPr lang="en-US" dirty="0" err="1"/>
              <a:t>i,j</a:t>
            </a:r>
            <a:r>
              <a:rPr lang="en-US" dirty="0"/>
              <a:t>) denote the flow on arc (</a:t>
            </a:r>
            <a:r>
              <a:rPr lang="en-US" dirty="0" err="1"/>
              <a:t>i,j</a:t>
            </a:r>
            <a:r>
              <a:rPr lang="en-US" dirty="0"/>
              <a:t>). </a:t>
            </a:r>
          </a:p>
        </p:txBody>
      </p:sp>
      <p:pic>
        <p:nvPicPr>
          <p:cNvPr id="5" name="Picture 4"/>
          <p:cNvPicPr>
            <a:picLocks noChangeAspect="1"/>
          </p:cNvPicPr>
          <p:nvPr/>
        </p:nvPicPr>
        <p:blipFill>
          <a:blip r:embed="rId2"/>
          <a:stretch>
            <a:fillRect/>
          </a:stretch>
        </p:blipFill>
        <p:spPr>
          <a:xfrm>
            <a:off x="2117951" y="2896961"/>
            <a:ext cx="7755392" cy="3366170"/>
          </a:xfrm>
          <a:prstGeom prst="rect">
            <a:avLst/>
          </a:prstGeom>
        </p:spPr>
      </p:pic>
    </p:spTree>
    <p:extLst>
      <p:ext uri="{BB962C8B-B14F-4D97-AF65-F5344CB8AC3E}">
        <p14:creationId xmlns:p14="http://schemas.microsoft.com/office/powerpoint/2010/main" val="2487911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8543</TotalTime>
  <Words>7684</Words>
  <Application>Microsoft Macintosh PowerPoint</Application>
  <PresentationFormat>Widescreen</PresentationFormat>
  <Paragraphs>945</Paragraphs>
  <Slides>69</Slides>
  <Notes>35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69</vt:i4>
      </vt:variant>
    </vt:vector>
  </HeadingPairs>
  <TitlesOfParts>
    <vt:vector size="78" baseType="lpstr">
      <vt:lpstr>ＭＳ Ｐゴシック</vt:lpstr>
      <vt:lpstr>Arial</vt:lpstr>
      <vt:lpstr>Calibri</vt:lpstr>
      <vt:lpstr>Calibri Light</vt:lpstr>
      <vt:lpstr>Times New Roman</vt:lpstr>
      <vt:lpstr>Wingdings</vt:lpstr>
      <vt:lpstr>Office Theme</vt:lpstr>
      <vt:lpstr>Worksheet</vt:lpstr>
      <vt:lpstr>Document</vt:lpstr>
      <vt:lpstr> ANLY 5332   Department of Information Systems and Analytics McCoy College of Business Administration Texas State University</vt:lpstr>
      <vt:lpstr>Outline</vt:lpstr>
      <vt:lpstr>Outline</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Minimum-Cost Flow Problem</vt:lpstr>
      <vt:lpstr>Outline</vt:lpstr>
      <vt:lpstr>Maximum Flow Problem</vt:lpstr>
      <vt:lpstr>Maximum Flow Problem</vt:lpstr>
      <vt:lpstr>Maximum Flow Problem</vt:lpstr>
      <vt:lpstr>Maximum Flow Problem</vt:lpstr>
      <vt:lpstr>Maximum Flow Problem</vt:lpstr>
      <vt:lpstr>Maximum Flow Problem</vt:lpstr>
      <vt:lpstr>Maximum Flow Problem</vt:lpstr>
      <vt:lpstr>Maximum Flow Problem</vt:lpstr>
      <vt:lpstr>Maximum Flow Problem</vt:lpstr>
      <vt:lpstr>Outline</vt:lpstr>
      <vt:lpstr>Shortest Path Problem</vt:lpstr>
      <vt:lpstr>Shortest Path Problem</vt:lpstr>
      <vt:lpstr>Shortest Path Problem</vt:lpstr>
      <vt:lpstr>Minimum-Cost Flow Problem</vt:lpstr>
      <vt:lpstr>Shortest Path Problem</vt:lpstr>
      <vt:lpstr>Shortest Path Problem</vt:lpstr>
      <vt:lpstr>Shortest Path Problem</vt:lpstr>
      <vt:lpstr>Outline</vt:lpstr>
      <vt:lpstr>Minimum Spanning Tree Problem</vt:lpstr>
      <vt:lpstr>Minimum Spanning Tree Problem</vt:lpstr>
      <vt:lpstr>Minimum Spanning Tree Problem</vt:lpstr>
      <vt:lpstr>Minimum Spanning Tree Problem</vt:lpstr>
      <vt:lpstr>Minimum Spanning Tree Problem</vt:lpstr>
      <vt:lpstr>Outline</vt:lpstr>
      <vt:lpstr>Network Modifications</vt:lpstr>
      <vt:lpstr>Network Modifications</vt:lpstr>
      <vt:lpstr>Network Modifications</vt:lpstr>
      <vt:lpstr>Network Modifications</vt:lpstr>
      <vt:lpstr>Network Modifications</vt:lpstr>
      <vt:lpstr>Network Modifications</vt:lpstr>
      <vt:lpstr>Network Modifications</vt:lpstr>
      <vt:lpstr>Outline</vt:lpstr>
      <vt:lpstr>A Minimum-Cost Flow Problem</vt:lpstr>
      <vt:lpstr>A Minimum-Cost Flow Problem</vt:lpstr>
      <vt:lpstr>A Minimum-Cost Flow Problem</vt:lpstr>
      <vt:lpstr>Multi-Source Multi-Sink Max Flow Problem</vt:lpstr>
      <vt:lpstr>Multi-Source Multi-Sink Max Flow Problem</vt:lpstr>
      <vt:lpstr>Multi-Source Multi-Sink Max Flow Problem</vt:lpstr>
      <vt:lpstr>Maintenance Planning as a Shortest Path Problem</vt:lpstr>
      <vt:lpstr>Maintenance Planning as a Shortest Path Problem</vt:lpstr>
      <vt:lpstr>Maintenance Planning as a Shortest Path Problem</vt:lpstr>
      <vt:lpstr>Outline</vt:lpstr>
      <vt:lpstr>A Shortest Path Problem</vt:lpstr>
      <vt:lpstr>A Shortest Path Problem</vt:lpstr>
      <vt:lpstr>A Shortest Path Problem</vt:lpstr>
      <vt:lpstr>A Shortest Path Problem</vt:lpstr>
      <vt:lpstr>A Maximum Flow Problem</vt:lpstr>
      <vt:lpstr>A Maximum Flow Problem</vt:lpstr>
      <vt:lpstr>A Minimum-Cost Flow Problem</vt:lpstr>
      <vt:lpstr>A Minimum-Cost Flow Problem</vt:lpstr>
      <vt:lpstr>A Minimum-Cost Flow Problem</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Lin, Zewei (linzw)</cp:lastModifiedBy>
  <cp:revision>345</cp:revision>
  <dcterms:created xsi:type="dcterms:W3CDTF">2018-08-17T02:14:39Z</dcterms:created>
  <dcterms:modified xsi:type="dcterms:W3CDTF">2024-09-30T05:46:21Z</dcterms:modified>
</cp:coreProperties>
</file>