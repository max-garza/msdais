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60" r:id="rId3"/>
    <p:sldId id="351" r:id="rId4"/>
    <p:sldId id="266" r:id="rId5"/>
    <p:sldId id="267" r:id="rId6"/>
    <p:sldId id="268" r:id="rId7"/>
    <p:sldId id="269" r:id="rId8"/>
    <p:sldId id="270" r:id="rId9"/>
    <p:sldId id="271" r:id="rId10"/>
    <p:sldId id="272" r:id="rId11"/>
    <p:sldId id="273" r:id="rId12"/>
    <p:sldId id="274" r:id="rId13"/>
    <p:sldId id="275" r:id="rId14"/>
    <p:sldId id="277" r:id="rId15"/>
    <p:sldId id="278" r:id="rId16"/>
    <p:sldId id="276" r:id="rId17"/>
    <p:sldId id="280" r:id="rId18"/>
    <p:sldId id="279" r:id="rId19"/>
    <p:sldId id="281" r:id="rId20"/>
    <p:sldId id="282" r:id="rId21"/>
    <p:sldId id="286" r:id="rId22"/>
    <p:sldId id="352" r:id="rId23"/>
    <p:sldId id="284" r:id="rId24"/>
    <p:sldId id="287" r:id="rId25"/>
    <p:sldId id="289" r:id="rId26"/>
    <p:sldId id="290" r:id="rId27"/>
    <p:sldId id="291" r:id="rId28"/>
    <p:sldId id="292" r:id="rId29"/>
    <p:sldId id="293" r:id="rId30"/>
    <p:sldId id="294" r:id="rId31"/>
    <p:sldId id="295" r:id="rId32"/>
    <p:sldId id="296" r:id="rId33"/>
    <p:sldId id="300" r:id="rId34"/>
    <p:sldId id="299" r:id="rId35"/>
    <p:sldId id="353" r:id="rId36"/>
    <p:sldId id="305" r:id="rId37"/>
    <p:sldId id="306" r:id="rId38"/>
    <p:sldId id="307" r:id="rId39"/>
    <p:sldId id="308" r:id="rId40"/>
    <p:sldId id="309" r:id="rId41"/>
    <p:sldId id="311" r:id="rId42"/>
    <p:sldId id="312" r:id="rId43"/>
    <p:sldId id="313" r:id="rId44"/>
    <p:sldId id="314" r:id="rId45"/>
    <p:sldId id="315" r:id="rId46"/>
    <p:sldId id="354" r:id="rId47"/>
    <p:sldId id="317" r:id="rId48"/>
    <p:sldId id="318" r:id="rId49"/>
    <p:sldId id="319" r:id="rId50"/>
    <p:sldId id="320" r:id="rId51"/>
    <p:sldId id="321" r:id="rId52"/>
    <p:sldId id="334" r:id="rId53"/>
    <p:sldId id="322" r:id="rId54"/>
    <p:sldId id="323" r:id="rId55"/>
    <p:sldId id="324" r:id="rId56"/>
    <p:sldId id="325" r:id="rId57"/>
    <p:sldId id="327" r:id="rId58"/>
    <p:sldId id="328" r:id="rId59"/>
    <p:sldId id="329" r:id="rId60"/>
    <p:sldId id="330" r:id="rId61"/>
    <p:sldId id="331" r:id="rId62"/>
    <p:sldId id="332" r:id="rId63"/>
    <p:sldId id="333"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61"/>
    <p:restoredTop sz="92943" autoAdjust="0"/>
  </p:normalViewPr>
  <p:slideViewPr>
    <p:cSldViewPr snapToGrid="0">
      <p:cViewPr varScale="1">
        <p:scale>
          <a:sx n="149" d="100"/>
          <a:sy n="149" d="100"/>
        </p:scale>
        <p:origin x="1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064AB01B-328C-4464-9DAD-ED57D910B697}"/>
    <pc:docChg chg="undo custSel modSld">
      <pc:chgData name="Sahan Konur, Sahika" userId="739a6e03-9a4a-49c6-a350-571b31db94be" providerId="ADAL" clId="{064AB01B-328C-4464-9DAD-ED57D910B697}" dt="2023-09-25T16:01:06.155" v="5" actId="1076"/>
      <pc:docMkLst>
        <pc:docMk/>
      </pc:docMkLst>
      <pc:sldChg chg="modSp mod">
        <pc:chgData name="Sahan Konur, Sahika" userId="739a6e03-9a4a-49c6-a350-571b31db94be" providerId="ADAL" clId="{064AB01B-328C-4464-9DAD-ED57D910B697}" dt="2023-09-25T16:01:06.155" v="5" actId="1076"/>
        <pc:sldMkLst>
          <pc:docMk/>
          <pc:sldMk cId="1962376221" sldId="299"/>
        </pc:sldMkLst>
        <pc:picChg chg="mod">
          <ac:chgData name="Sahan Konur, Sahika" userId="739a6e03-9a4a-49c6-a350-571b31db94be" providerId="ADAL" clId="{064AB01B-328C-4464-9DAD-ED57D910B697}" dt="2023-09-25T16:01:06.155" v="5" actId="1076"/>
          <ac:picMkLst>
            <pc:docMk/>
            <pc:sldMk cId="1962376221" sldId="299"/>
            <ac:picMk id="5" creationId="{00000000-0000-0000-0000-000000000000}"/>
          </ac:picMkLst>
        </pc:picChg>
      </pc:sldChg>
    </pc:docChg>
  </pc:docChgLst>
  <pc:docChgLst>
    <pc:chgData name="Dincer Konur" userId="0cb337efb386619d" providerId="LiveId" clId="{77CD29F8-EBAF-419F-A414-0BE7BF45E974}"/>
    <pc:docChg chg="modSld">
      <pc:chgData name="Dincer Konur" userId="0cb337efb386619d" providerId="LiveId" clId="{77CD29F8-EBAF-419F-A414-0BE7BF45E974}" dt="2019-07-26T19:25:56.651" v="29"/>
      <pc:docMkLst>
        <pc:docMk/>
      </pc:docMkLst>
      <pc:sldChg chg="modSp modAnim">
        <pc:chgData name="Dincer Konur" userId="0cb337efb386619d" providerId="LiveId" clId="{77CD29F8-EBAF-419F-A414-0BE7BF45E974}" dt="2019-07-26T19:20:04.884" v="25"/>
        <pc:sldMkLst>
          <pc:docMk/>
          <pc:sldMk cId="847232268" sldId="266"/>
        </pc:sldMkLst>
        <pc:spChg chg="mod">
          <ac:chgData name="Dincer Konur" userId="0cb337efb386619d" providerId="LiveId" clId="{77CD29F8-EBAF-419F-A414-0BE7BF45E974}" dt="2019-07-26T19:19:37.322" v="22" actId="20577"/>
          <ac:spMkLst>
            <pc:docMk/>
            <pc:sldMk cId="847232268" sldId="266"/>
            <ac:spMk id="3" creationId="{00000000-0000-0000-0000-000000000000}"/>
          </ac:spMkLst>
        </pc:spChg>
      </pc:sldChg>
      <pc:sldChg chg="modAnim">
        <pc:chgData name="Dincer Konur" userId="0cb337efb386619d" providerId="LiveId" clId="{77CD29F8-EBAF-419F-A414-0BE7BF45E974}" dt="2019-07-26T19:25:56.651" v="29"/>
        <pc:sldMkLst>
          <pc:docMk/>
          <pc:sldMk cId="3179026778"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9/8/24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1</a:t>
            </a:fld>
            <a:endParaRPr lang="en-US"/>
          </a:p>
        </p:txBody>
      </p:sp>
    </p:spTree>
    <p:extLst>
      <p:ext uri="{BB962C8B-B14F-4D97-AF65-F5344CB8AC3E}">
        <p14:creationId xmlns:p14="http://schemas.microsoft.com/office/powerpoint/2010/main" val="53975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3014954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3827911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12</a:t>
            </a:fld>
            <a:endParaRPr lang="en-US"/>
          </a:p>
        </p:txBody>
      </p:sp>
    </p:spTree>
    <p:extLst>
      <p:ext uri="{BB962C8B-B14F-4D97-AF65-F5344CB8AC3E}">
        <p14:creationId xmlns:p14="http://schemas.microsoft.com/office/powerpoint/2010/main" val="3160876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24</a:t>
            </a:fld>
            <a:endParaRPr lang="en-US"/>
          </a:p>
        </p:txBody>
      </p:sp>
    </p:spTree>
    <p:extLst>
      <p:ext uri="{BB962C8B-B14F-4D97-AF65-F5344CB8AC3E}">
        <p14:creationId xmlns:p14="http://schemas.microsoft.com/office/powerpoint/2010/main" val="2133692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8913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36</a:t>
            </a:fld>
            <a:endParaRPr lang="en-US"/>
          </a:p>
        </p:txBody>
      </p:sp>
    </p:spTree>
    <p:extLst>
      <p:ext uri="{BB962C8B-B14F-4D97-AF65-F5344CB8AC3E}">
        <p14:creationId xmlns:p14="http://schemas.microsoft.com/office/powerpoint/2010/main" val="85417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209376B9-9838-4376-9895-3384D05A8DF5}" type="slidenum">
              <a:rPr lang="en-US" smtClean="0"/>
              <a:t>37</a:t>
            </a:fld>
            <a:endParaRPr lang="en-US"/>
          </a:p>
        </p:txBody>
      </p:sp>
    </p:spTree>
    <p:extLst>
      <p:ext uri="{BB962C8B-B14F-4D97-AF65-F5344CB8AC3E}">
        <p14:creationId xmlns:p14="http://schemas.microsoft.com/office/powerpoint/2010/main" val="3870759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209376B9-9838-4376-9895-3384D05A8DF5}" type="slidenum">
              <a:rPr lang="en-US" smtClean="0"/>
              <a:t>38</a:t>
            </a:fld>
            <a:endParaRPr lang="en-US"/>
          </a:p>
        </p:txBody>
      </p:sp>
    </p:spTree>
    <p:extLst>
      <p:ext uri="{BB962C8B-B14F-4D97-AF65-F5344CB8AC3E}">
        <p14:creationId xmlns:p14="http://schemas.microsoft.com/office/powerpoint/2010/main" val="92021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39</a:t>
            </a:fld>
            <a:endParaRPr lang="en-US"/>
          </a:p>
        </p:txBody>
      </p:sp>
    </p:spTree>
    <p:extLst>
      <p:ext uri="{BB962C8B-B14F-4D97-AF65-F5344CB8AC3E}">
        <p14:creationId xmlns:p14="http://schemas.microsoft.com/office/powerpoint/2010/main" val="86049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40</a:t>
            </a:fld>
            <a:endParaRPr lang="en-US"/>
          </a:p>
        </p:txBody>
      </p:sp>
    </p:spTree>
    <p:extLst>
      <p:ext uri="{BB962C8B-B14F-4D97-AF65-F5344CB8AC3E}">
        <p14:creationId xmlns:p14="http://schemas.microsoft.com/office/powerpoint/2010/main" val="4023161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41</a:t>
            </a:fld>
            <a:endParaRPr lang="en-US"/>
          </a:p>
        </p:txBody>
      </p:sp>
    </p:spTree>
    <p:extLst>
      <p:ext uri="{BB962C8B-B14F-4D97-AF65-F5344CB8AC3E}">
        <p14:creationId xmlns:p14="http://schemas.microsoft.com/office/powerpoint/2010/main" val="1763732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42</a:t>
            </a:fld>
            <a:endParaRPr lang="en-US"/>
          </a:p>
        </p:txBody>
      </p:sp>
    </p:spTree>
    <p:extLst>
      <p:ext uri="{BB962C8B-B14F-4D97-AF65-F5344CB8AC3E}">
        <p14:creationId xmlns:p14="http://schemas.microsoft.com/office/powerpoint/2010/main" val="3474374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43</a:t>
            </a:fld>
            <a:endParaRPr lang="en-US"/>
          </a:p>
        </p:txBody>
      </p:sp>
    </p:spTree>
    <p:extLst>
      <p:ext uri="{BB962C8B-B14F-4D97-AF65-F5344CB8AC3E}">
        <p14:creationId xmlns:p14="http://schemas.microsoft.com/office/powerpoint/2010/main" val="2645696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44</a:t>
            </a:fld>
            <a:endParaRPr lang="en-US"/>
          </a:p>
        </p:txBody>
      </p:sp>
    </p:spTree>
    <p:extLst>
      <p:ext uri="{BB962C8B-B14F-4D97-AF65-F5344CB8AC3E}">
        <p14:creationId xmlns:p14="http://schemas.microsoft.com/office/powerpoint/2010/main" val="2905073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45</a:t>
            </a:fld>
            <a:endParaRPr lang="en-US"/>
          </a:p>
        </p:txBody>
      </p:sp>
    </p:spTree>
    <p:extLst>
      <p:ext uri="{BB962C8B-B14F-4D97-AF65-F5344CB8AC3E}">
        <p14:creationId xmlns:p14="http://schemas.microsoft.com/office/powerpoint/2010/main" val="4210561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47</a:t>
            </a:fld>
            <a:endParaRPr lang="en-US"/>
          </a:p>
        </p:txBody>
      </p:sp>
    </p:spTree>
    <p:extLst>
      <p:ext uri="{BB962C8B-B14F-4D97-AF65-F5344CB8AC3E}">
        <p14:creationId xmlns:p14="http://schemas.microsoft.com/office/powerpoint/2010/main" val="23133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D3099-EF0D-4B9A-BBFF-09FBE6BF6054}" type="datetime1">
              <a:rPr lang="en-US" smtClean="0"/>
              <a:t>9/8/24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B1E3B061-4FCE-4A21-AC74-81FE2BC5CF3E}" type="datetime1">
              <a:rPr lang="en-US" smtClean="0"/>
              <a:t>9/8/24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59F54-5CF2-4FD0-836E-B479A78D51A3}" type="datetime1">
              <a:rPr lang="en-US" smtClean="0"/>
              <a:t>9/8/24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933E6-EEC8-49F6-86B1-D403F7BCF2D7}" type="datetime1">
              <a:rPr lang="en-US" smtClean="0"/>
              <a:t>9/8/24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FC5F4-FF8A-4310-ACDA-118E50908757}" type="datetime1">
              <a:rPr lang="en-US" smtClean="0"/>
              <a:t>9/8/24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ECC70-ED3C-42E3-B9D4-4CDAF46FBF6D}" type="datetime1">
              <a:rPr lang="en-US" smtClean="0"/>
              <a:t>9/8/24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CC83FA-2A64-4953-B019-1B95DE5F0E9D}" type="datetime1">
              <a:rPr lang="en-US" smtClean="0"/>
              <a:t>9/8/24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49A69-C0C1-4748-81A5-B3EAE2845645}" type="datetime1">
              <a:rPr lang="en-US" smtClean="0"/>
              <a:t>9/8/24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E0C7C-8B0D-4808-9EE9-6B3127DD99F3}" type="datetime1">
              <a:rPr lang="en-US" smtClean="0"/>
              <a:t>9/8/24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08BD7-923F-4248-A98A-25295194946A}" type="datetime1">
              <a:rPr lang="en-US" smtClean="0"/>
              <a:t>9/8/24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5BBA94-316C-4F17-807F-67A425FEAD68}" type="datetime1">
              <a:rPr lang="en-US" smtClean="0"/>
              <a:t>9/8/24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8F577-5F6A-4371-8B61-A5EB0D2162DC}" type="datetime1">
              <a:rPr lang="en-US" smtClean="0"/>
              <a:t>9/8/24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3.gif"/><Relationship Id="rId4"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3.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5.png"/><Relationship Id="rId9" Type="http://schemas.openxmlformats.org/officeDocument/2006/relationships/image" Target="../media/image61.png"/></Relationships>
</file>

<file path=ppt/slides/_rels/slide3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www.zweigmedia.com/utilities/lpg/index.html?lang=e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3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en.wikipedia.org/wiki/Simplex_algorith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hyperlink" Target="https://www.zweigmedia.com/utilities/lpg/index.html?lang=en"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3.png"/><Relationship Id="rId7" Type="http://schemas.openxmlformats.org/officeDocument/2006/relationships/image" Target="../media/image3.gif"/><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5.png"/><Relationship Id="rId4" Type="http://schemas.openxmlformats.org/officeDocument/2006/relationships/image" Target="../media/image10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7" Type="http://schemas.openxmlformats.org/officeDocument/2006/relationships/image" Target="../media/image3.gif"/><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br>
              <a:rPr lang="en-US" sz="5400"/>
            </a:br>
            <a:r>
              <a:rPr lang="en-US" sz="5400"/>
              <a:t>ANLY </a:t>
            </a:r>
            <a:r>
              <a:rPr lang="en-US" sz="5400" dirty="0"/>
              <a:t>5332</a:t>
            </a:r>
            <a:br>
              <a:rPr lang="en-US" sz="5400" dirty="0"/>
            </a:br>
            <a:br>
              <a:rPr lang="en-US" sz="3200" dirty="0"/>
            </a:br>
            <a:br>
              <a:rPr lang="en-US" sz="3200" dirty="0"/>
            </a:br>
            <a:r>
              <a:rPr lang="en-US" sz="2400" b="1" dirty="0">
                <a:solidFill>
                  <a:srgbClr val="C00000"/>
                </a:solidFill>
              </a:rPr>
              <a:t>Department of Information Systems and Analytics</a:t>
            </a:r>
            <a:br>
              <a:rPr lang="en-US" sz="2400" b="1" dirty="0">
                <a:solidFill>
                  <a:srgbClr val="C00000"/>
                </a:solidFill>
              </a:rPr>
            </a:br>
            <a:r>
              <a:rPr lang="en-US" sz="2400" b="1" dirty="0">
                <a:solidFill>
                  <a:srgbClr val="C00000"/>
                </a:solidFill>
              </a:rPr>
              <a:t>McCoy College of Business Administration</a:t>
            </a:r>
            <a:br>
              <a:rPr lang="en-US" sz="2400" b="1" dirty="0">
                <a:solidFill>
                  <a:srgbClr val="C00000"/>
                </a:solidFill>
              </a:rPr>
            </a:br>
            <a:r>
              <a:rPr lang="en-US" sz="2400" b="1" dirty="0">
                <a:solidFill>
                  <a:srgbClr val="C00000"/>
                </a:solidFill>
              </a:rPr>
              <a:t>Texas State University</a:t>
            </a:r>
            <a:endParaRPr lang="en-US" sz="4400" b="1" dirty="0">
              <a:solidFill>
                <a:srgbClr val="C00000"/>
              </a:solidFill>
            </a:endParaRPr>
          </a:p>
        </p:txBody>
      </p:sp>
      <p:sp>
        <p:nvSpPr>
          <p:cNvPr id="3" name="Subtitle 2"/>
          <p:cNvSpPr>
            <a:spLocks noGrp="1"/>
          </p:cNvSpPr>
          <p:nvPr>
            <p:ph type="subTitle" idx="1"/>
          </p:nvPr>
        </p:nvSpPr>
        <p:spPr/>
        <p:txBody>
          <a:bodyPr>
            <a:normAutofit lnSpcReduction="10000"/>
          </a:bodyPr>
          <a:lstStyle/>
          <a:p>
            <a:endParaRPr lang="en-US" dirty="0"/>
          </a:p>
          <a:p>
            <a:endParaRPr lang="en-US" dirty="0"/>
          </a:p>
          <a:p>
            <a:endParaRPr lang="en-US" dirty="0"/>
          </a:p>
          <a:p>
            <a:r>
              <a:rPr lang="en-US" dirty="0"/>
              <a:t>Modeling and Linear Programming</a:t>
            </a:r>
          </a:p>
          <a:p>
            <a:endParaRPr lang="en-US" dirty="0"/>
          </a:p>
        </p:txBody>
      </p:sp>
    </p:spTree>
    <p:extLst>
      <p:ext uri="{BB962C8B-B14F-4D97-AF65-F5344CB8AC3E}">
        <p14:creationId xmlns:p14="http://schemas.microsoft.com/office/powerpoint/2010/main" val="2541942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Formulating Linear Programming Models</a:t>
            </a:r>
          </a:p>
          <a:p>
            <a:pPr lvl="1"/>
            <a:r>
              <a:rPr lang="en-US" dirty="0"/>
              <a:t>Surviving in an Island (not in the textbook)</a:t>
            </a:r>
          </a:p>
          <a:p>
            <a:pPr lvl="1"/>
            <a:r>
              <a:rPr lang="en-US" dirty="0"/>
              <a:t>Case: </a:t>
            </a:r>
            <a:r>
              <a:rPr lang="en-US" dirty="0" err="1"/>
              <a:t>Wyndor</a:t>
            </a:r>
            <a:r>
              <a:rPr lang="en-US" dirty="0"/>
              <a:t> Glass Co. Product Mix (Chapter 2.3)</a:t>
            </a:r>
          </a:p>
          <a:p>
            <a:pPr lvl="1"/>
            <a:r>
              <a:rPr lang="en-US" dirty="0"/>
              <a:t>Linear Programming Terminology (Chapter 2.3)</a:t>
            </a:r>
          </a:p>
          <a:p>
            <a:r>
              <a:rPr lang="en-US" dirty="0"/>
              <a:t>Graphical Solution Method (Chapter 2.4)</a:t>
            </a:r>
          </a:p>
          <a:p>
            <a:r>
              <a:rPr lang="en-US" dirty="0"/>
              <a:t>Linear Programming Properties (not in the textbook)</a:t>
            </a:r>
          </a:p>
          <a:p>
            <a:r>
              <a:rPr lang="en-US" dirty="0"/>
              <a:t>Further Cases on Algebraic Modeling</a:t>
            </a:r>
          </a:p>
          <a:p>
            <a:pPr lvl="1"/>
            <a:r>
              <a:rPr lang="en-US" dirty="0"/>
              <a:t>Case: Profit and Gambit Co. Advertising Mix (Chapter 2.7)</a:t>
            </a:r>
          </a:p>
          <a:p>
            <a:pPr lvl="1"/>
            <a:r>
              <a:rPr lang="en-US" dirty="0"/>
              <a:t>Case: Case 2-3 – Staffing a Call Center (page 62)</a:t>
            </a:r>
          </a:p>
        </p:txBody>
      </p:sp>
    </p:spTree>
    <p:extLst>
      <p:ext uri="{BB962C8B-B14F-4D97-AF65-F5344CB8AC3E}">
        <p14:creationId xmlns:p14="http://schemas.microsoft.com/office/powerpoint/2010/main" val="247456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Formulating Linear Programming Models</a:t>
            </a:r>
          </a:p>
          <a:p>
            <a:pPr lvl="1"/>
            <a:r>
              <a:rPr lang="en-US" dirty="0"/>
              <a:t>Surviving in an Island (not in the textbook)</a:t>
            </a:r>
          </a:p>
          <a:p>
            <a:pPr lvl="1"/>
            <a:r>
              <a:rPr lang="en-US" dirty="0"/>
              <a:t>Case: </a:t>
            </a:r>
            <a:r>
              <a:rPr lang="en-US" dirty="0" err="1"/>
              <a:t>Wyndor</a:t>
            </a:r>
            <a:r>
              <a:rPr lang="en-US" dirty="0"/>
              <a:t> Glass Co. Product Mix (Chapter 2.3)</a:t>
            </a:r>
          </a:p>
          <a:p>
            <a:pPr lvl="1"/>
            <a:r>
              <a:rPr lang="en-US" dirty="0"/>
              <a:t>Linear Programming Terminology (Chapter 2.3)</a:t>
            </a:r>
          </a:p>
          <a:p>
            <a:r>
              <a:rPr lang="en-US" dirty="0">
                <a:solidFill>
                  <a:schemeClr val="bg2"/>
                </a:solidFill>
              </a:rPr>
              <a:t>Graphical Solution Method (Chapter 2.4)</a:t>
            </a:r>
          </a:p>
          <a:p>
            <a:r>
              <a:rPr lang="en-US" dirty="0">
                <a:solidFill>
                  <a:schemeClr val="bg2"/>
                </a:solidFill>
              </a:rPr>
              <a:t>Linear Programming Properties (not in the textbook)</a:t>
            </a:r>
          </a:p>
          <a:p>
            <a:r>
              <a:rPr lang="en-US" dirty="0">
                <a:solidFill>
                  <a:schemeClr val="bg2"/>
                </a:solidFill>
              </a:rPr>
              <a:t>Further Cases on Algebraic Modeling</a:t>
            </a:r>
          </a:p>
          <a:p>
            <a:pPr lvl="1"/>
            <a:r>
              <a:rPr lang="en-US" dirty="0">
                <a:solidFill>
                  <a:schemeClr val="bg2"/>
                </a:solidFill>
              </a:rPr>
              <a:t>Case: Profit and Gambit Co. Advertising Mix (Chapter 2.7)</a:t>
            </a:r>
          </a:p>
          <a:p>
            <a:pPr lvl="1"/>
            <a:r>
              <a:rPr lang="en-US" dirty="0">
                <a:solidFill>
                  <a:schemeClr val="bg2"/>
                </a:solidFill>
              </a:rPr>
              <a:t>Case: Case 2-3 – Staffing a Call Center (page 62)</a:t>
            </a:r>
          </a:p>
        </p:txBody>
      </p:sp>
    </p:spTree>
    <p:extLst>
      <p:ext uri="{BB962C8B-B14F-4D97-AF65-F5344CB8AC3E}">
        <p14:creationId xmlns:p14="http://schemas.microsoft.com/office/powerpoint/2010/main" val="3723646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p:sp>
        <p:nvSpPr>
          <p:cNvPr id="3" name="Content Placeholder 2"/>
          <p:cNvSpPr>
            <a:spLocks noGrp="1"/>
          </p:cNvSpPr>
          <p:nvPr>
            <p:ph idx="1"/>
          </p:nvPr>
        </p:nvSpPr>
        <p:spPr/>
        <p:txBody>
          <a:bodyPr/>
          <a:lstStyle/>
          <a:p>
            <a:r>
              <a:rPr lang="en-US" dirty="0"/>
              <a:t>It is also referred to as ‘algebraic modeling’</a:t>
            </a:r>
          </a:p>
          <a:p>
            <a:r>
              <a:rPr lang="en-US" dirty="0"/>
              <a:t>What do we need to formulate a linear programming problem?</a:t>
            </a:r>
          </a:p>
          <a:p>
            <a:pPr lvl="1"/>
            <a:r>
              <a:rPr lang="en-US" dirty="0"/>
              <a:t>Have a problem!</a:t>
            </a:r>
          </a:p>
          <a:p>
            <a:pPr lvl="1"/>
            <a:r>
              <a:rPr lang="en-US" dirty="0"/>
              <a:t>Steps to follow for algebraic modeling:</a:t>
            </a:r>
          </a:p>
          <a:p>
            <a:pPr lvl="2"/>
            <a:r>
              <a:rPr lang="en-US" dirty="0"/>
              <a:t>Step 0: Gather data</a:t>
            </a:r>
          </a:p>
          <a:p>
            <a:pPr lvl="2"/>
            <a:r>
              <a:rPr lang="en-US" dirty="0"/>
              <a:t>Step 1: Identify the variables</a:t>
            </a:r>
          </a:p>
          <a:p>
            <a:pPr lvl="2"/>
            <a:r>
              <a:rPr lang="en-US" dirty="0"/>
              <a:t>Step 2: Define the objective function</a:t>
            </a:r>
          </a:p>
          <a:p>
            <a:pPr lvl="2"/>
            <a:r>
              <a:rPr lang="en-US" dirty="0"/>
              <a:t>Step 3: Define the constraints</a:t>
            </a:r>
          </a:p>
          <a:p>
            <a:pPr lvl="1"/>
            <a:r>
              <a:rPr lang="en-US" dirty="0">
                <a:sym typeface="Wingdings" pitchFamily="2" charset="2"/>
              </a:rPr>
              <a:t>Best way to learn is to do some examples….</a:t>
            </a:r>
            <a:endParaRPr lang="en-US" dirty="0"/>
          </a:p>
        </p:txBody>
      </p:sp>
    </p:spTree>
    <p:extLst>
      <p:ext uri="{BB962C8B-B14F-4D97-AF65-F5344CB8AC3E}">
        <p14:creationId xmlns:p14="http://schemas.microsoft.com/office/powerpoint/2010/main" val="84723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p:sp>
        <p:nvSpPr>
          <p:cNvPr id="3" name="Content Placeholder 2"/>
          <p:cNvSpPr>
            <a:spLocks noGrp="1"/>
          </p:cNvSpPr>
          <p:nvPr>
            <p:ph idx="1"/>
          </p:nvPr>
        </p:nvSpPr>
        <p:spPr/>
        <p:txBody>
          <a:bodyPr>
            <a:normAutofit lnSpcReduction="10000"/>
          </a:bodyPr>
          <a:lstStyle/>
          <a:p>
            <a:r>
              <a:rPr lang="en-US" b="1" u="sng" dirty="0"/>
              <a:t>An Example: Surviving in an Island (not in the textbook)</a:t>
            </a:r>
          </a:p>
          <a:p>
            <a:r>
              <a:rPr lang="en-US" dirty="0"/>
              <a:t>Linear programming will save you!</a:t>
            </a:r>
          </a:p>
          <a:p>
            <a:pPr lvl="1"/>
            <a:r>
              <a:rPr lang="en-US" dirty="0"/>
              <a:t>Suppose that you will be left in a deserted island</a:t>
            </a:r>
          </a:p>
          <a:p>
            <a:pPr lvl="1"/>
            <a:r>
              <a:rPr lang="en-US" dirty="0"/>
              <a:t>You want to live as many days as you can to increase chance of rescue</a:t>
            </a:r>
          </a:p>
          <a:p>
            <a:pPr lvl="1"/>
            <a:r>
              <a:rPr lang="en-US" dirty="0"/>
              <a:t>Fortunately (!), you can take a bag with you to the island</a:t>
            </a:r>
          </a:p>
          <a:p>
            <a:pPr lvl="1"/>
            <a:r>
              <a:rPr lang="en-US" dirty="0"/>
              <a:t>What would you put into the bag?</a:t>
            </a:r>
          </a:p>
          <a:p>
            <a:pPr lvl="1"/>
            <a:r>
              <a:rPr lang="en-US" dirty="0"/>
              <a:t>The bag can carry at most 50 </a:t>
            </a:r>
            <a:r>
              <a:rPr lang="en-US" dirty="0" err="1"/>
              <a:t>lbs</a:t>
            </a:r>
            <a:endParaRPr lang="en-US" dirty="0"/>
          </a:p>
          <a:p>
            <a:pPr lvl="1"/>
            <a:r>
              <a:rPr lang="en-US" dirty="0"/>
              <a:t>There is a limited set of items you can take</a:t>
            </a:r>
          </a:p>
          <a:p>
            <a:pPr lvl="2"/>
            <a:r>
              <a:rPr lang="en-US" dirty="0">
                <a:solidFill>
                  <a:srgbClr val="C00000"/>
                </a:solidFill>
              </a:rPr>
              <a:t>Bread: </a:t>
            </a:r>
            <a:r>
              <a:rPr lang="en-US" dirty="0"/>
              <a:t>You can survive for 2 days with 1 </a:t>
            </a:r>
            <a:r>
              <a:rPr lang="en-US" dirty="0" err="1"/>
              <a:t>lb</a:t>
            </a:r>
            <a:r>
              <a:rPr lang="en-US" dirty="0"/>
              <a:t> of bread</a:t>
            </a:r>
          </a:p>
          <a:p>
            <a:pPr lvl="2"/>
            <a:r>
              <a:rPr lang="en-US" dirty="0">
                <a:solidFill>
                  <a:srgbClr val="C00000"/>
                </a:solidFill>
              </a:rPr>
              <a:t>Steak: </a:t>
            </a:r>
            <a:r>
              <a:rPr lang="en-US" dirty="0"/>
              <a:t>You can survive for 5 days with 1 </a:t>
            </a:r>
            <a:r>
              <a:rPr lang="en-US" dirty="0" err="1"/>
              <a:t>lb</a:t>
            </a:r>
            <a:r>
              <a:rPr lang="en-US" dirty="0"/>
              <a:t> of steak (Memphis style grilled!)</a:t>
            </a:r>
          </a:p>
          <a:p>
            <a:pPr lvl="2"/>
            <a:r>
              <a:rPr lang="en-US" dirty="0">
                <a:solidFill>
                  <a:srgbClr val="C00000"/>
                </a:solidFill>
              </a:rPr>
              <a:t>Chicken: </a:t>
            </a:r>
            <a:r>
              <a:rPr lang="en-US" dirty="0"/>
              <a:t>You can survive for 3 days with 1 </a:t>
            </a:r>
            <a:r>
              <a:rPr lang="en-US" dirty="0" err="1"/>
              <a:t>lb</a:t>
            </a:r>
            <a:r>
              <a:rPr lang="en-US" dirty="0"/>
              <a:t> of chicken (fried!)</a:t>
            </a:r>
          </a:p>
          <a:p>
            <a:pPr lvl="2"/>
            <a:r>
              <a:rPr lang="en-US" dirty="0">
                <a:solidFill>
                  <a:srgbClr val="C00000"/>
                </a:solidFill>
              </a:rPr>
              <a:t>Chocolate: </a:t>
            </a:r>
            <a:r>
              <a:rPr lang="en-US" dirty="0"/>
              <a:t>You can survive for 6 days with 1 </a:t>
            </a:r>
            <a:r>
              <a:rPr lang="en-US" dirty="0" err="1"/>
              <a:t>lb</a:t>
            </a:r>
            <a:r>
              <a:rPr lang="en-US" dirty="0"/>
              <a:t> of chocolate</a:t>
            </a:r>
          </a:p>
          <a:p>
            <a:pPr lvl="1"/>
            <a:r>
              <a:rPr lang="en-US" dirty="0"/>
              <a:t>How much of each item to take with you?</a:t>
            </a:r>
          </a:p>
          <a:p>
            <a:pPr lvl="1"/>
            <a:endParaRPr lang="en-US" dirty="0"/>
          </a:p>
          <a:p>
            <a:endParaRPr lang="en-US" dirty="0"/>
          </a:p>
        </p:txBody>
      </p:sp>
      <p:pic>
        <p:nvPicPr>
          <p:cNvPr id="4" name="Picture 2" descr="Illustration of S.O.S written on an island with a man strand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4622" y="1504418"/>
            <a:ext cx="1828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ed book bag zipped up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4622" y="4008120"/>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877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p:sp>
        <p:nvSpPr>
          <p:cNvPr id="3" name="Content Placeholder 2"/>
          <p:cNvSpPr>
            <a:spLocks noGrp="1"/>
          </p:cNvSpPr>
          <p:nvPr>
            <p:ph idx="1"/>
          </p:nvPr>
        </p:nvSpPr>
        <p:spPr/>
        <p:txBody>
          <a:bodyPr/>
          <a:lstStyle/>
          <a:p>
            <a:r>
              <a:rPr lang="en-US" b="1" u="sng" dirty="0"/>
              <a:t>An Example: Surviving in an Island (not in the textbook)</a:t>
            </a:r>
          </a:p>
          <a:p>
            <a:r>
              <a:rPr lang="en-US" b="1" dirty="0">
                <a:solidFill>
                  <a:srgbClr val="C00000"/>
                </a:solidFill>
              </a:rPr>
              <a:t>STEP 0: </a:t>
            </a:r>
            <a:r>
              <a:rPr lang="en-US" dirty="0"/>
              <a:t>Know the problem and gather your data</a:t>
            </a:r>
          </a:p>
          <a:p>
            <a:pPr lvl="1"/>
            <a:r>
              <a:rPr lang="en-US" dirty="0"/>
              <a:t>Your problem is to increase your chance of rescue by maximizing the number of days you survive</a:t>
            </a:r>
          </a:p>
          <a:p>
            <a:pPr lvl="1"/>
            <a:r>
              <a:rPr lang="en-US" dirty="0"/>
              <a:t>You can have 1 bag, which can carry 50 </a:t>
            </a:r>
            <a:r>
              <a:rPr lang="en-US" dirty="0" err="1"/>
              <a:t>lbs</a:t>
            </a:r>
            <a:r>
              <a:rPr lang="en-US" dirty="0"/>
              <a:t> at most</a:t>
            </a:r>
          </a:p>
          <a:p>
            <a:pPr lvl="1"/>
            <a:r>
              <a:rPr lang="en-US" dirty="0"/>
              <a:t>You can only put bread, steak, chicken and chocolate into your bag</a:t>
            </a:r>
          </a:p>
          <a:p>
            <a:pPr lvl="1"/>
            <a:r>
              <a:rPr lang="en-US" dirty="0"/>
              <a:t>Each item enables you survive for a specific number of days for each pound you take</a:t>
            </a:r>
          </a:p>
          <a:p>
            <a:pPr marL="914400" lvl="2" indent="0">
              <a:buNone/>
            </a:pPr>
            <a:r>
              <a:rPr lang="en-US" dirty="0">
                <a:sym typeface="Wingdings" pitchFamily="2" charset="2"/>
              </a:rPr>
              <a:t></a:t>
            </a:r>
            <a:r>
              <a:rPr lang="en-US" dirty="0"/>
              <a:t>Bread: 2 days/</a:t>
            </a:r>
            <a:r>
              <a:rPr lang="en-US" dirty="0" err="1"/>
              <a:t>lb</a:t>
            </a:r>
            <a:r>
              <a:rPr lang="en-US" dirty="0"/>
              <a:t>    </a:t>
            </a:r>
          </a:p>
          <a:p>
            <a:pPr marL="914400" lvl="2" indent="0">
              <a:buNone/>
            </a:pPr>
            <a:r>
              <a:rPr lang="en-US" dirty="0">
                <a:sym typeface="Wingdings" pitchFamily="2" charset="2"/>
              </a:rPr>
              <a:t></a:t>
            </a:r>
            <a:r>
              <a:rPr lang="en-US" dirty="0"/>
              <a:t>Steak: 5 days/</a:t>
            </a:r>
            <a:r>
              <a:rPr lang="en-US" dirty="0" err="1"/>
              <a:t>lb</a:t>
            </a:r>
            <a:endParaRPr lang="en-US" dirty="0"/>
          </a:p>
          <a:p>
            <a:pPr marL="914400" lvl="2" indent="0">
              <a:buNone/>
            </a:pPr>
            <a:r>
              <a:rPr lang="en-US" dirty="0">
                <a:sym typeface="Wingdings" pitchFamily="2" charset="2"/>
              </a:rPr>
              <a:t></a:t>
            </a:r>
            <a:r>
              <a:rPr lang="en-US" dirty="0"/>
              <a:t>Chicken: 3days/</a:t>
            </a:r>
            <a:r>
              <a:rPr lang="en-US" dirty="0" err="1"/>
              <a:t>lb</a:t>
            </a:r>
            <a:r>
              <a:rPr lang="en-US" dirty="0"/>
              <a:t>  </a:t>
            </a:r>
          </a:p>
          <a:p>
            <a:pPr marL="914400" lvl="2" indent="0">
              <a:buNone/>
            </a:pPr>
            <a:r>
              <a:rPr lang="en-US" dirty="0">
                <a:sym typeface="Wingdings" pitchFamily="2" charset="2"/>
              </a:rPr>
              <a:t></a:t>
            </a:r>
            <a:r>
              <a:rPr lang="en-US" dirty="0"/>
              <a:t>Chocolate: 6days/</a:t>
            </a:r>
            <a:r>
              <a:rPr lang="en-US" dirty="0" err="1"/>
              <a:t>lb</a:t>
            </a:r>
            <a:endParaRPr lang="en-US" dirty="0"/>
          </a:p>
          <a:p>
            <a:pPr lvl="1"/>
            <a:endParaRPr lang="en-US" dirty="0"/>
          </a:p>
          <a:p>
            <a:endParaRPr lang="en-US" dirty="0"/>
          </a:p>
        </p:txBody>
      </p:sp>
    </p:spTree>
    <p:extLst>
      <p:ext uri="{BB962C8B-B14F-4D97-AF65-F5344CB8AC3E}">
        <p14:creationId xmlns:p14="http://schemas.microsoft.com/office/powerpoint/2010/main" val="71521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b="1" u="sng" dirty="0"/>
                  <a:t>An Example: Surviving in an Island (not in the textbook)</a:t>
                </a:r>
              </a:p>
              <a:p>
                <a:r>
                  <a:rPr lang="en-US" b="1" dirty="0">
                    <a:solidFill>
                      <a:srgbClr val="C00000"/>
                    </a:solidFill>
                  </a:rPr>
                  <a:t>STEP 1: </a:t>
                </a:r>
                <a:r>
                  <a:rPr lang="en-US" dirty="0"/>
                  <a:t>Identify your decision variables</a:t>
                </a:r>
              </a:p>
              <a:p>
                <a:pPr lvl="1"/>
                <a:r>
                  <a:rPr lang="en-US" dirty="0"/>
                  <a:t>Decision variables are the things you control</a:t>
                </a:r>
              </a:p>
              <a:p>
                <a:pPr lvl="2"/>
                <a:r>
                  <a:rPr lang="en-US" dirty="0"/>
                  <a:t>Ultimately, you are trying to figure out their values to prescribe the best course of action</a:t>
                </a:r>
              </a:p>
              <a:p>
                <a:pPr lvl="1"/>
                <a:r>
                  <a:rPr lang="en-US" dirty="0"/>
                  <a:t>The amount of each item you will take with you</a:t>
                </a:r>
              </a:p>
              <a:p>
                <a:pPr lvl="1"/>
                <a:r>
                  <a:rPr lang="en-US" dirty="0"/>
                  <a:t>We have four items, so we have for decision variables</a:t>
                </a:r>
              </a:p>
              <a:p>
                <a:pPr lvl="2"/>
                <a:r>
                  <a:rPr lang="en-US" dirty="0"/>
                  <a:t>Define a mathematical notation for each variable:</a:t>
                </a:r>
              </a:p>
              <a:p>
                <a:pPr lvl="3"/>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r>
                      <a:rPr lang="en-US" sz="2400" b="0" i="1" smtClean="0">
                        <a:latin typeface="Cambria Math"/>
                      </a:rPr>
                      <m:t>:</m:t>
                    </m:r>
                    <m:r>
                      <a:rPr lang="en-US" sz="2400" b="0" i="1" smtClean="0">
                        <a:latin typeface="Cambria Math"/>
                      </a:rPr>
                      <m:t>𝑡h𝑒</m:t>
                    </m:r>
                    <m:r>
                      <a:rPr lang="en-US" sz="2400" b="0" i="1" smtClean="0">
                        <a:latin typeface="Cambria Math"/>
                      </a:rPr>
                      <m:t> </m:t>
                    </m:r>
                    <m:r>
                      <a:rPr lang="en-US" sz="2400" b="0" i="1" smtClean="0">
                        <a:latin typeface="Cambria Math"/>
                      </a:rPr>
                      <m:t>𝑎𝑚𝑜𝑢𝑛𝑡</m:t>
                    </m:r>
                    <m:r>
                      <a:rPr lang="en-US" sz="2400" b="0" i="1" smtClean="0">
                        <a:latin typeface="Cambria Math"/>
                      </a:rPr>
                      <m:t> </m:t>
                    </m:r>
                    <m:r>
                      <a:rPr lang="en-US" sz="2400" b="0" i="1" smtClean="0">
                        <a:latin typeface="Cambria Math"/>
                      </a:rPr>
                      <m:t>𝑜𝑓</m:t>
                    </m:r>
                    <m:r>
                      <a:rPr lang="en-US" sz="2400" b="0" i="1" smtClean="0">
                        <a:latin typeface="Cambria Math"/>
                      </a:rPr>
                      <m:t> </m:t>
                    </m:r>
                    <m:r>
                      <a:rPr lang="en-US" sz="2400" b="0" i="1" smtClean="0">
                        <a:latin typeface="Cambria Math"/>
                      </a:rPr>
                      <m:t>𝑏𝑟𝑒𝑎𝑑</m:t>
                    </m:r>
                    <m:r>
                      <a:rPr lang="en-US" sz="2400" b="0" i="1" smtClean="0">
                        <a:latin typeface="Cambria Math"/>
                      </a:rPr>
                      <m:t> (</m:t>
                    </m:r>
                    <m:r>
                      <a:rPr lang="en-US" sz="2400" b="0" i="1" smtClean="0">
                        <a:latin typeface="Cambria Math"/>
                      </a:rPr>
                      <m:t>𝑙𝑏𝑠</m:t>
                    </m:r>
                    <m:r>
                      <a:rPr lang="en-US" sz="2400" b="0" i="1" smtClean="0">
                        <a:latin typeface="Cambria Math"/>
                      </a:rPr>
                      <m:t>)</m:t>
                    </m:r>
                  </m:oMath>
                </a14:m>
                <a:endParaRPr lang="en-US" sz="2400" i="1" dirty="0"/>
              </a:p>
              <a:p>
                <a:pPr lvl="3"/>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b="0" i="1" smtClean="0">
                            <a:latin typeface="Cambria Math"/>
                          </a:rPr>
                          <m:t>2</m:t>
                        </m:r>
                      </m:sub>
                    </m:sSub>
                    <m:r>
                      <a:rPr lang="en-US" sz="2400" b="0" i="1" smtClean="0">
                        <a:latin typeface="Cambria Math"/>
                      </a:rPr>
                      <m:t>:</m:t>
                    </m:r>
                    <m:r>
                      <a:rPr lang="en-US" sz="2400" b="0" i="1" smtClean="0">
                        <a:latin typeface="Cambria Math"/>
                      </a:rPr>
                      <m:t>𝑡h𝑒</m:t>
                    </m:r>
                    <m:r>
                      <a:rPr lang="en-US" sz="2400" b="0" i="1" smtClean="0">
                        <a:latin typeface="Cambria Math"/>
                      </a:rPr>
                      <m:t> </m:t>
                    </m:r>
                    <m:r>
                      <a:rPr lang="en-US" sz="2400" b="0" i="1" smtClean="0">
                        <a:latin typeface="Cambria Math"/>
                      </a:rPr>
                      <m:t>𝑎𝑚𝑜𝑢𝑛𝑡</m:t>
                    </m:r>
                    <m:r>
                      <a:rPr lang="en-US" sz="2400" b="0" i="1" smtClean="0">
                        <a:latin typeface="Cambria Math"/>
                      </a:rPr>
                      <m:t> </m:t>
                    </m:r>
                    <m:r>
                      <a:rPr lang="en-US" sz="2400" b="0" i="1" smtClean="0">
                        <a:latin typeface="Cambria Math"/>
                      </a:rPr>
                      <m:t>𝑜𝑓</m:t>
                    </m:r>
                    <m:r>
                      <a:rPr lang="en-US" sz="2400" b="0" i="1" smtClean="0">
                        <a:latin typeface="Cambria Math"/>
                      </a:rPr>
                      <m:t> </m:t>
                    </m:r>
                    <m:r>
                      <a:rPr lang="en-US" sz="2400" b="0" i="1" smtClean="0">
                        <a:latin typeface="Cambria Math"/>
                      </a:rPr>
                      <m:t>𝑠𝑡𝑒𝑎𝑘</m:t>
                    </m:r>
                    <m:r>
                      <a:rPr lang="en-US" sz="2400" b="0" i="1" smtClean="0">
                        <a:latin typeface="Cambria Math"/>
                      </a:rPr>
                      <m:t> (</m:t>
                    </m:r>
                    <m:r>
                      <a:rPr lang="en-US" sz="2400" b="0" i="1" smtClean="0">
                        <a:latin typeface="Cambria Math"/>
                      </a:rPr>
                      <m:t>𝑙𝑏𝑠</m:t>
                    </m:r>
                    <m:r>
                      <a:rPr lang="en-US" sz="2400" b="0" i="1" smtClean="0">
                        <a:latin typeface="Cambria Math"/>
                      </a:rPr>
                      <m:t>) </m:t>
                    </m:r>
                  </m:oMath>
                </a14:m>
                <a:endParaRPr lang="en-US" sz="2400" i="1" dirty="0"/>
              </a:p>
              <a:p>
                <a:pPr lvl="3"/>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b="0" i="1" smtClean="0">
                            <a:latin typeface="Cambria Math"/>
                          </a:rPr>
                          <m:t>3</m:t>
                        </m:r>
                      </m:sub>
                    </m:sSub>
                    <m:r>
                      <a:rPr lang="en-US" sz="2400" b="0" i="1" smtClean="0">
                        <a:latin typeface="Cambria Math"/>
                      </a:rPr>
                      <m:t>:</m:t>
                    </m:r>
                    <m:r>
                      <a:rPr lang="en-US" sz="2400" b="0" i="1" smtClean="0">
                        <a:latin typeface="Cambria Math"/>
                      </a:rPr>
                      <m:t>𝑡h𝑒</m:t>
                    </m:r>
                    <m:r>
                      <a:rPr lang="en-US" sz="2400" b="0" i="1" smtClean="0">
                        <a:latin typeface="Cambria Math"/>
                      </a:rPr>
                      <m:t> </m:t>
                    </m:r>
                    <m:r>
                      <a:rPr lang="en-US" sz="2400" b="0" i="1" smtClean="0">
                        <a:latin typeface="Cambria Math"/>
                      </a:rPr>
                      <m:t>𝑎𝑚𝑜𝑢𝑛𝑡</m:t>
                    </m:r>
                    <m:r>
                      <a:rPr lang="en-US" sz="2400" b="0" i="1" smtClean="0">
                        <a:latin typeface="Cambria Math"/>
                      </a:rPr>
                      <m:t> </m:t>
                    </m:r>
                    <m:r>
                      <a:rPr lang="en-US" sz="2400" b="0" i="1" smtClean="0">
                        <a:latin typeface="Cambria Math"/>
                      </a:rPr>
                      <m:t>𝑜𝑓</m:t>
                    </m:r>
                    <m:r>
                      <a:rPr lang="en-US" sz="2400" b="0" i="1" smtClean="0">
                        <a:latin typeface="Cambria Math"/>
                      </a:rPr>
                      <m:t> </m:t>
                    </m:r>
                    <m:r>
                      <a:rPr lang="en-US" sz="2400" b="0" i="1" smtClean="0">
                        <a:latin typeface="Cambria Math"/>
                      </a:rPr>
                      <m:t>𝑐h𝑖𝑐𝑘𝑒𝑛</m:t>
                    </m:r>
                    <m:r>
                      <a:rPr lang="en-US" sz="2400" b="0" i="1" smtClean="0">
                        <a:latin typeface="Cambria Math"/>
                      </a:rPr>
                      <m:t> (</m:t>
                    </m:r>
                    <m:r>
                      <a:rPr lang="en-US" sz="2400" b="0" i="1" smtClean="0">
                        <a:latin typeface="Cambria Math"/>
                      </a:rPr>
                      <m:t>𝑙𝑏𝑠</m:t>
                    </m:r>
                    <m:r>
                      <a:rPr lang="en-US" sz="2400" b="0" i="1" smtClean="0">
                        <a:latin typeface="Cambria Math"/>
                      </a:rPr>
                      <m:t>)</m:t>
                    </m:r>
                  </m:oMath>
                </a14:m>
                <a:endParaRPr lang="en-US" sz="2400" i="1" dirty="0"/>
              </a:p>
              <a:p>
                <a:pPr lvl="3"/>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b="0" i="1" smtClean="0">
                            <a:latin typeface="Cambria Math"/>
                          </a:rPr>
                          <m:t>4</m:t>
                        </m:r>
                      </m:sub>
                    </m:sSub>
                    <m:r>
                      <a:rPr lang="en-US" sz="2400" b="0" i="1" smtClean="0">
                        <a:latin typeface="Cambria Math"/>
                      </a:rPr>
                      <m:t>:</m:t>
                    </m:r>
                    <m:r>
                      <a:rPr lang="en-US" sz="2400" b="0" i="1" smtClean="0">
                        <a:latin typeface="Cambria Math"/>
                      </a:rPr>
                      <m:t>𝑡h𝑒</m:t>
                    </m:r>
                    <m:r>
                      <a:rPr lang="en-US" sz="2400" b="0" i="1" smtClean="0">
                        <a:latin typeface="Cambria Math"/>
                      </a:rPr>
                      <m:t> </m:t>
                    </m:r>
                    <m:r>
                      <a:rPr lang="en-US" sz="2400" b="0" i="1" smtClean="0">
                        <a:latin typeface="Cambria Math"/>
                      </a:rPr>
                      <m:t>𝑎𝑚𝑜𝑢𝑛𝑡</m:t>
                    </m:r>
                    <m:r>
                      <a:rPr lang="en-US" sz="2400" b="0" i="1" smtClean="0">
                        <a:latin typeface="Cambria Math"/>
                      </a:rPr>
                      <m:t> </m:t>
                    </m:r>
                    <m:r>
                      <a:rPr lang="en-US" sz="2400" b="0" i="1" smtClean="0">
                        <a:latin typeface="Cambria Math"/>
                      </a:rPr>
                      <m:t>𝑜𝑓</m:t>
                    </m:r>
                    <m:r>
                      <a:rPr lang="en-US" sz="2400" b="0" i="1" smtClean="0">
                        <a:latin typeface="Cambria Math"/>
                      </a:rPr>
                      <m:t> </m:t>
                    </m:r>
                    <m:r>
                      <a:rPr lang="en-US" sz="2400" b="0" i="1" smtClean="0">
                        <a:latin typeface="Cambria Math"/>
                      </a:rPr>
                      <m:t>𝑐h𝑜𝑐𝑜𝑙𝑎𝑡𝑒</m:t>
                    </m:r>
                    <m:r>
                      <a:rPr lang="en-US" sz="2400" b="0" i="1" smtClean="0">
                        <a:latin typeface="Cambria Math"/>
                      </a:rPr>
                      <m:t> </m:t>
                    </m:r>
                    <m:d>
                      <m:dPr>
                        <m:ctrlPr>
                          <a:rPr lang="en-US" sz="2400" b="0" i="1" smtClean="0">
                            <a:latin typeface="Cambria Math" panose="02040503050406030204" pitchFamily="18" charset="0"/>
                          </a:rPr>
                        </m:ctrlPr>
                      </m:dPr>
                      <m:e>
                        <m:r>
                          <a:rPr lang="en-US" sz="2400" b="0" i="1" smtClean="0">
                            <a:latin typeface="Cambria Math"/>
                          </a:rPr>
                          <m:t>𝑙𝑏𝑠</m:t>
                        </m:r>
                      </m:e>
                    </m:d>
                  </m:oMath>
                </a14:m>
                <a:endParaRPr lang="en-US" b="0" dirty="0"/>
              </a:p>
              <a:p>
                <a:pPr lvl="2"/>
                <a:r>
                  <a:rPr lang="en-US" dirty="0"/>
                  <a:t>Need to define the metric of the variable as well (in this problem, </a:t>
                </a:r>
                <a:r>
                  <a:rPr lang="en-US" dirty="0" err="1"/>
                  <a:t>lbs</a:t>
                </a:r>
                <a:r>
                  <a:rPr lang="en-US" dirty="0"/>
                  <a:t> makes sense)</a:t>
                </a:r>
                <a:endParaRPr lang="en-US" b="0" dirty="0"/>
              </a:p>
              <a:p>
                <a:pPr marL="457200" lvl="1" indent="0">
                  <a:buNone/>
                </a:pPr>
                <a:r>
                  <a:rPr lang="en-US" sz="2200" dirty="0"/>
                  <a:t>		</a:t>
                </a:r>
                <a:r>
                  <a:rPr lang="en-US" sz="1800" u="sng" dirty="0">
                    <a:solidFill>
                      <a:srgbClr val="C00000"/>
                    </a:solidFill>
                  </a:rPr>
                  <a:t>Warning: </a:t>
                </a:r>
                <a:r>
                  <a:rPr lang="en-US" sz="1800" u="sng" dirty="0"/>
                  <a:t>Always be careful with the metrics (try to use the same metrics)</a:t>
                </a:r>
              </a:p>
              <a:p>
                <a:pPr lvl="1"/>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56" t="-2757" b="-376"/>
                </a:stretch>
              </a:blipFill>
            </p:spPr>
            <p:txBody>
              <a:bodyPr/>
              <a:lstStyle/>
              <a:p>
                <a:r>
                  <a:rPr lang="en-US">
                    <a:noFill/>
                  </a:rPr>
                  <a:t> </a:t>
                </a:r>
              </a:p>
            </p:txBody>
          </p:sp>
        </mc:Fallback>
      </mc:AlternateContent>
    </p:spTree>
    <p:extLst>
      <p:ext uri="{BB962C8B-B14F-4D97-AF65-F5344CB8AC3E}">
        <p14:creationId xmlns:p14="http://schemas.microsoft.com/office/powerpoint/2010/main" val="317902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Effect transition="in" filter="fade">
                                      <p:cBhvr>
                                        <p:cTn id="41" dur="500"/>
                                        <p:tgtEl>
                                          <p:spTgt spid="3">
                                            <p:txEl>
                                              <p:pRg st="11" end="11"/>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2" end="12"/>
                                            </p:txEl>
                                          </p:spTgt>
                                        </p:tgtEl>
                                        <p:attrNameLst>
                                          <p:attrName>style.visibility</p:attrName>
                                        </p:attrNameLst>
                                      </p:cBhvr>
                                      <p:to>
                                        <p:strVal val="visible"/>
                                      </p:to>
                                    </p:set>
                                    <p:animEffect transition="in" filter="fade">
                                      <p:cBhvr>
                                        <p:cTn id="44"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An Example: Surviving in an Island (not in the textbook)</a:t>
                </a:r>
              </a:p>
              <a:p>
                <a:r>
                  <a:rPr lang="en-US" b="1" dirty="0">
                    <a:solidFill>
                      <a:srgbClr val="C00000"/>
                    </a:solidFill>
                  </a:rPr>
                  <a:t>STEP 2: </a:t>
                </a:r>
                <a:r>
                  <a:rPr lang="en-US" dirty="0"/>
                  <a:t>Define your objective function and objective</a:t>
                </a:r>
              </a:p>
              <a:p>
                <a:pPr lvl="1"/>
                <a:r>
                  <a:rPr lang="en-US" dirty="0"/>
                  <a:t>Your </a:t>
                </a:r>
                <a:r>
                  <a:rPr lang="en-US" u="sng" dirty="0"/>
                  <a:t>objective function </a:t>
                </a:r>
                <a:r>
                  <a:rPr lang="en-US" dirty="0"/>
                  <a:t>is the measure of performance as a result of your decisions</a:t>
                </a:r>
              </a:p>
              <a:p>
                <a:pPr lvl="1"/>
                <a:r>
                  <a:rPr lang="en-US" dirty="0"/>
                  <a:t>Your </a:t>
                </a:r>
                <a:r>
                  <a:rPr lang="en-US" u="sng" dirty="0"/>
                  <a:t>objective</a:t>
                </a:r>
                <a:r>
                  <a:rPr lang="en-US" dirty="0"/>
                  <a:t> is what you want to do with your objective function</a:t>
                </a:r>
              </a:p>
              <a:p>
                <a:pPr lvl="1"/>
                <a:r>
                  <a:rPr lang="en-US" dirty="0"/>
                  <a:t>Recall that you want to maximize the number of days you will survive in the island</a:t>
                </a:r>
              </a:p>
              <a:p>
                <a:pPr lvl="1"/>
                <a:r>
                  <a:rPr lang="en-US" dirty="0"/>
                  <a:t>Express the performance of measure as a function of your decision variables to get the objective function</a:t>
                </a:r>
              </a:p>
              <a:p>
                <a:pPr lvl="2"/>
                <a:r>
                  <a:rPr lang="en-US" dirty="0"/>
                  <a:t>If you take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oMath>
                </a14:m>
                <a:r>
                  <a:rPr lang="en-US" dirty="0"/>
                  <a:t> </a:t>
                </a:r>
                <a:r>
                  <a:rPr lang="en-US" dirty="0" err="1"/>
                  <a:t>lbs</a:t>
                </a:r>
                <a:r>
                  <a:rPr lang="en-US" dirty="0"/>
                  <a:t> of bread, you will survive for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2</m:t>
                        </m:r>
                        <m:r>
                          <a:rPr lang="en-US" i="1">
                            <a:latin typeface="Cambria Math"/>
                          </a:rPr>
                          <m:t>𝑥</m:t>
                        </m:r>
                      </m:e>
                      <m:sub>
                        <m:r>
                          <a:rPr lang="en-US" i="1">
                            <a:latin typeface="Cambria Math"/>
                          </a:rPr>
                          <m:t>1</m:t>
                        </m:r>
                      </m:sub>
                    </m:sSub>
                  </m:oMath>
                </a14:m>
                <a:r>
                  <a:rPr lang="en-US" dirty="0"/>
                  <a:t> days</a:t>
                </a:r>
              </a:p>
              <a:p>
                <a:pPr lvl="2"/>
                <a:r>
                  <a:rPr lang="en-US" dirty="0"/>
                  <a:t>If you take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2</m:t>
                        </m:r>
                      </m:sub>
                    </m:sSub>
                  </m:oMath>
                </a14:m>
                <a:r>
                  <a:rPr lang="en-US" dirty="0"/>
                  <a:t> </a:t>
                </a:r>
                <a:r>
                  <a:rPr lang="en-US" dirty="0" err="1"/>
                  <a:t>lbs</a:t>
                </a:r>
                <a:r>
                  <a:rPr lang="en-US" dirty="0"/>
                  <a:t> of steak, you will survive for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5</m:t>
                        </m:r>
                        <m:r>
                          <a:rPr lang="en-US" i="1">
                            <a:latin typeface="Cambria Math"/>
                          </a:rPr>
                          <m:t>𝑥</m:t>
                        </m:r>
                      </m:e>
                      <m:sub>
                        <m:r>
                          <a:rPr lang="en-US" b="0" i="1" smtClean="0">
                            <a:latin typeface="Cambria Math" panose="02040503050406030204" pitchFamily="18" charset="0"/>
                          </a:rPr>
                          <m:t>2</m:t>
                        </m:r>
                      </m:sub>
                    </m:sSub>
                  </m:oMath>
                </a14:m>
                <a:r>
                  <a:rPr lang="en-US" dirty="0"/>
                  <a:t> days</a:t>
                </a:r>
              </a:p>
              <a:p>
                <a:pPr lvl="2"/>
                <a:r>
                  <a:rPr lang="en-US" dirty="0"/>
                  <a:t>If you take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3</m:t>
                        </m:r>
                      </m:sub>
                    </m:sSub>
                  </m:oMath>
                </a14:m>
                <a:r>
                  <a:rPr lang="en-US" dirty="0"/>
                  <a:t> </a:t>
                </a:r>
                <a:r>
                  <a:rPr lang="en-US" dirty="0" err="1"/>
                  <a:t>lbs</a:t>
                </a:r>
                <a:r>
                  <a:rPr lang="en-US" dirty="0"/>
                  <a:t> of chicken, you will survive for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3</m:t>
                        </m:r>
                        <m:r>
                          <a:rPr lang="en-US" i="1">
                            <a:latin typeface="Cambria Math"/>
                          </a:rPr>
                          <m:t>𝑥</m:t>
                        </m:r>
                      </m:e>
                      <m:sub>
                        <m:r>
                          <a:rPr lang="en-US" b="0" i="1" smtClean="0">
                            <a:latin typeface="Cambria Math" panose="02040503050406030204" pitchFamily="18" charset="0"/>
                          </a:rPr>
                          <m:t>3</m:t>
                        </m:r>
                      </m:sub>
                    </m:sSub>
                  </m:oMath>
                </a14:m>
                <a:r>
                  <a:rPr lang="en-US" dirty="0"/>
                  <a:t> days</a:t>
                </a:r>
              </a:p>
              <a:p>
                <a:pPr lvl="2"/>
                <a:r>
                  <a:rPr lang="en-US" dirty="0"/>
                  <a:t>If you take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4</m:t>
                        </m:r>
                      </m:sub>
                    </m:sSub>
                  </m:oMath>
                </a14:m>
                <a:r>
                  <a:rPr lang="en-US" dirty="0"/>
                  <a:t> </a:t>
                </a:r>
                <a:r>
                  <a:rPr lang="en-US" dirty="0" err="1"/>
                  <a:t>lbs</a:t>
                </a:r>
                <a:r>
                  <a:rPr lang="en-US" dirty="0"/>
                  <a:t> of chocolate, you will survive for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6</m:t>
                        </m:r>
                        <m:r>
                          <a:rPr lang="en-US" i="1">
                            <a:latin typeface="Cambria Math"/>
                          </a:rPr>
                          <m:t>𝑥</m:t>
                        </m:r>
                      </m:e>
                      <m:sub>
                        <m:r>
                          <a:rPr lang="en-US" b="0" i="1" smtClean="0">
                            <a:latin typeface="Cambria Math" panose="02040503050406030204" pitchFamily="18" charset="0"/>
                          </a:rPr>
                          <m:t>4</m:t>
                        </m:r>
                      </m:sub>
                    </m:sSub>
                  </m:oMath>
                </a14:m>
                <a:r>
                  <a:rPr lang="en-US" dirty="0"/>
                  <a:t> days</a:t>
                </a:r>
              </a:p>
              <a:p>
                <a:pPr lvl="1"/>
                <a:r>
                  <a:rPr lang="en-US" dirty="0"/>
                  <a:t>Then objective function in terms of decision variables:</a:t>
                </a:r>
              </a:p>
              <a:p>
                <a:pPr marL="457200" lvl="1"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550920" y="6022930"/>
                <a:ext cx="16002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𝑀𝑎𝑥𝑖𝑚𝑖𝑧𝑒</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3550920" y="6022930"/>
                <a:ext cx="1600200" cy="523220"/>
              </a:xfrm>
              <a:prstGeom prst="rect">
                <a:avLst/>
              </a:prstGeom>
              <a:blipFill rotWithShape="0">
                <a:blip r:embed="rId3"/>
                <a:stretch>
                  <a:fillRect r="-19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5669038" y="6022930"/>
                <a:ext cx="375250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a:rPr>
                            <m:t>2</m:t>
                          </m:r>
                          <m:r>
                            <a:rPr lang="en-US" sz="2800" i="1">
                              <a:latin typeface="Cambria Math"/>
                            </a:rPr>
                            <m:t>𝑥</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5</m:t>
                          </m:r>
                          <m:r>
                            <a:rPr lang="en-US" sz="2800" i="1">
                              <a:latin typeface="Cambria Math"/>
                            </a:rPr>
                            <m:t>𝑥</m:t>
                          </m:r>
                        </m:e>
                        <m:sub>
                          <m:r>
                            <a:rPr lang="en-US" sz="2800" i="1">
                              <a:latin typeface="Cambria Math"/>
                            </a:rPr>
                            <m:t>2</m:t>
                          </m:r>
                        </m:sub>
                      </m:sSub>
                      <m:r>
                        <a:rPr lang="en-US" sz="2800">
                          <a:latin typeface="Cambria Math"/>
                        </a:rPr>
                        <m:t>+</m:t>
                      </m:r>
                      <m:sSub>
                        <m:sSubPr>
                          <m:ctrlPr>
                            <a:rPr lang="en-US" sz="2800" i="1">
                              <a:latin typeface="Cambria Math" panose="02040503050406030204" pitchFamily="18" charset="0"/>
                            </a:rPr>
                          </m:ctrlPr>
                        </m:sSubPr>
                        <m:e>
                          <m:r>
                            <a:rPr lang="en-US" sz="2800" i="1">
                              <a:latin typeface="Cambria Math"/>
                            </a:rPr>
                            <m:t>3</m:t>
                          </m:r>
                          <m:r>
                            <a:rPr lang="en-US" sz="2800" i="1">
                              <a:latin typeface="Cambria Math"/>
                            </a:rPr>
                            <m:t>𝑥</m:t>
                          </m:r>
                        </m:e>
                        <m:sub>
                          <m:r>
                            <a:rPr lang="en-US" sz="2800" i="1">
                              <a:latin typeface="Cambria Math"/>
                            </a:rPr>
                            <m:t>3</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6</m:t>
                          </m:r>
                          <m:r>
                            <a:rPr lang="en-US" sz="2800" i="1">
                              <a:latin typeface="Cambria Math"/>
                            </a:rPr>
                            <m:t>𝑥</m:t>
                          </m:r>
                        </m:e>
                        <m:sub>
                          <m:r>
                            <a:rPr lang="en-US" sz="2800" i="1">
                              <a:latin typeface="Cambria Math"/>
                            </a:rPr>
                            <m:t>4</m:t>
                          </m:r>
                        </m:sub>
                      </m:sSub>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5669038" y="6022930"/>
                <a:ext cx="3752502" cy="52322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7818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An Example: Surviving in an Island (not in the textbook)</a:t>
                </a:r>
              </a:p>
              <a:p>
                <a:r>
                  <a:rPr lang="en-US" b="1" dirty="0">
                    <a:solidFill>
                      <a:srgbClr val="C00000"/>
                    </a:solidFill>
                  </a:rPr>
                  <a:t>STEP 3: </a:t>
                </a:r>
                <a:r>
                  <a:rPr lang="en-US" dirty="0"/>
                  <a:t>Define your restrictions (constraints)</a:t>
                </a:r>
              </a:p>
              <a:p>
                <a:pPr lvl="1"/>
                <a:r>
                  <a:rPr lang="en-US" dirty="0"/>
                  <a:t>There may be some restrictions which limit what you can do</a:t>
                </a:r>
              </a:p>
              <a:p>
                <a:pPr lvl="2"/>
                <a:r>
                  <a:rPr lang="en-US" dirty="0"/>
                  <a:t>These restrictions define the set of your alternatives</a:t>
                </a:r>
              </a:p>
              <a:p>
                <a:pPr lvl="1"/>
                <a:r>
                  <a:rPr lang="en-US" dirty="0"/>
                  <a:t>You can carry 1 bag and  it can carry 50 </a:t>
                </a:r>
                <a:r>
                  <a:rPr lang="en-US" dirty="0" err="1"/>
                  <a:t>lbs</a:t>
                </a:r>
                <a:r>
                  <a:rPr lang="en-US" dirty="0"/>
                  <a:t> at most</a:t>
                </a:r>
              </a:p>
              <a:p>
                <a:pPr lvl="4"/>
                <a:endParaRPr lang="en-US" dirty="0"/>
              </a:p>
              <a:p>
                <a:pPr marL="457200" lvl="1" indent="0">
                  <a:buNone/>
                </a:pPr>
                <a:endParaRPr lang="en-US" dirty="0"/>
              </a:p>
              <a:p>
                <a:pPr marL="457200" lvl="1" indent="0">
                  <a:buNone/>
                </a:pPr>
                <a:endParaRPr lang="en-US" dirty="0"/>
              </a:p>
              <a:p>
                <a:pPr marL="457200" lvl="1" indent="0">
                  <a:buNone/>
                </a:pPr>
                <a:endParaRPr lang="en-US" dirty="0"/>
              </a:p>
              <a:p>
                <a:pPr lvl="1"/>
                <a:endParaRPr lang="en-US" dirty="0"/>
              </a:p>
              <a:p>
                <a:pPr lvl="1"/>
                <a:r>
                  <a:rPr lang="en-US" dirty="0"/>
                  <a:t>You cannot get negative amounts!!!</a:t>
                </a:r>
              </a:p>
              <a:p>
                <a:pPr marL="457200" lvl="1" indent="0">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1</m:t>
                          </m:r>
                        </m:sub>
                      </m:sSub>
                      <m:r>
                        <a:rPr lang="en-US" sz="2800" i="1">
                          <a:latin typeface="Cambria Math"/>
                        </a:rPr>
                        <m:t>≥0, </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2</m:t>
                          </m:r>
                        </m:sub>
                      </m:sSub>
                      <m:r>
                        <a:rPr lang="en-US" sz="2800" i="1">
                          <a:latin typeface="Cambria Math"/>
                        </a:rPr>
                        <m:t>≥0,</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3</m:t>
                          </m:r>
                        </m:sub>
                      </m:sSub>
                      <m:r>
                        <a:rPr lang="en-US" sz="2800" i="1">
                          <a:latin typeface="Cambria Math"/>
                        </a:rPr>
                        <m:t>≥0, </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4</m:t>
                          </m:r>
                        </m:sub>
                      </m:sSub>
                      <m:r>
                        <a:rPr lang="en-US" sz="2800" i="1">
                          <a:latin typeface="Cambria Math"/>
                        </a:rPr>
                        <m:t>≥0</m:t>
                      </m:r>
                    </m:oMath>
                  </m:oMathPara>
                </a14:m>
                <a:endParaRPr lang="en-US" sz="2800"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56" t="-2005"/>
                </a:stretch>
              </a:blipFill>
            </p:spPr>
            <p:txBody>
              <a:bodyPr/>
              <a:lstStyle/>
              <a:p>
                <a:r>
                  <a:rPr lang="en-US">
                    <a:noFill/>
                  </a:rPr>
                  <a:t> </a:t>
                </a:r>
              </a:p>
            </p:txBody>
          </p:sp>
        </mc:Fallback>
      </mc:AlternateContent>
      <p:sp>
        <p:nvSpPr>
          <p:cNvPr id="6" name="Right Brace 5"/>
          <p:cNvSpPr/>
          <p:nvPr/>
        </p:nvSpPr>
        <p:spPr bwMode="auto">
          <a:xfrm rot="5400000">
            <a:off x="5176435" y="2810426"/>
            <a:ext cx="406570" cy="2819400"/>
          </a:xfrm>
          <a:prstGeom prst="rightBrace">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7" name="TextBox 6"/>
          <p:cNvSpPr txBox="1"/>
          <p:nvPr/>
        </p:nvSpPr>
        <p:spPr>
          <a:xfrm>
            <a:off x="3027045" y="4423411"/>
            <a:ext cx="4705349" cy="707886"/>
          </a:xfrm>
          <a:prstGeom prst="rect">
            <a:avLst/>
          </a:prstGeom>
          <a:noFill/>
        </p:spPr>
        <p:txBody>
          <a:bodyPr wrap="square" rtlCol="0">
            <a:spAutoFit/>
          </a:bodyPr>
          <a:lstStyle/>
          <a:p>
            <a:pPr algn="ctr"/>
            <a:r>
              <a:rPr lang="en-US" sz="2000" dirty="0">
                <a:solidFill>
                  <a:srgbClr val="C00000"/>
                </a:solidFill>
              </a:rPr>
              <a:t>Total amount you are going to carry             </a:t>
            </a:r>
            <a:r>
              <a:rPr lang="en-US" sz="2000" u="sng" dirty="0">
                <a:solidFill>
                  <a:srgbClr val="C00000"/>
                </a:solidFill>
              </a:rPr>
              <a:t>as a function of your decision variables</a:t>
            </a:r>
          </a:p>
        </p:txBody>
      </p:sp>
      <p:sp>
        <p:nvSpPr>
          <p:cNvPr id="8" name="Right Brace 7"/>
          <p:cNvSpPr/>
          <p:nvPr/>
        </p:nvSpPr>
        <p:spPr bwMode="auto">
          <a:xfrm>
            <a:off x="7703819" y="3500036"/>
            <a:ext cx="457201" cy="609600"/>
          </a:xfrm>
          <a:prstGeom prst="rightBrace">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9" name="TextBox 8"/>
          <p:cNvSpPr txBox="1"/>
          <p:nvPr/>
        </p:nvSpPr>
        <p:spPr>
          <a:xfrm>
            <a:off x="8103869" y="3527093"/>
            <a:ext cx="2503170" cy="707886"/>
          </a:xfrm>
          <a:prstGeom prst="rect">
            <a:avLst/>
          </a:prstGeom>
          <a:noFill/>
        </p:spPr>
        <p:txBody>
          <a:bodyPr wrap="square" rtlCol="0">
            <a:spAutoFit/>
          </a:bodyPr>
          <a:lstStyle/>
          <a:p>
            <a:pPr algn="ctr"/>
            <a:r>
              <a:rPr lang="en-US" sz="2000" dirty="0">
                <a:solidFill>
                  <a:srgbClr val="C00000"/>
                </a:solidFill>
              </a:rPr>
              <a:t>Limit on how much you can carry</a:t>
            </a:r>
          </a:p>
        </p:txBody>
      </p:sp>
      <p:sp>
        <p:nvSpPr>
          <p:cNvPr id="10" name="Horizontal Scroll 9"/>
          <p:cNvSpPr/>
          <p:nvPr/>
        </p:nvSpPr>
        <p:spPr>
          <a:xfrm>
            <a:off x="8873042" y="4423411"/>
            <a:ext cx="2960370" cy="2274570"/>
          </a:xfrm>
          <a:prstGeom prst="horizontalScroll">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solidFill>
                  <a:schemeClr val="tx1"/>
                </a:solidFill>
              </a:rPr>
              <a:t>Note: </a:t>
            </a:r>
            <a:r>
              <a:rPr lang="en-US" dirty="0">
                <a:solidFill>
                  <a:schemeClr val="tx1"/>
                </a:solidFill>
              </a:rPr>
              <a:t>Left-side and Right-side of a constraint should have the same metrics. It is wrong to say that $$ should be less than </a:t>
            </a:r>
            <a:r>
              <a:rPr lang="en-US" dirty="0" err="1">
                <a:solidFill>
                  <a:schemeClr val="tx1"/>
                </a:solidFill>
              </a:rPr>
              <a:t>lbs</a:t>
            </a:r>
            <a:r>
              <a:rPr lang="en-US" dirty="0">
                <a:solidFill>
                  <a:schemeClr val="tx1"/>
                </a:solidFill>
              </a:rPr>
              <a:t> </a:t>
            </a:r>
          </a:p>
        </p:txBody>
      </p:sp>
      <mc:AlternateContent xmlns:mc="http://schemas.openxmlformats.org/markup-compatibility/2006" xmlns:a14="http://schemas.microsoft.com/office/drawing/2010/main">
        <mc:Choice Requires="a14">
          <p:sp>
            <p:nvSpPr>
              <p:cNvPr id="5" name="Rectangle 4"/>
              <p:cNvSpPr/>
              <p:nvPr/>
            </p:nvSpPr>
            <p:spPr>
              <a:xfrm>
                <a:off x="3922363" y="3495823"/>
                <a:ext cx="29574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2</m:t>
                          </m:r>
                        </m:sub>
                      </m:sSub>
                      <m:r>
                        <a:rPr lang="en-US" sz="2800">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3</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4</m:t>
                          </m:r>
                        </m:sub>
                      </m:sSub>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3922363" y="3495823"/>
                <a:ext cx="2957412"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6794687" y="3492460"/>
                <a:ext cx="559769" cy="553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000" i="1">
                          <a:latin typeface="Cambria Math"/>
                        </a:rPr>
                        <m:t>≤</m:t>
                      </m:r>
                    </m:oMath>
                  </m:oMathPara>
                </a14:m>
                <a:endParaRPr lang="en-US" sz="3000" dirty="0"/>
              </a:p>
            </p:txBody>
          </p:sp>
        </mc:Choice>
        <mc:Fallback xmlns="">
          <p:sp>
            <p:nvSpPr>
              <p:cNvPr id="14" name="Rectangle 13"/>
              <p:cNvSpPr>
                <a:spLocks noRot="1" noChangeAspect="1" noMove="1" noResize="1" noEditPoints="1" noAdjustHandles="1" noChangeArrowheads="1" noChangeShapeType="1" noTextEdit="1"/>
              </p:cNvSpPr>
              <p:nvPr/>
            </p:nvSpPr>
            <p:spPr>
              <a:xfrm>
                <a:off x="6794687" y="3492460"/>
                <a:ext cx="559769" cy="5539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7123145" y="3531020"/>
                <a:ext cx="792177"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50</m:t>
                      </m:r>
                    </m:oMath>
                  </m:oMathPara>
                </a14:m>
                <a:endParaRPr lang="en-US" sz="2800" dirty="0"/>
              </a:p>
            </p:txBody>
          </p:sp>
        </mc:Choice>
        <mc:Fallback xmlns="">
          <p:sp>
            <p:nvSpPr>
              <p:cNvPr id="15" name="Rectangle 14"/>
              <p:cNvSpPr>
                <a:spLocks noRot="1" noChangeAspect="1" noMove="1" noResize="1" noEditPoints="1" noAdjustHandles="1" noChangeArrowheads="1" noChangeShapeType="1" noTextEdit="1"/>
              </p:cNvSpPr>
              <p:nvPr/>
            </p:nvSpPr>
            <p:spPr>
              <a:xfrm>
                <a:off x="7123145" y="3531020"/>
                <a:ext cx="792177" cy="523220"/>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5794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5"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An Example: Surviving in an Island (not in the textbook)</a:t>
                </a:r>
              </a:p>
              <a:p>
                <a:r>
                  <a:rPr lang="en-US" dirty="0"/>
                  <a:t>Combine your objective, objective function, and constraints</a:t>
                </a:r>
              </a:p>
              <a:p>
                <a:pPr marL="0" indent="0">
                  <a:buNone/>
                </a:pPr>
                <a:endParaRPr lang="en-US" dirty="0"/>
              </a:p>
              <a:p>
                <a:pPr marL="0"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2</m:t>
                        </m:r>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5</m:t>
                        </m:r>
                        <m:r>
                          <a:rPr lang="en-US" i="1">
                            <a:latin typeface="Cambria Math"/>
                          </a:rPr>
                          <m:t>𝑥</m:t>
                        </m:r>
                      </m:e>
                      <m:sub>
                        <m:r>
                          <a:rPr lang="en-US" i="1">
                            <a:latin typeface="Cambria Math"/>
                          </a:rPr>
                          <m:t>2</m:t>
                        </m:r>
                      </m:sub>
                    </m:sSub>
                    <m:r>
                      <a:rPr lang="en-US">
                        <a:latin typeface="Cambria Math"/>
                      </a:rPr>
                      <m:t>+</m:t>
                    </m:r>
                    <m:sSub>
                      <m:sSubPr>
                        <m:ctrlPr>
                          <a:rPr lang="en-US" i="1">
                            <a:latin typeface="Cambria Math" panose="02040503050406030204" pitchFamily="18" charset="0"/>
                          </a:rPr>
                        </m:ctrlPr>
                      </m:sSubPr>
                      <m:e>
                        <m:r>
                          <a:rPr lang="en-US" i="1">
                            <a:latin typeface="Cambria Math"/>
                          </a:rPr>
                          <m:t>3</m:t>
                        </m:r>
                        <m:r>
                          <a:rPr lang="en-US" i="1">
                            <a:latin typeface="Cambria Math"/>
                          </a:rPr>
                          <m:t>𝑥</m:t>
                        </m:r>
                      </m:e>
                      <m:sub>
                        <m:r>
                          <a:rPr lang="en-US" i="1">
                            <a:latin typeface="Cambria Math"/>
                          </a:rPr>
                          <m:t>3</m:t>
                        </m:r>
                      </m:sub>
                    </m:sSub>
                    <m:r>
                      <a:rPr lang="en-US" i="1">
                        <a:latin typeface="Cambria Math"/>
                      </a:rPr>
                      <m:t>+</m:t>
                    </m:r>
                    <m:sSub>
                      <m:sSubPr>
                        <m:ctrlPr>
                          <a:rPr lang="en-US" i="1">
                            <a:latin typeface="Cambria Math" panose="02040503050406030204" pitchFamily="18" charset="0"/>
                          </a:rPr>
                        </m:ctrlPr>
                      </m:sSubPr>
                      <m:e>
                        <m:r>
                          <a:rPr lang="en-US" i="1">
                            <a:latin typeface="Cambria Math"/>
                          </a:rPr>
                          <m:t>6</m:t>
                        </m:r>
                        <m:r>
                          <a:rPr lang="en-US" i="1">
                            <a:latin typeface="Cambria Math"/>
                          </a:rPr>
                          <m:t>𝑥</m:t>
                        </m:r>
                      </m:e>
                      <m:sub>
                        <m:r>
                          <a:rPr lang="en-US" i="1">
                            <a:latin typeface="Cambria Math"/>
                          </a:rPr>
                          <m:t>4</m:t>
                        </m:r>
                      </m:sub>
                    </m:sSub>
                  </m:oMath>
                </a14:m>
                <a:endParaRPr lang="en-US" dirty="0"/>
              </a:p>
              <a:p>
                <a:pPr marL="0" lvl="1" indent="0">
                  <a:buNone/>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2</m:t>
                        </m:r>
                      </m:sub>
                    </m:sSub>
                    <m:r>
                      <a:rPr lang="en-US" sz="2800">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3</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4</m:t>
                        </m:r>
                      </m:sub>
                    </m:sSub>
                    <m:r>
                      <a:rPr lang="en-US" sz="2800" i="1">
                        <a:latin typeface="Cambria Math"/>
                      </a:rPr>
                      <m:t>≤50</m:t>
                    </m:r>
                  </m:oMath>
                </a14:m>
                <a:endParaRPr lang="en-US" sz="2800" dirty="0"/>
              </a:p>
              <a:p>
                <a:pPr marL="0" lvl="1" indent="0">
                  <a:buNone/>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1</m:t>
                        </m:r>
                      </m:sub>
                    </m:sSub>
                    <m:r>
                      <a:rPr lang="en-US" sz="2800" i="1">
                        <a:latin typeface="Cambria Math"/>
                      </a:rPr>
                      <m:t>≥0, </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2</m:t>
                        </m:r>
                      </m:sub>
                    </m:sSub>
                    <m:r>
                      <a:rPr lang="en-US" sz="2800" i="1">
                        <a:latin typeface="Cambria Math"/>
                      </a:rPr>
                      <m:t>≥0,</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3</m:t>
                        </m:r>
                      </m:sub>
                    </m:sSub>
                    <m:r>
                      <a:rPr lang="en-US" sz="2800" i="1">
                        <a:latin typeface="Cambria Math"/>
                      </a:rPr>
                      <m:t>≥0, </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4</m:t>
                        </m:r>
                      </m:sub>
                    </m:sSub>
                    <m:r>
                      <a:rPr lang="en-US" sz="2800" i="1">
                        <a:latin typeface="Cambria Math"/>
                      </a:rPr>
                      <m:t>≥0</m:t>
                    </m:r>
                  </m:oMath>
                </a14:m>
                <a:endParaRPr lang="en-US" sz="2800" dirty="0"/>
              </a:p>
              <a:p>
                <a:pPr marL="0" lvl="1" indent="0">
                  <a:buNone/>
                </a:pPr>
                <a:endParaRPr lang="en-US" sz="2800" dirty="0"/>
              </a:p>
              <a:p>
                <a:pPr lvl="1"/>
                <a:r>
                  <a:rPr lang="en-US" dirty="0"/>
                  <a:t>This is your mathematical programming model!</a:t>
                </a:r>
              </a:p>
              <a:p>
                <a:pPr lvl="1"/>
                <a:r>
                  <a:rPr lang="en-US" dirty="0"/>
                  <a:t>This is a Linear Programming (LP) model because:</a:t>
                </a:r>
              </a:p>
              <a:p>
                <a:pPr lvl="2"/>
                <a:r>
                  <a:rPr lang="en-US" dirty="0"/>
                  <a:t>Decision variables are continuous variables (not forced to be integer or binary)</a:t>
                </a:r>
              </a:p>
              <a:p>
                <a:pPr lvl="2"/>
                <a:r>
                  <a:rPr lang="en-US" dirty="0"/>
                  <a:t>Everything is linear (objective function is linear, functions in the constraints are linear)</a:t>
                </a:r>
              </a:p>
              <a:p>
                <a:pPr lvl="1"/>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56" t="-2005" b="-1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1276056" y="2812558"/>
                <a:ext cx="16002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𝑀𝑎𝑥𝑖𝑚𝑖𝑧𝑒</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1276056" y="2812558"/>
                <a:ext cx="1600200" cy="523220"/>
              </a:xfrm>
              <a:prstGeom prst="rect">
                <a:avLst/>
              </a:prstGeom>
              <a:blipFill rotWithShape="0">
                <a:blip r:embed="rId3"/>
                <a:stretch>
                  <a:fillRect r="-19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326552" y="3221478"/>
                <a:ext cx="16002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𝑠𝑢𝑏𝑗𝑒𝑐𝑡</m:t>
                      </m:r>
                      <m:r>
                        <a:rPr lang="en-US" sz="2800" b="0" i="1" smtClean="0">
                          <a:latin typeface="Cambria Math"/>
                        </a:rPr>
                        <m:t> </m:t>
                      </m:r>
                      <m:r>
                        <a:rPr lang="en-US" sz="2800" b="0" i="1" smtClean="0">
                          <a:latin typeface="Cambria Math"/>
                        </a:rPr>
                        <m:t>𝑡𝑜</m:t>
                      </m:r>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1326552" y="3221478"/>
                <a:ext cx="1600200" cy="523220"/>
              </a:xfrm>
              <a:prstGeom prst="rect">
                <a:avLst/>
              </a:prstGeom>
              <a:blipFill rotWithShape="0">
                <a:blip r:embed="rId4"/>
                <a:stretch>
                  <a:fillRect r="-3817"/>
                </a:stretch>
              </a:blipFill>
            </p:spPr>
            <p:txBody>
              <a:bodyPr/>
              <a:lstStyle/>
              <a:p>
                <a:r>
                  <a:rPr lang="en-US">
                    <a:noFill/>
                  </a:rPr>
                  <a:t> </a:t>
                </a:r>
              </a:p>
            </p:txBody>
          </p:sp>
        </mc:Fallback>
      </mc:AlternateContent>
      <p:pic>
        <p:nvPicPr>
          <p:cNvPr id="6" name="Picture 4" descr="View details"/>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9458360" y="2682988"/>
            <a:ext cx="16002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78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An Example: Surviving in an Island (not in the textbook)</a:t>
                </a:r>
              </a:p>
              <a:p>
                <a:r>
                  <a:rPr lang="en-US" dirty="0"/>
                  <a:t>Suppose that you can also take cheese</a:t>
                </a:r>
              </a:p>
              <a:p>
                <a:pPr lvl="1"/>
                <a:r>
                  <a:rPr lang="en-US" dirty="0">
                    <a:solidFill>
                      <a:srgbClr val="C00000"/>
                    </a:solidFill>
                  </a:rPr>
                  <a:t>Cheese: </a:t>
                </a:r>
                <a:r>
                  <a:rPr lang="en-US" dirty="0"/>
                  <a:t>You can survive for 4 days with 1 </a:t>
                </a:r>
                <a:r>
                  <a:rPr lang="en-US" dirty="0" err="1"/>
                  <a:t>lb</a:t>
                </a:r>
                <a:r>
                  <a:rPr lang="en-US" dirty="0"/>
                  <a:t> of cheese</a:t>
                </a:r>
              </a:p>
              <a:p>
                <a:pPr lvl="2"/>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5</m:t>
                        </m:r>
                      </m:sub>
                    </m:sSub>
                    <m:r>
                      <a:rPr lang="en-US" sz="2400" i="1">
                        <a:latin typeface="Cambria Math"/>
                      </a:rPr>
                      <m:t>:</m:t>
                    </m:r>
                    <m:r>
                      <a:rPr lang="en-US" sz="2400" i="1">
                        <a:latin typeface="Cambria Math"/>
                      </a:rPr>
                      <m:t>𝑡h𝑒</m:t>
                    </m:r>
                    <m:r>
                      <a:rPr lang="en-US" sz="2400" i="1">
                        <a:latin typeface="Cambria Math"/>
                      </a:rPr>
                      <m:t> </m:t>
                    </m:r>
                    <m:r>
                      <a:rPr lang="en-US" sz="2400" i="1">
                        <a:latin typeface="Cambria Math"/>
                      </a:rPr>
                      <m:t>𝑎𝑚𝑜𝑢𝑛𝑓</m:t>
                    </m:r>
                    <m:r>
                      <a:rPr lang="en-US" sz="2400" i="1">
                        <a:latin typeface="Cambria Math"/>
                      </a:rPr>
                      <m:t> </m:t>
                    </m:r>
                    <m:r>
                      <a:rPr lang="en-US" sz="2400" i="1">
                        <a:latin typeface="Cambria Math"/>
                      </a:rPr>
                      <m:t>𝑜𝑓</m:t>
                    </m:r>
                    <m:r>
                      <a:rPr lang="en-US" sz="2400" i="1">
                        <a:latin typeface="Cambria Math"/>
                      </a:rPr>
                      <m:t> </m:t>
                    </m:r>
                    <m:r>
                      <a:rPr lang="en-US" sz="2400" i="1">
                        <a:latin typeface="Cambria Math"/>
                      </a:rPr>
                      <m:t>𝑐h𝑒𝑒𝑠𝑒</m:t>
                    </m:r>
                    <m:r>
                      <a:rPr lang="en-US" sz="2400" i="1">
                        <a:latin typeface="Cambria Math"/>
                      </a:rPr>
                      <m:t> </m:t>
                    </m:r>
                    <m:d>
                      <m:dPr>
                        <m:ctrlPr>
                          <a:rPr lang="en-US" sz="2400" i="1">
                            <a:latin typeface="Cambria Math" panose="02040503050406030204" pitchFamily="18" charset="0"/>
                          </a:rPr>
                        </m:ctrlPr>
                      </m:dPr>
                      <m:e>
                        <m:r>
                          <a:rPr lang="en-US" sz="2400" i="1">
                            <a:latin typeface="Cambria Math"/>
                          </a:rPr>
                          <m:t>𝑙𝑏𝑠</m:t>
                        </m:r>
                      </m:e>
                    </m:d>
                  </m:oMath>
                </a14:m>
                <a:endParaRPr lang="en-US" sz="2400" dirty="0"/>
              </a:p>
              <a:p>
                <a:pPr lvl="1"/>
                <a:r>
                  <a:rPr lang="en-US" dirty="0"/>
                  <a:t>We have a new decision variable: Update the LP model</a:t>
                </a:r>
              </a:p>
              <a:p>
                <a:pPr lvl="1"/>
                <a:endParaRPr lang="en-US" dirty="0"/>
              </a:p>
              <a:p>
                <a:pPr marL="0"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2</m:t>
                        </m:r>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5</m:t>
                        </m:r>
                        <m:r>
                          <a:rPr lang="en-US" i="1">
                            <a:latin typeface="Cambria Math"/>
                          </a:rPr>
                          <m:t>𝑥</m:t>
                        </m:r>
                      </m:e>
                      <m:sub>
                        <m:r>
                          <a:rPr lang="en-US" i="1">
                            <a:latin typeface="Cambria Math"/>
                          </a:rPr>
                          <m:t>2</m:t>
                        </m:r>
                      </m:sub>
                    </m:sSub>
                    <m:r>
                      <a:rPr lang="en-US">
                        <a:latin typeface="Cambria Math"/>
                      </a:rPr>
                      <m:t>+</m:t>
                    </m:r>
                    <m:sSub>
                      <m:sSubPr>
                        <m:ctrlPr>
                          <a:rPr lang="en-US" i="1">
                            <a:latin typeface="Cambria Math" panose="02040503050406030204" pitchFamily="18" charset="0"/>
                          </a:rPr>
                        </m:ctrlPr>
                      </m:sSubPr>
                      <m:e>
                        <m:r>
                          <a:rPr lang="en-US" i="1">
                            <a:latin typeface="Cambria Math"/>
                          </a:rPr>
                          <m:t>3</m:t>
                        </m:r>
                        <m:r>
                          <a:rPr lang="en-US" i="1">
                            <a:latin typeface="Cambria Math"/>
                          </a:rPr>
                          <m:t>𝑥</m:t>
                        </m:r>
                      </m:e>
                      <m:sub>
                        <m:r>
                          <a:rPr lang="en-US" i="1">
                            <a:latin typeface="Cambria Math"/>
                          </a:rPr>
                          <m:t>3</m:t>
                        </m:r>
                      </m:sub>
                    </m:sSub>
                    <m:r>
                      <a:rPr lang="en-US" i="1">
                        <a:latin typeface="Cambria Math"/>
                      </a:rPr>
                      <m:t>+</m:t>
                    </m:r>
                    <m:sSub>
                      <m:sSubPr>
                        <m:ctrlPr>
                          <a:rPr lang="en-US" i="1">
                            <a:latin typeface="Cambria Math" panose="02040503050406030204" pitchFamily="18" charset="0"/>
                          </a:rPr>
                        </m:ctrlPr>
                      </m:sSubPr>
                      <m:e>
                        <m:r>
                          <a:rPr lang="en-US" i="1">
                            <a:latin typeface="Cambria Math"/>
                          </a:rPr>
                          <m:t>6</m:t>
                        </m:r>
                        <m:r>
                          <a:rPr lang="en-US" i="1">
                            <a:latin typeface="Cambria Math"/>
                          </a:rPr>
                          <m:t>𝑥</m:t>
                        </m:r>
                      </m:e>
                      <m:sub>
                        <m:r>
                          <a:rPr lang="en-US" i="1">
                            <a:latin typeface="Cambria Math"/>
                          </a:rPr>
                          <m:t>4</m:t>
                        </m:r>
                      </m:sub>
                    </m:sSub>
                    <m:r>
                      <a:rPr lang="en-US" i="1">
                        <a:latin typeface="Cambria Math"/>
                      </a:rPr>
                      <m:t>+</m:t>
                    </m:r>
                    <m:sSub>
                      <m:sSubPr>
                        <m:ctrlPr>
                          <a:rPr lang="en-US" i="1">
                            <a:latin typeface="Cambria Math" panose="02040503050406030204" pitchFamily="18" charset="0"/>
                          </a:rPr>
                        </m:ctrlPr>
                      </m:sSubPr>
                      <m:e>
                        <m:r>
                          <a:rPr lang="en-US" i="1">
                            <a:latin typeface="Cambria Math"/>
                          </a:rPr>
                          <m:t>4</m:t>
                        </m:r>
                        <m:r>
                          <a:rPr lang="en-US" i="1">
                            <a:latin typeface="Cambria Math"/>
                          </a:rPr>
                          <m:t>𝑥</m:t>
                        </m:r>
                      </m:e>
                      <m:sub>
                        <m:r>
                          <a:rPr lang="en-US" i="1">
                            <a:latin typeface="Cambria Math"/>
                          </a:rPr>
                          <m:t>5</m:t>
                        </m:r>
                      </m:sub>
                    </m:sSub>
                  </m:oMath>
                </a14:m>
                <a:endParaRPr lang="en-US" dirty="0"/>
              </a:p>
              <a:p>
                <a:pPr marL="0" lvl="1" indent="0">
                  <a:buNone/>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2</m:t>
                        </m:r>
                      </m:sub>
                    </m:sSub>
                    <m:r>
                      <a:rPr lang="en-US" sz="2800">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3</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4</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5</m:t>
                        </m:r>
                      </m:sub>
                    </m:sSub>
                    <m:r>
                      <a:rPr lang="en-US" sz="2800" i="1">
                        <a:latin typeface="Cambria Math"/>
                      </a:rPr>
                      <m:t>≤50</m:t>
                    </m:r>
                  </m:oMath>
                </a14:m>
                <a:endParaRPr lang="en-US" sz="2800" dirty="0"/>
              </a:p>
              <a:p>
                <a:pPr marL="0" lvl="1" indent="0">
                  <a:buNone/>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1</m:t>
                        </m:r>
                      </m:sub>
                    </m:sSub>
                    <m:r>
                      <a:rPr lang="en-US" sz="2800" i="1">
                        <a:latin typeface="Cambria Math"/>
                      </a:rPr>
                      <m:t>≥0, </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2</m:t>
                        </m:r>
                      </m:sub>
                    </m:sSub>
                    <m:r>
                      <a:rPr lang="en-US" sz="2800" i="1">
                        <a:latin typeface="Cambria Math"/>
                      </a:rPr>
                      <m:t>≥0,</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3</m:t>
                        </m:r>
                      </m:sub>
                    </m:sSub>
                    <m:r>
                      <a:rPr lang="en-US" sz="2800" i="1">
                        <a:latin typeface="Cambria Math"/>
                      </a:rPr>
                      <m:t>≥0, </m:t>
                    </m:r>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4</m:t>
                        </m:r>
                      </m:sub>
                    </m:sSub>
                    <m:r>
                      <a:rPr lang="en-US" sz="2800" i="1">
                        <a:latin typeface="Cambria Math"/>
                      </a:rPr>
                      <m:t>≥0</m:t>
                    </m:r>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𝑥</m:t>
                        </m:r>
                      </m:e>
                      <m:sub>
                        <m:r>
                          <a:rPr lang="en-US" sz="2800" i="1">
                            <a:latin typeface="Cambria Math"/>
                          </a:rPr>
                          <m:t>5</m:t>
                        </m:r>
                      </m:sub>
                    </m:sSub>
                    <m:r>
                      <a:rPr lang="en-US" sz="2800" i="1">
                        <a:latin typeface="Cambria Math"/>
                      </a:rPr>
                      <m:t>≥0</m:t>
                    </m:r>
                  </m:oMath>
                </a14:m>
                <a:endParaRPr lang="en-US" sz="2800" dirty="0"/>
              </a:p>
              <a:p>
                <a:pPr lvl="1"/>
                <a:endParaRPr lang="en-US" dirty="0"/>
              </a:p>
              <a:p>
                <a:pPr lvl="3"/>
                <a:r>
                  <a:rPr lang="en-US" dirty="0"/>
                  <a:t>Do not forget that you cannot get negative amount of cheese also (i.e.,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5</m:t>
                        </m:r>
                      </m:sub>
                    </m:sSub>
                    <m:r>
                      <a:rPr lang="en-US" i="1">
                        <a:latin typeface="Cambria Math"/>
                      </a:rPr>
                      <m:t>≥0</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129790" y="3844584"/>
                <a:ext cx="16002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𝑀𝑎𝑥𝑖𝑚𝑖𝑧𝑒</m:t>
                      </m:r>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2129790" y="3844584"/>
                <a:ext cx="1600200" cy="523220"/>
              </a:xfrm>
              <a:prstGeom prst="rect">
                <a:avLst/>
              </a:prstGeom>
              <a:blipFill rotWithShape="0">
                <a:blip r:embed="rId3"/>
                <a:stretch>
                  <a:fillRect r="-19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129790" y="4388164"/>
                <a:ext cx="16002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𝑠𝑢𝑏𝑗𝑒𝑐𝑡</m:t>
                      </m:r>
                      <m:r>
                        <a:rPr lang="en-US" sz="2800" b="0" i="1" smtClean="0">
                          <a:latin typeface="Cambria Math"/>
                        </a:rPr>
                        <m:t> </m:t>
                      </m:r>
                      <m:r>
                        <a:rPr lang="en-US" sz="2800" b="0" i="1" smtClean="0">
                          <a:latin typeface="Cambria Math"/>
                        </a:rPr>
                        <m:t>𝑡𝑜</m:t>
                      </m:r>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129790" y="4388164"/>
                <a:ext cx="1600200" cy="523220"/>
              </a:xfrm>
              <a:prstGeom prst="rect">
                <a:avLst/>
              </a:prstGeom>
              <a:blipFill rotWithShape="0">
                <a:blip r:embed="rId4"/>
                <a:stretch>
                  <a:fillRect r="-3802"/>
                </a:stretch>
              </a:blipFill>
            </p:spPr>
            <p:txBody>
              <a:bodyPr/>
              <a:lstStyle/>
              <a:p>
                <a:r>
                  <a:rPr lang="en-US">
                    <a:noFill/>
                  </a:rPr>
                  <a:t> </a:t>
                </a:r>
              </a:p>
            </p:txBody>
          </p:sp>
        </mc:Fallback>
      </mc:AlternateContent>
    </p:spTree>
    <p:extLst>
      <p:ext uri="{BB962C8B-B14F-4D97-AF65-F5344CB8AC3E}">
        <p14:creationId xmlns:p14="http://schemas.microsoft.com/office/powerpoint/2010/main" val="257756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An Example: Surviving in an Island (not in the textbook)</a:t>
                </a:r>
              </a:p>
              <a:p>
                <a:r>
                  <a:rPr lang="en-US" dirty="0"/>
                  <a:t>Furthermore, suppose you have a budget limit of $150</a:t>
                </a:r>
              </a:p>
              <a:p>
                <a:pPr lvl="2"/>
                <a:r>
                  <a:rPr lang="en-US" dirty="0"/>
                  <a:t>1 </a:t>
                </a:r>
                <a:r>
                  <a:rPr lang="en-US" dirty="0" err="1"/>
                  <a:t>lb</a:t>
                </a:r>
                <a:r>
                  <a:rPr lang="en-US" dirty="0"/>
                  <a:t> of bread costs you $3</a:t>
                </a:r>
              </a:p>
              <a:p>
                <a:pPr lvl="2"/>
                <a:r>
                  <a:rPr lang="en-US" dirty="0"/>
                  <a:t>1 </a:t>
                </a:r>
                <a:r>
                  <a:rPr lang="en-US" dirty="0" err="1"/>
                  <a:t>lb</a:t>
                </a:r>
                <a:r>
                  <a:rPr lang="en-US" dirty="0"/>
                  <a:t> of steak costs you $6</a:t>
                </a:r>
              </a:p>
              <a:p>
                <a:pPr lvl="2"/>
                <a:r>
                  <a:rPr lang="en-US" dirty="0"/>
                  <a:t>1 </a:t>
                </a:r>
                <a:r>
                  <a:rPr lang="en-US" dirty="0" err="1"/>
                  <a:t>lb</a:t>
                </a:r>
                <a:r>
                  <a:rPr lang="en-US" dirty="0"/>
                  <a:t> of chicken costs you $7</a:t>
                </a:r>
              </a:p>
              <a:p>
                <a:pPr lvl="2"/>
                <a:r>
                  <a:rPr lang="en-US" dirty="0"/>
                  <a:t>1 </a:t>
                </a:r>
                <a:r>
                  <a:rPr lang="en-US" dirty="0" err="1"/>
                  <a:t>lb</a:t>
                </a:r>
                <a:r>
                  <a:rPr lang="en-US" dirty="0"/>
                  <a:t> of chocolate costs you $15</a:t>
                </a:r>
              </a:p>
              <a:p>
                <a:pPr lvl="2"/>
                <a:r>
                  <a:rPr lang="en-US" dirty="0"/>
                  <a:t>1 </a:t>
                </a:r>
                <a:r>
                  <a:rPr lang="en-US" dirty="0" err="1"/>
                  <a:t>lb</a:t>
                </a:r>
                <a:r>
                  <a:rPr lang="en-US" dirty="0"/>
                  <a:t> of cheese costs you $8</a:t>
                </a:r>
              </a:p>
              <a:p>
                <a:pPr lvl="1"/>
                <a:r>
                  <a:rPr lang="en-US" dirty="0"/>
                  <a:t>Write the new restriction as a constraint:  </a:t>
                </a:r>
                <a:endParaRPr lang="en-US" i="1" dirty="0">
                  <a:latin typeface="Cambria Math"/>
                </a:endParaRPr>
              </a:p>
              <a:p>
                <a:pPr marL="457200" lvl="1" indent="0">
                  <a:buNone/>
                </a:pPr>
                <a:endParaRPr lang="en-US" i="1" dirty="0">
                  <a:latin typeface="Cambria Math"/>
                </a:endParaRPr>
              </a:p>
              <a:p>
                <a:pPr marL="457200" lvl="1" indent="0">
                  <a:buNone/>
                </a:pPr>
                <a14:m>
                  <m:oMathPara xmlns:m="http://schemas.openxmlformats.org/officeDocument/2006/math">
                    <m:oMathParaPr>
                      <m:jc m:val="centerGroup"/>
                    </m:oMathParaPr>
                    <m:oMath xmlns:m="http://schemas.openxmlformats.org/officeDocument/2006/math">
                      <m:r>
                        <a:rPr lang="en-US" i="1">
                          <a:latin typeface="Cambria Math"/>
                        </a:rPr>
                        <m:t>3</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6</m:t>
                          </m:r>
                          <m:r>
                            <a:rPr lang="en-US" i="1">
                              <a:latin typeface="Cambria Math"/>
                            </a:rPr>
                            <m:t>𝑥</m:t>
                          </m:r>
                        </m:e>
                        <m:sub>
                          <m:r>
                            <a:rPr lang="en-US" i="1">
                              <a:latin typeface="Cambria Math"/>
                            </a:rPr>
                            <m:t>2</m:t>
                          </m:r>
                        </m:sub>
                      </m:sSub>
                      <m:r>
                        <a:rPr lang="en-US">
                          <a:latin typeface="Cambria Math"/>
                        </a:rPr>
                        <m:t>+</m:t>
                      </m:r>
                      <m:r>
                        <a:rPr lang="en-US" i="1">
                          <a:latin typeface="Cambria Math"/>
                        </a:rPr>
                        <m:t>7</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i="1">
                          <a:latin typeface="Cambria Math"/>
                        </a:rPr>
                        <m:t>+15</m:t>
                      </m:r>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r>
                        <a:rPr lang="en-US" i="1">
                          <a:latin typeface="Cambria Math"/>
                        </a:rPr>
                        <m:t>+8</m:t>
                      </m:r>
                      <m:sSub>
                        <m:sSubPr>
                          <m:ctrlPr>
                            <a:rPr lang="en-US" i="1">
                              <a:latin typeface="Cambria Math" panose="02040503050406030204" pitchFamily="18" charset="0"/>
                            </a:rPr>
                          </m:ctrlPr>
                        </m:sSubPr>
                        <m:e>
                          <m:r>
                            <a:rPr lang="en-US" i="1">
                              <a:latin typeface="Cambria Math"/>
                            </a:rPr>
                            <m:t>𝑥</m:t>
                          </m:r>
                        </m:e>
                        <m:sub>
                          <m:r>
                            <a:rPr lang="en-US" i="1">
                              <a:latin typeface="Cambria Math"/>
                            </a:rPr>
                            <m:t>5</m:t>
                          </m:r>
                        </m:sub>
                      </m:sSub>
                      <m:r>
                        <a:rPr lang="en-US" i="1">
                          <a:latin typeface="Cambria Math"/>
                        </a:rPr>
                        <m:t>≤150</m:t>
                      </m:r>
                    </m:oMath>
                  </m:oMathPara>
                </a14:m>
                <a:endParaRPr lang="en-US" dirty="0"/>
              </a:p>
              <a:p>
                <a:pPr marL="0" indent="0">
                  <a:buNone/>
                </a:pPr>
                <a:r>
                  <a:rPr lang="en-US" dirty="0"/>
                  <a:t>		</a:t>
                </a:r>
              </a:p>
              <a:p>
                <a:pPr lvl="1"/>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56" t="-2005"/>
                </a:stretch>
              </a:blipFill>
            </p:spPr>
            <p:txBody>
              <a:bodyPr/>
              <a:lstStyle/>
              <a:p>
                <a:r>
                  <a:rPr lang="en-US">
                    <a:noFill/>
                  </a:rPr>
                  <a:t> </a:t>
                </a:r>
              </a:p>
            </p:txBody>
          </p:sp>
        </mc:Fallback>
      </mc:AlternateContent>
      <p:sp>
        <p:nvSpPr>
          <p:cNvPr id="6" name="Right Brace 5"/>
          <p:cNvSpPr/>
          <p:nvPr/>
        </p:nvSpPr>
        <p:spPr bwMode="auto">
          <a:xfrm rot="5400000">
            <a:off x="5116830" y="3333750"/>
            <a:ext cx="609600" cy="4038600"/>
          </a:xfrm>
          <a:prstGeom prst="rightBrace">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9" name="TextBox 8"/>
          <p:cNvSpPr txBox="1"/>
          <p:nvPr/>
        </p:nvSpPr>
        <p:spPr>
          <a:xfrm>
            <a:off x="3288030" y="5728634"/>
            <a:ext cx="4267199" cy="707886"/>
          </a:xfrm>
          <a:prstGeom prst="rect">
            <a:avLst/>
          </a:prstGeom>
          <a:noFill/>
        </p:spPr>
        <p:txBody>
          <a:bodyPr wrap="square" rtlCol="0">
            <a:spAutoFit/>
          </a:bodyPr>
          <a:lstStyle/>
          <a:p>
            <a:pPr algn="ctr"/>
            <a:r>
              <a:rPr lang="en-US" sz="2000" dirty="0">
                <a:solidFill>
                  <a:srgbClr val="C00000"/>
                </a:solidFill>
              </a:rPr>
              <a:t>Total money you are going to spend             </a:t>
            </a:r>
            <a:r>
              <a:rPr lang="en-US" sz="2000" u="sng" dirty="0">
                <a:solidFill>
                  <a:srgbClr val="C00000"/>
                </a:solidFill>
              </a:rPr>
              <a:t>as a function of your decision variables</a:t>
            </a:r>
          </a:p>
        </p:txBody>
      </p:sp>
      <p:sp>
        <p:nvSpPr>
          <p:cNvPr id="10" name="Right Brace 9"/>
          <p:cNvSpPr/>
          <p:nvPr/>
        </p:nvSpPr>
        <p:spPr bwMode="auto">
          <a:xfrm>
            <a:off x="8324850" y="4591050"/>
            <a:ext cx="411480" cy="609600"/>
          </a:xfrm>
          <a:prstGeom prst="rightBrace">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1" name="TextBox 10"/>
          <p:cNvSpPr txBox="1"/>
          <p:nvPr/>
        </p:nvSpPr>
        <p:spPr>
          <a:xfrm>
            <a:off x="8775663" y="4541907"/>
            <a:ext cx="2286000" cy="707886"/>
          </a:xfrm>
          <a:prstGeom prst="rect">
            <a:avLst/>
          </a:prstGeom>
          <a:noFill/>
        </p:spPr>
        <p:txBody>
          <a:bodyPr wrap="square" rtlCol="0">
            <a:spAutoFit/>
          </a:bodyPr>
          <a:lstStyle/>
          <a:p>
            <a:pPr algn="ctr"/>
            <a:r>
              <a:rPr lang="en-US" sz="2000" dirty="0">
                <a:solidFill>
                  <a:srgbClr val="C00000"/>
                </a:solidFill>
              </a:rPr>
              <a:t>Limit on how much you can spend</a:t>
            </a:r>
          </a:p>
        </p:txBody>
      </p:sp>
    </p:spTree>
    <p:extLst>
      <p:ext uri="{BB962C8B-B14F-4D97-AF65-F5344CB8AC3E}">
        <p14:creationId xmlns:p14="http://schemas.microsoft.com/office/powerpoint/2010/main" val="351671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0"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b="1" u="sng" dirty="0"/>
                  <a:t>An Example: Surviving in an Island (not in the textbook)</a:t>
                </a:r>
              </a:p>
              <a:p>
                <a:r>
                  <a:rPr lang="en-US" dirty="0"/>
                  <a:t>Updated LP model with cheese and budget restriction:</a:t>
                </a:r>
              </a:p>
              <a:p>
                <a:pPr marL="0" indent="0">
                  <a:buNone/>
                </a:pPr>
                <a:r>
                  <a:rPr lang="en-US"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2</m:t>
                        </m:r>
                        <m:r>
                          <a:rPr lang="en-US" sz="2400" i="1">
                            <a:latin typeface="Cambria Math"/>
                          </a:rPr>
                          <m:t>𝑥</m:t>
                        </m:r>
                      </m:e>
                      <m:sub>
                        <m:r>
                          <a:rPr lang="en-US" sz="2400" i="1">
                            <a:latin typeface="Cambria Math"/>
                          </a:rPr>
                          <m:t>1</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5</m:t>
                        </m:r>
                        <m:r>
                          <a:rPr lang="en-US" sz="2400" i="1">
                            <a:latin typeface="Cambria Math"/>
                          </a:rPr>
                          <m:t>𝑥</m:t>
                        </m:r>
                      </m:e>
                      <m:sub>
                        <m:r>
                          <a:rPr lang="en-US" sz="2400" i="1">
                            <a:latin typeface="Cambria Math"/>
                          </a:rPr>
                          <m:t>2</m:t>
                        </m:r>
                      </m:sub>
                    </m:sSub>
                    <m:r>
                      <a:rPr lang="en-US" sz="2400">
                        <a:latin typeface="Cambria Math"/>
                      </a:rPr>
                      <m:t>+</m:t>
                    </m:r>
                    <m:sSub>
                      <m:sSubPr>
                        <m:ctrlPr>
                          <a:rPr lang="en-US" sz="2400" i="1">
                            <a:latin typeface="Cambria Math" panose="02040503050406030204" pitchFamily="18" charset="0"/>
                          </a:rPr>
                        </m:ctrlPr>
                      </m:sSubPr>
                      <m:e>
                        <m:r>
                          <a:rPr lang="en-US" sz="2400" i="1">
                            <a:latin typeface="Cambria Math"/>
                          </a:rPr>
                          <m:t>3</m:t>
                        </m:r>
                        <m:r>
                          <a:rPr lang="en-US" sz="2400" i="1">
                            <a:latin typeface="Cambria Math"/>
                          </a:rPr>
                          <m:t>𝑥</m:t>
                        </m:r>
                      </m:e>
                      <m:sub>
                        <m:r>
                          <a:rPr lang="en-US" sz="2400" i="1">
                            <a:latin typeface="Cambria Math"/>
                          </a:rPr>
                          <m:t>3</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6</m:t>
                        </m:r>
                        <m:r>
                          <a:rPr lang="en-US" sz="2400" i="1">
                            <a:latin typeface="Cambria Math"/>
                          </a:rPr>
                          <m:t>𝑥</m:t>
                        </m:r>
                      </m:e>
                      <m:sub>
                        <m:r>
                          <a:rPr lang="en-US" sz="2400" i="1">
                            <a:latin typeface="Cambria Math"/>
                          </a:rPr>
                          <m:t>4</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4</m:t>
                        </m:r>
                        <m:r>
                          <a:rPr lang="en-US" sz="2400" i="1">
                            <a:latin typeface="Cambria Math"/>
                          </a:rPr>
                          <m:t>𝑥</m:t>
                        </m:r>
                      </m:e>
                      <m:sub>
                        <m:r>
                          <a:rPr lang="en-US" sz="2400" i="1">
                            <a:latin typeface="Cambria Math"/>
                          </a:rPr>
                          <m:t>5</m:t>
                        </m:r>
                      </m:sub>
                    </m:sSub>
                  </m:oMath>
                </a14:m>
                <a:endParaRPr lang="en-US" sz="2400" dirty="0"/>
              </a:p>
              <a:p>
                <a:pPr marL="0" lvl="1"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5</m:t>
                        </m:r>
                      </m:sub>
                    </m:sSub>
                    <m:r>
                      <a:rPr lang="en-US" i="1">
                        <a:latin typeface="Cambria Math"/>
                      </a:rPr>
                      <m:t>≤50</m:t>
                    </m:r>
                  </m:oMath>
                </a14:m>
                <a:endParaRPr lang="en-US" dirty="0"/>
              </a:p>
              <a:p>
                <a:pPr marL="0" lvl="1" indent="0">
                  <a:buNone/>
                </a:pPr>
                <a:r>
                  <a:rPr lang="en-US" dirty="0"/>
                  <a:t>                       		</a:t>
                </a:r>
                <a14:m>
                  <m:oMath xmlns:m="http://schemas.openxmlformats.org/officeDocument/2006/math">
                    <m:r>
                      <a:rPr lang="en-US" i="1">
                        <a:latin typeface="Cambria Math"/>
                      </a:rPr>
                      <m:t>3</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6</m:t>
                        </m:r>
                        <m:r>
                          <a:rPr lang="en-US" i="1">
                            <a:latin typeface="Cambria Math"/>
                          </a:rPr>
                          <m:t>𝑥</m:t>
                        </m:r>
                      </m:e>
                      <m:sub>
                        <m:r>
                          <a:rPr lang="en-US" i="1">
                            <a:latin typeface="Cambria Math"/>
                          </a:rPr>
                          <m:t>2</m:t>
                        </m:r>
                      </m:sub>
                    </m:sSub>
                    <m:r>
                      <a:rPr lang="en-US">
                        <a:latin typeface="Cambria Math"/>
                      </a:rPr>
                      <m:t>+</m:t>
                    </m:r>
                    <m:r>
                      <a:rPr lang="en-US" i="1">
                        <a:latin typeface="Cambria Math"/>
                      </a:rPr>
                      <m:t>7</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i="1">
                        <a:latin typeface="Cambria Math"/>
                      </a:rPr>
                      <m:t>+15</m:t>
                    </m:r>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r>
                      <a:rPr lang="en-US" i="1">
                        <a:latin typeface="Cambria Math"/>
                      </a:rPr>
                      <m:t>+8</m:t>
                    </m:r>
                    <m:sSub>
                      <m:sSubPr>
                        <m:ctrlPr>
                          <a:rPr lang="en-US" i="1">
                            <a:latin typeface="Cambria Math" panose="02040503050406030204" pitchFamily="18" charset="0"/>
                          </a:rPr>
                        </m:ctrlPr>
                      </m:sSubPr>
                      <m:e>
                        <m:r>
                          <a:rPr lang="en-US" i="1">
                            <a:latin typeface="Cambria Math"/>
                          </a:rPr>
                          <m:t>𝑥</m:t>
                        </m:r>
                      </m:e>
                      <m:sub>
                        <m:r>
                          <a:rPr lang="en-US" i="1">
                            <a:latin typeface="Cambria Math"/>
                          </a:rPr>
                          <m:t>5</m:t>
                        </m:r>
                      </m:sub>
                    </m:sSub>
                    <m:r>
                      <a:rPr lang="en-US" i="1">
                        <a:latin typeface="Cambria Math"/>
                      </a:rPr>
                      <m:t>≤150</m:t>
                    </m:r>
                  </m:oMath>
                </a14:m>
                <a:endParaRPr lang="en-US" dirty="0"/>
              </a:p>
              <a:p>
                <a:pPr marL="0" lvl="1"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≥0, </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≥0,</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i="1">
                        <a:latin typeface="Cambria Math"/>
                      </a:rPr>
                      <m:t>≥0, </m:t>
                    </m:r>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r>
                      <a:rPr lang="en-US" i="1">
                        <a:latin typeface="Cambria Math"/>
                      </a:rPr>
                      <m:t>≥0</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5</m:t>
                        </m:r>
                      </m:sub>
                    </m:sSub>
                    <m:r>
                      <a:rPr lang="en-US" i="1">
                        <a:latin typeface="Cambria Math"/>
                      </a:rPr>
                      <m:t>≥0</m:t>
                    </m:r>
                  </m:oMath>
                </a14:m>
                <a:endParaRPr lang="en-US" dirty="0"/>
              </a:p>
              <a:p>
                <a:pPr lvl="4"/>
                <a:endParaRPr lang="en-US" dirty="0"/>
              </a:p>
              <a:p>
                <a:pPr lvl="1"/>
                <a:r>
                  <a:rPr lang="en-US" dirty="0"/>
                  <a:t>You cannot get more meat (</a:t>
                </a:r>
                <a:r>
                  <a:rPr lang="en-US" dirty="0" err="1"/>
                  <a:t>chicken+steak</a:t>
                </a:r>
                <a:r>
                  <a:rPr lang="en-US" dirty="0"/>
                  <a:t>) than bread</a:t>
                </a:r>
              </a:p>
              <a:p>
                <a:pPr marL="457200" lvl="1" indent="0">
                  <a:buNone/>
                </a:pPr>
                <a:endParaRPr lang="en-US" dirty="0"/>
              </a:p>
              <a:p>
                <a:pPr lvl="4"/>
                <a:endParaRPr lang="en-US" dirty="0"/>
              </a:p>
              <a:p>
                <a:pPr lvl="1"/>
                <a:r>
                  <a:rPr lang="en-US" dirty="0"/>
                  <a:t>For each </a:t>
                </a:r>
                <a:r>
                  <a:rPr lang="en-US" dirty="0" err="1"/>
                  <a:t>lb</a:t>
                </a:r>
                <a:r>
                  <a:rPr lang="en-US" dirty="0"/>
                  <a:t> of cheese, you need at least 2 </a:t>
                </a:r>
                <a:r>
                  <a:rPr lang="en-US" dirty="0" err="1"/>
                  <a:t>lbs</a:t>
                </a:r>
                <a:r>
                  <a:rPr lang="en-US" dirty="0"/>
                  <a:t> of bread </a:t>
                </a:r>
              </a:p>
              <a:p>
                <a:pPr marL="457200" lvl="1" indent="0">
                  <a:buNone/>
                </a:pPr>
                <a:endParaRPr lang="en-US" dirty="0"/>
              </a:p>
              <a:p>
                <a:endParaRPr lang="en-US" dirty="0"/>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97" t="-31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135380" y="2307555"/>
                <a:ext cx="1600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𝑀𝑎𝑥𝑖𝑚𝑖𝑧𝑒</m:t>
                      </m:r>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1135380" y="2307555"/>
                <a:ext cx="1600200" cy="46166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127760" y="2762195"/>
                <a:ext cx="1600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𝑠𝑢𝑏𝑗𝑒𝑐𝑡</m:t>
                      </m:r>
                      <m:r>
                        <a:rPr lang="en-US" sz="2400" b="0" i="1" smtClean="0">
                          <a:latin typeface="Cambria Math"/>
                        </a:rPr>
                        <m:t> </m:t>
                      </m:r>
                      <m:r>
                        <a:rPr lang="en-US" sz="2400" b="0" i="1" smtClean="0">
                          <a:latin typeface="Cambria Math"/>
                        </a:rPr>
                        <m:t>𝑡𝑜</m:t>
                      </m:r>
                    </m:oMath>
                  </m:oMathPara>
                </a14:m>
                <a:endParaRPr lang="en-US"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127760" y="2762195"/>
                <a:ext cx="1600200" cy="461665"/>
              </a:xfrm>
              <a:prstGeom prst="rect">
                <a:avLst/>
              </a:prstGeom>
              <a:blipFill rotWithShape="0">
                <a:blip r:embed="rId4"/>
                <a:stretch>
                  <a:fillRect l="-1521"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816682" y="4673623"/>
                <a:ext cx="19236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2</m:t>
                          </m:r>
                        </m:sub>
                      </m:sSub>
                      <m:r>
                        <a:rPr lang="en-US" sz="2400">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3</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oMath>
                  </m:oMathPara>
                </a14:m>
                <a:endParaRPr lang="en-US" sz="2400" dirty="0"/>
              </a:p>
            </p:txBody>
          </p:sp>
        </mc:Choice>
        <mc:Fallback xmlns="">
          <p:sp>
            <p:nvSpPr>
              <p:cNvPr id="4" name="Rectangle 3"/>
              <p:cNvSpPr>
                <a:spLocks noRot="1" noChangeAspect="1" noMove="1" noResize="1" noEditPoints="1" noAdjustHandles="1" noChangeArrowheads="1" noChangeShapeType="1" noTextEdit="1"/>
              </p:cNvSpPr>
              <p:nvPr/>
            </p:nvSpPr>
            <p:spPr>
              <a:xfrm>
                <a:off x="1816682" y="4673623"/>
                <a:ext cx="1923604" cy="461665"/>
              </a:xfrm>
              <a:prstGeom prst="rect">
                <a:avLst/>
              </a:prstGeom>
              <a:blipFill rotWithShape="0">
                <a:blip r:embed="rId5"/>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908122" y="5715298"/>
                <a:ext cx="142436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2</m:t>
                          </m:r>
                          <m:r>
                            <a:rPr lang="en-US" sz="2400" i="1">
                              <a:latin typeface="Cambria Math"/>
                            </a:rPr>
                            <m:t>𝑥</m:t>
                          </m:r>
                        </m:e>
                        <m:sub>
                          <m:r>
                            <a:rPr lang="en-US" sz="2400" i="1">
                              <a:latin typeface="Cambria Math" panose="02040503050406030204" pitchFamily="18" charset="0"/>
                            </a:rPr>
                            <m:t>5</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oMath>
                  </m:oMathPara>
                </a14:m>
                <a:endParaRPr lang="en-US" sz="2400" dirty="0"/>
              </a:p>
            </p:txBody>
          </p:sp>
        </mc:Choice>
        <mc:Fallback xmlns="">
          <p:sp>
            <p:nvSpPr>
              <p:cNvPr id="5" name="Rectangle 4"/>
              <p:cNvSpPr>
                <a:spLocks noRot="1" noChangeAspect="1" noMove="1" noResize="1" noEditPoints="1" noAdjustHandles="1" noChangeArrowheads="1" noChangeShapeType="1" noTextEdit="1"/>
              </p:cNvSpPr>
              <p:nvPr/>
            </p:nvSpPr>
            <p:spPr>
              <a:xfrm>
                <a:off x="1908122" y="5715298"/>
                <a:ext cx="1424364" cy="461665"/>
              </a:xfrm>
              <a:prstGeom prst="rect">
                <a:avLst/>
              </a:prstGeom>
              <a:blipFill rotWithShape="0">
                <a:blip r:embed="rId6"/>
                <a:stretch>
                  <a:fillRect b="-2667"/>
                </a:stretch>
              </a:blipFill>
            </p:spPr>
            <p:txBody>
              <a:bodyPr/>
              <a:lstStyle/>
              <a:p>
                <a:r>
                  <a:rPr lang="en-US">
                    <a:noFill/>
                  </a:rPr>
                  <a:t> </a:t>
                </a:r>
              </a:p>
            </p:txBody>
          </p:sp>
        </mc:Fallback>
      </mc:AlternateContent>
      <p:sp>
        <p:nvSpPr>
          <p:cNvPr id="7" name="Left-Right Arrow 6"/>
          <p:cNvSpPr/>
          <p:nvPr/>
        </p:nvSpPr>
        <p:spPr>
          <a:xfrm>
            <a:off x="3863340" y="4726397"/>
            <a:ext cx="1657350" cy="356116"/>
          </a:xfrm>
          <a:prstGeom prst="leftRightArrow">
            <a:avLst>
              <a:gd name="adj1" fmla="val 57584"/>
              <a:gd name="adj2" fmla="val 10777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same as</a:t>
            </a:r>
          </a:p>
        </p:txBody>
      </p:sp>
      <mc:AlternateContent xmlns:mc="http://schemas.openxmlformats.org/markup-compatibility/2006" xmlns:a14="http://schemas.microsoft.com/office/drawing/2010/main">
        <mc:Choice Requires="a14">
          <p:sp>
            <p:nvSpPr>
              <p:cNvPr id="13" name="Rectangle 12"/>
              <p:cNvSpPr/>
              <p:nvPr/>
            </p:nvSpPr>
            <p:spPr>
              <a:xfrm>
                <a:off x="5643744" y="4673622"/>
                <a:ext cx="2068451" cy="461665"/>
              </a:xfrm>
              <a:prstGeom prst="rect">
                <a:avLst/>
              </a:prstGeom>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a:rPr>
                          <m:t>𝑥</m:t>
                        </m:r>
                      </m:e>
                      <m:sub>
                        <m:r>
                          <a:rPr lang="en-US" sz="2400" i="1">
                            <a:latin typeface="Cambria Math"/>
                          </a:rPr>
                          <m:t>2</m:t>
                        </m:r>
                      </m:sub>
                    </m:sSub>
                    <m:r>
                      <a:rPr lang="en-US" sz="2400">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3</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m:t>
                        </m:r>
                        <m:r>
                          <a:rPr lang="en-US" sz="2400" i="1">
                            <a:latin typeface="Cambria Math"/>
                          </a:rPr>
                          <m:t>𝑥</m:t>
                        </m:r>
                      </m:e>
                      <m:sub>
                        <m:r>
                          <a:rPr lang="en-US" sz="2400" i="1">
                            <a:latin typeface="Cambria Math"/>
                          </a:rPr>
                          <m:t>1</m:t>
                        </m:r>
                      </m:sub>
                    </m:sSub>
                    <m:r>
                      <a:rPr lang="en-US" sz="2400" i="1">
                        <a:latin typeface="Cambria Math"/>
                      </a:rPr>
                      <m:t>≤</m:t>
                    </m:r>
                  </m:oMath>
                </a14:m>
                <a:r>
                  <a:rPr lang="en-US" sz="2400" dirty="0"/>
                  <a:t>0</a:t>
                </a:r>
              </a:p>
            </p:txBody>
          </p:sp>
        </mc:Choice>
        <mc:Fallback xmlns="">
          <p:sp>
            <p:nvSpPr>
              <p:cNvPr id="13" name="Rectangle 12"/>
              <p:cNvSpPr>
                <a:spLocks noRot="1" noChangeAspect="1" noMove="1" noResize="1" noEditPoints="1" noAdjustHandles="1" noChangeArrowheads="1" noChangeShapeType="1" noTextEdit="1"/>
              </p:cNvSpPr>
              <p:nvPr/>
            </p:nvSpPr>
            <p:spPr>
              <a:xfrm>
                <a:off x="5643744" y="4673622"/>
                <a:ext cx="2068451" cy="461665"/>
              </a:xfrm>
              <a:prstGeom prst="rect">
                <a:avLst/>
              </a:prstGeom>
              <a:blipFill rotWithShape="0">
                <a:blip r:embed="rId7"/>
                <a:stretch>
                  <a:fillRect t="-10667" r="-3540" b="-30667"/>
                </a:stretch>
              </a:blipFill>
            </p:spPr>
            <p:txBody>
              <a:bodyPr/>
              <a:lstStyle/>
              <a:p>
                <a:r>
                  <a:rPr lang="en-US">
                    <a:noFill/>
                  </a:rPr>
                  <a:t> </a:t>
                </a:r>
              </a:p>
            </p:txBody>
          </p:sp>
        </mc:Fallback>
      </mc:AlternateContent>
      <p:sp>
        <p:nvSpPr>
          <p:cNvPr id="14" name="Left-Right Arrow 13"/>
          <p:cNvSpPr/>
          <p:nvPr/>
        </p:nvSpPr>
        <p:spPr>
          <a:xfrm>
            <a:off x="3569970" y="5768072"/>
            <a:ext cx="1657350" cy="356116"/>
          </a:xfrm>
          <a:prstGeom prst="leftRightArrow">
            <a:avLst>
              <a:gd name="adj1" fmla="val 57584"/>
              <a:gd name="adj2" fmla="val 10777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same as</a:t>
            </a:r>
          </a:p>
        </p:txBody>
      </p:sp>
      <mc:AlternateContent xmlns:mc="http://schemas.openxmlformats.org/markup-compatibility/2006" xmlns:a14="http://schemas.microsoft.com/office/drawing/2010/main">
        <mc:Choice Requires="a14">
          <p:sp>
            <p:nvSpPr>
              <p:cNvPr id="15" name="Rectangle 14"/>
              <p:cNvSpPr/>
              <p:nvPr/>
            </p:nvSpPr>
            <p:spPr>
              <a:xfrm>
                <a:off x="5612130" y="5754856"/>
                <a:ext cx="1791516" cy="461665"/>
              </a:xfrm>
              <a:prstGeom prst="rect">
                <a:avLst/>
              </a:prstGeom>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2</m:t>
                        </m:r>
                        <m:r>
                          <a:rPr lang="en-US" sz="2400" i="1">
                            <a:latin typeface="Cambria Math"/>
                          </a:rPr>
                          <m:t>𝑥</m:t>
                        </m:r>
                      </m:e>
                      <m:sub>
                        <m:r>
                          <a:rPr lang="en-US" sz="2400" i="1">
                            <a:latin typeface="Cambria Math" panose="02040503050406030204" pitchFamily="18" charset="0"/>
                          </a:rPr>
                          <m:t>5</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r>
                      <a:rPr lang="en-US" sz="2400" i="1">
                        <a:latin typeface="Cambria Math"/>
                      </a:rPr>
                      <m:t>≤</m:t>
                    </m:r>
                  </m:oMath>
                </a14:m>
                <a:r>
                  <a:rPr lang="en-US" sz="2400" dirty="0"/>
                  <a:t>0</a:t>
                </a:r>
              </a:p>
            </p:txBody>
          </p:sp>
        </mc:Choice>
        <mc:Fallback xmlns="">
          <p:sp>
            <p:nvSpPr>
              <p:cNvPr id="15" name="Rectangle 14"/>
              <p:cNvSpPr>
                <a:spLocks noRot="1" noChangeAspect="1" noMove="1" noResize="1" noEditPoints="1" noAdjustHandles="1" noChangeArrowheads="1" noChangeShapeType="1" noTextEdit="1"/>
              </p:cNvSpPr>
              <p:nvPr/>
            </p:nvSpPr>
            <p:spPr>
              <a:xfrm>
                <a:off x="5612130" y="5754856"/>
                <a:ext cx="1791516" cy="461665"/>
              </a:xfrm>
              <a:prstGeom prst="rect">
                <a:avLst/>
              </a:prstGeom>
              <a:blipFill rotWithShape="0">
                <a:blip r:embed="rId8"/>
                <a:stretch>
                  <a:fillRect l="-1020" t="-10526" r="-4082" b="-28947"/>
                </a:stretch>
              </a:blipFill>
            </p:spPr>
            <p:txBody>
              <a:bodyPr/>
              <a:lstStyle/>
              <a:p>
                <a:r>
                  <a:rPr lang="en-US">
                    <a:noFill/>
                  </a:rPr>
                  <a:t> </a:t>
                </a:r>
              </a:p>
            </p:txBody>
          </p:sp>
        </mc:Fallback>
      </mc:AlternateContent>
      <p:sp>
        <p:nvSpPr>
          <p:cNvPr id="16" name="Left-Right Arrow 15"/>
          <p:cNvSpPr/>
          <p:nvPr/>
        </p:nvSpPr>
        <p:spPr>
          <a:xfrm>
            <a:off x="7848376" y="4726397"/>
            <a:ext cx="1657350" cy="356116"/>
          </a:xfrm>
          <a:prstGeom prst="leftRightArrow">
            <a:avLst>
              <a:gd name="adj1" fmla="val 57584"/>
              <a:gd name="adj2" fmla="val 10777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same as</a:t>
            </a:r>
          </a:p>
        </p:txBody>
      </p:sp>
      <mc:AlternateContent xmlns:mc="http://schemas.openxmlformats.org/markup-compatibility/2006" xmlns:a14="http://schemas.microsoft.com/office/drawing/2010/main">
        <mc:Choice Requires="a14">
          <p:sp>
            <p:nvSpPr>
              <p:cNvPr id="17" name="Rectangle 16"/>
              <p:cNvSpPr/>
              <p:nvPr/>
            </p:nvSpPr>
            <p:spPr>
              <a:xfrm>
                <a:off x="9628780" y="4673622"/>
                <a:ext cx="2068451" cy="461665"/>
              </a:xfrm>
              <a:prstGeom prst="rect">
                <a:avLst/>
              </a:prstGeom>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a:rPr>
                          <m:t>𝑥</m:t>
                        </m:r>
                      </m:e>
                      <m:sub>
                        <m:r>
                          <a:rPr lang="en-US" sz="2400" b="0" i="1" smtClean="0">
                            <a:latin typeface="Cambria Math" panose="02040503050406030204" pitchFamily="18" charset="0"/>
                          </a:rPr>
                          <m:t>1</m:t>
                        </m:r>
                      </m:sub>
                    </m:sSub>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a:rPr>
                          <m:t>𝑥</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m:t>
                        </m:r>
                        <m:r>
                          <a:rPr lang="en-US" sz="2400" i="1">
                            <a:latin typeface="Cambria Math"/>
                          </a:rPr>
                          <m:t>𝑥</m:t>
                        </m:r>
                      </m:e>
                      <m:sub>
                        <m:r>
                          <a:rPr lang="en-US" sz="2400" b="0" i="1" smtClean="0">
                            <a:latin typeface="Cambria Math" panose="02040503050406030204" pitchFamily="18" charset="0"/>
                          </a:rPr>
                          <m:t>3</m:t>
                        </m:r>
                      </m:sub>
                    </m:sSub>
                    <m:r>
                      <a:rPr lang="en-US" sz="2400" b="0" i="1" smtClean="0">
                        <a:latin typeface="Cambria Math" panose="02040503050406030204" pitchFamily="18" charset="0"/>
                      </a:rPr>
                      <m:t>≥</m:t>
                    </m:r>
                  </m:oMath>
                </a14:m>
                <a:r>
                  <a:rPr lang="en-US" sz="2400" dirty="0"/>
                  <a:t>0</a:t>
                </a:r>
              </a:p>
            </p:txBody>
          </p:sp>
        </mc:Choice>
        <mc:Fallback xmlns="">
          <p:sp>
            <p:nvSpPr>
              <p:cNvPr id="17" name="Rectangle 16"/>
              <p:cNvSpPr>
                <a:spLocks noRot="1" noChangeAspect="1" noMove="1" noResize="1" noEditPoints="1" noAdjustHandles="1" noChangeArrowheads="1" noChangeShapeType="1" noTextEdit="1"/>
              </p:cNvSpPr>
              <p:nvPr/>
            </p:nvSpPr>
            <p:spPr>
              <a:xfrm>
                <a:off x="9628780" y="4673622"/>
                <a:ext cx="2068451" cy="461665"/>
              </a:xfrm>
              <a:prstGeom prst="rect">
                <a:avLst/>
              </a:prstGeom>
              <a:blipFill rotWithShape="0">
                <a:blip r:embed="rId9"/>
                <a:stretch>
                  <a:fillRect t="-10667" r="-3540" b="-30667"/>
                </a:stretch>
              </a:blipFill>
            </p:spPr>
            <p:txBody>
              <a:bodyPr/>
              <a:lstStyle/>
              <a:p>
                <a:r>
                  <a:rPr lang="en-US">
                    <a:noFill/>
                  </a:rPr>
                  <a:t> </a:t>
                </a:r>
              </a:p>
            </p:txBody>
          </p:sp>
        </mc:Fallback>
      </mc:AlternateContent>
      <p:sp>
        <p:nvSpPr>
          <p:cNvPr id="19" name="Left-Right Arrow 18"/>
          <p:cNvSpPr/>
          <p:nvPr/>
        </p:nvSpPr>
        <p:spPr>
          <a:xfrm>
            <a:off x="7863555" y="5807630"/>
            <a:ext cx="1657350" cy="356116"/>
          </a:xfrm>
          <a:prstGeom prst="leftRightArrow">
            <a:avLst>
              <a:gd name="adj1" fmla="val 57584"/>
              <a:gd name="adj2" fmla="val 10777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same as</a:t>
            </a:r>
          </a:p>
        </p:txBody>
      </p:sp>
      <mc:AlternateContent xmlns:mc="http://schemas.openxmlformats.org/markup-compatibility/2006" xmlns:a14="http://schemas.microsoft.com/office/drawing/2010/main">
        <mc:Choice Requires="a14">
          <p:sp>
            <p:nvSpPr>
              <p:cNvPr id="20" name="Rectangle 19"/>
              <p:cNvSpPr/>
              <p:nvPr/>
            </p:nvSpPr>
            <p:spPr>
              <a:xfrm>
                <a:off x="9709288" y="5739348"/>
                <a:ext cx="1791516" cy="461665"/>
              </a:xfrm>
              <a:prstGeom prst="rect">
                <a:avLst/>
              </a:prstGeom>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a:rPr>
                          <m:t>𝑥</m:t>
                        </m:r>
                      </m:e>
                      <m:sub>
                        <m:r>
                          <a:rPr lang="en-US" sz="2400" i="1">
                            <a:latin typeface="Cambria Math"/>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2</m:t>
                        </m:r>
                        <m:r>
                          <a:rPr lang="en-US" sz="2400" i="1">
                            <a:latin typeface="Cambria Math"/>
                          </a:rPr>
                          <m:t>𝑥</m:t>
                        </m:r>
                      </m:e>
                      <m:sub>
                        <m:r>
                          <a:rPr lang="en-US" sz="2400" i="1">
                            <a:latin typeface="Cambria Math" panose="02040503050406030204" pitchFamily="18" charset="0"/>
                          </a:rPr>
                          <m:t>5</m:t>
                        </m:r>
                      </m:sub>
                    </m:sSub>
                    <m:r>
                      <a:rPr lang="en-US" sz="2400" b="0" i="1" smtClean="0">
                        <a:latin typeface="Cambria Math" panose="02040503050406030204" pitchFamily="18" charset="0"/>
                      </a:rPr>
                      <m:t>≥</m:t>
                    </m:r>
                  </m:oMath>
                </a14:m>
                <a:r>
                  <a:rPr lang="en-US" sz="2400" dirty="0"/>
                  <a:t>0</a:t>
                </a:r>
              </a:p>
            </p:txBody>
          </p:sp>
        </mc:Choice>
        <mc:Fallback xmlns="">
          <p:sp>
            <p:nvSpPr>
              <p:cNvPr id="20" name="Rectangle 19"/>
              <p:cNvSpPr>
                <a:spLocks noRot="1" noChangeAspect="1" noMove="1" noResize="1" noEditPoints="1" noAdjustHandles="1" noChangeArrowheads="1" noChangeShapeType="1" noTextEdit="1"/>
              </p:cNvSpPr>
              <p:nvPr/>
            </p:nvSpPr>
            <p:spPr>
              <a:xfrm>
                <a:off x="9709288" y="5739348"/>
                <a:ext cx="1791516" cy="461665"/>
              </a:xfrm>
              <a:prstGeom prst="rect">
                <a:avLst/>
              </a:prstGeom>
              <a:blipFill rotWithShape="0">
                <a:blip r:embed="rId10"/>
                <a:stretch>
                  <a:fillRect t="-10526" r="-4082" b="-28947"/>
                </a:stretch>
              </a:blipFill>
            </p:spPr>
            <p:txBody>
              <a:bodyPr/>
              <a:lstStyle/>
              <a:p>
                <a:r>
                  <a:rPr lang="en-US">
                    <a:noFill/>
                  </a:rPr>
                  <a:t> </a:t>
                </a:r>
              </a:p>
            </p:txBody>
          </p:sp>
        </mc:Fallback>
      </mc:AlternateContent>
    </p:spTree>
    <p:extLst>
      <p:ext uri="{BB962C8B-B14F-4D97-AF65-F5344CB8AC3E}">
        <p14:creationId xmlns:p14="http://schemas.microsoft.com/office/powerpoint/2010/main" val="176805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4" grpId="0"/>
      <p:bldP spid="5" grpId="0"/>
      <p:bldP spid="7" grpId="0" animBg="1"/>
      <p:bldP spid="13" grpId="0"/>
      <p:bldP spid="14" grpId="0" animBg="1"/>
      <p:bldP spid="15" grpId="0"/>
      <p:bldP spid="16" grpId="0" animBg="1"/>
      <p:bldP spid="17" grpId="0"/>
      <p:bldP spid="19" grpId="0" animBg="1"/>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u="sng" dirty="0"/>
                  <a:t>Points to be careful about:</a:t>
                </a:r>
              </a:p>
              <a:p>
                <a:pPr lvl="1"/>
                <a:r>
                  <a:rPr lang="en-US" dirty="0"/>
                  <a:t>Every function should be in terms of the decision variables</a:t>
                </a:r>
              </a:p>
              <a:p>
                <a:pPr lvl="2"/>
                <a:r>
                  <a:rPr lang="en-US" dirty="0"/>
                  <a:t>Do not use a variable that is not defined </a:t>
                </a:r>
              </a:p>
              <a:p>
                <a:pPr lvl="2"/>
                <a:r>
                  <a:rPr lang="en-US" dirty="0"/>
                  <a:t>If a variable is defined in terms of other variables, this relation should be included as a constraint</a:t>
                </a:r>
              </a:p>
              <a:p>
                <a:pPr lvl="3"/>
                <a:r>
                  <a:rPr lang="en-US" dirty="0"/>
                  <a:t>For instance, in Step 1 of Island Example, you define </a:t>
                </a:r>
                <a14:m>
                  <m:oMath xmlns:m="http://schemas.openxmlformats.org/officeDocument/2006/math">
                    <m:r>
                      <a:rPr lang="en-US" b="0" i="1" dirty="0" smtClean="0">
                        <a:latin typeface="Cambria Math" panose="02040503050406030204" pitchFamily="18" charset="0"/>
                      </a:rPr>
                      <m:t>𝑌</m:t>
                    </m:r>
                  </m:oMath>
                </a14:m>
                <a:r>
                  <a:rPr lang="en-US" dirty="0"/>
                  <a:t> as the total amount and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panose="02040503050406030204" pitchFamily="18" charset="0"/>
                          </a:rPr>
                          <m:t>𝑖</m:t>
                        </m:r>
                      </m:sub>
                    </m:sSub>
                  </m:oMath>
                </a14:m>
                <a:r>
                  <a:rPr lang="en-US" dirty="0"/>
                  <a:t> as the item </a:t>
                </a:r>
                <a14:m>
                  <m:oMath xmlns:m="http://schemas.openxmlformats.org/officeDocument/2006/math">
                    <m:r>
                      <a:rPr lang="en-US" i="1" dirty="0" smtClean="0">
                        <a:latin typeface="Cambria Math" panose="02040503050406030204" pitchFamily="18" charset="0"/>
                      </a:rPr>
                      <m:t>𝑖</m:t>
                    </m:r>
                  </m:oMath>
                </a14:m>
                <a:r>
                  <a:rPr lang="en-US" dirty="0"/>
                  <a:t> amount</a:t>
                </a:r>
              </a:p>
              <a:p>
                <a:pPr lvl="3"/>
                <a:r>
                  <a:rPr lang="en-US" dirty="0"/>
                  <a:t>Then, the following model is wrong:</a:t>
                </a:r>
              </a:p>
              <a:p>
                <a:pPr lvl="3"/>
                <a:endParaRPr lang="en-US" dirty="0"/>
              </a:p>
              <a:p>
                <a:pPr lvl="3"/>
                <a:endParaRPr lang="en-US" dirty="0"/>
              </a:p>
              <a:p>
                <a:pPr lvl="3"/>
                <a:endParaRPr lang="en-US" dirty="0"/>
              </a:p>
              <a:p>
                <a:pPr lvl="3"/>
                <a:r>
                  <a:rPr lang="en-US" dirty="0"/>
                  <a:t>If you insist on using </a:t>
                </a:r>
                <a14:m>
                  <m:oMath xmlns:m="http://schemas.openxmlformats.org/officeDocument/2006/math">
                    <m:r>
                      <a:rPr lang="en-US" i="1" dirty="0" smtClean="0">
                        <a:latin typeface="Cambria Math" panose="02040503050406030204" pitchFamily="18" charset="0"/>
                      </a:rPr>
                      <m:t>𝑌</m:t>
                    </m:r>
                  </m:oMath>
                </a14:m>
                <a:r>
                  <a:rPr lang="en-US" dirty="0"/>
                  <a:t>, the correct formulation would be:</a:t>
                </a:r>
              </a:p>
              <a:p>
                <a:pPr lvl="3"/>
                <a:endParaRPr lang="en-US" dirty="0"/>
              </a:p>
              <a:p>
                <a:pPr lvl="3"/>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308860" y="3390245"/>
                <a:ext cx="5806440" cy="923330"/>
              </a:xfrm>
              <a:prstGeom prst="rect">
                <a:avLst/>
              </a:prstGeom>
            </p:spPr>
            <p:txBody>
              <a:bodyPr wrap="square">
                <a:spAutoFit/>
              </a:bodyPr>
              <a:lstStyle/>
              <a:p>
                <a:r>
                  <a:rPr lang="en-US" dirty="0"/>
                  <a:t>		Max	</a:t>
                </a:r>
                <a14:m>
                  <m:oMath xmlns:m="http://schemas.openxmlformats.org/officeDocument/2006/math">
                    <m:sSub>
                      <m:sSubPr>
                        <m:ctrlPr>
                          <a:rPr lang="en-US" i="1">
                            <a:latin typeface="Cambria Math" panose="02040503050406030204" pitchFamily="18" charset="0"/>
                          </a:rPr>
                        </m:ctrlPr>
                      </m:sSubPr>
                      <m:e>
                        <m:r>
                          <a:rPr lang="en-US" i="1">
                            <a:latin typeface="Cambria Math"/>
                          </a:rPr>
                          <m:t>2</m:t>
                        </m:r>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5</m:t>
                        </m:r>
                        <m:r>
                          <a:rPr lang="en-US" i="1">
                            <a:latin typeface="Cambria Math"/>
                          </a:rPr>
                          <m:t>𝑥</m:t>
                        </m:r>
                      </m:e>
                      <m:sub>
                        <m:r>
                          <a:rPr lang="en-US" i="1">
                            <a:latin typeface="Cambria Math"/>
                          </a:rPr>
                          <m:t>2</m:t>
                        </m:r>
                      </m:sub>
                    </m:sSub>
                    <m:r>
                      <a:rPr lang="en-US">
                        <a:latin typeface="Cambria Math"/>
                      </a:rPr>
                      <m:t>+</m:t>
                    </m:r>
                    <m:sSub>
                      <m:sSubPr>
                        <m:ctrlPr>
                          <a:rPr lang="en-US" i="1">
                            <a:latin typeface="Cambria Math" panose="02040503050406030204" pitchFamily="18" charset="0"/>
                          </a:rPr>
                        </m:ctrlPr>
                      </m:sSubPr>
                      <m:e>
                        <m:r>
                          <a:rPr lang="en-US" i="1">
                            <a:latin typeface="Cambria Math"/>
                          </a:rPr>
                          <m:t>3</m:t>
                        </m:r>
                        <m:r>
                          <a:rPr lang="en-US" i="1">
                            <a:latin typeface="Cambria Math"/>
                          </a:rPr>
                          <m:t>𝑥</m:t>
                        </m:r>
                      </m:e>
                      <m:sub>
                        <m:r>
                          <a:rPr lang="en-US" i="1">
                            <a:latin typeface="Cambria Math"/>
                          </a:rPr>
                          <m:t>3</m:t>
                        </m:r>
                      </m:sub>
                    </m:sSub>
                    <m:r>
                      <a:rPr lang="en-US" i="1">
                        <a:latin typeface="Cambria Math"/>
                      </a:rPr>
                      <m:t>+</m:t>
                    </m:r>
                    <m:sSub>
                      <m:sSubPr>
                        <m:ctrlPr>
                          <a:rPr lang="en-US" i="1">
                            <a:latin typeface="Cambria Math" panose="02040503050406030204" pitchFamily="18" charset="0"/>
                          </a:rPr>
                        </m:ctrlPr>
                      </m:sSubPr>
                      <m:e>
                        <m:r>
                          <a:rPr lang="en-US" i="1">
                            <a:latin typeface="Cambria Math"/>
                          </a:rPr>
                          <m:t>6</m:t>
                        </m:r>
                        <m:r>
                          <a:rPr lang="en-US" i="1">
                            <a:latin typeface="Cambria Math"/>
                          </a:rPr>
                          <m:t>𝑥</m:t>
                        </m:r>
                      </m:e>
                      <m:sub>
                        <m:r>
                          <a:rPr lang="en-US" i="1">
                            <a:latin typeface="Cambria Math"/>
                          </a:rPr>
                          <m:t>4</m:t>
                        </m:r>
                      </m:sub>
                    </m:sSub>
                  </m:oMath>
                </a14:m>
                <a:endParaRPr lang="en-US" dirty="0"/>
              </a:p>
              <a:p>
                <a:pPr marL="0" lvl="1" indent="0">
                  <a:buNone/>
                </a:pPr>
                <a:r>
                  <a:rPr lang="en-US" dirty="0"/>
                  <a:t>                           	</a:t>
                </a:r>
                <a:r>
                  <a:rPr lang="en-US" dirty="0" err="1"/>
                  <a:t>s.t.</a:t>
                </a:r>
                <a:r>
                  <a:rPr lang="en-US" dirty="0"/>
                  <a:t>	</a:t>
                </a:r>
                <a14:m>
                  <m:oMath xmlns:m="http://schemas.openxmlformats.org/officeDocument/2006/math">
                    <m:r>
                      <a:rPr lang="en-US" b="0" i="1" smtClean="0">
                        <a:latin typeface="Cambria Math" panose="02040503050406030204" pitchFamily="18" charset="0"/>
                      </a:rPr>
                      <m:t>𝑌</m:t>
                    </m:r>
                    <m:r>
                      <a:rPr lang="en-US" i="1">
                        <a:latin typeface="Cambria Math"/>
                      </a:rPr>
                      <m:t>≤50</m:t>
                    </m:r>
                  </m:oMath>
                </a14:m>
                <a:endParaRPr lang="en-US" dirty="0"/>
              </a:p>
              <a:p>
                <a:pPr marL="0" lvl="1"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≥0, </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≥0,</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i="1">
                        <a:latin typeface="Cambria Math"/>
                      </a:rPr>
                      <m:t>≥0, </m:t>
                    </m:r>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r>
                      <a:rPr lang="en-US" i="1">
                        <a:latin typeface="Cambria Math"/>
                      </a:rPr>
                      <m:t>≥0</m:t>
                    </m:r>
                  </m:oMath>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2308860" y="3390245"/>
                <a:ext cx="5806440" cy="923330"/>
              </a:xfrm>
              <a:prstGeom prst="rect">
                <a:avLst/>
              </a:prstGeom>
              <a:blipFill rotWithShape="0">
                <a:blip r:embed="rId3"/>
                <a:stretch>
                  <a:fillRect t="-32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8561070" y="3528744"/>
                <a:ext cx="3177540" cy="646331"/>
              </a:xfrm>
              <a:prstGeom prst="rect">
                <a:avLst/>
              </a:prstGeom>
              <a:noFill/>
            </p:spPr>
            <p:txBody>
              <a:bodyPr wrap="square" rtlCol="0">
                <a:spAutoFit/>
              </a:bodyPr>
              <a:lstStyle/>
              <a:p>
                <a:r>
                  <a:rPr lang="en-US" dirty="0"/>
                  <a:t>The model does not know that </a:t>
                </a:r>
                <a14:m>
                  <m:oMath xmlns:m="http://schemas.openxmlformats.org/officeDocument/2006/math">
                    <m:r>
                      <a:rPr lang="en-US" i="1" dirty="0">
                        <a:latin typeface="Cambria Math" panose="02040503050406030204" pitchFamily="18" charset="0"/>
                      </a:rPr>
                      <m:t>𝑌</m:t>
                    </m:r>
                  </m:oMath>
                </a14:m>
                <a:r>
                  <a:rPr lang="en-US" dirty="0"/>
                  <a:t> is related to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panose="02040503050406030204" pitchFamily="18" charset="0"/>
                          </a:rPr>
                          <m:t>𝑖</m:t>
                        </m:r>
                      </m:sub>
                    </m:sSub>
                  </m:oMath>
                </a14:m>
                <a:r>
                  <a:rPr lang="en-US" dirty="0"/>
                  <a:t>’s by definition</a:t>
                </a:r>
              </a:p>
            </p:txBody>
          </p:sp>
        </mc:Choice>
        <mc:Fallback xmlns="">
          <p:sp>
            <p:nvSpPr>
              <p:cNvPr id="5" name="TextBox 4"/>
              <p:cNvSpPr txBox="1">
                <a:spLocks noRot="1" noChangeAspect="1" noMove="1" noResize="1" noEditPoints="1" noAdjustHandles="1" noChangeArrowheads="1" noChangeShapeType="1" noTextEdit="1"/>
              </p:cNvSpPr>
              <p:nvPr/>
            </p:nvSpPr>
            <p:spPr>
              <a:xfrm>
                <a:off x="8561070" y="3528744"/>
                <a:ext cx="3177540" cy="646331"/>
              </a:xfrm>
              <a:prstGeom prst="rect">
                <a:avLst/>
              </a:prstGeom>
              <a:blipFill rotWithShape="0">
                <a:blip r:embed="rId4"/>
                <a:stretch>
                  <a:fillRect l="-1533"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308860" y="4675019"/>
                <a:ext cx="5806440" cy="1200329"/>
              </a:xfrm>
              <a:prstGeom prst="rect">
                <a:avLst/>
              </a:prstGeom>
            </p:spPr>
            <p:txBody>
              <a:bodyPr wrap="square">
                <a:spAutoFit/>
              </a:bodyPr>
              <a:lstStyle/>
              <a:p>
                <a:r>
                  <a:rPr lang="en-US" dirty="0"/>
                  <a:t>		Max	</a:t>
                </a:r>
                <a14:m>
                  <m:oMath xmlns:m="http://schemas.openxmlformats.org/officeDocument/2006/math">
                    <m:sSub>
                      <m:sSubPr>
                        <m:ctrlPr>
                          <a:rPr lang="en-US" i="1">
                            <a:latin typeface="Cambria Math" panose="02040503050406030204" pitchFamily="18" charset="0"/>
                          </a:rPr>
                        </m:ctrlPr>
                      </m:sSubPr>
                      <m:e>
                        <m:r>
                          <a:rPr lang="en-US" i="1">
                            <a:latin typeface="Cambria Math"/>
                          </a:rPr>
                          <m:t>2</m:t>
                        </m:r>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5</m:t>
                        </m:r>
                        <m:r>
                          <a:rPr lang="en-US" i="1">
                            <a:latin typeface="Cambria Math"/>
                          </a:rPr>
                          <m:t>𝑥</m:t>
                        </m:r>
                      </m:e>
                      <m:sub>
                        <m:r>
                          <a:rPr lang="en-US" i="1">
                            <a:latin typeface="Cambria Math"/>
                          </a:rPr>
                          <m:t>2</m:t>
                        </m:r>
                      </m:sub>
                    </m:sSub>
                    <m:r>
                      <a:rPr lang="en-US">
                        <a:latin typeface="Cambria Math"/>
                      </a:rPr>
                      <m:t>+</m:t>
                    </m:r>
                    <m:sSub>
                      <m:sSubPr>
                        <m:ctrlPr>
                          <a:rPr lang="en-US" i="1">
                            <a:latin typeface="Cambria Math" panose="02040503050406030204" pitchFamily="18" charset="0"/>
                          </a:rPr>
                        </m:ctrlPr>
                      </m:sSubPr>
                      <m:e>
                        <m:r>
                          <a:rPr lang="en-US" i="1">
                            <a:latin typeface="Cambria Math"/>
                          </a:rPr>
                          <m:t>3</m:t>
                        </m:r>
                        <m:r>
                          <a:rPr lang="en-US" i="1">
                            <a:latin typeface="Cambria Math"/>
                          </a:rPr>
                          <m:t>𝑥</m:t>
                        </m:r>
                      </m:e>
                      <m:sub>
                        <m:r>
                          <a:rPr lang="en-US" i="1">
                            <a:latin typeface="Cambria Math"/>
                          </a:rPr>
                          <m:t>3</m:t>
                        </m:r>
                      </m:sub>
                    </m:sSub>
                    <m:r>
                      <a:rPr lang="en-US" i="1">
                        <a:latin typeface="Cambria Math"/>
                      </a:rPr>
                      <m:t>+</m:t>
                    </m:r>
                    <m:sSub>
                      <m:sSubPr>
                        <m:ctrlPr>
                          <a:rPr lang="en-US" i="1">
                            <a:latin typeface="Cambria Math" panose="02040503050406030204" pitchFamily="18" charset="0"/>
                          </a:rPr>
                        </m:ctrlPr>
                      </m:sSubPr>
                      <m:e>
                        <m:r>
                          <a:rPr lang="en-US" i="1">
                            <a:latin typeface="Cambria Math"/>
                          </a:rPr>
                          <m:t>6</m:t>
                        </m:r>
                        <m:r>
                          <a:rPr lang="en-US" i="1">
                            <a:latin typeface="Cambria Math"/>
                          </a:rPr>
                          <m:t>𝑥</m:t>
                        </m:r>
                      </m:e>
                      <m:sub>
                        <m:r>
                          <a:rPr lang="en-US" i="1">
                            <a:latin typeface="Cambria Math"/>
                          </a:rPr>
                          <m:t>4</m:t>
                        </m:r>
                      </m:sub>
                    </m:sSub>
                  </m:oMath>
                </a14:m>
                <a:endParaRPr lang="en-US" dirty="0"/>
              </a:p>
              <a:p>
                <a:pPr marL="0" lvl="1" indent="0">
                  <a:buNone/>
                </a:pPr>
                <a:r>
                  <a:rPr lang="en-US" dirty="0"/>
                  <a:t>                           	</a:t>
                </a:r>
                <a:r>
                  <a:rPr lang="en-US" dirty="0" err="1"/>
                  <a:t>s.t.</a:t>
                </a:r>
                <a:r>
                  <a:rPr lang="en-US" dirty="0"/>
                  <a:t>	</a:t>
                </a:r>
                <a14:m>
                  <m:oMath xmlns:m="http://schemas.openxmlformats.org/officeDocument/2006/math">
                    <m:r>
                      <a:rPr lang="en-US" b="0" i="1" smtClean="0">
                        <a:latin typeface="Cambria Math" panose="02040503050406030204" pitchFamily="18" charset="0"/>
                      </a:rPr>
                      <m:t>𝑌</m:t>
                    </m:r>
                    <m:r>
                      <a:rPr lang="en-US" i="1">
                        <a:latin typeface="Cambria Math"/>
                      </a:rPr>
                      <m:t>≤50</m:t>
                    </m:r>
                  </m:oMath>
                </a14:m>
                <a:endParaRPr lang="en-US" dirty="0"/>
              </a:p>
              <a:p>
                <a:pPr marL="0" lvl="1" indent="0">
                  <a:buNone/>
                </a:pPr>
                <a:r>
                  <a:rPr lang="en-US" dirty="0"/>
                  <a:t>			</a:t>
                </a:r>
                <a14:m>
                  <m:oMath xmlns:m="http://schemas.openxmlformats.org/officeDocument/2006/math">
                    <m:r>
                      <a:rPr lang="en-US" i="1">
                        <a:latin typeface="Cambria Math" panose="02040503050406030204" pitchFamily="18" charset="0"/>
                      </a:rPr>
                      <m:t>𝑌</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oMath>
                </a14:m>
                <a:endParaRPr lang="en-US" dirty="0"/>
              </a:p>
              <a:p>
                <a:pPr marL="0" lvl="1"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≥0, </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≥0,</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i="1">
                        <a:latin typeface="Cambria Math"/>
                      </a:rPr>
                      <m:t>≥0, </m:t>
                    </m:r>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r>
                      <a:rPr lang="en-US" i="1">
                        <a:latin typeface="Cambria Math"/>
                      </a:rPr>
                      <m:t>≥0</m:t>
                    </m:r>
                  </m:oMath>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2308860" y="4675019"/>
                <a:ext cx="5806440" cy="1200329"/>
              </a:xfrm>
              <a:prstGeom prst="rect">
                <a:avLst/>
              </a:prstGeom>
              <a:blipFill rotWithShape="0">
                <a:blip r:embed="rId5"/>
                <a:stretch>
                  <a:fillRect t="-30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8561070" y="4952017"/>
                <a:ext cx="3177540" cy="646331"/>
              </a:xfrm>
              <a:prstGeom prst="rect">
                <a:avLst/>
              </a:prstGeom>
              <a:noFill/>
            </p:spPr>
            <p:txBody>
              <a:bodyPr wrap="square" rtlCol="0">
                <a:spAutoFit/>
              </a:bodyPr>
              <a:lstStyle/>
              <a:p>
                <a:r>
                  <a:rPr lang="en-US" dirty="0"/>
                  <a:t>The model knows how </a:t>
                </a:r>
                <a14:m>
                  <m:oMath xmlns:m="http://schemas.openxmlformats.org/officeDocument/2006/math">
                    <m:r>
                      <a:rPr lang="en-US" i="1" dirty="0">
                        <a:latin typeface="Cambria Math" panose="02040503050406030204" pitchFamily="18" charset="0"/>
                      </a:rPr>
                      <m:t>𝑌</m:t>
                    </m:r>
                  </m:oMath>
                </a14:m>
                <a:r>
                  <a:rPr lang="en-US" dirty="0"/>
                  <a:t> is related to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panose="02040503050406030204" pitchFamily="18" charset="0"/>
                          </a:rPr>
                          <m:t>𝑖</m:t>
                        </m:r>
                      </m:sub>
                    </m:sSub>
                  </m:oMath>
                </a14:m>
                <a:r>
                  <a:rPr lang="en-US" dirty="0"/>
                  <a:t>’s by definition</a:t>
                </a:r>
              </a:p>
            </p:txBody>
          </p:sp>
        </mc:Choice>
        <mc:Fallback xmlns="">
          <p:sp>
            <p:nvSpPr>
              <p:cNvPr id="7" name="TextBox 6"/>
              <p:cNvSpPr txBox="1">
                <a:spLocks noRot="1" noChangeAspect="1" noMove="1" noResize="1" noEditPoints="1" noAdjustHandles="1" noChangeArrowheads="1" noChangeShapeType="1" noTextEdit="1"/>
              </p:cNvSpPr>
              <p:nvPr/>
            </p:nvSpPr>
            <p:spPr>
              <a:xfrm>
                <a:off x="8561070" y="4952017"/>
                <a:ext cx="3177540" cy="646331"/>
              </a:xfrm>
              <a:prstGeom prst="rect">
                <a:avLst/>
              </a:prstGeom>
              <a:blipFill rotWithShape="0">
                <a:blip r:embed="rId6"/>
                <a:stretch>
                  <a:fillRect l="-1533" t="-4717" b="-14151"/>
                </a:stretch>
              </a:blipFill>
            </p:spPr>
            <p:txBody>
              <a:bodyPr/>
              <a:lstStyle/>
              <a:p>
                <a:r>
                  <a:rPr lang="en-US">
                    <a:noFill/>
                  </a:rPr>
                  <a:t> </a:t>
                </a:r>
              </a:p>
            </p:txBody>
          </p:sp>
        </mc:Fallback>
      </mc:AlternateContent>
      <p:sp>
        <p:nvSpPr>
          <p:cNvPr id="8" name="Right Brace 7"/>
          <p:cNvSpPr/>
          <p:nvPr/>
        </p:nvSpPr>
        <p:spPr bwMode="auto">
          <a:xfrm>
            <a:off x="8115300" y="3544236"/>
            <a:ext cx="300542" cy="630839"/>
          </a:xfrm>
          <a:prstGeom prst="rightBrace">
            <a:avLst>
              <a:gd name="adj1" fmla="val 38758"/>
              <a:gd name="adj2" fmla="val 50000"/>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9" name="Right Brace 8"/>
          <p:cNvSpPr/>
          <p:nvPr/>
        </p:nvSpPr>
        <p:spPr bwMode="auto">
          <a:xfrm>
            <a:off x="8187914" y="4846265"/>
            <a:ext cx="300542" cy="857305"/>
          </a:xfrm>
          <a:prstGeom prst="rightBrace">
            <a:avLst>
              <a:gd name="adj1" fmla="val 38758"/>
              <a:gd name="adj2" fmla="val 50000"/>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Tree>
    <p:extLst>
      <p:ext uri="{BB962C8B-B14F-4D97-AF65-F5344CB8AC3E}">
        <p14:creationId xmlns:p14="http://schemas.microsoft.com/office/powerpoint/2010/main" val="136321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2"/>
                <a:ext cx="11478410" cy="5425251"/>
              </a:xfrm>
            </p:spPr>
            <p:txBody>
              <a:bodyPr>
                <a:normAutofit/>
              </a:bodyPr>
              <a:lstStyle/>
              <a:p>
                <a:r>
                  <a:rPr lang="en-US" b="1" u="sng" dirty="0"/>
                  <a:t>Points to be careful about:</a:t>
                </a:r>
              </a:p>
              <a:p>
                <a:pPr lvl="1"/>
                <a:r>
                  <a:rPr lang="en-US" dirty="0"/>
                  <a:t>We have only </a:t>
                </a:r>
                <a14:m>
                  <m:oMath xmlns:m="http://schemas.openxmlformats.org/officeDocument/2006/math">
                    <m:r>
                      <a:rPr lang="en-US" b="0" i="0" dirty="0" smtClean="0">
                        <a:latin typeface="Cambria Math" panose="02040503050406030204" pitchFamily="18" charset="0"/>
                      </a:rPr>
                      <m:t>′</m:t>
                    </m:r>
                    <m:r>
                      <a:rPr lang="en-US" b="0" i="1" dirty="0" smtClean="0">
                        <a:latin typeface="Cambria Math" panose="02040503050406030204" pitchFamily="18" charset="0"/>
                      </a:rPr>
                      <m:t>≤′</m:t>
                    </m:r>
                  </m:oMath>
                </a14:m>
                <a:r>
                  <a:rPr lang="en-US" dirty="0"/>
                  <a:t>,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m:t>
                    </m:r>
                  </m:oMath>
                </a14:m>
                <a:r>
                  <a:rPr lang="en-US" dirty="0"/>
                  <a:t>, or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m:t>
                    </m:r>
                  </m:oMath>
                </a14:m>
                <a:r>
                  <a:rPr lang="en-US" dirty="0"/>
                  <a:t> constraints: no </a:t>
                </a:r>
                <a14:m>
                  <m:oMath xmlns:m="http://schemas.openxmlformats.org/officeDocument/2006/math">
                    <m:r>
                      <a:rPr lang="en-US" b="0" i="0" dirty="0" smtClean="0">
                        <a:latin typeface="Cambria Math" panose="02040503050406030204" pitchFamily="18" charset="0"/>
                      </a:rPr>
                      <m:t>′</m:t>
                    </m:r>
                    <m:r>
                      <a:rPr lang="en-US" i="1" dirty="0" smtClean="0">
                        <a:latin typeface="Cambria Math" panose="02040503050406030204" pitchFamily="18" charset="0"/>
                      </a:rPr>
                      <m:t>&gt;</m:t>
                    </m:r>
                    <m:r>
                      <a:rPr lang="en-US" b="0" i="1" dirty="0" smtClean="0">
                        <a:latin typeface="Cambria Math" panose="02040503050406030204" pitchFamily="18" charset="0"/>
                      </a:rPr>
                      <m:t>′</m:t>
                    </m:r>
                  </m:oMath>
                </a14:m>
                <a:r>
                  <a:rPr lang="en-US" dirty="0"/>
                  <a:t> or </a:t>
                </a:r>
                <a14:m>
                  <m:oMath xmlns:m="http://schemas.openxmlformats.org/officeDocument/2006/math">
                    <m:r>
                      <a:rPr lang="en-US" b="0" i="0" dirty="0" smtClean="0">
                        <a:latin typeface="Cambria Math" panose="02040503050406030204" pitchFamily="18" charset="0"/>
                      </a:rPr>
                      <m:t>′</m:t>
                    </m:r>
                    <m:r>
                      <a:rPr lang="en-US" i="1" dirty="0" smtClean="0">
                        <a:latin typeface="Cambria Math" panose="02040503050406030204" pitchFamily="18" charset="0"/>
                      </a:rPr>
                      <m:t>&lt;</m:t>
                    </m:r>
                    <m:r>
                      <a:rPr lang="en-US" b="0" i="1" dirty="0" smtClean="0">
                        <a:latin typeface="Cambria Math" panose="02040503050406030204" pitchFamily="18" charset="0"/>
                      </a:rPr>
                      <m:t>′</m:t>
                    </m:r>
                  </m:oMath>
                </a14:m>
                <a:r>
                  <a:rPr lang="en-US" dirty="0"/>
                  <a:t> or </a:t>
                </a:r>
                <a14:m>
                  <m:oMath xmlns:m="http://schemas.openxmlformats.org/officeDocument/2006/math">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oMath>
                </a14:m>
                <a:r>
                  <a:rPr lang="en-US" dirty="0"/>
                  <a:t>constraints</a:t>
                </a:r>
              </a:p>
              <a:p>
                <a:pPr lvl="2"/>
                <a:r>
                  <a:rPr lang="en-US" dirty="0"/>
                  <a:t>This is for mathematical tractability as you do not want to use limits!</a:t>
                </a:r>
              </a:p>
              <a:p>
                <a:pPr lvl="2"/>
                <a:r>
                  <a:rPr lang="en-US" dirty="0"/>
                  <a:t>Also,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a14:m>
                <a:r>
                  <a:rPr lang="en-US" dirty="0"/>
                  <a:t> is not treated as a mathematical expression</a:t>
                </a:r>
              </a:p>
              <a:p>
                <a:pPr lvl="1"/>
                <a:r>
                  <a:rPr lang="en-US" dirty="0"/>
                  <a:t>Some non-linear constraints can be expressed as linear constraints</a:t>
                </a:r>
              </a:p>
              <a:p>
                <a:pPr lvl="2"/>
                <a:r>
                  <a:rPr lang="en-US" dirty="0"/>
                  <a:t>For instance, in Island Example, suppose that proportion of bread to steak should not exceed 0.5</a:t>
                </a:r>
              </a:p>
              <a:p>
                <a:pPr lvl="2"/>
                <a:r>
                  <a:rPr lang="en-US" dirty="0"/>
                  <a:t>One can write the constraint for this as:</a:t>
                </a:r>
              </a:p>
              <a:p>
                <a:pPr lvl="2"/>
                <a:endParaRPr lang="en-US" dirty="0"/>
              </a:p>
              <a:p>
                <a:pPr lvl="2"/>
                <a:endParaRPr lang="en-US" dirty="0"/>
              </a:p>
              <a:p>
                <a:pPr lvl="2"/>
                <a:r>
                  <a:rPr lang="en-US" dirty="0"/>
                  <a:t>But equally, we can write the constraint as:</a:t>
                </a:r>
              </a:p>
              <a:p>
                <a:pPr lvl="2"/>
                <a:endParaRPr lang="en-US" dirty="0"/>
              </a:p>
              <a:p>
                <a:pPr marL="914400" lvl="2" indent="0">
                  <a:buNone/>
                </a:pPr>
                <a:endParaRPr lang="en-US" dirty="0"/>
              </a:p>
              <a:p>
                <a:pPr lvl="1"/>
                <a:r>
                  <a:rPr lang="en-US" dirty="0"/>
                  <a:t>It is also nice, but not required, to have all variables in left-side and a constant on right-side of the constraint</a:t>
                </a:r>
              </a:p>
              <a:p>
                <a:pPr lvl="1"/>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2"/>
                <a:ext cx="11478410" cy="5425251"/>
              </a:xfrm>
              <a:blipFill>
                <a:blip r:embed="rId2"/>
                <a:stretch>
                  <a:fillRect l="-956" t="-17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685156" y="3998714"/>
                <a:ext cx="1072025" cy="6120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a:latin typeface="Cambria Math"/>
                                </a:rPr>
                                <m:t>𝑥</m:t>
                              </m:r>
                            </m:e>
                            <m:sub>
                              <m:r>
                                <a:rPr lang="en-US" i="1">
                                  <a:latin typeface="Cambria Math"/>
                                </a:rPr>
                                <m:t>1</m:t>
                              </m:r>
                            </m:sub>
                          </m:sSub>
                        </m:num>
                        <m:den>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den>
                      </m:f>
                      <m:r>
                        <a:rPr lang="en-US" b="0" i="1" smtClean="0">
                          <a:latin typeface="Cambria Math" panose="02040503050406030204" pitchFamily="18" charset="0"/>
                        </a:rPr>
                        <m:t>≤0.5</m:t>
                      </m:r>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4685156" y="3998714"/>
                <a:ext cx="1072025" cy="612027"/>
              </a:xfrm>
              <a:prstGeom prst="rect">
                <a:avLst/>
              </a:prstGeom>
              <a:blipFill rotWithShape="0">
                <a:blip r:embed="rId3"/>
                <a:stretch>
                  <a:fillRect/>
                </a:stretch>
              </a:blipFill>
            </p:spPr>
            <p:txBody>
              <a:bodyPr/>
              <a:lstStyle/>
              <a:p>
                <a:r>
                  <a:rPr lang="en-US">
                    <a:noFill/>
                  </a:rPr>
                  <a:t> </a:t>
                </a:r>
              </a:p>
            </p:txBody>
          </p:sp>
        </mc:Fallback>
      </mc:AlternateContent>
      <p:sp>
        <p:nvSpPr>
          <p:cNvPr id="9" name="TextBox 8"/>
          <p:cNvSpPr txBox="1"/>
          <p:nvPr/>
        </p:nvSpPr>
        <p:spPr>
          <a:xfrm>
            <a:off x="6290357" y="4110655"/>
            <a:ext cx="4800600" cy="369332"/>
          </a:xfrm>
          <a:prstGeom prst="rect">
            <a:avLst/>
          </a:prstGeom>
          <a:noFill/>
        </p:spPr>
        <p:txBody>
          <a:bodyPr wrap="square" rtlCol="0">
            <a:spAutoFit/>
          </a:bodyPr>
          <a:lstStyle/>
          <a:p>
            <a:r>
              <a:rPr lang="en-US" dirty="0"/>
              <a:t>This is not linear are variables are divided</a:t>
            </a:r>
          </a:p>
        </p:txBody>
      </p:sp>
      <mc:AlternateContent xmlns:mc="http://schemas.openxmlformats.org/markup-compatibility/2006" xmlns:a14="http://schemas.microsoft.com/office/drawing/2010/main">
        <mc:Choice Requires="a14">
          <p:sp>
            <p:nvSpPr>
              <p:cNvPr id="10" name="Rectangle 9"/>
              <p:cNvSpPr/>
              <p:nvPr/>
            </p:nvSpPr>
            <p:spPr>
              <a:xfrm>
                <a:off x="4685156" y="5016986"/>
                <a:ext cx="1295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𝑥</m:t>
                          </m:r>
                        </m:e>
                        <m:sub>
                          <m:r>
                            <a:rPr lang="en-US" i="1">
                              <a:latin typeface="Cambria Math"/>
                            </a:rPr>
                            <m:t>1</m:t>
                          </m:r>
                        </m:sub>
                      </m:sSub>
                      <m:r>
                        <a:rPr lang="en-US" b="0" i="1" smtClean="0">
                          <a:latin typeface="Cambria Math" panose="02040503050406030204" pitchFamily="18" charset="0"/>
                        </a:rPr>
                        <m:t>≤0.5</m:t>
                      </m:r>
                      <m:sSub>
                        <m:sSubPr>
                          <m:ctrlPr>
                            <a:rPr lang="en-US" i="1">
                              <a:latin typeface="Cambria Math" panose="02040503050406030204" pitchFamily="18" charset="0"/>
                            </a:rPr>
                          </m:ctrlPr>
                        </m:sSubPr>
                        <m:e>
                          <m:r>
                            <a:rPr lang="en-US" i="1">
                              <a:latin typeface="Cambria Math"/>
                            </a:rPr>
                            <m:t>𝑥</m:t>
                          </m:r>
                        </m:e>
                        <m:sub>
                          <m:r>
                            <a:rPr lang="en-US" b="0" i="1" smtClean="0">
                              <a:latin typeface="Cambria Math" panose="02040503050406030204" pitchFamily="18" charset="0"/>
                            </a:rPr>
                            <m:t>2</m:t>
                          </m:r>
                        </m:sub>
                      </m:sSub>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4685156" y="5016986"/>
                <a:ext cx="1295226" cy="36933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7059601" y="4959143"/>
                <a:ext cx="169918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𝑥</m:t>
                          </m:r>
                        </m:e>
                        <m:sub>
                          <m:r>
                            <a:rPr lang="en-US" i="1">
                              <a:latin typeface="Cambria Math"/>
                            </a:rPr>
                            <m:t>1</m:t>
                          </m:r>
                        </m:sub>
                      </m:sSub>
                      <m:r>
                        <a:rPr lang="en-US" b="0" i="1" smtClean="0">
                          <a:latin typeface="Cambria Math" panose="02040503050406030204" pitchFamily="18" charset="0"/>
                        </a:rPr>
                        <m:t>−0.5</m:t>
                      </m:r>
                      <m:sSub>
                        <m:sSubPr>
                          <m:ctrlPr>
                            <a:rPr lang="en-US" i="1">
                              <a:latin typeface="Cambria Math" panose="02040503050406030204" pitchFamily="18" charset="0"/>
                            </a:rPr>
                          </m:ctrlPr>
                        </m:sSubPr>
                        <m:e>
                          <m:r>
                            <a:rPr lang="en-US" i="1">
                              <a:latin typeface="Cambria Math"/>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≤0</m:t>
                      </m:r>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7059601" y="4959143"/>
                <a:ext cx="1699183" cy="369332"/>
              </a:xfrm>
              <a:prstGeom prst="rect">
                <a:avLst/>
              </a:prstGeom>
              <a:blipFill rotWithShape="0">
                <a:blip r:embed="rId5"/>
                <a:stretch>
                  <a:fillRect/>
                </a:stretch>
              </a:blipFill>
            </p:spPr>
            <p:txBody>
              <a:bodyPr/>
              <a:lstStyle/>
              <a:p>
                <a:r>
                  <a:rPr lang="en-US">
                    <a:noFill/>
                  </a:rPr>
                  <a:t> </a:t>
                </a:r>
              </a:p>
            </p:txBody>
          </p:sp>
        </mc:Fallback>
      </mc:AlternateContent>
      <p:sp>
        <p:nvSpPr>
          <p:cNvPr id="13" name="TextBox 12"/>
          <p:cNvSpPr txBox="1"/>
          <p:nvPr/>
        </p:nvSpPr>
        <p:spPr>
          <a:xfrm>
            <a:off x="9040083" y="5016986"/>
            <a:ext cx="1502525" cy="369332"/>
          </a:xfrm>
          <a:prstGeom prst="rect">
            <a:avLst/>
          </a:prstGeom>
          <a:noFill/>
        </p:spPr>
        <p:txBody>
          <a:bodyPr wrap="square" rtlCol="0">
            <a:spAutoFit/>
          </a:bodyPr>
          <a:lstStyle/>
          <a:p>
            <a:r>
              <a:rPr lang="en-US" dirty="0"/>
              <a:t>This is linear!</a:t>
            </a:r>
          </a:p>
        </p:txBody>
      </p:sp>
      <p:sp>
        <p:nvSpPr>
          <p:cNvPr id="14" name="Right Brace 13"/>
          <p:cNvSpPr/>
          <p:nvPr/>
        </p:nvSpPr>
        <p:spPr bwMode="auto">
          <a:xfrm>
            <a:off x="5688778" y="3979902"/>
            <a:ext cx="300542" cy="630839"/>
          </a:xfrm>
          <a:prstGeom prst="rightBrace">
            <a:avLst>
              <a:gd name="adj1" fmla="val 38758"/>
              <a:gd name="adj2" fmla="val 50000"/>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5" name="Right Brace 14"/>
          <p:cNvSpPr/>
          <p:nvPr/>
        </p:nvSpPr>
        <p:spPr bwMode="auto">
          <a:xfrm>
            <a:off x="8643980" y="5003320"/>
            <a:ext cx="300542" cy="382998"/>
          </a:xfrm>
          <a:prstGeom prst="rightBrace">
            <a:avLst>
              <a:gd name="adj1" fmla="val 38758"/>
              <a:gd name="adj2" fmla="val 50000"/>
            </a:avLst>
          </a:prstGeom>
          <a:ln w="28575">
            <a:solidFill>
              <a:schemeClr val="accent4">
                <a:lumMod val="7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6" name="Left-Right Arrow 15"/>
          <p:cNvSpPr/>
          <p:nvPr/>
        </p:nvSpPr>
        <p:spPr>
          <a:xfrm>
            <a:off x="5922064" y="5043844"/>
            <a:ext cx="1204184" cy="276923"/>
          </a:xfrm>
          <a:prstGeom prst="leftRightArrow">
            <a:avLst>
              <a:gd name="adj1" fmla="val 57584"/>
              <a:gd name="adj2" fmla="val 10777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rPr>
              <a:t>same as</a:t>
            </a:r>
          </a:p>
        </p:txBody>
      </p:sp>
    </p:spTree>
    <p:extLst>
      <p:ext uri="{BB962C8B-B14F-4D97-AF65-F5344CB8AC3E}">
        <p14:creationId xmlns:p14="http://schemas.microsoft.com/office/powerpoint/2010/main" val="1631981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p:sp>
        <p:nvSpPr>
          <p:cNvPr id="3" name="Content Placeholder 2"/>
          <p:cNvSpPr>
            <a:spLocks noGrp="1"/>
          </p:cNvSpPr>
          <p:nvPr>
            <p:ph idx="1"/>
          </p:nvPr>
        </p:nvSpPr>
        <p:spPr/>
        <p:txBody>
          <a:bodyPr/>
          <a:lstStyle/>
          <a:p>
            <a:r>
              <a:rPr lang="en-US" b="1" u="sng" dirty="0"/>
              <a:t>Summary of algebraic modeling steps:</a:t>
            </a:r>
          </a:p>
          <a:p>
            <a:pPr lvl="1"/>
            <a:r>
              <a:rPr lang="en-US" dirty="0"/>
              <a:t>Gather all of your data, know what they mean</a:t>
            </a:r>
          </a:p>
          <a:p>
            <a:pPr marL="914400" lvl="1" indent="-457200">
              <a:buFont typeface="+mj-lt"/>
              <a:buAutoNum type="arabicPeriod"/>
            </a:pPr>
            <a:r>
              <a:rPr lang="en-US" dirty="0"/>
              <a:t>Identify your decision variables</a:t>
            </a:r>
          </a:p>
          <a:p>
            <a:pPr marL="914400" lvl="1" indent="-457200">
              <a:buFont typeface="+mj-lt"/>
              <a:buAutoNum type="arabicPeriod"/>
            </a:pPr>
            <a:r>
              <a:rPr lang="en-US" dirty="0"/>
              <a:t>Identify your objective and objective function</a:t>
            </a:r>
          </a:p>
          <a:p>
            <a:pPr marL="914400" lvl="1" indent="-457200">
              <a:buFont typeface="+mj-lt"/>
              <a:buAutoNum type="arabicPeriod"/>
            </a:pPr>
            <a:r>
              <a:rPr lang="en-US" dirty="0"/>
              <a:t>Identify your constraints</a:t>
            </a:r>
          </a:p>
          <a:p>
            <a:pPr lvl="2"/>
            <a:r>
              <a:rPr lang="en-US" dirty="0"/>
              <a:t>Express your objective function and constraints in terms of your decision variables</a:t>
            </a:r>
          </a:p>
          <a:p>
            <a:pPr lvl="2"/>
            <a:r>
              <a:rPr lang="en-US" dirty="0"/>
              <a:t>Steps 2 and 3 can change order</a:t>
            </a:r>
          </a:p>
          <a:p>
            <a:pPr marL="0" indent="0">
              <a:buNone/>
            </a:pPr>
            <a:endParaRPr lang="en-US" dirty="0"/>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4278270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p:sp>
        <p:nvSpPr>
          <p:cNvPr id="3" name="Content Placeholder 2"/>
          <p:cNvSpPr>
            <a:spLocks noGrp="1"/>
          </p:cNvSpPr>
          <p:nvPr>
            <p:ph idx="1"/>
          </p:nvPr>
        </p:nvSpPr>
        <p:spPr/>
        <p:txBody>
          <a:bodyPr>
            <a:normAutofit fontScale="92500" lnSpcReduction="20000"/>
          </a:bodyPr>
          <a:lstStyle/>
          <a:p>
            <a:r>
              <a:rPr lang="en-US" b="1" u="sng" dirty="0"/>
              <a:t>Case: </a:t>
            </a:r>
            <a:r>
              <a:rPr lang="en-US" b="1" u="sng" dirty="0" err="1"/>
              <a:t>Wyndor</a:t>
            </a:r>
            <a:r>
              <a:rPr lang="en-US" b="1" u="sng" dirty="0"/>
              <a:t> Glass Co. Product-Mix Problem (Chapter 2.1):</a:t>
            </a:r>
          </a:p>
          <a:p>
            <a:pPr lvl="1"/>
            <a:r>
              <a:rPr lang="en-US" u="sng" dirty="0"/>
              <a:t>Case Description: </a:t>
            </a:r>
            <a:r>
              <a:rPr lang="en-US" dirty="0"/>
              <a:t>The company uses three plants for its production operations</a:t>
            </a:r>
          </a:p>
          <a:p>
            <a:pPr lvl="2"/>
            <a:r>
              <a:rPr lang="en-US" dirty="0"/>
              <a:t>Plant 1 produces aluminum frames</a:t>
            </a:r>
          </a:p>
          <a:p>
            <a:pPr lvl="2"/>
            <a:r>
              <a:rPr lang="en-US" dirty="0"/>
              <a:t>Plant 2 produces wood frames</a:t>
            </a:r>
          </a:p>
          <a:p>
            <a:pPr lvl="2"/>
            <a:r>
              <a:rPr lang="en-US" dirty="0"/>
              <a:t>Plant 3 produces the glass and assembles windows and doors</a:t>
            </a:r>
          </a:p>
          <a:p>
            <a:pPr lvl="1"/>
            <a:r>
              <a:rPr lang="en-US" dirty="0"/>
              <a:t>The company plans to produce two new products</a:t>
            </a:r>
          </a:p>
          <a:p>
            <a:pPr lvl="2"/>
            <a:r>
              <a:rPr lang="en-US" dirty="0"/>
              <a:t>A glass door with aluminum framing: each such door needs to go through Plants 1 and 3</a:t>
            </a:r>
          </a:p>
          <a:p>
            <a:pPr lvl="2"/>
            <a:r>
              <a:rPr lang="en-US" dirty="0"/>
              <a:t>A wood-framed window: each such window needs to go through Plants 2 and 3</a:t>
            </a:r>
          </a:p>
          <a:p>
            <a:pPr lvl="1"/>
            <a:r>
              <a:rPr lang="en-US" dirty="0"/>
              <a:t>The plants have limited capacities available to be used by these two new products</a:t>
            </a:r>
          </a:p>
          <a:p>
            <a:pPr lvl="1"/>
            <a:endParaRPr lang="en-US" dirty="0"/>
          </a:p>
          <a:p>
            <a:pPr lvl="1"/>
            <a:r>
              <a:rPr lang="en-US" dirty="0"/>
              <a:t>What should be the product mix for these two new products to maximize the profit?</a:t>
            </a:r>
          </a:p>
          <a:p>
            <a:pPr lvl="2"/>
            <a:r>
              <a:rPr lang="en-US" dirty="0"/>
              <a:t>Product mix: the number of units of each product produced per week</a:t>
            </a:r>
          </a:p>
          <a:p>
            <a:pPr lvl="2"/>
            <a:r>
              <a:rPr lang="en-US" dirty="0"/>
              <a:t>So, it can be fractional number, say 2.5 per week, which means 10 per month</a:t>
            </a:r>
          </a:p>
          <a:p>
            <a:pPr lvl="1"/>
            <a:endParaRPr lang="en-US" dirty="0"/>
          </a:p>
          <a:p>
            <a:pPr marL="0" indent="0">
              <a:buNone/>
            </a:pPr>
            <a:endParaRPr lang="en-US" dirty="0"/>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331983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p:sp>
        <p:nvSpPr>
          <p:cNvPr id="3" name="Content Placeholder 2"/>
          <p:cNvSpPr>
            <a:spLocks noGrp="1"/>
          </p:cNvSpPr>
          <p:nvPr>
            <p:ph idx="1"/>
          </p:nvPr>
        </p:nvSpPr>
        <p:spPr/>
        <p:txBody>
          <a:bodyPr>
            <a:normAutofit fontScale="92500" lnSpcReduction="10000"/>
          </a:bodyPr>
          <a:lstStyle/>
          <a:p>
            <a:r>
              <a:rPr lang="en-US" b="1" u="sng" dirty="0"/>
              <a:t>Case: </a:t>
            </a:r>
            <a:r>
              <a:rPr lang="en-US" b="1" u="sng" dirty="0" err="1"/>
              <a:t>Wyndor</a:t>
            </a:r>
            <a:r>
              <a:rPr lang="en-US" b="1" u="sng" dirty="0"/>
              <a:t> Glass Co. Product-Mix Problem (Chapter 2.1):</a:t>
            </a:r>
          </a:p>
          <a:p>
            <a:r>
              <a:rPr lang="en-US" b="1" dirty="0">
                <a:solidFill>
                  <a:srgbClr val="C00000"/>
                </a:solidFill>
              </a:rPr>
              <a:t>STEP 0: </a:t>
            </a:r>
            <a:r>
              <a:rPr lang="en-US" dirty="0"/>
              <a:t>Know the problem and gather your data</a:t>
            </a:r>
          </a:p>
          <a:p>
            <a:pPr lvl="1"/>
            <a:r>
              <a:rPr lang="en-US" dirty="0"/>
              <a:t>Based on consultation with production, accounting, and facilities, we know</a:t>
            </a:r>
          </a:p>
          <a:p>
            <a:pPr lvl="2"/>
            <a:r>
              <a:rPr lang="en-US" dirty="0"/>
              <a:t>Plant 1 has 4 hours; Plant 2 has 12 hours; and Plant 3 has 18 hours availability per week</a:t>
            </a:r>
          </a:p>
          <a:p>
            <a:pPr lvl="2"/>
            <a:r>
              <a:rPr lang="en-US" dirty="0"/>
              <a:t>Each new door requires 1 hour from Plant 1 and 3 hours from Plant 3 to be produced</a:t>
            </a:r>
          </a:p>
          <a:p>
            <a:pPr lvl="2"/>
            <a:r>
              <a:rPr lang="en-US" dirty="0"/>
              <a:t>Each new window requires 2 hours from Plant 2 and 2 hours from Plant 3 to be produced</a:t>
            </a:r>
          </a:p>
          <a:p>
            <a:pPr lvl="2"/>
            <a:r>
              <a:rPr lang="en-US" dirty="0"/>
              <a:t>Unit profit for doors is $300 and unit profit for windows is $500</a:t>
            </a:r>
          </a:p>
          <a:p>
            <a:pPr lvl="2"/>
            <a:endParaRPr lang="en-US" dirty="0"/>
          </a:p>
          <a:p>
            <a:pPr lvl="2"/>
            <a:endParaRPr lang="en-US" dirty="0"/>
          </a:p>
          <a:p>
            <a:pPr lvl="2"/>
            <a:endParaRPr lang="en-US" dirty="0"/>
          </a:p>
          <a:p>
            <a:pPr lvl="2"/>
            <a:endParaRPr lang="en-US" dirty="0"/>
          </a:p>
          <a:p>
            <a:pPr lvl="2"/>
            <a:endParaRPr lang="en-US" dirty="0"/>
          </a:p>
          <a:p>
            <a:pPr lvl="2"/>
            <a:r>
              <a:rPr lang="en-US" dirty="0"/>
              <a:t>As the new product development management, you want to determine the production rate (# of units produced per week) for each new product so as to maximize the profit (weekly) generated</a:t>
            </a:r>
          </a:p>
          <a:p>
            <a:pPr lvl="3"/>
            <a:r>
              <a:rPr lang="en-US" dirty="0"/>
              <a:t>It is assumed that you will sell what is being produced	</a:t>
            </a:r>
            <a:endParaRPr lang="en-US" sz="2800" dirty="0"/>
          </a:p>
          <a:p>
            <a:pPr marL="400050" lvl="2" indent="0">
              <a:buNone/>
            </a:pPr>
            <a:endParaRPr lang="en-US" sz="2800" dirty="0"/>
          </a:p>
          <a:p>
            <a:pPr marL="400050" lvl="2"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4099366" y="3607035"/>
            <a:ext cx="6025515" cy="1611703"/>
          </a:xfrm>
          <a:prstGeom prst="rect">
            <a:avLst/>
          </a:prstGeom>
        </p:spPr>
      </p:pic>
      <p:pic>
        <p:nvPicPr>
          <p:cNvPr id="5" name="Picture 4"/>
          <p:cNvPicPr>
            <a:picLocks noChangeAspect="1"/>
          </p:cNvPicPr>
          <p:nvPr/>
        </p:nvPicPr>
        <p:blipFill>
          <a:blip r:embed="rId3"/>
          <a:stretch>
            <a:fillRect/>
          </a:stretch>
        </p:blipFill>
        <p:spPr>
          <a:xfrm>
            <a:off x="2434590" y="4412887"/>
            <a:ext cx="1418272" cy="725850"/>
          </a:xfrm>
          <a:prstGeom prst="rect">
            <a:avLst/>
          </a:prstGeom>
        </p:spPr>
      </p:pic>
    </p:spTree>
    <p:extLst>
      <p:ext uri="{BB962C8B-B14F-4D97-AF65-F5344CB8AC3E}">
        <p14:creationId xmlns:p14="http://schemas.microsoft.com/office/powerpoint/2010/main" val="121464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b="1" u="sng" dirty="0"/>
                  <a:t>Case: </a:t>
                </a:r>
                <a:r>
                  <a:rPr lang="en-US" b="1" u="sng" dirty="0" err="1"/>
                  <a:t>Wyndor</a:t>
                </a:r>
                <a:r>
                  <a:rPr lang="en-US" b="1" u="sng" dirty="0"/>
                  <a:t> Glass Co. Product-Mix Problem (Chapter 2.3):</a:t>
                </a:r>
              </a:p>
              <a:p>
                <a:r>
                  <a:rPr lang="en-US" b="1" dirty="0">
                    <a:solidFill>
                      <a:srgbClr val="C00000"/>
                    </a:solidFill>
                  </a:rPr>
                  <a:t>STEP 1: </a:t>
                </a:r>
                <a:r>
                  <a:rPr lang="en-US" dirty="0"/>
                  <a:t>Decision variables</a:t>
                </a:r>
              </a:p>
              <a:p>
                <a:pPr lvl="1"/>
                <a:r>
                  <a:rPr lang="en-US" dirty="0"/>
                  <a:t>We want to determine the number of doors and the number of windows to produce per week, so we have 2 decision variables</a:t>
                </a:r>
              </a:p>
              <a:p>
                <a:pPr marL="1371600" lvl="3" indent="0">
                  <a:buNone/>
                </a:pPr>
                <a14:m>
                  <m:oMath xmlns:m="http://schemas.openxmlformats.org/officeDocument/2006/math">
                    <m:r>
                      <a:rPr lang="en-US" sz="2400" i="1" dirty="0" smtClean="0">
                        <a:latin typeface="Cambria Math" panose="02040503050406030204" pitchFamily="18" charset="0"/>
                      </a:rPr>
                      <m:t>𝐷</m:t>
                    </m:r>
                  </m:oMath>
                </a14:m>
                <a:r>
                  <a:rPr lang="en-US" sz="2400" dirty="0"/>
                  <a:t>: the number of doors produced weekly</a:t>
                </a:r>
              </a:p>
              <a:p>
                <a:pPr marL="1371600" lvl="3" indent="0">
                  <a:buNone/>
                </a:pPr>
                <a14:m>
                  <m:oMath xmlns:m="http://schemas.openxmlformats.org/officeDocument/2006/math">
                    <m:r>
                      <a:rPr lang="en-US" sz="2400" i="1" dirty="0" smtClean="0">
                        <a:latin typeface="Cambria Math" panose="02040503050406030204" pitchFamily="18" charset="0"/>
                      </a:rPr>
                      <m:t>𝑊</m:t>
                    </m:r>
                  </m:oMath>
                </a14:m>
                <a:r>
                  <a:rPr lang="en-US" sz="2400" dirty="0"/>
                  <a:t>: the number of windows produced weekly</a:t>
                </a:r>
              </a:p>
              <a:p>
                <a:pPr lvl="4"/>
                <a:endParaRPr lang="en-US" b="1" dirty="0">
                  <a:solidFill>
                    <a:srgbClr val="C00000"/>
                  </a:solidFill>
                </a:endParaRPr>
              </a:p>
              <a:p>
                <a:r>
                  <a:rPr lang="en-US" b="1" dirty="0">
                    <a:solidFill>
                      <a:srgbClr val="C00000"/>
                    </a:solidFill>
                  </a:rPr>
                  <a:t>STEP 2: </a:t>
                </a:r>
                <a:r>
                  <a:rPr lang="en-US" dirty="0"/>
                  <a:t>Define the objective and the objective function</a:t>
                </a:r>
              </a:p>
              <a:p>
                <a:pPr lvl="1"/>
                <a:r>
                  <a:rPr lang="en-US" dirty="0"/>
                  <a:t>Objective: Maximization</a:t>
                </a:r>
              </a:p>
              <a:p>
                <a:pPr lvl="1"/>
                <a:r>
                  <a:rPr lang="en-US" dirty="0"/>
                  <a:t>Objective function: Weekly Profit, as a function of the decision variables</a:t>
                </a:r>
              </a:p>
              <a:p>
                <a:pPr marL="457200" lvl="1" indent="0">
                  <a:buNone/>
                </a:pPr>
                <a:r>
                  <a:rPr lang="en-US" dirty="0"/>
                  <a:t>		</a:t>
                </a:r>
                <a14:m>
                  <m:oMath xmlns:m="http://schemas.openxmlformats.org/officeDocument/2006/math">
                    <m:r>
                      <a:rPr lang="en-US" i="1" dirty="0" smtClean="0">
                        <a:latin typeface="Cambria Math" panose="02040503050406030204" pitchFamily="18" charset="0"/>
                      </a:rPr>
                      <m:t>𝑃𝑟𝑜𝑓𝑖𝑡</m:t>
                    </m:r>
                    <m:r>
                      <a:rPr lang="en-US" i="1" dirty="0" smtClean="0">
                        <a:latin typeface="Cambria Math" panose="02040503050406030204" pitchFamily="18" charset="0"/>
                      </a:rPr>
                      <m:t> = 300</m:t>
                    </m:r>
                    <m:r>
                      <a:rPr lang="en-US" i="1" dirty="0" smtClean="0">
                        <a:latin typeface="Cambria Math" panose="02040503050406030204" pitchFamily="18" charset="0"/>
                      </a:rPr>
                      <m:t>𝐷</m:t>
                    </m:r>
                    <m:r>
                      <a:rPr lang="en-US" i="1" dirty="0" smtClean="0">
                        <a:latin typeface="Cambria Math" panose="02040503050406030204" pitchFamily="18" charset="0"/>
                      </a:rPr>
                      <m:t>+500</m:t>
                    </m:r>
                    <m:r>
                      <a:rPr lang="en-US" i="1" dirty="0" smtClean="0">
                        <a:latin typeface="Cambria Math" panose="02040503050406030204" pitchFamily="18" charset="0"/>
                      </a:rPr>
                      <m:t>𝑊</m:t>
                    </m:r>
                  </m:oMath>
                </a14:m>
                <a:endParaRPr lang="en-US" dirty="0"/>
              </a:p>
              <a:p>
                <a:pPr lvl="2"/>
                <a:r>
                  <a:rPr lang="en-US" dirty="0"/>
                  <a:t>It is the weekly profit</a:t>
                </a:r>
              </a:p>
              <a:p>
                <a:endParaRPr lang="en-US" dirty="0"/>
              </a:p>
              <a:p>
                <a:pPr marL="0" indent="0">
                  <a:buNone/>
                </a:pPr>
                <a:endParaRPr lang="en-US" dirty="0"/>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0" t="-2882"/>
                </a:stretch>
              </a:blipFill>
            </p:spPr>
            <p:txBody>
              <a:bodyPr/>
              <a:lstStyle/>
              <a:p>
                <a:r>
                  <a:rPr lang="en-US">
                    <a:noFill/>
                  </a:rPr>
                  <a:t> </a:t>
                </a:r>
              </a:p>
            </p:txBody>
          </p:sp>
        </mc:Fallback>
      </mc:AlternateContent>
    </p:spTree>
    <p:extLst>
      <p:ext uri="{BB962C8B-B14F-4D97-AF65-F5344CB8AC3E}">
        <p14:creationId xmlns:p14="http://schemas.microsoft.com/office/powerpoint/2010/main" val="170786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b="1" u="sng" dirty="0"/>
                  <a:t>Case: </a:t>
                </a:r>
                <a:r>
                  <a:rPr lang="en-US" b="1" u="sng" dirty="0" err="1"/>
                  <a:t>Wyndor</a:t>
                </a:r>
                <a:r>
                  <a:rPr lang="en-US" b="1" u="sng" dirty="0"/>
                  <a:t> Glass Co. Product-Mix Problem (Chapter 2.3):</a:t>
                </a:r>
              </a:p>
              <a:p>
                <a:r>
                  <a:rPr lang="en-US" b="1" dirty="0">
                    <a:solidFill>
                      <a:srgbClr val="C00000"/>
                    </a:solidFill>
                  </a:rPr>
                  <a:t>STEP 3: </a:t>
                </a:r>
                <a:r>
                  <a:rPr lang="en-US" dirty="0"/>
                  <a:t>Define the constraints</a:t>
                </a:r>
              </a:p>
              <a:p>
                <a:pPr lvl="1"/>
                <a:r>
                  <a:rPr lang="en-US" dirty="0"/>
                  <a:t>We have capacity restriction in each plant</a:t>
                </a:r>
              </a:p>
              <a:p>
                <a:pPr lvl="2"/>
                <a:r>
                  <a:rPr lang="en-US" dirty="0"/>
                  <a:t>Total time used from each plant per week cannot exceed the available time in that plant per week</a:t>
                </a:r>
              </a:p>
              <a:p>
                <a:pPr marL="457200" lvl="1" indent="0">
                  <a:buNone/>
                </a:pPr>
                <a:r>
                  <a:rPr lang="en-US" dirty="0"/>
                  <a:t>		</a:t>
                </a:r>
                <a:r>
                  <a:rPr lang="en-US" sz="2000" dirty="0"/>
                  <a:t>Plant 1 capacity restriction:   </a:t>
                </a:r>
                <a14:m>
                  <m:oMath xmlns:m="http://schemas.openxmlformats.org/officeDocument/2006/math">
                    <m:r>
                      <a:rPr lang="en-US" sz="2000" i="1" dirty="0" smtClean="0">
                        <a:latin typeface="Cambria Math" panose="02040503050406030204" pitchFamily="18" charset="0"/>
                      </a:rPr>
                      <m:t>𝐷</m:t>
                    </m:r>
                    <m:r>
                      <a:rPr lang="en-US" sz="2000" b="0" i="1" dirty="0" smtClean="0">
                        <a:latin typeface="Cambria Math" panose="02040503050406030204" pitchFamily="18" charset="0"/>
                      </a:rPr>
                      <m:t>≤4</m:t>
                    </m:r>
                  </m:oMath>
                </a14:m>
                <a:r>
                  <a:rPr lang="en-US" sz="2000" dirty="0"/>
                  <a:t> </a:t>
                </a:r>
              </a:p>
              <a:p>
                <a:pPr marL="457200" lvl="1" indent="0">
                  <a:buNone/>
                </a:pPr>
                <a:r>
                  <a:rPr lang="en-US" sz="2000" dirty="0"/>
                  <a:t>		Plant 2 capacity restriction :   </a:t>
                </a:r>
                <a14:m>
                  <m:oMath xmlns:m="http://schemas.openxmlformats.org/officeDocument/2006/math">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i="1" dirty="0" smtClean="0">
                        <a:latin typeface="Cambria Math" panose="02040503050406030204" pitchFamily="18" charset="0"/>
                      </a:rPr>
                      <m:t> ≤ 12</m:t>
                    </m:r>
                  </m:oMath>
                </a14:m>
                <a:endParaRPr lang="en-US" sz="2000" dirty="0"/>
              </a:p>
              <a:p>
                <a:pPr marL="457200" lvl="1" indent="0">
                  <a:buNone/>
                </a:pPr>
                <a:r>
                  <a:rPr lang="en-US" sz="2000" dirty="0"/>
                  <a:t>		Plant 3 capacity restriction :   </a:t>
                </a:r>
                <a14:m>
                  <m:oMath xmlns:m="http://schemas.openxmlformats.org/officeDocument/2006/math">
                    <m:r>
                      <a:rPr lang="en-US" sz="2000" i="1" dirty="0" smtClean="0">
                        <a:latin typeface="Cambria Math" panose="02040503050406030204" pitchFamily="18" charset="0"/>
                      </a:rPr>
                      <m:t>3</m:t>
                    </m:r>
                    <m:r>
                      <a:rPr lang="en-US" sz="2000" i="1" dirty="0" smtClean="0">
                        <a:latin typeface="Cambria Math" panose="02040503050406030204" pitchFamily="18" charset="0"/>
                      </a:rPr>
                      <m:t>𝐷</m:t>
                    </m:r>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i="1" dirty="0" smtClean="0">
                        <a:latin typeface="Cambria Math" panose="02040503050406030204" pitchFamily="18" charset="0"/>
                      </a:rPr>
                      <m:t> ≤ 18</m:t>
                    </m:r>
                  </m:oMath>
                </a14:m>
                <a:endParaRPr lang="en-US" sz="2000" dirty="0"/>
              </a:p>
              <a:p>
                <a:pPr lvl="1"/>
                <a:r>
                  <a:rPr lang="en-US" dirty="0"/>
                  <a:t>Do not forget the non-negativity constraints: </a:t>
                </a:r>
                <a14:m>
                  <m:oMath xmlns:m="http://schemas.openxmlformats.org/officeDocument/2006/math">
                    <m:r>
                      <a:rPr lang="en-US" i="1" dirty="0">
                        <a:latin typeface="Cambria Math" panose="02040503050406030204" pitchFamily="18" charset="0"/>
                      </a:rPr>
                      <m:t>𝐷</m:t>
                    </m:r>
                    <m:r>
                      <a:rPr lang="en-US" b="0" i="1" dirty="0" smtClean="0">
                        <a:latin typeface="Cambria Math" panose="02040503050406030204" pitchFamily="18" charset="0"/>
                      </a:rPr>
                      <m:t>≥0, </m:t>
                    </m:r>
                    <m:r>
                      <a:rPr lang="en-US" b="0" i="1" dirty="0" smtClean="0">
                        <a:latin typeface="Cambria Math" panose="02040503050406030204" pitchFamily="18" charset="0"/>
                      </a:rPr>
                      <m:t>𝑊</m:t>
                    </m:r>
                    <m:r>
                      <a:rPr lang="en-US" b="0" i="1" dirty="0" smtClean="0">
                        <a:latin typeface="Cambria Math" panose="02040503050406030204" pitchFamily="18" charset="0"/>
                      </a:rPr>
                      <m:t>≥0</m:t>
                    </m:r>
                  </m:oMath>
                </a14:m>
                <a:endParaRPr lang="en-US" dirty="0"/>
              </a:p>
              <a:p>
                <a:r>
                  <a:rPr lang="en-US" dirty="0"/>
                  <a:t>Combining everything, we have the algebraic model for </a:t>
                </a:r>
                <a:r>
                  <a:rPr lang="en-US" dirty="0" err="1"/>
                  <a:t>Wyndor</a:t>
                </a:r>
                <a:r>
                  <a:rPr lang="en-US" dirty="0"/>
                  <a:t> as follows:</a:t>
                </a:r>
              </a:p>
              <a:p>
                <a:endParaRPr lang="en-US" dirty="0"/>
              </a:p>
              <a:p>
                <a:pPr marL="0" indent="0">
                  <a:buNone/>
                </a:pPr>
                <a:r>
                  <a:rPr lang="en-US" dirty="0"/>
                  <a:t> </a:t>
                </a:r>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179099" y="4987462"/>
                <a:ext cx="4674870" cy="40011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a:latin typeface="Cambria Math" panose="02040503050406030204" pitchFamily="18" charset="0"/>
                        </a:rPr>
                        <m:t>𝑀𝑎𝑥𝑖𝑚𝑖𝑧𝑒</m:t>
                      </m:r>
                      <m:r>
                        <a:rPr lang="en-US" sz="2000" i="1" dirty="0">
                          <a:latin typeface="Cambria Math" panose="02040503050406030204" pitchFamily="18" charset="0"/>
                        </a:rPr>
                        <m:t>       300</m:t>
                      </m:r>
                      <m:r>
                        <a:rPr lang="en-US" sz="2000" i="1" dirty="0">
                          <a:latin typeface="Cambria Math" panose="02040503050406030204" pitchFamily="18" charset="0"/>
                        </a:rPr>
                        <m:t>𝐷</m:t>
                      </m:r>
                      <m:r>
                        <a:rPr lang="en-US" sz="2000" i="1" dirty="0">
                          <a:latin typeface="Cambria Math" panose="02040503050406030204" pitchFamily="18" charset="0"/>
                        </a:rPr>
                        <m:t>+500</m:t>
                      </m:r>
                      <m:r>
                        <a:rPr lang="en-US" sz="2000" i="1" dirty="0">
                          <a:latin typeface="Cambria Math" panose="02040503050406030204" pitchFamily="18" charset="0"/>
                        </a:rPr>
                        <m:t>𝑊</m:t>
                      </m:r>
                    </m:oMath>
                  </m:oMathPara>
                </a14:m>
                <a:endParaRPr lang="en-US" sz="2000" i="1" dirty="0">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179099" y="4987462"/>
                <a:ext cx="4674870" cy="40011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594638" y="5316890"/>
                <a:ext cx="3722611"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𝑠𝑢𝑏𝑗𝑒𝑐𝑡</m:t>
                      </m:r>
                      <m:r>
                        <a:rPr lang="en-US" sz="2000" i="1" dirty="0" smtClean="0">
                          <a:latin typeface="Cambria Math" panose="02040503050406030204" pitchFamily="18" charset="0"/>
                        </a:rPr>
                        <m:t> </m:t>
                      </m:r>
                      <m:r>
                        <a:rPr lang="en-US" sz="2000" i="1" dirty="0" smtClean="0">
                          <a:latin typeface="Cambria Math" panose="02040503050406030204" pitchFamily="18" charset="0"/>
                        </a:rPr>
                        <m:t>𝑡𝑜</m:t>
                      </m:r>
                      <m:r>
                        <a:rPr lang="en-US" sz="2000" i="1" dirty="0" smtClean="0">
                          <a:latin typeface="Cambria Math" panose="02040503050406030204" pitchFamily="18" charset="0"/>
                        </a:rPr>
                        <m:t>         </m:t>
                      </m:r>
                      <m:r>
                        <a:rPr lang="en-US" sz="2000" i="1" dirty="0" smtClean="0">
                          <a:latin typeface="Cambria Math" panose="02040503050406030204" pitchFamily="18" charset="0"/>
                        </a:rPr>
                        <m:t>𝐷</m:t>
                      </m:r>
                      <m:r>
                        <a:rPr lang="en-US" sz="2000" b="0" i="1" dirty="0" smtClean="0">
                          <a:latin typeface="Cambria Math" panose="02040503050406030204" pitchFamily="18" charset="0"/>
                        </a:rPr>
                        <m:t>    </m:t>
                      </m:r>
                      <m:r>
                        <a:rPr lang="en-US" sz="2000" i="1" dirty="0" smtClean="0">
                          <a:latin typeface="Cambria Math" panose="02040503050406030204" pitchFamily="18" charset="0"/>
                        </a:rPr>
                        <m:t>      </m:t>
                      </m:r>
                      <m:r>
                        <a:rPr lang="en-US" sz="2000" b="0" i="1" dirty="0" smtClean="0">
                          <a:latin typeface="Cambria Math" panose="02040503050406030204" pitchFamily="18" charset="0"/>
                        </a:rPr>
                        <m:t>    </m:t>
                      </m:r>
                      <m:r>
                        <a:rPr lang="en-US" sz="2000" i="1" dirty="0" smtClean="0">
                          <a:latin typeface="Cambria Math" panose="02040503050406030204" pitchFamily="18" charset="0"/>
                        </a:rPr>
                        <m:t>≤ 4</m:t>
                      </m:r>
                    </m:oMath>
                  </m:oMathPara>
                </a14:m>
                <a:endParaRPr lang="en-US" sz="2000" dirty="0"/>
              </a:p>
            </p:txBody>
          </p:sp>
        </mc:Choice>
        <mc:Fallback xmlns="">
          <p:sp>
            <p:nvSpPr>
              <p:cNvPr id="6" name="Rectangle 5"/>
              <p:cNvSpPr>
                <a:spLocks noRot="1" noChangeAspect="1" noMove="1" noResize="1" noEditPoints="1" noAdjustHandles="1" noChangeArrowheads="1" noChangeShapeType="1" noTextEdit="1"/>
              </p:cNvSpPr>
              <p:nvPr/>
            </p:nvSpPr>
            <p:spPr>
              <a:xfrm>
                <a:off x="3594638" y="5316890"/>
                <a:ext cx="3722611" cy="400110"/>
              </a:xfrm>
              <a:prstGeom prst="rect">
                <a:avLst/>
              </a:prstGeom>
              <a:blipFill rotWithShape="0">
                <a:blip r:embed="rId4"/>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290284" y="5670003"/>
                <a:ext cx="198823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i="1" dirty="0">
                          <a:latin typeface="Cambria Math" panose="02040503050406030204" pitchFamily="18" charset="0"/>
                        </a:rPr>
                        <m:t>≤ 12</m:t>
                      </m:r>
                    </m:oMath>
                  </m:oMathPara>
                </a14:m>
                <a:endParaRPr 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5290284" y="5670003"/>
                <a:ext cx="1988237" cy="40011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503787" y="5975747"/>
                <a:ext cx="2813463"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3</m:t>
                    </m:r>
                    <m:r>
                      <a:rPr lang="en-US" sz="2000" i="1" dirty="0">
                        <a:latin typeface="Cambria Math" panose="02040503050406030204" pitchFamily="18" charset="0"/>
                      </a:rPr>
                      <m:t>𝐷</m:t>
                    </m:r>
                    <m:r>
                      <a:rPr lang="en-US" sz="2000" i="1" dirty="0">
                        <a:latin typeface="Cambria Math" panose="02040503050406030204" pitchFamily="18" charset="0"/>
                      </a:rPr>
                      <m:t>+2</m:t>
                    </m:r>
                    <m:r>
                      <a:rPr lang="en-US" sz="2000" i="1" dirty="0">
                        <a:latin typeface="Cambria Math" panose="02040503050406030204" pitchFamily="18" charset="0"/>
                      </a:rPr>
                      <m:t>𝑊</m:t>
                    </m:r>
                    <m:r>
                      <a:rPr lang="en-US" sz="2000" i="1" dirty="0">
                        <a:latin typeface="Cambria Math" panose="02040503050406030204" pitchFamily="18" charset="0"/>
                      </a:rPr>
                      <m:t> ≤ 18</m:t>
                    </m:r>
                  </m:oMath>
                </a14:m>
                <a:endParaRPr lang="en-US" sz="2000" i="1" dirty="0"/>
              </a:p>
            </p:txBody>
          </p:sp>
        </mc:Choice>
        <mc:Fallback xmlns="">
          <p:sp>
            <p:nvSpPr>
              <p:cNvPr id="8" name="Rectangle 7"/>
              <p:cNvSpPr>
                <a:spLocks noRot="1" noChangeAspect="1" noMove="1" noResize="1" noEditPoints="1" noAdjustHandles="1" noChangeArrowheads="1" noChangeShapeType="1" noTextEdit="1"/>
              </p:cNvSpPr>
              <p:nvPr/>
            </p:nvSpPr>
            <p:spPr>
              <a:xfrm>
                <a:off x="4503787" y="5975747"/>
                <a:ext cx="2813463" cy="40011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503787" y="6333942"/>
                <a:ext cx="2538452" cy="400110"/>
              </a:xfrm>
              <a:prstGeom prst="rect">
                <a:avLst/>
              </a:prstGeom>
            </p:spPr>
            <p:txBody>
              <a:bodyPr wrap="none">
                <a:spAutoFit/>
              </a:bodyPr>
              <a:lstStyle/>
              <a:p>
                <a:pPr lvl="1"/>
                <a:r>
                  <a:rPr lang="en-US" sz="2000" dirty="0"/>
                  <a:t>      </a:t>
                </a:r>
                <a14:m>
                  <m:oMath xmlns:m="http://schemas.openxmlformats.org/officeDocument/2006/math">
                    <m:r>
                      <a:rPr lang="en-US" sz="2000" i="1" dirty="0" smtClean="0">
                        <a:latin typeface="Cambria Math" panose="02040503050406030204" pitchFamily="18" charset="0"/>
                      </a:rPr>
                      <m:t>𝐷</m:t>
                    </m:r>
                    <m:r>
                      <a:rPr lang="en-US" sz="2000" i="1" dirty="0" smtClean="0">
                        <a:latin typeface="Cambria Math" panose="02040503050406030204" pitchFamily="18" charset="0"/>
                      </a:rPr>
                      <m:t>≥0, </m:t>
                    </m:r>
                    <m:r>
                      <a:rPr lang="en-US" sz="2000" i="1" dirty="0">
                        <a:latin typeface="Cambria Math" panose="02040503050406030204" pitchFamily="18" charset="0"/>
                      </a:rPr>
                      <m:t>𝑊</m:t>
                    </m:r>
                    <m:r>
                      <a:rPr lang="en-US" sz="2000" i="1" dirty="0">
                        <a:latin typeface="Cambria Math" panose="02040503050406030204" pitchFamily="18" charset="0"/>
                      </a:rPr>
                      <m:t> ≥0</m:t>
                    </m:r>
                  </m:oMath>
                </a14:m>
                <a:endParaRPr lang="en-US" sz="2000" i="1" dirty="0"/>
              </a:p>
            </p:txBody>
          </p:sp>
        </mc:Choice>
        <mc:Fallback xmlns="">
          <p:sp>
            <p:nvSpPr>
              <p:cNvPr id="9" name="Rectangle 8"/>
              <p:cNvSpPr>
                <a:spLocks noRot="1" noChangeAspect="1" noMove="1" noResize="1" noEditPoints="1" noAdjustHandles="1" noChangeArrowheads="1" noChangeShapeType="1" noTextEdit="1"/>
              </p:cNvSpPr>
              <p:nvPr/>
            </p:nvSpPr>
            <p:spPr>
              <a:xfrm>
                <a:off x="4503787" y="6333942"/>
                <a:ext cx="2538452" cy="400110"/>
              </a:xfrm>
              <a:prstGeom prst="rect">
                <a:avLst/>
              </a:prstGeom>
              <a:blipFill rotWithShape="0">
                <a:blip r:embed="rId7"/>
                <a:stretch>
                  <a:fillRect/>
                </a:stretch>
              </a:blipFill>
            </p:spPr>
            <p:txBody>
              <a:bodyPr/>
              <a:lstStyle/>
              <a:p>
                <a:r>
                  <a:rPr lang="en-US">
                    <a:noFill/>
                  </a:rPr>
                  <a:t> </a:t>
                </a:r>
              </a:p>
            </p:txBody>
          </p:sp>
        </mc:Fallback>
      </mc:AlternateContent>
      <p:sp>
        <p:nvSpPr>
          <p:cNvPr id="10" name="Rectangle 9"/>
          <p:cNvSpPr/>
          <p:nvPr/>
        </p:nvSpPr>
        <p:spPr>
          <a:xfrm>
            <a:off x="3594638" y="4976032"/>
            <a:ext cx="3869151" cy="17580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View details"/>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8269508" y="4976032"/>
            <a:ext cx="16002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73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Linear Programming Models</a:t>
            </a:r>
          </a:p>
        </p:txBody>
      </p:sp>
      <p:sp>
        <p:nvSpPr>
          <p:cNvPr id="3" name="Content Placeholder 2"/>
          <p:cNvSpPr>
            <a:spLocks noGrp="1"/>
          </p:cNvSpPr>
          <p:nvPr>
            <p:ph idx="1"/>
          </p:nvPr>
        </p:nvSpPr>
        <p:spPr/>
        <p:txBody>
          <a:bodyPr>
            <a:normAutofit fontScale="92500" lnSpcReduction="10000"/>
          </a:bodyPr>
          <a:lstStyle/>
          <a:p>
            <a:r>
              <a:rPr lang="en-US" b="1" u="sng" dirty="0"/>
              <a:t>Linear Programming Terminology (Chapter 2.3):</a:t>
            </a:r>
          </a:p>
          <a:p>
            <a:pPr lvl="1"/>
            <a:r>
              <a:rPr lang="en-US" b="1" i="1" dirty="0">
                <a:solidFill>
                  <a:srgbClr val="C00000"/>
                </a:solidFill>
              </a:rPr>
              <a:t>Decision Variables: </a:t>
            </a:r>
            <a:r>
              <a:rPr lang="en-US" dirty="0"/>
              <a:t>things we control</a:t>
            </a:r>
          </a:p>
          <a:p>
            <a:pPr lvl="1"/>
            <a:r>
              <a:rPr lang="en-US" b="1" i="1" dirty="0">
                <a:solidFill>
                  <a:srgbClr val="C00000"/>
                </a:solidFill>
              </a:rPr>
              <a:t>Objective function: </a:t>
            </a:r>
            <a:r>
              <a:rPr lang="en-US" dirty="0"/>
              <a:t>measure of performance</a:t>
            </a:r>
          </a:p>
          <a:p>
            <a:pPr lvl="1"/>
            <a:r>
              <a:rPr lang="en-US" b="1" i="1" dirty="0">
                <a:solidFill>
                  <a:srgbClr val="C00000"/>
                </a:solidFill>
              </a:rPr>
              <a:t>Non-negativity constraints </a:t>
            </a:r>
            <a:r>
              <a:rPr lang="en-US" dirty="0"/>
              <a:t>are non-negativity conditions on the variables</a:t>
            </a:r>
          </a:p>
          <a:p>
            <a:pPr lvl="1"/>
            <a:r>
              <a:rPr lang="en-US" b="1" i="1" dirty="0">
                <a:solidFill>
                  <a:srgbClr val="C00000"/>
                </a:solidFill>
              </a:rPr>
              <a:t>Functional constraints: </a:t>
            </a:r>
            <a:r>
              <a:rPr lang="en-US" dirty="0"/>
              <a:t>restrictions we have</a:t>
            </a:r>
          </a:p>
          <a:p>
            <a:pPr lvl="1"/>
            <a:r>
              <a:rPr lang="en-US" b="1" i="1" dirty="0">
                <a:solidFill>
                  <a:srgbClr val="C00000"/>
                </a:solidFill>
              </a:rPr>
              <a:t>Parameters: </a:t>
            </a:r>
            <a:r>
              <a:rPr lang="en-US" dirty="0"/>
              <a:t>constants we use in the objective function and constraint definitions</a:t>
            </a:r>
          </a:p>
          <a:p>
            <a:pPr lvl="1"/>
            <a:r>
              <a:rPr lang="en-US" b="1" i="1" dirty="0">
                <a:solidFill>
                  <a:srgbClr val="C00000"/>
                </a:solidFill>
              </a:rPr>
              <a:t>Solution: </a:t>
            </a:r>
            <a:r>
              <a:rPr lang="en-US" dirty="0"/>
              <a:t>any choice of values for the decision variables</a:t>
            </a:r>
          </a:p>
          <a:p>
            <a:pPr lvl="2"/>
            <a:r>
              <a:rPr lang="en-US" dirty="0"/>
              <a:t>A </a:t>
            </a:r>
            <a:r>
              <a:rPr lang="en-US" b="1" i="1" dirty="0">
                <a:solidFill>
                  <a:srgbClr val="C00000"/>
                </a:solidFill>
              </a:rPr>
              <a:t>feasible solution </a:t>
            </a:r>
            <a:r>
              <a:rPr lang="en-US" dirty="0"/>
              <a:t>is one that satisfies all the constraints</a:t>
            </a:r>
          </a:p>
          <a:p>
            <a:pPr lvl="2"/>
            <a:r>
              <a:rPr lang="en-US" dirty="0"/>
              <a:t>An </a:t>
            </a:r>
            <a:r>
              <a:rPr lang="en-US" b="1" i="1" dirty="0">
                <a:solidFill>
                  <a:srgbClr val="C00000"/>
                </a:solidFill>
              </a:rPr>
              <a:t>infeasible solution </a:t>
            </a:r>
            <a:r>
              <a:rPr lang="en-US" dirty="0"/>
              <a:t>violates at least one constraint</a:t>
            </a:r>
          </a:p>
          <a:p>
            <a:pPr lvl="2"/>
            <a:r>
              <a:rPr lang="en-US" dirty="0"/>
              <a:t>An </a:t>
            </a:r>
            <a:r>
              <a:rPr lang="en-US" b="1" i="1" dirty="0">
                <a:solidFill>
                  <a:srgbClr val="C00000"/>
                </a:solidFill>
              </a:rPr>
              <a:t>optimal solution </a:t>
            </a:r>
            <a:r>
              <a:rPr lang="en-US" dirty="0"/>
              <a:t>is one of the best feasible solutions</a:t>
            </a:r>
          </a:p>
          <a:p>
            <a:endParaRPr lang="en-US" dirty="0"/>
          </a:p>
          <a:p>
            <a:pPr marL="0" indent="0">
              <a:buNone/>
            </a:pPr>
            <a:endParaRPr lang="en-US" dirty="0"/>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2074647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Formulating Linear Programming Models</a:t>
            </a:r>
          </a:p>
          <a:p>
            <a:pPr lvl="1"/>
            <a:r>
              <a:rPr lang="en-US" dirty="0">
                <a:solidFill>
                  <a:schemeClr val="bg2"/>
                </a:solidFill>
              </a:rPr>
              <a:t>Surviving in an Island (not in the textbook)</a:t>
            </a:r>
          </a:p>
          <a:p>
            <a:pPr lvl="1"/>
            <a:r>
              <a:rPr lang="en-US" dirty="0">
                <a:solidFill>
                  <a:schemeClr val="bg2"/>
                </a:solidFill>
              </a:rPr>
              <a:t>Case: </a:t>
            </a:r>
            <a:r>
              <a:rPr lang="en-US" dirty="0" err="1">
                <a:solidFill>
                  <a:schemeClr val="bg2"/>
                </a:solidFill>
              </a:rPr>
              <a:t>Wyndor</a:t>
            </a:r>
            <a:r>
              <a:rPr lang="en-US" dirty="0">
                <a:solidFill>
                  <a:schemeClr val="bg2"/>
                </a:solidFill>
              </a:rPr>
              <a:t> Glass Co. Product Mix (Chapter 2.3)</a:t>
            </a:r>
          </a:p>
          <a:p>
            <a:pPr lvl="1"/>
            <a:r>
              <a:rPr lang="en-US" dirty="0">
                <a:solidFill>
                  <a:schemeClr val="bg2"/>
                </a:solidFill>
              </a:rPr>
              <a:t>Linear Programming Terminology (Chapter 2.3)</a:t>
            </a:r>
          </a:p>
          <a:p>
            <a:r>
              <a:rPr lang="en-US" dirty="0"/>
              <a:t>Graphical Solution Method (Chapter 2.4)</a:t>
            </a:r>
          </a:p>
          <a:p>
            <a:r>
              <a:rPr lang="en-US" dirty="0">
                <a:solidFill>
                  <a:schemeClr val="bg2"/>
                </a:solidFill>
              </a:rPr>
              <a:t>Linear Programming Properties (not in the textbook)</a:t>
            </a:r>
          </a:p>
          <a:p>
            <a:r>
              <a:rPr lang="en-US" dirty="0">
                <a:solidFill>
                  <a:schemeClr val="bg2"/>
                </a:solidFill>
              </a:rPr>
              <a:t>Further Cases on Algebraic Modeling</a:t>
            </a:r>
          </a:p>
          <a:p>
            <a:pPr lvl="1"/>
            <a:r>
              <a:rPr lang="en-US" dirty="0">
                <a:solidFill>
                  <a:schemeClr val="bg2"/>
                </a:solidFill>
              </a:rPr>
              <a:t>Case: Profit and Gambit Co. Advertising Mix (Chapter 2.7)</a:t>
            </a:r>
          </a:p>
          <a:p>
            <a:pPr lvl="1"/>
            <a:r>
              <a:rPr lang="en-US" dirty="0">
                <a:solidFill>
                  <a:schemeClr val="bg2"/>
                </a:solidFill>
              </a:rPr>
              <a:t>Case: Case 2-3 – Staffing a Call Center (page 62)</a:t>
            </a:r>
          </a:p>
        </p:txBody>
      </p:sp>
    </p:spTree>
    <p:extLst>
      <p:ext uri="{BB962C8B-B14F-4D97-AF65-F5344CB8AC3E}">
        <p14:creationId xmlns:p14="http://schemas.microsoft.com/office/powerpoint/2010/main" val="2014333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p:txBody>
          <a:bodyPr>
            <a:normAutofit fontScale="92500" lnSpcReduction="20000"/>
          </a:bodyPr>
          <a:lstStyle/>
          <a:p>
            <a:r>
              <a:rPr lang="en-US" dirty="0"/>
              <a:t>So far we have discussed how to formulate LP models</a:t>
            </a:r>
          </a:p>
          <a:p>
            <a:r>
              <a:rPr lang="en-US" dirty="0"/>
              <a:t>How about solving them?</a:t>
            </a:r>
          </a:p>
          <a:p>
            <a:pPr lvl="1"/>
            <a:r>
              <a:rPr lang="en-US" dirty="0"/>
              <a:t>We will learn Spreadsheet modeling and Excel solver later</a:t>
            </a:r>
          </a:p>
          <a:p>
            <a:r>
              <a:rPr lang="en-US" dirty="0"/>
              <a:t>Simple LP models can be solved graphically</a:t>
            </a:r>
          </a:p>
          <a:p>
            <a:pPr lvl="1"/>
            <a:r>
              <a:rPr lang="en-US" dirty="0"/>
              <a:t>Simple LP model: only 2 decision variables!</a:t>
            </a:r>
          </a:p>
          <a:p>
            <a:r>
              <a:rPr lang="en-US" b="1" u="sng" dirty="0"/>
              <a:t>The steps of the method:</a:t>
            </a:r>
          </a:p>
          <a:p>
            <a:pPr marL="914400" lvl="1" indent="-457200">
              <a:buFont typeface="+mj-lt"/>
              <a:buAutoNum type="arabicPeriod"/>
            </a:pPr>
            <a:r>
              <a:rPr lang="en-US" dirty="0"/>
              <a:t>Graph the constraints to see which points satisfy all constraints (i.e., graph the feasible points)</a:t>
            </a:r>
          </a:p>
          <a:p>
            <a:pPr marL="914400" lvl="1" indent="-457200">
              <a:buFont typeface="+mj-lt"/>
              <a:buAutoNum type="arabicPeriod"/>
            </a:pPr>
            <a:r>
              <a:rPr lang="en-US" dirty="0"/>
              <a:t>Graph </a:t>
            </a:r>
            <a:r>
              <a:rPr lang="en-US" dirty="0" err="1"/>
              <a:t>iso</a:t>
            </a:r>
            <a:r>
              <a:rPr lang="en-US" dirty="0"/>
              <a:t>-lines of the objective function (objective function lines)</a:t>
            </a:r>
          </a:p>
          <a:p>
            <a:pPr marL="914400" lvl="1" indent="-457200">
              <a:buFont typeface="+mj-lt"/>
              <a:buAutoNum type="arabicPeriod"/>
            </a:pPr>
            <a:r>
              <a:rPr lang="en-US" dirty="0"/>
              <a:t>Use </a:t>
            </a:r>
            <a:r>
              <a:rPr lang="en-US" dirty="0" err="1"/>
              <a:t>iso</a:t>
            </a:r>
            <a:r>
              <a:rPr lang="en-US" dirty="0"/>
              <a:t>-lines to find the optimal solution(s)</a:t>
            </a:r>
          </a:p>
          <a:p>
            <a:endParaRPr lang="en-US" dirty="0"/>
          </a:p>
          <a:p>
            <a:pPr marL="0" indent="0">
              <a:buNone/>
            </a:pPr>
            <a:endParaRPr lang="en-US" dirty="0"/>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196332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An Example: Product-Mix (not in the textbook):</a:t>
                </a:r>
              </a:p>
              <a:p>
                <a:pPr lvl="1"/>
                <a:r>
                  <a:rPr lang="en-US" dirty="0"/>
                  <a:t>Maximize your profit</a:t>
                </a:r>
              </a:p>
              <a:p>
                <a:pPr lvl="2"/>
                <a:r>
                  <a:rPr lang="en-US" dirty="0"/>
                  <a:t>Decide how many products 1 and 2 to produce</a:t>
                </a:r>
              </a:p>
              <a:p>
                <a:pPr lvl="2"/>
                <a:r>
                  <a:rPr lang="en-US" dirty="0"/>
                  <a:t>You want to maximize profit</a:t>
                </a:r>
              </a:p>
              <a:p>
                <a:pPr lvl="2"/>
                <a:r>
                  <a:rPr lang="en-US" dirty="0"/>
                  <a:t>Each product has a unit profit</a:t>
                </a:r>
              </a:p>
              <a:p>
                <a:pPr lvl="2"/>
                <a:r>
                  <a:rPr lang="en-US" dirty="0"/>
                  <a:t>Each product requires different amount </a:t>
                </a:r>
              </a:p>
              <a:p>
                <a:pPr marL="914400" lvl="2" indent="0">
                  <a:buNone/>
                </a:pPr>
                <a:r>
                  <a:rPr lang="en-US" dirty="0"/>
                  <a:t>    from two limited resources</a:t>
                </a:r>
              </a:p>
              <a:p>
                <a:pPr lvl="1"/>
                <a:r>
                  <a:rPr lang="en-US" dirty="0"/>
                  <a:t>You can formulate the following LP model</a:t>
                </a:r>
              </a:p>
              <a:p>
                <a:pPr lvl="2"/>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r>
                      <a:rPr lang="en-US" i="1">
                        <a:latin typeface="Cambria Math"/>
                      </a:rPr>
                      <m:t>𝑡h𝑒</m:t>
                    </m:r>
                    <m:r>
                      <a:rPr lang="en-US" i="1">
                        <a:latin typeface="Cambria Math"/>
                      </a:rPr>
                      <m:t> </m:t>
                    </m:r>
                    <m:r>
                      <a:rPr lang="en-US" i="1">
                        <a:latin typeface="Cambria Math"/>
                      </a:rPr>
                      <m:t>𝑎𝑚𝑜𝑢𝑛𝑡</m:t>
                    </m:r>
                    <m:r>
                      <a:rPr lang="en-US" i="1">
                        <a:latin typeface="Cambria Math"/>
                      </a:rPr>
                      <m:t> </m:t>
                    </m:r>
                    <m:r>
                      <a:rPr lang="en-US" i="1">
                        <a:latin typeface="Cambria Math"/>
                      </a:rPr>
                      <m:t>𝑜𝑓</m:t>
                    </m:r>
                    <m:r>
                      <a:rPr lang="en-US" i="1">
                        <a:latin typeface="Cambria Math"/>
                      </a:rPr>
                      <m:t> </m:t>
                    </m:r>
                    <m:r>
                      <a:rPr lang="en-US" i="1">
                        <a:latin typeface="Cambria Math"/>
                      </a:rPr>
                      <m:t>𝑝𝑟𝑜𝑑𝑢𝑐𝑡</m:t>
                    </m:r>
                  </m:oMath>
                </a14:m>
                <a:r>
                  <a:rPr lang="en-US" i="1" dirty="0">
                    <a:latin typeface="Cambria Math"/>
                  </a:rPr>
                  <a:t> type 1 produced (units)</a:t>
                </a:r>
              </a:p>
              <a:p>
                <a:pPr lvl="2"/>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m:t>
                    </m:r>
                    <m:r>
                      <a:rPr lang="en-US" i="1">
                        <a:latin typeface="Cambria Math"/>
                      </a:rPr>
                      <m:t>𝑡h𝑒</m:t>
                    </m:r>
                    <m:r>
                      <a:rPr lang="en-US" i="1">
                        <a:latin typeface="Cambria Math"/>
                      </a:rPr>
                      <m:t> </m:t>
                    </m:r>
                    <m:r>
                      <a:rPr lang="en-US" i="1">
                        <a:latin typeface="Cambria Math"/>
                      </a:rPr>
                      <m:t>𝑎𝑚𝑜𝑢𝑛𝑑</m:t>
                    </m:r>
                    <m:r>
                      <a:rPr lang="en-US" i="1">
                        <a:latin typeface="Cambria Math"/>
                      </a:rPr>
                      <m:t> </m:t>
                    </m:r>
                    <m:r>
                      <a:rPr lang="en-US" i="1">
                        <a:latin typeface="Cambria Math"/>
                      </a:rPr>
                      <m:t>𝑜𝑓𝑝𝑟𝑜𝑑𝑢𝑐𝑡</m:t>
                    </m:r>
                    <m:r>
                      <m:rPr>
                        <m:nor/>
                      </m:rPr>
                      <a:rPr lang="en-US" i="1" dirty="0">
                        <a:latin typeface="Cambria Math"/>
                      </a:rPr>
                      <m:t> </m:t>
                    </m:r>
                    <m:r>
                      <m:rPr>
                        <m:nor/>
                      </m:rPr>
                      <a:rPr lang="en-US" i="1" dirty="0">
                        <a:latin typeface="Cambria Math"/>
                      </a:rPr>
                      <m:t>type</m:t>
                    </m:r>
                    <m:r>
                      <m:rPr>
                        <m:nor/>
                      </m:rPr>
                      <a:rPr lang="en-US" i="1" dirty="0">
                        <a:latin typeface="Cambria Math"/>
                      </a:rPr>
                      <m:t> 2 </m:t>
                    </m:r>
                    <m:r>
                      <m:rPr>
                        <m:nor/>
                      </m:rPr>
                      <a:rPr lang="en-US" i="1" dirty="0">
                        <a:latin typeface="Cambria Math"/>
                      </a:rPr>
                      <m:t>produced</m:t>
                    </m:r>
                  </m:oMath>
                </a14:m>
                <a:r>
                  <a:rPr lang="en-US" i="1" dirty="0">
                    <a:latin typeface="Cambria Math"/>
                  </a:rPr>
                  <a:t> (units)</a:t>
                </a:r>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56" t="-2005"/>
                </a:stretch>
              </a:blipFill>
            </p:spPr>
            <p:txBody>
              <a:bodyPr/>
              <a:lstStyle/>
              <a:p>
                <a:r>
                  <a:rPr lang="en-US">
                    <a:noFill/>
                  </a:rPr>
                  <a:t> </a:t>
                </a:r>
              </a:p>
            </p:txBody>
          </p:sp>
        </mc:Fallback>
      </mc:AlternateContent>
      <p:pic>
        <p:nvPicPr>
          <p:cNvPr id="2050" name="Picture 2" descr="E:\MEMPHIS ACADEMIC\Co-instructing (CVL 7907)\Introduction to Linear Programming\promix.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9003" y="2233246"/>
            <a:ext cx="4530089" cy="133393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5671" y="4925580"/>
            <a:ext cx="3368039" cy="1613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ular Callout 11"/>
          <p:cNvSpPr/>
          <p:nvPr/>
        </p:nvSpPr>
        <p:spPr bwMode="auto">
          <a:xfrm>
            <a:off x="7434838" y="5257938"/>
            <a:ext cx="1709288" cy="373676"/>
          </a:xfrm>
          <a:prstGeom prst="wedgeRectCallout">
            <a:avLst>
              <a:gd name="adj1" fmla="val -89020"/>
              <a:gd name="adj2" fmla="val 13050"/>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Arial" charset="0"/>
                <a:ea typeface="ＭＳ Ｐゴシック" pitchFamily="16" charset="-128"/>
              </a:rPr>
              <a:t>Resource A limit</a:t>
            </a:r>
          </a:p>
        </p:txBody>
      </p:sp>
      <p:sp>
        <p:nvSpPr>
          <p:cNvPr id="13" name="Rectangular Callout 12"/>
          <p:cNvSpPr/>
          <p:nvPr/>
        </p:nvSpPr>
        <p:spPr bwMode="auto">
          <a:xfrm>
            <a:off x="7434838" y="5714763"/>
            <a:ext cx="1709288" cy="322822"/>
          </a:xfrm>
          <a:prstGeom prst="wedgeRectCallout">
            <a:avLst>
              <a:gd name="adj1" fmla="val -83672"/>
              <a:gd name="adj2" fmla="val -40042"/>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Arial" charset="0"/>
                <a:ea typeface="ＭＳ Ｐゴシック" pitchFamily="16" charset="-128"/>
              </a:rPr>
              <a:t>Resource B limit</a:t>
            </a:r>
          </a:p>
        </p:txBody>
      </p:sp>
      <p:sp>
        <p:nvSpPr>
          <p:cNvPr id="14" name="TextBox 13"/>
          <p:cNvSpPr txBox="1"/>
          <p:nvPr/>
        </p:nvSpPr>
        <p:spPr>
          <a:xfrm>
            <a:off x="3083540" y="6007686"/>
            <a:ext cx="1558288" cy="338554"/>
          </a:xfrm>
          <a:prstGeom prst="rect">
            <a:avLst/>
          </a:prstGeom>
          <a:noFill/>
          <a:ln>
            <a:solidFill>
              <a:srgbClr val="003300"/>
            </a:solidFill>
          </a:ln>
        </p:spPr>
        <p:txBody>
          <a:bodyPr wrap="square" rtlCol="0">
            <a:spAutoFit/>
          </a:bodyPr>
          <a:lstStyle/>
          <a:p>
            <a:r>
              <a:rPr lang="en-US" sz="1600" dirty="0"/>
              <a:t>Non-negativity</a:t>
            </a:r>
          </a:p>
        </p:txBody>
      </p:sp>
      <p:sp>
        <p:nvSpPr>
          <p:cNvPr id="15" name="Rectangular Callout 14"/>
          <p:cNvSpPr/>
          <p:nvPr/>
        </p:nvSpPr>
        <p:spPr bwMode="auto">
          <a:xfrm>
            <a:off x="6955981" y="4914119"/>
            <a:ext cx="1201230" cy="351270"/>
          </a:xfrm>
          <a:prstGeom prst="wedgeRectCallout">
            <a:avLst>
              <a:gd name="adj1" fmla="val -121055"/>
              <a:gd name="adj2" fmla="val 36299"/>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Arial" charset="0"/>
                <a:ea typeface="ＭＳ Ｐゴシック" pitchFamily="16" charset="-128"/>
              </a:rPr>
              <a:t>Total profit</a:t>
            </a:r>
          </a:p>
        </p:txBody>
      </p:sp>
      <p:sp>
        <p:nvSpPr>
          <p:cNvPr id="5" name="Left Brace 4"/>
          <p:cNvSpPr/>
          <p:nvPr/>
        </p:nvSpPr>
        <p:spPr>
          <a:xfrm>
            <a:off x="4641828" y="5979482"/>
            <a:ext cx="207448" cy="378455"/>
          </a:xfrm>
          <a:prstGeom prst="leftBrace">
            <a:avLst/>
          </a:prstGeom>
          <a:ln>
            <a:solidFill>
              <a:schemeClr val="accent6">
                <a:lumMod val="50000"/>
              </a:schemeClr>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85578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a:xfrm>
            <a:off x="6762750" y="1828800"/>
            <a:ext cx="3855720" cy="4267200"/>
          </a:xfrm>
        </p:spPr>
        <p:txBody>
          <a:bodyPr/>
          <a:lstStyle/>
          <a:p>
            <a:r>
              <a:rPr lang="en-US" dirty="0"/>
              <a:t>First, draw your decision variables as the axes of your graph</a:t>
            </a:r>
          </a:p>
        </p:txBody>
      </p:sp>
      <p:pic>
        <p:nvPicPr>
          <p:cNvPr id="1026" name="Picture 2" descr="E:\MEMPHIS ACADEMIC\Co-instructing (CVL 7907)\Introduction to Linear Programming\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7830" y="1600200"/>
            <a:ext cx="508635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62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62750" y="1828800"/>
                <a:ext cx="4918710" cy="4267200"/>
              </a:xfrm>
            </p:spPr>
            <p:txBody>
              <a:bodyPr/>
              <a:lstStyle/>
              <a:p>
                <a:r>
                  <a:rPr lang="en-US" dirty="0"/>
                  <a:t>The draw the constraint boundary lines</a:t>
                </a:r>
              </a:p>
              <a:p>
                <a:r>
                  <a:rPr lang="en-US" dirty="0"/>
                  <a:t>Start with the easy constraints</a:t>
                </a:r>
              </a:p>
              <a:p>
                <a:pPr lvl="1"/>
                <a:r>
                  <a:rPr lang="en-US" dirty="0"/>
                  <a:t>Non-negativity constraints!</a:t>
                </a:r>
              </a:p>
              <a:p>
                <a:pPr lvl="1"/>
                <a:r>
                  <a:rPr lang="en-US" dirty="0"/>
                  <a:t>Assume equality of the constraint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b="0" i="0" smtClean="0">
                        <a:latin typeface="Cambria Math"/>
                      </a:rPr>
                      <m:t>=0</m:t>
                    </m:r>
                  </m:oMath>
                </a14:m>
                <a:r>
                  <a:rPr lang="en-US" dirty="0"/>
                  <a:t> or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2</m:t>
                        </m:r>
                      </m:sub>
                    </m:sSub>
                    <m:r>
                      <a:rPr lang="en-US">
                        <a:latin typeface="Cambria Math"/>
                      </a:rPr>
                      <m:t>=0</m:t>
                    </m:r>
                  </m:oMath>
                </a14:m>
                <a:r>
                  <a:rPr lang="en-US" dirty="0"/>
                  <a:t> )</a:t>
                </a:r>
              </a:p>
              <a:p>
                <a:pPr lvl="1"/>
                <a:r>
                  <a:rPr lang="en-US" dirty="0"/>
                  <a:t>Then, find the region defined by the constraint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62750" y="1828800"/>
                <a:ext cx="4918710" cy="4267200"/>
              </a:xfrm>
              <a:blipFill rotWithShape="0">
                <a:blip r:embed="rId2"/>
                <a:stretch>
                  <a:fillRect l="-2230" t="-2286" r="-1735"/>
                </a:stretch>
              </a:blipFill>
            </p:spPr>
            <p:txBody>
              <a:bodyPr/>
              <a:lstStyle/>
              <a:p>
                <a:r>
                  <a:rPr lang="en-US">
                    <a:noFill/>
                  </a:rPr>
                  <a:t> </a:t>
                </a:r>
              </a:p>
            </p:txBody>
          </p:sp>
        </mc:Fallback>
      </mc:AlternateContent>
      <p:pic>
        <p:nvPicPr>
          <p:cNvPr id="2050" name="Picture 2" descr="E:\MEMPHIS ACADEMIC\Co-instructing (CVL 7907)\Introduction to Linear Programming\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4338" y="1593632"/>
            <a:ext cx="5097463" cy="527843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konurd\Desktop\Captur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579120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konurd\Desktop\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4100" y="1985135"/>
            <a:ext cx="342900" cy="32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495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62750" y="1828800"/>
                <a:ext cx="5429250" cy="4267200"/>
              </a:xfrm>
            </p:spPr>
            <p:txBody>
              <a:bodyPr/>
              <a:lstStyle/>
              <a:p>
                <a:r>
                  <a:rPr lang="en-US" dirty="0"/>
                  <a:t>Resource A limit constraint</a:t>
                </a:r>
              </a:p>
              <a:p>
                <a:pPr lvl="1"/>
                <a:r>
                  <a:rPr lang="en-US" dirty="0"/>
                  <a:t>Draw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b="0" i="0" smtClean="0">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a:latin typeface="Cambria Math"/>
                      </a:rPr>
                      <m:t>=</m:t>
                    </m:r>
                    <m:r>
                      <a:rPr lang="en-US" b="0" i="0" smtClean="0">
                        <a:latin typeface="Cambria Math"/>
                      </a:rPr>
                      <m:t>5</m:t>
                    </m:r>
                  </m:oMath>
                </a14:m>
                <a:endParaRPr lang="en-US" dirty="0"/>
              </a:p>
              <a:p>
                <a:pPr lvl="2"/>
                <a:r>
                  <a:rPr lang="en-US" dirty="0"/>
                  <a:t>Pick two points on the line and then connect them: (5,0) and (0,5) points for instance</a:t>
                </a:r>
              </a:p>
              <a:p>
                <a:pPr lvl="1"/>
                <a:r>
                  <a:rPr lang="en-US" dirty="0"/>
                  <a:t>Find the region where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b="0" i="0" smtClean="0">
                        <a:latin typeface="Cambria Math"/>
                      </a:rPr>
                      <m:t>≤</m:t>
                    </m:r>
                    <m:r>
                      <a:rPr lang="en-US">
                        <a:latin typeface="Cambria Math"/>
                      </a:rPr>
                      <m:t>5</m:t>
                    </m:r>
                  </m:oMath>
                </a14:m>
                <a:endParaRPr lang="en-US" dirty="0"/>
              </a:p>
              <a:p>
                <a:pPr lvl="2"/>
                <a:r>
                  <a:rPr lang="en-US" dirty="0"/>
                  <a:t>Hint: take a point in each of one of the regions and see if this point satisfies the constraint. The region including the point satisfying your constraint is the region defined by your constraint (you can take the origin as your point)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62750" y="1828800"/>
                <a:ext cx="5429250" cy="4267200"/>
              </a:xfrm>
              <a:blipFill rotWithShape="0">
                <a:blip r:embed="rId2"/>
                <a:stretch>
                  <a:fillRect l="-2020" t="-2286" r="-1571"/>
                </a:stretch>
              </a:blipFill>
            </p:spPr>
            <p:txBody>
              <a:bodyPr/>
              <a:lstStyle/>
              <a:p>
                <a:r>
                  <a:rPr lang="en-US">
                    <a:noFill/>
                  </a:rPr>
                  <a:t> </a:t>
                </a:r>
              </a:p>
            </p:txBody>
          </p:sp>
        </mc:Fallback>
      </mc:AlternateContent>
      <p:pic>
        <p:nvPicPr>
          <p:cNvPr id="3074" name="Picture 2" descr="E:\MEMPHIS ACADEMIC\Co-instructing (CVL 7907)\Introduction to Linear Programming\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4338" y="1600201"/>
            <a:ext cx="5097463" cy="5259387"/>
          </a:xfrm>
          <a:prstGeom prst="rect">
            <a:avLst/>
          </a:prstGeom>
          <a:noFill/>
          <a:extLst>
            <a:ext uri="{909E8E84-426E-40DD-AFC4-6F175D3DCCD1}">
              <a14:hiddenFill xmlns:a14="http://schemas.microsoft.com/office/drawing/2010/main">
                <a:solidFill>
                  <a:srgbClr val="FFFFFF"/>
                </a:solidFill>
              </a14:hiddenFill>
            </a:ext>
          </a:extLst>
        </p:spPr>
      </p:pic>
      <p:sp>
        <p:nvSpPr>
          <p:cNvPr id="4" name="Isosceles Triangle 3"/>
          <p:cNvSpPr/>
          <p:nvPr/>
        </p:nvSpPr>
        <p:spPr bwMode="auto">
          <a:xfrm>
            <a:off x="1981200" y="3200400"/>
            <a:ext cx="3200400" cy="3200400"/>
          </a:xfrm>
          <a:prstGeom prst="triangle">
            <a:avLst>
              <a:gd name="adj" fmla="val 0"/>
            </a:avLst>
          </a:prstGeom>
          <a:solidFill>
            <a:srgbClr val="92D050">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pic>
        <p:nvPicPr>
          <p:cNvPr id="7" name="Picture 2" descr="C:\Users\konurd\Desktop\Captur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579120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konurd\Desktop\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4100" y="1985135"/>
            <a:ext cx="342900" cy="32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789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62750" y="1828800"/>
                <a:ext cx="4518660" cy="4267200"/>
              </a:xfrm>
            </p:spPr>
            <p:txBody>
              <a:bodyPr/>
              <a:lstStyle/>
              <a:p>
                <a:r>
                  <a:rPr lang="en-US" dirty="0"/>
                  <a:t>Resource B limit constraint</a:t>
                </a:r>
              </a:p>
              <a:p>
                <a:pPr lvl="1"/>
                <a:r>
                  <a:rPr lang="en-US" dirty="0"/>
                  <a:t>Draw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3</m:t>
                        </m:r>
                        <m:r>
                          <a:rPr lang="en-US" i="1">
                            <a:latin typeface="Cambria Math"/>
                          </a:rPr>
                          <m:t>𝑥</m:t>
                        </m:r>
                      </m:e>
                      <m:sub>
                        <m:r>
                          <a:rPr lang="en-US" i="1">
                            <a:latin typeface="Cambria Math"/>
                          </a:rPr>
                          <m:t>1</m:t>
                        </m:r>
                      </m:sub>
                    </m:sSub>
                    <m:r>
                      <a:rPr lang="en-US" b="0" i="0" smtClean="0">
                        <a:latin typeface="Cambria Math"/>
                      </a:rPr>
                      <m:t>+</m:t>
                    </m:r>
                    <m:sSub>
                      <m:sSubPr>
                        <m:ctrlPr>
                          <a:rPr lang="en-US" i="1">
                            <a:latin typeface="Cambria Math" panose="02040503050406030204" pitchFamily="18" charset="0"/>
                          </a:rPr>
                        </m:ctrlPr>
                      </m:sSubPr>
                      <m:e>
                        <m:r>
                          <a:rPr lang="en-US" b="0" i="1" smtClean="0">
                            <a:latin typeface="Cambria Math"/>
                          </a:rPr>
                          <m:t>2</m:t>
                        </m:r>
                        <m:r>
                          <a:rPr lang="en-US" i="1">
                            <a:latin typeface="Cambria Math"/>
                          </a:rPr>
                          <m:t>𝑥</m:t>
                        </m:r>
                      </m:e>
                      <m:sub>
                        <m:r>
                          <a:rPr lang="en-US" i="1">
                            <a:latin typeface="Cambria Math"/>
                          </a:rPr>
                          <m:t>2</m:t>
                        </m:r>
                      </m:sub>
                    </m:sSub>
                    <m:r>
                      <a:rPr lang="en-US">
                        <a:latin typeface="Cambria Math"/>
                      </a:rPr>
                      <m:t>=</m:t>
                    </m:r>
                    <m:r>
                      <a:rPr lang="en-US" b="0" i="0" smtClean="0">
                        <a:latin typeface="Cambria Math"/>
                      </a:rPr>
                      <m:t>1</m:t>
                    </m:r>
                  </m:oMath>
                </a14:m>
                <a:r>
                  <a:rPr lang="en-US" dirty="0"/>
                  <a:t>2 </a:t>
                </a:r>
              </a:p>
              <a:p>
                <a:pPr lvl="1"/>
                <a:r>
                  <a:rPr lang="en-US" dirty="0"/>
                  <a:t>Find the region where             </a:t>
                </a:r>
                <a14:m>
                  <m:oMath xmlns:m="http://schemas.openxmlformats.org/officeDocument/2006/math">
                    <m:sSub>
                      <m:sSubPr>
                        <m:ctrlPr>
                          <a:rPr lang="en-US" i="1">
                            <a:latin typeface="Cambria Math" panose="02040503050406030204" pitchFamily="18" charset="0"/>
                          </a:rPr>
                        </m:ctrlPr>
                      </m:sSubPr>
                      <m:e>
                        <m:r>
                          <a:rPr lang="en-US" i="1">
                            <a:latin typeface="Cambria Math"/>
                          </a:rPr>
                          <m:t>3</m:t>
                        </m:r>
                        <m:r>
                          <a:rPr lang="en-US" i="1">
                            <a:latin typeface="Cambria Math"/>
                          </a:rPr>
                          <m:t>𝑥</m:t>
                        </m:r>
                      </m:e>
                      <m:sub>
                        <m:r>
                          <a:rPr lang="en-US" i="1">
                            <a:latin typeface="Cambria Math"/>
                          </a:rPr>
                          <m:t>1</m:t>
                        </m:r>
                      </m:sub>
                    </m:sSub>
                    <m:r>
                      <a:rPr lang="en-US">
                        <a:latin typeface="Cambria Math"/>
                      </a:rPr>
                      <m:t>+</m:t>
                    </m:r>
                    <m:sSub>
                      <m:sSubPr>
                        <m:ctrlPr>
                          <a:rPr lang="en-US" i="1">
                            <a:latin typeface="Cambria Math" panose="02040503050406030204" pitchFamily="18" charset="0"/>
                          </a:rPr>
                        </m:ctrlPr>
                      </m:sSubPr>
                      <m:e>
                        <m:r>
                          <a:rPr lang="en-US" i="1">
                            <a:latin typeface="Cambria Math"/>
                          </a:rPr>
                          <m:t>2</m:t>
                        </m:r>
                        <m:r>
                          <a:rPr lang="en-US" i="1">
                            <a:latin typeface="Cambria Math"/>
                          </a:rPr>
                          <m:t>𝑥</m:t>
                        </m:r>
                      </m:e>
                      <m:sub>
                        <m:r>
                          <a:rPr lang="en-US" i="1">
                            <a:latin typeface="Cambria Math"/>
                          </a:rPr>
                          <m:t>2</m:t>
                        </m:r>
                      </m:sub>
                    </m:sSub>
                    <m:r>
                      <a:rPr lang="en-US" b="0" i="0" smtClean="0">
                        <a:latin typeface="Cambria Math"/>
                      </a:rPr>
                      <m:t>≤</m:t>
                    </m:r>
                    <m:r>
                      <a:rPr lang="en-US">
                        <a:latin typeface="Cambria Math"/>
                      </a:rPr>
                      <m:t>1</m:t>
                    </m:r>
                  </m:oMath>
                </a14:m>
                <a:r>
                  <a:rPr lang="en-US" dirty="0"/>
                  <a:t>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62750" y="1828800"/>
                <a:ext cx="4518660" cy="4267200"/>
              </a:xfrm>
              <a:blipFill rotWithShape="0">
                <a:blip r:embed="rId2"/>
                <a:stretch>
                  <a:fillRect l="-2426" t="-2286" r="-1213"/>
                </a:stretch>
              </a:blipFill>
            </p:spPr>
            <p:txBody>
              <a:bodyPr/>
              <a:lstStyle/>
              <a:p>
                <a:r>
                  <a:rPr lang="en-US">
                    <a:noFill/>
                  </a:rPr>
                  <a:t> </a:t>
                </a:r>
              </a:p>
            </p:txBody>
          </p:sp>
        </mc:Fallback>
      </mc:AlternateContent>
      <p:pic>
        <p:nvPicPr>
          <p:cNvPr id="4098" name="Picture 2" descr="E:\MEMPHIS ACADEMIC\Co-instructing (CVL 7907)\Introduction to Linear Programming\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830" y="1600200"/>
            <a:ext cx="5086350" cy="5257800"/>
          </a:xfrm>
          <a:prstGeom prst="rect">
            <a:avLst/>
          </a:prstGeom>
          <a:noFill/>
          <a:extLst>
            <a:ext uri="{909E8E84-426E-40DD-AFC4-6F175D3DCCD1}">
              <a14:hiddenFill xmlns:a14="http://schemas.microsoft.com/office/drawing/2010/main">
                <a:solidFill>
                  <a:srgbClr val="FFFFFF"/>
                </a:solidFill>
              </a14:hiddenFill>
            </a:ext>
          </a:extLst>
        </p:spPr>
      </p:pic>
      <p:sp>
        <p:nvSpPr>
          <p:cNvPr id="6" name="Isosceles Triangle 5"/>
          <p:cNvSpPr/>
          <p:nvPr/>
        </p:nvSpPr>
        <p:spPr bwMode="auto">
          <a:xfrm>
            <a:off x="1967132" y="3200400"/>
            <a:ext cx="3200400" cy="3200400"/>
          </a:xfrm>
          <a:prstGeom prst="triangle">
            <a:avLst>
              <a:gd name="adj" fmla="val 0"/>
            </a:avLst>
          </a:prstGeom>
          <a:solidFill>
            <a:srgbClr val="92D050">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sp>
        <p:nvSpPr>
          <p:cNvPr id="4" name="Right Triangle 3"/>
          <p:cNvSpPr/>
          <p:nvPr/>
        </p:nvSpPr>
        <p:spPr bwMode="auto">
          <a:xfrm>
            <a:off x="2035712" y="2667000"/>
            <a:ext cx="2528668" cy="3733800"/>
          </a:xfrm>
          <a:prstGeom prst="rtTriangle">
            <a:avLst/>
          </a:prstGeom>
          <a:solidFill>
            <a:schemeClr val="accent2">
              <a:lumMod val="40000"/>
              <a:lumOff val="60000"/>
              <a:alpha val="32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pic>
        <p:nvPicPr>
          <p:cNvPr id="8" name="Picture 2" descr="C:\Users\konurd\Desktop\Captur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8810" y="579120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Users\konurd\Desktop\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0290" y="1985135"/>
            <a:ext cx="342900" cy="32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691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a:xfrm>
            <a:off x="6762750" y="1828800"/>
            <a:ext cx="4335780" cy="4267200"/>
          </a:xfrm>
        </p:spPr>
        <p:txBody>
          <a:bodyPr/>
          <a:lstStyle/>
          <a:p>
            <a:r>
              <a:rPr lang="en-US" dirty="0"/>
              <a:t>Define the feasible region</a:t>
            </a:r>
          </a:p>
          <a:p>
            <a:pPr lvl="1"/>
            <a:r>
              <a:rPr lang="en-US" dirty="0"/>
              <a:t>It is the region defined by the intersection of all of your constraints</a:t>
            </a:r>
          </a:p>
          <a:p>
            <a:pPr lvl="1"/>
            <a:r>
              <a:rPr lang="en-US" dirty="0"/>
              <a:t>It includes all of the feasible solutions to your LP model</a:t>
            </a:r>
          </a:p>
        </p:txBody>
      </p:sp>
      <p:pic>
        <p:nvPicPr>
          <p:cNvPr id="5122" name="Picture 2" descr="E:\MEMPHIS ACADEMIC\Co-instructing (CVL 7907)\Introduction to Linear Programming\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450" y="1600200"/>
            <a:ext cx="5086350" cy="5257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Users\konurd\Desktop\Cap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579120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konurd\Desktop\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4100" y="1985135"/>
            <a:ext cx="342900" cy="32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456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p:txBody>
          <a:bodyPr/>
          <a:lstStyle/>
          <a:p>
            <a:endParaRPr lang="en-US" dirty="0"/>
          </a:p>
        </p:txBody>
      </p:sp>
      <p:pic>
        <p:nvPicPr>
          <p:cNvPr id="6146" name="Picture 2" descr="E:\MEMPHIS ACADEMIC\Co-instructing (CVL 7907)\Introduction to Linear Programming\6a - Cop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8169" y="1573091"/>
            <a:ext cx="5095875" cy="526732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a:cxnSpLocks/>
          </p:cNvCxnSpPr>
          <p:nvPr/>
        </p:nvCxnSpPr>
        <p:spPr bwMode="auto">
          <a:xfrm flipH="1" flipV="1">
            <a:off x="1379868" y="5039326"/>
            <a:ext cx="1657225" cy="1731326"/>
          </a:xfrm>
          <a:prstGeom prst="line">
            <a:avLst/>
          </a:prstGeom>
          <a:ln>
            <a:solidFill>
              <a:srgbClr val="FF0000"/>
            </a:solidFill>
            <a:prstDash val="dash"/>
            <a:headEnd type="none" w="med" len="med"/>
            <a:tailEnd type="none" w="med" len="med"/>
          </a:ln>
        </p:spPr>
        <p:style>
          <a:lnRef idx="3">
            <a:schemeClr val="accent2"/>
          </a:lnRef>
          <a:fillRef idx="0">
            <a:schemeClr val="accent2"/>
          </a:fillRef>
          <a:effectRef idx="2">
            <a:schemeClr val="accent2"/>
          </a:effectRef>
          <a:fontRef idx="minor">
            <a:schemeClr val="tx1"/>
          </a:fontRef>
        </p:style>
      </p:cxnSp>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1" y="5168559"/>
            <a:ext cx="10191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1661" y="5232157"/>
            <a:ext cx="2381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8360" y="5248714"/>
            <a:ext cx="13335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0" name="Straight Connector 19"/>
          <p:cNvCxnSpPr/>
          <p:nvPr/>
        </p:nvCxnSpPr>
        <p:spPr bwMode="auto">
          <a:xfrm flipH="1" flipV="1">
            <a:off x="2004060" y="4267200"/>
            <a:ext cx="2286000" cy="2514600"/>
          </a:xfrm>
          <a:prstGeom prst="line">
            <a:avLst/>
          </a:prstGeom>
          <a:ln>
            <a:solidFill>
              <a:srgbClr val="FF0000"/>
            </a:solidFill>
            <a:prstDash val="dash"/>
            <a:headEnd type="none" w="med" len="med"/>
            <a:tailEnd type="none" w="med" len="med"/>
          </a:ln>
        </p:spPr>
        <p:style>
          <a:lnRef idx="3">
            <a:schemeClr val="accent2"/>
          </a:lnRef>
          <a:fillRef idx="0">
            <a:schemeClr val="accent2"/>
          </a:fillRef>
          <a:effectRef idx="2">
            <a:schemeClr val="accent2"/>
          </a:effectRef>
          <a:fontRef idx="minor">
            <a:schemeClr val="tx1"/>
          </a:fontRef>
        </p:style>
      </p:cxnSp>
      <p:pic>
        <p:nvPicPr>
          <p:cNvPr id="2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336" y="3962401"/>
            <a:ext cx="10191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5936" y="4025999"/>
            <a:ext cx="2381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4061" y="4010025"/>
            <a:ext cx="2381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Straight Arrow Connector 15"/>
          <p:cNvCxnSpPr/>
          <p:nvPr/>
        </p:nvCxnSpPr>
        <p:spPr bwMode="auto">
          <a:xfrm flipV="1">
            <a:off x="2689860" y="5524500"/>
            <a:ext cx="762000" cy="876300"/>
          </a:xfrm>
          <a:prstGeom prst="straightConnector1">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sp>
        <p:nvSpPr>
          <p:cNvPr id="17" name="TextBox 16"/>
          <p:cNvSpPr txBox="1"/>
          <p:nvPr/>
        </p:nvSpPr>
        <p:spPr>
          <a:xfrm>
            <a:off x="2994660" y="5039380"/>
            <a:ext cx="1371600" cy="523220"/>
          </a:xfrm>
          <a:prstGeom prst="rect">
            <a:avLst/>
          </a:prstGeom>
          <a:noFill/>
        </p:spPr>
        <p:txBody>
          <a:bodyPr wrap="square" rtlCol="0">
            <a:spAutoFit/>
          </a:bodyPr>
          <a:lstStyle/>
          <a:p>
            <a:pPr algn="ctr"/>
            <a:r>
              <a:rPr lang="en-US" sz="1400" b="1" dirty="0"/>
              <a:t>Improvement Direction</a:t>
            </a:r>
          </a:p>
        </p:txBody>
      </p:sp>
      <p:cxnSp>
        <p:nvCxnSpPr>
          <p:cNvPr id="28" name="Straight Connector 27"/>
          <p:cNvCxnSpPr/>
          <p:nvPr/>
        </p:nvCxnSpPr>
        <p:spPr bwMode="auto">
          <a:xfrm flipH="1" flipV="1">
            <a:off x="2251710" y="3200400"/>
            <a:ext cx="3257550" cy="3543300"/>
          </a:xfrm>
          <a:prstGeom prst="line">
            <a:avLst/>
          </a:prstGeom>
          <a:ln>
            <a:solidFill>
              <a:srgbClr val="FF0000"/>
            </a:solidFill>
            <a:prstDash val="dash"/>
            <a:headEnd type="none" w="med" len="med"/>
            <a:tailEnd type="none" w="med" len="med"/>
          </a:ln>
        </p:spPr>
        <p:style>
          <a:lnRef idx="3">
            <a:schemeClr val="accent2"/>
          </a:lnRef>
          <a:fillRef idx="0">
            <a:schemeClr val="accent2"/>
          </a:fillRef>
          <a:effectRef idx="2">
            <a:schemeClr val="accent2"/>
          </a:effectRef>
          <a:fontRef idx="minor">
            <a:schemeClr val="tx1"/>
          </a:fontRef>
        </p:style>
      </p:cxnSp>
      <p:pic>
        <p:nvPicPr>
          <p:cNvPr id="3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1" y="2971801"/>
            <a:ext cx="10191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1661" y="3035399"/>
            <a:ext cx="2381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9786" y="3057526"/>
            <a:ext cx="2571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4-Point Star 25"/>
          <p:cNvSpPr/>
          <p:nvPr/>
        </p:nvSpPr>
        <p:spPr bwMode="auto">
          <a:xfrm>
            <a:off x="4979964" y="6115050"/>
            <a:ext cx="381000" cy="571500"/>
          </a:xfrm>
          <a:prstGeom prst="star4">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pic>
        <p:nvPicPr>
          <p:cNvPr id="6153"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90260" y="5638800"/>
            <a:ext cx="7810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9" name="Curved Connector 28"/>
          <p:cNvCxnSpPr/>
          <p:nvPr/>
        </p:nvCxnSpPr>
        <p:spPr bwMode="auto">
          <a:xfrm flipV="1">
            <a:off x="5360964" y="5800726"/>
            <a:ext cx="529296" cy="314325"/>
          </a:xfrm>
          <a:prstGeom prst="curvedConnector3">
            <a:avLst/>
          </a:prstGeom>
          <a:solidFill>
            <a:schemeClr val="accent1"/>
          </a:solidFill>
          <a:ln w="9525" cap="flat" cmpd="sng" algn="ctr">
            <a:solidFill>
              <a:schemeClr val="tx1"/>
            </a:solidFill>
            <a:prstDash val="solid"/>
            <a:round/>
            <a:headEnd type="none" w="med" len="med"/>
            <a:tailEnd type="arrow"/>
          </a:ln>
          <a:effectLst/>
        </p:spPr>
      </p:cxnSp>
      <p:cxnSp>
        <p:nvCxnSpPr>
          <p:cNvPr id="40" name="Straight Connector 39"/>
          <p:cNvCxnSpPr/>
          <p:nvPr/>
        </p:nvCxnSpPr>
        <p:spPr bwMode="auto">
          <a:xfrm flipH="1" flipV="1">
            <a:off x="2404110" y="2971800"/>
            <a:ext cx="3257550" cy="3543300"/>
          </a:xfrm>
          <a:prstGeom prst="line">
            <a:avLst/>
          </a:prstGeom>
          <a:ln>
            <a:solidFill>
              <a:srgbClr val="FF0000"/>
            </a:solidFill>
            <a:prstDash val="dash"/>
            <a:headEnd type="none" w="med" len="med"/>
            <a:tailEnd type="none" w="med" len="med"/>
          </a:ln>
        </p:spPr>
        <p:style>
          <a:lnRef idx="3">
            <a:schemeClr val="accent2"/>
          </a:lnRef>
          <a:fillRef idx="0">
            <a:schemeClr val="accent2"/>
          </a:fillRef>
          <a:effectRef idx="2">
            <a:schemeClr val="accent2"/>
          </a:effectRef>
          <a:fontRef idx="minor">
            <a:schemeClr val="tx1"/>
          </a:fontRef>
        </p:style>
      </p:cxnSp>
      <p:pic>
        <p:nvPicPr>
          <p:cNvPr id="4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1" y="2657476"/>
            <a:ext cx="10191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1661" y="2721074"/>
            <a:ext cx="2381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4"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2734" y="2705101"/>
            <a:ext cx="24765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4-Point Star 44"/>
          <p:cNvSpPr/>
          <p:nvPr/>
        </p:nvSpPr>
        <p:spPr bwMode="auto">
          <a:xfrm>
            <a:off x="2461260" y="2933700"/>
            <a:ext cx="381000" cy="571500"/>
          </a:xfrm>
          <a:prstGeom prst="star4">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cxnSp>
        <p:nvCxnSpPr>
          <p:cNvPr id="46" name="Curved Connector 45"/>
          <p:cNvCxnSpPr/>
          <p:nvPr/>
        </p:nvCxnSpPr>
        <p:spPr bwMode="auto">
          <a:xfrm flipV="1">
            <a:off x="2842260" y="2619376"/>
            <a:ext cx="529296" cy="314325"/>
          </a:xfrm>
          <a:prstGeom prst="curvedConnector3">
            <a:avLst/>
          </a:prstGeom>
          <a:solidFill>
            <a:schemeClr val="accent1"/>
          </a:solidFill>
          <a:ln w="9525" cap="flat" cmpd="sng" algn="ctr">
            <a:solidFill>
              <a:schemeClr val="tx1"/>
            </a:solidFill>
            <a:prstDash val="solid"/>
            <a:round/>
            <a:headEnd type="none" w="med" len="med"/>
            <a:tailEnd type="arrow"/>
          </a:ln>
          <a:effectLst/>
        </p:spPr>
      </p:cxnSp>
      <p:pic>
        <p:nvPicPr>
          <p:cNvPr id="6155"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4434" y="2403779"/>
            <a:ext cx="71437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8" name="Straight Connector 47"/>
          <p:cNvCxnSpPr/>
          <p:nvPr/>
        </p:nvCxnSpPr>
        <p:spPr bwMode="auto">
          <a:xfrm flipH="1" flipV="1">
            <a:off x="2346960" y="2654398"/>
            <a:ext cx="3467100" cy="3836952"/>
          </a:xfrm>
          <a:prstGeom prst="line">
            <a:avLst/>
          </a:prstGeom>
          <a:ln>
            <a:solidFill>
              <a:srgbClr val="FF0000"/>
            </a:solidFill>
            <a:prstDash val="dash"/>
            <a:headEnd type="none" w="med" len="med"/>
            <a:tailEnd type="none" w="med" len="med"/>
          </a:ln>
        </p:spPr>
        <p:style>
          <a:lnRef idx="3">
            <a:schemeClr val="accent2"/>
          </a:lnRef>
          <a:fillRef idx="0">
            <a:schemeClr val="accent2"/>
          </a:fillRef>
          <a:effectRef idx="2">
            <a:schemeClr val="accent2"/>
          </a:effectRef>
          <a:fontRef idx="minor">
            <a:schemeClr val="tx1"/>
          </a:fontRef>
        </p:style>
      </p:cxnSp>
      <p:pic>
        <p:nvPicPr>
          <p:cNvPr id="4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1" y="2345376"/>
            <a:ext cx="10191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1661" y="2408974"/>
            <a:ext cx="2381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6" name="Picture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99371" y="2397762"/>
            <a:ext cx="2286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4-Point Star 53"/>
          <p:cNvSpPr/>
          <p:nvPr/>
        </p:nvSpPr>
        <p:spPr bwMode="auto">
          <a:xfrm>
            <a:off x="3727960" y="4188525"/>
            <a:ext cx="381000" cy="571500"/>
          </a:xfrm>
          <a:prstGeom prst="star4">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cxnSp>
        <p:nvCxnSpPr>
          <p:cNvPr id="55" name="Curved Connector 54"/>
          <p:cNvCxnSpPr/>
          <p:nvPr/>
        </p:nvCxnSpPr>
        <p:spPr bwMode="auto">
          <a:xfrm flipV="1">
            <a:off x="4108960" y="3874201"/>
            <a:ext cx="529296" cy="314325"/>
          </a:xfrm>
          <a:prstGeom prst="curvedConnector3">
            <a:avLst/>
          </a:prstGeom>
          <a:solidFill>
            <a:schemeClr val="accent1"/>
          </a:solidFill>
          <a:ln w="9525" cap="flat" cmpd="sng" algn="ctr">
            <a:solidFill>
              <a:schemeClr val="tx1"/>
            </a:solidFill>
            <a:prstDash val="solid"/>
            <a:round/>
            <a:headEnd type="none" w="med" len="med"/>
            <a:tailEnd type="arrow"/>
          </a:ln>
          <a:effectLst/>
        </p:spPr>
      </p:cxnSp>
      <p:pic>
        <p:nvPicPr>
          <p:cNvPr id="6157"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8541" y="3718229"/>
            <a:ext cx="685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412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22" presetClass="entr" presetSubtype="4" fill="hold" nodeType="withEffect">
                                  <p:stCondLst>
                                    <p:cond delay="0"/>
                                  </p:stCondLst>
                                  <p:childTnLst>
                                    <p:set>
                                      <p:cBhvr>
                                        <p:cTn id="9" dur="1" fill="hold">
                                          <p:stCondLst>
                                            <p:cond delay="0"/>
                                          </p:stCondLst>
                                        </p:cTn>
                                        <p:tgtEl>
                                          <p:spTgt spid="6151"/>
                                        </p:tgtEl>
                                        <p:attrNameLst>
                                          <p:attrName>style.visibility</p:attrName>
                                        </p:attrNameLst>
                                      </p:cBhvr>
                                      <p:to>
                                        <p:strVal val="visible"/>
                                      </p:to>
                                    </p:set>
                                    <p:animEffect transition="in" filter="wipe(down)">
                                      <p:cBhvr>
                                        <p:cTn id="10" dur="500"/>
                                        <p:tgtEl>
                                          <p:spTgt spid="6151"/>
                                        </p:tgtEl>
                                      </p:cBhvr>
                                    </p:animEffect>
                                  </p:childTnLst>
                                </p:cTn>
                              </p:par>
                              <p:par>
                                <p:cTn id="11" presetID="22" presetClass="entr" presetSubtype="4"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22" presetClass="entr" presetSubtype="4"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down)">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down)">
                                      <p:cBhvr>
                                        <p:cTn id="21" dur="500"/>
                                        <p:tgtEl>
                                          <p:spTgt spid="16"/>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down)">
                                      <p:cBhvr>
                                        <p:cTn id="29" dur="500"/>
                                        <p:tgtEl>
                                          <p:spTgt spid="28"/>
                                        </p:tgtEl>
                                      </p:cBhvr>
                                    </p:animEffect>
                                  </p:childTnLst>
                                </p:cTn>
                              </p:par>
                              <p:par>
                                <p:cTn id="30" presetID="22" presetClass="entr" presetSubtype="4" fill="hold"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par>
                                <p:cTn id="33" presetID="22" presetClass="entr" presetSubtype="4"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down)">
                                      <p:cBhvr>
                                        <p:cTn id="35" dur="500"/>
                                        <p:tgtEl>
                                          <p:spTgt spid="30"/>
                                        </p:tgtEl>
                                      </p:cBhvr>
                                    </p:animEffect>
                                  </p:childTnLst>
                                </p:cTn>
                              </p:par>
                              <p:par>
                                <p:cTn id="36" presetID="22" presetClass="entr" presetSubtype="4" fill="hold" nodeType="withEffect">
                                  <p:stCondLst>
                                    <p:cond delay="0"/>
                                  </p:stCondLst>
                                  <p:childTnLst>
                                    <p:set>
                                      <p:cBhvr>
                                        <p:cTn id="37" dur="1" fill="hold">
                                          <p:stCondLst>
                                            <p:cond delay="0"/>
                                          </p:stCondLst>
                                        </p:cTn>
                                        <p:tgtEl>
                                          <p:spTgt spid="6152"/>
                                        </p:tgtEl>
                                        <p:attrNameLst>
                                          <p:attrName>style.visibility</p:attrName>
                                        </p:attrNameLst>
                                      </p:cBhvr>
                                      <p:to>
                                        <p:strVal val="visible"/>
                                      </p:to>
                                    </p:set>
                                    <p:animEffect transition="in" filter="wipe(down)">
                                      <p:cBhvr>
                                        <p:cTn id="38" dur="500"/>
                                        <p:tgtEl>
                                          <p:spTgt spid="615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500"/>
                                        <p:tgtEl>
                                          <p:spTgt spid="26"/>
                                        </p:tgtEl>
                                      </p:cBhvr>
                                    </p:animEffect>
                                  </p:childTnLst>
                                </p:cTn>
                              </p:par>
                              <p:par>
                                <p:cTn id="44" presetID="22" presetClass="entr" presetSubtype="4"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down)">
                                      <p:cBhvr>
                                        <p:cTn id="46" dur="500"/>
                                        <p:tgtEl>
                                          <p:spTgt spid="29"/>
                                        </p:tgtEl>
                                      </p:cBhvr>
                                    </p:animEffect>
                                  </p:childTnLst>
                                </p:cTn>
                              </p:par>
                              <p:par>
                                <p:cTn id="47" presetID="22" presetClass="entr" presetSubtype="4" fill="hold" nodeType="withEffect">
                                  <p:stCondLst>
                                    <p:cond delay="0"/>
                                  </p:stCondLst>
                                  <p:childTnLst>
                                    <p:set>
                                      <p:cBhvr>
                                        <p:cTn id="48" dur="1" fill="hold">
                                          <p:stCondLst>
                                            <p:cond delay="0"/>
                                          </p:stCondLst>
                                        </p:cTn>
                                        <p:tgtEl>
                                          <p:spTgt spid="6153"/>
                                        </p:tgtEl>
                                        <p:attrNameLst>
                                          <p:attrName>style.visibility</p:attrName>
                                        </p:attrNameLst>
                                      </p:cBhvr>
                                      <p:to>
                                        <p:strVal val="visible"/>
                                      </p:to>
                                    </p:set>
                                    <p:animEffect transition="in" filter="wipe(down)">
                                      <p:cBhvr>
                                        <p:cTn id="49" dur="500"/>
                                        <p:tgtEl>
                                          <p:spTgt spid="615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wipe(down)">
                                      <p:cBhvr>
                                        <p:cTn id="54" dur="500"/>
                                        <p:tgtEl>
                                          <p:spTgt spid="40"/>
                                        </p:tgtEl>
                                      </p:cBhvr>
                                    </p:animEffect>
                                  </p:childTnLst>
                                </p:cTn>
                              </p:par>
                              <p:par>
                                <p:cTn id="55" presetID="22" presetClass="entr" presetSubtype="4"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down)">
                                      <p:cBhvr>
                                        <p:cTn id="57" dur="500"/>
                                        <p:tgtEl>
                                          <p:spTgt spid="42"/>
                                        </p:tgtEl>
                                      </p:cBhvr>
                                    </p:animEffect>
                                  </p:childTnLst>
                                </p:cTn>
                              </p:par>
                              <p:par>
                                <p:cTn id="58" presetID="22" presetClass="entr" presetSubtype="4" fill="hold"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wipe(down)">
                                      <p:cBhvr>
                                        <p:cTn id="60" dur="500"/>
                                        <p:tgtEl>
                                          <p:spTgt spid="41"/>
                                        </p:tgtEl>
                                      </p:cBhvr>
                                    </p:animEffect>
                                  </p:childTnLst>
                                </p:cTn>
                              </p:par>
                              <p:par>
                                <p:cTn id="61" presetID="22" presetClass="entr" presetSubtype="4" fill="hold" nodeType="withEffect">
                                  <p:stCondLst>
                                    <p:cond delay="0"/>
                                  </p:stCondLst>
                                  <p:childTnLst>
                                    <p:set>
                                      <p:cBhvr>
                                        <p:cTn id="62" dur="1" fill="hold">
                                          <p:stCondLst>
                                            <p:cond delay="0"/>
                                          </p:stCondLst>
                                        </p:cTn>
                                        <p:tgtEl>
                                          <p:spTgt spid="6154"/>
                                        </p:tgtEl>
                                        <p:attrNameLst>
                                          <p:attrName>style.visibility</p:attrName>
                                        </p:attrNameLst>
                                      </p:cBhvr>
                                      <p:to>
                                        <p:strVal val="visible"/>
                                      </p:to>
                                    </p:set>
                                    <p:animEffect transition="in" filter="wipe(down)">
                                      <p:cBhvr>
                                        <p:cTn id="63" dur="500"/>
                                        <p:tgtEl>
                                          <p:spTgt spid="615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down)">
                                      <p:cBhvr>
                                        <p:cTn id="68" dur="500"/>
                                        <p:tgtEl>
                                          <p:spTgt spid="45"/>
                                        </p:tgtEl>
                                      </p:cBhvr>
                                    </p:animEffect>
                                  </p:childTnLst>
                                </p:cTn>
                              </p:par>
                              <p:par>
                                <p:cTn id="69" presetID="22" presetClass="entr" presetSubtype="4" fill="hold"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wipe(down)">
                                      <p:cBhvr>
                                        <p:cTn id="71" dur="500"/>
                                        <p:tgtEl>
                                          <p:spTgt spid="46"/>
                                        </p:tgtEl>
                                      </p:cBhvr>
                                    </p:animEffect>
                                  </p:childTnLst>
                                </p:cTn>
                              </p:par>
                              <p:par>
                                <p:cTn id="72" presetID="22" presetClass="entr" presetSubtype="4" fill="hold" nodeType="withEffect">
                                  <p:stCondLst>
                                    <p:cond delay="0"/>
                                  </p:stCondLst>
                                  <p:childTnLst>
                                    <p:set>
                                      <p:cBhvr>
                                        <p:cTn id="73" dur="1" fill="hold">
                                          <p:stCondLst>
                                            <p:cond delay="0"/>
                                          </p:stCondLst>
                                        </p:cTn>
                                        <p:tgtEl>
                                          <p:spTgt spid="6155"/>
                                        </p:tgtEl>
                                        <p:attrNameLst>
                                          <p:attrName>style.visibility</p:attrName>
                                        </p:attrNameLst>
                                      </p:cBhvr>
                                      <p:to>
                                        <p:strVal val="visible"/>
                                      </p:to>
                                    </p:set>
                                    <p:animEffect transition="in" filter="wipe(down)">
                                      <p:cBhvr>
                                        <p:cTn id="74" dur="500"/>
                                        <p:tgtEl>
                                          <p:spTgt spid="615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wipe(down)">
                                      <p:cBhvr>
                                        <p:cTn id="79" dur="500"/>
                                        <p:tgtEl>
                                          <p:spTgt spid="48"/>
                                        </p:tgtEl>
                                      </p:cBhvr>
                                    </p:animEffect>
                                  </p:childTnLst>
                                </p:cTn>
                              </p:par>
                              <p:par>
                                <p:cTn id="80" presetID="22" presetClass="entr" presetSubtype="4" fill="hold"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wipe(down)">
                                      <p:cBhvr>
                                        <p:cTn id="82" dur="500"/>
                                        <p:tgtEl>
                                          <p:spTgt spid="50"/>
                                        </p:tgtEl>
                                      </p:cBhvr>
                                    </p:animEffect>
                                  </p:childTnLst>
                                </p:cTn>
                              </p:par>
                              <p:par>
                                <p:cTn id="83" presetID="22" presetClass="entr" presetSubtype="4" fill="hold"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wipe(down)">
                                      <p:cBhvr>
                                        <p:cTn id="85" dur="500"/>
                                        <p:tgtEl>
                                          <p:spTgt spid="49"/>
                                        </p:tgtEl>
                                      </p:cBhvr>
                                    </p:animEffect>
                                  </p:childTnLst>
                                </p:cTn>
                              </p:par>
                              <p:par>
                                <p:cTn id="86" presetID="22" presetClass="entr" presetSubtype="4" fill="hold" nodeType="withEffect">
                                  <p:stCondLst>
                                    <p:cond delay="0"/>
                                  </p:stCondLst>
                                  <p:childTnLst>
                                    <p:set>
                                      <p:cBhvr>
                                        <p:cTn id="87" dur="1" fill="hold">
                                          <p:stCondLst>
                                            <p:cond delay="0"/>
                                          </p:stCondLst>
                                        </p:cTn>
                                        <p:tgtEl>
                                          <p:spTgt spid="6156"/>
                                        </p:tgtEl>
                                        <p:attrNameLst>
                                          <p:attrName>style.visibility</p:attrName>
                                        </p:attrNameLst>
                                      </p:cBhvr>
                                      <p:to>
                                        <p:strVal val="visible"/>
                                      </p:to>
                                    </p:set>
                                    <p:animEffect transition="in" filter="wipe(down)">
                                      <p:cBhvr>
                                        <p:cTn id="88" dur="500"/>
                                        <p:tgtEl>
                                          <p:spTgt spid="615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wipe(down)">
                                      <p:cBhvr>
                                        <p:cTn id="93" dur="500"/>
                                        <p:tgtEl>
                                          <p:spTgt spid="54"/>
                                        </p:tgtEl>
                                      </p:cBhvr>
                                    </p:animEffect>
                                  </p:childTnLst>
                                </p:cTn>
                              </p:par>
                              <p:par>
                                <p:cTn id="94" presetID="22" presetClass="entr" presetSubtype="4" fill="hold" nodeType="withEffect">
                                  <p:stCondLst>
                                    <p:cond delay="0"/>
                                  </p:stCondLst>
                                  <p:childTnLst>
                                    <p:set>
                                      <p:cBhvr>
                                        <p:cTn id="95" dur="1" fill="hold">
                                          <p:stCondLst>
                                            <p:cond delay="0"/>
                                          </p:stCondLst>
                                        </p:cTn>
                                        <p:tgtEl>
                                          <p:spTgt spid="55"/>
                                        </p:tgtEl>
                                        <p:attrNameLst>
                                          <p:attrName>style.visibility</p:attrName>
                                        </p:attrNameLst>
                                      </p:cBhvr>
                                      <p:to>
                                        <p:strVal val="visible"/>
                                      </p:to>
                                    </p:set>
                                    <p:animEffect transition="in" filter="wipe(down)">
                                      <p:cBhvr>
                                        <p:cTn id="96" dur="500"/>
                                        <p:tgtEl>
                                          <p:spTgt spid="55"/>
                                        </p:tgtEl>
                                      </p:cBhvr>
                                    </p:animEffect>
                                  </p:childTnLst>
                                </p:cTn>
                              </p:par>
                              <p:par>
                                <p:cTn id="97" presetID="22" presetClass="entr" presetSubtype="4" fill="hold" nodeType="withEffect">
                                  <p:stCondLst>
                                    <p:cond delay="0"/>
                                  </p:stCondLst>
                                  <p:childTnLst>
                                    <p:set>
                                      <p:cBhvr>
                                        <p:cTn id="98" dur="1" fill="hold">
                                          <p:stCondLst>
                                            <p:cond delay="0"/>
                                          </p:stCondLst>
                                        </p:cTn>
                                        <p:tgtEl>
                                          <p:spTgt spid="6157"/>
                                        </p:tgtEl>
                                        <p:attrNameLst>
                                          <p:attrName>style.visibility</p:attrName>
                                        </p:attrNameLst>
                                      </p:cBhvr>
                                      <p:to>
                                        <p:strVal val="visible"/>
                                      </p:to>
                                    </p:set>
                                    <p:animEffect transition="in" filter="wipe(down)">
                                      <p:cBhvr>
                                        <p:cTn id="99" dur="500"/>
                                        <p:tgtEl>
                                          <p:spTgt spid="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6" grpId="0" animBg="1"/>
      <p:bldP spid="45" grpId="0" animBg="1"/>
      <p:bldP spid="5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a:xfrm>
            <a:off x="6915150" y="1828800"/>
            <a:ext cx="4823460" cy="4267200"/>
          </a:xfrm>
        </p:spPr>
        <p:txBody>
          <a:bodyPr/>
          <a:lstStyle/>
          <a:p>
            <a:r>
              <a:rPr lang="en-US" dirty="0"/>
              <a:t>If there is an optimal solution, at least one of the corner solutions will be optimal!</a:t>
            </a:r>
          </a:p>
          <a:p>
            <a:pPr marL="914400" lvl="1" indent="-457200">
              <a:buFont typeface="+mj-lt"/>
              <a:buAutoNum type="arabicPeriod"/>
            </a:pPr>
            <a:r>
              <a:rPr lang="en-US" sz="2000" dirty="0"/>
              <a:t>Graph the constraints</a:t>
            </a:r>
          </a:p>
          <a:p>
            <a:pPr marL="914400" lvl="1" indent="-457200">
              <a:buFont typeface="+mj-lt"/>
              <a:buAutoNum type="arabicPeriod"/>
            </a:pPr>
            <a:r>
              <a:rPr lang="en-US" sz="2000" dirty="0"/>
              <a:t>Define your feasible region</a:t>
            </a:r>
          </a:p>
          <a:p>
            <a:pPr marL="914400" lvl="1" indent="-457200">
              <a:buFont typeface="+mj-lt"/>
              <a:buAutoNum type="arabicPeriod"/>
            </a:pPr>
            <a:r>
              <a:rPr lang="en-US" sz="2000" dirty="0"/>
              <a:t>Draw </a:t>
            </a:r>
            <a:r>
              <a:rPr lang="en-US" sz="2000" dirty="0" err="1"/>
              <a:t>iso</a:t>
            </a:r>
            <a:r>
              <a:rPr lang="en-US" sz="2000" dirty="0"/>
              <a:t>-lines until you leave feasible region</a:t>
            </a:r>
          </a:p>
          <a:p>
            <a:pPr marL="914400" lvl="1" indent="-457200">
              <a:buFont typeface="+mj-lt"/>
              <a:buAutoNum type="arabicPeriod"/>
            </a:pPr>
            <a:r>
              <a:rPr lang="en-US" sz="2000" dirty="0"/>
              <a:t>Choose the best corner point if you can (when the feasible region is bounded, you can!)</a:t>
            </a:r>
          </a:p>
        </p:txBody>
      </p:sp>
      <p:pic>
        <p:nvPicPr>
          <p:cNvPr id="7170" name="Picture 2" descr="E:\MEMPHIS ACADEMIC\Co-instructing (CVL 7907)\Introduction to Linear Programming\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5086350" cy="5257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912922" y="5611495"/>
            <a:ext cx="3920490" cy="865505"/>
          </a:xfrm>
          <a:prstGeom prst="rect">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Further discussion on optimal solution and corner point relation will be given in </a:t>
            </a:r>
            <a:r>
              <a:rPr lang="en-US" b="1" i="1" dirty="0">
                <a:solidFill>
                  <a:srgbClr val="C00000"/>
                </a:solidFill>
              </a:rPr>
              <a:t>LP Properties </a:t>
            </a:r>
            <a:r>
              <a:rPr lang="en-US" b="1" dirty="0">
                <a:solidFill>
                  <a:srgbClr val="C00000"/>
                </a:solidFill>
              </a:rPr>
              <a:t>section.</a:t>
            </a:r>
          </a:p>
        </p:txBody>
      </p:sp>
    </p:spTree>
    <p:extLst>
      <p:ext uri="{BB962C8B-B14F-4D97-AF65-F5344CB8AC3E}">
        <p14:creationId xmlns:p14="http://schemas.microsoft.com/office/powerpoint/2010/main" val="235881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(Chapter 2.4):</a:t>
            </a:r>
          </a:p>
          <a:p>
            <a:pPr lvl="1"/>
            <a:r>
              <a:rPr lang="en-US" dirty="0"/>
              <a:t>Recall the </a:t>
            </a:r>
            <a:r>
              <a:rPr lang="en-US" dirty="0" err="1"/>
              <a:t>Wyndor</a:t>
            </a:r>
            <a:r>
              <a:rPr lang="en-US" dirty="0"/>
              <a:t> Glass Co. Product-mix problem</a:t>
            </a:r>
          </a:p>
          <a:p>
            <a:pPr lvl="2"/>
            <a:r>
              <a:rPr lang="en-US" dirty="0"/>
              <a:t>D: number of doors to produce per week </a:t>
            </a:r>
          </a:p>
          <a:p>
            <a:pPr lvl="2"/>
            <a:r>
              <a:rPr lang="en-US" dirty="0"/>
              <a:t>W: number of windows to produce per week</a:t>
            </a:r>
          </a:p>
          <a:p>
            <a:pPr marL="0" indent="0">
              <a:buNone/>
            </a:pPr>
            <a:endParaRPr lang="en-US" dirty="0"/>
          </a:p>
          <a:p>
            <a:pPr marL="457200" lvl="1" indent="0">
              <a:buNone/>
            </a:pPr>
            <a:r>
              <a:rPr lang="en-US" i="1" dirty="0"/>
              <a:t>     </a:t>
            </a:r>
            <a:endParaRPr lang="en-US" dirty="0"/>
          </a:p>
        </p:txBody>
      </p:sp>
      <p:sp>
        <p:nvSpPr>
          <p:cNvPr id="5" name="Rectangular Callout 4"/>
          <p:cNvSpPr/>
          <p:nvPr/>
        </p:nvSpPr>
        <p:spPr bwMode="auto">
          <a:xfrm>
            <a:off x="6438234" y="3693532"/>
            <a:ext cx="2179320" cy="417256"/>
          </a:xfrm>
          <a:prstGeom prst="wedgeRectCallout">
            <a:avLst>
              <a:gd name="adj1" fmla="val -88478"/>
              <a:gd name="adj2" fmla="val 24983"/>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latin typeface="Arial" charset="0"/>
                <a:ea typeface="ＭＳ Ｐゴシック" pitchFamily="16" charset="-128"/>
              </a:rPr>
              <a:t>Plant 1 availability</a:t>
            </a:r>
          </a:p>
        </p:txBody>
      </p:sp>
      <p:sp>
        <p:nvSpPr>
          <p:cNvPr id="9" name="Rectangular Callout 8"/>
          <p:cNvSpPr/>
          <p:nvPr/>
        </p:nvSpPr>
        <p:spPr bwMode="auto">
          <a:xfrm>
            <a:off x="6438234" y="3276299"/>
            <a:ext cx="2172365" cy="392237"/>
          </a:xfrm>
          <a:prstGeom prst="wedgeRectCallout">
            <a:avLst>
              <a:gd name="adj1" fmla="val -88037"/>
              <a:gd name="adj2" fmla="val 34236"/>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latin typeface="Arial" charset="0"/>
                <a:ea typeface="ＭＳ Ｐゴシック" pitchFamily="16" charset="-128"/>
              </a:rPr>
              <a:t>Total profit</a:t>
            </a:r>
          </a:p>
        </p:txBody>
      </p:sp>
      <p:sp>
        <p:nvSpPr>
          <p:cNvPr id="10" name="Rectangular Callout 9"/>
          <p:cNvSpPr/>
          <p:nvPr/>
        </p:nvSpPr>
        <p:spPr bwMode="auto">
          <a:xfrm>
            <a:off x="6438234" y="4111946"/>
            <a:ext cx="2179320" cy="417256"/>
          </a:xfrm>
          <a:prstGeom prst="wedgeRectCallout">
            <a:avLst>
              <a:gd name="adj1" fmla="val -88478"/>
              <a:gd name="adj2" fmla="val 13229"/>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latin typeface="Arial" charset="0"/>
                <a:ea typeface="ＭＳ Ｐゴシック" pitchFamily="16" charset="-128"/>
              </a:rPr>
              <a:t>Plant 2 availability</a:t>
            </a:r>
          </a:p>
        </p:txBody>
      </p:sp>
      <p:sp>
        <p:nvSpPr>
          <p:cNvPr id="11" name="Rectangular Callout 10"/>
          <p:cNvSpPr/>
          <p:nvPr/>
        </p:nvSpPr>
        <p:spPr bwMode="auto">
          <a:xfrm>
            <a:off x="6438234" y="4519209"/>
            <a:ext cx="2179320" cy="417256"/>
          </a:xfrm>
          <a:prstGeom prst="wedgeRectCallout">
            <a:avLst>
              <a:gd name="adj1" fmla="val -89002"/>
              <a:gd name="adj2" fmla="val -10279"/>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latin typeface="Arial" charset="0"/>
                <a:ea typeface="ＭＳ Ｐゴシック" pitchFamily="16" charset="-128"/>
              </a:rPr>
              <a:t>Plant 3 availability</a:t>
            </a:r>
          </a:p>
        </p:txBody>
      </p:sp>
      <p:sp>
        <p:nvSpPr>
          <p:cNvPr id="12" name="Rectangular Callout 11"/>
          <p:cNvSpPr/>
          <p:nvPr/>
        </p:nvSpPr>
        <p:spPr bwMode="auto">
          <a:xfrm>
            <a:off x="6438234" y="4931984"/>
            <a:ext cx="2179320" cy="417256"/>
          </a:xfrm>
          <a:prstGeom prst="wedgeRectCallout">
            <a:avLst>
              <a:gd name="adj1" fmla="val -89877"/>
              <a:gd name="adj2" fmla="val -45210"/>
            </a:avLst>
          </a:prstGeom>
          <a:noFill/>
          <a:ln w="9525" cap="flat" cmpd="sng" algn="ctr">
            <a:solidFill>
              <a:srgbClr val="00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dirty="0"/>
              <a:t>Non-negativity</a:t>
            </a:r>
          </a:p>
        </p:txBody>
      </p:sp>
      <mc:AlternateContent xmlns:mc="http://schemas.openxmlformats.org/markup-compatibility/2006" xmlns:a14="http://schemas.microsoft.com/office/drawing/2010/main">
        <mc:Choice Requires="a14">
          <p:sp>
            <p:nvSpPr>
              <p:cNvPr id="13" name="Rectangle 12"/>
              <p:cNvSpPr/>
              <p:nvPr/>
            </p:nvSpPr>
            <p:spPr>
              <a:xfrm>
                <a:off x="1279974" y="3429405"/>
                <a:ext cx="4674870" cy="40011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a:latin typeface="Cambria Math" panose="02040503050406030204" pitchFamily="18" charset="0"/>
                        </a:rPr>
                        <m:t>𝑀𝑎𝑥𝑖𝑚𝑖𝑧𝑒</m:t>
                      </m:r>
                      <m:r>
                        <a:rPr lang="en-US" sz="2000" i="1" dirty="0">
                          <a:latin typeface="Cambria Math" panose="02040503050406030204" pitchFamily="18" charset="0"/>
                        </a:rPr>
                        <m:t>       300</m:t>
                      </m:r>
                      <m:r>
                        <a:rPr lang="en-US" sz="2000" i="1" dirty="0">
                          <a:latin typeface="Cambria Math" panose="02040503050406030204" pitchFamily="18" charset="0"/>
                        </a:rPr>
                        <m:t>𝐷</m:t>
                      </m:r>
                      <m:r>
                        <a:rPr lang="en-US" sz="2000" i="1" dirty="0">
                          <a:latin typeface="Cambria Math" panose="02040503050406030204" pitchFamily="18" charset="0"/>
                        </a:rPr>
                        <m:t>+500</m:t>
                      </m:r>
                      <m:r>
                        <a:rPr lang="en-US" sz="2000" i="1" dirty="0">
                          <a:latin typeface="Cambria Math" panose="02040503050406030204" pitchFamily="18" charset="0"/>
                        </a:rPr>
                        <m:t>𝑊</m:t>
                      </m:r>
                    </m:oMath>
                  </m:oMathPara>
                </a14:m>
                <a:endParaRPr lang="en-US" sz="2000" i="1" dirty="0">
                  <a:latin typeface="Cambria Math" panose="02040503050406030204"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1279974" y="3429405"/>
                <a:ext cx="4674870" cy="40011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695513" y="3758833"/>
                <a:ext cx="3722611"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𝑠𝑢𝑏𝑗𝑒𝑐𝑡</m:t>
                      </m:r>
                      <m:r>
                        <a:rPr lang="en-US" sz="2000" i="1" dirty="0" smtClean="0">
                          <a:latin typeface="Cambria Math" panose="02040503050406030204" pitchFamily="18" charset="0"/>
                        </a:rPr>
                        <m:t> </m:t>
                      </m:r>
                      <m:r>
                        <a:rPr lang="en-US" sz="2000" i="1" dirty="0" smtClean="0">
                          <a:latin typeface="Cambria Math" panose="02040503050406030204" pitchFamily="18" charset="0"/>
                        </a:rPr>
                        <m:t>𝑡𝑜</m:t>
                      </m:r>
                      <m:r>
                        <a:rPr lang="en-US" sz="2000" i="1" dirty="0" smtClean="0">
                          <a:latin typeface="Cambria Math" panose="02040503050406030204" pitchFamily="18" charset="0"/>
                        </a:rPr>
                        <m:t>         </m:t>
                      </m:r>
                      <m:r>
                        <a:rPr lang="en-US" sz="2000" i="1" dirty="0" smtClean="0">
                          <a:latin typeface="Cambria Math" panose="02040503050406030204" pitchFamily="18" charset="0"/>
                        </a:rPr>
                        <m:t>𝐷</m:t>
                      </m:r>
                      <m:r>
                        <a:rPr lang="en-US" sz="2000" b="0" i="1" dirty="0" smtClean="0">
                          <a:latin typeface="Cambria Math" panose="02040503050406030204" pitchFamily="18" charset="0"/>
                        </a:rPr>
                        <m:t>    </m:t>
                      </m:r>
                      <m:r>
                        <a:rPr lang="en-US" sz="2000" i="1" dirty="0" smtClean="0">
                          <a:latin typeface="Cambria Math" panose="02040503050406030204" pitchFamily="18" charset="0"/>
                        </a:rPr>
                        <m:t>      </m:t>
                      </m:r>
                      <m:r>
                        <a:rPr lang="en-US" sz="2000" b="0" i="1" dirty="0" smtClean="0">
                          <a:latin typeface="Cambria Math" panose="02040503050406030204" pitchFamily="18" charset="0"/>
                        </a:rPr>
                        <m:t>    </m:t>
                      </m:r>
                      <m:r>
                        <a:rPr lang="en-US" sz="2000" i="1" dirty="0" smtClean="0">
                          <a:latin typeface="Cambria Math" panose="02040503050406030204" pitchFamily="18" charset="0"/>
                        </a:rPr>
                        <m:t>≤ 4</m:t>
                      </m:r>
                    </m:oMath>
                  </m:oMathPara>
                </a14:m>
                <a:endParaRPr lang="en-US" sz="2000" dirty="0"/>
              </a:p>
            </p:txBody>
          </p:sp>
        </mc:Choice>
        <mc:Fallback xmlns="">
          <p:sp>
            <p:nvSpPr>
              <p:cNvPr id="14" name="Rectangle 13"/>
              <p:cNvSpPr>
                <a:spLocks noRot="1" noChangeAspect="1" noMove="1" noResize="1" noEditPoints="1" noAdjustHandles="1" noChangeArrowheads="1" noChangeShapeType="1" noTextEdit="1"/>
              </p:cNvSpPr>
              <p:nvPr/>
            </p:nvSpPr>
            <p:spPr>
              <a:xfrm>
                <a:off x="1695513" y="3758833"/>
                <a:ext cx="3722611" cy="400110"/>
              </a:xfrm>
              <a:prstGeom prst="rect">
                <a:avLst/>
              </a:prstGeom>
              <a:blipFill rotWithShape="0">
                <a:blip r:embed="rId3"/>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391159" y="4111946"/>
                <a:ext cx="198823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i="1" dirty="0">
                          <a:latin typeface="Cambria Math" panose="02040503050406030204" pitchFamily="18" charset="0"/>
                        </a:rPr>
                        <m:t>≤ 12</m:t>
                      </m:r>
                    </m:oMath>
                  </m:oMathPara>
                </a14:m>
                <a:endParaRPr lang="en-US" sz="2000" dirty="0"/>
              </a:p>
            </p:txBody>
          </p:sp>
        </mc:Choice>
        <mc:Fallback xmlns="">
          <p:sp>
            <p:nvSpPr>
              <p:cNvPr id="15" name="Rectangle 14"/>
              <p:cNvSpPr>
                <a:spLocks noRot="1" noChangeAspect="1" noMove="1" noResize="1" noEditPoints="1" noAdjustHandles="1" noChangeArrowheads="1" noChangeShapeType="1" noTextEdit="1"/>
              </p:cNvSpPr>
              <p:nvPr/>
            </p:nvSpPr>
            <p:spPr>
              <a:xfrm>
                <a:off x="3391159" y="4111946"/>
                <a:ext cx="1988237" cy="40011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2604662" y="4417690"/>
                <a:ext cx="2813463"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3</m:t>
                    </m:r>
                    <m:r>
                      <a:rPr lang="en-US" sz="2000" i="1" dirty="0">
                        <a:latin typeface="Cambria Math" panose="02040503050406030204" pitchFamily="18" charset="0"/>
                      </a:rPr>
                      <m:t>𝐷</m:t>
                    </m:r>
                    <m:r>
                      <a:rPr lang="en-US" sz="2000" i="1" dirty="0">
                        <a:latin typeface="Cambria Math" panose="02040503050406030204" pitchFamily="18" charset="0"/>
                      </a:rPr>
                      <m:t>+2</m:t>
                    </m:r>
                    <m:r>
                      <a:rPr lang="en-US" sz="2000" i="1" dirty="0">
                        <a:latin typeface="Cambria Math" panose="02040503050406030204" pitchFamily="18" charset="0"/>
                      </a:rPr>
                      <m:t>𝑊</m:t>
                    </m:r>
                    <m:r>
                      <a:rPr lang="en-US" sz="2000" i="1" dirty="0">
                        <a:latin typeface="Cambria Math" panose="02040503050406030204" pitchFamily="18" charset="0"/>
                      </a:rPr>
                      <m:t> ≤ 18</m:t>
                    </m:r>
                  </m:oMath>
                </a14:m>
                <a:endParaRPr lang="en-US" sz="2000" i="1" dirty="0"/>
              </a:p>
            </p:txBody>
          </p:sp>
        </mc:Choice>
        <mc:Fallback xmlns="">
          <p:sp>
            <p:nvSpPr>
              <p:cNvPr id="16" name="Rectangle 15"/>
              <p:cNvSpPr>
                <a:spLocks noRot="1" noChangeAspect="1" noMove="1" noResize="1" noEditPoints="1" noAdjustHandles="1" noChangeArrowheads="1" noChangeShapeType="1" noTextEdit="1"/>
              </p:cNvSpPr>
              <p:nvPr/>
            </p:nvSpPr>
            <p:spPr>
              <a:xfrm>
                <a:off x="2604662" y="4417690"/>
                <a:ext cx="2813463" cy="40011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2604662" y="4775885"/>
                <a:ext cx="2538452" cy="400110"/>
              </a:xfrm>
              <a:prstGeom prst="rect">
                <a:avLst/>
              </a:prstGeom>
            </p:spPr>
            <p:txBody>
              <a:bodyPr wrap="none">
                <a:spAutoFit/>
              </a:bodyPr>
              <a:lstStyle/>
              <a:p>
                <a:pPr lvl="1"/>
                <a:r>
                  <a:rPr lang="en-US" sz="2000" dirty="0"/>
                  <a:t>      </a:t>
                </a:r>
                <a14:m>
                  <m:oMath xmlns:m="http://schemas.openxmlformats.org/officeDocument/2006/math">
                    <m:r>
                      <a:rPr lang="en-US" sz="2000" i="1" dirty="0" smtClean="0">
                        <a:latin typeface="Cambria Math" panose="02040503050406030204" pitchFamily="18" charset="0"/>
                      </a:rPr>
                      <m:t>𝐷</m:t>
                    </m:r>
                    <m:r>
                      <a:rPr lang="en-US" sz="2000" i="1" dirty="0" smtClean="0">
                        <a:latin typeface="Cambria Math" panose="02040503050406030204" pitchFamily="18" charset="0"/>
                      </a:rPr>
                      <m:t>≥0, </m:t>
                    </m:r>
                    <m:r>
                      <a:rPr lang="en-US" sz="2000" i="1" dirty="0">
                        <a:latin typeface="Cambria Math" panose="02040503050406030204" pitchFamily="18" charset="0"/>
                      </a:rPr>
                      <m:t>𝑊</m:t>
                    </m:r>
                    <m:r>
                      <a:rPr lang="en-US" sz="2000" i="1" dirty="0">
                        <a:latin typeface="Cambria Math" panose="02040503050406030204" pitchFamily="18" charset="0"/>
                      </a:rPr>
                      <m:t> ≥0</m:t>
                    </m:r>
                  </m:oMath>
                </a14:m>
                <a:endParaRPr lang="en-US" sz="2000" i="1" dirty="0"/>
              </a:p>
            </p:txBody>
          </p:sp>
        </mc:Choice>
        <mc:Fallback xmlns="">
          <p:sp>
            <p:nvSpPr>
              <p:cNvPr id="17" name="Rectangle 16"/>
              <p:cNvSpPr>
                <a:spLocks noRot="1" noChangeAspect="1" noMove="1" noResize="1" noEditPoints="1" noAdjustHandles="1" noChangeArrowheads="1" noChangeShapeType="1" noTextEdit="1"/>
              </p:cNvSpPr>
              <p:nvPr/>
            </p:nvSpPr>
            <p:spPr>
              <a:xfrm>
                <a:off x="2604662" y="4775885"/>
                <a:ext cx="2538452" cy="400110"/>
              </a:xfrm>
              <a:prstGeom prst="rect">
                <a:avLst/>
              </a:prstGeom>
              <a:blipFill rotWithShape="0">
                <a:blip r:embed="rId6"/>
                <a:stretch>
                  <a:fillRect/>
                </a:stretch>
              </a:blipFill>
            </p:spPr>
            <p:txBody>
              <a:bodyPr/>
              <a:lstStyle/>
              <a:p>
                <a:r>
                  <a:rPr lang="en-US">
                    <a:noFill/>
                  </a:rPr>
                  <a:t> </a:t>
                </a:r>
              </a:p>
            </p:txBody>
          </p:sp>
        </mc:Fallback>
      </mc:AlternateContent>
      <p:sp>
        <p:nvSpPr>
          <p:cNvPr id="18" name="Rectangle 17"/>
          <p:cNvSpPr/>
          <p:nvPr/>
        </p:nvSpPr>
        <p:spPr>
          <a:xfrm>
            <a:off x="1695513" y="3417975"/>
            <a:ext cx="3869151" cy="17580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83595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(Chapter 2.4):</a:t>
            </a:r>
          </a:p>
          <a:p>
            <a:pPr lvl="1"/>
            <a:r>
              <a:rPr lang="en-US" dirty="0"/>
              <a:t>Graphical solution of the </a:t>
            </a:r>
            <a:r>
              <a:rPr lang="en-US" dirty="0" err="1"/>
              <a:t>Wyndor</a:t>
            </a:r>
            <a:r>
              <a:rPr lang="en-US" dirty="0"/>
              <a:t> Glass Co. Product-Mix problem</a:t>
            </a:r>
          </a:p>
          <a:p>
            <a:pPr marL="0" indent="0">
              <a:buNone/>
            </a:pPr>
            <a:endParaRPr lang="en-US" dirty="0"/>
          </a:p>
          <a:p>
            <a:pPr marL="457200" lvl="1" indent="0">
              <a:buNone/>
            </a:pPr>
            <a:r>
              <a:rPr lang="en-US" i="1" dirty="0"/>
              <a:t>     </a:t>
            </a:r>
            <a:endParaRPr lang="en-US" dirty="0"/>
          </a:p>
        </p:txBody>
      </p:sp>
      <p:pic>
        <p:nvPicPr>
          <p:cNvPr id="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473" y="2282935"/>
            <a:ext cx="4268616" cy="4278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6029" y="2429143"/>
            <a:ext cx="5795243" cy="4165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9053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Solution Method</a:t>
            </a:r>
          </a:p>
        </p:txBody>
      </p:sp>
      <p:sp>
        <p:nvSpPr>
          <p:cNvPr id="3" name="Content Placeholder 2"/>
          <p:cNvSpPr>
            <a:spLocks noGrp="1"/>
          </p:cNvSpPr>
          <p:nvPr>
            <p:ph idx="1"/>
          </p:nvPr>
        </p:nvSpPr>
        <p:spPr/>
        <p:txBody>
          <a:bodyPr/>
          <a:lstStyle/>
          <a:p>
            <a:pPr eaLnBrk="1" hangingPunct="1"/>
            <a:r>
              <a:rPr lang="en-US" b="1" u="sng" dirty="0"/>
              <a:t>Summary:</a:t>
            </a:r>
          </a:p>
          <a:p>
            <a:pPr lvl="1"/>
            <a:r>
              <a:rPr lang="en-US" sz="2000" dirty="0"/>
              <a:t>Draw the constraint boundary line for each constraint. Use the origin (or any point not on the line) to determine which side of the line is permitted by the constraint.</a:t>
            </a:r>
          </a:p>
          <a:p>
            <a:pPr lvl="1"/>
            <a:r>
              <a:rPr lang="en-US" sz="2000" dirty="0"/>
              <a:t>Find the feasible region by determining where all constraints are satisfied simultaneously.</a:t>
            </a:r>
          </a:p>
          <a:p>
            <a:pPr lvl="1"/>
            <a:r>
              <a:rPr lang="en-US" sz="2000" dirty="0"/>
              <a:t>Determine the slope of one objective function line (</a:t>
            </a:r>
            <a:r>
              <a:rPr lang="en-US" sz="2000" dirty="0" err="1"/>
              <a:t>iso</a:t>
            </a:r>
            <a:r>
              <a:rPr lang="en-US" sz="2000" dirty="0"/>
              <a:t>-line). All other objective function lines will have the same slope.</a:t>
            </a:r>
          </a:p>
          <a:p>
            <a:pPr lvl="1"/>
            <a:r>
              <a:rPr lang="en-US" sz="2000" dirty="0"/>
              <a:t>Move a straight edge with this slope through the feasible region in the direction of improving values of the objective function. Stop at the last instant that the straight edge still passes through a point in the feasible region. This line given by the straight edge is the optimal objective function line.</a:t>
            </a:r>
          </a:p>
          <a:p>
            <a:pPr lvl="1"/>
            <a:r>
              <a:rPr lang="en-US" sz="2000" dirty="0"/>
              <a:t>A feasible point on the optimal objective function line is an optimal solution.</a:t>
            </a:r>
          </a:p>
          <a:p>
            <a:r>
              <a:rPr lang="en-US" b="1" dirty="0">
                <a:solidFill>
                  <a:srgbClr val="C00000"/>
                </a:solidFill>
              </a:rPr>
              <a:t>An online tool:</a:t>
            </a:r>
          </a:p>
          <a:p>
            <a:pPr lvl="1"/>
            <a:r>
              <a:rPr lang="en-US" dirty="0">
                <a:hlinkClick r:id="rId2"/>
              </a:rPr>
              <a:t>https://www.zweigmedia.com/utilities/lpg/index.html?lang=en</a:t>
            </a:r>
            <a:r>
              <a:rPr lang="en-US" dirty="0"/>
              <a:t> </a:t>
            </a:r>
          </a:p>
          <a:p>
            <a:pPr lvl="2"/>
            <a:r>
              <a:rPr lang="en-US" dirty="0"/>
              <a:t>Need to use X and Y as the variables</a:t>
            </a:r>
          </a:p>
          <a:p>
            <a:pPr lvl="2"/>
            <a:r>
              <a:rPr lang="en-US" dirty="0"/>
              <a:t>Only works for models with 2 variables</a:t>
            </a:r>
          </a:p>
          <a:p>
            <a:endParaRPr lang="en-US" sz="4000" dirty="0"/>
          </a:p>
        </p:txBody>
      </p:sp>
      <p:pic>
        <p:nvPicPr>
          <p:cNvPr id="5" name="Picture 4"/>
          <p:cNvPicPr>
            <a:picLocks noChangeAspect="1"/>
          </p:cNvPicPr>
          <p:nvPr/>
        </p:nvPicPr>
        <p:blipFill>
          <a:blip r:embed="rId3"/>
          <a:stretch>
            <a:fillRect/>
          </a:stretch>
        </p:blipFill>
        <p:spPr>
          <a:xfrm>
            <a:off x="9281160" y="4738957"/>
            <a:ext cx="2667000" cy="1438006"/>
          </a:xfrm>
          <a:prstGeom prst="rect">
            <a:avLst/>
          </a:prstGeom>
        </p:spPr>
      </p:pic>
    </p:spTree>
    <p:extLst>
      <p:ext uri="{BB962C8B-B14F-4D97-AF65-F5344CB8AC3E}">
        <p14:creationId xmlns:p14="http://schemas.microsoft.com/office/powerpoint/2010/main" val="196237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Formulating Linear Programming Models</a:t>
            </a:r>
          </a:p>
          <a:p>
            <a:pPr lvl="1"/>
            <a:r>
              <a:rPr lang="en-US" dirty="0">
                <a:solidFill>
                  <a:schemeClr val="bg2"/>
                </a:solidFill>
              </a:rPr>
              <a:t>Surviving in an Island (not in the textbook)</a:t>
            </a:r>
          </a:p>
          <a:p>
            <a:pPr lvl="1"/>
            <a:r>
              <a:rPr lang="en-US" dirty="0">
                <a:solidFill>
                  <a:schemeClr val="bg2"/>
                </a:solidFill>
              </a:rPr>
              <a:t>Case: </a:t>
            </a:r>
            <a:r>
              <a:rPr lang="en-US" dirty="0" err="1">
                <a:solidFill>
                  <a:schemeClr val="bg2"/>
                </a:solidFill>
              </a:rPr>
              <a:t>Wyndor</a:t>
            </a:r>
            <a:r>
              <a:rPr lang="en-US" dirty="0">
                <a:solidFill>
                  <a:schemeClr val="bg2"/>
                </a:solidFill>
              </a:rPr>
              <a:t> Glass Co. Product Mix (Chapter 2.3)</a:t>
            </a:r>
          </a:p>
          <a:p>
            <a:pPr lvl="1"/>
            <a:r>
              <a:rPr lang="en-US" dirty="0">
                <a:solidFill>
                  <a:schemeClr val="bg2"/>
                </a:solidFill>
              </a:rPr>
              <a:t>Linear Programming Terminology (Chapter 2.3)</a:t>
            </a:r>
          </a:p>
          <a:p>
            <a:r>
              <a:rPr lang="en-US" dirty="0">
                <a:solidFill>
                  <a:schemeClr val="bg2"/>
                </a:solidFill>
              </a:rPr>
              <a:t>Graphical Solution Method (Chapter 2.4)</a:t>
            </a:r>
          </a:p>
          <a:p>
            <a:r>
              <a:rPr lang="en-US" dirty="0"/>
              <a:t>Linear Programming Properties (not in the textbook)</a:t>
            </a:r>
          </a:p>
          <a:p>
            <a:r>
              <a:rPr lang="en-US" dirty="0">
                <a:solidFill>
                  <a:schemeClr val="bg2"/>
                </a:solidFill>
              </a:rPr>
              <a:t>Further Cases on Algebraic Modeling</a:t>
            </a:r>
          </a:p>
          <a:p>
            <a:pPr lvl="1"/>
            <a:r>
              <a:rPr lang="en-US" dirty="0">
                <a:solidFill>
                  <a:schemeClr val="bg2"/>
                </a:solidFill>
              </a:rPr>
              <a:t>Case: Profit and Gambit Co. Advertising Mix (Chapter 2.7)</a:t>
            </a:r>
          </a:p>
          <a:p>
            <a:pPr lvl="1"/>
            <a:r>
              <a:rPr lang="en-US" dirty="0">
                <a:solidFill>
                  <a:schemeClr val="bg2"/>
                </a:solidFill>
              </a:rPr>
              <a:t>Case: Case 2-3 – Staffing a Call Center (page 62)</a:t>
            </a:r>
          </a:p>
        </p:txBody>
      </p:sp>
    </p:spTree>
    <p:extLst>
      <p:ext uri="{BB962C8B-B14F-4D97-AF65-F5344CB8AC3E}">
        <p14:creationId xmlns:p14="http://schemas.microsoft.com/office/powerpoint/2010/main" val="1310245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normAutofit lnSpcReduction="10000"/>
          </a:bodyPr>
          <a:lstStyle/>
          <a:p>
            <a:r>
              <a:rPr lang="en-US" dirty="0"/>
              <a:t>Recall that a linear programming (LP) model has two main assumptions:</a:t>
            </a:r>
          </a:p>
          <a:p>
            <a:pPr lvl="1"/>
            <a:r>
              <a:rPr lang="en-US" b="1" dirty="0"/>
              <a:t>Divisibility Assumption of Linear Programming</a:t>
            </a:r>
            <a:r>
              <a:rPr lang="en-US" dirty="0"/>
              <a:t>: </a:t>
            </a:r>
          </a:p>
          <a:p>
            <a:pPr lvl="2"/>
            <a:r>
              <a:rPr lang="en-US" dirty="0"/>
              <a:t>Decision variables in a LP model are allowed to have </a:t>
            </a:r>
            <a:r>
              <a:rPr lang="en-US" i="1" dirty="0"/>
              <a:t>any</a:t>
            </a:r>
            <a:r>
              <a:rPr lang="en-US" dirty="0"/>
              <a:t> values, including </a:t>
            </a:r>
            <a:r>
              <a:rPr lang="en-US" i="1" dirty="0"/>
              <a:t>fractional</a:t>
            </a:r>
            <a:r>
              <a:rPr lang="en-US" dirty="0"/>
              <a:t> values, that satisfy the functional and non-negativity constraints. Thus, these variables are </a:t>
            </a:r>
            <a:r>
              <a:rPr lang="en-US" i="1" dirty="0"/>
              <a:t>not</a:t>
            </a:r>
            <a:r>
              <a:rPr lang="en-US" dirty="0"/>
              <a:t> restricted to just integer or binary values.</a:t>
            </a:r>
          </a:p>
          <a:p>
            <a:pPr lvl="2"/>
            <a:r>
              <a:rPr lang="en-US" dirty="0"/>
              <a:t>If violated, you do not have a LP model</a:t>
            </a:r>
          </a:p>
          <a:p>
            <a:pPr lvl="1"/>
            <a:r>
              <a:rPr lang="en-US" b="1" dirty="0"/>
              <a:t>Proportionality Assumption of Linear Programming</a:t>
            </a:r>
            <a:r>
              <a:rPr lang="en-US" dirty="0"/>
              <a:t>: </a:t>
            </a:r>
          </a:p>
          <a:p>
            <a:pPr lvl="2"/>
            <a:r>
              <a:rPr lang="en-US" dirty="0"/>
              <a:t>The contribution of each decision variable to the value of the objective function and the constraint functions is </a:t>
            </a:r>
            <a:r>
              <a:rPr lang="en-US" i="1" dirty="0"/>
              <a:t>proportional</a:t>
            </a:r>
            <a:r>
              <a:rPr lang="en-US" dirty="0"/>
              <a:t> to the level of the decision variable. In other words, the terms in the objective function and constraint functions involving a decision variable consist of a coefficient times the decision variable. </a:t>
            </a:r>
          </a:p>
          <a:p>
            <a:pPr lvl="2"/>
            <a:r>
              <a:rPr lang="en-US" dirty="0"/>
              <a:t>That is, every function in the model is a linear function of the decision variables.</a:t>
            </a:r>
          </a:p>
          <a:p>
            <a:r>
              <a:rPr lang="en-US" dirty="0"/>
              <a:t>These two assumptions lead to a very important property:</a:t>
            </a:r>
          </a:p>
          <a:p>
            <a:pPr lvl="1"/>
            <a:r>
              <a:rPr lang="en-US" dirty="0">
                <a:solidFill>
                  <a:srgbClr val="C00000"/>
                </a:solidFill>
              </a:rPr>
              <a:t>If there is an optimum solution of a LP model, then there is a feasible corner point solution (algebraically referred to as basic feasible solution) that is optimum</a:t>
            </a:r>
          </a:p>
        </p:txBody>
      </p:sp>
    </p:spTree>
    <p:extLst>
      <p:ext uri="{BB962C8B-B14F-4D97-AF65-F5344CB8AC3E}">
        <p14:creationId xmlns:p14="http://schemas.microsoft.com/office/powerpoint/2010/main" val="25972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lstStyle/>
          <a:p>
            <a:r>
              <a:rPr lang="en-US" dirty="0">
                <a:solidFill>
                  <a:srgbClr val="C00000"/>
                </a:solidFill>
              </a:rPr>
              <a:t>If there is an optimum solution of a LP model, then there is a feasible corner point solution that is optimum</a:t>
            </a:r>
          </a:p>
          <a:p>
            <a:pPr lvl="1"/>
            <a:r>
              <a:rPr lang="en-US" dirty="0"/>
              <a:t>Therefore, in the graphical solution method, if we know that there is an optimum solution, we can just compare the corner points and choose one of the best ones</a:t>
            </a:r>
          </a:p>
          <a:p>
            <a:pPr lvl="1"/>
            <a:r>
              <a:rPr lang="en-US" dirty="0"/>
              <a:t>But it is possible that there is not any optimum solution or more than one optimum solutions</a:t>
            </a:r>
          </a:p>
          <a:p>
            <a:r>
              <a:rPr lang="en-US" dirty="0"/>
              <a:t>An LP model can have one of the four following cases:</a:t>
            </a:r>
          </a:p>
          <a:p>
            <a:pPr lvl="1"/>
            <a:r>
              <a:rPr lang="en-US" dirty="0">
                <a:solidFill>
                  <a:srgbClr val="C00000"/>
                </a:solidFill>
              </a:rPr>
              <a:t>Infeasibility: </a:t>
            </a:r>
            <a:r>
              <a:rPr lang="en-US" dirty="0"/>
              <a:t>No feasible solutions!</a:t>
            </a:r>
          </a:p>
          <a:p>
            <a:pPr lvl="1"/>
            <a:r>
              <a:rPr lang="en-US" dirty="0">
                <a:solidFill>
                  <a:srgbClr val="C00000"/>
                </a:solidFill>
              </a:rPr>
              <a:t>Unique optimal solution: </a:t>
            </a:r>
            <a:r>
              <a:rPr lang="en-US" dirty="0"/>
              <a:t>Only one feasible solution is optimum</a:t>
            </a:r>
          </a:p>
          <a:p>
            <a:pPr lvl="1"/>
            <a:r>
              <a:rPr lang="en-US" dirty="0">
                <a:solidFill>
                  <a:srgbClr val="C00000"/>
                </a:solidFill>
              </a:rPr>
              <a:t>Multiple optimal solutions (alternative optima): </a:t>
            </a:r>
            <a:r>
              <a:rPr lang="en-US" dirty="0"/>
              <a:t>More than one feasible solutions that are optimum</a:t>
            </a:r>
          </a:p>
          <a:p>
            <a:pPr lvl="1"/>
            <a:r>
              <a:rPr lang="en-US" dirty="0">
                <a:solidFill>
                  <a:srgbClr val="C00000"/>
                </a:solidFill>
              </a:rPr>
              <a:t>Unboundedness: </a:t>
            </a:r>
            <a:r>
              <a:rPr lang="en-US" dirty="0"/>
              <a:t>There is always a better feasible solution</a:t>
            </a:r>
          </a:p>
          <a:p>
            <a:endParaRPr lang="en-US" sz="4000" dirty="0"/>
          </a:p>
        </p:txBody>
      </p:sp>
    </p:spTree>
    <p:extLst>
      <p:ext uri="{BB962C8B-B14F-4D97-AF65-F5344CB8AC3E}">
        <p14:creationId xmlns:p14="http://schemas.microsoft.com/office/powerpoint/2010/main" val="175224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normAutofit fontScale="92500" lnSpcReduction="10000"/>
          </a:bodyPr>
          <a:lstStyle/>
          <a:p>
            <a:r>
              <a:rPr lang="en-US" b="1" u="sng" dirty="0"/>
              <a:t>Infeasibility:</a:t>
            </a:r>
          </a:p>
          <a:p>
            <a:pPr lvl="1"/>
            <a:r>
              <a:rPr lang="en-US" dirty="0"/>
              <a:t>Consider the following LP model: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The feasible region is empty</a:t>
            </a:r>
          </a:p>
          <a:p>
            <a:pPr lvl="1"/>
            <a:r>
              <a:rPr lang="en-US" dirty="0"/>
              <a:t>That is, no solution satisfies all of the constraints (i.e., there is no feasible solution)</a:t>
            </a:r>
          </a:p>
          <a:p>
            <a:pPr lvl="2"/>
            <a:r>
              <a:rPr lang="en-US" dirty="0"/>
              <a:t>So, by definition, there does not exist an optimal solution</a:t>
            </a:r>
          </a:p>
          <a:p>
            <a:pPr lvl="2"/>
            <a:r>
              <a:rPr lang="en-US" dirty="0"/>
              <a:t>Optimal solution is the best feasible solution: No feasible solution </a:t>
            </a:r>
            <a:r>
              <a:rPr lang="en-US" dirty="0">
                <a:sym typeface="Wingdings" panose="05000000000000000000" pitchFamily="2" charset="2"/>
              </a:rPr>
              <a:t> no optimal solution</a:t>
            </a:r>
          </a:p>
          <a:p>
            <a:pPr lvl="1"/>
            <a:r>
              <a:rPr lang="en-US" dirty="0">
                <a:sym typeface="Wingdings" panose="05000000000000000000" pitchFamily="2" charset="2"/>
              </a:rPr>
              <a:t>In practice, this case typically occurs if something is wrong with the model or problem settings: so recheck your model, data, and settings</a:t>
            </a:r>
            <a:endParaRPr 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265" y="2116074"/>
            <a:ext cx="4346466"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4650" y="1312433"/>
            <a:ext cx="3218819" cy="3100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ight Arrow 6"/>
          <p:cNvSpPr/>
          <p:nvPr/>
        </p:nvSpPr>
        <p:spPr>
          <a:xfrm>
            <a:off x="5783580" y="2777490"/>
            <a:ext cx="1783080" cy="1062990"/>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Practice!</a:t>
            </a:r>
          </a:p>
        </p:txBody>
      </p:sp>
    </p:spTree>
    <p:extLst>
      <p:ext uri="{BB962C8B-B14F-4D97-AF65-F5344CB8AC3E}">
        <p14:creationId xmlns:p14="http://schemas.microsoft.com/office/powerpoint/2010/main" val="4153110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lstStyle/>
          <a:p>
            <a:r>
              <a:rPr lang="en-US" b="1" u="sng" dirty="0"/>
              <a:t>Unique Optimum:</a:t>
            </a:r>
          </a:p>
          <a:p>
            <a:pPr lvl="1"/>
            <a:r>
              <a:rPr lang="en-US" dirty="0"/>
              <a:t>Consider the following LP model from slide # 29:</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The feasible region is not empty</a:t>
            </a:r>
          </a:p>
          <a:p>
            <a:pPr lvl="1"/>
            <a:r>
              <a:rPr lang="en-US" dirty="0"/>
              <a:t>All of the points in the feasible region are feasible solutions</a:t>
            </a:r>
          </a:p>
          <a:p>
            <a:pPr lvl="1"/>
            <a:r>
              <a:rPr lang="en-US" dirty="0"/>
              <a:t>And we have a single optimal solution</a:t>
            </a:r>
          </a:p>
          <a:p>
            <a:pPr marL="457200" lvl="1" indent="0">
              <a:buNone/>
            </a:pPr>
            <a:r>
              <a:rPr lang="en-US" dirty="0"/>
              <a:t> </a:t>
            </a:r>
          </a:p>
          <a:p>
            <a:endParaRPr lang="en-US" sz="4000" dirty="0"/>
          </a:p>
        </p:txBody>
      </p:sp>
      <p:sp>
        <p:nvSpPr>
          <p:cNvPr id="7" name="Right Arrow 6"/>
          <p:cNvSpPr/>
          <p:nvPr/>
        </p:nvSpPr>
        <p:spPr>
          <a:xfrm>
            <a:off x="5783580" y="2777490"/>
            <a:ext cx="1783080" cy="1062990"/>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Graph</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8477" y="2227908"/>
            <a:ext cx="4346466" cy="18916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5297" y="1266713"/>
            <a:ext cx="3553273" cy="3655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407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normAutofit lnSpcReduction="10000"/>
          </a:bodyPr>
          <a:lstStyle/>
          <a:p>
            <a:r>
              <a:rPr lang="en-US" b="1" u="sng" dirty="0"/>
              <a:t>Alternative Optima:</a:t>
            </a:r>
          </a:p>
          <a:p>
            <a:pPr lvl="1"/>
            <a:r>
              <a:rPr lang="en-US" dirty="0"/>
              <a:t>Consider the following LP model: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The feasible region is not empty</a:t>
            </a:r>
          </a:p>
          <a:p>
            <a:pPr lvl="1"/>
            <a:r>
              <a:rPr lang="en-US" dirty="0"/>
              <a:t>There are many feasible solutions</a:t>
            </a:r>
          </a:p>
          <a:p>
            <a:pPr lvl="1"/>
            <a:r>
              <a:rPr lang="en-US" dirty="0"/>
              <a:t>Also, there are many optimal solutions </a:t>
            </a:r>
          </a:p>
          <a:p>
            <a:pPr lvl="2"/>
            <a:r>
              <a:rPr lang="en-US" dirty="0"/>
              <a:t>But still there are corner points that are also optimum!</a:t>
            </a:r>
          </a:p>
          <a:p>
            <a:pPr lvl="1"/>
            <a:r>
              <a:rPr lang="en-US" dirty="0"/>
              <a:t>This case typically occurs when a constraint line is parallel to objective function lines</a:t>
            </a:r>
          </a:p>
        </p:txBody>
      </p:sp>
      <p:sp>
        <p:nvSpPr>
          <p:cNvPr id="7" name="Right Arrow 6"/>
          <p:cNvSpPr/>
          <p:nvPr/>
        </p:nvSpPr>
        <p:spPr>
          <a:xfrm>
            <a:off x="5783580" y="2777490"/>
            <a:ext cx="1783080" cy="1062990"/>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Graph</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821" y="2158664"/>
            <a:ext cx="4091940" cy="1985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a:stretch>
            <a:fillRect/>
          </a:stretch>
        </p:blipFill>
        <p:spPr>
          <a:xfrm>
            <a:off x="7597559" y="1204856"/>
            <a:ext cx="4594441" cy="3892924"/>
          </a:xfrm>
          <a:prstGeom prst="rect">
            <a:avLst/>
          </a:prstGeom>
        </p:spPr>
      </p:pic>
    </p:spTree>
    <p:extLst>
      <p:ext uri="{BB962C8B-B14F-4D97-AF65-F5344CB8AC3E}">
        <p14:creationId xmlns:p14="http://schemas.microsoft.com/office/powerpoint/2010/main" val="286946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normAutofit lnSpcReduction="10000"/>
          </a:bodyPr>
          <a:lstStyle/>
          <a:p>
            <a:r>
              <a:rPr lang="en-US" b="1" u="sng" dirty="0"/>
              <a:t>Unboundedness:</a:t>
            </a:r>
          </a:p>
          <a:p>
            <a:pPr lvl="1"/>
            <a:r>
              <a:rPr lang="en-US" dirty="0"/>
              <a:t>Consider the following LP model: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The feasible region is not empty</a:t>
            </a:r>
          </a:p>
          <a:p>
            <a:pPr lvl="1"/>
            <a:r>
              <a:rPr lang="en-US" dirty="0"/>
              <a:t>The feasible region is not bounded (expands continuously)</a:t>
            </a:r>
          </a:p>
          <a:p>
            <a:pPr lvl="1"/>
            <a:r>
              <a:rPr lang="en-US" dirty="0"/>
              <a:t>You can increase the objective function value continuously within the feasible region </a:t>
            </a:r>
          </a:p>
          <a:p>
            <a:pPr lvl="2"/>
            <a:r>
              <a:rPr lang="en-US" dirty="0"/>
              <a:t>So, there is always a better feasible solution, thus no ‘best’ optimal solution</a:t>
            </a:r>
          </a:p>
          <a:p>
            <a:pPr lvl="1"/>
            <a:r>
              <a:rPr lang="en-US" dirty="0">
                <a:sym typeface="Wingdings" panose="05000000000000000000" pitchFamily="2" charset="2"/>
              </a:rPr>
              <a:t>In practice, this case typically occurs if something is wrong with the model or problem</a:t>
            </a:r>
          </a:p>
          <a:p>
            <a:pPr marL="457200" lvl="1" indent="0">
              <a:buNone/>
            </a:pPr>
            <a:endParaRPr lang="en-US" dirty="0"/>
          </a:p>
        </p:txBody>
      </p:sp>
      <p:sp>
        <p:nvSpPr>
          <p:cNvPr id="7" name="Right Arrow 6"/>
          <p:cNvSpPr/>
          <p:nvPr/>
        </p:nvSpPr>
        <p:spPr>
          <a:xfrm>
            <a:off x="5783580" y="2777490"/>
            <a:ext cx="1783080" cy="1062990"/>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Graph</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1" y="2255996"/>
            <a:ext cx="4297680" cy="182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9744" y="1204856"/>
            <a:ext cx="3501175" cy="351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35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lstStyle/>
          <a:p>
            <a:r>
              <a:rPr lang="en-US" b="1" u="sng" dirty="0"/>
              <a:t>Summary:</a:t>
            </a:r>
          </a:p>
          <a:p>
            <a:pPr lvl="1"/>
            <a:r>
              <a:rPr lang="en-US" dirty="0"/>
              <a:t>The feasible region can be:</a:t>
            </a:r>
          </a:p>
          <a:p>
            <a:pPr lvl="2"/>
            <a:r>
              <a:rPr lang="en-US" dirty="0"/>
              <a:t>Empty </a:t>
            </a:r>
            <a:r>
              <a:rPr lang="en-US" dirty="0">
                <a:sym typeface="Wingdings" panose="05000000000000000000" pitchFamily="2" charset="2"/>
              </a:rPr>
              <a:t> Then, the LP model is infeasible</a:t>
            </a:r>
          </a:p>
          <a:p>
            <a:pPr lvl="2"/>
            <a:r>
              <a:rPr lang="en-US" dirty="0">
                <a:sym typeface="Wingdings" panose="05000000000000000000" pitchFamily="2" charset="2"/>
              </a:rPr>
              <a:t>Non-empty and bounded  Then, the LP model either has unique optimum or alternative optima</a:t>
            </a:r>
          </a:p>
          <a:p>
            <a:pPr lvl="2"/>
            <a:r>
              <a:rPr lang="en-US" dirty="0">
                <a:sym typeface="Wingdings" panose="05000000000000000000" pitchFamily="2" charset="2"/>
              </a:rPr>
              <a:t>Non-empty and unbounded  Then, the LP model can have unique optimum, alternative optima, or unboundedness</a:t>
            </a:r>
          </a:p>
          <a:p>
            <a:pPr lvl="1"/>
            <a:r>
              <a:rPr lang="en-US" dirty="0">
                <a:sym typeface="Wingdings" panose="05000000000000000000" pitchFamily="2" charset="2"/>
              </a:rPr>
              <a:t>With the graphical solution method, after determining the feasible region</a:t>
            </a:r>
          </a:p>
          <a:p>
            <a:pPr lvl="2"/>
            <a:r>
              <a:rPr lang="en-US" dirty="0">
                <a:sym typeface="Wingdings" panose="05000000000000000000" pitchFamily="2" charset="2"/>
              </a:rPr>
              <a:t>If the feasible region is non-empty and bounded, just compare the objective function values of the corner-points, and pick one of the best corner points as an optimal solution</a:t>
            </a:r>
          </a:p>
          <a:p>
            <a:pPr lvl="2"/>
            <a:r>
              <a:rPr lang="en-US" dirty="0">
                <a:sym typeface="Wingdings" panose="05000000000000000000" pitchFamily="2" charset="2"/>
              </a:rPr>
              <a:t>If the feasible region is non-empty and unbounded, be careful and draw objective function lines to see if the model is unbounded or not</a:t>
            </a:r>
            <a:endParaRPr lang="en-US" dirty="0"/>
          </a:p>
          <a:p>
            <a:endParaRPr lang="en-US" sz="4000" dirty="0"/>
          </a:p>
        </p:txBody>
      </p:sp>
    </p:spTree>
    <p:extLst>
      <p:ext uri="{BB962C8B-B14F-4D97-AF65-F5344CB8AC3E}">
        <p14:creationId xmlns:p14="http://schemas.microsoft.com/office/powerpoint/2010/main" val="67259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Further properties:</a:t>
                </a:r>
              </a:p>
              <a:p>
                <a:r>
                  <a:rPr lang="en-US" dirty="0"/>
                  <a:t>Given that the constraints do not change</a:t>
                </a:r>
              </a:p>
              <a:p>
                <a:pPr lvl="1"/>
                <a:r>
                  <a:rPr lang="en-US" dirty="0"/>
                  <a:t>Maximizing 3A+4B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Minimizing -3A-4B</a:t>
                </a:r>
              </a:p>
              <a:p>
                <a:pPr lvl="2"/>
                <a:r>
                  <a:rPr lang="en-US" dirty="0"/>
                  <a:t>Maximization is opposite of minimization </a:t>
                </a:r>
                <a:r>
                  <a:rPr lang="en-US" dirty="0">
                    <a:sym typeface="Wingdings" pitchFamily="2" charset="2"/>
                  </a:rPr>
                  <a:t></a:t>
                </a:r>
                <a:endParaRPr lang="en-US" dirty="0"/>
              </a:p>
              <a:p>
                <a:pPr lvl="1"/>
                <a:r>
                  <a:rPr lang="en-US" dirty="0"/>
                  <a:t>Maximizing 3A+4B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Maximizing 100+3A+4B</a:t>
                </a:r>
              </a:p>
              <a:p>
                <a:pPr lvl="2"/>
                <a:r>
                  <a:rPr lang="en-US" dirty="0"/>
                  <a:t>Adding a constant to the objective function does not change the optimum solution, you can just ignore it for optimization</a:t>
                </a:r>
              </a:p>
              <a:p>
                <a:pPr lvl="1"/>
                <a:r>
                  <a:rPr lang="en-US" dirty="0"/>
                  <a:t>Maximizing 3A+4B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Maximizing 15A+20B</a:t>
                </a:r>
              </a:p>
              <a:p>
                <a:pPr lvl="2"/>
                <a:r>
                  <a:rPr lang="en-US" dirty="0"/>
                  <a:t>Multiplying all of the coefficients of the objective function with the same positive constant does not change the optimization</a:t>
                </a:r>
              </a:p>
              <a:p>
                <a:pPr lvl="2"/>
                <a:r>
                  <a:rPr lang="en-US" dirty="0"/>
                  <a:t>On another note, you can multiply both sides of a constraint with the same non-zero constant and it will not change the feasible region, i.e., A+B&lt;= 5 defines the same region with 2A+2B&lt;=10</a:t>
                </a:r>
              </a:p>
              <a:p>
                <a:pPr lvl="3"/>
                <a:r>
                  <a:rPr lang="en-US" dirty="0"/>
                  <a:t>Be careful with multiplying with a negative constant (inequality sign will switch)</a:t>
                </a:r>
              </a:p>
              <a:p>
                <a:endParaRPr lang="en-US" sz="4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56" t="-2005" r="-584"/>
                </a:stretch>
              </a:blipFill>
            </p:spPr>
            <p:txBody>
              <a:bodyPr/>
              <a:lstStyle/>
              <a:p>
                <a:r>
                  <a:rPr lang="en-US">
                    <a:noFill/>
                  </a:rPr>
                  <a:t> </a:t>
                </a:r>
              </a:p>
            </p:txBody>
          </p:sp>
        </mc:Fallback>
      </mc:AlternateContent>
    </p:spTree>
    <p:extLst>
      <p:ext uri="{BB962C8B-B14F-4D97-AF65-F5344CB8AC3E}">
        <p14:creationId xmlns:p14="http://schemas.microsoft.com/office/powerpoint/2010/main" val="217882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lstStyle/>
          <a:p>
            <a:r>
              <a:rPr lang="en-US" b="1" u="sng" dirty="0"/>
              <a:t>Further properties:</a:t>
            </a:r>
          </a:p>
          <a:p>
            <a:r>
              <a:rPr lang="en-US" dirty="0"/>
              <a:t>LP models are </a:t>
            </a:r>
            <a:r>
              <a:rPr lang="en-US" dirty="0" err="1"/>
              <a:t>polynomially</a:t>
            </a:r>
            <a:r>
              <a:rPr lang="en-US" dirty="0"/>
              <a:t> solvable</a:t>
            </a:r>
          </a:p>
          <a:p>
            <a:pPr lvl="1"/>
            <a:r>
              <a:rPr lang="en-US" dirty="0"/>
              <a:t>That is, they are relatively easy to solve</a:t>
            </a:r>
          </a:p>
          <a:p>
            <a:pPr lvl="1"/>
            <a:r>
              <a:rPr lang="en-US" dirty="0">
                <a:solidFill>
                  <a:srgbClr val="C00000"/>
                </a:solidFill>
              </a:rPr>
              <a:t>Simplex Method </a:t>
            </a:r>
            <a:r>
              <a:rPr lang="en-US" dirty="0"/>
              <a:t>is a very popular method to solve LP problems</a:t>
            </a:r>
          </a:p>
          <a:p>
            <a:pPr lvl="2"/>
            <a:r>
              <a:rPr lang="en-US" dirty="0"/>
              <a:t>If an optimum solution exists to an LP problem, then there exists an optimum corner solution (this is true for any LP)</a:t>
            </a:r>
          </a:p>
          <a:p>
            <a:pPr lvl="3"/>
            <a:r>
              <a:rPr lang="en-US" dirty="0"/>
              <a:t>Start with a corner solution, move to a better adjacent corner solution (there are finite corner solutions)</a:t>
            </a:r>
          </a:p>
          <a:p>
            <a:pPr lvl="3"/>
            <a:r>
              <a:rPr lang="en-US" dirty="0"/>
              <a:t>Repeat this until you cannot find a better adjacent corner solution</a:t>
            </a:r>
          </a:p>
          <a:p>
            <a:pPr lvl="3"/>
            <a:r>
              <a:rPr lang="en-US" dirty="0">
                <a:hlinkClick r:id="rId3"/>
              </a:rPr>
              <a:t>http://en.wikipedia.org/wiki/Simplex_algorithm</a:t>
            </a:r>
            <a:endParaRPr lang="en-US" dirty="0"/>
          </a:p>
          <a:p>
            <a:pPr lvl="2"/>
            <a:r>
              <a:rPr lang="en-US" dirty="0"/>
              <a:t>There are educational </a:t>
            </a:r>
            <a:r>
              <a:rPr lang="en-US" dirty="0" err="1"/>
              <a:t>app.s</a:t>
            </a:r>
            <a:r>
              <a:rPr lang="en-US" dirty="0"/>
              <a:t> that use simplex: Simplex, Simplex Calculator, Simplex Tutor</a:t>
            </a:r>
          </a:p>
          <a:p>
            <a:pPr lvl="1"/>
            <a:endParaRPr lang="en-US" dirty="0"/>
          </a:p>
          <a:p>
            <a:pPr lvl="1"/>
            <a:r>
              <a:rPr lang="en-US" dirty="0" err="1"/>
              <a:t>Karmarkar’s</a:t>
            </a:r>
            <a:r>
              <a:rPr lang="en-US" dirty="0"/>
              <a:t> (interior-point) algorithm and Ellipsoid Method are other ways to solve LP models (wiki them to have a look)</a:t>
            </a:r>
          </a:p>
          <a:p>
            <a:endParaRPr lang="en-US" sz="4000" dirty="0"/>
          </a:p>
        </p:txBody>
      </p:sp>
    </p:spTree>
    <p:extLst>
      <p:ext uri="{BB962C8B-B14F-4D97-AF65-F5344CB8AC3E}">
        <p14:creationId xmlns:p14="http://schemas.microsoft.com/office/powerpoint/2010/main" val="350433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Properties</a:t>
            </a:r>
          </a:p>
        </p:txBody>
      </p:sp>
      <p:sp>
        <p:nvSpPr>
          <p:cNvPr id="3" name="Content Placeholder 2"/>
          <p:cNvSpPr>
            <a:spLocks noGrp="1"/>
          </p:cNvSpPr>
          <p:nvPr>
            <p:ph idx="1"/>
          </p:nvPr>
        </p:nvSpPr>
        <p:spPr/>
        <p:txBody>
          <a:bodyPr/>
          <a:lstStyle/>
          <a:p>
            <a:r>
              <a:rPr lang="en-US" b="1" u="sng" dirty="0"/>
              <a:t>Further properties:</a:t>
            </a:r>
          </a:p>
          <a:p>
            <a:r>
              <a:rPr lang="en-US" dirty="0"/>
              <a:t>There are many software for solving LP models</a:t>
            </a:r>
          </a:p>
          <a:p>
            <a:r>
              <a:rPr lang="en-US" dirty="0"/>
              <a:t>They mostly use Simplex type of algorithms</a:t>
            </a:r>
          </a:p>
          <a:p>
            <a:pPr lvl="1"/>
            <a:r>
              <a:rPr lang="en-US" dirty="0"/>
              <a:t>We will learn how to solve LP models using Excel</a:t>
            </a:r>
          </a:p>
          <a:p>
            <a:pPr lvl="1"/>
            <a:r>
              <a:rPr lang="en-US" dirty="0"/>
              <a:t>Excel solver uses Simplex Algorithm</a:t>
            </a:r>
          </a:p>
          <a:p>
            <a:r>
              <a:rPr lang="en-US" dirty="0"/>
              <a:t>Other software</a:t>
            </a:r>
          </a:p>
          <a:p>
            <a:pPr lvl="1"/>
            <a:r>
              <a:rPr lang="en-US" dirty="0"/>
              <a:t>Python has a modeling language to solve LP models (</a:t>
            </a:r>
            <a:r>
              <a:rPr lang="en-US" dirty="0" err="1"/>
              <a:t>PuLP</a:t>
            </a:r>
            <a:r>
              <a:rPr lang="en-US" dirty="0"/>
              <a:t>)</a:t>
            </a:r>
          </a:p>
          <a:p>
            <a:pPr lvl="1"/>
            <a:r>
              <a:rPr lang="en-US" dirty="0"/>
              <a:t>CPLEX (one of the best solvers for LP models)</a:t>
            </a:r>
          </a:p>
          <a:p>
            <a:pPr lvl="1"/>
            <a:r>
              <a:rPr lang="en-US" dirty="0" err="1"/>
              <a:t>Matlab</a:t>
            </a:r>
            <a:r>
              <a:rPr lang="en-US" dirty="0"/>
              <a:t> has a function to solve LP models (</a:t>
            </a:r>
            <a:r>
              <a:rPr lang="en-US" dirty="0" err="1">
                <a:latin typeface="BatangChe" pitchFamily="49" charset="-127"/>
                <a:ea typeface="BatangChe" pitchFamily="49" charset="-127"/>
              </a:rPr>
              <a:t>linprog</a:t>
            </a:r>
            <a:r>
              <a:rPr lang="en-US" dirty="0"/>
              <a:t>)</a:t>
            </a:r>
          </a:p>
          <a:p>
            <a:pPr lvl="1"/>
            <a:r>
              <a:rPr lang="en-US" dirty="0"/>
              <a:t>Optimization software can solve LP models</a:t>
            </a:r>
          </a:p>
          <a:p>
            <a:pPr lvl="2"/>
            <a:r>
              <a:rPr lang="en-US" dirty="0"/>
              <a:t>GAMS, Xpress, Lindo, Lingo, AMPLE</a:t>
            </a:r>
          </a:p>
          <a:p>
            <a:endParaRPr lang="en-US" sz="4000" dirty="0"/>
          </a:p>
        </p:txBody>
      </p:sp>
    </p:spTree>
    <p:extLst>
      <p:ext uri="{BB962C8B-B14F-4D97-AF65-F5344CB8AC3E}">
        <p14:creationId xmlns:p14="http://schemas.microsoft.com/office/powerpoint/2010/main" val="120170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Formulating Linear Programming Models</a:t>
            </a:r>
          </a:p>
          <a:p>
            <a:pPr lvl="1"/>
            <a:r>
              <a:rPr lang="en-US" dirty="0">
                <a:solidFill>
                  <a:schemeClr val="bg2"/>
                </a:solidFill>
              </a:rPr>
              <a:t>Surviving in an Island (not in the textbook)</a:t>
            </a:r>
          </a:p>
          <a:p>
            <a:pPr lvl="1"/>
            <a:r>
              <a:rPr lang="en-US" dirty="0">
                <a:solidFill>
                  <a:schemeClr val="bg2"/>
                </a:solidFill>
              </a:rPr>
              <a:t>Case: </a:t>
            </a:r>
            <a:r>
              <a:rPr lang="en-US" dirty="0" err="1">
                <a:solidFill>
                  <a:schemeClr val="bg2"/>
                </a:solidFill>
              </a:rPr>
              <a:t>Wyndor</a:t>
            </a:r>
            <a:r>
              <a:rPr lang="en-US" dirty="0">
                <a:solidFill>
                  <a:schemeClr val="bg2"/>
                </a:solidFill>
              </a:rPr>
              <a:t> Glass Co. Product Mix (Chapter 2.3)</a:t>
            </a:r>
          </a:p>
          <a:p>
            <a:pPr lvl="1"/>
            <a:r>
              <a:rPr lang="en-US" dirty="0">
                <a:solidFill>
                  <a:schemeClr val="bg2"/>
                </a:solidFill>
              </a:rPr>
              <a:t>Linear Programming Terminology (Chapter 2.3)</a:t>
            </a:r>
          </a:p>
          <a:p>
            <a:r>
              <a:rPr lang="en-US" dirty="0">
                <a:solidFill>
                  <a:schemeClr val="bg2"/>
                </a:solidFill>
              </a:rPr>
              <a:t>Graphical Solution Method (Chapter 2.4)</a:t>
            </a:r>
          </a:p>
          <a:p>
            <a:r>
              <a:rPr lang="en-US" dirty="0">
                <a:solidFill>
                  <a:schemeClr val="bg2"/>
                </a:solidFill>
              </a:rPr>
              <a:t>Linear Programming Properties (not in the textbook)</a:t>
            </a:r>
          </a:p>
          <a:p>
            <a:r>
              <a:rPr lang="en-US" dirty="0"/>
              <a:t>Further Cases on Algebraic Modeling</a:t>
            </a:r>
          </a:p>
          <a:p>
            <a:pPr lvl="1"/>
            <a:r>
              <a:rPr lang="en-US" dirty="0"/>
              <a:t>Case: Profit and Gambit Co. Advertising Mix (Chapter 2.7)</a:t>
            </a:r>
          </a:p>
          <a:p>
            <a:pPr lvl="1"/>
            <a:r>
              <a:rPr lang="en-US" dirty="0"/>
              <a:t>Case: Case 2-3 – Staffing a Call Center (page 62)</a:t>
            </a:r>
          </a:p>
        </p:txBody>
      </p:sp>
    </p:spTree>
    <p:extLst>
      <p:ext uri="{BB962C8B-B14F-4D97-AF65-F5344CB8AC3E}">
        <p14:creationId xmlns:p14="http://schemas.microsoft.com/office/powerpoint/2010/main" val="12613248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normAutofit fontScale="92500" lnSpcReduction="10000"/>
          </a:bodyPr>
          <a:lstStyle/>
          <a:p>
            <a:r>
              <a:rPr lang="en-US" b="1" u="sng" dirty="0"/>
              <a:t>Case: Profit &amp; Gambit Co. Advertising-Mix Problem (Chapter 2.7):</a:t>
            </a:r>
          </a:p>
          <a:p>
            <a:pPr lvl="1"/>
            <a:r>
              <a:rPr lang="en-US" u="sng" dirty="0"/>
              <a:t>Case Description: </a:t>
            </a:r>
            <a:r>
              <a:rPr lang="en-US" dirty="0"/>
              <a:t>The company produces cleaning products for home use and the company plans to undertake an advertising campaign that will focus on:</a:t>
            </a:r>
          </a:p>
          <a:p>
            <a:pPr lvl="2"/>
            <a:r>
              <a:rPr lang="en-US" dirty="0"/>
              <a:t>A spray prewash stain remover.</a:t>
            </a:r>
          </a:p>
          <a:p>
            <a:pPr lvl="2"/>
            <a:r>
              <a:rPr lang="en-US" dirty="0"/>
              <a:t>A liquid laundry detergent.</a:t>
            </a:r>
          </a:p>
          <a:p>
            <a:pPr lvl="2"/>
            <a:r>
              <a:rPr lang="en-US" dirty="0"/>
              <a:t>A powder laundry detergent</a:t>
            </a:r>
          </a:p>
          <a:p>
            <a:pPr lvl="1"/>
            <a:r>
              <a:rPr lang="en-US" dirty="0"/>
              <a:t>The campaign will use both television and print media</a:t>
            </a:r>
          </a:p>
          <a:p>
            <a:pPr lvl="1"/>
            <a:r>
              <a:rPr lang="en-US" dirty="0"/>
              <a:t>The general goal is to increase sales of these products.</a:t>
            </a:r>
          </a:p>
          <a:p>
            <a:pPr lvl="1"/>
            <a:r>
              <a:rPr lang="en-US" dirty="0"/>
              <a:t>Management has set the following goals for the campaign:</a:t>
            </a:r>
          </a:p>
          <a:p>
            <a:pPr lvl="2"/>
            <a:r>
              <a:rPr lang="en-US" dirty="0"/>
              <a:t>Sales of the stain remover should increase by at least 3%.</a:t>
            </a:r>
          </a:p>
          <a:p>
            <a:pPr lvl="2"/>
            <a:r>
              <a:rPr lang="en-US" dirty="0"/>
              <a:t>Sales of the liquid detergent should increase by at least 18%.</a:t>
            </a:r>
          </a:p>
          <a:p>
            <a:pPr lvl="2"/>
            <a:r>
              <a:rPr lang="en-US" dirty="0"/>
              <a:t>Sales of the powder detergent should increase by at least 4%.</a:t>
            </a:r>
          </a:p>
          <a:p>
            <a:pPr lvl="4"/>
            <a:endParaRPr lang="en-US" dirty="0"/>
          </a:p>
          <a:p>
            <a:pPr lvl="1"/>
            <a:r>
              <a:rPr lang="en-US" dirty="0"/>
              <a:t>How much should they advertise in each medium to meet the sales goals at a minimum total cost?                  		</a:t>
            </a:r>
            <a:endParaRPr lang="en-US" sz="2800" dirty="0"/>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2988812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normAutofit lnSpcReduction="10000"/>
          </a:bodyPr>
          <a:lstStyle/>
          <a:p>
            <a:r>
              <a:rPr lang="en-US" b="1" u="sng" dirty="0"/>
              <a:t>Case: Profit &amp; Gambit Co. Advertising-Mix Problem (Chapter 2.7):</a:t>
            </a:r>
          </a:p>
          <a:p>
            <a:r>
              <a:rPr lang="en-US" b="1" dirty="0">
                <a:solidFill>
                  <a:srgbClr val="C00000"/>
                </a:solidFill>
              </a:rPr>
              <a:t>STEP 0: </a:t>
            </a:r>
            <a:r>
              <a:rPr lang="en-US" dirty="0"/>
              <a:t>Know the problem and gather your data</a:t>
            </a:r>
          </a:p>
          <a:p>
            <a:pPr lvl="1"/>
            <a:r>
              <a:rPr lang="en-US" dirty="0"/>
              <a:t>Based on estimations on effects of advertising on sales, the company goals, and the charges disclosed by the advertising outlets, we have:</a:t>
            </a:r>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r>
              <a:rPr lang="en-US" dirty="0"/>
              <a:t>Management’s goal is to determine how much to advertise in each medium to meet the sales goals at a minimum cost</a:t>
            </a:r>
          </a:p>
          <a:p>
            <a:pPr marL="0" indent="0">
              <a:buNone/>
            </a:pPr>
            <a:endParaRPr lang="en-US" dirty="0"/>
          </a:p>
          <a:p>
            <a:pPr marL="0" indent="0">
              <a:buNone/>
            </a:pPr>
            <a:endParaRPr lang="en-US" sz="2800" dirty="0"/>
          </a:p>
          <a:p>
            <a:pPr marL="400050" lvl="2" indent="0">
              <a:buNone/>
            </a:pPr>
            <a:endParaRPr lang="en-US" sz="2800" dirty="0"/>
          </a:p>
          <a:p>
            <a:pPr marL="400050" lvl="2" indent="0">
              <a:buNone/>
            </a:pPr>
            <a:endParaRPr lang="en-US" dirty="0"/>
          </a:p>
          <a:p>
            <a:endParaRPr lang="en-US" dirty="0"/>
          </a:p>
        </p:txBody>
      </p:sp>
      <p:pic>
        <p:nvPicPr>
          <p:cNvPr id="6" name="Picture 5"/>
          <p:cNvPicPr>
            <a:picLocks noChangeAspect="1"/>
          </p:cNvPicPr>
          <p:nvPr/>
        </p:nvPicPr>
        <p:blipFill>
          <a:blip r:embed="rId2"/>
          <a:stretch>
            <a:fillRect/>
          </a:stretch>
        </p:blipFill>
        <p:spPr>
          <a:xfrm>
            <a:off x="3663495" y="2886529"/>
            <a:ext cx="7338333" cy="2243263"/>
          </a:xfrm>
          <a:prstGeom prst="rect">
            <a:avLst/>
          </a:prstGeom>
        </p:spPr>
      </p:pic>
      <p:pic>
        <p:nvPicPr>
          <p:cNvPr id="7" name="Picture 6"/>
          <p:cNvPicPr>
            <a:picLocks noChangeAspect="1"/>
          </p:cNvPicPr>
          <p:nvPr/>
        </p:nvPicPr>
        <p:blipFill>
          <a:blip r:embed="rId3"/>
          <a:stretch>
            <a:fillRect/>
          </a:stretch>
        </p:blipFill>
        <p:spPr>
          <a:xfrm>
            <a:off x="1632541" y="3706845"/>
            <a:ext cx="2030954" cy="975594"/>
          </a:xfrm>
          <a:prstGeom prst="rect">
            <a:avLst/>
          </a:prstGeom>
        </p:spPr>
      </p:pic>
    </p:spTree>
    <p:extLst>
      <p:ext uri="{BB962C8B-B14F-4D97-AF65-F5344CB8AC3E}">
        <p14:creationId xmlns:p14="http://schemas.microsoft.com/office/powerpoint/2010/main" val="10604395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b="1" u="sng" dirty="0"/>
                  <a:t>Case: Profit &amp; Gambit Co. Advertising-Mix Problem (Chapter 2.7):</a:t>
                </a:r>
              </a:p>
              <a:p>
                <a:r>
                  <a:rPr lang="en-US" b="1" dirty="0">
                    <a:solidFill>
                      <a:srgbClr val="C00000"/>
                    </a:solidFill>
                  </a:rPr>
                  <a:t>STEP 1: </a:t>
                </a:r>
                <a:r>
                  <a:rPr lang="en-US" dirty="0"/>
                  <a:t>Decision variables</a:t>
                </a:r>
              </a:p>
              <a:p>
                <a:pPr lvl="1"/>
                <a:r>
                  <a:rPr lang="en-US" dirty="0"/>
                  <a:t>We want to determine the number of advertising units on television and print media</a:t>
                </a:r>
              </a:p>
              <a:p>
                <a:pPr marL="1371600" lvl="3" indent="0">
                  <a:buNone/>
                </a:pPr>
                <a14:m>
                  <m:oMath xmlns:m="http://schemas.openxmlformats.org/officeDocument/2006/math">
                    <m:r>
                      <a:rPr lang="en-US" sz="2400" b="0" i="1" smtClean="0">
                        <a:latin typeface="Cambria Math" panose="02040503050406030204" pitchFamily="18" charset="0"/>
                      </a:rPr>
                      <m:t>𝑇𝑉</m:t>
                    </m:r>
                  </m:oMath>
                </a14:m>
                <a:r>
                  <a:rPr lang="en-US" sz="2400" dirty="0"/>
                  <a:t>: the number of advertising units on television</a:t>
                </a:r>
              </a:p>
              <a:p>
                <a:pPr marL="1371600" lvl="3" indent="0">
                  <a:buNone/>
                </a:pPr>
                <a14:m>
                  <m:oMath xmlns:m="http://schemas.openxmlformats.org/officeDocument/2006/math">
                    <m:r>
                      <a:rPr lang="en-US" sz="2400" b="0" i="1" smtClean="0">
                        <a:latin typeface="Cambria Math" panose="02040503050406030204" pitchFamily="18" charset="0"/>
                      </a:rPr>
                      <m:t>𝑃𝑀</m:t>
                    </m:r>
                  </m:oMath>
                </a14:m>
                <a:r>
                  <a:rPr lang="en-US" sz="2400" dirty="0"/>
                  <a:t>: the number of advertising units on print media</a:t>
                </a:r>
              </a:p>
              <a:p>
                <a:pPr lvl="4"/>
                <a:endParaRPr lang="en-US" b="1" dirty="0">
                  <a:solidFill>
                    <a:srgbClr val="C00000"/>
                  </a:solidFill>
                </a:endParaRPr>
              </a:p>
              <a:p>
                <a:r>
                  <a:rPr lang="en-US" b="1" dirty="0">
                    <a:solidFill>
                      <a:srgbClr val="C00000"/>
                    </a:solidFill>
                  </a:rPr>
                  <a:t>STEP 2: </a:t>
                </a:r>
                <a:r>
                  <a:rPr lang="en-US" dirty="0"/>
                  <a:t>Define the objective and the objective function</a:t>
                </a:r>
              </a:p>
              <a:p>
                <a:pPr lvl="1"/>
                <a:r>
                  <a:rPr lang="en-US" dirty="0"/>
                  <a:t>Objective: Minimization</a:t>
                </a:r>
              </a:p>
              <a:p>
                <a:pPr lvl="1"/>
                <a:r>
                  <a:rPr lang="en-US" dirty="0"/>
                  <a:t>Objective function: Total cost of advertising</a:t>
                </a:r>
              </a:p>
              <a:p>
                <a:pPr marL="457200" lvl="1" indent="0">
                  <a:buNone/>
                </a:pPr>
                <a:r>
                  <a:rPr lang="en-US" dirty="0"/>
                  <a:t>		</a:t>
                </a:r>
                <a14:m>
                  <m:oMath xmlns:m="http://schemas.openxmlformats.org/officeDocument/2006/math">
                    <m:r>
                      <a:rPr lang="en-US" b="0" i="1" dirty="0" smtClean="0">
                        <a:latin typeface="Cambria Math" panose="02040503050406030204" pitchFamily="18" charset="0"/>
                      </a:rPr>
                      <m:t>𝐶𝑜𝑠𝑡</m:t>
                    </m:r>
                    <m:r>
                      <a:rPr lang="en-US" i="1" dirty="0" smtClean="0">
                        <a:latin typeface="Cambria Math" panose="02040503050406030204" pitchFamily="18" charset="0"/>
                      </a:rPr>
                      <m:t> =</m:t>
                    </m:r>
                    <m:r>
                      <a:rPr lang="en-US" b="0" i="1" dirty="0" smtClean="0">
                        <a:latin typeface="Cambria Math" panose="02040503050406030204" pitchFamily="18" charset="0"/>
                      </a:rPr>
                      <m:t>𝑇𝑉</m:t>
                    </m:r>
                    <m:r>
                      <a:rPr lang="en-US" i="1" dirty="0" smtClean="0">
                        <a:latin typeface="Cambria Math" panose="02040503050406030204" pitchFamily="18" charset="0"/>
                      </a:rPr>
                      <m:t>+</m:t>
                    </m:r>
                    <m:r>
                      <a:rPr lang="en-US" b="0" i="1" dirty="0" smtClean="0">
                        <a:latin typeface="Cambria Math" panose="02040503050406030204" pitchFamily="18" charset="0"/>
                      </a:rPr>
                      <m:t>2</m:t>
                    </m:r>
                    <m:r>
                      <a:rPr lang="en-US" b="0" i="1" dirty="0" smtClean="0">
                        <a:latin typeface="Cambria Math" panose="02040503050406030204" pitchFamily="18" charset="0"/>
                      </a:rPr>
                      <m:t>𝑃𝑀</m:t>
                    </m:r>
                  </m:oMath>
                </a14:m>
                <a:r>
                  <a:rPr lang="en-US" dirty="0"/>
                  <a:t> (in millions of dollars)</a:t>
                </a:r>
              </a:p>
              <a:p>
                <a:endParaRPr lang="en-US" dirty="0"/>
              </a:p>
              <a:p>
                <a:pPr marL="0" indent="0">
                  <a:buNone/>
                </a:pPr>
                <a:endParaRPr lang="en-US" dirty="0"/>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97" t="-3133"/>
                </a:stretch>
              </a:blipFill>
            </p:spPr>
            <p:txBody>
              <a:bodyPr/>
              <a:lstStyle/>
              <a:p>
                <a:r>
                  <a:rPr lang="en-US">
                    <a:noFill/>
                  </a:rPr>
                  <a:t> </a:t>
                </a:r>
              </a:p>
            </p:txBody>
          </p:sp>
        </mc:Fallback>
      </mc:AlternateContent>
    </p:spTree>
    <p:extLst>
      <p:ext uri="{BB962C8B-B14F-4D97-AF65-F5344CB8AC3E}">
        <p14:creationId xmlns:p14="http://schemas.microsoft.com/office/powerpoint/2010/main" val="15922108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b="1" u="sng" dirty="0"/>
                  <a:t>Case: Profit &amp; Gambit Co. Advertising-Mix Problem (Chapter 2.7):</a:t>
                </a:r>
              </a:p>
              <a:p>
                <a:r>
                  <a:rPr lang="en-US" b="1" dirty="0">
                    <a:solidFill>
                      <a:srgbClr val="C00000"/>
                    </a:solidFill>
                  </a:rPr>
                  <a:t>STEP 3: </a:t>
                </a:r>
                <a:r>
                  <a:rPr lang="en-US" dirty="0"/>
                  <a:t>Define the constraints</a:t>
                </a:r>
              </a:p>
              <a:p>
                <a:pPr lvl="1"/>
                <a:r>
                  <a:rPr lang="en-US" dirty="0"/>
                  <a:t>We have sales goals </a:t>
                </a:r>
              </a:p>
              <a:p>
                <a:pPr lvl="2"/>
                <a:r>
                  <a:rPr lang="en-US" dirty="0"/>
                  <a:t>Sale increase for each product should be at least the targeted percent)</a:t>
                </a:r>
              </a:p>
              <a:p>
                <a:pPr marL="457200" lvl="1" indent="0">
                  <a:buNone/>
                </a:pPr>
                <a:r>
                  <a:rPr lang="en-US" dirty="0"/>
                  <a:t>		</a:t>
                </a:r>
                <a:r>
                  <a:rPr lang="en-US" sz="2000" dirty="0"/>
                  <a:t>Stain remover increased sales:   </a:t>
                </a:r>
                <a14:m>
                  <m:oMath xmlns:m="http://schemas.openxmlformats.org/officeDocument/2006/math">
                    <m:r>
                      <a:rPr lang="en-US" sz="2000" b="0" i="1" dirty="0" smtClean="0">
                        <a:latin typeface="Cambria Math" panose="02040503050406030204" pitchFamily="18" charset="0"/>
                      </a:rPr>
                      <m:t>𝑃𝑀</m:t>
                    </m:r>
                    <m:r>
                      <a:rPr lang="en-US" sz="2000" b="0" i="1" dirty="0" smtClean="0">
                        <a:latin typeface="Cambria Math" panose="02040503050406030204" pitchFamily="18" charset="0"/>
                      </a:rPr>
                      <m:t>≥3</m:t>
                    </m:r>
                  </m:oMath>
                </a14:m>
                <a:r>
                  <a:rPr lang="en-US" sz="2000" dirty="0"/>
                  <a:t> </a:t>
                </a:r>
              </a:p>
              <a:p>
                <a:pPr marL="457200" lvl="1" indent="0">
                  <a:buNone/>
                </a:pPr>
                <a:r>
                  <a:rPr lang="en-US" sz="2000" dirty="0"/>
                  <a:t>		 Liquid detergent increased sales:   </a:t>
                </a:r>
                <a14:m>
                  <m:oMath xmlns:m="http://schemas.openxmlformats.org/officeDocument/2006/math">
                    <m:r>
                      <a:rPr lang="en-US" sz="2000" b="0" i="1" dirty="0" smtClean="0">
                        <a:latin typeface="Cambria Math" panose="02040503050406030204" pitchFamily="18" charset="0"/>
                      </a:rPr>
                      <m:t>3</m:t>
                    </m:r>
                    <m:r>
                      <a:rPr lang="en-US" sz="2000" b="0" i="1" dirty="0" smtClean="0">
                        <a:latin typeface="Cambria Math" panose="02040503050406030204" pitchFamily="18" charset="0"/>
                      </a:rPr>
                      <m:t>𝑇𝑉</m:t>
                    </m:r>
                    <m:r>
                      <a:rPr lang="en-US" sz="2000" b="0" i="0" dirty="0" smtClean="0">
                        <a:latin typeface="Cambria Math" panose="02040503050406030204" pitchFamily="18" charset="0"/>
                      </a:rPr>
                      <m:t>+</m:t>
                    </m:r>
                    <m:r>
                      <a:rPr lang="en-US" sz="2000" i="1" dirty="0" smtClean="0">
                        <a:latin typeface="Cambria Math" panose="02040503050406030204" pitchFamily="18" charset="0"/>
                      </a:rPr>
                      <m:t>2</m:t>
                    </m:r>
                    <m:r>
                      <a:rPr lang="en-US" sz="2000" b="0" i="1" dirty="0" smtClean="0">
                        <a:latin typeface="Cambria Math" panose="02040503050406030204" pitchFamily="18" charset="0"/>
                      </a:rPr>
                      <m:t>𝑃𝑀</m:t>
                    </m:r>
                    <m:r>
                      <a:rPr lang="en-US" sz="2000" b="0" i="1" dirty="0" smtClean="0">
                        <a:latin typeface="Cambria Math" panose="02040503050406030204" pitchFamily="18" charset="0"/>
                      </a:rPr>
                      <m:t>≥ 18</m:t>
                    </m:r>
                  </m:oMath>
                </a14:m>
                <a:endParaRPr lang="en-US" sz="2000" dirty="0"/>
              </a:p>
              <a:p>
                <a:pPr marL="457200" lvl="1" indent="0">
                  <a:buNone/>
                </a:pPr>
                <a:r>
                  <a:rPr lang="en-US" sz="2000" dirty="0"/>
                  <a:t>		 Powder detergent increased sales:   </a:t>
                </a:r>
                <a14:m>
                  <m:oMath xmlns:m="http://schemas.openxmlformats.org/officeDocument/2006/math">
                    <m:r>
                      <a:rPr lang="en-US" sz="2000" b="0" i="1" dirty="0" smtClean="0">
                        <a:latin typeface="Cambria Math" panose="02040503050406030204" pitchFamily="18" charset="0"/>
                      </a:rPr>
                      <m:t>−</m:t>
                    </m:r>
                    <m:r>
                      <a:rPr lang="en-US" sz="2000" b="0" i="1" dirty="0" smtClean="0">
                        <a:latin typeface="Cambria Math" panose="02040503050406030204" pitchFamily="18" charset="0"/>
                      </a:rPr>
                      <m:t>𝑇𝑉</m:t>
                    </m:r>
                    <m:r>
                      <a:rPr lang="en-US" sz="2000" i="1" dirty="0" smtClean="0">
                        <a:latin typeface="Cambria Math" panose="02040503050406030204" pitchFamily="18" charset="0"/>
                      </a:rPr>
                      <m:t>+</m:t>
                    </m:r>
                    <m:r>
                      <a:rPr lang="en-US" sz="2000" b="0" i="1" dirty="0" smtClean="0">
                        <a:latin typeface="Cambria Math" panose="02040503050406030204" pitchFamily="18" charset="0"/>
                      </a:rPr>
                      <m:t>4</m:t>
                    </m:r>
                    <m:r>
                      <a:rPr lang="en-US" sz="2000" b="0" i="1" dirty="0" smtClean="0">
                        <a:latin typeface="Cambria Math" panose="02040503050406030204" pitchFamily="18" charset="0"/>
                      </a:rPr>
                      <m:t>𝑃𝑀</m:t>
                    </m:r>
                    <m:r>
                      <a:rPr lang="en-US" sz="2000" b="0" i="1" dirty="0" smtClean="0">
                        <a:latin typeface="Cambria Math" panose="02040503050406030204" pitchFamily="18" charset="0"/>
                      </a:rPr>
                      <m:t>≥4</m:t>
                    </m:r>
                  </m:oMath>
                </a14:m>
                <a:endParaRPr lang="en-US" sz="2000" dirty="0"/>
              </a:p>
              <a:p>
                <a:pPr lvl="1"/>
                <a:r>
                  <a:rPr lang="en-US" dirty="0"/>
                  <a:t>Do not forget the non-negativity constraints: </a:t>
                </a:r>
                <a14:m>
                  <m:oMath xmlns:m="http://schemas.openxmlformats.org/officeDocument/2006/math">
                    <m:r>
                      <a:rPr lang="en-US" b="0" i="1" dirty="0" smtClean="0">
                        <a:latin typeface="Cambria Math" panose="02040503050406030204" pitchFamily="18" charset="0"/>
                      </a:rPr>
                      <m:t>𝑇𝑉</m:t>
                    </m:r>
                    <m:r>
                      <a:rPr lang="en-US" b="0" i="1" dirty="0" smtClean="0">
                        <a:latin typeface="Cambria Math" panose="02040503050406030204" pitchFamily="18" charset="0"/>
                      </a:rPr>
                      <m:t>≥0, </m:t>
                    </m:r>
                    <m:r>
                      <a:rPr lang="en-US" b="0" i="1" dirty="0" smtClean="0">
                        <a:latin typeface="Cambria Math" panose="02040503050406030204" pitchFamily="18" charset="0"/>
                      </a:rPr>
                      <m:t>𝑃𝑀</m:t>
                    </m:r>
                    <m:r>
                      <a:rPr lang="en-US" b="0" i="1" dirty="0" smtClean="0">
                        <a:latin typeface="Cambria Math" panose="02040503050406030204" pitchFamily="18" charset="0"/>
                      </a:rPr>
                      <m:t>≥0</m:t>
                    </m:r>
                  </m:oMath>
                </a14:m>
                <a:endParaRPr lang="en-US" dirty="0"/>
              </a:p>
              <a:p>
                <a:r>
                  <a:rPr lang="en-US" dirty="0"/>
                  <a:t>Combining everything, we have the algebraic model as follows:</a:t>
                </a:r>
              </a:p>
              <a:p>
                <a:endParaRPr lang="en-US" dirty="0"/>
              </a:p>
              <a:p>
                <a:pPr marL="0" indent="0">
                  <a:buNone/>
                </a:pPr>
                <a:r>
                  <a:rPr lang="en-US" dirty="0"/>
                  <a:t> </a:t>
                </a:r>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179099" y="4987462"/>
                <a:ext cx="4674870" cy="40011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a:latin typeface="Cambria Math" panose="02040503050406030204" pitchFamily="18" charset="0"/>
                        </a:rPr>
                        <m:t>𝑀</m:t>
                      </m:r>
                      <m:r>
                        <a:rPr lang="en-US" sz="2000" b="0" i="1" dirty="0" smtClean="0">
                          <a:latin typeface="Cambria Math" panose="02040503050406030204" pitchFamily="18" charset="0"/>
                        </a:rPr>
                        <m:t>𝑖𝑛𝑖𝑚𝑖𝑧𝑒</m:t>
                      </m:r>
                      <m:r>
                        <a:rPr lang="en-US" sz="2000" i="1" dirty="0">
                          <a:latin typeface="Cambria Math" panose="02040503050406030204" pitchFamily="18" charset="0"/>
                        </a:rPr>
                        <m:t>     </m:t>
                      </m:r>
                      <m:r>
                        <a:rPr lang="en-US" sz="2000" b="0" i="1" dirty="0" smtClean="0">
                          <a:latin typeface="Cambria Math" panose="02040503050406030204" pitchFamily="18" charset="0"/>
                        </a:rPr>
                        <m:t>    </m:t>
                      </m:r>
                      <m:r>
                        <a:rPr lang="en-US" sz="2000" i="1" dirty="0">
                          <a:latin typeface="Cambria Math" panose="02040503050406030204" pitchFamily="18" charset="0"/>
                        </a:rPr>
                        <m:t>  </m:t>
                      </m:r>
                      <m:r>
                        <a:rPr lang="en-US" sz="2000" b="0" i="1" dirty="0" smtClean="0">
                          <a:latin typeface="Cambria Math" panose="02040503050406030204" pitchFamily="18" charset="0"/>
                        </a:rPr>
                        <m:t>𝑇𝑉</m:t>
                      </m:r>
                      <m:r>
                        <a:rPr lang="en-US" sz="2000" b="0" i="1" dirty="0" smtClean="0">
                          <a:latin typeface="Cambria Math" panose="02040503050406030204" pitchFamily="18" charset="0"/>
                        </a:rPr>
                        <m:t>+2</m:t>
                      </m:r>
                      <m:r>
                        <a:rPr lang="en-US" sz="2000" b="0" i="1" dirty="0" smtClean="0">
                          <a:latin typeface="Cambria Math" panose="02040503050406030204" pitchFamily="18" charset="0"/>
                        </a:rPr>
                        <m:t>𝑃𝑀</m:t>
                      </m:r>
                    </m:oMath>
                  </m:oMathPara>
                </a14:m>
                <a:endParaRPr lang="en-US" sz="2000" i="1" dirty="0">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179099" y="4987462"/>
                <a:ext cx="4674870" cy="40011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594638" y="5316890"/>
                <a:ext cx="4126962" cy="400110"/>
              </a:xfrm>
              <a:prstGeom prst="rect">
                <a:avLst/>
              </a:prstGeom>
            </p:spPr>
            <p:txBody>
              <a:bodyPr wrap="square">
                <a:spAutoFit/>
              </a:bodyPr>
              <a:lstStyle/>
              <a:p>
                <a:r>
                  <a:rPr lang="en-US" sz="2000" dirty="0"/>
                  <a:t>    </a:t>
                </a:r>
                <a14:m>
                  <m:oMath xmlns:m="http://schemas.openxmlformats.org/officeDocument/2006/math">
                    <m:r>
                      <a:rPr lang="en-US" sz="2000" i="1" dirty="0" smtClean="0">
                        <a:latin typeface="Cambria Math" panose="02040503050406030204" pitchFamily="18" charset="0"/>
                      </a:rPr>
                      <m:t>𝑠𝑢𝑏𝑗𝑒𝑐𝑡</m:t>
                    </m:r>
                    <m:r>
                      <a:rPr lang="en-US" sz="2000" i="1" dirty="0" smtClean="0">
                        <a:latin typeface="Cambria Math" panose="02040503050406030204" pitchFamily="18" charset="0"/>
                      </a:rPr>
                      <m:t> </m:t>
                    </m:r>
                    <m:r>
                      <a:rPr lang="en-US" sz="2000" i="1" dirty="0" smtClean="0">
                        <a:latin typeface="Cambria Math" panose="02040503050406030204" pitchFamily="18" charset="0"/>
                      </a:rPr>
                      <m:t>𝑡𝑜</m:t>
                    </m:r>
                    <m:r>
                      <a:rPr lang="en-US" sz="2000" i="1" dirty="0" smtClean="0">
                        <a:latin typeface="Cambria Math" panose="02040503050406030204" pitchFamily="18" charset="0"/>
                      </a:rPr>
                      <m:t>                        </m:t>
                    </m:r>
                    <m:r>
                      <a:rPr lang="en-US" sz="2000" b="0" i="1" dirty="0" smtClean="0">
                        <a:latin typeface="Cambria Math" panose="02040503050406030204" pitchFamily="18" charset="0"/>
                      </a:rPr>
                      <m:t>𝑃𝑀</m:t>
                    </m:r>
                    <m:r>
                      <a:rPr lang="en-US" sz="2000" b="0" i="1" dirty="0" smtClean="0">
                        <a:latin typeface="Cambria Math" panose="02040503050406030204" pitchFamily="18" charset="0"/>
                      </a:rPr>
                      <m:t>≥3</m:t>
                    </m:r>
                  </m:oMath>
                </a14:m>
                <a:endParaRPr lang="en-US" sz="2000" dirty="0"/>
              </a:p>
            </p:txBody>
          </p:sp>
        </mc:Choice>
        <mc:Fallback xmlns="">
          <p:sp>
            <p:nvSpPr>
              <p:cNvPr id="6" name="Rectangle 5"/>
              <p:cNvSpPr>
                <a:spLocks noRot="1" noChangeAspect="1" noMove="1" noResize="1" noEditPoints="1" noAdjustHandles="1" noChangeArrowheads="1" noChangeShapeType="1" noTextEdit="1"/>
              </p:cNvSpPr>
              <p:nvPr/>
            </p:nvSpPr>
            <p:spPr>
              <a:xfrm>
                <a:off x="3594638" y="5316890"/>
                <a:ext cx="4126962" cy="400110"/>
              </a:xfrm>
              <a:prstGeom prst="rect">
                <a:avLst/>
              </a:prstGeom>
              <a:blipFill rotWithShape="0">
                <a:blip r:embed="rId4"/>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869371" y="5670003"/>
                <a:ext cx="2675732"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3</m:t>
                    </m:r>
                    <m:r>
                      <a:rPr lang="en-US" sz="2000" i="1" dirty="0">
                        <a:latin typeface="Cambria Math" panose="02040503050406030204" pitchFamily="18" charset="0"/>
                      </a:rPr>
                      <m:t>𝑇𝑉</m:t>
                    </m:r>
                    <m:r>
                      <a:rPr lang="en-US" sz="2000" dirty="0">
                        <a:latin typeface="Cambria Math" panose="02040503050406030204" pitchFamily="18" charset="0"/>
                      </a:rPr>
                      <m:t>+</m:t>
                    </m:r>
                    <m:r>
                      <a:rPr lang="en-US" sz="2000" i="1" dirty="0">
                        <a:latin typeface="Cambria Math" panose="02040503050406030204" pitchFamily="18" charset="0"/>
                      </a:rPr>
                      <m:t>2</m:t>
                    </m:r>
                    <m:r>
                      <a:rPr lang="en-US" sz="2000" i="1" dirty="0">
                        <a:latin typeface="Cambria Math" panose="02040503050406030204" pitchFamily="18" charset="0"/>
                      </a:rPr>
                      <m:t>𝑃𝑀</m:t>
                    </m:r>
                    <m:r>
                      <a:rPr lang="en-US" sz="2000" i="1" dirty="0">
                        <a:latin typeface="Cambria Math" panose="02040503050406030204" pitchFamily="18" charset="0"/>
                      </a:rPr>
                      <m:t>≥ 18</m:t>
                    </m:r>
                  </m:oMath>
                </a14:m>
                <a:endParaRPr 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4869371" y="5670003"/>
                <a:ext cx="2675732" cy="40011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503787" y="5975747"/>
                <a:ext cx="2872902"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m:t>
                    </m:r>
                    <m:r>
                      <a:rPr lang="en-US" sz="2000" i="1" dirty="0">
                        <a:latin typeface="Cambria Math" panose="02040503050406030204" pitchFamily="18" charset="0"/>
                      </a:rPr>
                      <m:t>𝑇𝑉</m:t>
                    </m:r>
                    <m:r>
                      <a:rPr lang="en-US" sz="2000" i="1" dirty="0">
                        <a:latin typeface="Cambria Math" panose="02040503050406030204" pitchFamily="18" charset="0"/>
                      </a:rPr>
                      <m:t>+4</m:t>
                    </m:r>
                    <m:r>
                      <a:rPr lang="en-US" sz="2000" i="1" dirty="0">
                        <a:latin typeface="Cambria Math" panose="02040503050406030204" pitchFamily="18" charset="0"/>
                      </a:rPr>
                      <m:t>𝑃𝑀</m:t>
                    </m:r>
                    <m:r>
                      <a:rPr lang="en-US" sz="2000" i="1" dirty="0">
                        <a:latin typeface="Cambria Math" panose="02040503050406030204" pitchFamily="18" charset="0"/>
                      </a:rPr>
                      <m:t>≥4</m:t>
                    </m:r>
                  </m:oMath>
                </a14:m>
                <a:endParaRPr lang="en-US" sz="2000" dirty="0"/>
              </a:p>
            </p:txBody>
          </p:sp>
        </mc:Choice>
        <mc:Fallback xmlns="">
          <p:sp>
            <p:nvSpPr>
              <p:cNvPr id="8" name="Rectangle 7"/>
              <p:cNvSpPr>
                <a:spLocks noRot="1" noChangeAspect="1" noMove="1" noResize="1" noEditPoints="1" noAdjustHandles="1" noChangeArrowheads="1" noChangeShapeType="1" noTextEdit="1"/>
              </p:cNvSpPr>
              <p:nvPr/>
            </p:nvSpPr>
            <p:spPr>
              <a:xfrm>
                <a:off x="4503787" y="5975747"/>
                <a:ext cx="2872902" cy="40011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823099" y="6333942"/>
                <a:ext cx="2516138"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𝑇𝑉</m:t>
                    </m:r>
                    <m:r>
                      <a:rPr lang="en-US" sz="2000" i="1" dirty="0">
                        <a:latin typeface="Cambria Math" panose="02040503050406030204" pitchFamily="18" charset="0"/>
                      </a:rPr>
                      <m:t>≥0, </m:t>
                    </m:r>
                    <m:r>
                      <a:rPr lang="en-US" sz="2000" i="1" dirty="0">
                        <a:latin typeface="Cambria Math" panose="02040503050406030204" pitchFamily="18" charset="0"/>
                      </a:rPr>
                      <m:t>𝑃𝑀</m:t>
                    </m:r>
                    <m:r>
                      <a:rPr lang="en-US" sz="2000" i="1" dirty="0">
                        <a:latin typeface="Cambria Math" panose="02040503050406030204" pitchFamily="18" charset="0"/>
                      </a:rPr>
                      <m:t>≥0</m:t>
                    </m:r>
                  </m:oMath>
                </a14:m>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4823099" y="6333942"/>
                <a:ext cx="2516138" cy="400110"/>
              </a:xfrm>
              <a:prstGeom prst="rect">
                <a:avLst/>
              </a:prstGeom>
              <a:blipFill rotWithShape="0">
                <a:blip r:embed="rId7"/>
                <a:stretch>
                  <a:fillRect/>
                </a:stretch>
              </a:blipFill>
            </p:spPr>
            <p:txBody>
              <a:bodyPr/>
              <a:lstStyle/>
              <a:p>
                <a:r>
                  <a:rPr lang="en-US">
                    <a:noFill/>
                  </a:rPr>
                  <a:t> </a:t>
                </a:r>
              </a:p>
            </p:txBody>
          </p:sp>
        </mc:Fallback>
      </mc:AlternateContent>
      <p:sp>
        <p:nvSpPr>
          <p:cNvPr id="10" name="Rectangle 9"/>
          <p:cNvSpPr/>
          <p:nvPr/>
        </p:nvSpPr>
        <p:spPr>
          <a:xfrm>
            <a:off x="3594638" y="4976032"/>
            <a:ext cx="4446276" cy="17580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View details"/>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8269508" y="4976032"/>
            <a:ext cx="16002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4407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lstStyle/>
          <a:p>
            <a:r>
              <a:rPr lang="en-US" b="1" u="sng" dirty="0"/>
              <a:t>Case: Profit &amp; Gambit Co. Advertising-Mix Problem (Chapter 2.7):</a:t>
            </a:r>
          </a:p>
          <a:p>
            <a:r>
              <a:rPr lang="en-US" b="1" dirty="0">
                <a:solidFill>
                  <a:srgbClr val="C00000"/>
                </a:solidFill>
              </a:rPr>
              <a:t>Graphical Solution Method: </a:t>
            </a:r>
            <a:r>
              <a:rPr lang="en-US" dirty="0"/>
              <a:t>Since the model has two decision variables, we can solve it graphically!</a:t>
            </a:r>
          </a:p>
          <a:p>
            <a:pPr marL="0" indent="0">
              <a:buNone/>
            </a:pPr>
            <a:r>
              <a:rPr lang="en-US" dirty="0"/>
              <a:t> </a:t>
            </a:r>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p:pic>
        <p:nvPicPr>
          <p:cNvPr id="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002" y="2705195"/>
            <a:ext cx="6695849" cy="415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Arrow Connector 12"/>
          <p:cNvCxnSpPr/>
          <p:nvPr/>
        </p:nvCxnSpPr>
        <p:spPr bwMode="auto">
          <a:xfrm flipV="1">
            <a:off x="4869744" y="5530857"/>
            <a:ext cx="602388" cy="601027"/>
          </a:xfrm>
          <a:prstGeom prst="straightConnector1">
            <a:avLst/>
          </a:prstGeom>
          <a:ln w="38100">
            <a:solidFill>
              <a:srgbClr val="FF0000"/>
            </a:solidFill>
            <a:headEnd type="arrow" w="lg" len="lg"/>
            <a:tailEnd type="none"/>
          </a:ln>
        </p:spPr>
        <p:style>
          <a:lnRef idx="3">
            <a:schemeClr val="accent6"/>
          </a:lnRef>
          <a:fillRef idx="0">
            <a:schemeClr val="accent6"/>
          </a:fillRef>
          <a:effectRef idx="2">
            <a:schemeClr val="accent6"/>
          </a:effectRef>
          <a:fontRef idx="minor">
            <a:schemeClr val="tx1"/>
          </a:fontRef>
        </p:style>
      </p:cxnSp>
      <p:sp>
        <p:nvSpPr>
          <p:cNvPr id="14" name="TextBox 13"/>
          <p:cNvSpPr txBox="1"/>
          <p:nvPr/>
        </p:nvSpPr>
        <p:spPr>
          <a:xfrm>
            <a:off x="5472132" y="5269247"/>
            <a:ext cx="1371600" cy="523220"/>
          </a:xfrm>
          <a:prstGeom prst="rect">
            <a:avLst/>
          </a:prstGeom>
          <a:noFill/>
        </p:spPr>
        <p:txBody>
          <a:bodyPr wrap="square" rtlCol="0">
            <a:spAutoFit/>
          </a:bodyPr>
          <a:lstStyle/>
          <a:p>
            <a:pPr algn="ctr"/>
            <a:r>
              <a:rPr lang="en-US" sz="1400" b="1" dirty="0"/>
              <a:t>Improvement Direction</a:t>
            </a:r>
          </a:p>
        </p:txBody>
      </p:sp>
      <p:sp>
        <p:nvSpPr>
          <p:cNvPr id="4" name="Horizontal Scroll 3"/>
          <p:cNvSpPr/>
          <p:nvPr/>
        </p:nvSpPr>
        <p:spPr>
          <a:xfrm>
            <a:off x="7943850" y="3120389"/>
            <a:ext cx="3303270" cy="1794527"/>
          </a:xfrm>
          <a:prstGeom prst="horizontalScroll">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Note: Even the feasible region is an unbounded area, the LP model itself has a unique optimal solution</a:t>
            </a:r>
            <a:r>
              <a:rPr lang="en-US" dirty="0"/>
              <a:t>: </a:t>
            </a:r>
          </a:p>
        </p:txBody>
      </p:sp>
    </p:spTree>
    <p:extLst>
      <p:ext uri="{BB962C8B-B14F-4D97-AF65-F5344CB8AC3E}">
        <p14:creationId xmlns:p14="http://schemas.microsoft.com/office/powerpoint/2010/main" val="3108874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lstStyle/>
          <a:p>
            <a:r>
              <a:rPr lang="en-US" b="1" u="sng" dirty="0"/>
              <a:t>Case: Profit &amp; Gambit Co. Advertising-Mix Problem (Chapter 2.7):</a:t>
            </a:r>
          </a:p>
          <a:p>
            <a:r>
              <a:rPr lang="en-US" b="1" dirty="0">
                <a:solidFill>
                  <a:srgbClr val="C00000"/>
                </a:solidFill>
              </a:rPr>
              <a:t>Graphical Solution Method: </a:t>
            </a:r>
            <a:r>
              <a:rPr lang="en-US" dirty="0"/>
              <a:t>Using the online tool mentioned</a:t>
            </a:r>
          </a:p>
          <a:p>
            <a:pPr lvl="1"/>
            <a:r>
              <a:rPr lang="en-US" dirty="0">
                <a:hlinkClick r:id="rId2"/>
              </a:rPr>
              <a:t>https://www.zweigmedia.com/utilities/lpg/index.html?lang=en</a:t>
            </a:r>
            <a:endParaRPr lang="en-US" dirty="0"/>
          </a:p>
          <a:p>
            <a:pPr marL="0" indent="0">
              <a:buNone/>
            </a:pPr>
            <a:r>
              <a:rPr lang="en-US" dirty="0"/>
              <a:t> </a:t>
            </a:r>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p:pic>
        <p:nvPicPr>
          <p:cNvPr id="5" name="Picture 4"/>
          <p:cNvPicPr>
            <a:picLocks noChangeAspect="1"/>
          </p:cNvPicPr>
          <p:nvPr/>
        </p:nvPicPr>
        <p:blipFill>
          <a:blip r:embed="rId3"/>
          <a:stretch>
            <a:fillRect/>
          </a:stretch>
        </p:blipFill>
        <p:spPr>
          <a:xfrm>
            <a:off x="1538287" y="2821698"/>
            <a:ext cx="7072313" cy="3717214"/>
          </a:xfrm>
          <a:prstGeom prst="rect">
            <a:avLst/>
          </a:prstGeom>
        </p:spPr>
      </p:pic>
    </p:spTree>
    <p:extLst>
      <p:ext uri="{BB962C8B-B14F-4D97-AF65-F5344CB8AC3E}">
        <p14:creationId xmlns:p14="http://schemas.microsoft.com/office/powerpoint/2010/main" val="16467081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normAutofit lnSpcReduction="10000"/>
          </a:bodyPr>
          <a:lstStyle/>
          <a:p>
            <a:r>
              <a:rPr lang="en-US" b="1" u="sng" dirty="0"/>
              <a:t>Case: Case 2-3 Staffing a Call Center (page 62):</a:t>
            </a:r>
          </a:p>
          <a:p>
            <a:pPr lvl="1"/>
            <a:r>
              <a:rPr lang="en-US" u="sng" dirty="0"/>
              <a:t>Case Description: </a:t>
            </a:r>
            <a:r>
              <a:rPr lang="en-US" dirty="0"/>
              <a:t>California Children’s Hospital needs to staff in the call center</a:t>
            </a:r>
          </a:p>
          <a:p>
            <a:pPr lvl="1"/>
            <a:r>
              <a:rPr lang="en-US" dirty="0"/>
              <a:t>A consulting company estimated average </a:t>
            </a:r>
          </a:p>
          <a:p>
            <a:pPr marL="457200" lvl="1" indent="0">
              <a:buNone/>
            </a:pPr>
            <a:r>
              <a:rPr lang="en-US" dirty="0"/>
              <a:t>   number of calls received (80% from English </a:t>
            </a:r>
          </a:p>
          <a:p>
            <a:pPr marL="457200" lvl="1" indent="0">
              <a:buNone/>
            </a:pPr>
            <a:r>
              <a:rPr lang="en-US" dirty="0"/>
              <a:t>   speakers and 20% from Spanish speakers)</a:t>
            </a:r>
          </a:p>
          <a:p>
            <a:pPr lvl="1"/>
            <a:r>
              <a:rPr lang="en-US" dirty="0"/>
              <a:t>An agent can process 6 calls per hour</a:t>
            </a:r>
          </a:p>
          <a:p>
            <a:pPr lvl="1"/>
            <a:r>
              <a:rPr lang="en-US" dirty="0"/>
              <a:t>We’ll focus on hiring English speaking agents</a:t>
            </a:r>
          </a:p>
          <a:p>
            <a:pPr lvl="1"/>
            <a:r>
              <a:rPr lang="en-US" dirty="0"/>
              <a:t>There are two types of agents</a:t>
            </a:r>
          </a:p>
          <a:p>
            <a:pPr lvl="2"/>
            <a:r>
              <a:rPr lang="en-US" dirty="0"/>
              <a:t>Full-time agent: </a:t>
            </a:r>
          </a:p>
          <a:p>
            <a:pPr lvl="3"/>
            <a:r>
              <a:rPr lang="en-US" dirty="0"/>
              <a:t>Works 8 consecutive hours, 2-hour shifts between answering calls and completing paperwork</a:t>
            </a:r>
          </a:p>
          <a:p>
            <a:pPr lvl="3"/>
            <a:r>
              <a:rPr lang="en-US" dirty="0"/>
              <a:t>Can start at 7am or 9am or 11am or 1pm</a:t>
            </a:r>
          </a:p>
          <a:p>
            <a:pPr lvl="2"/>
            <a:r>
              <a:rPr lang="en-US" dirty="0"/>
              <a:t>Part-time agent: </a:t>
            </a:r>
          </a:p>
          <a:p>
            <a:pPr lvl="3"/>
            <a:r>
              <a:rPr lang="en-US" dirty="0"/>
              <a:t>Works 4 consecutive hours, only answers calls</a:t>
            </a:r>
          </a:p>
          <a:p>
            <a:pPr lvl="3"/>
            <a:r>
              <a:rPr lang="en-US" dirty="0"/>
              <a:t>Can start at 3pm or 5pm</a:t>
            </a:r>
          </a:p>
          <a:p>
            <a:pPr marL="457200" lvl="1" indent="0">
              <a:buNone/>
            </a:pPr>
            <a:endParaRPr lang="en-US" dirty="0"/>
          </a:p>
          <a:p>
            <a:endParaRPr lang="en-US" dirty="0"/>
          </a:p>
        </p:txBody>
      </p:sp>
      <p:pic>
        <p:nvPicPr>
          <p:cNvPr id="5" name="Picture 4"/>
          <p:cNvPicPr>
            <a:picLocks noChangeAspect="1"/>
          </p:cNvPicPr>
          <p:nvPr/>
        </p:nvPicPr>
        <p:blipFill>
          <a:blip r:embed="rId2"/>
          <a:stretch>
            <a:fillRect/>
          </a:stretch>
        </p:blipFill>
        <p:spPr>
          <a:xfrm>
            <a:off x="7259179" y="2200048"/>
            <a:ext cx="4309253" cy="2371952"/>
          </a:xfrm>
          <a:prstGeom prst="rect">
            <a:avLst/>
          </a:prstGeom>
        </p:spPr>
      </p:pic>
    </p:spTree>
    <p:extLst>
      <p:ext uri="{BB962C8B-B14F-4D97-AF65-F5344CB8AC3E}">
        <p14:creationId xmlns:p14="http://schemas.microsoft.com/office/powerpoint/2010/main" val="32459742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normAutofit/>
          </a:bodyPr>
          <a:lstStyle/>
          <a:p>
            <a:r>
              <a:rPr lang="en-US" b="1" u="sng" dirty="0"/>
              <a:t>Case: Case 2-3 Staffing a Call Center (page 62):</a:t>
            </a:r>
          </a:p>
          <a:p>
            <a:pPr lvl="1"/>
            <a:r>
              <a:rPr lang="en-US" u="sng" dirty="0"/>
              <a:t>Case Description: </a:t>
            </a:r>
            <a:r>
              <a:rPr lang="en-US" dirty="0"/>
              <a:t>Since we know the number of average </a:t>
            </a:r>
          </a:p>
          <a:p>
            <a:pPr marL="457200" lvl="1" indent="0">
              <a:buNone/>
            </a:pPr>
            <a:r>
              <a:rPr lang="en-US" dirty="0"/>
              <a:t>   calls/hour from English speakers and we know that each </a:t>
            </a:r>
          </a:p>
          <a:p>
            <a:pPr marL="457200" lvl="1" indent="0">
              <a:buNone/>
            </a:pPr>
            <a:r>
              <a:rPr lang="en-US" dirty="0"/>
              <a:t>   operator can answer 6 calls per hour, we can calculate the </a:t>
            </a:r>
          </a:p>
          <a:p>
            <a:pPr marL="457200" lvl="1" indent="0">
              <a:buNone/>
            </a:pPr>
            <a:r>
              <a:rPr lang="en-US" dirty="0"/>
              <a:t>   number of agents needed to be available to answer calls </a:t>
            </a:r>
          </a:p>
          <a:p>
            <a:pPr marL="457200" lvl="1" indent="0">
              <a:buNone/>
            </a:pPr>
            <a:r>
              <a:rPr lang="en-US" dirty="0"/>
              <a:t>   during each work shift as shown in the table</a:t>
            </a:r>
          </a:p>
          <a:p>
            <a:pPr lvl="1"/>
            <a:r>
              <a:rPr lang="en-US" dirty="0"/>
              <a:t>Agents are paid $10/hour before 5pm and $12/hour after 5pm</a:t>
            </a:r>
          </a:p>
          <a:p>
            <a:pPr lvl="1"/>
            <a:endParaRPr lang="en-US" dirty="0"/>
          </a:p>
          <a:p>
            <a:pPr lvl="1"/>
            <a:r>
              <a:rPr lang="en-US" dirty="0"/>
              <a:t>The problem is to determine the number of agents (full-time and part-time) to hire for each possible shift and how the full-time agents should work so as to minimize the total costs to assure that at least the needed number of agents are available to answer calls!</a:t>
            </a:r>
          </a:p>
          <a:p>
            <a:pPr marL="457200" lvl="1" indent="0">
              <a:buNone/>
            </a:pPr>
            <a:endParaRPr lang="en-US" dirty="0"/>
          </a:p>
          <a:p>
            <a:pPr marL="400050" lvl="2" indent="0">
              <a:buNone/>
            </a:pPr>
            <a:endParaRPr lang="en-US" sz="2800" dirty="0"/>
          </a:p>
          <a:p>
            <a:pPr marL="400050" lvl="2"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8265256" y="1519250"/>
            <a:ext cx="3738058" cy="2153568"/>
          </a:xfrm>
          <a:prstGeom prst="rect">
            <a:avLst/>
          </a:prstGeom>
        </p:spPr>
      </p:pic>
      <p:sp>
        <p:nvSpPr>
          <p:cNvPr id="5" name="Rectangle 4"/>
          <p:cNvSpPr/>
          <p:nvPr/>
        </p:nvSpPr>
        <p:spPr>
          <a:xfrm>
            <a:off x="11094720" y="1312433"/>
            <a:ext cx="908594" cy="25128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105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normAutofit/>
          </a:bodyPr>
          <a:lstStyle/>
          <a:p>
            <a:r>
              <a:rPr lang="en-US" b="1" u="sng" dirty="0"/>
              <a:t>Case: Case 2-3 Staffing a Call Center (page 62):</a:t>
            </a:r>
          </a:p>
          <a:p>
            <a:r>
              <a:rPr lang="en-US" b="1" dirty="0">
                <a:solidFill>
                  <a:srgbClr val="C00000"/>
                </a:solidFill>
              </a:rPr>
              <a:t>STEP 0: </a:t>
            </a:r>
            <a:r>
              <a:rPr lang="en-US" dirty="0"/>
              <a:t>Know the problem and gather your data</a:t>
            </a:r>
          </a:p>
          <a:p>
            <a:pPr lvl="1"/>
            <a:r>
              <a:rPr lang="en-US" dirty="0"/>
              <a:t>We know the number of agents needed during each work-shift</a:t>
            </a:r>
          </a:p>
          <a:p>
            <a:pPr lvl="1"/>
            <a:r>
              <a:rPr lang="en-US" dirty="0"/>
              <a:t>Calculate how much each agent will cost depending on their start time</a:t>
            </a:r>
          </a:p>
          <a:p>
            <a:pPr lvl="2"/>
            <a:r>
              <a:rPr lang="en-US" dirty="0"/>
              <a:t>A full-time agent starting at 7am: Finishes by 3pm, so will cost 8*$10=$80</a:t>
            </a:r>
          </a:p>
          <a:p>
            <a:pPr lvl="2"/>
            <a:r>
              <a:rPr lang="en-US" dirty="0"/>
              <a:t>A full-time agent starting at 9am: Finishes by 5pm, so will cost 8*$10 =$80</a:t>
            </a:r>
          </a:p>
          <a:p>
            <a:pPr lvl="2"/>
            <a:r>
              <a:rPr lang="en-US" dirty="0"/>
              <a:t>A full-time agent starting at 11am: Finishes by 7pm, so will cost 6*$10+2*$12=$84</a:t>
            </a:r>
          </a:p>
          <a:p>
            <a:pPr lvl="2"/>
            <a:r>
              <a:rPr lang="en-US" dirty="0"/>
              <a:t>A full-time agent starting at 1pm: Finishes by 9pm, so will cost 4*$10+4*$12=$88</a:t>
            </a:r>
          </a:p>
          <a:p>
            <a:pPr lvl="2"/>
            <a:r>
              <a:rPr lang="en-US" dirty="0"/>
              <a:t>A part-time agent starting at 3pm: Finishes by 7pm, so will cost 2*$10+2*$12=$44</a:t>
            </a:r>
          </a:p>
          <a:p>
            <a:pPr lvl="2"/>
            <a:r>
              <a:rPr lang="en-US" dirty="0"/>
              <a:t>A part-time agent starting at 5pm: Finishes by 9pm, so will cost 4*$12=$48</a:t>
            </a:r>
          </a:p>
          <a:p>
            <a:pPr lvl="2"/>
            <a:endParaRPr lang="en-US" dirty="0"/>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31215516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normAutofit lnSpcReduction="10000"/>
          </a:bodyPr>
          <a:lstStyle/>
          <a:p>
            <a:r>
              <a:rPr lang="en-US" b="1" u="sng" dirty="0"/>
              <a:t>Case: Case 2-3 Staffing a Call Center (page 62):</a:t>
            </a:r>
          </a:p>
          <a:p>
            <a:r>
              <a:rPr lang="en-US" b="1" dirty="0">
                <a:solidFill>
                  <a:srgbClr val="C00000"/>
                </a:solidFill>
              </a:rPr>
              <a:t>STEP 1: </a:t>
            </a:r>
            <a:r>
              <a:rPr lang="en-US" dirty="0"/>
              <a:t>Decision variables</a:t>
            </a:r>
          </a:p>
          <a:p>
            <a:pPr lvl="1"/>
            <a:r>
              <a:rPr lang="en-US" dirty="0"/>
              <a:t>We want to determine the number of full-time and part-time agents to hire for each start time. Also, a full-time agent can start her shift with paperwork or answering calls</a:t>
            </a:r>
          </a:p>
          <a:p>
            <a:pPr lvl="1"/>
            <a:r>
              <a:rPr lang="en-US" dirty="0"/>
              <a:t>So, we have 8 decisions related to full-time agents</a:t>
            </a:r>
          </a:p>
          <a:p>
            <a:pPr lvl="1"/>
            <a:endParaRPr lang="en-US" dirty="0"/>
          </a:p>
          <a:p>
            <a:pPr lvl="1"/>
            <a:endParaRPr lang="en-US" dirty="0"/>
          </a:p>
          <a:p>
            <a:pPr lvl="1"/>
            <a:endParaRPr lang="en-US" dirty="0"/>
          </a:p>
          <a:p>
            <a:pPr lvl="1"/>
            <a:endParaRPr lang="en-US" dirty="0"/>
          </a:p>
          <a:p>
            <a:pPr lvl="8"/>
            <a:endParaRPr lang="en-US" dirty="0"/>
          </a:p>
          <a:p>
            <a:pPr lvl="1"/>
            <a:r>
              <a:rPr lang="en-US" dirty="0"/>
              <a:t>We have 2 decisions related to part-time agents</a:t>
            </a:r>
          </a:p>
          <a:p>
            <a:pPr marL="0" indent="0">
              <a:buNone/>
            </a:pPr>
            <a:r>
              <a:rPr lang="en-US" dirty="0"/>
              <a:t>                  		</a:t>
            </a:r>
            <a:endParaRPr lang="en-US" sz="2800" dirty="0"/>
          </a:p>
          <a:p>
            <a:pPr marL="400050" lvl="2" indent="0">
              <a:buNone/>
            </a:pPr>
            <a:endParaRPr lang="en-US" sz="2800" dirty="0"/>
          </a:p>
          <a:p>
            <a:pPr marL="400050" lvl="2" indent="0">
              <a:buNone/>
            </a:pPr>
            <a:endParaRPr lang="en-US" dirty="0"/>
          </a:p>
          <a:p>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546248018"/>
                  </p:ext>
                </p:extLst>
              </p:nvPr>
            </p:nvGraphicFramePr>
            <p:xfrm>
              <a:off x="478972" y="3286460"/>
              <a:ext cx="11354440" cy="1483360"/>
            </p:xfrm>
            <a:graphic>
              <a:graphicData uri="http://schemas.openxmlformats.org/drawingml/2006/table">
                <a:tbl>
                  <a:tblPr firstRow="1" bandRow="1">
                    <a:tableStyleId>{5940675A-B579-460E-94D1-54222C63F5DA}</a:tableStyleId>
                  </a:tblPr>
                  <a:tblGrid>
                    <a:gridCol w="5677220">
                      <a:extLst>
                        <a:ext uri="{9D8B030D-6E8A-4147-A177-3AD203B41FA5}">
                          <a16:colId xmlns:a16="http://schemas.microsoft.com/office/drawing/2014/main" val="20000"/>
                        </a:ext>
                      </a:extLst>
                    </a:gridCol>
                    <a:gridCol w="5677220">
                      <a:extLst>
                        <a:ext uri="{9D8B030D-6E8A-4147-A177-3AD203B41FA5}">
                          <a16:colId xmlns:a16="http://schemas.microsoft.com/office/drawing/2014/main" val="20001"/>
                        </a:ext>
                      </a:extLst>
                    </a:gridCol>
                  </a:tblGrid>
                  <a:tr h="370840">
                    <a:tc>
                      <a:txBody>
                        <a:bodyPr/>
                        <a:lstStyle/>
                        <a:p>
                          <a14:m>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𝑋</m:t>
                                  </m:r>
                                </m:e>
                                <m:sub>
                                  <m:r>
                                    <a:rPr lang="en-US" sz="1800" b="0" i="1" dirty="0" smtClean="0">
                                      <a:latin typeface="Cambria Math" panose="02040503050406030204" pitchFamily="18" charset="0"/>
                                    </a:rPr>
                                    <m:t>1</m:t>
                                  </m:r>
                                </m:sub>
                              </m:sSub>
                            </m:oMath>
                          </a14:m>
                          <a:r>
                            <a:rPr lang="en-US" sz="1800" dirty="0"/>
                            <a:t>: # of full-time agents starting 7am with answering calls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𝑌</m:t>
                                  </m:r>
                                </m:e>
                                <m:sub>
                                  <m:r>
                                    <a:rPr lang="en-US" i="1" dirty="0">
                                      <a:latin typeface="Cambria Math" panose="02040503050406030204" pitchFamily="18" charset="0"/>
                                    </a:rPr>
                                    <m:t>1</m:t>
                                  </m:r>
                                </m:sub>
                              </m:sSub>
                            </m:oMath>
                          </a14:m>
                          <a:r>
                            <a:rPr lang="en-US" dirty="0"/>
                            <a:t>: # of full-time agents starting 7am with paperwork</a:t>
                          </a:r>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2</m:t>
                                  </m:r>
                                </m:sub>
                              </m:sSub>
                            </m:oMath>
                          </a14:m>
                          <a:r>
                            <a:rPr lang="en-US" dirty="0"/>
                            <a:t>: # of full-time agents starting 9am with answering calls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2</m:t>
                                  </m:r>
                                </m:sub>
                              </m:sSub>
                            </m:oMath>
                          </a14:m>
                          <a:r>
                            <a:rPr lang="en-US" dirty="0"/>
                            <a:t>: # of full-time agents starting 9am with paperwork</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3</m:t>
                                  </m:r>
                                </m:sub>
                              </m:sSub>
                            </m:oMath>
                          </a14:m>
                          <a:r>
                            <a:rPr lang="en-US" dirty="0"/>
                            <a:t>: # of full-time agents starting 11am with answering calls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3</m:t>
                                  </m:r>
                                </m:sub>
                              </m:sSub>
                            </m:oMath>
                          </a14:m>
                          <a:r>
                            <a:rPr lang="en-US" dirty="0"/>
                            <a:t>: # of full-time agents starting 11am with paperwork</a:t>
                          </a:r>
                        </a:p>
                      </a:txBody>
                      <a:tcPr/>
                    </a:tc>
                    <a:extLst>
                      <a:ext uri="{0D108BD9-81ED-4DB2-BD59-A6C34878D82A}">
                        <a16:rowId xmlns:a16="http://schemas.microsoft.com/office/drawing/2014/main" val="10002"/>
                      </a:ext>
                    </a:extLst>
                  </a:tr>
                  <a:tr h="370840">
                    <a:tc>
                      <a:txBody>
                        <a:bodyPr/>
                        <a:lstStyle/>
                        <a:p>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4</m:t>
                                  </m:r>
                                </m:sub>
                              </m:sSub>
                            </m:oMath>
                          </a14:m>
                          <a:r>
                            <a:rPr lang="en-US" dirty="0"/>
                            <a:t>: # of full-time agents starting 1pm with answering calls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4</m:t>
                                  </m:r>
                                </m:sub>
                              </m:sSub>
                            </m:oMath>
                          </a14:m>
                          <a:r>
                            <a:rPr lang="en-US" dirty="0"/>
                            <a:t>: # of full-time agents starting 1pm with paperwork</a:t>
                          </a:r>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546248018"/>
                  </p:ext>
                </p:extLst>
              </p:nvPr>
            </p:nvGraphicFramePr>
            <p:xfrm>
              <a:off x="478972" y="3286460"/>
              <a:ext cx="11354440" cy="1483360"/>
            </p:xfrm>
            <a:graphic>
              <a:graphicData uri="http://schemas.openxmlformats.org/drawingml/2006/table">
                <a:tbl>
                  <a:tblPr firstRow="1" bandRow="1">
                    <a:tableStyleId>{5940675A-B579-460E-94D1-54222C63F5DA}</a:tableStyleId>
                  </a:tblPr>
                  <a:tblGrid>
                    <a:gridCol w="5677220">
                      <a:extLst>
                        <a:ext uri="{9D8B030D-6E8A-4147-A177-3AD203B41FA5}">
                          <a16:colId xmlns:a16="http://schemas.microsoft.com/office/drawing/2014/main" val="20000"/>
                        </a:ext>
                      </a:extLst>
                    </a:gridCol>
                    <a:gridCol w="5677220">
                      <a:extLst>
                        <a:ext uri="{9D8B030D-6E8A-4147-A177-3AD203B41FA5}">
                          <a16:colId xmlns:a16="http://schemas.microsoft.com/office/drawing/2014/main" val="20001"/>
                        </a:ext>
                      </a:extLst>
                    </a:gridCol>
                  </a:tblGrid>
                  <a:tr h="370840">
                    <a:tc>
                      <a:txBody>
                        <a:bodyPr/>
                        <a:lstStyle/>
                        <a:p>
                          <a:endParaRPr lang="en-US"/>
                        </a:p>
                      </a:txBody>
                      <a:tcPr>
                        <a:blipFill>
                          <a:blip r:embed="rId2"/>
                          <a:stretch>
                            <a:fillRect l="-107" t="-8197" r="-100215" b="-324590"/>
                          </a:stretch>
                        </a:blipFill>
                      </a:tcPr>
                    </a:tc>
                    <a:tc>
                      <a:txBody>
                        <a:bodyPr/>
                        <a:lstStyle/>
                        <a:p>
                          <a:endParaRPr lang="en-US"/>
                        </a:p>
                      </a:txBody>
                      <a:tcPr>
                        <a:blipFill>
                          <a:blip r:embed="rId2"/>
                          <a:stretch>
                            <a:fillRect l="-100107" t="-8197" r="-215" b="-324590"/>
                          </a:stretch>
                        </a:blipFill>
                      </a:tcPr>
                    </a:tc>
                    <a:extLst>
                      <a:ext uri="{0D108BD9-81ED-4DB2-BD59-A6C34878D82A}">
                        <a16:rowId xmlns:a16="http://schemas.microsoft.com/office/drawing/2014/main" val="10000"/>
                      </a:ext>
                    </a:extLst>
                  </a:tr>
                  <a:tr h="370840">
                    <a:tc>
                      <a:txBody>
                        <a:bodyPr/>
                        <a:lstStyle/>
                        <a:p>
                          <a:endParaRPr lang="en-US"/>
                        </a:p>
                      </a:txBody>
                      <a:tcPr>
                        <a:blipFill>
                          <a:blip r:embed="rId2"/>
                          <a:stretch>
                            <a:fillRect l="-107" t="-108197" r="-100215" b="-224590"/>
                          </a:stretch>
                        </a:blipFill>
                      </a:tcPr>
                    </a:tc>
                    <a:tc>
                      <a:txBody>
                        <a:bodyPr/>
                        <a:lstStyle/>
                        <a:p>
                          <a:endParaRPr lang="en-US"/>
                        </a:p>
                      </a:txBody>
                      <a:tcPr>
                        <a:blipFill>
                          <a:blip r:embed="rId2"/>
                          <a:stretch>
                            <a:fillRect l="-100107" t="-108197" r="-215" b="-224590"/>
                          </a:stretch>
                        </a:blipFill>
                      </a:tcPr>
                    </a:tc>
                    <a:extLst>
                      <a:ext uri="{0D108BD9-81ED-4DB2-BD59-A6C34878D82A}">
                        <a16:rowId xmlns:a16="http://schemas.microsoft.com/office/drawing/2014/main" val="10001"/>
                      </a:ext>
                    </a:extLst>
                  </a:tr>
                  <a:tr h="370840">
                    <a:tc>
                      <a:txBody>
                        <a:bodyPr/>
                        <a:lstStyle/>
                        <a:p>
                          <a:endParaRPr lang="en-US"/>
                        </a:p>
                      </a:txBody>
                      <a:tcPr>
                        <a:blipFill>
                          <a:blip r:embed="rId2"/>
                          <a:stretch>
                            <a:fillRect l="-107" t="-208197" r="-100215" b="-124590"/>
                          </a:stretch>
                        </a:blipFill>
                      </a:tcPr>
                    </a:tc>
                    <a:tc>
                      <a:txBody>
                        <a:bodyPr/>
                        <a:lstStyle/>
                        <a:p>
                          <a:endParaRPr lang="en-US"/>
                        </a:p>
                      </a:txBody>
                      <a:tcPr>
                        <a:blipFill>
                          <a:blip r:embed="rId2"/>
                          <a:stretch>
                            <a:fillRect l="-100107" t="-208197" r="-215" b="-124590"/>
                          </a:stretch>
                        </a:blipFill>
                      </a:tcPr>
                    </a:tc>
                    <a:extLst>
                      <a:ext uri="{0D108BD9-81ED-4DB2-BD59-A6C34878D82A}">
                        <a16:rowId xmlns:a16="http://schemas.microsoft.com/office/drawing/2014/main" val="10002"/>
                      </a:ext>
                    </a:extLst>
                  </a:tr>
                  <a:tr h="370840">
                    <a:tc>
                      <a:txBody>
                        <a:bodyPr/>
                        <a:lstStyle/>
                        <a:p>
                          <a:endParaRPr lang="en-US"/>
                        </a:p>
                      </a:txBody>
                      <a:tcPr>
                        <a:blipFill>
                          <a:blip r:embed="rId2"/>
                          <a:stretch>
                            <a:fillRect l="-107" t="-308197" r="-100215" b="-24590"/>
                          </a:stretch>
                        </a:blipFill>
                      </a:tcPr>
                    </a:tc>
                    <a:tc>
                      <a:txBody>
                        <a:bodyPr/>
                        <a:lstStyle/>
                        <a:p>
                          <a:endParaRPr lang="en-US"/>
                        </a:p>
                      </a:txBody>
                      <a:tcPr>
                        <a:blipFill>
                          <a:blip r:embed="rId2"/>
                          <a:stretch>
                            <a:fillRect l="-100107" t="-308197" r="-215" b="-24590"/>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892105425"/>
                  </p:ext>
                </p:extLst>
              </p:nvPr>
            </p:nvGraphicFramePr>
            <p:xfrm>
              <a:off x="2648858" y="5765002"/>
              <a:ext cx="4347028" cy="741680"/>
            </p:xfrm>
            <a:graphic>
              <a:graphicData uri="http://schemas.openxmlformats.org/drawingml/2006/table">
                <a:tbl>
                  <a:tblPr firstRow="1" bandRow="1">
                    <a:tableStyleId>{5940675A-B579-460E-94D1-54222C63F5DA}</a:tableStyleId>
                  </a:tblPr>
                  <a:tblGrid>
                    <a:gridCol w="4347028">
                      <a:extLst>
                        <a:ext uri="{9D8B030D-6E8A-4147-A177-3AD203B41FA5}">
                          <a16:colId xmlns:a16="http://schemas.microsoft.com/office/drawing/2014/main" val="20000"/>
                        </a:ext>
                      </a:extLst>
                    </a:gridCol>
                  </a:tblGrid>
                  <a:tr h="370840">
                    <a:tc>
                      <a:txBody>
                        <a:bodyPr/>
                        <a:lstStyle/>
                        <a:p>
                          <a14:m>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𝑍</m:t>
                                  </m:r>
                                </m:e>
                                <m:sub>
                                  <m:r>
                                    <a:rPr lang="en-US" sz="1800" b="0" i="1" dirty="0" smtClean="0">
                                      <a:latin typeface="Cambria Math" panose="02040503050406030204" pitchFamily="18" charset="0"/>
                                    </a:rPr>
                                    <m:t>1</m:t>
                                  </m:r>
                                </m:sub>
                              </m:sSub>
                            </m:oMath>
                          </a14:m>
                          <a:r>
                            <a:rPr lang="en-US" sz="1800" dirty="0"/>
                            <a:t>: # of part-time agents starting 3pm</a:t>
                          </a:r>
                          <a:endParaRPr lang="en-US" dirty="0"/>
                        </a:p>
                      </a:txBody>
                      <a:tcPr/>
                    </a:tc>
                    <a:extLst>
                      <a:ext uri="{0D108BD9-81ED-4DB2-BD59-A6C34878D82A}">
                        <a16:rowId xmlns:a16="http://schemas.microsoft.com/office/drawing/2014/main" val="10000"/>
                      </a:ext>
                    </a:extLst>
                  </a:tr>
                  <a:tr h="370840">
                    <a:tc>
                      <a:txBody>
                        <a:bodyPr/>
                        <a:lstStyle/>
                        <a:p>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𝑍</m:t>
                                  </m:r>
                                </m:e>
                                <m:sub>
                                  <m:r>
                                    <a:rPr lang="en-US" b="0" i="1" dirty="0" smtClean="0">
                                      <a:latin typeface="Cambria Math" panose="02040503050406030204" pitchFamily="18" charset="0"/>
                                    </a:rPr>
                                    <m:t>2</m:t>
                                  </m:r>
                                </m:sub>
                              </m:sSub>
                            </m:oMath>
                          </a14:m>
                          <a:r>
                            <a:rPr lang="en-US" dirty="0"/>
                            <a:t>: # of part-time agents starting 5pm</a:t>
                          </a:r>
                        </a:p>
                      </a:txBody>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892105425"/>
                  </p:ext>
                </p:extLst>
              </p:nvPr>
            </p:nvGraphicFramePr>
            <p:xfrm>
              <a:off x="2648858" y="5765002"/>
              <a:ext cx="4347028" cy="741680"/>
            </p:xfrm>
            <a:graphic>
              <a:graphicData uri="http://schemas.openxmlformats.org/drawingml/2006/table">
                <a:tbl>
                  <a:tblPr firstRow="1" bandRow="1">
                    <a:tableStyleId>{5940675A-B579-460E-94D1-54222C63F5DA}</a:tableStyleId>
                  </a:tblPr>
                  <a:tblGrid>
                    <a:gridCol w="4347028"/>
                  </a:tblGrid>
                  <a:tr h="370840">
                    <a:tc>
                      <a:txBody>
                        <a:bodyPr/>
                        <a:lstStyle/>
                        <a:p>
                          <a:endParaRPr lang="en-US"/>
                        </a:p>
                      </a:txBody>
                      <a:tcPr>
                        <a:blipFill rotWithShape="0">
                          <a:blip r:embed="rId3"/>
                          <a:stretch>
                            <a:fillRect l="-140" t="-8065" r="-280" b="-122581"/>
                          </a:stretch>
                        </a:blipFill>
                      </a:tcPr>
                    </a:tc>
                  </a:tr>
                  <a:tr h="370840">
                    <a:tc>
                      <a:txBody>
                        <a:bodyPr/>
                        <a:lstStyle/>
                        <a:p>
                          <a:endParaRPr lang="en-US"/>
                        </a:p>
                      </a:txBody>
                      <a:tcPr>
                        <a:blipFill rotWithShape="0">
                          <a:blip r:embed="rId3"/>
                          <a:stretch>
                            <a:fillRect l="-140" t="-109836" r="-280" b="-24590"/>
                          </a:stretch>
                        </a:blipFill>
                      </a:tcPr>
                    </a:tc>
                  </a:tr>
                </a:tbl>
              </a:graphicData>
            </a:graphic>
          </p:graphicFrame>
        </mc:Fallback>
      </mc:AlternateContent>
    </p:spTree>
    <p:extLst>
      <p:ext uri="{BB962C8B-B14F-4D97-AF65-F5344CB8AC3E}">
        <p14:creationId xmlns:p14="http://schemas.microsoft.com/office/powerpoint/2010/main" val="2622521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Case: Case 2-3 Staffing a Call Center (page 62):</a:t>
                </a:r>
              </a:p>
              <a:p>
                <a:r>
                  <a:rPr lang="en-US" b="1" dirty="0">
                    <a:solidFill>
                      <a:srgbClr val="C00000"/>
                    </a:solidFill>
                  </a:rPr>
                  <a:t>STEP 2: </a:t>
                </a:r>
                <a:r>
                  <a:rPr lang="en-US" dirty="0"/>
                  <a:t>Define the objective and the objective function</a:t>
                </a:r>
              </a:p>
              <a:p>
                <a:pPr lvl="1"/>
                <a:r>
                  <a:rPr lang="en-US" dirty="0"/>
                  <a:t>Objective: Minimization</a:t>
                </a:r>
              </a:p>
              <a:p>
                <a:pPr lvl="1"/>
                <a:r>
                  <a:rPr lang="en-US" dirty="0"/>
                  <a:t>Objective function: Total cost of the agents</a:t>
                </a:r>
              </a:p>
              <a:p>
                <a:pPr lvl="2"/>
                <a:r>
                  <a:rPr lang="en-US" dirty="0"/>
                  <a:t>We know how much each agent starting at each shift will cost</a:t>
                </a:r>
              </a:p>
              <a:p>
                <a:pPr lvl="2"/>
                <a:r>
                  <a:rPr lang="en-US" dirty="0"/>
                  <a:t>We know the # of agents starting at each shift as a function of our decision variables</a:t>
                </a:r>
              </a:p>
              <a:p>
                <a:pPr lvl="3"/>
                <a:r>
                  <a:rPr lang="en-US" dirty="0"/>
                  <a:t>For instance: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1</m:t>
                        </m:r>
                      </m:sub>
                    </m:sSub>
                    <m:r>
                      <a:rPr lang="en-US" b="0" i="1" dirty="0" smtClean="0">
                        <a:latin typeface="Cambria Math" panose="02040503050406030204" pitchFamily="18" charset="0"/>
                      </a:rPr>
                      <m:t>)</m:t>
                    </m:r>
                  </m:oMath>
                </a14:m>
                <a:r>
                  <a:rPr lang="en-US" dirty="0"/>
                  <a:t> is the # of full-time agents starting at 7am</a:t>
                </a:r>
              </a:p>
              <a:p>
                <a:pPr lvl="2"/>
                <a:r>
                  <a:rPr lang="en-US" dirty="0"/>
                  <a:t>Then, we can write the total cost function</a:t>
                </a:r>
              </a:p>
              <a:p>
                <a:pPr lvl="2"/>
                <a:endParaRPr lang="en-US" dirty="0"/>
              </a:p>
              <a:p>
                <a:pPr marL="457200" lvl="1" indent="0">
                  <a:buNone/>
                </a:pPr>
                <a:r>
                  <a:rPr lang="en-US" dirty="0"/>
                  <a:t>	</a:t>
                </a:r>
                <a14:m>
                  <m:oMath xmlns:m="http://schemas.openxmlformats.org/officeDocument/2006/math">
                    <m:r>
                      <a:rPr lang="en-US" i="1" dirty="0">
                        <a:latin typeface="Cambria Math" panose="02040503050406030204" pitchFamily="18" charset="0"/>
                      </a:rPr>
                      <m:t>𝐶𝑜𝑠𝑡</m:t>
                    </m:r>
                    <m:r>
                      <a:rPr lang="en-US" i="1" dirty="0">
                        <a:latin typeface="Cambria Math" panose="02040503050406030204" pitchFamily="18" charset="0"/>
                      </a:rPr>
                      <m:t> =80</m:t>
                    </m:r>
                    <m:sSub>
                      <m:sSubPr>
                        <m:ctrlPr>
                          <a:rPr lang="en-US" i="1" dirty="0">
                            <a:latin typeface="Cambria Math" panose="02040503050406030204" pitchFamily="18" charset="0"/>
                          </a:rPr>
                        </m:ctrlPr>
                      </m:sSubPr>
                      <m:e>
                        <m:r>
                          <a:rPr lang="en-US" b="0" i="1" dirty="0" smtClean="0">
                            <a:latin typeface="Cambria Math" panose="02040503050406030204" pitchFamily="18" charset="0"/>
                          </a:rPr>
                          <m:t>(</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𝑌</m:t>
                        </m:r>
                      </m:e>
                      <m:sub>
                        <m:r>
                          <a:rPr lang="en-US" i="1" dirty="0">
                            <a:latin typeface="Cambria Math" panose="02040503050406030204" pitchFamily="18" charset="0"/>
                          </a:rPr>
                          <m:t>1</m:t>
                        </m:r>
                      </m:sub>
                    </m:sSub>
                    <m:r>
                      <a:rPr lang="en-US" b="0" i="1" dirty="0" smtClean="0">
                        <a:latin typeface="Cambria Math" panose="02040503050406030204" pitchFamily="18" charset="0"/>
                      </a:rPr>
                      <m:t>)+</m:t>
                    </m:r>
                    <m:r>
                      <a:rPr lang="en-US" i="1" dirty="0">
                        <a:latin typeface="Cambria Math" panose="02040503050406030204" pitchFamily="18" charset="0"/>
                      </a:rPr>
                      <m:t>80</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b="0" i="1" dirty="0" smtClean="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2</m:t>
                        </m:r>
                      </m:sub>
                    </m:sSub>
                    <m:r>
                      <a:rPr lang="en-US" i="1" dirty="0">
                        <a:latin typeface="Cambria Math" panose="02040503050406030204" pitchFamily="18" charset="0"/>
                      </a:rPr>
                      <m:t>)</m:t>
                    </m:r>
                    <m:r>
                      <a:rPr lang="en-US" b="0" i="1" dirty="0" smtClean="0">
                        <a:latin typeface="Cambria Math" panose="02040503050406030204" pitchFamily="18" charset="0"/>
                      </a:rPr>
                      <m:t>+</m:t>
                    </m:r>
                    <m:r>
                      <a:rPr lang="en-US" i="1" dirty="0">
                        <a:latin typeface="Cambria Math" panose="02040503050406030204" pitchFamily="18" charset="0"/>
                      </a:rPr>
                      <m:t>8</m:t>
                    </m:r>
                    <m:r>
                      <a:rPr lang="en-US" b="0" i="1" dirty="0" smtClean="0">
                        <a:latin typeface="Cambria Math" panose="02040503050406030204" pitchFamily="18" charset="0"/>
                      </a:rPr>
                      <m:t>4</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b="0" i="1" dirty="0" smtClean="0">
                            <a:latin typeface="Cambria Math" panose="02040503050406030204" pitchFamily="18" charset="0"/>
                          </a:rPr>
                          <m:t>3</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3</m:t>
                        </m:r>
                      </m:sub>
                    </m:sSub>
                    <m:r>
                      <a:rPr lang="en-US" i="1" dirty="0">
                        <a:latin typeface="Cambria Math" panose="02040503050406030204" pitchFamily="18" charset="0"/>
                      </a:rPr>
                      <m:t>)+8</m:t>
                    </m:r>
                    <m:r>
                      <a:rPr lang="en-US" b="0" i="1" dirty="0" smtClean="0">
                        <a:latin typeface="Cambria Math" panose="02040503050406030204" pitchFamily="18" charset="0"/>
                      </a:rPr>
                      <m:t>8</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b="0" i="1" dirty="0" smtClean="0">
                            <a:latin typeface="Cambria Math" panose="02040503050406030204" pitchFamily="18" charset="0"/>
                          </a:rPr>
                          <m:t>4</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4</m:t>
                        </m:r>
                      </m:sub>
                    </m:sSub>
                    <m:r>
                      <a:rPr lang="en-US" i="1" dirty="0">
                        <a:latin typeface="Cambria Math" panose="02040503050406030204" pitchFamily="18" charset="0"/>
                      </a:rPr>
                      <m:t>)</m:t>
                    </m:r>
                    <m:r>
                      <a:rPr lang="en-US" b="0" i="1" dirty="0" smtClean="0">
                        <a:latin typeface="Cambria Math" panose="02040503050406030204" pitchFamily="18" charset="0"/>
                      </a:rPr>
                      <m:t>+44</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𝑍</m:t>
                        </m:r>
                      </m:e>
                      <m:sub>
                        <m:r>
                          <a:rPr lang="en-US" i="1" dirty="0">
                            <a:latin typeface="Cambria Math" panose="02040503050406030204" pitchFamily="18" charset="0"/>
                          </a:rPr>
                          <m:t>1</m:t>
                        </m:r>
                      </m:sub>
                    </m:sSub>
                    <m:r>
                      <a:rPr lang="en-US" b="0" i="1" dirty="0" smtClean="0">
                        <a:latin typeface="Cambria Math" panose="02040503050406030204" pitchFamily="18" charset="0"/>
                      </a:rPr>
                      <m:t>+</m:t>
                    </m:r>
                    <m:r>
                      <a:rPr lang="en-US" i="1" dirty="0">
                        <a:latin typeface="Cambria Math" panose="02040503050406030204" pitchFamily="18" charset="0"/>
                      </a:rPr>
                      <m:t>44</m:t>
                    </m:r>
                    <m:sSub>
                      <m:sSubPr>
                        <m:ctrlPr>
                          <a:rPr lang="en-US" i="1" dirty="0">
                            <a:latin typeface="Cambria Math" panose="02040503050406030204" pitchFamily="18" charset="0"/>
                          </a:rPr>
                        </m:ctrlPr>
                      </m:sSubPr>
                      <m:e>
                        <m:r>
                          <a:rPr lang="en-US" i="1" dirty="0">
                            <a:latin typeface="Cambria Math" panose="02040503050406030204" pitchFamily="18" charset="0"/>
                          </a:rPr>
                          <m:t>𝑍</m:t>
                        </m:r>
                      </m:e>
                      <m:sub>
                        <m:r>
                          <a:rPr lang="en-US" b="0" i="1" dirty="0" smtClean="0">
                            <a:latin typeface="Cambria Math" panose="02040503050406030204" pitchFamily="18" charset="0"/>
                          </a:rPr>
                          <m:t>2</m:t>
                        </m:r>
                      </m:sub>
                    </m:sSub>
                  </m:oMath>
                </a14:m>
                <a:r>
                  <a:rPr lang="en-US" dirty="0"/>
                  <a:t>		</a:t>
                </a:r>
                <a:endParaRPr lang="en-US" sz="2800" dirty="0"/>
              </a:p>
              <a:p>
                <a:pPr marL="400050" lvl="2" indent="0">
                  <a:buNone/>
                </a:pPr>
                <a:endParaRPr lang="en-US" sz="2800" dirty="0"/>
              </a:p>
              <a:p>
                <a:pPr marL="400050" lvl="2"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7308444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lstStyle/>
          <a:p>
            <a:r>
              <a:rPr lang="en-US" b="1" u="sng" dirty="0"/>
              <a:t>Case: Case 2-3 Staffing a Call Center (page 62):</a:t>
            </a:r>
          </a:p>
          <a:p>
            <a:r>
              <a:rPr lang="en-US" b="1" dirty="0">
                <a:solidFill>
                  <a:srgbClr val="C00000"/>
                </a:solidFill>
              </a:rPr>
              <a:t>STEP 3: </a:t>
            </a:r>
            <a:r>
              <a:rPr lang="en-US" dirty="0"/>
              <a:t>Define the constraints</a:t>
            </a:r>
          </a:p>
          <a:p>
            <a:pPr lvl="1"/>
            <a:r>
              <a:rPr lang="en-US" dirty="0"/>
              <a:t>The main restriction we have is that the number of agents available to answer calls during any 2-hour work shift should be at least what is needed during that work shift</a:t>
            </a:r>
          </a:p>
          <a:p>
            <a:pPr lvl="1"/>
            <a:r>
              <a:rPr lang="en-US" dirty="0"/>
              <a:t>For instance, let’s consider 11am-1pm, when there should be at least 12 agents answering calls</a:t>
            </a:r>
          </a:p>
          <a:p>
            <a:pPr lvl="2"/>
            <a:r>
              <a:rPr lang="en-US" dirty="0"/>
              <a:t>Full-time agents starting 7am with answering calls will be answering calls during 11am-1pm because each will answer call 7am-9am, paperwork 9am-11am, answer calls 11am-1pm, paperwork 1pm-3pm</a:t>
            </a:r>
          </a:p>
          <a:p>
            <a:pPr lvl="2"/>
            <a:r>
              <a:rPr lang="en-US" dirty="0"/>
              <a:t>However, full-time agents starting 7am with paperwork will be doing paperwork during 11am-1pm, so they will not be available for answering calls</a:t>
            </a:r>
          </a:p>
          <a:p>
            <a:pPr lvl="2"/>
            <a:r>
              <a:rPr lang="en-US" dirty="0"/>
              <a:t>Similarly, it can be discussed that full-time agents starting 9am with answering calls will not be available to answer calls during 11am-1pm; however, full-time agents starting 9am with paperwork will be available to answer calls during 11am-1pm </a:t>
            </a:r>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1773045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p:txBody>
          <a:bodyPr/>
          <a:lstStyle/>
          <a:p>
            <a:r>
              <a:rPr lang="en-US" b="1" u="sng" dirty="0"/>
              <a:t>Case: Case 2-3 Staffing a Call Center (page 62):</a:t>
            </a:r>
          </a:p>
          <a:p>
            <a:r>
              <a:rPr lang="en-US" b="1" dirty="0">
                <a:solidFill>
                  <a:srgbClr val="C00000"/>
                </a:solidFill>
              </a:rPr>
              <a:t>STEP 3: </a:t>
            </a:r>
            <a:r>
              <a:rPr lang="en-US" dirty="0"/>
              <a:t>Define the constraints</a:t>
            </a:r>
          </a:p>
          <a:p>
            <a:pPr lvl="1"/>
            <a:r>
              <a:rPr lang="en-US" dirty="0"/>
              <a:t>Following the same logic, we can construct the following binary matrix</a:t>
            </a:r>
          </a:p>
          <a:p>
            <a:pPr marL="400050" lvl="2" indent="0">
              <a:buNone/>
            </a:pPr>
            <a:endParaRPr lang="en-US" sz="2800" dirty="0"/>
          </a:p>
          <a:p>
            <a:pPr marL="400050" lvl="2" indent="0">
              <a:buNone/>
            </a:pPr>
            <a:endParaRPr lang="en-US" dirty="0"/>
          </a:p>
          <a:p>
            <a:endParaRPr lang="en-US" dirty="0"/>
          </a:p>
        </p:txBody>
      </p:sp>
      <p:pic>
        <p:nvPicPr>
          <p:cNvPr id="7" name="Picture 6"/>
          <p:cNvPicPr>
            <a:picLocks noChangeAspect="1"/>
          </p:cNvPicPr>
          <p:nvPr/>
        </p:nvPicPr>
        <p:blipFill>
          <a:blip r:embed="rId2"/>
          <a:stretch>
            <a:fillRect/>
          </a:stretch>
        </p:blipFill>
        <p:spPr>
          <a:xfrm>
            <a:off x="998019" y="2746178"/>
            <a:ext cx="9301971" cy="2537022"/>
          </a:xfrm>
          <a:prstGeom prst="rect">
            <a:avLst/>
          </a:prstGeom>
        </p:spPr>
      </p:pic>
    </p:spTree>
    <p:extLst>
      <p:ext uri="{BB962C8B-B14F-4D97-AF65-F5344CB8AC3E}">
        <p14:creationId xmlns:p14="http://schemas.microsoft.com/office/powerpoint/2010/main" val="2547827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836998" cy="4864530"/>
              </a:xfrm>
            </p:spPr>
            <p:txBody>
              <a:bodyPr>
                <a:normAutofit lnSpcReduction="10000"/>
              </a:bodyPr>
              <a:lstStyle/>
              <a:p>
                <a:r>
                  <a:rPr lang="en-US" b="1" u="sng" dirty="0"/>
                  <a:t>Case: Case 2-3 Staffing a Call Center (page 62):</a:t>
                </a:r>
              </a:p>
              <a:p>
                <a:r>
                  <a:rPr lang="en-US" b="1" dirty="0">
                    <a:solidFill>
                      <a:srgbClr val="C00000"/>
                    </a:solidFill>
                  </a:rPr>
                  <a:t>STEP 3: </a:t>
                </a:r>
                <a:r>
                  <a:rPr lang="en-US" dirty="0"/>
                  <a:t>Define the constraints</a:t>
                </a:r>
              </a:p>
              <a:p>
                <a:pPr lvl="1"/>
                <a:endParaRPr lang="en-US" dirty="0"/>
              </a:p>
              <a:p>
                <a:pPr lvl="1"/>
                <a:endParaRPr lang="en-US" dirty="0"/>
              </a:p>
              <a:p>
                <a:pPr lvl="1"/>
                <a:r>
                  <a:rPr lang="en-US" dirty="0"/>
                  <a:t>Using the binary matrix, we can write the constraint for each work shift as follows:</a:t>
                </a:r>
              </a:p>
              <a:p>
                <a:pPr lvl="1"/>
                <a:r>
                  <a:rPr lang="en-US" sz="2000" dirty="0"/>
                  <a:t>For 7am-9am: total # of agents available to answer calls is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1</m:t>
                        </m:r>
                      </m:sub>
                    </m:sSub>
                  </m:oMath>
                </a14:m>
                <a:r>
                  <a:rPr lang="en-US" sz="2000" dirty="0"/>
                  <a:t>. Thus,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1</m:t>
                        </m:r>
                      </m:sub>
                    </m:sSub>
                    <m:r>
                      <a:rPr lang="en-US" sz="2000" b="0" i="1" dirty="0" smtClean="0">
                        <a:latin typeface="Cambria Math" panose="02040503050406030204" pitchFamily="18" charset="0"/>
                      </a:rPr>
                      <m:t>≥</m:t>
                    </m:r>
                  </m:oMath>
                </a14:m>
                <a:r>
                  <a:rPr lang="en-US" sz="2000" dirty="0"/>
                  <a:t>6</a:t>
                </a:r>
              </a:p>
              <a:p>
                <a:pPr lvl="1"/>
                <a:r>
                  <a:rPr lang="en-US" sz="2000" dirty="0"/>
                  <a:t>For 9am-11am: total # of agents available to answer calls is Y</a:t>
                </a:r>
                <a:r>
                  <a:rPr lang="en-US" sz="2000" baseline="-25000" dirty="0"/>
                  <a:t>1</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b="0" i="1" dirty="0" smtClean="0">
                            <a:latin typeface="Cambria Math" panose="02040503050406030204" pitchFamily="18" charset="0"/>
                          </a:rPr>
                          <m:t>2</m:t>
                        </m:r>
                      </m:sub>
                    </m:sSub>
                  </m:oMath>
                </a14:m>
                <a:r>
                  <a:rPr lang="en-US" sz="2000" dirty="0"/>
                  <a:t>. Thus, Y</a:t>
                </a:r>
                <a:r>
                  <a:rPr lang="en-US" sz="2000" baseline="-25000" dirty="0"/>
                  <a:t>1</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2</m:t>
                        </m:r>
                      </m:sub>
                    </m:sSub>
                  </m:oMath>
                </a14:m>
                <a:r>
                  <a:rPr lang="en-US" sz="2000" dirty="0"/>
                  <a:t> </a:t>
                </a:r>
                <a14:m>
                  <m:oMath xmlns:m="http://schemas.openxmlformats.org/officeDocument/2006/math">
                    <m:r>
                      <a:rPr lang="en-US" sz="2000" i="1" dirty="0">
                        <a:latin typeface="Cambria Math" panose="02040503050406030204" pitchFamily="18" charset="0"/>
                      </a:rPr>
                      <m:t>≥ </m:t>
                    </m:r>
                  </m:oMath>
                </a14:m>
                <a:r>
                  <a:rPr lang="en-US" sz="2000" dirty="0"/>
                  <a:t>12</a:t>
                </a:r>
              </a:p>
              <a:p>
                <a:pPr lvl="1"/>
                <a:r>
                  <a:rPr lang="en-US" sz="2000" dirty="0"/>
                  <a:t>For 11am-1pm: total # of agents available to answer calls is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1</m:t>
                        </m:r>
                      </m:sub>
                    </m:sSub>
                  </m:oMath>
                </a14:m>
                <a:r>
                  <a:rPr lang="en-US" sz="2000" dirty="0"/>
                  <a:t>+Y</a:t>
                </a:r>
                <a:r>
                  <a:rPr lang="en-US" sz="2000" baseline="-25000" dirty="0"/>
                  <a:t>2</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b="0" i="1" dirty="0" smtClean="0">
                            <a:latin typeface="Cambria Math" panose="02040503050406030204" pitchFamily="18" charset="0"/>
                          </a:rPr>
                          <m:t>3</m:t>
                        </m:r>
                      </m:sub>
                    </m:sSub>
                  </m:oMath>
                </a14:m>
                <a:r>
                  <a:rPr lang="en-US" sz="2000" dirty="0"/>
                  <a:t>. Thus,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1</m:t>
                        </m:r>
                      </m:sub>
                    </m:sSub>
                  </m:oMath>
                </a14:m>
                <a:r>
                  <a:rPr lang="en-US" sz="2000" dirty="0"/>
                  <a:t>+Y</a:t>
                </a:r>
                <a:r>
                  <a:rPr lang="en-US" sz="2000" baseline="-25000" dirty="0"/>
                  <a:t>2</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3</m:t>
                        </m:r>
                      </m:sub>
                    </m:sSub>
                  </m:oMath>
                </a14:m>
                <a:r>
                  <a:rPr lang="en-US" sz="2000" dirty="0"/>
                  <a:t> </a:t>
                </a:r>
                <a14:m>
                  <m:oMath xmlns:m="http://schemas.openxmlformats.org/officeDocument/2006/math">
                    <m:r>
                      <a:rPr lang="en-US" sz="2000" i="1" dirty="0">
                        <a:latin typeface="Cambria Math" panose="02040503050406030204" pitchFamily="18" charset="0"/>
                      </a:rPr>
                      <m:t>≥ </m:t>
                    </m:r>
                  </m:oMath>
                </a14:m>
                <a:r>
                  <a:rPr lang="en-US" sz="2000" dirty="0"/>
                  <a:t>10</a:t>
                </a:r>
              </a:p>
              <a:p>
                <a:pPr lvl="1"/>
                <a:r>
                  <a:rPr lang="en-US" sz="2000" dirty="0"/>
                  <a:t>For 1pm-3pm: total # of agents available to answer calls is Y</a:t>
                </a:r>
                <a:r>
                  <a:rPr lang="en-US" sz="2000" baseline="-25000" dirty="0"/>
                  <a:t>1</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2</m:t>
                        </m:r>
                      </m:sub>
                    </m:sSub>
                  </m:oMath>
                </a14:m>
                <a:r>
                  <a:rPr lang="en-US" sz="2000" dirty="0"/>
                  <a:t>+Y</a:t>
                </a:r>
                <a:r>
                  <a:rPr lang="en-US" sz="2000" baseline="-25000" dirty="0"/>
                  <a:t>3</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b="0" i="1" dirty="0" smtClean="0">
                            <a:latin typeface="Cambria Math" panose="02040503050406030204" pitchFamily="18" charset="0"/>
                          </a:rPr>
                          <m:t>4</m:t>
                        </m:r>
                      </m:sub>
                    </m:sSub>
                  </m:oMath>
                </a14:m>
                <a:r>
                  <a:rPr lang="en-US" sz="2000" dirty="0"/>
                  <a:t>. Thus, Y</a:t>
                </a:r>
                <a:r>
                  <a:rPr lang="en-US" sz="2000" baseline="-25000" dirty="0"/>
                  <a:t>1</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2</m:t>
                        </m:r>
                      </m:sub>
                    </m:sSub>
                  </m:oMath>
                </a14:m>
                <a:r>
                  <a:rPr lang="en-US" sz="2000" dirty="0"/>
                  <a:t>+Y</a:t>
                </a:r>
                <a:r>
                  <a:rPr lang="en-US" sz="2000" baseline="-25000" dirty="0"/>
                  <a:t>3</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4</m:t>
                        </m:r>
                      </m:sub>
                    </m:sSub>
                  </m:oMath>
                </a14:m>
                <a:r>
                  <a:rPr lang="en-US" sz="2000" dirty="0"/>
                  <a:t> </a:t>
                </a:r>
                <a14:m>
                  <m:oMath xmlns:m="http://schemas.openxmlformats.org/officeDocument/2006/math">
                    <m:r>
                      <a:rPr lang="en-US" sz="2000" i="1" dirty="0">
                        <a:latin typeface="Cambria Math" panose="02040503050406030204" pitchFamily="18" charset="0"/>
                      </a:rPr>
                      <m:t>≥ </m:t>
                    </m:r>
                  </m:oMath>
                </a14:m>
                <a:r>
                  <a:rPr lang="en-US" sz="2000" dirty="0"/>
                  <a:t>13</a:t>
                </a:r>
              </a:p>
              <a:p>
                <a:pPr lvl="1"/>
                <a:r>
                  <a:rPr lang="en-US" sz="2000" dirty="0"/>
                  <a:t>For 3pm-5pm: total # of agents available to answer calls is Y</a:t>
                </a:r>
                <a:r>
                  <a:rPr lang="en-US" sz="2000" baseline="-25000" dirty="0"/>
                  <a:t>2</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3</m:t>
                        </m:r>
                      </m:sub>
                    </m:sSub>
                  </m:oMath>
                </a14:m>
                <a:r>
                  <a:rPr lang="en-US" sz="2000" dirty="0"/>
                  <a:t>+Y</a:t>
                </a:r>
                <a:r>
                  <a:rPr lang="en-US" sz="2000" baseline="-25000" dirty="0"/>
                  <a:t>4</a:t>
                </a:r>
                <a:r>
                  <a:rPr lang="en-US" sz="2000" dirty="0"/>
                  <a:t>+Z</a:t>
                </a:r>
                <a:r>
                  <a:rPr lang="en-US" sz="2000" baseline="-25000" dirty="0"/>
                  <a:t>1</a:t>
                </a:r>
                <a:r>
                  <a:rPr lang="en-US" sz="2000" dirty="0"/>
                  <a:t>. Thus, Y</a:t>
                </a:r>
                <a:r>
                  <a:rPr lang="en-US" sz="2000" baseline="-25000" dirty="0"/>
                  <a:t>2</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3</m:t>
                        </m:r>
                      </m:sub>
                    </m:sSub>
                  </m:oMath>
                </a14:m>
                <a:r>
                  <a:rPr lang="en-US" sz="2000" dirty="0"/>
                  <a:t>+Y</a:t>
                </a:r>
                <a:r>
                  <a:rPr lang="en-US" sz="2000" baseline="-25000" dirty="0"/>
                  <a:t>4</a:t>
                </a:r>
                <a:r>
                  <a:rPr lang="en-US" sz="2000" dirty="0"/>
                  <a:t>+Z</a:t>
                </a:r>
                <a:r>
                  <a:rPr lang="en-US" sz="2000" baseline="-25000" dirty="0"/>
                  <a:t>1</a:t>
                </a:r>
                <a:r>
                  <a:rPr lang="en-US" sz="2000" dirty="0"/>
                  <a:t> </a:t>
                </a:r>
                <a14:m>
                  <m:oMath xmlns:m="http://schemas.openxmlformats.org/officeDocument/2006/math">
                    <m:r>
                      <a:rPr lang="en-US" sz="2000" i="1" dirty="0">
                        <a:latin typeface="Cambria Math" panose="02040503050406030204" pitchFamily="18" charset="0"/>
                      </a:rPr>
                      <m:t>≥ </m:t>
                    </m:r>
                  </m:oMath>
                </a14:m>
                <a:r>
                  <a:rPr lang="en-US" sz="2000" dirty="0"/>
                  <a:t>11</a:t>
                </a:r>
              </a:p>
              <a:p>
                <a:pPr lvl="1"/>
                <a:r>
                  <a:rPr lang="en-US" sz="2000" dirty="0"/>
                  <a:t>For 5pm-7pm: total # of agents available to answer calls is Y3+</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4</m:t>
                        </m:r>
                      </m:sub>
                    </m:sSub>
                  </m:oMath>
                </a14:m>
                <a:r>
                  <a:rPr lang="en-US" sz="2000" dirty="0"/>
                  <a:t>+Z1+Z2. 	Thus, Y</a:t>
                </a:r>
                <a:r>
                  <a:rPr lang="en-US" sz="2000" baseline="-25000" dirty="0"/>
                  <a:t>3</a:t>
                </a:r>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4</m:t>
                        </m:r>
                      </m:sub>
                    </m:sSub>
                  </m:oMath>
                </a14:m>
                <a:r>
                  <a:rPr lang="en-US" sz="2000" dirty="0"/>
                  <a:t>+Z</a:t>
                </a:r>
                <a:r>
                  <a:rPr lang="en-US" sz="2000" baseline="-25000" dirty="0"/>
                  <a:t>1</a:t>
                </a:r>
                <a:r>
                  <a:rPr lang="en-US" sz="2000" dirty="0"/>
                  <a:t>+Z</a:t>
                </a:r>
                <a:r>
                  <a:rPr lang="en-US" sz="2000" baseline="-25000" dirty="0"/>
                  <a:t>2</a:t>
                </a:r>
                <a:r>
                  <a:rPr lang="en-US" sz="2000" dirty="0"/>
                  <a:t> </a:t>
                </a:r>
                <a14:m>
                  <m:oMath xmlns:m="http://schemas.openxmlformats.org/officeDocument/2006/math">
                    <m:r>
                      <a:rPr lang="en-US" sz="2000" i="1" dirty="0">
                        <a:latin typeface="Cambria Math" panose="02040503050406030204" pitchFamily="18" charset="0"/>
                      </a:rPr>
                      <m:t>≥ </m:t>
                    </m:r>
                  </m:oMath>
                </a14:m>
                <a:r>
                  <a:rPr lang="en-US" sz="2000" dirty="0"/>
                  <a:t>5</a:t>
                </a:r>
              </a:p>
              <a:p>
                <a:pPr lvl="1"/>
                <a:r>
                  <a:rPr lang="en-US" sz="2000" dirty="0"/>
                  <a:t>For 7pm-9pm: total # of agents available to answer calls is Y</a:t>
                </a:r>
                <a:r>
                  <a:rPr lang="en-US" sz="2000" baseline="-25000" dirty="0"/>
                  <a:t>4</a:t>
                </a:r>
                <a:r>
                  <a:rPr lang="en-US" sz="2000" dirty="0"/>
                  <a:t>+Z</a:t>
                </a:r>
                <a:r>
                  <a:rPr lang="en-US" sz="2000" baseline="-25000" dirty="0"/>
                  <a:t>2</a:t>
                </a:r>
                <a:r>
                  <a:rPr lang="en-US" sz="2000" dirty="0"/>
                  <a:t>. Thus, Y</a:t>
                </a:r>
                <a:r>
                  <a:rPr lang="en-US" sz="2000" baseline="-25000" dirty="0"/>
                  <a:t>4</a:t>
                </a:r>
                <a:r>
                  <a:rPr lang="en-US" sz="2000" dirty="0"/>
                  <a:t>+Z</a:t>
                </a:r>
                <a:r>
                  <a:rPr lang="en-US" sz="2000" baseline="-25000" dirty="0"/>
                  <a:t>2</a:t>
                </a:r>
                <a:r>
                  <a:rPr lang="en-US" sz="2000" dirty="0"/>
                  <a:t> </a:t>
                </a:r>
                <a14:m>
                  <m:oMath xmlns:m="http://schemas.openxmlformats.org/officeDocument/2006/math">
                    <m:r>
                      <a:rPr lang="en-US" sz="2000" i="1" dirty="0">
                        <a:latin typeface="Cambria Math" panose="02040503050406030204" pitchFamily="18" charset="0"/>
                      </a:rPr>
                      <m:t>≥ </m:t>
                    </m:r>
                  </m:oMath>
                </a14:m>
                <a:r>
                  <a:rPr lang="en-US" sz="2000" dirty="0"/>
                  <a:t>2</a:t>
                </a:r>
              </a:p>
              <a:p>
                <a:pPr lvl="1"/>
                <a:endParaRPr lang="en-US" dirty="0"/>
              </a:p>
              <a:p>
                <a:pPr lvl="1"/>
                <a:r>
                  <a:rPr lang="en-US" dirty="0"/>
                  <a:t>Do not forget the non-negativity constraints!</a:t>
                </a:r>
              </a:p>
              <a:p>
                <a:pPr lvl="3"/>
                <a:endParaRPr lang="en-US" dirty="0"/>
              </a:p>
              <a:p>
                <a:pPr marL="400050" lvl="2" indent="0">
                  <a:buNone/>
                </a:pPr>
                <a:endParaRPr lang="en-US" sz="2800" dirty="0"/>
              </a:p>
              <a:p>
                <a:pPr marL="400050" lvl="2"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836998" cy="4864530"/>
              </a:xfrm>
              <a:blipFill>
                <a:blip r:embed="rId2"/>
                <a:stretch>
                  <a:fillRect l="-927" t="-2757" b="-2381"/>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6476021" y="1702084"/>
            <a:ext cx="4614111" cy="1258454"/>
          </a:xfrm>
          <a:prstGeom prst="rect">
            <a:avLst/>
          </a:prstGeom>
        </p:spPr>
      </p:pic>
    </p:spTree>
    <p:extLst>
      <p:ext uri="{BB962C8B-B14F-4D97-AF65-F5344CB8AC3E}">
        <p14:creationId xmlns:p14="http://schemas.microsoft.com/office/powerpoint/2010/main" val="1354559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a:xfrm>
            <a:off x="355002" y="1312432"/>
            <a:ext cx="11836998" cy="5461591"/>
          </a:xfrm>
        </p:spPr>
        <p:txBody>
          <a:bodyPr>
            <a:normAutofit/>
          </a:bodyPr>
          <a:lstStyle/>
          <a:p>
            <a:r>
              <a:rPr lang="en-US" b="1" u="sng" dirty="0"/>
              <a:t>Case: Case 2-3 Staffing a Call Center (page 62):</a:t>
            </a:r>
          </a:p>
          <a:p>
            <a:r>
              <a:rPr lang="en-US" dirty="0"/>
              <a:t>Combining everything, we have the algebraic model as follows:</a:t>
            </a:r>
          </a:p>
          <a:p>
            <a:endParaRPr lang="en-US" dirty="0"/>
          </a:p>
          <a:p>
            <a:endParaRPr lang="en-US" dirty="0"/>
          </a:p>
          <a:p>
            <a:endParaRPr lang="en-US" dirty="0"/>
          </a:p>
          <a:p>
            <a:endParaRPr lang="en-US" dirty="0"/>
          </a:p>
          <a:p>
            <a:endParaRPr lang="en-US" dirty="0"/>
          </a:p>
          <a:p>
            <a:endParaRPr lang="en-US" dirty="0"/>
          </a:p>
          <a:p>
            <a:endParaRPr lang="en-US" dirty="0"/>
          </a:p>
          <a:p>
            <a:pPr lvl="2"/>
            <a:r>
              <a:rPr lang="en-US" dirty="0"/>
              <a:t>Here, we simply assume that the variables are continuous, they would need to be integers in practice</a:t>
            </a:r>
          </a:p>
          <a:p>
            <a:pPr lvl="3"/>
            <a:r>
              <a:rPr lang="en-US" dirty="0"/>
              <a:t>Later, we will analyze integer modeling</a:t>
            </a:r>
          </a:p>
          <a:p>
            <a:endParaRPr lang="en-US" dirty="0"/>
          </a:p>
          <a:p>
            <a:pPr lvl="3"/>
            <a:endParaRPr lang="en-US" dirty="0"/>
          </a:p>
          <a:p>
            <a:pPr marL="400050" lvl="2" indent="0">
              <a:buNone/>
            </a:pPr>
            <a:endParaRPr lang="en-US" sz="2800" dirty="0"/>
          </a:p>
          <a:p>
            <a:pPr marL="400050" lvl="2" indent="0">
              <a:buNone/>
            </a:pPr>
            <a:endParaRPr lang="en-US" dirty="0"/>
          </a:p>
          <a:p>
            <a:endParaRPr lang="en-US" dirty="0"/>
          </a:p>
        </p:txBody>
      </p:sp>
      <mc:AlternateContent xmlns:mc="http://schemas.openxmlformats.org/markup-compatibility/2006" xmlns:a14="http://schemas.microsoft.com/office/drawing/2010/main">
        <mc:Choice Requires="a14">
          <p:sp>
            <p:nvSpPr>
              <p:cNvPr id="4" name="Rectangle 3"/>
              <p:cNvSpPr/>
              <p:nvPr/>
            </p:nvSpPr>
            <p:spPr>
              <a:xfrm>
                <a:off x="1901371" y="2499409"/>
                <a:ext cx="8142514"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𝑀𝑖𝑛𝑚𝑖𝑧𝑒</m:t>
                      </m:r>
                      <m:r>
                        <a:rPr lang="en-US" b="0" i="1" dirty="0" smtClean="0">
                          <a:latin typeface="Cambria Math" panose="02040503050406030204" pitchFamily="18" charset="0"/>
                        </a:rPr>
                        <m:t>       80</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1</m:t>
                          </m:r>
                        </m:sub>
                      </m:sSub>
                      <m:r>
                        <a:rPr lang="en-US" i="1" dirty="0">
                          <a:latin typeface="Cambria Math" panose="02040503050406030204" pitchFamily="18" charset="0"/>
                        </a:rPr>
                        <m:t>)+80</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2</m:t>
                          </m:r>
                        </m:sub>
                      </m:sSub>
                      <m:r>
                        <a:rPr lang="en-US" i="1" dirty="0">
                          <a:latin typeface="Cambria Math" panose="02040503050406030204" pitchFamily="18" charset="0"/>
                        </a:rPr>
                        <m:t>)+84</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i="1" dirty="0">
                              <a:latin typeface="Cambria Math" panose="02040503050406030204" pitchFamily="18" charset="0"/>
                            </a:rPr>
                            <m:t>3</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3</m:t>
                          </m:r>
                        </m:sub>
                      </m:sSub>
                      <m:r>
                        <a:rPr lang="en-US" i="1" dirty="0">
                          <a:latin typeface="Cambria Math" panose="02040503050406030204" pitchFamily="18" charset="0"/>
                        </a:rPr>
                        <m:t>)+88</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i="1" dirty="0">
                              <a:latin typeface="Cambria Math" panose="02040503050406030204" pitchFamily="18" charset="0"/>
                            </a:rPr>
                            <m:t>4</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4</m:t>
                          </m:r>
                        </m:sub>
                      </m:sSub>
                      <m:r>
                        <a:rPr lang="en-US" i="1" dirty="0">
                          <a:latin typeface="Cambria Math" panose="02040503050406030204" pitchFamily="18" charset="0"/>
                        </a:rPr>
                        <m:t>)+44</m:t>
                      </m:r>
                      <m:sSub>
                        <m:sSubPr>
                          <m:ctrlPr>
                            <a:rPr lang="en-US" i="1" dirty="0">
                              <a:latin typeface="Cambria Math" panose="02040503050406030204" pitchFamily="18" charset="0"/>
                            </a:rPr>
                          </m:ctrlPr>
                        </m:sSubPr>
                        <m:e>
                          <m:r>
                            <a:rPr lang="en-US" i="1" dirty="0">
                              <a:latin typeface="Cambria Math" panose="02040503050406030204" pitchFamily="18" charset="0"/>
                            </a:rPr>
                            <m:t>𝑍</m:t>
                          </m:r>
                        </m:e>
                        <m:sub>
                          <m:r>
                            <a:rPr lang="en-US" i="1" dirty="0">
                              <a:latin typeface="Cambria Math" panose="02040503050406030204" pitchFamily="18" charset="0"/>
                            </a:rPr>
                            <m:t>1</m:t>
                          </m:r>
                        </m:sub>
                      </m:sSub>
                      <m:r>
                        <a:rPr lang="en-US" i="1" dirty="0">
                          <a:latin typeface="Cambria Math" panose="02040503050406030204" pitchFamily="18" charset="0"/>
                        </a:rPr>
                        <m:t>+44</m:t>
                      </m:r>
                      <m:sSub>
                        <m:sSubPr>
                          <m:ctrlPr>
                            <a:rPr lang="en-US" i="1" dirty="0">
                              <a:latin typeface="Cambria Math" panose="02040503050406030204" pitchFamily="18" charset="0"/>
                            </a:rPr>
                          </m:ctrlPr>
                        </m:sSubPr>
                        <m:e>
                          <m:r>
                            <a:rPr lang="en-US" i="1" dirty="0">
                              <a:latin typeface="Cambria Math" panose="02040503050406030204" pitchFamily="18" charset="0"/>
                            </a:rPr>
                            <m:t>𝑍</m:t>
                          </m:r>
                        </m:e>
                        <m:sub>
                          <m:r>
                            <a:rPr lang="en-US" i="1" dirty="0">
                              <a:latin typeface="Cambria Math" panose="02040503050406030204" pitchFamily="18" charset="0"/>
                            </a:rPr>
                            <m:t>2</m:t>
                          </m:r>
                        </m:sub>
                      </m:sSub>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1901371" y="2499409"/>
                <a:ext cx="8142514" cy="369332"/>
              </a:xfrm>
              <a:prstGeom prst="rect">
                <a:avLst/>
              </a:prstGeom>
              <a:blipFill rotWithShape="0">
                <a:blip r:embed="rId2"/>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962758" y="2868741"/>
                <a:ext cx="2138727" cy="369332"/>
              </a:xfrm>
              <a:prstGeom prst="rect">
                <a:avLst/>
              </a:prstGeom>
            </p:spPr>
            <p:txBody>
              <a:bodyPr wrap="none">
                <a:spAutoFit/>
              </a:bodyPr>
              <a:lstStyle/>
              <a:p>
                <a14:m>
                  <m:oMath xmlns:m="http://schemas.openxmlformats.org/officeDocument/2006/math">
                    <m:r>
                      <a:rPr lang="en-US" i="1" dirty="0" smtClean="0">
                        <a:latin typeface="Cambria Math" panose="02040503050406030204" pitchFamily="18" charset="0"/>
                      </a:rPr>
                      <m:t>𝑆𝑢𝑏𝑗𝑒𝑐𝑡</m:t>
                    </m:r>
                    <m:r>
                      <a:rPr lang="en-US" i="1" dirty="0" smtClean="0">
                        <a:latin typeface="Cambria Math" panose="02040503050406030204" pitchFamily="18" charset="0"/>
                      </a:rPr>
                      <m:t> </m:t>
                    </m:r>
                    <m:r>
                      <a:rPr lang="en-US" i="1" dirty="0" smtClean="0">
                        <a:latin typeface="Cambria Math" panose="02040503050406030204" pitchFamily="18" charset="0"/>
                      </a:rPr>
                      <m:t>𝑡𝑜</m:t>
                    </m:r>
                    <m:r>
                      <a:rPr lang="en-US" i="1" dirty="0" smtClean="0">
                        <a:latin typeface="Cambria Math" panose="02040503050406030204" pitchFamily="18" charset="0"/>
                      </a:rPr>
                      <m:t>    </m:t>
                    </m:r>
                    <m:sSub>
                      <m:sSubPr>
                        <m:ctrlPr>
                          <a:rPr lang="en-US" i="1" dirty="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i="1" dirty="0">
                        <a:latin typeface="Cambria Math" panose="02040503050406030204" pitchFamily="18" charset="0"/>
                      </a:rPr>
                      <m:t>≥</m:t>
                    </m:r>
                  </m:oMath>
                </a14:m>
                <a:r>
                  <a:rPr lang="en-US" dirty="0"/>
                  <a:t>6</a:t>
                </a:r>
              </a:p>
            </p:txBody>
          </p:sp>
        </mc:Choice>
        <mc:Fallback xmlns="">
          <p:sp>
            <p:nvSpPr>
              <p:cNvPr id="5" name="Rectangle 4"/>
              <p:cNvSpPr>
                <a:spLocks noRot="1" noChangeAspect="1" noMove="1" noResize="1" noEditPoints="1" noAdjustHandles="1" noChangeArrowheads="1" noChangeShapeType="1" noTextEdit="1"/>
              </p:cNvSpPr>
              <p:nvPr/>
            </p:nvSpPr>
            <p:spPr>
              <a:xfrm>
                <a:off x="1962758" y="2868741"/>
                <a:ext cx="2138727" cy="369332"/>
              </a:xfrm>
              <a:prstGeom prst="rect">
                <a:avLst/>
              </a:prstGeom>
              <a:blipFill rotWithShape="0">
                <a:blip r:embed="rId3"/>
                <a:stretch>
                  <a:fillRect l="-855"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207529" y="3160984"/>
                <a:ext cx="1301382" cy="369332"/>
              </a:xfrm>
              <a:prstGeom prst="rect">
                <a:avLst/>
              </a:prstGeom>
            </p:spPr>
            <p:txBody>
              <a:bodyPr wrap="none">
                <a:spAutoFit/>
              </a:bodyPr>
              <a:lstStyle/>
              <a:p>
                <a:r>
                  <a:rPr lang="en-US" dirty="0"/>
                  <a:t> Y</a:t>
                </a:r>
                <a:r>
                  <a:rPr lang="en-US" baseline="-25000" dirty="0"/>
                  <a:t>1</a:t>
                </a:r>
                <a:r>
                  <a:rPr lang="en-US" dirty="0"/>
                  <a:t>+</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2</m:t>
                        </m:r>
                      </m:sub>
                    </m:sSub>
                  </m:oMath>
                </a14:m>
                <a:r>
                  <a:rPr lang="en-US" dirty="0"/>
                  <a:t> </a:t>
                </a:r>
                <a14:m>
                  <m:oMath xmlns:m="http://schemas.openxmlformats.org/officeDocument/2006/math">
                    <m:r>
                      <a:rPr lang="en-US" i="1" dirty="0">
                        <a:latin typeface="Cambria Math" panose="02040503050406030204" pitchFamily="18" charset="0"/>
                      </a:rPr>
                      <m:t>≥ </m:t>
                    </m:r>
                  </m:oMath>
                </a14:m>
                <a:r>
                  <a:rPr lang="en-US" dirty="0"/>
                  <a:t>12</a:t>
                </a:r>
              </a:p>
            </p:txBody>
          </p:sp>
        </mc:Choice>
        <mc:Fallback xmlns="">
          <p:sp>
            <p:nvSpPr>
              <p:cNvPr id="7" name="Rectangle 6"/>
              <p:cNvSpPr>
                <a:spLocks noRot="1" noChangeAspect="1" noMove="1" noResize="1" noEditPoints="1" noAdjustHandles="1" noChangeArrowheads="1" noChangeShapeType="1" noTextEdit="1"/>
              </p:cNvSpPr>
              <p:nvPr/>
            </p:nvSpPr>
            <p:spPr>
              <a:xfrm>
                <a:off x="3207529" y="3160984"/>
                <a:ext cx="1301382" cy="369332"/>
              </a:xfrm>
              <a:prstGeom prst="rect">
                <a:avLst/>
              </a:prstGeom>
              <a:blipFill rotWithShape="0">
                <a:blip r:embed="rId4"/>
                <a:stretch>
                  <a:fillRect t="-10000" r="-2804"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207529" y="3488904"/>
                <a:ext cx="1604863" cy="369332"/>
              </a:xfrm>
              <a:prstGeom prst="rect">
                <a:avLst/>
              </a:prstGeom>
            </p:spPr>
            <p:txBody>
              <a:bodyPr wrap="none">
                <a:spAutoFit/>
              </a:bodyPr>
              <a:lstStyle/>
              <a:p>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1</m:t>
                        </m:r>
                      </m:sub>
                    </m:sSub>
                  </m:oMath>
                </a14:m>
                <a:r>
                  <a:rPr lang="en-US" dirty="0"/>
                  <a:t>+Y</a:t>
                </a:r>
                <a:r>
                  <a:rPr lang="en-US" baseline="-25000" dirty="0"/>
                  <a:t>2</a:t>
                </a:r>
                <a:r>
                  <a:rPr lang="en-US" dirty="0"/>
                  <a:t>+</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3</m:t>
                        </m:r>
                      </m:sub>
                    </m:sSub>
                  </m:oMath>
                </a14:m>
                <a:r>
                  <a:rPr lang="en-US" dirty="0"/>
                  <a:t> </a:t>
                </a:r>
                <a14:m>
                  <m:oMath xmlns:m="http://schemas.openxmlformats.org/officeDocument/2006/math">
                    <m:r>
                      <a:rPr lang="en-US" i="1" dirty="0">
                        <a:latin typeface="Cambria Math" panose="02040503050406030204" pitchFamily="18" charset="0"/>
                      </a:rPr>
                      <m:t>≥ </m:t>
                    </m:r>
                  </m:oMath>
                </a14:m>
                <a:r>
                  <a:rPr lang="en-US" dirty="0"/>
                  <a:t>10</a:t>
                </a:r>
              </a:p>
            </p:txBody>
          </p:sp>
        </mc:Choice>
        <mc:Fallback xmlns="">
          <p:sp>
            <p:nvSpPr>
              <p:cNvPr id="8" name="Rectangle 7"/>
              <p:cNvSpPr>
                <a:spLocks noRot="1" noChangeAspect="1" noMove="1" noResize="1" noEditPoints="1" noAdjustHandles="1" noChangeArrowheads="1" noChangeShapeType="1" noTextEdit="1"/>
              </p:cNvSpPr>
              <p:nvPr/>
            </p:nvSpPr>
            <p:spPr>
              <a:xfrm>
                <a:off x="3207529" y="3488904"/>
                <a:ext cx="1604863" cy="369332"/>
              </a:xfrm>
              <a:prstGeom prst="rect">
                <a:avLst/>
              </a:prstGeom>
              <a:blipFill rotWithShape="0">
                <a:blip r:embed="rId5"/>
                <a:stretch>
                  <a:fillRect t="-8197" r="-228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728685" y="3822559"/>
                <a:ext cx="6096000" cy="2369880"/>
              </a:xfrm>
              <a:prstGeom prst="rect">
                <a:avLst/>
              </a:prstGeom>
            </p:spPr>
            <p:txBody>
              <a:bodyPr>
                <a:spAutoFit/>
              </a:bodyPr>
              <a:lstStyle/>
              <a:p>
                <a:pPr lvl="1"/>
                <a:r>
                  <a:rPr lang="en-US" sz="2000" dirty="0"/>
                  <a:t> </a:t>
                </a:r>
                <a:r>
                  <a:rPr lang="en-US" dirty="0"/>
                  <a:t>Y</a:t>
                </a:r>
                <a:r>
                  <a:rPr lang="en-US" baseline="-25000" dirty="0"/>
                  <a:t>1</a:t>
                </a:r>
                <a:r>
                  <a:rPr lang="en-US" dirty="0"/>
                  <a:t>+</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2</m:t>
                        </m:r>
                      </m:sub>
                    </m:sSub>
                  </m:oMath>
                </a14:m>
                <a:r>
                  <a:rPr lang="en-US" dirty="0"/>
                  <a:t>+Y</a:t>
                </a:r>
                <a:r>
                  <a:rPr lang="en-US" baseline="-25000" dirty="0"/>
                  <a:t>3</a:t>
                </a:r>
                <a:r>
                  <a:rPr lang="en-US" dirty="0"/>
                  <a:t>+</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4</m:t>
                        </m:r>
                      </m:sub>
                    </m:sSub>
                  </m:oMath>
                </a14:m>
                <a:r>
                  <a:rPr lang="en-US" dirty="0"/>
                  <a:t> </a:t>
                </a:r>
                <a14:m>
                  <m:oMath xmlns:m="http://schemas.openxmlformats.org/officeDocument/2006/math">
                    <m:r>
                      <a:rPr lang="en-US" i="1" dirty="0">
                        <a:latin typeface="Cambria Math" panose="02040503050406030204" pitchFamily="18" charset="0"/>
                      </a:rPr>
                      <m:t>≥ </m:t>
                    </m:r>
                  </m:oMath>
                </a14:m>
                <a:r>
                  <a:rPr lang="en-US" dirty="0"/>
                  <a:t>13</a:t>
                </a:r>
              </a:p>
              <a:p>
                <a:pPr lvl="1"/>
                <a:r>
                  <a:rPr lang="en-US" dirty="0"/>
                  <a:t> Y</a:t>
                </a:r>
                <a:r>
                  <a:rPr lang="en-US" baseline="-25000" dirty="0"/>
                  <a:t>2</a:t>
                </a:r>
                <a:r>
                  <a:rPr lang="en-US" dirty="0"/>
                  <a:t>+</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3</m:t>
                        </m:r>
                      </m:sub>
                    </m:sSub>
                  </m:oMath>
                </a14:m>
                <a:r>
                  <a:rPr lang="en-US" dirty="0"/>
                  <a:t>+Y</a:t>
                </a:r>
                <a:r>
                  <a:rPr lang="en-US" baseline="-25000" dirty="0"/>
                  <a:t>4</a:t>
                </a:r>
                <a:r>
                  <a:rPr lang="en-US" dirty="0"/>
                  <a:t>+Z</a:t>
                </a:r>
                <a:r>
                  <a:rPr lang="en-US" baseline="-25000" dirty="0"/>
                  <a:t>1</a:t>
                </a:r>
                <a:r>
                  <a:rPr lang="en-US" dirty="0"/>
                  <a:t> </a:t>
                </a:r>
                <a14:m>
                  <m:oMath xmlns:m="http://schemas.openxmlformats.org/officeDocument/2006/math">
                    <m:r>
                      <a:rPr lang="en-US" i="1" dirty="0">
                        <a:latin typeface="Cambria Math" panose="02040503050406030204" pitchFamily="18" charset="0"/>
                      </a:rPr>
                      <m:t>≥ </m:t>
                    </m:r>
                  </m:oMath>
                </a14:m>
                <a:r>
                  <a:rPr lang="en-US" dirty="0"/>
                  <a:t>11</a:t>
                </a:r>
              </a:p>
              <a:p>
                <a:pPr lvl="1"/>
                <a:r>
                  <a:rPr lang="en-US" dirty="0"/>
                  <a:t> Y</a:t>
                </a:r>
                <a:r>
                  <a:rPr lang="en-US" baseline="-25000" dirty="0"/>
                  <a:t>3</a:t>
                </a:r>
                <a:r>
                  <a:rPr lang="en-US" dirty="0"/>
                  <a:t>+</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4</m:t>
                        </m:r>
                      </m:sub>
                    </m:sSub>
                  </m:oMath>
                </a14:m>
                <a:r>
                  <a:rPr lang="en-US" dirty="0"/>
                  <a:t>+Z</a:t>
                </a:r>
                <a:r>
                  <a:rPr lang="en-US" baseline="-25000" dirty="0"/>
                  <a:t>1</a:t>
                </a:r>
                <a:r>
                  <a:rPr lang="en-US" dirty="0"/>
                  <a:t>+Z</a:t>
                </a:r>
                <a:r>
                  <a:rPr lang="en-US" baseline="-25000" dirty="0"/>
                  <a:t>2</a:t>
                </a:r>
                <a:r>
                  <a:rPr lang="en-US" dirty="0"/>
                  <a:t> </a:t>
                </a:r>
                <a14:m>
                  <m:oMath xmlns:m="http://schemas.openxmlformats.org/officeDocument/2006/math">
                    <m:r>
                      <a:rPr lang="en-US" i="1" dirty="0">
                        <a:latin typeface="Cambria Math" panose="02040503050406030204" pitchFamily="18" charset="0"/>
                      </a:rPr>
                      <m:t>≥ </m:t>
                    </m:r>
                  </m:oMath>
                </a14:m>
                <a:r>
                  <a:rPr lang="en-US" dirty="0"/>
                  <a:t>5</a:t>
                </a:r>
              </a:p>
              <a:p>
                <a:pPr lvl="1"/>
                <a:r>
                  <a:rPr lang="en-US" dirty="0"/>
                  <a:t> Y</a:t>
                </a:r>
                <a:r>
                  <a:rPr lang="en-US" baseline="-25000" dirty="0"/>
                  <a:t>4</a:t>
                </a:r>
                <a:r>
                  <a:rPr lang="en-US" dirty="0"/>
                  <a:t>+Z</a:t>
                </a:r>
                <a:r>
                  <a:rPr lang="en-US" baseline="-25000" dirty="0"/>
                  <a:t>2</a:t>
                </a:r>
                <a:r>
                  <a:rPr lang="en-US" dirty="0"/>
                  <a:t> </a:t>
                </a:r>
                <a14:m>
                  <m:oMath xmlns:m="http://schemas.openxmlformats.org/officeDocument/2006/math">
                    <m:r>
                      <a:rPr lang="en-US" i="1" dirty="0">
                        <a:latin typeface="Cambria Math" panose="02040503050406030204" pitchFamily="18" charset="0"/>
                      </a:rPr>
                      <m:t>≥ </m:t>
                    </m:r>
                  </m:oMath>
                </a14:m>
                <a:r>
                  <a:rPr lang="en-US" dirty="0"/>
                  <a:t>2</a:t>
                </a:r>
                <a:endParaRPr lang="en-US" i="1" dirty="0">
                  <a:latin typeface="Cambria Math" panose="02040503050406030204" pitchFamily="18" charset="0"/>
                </a:endParaRPr>
              </a:p>
              <a:p>
                <a:pPr lvl="1"/>
                <a14:m>
                  <m:oMathPara xmlns:m="http://schemas.openxmlformats.org/officeDocument/2006/math">
                    <m:oMathParaPr>
                      <m:jc m:val="left"/>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b="0" i="1" dirty="0" smtClean="0">
                          <a:latin typeface="Cambria Math" panose="02040503050406030204" pitchFamily="18" charset="0"/>
                        </a:rPr>
                        <m:t>≥0,</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𝑋</m:t>
                          </m:r>
                        </m:e>
                        <m:sub>
                          <m:r>
                            <a:rPr lang="en-US" b="0" i="1" dirty="0" smtClean="0">
                              <a:latin typeface="Cambria Math" panose="02040503050406030204" pitchFamily="18" charset="0"/>
                            </a:rPr>
                            <m:t>2</m:t>
                          </m:r>
                        </m:sub>
                      </m:sSub>
                      <m:r>
                        <a:rPr lang="en-US" i="1" dirty="0">
                          <a:latin typeface="Cambria Math" panose="02040503050406030204" pitchFamily="18" charset="0"/>
                        </a:rPr>
                        <m:t>≥0, </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𝑋</m:t>
                          </m:r>
                        </m:e>
                        <m:sub>
                          <m:r>
                            <a:rPr lang="en-US" b="0" i="1" dirty="0" smtClean="0">
                              <a:latin typeface="Cambria Math" panose="02040503050406030204" pitchFamily="18" charset="0"/>
                            </a:rPr>
                            <m:t>3</m:t>
                          </m:r>
                        </m:sub>
                      </m:sSub>
                      <m:r>
                        <a:rPr lang="en-US" i="1" dirty="0">
                          <a:latin typeface="Cambria Math" panose="02040503050406030204" pitchFamily="18" charset="0"/>
                        </a:rPr>
                        <m:t>≥0,</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𝑋</m:t>
                          </m:r>
                        </m:e>
                        <m:sub>
                          <m:r>
                            <a:rPr lang="en-US" b="0" i="1" dirty="0" smtClean="0">
                              <a:latin typeface="Cambria Math" panose="02040503050406030204" pitchFamily="18" charset="0"/>
                            </a:rPr>
                            <m:t>4</m:t>
                          </m:r>
                        </m:sub>
                      </m:sSub>
                      <m:r>
                        <a:rPr lang="en-US" i="1" dirty="0">
                          <a:latin typeface="Cambria Math" panose="02040503050406030204" pitchFamily="18" charset="0"/>
                        </a:rPr>
                        <m:t>≥0, </m:t>
                      </m:r>
                    </m:oMath>
                  </m:oMathPara>
                </a14:m>
                <a:endParaRPr lang="en-US" dirty="0"/>
              </a:p>
              <a:p>
                <a:pPr lvl="1"/>
                <a14:m>
                  <m:oMathPara xmlns:m="http://schemas.openxmlformats.org/officeDocument/2006/math">
                    <m:oMathParaPr>
                      <m:jc m:val="left"/>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𝑌</m:t>
                          </m:r>
                        </m:e>
                        <m:sub>
                          <m:r>
                            <a:rPr lang="en-US" i="1" dirty="0">
                              <a:latin typeface="Cambria Math" panose="02040503050406030204" pitchFamily="18" charset="0"/>
                            </a:rPr>
                            <m:t>1</m:t>
                          </m:r>
                        </m:sub>
                      </m:sSub>
                      <m:r>
                        <a:rPr lang="en-US" i="1" dirty="0">
                          <a:latin typeface="Cambria Math" panose="02040503050406030204" pitchFamily="18" charset="0"/>
                        </a:rPr>
                        <m:t>≥0,</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𝑌</m:t>
                          </m:r>
                        </m:e>
                        <m:sub>
                          <m:r>
                            <a:rPr lang="en-US" b="0" i="1" dirty="0" smtClean="0">
                              <a:latin typeface="Cambria Math" panose="02040503050406030204" pitchFamily="18" charset="0"/>
                            </a:rPr>
                            <m:t>2</m:t>
                          </m:r>
                        </m:sub>
                      </m:sSub>
                      <m:r>
                        <a:rPr lang="en-US" i="1" dirty="0">
                          <a:latin typeface="Cambria Math" panose="02040503050406030204" pitchFamily="18" charset="0"/>
                        </a:rPr>
                        <m:t>≥0,</m:t>
                      </m:r>
                      <m:r>
                        <a:rPr lang="en-US" b="0" i="1" dirty="0" smtClean="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𝑌</m:t>
                          </m:r>
                        </m:e>
                        <m:sub>
                          <m:r>
                            <a:rPr lang="en-US" b="0" i="1" dirty="0" smtClean="0">
                              <a:latin typeface="Cambria Math" panose="02040503050406030204" pitchFamily="18" charset="0"/>
                            </a:rPr>
                            <m:t>3</m:t>
                          </m:r>
                        </m:sub>
                      </m:sSub>
                      <m:r>
                        <a:rPr lang="en-US" i="1" dirty="0">
                          <a:latin typeface="Cambria Math" panose="02040503050406030204" pitchFamily="18" charset="0"/>
                        </a:rPr>
                        <m:t>≥0,</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𝑌</m:t>
                          </m:r>
                        </m:e>
                        <m:sub>
                          <m:r>
                            <a:rPr lang="en-US" b="0" i="1" dirty="0" smtClean="0">
                              <a:latin typeface="Cambria Math" panose="02040503050406030204" pitchFamily="18" charset="0"/>
                            </a:rPr>
                            <m:t>4</m:t>
                          </m:r>
                        </m:sub>
                      </m:sSub>
                      <m:r>
                        <a:rPr lang="en-US" i="1" dirty="0">
                          <a:latin typeface="Cambria Math" panose="02040503050406030204" pitchFamily="18" charset="0"/>
                        </a:rPr>
                        <m:t>≥0, </m:t>
                      </m:r>
                    </m:oMath>
                  </m:oMathPara>
                </a14:m>
                <a:endParaRPr lang="en-US" dirty="0"/>
              </a:p>
              <a:p>
                <a:pPr lvl="1"/>
                <a14:m>
                  <m:oMathPara xmlns:m="http://schemas.openxmlformats.org/officeDocument/2006/math">
                    <m:oMathParaPr>
                      <m:jc m:val="left"/>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𝑍</m:t>
                          </m:r>
                        </m:e>
                        <m:sub>
                          <m:r>
                            <a:rPr lang="en-US" i="1" dirty="0">
                              <a:latin typeface="Cambria Math" panose="02040503050406030204" pitchFamily="18" charset="0"/>
                            </a:rPr>
                            <m:t>1</m:t>
                          </m:r>
                        </m:sub>
                      </m:sSub>
                      <m:r>
                        <a:rPr lang="en-US" i="1" dirty="0">
                          <a:latin typeface="Cambria Math" panose="02040503050406030204" pitchFamily="18" charset="0"/>
                        </a:rPr>
                        <m:t>≥0,</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𝑍</m:t>
                          </m:r>
                        </m:e>
                        <m:sub>
                          <m:r>
                            <a:rPr lang="en-US" b="0" i="1" dirty="0" smtClean="0">
                              <a:latin typeface="Cambria Math" panose="02040503050406030204" pitchFamily="18" charset="0"/>
                            </a:rPr>
                            <m:t>2</m:t>
                          </m:r>
                        </m:sub>
                      </m:sSub>
                      <m:r>
                        <a:rPr lang="en-US" i="1" dirty="0">
                          <a:latin typeface="Cambria Math" panose="02040503050406030204" pitchFamily="18" charset="0"/>
                        </a:rPr>
                        <m:t>≥0, </m:t>
                      </m:r>
                    </m:oMath>
                  </m:oMathPara>
                </a14:m>
                <a:endParaRPr lang="en-US" dirty="0"/>
              </a:p>
              <a:p>
                <a:pPr lvl="1"/>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2728685" y="3822559"/>
                <a:ext cx="6096000" cy="2369880"/>
              </a:xfrm>
              <a:prstGeom prst="rect">
                <a:avLst/>
              </a:prstGeom>
              <a:blipFill rotWithShape="0">
                <a:blip r:embed="rId6"/>
                <a:stretch>
                  <a:fillRect t="-257"/>
                </a:stretch>
              </a:blipFill>
            </p:spPr>
            <p:txBody>
              <a:bodyPr/>
              <a:lstStyle/>
              <a:p>
                <a:r>
                  <a:rPr lang="en-US">
                    <a:noFill/>
                  </a:rPr>
                  <a:t> </a:t>
                </a:r>
              </a:p>
            </p:txBody>
          </p:sp>
        </mc:Fallback>
      </mc:AlternateContent>
      <p:pic>
        <p:nvPicPr>
          <p:cNvPr id="10" name="Picture 4" descr="View details"/>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10288193" y="3673570"/>
            <a:ext cx="1600200" cy="16002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1786822" y="2359063"/>
            <a:ext cx="8417914" cy="350452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76514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a:xfrm>
            <a:off x="355002" y="1312433"/>
            <a:ext cx="11836998" cy="4864530"/>
          </a:xfrm>
        </p:spPr>
        <p:txBody>
          <a:bodyPr>
            <a:normAutofit lnSpcReduction="10000"/>
          </a:bodyPr>
          <a:lstStyle/>
          <a:p>
            <a:r>
              <a:rPr lang="en-US" b="1" u="sng" dirty="0"/>
              <a:t>Case: Case 2-3 Staffing a Call Center (page 62):</a:t>
            </a:r>
          </a:p>
          <a:p>
            <a:r>
              <a:rPr lang="en-US" dirty="0"/>
              <a:t>We can polish the model:</a:t>
            </a:r>
          </a:p>
          <a:p>
            <a:pPr lvl="1"/>
            <a:r>
              <a:rPr lang="en-US" dirty="0"/>
              <a:t>Y</a:t>
            </a:r>
            <a:r>
              <a:rPr lang="en-US" baseline="-25000" dirty="0"/>
              <a:t>1</a:t>
            </a:r>
            <a:r>
              <a:rPr lang="en-US" dirty="0"/>
              <a:t> and X</a:t>
            </a:r>
            <a:r>
              <a:rPr lang="en-US" baseline="-25000" dirty="0"/>
              <a:t>2</a:t>
            </a:r>
            <a:r>
              <a:rPr lang="en-US" dirty="0"/>
              <a:t> can be combined into one decision variable</a:t>
            </a:r>
          </a:p>
          <a:p>
            <a:pPr lvl="2"/>
            <a:r>
              <a:rPr lang="en-US" dirty="0"/>
              <a:t>They cover the same work shifts for answering calls and each has the same unit cost</a:t>
            </a:r>
          </a:p>
          <a:p>
            <a:pPr lvl="2"/>
            <a:r>
              <a:rPr lang="en-US" dirty="0"/>
              <a:t>So, say T</a:t>
            </a:r>
            <a:r>
              <a:rPr lang="en-US" baseline="-25000" dirty="0"/>
              <a:t>1</a:t>
            </a:r>
            <a:r>
              <a:rPr lang="en-US" dirty="0"/>
              <a:t>=Y</a:t>
            </a:r>
            <a:r>
              <a:rPr lang="en-US" baseline="-25000" dirty="0"/>
              <a:t>1</a:t>
            </a:r>
            <a:r>
              <a:rPr lang="en-US" dirty="0"/>
              <a:t>+X</a:t>
            </a:r>
            <a:r>
              <a:rPr lang="en-US" baseline="-25000" dirty="0"/>
              <a:t>2</a:t>
            </a:r>
            <a:r>
              <a:rPr lang="en-US" dirty="0"/>
              <a:t> and put T</a:t>
            </a:r>
            <a:r>
              <a:rPr lang="en-US" baseline="-25000" dirty="0"/>
              <a:t>1</a:t>
            </a:r>
            <a:r>
              <a:rPr lang="en-US" dirty="0"/>
              <a:t> in the model in place of (Y</a:t>
            </a:r>
            <a:r>
              <a:rPr lang="en-US" baseline="-25000" dirty="0"/>
              <a:t>1</a:t>
            </a:r>
            <a:r>
              <a:rPr lang="en-US" dirty="0"/>
              <a:t>+X</a:t>
            </a:r>
            <a:r>
              <a:rPr lang="en-US" baseline="-25000" dirty="0"/>
              <a:t>2</a:t>
            </a:r>
            <a:r>
              <a:rPr lang="en-US" dirty="0"/>
              <a:t>)</a:t>
            </a:r>
          </a:p>
          <a:p>
            <a:pPr lvl="1"/>
            <a:r>
              <a:rPr lang="en-US" dirty="0"/>
              <a:t> Y</a:t>
            </a:r>
            <a:r>
              <a:rPr lang="en-US" baseline="-25000" dirty="0"/>
              <a:t>2</a:t>
            </a:r>
            <a:r>
              <a:rPr lang="en-US" dirty="0"/>
              <a:t> vs. X</a:t>
            </a:r>
            <a:r>
              <a:rPr lang="en-US" baseline="-25000" dirty="0"/>
              <a:t>3</a:t>
            </a:r>
            <a:r>
              <a:rPr lang="en-US" dirty="0"/>
              <a:t>: X</a:t>
            </a:r>
            <a:r>
              <a:rPr lang="en-US" baseline="-25000" dirty="0"/>
              <a:t>3</a:t>
            </a:r>
            <a:r>
              <a:rPr lang="en-US" dirty="0"/>
              <a:t> will be 0 in the optimal solution</a:t>
            </a:r>
          </a:p>
          <a:p>
            <a:pPr lvl="2"/>
            <a:r>
              <a:rPr lang="en-US" dirty="0"/>
              <a:t>Both Y</a:t>
            </a:r>
            <a:r>
              <a:rPr lang="en-US" baseline="-25000" dirty="0"/>
              <a:t>2</a:t>
            </a:r>
            <a:r>
              <a:rPr lang="en-US" dirty="0"/>
              <a:t> and X</a:t>
            </a:r>
            <a:r>
              <a:rPr lang="en-US" baseline="-25000" dirty="0"/>
              <a:t>3</a:t>
            </a:r>
            <a:r>
              <a:rPr lang="en-US" dirty="0"/>
              <a:t> cover the same work shifts for answering calls</a:t>
            </a:r>
          </a:p>
          <a:p>
            <a:pPr lvl="2"/>
            <a:r>
              <a:rPr lang="en-US" dirty="0"/>
              <a:t>Unit cost of Y</a:t>
            </a:r>
            <a:r>
              <a:rPr lang="en-US" baseline="-25000" dirty="0"/>
              <a:t>2</a:t>
            </a:r>
            <a:r>
              <a:rPr lang="en-US" dirty="0"/>
              <a:t> is cheaper, so in the optimal solution, X</a:t>
            </a:r>
            <a:r>
              <a:rPr lang="en-US" baseline="-25000" dirty="0"/>
              <a:t>3</a:t>
            </a:r>
            <a:r>
              <a:rPr lang="en-US" dirty="0"/>
              <a:t> will be 0</a:t>
            </a:r>
          </a:p>
          <a:p>
            <a:pPr lvl="2"/>
            <a:r>
              <a:rPr lang="en-US" dirty="0"/>
              <a:t>Thus, we can remove X</a:t>
            </a:r>
            <a:r>
              <a:rPr lang="en-US" baseline="-25000" dirty="0"/>
              <a:t>3</a:t>
            </a:r>
            <a:r>
              <a:rPr lang="en-US" dirty="0"/>
              <a:t> from the model</a:t>
            </a:r>
          </a:p>
          <a:p>
            <a:pPr lvl="1"/>
            <a:r>
              <a:rPr lang="en-US" dirty="0"/>
              <a:t>Y</a:t>
            </a:r>
            <a:r>
              <a:rPr lang="en-US" baseline="-25000" dirty="0"/>
              <a:t>3</a:t>
            </a:r>
            <a:r>
              <a:rPr lang="en-US" dirty="0"/>
              <a:t> vs. X</a:t>
            </a:r>
            <a:r>
              <a:rPr lang="en-US" baseline="-25000" dirty="0"/>
              <a:t>4</a:t>
            </a:r>
            <a:r>
              <a:rPr lang="en-US" dirty="0"/>
              <a:t>: X</a:t>
            </a:r>
            <a:r>
              <a:rPr lang="en-US" baseline="-25000" dirty="0"/>
              <a:t>4</a:t>
            </a:r>
            <a:r>
              <a:rPr lang="en-US" dirty="0"/>
              <a:t> will be 0 in the optimal solution</a:t>
            </a:r>
          </a:p>
          <a:p>
            <a:pPr lvl="2"/>
            <a:r>
              <a:rPr lang="en-US" dirty="0"/>
              <a:t>Both Y</a:t>
            </a:r>
            <a:r>
              <a:rPr lang="en-US" baseline="-25000" dirty="0"/>
              <a:t>3</a:t>
            </a:r>
            <a:r>
              <a:rPr lang="en-US" dirty="0"/>
              <a:t> and X</a:t>
            </a:r>
            <a:r>
              <a:rPr lang="en-US" baseline="-25000" dirty="0"/>
              <a:t>4</a:t>
            </a:r>
            <a:r>
              <a:rPr lang="en-US" dirty="0"/>
              <a:t> cover the same work shifts for answering calls</a:t>
            </a:r>
          </a:p>
          <a:p>
            <a:pPr lvl="2"/>
            <a:r>
              <a:rPr lang="en-US" dirty="0"/>
              <a:t>Unit cost of Y</a:t>
            </a:r>
            <a:r>
              <a:rPr lang="en-US" baseline="-25000" dirty="0"/>
              <a:t>3</a:t>
            </a:r>
            <a:r>
              <a:rPr lang="en-US" dirty="0"/>
              <a:t> is cheaper, so in the optimal solution, X</a:t>
            </a:r>
            <a:r>
              <a:rPr lang="en-US" baseline="-25000" dirty="0"/>
              <a:t>4</a:t>
            </a:r>
            <a:r>
              <a:rPr lang="en-US" dirty="0"/>
              <a:t> will be 0</a:t>
            </a:r>
          </a:p>
          <a:p>
            <a:pPr lvl="2"/>
            <a:r>
              <a:rPr lang="en-US" dirty="0"/>
              <a:t>Thus, we can remove X</a:t>
            </a:r>
            <a:r>
              <a:rPr lang="en-US" baseline="-25000" dirty="0"/>
              <a:t>4</a:t>
            </a:r>
            <a:r>
              <a:rPr lang="en-US" dirty="0"/>
              <a:t> from the model</a:t>
            </a:r>
          </a:p>
          <a:p>
            <a:pPr lvl="2"/>
            <a:endParaRPr lang="en-US" dirty="0"/>
          </a:p>
          <a:p>
            <a:pPr lvl="3"/>
            <a:endParaRPr lang="en-US" dirty="0"/>
          </a:p>
          <a:p>
            <a:pPr marL="400050" lvl="2" indent="0">
              <a:buNone/>
            </a:pPr>
            <a:endParaRPr lang="en-US" sz="2800" dirty="0"/>
          </a:p>
          <a:p>
            <a:pPr marL="400050" lvl="2" indent="0">
              <a:buNone/>
            </a:pPr>
            <a:endParaRPr lang="en-US" dirty="0"/>
          </a:p>
          <a:p>
            <a:endParaRPr lang="en-US" dirty="0"/>
          </a:p>
        </p:txBody>
      </p:sp>
    </p:spTree>
    <p:extLst>
      <p:ext uri="{BB962C8B-B14F-4D97-AF65-F5344CB8AC3E}">
        <p14:creationId xmlns:p14="http://schemas.microsoft.com/office/powerpoint/2010/main" val="3485394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Examples on Algebraic Modeling</a:t>
            </a:r>
          </a:p>
        </p:txBody>
      </p:sp>
      <p:sp>
        <p:nvSpPr>
          <p:cNvPr id="3" name="Content Placeholder 2"/>
          <p:cNvSpPr>
            <a:spLocks noGrp="1"/>
          </p:cNvSpPr>
          <p:nvPr>
            <p:ph idx="1"/>
          </p:nvPr>
        </p:nvSpPr>
        <p:spPr>
          <a:xfrm>
            <a:off x="355002" y="1312433"/>
            <a:ext cx="11836998" cy="4864530"/>
          </a:xfrm>
        </p:spPr>
        <p:txBody>
          <a:bodyPr>
            <a:normAutofit lnSpcReduction="10000"/>
          </a:bodyPr>
          <a:lstStyle/>
          <a:p>
            <a:r>
              <a:rPr lang="en-US" b="1" u="sng" dirty="0"/>
              <a:t>Case: Case 2-3 Staffing a Call Center (page 62):</a:t>
            </a:r>
          </a:p>
          <a:p>
            <a:r>
              <a:rPr lang="en-US" dirty="0"/>
              <a:t>The below model is equivalent:</a:t>
            </a:r>
          </a:p>
          <a:p>
            <a:endParaRPr lang="en-US" dirty="0"/>
          </a:p>
          <a:p>
            <a:endParaRPr lang="en-US" dirty="0"/>
          </a:p>
          <a:p>
            <a:endParaRPr lang="en-US" dirty="0"/>
          </a:p>
          <a:p>
            <a:endParaRPr lang="en-US" dirty="0"/>
          </a:p>
          <a:p>
            <a:endParaRPr lang="en-US" dirty="0"/>
          </a:p>
          <a:p>
            <a:endParaRPr lang="en-US" dirty="0"/>
          </a:p>
          <a:p>
            <a:endParaRPr lang="en-US" dirty="0"/>
          </a:p>
          <a:p>
            <a:pPr lvl="2"/>
            <a:endParaRPr lang="en-US" dirty="0"/>
          </a:p>
          <a:p>
            <a:pPr lvl="2"/>
            <a:r>
              <a:rPr lang="en-US" dirty="0"/>
              <a:t>This model has 7 decision variables, while the previous model had 10 decision variables </a:t>
            </a:r>
          </a:p>
          <a:p>
            <a:endParaRPr lang="en-US" dirty="0"/>
          </a:p>
          <a:p>
            <a:pPr lvl="3"/>
            <a:endParaRPr lang="en-US" dirty="0"/>
          </a:p>
          <a:p>
            <a:pPr marL="400050" lvl="2" indent="0">
              <a:buNone/>
            </a:pPr>
            <a:endParaRPr lang="en-US" sz="2800" dirty="0"/>
          </a:p>
          <a:p>
            <a:pPr marL="400050" lvl="2" indent="0">
              <a:buNone/>
            </a:pPr>
            <a:endParaRPr lang="en-US" dirty="0"/>
          </a:p>
          <a:p>
            <a:endParaRPr lang="en-US" dirty="0"/>
          </a:p>
        </p:txBody>
      </p:sp>
      <mc:AlternateContent xmlns:mc="http://schemas.openxmlformats.org/markup-compatibility/2006" xmlns:a14="http://schemas.microsoft.com/office/drawing/2010/main">
        <mc:Choice Requires="a14">
          <p:sp>
            <p:nvSpPr>
              <p:cNvPr id="4" name="Rectangle 3"/>
              <p:cNvSpPr/>
              <p:nvPr/>
            </p:nvSpPr>
            <p:spPr>
              <a:xfrm>
                <a:off x="1901371" y="2499409"/>
                <a:ext cx="8142514" cy="369332"/>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b="0" i="1" dirty="0" smtClean="0">
                          <a:latin typeface="Cambria Math" panose="02040503050406030204" pitchFamily="18" charset="0"/>
                        </a:rPr>
                        <m:t>𝑀𝑖𝑛𝑚𝑖𝑧𝑒</m:t>
                      </m:r>
                      <m:r>
                        <a:rPr lang="en-US" b="0" i="1" dirty="0" smtClean="0">
                          <a:latin typeface="Cambria Math" panose="02040503050406030204" pitchFamily="18" charset="0"/>
                        </a:rPr>
                        <m:t>       80</m:t>
                      </m:r>
                      <m:sSub>
                        <m:sSubPr>
                          <m:ctrlPr>
                            <a:rPr lang="en-US" i="1" dirty="0">
                              <a:latin typeface="Cambria Math" panose="02040503050406030204" pitchFamily="18" charset="0"/>
                            </a:rPr>
                          </m:ctrlPr>
                        </m:sSubPr>
                        <m:e>
                          <m:r>
                            <a:rPr lang="en-US" i="1" dirty="0">
                              <a:latin typeface="Cambria Math" panose="02040503050406030204" pitchFamily="18" charset="0"/>
                            </a:rPr>
                            <m:t>(</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𝑇</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2</m:t>
                          </m:r>
                        </m:sub>
                      </m:sSub>
                      <m:r>
                        <a:rPr lang="en-US" i="1" dirty="0">
                          <a:latin typeface="Cambria Math" panose="02040503050406030204" pitchFamily="18" charset="0"/>
                        </a:rPr>
                        <m:t>)+84</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3</m:t>
                          </m:r>
                        </m:sub>
                      </m:sSub>
                      <m:r>
                        <a:rPr lang="en-US" i="1" dirty="0">
                          <a:latin typeface="Cambria Math" panose="02040503050406030204" pitchFamily="18" charset="0"/>
                        </a:rPr>
                        <m:t>+88</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4</m:t>
                          </m:r>
                        </m:sub>
                      </m:sSub>
                      <m:r>
                        <a:rPr lang="en-US" i="1" dirty="0">
                          <a:latin typeface="Cambria Math" panose="02040503050406030204" pitchFamily="18" charset="0"/>
                        </a:rPr>
                        <m:t>+44</m:t>
                      </m:r>
                      <m:sSub>
                        <m:sSubPr>
                          <m:ctrlPr>
                            <a:rPr lang="en-US" i="1" dirty="0">
                              <a:latin typeface="Cambria Math" panose="02040503050406030204" pitchFamily="18" charset="0"/>
                            </a:rPr>
                          </m:ctrlPr>
                        </m:sSubPr>
                        <m:e>
                          <m:r>
                            <a:rPr lang="en-US" i="1" dirty="0">
                              <a:latin typeface="Cambria Math" panose="02040503050406030204" pitchFamily="18" charset="0"/>
                            </a:rPr>
                            <m:t>𝑍</m:t>
                          </m:r>
                        </m:e>
                        <m:sub>
                          <m:r>
                            <a:rPr lang="en-US" i="1" dirty="0">
                              <a:latin typeface="Cambria Math" panose="02040503050406030204" pitchFamily="18" charset="0"/>
                            </a:rPr>
                            <m:t>1</m:t>
                          </m:r>
                        </m:sub>
                      </m:sSub>
                      <m:r>
                        <a:rPr lang="en-US" i="1" dirty="0">
                          <a:latin typeface="Cambria Math" panose="02040503050406030204" pitchFamily="18" charset="0"/>
                        </a:rPr>
                        <m:t>+44</m:t>
                      </m:r>
                      <m:sSub>
                        <m:sSubPr>
                          <m:ctrlPr>
                            <a:rPr lang="en-US" i="1" dirty="0">
                              <a:latin typeface="Cambria Math" panose="02040503050406030204" pitchFamily="18" charset="0"/>
                            </a:rPr>
                          </m:ctrlPr>
                        </m:sSubPr>
                        <m:e>
                          <m:r>
                            <a:rPr lang="en-US" i="1" dirty="0">
                              <a:latin typeface="Cambria Math" panose="02040503050406030204" pitchFamily="18" charset="0"/>
                            </a:rPr>
                            <m:t>𝑍</m:t>
                          </m:r>
                        </m:e>
                        <m:sub>
                          <m:r>
                            <a:rPr lang="en-US" i="1" dirty="0">
                              <a:latin typeface="Cambria Math" panose="02040503050406030204" pitchFamily="18" charset="0"/>
                            </a:rPr>
                            <m:t>2</m:t>
                          </m:r>
                        </m:sub>
                      </m:sSub>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1901371" y="2499409"/>
                <a:ext cx="8142514" cy="369332"/>
              </a:xfrm>
              <a:prstGeom prst="rect">
                <a:avLst/>
              </a:prstGeom>
              <a:blipFill rotWithShape="0">
                <a:blip r:embed="rId2"/>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962758" y="2868741"/>
                <a:ext cx="2138727" cy="369332"/>
              </a:xfrm>
              <a:prstGeom prst="rect">
                <a:avLst/>
              </a:prstGeom>
            </p:spPr>
            <p:txBody>
              <a:bodyPr wrap="none">
                <a:spAutoFit/>
              </a:bodyPr>
              <a:lstStyle/>
              <a:p>
                <a14:m>
                  <m:oMath xmlns:m="http://schemas.openxmlformats.org/officeDocument/2006/math">
                    <m:r>
                      <a:rPr lang="en-US" i="1" dirty="0" smtClean="0">
                        <a:latin typeface="Cambria Math" panose="02040503050406030204" pitchFamily="18" charset="0"/>
                      </a:rPr>
                      <m:t>𝑆𝑢𝑏𝑗𝑒𝑐𝑡</m:t>
                    </m:r>
                    <m:r>
                      <a:rPr lang="en-US" i="1" dirty="0" smtClean="0">
                        <a:latin typeface="Cambria Math" panose="02040503050406030204" pitchFamily="18" charset="0"/>
                      </a:rPr>
                      <m:t> </m:t>
                    </m:r>
                    <m:r>
                      <a:rPr lang="en-US" i="1" dirty="0" smtClean="0">
                        <a:latin typeface="Cambria Math" panose="02040503050406030204" pitchFamily="18" charset="0"/>
                      </a:rPr>
                      <m:t>𝑡𝑜</m:t>
                    </m:r>
                    <m:r>
                      <a:rPr lang="en-US" i="1" dirty="0" smtClean="0">
                        <a:latin typeface="Cambria Math" panose="02040503050406030204" pitchFamily="18" charset="0"/>
                      </a:rPr>
                      <m:t>    </m:t>
                    </m:r>
                    <m:sSub>
                      <m:sSubPr>
                        <m:ctrlPr>
                          <a:rPr lang="en-US" i="1" dirty="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i="1" dirty="0">
                        <a:latin typeface="Cambria Math" panose="02040503050406030204" pitchFamily="18" charset="0"/>
                      </a:rPr>
                      <m:t>≥</m:t>
                    </m:r>
                  </m:oMath>
                </a14:m>
                <a:r>
                  <a:rPr lang="en-US" dirty="0"/>
                  <a:t>6</a:t>
                </a:r>
              </a:p>
            </p:txBody>
          </p:sp>
        </mc:Choice>
        <mc:Fallback xmlns="">
          <p:sp>
            <p:nvSpPr>
              <p:cNvPr id="5" name="Rectangle 4"/>
              <p:cNvSpPr>
                <a:spLocks noRot="1" noChangeAspect="1" noMove="1" noResize="1" noEditPoints="1" noAdjustHandles="1" noChangeArrowheads="1" noChangeShapeType="1" noTextEdit="1"/>
              </p:cNvSpPr>
              <p:nvPr/>
            </p:nvSpPr>
            <p:spPr>
              <a:xfrm>
                <a:off x="1962758" y="2868741"/>
                <a:ext cx="2138727" cy="369332"/>
              </a:xfrm>
              <a:prstGeom prst="rect">
                <a:avLst/>
              </a:prstGeom>
              <a:blipFill rotWithShape="0">
                <a:blip r:embed="rId3"/>
                <a:stretch>
                  <a:fillRect l="-855"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207529" y="3160984"/>
                <a:ext cx="969304" cy="369332"/>
              </a:xfrm>
              <a:prstGeom prst="rect">
                <a:avLst/>
              </a:prstGeom>
            </p:spPr>
            <p:txBody>
              <a:bodyPr wrap="none">
                <a:spAutoFit/>
              </a:bodyPr>
              <a:lstStyle/>
              <a:p>
                <a:r>
                  <a:rPr lang="en-US" dirty="0"/>
                  <a:t>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𝑇</m:t>
                        </m:r>
                      </m:e>
                      <m:sub>
                        <m:r>
                          <a:rPr lang="en-US" i="1" dirty="0">
                            <a:latin typeface="Cambria Math" panose="02040503050406030204" pitchFamily="18" charset="0"/>
                          </a:rPr>
                          <m:t>2</m:t>
                        </m:r>
                      </m:sub>
                    </m:sSub>
                  </m:oMath>
                </a14:m>
                <a:r>
                  <a:rPr lang="en-US" dirty="0"/>
                  <a:t> </a:t>
                </a:r>
                <a14:m>
                  <m:oMath xmlns:m="http://schemas.openxmlformats.org/officeDocument/2006/math">
                    <m:r>
                      <a:rPr lang="en-US" i="1" dirty="0">
                        <a:latin typeface="Cambria Math" panose="02040503050406030204" pitchFamily="18" charset="0"/>
                      </a:rPr>
                      <m:t>≥ </m:t>
                    </m:r>
                  </m:oMath>
                </a14:m>
                <a:r>
                  <a:rPr lang="en-US" dirty="0"/>
                  <a:t>12</a:t>
                </a:r>
              </a:p>
            </p:txBody>
          </p:sp>
        </mc:Choice>
        <mc:Fallback xmlns="">
          <p:sp>
            <p:nvSpPr>
              <p:cNvPr id="7" name="Rectangle 6"/>
              <p:cNvSpPr>
                <a:spLocks noRot="1" noChangeAspect="1" noMove="1" noResize="1" noEditPoints="1" noAdjustHandles="1" noChangeArrowheads="1" noChangeShapeType="1" noTextEdit="1"/>
              </p:cNvSpPr>
              <p:nvPr/>
            </p:nvSpPr>
            <p:spPr>
              <a:xfrm>
                <a:off x="3207529" y="3160984"/>
                <a:ext cx="969304" cy="369332"/>
              </a:xfrm>
              <a:prstGeom prst="rect">
                <a:avLst/>
              </a:prstGeom>
              <a:blipFill rotWithShape="0">
                <a:blip r:embed="rId4"/>
                <a:stretch>
                  <a:fillRect t="-10000" r="-4403"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207529" y="3488904"/>
                <a:ext cx="1243161" cy="369332"/>
              </a:xfrm>
              <a:prstGeom prst="rect">
                <a:avLst/>
              </a:prstGeom>
            </p:spPr>
            <p:txBody>
              <a:bodyPr wrap="none">
                <a:spAutoFit/>
              </a:bodyPr>
              <a:lstStyle/>
              <a:p>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1</m:t>
                        </m:r>
                      </m:sub>
                    </m:sSub>
                  </m:oMath>
                </a14:m>
                <a:r>
                  <a:rPr lang="en-US" dirty="0"/>
                  <a:t>+Y</a:t>
                </a:r>
                <a:r>
                  <a:rPr lang="en-US" baseline="-25000" dirty="0"/>
                  <a:t>2</a:t>
                </a:r>
                <a:r>
                  <a:rPr lang="en-US" dirty="0"/>
                  <a:t> </a:t>
                </a:r>
                <a14:m>
                  <m:oMath xmlns:m="http://schemas.openxmlformats.org/officeDocument/2006/math">
                    <m:r>
                      <a:rPr lang="en-US" i="1" dirty="0">
                        <a:latin typeface="Cambria Math" panose="02040503050406030204" pitchFamily="18" charset="0"/>
                      </a:rPr>
                      <m:t>≥ </m:t>
                    </m:r>
                  </m:oMath>
                </a14:m>
                <a:r>
                  <a:rPr lang="en-US" dirty="0"/>
                  <a:t>10</a:t>
                </a:r>
              </a:p>
            </p:txBody>
          </p:sp>
        </mc:Choice>
        <mc:Fallback xmlns="">
          <p:sp>
            <p:nvSpPr>
              <p:cNvPr id="8" name="Rectangle 7"/>
              <p:cNvSpPr>
                <a:spLocks noRot="1" noChangeAspect="1" noMove="1" noResize="1" noEditPoints="1" noAdjustHandles="1" noChangeArrowheads="1" noChangeShapeType="1" noTextEdit="1"/>
              </p:cNvSpPr>
              <p:nvPr/>
            </p:nvSpPr>
            <p:spPr>
              <a:xfrm>
                <a:off x="3207529" y="3488904"/>
                <a:ext cx="1243161" cy="369332"/>
              </a:xfrm>
              <a:prstGeom prst="rect">
                <a:avLst/>
              </a:prstGeom>
              <a:blipFill rotWithShape="0">
                <a:blip r:embed="rId5"/>
                <a:stretch>
                  <a:fillRect t="-8197" r="-294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728685" y="3822559"/>
                <a:ext cx="6096000" cy="1815882"/>
              </a:xfrm>
              <a:prstGeom prst="rect">
                <a:avLst/>
              </a:prstGeom>
            </p:spPr>
            <p:txBody>
              <a:bodyPr>
                <a:spAutoFit/>
              </a:bodyPr>
              <a:lstStyle/>
              <a:p>
                <a:pPr lvl="1"/>
                <a:r>
                  <a:rPr lang="en-US" sz="2000" dirty="0"/>
                  <a:t>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𝑇</m:t>
                        </m:r>
                      </m:e>
                      <m:sub>
                        <m:r>
                          <a:rPr lang="en-US" b="0" i="1" dirty="0" smtClean="0">
                            <a:latin typeface="Cambria Math" panose="02040503050406030204" pitchFamily="18" charset="0"/>
                          </a:rPr>
                          <m:t>1</m:t>
                        </m:r>
                      </m:sub>
                    </m:sSub>
                  </m:oMath>
                </a14:m>
                <a:r>
                  <a:rPr lang="en-US" dirty="0"/>
                  <a:t>+Y</a:t>
                </a:r>
                <a:r>
                  <a:rPr lang="en-US" baseline="-25000" dirty="0"/>
                  <a:t>3</a:t>
                </a:r>
                <a:r>
                  <a:rPr lang="en-US" dirty="0"/>
                  <a:t> </a:t>
                </a:r>
                <a14:m>
                  <m:oMath xmlns:m="http://schemas.openxmlformats.org/officeDocument/2006/math">
                    <m:r>
                      <a:rPr lang="en-US" i="1" dirty="0">
                        <a:latin typeface="Cambria Math" panose="02040503050406030204" pitchFamily="18" charset="0"/>
                      </a:rPr>
                      <m:t>≥ </m:t>
                    </m:r>
                  </m:oMath>
                </a14:m>
                <a:r>
                  <a:rPr lang="en-US" dirty="0"/>
                  <a:t>13</a:t>
                </a:r>
              </a:p>
              <a:p>
                <a:pPr lvl="1"/>
                <a:r>
                  <a:rPr lang="en-US" dirty="0"/>
                  <a:t> Y</a:t>
                </a:r>
                <a:r>
                  <a:rPr lang="en-US" baseline="-25000" dirty="0"/>
                  <a:t>2</a:t>
                </a:r>
                <a:r>
                  <a:rPr lang="en-US" dirty="0"/>
                  <a:t>+Y</a:t>
                </a:r>
                <a:r>
                  <a:rPr lang="en-US" baseline="-25000" dirty="0"/>
                  <a:t>4</a:t>
                </a:r>
                <a:r>
                  <a:rPr lang="en-US" dirty="0"/>
                  <a:t>+Z</a:t>
                </a:r>
                <a:r>
                  <a:rPr lang="en-US" baseline="-25000" dirty="0"/>
                  <a:t>1</a:t>
                </a:r>
                <a:r>
                  <a:rPr lang="en-US" dirty="0"/>
                  <a:t> </a:t>
                </a:r>
                <a14:m>
                  <m:oMath xmlns:m="http://schemas.openxmlformats.org/officeDocument/2006/math">
                    <m:r>
                      <a:rPr lang="en-US" i="1" dirty="0">
                        <a:latin typeface="Cambria Math" panose="02040503050406030204" pitchFamily="18" charset="0"/>
                      </a:rPr>
                      <m:t>≥ </m:t>
                    </m:r>
                  </m:oMath>
                </a14:m>
                <a:r>
                  <a:rPr lang="en-US" dirty="0"/>
                  <a:t>11</a:t>
                </a:r>
              </a:p>
              <a:p>
                <a:pPr lvl="1"/>
                <a:r>
                  <a:rPr lang="en-US" dirty="0"/>
                  <a:t> Y</a:t>
                </a:r>
                <a:r>
                  <a:rPr lang="en-US" baseline="-25000" dirty="0"/>
                  <a:t>3</a:t>
                </a:r>
                <a:r>
                  <a:rPr lang="en-US" dirty="0"/>
                  <a:t>+Z</a:t>
                </a:r>
                <a:r>
                  <a:rPr lang="en-US" baseline="-25000" dirty="0"/>
                  <a:t>1</a:t>
                </a:r>
                <a:r>
                  <a:rPr lang="en-US" dirty="0"/>
                  <a:t>+Z</a:t>
                </a:r>
                <a:r>
                  <a:rPr lang="en-US" baseline="-25000" dirty="0"/>
                  <a:t>2</a:t>
                </a:r>
                <a:r>
                  <a:rPr lang="en-US" dirty="0"/>
                  <a:t> </a:t>
                </a:r>
                <a14:m>
                  <m:oMath xmlns:m="http://schemas.openxmlformats.org/officeDocument/2006/math">
                    <m:r>
                      <a:rPr lang="en-US" i="1" dirty="0">
                        <a:latin typeface="Cambria Math" panose="02040503050406030204" pitchFamily="18" charset="0"/>
                      </a:rPr>
                      <m:t>≥ </m:t>
                    </m:r>
                  </m:oMath>
                </a14:m>
                <a:r>
                  <a:rPr lang="en-US" dirty="0"/>
                  <a:t>5</a:t>
                </a:r>
              </a:p>
              <a:p>
                <a:pPr lvl="1"/>
                <a:r>
                  <a:rPr lang="en-US" dirty="0"/>
                  <a:t> Y</a:t>
                </a:r>
                <a:r>
                  <a:rPr lang="en-US" baseline="-25000" dirty="0"/>
                  <a:t>4</a:t>
                </a:r>
                <a:r>
                  <a:rPr lang="en-US" dirty="0"/>
                  <a:t>+Z</a:t>
                </a:r>
                <a:r>
                  <a:rPr lang="en-US" baseline="-25000" dirty="0"/>
                  <a:t>2</a:t>
                </a:r>
                <a:r>
                  <a:rPr lang="en-US" dirty="0"/>
                  <a:t> </a:t>
                </a:r>
                <a14:m>
                  <m:oMath xmlns:m="http://schemas.openxmlformats.org/officeDocument/2006/math">
                    <m:r>
                      <a:rPr lang="en-US" i="1" dirty="0">
                        <a:latin typeface="Cambria Math" panose="02040503050406030204" pitchFamily="18" charset="0"/>
                      </a:rPr>
                      <m:t>≥ </m:t>
                    </m:r>
                  </m:oMath>
                </a14:m>
                <a:r>
                  <a:rPr lang="en-US" dirty="0"/>
                  <a:t>2</a:t>
                </a:r>
                <a:endParaRPr lang="en-US" i="1" dirty="0">
                  <a:latin typeface="Cambria Math" panose="02040503050406030204" pitchFamily="18" charset="0"/>
                </a:endParaRPr>
              </a:p>
              <a:p>
                <a:pPr lvl="1"/>
                <a14:m>
                  <m:oMathPara xmlns:m="http://schemas.openxmlformats.org/officeDocument/2006/math">
                    <m:oMathParaPr>
                      <m:jc m:val="left"/>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𝑋</m:t>
                          </m:r>
                        </m:e>
                        <m:sub>
                          <m:r>
                            <a:rPr lang="en-US" i="1" dirty="0">
                              <a:latin typeface="Cambria Math" panose="02040503050406030204" pitchFamily="18" charset="0"/>
                            </a:rPr>
                            <m:t>1</m:t>
                          </m:r>
                        </m:sub>
                      </m:sSub>
                      <m:r>
                        <a:rPr lang="en-US" b="0" i="1" dirty="0" smtClean="0">
                          <a:latin typeface="Cambria Math" panose="02040503050406030204" pitchFamily="18" charset="0"/>
                        </a:rPr>
                        <m:t>≥0</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𝑇</m:t>
                          </m:r>
                        </m:e>
                        <m:sub>
                          <m:r>
                            <a:rPr lang="en-US" b="0" i="1" dirty="0" smtClean="0">
                              <a:latin typeface="Cambria Math" panose="02040503050406030204" pitchFamily="18" charset="0"/>
                            </a:rPr>
                            <m:t>1</m:t>
                          </m:r>
                        </m:sub>
                      </m:sSub>
                      <m:r>
                        <a:rPr lang="en-US" i="1" dirty="0">
                          <a:latin typeface="Cambria Math" panose="02040503050406030204" pitchFamily="18" charset="0"/>
                        </a:rPr>
                        <m:t>≥0, </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𝑌</m:t>
                          </m:r>
                        </m:e>
                        <m:sub>
                          <m:r>
                            <a:rPr lang="en-US" b="0" i="1" dirty="0" smtClean="0">
                              <a:latin typeface="Cambria Math" panose="02040503050406030204" pitchFamily="18" charset="0"/>
                            </a:rPr>
                            <m:t>2</m:t>
                          </m:r>
                        </m:sub>
                      </m:sSub>
                      <m:r>
                        <a:rPr lang="en-US" i="1" dirty="0">
                          <a:latin typeface="Cambria Math" panose="02040503050406030204" pitchFamily="18" charset="0"/>
                        </a:rPr>
                        <m:t>≥0,</m:t>
                      </m:r>
                      <m:r>
                        <a:rPr lang="en-US" b="0" i="1" dirty="0" smtClean="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𝑌</m:t>
                          </m:r>
                        </m:e>
                        <m:sub>
                          <m:r>
                            <a:rPr lang="en-US" b="0" i="1" dirty="0" smtClean="0">
                              <a:latin typeface="Cambria Math" panose="02040503050406030204" pitchFamily="18" charset="0"/>
                            </a:rPr>
                            <m:t>3</m:t>
                          </m:r>
                        </m:sub>
                      </m:sSub>
                      <m:r>
                        <a:rPr lang="en-US" i="1" dirty="0">
                          <a:latin typeface="Cambria Math" panose="02040503050406030204" pitchFamily="18" charset="0"/>
                        </a:rPr>
                        <m:t>≥0,</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𝑌</m:t>
                          </m:r>
                        </m:e>
                        <m:sub>
                          <m:r>
                            <a:rPr lang="en-US" b="0" i="1" dirty="0" smtClean="0">
                              <a:latin typeface="Cambria Math" panose="02040503050406030204" pitchFamily="18" charset="0"/>
                            </a:rPr>
                            <m:t>4</m:t>
                          </m:r>
                        </m:sub>
                      </m:sSub>
                      <m:r>
                        <a:rPr lang="en-US" i="1" dirty="0">
                          <a:latin typeface="Cambria Math" panose="02040503050406030204" pitchFamily="18" charset="0"/>
                        </a:rPr>
                        <m:t>≥0, </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𝑍</m:t>
                          </m:r>
                        </m:e>
                        <m:sub>
                          <m:r>
                            <a:rPr lang="en-US" i="1" dirty="0">
                              <a:latin typeface="Cambria Math" panose="02040503050406030204" pitchFamily="18" charset="0"/>
                            </a:rPr>
                            <m:t>1</m:t>
                          </m:r>
                        </m:sub>
                      </m:sSub>
                      <m:r>
                        <a:rPr lang="en-US" i="1" dirty="0">
                          <a:latin typeface="Cambria Math" panose="02040503050406030204" pitchFamily="18" charset="0"/>
                        </a:rPr>
                        <m:t>≥0,</m:t>
                      </m:r>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b="0" i="1" dirty="0" smtClean="0">
                              <a:latin typeface="Cambria Math" panose="02040503050406030204" pitchFamily="18" charset="0"/>
                            </a:rPr>
                            <m:t>𝑍</m:t>
                          </m:r>
                        </m:e>
                        <m:sub>
                          <m:r>
                            <a:rPr lang="en-US" b="0" i="1" dirty="0" smtClean="0">
                              <a:latin typeface="Cambria Math" panose="02040503050406030204" pitchFamily="18" charset="0"/>
                            </a:rPr>
                            <m:t>2</m:t>
                          </m:r>
                        </m:sub>
                      </m:sSub>
                      <m:r>
                        <a:rPr lang="en-US" i="1" dirty="0">
                          <a:latin typeface="Cambria Math" panose="02040503050406030204" pitchFamily="18" charset="0"/>
                        </a:rPr>
                        <m:t>≥0, </m:t>
                      </m:r>
                    </m:oMath>
                  </m:oMathPara>
                </a14:m>
                <a:endParaRPr lang="en-US" dirty="0"/>
              </a:p>
              <a:p>
                <a:pPr lvl="1"/>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2728685" y="3822559"/>
                <a:ext cx="6096000" cy="1815882"/>
              </a:xfrm>
              <a:prstGeom prst="rect">
                <a:avLst/>
              </a:prstGeom>
              <a:blipFill rotWithShape="0">
                <a:blip r:embed="rId6"/>
                <a:stretch>
                  <a:fillRect t="-336"/>
                </a:stretch>
              </a:blipFill>
            </p:spPr>
            <p:txBody>
              <a:bodyPr/>
              <a:lstStyle/>
              <a:p>
                <a:r>
                  <a:rPr lang="en-US">
                    <a:noFill/>
                  </a:rPr>
                  <a:t> </a:t>
                </a:r>
              </a:p>
            </p:txBody>
          </p:sp>
        </mc:Fallback>
      </mc:AlternateContent>
      <p:pic>
        <p:nvPicPr>
          <p:cNvPr id="10" name="Picture 4" descr="View details"/>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9243785" y="3198653"/>
            <a:ext cx="1600200" cy="16002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1786822" y="2359064"/>
            <a:ext cx="7037863" cy="327937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4671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2364</TotalTime>
  <Words>6861</Words>
  <Application>Microsoft Macintosh PowerPoint</Application>
  <PresentationFormat>Widescreen</PresentationFormat>
  <Paragraphs>828</Paragraphs>
  <Slides>63</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63</vt:i4>
      </vt:variant>
    </vt:vector>
  </HeadingPairs>
  <TitlesOfParts>
    <vt:vector size="70" baseType="lpstr">
      <vt:lpstr>BatangChe</vt:lpstr>
      <vt:lpstr>Arial</vt:lpstr>
      <vt:lpstr>Calibri</vt:lpstr>
      <vt:lpstr>Calibri Light</vt:lpstr>
      <vt:lpstr>Cambria Math</vt:lpstr>
      <vt:lpstr>Wingdings</vt:lpstr>
      <vt:lpstr>Office Theme</vt:lpstr>
      <vt:lpstr> ANLY 5332   Department of Information Systems and Analytics McCoy College of Business Administration Texas State University</vt:lpstr>
      <vt:lpstr>Outline</vt:lpstr>
      <vt:lpstr>Outline</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Formulating Linear Programming Models</vt:lpstr>
      <vt:lpstr>Outline</vt:lpstr>
      <vt:lpstr>Graphical Solution Method</vt:lpstr>
      <vt:lpstr>Graphical Solution Method</vt:lpstr>
      <vt:lpstr>Graphical Solution Method</vt:lpstr>
      <vt:lpstr>Graphical Solution Method</vt:lpstr>
      <vt:lpstr>Graphical Solution Method</vt:lpstr>
      <vt:lpstr>Graphical Solution Method</vt:lpstr>
      <vt:lpstr>Graphical Solution Method</vt:lpstr>
      <vt:lpstr>Graphical Solution Method</vt:lpstr>
      <vt:lpstr>Graphical Solution Method</vt:lpstr>
      <vt:lpstr>Graphical Solution Method</vt:lpstr>
      <vt:lpstr>Graphical Solution Method</vt:lpstr>
      <vt:lpstr>Graphical Solution Method</vt:lpstr>
      <vt:lpstr>Outline</vt:lpstr>
      <vt:lpstr>Linear Programming Properties</vt:lpstr>
      <vt:lpstr>Linear Programming Properties</vt:lpstr>
      <vt:lpstr>Linear Programming Properties</vt:lpstr>
      <vt:lpstr>Linear Programming Properties</vt:lpstr>
      <vt:lpstr>Linear Programming Properties</vt:lpstr>
      <vt:lpstr>Linear Programming Properties</vt:lpstr>
      <vt:lpstr>Linear Programming Properties</vt:lpstr>
      <vt:lpstr>Linear Programming Properties</vt:lpstr>
      <vt:lpstr>Linear Programming Properties</vt:lpstr>
      <vt:lpstr>Linear Programming Properties</vt:lpstr>
      <vt:lpstr>Outline</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lpstr>Further Examples on Algebraic Modeling</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Lin, Zewei (linzw)</cp:lastModifiedBy>
  <cp:revision>108</cp:revision>
  <dcterms:created xsi:type="dcterms:W3CDTF">2018-08-17T02:14:39Z</dcterms:created>
  <dcterms:modified xsi:type="dcterms:W3CDTF">2024-09-08T23:35:34Z</dcterms:modified>
</cp:coreProperties>
</file>