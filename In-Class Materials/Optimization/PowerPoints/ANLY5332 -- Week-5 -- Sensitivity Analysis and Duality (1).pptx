
<file path=[Content_Types].xml><?xml version="1.0" encoding="utf-8"?>
<Types xmlns="http://schemas.openxmlformats.org/package/2006/content-types">
  <Default Extension="bin" ContentType="application/vnd.openxmlformats-officedocument.oleObject"/>
  <Default Extension="emf" ContentType="image/x-emf"/>
  <Default Extension="png" ContentType="image/png"/>
  <Default Extension="rels" ContentType="application/vnd.openxmlformats-package.relationships+xml"/>
  <Default Extension="tiff" ContentType="image/tiff"/>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67"/>
  </p:notesMasterIdLst>
  <p:sldIdLst>
    <p:sldId id="508" r:id="rId2"/>
    <p:sldId id="260" r:id="rId3"/>
    <p:sldId id="509" r:id="rId4"/>
    <p:sldId id="257" r:id="rId5"/>
    <p:sldId id="445" r:id="rId6"/>
    <p:sldId id="446" r:id="rId7"/>
    <p:sldId id="447" r:id="rId8"/>
    <p:sldId id="448" r:id="rId9"/>
    <p:sldId id="449" r:id="rId10"/>
    <p:sldId id="510" r:id="rId11"/>
    <p:sldId id="451" r:id="rId12"/>
    <p:sldId id="452" r:id="rId13"/>
    <p:sldId id="453" r:id="rId14"/>
    <p:sldId id="454" r:id="rId15"/>
    <p:sldId id="455" r:id="rId16"/>
    <p:sldId id="496" r:id="rId17"/>
    <p:sldId id="457" r:id="rId18"/>
    <p:sldId id="458" r:id="rId19"/>
    <p:sldId id="511" r:id="rId20"/>
    <p:sldId id="460" r:id="rId21"/>
    <p:sldId id="461" r:id="rId22"/>
    <p:sldId id="462" r:id="rId23"/>
    <p:sldId id="463" r:id="rId24"/>
    <p:sldId id="467" r:id="rId25"/>
    <p:sldId id="464" r:id="rId26"/>
    <p:sldId id="468" r:id="rId27"/>
    <p:sldId id="469" r:id="rId28"/>
    <p:sldId id="465" r:id="rId29"/>
    <p:sldId id="470" r:id="rId30"/>
    <p:sldId id="471" r:id="rId31"/>
    <p:sldId id="497" r:id="rId32"/>
    <p:sldId id="512" r:id="rId33"/>
    <p:sldId id="482" r:id="rId34"/>
    <p:sldId id="484" r:id="rId35"/>
    <p:sldId id="485" r:id="rId36"/>
    <p:sldId id="486" r:id="rId37"/>
    <p:sldId id="487" r:id="rId38"/>
    <p:sldId id="488" r:id="rId39"/>
    <p:sldId id="489" r:id="rId40"/>
    <p:sldId id="490" r:id="rId41"/>
    <p:sldId id="491" r:id="rId42"/>
    <p:sldId id="492" r:id="rId43"/>
    <p:sldId id="513" r:id="rId44"/>
    <p:sldId id="473" r:id="rId45"/>
    <p:sldId id="474" r:id="rId46"/>
    <p:sldId id="475" r:id="rId47"/>
    <p:sldId id="476" r:id="rId48"/>
    <p:sldId id="477" r:id="rId49"/>
    <p:sldId id="478" r:id="rId50"/>
    <p:sldId id="514" r:id="rId51"/>
    <p:sldId id="505" r:id="rId52"/>
    <p:sldId id="506" r:id="rId53"/>
    <p:sldId id="507" r:id="rId54"/>
    <p:sldId id="419" r:id="rId55"/>
    <p:sldId id="417" r:id="rId56"/>
    <p:sldId id="421" r:id="rId57"/>
    <p:sldId id="422" r:id="rId58"/>
    <p:sldId id="423" r:id="rId59"/>
    <p:sldId id="425" r:id="rId60"/>
    <p:sldId id="426" r:id="rId61"/>
    <p:sldId id="428" r:id="rId62"/>
    <p:sldId id="429" r:id="rId63"/>
    <p:sldId id="424" r:id="rId64"/>
    <p:sldId id="430" r:id="rId65"/>
    <p:sldId id="431" r:id="rId66"/>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D77D6B"/>
    <a:srgbClr val="FF990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9624" autoAdjust="0"/>
    <p:restoredTop sz="76208" autoAdjust="0"/>
  </p:normalViewPr>
  <p:slideViewPr>
    <p:cSldViewPr snapToGrid="0">
      <p:cViewPr varScale="1">
        <p:scale>
          <a:sx n="106" d="100"/>
          <a:sy n="106" d="100"/>
        </p:scale>
        <p:origin x="1080" y="176"/>
      </p:cViewPr>
      <p:guideLst/>
    </p:cSldViewPr>
  </p:slideViewPr>
  <p:notesTextViewPr>
    <p:cViewPr>
      <p:scale>
        <a:sx n="1" d="1"/>
        <a:sy n="1" d="1"/>
      </p:scale>
      <p:origin x="0" y="0"/>
    </p:cViewPr>
  </p:notesTextViewPr>
  <p:sorterViewPr>
    <p:cViewPr>
      <p:scale>
        <a:sx n="100" d="100"/>
        <a:sy n="100" d="100"/>
      </p:scale>
      <p:origin x="0" y="0"/>
    </p:cViewPr>
  </p:sorter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presProps" Target="presProps.xml"/><Relationship Id="rId7" Type="http://schemas.openxmlformats.org/officeDocument/2006/relationships/slide" Target="slides/slide6.xml"/><Relationship Id="rId71"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slide" Target="slides/slide57.xml"/><Relationship Id="rId66" Type="http://schemas.openxmlformats.org/officeDocument/2006/relationships/slide" Target="slides/slide65.xml"/><Relationship Id="rId5" Type="http://schemas.openxmlformats.org/officeDocument/2006/relationships/slide" Target="slides/slide4.xml"/><Relationship Id="rId61" Type="http://schemas.openxmlformats.org/officeDocument/2006/relationships/slide" Target="slides/slide60.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slide" Target="slides/slide63.xml"/><Relationship Id="rId69" Type="http://schemas.openxmlformats.org/officeDocument/2006/relationships/viewProps" Target="viewProps.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notesMaster" Target="notesMasters/notesMaster1.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3768A81C-13E0-402A-9BD9-36F3DFFB46F8}" type="datetimeFigureOut">
              <a:rPr lang="en-US" smtClean="0"/>
              <a:t>9/21/24</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209376B9-9838-4376-9895-3384D05A8DF5}" type="slidenum">
              <a:rPr lang="en-US" smtClean="0"/>
              <a:t>‹#›</a:t>
            </a:fld>
            <a:endParaRPr lang="en-US"/>
          </a:p>
        </p:txBody>
      </p:sp>
    </p:spTree>
    <p:extLst>
      <p:ext uri="{BB962C8B-B14F-4D97-AF65-F5344CB8AC3E}">
        <p14:creationId xmlns:p14="http://schemas.microsoft.com/office/powerpoint/2010/main" val="399736949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209376B9-9838-4376-9895-3384D05A8DF5}" type="slidenum">
              <a:rPr lang="en-US" smtClean="0"/>
              <a:t>1</a:t>
            </a:fld>
            <a:endParaRPr lang="en-US"/>
          </a:p>
        </p:txBody>
      </p:sp>
    </p:spTree>
    <p:extLst>
      <p:ext uri="{BB962C8B-B14F-4D97-AF65-F5344CB8AC3E}">
        <p14:creationId xmlns:p14="http://schemas.microsoft.com/office/powerpoint/2010/main" val="53975968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209376B9-9838-4376-9895-3384D05A8DF5}" type="slidenum">
              <a:rPr lang="en-US" smtClean="0"/>
              <a:t>4</a:t>
            </a:fld>
            <a:endParaRPr lang="en-US"/>
          </a:p>
        </p:txBody>
      </p:sp>
    </p:spTree>
    <p:extLst>
      <p:ext uri="{BB962C8B-B14F-4D97-AF65-F5344CB8AC3E}">
        <p14:creationId xmlns:p14="http://schemas.microsoft.com/office/powerpoint/2010/main" val="4214840870"/>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209376B9-9838-4376-9895-3384D05A8DF5}" type="slidenum">
              <a:rPr lang="en-US" smtClean="0"/>
              <a:t>5</a:t>
            </a:fld>
            <a:endParaRPr lang="en-US"/>
          </a:p>
        </p:txBody>
      </p:sp>
    </p:spTree>
    <p:extLst>
      <p:ext uri="{BB962C8B-B14F-4D97-AF65-F5344CB8AC3E}">
        <p14:creationId xmlns:p14="http://schemas.microsoft.com/office/powerpoint/2010/main" val="3586547983"/>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209376B9-9838-4376-9895-3384D05A8DF5}" type="slidenum">
              <a:rPr lang="en-US" smtClean="0"/>
              <a:t>6</a:t>
            </a:fld>
            <a:endParaRPr lang="en-US"/>
          </a:p>
        </p:txBody>
      </p:sp>
    </p:spTree>
    <p:extLst>
      <p:ext uri="{BB962C8B-B14F-4D97-AF65-F5344CB8AC3E}">
        <p14:creationId xmlns:p14="http://schemas.microsoft.com/office/powerpoint/2010/main" val="3327976096"/>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209376B9-9838-4376-9895-3384D05A8DF5}" type="slidenum">
              <a:rPr lang="en-US" smtClean="0"/>
              <a:t>7</a:t>
            </a:fld>
            <a:endParaRPr lang="en-US"/>
          </a:p>
        </p:txBody>
      </p:sp>
    </p:spTree>
    <p:extLst>
      <p:ext uri="{BB962C8B-B14F-4D97-AF65-F5344CB8AC3E}">
        <p14:creationId xmlns:p14="http://schemas.microsoft.com/office/powerpoint/2010/main" val="3621446679"/>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209376B9-9838-4376-9895-3384D05A8DF5}" type="slidenum">
              <a:rPr lang="en-US" smtClean="0"/>
              <a:t>8</a:t>
            </a:fld>
            <a:endParaRPr lang="en-US"/>
          </a:p>
        </p:txBody>
      </p:sp>
    </p:spTree>
    <p:extLst>
      <p:ext uri="{BB962C8B-B14F-4D97-AF65-F5344CB8AC3E}">
        <p14:creationId xmlns:p14="http://schemas.microsoft.com/office/powerpoint/2010/main" val="1556912585"/>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209376B9-9838-4376-9895-3384D05A8DF5}" type="slidenum">
              <a:rPr lang="en-US" smtClean="0"/>
              <a:t>9</a:t>
            </a:fld>
            <a:endParaRPr lang="en-US"/>
          </a:p>
        </p:txBody>
      </p:sp>
    </p:spTree>
    <p:extLst>
      <p:ext uri="{BB962C8B-B14F-4D97-AF65-F5344CB8AC3E}">
        <p14:creationId xmlns:p14="http://schemas.microsoft.com/office/powerpoint/2010/main" val="3931682132"/>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209376B9-9838-4376-9895-3384D05A8DF5}" type="slidenum">
              <a:rPr lang="en-US" smtClean="0"/>
              <a:t>11</a:t>
            </a:fld>
            <a:endParaRPr lang="en-US"/>
          </a:p>
        </p:txBody>
      </p:sp>
    </p:spTree>
    <p:extLst>
      <p:ext uri="{BB962C8B-B14F-4D97-AF65-F5344CB8AC3E}">
        <p14:creationId xmlns:p14="http://schemas.microsoft.com/office/powerpoint/2010/main" val="9134203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209376B9-9838-4376-9895-3384D05A8DF5}" type="slidenum">
              <a:rPr lang="en-US" smtClean="0"/>
              <a:t>12</a:t>
            </a:fld>
            <a:endParaRPr lang="en-US"/>
          </a:p>
        </p:txBody>
      </p:sp>
    </p:spTree>
    <p:extLst>
      <p:ext uri="{BB962C8B-B14F-4D97-AF65-F5344CB8AC3E}">
        <p14:creationId xmlns:p14="http://schemas.microsoft.com/office/powerpoint/2010/main" val="11017344"/>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209376B9-9838-4376-9895-3384D05A8DF5}" type="slidenum">
              <a:rPr lang="en-US" smtClean="0"/>
              <a:t>13</a:t>
            </a:fld>
            <a:endParaRPr lang="en-US"/>
          </a:p>
        </p:txBody>
      </p:sp>
    </p:spTree>
    <p:extLst>
      <p:ext uri="{BB962C8B-B14F-4D97-AF65-F5344CB8AC3E}">
        <p14:creationId xmlns:p14="http://schemas.microsoft.com/office/powerpoint/2010/main" val="2884911800"/>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209376B9-9838-4376-9895-3384D05A8DF5}" type="slidenum">
              <a:rPr lang="en-US" smtClean="0"/>
              <a:t>14</a:t>
            </a:fld>
            <a:endParaRPr lang="en-US"/>
          </a:p>
        </p:txBody>
      </p:sp>
    </p:spTree>
    <p:extLst>
      <p:ext uri="{BB962C8B-B14F-4D97-AF65-F5344CB8AC3E}">
        <p14:creationId xmlns:p14="http://schemas.microsoft.com/office/powerpoint/2010/main" val="1640012382"/>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209376B9-9838-4376-9895-3384D05A8DF5}" type="slidenum">
              <a:rPr lang="en-US" smtClean="0"/>
              <a:t>15</a:t>
            </a:fld>
            <a:endParaRPr lang="en-US"/>
          </a:p>
        </p:txBody>
      </p:sp>
    </p:spTree>
    <p:extLst>
      <p:ext uri="{BB962C8B-B14F-4D97-AF65-F5344CB8AC3E}">
        <p14:creationId xmlns:p14="http://schemas.microsoft.com/office/powerpoint/2010/main" val="554598868"/>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209376B9-9838-4376-9895-3384D05A8DF5}" type="slidenum">
              <a:rPr lang="en-US" smtClean="0"/>
              <a:t>16</a:t>
            </a:fld>
            <a:endParaRPr lang="en-US"/>
          </a:p>
        </p:txBody>
      </p:sp>
    </p:spTree>
    <p:extLst>
      <p:ext uri="{BB962C8B-B14F-4D97-AF65-F5344CB8AC3E}">
        <p14:creationId xmlns:p14="http://schemas.microsoft.com/office/powerpoint/2010/main" val="160257151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209376B9-9838-4376-9895-3384D05A8DF5}" type="slidenum">
              <a:rPr lang="en-US" smtClean="0"/>
              <a:t>17</a:t>
            </a:fld>
            <a:endParaRPr lang="en-US"/>
          </a:p>
        </p:txBody>
      </p:sp>
    </p:spTree>
    <p:extLst>
      <p:ext uri="{BB962C8B-B14F-4D97-AF65-F5344CB8AC3E}">
        <p14:creationId xmlns:p14="http://schemas.microsoft.com/office/powerpoint/2010/main" val="1828579942"/>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209376B9-9838-4376-9895-3384D05A8DF5}" type="slidenum">
              <a:rPr lang="en-US" smtClean="0"/>
              <a:t>18</a:t>
            </a:fld>
            <a:endParaRPr lang="en-US"/>
          </a:p>
        </p:txBody>
      </p:sp>
    </p:spTree>
    <p:extLst>
      <p:ext uri="{BB962C8B-B14F-4D97-AF65-F5344CB8AC3E}">
        <p14:creationId xmlns:p14="http://schemas.microsoft.com/office/powerpoint/2010/main" val="141046654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209376B9-9838-4376-9895-3384D05A8DF5}" type="slidenum">
              <a:rPr lang="en-US" smtClean="0"/>
              <a:t>20</a:t>
            </a:fld>
            <a:endParaRPr lang="en-US"/>
          </a:p>
        </p:txBody>
      </p:sp>
    </p:spTree>
    <p:extLst>
      <p:ext uri="{BB962C8B-B14F-4D97-AF65-F5344CB8AC3E}">
        <p14:creationId xmlns:p14="http://schemas.microsoft.com/office/powerpoint/2010/main" val="3600297508"/>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209376B9-9838-4376-9895-3384D05A8DF5}" type="slidenum">
              <a:rPr lang="en-US" smtClean="0"/>
              <a:t>21</a:t>
            </a:fld>
            <a:endParaRPr lang="en-US"/>
          </a:p>
        </p:txBody>
      </p:sp>
    </p:spTree>
    <p:extLst>
      <p:ext uri="{BB962C8B-B14F-4D97-AF65-F5344CB8AC3E}">
        <p14:creationId xmlns:p14="http://schemas.microsoft.com/office/powerpoint/2010/main" val="3583764532"/>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209376B9-9838-4376-9895-3384D05A8DF5}" type="slidenum">
              <a:rPr lang="en-US" smtClean="0"/>
              <a:t>22</a:t>
            </a:fld>
            <a:endParaRPr lang="en-US"/>
          </a:p>
        </p:txBody>
      </p:sp>
    </p:spTree>
    <p:extLst>
      <p:ext uri="{BB962C8B-B14F-4D97-AF65-F5344CB8AC3E}">
        <p14:creationId xmlns:p14="http://schemas.microsoft.com/office/powerpoint/2010/main" val="1452567957"/>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209376B9-9838-4376-9895-3384D05A8DF5}" type="slidenum">
              <a:rPr lang="en-US" smtClean="0"/>
              <a:t>23</a:t>
            </a:fld>
            <a:endParaRPr lang="en-US"/>
          </a:p>
        </p:txBody>
      </p:sp>
    </p:spTree>
    <p:extLst>
      <p:ext uri="{BB962C8B-B14F-4D97-AF65-F5344CB8AC3E}">
        <p14:creationId xmlns:p14="http://schemas.microsoft.com/office/powerpoint/2010/main" val="1599393638"/>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209376B9-9838-4376-9895-3384D05A8DF5}" type="slidenum">
              <a:rPr lang="en-US" smtClean="0"/>
              <a:t>24</a:t>
            </a:fld>
            <a:endParaRPr lang="en-US"/>
          </a:p>
        </p:txBody>
      </p:sp>
    </p:spTree>
    <p:extLst>
      <p:ext uri="{BB962C8B-B14F-4D97-AF65-F5344CB8AC3E}">
        <p14:creationId xmlns:p14="http://schemas.microsoft.com/office/powerpoint/2010/main" val="2220561200"/>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209376B9-9838-4376-9895-3384D05A8DF5}" type="slidenum">
              <a:rPr lang="en-US" smtClean="0"/>
              <a:t>25</a:t>
            </a:fld>
            <a:endParaRPr lang="en-US"/>
          </a:p>
        </p:txBody>
      </p:sp>
    </p:spTree>
    <p:extLst>
      <p:ext uri="{BB962C8B-B14F-4D97-AF65-F5344CB8AC3E}">
        <p14:creationId xmlns:p14="http://schemas.microsoft.com/office/powerpoint/2010/main" val="3747992778"/>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209376B9-9838-4376-9895-3384D05A8DF5}" type="slidenum">
              <a:rPr lang="en-US" smtClean="0"/>
              <a:t>26</a:t>
            </a:fld>
            <a:endParaRPr lang="en-US"/>
          </a:p>
        </p:txBody>
      </p:sp>
    </p:spTree>
    <p:extLst>
      <p:ext uri="{BB962C8B-B14F-4D97-AF65-F5344CB8AC3E}">
        <p14:creationId xmlns:p14="http://schemas.microsoft.com/office/powerpoint/2010/main" val="3632157040"/>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209376B9-9838-4376-9895-3384D05A8DF5}" type="slidenum">
              <a:rPr lang="en-US" smtClean="0"/>
              <a:t>27</a:t>
            </a:fld>
            <a:endParaRPr lang="en-US"/>
          </a:p>
        </p:txBody>
      </p:sp>
    </p:spTree>
    <p:extLst>
      <p:ext uri="{BB962C8B-B14F-4D97-AF65-F5344CB8AC3E}">
        <p14:creationId xmlns:p14="http://schemas.microsoft.com/office/powerpoint/2010/main" val="4236358858"/>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209376B9-9838-4376-9895-3384D05A8DF5}" type="slidenum">
              <a:rPr lang="en-US" smtClean="0"/>
              <a:t>28</a:t>
            </a:fld>
            <a:endParaRPr lang="en-US"/>
          </a:p>
        </p:txBody>
      </p:sp>
    </p:spTree>
    <p:extLst>
      <p:ext uri="{BB962C8B-B14F-4D97-AF65-F5344CB8AC3E}">
        <p14:creationId xmlns:p14="http://schemas.microsoft.com/office/powerpoint/2010/main" val="3729881838"/>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209376B9-9838-4376-9895-3384D05A8DF5}" type="slidenum">
              <a:rPr lang="en-US" smtClean="0"/>
              <a:t>29</a:t>
            </a:fld>
            <a:endParaRPr lang="en-US"/>
          </a:p>
        </p:txBody>
      </p:sp>
    </p:spTree>
    <p:extLst>
      <p:ext uri="{BB962C8B-B14F-4D97-AF65-F5344CB8AC3E}">
        <p14:creationId xmlns:p14="http://schemas.microsoft.com/office/powerpoint/2010/main" val="1234093057"/>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209376B9-9838-4376-9895-3384D05A8DF5}" type="slidenum">
              <a:rPr lang="en-US" smtClean="0"/>
              <a:t>30</a:t>
            </a:fld>
            <a:endParaRPr lang="en-US"/>
          </a:p>
        </p:txBody>
      </p:sp>
    </p:spTree>
    <p:extLst>
      <p:ext uri="{BB962C8B-B14F-4D97-AF65-F5344CB8AC3E}">
        <p14:creationId xmlns:p14="http://schemas.microsoft.com/office/powerpoint/2010/main" val="256827768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209376B9-9838-4376-9895-3384D05A8DF5}" type="slidenum">
              <a:rPr lang="en-US" smtClean="0"/>
              <a:t>31</a:t>
            </a:fld>
            <a:endParaRPr lang="en-US"/>
          </a:p>
        </p:txBody>
      </p:sp>
    </p:spTree>
    <p:extLst>
      <p:ext uri="{BB962C8B-B14F-4D97-AF65-F5344CB8AC3E}">
        <p14:creationId xmlns:p14="http://schemas.microsoft.com/office/powerpoint/2010/main" val="3495131955"/>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209376B9-9838-4376-9895-3384D05A8DF5}" type="slidenum">
              <a:rPr lang="en-US" smtClean="0"/>
              <a:t>33</a:t>
            </a:fld>
            <a:endParaRPr lang="en-US"/>
          </a:p>
        </p:txBody>
      </p:sp>
    </p:spTree>
    <p:extLst>
      <p:ext uri="{BB962C8B-B14F-4D97-AF65-F5344CB8AC3E}">
        <p14:creationId xmlns:p14="http://schemas.microsoft.com/office/powerpoint/2010/main" val="3595380643"/>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209376B9-9838-4376-9895-3384D05A8DF5}" type="slidenum">
              <a:rPr lang="en-US" smtClean="0"/>
              <a:t>34</a:t>
            </a:fld>
            <a:endParaRPr lang="en-US"/>
          </a:p>
        </p:txBody>
      </p:sp>
    </p:spTree>
    <p:extLst>
      <p:ext uri="{BB962C8B-B14F-4D97-AF65-F5344CB8AC3E}">
        <p14:creationId xmlns:p14="http://schemas.microsoft.com/office/powerpoint/2010/main" val="611577588"/>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209376B9-9838-4376-9895-3384D05A8DF5}" type="slidenum">
              <a:rPr lang="en-US" smtClean="0"/>
              <a:t>35</a:t>
            </a:fld>
            <a:endParaRPr lang="en-US"/>
          </a:p>
        </p:txBody>
      </p:sp>
    </p:spTree>
    <p:extLst>
      <p:ext uri="{BB962C8B-B14F-4D97-AF65-F5344CB8AC3E}">
        <p14:creationId xmlns:p14="http://schemas.microsoft.com/office/powerpoint/2010/main" val="214634975"/>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209376B9-9838-4376-9895-3384D05A8DF5}" type="slidenum">
              <a:rPr lang="en-US" smtClean="0"/>
              <a:t>36</a:t>
            </a:fld>
            <a:endParaRPr lang="en-US"/>
          </a:p>
        </p:txBody>
      </p:sp>
    </p:spTree>
    <p:extLst>
      <p:ext uri="{BB962C8B-B14F-4D97-AF65-F5344CB8AC3E}">
        <p14:creationId xmlns:p14="http://schemas.microsoft.com/office/powerpoint/2010/main" val="4868326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209376B9-9838-4376-9895-3384D05A8DF5}" type="slidenum">
              <a:rPr lang="en-US" smtClean="0"/>
              <a:t>37</a:t>
            </a:fld>
            <a:endParaRPr lang="en-US"/>
          </a:p>
        </p:txBody>
      </p:sp>
    </p:spTree>
    <p:extLst>
      <p:ext uri="{BB962C8B-B14F-4D97-AF65-F5344CB8AC3E}">
        <p14:creationId xmlns:p14="http://schemas.microsoft.com/office/powerpoint/2010/main" val="3391490279"/>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209376B9-9838-4376-9895-3384D05A8DF5}" type="slidenum">
              <a:rPr lang="en-US" smtClean="0"/>
              <a:t>38</a:t>
            </a:fld>
            <a:endParaRPr lang="en-US"/>
          </a:p>
        </p:txBody>
      </p:sp>
    </p:spTree>
    <p:extLst>
      <p:ext uri="{BB962C8B-B14F-4D97-AF65-F5344CB8AC3E}">
        <p14:creationId xmlns:p14="http://schemas.microsoft.com/office/powerpoint/2010/main" val="266737933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209376B9-9838-4376-9895-3384D05A8DF5}" type="slidenum">
              <a:rPr lang="en-US" smtClean="0"/>
              <a:t>39</a:t>
            </a:fld>
            <a:endParaRPr lang="en-US"/>
          </a:p>
        </p:txBody>
      </p:sp>
    </p:spTree>
    <p:extLst>
      <p:ext uri="{BB962C8B-B14F-4D97-AF65-F5344CB8AC3E}">
        <p14:creationId xmlns:p14="http://schemas.microsoft.com/office/powerpoint/2010/main" val="3665450173"/>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209376B9-9838-4376-9895-3384D05A8DF5}" type="slidenum">
              <a:rPr lang="en-US" smtClean="0"/>
              <a:t>40</a:t>
            </a:fld>
            <a:endParaRPr lang="en-US"/>
          </a:p>
        </p:txBody>
      </p:sp>
    </p:spTree>
    <p:extLst>
      <p:ext uri="{BB962C8B-B14F-4D97-AF65-F5344CB8AC3E}">
        <p14:creationId xmlns:p14="http://schemas.microsoft.com/office/powerpoint/2010/main" val="2095881179"/>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209376B9-9838-4376-9895-3384D05A8DF5}" type="slidenum">
              <a:rPr lang="en-US" smtClean="0"/>
              <a:t>41</a:t>
            </a:fld>
            <a:endParaRPr lang="en-US"/>
          </a:p>
        </p:txBody>
      </p:sp>
    </p:spTree>
    <p:extLst>
      <p:ext uri="{BB962C8B-B14F-4D97-AF65-F5344CB8AC3E}">
        <p14:creationId xmlns:p14="http://schemas.microsoft.com/office/powerpoint/2010/main" val="2772221243"/>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209376B9-9838-4376-9895-3384D05A8DF5}" type="slidenum">
              <a:rPr lang="en-US" smtClean="0"/>
              <a:t>42</a:t>
            </a:fld>
            <a:endParaRPr lang="en-US"/>
          </a:p>
        </p:txBody>
      </p:sp>
    </p:spTree>
    <p:extLst>
      <p:ext uri="{BB962C8B-B14F-4D97-AF65-F5344CB8AC3E}">
        <p14:creationId xmlns:p14="http://schemas.microsoft.com/office/powerpoint/2010/main" val="3619689962"/>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209376B9-9838-4376-9895-3384D05A8DF5}" type="slidenum">
              <a:rPr lang="en-US" smtClean="0"/>
              <a:t>44</a:t>
            </a:fld>
            <a:endParaRPr lang="en-US"/>
          </a:p>
        </p:txBody>
      </p:sp>
    </p:spTree>
    <p:extLst>
      <p:ext uri="{BB962C8B-B14F-4D97-AF65-F5344CB8AC3E}">
        <p14:creationId xmlns:p14="http://schemas.microsoft.com/office/powerpoint/2010/main" val="168587313"/>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209376B9-9838-4376-9895-3384D05A8DF5}" type="slidenum">
              <a:rPr lang="en-US" smtClean="0"/>
              <a:t>45</a:t>
            </a:fld>
            <a:endParaRPr lang="en-US"/>
          </a:p>
        </p:txBody>
      </p:sp>
    </p:spTree>
    <p:extLst>
      <p:ext uri="{BB962C8B-B14F-4D97-AF65-F5344CB8AC3E}">
        <p14:creationId xmlns:p14="http://schemas.microsoft.com/office/powerpoint/2010/main" val="4210278270"/>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209376B9-9838-4376-9895-3384D05A8DF5}" type="slidenum">
              <a:rPr lang="en-US" smtClean="0"/>
              <a:t>46</a:t>
            </a:fld>
            <a:endParaRPr lang="en-US"/>
          </a:p>
        </p:txBody>
      </p:sp>
    </p:spTree>
    <p:extLst>
      <p:ext uri="{BB962C8B-B14F-4D97-AF65-F5344CB8AC3E}">
        <p14:creationId xmlns:p14="http://schemas.microsoft.com/office/powerpoint/2010/main" val="707733208"/>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209376B9-9838-4376-9895-3384D05A8DF5}" type="slidenum">
              <a:rPr lang="en-US" smtClean="0"/>
              <a:t>47</a:t>
            </a:fld>
            <a:endParaRPr lang="en-US"/>
          </a:p>
        </p:txBody>
      </p:sp>
    </p:spTree>
    <p:extLst>
      <p:ext uri="{BB962C8B-B14F-4D97-AF65-F5344CB8AC3E}">
        <p14:creationId xmlns:p14="http://schemas.microsoft.com/office/powerpoint/2010/main" val="1384076310"/>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209376B9-9838-4376-9895-3384D05A8DF5}" type="slidenum">
              <a:rPr lang="en-US" smtClean="0"/>
              <a:t>48</a:t>
            </a:fld>
            <a:endParaRPr lang="en-US"/>
          </a:p>
        </p:txBody>
      </p:sp>
    </p:spTree>
    <p:extLst>
      <p:ext uri="{BB962C8B-B14F-4D97-AF65-F5344CB8AC3E}">
        <p14:creationId xmlns:p14="http://schemas.microsoft.com/office/powerpoint/2010/main" val="2746477130"/>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209376B9-9838-4376-9895-3384D05A8DF5}" type="slidenum">
              <a:rPr lang="en-US" smtClean="0"/>
              <a:t>49</a:t>
            </a:fld>
            <a:endParaRPr lang="en-US"/>
          </a:p>
        </p:txBody>
      </p:sp>
    </p:spTree>
    <p:extLst>
      <p:ext uri="{BB962C8B-B14F-4D97-AF65-F5344CB8AC3E}">
        <p14:creationId xmlns:p14="http://schemas.microsoft.com/office/powerpoint/2010/main" val="4242725187"/>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209376B9-9838-4376-9895-3384D05A8DF5}" type="slidenum">
              <a:rPr lang="en-US" smtClean="0"/>
              <a:t>51</a:t>
            </a:fld>
            <a:endParaRPr lang="en-US"/>
          </a:p>
        </p:txBody>
      </p:sp>
    </p:spTree>
    <p:extLst>
      <p:ext uri="{BB962C8B-B14F-4D97-AF65-F5344CB8AC3E}">
        <p14:creationId xmlns:p14="http://schemas.microsoft.com/office/powerpoint/2010/main" val="4153621038"/>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209376B9-9838-4376-9895-3384D05A8DF5}" type="slidenum">
              <a:rPr lang="en-US" smtClean="0"/>
              <a:t>52</a:t>
            </a:fld>
            <a:endParaRPr lang="en-US"/>
          </a:p>
        </p:txBody>
      </p:sp>
    </p:spTree>
    <p:extLst>
      <p:ext uri="{BB962C8B-B14F-4D97-AF65-F5344CB8AC3E}">
        <p14:creationId xmlns:p14="http://schemas.microsoft.com/office/powerpoint/2010/main" val="3789458873"/>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209376B9-9838-4376-9895-3384D05A8DF5}" type="slidenum">
              <a:rPr lang="en-US" smtClean="0"/>
              <a:t>53</a:t>
            </a:fld>
            <a:endParaRPr lang="en-US"/>
          </a:p>
        </p:txBody>
      </p:sp>
    </p:spTree>
    <p:extLst>
      <p:ext uri="{BB962C8B-B14F-4D97-AF65-F5344CB8AC3E}">
        <p14:creationId xmlns:p14="http://schemas.microsoft.com/office/powerpoint/2010/main" val="276592900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p:cNvSpPr>
            <a:spLocks noGrp="1"/>
          </p:cNvSpPr>
          <p:nvPr>
            <p:ph type="dt" sz="half" idx="10"/>
          </p:nvPr>
        </p:nvSpPr>
        <p:spPr/>
        <p:txBody>
          <a:bodyPr/>
          <a:lstStyle/>
          <a:p>
            <a:fld id="{88059504-2B37-4FB4-B40F-1187F3C72860}" type="datetime1">
              <a:rPr lang="en-US" smtClean="0"/>
              <a:t>9/21/24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1F4BF737-9C2B-4B9F-9835-28D7237AA9BE}" type="slidenum">
              <a:rPr lang="en-US" smtClean="0"/>
              <a:t>‹#›</a:t>
            </a:fld>
            <a:endParaRPr lang="en-US"/>
          </a:p>
        </p:txBody>
      </p:sp>
    </p:spTree>
    <p:extLst>
      <p:ext uri="{BB962C8B-B14F-4D97-AF65-F5344CB8AC3E}">
        <p14:creationId xmlns:p14="http://schemas.microsoft.com/office/powerpoint/2010/main" val="213263714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355002" y="365125"/>
            <a:ext cx="11478410" cy="839731"/>
          </a:xfrm>
        </p:spPr>
        <p:txBody>
          <a:bodyPr/>
          <a:lstStyle/>
          <a:p>
            <a:r>
              <a:rPr lang="en-US"/>
              <a:t>Click to edit Master title style</a:t>
            </a:r>
          </a:p>
        </p:txBody>
      </p:sp>
      <p:sp>
        <p:nvSpPr>
          <p:cNvPr id="3" name="Content Placeholder 2"/>
          <p:cNvSpPr>
            <a:spLocks noGrp="1"/>
          </p:cNvSpPr>
          <p:nvPr>
            <p:ph idx="1"/>
          </p:nvPr>
        </p:nvSpPr>
        <p:spPr>
          <a:xfrm>
            <a:off x="355002" y="1312433"/>
            <a:ext cx="11478410" cy="486453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a:xfrm>
            <a:off x="355002" y="6356350"/>
            <a:ext cx="3226398" cy="365125"/>
          </a:xfrm>
        </p:spPr>
        <p:txBody>
          <a:bodyPr/>
          <a:lstStyle/>
          <a:p>
            <a:fld id="{40018CA5-E803-4BD7-88F2-CB649F62D600}" type="datetime1">
              <a:rPr lang="en-US" smtClean="0"/>
              <a:t>9/21/24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a:xfrm>
            <a:off x="8610600" y="6356350"/>
            <a:ext cx="3222812" cy="365125"/>
          </a:xfrm>
        </p:spPr>
        <p:txBody>
          <a:bodyPr/>
          <a:lstStyle/>
          <a:p>
            <a:fld id="{1F4BF737-9C2B-4B9F-9835-28D7237AA9BE}" type="slidenum">
              <a:rPr lang="en-US" smtClean="0"/>
              <a:t>‹#›</a:t>
            </a:fld>
            <a:endParaRPr lang="en-US"/>
          </a:p>
        </p:txBody>
      </p:sp>
      <p:cxnSp>
        <p:nvCxnSpPr>
          <p:cNvPr id="8" name="Straight Connector 7"/>
          <p:cNvCxnSpPr/>
          <p:nvPr userDrawn="1"/>
        </p:nvCxnSpPr>
        <p:spPr>
          <a:xfrm>
            <a:off x="355002" y="1193795"/>
            <a:ext cx="11478410" cy="0"/>
          </a:xfrm>
          <a:prstGeom prst="line">
            <a:avLst/>
          </a:prstGeom>
          <a:ln w="28575">
            <a:solidFill>
              <a:srgbClr val="C00000"/>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95479512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26885A11-D22C-4C67-88CA-C863B107841B}" type="datetime1">
              <a:rPr lang="en-US" smtClean="0"/>
              <a:t>9/21/24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1F4BF737-9C2B-4B9F-9835-28D7237AA9BE}" type="slidenum">
              <a:rPr lang="en-US" smtClean="0"/>
              <a:t>‹#›</a:t>
            </a:fld>
            <a:endParaRPr lang="en-US"/>
          </a:p>
        </p:txBody>
      </p:sp>
    </p:spTree>
    <p:extLst>
      <p:ext uri="{BB962C8B-B14F-4D97-AF65-F5344CB8AC3E}">
        <p14:creationId xmlns:p14="http://schemas.microsoft.com/office/powerpoint/2010/main" val="354182139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4BEA3F0B-6540-43F0-9715-23F8ED9B3643}" type="datetime1">
              <a:rPr lang="en-US" smtClean="0"/>
              <a:t>9/21/24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1F4BF737-9C2B-4B9F-9835-28D7237AA9BE}" type="slidenum">
              <a:rPr lang="en-US" smtClean="0"/>
              <a:t>‹#›</a:t>
            </a:fld>
            <a:endParaRPr lang="en-US"/>
          </a:p>
        </p:txBody>
      </p:sp>
    </p:spTree>
    <p:extLst>
      <p:ext uri="{BB962C8B-B14F-4D97-AF65-F5344CB8AC3E}">
        <p14:creationId xmlns:p14="http://schemas.microsoft.com/office/powerpoint/2010/main" val="312344789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207556BD-94CA-4BE2-A697-C93F5EB75719}" type="datetime1">
              <a:rPr lang="en-US" smtClean="0"/>
              <a:t>9/21/24</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1F4BF737-9C2B-4B9F-9835-28D7237AA9BE}" type="slidenum">
              <a:rPr lang="en-US" smtClean="0"/>
              <a:t>‹#›</a:t>
            </a:fld>
            <a:endParaRPr lang="en-US"/>
          </a:p>
        </p:txBody>
      </p:sp>
    </p:spTree>
    <p:extLst>
      <p:ext uri="{BB962C8B-B14F-4D97-AF65-F5344CB8AC3E}">
        <p14:creationId xmlns:p14="http://schemas.microsoft.com/office/powerpoint/2010/main" val="245901826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F802C7A7-16E5-4BEA-B03A-3798F7035DAB}" type="datetime1">
              <a:rPr lang="en-US" smtClean="0"/>
              <a:t>9/21/24</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1F4BF737-9C2B-4B9F-9835-28D7237AA9BE}" type="slidenum">
              <a:rPr lang="en-US" smtClean="0"/>
              <a:t>‹#›</a:t>
            </a:fld>
            <a:endParaRPr lang="en-US"/>
          </a:p>
        </p:txBody>
      </p:sp>
    </p:spTree>
    <p:extLst>
      <p:ext uri="{BB962C8B-B14F-4D97-AF65-F5344CB8AC3E}">
        <p14:creationId xmlns:p14="http://schemas.microsoft.com/office/powerpoint/2010/main" val="123703207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39FB30C5-548F-4EE3-8FEB-83ECC30B6808}" type="datetime1">
              <a:rPr lang="en-US" smtClean="0"/>
              <a:t>9/21/24</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1F4BF737-9C2B-4B9F-9835-28D7237AA9BE}" type="slidenum">
              <a:rPr lang="en-US" smtClean="0"/>
              <a:t>‹#›</a:t>
            </a:fld>
            <a:endParaRPr lang="en-US"/>
          </a:p>
        </p:txBody>
      </p:sp>
    </p:spTree>
    <p:extLst>
      <p:ext uri="{BB962C8B-B14F-4D97-AF65-F5344CB8AC3E}">
        <p14:creationId xmlns:p14="http://schemas.microsoft.com/office/powerpoint/2010/main" val="61555331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DB52F757-2B9D-4E47-9600-5D984427E3AD}" type="datetime1">
              <a:rPr lang="en-US" smtClean="0"/>
              <a:t>9/21/24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1F4BF737-9C2B-4B9F-9835-28D7237AA9BE}" type="slidenum">
              <a:rPr lang="en-US" smtClean="0"/>
              <a:t>‹#›</a:t>
            </a:fld>
            <a:endParaRPr lang="en-US"/>
          </a:p>
        </p:txBody>
      </p:sp>
    </p:spTree>
    <p:extLst>
      <p:ext uri="{BB962C8B-B14F-4D97-AF65-F5344CB8AC3E}">
        <p14:creationId xmlns:p14="http://schemas.microsoft.com/office/powerpoint/2010/main" val="226790189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0C17EDFE-96E9-4597-97A5-0CC53D84E5BF}" type="datetime1">
              <a:rPr lang="en-US" smtClean="0"/>
              <a:t>9/21/24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1F4BF737-9C2B-4B9F-9835-28D7237AA9BE}" type="slidenum">
              <a:rPr lang="en-US" smtClean="0"/>
              <a:t>‹#›</a:t>
            </a:fld>
            <a:endParaRPr lang="en-US"/>
          </a:p>
        </p:txBody>
      </p:sp>
    </p:spTree>
    <p:extLst>
      <p:ext uri="{BB962C8B-B14F-4D97-AF65-F5344CB8AC3E}">
        <p14:creationId xmlns:p14="http://schemas.microsoft.com/office/powerpoint/2010/main" val="360714231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636F16FE-44EC-4FCB-8D90-80BAA6A47C18}" type="datetime1">
              <a:rPr lang="en-US" smtClean="0"/>
              <a:t>9/21/24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1F4BF737-9C2B-4B9F-9835-28D7237AA9BE}" type="slidenum">
              <a:rPr lang="en-US" smtClean="0"/>
              <a:t>‹#›</a:t>
            </a:fld>
            <a:endParaRPr lang="en-US"/>
          </a:p>
        </p:txBody>
      </p:sp>
    </p:spTree>
    <p:extLst>
      <p:ext uri="{BB962C8B-B14F-4D97-AF65-F5344CB8AC3E}">
        <p14:creationId xmlns:p14="http://schemas.microsoft.com/office/powerpoint/2010/main" val="49316738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ED70CCAE-7D79-4918-A366-A172C78608D5}" type="datetime1">
              <a:rPr lang="en-US" smtClean="0"/>
              <a:t>9/21/24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1F4BF737-9C2B-4B9F-9835-28D7237AA9BE}" type="slidenum">
              <a:rPr lang="en-US" smtClean="0"/>
              <a:t>‹#›</a:t>
            </a:fld>
            <a:endParaRPr lang="en-US"/>
          </a:p>
        </p:txBody>
      </p:sp>
    </p:spTree>
    <p:extLst>
      <p:ext uri="{BB962C8B-B14F-4D97-AF65-F5344CB8AC3E}">
        <p14:creationId xmlns:p14="http://schemas.microsoft.com/office/powerpoint/2010/main" val="127286881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2693F9B6-A545-46A5-8813-0807E8BE6AFC}" type="datetime1">
              <a:rPr lang="en-US" smtClean="0"/>
              <a:t>9/21/24</a:t>
            </a:fld>
            <a:endParaRPr lang="en-US"/>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1F4BF737-9C2B-4B9F-9835-28D7237AA9BE}" type="slidenum">
              <a:rPr lang="en-US" smtClean="0"/>
              <a:t>‹#›</a:t>
            </a:fld>
            <a:endParaRPr lang="en-US"/>
          </a:p>
        </p:txBody>
      </p:sp>
    </p:spTree>
    <p:extLst>
      <p:ext uri="{BB962C8B-B14F-4D97-AF65-F5344CB8AC3E}">
        <p14:creationId xmlns:p14="http://schemas.microsoft.com/office/powerpoint/2010/main" val="3431302202"/>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sldNum="0"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xml"/><Relationship Id="rId1" Type="http://schemas.openxmlformats.org/officeDocument/2006/relationships/slideLayout" Target="../slideLayouts/slideLayout2.xml"/><Relationship Id="rId4" Type="http://schemas.openxmlformats.org/officeDocument/2006/relationships/image" Target="../media/image2.png"/></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4.xml"/><Relationship Id="rId1" Type="http://schemas.openxmlformats.org/officeDocument/2006/relationships/slideLayout" Target="../slideLayouts/slideLayout2.xml"/><Relationship Id="rId4" Type="http://schemas.openxmlformats.org/officeDocument/2006/relationships/image" Target="../media/image4.png"/></Relationships>
</file>

<file path=ppt/slides/_rels/slide7.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8.xml"/><Relationship Id="rId1" Type="http://schemas.openxmlformats.org/officeDocument/2006/relationships/slideLayout" Target="../slideLayouts/slideLayout2.xml"/><Relationship Id="rId4" Type="http://schemas.openxmlformats.org/officeDocument/2006/relationships/image" Target="../media/image5.png"/></Relationships>
</file>

<file path=ppt/slides/_rels/slide12.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9.xml"/><Relationship Id="rId1" Type="http://schemas.openxmlformats.org/officeDocument/2006/relationships/slideLayout" Target="../slideLayouts/slideLayout2.xml"/><Relationship Id="rId4" Type="http://schemas.openxmlformats.org/officeDocument/2006/relationships/image" Target="../media/image5.png"/></Relationships>
</file>

<file path=ppt/slides/_rels/slide13.xml.rels><?xml version="1.0" encoding="UTF-8" standalone="yes"?>
<Relationships xmlns="http://schemas.openxmlformats.org/package/2006/relationships"><Relationship Id="rId8" Type="http://schemas.openxmlformats.org/officeDocument/2006/relationships/image" Target="../media/image11.emf"/><Relationship Id="rId3" Type="http://schemas.openxmlformats.org/officeDocument/2006/relationships/oleObject" Target="../embeddings/oleObject1.bin"/><Relationship Id="rId7" Type="http://schemas.openxmlformats.org/officeDocument/2006/relationships/oleObject" Target="../embeddings/oleObject3.bin"/><Relationship Id="rId2" Type="http://schemas.openxmlformats.org/officeDocument/2006/relationships/notesSlide" Target="../notesSlides/notesSlide10.xml"/><Relationship Id="rId1" Type="http://schemas.openxmlformats.org/officeDocument/2006/relationships/slideLayout" Target="../slideLayouts/slideLayout2.xml"/><Relationship Id="rId6" Type="http://schemas.openxmlformats.org/officeDocument/2006/relationships/image" Target="../media/image10.emf"/><Relationship Id="rId5" Type="http://schemas.openxmlformats.org/officeDocument/2006/relationships/oleObject" Target="../embeddings/oleObject2.bin"/><Relationship Id="rId4" Type="http://schemas.openxmlformats.org/officeDocument/2006/relationships/image" Target="../media/image9.emf"/></Relationships>
</file>

<file path=ppt/slides/_rels/slide14.xml.rels><?xml version="1.0" encoding="UTF-8" standalone="yes"?>
<Relationships xmlns="http://schemas.openxmlformats.org/package/2006/relationships"><Relationship Id="rId3" Type="http://schemas.openxmlformats.org/officeDocument/2006/relationships/image" Target="../media/image12.tiff"/><Relationship Id="rId2" Type="http://schemas.openxmlformats.org/officeDocument/2006/relationships/notesSlide" Target="../notesSlides/notesSlide11.xml"/><Relationship Id="rId1" Type="http://schemas.openxmlformats.org/officeDocument/2006/relationships/slideLayout" Target="../slideLayouts/slideLayout2.xml"/><Relationship Id="rId4" Type="http://schemas.openxmlformats.org/officeDocument/2006/relationships/image" Target="../media/image7.png"/></Relationships>
</file>

<file path=ppt/slides/_rels/slide15.xml.rels><?xml version="1.0" encoding="UTF-8" standalone="yes"?>
<Relationships xmlns="http://schemas.openxmlformats.org/package/2006/relationships"><Relationship Id="rId3" Type="http://schemas.openxmlformats.org/officeDocument/2006/relationships/image" Target="../media/image13.emf"/><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14.xml"/><Relationship Id="rId1" Type="http://schemas.openxmlformats.org/officeDocument/2006/relationships/slideLayout" Target="../slideLayouts/slideLayout2.xml"/><Relationship Id="rId4" Type="http://schemas.openxmlformats.org/officeDocument/2006/relationships/image" Target="../media/image16.emf"/></Relationships>
</file>

<file path=ppt/slides/_rels/slide18.xml.rels><?xml version="1.0" encoding="UTF-8" standalone="yes"?>
<Relationships xmlns="http://schemas.openxmlformats.org/package/2006/relationships"><Relationship Id="rId3" Type="http://schemas.openxmlformats.org/officeDocument/2006/relationships/image" Target="../media/image13.emf"/><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6.xml"/><Relationship Id="rId1" Type="http://schemas.openxmlformats.org/officeDocument/2006/relationships/slideLayout" Target="../slideLayouts/slideLayout2.xml"/><Relationship Id="rId4" Type="http://schemas.openxmlformats.org/officeDocument/2006/relationships/image" Target="../media/image5.png"/></Relationships>
</file>

<file path=ppt/slides/_rels/slide21.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8" Type="http://schemas.openxmlformats.org/officeDocument/2006/relationships/image" Target="../media/image19.emf"/><Relationship Id="rId3" Type="http://schemas.openxmlformats.org/officeDocument/2006/relationships/oleObject" Target="../embeddings/oleObject4.bin"/><Relationship Id="rId7" Type="http://schemas.openxmlformats.org/officeDocument/2006/relationships/oleObject" Target="../embeddings/oleObject6.bin"/><Relationship Id="rId2" Type="http://schemas.openxmlformats.org/officeDocument/2006/relationships/notesSlide" Target="../notesSlides/notesSlide18.xml"/><Relationship Id="rId1" Type="http://schemas.openxmlformats.org/officeDocument/2006/relationships/slideLayout" Target="../slideLayouts/slideLayout2.xml"/><Relationship Id="rId6" Type="http://schemas.openxmlformats.org/officeDocument/2006/relationships/image" Target="../media/image18.emf"/><Relationship Id="rId5" Type="http://schemas.openxmlformats.org/officeDocument/2006/relationships/oleObject" Target="../embeddings/oleObject5.bin"/><Relationship Id="rId4" Type="http://schemas.openxmlformats.org/officeDocument/2006/relationships/image" Target="../media/image17.emf"/></Relationships>
</file>

<file path=ppt/slides/_rels/slide23.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9.xml"/><Relationship Id="rId1" Type="http://schemas.openxmlformats.org/officeDocument/2006/relationships/slideLayout" Target="../slideLayouts/slideLayout2.xml"/><Relationship Id="rId4" Type="http://schemas.openxmlformats.org/officeDocument/2006/relationships/image" Target="../media/image20.tiff"/></Relationships>
</file>

<file path=ppt/slides/_rels/slide24.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23.xml"/><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24.xml"/><Relationship Id="rId1" Type="http://schemas.openxmlformats.org/officeDocument/2006/relationships/slideLayout" Target="../slideLayouts/slideLayout2.xml"/><Relationship Id="rId4" Type="http://schemas.openxmlformats.org/officeDocument/2006/relationships/image" Target="../media/image23.png"/></Relationships>
</file>

<file path=ppt/slides/_rels/slide29.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25.xml"/><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26.xml"/><Relationship Id="rId1" Type="http://schemas.openxmlformats.org/officeDocument/2006/relationships/slideLayout" Target="../slideLayouts/slideLayout2.xml"/><Relationship Id="rId4" Type="http://schemas.openxmlformats.org/officeDocument/2006/relationships/image" Target="../media/image20.tiff"/></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28.xml"/><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3" Type="http://schemas.openxmlformats.org/officeDocument/2006/relationships/image" Target="../media/image13.emf"/><Relationship Id="rId2" Type="http://schemas.openxmlformats.org/officeDocument/2006/relationships/notesSlide" Target="../notesSlides/notesSlide29.xml"/><Relationship Id="rId1" Type="http://schemas.openxmlformats.org/officeDocument/2006/relationships/slideLayout" Target="../slideLayouts/slideLayout2.xml"/><Relationship Id="rId4" Type="http://schemas.openxmlformats.org/officeDocument/2006/relationships/image" Target="../media/image24.emf"/></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notesSlide" Target="../notesSlides/notesSlide31.xml"/><Relationship Id="rId1" Type="http://schemas.openxmlformats.org/officeDocument/2006/relationships/slideLayout" Target="../slideLayouts/slideLayout2.xml"/><Relationship Id="rId4" Type="http://schemas.openxmlformats.org/officeDocument/2006/relationships/image" Target="../media/image26.emf"/></Relationships>
</file>

<file path=ppt/slides/_rels/slide37.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notesSlide" Target="../notesSlides/notesSlide32.xml"/><Relationship Id="rId1" Type="http://schemas.openxmlformats.org/officeDocument/2006/relationships/slideLayout" Target="../slideLayouts/slideLayout2.xml"/><Relationship Id="rId4" Type="http://schemas.openxmlformats.org/officeDocument/2006/relationships/image" Target="../media/image27.emf"/></Relationships>
</file>

<file path=ppt/slides/_rels/slide38.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notesSlide" Target="../notesSlides/notesSlide33.xml"/><Relationship Id="rId1" Type="http://schemas.openxmlformats.org/officeDocument/2006/relationships/slideLayout" Target="../slideLayouts/slideLayout2.xml"/><Relationship Id="rId4" Type="http://schemas.openxmlformats.org/officeDocument/2006/relationships/image" Target="../media/image28.emf"/></Relationships>
</file>

<file path=ppt/slides/_rels/slide39.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notesSlide" Target="../notesSlides/notesSlide34.xml"/><Relationship Id="rId1" Type="http://schemas.openxmlformats.org/officeDocument/2006/relationships/slideLayout" Target="../slideLayouts/slideLayout2.xml"/><Relationship Id="rId4" Type="http://schemas.openxmlformats.org/officeDocument/2006/relationships/image" Target="../media/image30.emf"/></Relationships>
</file>

<file path=ppt/slides/_rels/slide40.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notesSlide" Target="../notesSlides/notesSlide36.xml"/><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notesSlide" Target="../notesSlides/notesSlide37.xml"/><Relationship Id="rId1" Type="http://schemas.openxmlformats.org/officeDocument/2006/relationships/slideLayout" Target="../slideLayouts/slideLayout2.xml"/><Relationship Id="rId4" Type="http://schemas.openxmlformats.org/officeDocument/2006/relationships/image" Target="../media/image31.emf"/></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2" Type="http://schemas.openxmlformats.org/officeDocument/2006/relationships/notesSlide" Target="../notesSlides/notesSlide38.xml"/><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3" Type="http://schemas.openxmlformats.org/officeDocument/2006/relationships/image" Target="../media/image32.emf"/><Relationship Id="rId7" Type="http://schemas.openxmlformats.org/officeDocument/2006/relationships/image" Target="../media/image26.png"/><Relationship Id="rId2" Type="http://schemas.openxmlformats.org/officeDocument/2006/relationships/notesSlide" Target="../notesSlides/notesSlide39.xml"/><Relationship Id="rId1" Type="http://schemas.openxmlformats.org/officeDocument/2006/relationships/slideLayout" Target="../slideLayouts/slideLayout2.xml"/><Relationship Id="rId6" Type="http://schemas.openxmlformats.org/officeDocument/2006/relationships/image" Target="../media/image34.emf"/><Relationship Id="rId5" Type="http://schemas.openxmlformats.org/officeDocument/2006/relationships/image" Target="../media/image250.png"/><Relationship Id="rId4" Type="http://schemas.openxmlformats.org/officeDocument/2006/relationships/image" Target="../media/image33.png"/></Relationships>
</file>

<file path=ppt/slides/_rels/slide46.xml.rels><?xml version="1.0" encoding="UTF-8" standalone="yes"?>
<Relationships xmlns="http://schemas.openxmlformats.org/package/2006/relationships"><Relationship Id="rId3" Type="http://schemas.openxmlformats.org/officeDocument/2006/relationships/image" Target="../media/image32.emf"/><Relationship Id="rId2" Type="http://schemas.openxmlformats.org/officeDocument/2006/relationships/notesSlide" Target="../notesSlides/notesSlide40.xml"/><Relationship Id="rId1" Type="http://schemas.openxmlformats.org/officeDocument/2006/relationships/slideLayout" Target="../slideLayouts/slideLayout2.xml"/><Relationship Id="rId6" Type="http://schemas.openxmlformats.org/officeDocument/2006/relationships/image" Target="../media/image36.emf"/><Relationship Id="rId5" Type="http://schemas.openxmlformats.org/officeDocument/2006/relationships/image" Target="../media/image35.png"/><Relationship Id="rId4" Type="http://schemas.openxmlformats.org/officeDocument/2006/relationships/image" Target="../media/image33.png"/></Relationships>
</file>

<file path=ppt/slides/_rels/slide47.xml.rels><?xml version="1.0" encoding="UTF-8" standalone="yes"?>
<Relationships xmlns="http://schemas.openxmlformats.org/package/2006/relationships"><Relationship Id="rId3" Type="http://schemas.openxmlformats.org/officeDocument/2006/relationships/image" Target="../media/image32.emf"/><Relationship Id="rId2" Type="http://schemas.openxmlformats.org/officeDocument/2006/relationships/notesSlide" Target="../notesSlides/notesSlide41.xml"/><Relationship Id="rId1" Type="http://schemas.openxmlformats.org/officeDocument/2006/relationships/slideLayout" Target="../slideLayouts/slideLayout2.xml"/><Relationship Id="rId5" Type="http://schemas.openxmlformats.org/officeDocument/2006/relationships/image" Target="../media/image37.emf"/><Relationship Id="rId4" Type="http://schemas.openxmlformats.org/officeDocument/2006/relationships/image" Target="../media/image33.png"/></Relationships>
</file>

<file path=ppt/slides/_rels/slide48.xml.rels><?xml version="1.0" encoding="UTF-8" standalone="yes"?>
<Relationships xmlns="http://schemas.openxmlformats.org/package/2006/relationships"><Relationship Id="rId3" Type="http://schemas.openxmlformats.org/officeDocument/2006/relationships/image" Target="../media/image32.emf"/><Relationship Id="rId2" Type="http://schemas.openxmlformats.org/officeDocument/2006/relationships/notesSlide" Target="../notesSlides/notesSlide42.xml"/><Relationship Id="rId1" Type="http://schemas.openxmlformats.org/officeDocument/2006/relationships/slideLayout" Target="../slideLayouts/slideLayout2.xml"/><Relationship Id="rId5" Type="http://schemas.openxmlformats.org/officeDocument/2006/relationships/image" Target="../media/image38.emf"/><Relationship Id="rId4" Type="http://schemas.openxmlformats.org/officeDocument/2006/relationships/image" Target="../media/image33.png"/></Relationships>
</file>

<file path=ppt/slides/_rels/slide49.xml.rels><?xml version="1.0" encoding="UTF-8" standalone="yes"?>
<Relationships xmlns="http://schemas.openxmlformats.org/package/2006/relationships"><Relationship Id="rId2" Type="http://schemas.openxmlformats.org/officeDocument/2006/relationships/notesSlide" Target="../notesSlides/notesSlide43.xml"/><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2" Type="http://schemas.openxmlformats.org/officeDocument/2006/relationships/notesSlide" Target="../notesSlides/notesSlide44.xml"/><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2" Type="http://schemas.openxmlformats.org/officeDocument/2006/relationships/notesSlide" Target="../notesSlides/notesSlide45.xml"/><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3" Type="http://schemas.openxmlformats.org/officeDocument/2006/relationships/image" Target="../media/image39.png"/><Relationship Id="rId2" Type="http://schemas.openxmlformats.org/officeDocument/2006/relationships/notesSlide" Target="../notesSlides/notesSlide46.xml"/><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3" Type="http://schemas.openxmlformats.org/officeDocument/2006/relationships/image" Target="../media/image41.png"/><Relationship Id="rId2" Type="http://schemas.openxmlformats.org/officeDocument/2006/relationships/image" Target="../media/image40.png"/><Relationship Id="rId1" Type="http://schemas.openxmlformats.org/officeDocument/2006/relationships/slideLayout" Target="../slideLayouts/slideLayout2.xml"/><Relationship Id="rId5" Type="http://schemas.openxmlformats.org/officeDocument/2006/relationships/image" Target="../media/image43.png"/><Relationship Id="rId4" Type="http://schemas.openxmlformats.org/officeDocument/2006/relationships/image" Target="../media/image42.png"/></Relationships>
</file>

<file path=ppt/slides/_rels/slide55.xml.rels><?xml version="1.0" encoding="UTF-8" standalone="yes"?>
<Relationships xmlns="http://schemas.openxmlformats.org/package/2006/relationships"><Relationship Id="rId3" Type="http://schemas.openxmlformats.org/officeDocument/2006/relationships/image" Target="../media/image45.emf"/><Relationship Id="rId2" Type="http://schemas.openxmlformats.org/officeDocument/2006/relationships/image" Target="../media/image44.emf"/><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3" Type="http://schemas.openxmlformats.org/officeDocument/2006/relationships/image" Target="../media/image47.png"/><Relationship Id="rId2" Type="http://schemas.openxmlformats.org/officeDocument/2006/relationships/image" Target="../media/image46.png"/><Relationship Id="rId1" Type="http://schemas.openxmlformats.org/officeDocument/2006/relationships/slideLayout" Target="../slideLayouts/slideLayout2.xml"/><Relationship Id="rId5" Type="http://schemas.openxmlformats.org/officeDocument/2006/relationships/image" Target="../media/image49.png"/><Relationship Id="rId4" Type="http://schemas.openxmlformats.org/officeDocument/2006/relationships/image" Target="../media/image48.png"/></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2" Type="http://schemas.openxmlformats.org/officeDocument/2006/relationships/image" Target="../media/image50.png"/><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3" Type="http://schemas.openxmlformats.org/officeDocument/2006/relationships/image" Target="../media/image52.png"/><Relationship Id="rId2" Type="http://schemas.openxmlformats.org/officeDocument/2006/relationships/image" Target="../media/image51.png"/><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342900" y="1682433"/>
            <a:ext cx="11487150" cy="2387600"/>
          </a:xfrm>
        </p:spPr>
        <p:txBody>
          <a:bodyPr>
            <a:normAutofit fontScale="90000"/>
          </a:bodyPr>
          <a:lstStyle/>
          <a:p>
            <a:br>
              <a:rPr lang="en-US" sz="5400" dirty="0"/>
            </a:br>
            <a:r>
              <a:rPr lang="en-US" sz="5400" dirty="0"/>
              <a:t>ANLY 5332</a:t>
            </a:r>
            <a:br>
              <a:rPr lang="en-US" sz="5400" dirty="0"/>
            </a:br>
            <a:br>
              <a:rPr lang="en-US" sz="3200" dirty="0"/>
            </a:br>
            <a:br>
              <a:rPr lang="en-US" sz="3200" dirty="0"/>
            </a:br>
            <a:r>
              <a:rPr lang="en-US" sz="2400" b="1" dirty="0">
                <a:solidFill>
                  <a:srgbClr val="C00000"/>
                </a:solidFill>
              </a:rPr>
              <a:t>Department of Information Systems and Analytics</a:t>
            </a:r>
            <a:br>
              <a:rPr lang="en-US" sz="2400" b="1" dirty="0">
                <a:solidFill>
                  <a:srgbClr val="C00000"/>
                </a:solidFill>
              </a:rPr>
            </a:br>
            <a:r>
              <a:rPr lang="en-US" sz="2400" b="1" dirty="0">
                <a:solidFill>
                  <a:srgbClr val="C00000"/>
                </a:solidFill>
              </a:rPr>
              <a:t>McCoy College of Business Administration</a:t>
            </a:r>
            <a:br>
              <a:rPr lang="en-US" sz="2400" b="1" dirty="0">
                <a:solidFill>
                  <a:srgbClr val="C00000"/>
                </a:solidFill>
              </a:rPr>
            </a:br>
            <a:r>
              <a:rPr lang="en-US" sz="2400" b="1" dirty="0">
                <a:solidFill>
                  <a:srgbClr val="C00000"/>
                </a:solidFill>
              </a:rPr>
              <a:t>Texas State University</a:t>
            </a:r>
            <a:endParaRPr lang="en-US" sz="4400" b="1" dirty="0">
              <a:solidFill>
                <a:srgbClr val="C00000"/>
              </a:solidFill>
            </a:endParaRPr>
          </a:p>
        </p:txBody>
      </p:sp>
      <p:sp>
        <p:nvSpPr>
          <p:cNvPr id="3" name="Subtitle 2"/>
          <p:cNvSpPr>
            <a:spLocks noGrp="1"/>
          </p:cNvSpPr>
          <p:nvPr>
            <p:ph type="subTitle" idx="1"/>
          </p:nvPr>
        </p:nvSpPr>
        <p:spPr/>
        <p:txBody>
          <a:bodyPr/>
          <a:lstStyle/>
          <a:p>
            <a:endParaRPr lang="en-US" dirty="0"/>
          </a:p>
          <a:p>
            <a:endParaRPr lang="en-US" dirty="0"/>
          </a:p>
          <a:p>
            <a:endParaRPr lang="en-US" dirty="0"/>
          </a:p>
          <a:p>
            <a:r>
              <a:rPr lang="en-US" dirty="0"/>
              <a:t>Sensitivity Analyses and Duality</a:t>
            </a:r>
          </a:p>
          <a:p>
            <a:endParaRPr lang="en-US" dirty="0"/>
          </a:p>
        </p:txBody>
      </p:sp>
    </p:spTree>
    <p:extLst>
      <p:ext uri="{BB962C8B-B14F-4D97-AF65-F5344CB8AC3E}">
        <p14:creationId xmlns:p14="http://schemas.microsoft.com/office/powerpoint/2010/main" val="174641334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Outline</a:t>
            </a:r>
          </a:p>
        </p:txBody>
      </p:sp>
      <p:sp>
        <p:nvSpPr>
          <p:cNvPr id="3" name="Content Placeholder 2"/>
          <p:cNvSpPr>
            <a:spLocks noGrp="1"/>
          </p:cNvSpPr>
          <p:nvPr>
            <p:ph idx="1"/>
          </p:nvPr>
        </p:nvSpPr>
        <p:spPr/>
        <p:txBody>
          <a:bodyPr/>
          <a:lstStyle/>
          <a:p>
            <a:r>
              <a:rPr lang="en-US" dirty="0"/>
              <a:t>Sensitivity Analysis and Excel Reports (Chapter 5)</a:t>
            </a:r>
          </a:p>
          <a:p>
            <a:r>
              <a:rPr lang="en-US" dirty="0"/>
              <a:t>Single Change in the Objective Function  (Chapter 5.3)</a:t>
            </a:r>
          </a:p>
          <a:p>
            <a:r>
              <a:rPr lang="en-US" dirty="0"/>
              <a:t>Single Change in a Constraint (Chapter 5.5)</a:t>
            </a:r>
          </a:p>
          <a:p>
            <a:r>
              <a:rPr lang="en-US" dirty="0"/>
              <a:t>Effect of Simultaneous Changes</a:t>
            </a:r>
          </a:p>
          <a:p>
            <a:pPr lvl="1"/>
            <a:r>
              <a:rPr lang="en-US" dirty="0"/>
              <a:t>Changes in the Objective Function (Chapter 5.4)</a:t>
            </a:r>
          </a:p>
          <a:p>
            <a:pPr lvl="1"/>
            <a:r>
              <a:rPr lang="en-US" dirty="0"/>
              <a:t>Changes in Constraints (Chapter 5.6)</a:t>
            </a:r>
          </a:p>
          <a:p>
            <a:r>
              <a:rPr lang="en-US" dirty="0"/>
              <a:t>Changes in the Model (not in the textbook)</a:t>
            </a:r>
          </a:p>
          <a:p>
            <a:r>
              <a:rPr lang="en-US" dirty="0"/>
              <a:t>Linear Programming Duality (not in the textbook)</a:t>
            </a:r>
          </a:p>
          <a:p>
            <a:pPr lvl="1"/>
            <a:r>
              <a:rPr lang="en-US" dirty="0"/>
              <a:t>Formulating the dual problem</a:t>
            </a:r>
          </a:p>
          <a:p>
            <a:pPr lvl="1"/>
            <a:r>
              <a:rPr lang="en-US" dirty="0"/>
              <a:t>Primal-dual relations</a:t>
            </a:r>
          </a:p>
          <a:p>
            <a:pPr lvl="1"/>
            <a:r>
              <a:rPr lang="en-US" dirty="0"/>
              <a:t>Economic Interpretation</a:t>
            </a:r>
          </a:p>
          <a:p>
            <a:endParaRPr lang="en-US" dirty="0"/>
          </a:p>
          <a:p>
            <a:pPr lvl="5"/>
            <a:endParaRPr lang="en-US" dirty="0"/>
          </a:p>
          <a:p>
            <a:endParaRPr lang="en-US" dirty="0"/>
          </a:p>
        </p:txBody>
      </p:sp>
    </p:spTree>
    <p:extLst>
      <p:ext uri="{BB962C8B-B14F-4D97-AF65-F5344CB8AC3E}">
        <p14:creationId xmlns:p14="http://schemas.microsoft.com/office/powerpoint/2010/main" val="247456920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Outline</a:t>
            </a:r>
          </a:p>
        </p:txBody>
      </p:sp>
      <p:sp>
        <p:nvSpPr>
          <p:cNvPr id="3" name="Content Placeholder 2"/>
          <p:cNvSpPr>
            <a:spLocks noGrp="1"/>
          </p:cNvSpPr>
          <p:nvPr>
            <p:ph idx="1"/>
          </p:nvPr>
        </p:nvSpPr>
        <p:spPr/>
        <p:txBody>
          <a:bodyPr/>
          <a:lstStyle/>
          <a:p>
            <a:r>
              <a:rPr lang="en-US" dirty="0"/>
              <a:t>Sensitivity Analysis and Excel Reports (Chapter 5)</a:t>
            </a:r>
          </a:p>
          <a:p>
            <a:r>
              <a:rPr lang="en-US" dirty="0">
                <a:solidFill>
                  <a:schemeClr val="bg2"/>
                </a:solidFill>
              </a:rPr>
              <a:t>Single Change in the Objective Function  (Chapter 5.3)</a:t>
            </a:r>
          </a:p>
          <a:p>
            <a:r>
              <a:rPr lang="en-US" dirty="0">
                <a:solidFill>
                  <a:schemeClr val="bg2"/>
                </a:solidFill>
              </a:rPr>
              <a:t>Single Change in a Constraint (Chapter 5.5)</a:t>
            </a:r>
          </a:p>
          <a:p>
            <a:r>
              <a:rPr lang="en-US" dirty="0">
                <a:solidFill>
                  <a:schemeClr val="bg2"/>
                </a:solidFill>
              </a:rPr>
              <a:t>Effect of Simultaneous Changes</a:t>
            </a:r>
          </a:p>
          <a:p>
            <a:pPr lvl="1"/>
            <a:r>
              <a:rPr lang="en-US" dirty="0">
                <a:solidFill>
                  <a:schemeClr val="bg2"/>
                </a:solidFill>
              </a:rPr>
              <a:t>Changes in the Objective Function (Chapter 5.4)</a:t>
            </a:r>
          </a:p>
          <a:p>
            <a:pPr lvl="1"/>
            <a:r>
              <a:rPr lang="en-US" dirty="0">
                <a:solidFill>
                  <a:schemeClr val="bg2"/>
                </a:solidFill>
              </a:rPr>
              <a:t>Changes in Constraints (Chapter 5.6)</a:t>
            </a:r>
          </a:p>
          <a:p>
            <a:r>
              <a:rPr lang="en-US" dirty="0">
                <a:solidFill>
                  <a:schemeClr val="bg2"/>
                </a:solidFill>
              </a:rPr>
              <a:t>Changes in the Model (not in the textbook)</a:t>
            </a:r>
          </a:p>
          <a:p>
            <a:r>
              <a:rPr lang="en-US" dirty="0">
                <a:solidFill>
                  <a:schemeClr val="bg2"/>
                </a:solidFill>
              </a:rPr>
              <a:t>Linear Programming Duality (not in the textbook)</a:t>
            </a:r>
          </a:p>
          <a:p>
            <a:pPr lvl="1"/>
            <a:r>
              <a:rPr lang="en-US" dirty="0">
                <a:solidFill>
                  <a:schemeClr val="bg2"/>
                </a:solidFill>
              </a:rPr>
              <a:t>Formulating the dual problem</a:t>
            </a:r>
          </a:p>
          <a:p>
            <a:pPr lvl="1"/>
            <a:r>
              <a:rPr lang="en-US" dirty="0">
                <a:solidFill>
                  <a:schemeClr val="bg2"/>
                </a:solidFill>
              </a:rPr>
              <a:t>Primal-dual relations</a:t>
            </a:r>
          </a:p>
          <a:p>
            <a:pPr lvl="1"/>
            <a:r>
              <a:rPr lang="en-US" dirty="0">
                <a:solidFill>
                  <a:schemeClr val="bg2"/>
                </a:solidFill>
              </a:rPr>
              <a:t>Economic Interpretation</a:t>
            </a:r>
          </a:p>
          <a:p>
            <a:endParaRPr lang="en-US" dirty="0"/>
          </a:p>
          <a:p>
            <a:pPr lvl="5"/>
            <a:endParaRPr lang="en-US" dirty="0"/>
          </a:p>
          <a:p>
            <a:endParaRPr lang="en-US" dirty="0"/>
          </a:p>
        </p:txBody>
      </p:sp>
    </p:spTree>
    <p:extLst>
      <p:ext uri="{BB962C8B-B14F-4D97-AF65-F5344CB8AC3E}">
        <p14:creationId xmlns:p14="http://schemas.microsoft.com/office/powerpoint/2010/main" val="22702813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Sensitivity Analyses and Excel Reports </a:t>
            </a:r>
          </a:p>
        </p:txBody>
      </p:sp>
      <mc:AlternateContent xmlns:mc="http://schemas.openxmlformats.org/markup-compatibility/2006" xmlns:a14="http://schemas.microsoft.com/office/drawing/2010/main">
        <mc:Choice Requires="a14">
          <p:sp>
            <p:nvSpPr>
              <p:cNvPr id="3" name="Content Placeholder 2"/>
              <p:cNvSpPr>
                <a:spLocks noGrp="1"/>
              </p:cNvSpPr>
              <p:nvPr>
                <p:ph idx="1"/>
              </p:nvPr>
            </p:nvSpPr>
            <p:spPr/>
            <p:txBody>
              <a:bodyPr/>
              <a:lstStyle/>
              <a:p>
                <a:r>
                  <a:rPr lang="en-US" dirty="0"/>
                  <a:t>The cases we discussed so far assumed that the data is deterministic</a:t>
                </a:r>
              </a:p>
              <a:p>
                <a:pPr lvl="1"/>
                <a:r>
                  <a:rPr lang="en-US" dirty="0"/>
                  <a:t>We know the parameter values that go into the model</a:t>
                </a:r>
              </a:p>
              <a:p>
                <a:r>
                  <a:rPr lang="en-US" dirty="0"/>
                  <a:t>A typical linear programming model with </a:t>
                </a:r>
                <a14:m>
                  <m:oMath xmlns:m="http://schemas.openxmlformats.org/officeDocument/2006/math">
                    <m:r>
                      <a:rPr lang="en-US" i="1" dirty="0" smtClean="0">
                        <a:latin typeface="Cambria Math" panose="02040503050406030204" pitchFamily="18" charset="0"/>
                      </a:rPr>
                      <m:t>𝑛</m:t>
                    </m:r>
                  </m:oMath>
                </a14:m>
                <a:r>
                  <a:rPr lang="en-US" dirty="0"/>
                  <a:t> variables, </a:t>
                </a:r>
                <a14:m>
                  <m:oMath xmlns:m="http://schemas.openxmlformats.org/officeDocument/2006/math">
                    <m:r>
                      <a:rPr lang="en-US" i="1" dirty="0" smtClean="0">
                        <a:latin typeface="Cambria Math" panose="02040503050406030204" pitchFamily="18" charset="0"/>
                      </a:rPr>
                      <m:t>𝑚</m:t>
                    </m:r>
                  </m:oMath>
                </a14:m>
                <a:r>
                  <a:rPr lang="en-US" dirty="0"/>
                  <a:t> constraints:</a:t>
                </a:r>
              </a:p>
              <a:p>
                <a:endParaRPr lang="en-US" dirty="0"/>
              </a:p>
              <a:p>
                <a:endParaRPr lang="en-US" dirty="0"/>
              </a:p>
              <a:p>
                <a:endParaRPr lang="en-US" dirty="0"/>
              </a:p>
              <a:p>
                <a:endParaRPr lang="en-US" dirty="0"/>
              </a:p>
              <a:p>
                <a:r>
                  <a:rPr lang="en-US" dirty="0"/>
                  <a:t>The assumption is that:</a:t>
                </a:r>
              </a:p>
              <a:p>
                <a:pPr lvl="1"/>
                <a14:m>
                  <m:oMath xmlns:m="http://schemas.openxmlformats.org/officeDocument/2006/math">
                    <m:sSub>
                      <m:sSubPr>
                        <m:ctrlPr>
                          <a:rPr lang="en-US" i="1">
                            <a:latin typeface="Cambria Math" panose="02040503050406030204" pitchFamily="18" charset="0"/>
                          </a:rPr>
                        </m:ctrlPr>
                      </m:sSubPr>
                      <m:e>
                        <m:r>
                          <a:rPr lang="en-US" i="1">
                            <a:latin typeface="Cambria Math" panose="02040503050406030204" pitchFamily="18" charset="0"/>
                          </a:rPr>
                          <m:t>𝑐</m:t>
                        </m:r>
                      </m:e>
                      <m:sub>
                        <m:r>
                          <a:rPr lang="en-US" b="0" i="1" smtClean="0">
                            <a:latin typeface="Cambria Math" panose="02040503050406030204" pitchFamily="18" charset="0"/>
                          </a:rPr>
                          <m:t>𝑖</m:t>
                        </m:r>
                      </m:sub>
                    </m:sSub>
                  </m:oMath>
                </a14:m>
                <a:r>
                  <a:rPr lang="en-US" dirty="0"/>
                  <a:t> values (objective function coefficient for variable </a:t>
                </a:r>
                <a14:m>
                  <m:oMath xmlns:m="http://schemas.openxmlformats.org/officeDocument/2006/math">
                    <m:r>
                      <a:rPr lang="en-US" i="1" dirty="0" smtClean="0">
                        <a:latin typeface="Cambria Math" panose="02040503050406030204" pitchFamily="18" charset="0"/>
                      </a:rPr>
                      <m:t>𝑖</m:t>
                    </m:r>
                  </m:oMath>
                </a14:m>
                <a:r>
                  <a:rPr lang="en-US" dirty="0"/>
                  <a:t>) are known</a:t>
                </a:r>
              </a:p>
              <a:p>
                <a:pPr lvl="1"/>
                <a14:m>
                  <m:oMath xmlns:m="http://schemas.openxmlformats.org/officeDocument/2006/math">
                    <m:sSub>
                      <m:sSubPr>
                        <m:ctrlPr>
                          <a:rPr lang="en-US" i="1">
                            <a:latin typeface="Cambria Math" panose="02040503050406030204" pitchFamily="18" charset="0"/>
                          </a:rPr>
                        </m:ctrlPr>
                      </m:sSubPr>
                      <m:e>
                        <m:r>
                          <a:rPr lang="en-US" i="1">
                            <a:latin typeface="Cambria Math" panose="02040503050406030204" pitchFamily="18" charset="0"/>
                          </a:rPr>
                          <m:t>𝑎</m:t>
                        </m:r>
                      </m:e>
                      <m:sub>
                        <m:r>
                          <a:rPr lang="en-US" b="0" i="1" smtClean="0">
                            <a:latin typeface="Cambria Math" panose="02040503050406030204" pitchFamily="18" charset="0"/>
                          </a:rPr>
                          <m:t>𝑗𝑖</m:t>
                        </m:r>
                      </m:sub>
                    </m:sSub>
                  </m:oMath>
                </a14:m>
                <a:r>
                  <a:rPr lang="en-US" dirty="0"/>
                  <a:t> values (parameter of variable </a:t>
                </a:r>
                <a14:m>
                  <m:oMath xmlns:m="http://schemas.openxmlformats.org/officeDocument/2006/math">
                    <m:r>
                      <a:rPr lang="en-US" i="1" dirty="0" smtClean="0">
                        <a:latin typeface="Cambria Math" panose="02040503050406030204" pitchFamily="18" charset="0"/>
                      </a:rPr>
                      <m:t>𝑖</m:t>
                    </m:r>
                  </m:oMath>
                </a14:m>
                <a:r>
                  <a:rPr lang="en-US" dirty="0"/>
                  <a:t> in constraint </a:t>
                </a:r>
                <a14:m>
                  <m:oMath xmlns:m="http://schemas.openxmlformats.org/officeDocument/2006/math">
                    <m:r>
                      <a:rPr lang="en-US" i="1" dirty="0" smtClean="0">
                        <a:latin typeface="Cambria Math" panose="02040503050406030204" pitchFamily="18" charset="0"/>
                      </a:rPr>
                      <m:t>𝑗</m:t>
                    </m:r>
                  </m:oMath>
                </a14:m>
                <a:r>
                  <a:rPr lang="en-US" dirty="0"/>
                  <a:t>) are known</a:t>
                </a:r>
              </a:p>
              <a:p>
                <a:pPr lvl="1"/>
                <a14:m>
                  <m:oMath xmlns:m="http://schemas.openxmlformats.org/officeDocument/2006/math">
                    <m:sSub>
                      <m:sSubPr>
                        <m:ctrlPr>
                          <a:rPr lang="en-US" i="1">
                            <a:latin typeface="Cambria Math" panose="02040503050406030204" pitchFamily="18" charset="0"/>
                          </a:rPr>
                        </m:ctrlPr>
                      </m:sSubPr>
                      <m:e>
                        <m:r>
                          <a:rPr lang="en-US" i="1">
                            <a:latin typeface="Cambria Math" panose="02040503050406030204" pitchFamily="18" charset="0"/>
                          </a:rPr>
                          <m:t>𝑏</m:t>
                        </m:r>
                      </m:e>
                      <m:sub>
                        <m:r>
                          <a:rPr lang="en-US" b="0" i="1" smtClean="0">
                            <a:latin typeface="Cambria Math" panose="02040503050406030204" pitchFamily="18" charset="0"/>
                          </a:rPr>
                          <m:t>𝑗</m:t>
                        </m:r>
                      </m:sub>
                    </m:sSub>
                  </m:oMath>
                </a14:m>
                <a:r>
                  <a:rPr lang="en-US" dirty="0"/>
                  <a:t> values (constraint </a:t>
                </a:r>
                <a14:m>
                  <m:oMath xmlns:m="http://schemas.openxmlformats.org/officeDocument/2006/math">
                    <m:r>
                      <a:rPr lang="en-US" i="1" dirty="0" smtClean="0">
                        <a:latin typeface="Cambria Math" panose="02040503050406030204" pitchFamily="18" charset="0"/>
                      </a:rPr>
                      <m:t>𝑗</m:t>
                    </m:r>
                  </m:oMath>
                </a14:m>
                <a:r>
                  <a:rPr lang="en-US" dirty="0"/>
                  <a:t> right-hand side constant) are known</a:t>
                </a:r>
              </a:p>
              <a:p>
                <a:pPr lvl="1"/>
                <a:endParaRPr lang="en-US" dirty="0"/>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blipFill rotWithShape="0">
                <a:blip r:embed="rId3"/>
                <a:stretch>
                  <a:fillRect l="-956" t="-2005" b="-8772"/>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graphicFrame>
            <p:nvGraphicFramePr>
              <p:cNvPr id="4" name="Table 3"/>
              <p:cNvGraphicFramePr>
                <a:graphicFrameLocks noGrp="1"/>
              </p:cNvGraphicFramePr>
              <p:nvPr>
                <p:extLst>
                  <p:ext uri="{D42A27DB-BD31-4B8C-83A1-F6EECF244321}">
                    <p14:modId xmlns:p14="http://schemas.microsoft.com/office/powerpoint/2010/main" val="1078175535"/>
                  </p:ext>
                </p:extLst>
              </p:nvPr>
            </p:nvGraphicFramePr>
            <p:xfrm>
              <a:off x="1259114" y="2679094"/>
              <a:ext cx="7209972" cy="2045396"/>
            </p:xfrm>
            <a:graphic>
              <a:graphicData uri="http://schemas.openxmlformats.org/drawingml/2006/table">
                <a:tbl>
                  <a:tblPr firstRow="1" bandRow="1">
                    <a:tableStyleId>{5940675A-B579-460E-94D1-54222C63F5DA}</a:tableStyleId>
                  </a:tblPr>
                  <a:tblGrid>
                    <a:gridCol w="2527207">
                      <a:extLst>
                        <a:ext uri="{9D8B030D-6E8A-4147-A177-3AD203B41FA5}">
                          <a16:colId xmlns:a16="http://schemas.microsoft.com/office/drawing/2014/main" val="20000"/>
                        </a:ext>
                      </a:extLst>
                    </a:gridCol>
                    <a:gridCol w="4682765">
                      <a:extLst>
                        <a:ext uri="{9D8B030D-6E8A-4147-A177-3AD203B41FA5}">
                          <a16:colId xmlns:a16="http://schemas.microsoft.com/office/drawing/2014/main" val="20001"/>
                        </a:ext>
                      </a:extLst>
                    </a:gridCol>
                  </a:tblGrid>
                  <a:tr h="419909">
                    <a:tc>
                      <a:txBody>
                        <a:bodyPr/>
                        <a:lstStyle/>
                        <a:p>
                          <a:pPr/>
                          <a14:m>
                            <m:oMathPara xmlns:m="http://schemas.openxmlformats.org/officeDocument/2006/math">
                              <m:oMathParaPr>
                                <m:jc m:val="left"/>
                              </m:oMathParaPr>
                              <m:oMath xmlns:m="http://schemas.openxmlformats.org/officeDocument/2006/math">
                                <m:r>
                                  <a:rPr lang="en-US" b="0" i="1" smtClean="0">
                                    <a:latin typeface="Cambria Math" panose="02040503050406030204" pitchFamily="18" charset="0"/>
                                  </a:rPr>
                                  <m:t>𝑀𝑎𝑥</m:t>
                                </m:r>
                                <m:r>
                                  <a:rPr lang="en-US" b="0" i="1" smtClean="0">
                                    <a:latin typeface="Cambria Math" panose="02040503050406030204" pitchFamily="18" charset="0"/>
                                  </a:rPr>
                                  <m:t> (</m:t>
                                </m:r>
                                <m:r>
                                  <a:rPr lang="en-US" b="0" i="1" smtClean="0">
                                    <a:latin typeface="Cambria Math" panose="02040503050406030204" pitchFamily="18" charset="0"/>
                                  </a:rPr>
                                  <m:t>𝑜𝑟</m:t>
                                </m:r>
                                <m:r>
                                  <a:rPr lang="en-US" b="0" i="1" smtClean="0">
                                    <a:latin typeface="Cambria Math" panose="02040503050406030204" pitchFamily="18" charset="0"/>
                                  </a:rPr>
                                  <m:t> </m:t>
                                </m:r>
                                <m:r>
                                  <a:rPr lang="en-US" b="0" i="1" smtClean="0">
                                    <a:latin typeface="Cambria Math" panose="02040503050406030204" pitchFamily="18" charset="0"/>
                                  </a:rPr>
                                  <m:t>𝑀𝑖𝑛</m:t>
                                </m:r>
                                <m:r>
                                  <a:rPr lang="en-US" b="0" i="1" smtClean="0">
                                    <a:latin typeface="Cambria Math" panose="02040503050406030204" pitchFamily="18" charset="0"/>
                                  </a:rPr>
                                  <m:t>)</m:t>
                                </m:r>
                              </m:oMath>
                            </m:oMathPara>
                          </a14:m>
                          <a:endParaRPr lang="en-US" dirty="0"/>
                        </a:p>
                      </a:txBody>
                      <a:tcPr>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left"/>
                              </m:oMathParaPr>
                              <m:oMath xmlns:m="http://schemas.openxmlformats.org/officeDocument/2006/math">
                                <m:sSub>
                                  <m:sSubPr>
                                    <m:ctrlPr>
                                      <a:rPr lang="en-US" b="0" i="1" smtClean="0">
                                        <a:latin typeface="Cambria Math" panose="02040503050406030204" pitchFamily="18" charset="0"/>
                                      </a:rPr>
                                    </m:ctrlPr>
                                  </m:sSubPr>
                                  <m:e>
                                    <m:r>
                                      <a:rPr lang="en-US" b="0" i="1" smtClean="0">
                                        <a:latin typeface="Cambria Math" panose="02040503050406030204" pitchFamily="18" charset="0"/>
                                      </a:rPr>
                                      <m:t>𝑐</m:t>
                                    </m:r>
                                  </m:e>
                                  <m:sub>
                                    <m:r>
                                      <a:rPr lang="en-US" b="0" i="1" smtClean="0">
                                        <a:latin typeface="Cambria Math" panose="02040503050406030204" pitchFamily="18" charset="0"/>
                                      </a:rPr>
                                      <m:t>1</m:t>
                                    </m:r>
                                  </m:sub>
                                </m:sSub>
                                <m:sSub>
                                  <m:sSubPr>
                                    <m:ctrlPr>
                                      <a:rPr lang="en-US" b="0" i="1" smtClean="0">
                                        <a:latin typeface="Cambria Math" panose="02040503050406030204" pitchFamily="18" charset="0"/>
                                      </a:rPr>
                                    </m:ctrlPr>
                                  </m:sSubPr>
                                  <m:e>
                                    <m:r>
                                      <a:rPr lang="en-US" b="0" i="1" smtClean="0">
                                        <a:latin typeface="Cambria Math" panose="02040503050406030204" pitchFamily="18" charset="0"/>
                                      </a:rPr>
                                      <m:t>𝑋</m:t>
                                    </m:r>
                                  </m:e>
                                  <m:sub>
                                    <m:r>
                                      <a:rPr lang="en-US" b="0" i="1" smtClean="0">
                                        <a:latin typeface="Cambria Math" panose="02040503050406030204" pitchFamily="18" charset="0"/>
                                      </a:rPr>
                                      <m:t>1</m:t>
                                    </m:r>
                                  </m:sub>
                                </m:sSub>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𝑐</m:t>
                                    </m:r>
                                  </m:e>
                                  <m:sub>
                                    <m:r>
                                      <a:rPr lang="en-US" b="0" i="1" smtClean="0">
                                        <a:latin typeface="Cambria Math" panose="02040503050406030204" pitchFamily="18" charset="0"/>
                                      </a:rPr>
                                      <m:t>2</m:t>
                                    </m:r>
                                  </m:sub>
                                </m:sSub>
                                <m:sSub>
                                  <m:sSubPr>
                                    <m:ctrlPr>
                                      <a:rPr lang="en-US" b="0" i="1" smtClean="0">
                                        <a:latin typeface="Cambria Math" panose="02040503050406030204" pitchFamily="18" charset="0"/>
                                      </a:rPr>
                                    </m:ctrlPr>
                                  </m:sSubPr>
                                  <m:e>
                                    <m:r>
                                      <a:rPr lang="en-US" b="0" i="1" smtClean="0">
                                        <a:latin typeface="Cambria Math" panose="02040503050406030204" pitchFamily="18" charset="0"/>
                                      </a:rPr>
                                      <m:t>𝑋</m:t>
                                    </m:r>
                                  </m:e>
                                  <m:sub>
                                    <m:r>
                                      <a:rPr lang="en-US" b="0" i="1" smtClean="0">
                                        <a:latin typeface="Cambria Math" panose="02040503050406030204" pitchFamily="18" charset="0"/>
                                      </a:rPr>
                                      <m:t>2</m:t>
                                    </m:r>
                                  </m:sub>
                                </m:sSub>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𝑐</m:t>
                                    </m:r>
                                  </m:e>
                                  <m:sub>
                                    <m:r>
                                      <a:rPr lang="en-US" b="0" i="1" smtClean="0">
                                        <a:latin typeface="Cambria Math" panose="02040503050406030204" pitchFamily="18" charset="0"/>
                                      </a:rPr>
                                      <m:t>3</m:t>
                                    </m:r>
                                  </m:sub>
                                </m:sSub>
                                <m:sSub>
                                  <m:sSubPr>
                                    <m:ctrlPr>
                                      <a:rPr lang="en-US" b="0" i="1" smtClean="0">
                                        <a:latin typeface="Cambria Math" panose="02040503050406030204" pitchFamily="18" charset="0"/>
                                      </a:rPr>
                                    </m:ctrlPr>
                                  </m:sSubPr>
                                  <m:e>
                                    <m:r>
                                      <a:rPr lang="en-US" b="0" i="1" smtClean="0">
                                        <a:latin typeface="Cambria Math" panose="02040503050406030204" pitchFamily="18" charset="0"/>
                                      </a:rPr>
                                      <m:t>𝑋</m:t>
                                    </m:r>
                                  </m:e>
                                  <m:sub>
                                    <m:r>
                                      <a:rPr lang="en-US" b="0" i="1" smtClean="0">
                                        <a:latin typeface="Cambria Math" panose="02040503050406030204" pitchFamily="18" charset="0"/>
                                      </a:rPr>
                                      <m:t>3</m:t>
                                    </m:r>
                                  </m:sub>
                                </m:sSub>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𝑐</m:t>
                                    </m:r>
                                  </m:e>
                                  <m:sub>
                                    <m:r>
                                      <a:rPr lang="en-US" b="0" i="1" smtClean="0">
                                        <a:latin typeface="Cambria Math" panose="02040503050406030204" pitchFamily="18" charset="0"/>
                                      </a:rPr>
                                      <m:t>𝑛</m:t>
                                    </m:r>
                                  </m:sub>
                                </m:sSub>
                                <m:sSub>
                                  <m:sSubPr>
                                    <m:ctrlPr>
                                      <a:rPr lang="en-US" b="0" i="1" smtClean="0">
                                        <a:latin typeface="Cambria Math" panose="02040503050406030204" pitchFamily="18" charset="0"/>
                                      </a:rPr>
                                    </m:ctrlPr>
                                  </m:sSubPr>
                                  <m:e>
                                    <m:r>
                                      <a:rPr lang="en-US" b="0" i="1" smtClean="0">
                                        <a:latin typeface="Cambria Math" panose="02040503050406030204" pitchFamily="18" charset="0"/>
                                      </a:rPr>
                                      <m:t>𝑋</m:t>
                                    </m:r>
                                  </m:e>
                                  <m:sub>
                                    <m:r>
                                      <a:rPr lang="en-US" b="0" i="1" smtClean="0">
                                        <a:latin typeface="Cambria Math" panose="02040503050406030204" pitchFamily="18" charset="0"/>
                                      </a:rPr>
                                      <m:t>𝑛</m:t>
                                    </m:r>
                                  </m:sub>
                                </m:sSub>
                              </m:oMath>
                            </m:oMathPara>
                          </a14:m>
                          <a:endParaRPr lang="en-US" dirty="0"/>
                        </a:p>
                      </a:txBody>
                      <a:tcPr>
                        <a:lnL w="12700" cmpd="sng">
                          <a:noFill/>
                        </a:lnL>
                        <a:lnR w="12700" cmpd="sng">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10000"/>
                      </a:ext>
                    </a:extLst>
                  </a:tr>
                  <a:tr h="419909">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left"/>
                              </m:oMathParaPr>
                              <m:oMath xmlns:m="http://schemas.openxmlformats.org/officeDocument/2006/math">
                                <m:r>
                                  <a:rPr lang="en-US" b="0" i="1" smtClean="0">
                                    <a:latin typeface="Cambria Math" panose="02040503050406030204" pitchFamily="18" charset="0"/>
                                  </a:rPr>
                                  <m:t>𝑠𝑢𝑏𝑗𝑒𝑐𝑡</m:t>
                                </m:r>
                                <m:r>
                                  <a:rPr lang="en-US" b="0" i="1" smtClean="0">
                                    <a:latin typeface="Cambria Math" panose="02040503050406030204" pitchFamily="18" charset="0"/>
                                  </a:rPr>
                                  <m:t> </m:t>
                                </m:r>
                                <m:r>
                                  <a:rPr lang="en-US" b="0" i="1" smtClean="0">
                                    <a:latin typeface="Cambria Math" panose="02040503050406030204" pitchFamily="18" charset="0"/>
                                  </a:rPr>
                                  <m:t>𝑡𝑜</m:t>
                                </m:r>
                              </m:oMath>
                            </m:oMathPara>
                          </a14:m>
                          <a:endParaRPr lang="en-US" dirty="0"/>
                        </a:p>
                      </a:txBody>
                      <a:tcPr>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left"/>
                              </m:oMathParaPr>
                              <m:oMath xmlns:m="http://schemas.openxmlformats.org/officeDocument/2006/math">
                                <m:sSub>
                                  <m:sSubPr>
                                    <m:ctrlPr>
                                      <a:rPr lang="en-US" b="0" i="1" smtClean="0">
                                        <a:latin typeface="Cambria Math" panose="02040503050406030204" pitchFamily="18" charset="0"/>
                                      </a:rPr>
                                    </m:ctrlPr>
                                  </m:sSubPr>
                                  <m:e>
                                    <m:r>
                                      <a:rPr lang="en-US" b="0" i="1" smtClean="0">
                                        <a:latin typeface="Cambria Math" panose="02040503050406030204" pitchFamily="18" charset="0"/>
                                      </a:rPr>
                                      <m:t>𝑎</m:t>
                                    </m:r>
                                  </m:e>
                                  <m:sub>
                                    <m:r>
                                      <a:rPr lang="en-US" b="0" i="1" smtClean="0">
                                        <a:latin typeface="Cambria Math" panose="02040503050406030204" pitchFamily="18" charset="0"/>
                                      </a:rPr>
                                      <m:t>11</m:t>
                                    </m:r>
                                  </m:sub>
                                </m:sSub>
                                <m:sSub>
                                  <m:sSubPr>
                                    <m:ctrlPr>
                                      <a:rPr lang="en-US" b="0" i="1" smtClean="0">
                                        <a:latin typeface="Cambria Math" panose="02040503050406030204" pitchFamily="18" charset="0"/>
                                      </a:rPr>
                                    </m:ctrlPr>
                                  </m:sSubPr>
                                  <m:e>
                                    <m:r>
                                      <a:rPr lang="en-US" b="0" i="1" smtClean="0">
                                        <a:latin typeface="Cambria Math" panose="02040503050406030204" pitchFamily="18" charset="0"/>
                                      </a:rPr>
                                      <m:t>𝑋</m:t>
                                    </m:r>
                                  </m:e>
                                  <m:sub>
                                    <m:r>
                                      <a:rPr lang="en-US" b="0" i="1" smtClean="0">
                                        <a:latin typeface="Cambria Math" panose="02040503050406030204" pitchFamily="18" charset="0"/>
                                      </a:rPr>
                                      <m:t>1</m:t>
                                    </m:r>
                                  </m:sub>
                                </m:sSub>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𝑎</m:t>
                                    </m:r>
                                  </m:e>
                                  <m:sub>
                                    <m:r>
                                      <a:rPr lang="en-US" b="0" i="1" smtClean="0">
                                        <a:latin typeface="Cambria Math" panose="02040503050406030204" pitchFamily="18" charset="0"/>
                                      </a:rPr>
                                      <m:t>12</m:t>
                                    </m:r>
                                  </m:sub>
                                </m:sSub>
                                <m:sSub>
                                  <m:sSubPr>
                                    <m:ctrlPr>
                                      <a:rPr lang="en-US" b="0" i="1" smtClean="0">
                                        <a:latin typeface="Cambria Math" panose="02040503050406030204" pitchFamily="18" charset="0"/>
                                      </a:rPr>
                                    </m:ctrlPr>
                                  </m:sSubPr>
                                  <m:e>
                                    <m:r>
                                      <a:rPr lang="en-US" b="0" i="1" smtClean="0">
                                        <a:latin typeface="Cambria Math" panose="02040503050406030204" pitchFamily="18" charset="0"/>
                                      </a:rPr>
                                      <m:t>𝑋</m:t>
                                    </m:r>
                                  </m:e>
                                  <m:sub>
                                    <m:r>
                                      <a:rPr lang="en-US" b="0" i="1" smtClean="0">
                                        <a:latin typeface="Cambria Math" panose="02040503050406030204" pitchFamily="18" charset="0"/>
                                      </a:rPr>
                                      <m:t>2</m:t>
                                    </m:r>
                                  </m:sub>
                                </m:sSub>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𝑎</m:t>
                                    </m:r>
                                  </m:e>
                                  <m:sub>
                                    <m:r>
                                      <a:rPr lang="en-US" b="0" i="1" smtClean="0">
                                        <a:latin typeface="Cambria Math" panose="02040503050406030204" pitchFamily="18" charset="0"/>
                                      </a:rPr>
                                      <m:t>13</m:t>
                                    </m:r>
                                  </m:sub>
                                </m:sSub>
                                <m:sSub>
                                  <m:sSubPr>
                                    <m:ctrlPr>
                                      <a:rPr lang="en-US" b="0" i="1" smtClean="0">
                                        <a:latin typeface="Cambria Math" panose="02040503050406030204" pitchFamily="18" charset="0"/>
                                      </a:rPr>
                                    </m:ctrlPr>
                                  </m:sSubPr>
                                  <m:e>
                                    <m:r>
                                      <a:rPr lang="en-US" b="0" i="1" smtClean="0">
                                        <a:latin typeface="Cambria Math" panose="02040503050406030204" pitchFamily="18" charset="0"/>
                                      </a:rPr>
                                      <m:t>𝑋</m:t>
                                    </m:r>
                                  </m:e>
                                  <m:sub>
                                    <m:r>
                                      <a:rPr lang="en-US" b="0" i="1" smtClean="0">
                                        <a:latin typeface="Cambria Math" panose="02040503050406030204" pitchFamily="18" charset="0"/>
                                      </a:rPr>
                                      <m:t>3</m:t>
                                    </m:r>
                                  </m:sub>
                                </m:sSub>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𝑎</m:t>
                                    </m:r>
                                  </m:e>
                                  <m:sub>
                                    <m:r>
                                      <a:rPr lang="en-US" b="0" i="1" smtClean="0">
                                        <a:latin typeface="Cambria Math" panose="02040503050406030204" pitchFamily="18" charset="0"/>
                                      </a:rPr>
                                      <m:t>1</m:t>
                                    </m:r>
                                    <m:r>
                                      <a:rPr lang="en-US" b="0" i="1" smtClean="0">
                                        <a:latin typeface="Cambria Math" panose="02040503050406030204" pitchFamily="18" charset="0"/>
                                      </a:rPr>
                                      <m:t>𝑛</m:t>
                                    </m:r>
                                  </m:sub>
                                </m:sSub>
                                <m:sSub>
                                  <m:sSubPr>
                                    <m:ctrlPr>
                                      <a:rPr lang="en-US" b="0" i="1" smtClean="0">
                                        <a:latin typeface="Cambria Math" panose="02040503050406030204" pitchFamily="18" charset="0"/>
                                      </a:rPr>
                                    </m:ctrlPr>
                                  </m:sSubPr>
                                  <m:e>
                                    <m:r>
                                      <a:rPr lang="en-US" b="0" i="1" smtClean="0">
                                        <a:latin typeface="Cambria Math" panose="02040503050406030204" pitchFamily="18" charset="0"/>
                                      </a:rPr>
                                      <m:t>𝑋</m:t>
                                    </m:r>
                                  </m:e>
                                  <m:sub>
                                    <m:r>
                                      <a:rPr lang="en-US" b="0" i="1" smtClean="0">
                                        <a:latin typeface="Cambria Math" panose="02040503050406030204" pitchFamily="18" charset="0"/>
                                      </a:rPr>
                                      <m:t>𝑛</m:t>
                                    </m:r>
                                  </m:sub>
                                </m:sSub>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𝑏</m:t>
                                    </m:r>
                                  </m:e>
                                  <m:sub>
                                    <m:r>
                                      <a:rPr lang="en-US" b="0" i="1" smtClean="0">
                                        <a:latin typeface="Cambria Math" panose="02040503050406030204" pitchFamily="18" charset="0"/>
                                      </a:rPr>
                                      <m:t>1</m:t>
                                    </m:r>
                                  </m:sub>
                                </m:sSub>
                              </m:oMath>
                            </m:oMathPara>
                          </a14:m>
                          <a:endParaRPr lang="en-US" dirty="0"/>
                        </a:p>
                      </a:txBody>
                      <a:tcPr>
                        <a:lnL w="12700" cmpd="sng">
                          <a:noFill/>
                        </a:lnL>
                        <a:lnR w="12700" cmpd="sng">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10001"/>
                      </a:ext>
                    </a:extLst>
                  </a:tr>
                  <a:tr h="419909">
                    <a:tc>
                      <a:txBody>
                        <a:bodyPr/>
                        <a:lstStyle/>
                        <a:p>
                          <a:endParaRPr lang="en-US"/>
                        </a:p>
                      </a:txBody>
                      <a:tcPr>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left"/>
                              </m:oMathParaPr>
                              <m:oMath xmlns:m="http://schemas.openxmlformats.org/officeDocument/2006/math">
                                <m:sSub>
                                  <m:sSubPr>
                                    <m:ctrlPr>
                                      <a:rPr lang="en-US" b="0" i="1" smtClean="0">
                                        <a:latin typeface="Cambria Math" panose="02040503050406030204" pitchFamily="18" charset="0"/>
                                      </a:rPr>
                                    </m:ctrlPr>
                                  </m:sSubPr>
                                  <m:e>
                                    <m:r>
                                      <a:rPr lang="en-US" b="0" i="1" smtClean="0">
                                        <a:latin typeface="Cambria Math" panose="02040503050406030204" pitchFamily="18" charset="0"/>
                                      </a:rPr>
                                      <m:t>𝑎</m:t>
                                    </m:r>
                                  </m:e>
                                  <m:sub>
                                    <m:r>
                                      <a:rPr lang="en-US" b="0" i="1" smtClean="0">
                                        <a:latin typeface="Cambria Math" panose="02040503050406030204" pitchFamily="18" charset="0"/>
                                      </a:rPr>
                                      <m:t>21</m:t>
                                    </m:r>
                                  </m:sub>
                                </m:sSub>
                                <m:sSub>
                                  <m:sSubPr>
                                    <m:ctrlPr>
                                      <a:rPr lang="en-US" b="0" i="1" smtClean="0">
                                        <a:latin typeface="Cambria Math" panose="02040503050406030204" pitchFamily="18" charset="0"/>
                                      </a:rPr>
                                    </m:ctrlPr>
                                  </m:sSubPr>
                                  <m:e>
                                    <m:r>
                                      <a:rPr lang="en-US" b="0" i="1" smtClean="0">
                                        <a:latin typeface="Cambria Math" panose="02040503050406030204" pitchFamily="18" charset="0"/>
                                      </a:rPr>
                                      <m:t>𝑋</m:t>
                                    </m:r>
                                  </m:e>
                                  <m:sub>
                                    <m:r>
                                      <a:rPr lang="en-US" b="0" i="1" smtClean="0">
                                        <a:latin typeface="Cambria Math" panose="02040503050406030204" pitchFamily="18" charset="0"/>
                                      </a:rPr>
                                      <m:t>1</m:t>
                                    </m:r>
                                  </m:sub>
                                </m:sSub>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𝑎</m:t>
                                    </m:r>
                                  </m:e>
                                  <m:sub>
                                    <m:r>
                                      <a:rPr lang="en-US" b="0" i="1" smtClean="0">
                                        <a:latin typeface="Cambria Math" panose="02040503050406030204" pitchFamily="18" charset="0"/>
                                      </a:rPr>
                                      <m:t>22</m:t>
                                    </m:r>
                                  </m:sub>
                                </m:sSub>
                                <m:sSub>
                                  <m:sSubPr>
                                    <m:ctrlPr>
                                      <a:rPr lang="en-US" b="0" i="1" smtClean="0">
                                        <a:latin typeface="Cambria Math" panose="02040503050406030204" pitchFamily="18" charset="0"/>
                                      </a:rPr>
                                    </m:ctrlPr>
                                  </m:sSubPr>
                                  <m:e>
                                    <m:r>
                                      <a:rPr lang="en-US" b="0" i="1" smtClean="0">
                                        <a:latin typeface="Cambria Math" panose="02040503050406030204" pitchFamily="18" charset="0"/>
                                      </a:rPr>
                                      <m:t>𝑋</m:t>
                                    </m:r>
                                  </m:e>
                                  <m:sub>
                                    <m:r>
                                      <a:rPr lang="en-US" b="0" i="1" smtClean="0">
                                        <a:latin typeface="Cambria Math" panose="02040503050406030204" pitchFamily="18" charset="0"/>
                                      </a:rPr>
                                      <m:t>2</m:t>
                                    </m:r>
                                  </m:sub>
                                </m:sSub>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𝑎</m:t>
                                    </m:r>
                                  </m:e>
                                  <m:sub>
                                    <m:r>
                                      <a:rPr lang="en-US" b="0" i="1" smtClean="0">
                                        <a:latin typeface="Cambria Math" panose="02040503050406030204" pitchFamily="18" charset="0"/>
                                      </a:rPr>
                                      <m:t>23</m:t>
                                    </m:r>
                                  </m:sub>
                                </m:sSub>
                                <m:sSub>
                                  <m:sSubPr>
                                    <m:ctrlPr>
                                      <a:rPr lang="en-US" b="0" i="1" smtClean="0">
                                        <a:latin typeface="Cambria Math" panose="02040503050406030204" pitchFamily="18" charset="0"/>
                                      </a:rPr>
                                    </m:ctrlPr>
                                  </m:sSubPr>
                                  <m:e>
                                    <m:r>
                                      <a:rPr lang="en-US" b="0" i="1" smtClean="0">
                                        <a:latin typeface="Cambria Math" panose="02040503050406030204" pitchFamily="18" charset="0"/>
                                      </a:rPr>
                                      <m:t>𝑋</m:t>
                                    </m:r>
                                  </m:e>
                                  <m:sub>
                                    <m:r>
                                      <a:rPr lang="en-US" b="0" i="1" smtClean="0">
                                        <a:latin typeface="Cambria Math" panose="02040503050406030204" pitchFamily="18" charset="0"/>
                                      </a:rPr>
                                      <m:t>3</m:t>
                                    </m:r>
                                  </m:sub>
                                </m:sSub>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𝑎</m:t>
                                    </m:r>
                                  </m:e>
                                  <m:sub>
                                    <m:r>
                                      <a:rPr lang="en-US" b="0" i="1" smtClean="0">
                                        <a:latin typeface="Cambria Math" panose="02040503050406030204" pitchFamily="18" charset="0"/>
                                      </a:rPr>
                                      <m:t>1</m:t>
                                    </m:r>
                                    <m:r>
                                      <a:rPr lang="en-US" b="0" i="1" smtClean="0">
                                        <a:latin typeface="Cambria Math" panose="02040503050406030204" pitchFamily="18" charset="0"/>
                                      </a:rPr>
                                      <m:t>𝑛</m:t>
                                    </m:r>
                                  </m:sub>
                                </m:sSub>
                                <m:sSub>
                                  <m:sSubPr>
                                    <m:ctrlPr>
                                      <a:rPr lang="en-US" b="0" i="1" smtClean="0">
                                        <a:latin typeface="Cambria Math" panose="02040503050406030204" pitchFamily="18" charset="0"/>
                                      </a:rPr>
                                    </m:ctrlPr>
                                  </m:sSubPr>
                                  <m:e>
                                    <m:r>
                                      <a:rPr lang="en-US" b="0" i="1" smtClean="0">
                                        <a:latin typeface="Cambria Math" panose="02040503050406030204" pitchFamily="18" charset="0"/>
                                      </a:rPr>
                                      <m:t>𝑋</m:t>
                                    </m:r>
                                  </m:e>
                                  <m:sub>
                                    <m:r>
                                      <a:rPr lang="en-US" b="0" i="1" smtClean="0">
                                        <a:latin typeface="Cambria Math" panose="02040503050406030204" pitchFamily="18" charset="0"/>
                                      </a:rPr>
                                      <m:t>𝑛</m:t>
                                    </m:r>
                                  </m:sub>
                                </m:sSub>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𝑏</m:t>
                                    </m:r>
                                  </m:e>
                                  <m:sub>
                                    <m:r>
                                      <a:rPr lang="en-US" b="0" i="1" smtClean="0">
                                        <a:latin typeface="Cambria Math" panose="02040503050406030204" pitchFamily="18" charset="0"/>
                                      </a:rPr>
                                      <m:t>2</m:t>
                                    </m:r>
                                  </m:sub>
                                </m:sSub>
                              </m:oMath>
                            </m:oMathPara>
                          </a14:m>
                          <a:endParaRPr lang="en-US" dirty="0"/>
                        </a:p>
                      </a:txBody>
                      <a:tcPr>
                        <a:lnL w="12700" cmpd="sng">
                          <a:noFill/>
                        </a:lnL>
                        <a:lnR w="12700" cmpd="sng">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10002"/>
                      </a:ext>
                    </a:extLst>
                  </a:tr>
                  <a:tr h="267698">
                    <a:tc>
                      <a:txBody>
                        <a:bodyPr/>
                        <a:lstStyle/>
                        <a:p>
                          <a:endParaRPr lang="en-US"/>
                        </a:p>
                      </a:txBody>
                      <a:tcPr>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pPr algn="l"/>
                          <a14:m>
                            <m:oMathPara xmlns:m="http://schemas.openxmlformats.org/officeDocument/2006/math">
                              <m:oMathParaPr>
                                <m:jc m:val="center"/>
                              </m:oMathParaPr>
                              <m:oMath xmlns:m="http://schemas.openxmlformats.org/officeDocument/2006/math">
                                <m:r>
                                  <a:rPr lang="en-US" i="1" smtClean="0">
                                    <a:latin typeface="Cambria Math" panose="02040503050406030204" pitchFamily="18" charset="0"/>
                                    <a:ea typeface="Cambria Math" panose="02040503050406030204" pitchFamily="18" charset="0"/>
                                  </a:rPr>
                                  <m:t>⋮</m:t>
                                </m:r>
                              </m:oMath>
                            </m:oMathPara>
                          </a14:m>
                          <a:endParaRPr lang="en-US" dirty="0"/>
                        </a:p>
                      </a:txBody>
                      <a:tcPr>
                        <a:lnL w="12700" cmpd="sng">
                          <a:noFill/>
                        </a:lnL>
                        <a:lnR w="12700" cmpd="sng">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10003"/>
                      </a:ext>
                    </a:extLst>
                  </a:tr>
                  <a:tr h="419909">
                    <a:tc>
                      <a:txBody>
                        <a:bodyPr/>
                        <a:lstStyle/>
                        <a:p>
                          <a:endParaRPr lang="en-US"/>
                        </a:p>
                      </a:txBody>
                      <a:tcPr>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left"/>
                              </m:oMathParaPr>
                              <m:oMath xmlns:m="http://schemas.openxmlformats.org/officeDocument/2006/math">
                                <m:sSub>
                                  <m:sSubPr>
                                    <m:ctrlPr>
                                      <a:rPr lang="en-US" b="0" i="1" smtClean="0">
                                        <a:latin typeface="Cambria Math" panose="02040503050406030204" pitchFamily="18" charset="0"/>
                                      </a:rPr>
                                    </m:ctrlPr>
                                  </m:sSubPr>
                                  <m:e>
                                    <m:r>
                                      <a:rPr lang="en-US" b="0" i="1" smtClean="0">
                                        <a:latin typeface="Cambria Math" panose="02040503050406030204" pitchFamily="18" charset="0"/>
                                      </a:rPr>
                                      <m:t>𝑎</m:t>
                                    </m:r>
                                  </m:e>
                                  <m:sub>
                                    <m:r>
                                      <a:rPr lang="en-US" b="0" i="1" smtClean="0">
                                        <a:latin typeface="Cambria Math" panose="02040503050406030204" pitchFamily="18" charset="0"/>
                                      </a:rPr>
                                      <m:t>𝑚</m:t>
                                    </m:r>
                                    <m:r>
                                      <a:rPr lang="en-US" b="0" i="1" smtClean="0">
                                        <a:latin typeface="Cambria Math" panose="02040503050406030204" pitchFamily="18" charset="0"/>
                                      </a:rPr>
                                      <m:t>1</m:t>
                                    </m:r>
                                  </m:sub>
                                </m:sSub>
                                <m:sSub>
                                  <m:sSubPr>
                                    <m:ctrlPr>
                                      <a:rPr lang="en-US" b="0" i="1" smtClean="0">
                                        <a:latin typeface="Cambria Math" panose="02040503050406030204" pitchFamily="18" charset="0"/>
                                      </a:rPr>
                                    </m:ctrlPr>
                                  </m:sSubPr>
                                  <m:e>
                                    <m:r>
                                      <a:rPr lang="en-US" b="0" i="1" smtClean="0">
                                        <a:latin typeface="Cambria Math" panose="02040503050406030204" pitchFamily="18" charset="0"/>
                                      </a:rPr>
                                      <m:t>𝑋</m:t>
                                    </m:r>
                                  </m:e>
                                  <m:sub>
                                    <m:r>
                                      <a:rPr lang="en-US" b="0" i="1" smtClean="0">
                                        <a:latin typeface="Cambria Math" panose="02040503050406030204" pitchFamily="18" charset="0"/>
                                      </a:rPr>
                                      <m:t>1</m:t>
                                    </m:r>
                                  </m:sub>
                                </m:sSub>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𝑎</m:t>
                                    </m:r>
                                  </m:e>
                                  <m:sub>
                                    <m:r>
                                      <a:rPr lang="en-US" b="0" i="1" smtClean="0">
                                        <a:latin typeface="Cambria Math" panose="02040503050406030204" pitchFamily="18" charset="0"/>
                                      </a:rPr>
                                      <m:t>𝑚</m:t>
                                    </m:r>
                                    <m:r>
                                      <a:rPr lang="en-US" b="0" i="1" smtClean="0">
                                        <a:latin typeface="Cambria Math" panose="02040503050406030204" pitchFamily="18" charset="0"/>
                                      </a:rPr>
                                      <m:t>2</m:t>
                                    </m:r>
                                  </m:sub>
                                </m:sSub>
                                <m:sSub>
                                  <m:sSubPr>
                                    <m:ctrlPr>
                                      <a:rPr lang="en-US" b="0" i="1" smtClean="0">
                                        <a:latin typeface="Cambria Math" panose="02040503050406030204" pitchFamily="18" charset="0"/>
                                      </a:rPr>
                                    </m:ctrlPr>
                                  </m:sSubPr>
                                  <m:e>
                                    <m:r>
                                      <a:rPr lang="en-US" b="0" i="1" smtClean="0">
                                        <a:latin typeface="Cambria Math" panose="02040503050406030204" pitchFamily="18" charset="0"/>
                                      </a:rPr>
                                      <m:t>𝑋</m:t>
                                    </m:r>
                                  </m:e>
                                  <m:sub>
                                    <m:r>
                                      <a:rPr lang="en-US" b="0" i="1" smtClean="0">
                                        <a:latin typeface="Cambria Math" panose="02040503050406030204" pitchFamily="18" charset="0"/>
                                      </a:rPr>
                                      <m:t>2</m:t>
                                    </m:r>
                                  </m:sub>
                                </m:sSub>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𝑎</m:t>
                                    </m:r>
                                  </m:e>
                                  <m:sub>
                                    <m:r>
                                      <a:rPr lang="en-US" b="0" i="1" smtClean="0">
                                        <a:latin typeface="Cambria Math" panose="02040503050406030204" pitchFamily="18" charset="0"/>
                                      </a:rPr>
                                      <m:t>𝑚</m:t>
                                    </m:r>
                                    <m:r>
                                      <a:rPr lang="en-US" b="0" i="1" smtClean="0">
                                        <a:latin typeface="Cambria Math" panose="02040503050406030204" pitchFamily="18" charset="0"/>
                                      </a:rPr>
                                      <m:t>3</m:t>
                                    </m:r>
                                  </m:sub>
                                </m:sSub>
                                <m:sSub>
                                  <m:sSubPr>
                                    <m:ctrlPr>
                                      <a:rPr lang="en-US" b="0" i="1" smtClean="0">
                                        <a:latin typeface="Cambria Math" panose="02040503050406030204" pitchFamily="18" charset="0"/>
                                      </a:rPr>
                                    </m:ctrlPr>
                                  </m:sSubPr>
                                  <m:e>
                                    <m:r>
                                      <a:rPr lang="en-US" b="0" i="1" smtClean="0">
                                        <a:latin typeface="Cambria Math" panose="02040503050406030204" pitchFamily="18" charset="0"/>
                                      </a:rPr>
                                      <m:t>𝑋</m:t>
                                    </m:r>
                                  </m:e>
                                  <m:sub>
                                    <m:r>
                                      <a:rPr lang="en-US" b="0" i="1" smtClean="0">
                                        <a:latin typeface="Cambria Math" panose="02040503050406030204" pitchFamily="18" charset="0"/>
                                      </a:rPr>
                                      <m:t>3</m:t>
                                    </m:r>
                                  </m:sub>
                                </m:sSub>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𝑎</m:t>
                                    </m:r>
                                  </m:e>
                                  <m:sub>
                                    <m:r>
                                      <a:rPr lang="en-US" b="0" i="1" smtClean="0">
                                        <a:latin typeface="Cambria Math" panose="02040503050406030204" pitchFamily="18" charset="0"/>
                                      </a:rPr>
                                      <m:t>𝑚𝑛</m:t>
                                    </m:r>
                                  </m:sub>
                                </m:sSub>
                                <m:sSub>
                                  <m:sSubPr>
                                    <m:ctrlPr>
                                      <a:rPr lang="en-US" b="0" i="1" smtClean="0">
                                        <a:latin typeface="Cambria Math" panose="02040503050406030204" pitchFamily="18" charset="0"/>
                                      </a:rPr>
                                    </m:ctrlPr>
                                  </m:sSubPr>
                                  <m:e>
                                    <m:r>
                                      <a:rPr lang="en-US" b="0" i="1" smtClean="0">
                                        <a:latin typeface="Cambria Math" panose="02040503050406030204" pitchFamily="18" charset="0"/>
                                      </a:rPr>
                                      <m:t>𝑋</m:t>
                                    </m:r>
                                  </m:e>
                                  <m:sub>
                                    <m:r>
                                      <a:rPr lang="en-US" b="0" i="1" smtClean="0">
                                        <a:latin typeface="Cambria Math" panose="02040503050406030204" pitchFamily="18" charset="0"/>
                                      </a:rPr>
                                      <m:t>𝑛</m:t>
                                    </m:r>
                                  </m:sub>
                                </m:sSub>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𝑏</m:t>
                                    </m:r>
                                  </m:e>
                                  <m:sub>
                                    <m:r>
                                      <a:rPr lang="en-US" b="0" i="1" smtClean="0">
                                        <a:latin typeface="Cambria Math" panose="02040503050406030204" pitchFamily="18" charset="0"/>
                                      </a:rPr>
                                      <m:t>𝑚</m:t>
                                    </m:r>
                                  </m:sub>
                                </m:sSub>
                              </m:oMath>
                            </m:oMathPara>
                          </a14:m>
                          <a:endParaRPr lang="en-US" dirty="0"/>
                        </a:p>
                      </a:txBody>
                      <a:tcPr>
                        <a:lnL w="12700" cmpd="sng">
                          <a:noFill/>
                        </a:lnL>
                        <a:lnR w="12700" cmpd="sng">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10004"/>
                      </a:ext>
                    </a:extLst>
                  </a:tr>
                </a:tbl>
              </a:graphicData>
            </a:graphic>
          </p:graphicFrame>
        </mc:Choice>
        <mc:Fallback xmlns="">
          <p:graphicFrame>
            <p:nvGraphicFramePr>
              <p:cNvPr id="4" name="Table 3"/>
              <p:cNvGraphicFramePr>
                <a:graphicFrameLocks noGrp="1"/>
              </p:cNvGraphicFramePr>
              <p:nvPr>
                <p:extLst>
                  <p:ext uri="{D42A27DB-BD31-4B8C-83A1-F6EECF244321}">
                    <p14:modId xmlns:p14="http://schemas.microsoft.com/office/powerpoint/2010/main" val="1078175535"/>
                  </p:ext>
                </p:extLst>
              </p:nvPr>
            </p:nvGraphicFramePr>
            <p:xfrm>
              <a:off x="1259114" y="2679094"/>
              <a:ext cx="7209972" cy="2045396"/>
            </p:xfrm>
            <a:graphic>
              <a:graphicData uri="http://schemas.openxmlformats.org/drawingml/2006/table">
                <a:tbl>
                  <a:tblPr firstRow="1" bandRow="1">
                    <a:tableStyleId>{5940675A-B579-460E-94D1-54222C63F5DA}</a:tableStyleId>
                  </a:tblPr>
                  <a:tblGrid>
                    <a:gridCol w="2527207"/>
                    <a:gridCol w="4682765"/>
                  </a:tblGrid>
                  <a:tr h="419909">
                    <a:tc>
                      <a:txBody>
                        <a:bodyPr/>
                        <a:lstStyle/>
                        <a:p>
                          <a:endParaRPr lang="en-US"/>
                        </a:p>
                      </a:txBody>
                      <a:tcPr>
                        <a:lnL w="12700" cmpd="sng">
                          <a:noFill/>
                        </a:lnL>
                        <a:lnR w="12700" cmpd="sng">
                          <a:noFill/>
                        </a:lnR>
                        <a:lnT w="12700" cmpd="sng">
                          <a:noFill/>
                        </a:lnT>
                        <a:lnB w="12700" cmpd="sng">
                          <a:noFill/>
                        </a:lnB>
                        <a:lnTlToBr w="12700" cmpd="sng">
                          <a:noFill/>
                          <a:prstDash val="solid"/>
                        </a:lnTlToBr>
                        <a:lnBlToTr w="12700" cmpd="sng">
                          <a:noFill/>
                          <a:prstDash val="solid"/>
                        </a:lnBlToTr>
                        <a:blipFill rotWithShape="0">
                          <a:blip r:embed="rId4"/>
                          <a:stretch>
                            <a:fillRect r="-185301" b="-388406"/>
                          </a:stretch>
                        </a:blipFill>
                      </a:tcPr>
                    </a:tc>
                    <a:tc>
                      <a:txBody>
                        <a:bodyPr/>
                        <a:lstStyle/>
                        <a:p>
                          <a:endParaRPr lang="en-US"/>
                        </a:p>
                      </a:txBody>
                      <a:tcPr>
                        <a:lnL w="12700" cmpd="sng">
                          <a:noFill/>
                        </a:lnL>
                        <a:lnR w="12700" cmpd="sng">
                          <a:noFill/>
                        </a:lnR>
                        <a:lnT w="12700" cmpd="sng">
                          <a:noFill/>
                        </a:lnT>
                        <a:lnB w="12700" cmpd="sng">
                          <a:noFill/>
                        </a:lnB>
                        <a:lnTlToBr w="12700" cmpd="sng">
                          <a:noFill/>
                          <a:prstDash val="solid"/>
                        </a:lnTlToBr>
                        <a:lnBlToTr w="12700" cmpd="sng">
                          <a:noFill/>
                          <a:prstDash val="solid"/>
                        </a:lnBlToTr>
                        <a:blipFill rotWithShape="0">
                          <a:blip r:embed="rId4"/>
                          <a:stretch>
                            <a:fillRect l="-53966" b="-388406"/>
                          </a:stretch>
                        </a:blipFill>
                      </a:tcPr>
                    </a:tc>
                  </a:tr>
                  <a:tr h="419909">
                    <a:tc>
                      <a:txBody>
                        <a:bodyPr/>
                        <a:lstStyle/>
                        <a:p>
                          <a:endParaRPr lang="en-US"/>
                        </a:p>
                      </a:txBody>
                      <a:tcPr>
                        <a:lnL w="12700" cmpd="sng">
                          <a:noFill/>
                        </a:lnL>
                        <a:lnR w="12700" cmpd="sng">
                          <a:noFill/>
                        </a:lnR>
                        <a:lnT w="12700" cmpd="sng">
                          <a:noFill/>
                        </a:lnT>
                        <a:lnB w="12700" cmpd="sng">
                          <a:noFill/>
                        </a:lnB>
                        <a:lnTlToBr w="12700" cmpd="sng">
                          <a:noFill/>
                          <a:prstDash val="solid"/>
                        </a:lnTlToBr>
                        <a:lnBlToTr w="12700" cmpd="sng">
                          <a:noFill/>
                          <a:prstDash val="solid"/>
                        </a:lnBlToTr>
                        <a:blipFill rotWithShape="0">
                          <a:blip r:embed="rId4"/>
                          <a:stretch>
                            <a:fillRect t="-100000" r="-185301" b="-288406"/>
                          </a:stretch>
                        </a:blipFill>
                      </a:tcPr>
                    </a:tc>
                    <a:tc>
                      <a:txBody>
                        <a:bodyPr/>
                        <a:lstStyle/>
                        <a:p>
                          <a:endParaRPr lang="en-US"/>
                        </a:p>
                      </a:txBody>
                      <a:tcPr>
                        <a:lnL w="12700" cmpd="sng">
                          <a:noFill/>
                        </a:lnL>
                        <a:lnR w="12700" cmpd="sng">
                          <a:noFill/>
                        </a:lnR>
                        <a:lnT w="12700" cmpd="sng">
                          <a:noFill/>
                        </a:lnT>
                        <a:lnB w="12700" cmpd="sng">
                          <a:noFill/>
                        </a:lnB>
                        <a:lnTlToBr w="12700" cmpd="sng">
                          <a:noFill/>
                          <a:prstDash val="solid"/>
                        </a:lnTlToBr>
                        <a:lnBlToTr w="12700" cmpd="sng">
                          <a:noFill/>
                          <a:prstDash val="solid"/>
                        </a:lnBlToTr>
                        <a:blipFill rotWithShape="0">
                          <a:blip r:embed="rId4"/>
                          <a:stretch>
                            <a:fillRect l="-53966" t="-100000" b="-288406"/>
                          </a:stretch>
                        </a:blipFill>
                      </a:tcPr>
                    </a:tc>
                  </a:tr>
                  <a:tr h="419909">
                    <a:tc>
                      <a:txBody>
                        <a:bodyPr/>
                        <a:lstStyle/>
                        <a:p>
                          <a:endParaRPr lang="en-US"/>
                        </a:p>
                      </a:txBody>
                      <a:tcPr>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endParaRPr lang="en-US"/>
                        </a:p>
                      </a:txBody>
                      <a:tcPr>
                        <a:lnL w="12700" cmpd="sng">
                          <a:noFill/>
                        </a:lnL>
                        <a:lnR w="12700" cmpd="sng">
                          <a:noFill/>
                        </a:lnR>
                        <a:lnT w="12700" cmpd="sng">
                          <a:noFill/>
                        </a:lnT>
                        <a:lnB w="12700" cmpd="sng">
                          <a:noFill/>
                        </a:lnB>
                        <a:lnTlToBr w="12700" cmpd="sng">
                          <a:noFill/>
                          <a:prstDash val="solid"/>
                        </a:lnTlToBr>
                        <a:lnBlToTr w="12700" cmpd="sng">
                          <a:noFill/>
                          <a:prstDash val="solid"/>
                        </a:lnBlToTr>
                        <a:blipFill rotWithShape="0">
                          <a:blip r:embed="rId4"/>
                          <a:stretch>
                            <a:fillRect l="-53966" t="-197143" b="-184286"/>
                          </a:stretch>
                        </a:blipFill>
                      </a:tcPr>
                    </a:tc>
                  </a:tr>
                  <a:tr h="365760">
                    <a:tc>
                      <a:txBody>
                        <a:bodyPr/>
                        <a:lstStyle/>
                        <a:p>
                          <a:endParaRPr lang="en-US"/>
                        </a:p>
                      </a:txBody>
                      <a:tcPr>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endParaRPr lang="en-US"/>
                        </a:p>
                      </a:txBody>
                      <a:tcPr>
                        <a:lnL w="12700" cmpd="sng">
                          <a:noFill/>
                        </a:lnL>
                        <a:lnR w="12700" cmpd="sng">
                          <a:noFill/>
                        </a:lnR>
                        <a:lnT w="12700" cmpd="sng">
                          <a:noFill/>
                        </a:lnT>
                        <a:lnB w="12700" cmpd="sng">
                          <a:noFill/>
                        </a:lnB>
                        <a:lnTlToBr w="12700" cmpd="sng">
                          <a:noFill/>
                          <a:prstDash val="solid"/>
                        </a:lnTlToBr>
                        <a:lnBlToTr w="12700" cmpd="sng">
                          <a:noFill/>
                          <a:prstDash val="solid"/>
                        </a:lnBlToTr>
                        <a:blipFill rotWithShape="0">
                          <a:blip r:embed="rId4"/>
                          <a:stretch>
                            <a:fillRect l="-53966" t="-346667" b="-115000"/>
                          </a:stretch>
                        </a:blipFill>
                      </a:tcPr>
                    </a:tc>
                  </a:tr>
                  <a:tr h="419909">
                    <a:tc>
                      <a:txBody>
                        <a:bodyPr/>
                        <a:lstStyle/>
                        <a:p>
                          <a:endParaRPr lang="en-US"/>
                        </a:p>
                      </a:txBody>
                      <a:tcPr>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endParaRPr lang="en-US"/>
                        </a:p>
                      </a:txBody>
                      <a:tcPr>
                        <a:lnL w="12700" cmpd="sng">
                          <a:noFill/>
                        </a:lnL>
                        <a:lnR w="12700" cmpd="sng">
                          <a:noFill/>
                        </a:lnR>
                        <a:lnT w="12700" cmpd="sng">
                          <a:noFill/>
                        </a:lnT>
                        <a:lnB w="12700" cmpd="sng">
                          <a:noFill/>
                        </a:lnB>
                        <a:lnTlToBr w="12700" cmpd="sng">
                          <a:noFill/>
                          <a:prstDash val="solid"/>
                        </a:lnTlToBr>
                        <a:lnBlToTr w="12700" cmpd="sng">
                          <a:noFill/>
                          <a:prstDash val="solid"/>
                        </a:lnBlToTr>
                        <a:blipFill rotWithShape="0">
                          <a:blip r:embed="rId4"/>
                          <a:stretch>
                            <a:fillRect l="-53966" t="-388406"/>
                          </a:stretch>
                        </a:blipFill>
                      </a:tcPr>
                    </a:tc>
                  </a:tr>
                </a:tbl>
              </a:graphicData>
            </a:graphic>
          </p:graphicFrame>
        </mc:Fallback>
      </mc:AlternateContent>
      <p:sp>
        <p:nvSpPr>
          <p:cNvPr id="5" name="Right Brace 4"/>
          <p:cNvSpPr/>
          <p:nvPr/>
        </p:nvSpPr>
        <p:spPr>
          <a:xfrm>
            <a:off x="9001723" y="5192485"/>
            <a:ext cx="742950" cy="1248231"/>
          </a:xfrm>
          <a:prstGeom prst="rightBrace">
            <a:avLst/>
          </a:prstGeom>
          <a:ln>
            <a:solidFill>
              <a:srgbClr val="C00000"/>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6" name="Rectangle 5"/>
          <p:cNvSpPr/>
          <p:nvPr/>
        </p:nvSpPr>
        <p:spPr>
          <a:xfrm>
            <a:off x="9918845" y="5520600"/>
            <a:ext cx="1434956" cy="592000"/>
          </a:xfrm>
          <a:prstGeom prst="rect">
            <a:avLst/>
          </a:prstGeom>
          <a:ln>
            <a:solidFill>
              <a:srgbClr val="C00000"/>
            </a:solidFill>
          </a:ln>
        </p:spPr>
        <p:style>
          <a:lnRef idx="2">
            <a:schemeClr val="accent2"/>
          </a:lnRef>
          <a:fillRef idx="1">
            <a:schemeClr val="lt1"/>
          </a:fillRef>
          <a:effectRef idx="0">
            <a:schemeClr val="accent2"/>
          </a:effectRef>
          <a:fontRef idx="minor">
            <a:schemeClr val="dk1"/>
          </a:fontRef>
        </p:style>
        <p:txBody>
          <a:bodyPr rtlCol="0" anchor="ctr"/>
          <a:lstStyle/>
          <a:p>
            <a:pPr algn="ctr"/>
            <a:r>
              <a:rPr lang="en-US" dirty="0"/>
              <a:t>Problem data (Parameters)</a:t>
            </a:r>
          </a:p>
        </p:txBody>
      </p:sp>
    </p:spTree>
    <p:extLst>
      <p:ext uri="{BB962C8B-B14F-4D97-AF65-F5344CB8AC3E}">
        <p14:creationId xmlns:p14="http://schemas.microsoft.com/office/powerpoint/2010/main" val="37893072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3">
                                            <p:txEl>
                                              <p:pRg st="2" end="2"/>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4"/>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7" end="7"/>
                                            </p:txEl>
                                          </p:spTgt>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3">
                                            <p:txEl>
                                              <p:pRg st="8" end="8"/>
                                            </p:txEl>
                                          </p:spTgt>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3">
                                            <p:txEl>
                                              <p:pRg st="9" end="9"/>
                                            </p:txEl>
                                          </p:spTgt>
                                        </p:tgtEl>
                                        <p:attrNameLst>
                                          <p:attrName>style.visibility</p:attrName>
                                        </p:attrNameLst>
                                      </p:cBhvr>
                                      <p:to>
                                        <p:strVal val="visible"/>
                                      </p:to>
                                    </p:set>
                                  </p:childTnLst>
                                </p:cTn>
                              </p:par>
                              <p:par>
                                <p:cTn id="23" presetID="1" presetClass="entr" presetSubtype="0" fill="hold" nodeType="withEffect">
                                  <p:stCondLst>
                                    <p:cond delay="0"/>
                                  </p:stCondLst>
                                  <p:childTnLst>
                                    <p:set>
                                      <p:cBhvr>
                                        <p:cTn id="24" dur="1" fill="hold">
                                          <p:stCondLst>
                                            <p:cond delay="0"/>
                                          </p:stCondLst>
                                        </p:cTn>
                                        <p:tgtEl>
                                          <p:spTgt spid="3">
                                            <p:txEl>
                                              <p:pRg st="10" end="10"/>
                                            </p:txEl>
                                          </p:spTgt>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5"/>
                                        </p:tgtEl>
                                        <p:attrNameLst>
                                          <p:attrName>style.visibility</p:attrName>
                                        </p:attrNameLst>
                                      </p:cBhvr>
                                      <p:to>
                                        <p:strVal val="visible"/>
                                      </p:to>
                                    </p:set>
                                  </p:childTnLst>
                                </p:cTn>
                              </p:par>
                              <p:par>
                                <p:cTn id="27" presetID="1" presetClass="entr" presetSubtype="0" fill="hold" grpId="0" nodeType="withEffect">
                                  <p:stCondLst>
                                    <p:cond delay="0"/>
                                  </p:stCondLst>
                                  <p:childTnLst>
                                    <p:set>
                                      <p:cBhvr>
                                        <p:cTn id="28" dur="1" fill="hold">
                                          <p:stCondLst>
                                            <p:cond delay="0"/>
                                          </p:stCondLst>
                                        </p:cTn>
                                        <p:tgtEl>
                                          <p:spTgt spid="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6" grpId="0" animBg="1"/>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Sensitivity Analyses and Excel Reports </a:t>
            </a:r>
          </a:p>
        </p:txBody>
      </p:sp>
      <p:sp>
        <p:nvSpPr>
          <p:cNvPr id="3" name="Content Placeholder 2"/>
          <p:cNvSpPr>
            <a:spLocks noGrp="1"/>
          </p:cNvSpPr>
          <p:nvPr>
            <p:ph idx="1"/>
          </p:nvPr>
        </p:nvSpPr>
        <p:spPr/>
        <p:txBody>
          <a:bodyPr/>
          <a:lstStyle/>
          <a:p>
            <a:r>
              <a:rPr lang="en-US" dirty="0"/>
              <a:t>Sensitivity analyses prove to be useful!</a:t>
            </a:r>
          </a:p>
          <a:p>
            <a:pPr lvl="1"/>
            <a:r>
              <a:rPr lang="en-US" dirty="0"/>
              <a:t>The parameter values might be rough estimates and a decision maker would like to see if what they are doing will be still optimal when those estimated values change</a:t>
            </a:r>
          </a:p>
          <a:p>
            <a:pPr lvl="1"/>
            <a:r>
              <a:rPr lang="en-US" dirty="0"/>
              <a:t>There might be opportunities to change the values of some parameters, thus, a decision maker would like to see if it makes sense to invest in such opportunities</a:t>
            </a:r>
          </a:p>
          <a:p>
            <a:pPr lvl="1"/>
            <a:r>
              <a:rPr lang="en-US" dirty="0"/>
              <a:t>The main questions we will answer:</a:t>
            </a:r>
          </a:p>
          <a:p>
            <a:pPr lvl="2"/>
            <a:r>
              <a:rPr lang="en-US" dirty="0"/>
              <a:t>What happens if there are changes in the objective function coefficients</a:t>
            </a:r>
          </a:p>
          <a:p>
            <a:pPr lvl="2"/>
            <a:r>
              <a:rPr lang="en-US" dirty="0"/>
              <a:t>What happens if there are changes in the constraint right-hand side constants</a:t>
            </a:r>
          </a:p>
          <a:p>
            <a:pPr lvl="1"/>
            <a:r>
              <a:rPr lang="en-US" dirty="0"/>
              <a:t>Additionally, we will briefly discuss effects of changes in the model </a:t>
            </a:r>
          </a:p>
          <a:p>
            <a:pPr lvl="2"/>
            <a:r>
              <a:rPr lang="en-US" dirty="0"/>
              <a:t>What happens if a constraint is added or removed</a:t>
            </a:r>
          </a:p>
          <a:p>
            <a:pPr lvl="2"/>
            <a:r>
              <a:rPr lang="en-US" dirty="0"/>
              <a:t>What happens if a decision variable is introduced or omitted</a:t>
            </a:r>
          </a:p>
          <a:p>
            <a:r>
              <a:rPr lang="en-US" dirty="0"/>
              <a:t>Excel Solver’s Sensitivity Report provides valuable information for sensitivity analyses</a:t>
            </a:r>
          </a:p>
          <a:p>
            <a:pPr lvl="1"/>
            <a:endParaRPr lang="en-US" dirty="0"/>
          </a:p>
        </p:txBody>
      </p:sp>
    </p:spTree>
    <p:extLst>
      <p:ext uri="{BB962C8B-B14F-4D97-AF65-F5344CB8AC3E}">
        <p14:creationId xmlns:p14="http://schemas.microsoft.com/office/powerpoint/2010/main" val="168007614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3" end="3"/>
                                            </p:txEl>
                                          </p:spTgt>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3">
                                            <p:txEl>
                                              <p:pRg st="4" end="4"/>
                                            </p:txEl>
                                          </p:spTgt>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
                                            <p:txEl>
                                              <p:pRg st="6" end="6"/>
                                            </p:txEl>
                                          </p:spTgt>
                                        </p:tgtEl>
                                        <p:attrNameLst>
                                          <p:attrName>style.visibility</p:attrName>
                                        </p:attrNameLst>
                                      </p:cBhvr>
                                      <p:to>
                                        <p:strVal val="visible"/>
                                      </p:to>
                                    </p:set>
                                  </p:childTnLst>
                                </p:cTn>
                              </p:par>
                              <p:par>
                                <p:cTn id="23" presetID="1" presetClass="entr" presetSubtype="0" fill="hold" nodeType="withEffect">
                                  <p:stCondLst>
                                    <p:cond delay="0"/>
                                  </p:stCondLst>
                                  <p:childTnLst>
                                    <p:set>
                                      <p:cBhvr>
                                        <p:cTn id="24" dur="1" fill="hold">
                                          <p:stCondLst>
                                            <p:cond delay="0"/>
                                          </p:stCondLst>
                                        </p:cTn>
                                        <p:tgtEl>
                                          <p:spTgt spid="3">
                                            <p:txEl>
                                              <p:pRg st="7" end="7"/>
                                            </p:txEl>
                                          </p:spTgt>
                                        </p:tgtEl>
                                        <p:attrNameLst>
                                          <p:attrName>style.visibility</p:attrName>
                                        </p:attrNameLst>
                                      </p:cBhvr>
                                      <p:to>
                                        <p:strVal val="visible"/>
                                      </p:to>
                                    </p:set>
                                  </p:childTnLst>
                                </p:cTn>
                              </p:par>
                              <p:par>
                                <p:cTn id="25" presetID="1" presetClass="entr" presetSubtype="0" fill="hold" nodeType="withEffect">
                                  <p:stCondLst>
                                    <p:cond delay="0"/>
                                  </p:stCondLst>
                                  <p:childTnLst>
                                    <p:set>
                                      <p:cBhvr>
                                        <p:cTn id="26" dur="1" fill="hold">
                                          <p:stCondLst>
                                            <p:cond delay="0"/>
                                          </p:stCondLst>
                                        </p:cTn>
                                        <p:tgtEl>
                                          <p:spTgt spid="3">
                                            <p:txEl>
                                              <p:pRg st="8" end="8"/>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3">
                                            <p:txEl>
                                              <p:pRg st="9" end="9"/>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Excel Reports</a:t>
            </a:r>
          </a:p>
        </p:txBody>
      </p:sp>
      <p:sp>
        <p:nvSpPr>
          <p:cNvPr id="3" name="Content Placeholder 2"/>
          <p:cNvSpPr>
            <a:spLocks noGrp="1"/>
          </p:cNvSpPr>
          <p:nvPr>
            <p:ph idx="1"/>
          </p:nvPr>
        </p:nvSpPr>
        <p:spPr/>
        <p:txBody>
          <a:bodyPr/>
          <a:lstStyle/>
          <a:p>
            <a:r>
              <a:rPr lang="en-US" b="1" dirty="0"/>
              <a:t>Excel Solver Reports: </a:t>
            </a:r>
            <a:r>
              <a:rPr lang="en-US" dirty="0"/>
              <a:t>Answer, Sensitivity, Limits</a:t>
            </a:r>
          </a:p>
          <a:p>
            <a:pPr lvl="1"/>
            <a:r>
              <a:rPr lang="en-US" dirty="0"/>
              <a:t>You can generate a report by selecting it on the ‘Reports’ menu from the ‘Solver Results’ window</a:t>
            </a:r>
          </a:p>
          <a:p>
            <a:pPr lvl="1"/>
            <a:r>
              <a:rPr lang="en-US" dirty="0"/>
              <a:t>Each report will be</a:t>
            </a:r>
          </a:p>
          <a:p>
            <a:pPr marL="457200" lvl="1" indent="0">
              <a:buNone/>
            </a:pPr>
            <a:r>
              <a:rPr lang="en-US" dirty="0"/>
              <a:t>   generated in a new sheet</a:t>
            </a:r>
          </a:p>
          <a:p>
            <a:pPr lvl="1"/>
            <a:r>
              <a:rPr lang="en-US" dirty="0"/>
              <a:t>We will use </a:t>
            </a:r>
            <a:r>
              <a:rPr lang="en-US" b="1" i="1" dirty="0">
                <a:solidFill>
                  <a:srgbClr val="C00000"/>
                </a:solidFill>
              </a:rPr>
              <a:t>Sensitivity</a:t>
            </a:r>
          </a:p>
          <a:p>
            <a:pPr marL="457200" lvl="1" indent="0">
              <a:buNone/>
            </a:pPr>
            <a:r>
              <a:rPr lang="en-US" b="1" i="1" dirty="0">
                <a:solidFill>
                  <a:srgbClr val="C00000"/>
                </a:solidFill>
              </a:rPr>
              <a:t>   Report</a:t>
            </a:r>
            <a:r>
              <a:rPr lang="en-US" dirty="0"/>
              <a:t> heavily </a:t>
            </a:r>
          </a:p>
          <a:p>
            <a:pPr lvl="1"/>
            <a:endParaRPr lang="en-US" dirty="0"/>
          </a:p>
          <a:p>
            <a:pPr lvl="1"/>
            <a:endParaRPr lang="en-US" dirty="0"/>
          </a:p>
        </p:txBody>
      </p:sp>
      <p:pic>
        <p:nvPicPr>
          <p:cNvPr id="4" name="Picture 3"/>
          <p:cNvPicPr>
            <a:picLocks noChangeAspect="1"/>
          </p:cNvPicPr>
          <p:nvPr/>
        </p:nvPicPr>
        <p:blipFill>
          <a:blip r:embed="rId3"/>
          <a:stretch>
            <a:fillRect/>
          </a:stretch>
        </p:blipFill>
        <p:spPr>
          <a:xfrm>
            <a:off x="4504648" y="2430916"/>
            <a:ext cx="7429816" cy="3466041"/>
          </a:xfrm>
          <a:prstGeom prst="rect">
            <a:avLst/>
          </a:prstGeom>
        </p:spPr>
      </p:pic>
      <p:pic>
        <p:nvPicPr>
          <p:cNvPr id="5" name="Picture 4"/>
          <p:cNvPicPr>
            <a:picLocks noChangeAspect="1"/>
          </p:cNvPicPr>
          <p:nvPr/>
        </p:nvPicPr>
        <p:blipFill>
          <a:blip r:embed="rId4"/>
          <a:stretch>
            <a:fillRect/>
          </a:stretch>
        </p:blipFill>
        <p:spPr>
          <a:xfrm>
            <a:off x="4580848" y="5837130"/>
            <a:ext cx="4443410" cy="515834"/>
          </a:xfrm>
          <a:prstGeom prst="rect">
            <a:avLst/>
          </a:prstGeom>
        </p:spPr>
      </p:pic>
      <p:sp>
        <p:nvSpPr>
          <p:cNvPr id="6" name="Oval 5"/>
          <p:cNvSpPr/>
          <p:nvPr/>
        </p:nvSpPr>
        <p:spPr>
          <a:xfrm>
            <a:off x="10135819" y="2917384"/>
            <a:ext cx="1241613" cy="1023257"/>
          </a:xfrm>
          <a:prstGeom prst="ellipse">
            <a:avLst/>
          </a:prstGeom>
          <a:noFill/>
          <a:ln w="381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Oval 6"/>
          <p:cNvSpPr/>
          <p:nvPr/>
        </p:nvSpPr>
        <p:spPr>
          <a:xfrm>
            <a:off x="4377100" y="5882449"/>
            <a:ext cx="5005108" cy="596753"/>
          </a:xfrm>
          <a:prstGeom prst="ellipse">
            <a:avLst/>
          </a:prstGeom>
          <a:noFill/>
          <a:ln w="381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380649801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Excel Reports</a:t>
            </a:r>
          </a:p>
        </p:txBody>
      </p:sp>
      <p:sp>
        <p:nvSpPr>
          <p:cNvPr id="3" name="Content Placeholder 2"/>
          <p:cNvSpPr>
            <a:spLocks noGrp="1"/>
          </p:cNvSpPr>
          <p:nvPr>
            <p:ph idx="1"/>
          </p:nvPr>
        </p:nvSpPr>
        <p:spPr/>
        <p:txBody>
          <a:bodyPr/>
          <a:lstStyle/>
          <a:p>
            <a:r>
              <a:rPr lang="en-US" b="1" u="sng" dirty="0">
                <a:solidFill>
                  <a:srgbClr val="C00000"/>
                </a:solidFill>
              </a:rPr>
              <a:t>Answer Report:</a:t>
            </a:r>
          </a:p>
          <a:p>
            <a:pPr lvl="1"/>
            <a:endParaRPr lang="en-US" dirty="0"/>
          </a:p>
          <a:p>
            <a:pPr lvl="1"/>
            <a:endParaRPr lang="en-US" dirty="0"/>
          </a:p>
        </p:txBody>
      </p:sp>
      <p:pic>
        <p:nvPicPr>
          <p:cNvPr id="10" name="Picture 9"/>
          <p:cNvPicPr>
            <a:picLocks noChangeAspect="1"/>
          </p:cNvPicPr>
          <p:nvPr/>
        </p:nvPicPr>
        <p:blipFill>
          <a:blip r:embed="rId3"/>
          <a:stretch>
            <a:fillRect/>
          </a:stretch>
        </p:blipFill>
        <p:spPr>
          <a:xfrm>
            <a:off x="615723" y="1926090"/>
            <a:ext cx="5038725" cy="2809875"/>
          </a:xfrm>
          <a:prstGeom prst="rect">
            <a:avLst/>
          </a:prstGeom>
        </p:spPr>
      </p:pic>
      <p:sp>
        <p:nvSpPr>
          <p:cNvPr id="11" name="TextBox 10"/>
          <p:cNvSpPr txBox="1"/>
          <p:nvPr/>
        </p:nvSpPr>
        <p:spPr>
          <a:xfrm>
            <a:off x="5344886" y="1333693"/>
            <a:ext cx="5867400" cy="1077218"/>
          </a:xfrm>
          <a:prstGeom prst="rect">
            <a:avLst/>
          </a:prstGeom>
          <a:noFill/>
        </p:spPr>
        <p:txBody>
          <a:bodyPr wrap="square" rtlCol="0">
            <a:spAutoFit/>
          </a:bodyPr>
          <a:lstStyle/>
          <a:p>
            <a:r>
              <a:rPr lang="en-US" sz="1600" i="1" u="sng" dirty="0"/>
              <a:t>Objective Cell part:</a:t>
            </a:r>
          </a:p>
          <a:p>
            <a:r>
              <a:rPr lang="en-US" sz="1600" dirty="0"/>
              <a:t>Shows the cell and name (if any given), original value (before the model is solved, based on the initial values of the decision variables), and the final value of the objective function after the model is solved</a:t>
            </a:r>
          </a:p>
        </p:txBody>
      </p:sp>
      <p:sp>
        <p:nvSpPr>
          <p:cNvPr id="12" name="TextBox 11"/>
          <p:cNvSpPr txBox="1"/>
          <p:nvPr/>
        </p:nvSpPr>
        <p:spPr>
          <a:xfrm>
            <a:off x="6063343" y="2518488"/>
            <a:ext cx="5900057" cy="1323439"/>
          </a:xfrm>
          <a:prstGeom prst="rect">
            <a:avLst/>
          </a:prstGeom>
          <a:noFill/>
        </p:spPr>
        <p:txBody>
          <a:bodyPr wrap="square" rtlCol="0">
            <a:spAutoFit/>
          </a:bodyPr>
          <a:lstStyle/>
          <a:p>
            <a:r>
              <a:rPr lang="en-US" sz="1600" i="1" u="sng" dirty="0"/>
              <a:t>Variable Cells part:</a:t>
            </a:r>
          </a:p>
          <a:p>
            <a:r>
              <a:rPr lang="en-US" sz="1600" dirty="0"/>
              <a:t>Shows the cells and the names (if any), original values (before the model is solved, the initial values in the model), and the final values after the model is solved for decision variable cells. Also, ‘whether the decision variables are forced to be integers or not’ is noted.</a:t>
            </a:r>
          </a:p>
        </p:txBody>
      </p:sp>
      <p:sp>
        <p:nvSpPr>
          <p:cNvPr id="14" name="TextBox 13"/>
          <p:cNvSpPr txBox="1"/>
          <p:nvPr/>
        </p:nvSpPr>
        <p:spPr>
          <a:xfrm>
            <a:off x="6193971" y="4074245"/>
            <a:ext cx="5638800" cy="2062103"/>
          </a:xfrm>
          <a:prstGeom prst="rect">
            <a:avLst/>
          </a:prstGeom>
          <a:noFill/>
        </p:spPr>
        <p:txBody>
          <a:bodyPr wrap="square" rtlCol="0">
            <a:spAutoFit/>
          </a:bodyPr>
          <a:lstStyle/>
          <a:p>
            <a:r>
              <a:rPr lang="en-US" sz="1600" i="1" u="sng" dirty="0"/>
              <a:t>Constraints part:</a:t>
            </a:r>
          </a:p>
          <a:p>
            <a:r>
              <a:rPr lang="en-US" sz="1600" dirty="0"/>
              <a:t>Shows the cells and names (if any), formula, and cell value, status, and slack after the model is solved.</a:t>
            </a:r>
          </a:p>
          <a:p>
            <a:pPr marL="285750" indent="-285750">
              <a:buFont typeface="Arial" panose="020B0604020202020204" pitchFamily="34" charset="0"/>
              <a:buChar char="•"/>
            </a:pPr>
            <a:r>
              <a:rPr lang="en-US" sz="1600" b="1" dirty="0">
                <a:solidFill>
                  <a:srgbClr val="C00000"/>
                </a:solidFill>
              </a:rPr>
              <a:t>Cell value </a:t>
            </a:r>
            <a:r>
              <a:rPr lang="en-US" sz="1600" dirty="0"/>
              <a:t>is the final value of the constraint left side after the model is solved. For instance, 2 hours is used from Plant 1 and 12 hours is used from Plant 2</a:t>
            </a:r>
          </a:p>
          <a:p>
            <a:pPr marL="285750" indent="-285750">
              <a:buFont typeface="Arial" panose="020B0604020202020204" pitchFamily="34" charset="0"/>
              <a:buChar char="•"/>
            </a:pPr>
            <a:r>
              <a:rPr lang="en-US" sz="1600" b="1" dirty="0">
                <a:solidFill>
                  <a:srgbClr val="C00000"/>
                </a:solidFill>
              </a:rPr>
              <a:t>Status </a:t>
            </a:r>
            <a:r>
              <a:rPr lang="en-US" sz="1600" dirty="0"/>
              <a:t>will be either binding or not binding</a:t>
            </a:r>
          </a:p>
          <a:p>
            <a:pPr marL="285750" indent="-285750">
              <a:buFont typeface="Arial" panose="020B0604020202020204" pitchFamily="34" charset="0"/>
              <a:buChar char="•"/>
            </a:pPr>
            <a:r>
              <a:rPr lang="en-US" sz="1600" b="1" dirty="0">
                <a:solidFill>
                  <a:srgbClr val="C00000"/>
                </a:solidFill>
              </a:rPr>
              <a:t>Slack </a:t>
            </a:r>
            <a:r>
              <a:rPr lang="en-US" sz="1600" dirty="0"/>
              <a:t>is the unutilized portion of the resource</a:t>
            </a:r>
          </a:p>
        </p:txBody>
      </p:sp>
      <p:sp>
        <p:nvSpPr>
          <p:cNvPr id="15" name="TextBox 14"/>
          <p:cNvSpPr txBox="1"/>
          <p:nvPr/>
        </p:nvSpPr>
        <p:spPr>
          <a:xfrm>
            <a:off x="478971" y="5246210"/>
            <a:ext cx="5175477" cy="1200329"/>
          </a:xfrm>
          <a:prstGeom prst="rect">
            <a:avLst/>
          </a:prstGeom>
          <a:noFill/>
        </p:spPr>
        <p:txBody>
          <a:bodyPr wrap="square" rtlCol="0">
            <a:spAutoFit/>
          </a:bodyPr>
          <a:lstStyle/>
          <a:p>
            <a:r>
              <a:rPr lang="en-US" b="1" u="sng" dirty="0">
                <a:solidFill>
                  <a:srgbClr val="C00000"/>
                </a:solidFill>
              </a:rPr>
              <a:t>Binding: </a:t>
            </a:r>
            <a:r>
              <a:rPr lang="en-US" dirty="0"/>
              <a:t>When the resource is fully utilized (with the optimal values of the decision variables, left-hand-side and right-hand-side values are equal)</a:t>
            </a:r>
          </a:p>
          <a:p>
            <a:r>
              <a:rPr lang="en-US" b="1" u="sng" dirty="0">
                <a:solidFill>
                  <a:srgbClr val="C00000"/>
                </a:solidFill>
              </a:rPr>
              <a:t>Not-binding: </a:t>
            </a:r>
            <a:r>
              <a:rPr lang="en-US" dirty="0"/>
              <a:t>When the resource is not fully utilized.</a:t>
            </a:r>
          </a:p>
        </p:txBody>
      </p:sp>
      <p:sp>
        <p:nvSpPr>
          <p:cNvPr id="16" name="Right Brace 15"/>
          <p:cNvSpPr/>
          <p:nvPr/>
        </p:nvSpPr>
        <p:spPr>
          <a:xfrm>
            <a:off x="5320393" y="5222260"/>
            <a:ext cx="872937" cy="1224279"/>
          </a:xfrm>
          <a:prstGeom prst="rightBrace">
            <a:avLst>
              <a:gd name="adj1" fmla="val 25406"/>
              <a:gd name="adj2" fmla="val 38663"/>
            </a:avLst>
          </a:prstGeom>
          <a:ln w="19050">
            <a:solidFill>
              <a:srgbClr val="C00000"/>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4" name="Rectangle 3"/>
          <p:cNvSpPr/>
          <p:nvPr/>
        </p:nvSpPr>
        <p:spPr>
          <a:xfrm>
            <a:off x="478971" y="1926090"/>
            <a:ext cx="4282600" cy="727900"/>
          </a:xfrm>
          <a:prstGeom prst="rect">
            <a:avLst/>
          </a:prstGeom>
          <a:solidFill>
            <a:srgbClr val="FFFF00">
              <a:alpha val="10000"/>
            </a:srgbClr>
          </a:solidFill>
          <a:ln w="38100">
            <a:solidFill>
              <a:srgbClr val="FFFF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ectangle 12"/>
          <p:cNvSpPr/>
          <p:nvPr/>
        </p:nvSpPr>
        <p:spPr>
          <a:xfrm>
            <a:off x="478971" y="2816256"/>
            <a:ext cx="4841422" cy="819041"/>
          </a:xfrm>
          <a:prstGeom prst="rect">
            <a:avLst/>
          </a:prstGeom>
          <a:solidFill>
            <a:srgbClr val="FFFF00">
              <a:alpha val="10000"/>
            </a:srgbClr>
          </a:solidFill>
          <a:ln w="38100">
            <a:solidFill>
              <a:srgbClr val="FFFF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Rectangle 16"/>
          <p:cNvSpPr/>
          <p:nvPr/>
        </p:nvSpPr>
        <p:spPr>
          <a:xfrm>
            <a:off x="503464" y="3791244"/>
            <a:ext cx="5150984" cy="992068"/>
          </a:xfrm>
          <a:prstGeom prst="rect">
            <a:avLst/>
          </a:prstGeom>
          <a:solidFill>
            <a:srgbClr val="FFFF00">
              <a:alpha val="10000"/>
            </a:srgbClr>
          </a:solidFill>
          <a:ln w="38100">
            <a:solidFill>
              <a:srgbClr val="FFFF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94367254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1"/>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4"/>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12"/>
                                        </p:tgtEl>
                                        <p:attrNameLst>
                                          <p:attrName>style.visibility</p:attrName>
                                        </p:attrNameLst>
                                      </p:cBhvr>
                                      <p:to>
                                        <p:strVal val="visible"/>
                                      </p:to>
                                    </p:set>
                                  </p:childTnLst>
                                </p:cTn>
                              </p:par>
                              <p:par>
                                <p:cTn id="13" presetID="1" presetClass="exit" presetSubtype="0" fill="hold" grpId="1" nodeType="withEffect">
                                  <p:stCondLst>
                                    <p:cond delay="0"/>
                                  </p:stCondLst>
                                  <p:childTnLst>
                                    <p:set>
                                      <p:cBhvr>
                                        <p:cTn id="14" dur="1" fill="hold">
                                          <p:stCondLst>
                                            <p:cond delay="0"/>
                                          </p:stCondLst>
                                        </p:cTn>
                                        <p:tgtEl>
                                          <p:spTgt spid="4"/>
                                        </p:tgtEl>
                                        <p:attrNameLst>
                                          <p:attrName>style.visibility</p:attrName>
                                        </p:attrNameLst>
                                      </p:cBhvr>
                                      <p:to>
                                        <p:strVal val="hidden"/>
                                      </p:to>
                                    </p:set>
                                  </p:childTnLst>
                                </p:cTn>
                              </p:par>
                              <p:par>
                                <p:cTn id="15" presetID="1" presetClass="entr" presetSubtype="0" fill="hold" grpId="0" nodeType="withEffect">
                                  <p:stCondLst>
                                    <p:cond delay="0"/>
                                  </p:stCondLst>
                                  <p:childTnLst>
                                    <p:set>
                                      <p:cBhvr>
                                        <p:cTn id="16" dur="1" fill="hold">
                                          <p:stCondLst>
                                            <p:cond delay="0"/>
                                          </p:stCondLst>
                                        </p:cTn>
                                        <p:tgtEl>
                                          <p:spTgt spid="13"/>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grpId="0" nodeType="clickEffect">
                                  <p:stCondLst>
                                    <p:cond delay="0"/>
                                  </p:stCondLst>
                                  <p:childTnLst>
                                    <p:set>
                                      <p:cBhvr>
                                        <p:cTn id="20" dur="1" fill="hold">
                                          <p:stCondLst>
                                            <p:cond delay="0"/>
                                          </p:stCondLst>
                                        </p:cTn>
                                        <p:tgtEl>
                                          <p:spTgt spid="14"/>
                                        </p:tgtEl>
                                        <p:attrNameLst>
                                          <p:attrName>style.visibility</p:attrName>
                                        </p:attrNameLst>
                                      </p:cBhvr>
                                      <p:to>
                                        <p:strVal val="visible"/>
                                      </p:to>
                                    </p:set>
                                  </p:childTnLst>
                                </p:cTn>
                              </p:par>
                              <p:par>
                                <p:cTn id="21" presetID="1" presetClass="exit" presetSubtype="0" fill="hold" grpId="1" nodeType="withEffect">
                                  <p:stCondLst>
                                    <p:cond delay="0"/>
                                  </p:stCondLst>
                                  <p:childTnLst>
                                    <p:set>
                                      <p:cBhvr>
                                        <p:cTn id="22" dur="1" fill="hold">
                                          <p:stCondLst>
                                            <p:cond delay="0"/>
                                          </p:stCondLst>
                                        </p:cTn>
                                        <p:tgtEl>
                                          <p:spTgt spid="13"/>
                                        </p:tgtEl>
                                        <p:attrNameLst>
                                          <p:attrName>style.visibility</p:attrName>
                                        </p:attrNameLst>
                                      </p:cBhvr>
                                      <p:to>
                                        <p:strVal val="hidden"/>
                                      </p:to>
                                    </p:set>
                                  </p:childTnLst>
                                </p:cTn>
                              </p:par>
                              <p:par>
                                <p:cTn id="23" presetID="1" presetClass="entr" presetSubtype="0" fill="hold" grpId="0" nodeType="withEffect">
                                  <p:stCondLst>
                                    <p:cond delay="0"/>
                                  </p:stCondLst>
                                  <p:childTnLst>
                                    <p:set>
                                      <p:cBhvr>
                                        <p:cTn id="24" dur="1" fill="hold">
                                          <p:stCondLst>
                                            <p:cond delay="0"/>
                                          </p:stCondLst>
                                        </p:cTn>
                                        <p:tgtEl>
                                          <p:spTgt spid="17"/>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grpId="0" nodeType="clickEffect">
                                  <p:stCondLst>
                                    <p:cond delay="0"/>
                                  </p:stCondLst>
                                  <p:childTnLst>
                                    <p:set>
                                      <p:cBhvr>
                                        <p:cTn id="28" dur="1" fill="hold">
                                          <p:stCondLst>
                                            <p:cond delay="0"/>
                                          </p:stCondLst>
                                        </p:cTn>
                                        <p:tgtEl>
                                          <p:spTgt spid="15"/>
                                        </p:tgtEl>
                                        <p:attrNameLst>
                                          <p:attrName>style.visibility</p:attrName>
                                        </p:attrNameLst>
                                      </p:cBhvr>
                                      <p:to>
                                        <p:strVal val="visible"/>
                                      </p:to>
                                    </p:set>
                                  </p:childTnLst>
                                </p:cTn>
                              </p:par>
                              <p:par>
                                <p:cTn id="29" presetID="1" presetClass="entr" presetSubtype="0" fill="hold" grpId="0" nodeType="withEffect">
                                  <p:stCondLst>
                                    <p:cond delay="0"/>
                                  </p:stCondLst>
                                  <p:childTnLst>
                                    <p:set>
                                      <p:cBhvr>
                                        <p:cTn id="30" dur="1" fill="hold">
                                          <p:stCondLst>
                                            <p:cond delay="0"/>
                                          </p:stCondLst>
                                        </p:cTn>
                                        <p:tgtEl>
                                          <p:spTgt spid="1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p:bldP spid="12" grpId="0"/>
      <p:bldP spid="14" grpId="0"/>
      <p:bldP spid="15" grpId="0"/>
      <p:bldP spid="16" grpId="0" animBg="1"/>
      <p:bldP spid="4" grpId="0" animBg="1"/>
      <p:bldP spid="4" grpId="1" animBg="1"/>
      <p:bldP spid="13" grpId="0" animBg="1"/>
      <p:bldP spid="13" grpId="1" animBg="1"/>
      <p:bldP spid="17" grpId="0" animBg="1"/>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Excel Reports</a:t>
            </a:r>
          </a:p>
        </p:txBody>
      </p:sp>
      <p:sp>
        <p:nvSpPr>
          <p:cNvPr id="3" name="Content Placeholder 2"/>
          <p:cNvSpPr>
            <a:spLocks noGrp="1"/>
          </p:cNvSpPr>
          <p:nvPr>
            <p:ph idx="1"/>
          </p:nvPr>
        </p:nvSpPr>
        <p:spPr/>
        <p:txBody>
          <a:bodyPr/>
          <a:lstStyle/>
          <a:p>
            <a:r>
              <a:rPr lang="en-US" b="1" u="sng" dirty="0">
                <a:solidFill>
                  <a:srgbClr val="C00000"/>
                </a:solidFill>
              </a:rPr>
              <a:t>Limits Report: </a:t>
            </a:r>
            <a:r>
              <a:rPr lang="en-US" dirty="0"/>
              <a:t>tells what can be the limits of the decision variables</a:t>
            </a:r>
          </a:p>
          <a:p>
            <a:pPr lvl="1"/>
            <a:endParaRPr lang="en-US" dirty="0"/>
          </a:p>
          <a:p>
            <a:pPr lvl="1"/>
            <a:endParaRPr lang="en-US" dirty="0"/>
          </a:p>
        </p:txBody>
      </p:sp>
      <p:sp>
        <p:nvSpPr>
          <p:cNvPr id="14" name="TextBox 13"/>
          <p:cNvSpPr txBox="1"/>
          <p:nvPr/>
        </p:nvSpPr>
        <p:spPr>
          <a:xfrm>
            <a:off x="6094207" y="2237002"/>
            <a:ext cx="5638800" cy="830997"/>
          </a:xfrm>
          <a:prstGeom prst="rect">
            <a:avLst/>
          </a:prstGeom>
          <a:noFill/>
        </p:spPr>
        <p:txBody>
          <a:bodyPr wrap="square" rtlCol="0">
            <a:spAutoFit/>
          </a:bodyPr>
          <a:lstStyle/>
          <a:p>
            <a:r>
              <a:rPr lang="en-US" sz="1600" dirty="0"/>
              <a:t>If we produce 6 windows, we should produce at least 0 doors (</a:t>
            </a:r>
            <a:r>
              <a:rPr lang="en-US" sz="1600" u="sng" dirty="0"/>
              <a:t>lower limit </a:t>
            </a:r>
            <a:r>
              <a:rPr lang="en-US" sz="1600" dirty="0"/>
              <a:t>for doors), and when we produce 0 doors (while producing 6 windows), the profit will be 3000</a:t>
            </a:r>
          </a:p>
        </p:txBody>
      </p:sp>
      <p:pic>
        <p:nvPicPr>
          <p:cNvPr id="4" name="Picture 3"/>
          <p:cNvPicPr>
            <a:picLocks noChangeAspect="1"/>
          </p:cNvPicPr>
          <p:nvPr/>
        </p:nvPicPr>
        <p:blipFill>
          <a:blip r:embed="rId3"/>
          <a:stretch>
            <a:fillRect/>
          </a:stretch>
        </p:blipFill>
        <p:spPr>
          <a:xfrm>
            <a:off x="566396" y="2029119"/>
            <a:ext cx="5000625" cy="1762125"/>
          </a:xfrm>
          <a:prstGeom prst="rect">
            <a:avLst/>
          </a:prstGeom>
        </p:spPr>
      </p:pic>
      <p:sp>
        <p:nvSpPr>
          <p:cNvPr id="17" name="TextBox 16"/>
          <p:cNvSpPr txBox="1"/>
          <p:nvPr/>
        </p:nvSpPr>
        <p:spPr>
          <a:xfrm>
            <a:off x="6094207" y="3098892"/>
            <a:ext cx="5455536" cy="830997"/>
          </a:xfrm>
          <a:prstGeom prst="rect">
            <a:avLst/>
          </a:prstGeom>
          <a:noFill/>
        </p:spPr>
        <p:txBody>
          <a:bodyPr wrap="square" rtlCol="0">
            <a:spAutoFit/>
          </a:bodyPr>
          <a:lstStyle/>
          <a:p>
            <a:r>
              <a:rPr lang="en-US" sz="1600" dirty="0"/>
              <a:t>If we produce 6 windows, we can produce at most 2 doors (</a:t>
            </a:r>
            <a:r>
              <a:rPr lang="en-US" sz="1600" u="sng" dirty="0"/>
              <a:t>upper limit</a:t>
            </a:r>
            <a:r>
              <a:rPr lang="en-US" sz="1600" dirty="0"/>
              <a:t> for doors), and when we produce 2 doors (while producing 6 windows), the profit will be 3600</a:t>
            </a:r>
          </a:p>
        </p:txBody>
      </p:sp>
      <p:sp>
        <p:nvSpPr>
          <p:cNvPr id="18" name="TextBox 17"/>
          <p:cNvSpPr txBox="1"/>
          <p:nvPr/>
        </p:nvSpPr>
        <p:spPr>
          <a:xfrm>
            <a:off x="977921" y="4543781"/>
            <a:ext cx="5638800" cy="830997"/>
          </a:xfrm>
          <a:prstGeom prst="rect">
            <a:avLst/>
          </a:prstGeom>
          <a:noFill/>
        </p:spPr>
        <p:txBody>
          <a:bodyPr wrap="square" rtlCol="0">
            <a:spAutoFit/>
          </a:bodyPr>
          <a:lstStyle/>
          <a:p>
            <a:r>
              <a:rPr lang="en-US" sz="1600" dirty="0"/>
              <a:t>If we produce 2 doors, we should produce at least 0 windows (</a:t>
            </a:r>
            <a:r>
              <a:rPr lang="en-US" sz="1600" u="sng" dirty="0"/>
              <a:t>lower limit</a:t>
            </a:r>
            <a:r>
              <a:rPr lang="en-US" sz="1600" dirty="0"/>
              <a:t> for windows), and when we produce 0 windows (while producing 2 doors), the profit will be 600</a:t>
            </a:r>
          </a:p>
        </p:txBody>
      </p:sp>
      <p:sp>
        <p:nvSpPr>
          <p:cNvPr id="19" name="TextBox 18"/>
          <p:cNvSpPr txBox="1"/>
          <p:nvPr/>
        </p:nvSpPr>
        <p:spPr>
          <a:xfrm>
            <a:off x="6553200" y="4222428"/>
            <a:ext cx="5280212" cy="830997"/>
          </a:xfrm>
          <a:prstGeom prst="rect">
            <a:avLst/>
          </a:prstGeom>
          <a:noFill/>
        </p:spPr>
        <p:txBody>
          <a:bodyPr wrap="square" rtlCol="0">
            <a:spAutoFit/>
          </a:bodyPr>
          <a:lstStyle/>
          <a:p>
            <a:r>
              <a:rPr lang="en-US" sz="1600" dirty="0"/>
              <a:t>If we produce 2 doors, we can produce at most 6 windows (</a:t>
            </a:r>
            <a:r>
              <a:rPr lang="en-US" sz="1600" u="sng" dirty="0"/>
              <a:t>upper limit </a:t>
            </a:r>
            <a:r>
              <a:rPr lang="en-US" sz="1600" dirty="0"/>
              <a:t>for windows), and when we produce 6 windows (while producing 2 doors), the profit will be 3600</a:t>
            </a:r>
          </a:p>
        </p:txBody>
      </p:sp>
      <p:sp>
        <p:nvSpPr>
          <p:cNvPr id="6" name="Rounded Rectangle 5"/>
          <p:cNvSpPr/>
          <p:nvPr/>
        </p:nvSpPr>
        <p:spPr>
          <a:xfrm>
            <a:off x="3318147" y="3278430"/>
            <a:ext cx="968829" cy="205133"/>
          </a:xfrm>
          <a:prstGeom prst="roundRect">
            <a:avLst/>
          </a:prstGeom>
          <a:noFill/>
          <a:ln w="19050"/>
        </p:spPr>
        <p:style>
          <a:lnRef idx="2">
            <a:schemeClr val="accent4"/>
          </a:lnRef>
          <a:fillRef idx="1">
            <a:schemeClr val="lt1"/>
          </a:fillRef>
          <a:effectRef idx="0">
            <a:schemeClr val="accent4"/>
          </a:effectRef>
          <a:fontRef idx="minor">
            <a:schemeClr val="dk1"/>
          </a:fontRef>
        </p:style>
        <p:txBody>
          <a:bodyPr rtlCol="0" anchor="ctr"/>
          <a:lstStyle/>
          <a:p>
            <a:pPr algn="ctr"/>
            <a:endParaRPr lang="en-US"/>
          </a:p>
        </p:txBody>
      </p:sp>
      <p:cxnSp>
        <p:nvCxnSpPr>
          <p:cNvPr id="8" name="Curved Connector 7"/>
          <p:cNvCxnSpPr>
            <a:stCxn id="6" idx="0"/>
            <a:endCxn id="14" idx="1"/>
          </p:cNvCxnSpPr>
          <p:nvPr/>
        </p:nvCxnSpPr>
        <p:spPr>
          <a:xfrm rot="5400000" flipH="1" flipV="1">
            <a:off x="4635420" y="1819644"/>
            <a:ext cx="625929" cy="2291645"/>
          </a:xfrm>
          <a:prstGeom prst="curvedConnector2">
            <a:avLst/>
          </a:prstGeom>
          <a:ln w="28575">
            <a:tailEnd type="triangle"/>
          </a:ln>
        </p:spPr>
        <p:style>
          <a:lnRef idx="1">
            <a:schemeClr val="accent4"/>
          </a:lnRef>
          <a:fillRef idx="0">
            <a:schemeClr val="accent4"/>
          </a:fillRef>
          <a:effectRef idx="0">
            <a:schemeClr val="accent4"/>
          </a:effectRef>
          <a:fontRef idx="minor">
            <a:schemeClr val="tx1"/>
          </a:fontRef>
        </p:style>
      </p:cxnSp>
      <p:sp>
        <p:nvSpPr>
          <p:cNvPr id="20" name="Rounded Rectangle 19"/>
          <p:cNvSpPr/>
          <p:nvPr/>
        </p:nvSpPr>
        <p:spPr>
          <a:xfrm>
            <a:off x="4463969" y="3278430"/>
            <a:ext cx="1103052" cy="223297"/>
          </a:xfrm>
          <a:prstGeom prst="roundRect">
            <a:avLst/>
          </a:prstGeom>
          <a:noFill/>
          <a:ln w="19050"/>
        </p:spPr>
        <p:style>
          <a:lnRef idx="2">
            <a:schemeClr val="accent4"/>
          </a:lnRef>
          <a:fillRef idx="1">
            <a:schemeClr val="lt1"/>
          </a:fillRef>
          <a:effectRef idx="0">
            <a:schemeClr val="accent4"/>
          </a:effectRef>
          <a:fontRef idx="minor">
            <a:schemeClr val="dk1"/>
          </a:fontRef>
        </p:style>
        <p:txBody>
          <a:bodyPr rtlCol="0" anchor="ctr"/>
          <a:lstStyle/>
          <a:p>
            <a:pPr algn="ctr"/>
            <a:endParaRPr lang="en-US"/>
          </a:p>
        </p:txBody>
      </p:sp>
      <p:cxnSp>
        <p:nvCxnSpPr>
          <p:cNvPr id="21" name="Curved Connector 20"/>
          <p:cNvCxnSpPr>
            <a:stCxn id="20" idx="0"/>
            <a:endCxn id="17" idx="1"/>
          </p:cNvCxnSpPr>
          <p:nvPr/>
        </p:nvCxnSpPr>
        <p:spPr>
          <a:xfrm rot="16200000" flipH="1">
            <a:off x="5436870" y="2857054"/>
            <a:ext cx="235961" cy="1078712"/>
          </a:xfrm>
          <a:prstGeom prst="curvedConnector4">
            <a:avLst>
              <a:gd name="adj1" fmla="val -96880"/>
              <a:gd name="adj2" fmla="val 75564"/>
            </a:avLst>
          </a:prstGeom>
          <a:ln w="28575">
            <a:tailEnd type="triangle"/>
          </a:ln>
        </p:spPr>
        <p:style>
          <a:lnRef idx="1">
            <a:schemeClr val="accent4"/>
          </a:lnRef>
          <a:fillRef idx="0">
            <a:schemeClr val="accent4"/>
          </a:fillRef>
          <a:effectRef idx="0">
            <a:schemeClr val="accent4"/>
          </a:effectRef>
          <a:fontRef idx="minor">
            <a:schemeClr val="tx1"/>
          </a:fontRef>
        </p:style>
      </p:cxnSp>
      <p:sp>
        <p:nvSpPr>
          <p:cNvPr id="23" name="Rounded Rectangle 22"/>
          <p:cNvSpPr/>
          <p:nvPr/>
        </p:nvSpPr>
        <p:spPr>
          <a:xfrm>
            <a:off x="3318147" y="3483563"/>
            <a:ext cx="968829" cy="205133"/>
          </a:xfrm>
          <a:prstGeom prst="roundRect">
            <a:avLst/>
          </a:prstGeom>
          <a:noFill/>
          <a:ln w="19050">
            <a:solidFill>
              <a:srgbClr val="FF0000"/>
            </a:solidFill>
          </a:ln>
        </p:spPr>
        <p:style>
          <a:lnRef idx="2">
            <a:schemeClr val="accent4"/>
          </a:lnRef>
          <a:fillRef idx="1">
            <a:schemeClr val="lt1"/>
          </a:fillRef>
          <a:effectRef idx="0">
            <a:schemeClr val="accent4"/>
          </a:effectRef>
          <a:fontRef idx="minor">
            <a:schemeClr val="dk1"/>
          </a:fontRef>
        </p:style>
        <p:txBody>
          <a:bodyPr rtlCol="0" anchor="ctr"/>
          <a:lstStyle/>
          <a:p>
            <a:pPr algn="ctr"/>
            <a:endParaRPr lang="en-US"/>
          </a:p>
        </p:txBody>
      </p:sp>
      <p:cxnSp>
        <p:nvCxnSpPr>
          <p:cNvPr id="24" name="Curved Connector 23"/>
          <p:cNvCxnSpPr/>
          <p:nvPr/>
        </p:nvCxnSpPr>
        <p:spPr>
          <a:xfrm rot="5400000">
            <a:off x="2982145" y="3760099"/>
            <a:ext cx="906345" cy="722676"/>
          </a:xfrm>
          <a:prstGeom prst="curvedConnector3">
            <a:avLst>
              <a:gd name="adj1" fmla="val 50000"/>
            </a:avLst>
          </a:prstGeom>
          <a:ln w="28575">
            <a:solidFill>
              <a:srgbClr val="FF0000"/>
            </a:solidFill>
            <a:tailEnd type="triangle"/>
          </a:ln>
        </p:spPr>
        <p:style>
          <a:lnRef idx="1">
            <a:schemeClr val="accent4"/>
          </a:lnRef>
          <a:fillRef idx="0">
            <a:schemeClr val="accent4"/>
          </a:fillRef>
          <a:effectRef idx="0">
            <a:schemeClr val="accent4"/>
          </a:effectRef>
          <a:fontRef idx="minor">
            <a:schemeClr val="tx1"/>
          </a:fontRef>
        </p:style>
      </p:cxnSp>
      <p:sp>
        <p:nvSpPr>
          <p:cNvPr id="31" name="Rounded Rectangle 30"/>
          <p:cNvSpPr/>
          <p:nvPr/>
        </p:nvSpPr>
        <p:spPr>
          <a:xfrm>
            <a:off x="4463969" y="3501727"/>
            <a:ext cx="1103052" cy="186968"/>
          </a:xfrm>
          <a:prstGeom prst="roundRect">
            <a:avLst/>
          </a:prstGeom>
          <a:noFill/>
          <a:ln w="19050">
            <a:solidFill>
              <a:srgbClr val="FF0000"/>
            </a:solidFill>
          </a:ln>
        </p:spPr>
        <p:style>
          <a:lnRef idx="2">
            <a:schemeClr val="accent4"/>
          </a:lnRef>
          <a:fillRef idx="1">
            <a:schemeClr val="lt1"/>
          </a:fillRef>
          <a:effectRef idx="0">
            <a:schemeClr val="accent4"/>
          </a:effectRef>
          <a:fontRef idx="minor">
            <a:schemeClr val="dk1"/>
          </a:fontRef>
        </p:style>
        <p:txBody>
          <a:bodyPr rtlCol="0" anchor="ctr"/>
          <a:lstStyle/>
          <a:p>
            <a:pPr algn="ctr"/>
            <a:endParaRPr lang="en-US"/>
          </a:p>
        </p:txBody>
      </p:sp>
      <p:cxnSp>
        <p:nvCxnSpPr>
          <p:cNvPr id="32" name="Curved Connector 31"/>
          <p:cNvCxnSpPr>
            <a:endCxn id="19" idx="1"/>
          </p:cNvCxnSpPr>
          <p:nvPr/>
        </p:nvCxnSpPr>
        <p:spPr>
          <a:xfrm>
            <a:off x="4942478" y="3668263"/>
            <a:ext cx="1610722" cy="969664"/>
          </a:xfrm>
          <a:prstGeom prst="curvedConnector3">
            <a:avLst>
              <a:gd name="adj1" fmla="val 50000"/>
            </a:avLst>
          </a:prstGeom>
          <a:ln w="28575">
            <a:solidFill>
              <a:srgbClr val="FF0000"/>
            </a:solidFill>
            <a:tailEnd type="triangle"/>
          </a:ln>
        </p:spPr>
        <p:style>
          <a:lnRef idx="1">
            <a:schemeClr val="accent4"/>
          </a:lnRef>
          <a:fillRef idx="0">
            <a:schemeClr val="accent4"/>
          </a:fillRef>
          <a:effectRef idx="0">
            <a:schemeClr val="accent4"/>
          </a:effectRef>
          <a:fontRef idx="minor">
            <a:schemeClr val="tx1"/>
          </a:fontRef>
        </p:style>
      </p:cxnSp>
    </p:spTree>
    <p:extLst>
      <p:ext uri="{BB962C8B-B14F-4D97-AF65-F5344CB8AC3E}">
        <p14:creationId xmlns:p14="http://schemas.microsoft.com/office/powerpoint/2010/main" val="119887428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8"/>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14"/>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20"/>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21"/>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17"/>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23"/>
                                        </p:tgtEl>
                                        <p:attrNameLst>
                                          <p:attrName>style.visibility</p:attrName>
                                        </p:attrNameLst>
                                      </p:cBhvr>
                                      <p:to>
                                        <p:strVal val="visible"/>
                                      </p:to>
                                    </p:set>
                                  </p:childTnLst>
                                </p:cTn>
                              </p:par>
                              <p:par>
                                <p:cTn id="23" presetID="1" presetClass="entr" presetSubtype="0" fill="hold" nodeType="withEffect">
                                  <p:stCondLst>
                                    <p:cond delay="0"/>
                                  </p:stCondLst>
                                  <p:childTnLst>
                                    <p:set>
                                      <p:cBhvr>
                                        <p:cTn id="24" dur="1" fill="hold">
                                          <p:stCondLst>
                                            <p:cond delay="0"/>
                                          </p:stCondLst>
                                        </p:cTn>
                                        <p:tgtEl>
                                          <p:spTgt spid="24"/>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18"/>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31"/>
                                        </p:tgtEl>
                                        <p:attrNameLst>
                                          <p:attrName>style.visibility</p:attrName>
                                        </p:attrNameLst>
                                      </p:cBhvr>
                                      <p:to>
                                        <p:strVal val="visible"/>
                                      </p:to>
                                    </p:set>
                                  </p:childTnLst>
                                </p:cTn>
                              </p:par>
                              <p:par>
                                <p:cTn id="31" presetID="1" presetClass="entr" presetSubtype="0" fill="hold" nodeType="withEffect">
                                  <p:stCondLst>
                                    <p:cond delay="0"/>
                                  </p:stCondLst>
                                  <p:childTnLst>
                                    <p:set>
                                      <p:cBhvr>
                                        <p:cTn id="32" dur="1" fill="hold">
                                          <p:stCondLst>
                                            <p:cond delay="0"/>
                                          </p:stCondLst>
                                        </p:cTn>
                                        <p:tgtEl>
                                          <p:spTgt spid="32"/>
                                        </p:tgtEl>
                                        <p:attrNameLst>
                                          <p:attrName>style.visibility</p:attrName>
                                        </p:attrNameLst>
                                      </p:cBhvr>
                                      <p:to>
                                        <p:strVal val="visible"/>
                                      </p:to>
                                    </p:set>
                                  </p:childTnLst>
                                </p:cTn>
                              </p:par>
                              <p:par>
                                <p:cTn id="33" presetID="1" presetClass="entr" presetSubtype="0" fill="hold" grpId="0" nodeType="withEffect">
                                  <p:stCondLst>
                                    <p:cond delay="0"/>
                                  </p:stCondLst>
                                  <p:childTnLst>
                                    <p:set>
                                      <p:cBhvr>
                                        <p:cTn id="34" dur="1" fill="hold">
                                          <p:stCondLst>
                                            <p:cond delay="0"/>
                                          </p:stCondLst>
                                        </p:cTn>
                                        <p:tgtEl>
                                          <p:spTgt spid="1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 grpId="0"/>
      <p:bldP spid="17" grpId="0"/>
      <p:bldP spid="18" grpId="0"/>
      <p:bldP spid="19" grpId="0"/>
      <p:bldP spid="6" grpId="0" animBg="1"/>
      <p:bldP spid="20" grpId="0" animBg="1"/>
      <p:bldP spid="23" grpId="0" animBg="1"/>
      <p:bldP spid="31" grpId="0" animBg="1"/>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Excel Reports</a:t>
            </a:r>
          </a:p>
        </p:txBody>
      </p:sp>
      <p:sp>
        <p:nvSpPr>
          <p:cNvPr id="3" name="Content Placeholder 2"/>
          <p:cNvSpPr>
            <a:spLocks noGrp="1"/>
          </p:cNvSpPr>
          <p:nvPr>
            <p:ph idx="1"/>
          </p:nvPr>
        </p:nvSpPr>
        <p:spPr/>
        <p:txBody>
          <a:bodyPr/>
          <a:lstStyle/>
          <a:p>
            <a:r>
              <a:rPr lang="en-US" b="1" u="sng" dirty="0">
                <a:solidFill>
                  <a:srgbClr val="C00000"/>
                </a:solidFill>
              </a:rPr>
              <a:t>Sensitivity Report:</a:t>
            </a:r>
            <a:endParaRPr lang="en-US" u="sng" dirty="0">
              <a:solidFill>
                <a:srgbClr val="C00000"/>
              </a:solidFill>
            </a:endParaRPr>
          </a:p>
        </p:txBody>
      </p:sp>
      <p:pic>
        <p:nvPicPr>
          <p:cNvPr id="8" name="Picture 7"/>
          <p:cNvPicPr>
            <a:picLocks noChangeAspect="1"/>
          </p:cNvPicPr>
          <p:nvPr/>
        </p:nvPicPr>
        <p:blipFill>
          <a:blip r:embed="rId3"/>
          <a:stretch>
            <a:fillRect/>
          </a:stretch>
        </p:blipFill>
        <p:spPr>
          <a:xfrm>
            <a:off x="712582" y="1829481"/>
            <a:ext cx="5381625" cy="2219325"/>
          </a:xfrm>
          <a:prstGeom prst="rect">
            <a:avLst/>
          </a:prstGeom>
        </p:spPr>
      </p:pic>
      <p:sp>
        <p:nvSpPr>
          <p:cNvPr id="9" name="Right Brace 8"/>
          <p:cNvSpPr/>
          <p:nvPr/>
        </p:nvSpPr>
        <p:spPr>
          <a:xfrm>
            <a:off x="6015319" y="1967432"/>
            <a:ext cx="699406" cy="808426"/>
          </a:xfrm>
          <a:prstGeom prst="rightBrace">
            <a:avLst>
              <a:gd name="adj1" fmla="val 25406"/>
              <a:gd name="adj2" fmla="val 52359"/>
            </a:avLst>
          </a:prstGeom>
          <a:ln w="19050">
            <a:solidFill>
              <a:srgbClr val="C00000"/>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10" name="TextBox 9"/>
          <p:cNvSpPr txBox="1"/>
          <p:nvPr/>
        </p:nvSpPr>
        <p:spPr>
          <a:xfrm>
            <a:off x="6888256" y="1358761"/>
            <a:ext cx="5118688" cy="3046988"/>
          </a:xfrm>
          <a:prstGeom prst="rect">
            <a:avLst/>
          </a:prstGeom>
          <a:noFill/>
        </p:spPr>
        <p:txBody>
          <a:bodyPr wrap="square" rtlCol="0">
            <a:spAutoFit/>
          </a:bodyPr>
          <a:lstStyle/>
          <a:p>
            <a:r>
              <a:rPr lang="en-US" sz="1600" dirty="0"/>
              <a:t>This part is used to analyze the effects of changes in the objective function</a:t>
            </a:r>
          </a:p>
          <a:p>
            <a:pPr marL="285750" indent="-285750">
              <a:buFont typeface="Arial" panose="020B0604020202020204" pitchFamily="34" charset="0"/>
              <a:buChar char="•"/>
            </a:pPr>
            <a:r>
              <a:rPr lang="en-US" sz="1600" u="sng" dirty="0"/>
              <a:t>Final Value </a:t>
            </a:r>
            <a:r>
              <a:rPr lang="en-US" sz="1600" dirty="0"/>
              <a:t>is the optimal value of the decision variables</a:t>
            </a:r>
          </a:p>
          <a:p>
            <a:pPr marL="285750" indent="-285750">
              <a:buFont typeface="Arial" panose="020B0604020202020204" pitchFamily="34" charset="0"/>
              <a:buChar char="•"/>
            </a:pPr>
            <a:r>
              <a:rPr lang="en-US" sz="1600" u="sng" dirty="0"/>
              <a:t>Reduced Cost </a:t>
            </a:r>
            <a:r>
              <a:rPr lang="en-US" sz="1600" dirty="0"/>
              <a:t>is how much the objective function value would change by increasing (if possible) the variables by one unit from the current values</a:t>
            </a:r>
          </a:p>
          <a:p>
            <a:pPr marL="285750" indent="-285750">
              <a:buFont typeface="Arial" panose="020B0604020202020204" pitchFamily="34" charset="0"/>
              <a:buChar char="•"/>
            </a:pPr>
            <a:r>
              <a:rPr lang="en-US" sz="1600" u="sng" dirty="0"/>
              <a:t>Objective Coefficient </a:t>
            </a:r>
            <a:r>
              <a:rPr lang="en-US" sz="1600" dirty="0"/>
              <a:t>is the objective function coefficient for the variable</a:t>
            </a:r>
          </a:p>
          <a:p>
            <a:pPr marL="285750" indent="-285750">
              <a:buFont typeface="Arial" panose="020B0604020202020204" pitchFamily="34" charset="0"/>
              <a:buChar char="•"/>
            </a:pPr>
            <a:r>
              <a:rPr lang="en-US" sz="1600" u="sng" dirty="0"/>
              <a:t>Allowable Increase </a:t>
            </a:r>
            <a:r>
              <a:rPr lang="en-US" sz="1600" dirty="0"/>
              <a:t>and </a:t>
            </a:r>
            <a:r>
              <a:rPr lang="en-US" sz="1600" u="sng" dirty="0"/>
              <a:t>Allowable Decrease </a:t>
            </a:r>
            <a:r>
              <a:rPr lang="en-US" sz="1600" dirty="0"/>
              <a:t>will tell us how much we change the objective coefficient without changing the optimal solution</a:t>
            </a:r>
          </a:p>
          <a:p>
            <a:pPr marL="742950" lvl="1" indent="-285750">
              <a:buFont typeface="Arial" panose="020B0604020202020204" pitchFamily="34" charset="0"/>
              <a:buChar char="•"/>
            </a:pPr>
            <a:r>
              <a:rPr lang="en-US" sz="1600" dirty="0"/>
              <a:t>MORE ON THIS LATER</a:t>
            </a:r>
          </a:p>
        </p:txBody>
      </p:sp>
      <p:sp>
        <p:nvSpPr>
          <p:cNvPr id="11" name="TextBox 10"/>
          <p:cNvSpPr txBox="1"/>
          <p:nvPr/>
        </p:nvSpPr>
        <p:spPr>
          <a:xfrm>
            <a:off x="712582" y="4452077"/>
            <a:ext cx="7604104" cy="2062103"/>
          </a:xfrm>
          <a:prstGeom prst="rect">
            <a:avLst/>
          </a:prstGeom>
          <a:noFill/>
        </p:spPr>
        <p:txBody>
          <a:bodyPr wrap="square" rtlCol="0">
            <a:spAutoFit/>
          </a:bodyPr>
          <a:lstStyle/>
          <a:p>
            <a:r>
              <a:rPr lang="en-US" sz="1600" dirty="0"/>
              <a:t>This part is used to analyze the effects of changes in the constraints</a:t>
            </a:r>
          </a:p>
          <a:p>
            <a:pPr marL="285750" indent="-285750">
              <a:buFont typeface="Arial" panose="020B0604020202020204" pitchFamily="34" charset="0"/>
              <a:buChar char="•"/>
            </a:pPr>
            <a:r>
              <a:rPr lang="en-US" sz="1600" u="sng" dirty="0"/>
              <a:t>Final Value </a:t>
            </a:r>
            <a:r>
              <a:rPr lang="en-US" sz="1600" dirty="0"/>
              <a:t>is the final value left-side of the constraint</a:t>
            </a:r>
          </a:p>
          <a:p>
            <a:pPr marL="285750" indent="-285750">
              <a:buFont typeface="Arial" panose="020B0604020202020204" pitchFamily="34" charset="0"/>
              <a:buChar char="•"/>
            </a:pPr>
            <a:r>
              <a:rPr lang="en-US" sz="1600" u="sng" dirty="0"/>
              <a:t>Shadow Price </a:t>
            </a:r>
            <a:r>
              <a:rPr lang="en-US" sz="1600" dirty="0"/>
              <a:t>is how much the objective function value would change by increasing (if possible) the constraint right-side by one unit from the current values</a:t>
            </a:r>
          </a:p>
          <a:p>
            <a:pPr marL="285750" indent="-285750">
              <a:buFont typeface="Arial" panose="020B0604020202020204" pitchFamily="34" charset="0"/>
              <a:buChar char="•"/>
            </a:pPr>
            <a:r>
              <a:rPr lang="en-US" sz="1600" u="sng" dirty="0"/>
              <a:t>Constraint R.H. Side </a:t>
            </a:r>
            <a:r>
              <a:rPr lang="en-US" sz="1600" dirty="0"/>
              <a:t>is the right-hand side constants for the constraints</a:t>
            </a:r>
          </a:p>
          <a:p>
            <a:pPr marL="285750" indent="-285750">
              <a:buFont typeface="Arial" panose="020B0604020202020204" pitchFamily="34" charset="0"/>
              <a:buChar char="•"/>
            </a:pPr>
            <a:r>
              <a:rPr lang="en-US" sz="1600" u="sng" dirty="0"/>
              <a:t>Allowable Increase </a:t>
            </a:r>
            <a:r>
              <a:rPr lang="en-US" sz="1600" dirty="0"/>
              <a:t>and </a:t>
            </a:r>
            <a:r>
              <a:rPr lang="en-US" sz="1600" u="sng" dirty="0"/>
              <a:t>Allowable Decrease </a:t>
            </a:r>
            <a:r>
              <a:rPr lang="en-US" sz="1600" dirty="0"/>
              <a:t>will tell us how much we change the objective coefficient without changing the shadow price</a:t>
            </a:r>
          </a:p>
          <a:p>
            <a:pPr marL="742950" lvl="1" indent="-285750">
              <a:buFont typeface="Arial" panose="020B0604020202020204" pitchFamily="34" charset="0"/>
              <a:buChar char="•"/>
            </a:pPr>
            <a:r>
              <a:rPr lang="en-US" sz="1600" dirty="0"/>
              <a:t>MORE ON THIS LATER</a:t>
            </a:r>
          </a:p>
        </p:txBody>
      </p:sp>
      <p:sp>
        <p:nvSpPr>
          <p:cNvPr id="12" name="Right Brace 11"/>
          <p:cNvSpPr/>
          <p:nvPr/>
        </p:nvSpPr>
        <p:spPr>
          <a:xfrm rot="5400000">
            <a:off x="3228713" y="1424497"/>
            <a:ext cx="349361" cy="5381625"/>
          </a:xfrm>
          <a:prstGeom prst="rightBrace">
            <a:avLst>
              <a:gd name="adj1" fmla="val 25406"/>
              <a:gd name="adj2" fmla="val 45279"/>
            </a:avLst>
          </a:prstGeom>
          <a:ln w="19050">
            <a:solidFill>
              <a:srgbClr val="C00000"/>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Tree>
    <p:extLst>
      <p:ext uri="{BB962C8B-B14F-4D97-AF65-F5344CB8AC3E}">
        <p14:creationId xmlns:p14="http://schemas.microsoft.com/office/powerpoint/2010/main" val="383306027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9"/>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10"/>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12"/>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1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animBg="1"/>
      <p:bldP spid="10" grpId="0"/>
      <p:bldP spid="11" grpId="0"/>
      <p:bldP spid="12" grpId="0" animBg="1"/>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Outline</a:t>
            </a:r>
          </a:p>
        </p:txBody>
      </p:sp>
      <p:sp>
        <p:nvSpPr>
          <p:cNvPr id="3" name="Content Placeholder 2"/>
          <p:cNvSpPr>
            <a:spLocks noGrp="1"/>
          </p:cNvSpPr>
          <p:nvPr>
            <p:ph idx="1"/>
          </p:nvPr>
        </p:nvSpPr>
        <p:spPr/>
        <p:txBody>
          <a:bodyPr/>
          <a:lstStyle/>
          <a:p>
            <a:r>
              <a:rPr lang="en-US" dirty="0">
                <a:solidFill>
                  <a:schemeClr val="bg2"/>
                </a:solidFill>
              </a:rPr>
              <a:t>Sensitivity Analysis and Excel Reports (Chapter 5)</a:t>
            </a:r>
          </a:p>
          <a:p>
            <a:r>
              <a:rPr lang="en-US" dirty="0"/>
              <a:t>Single Change in the Objective Function  (Chapter 5.3)</a:t>
            </a:r>
          </a:p>
          <a:p>
            <a:r>
              <a:rPr lang="en-US" dirty="0">
                <a:solidFill>
                  <a:schemeClr val="bg2"/>
                </a:solidFill>
              </a:rPr>
              <a:t>Single Change in a Constraint (Chapter 5.5)</a:t>
            </a:r>
          </a:p>
          <a:p>
            <a:r>
              <a:rPr lang="en-US" dirty="0">
                <a:solidFill>
                  <a:schemeClr val="bg2"/>
                </a:solidFill>
              </a:rPr>
              <a:t>Effect of Simultaneous Changes</a:t>
            </a:r>
          </a:p>
          <a:p>
            <a:pPr lvl="1"/>
            <a:r>
              <a:rPr lang="en-US" dirty="0">
                <a:solidFill>
                  <a:schemeClr val="bg2"/>
                </a:solidFill>
              </a:rPr>
              <a:t>Changes in the Objective Function (Chapter 5.4)</a:t>
            </a:r>
          </a:p>
          <a:p>
            <a:pPr lvl="1"/>
            <a:r>
              <a:rPr lang="en-US" dirty="0">
                <a:solidFill>
                  <a:schemeClr val="bg2"/>
                </a:solidFill>
              </a:rPr>
              <a:t>Changes in Constraints (Chapter 5.6)</a:t>
            </a:r>
          </a:p>
          <a:p>
            <a:r>
              <a:rPr lang="en-US" dirty="0">
                <a:solidFill>
                  <a:schemeClr val="bg2"/>
                </a:solidFill>
              </a:rPr>
              <a:t>Changes in the Model (not in the textbook)</a:t>
            </a:r>
          </a:p>
          <a:p>
            <a:r>
              <a:rPr lang="en-US" dirty="0">
                <a:solidFill>
                  <a:schemeClr val="bg2"/>
                </a:solidFill>
              </a:rPr>
              <a:t>Linear Programming Duality (not in the textbook)</a:t>
            </a:r>
          </a:p>
          <a:p>
            <a:pPr lvl="1"/>
            <a:r>
              <a:rPr lang="en-US" dirty="0">
                <a:solidFill>
                  <a:schemeClr val="bg2"/>
                </a:solidFill>
              </a:rPr>
              <a:t>Formulating the dual problem</a:t>
            </a:r>
          </a:p>
          <a:p>
            <a:pPr lvl="1"/>
            <a:r>
              <a:rPr lang="en-US" dirty="0">
                <a:solidFill>
                  <a:schemeClr val="bg2"/>
                </a:solidFill>
              </a:rPr>
              <a:t>Primal-dual relations</a:t>
            </a:r>
          </a:p>
          <a:p>
            <a:pPr lvl="1"/>
            <a:r>
              <a:rPr lang="en-US" dirty="0">
                <a:solidFill>
                  <a:schemeClr val="bg2"/>
                </a:solidFill>
              </a:rPr>
              <a:t>Economic Interpretation</a:t>
            </a:r>
          </a:p>
          <a:p>
            <a:endParaRPr lang="en-US" dirty="0"/>
          </a:p>
          <a:p>
            <a:pPr lvl="5"/>
            <a:endParaRPr lang="en-US" dirty="0"/>
          </a:p>
          <a:p>
            <a:endParaRPr lang="en-US" dirty="0"/>
          </a:p>
        </p:txBody>
      </p:sp>
    </p:spTree>
    <p:extLst>
      <p:ext uri="{BB962C8B-B14F-4D97-AF65-F5344CB8AC3E}">
        <p14:creationId xmlns:p14="http://schemas.microsoft.com/office/powerpoint/2010/main" val="71388445"/>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Single Change in the Objective Function</a:t>
            </a:r>
          </a:p>
        </p:txBody>
      </p:sp>
      <p:sp>
        <p:nvSpPr>
          <p:cNvPr id="3" name="Content Placeholder 2"/>
          <p:cNvSpPr>
            <a:spLocks noGrp="1"/>
          </p:cNvSpPr>
          <p:nvPr>
            <p:ph idx="1"/>
          </p:nvPr>
        </p:nvSpPr>
        <p:spPr/>
        <p:txBody>
          <a:bodyPr/>
          <a:lstStyle/>
          <a:p>
            <a:r>
              <a:rPr lang="en-US" dirty="0"/>
              <a:t>It is a possibility that one of the coefficients in the objective function of a model will change</a:t>
            </a:r>
          </a:p>
          <a:p>
            <a:pPr lvl="1"/>
            <a:r>
              <a:rPr lang="en-US" dirty="0"/>
              <a:t>It is important to analyze what the effect of this change will be</a:t>
            </a:r>
          </a:p>
          <a:p>
            <a:pPr lvl="1"/>
            <a:r>
              <a:rPr lang="en-US" dirty="0"/>
              <a:t>This can be done using the Sensitivity Report</a:t>
            </a:r>
          </a:p>
          <a:p>
            <a:r>
              <a:rPr lang="en-US" dirty="0"/>
              <a:t>Consider the </a:t>
            </a:r>
            <a:r>
              <a:rPr lang="en-US" dirty="0" err="1"/>
              <a:t>Wyndor</a:t>
            </a:r>
            <a:r>
              <a:rPr lang="en-US" dirty="0"/>
              <a:t> Glass Co. Product Mix Problem</a:t>
            </a:r>
          </a:p>
          <a:p>
            <a:pPr lvl="1"/>
            <a:endParaRPr lang="en-US" dirty="0"/>
          </a:p>
        </p:txBody>
      </p:sp>
      <p:pic>
        <p:nvPicPr>
          <p:cNvPr id="7" name="Picture 6"/>
          <p:cNvPicPr>
            <a:picLocks noChangeAspect="1"/>
          </p:cNvPicPr>
          <p:nvPr/>
        </p:nvPicPr>
        <p:blipFill>
          <a:blip r:embed="rId3"/>
          <a:stretch>
            <a:fillRect/>
          </a:stretch>
        </p:blipFill>
        <p:spPr>
          <a:xfrm>
            <a:off x="985158" y="3452352"/>
            <a:ext cx="6324600" cy="3038475"/>
          </a:xfrm>
          <a:prstGeom prst="rect">
            <a:avLst/>
          </a:prstGeom>
        </p:spPr>
      </p:pic>
      <p:pic>
        <p:nvPicPr>
          <p:cNvPr id="8" name="Picture 7"/>
          <p:cNvPicPr>
            <a:picLocks noChangeAspect="1"/>
          </p:cNvPicPr>
          <p:nvPr/>
        </p:nvPicPr>
        <p:blipFill>
          <a:blip r:embed="rId4"/>
          <a:stretch>
            <a:fillRect/>
          </a:stretch>
        </p:blipFill>
        <p:spPr>
          <a:xfrm>
            <a:off x="7745866" y="4059688"/>
            <a:ext cx="3270477" cy="1823801"/>
          </a:xfrm>
          <a:prstGeom prst="rect">
            <a:avLst/>
          </a:prstGeom>
        </p:spPr>
      </p:pic>
      <p:sp>
        <p:nvSpPr>
          <p:cNvPr id="9" name="TextBox 8"/>
          <p:cNvSpPr txBox="1"/>
          <p:nvPr/>
        </p:nvSpPr>
        <p:spPr>
          <a:xfrm>
            <a:off x="7837714" y="3646714"/>
            <a:ext cx="3026229" cy="369332"/>
          </a:xfrm>
          <a:prstGeom prst="rect">
            <a:avLst/>
          </a:prstGeom>
          <a:noFill/>
        </p:spPr>
        <p:txBody>
          <a:bodyPr wrap="square" rtlCol="0">
            <a:spAutoFit/>
          </a:bodyPr>
          <a:lstStyle/>
          <a:p>
            <a:r>
              <a:rPr lang="en-US" dirty="0"/>
              <a:t>Answers Report:</a:t>
            </a:r>
          </a:p>
        </p:txBody>
      </p:sp>
    </p:spTree>
    <p:extLst>
      <p:ext uri="{BB962C8B-B14F-4D97-AF65-F5344CB8AC3E}">
        <p14:creationId xmlns:p14="http://schemas.microsoft.com/office/powerpoint/2010/main" val="144121982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3">
                                            <p:txEl>
                                              <p:pRg st="1" end="1"/>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3" end="3"/>
                                            </p:txEl>
                                          </p:spTgt>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7"/>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8"/>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Single Change in the Objective Function</a:t>
            </a:r>
          </a:p>
        </p:txBody>
      </p:sp>
      <mc:AlternateContent xmlns:mc="http://schemas.openxmlformats.org/markup-compatibility/2006" xmlns:a14="http://schemas.microsoft.com/office/drawing/2010/main">
        <mc:Choice Requires="a14">
          <p:sp>
            <p:nvSpPr>
              <p:cNvPr id="3" name="Content Placeholder 2"/>
              <p:cNvSpPr>
                <a:spLocks noGrp="1"/>
              </p:cNvSpPr>
              <p:nvPr>
                <p:ph idx="1"/>
              </p:nvPr>
            </p:nvSpPr>
            <p:spPr/>
            <p:txBody>
              <a:bodyPr/>
              <a:lstStyle/>
              <a:p>
                <a:r>
                  <a:rPr lang="en-US" b="1" dirty="0" err="1"/>
                  <a:t>Wyndor</a:t>
                </a:r>
                <a:r>
                  <a:rPr lang="en-US" b="1" dirty="0"/>
                  <a:t> Glass Co. Product Mix Problem (revisited)</a:t>
                </a:r>
              </a:p>
              <a:p>
                <a:pPr lvl="1"/>
                <a:r>
                  <a:rPr lang="en-US" dirty="0"/>
                  <a:t>Unit profit for doors is $300</a:t>
                </a:r>
              </a:p>
              <a:p>
                <a:pPr lvl="1"/>
                <a:r>
                  <a:rPr lang="en-US" dirty="0"/>
                  <a:t>Unit profit for windows is $500</a:t>
                </a:r>
              </a:p>
              <a:p>
                <a:pPr lvl="1"/>
                <a:r>
                  <a:rPr lang="en-US" dirty="0"/>
                  <a:t>Optimal solution: 2 doors/week and 6 windows/week</a:t>
                </a:r>
              </a:p>
              <a:p>
                <a:pPr lvl="1"/>
                <a:r>
                  <a:rPr lang="en-US" dirty="0"/>
                  <a:t>Objective function value of the optimal solution:</a:t>
                </a:r>
              </a:p>
              <a:p>
                <a:pPr lvl="2"/>
                <a:r>
                  <a:rPr lang="en-US" dirty="0"/>
                  <a:t>2*$300+6*$500 = $3600 per week</a:t>
                </a:r>
              </a:p>
              <a:p>
                <a:pPr lvl="1"/>
                <a:endParaRPr lang="en-US" dirty="0"/>
              </a:p>
              <a:p>
                <a:pPr lvl="1"/>
                <a:r>
                  <a:rPr lang="en-US" dirty="0"/>
                  <a:t>What if the profit for doors changes from $300?</a:t>
                </a:r>
              </a:p>
              <a:p>
                <a:pPr lvl="2"/>
                <a:r>
                  <a:rPr lang="en-US" dirty="0"/>
                  <a:t>$100, $200, $400, $500, $1,000…</a:t>
                </a:r>
              </a:p>
              <a:p>
                <a:pPr lvl="2"/>
                <a:r>
                  <a:rPr lang="en-US" dirty="0"/>
                  <a:t>Should </a:t>
                </a:r>
                <a:r>
                  <a:rPr lang="en-US" dirty="0" err="1"/>
                  <a:t>Wyndor</a:t>
                </a:r>
                <a:r>
                  <a:rPr lang="en-US" dirty="0"/>
                  <a:t> Glass Co. change the optimal product mix?</a:t>
                </a:r>
              </a:p>
              <a:p>
                <a:pPr lvl="2"/>
                <a:r>
                  <a:rPr lang="en-US" dirty="0"/>
                  <a:t>That is, is </a:t>
                </a:r>
                <a14:m>
                  <m:oMath xmlns:m="http://schemas.openxmlformats.org/officeDocument/2006/math">
                    <m:r>
                      <a:rPr lang="en-US" i="1" dirty="0" smtClean="0">
                        <a:latin typeface="Cambria Math" panose="02040503050406030204" pitchFamily="18" charset="0"/>
                      </a:rPr>
                      <m:t>(</m:t>
                    </m:r>
                    <m:r>
                      <a:rPr lang="en-US" i="1" dirty="0" smtClean="0">
                        <a:latin typeface="Cambria Math" panose="02040503050406030204" pitchFamily="18" charset="0"/>
                      </a:rPr>
                      <m:t>𝐷</m:t>
                    </m:r>
                    <m:r>
                      <a:rPr lang="en-US" i="1" dirty="0" smtClean="0">
                        <a:latin typeface="Cambria Math" panose="02040503050406030204" pitchFamily="18" charset="0"/>
                      </a:rPr>
                      <m:t>,</m:t>
                    </m:r>
                    <m:r>
                      <a:rPr lang="en-US" i="1" dirty="0" smtClean="0">
                        <a:latin typeface="Cambria Math" panose="02040503050406030204" pitchFamily="18" charset="0"/>
                      </a:rPr>
                      <m:t>𝑊</m:t>
                    </m:r>
                    <m:r>
                      <a:rPr lang="en-US" i="1" dirty="0" smtClean="0">
                        <a:latin typeface="Cambria Math" panose="02040503050406030204" pitchFamily="18" charset="0"/>
                      </a:rPr>
                      <m:t>)=(2,6) </m:t>
                    </m:r>
                  </m:oMath>
                </a14:m>
                <a:r>
                  <a:rPr lang="en-US" dirty="0"/>
                  <a:t>still optimal?</a:t>
                </a:r>
              </a:p>
              <a:p>
                <a:pPr lvl="1"/>
                <a:endParaRPr lang="en-US" dirty="0"/>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blipFill rotWithShape="0">
                <a:blip r:embed="rId3"/>
                <a:stretch>
                  <a:fillRect l="-956" t="-2005"/>
                </a:stretch>
              </a:blipFill>
            </p:spPr>
            <p:txBody>
              <a:bodyPr/>
              <a:lstStyle/>
              <a:p>
                <a:r>
                  <a:rPr lang="en-US">
                    <a:noFill/>
                  </a:rPr>
                  <a:t> </a:t>
                </a:r>
              </a:p>
            </p:txBody>
          </p:sp>
        </mc:Fallback>
      </mc:AlternateContent>
      <p:pic>
        <p:nvPicPr>
          <p:cNvPr id="8" name="Picture 7"/>
          <p:cNvPicPr>
            <a:picLocks noChangeAspect="1"/>
          </p:cNvPicPr>
          <p:nvPr/>
        </p:nvPicPr>
        <p:blipFill>
          <a:blip r:embed="rId4"/>
          <a:stretch>
            <a:fillRect/>
          </a:stretch>
        </p:blipFill>
        <p:spPr>
          <a:xfrm>
            <a:off x="8562935" y="1485797"/>
            <a:ext cx="3270477" cy="1823801"/>
          </a:xfrm>
          <a:prstGeom prst="rect">
            <a:avLst/>
          </a:prstGeom>
        </p:spPr>
      </p:pic>
    </p:spTree>
    <p:extLst>
      <p:ext uri="{BB962C8B-B14F-4D97-AF65-F5344CB8AC3E}">
        <p14:creationId xmlns:p14="http://schemas.microsoft.com/office/powerpoint/2010/main" val="383761964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7" end="7"/>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3">
                                            <p:txEl>
                                              <p:pRg st="8" end="8"/>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3">
                                            <p:txEl>
                                              <p:pRg st="9" end="9"/>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3">
                                            <p:txEl>
                                              <p:pRg st="10" end="1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Single Change in the Objective Function</a:t>
            </a:r>
          </a:p>
        </p:txBody>
      </p:sp>
      <p:sp>
        <p:nvSpPr>
          <p:cNvPr id="3" name="Content Placeholder 2"/>
          <p:cNvSpPr>
            <a:spLocks noGrp="1"/>
          </p:cNvSpPr>
          <p:nvPr>
            <p:ph idx="1"/>
          </p:nvPr>
        </p:nvSpPr>
        <p:spPr/>
        <p:txBody>
          <a:bodyPr/>
          <a:lstStyle/>
          <a:p>
            <a:r>
              <a:rPr lang="en-US" b="1" dirty="0" err="1"/>
              <a:t>Wyndor</a:t>
            </a:r>
            <a:r>
              <a:rPr lang="en-US" b="1" dirty="0"/>
              <a:t> Glass Co. Product Mix Problem (revisited)</a:t>
            </a:r>
          </a:p>
          <a:p>
            <a:pPr lvl="1"/>
            <a:r>
              <a:rPr lang="en-US" dirty="0"/>
              <a:t>When there is a </a:t>
            </a:r>
            <a:r>
              <a:rPr lang="en-US" u="sng" dirty="0"/>
              <a:t>single change </a:t>
            </a:r>
            <a:r>
              <a:rPr lang="en-US" dirty="0"/>
              <a:t>in the objective function, we can re-solve the problem</a:t>
            </a:r>
          </a:p>
        </p:txBody>
      </p:sp>
      <p:graphicFrame>
        <p:nvGraphicFramePr>
          <p:cNvPr id="5" name="Object 18"/>
          <p:cNvGraphicFramePr>
            <a:graphicFrameLocks noChangeAspect="1"/>
          </p:cNvGraphicFramePr>
          <p:nvPr>
            <p:extLst>
              <p:ext uri="{D42A27DB-BD31-4B8C-83A1-F6EECF244321}">
                <p14:modId xmlns:p14="http://schemas.microsoft.com/office/powerpoint/2010/main" val="2333185384"/>
              </p:ext>
            </p:extLst>
          </p:nvPr>
        </p:nvGraphicFramePr>
        <p:xfrm>
          <a:off x="1152486" y="2231572"/>
          <a:ext cx="4510738" cy="1447800"/>
        </p:xfrm>
        <a:graphic>
          <a:graphicData uri="http://schemas.openxmlformats.org/presentationml/2006/ole">
            <mc:AlternateContent xmlns:mc="http://schemas.openxmlformats.org/markup-compatibility/2006">
              <mc:Choice xmlns:v="urn:schemas-microsoft-com:vml" Requires="v">
                <p:oleObj name="Worksheet" r:id="rId3" imgW="5796360" imgH="1855800" progId="Excel.Sheet.8">
                  <p:embed/>
                </p:oleObj>
              </mc:Choice>
              <mc:Fallback>
                <p:oleObj name="Worksheet" r:id="rId3" imgW="5796360" imgH="1855800" progId="Excel.Sheet.8">
                  <p:embed/>
                  <p:pic>
                    <p:nvPicPr>
                      <p:cNvPr id="0" name=""/>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152486" y="2231572"/>
                        <a:ext cx="4510738" cy="1447800"/>
                      </a:xfrm>
                      <a:prstGeom prst="rect">
                        <a:avLst/>
                      </a:prstGeom>
                      <a:noFill/>
                      <a:ln>
                        <a:noFill/>
                      </a:ln>
                      <a:effectLst/>
                    </p:spPr>
                  </p:pic>
                </p:oleObj>
              </mc:Fallback>
            </mc:AlternateContent>
          </a:graphicData>
        </a:graphic>
      </p:graphicFrame>
      <p:graphicFrame>
        <p:nvGraphicFramePr>
          <p:cNvPr id="6" name="Object 18"/>
          <p:cNvGraphicFramePr>
            <a:graphicFrameLocks noChangeAspect="1"/>
          </p:cNvGraphicFramePr>
          <p:nvPr>
            <p:extLst>
              <p:ext uri="{D42A27DB-BD31-4B8C-83A1-F6EECF244321}">
                <p14:modId xmlns:p14="http://schemas.microsoft.com/office/powerpoint/2010/main" val="886936569"/>
              </p:ext>
            </p:extLst>
          </p:nvPr>
        </p:nvGraphicFramePr>
        <p:xfrm>
          <a:off x="1152486" y="3755571"/>
          <a:ext cx="4510738" cy="1451155"/>
        </p:xfrm>
        <a:graphic>
          <a:graphicData uri="http://schemas.openxmlformats.org/presentationml/2006/ole">
            <mc:AlternateContent xmlns:mc="http://schemas.openxmlformats.org/markup-compatibility/2006">
              <mc:Choice xmlns:v="urn:schemas-microsoft-com:vml" Requires="v">
                <p:oleObj name="Worksheet" r:id="rId5" imgW="5787360" imgH="1855800" progId="Excel.Sheet.8">
                  <p:embed/>
                </p:oleObj>
              </mc:Choice>
              <mc:Fallback>
                <p:oleObj name="Worksheet" r:id="rId5" imgW="5787360" imgH="1855800" progId="Excel.Sheet.8">
                  <p:embed/>
                  <p:pic>
                    <p:nvPicPr>
                      <p:cNvPr id="0" name=""/>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1152486" y="3755571"/>
                        <a:ext cx="4510738" cy="1451155"/>
                      </a:xfrm>
                      <a:prstGeom prst="rect">
                        <a:avLst/>
                      </a:prstGeom>
                      <a:noFill/>
                      <a:ln>
                        <a:noFill/>
                      </a:ln>
                      <a:effectLst/>
                    </p:spPr>
                  </p:pic>
                </p:oleObj>
              </mc:Fallback>
            </mc:AlternateContent>
          </a:graphicData>
        </a:graphic>
      </p:graphicFrame>
      <p:graphicFrame>
        <p:nvGraphicFramePr>
          <p:cNvPr id="7" name="Object 18"/>
          <p:cNvGraphicFramePr>
            <a:graphicFrameLocks noChangeAspect="1"/>
          </p:cNvGraphicFramePr>
          <p:nvPr>
            <p:extLst>
              <p:ext uri="{D42A27DB-BD31-4B8C-83A1-F6EECF244321}">
                <p14:modId xmlns:p14="http://schemas.microsoft.com/office/powerpoint/2010/main" val="3301120808"/>
              </p:ext>
            </p:extLst>
          </p:nvPr>
        </p:nvGraphicFramePr>
        <p:xfrm>
          <a:off x="1152486" y="5282925"/>
          <a:ext cx="4488865" cy="1444446"/>
        </p:xfrm>
        <a:graphic>
          <a:graphicData uri="http://schemas.openxmlformats.org/presentationml/2006/ole">
            <mc:AlternateContent xmlns:mc="http://schemas.openxmlformats.org/markup-compatibility/2006">
              <mc:Choice xmlns:v="urn:schemas-microsoft-com:vml" Requires="v">
                <p:oleObj name="Worksheet" r:id="rId7" imgW="5787360" imgH="1855800" progId="Excel.Sheet.8">
                  <p:embed/>
                </p:oleObj>
              </mc:Choice>
              <mc:Fallback>
                <p:oleObj name="Worksheet" r:id="rId7" imgW="5787360" imgH="1855800" progId="Excel.Sheet.8">
                  <p:embed/>
                  <p:pic>
                    <p:nvPicPr>
                      <p:cNvPr id="0" name=""/>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1152486" y="5282925"/>
                        <a:ext cx="4488865" cy="1444446"/>
                      </a:xfrm>
                      <a:prstGeom prst="rect">
                        <a:avLst/>
                      </a:prstGeom>
                      <a:noFill/>
                      <a:ln>
                        <a:noFill/>
                      </a:ln>
                      <a:effectLst/>
                    </p:spPr>
                  </p:pic>
                </p:oleObj>
              </mc:Fallback>
            </mc:AlternateContent>
          </a:graphicData>
        </a:graphic>
      </p:graphicFrame>
      <p:sp>
        <p:nvSpPr>
          <p:cNvPr id="9" name="Right Brace 8"/>
          <p:cNvSpPr/>
          <p:nvPr/>
        </p:nvSpPr>
        <p:spPr bwMode="auto">
          <a:xfrm>
            <a:off x="5900698" y="2536371"/>
            <a:ext cx="685800" cy="990600"/>
          </a:xfrm>
          <a:prstGeom prst="rightBrace">
            <a:avLst/>
          </a:prstGeom>
          <a:solidFill>
            <a:schemeClr val="bg1"/>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US" sz="2400" b="0" i="0" u="none" strike="noStrike" cap="none" normalizeH="0" baseline="0">
              <a:ln>
                <a:noFill/>
              </a:ln>
              <a:solidFill>
                <a:schemeClr val="tx1"/>
              </a:solidFill>
              <a:effectLst/>
              <a:latin typeface="Arial" charset="0"/>
              <a:ea typeface="ＭＳ Ｐゴシック" pitchFamily="16" charset="-128"/>
            </a:endParaRPr>
          </a:p>
        </p:txBody>
      </p:sp>
      <p:sp>
        <p:nvSpPr>
          <p:cNvPr id="10" name="TextBox 9"/>
          <p:cNvSpPr txBox="1"/>
          <p:nvPr/>
        </p:nvSpPr>
        <p:spPr>
          <a:xfrm>
            <a:off x="6703028" y="2674594"/>
            <a:ext cx="3123560" cy="707886"/>
          </a:xfrm>
          <a:prstGeom prst="rect">
            <a:avLst/>
          </a:prstGeom>
          <a:noFill/>
        </p:spPr>
        <p:txBody>
          <a:bodyPr wrap="square" rtlCol="0">
            <a:spAutoFit/>
          </a:bodyPr>
          <a:lstStyle/>
          <a:p>
            <a:r>
              <a:rPr lang="en-US" sz="2000" dirty="0"/>
              <a:t>$200 per door,  </a:t>
            </a:r>
            <a:r>
              <a:rPr lang="en-US" sz="2000" u="sng" dirty="0"/>
              <a:t>no change </a:t>
            </a:r>
            <a:r>
              <a:rPr lang="en-US" sz="2000" dirty="0"/>
              <a:t>in the optimal solution</a:t>
            </a:r>
          </a:p>
        </p:txBody>
      </p:sp>
      <p:sp>
        <p:nvSpPr>
          <p:cNvPr id="11" name="Right Brace 10"/>
          <p:cNvSpPr/>
          <p:nvPr/>
        </p:nvSpPr>
        <p:spPr bwMode="auto">
          <a:xfrm>
            <a:off x="5900698" y="4060371"/>
            <a:ext cx="685800" cy="990600"/>
          </a:xfrm>
          <a:prstGeom prst="rightBrace">
            <a:avLst/>
          </a:prstGeom>
          <a:solidFill>
            <a:schemeClr val="bg1"/>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US" sz="2400" b="0" i="0" u="none" strike="noStrike" cap="none" normalizeH="0" baseline="0">
              <a:ln>
                <a:noFill/>
              </a:ln>
              <a:solidFill>
                <a:schemeClr val="tx1"/>
              </a:solidFill>
              <a:effectLst/>
              <a:latin typeface="Arial" charset="0"/>
              <a:ea typeface="ＭＳ Ｐゴシック" pitchFamily="16" charset="-128"/>
            </a:endParaRPr>
          </a:p>
        </p:txBody>
      </p:sp>
      <p:sp>
        <p:nvSpPr>
          <p:cNvPr id="12" name="TextBox 11"/>
          <p:cNvSpPr txBox="1"/>
          <p:nvPr/>
        </p:nvSpPr>
        <p:spPr>
          <a:xfrm>
            <a:off x="6703028" y="4198594"/>
            <a:ext cx="3123560" cy="707886"/>
          </a:xfrm>
          <a:prstGeom prst="rect">
            <a:avLst/>
          </a:prstGeom>
          <a:noFill/>
        </p:spPr>
        <p:txBody>
          <a:bodyPr wrap="square" rtlCol="0">
            <a:spAutoFit/>
          </a:bodyPr>
          <a:lstStyle/>
          <a:p>
            <a:r>
              <a:rPr lang="en-US" sz="2000" dirty="0"/>
              <a:t>$500 per door,  </a:t>
            </a:r>
            <a:r>
              <a:rPr lang="en-US" sz="2000" u="sng" dirty="0"/>
              <a:t>no change </a:t>
            </a:r>
            <a:r>
              <a:rPr lang="en-US" sz="2000" dirty="0"/>
              <a:t>in the optimal solution</a:t>
            </a:r>
          </a:p>
        </p:txBody>
      </p:sp>
      <p:sp>
        <p:nvSpPr>
          <p:cNvPr id="13" name="Right Brace 12"/>
          <p:cNvSpPr/>
          <p:nvPr/>
        </p:nvSpPr>
        <p:spPr bwMode="auto">
          <a:xfrm>
            <a:off x="5900698" y="5559308"/>
            <a:ext cx="685800" cy="990600"/>
          </a:xfrm>
          <a:prstGeom prst="rightBrace">
            <a:avLst/>
          </a:prstGeom>
          <a:solidFill>
            <a:schemeClr val="bg1"/>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US" sz="2400" b="0" i="0" u="none" strike="noStrike" cap="none" normalizeH="0" baseline="0">
              <a:ln>
                <a:noFill/>
              </a:ln>
              <a:solidFill>
                <a:schemeClr val="tx1"/>
              </a:solidFill>
              <a:effectLst/>
              <a:latin typeface="Arial" charset="0"/>
              <a:ea typeface="ＭＳ Ｐゴシック" pitchFamily="16" charset="-128"/>
            </a:endParaRPr>
          </a:p>
        </p:txBody>
      </p:sp>
      <p:sp>
        <p:nvSpPr>
          <p:cNvPr id="14" name="TextBox 13"/>
          <p:cNvSpPr txBox="1"/>
          <p:nvPr/>
        </p:nvSpPr>
        <p:spPr>
          <a:xfrm>
            <a:off x="6703028" y="5697531"/>
            <a:ext cx="3123560" cy="707886"/>
          </a:xfrm>
          <a:prstGeom prst="rect">
            <a:avLst/>
          </a:prstGeom>
          <a:noFill/>
        </p:spPr>
        <p:txBody>
          <a:bodyPr wrap="square" rtlCol="0">
            <a:spAutoFit/>
          </a:bodyPr>
          <a:lstStyle/>
          <a:p>
            <a:r>
              <a:rPr lang="en-US" sz="2000" dirty="0"/>
              <a:t>$1,000 per door, </a:t>
            </a:r>
            <a:r>
              <a:rPr lang="en-US" sz="2000" u="sng" dirty="0"/>
              <a:t>change</a:t>
            </a:r>
            <a:r>
              <a:rPr lang="en-US" sz="2000" dirty="0"/>
              <a:t> in the optimal solution</a:t>
            </a:r>
          </a:p>
        </p:txBody>
      </p:sp>
    </p:spTree>
    <p:extLst>
      <p:ext uri="{BB962C8B-B14F-4D97-AF65-F5344CB8AC3E}">
        <p14:creationId xmlns:p14="http://schemas.microsoft.com/office/powerpoint/2010/main" val="287023819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9"/>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10"/>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6"/>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11"/>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12"/>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7"/>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13"/>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1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animBg="1"/>
      <p:bldP spid="10" grpId="0"/>
      <p:bldP spid="11" grpId="0" animBg="1"/>
      <p:bldP spid="12" grpId="0"/>
      <p:bldP spid="13" grpId="0" animBg="1"/>
      <p:bldP spid="14" grpId="0"/>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Single Change in the Objective Function</a:t>
            </a:r>
          </a:p>
        </p:txBody>
      </p:sp>
      <p:sp>
        <p:nvSpPr>
          <p:cNvPr id="3" name="Content Placeholder 2"/>
          <p:cNvSpPr>
            <a:spLocks noGrp="1"/>
          </p:cNvSpPr>
          <p:nvPr>
            <p:ph idx="1"/>
          </p:nvPr>
        </p:nvSpPr>
        <p:spPr/>
        <p:txBody>
          <a:bodyPr/>
          <a:lstStyle/>
          <a:p>
            <a:r>
              <a:rPr lang="en-US" b="1" dirty="0" err="1"/>
              <a:t>Wyndor</a:t>
            </a:r>
            <a:r>
              <a:rPr lang="en-US" b="1" dirty="0"/>
              <a:t> Glass Co. Product Mix Problem (revisited)</a:t>
            </a:r>
          </a:p>
          <a:p>
            <a:pPr lvl="1"/>
            <a:r>
              <a:rPr lang="en-US" dirty="0"/>
              <a:t>One option, therefore, is to re-solve the problem with the new values</a:t>
            </a:r>
          </a:p>
          <a:p>
            <a:pPr lvl="1"/>
            <a:endParaRPr lang="en-US" dirty="0"/>
          </a:p>
          <a:p>
            <a:pPr lvl="1"/>
            <a:endParaRPr lang="en-US" dirty="0"/>
          </a:p>
          <a:p>
            <a:pPr lvl="1"/>
            <a:endParaRPr lang="en-US" dirty="0"/>
          </a:p>
          <a:p>
            <a:pPr lvl="1"/>
            <a:endParaRPr lang="en-US" dirty="0"/>
          </a:p>
          <a:p>
            <a:pPr lvl="1"/>
            <a:endParaRPr lang="en-US" dirty="0"/>
          </a:p>
          <a:p>
            <a:pPr lvl="1"/>
            <a:r>
              <a:rPr lang="en-US" dirty="0"/>
              <a:t>We can use the Sensitivity Report</a:t>
            </a:r>
          </a:p>
        </p:txBody>
      </p:sp>
      <p:pic>
        <p:nvPicPr>
          <p:cNvPr id="15" name="Picture 2" descr="Hillier_5e_f5.7.tif"/>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1032329" y="2288013"/>
            <a:ext cx="3659414" cy="155169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 name="TextBox 3"/>
          <p:cNvSpPr txBox="1"/>
          <p:nvPr/>
        </p:nvSpPr>
        <p:spPr>
          <a:xfrm>
            <a:off x="5638799" y="2465980"/>
            <a:ext cx="6553201" cy="1200329"/>
          </a:xfrm>
          <a:prstGeom prst="rect">
            <a:avLst/>
          </a:prstGeom>
          <a:noFill/>
        </p:spPr>
        <p:txBody>
          <a:bodyPr wrap="square" rtlCol="0">
            <a:spAutoFit/>
          </a:bodyPr>
          <a:lstStyle/>
          <a:p>
            <a:r>
              <a:rPr lang="en-US" dirty="0"/>
              <a:t>But, this is not so practical</a:t>
            </a:r>
          </a:p>
          <a:p>
            <a:pPr marL="285750" indent="-285750">
              <a:buFont typeface="Arial" panose="020B0604020202020204" pitchFamily="34" charset="0"/>
              <a:buChar char="•"/>
            </a:pPr>
            <a:r>
              <a:rPr lang="en-US" dirty="0"/>
              <a:t>For small changes, we might need to solve too many problems</a:t>
            </a:r>
          </a:p>
          <a:p>
            <a:pPr marL="285750" indent="-285750">
              <a:buFont typeface="Arial" panose="020B0604020202020204" pitchFamily="34" charset="0"/>
              <a:buChar char="•"/>
            </a:pPr>
            <a:r>
              <a:rPr lang="en-US" dirty="0"/>
              <a:t>And it takes time to solve large problems!</a:t>
            </a:r>
          </a:p>
          <a:p>
            <a:pPr marL="285750" indent="-285750">
              <a:buFont typeface="Arial" panose="020B0604020202020204" pitchFamily="34" charset="0"/>
              <a:buChar char="•"/>
            </a:pPr>
            <a:r>
              <a:rPr lang="en-US" dirty="0"/>
              <a:t>And we would not know when to stop!</a:t>
            </a:r>
          </a:p>
        </p:txBody>
      </p:sp>
      <p:pic>
        <p:nvPicPr>
          <p:cNvPr id="16" name="Picture 15"/>
          <p:cNvPicPr>
            <a:picLocks noChangeAspect="1"/>
          </p:cNvPicPr>
          <p:nvPr/>
        </p:nvPicPr>
        <p:blipFill>
          <a:blip r:embed="rId4"/>
          <a:stretch>
            <a:fillRect/>
          </a:stretch>
        </p:blipFill>
        <p:spPr>
          <a:xfrm>
            <a:off x="1032329" y="4486275"/>
            <a:ext cx="5381625" cy="2219325"/>
          </a:xfrm>
          <a:prstGeom prst="rect">
            <a:avLst/>
          </a:prstGeom>
        </p:spPr>
      </p:pic>
      <p:sp>
        <p:nvSpPr>
          <p:cNvPr id="8" name="Rounded Rectangle 7"/>
          <p:cNvSpPr/>
          <p:nvPr/>
        </p:nvSpPr>
        <p:spPr>
          <a:xfrm>
            <a:off x="914400" y="4486275"/>
            <a:ext cx="5499554" cy="989239"/>
          </a:xfrm>
          <a:prstGeom prst="roundRect">
            <a:avLst/>
          </a:prstGeom>
          <a:noFill/>
          <a:ln w="28575">
            <a:solidFill>
              <a:srgbClr val="FFC000"/>
            </a:solidFill>
          </a:ln>
        </p:spPr>
        <p:style>
          <a:lnRef idx="2">
            <a:schemeClr val="accent4"/>
          </a:lnRef>
          <a:fillRef idx="1">
            <a:schemeClr val="lt1"/>
          </a:fillRef>
          <a:effectRef idx="0">
            <a:schemeClr val="accent4"/>
          </a:effectRef>
          <a:fontRef idx="minor">
            <a:schemeClr val="dk1"/>
          </a:fontRef>
        </p:style>
        <p:txBody>
          <a:bodyPr rtlCol="0" anchor="ctr"/>
          <a:lstStyle/>
          <a:p>
            <a:pPr algn="ctr"/>
            <a:endParaRPr lang="en-US"/>
          </a:p>
        </p:txBody>
      </p:sp>
      <p:sp>
        <p:nvSpPr>
          <p:cNvPr id="17" name="TextBox 16"/>
          <p:cNvSpPr txBox="1"/>
          <p:nvPr/>
        </p:nvSpPr>
        <p:spPr>
          <a:xfrm>
            <a:off x="6760028" y="4770336"/>
            <a:ext cx="3298371" cy="646331"/>
          </a:xfrm>
          <a:prstGeom prst="rect">
            <a:avLst/>
          </a:prstGeom>
          <a:noFill/>
        </p:spPr>
        <p:txBody>
          <a:bodyPr wrap="square" rtlCol="0">
            <a:spAutoFit/>
          </a:bodyPr>
          <a:lstStyle/>
          <a:p>
            <a:pPr algn="ctr"/>
            <a:r>
              <a:rPr lang="en-US" dirty="0"/>
              <a:t>The upper section is about the changes in the objective function</a:t>
            </a:r>
          </a:p>
        </p:txBody>
      </p:sp>
      <p:cxnSp>
        <p:nvCxnSpPr>
          <p:cNvPr id="19" name="Curved Connector 18"/>
          <p:cNvCxnSpPr>
            <a:stCxn id="8" idx="3"/>
            <a:endCxn id="17" idx="1"/>
          </p:cNvCxnSpPr>
          <p:nvPr/>
        </p:nvCxnSpPr>
        <p:spPr>
          <a:xfrm>
            <a:off x="6413954" y="4980895"/>
            <a:ext cx="346074" cy="112607"/>
          </a:xfrm>
          <a:prstGeom prst="curvedConnector3">
            <a:avLst/>
          </a:prstGeom>
          <a:ln w="38100">
            <a:tailEnd type="triangle"/>
          </a:ln>
        </p:spPr>
        <p:style>
          <a:lnRef idx="1">
            <a:schemeClr val="accent4"/>
          </a:lnRef>
          <a:fillRef idx="0">
            <a:schemeClr val="accent4"/>
          </a:fillRef>
          <a:effectRef idx="0">
            <a:schemeClr val="accent4"/>
          </a:effectRef>
          <a:fontRef idx="minor">
            <a:schemeClr val="tx1"/>
          </a:fontRef>
        </p:style>
      </p:cxnSp>
    </p:spTree>
    <p:extLst>
      <p:ext uri="{BB962C8B-B14F-4D97-AF65-F5344CB8AC3E}">
        <p14:creationId xmlns:p14="http://schemas.microsoft.com/office/powerpoint/2010/main" val="50928829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7" end="7"/>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16"/>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8"/>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19"/>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1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animBg="1"/>
      <p:bldP spid="17" grpId="0"/>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Single Change in the Objective Function</a:t>
            </a:r>
          </a:p>
        </p:txBody>
      </p:sp>
      <p:sp>
        <p:nvSpPr>
          <p:cNvPr id="3" name="Content Placeholder 2"/>
          <p:cNvSpPr>
            <a:spLocks noGrp="1"/>
          </p:cNvSpPr>
          <p:nvPr>
            <p:ph idx="1"/>
          </p:nvPr>
        </p:nvSpPr>
        <p:spPr/>
        <p:txBody>
          <a:bodyPr/>
          <a:lstStyle/>
          <a:p>
            <a:r>
              <a:rPr lang="en-US" b="1" dirty="0" err="1"/>
              <a:t>Wyndor</a:t>
            </a:r>
            <a:r>
              <a:rPr lang="en-US" b="1" dirty="0"/>
              <a:t> Glass Co. Product Mix Problem (revisited): Sensitivity Report</a:t>
            </a:r>
          </a:p>
        </p:txBody>
      </p:sp>
      <p:pic>
        <p:nvPicPr>
          <p:cNvPr id="10" name="Picture 5"/>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2166258" y="1937732"/>
            <a:ext cx="7483475" cy="1087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1" name="Rounded Rectangular Callout 10"/>
          <p:cNvSpPr/>
          <p:nvPr/>
        </p:nvSpPr>
        <p:spPr bwMode="auto">
          <a:xfrm>
            <a:off x="5562600" y="3570514"/>
            <a:ext cx="2595027" cy="1240972"/>
          </a:xfrm>
          <a:prstGeom prst="wedgeRoundRectCallout">
            <a:avLst>
              <a:gd name="adj1" fmla="val 40790"/>
              <a:gd name="adj2" fmla="val -150338"/>
              <a:gd name="adj3" fmla="val 16667"/>
            </a:avLst>
          </a:prstGeom>
          <a:noFill/>
          <a:ln w="9525" cap="flat" cmpd="sng" algn="ctr">
            <a:solidFill>
              <a:srgbClr val="C00000"/>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ctr" defTabSz="914400" rtl="0" eaLnBrk="0" fontAlgn="base" latinLnBrk="0" hangingPunct="0">
              <a:lnSpc>
                <a:spcPct val="100000"/>
              </a:lnSpc>
              <a:spcBef>
                <a:spcPct val="0"/>
              </a:spcBef>
              <a:spcAft>
                <a:spcPct val="0"/>
              </a:spcAft>
              <a:buClrTx/>
              <a:buSzTx/>
              <a:buFontTx/>
              <a:buNone/>
              <a:tabLst/>
            </a:pPr>
            <a:r>
              <a:rPr kumimoji="0" lang="en-US" sz="2400" b="0" i="0" u="none" strike="noStrike" cap="none" normalizeH="0" baseline="0" dirty="0">
                <a:ln>
                  <a:noFill/>
                </a:ln>
                <a:solidFill>
                  <a:srgbClr val="C00000"/>
                </a:solidFill>
                <a:effectLst/>
                <a:latin typeface="Arial" charset="0"/>
                <a:ea typeface="ＭＳ Ｐゴシック" pitchFamily="16" charset="-128"/>
              </a:rPr>
              <a:t>How much you can increase the coefficient</a:t>
            </a:r>
          </a:p>
        </p:txBody>
      </p:sp>
      <p:sp>
        <p:nvSpPr>
          <p:cNvPr id="12" name="Rounded Rectangular Callout 11"/>
          <p:cNvSpPr/>
          <p:nvPr/>
        </p:nvSpPr>
        <p:spPr bwMode="auto">
          <a:xfrm>
            <a:off x="9067286" y="3570514"/>
            <a:ext cx="2433411" cy="1240972"/>
          </a:xfrm>
          <a:prstGeom prst="wedgeRoundRectCallout">
            <a:avLst>
              <a:gd name="adj1" fmla="val -40895"/>
              <a:gd name="adj2" fmla="val -150558"/>
              <a:gd name="adj3" fmla="val 16667"/>
            </a:avLst>
          </a:prstGeom>
          <a:noFill/>
          <a:ln w="9525" cap="flat" cmpd="sng" algn="ctr">
            <a:solidFill>
              <a:srgbClr val="C00000"/>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ctr" defTabSz="914400" rtl="0" eaLnBrk="0" fontAlgn="base" latinLnBrk="0" hangingPunct="0">
              <a:lnSpc>
                <a:spcPct val="100000"/>
              </a:lnSpc>
              <a:spcBef>
                <a:spcPct val="0"/>
              </a:spcBef>
              <a:spcAft>
                <a:spcPct val="0"/>
              </a:spcAft>
              <a:buClrTx/>
              <a:buSzTx/>
              <a:buFontTx/>
              <a:buNone/>
              <a:tabLst/>
            </a:pPr>
            <a:r>
              <a:rPr kumimoji="0" lang="en-US" sz="2400" b="0" i="0" u="none" strike="noStrike" cap="none" normalizeH="0" baseline="0" dirty="0">
                <a:ln>
                  <a:noFill/>
                </a:ln>
                <a:solidFill>
                  <a:srgbClr val="C00000"/>
                </a:solidFill>
                <a:effectLst/>
                <a:latin typeface="Arial" charset="0"/>
                <a:ea typeface="ＭＳ Ｐゴシック" pitchFamily="16" charset="-128"/>
              </a:rPr>
              <a:t>How much you can decrease the coefficient</a:t>
            </a:r>
          </a:p>
        </p:txBody>
      </p:sp>
      <p:sp>
        <p:nvSpPr>
          <p:cNvPr id="13" name="Left Brace 12"/>
          <p:cNvSpPr/>
          <p:nvPr/>
        </p:nvSpPr>
        <p:spPr bwMode="auto">
          <a:xfrm rot="16200000">
            <a:off x="8139055" y="1896824"/>
            <a:ext cx="762000" cy="6190001"/>
          </a:xfrm>
          <a:prstGeom prst="leftBrace">
            <a:avLst/>
          </a:prstGeom>
          <a:ln>
            <a:headEnd type="none" w="med" len="med"/>
            <a:tailEnd type="none" w="med" len="med"/>
          </a:ln>
        </p:spPr>
        <p:style>
          <a:lnRef idx="3">
            <a:schemeClr val="accent2"/>
          </a:lnRef>
          <a:fillRef idx="0">
            <a:schemeClr val="accent2"/>
          </a:fillRef>
          <a:effectRef idx="2">
            <a:schemeClr val="accent2"/>
          </a:effectRef>
          <a:fontRef idx="minor">
            <a:schemeClr val="tx1"/>
          </a:fontRef>
        </p:style>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US" sz="2400" b="0" i="0" u="none" strike="noStrike" cap="none" normalizeH="0" baseline="0">
              <a:ln>
                <a:noFill/>
              </a:ln>
              <a:solidFill>
                <a:schemeClr val="tx1"/>
              </a:solidFill>
              <a:effectLst/>
              <a:latin typeface="Arial" charset="0"/>
              <a:ea typeface="ＭＳ Ｐゴシック" pitchFamily="16" charset="-128"/>
            </a:endParaRPr>
          </a:p>
        </p:txBody>
      </p:sp>
      <p:sp>
        <p:nvSpPr>
          <p:cNvPr id="14" name="TextBox 13"/>
          <p:cNvSpPr txBox="1"/>
          <p:nvPr/>
        </p:nvSpPr>
        <p:spPr>
          <a:xfrm>
            <a:off x="6094207" y="5302793"/>
            <a:ext cx="5029199" cy="1384995"/>
          </a:xfrm>
          <a:prstGeom prst="rect">
            <a:avLst/>
          </a:prstGeom>
          <a:noFill/>
        </p:spPr>
        <p:txBody>
          <a:bodyPr wrap="square" rtlCol="0">
            <a:spAutoFit/>
          </a:bodyPr>
          <a:lstStyle/>
          <a:p>
            <a:pPr algn="ctr"/>
            <a:r>
              <a:rPr lang="en-US" sz="3200" dirty="0"/>
              <a:t>So that the optimal solution will not change </a:t>
            </a:r>
          </a:p>
          <a:p>
            <a:pPr algn="ctr"/>
            <a:r>
              <a:rPr lang="en-US" sz="2000" dirty="0">
                <a:solidFill>
                  <a:srgbClr val="C00000"/>
                </a:solidFill>
              </a:rPr>
              <a:t>(when there is a single change)</a:t>
            </a:r>
          </a:p>
        </p:txBody>
      </p:sp>
      <p:sp>
        <p:nvSpPr>
          <p:cNvPr id="5" name="TextBox 4"/>
          <p:cNvSpPr txBox="1"/>
          <p:nvPr/>
        </p:nvSpPr>
        <p:spPr>
          <a:xfrm>
            <a:off x="729343" y="3744698"/>
            <a:ext cx="3786052" cy="2585323"/>
          </a:xfrm>
          <a:prstGeom prst="rect">
            <a:avLst/>
          </a:prstGeom>
          <a:noFill/>
        </p:spPr>
        <p:txBody>
          <a:bodyPr wrap="square" rtlCol="0">
            <a:spAutoFit/>
          </a:bodyPr>
          <a:lstStyle/>
          <a:p>
            <a:r>
              <a:rPr lang="en-US" u="sng" dirty="0"/>
              <a:t>Recall:</a:t>
            </a:r>
          </a:p>
          <a:p>
            <a:pPr marL="285750" indent="-285750">
              <a:buFont typeface="Arial" panose="020B0604020202020204" pitchFamily="34" charset="0"/>
              <a:buChar char="•"/>
            </a:pPr>
            <a:r>
              <a:rPr lang="en-US" b="1" dirty="0">
                <a:solidFill>
                  <a:schemeClr val="accent5"/>
                </a:solidFill>
              </a:rPr>
              <a:t>Final Value: </a:t>
            </a:r>
            <a:r>
              <a:rPr lang="en-US" dirty="0"/>
              <a:t>Optimal values of the decision variables</a:t>
            </a:r>
          </a:p>
          <a:p>
            <a:pPr marL="285750" indent="-285750">
              <a:buFont typeface="Arial" panose="020B0604020202020204" pitchFamily="34" charset="0"/>
              <a:buChar char="•"/>
            </a:pPr>
            <a:r>
              <a:rPr lang="en-US" b="1" dirty="0">
                <a:solidFill>
                  <a:schemeClr val="accent5"/>
                </a:solidFill>
              </a:rPr>
              <a:t>Reduced cost: </a:t>
            </a:r>
            <a:r>
              <a:rPr lang="en-US" dirty="0"/>
              <a:t>For variables whose final values are not zero, they should be 0! </a:t>
            </a:r>
          </a:p>
          <a:p>
            <a:pPr marL="742950" lvl="1" indent="-285750">
              <a:buFont typeface="Arial" panose="020B0604020202020204" pitchFamily="34" charset="0"/>
              <a:buChar char="•"/>
            </a:pPr>
            <a:r>
              <a:rPr lang="en-US" dirty="0"/>
              <a:t>It means that we get the best out of those variables, so we cannot do more!</a:t>
            </a:r>
          </a:p>
        </p:txBody>
      </p:sp>
    </p:spTree>
    <p:extLst>
      <p:ext uri="{BB962C8B-B14F-4D97-AF65-F5344CB8AC3E}">
        <p14:creationId xmlns:p14="http://schemas.microsoft.com/office/powerpoint/2010/main" val="136611169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1"/>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12"/>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13"/>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1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animBg="1"/>
      <p:bldP spid="12" grpId="0" animBg="1"/>
      <p:bldP spid="13" grpId="0" animBg="1"/>
      <p:bldP spid="14" grpId="0"/>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Single Change in the Objective Function</a:t>
            </a:r>
          </a:p>
        </p:txBody>
      </p:sp>
      <p:sp>
        <p:nvSpPr>
          <p:cNvPr id="3" name="Content Placeholder 2"/>
          <p:cNvSpPr>
            <a:spLocks noGrp="1"/>
          </p:cNvSpPr>
          <p:nvPr>
            <p:ph idx="1"/>
          </p:nvPr>
        </p:nvSpPr>
        <p:spPr/>
        <p:txBody>
          <a:bodyPr/>
          <a:lstStyle/>
          <a:p>
            <a:r>
              <a:rPr lang="en-US" b="1" dirty="0" err="1"/>
              <a:t>Wyndor</a:t>
            </a:r>
            <a:r>
              <a:rPr lang="en-US" b="1" dirty="0"/>
              <a:t> Glass Co. Product Mix Problem (revisited): Sensitivity Report</a:t>
            </a:r>
          </a:p>
        </p:txBody>
      </p:sp>
      <p:sp>
        <p:nvSpPr>
          <p:cNvPr id="14" name="Rectangle 13"/>
          <p:cNvSpPr/>
          <p:nvPr/>
        </p:nvSpPr>
        <p:spPr>
          <a:xfrm>
            <a:off x="9311268" y="4520740"/>
            <a:ext cx="1817649" cy="151621"/>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 name="Rectangle 22"/>
          <p:cNvSpPr/>
          <p:nvPr/>
        </p:nvSpPr>
        <p:spPr>
          <a:xfrm>
            <a:off x="9619760" y="3219256"/>
            <a:ext cx="1817649" cy="151621"/>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5" name="Picture 14"/>
          <p:cNvPicPr>
            <a:picLocks noChangeAspect="1"/>
          </p:cNvPicPr>
          <p:nvPr/>
        </p:nvPicPr>
        <p:blipFill>
          <a:blip r:embed="rId3"/>
          <a:stretch>
            <a:fillRect/>
          </a:stretch>
        </p:blipFill>
        <p:spPr>
          <a:xfrm>
            <a:off x="4058366" y="2121237"/>
            <a:ext cx="6161726" cy="4368706"/>
          </a:xfrm>
          <a:prstGeom prst="rect">
            <a:avLst/>
          </a:prstGeom>
        </p:spPr>
      </p:pic>
      <p:cxnSp>
        <p:nvCxnSpPr>
          <p:cNvPr id="12" name="Straight Connector 11"/>
          <p:cNvCxnSpPr/>
          <p:nvPr/>
        </p:nvCxnSpPr>
        <p:spPr>
          <a:xfrm flipV="1">
            <a:off x="4517571" y="3295066"/>
            <a:ext cx="2754086" cy="775801"/>
          </a:xfrm>
          <a:prstGeom prst="line">
            <a:avLst/>
          </a:prstGeom>
          <a:ln w="57150">
            <a:solidFill>
              <a:srgbClr val="FF0000"/>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135312437"/>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Single Change in the Objective Function</a:t>
            </a:r>
          </a:p>
        </p:txBody>
      </p:sp>
      <p:sp>
        <p:nvSpPr>
          <p:cNvPr id="3" name="Content Placeholder 2"/>
          <p:cNvSpPr>
            <a:spLocks noGrp="1"/>
          </p:cNvSpPr>
          <p:nvPr>
            <p:ph idx="1"/>
          </p:nvPr>
        </p:nvSpPr>
        <p:spPr/>
        <p:txBody>
          <a:bodyPr/>
          <a:lstStyle/>
          <a:p>
            <a:r>
              <a:rPr lang="en-US" b="1" dirty="0" err="1"/>
              <a:t>Wyndor</a:t>
            </a:r>
            <a:r>
              <a:rPr lang="en-US" b="1" dirty="0"/>
              <a:t> Glass Co. Product Mix Problem (revisited): Sensitivity Report</a:t>
            </a:r>
          </a:p>
        </p:txBody>
      </p:sp>
      <p:pic>
        <p:nvPicPr>
          <p:cNvPr id="4" name="Picture 3"/>
          <p:cNvPicPr>
            <a:picLocks noChangeAspect="1"/>
          </p:cNvPicPr>
          <p:nvPr/>
        </p:nvPicPr>
        <p:blipFill>
          <a:blip r:embed="rId3"/>
          <a:stretch>
            <a:fillRect/>
          </a:stretch>
        </p:blipFill>
        <p:spPr>
          <a:xfrm>
            <a:off x="6930223" y="2001242"/>
            <a:ext cx="4903189" cy="3486912"/>
          </a:xfrm>
          <a:prstGeom prst="rect">
            <a:avLst/>
          </a:prstGeom>
        </p:spPr>
      </p:pic>
      <p:pic>
        <p:nvPicPr>
          <p:cNvPr id="16" name="Picture 8"/>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50945" y="1833780"/>
            <a:ext cx="5105830" cy="365437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cxnSp>
        <p:nvCxnSpPr>
          <p:cNvPr id="7" name="Straight Connector 6"/>
          <p:cNvCxnSpPr/>
          <p:nvPr/>
        </p:nvCxnSpPr>
        <p:spPr>
          <a:xfrm>
            <a:off x="2079171" y="2351314"/>
            <a:ext cx="478972" cy="2307772"/>
          </a:xfrm>
          <a:prstGeom prst="line">
            <a:avLst/>
          </a:prstGeom>
          <a:ln w="28575">
            <a:solidFill>
              <a:srgbClr val="002060"/>
            </a:solidFill>
            <a:prstDash val="sysDash"/>
          </a:ln>
        </p:spPr>
        <p:style>
          <a:lnRef idx="1">
            <a:schemeClr val="accent1"/>
          </a:lnRef>
          <a:fillRef idx="0">
            <a:schemeClr val="accent1"/>
          </a:fillRef>
          <a:effectRef idx="0">
            <a:schemeClr val="accent1"/>
          </a:effectRef>
          <a:fontRef idx="minor">
            <a:schemeClr val="tx1"/>
          </a:fontRef>
        </p:style>
      </p:cxnSp>
      <p:cxnSp>
        <p:nvCxnSpPr>
          <p:cNvPr id="17" name="Straight Connector 16"/>
          <p:cNvCxnSpPr/>
          <p:nvPr/>
        </p:nvCxnSpPr>
        <p:spPr>
          <a:xfrm>
            <a:off x="2318657" y="2507081"/>
            <a:ext cx="478972" cy="2307772"/>
          </a:xfrm>
          <a:prstGeom prst="line">
            <a:avLst/>
          </a:prstGeom>
          <a:ln w="28575">
            <a:solidFill>
              <a:srgbClr val="002060"/>
            </a:solidFill>
            <a:prstDash val="sysDash"/>
          </a:ln>
        </p:spPr>
        <p:style>
          <a:lnRef idx="1">
            <a:schemeClr val="accent1"/>
          </a:lnRef>
          <a:fillRef idx="0">
            <a:schemeClr val="accent1"/>
          </a:fillRef>
          <a:effectRef idx="0">
            <a:schemeClr val="accent1"/>
          </a:effectRef>
          <a:fontRef idx="minor">
            <a:schemeClr val="tx1"/>
          </a:fontRef>
        </p:style>
      </p:cxnSp>
      <p:cxnSp>
        <p:nvCxnSpPr>
          <p:cNvPr id="18" name="Straight Connector 17"/>
          <p:cNvCxnSpPr/>
          <p:nvPr/>
        </p:nvCxnSpPr>
        <p:spPr>
          <a:xfrm>
            <a:off x="2558143" y="2662848"/>
            <a:ext cx="478972" cy="2307772"/>
          </a:xfrm>
          <a:prstGeom prst="line">
            <a:avLst/>
          </a:prstGeom>
          <a:ln w="28575">
            <a:solidFill>
              <a:srgbClr val="002060"/>
            </a:solidFill>
            <a:prstDash val="sysDash"/>
          </a:ln>
        </p:spPr>
        <p:style>
          <a:lnRef idx="1">
            <a:schemeClr val="accent1"/>
          </a:lnRef>
          <a:fillRef idx="0">
            <a:schemeClr val="accent1"/>
          </a:fillRef>
          <a:effectRef idx="0">
            <a:schemeClr val="accent1"/>
          </a:effectRef>
          <a:fontRef idx="minor">
            <a:schemeClr val="tx1"/>
          </a:fontRef>
        </p:style>
      </p:cxnSp>
      <p:sp>
        <p:nvSpPr>
          <p:cNvPr id="8" name="Oval 7"/>
          <p:cNvSpPr/>
          <p:nvPr/>
        </p:nvSpPr>
        <p:spPr>
          <a:xfrm>
            <a:off x="2797629" y="4180114"/>
            <a:ext cx="157752" cy="152400"/>
          </a:xfrm>
          <a:prstGeom prst="ellipse">
            <a:avLst/>
          </a:prstGeom>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algn="ctr"/>
            <a:endParaRPr lang="en-US"/>
          </a:p>
        </p:txBody>
      </p:sp>
      <p:cxnSp>
        <p:nvCxnSpPr>
          <p:cNvPr id="19" name="Straight Arrow Connector 18"/>
          <p:cNvCxnSpPr/>
          <p:nvPr/>
        </p:nvCxnSpPr>
        <p:spPr>
          <a:xfrm flipV="1">
            <a:off x="2394857" y="3744698"/>
            <a:ext cx="402772" cy="72036"/>
          </a:xfrm>
          <a:prstGeom prst="straightConnector1">
            <a:avLst/>
          </a:prstGeom>
          <a:ln w="28575">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20" name="Straight Connector 19"/>
          <p:cNvCxnSpPr/>
          <p:nvPr/>
        </p:nvCxnSpPr>
        <p:spPr>
          <a:xfrm>
            <a:off x="7859486" y="2662848"/>
            <a:ext cx="1611945" cy="1517266"/>
          </a:xfrm>
          <a:prstGeom prst="line">
            <a:avLst/>
          </a:prstGeom>
          <a:ln w="28575">
            <a:solidFill>
              <a:srgbClr val="002060"/>
            </a:solidFill>
            <a:prstDash val="sysDash"/>
          </a:ln>
        </p:spPr>
        <p:style>
          <a:lnRef idx="1">
            <a:schemeClr val="accent1"/>
          </a:lnRef>
          <a:fillRef idx="0">
            <a:schemeClr val="accent1"/>
          </a:fillRef>
          <a:effectRef idx="0">
            <a:schemeClr val="accent1"/>
          </a:effectRef>
          <a:fontRef idx="minor">
            <a:schemeClr val="tx1"/>
          </a:fontRef>
        </p:style>
      </p:cxnSp>
      <p:cxnSp>
        <p:nvCxnSpPr>
          <p:cNvPr id="25" name="Straight Connector 24"/>
          <p:cNvCxnSpPr/>
          <p:nvPr/>
        </p:nvCxnSpPr>
        <p:spPr>
          <a:xfrm>
            <a:off x="7748658" y="2891448"/>
            <a:ext cx="1611945" cy="1517266"/>
          </a:xfrm>
          <a:prstGeom prst="line">
            <a:avLst/>
          </a:prstGeom>
          <a:ln w="28575">
            <a:solidFill>
              <a:srgbClr val="002060"/>
            </a:solidFill>
            <a:prstDash val="sysDash"/>
          </a:ln>
        </p:spPr>
        <p:style>
          <a:lnRef idx="1">
            <a:schemeClr val="accent1"/>
          </a:lnRef>
          <a:fillRef idx="0">
            <a:schemeClr val="accent1"/>
          </a:fillRef>
          <a:effectRef idx="0">
            <a:schemeClr val="accent1"/>
          </a:effectRef>
          <a:fontRef idx="minor">
            <a:schemeClr val="tx1"/>
          </a:fontRef>
        </p:style>
      </p:cxnSp>
      <p:cxnSp>
        <p:nvCxnSpPr>
          <p:cNvPr id="26" name="Straight Connector 25"/>
          <p:cNvCxnSpPr/>
          <p:nvPr/>
        </p:nvCxnSpPr>
        <p:spPr>
          <a:xfrm>
            <a:off x="7637830" y="3120048"/>
            <a:ext cx="1611945" cy="1517266"/>
          </a:xfrm>
          <a:prstGeom prst="line">
            <a:avLst/>
          </a:prstGeom>
          <a:ln w="28575">
            <a:solidFill>
              <a:srgbClr val="002060"/>
            </a:solidFill>
            <a:prstDash val="sysDash"/>
          </a:ln>
        </p:spPr>
        <p:style>
          <a:lnRef idx="1">
            <a:schemeClr val="accent1"/>
          </a:lnRef>
          <a:fillRef idx="0">
            <a:schemeClr val="accent1"/>
          </a:fillRef>
          <a:effectRef idx="0">
            <a:schemeClr val="accent1"/>
          </a:effectRef>
          <a:fontRef idx="minor">
            <a:schemeClr val="tx1"/>
          </a:fontRef>
        </p:style>
      </p:cxnSp>
      <p:cxnSp>
        <p:nvCxnSpPr>
          <p:cNvPr id="27" name="Straight Arrow Connector 26"/>
          <p:cNvCxnSpPr/>
          <p:nvPr/>
        </p:nvCxnSpPr>
        <p:spPr>
          <a:xfrm flipV="1">
            <a:off x="8354822" y="3472532"/>
            <a:ext cx="199808" cy="272166"/>
          </a:xfrm>
          <a:prstGeom prst="straightConnector1">
            <a:avLst/>
          </a:prstGeom>
          <a:ln w="28575">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9" name="TextBox 8"/>
          <p:cNvSpPr txBox="1"/>
          <p:nvPr/>
        </p:nvSpPr>
        <p:spPr>
          <a:xfrm>
            <a:off x="1197429" y="5856514"/>
            <a:ext cx="8052346" cy="646331"/>
          </a:xfrm>
          <a:prstGeom prst="rect">
            <a:avLst/>
          </a:prstGeom>
          <a:noFill/>
        </p:spPr>
        <p:txBody>
          <a:bodyPr wrap="square" rtlCol="0">
            <a:spAutoFit/>
          </a:bodyPr>
          <a:lstStyle/>
          <a:p>
            <a:pPr marL="285750" indent="-285750">
              <a:buFont typeface="Arial" panose="020B0604020202020204" pitchFamily="34" charset="0"/>
              <a:buChar char="•"/>
            </a:pPr>
            <a:r>
              <a:rPr lang="en-US" dirty="0"/>
              <a:t>Note that even if the optimal solution does not change, the objective function value will change because an objective function coefficient changes!</a:t>
            </a:r>
          </a:p>
        </p:txBody>
      </p:sp>
      <p:sp>
        <p:nvSpPr>
          <p:cNvPr id="10" name="Isosceles Triangle 9"/>
          <p:cNvSpPr/>
          <p:nvPr/>
        </p:nvSpPr>
        <p:spPr>
          <a:xfrm flipV="1">
            <a:off x="8554630" y="3295067"/>
            <a:ext cx="1190481" cy="467849"/>
          </a:xfrm>
          <a:prstGeom prst="triangle">
            <a:avLst>
              <a:gd name="adj" fmla="val 59114"/>
            </a:avLst>
          </a:prstGeom>
          <a:solidFill>
            <a:schemeClr val="accent6">
              <a:lumMod val="40000"/>
              <a:lumOff val="60000"/>
            </a:schemeClr>
          </a:solidFill>
          <a:ln>
            <a:noFill/>
          </a:ln>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algn="ctr"/>
            <a:endParaRPr lang="en-US"/>
          </a:p>
        </p:txBody>
      </p:sp>
      <p:cxnSp>
        <p:nvCxnSpPr>
          <p:cNvPr id="12" name="Straight Connector 11"/>
          <p:cNvCxnSpPr/>
          <p:nvPr/>
        </p:nvCxnSpPr>
        <p:spPr>
          <a:xfrm>
            <a:off x="8665458" y="2698056"/>
            <a:ext cx="667288" cy="2374914"/>
          </a:xfrm>
          <a:prstGeom prst="line">
            <a:avLst/>
          </a:prstGeom>
          <a:ln w="38100">
            <a:solidFill>
              <a:srgbClr val="FF0000"/>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99869822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6"/>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25"/>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27"/>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20"/>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16"/>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7"/>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17"/>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18"/>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grpId="0" nodeType="clickEffect">
                                  <p:stCondLst>
                                    <p:cond delay="0"/>
                                  </p:stCondLst>
                                  <p:childTnLst>
                                    <p:set>
                                      <p:cBhvr>
                                        <p:cTn id="38" dur="1" fill="hold">
                                          <p:stCondLst>
                                            <p:cond delay="0"/>
                                          </p:stCondLst>
                                        </p:cTn>
                                        <p:tgtEl>
                                          <p:spTgt spid="8"/>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nodeType="clickEffect">
                                  <p:stCondLst>
                                    <p:cond delay="0"/>
                                  </p:stCondLst>
                                  <p:childTnLst>
                                    <p:set>
                                      <p:cBhvr>
                                        <p:cTn id="42" dur="1" fill="hold">
                                          <p:stCondLst>
                                            <p:cond delay="0"/>
                                          </p:stCondLst>
                                        </p:cTn>
                                        <p:tgtEl>
                                          <p:spTgt spid="1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animBg="1"/>
    </p:bld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Single Change in the Objective Function</a:t>
            </a:r>
          </a:p>
        </p:txBody>
      </p:sp>
      <p:sp>
        <p:nvSpPr>
          <p:cNvPr id="3" name="Content Placeholder 2"/>
          <p:cNvSpPr>
            <a:spLocks noGrp="1"/>
          </p:cNvSpPr>
          <p:nvPr>
            <p:ph idx="1"/>
          </p:nvPr>
        </p:nvSpPr>
        <p:spPr/>
        <p:txBody>
          <a:bodyPr/>
          <a:lstStyle/>
          <a:p>
            <a:r>
              <a:rPr lang="en-US" b="1" dirty="0" err="1"/>
              <a:t>Wyndor</a:t>
            </a:r>
            <a:r>
              <a:rPr lang="en-US" b="1" dirty="0"/>
              <a:t> Glass Co. Product Mix Problem (revisited): Sensitivity Report</a:t>
            </a:r>
          </a:p>
          <a:p>
            <a:endParaRPr lang="en-US" b="1" dirty="0"/>
          </a:p>
          <a:p>
            <a:endParaRPr lang="en-US" b="1" dirty="0"/>
          </a:p>
          <a:p>
            <a:pPr lvl="2"/>
            <a:r>
              <a:rPr lang="en-US" dirty="0"/>
              <a:t>Suppose that unit profit for doors increases from 300 to 500, </a:t>
            </a:r>
            <a:r>
              <a:rPr lang="en-US" u="sng" dirty="0"/>
              <a:t>everything else is the same</a:t>
            </a:r>
          </a:p>
          <a:p>
            <a:pPr lvl="3"/>
            <a:r>
              <a:rPr lang="en-US" dirty="0"/>
              <a:t>Increase is: $500-$300=200 and 200 &lt; </a:t>
            </a:r>
            <a:r>
              <a:rPr lang="en-US" b="1" dirty="0">
                <a:solidFill>
                  <a:schemeClr val="accent5"/>
                </a:solidFill>
              </a:rPr>
              <a:t>Allowable Increase </a:t>
            </a:r>
            <a:r>
              <a:rPr lang="en-US" dirty="0"/>
              <a:t>for doors (which is 450 from report)</a:t>
            </a:r>
          </a:p>
          <a:p>
            <a:pPr lvl="4"/>
            <a:r>
              <a:rPr lang="en-US" dirty="0"/>
              <a:t>So, </a:t>
            </a:r>
            <a:r>
              <a:rPr lang="en-US" b="1" dirty="0">
                <a:solidFill>
                  <a:srgbClr val="FF0000"/>
                </a:solidFill>
              </a:rPr>
              <a:t>the optimal solution will not change</a:t>
            </a:r>
            <a:r>
              <a:rPr lang="en-US" dirty="0"/>
              <a:t>, i.e., (D,W)=(2,6) will still be the optimum</a:t>
            </a:r>
          </a:p>
          <a:p>
            <a:pPr lvl="2"/>
            <a:r>
              <a:rPr lang="en-US" dirty="0"/>
              <a:t>Suppose that unit profit for doors increases from 300 to 1000, </a:t>
            </a:r>
            <a:r>
              <a:rPr lang="en-US" u="sng" dirty="0"/>
              <a:t>everything else is the same</a:t>
            </a:r>
          </a:p>
          <a:p>
            <a:pPr lvl="3"/>
            <a:r>
              <a:rPr lang="en-US" dirty="0"/>
              <a:t>Increase is: $1000-$300=700 and 700 &gt;= </a:t>
            </a:r>
            <a:r>
              <a:rPr lang="en-US" b="1" dirty="0">
                <a:solidFill>
                  <a:schemeClr val="accent5"/>
                </a:solidFill>
              </a:rPr>
              <a:t>Allowable Increase </a:t>
            </a:r>
            <a:r>
              <a:rPr lang="en-US" dirty="0"/>
              <a:t>for doors (which is 450 from report)</a:t>
            </a:r>
          </a:p>
          <a:p>
            <a:pPr lvl="4"/>
            <a:r>
              <a:rPr lang="en-US" dirty="0"/>
              <a:t>So, </a:t>
            </a:r>
            <a:r>
              <a:rPr lang="en-US" b="1" dirty="0">
                <a:solidFill>
                  <a:srgbClr val="FF0000"/>
                </a:solidFill>
              </a:rPr>
              <a:t>the optimal solution will change</a:t>
            </a:r>
            <a:r>
              <a:rPr lang="en-US" dirty="0"/>
              <a:t>, i.e., now (D,W)=(4,3) becomes the optimum</a:t>
            </a:r>
          </a:p>
          <a:p>
            <a:pPr lvl="2"/>
            <a:r>
              <a:rPr lang="en-US" dirty="0"/>
              <a:t>Suppose that unit profit for windows decreases from 500 to 400, </a:t>
            </a:r>
            <a:r>
              <a:rPr lang="en-US" u="sng" dirty="0"/>
              <a:t>everything else is the same</a:t>
            </a:r>
          </a:p>
          <a:p>
            <a:pPr lvl="3"/>
            <a:r>
              <a:rPr lang="en-US" dirty="0"/>
              <a:t>Decrease is: $500-$400=100 and 100 &lt; </a:t>
            </a:r>
            <a:r>
              <a:rPr lang="en-US" b="1" dirty="0">
                <a:solidFill>
                  <a:schemeClr val="accent5"/>
                </a:solidFill>
              </a:rPr>
              <a:t>Allowable Decrease </a:t>
            </a:r>
            <a:r>
              <a:rPr lang="en-US" dirty="0"/>
              <a:t>for windows (which is 300 from report)</a:t>
            </a:r>
          </a:p>
          <a:p>
            <a:pPr lvl="4"/>
            <a:r>
              <a:rPr lang="en-US" dirty="0"/>
              <a:t>So, </a:t>
            </a:r>
            <a:r>
              <a:rPr lang="en-US" b="1" dirty="0">
                <a:solidFill>
                  <a:srgbClr val="FF0000"/>
                </a:solidFill>
              </a:rPr>
              <a:t>the optimal solution will not change</a:t>
            </a:r>
            <a:r>
              <a:rPr lang="en-US" dirty="0"/>
              <a:t>, i.e., (D,W)=(2,6) will still be the optimum</a:t>
            </a:r>
          </a:p>
          <a:p>
            <a:pPr lvl="2"/>
            <a:r>
              <a:rPr lang="en-US" dirty="0"/>
              <a:t>Suppose that unit profit for doors decreases from 500 to 100, </a:t>
            </a:r>
            <a:r>
              <a:rPr lang="en-US" u="sng" dirty="0"/>
              <a:t>everything else is the same</a:t>
            </a:r>
          </a:p>
          <a:p>
            <a:pPr lvl="3"/>
            <a:r>
              <a:rPr lang="en-US" dirty="0"/>
              <a:t>Decrease is: $500-$100=400 and 400 &gt;= </a:t>
            </a:r>
            <a:r>
              <a:rPr lang="en-US" b="1" dirty="0">
                <a:solidFill>
                  <a:schemeClr val="accent5"/>
                </a:solidFill>
              </a:rPr>
              <a:t>Allowable Decrease </a:t>
            </a:r>
            <a:r>
              <a:rPr lang="en-US" dirty="0"/>
              <a:t>for windows (which is 300 from report)</a:t>
            </a:r>
          </a:p>
          <a:p>
            <a:pPr lvl="4"/>
            <a:r>
              <a:rPr lang="en-US" dirty="0"/>
              <a:t>So, </a:t>
            </a:r>
            <a:r>
              <a:rPr lang="en-US" b="1" dirty="0">
                <a:solidFill>
                  <a:srgbClr val="FF0000"/>
                </a:solidFill>
              </a:rPr>
              <a:t>the optimal solution will change</a:t>
            </a:r>
            <a:r>
              <a:rPr lang="en-US" dirty="0"/>
              <a:t>, i.e.,  now (D,W)=(4,3) becomes the optimum</a:t>
            </a:r>
          </a:p>
          <a:p>
            <a:pPr lvl="4"/>
            <a:endParaRPr lang="en-US" dirty="0"/>
          </a:p>
          <a:p>
            <a:pPr lvl="2"/>
            <a:endParaRPr lang="en-US" dirty="0"/>
          </a:p>
          <a:p>
            <a:pPr lvl="1"/>
            <a:endParaRPr lang="en-US" dirty="0"/>
          </a:p>
        </p:txBody>
      </p:sp>
      <p:pic>
        <p:nvPicPr>
          <p:cNvPr id="5" name="Picture 5"/>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2536372" y="1752674"/>
            <a:ext cx="6248399" cy="90796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76880492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4" end="4"/>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nodeType="clickEffect">
                                  <p:stCondLst>
                                    <p:cond delay="0"/>
                                  </p:stCondLst>
                                  <p:childTnLst>
                                    <p:set>
                                      <p:cBhvr>
                                        <p:cTn id="16" dur="1" fill="hold">
                                          <p:stCondLst>
                                            <p:cond delay="0"/>
                                          </p:stCondLst>
                                        </p:cTn>
                                        <p:tgtEl>
                                          <p:spTgt spid="3">
                                            <p:txEl>
                                              <p:pRg st="6" end="6"/>
                                            </p:txEl>
                                          </p:spTgt>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3">
                                            <p:txEl>
                                              <p:pRg st="7" end="7"/>
                                            </p:txEl>
                                          </p:spTgt>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3">
                                            <p:txEl>
                                              <p:pRg st="8" end="8"/>
                                            </p:txEl>
                                          </p:spTgt>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nodeType="clickEffect">
                                  <p:stCondLst>
                                    <p:cond delay="0"/>
                                  </p:stCondLst>
                                  <p:childTnLst>
                                    <p:set>
                                      <p:cBhvr>
                                        <p:cTn id="24" dur="1" fill="hold">
                                          <p:stCondLst>
                                            <p:cond delay="0"/>
                                          </p:stCondLst>
                                        </p:cTn>
                                        <p:tgtEl>
                                          <p:spTgt spid="3">
                                            <p:txEl>
                                              <p:pRg st="9" end="9"/>
                                            </p:txEl>
                                          </p:spTgt>
                                        </p:tgtEl>
                                        <p:attrNameLst>
                                          <p:attrName>style.visibility</p:attrName>
                                        </p:attrNameLst>
                                      </p:cBhvr>
                                      <p:to>
                                        <p:strVal val="visible"/>
                                      </p:to>
                                    </p:set>
                                  </p:childTnLst>
                                </p:cTn>
                              </p:par>
                              <p:par>
                                <p:cTn id="25" presetID="1" presetClass="entr" presetSubtype="0" fill="hold" nodeType="withEffect">
                                  <p:stCondLst>
                                    <p:cond delay="0"/>
                                  </p:stCondLst>
                                  <p:childTnLst>
                                    <p:set>
                                      <p:cBhvr>
                                        <p:cTn id="26" dur="1" fill="hold">
                                          <p:stCondLst>
                                            <p:cond delay="0"/>
                                          </p:stCondLst>
                                        </p:cTn>
                                        <p:tgtEl>
                                          <p:spTgt spid="3">
                                            <p:txEl>
                                              <p:pRg st="10" end="10"/>
                                            </p:txEl>
                                          </p:spTgt>
                                        </p:tgtEl>
                                        <p:attrNameLst>
                                          <p:attrName>style.visibility</p:attrName>
                                        </p:attrNameLst>
                                      </p:cBhvr>
                                      <p:to>
                                        <p:strVal val="visible"/>
                                      </p:to>
                                    </p:set>
                                  </p:childTnLst>
                                </p:cTn>
                              </p:par>
                              <p:par>
                                <p:cTn id="27" presetID="1" presetClass="entr" presetSubtype="0" fill="hold" nodeType="withEffect">
                                  <p:stCondLst>
                                    <p:cond delay="0"/>
                                  </p:stCondLst>
                                  <p:childTnLst>
                                    <p:set>
                                      <p:cBhvr>
                                        <p:cTn id="28" dur="1" fill="hold">
                                          <p:stCondLst>
                                            <p:cond delay="0"/>
                                          </p:stCondLst>
                                        </p:cTn>
                                        <p:tgtEl>
                                          <p:spTgt spid="3">
                                            <p:txEl>
                                              <p:pRg st="11" end="11"/>
                                            </p:txEl>
                                          </p:spTgt>
                                        </p:tgtEl>
                                        <p:attrNameLst>
                                          <p:attrName>style.visibility</p:attrName>
                                        </p:attrNameLst>
                                      </p:cBhvr>
                                      <p:to>
                                        <p:strVal val="visible"/>
                                      </p:to>
                                    </p:set>
                                  </p:childTnLst>
                                </p:cTn>
                              </p:par>
                            </p:childTnLst>
                          </p:cTn>
                        </p:par>
                      </p:childTnLst>
                    </p:cTn>
                  </p:par>
                  <p:par>
                    <p:cTn id="29" fill="hold">
                      <p:stCondLst>
                        <p:cond delay="indefinite"/>
                      </p:stCondLst>
                      <p:childTnLst>
                        <p:par>
                          <p:cTn id="30" fill="hold">
                            <p:stCondLst>
                              <p:cond delay="0"/>
                            </p:stCondLst>
                            <p:childTnLst>
                              <p:par>
                                <p:cTn id="31" presetID="1" presetClass="entr" presetSubtype="0" fill="hold" nodeType="clickEffect">
                                  <p:stCondLst>
                                    <p:cond delay="0"/>
                                  </p:stCondLst>
                                  <p:childTnLst>
                                    <p:set>
                                      <p:cBhvr>
                                        <p:cTn id="32" dur="1" fill="hold">
                                          <p:stCondLst>
                                            <p:cond delay="0"/>
                                          </p:stCondLst>
                                        </p:cTn>
                                        <p:tgtEl>
                                          <p:spTgt spid="3">
                                            <p:txEl>
                                              <p:pRg st="12" end="12"/>
                                            </p:txEl>
                                          </p:spTgt>
                                        </p:tgtEl>
                                        <p:attrNameLst>
                                          <p:attrName>style.visibility</p:attrName>
                                        </p:attrNameLst>
                                      </p:cBhvr>
                                      <p:to>
                                        <p:strVal val="visible"/>
                                      </p:to>
                                    </p:set>
                                  </p:childTnLst>
                                </p:cTn>
                              </p:par>
                              <p:par>
                                <p:cTn id="33" presetID="1" presetClass="entr" presetSubtype="0" fill="hold" nodeType="withEffect">
                                  <p:stCondLst>
                                    <p:cond delay="0"/>
                                  </p:stCondLst>
                                  <p:childTnLst>
                                    <p:set>
                                      <p:cBhvr>
                                        <p:cTn id="34" dur="1" fill="hold">
                                          <p:stCondLst>
                                            <p:cond delay="0"/>
                                          </p:stCondLst>
                                        </p:cTn>
                                        <p:tgtEl>
                                          <p:spTgt spid="3">
                                            <p:txEl>
                                              <p:pRg st="13" end="13"/>
                                            </p:txEl>
                                          </p:spTgt>
                                        </p:tgtEl>
                                        <p:attrNameLst>
                                          <p:attrName>style.visibility</p:attrName>
                                        </p:attrNameLst>
                                      </p:cBhvr>
                                      <p:to>
                                        <p:strVal val="visible"/>
                                      </p:to>
                                    </p:set>
                                  </p:childTnLst>
                                </p:cTn>
                              </p:par>
                              <p:par>
                                <p:cTn id="35" presetID="1" presetClass="entr" presetSubtype="0" fill="hold" nodeType="withEffect">
                                  <p:stCondLst>
                                    <p:cond delay="0"/>
                                  </p:stCondLst>
                                  <p:childTnLst>
                                    <p:set>
                                      <p:cBhvr>
                                        <p:cTn id="36" dur="1" fill="hold">
                                          <p:stCondLst>
                                            <p:cond delay="0"/>
                                          </p:stCondLst>
                                        </p:cTn>
                                        <p:tgtEl>
                                          <p:spTgt spid="3">
                                            <p:txEl>
                                              <p:pRg st="14" end="1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Outline</a:t>
            </a:r>
          </a:p>
        </p:txBody>
      </p:sp>
      <p:sp>
        <p:nvSpPr>
          <p:cNvPr id="3" name="Content Placeholder 2"/>
          <p:cNvSpPr>
            <a:spLocks noGrp="1"/>
          </p:cNvSpPr>
          <p:nvPr>
            <p:ph idx="1"/>
          </p:nvPr>
        </p:nvSpPr>
        <p:spPr/>
        <p:txBody>
          <a:bodyPr/>
          <a:lstStyle/>
          <a:p>
            <a:r>
              <a:rPr lang="en-US" dirty="0">
                <a:solidFill>
                  <a:schemeClr val="bg2"/>
                </a:solidFill>
              </a:rPr>
              <a:t>Sensitivity Analysis and Excel Reports (Chapter 5)</a:t>
            </a:r>
          </a:p>
          <a:p>
            <a:r>
              <a:rPr lang="en-US" dirty="0">
                <a:solidFill>
                  <a:schemeClr val="bg2"/>
                </a:solidFill>
              </a:rPr>
              <a:t>Single Change in the Objective Function  (Chapter 5.3)</a:t>
            </a:r>
          </a:p>
          <a:p>
            <a:r>
              <a:rPr lang="en-US" dirty="0"/>
              <a:t>Single Change in a Constraint (Chapter 5.5)</a:t>
            </a:r>
          </a:p>
          <a:p>
            <a:r>
              <a:rPr lang="en-US" dirty="0">
                <a:solidFill>
                  <a:schemeClr val="bg2"/>
                </a:solidFill>
              </a:rPr>
              <a:t>Effect of Simultaneous Changes</a:t>
            </a:r>
          </a:p>
          <a:p>
            <a:pPr lvl="1"/>
            <a:r>
              <a:rPr lang="en-US" dirty="0">
                <a:solidFill>
                  <a:schemeClr val="bg2"/>
                </a:solidFill>
              </a:rPr>
              <a:t>Changes in the Objective Function (Chapter 5.4)</a:t>
            </a:r>
          </a:p>
          <a:p>
            <a:pPr lvl="1"/>
            <a:r>
              <a:rPr lang="en-US" dirty="0">
                <a:solidFill>
                  <a:schemeClr val="bg2"/>
                </a:solidFill>
              </a:rPr>
              <a:t>Changes in Constraints (Chapter 5.6)</a:t>
            </a:r>
          </a:p>
          <a:p>
            <a:r>
              <a:rPr lang="en-US" dirty="0">
                <a:solidFill>
                  <a:schemeClr val="bg2"/>
                </a:solidFill>
              </a:rPr>
              <a:t>Changes in the Model (not in the textbook)</a:t>
            </a:r>
          </a:p>
          <a:p>
            <a:r>
              <a:rPr lang="en-US" dirty="0">
                <a:solidFill>
                  <a:schemeClr val="bg2"/>
                </a:solidFill>
              </a:rPr>
              <a:t>Linear Programming Duality (not in the textbook)</a:t>
            </a:r>
          </a:p>
          <a:p>
            <a:pPr lvl="1"/>
            <a:r>
              <a:rPr lang="en-US" dirty="0">
                <a:solidFill>
                  <a:schemeClr val="bg2"/>
                </a:solidFill>
              </a:rPr>
              <a:t>Formulating the dual problem</a:t>
            </a:r>
          </a:p>
          <a:p>
            <a:pPr lvl="1"/>
            <a:r>
              <a:rPr lang="en-US" dirty="0">
                <a:solidFill>
                  <a:schemeClr val="bg2"/>
                </a:solidFill>
              </a:rPr>
              <a:t>Primal-dual relations</a:t>
            </a:r>
          </a:p>
          <a:p>
            <a:pPr lvl="1"/>
            <a:r>
              <a:rPr lang="en-US" dirty="0">
                <a:solidFill>
                  <a:schemeClr val="bg2"/>
                </a:solidFill>
              </a:rPr>
              <a:t>Economic Interpretation</a:t>
            </a:r>
          </a:p>
          <a:p>
            <a:endParaRPr lang="en-US" dirty="0"/>
          </a:p>
          <a:p>
            <a:pPr lvl="5"/>
            <a:endParaRPr lang="en-US" dirty="0"/>
          </a:p>
          <a:p>
            <a:endParaRPr lang="en-US" dirty="0"/>
          </a:p>
        </p:txBody>
      </p:sp>
    </p:spTree>
    <p:extLst>
      <p:ext uri="{BB962C8B-B14F-4D97-AF65-F5344CB8AC3E}">
        <p14:creationId xmlns:p14="http://schemas.microsoft.com/office/powerpoint/2010/main" val="4153966133"/>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Single Change in a Constraint</a:t>
            </a:r>
          </a:p>
        </p:txBody>
      </p:sp>
      <p:sp>
        <p:nvSpPr>
          <p:cNvPr id="3" name="Content Placeholder 2"/>
          <p:cNvSpPr>
            <a:spLocks noGrp="1"/>
          </p:cNvSpPr>
          <p:nvPr>
            <p:ph idx="1"/>
          </p:nvPr>
        </p:nvSpPr>
        <p:spPr/>
        <p:txBody>
          <a:bodyPr/>
          <a:lstStyle/>
          <a:p>
            <a:r>
              <a:rPr lang="en-US" dirty="0"/>
              <a:t>It is a possibility that the resources available change!</a:t>
            </a:r>
          </a:p>
          <a:p>
            <a:pPr lvl="1"/>
            <a:r>
              <a:rPr lang="en-US" dirty="0"/>
              <a:t>Here, we assume that constraint right hand side values are constants</a:t>
            </a:r>
          </a:p>
          <a:p>
            <a:pPr lvl="2"/>
            <a:r>
              <a:rPr lang="en-US" dirty="0"/>
              <a:t>So, all variables are on the left side, and right side has just constants</a:t>
            </a:r>
          </a:p>
          <a:p>
            <a:pPr lvl="1"/>
            <a:r>
              <a:rPr lang="en-US" dirty="0"/>
              <a:t>It is important to analyze what the effect of this change will be</a:t>
            </a:r>
          </a:p>
          <a:p>
            <a:pPr lvl="1"/>
            <a:r>
              <a:rPr lang="en-US" dirty="0"/>
              <a:t>This can be done using the Sensitivity Report</a:t>
            </a:r>
          </a:p>
          <a:p>
            <a:r>
              <a:rPr lang="en-US" dirty="0"/>
              <a:t>Consider the </a:t>
            </a:r>
            <a:r>
              <a:rPr lang="en-US" dirty="0" err="1"/>
              <a:t>Wyndor</a:t>
            </a:r>
            <a:r>
              <a:rPr lang="en-US" dirty="0"/>
              <a:t> Glass Co. Product Mix Problem</a:t>
            </a:r>
          </a:p>
          <a:p>
            <a:pPr lvl="1"/>
            <a:endParaRPr lang="en-US" dirty="0"/>
          </a:p>
        </p:txBody>
      </p:sp>
      <p:pic>
        <p:nvPicPr>
          <p:cNvPr id="7" name="Picture 6"/>
          <p:cNvPicPr>
            <a:picLocks noChangeAspect="1"/>
          </p:cNvPicPr>
          <p:nvPr/>
        </p:nvPicPr>
        <p:blipFill>
          <a:blip r:embed="rId3"/>
          <a:stretch>
            <a:fillRect/>
          </a:stretch>
        </p:blipFill>
        <p:spPr>
          <a:xfrm>
            <a:off x="1861456" y="3873345"/>
            <a:ext cx="5448301" cy="2617482"/>
          </a:xfrm>
          <a:prstGeom prst="rect">
            <a:avLst/>
          </a:prstGeom>
        </p:spPr>
      </p:pic>
      <p:pic>
        <p:nvPicPr>
          <p:cNvPr id="8" name="Picture 7"/>
          <p:cNvPicPr>
            <a:picLocks noChangeAspect="1"/>
          </p:cNvPicPr>
          <p:nvPr/>
        </p:nvPicPr>
        <p:blipFill>
          <a:blip r:embed="rId4"/>
          <a:stretch>
            <a:fillRect/>
          </a:stretch>
        </p:blipFill>
        <p:spPr>
          <a:xfrm>
            <a:off x="7837714" y="4353162"/>
            <a:ext cx="3270477" cy="1823801"/>
          </a:xfrm>
          <a:prstGeom prst="rect">
            <a:avLst/>
          </a:prstGeom>
        </p:spPr>
      </p:pic>
      <p:sp>
        <p:nvSpPr>
          <p:cNvPr id="9" name="TextBox 8"/>
          <p:cNvSpPr txBox="1"/>
          <p:nvPr/>
        </p:nvSpPr>
        <p:spPr>
          <a:xfrm>
            <a:off x="7803839" y="3854632"/>
            <a:ext cx="3026229" cy="369332"/>
          </a:xfrm>
          <a:prstGeom prst="rect">
            <a:avLst/>
          </a:prstGeom>
          <a:noFill/>
        </p:spPr>
        <p:txBody>
          <a:bodyPr wrap="square" rtlCol="0">
            <a:spAutoFit/>
          </a:bodyPr>
          <a:lstStyle/>
          <a:p>
            <a:r>
              <a:rPr lang="en-US" dirty="0"/>
              <a:t>Answers Report:</a:t>
            </a:r>
          </a:p>
        </p:txBody>
      </p:sp>
    </p:spTree>
    <p:extLst>
      <p:ext uri="{BB962C8B-B14F-4D97-AF65-F5344CB8AC3E}">
        <p14:creationId xmlns:p14="http://schemas.microsoft.com/office/powerpoint/2010/main" val="294579399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3">
                                            <p:txEl>
                                              <p:pRg st="1" end="1"/>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3">
                                            <p:txEl>
                                              <p:pRg st="3" end="3"/>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5" end="5"/>
                                            </p:txEl>
                                          </p:spTgt>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7"/>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8"/>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p:bld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Single Change in a Constraint</a:t>
            </a:r>
          </a:p>
        </p:txBody>
      </p:sp>
      <p:sp>
        <p:nvSpPr>
          <p:cNvPr id="3" name="Content Placeholder 2"/>
          <p:cNvSpPr>
            <a:spLocks noGrp="1"/>
          </p:cNvSpPr>
          <p:nvPr>
            <p:ph idx="1"/>
          </p:nvPr>
        </p:nvSpPr>
        <p:spPr/>
        <p:txBody>
          <a:bodyPr/>
          <a:lstStyle/>
          <a:p>
            <a:r>
              <a:rPr lang="en-US" b="1" dirty="0" err="1"/>
              <a:t>Wyndor</a:t>
            </a:r>
            <a:r>
              <a:rPr lang="en-US" b="1" dirty="0"/>
              <a:t> Glass Co. Product Mix Problem (revisited)</a:t>
            </a:r>
          </a:p>
          <a:p>
            <a:pPr lvl="1"/>
            <a:r>
              <a:rPr lang="en-US" dirty="0"/>
              <a:t>Available time in Plant 1: 4 hours per week</a:t>
            </a:r>
          </a:p>
          <a:p>
            <a:pPr lvl="1"/>
            <a:r>
              <a:rPr lang="en-US" dirty="0"/>
              <a:t>Available time in Plant 2: 12 hours per week</a:t>
            </a:r>
          </a:p>
          <a:p>
            <a:pPr lvl="1"/>
            <a:r>
              <a:rPr lang="en-US" dirty="0"/>
              <a:t>Available time in Plant 3: 18 hours per week</a:t>
            </a:r>
          </a:p>
          <a:p>
            <a:pPr lvl="1"/>
            <a:r>
              <a:rPr lang="en-US" dirty="0"/>
              <a:t>Optimal solution: 2 doors/week and 6 windows/week</a:t>
            </a:r>
          </a:p>
          <a:p>
            <a:pPr lvl="2"/>
            <a:r>
              <a:rPr lang="en-US" dirty="0"/>
              <a:t>Time used from Plant 1 is 2 hours per week (1*D+0*W=2)</a:t>
            </a:r>
          </a:p>
          <a:p>
            <a:pPr lvl="2"/>
            <a:r>
              <a:rPr lang="en-US" dirty="0"/>
              <a:t>Time used from Plant 2 is 12 hours per week (0*D+2*W=12)</a:t>
            </a:r>
          </a:p>
          <a:p>
            <a:pPr lvl="2"/>
            <a:r>
              <a:rPr lang="en-US" dirty="0"/>
              <a:t>Time used from Plant 3 is 18 hours per week (3*D+2*W=18)</a:t>
            </a:r>
          </a:p>
          <a:p>
            <a:pPr lvl="1"/>
            <a:endParaRPr lang="en-US" dirty="0"/>
          </a:p>
          <a:p>
            <a:pPr lvl="1"/>
            <a:r>
              <a:rPr lang="en-US" dirty="0"/>
              <a:t>What if Plant 2 has more hours available?</a:t>
            </a:r>
          </a:p>
          <a:p>
            <a:pPr lvl="2"/>
            <a:r>
              <a:rPr lang="en-US" dirty="0"/>
              <a:t>More importantly, </a:t>
            </a:r>
          </a:p>
          <a:p>
            <a:pPr lvl="3"/>
            <a:r>
              <a:rPr lang="en-US" dirty="0"/>
              <a:t>How much you would increase your profit by increasing the hours in Plant 2?</a:t>
            </a:r>
          </a:p>
          <a:p>
            <a:pPr lvl="3"/>
            <a:r>
              <a:rPr lang="en-US" dirty="0"/>
              <a:t>How much would you pay to have one additional hour in Plant 2?</a:t>
            </a:r>
          </a:p>
          <a:p>
            <a:pPr lvl="1"/>
            <a:endParaRPr lang="en-US" dirty="0"/>
          </a:p>
        </p:txBody>
      </p:sp>
      <p:pic>
        <p:nvPicPr>
          <p:cNvPr id="8" name="Picture 7"/>
          <p:cNvPicPr>
            <a:picLocks noChangeAspect="1"/>
          </p:cNvPicPr>
          <p:nvPr/>
        </p:nvPicPr>
        <p:blipFill>
          <a:blip r:embed="rId3"/>
          <a:stretch>
            <a:fillRect/>
          </a:stretch>
        </p:blipFill>
        <p:spPr>
          <a:xfrm>
            <a:off x="8562935" y="1485797"/>
            <a:ext cx="3270477" cy="1823801"/>
          </a:xfrm>
          <a:prstGeom prst="rect">
            <a:avLst/>
          </a:prstGeom>
        </p:spPr>
      </p:pic>
    </p:spTree>
    <p:extLst>
      <p:ext uri="{BB962C8B-B14F-4D97-AF65-F5344CB8AC3E}">
        <p14:creationId xmlns:p14="http://schemas.microsoft.com/office/powerpoint/2010/main" val="118275743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9" end="9"/>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3">
                                            <p:txEl>
                                              <p:pRg st="10" end="10"/>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3">
                                            <p:txEl>
                                              <p:pRg st="11" end="11"/>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3">
                                            <p:txEl>
                                              <p:pRg st="12" end="1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Single Change in a Constraint</a:t>
            </a:r>
          </a:p>
        </p:txBody>
      </p:sp>
      <p:sp>
        <p:nvSpPr>
          <p:cNvPr id="3" name="Content Placeholder 2"/>
          <p:cNvSpPr>
            <a:spLocks noGrp="1"/>
          </p:cNvSpPr>
          <p:nvPr>
            <p:ph idx="1"/>
          </p:nvPr>
        </p:nvSpPr>
        <p:spPr/>
        <p:txBody>
          <a:bodyPr/>
          <a:lstStyle/>
          <a:p>
            <a:r>
              <a:rPr lang="en-US" b="1" dirty="0" err="1"/>
              <a:t>Wyndor</a:t>
            </a:r>
            <a:r>
              <a:rPr lang="en-US" b="1" dirty="0"/>
              <a:t> Glass Co. Product Mix Problem (revisited)</a:t>
            </a:r>
          </a:p>
          <a:p>
            <a:pPr lvl="1"/>
            <a:r>
              <a:rPr lang="en-US" dirty="0"/>
              <a:t>When there is a </a:t>
            </a:r>
            <a:r>
              <a:rPr lang="en-US" u="sng" dirty="0"/>
              <a:t>single change </a:t>
            </a:r>
            <a:r>
              <a:rPr lang="en-US" dirty="0"/>
              <a:t>in one constraint, we can re-solve the problem</a:t>
            </a:r>
          </a:p>
          <a:p>
            <a:pPr lvl="1"/>
            <a:endParaRPr lang="en-US" dirty="0"/>
          </a:p>
        </p:txBody>
      </p:sp>
      <p:graphicFrame>
        <p:nvGraphicFramePr>
          <p:cNvPr id="5" name="Object 18"/>
          <p:cNvGraphicFramePr>
            <a:graphicFrameLocks noChangeAspect="1"/>
          </p:cNvGraphicFramePr>
          <p:nvPr>
            <p:extLst>
              <p:ext uri="{D42A27DB-BD31-4B8C-83A1-F6EECF244321}">
                <p14:modId xmlns:p14="http://schemas.microsoft.com/office/powerpoint/2010/main" val="3402609875"/>
              </p:ext>
            </p:extLst>
          </p:nvPr>
        </p:nvGraphicFramePr>
        <p:xfrm>
          <a:off x="1251071" y="2161392"/>
          <a:ext cx="4323220" cy="1381666"/>
        </p:xfrm>
        <a:graphic>
          <a:graphicData uri="http://schemas.openxmlformats.org/presentationml/2006/ole">
            <mc:AlternateContent xmlns:mc="http://schemas.openxmlformats.org/markup-compatibility/2006">
              <mc:Choice xmlns:v="urn:schemas-microsoft-com:vml" Requires="v">
                <p:oleObj name="Worksheet" r:id="rId3" imgW="5823720" imgH="1855800" progId="Excel.Sheet.8">
                  <p:embed/>
                </p:oleObj>
              </mc:Choice>
              <mc:Fallback>
                <p:oleObj name="Worksheet" r:id="rId3" imgW="5823720" imgH="1855800" progId="Excel.Sheet.8">
                  <p:embed/>
                  <p:pic>
                    <p:nvPicPr>
                      <p:cNvPr id="0" name=""/>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251071" y="2161392"/>
                        <a:ext cx="4323220" cy="1381666"/>
                      </a:xfrm>
                      <a:prstGeom prst="rect">
                        <a:avLst/>
                      </a:prstGeom>
                      <a:noFill/>
                      <a:ln>
                        <a:noFill/>
                      </a:ln>
                      <a:effectLst/>
                    </p:spPr>
                  </p:pic>
                </p:oleObj>
              </mc:Fallback>
            </mc:AlternateContent>
          </a:graphicData>
        </a:graphic>
      </p:graphicFrame>
      <p:sp>
        <p:nvSpPr>
          <p:cNvPr id="6" name="Right Brace 5"/>
          <p:cNvSpPr/>
          <p:nvPr/>
        </p:nvSpPr>
        <p:spPr bwMode="auto">
          <a:xfrm>
            <a:off x="5774478" y="2328553"/>
            <a:ext cx="639458" cy="915390"/>
          </a:xfrm>
          <a:prstGeom prst="rightBrace">
            <a:avLst/>
          </a:prstGeom>
          <a:solidFill>
            <a:schemeClr val="bg1"/>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US" sz="2400" b="0" i="0" u="none" strike="noStrike" cap="none" normalizeH="0" baseline="0">
              <a:ln>
                <a:noFill/>
              </a:ln>
              <a:solidFill>
                <a:schemeClr val="tx1"/>
              </a:solidFill>
              <a:effectLst/>
              <a:latin typeface="Arial" charset="0"/>
              <a:ea typeface="ＭＳ Ｐゴシック" pitchFamily="16" charset="-128"/>
            </a:endParaRPr>
          </a:p>
        </p:txBody>
      </p:sp>
      <p:sp>
        <p:nvSpPr>
          <p:cNvPr id="7" name="TextBox 6"/>
          <p:cNvSpPr txBox="1"/>
          <p:nvPr/>
        </p:nvSpPr>
        <p:spPr>
          <a:xfrm>
            <a:off x="6607628" y="2220685"/>
            <a:ext cx="4441371" cy="1200329"/>
          </a:xfrm>
          <a:prstGeom prst="rect">
            <a:avLst/>
          </a:prstGeom>
          <a:noFill/>
        </p:spPr>
        <p:txBody>
          <a:bodyPr wrap="square" rtlCol="0">
            <a:spAutoFit/>
          </a:bodyPr>
          <a:lstStyle/>
          <a:p>
            <a:r>
              <a:rPr lang="en-US" sz="1800" dirty="0">
                <a:solidFill>
                  <a:srgbClr val="FF0000"/>
                </a:solidFill>
              </a:rPr>
              <a:t>Plant 2 time: From 12</a:t>
            </a:r>
            <a:r>
              <a:rPr lang="en-US" sz="1800" dirty="0">
                <a:solidFill>
                  <a:srgbClr val="FF0000"/>
                </a:solidFill>
                <a:sym typeface="Wingdings" panose="05000000000000000000" pitchFamily="2" charset="2"/>
              </a:rPr>
              <a:t>13</a:t>
            </a:r>
            <a:endParaRPr lang="en-US" sz="1800" dirty="0">
              <a:solidFill>
                <a:srgbClr val="FF0000"/>
              </a:solidFill>
            </a:endParaRPr>
          </a:p>
          <a:p>
            <a:r>
              <a:rPr lang="en-US" sz="1800" dirty="0"/>
              <a:t>1 additional hour at Plant 2,  </a:t>
            </a:r>
            <a:r>
              <a:rPr lang="en-US" sz="1800" u="sng" dirty="0"/>
              <a:t>$150 increase </a:t>
            </a:r>
            <a:r>
              <a:rPr lang="en-US" sz="1800" dirty="0"/>
              <a:t>in weekly profit</a:t>
            </a:r>
          </a:p>
          <a:p>
            <a:r>
              <a:rPr lang="en-US" dirty="0"/>
              <a:t>Profit changes from $3600 to $3750</a:t>
            </a:r>
            <a:endParaRPr lang="en-US" sz="1800" dirty="0"/>
          </a:p>
        </p:txBody>
      </p:sp>
      <p:graphicFrame>
        <p:nvGraphicFramePr>
          <p:cNvPr id="9" name="Object 18"/>
          <p:cNvGraphicFramePr>
            <a:graphicFrameLocks noChangeAspect="1"/>
          </p:cNvGraphicFramePr>
          <p:nvPr>
            <p:extLst>
              <p:ext uri="{D42A27DB-BD31-4B8C-83A1-F6EECF244321}">
                <p14:modId xmlns:p14="http://schemas.microsoft.com/office/powerpoint/2010/main" val="753231745"/>
              </p:ext>
            </p:extLst>
          </p:nvPr>
        </p:nvGraphicFramePr>
        <p:xfrm>
          <a:off x="1251071" y="3714168"/>
          <a:ext cx="4323220" cy="1385180"/>
        </p:xfrm>
        <a:graphic>
          <a:graphicData uri="http://schemas.openxmlformats.org/presentationml/2006/ole">
            <mc:AlternateContent xmlns:mc="http://schemas.openxmlformats.org/markup-compatibility/2006">
              <mc:Choice xmlns:v="urn:schemas-microsoft-com:vml" Requires="v">
                <p:oleObj name="Worksheet" r:id="rId5" imgW="5805360" imgH="1855800" progId="Excel.Sheet.8">
                  <p:embed/>
                </p:oleObj>
              </mc:Choice>
              <mc:Fallback>
                <p:oleObj name="Worksheet" r:id="rId5" imgW="5805360" imgH="1855800" progId="Excel.Sheet.8">
                  <p:embed/>
                  <p:pic>
                    <p:nvPicPr>
                      <p:cNvPr id="0" name=""/>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1251071" y="3714168"/>
                        <a:ext cx="4323220" cy="1385180"/>
                      </a:xfrm>
                      <a:prstGeom prst="rect">
                        <a:avLst/>
                      </a:prstGeom>
                      <a:noFill/>
                      <a:ln>
                        <a:noFill/>
                      </a:ln>
                      <a:effectLst/>
                    </p:spPr>
                  </p:pic>
                </p:oleObj>
              </mc:Fallback>
            </mc:AlternateContent>
          </a:graphicData>
        </a:graphic>
      </p:graphicFrame>
      <p:sp>
        <p:nvSpPr>
          <p:cNvPr id="11" name="TextBox 10"/>
          <p:cNvSpPr txBox="1"/>
          <p:nvPr/>
        </p:nvSpPr>
        <p:spPr>
          <a:xfrm>
            <a:off x="6614123" y="3806593"/>
            <a:ext cx="4292237" cy="1200329"/>
          </a:xfrm>
          <a:prstGeom prst="rect">
            <a:avLst/>
          </a:prstGeom>
          <a:noFill/>
        </p:spPr>
        <p:txBody>
          <a:bodyPr wrap="square" rtlCol="0">
            <a:spAutoFit/>
          </a:bodyPr>
          <a:lstStyle/>
          <a:p>
            <a:r>
              <a:rPr lang="en-US" sz="1800" dirty="0">
                <a:solidFill>
                  <a:srgbClr val="FF0000"/>
                </a:solidFill>
              </a:rPr>
              <a:t>Plant 2 time: From 13</a:t>
            </a:r>
            <a:r>
              <a:rPr lang="en-US" sz="1800" dirty="0">
                <a:solidFill>
                  <a:srgbClr val="FF0000"/>
                </a:solidFill>
                <a:sym typeface="Wingdings" panose="05000000000000000000" pitchFamily="2" charset="2"/>
              </a:rPr>
              <a:t>18</a:t>
            </a:r>
            <a:endParaRPr lang="en-US" sz="1800" dirty="0">
              <a:solidFill>
                <a:srgbClr val="FF0000"/>
              </a:solidFill>
            </a:endParaRPr>
          </a:p>
          <a:p>
            <a:r>
              <a:rPr lang="en-US" sz="1800" dirty="0"/>
              <a:t>5 more hours at Plant 2,  </a:t>
            </a:r>
            <a:r>
              <a:rPr lang="en-US" sz="1800" u="sng" dirty="0"/>
              <a:t>$750 increase </a:t>
            </a:r>
            <a:r>
              <a:rPr lang="en-US" sz="1800" dirty="0"/>
              <a:t>in weekly profit, $150 for each added hour</a:t>
            </a:r>
          </a:p>
          <a:p>
            <a:r>
              <a:rPr lang="en-US" dirty="0"/>
              <a:t>Profit changes from $3750 to $4500</a:t>
            </a:r>
            <a:endParaRPr lang="en-US" sz="1800" dirty="0"/>
          </a:p>
        </p:txBody>
      </p:sp>
      <p:graphicFrame>
        <p:nvGraphicFramePr>
          <p:cNvPr id="12" name="Object 18"/>
          <p:cNvGraphicFramePr>
            <a:graphicFrameLocks noChangeAspect="1"/>
          </p:cNvGraphicFramePr>
          <p:nvPr>
            <p:extLst>
              <p:ext uri="{D42A27DB-BD31-4B8C-83A1-F6EECF244321}">
                <p14:modId xmlns:p14="http://schemas.microsoft.com/office/powerpoint/2010/main" val="3917566881"/>
              </p:ext>
            </p:extLst>
          </p:nvPr>
        </p:nvGraphicFramePr>
        <p:xfrm>
          <a:off x="1251071" y="5271073"/>
          <a:ext cx="4294656" cy="1375753"/>
        </p:xfrm>
        <a:graphic>
          <a:graphicData uri="http://schemas.openxmlformats.org/presentationml/2006/ole">
            <mc:AlternateContent xmlns:mc="http://schemas.openxmlformats.org/markup-compatibility/2006">
              <mc:Choice xmlns:v="urn:schemas-microsoft-com:vml" Requires="v">
                <p:oleObj name="Worksheet" r:id="rId7" imgW="5805360" imgH="1855800" progId="Excel.Sheet.8">
                  <p:embed/>
                </p:oleObj>
              </mc:Choice>
              <mc:Fallback>
                <p:oleObj name="Worksheet" r:id="rId7" imgW="5805360" imgH="1855800" progId="Excel.Sheet.8">
                  <p:embed/>
                  <p:pic>
                    <p:nvPicPr>
                      <p:cNvPr id="0" name=""/>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1251071" y="5271073"/>
                        <a:ext cx="4294656" cy="1375753"/>
                      </a:xfrm>
                      <a:prstGeom prst="rect">
                        <a:avLst/>
                      </a:prstGeom>
                      <a:noFill/>
                      <a:ln>
                        <a:noFill/>
                      </a:ln>
                      <a:effectLst/>
                    </p:spPr>
                  </p:pic>
                </p:oleObj>
              </mc:Fallback>
            </mc:AlternateContent>
          </a:graphicData>
        </a:graphic>
      </p:graphicFrame>
      <p:sp>
        <p:nvSpPr>
          <p:cNvPr id="14" name="TextBox 13"/>
          <p:cNvSpPr txBox="1"/>
          <p:nvPr/>
        </p:nvSpPr>
        <p:spPr>
          <a:xfrm>
            <a:off x="6607628" y="5271073"/>
            <a:ext cx="4724400" cy="1200329"/>
          </a:xfrm>
          <a:prstGeom prst="rect">
            <a:avLst/>
          </a:prstGeom>
          <a:noFill/>
        </p:spPr>
        <p:txBody>
          <a:bodyPr wrap="square" rtlCol="0">
            <a:spAutoFit/>
          </a:bodyPr>
          <a:lstStyle/>
          <a:p>
            <a:r>
              <a:rPr lang="en-US" sz="1800" dirty="0">
                <a:solidFill>
                  <a:srgbClr val="FF0000"/>
                </a:solidFill>
              </a:rPr>
              <a:t>Plant 2 </a:t>
            </a:r>
            <a:r>
              <a:rPr lang="en-US" dirty="0">
                <a:solidFill>
                  <a:srgbClr val="FF0000"/>
                </a:solidFill>
              </a:rPr>
              <a:t>t</a:t>
            </a:r>
            <a:r>
              <a:rPr lang="en-US" sz="1800" dirty="0">
                <a:solidFill>
                  <a:srgbClr val="FF0000"/>
                </a:solidFill>
              </a:rPr>
              <a:t>ime: From 18</a:t>
            </a:r>
            <a:r>
              <a:rPr lang="en-US" sz="1800" dirty="0">
                <a:solidFill>
                  <a:srgbClr val="FF0000"/>
                </a:solidFill>
                <a:sym typeface="Wingdings" panose="05000000000000000000" pitchFamily="2" charset="2"/>
              </a:rPr>
              <a:t>20</a:t>
            </a:r>
            <a:endParaRPr lang="en-US" sz="1800" dirty="0">
              <a:solidFill>
                <a:srgbClr val="FF0000"/>
              </a:solidFill>
            </a:endParaRPr>
          </a:p>
          <a:p>
            <a:r>
              <a:rPr lang="en-US" sz="1800" dirty="0"/>
              <a:t>2 more hours at Plant 2,  </a:t>
            </a:r>
            <a:r>
              <a:rPr lang="en-US" sz="1800" u="sng" dirty="0"/>
              <a:t>no change </a:t>
            </a:r>
            <a:r>
              <a:rPr lang="en-US" sz="1800" dirty="0"/>
              <a:t>in the weekly profit</a:t>
            </a:r>
          </a:p>
          <a:p>
            <a:r>
              <a:rPr lang="en-US" dirty="0"/>
              <a:t>Profit stays at $4500</a:t>
            </a:r>
            <a:endParaRPr lang="en-US" sz="1800" dirty="0"/>
          </a:p>
        </p:txBody>
      </p:sp>
      <p:sp>
        <p:nvSpPr>
          <p:cNvPr id="15" name="Right Brace 14"/>
          <p:cNvSpPr/>
          <p:nvPr/>
        </p:nvSpPr>
        <p:spPr bwMode="auto">
          <a:xfrm>
            <a:off x="5774478" y="3949063"/>
            <a:ext cx="639458" cy="915390"/>
          </a:xfrm>
          <a:prstGeom prst="rightBrace">
            <a:avLst/>
          </a:prstGeom>
          <a:solidFill>
            <a:schemeClr val="bg1"/>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US" sz="2400" b="0" i="0" u="none" strike="noStrike" cap="none" normalizeH="0" baseline="0">
              <a:ln>
                <a:noFill/>
              </a:ln>
              <a:solidFill>
                <a:schemeClr val="tx1"/>
              </a:solidFill>
              <a:effectLst/>
              <a:latin typeface="Arial" charset="0"/>
              <a:ea typeface="ＭＳ Ｐゴシック" pitchFamily="16" charset="-128"/>
            </a:endParaRPr>
          </a:p>
        </p:txBody>
      </p:sp>
      <p:sp>
        <p:nvSpPr>
          <p:cNvPr id="16" name="Right Brace 15"/>
          <p:cNvSpPr/>
          <p:nvPr/>
        </p:nvSpPr>
        <p:spPr bwMode="auto">
          <a:xfrm>
            <a:off x="5718849" y="5497285"/>
            <a:ext cx="639458" cy="915390"/>
          </a:xfrm>
          <a:prstGeom prst="rightBrace">
            <a:avLst/>
          </a:prstGeom>
          <a:solidFill>
            <a:schemeClr val="bg1"/>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US" sz="2400" b="0" i="0" u="none" strike="noStrike" cap="none" normalizeH="0" baseline="0">
              <a:ln>
                <a:noFill/>
              </a:ln>
              <a:solidFill>
                <a:schemeClr val="tx1"/>
              </a:solidFill>
              <a:effectLst/>
              <a:latin typeface="Arial" charset="0"/>
              <a:ea typeface="ＭＳ Ｐゴシック" pitchFamily="16" charset="-128"/>
            </a:endParaRPr>
          </a:p>
        </p:txBody>
      </p:sp>
    </p:spTree>
    <p:extLst>
      <p:ext uri="{BB962C8B-B14F-4D97-AF65-F5344CB8AC3E}">
        <p14:creationId xmlns:p14="http://schemas.microsoft.com/office/powerpoint/2010/main" val="102313445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6"/>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7"/>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9"/>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15"/>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11"/>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12"/>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16"/>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1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P spid="7" grpId="0"/>
      <p:bldP spid="11" grpId="0"/>
      <p:bldP spid="14" grpId="0"/>
      <p:bldP spid="15" grpId="0" animBg="1"/>
      <p:bldP spid="16" grpId="0" animBg="1"/>
    </p:bld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Single Change in a Constraint</a:t>
            </a:r>
          </a:p>
        </p:txBody>
      </p:sp>
      <p:sp>
        <p:nvSpPr>
          <p:cNvPr id="3" name="Content Placeholder 2"/>
          <p:cNvSpPr>
            <a:spLocks noGrp="1"/>
          </p:cNvSpPr>
          <p:nvPr>
            <p:ph idx="1"/>
          </p:nvPr>
        </p:nvSpPr>
        <p:spPr/>
        <p:txBody>
          <a:bodyPr/>
          <a:lstStyle/>
          <a:p>
            <a:r>
              <a:rPr lang="en-US" b="1" dirty="0" err="1"/>
              <a:t>Wyndor</a:t>
            </a:r>
            <a:r>
              <a:rPr lang="en-US" b="1" dirty="0"/>
              <a:t> Glass Co. Product Mix Problem (revisited)</a:t>
            </a:r>
          </a:p>
          <a:p>
            <a:pPr lvl="1"/>
            <a:r>
              <a:rPr lang="en-US" dirty="0"/>
              <a:t>One option, therefore, is to re-solve the problem with the new values</a:t>
            </a:r>
          </a:p>
          <a:p>
            <a:pPr lvl="1"/>
            <a:endParaRPr lang="en-US" dirty="0"/>
          </a:p>
          <a:p>
            <a:pPr lvl="1"/>
            <a:endParaRPr lang="en-US" dirty="0"/>
          </a:p>
          <a:p>
            <a:pPr lvl="1"/>
            <a:endParaRPr lang="en-US" dirty="0"/>
          </a:p>
          <a:p>
            <a:pPr lvl="1"/>
            <a:endParaRPr lang="en-US" dirty="0"/>
          </a:p>
          <a:p>
            <a:pPr lvl="1"/>
            <a:endParaRPr lang="en-US" dirty="0"/>
          </a:p>
          <a:p>
            <a:pPr lvl="1"/>
            <a:endParaRPr lang="en-US" dirty="0"/>
          </a:p>
          <a:p>
            <a:pPr lvl="1"/>
            <a:r>
              <a:rPr lang="en-US" dirty="0"/>
              <a:t>We can use the Sensitivity Report</a:t>
            </a:r>
          </a:p>
        </p:txBody>
      </p:sp>
      <p:sp>
        <p:nvSpPr>
          <p:cNvPr id="4" name="TextBox 3"/>
          <p:cNvSpPr txBox="1"/>
          <p:nvPr/>
        </p:nvSpPr>
        <p:spPr>
          <a:xfrm>
            <a:off x="5638799" y="2289499"/>
            <a:ext cx="6553201" cy="1200329"/>
          </a:xfrm>
          <a:prstGeom prst="rect">
            <a:avLst/>
          </a:prstGeom>
          <a:noFill/>
        </p:spPr>
        <p:txBody>
          <a:bodyPr wrap="square" rtlCol="0">
            <a:spAutoFit/>
          </a:bodyPr>
          <a:lstStyle/>
          <a:p>
            <a:r>
              <a:rPr lang="en-US" dirty="0"/>
              <a:t>But, this is not so practical</a:t>
            </a:r>
          </a:p>
          <a:p>
            <a:pPr marL="285750" indent="-285750">
              <a:buFont typeface="Arial" panose="020B0604020202020204" pitchFamily="34" charset="0"/>
              <a:buChar char="•"/>
            </a:pPr>
            <a:r>
              <a:rPr lang="en-US" dirty="0"/>
              <a:t>For small changes, we might need to solve too many problems</a:t>
            </a:r>
          </a:p>
          <a:p>
            <a:pPr marL="285750" indent="-285750">
              <a:buFont typeface="Arial" panose="020B0604020202020204" pitchFamily="34" charset="0"/>
              <a:buChar char="•"/>
            </a:pPr>
            <a:r>
              <a:rPr lang="en-US" dirty="0"/>
              <a:t>And it takes time to solve large problems!</a:t>
            </a:r>
          </a:p>
          <a:p>
            <a:pPr marL="285750" indent="-285750">
              <a:buFont typeface="Arial" panose="020B0604020202020204" pitchFamily="34" charset="0"/>
              <a:buChar char="•"/>
            </a:pPr>
            <a:r>
              <a:rPr lang="en-US" dirty="0"/>
              <a:t>And we would not know when to stop!</a:t>
            </a:r>
          </a:p>
        </p:txBody>
      </p:sp>
      <p:pic>
        <p:nvPicPr>
          <p:cNvPr id="16" name="Picture 15"/>
          <p:cNvPicPr>
            <a:picLocks noChangeAspect="1"/>
          </p:cNvPicPr>
          <p:nvPr/>
        </p:nvPicPr>
        <p:blipFill>
          <a:blip r:embed="rId3"/>
          <a:stretch>
            <a:fillRect/>
          </a:stretch>
        </p:blipFill>
        <p:spPr>
          <a:xfrm>
            <a:off x="6224586" y="4191543"/>
            <a:ext cx="5381625" cy="2219325"/>
          </a:xfrm>
          <a:prstGeom prst="rect">
            <a:avLst/>
          </a:prstGeom>
        </p:spPr>
      </p:pic>
      <p:sp>
        <p:nvSpPr>
          <p:cNvPr id="8" name="Rounded Rectangle 7"/>
          <p:cNvSpPr/>
          <p:nvPr/>
        </p:nvSpPr>
        <p:spPr>
          <a:xfrm>
            <a:off x="6159519" y="5209675"/>
            <a:ext cx="5499554" cy="1201193"/>
          </a:xfrm>
          <a:prstGeom prst="roundRect">
            <a:avLst/>
          </a:prstGeom>
          <a:noFill/>
          <a:ln w="28575">
            <a:solidFill>
              <a:srgbClr val="FFC000"/>
            </a:solidFill>
          </a:ln>
        </p:spPr>
        <p:style>
          <a:lnRef idx="2">
            <a:schemeClr val="accent4"/>
          </a:lnRef>
          <a:fillRef idx="1">
            <a:schemeClr val="lt1"/>
          </a:fillRef>
          <a:effectRef idx="0">
            <a:schemeClr val="accent4"/>
          </a:effectRef>
          <a:fontRef idx="minor">
            <a:schemeClr val="dk1"/>
          </a:fontRef>
        </p:style>
        <p:txBody>
          <a:bodyPr rtlCol="0" anchor="ctr"/>
          <a:lstStyle/>
          <a:p>
            <a:pPr algn="ctr"/>
            <a:endParaRPr lang="en-US"/>
          </a:p>
        </p:txBody>
      </p:sp>
      <p:sp>
        <p:nvSpPr>
          <p:cNvPr id="17" name="TextBox 16"/>
          <p:cNvSpPr txBox="1"/>
          <p:nvPr/>
        </p:nvSpPr>
        <p:spPr>
          <a:xfrm>
            <a:off x="1640609" y="5355764"/>
            <a:ext cx="3298371" cy="646331"/>
          </a:xfrm>
          <a:prstGeom prst="rect">
            <a:avLst/>
          </a:prstGeom>
          <a:noFill/>
        </p:spPr>
        <p:txBody>
          <a:bodyPr wrap="square" rtlCol="0">
            <a:spAutoFit/>
          </a:bodyPr>
          <a:lstStyle/>
          <a:p>
            <a:pPr algn="ctr"/>
            <a:r>
              <a:rPr lang="en-US" dirty="0"/>
              <a:t>The lower section is about the changes in the constraints</a:t>
            </a:r>
          </a:p>
        </p:txBody>
      </p:sp>
      <p:cxnSp>
        <p:nvCxnSpPr>
          <p:cNvPr id="19" name="Curved Connector 18"/>
          <p:cNvCxnSpPr>
            <a:stCxn id="8" idx="1"/>
            <a:endCxn id="17" idx="3"/>
          </p:cNvCxnSpPr>
          <p:nvPr/>
        </p:nvCxnSpPr>
        <p:spPr>
          <a:xfrm rot="10800000">
            <a:off x="4938981" y="5678930"/>
            <a:ext cx="1220539" cy="131342"/>
          </a:xfrm>
          <a:prstGeom prst="curvedConnector3">
            <a:avLst>
              <a:gd name="adj1" fmla="val 50000"/>
            </a:avLst>
          </a:prstGeom>
          <a:ln w="38100">
            <a:tailEnd type="triangle"/>
          </a:ln>
        </p:spPr>
        <p:style>
          <a:lnRef idx="1">
            <a:schemeClr val="accent4"/>
          </a:lnRef>
          <a:fillRef idx="0">
            <a:schemeClr val="accent4"/>
          </a:fillRef>
          <a:effectRef idx="0">
            <a:schemeClr val="accent4"/>
          </a:effectRef>
          <a:fontRef idx="minor">
            <a:schemeClr val="tx1"/>
          </a:fontRef>
        </p:style>
      </p:cxnSp>
      <p:pic>
        <p:nvPicPr>
          <p:cNvPr id="10" name="Picture 1" descr="Hillier_5e_f5.20.tif"/>
          <p:cNvPicPr>
            <a:picLocks noChangeAspect="1"/>
          </p:cNvPicPr>
          <p:nvPr/>
        </p:nvPicPr>
        <p:blipFill>
          <a:blip r:embed="rId4">
            <a:extLst>
              <a:ext uri="{28A0092B-C50C-407E-A947-70E740481C1C}">
                <a14:useLocalDpi xmlns:a14="http://schemas.microsoft.com/office/drawing/2010/main" val="0"/>
              </a:ext>
            </a:extLst>
          </a:blip>
          <a:srcRect/>
          <a:stretch>
            <a:fillRect/>
          </a:stretch>
        </p:blipFill>
        <p:spPr bwMode="auto">
          <a:xfrm>
            <a:off x="1338943" y="2289499"/>
            <a:ext cx="4121073" cy="20891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24463902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8" end="8"/>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16"/>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8"/>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19"/>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1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animBg="1"/>
      <p:bldP spid="17" grpId="0"/>
    </p:bld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Single Change in a Constraint</a:t>
            </a:r>
          </a:p>
        </p:txBody>
      </p:sp>
      <p:sp>
        <p:nvSpPr>
          <p:cNvPr id="3" name="Content Placeholder 2"/>
          <p:cNvSpPr>
            <a:spLocks noGrp="1"/>
          </p:cNvSpPr>
          <p:nvPr>
            <p:ph idx="1"/>
          </p:nvPr>
        </p:nvSpPr>
        <p:spPr/>
        <p:txBody>
          <a:bodyPr/>
          <a:lstStyle/>
          <a:p>
            <a:r>
              <a:rPr lang="en-US" b="1" dirty="0" err="1"/>
              <a:t>Wyndor</a:t>
            </a:r>
            <a:r>
              <a:rPr lang="en-US" b="1" dirty="0"/>
              <a:t> Glass Co. Product Mix Problem (revisited): Sensitivity Report</a:t>
            </a:r>
          </a:p>
        </p:txBody>
      </p:sp>
      <p:sp>
        <p:nvSpPr>
          <p:cNvPr id="13" name="Left Brace 12"/>
          <p:cNvSpPr/>
          <p:nvPr/>
        </p:nvSpPr>
        <p:spPr bwMode="auto">
          <a:xfrm rot="16200000">
            <a:off x="8248235" y="1787645"/>
            <a:ext cx="762000" cy="6408359"/>
          </a:xfrm>
          <a:prstGeom prst="leftBrace">
            <a:avLst/>
          </a:prstGeom>
          <a:ln>
            <a:headEnd type="none" w="med" len="med"/>
            <a:tailEnd type="none" w="med" len="med"/>
          </a:ln>
        </p:spPr>
        <p:style>
          <a:lnRef idx="3">
            <a:schemeClr val="accent2"/>
          </a:lnRef>
          <a:fillRef idx="0">
            <a:schemeClr val="accent2"/>
          </a:fillRef>
          <a:effectRef idx="2">
            <a:schemeClr val="accent2"/>
          </a:effectRef>
          <a:fontRef idx="minor">
            <a:schemeClr val="tx1"/>
          </a:fontRef>
        </p:style>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US" sz="2400" b="0" i="0" u="none" strike="noStrike" cap="none" normalizeH="0" baseline="0">
              <a:ln>
                <a:noFill/>
              </a:ln>
              <a:solidFill>
                <a:schemeClr val="tx1"/>
              </a:solidFill>
              <a:effectLst/>
              <a:latin typeface="Arial" charset="0"/>
              <a:ea typeface="ＭＳ Ｐゴシック" pitchFamily="16" charset="-128"/>
            </a:endParaRPr>
          </a:p>
        </p:txBody>
      </p:sp>
      <p:sp>
        <p:nvSpPr>
          <p:cNvPr id="14" name="TextBox 13"/>
          <p:cNvSpPr txBox="1"/>
          <p:nvPr/>
        </p:nvSpPr>
        <p:spPr>
          <a:xfrm>
            <a:off x="6114635" y="5354380"/>
            <a:ext cx="5029199" cy="1384995"/>
          </a:xfrm>
          <a:prstGeom prst="rect">
            <a:avLst/>
          </a:prstGeom>
          <a:noFill/>
        </p:spPr>
        <p:txBody>
          <a:bodyPr wrap="square" rtlCol="0">
            <a:spAutoFit/>
          </a:bodyPr>
          <a:lstStyle/>
          <a:p>
            <a:pPr algn="ctr"/>
            <a:r>
              <a:rPr lang="en-US" sz="3200" dirty="0"/>
              <a:t>So that the shadow price will not change</a:t>
            </a:r>
          </a:p>
          <a:p>
            <a:pPr algn="ctr"/>
            <a:r>
              <a:rPr lang="en-US" sz="2000" dirty="0">
                <a:solidFill>
                  <a:srgbClr val="C00000"/>
                </a:solidFill>
              </a:rPr>
              <a:t>(when there is a single change)</a:t>
            </a:r>
            <a:endParaRPr lang="en-US" sz="3200" dirty="0"/>
          </a:p>
        </p:txBody>
      </p:sp>
      <p:pic>
        <p:nvPicPr>
          <p:cNvPr id="4" name="Picture 3"/>
          <p:cNvPicPr>
            <a:picLocks noChangeAspect="1"/>
          </p:cNvPicPr>
          <p:nvPr/>
        </p:nvPicPr>
        <p:blipFill>
          <a:blip r:embed="rId3"/>
          <a:stretch>
            <a:fillRect/>
          </a:stretch>
        </p:blipFill>
        <p:spPr>
          <a:xfrm>
            <a:off x="2239121" y="1652438"/>
            <a:ext cx="7532667" cy="1397921"/>
          </a:xfrm>
          <a:prstGeom prst="rect">
            <a:avLst/>
          </a:prstGeom>
        </p:spPr>
      </p:pic>
      <p:sp>
        <p:nvSpPr>
          <p:cNvPr id="11" name="Rounded Rectangular Callout 10"/>
          <p:cNvSpPr/>
          <p:nvPr/>
        </p:nvSpPr>
        <p:spPr bwMode="auto">
          <a:xfrm>
            <a:off x="5562600" y="3570514"/>
            <a:ext cx="3026229" cy="1240972"/>
          </a:xfrm>
          <a:prstGeom prst="wedgeRoundRectCallout">
            <a:avLst>
              <a:gd name="adj1" fmla="val 29639"/>
              <a:gd name="adj2" fmla="val -158233"/>
              <a:gd name="adj3" fmla="val 16667"/>
            </a:avLst>
          </a:prstGeom>
          <a:noFill/>
          <a:ln w="9525" cap="flat" cmpd="sng" algn="ctr">
            <a:solidFill>
              <a:srgbClr val="C00000"/>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ctr" defTabSz="914400" rtl="0" eaLnBrk="0" fontAlgn="base" latinLnBrk="0" hangingPunct="0">
              <a:lnSpc>
                <a:spcPct val="100000"/>
              </a:lnSpc>
              <a:spcBef>
                <a:spcPct val="0"/>
              </a:spcBef>
              <a:spcAft>
                <a:spcPct val="0"/>
              </a:spcAft>
              <a:buClrTx/>
              <a:buSzTx/>
              <a:buFontTx/>
              <a:buNone/>
              <a:tabLst/>
            </a:pPr>
            <a:r>
              <a:rPr kumimoji="0" lang="en-US" sz="2400" b="0" i="0" u="none" strike="noStrike" cap="none" normalizeH="0" baseline="0" dirty="0">
                <a:ln>
                  <a:noFill/>
                </a:ln>
                <a:solidFill>
                  <a:srgbClr val="C00000"/>
                </a:solidFill>
                <a:effectLst/>
                <a:latin typeface="Arial" charset="0"/>
                <a:ea typeface="ＭＳ Ｐゴシック" pitchFamily="16" charset="-128"/>
              </a:rPr>
              <a:t>How much you can increase the right-hand side value</a:t>
            </a:r>
          </a:p>
        </p:txBody>
      </p:sp>
      <p:sp>
        <p:nvSpPr>
          <p:cNvPr id="12" name="Rounded Rectangular Callout 11"/>
          <p:cNvSpPr/>
          <p:nvPr/>
        </p:nvSpPr>
        <p:spPr bwMode="auto">
          <a:xfrm>
            <a:off x="8848930" y="3559628"/>
            <a:ext cx="2903672" cy="1240972"/>
          </a:xfrm>
          <a:prstGeom prst="wedgeRoundRectCallout">
            <a:avLst>
              <a:gd name="adj1" fmla="val -40895"/>
              <a:gd name="adj2" fmla="val -150558"/>
              <a:gd name="adj3" fmla="val 16667"/>
            </a:avLst>
          </a:prstGeom>
          <a:noFill/>
          <a:ln w="9525" cap="flat" cmpd="sng" algn="ctr">
            <a:solidFill>
              <a:srgbClr val="C00000"/>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ctr" defTabSz="914400" rtl="0" eaLnBrk="0" fontAlgn="base" latinLnBrk="0" hangingPunct="0">
              <a:lnSpc>
                <a:spcPct val="100000"/>
              </a:lnSpc>
              <a:spcBef>
                <a:spcPct val="0"/>
              </a:spcBef>
              <a:spcAft>
                <a:spcPct val="0"/>
              </a:spcAft>
              <a:buClrTx/>
              <a:buSzTx/>
              <a:buFontTx/>
              <a:buNone/>
              <a:tabLst/>
            </a:pPr>
            <a:r>
              <a:rPr kumimoji="0" lang="en-US" sz="2400" b="0" i="0" u="none" strike="noStrike" cap="none" normalizeH="0" baseline="0" dirty="0">
                <a:ln>
                  <a:noFill/>
                </a:ln>
                <a:solidFill>
                  <a:srgbClr val="C00000"/>
                </a:solidFill>
                <a:effectLst/>
                <a:latin typeface="Arial" charset="0"/>
                <a:ea typeface="ＭＳ Ｐゴシック" pitchFamily="16" charset="-128"/>
              </a:rPr>
              <a:t>How much you can decrease the right-hand side value</a:t>
            </a:r>
          </a:p>
        </p:txBody>
      </p:sp>
      <p:sp>
        <p:nvSpPr>
          <p:cNvPr id="16" name="TextBox 15"/>
          <p:cNvSpPr txBox="1"/>
          <p:nvPr/>
        </p:nvSpPr>
        <p:spPr>
          <a:xfrm>
            <a:off x="619845" y="3283664"/>
            <a:ext cx="4442012" cy="2862322"/>
          </a:xfrm>
          <a:prstGeom prst="rect">
            <a:avLst/>
          </a:prstGeom>
          <a:noFill/>
        </p:spPr>
        <p:txBody>
          <a:bodyPr wrap="square" rtlCol="0">
            <a:spAutoFit/>
          </a:bodyPr>
          <a:lstStyle/>
          <a:p>
            <a:r>
              <a:rPr lang="en-US" u="sng" dirty="0"/>
              <a:t>Recall:</a:t>
            </a:r>
          </a:p>
          <a:p>
            <a:pPr marL="285750" indent="-285750">
              <a:buFont typeface="Arial" panose="020B0604020202020204" pitchFamily="34" charset="0"/>
              <a:buChar char="•"/>
            </a:pPr>
            <a:r>
              <a:rPr lang="en-US" b="1" dirty="0">
                <a:solidFill>
                  <a:schemeClr val="accent5"/>
                </a:solidFill>
              </a:rPr>
              <a:t>Final Value </a:t>
            </a:r>
            <a:r>
              <a:rPr lang="en-US" dirty="0"/>
              <a:t>is the final value left-side of the constraint</a:t>
            </a:r>
          </a:p>
          <a:p>
            <a:pPr marL="285750" indent="-285750">
              <a:buFont typeface="Arial" panose="020B0604020202020204" pitchFamily="34" charset="0"/>
              <a:buChar char="•"/>
            </a:pPr>
            <a:r>
              <a:rPr lang="en-US" b="1" dirty="0">
                <a:solidFill>
                  <a:schemeClr val="accent5"/>
                </a:solidFill>
              </a:rPr>
              <a:t>Constraint R.H. Side </a:t>
            </a:r>
            <a:r>
              <a:rPr lang="en-US" dirty="0"/>
              <a:t>is the right-hand side constants for the constraints</a:t>
            </a:r>
          </a:p>
          <a:p>
            <a:pPr marL="285750" indent="-285750">
              <a:buFont typeface="Arial" panose="020B0604020202020204" pitchFamily="34" charset="0"/>
              <a:buChar char="•"/>
            </a:pPr>
            <a:r>
              <a:rPr lang="en-US" b="1" dirty="0">
                <a:solidFill>
                  <a:schemeClr val="accent5"/>
                </a:solidFill>
              </a:rPr>
              <a:t>Shadow Price</a:t>
            </a:r>
            <a:r>
              <a:rPr lang="en-US" b="1" dirty="0"/>
              <a:t> </a:t>
            </a:r>
            <a:r>
              <a:rPr lang="en-US" dirty="0"/>
              <a:t>is how much the objective function value would change by increasing (if possible) the constraint right-side by one unit from the current values</a:t>
            </a:r>
          </a:p>
          <a:p>
            <a:pPr marL="285750" indent="-285750">
              <a:buFont typeface="Arial" panose="020B0604020202020204" pitchFamily="34" charset="0"/>
              <a:buChar char="•"/>
            </a:pPr>
            <a:endParaRPr lang="en-US" dirty="0"/>
          </a:p>
        </p:txBody>
      </p:sp>
    </p:spTree>
    <p:extLst>
      <p:ext uri="{BB962C8B-B14F-4D97-AF65-F5344CB8AC3E}">
        <p14:creationId xmlns:p14="http://schemas.microsoft.com/office/powerpoint/2010/main" val="192476099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1"/>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12"/>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13"/>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1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 grpId="0" animBg="1"/>
      <p:bldP spid="14" grpId="0"/>
      <p:bldP spid="11" grpId="0" animBg="1"/>
      <p:bldP spid="12" grpId="0" animBg="1"/>
    </p:bld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Single Change in a Constraint</a:t>
            </a:r>
          </a:p>
        </p:txBody>
      </p:sp>
      <p:sp>
        <p:nvSpPr>
          <p:cNvPr id="3" name="Content Placeholder 2"/>
          <p:cNvSpPr>
            <a:spLocks noGrp="1"/>
          </p:cNvSpPr>
          <p:nvPr>
            <p:ph idx="1"/>
          </p:nvPr>
        </p:nvSpPr>
        <p:spPr/>
        <p:txBody>
          <a:bodyPr/>
          <a:lstStyle/>
          <a:p>
            <a:r>
              <a:rPr lang="en-US" b="1" dirty="0"/>
              <a:t>Shadow Price:</a:t>
            </a:r>
          </a:p>
          <a:p>
            <a:endParaRPr lang="en-US" b="1" dirty="0"/>
          </a:p>
          <a:p>
            <a:endParaRPr lang="en-US" b="1" dirty="0"/>
          </a:p>
          <a:p>
            <a:endParaRPr lang="en-US" b="1" dirty="0"/>
          </a:p>
          <a:p>
            <a:pPr lvl="1"/>
            <a:r>
              <a:rPr lang="en-US" b="1" dirty="0">
                <a:solidFill>
                  <a:schemeClr val="accent5"/>
                </a:solidFill>
              </a:rPr>
              <a:t>Shadow price: </a:t>
            </a:r>
            <a:r>
              <a:rPr lang="en-US" dirty="0"/>
              <a:t>Given an optimal solution and the corresponding value of the objective function for a linear programming model, the </a:t>
            </a:r>
            <a:r>
              <a:rPr lang="en-US" dirty="0">
                <a:solidFill>
                  <a:srgbClr val="FF0000"/>
                </a:solidFill>
              </a:rPr>
              <a:t>shadow price </a:t>
            </a:r>
            <a:r>
              <a:rPr lang="en-US" dirty="0"/>
              <a:t>for a functional constraint is the rate at which the value of the objective function changes by 1 unit change on the right-hand-side</a:t>
            </a:r>
          </a:p>
          <a:p>
            <a:pPr lvl="2"/>
            <a:r>
              <a:rPr lang="en-US" dirty="0"/>
              <a:t>In short, it is the current marginal value of the constraint right-hand-side</a:t>
            </a:r>
          </a:p>
          <a:p>
            <a:pPr lvl="1"/>
            <a:r>
              <a:rPr lang="en-US" dirty="0"/>
              <a:t>For instance, current shadow price for Plant 1 time availability is 0</a:t>
            </a:r>
          </a:p>
          <a:p>
            <a:pPr lvl="2"/>
            <a:r>
              <a:rPr lang="en-US" dirty="0"/>
              <a:t>We currently have 4 hours available in Plant 1 and we are using only 2 hours from Plant 1 at the current optimal solution</a:t>
            </a:r>
          </a:p>
          <a:p>
            <a:pPr lvl="2"/>
            <a:r>
              <a:rPr lang="en-US" dirty="0"/>
              <a:t>Adding one more hour to Plant 1 has no benefit (or removing 1 hour from Plant 1 has no harm)</a:t>
            </a:r>
          </a:p>
          <a:p>
            <a:pPr lvl="3"/>
            <a:r>
              <a:rPr lang="en-US" dirty="0"/>
              <a:t>We are already not using what we have, so one additional hour would not improve the profit</a:t>
            </a:r>
          </a:p>
          <a:p>
            <a:pPr lvl="1"/>
            <a:endParaRPr lang="en-US" b="1" dirty="0"/>
          </a:p>
          <a:p>
            <a:endParaRPr lang="en-US" b="1" dirty="0"/>
          </a:p>
        </p:txBody>
      </p:sp>
      <p:pic>
        <p:nvPicPr>
          <p:cNvPr id="4" name="Picture 3"/>
          <p:cNvPicPr>
            <a:picLocks noChangeAspect="1"/>
          </p:cNvPicPr>
          <p:nvPr/>
        </p:nvPicPr>
        <p:blipFill>
          <a:blip r:embed="rId3"/>
          <a:stretch>
            <a:fillRect/>
          </a:stretch>
        </p:blipFill>
        <p:spPr>
          <a:xfrm>
            <a:off x="2239121" y="1652438"/>
            <a:ext cx="7532667" cy="1397921"/>
          </a:xfrm>
          <a:prstGeom prst="rect">
            <a:avLst/>
          </a:prstGeom>
        </p:spPr>
      </p:pic>
      <p:sp>
        <p:nvSpPr>
          <p:cNvPr id="6" name="Rounded Rectangle 5"/>
          <p:cNvSpPr/>
          <p:nvPr/>
        </p:nvSpPr>
        <p:spPr>
          <a:xfrm>
            <a:off x="5747657" y="1796143"/>
            <a:ext cx="805543" cy="1393371"/>
          </a:xfrm>
          <a:prstGeom prst="roundRect">
            <a:avLst/>
          </a:prstGeom>
          <a:noFill/>
          <a:ln w="381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95121176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4" end="4"/>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3">
                                            <p:txEl>
                                              <p:pRg st="6" end="6"/>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3">
                                            <p:txEl>
                                              <p:pRg st="7" end="7"/>
                                            </p:txEl>
                                          </p:spTgt>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3">
                                            <p:txEl>
                                              <p:pRg st="8" end="8"/>
                                            </p:txEl>
                                          </p:spTgt>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3">
                                            <p:txEl>
                                              <p:pRg st="9" end="9"/>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Single Change in a Constraint</a:t>
            </a:r>
          </a:p>
        </p:txBody>
      </p:sp>
      <p:sp>
        <p:nvSpPr>
          <p:cNvPr id="3" name="Content Placeholder 2"/>
          <p:cNvSpPr>
            <a:spLocks noGrp="1"/>
          </p:cNvSpPr>
          <p:nvPr>
            <p:ph idx="1"/>
          </p:nvPr>
        </p:nvSpPr>
        <p:spPr/>
        <p:txBody>
          <a:bodyPr/>
          <a:lstStyle/>
          <a:p>
            <a:r>
              <a:rPr lang="en-US" b="1" dirty="0" err="1"/>
              <a:t>Wyndor</a:t>
            </a:r>
            <a:r>
              <a:rPr lang="en-US" b="1" dirty="0"/>
              <a:t> Glass Co. Product Mix Problem (revisited): Sensitivity Report</a:t>
            </a:r>
          </a:p>
          <a:p>
            <a:endParaRPr lang="en-US" b="1" dirty="0"/>
          </a:p>
          <a:p>
            <a:endParaRPr lang="en-US" b="1" dirty="0"/>
          </a:p>
          <a:p>
            <a:pPr lvl="1"/>
            <a:endParaRPr lang="en-US" dirty="0"/>
          </a:p>
          <a:p>
            <a:pPr lvl="1"/>
            <a:r>
              <a:rPr lang="en-US" dirty="0"/>
              <a:t>Allowable Increase and Allowable Decrease define the range of the constraint right-hand side so that the shadow price will not change (when there is a single change)</a:t>
            </a:r>
          </a:p>
          <a:p>
            <a:pPr lvl="2"/>
            <a:r>
              <a:rPr lang="en-US" dirty="0"/>
              <a:t>They do not tell anything for the optimal solution</a:t>
            </a:r>
          </a:p>
          <a:p>
            <a:pPr lvl="2"/>
            <a:r>
              <a:rPr lang="en-US" dirty="0"/>
              <a:t>Shadow Price for Plant 1 time availability: 0</a:t>
            </a:r>
          </a:p>
          <a:p>
            <a:pPr lvl="2"/>
            <a:r>
              <a:rPr lang="en-US" dirty="0"/>
              <a:t>If we </a:t>
            </a:r>
            <a:r>
              <a:rPr lang="en-US" u="sng" dirty="0"/>
              <a:t>increase</a:t>
            </a:r>
            <a:r>
              <a:rPr lang="en-US" dirty="0"/>
              <a:t> Plant 1 time</a:t>
            </a:r>
          </a:p>
          <a:p>
            <a:pPr lvl="3"/>
            <a:r>
              <a:rPr lang="en-US" dirty="0"/>
              <a:t>from 4 to 5, weekly profit will not change because shadow price is 0</a:t>
            </a:r>
          </a:p>
          <a:p>
            <a:pPr lvl="3"/>
            <a:r>
              <a:rPr lang="en-US" dirty="0"/>
              <a:t>Its shadow price will still be 0 since there is 5-4=1 unit increase, which is within allowable increase</a:t>
            </a:r>
          </a:p>
          <a:p>
            <a:pPr lvl="3"/>
            <a:r>
              <a:rPr lang="en-US" dirty="0"/>
              <a:t>Therefore, if we further increase Plant 1 time from 5 to 6, weekly profit will increase by $0 and shadow price will be the same</a:t>
            </a:r>
          </a:p>
          <a:p>
            <a:pPr lvl="2"/>
            <a:endParaRPr lang="en-US" dirty="0"/>
          </a:p>
        </p:txBody>
      </p:sp>
      <p:pic>
        <p:nvPicPr>
          <p:cNvPr id="4" name="Picture 3"/>
          <p:cNvPicPr>
            <a:picLocks noChangeAspect="1"/>
          </p:cNvPicPr>
          <p:nvPr/>
        </p:nvPicPr>
        <p:blipFill>
          <a:blip r:embed="rId3"/>
          <a:stretch>
            <a:fillRect/>
          </a:stretch>
        </p:blipFill>
        <p:spPr>
          <a:xfrm>
            <a:off x="2525486" y="1652438"/>
            <a:ext cx="7246302" cy="1344777"/>
          </a:xfrm>
          <a:prstGeom prst="rect">
            <a:avLst/>
          </a:prstGeom>
        </p:spPr>
      </p:pic>
      <p:sp>
        <p:nvSpPr>
          <p:cNvPr id="10" name="Rounded Rectangle 9"/>
          <p:cNvSpPr/>
          <p:nvPr/>
        </p:nvSpPr>
        <p:spPr>
          <a:xfrm>
            <a:off x="7630885" y="1764566"/>
            <a:ext cx="2046515" cy="1232650"/>
          </a:xfrm>
          <a:prstGeom prst="roundRect">
            <a:avLst/>
          </a:prstGeom>
          <a:noFill/>
          <a:ln w="381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411643385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6" end="6"/>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3">
                                            <p:txEl>
                                              <p:pRg st="7" end="7"/>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3">
                                            <p:txEl>
                                              <p:pRg st="8" end="8"/>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3">
                                            <p:txEl>
                                              <p:pRg st="9" end="9"/>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3">
                                            <p:txEl>
                                              <p:pRg st="10" end="1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Single Change in a Constraint</a:t>
            </a:r>
          </a:p>
        </p:txBody>
      </p:sp>
      <p:sp>
        <p:nvSpPr>
          <p:cNvPr id="3" name="Content Placeholder 2"/>
          <p:cNvSpPr>
            <a:spLocks noGrp="1"/>
          </p:cNvSpPr>
          <p:nvPr>
            <p:ph idx="1"/>
          </p:nvPr>
        </p:nvSpPr>
        <p:spPr/>
        <p:txBody>
          <a:bodyPr/>
          <a:lstStyle/>
          <a:p>
            <a:r>
              <a:rPr lang="en-US" b="1" dirty="0" err="1"/>
              <a:t>Wyndor</a:t>
            </a:r>
            <a:r>
              <a:rPr lang="en-US" b="1" dirty="0"/>
              <a:t> Glass Co. Product Mix Problem (revisited): Sensitivity Report</a:t>
            </a:r>
          </a:p>
          <a:p>
            <a:endParaRPr lang="en-US" b="1" dirty="0"/>
          </a:p>
          <a:p>
            <a:endParaRPr lang="en-US" b="1" dirty="0"/>
          </a:p>
          <a:p>
            <a:pPr lvl="1"/>
            <a:endParaRPr lang="en-US" dirty="0"/>
          </a:p>
          <a:p>
            <a:pPr lvl="1"/>
            <a:r>
              <a:rPr lang="en-US" dirty="0"/>
              <a:t>Allowable Increase and Allowable Decrease define the range of the constraint right-hand side so that the shadow price will not change (when there is a single change)</a:t>
            </a:r>
          </a:p>
          <a:p>
            <a:pPr lvl="2"/>
            <a:r>
              <a:rPr lang="en-US" dirty="0"/>
              <a:t>Shadow Price for Plant 1 time availability: 0</a:t>
            </a:r>
          </a:p>
          <a:p>
            <a:pPr lvl="2"/>
            <a:r>
              <a:rPr lang="en-US" dirty="0"/>
              <a:t>If we </a:t>
            </a:r>
            <a:r>
              <a:rPr lang="en-US" u="sng" dirty="0"/>
              <a:t>decrease</a:t>
            </a:r>
            <a:r>
              <a:rPr lang="en-US" dirty="0"/>
              <a:t> Plant 1 time</a:t>
            </a:r>
          </a:p>
          <a:p>
            <a:pPr lvl="4"/>
            <a:r>
              <a:rPr lang="en-US" dirty="0"/>
              <a:t>From 4 to 3, weekly profit will not change because current shadow price is 0</a:t>
            </a:r>
          </a:p>
          <a:p>
            <a:pPr lvl="4"/>
            <a:r>
              <a:rPr lang="en-US" dirty="0"/>
              <a:t>The shadow price will not change as well because 4-3=1 unit decrease is allowable</a:t>
            </a:r>
          </a:p>
          <a:p>
            <a:pPr lvl="4"/>
            <a:r>
              <a:rPr lang="en-US" dirty="0"/>
              <a:t>Therefore, if we further decrease Plant 1 time from 3 to 2, weekly profit will increase by $0 and shadow price will be the same</a:t>
            </a:r>
          </a:p>
          <a:p>
            <a:pPr lvl="4"/>
            <a:r>
              <a:rPr lang="en-US" dirty="0"/>
              <a:t>But, if we further decrease Plant 1 time from 2 to 1, we cannot say that weekly profit will not change, because shadow price might change since 4-1=3 units of decrease, which is not within the allowable decrease range</a:t>
            </a:r>
          </a:p>
          <a:p>
            <a:pPr lvl="2"/>
            <a:endParaRPr lang="en-US" dirty="0"/>
          </a:p>
        </p:txBody>
      </p:sp>
      <p:pic>
        <p:nvPicPr>
          <p:cNvPr id="4" name="Picture 3"/>
          <p:cNvPicPr>
            <a:picLocks noChangeAspect="1"/>
          </p:cNvPicPr>
          <p:nvPr/>
        </p:nvPicPr>
        <p:blipFill>
          <a:blip r:embed="rId3"/>
          <a:stretch>
            <a:fillRect/>
          </a:stretch>
        </p:blipFill>
        <p:spPr>
          <a:xfrm>
            <a:off x="2525486" y="1652438"/>
            <a:ext cx="7246302" cy="1344777"/>
          </a:xfrm>
          <a:prstGeom prst="rect">
            <a:avLst/>
          </a:prstGeom>
        </p:spPr>
      </p:pic>
      <p:sp>
        <p:nvSpPr>
          <p:cNvPr id="10" name="Rounded Rectangle 9"/>
          <p:cNvSpPr/>
          <p:nvPr/>
        </p:nvSpPr>
        <p:spPr>
          <a:xfrm>
            <a:off x="7630885" y="1764566"/>
            <a:ext cx="2046515" cy="1232650"/>
          </a:xfrm>
          <a:prstGeom prst="roundRect">
            <a:avLst/>
          </a:prstGeom>
          <a:noFill/>
          <a:ln w="381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966308720"/>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Single Change in the Objective Function</a:t>
            </a:r>
          </a:p>
        </p:txBody>
      </p:sp>
      <p:sp>
        <p:nvSpPr>
          <p:cNvPr id="3" name="Content Placeholder 2"/>
          <p:cNvSpPr>
            <a:spLocks noGrp="1"/>
          </p:cNvSpPr>
          <p:nvPr>
            <p:ph idx="1"/>
          </p:nvPr>
        </p:nvSpPr>
        <p:spPr/>
        <p:txBody>
          <a:bodyPr/>
          <a:lstStyle/>
          <a:p>
            <a:r>
              <a:rPr lang="en-US" b="1" dirty="0" err="1"/>
              <a:t>Wyndor</a:t>
            </a:r>
            <a:r>
              <a:rPr lang="en-US" b="1" dirty="0"/>
              <a:t> Glass Co. Product Mix Problem (revisited): Sensitivity Report</a:t>
            </a:r>
          </a:p>
        </p:txBody>
      </p:sp>
      <p:sp>
        <p:nvSpPr>
          <p:cNvPr id="40" name="Rectangle 39"/>
          <p:cNvSpPr/>
          <p:nvPr/>
        </p:nvSpPr>
        <p:spPr>
          <a:xfrm rot="19340207">
            <a:off x="7743492" y="2500794"/>
            <a:ext cx="1752600" cy="192759"/>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49" name="Picture 48"/>
          <p:cNvPicPr>
            <a:picLocks noChangeAspect="1"/>
          </p:cNvPicPr>
          <p:nvPr/>
        </p:nvPicPr>
        <p:blipFill>
          <a:blip r:embed="rId3"/>
          <a:stretch>
            <a:fillRect/>
          </a:stretch>
        </p:blipFill>
        <p:spPr>
          <a:xfrm>
            <a:off x="1026907" y="2036768"/>
            <a:ext cx="5067300" cy="3562350"/>
          </a:xfrm>
          <a:prstGeom prst="rect">
            <a:avLst/>
          </a:prstGeom>
        </p:spPr>
      </p:pic>
      <p:pic>
        <p:nvPicPr>
          <p:cNvPr id="50" name="Picture 49"/>
          <p:cNvPicPr>
            <a:picLocks noChangeAspect="1"/>
          </p:cNvPicPr>
          <p:nvPr/>
        </p:nvPicPr>
        <p:blipFill>
          <a:blip r:embed="rId4"/>
          <a:stretch>
            <a:fillRect/>
          </a:stretch>
        </p:blipFill>
        <p:spPr>
          <a:xfrm>
            <a:off x="6336991" y="2007665"/>
            <a:ext cx="5105400" cy="3609975"/>
          </a:xfrm>
          <a:prstGeom prst="rect">
            <a:avLst/>
          </a:prstGeom>
        </p:spPr>
      </p:pic>
    </p:spTree>
    <p:extLst>
      <p:ext uri="{BB962C8B-B14F-4D97-AF65-F5344CB8AC3E}">
        <p14:creationId xmlns:p14="http://schemas.microsoft.com/office/powerpoint/2010/main" val="1833307924"/>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Single Change in a Constraint</a:t>
            </a:r>
          </a:p>
        </p:txBody>
      </p:sp>
      <p:sp>
        <p:nvSpPr>
          <p:cNvPr id="3" name="Content Placeholder 2"/>
          <p:cNvSpPr>
            <a:spLocks noGrp="1"/>
          </p:cNvSpPr>
          <p:nvPr>
            <p:ph idx="1"/>
          </p:nvPr>
        </p:nvSpPr>
        <p:spPr/>
        <p:txBody>
          <a:bodyPr/>
          <a:lstStyle/>
          <a:p>
            <a:r>
              <a:rPr lang="en-US" b="1" dirty="0" err="1"/>
              <a:t>Wyndor</a:t>
            </a:r>
            <a:r>
              <a:rPr lang="en-US" b="1" dirty="0"/>
              <a:t> Glass Co. Product Mix Problem (revisited): Sensitivity Report</a:t>
            </a:r>
          </a:p>
          <a:p>
            <a:endParaRPr lang="en-US" b="1" dirty="0"/>
          </a:p>
          <a:p>
            <a:endParaRPr lang="en-US" b="1" dirty="0"/>
          </a:p>
          <a:p>
            <a:pPr lvl="1"/>
            <a:endParaRPr lang="en-US" dirty="0"/>
          </a:p>
          <a:p>
            <a:pPr lvl="2"/>
            <a:r>
              <a:rPr lang="en-US" dirty="0"/>
              <a:t>Increasing capacity of Plant 2 by 1 hour increases the profit by $150</a:t>
            </a:r>
          </a:p>
          <a:p>
            <a:pPr lvl="3"/>
            <a:r>
              <a:rPr lang="en-US" dirty="0"/>
              <a:t>Would you pay $100 to have 1 more hour in Plant 2? Yes, shadow price is $150&gt;$100</a:t>
            </a:r>
          </a:p>
          <a:p>
            <a:pPr lvl="3"/>
            <a:r>
              <a:rPr lang="en-US" dirty="0"/>
              <a:t>Would you pay $200 to have 1 more hour in Plant 2? No, shadow price is $150&lt;$200</a:t>
            </a:r>
          </a:p>
          <a:p>
            <a:pPr lvl="2"/>
            <a:r>
              <a:rPr lang="en-US" b="1" dirty="0">
                <a:solidFill>
                  <a:schemeClr val="accent5"/>
                </a:solidFill>
              </a:rPr>
              <a:t>Allowable Increase</a:t>
            </a:r>
            <a:r>
              <a:rPr lang="en-US" dirty="0"/>
              <a:t> for Plant 2 is 6</a:t>
            </a:r>
          </a:p>
          <a:p>
            <a:pPr lvl="3"/>
            <a:r>
              <a:rPr lang="en-US" dirty="0"/>
              <a:t>This means that, each additional hour, up to 6 additional hours, will increase the profit by $150 because the shadow price is not changing</a:t>
            </a:r>
          </a:p>
          <a:p>
            <a:pPr lvl="3"/>
            <a:r>
              <a:rPr lang="en-US" dirty="0"/>
              <a:t>So, when Plant 2 time becomes 18, the profit will increase by 6*$150=$900</a:t>
            </a:r>
          </a:p>
          <a:p>
            <a:pPr lvl="3"/>
            <a:r>
              <a:rPr lang="en-US" dirty="0"/>
              <a:t>When Plant 2 times becomes 19, we do not know the increase in profit when Plant 2 time increases from 18 to 19 (shadow price could change)!</a:t>
            </a:r>
          </a:p>
          <a:p>
            <a:pPr lvl="2"/>
            <a:r>
              <a:rPr lang="en-US" b="1" dirty="0">
                <a:solidFill>
                  <a:schemeClr val="accent5"/>
                </a:solidFill>
              </a:rPr>
              <a:t>Allowable Decrease </a:t>
            </a:r>
            <a:r>
              <a:rPr lang="en-US" dirty="0"/>
              <a:t>for Plant 2 is 6</a:t>
            </a:r>
          </a:p>
          <a:p>
            <a:pPr lvl="3"/>
            <a:r>
              <a:rPr lang="en-US" dirty="0"/>
              <a:t>Each hour decreased from Plant 2 time will decrease profit by $150 up to 6 hours decrease</a:t>
            </a:r>
          </a:p>
        </p:txBody>
      </p:sp>
      <p:pic>
        <p:nvPicPr>
          <p:cNvPr id="4" name="Picture 3"/>
          <p:cNvPicPr>
            <a:picLocks noChangeAspect="1"/>
          </p:cNvPicPr>
          <p:nvPr/>
        </p:nvPicPr>
        <p:blipFill>
          <a:blip r:embed="rId3"/>
          <a:stretch>
            <a:fillRect/>
          </a:stretch>
        </p:blipFill>
        <p:spPr>
          <a:xfrm>
            <a:off x="2525486" y="1652438"/>
            <a:ext cx="7246302" cy="1344777"/>
          </a:xfrm>
          <a:prstGeom prst="rect">
            <a:avLst/>
          </a:prstGeom>
        </p:spPr>
      </p:pic>
      <p:sp>
        <p:nvSpPr>
          <p:cNvPr id="10" name="Rounded Rectangle 9"/>
          <p:cNvSpPr/>
          <p:nvPr/>
        </p:nvSpPr>
        <p:spPr>
          <a:xfrm>
            <a:off x="7630885" y="1764566"/>
            <a:ext cx="2046515" cy="1232650"/>
          </a:xfrm>
          <a:prstGeom prst="roundRect">
            <a:avLst/>
          </a:prstGeom>
          <a:noFill/>
          <a:ln w="381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Rounded Rectangle 5"/>
          <p:cNvSpPr/>
          <p:nvPr/>
        </p:nvSpPr>
        <p:spPr>
          <a:xfrm>
            <a:off x="5918200" y="1764566"/>
            <a:ext cx="800100" cy="1232650"/>
          </a:xfrm>
          <a:prstGeom prst="roundRect">
            <a:avLst/>
          </a:prstGeom>
          <a:noFill/>
          <a:ln w="381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88322077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7" end="7"/>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3">
                                            <p:txEl>
                                              <p:pRg st="8" end="8"/>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3">
                                            <p:txEl>
                                              <p:pRg st="9" end="9"/>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3">
                                            <p:txEl>
                                              <p:pRg st="10" end="10"/>
                                            </p:txEl>
                                          </p:spTgt>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nodeType="clickEffect">
                                  <p:stCondLst>
                                    <p:cond delay="0"/>
                                  </p:stCondLst>
                                  <p:childTnLst>
                                    <p:set>
                                      <p:cBhvr>
                                        <p:cTn id="16" dur="1" fill="hold">
                                          <p:stCondLst>
                                            <p:cond delay="0"/>
                                          </p:stCondLst>
                                        </p:cTn>
                                        <p:tgtEl>
                                          <p:spTgt spid="3">
                                            <p:txEl>
                                              <p:pRg st="11" end="11"/>
                                            </p:txEl>
                                          </p:spTgt>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3">
                                            <p:txEl>
                                              <p:pRg st="12" end="1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Single Change in a Constraint</a:t>
            </a:r>
          </a:p>
        </p:txBody>
      </p:sp>
      <p:sp>
        <p:nvSpPr>
          <p:cNvPr id="3" name="Content Placeholder 2"/>
          <p:cNvSpPr>
            <a:spLocks noGrp="1"/>
          </p:cNvSpPr>
          <p:nvPr>
            <p:ph idx="1"/>
          </p:nvPr>
        </p:nvSpPr>
        <p:spPr/>
        <p:txBody>
          <a:bodyPr/>
          <a:lstStyle/>
          <a:p>
            <a:r>
              <a:rPr lang="en-US" b="1" dirty="0" err="1"/>
              <a:t>Wyndor</a:t>
            </a:r>
            <a:r>
              <a:rPr lang="en-US" b="1" dirty="0"/>
              <a:t> Glass Co. Product Mix Problem (revisited): Sensitivity Report</a:t>
            </a:r>
          </a:p>
          <a:p>
            <a:endParaRPr lang="en-US" b="1" dirty="0"/>
          </a:p>
          <a:p>
            <a:endParaRPr lang="en-US" b="1" dirty="0"/>
          </a:p>
          <a:p>
            <a:pPr lvl="1"/>
            <a:endParaRPr lang="en-US" dirty="0"/>
          </a:p>
          <a:p>
            <a:pPr lvl="2"/>
            <a:endParaRPr lang="en-US" sz="1800" dirty="0"/>
          </a:p>
          <a:p>
            <a:pPr lvl="2"/>
            <a:endParaRPr lang="en-US" dirty="0"/>
          </a:p>
        </p:txBody>
      </p:sp>
      <p:pic>
        <p:nvPicPr>
          <p:cNvPr id="4" name="Picture 3"/>
          <p:cNvPicPr>
            <a:picLocks noChangeAspect="1"/>
          </p:cNvPicPr>
          <p:nvPr/>
        </p:nvPicPr>
        <p:blipFill>
          <a:blip r:embed="rId3"/>
          <a:stretch>
            <a:fillRect/>
          </a:stretch>
        </p:blipFill>
        <p:spPr>
          <a:xfrm>
            <a:off x="2525486" y="1652438"/>
            <a:ext cx="7246302" cy="1344777"/>
          </a:xfrm>
          <a:prstGeom prst="rect">
            <a:avLst/>
          </a:prstGeom>
        </p:spPr>
      </p:pic>
      <p:sp>
        <p:nvSpPr>
          <p:cNvPr id="10" name="Rounded Rectangle 9"/>
          <p:cNvSpPr/>
          <p:nvPr/>
        </p:nvSpPr>
        <p:spPr>
          <a:xfrm>
            <a:off x="7630885" y="1764566"/>
            <a:ext cx="2046515" cy="1232650"/>
          </a:xfrm>
          <a:prstGeom prst="roundRect">
            <a:avLst/>
          </a:prstGeom>
          <a:noFill/>
          <a:ln w="381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Rounded Rectangle 5"/>
          <p:cNvSpPr/>
          <p:nvPr/>
        </p:nvSpPr>
        <p:spPr>
          <a:xfrm>
            <a:off x="5918200" y="1764566"/>
            <a:ext cx="800100" cy="1232650"/>
          </a:xfrm>
          <a:prstGeom prst="roundRect">
            <a:avLst/>
          </a:prstGeom>
          <a:noFill/>
          <a:ln w="381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7" name="Picture 1" descr="Hillier_5e_f5.20.tif"/>
          <p:cNvPicPr>
            <a:picLocks noChangeAspect="1"/>
          </p:cNvPicPr>
          <p:nvPr/>
        </p:nvPicPr>
        <p:blipFill>
          <a:blip r:embed="rId4">
            <a:extLst>
              <a:ext uri="{28A0092B-C50C-407E-A947-70E740481C1C}">
                <a14:useLocalDpi xmlns:a14="http://schemas.microsoft.com/office/drawing/2010/main" val="0"/>
              </a:ext>
            </a:extLst>
          </a:blip>
          <a:srcRect/>
          <a:stretch>
            <a:fillRect/>
          </a:stretch>
        </p:blipFill>
        <p:spPr bwMode="auto">
          <a:xfrm>
            <a:off x="1135743" y="3337220"/>
            <a:ext cx="6730726" cy="341217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 name="Rectangle 4"/>
          <p:cNvSpPr/>
          <p:nvPr/>
        </p:nvSpPr>
        <p:spPr>
          <a:xfrm>
            <a:off x="1409700" y="4178300"/>
            <a:ext cx="5943600" cy="2197100"/>
          </a:xfrm>
          <a:prstGeom prst="rect">
            <a:avLst/>
          </a:prstGeom>
          <a:noFill/>
          <a:ln w="57150">
            <a:solidFill>
              <a:srgbClr val="FFFF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Rectangle 7"/>
          <p:cNvSpPr/>
          <p:nvPr/>
        </p:nvSpPr>
        <p:spPr>
          <a:xfrm>
            <a:off x="1473200" y="5130800"/>
            <a:ext cx="5918200" cy="139700"/>
          </a:xfrm>
          <a:prstGeom prst="rect">
            <a:avLst/>
          </a:prstGeom>
          <a:noFill/>
          <a:ln w="190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800562448"/>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Single Change in a Constraint</a:t>
            </a:r>
          </a:p>
        </p:txBody>
      </p:sp>
      <p:sp>
        <p:nvSpPr>
          <p:cNvPr id="3" name="Content Placeholder 2"/>
          <p:cNvSpPr>
            <a:spLocks noGrp="1"/>
          </p:cNvSpPr>
          <p:nvPr>
            <p:ph idx="1"/>
          </p:nvPr>
        </p:nvSpPr>
        <p:spPr/>
        <p:txBody>
          <a:bodyPr/>
          <a:lstStyle/>
          <a:p>
            <a:r>
              <a:rPr lang="en-US" b="1" dirty="0"/>
              <a:t>Note on shadow prices:</a:t>
            </a:r>
          </a:p>
          <a:p>
            <a:pPr lvl="1"/>
            <a:r>
              <a:rPr lang="en-US" dirty="0"/>
              <a:t>Shadow price is the change in the objective function by one unit increase in a constraint right hand side!</a:t>
            </a:r>
          </a:p>
          <a:p>
            <a:pPr lvl="2"/>
            <a:r>
              <a:rPr lang="en-US" dirty="0"/>
              <a:t>Say, a constraint right-hand-side is 10 and the current shadow price is 5</a:t>
            </a:r>
          </a:p>
          <a:p>
            <a:pPr lvl="3"/>
            <a:r>
              <a:rPr lang="en-US" dirty="0"/>
              <a:t>If we increase the constraint right-hand-side from 10 to 11, the objective function will increase by 5</a:t>
            </a:r>
          </a:p>
          <a:p>
            <a:pPr lvl="3"/>
            <a:r>
              <a:rPr lang="en-US" dirty="0"/>
              <a:t>If we decrease the constraint right-hand-side from 10 to 9, the objective function will decrease by 5</a:t>
            </a:r>
          </a:p>
          <a:p>
            <a:pPr lvl="1"/>
            <a:r>
              <a:rPr lang="en-US" dirty="0"/>
              <a:t>Shadow prices can be negative!</a:t>
            </a:r>
          </a:p>
          <a:p>
            <a:pPr lvl="2"/>
            <a:r>
              <a:rPr lang="en-US" dirty="0"/>
              <a:t>Say, a constraint right-hand-side is 10 and the current shadow price is -5</a:t>
            </a:r>
          </a:p>
          <a:p>
            <a:pPr lvl="3"/>
            <a:r>
              <a:rPr lang="en-US" dirty="0"/>
              <a:t>If we increase the constraint right-hand-side from 10 to 11, the objective function will increase by -5 (i.e., it will decrease by 5)</a:t>
            </a:r>
          </a:p>
          <a:p>
            <a:pPr lvl="3"/>
            <a:r>
              <a:rPr lang="en-US" dirty="0"/>
              <a:t>If we decrease the constraint right-hand-side from 10 to 9, the objective function will decrease by -5 (i.e., it will increase by 5)</a:t>
            </a:r>
          </a:p>
          <a:p>
            <a:endParaRPr lang="en-US" b="1" dirty="0"/>
          </a:p>
          <a:p>
            <a:endParaRPr lang="en-US" b="1" dirty="0"/>
          </a:p>
          <a:p>
            <a:pPr lvl="1"/>
            <a:endParaRPr lang="en-US" dirty="0"/>
          </a:p>
          <a:p>
            <a:pPr lvl="2"/>
            <a:endParaRPr lang="en-US" sz="1800" dirty="0"/>
          </a:p>
          <a:p>
            <a:pPr lvl="2"/>
            <a:endParaRPr lang="en-US" dirty="0"/>
          </a:p>
        </p:txBody>
      </p:sp>
    </p:spTree>
    <p:extLst>
      <p:ext uri="{BB962C8B-B14F-4D97-AF65-F5344CB8AC3E}">
        <p14:creationId xmlns:p14="http://schemas.microsoft.com/office/powerpoint/2010/main" val="334636608"/>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Outline</a:t>
            </a:r>
          </a:p>
        </p:txBody>
      </p:sp>
      <p:sp>
        <p:nvSpPr>
          <p:cNvPr id="3" name="Content Placeholder 2"/>
          <p:cNvSpPr>
            <a:spLocks noGrp="1"/>
          </p:cNvSpPr>
          <p:nvPr>
            <p:ph idx="1"/>
          </p:nvPr>
        </p:nvSpPr>
        <p:spPr/>
        <p:txBody>
          <a:bodyPr/>
          <a:lstStyle/>
          <a:p>
            <a:r>
              <a:rPr lang="en-US" dirty="0">
                <a:solidFill>
                  <a:schemeClr val="bg2"/>
                </a:solidFill>
              </a:rPr>
              <a:t>Sensitivity Analysis and Excel Reports (Chapter 5)</a:t>
            </a:r>
          </a:p>
          <a:p>
            <a:r>
              <a:rPr lang="en-US" dirty="0">
                <a:solidFill>
                  <a:schemeClr val="bg2"/>
                </a:solidFill>
              </a:rPr>
              <a:t>Single Change in the Objective Function  (Chapter 5.3)</a:t>
            </a:r>
          </a:p>
          <a:p>
            <a:r>
              <a:rPr lang="en-US" dirty="0">
                <a:solidFill>
                  <a:schemeClr val="bg2"/>
                </a:solidFill>
              </a:rPr>
              <a:t>Single Change in a Constraint (Chapter 5.5)</a:t>
            </a:r>
          </a:p>
          <a:p>
            <a:r>
              <a:rPr lang="en-US" dirty="0"/>
              <a:t>Effect of Simultaneous Changes</a:t>
            </a:r>
          </a:p>
          <a:p>
            <a:pPr lvl="1"/>
            <a:r>
              <a:rPr lang="en-US" dirty="0"/>
              <a:t>Changes in the Objective Function (Chapter 5.4)</a:t>
            </a:r>
          </a:p>
          <a:p>
            <a:pPr lvl="1"/>
            <a:r>
              <a:rPr lang="en-US" dirty="0"/>
              <a:t>Changes in Constraints (Chapter 5.6)</a:t>
            </a:r>
          </a:p>
          <a:p>
            <a:r>
              <a:rPr lang="en-US" dirty="0">
                <a:solidFill>
                  <a:schemeClr val="bg2"/>
                </a:solidFill>
              </a:rPr>
              <a:t>Changes in the Model (not in the textbook)</a:t>
            </a:r>
          </a:p>
          <a:p>
            <a:r>
              <a:rPr lang="en-US" dirty="0">
                <a:solidFill>
                  <a:schemeClr val="bg2"/>
                </a:solidFill>
              </a:rPr>
              <a:t>Linear Programming Duality (not in the textbook)</a:t>
            </a:r>
          </a:p>
          <a:p>
            <a:pPr lvl="1"/>
            <a:r>
              <a:rPr lang="en-US" dirty="0">
                <a:solidFill>
                  <a:schemeClr val="bg2"/>
                </a:solidFill>
              </a:rPr>
              <a:t>Formulating the dual problem</a:t>
            </a:r>
          </a:p>
          <a:p>
            <a:pPr lvl="1"/>
            <a:r>
              <a:rPr lang="en-US" dirty="0">
                <a:solidFill>
                  <a:schemeClr val="bg2"/>
                </a:solidFill>
              </a:rPr>
              <a:t>Primal-dual relations</a:t>
            </a:r>
          </a:p>
          <a:p>
            <a:pPr lvl="1"/>
            <a:r>
              <a:rPr lang="en-US" dirty="0">
                <a:solidFill>
                  <a:schemeClr val="bg2"/>
                </a:solidFill>
              </a:rPr>
              <a:t>Economic Interpretation</a:t>
            </a:r>
          </a:p>
          <a:p>
            <a:endParaRPr lang="en-US" dirty="0"/>
          </a:p>
          <a:p>
            <a:pPr lvl="5"/>
            <a:endParaRPr lang="en-US" dirty="0"/>
          </a:p>
          <a:p>
            <a:endParaRPr lang="en-US" dirty="0"/>
          </a:p>
        </p:txBody>
      </p:sp>
    </p:spTree>
    <p:extLst>
      <p:ext uri="{BB962C8B-B14F-4D97-AF65-F5344CB8AC3E}">
        <p14:creationId xmlns:p14="http://schemas.microsoft.com/office/powerpoint/2010/main" val="1455480089"/>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Effect of Simultaneous Changes</a:t>
            </a:r>
          </a:p>
        </p:txBody>
      </p:sp>
      <p:sp>
        <p:nvSpPr>
          <p:cNvPr id="3" name="Content Placeholder 2"/>
          <p:cNvSpPr>
            <a:spLocks noGrp="1"/>
          </p:cNvSpPr>
          <p:nvPr>
            <p:ph idx="1"/>
          </p:nvPr>
        </p:nvSpPr>
        <p:spPr>
          <a:xfrm>
            <a:off x="355002" y="1312433"/>
            <a:ext cx="5869584" cy="2530224"/>
          </a:xfrm>
        </p:spPr>
        <p:txBody>
          <a:bodyPr/>
          <a:lstStyle/>
          <a:p>
            <a:r>
              <a:rPr lang="en-US" sz="2000" dirty="0"/>
              <a:t>When there is a single change in the objective function, we can use the Allowable Increase and Allowable Decrease to see if the optimal solution will not change</a:t>
            </a:r>
          </a:p>
          <a:p>
            <a:r>
              <a:rPr lang="en-US" sz="2000" dirty="0"/>
              <a:t>When there is a single change in a constraint right-hand side, we can use the Allowable Increase and Allowable Decrease to see if the shadow price will not change</a:t>
            </a:r>
          </a:p>
          <a:p>
            <a:endParaRPr lang="en-US" dirty="0"/>
          </a:p>
          <a:p>
            <a:endParaRPr lang="en-US" dirty="0"/>
          </a:p>
        </p:txBody>
      </p:sp>
      <p:pic>
        <p:nvPicPr>
          <p:cNvPr id="4" name="Picture 3"/>
          <p:cNvPicPr>
            <a:picLocks noChangeAspect="1"/>
          </p:cNvPicPr>
          <p:nvPr/>
        </p:nvPicPr>
        <p:blipFill>
          <a:blip r:embed="rId3"/>
          <a:stretch>
            <a:fillRect/>
          </a:stretch>
        </p:blipFill>
        <p:spPr>
          <a:xfrm>
            <a:off x="6353815" y="1312433"/>
            <a:ext cx="5381625" cy="2219325"/>
          </a:xfrm>
          <a:prstGeom prst="rect">
            <a:avLst/>
          </a:prstGeom>
        </p:spPr>
      </p:pic>
      <p:sp>
        <p:nvSpPr>
          <p:cNvPr id="5" name="Rounded Rectangle 4"/>
          <p:cNvSpPr/>
          <p:nvPr/>
        </p:nvSpPr>
        <p:spPr>
          <a:xfrm>
            <a:off x="10156371" y="1469571"/>
            <a:ext cx="1469572" cy="827315"/>
          </a:xfrm>
          <a:prstGeom prst="roundRect">
            <a:avLst/>
          </a:prstGeom>
          <a:noFill/>
          <a:ln w="381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Rounded Rectangle 5"/>
          <p:cNvSpPr/>
          <p:nvPr/>
        </p:nvSpPr>
        <p:spPr>
          <a:xfrm>
            <a:off x="10156371" y="2464910"/>
            <a:ext cx="1469572" cy="1066848"/>
          </a:xfrm>
          <a:prstGeom prst="roundRect">
            <a:avLst/>
          </a:prstGeom>
          <a:noFill/>
          <a:ln w="38100">
            <a:solidFill>
              <a:schemeClr val="accent4"/>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Right Brace 6"/>
          <p:cNvSpPr/>
          <p:nvPr/>
        </p:nvSpPr>
        <p:spPr>
          <a:xfrm>
            <a:off x="5722732" y="1312433"/>
            <a:ext cx="742950" cy="870857"/>
          </a:xfrm>
          <a:prstGeom prst="rightBrace">
            <a:avLst>
              <a:gd name="adj1" fmla="val 8333"/>
              <a:gd name="adj2" fmla="val 26250"/>
            </a:avLst>
          </a:prstGeom>
          <a:ln w="28575">
            <a:solidFill>
              <a:srgbClr val="FF0000"/>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8" name="Right Brace 7"/>
          <p:cNvSpPr/>
          <p:nvPr/>
        </p:nvSpPr>
        <p:spPr>
          <a:xfrm>
            <a:off x="5742461" y="2330835"/>
            <a:ext cx="742950" cy="1200923"/>
          </a:xfrm>
          <a:prstGeom prst="rightBrace">
            <a:avLst>
              <a:gd name="adj1" fmla="val 8333"/>
              <a:gd name="adj2" fmla="val 18998"/>
            </a:avLst>
          </a:prstGeom>
          <a:ln w="28575">
            <a:solidFill>
              <a:schemeClr val="accent4"/>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9" name="Content Placeholder 2"/>
          <p:cNvSpPr txBox="1">
            <a:spLocks/>
          </p:cNvSpPr>
          <p:nvPr/>
        </p:nvSpPr>
        <p:spPr>
          <a:xfrm>
            <a:off x="355002" y="3905411"/>
            <a:ext cx="11478410" cy="2530224"/>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dirty="0"/>
              <a:t>However, when there are multiple changes in the objective function or in the constraints, we </a:t>
            </a:r>
            <a:r>
              <a:rPr lang="en-US" u="sng" dirty="0"/>
              <a:t>cannot directly use Allowable Increase or Allowable Decrease</a:t>
            </a:r>
          </a:p>
          <a:p>
            <a:pPr lvl="1"/>
            <a:r>
              <a:rPr lang="en-US" dirty="0"/>
              <a:t>For instance, each change being within allowable increase or allowable decrease does not guarantee that there will not be a change</a:t>
            </a:r>
          </a:p>
          <a:p>
            <a:endParaRPr lang="en-US" dirty="0"/>
          </a:p>
          <a:p>
            <a:endParaRPr lang="en-US" dirty="0"/>
          </a:p>
        </p:txBody>
      </p:sp>
    </p:spTree>
    <p:extLst>
      <p:ext uri="{BB962C8B-B14F-4D97-AF65-F5344CB8AC3E}">
        <p14:creationId xmlns:p14="http://schemas.microsoft.com/office/powerpoint/2010/main" val="384194683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3">
                                            <p:txEl>
                                              <p:pRg st="1" end="1"/>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4"/>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7"/>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5"/>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grpId="0" nodeType="clickEffect">
                                  <p:stCondLst>
                                    <p:cond delay="0"/>
                                  </p:stCondLst>
                                  <p:childTnLst>
                                    <p:set>
                                      <p:cBhvr>
                                        <p:cTn id="20" dur="1" fill="hold">
                                          <p:stCondLst>
                                            <p:cond delay="0"/>
                                          </p:stCondLst>
                                        </p:cTn>
                                        <p:tgtEl>
                                          <p:spTgt spid="8"/>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6"/>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9">
                                            <p:txEl>
                                              <p:pRg st="0" end="0"/>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9">
                                            <p:txEl>
                                              <p:pRg st="1" end="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P spid="5" grpId="0" animBg="1"/>
      <p:bldP spid="6" grpId="0" animBg="1"/>
      <p:bldP spid="7" grpId="0" animBg="1"/>
      <p:bldP spid="8" grpId="0" animBg="1"/>
    </p:bld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Effect of Simultaneous Changes</a:t>
            </a:r>
          </a:p>
        </p:txBody>
      </p:sp>
      <p:sp>
        <p:nvSpPr>
          <p:cNvPr id="3" name="Content Placeholder 2"/>
          <p:cNvSpPr>
            <a:spLocks noGrp="1"/>
          </p:cNvSpPr>
          <p:nvPr>
            <p:ph idx="1"/>
          </p:nvPr>
        </p:nvSpPr>
        <p:spPr/>
        <p:txBody>
          <a:bodyPr/>
          <a:lstStyle/>
          <a:p>
            <a:r>
              <a:rPr lang="en-US" b="1" u="sng" dirty="0"/>
              <a:t>Simultaneous Changes in the Objective Function (Chapter 5.4):</a:t>
            </a:r>
          </a:p>
          <a:p>
            <a:r>
              <a:rPr lang="en-US" sz="2400" dirty="0"/>
              <a:t>Consider the </a:t>
            </a:r>
            <a:r>
              <a:rPr lang="en-US" sz="2400" dirty="0" err="1"/>
              <a:t>Wyndor</a:t>
            </a:r>
            <a:r>
              <a:rPr lang="en-US" sz="2400" dirty="0"/>
              <a:t> Glass Co. Product Mix Problem: Suppose that the unit profit for doors changes from $300 to $600 and unit profit for windows changes from $500 to $300</a:t>
            </a:r>
          </a:p>
          <a:p>
            <a:pPr lvl="1"/>
            <a:r>
              <a:rPr lang="en-US" sz="2000" dirty="0"/>
              <a:t>Each change is within allowable range</a:t>
            </a:r>
          </a:p>
          <a:p>
            <a:pPr lvl="2"/>
            <a:r>
              <a:rPr lang="en-US" sz="1800" dirty="0"/>
              <a:t>Change in unit profit for doors: </a:t>
            </a:r>
          </a:p>
          <a:p>
            <a:pPr lvl="3"/>
            <a:r>
              <a:rPr lang="en-US" sz="1600" dirty="0"/>
              <a:t>600-300=300 increase and 300&lt;450</a:t>
            </a:r>
          </a:p>
          <a:p>
            <a:pPr lvl="3"/>
            <a:r>
              <a:rPr lang="en-US" sz="1600" dirty="0"/>
              <a:t>where 450 is allowable increase for unit profit of doors</a:t>
            </a:r>
          </a:p>
          <a:p>
            <a:pPr lvl="2"/>
            <a:r>
              <a:rPr lang="en-US" sz="1800" dirty="0"/>
              <a:t>Change in unit profit for windows: </a:t>
            </a:r>
          </a:p>
          <a:p>
            <a:pPr lvl="3"/>
            <a:r>
              <a:rPr lang="en-US" sz="1600" dirty="0"/>
              <a:t>500-300=200 decrease and 200&lt;300, </a:t>
            </a:r>
          </a:p>
          <a:p>
            <a:pPr lvl="3"/>
            <a:r>
              <a:rPr lang="en-US" sz="1600" dirty="0"/>
              <a:t>where 300 is the allowable decrease for unit profit of windows</a:t>
            </a:r>
          </a:p>
          <a:p>
            <a:pPr lvl="1"/>
            <a:r>
              <a:rPr lang="en-US" dirty="0"/>
              <a:t>But the optimal solution will change: </a:t>
            </a:r>
          </a:p>
          <a:p>
            <a:pPr lvl="2"/>
            <a:r>
              <a:rPr lang="en-US" dirty="0"/>
              <a:t>With these changes, (4,3) is optimal</a:t>
            </a:r>
          </a:p>
          <a:p>
            <a:endParaRPr lang="en-US" dirty="0"/>
          </a:p>
          <a:p>
            <a:endParaRPr lang="en-US" dirty="0"/>
          </a:p>
        </p:txBody>
      </p:sp>
      <p:pic>
        <p:nvPicPr>
          <p:cNvPr id="4" name="Picture 5"/>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7478669" y="2656126"/>
            <a:ext cx="4217864" cy="142022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5" name="Picture 4"/>
          <p:cNvPicPr>
            <a:picLocks noChangeAspect="1"/>
          </p:cNvPicPr>
          <p:nvPr/>
        </p:nvPicPr>
        <p:blipFill>
          <a:blip r:embed="rId4"/>
          <a:stretch>
            <a:fillRect/>
          </a:stretch>
        </p:blipFill>
        <p:spPr>
          <a:xfrm>
            <a:off x="7478669" y="4552424"/>
            <a:ext cx="4354743" cy="2100614"/>
          </a:xfrm>
          <a:prstGeom prst="rect">
            <a:avLst/>
          </a:prstGeom>
        </p:spPr>
      </p:pic>
    </p:spTree>
    <p:extLst>
      <p:ext uri="{BB962C8B-B14F-4D97-AF65-F5344CB8AC3E}">
        <p14:creationId xmlns:p14="http://schemas.microsoft.com/office/powerpoint/2010/main" val="329664654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4"/>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nodeType="clickEffect">
                                  <p:stCondLst>
                                    <p:cond delay="0"/>
                                  </p:stCondLst>
                                  <p:childTnLst>
                                    <p:set>
                                      <p:cBhvr>
                                        <p:cTn id="16" dur="1" fill="hold">
                                          <p:stCondLst>
                                            <p:cond delay="0"/>
                                          </p:stCondLst>
                                        </p:cTn>
                                        <p:tgtEl>
                                          <p:spTgt spid="3">
                                            <p:txEl>
                                              <p:pRg st="3" end="3"/>
                                            </p:txEl>
                                          </p:spTgt>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3">
                                            <p:txEl>
                                              <p:pRg st="4" end="4"/>
                                            </p:txEl>
                                          </p:spTgt>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nodeType="clickEffect">
                                  <p:stCondLst>
                                    <p:cond delay="0"/>
                                  </p:stCondLst>
                                  <p:childTnLst>
                                    <p:set>
                                      <p:cBhvr>
                                        <p:cTn id="24" dur="1" fill="hold">
                                          <p:stCondLst>
                                            <p:cond delay="0"/>
                                          </p:stCondLst>
                                        </p:cTn>
                                        <p:tgtEl>
                                          <p:spTgt spid="3">
                                            <p:txEl>
                                              <p:pRg st="6" end="6"/>
                                            </p:txEl>
                                          </p:spTgt>
                                        </p:tgtEl>
                                        <p:attrNameLst>
                                          <p:attrName>style.visibility</p:attrName>
                                        </p:attrNameLst>
                                      </p:cBhvr>
                                      <p:to>
                                        <p:strVal val="visible"/>
                                      </p:to>
                                    </p:set>
                                  </p:childTnLst>
                                </p:cTn>
                              </p:par>
                              <p:par>
                                <p:cTn id="25" presetID="1" presetClass="entr" presetSubtype="0" fill="hold" nodeType="withEffect">
                                  <p:stCondLst>
                                    <p:cond delay="0"/>
                                  </p:stCondLst>
                                  <p:childTnLst>
                                    <p:set>
                                      <p:cBhvr>
                                        <p:cTn id="26" dur="1" fill="hold">
                                          <p:stCondLst>
                                            <p:cond delay="0"/>
                                          </p:stCondLst>
                                        </p:cTn>
                                        <p:tgtEl>
                                          <p:spTgt spid="3">
                                            <p:txEl>
                                              <p:pRg st="7" end="7"/>
                                            </p:txEl>
                                          </p:spTgt>
                                        </p:tgtEl>
                                        <p:attrNameLst>
                                          <p:attrName>style.visibility</p:attrName>
                                        </p:attrNameLst>
                                      </p:cBhvr>
                                      <p:to>
                                        <p:strVal val="visible"/>
                                      </p:to>
                                    </p:set>
                                  </p:childTnLst>
                                </p:cTn>
                              </p:par>
                              <p:par>
                                <p:cTn id="27" presetID="1" presetClass="entr" presetSubtype="0" fill="hold" nodeType="withEffect">
                                  <p:stCondLst>
                                    <p:cond delay="0"/>
                                  </p:stCondLst>
                                  <p:childTnLst>
                                    <p:set>
                                      <p:cBhvr>
                                        <p:cTn id="28" dur="1" fill="hold">
                                          <p:stCondLst>
                                            <p:cond delay="0"/>
                                          </p:stCondLst>
                                        </p:cTn>
                                        <p:tgtEl>
                                          <p:spTgt spid="3">
                                            <p:txEl>
                                              <p:pRg st="8" end="8"/>
                                            </p:txEl>
                                          </p:spTgt>
                                        </p:tgtEl>
                                        <p:attrNameLst>
                                          <p:attrName>style.visibility</p:attrName>
                                        </p:attrNameLst>
                                      </p:cBhvr>
                                      <p:to>
                                        <p:strVal val="visible"/>
                                      </p:to>
                                    </p:set>
                                  </p:childTnLst>
                                </p:cTn>
                              </p:par>
                            </p:childTnLst>
                          </p:cTn>
                        </p:par>
                      </p:childTnLst>
                    </p:cTn>
                  </p:par>
                  <p:par>
                    <p:cTn id="29" fill="hold">
                      <p:stCondLst>
                        <p:cond delay="indefinite"/>
                      </p:stCondLst>
                      <p:childTnLst>
                        <p:par>
                          <p:cTn id="30" fill="hold">
                            <p:stCondLst>
                              <p:cond delay="0"/>
                            </p:stCondLst>
                            <p:childTnLst>
                              <p:par>
                                <p:cTn id="31" presetID="1" presetClass="entr" presetSubtype="0" fill="hold" nodeType="clickEffect">
                                  <p:stCondLst>
                                    <p:cond delay="0"/>
                                  </p:stCondLst>
                                  <p:childTnLst>
                                    <p:set>
                                      <p:cBhvr>
                                        <p:cTn id="32" dur="1" fill="hold">
                                          <p:stCondLst>
                                            <p:cond delay="0"/>
                                          </p:stCondLst>
                                        </p:cTn>
                                        <p:tgtEl>
                                          <p:spTgt spid="3">
                                            <p:txEl>
                                              <p:pRg st="9" end="9"/>
                                            </p:txEl>
                                          </p:spTgt>
                                        </p:tgtEl>
                                        <p:attrNameLst>
                                          <p:attrName>style.visibility</p:attrName>
                                        </p:attrNameLst>
                                      </p:cBhvr>
                                      <p:to>
                                        <p:strVal val="visible"/>
                                      </p:to>
                                    </p:set>
                                  </p:childTnLst>
                                </p:cTn>
                              </p:par>
                              <p:par>
                                <p:cTn id="33" presetID="1" presetClass="entr" presetSubtype="0" fill="hold" nodeType="withEffect">
                                  <p:stCondLst>
                                    <p:cond delay="0"/>
                                  </p:stCondLst>
                                  <p:childTnLst>
                                    <p:set>
                                      <p:cBhvr>
                                        <p:cTn id="34" dur="1" fill="hold">
                                          <p:stCondLst>
                                            <p:cond delay="0"/>
                                          </p:stCondLst>
                                        </p:cTn>
                                        <p:tgtEl>
                                          <p:spTgt spid="3">
                                            <p:txEl>
                                              <p:pRg st="10" end="10"/>
                                            </p:txEl>
                                          </p:spTgt>
                                        </p:tgtEl>
                                        <p:attrNameLst>
                                          <p:attrName>style.visibility</p:attrName>
                                        </p:attrNameLst>
                                      </p:cBhvr>
                                      <p:to>
                                        <p:strVal val="visible"/>
                                      </p:to>
                                    </p:set>
                                  </p:childTnLst>
                                </p:cTn>
                              </p:par>
                              <p:par>
                                <p:cTn id="35" presetID="1" presetClass="entr" presetSubtype="0" fill="hold" nodeType="withEffect">
                                  <p:stCondLst>
                                    <p:cond delay="0"/>
                                  </p:stCondLst>
                                  <p:childTnLst>
                                    <p:set>
                                      <p:cBhvr>
                                        <p:cTn id="36" dur="1" fill="hold">
                                          <p:stCondLst>
                                            <p:cond delay="0"/>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Effect of Simultaneous Changes</a:t>
            </a:r>
          </a:p>
        </p:txBody>
      </p:sp>
      <p:sp>
        <p:nvSpPr>
          <p:cNvPr id="3" name="Content Placeholder 2"/>
          <p:cNvSpPr>
            <a:spLocks noGrp="1"/>
          </p:cNvSpPr>
          <p:nvPr>
            <p:ph idx="1"/>
          </p:nvPr>
        </p:nvSpPr>
        <p:spPr/>
        <p:txBody>
          <a:bodyPr/>
          <a:lstStyle/>
          <a:p>
            <a:r>
              <a:rPr lang="en-US" b="1" u="sng" dirty="0"/>
              <a:t>Simultaneous Changes in the Objective Function (Chapter 5.4):</a:t>
            </a:r>
          </a:p>
          <a:p>
            <a:r>
              <a:rPr lang="en-US" sz="2400" dirty="0"/>
              <a:t>When there are multiple changes in objective function coefficients, instead of looking whether each change is within the allowable range, </a:t>
            </a:r>
            <a:r>
              <a:rPr lang="en-US" sz="2400" u="sng" dirty="0"/>
              <a:t>we will look at the total percentage change to see if the optimal solution will remain the same</a:t>
            </a:r>
          </a:p>
          <a:p>
            <a:pPr lvl="1"/>
            <a:r>
              <a:rPr lang="en-US" b="1" dirty="0">
                <a:solidFill>
                  <a:srgbClr val="C00000"/>
                </a:solidFill>
              </a:rPr>
              <a:t>100% Rule Simultaneous Changes in Objective Function Coefficients: </a:t>
            </a:r>
            <a:r>
              <a:rPr lang="en-US" dirty="0"/>
              <a:t>If simultaneous changes are made in the coefficients of the objective function, calculate for each change the percentage of the allowable change (increase or decrease) for that coefficient to remain within its allowable range. If the sum of the percentage changes does not exceed 100 percent, the original optimal solution definitely will still be optimal. </a:t>
            </a:r>
          </a:p>
          <a:p>
            <a:pPr lvl="2"/>
            <a:r>
              <a:rPr lang="en-US" dirty="0"/>
              <a:t>If the sum is 100% or exceeds 100%, then we cannot be sure. That is, the optimal solution may or may not change!</a:t>
            </a:r>
          </a:p>
          <a:p>
            <a:pPr lvl="1"/>
            <a:endParaRPr lang="en-US" dirty="0"/>
          </a:p>
          <a:p>
            <a:endParaRPr lang="en-US" dirty="0"/>
          </a:p>
          <a:p>
            <a:endParaRPr lang="en-US" dirty="0"/>
          </a:p>
        </p:txBody>
      </p:sp>
    </p:spTree>
    <p:extLst>
      <p:ext uri="{BB962C8B-B14F-4D97-AF65-F5344CB8AC3E}">
        <p14:creationId xmlns:p14="http://schemas.microsoft.com/office/powerpoint/2010/main" val="134849587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Effect of Simultaneous Changes</a:t>
            </a:r>
          </a:p>
        </p:txBody>
      </p:sp>
      <p:sp>
        <p:nvSpPr>
          <p:cNvPr id="3" name="Content Placeholder 2"/>
          <p:cNvSpPr>
            <a:spLocks noGrp="1"/>
          </p:cNvSpPr>
          <p:nvPr>
            <p:ph idx="1"/>
          </p:nvPr>
        </p:nvSpPr>
        <p:spPr>
          <a:xfrm>
            <a:off x="355002" y="1312433"/>
            <a:ext cx="11478410" cy="4864530"/>
          </a:xfrm>
        </p:spPr>
        <p:txBody>
          <a:bodyPr/>
          <a:lstStyle/>
          <a:p>
            <a:r>
              <a:rPr lang="en-US" b="1" u="sng" dirty="0"/>
              <a:t>Simultaneous Changes in the Objective Function (Chapter 5.4):</a:t>
            </a:r>
          </a:p>
          <a:p>
            <a:r>
              <a:rPr lang="en-US" sz="2400" dirty="0"/>
              <a:t>Consider the </a:t>
            </a:r>
            <a:r>
              <a:rPr lang="en-US" sz="2400" dirty="0" err="1"/>
              <a:t>Wyndor</a:t>
            </a:r>
            <a:r>
              <a:rPr lang="en-US" sz="2400" dirty="0"/>
              <a:t> Glass Co. Product Mix Problem: </a:t>
            </a:r>
          </a:p>
          <a:p>
            <a:pPr lvl="1"/>
            <a:r>
              <a:rPr lang="en-US" sz="2000" dirty="0"/>
              <a:t>Unit profit for doors changes: $300 </a:t>
            </a:r>
            <a:r>
              <a:rPr lang="en-US" sz="2000" dirty="0">
                <a:sym typeface="Wingdings" panose="05000000000000000000" pitchFamily="2" charset="2"/>
              </a:rPr>
              <a:t> $450</a:t>
            </a:r>
          </a:p>
          <a:p>
            <a:pPr lvl="1"/>
            <a:r>
              <a:rPr lang="en-US" sz="2000" dirty="0">
                <a:sym typeface="Wingdings" panose="05000000000000000000" pitchFamily="2" charset="2"/>
              </a:rPr>
              <a:t>Unit profit for windows changes: $500  $400</a:t>
            </a:r>
          </a:p>
          <a:p>
            <a:pPr lvl="1"/>
            <a:r>
              <a:rPr lang="en-US" sz="2000" dirty="0">
                <a:sym typeface="Wingdings" panose="05000000000000000000" pitchFamily="2" charset="2"/>
              </a:rPr>
              <a:t>Apply 100% Rule:</a:t>
            </a:r>
          </a:p>
          <a:p>
            <a:pPr lvl="2"/>
            <a:r>
              <a:rPr lang="en-US" sz="1800" dirty="0">
                <a:sym typeface="Wingdings" panose="05000000000000000000" pitchFamily="2" charset="2"/>
              </a:rPr>
              <a:t>Unit profit for doors increases: % change = increase / allowable increase = (450-300)/450 = 33.3 %</a:t>
            </a:r>
          </a:p>
          <a:p>
            <a:pPr lvl="2"/>
            <a:r>
              <a:rPr lang="en-US" sz="1800" dirty="0">
                <a:sym typeface="Wingdings" panose="05000000000000000000" pitchFamily="2" charset="2"/>
              </a:rPr>
              <a:t>Unit profit for windows decreases: % change = decrease / allowable decrease = (500-400)/300 = 33.3% </a:t>
            </a:r>
          </a:p>
          <a:p>
            <a:pPr lvl="2"/>
            <a:r>
              <a:rPr lang="en-US" sz="1800" dirty="0">
                <a:sym typeface="Wingdings" panose="05000000000000000000" pitchFamily="2" charset="2"/>
              </a:rPr>
              <a:t>Total change: 33.3%+33.3% = 66.6%</a:t>
            </a:r>
          </a:p>
          <a:p>
            <a:pPr lvl="3"/>
            <a:r>
              <a:rPr lang="en-US" sz="1600" dirty="0">
                <a:sym typeface="Wingdings" panose="05000000000000000000" pitchFamily="2" charset="2"/>
              </a:rPr>
              <a:t>66.6% &lt; 100%, so we can say that the optimal solution will not change, i.e., (2,6) will be still optimal</a:t>
            </a:r>
          </a:p>
          <a:p>
            <a:pPr lvl="3"/>
            <a:endParaRPr lang="en-US" sz="1600" dirty="0">
              <a:sym typeface="Wingdings" panose="05000000000000000000" pitchFamily="2" charset="2"/>
            </a:endParaRPr>
          </a:p>
          <a:p>
            <a:pPr lvl="1"/>
            <a:endParaRPr lang="en-US" dirty="0"/>
          </a:p>
          <a:p>
            <a:endParaRPr lang="en-US" dirty="0"/>
          </a:p>
          <a:p>
            <a:endParaRPr lang="en-US" dirty="0"/>
          </a:p>
        </p:txBody>
      </p:sp>
      <p:pic>
        <p:nvPicPr>
          <p:cNvPr id="4" name="Picture 3"/>
          <p:cNvPicPr>
            <a:picLocks noChangeAspect="1"/>
          </p:cNvPicPr>
          <p:nvPr/>
        </p:nvPicPr>
        <p:blipFill>
          <a:blip r:embed="rId3"/>
          <a:stretch>
            <a:fillRect/>
          </a:stretch>
        </p:blipFill>
        <p:spPr>
          <a:xfrm>
            <a:off x="8782347" y="2017940"/>
            <a:ext cx="1104900" cy="953860"/>
          </a:xfrm>
          <a:prstGeom prst="rect">
            <a:avLst/>
          </a:prstGeom>
        </p:spPr>
      </p:pic>
      <p:pic>
        <p:nvPicPr>
          <p:cNvPr id="6" name="Picture 5"/>
          <p:cNvPicPr>
            <a:picLocks noChangeAspect="1"/>
          </p:cNvPicPr>
          <p:nvPr/>
        </p:nvPicPr>
        <p:blipFill>
          <a:blip r:embed="rId4"/>
          <a:stretch>
            <a:fillRect/>
          </a:stretch>
        </p:blipFill>
        <p:spPr>
          <a:xfrm>
            <a:off x="4375600" y="4569800"/>
            <a:ext cx="3941086" cy="1901077"/>
          </a:xfrm>
          <a:prstGeom prst="rect">
            <a:avLst/>
          </a:prstGeom>
        </p:spPr>
      </p:pic>
    </p:spTree>
    <p:extLst>
      <p:ext uri="{BB962C8B-B14F-4D97-AF65-F5344CB8AC3E}">
        <p14:creationId xmlns:p14="http://schemas.microsoft.com/office/powerpoint/2010/main" val="324633908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3">
                                            <p:txEl>
                                              <p:pRg st="2" end="2"/>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3">
                                            <p:txEl>
                                              <p:pRg st="3" end="3"/>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4"/>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nodeType="clickEffect">
                                  <p:stCondLst>
                                    <p:cond delay="0"/>
                                  </p:stCondLst>
                                  <p:childTnLst>
                                    <p:set>
                                      <p:cBhvr>
                                        <p:cTn id="16"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nodeType="clickEffect">
                                  <p:stCondLst>
                                    <p:cond delay="0"/>
                                  </p:stCondLst>
                                  <p:childTnLst>
                                    <p:set>
                                      <p:cBhvr>
                                        <p:cTn id="20"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nodeType="clickEffect">
                                  <p:stCondLst>
                                    <p:cond delay="0"/>
                                  </p:stCondLst>
                                  <p:childTnLst>
                                    <p:set>
                                      <p:cBhvr>
                                        <p:cTn id="24"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nodeType="clickEffect">
                                  <p:stCondLst>
                                    <p:cond delay="0"/>
                                  </p:stCondLst>
                                  <p:childTnLst>
                                    <p:set>
                                      <p:cBhvr>
                                        <p:cTn id="28"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par>
                    <p:cTn id="29" fill="hold">
                      <p:stCondLst>
                        <p:cond delay="indefinite"/>
                      </p:stCondLst>
                      <p:childTnLst>
                        <p:par>
                          <p:cTn id="30" fill="hold">
                            <p:stCondLst>
                              <p:cond delay="0"/>
                            </p:stCondLst>
                            <p:childTnLst>
                              <p:par>
                                <p:cTn id="31" presetID="1" presetClass="entr" presetSubtype="0" fill="hold" nodeType="clickEffect">
                                  <p:stCondLst>
                                    <p:cond delay="0"/>
                                  </p:stCondLst>
                                  <p:childTnLst>
                                    <p:set>
                                      <p:cBhvr>
                                        <p:cTn id="32" dur="1" fill="hold">
                                          <p:stCondLst>
                                            <p:cond delay="0"/>
                                          </p:stCondLst>
                                        </p:cTn>
                                        <p:tgtEl>
                                          <p:spTgt spid="3">
                                            <p:txEl>
                                              <p:pRg st="8" end="8"/>
                                            </p:txEl>
                                          </p:spTgt>
                                        </p:tgtEl>
                                        <p:attrNameLst>
                                          <p:attrName>style.visibility</p:attrName>
                                        </p:attrNameLst>
                                      </p:cBhvr>
                                      <p:to>
                                        <p:strVal val="visible"/>
                                      </p:to>
                                    </p:set>
                                  </p:childTnLst>
                                </p:cTn>
                              </p:par>
                              <p:par>
                                <p:cTn id="33" presetID="1" presetClass="entr" presetSubtype="0" fill="hold" nodeType="withEffect">
                                  <p:stCondLst>
                                    <p:cond delay="0"/>
                                  </p:stCondLst>
                                  <p:childTnLst>
                                    <p:set>
                                      <p:cBhvr>
                                        <p:cTn id="34" dur="1" fill="hold">
                                          <p:stCondLst>
                                            <p:cond delay="0"/>
                                          </p:stCondLst>
                                        </p:cTn>
                                        <p:tgtEl>
                                          <p:spTgt spid="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Effect of Simultaneous Changes</a:t>
            </a:r>
          </a:p>
        </p:txBody>
      </p:sp>
      <p:sp>
        <p:nvSpPr>
          <p:cNvPr id="3" name="Content Placeholder 2"/>
          <p:cNvSpPr>
            <a:spLocks noGrp="1"/>
          </p:cNvSpPr>
          <p:nvPr>
            <p:ph idx="1"/>
          </p:nvPr>
        </p:nvSpPr>
        <p:spPr>
          <a:xfrm>
            <a:off x="355002" y="1312433"/>
            <a:ext cx="11478410" cy="4864530"/>
          </a:xfrm>
        </p:spPr>
        <p:txBody>
          <a:bodyPr/>
          <a:lstStyle/>
          <a:p>
            <a:r>
              <a:rPr lang="en-US" b="1" u="sng" dirty="0"/>
              <a:t>Simultaneous Changes in the Objective Function (Chapter 5.4):</a:t>
            </a:r>
          </a:p>
          <a:p>
            <a:r>
              <a:rPr lang="en-US" sz="2400" dirty="0"/>
              <a:t>Consider the </a:t>
            </a:r>
            <a:r>
              <a:rPr lang="en-US" sz="2400" dirty="0" err="1"/>
              <a:t>Wyndor</a:t>
            </a:r>
            <a:r>
              <a:rPr lang="en-US" sz="2400" dirty="0"/>
              <a:t> Glass Co. Product Mix Problem: </a:t>
            </a:r>
          </a:p>
          <a:p>
            <a:pPr lvl="1"/>
            <a:r>
              <a:rPr lang="en-US" sz="2000" dirty="0"/>
              <a:t>Unit profit for doors changes: $300 </a:t>
            </a:r>
            <a:r>
              <a:rPr lang="en-US" sz="2000" dirty="0">
                <a:sym typeface="Wingdings" panose="05000000000000000000" pitchFamily="2" charset="2"/>
              </a:rPr>
              <a:t> $600</a:t>
            </a:r>
          </a:p>
          <a:p>
            <a:pPr lvl="1"/>
            <a:r>
              <a:rPr lang="en-US" sz="2000" dirty="0">
                <a:sym typeface="Wingdings" panose="05000000000000000000" pitchFamily="2" charset="2"/>
              </a:rPr>
              <a:t>Unit profit for windows changes: $500  $300</a:t>
            </a:r>
          </a:p>
          <a:p>
            <a:pPr lvl="1"/>
            <a:r>
              <a:rPr lang="en-US" sz="2000" dirty="0">
                <a:sym typeface="Wingdings" panose="05000000000000000000" pitchFamily="2" charset="2"/>
              </a:rPr>
              <a:t>Apply 100% Rule:</a:t>
            </a:r>
          </a:p>
          <a:p>
            <a:pPr lvl="2"/>
            <a:r>
              <a:rPr lang="en-US" sz="1800" dirty="0">
                <a:sym typeface="Wingdings" panose="05000000000000000000" pitchFamily="2" charset="2"/>
              </a:rPr>
              <a:t>Unit profit for doors increases: % change = increase / allowable increase = (600-300)/450 = 66.6 %</a:t>
            </a:r>
          </a:p>
          <a:p>
            <a:pPr lvl="2"/>
            <a:r>
              <a:rPr lang="en-US" sz="1800" dirty="0">
                <a:sym typeface="Wingdings" panose="05000000000000000000" pitchFamily="2" charset="2"/>
              </a:rPr>
              <a:t>Unit profit for windows decreases: % change = decrease / allowable decrease = (500-300)/300 = 66.6% </a:t>
            </a:r>
          </a:p>
          <a:p>
            <a:pPr lvl="2"/>
            <a:r>
              <a:rPr lang="en-US" sz="1800" dirty="0">
                <a:sym typeface="Wingdings" panose="05000000000000000000" pitchFamily="2" charset="2"/>
              </a:rPr>
              <a:t>Total change: 66.6%+66.6% = 133.3%</a:t>
            </a:r>
          </a:p>
          <a:p>
            <a:pPr lvl="3"/>
            <a:r>
              <a:rPr lang="en-US" sz="1600" dirty="0">
                <a:sym typeface="Wingdings" panose="05000000000000000000" pitchFamily="2" charset="2"/>
              </a:rPr>
              <a:t>133.3% &gt;= 100%, so we cannot say that the optimal solution will not change</a:t>
            </a:r>
          </a:p>
          <a:p>
            <a:pPr lvl="3"/>
            <a:r>
              <a:rPr lang="en-US" sz="1600" dirty="0">
                <a:sym typeface="Wingdings" panose="05000000000000000000" pitchFamily="2" charset="2"/>
              </a:rPr>
              <a:t>Indeed, (4,3) becomes the optimal</a:t>
            </a:r>
            <a:endParaRPr lang="en-US" dirty="0"/>
          </a:p>
          <a:p>
            <a:endParaRPr lang="en-US" dirty="0"/>
          </a:p>
          <a:p>
            <a:endParaRPr lang="en-US" dirty="0"/>
          </a:p>
        </p:txBody>
      </p:sp>
      <p:pic>
        <p:nvPicPr>
          <p:cNvPr id="4" name="Picture 3"/>
          <p:cNvPicPr>
            <a:picLocks noChangeAspect="1"/>
          </p:cNvPicPr>
          <p:nvPr/>
        </p:nvPicPr>
        <p:blipFill>
          <a:blip r:embed="rId3"/>
          <a:stretch>
            <a:fillRect/>
          </a:stretch>
        </p:blipFill>
        <p:spPr>
          <a:xfrm>
            <a:off x="8765721" y="2017940"/>
            <a:ext cx="1104900" cy="953860"/>
          </a:xfrm>
          <a:prstGeom prst="rect">
            <a:avLst/>
          </a:prstGeom>
        </p:spPr>
      </p:pic>
      <p:pic>
        <p:nvPicPr>
          <p:cNvPr id="5" name="Picture 4"/>
          <p:cNvPicPr>
            <a:picLocks noChangeAspect="1"/>
          </p:cNvPicPr>
          <p:nvPr/>
        </p:nvPicPr>
        <p:blipFill>
          <a:blip r:embed="rId4"/>
          <a:stretch>
            <a:fillRect/>
          </a:stretch>
        </p:blipFill>
        <p:spPr>
          <a:xfrm>
            <a:off x="5257342" y="4578891"/>
            <a:ext cx="4060829" cy="1958837"/>
          </a:xfrm>
          <a:prstGeom prst="rect">
            <a:avLst/>
          </a:prstGeom>
        </p:spPr>
      </p:pic>
    </p:spTree>
    <p:extLst>
      <p:ext uri="{BB962C8B-B14F-4D97-AF65-F5344CB8AC3E}">
        <p14:creationId xmlns:p14="http://schemas.microsoft.com/office/powerpoint/2010/main" val="425470087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3">
                                            <p:txEl>
                                              <p:pRg st="2" end="2"/>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3">
                                            <p:txEl>
                                              <p:pRg st="3" end="3"/>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4"/>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nodeType="clickEffect">
                                  <p:stCondLst>
                                    <p:cond delay="0"/>
                                  </p:stCondLst>
                                  <p:childTnLst>
                                    <p:set>
                                      <p:cBhvr>
                                        <p:cTn id="16"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nodeType="clickEffect">
                                  <p:stCondLst>
                                    <p:cond delay="0"/>
                                  </p:stCondLst>
                                  <p:childTnLst>
                                    <p:set>
                                      <p:cBhvr>
                                        <p:cTn id="20"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nodeType="clickEffect">
                                  <p:stCondLst>
                                    <p:cond delay="0"/>
                                  </p:stCondLst>
                                  <p:childTnLst>
                                    <p:set>
                                      <p:cBhvr>
                                        <p:cTn id="24"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nodeType="clickEffect">
                                  <p:stCondLst>
                                    <p:cond delay="0"/>
                                  </p:stCondLst>
                                  <p:childTnLst>
                                    <p:set>
                                      <p:cBhvr>
                                        <p:cTn id="28"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par>
                    <p:cTn id="29" fill="hold">
                      <p:stCondLst>
                        <p:cond delay="indefinite"/>
                      </p:stCondLst>
                      <p:childTnLst>
                        <p:par>
                          <p:cTn id="30" fill="hold">
                            <p:stCondLst>
                              <p:cond delay="0"/>
                            </p:stCondLst>
                            <p:childTnLst>
                              <p:par>
                                <p:cTn id="31" presetID="1" presetClass="entr" presetSubtype="0" fill="hold" nodeType="clickEffect">
                                  <p:stCondLst>
                                    <p:cond delay="0"/>
                                  </p:stCondLst>
                                  <p:childTnLst>
                                    <p:set>
                                      <p:cBhvr>
                                        <p:cTn id="32" dur="1" fill="hold">
                                          <p:stCondLst>
                                            <p:cond delay="0"/>
                                          </p:stCondLst>
                                        </p:cTn>
                                        <p:tgtEl>
                                          <p:spTgt spid="3">
                                            <p:txEl>
                                              <p:pRg st="8" end="8"/>
                                            </p:txEl>
                                          </p:spTgt>
                                        </p:tgtEl>
                                        <p:attrNameLst>
                                          <p:attrName>style.visibility</p:attrName>
                                        </p:attrNameLst>
                                      </p:cBhvr>
                                      <p:to>
                                        <p:strVal val="visible"/>
                                      </p:to>
                                    </p:set>
                                  </p:childTnLst>
                                </p:cTn>
                              </p:par>
                            </p:childTnLst>
                          </p:cTn>
                        </p:par>
                      </p:childTnLst>
                    </p:cTn>
                  </p:par>
                  <p:par>
                    <p:cTn id="33" fill="hold">
                      <p:stCondLst>
                        <p:cond delay="indefinite"/>
                      </p:stCondLst>
                      <p:childTnLst>
                        <p:par>
                          <p:cTn id="34" fill="hold">
                            <p:stCondLst>
                              <p:cond delay="0"/>
                            </p:stCondLst>
                            <p:childTnLst>
                              <p:par>
                                <p:cTn id="35" presetID="1" presetClass="entr" presetSubtype="0" fill="hold" nodeType="clickEffect">
                                  <p:stCondLst>
                                    <p:cond delay="0"/>
                                  </p:stCondLst>
                                  <p:childTnLst>
                                    <p:set>
                                      <p:cBhvr>
                                        <p:cTn id="36" dur="1" fill="hold">
                                          <p:stCondLst>
                                            <p:cond delay="0"/>
                                          </p:stCondLst>
                                        </p:cTn>
                                        <p:tgtEl>
                                          <p:spTgt spid="5"/>
                                        </p:tgtEl>
                                        <p:attrNameLst>
                                          <p:attrName>style.visibility</p:attrName>
                                        </p:attrNameLst>
                                      </p:cBhvr>
                                      <p:to>
                                        <p:strVal val="visible"/>
                                      </p:to>
                                    </p:set>
                                  </p:childTnLst>
                                </p:cTn>
                              </p:par>
                              <p:par>
                                <p:cTn id="37" presetID="1" presetClass="entr" presetSubtype="0" fill="hold" nodeType="withEffect">
                                  <p:stCondLst>
                                    <p:cond delay="0"/>
                                  </p:stCondLst>
                                  <p:childTnLst>
                                    <p:set>
                                      <p:cBhvr>
                                        <p:cTn id="38" dur="1" fill="hold">
                                          <p:stCondLst>
                                            <p:cond delay="0"/>
                                          </p:stCondLst>
                                        </p:cTn>
                                        <p:tgtEl>
                                          <p:spTgt spid="3">
                                            <p:txEl>
                                              <p:pRg st="9" end="9"/>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Effect of Simultaneous Changes</a:t>
            </a:r>
          </a:p>
        </p:txBody>
      </p:sp>
      <p:sp>
        <p:nvSpPr>
          <p:cNvPr id="3" name="Content Placeholder 2"/>
          <p:cNvSpPr>
            <a:spLocks noGrp="1"/>
          </p:cNvSpPr>
          <p:nvPr>
            <p:ph idx="1"/>
          </p:nvPr>
        </p:nvSpPr>
        <p:spPr>
          <a:xfrm>
            <a:off x="355002" y="1312433"/>
            <a:ext cx="11478410" cy="4864530"/>
          </a:xfrm>
        </p:spPr>
        <p:txBody>
          <a:bodyPr/>
          <a:lstStyle/>
          <a:p>
            <a:r>
              <a:rPr lang="en-US" b="1" u="sng" dirty="0"/>
              <a:t>Simultaneous Changes in the Objective Function (Chapter 5.4):</a:t>
            </a:r>
          </a:p>
          <a:p>
            <a:r>
              <a:rPr lang="en-US" sz="2400" dirty="0"/>
              <a:t>Consider the </a:t>
            </a:r>
            <a:r>
              <a:rPr lang="en-US" sz="2400" dirty="0" err="1"/>
              <a:t>Wyndor</a:t>
            </a:r>
            <a:r>
              <a:rPr lang="en-US" sz="2400" dirty="0"/>
              <a:t> Glass Co. Product Mix Problem: </a:t>
            </a:r>
          </a:p>
          <a:p>
            <a:pPr lvl="1"/>
            <a:r>
              <a:rPr lang="en-US" sz="2000" dirty="0"/>
              <a:t>Unit profit for doors changes: $300 </a:t>
            </a:r>
            <a:r>
              <a:rPr lang="en-US" sz="2000" dirty="0">
                <a:sym typeface="Wingdings" panose="05000000000000000000" pitchFamily="2" charset="2"/>
              </a:rPr>
              <a:t> $150</a:t>
            </a:r>
          </a:p>
          <a:p>
            <a:pPr lvl="1"/>
            <a:r>
              <a:rPr lang="en-US" sz="2000" dirty="0">
                <a:sym typeface="Wingdings" panose="05000000000000000000" pitchFamily="2" charset="2"/>
              </a:rPr>
              <a:t>Unit profit for windows changes: $500  $250</a:t>
            </a:r>
          </a:p>
          <a:p>
            <a:pPr lvl="1"/>
            <a:r>
              <a:rPr lang="en-US" sz="2000" dirty="0">
                <a:sym typeface="Wingdings" panose="05000000000000000000" pitchFamily="2" charset="2"/>
              </a:rPr>
              <a:t>Apply 100% Rule:</a:t>
            </a:r>
          </a:p>
          <a:p>
            <a:pPr lvl="2"/>
            <a:r>
              <a:rPr lang="en-US" sz="1800" dirty="0">
                <a:sym typeface="Wingdings" panose="05000000000000000000" pitchFamily="2" charset="2"/>
              </a:rPr>
              <a:t>Unit profit for doors decreases: % change = decrease / allowable decrease  = (300-150)/300 = 50.0 %</a:t>
            </a:r>
          </a:p>
          <a:p>
            <a:pPr lvl="2"/>
            <a:r>
              <a:rPr lang="en-US" sz="1800" dirty="0">
                <a:sym typeface="Wingdings" panose="05000000000000000000" pitchFamily="2" charset="2"/>
              </a:rPr>
              <a:t>Unit profit for windows decreases: % change = decrease / allowable decrease = (500-250)/300 = 83% </a:t>
            </a:r>
          </a:p>
          <a:p>
            <a:pPr lvl="2"/>
            <a:r>
              <a:rPr lang="en-US" sz="1800" dirty="0">
                <a:sym typeface="Wingdings" panose="05000000000000000000" pitchFamily="2" charset="2"/>
              </a:rPr>
              <a:t>Total change: 50%+83% = 133%</a:t>
            </a:r>
          </a:p>
          <a:p>
            <a:pPr lvl="3"/>
            <a:r>
              <a:rPr lang="en-US" sz="1600" dirty="0">
                <a:sym typeface="Wingdings" panose="05000000000000000000" pitchFamily="2" charset="2"/>
              </a:rPr>
              <a:t>133% &gt;= 100%, so we cannot say that the optimal solution will not change</a:t>
            </a:r>
          </a:p>
          <a:p>
            <a:pPr lvl="3"/>
            <a:r>
              <a:rPr lang="en-US" sz="1600" dirty="0">
                <a:sym typeface="Wingdings" panose="05000000000000000000" pitchFamily="2" charset="2"/>
              </a:rPr>
              <a:t>Indeed, (2,6) is still optimal</a:t>
            </a:r>
            <a:endParaRPr lang="en-US" dirty="0"/>
          </a:p>
          <a:p>
            <a:endParaRPr lang="en-US" dirty="0"/>
          </a:p>
          <a:p>
            <a:endParaRPr lang="en-US" dirty="0"/>
          </a:p>
        </p:txBody>
      </p:sp>
      <p:pic>
        <p:nvPicPr>
          <p:cNvPr id="4" name="Picture 3"/>
          <p:cNvPicPr>
            <a:picLocks noChangeAspect="1"/>
          </p:cNvPicPr>
          <p:nvPr/>
        </p:nvPicPr>
        <p:blipFill>
          <a:blip r:embed="rId3"/>
          <a:stretch>
            <a:fillRect/>
          </a:stretch>
        </p:blipFill>
        <p:spPr>
          <a:xfrm>
            <a:off x="8765721" y="2017940"/>
            <a:ext cx="1104900" cy="953860"/>
          </a:xfrm>
          <a:prstGeom prst="rect">
            <a:avLst/>
          </a:prstGeom>
        </p:spPr>
      </p:pic>
      <p:pic>
        <p:nvPicPr>
          <p:cNvPr id="6" name="Picture 5"/>
          <p:cNvPicPr>
            <a:picLocks noChangeAspect="1"/>
          </p:cNvPicPr>
          <p:nvPr/>
        </p:nvPicPr>
        <p:blipFill>
          <a:blip r:embed="rId4"/>
          <a:stretch>
            <a:fillRect/>
          </a:stretch>
        </p:blipFill>
        <p:spPr>
          <a:xfrm>
            <a:off x="5083171" y="4644205"/>
            <a:ext cx="4060829" cy="1958837"/>
          </a:xfrm>
          <a:prstGeom prst="rect">
            <a:avLst/>
          </a:prstGeom>
        </p:spPr>
      </p:pic>
    </p:spTree>
    <p:extLst>
      <p:ext uri="{BB962C8B-B14F-4D97-AF65-F5344CB8AC3E}">
        <p14:creationId xmlns:p14="http://schemas.microsoft.com/office/powerpoint/2010/main" val="93078140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4" end="4"/>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3">
                                            <p:txEl>
                                              <p:pRg st="5" end="5"/>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3">
                                            <p:txEl>
                                              <p:pRg st="6" end="6"/>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3">
                                            <p:txEl>
                                              <p:pRg st="7" end="7"/>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3">
                                            <p:txEl>
                                              <p:pRg st="8" end="8"/>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9" end="9"/>
                                            </p:txEl>
                                          </p:spTgt>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Effect of Simultaneous Changes</a:t>
            </a:r>
          </a:p>
        </p:txBody>
      </p:sp>
      <p:sp>
        <p:nvSpPr>
          <p:cNvPr id="3" name="Content Placeholder 2"/>
          <p:cNvSpPr>
            <a:spLocks noGrp="1"/>
          </p:cNvSpPr>
          <p:nvPr>
            <p:ph idx="1"/>
          </p:nvPr>
        </p:nvSpPr>
        <p:spPr>
          <a:xfrm>
            <a:off x="355002" y="1312433"/>
            <a:ext cx="11478410" cy="4864530"/>
          </a:xfrm>
        </p:spPr>
        <p:txBody>
          <a:bodyPr/>
          <a:lstStyle/>
          <a:p>
            <a:r>
              <a:rPr lang="en-US" b="1" u="sng" dirty="0"/>
              <a:t>Simultaneous Changes in Constraint Right-Hand Sides (Chapter 5.6):</a:t>
            </a:r>
          </a:p>
          <a:p>
            <a:r>
              <a:rPr lang="en-US" sz="2400" dirty="0"/>
              <a:t>Consider the </a:t>
            </a:r>
            <a:r>
              <a:rPr lang="en-US" sz="2400" dirty="0" err="1"/>
              <a:t>Wyndor</a:t>
            </a:r>
            <a:r>
              <a:rPr lang="en-US" sz="2400" dirty="0"/>
              <a:t> Glass Co. Product Mix Problem: </a:t>
            </a:r>
          </a:p>
          <a:p>
            <a:pPr lvl="1"/>
            <a:r>
              <a:rPr lang="en-US" sz="2000" dirty="0"/>
              <a:t>Plant 2 time changes: 12</a:t>
            </a:r>
            <a:r>
              <a:rPr lang="en-US" sz="2000" dirty="0">
                <a:sym typeface="Wingdings" panose="05000000000000000000" pitchFamily="2" charset="2"/>
              </a:rPr>
              <a:t> 13</a:t>
            </a:r>
          </a:p>
          <a:p>
            <a:pPr lvl="2"/>
            <a:r>
              <a:rPr lang="en-US" sz="1600" dirty="0">
                <a:sym typeface="Wingdings" panose="05000000000000000000" pitchFamily="2" charset="2"/>
              </a:rPr>
              <a:t>So, profit should increase by $150?</a:t>
            </a:r>
          </a:p>
          <a:p>
            <a:pPr lvl="1"/>
            <a:r>
              <a:rPr lang="en-US" sz="2000" dirty="0"/>
              <a:t>Plant 3 time changes: 18</a:t>
            </a:r>
            <a:r>
              <a:rPr lang="en-US" sz="2000" dirty="0">
                <a:sym typeface="Wingdings" panose="05000000000000000000" pitchFamily="2" charset="2"/>
              </a:rPr>
              <a:t> 17</a:t>
            </a:r>
          </a:p>
          <a:p>
            <a:pPr lvl="2"/>
            <a:r>
              <a:rPr lang="en-US" sz="1600" dirty="0">
                <a:sym typeface="Wingdings" panose="05000000000000000000" pitchFamily="2" charset="2"/>
              </a:rPr>
              <a:t>So, profit should decrease by $100?</a:t>
            </a:r>
          </a:p>
          <a:p>
            <a:pPr lvl="1"/>
            <a:r>
              <a:rPr lang="en-US" sz="2000" dirty="0">
                <a:sym typeface="Wingdings" panose="05000000000000000000" pitchFamily="2" charset="2"/>
              </a:rPr>
              <a:t>So, one expects $150-$100=$50 change in the profit </a:t>
            </a:r>
          </a:p>
          <a:p>
            <a:pPr lvl="1"/>
            <a:r>
              <a:rPr lang="en-US" sz="2000" dirty="0">
                <a:sym typeface="Wingdings" panose="05000000000000000000" pitchFamily="2" charset="2"/>
              </a:rPr>
              <a:t>However,</a:t>
            </a:r>
            <a:r>
              <a:rPr lang="en-US" sz="1800" dirty="0">
                <a:sym typeface="Wingdings" panose="05000000000000000000" pitchFamily="2" charset="2"/>
              </a:rPr>
              <a:t> </a:t>
            </a:r>
            <a:r>
              <a:rPr lang="en-US" sz="2000" dirty="0">
                <a:sym typeface="Wingdings" panose="05000000000000000000" pitchFamily="2" charset="2"/>
              </a:rPr>
              <a:t>if these changes are made simultaneously, we do not know if the shadow prices remain valid</a:t>
            </a:r>
          </a:p>
          <a:p>
            <a:pPr lvl="1"/>
            <a:r>
              <a:rPr lang="en-US" sz="2000" dirty="0">
                <a:sym typeface="Wingdings" panose="05000000000000000000" pitchFamily="2" charset="2"/>
              </a:rPr>
              <a:t>A quick way to check the effect of these two changes is to re-solve the problem:</a:t>
            </a:r>
            <a:endParaRPr lang="en-US" dirty="0"/>
          </a:p>
          <a:p>
            <a:endParaRPr lang="en-US" dirty="0"/>
          </a:p>
        </p:txBody>
      </p:sp>
      <p:pic>
        <p:nvPicPr>
          <p:cNvPr id="5" name="Picture 4"/>
          <p:cNvPicPr>
            <a:picLocks noChangeAspect="1"/>
          </p:cNvPicPr>
          <p:nvPr/>
        </p:nvPicPr>
        <p:blipFill>
          <a:blip r:embed="rId3"/>
          <a:stretch>
            <a:fillRect/>
          </a:stretch>
        </p:blipFill>
        <p:spPr>
          <a:xfrm>
            <a:off x="7113585" y="2178219"/>
            <a:ext cx="4419600" cy="800100"/>
          </a:xfrm>
          <a:prstGeom prst="rect">
            <a:avLst/>
          </a:prstGeom>
        </p:spPr>
      </p:pic>
      <p:pic>
        <p:nvPicPr>
          <p:cNvPr id="7" name="Picture 6"/>
          <p:cNvPicPr>
            <a:picLocks noChangeAspect="1"/>
          </p:cNvPicPr>
          <p:nvPr/>
        </p:nvPicPr>
        <p:blipFill>
          <a:blip r:embed="rId4"/>
          <a:stretch>
            <a:fillRect/>
          </a:stretch>
        </p:blipFill>
        <p:spPr>
          <a:xfrm>
            <a:off x="2720972" y="4554959"/>
            <a:ext cx="3821342" cy="1843315"/>
          </a:xfrm>
          <a:prstGeom prst="rect">
            <a:avLst/>
          </a:prstGeom>
        </p:spPr>
      </p:pic>
      <p:sp>
        <p:nvSpPr>
          <p:cNvPr id="8" name="TextBox 7"/>
          <p:cNvSpPr txBox="1"/>
          <p:nvPr/>
        </p:nvSpPr>
        <p:spPr>
          <a:xfrm>
            <a:off x="7228114" y="4778829"/>
            <a:ext cx="4169229" cy="1477328"/>
          </a:xfrm>
          <a:prstGeom prst="rect">
            <a:avLst/>
          </a:prstGeom>
          <a:noFill/>
        </p:spPr>
        <p:txBody>
          <a:bodyPr wrap="square" rtlCol="0">
            <a:spAutoFit/>
          </a:bodyPr>
          <a:lstStyle/>
          <a:p>
            <a:r>
              <a:rPr lang="en-US" dirty="0"/>
              <a:t>Indeed, there is $50 increase in the profit</a:t>
            </a:r>
          </a:p>
          <a:p>
            <a:pPr marL="285750" indent="-285750">
              <a:buFont typeface="Arial" panose="020B0604020202020204" pitchFamily="34" charset="0"/>
              <a:buChar char="•"/>
            </a:pPr>
            <a:r>
              <a:rPr lang="en-US" dirty="0"/>
              <a:t>So, shadow prices are valid for these particular simultaneous changes…</a:t>
            </a:r>
          </a:p>
          <a:p>
            <a:pPr marL="285750" indent="-285750">
              <a:buFont typeface="Arial" panose="020B0604020202020204" pitchFamily="34" charset="0"/>
              <a:buChar char="•"/>
            </a:pPr>
            <a:r>
              <a:rPr lang="en-US" dirty="0"/>
              <a:t>But how long will they remain valid if we continue shifting production hours?</a:t>
            </a:r>
          </a:p>
        </p:txBody>
      </p:sp>
    </p:spTree>
    <p:extLst>
      <p:ext uri="{BB962C8B-B14F-4D97-AF65-F5344CB8AC3E}">
        <p14:creationId xmlns:p14="http://schemas.microsoft.com/office/powerpoint/2010/main" val="31819329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3">
                                            <p:txEl>
                                              <p:pRg st="2" end="2"/>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3">
                                            <p:txEl>
                                              <p:pRg st="3" end="3"/>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3">
                                            <p:txEl>
                                              <p:pRg st="4" end="4"/>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3">
                                            <p:txEl>
                                              <p:pRg st="5" end="5"/>
                                            </p:txEl>
                                          </p:spTgt>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5"/>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nodeType="clickEffect">
                                  <p:stCondLst>
                                    <p:cond delay="0"/>
                                  </p:stCondLst>
                                  <p:childTnLst>
                                    <p:set>
                                      <p:cBhvr>
                                        <p:cTn id="20" dur="1" fill="hold">
                                          <p:stCondLst>
                                            <p:cond delay="0"/>
                                          </p:stCondLst>
                                        </p:cTn>
                                        <p:tgtEl>
                                          <p:spTgt spid="3">
                                            <p:txEl>
                                              <p:pRg st="6" end="6"/>
                                            </p:txEl>
                                          </p:spTgt>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3">
                                            <p:txEl>
                                              <p:pRg st="8" end="8"/>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7"/>
                                        </p:tgtEl>
                                        <p:attrNameLst>
                                          <p:attrName>style.visibility</p:attrName>
                                        </p:attrNameLst>
                                      </p:cBhvr>
                                      <p:to>
                                        <p:strVal val="visible"/>
                                      </p:to>
                                    </p:set>
                                  </p:childTnLst>
                                </p:cTn>
                              </p:par>
                              <p:par>
                                <p:cTn id="31" presetID="1" presetClass="entr" presetSubtype="0" fill="hold" grpId="0" nodeType="withEffect">
                                  <p:stCondLst>
                                    <p:cond delay="0"/>
                                  </p:stCondLst>
                                  <p:childTnLst>
                                    <p:set>
                                      <p:cBhvr>
                                        <p:cTn id="32" dur="1" fill="hold">
                                          <p:stCondLst>
                                            <p:cond delay="0"/>
                                          </p:stCondLst>
                                        </p:cTn>
                                        <p:tgtEl>
                                          <p:spTgt spid="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p:bld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Effect of Simultaneous Changes</a:t>
            </a:r>
          </a:p>
        </p:txBody>
      </p:sp>
      <p:sp>
        <p:nvSpPr>
          <p:cNvPr id="3" name="Content Placeholder 2"/>
          <p:cNvSpPr>
            <a:spLocks noGrp="1"/>
          </p:cNvSpPr>
          <p:nvPr>
            <p:ph idx="1"/>
          </p:nvPr>
        </p:nvSpPr>
        <p:spPr/>
        <p:txBody>
          <a:bodyPr/>
          <a:lstStyle/>
          <a:p>
            <a:r>
              <a:rPr lang="en-US" b="1" u="sng" dirty="0"/>
              <a:t>Simultaneous Changes in Constraint Right-Hand Sides (Chapter 5.6):</a:t>
            </a:r>
          </a:p>
          <a:p>
            <a:r>
              <a:rPr lang="en-US" sz="2400" dirty="0"/>
              <a:t>When there are multiple changes in constraint right-hand sides, instead of looking whether each change is within the allowable range, </a:t>
            </a:r>
            <a:r>
              <a:rPr lang="en-US" sz="2400" u="sng" dirty="0"/>
              <a:t>we will look at the total percentage change to see if the shadow prices will remain valid</a:t>
            </a:r>
          </a:p>
          <a:p>
            <a:pPr lvl="1"/>
            <a:r>
              <a:rPr lang="en-US" b="1" dirty="0">
                <a:solidFill>
                  <a:srgbClr val="C00000"/>
                </a:solidFill>
              </a:rPr>
              <a:t>100% Rule Simultaneous Changes in Constraint Right-Hand Sides: </a:t>
            </a:r>
            <a:r>
              <a:rPr lang="en-US" dirty="0"/>
              <a:t>The shadow prices remain valid for predicting the effect of simultaneously changing the right-hand sides of some of the functional constraints as long as the changes are not too large. To check whether the changes are small enough, calculate for each change the percentage of the allowable change (decrease or increase) for that right-hand side to remain within its allowable range. If the sum of the percentage changes does not exceed 100 percent, the shadow prices definitely will still be valid. </a:t>
            </a:r>
          </a:p>
          <a:p>
            <a:pPr lvl="2"/>
            <a:r>
              <a:rPr lang="en-US" dirty="0"/>
              <a:t>If the sum is 100% or exceeds 100%, then we cannot be sure. That is, the shadow prices may or may not change!</a:t>
            </a:r>
          </a:p>
          <a:p>
            <a:pPr lvl="1"/>
            <a:endParaRPr lang="en-US" dirty="0"/>
          </a:p>
          <a:p>
            <a:endParaRPr lang="en-US" dirty="0"/>
          </a:p>
          <a:p>
            <a:endParaRPr lang="en-US" dirty="0"/>
          </a:p>
        </p:txBody>
      </p:sp>
    </p:spTree>
    <p:extLst>
      <p:ext uri="{BB962C8B-B14F-4D97-AF65-F5344CB8AC3E}">
        <p14:creationId xmlns:p14="http://schemas.microsoft.com/office/powerpoint/2010/main" val="142614495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Effect of Simultaneous Changes</a:t>
            </a:r>
          </a:p>
        </p:txBody>
      </p:sp>
      <p:sp>
        <p:nvSpPr>
          <p:cNvPr id="3" name="Content Placeholder 2"/>
          <p:cNvSpPr>
            <a:spLocks noGrp="1"/>
          </p:cNvSpPr>
          <p:nvPr>
            <p:ph idx="1"/>
          </p:nvPr>
        </p:nvSpPr>
        <p:spPr>
          <a:xfrm>
            <a:off x="355002" y="1312433"/>
            <a:ext cx="11478410" cy="4864530"/>
          </a:xfrm>
        </p:spPr>
        <p:txBody>
          <a:bodyPr/>
          <a:lstStyle/>
          <a:p>
            <a:r>
              <a:rPr lang="en-US" b="1" u="sng" dirty="0"/>
              <a:t>Simultaneous Changes in Constraint Right-Hand Sides (Chapter 5.6):</a:t>
            </a:r>
          </a:p>
          <a:p>
            <a:r>
              <a:rPr lang="en-US" sz="2400" dirty="0"/>
              <a:t>Consider the </a:t>
            </a:r>
            <a:r>
              <a:rPr lang="en-US" sz="2400" dirty="0" err="1"/>
              <a:t>Wyndor</a:t>
            </a:r>
            <a:r>
              <a:rPr lang="en-US" sz="2400" dirty="0"/>
              <a:t> Glass Co. Product Mix Problem: </a:t>
            </a:r>
          </a:p>
          <a:p>
            <a:pPr lvl="1"/>
            <a:r>
              <a:rPr lang="en-US" sz="2000" dirty="0"/>
              <a:t>Plant 2 time changes: 12</a:t>
            </a:r>
            <a:r>
              <a:rPr lang="en-US" sz="2000" dirty="0">
                <a:sym typeface="Wingdings" panose="05000000000000000000" pitchFamily="2" charset="2"/>
              </a:rPr>
              <a:t> 13</a:t>
            </a:r>
          </a:p>
          <a:p>
            <a:pPr lvl="2"/>
            <a:r>
              <a:rPr lang="en-US" sz="1600" dirty="0">
                <a:sym typeface="Wingdings" panose="05000000000000000000" pitchFamily="2" charset="2"/>
              </a:rPr>
              <a:t>So, profit should increase by $150?</a:t>
            </a:r>
          </a:p>
          <a:p>
            <a:pPr lvl="1"/>
            <a:r>
              <a:rPr lang="en-US" sz="2000" dirty="0"/>
              <a:t>Plant 3 time changes: 18</a:t>
            </a:r>
            <a:r>
              <a:rPr lang="en-US" sz="2000" dirty="0">
                <a:sym typeface="Wingdings" panose="05000000000000000000" pitchFamily="2" charset="2"/>
              </a:rPr>
              <a:t> 17</a:t>
            </a:r>
          </a:p>
          <a:p>
            <a:pPr lvl="2"/>
            <a:r>
              <a:rPr lang="en-US" sz="1600" dirty="0">
                <a:sym typeface="Wingdings" panose="05000000000000000000" pitchFamily="2" charset="2"/>
              </a:rPr>
              <a:t>So, profit should decrease by $100?</a:t>
            </a:r>
          </a:p>
          <a:p>
            <a:pPr lvl="1"/>
            <a:r>
              <a:rPr lang="en-US" sz="2000" dirty="0">
                <a:sym typeface="Wingdings" panose="05000000000000000000" pitchFamily="2" charset="2"/>
              </a:rPr>
              <a:t>Apply 100% Rule:</a:t>
            </a:r>
          </a:p>
          <a:p>
            <a:pPr lvl="2"/>
            <a:r>
              <a:rPr lang="en-US" sz="1800" dirty="0">
                <a:sym typeface="Wingdings" panose="05000000000000000000" pitchFamily="2" charset="2"/>
              </a:rPr>
              <a:t>Plant 2 time increases: % change = increase / allowable increase  = (13-12)/6 = 16.6 %</a:t>
            </a:r>
          </a:p>
          <a:p>
            <a:pPr lvl="2"/>
            <a:r>
              <a:rPr lang="en-US" sz="1800" dirty="0">
                <a:sym typeface="Wingdings" panose="05000000000000000000" pitchFamily="2" charset="2"/>
              </a:rPr>
              <a:t>Plant 3 time decreases: % change = decrease / allowable decrease  = (18-17)/6 = 16.6 %</a:t>
            </a:r>
          </a:p>
          <a:p>
            <a:pPr lvl="2"/>
            <a:r>
              <a:rPr lang="en-US" sz="1800" dirty="0">
                <a:sym typeface="Wingdings" panose="05000000000000000000" pitchFamily="2" charset="2"/>
              </a:rPr>
              <a:t>Total change: 16.6%+16.6% = 33.3%</a:t>
            </a:r>
          </a:p>
          <a:p>
            <a:pPr lvl="3"/>
            <a:r>
              <a:rPr lang="en-US" sz="1600" dirty="0">
                <a:sym typeface="Wingdings" panose="05000000000000000000" pitchFamily="2" charset="2"/>
              </a:rPr>
              <a:t>33.3% &lt; 100%, so shadow prices will remain valid</a:t>
            </a:r>
          </a:p>
          <a:p>
            <a:pPr lvl="3"/>
            <a:r>
              <a:rPr lang="en-US" sz="1600" dirty="0">
                <a:sym typeface="Wingdings" panose="05000000000000000000" pitchFamily="2" charset="2"/>
              </a:rPr>
              <a:t>Therefore, we can say that profit will change by $150-$100 = $50</a:t>
            </a:r>
            <a:endParaRPr lang="en-US" dirty="0"/>
          </a:p>
          <a:p>
            <a:pPr lvl="1"/>
            <a:endParaRPr lang="en-US" dirty="0"/>
          </a:p>
          <a:p>
            <a:endParaRPr lang="en-US" dirty="0"/>
          </a:p>
        </p:txBody>
      </p:sp>
      <p:pic>
        <p:nvPicPr>
          <p:cNvPr id="5" name="Picture 4"/>
          <p:cNvPicPr>
            <a:picLocks noChangeAspect="1"/>
          </p:cNvPicPr>
          <p:nvPr/>
        </p:nvPicPr>
        <p:blipFill>
          <a:blip r:embed="rId3"/>
          <a:stretch>
            <a:fillRect/>
          </a:stretch>
        </p:blipFill>
        <p:spPr>
          <a:xfrm>
            <a:off x="7113585" y="2178219"/>
            <a:ext cx="4419600" cy="800100"/>
          </a:xfrm>
          <a:prstGeom prst="rect">
            <a:avLst/>
          </a:prstGeom>
        </p:spPr>
      </p:pic>
    </p:spTree>
    <p:extLst>
      <p:ext uri="{BB962C8B-B14F-4D97-AF65-F5344CB8AC3E}">
        <p14:creationId xmlns:p14="http://schemas.microsoft.com/office/powerpoint/2010/main" val="2270882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3">
                                            <p:txEl>
                                              <p:pRg st="2" end="2"/>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3">
                                            <p:txEl>
                                              <p:pRg st="3" end="3"/>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3">
                                            <p:txEl>
                                              <p:pRg st="4" end="4"/>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3">
                                            <p:txEl>
                                              <p:pRg st="5" end="5"/>
                                            </p:txEl>
                                          </p:spTgt>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5"/>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nodeType="clickEffect">
                                  <p:stCondLst>
                                    <p:cond delay="0"/>
                                  </p:stCondLst>
                                  <p:childTnLst>
                                    <p:set>
                                      <p:cBhvr>
                                        <p:cTn id="20"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nodeType="clickEffect">
                                  <p:stCondLst>
                                    <p:cond delay="0"/>
                                  </p:stCondLst>
                                  <p:childTnLst>
                                    <p:set>
                                      <p:cBhvr>
                                        <p:cTn id="24"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nodeType="clickEffect">
                                  <p:stCondLst>
                                    <p:cond delay="0"/>
                                  </p:stCondLst>
                                  <p:childTnLst>
                                    <p:set>
                                      <p:cBhvr>
                                        <p:cTn id="28" dur="1" fill="hold">
                                          <p:stCondLst>
                                            <p:cond delay="0"/>
                                          </p:stCondLst>
                                        </p:cTn>
                                        <p:tgtEl>
                                          <p:spTgt spid="3">
                                            <p:txEl>
                                              <p:pRg st="8" end="8"/>
                                            </p:txEl>
                                          </p:spTgt>
                                        </p:tgtEl>
                                        <p:attrNameLst>
                                          <p:attrName>style.visibility</p:attrName>
                                        </p:attrNameLst>
                                      </p:cBhvr>
                                      <p:to>
                                        <p:strVal val="visible"/>
                                      </p:to>
                                    </p:set>
                                  </p:childTnLst>
                                </p:cTn>
                              </p:par>
                            </p:childTnLst>
                          </p:cTn>
                        </p:par>
                      </p:childTnLst>
                    </p:cTn>
                  </p:par>
                  <p:par>
                    <p:cTn id="29" fill="hold">
                      <p:stCondLst>
                        <p:cond delay="indefinite"/>
                      </p:stCondLst>
                      <p:childTnLst>
                        <p:par>
                          <p:cTn id="30" fill="hold">
                            <p:stCondLst>
                              <p:cond delay="0"/>
                            </p:stCondLst>
                            <p:childTnLst>
                              <p:par>
                                <p:cTn id="31" presetID="1" presetClass="entr" presetSubtype="0" fill="hold" nodeType="clickEffect">
                                  <p:stCondLst>
                                    <p:cond delay="0"/>
                                  </p:stCondLst>
                                  <p:childTnLst>
                                    <p:set>
                                      <p:cBhvr>
                                        <p:cTn id="32" dur="1" fill="hold">
                                          <p:stCondLst>
                                            <p:cond delay="0"/>
                                          </p:stCondLst>
                                        </p:cTn>
                                        <p:tgtEl>
                                          <p:spTgt spid="3">
                                            <p:txEl>
                                              <p:pRg st="9" end="9"/>
                                            </p:txEl>
                                          </p:spTgt>
                                        </p:tgtEl>
                                        <p:attrNameLst>
                                          <p:attrName>style.visibility</p:attrName>
                                        </p:attrNameLst>
                                      </p:cBhvr>
                                      <p:to>
                                        <p:strVal val="visible"/>
                                      </p:to>
                                    </p:set>
                                  </p:childTnLst>
                                </p:cTn>
                              </p:par>
                            </p:childTnLst>
                          </p:cTn>
                        </p:par>
                      </p:childTnLst>
                    </p:cTn>
                  </p:par>
                  <p:par>
                    <p:cTn id="33" fill="hold">
                      <p:stCondLst>
                        <p:cond delay="indefinite"/>
                      </p:stCondLst>
                      <p:childTnLst>
                        <p:par>
                          <p:cTn id="34" fill="hold">
                            <p:stCondLst>
                              <p:cond delay="0"/>
                            </p:stCondLst>
                            <p:childTnLst>
                              <p:par>
                                <p:cTn id="35" presetID="1" presetClass="entr" presetSubtype="0" fill="hold" nodeType="clickEffect">
                                  <p:stCondLst>
                                    <p:cond delay="0"/>
                                  </p:stCondLst>
                                  <p:childTnLst>
                                    <p:set>
                                      <p:cBhvr>
                                        <p:cTn id="36" dur="1" fill="hold">
                                          <p:stCondLst>
                                            <p:cond delay="0"/>
                                          </p:stCondLst>
                                        </p:cTn>
                                        <p:tgtEl>
                                          <p:spTgt spid="3">
                                            <p:txEl>
                                              <p:pRg st="10" end="10"/>
                                            </p:txEl>
                                          </p:spTgt>
                                        </p:tgtEl>
                                        <p:attrNameLst>
                                          <p:attrName>style.visibility</p:attrName>
                                        </p:attrNameLst>
                                      </p:cBhvr>
                                      <p:to>
                                        <p:strVal val="visible"/>
                                      </p:to>
                                    </p:set>
                                  </p:childTnLst>
                                </p:cTn>
                              </p:par>
                              <p:par>
                                <p:cTn id="37" presetID="1" presetClass="entr" presetSubtype="0" fill="hold" nodeType="withEffect">
                                  <p:stCondLst>
                                    <p:cond delay="0"/>
                                  </p:stCondLst>
                                  <p:childTnLst>
                                    <p:set>
                                      <p:cBhvr>
                                        <p:cTn id="38" dur="1" fill="hold">
                                          <p:stCondLst>
                                            <p:cond delay="0"/>
                                          </p:stCondLst>
                                        </p:cTn>
                                        <p:tgtEl>
                                          <p:spTgt spid="3">
                                            <p:txEl>
                                              <p:pRg st="11" end="1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Effect of Simultaneous Changes</a:t>
            </a:r>
          </a:p>
        </p:txBody>
      </p:sp>
      <p:sp>
        <p:nvSpPr>
          <p:cNvPr id="3" name="Content Placeholder 2"/>
          <p:cNvSpPr>
            <a:spLocks noGrp="1"/>
          </p:cNvSpPr>
          <p:nvPr>
            <p:ph idx="1"/>
          </p:nvPr>
        </p:nvSpPr>
        <p:spPr>
          <a:xfrm>
            <a:off x="355002" y="1312433"/>
            <a:ext cx="11478410" cy="4864530"/>
          </a:xfrm>
        </p:spPr>
        <p:txBody>
          <a:bodyPr/>
          <a:lstStyle/>
          <a:p>
            <a:r>
              <a:rPr lang="en-US" b="1" u="sng" dirty="0"/>
              <a:t>Simultaneous Changes in Constraint Right-Hand Sides (Chapter 5.6):</a:t>
            </a:r>
          </a:p>
          <a:p>
            <a:r>
              <a:rPr lang="en-US" sz="2400" dirty="0"/>
              <a:t>Consider the </a:t>
            </a:r>
            <a:r>
              <a:rPr lang="en-US" sz="2400" dirty="0" err="1"/>
              <a:t>Wyndor</a:t>
            </a:r>
            <a:r>
              <a:rPr lang="en-US" sz="2400" dirty="0"/>
              <a:t> Glass Co. Product Mix Problem: </a:t>
            </a:r>
          </a:p>
          <a:p>
            <a:pPr lvl="1"/>
            <a:r>
              <a:rPr lang="en-US" sz="2000" dirty="0"/>
              <a:t>Plant 2 time changes: 12</a:t>
            </a:r>
            <a:r>
              <a:rPr lang="en-US" sz="2000" dirty="0">
                <a:sym typeface="Wingdings" panose="05000000000000000000" pitchFamily="2" charset="2"/>
              </a:rPr>
              <a:t> 16</a:t>
            </a:r>
          </a:p>
          <a:p>
            <a:pPr lvl="2"/>
            <a:r>
              <a:rPr lang="en-US" sz="1600" dirty="0">
                <a:sym typeface="Wingdings" panose="05000000000000000000" pitchFamily="2" charset="2"/>
              </a:rPr>
              <a:t>So, profit should increase by 4x$150?</a:t>
            </a:r>
          </a:p>
          <a:p>
            <a:pPr lvl="1"/>
            <a:r>
              <a:rPr lang="en-US" sz="2000" dirty="0"/>
              <a:t>Plant 3 time changes: 18</a:t>
            </a:r>
            <a:r>
              <a:rPr lang="en-US" sz="2000" dirty="0">
                <a:sym typeface="Wingdings" panose="05000000000000000000" pitchFamily="2" charset="2"/>
              </a:rPr>
              <a:t> 13</a:t>
            </a:r>
          </a:p>
          <a:p>
            <a:pPr lvl="2"/>
            <a:r>
              <a:rPr lang="en-US" sz="1600" dirty="0">
                <a:sym typeface="Wingdings" panose="05000000000000000000" pitchFamily="2" charset="2"/>
              </a:rPr>
              <a:t>So, profit should decrease by 5x$100 (change by -5x$100)?</a:t>
            </a:r>
          </a:p>
          <a:p>
            <a:pPr lvl="1"/>
            <a:r>
              <a:rPr lang="en-US" sz="2000" dirty="0">
                <a:sym typeface="Wingdings" panose="05000000000000000000" pitchFamily="2" charset="2"/>
              </a:rPr>
              <a:t>Apply 100% Rule:</a:t>
            </a:r>
          </a:p>
          <a:p>
            <a:pPr lvl="2"/>
            <a:r>
              <a:rPr lang="en-US" sz="1800" dirty="0">
                <a:sym typeface="Wingdings" panose="05000000000000000000" pitchFamily="2" charset="2"/>
              </a:rPr>
              <a:t>Plant 2 time increases: % change = increase / allowable increase  = (16-12)/6 = 66.6 %</a:t>
            </a:r>
          </a:p>
          <a:p>
            <a:pPr lvl="2"/>
            <a:r>
              <a:rPr lang="en-US" sz="1800" dirty="0">
                <a:sym typeface="Wingdings" panose="05000000000000000000" pitchFamily="2" charset="2"/>
              </a:rPr>
              <a:t>Plant 3 time decreases: % change = decrease / allowable decrease  = (18-13)/6 = 83.33 %</a:t>
            </a:r>
          </a:p>
          <a:p>
            <a:pPr lvl="2"/>
            <a:r>
              <a:rPr lang="en-US" sz="1800" dirty="0">
                <a:sym typeface="Wingdings" panose="05000000000000000000" pitchFamily="2" charset="2"/>
              </a:rPr>
              <a:t>Total change: 66.6%+83.3%= 150%</a:t>
            </a:r>
          </a:p>
          <a:p>
            <a:pPr lvl="3"/>
            <a:r>
              <a:rPr lang="en-US" sz="1600" dirty="0">
                <a:sym typeface="Wingdings" panose="05000000000000000000" pitchFamily="2" charset="2"/>
              </a:rPr>
              <a:t>150% &gt; 100%, so shadow prices can change</a:t>
            </a:r>
          </a:p>
          <a:p>
            <a:pPr lvl="3"/>
            <a:r>
              <a:rPr lang="en-US" sz="1600" dirty="0">
                <a:sym typeface="Wingdings" panose="05000000000000000000" pitchFamily="2" charset="2"/>
              </a:rPr>
              <a:t>Indeed, they will</a:t>
            </a:r>
          </a:p>
          <a:p>
            <a:pPr lvl="3"/>
            <a:r>
              <a:rPr lang="en-US" sz="1600" dirty="0">
                <a:sym typeface="Wingdings" panose="05000000000000000000" pitchFamily="2" charset="2"/>
              </a:rPr>
              <a:t>If they would not change, we expect 4*150-5*100=$100 </a:t>
            </a:r>
          </a:p>
          <a:p>
            <a:pPr marL="1371600" lvl="3" indent="0">
              <a:buNone/>
            </a:pPr>
            <a:r>
              <a:rPr lang="en-US" sz="1600" dirty="0">
                <a:sym typeface="Wingdings" panose="05000000000000000000" pitchFamily="2" charset="2"/>
              </a:rPr>
              <a:t>     change in the profit</a:t>
            </a:r>
          </a:p>
          <a:p>
            <a:pPr lvl="3"/>
            <a:r>
              <a:rPr lang="en-US" sz="1600" dirty="0">
                <a:sym typeface="Wingdings" panose="05000000000000000000" pitchFamily="2" charset="2"/>
              </a:rPr>
              <a:t>But the change is 3600-3250=$350</a:t>
            </a:r>
            <a:endParaRPr lang="en-US" dirty="0"/>
          </a:p>
          <a:p>
            <a:endParaRPr lang="en-US" dirty="0"/>
          </a:p>
        </p:txBody>
      </p:sp>
      <p:pic>
        <p:nvPicPr>
          <p:cNvPr id="5" name="Picture 4"/>
          <p:cNvPicPr>
            <a:picLocks noChangeAspect="1"/>
          </p:cNvPicPr>
          <p:nvPr/>
        </p:nvPicPr>
        <p:blipFill>
          <a:blip r:embed="rId3"/>
          <a:stretch>
            <a:fillRect/>
          </a:stretch>
        </p:blipFill>
        <p:spPr>
          <a:xfrm>
            <a:off x="7113585" y="2178219"/>
            <a:ext cx="4419600" cy="800100"/>
          </a:xfrm>
          <a:prstGeom prst="rect">
            <a:avLst/>
          </a:prstGeom>
        </p:spPr>
      </p:pic>
      <p:pic>
        <p:nvPicPr>
          <p:cNvPr id="4" name="Picture 3"/>
          <p:cNvPicPr>
            <a:picLocks noChangeAspect="1"/>
          </p:cNvPicPr>
          <p:nvPr/>
        </p:nvPicPr>
        <p:blipFill>
          <a:blip r:embed="rId4"/>
          <a:stretch>
            <a:fillRect/>
          </a:stretch>
        </p:blipFill>
        <p:spPr>
          <a:xfrm>
            <a:off x="7641314" y="4698635"/>
            <a:ext cx="3891871" cy="1877337"/>
          </a:xfrm>
          <a:prstGeom prst="rect">
            <a:avLst/>
          </a:prstGeom>
        </p:spPr>
      </p:pic>
    </p:spTree>
    <p:extLst>
      <p:ext uri="{BB962C8B-B14F-4D97-AF65-F5344CB8AC3E}">
        <p14:creationId xmlns:p14="http://schemas.microsoft.com/office/powerpoint/2010/main" val="238402142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8" end="8"/>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9" end="9"/>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
                                            <p:txEl>
                                              <p:pRg st="10" end="10"/>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3">
                                            <p:txEl>
                                              <p:pRg st="11" end="11"/>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3">
                                            <p:txEl>
                                              <p:pRg st="12" end="12"/>
                                            </p:txEl>
                                          </p:spTgt>
                                        </p:tgtEl>
                                        <p:attrNameLst>
                                          <p:attrName>style.visibility</p:attrName>
                                        </p:attrNameLst>
                                      </p:cBhvr>
                                      <p:to>
                                        <p:strVal val="visible"/>
                                      </p:to>
                                    </p:set>
                                  </p:childTnLst>
                                </p:cTn>
                              </p:par>
                              <p:par>
                                <p:cTn id="31" presetID="1" presetClass="entr" presetSubtype="0" fill="hold" nodeType="withEffect">
                                  <p:stCondLst>
                                    <p:cond delay="0"/>
                                  </p:stCondLst>
                                  <p:childTnLst>
                                    <p:set>
                                      <p:cBhvr>
                                        <p:cTn id="32" dur="1" fill="hold">
                                          <p:stCondLst>
                                            <p:cond delay="0"/>
                                          </p:stCondLst>
                                        </p:cTn>
                                        <p:tgtEl>
                                          <p:spTgt spid="3">
                                            <p:txEl>
                                              <p:pRg st="13" end="13"/>
                                            </p:txEl>
                                          </p:spTgt>
                                        </p:tgtEl>
                                        <p:attrNameLst>
                                          <p:attrName>style.visibility</p:attrName>
                                        </p:attrNameLst>
                                      </p:cBhvr>
                                      <p:to>
                                        <p:strVal val="visible"/>
                                      </p:to>
                                    </p:set>
                                  </p:childTnLst>
                                </p:cTn>
                              </p:par>
                            </p:childTnLst>
                          </p:cTn>
                        </p:par>
                      </p:childTnLst>
                    </p:cTn>
                  </p:par>
                  <p:par>
                    <p:cTn id="33" fill="hold">
                      <p:stCondLst>
                        <p:cond delay="indefinite"/>
                      </p:stCondLst>
                      <p:childTnLst>
                        <p:par>
                          <p:cTn id="34" fill="hold">
                            <p:stCondLst>
                              <p:cond delay="0"/>
                            </p:stCondLst>
                            <p:childTnLst>
                              <p:par>
                                <p:cTn id="35" presetID="1" presetClass="entr" presetSubtype="0" fill="hold" nodeType="clickEffect">
                                  <p:stCondLst>
                                    <p:cond delay="0"/>
                                  </p:stCondLst>
                                  <p:childTnLst>
                                    <p:set>
                                      <p:cBhvr>
                                        <p:cTn id="36" dur="1" fill="hold">
                                          <p:stCondLst>
                                            <p:cond delay="0"/>
                                          </p:stCondLst>
                                        </p:cTn>
                                        <p:tgtEl>
                                          <p:spTgt spid="3">
                                            <p:txEl>
                                              <p:pRg st="14" end="14"/>
                                            </p:txEl>
                                          </p:spTgt>
                                        </p:tgtEl>
                                        <p:attrNameLst>
                                          <p:attrName>style.visibility</p:attrName>
                                        </p:attrNameLst>
                                      </p:cBhvr>
                                      <p:to>
                                        <p:strVal val="visible"/>
                                      </p:to>
                                    </p:set>
                                  </p:childTnLst>
                                </p:cTn>
                              </p:par>
                              <p:par>
                                <p:cTn id="37" presetID="1" presetClass="entr" presetSubtype="0" fill="hold" nodeType="withEffect">
                                  <p:stCondLst>
                                    <p:cond delay="0"/>
                                  </p:stCondLst>
                                  <p:childTnLst>
                                    <p:set>
                                      <p:cBhvr>
                                        <p:cTn id="38" dur="1" fill="hold">
                                          <p:stCondLst>
                                            <p:cond delay="0"/>
                                          </p:stCondLst>
                                        </p:cTn>
                                        <p:tgtEl>
                                          <p:spTgt spid="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Outline</a:t>
            </a:r>
          </a:p>
        </p:txBody>
      </p:sp>
      <p:sp>
        <p:nvSpPr>
          <p:cNvPr id="3" name="Content Placeholder 2"/>
          <p:cNvSpPr>
            <a:spLocks noGrp="1"/>
          </p:cNvSpPr>
          <p:nvPr>
            <p:ph idx="1"/>
          </p:nvPr>
        </p:nvSpPr>
        <p:spPr/>
        <p:txBody>
          <a:bodyPr/>
          <a:lstStyle/>
          <a:p>
            <a:r>
              <a:rPr lang="en-US" dirty="0">
                <a:solidFill>
                  <a:schemeClr val="bg2"/>
                </a:solidFill>
              </a:rPr>
              <a:t>Sensitivity Analysis and Excel Reports (Chapter 5)</a:t>
            </a:r>
          </a:p>
          <a:p>
            <a:r>
              <a:rPr lang="en-US" dirty="0">
                <a:solidFill>
                  <a:schemeClr val="bg2"/>
                </a:solidFill>
              </a:rPr>
              <a:t>Single Change in the Objective Function  (Chapter 5.3)</a:t>
            </a:r>
          </a:p>
          <a:p>
            <a:r>
              <a:rPr lang="en-US" dirty="0">
                <a:solidFill>
                  <a:schemeClr val="bg2"/>
                </a:solidFill>
              </a:rPr>
              <a:t>Single Change in a Constraint (Chapter 5.5)</a:t>
            </a:r>
          </a:p>
          <a:p>
            <a:r>
              <a:rPr lang="en-US" dirty="0">
                <a:solidFill>
                  <a:schemeClr val="bg2"/>
                </a:solidFill>
              </a:rPr>
              <a:t>Effect of Simultaneous Changes</a:t>
            </a:r>
          </a:p>
          <a:p>
            <a:pPr lvl="1"/>
            <a:r>
              <a:rPr lang="en-US" dirty="0">
                <a:solidFill>
                  <a:schemeClr val="bg2"/>
                </a:solidFill>
              </a:rPr>
              <a:t>Changes in the Objective Function (Chapter 5.4)</a:t>
            </a:r>
          </a:p>
          <a:p>
            <a:pPr lvl="1"/>
            <a:r>
              <a:rPr lang="en-US" dirty="0">
                <a:solidFill>
                  <a:schemeClr val="bg2"/>
                </a:solidFill>
              </a:rPr>
              <a:t>Changes in Constraints (Chapter 5.6)</a:t>
            </a:r>
          </a:p>
          <a:p>
            <a:r>
              <a:rPr lang="en-US" dirty="0"/>
              <a:t>Changes in the Model (not in the textbook)</a:t>
            </a:r>
          </a:p>
          <a:p>
            <a:r>
              <a:rPr lang="en-US" dirty="0">
                <a:solidFill>
                  <a:schemeClr val="bg2"/>
                </a:solidFill>
              </a:rPr>
              <a:t>Linear Programming Duality (not in the textbook)</a:t>
            </a:r>
          </a:p>
          <a:p>
            <a:pPr lvl="1"/>
            <a:r>
              <a:rPr lang="en-US" dirty="0">
                <a:solidFill>
                  <a:schemeClr val="bg2"/>
                </a:solidFill>
              </a:rPr>
              <a:t>Formulating the dual problem</a:t>
            </a:r>
          </a:p>
          <a:p>
            <a:pPr lvl="1"/>
            <a:r>
              <a:rPr lang="en-US" dirty="0">
                <a:solidFill>
                  <a:schemeClr val="bg2"/>
                </a:solidFill>
              </a:rPr>
              <a:t>Primal-dual relations</a:t>
            </a:r>
          </a:p>
          <a:p>
            <a:pPr lvl="1"/>
            <a:r>
              <a:rPr lang="en-US" dirty="0">
                <a:solidFill>
                  <a:schemeClr val="bg2"/>
                </a:solidFill>
              </a:rPr>
              <a:t>Economic Interpretation</a:t>
            </a:r>
          </a:p>
          <a:p>
            <a:endParaRPr lang="en-US" dirty="0"/>
          </a:p>
          <a:p>
            <a:pPr lvl="5"/>
            <a:endParaRPr lang="en-US" dirty="0"/>
          </a:p>
          <a:p>
            <a:endParaRPr lang="en-US" dirty="0"/>
          </a:p>
        </p:txBody>
      </p:sp>
    </p:spTree>
    <p:extLst>
      <p:ext uri="{BB962C8B-B14F-4D97-AF65-F5344CB8AC3E}">
        <p14:creationId xmlns:p14="http://schemas.microsoft.com/office/powerpoint/2010/main" val="1099654362"/>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Changes in Model</a:t>
            </a:r>
          </a:p>
        </p:txBody>
      </p:sp>
      <p:sp>
        <p:nvSpPr>
          <p:cNvPr id="3" name="Content Placeholder 2"/>
          <p:cNvSpPr>
            <a:spLocks noGrp="1"/>
          </p:cNvSpPr>
          <p:nvPr>
            <p:ph idx="1"/>
          </p:nvPr>
        </p:nvSpPr>
        <p:spPr/>
        <p:txBody>
          <a:bodyPr/>
          <a:lstStyle/>
          <a:p>
            <a:r>
              <a:rPr lang="en-US" dirty="0"/>
              <a:t>We might need to add a new constraint or remove an existing constraint</a:t>
            </a:r>
          </a:p>
          <a:p>
            <a:r>
              <a:rPr lang="en-US" dirty="0"/>
              <a:t>We might add a new variable or remove an existing variable from the model</a:t>
            </a:r>
          </a:p>
          <a:p>
            <a:r>
              <a:rPr lang="en-US" dirty="0"/>
              <a:t>How will such a change affect the model outcome?</a:t>
            </a:r>
          </a:p>
          <a:p>
            <a:pPr lvl="1"/>
            <a:r>
              <a:rPr lang="en-US" dirty="0"/>
              <a:t>Will we be in a better situation? Worse situation? Or maintain the current situation?</a:t>
            </a:r>
          </a:p>
          <a:p>
            <a:pPr marL="914400" lvl="2" indent="0" algn="ctr">
              <a:buNone/>
            </a:pPr>
            <a:r>
              <a:rPr lang="en-US" u="sng" dirty="0">
                <a:solidFill>
                  <a:srgbClr val="C00000"/>
                </a:solidFill>
                <a:sym typeface="Wingdings" panose="05000000000000000000" pitchFamily="2" charset="2"/>
              </a:rPr>
              <a:t></a:t>
            </a:r>
            <a:r>
              <a:rPr lang="en-US" u="sng" dirty="0">
                <a:solidFill>
                  <a:srgbClr val="C00000"/>
                </a:solidFill>
              </a:rPr>
              <a:t>if the objective is maximization</a:t>
            </a:r>
          </a:p>
          <a:p>
            <a:pPr marL="914400" lvl="2" indent="0" algn="ctr">
              <a:spcAft>
                <a:spcPts val="600"/>
              </a:spcAft>
              <a:buNone/>
            </a:pPr>
            <a:r>
              <a:rPr lang="en-US" u="sng" dirty="0">
                <a:solidFill>
                  <a:srgbClr val="C00000"/>
                </a:solidFill>
              </a:rPr>
              <a:t>“Better” means higher objective function value at the optimal solution</a:t>
            </a:r>
          </a:p>
          <a:p>
            <a:pPr marL="914400" lvl="2" indent="0" algn="ctr">
              <a:buNone/>
            </a:pPr>
            <a:r>
              <a:rPr lang="en-US" u="sng" dirty="0">
                <a:solidFill>
                  <a:srgbClr val="C00000"/>
                </a:solidFill>
                <a:sym typeface="Wingdings" panose="05000000000000000000" pitchFamily="2" charset="2"/>
              </a:rPr>
              <a:t></a:t>
            </a:r>
            <a:r>
              <a:rPr lang="en-US" u="sng" dirty="0">
                <a:solidFill>
                  <a:srgbClr val="C00000"/>
                </a:solidFill>
              </a:rPr>
              <a:t>if the objective is minimization</a:t>
            </a:r>
          </a:p>
          <a:p>
            <a:pPr marL="914400" lvl="2" indent="0" algn="ctr">
              <a:buNone/>
            </a:pPr>
            <a:r>
              <a:rPr lang="en-US" u="sng" dirty="0">
                <a:solidFill>
                  <a:srgbClr val="C00000"/>
                </a:solidFill>
              </a:rPr>
              <a:t>“Better” means lower objective function value at the optimal solution </a:t>
            </a:r>
          </a:p>
          <a:p>
            <a:r>
              <a:rPr lang="en-US" dirty="0"/>
              <a:t>Let’s consider the extended Island Example from Week 1 lecture notes</a:t>
            </a:r>
          </a:p>
          <a:p>
            <a:pPr lvl="1"/>
            <a:r>
              <a:rPr lang="en-US" dirty="0"/>
              <a:t>We have 5 items</a:t>
            </a:r>
          </a:p>
          <a:p>
            <a:pPr lvl="1"/>
            <a:r>
              <a:rPr lang="en-US" dirty="0"/>
              <a:t>50 </a:t>
            </a:r>
            <a:r>
              <a:rPr lang="en-US" dirty="0" err="1"/>
              <a:t>lbs</a:t>
            </a:r>
            <a:r>
              <a:rPr lang="en-US" dirty="0"/>
              <a:t> limit and $150 budget</a:t>
            </a:r>
          </a:p>
          <a:p>
            <a:pPr lvl="1"/>
            <a:r>
              <a:rPr lang="en-US" dirty="0"/>
              <a:t>Want to maximize # of days we can survive</a:t>
            </a:r>
          </a:p>
          <a:p>
            <a:pPr marL="914400" lvl="2" indent="0">
              <a:buNone/>
            </a:pPr>
            <a:endParaRPr lang="en-US" dirty="0"/>
          </a:p>
        </p:txBody>
      </p:sp>
      <p:sp>
        <p:nvSpPr>
          <p:cNvPr id="4" name="Rectangle 3"/>
          <p:cNvSpPr/>
          <p:nvPr/>
        </p:nvSpPr>
        <p:spPr>
          <a:xfrm>
            <a:off x="5638800" y="5072257"/>
            <a:ext cx="3302000" cy="1477328"/>
          </a:xfrm>
          <a:prstGeom prst="rect">
            <a:avLst/>
          </a:prstGeom>
        </p:spPr>
        <p:txBody>
          <a:bodyPr wrap="square">
            <a:spAutoFit/>
          </a:bodyPr>
          <a:lstStyle/>
          <a:p>
            <a:pPr lvl="2"/>
            <a:r>
              <a:rPr lang="en-US" dirty="0">
                <a:sym typeface="Wingdings" pitchFamily="2" charset="2"/>
              </a:rPr>
              <a:t></a:t>
            </a:r>
            <a:r>
              <a:rPr lang="en-US" dirty="0"/>
              <a:t>Bread: 2 days/</a:t>
            </a:r>
            <a:r>
              <a:rPr lang="en-US" dirty="0" err="1"/>
              <a:t>lb</a:t>
            </a:r>
            <a:r>
              <a:rPr lang="en-US" dirty="0"/>
              <a:t>    </a:t>
            </a:r>
          </a:p>
          <a:p>
            <a:pPr lvl="2"/>
            <a:r>
              <a:rPr lang="en-US" dirty="0">
                <a:sym typeface="Wingdings" pitchFamily="2" charset="2"/>
              </a:rPr>
              <a:t></a:t>
            </a:r>
            <a:r>
              <a:rPr lang="en-US" dirty="0"/>
              <a:t>Steak: 5 days/</a:t>
            </a:r>
            <a:r>
              <a:rPr lang="en-US" dirty="0" err="1"/>
              <a:t>lb</a:t>
            </a:r>
            <a:endParaRPr lang="en-US" dirty="0"/>
          </a:p>
          <a:p>
            <a:pPr lvl="2"/>
            <a:r>
              <a:rPr lang="en-US" dirty="0">
                <a:sym typeface="Wingdings" pitchFamily="2" charset="2"/>
              </a:rPr>
              <a:t></a:t>
            </a:r>
            <a:r>
              <a:rPr lang="en-US" dirty="0"/>
              <a:t>Chicken: 3days/</a:t>
            </a:r>
            <a:r>
              <a:rPr lang="en-US" dirty="0" err="1"/>
              <a:t>lb</a:t>
            </a:r>
            <a:r>
              <a:rPr lang="en-US" dirty="0"/>
              <a:t>  </a:t>
            </a:r>
          </a:p>
          <a:p>
            <a:pPr lvl="2"/>
            <a:r>
              <a:rPr lang="en-US" dirty="0">
                <a:sym typeface="Wingdings" pitchFamily="2" charset="2"/>
              </a:rPr>
              <a:t></a:t>
            </a:r>
            <a:r>
              <a:rPr lang="en-US" dirty="0"/>
              <a:t>Chocolate: 6days/</a:t>
            </a:r>
            <a:r>
              <a:rPr lang="en-US" dirty="0" err="1"/>
              <a:t>lb</a:t>
            </a:r>
            <a:endParaRPr lang="en-US" dirty="0"/>
          </a:p>
          <a:p>
            <a:pPr lvl="2"/>
            <a:r>
              <a:rPr lang="en-US" dirty="0">
                <a:sym typeface="Wingdings" panose="05000000000000000000" pitchFamily="2" charset="2"/>
              </a:rPr>
              <a:t>Cheese: 4days/ln</a:t>
            </a:r>
            <a:endParaRPr lang="en-US" dirty="0"/>
          </a:p>
        </p:txBody>
      </p:sp>
      <p:sp>
        <p:nvSpPr>
          <p:cNvPr id="5" name="Rectangle 4"/>
          <p:cNvSpPr/>
          <p:nvPr/>
        </p:nvSpPr>
        <p:spPr>
          <a:xfrm>
            <a:off x="8013700" y="5072257"/>
            <a:ext cx="4051300" cy="1477328"/>
          </a:xfrm>
          <a:prstGeom prst="rect">
            <a:avLst/>
          </a:prstGeom>
        </p:spPr>
        <p:txBody>
          <a:bodyPr wrap="square">
            <a:spAutoFit/>
          </a:bodyPr>
          <a:lstStyle/>
          <a:p>
            <a:pPr lvl="2"/>
            <a:r>
              <a:rPr lang="en-US" dirty="0"/>
              <a:t>1 </a:t>
            </a:r>
            <a:r>
              <a:rPr lang="en-US" dirty="0" err="1"/>
              <a:t>lb</a:t>
            </a:r>
            <a:r>
              <a:rPr lang="en-US" dirty="0"/>
              <a:t> of bread costs you $3</a:t>
            </a:r>
          </a:p>
          <a:p>
            <a:pPr lvl="2"/>
            <a:r>
              <a:rPr lang="en-US" dirty="0"/>
              <a:t>1 </a:t>
            </a:r>
            <a:r>
              <a:rPr lang="en-US" dirty="0" err="1"/>
              <a:t>lb</a:t>
            </a:r>
            <a:r>
              <a:rPr lang="en-US" dirty="0"/>
              <a:t> of steak costs you $6</a:t>
            </a:r>
          </a:p>
          <a:p>
            <a:pPr lvl="2"/>
            <a:r>
              <a:rPr lang="en-US" dirty="0"/>
              <a:t>1 </a:t>
            </a:r>
            <a:r>
              <a:rPr lang="en-US" dirty="0" err="1"/>
              <a:t>lb</a:t>
            </a:r>
            <a:r>
              <a:rPr lang="en-US" dirty="0"/>
              <a:t> of chicken costs you $7</a:t>
            </a:r>
          </a:p>
          <a:p>
            <a:pPr lvl="2"/>
            <a:r>
              <a:rPr lang="en-US" dirty="0"/>
              <a:t>1 </a:t>
            </a:r>
            <a:r>
              <a:rPr lang="en-US" dirty="0" err="1"/>
              <a:t>lb</a:t>
            </a:r>
            <a:r>
              <a:rPr lang="en-US" dirty="0"/>
              <a:t> of chocolate costs you $15</a:t>
            </a:r>
          </a:p>
          <a:p>
            <a:pPr lvl="2"/>
            <a:r>
              <a:rPr lang="en-US" dirty="0"/>
              <a:t>1 </a:t>
            </a:r>
            <a:r>
              <a:rPr lang="en-US" dirty="0" err="1"/>
              <a:t>lb</a:t>
            </a:r>
            <a:r>
              <a:rPr lang="en-US" dirty="0"/>
              <a:t> of cheese costs you $8</a:t>
            </a:r>
          </a:p>
        </p:txBody>
      </p:sp>
    </p:spTree>
    <p:extLst>
      <p:ext uri="{BB962C8B-B14F-4D97-AF65-F5344CB8AC3E}">
        <p14:creationId xmlns:p14="http://schemas.microsoft.com/office/powerpoint/2010/main" val="419212584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3">
                                            <p:txEl>
                                              <p:pRg st="1" end="1"/>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nodeType="clickEffect">
                                  <p:stCondLst>
                                    <p:cond delay="0"/>
                                  </p:stCondLst>
                                  <p:childTnLst>
                                    <p:set>
                                      <p:cBhvr>
                                        <p:cTn id="16" dur="1" fill="hold">
                                          <p:stCondLst>
                                            <p:cond delay="0"/>
                                          </p:stCondLst>
                                        </p:cTn>
                                        <p:tgtEl>
                                          <p:spTgt spid="3">
                                            <p:txEl>
                                              <p:pRg st="4" end="4"/>
                                            </p:txEl>
                                          </p:spTgt>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3">
                                            <p:txEl>
                                              <p:pRg st="5" end="5"/>
                                            </p:txEl>
                                          </p:spTgt>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3">
                                            <p:txEl>
                                              <p:pRg st="6" end="6"/>
                                            </p:txEl>
                                          </p:spTgt>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3">
                                            <p:txEl>
                                              <p:pRg st="8" end="8"/>
                                            </p:txEl>
                                          </p:spTgt>
                                        </p:tgtEl>
                                        <p:attrNameLst>
                                          <p:attrName>style.visibility</p:attrName>
                                        </p:attrNameLst>
                                      </p:cBhvr>
                                      <p:to>
                                        <p:strVal val="visible"/>
                                      </p:to>
                                    </p:set>
                                  </p:childTnLst>
                                </p:cTn>
                              </p:par>
                              <p:par>
                                <p:cTn id="27" presetID="1" presetClass="entr" presetSubtype="0" fill="hold" nodeType="withEffect">
                                  <p:stCondLst>
                                    <p:cond delay="0"/>
                                  </p:stCondLst>
                                  <p:childTnLst>
                                    <p:set>
                                      <p:cBhvr>
                                        <p:cTn id="28" dur="1" fill="hold">
                                          <p:stCondLst>
                                            <p:cond delay="0"/>
                                          </p:stCondLst>
                                        </p:cTn>
                                        <p:tgtEl>
                                          <p:spTgt spid="3">
                                            <p:txEl>
                                              <p:pRg st="9" end="9"/>
                                            </p:txEl>
                                          </p:spTgt>
                                        </p:tgtEl>
                                        <p:attrNameLst>
                                          <p:attrName>style.visibility</p:attrName>
                                        </p:attrNameLst>
                                      </p:cBhvr>
                                      <p:to>
                                        <p:strVal val="visible"/>
                                      </p:to>
                                    </p:set>
                                  </p:childTnLst>
                                </p:cTn>
                              </p:par>
                              <p:par>
                                <p:cTn id="29" presetID="1" presetClass="entr" presetSubtype="0" fill="hold" nodeType="withEffect">
                                  <p:stCondLst>
                                    <p:cond delay="0"/>
                                  </p:stCondLst>
                                  <p:childTnLst>
                                    <p:set>
                                      <p:cBhvr>
                                        <p:cTn id="30" dur="1" fill="hold">
                                          <p:stCondLst>
                                            <p:cond delay="0"/>
                                          </p:stCondLst>
                                        </p:cTn>
                                        <p:tgtEl>
                                          <p:spTgt spid="3">
                                            <p:txEl>
                                              <p:pRg st="10" end="10"/>
                                            </p:txEl>
                                          </p:spTgt>
                                        </p:tgtEl>
                                        <p:attrNameLst>
                                          <p:attrName>style.visibility</p:attrName>
                                        </p:attrNameLst>
                                      </p:cBhvr>
                                      <p:to>
                                        <p:strVal val="visible"/>
                                      </p:to>
                                    </p:set>
                                  </p:childTnLst>
                                </p:cTn>
                              </p:par>
                              <p:par>
                                <p:cTn id="31" presetID="1" presetClass="entr" presetSubtype="0" fill="hold" nodeType="withEffect">
                                  <p:stCondLst>
                                    <p:cond delay="0"/>
                                  </p:stCondLst>
                                  <p:childTnLst>
                                    <p:set>
                                      <p:cBhvr>
                                        <p:cTn id="32" dur="1" fill="hold">
                                          <p:stCondLst>
                                            <p:cond delay="0"/>
                                          </p:stCondLst>
                                        </p:cTn>
                                        <p:tgtEl>
                                          <p:spTgt spid="3">
                                            <p:txEl>
                                              <p:pRg st="11" end="11"/>
                                            </p:txEl>
                                          </p:spTgt>
                                        </p:tgtEl>
                                        <p:attrNameLst>
                                          <p:attrName>style.visibility</p:attrName>
                                        </p:attrNameLst>
                                      </p:cBhvr>
                                      <p:to>
                                        <p:strVal val="visible"/>
                                      </p:to>
                                    </p:set>
                                  </p:childTnLst>
                                </p:cTn>
                              </p:par>
                              <p:par>
                                <p:cTn id="33" presetID="1" presetClass="entr" presetSubtype="0" fill="hold" grpId="0" nodeType="withEffect">
                                  <p:stCondLst>
                                    <p:cond delay="0"/>
                                  </p:stCondLst>
                                  <p:childTnLst>
                                    <p:set>
                                      <p:cBhvr>
                                        <p:cTn id="34" dur="1" fill="hold">
                                          <p:stCondLst>
                                            <p:cond delay="0"/>
                                          </p:stCondLst>
                                        </p:cTn>
                                        <p:tgtEl>
                                          <p:spTgt spid="5"/>
                                        </p:tgtEl>
                                        <p:attrNameLst>
                                          <p:attrName>style.visibility</p:attrName>
                                        </p:attrNameLst>
                                      </p:cBhvr>
                                      <p:to>
                                        <p:strVal val="visible"/>
                                      </p:to>
                                    </p:set>
                                  </p:childTnLst>
                                </p:cTn>
                              </p:par>
                              <p:par>
                                <p:cTn id="35" presetID="1" presetClass="entr" presetSubtype="0" fill="hold" grpId="0" nodeType="withEffect">
                                  <p:stCondLst>
                                    <p:cond delay="0"/>
                                  </p:stCondLst>
                                  <p:childTnLst>
                                    <p:set>
                                      <p:cBhvr>
                                        <p:cTn id="36" dur="1" fill="hold">
                                          <p:stCondLst>
                                            <p:cond delay="0"/>
                                          </p:stCondLst>
                                        </p:cTn>
                                        <p:tgtEl>
                                          <p:spTgt spid="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5" grpId="0"/>
    </p:bld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Changes in Model</a:t>
            </a:r>
          </a:p>
        </p:txBody>
      </p:sp>
      <p:sp>
        <p:nvSpPr>
          <p:cNvPr id="3" name="Content Placeholder 2"/>
          <p:cNvSpPr>
            <a:spLocks noGrp="1"/>
          </p:cNvSpPr>
          <p:nvPr>
            <p:ph idx="1"/>
          </p:nvPr>
        </p:nvSpPr>
        <p:spPr/>
        <p:txBody>
          <a:bodyPr/>
          <a:lstStyle/>
          <a:p>
            <a:r>
              <a:rPr lang="en-US" dirty="0"/>
              <a:t>Island Example: 25lbs of chocolate, 0 </a:t>
            </a:r>
            <a:r>
              <a:rPr lang="en-US" dirty="0" err="1"/>
              <a:t>lbs</a:t>
            </a:r>
            <a:r>
              <a:rPr lang="en-US" dirty="0"/>
              <a:t> of others, survive 125 days</a:t>
            </a:r>
          </a:p>
          <a:p>
            <a:endParaRPr lang="en-US" dirty="0"/>
          </a:p>
          <a:p>
            <a:endParaRPr lang="en-US" dirty="0"/>
          </a:p>
          <a:p>
            <a:endParaRPr lang="en-US" dirty="0"/>
          </a:p>
          <a:p>
            <a:r>
              <a:rPr lang="en-US" b="1" u="sng" dirty="0"/>
              <a:t>Adding a constraint</a:t>
            </a:r>
            <a:r>
              <a:rPr lang="en-US" dirty="0"/>
              <a:t>: Suppose the following constraint is added</a:t>
            </a:r>
          </a:p>
          <a:p>
            <a:pPr lvl="1"/>
            <a:r>
              <a:rPr lang="en-US" dirty="0"/>
              <a:t>Cannot get more meat (</a:t>
            </a:r>
            <a:r>
              <a:rPr lang="en-US" dirty="0" err="1"/>
              <a:t>steak+chicken</a:t>
            </a:r>
            <a:r>
              <a:rPr lang="en-US" dirty="0"/>
              <a:t>) than bread, thus, add </a:t>
            </a:r>
          </a:p>
          <a:p>
            <a:pPr marL="914400" lvl="2" indent="0">
              <a:buNone/>
            </a:pPr>
            <a:endParaRPr lang="en-US" dirty="0"/>
          </a:p>
        </p:txBody>
      </p:sp>
      <p:pic>
        <p:nvPicPr>
          <p:cNvPr id="7" name="Picture 6"/>
          <p:cNvPicPr>
            <a:picLocks noChangeAspect="1"/>
          </p:cNvPicPr>
          <p:nvPr/>
        </p:nvPicPr>
        <p:blipFill>
          <a:blip r:embed="rId3"/>
          <a:stretch>
            <a:fillRect/>
          </a:stretch>
        </p:blipFill>
        <p:spPr>
          <a:xfrm>
            <a:off x="5262226" y="1747538"/>
            <a:ext cx="4580274" cy="1586816"/>
          </a:xfrm>
          <a:prstGeom prst="rect">
            <a:avLst/>
          </a:prstGeom>
        </p:spPr>
      </p:pic>
      <p:pic>
        <p:nvPicPr>
          <p:cNvPr id="8" name="Picture 7"/>
          <p:cNvPicPr>
            <a:picLocks noChangeAspect="1"/>
          </p:cNvPicPr>
          <p:nvPr/>
        </p:nvPicPr>
        <p:blipFill>
          <a:blip r:embed="rId4"/>
          <a:stretch>
            <a:fillRect/>
          </a:stretch>
        </p:blipFill>
        <p:spPr>
          <a:xfrm>
            <a:off x="567064" y="1819919"/>
            <a:ext cx="4381500" cy="1066800"/>
          </a:xfrm>
          <a:prstGeom prst="rect">
            <a:avLst/>
          </a:prstGeom>
        </p:spPr>
      </p:pic>
      <mc:AlternateContent xmlns:mc="http://schemas.openxmlformats.org/markup-compatibility/2006" xmlns:a14="http://schemas.microsoft.com/office/drawing/2010/main">
        <mc:Choice Requires="a14">
          <p:sp>
            <p:nvSpPr>
              <p:cNvPr id="9" name="Rectangle 8"/>
              <p:cNvSpPr/>
              <p:nvPr/>
            </p:nvSpPr>
            <p:spPr>
              <a:xfrm>
                <a:off x="8750882" y="3769459"/>
                <a:ext cx="1923604" cy="461665"/>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sSub>
                        <m:sSubPr>
                          <m:ctrlPr>
                            <a:rPr lang="en-US" sz="2400" i="1">
                              <a:latin typeface="Cambria Math" panose="02040503050406030204" pitchFamily="18" charset="0"/>
                            </a:rPr>
                          </m:ctrlPr>
                        </m:sSubPr>
                        <m:e>
                          <m:r>
                            <a:rPr lang="en-US" sz="2400" i="1">
                              <a:latin typeface="Cambria Math"/>
                            </a:rPr>
                            <m:t>𝑥</m:t>
                          </m:r>
                        </m:e>
                        <m:sub>
                          <m:r>
                            <a:rPr lang="en-US" sz="2400" i="1">
                              <a:latin typeface="Cambria Math"/>
                            </a:rPr>
                            <m:t>2</m:t>
                          </m:r>
                        </m:sub>
                      </m:sSub>
                      <m:r>
                        <a:rPr lang="en-US" sz="2400">
                          <a:latin typeface="Cambria Math"/>
                        </a:rPr>
                        <m:t>+</m:t>
                      </m:r>
                      <m:sSub>
                        <m:sSubPr>
                          <m:ctrlPr>
                            <a:rPr lang="en-US" sz="2400" i="1">
                              <a:latin typeface="Cambria Math" panose="02040503050406030204" pitchFamily="18" charset="0"/>
                            </a:rPr>
                          </m:ctrlPr>
                        </m:sSubPr>
                        <m:e>
                          <m:r>
                            <a:rPr lang="en-US" sz="2400" i="1">
                              <a:latin typeface="Cambria Math"/>
                            </a:rPr>
                            <m:t>𝑥</m:t>
                          </m:r>
                        </m:e>
                        <m:sub>
                          <m:r>
                            <a:rPr lang="en-US" sz="2400" i="1">
                              <a:latin typeface="Cambria Math"/>
                            </a:rPr>
                            <m:t>3</m:t>
                          </m:r>
                        </m:sub>
                      </m:sSub>
                      <m:r>
                        <a:rPr lang="en-US" sz="2400" i="1">
                          <a:latin typeface="Cambria Math"/>
                        </a:rPr>
                        <m:t>≤</m:t>
                      </m:r>
                      <m:sSub>
                        <m:sSubPr>
                          <m:ctrlPr>
                            <a:rPr lang="en-US" sz="2400" i="1">
                              <a:latin typeface="Cambria Math" panose="02040503050406030204" pitchFamily="18" charset="0"/>
                            </a:rPr>
                          </m:ctrlPr>
                        </m:sSubPr>
                        <m:e>
                          <m:r>
                            <a:rPr lang="en-US" sz="2400" i="1">
                              <a:latin typeface="Cambria Math"/>
                            </a:rPr>
                            <m:t>𝑥</m:t>
                          </m:r>
                        </m:e>
                        <m:sub>
                          <m:r>
                            <a:rPr lang="en-US" sz="2400" i="1">
                              <a:latin typeface="Cambria Math"/>
                            </a:rPr>
                            <m:t>1</m:t>
                          </m:r>
                        </m:sub>
                      </m:sSub>
                    </m:oMath>
                  </m:oMathPara>
                </a14:m>
                <a:endParaRPr lang="en-US" sz="2400" dirty="0"/>
              </a:p>
            </p:txBody>
          </p:sp>
        </mc:Choice>
        <mc:Fallback xmlns="">
          <p:sp>
            <p:nvSpPr>
              <p:cNvPr id="9" name="Rectangle 8"/>
              <p:cNvSpPr>
                <a:spLocks noRot="1" noChangeAspect="1" noMove="1" noResize="1" noEditPoints="1" noAdjustHandles="1" noChangeArrowheads="1" noChangeShapeType="1" noTextEdit="1"/>
              </p:cNvSpPr>
              <p:nvPr/>
            </p:nvSpPr>
            <p:spPr>
              <a:xfrm>
                <a:off x="8750882" y="3769459"/>
                <a:ext cx="1923604" cy="461665"/>
              </a:xfrm>
              <a:prstGeom prst="rect">
                <a:avLst/>
              </a:prstGeom>
              <a:blipFill rotWithShape="0">
                <a:blip r:embed="rId5"/>
                <a:stretch>
                  <a:fillRect b="-1316"/>
                </a:stretch>
              </a:blipFill>
            </p:spPr>
            <p:txBody>
              <a:bodyPr/>
              <a:lstStyle/>
              <a:p>
                <a:r>
                  <a:rPr lang="en-US">
                    <a:noFill/>
                  </a:rPr>
                  <a:t> </a:t>
                </a:r>
              </a:p>
            </p:txBody>
          </p:sp>
        </mc:Fallback>
      </mc:AlternateContent>
      <p:pic>
        <p:nvPicPr>
          <p:cNvPr id="10" name="Picture 9"/>
          <p:cNvPicPr>
            <a:picLocks noChangeAspect="1"/>
          </p:cNvPicPr>
          <p:nvPr/>
        </p:nvPicPr>
        <p:blipFill>
          <a:blip r:embed="rId6"/>
          <a:stretch>
            <a:fillRect/>
          </a:stretch>
        </p:blipFill>
        <p:spPr>
          <a:xfrm>
            <a:off x="791059" y="4377282"/>
            <a:ext cx="5978041" cy="2234786"/>
          </a:xfrm>
          <a:prstGeom prst="rect">
            <a:avLst/>
          </a:prstGeom>
        </p:spPr>
      </p:pic>
      <mc:AlternateContent xmlns:mc="http://schemas.openxmlformats.org/markup-compatibility/2006" xmlns:a14="http://schemas.microsoft.com/office/drawing/2010/main">
        <mc:Choice Requires="a14">
          <p:sp>
            <p:nvSpPr>
              <p:cNvPr id="11" name="TextBox 10"/>
              <p:cNvSpPr txBox="1"/>
              <p:nvPr/>
            </p:nvSpPr>
            <p:spPr>
              <a:xfrm>
                <a:off x="6946900" y="4479012"/>
                <a:ext cx="5143500" cy="2392130"/>
              </a:xfrm>
              <a:prstGeom prst="rect">
                <a:avLst/>
              </a:prstGeom>
              <a:noFill/>
            </p:spPr>
            <p:txBody>
              <a:bodyPr wrap="square" rtlCol="0">
                <a:spAutoFit/>
              </a:bodyPr>
              <a:lstStyle/>
              <a:p>
                <a:r>
                  <a:rPr lang="en-US" dirty="0"/>
                  <a:t>With the addition of this new constraint, you can only survive for 116.67 days</a:t>
                </a:r>
              </a:p>
              <a:p>
                <a:pPr marL="285750" indent="-285750">
                  <a:buFont typeface="Wingdings" panose="05000000000000000000" pitchFamily="2" charset="2"/>
                  <a:buChar char="à"/>
                </a:pPr>
                <a:r>
                  <a:rPr lang="en-US" dirty="0">
                    <a:sym typeface="Wingdings" panose="05000000000000000000" pitchFamily="2" charset="2"/>
                  </a:rPr>
                  <a:t>In this case, adding the constraint resulted in a worse situation</a:t>
                </a:r>
              </a:p>
              <a:p>
                <a:pPr marL="285750" indent="-285750">
                  <a:buFont typeface="Wingdings" panose="05000000000000000000" pitchFamily="2" charset="2"/>
                  <a:buChar char="à"/>
                </a:pPr>
                <a:r>
                  <a:rPr lang="en-US" dirty="0">
                    <a:sym typeface="Wingdings" panose="05000000000000000000" pitchFamily="2" charset="2"/>
                  </a:rPr>
                  <a:t>In some cases, adding a constraint will not change the solution (suppose you added </a:t>
                </a:r>
                <a14:m>
                  <m:oMath xmlns:m="http://schemas.openxmlformats.org/officeDocument/2006/math">
                    <m:sSub>
                      <m:sSubPr>
                        <m:ctrlPr>
                          <a:rPr lang="en-US" i="1">
                            <a:latin typeface="Cambria Math" panose="02040503050406030204" pitchFamily="18" charset="0"/>
                          </a:rPr>
                        </m:ctrlPr>
                      </m:sSubPr>
                      <m:e>
                        <m:r>
                          <a:rPr lang="en-US" i="1">
                            <a:latin typeface="Cambria Math"/>
                          </a:rPr>
                          <m:t>𝑥</m:t>
                        </m:r>
                      </m:e>
                      <m:sub>
                        <m:r>
                          <a:rPr lang="en-US" i="1">
                            <a:latin typeface="Cambria Math"/>
                          </a:rPr>
                          <m:t>1</m:t>
                        </m:r>
                      </m:sub>
                    </m:sSub>
                  </m:oMath>
                </a14:m>
                <a:r>
                  <a:rPr lang="en-US" dirty="0">
                    <a:sym typeface="Wingdings" panose="05000000000000000000" pitchFamily="2" charset="2"/>
                  </a:rPr>
                  <a:t>&lt;=100) </a:t>
                </a:r>
              </a:p>
              <a:p>
                <a:pPr marL="285750" indent="-285750">
                  <a:buFont typeface="Wingdings" panose="05000000000000000000" pitchFamily="2" charset="2"/>
                  <a:buChar char="à"/>
                </a:pPr>
                <a:r>
                  <a:rPr lang="en-US" dirty="0">
                    <a:sym typeface="Wingdings" panose="05000000000000000000" pitchFamily="2" charset="2"/>
                  </a:rPr>
                  <a:t>But, there is no case where adding a constraint can result in a better situation</a:t>
                </a:r>
                <a:endParaRPr lang="en-US" dirty="0"/>
              </a:p>
            </p:txBody>
          </p:sp>
        </mc:Choice>
        <mc:Fallback xmlns="">
          <p:sp>
            <p:nvSpPr>
              <p:cNvPr id="11" name="TextBox 10"/>
              <p:cNvSpPr txBox="1">
                <a:spLocks noRot="1" noChangeAspect="1" noMove="1" noResize="1" noEditPoints="1" noAdjustHandles="1" noChangeArrowheads="1" noChangeShapeType="1" noTextEdit="1"/>
              </p:cNvSpPr>
              <p:nvPr/>
            </p:nvSpPr>
            <p:spPr>
              <a:xfrm>
                <a:off x="6946900" y="4479012"/>
                <a:ext cx="5143500" cy="2392130"/>
              </a:xfrm>
              <a:prstGeom prst="rect">
                <a:avLst/>
              </a:prstGeom>
              <a:blipFill rotWithShape="0">
                <a:blip r:embed="rId7"/>
                <a:stretch>
                  <a:fillRect l="-1068" t="-1531" r="-1305"/>
                </a:stretch>
              </a:blipFill>
            </p:spPr>
            <p:txBody>
              <a:bodyPr/>
              <a:lstStyle/>
              <a:p>
                <a:r>
                  <a:rPr lang="en-US">
                    <a:noFill/>
                  </a:rPr>
                  <a:t> </a:t>
                </a:r>
              </a:p>
            </p:txBody>
          </p:sp>
        </mc:Fallback>
      </mc:AlternateContent>
    </p:spTree>
    <p:extLst>
      <p:ext uri="{BB962C8B-B14F-4D97-AF65-F5344CB8AC3E}">
        <p14:creationId xmlns:p14="http://schemas.microsoft.com/office/powerpoint/2010/main" val="161161377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4" end="4"/>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3">
                                            <p:txEl>
                                              <p:pRg st="5" end="5"/>
                                            </p:txEl>
                                          </p:spTgt>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9"/>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10"/>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1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p:bldP spid="11" grpId="0"/>
    </p:bld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Changes in Model</a:t>
            </a:r>
          </a:p>
        </p:txBody>
      </p:sp>
      <p:sp>
        <p:nvSpPr>
          <p:cNvPr id="3" name="Content Placeholder 2"/>
          <p:cNvSpPr>
            <a:spLocks noGrp="1"/>
          </p:cNvSpPr>
          <p:nvPr>
            <p:ph idx="1"/>
          </p:nvPr>
        </p:nvSpPr>
        <p:spPr/>
        <p:txBody>
          <a:bodyPr/>
          <a:lstStyle/>
          <a:p>
            <a:r>
              <a:rPr lang="en-US" dirty="0"/>
              <a:t>Island Example: 25lbs of chocolate, 0 </a:t>
            </a:r>
            <a:r>
              <a:rPr lang="en-US" dirty="0" err="1"/>
              <a:t>lbs</a:t>
            </a:r>
            <a:r>
              <a:rPr lang="en-US" dirty="0"/>
              <a:t> of others, survive 125 days</a:t>
            </a:r>
          </a:p>
          <a:p>
            <a:endParaRPr lang="en-US" dirty="0"/>
          </a:p>
          <a:p>
            <a:endParaRPr lang="en-US" dirty="0"/>
          </a:p>
          <a:p>
            <a:endParaRPr lang="en-US" dirty="0"/>
          </a:p>
          <a:p>
            <a:r>
              <a:rPr lang="en-US" b="1" u="sng" dirty="0"/>
              <a:t>Removing a constraint</a:t>
            </a:r>
            <a:r>
              <a:rPr lang="en-US" dirty="0"/>
              <a:t>: Suppose the following budget constraint is removed</a:t>
            </a:r>
          </a:p>
          <a:p>
            <a:pPr lvl="1"/>
            <a:r>
              <a:rPr lang="en-US" dirty="0"/>
              <a:t>That is, we remove                                                  from the model</a:t>
            </a:r>
          </a:p>
          <a:p>
            <a:pPr marL="914400" lvl="2" indent="0">
              <a:buNone/>
            </a:pPr>
            <a:endParaRPr lang="en-US" dirty="0"/>
          </a:p>
        </p:txBody>
      </p:sp>
      <p:pic>
        <p:nvPicPr>
          <p:cNvPr id="7" name="Picture 6"/>
          <p:cNvPicPr>
            <a:picLocks noChangeAspect="1"/>
          </p:cNvPicPr>
          <p:nvPr/>
        </p:nvPicPr>
        <p:blipFill>
          <a:blip r:embed="rId3"/>
          <a:stretch>
            <a:fillRect/>
          </a:stretch>
        </p:blipFill>
        <p:spPr>
          <a:xfrm>
            <a:off x="5262226" y="1747538"/>
            <a:ext cx="4580274" cy="1586816"/>
          </a:xfrm>
          <a:prstGeom prst="rect">
            <a:avLst/>
          </a:prstGeom>
        </p:spPr>
      </p:pic>
      <p:pic>
        <p:nvPicPr>
          <p:cNvPr id="8" name="Picture 7"/>
          <p:cNvPicPr>
            <a:picLocks noChangeAspect="1"/>
          </p:cNvPicPr>
          <p:nvPr/>
        </p:nvPicPr>
        <p:blipFill>
          <a:blip r:embed="rId4"/>
          <a:stretch>
            <a:fillRect/>
          </a:stretch>
        </p:blipFill>
        <p:spPr>
          <a:xfrm>
            <a:off x="567064" y="1819919"/>
            <a:ext cx="4381500" cy="1066800"/>
          </a:xfrm>
          <a:prstGeom prst="rect">
            <a:avLst/>
          </a:prstGeom>
        </p:spPr>
      </p:pic>
      <p:sp>
        <p:nvSpPr>
          <p:cNvPr id="11" name="TextBox 10"/>
          <p:cNvSpPr txBox="1"/>
          <p:nvPr/>
        </p:nvSpPr>
        <p:spPr>
          <a:xfrm>
            <a:off x="6908800" y="4202013"/>
            <a:ext cx="5143500" cy="2585323"/>
          </a:xfrm>
          <a:prstGeom prst="rect">
            <a:avLst/>
          </a:prstGeom>
          <a:noFill/>
        </p:spPr>
        <p:txBody>
          <a:bodyPr wrap="square" rtlCol="0">
            <a:spAutoFit/>
          </a:bodyPr>
          <a:lstStyle/>
          <a:p>
            <a:r>
              <a:rPr lang="en-US" dirty="0"/>
              <a:t>With the removal of the budget constraint, you can survive for 300 days</a:t>
            </a:r>
          </a:p>
          <a:p>
            <a:pPr marL="285750" indent="-285750">
              <a:buFont typeface="Wingdings" panose="05000000000000000000" pitchFamily="2" charset="2"/>
              <a:buChar char="à"/>
            </a:pPr>
            <a:r>
              <a:rPr lang="en-US" dirty="0">
                <a:sym typeface="Wingdings" panose="05000000000000000000" pitchFamily="2" charset="2"/>
              </a:rPr>
              <a:t>In this case, removing the constraint resulted in a better situation</a:t>
            </a:r>
          </a:p>
          <a:p>
            <a:pPr marL="285750" indent="-285750">
              <a:buFont typeface="Wingdings" panose="05000000000000000000" pitchFamily="2" charset="2"/>
              <a:buChar char="à"/>
            </a:pPr>
            <a:r>
              <a:rPr lang="en-US" dirty="0">
                <a:sym typeface="Wingdings" panose="05000000000000000000" pitchFamily="2" charset="2"/>
              </a:rPr>
              <a:t>In some cases, removing a constraint will not change the solution (for instance, remove the bag limit instead of budget limit)</a:t>
            </a:r>
          </a:p>
          <a:p>
            <a:pPr marL="285750" indent="-285750">
              <a:buFont typeface="Wingdings" panose="05000000000000000000" pitchFamily="2" charset="2"/>
              <a:buChar char="à"/>
            </a:pPr>
            <a:r>
              <a:rPr lang="en-US" dirty="0">
                <a:sym typeface="Wingdings" panose="05000000000000000000" pitchFamily="2" charset="2"/>
              </a:rPr>
              <a:t>But, there is no case where removing a constraint can result in a worse situation</a:t>
            </a:r>
            <a:endParaRPr lang="en-US" dirty="0"/>
          </a:p>
        </p:txBody>
      </p:sp>
      <p:pic>
        <p:nvPicPr>
          <p:cNvPr id="4" name="Picture 3"/>
          <p:cNvPicPr>
            <a:picLocks noChangeAspect="1"/>
          </p:cNvPicPr>
          <p:nvPr/>
        </p:nvPicPr>
        <p:blipFill>
          <a:blip r:embed="rId5"/>
          <a:stretch>
            <a:fillRect/>
          </a:stretch>
        </p:blipFill>
        <p:spPr>
          <a:xfrm>
            <a:off x="3683000" y="3884360"/>
            <a:ext cx="3086100" cy="238125"/>
          </a:xfrm>
          <a:prstGeom prst="rect">
            <a:avLst/>
          </a:prstGeom>
        </p:spPr>
      </p:pic>
      <p:pic>
        <p:nvPicPr>
          <p:cNvPr id="12" name="Picture 11"/>
          <p:cNvPicPr>
            <a:picLocks noChangeAspect="1"/>
          </p:cNvPicPr>
          <p:nvPr/>
        </p:nvPicPr>
        <p:blipFill>
          <a:blip r:embed="rId6"/>
          <a:stretch>
            <a:fillRect/>
          </a:stretch>
        </p:blipFill>
        <p:spPr>
          <a:xfrm>
            <a:off x="355002" y="4466160"/>
            <a:ext cx="6473341" cy="1710803"/>
          </a:xfrm>
          <a:prstGeom prst="rect">
            <a:avLst/>
          </a:prstGeom>
        </p:spPr>
      </p:pic>
    </p:spTree>
    <p:extLst>
      <p:ext uri="{BB962C8B-B14F-4D97-AF65-F5344CB8AC3E}">
        <p14:creationId xmlns:p14="http://schemas.microsoft.com/office/powerpoint/2010/main" val="36676383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4" end="4"/>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3">
                                            <p:txEl>
                                              <p:pRg st="5" end="5"/>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4"/>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12"/>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1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p:bldLst>
  </p:timing>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Changes in Model</a:t>
            </a:r>
          </a:p>
        </p:txBody>
      </p:sp>
      <p:sp>
        <p:nvSpPr>
          <p:cNvPr id="3" name="Content Placeholder 2"/>
          <p:cNvSpPr>
            <a:spLocks noGrp="1"/>
          </p:cNvSpPr>
          <p:nvPr>
            <p:ph idx="1"/>
          </p:nvPr>
        </p:nvSpPr>
        <p:spPr/>
        <p:txBody>
          <a:bodyPr/>
          <a:lstStyle/>
          <a:p>
            <a:r>
              <a:rPr lang="en-US" dirty="0"/>
              <a:t>Island Example: 25lbs of chocolate, 0 </a:t>
            </a:r>
            <a:r>
              <a:rPr lang="en-US" dirty="0" err="1"/>
              <a:t>lbs</a:t>
            </a:r>
            <a:r>
              <a:rPr lang="en-US" dirty="0"/>
              <a:t> of others, survive 125 days</a:t>
            </a:r>
          </a:p>
          <a:p>
            <a:endParaRPr lang="en-US" dirty="0"/>
          </a:p>
          <a:p>
            <a:endParaRPr lang="en-US" dirty="0"/>
          </a:p>
          <a:p>
            <a:endParaRPr lang="en-US" dirty="0"/>
          </a:p>
          <a:p>
            <a:r>
              <a:rPr lang="en-US" b="1" u="sng" dirty="0"/>
              <a:t>Adding a variable</a:t>
            </a:r>
            <a:r>
              <a:rPr lang="en-US" dirty="0"/>
              <a:t>: Suppose that you can take tomatoes (3days/</a:t>
            </a:r>
            <a:r>
              <a:rPr lang="en-US" dirty="0" err="1"/>
              <a:t>lb</a:t>
            </a:r>
            <a:r>
              <a:rPr lang="en-US" dirty="0"/>
              <a:t>, $1/</a:t>
            </a:r>
            <a:r>
              <a:rPr lang="en-US" dirty="0" err="1"/>
              <a:t>lb</a:t>
            </a:r>
            <a:r>
              <a:rPr lang="en-US" dirty="0"/>
              <a:t>)</a:t>
            </a:r>
          </a:p>
        </p:txBody>
      </p:sp>
      <p:pic>
        <p:nvPicPr>
          <p:cNvPr id="7" name="Picture 6"/>
          <p:cNvPicPr>
            <a:picLocks noChangeAspect="1"/>
          </p:cNvPicPr>
          <p:nvPr/>
        </p:nvPicPr>
        <p:blipFill>
          <a:blip r:embed="rId3"/>
          <a:stretch>
            <a:fillRect/>
          </a:stretch>
        </p:blipFill>
        <p:spPr>
          <a:xfrm>
            <a:off x="5262226" y="1747538"/>
            <a:ext cx="4580274" cy="1586816"/>
          </a:xfrm>
          <a:prstGeom prst="rect">
            <a:avLst/>
          </a:prstGeom>
        </p:spPr>
      </p:pic>
      <p:pic>
        <p:nvPicPr>
          <p:cNvPr id="8" name="Picture 7"/>
          <p:cNvPicPr>
            <a:picLocks noChangeAspect="1"/>
          </p:cNvPicPr>
          <p:nvPr/>
        </p:nvPicPr>
        <p:blipFill>
          <a:blip r:embed="rId4"/>
          <a:stretch>
            <a:fillRect/>
          </a:stretch>
        </p:blipFill>
        <p:spPr>
          <a:xfrm>
            <a:off x="567064" y="1819919"/>
            <a:ext cx="4381500" cy="1066800"/>
          </a:xfrm>
          <a:prstGeom prst="rect">
            <a:avLst/>
          </a:prstGeom>
        </p:spPr>
      </p:pic>
      <p:sp>
        <p:nvSpPr>
          <p:cNvPr id="11" name="TextBox 10"/>
          <p:cNvSpPr txBox="1"/>
          <p:nvPr/>
        </p:nvSpPr>
        <p:spPr>
          <a:xfrm>
            <a:off x="6689912" y="3895911"/>
            <a:ext cx="5502088" cy="2862322"/>
          </a:xfrm>
          <a:prstGeom prst="rect">
            <a:avLst/>
          </a:prstGeom>
          <a:noFill/>
        </p:spPr>
        <p:txBody>
          <a:bodyPr wrap="square" rtlCol="0">
            <a:spAutoFit/>
          </a:bodyPr>
          <a:lstStyle/>
          <a:p>
            <a:r>
              <a:rPr lang="en-US" dirty="0"/>
              <a:t>With the addition of this new variable, you can survive for 190 days</a:t>
            </a:r>
          </a:p>
          <a:p>
            <a:pPr marL="285750" indent="-285750">
              <a:buFont typeface="Wingdings" panose="05000000000000000000" pitchFamily="2" charset="2"/>
              <a:buChar char="à"/>
            </a:pPr>
            <a:r>
              <a:rPr lang="en-US" dirty="0">
                <a:sym typeface="Wingdings" panose="05000000000000000000" pitchFamily="2" charset="2"/>
              </a:rPr>
              <a:t>In this case, adding the variable resulted in a better situation</a:t>
            </a:r>
          </a:p>
          <a:p>
            <a:pPr marL="285750" indent="-285750">
              <a:buFont typeface="Wingdings" panose="05000000000000000000" pitchFamily="2" charset="2"/>
              <a:buChar char="à"/>
            </a:pPr>
            <a:r>
              <a:rPr lang="en-US" dirty="0">
                <a:sym typeface="Wingdings" panose="05000000000000000000" pitchFamily="2" charset="2"/>
              </a:rPr>
              <a:t>In some cases, adding a variable will not change the situation (suppose new variable is 0 in the new optimal solution) </a:t>
            </a:r>
          </a:p>
          <a:p>
            <a:pPr marL="285750" indent="-285750">
              <a:buFont typeface="Wingdings" panose="05000000000000000000" pitchFamily="2" charset="2"/>
              <a:buChar char="à"/>
            </a:pPr>
            <a:r>
              <a:rPr lang="en-US" dirty="0">
                <a:sym typeface="Wingdings" panose="05000000000000000000" pitchFamily="2" charset="2"/>
              </a:rPr>
              <a:t>But, there is no case where adding a variable can result in a worse situation (unless the new variable comes with additional constraints)</a:t>
            </a:r>
            <a:endParaRPr lang="en-US" dirty="0"/>
          </a:p>
        </p:txBody>
      </p:sp>
      <p:pic>
        <p:nvPicPr>
          <p:cNvPr id="4" name="Picture 3"/>
          <p:cNvPicPr>
            <a:picLocks noChangeAspect="1"/>
          </p:cNvPicPr>
          <p:nvPr/>
        </p:nvPicPr>
        <p:blipFill>
          <a:blip r:embed="rId5"/>
          <a:stretch>
            <a:fillRect/>
          </a:stretch>
        </p:blipFill>
        <p:spPr>
          <a:xfrm>
            <a:off x="508197" y="4019161"/>
            <a:ext cx="6028521" cy="1920630"/>
          </a:xfrm>
          <a:prstGeom prst="rect">
            <a:avLst/>
          </a:prstGeom>
        </p:spPr>
      </p:pic>
    </p:spTree>
    <p:extLst>
      <p:ext uri="{BB962C8B-B14F-4D97-AF65-F5344CB8AC3E}">
        <p14:creationId xmlns:p14="http://schemas.microsoft.com/office/powerpoint/2010/main" val="152080605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4"/>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1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p:bldLst>
  </p:timing>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Changes in Model</a:t>
            </a:r>
          </a:p>
        </p:txBody>
      </p:sp>
      <p:sp>
        <p:nvSpPr>
          <p:cNvPr id="3" name="Content Placeholder 2"/>
          <p:cNvSpPr>
            <a:spLocks noGrp="1"/>
          </p:cNvSpPr>
          <p:nvPr>
            <p:ph idx="1"/>
          </p:nvPr>
        </p:nvSpPr>
        <p:spPr/>
        <p:txBody>
          <a:bodyPr/>
          <a:lstStyle/>
          <a:p>
            <a:r>
              <a:rPr lang="en-US" dirty="0"/>
              <a:t>Island Example: 25lbs of chocolate, 0 </a:t>
            </a:r>
            <a:r>
              <a:rPr lang="en-US" dirty="0" err="1"/>
              <a:t>lbs</a:t>
            </a:r>
            <a:r>
              <a:rPr lang="en-US" dirty="0"/>
              <a:t> of others, survive 125 days</a:t>
            </a:r>
          </a:p>
          <a:p>
            <a:endParaRPr lang="en-US" dirty="0"/>
          </a:p>
          <a:p>
            <a:endParaRPr lang="en-US" dirty="0"/>
          </a:p>
          <a:p>
            <a:endParaRPr lang="en-US" dirty="0"/>
          </a:p>
          <a:p>
            <a:r>
              <a:rPr lang="en-US" b="1" u="sng" dirty="0"/>
              <a:t>Removing a variable</a:t>
            </a:r>
            <a:r>
              <a:rPr lang="en-US" dirty="0"/>
              <a:t>: Suppose that you cannot take steak</a:t>
            </a:r>
          </a:p>
        </p:txBody>
      </p:sp>
      <p:pic>
        <p:nvPicPr>
          <p:cNvPr id="7" name="Picture 6"/>
          <p:cNvPicPr>
            <a:picLocks noChangeAspect="1"/>
          </p:cNvPicPr>
          <p:nvPr/>
        </p:nvPicPr>
        <p:blipFill>
          <a:blip r:embed="rId3"/>
          <a:stretch>
            <a:fillRect/>
          </a:stretch>
        </p:blipFill>
        <p:spPr>
          <a:xfrm>
            <a:off x="5262226" y="1747538"/>
            <a:ext cx="4580274" cy="1586816"/>
          </a:xfrm>
          <a:prstGeom prst="rect">
            <a:avLst/>
          </a:prstGeom>
        </p:spPr>
      </p:pic>
      <p:pic>
        <p:nvPicPr>
          <p:cNvPr id="8" name="Picture 7"/>
          <p:cNvPicPr>
            <a:picLocks noChangeAspect="1"/>
          </p:cNvPicPr>
          <p:nvPr/>
        </p:nvPicPr>
        <p:blipFill>
          <a:blip r:embed="rId4"/>
          <a:stretch>
            <a:fillRect/>
          </a:stretch>
        </p:blipFill>
        <p:spPr>
          <a:xfrm>
            <a:off x="567064" y="1819919"/>
            <a:ext cx="4381500" cy="1066800"/>
          </a:xfrm>
          <a:prstGeom prst="rect">
            <a:avLst/>
          </a:prstGeom>
        </p:spPr>
      </p:pic>
      <p:sp>
        <p:nvSpPr>
          <p:cNvPr id="11" name="TextBox 10"/>
          <p:cNvSpPr txBox="1"/>
          <p:nvPr/>
        </p:nvSpPr>
        <p:spPr>
          <a:xfrm>
            <a:off x="6689912" y="3895911"/>
            <a:ext cx="5502088" cy="2585323"/>
          </a:xfrm>
          <a:prstGeom prst="rect">
            <a:avLst/>
          </a:prstGeom>
          <a:noFill/>
        </p:spPr>
        <p:txBody>
          <a:bodyPr wrap="square" rtlCol="0">
            <a:spAutoFit/>
          </a:bodyPr>
          <a:lstStyle/>
          <a:p>
            <a:r>
              <a:rPr lang="en-US" dirty="0"/>
              <a:t>With the removal of this variable, you can only survive for 100 days</a:t>
            </a:r>
          </a:p>
          <a:p>
            <a:pPr marL="285750" indent="-285750">
              <a:buFont typeface="Wingdings" panose="05000000000000000000" pitchFamily="2" charset="2"/>
              <a:buChar char="à"/>
            </a:pPr>
            <a:r>
              <a:rPr lang="en-US" dirty="0">
                <a:sym typeface="Wingdings" panose="05000000000000000000" pitchFamily="2" charset="2"/>
              </a:rPr>
              <a:t>In this case, removing the variable resulted in a worse situation</a:t>
            </a:r>
          </a:p>
          <a:p>
            <a:pPr marL="285750" indent="-285750">
              <a:buFont typeface="Wingdings" panose="05000000000000000000" pitchFamily="2" charset="2"/>
              <a:buChar char="à"/>
            </a:pPr>
            <a:r>
              <a:rPr lang="en-US" dirty="0">
                <a:sym typeface="Wingdings" panose="05000000000000000000" pitchFamily="2" charset="2"/>
              </a:rPr>
              <a:t>In some cases, removing a variable will not change the situation (suppose you removed cheese instead of steak) </a:t>
            </a:r>
          </a:p>
          <a:p>
            <a:pPr marL="285750" indent="-285750">
              <a:buFont typeface="Wingdings" panose="05000000000000000000" pitchFamily="2" charset="2"/>
              <a:buChar char="à"/>
            </a:pPr>
            <a:r>
              <a:rPr lang="en-US" dirty="0">
                <a:sym typeface="Wingdings" panose="05000000000000000000" pitchFamily="2" charset="2"/>
              </a:rPr>
              <a:t>But, there is no case where removing a variable can result in a better situation</a:t>
            </a:r>
            <a:endParaRPr lang="en-US" dirty="0"/>
          </a:p>
        </p:txBody>
      </p:sp>
      <p:pic>
        <p:nvPicPr>
          <p:cNvPr id="6" name="Picture 5"/>
          <p:cNvPicPr>
            <a:picLocks noChangeAspect="1"/>
          </p:cNvPicPr>
          <p:nvPr/>
        </p:nvPicPr>
        <p:blipFill>
          <a:blip r:embed="rId5"/>
          <a:stretch>
            <a:fillRect/>
          </a:stretch>
        </p:blipFill>
        <p:spPr>
          <a:xfrm>
            <a:off x="622177" y="4082427"/>
            <a:ext cx="5800561" cy="2202113"/>
          </a:xfrm>
          <a:prstGeom prst="rect">
            <a:avLst/>
          </a:prstGeom>
        </p:spPr>
      </p:pic>
    </p:spTree>
    <p:extLst>
      <p:ext uri="{BB962C8B-B14F-4D97-AF65-F5344CB8AC3E}">
        <p14:creationId xmlns:p14="http://schemas.microsoft.com/office/powerpoint/2010/main" val="208784850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6"/>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1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p:bldLst>
  </p:timing>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Changes in Model</a:t>
            </a:r>
          </a:p>
        </p:txBody>
      </p:sp>
      <p:sp>
        <p:nvSpPr>
          <p:cNvPr id="3" name="Content Placeholder 2"/>
          <p:cNvSpPr>
            <a:spLocks noGrp="1"/>
          </p:cNvSpPr>
          <p:nvPr>
            <p:ph idx="1"/>
          </p:nvPr>
        </p:nvSpPr>
        <p:spPr/>
        <p:txBody>
          <a:bodyPr/>
          <a:lstStyle/>
          <a:p>
            <a:r>
              <a:rPr lang="en-US" dirty="0"/>
              <a:t>Changes in the model settings (variables and constraints) will change the feasible region, i.e., the set of alternatives</a:t>
            </a:r>
          </a:p>
          <a:p>
            <a:r>
              <a:rPr lang="en-US" dirty="0"/>
              <a:t>Basically, having more alternatives implies that you can select a better alternative if there is one among the new alternatives</a:t>
            </a:r>
          </a:p>
          <a:p>
            <a:pPr lvl="1"/>
            <a:r>
              <a:rPr lang="en-US" dirty="0"/>
              <a:t>If not, keep your current best alternative</a:t>
            </a:r>
          </a:p>
          <a:p>
            <a:pPr lvl="1"/>
            <a:r>
              <a:rPr lang="en-US" b="1" u="sng" dirty="0"/>
              <a:t>In summary:</a:t>
            </a:r>
          </a:p>
          <a:p>
            <a:pPr lvl="2"/>
            <a:r>
              <a:rPr lang="en-US" dirty="0"/>
              <a:t>If a constraint is added, feasible region cannot get bigger, so you cannot do better</a:t>
            </a:r>
          </a:p>
          <a:p>
            <a:pPr lvl="2"/>
            <a:r>
              <a:rPr lang="en-US" dirty="0"/>
              <a:t>If a constraint is removed, feasible region cannot decrease, so you cannot do worse</a:t>
            </a:r>
          </a:p>
          <a:p>
            <a:pPr lvl="2"/>
            <a:r>
              <a:rPr lang="en-US" dirty="0"/>
              <a:t>If a variable is added, number of feasible solutions cannot decrease, so you cannot do worse</a:t>
            </a:r>
          </a:p>
          <a:p>
            <a:pPr lvl="2"/>
            <a:r>
              <a:rPr lang="en-US" dirty="0"/>
              <a:t>If a variable is removed, number of feasible solutions cannot increase, so you cannot do better</a:t>
            </a:r>
          </a:p>
          <a:p>
            <a:endParaRPr lang="en-US" dirty="0"/>
          </a:p>
          <a:p>
            <a:endParaRPr lang="en-US" dirty="0"/>
          </a:p>
        </p:txBody>
      </p:sp>
    </p:spTree>
    <p:extLst>
      <p:ext uri="{BB962C8B-B14F-4D97-AF65-F5344CB8AC3E}">
        <p14:creationId xmlns:p14="http://schemas.microsoft.com/office/powerpoint/2010/main" val="15670500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3" end="3"/>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3">
                                            <p:txEl>
                                              <p:pRg st="4" end="4"/>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3">
                                            <p:txEl>
                                              <p:pRg st="5" end="5"/>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3">
                                            <p:txEl>
                                              <p:pRg st="6" end="6"/>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Outline</a:t>
            </a:r>
          </a:p>
        </p:txBody>
      </p:sp>
      <p:sp>
        <p:nvSpPr>
          <p:cNvPr id="3" name="Content Placeholder 2"/>
          <p:cNvSpPr>
            <a:spLocks noGrp="1"/>
          </p:cNvSpPr>
          <p:nvPr>
            <p:ph idx="1"/>
          </p:nvPr>
        </p:nvSpPr>
        <p:spPr/>
        <p:txBody>
          <a:bodyPr/>
          <a:lstStyle/>
          <a:p>
            <a:r>
              <a:rPr lang="en-US" dirty="0">
                <a:solidFill>
                  <a:schemeClr val="bg2"/>
                </a:solidFill>
              </a:rPr>
              <a:t>Sensitivity Analysis and Excel Reports (Chapter 5)</a:t>
            </a:r>
          </a:p>
          <a:p>
            <a:r>
              <a:rPr lang="en-US" dirty="0">
                <a:solidFill>
                  <a:schemeClr val="bg2"/>
                </a:solidFill>
              </a:rPr>
              <a:t>Single Change in the Objective Function  (Chapter 5.3)</a:t>
            </a:r>
          </a:p>
          <a:p>
            <a:r>
              <a:rPr lang="en-US" dirty="0">
                <a:solidFill>
                  <a:schemeClr val="bg2"/>
                </a:solidFill>
              </a:rPr>
              <a:t>Single Change in a Constraint (Chapter 5.5)</a:t>
            </a:r>
          </a:p>
          <a:p>
            <a:r>
              <a:rPr lang="en-US" dirty="0">
                <a:solidFill>
                  <a:schemeClr val="bg2"/>
                </a:solidFill>
              </a:rPr>
              <a:t>Effect of Simultaneous Changes</a:t>
            </a:r>
          </a:p>
          <a:p>
            <a:pPr lvl="1"/>
            <a:r>
              <a:rPr lang="en-US" dirty="0">
                <a:solidFill>
                  <a:schemeClr val="bg2"/>
                </a:solidFill>
              </a:rPr>
              <a:t>Changes in the Objective Function (Chapter 5.4)</a:t>
            </a:r>
          </a:p>
          <a:p>
            <a:pPr lvl="1"/>
            <a:r>
              <a:rPr lang="en-US" dirty="0">
                <a:solidFill>
                  <a:schemeClr val="bg2"/>
                </a:solidFill>
              </a:rPr>
              <a:t>Changes in Constraints (Chapter 5.6)</a:t>
            </a:r>
          </a:p>
          <a:p>
            <a:r>
              <a:rPr lang="en-US" dirty="0">
                <a:solidFill>
                  <a:schemeClr val="bg2"/>
                </a:solidFill>
              </a:rPr>
              <a:t>Changes in the Model (not in the textbook)</a:t>
            </a:r>
          </a:p>
          <a:p>
            <a:r>
              <a:rPr lang="en-US" dirty="0"/>
              <a:t>Linear Programming Duality (not in the textbook)</a:t>
            </a:r>
          </a:p>
          <a:p>
            <a:pPr lvl="1"/>
            <a:r>
              <a:rPr lang="en-US" dirty="0"/>
              <a:t>Formulating the dual problem</a:t>
            </a:r>
          </a:p>
          <a:p>
            <a:pPr lvl="1"/>
            <a:r>
              <a:rPr lang="en-US" dirty="0"/>
              <a:t>Primal-dual relations</a:t>
            </a:r>
          </a:p>
          <a:p>
            <a:pPr lvl="1"/>
            <a:r>
              <a:rPr lang="en-US" dirty="0"/>
              <a:t>Economic Interpretation</a:t>
            </a:r>
          </a:p>
          <a:p>
            <a:endParaRPr lang="en-US" dirty="0"/>
          </a:p>
          <a:p>
            <a:pPr lvl="5"/>
            <a:endParaRPr lang="en-US" dirty="0"/>
          </a:p>
          <a:p>
            <a:endParaRPr lang="en-US" dirty="0"/>
          </a:p>
        </p:txBody>
      </p:sp>
    </p:spTree>
    <p:extLst>
      <p:ext uri="{BB962C8B-B14F-4D97-AF65-F5344CB8AC3E}">
        <p14:creationId xmlns:p14="http://schemas.microsoft.com/office/powerpoint/2010/main" val="81473396"/>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Linear Programming Duality </a:t>
            </a:r>
          </a:p>
        </p:txBody>
      </p:sp>
      <p:sp>
        <p:nvSpPr>
          <p:cNvPr id="3" name="Content Placeholder 2"/>
          <p:cNvSpPr>
            <a:spLocks noGrp="1"/>
          </p:cNvSpPr>
          <p:nvPr>
            <p:ph idx="1"/>
          </p:nvPr>
        </p:nvSpPr>
        <p:spPr/>
        <p:txBody>
          <a:bodyPr/>
          <a:lstStyle/>
          <a:p>
            <a:r>
              <a:rPr lang="en-US" sz="3200" dirty="0"/>
              <a:t>Every linear programming problem has an associated problem called the dual</a:t>
            </a:r>
          </a:p>
          <a:p>
            <a:pPr lvl="1"/>
            <a:r>
              <a:rPr lang="en-US" sz="2800" dirty="0"/>
              <a:t>Original problem is known as the primal</a:t>
            </a:r>
          </a:p>
          <a:p>
            <a:pPr lvl="1"/>
            <a:r>
              <a:rPr lang="en-US" sz="2800" dirty="0"/>
              <a:t>The relationships between the primal and dual prove useful in a variety of ways</a:t>
            </a:r>
          </a:p>
          <a:p>
            <a:r>
              <a:rPr lang="en-US" sz="3200" dirty="0"/>
              <a:t>Consider a maximization (minimization) primal problem</a:t>
            </a:r>
          </a:p>
          <a:p>
            <a:pPr lvl="1"/>
            <a:r>
              <a:rPr lang="en-US" sz="2800" dirty="0"/>
              <a:t>Dual is a minimization (maximization) problem</a:t>
            </a:r>
          </a:p>
          <a:p>
            <a:pPr lvl="1"/>
            <a:r>
              <a:rPr lang="en-US" sz="2800" dirty="0"/>
              <a:t>Dual uses same parameters in different locations</a:t>
            </a:r>
          </a:p>
          <a:p>
            <a:endParaRPr lang="en-US" dirty="0"/>
          </a:p>
          <a:p>
            <a:endParaRPr lang="en-US" dirty="0"/>
          </a:p>
        </p:txBody>
      </p:sp>
    </p:spTree>
    <p:extLst>
      <p:ext uri="{BB962C8B-B14F-4D97-AF65-F5344CB8AC3E}">
        <p14:creationId xmlns:p14="http://schemas.microsoft.com/office/powerpoint/2010/main" val="45381388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3">
                                            <p:txEl>
                                              <p:pRg st="1" end="1"/>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3" end="3"/>
                                            </p:txEl>
                                          </p:spTgt>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3">
                                            <p:txEl>
                                              <p:pRg st="4" end="4"/>
                                            </p:txEl>
                                          </p:spTgt>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Formulating the Dual Problem</a:t>
            </a:r>
          </a:p>
        </p:txBody>
      </p:sp>
      <p:sp>
        <p:nvSpPr>
          <p:cNvPr id="3" name="Content Placeholder 2"/>
          <p:cNvSpPr>
            <a:spLocks noGrp="1"/>
          </p:cNvSpPr>
          <p:nvPr>
            <p:ph idx="1"/>
          </p:nvPr>
        </p:nvSpPr>
        <p:spPr/>
        <p:txBody>
          <a:bodyPr/>
          <a:lstStyle/>
          <a:p>
            <a:r>
              <a:rPr lang="en-US" sz="3200" dirty="0"/>
              <a:t>The objective of the dual is opposite of the objective of the primal</a:t>
            </a:r>
          </a:p>
          <a:p>
            <a:pPr lvl="1"/>
            <a:r>
              <a:rPr lang="en-US" sz="2800" dirty="0"/>
              <a:t>The number of constraints (excluding non-negativity constraints) in the primal is equal to the number of decision variables in the dual</a:t>
            </a:r>
          </a:p>
          <a:p>
            <a:pPr lvl="1"/>
            <a:r>
              <a:rPr lang="en-US" sz="2800" dirty="0"/>
              <a:t>Number of decision variables in the primal is equal to the number of constraints in the dual</a:t>
            </a:r>
          </a:p>
          <a:p>
            <a:r>
              <a:rPr lang="en-US" sz="3200" dirty="0"/>
              <a:t>Coefficients in the objective function of the primal problem:</a:t>
            </a:r>
          </a:p>
          <a:p>
            <a:pPr lvl="1"/>
            <a:r>
              <a:rPr lang="en-US" sz="2800" dirty="0"/>
              <a:t>Are right-hand sides of the functional constraints in the dual problem</a:t>
            </a:r>
          </a:p>
          <a:p>
            <a:r>
              <a:rPr lang="en-US" sz="3200" dirty="0"/>
              <a:t>Right-hand sides of the functional constraints in the primal problem:</a:t>
            </a:r>
          </a:p>
          <a:p>
            <a:pPr lvl="1"/>
            <a:r>
              <a:rPr lang="en-US" sz="2800" dirty="0"/>
              <a:t>Are the coefficients in the objective function of the dual problem</a:t>
            </a:r>
          </a:p>
          <a:p>
            <a:endParaRPr lang="en-US" dirty="0"/>
          </a:p>
          <a:p>
            <a:endParaRPr lang="en-US" dirty="0"/>
          </a:p>
        </p:txBody>
      </p:sp>
    </p:spTree>
    <p:extLst>
      <p:ext uri="{BB962C8B-B14F-4D97-AF65-F5344CB8AC3E}">
        <p14:creationId xmlns:p14="http://schemas.microsoft.com/office/powerpoint/2010/main" val="318342606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3">
                                            <p:txEl>
                                              <p:pRg st="1" end="1"/>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3" end="3"/>
                                            </p:txEl>
                                          </p:spTgt>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nodeType="clickEffect">
                                  <p:stCondLst>
                                    <p:cond delay="0"/>
                                  </p:stCondLst>
                                  <p:childTnLst>
                                    <p:set>
                                      <p:cBhvr>
                                        <p:cTn id="20" dur="1" fill="hold">
                                          <p:stCondLst>
                                            <p:cond delay="0"/>
                                          </p:stCondLst>
                                        </p:cTn>
                                        <p:tgtEl>
                                          <p:spTgt spid="3">
                                            <p:txEl>
                                              <p:pRg st="5" end="5"/>
                                            </p:txEl>
                                          </p:spTgt>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Formulating the Dual Problem</a:t>
            </a:r>
          </a:p>
        </p:txBody>
      </p:sp>
      <p:sp>
        <p:nvSpPr>
          <p:cNvPr id="3" name="Content Placeholder 2"/>
          <p:cNvSpPr>
            <a:spLocks noGrp="1"/>
          </p:cNvSpPr>
          <p:nvPr>
            <p:ph idx="1"/>
          </p:nvPr>
        </p:nvSpPr>
        <p:spPr/>
        <p:txBody>
          <a:bodyPr/>
          <a:lstStyle/>
          <a:p>
            <a:r>
              <a:rPr lang="en-US" sz="3200" dirty="0"/>
              <a:t>Taking the dual of a given linear programming model (primal)</a:t>
            </a:r>
            <a:br>
              <a:rPr lang="en-US" sz="3200" dirty="0"/>
            </a:br>
            <a:endParaRPr lang="en-US" sz="3200" dirty="0"/>
          </a:p>
          <a:p>
            <a:endParaRPr lang="en-US" dirty="0"/>
          </a:p>
          <a:p>
            <a:endParaRPr lang="en-US" dirty="0"/>
          </a:p>
        </p:txBody>
      </p:sp>
      <p:pic>
        <p:nvPicPr>
          <p:cNvPr id="4" name="Picture 3">
            <a:extLst>
              <a:ext uri="{FF2B5EF4-FFF2-40B4-BE49-F238E27FC236}">
                <a16:creationId xmlns:a16="http://schemas.microsoft.com/office/drawing/2014/main" id="{1C2E941C-660C-4CC5-90CB-6BC657B1C828}"/>
              </a:ext>
            </a:extLst>
          </p:cNvPr>
          <p:cNvPicPr>
            <a:picLocks noChangeAspect="1"/>
          </p:cNvPicPr>
          <p:nvPr/>
        </p:nvPicPr>
        <p:blipFill>
          <a:blip r:embed="rId3"/>
          <a:stretch>
            <a:fillRect/>
          </a:stretch>
        </p:blipFill>
        <p:spPr>
          <a:xfrm>
            <a:off x="1047404" y="1997353"/>
            <a:ext cx="9326880" cy="3812906"/>
          </a:xfrm>
          <a:prstGeom prst="rect">
            <a:avLst/>
          </a:prstGeom>
        </p:spPr>
      </p:pic>
    </p:spTree>
    <p:extLst>
      <p:ext uri="{BB962C8B-B14F-4D97-AF65-F5344CB8AC3E}">
        <p14:creationId xmlns:p14="http://schemas.microsoft.com/office/powerpoint/2010/main" val="2255284201"/>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Formulating the Dual</a:t>
            </a:r>
          </a:p>
        </p:txBody>
      </p:sp>
      <p:sp>
        <p:nvSpPr>
          <p:cNvPr id="3" name="Content Placeholder 2"/>
          <p:cNvSpPr>
            <a:spLocks noGrp="1"/>
          </p:cNvSpPr>
          <p:nvPr>
            <p:ph idx="1"/>
          </p:nvPr>
        </p:nvSpPr>
        <p:spPr/>
        <p:txBody>
          <a:bodyPr/>
          <a:lstStyle/>
          <a:p>
            <a:r>
              <a:rPr lang="en-US" dirty="0"/>
              <a:t>Consider our </a:t>
            </a:r>
            <a:r>
              <a:rPr lang="en-US" dirty="0" err="1"/>
              <a:t>Wyndor</a:t>
            </a:r>
            <a:r>
              <a:rPr lang="en-US" dirty="0"/>
              <a:t> Example:</a:t>
            </a:r>
          </a:p>
          <a:p>
            <a:pPr lvl="8"/>
            <a:endParaRPr lang="en-US" sz="1600" dirty="0"/>
          </a:p>
          <a:p>
            <a:pPr lvl="8"/>
            <a:r>
              <a:rPr lang="en-US" sz="2000" dirty="0"/>
              <a:t>Define a decision variable for each constraint</a:t>
            </a:r>
          </a:p>
          <a:p>
            <a:pPr lvl="8"/>
            <a:r>
              <a:rPr lang="en-US" sz="2000" dirty="0"/>
              <a:t>Say y</a:t>
            </a:r>
            <a:r>
              <a:rPr lang="en-US" sz="2000" baseline="-25000" dirty="0"/>
              <a:t>1</a:t>
            </a:r>
            <a:r>
              <a:rPr lang="en-US" sz="2000" dirty="0"/>
              <a:t> for constraint 1, y</a:t>
            </a:r>
            <a:r>
              <a:rPr lang="en-US" sz="2000" baseline="-25000" dirty="0"/>
              <a:t>2</a:t>
            </a:r>
            <a:r>
              <a:rPr lang="en-US" sz="2000" dirty="0"/>
              <a:t> for constraint 2, and y</a:t>
            </a:r>
            <a:r>
              <a:rPr lang="en-US" sz="2000" baseline="-25000" dirty="0"/>
              <a:t>3</a:t>
            </a:r>
            <a:r>
              <a:rPr lang="en-US" sz="2000" dirty="0"/>
              <a:t> for constraint 3</a:t>
            </a:r>
          </a:p>
          <a:p>
            <a:pPr lvl="8"/>
            <a:r>
              <a:rPr lang="en-US" sz="2000" dirty="0"/>
              <a:t>Objective will be minimization</a:t>
            </a:r>
          </a:p>
          <a:p>
            <a:pPr lvl="8"/>
            <a:r>
              <a:rPr lang="en-US" sz="2000" dirty="0"/>
              <a:t>Objective function will be sum of the right-side of the primal constraints multiplied with the corresponding dual variables</a:t>
            </a:r>
          </a:p>
          <a:p>
            <a:pPr lvl="8"/>
            <a:r>
              <a:rPr lang="en-US" sz="2000" dirty="0"/>
              <a:t>Constraints of the dual will be defined by the columns of the primal </a:t>
            </a:r>
          </a:p>
          <a:p>
            <a:pPr lvl="6"/>
            <a:endParaRPr lang="en-US" dirty="0"/>
          </a:p>
          <a:p>
            <a:endParaRPr lang="en-US" dirty="0"/>
          </a:p>
        </p:txBody>
      </p:sp>
      <p:sp>
        <p:nvSpPr>
          <p:cNvPr id="7" name="Bent Arrow 6"/>
          <p:cNvSpPr/>
          <p:nvPr/>
        </p:nvSpPr>
        <p:spPr bwMode="auto">
          <a:xfrm flipV="1">
            <a:off x="2205644" y="4466610"/>
            <a:ext cx="1825770" cy="1438707"/>
          </a:xfrm>
          <a:prstGeom prst="bentArrow">
            <a:avLst/>
          </a:prstGeom>
          <a:solidFill>
            <a:srgbClr val="C00000"/>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eaLnBrk="0" fontAlgn="base" hangingPunct="0">
              <a:spcBef>
                <a:spcPct val="0"/>
              </a:spcBef>
              <a:spcAft>
                <a:spcPct val="0"/>
              </a:spcAft>
            </a:pPr>
            <a:endParaRPr lang="en-US" sz="2400">
              <a:solidFill>
                <a:srgbClr val="FF0000"/>
              </a:solidFill>
              <a:latin typeface="Arial" charset="0"/>
              <a:ea typeface="ＭＳ Ｐゴシック" pitchFamily="16" charset="-128"/>
            </a:endParaRPr>
          </a:p>
        </p:txBody>
      </p:sp>
      <p:pic>
        <p:nvPicPr>
          <p:cNvPr id="8" name="Picture 7">
            <a:extLst>
              <a:ext uri="{FF2B5EF4-FFF2-40B4-BE49-F238E27FC236}">
                <a16:creationId xmlns:a16="http://schemas.microsoft.com/office/drawing/2014/main" id="{B81A8C3B-599F-42A6-BF16-B3AA52984565}"/>
              </a:ext>
            </a:extLst>
          </p:cNvPr>
          <p:cNvPicPr>
            <a:picLocks noChangeAspect="1"/>
          </p:cNvPicPr>
          <p:nvPr/>
        </p:nvPicPr>
        <p:blipFill>
          <a:blip r:embed="rId2"/>
          <a:stretch>
            <a:fillRect/>
          </a:stretch>
        </p:blipFill>
        <p:spPr>
          <a:xfrm>
            <a:off x="226660" y="2554722"/>
            <a:ext cx="3693692" cy="1710352"/>
          </a:xfrm>
          <a:prstGeom prst="rect">
            <a:avLst/>
          </a:prstGeom>
        </p:spPr>
      </p:pic>
      <p:pic>
        <p:nvPicPr>
          <p:cNvPr id="9" name="Picture 8">
            <a:extLst>
              <a:ext uri="{FF2B5EF4-FFF2-40B4-BE49-F238E27FC236}">
                <a16:creationId xmlns:a16="http://schemas.microsoft.com/office/drawing/2014/main" id="{9B17889A-C3EC-49E6-BCCA-313E73644F1F}"/>
              </a:ext>
            </a:extLst>
          </p:cNvPr>
          <p:cNvPicPr>
            <a:picLocks noChangeAspect="1"/>
          </p:cNvPicPr>
          <p:nvPr/>
        </p:nvPicPr>
        <p:blipFill>
          <a:blip r:embed="rId3"/>
          <a:stretch>
            <a:fillRect/>
          </a:stretch>
        </p:blipFill>
        <p:spPr>
          <a:xfrm>
            <a:off x="1130531" y="2001944"/>
            <a:ext cx="1885950" cy="552778"/>
          </a:xfrm>
          <a:prstGeom prst="rect">
            <a:avLst/>
          </a:prstGeom>
        </p:spPr>
      </p:pic>
      <p:pic>
        <p:nvPicPr>
          <p:cNvPr id="10" name="Picture 9">
            <a:extLst>
              <a:ext uri="{FF2B5EF4-FFF2-40B4-BE49-F238E27FC236}">
                <a16:creationId xmlns:a16="http://schemas.microsoft.com/office/drawing/2014/main" id="{4F3F1F0A-C0CA-4373-B04E-6E70749C5178}"/>
              </a:ext>
            </a:extLst>
          </p:cNvPr>
          <p:cNvPicPr>
            <a:picLocks noChangeAspect="1"/>
          </p:cNvPicPr>
          <p:nvPr/>
        </p:nvPicPr>
        <p:blipFill>
          <a:blip r:embed="rId4"/>
          <a:stretch>
            <a:fillRect/>
          </a:stretch>
        </p:blipFill>
        <p:spPr>
          <a:xfrm>
            <a:off x="5699060" y="4705329"/>
            <a:ext cx="4466706" cy="1897747"/>
          </a:xfrm>
          <a:prstGeom prst="rect">
            <a:avLst/>
          </a:prstGeom>
        </p:spPr>
      </p:pic>
      <p:pic>
        <p:nvPicPr>
          <p:cNvPr id="11" name="Picture 10">
            <a:extLst>
              <a:ext uri="{FF2B5EF4-FFF2-40B4-BE49-F238E27FC236}">
                <a16:creationId xmlns:a16="http://schemas.microsoft.com/office/drawing/2014/main" id="{89E77D8A-99D3-495B-8604-8E4C45A7AF69}"/>
              </a:ext>
            </a:extLst>
          </p:cNvPr>
          <p:cNvPicPr>
            <a:picLocks noChangeAspect="1"/>
          </p:cNvPicPr>
          <p:nvPr/>
        </p:nvPicPr>
        <p:blipFill>
          <a:blip r:embed="rId5"/>
          <a:stretch>
            <a:fillRect/>
          </a:stretch>
        </p:blipFill>
        <p:spPr>
          <a:xfrm>
            <a:off x="6946709" y="4068601"/>
            <a:ext cx="1971408" cy="636728"/>
          </a:xfrm>
          <a:prstGeom prst="rect">
            <a:avLst/>
          </a:prstGeom>
        </p:spPr>
      </p:pic>
    </p:spTree>
    <p:extLst>
      <p:ext uri="{BB962C8B-B14F-4D97-AF65-F5344CB8AC3E}">
        <p14:creationId xmlns:p14="http://schemas.microsoft.com/office/powerpoint/2010/main" val="151412180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11"/>
                                        </p:tgtEl>
                                        <p:attrNameLst>
                                          <p:attrName>style.visibility</p:attrName>
                                        </p:attrNameLst>
                                      </p:cBhvr>
                                      <p:to>
                                        <p:strVal val="visible"/>
                                      </p:to>
                                    </p:set>
                                  </p:childTnLst>
                                </p:cTn>
                              </p:par>
                              <p:par>
                                <p:cTn id="27" presetID="1" presetClass="entr" presetSubtype="0" fill="hold" nodeType="withEffect">
                                  <p:stCondLst>
                                    <p:cond delay="0"/>
                                  </p:stCondLst>
                                  <p:childTnLst>
                                    <p:set>
                                      <p:cBhvr>
                                        <p:cTn id="28" dur="1" fill="hold">
                                          <p:stCondLst>
                                            <p:cond delay="0"/>
                                          </p:stCondLst>
                                        </p:cTn>
                                        <p:tgtEl>
                                          <p:spTgt spid="10"/>
                                        </p:tgtEl>
                                        <p:attrNameLst>
                                          <p:attrName>style.visibility</p:attrName>
                                        </p:attrNameLst>
                                      </p:cBhvr>
                                      <p:to>
                                        <p:strVal val="visible"/>
                                      </p:to>
                                    </p:set>
                                  </p:childTnLst>
                                </p:cTn>
                              </p:par>
                              <p:par>
                                <p:cTn id="29" presetID="1" presetClass="entr" presetSubtype="0" fill="hold" grpId="0" nodeType="withEffect">
                                  <p:stCondLst>
                                    <p:cond delay="0"/>
                                  </p:stCondLst>
                                  <p:childTnLst>
                                    <p:set>
                                      <p:cBhvr>
                                        <p:cTn id="30" dur="1" fill="hold">
                                          <p:stCondLst>
                                            <p:cond delay="0"/>
                                          </p:stCondLst>
                                        </p:cTn>
                                        <p:tgtEl>
                                          <p:spTgt spid="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Lst>
  </p:timing>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Formulating the Dual</a:t>
            </a:r>
          </a:p>
        </p:txBody>
      </p:sp>
      <p:sp>
        <p:nvSpPr>
          <p:cNvPr id="3" name="Content Placeholder 2"/>
          <p:cNvSpPr>
            <a:spLocks noGrp="1"/>
          </p:cNvSpPr>
          <p:nvPr>
            <p:ph idx="1"/>
          </p:nvPr>
        </p:nvSpPr>
        <p:spPr/>
        <p:txBody>
          <a:bodyPr/>
          <a:lstStyle/>
          <a:p>
            <a:r>
              <a:rPr lang="en-US" dirty="0"/>
              <a:t>Another example:</a:t>
            </a:r>
          </a:p>
        </p:txBody>
      </p:sp>
      <p:pic>
        <p:nvPicPr>
          <p:cNvPr id="5" name="Picture 4"/>
          <p:cNvPicPr>
            <a:picLocks noChangeAspect="1"/>
          </p:cNvPicPr>
          <p:nvPr/>
        </p:nvPicPr>
        <p:blipFill>
          <a:blip r:embed="rId2"/>
          <a:stretch>
            <a:fillRect/>
          </a:stretch>
        </p:blipFill>
        <p:spPr>
          <a:xfrm>
            <a:off x="2850573" y="1860607"/>
            <a:ext cx="6040441" cy="1590000"/>
          </a:xfrm>
          <a:prstGeom prst="rect">
            <a:avLst/>
          </a:prstGeom>
        </p:spPr>
      </p:pic>
      <p:pic>
        <p:nvPicPr>
          <p:cNvPr id="6" name="Picture 5"/>
          <p:cNvPicPr>
            <a:picLocks noChangeAspect="1"/>
          </p:cNvPicPr>
          <p:nvPr/>
        </p:nvPicPr>
        <p:blipFill>
          <a:blip r:embed="rId3"/>
          <a:stretch>
            <a:fillRect/>
          </a:stretch>
        </p:blipFill>
        <p:spPr>
          <a:xfrm>
            <a:off x="2801390" y="4256243"/>
            <a:ext cx="5228281" cy="1920720"/>
          </a:xfrm>
          <a:prstGeom prst="rect">
            <a:avLst/>
          </a:prstGeom>
        </p:spPr>
      </p:pic>
      <p:sp>
        <p:nvSpPr>
          <p:cNvPr id="7" name="TextBox 6">
            <a:extLst>
              <a:ext uri="{FF2B5EF4-FFF2-40B4-BE49-F238E27FC236}">
                <a16:creationId xmlns:a16="http://schemas.microsoft.com/office/drawing/2014/main" id="{63826088-6C54-4D78-8BA1-94F4C24A295A}"/>
              </a:ext>
            </a:extLst>
          </p:cNvPr>
          <p:cNvSpPr txBox="1"/>
          <p:nvPr/>
        </p:nvSpPr>
        <p:spPr>
          <a:xfrm>
            <a:off x="831273" y="2332441"/>
            <a:ext cx="1684713" cy="646331"/>
          </a:xfrm>
          <a:prstGeom prst="rect">
            <a:avLst/>
          </a:prstGeom>
          <a:noFill/>
        </p:spPr>
        <p:txBody>
          <a:bodyPr wrap="square" rtlCol="0">
            <a:spAutoFit/>
          </a:bodyPr>
          <a:lstStyle/>
          <a:p>
            <a:r>
              <a:rPr lang="en-US" sz="3600" b="1" dirty="0">
                <a:solidFill>
                  <a:srgbClr val="C00000"/>
                </a:solidFill>
              </a:rPr>
              <a:t>Primal</a:t>
            </a:r>
          </a:p>
        </p:txBody>
      </p:sp>
      <p:sp>
        <p:nvSpPr>
          <p:cNvPr id="8" name="TextBox 7">
            <a:extLst>
              <a:ext uri="{FF2B5EF4-FFF2-40B4-BE49-F238E27FC236}">
                <a16:creationId xmlns:a16="http://schemas.microsoft.com/office/drawing/2014/main" id="{DEAF7937-A5DF-4787-BF34-AF7BFDDBA912}"/>
              </a:ext>
            </a:extLst>
          </p:cNvPr>
          <p:cNvSpPr txBox="1"/>
          <p:nvPr/>
        </p:nvSpPr>
        <p:spPr>
          <a:xfrm>
            <a:off x="983673" y="4375568"/>
            <a:ext cx="1684713" cy="646331"/>
          </a:xfrm>
          <a:prstGeom prst="rect">
            <a:avLst/>
          </a:prstGeom>
          <a:noFill/>
        </p:spPr>
        <p:txBody>
          <a:bodyPr wrap="square" rtlCol="0">
            <a:spAutoFit/>
          </a:bodyPr>
          <a:lstStyle/>
          <a:p>
            <a:r>
              <a:rPr lang="en-US" sz="3600" b="1" dirty="0">
                <a:solidFill>
                  <a:srgbClr val="C00000"/>
                </a:solidFill>
              </a:rPr>
              <a:t>Dual</a:t>
            </a:r>
          </a:p>
        </p:txBody>
      </p:sp>
      <p:sp>
        <p:nvSpPr>
          <p:cNvPr id="9" name="Arrow: Curved Right 8">
            <a:extLst>
              <a:ext uri="{FF2B5EF4-FFF2-40B4-BE49-F238E27FC236}">
                <a16:creationId xmlns:a16="http://schemas.microsoft.com/office/drawing/2014/main" id="{A446B2CF-5C77-464D-93B8-229E8B6B6868}"/>
              </a:ext>
            </a:extLst>
          </p:cNvPr>
          <p:cNvSpPr/>
          <p:nvPr/>
        </p:nvSpPr>
        <p:spPr>
          <a:xfrm>
            <a:off x="307734" y="2890547"/>
            <a:ext cx="523539" cy="1823258"/>
          </a:xfrm>
          <a:prstGeom prst="curvedRightArrow">
            <a:avLst/>
          </a:prstGeom>
          <a:solidFill>
            <a:srgbClr val="C00000"/>
          </a:solid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Tree>
    <p:extLst>
      <p:ext uri="{BB962C8B-B14F-4D97-AF65-F5344CB8AC3E}">
        <p14:creationId xmlns:p14="http://schemas.microsoft.com/office/powerpoint/2010/main" val="76724380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7"/>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9"/>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8"/>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P spid="8" grpId="0"/>
      <p:bldP spid="9" grpId="0" animBg="1"/>
    </p:bldLst>
  </p:timing>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extBox 6"/>
          <p:cNvSpPr txBox="1"/>
          <p:nvPr/>
        </p:nvSpPr>
        <p:spPr>
          <a:xfrm>
            <a:off x="5524500" y="3960235"/>
            <a:ext cx="3505200" cy="400110"/>
          </a:xfrm>
          <a:prstGeom prst="rect">
            <a:avLst/>
          </a:prstGeom>
          <a:noFill/>
        </p:spPr>
        <p:txBody>
          <a:bodyPr wrap="square" rtlCol="0">
            <a:spAutoFit/>
          </a:bodyPr>
          <a:lstStyle/>
          <a:p>
            <a:r>
              <a:rPr lang="en-US" sz="2000" dirty="0"/>
              <a:t>y</a:t>
            </a:r>
            <a:r>
              <a:rPr lang="en-US" sz="2000" baseline="-25000" dirty="0"/>
              <a:t>1</a:t>
            </a:r>
            <a:r>
              <a:rPr lang="en-US" sz="2000" dirty="0"/>
              <a:t>D+2y</a:t>
            </a:r>
            <a:r>
              <a:rPr lang="en-US" sz="2000" baseline="-25000" dirty="0"/>
              <a:t>2</a:t>
            </a:r>
            <a:r>
              <a:rPr lang="en-US" sz="2000" dirty="0"/>
              <a:t>W+y</a:t>
            </a:r>
            <a:r>
              <a:rPr lang="en-US" sz="2000" baseline="-25000" dirty="0"/>
              <a:t>3</a:t>
            </a:r>
            <a:r>
              <a:rPr lang="en-US" sz="2000" dirty="0"/>
              <a:t>(3D+2W) &lt;=</a:t>
            </a:r>
          </a:p>
        </p:txBody>
      </p:sp>
      <p:sp>
        <p:nvSpPr>
          <p:cNvPr id="2" name="Title 1"/>
          <p:cNvSpPr>
            <a:spLocks noGrp="1"/>
          </p:cNvSpPr>
          <p:nvPr>
            <p:ph type="title"/>
          </p:nvPr>
        </p:nvSpPr>
        <p:spPr/>
        <p:txBody>
          <a:bodyPr/>
          <a:lstStyle/>
          <a:p>
            <a:r>
              <a:rPr lang="en-US" dirty="0"/>
              <a:t>Primal-Dual Relations</a:t>
            </a:r>
          </a:p>
        </p:txBody>
      </p:sp>
      <p:sp>
        <p:nvSpPr>
          <p:cNvPr id="3" name="Content Placeholder 2"/>
          <p:cNvSpPr>
            <a:spLocks noGrp="1"/>
          </p:cNvSpPr>
          <p:nvPr>
            <p:ph idx="1"/>
          </p:nvPr>
        </p:nvSpPr>
        <p:spPr/>
        <p:txBody>
          <a:bodyPr/>
          <a:lstStyle/>
          <a:p>
            <a:r>
              <a:rPr lang="en-US" dirty="0"/>
              <a:t>Weak duality property</a:t>
            </a:r>
          </a:p>
          <a:p>
            <a:pPr lvl="1"/>
            <a:r>
              <a:rPr lang="en-US" sz="2000" dirty="0"/>
              <a:t>For a primal maximization (minimization) problem: If </a:t>
            </a:r>
            <a:r>
              <a:rPr lang="en-US" sz="2000" b="1" dirty="0"/>
              <a:t>x</a:t>
            </a:r>
            <a:r>
              <a:rPr lang="en-US" sz="2000" dirty="0"/>
              <a:t> is a feasible solution for the primal problem and </a:t>
            </a:r>
            <a:r>
              <a:rPr lang="en-US" sz="2000" b="1" dirty="0"/>
              <a:t>y</a:t>
            </a:r>
            <a:r>
              <a:rPr lang="en-US" sz="2000" dirty="0"/>
              <a:t> is a feasible solution for the dual problem, then </a:t>
            </a:r>
            <a:r>
              <a:rPr lang="en-US" sz="2000" b="1" dirty="0"/>
              <a:t>cx &lt;=</a:t>
            </a:r>
            <a:r>
              <a:rPr lang="en-US" sz="2000" dirty="0"/>
              <a:t> </a:t>
            </a:r>
            <a:r>
              <a:rPr lang="en-US" sz="2000" b="1" dirty="0" err="1"/>
              <a:t>yb</a:t>
            </a:r>
            <a:r>
              <a:rPr lang="en-US" sz="2000" dirty="0"/>
              <a:t> (</a:t>
            </a:r>
            <a:r>
              <a:rPr lang="en-US" sz="2000" b="1" dirty="0"/>
              <a:t>cx &gt;=</a:t>
            </a:r>
            <a:r>
              <a:rPr lang="en-US" sz="2000" dirty="0"/>
              <a:t> </a:t>
            </a:r>
            <a:r>
              <a:rPr lang="en-US" sz="2000" b="1" dirty="0" err="1"/>
              <a:t>yb</a:t>
            </a:r>
            <a:r>
              <a:rPr lang="en-US" sz="2000" dirty="0"/>
              <a:t> )</a:t>
            </a:r>
          </a:p>
          <a:p>
            <a:pPr lvl="1"/>
            <a:r>
              <a:rPr lang="en-US" dirty="0"/>
              <a:t>Illustration with </a:t>
            </a:r>
            <a:r>
              <a:rPr lang="en-US" dirty="0" err="1"/>
              <a:t>Wyndor</a:t>
            </a:r>
            <a:r>
              <a:rPr lang="en-US" dirty="0"/>
              <a:t> example:</a:t>
            </a:r>
          </a:p>
          <a:p>
            <a:pPr lvl="2"/>
            <a:r>
              <a:rPr lang="en-US" dirty="0"/>
              <a:t>Suppose we have a primal solution (D, W)</a:t>
            </a:r>
          </a:p>
          <a:p>
            <a:pPr lvl="2"/>
            <a:r>
              <a:rPr lang="en-US" dirty="0"/>
              <a:t>Suppose we have a dual solution (y</a:t>
            </a:r>
            <a:r>
              <a:rPr lang="en-US" baseline="-25000" dirty="0"/>
              <a:t>1</a:t>
            </a:r>
            <a:r>
              <a:rPr lang="en-US" dirty="0"/>
              <a:t>,y</a:t>
            </a:r>
            <a:r>
              <a:rPr lang="en-US" baseline="-25000" dirty="0"/>
              <a:t>2</a:t>
            </a:r>
            <a:r>
              <a:rPr lang="en-US" dirty="0"/>
              <a:t>,y</a:t>
            </a:r>
            <a:r>
              <a:rPr lang="en-US" baseline="-25000" dirty="0"/>
              <a:t>3</a:t>
            </a:r>
            <a:r>
              <a:rPr lang="en-US" dirty="0"/>
              <a:t>)</a:t>
            </a:r>
          </a:p>
          <a:p>
            <a:pPr lvl="2"/>
            <a:endParaRPr lang="en-US" dirty="0"/>
          </a:p>
          <a:p>
            <a:pPr lvl="2"/>
            <a:endParaRPr lang="en-US" dirty="0"/>
          </a:p>
          <a:p>
            <a:pPr lvl="2"/>
            <a:r>
              <a:rPr lang="en-US" dirty="0"/>
              <a:t>So</a:t>
            </a:r>
          </a:p>
          <a:p>
            <a:pPr lvl="8"/>
            <a:endParaRPr lang="en-US" dirty="0">
              <a:sym typeface="Wingdings" panose="05000000000000000000" pitchFamily="2" charset="2"/>
            </a:endParaRPr>
          </a:p>
          <a:p>
            <a:pPr lvl="8"/>
            <a:endParaRPr lang="en-US" dirty="0"/>
          </a:p>
          <a:p>
            <a:pPr lvl="1"/>
            <a:endParaRPr lang="en-US" dirty="0"/>
          </a:p>
        </p:txBody>
      </p:sp>
      <p:sp>
        <p:nvSpPr>
          <p:cNvPr id="6" name="Right Arrow 5"/>
          <p:cNvSpPr/>
          <p:nvPr/>
        </p:nvSpPr>
        <p:spPr bwMode="auto">
          <a:xfrm>
            <a:off x="5029200" y="4033837"/>
            <a:ext cx="304800" cy="304800"/>
          </a:xfrm>
          <a:prstGeom prst="rightArrow">
            <a:avLst/>
          </a:prstGeom>
          <a:solidFill>
            <a:schemeClr val="accent1"/>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eaLnBrk="0" fontAlgn="base" hangingPunct="0">
              <a:spcBef>
                <a:spcPct val="0"/>
              </a:spcBef>
              <a:spcAft>
                <a:spcPct val="0"/>
              </a:spcAft>
            </a:pPr>
            <a:endParaRPr lang="en-US" sz="2400">
              <a:latin typeface="Arial" charset="0"/>
              <a:ea typeface="ＭＳ Ｐゴシック" pitchFamily="16" charset="-128"/>
            </a:endParaRPr>
          </a:p>
        </p:txBody>
      </p:sp>
      <p:sp>
        <p:nvSpPr>
          <p:cNvPr id="10" name="Right Arrow 9"/>
          <p:cNvSpPr/>
          <p:nvPr/>
        </p:nvSpPr>
        <p:spPr bwMode="auto">
          <a:xfrm>
            <a:off x="5034395" y="5111028"/>
            <a:ext cx="304800" cy="304800"/>
          </a:xfrm>
          <a:prstGeom prst="rightArrow">
            <a:avLst/>
          </a:prstGeom>
          <a:solidFill>
            <a:schemeClr val="accent1"/>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eaLnBrk="0" fontAlgn="base" hangingPunct="0">
              <a:spcBef>
                <a:spcPct val="0"/>
              </a:spcBef>
              <a:spcAft>
                <a:spcPct val="0"/>
              </a:spcAft>
            </a:pPr>
            <a:endParaRPr lang="en-US" sz="2400">
              <a:latin typeface="Arial" charset="0"/>
              <a:ea typeface="ＭＳ Ｐゴシック" pitchFamily="16" charset="-128"/>
            </a:endParaRPr>
          </a:p>
        </p:txBody>
      </p:sp>
      <p:sp>
        <p:nvSpPr>
          <p:cNvPr id="11" name="TextBox 10"/>
          <p:cNvSpPr txBox="1"/>
          <p:nvPr/>
        </p:nvSpPr>
        <p:spPr>
          <a:xfrm>
            <a:off x="5482935" y="5036127"/>
            <a:ext cx="3505200" cy="400110"/>
          </a:xfrm>
          <a:prstGeom prst="rect">
            <a:avLst/>
          </a:prstGeom>
          <a:noFill/>
        </p:spPr>
        <p:txBody>
          <a:bodyPr wrap="square" rtlCol="0">
            <a:spAutoFit/>
          </a:bodyPr>
          <a:lstStyle/>
          <a:p>
            <a:r>
              <a:rPr lang="en-US" sz="2000" dirty="0"/>
              <a:t>D(y</a:t>
            </a:r>
            <a:r>
              <a:rPr lang="en-US" sz="2000" baseline="-25000" dirty="0"/>
              <a:t>1</a:t>
            </a:r>
            <a:r>
              <a:rPr lang="en-US" sz="2000" dirty="0"/>
              <a:t>+3y</a:t>
            </a:r>
            <a:r>
              <a:rPr lang="en-US" sz="2000" baseline="-25000" dirty="0"/>
              <a:t>3</a:t>
            </a:r>
            <a:r>
              <a:rPr lang="en-US" sz="2000" dirty="0"/>
              <a:t>)+W(2y</a:t>
            </a:r>
            <a:r>
              <a:rPr lang="en-US" sz="2000" baseline="-25000" dirty="0"/>
              <a:t>2</a:t>
            </a:r>
            <a:r>
              <a:rPr lang="en-US" sz="2000" dirty="0"/>
              <a:t>+2y</a:t>
            </a:r>
            <a:r>
              <a:rPr lang="en-US" sz="2000" baseline="-25000" dirty="0"/>
              <a:t>3</a:t>
            </a:r>
            <a:r>
              <a:rPr lang="en-US" sz="2000" dirty="0"/>
              <a:t>) &gt;=</a:t>
            </a:r>
          </a:p>
        </p:txBody>
      </p:sp>
      <p:sp>
        <p:nvSpPr>
          <p:cNvPr id="16" name="Rectangle 15"/>
          <p:cNvSpPr/>
          <p:nvPr/>
        </p:nvSpPr>
        <p:spPr>
          <a:xfrm>
            <a:off x="7235535" y="5961418"/>
            <a:ext cx="679994" cy="369332"/>
          </a:xfrm>
          <a:prstGeom prst="rect">
            <a:avLst/>
          </a:prstGeom>
        </p:spPr>
        <p:txBody>
          <a:bodyPr wrap="none">
            <a:spAutoFit/>
          </a:bodyPr>
          <a:lstStyle/>
          <a:p>
            <a:r>
              <a:rPr lang="en-US" dirty="0"/>
              <a:t>     &lt;=</a:t>
            </a:r>
          </a:p>
        </p:txBody>
      </p:sp>
      <p:sp>
        <p:nvSpPr>
          <p:cNvPr id="17" name="Rectangle 16"/>
          <p:cNvSpPr/>
          <p:nvPr/>
        </p:nvSpPr>
        <p:spPr>
          <a:xfrm>
            <a:off x="4727809" y="5991090"/>
            <a:ext cx="415498" cy="369332"/>
          </a:xfrm>
          <a:prstGeom prst="rect">
            <a:avLst/>
          </a:prstGeom>
        </p:spPr>
        <p:txBody>
          <a:bodyPr wrap="none">
            <a:spAutoFit/>
          </a:bodyPr>
          <a:lstStyle/>
          <a:p>
            <a:r>
              <a:rPr lang="en-US" dirty="0"/>
              <a:t>&lt;=</a:t>
            </a:r>
          </a:p>
        </p:txBody>
      </p:sp>
      <p:pic>
        <p:nvPicPr>
          <p:cNvPr id="13" name="Picture 12">
            <a:extLst>
              <a:ext uri="{FF2B5EF4-FFF2-40B4-BE49-F238E27FC236}">
                <a16:creationId xmlns:a16="http://schemas.microsoft.com/office/drawing/2014/main" id="{21F4475E-F5EA-4E55-BF2C-9FFE4E17D6B0}"/>
              </a:ext>
            </a:extLst>
          </p:cNvPr>
          <p:cNvPicPr>
            <a:picLocks noChangeAspect="1"/>
          </p:cNvPicPr>
          <p:nvPr/>
        </p:nvPicPr>
        <p:blipFill>
          <a:blip r:embed="rId2"/>
          <a:stretch>
            <a:fillRect/>
          </a:stretch>
        </p:blipFill>
        <p:spPr>
          <a:xfrm>
            <a:off x="2408557" y="4900852"/>
            <a:ext cx="2423333" cy="706353"/>
          </a:xfrm>
          <a:prstGeom prst="rect">
            <a:avLst/>
          </a:prstGeom>
        </p:spPr>
      </p:pic>
      <p:pic>
        <p:nvPicPr>
          <p:cNvPr id="21" name="Picture 20">
            <a:extLst>
              <a:ext uri="{FF2B5EF4-FFF2-40B4-BE49-F238E27FC236}">
                <a16:creationId xmlns:a16="http://schemas.microsoft.com/office/drawing/2014/main" id="{82FFEE06-060E-4584-9071-2382B683F92C}"/>
              </a:ext>
            </a:extLst>
          </p:cNvPr>
          <p:cNvPicPr>
            <a:picLocks noChangeAspect="1"/>
          </p:cNvPicPr>
          <p:nvPr/>
        </p:nvPicPr>
        <p:blipFill>
          <a:blip r:embed="rId3"/>
          <a:stretch>
            <a:fillRect/>
          </a:stretch>
        </p:blipFill>
        <p:spPr>
          <a:xfrm>
            <a:off x="2838394" y="3664136"/>
            <a:ext cx="1993496" cy="1027703"/>
          </a:xfrm>
          <a:prstGeom prst="rect">
            <a:avLst/>
          </a:prstGeom>
        </p:spPr>
      </p:pic>
      <p:pic>
        <p:nvPicPr>
          <p:cNvPr id="22" name="Picture 21">
            <a:extLst>
              <a:ext uri="{FF2B5EF4-FFF2-40B4-BE49-F238E27FC236}">
                <a16:creationId xmlns:a16="http://schemas.microsoft.com/office/drawing/2014/main" id="{48FBDC16-1E1E-4076-B3DE-5B2790016819}"/>
              </a:ext>
            </a:extLst>
          </p:cNvPr>
          <p:cNvPicPr>
            <a:picLocks noChangeAspect="1"/>
          </p:cNvPicPr>
          <p:nvPr/>
        </p:nvPicPr>
        <p:blipFill>
          <a:blip r:embed="rId4"/>
          <a:stretch>
            <a:fillRect/>
          </a:stretch>
        </p:blipFill>
        <p:spPr>
          <a:xfrm>
            <a:off x="8188807" y="4006412"/>
            <a:ext cx="2608552" cy="370968"/>
          </a:xfrm>
          <a:prstGeom prst="rect">
            <a:avLst/>
          </a:prstGeom>
        </p:spPr>
      </p:pic>
      <p:sp>
        <p:nvSpPr>
          <p:cNvPr id="23" name="Rectangle: Rounded Corners 22">
            <a:extLst>
              <a:ext uri="{FF2B5EF4-FFF2-40B4-BE49-F238E27FC236}">
                <a16:creationId xmlns:a16="http://schemas.microsoft.com/office/drawing/2014/main" id="{EDDCC216-CE22-4670-ABEB-E91AF5F2BAF3}"/>
              </a:ext>
            </a:extLst>
          </p:cNvPr>
          <p:cNvSpPr/>
          <p:nvPr/>
        </p:nvSpPr>
        <p:spPr>
          <a:xfrm>
            <a:off x="5524500" y="3960234"/>
            <a:ext cx="2383675" cy="417145"/>
          </a:xfrm>
          <a:prstGeom prst="roundRect">
            <a:avLst/>
          </a:prstGeom>
          <a:no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24" name="Picture 23">
            <a:extLst>
              <a:ext uri="{FF2B5EF4-FFF2-40B4-BE49-F238E27FC236}">
                <a16:creationId xmlns:a16="http://schemas.microsoft.com/office/drawing/2014/main" id="{2D03FF6C-E338-4DAC-B021-ECBC89684171}"/>
              </a:ext>
            </a:extLst>
          </p:cNvPr>
          <p:cNvPicPr>
            <a:picLocks noChangeAspect="1"/>
          </p:cNvPicPr>
          <p:nvPr/>
        </p:nvPicPr>
        <p:blipFill>
          <a:blip r:embed="rId5"/>
          <a:stretch>
            <a:fillRect/>
          </a:stretch>
        </p:blipFill>
        <p:spPr>
          <a:xfrm>
            <a:off x="8150843" y="5053162"/>
            <a:ext cx="1825250" cy="359997"/>
          </a:xfrm>
          <a:prstGeom prst="rect">
            <a:avLst/>
          </a:prstGeom>
        </p:spPr>
      </p:pic>
      <p:sp>
        <p:nvSpPr>
          <p:cNvPr id="26" name="Rectangle: Rounded Corners 25">
            <a:extLst>
              <a:ext uri="{FF2B5EF4-FFF2-40B4-BE49-F238E27FC236}">
                <a16:creationId xmlns:a16="http://schemas.microsoft.com/office/drawing/2014/main" id="{F647C4A7-689C-45BD-8D26-24CEBB86055F}"/>
              </a:ext>
            </a:extLst>
          </p:cNvPr>
          <p:cNvSpPr/>
          <p:nvPr/>
        </p:nvSpPr>
        <p:spPr>
          <a:xfrm>
            <a:off x="5482935" y="5029415"/>
            <a:ext cx="2383675" cy="417145"/>
          </a:xfrm>
          <a:prstGeom prst="roundRect">
            <a:avLst/>
          </a:prstGeom>
          <a:no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27" name="Picture 26">
            <a:extLst>
              <a:ext uri="{FF2B5EF4-FFF2-40B4-BE49-F238E27FC236}">
                <a16:creationId xmlns:a16="http://schemas.microsoft.com/office/drawing/2014/main" id="{B2847857-ED15-4C59-9C48-B94F09041B9B}"/>
              </a:ext>
            </a:extLst>
          </p:cNvPr>
          <p:cNvPicPr>
            <a:picLocks noChangeAspect="1"/>
          </p:cNvPicPr>
          <p:nvPr/>
        </p:nvPicPr>
        <p:blipFill>
          <a:blip r:embed="rId5"/>
          <a:stretch>
            <a:fillRect/>
          </a:stretch>
        </p:blipFill>
        <p:spPr>
          <a:xfrm>
            <a:off x="2811582" y="6022433"/>
            <a:ext cx="1825250" cy="359997"/>
          </a:xfrm>
          <a:prstGeom prst="rect">
            <a:avLst/>
          </a:prstGeom>
        </p:spPr>
      </p:pic>
      <p:sp>
        <p:nvSpPr>
          <p:cNvPr id="28" name="Rectangle: Rounded Corners 27">
            <a:extLst>
              <a:ext uri="{FF2B5EF4-FFF2-40B4-BE49-F238E27FC236}">
                <a16:creationId xmlns:a16="http://schemas.microsoft.com/office/drawing/2014/main" id="{585AF53D-DFDC-45FF-8D36-E3254FFAE5F3}"/>
              </a:ext>
            </a:extLst>
          </p:cNvPr>
          <p:cNvSpPr/>
          <p:nvPr/>
        </p:nvSpPr>
        <p:spPr>
          <a:xfrm>
            <a:off x="5107247" y="5965285"/>
            <a:ext cx="2383675" cy="417145"/>
          </a:xfrm>
          <a:prstGeom prst="roundRect">
            <a:avLst/>
          </a:prstGeom>
          <a:no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29" name="Picture 28">
            <a:extLst>
              <a:ext uri="{FF2B5EF4-FFF2-40B4-BE49-F238E27FC236}">
                <a16:creationId xmlns:a16="http://schemas.microsoft.com/office/drawing/2014/main" id="{5F109821-8BBC-4890-94CE-7582B3B53DE6}"/>
              </a:ext>
            </a:extLst>
          </p:cNvPr>
          <p:cNvPicPr>
            <a:picLocks noChangeAspect="1"/>
          </p:cNvPicPr>
          <p:nvPr/>
        </p:nvPicPr>
        <p:blipFill>
          <a:blip r:embed="rId4"/>
          <a:stretch>
            <a:fillRect/>
          </a:stretch>
        </p:blipFill>
        <p:spPr>
          <a:xfrm>
            <a:off x="7852956" y="5991090"/>
            <a:ext cx="2608552" cy="370968"/>
          </a:xfrm>
          <a:prstGeom prst="rect">
            <a:avLst/>
          </a:prstGeom>
        </p:spPr>
      </p:pic>
    </p:spTree>
    <p:extLst>
      <p:ext uri="{BB962C8B-B14F-4D97-AF65-F5344CB8AC3E}">
        <p14:creationId xmlns:p14="http://schemas.microsoft.com/office/powerpoint/2010/main" val="166168144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3">
                                            <p:txEl>
                                              <p:pRg st="3" end="3"/>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7"/>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6"/>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21"/>
                                        </p:tgtEl>
                                        <p:attrNameLst>
                                          <p:attrName>style.visibility</p:attrName>
                                        </p:attrNameLst>
                                      </p:cBhvr>
                                      <p:to>
                                        <p:strVal val="visible"/>
                                      </p:to>
                                    </p:set>
                                  </p:childTnLst>
                                </p:cTn>
                              </p:par>
                              <p:par>
                                <p:cTn id="23" presetID="1" presetClass="entr" presetSubtype="0" fill="hold" nodeType="withEffect">
                                  <p:stCondLst>
                                    <p:cond delay="0"/>
                                  </p:stCondLst>
                                  <p:childTnLst>
                                    <p:set>
                                      <p:cBhvr>
                                        <p:cTn id="24" dur="1" fill="hold">
                                          <p:stCondLst>
                                            <p:cond delay="0"/>
                                          </p:stCondLst>
                                        </p:cTn>
                                        <p:tgtEl>
                                          <p:spTgt spid="22"/>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23"/>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10"/>
                                        </p:tgtEl>
                                        <p:attrNameLst>
                                          <p:attrName>style.visibility</p:attrName>
                                        </p:attrNameLst>
                                      </p:cBhvr>
                                      <p:to>
                                        <p:strVal val="visible"/>
                                      </p:to>
                                    </p:set>
                                  </p:childTnLst>
                                </p:cTn>
                              </p:par>
                              <p:par>
                                <p:cTn id="31" presetID="1" presetClass="entr" presetSubtype="0" fill="hold" grpId="0" nodeType="withEffect">
                                  <p:stCondLst>
                                    <p:cond delay="0"/>
                                  </p:stCondLst>
                                  <p:childTnLst>
                                    <p:set>
                                      <p:cBhvr>
                                        <p:cTn id="32" dur="1" fill="hold">
                                          <p:stCondLst>
                                            <p:cond delay="0"/>
                                          </p:stCondLst>
                                        </p:cTn>
                                        <p:tgtEl>
                                          <p:spTgt spid="11"/>
                                        </p:tgtEl>
                                        <p:attrNameLst>
                                          <p:attrName>style.visibility</p:attrName>
                                        </p:attrNameLst>
                                      </p:cBhvr>
                                      <p:to>
                                        <p:strVal val="visible"/>
                                      </p:to>
                                    </p:set>
                                  </p:childTnLst>
                                </p:cTn>
                              </p:par>
                              <p:par>
                                <p:cTn id="33" presetID="1" presetClass="entr" presetSubtype="0" fill="hold" nodeType="withEffect">
                                  <p:stCondLst>
                                    <p:cond delay="0"/>
                                  </p:stCondLst>
                                  <p:childTnLst>
                                    <p:set>
                                      <p:cBhvr>
                                        <p:cTn id="34" dur="1" fill="hold">
                                          <p:stCondLst>
                                            <p:cond delay="0"/>
                                          </p:stCondLst>
                                        </p:cTn>
                                        <p:tgtEl>
                                          <p:spTgt spid="13"/>
                                        </p:tgtEl>
                                        <p:attrNameLst>
                                          <p:attrName>style.visibility</p:attrName>
                                        </p:attrNameLst>
                                      </p:cBhvr>
                                      <p:to>
                                        <p:strVal val="visible"/>
                                      </p:to>
                                    </p:set>
                                  </p:childTnLst>
                                </p:cTn>
                              </p:par>
                              <p:par>
                                <p:cTn id="35" presetID="1" presetClass="entr" presetSubtype="0" fill="hold" nodeType="withEffect">
                                  <p:stCondLst>
                                    <p:cond delay="0"/>
                                  </p:stCondLst>
                                  <p:childTnLst>
                                    <p:set>
                                      <p:cBhvr>
                                        <p:cTn id="36" dur="1" fill="hold">
                                          <p:stCondLst>
                                            <p:cond delay="0"/>
                                          </p:stCondLst>
                                        </p:cTn>
                                        <p:tgtEl>
                                          <p:spTgt spid="24"/>
                                        </p:tgtEl>
                                        <p:attrNameLst>
                                          <p:attrName>style.visibility</p:attrName>
                                        </p:attrNameLst>
                                      </p:cBhvr>
                                      <p:to>
                                        <p:strVal val="visible"/>
                                      </p:to>
                                    </p:set>
                                  </p:childTnLst>
                                </p:cTn>
                              </p:par>
                              <p:par>
                                <p:cTn id="37" presetID="1" presetClass="entr" presetSubtype="0" fill="hold" grpId="0" nodeType="withEffect">
                                  <p:stCondLst>
                                    <p:cond delay="0"/>
                                  </p:stCondLst>
                                  <p:childTnLst>
                                    <p:set>
                                      <p:cBhvr>
                                        <p:cTn id="38" dur="1" fill="hold">
                                          <p:stCondLst>
                                            <p:cond delay="0"/>
                                          </p:stCondLst>
                                        </p:cTn>
                                        <p:tgtEl>
                                          <p:spTgt spid="26"/>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grpId="0" nodeType="clickEffect">
                                  <p:stCondLst>
                                    <p:cond delay="0"/>
                                  </p:stCondLst>
                                  <p:childTnLst>
                                    <p:set>
                                      <p:cBhvr>
                                        <p:cTn id="42" dur="1" fill="hold">
                                          <p:stCondLst>
                                            <p:cond delay="0"/>
                                          </p:stCondLst>
                                        </p:cTn>
                                        <p:tgtEl>
                                          <p:spTgt spid="16"/>
                                        </p:tgtEl>
                                        <p:attrNameLst>
                                          <p:attrName>style.visibility</p:attrName>
                                        </p:attrNameLst>
                                      </p:cBhvr>
                                      <p:to>
                                        <p:strVal val="visible"/>
                                      </p:to>
                                    </p:set>
                                  </p:childTnLst>
                                </p:cTn>
                              </p:par>
                              <p:par>
                                <p:cTn id="43" presetID="1" presetClass="entr" presetSubtype="0" fill="hold" grpId="0" nodeType="withEffect">
                                  <p:stCondLst>
                                    <p:cond delay="0"/>
                                  </p:stCondLst>
                                  <p:childTnLst>
                                    <p:set>
                                      <p:cBhvr>
                                        <p:cTn id="44" dur="1" fill="hold">
                                          <p:stCondLst>
                                            <p:cond delay="0"/>
                                          </p:stCondLst>
                                        </p:cTn>
                                        <p:tgtEl>
                                          <p:spTgt spid="17"/>
                                        </p:tgtEl>
                                        <p:attrNameLst>
                                          <p:attrName>style.visibility</p:attrName>
                                        </p:attrNameLst>
                                      </p:cBhvr>
                                      <p:to>
                                        <p:strVal val="visible"/>
                                      </p:to>
                                    </p:set>
                                  </p:childTnLst>
                                </p:cTn>
                              </p:par>
                              <p:par>
                                <p:cTn id="45" presetID="1" presetClass="entr" presetSubtype="0" fill="hold" nodeType="withEffect">
                                  <p:stCondLst>
                                    <p:cond delay="0"/>
                                  </p:stCondLst>
                                  <p:childTnLst>
                                    <p:set>
                                      <p:cBhvr>
                                        <p:cTn id="46" dur="1" fill="hold">
                                          <p:stCondLst>
                                            <p:cond delay="0"/>
                                          </p:stCondLst>
                                        </p:cTn>
                                        <p:tgtEl>
                                          <p:spTgt spid="27"/>
                                        </p:tgtEl>
                                        <p:attrNameLst>
                                          <p:attrName>style.visibility</p:attrName>
                                        </p:attrNameLst>
                                      </p:cBhvr>
                                      <p:to>
                                        <p:strVal val="visible"/>
                                      </p:to>
                                    </p:set>
                                  </p:childTnLst>
                                </p:cTn>
                              </p:par>
                              <p:par>
                                <p:cTn id="47" presetID="1" presetClass="entr" presetSubtype="0" fill="hold" grpId="0" nodeType="withEffect">
                                  <p:stCondLst>
                                    <p:cond delay="0"/>
                                  </p:stCondLst>
                                  <p:childTnLst>
                                    <p:set>
                                      <p:cBhvr>
                                        <p:cTn id="48" dur="1" fill="hold">
                                          <p:stCondLst>
                                            <p:cond delay="0"/>
                                          </p:stCondLst>
                                        </p:cTn>
                                        <p:tgtEl>
                                          <p:spTgt spid="28"/>
                                        </p:tgtEl>
                                        <p:attrNameLst>
                                          <p:attrName>style.visibility</p:attrName>
                                        </p:attrNameLst>
                                      </p:cBhvr>
                                      <p:to>
                                        <p:strVal val="visible"/>
                                      </p:to>
                                    </p:set>
                                  </p:childTnLst>
                                </p:cTn>
                              </p:par>
                              <p:par>
                                <p:cTn id="49" presetID="1" presetClass="entr" presetSubtype="0" fill="hold" nodeType="withEffect">
                                  <p:stCondLst>
                                    <p:cond delay="0"/>
                                  </p:stCondLst>
                                  <p:childTnLst>
                                    <p:set>
                                      <p:cBhvr>
                                        <p:cTn id="50" dur="1" fill="hold">
                                          <p:stCondLst>
                                            <p:cond delay="0"/>
                                          </p:stCondLst>
                                        </p:cTn>
                                        <p:tgtEl>
                                          <p:spTgt spid="2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P spid="6" grpId="0" animBg="1"/>
      <p:bldP spid="10" grpId="0" animBg="1"/>
      <p:bldP spid="11" grpId="0"/>
      <p:bldP spid="16" grpId="0"/>
      <p:bldP spid="17" grpId="0"/>
      <p:bldP spid="23" grpId="0" animBg="1"/>
      <p:bldP spid="26" grpId="0" animBg="1"/>
      <p:bldP spid="28" grpId="0" animBg="1"/>
    </p:bldLst>
  </p:timing>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Primal-Dual Relations</a:t>
            </a:r>
          </a:p>
        </p:txBody>
      </p:sp>
      <p:sp>
        <p:nvSpPr>
          <p:cNvPr id="3" name="Content Placeholder 2"/>
          <p:cNvSpPr>
            <a:spLocks noGrp="1"/>
          </p:cNvSpPr>
          <p:nvPr>
            <p:ph idx="1"/>
          </p:nvPr>
        </p:nvSpPr>
        <p:spPr/>
        <p:txBody>
          <a:bodyPr/>
          <a:lstStyle/>
          <a:p>
            <a:r>
              <a:rPr lang="en-US" dirty="0"/>
              <a:t>Strong duality property</a:t>
            </a:r>
          </a:p>
          <a:p>
            <a:pPr lvl="1"/>
            <a:r>
              <a:rPr lang="en-US" dirty="0"/>
              <a:t>If </a:t>
            </a:r>
            <a:r>
              <a:rPr lang="en-US" b="1" dirty="0"/>
              <a:t>x*</a:t>
            </a:r>
            <a:r>
              <a:rPr lang="en-US" dirty="0"/>
              <a:t> is an optimal solution for the primal problem and </a:t>
            </a:r>
            <a:r>
              <a:rPr lang="en-US" b="1" dirty="0"/>
              <a:t>y*</a:t>
            </a:r>
            <a:r>
              <a:rPr lang="en-US" dirty="0"/>
              <a:t> is an optimal solution for the dual problem, then </a:t>
            </a:r>
            <a:r>
              <a:rPr lang="en-US" b="1" dirty="0"/>
              <a:t>cx* </a:t>
            </a:r>
            <a:r>
              <a:rPr lang="en-US" dirty="0"/>
              <a:t>= </a:t>
            </a:r>
            <a:r>
              <a:rPr lang="en-US" b="1" dirty="0"/>
              <a:t>y*b</a:t>
            </a:r>
            <a:r>
              <a:rPr lang="en-US" dirty="0"/>
              <a:t>.</a:t>
            </a:r>
          </a:p>
          <a:p>
            <a:r>
              <a:rPr lang="en-US" dirty="0"/>
              <a:t>Symmetry property</a:t>
            </a:r>
          </a:p>
          <a:p>
            <a:pPr lvl="1"/>
            <a:r>
              <a:rPr lang="en-US" dirty="0"/>
              <a:t>Dual of the dual is primal!!</a:t>
            </a:r>
          </a:p>
          <a:p>
            <a:endParaRPr lang="en-US" dirty="0"/>
          </a:p>
        </p:txBody>
      </p:sp>
    </p:spTree>
    <p:extLst>
      <p:ext uri="{BB962C8B-B14F-4D97-AF65-F5344CB8AC3E}">
        <p14:creationId xmlns:p14="http://schemas.microsoft.com/office/powerpoint/2010/main" val="376961589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3">
                                            <p:txEl>
                                              <p:pRg st="2" end="2"/>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Primal-Dual Relations</a:t>
            </a:r>
          </a:p>
        </p:txBody>
      </p:sp>
      <p:sp>
        <p:nvSpPr>
          <p:cNvPr id="3" name="Content Placeholder 2"/>
          <p:cNvSpPr>
            <a:spLocks noGrp="1"/>
          </p:cNvSpPr>
          <p:nvPr>
            <p:ph idx="1"/>
          </p:nvPr>
        </p:nvSpPr>
        <p:spPr/>
        <p:txBody>
          <a:bodyPr/>
          <a:lstStyle/>
          <a:p>
            <a:r>
              <a:rPr lang="en-US" dirty="0"/>
              <a:t>Fundamental theory of duality</a:t>
            </a:r>
          </a:p>
          <a:p>
            <a:pPr lvl="1"/>
            <a:r>
              <a:rPr lang="en-US" dirty="0"/>
              <a:t>Defines the relations between the primal and dual</a:t>
            </a:r>
          </a:p>
          <a:p>
            <a:pPr lvl="2"/>
            <a:r>
              <a:rPr lang="en-US" dirty="0"/>
              <a:t>If Primal is unbounded, Dual is infeasible</a:t>
            </a:r>
          </a:p>
          <a:p>
            <a:pPr lvl="2"/>
            <a:r>
              <a:rPr lang="en-US" dirty="0"/>
              <a:t>If Dual is unbounded, Primal is infeasible</a:t>
            </a:r>
          </a:p>
          <a:p>
            <a:pPr lvl="2"/>
            <a:r>
              <a:rPr lang="en-US" dirty="0"/>
              <a:t>If Primal is infeasible</a:t>
            </a:r>
          </a:p>
          <a:p>
            <a:pPr lvl="3"/>
            <a:r>
              <a:rPr lang="en-US" dirty="0"/>
              <a:t>Dual can be unbounded? Possible!</a:t>
            </a:r>
          </a:p>
          <a:p>
            <a:pPr lvl="3"/>
            <a:r>
              <a:rPr lang="en-US" dirty="0"/>
              <a:t>Dual can have optimum solution? No!!</a:t>
            </a:r>
          </a:p>
          <a:p>
            <a:pPr lvl="3"/>
            <a:r>
              <a:rPr lang="en-US" dirty="0"/>
              <a:t>Dual can be infeasible? Possible!</a:t>
            </a:r>
          </a:p>
          <a:p>
            <a:pPr lvl="1"/>
            <a:endParaRPr lang="en-US" dirty="0"/>
          </a:p>
        </p:txBody>
      </p:sp>
      <p:graphicFrame>
        <p:nvGraphicFramePr>
          <p:cNvPr id="5" name="Table 4"/>
          <p:cNvGraphicFramePr>
            <a:graphicFrameLocks noGrp="1"/>
          </p:cNvGraphicFramePr>
          <p:nvPr>
            <p:extLst>
              <p:ext uri="{D42A27DB-BD31-4B8C-83A1-F6EECF244321}">
                <p14:modId xmlns:p14="http://schemas.microsoft.com/office/powerpoint/2010/main" val="1324755973"/>
              </p:ext>
            </p:extLst>
          </p:nvPr>
        </p:nvGraphicFramePr>
        <p:xfrm>
          <a:off x="2763983" y="4458393"/>
          <a:ext cx="4495801" cy="1483360"/>
        </p:xfrm>
        <a:graphic>
          <a:graphicData uri="http://schemas.openxmlformats.org/drawingml/2006/table">
            <a:tbl>
              <a:tblPr firstRow="1" bandRow="1">
                <a:tableStyleId>{5940675A-B579-460E-94D1-54222C63F5DA}</a:tableStyleId>
              </a:tblPr>
              <a:tblGrid>
                <a:gridCol w="1123950">
                  <a:extLst>
                    <a:ext uri="{9D8B030D-6E8A-4147-A177-3AD203B41FA5}">
                      <a16:colId xmlns:a16="http://schemas.microsoft.com/office/drawing/2014/main" val="20000"/>
                    </a:ext>
                  </a:extLst>
                </a:gridCol>
                <a:gridCol w="1085850">
                  <a:extLst>
                    <a:ext uri="{9D8B030D-6E8A-4147-A177-3AD203B41FA5}">
                      <a16:colId xmlns:a16="http://schemas.microsoft.com/office/drawing/2014/main" val="20001"/>
                    </a:ext>
                  </a:extLst>
                </a:gridCol>
                <a:gridCol w="1066800">
                  <a:extLst>
                    <a:ext uri="{9D8B030D-6E8A-4147-A177-3AD203B41FA5}">
                      <a16:colId xmlns:a16="http://schemas.microsoft.com/office/drawing/2014/main" val="20002"/>
                    </a:ext>
                  </a:extLst>
                </a:gridCol>
                <a:gridCol w="1219201">
                  <a:extLst>
                    <a:ext uri="{9D8B030D-6E8A-4147-A177-3AD203B41FA5}">
                      <a16:colId xmlns:a16="http://schemas.microsoft.com/office/drawing/2014/main" val="20003"/>
                    </a:ext>
                  </a:extLst>
                </a:gridCol>
              </a:tblGrid>
              <a:tr h="370840">
                <a:tc>
                  <a:txBody>
                    <a:bodyPr/>
                    <a:lstStyle/>
                    <a:p>
                      <a:pPr algn="ctr"/>
                      <a:endParaRPr lang="en-US" dirty="0"/>
                    </a:p>
                  </a:txBody>
                  <a:tcPr/>
                </a:tc>
                <a:tc>
                  <a:txBody>
                    <a:bodyPr/>
                    <a:lstStyle/>
                    <a:p>
                      <a:pPr algn="ctr"/>
                      <a:r>
                        <a:rPr lang="en-US" dirty="0"/>
                        <a:t>I</a:t>
                      </a:r>
                    </a:p>
                  </a:txBody>
                  <a:tcPr/>
                </a:tc>
                <a:tc>
                  <a:txBody>
                    <a:bodyPr/>
                    <a:lstStyle/>
                    <a:p>
                      <a:pPr algn="ctr"/>
                      <a:r>
                        <a:rPr lang="en-US" dirty="0"/>
                        <a:t>O</a:t>
                      </a:r>
                    </a:p>
                  </a:txBody>
                  <a:tcPr/>
                </a:tc>
                <a:tc>
                  <a:txBody>
                    <a:bodyPr/>
                    <a:lstStyle/>
                    <a:p>
                      <a:pPr algn="ctr"/>
                      <a:r>
                        <a:rPr lang="en-US" dirty="0"/>
                        <a:t>U</a:t>
                      </a:r>
                    </a:p>
                  </a:txBody>
                  <a:tcPr/>
                </a:tc>
                <a:extLst>
                  <a:ext uri="{0D108BD9-81ED-4DB2-BD59-A6C34878D82A}">
                    <a16:rowId xmlns:a16="http://schemas.microsoft.com/office/drawing/2014/main" val="10000"/>
                  </a:ext>
                </a:extLst>
              </a:tr>
              <a:tr h="370840">
                <a:tc>
                  <a:txBody>
                    <a:bodyPr/>
                    <a:lstStyle/>
                    <a:p>
                      <a:pPr algn="ctr"/>
                      <a:r>
                        <a:rPr lang="en-US" dirty="0"/>
                        <a:t>I</a:t>
                      </a:r>
                    </a:p>
                  </a:txBody>
                  <a:tcPr/>
                </a:tc>
                <a:tc>
                  <a:txBody>
                    <a:bodyPr/>
                    <a:lstStyle/>
                    <a:p>
                      <a:pPr algn="ctr"/>
                      <a:r>
                        <a:rPr lang="en-US" dirty="0"/>
                        <a:t>Yes</a:t>
                      </a:r>
                    </a:p>
                  </a:txBody>
                  <a:tcPr/>
                </a:tc>
                <a:tc>
                  <a:txBody>
                    <a:bodyPr/>
                    <a:lstStyle/>
                    <a:p>
                      <a:pPr algn="ctr"/>
                      <a:endParaRPr lang="en-US" dirty="0"/>
                    </a:p>
                  </a:txBody>
                  <a:tcPr/>
                </a:tc>
                <a:tc>
                  <a:txBody>
                    <a:bodyPr/>
                    <a:lstStyle/>
                    <a:p>
                      <a:pPr algn="ctr"/>
                      <a:r>
                        <a:rPr lang="en-US" dirty="0"/>
                        <a:t>Yes</a:t>
                      </a:r>
                    </a:p>
                  </a:txBody>
                  <a:tcPr/>
                </a:tc>
                <a:extLst>
                  <a:ext uri="{0D108BD9-81ED-4DB2-BD59-A6C34878D82A}">
                    <a16:rowId xmlns:a16="http://schemas.microsoft.com/office/drawing/2014/main" val="10001"/>
                  </a:ext>
                </a:extLst>
              </a:tr>
              <a:tr h="370840">
                <a:tc>
                  <a:txBody>
                    <a:bodyPr/>
                    <a:lstStyle/>
                    <a:p>
                      <a:pPr algn="ctr"/>
                      <a:r>
                        <a:rPr lang="en-US" dirty="0"/>
                        <a:t>O</a:t>
                      </a:r>
                    </a:p>
                  </a:txBody>
                  <a:tcPr/>
                </a:tc>
                <a:tc>
                  <a:txBody>
                    <a:bodyPr/>
                    <a:lstStyle/>
                    <a:p>
                      <a:pPr algn="ctr"/>
                      <a:endParaRPr lang="en-US"/>
                    </a:p>
                  </a:txBody>
                  <a:tcPr/>
                </a:tc>
                <a:tc>
                  <a:txBody>
                    <a:bodyPr/>
                    <a:lstStyle/>
                    <a:p>
                      <a:pPr algn="ctr"/>
                      <a:r>
                        <a:rPr lang="en-US" dirty="0"/>
                        <a:t>Yes</a:t>
                      </a:r>
                    </a:p>
                  </a:txBody>
                  <a:tcPr/>
                </a:tc>
                <a:tc>
                  <a:txBody>
                    <a:bodyPr/>
                    <a:lstStyle/>
                    <a:p>
                      <a:pPr algn="ctr"/>
                      <a:endParaRPr lang="en-US"/>
                    </a:p>
                  </a:txBody>
                  <a:tcPr/>
                </a:tc>
                <a:extLst>
                  <a:ext uri="{0D108BD9-81ED-4DB2-BD59-A6C34878D82A}">
                    <a16:rowId xmlns:a16="http://schemas.microsoft.com/office/drawing/2014/main" val="10002"/>
                  </a:ext>
                </a:extLst>
              </a:tr>
              <a:tr h="370840">
                <a:tc>
                  <a:txBody>
                    <a:bodyPr/>
                    <a:lstStyle/>
                    <a:p>
                      <a:pPr algn="ctr"/>
                      <a:r>
                        <a:rPr lang="en-US" dirty="0"/>
                        <a:t>U</a:t>
                      </a:r>
                    </a:p>
                  </a:txBody>
                  <a:tcPr/>
                </a:tc>
                <a:tc>
                  <a:txBody>
                    <a:bodyPr/>
                    <a:lstStyle/>
                    <a:p>
                      <a:pPr algn="ctr"/>
                      <a:r>
                        <a:rPr lang="en-US" dirty="0"/>
                        <a:t>Yes</a:t>
                      </a:r>
                    </a:p>
                  </a:txBody>
                  <a:tcPr/>
                </a:tc>
                <a:tc>
                  <a:txBody>
                    <a:bodyPr/>
                    <a:lstStyle/>
                    <a:p>
                      <a:pPr algn="ctr"/>
                      <a:endParaRPr lang="en-US"/>
                    </a:p>
                  </a:txBody>
                  <a:tcPr/>
                </a:tc>
                <a:tc>
                  <a:txBody>
                    <a:bodyPr/>
                    <a:lstStyle/>
                    <a:p>
                      <a:pPr algn="ctr"/>
                      <a:endParaRPr lang="en-US" dirty="0"/>
                    </a:p>
                  </a:txBody>
                  <a:tcPr/>
                </a:tc>
                <a:extLst>
                  <a:ext uri="{0D108BD9-81ED-4DB2-BD59-A6C34878D82A}">
                    <a16:rowId xmlns:a16="http://schemas.microsoft.com/office/drawing/2014/main" val="10003"/>
                  </a:ext>
                </a:extLst>
              </a:tr>
            </a:tbl>
          </a:graphicData>
        </a:graphic>
      </p:graphicFrame>
      <p:cxnSp>
        <p:nvCxnSpPr>
          <p:cNvPr id="6" name="Straight Connector 5"/>
          <p:cNvCxnSpPr/>
          <p:nvPr/>
        </p:nvCxnSpPr>
        <p:spPr bwMode="auto">
          <a:xfrm>
            <a:off x="4440382" y="5023543"/>
            <a:ext cx="990600" cy="381000"/>
          </a:xfrm>
          <a:prstGeom prst="line">
            <a:avLst/>
          </a:prstGeom>
          <a:solidFill>
            <a:schemeClr val="accent1"/>
          </a:solidFill>
          <a:ln w="9525" cap="flat" cmpd="sng" algn="ctr">
            <a:solidFill>
              <a:srgbClr val="FF0000"/>
            </a:solidFill>
            <a:prstDash val="solid"/>
            <a:round/>
            <a:headEnd type="none" w="med" len="med"/>
            <a:tailEnd type="none" w="med" len="med"/>
          </a:ln>
          <a:effectLst/>
        </p:spPr>
      </p:cxnSp>
      <p:cxnSp>
        <p:nvCxnSpPr>
          <p:cNvPr id="7" name="Straight Connector 6"/>
          <p:cNvCxnSpPr/>
          <p:nvPr/>
        </p:nvCxnSpPr>
        <p:spPr bwMode="auto">
          <a:xfrm flipH="1">
            <a:off x="4668982" y="5023543"/>
            <a:ext cx="1828800" cy="762000"/>
          </a:xfrm>
          <a:prstGeom prst="line">
            <a:avLst/>
          </a:prstGeom>
          <a:solidFill>
            <a:schemeClr val="accent1"/>
          </a:solidFill>
          <a:ln w="9525" cap="flat" cmpd="sng" algn="ctr">
            <a:solidFill>
              <a:srgbClr val="FF0000"/>
            </a:solidFill>
            <a:prstDash val="solid"/>
            <a:round/>
            <a:headEnd type="none" w="med" len="med"/>
            <a:tailEnd type="none" w="med" len="med"/>
          </a:ln>
          <a:effectLst/>
        </p:spPr>
      </p:cxnSp>
    </p:spTree>
    <p:extLst>
      <p:ext uri="{BB962C8B-B14F-4D97-AF65-F5344CB8AC3E}">
        <p14:creationId xmlns:p14="http://schemas.microsoft.com/office/powerpoint/2010/main" val="294128108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3">
                                            <p:txEl>
                                              <p:pRg st="2" end="2"/>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4" end="4"/>
                                            </p:txEl>
                                          </p:spTgt>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3">
                                            <p:txEl>
                                              <p:pRg st="5" end="5"/>
                                            </p:txEl>
                                          </p:spTgt>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3">
                                            <p:txEl>
                                              <p:pRg st="6" end="6"/>
                                            </p:txEl>
                                          </p:spTgt>
                                        </p:tgtEl>
                                        <p:attrNameLst>
                                          <p:attrName>style.visibility</p:attrName>
                                        </p:attrNameLst>
                                      </p:cBhvr>
                                      <p:to>
                                        <p:strVal val="visible"/>
                                      </p:to>
                                    </p:set>
                                  </p:childTnLst>
                                </p:cTn>
                              </p:par>
                              <p:par>
                                <p:cTn id="23" presetID="1" presetClass="entr" presetSubtype="0" fill="hold" nodeType="withEffect">
                                  <p:stCondLst>
                                    <p:cond delay="0"/>
                                  </p:stCondLst>
                                  <p:childTnLst>
                                    <p:set>
                                      <p:cBhvr>
                                        <p:cTn id="24"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nodeType="clickEffect">
                                  <p:stCondLst>
                                    <p:cond delay="0"/>
                                  </p:stCondLst>
                                  <p:childTnLst>
                                    <p:set>
                                      <p:cBhvr>
                                        <p:cTn id="28" dur="1" fill="hold">
                                          <p:stCondLst>
                                            <p:cond delay="0"/>
                                          </p:stCondLst>
                                        </p:cTn>
                                        <p:tgtEl>
                                          <p:spTgt spid="5"/>
                                        </p:tgtEl>
                                        <p:attrNameLst>
                                          <p:attrName>style.visibility</p:attrName>
                                        </p:attrNameLst>
                                      </p:cBhvr>
                                      <p:to>
                                        <p:strVal val="visible"/>
                                      </p:to>
                                    </p:set>
                                  </p:childTnLst>
                                </p:cTn>
                              </p:par>
                              <p:par>
                                <p:cTn id="29" presetID="1" presetClass="entr" presetSubtype="0" fill="hold" nodeType="withEffect">
                                  <p:stCondLst>
                                    <p:cond delay="0"/>
                                  </p:stCondLst>
                                  <p:childTnLst>
                                    <p:set>
                                      <p:cBhvr>
                                        <p:cTn id="30" dur="1" fill="hold">
                                          <p:stCondLst>
                                            <p:cond delay="0"/>
                                          </p:stCondLst>
                                        </p:cTn>
                                        <p:tgtEl>
                                          <p:spTgt spid="6"/>
                                        </p:tgtEl>
                                        <p:attrNameLst>
                                          <p:attrName>style.visibility</p:attrName>
                                        </p:attrNameLst>
                                      </p:cBhvr>
                                      <p:to>
                                        <p:strVal val="visible"/>
                                      </p:to>
                                    </p:set>
                                  </p:childTnLst>
                                </p:cTn>
                              </p:par>
                              <p:par>
                                <p:cTn id="31" presetID="1" presetClass="entr" presetSubtype="0" fill="hold" nodeType="withEffect">
                                  <p:stCondLst>
                                    <p:cond delay="0"/>
                                  </p:stCondLst>
                                  <p:childTnLst>
                                    <p:set>
                                      <p:cBhvr>
                                        <p:cTn id="32" dur="1" fill="hold">
                                          <p:stCondLst>
                                            <p:cond delay="0"/>
                                          </p:stCondLst>
                                        </p:cTn>
                                        <p:tgtEl>
                                          <p:spTgt spid="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Primal-Dual Relations</a:t>
            </a:r>
          </a:p>
        </p:txBody>
      </p:sp>
      <p:sp>
        <p:nvSpPr>
          <p:cNvPr id="3" name="Content Placeholder 2"/>
          <p:cNvSpPr>
            <a:spLocks noGrp="1"/>
          </p:cNvSpPr>
          <p:nvPr>
            <p:ph idx="1"/>
          </p:nvPr>
        </p:nvSpPr>
        <p:spPr/>
        <p:txBody>
          <a:bodyPr/>
          <a:lstStyle/>
          <a:p>
            <a:r>
              <a:rPr lang="en-US" dirty="0"/>
              <a:t>Complementary slackness:</a:t>
            </a:r>
          </a:p>
          <a:p>
            <a:pPr lvl="1"/>
            <a:r>
              <a:rPr lang="en-US" dirty="0"/>
              <a:t>If </a:t>
            </a:r>
            <a:r>
              <a:rPr lang="en-US" b="1" dirty="0"/>
              <a:t>x</a:t>
            </a:r>
            <a:r>
              <a:rPr lang="en-US" dirty="0"/>
              <a:t> is not optimal for the primal problem, then </a:t>
            </a:r>
            <a:r>
              <a:rPr lang="en-US" b="1" dirty="0"/>
              <a:t>y</a:t>
            </a:r>
            <a:r>
              <a:rPr lang="en-US" dirty="0"/>
              <a:t> is not feasible for the dual problem.</a:t>
            </a:r>
          </a:p>
          <a:p>
            <a:pPr lvl="1"/>
            <a:r>
              <a:rPr lang="en-US" dirty="0"/>
              <a:t>Given optimum solution to one, we can get the optimum solution of the other</a:t>
            </a:r>
          </a:p>
          <a:p>
            <a:pPr lvl="1"/>
            <a:r>
              <a:rPr lang="en-US" dirty="0"/>
              <a:t>Recall that</a:t>
            </a:r>
          </a:p>
          <a:p>
            <a:pPr lvl="1"/>
            <a:endParaRPr lang="en-US" dirty="0"/>
          </a:p>
          <a:p>
            <a:pPr lvl="1"/>
            <a:endParaRPr lang="en-US" dirty="0"/>
          </a:p>
          <a:p>
            <a:pPr lvl="1"/>
            <a:endParaRPr lang="en-US" dirty="0"/>
          </a:p>
          <a:p>
            <a:r>
              <a:rPr lang="en-US" u="sng" dirty="0">
                <a:solidFill>
                  <a:srgbClr val="C00000"/>
                </a:solidFill>
              </a:rPr>
              <a:t>Complementary slackness states:</a:t>
            </a:r>
          </a:p>
          <a:p>
            <a:pPr lvl="1"/>
            <a:r>
              <a:rPr lang="en-US" dirty="0"/>
              <a:t>The objective function values should be the same</a:t>
            </a:r>
          </a:p>
          <a:p>
            <a:pPr lvl="1"/>
            <a:r>
              <a:rPr lang="en-US" dirty="0"/>
              <a:t>If a constraint is not ‘tight’ </a:t>
            </a:r>
            <a:r>
              <a:rPr lang="en-US" dirty="0">
                <a:sym typeface="Wingdings" panose="05000000000000000000" pitchFamily="2" charset="2"/>
              </a:rPr>
              <a:t> </a:t>
            </a:r>
            <a:r>
              <a:rPr lang="en-US" dirty="0"/>
              <a:t>then the associated variable is zero</a:t>
            </a:r>
          </a:p>
          <a:p>
            <a:pPr lvl="1"/>
            <a:r>
              <a:rPr lang="en-US" dirty="0"/>
              <a:t>If a variable is not zero </a:t>
            </a:r>
            <a:r>
              <a:rPr lang="en-US" dirty="0">
                <a:sym typeface="Wingdings" panose="05000000000000000000" pitchFamily="2" charset="2"/>
              </a:rPr>
              <a:t> </a:t>
            </a:r>
            <a:r>
              <a:rPr lang="en-US" dirty="0"/>
              <a:t>then the associated constraint is tight</a:t>
            </a:r>
          </a:p>
          <a:p>
            <a:pPr lvl="1"/>
            <a:endParaRPr lang="en-US" dirty="0"/>
          </a:p>
        </p:txBody>
      </p:sp>
      <p:sp>
        <p:nvSpPr>
          <p:cNvPr id="4" name="Slide Number Placeholder 3"/>
          <p:cNvSpPr>
            <a:spLocks noGrp="1"/>
          </p:cNvSpPr>
          <p:nvPr>
            <p:ph type="sldNum" sz="quarter" idx="12"/>
          </p:nvPr>
        </p:nvSpPr>
        <p:spPr/>
        <p:txBody>
          <a:bodyPr/>
          <a:lstStyle/>
          <a:p>
            <a:pPr>
              <a:defRPr/>
            </a:pPr>
            <a:fld id="{17D8DEC3-86FA-484C-AC83-38B4A6F9AAAF}" type="slidenum">
              <a:rPr lang="en-US" smtClean="0"/>
              <a:pPr>
                <a:defRPr/>
              </a:pPr>
              <a:t>59</a:t>
            </a:fld>
            <a:endParaRPr lang="en-US" dirty="0"/>
          </a:p>
        </p:txBody>
      </p:sp>
      <p:pic>
        <p:nvPicPr>
          <p:cNvPr id="5" name="Picture 4">
            <a:extLst>
              <a:ext uri="{FF2B5EF4-FFF2-40B4-BE49-F238E27FC236}">
                <a16:creationId xmlns:a16="http://schemas.microsoft.com/office/drawing/2014/main" id="{F493DA99-7204-4CBC-8BB7-350E6C1A21B6}"/>
              </a:ext>
            </a:extLst>
          </p:cNvPr>
          <p:cNvPicPr>
            <a:picLocks noChangeAspect="1"/>
          </p:cNvPicPr>
          <p:nvPr/>
        </p:nvPicPr>
        <p:blipFill>
          <a:blip r:embed="rId2"/>
          <a:stretch>
            <a:fillRect/>
          </a:stretch>
        </p:blipFill>
        <p:spPr>
          <a:xfrm>
            <a:off x="2722098" y="2654842"/>
            <a:ext cx="4147963" cy="1245044"/>
          </a:xfrm>
          <a:prstGeom prst="rect">
            <a:avLst/>
          </a:prstGeom>
        </p:spPr>
      </p:pic>
    </p:spTree>
    <p:extLst>
      <p:ext uri="{BB962C8B-B14F-4D97-AF65-F5344CB8AC3E}">
        <p14:creationId xmlns:p14="http://schemas.microsoft.com/office/powerpoint/2010/main" val="42216363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3">
                                            <p:txEl>
                                              <p:pRg st="3" end="3"/>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5"/>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7" end="7"/>
                                            </p:txEl>
                                          </p:spTgt>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3">
                                            <p:txEl>
                                              <p:pRg st="8" end="8"/>
                                            </p:txEl>
                                          </p:spTgt>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3">
                                            <p:txEl>
                                              <p:pRg st="9" end="9"/>
                                            </p:txEl>
                                          </p:spTgt>
                                        </p:tgtEl>
                                        <p:attrNameLst>
                                          <p:attrName>style.visibility</p:attrName>
                                        </p:attrNameLst>
                                      </p:cBhvr>
                                      <p:to>
                                        <p:strVal val="visible"/>
                                      </p:to>
                                    </p:set>
                                  </p:childTnLst>
                                </p:cTn>
                              </p:par>
                              <p:par>
                                <p:cTn id="23" presetID="1" presetClass="entr" presetSubtype="0" fill="hold" nodeType="withEffect">
                                  <p:stCondLst>
                                    <p:cond delay="0"/>
                                  </p:stCondLst>
                                  <p:childTnLst>
                                    <p:set>
                                      <p:cBhvr>
                                        <p:cTn id="24" dur="1" fill="hold">
                                          <p:stCondLst>
                                            <p:cond delay="0"/>
                                          </p:stCondLst>
                                        </p:cTn>
                                        <p:tgtEl>
                                          <p:spTgt spid="3">
                                            <p:txEl>
                                              <p:pRg st="10" end="1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Primal-Dual Relations</a:t>
            </a:r>
          </a:p>
        </p:txBody>
      </p:sp>
      <p:sp>
        <p:nvSpPr>
          <p:cNvPr id="3" name="Content Placeholder 2"/>
          <p:cNvSpPr>
            <a:spLocks noGrp="1"/>
          </p:cNvSpPr>
          <p:nvPr>
            <p:ph idx="1"/>
          </p:nvPr>
        </p:nvSpPr>
        <p:spPr/>
        <p:txBody>
          <a:bodyPr/>
          <a:lstStyle/>
          <a:p>
            <a:r>
              <a:rPr lang="en-US" dirty="0"/>
              <a:t>Complementary slackness:</a:t>
            </a:r>
          </a:p>
          <a:p>
            <a:pPr lvl="1"/>
            <a:r>
              <a:rPr lang="en-US" dirty="0"/>
              <a:t>Recall that optimum solution to </a:t>
            </a:r>
            <a:r>
              <a:rPr lang="en-US" dirty="0" err="1"/>
              <a:t>Wyndor</a:t>
            </a:r>
            <a:r>
              <a:rPr lang="en-US" dirty="0"/>
              <a:t> is D*=2 and W*=6.</a:t>
            </a:r>
          </a:p>
          <a:p>
            <a:pPr lvl="1"/>
            <a:r>
              <a:rPr lang="en-US" dirty="0"/>
              <a:t>Let’s get the optimum dual solution </a:t>
            </a:r>
            <a:r>
              <a:rPr lang="en-US" dirty="0">
                <a:sym typeface="Wingdings" panose="05000000000000000000" pitchFamily="2" charset="2"/>
              </a:rPr>
              <a:t></a:t>
            </a:r>
            <a:r>
              <a:rPr lang="en-US" dirty="0"/>
              <a:t> (y</a:t>
            </a:r>
            <a:r>
              <a:rPr lang="en-US" baseline="-25000" dirty="0"/>
              <a:t>1</a:t>
            </a:r>
            <a:r>
              <a:rPr lang="en-US" dirty="0"/>
              <a:t>*,y</a:t>
            </a:r>
            <a:r>
              <a:rPr lang="en-US" baseline="-25000" dirty="0"/>
              <a:t>2</a:t>
            </a:r>
            <a:r>
              <a:rPr lang="en-US" dirty="0"/>
              <a:t>*,y</a:t>
            </a:r>
            <a:r>
              <a:rPr lang="en-US" baseline="-25000" dirty="0"/>
              <a:t>3</a:t>
            </a:r>
            <a:r>
              <a:rPr lang="en-US" dirty="0"/>
              <a:t>* )=?</a:t>
            </a:r>
          </a:p>
          <a:p>
            <a:pPr lvl="2"/>
            <a:r>
              <a:rPr lang="en-US" dirty="0"/>
              <a:t>The objective function values should be the same</a:t>
            </a:r>
          </a:p>
          <a:p>
            <a:pPr marL="914400" lvl="2" indent="0">
              <a:buNone/>
            </a:pPr>
            <a:r>
              <a:rPr lang="en-US" dirty="0"/>
              <a:t>	300D*+500W*=4y</a:t>
            </a:r>
            <a:r>
              <a:rPr lang="en-US" baseline="-25000" dirty="0"/>
              <a:t>1</a:t>
            </a:r>
            <a:r>
              <a:rPr lang="en-US" dirty="0"/>
              <a:t>*+12y</a:t>
            </a:r>
            <a:r>
              <a:rPr lang="en-US" baseline="-25000" dirty="0"/>
              <a:t>2</a:t>
            </a:r>
            <a:r>
              <a:rPr lang="en-US" dirty="0"/>
              <a:t>*+18y</a:t>
            </a:r>
            <a:r>
              <a:rPr lang="en-US" baseline="-25000" dirty="0"/>
              <a:t>3</a:t>
            </a:r>
            <a:r>
              <a:rPr lang="en-US" dirty="0"/>
              <a:t>* </a:t>
            </a:r>
            <a:r>
              <a:rPr lang="en-US" dirty="0">
                <a:sym typeface="Wingdings" panose="05000000000000000000" pitchFamily="2" charset="2"/>
              </a:rPr>
              <a:t> 3600</a:t>
            </a:r>
            <a:r>
              <a:rPr lang="en-US" dirty="0"/>
              <a:t>=4y</a:t>
            </a:r>
            <a:r>
              <a:rPr lang="en-US" baseline="-25000" dirty="0"/>
              <a:t>1</a:t>
            </a:r>
            <a:r>
              <a:rPr lang="en-US" dirty="0"/>
              <a:t>*+12y</a:t>
            </a:r>
            <a:r>
              <a:rPr lang="en-US" baseline="-25000" dirty="0"/>
              <a:t>2</a:t>
            </a:r>
            <a:r>
              <a:rPr lang="en-US" dirty="0"/>
              <a:t>*+18y</a:t>
            </a:r>
            <a:r>
              <a:rPr lang="en-US" baseline="-25000" dirty="0"/>
              <a:t>3</a:t>
            </a:r>
            <a:r>
              <a:rPr lang="en-US" dirty="0"/>
              <a:t>* </a:t>
            </a:r>
          </a:p>
          <a:p>
            <a:pPr lvl="2"/>
            <a:r>
              <a:rPr lang="en-US" dirty="0"/>
              <a:t>If a constraint is not ‘tight’ then the associated variable is 0</a:t>
            </a:r>
          </a:p>
          <a:p>
            <a:pPr lvl="3"/>
            <a:r>
              <a:rPr lang="en-US" dirty="0"/>
              <a:t>D*&lt;=4 </a:t>
            </a:r>
            <a:r>
              <a:rPr lang="en-US" dirty="0">
                <a:sym typeface="Wingdings" panose="05000000000000000000" pitchFamily="2" charset="2"/>
              </a:rPr>
              <a:t> 2&lt;4  not tight  so </a:t>
            </a:r>
            <a:r>
              <a:rPr lang="en-US" dirty="0"/>
              <a:t>y</a:t>
            </a:r>
            <a:r>
              <a:rPr lang="en-US" baseline="-25000" dirty="0"/>
              <a:t>1</a:t>
            </a:r>
            <a:r>
              <a:rPr lang="en-US" dirty="0"/>
              <a:t>*=0</a:t>
            </a:r>
          </a:p>
          <a:p>
            <a:pPr lvl="3"/>
            <a:r>
              <a:rPr lang="en-US" dirty="0"/>
              <a:t>2W*&lt;=12 </a:t>
            </a:r>
            <a:r>
              <a:rPr lang="en-US" dirty="0">
                <a:sym typeface="Wingdings" panose="05000000000000000000" pitchFamily="2" charset="2"/>
              </a:rPr>
              <a:t> 12=12  tight  so nothing about </a:t>
            </a:r>
            <a:r>
              <a:rPr lang="en-US" dirty="0"/>
              <a:t>y</a:t>
            </a:r>
            <a:r>
              <a:rPr lang="en-US" baseline="-25000" dirty="0"/>
              <a:t>2</a:t>
            </a:r>
            <a:r>
              <a:rPr lang="en-US" dirty="0"/>
              <a:t>* so far</a:t>
            </a:r>
          </a:p>
          <a:p>
            <a:pPr lvl="3"/>
            <a:r>
              <a:rPr lang="en-US" dirty="0"/>
              <a:t>3D*+2W*&lt;=18 </a:t>
            </a:r>
            <a:r>
              <a:rPr lang="en-US" dirty="0">
                <a:sym typeface="Wingdings" panose="05000000000000000000" pitchFamily="2" charset="2"/>
              </a:rPr>
              <a:t> 18=18  tight  so nothing about </a:t>
            </a:r>
            <a:r>
              <a:rPr lang="en-US" dirty="0"/>
              <a:t> y</a:t>
            </a:r>
            <a:r>
              <a:rPr lang="en-US" baseline="-25000" dirty="0"/>
              <a:t>3</a:t>
            </a:r>
            <a:r>
              <a:rPr lang="en-US" dirty="0"/>
              <a:t>* so far</a:t>
            </a:r>
          </a:p>
          <a:p>
            <a:pPr lvl="2"/>
            <a:r>
              <a:rPr lang="en-US" dirty="0"/>
              <a:t>If a variable is not zero then the associated constraint is tight</a:t>
            </a:r>
          </a:p>
          <a:p>
            <a:pPr lvl="3"/>
            <a:r>
              <a:rPr lang="en-US" dirty="0"/>
              <a:t>D*=2&gt;0 </a:t>
            </a:r>
            <a:r>
              <a:rPr lang="en-US" dirty="0">
                <a:sym typeface="Wingdings" panose="05000000000000000000" pitchFamily="2" charset="2"/>
              </a:rPr>
              <a:t> so first constraint  </a:t>
            </a:r>
            <a:r>
              <a:rPr lang="en-US" dirty="0"/>
              <a:t>y</a:t>
            </a:r>
            <a:r>
              <a:rPr lang="en-US" baseline="-25000" dirty="0"/>
              <a:t>1</a:t>
            </a:r>
            <a:r>
              <a:rPr lang="en-US" dirty="0"/>
              <a:t>*+3y</a:t>
            </a:r>
            <a:r>
              <a:rPr lang="en-US" baseline="-25000" dirty="0"/>
              <a:t>3</a:t>
            </a:r>
            <a:r>
              <a:rPr lang="en-US" dirty="0"/>
              <a:t>*=300</a:t>
            </a:r>
          </a:p>
          <a:p>
            <a:pPr lvl="3"/>
            <a:r>
              <a:rPr lang="en-US" dirty="0"/>
              <a:t>W*=6&gt;0 </a:t>
            </a:r>
            <a:r>
              <a:rPr lang="en-US" dirty="0">
                <a:sym typeface="Wingdings" panose="05000000000000000000" pitchFamily="2" charset="2"/>
              </a:rPr>
              <a:t> so second constraint  </a:t>
            </a:r>
            <a:r>
              <a:rPr lang="en-US" dirty="0"/>
              <a:t>2y</a:t>
            </a:r>
            <a:r>
              <a:rPr lang="en-US" baseline="-25000" dirty="0"/>
              <a:t>2</a:t>
            </a:r>
            <a:r>
              <a:rPr lang="en-US" dirty="0"/>
              <a:t>*+2y</a:t>
            </a:r>
            <a:r>
              <a:rPr lang="en-US" baseline="-25000" dirty="0"/>
              <a:t>3</a:t>
            </a:r>
            <a:r>
              <a:rPr lang="en-US" dirty="0"/>
              <a:t>* =500</a:t>
            </a:r>
          </a:p>
          <a:p>
            <a:pPr lvl="2"/>
            <a:endParaRPr lang="en-US" dirty="0"/>
          </a:p>
        </p:txBody>
      </p:sp>
      <p:sp>
        <p:nvSpPr>
          <p:cNvPr id="4" name="Slide Number Placeholder 3"/>
          <p:cNvSpPr>
            <a:spLocks noGrp="1"/>
          </p:cNvSpPr>
          <p:nvPr>
            <p:ph type="sldNum" sz="quarter" idx="12"/>
          </p:nvPr>
        </p:nvSpPr>
        <p:spPr/>
        <p:txBody>
          <a:bodyPr/>
          <a:lstStyle/>
          <a:p>
            <a:pPr>
              <a:defRPr/>
            </a:pPr>
            <a:fld id="{17D8DEC3-86FA-484C-AC83-38B4A6F9AAAF}" type="slidenum">
              <a:rPr lang="en-US" smtClean="0"/>
              <a:pPr>
                <a:defRPr/>
              </a:pPr>
              <a:t>60</a:t>
            </a:fld>
            <a:endParaRPr lang="en-US" dirty="0"/>
          </a:p>
        </p:txBody>
      </p:sp>
    </p:spTree>
    <p:extLst>
      <p:ext uri="{BB962C8B-B14F-4D97-AF65-F5344CB8AC3E}">
        <p14:creationId xmlns:p14="http://schemas.microsoft.com/office/powerpoint/2010/main" val="175867792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3">
                                            <p:txEl>
                                              <p:pRg st="1" end="1"/>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3" end="3"/>
                                            </p:txEl>
                                          </p:spTgt>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nodeType="clickEffect">
                                  <p:stCondLst>
                                    <p:cond delay="0"/>
                                  </p:stCondLst>
                                  <p:childTnLst>
                                    <p:set>
                                      <p:cBhvr>
                                        <p:cTn id="20" dur="1" fill="hold">
                                          <p:stCondLst>
                                            <p:cond delay="0"/>
                                          </p:stCondLst>
                                        </p:cTn>
                                        <p:tgtEl>
                                          <p:spTgt spid="3">
                                            <p:txEl>
                                              <p:pRg st="5" end="5"/>
                                            </p:txEl>
                                          </p:spTgt>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3">
                                            <p:txEl>
                                              <p:pRg st="6" end="6"/>
                                            </p:txEl>
                                          </p:spTgt>
                                        </p:tgtEl>
                                        <p:attrNameLst>
                                          <p:attrName>style.visibility</p:attrName>
                                        </p:attrNameLst>
                                      </p:cBhvr>
                                      <p:to>
                                        <p:strVal val="visible"/>
                                      </p:to>
                                    </p:set>
                                  </p:childTnLst>
                                </p:cTn>
                              </p:par>
                              <p:par>
                                <p:cTn id="23" presetID="1" presetClass="entr" presetSubtype="0" fill="hold" nodeType="withEffect">
                                  <p:stCondLst>
                                    <p:cond delay="0"/>
                                  </p:stCondLst>
                                  <p:childTnLst>
                                    <p:set>
                                      <p:cBhvr>
                                        <p:cTn id="24" dur="1" fill="hold">
                                          <p:stCondLst>
                                            <p:cond delay="0"/>
                                          </p:stCondLst>
                                        </p:cTn>
                                        <p:tgtEl>
                                          <p:spTgt spid="3">
                                            <p:txEl>
                                              <p:pRg st="7" end="7"/>
                                            </p:txEl>
                                          </p:spTgt>
                                        </p:tgtEl>
                                        <p:attrNameLst>
                                          <p:attrName>style.visibility</p:attrName>
                                        </p:attrNameLst>
                                      </p:cBhvr>
                                      <p:to>
                                        <p:strVal val="visible"/>
                                      </p:to>
                                    </p:set>
                                  </p:childTnLst>
                                </p:cTn>
                              </p:par>
                              <p:par>
                                <p:cTn id="25" presetID="1" presetClass="entr" presetSubtype="0" fill="hold" nodeType="withEffect">
                                  <p:stCondLst>
                                    <p:cond delay="0"/>
                                  </p:stCondLst>
                                  <p:childTnLst>
                                    <p:set>
                                      <p:cBhvr>
                                        <p:cTn id="26" dur="1" fill="hold">
                                          <p:stCondLst>
                                            <p:cond delay="0"/>
                                          </p:stCondLst>
                                        </p:cTn>
                                        <p:tgtEl>
                                          <p:spTgt spid="3">
                                            <p:txEl>
                                              <p:pRg st="8" end="8"/>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3">
                                            <p:txEl>
                                              <p:pRg st="9" end="9"/>
                                            </p:txEl>
                                          </p:spTgt>
                                        </p:tgtEl>
                                        <p:attrNameLst>
                                          <p:attrName>style.visibility</p:attrName>
                                        </p:attrNameLst>
                                      </p:cBhvr>
                                      <p:to>
                                        <p:strVal val="visible"/>
                                      </p:to>
                                    </p:set>
                                  </p:childTnLst>
                                </p:cTn>
                              </p:par>
                              <p:par>
                                <p:cTn id="31" presetID="1" presetClass="entr" presetSubtype="0" fill="hold" nodeType="withEffect">
                                  <p:stCondLst>
                                    <p:cond delay="0"/>
                                  </p:stCondLst>
                                  <p:childTnLst>
                                    <p:set>
                                      <p:cBhvr>
                                        <p:cTn id="32" dur="1" fill="hold">
                                          <p:stCondLst>
                                            <p:cond delay="0"/>
                                          </p:stCondLst>
                                        </p:cTn>
                                        <p:tgtEl>
                                          <p:spTgt spid="3">
                                            <p:txEl>
                                              <p:pRg st="10" end="10"/>
                                            </p:txEl>
                                          </p:spTgt>
                                        </p:tgtEl>
                                        <p:attrNameLst>
                                          <p:attrName>style.visibility</p:attrName>
                                        </p:attrNameLst>
                                      </p:cBhvr>
                                      <p:to>
                                        <p:strVal val="visible"/>
                                      </p:to>
                                    </p:set>
                                  </p:childTnLst>
                                </p:cTn>
                              </p:par>
                              <p:par>
                                <p:cTn id="33" presetID="1" presetClass="entr" presetSubtype="0" fill="hold" nodeType="withEffect">
                                  <p:stCondLst>
                                    <p:cond delay="0"/>
                                  </p:stCondLst>
                                  <p:childTnLst>
                                    <p:set>
                                      <p:cBhvr>
                                        <p:cTn id="34" dur="1" fill="hold">
                                          <p:stCondLst>
                                            <p:cond delay="0"/>
                                          </p:stCondLst>
                                        </p:cTn>
                                        <p:tgtEl>
                                          <p:spTgt spid="3">
                                            <p:txEl>
                                              <p:pRg st="11" end="1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Primal-Dual Relations</a:t>
            </a:r>
          </a:p>
        </p:txBody>
      </p:sp>
      <p:sp>
        <p:nvSpPr>
          <p:cNvPr id="3" name="Content Placeholder 2"/>
          <p:cNvSpPr>
            <a:spLocks noGrp="1"/>
          </p:cNvSpPr>
          <p:nvPr>
            <p:ph idx="1"/>
          </p:nvPr>
        </p:nvSpPr>
        <p:spPr/>
        <p:txBody>
          <a:bodyPr/>
          <a:lstStyle/>
          <a:p>
            <a:r>
              <a:rPr lang="en-US" dirty="0"/>
              <a:t>Complementary slackness for </a:t>
            </a:r>
            <a:r>
              <a:rPr lang="en-US" dirty="0" err="1"/>
              <a:t>Wyndor</a:t>
            </a:r>
            <a:r>
              <a:rPr lang="en-US" dirty="0"/>
              <a:t>:</a:t>
            </a:r>
          </a:p>
          <a:p>
            <a:pPr lvl="1"/>
            <a:r>
              <a:rPr lang="en-US" dirty="0"/>
              <a:t>So we have three unknowns three equations</a:t>
            </a:r>
          </a:p>
          <a:p>
            <a:pPr lvl="2"/>
            <a:r>
              <a:rPr lang="en-US" dirty="0">
                <a:sym typeface="Wingdings" panose="05000000000000000000" pitchFamily="2" charset="2"/>
              </a:rPr>
              <a:t> </a:t>
            </a:r>
            <a:r>
              <a:rPr lang="en-US" dirty="0"/>
              <a:t>4y</a:t>
            </a:r>
            <a:r>
              <a:rPr lang="en-US" baseline="-25000" dirty="0"/>
              <a:t>1</a:t>
            </a:r>
            <a:r>
              <a:rPr lang="en-US" dirty="0"/>
              <a:t>*+12y</a:t>
            </a:r>
            <a:r>
              <a:rPr lang="en-US" baseline="-25000" dirty="0"/>
              <a:t>2</a:t>
            </a:r>
            <a:r>
              <a:rPr lang="en-US" dirty="0"/>
              <a:t>*+18y</a:t>
            </a:r>
            <a:r>
              <a:rPr lang="en-US" baseline="-25000" dirty="0"/>
              <a:t>3</a:t>
            </a:r>
            <a:r>
              <a:rPr lang="en-US" dirty="0"/>
              <a:t>*=3600</a:t>
            </a:r>
          </a:p>
          <a:p>
            <a:pPr lvl="2"/>
            <a:r>
              <a:rPr lang="en-US" dirty="0">
                <a:sym typeface="Wingdings" panose="05000000000000000000" pitchFamily="2" charset="2"/>
              </a:rPr>
              <a:t> </a:t>
            </a:r>
            <a:r>
              <a:rPr lang="en-US" dirty="0"/>
              <a:t>y</a:t>
            </a:r>
            <a:r>
              <a:rPr lang="en-US" baseline="-25000" dirty="0"/>
              <a:t>1</a:t>
            </a:r>
            <a:r>
              <a:rPr lang="en-US" dirty="0"/>
              <a:t>*+3y</a:t>
            </a:r>
            <a:r>
              <a:rPr lang="en-US" baseline="-25000" dirty="0"/>
              <a:t>3</a:t>
            </a:r>
            <a:r>
              <a:rPr lang="en-US" dirty="0"/>
              <a:t>*=300</a:t>
            </a:r>
          </a:p>
          <a:p>
            <a:pPr lvl="2"/>
            <a:r>
              <a:rPr lang="en-US" dirty="0">
                <a:sym typeface="Wingdings" panose="05000000000000000000" pitchFamily="2" charset="2"/>
              </a:rPr>
              <a:t> </a:t>
            </a:r>
            <a:r>
              <a:rPr lang="en-US" dirty="0"/>
              <a:t>2y</a:t>
            </a:r>
            <a:r>
              <a:rPr lang="en-US" baseline="-25000" dirty="0"/>
              <a:t>2</a:t>
            </a:r>
            <a:r>
              <a:rPr lang="en-US" dirty="0"/>
              <a:t>*+2y</a:t>
            </a:r>
            <a:r>
              <a:rPr lang="en-US" baseline="-25000" dirty="0"/>
              <a:t>3</a:t>
            </a:r>
            <a:r>
              <a:rPr lang="en-US" dirty="0"/>
              <a:t>* =500</a:t>
            </a:r>
          </a:p>
          <a:p>
            <a:pPr lvl="1"/>
            <a:r>
              <a:rPr lang="en-US" dirty="0"/>
              <a:t>Furthermore, we already know that </a:t>
            </a:r>
          </a:p>
          <a:p>
            <a:pPr lvl="2"/>
            <a:r>
              <a:rPr lang="en-US" dirty="0">
                <a:sym typeface="Wingdings" panose="05000000000000000000" pitchFamily="2" charset="2"/>
              </a:rPr>
              <a:t> </a:t>
            </a:r>
            <a:r>
              <a:rPr lang="en-US" dirty="0"/>
              <a:t>y</a:t>
            </a:r>
            <a:r>
              <a:rPr lang="en-US" baseline="-25000" dirty="0"/>
              <a:t>1</a:t>
            </a:r>
            <a:r>
              <a:rPr lang="en-US" dirty="0"/>
              <a:t>*=0</a:t>
            </a:r>
          </a:p>
          <a:p>
            <a:pPr lvl="1"/>
            <a:r>
              <a:rPr lang="en-US" dirty="0"/>
              <a:t>So, we can solve for y</a:t>
            </a:r>
            <a:r>
              <a:rPr lang="en-US" baseline="-25000" dirty="0"/>
              <a:t>1</a:t>
            </a:r>
            <a:r>
              <a:rPr lang="en-US" dirty="0"/>
              <a:t>*, y</a:t>
            </a:r>
            <a:r>
              <a:rPr lang="en-US" baseline="-25000" dirty="0"/>
              <a:t>2</a:t>
            </a:r>
            <a:r>
              <a:rPr lang="en-US" dirty="0"/>
              <a:t>*, y</a:t>
            </a:r>
            <a:r>
              <a:rPr lang="en-US" baseline="-25000" dirty="0"/>
              <a:t>3</a:t>
            </a:r>
            <a:r>
              <a:rPr lang="en-US" dirty="0"/>
              <a:t>*</a:t>
            </a:r>
          </a:p>
          <a:p>
            <a:pPr lvl="2"/>
            <a:r>
              <a:rPr lang="en-US" sz="2400" b="1" dirty="0">
                <a:solidFill>
                  <a:srgbClr val="C00000"/>
                </a:solidFill>
                <a:sym typeface="Wingdings" panose="05000000000000000000" pitchFamily="2" charset="2"/>
              </a:rPr>
              <a:t> </a:t>
            </a:r>
            <a:r>
              <a:rPr lang="en-US" sz="2400" b="1" dirty="0">
                <a:solidFill>
                  <a:srgbClr val="C00000"/>
                </a:solidFill>
              </a:rPr>
              <a:t>(y</a:t>
            </a:r>
            <a:r>
              <a:rPr lang="en-US" sz="2400" b="1" baseline="-25000" dirty="0">
                <a:solidFill>
                  <a:srgbClr val="C00000"/>
                </a:solidFill>
              </a:rPr>
              <a:t>1</a:t>
            </a:r>
            <a:r>
              <a:rPr lang="en-US" sz="2400" b="1" dirty="0">
                <a:solidFill>
                  <a:srgbClr val="C00000"/>
                </a:solidFill>
              </a:rPr>
              <a:t>*,y</a:t>
            </a:r>
            <a:r>
              <a:rPr lang="en-US" sz="2400" b="1" baseline="-25000" dirty="0">
                <a:solidFill>
                  <a:srgbClr val="C00000"/>
                </a:solidFill>
              </a:rPr>
              <a:t>2</a:t>
            </a:r>
            <a:r>
              <a:rPr lang="en-US" sz="2400" b="1" dirty="0">
                <a:solidFill>
                  <a:srgbClr val="C00000"/>
                </a:solidFill>
              </a:rPr>
              <a:t>*,y</a:t>
            </a:r>
            <a:r>
              <a:rPr lang="en-US" sz="2400" b="1" baseline="-25000" dirty="0">
                <a:solidFill>
                  <a:srgbClr val="C00000"/>
                </a:solidFill>
              </a:rPr>
              <a:t>3</a:t>
            </a:r>
            <a:r>
              <a:rPr lang="en-US" sz="2400" b="1" dirty="0">
                <a:solidFill>
                  <a:srgbClr val="C00000"/>
                </a:solidFill>
              </a:rPr>
              <a:t>* )=(0, 150, 100)</a:t>
            </a:r>
          </a:p>
          <a:p>
            <a:endParaRPr lang="en-US" dirty="0"/>
          </a:p>
        </p:txBody>
      </p:sp>
      <p:sp>
        <p:nvSpPr>
          <p:cNvPr id="4" name="Slide Number Placeholder 3"/>
          <p:cNvSpPr>
            <a:spLocks noGrp="1"/>
          </p:cNvSpPr>
          <p:nvPr>
            <p:ph type="sldNum" sz="quarter" idx="12"/>
          </p:nvPr>
        </p:nvSpPr>
        <p:spPr/>
        <p:txBody>
          <a:bodyPr/>
          <a:lstStyle/>
          <a:p>
            <a:pPr>
              <a:defRPr/>
            </a:pPr>
            <a:fld id="{17D8DEC3-86FA-484C-AC83-38B4A6F9AAAF}" type="slidenum">
              <a:rPr lang="en-US" smtClean="0"/>
              <a:pPr>
                <a:defRPr/>
              </a:pPr>
              <a:t>61</a:t>
            </a:fld>
            <a:endParaRPr lang="en-US" dirty="0"/>
          </a:p>
        </p:txBody>
      </p:sp>
    </p:spTree>
    <p:extLst>
      <p:ext uri="{BB962C8B-B14F-4D97-AF65-F5344CB8AC3E}">
        <p14:creationId xmlns:p14="http://schemas.microsoft.com/office/powerpoint/2010/main" val="358693900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3">
                                            <p:txEl>
                                              <p:pRg st="1" end="1"/>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3">
                                            <p:txEl>
                                              <p:pRg st="3" end="3"/>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5" end="5"/>
                                            </p:txEl>
                                          </p:spTgt>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nodeType="clickEffect">
                                  <p:stCondLst>
                                    <p:cond delay="0"/>
                                  </p:stCondLst>
                                  <p:childTnLst>
                                    <p:set>
                                      <p:cBhvr>
                                        <p:cTn id="24" dur="1" fill="hold">
                                          <p:stCondLst>
                                            <p:cond delay="0"/>
                                          </p:stCondLst>
                                        </p:cTn>
                                        <p:tgtEl>
                                          <p:spTgt spid="3">
                                            <p:txEl>
                                              <p:pRg st="7" end="7"/>
                                            </p:txEl>
                                          </p:spTgt>
                                        </p:tgtEl>
                                        <p:attrNameLst>
                                          <p:attrName>style.visibility</p:attrName>
                                        </p:attrNameLst>
                                      </p:cBhvr>
                                      <p:to>
                                        <p:strVal val="visible"/>
                                      </p:to>
                                    </p:set>
                                  </p:childTnLst>
                                </p:cTn>
                              </p:par>
                              <p:par>
                                <p:cTn id="25" presetID="1" presetClass="entr" presetSubtype="0" fill="hold" nodeType="withEffect">
                                  <p:stCondLst>
                                    <p:cond delay="0"/>
                                  </p:stCondLst>
                                  <p:childTnLst>
                                    <p:set>
                                      <p:cBhvr>
                                        <p:cTn id="26" dur="1" fill="hold">
                                          <p:stCondLst>
                                            <p:cond delay="0"/>
                                          </p:stCondLst>
                                        </p:cTn>
                                        <p:tgtEl>
                                          <p:spTgt spid="3">
                                            <p:txEl>
                                              <p:pRg st="8" end="8"/>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Economic Interpretation</a:t>
            </a:r>
          </a:p>
        </p:txBody>
      </p:sp>
      <p:sp>
        <p:nvSpPr>
          <p:cNvPr id="3" name="Content Placeholder 2"/>
          <p:cNvSpPr>
            <a:spLocks noGrp="1"/>
          </p:cNvSpPr>
          <p:nvPr>
            <p:ph idx="1"/>
          </p:nvPr>
        </p:nvSpPr>
        <p:spPr/>
        <p:txBody>
          <a:bodyPr/>
          <a:lstStyle/>
          <a:p>
            <a:r>
              <a:rPr lang="en-US" dirty="0"/>
              <a:t>The primal problem is:</a:t>
            </a:r>
          </a:p>
          <a:p>
            <a:endParaRPr lang="en-US" dirty="0"/>
          </a:p>
          <a:p>
            <a:endParaRPr lang="en-US" dirty="0"/>
          </a:p>
          <a:p>
            <a:endParaRPr lang="en-US" dirty="0"/>
          </a:p>
          <a:p>
            <a:endParaRPr lang="en-US" dirty="0"/>
          </a:p>
          <a:p>
            <a:endParaRPr lang="en-US" dirty="0"/>
          </a:p>
          <a:p>
            <a:r>
              <a:rPr lang="en-US" dirty="0"/>
              <a:t>Objective function of the dual:</a:t>
            </a:r>
          </a:p>
          <a:p>
            <a:pPr lvl="1"/>
            <a:r>
              <a:rPr lang="en-US" dirty="0" err="1"/>
              <a:t>b</a:t>
            </a:r>
            <a:r>
              <a:rPr lang="en-US" baseline="-25000" dirty="0" err="1"/>
              <a:t>i</a:t>
            </a:r>
            <a:r>
              <a:rPr lang="en-US" dirty="0" err="1"/>
              <a:t>y</a:t>
            </a:r>
            <a:r>
              <a:rPr lang="en-US" baseline="-25000" dirty="0" err="1"/>
              <a:t>i</a:t>
            </a:r>
            <a:r>
              <a:rPr lang="en-US" dirty="0"/>
              <a:t> can thereby be interpreted as the current contribution to profit by having b</a:t>
            </a:r>
            <a:r>
              <a:rPr lang="en-US" baseline="-25000" dirty="0"/>
              <a:t>i</a:t>
            </a:r>
            <a:r>
              <a:rPr lang="en-US" dirty="0"/>
              <a:t> units of resource i available for the primal problem.</a:t>
            </a:r>
          </a:p>
        </p:txBody>
      </p:sp>
      <p:sp>
        <p:nvSpPr>
          <p:cNvPr id="4" name="Slide Number Placeholder 3"/>
          <p:cNvSpPr>
            <a:spLocks noGrp="1"/>
          </p:cNvSpPr>
          <p:nvPr>
            <p:ph type="sldNum" sz="quarter" idx="12"/>
          </p:nvPr>
        </p:nvSpPr>
        <p:spPr/>
        <p:txBody>
          <a:bodyPr/>
          <a:lstStyle/>
          <a:p>
            <a:pPr>
              <a:defRPr/>
            </a:pPr>
            <a:fld id="{17D8DEC3-86FA-484C-AC83-38B4A6F9AAAF}" type="slidenum">
              <a:rPr lang="en-US" smtClean="0"/>
              <a:pPr>
                <a:defRPr/>
              </a:pPr>
              <a:t>62</a:t>
            </a:fld>
            <a:endParaRPr lang="en-US" dirty="0"/>
          </a:p>
        </p:txBody>
      </p:sp>
      <p:pic>
        <p:nvPicPr>
          <p:cNvPr id="7" name="Picture 6"/>
          <p:cNvPicPr>
            <a:picLocks noChangeAspect="1"/>
          </p:cNvPicPr>
          <p:nvPr/>
        </p:nvPicPr>
        <p:blipFill>
          <a:blip r:embed="rId2"/>
          <a:stretch>
            <a:fillRect/>
          </a:stretch>
        </p:blipFill>
        <p:spPr>
          <a:xfrm>
            <a:off x="5181601" y="4323894"/>
            <a:ext cx="4349103" cy="530738"/>
          </a:xfrm>
          <a:prstGeom prst="rect">
            <a:avLst/>
          </a:prstGeom>
        </p:spPr>
      </p:pic>
      <p:pic>
        <p:nvPicPr>
          <p:cNvPr id="6" name="Picture 5">
            <a:extLst>
              <a:ext uri="{FF2B5EF4-FFF2-40B4-BE49-F238E27FC236}">
                <a16:creationId xmlns:a16="http://schemas.microsoft.com/office/drawing/2014/main" id="{34BFA936-3202-4A5C-B8EC-7560D8A56F4F}"/>
              </a:ext>
            </a:extLst>
          </p:cNvPr>
          <p:cNvPicPr>
            <a:picLocks noChangeAspect="1"/>
          </p:cNvPicPr>
          <p:nvPr/>
        </p:nvPicPr>
        <p:blipFill>
          <a:blip r:embed="rId3"/>
          <a:stretch>
            <a:fillRect/>
          </a:stretch>
        </p:blipFill>
        <p:spPr>
          <a:xfrm>
            <a:off x="756978" y="1771390"/>
            <a:ext cx="6148128" cy="1973873"/>
          </a:xfrm>
          <a:prstGeom prst="rect">
            <a:avLst/>
          </a:prstGeom>
        </p:spPr>
      </p:pic>
    </p:spTree>
    <p:extLst>
      <p:ext uri="{BB962C8B-B14F-4D97-AF65-F5344CB8AC3E}">
        <p14:creationId xmlns:p14="http://schemas.microsoft.com/office/powerpoint/2010/main" val="69212352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6" end="6"/>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3">
                                            <p:txEl>
                                              <p:pRg st="7" end="7"/>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Economic Interpretation</a:t>
            </a:r>
          </a:p>
        </p:txBody>
      </p:sp>
      <p:sp>
        <p:nvSpPr>
          <p:cNvPr id="3" name="Content Placeholder 2"/>
          <p:cNvSpPr>
            <a:spLocks noGrp="1"/>
          </p:cNvSpPr>
          <p:nvPr>
            <p:ph idx="1"/>
          </p:nvPr>
        </p:nvSpPr>
        <p:spPr/>
        <p:txBody>
          <a:bodyPr/>
          <a:lstStyle/>
          <a:p>
            <a:r>
              <a:rPr lang="en-US" b="1" dirty="0">
                <a:solidFill>
                  <a:srgbClr val="C00000"/>
                </a:solidFill>
              </a:rPr>
              <a:t>Shadow price: </a:t>
            </a:r>
            <a:r>
              <a:rPr lang="en-US" dirty="0"/>
              <a:t>Given an optimal solution and the corresponding value of the objective function for a linear programming model, the </a:t>
            </a:r>
            <a:r>
              <a:rPr lang="en-US" dirty="0">
                <a:solidFill>
                  <a:srgbClr val="C00000"/>
                </a:solidFill>
              </a:rPr>
              <a:t>shadow price </a:t>
            </a:r>
            <a:r>
              <a:rPr lang="en-US" dirty="0"/>
              <a:t>for a functional constraint is the rate at which the value of the objective function changes by 1 unit change on the right-hand-side</a:t>
            </a:r>
          </a:p>
          <a:p>
            <a:pPr lvl="1"/>
            <a:r>
              <a:rPr lang="en-US" dirty="0"/>
              <a:t>The dual variable y</a:t>
            </a:r>
            <a:r>
              <a:rPr lang="en-US" baseline="-25000" dirty="0"/>
              <a:t>i</a:t>
            </a:r>
            <a:r>
              <a:rPr lang="en-US" dirty="0"/>
              <a:t> is interpreted as the contribution to profit per unit of resource </a:t>
            </a:r>
            <a:r>
              <a:rPr lang="en-US" dirty="0" err="1"/>
              <a:t>i</a:t>
            </a:r>
            <a:r>
              <a:rPr lang="en-US" dirty="0"/>
              <a:t>, when the current set of basic variables is used to obtain the primal solution.</a:t>
            </a:r>
          </a:p>
          <a:p>
            <a:pPr lvl="1"/>
            <a:r>
              <a:rPr lang="en-US" dirty="0"/>
              <a:t>So y</a:t>
            </a:r>
            <a:r>
              <a:rPr lang="en-US" baseline="-25000" dirty="0"/>
              <a:t>i</a:t>
            </a:r>
            <a:r>
              <a:rPr lang="en-US" dirty="0"/>
              <a:t> are shadow prices</a:t>
            </a:r>
          </a:p>
          <a:p>
            <a:endParaRPr lang="en-US" dirty="0"/>
          </a:p>
        </p:txBody>
      </p:sp>
      <p:sp>
        <p:nvSpPr>
          <p:cNvPr id="4" name="Slide Number Placeholder 3"/>
          <p:cNvSpPr>
            <a:spLocks noGrp="1"/>
          </p:cNvSpPr>
          <p:nvPr>
            <p:ph type="sldNum" sz="quarter" idx="12"/>
          </p:nvPr>
        </p:nvSpPr>
        <p:spPr/>
        <p:txBody>
          <a:bodyPr/>
          <a:lstStyle/>
          <a:p>
            <a:pPr>
              <a:defRPr/>
            </a:pPr>
            <a:fld id="{17D8DEC3-86FA-484C-AC83-38B4A6F9AAAF}" type="slidenum">
              <a:rPr lang="en-US" smtClean="0"/>
              <a:pPr>
                <a:defRPr/>
              </a:pPr>
              <a:t>63</a:t>
            </a:fld>
            <a:endParaRPr lang="en-US" dirty="0"/>
          </a:p>
        </p:txBody>
      </p:sp>
    </p:spTree>
    <p:extLst>
      <p:ext uri="{BB962C8B-B14F-4D97-AF65-F5344CB8AC3E}">
        <p14:creationId xmlns:p14="http://schemas.microsoft.com/office/powerpoint/2010/main" val="77779381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Economic Interpretation</a:t>
            </a:r>
          </a:p>
        </p:txBody>
      </p:sp>
      <p:sp>
        <p:nvSpPr>
          <p:cNvPr id="3" name="Content Placeholder 2"/>
          <p:cNvSpPr>
            <a:spLocks noGrp="1"/>
          </p:cNvSpPr>
          <p:nvPr>
            <p:ph idx="1"/>
          </p:nvPr>
        </p:nvSpPr>
        <p:spPr/>
        <p:txBody>
          <a:bodyPr/>
          <a:lstStyle/>
          <a:p>
            <a:r>
              <a:rPr lang="en-US" sz="2400" dirty="0"/>
              <a:t>Consider the </a:t>
            </a:r>
            <a:r>
              <a:rPr lang="en-US" sz="2400" dirty="0" err="1"/>
              <a:t>Wyndor</a:t>
            </a:r>
            <a:r>
              <a:rPr lang="en-US" sz="2400" dirty="0"/>
              <a:t> problem…</a:t>
            </a:r>
          </a:p>
          <a:p>
            <a:pPr lvl="1"/>
            <a:r>
              <a:rPr lang="en-US" sz="2000" dirty="0"/>
              <a:t>If we produce 1 unit of doors, we will consume 1 hour from Plant 1 and 3 hours from Plant 3</a:t>
            </a:r>
          </a:p>
          <a:p>
            <a:pPr lvl="1"/>
            <a:r>
              <a:rPr lang="en-US" sz="2000" dirty="0"/>
              <a:t>So we could have gained y</a:t>
            </a:r>
            <a:r>
              <a:rPr lang="en-US" sz="2000" baseline="-25000" dirty="0"/>
              <a:t>1</a:t>
            </a:r>
            <a:r>
              <a:rPr lang="en-US" sz="2000" dirty="0"/>
              <a:t>+3y</a:t>
            </a:r>
            <a:r>
              <a:rPr lang="en-US" sz="2000" baseline="-25000" dirty="0"/>
              <a:t>3</a:t>
            </a:r>
            <a:r>
              <a:rPr lang="en-US" sz="2000" dirty="0"/>
              <a:t> to the profit if we have not produced 1 unit of doors</a:t>
            </a:r>
          </a:p>
          <a:p>
            <a:pPr lvl="1"/>
            <a:r>
              <a:rPr lang="en-US" sz="2000" dirty="0"/>
              <a:t>Also recall that 1 unit of doors has a profit of c1=300</a:t>
            </a:r>
          </a:p>
          <a:p>
            <a:pPr lvl="1"/>
            <a:r>
              <a:rPr lang="en-US" sz="2000" dirty="0"/>
              <a:t>So if the contribution of the resources used by 1 door is greater than the profit we will get from 1 door, we would not produce, </a:t>
            </a:r>
          </a:p>
          <a:p>
            <a:pPr lvl="1"/>
            <a:r>
              <a:rPr lang="en-US" sz="2000" dirty="0"/>
              <a:t>Therefore, we have:</a:t>
            </a:r>
          </a:p>
          <a:p>
            <a:pPr lvl="2"/>
            <a:r>
              <a:rPr lang="en-US" dirty="0"/>
              <a:t>If y</a:t>
            </a:r>
            <a:r>
              <a:rPr lang="en-US" baseline="-25000" dirty="0"/>
              <a:t>1</a:t>
            </a:r>
            <a:r>
              <a:rPr lang="en-US" dirty="0"/>
              <a:t>+3y</a:t>
            </a:r>
            <a:r>
              <a:rPr lang="en-US" baseline="-25000" dirty="0"/>
              <a:t>3</a:t>
            </a:r>
            <a:r>
              <a:rPr lang="en-US" dirty="0"/>
              <a:t> &gt;300 </a:t>
            </a:r>
            <a:r>
              <a:rPr lang="en-US" dirty="0">
                <a:sym typeface="Wingdings" panose="05000000000000000000" pitchFamily="2" charset="2"/>
              </a:rPr>
              <a:t> D=0</a:t>
            </a:r>
          </a:p>
          <a:p>
            <a:pPr lvl="2"/>
            <a:r>
              <a:rPr lang="en-US" dirty="0"/>
              <a:t>Recall from complementary slackness, if the constraint is not tight, then the associated variable should be 0</a:t>
            </a:r>
          </a:p>
        </p:txBody>
      </p:sp>
      <p:sp>
        <p:nvSpPr>
          <p:cNvPr id="4" name="Slide Number Placeholder 3"/>
          <p:cNvSpPr>
            <a:spLocks noGrp="1"/>
          </p:cNvSpPr>
          <p:nvPr>
            <p:ph type="sldNum" sz="quarter" idx="12"/>
          </p:nvPr>
        </p:nvSpPr>
        <p:spPr/>
        <p:txBody>
          <a:bodyPr/>
          <a:lstStyle/>
          <a:p>
            <a:pPr>
              <a:defRPr/>
            </a:pPr>
            <a:fld id="{17D8DEC3-86FA-484C-AC83-38B4A6F9AAAF}" type="slidenum">
              <a:rPr lang="en-US" smtClean="0"/>
              <a:pPr>
                <a:defRPr/>
              </a:pPr>
              <a:t>64</a:t>
            </a:fld>
            <a:endParaRPr lang="en-US" dirty="0"/>
          </a:p>
        </p:txBody>
      </p:sp>
    </p:spTree>
    <p:extLst>
      <p:ext uri="{BB962C8B-B14F-4D97-AF65-F5344CB8AC3E}">
        <p14:creationId xmlns:p14="http://schemas.microsoft.com/office/powerpoint/2010/main" val="403923513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3">
                                            <p:txEl>
                                              <p:pRg st="2" end="2"/>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3">
                                            <p:txEl>
                                              <p:pRg st="3" end="3"/>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nodeType="clickEffect">
                                  <p:stCondLst>
                                    <p:cond delay="0"/>
                                  </p:stCondLst>
                                  <p:childTnLst>
                                    <p:set>
                                      <p:cBhvr>
                                        <p:cTn id="16" dur="1" fill="hold">
                                          <p:stCondLst>
                                            <p:cond delay="0"/>
                                          </p:stCondLst>
                                        </p:cTn>
                                        <p:tgtEl>
                                          <p:spTgt spid="3">
                                            <p:txEl>
                                              <p:pRg st="5" end="5"/>
                                            </p:txEl>
                                          </p:spTgt>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3">
                                            <p:txEl>
                                              <p:pRg st="6" end="6"/>
                                            </p:txEl>
                                          </p:spTgt>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Economic Interpretation</a:t>
            </a:r>
          </a:p>
        </p:txBody>
      </p:sp>
      <p:sp>
        <p:nvSpPr>
          <p:cNvPr id="3" name="Content Placeholder 2"/>
          <p:cNvSpPr>
            <a:spLocks noGrp="1"/>
          </p:cNvSpPr>
          <p:nvPr>
            <p:ph idx="1"/>
          </p:nvPr>
        </p:nvSpPr>
        <p:spPr/>
        <p:txBody>
          <a:bodyPr/>
          <a:lstStyle/>
          <a:p>
            <a:r>
              <a:rPr lang="en-US" sz="2400" dirty="0"/>
              <a:t>Now let’s look at the shadow prices</a:t>
            </a:r>
          </a:p>
          <a:p>
            <a:pPr lvl="1"/>
            <a:r>
              <a:rPr lang="en-US" sz="2200" dirty="0"/>
              <a:t>Let’s consider resource 2 (i.e., plant 2 time)</a:t>
            </a:r>
          </a:p>
          <a:p>
            <a:pPr lvl="1"/>
            <a:r>
              <a:rPr lang="en-US" sz="2200" dirty="0"/>
              <a:t>If y</a:t>
            </a:r>
            <a:r>
              <a:rPr lang="en-US" sz="2200" baseline="-25000" dirty="0"/>
              <a:t>2</a:t>
            </a:r>
            <a:r>
              <a:rPr lang="en-US" sz="2200" dirty="0"/>
              <a:t>&gt;0, this means that having additional one unit of resource 2 (i.e., 1 more hour in Plant 2) will increase our profit</a:t>
            </a:r>
          </a:p>
          <a:p>
            <a:pPr lvl="2"/>
            <a:r>
              <a:rPr lang="en-US" dirty="0"/>
              <a:t>If we are at the optimum solution, then we should have used all of the hours in Plant 2, otherwise, we would not be in the optimum solution because, by using some more of the available time in Plant 2, we could increase our profit..</a:t>
            </a:r>
          </a:p>
          <a:p>
            <a:pPr lvl="2"/>
            <a:r>
              <a:rPr lang="en-US" dirty="0"/>
              <a:t>Therefore, if y</a:t>
            </a:r>
            <a:r>
              <a:rPr lang="en-US" baseline="-25000" dirty="0"/>
              <a:t>2</a:t>
            </a:r>
            <a:r>
              <a:rPr lang="en-US" dirty="0"/>
              <a:t>&gt;0, we should currently be using all the time available in plant 2, that is, we should have 2W=16</a:t>
            </a:r>
          </a:p>
          <a:p>
            <a:pPr lvl="2"/>
            <a:r>
              <a:rPr lang="en-US" dirty="0"/>
              <a:t>Recall from complementary slackness, if a variable is not zero, then the associated constraint should be tight</a:t>
            </a:r>
          </a:p>
          <a:p>
            <a:pPr lvl="2"/>
            <a:endParaRPr lang="en-US" dirty="0"/>
          </a:p>
        </p:txBody>
      </p:sp>
      <p:sp>
        <p:nvSpPr>
          <p:cNvPr id="4" name="Slide Number Placeholder 3"/>
          <p:cNvSpPr>
            <a:spLocks noGrp="1"/>
          </p:cNvSpPr>
          <p:nvPr>
            <p:ph type="sldNum" sz="quarter" idx="12"/>
          </p:nvPr>
        </p:nvSpPr>
        <p:spPr/>
        <p:txBody>
          <a:bodyPr/>
          <a:lstStyle/>
          <a:p>
            <a:pPr>
              <a:defRPr/>
            </a:pPr>
            <a:fld id="{17D8DEC3-86FA-484C-AC83-38B4A6F9AAAF}" type="slidenum">
              <a:rPr lang="en-US" smtClean="0"/>
              <a:pPr>
                <a:defRPr/>
              </a:pPr>
              <a:t>65</a:t>
            </a:fld>
            <a:endParaRPr lang="en-US" dirty="0"/>
          </a:p>
        </p:txBody>
      </p:sp>
    </p:spTree>
    <p:extLst>
      <p:ext uri="{BB962C8B-B14F-4D97-AF65-F5344CB8AC3E}">
        <p14:creationId xmlns:p14="http://schemas.microsoft.com/office/powerpoint/2010/main" val="120139747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3">
                                            <p:txEl>
                                              <p:pRg st="3" end="3"/>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3">
                                            <p:txEl>
                                              <p:pRg st="4" end="4"/>
                                            </p:txEl>
                                          </p:spTgt>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6146</TotalTime>
  <Words>6897</Words>
  <Application>Microsoft Macintosh PowerPoint</Application>
  <PresentationFormat>Widescreen</PresentationFormat>
  <Paragraphs>729</Paragraphs>
  <Slides>65</Slides>
  <Notes>46</Notes>
  <HiddenSlides>0</HiddenSlides>
  <MMClips>0</MMClips>
  <ScaleCrop>false</ScaleCrop>
  <HeadingPairs>
    <vt:vector size="8" baseType="variant">
      <vt:variant>
        <vt:lpstr>Fonts Used</vt:lpstr>
      </vt:variant>
      <vt:variant>
        <vt:i4>5</vt:i4>
      </vt:variant>
      <vt:variant>
        <vt:lpstr>Theme</vt:lpstr>
      </vt:variant>
      <vt:variant>
        <vt:i4>1</vt:i4>
      </vt:variant>
      <vt:variant>
        <vt:lpstr>Embedded OLE Servers</vt:lpstr>
      </vt:variant>
      <vt:variant>
        <vt:i4>1</vt:i4>
      </vt:variant>
      <vt:variant>
        <vt:lpstr>Slide Titles</vt:lpstr>
      </vt:variant>
      <vt:variant>
        <vt:i4>65</vt:i4>
      </vt:variant>
    </vt:vector>
  </HeadingPairs>
  <TitlesOfParts>
    <vt:vector size="72" baseType="lpstr">
      <vt:lpstr>Arial</vt:lpstr>
      <vt:lpstr>Calibri</vt:lpstr>
      <vt:lpstr>Calibri Light</vt:lpstr>
      <vt:lpstr>Cambria Math</vt:lpstr>
      <vt:lpstr>Wingdings</vt:lpstr>
      <vt:lpstr>Office Theme</vt:lpstr>
      <vt:lpstr>Worksheet</vt:lpstr>
      <vt:lpstr> ANLY 5332   Department of Information Systems and Analytics McCoy College of Business Administration Texas State University</vt:lpstr>
      <vt:lpstr>Outline</vt:lpstr>
      <vt:lpstr>Outline</vt:lpstr>
      <vt:lpstr>Sensitivity Analyses and Excel Reports </vt:lpstr>
      <vt:lpstr>Sensitivity Analyses and Excel Reports </vt:lpstr>
      <vt:lpstr>Excel Reports</vt:lpstr>
      <vt:lpstr>Excel Reports</vt:lpstr>
      <vt:lpstr>Excel Reports</vt:lpstr>
      <vt:lpstr>Excel Reports</vt:lpstr>
      <vt:lpstr>Outline</vt:lpstr>
      <vt:lpstr>Single Change in the Objective Function</vt:lpstr>
      <vt:lpstr>Single Change in the Objective Function</vt:lpstr>
      <vt:lpstr>Single Change in the Objective Function</vt:lpstr>
      <vt:lpstr>Single Change in the Objective Function</vt:lpstr>
      <vt:lpstr>Single Change in the Objective Function</vt:lpstr>
      <vt:lpstr>Single Change in the Objective Function</vt:lpstr>
      <vt:lpstr>Single Change in the Objective Function</vt:lpstr>
      <vt:lpstr>Single Change in the Objective Function</vt:lpstr>
      <vt:lpstr>Outline</vt:lpstr>
      <vt:lpstr>Single Change in a Constraint</vt:lpstr>
      <vt:lpstr>Single Change in a Constraint</vt:lpstr>
      <vt:lpstr>Single Change in a Constraint</vt:lpstr>
      <vt:lpstr>Single Change in a Constraint</vt:lpstr>
      <vt:lpstr>Single Change in a Constraint</vt:lpstr>
      <vt:lpstr>Single Change in a Constraint</vt:lpstr>
      <vt:lpstr>Single Change in a Constraint</vt:lpstr>
      <vt:lpstr>Single Change in a Constraint</vt:lpstr>
      <vt:lpstr>Single Change in the Objective Function</vt:lpstr>
      <vt:lpstr>Single Change in a Constraint</vt:lpstr>
      <vt:lpstr>Single Change in a Constraint</vt:lpstr>
      <vt:lpstr>Single Change in a Constraint</vt:lpstr>
      <vt:lpstr>Outline</vt:lpstr>
      <vt:lpstr>Effect of Simultaneous Changes</vt:lpstr>
      <vt:lpstr>Effect of Simultaneous Changes</vt:lpstr>
      <vt:lpstr>Effect of Simultaneous Changes</vt:lpstr>
      <vt:lpstr>Effect of Simultaneous Changes</vt:lpstr>
      <vt:lpstr>Effect of Simultaneous Changes</vt:lpstr>
      <vt:lpstr>Effect of Simultaneous Changes</vt:lpstr>
      <vt:lpstr>Effect of Simultaneous Changes</vt:lpstr>
      <vt:lpstr>Effect of Simultaneous Changes</vt:lpstr>
      <vt:lpstr>Effect of Simultaneous Changes</vt:lpstr>
      <vt:lpstr>Effect of Simultaneous Changes</vt:lpstr>
      <vt:lpstr>Outline</vt:lpstr>
      <vt:lpstr>Changes in Model</vt:lpstr>
      <vt:lpstr>Changes in Model</vt:lpstr>
      <vt:lpstr>Changes in Model</vt:lpstr>
      <vt:lpstr>Changes in Model</vt:lpstr>
      <vt:lpstr>Changes in Model</vt:lpstr>
      <vt:lpstr>Changes in Model</vt:lpstr>
      <vt:lpstr>Outline</vt:lpstr>
      <vt:lpstr>Linear Programming Duality </vt:lpstr>
      <vt:lpstr>Formulating the Dual Problem</vt:lpstr>
      <vt:lpstr>Formulating the Dual Problem</vt:lpstr>
      <vt:lpstr>Formulating the Dual</vt:lpstr>
      <vt:lpstr>Formulating the Dual</vt:lpstr>
      <vt:lpstr>Primal-Dual Relations</vt:lpstr>
      <vt:lpstr>Primal-Dual Relations</vt:lpstr>
      <vt:lpstr>Primal-Dual Relations</vt:lpstr>
      <vt:lpstr>Primal-Dual Relations</vt:lpstr>
      <vt:lpstr>Primal-Dual Relations</vt:lpstr>
      <vt:lpstr>Primal-Dual Relations</vt:lpstr>
      <vt:lpstr>Economic Interpretation</vt:lpstr>
      <vt:lpstr>Economic Interpretation</vt:lpstr>
      <vt:lpstr>Economic Interpretation</vt:lpstr>
      <vt:lpstr>Economic Interpretation</vt:lpstr>
    </vt:vector>
  </TitlesOfParts>
  <Company>Missouri University of Science and Technology</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Konur, Dincer</dc:creator>
  <cp:lastModifiedBy>Lin, Zewei (linzw)</cp:lastModifiedBy>
  <cp:revision>296</cp:revision>
  <dcterms:created xsi:type="dcterms:W3CDTF">2018-08-17T02:14:39Z</dcterms:created>
  <dcterms:modified xsi:type="dcterms:W3CDTF">2024-09-22T03:51:21Z</dcterms:modified>
</cp:coreProperties>
</file>