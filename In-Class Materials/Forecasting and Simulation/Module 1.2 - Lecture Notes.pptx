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345" r:id="rId3"/>
    <p:sldId id="356" r:id="rId4"/>
    <p:sldId id="407" r:id="rId5"/>
    <p:sldId id="354" r:id="rId6"/>
    <p:sldId id="364" r:id="rId7"/>
    <p:sldId id="355" r:id="rId8"/>
    <p:sldId id="360" r:id="rId9"/>
    <p:sldId id="361" r:id="rId10"/>
    <p:sldId id="366" r:id="rId11"/>
    <p:sldId id="365" r:id="rId12"/>
    <p:sldId id="367" r:id="rId13"/>
    <p:sldId id="368" r:id="rId14"/>
    <p:sldId id="369" r:id="rId15"/>
    <p:sldId id="370" r:id="rId16"/>
    <p:sldId id="371" r:id="rId17"/>
    <p:sldId id="372" r:id="rId18"/>
    <p:sldId id="373" r:id="rId19"/>
    <p:sldId id="375" r:id="rId20"/>
    <p:sldId id="376" r:id="rId21"/>
    <p:sldId id="377" r:id="rId22"/>
    <p:sldId id="378" r:id="rId23"/>
    <p:sldId id="362" r:id="rId24"/>
    <p:sldId id="379" r:id="rId25"/>
    <p:sldId id="409" r:id="rId26"/>
    <p:sldId id="346" r:id="rId27"/>
    <p:sldId id="347" r:id="rId28"/>
    <p:sldId id="348" r:id="rId29"/>
    <p:sldId id="349" r:id="rId30"/>
    <p:sldId id="381" r:id="rId31"/>
    <p:sldId id="382" r:id="rId32"/>
    <p:sldId id="383" r:id="rId33"/>
    <p:sldId id="363" r:id="rId34"/>
    <p:sldId id="384" r:id="rId35"/>
    <p:sldId id="408" r:id="rId36"/>
    <p:sldId id="405" r:id="rId37"/>
    <p:sldId id="406"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588" autoAdjust="0"/>
  </p:normalViewPr>
  <p:slideViewPr>
    <p:cSldViewPr snapToGrid="0">
      <p:cViewPr varScale="1">
        <p:scale>
          <a:sx n="100" d="100"/>
          <a:sy n="100" d="100"/>
        </p:scale>
        <p:origin x="95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an Konur, Sahika" userId="739a6e03-9a4a-49c6-a350-571b31db94be" providerId="ADAL" clId="{AD60E3F8-77D1-44F9-B0AE-E87FB0E183CD}"/>
    <pc:docChg chg="modSld">
      <pc:chgData name="Sahan Konur, Sahika" userId="739a6e03-9a4a-49c6-a350-571b31db94be" providerId="ADAL" clId="{AD60E3F8-77D1-44F9-B0AE-E87FB0E183CD}" dt="2024-01-18T14:58:10.273" v="0" actId="113"/>
      <pc:docMkLst>
        <pc:docMk/>
      </pc:docMkLst>
      <pc:sldChg chg="modSp mod">
        <pc:chgData name="Sahan Konur, Sahika" userId="739a6e03-9a4a-49c6-a350-571b31db94be" providerId="ADAL" clId="{AD60E3F8-77D1-44F9-B0AE-E87FB0E183CD}" dt="2024-01-18T14:58:10.273" v="0" actId="113"/>
        <pc:sldMkLst>
          <pc:docMk/>
          <pc:sldMk cId="2541942282" sldId="256"/>
        </pc:sldMkLst>
        <pc:spChg chg="mod">
          <ac:chgData name="Sahan Konur, Sahika" userId="739a6e03-9a4a-49c6-a350-571b31db94be" providerId="ADAL" clId="{AD60E3F8-77D1-44F9-B0AE-E87FB0E183CD}" dt="2024-01-18T14:58:10.273" v="0" actId="113"/>
          <ac:spMkLst>
            <pc:docMk/>
            <pc:sldMk cId="2541942282" sldId="256"/>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68A81C-13E0-402A-9BD9-36F3DFFB46F8}" type="datetimeFigureOut">
              <a:rPr lang="en-US" smtClean="0"/>
              <a:t>1/18/2024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376B9-9838-4376-9895-3384D05A8DF5}" type="slidenum">
              <a:rPr lang="en-US" smtClean="0"/>
              <a:t>‹#›</a:t>
            </a:fld>
            <a:endParaRPr lang="en-US"/>
          </a:p>
        </p:txBody>
      </p:sp>
    </p:spTree>
    <p:extLst>
      <p:ext uri="{BB962C8B-B14F-4D97-AF65-F5344CB8AC3E}">
        <p14:creationId xmlns:p14="http://schemas.microsoft.com/office/powerpoint/2010/main" val="3997369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376B9-9838-4376-9895-3384D05A8DF5}" type="slidenum">
              <a:rPr lang="en-US" smtClean="0"/>
              <a:t>36</a:t>
            </a:fld>
            <a:endParaRPr lang="en-US"/>
          </a:p>
        </p:txBody>
      </p:sp>
    </p:spTree>
    <p:extLst>
      <p:ext uri="{BB962C8B-B14F-4D97-AF65-F5344CB8AC3E}">
        <p14:creationId xmlns:p14="http://schemas.microsoft.com/office/powerpoint/2010/main" val="1092761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4DD3099-EF0D-4B9A-BBFF-09FBE6BF6054}" type="datetime1">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132637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002" y="365125"/>
            <a:ext cx="11478410" cy="839731"/>
          </a:xfrm>
        </p:spPr>
        <p:txBody>
          <a:bodyPr/>
          <a:lstStyle/>
          <a:p>
            <a:r>
              <a:rPr lang="en-US"/>
              <a:t>Click to edit Master title style</a:t>
            </a:r>
          </a:p>
        </p:txBody>
      </p:sp>
      <p:sp>
        <p:nvSpPr>
          <p:cNvPr id="3" name="Content Placeholder 2"/>
          <p:cNvSpPr>
            <a:spLocks noGrp="1"/>
          </p:cNvSpPr>
          <p:nvPr>
            <p:ph idx="1"/>
          </p:nvPr>
        </p:nvSpPr>
        <p:spPr>
          <a:xfrm>
            <a:off x="355002" y="1312433"/>
            <a:ext cx="11478410" cy="48645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55002" y="6356350"/>
            <a:ext cx="3226398" cy="365125"/>
          </a:xfrm>
        </p:spPr>
        <p:txBody>
          <a:bodyPr/>
          <a:lstStyle/>
          <a:p>
            <a:fld id="{B1E3B061-4FCE-4A21-AC74-81FE2BC5CF3E}" type="datetime1">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0"/>
            <a:ext cx="3222812" cy="365125"/>
          </a:xfrm>
        </p:spPr>
        <p:txBody>
          <a:bodyPr/>
          <a:lstStyle/>
          <a:p>
            <a:fld id="{1F4BF737-9C2B-4B9F-9835-28D7237AA9BE}" type="slidenum">
              <a:rPr lang="en-US" smtClean="0"/>
              <a:t>‹#›</a:t>
            </a:fld>
            <a:endParaRPr lang="en-US"/>
          </a:p>
        </p:txBody>
      </p:sp>
      <p:cxnSp>
        <p:nvCxnSpPr>
          <p:cNvPr id="8" name="Straight Connector 7"/>
          <p:cNvCxnSpPr/>
          <p:nvPr userDrawn="1"/>
        </p:nvCxnSpPr>
        <p:spPr>
          <a:xfrm>
            <a:off x="355002" y="1193795"/>
            <a:ext cx="1147841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4795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759F54-5CF2-4FD0-836E-B479A78D51A3}" type="datetime1">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54182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3933E6-EEC8-49F6-86B1-D403F7BCF2D7}" type="datetime1">
              <a:rPr lang="en-US" smtClean="0"/>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123447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77FC5F4-FF8A-4310-ACDA-118E50908757}" type="datetime1">
              <a:rPr lang="en-US" smtClean="0"/>
              <a:t>1/18/2024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459018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1ECC70-ED3C-42E3-B9D4-4CDAF46FBF6D}" type="datetime1">
              <a:rPr lang="en-US" smtClean="0"/>
              <a:t>1/18/2024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237032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CC83FA-2A64-4953-B019-1B95DE5F0E9D}" type="datetime1">
              <a:rPr lang="en-US" smtClean="0"/>
              <a:t>1/18/2024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615553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5949A69-C0C1-4748-81A5-B3EAE2845645}" type="datetime1">
              <a:rPr lang="en-US" smtClean="0"/>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267901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AE0C7C-8B0D-4808-9EE9-6B3127DD99F3}" type="datetime1">
              <a:rPr lang="en-US" smtClean="0"/>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607142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B08BD7-923F-4248-A98A-25295194946A}" type="datetime1">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493167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5BBA94-316C-4F17-807F-67A425FEAD68}" type="datetime1">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272868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98F577-5F6A-4371-8B61-A5EB0D2162DC}" type="datetime1">
              <a:rPr lang="en-US" smtClean="0"/>
              <a:t>1/18/2024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BF737-9C2B-4B9F-9835-28D7237AA9BE}" type="slidenum">
              <a:rPr lang="en-US" smtClean="0"/>
              <a:t>‹#›</a:t>
            </a:fld>
            <a:endParaRPr lang="en-US"/>
          </a:p>
        </p:txBody>
      </p:sp>
    </p:spTree>
    <p:extLst>
      <p:ext uri="{BB962C8B-B14F-4D97-AF65-F5344CB8AC3E}">
        <p14:creationId xmlns:p14="http://schemas.microsoft.com/office/powerpoint/2010/main" val="3431302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2" Type="http://schemas.openxmlformats.org/officeDocument/2006/relationships/hyperlink" Target="https://en.wikipedia.org/wiki/Unit_root_test"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2.xml"/><Relationship Id="rId4" Type="http://schemas.openxmlformats.org/officeDocument/2006/relationships/image" Target="../media/image33.emf"/></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230.png"/><Relationship Id="rId5" Type="http://schemas.openxmlformats.org/officeDocument/2006/relationships/image" Target="../media/image220.png"/><Relationship Id="rId4" Type="http://schemas.openxmlformats.org/officeDocument/2006/relationships/image" Target="../media/image210.png"/></Relationships>
</file>

<file path=ppt/slides/_rels/slide32.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310.png"/><Relationship Id="rId5" Type="http://schemas.openxmlformats.org/officeDocument/2006/relationships/image" Target="../media/image300.png"/><Relationship Id="rId4" Type="http://schemas.openxmlformats.org/officeDocument/2006/relationships/image" Target="../media/image29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37.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682433"/>
            <a:ext cx="11487150" cy="2387600"/>
          </a:xfrm>
        </p:spPr>
        <p:txBody>
          <a:bodyPr>
            <a:normAutofit fontScale="90000"/>
          </a:bodyPr>
          <a:lstStyle/>
          <a:p>
            <a:r>
              <a:rPr lang="en-US" sz="3200" b="1" dirty="0"/>
              <a:t>QMST 5335</a:t>
            </a:r>
            <a:br>
              <a:rPr lang="en-US" sz="5400" b="1" dirty="0"/>
            </a:br>
            <a:r>
              <a:rPr lang="en-US" sz="5400" b="1" dirty="0"/>
              <a:t>Time Series, Simple Methods, </a:t>
            </a:r>
            <a:br>
              <a:rPr lang="en-US" sz="5400" b="1" dirty="0"/>
            </a:br>
            <a:r>
              <a:rPr lang="en-US" sz="5400" b="1" dirty="0"/>
              <a:t>and Forecast Errors</a:t>
            </a:r>
            <a:br>
              <a:rPr lang="en-US" sz="5400" dirty="0"/>
            </a:br>
            <a:endParaRPr lang="en-US" sz="4400" b="1" dirty="0">
              <a:solidFill>
                <a:srgbClr val="C00000"/>
              </a:solidFill>
            </a:endParaRPr>
          </a:p>
        </p:txBody>
      </p:sp>
      <p:sp>
        <p:nvSpPr>
          <p:cNvPr id="5" name="Subtitle 4">
            <a:extLst>
              <a:ext uri="{FF2B5EF4-FFF2-40B4-BE49-F238E27FC236}">
                <a16:creationId xmlns:a16="http://schemas.microsoft.com/office/drawing/2014/main" id="{6E4A02B4-9060-5643-A203-7D1C79F9FDF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41942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Learning Objectives:</a:t>
            </a:r>
          </a:p>
        </p:txBody>
      </p:sp>
      <p:sp>
        <p:nvSpPr>
          <p:cNvPr id="3" name="Content Placeholder 2"/>
          <p:cNvSpPr>
            <a:spLocks noGrp="1"/>
          </p:cNvSpPr>
          <p:nvPr>
            <p:ph idx="1"/>
          </p:nvPr>
        </p:nvSpPr>
        <p:spPr/>
        <p:txBody>
          <a:bodyPr>
            <a:normAutofit lnSpcReduction="10000"/>
          </a:bodyPr>
          <a:lstStyle/>
          <a:p>
            <a:r>
              <a:rPr lang="en-US" dirty="0"/>
              <a:t>Basics of Time Series</a:t>
            </a:r>
          </a:p>
          <a:p>
            <a:pPr lvl="1"/>
            <a:r>
              <a:rPr lang="en-US" dirty="0"/>
              <a:t>What is a time series? What are the patterns that can be observed?</a:t>
            </a:r>
          </a:p>
          <a:p>
            <a:pPr lvl="1"/>
            <a:r>
              <a:rPr lang="en-US" dirty="0"/>
              <a:t>Visualization tools and measures to detect patterns</a:t>
            </a:r>
          </a:p>
          <a:p>
            <a:pPr lvl="1"/>
            <a:r>
              <a:rPr lang="en-US" dirty="0"/>
              <a:t>Components of time series and decomposition</a:t>
            </a:r>
          </a:p>
          <a:p>
            <a:r>
              <a:rPr lang="en-US" dirty="0"/>
              <a:t>Simple forecasting tools</a:t>
            </a:r>
          </a:p>
          <a:p>
            <a:pPr lvl="1"/>
            <a:r>
              <a:rPr lang="en-US" dirty="0"/>
              <a:t>Some simple methods for forecasting and their implementation</a:t>
            </a:r>
          </a:p>
          <a:p>
            <a:pPr lvl="1"/>
            <a:r>
              <a:rPr lang="en-US" dirty="0"/>
              <a:t>Moving Average method for forecasting</a:t>
            </a:r>
          </a:p>
          <a:p>
            <a:r>
              <a:rPr lang="en-US" dirty="0"/>
              <a:t>Forecast errors</a:t>
            </a:r>
          </a:p>
          <a:p>
            <a:pPr lvl="1"/>
            <a:r>
              <a:rPr lang="en-US" dirty="0"/>
              <a:t>How are they calculated?</a:t>
            </a:r>
          </a:p>
          <a:p>
            <a:pPr lvl="1"/>
            <a:r>
              <a:rPr lang="en-US" dirty="0"/>
              <a:t>How can we use them in forecasting?</a:t>
            </a:r>
          </a:p>
        </p:txBody>
      </p:sp>
    </p:spTree>
    <p:extLst>
      <p:ext uri="{BB962C8B-B14F-4D97-AF65-F5344CB8AC3E}">
        <p14:creationId xmlns:p14="http://schemas.microsoft.com/office/powerpoint/2010/main" val="531641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lnSpcReduction="10000"/>
          </a:bodyPr>
          <a:lstStyle/>
          <a:p>
            <a:r>
              <a:rPr lang="en-US" dirty="0"/>
              <a:t>Time Series</a:t>
            </a:r>
          </a:p>
          <a:p>
            <a:pPr lvl="1"/>
            <a:r>
              <a:rPr lang="en-US" dirty="0"/>
              <a:t>Patterns, Graphics, Autocorrelation, and Stationarity</a:t>
            </a:r>
          </a:p>
          <a:p>
            <a:pPr lvl="1"/>
            <a:r>
              <a:rPr lang="en-US" dirty="0"/>
              <a:t>Components, Moving Averages, and Decomposition</a:t>
            </a:r>
          </a:p>
          <a:p>
            <a:endParaRPr lang="en-US" dirty="0"/>
          </a:p>
          <a:p>
            <a:r>
              <a:rPr lang="en-US" dirty="0"/>
              <a:t>Simple Forecasting Methods</a:t>
            </a:r>
          </a:p>
          <a:p>
            <a:pPr lvl="1"/>
            <a:r>
              <a:rPr lang="en-US" dirty="0"/>
              <a:t>Notation and Methods</a:t>
            </a:r>
          </a:p>
          <a:p>
            <a:pPr lvl="1"/>
            <a:r>
              <a:rPr lang="en-US" dirty="0"/>
              <a:t>Forecasting with Moving Average Method</a:t>
            </a:r>
          </a:p>
          <a:p>
            <a:endParaRPr lang="en-US" dirty="0"/>
          </a:p>
          <a:p>
            <a:r>
              <a:rPr lang="en-US" dirty="0"/>
              <a:t>Forecast Errors</a:t>
            </a:r>
          </a:p>
          <a:p>
            <a:pPr lvl="1"/>
            <a:r>
              <a:rPr lang="en-US" dirty="0"/>
              <a:t>Errors and Measures</a:t>
            </a:r>
          </a:p>
        </p:txBody>
      </p:sp>
    </p:spTree>
    <p:extLst>
      <p:ext uri="{BB962C8B-B14F-4D97-AF65-F5344CB8AC3E}">
        <p14:creationId xmlns:p14="http://schemas.microsoft.com/office/powerpoint/2010/main" val="47697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lnSpcReduction="10000"/>
          </a:bodyPr>
          <a:lstStyle/>
          <a:p>
            <a:r>
              <a:rPr lang="en-US" dirty="0"/>
              <a:t>Time Series</a:t>
            </a:r>
          </a:p>
          <a:p>
            <a:pPr lvl="1"/>
            <a:r>
              <a:rPr lang="en-US" dirty="0"/>
              <a:t>Patterns, Graphics, Autocorrelation, and Stationarity</a:t>
            </a:r>
          </a:p>
          <a:p>
            <a:pPr lvl="1"/>
            <a:r>
              <a:rPr lang="en-US" dirty="0"/>
              <a:t>Components, Moving Averages, and Decomposition</a:t>
            </a:r>
          </a:p>
          <a:p>
            <a:endParaRPr lang="en-US" dirty="0"/>
          </a:p>
          <a:p>
            <a:r>
              <a:rPr lang="en-US" dirty="0">
                <a:solidFill>
                  <a:schemeClr val="bg2"/>
                </a:solidFill>
              </a:rPr>
              <a:t>Simple Forecasting Methods</a:t>
            </a:r>
          </a:p>
          <a:p>
            <a:pPr lvl="1"/>
            <a:r>
              <a:rPr lang="en-US" dirty="0">
                <a:solidFill>
                  <a:schemeClr val="bg2"/>
                </a:solidFill>
              </a:rPr>
              <a:t>Notation and Methods</a:t>
            </a:r>
          </a:p>
          <a:p>
            <a:pPr lvl="1"/>
            <a:r>
              <a:rPr lang="en-US" dirty="0">
                <a:solidFill>
                  <a:schemeClr val="bg2"/>
                </a:solidFill>
              </a:rPr>
              <a:t>Forecasting with Moving Average Method</a:t>
            </a:r>
          </a:p>
          <a:p>
            <a:endParaRPr lang="en-US" dirty="0">
              <a:solidFill>
                <a:schemeClr val="bg2"/>
              </a:solidFill>
            </a:endParaRPr>
          </a:p>
          <a:p>
            <a:r>
              <a:rPr lang="en-US" dirty="0">
                <a:solidFill>
                  <a:schemeClr val="bg2"/>
                </a:solidFill>
              </a:rPr>
              <a:t>Forecast Errors</a:t>
            </a:r>
          </a:p>
          <a:p>
            <a:pPr lvl="1"/>
            <a:r>
              <a:rPr lang="en-US" dirty="0">
                <a:solidFill>
                  <a:schemeClr val="bg2"/>
                </a:solidFill>
              </a:rPr>
              <a:t>Errors and Measures</a:t>
            </a:r>
          </a:p>
        </p:txBody>
      </p:sp>
    </p:spTree>
    <p:extLst>
      <p:ext uri="{BB962C8B-B14F-4D97-AF65-F5344CB8AC3E}">
        <p14:creationId xmlns:p14="http://schemas.microsoft.com/office/powerpoint/2010/main" val="3119978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 Series</a:t>
            </a:r>
          </a:p>
        </p:txBody>
      </p:sp>
      <p:sp>
        <p:nvSpPr>
          <p:cNvPr id="3" name="Content Placeholder 2"/>
          <p:cNvSpPr>
            <a:spLocks noGrp="1"/>
          </p:cNvSpPr>
          <p:nvPr>
            <p:ph idx="1"/>
          </p:nvPr>
        </p:nvSpPr>
        <p:spPr/>
        <p:txBody>
          <a:bodyPr>
            <a:normAutofit lnSpcReduction="10000"/>
          </a:bodyPr>
          <a:lstStyle/>
          <a:p>
            <a:r>
              <a:rPr lang="en-US" dirty="0"/>
              <a:t>Time series data: data collected at regular intervals over time for a particular value</a:t>
            </a:r>
          </a:p>
          <a:p>
            <a:pPr lvl="1"/>
            <a:r>
              <a:rPr lang="en-US" dirty="0"/>
              <a:t>Daily sales over two years, monthly consumption over 5 years…</a:t>
            </a:r>
          </a:p>
          <a:p>
            <a:r>
              <a:rPr lang="en-US" dirty="0">
                <a:solidFill>
                  <a:srgbClr val="C00000"/>
                </a:solidFill>
              </a:rPr>
              <a:t>Time plot: </a:t>
            </a:r>
            <a:r>
              <a:rPr lang="en-US" dirty="0"/>
              <a:t>Observations plotted against time</a:t>
            </a:r>
          </a:p>
          <a:p>
            <a:pPr lvl="2"/>
            <a:endParaRPr lang="en-US" dirty="0"/>
          </a:p>
        </p:txBody>
      </p:sp>
      <p:pic>
        <p:nvPicPr>
          <p:cNvPr id="5" name="Picture 4">
            <a:extLst>
              <a:ext uri="{FF2B5EF4-FFF2-40B4-BE49-F238E27FC236}">
                <a16:creationId xmlns:a16="http://schemas.microsoft.com/office/drawing/2014/main" id="{CDB4CEB9-6925-9077-CEBD-8F08A8BBDF8C}"/>
              </a:ext>
            </a:extLst>
          </p:cNvPr>
          <p:cNvPicPr>
            <a:picLocks noChangeAspect="1"/>
          </p:cNvPicPr>
          <p:nvPr/>
        </p:nvPicPr>
        <p:blipFill>
          <a:blip r:embed="rId2"/>
          <a:stretch>
            <a:fillRect/>
          </a:stretch>
        </p:blipFill>
        <p:spPr>
          <a:xfrm>
            <a:off x="418142" y="3017508"/>
            <a:ext cx="5332040" cy="3509653"/>
          </a:xfrm>
          <a:prstGeom prst="rect">
            <a:avLst/>
          </a:prstGeom>
        </p:spPr>
      </p:pic>
      <p:pic>
        <p:nvPicPr>
          <p:cNvPr id="7" name="Picture 6">
            <a:extLst>
              <a:ext uri="{FF2B5EF4-FFF2-40B4-BE49-F238E27FC236}">
                <a16:creationId xmlns:a16="http://schemas.microsoft.com/office/drawing/2014/main" id="{009F6874-29C9-688C-4FA7-F2BC87A4A603}"/>
              </a:ext>
            </a:extLst>
          </p:cNvPr>
          <p:cNvPicPr>
            <a:picLocks noChangeAspect="1"/>
          </p:cNvPicPr>
          <p:nvPr/>
        </p:nvPicPr>
        <p:blipFill>
          <a:blip r:embed="rId3"/>
          <a:stretch>
            <a:fillRect/>
          </a:stretch>
        </p:blipFill>
        <p:spPr>
          <a:xfrm>
            <a:off x="6441819" y="3130461"/>
            <a:ext cx="5165255" cy="3362414"/>
          </a:xfrm>
          <a:prstGeom prst="rect">
            <a:avLst/>
          </a:prstGeom>
        </p:spPr>
      </p:pic>
    </p:spTree>
    <p:extLst>
      <p:ext uri="{BB962C8B-B14F-4D97-AF65-F5344CB8AC3E}">
        <p14:creationId xmlns:p14="http://schemas.microsoft.com/office/powerpoint/2010/main" val="1582919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 Series Patterns</a:t>
            </a:r>
          </a:p>
        </p:txBody>
      </p:sp>
      <p:sp>
        <p:nvSpPr>
          <p:cNvPr id="3" name="Content Placeholder 2"/>
          <p:cNvSpPr>
            <a:spLocks noGrp="1"/>
          </p:cNvSpPr>
          <p:nvPr>
            <p:ph idx="1"/>
          </p:nvPr>
        </p:nvSpPr>
        <p:spPr/>
        <p:txBody>
          <a:bodyPr>
            <a:normAutofit lnSpcReduction="10000"/>
          </a:bodyPr>
          <a:lstStyle/>
          <a:p>
            <a:r>
              <a:rPr lang="en-US" dirty="0"/>
              <a:t>Patterns are used to describe time series</a:t>
            </a:r>
          </a:p>
          <a:p>
            <a:pPr lvl="1"/>
            <a:r>
              <a:rPr lang="en-US" b="1" dirty="0">
                <a:solidFill>
                  <a:srgbClr val="C00000"/>
                </a:solidFill>
              </a:rPr>
              <a:t>Trend: </a:t>
            </a:r>
            <a:r>
              <a:rPr lang="en-US" dirty="0"/>
              <a:t>a stable pattern of growth or decline</a:t>
            </a:r>
          </a:p>
          <a:p>
            <a:pPr lvl="2"/>
            <a:r>
              <a:rPr lang="en-US" dirty="0"/>
              <a:t>A </a:t>
            </a:r>
            <a:r>
              <a:rPr lang="en-US" i="1" dirty="0"/>
              <a:t>trend</a:t>
            </a:r>
            <a:r>
              <a:rPr lang="en-US" dirty="0"/>
              <a:t> exists when there is a long-term increase or decrease in the data</a:t>
            </a:r>
          </a:p>
          <a:p>
            <a:pPr lvl="2"/>
            <a:r>
              <a:rPr lang="en-US" dirty="0"/>
              <a:t>It does not have to be linear</a:t>
            </a:r>
          </a:p>
          <a:p>
            <a:pPr lvl="1"/>
            <a:r>
              <a:rPr lang="en-US" b="1" dirty="0">
                <a:solidFill>
                  <a:srgbClr val="C00000"/>
                </a:solidFill>
              </a:rPr>
              <a:t>Seasonal: </a:t>
            </a:r>
            <a:r>
              <a:rPr lang="en-US" dirty="0"/>
              <a:t>a pattern repeating at fixed intervals</a:t>
            </a:r>
          </a:p>
          <a:p>
            <a:pPr lvl="2"/>
            <a:r>
              <a:rPr lang="en-US" dirty="0"/>
              <a:t>A </a:t>
            </a:r>
            <a:r>
              <a:rPr lang="en-US" i="1" dirty="0"/>
              <a:t>seasonal</a:t>
            </a:r>
            <a:r>
              <a:rPr lang="en-US" dirty="0"/>
              <a:t> pattern occurs when a time series is affected by seasonal factors such as the time of the year or the day of the week</a:t>
            </a:r>
          </a:p>
          <a:p>
            <a:pPr lvl="2"/>
            <a:r>
              <a:rPr lang="en-US" dirty="0"/>
              <a:t>Seasonality is always of a fixed and known frequency</a:t>
            </a:r>
          </a:p>
          <a:p>
            <a:pPr lvl="1"/>
            <a:r>
              <a:rPr lang="en-US" b="1" dirty="0">
                <a:solidFill>
                  <a:srgbClr val="C00000"/>
                </a:solidFill>
              </a:rPr>
              <a:t>Cyclic: </a:t>
            </a:r>
            <a:r>
              <a:rPr lang="en-US" dirty="0"/>
              <a:t>similar to seasonality but length and magnitude of the cycle may vary</a:t>
            </a:r>
          </a:p>
          <a:p>
            <a:pPr lvl="2"/>
            <a:r>
              <a:rPr lang="en-US" dirty="0"/>
              <a:t>A </a:t>
            </a:r>
            <a:r>
              <a:rPr lang="en-US" i="1" dirty="0"/>
              <a:t>cycle</a:t>
            </a:r>
            <a:r>
              <a:rPr lang="en-US" dirty="0"/>
              <a:t> occurs when the data exhibit rises and falls that are not of a fixed frequency</a:t>
            </a:r>
          </a:p>
          <a:p>
            <a:pPr lvl="2"/>
            <a:r>
              <a:rPr lang="en-US" dirty="0"/>
              <a:t>Different than seasonality!</a:t>
            </a:r>
          </a:p>
          <a:p>
            <a:pPr lvl="2"/>
            <a:r>
              <a:rPr lang="en-US" dirty="0"/>
              <a:t>Cycles are typically due to “business cycles”</a:t>
            </a:r>
          </a:p>
          <a:p>
            <a:pPr lvl="2"/>
            <a:r>
              <a:rPr lang="en-US" dirty="0"/>
              <a:t>The duration of the fluctuations is usually at least 2 years</a:t>
            </a:r>
            <a:endParaRPr lang="en-US" b="1" dirty="0">
              <a:solidFill>
                <a:srgbClr val="C00000"/>
              </a:solidFill>
            </a:endParaRPr>
          </a:p>
          <a:p>
            <a:pPr lvl="1"/>
            <a:endParaRPr lang="en-US" dirty="0"/>
          </a:p>
          <a:p>
            <a:pPr lvl="1"/>
            <a:endParaRPr lang="en-US" dirty="0"/>
          </a:p>
          <a:p>
            <a:pPr lvl="2"/>
            <a:endParaRPr lang="en-US" dirty="0"/>
          </a:p>
        </p:txBody>
      </p:sp>
    </p:spTree>
    <p:extLst>
      <p:ext uri="{BB962C8B-B14F-4D97-AF65-F5344CB8AC3E}">
        <p14:creationId xmlns:p14="http://schemas.microsoft.com/office/powerpoint/2010/main" val="143766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 Series Patterns</a:t>
            </a:r>
          </a:p>
        </p:txBody>
      </p:sp>
      <p:sp>
        <p:nvSpPr>
          <p:cNvPr id="3" name="Content Placeholder 2"/>
          <p:cNvSpPr>
            <a:spLocks noGrp="1"/>
          </p:cNvSpPr>
          <p:nvPr>
            <p:ph idx="1"/>
          </p:nvPr>
        </p:nvSpPr>
        <p:spPr/>
        <p:txBody>
          <a:bodyPr>
            <a:normAutofit lnSpcReduction="10000"/>
          </a:bodyPr>
          <a:lstStyle/>
          <a:p>
            <a:r>
              <a:rPr lang="en-US" dirty="0"/>
              <a:t>Examples of time series with different characteristics:</a:t>
            </a:r>
          </a:p>
          <a:p>
            <a:pPr lvl="1"/>
            <a:endParaRPr lang="en-US" dirty="0"/>
          </a:p>
          <a:p>
            <a:pPr lvl="1"/>
            <a:endParaRPr lang="en-US" dirty="0"/>
          </a:p>
          <a:p>
            <a:pPr lvl="2"/>
            <a:endParaRPr lang="en-US" dirty="0"/>
          </a:p>
        </p:txBody>
      </p:sp>
      <p:pic>
        <p:nvPicPr>
          <p:cNvPr id="4" name="Picture 3"/>
          <p:cNvPicPr>
            <a:picLocks noChangeAspect="1"/>
          </p:cNvPicPr>
          <p:nvPr/>
        </p:nvPicPr>
        <p:blipFill>
          <a:blip r:embed="rId2"/>
          <a:stretch>
            <a:fillRect/>
          </a:stretch>
        </p:blipFill>
        <p:spPr>
          <a:xfrm>
            <a:off x="1278961" y="1808828"/>
            <a:ext cx="3705225" cy="2266950"/>
          </a:xfrm>
          <a:prstGeom prst="rect">
            <a:avLst/>
          </a:prstGeom>
        </p:spPr>
      </p:pic>
      <p:sp>
        <p:nvSpPr>
          <p:cNvPr id="5" name="Rectangle 4"/>
          <p:cNvSpPr/>
          <p:nvPr/>
        </p:nvSpPr>
        <p:spPr>
          <a:xfrm>
            <a:off x="5230761" y="2232686"/>
            <a:ext cx="6096000" cy="1200329"/>
          </a:xfrm>
          <a:prstGeom prst="rect">
            <a:avLst/>
          </a:prstGeom>
        </p:spPr>
        <p:txBody>
          <a:bodyPr>
            <a:spAutoFit/>
          </a:bodyPr>
          <a:lstStyle/>
          <a:p>
            <a:r>
              <a:rPr lang="en-US" dirty="0"/>
              <a:t>The daily change in the Google closing stock price has no trend, seasonality or cyclic behavior. There are random fluctuations which do not appear to be very predictable, and no strong patterns that would help with developing a forecasting model.</a:t>
            </a:r>
          </a:p>
        </p:txBody>
      </p:sp>
      <p:pic>
        <p:nvPicPr>
          <p:cNvPr id="6" name="Picture 5"/>
          <p:cNvPicPr>
            <a:picLocks noChangeAspect="1"/>
          </p:cNvPicPr>
          <p:nvPr/>
        </p:nvPicPr>
        <p:blipFill>
          <a:blip r:embed="rId3"/>
          <a:stretch>
            <a:fillRect/>
          </a:stretch>
        </p:blipFill>
        <p:spPr>
          <a:xfrm>
            <a:off x="1331348" y="4271809"/>
            <a:ext cx="3600450" cy="2266950"/>
          </a:xfrm>
          <a:prstGeom prst="rect">
            <a:avLst/>
          </a:prstGeom>
        </p:spPr>
      </p:pic>
      <p:sp>
        <p:nvSpPr>
          <p:cNvPr id="7" name="Rectangle 6"/>
          <p:cNvSpPr/>
          <p:nvPr/>
        </p:nvSpPr>
        <p:spPr>
          <a:xfrm>
            <a:off x="5334605" y="4781387"/>
            <a:ext cx="6096000" cy="923330"/>
          </a:xfrm>
          <a:prstGeom prst="rect">
            <a:avLst/>
          </a:prstGeom>
        </p:spPr>
        <p:txBody>
          <a:bodyPr>
            <a:spAutoFit/>
          </a:bodyPr>
          <a:lstStyle/>
          <a:p>
            <a:r>
              <a:rPr lang="en-US" dirty="0"/>
              <a:t>The Australian quarterly electricity production shows a strong increasing trend, with strong seasonality. There is no evidence of any cyclic behavior here.</a:t>
            </a:r>
          </a:p>
        </p:txBody>
      </p:sp>
    </p:spTree>
    <p:extLst>
      <p:ext uri="{BB962C8B-B14F-4D97-AF65-F5344CB8AC3E}">
        <p14:creationId xmlns:p14="http://schemas.microsoft.com/office/powerpoint/2010/main" val="3160607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 Series Patterns</a:t>
            </a:r>
          </a:p>
        </p:txBody>
      </p:sp>
      <p:sp>
        <p:nvSpPr>
          <p:cNvPr id="3" name="Content Placeholder 2"/>
          <p:cNvSpPr>
            <a:spLocks noGrp="1"/>
          </p:cNvSpPr>
          <p:nvPr>
            <p:ph idx="1"/>
          </p:nvPr>
        </p:nvSpPr>
        <p:spPr/>
        <p:txBody>
          <a:bodyPr>
            <a:normAutofit lnSpcReduction="10000"/>
          </a:bodyPr>
          <a:lstStyle/>
          <a:p>
            <a:r>
              <a:rPr lang="en-US" dirty="0"/>
              <a:t>Examples of time series with different characteristics:</a:t>
            </a:r>
          </a:p>
          <a:p>
            <a:pPr lvl="1"/>
            <a:endParaRPr lang="en-US" dirty="0"/>
          </a:p>
          <a:p>
            <a:pPr lvl="1"/>
            <a:endParaRPr lang="en-US" dirty="0"/>
          </a:p>
          <a:p>
            <a:pPr lvl="2"/>
            <a:endParaRPr lang="en-US" dirty="0"/>
          </a:p>
        </p:txBody>
      </p:sp>
      <p:sp>
        <p:nvSpPr>
          <p:cNvPr id="5" name="Rectangle 4"/>
          <p:cNvSpPr/>
          <p:nvPr/>
        </p:nvSpPr>
        <p:spPr>
          <a:xfrm>
            <a:off x="5230761" y="2232686"/>
            <a:ext cx="6096000" cy="923330"/>
          </a:xfrm>
          <a:prstGeom prst="rect">
            <a:avLst/>
          </a:prstGeom>
        </p:spPr>
        <p:txBody>
          <a:bodyPr>
            <a:spAutoFit/>
          </a:bodyPr>
          <a:lstStyle/>
          <a:p>
            <a:r>
              <a:rPr lang="en-US" dirty="0"/>
              <a:t>The US treasury bill contracts show results from the Chicago market for 100 consecutive trading days in 1981. Here there is no seasonality, but an obvious downward trend. </a:t>
            </a:r>
          </a:p>
        </p:txBody>
      </p:sp>
      <p:sp>
        <p:nvSpPr>
          <p:cNvPr id="7" name="Rectangle 6"/>
          <p:cNvSpPr/>
          <p:nvPr/>
        </p:nvSpPr>
        <p:spPr>
          <a:xfrm>
            <a:off x="5334605" y="4781387"/>
            <a:ext cx="6096000" cy="1200329"/>
          </a:xfrm>
          <a:prstGeom prst="rect">
            <a:avLst/>
          </a:prstGeom>
        </p:spPr>
        <p:txBody>
          <a:bodyPr>
            <a:spAutoFit/>
          </a:bodyPr>
          <a:lstStyle/>
          <a:p>
            <a:r>
              <a:rPr lang="en-US" dirty="0"/>
              <a:t>The monthly housing sales show strong seasonality within each year, as well as some strong cyclic behavior with a period of about 6–10 years. There is no apparent trend in the data over this period.</a:t>
            </a:r>
          </a:p>
        </p:txBody>
      </p:sp>
      <p:pic>
        <p:nvPicPr>
          <p:cNvPr id="8" name="Picture 7"/>
          <p:cNvPicPr>
            <a:picLocks noChangeAspect="1"/>
          </p:cNvPicPr>
          <p:nvPr/>
        </p:nvPicPr>
        <p:blipFill>
          <a:blip r:embed="rId2"/>
          <a:stretch>
            <a:fillRect/>
          </a:stretch>
        </p:blipFill>
        <p:spPr>
          <a:xfrm>
            <a:off x="1269435" y="1732712"/>
            <a:ext cx="3724275" cy="2200275"/>
          </a:xfrm>
          <a:prstGeom prst="rect">
            <a:avLst/>
          </a:prstGeom>
        </p:spPr>
      </p:pic>
      <p:pic>
        <p:nvPicPr>
          <p:cNvPr id="9" name="Picture 8"/>
          <p:cNvPicPr>
            <a:picLocks noChangeAspect="1"/>
          </p:cNvPicPr>
          <p:nvPr/>
        </p:nvPicPr>
        <p:blipFill>
          <a:blip r:embed="rId3"/>
          <a:stretch>
            <a:fillRect/>
          </a:stretch>
        </p:blipFill>
        <p:spPr>
          <a:xfrm>
            <a:off x="1317060" y="4142914"/>
            <a:ext cx="3676650" cy="2200275"/>
          </a:xfrm>
          <a:prstGeom prst="rect">
            <a:avLst/>
          </a:prstGeom>
        </p:spPr>
      </p:pic>
    </p:spTree>
    <p:extLst>
      <p:ext uri="{BB962C8B-B14F-4D97-AF65-F5344CB8AC3E}">
        <p14:creationId xmlns:p14="http://schemas.microsoft.com/office/powerpoint/2010/main" val="3614011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 Series Graphics: Seasonal Plots</a:t>
            </a:r>
          </a:p>
        </p:txBody>
      </p:sp>
      <p:sp>
        <p:nvSpPr>
          <p:cNvPr id="3" name="Content Placeholder 2"/>
          <p:cNvSpPr>
            <a:spLocks noGrp="1"/>
          </p:cNvSpPr>
          <p:nvPr>
            <p:ph idx="1"/>
          </p:nvPr>
        </p:nvSpPr>
        <p:spPr/>
        <p:txBody>
          <a:bodyPr>
            <a:normAutofit lnSpcReduction="10000"/>
          </a:bodyPr>
          <a:lstStyle/>
          <a:p>
            <a:r>
              <a:rPr lang="en-US" dirty="0"/>
              <a:t>Plot a ‘time plot’ for each season</a:t>
            </a:r>
          </a:p>
          <a:p>
            <a:pPr lvl="1"/>
            <a:endParaRPr lang="en-US" dirty="0"/>
          </a:p>
          <a:p>
            <a:pPr lvl="1"/>
            <a:endParaRPr lang="en-US" dirty="0"/>
          </a:p>
          <a:p>
            <a:pPr lvl="2"/>
            <a:endParaRPr lang="en-US" dirty="0"/>
          </a:p>
        </p:txBody>
      </p:sp>
      <p:pic>
        <p:nvPicPr>
          <p:cNvPr id="4" name="Picture 3"/>
          <p:cNvPicPr>
            <a:picLocks noChangeAspect="1"/>
          </p:cNvPicPr>
          <p:nvPr/>
        </p:nvPicPr>
        <p:blipFill>
          <a:blip r:embed="rId2"/>
          <a:stretch>
            <a:fillRect/>
          </a:stretch>
        </p:blipFill>
        <p:spPr>
          <a:xfrm>
            <a:off x="673867" y="1895474"/>
            <a:ext cx="4519477" cy="2970603"/>
          </a:xfrm>
          <a:prstGeom prst="rect">
            <a:avLst/>
          </a:prstGeom>
        </p:spPr>
      </p:pic>
      <p:sp>
        <p:nvSpPr>
          <p:cNvPr id="6" name="Rectangle 5"/>
          <p:cNvSpPr/>
          <p:nvPr/>
        </p:nvSpPr>
        <p:spPr>
          <a:xfrm>
            <a:off x="1802553" y="5084211"/>
            <a:ext cx="2262103" cy="1200329"/>
          </a:xfrm>
          <a:prstGeom prst="rect">
            <a:avLst/>
          </a:prstGeom>
        </p:spPr>
        <p:txBody>
          <a:bodyPr wrap="square">
            <a:spAutoFit/>
          </a:bodyPr>
          <a:lstStyle/>
          <a:p>
            <a:r>
              <a:rPr lang="en-US" dirty="0"/>
              <a:t>Here, there is a clear increasing trend. There is also a strong seasonal pattern</a:t>
            </a:r>
          </a:p>
        </p:txBody>
      </p:sp>
      <p:pic>
        <p:nvPicPr>
          <p:cNvPr id="7" name="Picture 6">
            <a:extLst>
              <a:ext uri="{FF2B5EF4-FFF2-40B4-BE49-F238E27FC236}">
                <a16:creationId xmlns:a16="http://schemas.microsoft.com/office/drawing/2014/main" id="{39DC18CD-4A12-A5C6-328A-B8CCBB97E09B}"/>
              </a:ext>
            </a:extLst>
          </p:cNvPr>
          <p:cNvPicPr>
            <a:picLocks noChangeAspect="1"/>
          </p:cNvPicPr>
          <p:nvPr/>
        </p:nvPicPr>
        <p:blipFill>
          <a:blip r:embed="rId3"/>
          <a:stretch>
            <a:fillRect/>
          </a:stretch>
        </p:blipFill>
        <p:spPr>
          <a:xfrm>
            <a:off x="6017546" y="1941375"/>
            <a:ext cx="4421733" cy="2924702"/>
          </a:xfrm>
          <a:prstGeom prst="rect">
            <a:avLst/>
          </a:prstGeom>
        </p:spPr>
      </p:pic>
      <p:sp>
        <p:nvSpPr>
          <p:cNvPr id="8" name="Rectangle 7">
            <a:extLst>
              <a:ext uri="{FF2B5EF4-FFF2-40B4-BE49-F238E27FC236}">
                <a16:creationId xmlns:a16="http://schemas.microsoft.com/office/drawing/2014/main" id="{30ED7954-500C-DC4E-486E-7F96A1033C47}"/>
              </a:ext>
            </a:extLst>
          </p:cNvPr>
          <p:cNvSpPr/>
          <p:nvPr/>
        </p:nvSpPr>
        <p:spPr>
          <a:xfrm>
            <a:off x="7032400" y="5031912"/>
            <a:ext cx="2262103" cy="923330"/>
          </a:xfrm>
          <a:prstGeom prst="rect">
            <a:avLst/>
          </a:prstGeom>
        </p:spPr>
        <p:txBody>
          <a:bodyPr wrap="square">
            <a:spAutoFit/>
          </a:bodyPr>
          <a:lstStyle/>
          <a:p>
            <a:r>
              <a:rPr lang="en-US" dirty="0"/>
              <a:t>The seasonal plot shows the underlying seasonal pattern</a:t>
            </a:r>
          </a:p>
        </p:txBody>
      </p:sp>
    </p:spTree>
    <p:extLst>
      <p:ext uri="{BB962C8B-B14F-4D97-AF65-F5344CB8AC3E}">
        <p14:creationId xmlns:p14="http://schemas.microsoft.com/office/powerpoint/2010/main" val="916388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 Series Graphics: Seasonal Subseries Plots</a:t>
            </a:r>
          </a:p>
        </p:txBody>
      </p:sp>
      <p:sp>
        <p:nvSpPr>
          <p:cNvPr id="3" name="Content Placeholder 2"/>
          <p:cNvSpPr>
            <a:spLocks noGrp="1"/>
          </p:cNvSpPr>
          <p:nvPr>
            <p:ph idx="1"/>
          </p:nvPr>
        </p:nvSpPr>
        <p:spPr/>
        <p:txBody>
          <a:bodyPr>
            <a:normAutofit lnSpcReduction="10000"/>
          </a:bodyPr>
          <a:lstStyle/>
          <a:p>
            <a:r>
              <a:rPr lang="en-US" dirty="0"/>
              <a:t>Data for each season are collected together in separate mini time plots</a:t>
            </a:r>
          </a:p>
          <a:p>
            <a:pPr lvl="1"/>
            <a:endParaRPr lang="en-US" dirty="0"/>
          </a:p>
          <a:p>
            <a:pPr lvl="2"/>
            <a:endParaRPr lang="en-US" dirty="0"/>
          </a:p>
        </p:txBody>
      </p:sp>
      <p:pic>
        <p:nvPicPr>
          <p:cNvPr id="4" name="Picture 3"/>
          <p:cNvPicPr>
            <a:picLocks noChangeAspect="1"/>
          </p:cNvPicPr>
          <p:nvPr/>
        </p:nvPicPr>
        <p:blipFill>
          <a:blip r:embed="rId2"/>
          <a:stretch>
            <a:fillRect/>
          </a:stretch>
        </p:blipFill>
        <p:spPr>
          <a:xfrm>
            <a:off x="673867" y="1895474"/>
            <a:ext cx="4519477" cy="2970603"/>
          </a:xfrm>
          <a:prstGeom prst="rect">
            <a:avLst/>
          </a:prstGeom>
        </p:spPr>
      </p:pic>
      <p:sp>
        <p:nvSpPr>
          <p:cNvPr id="6" name="Rectangle 5"/>
          <p:cNvSpPr/>
          <p:nvPr/>
        </p:nvSpPr>
        <p:spPr>
          <a:xfrm>
            <a:off x="1802553" y="5084211"/>
            <a:ext cx="2262103" cy="1200329"/>
          </a:xfrm>
          <a:prstGeom prst="rect">
            <a:avLst/>
          </a:prstGeom>
        </p:spPr>
        <p:txBody>
          <a:bodyPr wrap="square">
            <a:spAutoFit/>
          </a:bodyPr>
          <a:lstStyle/>
          <a:p>
            <a:r>
              <a:rPr lang="en-US" dirty="0"/>
              <a:t>Here, there is a clear increasing trend. There is also a strong seasonal pattern</a:t>
            </a:r>
          </a:p>
        </p:txBody>
      </p:sp>
      <p:pic>
        <p:nvPicPr>
          <p:cNvPr id="9" name="Picture 8">
            <a:extLst>
              <a:ext uri="{FF2B5EF4-FFF2-40B4-BE49-F238E27FC236}">
                <a16:creationId xmlns:a16="http://schemas.microsoft.com/office/drawing/2014/main" id="{ADA20A95-DFBA-CC31-5AD1-8FC8FC6A242F}"/>
              </a:ext>
            </a:extLst>
          </p:cNvPr>
          <p:cNvPicPr>
            <a:picLocks noChangeAspect="1"/>
          </p:cNvPicPr>
          <p:nvPr/>
        </p:nvPicPr>
        <p:blipFill>
          <a:blip r:embed="rId3"/>
          <a:stretch>
            <a:fillRect/>
          </a:stretch>
        </p:blipFill>
        <p:spPr>
          <a:xfrm>
            <a:off x="5742187" y="2054987"/>
            <a:ext cx="5608932" cy="2319428"/>
          </a:xfrm>
          <a:prstGeom prst="rect">
            <a:avLst/>
          </a:prstGeom>
        </p:spPr>
      </p:pic>
      <p:sp>
        <p:nvSpPr>
          <p:cNvPr id="10" name="Rectangle 9">
            <a:extLst>
              <a:ext uri="{FF2B5EF4-FFF2-40B4-BE49-F238E27FC236}">
                <a16:creationId xmlns:a16="http://schemas.microsoft.com/office/drawing/2014/main" id="{0BBF4EFF-9B57-DE8F-89BD-CDFE58972A22}"/>
              </a:ext>
            </a:extLst>
          </p:cNvPr>
          <p:cNvSpPr/>
          <p:nvPr/>
        </p:nvSpPr>
        <p:spPr>
          <a:xfrm>
            <a:off x="6733727" y="4620885"/>
            <a:ext cx="2262103" cy="923330"/>
          </a:xfrm>
          <a:prstGeom prst="rect">
            <a:avLst/>
          </a:prstGeom>
        </p:spPr>
        <p:txBody>
          <a:bodyPr wrap="square">
            <a:spAutoFit/>
          </a:bodyPr>
          <a:lstStyle/>
          <a:p>
            <a:r>
              <a:rPr lang="en-US" dirty="0"/>
              <a:t>Blue lines are the means for each month.</a:t>
            </a:r>
          </a:p>
        </p:txBody>
      </p:sp>
    </p:spTree>
    <p:extLst>
      <p:ext uri="{BB962C8B-B14F-4D97-AF65-F5344CB8AC3E}">
        <p14:creationId xmlns:p14="http://schemas.microsoft.com/office/powerpoint/2010/main" val="955212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 Series Graphics: Lag Plots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Scatter plots of a variable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oMath>
                </a14:m>
                <a:r>
                  <a:rPr lang="en-US" dirty="0"/>
                  <a:t>) in vertical axis vs. its lagged value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𝑘</m:t>
                        </m:r>
                      </m:sub>
                    </m:sSub>
                  </m:oMath>
                </a14:m>
                <a:r>
                  <a:rPr lang="en-US" dirty="0"/>
                  <a:t>) in horizontal axis</a:t>
                </a:r>
              </a:p>
              <a:p>
                <a:pPr lvl="1"/>
                <a:endParaRPr lang="en-US" dirty="0"/>
              </a:p>
              <a:p>
                <a:pPr lvl="1"/>
                <a:endParaRPr lang="en-US" dirty="0"/>
              </a:p>
              <a:p>
                <a:pPr lvl="2"/>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56" t="-2757"/>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F84A7148-55B9-C729-EB6E-93F3B6521B18}"/>
              </a:ext>
            </a:extLst>
          </p:cNvPr>
          <p:cNvPicPr>
            <a:picLocks noChangeAspect="1"/>
          </p:cNvPicPr>
          <p:nvPr/>
        </p:nvPicPr>
        <p:blipFill>
          <a:blip r:embed="rId3"/>
          <a:stretch>
            <a:fillRect/>
          </a:stretch>
        </p:blipFill>
        <p:spPr>
          <a:xfrm>
            <a:off x="5132795" y="1768317"/>
            <a:ext cx="4571927" cy="4864530"/>
          </a:xfrm>
          <a:prstGeom prst="rect">
            <a:avLst/>
          </a:prstGeom>
        </p:spPr>
      </p:pic>
      <p:pic>
        <p:nvPicPr>
          <p:cNvPr id="13" name="Picture 12">
            <a:extLst>
              <a:ext uri="{FF2B5EF4-FFF2-40B4-BE49-F238E27FC236}">
                <a16:creationId xmlns:a16="http://schemas.microsoft.com/office/drawing/2014/main" id="{1A79711E-DA1F-20BA-E42B-9B98650DC0B6}"/>
              </a:ext>
            </a:extLst>
          </p:cNvPr>
          <p:cNvPicPr>
            <a:picLocks noChangeAspect="1"/>
          </p:cNvPicPr>
          <p:nvPr/>
        </p:nvPicPr>
        <p:blipFill>
          <a:blip r:embed="rId4"/>
          <a:stretch>
            <a:fillRect/>
          </a:stretch>
        </p:blipFill>
        <p:spPr>
          <a:xfrm>
            <a:off x="289483" y="2071772"/>
            <a:ext cx="4265193" cy="3522609"/>
          </a:xfrm>
          <a:prstGeom prst="rect">
            <a:avLst/>
          </a:prstGeom>
        </p:spPr>
      </p:pic>
      <p:sp>
        <p:nvSpPr>
          <p:cNvPr id="14" name="Rectangle 13">
            <a:extLst>
              <a:ext uri="{FF2B5EF4-FFF2-40B4-BE49-F238E27FC236}">
                <a16:creationId xmlns:a16="http://schemas.microsoft.com/office/drawing/2014/main" id="{4BD31F35-2D80-7368-3956-67E13323B002}"/>
              </a:ext>
            </a:extLst>
          </p:cNvPr>
          <p:cNvSpPr/>
          <p:nvPr/>
        </p:nvSpPr>
        <p:spPr>
          <a:xfrm>
            <a:off x="9991566" y="3017239"/>
            <a:ext cx="2065650" cy="1754326"/>
          </a:xfrm>
          <a:prstGeom prst="rect">
            <a:avLst/>
          </a:prstGeom>
        </p:spPr>
        <p:txBody>
          <a:bodyPr wrap="square">
            <a:spAutoFit/>
          </a:bodyPr>
          <a:lstStyle/>
          <a:p>
            <a:r>
              <a:rPr lang="en-US" dirty="0"/>
              <a:t>Lag 4 and lag 8 show strong relationship, suggesting seasonality in the data.</a:t>
            </a:r>
          </a:p>
        </p:txBody>
      </p:sp>
    </p:spTree>
    <p:extLst>
      <p:ext uri="{BB962C8B-B14F-4D97-AF65-F5344CB8AC3E}">
        <p14:creationId xmlns:p14="http://schemas.microsoft.com/office/powerpoint/2010/main" val="1881726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 Series: Autocorrelation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Autocorrelation measures the linear relationship between lagged values of a time series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oMath>
                </a14:m>
                <a:r>
                  <a:rPr lang="en-US" dirty="0"/>
                  <a:t> measures the relationship between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b="0" i="1" smtClean="0">
                            <a:latin typeface="Cambria Math" panose="02040503050406030204" pitchFamily="18" charset="0"/>
                          </a:rPr>
                          <m:t>2</m:t>
                        </m:r>
                      </m:sub>
                    </m:sSub>
                  </m:oMath>
                </a14:m>
                <a:r>
                  <a:rPr lang="en-US" dirty="0"/>
                  <a:t> measures the relationship between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r>
                          <a:rPr lang="en-US" i="1">
                            <a:latin typeface="Cambria Math" panose="02040503050406030204" pitchFamily="18" charset="0"/>
                          </a:rPr>
                          <m:t>−2</m:t>
                        </m:r>
                      </m:sub>
                    </m:sSub>
                  </m:oMath>
                </a14:m>
                <a:endParaRPr lang="en-US" dirty="0"/>
              </a:p>
              <a:p>
                <a:pPr lvl="1"/>
                <a:r>
                  <a:rPr lang="en-US" dirty="0"/>
                  <a:t>For a time series of length </a:t>
                </a:r>
                <a14:m>
                  <m:oMath xmlns:m="http://schemas.openxmlformats.org/officeDocument/2006/math">
                    <m:r>
                      <a:rPr lang="en-US" b="0" i="1" smtClean="0">
                        <a:latin typeface="Cambria Math" panose="02040503050406030204" pitchFamily="18" charset="0"/>
                      </a:rPr>
                      <m:t>𝑇</m:t>
                    </m:r>
                  </m:oMath>
                </a14:m>
                <a:r>
                  <a:rPr lang="en-US" dirty="0"/>
                  <a:t>, the value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𝑘</m:t>
                        </m:r>
                      </m:sub>
                    </m:sSub>
                  </m:oMath>
                </a14:m>
                <a:r>
                  <a:rPr lang="en-US" dirty="0"/>
                  <a:t> is:</a:t>
                </a:r>
              </a:p>
              <a:p>
                <a:pPr lvl="1"/>
                <a:endParaRPr lang="en-US" dirty="0"/>
              </a:p>
              <a:p>
                <a:pPr lvl="1"/>
                <a:endParaRPr lang="en-US" dirty="0"/>
              </a:p>
              <a:p>
                <a:pPr lvl="1"/>
                <a:endParaRPr lang="en-US" dirty="0"/>
              </a:p>
              <a:p>
                <a:endParaRPr lang="en-US" dirty="0"/>
              </a:p>
              <a:p>
                <a:endParaRPr lang="en-US" dirty="0"/>
              </a:p>
              <a:p>
                <a:r>
                  <a:rPr lang="en-US" dirty="0"/>
                  <a:t>The autocorrelation coefficients make up the </a:t>
                </a:r>
                <a:r>
                  <a:rPr lang="en-US" i="1" dirty="0"/>
                  <a:t>autocorrelation function</a:t>
                </a:r>
                <a:r>
                  <a:rPr lang="en-US" dirty="0"/>
                  <a:t> or ACF</a:t>
                </a:r>
              </a:p>
              <a:p>
                <a:pPr lvl="2"/>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56" t="-2757" r="-1275"/>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1C5E0AB0-A07D-21E5-175C-25023978923E}"/>
              </a:ext>
            </a:extLst>
          </p:cNvPr>
          <p:cNvPicPr>
            <a:picLocks noChangeAspect="1"/>
          </p:cNvPicPr>
          <p:nvPr/>
        </p:nvPicPr>
        <p:blipFill>
          <a:blip r:embed="rId3"/>
          <a:stretch>
            <a:fillRect/>
          </a:stretch>
        </p:blipFill>
        <p:spPr>
          <a:xfrm>
            <a:off x="3884861" y="3243838"/>
            <a:ext cx="3554403" cy="1787717"/>
          </a:xfrm>
          <a:prstGeom prst="rect">
            <a:avLst/>
          </a:prstGeom>
        </p:spPr>
      </p:pic>
    </p:spTree>
    <p:extLst>
      <p:ext uri="{BB962C8B-B14F-4D97-AF65-F5344CB8AC3E}">
        <p14:creationId xmlns:p14="http://schemas.microsoft.com/office/powerpoint/2010/main" val="2819095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 Series: Autocorrelation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We usually plot the ACF to see how the correlations change with the lag </a:t>
                </a:r>
                <a14:m>
                  <m:oMath xmlns:m="http://schemas.openxmlformats.org/officeDocument/2006/math">
                    <m:r>
                      <a:rPr lang="en-US" b="0" i="1" smtClean="0">
                        <a:latin typeface="Cambria Math" panose="02040503050406030204" pitchFamily="18" charset="0"/>
                      </a:rPr>
                      <m:t>𝑘</m:t>
                    </m:r>
                  </m:oMath>
                </a14:m>
                <a:endParaRPr lang="en-US" dirty="0"/>
              </a:p>
              <a:p>
                <a:endParaRPr lang="en-US" dirty="0"/>
              </a:p>
              <a:p>
                <a:endParaRPr lang="en-US" dirty="0"/>
              </a:p>
              <a:p>
                <a:endParaRPr lang="en-US" dirty="0"/>
              </a:p>
              <a:p>
                <a:endParaRPr lang="en-US" dirty="0"/>
              </a:p>
              <a:p>
                <a:endParaRPr lang="en-US" dirty="0"/>
              </a:p>
              <a:p>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4</m:t>
                        </m:r>
                      </m:sub>
                    </m:sSub>
                  </m:oMath>
                </a14:m>
                <a:r>
                  <a:rPr lang="en-US" dirty="0"/>
                  <a:t> is higher than for the other lags. This is due to the seasonal pattern in the data: the peaks tend to be four quarters apart and the troughs tend to be four quarters apart</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oMath>
                </a14:m>
                <a:r>
                  <a:rPr lang="en-US" dirty="0"/>
                  <a:t> is more negative than for the other lags because troughs tend to be two quarters behind peaks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56" t="-2757" r="-797"/>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757FCE77-D487-ECC1-624F-65A6EF15DFB5}"/>
              </a:ext>
            </a:extLst>
          </p:cNvPr>
          <p:cNvPicPr>
            <a:picLocks noChangeAspect="1"/>
          </p:cNvPicPr>
          <p:nvPr/>
        </p:nvPicPr>
        <p:blipFill>
          <a:blip r:embed="rId3"/>
          <a:stretch>
            <a:fillRect/>
          </a:stretch>
        </p:blipFill>
        <p:spPr>
          <a:xfrm>
            <a:off x="4227377" y="1771157"/>
            <a:ext cx="7168161" cy="2478930"/>
          </a:xfrm>
          <a:prstGeom prst="rect">
            <a:avLst/>
          </a:prstGeom>
        </p:spPr>
      </p:pic>
      <p:pic>
        <p:nvPicPr>
          <p:cNvPr id="7" name="Picture 6">
            <a:extLst>
              <a:ext uri="{FF2B5EF4-FFF2-40B4-BE49-F238E27FC236}">
                <a16:creationId xmlns:a16="http://schemas.microsoft.com/office/drawing/2014/main" id="{BB87BC6D-4D8B-3CC3-69F7-D47354AFBB52}"/>
              </a:ext>
            </a:extLst>
          </p:cNvPr>
          <p:cNvPicPr>
            <a:picLocks noChangeAspect="1"/>
          </p:cNvPicPr>
          <p:nvPr/>
        </p:nvPicPr>
        <p:blipFill>
          <a:blip r:embed="rId4"/>
          <a:stretch>
            <a:fillRect/>
          </a:stretch>
        </p:blipFill>
        <p:spPr>
          <a:xfrm>
            <a:off x="257318" y="1771157"/>
            <a:ext cx="3068584" cy="2534334"/>
          </a:xfrm>
          <a:prstGeom prst="rect">
            <a:avLst/>
          </a:prstGeom>
        </p:spPr>
      </p:pic>
    </p:spTree>
    <p:extLst>
      <p:ext uri="{BB962C8B-B14F-4D97-AF65-F5344CB8AC3E}">
        <p14:creationId xmlns:p14="http://schemas.microsoft.com/office/powerpoint/2010/main" val="3983263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 Series: Autocorrelation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We usually plot the ACF to see how the correlations change with the lag </a:t>
                </a:r>
                <a14:m>
                  <m:oMath xmlns:m="http://schemas.openxmlformats.org/officeDocument/2006/math">
                    <m:r>
                      <a:rPr lang="en-US" b="0" i="1" smtClean="0">
                        <a:latin typeface="Cambria Math" panose="02040503050406030204" pitchFamily="18" charset="0"/>
                      </a:rPr>
                      <m:t>𝑘</m:t>
                    </m:r>
                  </m:oMath>
                </a14:m>
                <a:endParaRPr lang="en-US" dirty="0"/>
              </a:p>
              <a:p>
                <a:pPr lvl="1"/>
                <a:r>
                  <a:rPr lang="en-US" dirty="0"/>
                  <a:t>When data have a trend, the autocorrelations for small lags tend to be large and positive because observations nearby in time are also nearby in value</a:t>
                </a:r>
              </a:p>
              <a:p>
                <a:pPr lvl="2"/>
                <a:r>
                  <a:rPr lang="en-US" dirty="0"/>
                  <a:t>So the ACF of a trended time series tends to have positive values that slowly decrease as the lags increase</a:t>
                </a:r>
              </a:p>
              <a:p>
                <a:pPr lvl="1"/>
                <a:r>
                  <a:rPr lang="en-US" dirty="0"/>
                  <a:t>When data are seasonal, the autocorrelations will be larger for the seasonal lags (at multiples of the seasonal period) than for other lags</a:t>
                </a:r>
              </a:p>
              <a:p>
                <a:pPr lvl="1"/>
                <a:r>
                  <a:rPr lang="en-US" dirty="0"/>
                  <a:t>When data are both trended and seasonal, you see a combination of these effects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56" t="-2757"/>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8A06ED2F-2E6B-1E04-09C1-5C808EA08D4F}"/>
              </a:ext>
            </a:extLst>
          </p:cNvPr>
          <p:cNvPicPr>
            <a:picLocks noChangeAspect="1"/>
          </p:cNvPicPr>
          <p:nvPr/>
        </p:nvPicPr>
        <p:blipFill>
          <a:blip r:embed="rId3"/>
          <a:stretch>
            <a:fillRect/>
          </a:stretch>
        </p:blipFill>
        <p:spPr>
          <a:xfrm>
            <a:off x="5132587" y="4075002"/>
            <a:ext cx="6498825" cy="2254429"/>
          </a:xfrm>
          <a:prstGeom prst="rect">
            <a:avLst/>
          </a:prstGeom>
        </p:spPr>
      </p:pic>
      <p:pic>
        <p:nvPicPr>
          <p:cNvPr id="8" name="Picture 7">
            <a:extLst>
              <a:ext uri="{FF2B5EF4-FFF2-40B4-BE49-F238E27FC236}">
                <a16:creationId xmlns:a16="http://schemas.microsoft.com/office/drawing/2014/main" id="{5D24B6C0-6EE8-AB7F-25D5-09AD43413D38}"/>
              </a:ext>
            </a:extLst>
          </p:cNvPr>
          <p:cNvPicPr>
            <a:picLocks noChangeAspect="1"/>
          </p:cNvPicPr>
          <p:nvPr/>
        </p:nvPicPr>
        <p:blipFill>
          <a:blip r:embed="rId4"/>
          <a:stretch>
            <a:fillRect/>
          </a:stretch>
        </p:blipFill>
        <p:spPr>
          <a:xfrm>
            <a:off x="914399" y="4107631"/>
            <a:ext cx="3209195" cy="2109369"/>
          </a:xfrm>
          <a:prstGeom prst="rect">
            <a:avLst/>
          </a:prstGeom>
        </p:spPr>
      </p:pic>
    </p:spTree>
    <p:extLst>
      <p:ext uri="{BB962C8B-B14F-4D97-AF65-F5344CB8AC3E}">
        <p14:creationId xmlns:p14="http://schemas.microsoft.com/office/powerpoint/2010/main" val="2434828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Stationarity</a:t>
            </a:r>
          </a:p>
        </p:txBody>
      </p:sp>
      <p:sp>
        <p:nvSpPr>
          <p:cNvPr id="3" name="Content Placeholder 2"/>
          <p:cNvSpPr>
            <a:spLocks noGrp="1"/>
          </p:cNvSpPr>
          <p:nvPr>
            <p:ph idx="1"/>
          </p:nvPr>
        </p:nvSpPr>
        <p:spPr/>
        <p:txBody>
          <a:bodyPr>
            <a:normAutofit lnSpcReduction="10000"/>
          </a:bodyPr>
          <a:lstStyle/>
          <a:p>
            <a:r>
              <a:rPr lang="en-US" dirty="0"/>
              <a:t>A stationary time series is one whose statistical properties do not depend on the time at which the series is observed</a:t>
            </a:r>
          </a:p>
          <a:p>
            <a:pPr lvl="1"/>
            <a:r>
              <a:rPr lang="en-US" dirty="0"/>
              <a:t>A time series that is not stationary is non-stationary</a:t>
            </a:r>
          </a:p>
          <a:p>
            <a:pPr lvl="1"/>
            <a:r>
              <a:rPr lang="en-US" dirty="0"/>
              <a:t>Some  forecasting methods work on stationary time series</a:t>
            </a:r>
          </a:p>
          <a:p>
            <a:r>
              <a:rPr lang="en-US" dirty="0"/>
              <a:t>Time series with trend and/or with seasonality are not stationary</a:t>
            </a:r>
          </a:p>
          <a:p>
            <a:pPr lvl="1"/>
            <a:r>
              <a:rPr lang="en-US" dirty="0"/>
              <a:t>Trend and seasonality affect the value of time series at different times</a:t>
            </a:r>
          </a:p>
          <a:p>
            <a:r>
              <a:rPr lang="en-US" dirty="0"/>
              <a:t>White noise series is stationary</a:t>
            </a:r>
          </a:p>
          <a:p>
            <a:pPr lvl="1"/>
            <a:r>
              <a:rPr lang="en-US" dirty="0"/>
              <a:t>Time series that show no autocorrelation are called </a:t>
            </a:r>
            <a:r>
              <a:rPr lang="en-US" dirty="0">
                <a:solidFill>
                  <a:srgbClr val="C00000"/>
                </a:solidFill>
              </a:rPr>
              <a:t>white noise</a:t>
            </a:r>
          </a:p>
          <a:p>
            <a:pPr lvl="1"/>
            <a:r>
              <a:rPr lang="en-US" dirty="0"/>
              <a:t>It does not matter when you observe it, it should look much the same at any point in time</a:t>
            </a:r>
          </a:p>
          <a:p>
            <a:r>
              <a:rPr lang="en-US" dirty="0"/>
              <a:t>A time series with cyclic behavior (but with no trend or seasonality) is stationary</a:t>
            </a:r>
          </a:p>
          <a:p>
            <a:pPr lvl="1"/>
            <a:r>
              <a:rPr lang="en-US" dirty="0"/>
              <a:t>Cycles are not of a fixed length, so before we observe the series, we cannot be sure where the peaks and bottoms of the cycles will be</a:t>
            </a:r>
          </a:p>
          <a:p>
            <a:endParaRPr lang="en-US" dirty="0"/>
          </a:p>
        </p:txBody>
      </p:sp>
    </p:spTree>
    <p:extLst>
      <p:ext uri="{BB962C8B-B14F-4D97-AF65-F5344CB8AC3E}">
        <p14:creationId xmlns:p14="http://schemas.microsoft.com/office/powerpoint/2010/main" val="3441355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Stationarity</a:t>
            </a:r>
          </a:p>
        </p:txBody>
      </p:sp>
      <p:sp>
        <p:nvSpPr>
          <p:cNvPr id="3" name="Content Placeholder 2"/>
          <p:cNvSpPr>
            <a:spLocks noGrp="1"/>
          </p:cNvSpPr>
          <p:nvPr>
            <p:ph idx="1"/>
          </p:nvPr>
        </p:nvSpPr>
        <p:spPr/>
        <p:txBody>
          <a:bodyPr>
            <a:normAutofit lnSpcReduction="10000"/>
          </a:bodyPr>
          <a:lstStyle/>
          <a:p>
            <a:endParaRPr lang="en-US" dirty="0"/>
          </a:p>
        </p:txBody>
      </p:sp>
      <p:pic>
        <p:nvPicPr>
          <p:cNvPr id="4" name="Picture 3">
            <a:extLst>
              <a:ext uri="{FF2B5EF4-FFF2-40B4-BE49-F238E27FC236}">
                <a16:creationId xmlns:a16="http://schemas.microsoft.com/office/drawing/2014/main" id="{2BB2B50C-A59C-3D2A-83A7-9E9D654946FC}"/>
              </a:ext>
            </a:extLst>
          </p:cNvPr>
          <p:cNvPicPr>
            <a:picLocks noChangeAspect="1"/>
          </p:cNvPicPr>
          <p:nvPr/>
        </p:nvPicPr>
        <p:blipFill>
          <a:blip r:embed="rId2"/>
          <a:stretch>
            <a:fillRect/>
          </a:stretch>
        </p:blipFill>
        <p:spPr>
          <a:xfrm>
            <a:off x="422399" y="1312432"/>
            <a:ext cx="6751036" cy="4972107"/>
          </a:xfrm>
          <a:prstGeom prst="rect">
            <a:avLst/>
          </a:prstGeom>
        </p:spPr>
      </p:pic>
      <p:sp>
        <p:nvSpPr>
          <p:cNvPr id="5" name="Content Placeholder 9">
            <a:extLst>
              <a:ext uri="{FF2B5EF4-FFF2-40B4-BE49-F238E27FC236}">
                <a16:creationId xmlns:a16="http://schemas.microsoft.com/office/drawing/2014/main" id="{9B1D2A19-FF0D-29DE-9CDE-7473D5657309}"/>
              </a:ext>
            </a:extLst>
          </p:cNvPr>
          <p:cNvSpPr txBox="1">
            <a:spLocks/>
          </p:cNvSpPr>
          <p:nvPr/>
        </p:nvSpPr>
        <p:spPr>
          <a:xfrm>
            <a:off x="7723962" y="1481002"/>
            <a:ext cx="2986924"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(d), (h), (i) have seasonality </a:t>
            </a:r>
          </a:p>
          <a:p>
            <a:r>
              <a:rPr lang="en-US" sz="2400" dirty="0"/>
              <a:t>(a), (e), (i) have trends</a:t>
            </a:r>
          </a:p>
          <a:p>
            <a:r>
              <a:rPr lang="en-US" sz="2400" dirty="0"/>
              <a:t>(c), (f) have changing levels</a:t>
            </a:r>
          </a:p>
          <a:p>
            <a:r>
              <a:rPr lang="en-US" sz="2400" dirty="0"/>
              <a:t>(i) also has increasing variance</a:t>
            </a:r>
          </a:p>
          <a:p>
            <a:r>
              <a:rPr lang="en-US" sz="2400" dirty="0"/>
              <a:t>In (g), cycles are aperiodic</a:t>
            </a:r>
          </a:p>
          <a:p>
            <a:r>
              <a:rPr lang="en-US" sz="2400" b="1" dirty="0">
                <a:solidFill>
                  <a:srgbClr val="C00000"/>
                </a:solidFill>
              </a:rPr>
              <a:t>(b) and (g) are stationary</a:t>
            </a:r>
          </a:p>
          <a:p>
            <a:endParaRPr lang="en-US" sz="2400" dirty="0"/>
          </a:p>
        </p:txBody>
      </p:sp>
    </p:spTree>
    <p:extLst>
      <p:ext uri="{BB962C8B-B14F-4D97-AF65-F5344CB8AC3E}">
        <p14:creationId xmlns:p14="http://schemas.microsoft.com/office/powerpoint/2010/main" val="2277309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Stationarity</a:t>
            </a:r>
          </a:p>
        </p:txBody>
      </p:sp>
      <p:sp>
        <p:nvSpPr>
          <p:cNvPr id="3" name="Content Placeholder 2"/>
          <p:cNvSpPr>
            <a:spLocks noGrp="1"/>
          </p:cNvSpPr>
          <p:nvPr>
            <p:ph idx="1"/>
          </p:nvPr>
        </p:nvSpPr>
        <p:spPr/>
        <p:txBody>
          <a:bodyPr>
            <a:normAutofit lnSpcReduction="10000"/>
          </a:bodyPr>
          <a:lstStyle/>
          <a:p>
            <a:r>
              <a:rPr lang="en-US" dirty="0"/>
              <a:t>In general, a stationary time series will have no predictable patterns in the long-term</a:t>
            </a:r>
          </a:p>
          <a:p>
            <a:pPr lvl="1"/>
            <a:r>
              <a:rPr lang="en-US" dirty="0"/>
              <a:t>Time plots will show the series to be roughly horizontal (although some cyclic behavior is possible), with constant variance</a:t>
            </a:r>
          </a:p>
          <a:p>
            <a:pPr marL="0" indent="0">
              <a:buNone/>
            </a:pPr>
            <a:endParaRPr lang="en-US" dirty="0"/>
          </a:p>
        </p:txBody>
      </p:sp>
      <p:pic>
        <p:nvPicPr>
          <p:cNvPr id="4" name="Picture 3">
            <a:extLst>
              <a:ext uri="{FF2B5EF4-FFF2-40B4-BE49-F238E27FC236}">
                <a16:creationId xmlns:a16="http://schemas.microsoft.com/office/drawing/2014/main" id="{8B35634D-A6E5-0957-F992-69BB936A5E3F}"/>
              </a:ext>
            </a:extLst>
          </p:cNvPr>
          <p:cNvPicPr>
            <a:picLocks noChangeAspect="1"/>
          </p:cNvPicPr>
          <p:nvPr/>
        </p:nvPicPr>
        <p:blipFill>
          <a:blip r:embed="rId2"/>
          <a:stretch>
            <a:fillRect/>
          </a:stretch>
        </p:blipFill>
        <p:spPr>
          <a:xfrm>
            <a:off x="6116369" y="2911801"/>
            <a:ext cx="2240209" cy="1496275"/>
          </a:xfrm>
          <a:prstGeom prst="rect">
            <a:avLst/>
          </a:prstGeom>
        </p:spPr>
      </p:pic>
      <p:pic>
        <p:nvPicPr>
          <p:cNvPr id="5" name="Picture 4">
            <a:extLst>
              <a:ext uri="{FF2B5EF4-FFF2-40B4-BE49-F238E27FC236}">
                <a16:creationId xmlns:a16="http://schemas.microsoft.com/office/drawing/2014/main" id="{24CA444C-492D-A915-56B6-9C758263AEDE}"/>
              </a:ext>
            </a:extLst>
          </p:cNvPr>
          <p:cNvPicPr>
            <a:picLocks noChangeAspect="1"/>
          </p:cNvPicPr>
          <p:nvPr/>
        </p:nvPicPr>
        <p:blipFill>
          <a:blip r:embed="rId3"/>
          <a:stretch>
            <a:fillRect/>
          </a:stretch>
        </p:blipFill>
        <p:spPr>
          <a:xfrm>
            <a:off x="6261075" y="4638156"/>
            <a:ext cx="2059479" cy="1508884"/>
          </a:xfrm>
          <a:prstGeom prst="rect">
            <a:avLst/>
          </a:prstGeom>
        </p:spPr>
      </p:pic>
      <p:pic>
        <p:nvPicPr>
          <p:cNvPr id="6" name="Picture 5">
            <a:extLst>
              <a:ext uri="{FF2B5EF4-FFF2-40B4-BE49-F238E27FC236}">
                <a16:creationId xmlns:a16="http://schemas.microsoft.com/office/drawing/2014/main" id="{18B6396C-C2E6-A581-17DE-ED6C0D874EAA}"/>
              </a:ext>
            </a:extLst>
          </p:cNvPr>
          <p:cNvPicPr>
            <a:picLocks noChangeAspect="1"/>
          </p:cNvPicPr>
          <p:nvPr/>
        </p:nvPicPr>
        <p:blipFill>
          <a:blip r:embed="rId4"/>
          <a:stretch>
            <a:fillRect/>
          </a:stretch>
        </p:blipFill>
        <p:spPr>
          <a:xfrm>
            <a:off x="9023308" y="2819997"/>
            <a:ext cx="2579573" cy="1679885"/>
          </a:xfrm>
          <a:prstGeom prst="rect">
            <a:avLst/>
          </a:prstGeom>
        </p:spPr>
      </p:pic>
      <p:pic>
        <p:nvPicPr>
          <p:cNvPr id="7" name="Picture 6">
            <a:extLst>
              <a:ext uri="{FF2B5EF4-FFF2-40B4-BE49-F238E27FC236}">
                <a16:creationId xmlns:a16="http://schemas.microsoft.com/office/drawing/2014/main" id="{1C403CCF-3BB6-D7F1-EA47-1DB146242658}"/>
              </a:ext>
            </a:extLst>
          </p:cNvPr>
          <p:cNvPicPr>
            <a:picLocks noChangeAspect="1"/>
          </p:cNvPicPr>
          <p:nvPr/>
        </p:nvPicPr>
        <p:blipFill>
          <a:blip r:embed="rId5"/>
          <a:stretch>
            <a:fillRect/>
          </a:stretch>
        </p:blipFill>
        <p:spPr>
          <a:xfrm>
            <a:off x="9061276" y="4638156"/>
            <a:ext cx="2541605" cy="1646384"/>
          </a:xfrm>
          <a:prstGeom prst="rect">
            <a:avLst/>
          </a:prstGeom>
        </p:spPr>
      </p:pic>
      <p:sp>
        <p:nvSpPr>
          <p:cNvPr id="8" name="Arrow: Right 7">
            <a:extLst>
              <a:ext uri="{FF2B5EF4-FFF2-40B4-BE49-F238E27FC236}">
                <a16:creationId xmlns:a16="http://schemas.microsoft.com/office/drawing/2014/main" id="{18DF9DB7-0FEC-08BE-6BD2-86958627B936}"/>
              </a:ext>
            </a:extLst>
          </p:cNvPr>
          <p:cNvSpPr/>
          <p:nvPr/>
        </p:nvSpPr>
        <p:spPr>
          <a:xfrm>
            <a:off x="8526200" y="3530873"/>
            <a:ext cx="402511" cy="2581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A10C9963-2E2E-31CA-4F68-6C57537943C1}"/>
              </a:ext>
            </a:extLst>
          </p:cNvPr>
          <p:cNvSpPr/>
          <p:nvPr/>
        </p:nvSpPr>
        <p:spPr>
          <a:xfrm>
            <a:off x="8557617" y="5270293"/>
            <a:ext cx="402511" cy="2581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8B99915-16C9-87BA-5AEF-4058A54A1048}"/>
              </a:ext>
            </a:extLst>
          </p:cNvPr>
          <p:cNvSpPr txBox="1"/>
          <p:nvPr/>
        </p:nvSpPr>
        <p:spPr>
          <a:xfrm>
            <a:off x="350407" y="2693804"/>
            <a:ext cx="5673605" cy="3293209"/>
          </a:xfrm>
          <a:prstGeom prst="rect">
            <a:avLst/>
          </a:prstGeom>
          <a:noFill/>
        </p:spPr>
        <p:txBody>
          <a:bodyPr wrap="square">
            <a:spAutoFit/>
          </a:bodyPr>
          <a:lstStyle/>
          <a:p>
            <a:pPr marL="285750" indent="-285750">
              <a:buFont typeface="Arial" panose="020B0604020202020204" pitchFamily="34" charset="0"/>
              <a:buChar char="•"/>
            </a:pPr>
            <a:r>
              <a:rPr lang="en-US" sz="2800" dirty="0"/>
              <a:t>As well as the time plot of the data, the Auto Correlation Function (ACF) plot is also useful for identifying non-stationary time series. </a:t>
            </a:r>
          </a:p>
          <a:p>
            <a:pPr marL="742950" lvl="1" indent="-285750">
              <a:buFont typeface="Arial" panose="020B0604020202020204" pitchFamily="34" charset="0"/>
              <a:buChar char="•"/>
            </a:pPr>
            <a:r>
              <a:rPr lang="en-US" sz="2400" dirty="0"/>
              <a:t>For a stationary time series, the ACF will drop to zero relatively quickly</a:t>
            </a:r>
          </a:p>
          <a:p>
            <a:pPr marL="742950" lvl="1" indent="-285750">
              <a:buFont typeface="Arial" panose="020B0604020202020204" pitchFamily="34" charset="0"/>
              <a:buChar char="•"/>
            </a:pPr>
            <a:r>
              <a:rPr lang="en-US" sz="2400" dirty="0"/>
              <a:t>The ACF of non-stationary data decreases slowly</a:t>
            </a:r>
          </a:p>
        </p:txBody>
      </p:sp>
    </p:spTree>
    <p:extLst>
      <p:ext uri="{BB962C8B-B14F-4D97-AF65-F5344CB8AC3E}">
        <p14:creationId xmlns:p14="http://schemas.microsoft.com/office/powerpoint/2010/main" val="41511558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D7F1A-46F7-C1F6-251C-CD6F5E234E45}"/>
              </a:ext>
            </a:extLst>
          </p:cNvPr>
          <p:cNvSpPr>
            <a:spLocks noGrp="1"/>
          </p:cNvSpPr>
          <p:nvPr>
            <p:ph type="title"/>
          </p:nvPr>
        </p:nvSpPr>
        <p:spPr/>
        <p:txBody>
          <a:bodyPr/>
          <a:lstStyle/>
          <a:p>
            <a:r>
              <a:rPr lang="en-US" dirty="0"/>
              <a:t>Stationarity</a:t>
            </a:r>
          </a:p>
        </p:txBody>
      </p:sp>
      <p:sp>
        <p:nvSpPr>
          <p:cNvPr id="3" name="Content Placeholder 2">
            <a:extLst>
              <a:ext uri="{FF2B5EF4-FFF2-40B4-BE49-F238E27FC236}">
                <a16:creationId xmlns:a16="http://schemas.microsoft.com/office/drawing/2014/main" id="{BB5CB9FC-1EE3-9A0B-37AD-8F95728C78C4}"/>
              </a:ext>
            </a:extLst>
          </p:cNvPr>
          <p:cNvSpPr>
            <a:spLocks noGrp="1"/>
          </p:cNvSpPr>
          <p:nvPr>
            <p:ph idx="1"/>
          </p:nvPr>
        </p:nvSpPr>
        <p:spPr/>
        <p:txBody>
          <a:bodyPr/>
          <a:lstStyle/>
          <a:p>
            <a:r>
              <a:rPr lang="en-US" dirty="0"/>
              <a:t>Time plots and ACF plots can be used to visually check stationarity</a:t>
            </a:r>
          </a:p>
          <a:p>
            <a:r>
              <a:rPr lang="en-US" dirty="0"/>
              <a:t>One way to determine more objectively whether a time series is stationary is to use a </a:t>
            </a:r>
            <a:r>
              <a:rPr lang="en-US" b="1" dirty="0">
                <a:solidFill>
                  <a:srgbClr val="C00000"/>
                </a:solidFill>
              </a:rPr>
              <a:t>unit root test</a:t>
            </a:r>
          </a:p>
          <a:p>
            <a:pPr lvl="1"/>
            <a:r>
              <a:rPr lang="en-US" dirty="0"/>
              <a:t>These are statistical hypothesis tests of stationarity that are designed for determining whether a time series is stationary</a:t>
            </a:r>
          </a:p>
          <a:p>
            <a:pPr lvl="1"/>
            <a:r>
              <a:rPr lang="en-US" dirty="0"/>
              <a:t>Several unit root tests are available, which are based on different assumptions and may lead to conflicting answers</a:t>
            </a:r>
          </a:p>
          <a:p>
            <a:r>
              <a:rPr lang="en-US" dirty="0">
                <a:solidFill>
                  <a:srgbClr val="C00000"/>
                </a:solidFill>
              </a:rPr>
              <a:t>Kwiatkowski-Phillips-Schmidt-Shin (KPSS) test:</a:t>
            </a:r>
            <a:r>
              <a:rPr lang="en-US" dirty="0">
                <a:solidFill>
                  <a:schemeClr val="tx1"/>
                </a:solidFill>
              </a:rPr>
              <a:t> </a:t>
            </a:r>
          </a:p>
          <a:p>
            <a:pPr lvl="1"/>
            <a:r>
              <a:rPr lang="en-US" dirty="0"/>
              <a:t>The null hypothesis is that the data are stationary, and we look for evidence that the null hypothesis is false.</a:t>
            </a:r>
          </a:p>
          <a:p>
            <a:pPr lvl="1"/>
            <a:r>
              <a:rPr lang="en-US" dirty="0"/>
              <a:t>Small p-values (e.g., &lt;0.05) suggest that time series is non-stationary</a:t>
            </a:r>
          </a:p>
          <a:p>
            <a:pPr lvl="1"/>
            <a:endParaRPr lang="en-US" dirty="0"/>
          </a:p>
          <a:p>
            <a:pPr lvl="1"/>
            <a:r>
              <a:rPr lang="en-US" dirty="0"/>
              <a:t>See </a:t>
            </a:r>
            <a:r>
              <a:rPr lang="en-US" dirty="0">
                <a:hlinkClick r:id="rId2"/>
              </a:rPr>
              <a:t>https://en.wikipedia.org/wiki/Unit_root_test</a:t>
            </a:r>
            <a:r>
              <a:rPr lang="en-US" dirty="0"/>
              <a:t> for other tests</a:t>
            </a:r>
          </a:p>
        </p:txBody>
      </p:sp>
    </p:spTree>
    <p:extLst>
      <p:ext uri="{BB962C8B-B14F-4D97-AF65-F5344CB8AC3E}">
        <p14:creationId xmlns:p14="http://schemas.microsoft.com/office/powerpoint/2010/main" val="4117168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D7F1A-46F7-C1F6-251C-CD6F5E234E45}"/>
              </a:ext>
            </a:extLst>
          </p:cNvPr>
          <p:cNvSpPr>
            <a:spLocks noGrp="1"/>
          </p:cNvSpPr>
          <p:nvPr>
            <p:ph type="title"/>
          </p:nvPr>
        </p:nvSpPr>
        <p:spPr/>
        <p:txBody>
          <a:bodyPr/>
          <a:lstStyle/>
          <a:p>
            <a:r>
              <a:rPr lang="en-US" dirty="0"/>
              <a:t>Time Series Decomposition</a:t>
            </a:r>
          </a:p>
        </p:txBody>
      </p:sp>
      <p:sp>
        <p:nvSpPr>
          <p:cNvPr id="3" name="Content Placeholder 2">
            <a:extLst>
              <a:ext uri="{FF2B5EF4-FFF2-40B4-BE49-F238E27FC236}">
                <a16:creationId xmlns:a16="http://schemas.microsoft.com/office/drawing/2014/main" id="{BB5CB9FC-1EE3-9A0B-37AD-8F95728C78C4}"/>
              </a:ext>
            </a:extLst>
          </p:cNvPr>
          <p:cNvSpPr>
            <a:spLocks noGrp="1"/>
          </p:cNvSpPr>
          <p:nvPr>
            <p:ph idx="1"/>
          </p:nvPr>
        </p:nvSpPr>
        <p:spPr/>
        <p:txBody>
          <a:bodyPr/>
          <a:lstStyle/>
          <a:p>
            <a:r>
              <a:rPr lang="en-US" dirty="0"/>
              <a:t>It is often helpful to split a time series into several components, each representing an underlying pattern category</a:t>
            </a:r>
          </a:p>
          <a:p>
            <a:r>
              <a:rPr lang="en-US" dirty="0"/>
              <a:t>Three main components of a time series: </a:t>
            </a:r>
          </a:p>
          <a:p>
            <a:pPr lvl="1"/>
            <a:r>
              <a:rPr lang="en-US" dirty="0"/>
              <a:t>Trend-cycle component (trend and cycles are combined, trend for simplicity), a seasonal component, and remainder component (anything that remains)</a:t>
            </a:r>
          </a:p>
          <a:p>
            <a:r>
              <a:rPr lang="en-US" dirty="0"/>
              <a:t>Adjusting the historical data can often lead to a simpler time series:</a:t>
            </a:r>
          </a:p>
          <a:p>
            <a:pPr lvl="1"/>
            <a:r>
              <a:rPr lang="en-US" dirty="0"/>
              <a:t>Calendar adjustments</a:t>
            </a:r>
          </a:p>
          <a:p>
            <a:pPr marL="914400" lvl="2" indent="0">
              <a:buNone/>
            </a:pPr>
            <a:r>
              <a:rPr lang="en-US" dirty="0"/>
              <a:t>Some months might have more work-days: e.g., compute avg value sales per day in each month</a:t>
            </a:r>
          </a:p>
          <a:p>
            <a:pPr lvl="1"/>
            <a:r>
              <a:rPr lang="en-US" dirty="0"/>
              <a:t>Population adjustments</a:t>
            </a:r>
          </a:p>
          <a:p>
            <a:pPr lvl="2"/>
            <a:r>
              <a:rPr lang="en-US" dirty="0"/>
              <a:t>Rather than looking at the total, we can look at the data per capita (per person)</a:t>
            </a:r>
          </a:p>
          <a:p>
            <a:pPr lvl="1"/>
            <a:r>
              <a:rPr lang="en-US" dirty="0"/>
              <a:t>Inflation adjustments</a:t>
            </a:r>
          </a:p>
          <a:p>
            <a:pPr lvl="2"/>
            <a:r>
              <a:rPr lang="en-US" dirty="0"/>
              <a:t>For data affected by the value of money, inflation adjustments can be needed</a:t>
            </a:r>
          </a:p>
          <a:p>
            <a:pPr lvl="1"/>
            <a:r>
              <a:rPr lang="en-US" dirty="0"/>
              <a:t>Mathematical transformations: when variations change over time</a:t>
            </a:r>
          </a:p>
        </p:txBody>
      </p:sp>
    </p:spTree>
    <p:extLst>
      <p:ext uri="{BB962C8B-B14F-4D97-AF65-F5344CB8AC3E}">
        <p14:creationId xmlns:p14="http://schemas.microsoft.com/office/powerpoint/2010/main" val="4081815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 Series Decomposition</a:t>
            </a:r>
          </a:p>
        </p:txBody>
      </p:sp>
      <p:sp>
        <p:nvSpPr>
          <p:cNvPr id="3" name="Content Placeholder 2"/>
          <p:cNvSpPr>
            <a:spLocks noGrp="1"/>
          </p:cNvSpPr>
          <p:nvPr>
            <p:ph idx="1"/>
          </p:nvPr>
        </p:nvSpPr>
        <p:spPr>
          <a:xfrm>
            <a:off x="355002" y="1312433"/>
            <a:ext cx="5740998" cy="4864530"/>
          </a:xfrm>
        </p:spPr>
        <p:txBody>
          <a:bodyPr>
            <a:normAutofit lnSpcReduction="10000"/>
          </a:bodyPr>
          <a:lstStyle/>
          <a:p>
            <a:r>
              <a:rPr lang="en-US" dirty="0"/>
              <a:t>Two main ways to decompose a time series</a:t>
            </a:r>
          </a:p>
          <a:p>
            <a:pPr lvl="1"/>
            <a:r>
              <a:rPr lang="en-US" dirty="0"/>
              <a:t>Additive:</a:t>
            </a:r>
          </a:p>
          <a:p>
            <a:pPr marL="457200" lvl="1" indent="0">
              <a:buNone/>
            </a:pPr>
            <a:r>
              <a:rPr lang="en-US" dirty="0"/>
              <a:t> S = trend-cycle + seasonal + remainder</a:t>
            </a:r>
          </a:p>
          <a:p>
            <a:pPr lvl="2"/>
            <a:r>
              <a:rPr lang="en-US" dirty="0"/>
              <a:t>The additive decomposition is the most appropriate if the magnitude of the seasonal fluctuations, or the variation around the trend, does not vary with the level of the time series</a:t>
            </a:r>
          </a:p>
          <a:p>
            <a:pPr lvl="1"/>
            <a:r>
              <a:rPr lang="en-US" dirty="0"/>
              <a:t>Multiplicative:</a:t>
            </a:r>
          </a:p>
          <a:p>
            <a:pPr marL="457200" lvl="1" indent="0">
              <a:buNone/>
            </a:pPr>
            <a:r>
              <a:rPr lang="en-US" dirty="0"/>
              <a:t>S = trend-cycle x seasonal x remainder</a:t>
            </a:r>
          </a:p>
          <a:p>
            <a:pPr lvl="2"/>
            <a:r>
              <a:rPr lang="en-US" dirty="0"/>
              <a:t>When the variation in the seasonal pattern, or the variation around the trend-cycle, appears to be proportional to the level of the time series, then a multiplicative decomposition is more appropriate</a:t>
            </a:r>
          </a:p>
        </p:txBody>
      </p:sp>
      <p:pic>
        <p:nvPicPr>
          <p:cNvPr id="5" name="Picture 4">
            <a:extLst>
              <a:ext uri="{FF2B5EF4-FFF2-40B4-BE49-F238E27FC236}">
                <a16:creationId xmlns:a16="http://schemas.microsoft.com/office/drawing/2014/main" id="{4ED24981-14C3-DDB6-EBA9-6515C537F2C1}"/>
              </a:ext>
            </a:extLst>
          </p:cNvPr>
          <p:cNvPicPr>
            <a:picLocks noChangeAspect="1"/>
          </p:cNvPicPr>
          <p:nvPr/>
        </p:nvPicPr>
        <p:blipFill>
          <a:blip r:embed="rId2"/>
          <a:stretch>
            <a:fillRect/>
          </a:stretch>
        </p:blipFill>
        <p:spPr>
          <a:xfrm>
            <a:off x="6435070" y="1312433"/>
            <a:ext cx="5449257" cy="5162454"/>
          </a:xfrm>
          <a:prstGeom prst="rect">
            <a:avLst/>
          </a:prstGeom>
        </p:spPr>
      </p:pic>
    </p:spTree>
    <p:extLst>
      <p:ext uri="{BB962C8B-B14F-4D97-AF65-F5344CB8AC3E}">
        <p14:creationId xmlns:p14="http://schemas.microsoft.com/office/powerpoint/2010/main" val="3139984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D7F1A-46F7-C1F6-251C-CD6F5E234E45}"/>
              </a:ext>
            </a:extLst>
          </p:cNvPr>
          <p:cNvSpPr>
            <a:spLocks noGrp="1"/>
          </p:cNvSpPr>
          <p:nvPr>
            <p:ph type="title"/>
          </p:nvPr>
        </p:nvSpPr>
        <p:spPr/>
        <p:txBody>
          <a:bodyPr/>
          <a:lstStyle/>
          <a:p>
            <a:r>
              <a:rPr lang="en-US" dirty="0"/>
              <a:t>Moving Averages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B5CB9FC-1EE3-9A0B-37AD-8F95728C78C4}"/>
                  </a:ext>
                </a:extLst>
              </p:cNvPr>
              <p:cNvSpPr>
                <a:spLocks noGrp="1"/>
              </p:cNvSpPr>
              <p:nvPr>
                <p:ph idx="1"/>
              </p:nvPr>
            </p:nvSpPr>
            <p:spPr/>
            <p:txBody>
              <a:bodyPr/>
              <a:lstStyle/>
              <a:p>
                <a:r>
                  <a:rPr lang="en-US" dirty="0"/>
                  <a:t>The first step in a classical decomposition is to use a moving average method to estimate the trend-cycle</a:t>
                </a:r>
              </a:p>
              <a:p>
                <a:pPr lvl="1"/>
                <a:r>
                  <a:rPr lang="en-US" dirty="0"/>
                  <a:t>The estimate of the trend-cycle at time </a:t>
                </a:r>
                <a14:m>
                  <m:oMath xmlns:m="http://schemas.openxmlformats.org/officeDocument/2006/math">
                    <m:r>
                      <a:rPr lang="en-US" b="0" i="1" smtClean="0">
                        <a:latin typeface="Cambria Math" panose="02040503050406030204" pitchFamily="18" charset="0"/>
                      </a:rPr>
                      <m:t>𝑡</m:t>
                    </m:r>
                  </m:oMath>
                </a14:m>
                <a:r>
                  <a:rPr lang="en-US" dirty="0"/>
                  <a:t> is obtained by averaging values of the time series within </a:t>
                </a:r>
                <a14:m>
                  <m:oMath xmlns:m="http://schemas.openxmlformats.org/officeDocument/2006/math">
                    <m:r>
                      <a:rPr lang="en-US" b="0" i="1" smtClean="0">
                        <a:latin typeface="Cambria Math" panose="02040503050406030204" pitchFamily="18" charset="0"/>
                      </a:rPr>
                      <m:t>𝑘</m:t>
                    </m:r>
                  </m:oMath>
                </a14:m>
                <a:r>
                  <a:rPr lang="en-US" dirty="0"/>
                  <a:t> periods of </a:t>
                </a:r>
                <a14:m>
                  <m:oMath xmlns:m="http://schemas.openxmlformats.org/officeDocument/2006/math">
                    <m:r>
                      <a:rPr lang="en-US" b="0" i="1" smtClean="0">
                        <a:latin typeface="Cambria Math" panose="02040503050406030204" pitchFamily="18" charset="0"/>
                      </a:rPr>
                      <m:t>𝑡</m:t>
                    </m:r>
                  </m:oMath>
                </a14:m>
                <a:endParaRPr lang="en-US" b="0" dirty="0"/>
              </a:p>
              <a:p>
                <a:r>
                  <a:rPr lang="en-US" dirty="0">
                    <a:solidFill>
                      <a:srgbClr val="C00000"/>
                    </a:solidFill>
                  </a:rPr>
                  <a:t>A moving average of order </a:t>
                </a:r>
                <a14:m>
                  <m:oMath xmlns:m="http://schemas.openxmlformats.org/officeDocument/2006/math">
                    <m:r>
                      <a:rPr lang="en-US" b="0" i="1" smtClean="0">
                        <a:solidFill>
                          <a:srgbClr val="C00000"/>
                        </a:solidFill>
                        <a:latin typeface="Cambria Math" panose="02040503050406030204" pitchFamily="18" charset="0"/>
                      </a:rPr>
                      <m:t>𝑚</m:t>
                    </m:r>
                  </m:oMath>
                </a14:m>
                <a:r>
                  <a:rPr lang="en-US" dirty="0"/>
                  <a:t>: </a:t>
                </a:r>
                <a14:m>
                  <m:oMath xmlns:m="http://schemas.openxmlformats.org/officeDocument/2006/math">
                    <m:r>
                      <a:rPr lang="en-US" b="0" i="1" smtClean="0">
                        <a:latin typeface="Cambria Math" panose="02040503050406030204" pitchFamily="18" charset="0"/>
                      </a:rPr>
                      <m:t>𝑚</m:t>
                    </m:r>
                  </m:oMath>
                </a14:m>
                <a:r>
                  <a:rPr lang="en-US" dirty="0"/>
                  <a:t>-MA</a:t>
                </a:r>
              </a:p>
              <a:p>
                <a:endParaRPr lang="en-US" dirty="0"/>
              </a:p>
              <a:p>
                <a:endParaRPr lang="en-US" dirty="0"/>
              </a:p>
              <a:p>
                <a:endParaRPr lang="en-US" dirty="0"/>
              </a:p>
              <a:p>
                <a:endParaRPr lang="en-US" dirty="0"/>
              </a:p>
              <a:p>
                <a:pPr lvl="3"/>
                <a:endParaRPr lang="en-US" dirty="0"/>
              </a:p>
              <a:p>
                <a:pPr lvl="1"/>
                <a:r>
                  <a:rPr lang="en-US" dirty="0"/>
                  <a:t>For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=2</m:t>
                    </m:r>
                  </m:oMath>
                </a14:m>
                <a:r>
                  <a:rPr lang="en-US" dirty="0"/>
                  <a:t>,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𝑇</m:t>
                            </m:r>
                          </m:e>
                        </m:acc>
                      </m:e>
                      <m:sub>
                        <m:r>
                          <a:rPr lang="en-US" i="1">
                            <a:latin typeface="Cambria Math" panose="02040503050406030204" pitchFamily="18" charset="0"/>
                          </a:rPr>
                          <m:t>𝑡</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endParaRPr lang="en-US" dirty="0"/>
              </a:p>
              <a:p>
                <a:pPr lvl="1"/>
                <a:r>
                  <a:rPr lang="en-US" dirty="0"/>
                  <a:t>Different sources might have slightly different equations</a:t>
                </a:r>
              </a:p>
              <a:p>
                <a:endParaRPr lang="en-US" dirty="0"/>
              </a:p>
              <a:p>
                <a:endParaRPr lang="en-US" dirty="0"/>
              </a:p>
              <a:p>
                <a:endParaRPr lang="en-US" dirty="0"/>
              </a:p>
              <a:p>
                <a:endParaRPr lang="en-US" sz="2800" dirty="0"/>
              </a:p>
              <a:p>
                <a:endParaRPr lang="en-US" dirty="0"/>
              </a:p>
            </p:txBody>
          </p:sp>
        </mc:Choice>
        <mc:Fallback xmlns="">
          <p:sp>
            <p:nvSpPr>
              <p:cNvPr id="3" name="Content Placeholder 2">
                <a:extLst>
                  <a:ext uri="{FF2B5EF4-FFF2-40B4-BE49-F238E27FC236}">
                    <a16:creationId xmlns:a16="http://schemas.microsoft.com/office/drawing/2014/main" id="{BB5CB9FC-1EE3-9A0B-37AD-8F95728C78C4}"/>
                  </a:ext>
                </a:extLst>
              </p:cNvPr>
              <p:cNvSpPr>
                <a:spLocks noGrp="1" noRot="1" noChangeAspect="1" noMove="1" noResize="1" noEditPoints="1" noAdjustHandles="1" noChangeArrowheads="1" noChangeShapeType="1" noTextEdit="1"/>
              </p:cNvSpPr>
              <p:nvPr>
                <p:ph idx="1"/>
              </p:nvPr>
            </p:nvSpPr>
            <p:spPr>
              <a:blipFill>
                <a:blip r:embed="rId2"/>
                <a:stretch>
                  <a:fillRect l="-956" t="-2005" r="-1646" b="-131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7D42E88-1C0A-FA8F-7911-EF414E8F2FDF}"/>
                  </a:ext>
                </a:extLst>
              </p:cNvPr>
              <p:cNvSpPr txBox="1"/>
              <p:nvPr/>
            </p:nvSpPr>
            <p:spPr>
              <a:xfrm>
                <a:off x="1311280" y="3377305"/>
                <a:ext cx="3853472" cy="2223173"/>
              </a:xfrm>
              <a:prstGeom prst="rect">
                <a:avLst/>
              </a:prstGeom>
              <a:noFill/>
            </p:spPr>
            <p:txBody>
              <a:bodyPr wrap="square" rtlCol="0">
                <a:spAutoFit/>
              </a:bodyPr>
              <a:lstStyle/>
              <a:p>
                <a:r>
                  <a:rPr lang="en-US" sz="2800" u="sng" dirty="0">
                    <a:ea typeface="Cambria Math" panose="02040503050406030204" pitchFamily="18" charset="0"/>
                  </a:rPr>
                  <a:t>When </a:t>
                </a:r>
                <a14:m>
                  <m:oMath xmlns:m="http://schemas.openxmlformats.org/officeDocument/2006/math">
                    <m:r>
                      <a:rPr lang="en-US" sz="2800" b="0" i="1" u="sng" smtClean="0">
                        <a:latin typeface="Cambria Math" panose="02040503050406030204" pitchFamily="18" charset="0"/>
                        <a:ea typeface="Cambria Math" panose="02040503050406030204" pitchFamily="18" charset="0"/>
                      </a:rPr>
                      <m:t>𝑚</m:t>
                    </m:r>
                  </m:oMath>
                </a14:m>
                <a:r>
                  <a:rPr lang="en-US" sz="2800" b="0" u="sng" dirty="0">
                    <a:ea typeface="Cambria Math" panose="02040503050406030204" pitchFamily="18" charset="0"/>
                  </a:rPr>
                  <a:t> is odd:</a:t>
                </a:r>
              </a:p>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i="1" smtClean="0">
                                  <a:latin typeface="Cambria Math" panose="02040503050406030204" pitchFamily="18" charset="0"/>
                                </a:rPr>
                              </m:ctrlPr>
                            </m:accPr>
                            <m:e>
                              <m:r>
                                <a:rPr lang="en-US" sz="2800" b="0" i="1" smtClean="0">
                                  <a:latin typeface="Cambria Math" panose="02040503050406030204" pitchFamily="18" charset="0"/>
                                </a:rPr>
                                <m:t>𝑇</m:t>
                              </m:r>
                            </m:e>
                          </m:acc>
                        </m:e>
                        <m:sub>
                          <m:r>
                            <a:rPr lang="en-US" sz="2800" b="0" i="1" smtClean="0">
                              <a:latin typeface="Cambria Math" panose="02040503050406030204" pitchFamily="18" charset="0"/>
                            </a:rPr>
                            <m:t>𝑡</m:t>
                          </m:r>
                        </m:sub>
                      </m:sSub>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𝑚</m:t>
                          </m:r>
                        </m:den>
                      </m:f>
                      <m:nary>
                        <m:naryPr>
                          <m:chr m:val="∑"/>
                          <m:ctrlPr>
                            <a:rPr lang="en-US" sz="2800" b="0" i="1" smtClean="0">
                              <a:latin typeface="Cambria Math" panose="02040503050406030204" pitchFamily="18" charset="0"/>
                            </a:rPr>
                          </m:ctrlPr>
                        </m:naryPr>
                        <m:sub>
                          <m:r>
                            <m:rPr>
                              <m:brk m:alnAt="23"/>
                            </m:rPr>
                            <a:rPr lang="en-US" sz="2800" b="0" i="1" smtClean="0">
                              <a:latin typeface="Cambria Math" panose="02040503050406030204" pitchFamily="18" charset="0"/>
                            </a:rPr>
                            <m:t>𝑗</m:t>
                          </m:r>
                          <m:r>
                            <a:rPr lang="en-US" sz="2800" b="0" i="1" smtClean="0">
                              <a:latin typeface="Cambria Math" panose="02040503050406030204" pitchFamily="18" charset="0"/>
                            </a:rPr>
                            <m:t>=−</m:t>
                          </m:r>
                          <m:r>
                            <a:rPr lang="en-US" sz="2800" b="0" i="1" smtClean="0">
                              <a:latin typeface="Cambria Math" panose="02040503050406030204" pitchFamily="18" charset="0"/>
                            </a:rPr>
                            <m:t>𝑘</m:t>
                          </m:r>
                        </m:sub>
                        <m:sup>
                          <m:r>
                            <a:rPr lang="en-US" sz="2800" b="0" i="1" smtClean="0">
                              <a:latin typeface="Cambria Math" panose="02040503050406030204" pitchFamily="18" charset="0"/>
                            </a:rPr>
                            <m:t>𝑘</m:t>
                          </m:r>
                        </m:sup>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𝑦</m:t>
                              </m:r>
                            </m:e>
                            <m:sub>
                              <m:r>
                                <a:rPr lang="en-US" sz="2800" b="0" i="1" smtClean="0">
                                  <a:latin typeface="Cambria Math" panose="02040503050406030204" pitchFamily="18" charset="0"/>
                                </a:rPr>
                                <m:t>𝑡</m:t>
                              </m:r>
                              <m:r>
                                <a:rPr lang="en-US" sz="2800" b="0" i="1" smtClean="0">
                                  <a:latin typeface="Cambria Math" panose="02040503050406030204" pitchFamily="18" charset="0"/>
                                </a:rPr>
                                <m:t>+</m:t>
                              </m:r>
                              <m:r>
                                <a:rPr lang="en-US" sz="2800" b="0" i="1" smtClean="0">
                                  <a:latin typeface="Cambria Math" panose="02040503050406030204" pitchFamily="18" charset="0"/>
                                </a:rPr>
                                <m:t>𝑗</m:t>
                              </m:r>
                            </m:sub>
                          </m:sSub>
                        </m:e>
                      </m:nary>
                    </m:oMath>
                  </m:oMathPara>
                </a14:m>
                <a:endParaRPr lang="en-US" sz="2800" dirty="0"/>
              </a:p>
              <a:p>
                <a:r>
                  <a:rPr lang="en-US" sz="2800" dirty="0"/>
                  <a:t>where </a:t>
                </a:r>
                <a14:m>
                  <m:oMath xmlns:m="http://schemas.openxmlformats.org/officeDocument/2006/math">
                    <m:r>
                      <a:rPr lang="en-US" sz="2800" b="0" i="1" smtClean="0">
                        <a:latin typeface="Cambria Math" panose="02040503050406030204" pitchFamily="18" charset="0"/>
                      </a:rPr>
                      <m:t>𝑚</m:t>
                    </m:r>
                    <m:r>
                      <a:rPr lang="en-US" sz="2800" b="0" i="1" smtClean="0">
                        <a:latin typeface="Cambria Math" panose="02040503050406030204" pitchFamily="18" charset="0"/>
                      </a:rPr>
                      <m:t>=2</m:t>
                    </m:r>
                    <m:r>
                      <a:rPr lang="en-US" sz="2800" b="0" i="1" smtClean="0">
                        <a:latin typeface="Cambria Math" panose="02040503050406030204" pitchFamily="18" charset="0"/>
                      </a:rPr>
                      <m:t>𝑘</m:t>
                    </m:r>
                    <m:r>
                      <a:rPr lang="en-US" sz="2800" b="0" i="1" smtClean="0">
                        <a:latin typeface="Cambria Math" panose="02040503050406030204" pitchFamily="18" charset="0"/>
                      </a:rPr>
                      <m:t>+1</m:t>
                    </m:r>
                  </m:oMath>
                </a14:m>
                <a:r>
                  <a:rPr lang="en-US" sz="2800" dirty="0"/>
                  <a:t>. </a:t>
                </a:r>
              </a:p>
            </p:txBody>
          </p:sp>
        </mc:Choice>
        <mc:Fallback xmlns="">
          <p:sp>
            <p:nvSpPr>
              <p:cNvPr id="6" name="TextBox 5">
                <a:extLst>
                  <a:ext uri="{FF2B5EF4-FFF2-40B4-BE49-F238E27FC236}">
                    <a16:creationId xmlns:a16="http://schemas.microsoft.com/office/drawing/2014/main" id="{67D42E88-1C0A-FA8F-7911-EF414E8F2FDF}"/>
                  </a:ext>
                </a:extLst>
              </p:cNvPr>
              <p:cNvSpPr txBox="1">
                <a:spLocks noRot="1" noChangeAspect="1" noMove="1" noResize="1" noEditPoints="1" noAdjustHandles="1" noChangeArrowheads="1" noChangeShapeType="1" noTextEdit="1"/>
              </p:cNvSpPr>
              <p:nvPr/>
            </p:nvSpPr>
            <p:spPr>
              <a:xfrm>
                <a:off x="1311280" y="3377305"/>
                <a:ext cx="3853472" cy="2223173"/>
              </a:xfrm>
              <a:prstGeom prst="rect">
                <a:avLst/>
              </a:prstGeom>
              <a:blipFill>
                <a:blip r:embed="rId3"/>
                <a:stretch>
                  <a:fillRect l="-3165" t="-2466" b="-68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2853EBF-5957-E286-E027-1C34B81EAEA8}"/>
                  </a:ext>
                </a:extLst>
              </p:cNvPr>
              <p:cNvSpPr txBox="1"/>
              <p:nvPr/>
            </p:nvSpPr>
            <p:spPr>
              <a:xfrm>
                <a:off x="6361923" y="3377304"/>
                <a:ext cx="3853472" cy="2223173"/>
              </a:xfrm>
              <a:prstGeom prst="rect">
                <a:avLst/>
              </a:prstGeom>
              <a:noFill/>
            </p:spPr>
            <p:txBody>
              <a:bodyPr wrap="square" rtlCol="0">
                <a:spAutoFit/>
              </a:bodyPr>
              <a:lstStyle/>
              <a:p>
                <a:r>
                  <a:rPr lang="en-US" sz="2800" u="sng" dirty="0">
                    <a:ea typeface="Cambria Math" panose="02040503050406030204" pitchFamily="18" charset="0"/>
                  </a:rPr>
                  <a:t>When </a:t>
                </a:r>
                <a14:m>
                  <m:oMath xmlns:m="http://schemas.openxmlformats.org/officeDocument/2006/math">
                    <m:r>
                      <a:rPr lang="en-US" sz="2800" b="0" i="1" u="sng" smtClean="0">
                        <a:latin typeface="Cambria Math" panose="02040503050406030204" pitchFamily="18" charset="0"/>
                        <a:ea typeface="Cambria Math" panose="02040503050406030204" pitchFamily="18" charset="0"/>
                      </a:rPr>
                      <m:t>𝑚</m:t>
                    </m:r>
                    <m:r>
                      <a:rPr lang="en-US" sz="2800" b="0" i="1" u="sng" smtClean="0">
                        <a:latin typeface="Cambria Math" panose="02040503050406030204" pitchFamily="18" charset="0"/>
                        <a:ea typeface="Cambria Math" panose="02040503050406030204" pitchFamily="18" charset="0"/>
                      </a:rPr>
                      <m:t>&gt;2</m:t>
                    </m:r>
                  </m:oMath>
                </a14:m>
                <a:r>
                  <a:rPr lang="en-US" sz="2800" b="0" u="sng" dirty="0">
                    <a:ea typeface="Cambria Math" panose="02040503050406030204" pitchFamily="18" charset="0"/>
                  </a:rPr>
                  <a:t> is even:</a:t>
                </a:r>
              </a:p>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i="1" smtClean="0">
                                  <a:latin typeface="Cambria Math" panose="02040503050406030204" pitchFamily="18" charset="0"/>
                                </a:rPr>
                              </m:ctrlPr>
                            </m:accPr>
                            <m:e>
                              <m:r>
                                <a:rPr lang="en-US" sz="2800" b="0" i="1" smtClean="0">
                                  <a:latin typeface="Cambria Math" panose="02040503050406030204" pitchFamily="18" charset="0"/>
                                </a:rPr>
                                <m:t>𝑇</m:t>
                              </m:r>
                            </m:e>
                          </m:acc>
                        </m:e>
                        <m:sub>
                          <m:r>
                            <a:rPr lang="en-US" sz="2800" b="0" i="1" smtClean="0">
                              <a:latin typeface="Cambria Math" panose="02040503050406030204" pitchFamily="18" charset="0"/>
                            </a:rPr>
                            <m:t>𝑡</m:t>
                          </m:r>
                        </m:sub>
                      </m:sSub>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𝑚</m:t>
                          </m:r>
                        </m:den>
                      </m:f>
                      <m:nary>
                        <m:naryPr>
                          <m:chr m:val="∑"/>
                          <m:ctrlPr>
                            <a:rPr lang="en-US" sz="2800" b="0" i="1" smtClean="0">
                              <a:latin typeface="Cambria Math" panose="02040503050406030204" pitchFamily="18" charset="0"/>
                            </a:rPr>
                          </m:ctrlPr>
                        </m:naryPr>
                        <m:sub>
                          <m:r>
                            <m:rPr>
                              <m:brk m:alnAt="23"/>
                            </m:rPr>
                            <a:rPr lang="en-US" sz="2800" b="0" i="1" smtClean="0">
                              <a:latin typeface="Cambria Math" panose="02040503050406030204" pitchFamily="18" charset="0"/>
                            </a:rPr>
                            <m:t>𝑗</m:t>
                          </m:r>
                          <m:r>
                            <a:rPr lang="en-US" sz="2800" b="0" i="1" smtClean="0">
                              <a:latin typeface="Cambria Math" panose="02040503050406030204" pitchFamily="18" charset="0"/>
                            </a:rPr>
                            <m:t>=−</m:t>
                          </m:r>
                          <m:r>
                            <a:rPr lang="en-US" sz="2800" b="0" i="1" smtClean="0">
                              <a:latin typeface="Cambria Math" panose="02040503050406030204" pitchFamily="18" charset="0"/>
                            </a:rPr>
                            <m:t>𝑘</m:t>
                          </m:r>
                          <m:r>
                            <a:rPr lang="en-US" sz="2800" b="0" i="1" smtClean="0">
                              <a:latin typeface="Cambria Math" panose="02040503050406030204" pitchFamily="18" charset="0"/>
                            </a:rPr>
                            <m:t>+1</m:t>
                          </m:r>
                        </m:sub>
                        <m:sup>
                          <m:r>
                            <a:rPr lang="en-US" sz="2800" b="0" i="1" smtClean="0">
                              <a:latin typeface="Cambria Math" panose="02040503050406030204" pitchFamily="18" charset="0"/>
                            </a:rPr>
                            <m:t>𝑘</m:t>
                          </m:r>
                        </m:sup>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𝑦</m:t>
                              </m:r>
                            </m:e>
                            <m:sub>
                              <m:r>
                                <a:rPr lang="en-US" sz="2800" b="0" i="1" smtClean="0">
                                  <a:latin typeface="Cambria Math" panose="02040503050406030204" pitchFamily="18" charset="0"/>
                                </a:rPr>
                                <m:t>𝑡</m:t>
                              </m:r>
                              <m:r>
                                <a:rPr lang="en-US" sz="2800" b="0" i="1" smtClean="0">
                                  <a:latin typeface="Cambria Math" panose="02040503050406030204" pitchFamily="18" charset="0"/>
                                </a:rPr>
                                <m:t>+</m:t>
                              </m:r>
                              <m:r>
                                <a:rPr lang="en-US" sz="2800" b="0" i="1" smtClean="0">
                                  <a:latin typeface="Cambria Math" panose="02040503050406030204" pitchFamily="18" charset="0"/>
                                </a:rPr>
                                <m:t>𝑗</m:t>
                              </m:r>
                            </m:sub>
                          </m:sSub>
                        </m:e>
                      </m:nary>
                    </m:oMath>
                  </m:oMathPara>
                </a14:m>
                <a:endParaRPr lang="en-US" sz="2800" dirty="0"/>
              </a:p>
              <a:p>
                <a:r>
                  <a:rPr lang="en-US" sz="2800" dirty="0"/>
                  <a:t>where </a:t>
                </a:r>
                <a14:m>
                  <m:oMath xmlns:m="http://schemas.openxmlformats.org/officeDocument/2006/math">
                    <m:r>
                      <a:rPr lang="en-US" sz="2800" b="0" i="1" smtClean="0">
                        <a:latin typeface="Cambria Math" panose="02040503050406030204" pitchFamily="18" charset="0"/>
                      </a:rPr>
                      <m:t>𝑚</m:t>
                    </m:r>
                    <m:r>
                      <a:rPr lang="en-US" sz="2800" b="0" i="1" smtClean="0">
                        <a:latin typeface="Cambria Math" panose="02040503050406030204" pitchFamily="18" charset="0"/>
                      </a:rPr>
                      <m:t>=2</m:t>
                    </m:r>
                    <m:r>
                      <a:rPr lang="en-US" sz="2800" b="0" i="1" smtClean="0">
                        <a:latin typeface="Cambria Math" panose="02040503050406030204" pitchFamily="18" charset="0"/>
                      </a:rPr>
                      <m:t>𝑘</m:t>
                    </m:r>
                  </m:oMath>
                </a14:m>
                <a:r>
                  <a:rPr lang="en-US" sz="2800" dirty="0"/>
                  <a:t>. </a:t>
                </a:r>
              </a:p>
            </p:txBody>
          </p:sp>
        </mc:Choice>
        <mc:Fallback xmlns="">
          <p:sp>
            <p:nvSpPr>
              <p:cNvPr id="8" name="TextBox 7">
                <a:extLst>
                  <a:ext uri="{FF2B5EF4-FFF2-40B4-BE49-F238E27FC236}">
                    <a16:creationId xmlns:a16="http://schemas.microsoft.com/office/drawing/2014/main" id="{12853EBF-5957-E286-E027-1C34B81EAEA8}"/>
                  </a:ext>
                </a:extLst>
              </p:cNvPr>
              <p:cNvSpPr txBox="1">
                <a:spLocks noRot="1" noChangeAspect="1" noMove="1" noResize="1" noEditPoints="1" noAdjustHandles="1" noChangeArrowheads="1" noChangeShapeType="1" noTextEdit="1"/>
              </p:cNvSpPr>
              <p:nvPr/>
            </p:nvSpPr>
            <p:spPr>
              <a:xfrm>
                <a:off x="6361923" y="3377304"/>
                <a:ext cx="3853472" cy="2223173"/>
              </a:xfrm>
              <a:prstGeom prst="rect">
                <a:avLst/>
              </a:prstGeom>
              <a:blipFill>
                <a:blip r:embed="rId4"/>
                <a:stretch>
                  <a:fillRect l="-3323" t="-2466" b="-6849"/>
                </a:stretch>
              </a:blipFill>
            </p:spPr>
            <p:txBody>
              <a:bodyPr/>
              <a:lstStyle/>
              <a:p>
                <a:r>
                  <a:rPr lang="en-US">
                    <a:noFill/>
                  </a:rPr>
                  <a:t> </a:t>
                </a:r>
              </a:p>
            </p:txBody>
          </p:sp>
        </mc:Fallback>
      </mc:AlternateContent>
    </p:spTree>
    <p:extLst>
      <p:ext uri="{BB962C8B-B14F-4D97-AF65-F5344CB8AC3E}">
        <p14:creationId xmlns:p14="http://schemas.microsoft.com/office/powerpoint/2010/main" val="1677500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D7F1A-46F7-C1F6-251C-CD6F5E234E45}"/>
              </a:ext>
            </a:extLst>
          </p:cNvPr>
          <p:cNvSpPr>
            <a:spLocks noGrp="1"/>
          </p:cNvSpPr>
          <p:nvPr>
            <p:ph type="title"/>
          </p:nvPr>
        </p:nvSpPr>
        <p:spPr/>
        <p:txBody>
          <a:bodyPr/>
          <a:lstStyle/>
          <a:p>
            <a:r>
              <a:rPr lang="en-US" dirty="0"/>
              <a:t>Moving Averages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B5CB9FC-1EE3-9A0B-37AD-8F95728C78C4}"/>
                  </a:ext>
                </a:extLst>
              </p:cNvPr>
              <p:cNvSpPr>
                <a:spLocks noGrp="1"/>
              </p:cNvSpPr>
              <p:nvPr>
                <p:ph idx="1"/>
              </p:nvPr>
            </p:nvSpPr>
            <p:spPr/>
            <p:txBody>
              <a:bodyPr/>
              <a:lstStyle/>
              <a:p>
                <a:r>
                  <a:rPr lang="en-US" dirty="0"/>
                  <a:t>A moving average of order </a:t>
                </a:r>
                <a14:m>
                  <m:oMath xmlns:m="http://schemas.openxmlformats.org/officeDocument/2006/math">
                    <m:r>
                      <a:rPr lang="en-US" b="0" i="1" smtClean="0">
                        <a:latin typeface="Cambria Math" panose="02040503050406030204" pitchFamily="18" charset="0"/>
                      </a:rPr>
                      <m:t>𝑚</m:t>
                    </m:r>
                  </m:oMath>
                </a14:m>
                <a:r>
                  <a:rPr lang="en-US" dirty="0"/>
                  <a:t>: </a:t>
                </a:r>
                <a14:m>
                  <m:oMath xmlns:m="http://schemas.openxmlformats.org/officeDocument/2006/math">
                    <m:r>
                      <a:rPr lang="en-US" b="0" i="1" smtClean="0">
                        <a:latin typeface="Cambria Math" panose="02040503050406030204" pitchFamily="18" charset="0"/>
                      </a:rPr>
                      <m:t>𝑚</m:t>
                    </m:r>
                  </m:oMath>
                </a14:m>
                <a:r>
                  <a:rPr lang="en-US" dirty="0"/>
                  <a:t>-MA</a:t>
                </a:r>
              </a:p>
              <a:p>
                <a:pPr lvl="1"/>
                <a:r>
                  <a:rPr lang="en-US" dirty="0"/>
                  <a:t>When </a:t>
                </a:r>
                <a14:m>
                  <m:oMath xmlns:m="http://schemas.openxmlformats.org/officeDocument/2006/math">
                    <m:r>
                      <a:rPr lang="en-US" b="0" i="1" smtClean="0">
                        <a:latin typeface="Cambria Math" panose="02040503050406030204" pitchFamily="18" charset="0"/>
                      </a:rPr>
                      <m:t>𝑚</m:t>
                    </m:r>
                  </m:oMath>
                </a14:m>
                <a:r>
                  <a:rPr lang="en-US" dirty="0"/>
                  <a:t> is odd, it is symmetric</a:t>
                </a:r>
              </a:p>
              <a:p>
                <a:pPr lvl="1"/>
                <a:r>
                  <a:rPr lang="en-US" dirty="0"/>
                  <a:t>We can apply moving average to moving averages</a:t>
                </a:r>
              </a:p>
              <a:p>
                <a:pPr lvl="2"/>
                <a:r>
                  <a:rPr lang="en-US" dirty="0"/>
                  <a:t>For instance, when </a:t>
                </a:r>
                <a14:m>
                  <m:oMath xmlns:m="http://schemas.openxmlformats.org/officeDocument/2006/math">
                    <m:r>
                      <a:rPr lang="en-US" b="0" i="1" smtClean="0">
                        <a:latin typeface="Cambria Math" panose="02040503050406030204" pitchFamily="18" charset="0"/>
                      </a:rPr>
                      <m:t>𝑚</m:t>
                    </m:r>
                  </m:oMath>
                </a14:m>
                <a:r>
                  <a:rPr lang="en-US" dirty="0"/>
                  <a:t> is even, we can make it symmetric by applying moving average once more</a:t>
                </a:r>
              </a:p>
              <a:p>
                <a:r>
                  <a:rPr lang="en-US" dirty="0"/>
                  <a:t>Moving averages of moving averages:</a:t>
                </a:r>
              </a:p>
              <a:p>
                <a:pPr lvl="1"/>
                <a:r>
                  <a:rPr lang="en-US" dirty="0"/>
                  <a:t>For example, we might take a moving average of order 4, and then apply another moving average of order 2 to the results</a:t>
                </a:r>
              </a:p>
              <a:p>
                <a:pPr lvl="1"/>
                <a:endParaRPr lang="en-US" dirty="0"/>
              </a:p>
              <a:p>
                <a:r>
                  <a:rPr lang="en-US" dirty="0">
                    <a:solidFill>
                      <a:srgbClr val="C00000"/>
                    </a:solidFill>
                  </a:rPr>
                  <a:t>Example: </a:t>
                </a:r>
                <a:r>
                  <a:rPr lang="en-US" i="1" dirty="0"/>
                  <a:t>Module 1.2 – Example – Moving Averages.xlsx</a:t>
                </a:r>
              </a:p>
              <a:p>
                <a:endParaRPr lang="en-US" dirty="0"/>
              </a:p>
              <a:p>
                <a:endParaRPr lang="en-US" dirty="0"/>
              </a:p>
              <a:p>
                <a:endParaRPr lang="en-US" dirty="0"/>
              </a:p>
              <a:p>
                <a:endParaRPr lang="en-US" dirty="0"/>
              </a:p>
              <a:p>
                <a:endParaRPr lang="en-US" sz="2800" dirty="0"/>
              </a:p>
              <a:p>
                <a:endParaRPr lang="en-US" dirty="0"/>
              </a:p>
            </p:txBody>
          </p:sp>
        </mc:Choice>
        <mc:Fallback xmlns="">
          <p:sp>
            <p:nvSpPr>
              <p:cNvPr id="3" name="Content Placeholder 2">
                <a:extLst>
                  <a:ext uri="{FF2B5EF4-FFF2-40B4-BE49-F238E27FC236}">
                    <a16:creationId xmlns:a16="http://schemas.microsoft.com/office/drawing/2014/main" id="{BB5CB9FC-1EE3-9A0B-37AD-8F95728C78C4}"/>
                  </a:ext>
                </a:extLst>
              </p:cNvPr>
              <p:cNvSpPr>
                <a:spLocks noGrp="1" noRot="1" noChangeAspect="1" noMove="1" noResize="1" noEditPoints="1" noAdjustHandles="1" noChangeArrowheads="1" noChangeShapeType="1" noTextEdit="1"/>
              </p:cNvSpPr>
              <p:nvPr>
                <p:ph idx="1"/>
              </p:nvPr>
            </p:nvSpPr>
            <p:spPr>
              <a:blipFill>
                <a:blip r:embed="rId2"/>
                <a:stretch>
                  <a:fillRect l="-956" t="-2005"/>
                </a:stretch>
              </a:blipFill>
            </p:spPr>
            <p:txBody>
              <a:bodyPr/>
              <a:lstStyle/>
              <a:p>
                <a:r>
                  <a:rPr lang="en-US">
                    <a:noFill/>
                  </a:rPr>
                  <a:t> </a:t>
                </a:r>
              </a:p>
            </p:txBody>
          </p:sp>
        </mc:Fallback>
      </mc:AlternateContent>
    </p:spTree>
    <p:extLst>
      <p:ext uri="{BB962C8B-B14F-4D97-AF65-F5344CB8AC3E}">
        <p14:creationId xmlns:p14="http://schemas.microsoft.com/office/powerpoint/2010/main" val="379566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Classical Decomposition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Two forms of classical decomposition: additive vs. multiplicative</a:t>
                </a:r>
              </a:p>
              <a:p>
                <a:pPr lvl="1"/>
                <a:r>
                  <a:rPr lang="en-US" dirty="0"/>
                  <a:t>For time series with seasonal period </a:t>
                </a:r>
                <a14:m>
                  <m:oMath xmlns:m="http://schemas.openxmlformats.org/officeDocument/2006/math">
                    <m:r>
                      <a:rPr lang="en-US" b="0" i="1" smtClean="0">
                        <a:latin typeface="Cambria Math" panose="02040503050406030204" pitchFamily="18" charset="0"/>
                      </a:rPr>
                      <m:t>𝑚</m:t>
                    </m:r>
                  </m:oMath>
                </a14:m>
                <a:endParaRPr lang="en-US" dirty="0"/>
              </a:p>
              <a:p>
                <a:pPr lvl="2"/>
                <a:r>
                  <a:rPr lang="en-US" dirty="0"/>
                  <a:t>E.g.,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=7</m:t>
                    </m:r>
                  </m:oMath>
                </a14:m>
                <a:r>
                  <a:rPr lang="en-US" dirty="0"/>
                  <a:t> for daily data with weekly repeating pattern;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=12</m:t>
                    </m:r>
                  </m:oMath>
                </a14:m>
                <a:r>
                  <a:rPr lang="en-US" dirty="0"/>
                  <a:t> for monthly data with yearly repeating patter,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=4</m:t>
                    </m:r>
                  </m:oMath>
                </a14:m>
                <a:r>
                  <a:rPr lang="en-US" dirty="0"/>
                  <a:t> for quarterly data with yearly repeating pattern and so on…</a:t>
                </a:r>
              </a:p>
              <a:p>
                <a:pPr lvl="1"/>
                <a:r>
                  <a:rPr lang="en-US" b="1" dirty="0">
                    <a:solidFill>
                      <a:srgbClr val="C00000"/>
                    </a:solidFill>
                  </a:rPr>
                  <a:t>Additive Decomposition:</a:t>
                </a:r>
              </a:p>
              <a:p>
                <a:pPr marL="1371600" lvl="2" indent="-457200">
                  <a:buFont typeface="+mj-lt"/>
                  <a:buAutoNum type="arabicPeriod"/>
                </a:pPr>
                <a:r>
                  <a:rPr lang="en-US" dirty="0"/>
                  <a:t>If </a:t>
                </a:r>
                <a14:m>
                  <m:oMath xmlns:m="http://schemas.openxmlformats.org/officeDocument/2006/math">
                    <m:r>
                      <a:rPr lang="en-US" b="0" i="1" smtClean="0">
                        <a:latin typeface="Cambria Math" panose="02040503050406030204" pitchFamily="18" charset="0"/>
                      </a:rPr>
                      <m:t>𝑚</m:t>
                    </m:r>
                  </m:oMath>
                </a14:m>
                <a:r>
                  <a:rPr lang="en-US" dirty="0"/>
                  <a:t> is an even number, compute the trend-cycle component </a:t>
                </a:r>
                <a14:m>
                  <m:oMath xmlns:m="http://schemas.openxmlformats.org/officeDocument/2006/math">
                    <m:sSub>
                      <m:sSubPr>
                        <m:ctrlPr>
                          <a:rPr lang="en-US" b="0"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𝑇</m:t>
                            </m:r>
                          </m:e>
                        </m:acc>
                      </m:e>
                      <m:sub>
                        <m:r>
                          <a:rPr lang="en-US" b="0" i="1" smtClean="0">
                            <a:latin typeface="Cambria Math" panose="02040503050406030204" pitchFamily="18" charset="0"/>
                          </a:rPr>
                          <m:t>𝑡</m:t>
                        </m:r>
                      </m:sub>
                    </m:sSub>
                  </m:oMath>
                </a14:m>
                <a:r>
                  <a:rPr lang="en-US" dirty="0"/>
                  <a:t> using a </a:t>
                </a:r>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𝑚</m:t>
                    </m:r>
                  </m:oMath>
                </a14:m>
                <a:r>
                  <a:rPr lang="en-US" dirty="0"/>
                  <a:t>-MA. If </a:t>
                </a:r>
                <a14:m>
                  <m:oMath xmlns:m="http://schemas.openxmlformats.org/officeDocument/2006/math">
                    <m:r>
                      <a:rPr lang="en-US" b="0" i="1" smtClean="0">
                        <a:latin typeface="Cambria Math" panose="02040503050406030204" pitchFamily="18" charset="0"/>
                      </a:rPr>
                      <m:t>𝑚</m:t>
                    </m:r>
                  </m:oMath>
                </a14:m>
                <a:r>
                  <a:rPr lang="en-US" dirty="0"/>
                  <a:t> is an odd number, compute the trend-cycle component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𝑇</m:t>
                            </m:r>
                          </m:e>
                        </m:acc>
                      </m:e>
                      <m:sub>
                        <m:r>
                          <a:rPr lang="en-US" i="1">
                            <a:latin typeface="Cambria Math" panose="02040503050406030204" pitchFamily="18" charset="0"/>
                          </a:rPr>
                          <m:t>𝑡</m:t>
                        </m:r>
                      </m:sub>
                    </m:sSub>
                  </m:oMath>
                </a14:m>
                <a:r>
                  <a:rPr lang="en-US" dirty="0"/>
                  <a:t> using a </a:t>
                </a:r>
                <a14:m>
                  <m:oMath xmlns:m="http://schemas.openxmlformats.org/officeDocument/2006/math">
                    <m:r>
                      <a:rPr lang="en-US" i="1">
                        <a:latin typeface="Cambria Math" panose="02040503050406030204" pitchFamily="18" charset="0"/>
                      </a:rPr>
                      <m:t>𝑚</m:t>
                    </m:r>
                  </m:oMath>
                </a14:m>
                <a:r>
                  <a:rPr lang="en-US" dirty="0"/>
                  <a:t>-MA.</a:t>
                </a:r>
              </a:p>
              <a:p>
                <a:pPr marL="1371600" lvl="2" indent="-457200">
                  <a:buFont typeface="+mj-lt"/>
                  <a:buAutoNum type="arabicPeriod"/>
                </a:pPr>
                <a:r>
                  <a:rPr lang="en-US" dirty="0"/>
                  <a:t>Calculate the detrended series: </a:t>
                </a:r>
                <a14:m>
                  <m:oMath xmlns:m="http://schemas.openxmlformats.org/officeDocument/2006/math">
                    <m:sSub>
                      <m:sSubPr>
                        <m:ctrlPr>
                          <a:rPr lang="en-US" i="1">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𝑇</m:t>
                            </m:r>
                          </m:e>
                        </m:acc>
                      </m:e>
                      <m:sub>
                        <m:r>
                          <a:rPr lang="en-US" i="1">
                            <a:latin typeface="Cambria Math" panose="02040503050406030204" pitchFamily="18" charset="0"/>
                          </a:rPr>
                          <m:t>𝑡</m:t>
                        </m:r>
                      </m:sub>
                    </m:sSub>
                  </m:oMath>
                </a14:m>
                <a:r>
                  <a:rPr lang="en-US" dirty="0"/>
                  <a:t> </a:t>
                </a:r>
              </a:p>
              <a:p>
                <a:pPr marL="1371600" lvl="2" indent="-457200">
                  <a:buFont typeface="+mj-lt"/>
                  <a:buAutoNum type="arabicPeriod"/>
                </a:pPr>
                <a:r>
                  <a:rPr lang="en-US" dirty="0"/>
                  <a:t>To estimate the seasonal component for each season, simply average the detrended values for that season. </a:t>
                </a:r>
              </a:p>
              <a:p>
                <a:pPr lvl="3"/>
                <a:r>
                  <a:rPr lang="en-US" dirty="0"/>
                  <a:t>For example, with monthly data, the seasonal component for March is the average of all the detrended March values in the data. </a:t>
                </a:r>
              </a:p>
              <a:p>
                <a:pPr lvl="3"/>
                <a:r>
                  <a:rPr lang="en-US" dirty="0"/>
                  <a:t>These seasonal component values are then adjusted to ensure that they add to zero. </a:t>
                </a:r>
              </a:p>
              <a:p>
                <a:pPr lvl="3"/>
                <a:r>
                  <a:rPr lang="en-US" dirty="0"/>
                  <a:t>The seasonal component is obtained by stringing together these monthly values, and then replicating the sequence for each year of data. This gives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0" i="1" smtClean="0">
                                <a:latin typeface="Cambria Math" panose="02040503050406030204" pitchFamily="18" charset="0"/>
                              </a:rPr>
                              <m:t>𝑆</m:t>
                            </m:r>
                          </m:e>
                        </m:acc>
                      </m:e>
                      <m:sub>
                        <m:r>
                          <a:rPr lang="en-US" i="1">
                            <a:latin typeface="Cambria Math" panose="02040503050406030204" pitchFamily="18" charset="0"/>
                          </a:rPr>
                          <m:t>𝑡</m:t>
                        </m:r>
                      </m:sub>
                    </m:sSub>
                  </m:oMath>
                </a14:m>
                <a:r>
                  <a:rPr lang="en-US" dirty="0"/>
                  <a:t> .</a:t>
                </a:r>
              </a:p>
              <a:p>
                <a:pPr marL="1371600" lvl="2" indent="-457200">
                  <a:buFont typeface="+mj-lt"/>
                  <a:buAutoNum type="arabicPeriod"/>
                </a:pPr>
                <a:r>
                  <a:rPr lang="en-US" dirty="0"/>
                  <a:t>The remainder component is calculated by subtracting the estimated seasonal and trend-cycle components: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0" i="1" smtClean="0">
                                <a:latin typeface="Cambria Math" panose="02040503050406030204" pitchFamily="18" charset="0"/>
                              </a:rPr>
                              <m:t>𝑅</m:t>
                            </m:r>
                          </m:e>
                        </m:acc>
                      </m:e>
                      <m:sub>
                        <m:r>
                          <a:rPr lang="en-US" i="1">
                            <a:latin typeface="Cambria Math" panose="02040503050406030204" pitchFamily="18" charset="0"/>
                          </a:rPr>
                          <m:t>𝑡</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𝑇</m:t>
                            </m:r>
                          </m:e>
                        </m:acc>
                      </m:e>
                      <m:sub>
                        <m:r>
                          <a:rPr lang="en-US" i="1">
                            <a:latin typeface="Cambria Math" panose="02040503050406030204" pitchFamily="18" charset="0"/>
                          </a:rPr>
                          <m:t>𝑡</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0" i="1" smtClean="0">
                                <a:latin typeface="Cambria Math" panose="02040503050406030204" pitchFamily="18" charset="0"/>
                              </a:rPr>
                              <m:t>𝑆</m:t>
                            </m:r>
                          </m:e>
                        </m:acc>
                      </m:e>
                      <m:sub>
                        <m:r>
                          <a:rPr lang="en-US" i="1">
                            <a:latin typeface="Cambria Math" panose="02040503050406030204" pitchFamily="18" charset="0"/>
                          </a:rPr>
                          <m:t>𝑡</m:t>
                        </m:r>
                      </m:sub>
                    </m:sSub>
                  </m:oMath>
                </a14:m>
                <a:r>
                  <a:rPr lang="en-US" dirty="0"/>
                  <a:t>.</a:t>
                </a:r>
              </a:p>
              <a:p>
                <a:pPr lvl="1"/>
                <a:r>
                  <a:rPr lang="en-US" dirty="0"/>
                  <a:t>Multiplicative Decomposition has similar steps</a:t>
                </a:r>
              </a:p>
              <a:p>
                <a:pPr lvl="2"/>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56" t="-2757" b="-12657"/>
                </a:stretch>
              </a:blipFill>
            </p:spPr>
            <p:txBody>
              <a:bodyPr/>
              <a:lstStyle/>
              <a:p>
                <a:r>
                  <a:rPr lang="en-US">
                    <a:noFill/>
                  </a:rPr>
                  <a:t> </a:t>
                </a:r>
              </a:p>
            </p:txBody>
          </p:sp>
        </mc:Fallback>
      </mc:AlternateContent>
    </p:spTree>
    <p:extLst>
      <p:ext uri="{BB962C8B-B14F-4D97-AF65-F5344CB8AC3E}">
        <p14:creationId xmlns:p14="http://schemas.microsoft.com/office/powerpoint/2010/main" val="2414956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Classical Decomposition</a:t>
            </a:r>
          </a:p>
        </p:txBody>
      </p:sp>
      <p:sp>
        <p:nvSpPr>
          <p:cNvPr id="3" name="Content Placeholder 2"/>
          <p:cNvSpPr>
            <a:spLocks noGrp="1"/>
          </p:cNvSpPr>
          <p:nvPr>
            <p:ph idx="1"/>
          </p:nvPr>
        </p:nvSpPr>
        <p:spPr>
          <a:xfrm>
            <a:off x="355002" y="1312433"/>
            <a:ext cx="2753207" cy="4864530"/>
          </a:xfrm>
        </p:spPr>
        <p:txBody>
          <a:bodyPr>
            <a:normAutofit lnSpcReduction="10000"/>
          </a:bodyPr>
          <a:lstStyle/>
          <a:p>
            <a:r>
              <a:rPr lang="en-US" dirty="0"/>
              <a:t>Additive decomposition:</a:t>
            </a:r>
          </a:p>
          <a:p>
            <a:r>
              <a:rPr lang="en-US" sz="2400" dirty="0"/>
              <a:t>The trend-cycle estimate tends to over-smooth rapid rises and falls in the data.</a:t>
            </a:r>
          </a:p>
          <a:p>
            <a:r>
              <a:rPr lang="en-US" sz="2400" dirty="0"/>
              <a:t>Classical decomposition methods assume that the seasonal component repeats from year to year. </a:t>
            </a:r>
          </a:p>
          <a:p>
            <a:pPr lvl="2"/>
            <a:endParaRPr lang="en-US" dirty="0"/>
          </a:p>
        </p:txBody>
      </p:sp>
      <p:pic>
        <p:nvPicPr>
          <p:cNvPr id="5" name="Picture 4">
            <a:extLst>
              <a:ext uri="{FF2B5EF4-FFF2-40B4-BE49-F238E27FC236}">
                <a16:creationId xmlns:a16="http://schemas.microsoft.com/office/drawing/2014/main" id="{EA71AE1D-2A63-295E-390A-E571E22E0261}"/>
              </a:ext>
            </a:extLst>
          </p:cNvPr>
          <p:cNvPicPr>
            <a:picLocks noChangeAspect="1"/>
          </p:cNvPicPr>
          <p:nvPr/>
        </p:nvPicPr>
        <p:blipFill>
          <a:blip r:embed="rId2"/>
          <a:stretch>
            <a:fillRect/>
          </a:stretch>
        </p:blipFill>
        <p:spPr>
          <a:xfrm>
            <a:off x="3237075" y="1312433"/>
            <a:ext cx="4680067" cy="4391736"/>
          </a:xfrm>
          <a:prstGeom prst="rect">
            <a:avLst/>
          </a:prstGeom>
        </p:spPr>
      </p:pic>
      <p:sp>
        <p:nvSpPr>
          <p:cNvPr id="6" name="TextBox 5">
            <a:extLst>
              <a:ext uri="{FF2B5EF4-FFF2-40B4-BE49-F238E27FC236}">
                <a16:creationId xmlns:a16="http://schemas.microsoft.com/office/drawing/2014/main" id="{FE13F74E-3C04-9107-0CF4-F690E3B82691}"/>
              </a:ext>
            </a:extLst>
          </p:cNvPr>
          <p:cNvSpPr txBox="1"/>
          <p:nvPr/>
        </p:nvSpPr>
        <p:spPr>
          <a:xfrm>
            <a:off x="8270955" y="2364639"/>
            <a:ext cx="3024845" cy="1077218"/>
          </a:xfrm>
          <a:prstGeom prst="rect">
            <a:avLst/>
          </a:prstGeom>
          <a:noFill/>
        </p:spPr>
        <p:txBody>
          <a:bodyPr wrap="square" rtlCol="0">
            <a:spAutoFit/>
          </a:bodyPr>
          <a:lstStyle/>
          <a:p>
            <a:r>
              <a:rPr lang="en-US" sz="1600" dirty="0"/>
              <a:t>For first and last few periods, there is no trend-cycle component b/c MA values cannot be calculated for those periods</a:t>
            </a:r>
          </a:p>
        </p:txBody>
      </p:sp>
      <p:sp>
        <p:nvSpPr>
          <p:cNvPr id="7" name="TextBox 6">
            <a:extLst>
              <a:ext uri="{FF2B5EF4-FFF2-40B4-BE49-F238E27FC236}">
                <a16:creationId xmlns:a16="http://schemas.microsoft.com/office/drawing/2014/main" id="{20CB0EF2-2C9E-D37E-B79F-CE9D0DA5C5F0}"/>
              </a:ext>
            </a:extLst>
          </p:cNvPr>
          <p:cNvSpPr txBox="1"/>
          <p:nvPr/>
        </p:nvSpPr>
        <p:spPr>
          <a:xfrm>
            <a:off x="8270955" y="3686886"/>
            <a:ext cx="3024845" cy="584775"/>
          </a:xfrm>
          <a:prstGeom prst="rect">
            <a:avLst/>
          </a:prstGeom>
          <a:noFill/>
        </p:spPr>
        <p:txBody>
          <a:bodyPr wrap="square" rtlCol="0">
            <a:spAutoFit/>
          </a:bodyPr>
          <a:lstStyle/>
          <a:p>
            <a:r>
              <a:rPr lang="en-US" sz="1600" dirty="0"/>
              <a:t>These are repeating the same values</a:t>
            </a:r>
          </a:p>
        </p:txBody>
      </p:sp>
      <p:sp>
        <p:nvSpPr>
          <p:cNvPr id="8" name="TextBox 7">
            <a:extLst>
              <a:ext uri="{FF2B5EF4-FFF2-40B4-BE49-F238E27FC236}">
                <a16:creationId xmlns:a16="http://schemas.microsoft.com/office/drawing/2014/main" id="{20A4C146-808F-C595-97A2-B33DD44DC55B}"/>
              </a:ext>
            </a:extLst>
          </p:cNvPr>
          <p:cNvSpPr txBox="1"/>
          <p:nvPr/>
        </p:nvSpPr>
        <p:spPr>
          <a:xfrm>
            <a:off x="598495" y="5992297"/>
            <a:ext cx="8334136" cy="461665"/>
          </a:xfrm>
          <a:prstGeom prst="rect">
            <a:avLst/>
          </a:prstGeom>
          <a:noFill/>
        </p:spPr>
        <p:txBody>
          <a:bodyPr wrap="square">
            <a:spAutoFit/>
          </a:bodyPr>
          <a:lstStyle/>
          <a:p>
            <a:pPr marL="285750" indent="-285750">
              <a:buFont typeface="Arial" panose="020B0604020202020204" pitchFamily="34" charset="0"/>
              <a:buChar char="•"/>
            </a:pPr>
            <a:r>
              <a:rPr lang="en-US" sz="2400" dirty="0">
                <a:solidFill>
                  <a:srgbClr val="C00000"/>
                </a:solidFill>
              </a:rPr>
              <a:t>Example: </a:t>
            </a:r>
            <a:r>
              <a:rPr lang="en-US" sz="2400" i="1" dirty="0"/>
              <a:t>Module 1.2 – Example – Classical Decomposition.xlsx</a:t>
            </a:r>
          </a:p>
        </p:txBody>
      </p:sp>
    </p:spTree>
    <p:extLst>
      <p:ext uri="{BB962C8B-B14F-4D97-AF65-F5344CB8AC3E}">
        <p14:creationId xmlns:p14="http://schemas.microsoft.com/office/powerpoint/2010/main" val="1011119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lnSpcReduction="10000"/>
          </a:bodyPr>
          <a:lstStyle/>
          <a:p>
            <a:r>
              <a:rPr lang="en-US" dirty="0">
                <a:solidFill>
                  <a:schemeClr val="bg2"/>
                </a:solidFill>
              </a:rPr>
              <a:t>Time Series</a:t>
            </a:r>
          </a:p>
          <a:p>
            <a:pPr lvl="1"/>
            <a:r>
              <a:rPr lang="en-US" dirty="0">
                <a:solidFill>
                  <a:schemeClr val="bg2"/>
                </a:solidFill>
              </a:rPr>
              <a:t>Patterns, Graphics, Autocorrelation, and Stationarity</a:t>
            </a:r>
          </a:p>
          <a:p>
            <a:pPr lvl="1"/>
            <a:r>
              <a:rPr lang="en-US" dirty="0">
                <a:solidFill>
                  <a:schemeClr val="bg2"/>
                </a:solidFill>
              </a:rPr>
              <a:t>Components, Moving Averages, and Decomposition</a:t>
            </a:r>
          </a:p>
          <a:p>
            <a:endParaRPr lang="en-US" dirty="0"/>
          </a:p>
          <a:p>
            <a:r>
              <a:rPr lang="en-US" dirty="0"/>
              <a:t>Simple Forecasting Methods</a:t>
            </a:r>
          </a:p>
          <a:p>
            <a:pPr lvl="1"/>
            <a:r>
              <a:rPr lang="en-US" dirty="0"/>
              <a:t>Notation and Methods</a:t>
            </a:r>
          </a:p>
          <a:p>
            <a:pPr lvl="1"/>
            <a:r>
              <a:rPr lang="en-US" dirty="0"/>
              <a:t>Forecasting with Moving Average </a:t>
            </a:r>
          </a:p>
          <a:p>
            <a:endParaRPr lang="en-US" dirty="0"/>
          </a:p>
          <a:p>
            <a:r>
              <a:rPr lang="en-US" dirty="0">
                <a:solidFill>
                  <a:schemeClr val="bg2"/>
                </a:solidFill>
              </a:rPr>
              <a:t>Forecast Errors</a:t>
            </a:r>
          </a:p>
          <a:p>
            <a:pPr lvl="1"/>
            <a:r>
              <a:rPr lang="en-US" dirty="0">
                <a:solidFill>
                  <a:schemeClr val="bg2"/>
                </a:solidFill>
              </a:rPr>
              <a:t>Errors and Measures</a:t>
            </a:r>
          </a:p>
        </p:txBody>
      </p:sp>
    </p:spTree>
    <p:extLst>
      <p:ext uri="{BB962C8B-B14F-4D97-AF65-F5344CB8AC3E}">
        <p14:creationId xmlns:p14="http://schemas.microsoft.com/office/powerpoint/2010/main" val="32104946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 Forecasting Methods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Very simple and intuitive methods</a:t>
                </a:r>
              </a:p>
              <a:p>
                <a:pPr lvl="1"/>
                <a:r>
                  <a:rPr lang="en-US" dirty="0"/>
                  <a:t>Can be used as benchmarks for evaluating other methods</a:t>
                </a:r>
              </a:p>
              <a:p>
                <a:r>
                  <a:rPr lang="en-US" b="1" dirty="0">
                    <a:solidFill>
                      <a:srgbClr val="C00000"/>
                    </a:solidFill>
                  </a:rPr>
                  <a:t>Notation:</a:t>
                </a:r>
              </a:p>
              <a:p>
                <a:pPr lvl="1"/>
                <a:r>
                  <a:rPr lang="en-US" dirty="0"/>
                  <a:t>Suppose that you are in time </a:t>
                </a:r>
                <a14:m>
                  <m:oMath xmlns:m="http://schemas.openxmlformats.org/officeDocument/2006/math">
                    <m:r>
                      <a:rPr lang="en-US" i="1" dirty="0" smtClean="0">
                        <a:latin typeface="Cambria Math" panose="02040503050406030204" pitchFamily="18" charset="0"/>
                      </a:rPr>
                      <m:t>𝑇</m:t>
                    </m:r>
                  </m:oMath>
                </a14:m>
                <a:r>
                  <a:rPr lang="en-US" dirty="0"/>
                  <a:t>, and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3</m:t>
                        </m:r>
                      </m:sub>
                    </m:sSub>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𝑇</m:t>
                        </m:r>
                      </m:sub>
                    </m:sSub>
                  </m:oMath>
                </a14:m>
                <a:r>
                  <a:rPr lang="en-US" dirty="0"/>
                  <a:t> are the historical data</a:t>
                </a:r>
              </a:p>
              <a:p>
                <a:pPr lvl="1"/>
                <a14:m>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𝑇</m:t>
                        </m:r>
                      </m:sub>
                    </m:sSub>
                  </m:oMath>
                </a14:m>
                <a:r>
                  <a:rPr lang="en-US" dirty="0"/>
                  <a:t>: the forecast for time </a:t>
                </a:r>
                <a14:m>
                  <m:oMath xmlns:m="http://schemas.openxmlformats.org/officeDocument/2006/math">
                    <m:r>
                      <a:rPr lang="en-US" i="1" dirty="0" smtClean="0">
                        <a:latin typeface="Cambria Math" panose="02040503050406030204" pitchFamily="18" charset="0"/>
                      </a:rPr>
                      <m:t>𝑇</m:t>
                    </m:r>
                    <m:r>
                      <a:rPr lang="en-US" i="1" dirty="0" smtClean="0">
                        <a:latin typeface="Cambria Math" panose="02040503050406030204" pitchFamily="18" charset="0"/>
                      </a:rPr>
                      <m:t>+</m:t>
                    </m:r>
                    <m:r>
                      <a:rPr lang="en-US" i="1" dirty="0" smtClean="0">
                        <a:latin typeface="Cambria Math" panose="02040503050406030204" pitchFamily="18" charset="0"/>
                      </a:rPr>
                      <m:t>h</m:t>
                    </m:r>
                  </m:oMath>
                </a14:m>
                <a:r>
                  <a:rPr lang="en-US" dirty="0"/>
                  <a:t> made in time </a:t>
                </a:r>
                <a14:m>
                  <m:oMath xmlns:m="http://schemas.openxmlformats.org/officeDocument/2006/math">
                    <m:r>
                      <a:rPr lang="en-US" i="1" dirty="0" smtClean="0">
                        <a:latin typeface="Cambria Math" panose="02040503050406030204" pitchFamily="18" charset="0"/>
                      </a:rPr>
                      <m:t>𝑇</m:t>
                    </m:r>
                  </m:oMath>
                </a14:m>
                <a:r>
                  <a:rPr lang="en-US" dirty="0"/>
                  <a:t> (after observing time </a:t>
                </a:r>
                <a14:m>
                  <m:oMath xmlns:m="http://schemas.openxmlformats.org/officeDocument/2006/math">
                    <m:r>
                      <a:rPr lang="en-US" i="1" dirty="0" smtClean="0">
                        <a:latin typeface="Cambria Math" panose="02040503050406030204" pitchFamily="18" charset="0"/>
                      </a:rPr>
                      <m:t>𝑇</m:t>
                    </m:r>
                  </m:oMath>
                </a14:m>
                <a:r>
                  <a:rPr lang="en-US" dirty="0"/>
                  <a:t> data)</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2023</m:t>
                        </m:r>
                        <m:r>
                          <a:rPr lang="en-US" i="1">
                            <a:latin typeface="Cambria Math" panose="02040503050406030204" pitchFamily="18" charset="0"/>
                          </a:rPr>
                          <m:t>|</m:t>
                        </m:r>
                        <m:r>
                          <a:rPr lang="en-US" b="0" i="1" smtClean="0">
                            <a:latin typeface="Cambria Math" panose="02040503050406030204" pitchFamily="18" charset="0"/>
                          </a:rPr>
                          <m:t>2019</m:t>
                        </m:r>
                      </m:sub>
                    </m:sSub>
                  </m:oMath>
                </a14:m>
                <a:r>
                  <a:rPr lang="en-US" dirty="0"/>
                  <a:t> denotes the forecast (say for demand) made for 2023 in year 2019 after knowing (observing) the actual demand in year 2019</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56" t="-2757" b="-91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4520506" y="3396718"/>
                <a:ext cx="1573701" cy="6959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3600" i="1">
                              <a:latin typeface="Cambria Math" panose="02040503050406030204" pitchFamily="18" charset="0"/>
                            </a:rPr>
                          </m:ctrlPr>
                        </m:sSubPr>
                        <m:e>
                          <m:acc>
                            <m:accPr>
                              <m:chr m:val="̂"/>
                              <m:ctrlPr>
                                <a:rPr lang="en-US" sz="3600" i="1">
                                  <a:latin typeface="Cambria Math" panose="02040503050406030204" pitchFamily="18" charset="0"/>
                                </a:rPr>
                              </m:ctrlPr>
                            </m:accPr>
                            <m:e>
                              <m:r>
                                <a:rPr lang="en-US" sz="3600" i="1">
                                  <a:latin typeface="Cambria Math" panose="02040503050406030204" pitchFamily="18" charset="0"/>
                                </a:rPr>
                                <m:t>𝑦</m:t>
                              </m:r>
                            </m:e>
                          </m:acc>
                        </m:e>
                        <m:sub>
                          <m:r>
                            <a:rPr lang="en-US" sz="3600" i="1">
                              <a:latin typeface="Cambria Math" panose="02040503050406030204" pitchFamily="18" charset="0"/>
                            </a:rPr>
                            <m:t>𝑇</m:t>
                          </m:r>
                          <m:r>
                            <a:rPr lang="en-US" sz="3600" i="1">
                              <a:latin typeface="Cambria Math" panose="02040503050406030204" pitchFamily="18" charset="0"/>
                            </a:rPr>
                            <m:t>+</m:t>
                          </m:r>
                          <m:r>
                            <a:rPr lang="en-US" sz="3600" i="1">
                              <a:latin typeface="Cambria Math" panose="02040503050406030204" pitchFamily="18" charset="0"/>
                            </a:rPr>
                            <m:t>h</m:t>
                          </m:r>
                          <m:r>
                            <a:rPr lang="en-US" sz="3600" i="1">
                              <a:latin typeface="Cambria Math" panose="02040503050406030204" pitchFamily="18" charset="0"/>
                            </a:rPr>
                            <m:t>|</m:t>
                          </m:r>
                          <m:r>
                            <a:rPr lang="en-US" sz="3600" i="1">
                              <a:latin typeface="Cambria Math" panose="02040503050406030204" pitchFamily="18" charset="0"/>
                            </a:rPr>
                            <m:t>𝑇</m:t>
                          </m:r>
                        </m:sub>
                      </m:sSub>
                    </m:oMath>
                  </m:oMathPara>
                </a14:m>
                <a:endParaRPr lang="en-US" sz="3600" dirty="0"/>
              </a:p>
            </p:txBody>
          </p:sp>
        </mc:Choice>
        <mc:Fallback xmlns="">
          <p:sp>
            <p:nvSpPr>
              <p:cNvPr id="4" name="Rectangle 3"/>
              <p:cNvSpPr>
                <a:spLocks noRot="1" noChangeAspect="1" noMove="1" noResize="1" noEditPoints="1" noAdjustHandles="1" noChangeArrowheads="1" noChangeShapeType="1" noTextEdit="1"/>
              </p:cNvSpPr>
              <p:nvPr/>
            </p:nvSpPr>
            <p:spPr>
              <a:xfrm>
                <a:off x="4520506" y="3396718"/>
                <a:ext cx="1573701" cy="695960"/>
              </a:xfrm>
              <a:prstGeom prst="rect">
                <a:avLst/>
              </a:prstGeom>
              <a:blipFill>
                <a:blip r:embed="rId3"/>
                <a:stretch>
                  <a:fillRect/>
                </a:stretch>
              </a:blipFill>
            </p:spPr>
            <p:txBody>
              <a:bodyPr/>
              <a:lstStyle/>
              <a:p>
                <a:r>
                  <a:rPr lang="en-US">
                    <a:noFill/>
                  </a:rPr>
                  <a:t> </a:t>
                </a:r>
              </a:p>
            </p:txBody>
          </p:sp>
        </mc:Fallback>
      </mc:AlternateContent>
      <p:cxnSp>
        <p:nvCxnSpPr>
          <p:cNvPr id="8" name="Straight Arrow Connector 7"/>
          <p:cNvCxnSpPr/>
          <p:nvPr/>
        </p:nvCxnSpPr>
        <p:spPr>
          <a:xfrm flipH="1">
            <a:off x="4796974" y="4042903"/>
            <a:ext cx="383459" cy="53831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5914103" y="4042903"/>
            <a:ext cx="446605" cy="40742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902822" y="4593356"/>
            <a:ext cx="1788304" cy="923330"/>
          </a:xfrm>
          <a:prstGeom prst="rect">
            <a:avLst/>
          </a:prstGeom>
          <a:noFill/>
        </p:spPr>
        <p:txBody>
          <a:bodyPr wrap="square" rtlCol="0">
            <a:spAutoFit/>
          </a:bodyPr>
          <a:lstStyle/>
          <a:p>
            <a:r>
              <a:rPr lang="en-US" dirty="0"/>
              <a:t>For which time, you are making the forecast</a:t>
            </a:r>
          </a:p>
        </p:txBody>
      </p:sp>
      <p:sp>
        <p:nvSpPr>
          <p:cNvPr id="16" name="TextBox 15"/>
          <p:cNvSpPr txBox="1"/>
          <p:nvPr/>
        </p:nvSpPr>
        <p:spPr>
          <a:xfrm>
            <a:off x="6414604" y="4160181"/>
            <a:ext cx="1372544" cy="923330"/>
          </a:xfrm>
          <a:prstGeom prst="rect">
            <a:avLst/>
          </a:prstGeom>
          <a:noFill/>
        </p:spPr>
        <p:txBody>
          <a:bodyPr wrap="square" rtlCol="0">
            <a:spAutoFit/>
          </a:bodyPr>
          <a:lstStyle/>
          <a:p>
            <a:r>
              <a:rPr lang="en-US" dirty="0"/>
              <a:t>When you are making the forecast</a:t>
            </a:r>
          </a:p>
        </p:txBody>
      </p:sp>
      <p:cxnSp>
        <p:nvCxnSpPr>
          <p:cNvPr id="17" name="Straight Arrow Connector 16"/>
          <p:cNvCxnSpPr/>
          <p:nvPr/>
        </p:nvCxnSpPr>
        <p:spPr>
          <a:xfrm flipH="1">
            <a:off x="3775587" y="3569110"/>
            <a:ext cx="855407" cy="2949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794097" y="3388731"/>
            <a:ext cx="2051733" cy="1477328"/>
          </a:xfrm>
          <a:prstGeom prst="rect">
            <a:avLst/>
          </a:prstGeom>
          <a:noFill/>
        </p:spPr>
        <p:txBody>
          <a:bodyPr wrap="square" rtlCol="0">
            <a:spAutoFit/>
          </a:bodyPr>
          <a:lstStyle/>
          <a:p>
            <a:r>
              <a:rPr lang="en-US" dirty="0"/>
              <a:t>^ over a variable is used to denote a forecast value. No hat means the observed value</a:t>
            </a:r>
          </a:p>
        </p:txBody>
      </p:sp>
    </p:spTree>
    <p:extLst>
      <p:ext uri="{BB962C8B-B14F-4D97-AF65-F5344CB8AC3E}">
        <p14:creationId xmlns:p14="http://schemas.microsoft.com/office/powerpoint/2010/main" val="2828214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P spid="16" grpId="0"/>
      <p:bldP spid="2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solidFill>
                      <a:srgbClr val="C00000"/>
                    </a:solidFill>
                  </a:rPr>
                  <a:t>Average Method: </a:t>
                </a:r>
                <a:r>
                  <a:rPr lang="en-US" dirty="0"/>
                  <a:t>the forecasts of all future values are equal to the average (or “mean”) of the historical data</a:t>
                </a:r>
              </a:p>
              <a:p>
                <a:pPr lvl="1"/>
                <a:r>
                  <a:rPr lang="en-US" dirty="0"/>
                  <a:t>For any </a:t>
                </a:r>
                <a14:m>
                  <m:oMath xmlns:m="http://schemas.openxmlformats.org/officeDocument/2006/math">
                    <m:r>
                      <a:rPr lang="en-US" i="1" dirty="0" smtClean="0">
                        <a:latin typeface="Cambria Math" panose="02040503050406030204" pitchFamily="18" charset="0"/>
                      </a:rPr>
                      <m:t>h</m:t>
                    </m:r>
                  </m:oMath>
                </a14:m>
                <a:r>
                  <a:rPr lang="en-US" dirty="0"/>
                  <a:t>: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𝑇</m:t>
                        </m:r>
                        <m:r>
                          <a:rPr lang="en-US" i="1">
                            <a:latin typeface="Cambria Math" panose="02040503050406030204" pitchFamily="18" charset="0"/>
                          </a:rPr>
                          <m:t>+</m:t>
                        </m:r>
                        <m:r>
                          <a:rPr lang="en-US" i="1">
                            <a:latin typeface="Cambria Math" panose="02040503050406030204" pitchFamily="18" charset="0"/>
                          </a:rPr>
                          <m:t>h</m:t>
                        </m:r>
                        <m:r>
                          <a:rPr lang="en-US" i="1">
                            <a:latin typeface="Cambria Math" panose="02040503050406030204" pitchFamily="18" charset="0"/>
                          </a:rPr>
                          <m:t>|</m:t>
                        </m:r>
                        <m:r>
                          <a:rPr lang="en-US" i="1">
                            <a:latin typeface="Cambria Math" panose="02040503050406030204" pitchFamily="18" charset="0"/>
                          </a:rPr>
                          <m:t>𝑇</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𝑇</m:t>
                        </m:r>
                      </m:sub>
                    </m:sSub>
                    <m:r>
                      <a:rPr lang="en-US" b="0" i="1" smtClean="0">
                        <a:latin typeface="Cambria Math" panose="02040503050406030204" pitchFamily="18" charset="0"/>
                      </a:rPr>
                      <m:t>)/</m:t>
                    </m:r>
                    <m:r>
                      <a:rPr lang="en-US" b="0" i="1" smtClean="0">
                        <a:latin typeface="Cambria Math" panose="02040503050406030204" pitchFamily="18" charset="0"/>
                      </a:rPr>
                      <m:t>𝑇</m:t>
                    </m:r>
                  </m:oMath>
                </a14:m>
                <a:endParaRPr lang="en-US" dirty="0"/>
              </a:p>
              <a:p>
                <a:pPr lvl="4"/>
                <a:endParaRPr lang="en-US" dirty="0"/>
              </a:p>
              <a:p>
                <a:r>
                  <a:rPr lang="en-US" dirty="0">
                    <a:solidFill>
                      <a:srgbClr val="C00000"/>
                    </a:solidFill>
                  </a:rPr>
                  <a:t>Naïve Method: </a:t>
                </a:r>
                <a:r>
                  <a:rPr lang="en-US" dirty="0"/>
                  <a:t>set all forecasts to be the value of the last observation</a:t>
                </a:r>
              </a:p>
              <a:p>
                <a:pPr lvl="1"/>
                <a:r>
                  <a:rPr lang="en-US" dirty="0"/>
                  <a:t>For any </a:t>
                </a:r>
                <a14:m>
                  <m:oMath xmlns:m="http://schemas.openxmlformats.org/officeDocument/2006/math">
                    <m:r>
                      <a:rPr lang="en-US" i="1" dirty="0" smtClean="0">
                        <a:latin typeface="Cambria Math" panose="02040503050406030204" pitchFamily="18" charset="0"/>
                      </a:rPr>
                      <m:t>h</m:t>
                    </m:r>
                  </m:oMath>
                </a14:m>
                <a:r>
                  <a:rPr lang="en-US" dirty="0"/>
                  <a:t>: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𝑇</m:t>
                        </m:r>
                        <m:r>
                          <a:rPr lang="en-US" i="1">
                            <a:latin typeface="Cambria Math" panose="02040503050406030204" pitchFamily="18" charset="0"/>
                          </a:rPr>
                          <m:t>+</m:t>
                        </m:r>
                        <m:r>
                          <a:rPr lang="en-US" i="1">
                            <a:latin typeface="Cambria Math" panose="02040503050406030204" pitchFamily="18" charset="0"/>
                          </a:rPr>
                          <m:t>h</m:t>
                        </m:r>
                        <m:r>
                          <a:rPr lang="en-US" i="1">
                            <a:latin typeface="Cambria Math" panose="02040503050406030204" pitchFamily="18" charset="0"/>
                          </a:rPr>
                          <m:t>|</m:t>
                        </m:r>
                        <m:r>
                          <a:rPr lang="en-US" i="1">
                            <a:latin typeface="Cambria Math" panose="02040503050406030204" pitchFamily="18" charset="0"/>
                          </a:rPr>
                          <m:t>𝑇</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𝑇</m:t>
                        </m:r>
                      </m:sub>
                    </m:sSub>
                  </m:oMath>
                </a14:m>
                <a:endParaRPr lang="en-US" dirty="0"/>
              </a:p>
              <a:p>
                <a:pPr lvl="4"/>
                <a:endParaRPr lang="en-US" dirty="0">
                  <a:solidFill>
                    <a:srgbClr val="C00000"/>
                  </a:solidFill>
                </a:endParaRPr>
              </a:p>
              <a:p>
                <a:r>
                  <a:rPr lang="en-US" dirty="0">
                    <a:solidFill>
                      <a:srgbClr val="C00000"/>
                    </a:solidFill>
                  </a:rPr>
                  <a:t>Seasonal Naïve Method: </a:t>
                </a:r>
                <a:r>
                  <a:rPr lang="en-US" dirty="0"/>
                  <a:t>set each forecast to be equal to the last observed value from the same season of (e.g., the same month of the previous year) </a:t>
                </a:r>
              </a:p>
              <a:p>
                <a:pPr lvl="1"/>
                <a:r>
                  <a:rPr lang="en-US" dirty="0"/>
                  <a:t>For any </a:t>
                </a:r>
                <a14:m>
                  <m:oMath xmlns:m="http://schemas.openxmlformats.org/officeDocument/2006/math">
                    <m:r>
                      <a:rPr lang="en-US" i="1" dirty="0" smtClean="0">
                        <a:latin typeface="Cambria Math" panose="02040503050406030204" pitchFamily="18" charset="0"/>
                      </a:rPr>
                      <m:t>h</m:t>
                    </m:r>
                  </m:oMath>
                </a14:m>
                <a:r>
                  <a:rPr lang="en-US" dirty="0"/>
                  <a:t>: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𝑇</m:t>
                        </m:r>
                        <m:r>
                          <a:rPr lang="en-US" i="1">
                            <a:latin typeface="Cambria Math" panose="02040503050406030204" pitchFamily="18" charset="0"/>
                          </a:rPr>
                          <m:t>+</m:t>
                        </m:r>
                        <m:r>
                          <a:rPr lang="en-US" i="1">
                            <a:latin typeface="Cambria Math" panose="02040503050406030204" pitchFamily="18" charset="0"/>
                          </a:rPr>
                          <m:t>h</m:t>
                        </m:r>
                        <m:r>
                          <a:rPr lang="en-US" i="1">
                            <a:latin typeface="Cambria Math" panose="02040503050406030204" pitchFamily="18" charset="0"/>
                          </a:rPr>
                          <m:t>|</m:t>
                        </m:r>
                        <m:r>
                          <a:rPr lang="en-US" i="1">
                            <a:latin typeface="Cambria Math" panose="02040503050406030204" pitchFamily="18" charset="0"/>
                          </a:rPr>
                          <m:t>𝑇</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+1)</m:t>
                        </m:r>
                      </m:sub>
                    </m:sSub>
                  </m:oMath>
                </a14:m>
                <a:endParaRPr lang="en-US" dirty="0"/>
              </a:p>
              <a:p>
                <a:pPr lvl="1"/>
                <a:r>
                  <a:rPr lang="en-US" dirty="0"/>
                  <a:t>where </a:t>
                </a:r>
                <a14:m>
                  <m:oMath xmlns:m="http://schemas.openxmlformats.org/officeDocument/2006/math">
                    <m:r>
                      <a:rPr lang="en-US" b="0" i="1" smtClean="0">
                        <a:latin typeface="Cambria Math" panose="02040503050406030204" pitchFamily="18" charset="0"/>
                      </a:rPr>
                      <m:t>𝑚</m:t>
                    </m:r>
                  </m:oMath>
                </a14:m>
                <a:r>
                  <a:rPr lang="en-US" dirty="0"/>
                  <a:t> is the seasonal period, and </a:t>
                </a:r>
                <a14:m>
                  <m:oMath xmlns:m="http://schemas.openxmlformats.org/officeDocument/2006/math">
                    <m:r>
                      <a:rPr lang="en-US" b="0" i="1" smtClean="0">
                        <a:latin typeface="Cambria Math" panose="02040503050406030204" pitchFamily="18" charset="0"/>
                      </a:rPr>
                      <m:t>𝑘</m:t>
                    </m:r>
                  </m:oMath>
                </a14:m>
                <a:r>
                  <a:rPr lang="en-US" dirty="0"/>
                  <a:t> is the integer part of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h</m:t>
                    </m:r>
                    <m:r>
                      <a:rPr lang="en-US" i="1" dirty="0" smtClean="0">
                        <a:latin typeface="Cambria Math" panose="02040503050406030204" pitchFamily="18" charset="0"/>
                      </a:rPr>
                      <m:t>−1)/</m:t>
                    </m:r>
                    <m:r>
                      <a:rPr lang="en-US" i="1" dirty="0" smtClean="0">
                        <a:latin typeface="Cambria Math" panose="02040503050406030204" pitchFamily="18" charset="0"/>
                      </a:rPr>
                      <m:t>𝑚</m:t>
                    </m:r>
                    <m:r>
                      <a:rPr lang="en-US" i="1" dirty="0" smtClean="0">
                        <a:latin typeface="Cambria Math" panose="02040503050406030204" pitchFamily="18" charset="0"/>
                      </a:rPr>
                      <m:t> </m:t>
                    </m:r>
                  </m:oMath>
                </a14:m>
                <a:r>
                  <a:rPr lang="en-US" dirty="0"/>
                  <a:t>(i.e., the number of complete seasons in the forecast period prior to time </a:t>
                </a:r>
                <a14:m>
                  <m:oMath xmlns:m="http://schemas.openxmlformats.org/officeDocument/2006/math">
                    <m:r>
                      <a:rPr lang="en-US" i="1" dirty="0" smtClean="0">
                        <a:latin typeface="Cambria Math" panose="02040503050406030204" pitchFamily="18" charset="0"/>
                      </a:rPr>
                      <m:t>𝑇</m:t>
                    </m:r>
                    <m:r>
                      <a:rPr lang="en-US" i="1" dirty="0" smtClean="0">
                        <a:latin typeface="Cambria Math" panose="02040503050406030204" pitchFamily="18" charset="0"/>
                      </a:rPr>
                      <m:t>+</m:t>
                    </m:r>
                    <m:r>
                      <a:rPr lang="en-US" i="1" dirty="0" smtClean="0">
                        <a:latin typeface="Cambria Math" panose="02040503050406030204" pitchFamily="18" charset="0"/>
                      </a:rPr>
                      <m:t>h</m:t>
                    </m:r>
                  </m:oMath>
                </a14:m>
                <a:r>
                  <a:rPr lang="en-US" dirty="0"/>
                  <a:t>). </a:t>
                </a:r>
              </a:p>
              <a:p>
                <a:pPr lvl="1"/>
                <a:r>
                  <a:rPr lang="en-US" dirty="0"/>
                  <a:t>For example:</a:t>
                </a:r>
              </a:p>
              <a:p>
                <a:pPr lvl="2"/>
                <a:r>
                  <a:rPr lang="en-US" dirty="0"/>
                  <a:t>With monthly data, the forecast for all future May values is equal to the last observed May value. </a:t>
                </a:r>
              </a:p>
              <a:p>
                <a:pPr lvl="2"/>
                <a:r>
                  <a:rPr lang="en-US" dirty="0"/>
                  <a:t>With quarterly data, the forecast of all future Q2 values is equal to the last observed Q2 value</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56" t="-2757" b="-13158"/>
                </a:stretch>
              </a:blipFill>
            </p:spPr>
            <p:txBody>
              <a:bodyPr/>
              <a:lstStyle/>
              <a:p>
                <a:r>
                  <a:rPr lang="en-US">
                    <a:noFill/>
                  </a:rPr>
                  <a:t> </a:t>
                </a:r>
              </a:p>
            </p:txBody>
          </p:sp>
        </mc:Fallback>
      </mc:AlternateContent>
      <p:sp>
        <p:nvSpPr>
          <p:cNvPr id="2" name="Title 1"/>
          <p:cNvSpPr>
            <a:spLocks noGrp="1"/>
          </p:cNvSpPr>
          <p:nvPr>
            <p:ph type="title"/>
          </p:nvPr>
        </p:nvSpPr>
        <p:spPr/>
        <p:txBody>
          <a:bodyPr/>
          <a:lstStyle/>
          <a:p>
            <a:r>
              <a:rPr lang="en-US" dirty="0"/>
              <a:t>Simple Forecasting Methods</a:t>
            </a:r>
          </a:p>
        </p:txBody>
      </p:sp>
    </p:spTree>
    <p:extLst>
      <p:ext uri="{BB962C8B-B14F-4D97-AF65-F5344CB8AC3E}">
        <p14:creationId xmlns:p14="http://schemas.microsoft.com/office/powerpoint/2010/main" val="3932442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 Forecasting Methods</a:t>
            </a:r>
          </a:p>
        </p:txBody>
      </p:sp>
      <p:sp>
        <p:nvSpPr>
          <p:cNvPr id="3" name="Content Placeholder 2"/>
          <p:cNvSpPr>
            <a:spLocks noGrp="1"/>
          </p:cNvSpPr>
          <p:nvPr>
            <p:ph idx="1"/>
          </p:nvPr>
        </p:nvSpPr>
        <p:spPr/>
        <p:txBody>
          <a:bodyPr>
            <a:normAutofit lnSpcReduction="10000"/>
          </a:bodyPr>
          <a:lstStyle/>
          <a:p>
            <a:r>
              <a:rPr lang="en-US" dirty="0">
                <a:solidFill>
                  <a:srgbClr val="C00000"/>
                </a:solidFill>
              </a:rPr>
              <a:t>Drift Method: </a:t>
            </a:r>
            <a:r>
              <a:rPr lang="en-US" dirty="0"/>
              <a:t>A variation on the naïve method is to allow the forecasts to increase or decrease over time, where the amount of change over time (called the </a:t>
            </a:r>
            <a:r>
              <a:rPr lang="en-US" b="1" dirty="0"/>
              <a:t>drift</a:t>
            </a:r>
            <a:r>
              <a:rPr lang="en-US" dirty="0"/>
              <a:t>) is set to be the average change seen in the historical data</a:t>
            </a:r>
          </a:p>
          <a:p>
            <a:endParaRPr lang="en-US" dirty="0"/>
          </a:p>
          <a:p>
            <a:endParaRPr lang="en-US" dirty="0"/>
          </a:p>
          <a:p>
            <a:endParaRPr lang="en-US" dirty="0"/>
          </a:p>
          <a:p>
            <a:endParaRPr lang="en-US" dirty="0"/>
          </a:p>
          <a:p>
            <a:endParaRPr lang="en-US" dirty="0"/>
          </a:p>
          <a:p>
            <a:pPr lvl="1"/>
            <a:r>
              <a:rPr lang="en-US" dirty="0"/>
              <a:t>This is equivalent to drawing a line between the first and last observations, and extrapolating it into the future. </a:t>
            </a:r>
          </a:p>
          <a:p>
            <a:endParaRPr lang="en-US" dirty="0"/>
          </a:p>
        </p:txBody>
      </p:sp>
      <p:cxnSp>
        <p:nvCxnSpPr>
          <p:cNvPr id="8" name="Straight Arrow Connector 7"/>
          <p:cNvCxnSpPr>
            <a:cxnSpLocks/>
          </p:cNvCxnSpPr>
          <p:nvPr/>
        </p:nvCxnSpPr>
        <p:spPr>
          <a:xfrm>
            <a:off x="9575928" y="3607055"/>
            <a:ext cx="305491" cy="53091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8727969" y="4137973"/>
            <a:ext cx="2306899" cy="646331"/>
          </a:xfrm>
          <a:prstGeom prst="rect">
            <a:avLst/>
          </a:prstGeom>
          <a:noFill/>
        </p:spPr>
        <p:txBody>
          <a:bodyPr wrap="square" rtlCol="0">
            <a:spAutoFit/>
          </a:bodyPr>
          <a:lstStyle/>
          <a:p>
            <a:pPr algn="ctr"/>
            <a:r>
              <a:rPr lang="en-US" dirty="0"/>
              <a:t>This is the average difference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9E0C962-ED02-F117-CAA9-C2CF2F11F16C}"/>
                  </a:ext>
                </a:extLst>
              </p:cNvPr>
              <p:cNvSpPr txBox="1"/>
              <p:nvPr/>
            </p:nvSpPr>
            <p:spPr>
              <a:xfrm>
                <a:off x="2531831" y="2557799"/>
                <a:ext cx="7783888" cy="113075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r>
                            <a:rPr lang="en-US" sz="2400" i="1">
                              <a:latin typeface="Cambria Math" panose="02040503050406030204" pitchFamily="18" charset="0"/>
                            </a:rPr>
                            <m:t>+</m:t>
                          </m:r>
                          <m:r>
                            <a:rPr lang="en-US" sz="2400" i="1">
                              <a:latin typeface="Cambria Math" panose="02040503050406030204" pitchFamily="18" charset="0"/>
                            </a:rPr>
                            <m:t>h</m:t>
                          </m:r>
                          <m:r>
                            <a:rPr lang="en-US" sz="2400" i="1">
                              <a:latin typeface="Cambria Math" panose="02040503050406030204" pitchFamily="18" charset="0"/>
                            </a:rPr>
                            <m:t>|</m:t>
                          </m:r>
                          <m:r>
                            <a:rPr lang="en-US" sz="2400" i="1">
                              <a:latin typeface="Cambria Math" panose="02040503050406030204" pitchFamily="18" charset="0"/>
                            </a:rPr>
                            <m:t>𝑇</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𝑇</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h</m:t>
                          </m:r>
                        </m:num>
                        <m:den>
                          <m:r>
                            <a:rPr lang="en-US" sz="2400" b="0" i="1" smtClean="0">
                              <a:latin typeface="Cambria Math" panose="02040503050406030204" pitchFamily="18" charset="0"/>
                            </a:rPr>
                            <m:t>𝑇</m:t>
                          </m:r>
                          <m:r>
                            <a:rPr lang="en-US" sz="2400" b="0" i="1" smtClean="0">
                              <a:latin typeface="Cambria Math" panose="02040503050406030204" pitchFamily="18" charset="0"/>
                            </a:rPr>
                            <m:t>−1</m:t>
                          </m:r>
                        </m:den>
                      </m:f>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𝑡</m:t>
                          </m:r>
                          <m:r>
                            <a:rPr lang="en-US" sz="2400" b="0" i="1" smtClean="0">
                              <a:latin typeface="Cambria Math" panose="02040503050406030204" pitchFamily="18" charset="0"/>
                            </a:rPr>
                            <m:t>=2</m:t>
                          </m:r>
                        </m:sub>
                        <m:sup>
                          <m:r>
                            <a:rPr lang="en-US" sz="2400" b="0" i="1" smtClean="0">
                              <a:latin typeface="Cambria Math" panose="02040503050406030204" pitchFamily="18" charset="0"/>
                            </a:rPr>
                            <m:t>𝑇</m:t>
                          </m:r>
                        </m:sup>
                        <m:e>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𝑡</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e>
                      </m:nary>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𝑇</m:t>
                          </m:r>
                        </m:sub>
                      </m:sSub>
                      <m:r>
                        <a:rPr lang="en-US" sz="2400" b="0" i="1" smtClean="0">
                          <a:latin typeface="Cambria Math" panose="02040503050406030204" pitchFamily="18" charset="0"/>
                        </a:rPr>
                        <m:t>+</m:t>
                      </m:r>
                      <m:r>
                        <a:rPr lang="en-US" sz="2400" b="0" i="1" smtClean="0">
                          <a:latin typeface="Cambria Math" panose="02040503050406030204" pitchFamily="18" charset="0"/>
                        </a:rPr>
                        <m:t>h</m:t>
                      </m:r>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𝑇</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1</m:t>
                                  </m:r>
                                </m:sub>
                              </m:sSub>
                            </m:num>
                            <m:den>
                              <m:r>
                                <a:rPr lang="en-US" sz="2400" b="0" i="1" smtClean="0">
                                  <a:latin typeface="Cambria Math" panose="02040503050406030204" pitchFamily="18" charset="0"/>
                                </a:rPr>
                                <m:t>𝑇</m:t>
                              </m:r>
                              <m:r>
                                <a:rPr lang="en-US" sz="2400" b="0" i="1" smtClean="0">
                                  <a:latin typeface="Cambria Math" panose="02040503050406030204" pitchFamily="18" charset="0"/>
                                </a:rPr>
                                <m:t>−1</m:t>
                              </m:r>
                            </m:den>
                          </m:f>
                        </m:e>
                      </m:d>
                    </m:oMath>
                  </m:oMathPara>
                </a14:m>
                <a:endParaRPr lang="en-US" sz="2400" dirty="0"/>
              </a:p>
            </p:txBody>
          </p:sp>
        </mc:Choice>
        <mc:Fallback xmlns="">
          <p:sp>
            <p:nvSpPr>
              <p:cNvPr id="5" name="TextBox 4">
                <a:extLst>
                  <a:ext uri="{FF2B5EF4-FFF2-40B4-BE49-F238E27FC236}">
                    <a16:creationId xmlns:a16="http://schemas.microsoft.com/office/drawing/2014/main" id="{99E0C962-ED02-F117-CAA9-C2CF2F11F16C}"/>
                  </a:ext>
                </a:extLst>
              </p:cNvPr>
              <p:cNvSpPr txBox="1">
                <a:spLocks noRot="1" noChangeAspect="1" noMove="1" noResize="1" noEditPoints="1" noAdjustHandles="1" noChangeArrowheads="1" noChangeShapeType="1" noTextEdit="1"/>
              </p:cNvSpPr>
              <p:nvPr/>
            </p:nvSpPr>
            <p:spPr>
              <a:xfrm>
                <a:off x="2531831" y="2557799"/>
                <a:ext cx="7783888" cy="1130759"/>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74121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 Forecasting Methods</a:t>
            </a:r>
          </a:p>
        </p:txBody>
      </p:sp>
      <p:sp>
        <p:nvSpPr>
          <p:cNvPr id="3" name="Content Placeholder 2"/>
          <p:cNvSpPr>
            <a:spLocks noGrp="1"/>
          </p:cNvSpPr>
          <p:nvPr>
            <p:ph idx="1"/>
          </p:nvPr>
        </p:nvSpPr>
        <p:spPr/>
        <p:txBody>
          <a:bodyPr>
            <a:normAutofit lnSpcReduction="10000"/>
          </a:bodyPr>
          <a:lstStyle/>
          <a:p>
            <a:r>
              <a:rPr lang="en-US" dirty="0">
                <a:solidFill>
                  <a:srgbClr val="C00000"/>
                </a:solidFill>
              </a:rPr>
              <a:t>Example: </a:t>
            </a:r>
            <a:r>
              <a:rPr lang="en-US" i="1" dirty="0"/>
              <a:t>Module 1.2 – Example – Simple Forecasting Methods.xlsx</a:t>
            </a:r>
          </a:p>
          <a:p>
            <a:endParaRPr lang="en-US" dirty="0"/>
          </a:p>
          <a:p>
            <a:endParaRPr lang="en-US" dirty="0"/>
          </a:p>
          <a:p>
            <a:endParaRPr lang="en-US" dirty="0"/>
          </a:p>
          <a:p>
            <a:endParaRPr lang="en-US" dirty="0"/>
          </a:p>
          <a:p>
            <a:endParaRPr lang="en-US" dirty="0"/>
          </a:p>
          <a:p>
            <a:endParaRPr lang="en-US" dirty="0"/>
          </a:p>
        </p:txBody>
      </p:sp>
      <p:pic>
        <p:nvPicPr>
          <p:cNvPr id="5" name="Picture 4"/>
          <p:cNvPicPr>
            <a:picLocks noChangeAspect="1"/>
          </p:cNvPicPr>
          <p:nvPr/>
        </p:nvPicPr>
        <p:blipFill>
          <a:blip r:embed="rId2"/>
          <a:stretch>
            <a:fillRect/>
          </a:stretch>
        </p:blipFill>
        <p:spPr>
          <a:xfrm>
            <a:off x="628941" y="1708848"/>
            <a:ext cx="4193782" cy="3326081"/>
          </a:xfrm>
          <a:prstGeom prst="rect">
            <a:avLst/>
          </a:prstGeom>
        </p:spPr>
      </p:pic>
      <p:pic>
        <p:nvPicPr>
          <p:cNvPr id="7" name="Picture 6"/>
          <p:cNvPicPr>
            <a:picLocks noChangeAspect="1"/>
          </p:cNvPicPr>
          <p:nvPr/>
        </p:nvPicPr>
        <p:blipFill>
          <a:blip r:embed="rId3"/>
          <a:stretch>
            <a:fillRect/>
          </a:stretch>
        </p:blipFill>
        <p:spPr>
          <a:xfrm>
            <a:off x="6502964" y="2958728"/>
            <a:ext cx="5456903" cy="1240855"/>
          </a:xfrm>
          <a:prstGeom prst="rect">
            <a:avLst/>
          </a:prstGeom>
        </p:spPr>
      </p:pic>
      <p:cxnSp>
        <p:nvCxnSpPr>
          <p:cNvPr id="10" name="Straight Arrow Connector 9"/>
          <p:cNvCxnSpPr/>
          <p:nvPr/>
        </p:nvCxnSpPr>
        <p:spPr>
          <a:xfrm>
            <a:off x="10117394" y="4236306"/>
            <a:ext cx="206477" cy="81255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2705D252-8202-E77D-D680-68522D6556F7}"/>
              </a:ext>
            </a:extLst>
          </p:cNvPr>
          <p:cNvPicPr>
            <a:picLocks noChangeAspect="1"/>
          </p:cNvPicPr>
          <p:nvPr/>
        </p:nvPicPr>
        <p:blipFill>
          <a:blip r:embed="rId4"/>
          <a:stretch>
            <a:fillRect/>
          </a:stretch>
        </p:blipFill>
        <p:spPr>
          <a:xfrm>
            <a:off x="628941" y="5099693"/>
            <a:ext cx="11072823" cy="1184847"/>
          </a:xfrm>
          <a:prstGeom prst="rect">
            <a:avLst/>
          </a:prstGeom>
        </p:spPr>
      </p:pic>
    </p:spTree>
    <p:extLst>
      <p:ext uri="{BB962C8B-B14F-4D97-AF65-F5344CB8AC3E}">
        <p14:creationId xmlns:p14="http://schemas.microsoft.com/office/powerpoint/2010/main" val="9687158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Forecasting with Moving Average Method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b="1" dirty="0">
                    <a:solidFill>
                      <a:srgbClr val="C00000"/>
                    </a:solidFill>
                  </a:rPr>
                  <a:t>Moving Average (MA) method </a:t>
                </a:r>
                <a:r>
                  <a:rPr lang="en-US" dirty="0"/>
                  <a:t>is suitable to be used when the time series has no observable trend or seasonality</a:t>
                </a:r>
              </a:p>
              <a:p>
                <a:pPr lvl="1"/>
                <a:r>
                  <a:rPr lang="en-US" dirty="0"/>
                  <a:t>Underlying assumption is that the time series is stationary</a:t>
                </a:r>
              </a:p>
              <a:p>
                <a:pPr lvl="1"/>
                <a:r>
                  <a:rPr lang="en-US" dirty="0"/>
                  <a:t>Therefore, the time series is assumed to be leveled in future</a:t>
                </a:r>
              </a:p>
              <a:p>
                <a:r>
                  <a:rPr lang="en-US" dirty="0"/>
                  <a:t>Forecasts of the future values are equal to the latest estimate of the level</a:t>
                </a:r>
              </a:p>
              <a:p>
                <a:pPr lvl="1"/>
                <a:r>
                  <a:rPr lang="en-US" dirty="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ℓ</m:t>
                        </m:r>
                      </m:e>
                      <m:sub>
                        <m:r>
                          <a:rPr lang="en-US" b="0" i="1" smtClean="0">
                            <a:latin typeface="Cambria Math" panose="02040503050406030204" pitchFamily="18" charset="0"/>
                          </a:rPr>
                          <m:t>𝑇</m:t>
                        </m:r>
                      </m:sub>
                    </m:sSub>
                  </m:oMath>
                </a14:m>
                <a:r>
                  <a:rPr lang="en-US" dirty="0"/>
                  <a:t> denote the level (estimated) at time period </a:t>
                </a:r>
                <a14:m>
                  <m:oMath xmlns:m="http://schemas.openxmlformats.org/officeDocument/2006/math">
                    <m:r>
                      <a:rPr lang="en-US" b="0" i="1" smtClean="0">
                        <a:latin typeface="Cambria Math" panose="02040503050406030204" pitchFamily="18" charset="0"/>
                      </a:rPr>
                      <m:t>𝑇</m:t>
                    </m:r>
                  </m:oMath>
                </a14:m>
                <a:r>
                  <a:rPr lang="en-US" dirty="0"/>
                  <a:t> (after observing period </a:t>
                </a:r>
                <a14:m>
                  <m:oMath xmlns:m="http://schemas.openxmlformats.org/officeDocument/2006/math">
                    <m:r>
                      <a:rPr lang="en-US" b="0" i="1" smtClean="0">
                        <a:latin typeface="Cambria Math" panose="02040503050406030204" pitchFamily="18" charset="0"/>
                      </a:rPr>
                      <m:t>𝑇</m:t>
                    </m:r>
                  </m:oMath>
                </a14:m>
                <a:r>
                  <a:rPr lang="en-US" dirty="0"/>
                  <a:t>’s data)</a:t>
                </a:r>
              </a:p>
              <a:p>
                <a:pPr lvl="1"/>
                <a:r>
                  <a:rPr lang="en-US" dirty="0"/>
                  <a:t>Under </a:t>
                </a:r>
                <a14:m>
                  <m:oMath xmlns:m="http://schemas.openxmlformats.org/officeDocument/2006/math">
                    <m:r>
                      <a:rPr lang="en-US" i="1" dirty="0" smtClean="0">
                        <a:latin typeface="Cambria Math" panose="02040503050406030204" pitchFamily="18" charset="0"/>
                      </a:rPr>
                      <m:t>𝑁</m:t>
                    </m:r>
                  </m:oMath>
                </a14:m>
                <a:r>
                  <a:rPr lang="en-US" dirty="0"/>
                  <a:t>-MA method,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ℓ</m:t>
                        </m:r>
                      </m:e>
                      <m:sub>
                        <m:r>
                          <a:rPr lang="en-US" b="0" i="1" smtClean="0">
                            <a:latin typeface="Cambria Math" panose="02040503050406030204" pitchFamily="18" charset="0"/>
                          </a:rPr>
                          <m:t>𝑇</m:t>
                        </m:r>
                      </m:sub>
                    </m:sSub>
                  </m:oMath>
                </a14:m>
                <a:r>
                  <a:rPr lang="en-US" dirty="0"/>
                  <a:t> is the average of the latest </a:t>
                </a:r>
                <a14:m>
                  <m:oMath xmlns:m="http://schemas.openxmlformats.org/officeDocument/2006/math">
                    <m:r>
                      <a:rPr lang="en-US" i="1" dirty="0" smtClean="0">
                        <a:latin typeface="Cambria Math" panose="02040503050406030204" pitchFamily="18" charset="0"/>
                      </a:rPr>
                      <m:t>𝑁</m:t>
                    </m:r>
                  </m:oMath>
                </a14:m>
                <a:r>
                  <a:rPr lang="en-US" dirty="0"/>
                  <a:t> observations, that is</a:t>
                </a:r>
              </a:p>
              <a:p>
                <a:pPr lvl="8"/>
                <a:endParaRPr lang="en-US" dirty="0"/>
              </a:p>
              <a:p>
                <a:pPr marL="0" indent="0">
                  <a:buNone/>
                </a:pPr>
                <a:endParaRPr lang="en-US" dirty="0"/>
              </a:p>
              <a:p>
                <a:endParaRPr lang="en-US" dirty="0"/>
              </a:p>
              <a:p>
                <a:pPr lvl="8"/>
                <a:endParaRPr lang="en-US" dirty="0"/>
              </a:p>
              <a:p>
                <a:r>
                  <a:rPr lang="en-US" dirty="0"/>
                  <a:t>The forecast made in period </a:t>
                </a:r>
                <a14:m>
                  <m:oMath xmlns:m="http://schemas.openxmlformats.org/officeDocument/2006/math">
                    <m:r>
                      <a:rPr lang="en-US" i="1" dirty="0" smtClean="0">
                        <a:latin typeface="Cambria Math" panose="02040503050406030204" pitchFamily="18" charset="0"/>
                      </a:rPr>
                      <m:t>𝑇</m:t>
                    </m:r>
                  </m:oMath>
                </a14:m>
                <a:r>
                  <a:rPr lang="en-US" dirty="0"/>
                  <a:t> for any future period </a:t>
                </a:r>
                <a14:m>
                  <m:oMath xmlns:m="http://schemas.openxmlformats.org/officeDocument/2006/math">
                    <m:r>
                      <a:rPr lang="en-US" i="1" dirty="0" smtClean="0">
                        <a:latin typeface="Cambria Math" panose="02040503050406030204" pitchFamily="18" charset="0"/>
                      </a:rPr>
                      <m:t>𝑇</m:t>
                    </m:r>
                    <m:r>
                      <a:rPr lang="en-US" i="1" dirty="0" smtClean="0">
                        <a:latin typeface="Cambria Math" panose="02040503050406030204" pitchFamily="18" charset="0"/>
                      </a:rPr>
                      <m:t>+</m:t>
                    </m:r>
                    <m:r>
                      <a:rPr lang="en-US" i="1" dirty="0" smtClean="0">
                        <a:latin typeface="Cambria Math" panose="02040503050406030204" pitchFamily="18" charset="0"/>
                      </a:rPr>
                      <m:t>h</m:t>
                    </m:r>
                  </m:oMath>
                </a14:m>
                <a:r>
                  <a:rPr lang="en-US" dirty="0"/>
                  <a:t>, i.e.,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𝑇</m:t>
                        </m:r>
                        <m:r>
                          <a:rPr lang="en-US" i="1">
                            <a:latin typeface="Cambria Math" panose="02040503050406030204" pitchFamily="18" charset="0"/>
                          </a:rPr>
                          <m:t>+</m:t>
                        </m:r>
                        <m:r>
                          <a:rPr lang="en-US" i="1">
                            <a:latin typeface="Cambria Math" panose="02040503050406030204" pitchFamily="18" charset="0"/>
                          </a:rPr>
                          <m:t>h</m:t>
                        </m:r>
                        <m:r>
                          <a:rPr lang="en-US" i="1">
                            <a:latin typeface="Cambria Math" panose="02040503050406030204" pitchFamily="18" charset="0"/>
                          </a:rPr>
                          <m:t>|</m:t>
                        </m:r>
                        <m:r>
                          <a:rPr lang="en-US" i="1">
                            <a:latin typeface="Cambria Math" panose="02040503050406030204" pitchFamily="18" charset="0"/>
                          </a:rPr>
                          <m:t>𝑇</m:t>
                        </m:r>
                      </m:sub>
                    </m:sSub>
                    <m:r>
                      <a:rPr lang="en-US" b="0" i="0" smtClean="0">
                        <a:latin typeface="Cambria Math" panose="02040503050406030204" pitchFamily="18" charset="0"/>
                      </a:rPr>
                      <m:t> </m:t>
                    </m:r>
                  </m:oMath>
                </a14:m>
                <a:r>
                  <a:rPr lang="en-US" dirty="0"/>
                  <a:t>is:</a:t>
                </a:r>
              </a:p>
              <a:p>
                <a:pPr lvl="1"/>
                <a:endParaRPr lang="en-US" dirty="0"/>
              </a:p>
              <a:p>
                <a:pPr lvl="1"/>
                <a:endParaRPr lang="en-US" dirty="0"/>
              </a:p>
              <a:p>
                <a:pPr lvl="2"/>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56" t="-27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5281436" y="6091494"/>
                <a:ext cx="2113399" cy="561885"/>
              </a:xfrm>
              <a:prstGeom prst="rect">
                <a:avLst/>
              </a:prstGeom>
              <a:ln w="28575">
                <a:solidFill>
                  <a:srgbClr val="C00000"/>
                </a:solidFill>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panose="02040503050406030204" pitchFamily="18" charset="0"/>
                                </a:rPr>
                                <m:t>𝑦</m:t>
                              </m:r>
                            </m:e>
                          </m:acc>
                        </m:e>
                        <m:sub>
                          <m:r>
                            <a:rPr lang="en-US" sz="2800" i="1">
                              <a:latin typeface="Cambria Math" panose="02040503050406030204" pitchFamily="18" charset="0"/>
                            </a:rPr>
                            <m:t>𝑇</m:t>
                          </m:r>
                          <m:r>
                            <a:rPr lang="en-US" sz="2800" i="1">
                              <a:latin typeface="Cambria Math" panose="02040503050406030204" pitchFamily="18" charset="0"/>
                            </a:rPr>
                            <m:t>+</m:t>
                          </m:r>
                          <m:r>
                            <a:rPr lang="en-US" sz="2800" i="1" smtClean="0">
                              <a:latin typeface="Cambria Math" panose="02040503050406030204" pitchFamily="18" charset="0"/>
                            </a:rPr>
                            <m:t>h</m:t>
                          </m:r>
                          <m:r>
                            <a:rPr lang="en-US" sz="2800" i="1">
                              <a:latin typeface="Cambria Math" panose="02040503050406030204" pitchFamily="18" charset="0"/>
                            </a:rPr>
                            <m:t>|</m:t>
                          </m:r>
                          <m:r>
                            <a:rPr lang="en-US" sz="2800" i="1">
                              <a:latin typeface="Cambria Math" panose="02040503050406030204" pitchFamily="18" charset="0"/>
                            </a:rPr>
                            <m:t>𝑇</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ℓ</m:t>
                          </m:r>
                        </m:e>
                        <m:sub>
                          <m:r>
                            <a:rPr lang="en-US" sz="2800" i="1">
                              <a:latin typeface="Cambria Math" panose="02040503050406030204" pitchFamily="18" charset="0"/>
                            </a:rPr>
                            <m:t>𝑇</m:t>
                          </m:r>
                        </m:sub>
                      </m:sSub>
                    </m:oMath>
                  </m:oMathPara>
                </a14:m>
                <a:endParaRPr lang="en-US" sz="2800" dirty="0"/>
              </a:p>
            </p:txBody>
          </p:sp>
        </mc:Choice>
        <mc:Fallback xmlns="">
          <p:sp>
            <p:nvSpPr>
              <p:cNvPr id="5" name="Rectangle 4"/>
              <p:cNvSpPr>
                <a:spLocks noRot="1" noChangeAspect="1" noMove="1" noResize="1" noEditPoints="1" noAdjustHandles="1" noChangeArrowheads="1" noChangeShapeType="1" noTextEdit="1"/>
              </p:cNvSpPr>
              <p:nvPr/>
            </p:nvSpPr>
            <p:spPr>
              <a:xfrm>
                <a:off x="5281436" y="6091494"/>
                <a:ext cx="2113399" cy="561885"/>
              </a:xfrm>
              <a:prstGeom prst="rect">
                <a:avLst/>
              </a:prstGeom>
              <a:blipFill>
                <a:blip r:embed="rId3"/>
                <a:stretch>
                  <a:fillRect/>
                </a:stretch>
              </a:blipFill>
              <a:ln w="28575">
                <a:solidFill>
                  <a:srgbClr val="C0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4680591" y="4025787"/>
                <a:ext cx="3053849" cy="1303883"/>
              </a:xfrm>
              <a:prstGeom prst="rect">
                <a:avLst/>
              </a:prstGeom>
              <a:ln w="28575">
                <a:solidFill>
                  <a:srgbClr val="C00000"/>
                </a:solidFill>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ℓ</m:t>
                          </m:r>
                        </m:e>
                        <m:sub>
                          <m:r>
                            <a:rPr lang="en-US" sz="2800" i="1">
                              <a:latin typeface="Cambria Math" panose="02040503050406030204" pitchFamily="18" charset="0"/>
                            </a:rPr>
                            <m:t>𝑇</m:t>
                          </m:r>
                        </m:sub>
                      </m:sSub>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1</m:t>
                          </m:r>
                        </m:num>
                        <m:den>
                          <m:r>
                            <a:rPr lang="en-US" sz="2800" i="1">
                              <a:latin typeface="Cambria Math" panose="02040503050406030204" pitchFamily="18" charset="0"/>
                            </a:rPr>
                            <m:t>𝑁</m:t>
                          </m:r>
                        </m:den>
                      </m:f>
                      <m:nary>
                        <m:naryPr>
                          <m:chr m:val="∑"/>
                          <m:ctrlPr>
                            <a:rPr lang="en-US" sz="2800" i="1">
                              <a:latin typeface="Cambria Math" panose="02040503050406030204" pitchFamily="18" charset="0"/>
                            </a:rPr>
                          </m:ctrlPr>
                        </m:naryPr>
                        <m:sub>
                          <m:r>
                            <m:rPr>
                              <m:brk m:alnAt="23"/>
                            </m:rPr>
                            <a:rPr lang="en-US" sz="2800" i="1">
                              <a:latin typeface="Cambria Math" panose="02040503050406030204" pitchFamily="18" charset="0"/>
                            </a:rPr>
                            <m:t>𝑡</m:t>
                          </m:r>
                          <m:r>
                            <a:rPr lang="en-US" sz="2800" i="1">
                              <a:latin typeface="Cambria Math" panose="02040503050406030204" pitchFamily="18" charset="0"/>
                            </a:rPr>
                            <m:t>=</m:t>
                          </m:r>
                          <m:r>
                            <a:rPr lang="en-US" sz="2800" i="1">
                              <a:latin typeface="Cambria Math" panose="02040503050406030204" pitchFamily="18" charset="0"/>
                            </a:rPr>
                            <m:t>𝑇</m:t>
                          </m:r>
                          <m:r>
                            <a:rPr lang="en-US" sz="2800" i="1">
                              <a:latin typeface="Cambria Math" panose="02040503050406030204" pitchFamily="18" charset="0"/>
                            </a:rPr>
                            <m:t>−</m:t>
                          </m:r>
                          <m:r>
                            <a:rPr lang="en-US" sz="2800" i="1">
                              <a:latin typeface="Cambria Math" panose="02040503050406030204" pitchFamily="18" charset="0"/>
                            </a:rPr>
                            <m:t>𝑁</m:t>
                          </m:r>
                          <m:r>
                            <a:rPr lang="en-US" sz="2800" i="1">
                              <a:latin typeface="Cambria Math" panose="02040503050406030204" pitchFamily="18" charset="0"/>
                            </a:rPr>
                            <m:t>+1</m:t>
                          </m:r>
                        </m:sub>
                        <m:sup>
                          <m:r>
                            <a:rPr lang="en-US" sz="2800" i="1">
                              <a:latin typeface="Cambria Math" panose="02040503050406030204" pitchFamily="18" charset="0"/>
                            </a:rPr>
                            <m:t>𝑇</m:t>
                          </m:r>
                        </m:sup>
                        <m:e>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i="1">
                                  <a:latin typeface="Cambria Math" panose="02040503050406030204" pitchFamily="18" charset="0"/>
                                </a:rPr>
                                <m:t>𝑡</m:t>
                              </m:r>
                            </m:sub>
                          </m:sSub>
                        </m:e>
                      </m:nary>
                    </m:oMath>
                  </m:oMathPara>
                </a14:m>
                <a:endParaRPr lang="en-US" sz="2800" dirty="0"/>
              </a:p>
            </p:txBody>
          </p:sp>
        </mc:Choice>
        <mc:Fallback xmlns="">
          <p:sp>
            <p:nvSpPr>
              <p:cNvPr id="7" name="Rectangle 6"/>
              <p:cNvSpPr>
                <a:spLocks noRot="1" noChangeAspect="1" noMove="1" noResize="1" noEditPoints="1" noAdjustHandles="1" noChangeArrowheads="1" noChangeShapeType="1" noTextEdit="1"/>
              </p:cNvSpPr>
              <p:nvPr/>
            </p:nvSpPr>
            <p:spPr>
              <a:xfrm>
                <a:off x="4680591" y="4025787"/>
                <a:ext cx="3053849" cy="1303883"/>
              </a:xfrm>
              <a:prstGeom prst="rect">
                <a:avLst/>
              </a:prstGeom>
              <a:blipFill>
                <a:blip r:embed="rId4"/>
                <a:stretch>
                  <a:fillRect/>
                </a:stretch>
              </a:blipFill>
              <a:ln w="28575">
                <a:solidFill>
                  <a:srgbClr val="C00000"/>
                </a:solidFill>
              </a:ln>
            </p:spPr>
            <p:txBody>
              <a:bodyPr/>
              <a:lstStyle/>
              <a:p>
                <a:r>
                  <a:rPr lang="en-US">
                    <a:noFill/>
                  </a:rPr>
                  <a:t> </a:t>
                </a:r>
              </a:p>
            </p:txBody>
          </p:sp>
        </mc:Fallback>
      </mc:AlternateContent>
    </p:spTree>
    <p:extLst>
      <p:ext uri="{BB962C8B-B14F-4D97-AF65-F5344CB8AC3E}">
        <p14:creationId xmlns:p14="http://schemas.microsoft.com/office/powerpoint/2010/main" val="1593911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Forecasting with Moving Average Method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So with </a:t>
                </a:r>
                <a14:m>
                  <m:oMath xmlns:m="http://schemas.openxmlformats.org/officeDocument/2006/math">
                    <m:r>
                      <a:rPr lang="en-US" i="1" dirty="0" smtClean="0">
                        <a:latin typeface="Cambria Math" panose="02040503050406030204" pitchFamily="18" charset="0"/>
                      </a:rPr>
                      <m:t>𝑁</m:t>
                    </m:r>
                  </m:oMath>
                </a14:m>
                <a:r>
                  <a:rPr lang="en-US" dirty="0"/>
                  <a:t> period moving average method, </a:t>
                </a:r>
                <a14:m>
                  <m:oMath xmlns:m="http://schemas.openxmlformats.org/officeDocument/2006/math">
                    <m:r>
                      <a:rPr lang="en-US" i="1" dirty="0" smtClean="0">
                        <a:latin typeface="Cambria Math" panose="02040503050406030204" pitchFamily="18" charset="0"/>
                      </a:rPr>
                      <m:t>𝑁</m:t>
                    </m:r>
                  </m:oMath>
                </a14:m>
                <a:r>
                  <a:rPr lang="en-US" dirty="0"/>
                  <a:t>-MA method:</a:t>
                </a:r>
              </a:p>
              <a:p>
                <a:endParaRPr lang="en-US" dirty="0"/>
              </a:p>
              <a:p>
                <a:endParaRPr lang="en-US" dirty="0"/>
              </a:p>
              <a:p>
                <a:endParaRPr lang="en-US" dirty="0"/>
              </a:p>
              <a:p>
                <a:pPr lvl="6"/>
                <a:endParaRPr lang="en-US" dirty="0"/>
              </a:p>
              <a:p>
                <a:pPr lvl="1"/>
                <a:r>
                  <a:rPr lang="en-US" dirty="0"/>
                  <a:t>Suppose you observed the demand in 2018 and you are in 2018 (still!)</a:t>
                </a:r>
              </a:p>
              <a:p>
                <a:pPr lvl="2"/>
                <a:r>
                  <a:rPr lang="en-US" dirty="0"/>
                  <a:t>{The forecast made for demand in 2019 at the end of 2018} will be the same with {the forecast made for demand in 2020 at the end of 2018} will be the same with {the forecast made for demand in 2021 at the end of 2018} and so on</a:t>
                </a:r>
              </a:p>
              <a:p>
                <a:pPr lvl="1"/>
                <a:r>
                  <a:rPr lang="en-US" dirty="0"/>
                  <a:t>When we observe a new data point, we update the estimate for the level and use the updated level information</a:t>
                </a:r>
              </a:p>
              <a:p>
                <a:pPr lvl="2"/>
                <a:r>
                  <a:rPr lang="en-US" dirty="0"/>
                  <a:t>Value for period </a:t>
                </a:r>
                <a14:m>
                  <m:oMath xmlns:m="http://schemas.openxmlformats.org/officeDocument/2006/math">
                    <m:r>
                      <a:rPr lang="en-US" i="1" dirty="0" smtClean="0">
                        <a:latin typeface="Cambria Math" panose="02040503050406030204" pitchFamily="18" charset="0"/>
                      </a:rPr>
                      <m:t>𝑇</m:t>
                    </m:r>
                    <m:r>
                      <a:rPr lang="en-US" i="1" dirty="0" smtClean="0">
                        <a:latin typeface="Cambria Math" panose="02040503050406030204" pitchFamily="18" charset="0"/>
                      </a:rPr>
                      <m:t>+1</m:t>
                    </m:r>
                  </m:oMath>
                </a14:m>
                <a:r>
                  <a:rPr lang="en-US" dirty="0"/>
                  <a:t> is observed </a:t>
                </a:r>
                <a:r>
                  <a:rPr lang="en-US" dirty="0">
                    <a:sym typeface="Wingdings" panose="05000000000000000000" pitchFamily="2" charset="2"/>
                  </a:rPr>
                  <a:t> update estimate level  update forecasts for </a:t>
                </a:r>
                <a14:m>
                  <m:oMath xmlns:m="http://schemas.openxmlformats.org/officeDocument/2006/math">
                    <m:r>
                      <a:rPr lang="en-US" i="1" dirty="0" smtClean="0">
                        <a:latin typeface="Cambria Math" panose="02040503050406030204" pitchFamily="18" charset="0"/>
                        <a:sym typeface="Wingdings" panose="05000000000000000000" pitchFamily="2" charset="2"/>
                      </a:rPr>
                      <m:t>𝑇</m:t>
                    </m:r>
                    <m:r>
                      <a:rPr lang="en-US" i="1" dirty="0" smtClean="0">
                        <a:latin typeface="Cambria Math" panose="02040503050406030204" pitchFamily="18" charset="0"/>
                        <a:sym typeface="Wingdings" panose="05000000000000000000" pitchFamily="2" charset="2"/>
                      </a:rPr>
                      <m:t>+1+</m:t>
                    </m:r>
                    <m:r>
                      <a:rPr lang="en-US" i="1" dirty="0" smtClean="0">
                        <a:latin typeface="Cambria Math" panose="02040503050406030204" pitchFamily="18" charset="0"/>
                        <a:sym typeface="Wingdings" panose="05000000000000000000" pitchFamily="2" charset="2"/>
                      </a:rPr>
                      <m:t>h</m:t>
                    </m:r>
                  </m:oMath>
                </a14:m>
                <a:endParaRPr lang="en-US" dirty="0"/>
              </a:p>
              <a:p>
                <a:pPr lvl="1"/>
                <a:endParaRPr lang="en-US" dirty="0"/>
              </a:p>
              <a:p>
                <a:pPr lvl="1"/>
                <a:endParaRPr lang="en-US" dirty="0"/>
              </a:p>
              <a:p>
                <a:pPr lvl="2"/>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56" t="-2757" r="-7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2523487" y="1829210"/>
                <a:ext cx="4518993" cy="13038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panose="02040503050406030204" pitchFamily="18" charset="0"/>
                                </a:rPr>
                                <m:t>𝑦</m:t>
                              </m:r>
                            </m:e>
                          </m:acc>
                        </m:e>
                        <m:sub>
                          <m:r>
                            <a:rPr lang="en-US" sz="2800" i="1">
                              <a:latin typeface="Cambria Math" panose="02040503050406030204" pitchFamily="18" charset="0"/>
                            </a:rPr>
                            <m:t>𝑇</m:t>
                          </m:r>
                          <m:r>
                            <a:rPr lang="en-US" sz="2800" i="1">
                              <a:latin typeface="Cambria Math" panose="02040503050406030204" pitchFamily="18" charset="0"/>
                            </a:rPr>
                            <m:t>+</m:t>
                          </m:r>
                          <m:r>
                            <a:rPr lang="en-US" sz="2800" i="1">
                              <a:latin typeface="Cambria Math" panose="02040503050406030204" pitchFamily="18" charset="0"/>
                            </a:rPr>
                            <m:t>h</m:t>
                          </m:r>
                          <m:r>
                            <a:rPr lang="en-US" sz="2800" i="1">
                              <a:latin typeface="Cambria Math" panose="02040503050406030204" pitchFamily="18" charset="0"/>
                            </a:rPr>
                            <m:t>|</m:t>
                          </m:r>
                          <m:r>
                            <a:rPr lang="en-US" sz="2800" i="1">
                              <a:latin typeface="Cambria Math" panose="02040503050406030204" pitchFamily="18" charset="0"/>
                            </a:rPr>
                            <m:t>𝑇</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ℓ</m:t>
                          </m:r>
                        </m:e>
                        <m:sub>
                          <m:r>
                            <a:rPr lang="en-US" sz="2800" i="1">
                              <a:latin typeface="Cambria Math" panose="02040503050406030204" pitchFamily="18" charset="0"/>
                            </a:rPr>
                            <m:t>𝑇</m:t>
                          </m:r>
                        </m:sub>
                      </m:sSub>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1</m:t>
                          </m:r>
                        </m:num>
                        <m:den>
                          <m:r>
                            <a:rPr lang="en-US" sz="2800" i="1">
                              <a:latin typeface="Cambria Math" panose="02040503050406030204" pitchFamily="18" charset="0"/>
                            </a:rPr>
                            <m:t>𝑁</m:t>
                          </m:r>
                        </m:den>
                      </m:f>
                      <m:nary>
                        <m:naryPr>
                          <m:chr m:val="∑"/>
                          <m:ctrlPr>
                            <a:rPr lang="en-US" sz="2800" i="1">
                              <a:latin typeface="Cambria Math" panose="02040503050406030204" pitchFamily="18" charset="0"/>
                            </a:rPr>
                          </m:ctrlPr>
                        </m:naryPr>
                        <m:sub>
                          <m:r>
                            <m:rPr>
                              <m:brk m:alnAt="23"/>
                            </m:rPr>
                            <a:rPr lang="en-US" sz="2800" i="1">
                              <a:latin typeface="Cambria Math" panose="02040503050406030204" pitchFamily="18" charset="0"/>
                            </a:rPr>
                            <m:t>𝑡</m:t>
                          </m:r>
                          <m:r>
                            <a:rPr lang="en-US" sz="2800" i="1">
                              <a:latin typeface="Cambria Math" panose="02040503050406030204" pitchFamily="18" charset="0"/>
                            </a:rPr>
                            <m:t>=</m:t>
                          </m:r>
                          <m:r>
                            <a:rPr lang="en-US" sz="2800" i="1">
                              <a:latin typeface="Cambria Math" panose="02040503050406030204" pitchFamily="18" charset="0"/>
                            </a:rPr>
                            <m:t>𝑇</m:t>
                          </m:r>
                          <m:r>
                            <a:rPr lang="en-US" sz="2800" i="1">
                              <a:latin typeface="Cambria Math" panose="02040503050406030204" pitchFamily="18" charset="0"/>
                            </a:rPr>
                            <m:t>−</m:t>
                          </m:r>
                          <m:r>
                            <a:rPr lang="en-US" sz="2800" i="1">
                              <a:latin typeface="Cambria Math" panose="02040503050406030204" pitchFamily="18" charset="0"/>
                            </a:rPr>
                            <m:t>𝑁</m:t>
                          </m:r>
                          <m:r>
                            <a:rPr lang="en-US" sz="2800" i="1">
                              <a:latin typeface="Cambria Math" panose="02040503050406030204" pitchFamily="18" charset="0"/>
                            </a:rPr>
                            <m:t>+1</m:t>
                          </m:r>
                        </m:sub>
                        <m:sup>
                          <m:r>
                            <a:rPr lang="en-US" sz="2800" i="1">
                              <a:latin typeface="Cambria Math" panose="02040503050406030204" pitchFamily="18" charset="0"/>
                            </a:rPr>
                            <m:t>𝑇</m:t>
                          </m:r>
                        </m:sup>
                        <m:e>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i="1">
                                  <a:latin typeface="Cambria Math" panose="02040503050406030204" pitchFamily="18" charset="0"/>
                                </a:rPr>
                                <m:t>𝑡</m:t>
                              </m:r>
                            </m:sub>
                          </m:sSub>
                        </m:e>
                      </m:nary>
                    </m:oMath>
                  </m:oMathPara>
                </a14:m>
                <a:endParaRPr lang="en-US" sz="2800" dirty="0"/>
              </a:p>
            </p:txBody>
          </p:sp>
        </mc:Choice>
        <mc:Fallback xmlns="">
          <p:sp>
            <p:nvSpPr>
              <p:cNvPr id="5" name="Rectangle 4"/>
              <p:cNvSpPr>
                <a:spLocks noRot="1" noChangeAspect="1" noMove="1" noResize="1" noEditPoints="1" noAdjustHandles="1" noChangeArrowheads="1" noChangeShapeType="1" noTextEdit="1"/>
              </p:cNvSpPr>
              <p:nvPr/>
            </p:nvSpPr>
            <p:spPr>
              <a:xfrm>
                <a:off x="2523487" y="1829210"/>
                <a:ext cx="4518993" cy="130388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5373766" y="5698050"/>
                <a:ext cx="2235419" cy="95782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rPr>
                            <m:t>ℓ</m:t>
                          </m:r>
                        </m:e>
                        <m:sub>
                          <m:r>
                            <a:rPr lang="en-US" sz="2000" i="1">
                              <a:latin typeface="Cambria Math" panose="02040503050406030204" pitchFamily="18" charset="0"/>
                            </a:rPr>
                            <m:t>𝑇</m:t>
                          </m:r>
                          <m:r>
                            <a:rPr lang="en-US" sz="2000" b="0" i="1" smtClean="0">
                              <a:latin typeface="Cambria Math" panose="02040503050406030204" pitchFamily="18" charset="0"/>
                            </a:rPr>
                            <m:t>+1</m:t>
                          </m:r>
                        </m:sub>
                      </m:sSub>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𝑁</m:t>
                          </m:r>
                        </m:den>
                      </m:f>
                      <m:nary>
                        <m:naryPr>
                          <m:chr m:val="∑"/>
                          <m:ctrlPr>
                            <a:rPr lang="en-US" sz="2000" i="1">
                              <a:latin typeface="Cambria Math" panose="02040503050406030204" pitchFamily="18" charset="0"/>
                            </a:rPr>
                          </m:ctrlPr>
                        </m:naryPr>
                        <m:sub>
                          <m:r>
                            <m:rPr>
                              <m:brk m:alnAt="23"/>
                            </m:rPr>
                            <a:rPr lang="en-US" sz="2000" i="1">
                              <a:latin typeface="Cambria Math" panose="02040503050406030204" pitchFamily="18" charset="0"/>
                            </a:rPr>
                            <m:t>𝑡</m:t>
                          </m:r>
                          <m:r>
                            <a:rPr lang="en-US" sz="2000" i="1">
                              <a:latin typeface="Cambria Math" panose="02040503050406030204" pitchFamily="18" charset="0"/>
                            </a:rPr>
                            <m:t>=</m:t>
                          </m:r>
                          <m:r>
                            <a:rPr lang="en-US" sz="2000" i="1">
                              <a:latin typeface="Cambria Math" panose="02040503050406030204" pitchFamily="18" charset="0"/>
                            </a:rPr>
                            <m:t>𝑇</m:t>
                          </m:r>
                          <m:r>
                            <a:rPr lang="en-US" sz="2000" i="1">
                              <a:latin typeface="Cambria Math" panose="02040503050406030204" pitchFamily="18" charset="0"/>
                            </a:rPr>
                            <m:t>−</m:t>
                          </m:r>
                          <m:r>
                            <a:rPr lang="en-US" sz="2000" i="1">
                              <a:latin typeface="Cambria Math" panose="02040503050406030204" pitchFamily="18" charset="0"/>
                            </a:rPr>
                            <m:t>𝑁</m:t>
                          </m:r>
                        </m:sub>
                        <m:sup>
                          <m:r>
                            <a:rPr lang="en-US" sz="2000" i="1">
                              <a:latin typeface="Cambria Math" panose="02040503050406030204" pitchFamily="18" charset="0"/>
                            </a:rPr>
                            <m:t>𝑇</m:t>
                          </m:r>
                          <m:r>
                            <a:rPr lang="en-US" sz="2000" b="0" i="1" smtClean="0">
                              <a:latin typeface="Cambria Math" panose="02040503050406030204" pitchFamily="18" charset="0"/>
                            </a:rPr>
                            <m:t>+1</m:t>
                          </m:r>
                        </m:sup>
                        <m:e>
                          <m:sSub>
                            <m:sSubPr>
                              <m:ctrlPr>
                                <a:rPr lang="en-US" sz="2000" i="1">
                                  <a:latin typeface="Cambria Math" panose="02040503050406030204" pitchFamily="18" charset="0"/>
                                </a:rPr>
                              </m:ctrlPr>
                            </m:sSubPr>
                            <m:e>
                              <m:r>
                                <a:rPr lang="en-US" sz="2000" i="1">
                                  <a:latin typeface="Cambria Math" panose="02040503050406030204" pitchFamily="18" charset="0"/>
                                </a:rPr>
                                <m:t>𝑦</m:t>
                              </m:r>
                            </m:e>
                            <m:sub>
                              <m:r>
                                <a:rPr lang="en-US" sz="2000" i="1">
                                  <a:latin typeface="Cambria Math" panose="02040503050406030204" pitchFamily="18" charset="0"/>
                                </a:rPr>
                                <m:t>𝑡</m:t>
                              </m:r>
                            </m:sub>
                          </m:sSub>
                        </m:e>
                      </m:nary>
                    </m:oMath>
                  </m:oMathPara>
                </a14:m>
                <a:endParaRPr lang="en-US" sz="2000" dirty="0"/>
              </a:p>
            </p:txBody>
          </p:sp>
        </mc:Choice>
        <mc:Fallback xmlns="">
          <p:sp>
            <p:nvSpPr>
              <p:cNvPr id="10" name="Rectangle 9"/>
              <p:cNvSpPr>
                <a:spLocks noRot="1" noChangeAspect="1" noMove="1" noResize="1" noEditPoints="1" noAdjustHandles="1" noChangeArrowheads="1" noChangeShapeType="1" noTextEdit="1"/>
              </p:cNvSpPr>
              <p:nvPr/>
            </p:nvSpPr>
            <p:spPr>
              <a:xfrm>
                <a:off x="5373766" y="5698050"/>
                <a:ext cx="2235419" cy="95782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2445793" y="5862421"/>
                <a:ext cx="1771767" cy="369332"/>
              </a:xfrm>
              <a:prstGeom prst="rect">
                <a:avLst/>
              </a:prstGeom>
            </p:spPr>
            <p:txBody>
              <a:bodyPr wrap="none">
                <a:spAutoFit/>
              </a:bodyPr>
              <a:lstStyle/>
              <a:p>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𝑇</m:t>
                        </m:r>
                        <m:r>
                          <a:rPr lang="en-US" b="0" i="1" smtClean="0">
                            <a:latin typeface="Cambria Math" panose="02040503050406030204" pitchFamily="18" charset="0"/>
                          </a:rPr>
                          <m:t>+1</m:t>
                        </m:r>
                      </m:sub>
                    </m:sSub>
                  </m:oMath>
                </a14:m>
                <a:r>
                  <a:rPr lang="en-US" dirty="0"/>
                  <a:t> is observed</a:t>
                </a:r>
              </a:p>
            </p:txBody>
          </p:sp>
        </mc:Choice>
        <mc:Fallback xmlns="">
          <p:sp>
            <p:nvSpPr>
              <p:cNvPr id="4" name="Rectangle 3"/>
              <p:cNvSpPr>
                <a:spLocks noRot="1" noChangeAspect="1" noMove="1" noResize="1" noEditPoints="1" noAdjustHandles="1" noChangeArrowheads="1" noChangeShapeType="1" noTextEdit="1"/>
              </p:cNvSpPr>
              <p:nvPr/>
            </p:nvSpPr>
            <p:spPr>
              <a:xfrm>
                <a:off x="2445793" y="5862421"/>
                <a:ext cx="1771767" cy="369332"/>
              </a:xfrm>
              <a:prstGeom prst="rect">
                <a:avLst/>
              </a:prstGeom>
              <a:blipFill>
                <a:blip r:embed="rId5"/>
                <a:stretch>
                  <a:fillRect t="-10000" r="-2405"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8149830" y="5746649"/>
                <a:ext cx="3411960" cy="87120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𝑇</m:t>
                          </m:r>
                          <m:r>
                            <a:rPr lang="en-US" b="0" i="1" smtClean="0">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h</m:t>
                          </m:r>
                          <m:r>
                            <a:rPr lang="en-US" i="1">
                              <a:latin typeface="Cambria Math" panose="02040503050406030204" pitchFamily="18" charset="0"/>
                            </a:rPr>
                            <m:t>|</m:t>
                          </m:r>
                          <m:r>
                            <a:rPr lang="en-US" i="1">
                              <a:latin typeface="Cambria Math" panose="02040503050406030204" pitchFamily="18" charset="0"/>
                            </a:rPr>
                            <m:t>𝑇</m:t>
                          </m:r>
                          <m:r>
                            <a:rPr lang="en-US" b="0" i="1" smtClean="0">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ℓ</m:t>
                          </m:r>
                        </m:e>
                        <m:sub>
                          <m:r>
                            <a:rPr lang="en-US" i="1">
                              <a:latin typeface="Cambria Math" panose="02040503050406030204" pitchFamily="18" charset="0"/>
                            </a:rPr>
                            <m:t>𝑇</m:t>
                          </m:r>
                          <m:r>
                            <a:rPr lang="en-US" b="0" i="1" smtClean="0">
                              <a:latin typeface="Cambria Math" panose="02040503050406030204" pitchFamily="18" charset="0"/>
                            </a:rPr>
                            <m:t>+1</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𝑁</m:t>
                          </m:r>
                        </m:den>
                      </m:f>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𝑇</m:t>
                          </m:r>
                          <m:r>
                            <a:rPr lang="en-US" i="1">
                              <a:latin typeface="Cambria Math" panose="02040503050406030204" pitchFamily="18" charset="0"/>
                            </a:rPr>
                            <m:t>−</m:t>
                          </m:r>
                          <m:r>
                            <a:rPr lang="en-US" i="1">
                              <a:latin typeface="Cambria Math" panose="02040503050406030204" pitchFamily="18" charset="0"/>
                            </a:rPr>
                            <m:t>𝑁</m:t>
                          </m:r>
                        </m:sub>
                        <m:sup>
                          <m:r>
                            <a:rPr lang="en-US" i="1">
                              <a:latin typeface="Cambria Math" panose="02040503050406030204" pitchFamily="18" charset="0"/>
                            </a:rPr>
                            <m:t>𝑇</m:t>
                          </m:r>
                          <m:r>
                            <a:rPr lang="en-US" b="0" i="1" smtClean="0">
                              <a:latin typeface="Cambria Math" panose="02040503050406030204" pitchFamily="18" charset="0"/>
                            </a:rPr>
                            <m:t>+1</m:t>
                          </m:r>
                        </m:sup>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e>
                      </m:nary>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8149830" y="5746649"/>
                <a:ext cx="3411960" cy="871201"/>
              </a:xfrm>
              <a:prstGeom prst="rect">
                <a:avLst/>
              </a:prstGeom>
              <a:blipFill>
                <a:blip r:embed="rId6"/>
                <a:stretch>
                  <a:fillRect/>
                </a:stretch>
              </a:blipFill>
            </p:spPr>
            <p:txBody>
              <a:bodyPr/>
              <a:lstStyle/>
              <a:p>
                <a:r>
                  <a:rPr lang="en-US">
                    <a:noFill/>
                  </a:rPr>
                  <a:t> </a:t>
                </a:r>
              </a:p>
            </p:txBody>
          </p:sp>
        </mc:Fallback>
      </mc:AlternateContent>
      <p:sp>
        <p:nvSpPr>
          <p:cNvPr id="11" name="Left Brace 10"/>
          <p:cNvSpPr/>
          <p:nvPr/>
        </p:nvSpPr>
        <p:spPr>
          <a:xfrm rot="16200000">
            <a:off x="3182418" y="3868155"/>
            <a:ext cx="354796" cy="3633735"/>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Left Brace 11"/>
          <p:cNvSpPr/>
          <p:nvPr/>
        </p:nvSpPr>
        <p:spPr>
          <a:xfrm rot="16200000">
            <a:off x="6444769" y="4526046"/>
            <a:ext cx="354796" cy="2300473"/>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Left Brace 12"/>
          <p:cNvSpPr/>
          <p:nvPr/>
        </p:nvSpPr>
        <p:spPr>
          <a:xfrm rot="16200000">
            <a:off x="9479291" y="4103440"/>
            <a:ext cx="354796" cy="3163165"/>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154048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p:bldP spid="6" grpId="0"/>
      <p:bldP spid="11" grpId="0" animBg="1"/>
      <p:bldP spid="12" grpId="0" animBg="1"/>
      <p:bldP spid="1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Forecasting with Moving Average Method </a:t>
            </a:r>
          </a:p>
        </p:txBody>
      </p:sp>
      <p:sp>
        <p:nvSpPr>
          <p:cNvPr id="3" name="Content Placeholder 2"/>
          <p:cNvSpPr>
            <a:spLocks noGrp="1"/>
          </p:cNvSpPr>
          <p:nvPr>
            <p:ph idx="1"/>
          </p:nvPr>
        </p:nvSpPr>
        <p:spPr/>
        <p:txBody>
          <a:bodyPr>
            <a:normAutofit lnSpcReduction="10000"/>
          </a:bodyPr>
          <a:lstStyle/>
          <a:p>
            <a:r>
              <a:rPr lang="en-US" sz="2400" dirty="0">
                <a:solidFill>
                  <a:srgbClr val="C00000"/>
                </a:solidFill>
              </a:rPr>
              <a:t>Example: </a:t>
            </a:r>
            <a:r>
              <a:rPr lang="en-US" sz="2400" i="1" dirty="0"/>
              <a:t>Module 1.2 – Example – Forecasting with Moving Average Method.xlsx</a:t>
            </a:r>
          </a:p>
          <a:p>
            <a:endParaRPr lang="en-US" dirty="0"/>
          </a:p>
          <a:p>
            <a:endParaRPr lang="en-US" dirty="0"/>
          </a:p>
          <a:p>
            <a:endParaRPr lang="en-US" dirty="0"/>
          </a:p>
          <a:p>
            <a:endParaRPr lang="en-US" dirty="0"/>
          </a:p>
          <a:p>
            <a:pPr lvl="1"/>
            <a:endParaRPr lang="en-US" dirty="0"/>
          </a:p>
          <a:p>
            <a:pPr lvl="7"/>
            <a:endParaRPr lang="en-US" sz="1400" dirty="0"/>
          </a:p>
          <a:p>
            <a:r>
              <a:rPr lang="en-US" sz="2400" dirty="0">
                <a:solidFill>
                  <a:srgbClr val="C00000"/>
                </a:solidFill>
              </a:rPr>
              <a:t>Example: </a:t>
            </a:r>
            <a:r>
              <a:rPr lang="en-US" sz="2400" i="1" dirty="0"/>
              <a:t>Module 1.2 – Example – Forecasting with Moving Average Method.xlsx</a:t>
            </a:r>
          </a:p>
          <a:p>
            <a:endParaRPr lang="en-US" dirty="0"/>
          </a:p>
          <a:p>
            <a:pPr lvl="1"/>
            <a:endParaRPr lang="en-US" dirty="0"/>
          </a:p>
          <a:p>
            <a:pPr lvl="1"/>
            <a:endParaRPr lang="en-US" dirty="0"/>
          </a:p>
          <a:p>
            <a:pPr lvl="2"/>
            <a:endParaRPr lang="en-US" dirty="0"/>
          </a:p>
        </p:txBody>
      </p:sp>
      <p:pic>
        <p:nvPicPr>
          <p:cNvPr id="5" name="Picture 4"/>
          <p:cNvPicPr>
            <a:picLocks noChangeAspect="1"/>
          </p:cNvPicPr>
          <p:nvPr/>
        </p:nvPicPr>
        <p:blipFill>
          <a:blip r:embed="rId2"/>
          <a:stretch>
            <a:fillRect/>
          </a:stretch>
        </p:blipFill>
        <p:spPr>
          <a:xfrm>
            <a:off x="659484" y="1764009"/>
            <a:ext cx="7466528" cy="2092883"/>
          </a:xfrm>
          <a:prstGeom prst="rect">
            <a:avLst/>
          </a:prstGeom>
        </p:spPr>
      </p:pic>
      <p:pic>
        <p:nvPicPr>
          <p:cNvPr id="7" name="Picture 6"/>
          <p:cNvPicPr>
            <a:picLocks noChangeAspect="1"/>
          </p:cNvPicPr>
          <p:nvPr/>
        </p:nvPicPr>
        <p:blipFill>
          <a:blip r:embed="rId3"/>
          <a:stretch>
            <a:fillRect/>
          </a:stretch>
        </p:blipFill>
        <p:spPr>
          <a:xfrm>
            <a:off x="659484" y="4548478"/>
            <a:ext cx="5934272" cy="2103507"/>
          </a:xfrm>
          <a:prstGeom prst="rect">
            <a:avLst/>
          </a:prstGeom>
        </p:spPr>
      </p:pic>
      <p:sp>
        <p:nvSpPr>
          <p:cNvPr id="8" name="Rectangle 7"/>
          <p:cNvSpPr/>
          <p:nvPr/>
        </p:nvSpPr>
        <p:spPr>
          <a:xfrm>
            <a:off x="8430494" y="1873553"/>
            <a:ext cx="3545756" cy="1754326"/>
          </a:xfrm>
          <a:prstGeom prst="rect">
            <a:avLst/>
          </a:prstGeom>
        </p:spPr>
        <p:txBody>
          <a:bodyPr wrap="square">
            <a:spAutoFit/>
          </a:bodyPr>
          <a:lstStyle/>
          <a:p>
            <a:r>
              <a:rPr lang="en-US" b="1" dirty="0">
                <a:solidFill>
                  <a:srgbClr val="C00000"/>
                </a:solidFill>
              </a:rPr>
              <a:t>Key-point: </a:t>
            </a:r>
            <a:r>
              <a:rPr lang="en-US" dirty="0"/>
              <a:t>When using Moving Average, the forecast made for the next period's demand is the average of the latest N observations (including the observation of the current period we are in)</a:t>
            </a:r>
          </a:p>
        </p:txBody>
      </p:sp>
      <p:sp>
        <p:nvSpPr>
          <p:cNvPr id="9" name="Rectangle 8"/>
          <p:cNvSpPr/>
          <p:nvPr/>
        </p:nvSpPr>
        <p:spPr>
          <a:xfrm>
            <a:off x="6898238" y="4705509"/>
            <a:ext cx="4054582" cy="1754326"/>
          </a:xfrm>
          <a:prstGeom prst="rect">
            <a:avLst/>
          </a:prstGeom>
        </p:spPr>
        <p:txBody>
          <a:bodyPr wrap="square">
            <a:spAutoFit/>
          </a:bodyPr>
          <a:lstStyle/>
          <a:p>
            <a:r>
              <a:rPr lang="en-US" b="1" dirty="0">
                <a:solidFill>
                  <a:srgbClr val="C00000"/>
                </a:solidFill>
              </a:rPr>
              <a:t>Key-point: </a:t>
            </a:r>
            <a:r>
              <a:rPr lang="en-US" dirty="0"/>
              <a:t>At the end of a period, one-step-ahead and multi-step-ahead forecasts made using Moving Average method are identical because, the underlying  assumption is that the demand has no trend and no seasonality.</a:t>
            </a:r>
          </a:p>
        </p:txBody>
      </p:sp>
    </p:spTree>
    <p:extLst>
      <p:ext uri="{BB962C8B-B14F-4D97-AF65-F5344CB8AC3E}">
        <p14:creationId xmlns:p14="http://schemas.microsoft.com/office/powerpoint/2010/main" val="38218738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Forecasting with Moving Average Method </a:t>
            </a:r>
          </a:p>
        </p:txBody>
      </p:sp>
      <p:sp>
        <p:nvSpPr>
          <p:cNvPr id="3" name="Content Placeholder 2"/>
          <p:cNvSpPr>
            <a:spLocks noGrp="1"/>
          </p:cNvSpPr>
          <p:nvPr>
            <p:ph idx="1"/>
          </p:nvPr>
        </p:nvSpPr>
        <p:spPr/>
        <p:txBody>
          <a:bodyPr>
            <a:normAutofit lnSpcReduction="10000"/>
          </a:bodyPr>
          <a:lstStyle/>
          <a:p>
            <a:r>
              <a:rPr lang="en-US" sz="2400" dirty="0">
                <a:solidFill>
                  <a:srgbClr val="C00000"/>
                </a:solidFill>
              </a:rPr>
              <a:t>Example: </a:t>
            </a:r>
            <a:r>
              <a:rPr lang="en-US" sz="2400" i="1" dirty="0"/>
              <a:t>Module 1.2 – Example – Forecasting with Moving Average Method.xlsx</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dirty="0"/>
          </a:p>
        </p:txBody>
      </p:sp>
      <p:sp>
        <p:nvSpPr>
          <p:cNvPr id="9" name="Rectangle 8"/>
          <p:cNvSpPr/>
          <p:nvPr/>
        </p:nvSpPr>
        <p:spPr>
          <a:xfrm>
            <a:off x="674277" y="4747227"/>
            <a:ext cx="10661938" cy="923330"/>
          </a:xfrm>
          <a:prstGeom prst="rect">
            <a:avLst/>
          </a:prstGeom>
        </p:spPr>
        <p:txBody>
          <a:bodyPr wrap="square">
            <a:spAutoFit/>
          </a:bodyPr>
          <a:lstStyle/>
          <a:p>
            <a:r>
              <a:rPr lang="en-US" b="1" dirty="0">
                <a:solidFill>
                  <a:srgbClr val="C00000"/>
                </a:solidFill>
              </a:rPr>
              <a:t>Key-point: </a:t>
            </a:r>
            <a:r>
              <a:rPr lang="en-US" dirty="0"/>
              <a:t>Moving Average method is suitable for data with no observable trend. If Moving Average method is used for a time-series with trend, the forecasts made will lag the trend. The bigger N is used, the bigger the gap will be; because, with smaller N, you can capture the trend by focusing more on the newer observations.</a:t>
            </a:r>
          </a:p>
        </p:txBody>
      </p:sp>
      <p:pic>
        <p:nvPicPr>
          <p:cNvPr id="4" name="Picture 3"/>
          <p:cNvPicPr>
            <a:picLocks noChangeAspect="1"/>
          </p:cNvPicPr>
          <p:nvPr/>
        </p:nvPicPr>
        <p:blipFill>
          <a:blip r:embed="rId2"/>
          <a:stretch>
            <a:fillRect/>
          </a:stretch>
        </p:blipFill>
        <p:spPr>
          <a:xfrm>
            <a:off x="775086" y="1833644"/>
            <a:ext cx="3112276" cy="2806006"/>
          </a:xfrm>
          <a:prstGeom prst="rect">
            <a:avLst/>
          </a:prstGeom>
        </p:spPr>
      </p:pic>
      <p:pic>
        <p:nvPicPr>
          <p:cNvPr id="6" name="Picture 5"/>
          <p:cNvPicPr>
            <a:picLocks noChangeAspect="1"/>
          </p:cNvPicPr>
          <p:nvPr/>
        </p:nvPicPr>
        <p:blipFill>
          <a:blip r:embed="rId3"/>
          <a:stretch>
            <a:fillRect/>
          </a:stretch>
        </p:blipFill>
        <p:spPr>
          <a:xfrm>
            <a:off x="4307445" y="1824012"/>
            <a:ext cx="5383235" cy="2815638"/>
          </a:xfrm>
          <a:prstGeom prst="rect">
            <a:avLst/>
          </a:prstGeom>
        </p:spPr>
      </p:pic>
    </p:spTree>
    <p:extLst>
      <p:ext uri="{BB962C8B-B14F-4D97-AF65-F5344CB8AC3E}">
        <p14:creationId xmlns:p14="http://schemas.microsoft.com/office/powerpoint/2010/main" val="12510191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Forecasting with Moving Average Method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Moving Average Method:</a:t>
                </a:r>
              </a:p>
              <a:p>
                <a:pPr lvl="1"/>
                <a:r>
                  <a:rPr lang="en-US" sz="2000" kern="0" dirty="0"/>
                  <a:t>Advantages: Easily understood and computed &amp; provides stable forecasts</a:t>
                </a:r>
              </a:p>
              <a:p>
                <a:pPr lvl="1"/>
                <a:r>
                  <a:rPr lang="en-US" sz="2000" kern="0" dirty="0"/>
                  <a:t>Disadvantages: Saving all </a:t>
                </a:r>
                <a14:m>
                  <m:oMath xmlns:m="http://schemas.openxmlformats.org/officeDocument/2006/math">
                    <m:r>
                      <a:rPr lang="en-US" sz="2000" i="1" kern="0" dirty="0" smtClean="0">
                        <a:latin typeface="Cambria Math" panose="02040503050406030204" pitchFamily="18" charset="0"/>
                      </a:rPr>
                      <m:t>𝑁</m:t>
                    </m:r>
                  </m:oMath>
                </a14:m>
                <a:r>
                  <a:rPr lang="en-US" sz="2000" kern="0" dirty="0"/>
                  <a:t> past data &amp; lags trends &amp; ignores complexity</a:t>
                </a:r>
              </a:p>
              <a:p>
                <a:r>
                  <a:rPr lang="en-US" sz="2400" kern="0" dirty="0"/>
                  <a:t>Moving Average Method gives equal weights to each of the </a:t>
                </a:r>
                <a14:m>
                  <m:oMath xmlns:m="http://schemas.openxmlformats.org/officeDocument/2006/math">
                    <m:r>
                      <a:rPr lang="en-US" sz="2400" i="1" kern="0" dirty="0" smtClean="0">
                        <a:latin typeface="Cambria Math" panose="02040503050406030204" pitchFamily="18" charset="0"/>
                      </a:rPr>
                      <m:t>𝑁</m:t>
                    </m:r>
                  </m:oMath>
                </a14:m>
                <a:r>
                  <a:rPr lang="en-US" sz="2400" kern="0" dirty="0"/>
                  <a:t> previous observations</a:t>
                </a:r>
              </a:p>
              <a:p>
                <a:r>
                  <a:rPr lang="en-US" sz="2400" b="1" kern="0" dirty="0">
                    <a:solidFill>
                      <a:srgbClr val="C00000"/>
                    </a:solidFill>
                  </a:rPr>
                  <a:t>Weighted Moving Average Method:</a:t>
                </a:r>
              </a:p>
              <a:p>
                <a:pPr lvl="1"/>
                <a:r>
                  <a:rPr lang="en-US" sz="2000" kern="0" dirty="0"/>
                  <a:t>Gives different weights to the </a:t>
                </a:r>
                <a14:m>
                  <m:oMath xmlns:m="http://schemas.openxmlformats.org/officeDocument/2006/math">
                    <m:r>
                      <a:rPr lang="en-US" sz="2000" i="1" kern="0" dirty="0" smtClean="0">
                        <a:latin typeface="Cambria Math" panose="02040503050406030204" pitchFamily="18" charset="0"/>
                      </a:rPr>
                      <m:t>𝑁</m:t>
                    </m:r>
                  </m:oMath>
                </a14:m>
                <a:r>
                  <a:rPr lang="en-US" sz="2000" kern="0" dirty="0"/>
                  <a:t> previous observations and uses the weighted average of the N previous observations for forecasting</a:t>
                </a:r>
              </a:p>
              <a:p>
                <a:pPr lvl="1"/>
                <a:endParaRPr lang="en-US" sz="2000" kern="0" dirty="0"/>
              </a:p>
              <a:p>
                <a:pPr lvl="1"/>
                <a:endParaRPr lang="en-US" sz="2000" kern="0" dirty="0"/>
              </a:p>
              <a:p>
                <a:pPr lvl="1"/>
                <a:endParaRPr lang="en-US" sz="2000" kern="0" dirty="0"/>
              </a:p>
              <a:p>
                <a:pPr lvl="1"/>
                <a:endParaRPr lang="en-US" sz="2000" kern="0" dirty="0"/>
              </a:p>
              <a:p>
                <a:pPr lvl="1"/>
                <a:endParaRPr lang="en-US" sz="2000" kern="0" dirty="0"/>
              </a:p>
              <a:p>
                <a:pPr lvl="1"/>
                <a:r>
                  <a:rPr lang="en-US" sz="2000" kern="0" dirty="0"/>
                  <a:t>Weights should sum to 1 </a:t>
                </a:r>
                <a:r>
                  <a:rPr lang="en-US" sz="2000" kern="0" dirty="0">
                    <a:sym typeface="Wingdings" panose="05000000000000000000" pitchFamily="2" charset="2"/>
                  </a:rPr>
                  <a:t></a:t>
                </a:r>
                <a:endParaRPr lang="en-US" sz="2000" kern="0" dirty="0"/>
              </a:p>
              <a:p>
                <a:pPr lvl="1"/>
                <a:endParaRPr lang="en-US" sz="2000" kern="0" dirty="0"/>
              </a:p>
              <a:p>
                <a:r>
                  <a:rPr lang="en-US" dirty="0">
                    <a:solidFill>
                      <a:srgbClr val="000000"/>
                    </a:solidFill>
                  </a:rPr>
                  <a:t>How to determine N? </a:t>
                </a:r>
              </a:p>
              <a:p>
                <a:pPr lvl="1"/>
                <a:r>
                  <a:rPr lang="en-US" dirty="0">
                    <a:solidFill>
                      <a:srgbClr val="000000"/>
                    </a:solidFill>
                  </a:rPr>
                  <a:t>One way is to minimize forecast errors (more on this later).</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56" t="-2757"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2560079" y="3733777"/>
                <a:ext cx="3564053" cy="95782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𝑇</m:t>
                          </m:r>
                          <m:r>
                            <a:rPr lang="en-US" sz="2000" i="1">
                              <a:latin typeface="Cambria Math" panose="02040503050406030204" pitchFamily="18" charset="0"/>
                            </a:rPr>
                            <m:t>+</m:t>
                          </m:r>
                          <m:r>
                            <a:rPr lang="en-US" sz="2000" i="1">
                              <a:latin typeface="Cambria Math" panose="02040503050406030204" pitchFamily="18" charset="0"/>
                            </a:rPr>
                            <m:t>h</m:t>
                          </m:r>
                          <m:r>
                            <a:rPr lang="en-US" sz="2000" i="1">
                              <a:latin typeface="Cambria Math" panose="02040503050406030204" pitchFamily="18" charset="0"/>
                            </a:rPr>
                            <m:t>|</m:t>
                          </m:r>
                          <m:r>
                            <a:rPr lang="en-US" sz="2000" i="1">
                              <a:latin typeface="Cambria Math" panose="02040503050406030204" pitchFamily="18" charset="0"/>
                            </a:rPr>
                            <m:t>𝑇</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ℓ</m:t>
                          </m:r>
                        </m:e>
                        <m:sub>
                          <m:r>
                            <a:rPr lang="en-US" sz="2000" i="1">
                              <a:latin typeface="Cambria Math" panose="02040503050406030204" pitchFamily="18" charset="0"/>
                            </a:rPr>
                            <m:t>𝑇</m:t>
                          </m:r>
                        </m:sub>
                      </m:sSub>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𝑁</m:t>
                          </m:r>
                        </m:den>
                      </m:f>
                      <m:nary>
                        <m:naryPr>
                          <m:chr m:val="∑"/>
                          <m:ctrlPr>
                            <a:rPr lang="en-US" sz="2000" i="1">
                              <a:latin typeface="Cambria Math" panose="02040503050406030204" pitchFamily="18" charset="0"/>
                            </a:rPr>
                          </m:ctrlPr>
                        </m:naryPr>
                        <m:sub>
                          <m:r>
                            <m:rPr>
                              <m:brk m:alnAt="23"/>
                            </m:rPr>
                            <a:rPr lang="en-US" sz="2000" i="1">
                              <a:latin typeface="Cambria Math" panose="02040503050406030204" pitchFamily="18" charset="0"/>
                            </a:rPr>
                            <m:t>𝑡</m:t>
                          </m:r>
                          <m:r>
                            <a:rPr lang="en-US" sz="2000" i="1">
                              <a:latin typeface="Cambria Math" panose="02040503050406030204" pitchFamily="18" charset="0"/>
                            </a:rPr>
                            <m:t>=</m:t>
                          </m:r>
                          <m:r>
                            <a:rPr lang="en-US" sz="2000" i="1">
                              <a:latin typeface="Cambria Math" panose="02040503050406030204" pitchFamily="18" charset="0"/>
                            </a:rPr>
                            <m:t>𝑇</m:t>
                          </m:r>
                          <m:r>
                            <a:rPr lang="en-US" sz="2000" i="1">
                              <a:latin typeface="Cambria Math" panose="02040503050406030204" pitchFamily="18" charset="0"/>
                            </a:rPr>
                            <m:t>−</m:t>
                          </m:r>
                          <m:r>
                            <a:rPr lang="en-US" sz="2000" i="1">
                              <a:latin typeface="Cambria Math" panose="02040503050406030204" pitchFamily="18" charset="0"/>
                            </a:rPr>
                            <m:t>𝑁</m:t>
                          </m:r>
                          <m:r>
                            <a:rPr lang="en-US" sz="2000" i="1">
                              <a:latin typeface="Cambria Math" panose="02040503050406030204" pitchFamily="18" charset="0"/>
                            </a:rPr>
                            <m:t>+1</m:t>
                          </m:r>
                        </m:sub>
                        <m:sup>
                          <m:r>
                            <a:rPr lang="en-US" sz="2000" i="1">
                              <a:latin typeface="Cambria Math" panose="02040503050406030204" pitchFamily="18" charset="0"/>
                            </a:rPr>
                            <m:t>𝑇</m:t>
                          </m:r>
                        </m:sup>
                        <m:e>
                          <m:sSub>
                            <m:sSubPr>
                              <m:ctrlPr>
                                <a:rPr lang="en-US" sz="2000" i="1">
                                  <a:latin typeface="Cambria Math" panose="02040503050406030204" pitchFamily="18" charset="0"/>
                                </a:rPr>
                              </m:ctrlPr>
                            </m:sSubP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𝑡</m:t>
                                  </m:r>
                                </m:sub>
                              </m:sSub>
                              <m:r>
                                <a:rPr lang="en-US" sz="2000" i="1">
                                  <a:latin typeface="Cambria Math" panose="02040503050406030204" pitchFamily="18" charset="0"/>
                                </a:rPr>
                                <m:t>𝑦</m:t>
                              </m:r>
                            </m:e>
                            <m:sub>
                              <m:r>
                                <a:rPr lang="en-US" sz="2000" i="1">
                                  <a:latin typeface="Cambria Math" panose="02040503050406030204" pitchFamily="18" charset="0"/>
                                </a:rPr>
                                <m:t>𝑡</m:t>
                              </m:r>
                            </m:sub>
                          </m:sSub>
                        </m:e>
                      </m:nary>
                    </m:oMath>
                  </m:oMathPara>
                </a14:m>
                <a:endParaRPr lang="en-US" sz="2000" dirty="0"/>
              </a:p>
            </p:txBody>
          </p:sp>
        </mc:Choice>
        <mc:Fallback xmlns="">
          <p:sp>
            <p:nvSpPr>
              <p:cNvPr id="7" name="Rectangle 6"/>
              <p:cNvSpPr>
                <a:spLocks noRot="1" noChangeAspect="1" noMove="1" noResize="1" noEditPoints="1" noAdjustHandles="1" noChangeArrowheads="1" noChangeShapeType="1" noTextEdit="1"/>
              </p:cNvSpPr>
              <p:nvPr/>
            </p:nvSpPr>
            <p:spPr>
              <a:xfrm>
                <a:off x="2560079" y="3733777"/>
                <a:ext cx="3564053" cy="95782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6682154" y="4202577"/>
                <a:ext cx="5110025" cy="369332"/>
              </a:xfrm>
              <a:prstGeom prst="rect">
                <a:avLst/>
              </a:prstGeom>
              <a:noFill/>
            </p:spPr>
            <p:txBody>
              <a:bodyPr wrap="square" rtlCol="0">
                <a:spAutoFit/>
              </a:bodyPr>
              <a:lstStyle/>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𝑡</m:t>
                        </m:r>
                      </m:sub>
                    </m:sSub>
                  </m:oMath>
                </a14:m>
                <a:r>
                  <a:rPr lang="en-US" dirty="0"/>
                  <a:t>: Weight assigned to past observation of period t</a:t>
                </a:r>
              </a:p>
            </p:txBody>
          </p:sp>
        </mc:Choice>
        <mc:Fallback xmlns="">
          <p:sp>
            <p:nvSpPr>
              <p:cNvPr id="12" name="TextBox 11"/>
              <p:cNvSpPr txBox="1">
                <a:spLocks noRot="1" noChangeAspect="1" noMove="1" noResize="1" noEditPoints="1" noAdjustHandles="1" noChangeArrowheads="1" noChangeShapeType="1" noTextEdit="1"/>
              </p:cNvSpPr>
              <p:nvPr/>
            </p:nvSpPr>
            <p:spPr>
              <a:xfrm>
                <a:off x="6682154" y="4202577"/>
                <a:ext cx="5110025" cy="369332"/>
              </a:xfrm>
              <a:prstGeom prst="rect">
                <a:avLst/>
              </a:prstGeom>
              <a:blipFill>
                <a:blip r:embed="rId4"/>
                <a:stretch>
                  <a:fillRect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6610893" y="3588112"/>
                <a:ext cx="3407890" cy="369332"/>
              </a:xfrm>
              <a:prstGeom prst="rect">
                <a:avLst/>
              </a:prstGeom>
              <a:noFill/>
            </p:spPr>
            <p:txBody>
              <a:bodyPr wrap="square" rtlCol="0">
                <a:spAutoFit/>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𝑡</m:t>
                        </m:r>
                      </m:sub>
                    </m:sSub>
                  </m:oMath>
                </a14:m>
                <a:r>
                  <a:rPr lang="en-US" dirty="0"/>
                  <a:t>: past observation of period t</a:t>
                </a:r>
              </a:p>
            </p:txBody>
          </p:sp>
        </mc:Choice>
        <mc:Fallback xmlns="">
          <p:sp>
            <p:nvSpPr>
              <p:cNvPr id="13" name="TextBox 12"/>
              <p:cNvSpPr txBox="1">
                <a:spLocks noRot="1" noChangeAspect="1" noMove="1" noResize="1" noEditPoints="1" noAdjustHandles="1" noChangeArrowheads="1" noChangeShapeType="1" noTextEdit="1"/>
              </p:cNvSpPr>
              <p:nvPr/>
            </p:nvSpPr>
            <p:spPr>
              <a:xfrm>
                <a:off x="6610893" y="3588112"/>
                <a:ext cx="3407890" cy="369332"/>
              </a:xfrm>
              <a:prstGeom prst="rect">
                <a:avLst/>
              </a:prstGeom>
              <a:blipFill>
                <a:blip r:embed="rId5"/>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3892134" y="4938835"/>
                <a:ext cx="1736950" cy="87120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ctrlPr>
                            <a:rPr lang="en-US" i="1" smtClean="0">
                              <a:latin typeface="Cambria Math" panose="02040503050406030204" pitchFamily="18" charset="0"/>
                            </a:rPr>
                          </m:ctrlPr>
                        </m:naryPr>
                        <m:sub>
                          <m:r>
                            <m:rPr>
                              <m:brk m:alnAt="23"/>
                            </m:rP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𝑇</m:t>
                          </m:r>
                          <m:r>
                            <a:rPr lang="en-US" i="1">
                              <a:latin typeface="Cambria Math" panose="02040503050406030204" pitchFamily="18" charset="0"/>
                            </a:rPr>
                            <m:t>−</m:t>
                          </m:r>
                          <m:r>
                            <a:rPr lang="en-US" i="1">
                              <a:latin typeface="Cambria Math" panose="02040503050406030204" pitchFamily="18" charset="0"/>
                            </a:rPr>
                            <m:t>𝑁</m:t>
                          </m:r>
                          <m:r>
                            <a:rPr lang="en-US" i="1">
                              <a:latin typeface="Cambria Math" panose="02040503050406030204" pitchFamily="18" charset="0"/>
                            </a:rPr>
                            <m:t>+1</m:t>
                          </m:r>
                        </m:sub>
                        <m:sup>
                          <m:r>
                            <a:rPr lang="en-US" i="1">
                              <a:latin typeface="Cambria Math" panose="02040503050406030204" pitchFamily="18" charset="0"/>
                            </a:rPr>
                            <m:t>𝑇</m:t>
                          </m:r>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𝑡</m:t>
                              </m:r>
                            </m:sub>
                          </m:sSub>
                        </m:e>
                      </m:nary>
                      <m:r>
                        <a:rPr lang="en-US" b="0" i="1" smtClean="0">
                          <a:latin typeface="Cambria Math" panose="02040503050406030204" pitchFamily="18" charset="0"/>
                        </a:rPr>
                        <m:t>=1</m:t>
                      </m:r>
                    </m:oMath>
                  </m:oMathPara>
                </a14:m>
                <a:endParaRPr lang="en-US" dirty="0"/>
              </a:p>
            </p:txBody>
          </p:sp>
        </mc:Choice>
        <mc:Fallback xmlns="">
          <p:sp>
            <p:nvSpPr>
              <p:cNvPr id="17" name="Rectangle 16"/>
              <p:cNvSpPr>
                <a:spLocks noRot="1" noChangeAspect="1" noMove="1" noResize="1" noEditPoints="1" noAdjustHandles="1" noChangeArrowheads="1" noChangeShapeType="1" noTextEdit="1"/>
              </p:cNvSpPr>
              <p:nvPr/>
            </p:nvSpPr>
            <p:spPr>
              <a:xfrm>
                <a:off x="3892134" y="4938835"/>
                <a:ext cx="1736950" cy="871201"/>
              </a:xfrm>
              <a:prstGeom prst="rect">
                <a:avLst/>
              </a:prstGeom>
              <a:blipFill>
                <a:blip r:embed="rId6"/>
                <a:stretch>
                  <a:fillRect/>
                </a:stretch>
              </a:blipFill>
            </p:spPr>
            <p:txBody>
              <a:bodyPr/>
              <a:lstStyle/>
              <a:p>
                <a:r>
                  <a:rPr lang="en-US">
                    <a:noFill/>
                  </a:rPr>
                  <a:t> </a:t>
                </a:r>
              </a:p>
            </p:txBody>
          </p:sp>
        </mc:Fallback>
      </mc:AlternateContent>
      <p:sp>
        <p:nvSpPr>
          <p:cNvPr id="26" name="Freeform 25"/>
          <p:cNvSpPr/>
          <p:nvPr/>
        </p:nvSpPr>
        <p:spPr>
          <a:xfrm>
            <a:off x="5896708" y="3798277"/>
            <a:ext cx="785446" cy="363415"/>
          </a:xfrm>
          <a:custGeom>
            <a:avLst/>
            <a:gdLst>
              <a:gd name="connsiteX0" fmla="*/ 0 w 785446"/>
              <a:gd name="connsiteY0" fmla="*/ 363415 h 363415"/>
              <a:gd name="connsiteX1" fmla="*/ 328246 w 785446"/>
              <a:gd name="connsiteY1" fmla="*/ 105508 h 363415"/>
              <a:gd name="connsiteX2" fmla="*/ 785446 w 785446"/>
              <a:gd name="connsiteY2" fmla="*/ 0 h 363415"/>
            </a:gdLst>
            <a:ahLst/>
            <a:cxnLst>
              <a:cxn ang="0">
                <a:pos x="connsiteX0" y="connsiteY0"/>
              </a:cxn>
              <a:cxn ang="0">
                <a:pos x="connsiteX1" y="connsiteY1"/>
              </a:cxn>
              <a:cxn ang="0">
                <a:pos x="connsiteX2" y="connsiteY2"/>
              </a:cxn>
            </a:cxnLst>
            <a:rect l="l" t="t" r="r" b="b"/>
            <a:pathLst>
              <a:path w="785446" h="363415">
                <a:moveTo>
                  <a:pt x="0" y="363415"/>
                </a:moveTo>
                <a:cubicBezTo>
                  <a:pt x="98669" y="264746"/>
                  <a:pt x="197338" y="166077"/>
                  <a:pt x="328246" y="105508"/>
                </a:cubicBezTo>
                <a:cubicBezTo>
                  <a:pt x="459154" y="44939"/>
                  <a:pt x="622300" y="22469"/>
                  <a:pt x="785446" y="0"/>
                </a:cubicBezTo>
              </a:path>
            </a:pathLst>
          </a:custGeom>
          <a:noFill/>
          <a:ln>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26"/>
          <p:cNvSpPr/>
          <p:nvPr/>
        </p:nvSpPr>
        <p:spPr>
          <a:xfrm rot="21195762">
            <a:off x="5634996" y="4344485"/>
            <a:ext cx="1082479" cy="164495"/>
          </a:xfrm>
          <a:custGeom>
            <a:avLst/>
            <a:gdLst>
              <a:gd name="connsiteX0" fmla="*/ 0 w 973015"/>
              <a:gd name="connsiteY0" fmla="*/ 0 h 367846"/>
              <a:gd name="connsiteX1" fmla="*/ 222738 w 973015"/>
              <a:gd name="connsiteY1" fmla="*/ 351692 h 367846"/>
              <a:gd name="connsiteX2" fmla="*/ 973015 w 973015"/>
              <a:gd name="connsiteY2" fmla="*/ 304800 h 367846"/>
            </a:gdLst>
            <a:ahLst/>
            <a:cxnLst>
              <a:cxn ang="0">
                <a:pos x="connsiteX0" y="connsiteY0"/>
              </a:cxn>
              <a:cxn ang="0">
                <a:pos x="connsiteX1" y="connsiteY1"/>
              </a:cxn>
              <a:cxn ang="0">
                <a:pos x="connsiteX2" y="connsiteY2"/>
              </a:cxn>
            </a:cxnLst>
            <a:rect l="l" t="t" r="r" b="b"/>
            <a:pathLst>
              <a:path w="973015" h="367846">
                <a:moveTo>
                  <a:pt x="0" y="0"/>
                </a:moveTo>
                <a:cubicBezTo>
                  <a:pt x="30284" y="150446"/>
                  <a:pt x="60569" y="300892"/>
                  <a:pt x="222738" y="351692"/>
                </a:cubicBezTo>
                <a:cubicBezTo>
                  <a:pt x="384907" y="402492"/>
                  <a:pt x="840154" y="318477"/>
                  <a:pt x="973015" y="304800"/>
                </a:cubicBezTo>
              </a:path>
            </a:pathLst>
          </a:custGeom>
          <a:noFill/>
          <a:ln>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6176235" y="4877759"/>
            <a:ext cx="5543981" cy="646331"/>
          </a:xfrm>
          <a:prstGeom prst="rect">
            <a:avLst/>
          </a:prstGeom>
        </p:spPr>
        <p:txBody>
          <a:bodyPr wrap="square">
            <a:spAutoFit/>
          </a:bodyPr>
          <a:lstStyle/>
          <a:p>
            <a:r>
              <a:rPr lang="en-US" dirty="0">
                <a:solidFill>
                  <a:srgbClr val="C00000"/>
                </a:solidFill>
              </a:rPr>
              <a:t>See:</a:t>
            </a:r>
            <a:r>
              <a:rPr lang="en-US" dirty="0"/>
              <a:t> </a:t>
            </a:r>
            <a:r>
              <a:rPr lang="en-US" i="1" dirty="0"/>
              <a:t>Module 1.2 – Example – Forecasting with Moving Average Method.xlsx</a:t>
            </a:r>
            <a:endParaRPr lang="en-US" dirty="0"/>
          </a:p>
        </p:txBody>
      </p:sp>
    </p:spTree>
    <p:extLst>
      <p:ext uri="{BB962C8B-B14F-4D97-AF65-F5344CB8AC3E}">
        <p14:creationId xmlns:p14="http://schemas.microsoft.com/office/powerpoint/2010/main" val="3483908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1" end="1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P spid="13" grpId="0"/>
      <p:bldP spid="17" grpId="0"/>
      <p:bldP spid="26" grpId="0" animBg="1"/>
      <p:bldP spid="27" grpId="0" animBg="1"/>
      <p:bldP spid="2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lnSpcReduction="10000"/>
          </a:bodyPr>
          <a:lstStyle/>
          <a:p>
            <a:r>
              <a:rPr lang="en-US" dirty="0">
                <a:solidFill>
                  <a:schemeClr val="bg2"/>
                </a:solidFill>
              </a:rPr>
              <a:t>Time Series</a:t>
            </a:r>
          </a:p>
          <a:p>
            <a:pPr lvl="1"/>
            <a:r>
              <a:rPr lang="en-US" dirty="0">
                <a:solidFill>
                  <a:schemeClr val="bg2"/>
                </a:solidFill>
              </a:rPr>
              <a:t>Patterns, Graphics, Autocorrelation, and Stationarity</a:t>
            </a:r>
          </a:p>
          <a:p>
            <a:pPr lvl="1"/>
            <a:r>
              <a:rPr lang="en-US" dirty="0">
                <a:solidFill>
                  <a:schemeClr val="bg2"/>
                </a:solidFill>
              </a:rPr>
              <a:t>Components, Moving Averages, and Decomposition</a:t>
            </a:r>
          </a:p>
          <a:p>
            <a:endParaRPr lang="en-US" dirty="0">
              <a:solidFill>
                <a:schemeClr val="bg2"/>
              </a:solidFill>
            </a:endParaRPr>
          </a:p>
          <a:p>
            <a:r>
              <a:rPr lang="en-US" dirty="0">
                <a:solidFill>
                  <a:schemeClr val="bg2"/>
                </a:solidFill>
              </a:rPr>
              <a:t>Simple Forecasting Methods</a:t>
            </a:r>
          </a:p>
          <a:p>
            <a:pPr lvl="1"/>
            <a:r>
              <a:rPr lang="en-US" dirty="0">
                <a:solidFill>
                  <a:schemeClr val="bg2"/>
                </a:solidFill>
              </a:rPr>
              <a:t>Notation and Methods</a:t>
            </a:r>
          </a:p>
          <a:p>
            <a:pPr lvl="1"/>
            <a:r>
              <a:rPr lang="en-US" dirty="0">
                <a:solidFill>
                  <a:schemeClr val="bg2"/>
                </a:solidFill>
              </a:rPr>
              <a:t>Forecasting with Moving Average </a:t>
            </a:r>
          </a:p>
          <a:p>
            <a:endParaRPr lang="en-US" dirty="0"/>
          </a:p>
          <a:p>
            <a:r>
              <a:rPr lang="en-US" dirty="0"/>
              <a:t>Forecast Errors</a:t>
            </a:r>
          </a:p>
          <a:p>
            <a:pPr lvl="1"/>
            <a:r>
              <a:rPr lang="en-US" dirty="0"/>
              <a:t>Errors and Measures</a:t>
            </a:r>
          </a:p>
        </p:txBody>
      </p:sp>
    </p:spTree>
    <p:extLst>
      <p:ext uri="{BB962C8B-B14F-4D97-AF65-F5344CB8AC3E}">
        <p14:creationId xmlns:p14="http://schemas.microsoft.com/office/powerpoint/2010/main" val="31281849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Forecast Errors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1" y="1312433"/>
                <a:ext cx="11633799" cy="5316804"/>
              </a:xfrm>
            </p:spPr>
            <p:txBody>
              <a:bodyPr>
                <a:normAutofit lnSpcReduction="10000"/>
              </a:bodyPr>
              <a:lstStyle/>
              <a:p>
                <a:r>
                  <a:rPr lang="en-US" sz="2400" dirty="0"/>
                  <a:t>Forecast errors can be used to evaluate the accuracy of the forecasting method used</a:t>
                </a:r>
              </a:p>
              <a:p>
                <a:r>
                  <a:rPr lang="en-US" sz="2400" dirty="0"/>
                  <a:t>Forecast error is the difference between the actual value and its forecast: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𝜖</m:t>
                        </m:r>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𝑦</m:t>
                            </m:r>
                          </m:e>
                        </m:acc>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𝑡</m:t>
                        </m:r>
                      </m:sub>
                    </m:sSub>
                  </m:oMath>
                </a14:m>
                <a:endParaRPr lang="en-US" sz="2400" dirty="0"/>
              </a:p>
              <a:p>
                <a:r>
                  <a:rPr lang="en-US" sz="2400" dirty="0"/>
                  <a:t>Average of the errors gives the bias of the forecasting method</a:t>
                </a:r>
              </a:p>
              <a:p>
                <a:pPr lvl="1"/>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𝑇</m:t>
                        </m:r>
                      </m:den>
                    </m:f>
                    <m:nary>
                      <m:naryPr>
                        <m:chr m:val="∑"/>
                        <m:ctrlPr>
                          <a:rPr lang="en-US" sz="2000" i="1" smtClean="0">
                            <a:latin typeface="Cambria Math" panose="02040503050406030204" pitchFamily="18" charset="0"/>
                          </a:rPr>
                        </m:ctrlPr>
                      </m:naryPr>
                      <m:sub>
                        <m:r>
                          <m:rPr>
                            <m:brk m:alnAt="23"/>
                          </m:rPr>
                          <a:rPr lang="en-US" sz="2000" b="0" i="1" smtClean="0">
                            <a:latin typeface="Cambria Math" panose="02040503050406030204" pitchFamily="18" charset="0"/>
                          </a:rPr>
                          <m:t>𝑡</m:t>
                        </m:r>
                        <m:r>
                          <a:rPr lang="en-US" sz="2000" b="0" i="1" smtClean="0">
                            <a:latin typeface="Cambria Math" panose="02040503050406030204" pitchFamily="18" charset="0"/>
                          </a:rPr>
                          <m:t>=1</m:t>
                        </m:r>
                      </m:sub>
                      <m:sup>
                        <m:r>
                          <a:rPr lang="en-US" sz="2000" b="0" i="1" smtClean="0">
                            <a:latin typeface="Cambria Math" panose="02040503050406030204" pitchFamily="18" charset="0"/>
                          </a:rPr>
                          <m:t>𝑇</m:t>
                        </m:r>
                      </m:sup>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𝜖</m:t>
                            </m:r>
                          </m:e>
                          <m:sub>
                            <m:r>
                              <a:rPr lang="en-US" sz="2000" b="0" i="1" smtClean="0">
                                <a:latin typeface="Cambria Math" panose="02040503050406030204" pitchFamily="18" charset="0"/>
                              </a:rPr>
                              <m:t>𝑡</m:t>
                            </m:r>
                          </m:sub>
                        </m:sSub>
                      </m:e>
                    </m:nary>
                  </m:oMath>
                </a14:m>
                <a:r>
                  <a:rPr lang="en-US" sz="2000" dirty="0"/>
                  <a:t> deviates from 0 too much </a:t>
                </a:r>
                <a:r>
                  <a:rPr lang="en-US" sz="2000" dirty="0">
                    <a:sym typeface="Wingdings" panose="05000000000000000000" pitchFamily="2" charset="2"/>
                  </a:rPr>
                  <a:t> the method is biased</a:t>
                </a:r>
                <a:endParaRPr lang="en-US" sz="2000" dirty="0"/>
              </a:p>
              <a:p>
                <a:endParaRPr lang="en-US" sz="2400" dirty="0"/>
              </a:p>
              <a:p>
                <a:r>
                  <a:rPr lang="en-US" sz="2400" dirty="0"/>
                  <a:t>There are different measures that we can use to compare different forecasting methods and the same forecasting method with different parameters:</a:t>
                </a:r>
              </a:p>
              <a:p>
                <a:pPr lvl="1"/>
                <a:endParaRPr lang="en-US" sz="2000" dirty="0"/>
              </a:p>
              <a:p>
                <a:pPr lvl="1"/>
                <a:r>
                  <a:rPr lang="en-US" sz="2000" dirty="0"/>
                  <a:t>Root Mean squared error (RMSE):</a:t>
                </a:r>
              </a:p>
              <a:p>
                <a:pPr lvl="1"/>
                <a:endParaRPr lang="en-US" sz="2000" dirty="0"/>
              </a:p>
              <a:p>
                <a:pPr lvl="8"/>
                <a:endParaRPr lang="en-US" sz="1400" dirty="0"/>
              </a:p>
              <a:p>
                <a:pPr lvl="2"/>
                <a:endParaRPr lang="en-US" sz="1600" dirty="0"/>
              </a:p>
              <a:p>
                <a:pPr lvl="1"/>
                <a:r>
                  <a:rPr lang="en-US" sz="2000" dirty="0"/>
                  <a:t>Mean absolute deviation (MAD): </a:t>
                </a:r>
              </a:p>
              <a:p>
                <a:pPr lvl="5"/>
                <a:endParaRPr lang="en-US" sz="1400" dirty="0"/>
              </a:p>
              <a:p>
                <a:pPr lvl="6"/>
                <a:endParaRPr lang="en-US" sz="1400" dirty="0"/>
              </a:p>
              <a:p>
                <a:pPr lvl="1"/>
                <a:r>
                  <a:rPr lang="en-US" sz="2000" dirty="0"/>
                  <a:t>Mean absolute percentage error (MAPE):</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1" y="1312433"/>
                <a:ext cx="11633799" cy="5316804"/>
              </a:xfrm>
              <a:blipFill>
                <a:blip r:embed="rId3"/>
                <a:stretch>
                  <a:fillRect l="-681" t="-2179" b="-11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4582244" y="3970835"/>
                <a:ext cx="1212019" cy="116993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ad>
                        <m:radPr>
                          <m:degHide m:val="on"/>
                          <m:ctrlPr>
                            <a:rPr lang="en-US" i="1" smtClean="0">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𝑇</m:t>
                              </m:r>
                            </m:den>
                          </m:f>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𝑡</m:t>
                              </m:r>
                              <m:r>
                                <a:rPr lang="en-US" i="1">
                                  <a:latin typeface="Cambria Math" panose="02040503050406030204" pitchFamily="18" charset="0"/>
                                </a:rPr>
                                <m:t>=1</m:t>
                              </m:r>
                            </m:sub>
                            <m:sup>
                              <m:r>
                                <a:rPr lang="en-US" i="1">
                                  <a:latin typeface="Cambria Math" panose="02040503050406030204" pitchFamily="18" charset="0"/>
                                </a:rPr>
                                <m:t>𝑇</m:t>
                              </m:r>
                            </m:sup>
                            <m:e>
                              <m:sSubSup>
                                <m:sSubSupPr>
                                  <m:ctrlPr>
                                    <a:rPr lang="en-US" i="1">
                                      <a:latin typeface="Cambria Math" panose="02040503050406030204" pitchFamily="18" charset="0"/>
                                    </a:rPr>
                                  </m:ctrlPr>
                                </m:sSubSupPr>
                                <m:e>
                                  <m:r>
                                    <a:rPr lang="en-US" i="1">
                                      <a:latin typeface="Cambria Math" panose="02040503050406030204" pitchFamily="18" charset="0"/>
                                    </a:rPr>
                                    <m:t>𝜖</m:t>
                                  </m:r>
                                </m:e>
                                <m:sub>
                                  <m:r>
                                    <a:rPr lang="en-US" i="1">
                                      <a:latin typeface="Cambria Math" panose="02040503050406030204" pitchFamily="18" charset="0"/>
                                    </a:rPr>
                                    <m:t>𝑡</m:t>
                                  </m:r>
                                </m:sub>
                                <m:sup>
                                  <m:r>
                                    <a:rPr lang="en-US" i="1">
                                      <a:latin typeface="Cambria Math" panose="02040503050406030204" pitchFamily="18" charset="0"/>
                                    </a:rPr>
                                    <m:t>2</m:t>
                                  </m:r>
                                </m:sup>
                              </m:sSubSup>
                            </m:e>
                          </m:nary>
                        </m:e>
                      </m:rad>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4582244" y="3970835"/>
                <a:ext cx="1212019" cy="116993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4582244" y="5210263"/>
                <a:ext cx="1106072" cy="87120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𝑇</m:t>
                          </m:r>
                        </m:den>
                      </m:f>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𝑡</m:t>
                          </m:r>
                          <m:r>
                            <a:rPr lang="en-US" i="1">
                              <a:latin typeface="Cambria Math" panose="02040503050406030204" pitchFamily="18" charset="0"/>
                            </a:rPr>
                            <m:t>=1</m:t>
                          </m:r>
                        </m:sub>
                        <m:sup>
                          <m:r>
                            <a:rPr lang="en-US" i="1">
                              <a:latin typeface="Cambria Math" panose="02040503050406030204" pitchFamily="18" charset="0"/>
                            </a:rPr>
                            <m:t>𝑇</m:t>
                          </m:r>
                        </m:sup>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𝑡</m:t>
                              </m:r>
                            </m:sub>
                          </m:sSub>
                          <m:r>
                            <a:rPr lang="en-US" b="0" i="1" smtClean="0">
                              <a:latin typeface="Cambria Math" panose="02040503050406030204" pitchFamily="18" charset="0"/>
                            </a:rPr>
                            <m:t>|</m:t>
                          </m:r>
                        </m:e>
                      </m:nary>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4582244" y="5210263"/>
                <a:ext cx="1106072" cy="87120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5409241" y="5934521"/>
                <a:ext cx="2082943" cy="87120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𝑇</m:t>
                          </m:r>
                        </m:den>
                      </m:f>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𝑡</m:t>
                          </m:r>
                          <m:r>
                            <a:rPr lang="en-US" i="1">
                              <a:latin typeface="Cambria Math" panose="02040503050406030204" pitchFamily="18" charset="0"/>
                            </a:rPr>
                            <m:t>=1</m:t>
                          </m:r>
                        </m:sub>
                        <m:sup>
                          <m:r>
                            <a:rPr lang="en-US" i="1">
                              <a:latin typeface="Cambria Math" panose="02040503050406030204" pitchFamily="18" charset="0"/>
                            </a:rPr>
                            <m:t>𝑇</m:t>
                          </m:r>
                        </m:sup>
                        <m:e>
                          <m:r>
                            <a:rPr lang="en-US" b="0" i="1" smtClean="0">
                              <a:latin typeface="Cambria Math" panose="02040503050406030204" pitchFamily="18" charset="0"/>
                            </a:rPr>
                            <m:t>100×|</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r>
                            <a:rPr lang="en-US" b="0" i="1" smtClean="0">
                              <a:latin typeface="Cambria Math" panose="02040503050406030204" pitchFamily="18" charset="0"/>
                            </a:rPr>
                            <m:t>|</m:t>
                          </m:r>
                        </m:e>
                      </m:nary>
                    </m:oMath>
                  </m:oMathPara>
                </a14:m>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5409241" y="5934521"/>
                <a:ext cx="2082943" cy="871201"/>
              </a:xfrm>
              <a:prstGeom prst="rect">
                <a:avLst/>
              </a:prstGeom>
              <a:blipFill>
                <a:blip r:embed="rId6"/>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D49F5568-816B-94CD-538A-664D35A54AA1}"/>
              </a:ext>
            </a:extLst>
          </p:cNvPr>
          <p:cNvSpPr txBox="1"/>
          <p:nvPr/>
        </p:nvSpPr>
        <p:spPr>
          <a:xfrm>
            <a:off x="6965982" y="4461721"/>
            <a:ext cx="2082943" cy="646331"/>
          </a:xfrm>
          <a:prstGeom prst="rect">
            <a:avLst/>
          </a:prstGeom>
          <a:noFill/>
        </p:spPr>
        <p:txBody>
          <a:bodyPr wrap="square" rtlCol="0">
            <a:spAutoFit/>
          </a:bodyPr>
          <a:lstStyle/>
          <a:p>
            <a:r>
              <a:rPr lang="en-US" dirty="0">
                <a:solidFill>
                  <a:srgbClr val="C00000"/>
                </a:solidFill>
              </a:rPr>
              <a:t>RMSE and MAD are scale-dependent</a:t>
            </a:r>
          </a:p>
        </p:txBody>
      </p:sp>
    </p:spTree>
    <p:extLst>
      <p:ext uri="{BB962C8B-B14F-4D97-AF65-F5344CB8AC3E}">
        <p14:creationId xmlns:p14="http://schemas.microsoft.com/office/powerpoint/2010/main" val="978109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4" end="1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Forecast Errors</a:t>
            </a:r>
          </a:p>
        </p:txBody>
      </p:sp>
      <p:sp>
        <p:nvSpPr>
          <p:cNvPr id="3" name="Content Placeholder 2"/>
          <p:cNvSpPr>
            <a:spLocks noGrp="1"/>
          </p:cNvSpPr>
          <p:nvPr>
            <p:ph idx="1"/>
          </p:nvPr>
        </p:nvSpPr>
        <p:spPr>
          <a:xfrm>
            <a:off x="355001" y="1312433"/>
            <a:ext cx="11633799" cy="4864530"/>
          </a:xfrm>
        </p:spPr>
        <p:txBody>
          <a:bodyPr>
            <a:normAutofit lnSpcReduction="10000"/>
          </a:bodyPr>
          <a:lstStyle/>
          <a:p>
            <a:r>
              <a:rPr lang="en-US" dirty="0"/>
              <a:t>Different measures can indicate different results</a:t>
            </a:r>
          </a:p>
          <a:p>
            <a:pPr lvl="1"/>
            <a:r>
              <a:rPr lang="en-US" dirty="0">
                <a:solidFill>
                  <a:srgbClr val="C00000"/>
                </a:solidFill>
              </a:rPr>
              <a:t>Example: </a:t>
            </a:r>
            <a:r>
              <a:rPr lang="en-US" i="1" dirty="0"/>
              <a:t>Module 1.2 – Example – Forecasting Errors.xlsx</a:t>
            </a:r>
          </a:p>
          <a:p>
            <a:pPr lvl="1"/>
            <a:r>
              <a:rPr lang="en-US" dirty="0"/>
              <a:t>Consider that 2 methods are used to forecast on the same time series. </a:t>
            </a:r>
          </a:p>
          <a:p>
            <a:pPr lvl="1"/>
            <a:r>
              <a:rPr lang="en-US" dirty="0"/>
              <a:t>Forecasts for each method and observed values are given below.</a:t>
            </a:r>
          </a:p>
          <a:p>
            <a:pPr lvl="1"/>
            <a:endParaRPr lang="en-US" dirty="0"/>
          </a:p>
          <a:p>
            <a:pPr lvl="1"/>
            <a:endParaRPr lang="en-US" dirty="0"/>
          </a:p>
          <a:p>
            <a:pPr lvl="1"/>
            <a:endParaRPr lang="en-US" dirty="0"/>
          </a:p>
          <a:p>
            <a:pPr lvl="1"/>
            <a:endParaRPr lang="en-US" dirty="0"/>
          </a:p>
          <a:p>
            <a:pPr lvl="1"/>
            <a:endParaRPr lang="en-US" dirty="0"/>
          </a:p>
          <a:p>
            <a:pPr lvl="1"/>
            <a:endParaRPr lang="en-US" dirty="0"/>
          </a:p>
          <a:p>
            <a:endParaRPr lang="en-US" dirty="0"/>
          </a:p>
          <a:p>
            <a:r>
              <a:rPr lang="en-US" dirty="0"/>
              <a:t>These measures can be used to find good values for the parameters</a:t>
            </a:r>
          </a:p>
          <a:p>
            <a:pPr lvl="1"/>
            <a:r>
              <a:rPr lang="en-US" dirty="0"/>
              <a:t>For instance, we can find N (among possible options that will minimize RMSE) for a Moving Average Method</a:t>
            </a:r>
          </a:p>
          <a:p>
            <a:endParaRPr lang="en-US" b="1" dirty="0">
              <a:solidFill>
                <a:srgbClr val="C00000"/>
              </a:solidFill>
            </a:endParaRPr>
          </a:p>
          <a:p>
            <a:endParaRPr lang="en-US" b="1" dirty="0">
              <a:solidFill>
                <a:srgbClr val="C00000"/>
              </a:solidFill>
            </a:endParaRPr>
          </a:p>
          <a:p>
            <a:endParaRPr lang="en-US" b="1" dirty="0">
              <a:solidFill>
                <a:srgbClr val="C00000"/>
              </a:solidFill>
            </a:endParaRPr>
          </a:p>
          <a:p>
            <a:endParaRPr lang="en-US" b="1" dirty="0">
              <a:solidFill>
                <a:srgbClr val="C00000"/>
              </a:solidFill>
            </a:endParaRPr>
          </a:p>
          <a:p>
            <a:endParaRPr lang="en-US" sz="2400" dirty="0"/>
          </a:p>
          <a:p>
            <a:pPr lvl="3"/>
            <a:endParaRPr lang="en-US" dirty="0"/>
          </a:p>
          <a:p>
            <a:pPr lvl="2"/>
            <a:endParaRPr lang="en-US" dirty="0"/>
          </a:p>
          <a:p>
            <a:pPr lvl="2"/>
            <a:endParaRPr lang="en-US" sz="1600" dirty="0"/>
          </a:p>
          <a:p>
            <a:pPr lvl="2"/>
            <a:endParaRPr lang="en-US" sz="1600" dirty="0"/>
          </a:p>
          <a:p>
            <a:pPr lvl="2"/>
            <a:endParaRPr lang="en-US" sz="1600" dirty="0"/>
          </a:p>
          <a:p>
            <a:pPr marL="457200" lvl="1" indent="0">
              <a:buNone/>
            </a:pPr>
            <a:endParaRPr lang="en-US" sz="2000" dirty="0"/>
          </a:p>
          <a:p>
            <a:endParaRPr lang="en-US" sz="2400" kern="0" dirty="0"/>
          </a:p>
          <a:p>
            <a:endParaRPr lang="en-US" sz="2400" kern="0" dirty="0"/>
          </a:p>
          <a:p>
            <a:pPr lvl="2"/>
            <a:endParaRPr lang="en-US" sz="1600" kern="0" dirty="0"/>
          </a:p>
          <a:p>
            <a:pPr lvl="1"/>
            <a:endParaRPr lang="en-US" sz="2000" kern="0" dirty="0">
              <a:solidFill>
                <a:srgbClr val="000000"/>
              </a:solidFill>
            </a:endParaRPr>
          </a:p>
          <a:p>
            <a:pPr lvl="1"/>
            <a:endParaRPr lang="en-US" sz="2000" kern="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dirty="0"/>
          </a:p>
          <a:p>
            <a:endParaRPr lang="en-US" dirty="0"/>
          </a:p>
          <a:p>
            <a:endParaRPr lang="en-US" dirty="0"/>
          </a:p>
          <a:p>
            <a:endParaRPr lang="en-US" dirty="0"/>
          </a:p>
          <a:p>
            <a:endParaRPr lang="en-US" sz="2400" dirty="0"/>
          </a:p>
          <a:p>
            <a:endParaRPr lang="en-US" dirty="0"/>
          </a:p>
          <a:p>
            <a:endParaRPr lang="en-US" dirty="0"/>
          </a:p>
          <a:p>
            <a:pPr lvl="2"/>
            <a:endParaRPr lang="en-US" dirty="0"/>
          </a:p>
        </p:txBody>
      </p:sp>
      <p:sp>
        <p:nvSpPr>
          <p:cNvPr id="4" name="Rectangle 3"/>
          <p:cNvSpPr/>
          <p:nvPr/>
        </p:nvSpPr>
        <p:spPr>
          <a:xfrm>
            <a:off x="6903596" y="3377360"/>
            <a:ext cx="4764397" cy="923330"/>
          </a:xfrm>
          <a:prstGeom prst="rect">
            <a:avLst/>
          </a:prstGeom>
        </p:spPr>
        <p:txBody>
          <a:bodyPr wrap="square">
            <a:spAutoFit/>
          </a:bodyPr>
          <a:lstStyle/>
          <a:p>
            <a:pPr lvl="2"/>
            <a:r>
              <a:rPr lang="en-US" dirty="0"/>
              <a:t>RMSE indicates that Method 2 is better</a:t>
            </a:r>
          </a:p>
          <a:p>
            <a:pPr lvl="2"/>
            <a:r>
              <a:rPr lang="en-US" dirty="0"/>
              <a:t>MAD indicates that Method 1 is better</a:t>
            </a:r>
          </a:p>
          <a:p>
            <a:pPr lvl="2"/>
            <a:r>
              <a:rPr lang="en-US" dirty="0"/>
              <a:t>MAPE indicates that Method 1 is better</a:t>
            </a:r>
            <a:endParaRPr lang="en-US" sz="5200" dirty="0"/>
          </a:p>
        </p:txBody>
      </p:sp>
      <p:pic>
        <p:nvPicPr>
          <p:cNvPr id="5" name="Picture 4">
            <a:extLst>
              <a:ext uri="{FF2B5EF4-FFF2-40B4-BE49-F238E27FC236}">
                <a16:creationId xmlns:a16="http://schemas.microsoft.com/office/drawing/2014/main" id="{052E6760-8206-461A-8EB1-D6F1E94EAF3B}"/>
              </a:ext>
            </a:extLst>
          </p:cNvPr>
          <p:cNvPicPr>
            <a:picLocks noChangeAspect="1"/>
          </p:cNvPicPr>
          <p:nvPr/>
        </p:nvPicPr>
        <p:blipFill>
          <a:blip r:embed="rId2"/>
          <a:stretch>
            <a:fillRect/>
          </a:stretch>
        </p:blipFill>
        <p:spPr>
          <a:xfrm>
            <a:off x="2375602" y="2821368"/>
            <a:ext cx="4831400" cy="2601978"/>
          </a:xfrm>
          <a:prstGeom prst="rect">
            <a:avLst/>
          </a:prstGeom>
        </p:spPr>
      </p:pic>
    </p:spTree>
    <p:extLst>
      <p:ext uri="{BB962C8B-B14F-4D97-AF65-F5344CB8AC3E}">
        <p14:creationId xmlns:p14="http://schemas.microsoft.com/office/powerpoint/2010/main" val="3700430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1" end="1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7720</TotalTime>
  <Words>3253</Words>
  <PresentationFormat>Widescreen</PresentationFormat>
  <Paragraphs>427</Paragraphs>
  <Slides>37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Calibri Light</vt:lpstr>
      <vt:lpstr>Cambria Math</vt:lpstr>
      <vt:lpstr>Wingdings</vt:lpstr>
      <vt:lpstr>Office Theme</vt:lpstr>
      <vt:lpstr>QMST 5335 Time Series, Simple Methods,  and Forecast Errors </vt:lpstr>
      <vt:lpstr>Learning Objectives:</vt:lpstr>
      <vt:lpstr>Outline</vt:lpstr>
      <vt:lpstr>Outline</vt:lpstr>
      <vt:lpstr>Time Series</vt:lpstr>
      <vt:lpstr>Time Series Patterns</vt:lpstr>
      <vt:lpstr>Time Series Patterns</vt:lpstr>
      <vt:lpstr>Time Series Patterns</vt:lpstr>
      <vt:lpstr>Time Series Graphics: Seasonal Plots</vt:lpstr>
      <vt:lpstr>Time Series Graphics: Seasonal Subseries Plots</vt:lpstr>
      <vt:lpstr>Time Series Graphics: Lag Plots</vt:lpstr>
      <vt:lpstr>Time Series: Autocorrelation</vt:lpstr>
      <vt:lpstr>Time Series: Autocorrelation</vt:lpstr>
      <vt:lpstr>Time Series: Autocorrelation</vt:lpstr>
      <vt:lpstr>Stationarity</vt:lpstr>
      <vt:lpstr>Stationarity</vt:lpstr>
      <vt:lpstr>Stationarity</vt:lpstr>
      <vt:lpstr>Stationarity</vt:lpstr>
      <vt:lpstr>Time Series Decomposition</vt:lpstr>
      <vt:lpstr>Time Series Decomposition</vt:lpstr>
      <vt:lpstr>Moving Averages</vt:lpstr>
      <vt:lpstr>Moving Averages</vt:lpstr>
      <vt:lpstr>Classical Decomposition</vt:lpstr>
      <vt:lpstr>Classical Decomposition</vt:lpstr>
      <vt:lpstr>Outline</vt:lpstr>
      <vt:lpstr>Simple Forecasting Methods</vt:lpstr>
      <vt:lpstr>Simple Forecasting Methods</vt:lpstr>
      <vt:lpstr>Simple Forecasting Methods</vt:lpstr>
      <vt:lpstr>Simple Forecasting Methods</vt:lpstr>
      <vt:lpstr>Forecasting with Moving Average Method </vt:lpstr>
      <vt:lpstr>Forecasting with Moving Average Method </vt:lpstr>
      <vt:lpstr>Forecasting with Moving Average Method </vt:lpstr>
      <vt:lpstr>Forecasting with Moving Average Method </vt:lpstr>
      <vt:lpstr>Forecasting with Moving Average Method </vt:lpstr>
      <vt:lpstr>Outline</vt:lpstr>
      <vt:lpstr>Forecast Errors</vt:lpstr>
      <vt:lpstr>Forecast Errors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terms:created xsi:type="dcterms:W3CDTF">2018-08-17T02:14:39Z</dcterms:created>
  <dcterms:modified xsi:type="dcterms:W3CDTF">2024-01-18T14:58:16Z</dcterms:modified>
</cp:coreProperties>
</file>