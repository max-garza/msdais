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sldIdLst>
    <p:sldId id="468" r:id="rId2"/>
    <p:sldId id="260" r:id="rId3"/>
    <p:sldId id="469" r:id="rId4"/>
    <p:sldId id="257" r:id="rId5"/>
    <p:sldId id="336" r:id="rId6"/>
    <p:sldId id="337" r:id="rId7"/>
    <p:sldId id="338" r:id="rId8"/>
    <p:sldId id="345" r:id="rId9"/>
    <p:sldId id="346" r:id="rId10"/>
    <p:sldId id="417" r:id="rId11"/>
    <p:sldId id="348" r:id="rId12"/>
    <p:sldId id="341" r:id="rId13"/>
    <p:sldId id="349" r:id="rId14"/>
    <p:sldId id="344" r:id="rId15"/>
    <p:sldId id="350" r:id="rId16"/>
    <p:sldId id="351" r:id="rId17"/>
    <p:sldId id="352" r:id="rId18"/>
    <p:sldId id="354" r:id="rId19"/>
    <p:sldId id="356" r:id="rId20"/>
    <p:sldId id="355" r:id="rId21"/>
    <p:sldId id="353" r:id="rId22"/>
    <p:sldId id="357" r:id="rId23"/>
    <p:sldId id="470" r:id="rId24"/>
    <p:sldId id="378" r:id="rId25"/>
    <p:sldId id="377" r:id="rId26"/>
    <p:sldId id="428" r:id="rId27"/>
    <p:sldId id="429" r:id="rId28"/>
    <p:sldId id="379" r:id="rId29"/>
    <p:sldId id="380" r:id="rId30"/>
    <p:sldId id="381" r:id="rId31"/>
    <p:sldId id="430" r:id="rId32"/>
    <p:sldId id="382" r:id="rId33"/>
    <p:sldId id="431" r:id="rId34"/>
    <p:sldId id="383" r:id="rId35"/>
    <p:sldId id="472" r:id="rId36"/>
    <p:sldId id="367" r:id="rId37"/>
    <p:sldId id="384" r:id="rId38"/>
    <p:sldId id="400" r:id="rId39"/>
    <p:sldId id="401" r:id="rId40"/>
    <p:sldId id="402" r:id="rId41"/>
    <p:sldId id="403" r:id="rId42"/>
    <p:sldId id="427" r:id="rId43"/>
    <p:sldId id="404" r:id="rId44"/>
    <p:sldId id="405" r:id="rId45"/>
    <p:sldId id="406" r:id="rId46"/>
    <p:sldId id="408" r:id="rId47"/>
    <p:sldId id="409" r:id="rId48"/>
    <p:sldId id="410" r:id="rId49"/>
    <p:sldId id="411" r:id="rId50"/>
    <p:sldId id="359" r:id="rId51"/>
    <p:sldId id="368" r:id="rId52"/>
    <p:sldId id="369" r:id="rId53"/>
    <p:sldId id="372" r:id="rId54"/>
    <p:sldId id="371" r:id="rId55"/>
    <p:sldId id="370" r:id="rId56"/>
    <p:sldId id="450" r:id="rId57"/>
    <p:sldId id="451" r:id="rId58"/>
    <p:sldId id="452" r:id="rId59"/>
    <p:sldId id="453" r:id="rId60"/>
    <p:sldId id="454" r:id="rId61"/>
    <p:sldId id="455" r:id="rId62"/>
    <p:sldId id="471" r:id="rId63"/>
    <p:sldId id="437" r:id="rId64"/>
    <p:sldId id="373" r:id="rId65"/>
    <p:sldId id="374" r:id="rId66"/>
    <p:sldId id="375" r:id="rId67"/>
    <p:sldId id="376" r:id="rId68"/>
    <p:sldId id="456" r:id="rId69"/>
    <p:sldId id="457" r:id="rId70"/>
    <p:sldId id="458" r:id="rId71"/>
    <p:sldId id="447" r:id="rId72"/>
    <p:sldId id="459" r:id="rId73"/>
    <p:sldId id="460" r:id="rId74"/>
    <p:sldId id="461" r:id="rId75"/>
    <p:sldId id="462" r:id="rId76"/>
    <p:sldId id="464" r:id="rId77"/>
    <p:sldId id="467" r:id="rId78"/>
    <p:sldId id="463" r:id="rId79"/>
    <p:sldId id="465" r:id="rId80"/>
    <p:sldId id="466" r:id="rId81"/>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A2B481-71C5-48C7-9328-97A7AFD2A8EA}" v="36" dt="2023-09-11T15:17:19.4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2937" autoAdjust="0"/>
  </p:normalViewPr>
  <p:slideViewPr>
    <p:cSldViewPr snapToGrid="0">
      <p:cViewPr varScale="1">
        <p:scale>
          <a:sx n="131" d="100"/>
          <a:sy n="131" d="100"/>
        </p:scale>
        <p:origin x="37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88"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ncer Konur" userId="0cb337efb386619d" providerId="LiveId" clId="{4EE91194-88D0-408C-A19C-6C9D234FE04D}"/>
    <pc:docChg chg="undo custSel modSld sldOrd">
      <pc:chgData name="Dincer Konur" userId="0cb337efb386619d" providerId="LiveId" clId="{4EE91194-88D0-408C-A19C-6C9D234FE04D}" dt="2019-07-27T20:39:26.798" v="44" actId="478"/>
      <pc:docMkLst>
        <pc:docMk/>
      </pc:docMkLst>
      <pc:sldChg chg="addSp delSp modSp delAnim modAnim">
        <pc:chgData name="Dincer Konur" userId="0cb337efb386619d" providerId="LiveId" clId="{4EE91194-88D0-408C-A19C-6C9D234FE04D}" dt="2019-07-27T20:39:26.798" v="44" actId="478"/>
        <pc:sldMkLst>
          <pc:docMk/>
          <pc:sldMk cId="3484514418" sldId="375"/>
        </pc:sldMkLst>
        <pc:spChg chg="add del mod">
          <ac:chgData name="Dincer Konur" userId="0cb337efb386619d" providerId="LiveId" clId="{4EE91194-88D0-408C-A19C-6C9D234FE04D}" dt="2019-07-27T20:39:26.798" v="44" actId="478"/>
          <ac:spMkLst>
            <pc:docMk/>
            <pc:sldMk cId="3484514418" sldId="375"/>
            <ac:spMk id="4" creationId="{4ED2DCB9-DCEA-44EB-9E27-1F840BECF19F}"/>
          </ac:spMkLst>
        </pc:spChg>
        <pc:spChg chg="mod">
          <ac:chgData name="Dincer Konur" userId="0cb337efb386619d" providerId="LiveId" clId="{4EE91194-88D0-408C-A19C-6C9D234FE04D}" dt="2019-07-27T19:43:08.175" v="13" actId="14100"/>
          <ac:spMkLst>
            <pc:docMk/>
            <pc:sldMk cId="3484514418" sldId="375"/>
            <ac:spMk id="6" creationId="{00000000-0000-0000-0000-000000000000}"/>
          </ac:spMkLst>
        </pc:spChg>
        <pc:spChg chg="add del mod">
          <ac:chgData name="Dincer Konur" userId="0cb337efb386619d" providerId="LiveId" clId="{4EE91194-88D0-408C-A19C-6C9D234FE04D}" dt="2019-07-27T20:39:26.798" v="44" actId="478"/>
          <ac:spMkLst>
            <pc:docMk/>
            <pc:sldMk cId="3484514418" sldId="375"/>
            <ac:spMk id="7" creationId="{9DCD8DB4-A148-43A6-8EAA-B9375A26A668}"/>
          </ac:spMkLst>
        </pc:spChg>
        <pc:spChg chg="add del mod">
          <ac:chgData name="Dincer Konur" userId="0cb337efb386619d" providerId="LiveId" clId="{4EE91194-88D0-408C-A19C-6C9D234FE04D}" dt="2019-07-27T20:39:26.798" v="44" actId="478"/>
          <ac:spMkLst>
            <pc:docMk/>
            <pc:sldMk cId="3484514418" sldId="375"/>
            <ac:spMk id="8" creationId="{DF41B162-8031-41C3-8E1D-BA242B46407D}"/>
          </ac:spMkLst>
        </pc:spChg>
      </pc:sldChg>
      <pc:sldChg chg="modSp">
        <pc:chgData name="Dincer Konur" userId="0cb337efb386619d" providerId="LiveId" clId="{4EE91194-88D0-408C-A19C-6C9D234FE04D}" dt="2019-07-27T19:37:48.608" v="1" actId="6549"/>
        <pc:sldMkLst>
          <pc:docMk/>
          <pc:sldMk cId="2426151430" sldId="427"/>
        </pc:sldMkLst>
        <pc:spChg chg="mod">
          <ac:chgData name="Dincer Konur" userId="0cb337efb386619d" providerId="LiveId" clId="{4EE91194-88D0-408C-A19C-6C9D234FE04D}" dt="2019-07-27T19:37:48.608" v="1" actId="6549"/>
          <ac:spMkLst>
            <pc:docMk/>
            <pc:sldMk cId="2426151430" sldId="427"/>
            <ac:spMk id="3" creationId="{00000000-0000-0000-0000-000000000000}"/>
          </ac:spMkLst>
        </pc:spChg>
      </pc:sldChg>
      <pc:sldChg chg="modAnim">
        <pc:chgData name="Dincer Konur" userId="0cb337efb386619d" providerId="LiveId" clId="{4EE91194-88D0-408C-A19C-6C9D234FE04D}" dt="2019-07-27T19:53:48.069" v="17"/>
        <pc:sldMkLst>
          <pc:docMk/>
          <pc:sldMk cId="3791539373" sldId="456"/>
        </pc:sldMkLst>
      </pc:sldChg>
      <pc:sldChg chg="modAnim">
        <pc:chgData name="Dincer Konur" userId="0cb337efb386619d" providerId="LiveId" clId="{4EE91194-88D0-408C-A19C-6C9D234FE04D}" dt="2019-07-27T19:54:52.463" v="21"/>
        <pc:sldMkLst>
          <pc:docMk/>
          <pc:sldMk cId="3726107182" sldId="457"/>
        </pc:sldMkLst>
      </pc:sldChg>
      <pc:sldChg chg="ord">
        <pc:chgData name="Dincer Konur" userId="0cb337efb386619d" providerId="LiveId" clId="{4EE91194-88D0-408C-A19C-6C9D234FE04D}" dt="2019-07-27T19:55:39.613" v="22"/>
        <pc:sldMkLst>
          <pc:docMk/>
          <pc:sldMk cId="673542616" sldId="463"/>
        </pc:sldMkLst>
      </pc:sldChg>
      <pc:sldChg chg="modAnim">
        <pc:chgData name="Dincer Konur" userId="0cb337efb386619d" providerId="LiveId" clId="{4EE91194-88D0-408C-A19C-6C9D234FE04D}" dt="2019-07-27T19:56:03.970" v="24"/>
        <pc:sldMkLst>
          <pc:docMk/>
          <pc:sldMk cId="808672788" sldId="465"/>
        </pc:sldMkLst>
      </pc:sldChg>
      <pc:sldChg chg="modAnim">
        <pc:chgData name="Dincer Konur" userId="0cb337efb386619d" providerId="LiveId" clId="{4EE91194-88D0-408C-A19C-6C9D234FE04D}" dt="2019-07-27T19:40:28.834" v="6"/>
        <pc:sldMkLst>
          <pc:docMk/>
          <pc:sldMk cId="3285415815" sldId="467"/>
        </pc:sldMkLst>
      </pc:sldChg>
    </pc:docChg>
  </pc:docChgLst>
  <pc:docChgLst>
    <pc:chgData name="Sahan Konur, Sahika" userId="739a6e03-9a4a-49c6-a350-571b31db94be" providerId="ADAL" clId="{12A2B481-71C5-48C7-9328-97A7AFD2A8EA}"/>
    <pc:docChg chg="undo custSel delSld modSld modNotesMaster">
      <pc:chgData name="Sahan Konur, Sahika" userId="739a6e03-9a4a-49c6-a350-571b31db94be" providerId="ADAL" clId="{12A2B481-71C5-48C7-9328-97A7AFD2A8EA}" dt="2023-09-11T15:17:50.435" v="91" actId="1076"/>
      <pc:docMkLst>
        <pc:docMk/>
      </pc:docMkLst>
      <pc:sldChg chg="del">
        <pc:chgData name="Sahan Konur, Sahika" userId="739a6e03-9a4a-49c6-a350-571b31db94be" providerId="ADAL" clId="{12A2B481-71C5-48C7-9328-97A7AFD2A8EA}" dt="2023-09-11T15:08:55.474" v="8" actId="2696"/>
        <pc:sldMkLst>
          <pc:docMk/>
          <pc:sldMk cId="4209153329" sldId="373"/>
        </pc:sldMkLst>
      </pc:sldChg>
      <pc:sldChg chg="del">
        <pc:chgData name="Sahan Konur, Sahika" userId="739a6e03-9a4a-49c6-a350-571b31db94be" providerId="ADAL" clId="{12A2B481-71C5-48C7-9328-97A7AFD2A8EA}" dt="2023-09-11T15:08:55.474" v="8" actId="2696"/>
        <pc:sldMkLst>
          <pc:docMk/>
          <pc:sldMk cId="4215417848" sldId="374"/>
        </pc:sldMkLst>
      </pc:sldChg>
      <pc:sldChg chg="del">
        <pc:chgData name="Sahan Konur, Sahika" userId="739a6e03-9a4a-49c6-a350-571b31db94be" providerId="ADAL" clId="{12A2B481-71C5-48C7-9328-97A7AFD2A8EA}" dt="2023-09-11T15:08:55.474" v="8" actId="2696"/>
        <pc:sldMkLst>
          <pc:docMk/>
          <pc:sldMk cId="3484514418" sldId="375"/>
        </pc:sldMkLst>
      </pc:sldChg>
      <pc:sldChg chg="del">
        <pc:chgData name="Sahan Konur, Sahika" userId="739a6e03-9a4a-49c6-a350-571b31db94be" providerId="ADAL" clId="{12A2B481-71C5-48C7-9328-97A7AFD2A8EA}" dt="2023-09-11T15:08:55.474" v="8" actId="2696"/>
        <pc:sldMkLst>
          <pc:docMk/>
          <pc:sldMk cId="2344136389" sldId="376"/>
        </pc:sldMkLst>
      </pc:sldChg>
      <pc:sldChg chg="modSp mod">
        <pc:chgData name="Sahan Konur, Sahika" userId="739a6e03-9a4a-49c6-a350-571b31db94be" providerId="ADAL" clId="{12A2B481-71C5-48C7-9328-97A7AFD2A8EA}" dt="2023-09-11T15:11:57.206" v="17" actId="1076"/>
        <pc:sldMkLst>
          <pc:docMk/>
          <pc:sldMk cId="4064486707" sldId="379"/>
        </pc:sldMkLst>
        <pc:picChg chg="mod">
          <ac:chgData name="Sahan Konur, Sahika" userId="739a6e03-9a4a-49c6-a350-571b31db94be" providerId="ADAL" clId="{12A2B481-71C5-48C7-9328-97A7AFD2A8EA}" dt="2023-09-11T15:11:55.024" v="16" actId="1076"/>
          <ac:picMkLst>
            <pc:docMk/>
            <pc:sldMk cId="4064486707" sldId="379"/>
            <ac:picMk id="5" creationId="{00000000-0000-0000-0000-000000000000}"/>
          </ac:picMkLst>
        </pc:picChg>
        <pc:picChg chg="mod">
          <ac:chgData name="Sahan Konur, Sahika" userId="739a6e03-9a4a-49c6-a350-571b31db94be" providerId="ADAL" clId="{12A2B481-71C5-48C7-9328-97A7AFD2A8EA}" dt="2023-09-11T15:11:57.206" v="17" actId="1076"/>
          <ac:picMkLst>
            <pc:docMk/>
            <pc:sldMk cId="4064486707" sldId="379"/>
            <ac:picMk id="7" creationId="{00000000-0000-0000-0000-000000000000}"/>
          </ac:picMkLst>
        </pc:picChg>
      </pc:sldChg>
      <pc:sldChg chg="modSp mod">
        <pc:chgData name="Sahan Konur, Sahika" userId="739a6e03-9a4a-49c6-a350-571b31db94be" providerId="ADAL" clId="{12A2B481-71C5-48C7-9328-97A7AFD2A8EA}" dt="2023-09-11T15:09:29.221" v="9" actId="1076"/>
        <pc:sldMkLst>
          <pc:docMk/>
          <pc:sldMk cId="2838519297" sldId="401"/>
        </pc:sldMkLst>
        <pc:picChg chg="mod">
          <ac:chgData name="Sahan Konur, Sahika" userId="739a6e03-9a4a-49c6-a350-571b31db94be" providerId="ADAL" clId="{12A2B481-71C5-48C7-9328-97A7AFD2A8EA}" dt="2023-09-11T15:09:29.221" v="9" actId="1076"/>
          <ac:picMkLst>
            <pc:docMk/>
            <pc:sldMk cId="2838519297" sldId="401"/>
            <ac:picMk id="5" creationId="{00000000-0000-0000-0000-000000000000}"/>
          </ac:picMkLst>
        </pc:picChg>
      </pc:sldChg>
      <pc:sldChg chg="modSp mod modAnim">
        <pc:chgData name="Sahan Konur, Sahika" userId="739a6e03-9a4a-49c6-a350-571b31db94be" providerId="ADAL" clId="{12A2B481-71C5-48C7-9328-97A7AFD2A8EA}" dt="2023-09-11T15:17:50.435" v="91" actId="1076"/>
        <pc:sldMkLst>
          <pc:docMk/>
          <pc:sldMk cId="3678917239" sldId="408"/>
        </pc:sldMkLst>
        <pc:spChg chg="mod">
          <ac:chgData name="Sahan Konur, Sahika" userId="739a6e03-9a4a-49c6-a350-571b31db94be" providerId="ADAL" clId="{12A2B481-71C5-48C7-9328-97A7AFD2A8EA}" dt="2023-09-11T15:17:43.748" v="89" actId="1076"/>
          <ac:spMkLst>
            <pc:docMk/>
            <pc:sldMk cId="3678917239" sldId="408"/>
            <ac:spMk id="3" creationId="{00000000-0000-0000-0000-000000000000}"/>
          </ac:spMkLst>
        </pc:spChg>
        <pc:spChg chg="mod">
          <ac:chgData name="Sahan Konur, Sahika" userId="739a6e03-9a4a-49c6-a350-571b31db94be" providerId="ADAL" clId="{12A2B481-71C5-48C7-9328-97A7AFD2A8EA}" dt="2023-09-11T15:17:25.870" v="86" actId="1076"/>
          <ac:spMkLst>
            <pc:docMk/>
            <pc:sldMk cId="3678917239" sldId="408"/>
            <ac:spMk id="5" creationId="{00000000-0000-0000-0000-000000000000}"/>
          </ac:spMkLst>
        </pc:spChg>
        <pc:spChg chg="mod">
          <ac:chgData name="Sahan Konur, Sahika" userId="739a6e03-9a4a-49c6-a350-571b31db94be" providerId="ADAL" clId="{12A2B481-71C5-48C7-9328-97A7AFD2A8EA}" dt="2023-09-11T15:17:47.140" v="90" actId="1076"/>
          <ac:spMkLst>
            <pc:docMk/>
            <pc:sldMk cId="3678917239" sldId="408"/>
            <ac:spMk id="6" creationId="{00000000-0000-0000-0000-000000000000}"/>
          </ac:spMkLst>
        </pc:spChg>
        <pc:spChg chg="mod">
          <ac:chgData name="Sahan Konur, Sahika" userId="739a6e03-9a4a-49c6-a350-571b31db94be" providerId="ADAL" clId="{12A2B481-71C5-48C7-9328-97A7AFD2A8EA}" dt="2023-09-11T15:17:33.215" v="87" actId="1076"/>
          <ac:spMkLst>
            <pc:docMk/>
            <pc:sldMk cId="3678917239" sldId="408"/>
            <ac:spMk id="7" creationId="{00000000-0000-0000-0000-000000000000}"/>
          </ac:spMkLst>
        </pc:spChg>
        <pc:spChg chg="mod">
          <ac:chgData name="Sahan Konur, Sahika" userId="739a6e03-9a4a-49c6-a350-571b31db94be" providerId="ADAL" clId="{12A2B481-71C5-48C7-9328-97A7AFD2A8EA}" dt="2023-09-11T15:16:55.090" v="66" actId="1076"/>
          <ac:spMkLst>
            <pc:docMk/>
            <pc:sldMk cId="3678917239" sldId="408"/>
            <ac:spMk id="11" creationId="{00000000-0000-0000-0000-000000000000}"/>
          </ac:spMkLst>
        </pc:spChg>
        <pc:spChg chg="mod">
          <ac:chgData name="Sahan Konur, Sahika" userId="739a6e03-9a4a-49c6-a350-571b31db94be" providerId="ADAL" clId="{12A2B481-71C5-48C7-9328-97A7AFD2A8EA}" dt="2023-09-11T15:17:50.435" v="91" actId="1076"/>
          <ac:spMkLst>
            <pc:docMk/>
            <pc:sldMk cId="3678917239" sldId="408"/>
            <ac:spMk id="12" creationId="{00000000-0000-0000-0000-000000000000}"/>
          </ac:spMkLst>
        </pc:spChg>
      </pc:sldChg>
      <pc:sldChg chg="modSp mod modAnim">
        <pc:chgData name="Sahan Konur, Sahika" userId="739a6e03-9a4a-49c6-a350-571b31db94be" providerId="ADAL" clId="{12A2B481-71C5-48C7-9328-97A7AFD2A8EA}" dt="2023-09-11T15:16:16.317" v="60" actId="1076"/>
        <pc:sldMkLst>
          <pc:docMk/>
          <pc:sldMk cId="3958735687" sldId="409"/>
        </pc:sldMkLst>
        <pc:spChg chg="mod">
          <ac:chgData name="Sahan Konur, Sahika" userId="739a6e03-9a4a-49c6-a350-571b31db94be" providerId="ADAL" clId="{12A2B481-71C5-48C7-9328-97A7AFD2A8EA}" dt="2023-09-11T15:14:11.799" v="35" actId="27636"/>
          <ac:spMkLst>
            <pc:docMk/>
            <pc:sldMk cId="3958735687" sldId="409"/>
            <ac:spMk id="3" creationId="{00000000-0000-0000-0000-000000000000}"/>
          </ac:spMkLst>
        </pc:spChg>
        <pc:spChg chg="mod">
          <ac:chgData name="Sahan Konur, Sahika" userId="739a6e03-9a4a-49c6-a350-571b31db94be" providerId="ADAL" clId="{12A2B481-71C5-48C7-9328-97A7AFD2A8EA}" dt="2023-09-11T15:14:16.901" v="36" actId="1076"/>
          <ac:spMkLst>
            <pc:docMk/>
            <pc:sldMk cId="3958735687" sldId="409"/>
            <ac:spMk id="5" creationId="{00000000-0000-0000-0000-000000000000}"/>
          </ac:spMkLst>
        </pc:spChg>
        <pc:spChg chg="mod">
          <ac:chgData name="Sahan Konur, Sahika" userId="739a6e03-9a4a-49c6-a350-571b31db94be" providerId="ADAL" clId="{12A2B481-71C5-48C7-9328-97A7AFD2A8EA}" dt="2023-09-11T15:14:31.980" v="38" actId="1076"/>
          <ac:spMkLst>
            <pc:docMk/>
            <pc:sldMk cId="3958735687" sldId="409"/>
            <ac:spMk id="6" creationId="{00000000-0000-0000-0000-000000000000}"/>
          </ac:spMkLst>
        </pc:spChg>
        <pc:spChg chg="mod">
          <ac:chgData name="Sahan Konur, Sahika" userId="739a6e03-9a4a-49c6-a350-571b31db94be" providerId="ADAL" clId="{12A2B481-71C5-48C7-9328-97A7AFD2A8EA}" dt="2023-09-11T15:14:25.495" v="37" actId="1076"/>
          <ac:spMkLst>
            <pc:docMk/>
            <pc:sldMk cId="3958735687" sldId="409"/>
            <ac:spMk id="7" creationId="{00000000-0000-0000-0000-000000000000}"/>
          </ac:spMkLst>
        </pc:spChg>
        <pc:spChg chg="mod">
          <ac:chgData name="Sahan Konur, Sahika" userId="739a6e03-9a4a-49c6-a350-571b31db94be" providerId="ADAL" clId="{12A2B481-71C5-48C7-9328-97A7AFD2A8EA}" dt="2023-09-11T15:14:52.033" v="41" actId="404"/>
          <ac:spMkLst>
            <pc:docMk/>
            <pc:sldMk cId="3958735687" sldId="409"/>
            <ac:spMk id="8" creationId="{00000000-0000-0000-0000-000000000000}"/>
          </ac:spMkLst>
        </pc:spChg>
        <pc:spChg chg="mod">
          <ac:chgData name="Sahan Konur, Sahika" userId="739a6e03-9a4a-49c6-a350-571b31db94be" providerId="ADAL" clId="{12A2B481-71C5-48C7-9328-97A7AFD2A8EA}" dt="2023-09-11T15:14:55.925" v="42" actId="404"/>
          <ac:spMkLst>
            <pc:docMk/>
            <pc:sldMk cId="3958735687" sldId="409"/>
            <ac:spMk id="9" creationId="{00000000-0000-0000-0000-000000000000}"/>
          </ac:spMkLst>
        </pc:spChg>
        <pc:spChg chg="mod">
          <ac:chgData name="Sahan Konur, Sahika" userId="739a6e03-9a4a-49c6-a350-571b31db94be" providerId="ADAL" clId="{12A2B481-71C5-48C7-9328-97A7AFD2A8EA}" dt="2023-09-11T15:15:00.130" v="43" actId="404"/>
          <ac:spMkLst>
            <pc:docMk/>
            <pc:sldMk cId="3958735687" sldId="409"/>
            <ac:spMk id="10" creationId="{00000000-0000-0000-0000-000000000000}"/>
          </ac:spMkLst>
        </pc:spChg>
        <pc:spChg chg="mod">
          <ac:chgData name="Sahan Konur, Sahika" userId="739a6e03-9a4a-49c6-a350-571b31db94be" providerId="ADAL" clId="{12A2B481-71C5-48C7-9328-97A7AFD2A8EA}" dt="2023-09-11T15:14:42.771" v="40" actId="1076"/>
          <ac:spMkLst>
            <pc:docMk/>
            <pc:sldMk cId="3958735687" sldId="409"/>
            <ac:spMk id="11" creationId="{00000000-0000-0000-0000-000000000000}"/>
          </ac:spMkLst>
        </pc:spChg>
        <pc:spChg chg="mod">
          <ac:chgData name="Sahan Konur, Sahika" userId="739a6e03-9a4a-49c6-a350-571b31db94be" providerId="ADAL" clId="{12A2B481-71C5-48C7-9328-97A7AFD2A8EA}" dt="2023-09-11T15:14:35.637" v="39" actId="1076"/>
          <ac:spMkLst>
            <pc:docMk/>
            <pc:sldMk cId="3958735687" sldId="409"/>
            <ac:spMk id="12" creationId="{00000000-0000-0000-0000-000000000000}"/>
          </ac:spMkLst>
        </pc:spChg>
        <pc:spChg chg="mod">
          <ac:chgData name="Sahan Konur, Sahika" userId="739a6e03-9a4a-49c6-a350-571b31db94be" providerId="ADAL" clId="{12A2B481-71C5-48C7-9328-97A7AFD2A8EA}" dt="2023-09-11T15:15:46.116" v="55" actId="1076"/>
          <ac:spMkLst>
            <pc:docMk/>
            <pc:sldMk cId="3958735687" sldId="409"/>
            <ac:spMk id="16" creationId="{00000000-0000-0000-0000-000000000000}"/>
          </ac:spMkLst>
        </pc:spChg>
        <pc:spChg chg="mod">
          <ac:chgData name="Sahan Konur, Sahika" userId="739a6e03-9a4a-49c6-a350-571b31db94be" providerId="ADAL" clId="{12A2B481-71C5-48C7-9328-97A7AFD2A8EA}" dt="2023-09-11T15:16:16.317" v="60" actId="1076"/>
          <ac:spMkLst>
            <pc:docMk/>
            <pc:sldMk cId="3958735687" sldId="409"/>
            <ac:spMk id="17" creationId="{00000000-0000-0000-0000-000000000000}"/>
          </ac:spMkLst>
        </pc:spChg>
        <pc:spChg chg="mod">
          <ac:chgData name="Sahan Konur, Sahika" userId="739a6e03-9a4a-49c6-a350-571b31db94be" providerId="ADAL" clId="{12A2B481-71C5-48C7-9328-97A7AFD2A8EA}" dt="2023-09-11T15:15:40.197" v="54" actId="1076"/>
          <ac:spMkLst>
            <pc:docMk/>
            <pc:sldMk cId="3958735687" sldId="409"/>
            <ac:spMk id="18" creationId="{00000000-0000-0000-0000-000000000000}"/>
          </ac:spMkLst>
        </pc:spChg>
        <pc:spChg chg="mod">
          <ac:chgData name="Sahan Konur, Sahika" userId="739a6e03-9a4a-49c6-a350-571b31db94be" providerId="ADAL" clId="{12A2B481-71C5-48C7-9328-97A7AFD2A8EA}" dt="2023-09-11T15:15:19.144" v="48" actId="1076"/>
          <ac:spMkLst>
            <pc:docMk/>
            <pc:sldMk cId="3958735687" sldId="409"/>
            <ac:spMk id="19" creationId="{00000000-0000-0000-0000-000000000000}"/>
          </ac:spMkLst>
        </pc:spChg>
        <pc:spChg chg="mod">
          <ac:chgData name="Sahan Konur, Sahika" userId="739a6e03-9a4a-49c6-a350-571b31db94be" providerId="ADAL" clId="{12A2B481-71C5-48C7-9328-97A7AFD2A8EA}" dt="2023-09-11T15:15:30.637" v="50" actId="1076"/>
          <ac:spMkLst>
            <pc:docMk/>
            <pc:sldMk cId="3958735687" sldId="409"/>
            <ac:spMk id="20" creationId="{00000000-0000-0000-0000-000000000000}"/>
          </ac:spMkLst>
        </pc:spChg>
      </pc:sldChg>
      <pc:sldChg chg="modSp mod modAnim">
        <pc:chgData name="Sahan Konur, Sahika" userId="739a6e03-9a4a-49c6-a350-571b31db94be" providerId="ADAL" clId="{12A2B481-71C5-48C7-9328-97A7AFD2A8EA}" dt="2023-09-11T14:18:53.763" v="6" actId="20577"/>
        <pc:sldMkLst>
          <pc:docMk/>
          <pc:sldMk cId="4234379417" sldId="417"/>
        </pc:sldMkLst>
        <pc:spChg chg="mod">
          <ac:chgData name="Sahan Konur, Sahika" userId="739a6e03-9a4a-49c6-a350-571b31db94be" providerId="ADAL" clId="{12A2B481-71C5-48C7-9328-97A7AFD2A8EA}" dt="2023-09-11T14:18:53.763" v="6" actId="20577"/>
          <ac:spMkLst>
            <pc:docMk/>
            <pc:sldMk cId="4234379417" sldId="417"/>
            <ac:spMk id="3" creationId="{00000000-0000-0000-0000-000000000000}"/>
          </ac:spMkLst>
        </pc:spChg>
      </pc:sldChg>
      <pc:sldChg chg="modSp mod">
        <pc:chgData name="Sahan Konur, Sahika" userId="739a6e03-9a4a-49c6-a350-571b31db94be" providerId="ADAL" clId="{12A2B481-71C5-48C7-9328-97A7AFD2A8EA}" dt="2023-09-11T14:33:16.825" v="7" actId="1076"/>
        <pc:sldMkLst>
          <pc:docMk/>
          <pc:sldMk cId="2690326858" sldId="428"/>
        </pc:sldMkLst>
        <pc:picChg chg="mod">
          <ac:chgData name="Sahan Konur, Sahika" userId="739a6e03-9a4a-49c6-a350-571b31db94be" providerId="ADAL" clId="{12A2B481-71C5-48C7-9328-97A7AFD2A8EA}" dt="2023-09-11T14:33:16.825" v="7" actId="1076"/>
          <ac:picMkLst>
            <pc:docMk/>
            <pc:sldMk cId="2690326858" sldId="428"/>
            <ac:picMk id="7" creationId="{00000000-0000-0000-0000-000000000000}"/>
          </ac:picMkLst>
        </pc:picChg>
      </pc:sldChg>
      <pc:sldChg chg="modSp mod">
        <pc:chgData name="Sahan Konur, Sahika" userId="739a6e03-9a4a-49c6-a350-571b31db94be" providerId="ADAL" clId="{12A2B481-71C5-48C7-9328-97A7AFD2A8EA}" dt="2023-09-11T15:12:18.792" v="22" actId="14100"/>
        <pc:sldMkLst>
          <pc:docMk/>
          <pc:sldMk cId="2969654957" sldId="430"/>
        </pc:sldMkLst>
        <pc:picChg chg="mod">
          <ac:chgData name="Sahan Konur, Sahika" userId="739a6e03-9a4a-49c6-a350-571b31db94be" providerId="ADAL" clId="{12A2B481-71C5-48C7-9328-97A7AFD2A8EA}" dt="2023-09-11T15:12:18.792" v="22" actId="14100"/>
          <ac:picMkLst>
            <pc:docMk/>
            <pc:sldMk cId="2969654957" sldId="430"/>
            <ac:picMk id="6" creationId="{00000000-0000-0000-0000-000000000000}"/>
          </ac:picMkLst>
        </pc:picChg>
        <pc:picChg chg="mod">
          <ac:chgData name="Sahan Konur, Sahika" userId="739a6e03-9a4a-49c6-a350-571b31db94be" providerId="ADAL" clId="{12A2B481-71C5-48C7-9328-97A7AFD2A8EA}" dt="2023-09-11T15:12:16.359" v="21" actId="1076"/>
          <ac:picMkLst>
            <pc:docMk/>
            <pc:sldMk cId="2969654957" sldId="430"/>
            <ac:picMk id="8" creationId="{00000000-0000-0000-0000-000000000000}"/>
          </ac:picMkLst>
        </pc:picChg>
      </pc:sldChg>
      <pc:sldChg chg="modSp mod">
        <pc:chgData name="Sahan Konur, Sahika" userId="739a6e03-9a4a-49c6-a350-571b31db94be" providerId="ADAL" clId="{12A2B481-71C5-48C7-9328-97A7AFD2A8EA}" dt="2023-09-11T15:12:34.698" v="24" actId="1076"/>
        <pc:sldMkLst>
          <pc:docMk/>
          <pc:sldMk cId="2603152237" sldId="431"/>
        </pc:sldMkLst>
        <pc:picChg chg="mod">
          <ac:chgData name="Sahan Konur, Sahika" userId="739a6e03-9a4a-49c6-a350-571b31db94be" providerId="ADAL" clId="{12A2B481-71C5-48C7-9328-97A7AFD2A8EA}" dt="2023-09-11T15:12:34.698" v="24" actId="1076"/>
          <ac:picMkLst>
            <pc:docMk/>
            <pc:sldMk cId="2603152237" sldId="431"/>
            <ac:picMk id="5" creationId="{00000000-0000-0000-0000-000000000000}"/>
          </ac:picMkLst>
        </pc:picChg>
        <pc:picChg chg="mod">
          <ac:chgData name="Sahan Konur, Sahika" userId="739a6e03-9a4a-49c6-a350-571b31db94be" providerId="ADAL" clId="{12A2B481-71C5-48C7-9328-97A7AFD2A8EA}" dt="2023-09-11T15:12:32.373" v="23" actId="1076"/>
          <ac:picMkLst>
            <pc:docMk/>
            <pc:sldMk cId="2603152237" sldId="431"/>
            <ac:picMk id="7" creationId="{00000000-0000-0000-0000-000000000000}"/>
          </ac:picMkLst>
        </pc:picChg>
      </pc:sldChg>
      <pc:sldChg chg="del">
        <pc:chgData name="Sahan Konur, Sahika" userId="739a6e03-9a4a-49c6-a350-571b31db94be" providerId="ADAL" clId="{12A2B481-71C5-48C7-9328-97A7AFD2A8EA}" dt="2023-09-11T15:08:55.474" v="8" actId="2696"/>
        <pc:sldMkLst>
          <pc:docMk/>
          <pc:sldMk cId="1099556603" sldId="437"/>
        </pc:sldMkLst>
      </pc:sldChg>
      <pc:sldChg chg="del">
        <pc:chgData name="Sahan Konur, Sahika" userId="739a6e03-9a4a-49c6-a350-571b31db94be" providerId="ADAL" clId="{12A2B481-71C5-48C7-9328-97A7AFD2A8EA}" dt="2023-09-11T15:08:55.474" v="8" actId="2696"/>
        <pc:sldMkLst>
          <pc:docMk/>
          <pc:sldMk cId="2641536791" sldId="447"/>
        </pc:sldMkLst>
      </pc:sldChg>
      <pc:sldChg chg="del">
        <pc:chgData name="Sahan Konur, Sahika" userId="739a6e03-9a4a-49c6-a350-571b31db94be" providerId="ADAL" clId="{12A2B481-71C5-48C7-9328-97A7AFD2A8EA}" dt="2023-09-11T15:08:55.474" v="8" actId="2696"/>
        <pc:sldMkLst>
          <pc:docMk/>
          <pc:sldMk cId="3791539373" sldId="456"/>
        </pc:sldMkLst>
      </pc:sldChg>
      <pc:sldChg chg="del">
        <pc:chgData name="Sahan Konur, Sahika" userId="739a6e03-9a4a-49c6-a350-571b31db94be" providerId="ADAL" clId="{12A2B481-71C5-48C7-9328-97A7AFD2A8EA}" dt="2023-09-11T15:08:55.474" v="8" actId="2696"/>
        <pc:sldMkLst>
          <pc:docMk/>
          <pc:sldMk cId="3726107182" sldId="457"/>
        </pc:sldMkLst>
      </pc:sldChg>
      <pc:sldChg chg="del">
        <pc:chgData name="Sahan Konur, Sahika" userId="739a6e03-9a4a-49c6-a350-571b31db94be" providerId="ADAL" clId="{12A2B481-71C5-48C7-9328-97A7AFD2A8EA}" dt="2023-09-11T15:08:55.474" v="8" actId="2696"/>
        <pc:sldMkLst>
          <pc:docMk/>
          <pc:sldMk cId="1857054847" sldId="458"/>
        </pc:sldMkLst>
      </pc:sldChg>
      <pc:sldChg chg="del">
        <pc:chgData name="Sahan Konur, Sahika" userId="739a6e03-9a4a-49c6-a350-571b31db94be" providerId="ADAL" clId="{12A2B481-71C5-48C7-9328-97A7AFD2A8EA}" dt="2023-09-11T15:08:55.474" v="8" actId="2696"/>
        <pc:sldMkLst>
          <pc:docMk/>
          <pc:sldMk cId="1863742814" sldId="459"/>
        </pc:sldMkLst>
      </pc:sldChg>
      <pc:sldChg chg="del">
        <pc:chgData name="Sahan Konur, Sahika" userId="739a6e03-9a4a-49c6-a350-571b31db94be" providerId="ADAL" clId="{12A2B481-71C5-48C7-9328-97A7AFD2A8EA}" dt="2023-09-11T15:08:55.474" v="8" actId="2696"/>
        <pc:sldMkLst>
          <pc:docMk/>
          <pc:sldMk cId="160766585" sldId="460"/>
        </pc:sldMkLst>
      </pc:sldChg>
      <pc:sldChg chg="del">
        <pc:chgData name="Sahan Konur, Sahika" userId="739a6e03-9a4a-49c6-a350-571b31db94be" providerId="ADAL" clId="{12A2B481-71C5-48C7-9328-97A7AFD2A8EA}" dt="2023-09-11T15:08:55.474" v="8" actId="2696"/>
        <pc:sldMkLst>
          <pc:docMk/>
          <pc:sldMk cId="68410812" sldId="461"/>
        </pc:sldMkLst>
      </pc:sldChg>
      <pc:sldChg chg="del">
        <pc:chgData name="Sahan Konur, Sahika" userId="739a6e03-9a4a-49c6-a350-571b31db94be" providerId="ADAL" clId="{12A2B481-71C5-48C7-9328-97A7AFD2A8EA}" dt="2023-09-11T15:08:55.474" v="8" actId="2696"/>
        <pc:sldMkLst>
          <pc:docMk/>
          <pc:sldMk cId="757514980" sldId="462"/>
        </pc:sldMkLst>
      </pc:sldChg>
      <pc:sldChg chg="del">
        <pc:chgData name="Sahan Konur, Sahika" userId="739a6e03-9a4a-49c6-a350-571b31db94be" providerId="ADAL" clId="{12A2B481-71C5-48C7-9328-97A7AFD2A8EA}" dt="2023-09-11T15:08:55.474" v="8" actId="2696"/>
        <pc:sldMkLst>
          <pc:docMk/>
          <pc:sldMk cId="673542616" sldId="463"/>
        </pc:sldMkLst>
      </pc:sldChg>
      <pc:sldChg chg="del">
        <pc:chgData name="Sahan Konur, Sahika" userId="739a6e03-9a4a-49c6-a350-571b31db94be" providerId="ADAL" clId="{12A2B481-71C5-48C7-9328-97A7AFD2A8EA}" dt="2023-09-11T15:08:55.474" v="8" actId="2696"/>
        <pc:sldMkLst>
          <pc:docMk/>
          <pc:sldMk cId="2789447900" sldId="464"/>
        </pc:sldMkLst>
      </pc:sldChg>
      <pc:sldChg chg="del">
        <pc:chgData name="Sahan Konur, Sahika" userId="739a6e03-9a4a-49c6-a350-571b31db94be" providerId="ADAL" clId="{12A2B481-71C5-48C7-9328-97A7AFD2A8EA}" dt="2023-09-11T15:08:55.474" v="8" actId="2696"/>
        <pc:sldMkLst>
          <pc:docMk/>
          <pc:sldMk cId="808672788" sldId="465"/>
        </pc:sldMkLst>
      </pc:sldChg>
      <pc:sldChg chg="del">
        <pc:chgData name="Sahan Konur, Sahika" userId="739a6e03-9a4a-49c6-a350-571b31db94be" providerId="ADAL" clId="{12A2B481-71C5-48C7-9328-97A7AFD2A8EA}" dt="2023-09-11T15:08:55.474" v="8" actId="2696"/>
        <pc:sldMkLst>
          <pc:docMk/>
          <pc:sldMk cId="3884013388" sldId="466"/>
        </pc:sldMkLst>
      </pc:sldChg>
      <pc:sldChg chg="del">
        <pc:chgData name="Sahan Konur, Sahika" userId="739a6e03-9a4a-49c6-a350-571b31db94be" providerId="ADAL" clId="{12A2B481-71C5-48C7-9328-97A7AFD2A8EA}" dt="2023-09-11T15:08:55.474" v="8" actId="2696"/>
        <pc:sldMkLst>
          <pc:docMk/>
          <pc:sldMk cId="3285415815" sldId="467"/>
        </pc:sldMkLst>
      </pc:sldChg>
      <pc:sldChg chg="del">
        <pc:chgData name="Sahan Konur, Sahika" userId="739a6e03-9a4a-49c6-a350-571b31db94be" providerId="ADAL" clId="{12A2B481-71C5-48C7-9328-97A7AFD2A8EA}" dt="2023-09-11T15:08:55.474" v="8" actId="2696"/>
        <pc:sldMkLst>
          <pc:docMk/>
          <pc:sldMk cId="4052399888" sldId="471"/>
        </pc:sldMkLst>
      </pc:sldChg>
    </pc:docChg>
  </pc:docChgLst>
  <pc:docChgLst>
    <pc:chgData name="Dincer Konur" userId="0cb337efb386619d" providerId="LiveId" clId="{F0CC0642-01B4-4770-89EC-7FD9FA54A1BE}"/>
    <pc:docChg chg="custSel addSld modSld">
      <pc:chgData name="Dincer Konur" userId="0cb337efb386619d" providerId="LiveId" clId="{F0CC0642-01B4-4770-89EC-7FD9FA54A1BE}" dt="2019-07-23T14:23:00.906" v="172" actId="20577"/>
      <pc:docMkLst>
        <pc:docMk/>
      </pc:docMkLst>
      <pc:sldChg chg="modSp">
        <pc:chgData name="Dincer Konur" userId="0cb337efb386619d" providerId="LiveId" clId="{F0CC0642-01B4-4770-89EC-7FD9FA54A1BE}" dt="2019-07-23T14:17:15.671" v="1" actId="20577"/>
        <pc:sldMkLst>
          <pc:docMk/>
          <pc:sldMk cId="2789447900" sldId="464"/>
        </pc:sldMkLst>
        <pc:spChg chg="mod">
          <ac:chgData name="Dincer Konur" userId="0cb337efb386619d" providerId="LiveId" clId="{F0CC0642-01B4-4770-89EC-7FD9FA54A1BE}" dt="2019-07-23T14:17:15.671" v="1" actId="20577"/>
          <ac:spMkLst>
            <pc:docMk/>
            <pc:sldMk cId="2789447900" sldId="464"/>
            <ac:spMk id="3" creationId="{00000000-0000-0000-0000-000000000000}"/>
          </ac:spMkLst>
        </pc:spChg>
      </pc:sldChg>
      <pc:sldChg chg="addSp modSp add">
        <pc:chgData name="Dincer Konur" userId="0cb337efb386619d" providerId="LiveId" clId="{F0CC0642-01B4-4770-89EC-7FD9FA54A1BE}" dt="2019-07-23T14:23:00.906" v="172" actId="20577"/>
        <pc:sldMkLst>
          <pc:docMk/>
          <pc:sldMk cId="3285415815" sldId="467"/>
        </pc:sldMkLst>
        <pc:spChg chg="mod">
          <ac:chgData name="Dincer Konur" userId="0cb337efb386619d" providerId="LiveId" clId="{F0CC0642-01B4-4770-89EC-7FD9FA54A1BE}" dt="2019-07-23T14:18:32.366" v="27" actId="15"/>
          <ac:spMkLst>
            <pc:docMk/>
            <pc:sldMk cId="3285415815" sldId="467"/>
            <ac:spMk id="3" creationId="{00000000-0000-0000-0000-000000000000}"/>
          </ac:spMkLst>
        </pc:spChg>
        <pc:spChg chg="add mod">
          <ac:chgData name="Dincer Konur" userId="0cb337efb386619d" providerId="LiveId" clId="{F0CC0642-01B4-4770-89EC-7FD9FA54A1BE}" dt="2019-07-23T14:23:00.906" v="172" actId="20577"/>
          <ac:spMkLst>
            <pc:docMk/>
            <pc:sldMk cId="3285415815" sldId="467"/>
            <ac:spMk id="4" creationId="{4DB283EE-A23C-4E1C-8129-A29E89439B9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3768A81C-13E0-402A-9BD9-36F3DFFB46F8}" type="datetimeFigureOut">
              <a:rPr lang="en-US" smtClean="0"/>
              <a:t>9/15/24</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209376B9-9838-4376-9895-3384D05A8DF5}" type="slidenum">
              <a:rPr lang="en-US" smtClean="0"/>
              <a:t>‹#›</a:t>
            </a:fld>
            <a:endParaRPr lang="en-US"/>
          </a:p>
        </p:txBody>
      </p:sp>
    </p:spTree>
    <p:extLst>
      <p:ext uri="{BB962C8B-B14F-4D97-AF65-F5344CB8AC3E}">
        <p14:creationId xmlns:p14="http://schemas.microsoft.com/office/powerpoint/2010/main" val="3997369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376B9-9838-4376-9895-3384D05A8DF5}" type="slidenum">
              <a:rPr lang="en-US" smtClean="0"/>
              <a:t>1</a:t>
            </a:fld>
            <a:endParaRPr lang="en-US"/>
          </a:p>
        </p:txBody>
      </p:sp>
    </p:spTree>
    <p:extLst>
      <p:ext uri="{BB962C8B-B14F-4D97-AF65-F5344CB8AC3E}">
        <p14:creationId xmlns:p14="http://schemas.microsoft.com/office/powerpoint/2010/main" val="539759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376B9-9838-4376-9895-3384D05A8DF5}" type="slidenum">
              <a:rPr lang="en-US" smtClean="0"/>
              <a:t>2</a:t>
            </a:fld>
            <a:endParaRPr lang="en-US"/>
          </a:p>
        </p:txBody>
      </p:sp>
    </p:spTree>
    <p:extLst>
      <p:ext uri="{BB962C8B-B14F-4D97-AF65-F5344CB8AC3E}">
        <p14:creationId xmlns:p14="http://schemas.microsoft.com/office/powerpoint/2010/main" val="15151586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4</a:t>
            </a:fld>
            <a:endParaRPr lang="en-US"/>
          </a:p>
        </p:txBody>
      </p:sp>
    </p:spTree>
    <p:extLst>
      <p:ext uri="{BB962C8B-B14F-4D97-AF65-F5344CB8AC3E}">
        <p14:creationId xmlns:p14="http://schemas.microsoft.com/office/powerpoint/2010/main" val="42148408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209376B9-9838-4376-9895-3384D05A8DF5}" type="slidenum">
              <a:rPr lang="en-US" smtClean="0"/>
              <a:t>5</a:t>
            </a:fld>
            <a:endParaRPr lang="en-US"/>
          </a:p>
        </p:txBody>
      </p:sp>
    </p:spTree>
    <p:extLst>
      <p:ext uri="{BB962C8B-B14F-4D97-AF65-F5344CB8AC3E}">
        <p14:creationId xmlns:p14="http://schemas.microsoft.com/office/powerpoint/2010/main" val="21333603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6</a:t>
            </a:fld>
            <a:endParaRPr lang="en-US"/>
          </a:p>
        </p:txBody>
      </p:sp>
    </p:spTree>
    <p:extLst>
      <p:ext uri="{BB962C8B-B14F-4D97-AF65-F5344CB8AC3E}">
        <p14:creationId xmlns:p14="http://schemas.microsoft.com/office/powerpoint/2010/main" val="6220024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7</a:t>
            </a:fld>
            <a:endParaRPr lang="en-US"/>
          </a:p>
        </p:txBody>
      </p:sp>
    </p:spTree>
    <p:extLst>
      <p:ext uri="{BB962C8B-B14F-4D97-AF65-F5344CB8AC3E}">
        <p14:creationId xmlns:p14="http://schemas.microsoft.com/office/powerpoint/2010/main" val="30874917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209376B9-9838-4376-9895-3384D05A8DF5}" type="slidenum">
              <a:rPr lang="en-US" smtClean="0"/>
              <a:t>8</a:t>
            </a:fld>
            <a:endParaRPr lang="en-US"/>
          </a:p>
        </p:txBody>
      </p:sp>
    </p:spTree>
    <p:extLst>
      <p:ext uri="{BB962C8B-B14F-4D97-AF65-F5344CB8AC3E}">
        <p14:creationId xmlns:p14="http://schemas.microsoft.com/office/powerpoint/2010/main" val="10267036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9</a:t>
            </a:fld>
            <a:endParaRPr lang="en-US"/>
          </a:p>
        </p:txBody>
      </p:sp>
    </p:spTree>
    <p:extLst>
      <p:ext uri="{BB962C8B-B14F-4D97-AF65-F5344CB8AC3E}">
        <p14:creationId xmlns:p14="http://schemas.microsoft.com/office/powerpoint/2010/main" val="40705546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10</a:t>
            </a:fld>
            <a:endParaRPr lang="en-US"/>
          </a:p>
        </p:txBody>
      </p:sp>
    </p:spTree>
    <p:extLst>
      <p:ext uri="{BB962C8B-B14F-4D97-AF65-F5344CB8AC3E}">
        <p14:creationId xmlns:p14="http://schemas.microsoft.com/office/powerpoint/2010/main" val="41450304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11</a:t>
            </a:fld>
            <a:endParaRPr lang="en-US"/>
          </a:p>
        </p:txBody>
      </p:sp>
    </p:spTree>
    <p:extLst>
      <p:ext uri="{BB962C8B-B14F-4D97-AF65-F5344CB8AC3E}">
        <p14:creationId xmlns:p14="http://schemas.microsoft.com/office/powerpoint/2010/main" val="2061110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12</a:t>
            </a:fld>
            <a:endParaRPr lang="en-US"/>
          </a:p>
        </p:txBody>
      </p:sp>
    </p:spTree>
    <p:extLst>
      <p:ext uri="{BB962C8B-B14F-4D97-AF65-F5344CB8AC3E}">
        <p14:creationId xmlns:p14="http://schemas.microsoft.com/office/powerpoint/2010/main" val="31200018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13</a:t>
            </a:fld>
            <a:endParaRPr lang="en-US"/>
          </a:p>
        </p:txBody>
      </p:sp>
    </p:spTree>
    <p:extLst>
      <p:ext uri="{BB962C8B-B14F-4D97-AF65-F5344CB8AC3E}">
        <p14:creationId xmlns:p14="http://schemas.microsoft.com/office/powerpoint/2010/main" val="2641359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14</a:t>
            </a:fld>
            <a:endParaRPr lang="en-US"/>
          </a:p>
        </p:txBody>
      </p:sp>
    </p:spTree>
    <p:extLst>
      <p:ext uri="{BB962C8B-B14F-4D97-AF65-F5344CB8AC3E}">
        <p14:creationId xmlns:p14="http://schemas.microsoft.com/office/powerpoint/2010/main" val="28648625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15</a:t>
            </a:fld>
            <a:endParaRPr lang="en-US"/>
          </a:p>
        </p:txBody>
      </p:sp>
    </p:spTree>
    <p:extLst>
      <p:ext uri="{BB962C8B-B14F-4D97-AF65-F5344CB8AC3E}">
        <p14:creationId xmlns:p14="http://schemas.microsoft.com/office/powerpoint/2010/main" val="24329799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16</a:t>
            </a:fld>
            <a:endParaRPr lang="en-US"/>
          </a:p>
        </p:txBody>
      </p:sp>
    </p:spTree>
    <p:extLst>
      <p:ext uri="{BB962C8B-B14F-4D97-AF65-F5344CB8AC3E}">
        <p14:creationId xmlns:p14="http://schemas.microsoft.com/office/powerpoint/2010/main" val="15738699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17</a:t>
            </a:fld>
            <a:endParaRPr lang="en-US"/>
          </a:p>
        </p:txBody>
      </p:sp>
    </p:spTree>
    <p:extLst>
      <p:ext uri="{BB962C8B-B14F-4D97-AF65-F5344CB8AC3E}">
        <p14:creationId xmlns:p14="http://schemas.microsoft.com/office/powerpoint/2010/main" val="5203646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18</a:t>
            </a:fld>
            <a:endParaRPr lang="en-US"/>
          </a:p>
        </p:txBody>
      </p:sp>
    </p:spTree>
    <p:extLst>
      <p:ext uri="{BB962C8B-B14F-4D97-AF65-F5344CB8AC3E}">
        <p14:creationId xmlns:p14="http://schemas.microsoft.com/office/powerpoint/2010/main" val="3986221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19</a:t>
            </a:fld>
            <a:endParaRPr lang="en-US"/>
          </a:p>
        </p:txBody>
      </p:sp>
    </p:spTree>
    <p:extLst>
      <p:ext uri="{BB962C8B-B14F-4D97-AF65-F5344CB8AC3E}">
        <p14:creationId xmlns:p14="http://schemas.microsoft.com/office/powerpoint/2010/main" val="34421132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20</a:t>
            </a:fld>
            <a:endParaRPr lang="en-US"/>
          </a:p>
        </p:txBody>
      </p:sp>
    </p:spTree>
    <p:extLst>
      <p:ext uri="{BB962C8B-B14F-4D97-AF65-F5344CB8AC3E}">
        <p14:creationId xmlns:p14="http://schemas.microsoft.com/office/powerpoint/2010/main" val="10037423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21</a:t>
            </a:fld>
            <a:endParaRPr lang="en-US"/>
          </a:p>
        </p:txBody>
      </p:sp>
    </p:spTree>
    <p:extLst>
      <p:ext uri="{BB962C8B-B14F-4D97-AF65-F5344CB8AC3E}">
        <p14:creationId xmlns:p14="http://schemas.microsoft.com/office/powerpoint/2010/main" val="5089491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22</a:t>
            </a:fld>
            <a:endParaRPr lang="en-US"/>
          </a:p>
        </p:txBody>
      </p:sp>
    </p:spTree>
    <p:extLst>
      <p:ext uri="{BB962C8B-B14F-4D97-AF65-F5344CB8AC3E}">
        <p14:creationId xmlns:p14="http://schemas.microsoft.com/office/powerpoint/2010/main" val="5404862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24</a:t>
            </a:fld>
            <a:endParaRPr lang="en-US"/>
          </a:p>
        </p:txBody>
      </p:sp>
    </p:spTree>
    <p:extLst>
      <p:ext uri="{BB962C8B-B14F-4D97-AF65-F5344CB8AC3E}">
        <p14:creationId xmlns:p14="http://schemas.microsoft.com/office/powerpoint/2010/main" val="30156113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25</a:t>
            </a:fld>
            <a:endParaRPr lang="en-US"/>
          </a:p>
        </p:txBody>
      </p:sp>
    </p:spTree>
    <p:extLst>
      <p:ext uri="{BB962C8B-B14F-4D97-AF65-F5344CB8AC3E}">
        <p14:creationId xmlns:p14="http://schemas.microsoft.com/office/powerpoint/2010/main" val="18583804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26</a:t>
            </a:fld>
            <a:endParaRPr lang="en-US"/>
          </a:p>
        </p:txBody>
      </p:sp>
    </p:spTree>
    <p:extLst>
      <p:ext uri="{BB962C8B-B14F-4D97-AF65-F5344CB8AC3E}">
        <p14:creationId xmlns:p14="http://schemas.microsoft.com/office/powerpoint/2010/main" val="27834562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27</a:t>
            </a:fld>
            <a:endParaRPr lang="en-US"/>
          </a:p>
        </p:txBody>
      </p:sp>
    </p:spTree>
    <p:extLst>
      <p:ext uri="{BB962C8B-B14F-4D97-AF65-F5344CB8AC3E}">
        <p14:creationId xmlns:p14="http://schemas.microsoft.com/office/powerpoint/2010/main" val="12703788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29</a:t>
            </a:fld>
            <a:endParaRPr lang="en-US"/>
          </a:p>
        </p:txBody>
      </p:sp>
    </p:spTree>
    <p:extLst>
      <p:ext uri="{BB962C8B-B14F-4D97-AF65-F5344CB8AC3E}">
        <p14:creationId xmlns:p14="http://schemas.microsoft.com/office/powerpoint/2010/main" val="32346885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30</a:t>
            </a:fld>
            <a:endParaRPr lang="en-US"/>
          </a:p>
        </p:txBody>
      </p:sp>
    </p:spTree>
    <p:extLst>
      <p:ext uri="{BB962C8B-B14F-4D97-AF65-F5344CB8AC3E}">
        <p14:creationId xmlns:p14="http://schemas.microsoft.com/office/powerpoint/2010/main" val="21635303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32</a:t>
            </a:fld>
            <a:endParaRPr lang="en-US"/>
          </a:p>
        </p:txBody>
      </p:sp>
    </p:spTree>
    <p:extLst>
      <p:ext uri="{BB962C8B-B14F-4D97-AF65-F5344CB8AC3E}">
        <p14:creationId xmlns:p14="http://schemas.microsoft.com/office/powerpoint/2010/main" val="8132154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33</a:t>
            </a:fld>
            <a:endParaRPr lang="en-US"/>
          </a:p>
        </p:txBody>
      </p:sp>
    </p:spTree>
    <p:extLst>
      <p:ext uri="{BB962C8B-B14F-4D97-AF65-F5344CB8AC3E}">
        <p14:creationId xmlns:p14="http://schemas.microsoft.com/office/powerpoint/2010/main" val="6806029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34</a:t>
            </a:fld>
            <a:endParaRPr lang="en-US"/>
          </a:p>
        </p:txBody>
      </p:sp>
    </p:spTree>
    <p:extLst>
      <p:ext uri="{BB962C8B-B14F-4D97-AF65-F5344CB8AC3E}">
        <p14:creationId xmlns:p14="http://schemas.microsoft.com/office/powerpoint/2010/main" val="3772648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376B9-9838-4376-9895-3384D05A8DF5}" type="slidenum">
              <a:rPr lang="en-US" smtClean="0"/>
              <a:t>42</a:t>
            </a:fld>
            <a:endParaRPr lang="en-US"/>
          </a:p>
        </p:txBody>
      </p:sp>
    </p:spTree>
    <p:extLst>
      <p:ext uri="{BB962C8B-B14F-4D97-AF65-F5344CB8AC3E}">
        <p14:creationId xmlns:p14="http://schemas.microsoft.com/office/powerpoint/2010/main" val="42540454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47</a:t>
            </a:fld>
            <a:endParaRPr lang="en-US"/>
          </a:p>
        </p:txBody>
      </p:sp>
    </p:spTree>
    <p:extLst>
      <p:ext uri="{BB962C8B-B14F-4D97-AF65-F5344CB8AC3E}">
        <p14:creationId xmlns:p14="http://schemas.microsoft.com/office/powerpoint/2010/main" val="9585203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376B9-9838-4376-9895-3384D05A8DF5}" type="slidenum">
              <a:rPr lang="en-US" smtClean="0"/>
              <a:t>66</a:t>
            </a:fld>
            <a:endParaRPr lang="en-US"/>
          </a:p>
        </p:txBody>
      </p:sp>
    </p:spTree>
    <p:extLst>
      <p:ext uri="{BB962C8B-B14F-4D97-AF65-F5344CB8AC3E}">
        <p14:creationId xmlns:p14="http://schemas.microsoft.com/office/powerpoint/2010/main" val="17336821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8059504-2B37-4FB4-B40F-1187F3C72860}" type="datetime1">
              <a:rPr lang="en-US" smtClean="0"/>
              <a:t>9/15/24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132637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002" y="365125"/>
            <a:ext cx="11478410" cy="839731"/>
          </a:xfrm>
        </p:spPr>
        <p:txBody>
          <a:bodyPr/>
          <a:lstStyle/>
          <a:p>
            <a:r>
              <a:rPr lang="en-US"/>
              <a:t>Click to edit Master title style</a:t>
            </a:r>
          </a:p>
        </p:txBody>
      </p:sp>
      <p:sp>
        <p:nvSpPr>
          <p:cNvPr id="3" name="Content Placeholder 2"/>
          <p:cNvSpPr>
            <a:spLocks noGrp="1"/>
          </p:cNvSpPr>
          <p:nvPr>
            <p:ph idx="1"/>
          </p:nvPr>
        </p:nvSpPr>
        <p:spPr>
          <a:xfrm>
            <a:off x="355002" y="1312433"/>
            <a:ext cx="11478410" cy="48645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55002" y="6356350"/>
            <a:ext cx="3226398" cy="365125"/>
          </a:xfrm>
        </p:spPr>
        <p:txBody>
          <a:bodyPr/>
          <a:lstStyle/>
          <a:p>
            <a:fld id="{40018CA5-E803-4BD7-88F2-CB649F62D600}" type="datetime1">
              <a:rPr lang="en-US" smtClean="0"/>
              <a:t>9/15/24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0"/>
            <a:ext cx="3222812" cy="365125"/>
          </a:xfrm>
        </p:spPr>
        <p:txBody>
          <a:bodyPr/>
          <a:lstStyle/>
          <a:p>
            <a:fld id="{1F4BF737-9C2B-4B9F-9835-28D7237AA9BE}" type="slidenum">
              <a:rPr lang="en-US" smtClean="0"/>
              <a:t>‹#›</a:t>
            </a:fld>
            <a:endParaRPr lang="en-US"/>
          </a:p>
        </p:txBody>
      </p:sp>
      <p:cxnSp>
        <p:nvCxnSpPr>
          <p:cNvPr id="8" name="Straight Connector 7"/>
          <p:cNvCxnSpPr/>
          <p:nvPr userDrawn="1"/>
        </p:nvCxnSpPr>
        <p:spPr>
          <a:xfrm>
            <a:off x="355002" y="1193795"/>
            <a:ext cx="1147841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4795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885A11-D22C-4C67-88CA-C863B107841B}" type="datetime1">
              <a:rPr lang="en-US" smtClean="0"/>
              <a:t>9/15/24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54182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BEA3F0B-6540-43F0-9715-23F8ED9B3643}" type="datetime1">
              <a:rPr lang="en-US" smtClean="0"/>
              <a:t>9/15/24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123447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07556BD-94CA-4BE2-A697-C93F5EB75719}" type="datetime1">
              <a:rPr lang="en-US" smtClean="0"/>
              <a:t>9/15/24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459018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802C7A7-16E5-4BEA-B03A-3798F7035DAB}" type="datetime1">
              <a:rPr lang="en-US" smtClean="0"/>
              <a:t>9/15/24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237032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FB30C5-548F-4EE3-8FEB-83ECC30B6808}" type="datetime1">
              <a:rPr lang="en-US" smtClean="0"/>
              <a:t>9/15/24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615553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B52F757-2B9D-4E47-9600-5D984427E3AD}" type="datetime1">
              <a:rPr lang="en-US" smtClean="0"/>
              <a:t>9/15/24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267901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17EDFE-96E9-4597-97A5-0CC53D84E5BF}" type="datetime1">
              <a:rPr lang="en-US" smtClean="0"/>
              <a:t>9/15/24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607142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6F16FE-44EC-4FCB-8D90-80BAA6A47C18}" type="datetime1">
              <a:rPr lang="en-US" smtClean="0"/>
              <a:t>9/15/24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493167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70CCAE-7D79-4918-A366-A172C78608D5}" type="datetime1">
              <a:rPr lang="en-US" smtClean="0"/>
              <a:t>9/15/24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272868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93F9B6-A545-46A5-8813-0807E8BE6AFC}" type="datetime1">
              <a:rPr lang="en-US" smtClean="0"/>
              <a:t>9/15/24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BF737-9C2B-4B9F-9835-28D7237AA9BE}" type="slidenum">
              <a:rPr lang="en-US" smtClean="0"/>
              <a:t>‹#›</a:t>
            </a:fld>
            <a:endParaRPr lang="en-US"/>
          </a:p>
        </p:txBody>
      </p:sp>
    </p:spTree>
    <p:extLst>
      <p:ext uri="{BB962C8B-B14F-4D97-AF65-F5344CB8AC3E}">
        <p14:creationId xmlns:p14="http://schemas.microsoft.com/office/powerpoint/2010/main" val="3431302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solver.com/excel-solver-how-load-or-start-solver"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image" Target="../media/image45.png"/></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48.png"/><Relationship Id="rId7" Type="http://schemas.openxmlformats.org/officeDocument/2006/relationships/image" Target="../media/image51.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3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70.e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5.e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76.em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682433"/>
            <a:ext cx="11487150" cy="2387600"/>
          </a:xfrm>
        </p:spPr>
        <p:txBody>
          <a:bodyPr>
            <a:normAutofit fontScale="90000"/>
          </a:bodyPr>
          <a:lstStyle/>
          <a:p>
            <a:br>
              <a:rPr lang="en-US" sz="5400" dirty="0"/>
            </a:br>
            <a:r>
              <a:rPr lang="en-US" sz="5400"/>
              <a:t>ANLY 5332</a:t>
            </a:r>
            <a:br>
              <a:rPr lang="en-US" sz="3200" dirty="0"/>
            </a:br>
            <a:br>
              <a:rPr lang="en-US" sz="3200" dirty="0"/>
            </a:br>
            <a:r>
              <a:rPr lang="en-US" sz="2400" b="1" dirty="0">
                <a:solidFill>
                  <a:srgbClr val="C00000"/>
                </a:solidFill>
              </a:rPr>
              <a:t>Department of Information Systems and Analytics</a:t>
            </a:r>
            <a:br>
              <a:rPr lang="en-US" sz="2400" b="1" dirty="0">
                <a:solidFill>
                  <a:srgbClr val="C00000"/>
                </a:solidFill>
              </a:rPr>
            </a:br>
            <a:r>
              <a:rPr lang="en-US" sz="2400" b="1" dirty="0">
                <a:solidFill>
                  <a:srgbClr val="C00000"/>
                </a:solidFill>
              </a:rPr>
              <a:t>McCoy College of Business Administration</a:t>
            </a:r>
            <a:br>
              <a:rPr lang="en-US" sz="2400" b="1" dirty="0">
                <a:solidFill>
                  <a:srgbClr val="C00000"/>
                </a:solidFill>
              </a:rPr>
            </a:br>
            <a:r>
              <a:rPr lang="en-US" sz="2400" b="1" dirty="0">
                <a:solidFill>
                  <a:srgbClr val="C00000"/>
                </a:solidFill>
              </a:rPr>
              <a:t>Texas State University</a:t>
            </a:r>
            <a:endParaRPr lang="en-US" sz="4400" b="1" dirty="0">
              <a:solidFill>
                <a:srgbClr val="C00000"/>
              </a:solidFill>
            </a:endParaRPr>
          </a:p>
        </p:txBody>
      </p:sp>
      <p:sp>
        <p:nvSpPr>
          <p:cNvPr id="3" name="Subtitle 2"/>
          <p:cNvSpPr>
            <a:spLocks noGrp="1"/>
          </p:cNvSpPr>
          <p:nvPr>
            <p:ph type="subTitle" idx="1"/>
          </p:nvPr>
        </p:nvSpPr>
        <p:spPr/>
        <p:txBody>
          <a:bodyPr>
            <a:normAutofit lnSpcReduction="10000"/>
          </a:bodyPr>
          <a:lstStyle/>
          <a:p>
            <a:endParaRPr lang="en-US" dirty="0"/>
          </a:p>
          <a:p>
            <a:endParaRPr lang="en-US" dirty="0"/>
          </a:p>
          <a:p>
            <a:endParaRPr lang="en-US" dirty="0"/>
          </a:p>
          <a:p>
            <a:r>
              <a:rPr lang="en-US" dirty="0"/>
              <a:t>Spreadsheet Modeling and LP Applications</a:t>
            </a:r>
          </a:p>
        </p:txBody>
      </p:sp>
    </p:spTree>
    <p:extLst>
      <p:ext uri="{BB962C8B-B14F-4D97-AF65-F5344CB8AC3E}">
        <p14:creationId xmlns:p14="http://schemas.microsoft.com/office/powerpoint/2010/main" val="3670493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t>Spreadsheet Modeling (Chapter 2)</a:t>
            </a:r>
          </a:p>
          <a:p>
            <a:pPr lvl="1"/>
            <a:r>
              <a:rPr lang="en-US" dirty="0"/>
              <a:t>Excel Modeling and Excel Solver (Chapter 2.5)</a:t>
            </a:r>
          </a:p>
          <a:p>
            <a:pPr lvl="1"/>
            <a:r>
              <a:rPr lang="en-US" dirty="0"/>
              <a:t>Case: </a:t>
            </a:r>
            <a:r>
              <a:rPr lang="en-US" dirty="0" err="1"/>
              <a:t>Wyndor</a:t>
            </a:r>
            <a:r>
              <a:rPr lang="en-US" dirty="0"/>
              <a:t> Glass Co. Product Mix in Excel (Chapter 2.2)</a:t>
            </a:r>
          </a:p>
          <a:p>
            <a:r>
              <a:rPr lang="en-US" dirty="0"/>
              <a:t>Excel Solver Outputs (not in the textbook)</a:t>
            </a:r>
          </a:p>
          <a:p>
            <a:r>
              <a:rPr lang="en-US" dirty="0"/>
              <a:t>Transportation and Assignment Models (</a:t>
            </a:r>
            <a:r>
              <a:rPr lang="en-US" i="1" dirty="0"/>
              <a:t>Chapter 3&amp;15</a:t>
            </a:r>
            <a:r>
              <a:rPr lang="en-US" dirty="0"/>
              <a:t>)</a:t>
            </a:r>
          </a:p>
          <a:p>
            <a:pPr lvl="4"/>
            <a:endParaRPr lang="en-US" dirty="0"/>
          </a:p>
          <a:p>
            <a:r>
              <a:rPr lang="en-US" dirty="0"/>
              <a:t>Linear Programming Applications (Chapter 3)</a:t>
            </a:r>
          </a:p>
          <a:p>
            <a:pPr lvl="1"/>
            <a:r>
              <a:rPr lang="en-US" dirty="0"/>
              <a:t>Case: TBA Airlines Procurement (Chapter 3.2)</a:t>
            </a:r>
          </a:p>
          <a:p>
            <a:pPr lvl="1"/>
            <a:r>
              <a:rPr lang="en-US" dirty="0"/>
              <a:t>Case: Think-Big Capital Budgeting (Chapter 3.2)</a:t>
            </a:r>
          </a:p>
          <a:p>
            <a:pPr lvl="1"/>
            <a:r>
              <a:rPr lang="en-US" dirty="0"/>
              <a:t>Case: Union Airways Personnel Scheduling (Chapter 3.3)</a:t>
            </a:r>
          </a:p>
          <a:p>
            <a:pPr lvl="1"/>
            <a:r>
              <a:rPr lang="en-US" dirty="0"/>
              <a:t>Case: Super Grain Advertising-Mix (Chapter 3.4)</a:t>
            </a:r>
          </a:p>
          <a:p>
            <a:endParaRPr lang="en-US" dirty="0"/>
          </a:p>
        </p:txBody>
      </p:sp>
    </p:spTree>
    <p:extLst>
      <p:ext uri="{BB962C8B-B14F-4D97-AF65-F5344CB8AC3E}">
        <p14:creationId xmlns:p14="http://schemas.microsoft.com/office/powerpoint/2010/main" val="2474569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C3A12-95EA-A967-4B69-9666089678B0}"/>
              </a:ext>
            </a:extLst>
          </p:cNvPr>
          <p:cNvSpPr>
            <a:spLocks noGrp="1"/>
          </p:cNvSpPr>
          <p:nvPr>
            <p:ph type="title"/>
          </p:nvPr>
        </p:nvSpPr>
        <p:spPr/>
        <p:txBody>
          <a:bodyPr/>
          <a:lstStyle/>
          <a:p>
            <a:r>
              <a:rPr lang="en-US" dirty="0"/>
              <a:t>Spreadsheet Modeling</a:t>
            </a:r>
          </a:p>
        </p:txBody>
      </p:sp>
      <p:sp>
        <p:nvSpPr>
          <p:cNvPr id="3" name="Subtitle 2">
            <a:extLst>
              <a:ext uri="{FF2B5EF4-FFF2-40B4-BE49-F238E27FC236}">
                <a16:creationId xmlns:a16="http://schemas.microsoft.com/office/drawing/2014/main" id="{5645DF3A-F447-93CA-90CA-988D205208B1}"/>
              </a:ext>
            </a:extLst>
          </p:cNvPr>
          <p:cNvSpPr>
            <a:spLocks noGrp="1"/>
          </p:cNvSpPr>
          <p:nvPr>
            <p:ph type="body" idx="1"/>
          </p:nvPr>
        </p:nvSpPr>
        <p:spPr/>
        <p:txBody>
          <a:bodyPr/>
          <a:lstStyle/>
          <a:p>
            <a:r>
              <a:rPr lang="en-US" dirty="0"/>
              <a:t>Chapter 2</a:t>
            </a:r>
          </a:p>
        </p:txBody>
      </p:sp>
    </p:spTree>
    <p:extLst>
      <p:ext uri="{BB962C8B-B14F-4D97-AF65-F5344CB8AC3E}">
        <p14:creationId xmlns:p14="http://schemas.microsoft.com/office/powerpoint/2010/main" val="2601345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Spreadsheet Modeling</a:t>
            </a:r>
          </a:p>
        </p:txBody>
      </p:sp>
      <p:sp>
        <p:nvSpPr>
          <p:cNvPr id="3" name="Content Placeholder 2"/>
          <p:cNvSpPr>
            <a:spLocks noGrp="1"/>
          </p:cNvSpPr>
          <p:nvPr>
            <p:ph idx="1"/>
          </p:nvPr>
        </p:nvSpPr>
        <p:spPr/>
        <p:txBody>
          <a:bodyPr/>
          <a:lstStyle/>
          <a:p>
            <a:r>
              <a:rPr lang="en-US" dirty="0"/>
              <a:t>We have discussed how to formulate algebraic models</a:t>
            </a:r>
          </a:p>
          <a:p>
            <a:r>
              <a:rPr lang="en-US" dirty="0"/>
              <a:t>We have also discussed how to solve simple linear programming models with two decision variables using the graphical solution method</a:t>
            </a:r>
          </a:p>
          <a:p>
            <a:r>
              <a:rPr lang="en-US" dirty="0"/>
              <a:t>In practice, mathematical models have many more decisions</a:t>
            </a:r>
          </a:p>
          <a:p>
            <a:pPr lvl="1"/>
            <a:r>
              <a:rPr lang="en-US" dirty="0"/>
              <a:t>Walmart’s distribution, FedEx’s airplane loading/unloading, Investment decisions, etc.</a:t>
            </a:r>
          </a:p>
          <a:p>
            <a:r>
              <a:rPr lang="en-US" dirty="0"/>
              <a:t>So, we cannot use graphical solution method for many practical problems</a:t>
            </a:r>
          </a:p>
          <a:p>
            <a:r>
              <a:rPr lang="en-US" dirty="0"/>
              <a:t>One can use software packages</a:t>
            </a:r>
          </a:p>
          <a:p>
            <a:pPr lvl="1"/>
            <a:r>
              <a:rPr lang="en-US" dirty="0"/>
              <a:t>Once algebraic model is ready, it can be put into different software packages</a:t>
            </a:r>
          </a:p>
          <a:p>
            <a:r>
              <a:rPr lang="en-US" dirty="0"/>
              <a:t>MS Excel Solver Add-in is sufficient for many practical purposes</a:t>
            </a:r>
          </a:p>
        </p:txBody>
      </p:sp>
    </p:spTree>
    <p:extLst>
      <p:ext uri="{BB962C8B-B14F-4D97-AF65-F5344CB8AC3E}">
        <p14:creationId xmlns:p14="http://schemas.microsoft.com/office/powerpoint/2010/main" val="378930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Spreadsheet Modeling</a:t>
            </a:r>
          </a:p>
        </p:txBody>
      </p:sp>
      <p:sp>
        <p:nvSpPr>
          <p:cNvPr id="3" name="Content Placeholder 2"/>
          <p:cNvSpPr>
            <a:spLocks noGrp="1"/>
          </p:cNvSpPr>
          <p:nvPr>
            <p:ph idx="1"/>
          </p:nvPr>
        </p:nvSpPr>
        <p:spPr/>
        <p:txBody>
          <a:bodyPr/>
          <a:lstStyle/>
          <a:p>
            <a:r>
              <a:rPr lang="en-US" b="1" u="sng" dirty="0"/>
              <a:t>Excel Modeling and Excel Solver:</a:t>
            </a:r>
          </a:p>
          <a:p>
            <a:pPr lvl="1"/>
            <a:r>
              <a:rPr lang="en-US" dirty="0"/>
              <a:t>First, we need to put the model into Excel</a:t>
            </a:r>
          </a:p>
          <a:p>
            <a:pPr lvl="1"/>
            <a:r>
              <a:rPr lang="en-US" dirty="0"/>
              <a:t>To do so, we can follow similar steps with algebraic modeling</a:t>
            </a:r>
          </a:p>
          <a:p>
            <a:pPr lvl="1"/>
            <a:endParaRPr lang="en-US" dirty="0"/>
          </a:p>
          <a:p>
            <a:pPr lvl="1"/>
            <a:endParaRPr lang="en-US" dirty="0"/>
          </a:p>
          <a:p>
            <a:pPr lvl="1"/>
            <a:endParaRPr lang="en-US" dirty="0"/>
          </a:p>
          <a:p>
            <a:pPr lvl="1"/>
            <a:endParaRPr lang="en-US" dirty="0"/>
          </a:p>
          <a:p>
            <a:pPr lvl="1"/>
            <a:endParaRPr lang="en-US" dirty="0"/>
          </a:p>
          <a:p>
            <a:pPr lvl="1"/>
            <a:r>
              <a:rPr lang="en-US" dirty="0"/>
              <a:t>After we have the Spreadsheet model, we can use Excel Solver Add-in to solve it</a:t>
            </a:r>
          </a:p>
          <a:p>
            <a:pPr lvl="1"/>
            <a:r>
              <a:rPr lang="en-US" dirty="0"/>
              <a:t>First, let’s put </a:t>
            </a:r>
            <a:r>
              <a:rPr lang="en-US" dirty="0" err="1"/>
              <a:t>Wyndor</a:t>
            </a:r>
            <a:r>
              <a:rPr lang="en-US"/>
              <a:t> Glass Co</a:t>
            </a:r>
            <a:r>
              <a:rPr lang="en-US" dirty="0"/>
              <a:t>. Product Mix model into Excel and create a spreadsheet model for it</a:t>
            </a:r>
          </a:p>
        </p:txBody>
      </p:sp>
      <p:sp>
        <p:nvSpPr>
          <p:cNvPr id="4" name="Rectangle 3"/>
          <p:cNvSpPr/>
          <p:nvPr/>
        </p:nvSpPr>
        <p:spPr>
          <a:xfrm>
            <a:off x="5737412" y="2583656"/>
            <a:ext cx="6271708" cy="1631216"/>
          </a:xfrm>
          <a:prstGeom prst="rect">
            <a:avLst/>
          </a:prstGeom>
        </p:spPr>
        <p:txBody>
          <a:bodyPr wrap="square">
            <a:spAutoFit/>
          </a:bodyPr>
          <a:lstStyle/>
          <a:p>
            <a:pPr lvl="1"/>
            <a:r>
              <a:rPr lang="en-US" sz="2000" u="sng" dirty="0">
                <a:solidFill>
                  <a:srgbClr val="C00000"/>
                </a:solidFill>
              </a:rPr>
              <a:t>Steps to follow for spreadsheet modeling:</a:t>
            </a:r>
          </a:p>
          <a:p>
            <a:pPr lvl="2"/>
            <a:r>
              <a:rPr lang="en-US" sz="2000" dirty="0"/>
              <a:t>Step 0: Put the data into Excel</a:t>
            </a:r>
          </a:p>
          <a:p>
            <a:pPr lvl="2"/>
            <a:r>
              <a:rPr lang="en-US" sz="2000" dirty="0"/>
              <a:t>Step 1: Dedicate cells to variables</a:t>
            </a:r>
          </a:p>
          <a:p>
            <a:pPr lvl="2"/>
            <a:r>
              <a:rPr lang="en-US" sz="2000" dirty="0"/>
              <a:t>Step 2: Formulate the objective function in a cell</a:t>
            </a:r>
          </a:p>
          <a:p>
            <a:pPr lvl="2"/>
            <a:r>
              <a:rPr lang="en-US" sz="2000" dirty="0"/>
              <a:t>Step 3: Model the constraints</a:t>
            </a:r>
          </a:p>
        </p:txBody>
      </p:sp>
      <p:sp>
        <p:nvSpPr>
          <p:cNvPr id="8" name="Rectangle 7"/>
          <p:cNvSpPr/>
          <p:nvPr/>
        </p:nvSpPr>
        <p:spPr>
          <a:xfrm>
            <a:off x="936812" y="2583656"/>
            <a:ext cx="6096000" cy="1631216"/>
          </a:xfrm>
          <a:prstGeom prst="rect">
            <a:avLst/>
          </a:prstGeom>
        </p:spPr>
        <p:txBody>
          <a:bodyPr>
            <a:spAutoFit/>
          </a:bodyPr>
          <a:lstStyle/>
          <a:p>
            <a:pPr lvl="1"/>
            <a:r>
              <a:rPr lang="en-US" sz="2000" u="sng" dirty="0">
                <a:solidFill>
                  <a:srgbClr val="C00000"/>
                </a:solidFill>
              </a:rPr>
              <a:t>Steps to follow for algebraic modeling:</a:t>
            </a:r>
          </a:p>
          <a:p>
            <a:pPr lvl="2"/>
            <a:r>
              <a:rPr lang="en-US" sz="2000" dirty="0"/>
              <a:t>Step 0: Gather data</a:t>
            </a:r>
          </a:p>
          <a:p>
            <a:pPr lvl="2"/>
            <a:r>
              <a:rPr lang="en-US" sz="2000" dirty="0"/>
              <a:t>Step 1: Identify the variables</a:t>
            </a:r>
          </a:p>
          <a:p>
            <a:pPr lvl="2"/>
            <a:r>
              <a:rPr lang="en-US" sz="2000" dirty="0"/>
              <a:t>Step 2: Define the objective function</a:t>
            </a:r>
          </a:p>
          <a:p>
            <a:pPr lvl="2"/>
            <a:r>
              <a:rPr lang="en-US" sz="2000" dirty="0"/>
              <a:t>Step 3: Define the constraints</a:t>
            </a:r>
          </a:p>
        </p:txBody>
      </p:sp>
    </p:spTree>
    <p:extLst>
      <p:ext uri="{BB962C8B-B14F-4D97-AF65-F5344CB8AC3E}">
        <p14:creationId xmlns:p14="http://schemas.microsoft.com/office/powerpoint/2010/main" val="3500832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u="sng" dirty="0"/>
              <a:t>Case: </a:t>
            </a:r>
            <a:r>
              <a:rPr lang="en-US" b="1" u="sng" dirty="0" err="1"/>
              <a:t>Wyndor</a:t>
            </a:r>
            <a:r>
              <a:rPr lang="en-US" b="1" u="sng" dirty="0"/>
              <a:t> Glass Co. Product-Mix Problem (revisited)</a:t>
            </a:r>
          </a:p>
          <a:p>
            <a:pPr lvl="1"/>
            <a:r>
              <a:rPr lang="en-US" dirty="0"/>
              <a:t>Recall the </a:t>
            </a:r>
            <a:r>
              <a:rPr lang="en-US" dirty="0" err="1"/>
              <a:t>Wyndor</a:t>
            </a:r>
            <a:r>
              <a:rPr lang="en-US" dirty="0"/>
              <a:t> Glass Co. </a:t>
            </a:r>
            <a:r>
              <a:rPr lang="en-US" dirty="0" err="1"/>
              <a:t>Pruduct</a:t>
            </a:r>
            <a:r>
              <a:rPr lang="en-US" dirty="0"/>
              <a:t>-Mix problem, where the company wants to determine how many doors (D) and how many windows (W) to produce per week to maximize weekly profit while not exceeding the limited available time of the plants</a:t>
            </a:r>
          </a:p>
          <a:p>
            <a:pPr lvl="1"/>
            <a:endParaRPr lang="en-US" dirty="0"/>
          </a:p>
          <a:p>
            <a:pPr lvl="1"/>
            <a:endParaRPr lang="en-US" dirty="0"/>
          </a:p>
          <a:p>
            <a:pPr lvl="1"/>
            <a:endParaRPr lang="en-US" dirty="0"/>
          </a:p>
          <a:p>
            <a:pPr lvl="1"/>
            <a:endParaRPr lang="en-US" dirty="0"/>
          </a:p>
          <a:p>
            <a:pPr lvl="1"/>
            <a:endParaRPr lang="en-US" dirty="0"/>
          </a:p>
          <a:p>
            <a:pPr lvl="1"/>
            <a:r>
              <a:rPr lang="en-US" dirty="0"/>
              <a:t>We modeled the problem algebraically: </a:t>
            </a:r>
          </a:p>
          <a:p>
            <a:pPr marL="914400" lvl="2" indent="0">
              <a:buNone/>
            </a:pPr>
            <a:endParaRPr lang="en-US" dirty="0"/>
          </a:p>
        </p:txBody>
      </p:sp>
      <p:sp>
        <p:nvSpPr>
          <p:cNvPr id="2" name="Title 1"/>
          <p:cNvSpPr>
            <a:spLocks noGrp="1"/>
          </p:cNvSpPr>
          <p:nvPr>
            <p:ph type="title"/>
          </p:nvPr>
        </p:nvSpPr>
        <p:spPr/>
        <p:txBody>
          <a:bodyPr/>
          <a:lstStyle/>
          <a:p>
            <a:r>
              <a:rPr lang="en-US" dirty="0"/>
              <a:t>Spreadsheet Modeling</a:t>
            </a:r>
          </a:p>
        </p:txBody>
      </p:sp>
      <p:pic>
        <p:nvPicPr>
          <p:cNvPr id="7" name="Picture 6"/>
          <p:cNvPicPr>
            <a:picLocks noChangeAspect="1"/>
          </p:cNvPicPr>
          <p:nvPr/>
        </p:nvPicPr>
        <p:blipFill>
          <a:blip r:embed="rId3"/>
          <a:stretch>
            <a:fillRect/>
          </a:stretch>
        </p:blipFill>
        <p:spPr>
          <a:xfrm>
            <a:off x="3343275" y="2945070"/>
            <a:ext cx="6025515" cy="1611703"/>
          </a:xfrm>
          <a:prstGeom prst="rect">
            <a:avLst/>
          </a:prstGeom>
        </p:spPr>
      </p:pic>
      <p:pic>
        <p:nvPicPr>
          <p:cNvPr id="8" name="Picture 7"/>
          <p:cNvPicPr>
            <a:picLocks noChangeAspect="1"/>
          </p:cNvPicPr>
          <p:nvPr/>
        </p:nvPicPr>
        <p:blipFill>
          <a:blip r:embed="rId4"/>
          <a:stretch>
            <a:fillRect/>
          </a:stretch>
        </p:blipFill>
        <p:spPr>
          <a:xfrm>
            <a:off x="1687830" y="3376567"/>
            <a:ext cx="1418272" cy="725850"/>
          </a:xfrm>
          <a:prstGeom prst="rect">
            <a:avLst/>
          </a:prstGeom>
        </p:spPr>
      </p:pic>
      <p:pic>
        <p:nvPicPr>
          <p:cNvPr id="4" name="Picture 3"/>
          <p:cNvPicPr>
            <a:picLocks noChangeAspect="1"/>
          </p:cNvPicPr>
          <p:nvPr/>
        </p:nvPicPr>
        <p:blipFill>
          <a:blip r:embed="rId5"/>
          <a:stretch>
            <a:fillRect/>
          </a:stretch>
        </p:blipFill>
        <p:spPr>
          <a:xfrm>
            <a:off x="4351020" y="5174932"/>
            <a:ext cx="4495800" cy="1476375"/>
          </a:xfrm>
          <a:prstGeom prst="rect">
            <a:avLst/>
          </a:prstGeom>
        </p:spPr>
      </p:pic>
    </p:spTree>
    <p:extLst>
      <p:ext uri="{BB962C8B-B14F-4D97-AF65-F5344CB8AC3E}">
        <p14:creationId xmlns:p14="http://schemas.microsoft.com/office/powerpoint/2010/main" val="766701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Spreadsheet Modeling</a:t>
            </a:r>
          </a:p>
        </p:txBody>
      </p:sp>
      <p:sp>
        <p:nvSpPr>
          <p:cNvPr id="3" name="Content Placeholder 2"/>
          <p:cNvSpPr>
            <a:spLocks noGrp="1"/>
          </p:cNvSpPr>
          <p:nvPr>
            <p:ph idx="1"/>
          </p:nvPr>
        </p:nvSpPr>
        <p:spPr/>
        <p:txBody>
          <a:bodyPr/>
          <a:lstStyle/>
          <a:p>
            <a:r>
              <a:rPr lang="en-US" b="1" u="sng" dirty="0"/>
              <a:t>Case: </a:t>
            </a:r>
            <a:r>
              <a:rPr lang="en-US" b="1" u="sng" dirty="0" err="1"/>
              <a:t>Wyndor</a:t>
            </a:r>
            <a:r>
              <a:rPr lang="en-US" b="1" u="sng" dirty="0"/>
              <a:t> Glass Co. Product-Mix Problem in Excel</a:t>
            </a:r>
          </a:p>
          <a:p>
            <a:r>
              <a:rPr lang="en-US" b="1" dirty="0">
                <a:solidFill>
                  <a:srgbClr val="C00000"/>
                </a:solidFill>
              </a:rPr>
              <a:t>STEP 0: </a:t>
            </a:r>
            <a:r>
              <a:rPr lang="en-US" dirty="0"/>
              <a:t>Put the data into Excel</a:t>
            </a:r>
          </a:p>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dirty="0"/>
          </a:p>
          <a:p>
            <a:endParaRPr lang="en-US" b="1" u="sng" dirty="0"/>
          </a:p>
        </p:txBody>
      </p:sp>
      <p:pic>
        <p:nvPicPr>
          <p:cNvPr id="1027" name="Picture 3" descr="C:\Users\konurd\Desktop\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1" y="2443163"/>
            <a:ext cx="7035605" cy="37338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9271405" y="2026509"/>
            <a:ext cx="2162433" cy="2031325"/>
          </a:xfrm>
          <a:prstGeom prst="rect">
            <a:avLst/>
          </a:prstGeom>
          <a:noFill/>
          <a:ln>
            <a:solidFill>
              <a:srgbClr val="C00000"/>
            </a:solidFill>
          </a:ln>
        </p:spPr>
        <p:txBody>
          <a:bodyPr wrap="square" rtlCol="0">
            <a:spAutoFit/>
          </a:bodyPr>
          <a:lstStyle/>
          <a:p>
            <a:r>
              <a:rPr lang="en-US" dirty="0">
                <a:solidFill>
                  <a:srgbClr val="C00000"/>
                </a:solidFill>
              </a:rPr>
              <a:t>Use columns and rows effectively to place the data! Title the rows and columns accordingly to easily find which data is where!</a:t>
            </a:r>
          </a:p>
        </p:txBody>
      </p:sp>
      <p:sp>
        <p:nvSpPr>
          <p:cNvPr id="6" name="TextBox 5"/>
          <p:cNvSpPr txBox="1"/>
          <p:nvPr/>
        </p:nvSpPr>
        <p:spPr>
          <a:xfrm>
            <a:off x="9271405" y="4310063"/>
            <a:ext cx="2162433" cy="1200329"/>
          </a:xfrm>
          <a:prstGeom prst="rect">
            <a:avLst/>
          </a:prstGeom>
          <a:noFill/>
          <a:ln>
            <a:solidFill>
              <a:srgbClr val="C00000"/>
            </a:solidFill>
          </a:ln>
        </p:spPr>
        <p:txBody>
          <a:bodyPr wrap="square" rtlCol="0">
            <a:spAutoFit/>
          </a:bodyPr>
          <a:lstStyle/>
          <a:p>
            <a:r>
              <a:rPr lang="en-US" dirty="0">
                <a:solidFill>
                  <a:srgbClr val="C00000"/>
                </a:solidFill>
              </a:rPr>
              <a:t>Coloring cells will help!</a:t>
            </a:r>
          </a:p>
          <a:p>
            <a:r>
              <a:rPr lang="en-US" dirty="0">
                <a:solidFill>
                  <a:srgbClr val="C00000"/>
                </a:solidFill>
              </a:rPr>
              <a:t>I will use ‘blue’ for data cells!</a:t>
            </a:r>
          </a:p>
        </p:txBody>
      </p:sp>
    </p:spTree>
    <p:extLst>
      <p:ext uri="{BB962C8B-B14F-4D97-AF65-F5344CB8AC3E}">
        <p14:creationId xmlns:p14="http://schemas.microsoft.com/office/powerpoint/2010/main" val="3646946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u="sng" dirty="0"/>
              <a:t>Case: </a:t>
            </a:r>
            <a:r>
              <a:rPr lang="en-US" b="1" u="sng" dirty="0" err="1"/>
              <a:t>Wyndor</a:t>
            </a:r>
            <a:r>
              <a:rPr lang="en-US" b="1" u="sng" dirty="0"/>
              <a:t> Glass Co. Product-Mix Problem in Excel</a:t>
            </a:r>
          </a:p>
          <a:p>
            <a:r>
              <a:rPr lang="en-US" b="1" dirty="0">
                <a:solidFill>
                  <a:srgbClr val="C00000"/>
                </a:solidFill>
              </a:rPr>
              <a:t>STEP 1: </a:t>
            </a:r>
            <a:r>
              <a:rPr lang="en-US" dirty="0"/>
              <a:t>Dedicate cells to your decision variables</a:t>
            </a:r>
          </a:p>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dirty="0"/>
          </a:p>
          <a:p>
            <a:endParaRPr lang="en-US" b="1" u="sng" dirty="0"/>
          </a:p>
        </p:txBody>
      </p:sp>
      <p:pic>
        <p:nvPicPr>
          <p:cNvPr id="5" name="Picture 2" descr="C:\Users\konurd\Desktop\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0126" y="2443163"/>
            <a:ext cx="7010400" cy="3733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Spreadsheet Modeling</a:t>
            </a:r>
          </a:p>
        </p:txBody>
      </p:sp>
      <p:sp>
        <p:nvSpPr>
          <p:cNvPr id="6" name="Rectangular Callout 5"/>
          <p:cNvSpPr/>
          <p:nvPr/>
        </p:nvSpPr>
        <p:spPr bwMode="auto">
          <a:xfrm>
            <a:off x="3611880" y="5922590"/>
            <a:ext cx="381000" cy="419100"/>
          </a:xfrm>
          <a:prstGeom prst="wedgeRectCallout">
            <a:avLst>
              <a:gd name="adj1" fmla="val -44833"/>
              <a:gd name="adj2" fmla="val -160357"/>
            </a:avLst>
          </a:prstGeom>
          <a:noFill/>
          <a:ln w="2540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2000" i="1" dirty="0">
                <a:latin typeface="Arial" charset="0"/>
                <a:ea typeface="ＭＳ Ｐゴシック" pitchFamily="16" charset="-128"/>
              </a:rPr>
              <a:t>D</a:t>
            </a:r>
          </a:p>
        </p:txBody>
      </p:sp>
      <p:sp>
        <p:nvSpPr>
          <p:cNvPr id="7" name="Rectangular Callout 6"/>
          <p:cNvSpPr/>
          <p:nvPr/>
        </p:nvSpPr>
        <p:spPr bwMode="auto">
          <a:xfrm>
            <a:off x="4754880" y="5865440"/>
            <a:ext cx="381000" cy="419100"/>
          </a:xfrm>
          <a:prstGeom prst="wedgeRectCallout">
            <a:avLst>
              <a:gd name="adj1" fmla="val -44833"/>
              <a:gd name="adj2" fmla="val -160357"/>
            </a:avLst>
          </a:prstGeom>
          <a:noFill/>
          <a:ln w="2540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2000" i="1" dirty="0">
                <a:latin typeface="Arial" charset="0"/>
                <a:ea typeface="ＭＳ Ｐゴシック" pitchFamily="16" charset="-128"/>
              </a:rPr>
              <a:t>W</a:t>
            </a:r>
          </a:p>
        </p:txBody>
      </p:sp>
      <p:sp>
        <p:nvSpPr>
          <p:cNvPr id="8" name="TextBox 7"/>
          <p:cNvSpPr txBox="1"/>
          <p:nvPr/>
        </p:nvSpPr>
        <p:spPr>
          <a:xfrm>
            <a:off x="9271405" y="4310063"/>
            <a:ext cx="2418087" cy="923330"/>
          </a:xfrm>
          <a:prstGeom prst="rect">
            <a:avLst/>
          </a:prstGeom>
          <a:noFill/>
          <a:ln>
            <a:solidFill>
              <a:srgbClr val="C00000"/>
            </a:solidFill>
          </a:ln>
        </p:spPr>
        <p:txBody>
          <a:bodyPr wrap="square" rtlCol="0">
            <a:spAutoFit/>
          </a:bodyPr>
          <a:lstStyle/>
          <a:p>
            <a:r>
              <a:rPr lang="en-US" dirty="0">
                <a:solidFill>
                  <a:srgbClr val="C00000"/>
                </a:solidFill>
              </a:rPr>
              <a:t>Coloring cells will help!</a:t>
            </a:r>
          </a:p>
          <a:p>
            <a:r>
              <a:rPr lang="en-US" dirty="0">
                <a:solidFill>
                  <a:srgbClr val="C00000"/>
                </a:solidFill>
              </a:rPr>
              <a:t>I will use ‘yellow’ for decision variable cells!</a:t>
            </a:r>
          </a:p>
        </p:txBody>
      </p:sp>
      <p:sp>
        <p:nvSpPr>
          <p:cNvPr id="9" name="TextBox 8"/>
          <p:cNvSpPr txBox="1"/>
          <p:nvPr/>
        </p:nvSpPr>
        <p:spPr>
          <a:xfrm>
            <a:off x="9235650" y="2443163"/>
            <a:ext cx="2418087" cy="1200329"/>
          </a:xfrm>
          <a:prstGeom prst="rect">
            <a:avLst/>
          </a:prstGeom>
          <a:noFill/>
          <a:ln>
            <a:solidFill>
              <a:srgbClr val="C00000"/>
            </a:solidFill>
          </a:ln>
        </p:spPr>
        <p:txBody>
          <a:bodyPr wrap="square" rtlCol="0">
            <a:spAutoFit/>
          </a:bodyPr>
          <a:lstStyle/>
          <a:p>
            <a:pPr algn="ctr"/>
            <a:r>
              <a:rPr lang="en-US" sz="2400" b="1" dirty="0">
                <a:solidFill>
                  <a:srgbClr val="C00000"/>
                </a:solidFill>
              </a:rPr>
              <a:t>Each decision variables goes into one cell!</a:t>
            </a:r>
          </a:p>
        </p:txBody>
      </p:sp>
    </p:spTree>
    <p:extLst>
      <p:ext uri="{BB962C8B-B14F-4D97-AF65-F5344CB8AC3E}">
        <p14:creationId xmlns:p14="http://schemas.microsoft.com/office/powerpoint/2010/main" val="2851326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u="sng" dirty="0"/>
              <a:t>Case: </a:t>
            </a:r>
            <a:r>
              <a:rPr lang="en-US" b="1" u="sng" dirty="0" err="1"/>
              <a:t>Wyndor</a:t>
            </a:r>
            <a:r>
              <a:rPr lang="en-US" b="1" u="sng" dirty="0"/>
              <a:t> Glass Co. Product-Mix Problem in Excel</a:t>
            </a:r>
          </a:p>
          <a:p>
            <a:r>
              <a:rPr lang="en-US" b="1" dirty="0">
                <a:solidFill>
                  <a:srgbClr val="C00000"/>
                </a:solidFill>
              </a:rPr>
              <a:t>STEP 2: </a:t>
            </a:r>
            <a:r>
              <a:rPr lang="en-US" dirty="0"/>
              <a:t>Formulate the objective function in one cell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dirty="0"/>
          </a:p>
          <a:p>
            <a:endParaRPr lang="en-US" b="1" u="sng" dirty="0"/>
          </a:p>
        </p:txBody>
      </p:sp>
      <p:pic>
        <p:nvPicPr>
          <p:cNvPr id="8" name="Picture 2" descr="C:\Users\konurd\Desktop\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9210" y="2443163"/>
            <a:ext cx="7006590" cy="3733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Spreadsheet Modeling</a:t>
            </a:r>
          </a:p>
        </p:txBody>
      </p:sp>
      <p:sp>
        <p:nvSpPr>
          <p:cNvPr id="9" name="Rectangular Callout 8"/>
          <p:cNvSpPr/>
          <p:nvPr/>
        </p:nvSpPr>
        <p:spPr bwMode="auto">
          <a:xfrm>
            <a:off x="7802880" y="3863341"/>
            <a:ext cx="1682262" cy="895505"/>
          </a:xfrm>
          <a:prstGeom prst="wedgeRectCallout">
            <a:avLst>
              <a:gd name="adj1" fmla="val -57915"/>
              <a:gd name="adj2" fmla="val 108988"/>
            </a:avLst>
          </a:prstGeom>
          <a:solidFill>
            <a:srgbClr val="FFC000"/>
          </a:solidFill>
          <a:ln w="444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lvl="1"/>
            <a:r>
              <a:rPr lang="en-US" dirty="0"/>
              <a:t>Total profit =</a:t>
            </a:r>
            <a:r>
              <a:rPr lang="en-US" i="1" dirty="0"/>
              <a:t>300D+500W</a:t>
            </a:r>
          </a:p>
          <a:p>
            <a:pPr eaLnBrk="0" fontAlgn="base" hangingPunct="0">
              <a:spcBef>
                <a:spcPct val="0"/>
              </a:spcBef>
              <a:spcAft>
                <a:spcPct val="0"/>
              </a:spcAft>
            </a:pPr>
            <a:endParaRPr lang="en-US" sz="2000" dirty="0">
              <a:latin typeface="Arial" charset="0"/>
              <a:ea typeface="ＭＳ Ｐゴシック" pitchFamily="16" charset="-128"/>
            </a:endParaRPr>
          </a:p>
        </p:txBody>
      </p:sp>
      <p:sp>
        <p:nvSpPr>
          <p:cNvPr id="10" name="Line Callout 1 9"/>
          <p:cNvSpPr/>
          <p:nvPr/>
        </p:nvSpPr>
        <p:spPr bwMode="auto">
          <a:xfrm>
            <a:off x="4069080" y="2438400"/>
            <a:ext cx="3124200" cy="381000"/>
          </a:xfrm>
          <a:prstGeom prst="borderCallout1">
            <a:avLst>
              <a:gd name="adj1" fmla="val 114044"/>
              <a:gd name="adj2" fmla="val 49359"/>
              <a:gd name="adj3" fmla="val 726618"/>
              <a:gd name="adj4" fmla="val 87051"/>
            </a:avLst>
          </a:prstGeom>
          <a:solidFill>
            <a:srgbClr val="FFC000">
              <a:alpha val="2000"/>
            </a:srgbClr>
          </a:solidFill>
          <a:ln w="44450"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a:latin typeface="Arial" charset="0"/>
              <a:ea typeface="ＭＳ Ｐゴシック" pitchFamily="16" charset="-128"/>
            </a:endParaRPr>
          </a:p>
        </p:txBody>
      </p:sp>
      <p:sp>
        <p:nvSpPr>
          <p:cNvPr id="7" name="TextBox 6"/>
          <p:cNvSpPr txBox="1"/>
          <p:nvPr/>
        </p:nvSpPr>
        <p:spPr>
          <a:xfrm>
            <a:off x="9485142" y="2424558"/>
            <a:ext cx="2418087" cy="1200329"/>
          </a:xfrm>
          <a:prstGeom prst="rect">
            <a:avLst/>
          </a:prstGeom>
          <a:noFill/>
          <a:ln>
            <a:solidFill>
              <a:srgbClr val="C00000"/>
            </a:solidFill>
          </a:ln>
        </p:spPr>
        <p:txBody>
          <a:bodyPr wrap="square" rtlCol="0">
            <a:spAutoFit/>
          </a:bodyPr>
          <a:lstStyle/>
          <a:p>
            <a:r>
              <a:rPr lang="en-US" dirty="0">
                <a:solidFill>
                  <a:srgbClr val="C00000"/>
                </a:solidFill>
              </a:rPr>
              <a:t>Coloring cells will help!</a:t>
            </a:r>
          </a:p>
          <a:p>
            <a:r>
              <a:rPr lang="en-US" dirty="0">
                <a:solidFill>
                  <a:srgbClr val="C00000"/>
                </a:solidFill>
              </a:rPr>
              <a:t>I will use ‘orange’ for the objective function cell!</a:t>
            </a:r>
          </a:p>
        </p:txBody>
      </p:sp>
      <p:sp>
        <p:nvSpPr>
          <p:cNvPr id="11" name="TextBox 10"/>
          <p:cNvSpPr txBox="1"/>
          <p:nvPr/>
        </p:nvSpPr>
        <p:spPr>
          <a:xfrm>
            <a:off x="9600472" y="4158681"/>
            <a:ext cx="2418087" cy="1200329"/>
          </a:xfrm>
          <a:prstGeom prst="rect">
            <a:avLst/>
          </a:prstGeom>
          <a:noFill/>
          <a:ln>
            <a:solidFill>
              <a:srgbClr val="C00000"/>
            </a:solidFill>
          </a:ln>
        </p:spPr>
        <p:txBody>
          <a:bodyPr wrap="square" rtlCol="0">
            <a:spAutoFit/>
          </a:bodyPr>
          <a:lstStyle/>
          <a:p>
            <a:r>
              <a:rPr lang="en-US" dirty="0">
                <a:solidFill>
                  <a:srgbClr val="C00000"/>
                </a:solidFill>
              </a:rPr>
              <a:t>Ranges can be named as well. For instance, C1:D1 is named ‘</a:t>
            </a:r>
            <a:r>
              <a:rPr lang="en-US" dirty="0" err="1">
                <a:solidFill>
                  <a:srgbClr val="C00000"/>
                </a:solidFill>
              </a:rPr>
              <a:t>UnitProfit</a:t>
            </a:r>
            <a:r>
              <a:rPr lang="en-US" dirty="0">
                <a:solidFill>
                  <a:srgbClr val="C00000"/>
                </a:solidFill>
              </a:rPr>
              <a:t>’.</a:t>
            </a:r>
          </a:p>
        </p:txBody>
      </p:sp>
    </p:spTree>
    <p:extLst>
      <p:ext uri="{BB962C8B-B14F-4D97-AF65-F5344CB8AC3E}">
        <p14:creationId xmlns:p14="http://schemas.microsoft.com/office/powerpoint/2010/main" val="1186642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7"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5002" y="1312433"/>
            <a:ext cx="11478410" cy="5180442"/>
          </a:xfrm>
        </p:spPr>
        <p:txBody>
          <a:bodyPr>
            <a:normAutofit lnSpcReduction="10000"/>
          </a:bodyPr>
          <a:lstStyle/>
          <a:p>
            <a:r>
              <a:rPr lang="en-US" b="1" u="sng" dirty="0"/>
              <a:t>Built-in Excel functions will save you time!</a:t>
            </a:r>
          </a:p>
          <a:p>
            <a:r>
              <a:rPr lang="en-US" dirty="0"/>
              <a:t>Couple of excel functions that we will often use</a:t>
            </a:r>
          </a:p>
          <a:p>
            <a:pPr lvl="1"/>
            <a:r>
              <a:rPr lang="en-US" b="1" dirty="0">
                <a:solidFill>
                  <a:srgbClr val="C00000"/>
                </a:solidFill>
              </a:rPr>
              <a:t>=SUMPRODUCT(Array1, Array2)</a:t>
            </a:r>
          </a:p>
          <a:p>
            <a:pPr lvl="2"/>
            <a:r>
              <a:rPr lang="en-US" dirty="0"/>
              <a:t>Makes component-wise multiplication and sums the products</a:t>
            </a:r>
          </a:p>
          <a:p>
            <a:pPr lvl="2"/>
            <a:r>
              <a:rPr lang="en-US" dirty="0"/>
              <a:t>Returns: (1</a:t>
            </a:r>
            <a:r>
              <a:rPr lang="en-US" baseline="30000" dirty="0"/>
              <a:t>st</a:t>
            </a:r>
            <a:r>
              <a:rPr lang="en-US" dirty="0"/>
              <a:t> entry of Array1)*(1</a:t>
            </a:r>
            <a:r>
              <a:rPr lang="en-US" baseline="30000" dirty="0"/>
              <a:t>st</a:t>
            </a:r>
            <a:r>
              <a:rPr lang="en-US" dirty="0"/>
              <a:t> entry of Array2)+(2</a:t>
            </a:r>
            <a:r>
              <a:rPr lang="en-US" baseline="30000" dirty="0"/>
              <a:t>nd</a:t>
            </a:r>
            <a:r>
              <a:rPr lang="en-US" dirty="0"/>
              <a:t> entry of Array1)*(2</a:t>
            </a:r>
            <a:r>
              <a:rPr lang="en-US" baseline="30000" dirty="0"/>
              <a:t>nd</a:t>
            </a:r>
            <a:r>
              <a:rPr lang="en-US" dirty="0"/>
              <a:t> entry of Array2)+(3</a:t>
            </a:r>
            <a:r>
              <a:rPr lang="en-US" baseline="30000" dirty="0"/>
              <a:t>rd</a:t>
            </a:r>
            <a:r>
              <a:rPr lang="en-US" dirty="0"/>
              <a:t> entry of Array1)*(3</a:t>
            </a:r>
            <a:r>
              <a:rPr lang="en-US" baseline="30000" dirty="0"/>
              <a:t>rd</a:t>
            </a:r>
            <a:r>
              <a:rPr lang="en-US" dirty="0"/>
              <a:t> entry of Array2)+…</a:t>
            </a:r>
          </a:p>
          <a:p>
            <a:pPr lvl="2"/>
            <a:r>
              <a:rPr lang="en-US" dirty="0"/>
              <a:t>Arrays put into the SUMPRODUCT formula should be same dimension, e.g., if Array1 has 1 row and 3 columns, Array 2 should also have 1 row and 3 columns; or if </a:t>
            </a:r>
            <a:r>
              <a:rPr lang="en-US" dirty="0" err="1"/>
              <a:t>if</a:t>
            </a:r>
            <a:r>
              <a:rPr lang="en-US" dirty="0"/>
              <a:t> Array1 has 2 rows and 5 columns, Array 2 should also have 2 rows and 5 columns</a:t>
            </a:r>
          </a:p>
          <a:p>
            <a:pPr lvl="2"/>
            <a:endParaRPr lang="en-US" dirty="0"/>
          </a:p>
          <a:p>
            <a:pPr lvl="2"/>
            <a:endParaRPr lang="en-US" dirty="0"/>
          </a:p>
          <a:p>
            <a:pPr lvl="2"/>
            <a:endParaRPr lang="en-US" dirty="0"/>
          </a:p>
          <a:p>
            <a:pPr lvl="2"/>
            <a:endParaRPr lang="en-US" dirty="0"/>
          </a:p>
          <a:p>
            <a:pPr lvl="2"/>
            <a:endParaRPr lang="en-US" dirty="0"/>
          </a:p>
          <a:p>
            <a:pPr lvl="1"/>
            <a:r>
              <a:rPr lang="en-US" b="1" dirty="0">
                <a:solidFill>
                  <a:srgbClr val="C00000"/>
                </a:solidFill>
              </a:rPr>
              <a:t>=SUM(Range)</a:t>
            </a:r>
          </a:p>
          <a:p>
            <a:pPr lvl="2"/>
            <a:r>
              <a:rPr lang="en-US" dirty="0"/>
              <a:t>sums all of the entries in the selected array</a:t>
            </a:r>
          </a:p>
          <a:p>
            <a:pPr lvl="1"/>
            <a:endParaRPr lang="en-US" dirty="0"/>
          </a:p>
          <a:p>
            <a:endParaRPr lang="en-US" dirty="0"/>
          </a:p>
          <a:p>
            <a:pPr marL="0" indent="0">
              <a:buNone/>
            </a:pPr>
            <a:endParaRPr lang="en-US" dirty="0"/>
          </a:p>
          <a:p>
            <a:endParaRPr lang="en-US" dirty="0"/>
          </a:p>
          <a:p>
            <a:endParaRPr lang="en-US" dirty="0"/>
          </a:p>
          <a:p>
            <a:endParaRPr lang="en-US" dirty="0"/>
          </a:p>
          <a:p>
            <a:endParaRPr lang="en-US" dirty="0"/>
          </a:p>
          <a:p>
            <a:endParaRPr lang="en-US" dirty="0"/>
          </a:p>
          <a:p>
            <a:pPr marL="0" indent="0">
              <a:buNone/>
            </a:pPr>
            <a:endParaRPr lang="en-US" dirty="0"/>
          </a:p>
          <a:p>
            <a:endParaRPr lang="en-US" b="1" u="sng" dirty="0"/>
          </a:p>
        </p:txBody>
      </p:sp>
      <p:sp>
        <p:nvSpPr>
          <p:cNvPr id="2" name="Title 1"/>
          <p:cNvSpPr>
            <a:spLocks noGrp="1"/>
          </p:cNvSpPr>
          <p:nvPr>
            <p:ph type="title"/>
          </p:nvPr>
        </p:nvSpPr>
        <p:spPr/>
        <p:txBody>
          <a:bodyPr/>
          <a:lstStyle/>
          <a:p>
            <a:r>
              <a:rPr lang="en-US" dirty="0"/>
              <a:t>Spreadsheet Modeling</a:t>
            </a:r>
          </a:p>
        </p:txBody>
      </p:sp>
      <p:pic>
        <p:nvPicPr>
          <p:cNvPr id="4" name="Picture 3"/>
          <p:cNvPicPr>
            <a:picLocks noChangeAspect="1"/>
          </p:cNvPicPr>
          <p:nvPr/>
        </p:nvPicPr>
        <p:blipFill>
          <a:blip r:embed="rId3"/>
          <a:stretch>
            <a:fillRect/>
          </a:stretch>
        </p:blipFill>
        <p:spPr>
          <a:xfrm>
            <a:off x="7039575" y="5669473"/>
            <a:ext cx="3505200" cy="1095375"/>
          </a:xfrm>
          <a:prstGeom prst="rect">
            <a:avLst/>
          </a:prstGeom>
        </p:spPr>
      </p:pic>
      <p:sp>
        <p:nvSpPr>
          <p:cNvPr id="5" name="Oval 4"/>
          <p:cNvSpPr/>
          <p:nvPr/>
        </p:nvSpPr>
        <p:spPr>
          <a:xfrm>
            <a:off x="9525939" y="5581958"/>
            <a:ext cx="1107989" cy="122113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4"/>
          <a:stretch>
            <a:fillRect/>
          </a:stretch>
        </p:blipFill>
        <p:spPr>
          <a:xfrm>
            <a:off x="1931000" y="4523928"/>
            <a:ext cx="4333875" cy="1114425"/>
          </a:xfrm>
          <a:prstGeom prst="rect">
            <a:avLst/>
          </a:prstGeom>
        </p:spPr>
      </p:pic>
      <p:sp>
        <p:nvSpPr>
          <p:cNvPr id="11" name="Oval 10"/>
          <p:cNvSpPr/>
          <p:nvPr/>
        </p:nvSpPr>
        <p:spPr>
          <a:xfrm>
            <a:off x="4170061" y="4465559"/>
            <a:ext cx="2271439" cy="122113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7039575" y="4561135"/>
            <a:ext cx="3270057" cy="1077218"/>
          </a:xfrm>
          <a:prstGeom prst="rect">
            <a:avLst/>
          </a:prstGeom>
          <a:noFill/>
        </p:spPr>
        <p:txBody>
          <a:bodyPr wrap="square" rtlCol="0">
            <a:spAutoFit/>
          </a:bodyPr>
          <a:lstStyle/>
          <a:p>
            <a:r>
              <a:rPr lang="en-US" sz="1600" dirty="0"/>
              <a:t>=SUMPRODUCT(A1:C1,A2:C2)</a:t>
            </a:r>
          </a:p>
          <a:p>
            <a:r>
              <a:rPr lang="en-US" sz="1600" dirty="0"/>
              <a:t>= A1*A2+B1*B2+C1*C2</a:t>
            </a:r>
          </a:p>
          <a:p>
            <a:r>
              <a:rPr lang="en-US" sz="1600" dirty="0"/>
              <a:t>=1*4+2*5+3*6</a:t>
            </a:r>
          </a:p>
          <a:p>
            <a:r>
              <a:rPr lang="en-US" sz="1600" dirty="0"/>
              <a:t>=32</a:t>
            </a:r>
          </a:p>
        </p:txBody>
      </p:sp>
      <p:cxnSp>
        <p:nvCxnSpPr>
          <p:cNvPr id="14" name="Straight Arrow Connector 13"/>
          <p:cNvCxnSpPr>
            <a:stCxn id="11" idx="6"/>
            <a:endCxn id="12" idx="1"/>
          </p:cNvCxnSpPr>
          <p:nvPr/>
        </p:nvCxnSpPr>
        <p:spPr>
          <a:xfrm>
            <a:off x="6441500" y="5076124"/>
            <a:ext cx="598075" cy="2362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4379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Spreadsheet Modeling</a:t>
            </a:r>
          </a:p>
        </p:txBody>
      </p:sp>
      <p:sp>
        <p:nvSpPr>
          <p:cNvPr id="3" name="Content Placeholder 2"/>
          <p:cNvSpPr>
            <a:spLocks noGrp="1"/>
          </p:cNvSpPr>
          <p:nvPr>
            <p:ph idx="1"/>
          </p:nvPr>
        </p:nvSpPr>
        <p:spPr/>
        <p:txBody>
          <a:bodyPr/>
          <a:lstStyle/>
          <a:p>
            <a:r>
              <a:rPr lang="en-US" b="1" u="sng" dirty="0"/>
              <a:t>Case: </a:t>
            </a:r>
            <a:r>
              <a:rPr lang="en-US" b="1" u="sng" dirty="0" err="1"/>
              <a:t>Wyndor</a:t>
            </a:r>
            <a:r>
              <a:rPr lang="en-US" b="1" u="sng" dirty="0"/>
              <a:t> Glass Co. Product-Mix Problem in Excel</a:t>
            </a:r>
          </a:p>
          <a:p>
            <a:r>
              <a:rPr lang="en-US" b="1" dirty="0">
                <a:solidFill>
                  <a:srgbClr val="C00000"/>
                </a:solidFill>
              </a:rPr>
              <a:t>STEP 3: </a:t>
            </a:r>
            <a:r>
              <a:rPr lang="en-US" dirty="0"/>
              <a:t>Model the constraints</a:t>
            </a:r>
          </a:p>
        </p:txBody>
      </p:sp>
      <p:pic>
        <p:nvPicPr>
          <p:cNvPr id="8195" name="Picture 3" descr="C:\Users\konurd\Desktop\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2438400"/>
            <a:ext cx="7010400" cy="3731801"/>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ular Callout 10"/>
          <p:cNvSpPr/>
          <p:nvPr/>
        </p:nvSpPr>
        <p:spPr bwMode="auto">
          <a:xfrm>
            <a:off x="7086600" y="3078480"/>
            <a:ext cx="2682240" cy="396240"/>
          </a:xfrm>
          <a:prstGeom prst="wedgeRectCallout">
            <a:avLst>
              <a:gd name="adj1" fmla="val -88674"/>
              <a:gd name="adj2" fmla="val 249837"/>
            </a:avLst>
          </a:prstGeom>
          <a:solidFill>
            <a:srgbClr val="92D050"/>
          </a:solidFill>
          <a:ln w="44450" cap="flat" cmpd="sng" algn="ctr">
            <a:solidFill>
              <a:srgbClr val="92D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lvl="1"/>
            <a:r>
              <a:rPr lang="en-US" dirty="0"/>
              <a:t>Hours used in Plant 1 =</a:t>
            </a:r>
            <a:r>
              <a:rPr lang="en-US" i="1" dirty="0"/>
              <a:t>1D</a:t>
            </a:r>
          </a:p>
          <a:p>
            <a:pPr eaLnBrk="0" fontAlgn="base" hangingPunct="0">
              <a:spcBef>
                <a:spcPct val="0"/>
              </a:spcBef>
              <a:spcAft>
                <a:spcPct val="0"/>
              </a:spcAft>
            </a:pPr>
            <a:endParaRPr lang="en-US" sz="2000" dirty="0">
              <a:latin typeface="Arial" charset="0"/>
              <a:ea typeface="ＭＳ Ｐゴシック" pitchFamily="16" charset="-128"/>
            </a:endParaRPr>
          </a:p>
        </p:txBody>
      </p:sp>
      <p:sp>
        <p:nvSpPr>
          <p:cNvPr id="12" name="Line Callout 1 11"/>
          <p:cNvSpPr/>
          <p:nvPr/>
        </p:nvSpPr>
        <p:spPr bwMode="auto">
          <a:xfrm>
            <a:off x="3992880" y="2453640"/>
            <a:ext cx="2971800" cy="381000"/>
          </a:xfrm>
          <a:prstGeom prst="borderCallout1">
            <a:avLst>
              <a:gd name="adj1" fmla="val 102044"/>
              <a:gd name="adj2" fmla="val 53846"/>
              <a:gd name="adj3" fmla="val 442618"/>
              <a:gd name="adj4" fmla="val 50641"/>
            </a:avLst>
          </a:prstGeom>
          <a:solidFill>
            <a:srgbClr val="FFC000">
              <a:alpha val="2000"/>
            </a:srgbClr>
          </a:solidFill>
          <a:ln w="44450" cap="flat" cmpd="sng" algn="ctr">
            <a:solidFill>
              <a:srgbClr val="92D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a:latin typeface="Arial" charset="0"/>
              <a:ea typeface="ＭＳ Ｐゴシック" pitchFamily="16" charset="-128"/>
            </a:endParaRPr>
          </a:p>
        </p:txBody>
      </p:sp>
      <p:sp>
        <p:nvSpPr>
          <p:cNvPr id="7" name="TextBox 6"/>
          <p:cNvSpPr txBox="1"/>
          <p:nvPr/>
        </p:nvSpPr>
        <p:spPr>
          <a:xfrm>
            <a:off x="9508854" y="3729258"/>
            <a:ext cx="2418087" cy="2308324"/>
          </a:xfrm>
          <a:prstGeom prst="rect">
            <a:avLst/>
          </a:prstGeom>
          <a:noFill/>
          <a:ln>
            <a:solidFill>
              <a:srgbClr val="C00000"/>
            </a:solidFill>
          </a:ln>
        </p:spPr>
        <p:txBody>
          <a:bodyPr wrap="square" rtlCol="0">
            <a:spAutoFit/>
          </a:bodyPr>
          <a:lstStyle/>
          <a:p>
            <a:r>
              <a:rPr lang="en-US" dirty="0">
                <a:solidFill>
                  <a:srgbClr val="C00000"/>
                </a:solidFill>
              </a:rPr>
              <a:t>A constraint will be represented in 3 cells! One cell for the left-hand-side, one cell for the inequality or equality, and one cell for the right-hand-side of the constraint.</a:t>
            </a:r>
          </a:p>
        </p:txBody>
      </p:sp>
    </p:spTree>
    <p:extLst>
      <p:ext uri="{BB962C8B-B14F-4D97-AF65-F5344CB8AC3E}">
        <p14:creationId xmlns:p14="http://schemas.microsoft.com/office/powerpoint/2010/main" val="45218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C:\Users\konurd\Desktop\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2439096"/>
            <a:ext cx="7010400" cy="373786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Spreadsheet Modeling</a:t>
            </a:r>
          </a:p>
        </p:txBody>
      </p:sp>
      <p:sp>
        <p:nvSpPr>
          <p:cNvPr id="3" name="Content Placeholder 2"/>
          <p:cNvSpPr>
            <a:spLocks noGrp="1"/>
          </p:cNvSpPr>
          <p:nvPr>
            <p:ph idx="1"/>
          </p:nvPr>
        </p:nvSpPr>
        <p:spPr/>
        <p:txBody>
          <a:bodyPr/>
          <a:lstStyle/>
          <a:p>
            <a:r>
              <a:rPr lang="en-US" b="1" u="sng" dirty="0"/>
              <a:t>Case: </a:t>
            </a:r>
            <a:r>
              <a:rPr lang="en-US" b="1" u="sng" dirty="0" err="1"/>
              <a:t>Wyndor</a:t>
            </a:r>
            <a:r>
              <a:rPr lang="en-US" b="1" u="sng" dirty="0"/>
              <a:t> Glass Co. Product-Mix Problem in Excel</a:t>
            </a:r>
          </a:p>
          <a:p>
            <a:r>
              <a:rPr lang="en-US" b="1" dirty="0">
                <a:solidFill>
                  <a:srgbClr val="C00000"/>
                </a:solidFill>
              </a:rPr>
              <a:t>STEP 3: </a:t>
            </a:r>
            <a:r>
              <a:rPr lang="en-US" dirty="0"/>
              <a:t>Model the constraints</a:t>
            </a:r>
          </a:p>
        </p:txBody>
      </p:sp>
      <p:sp>
        <p:nvSpPr>
          <p:cNvPr id="11" name="Rectangular Callout 10"/>
          <p:cNvSpPr/>
          <p:nvPr/>
        </p:nvSpPr>
        <p:spPr bwMode="auto">
          <a:xfrm>
            <a:off x="7086600" y="3078480"/>
            <a:ext cx="2682240" cy="396240"/>
          </a:xfrm>
          <a:prstGeom prst="wedgeRectCallout">
            <a:avLst>
              <a:gd name="adj1" fmla="val -86401"/>
              <a:gd name="adj2" fmla="val 307529"/>
            </a:avLst>
          </a:prstGeom>
          <a:solidFill>
            <a:srgbClr val="92D050"/>
          </a:solidFill>
          <a:ln w="44450" cap="flat" cmpd="sng" algn="ctr">
            <a:solidFill>
              <a:srgbClr val="92D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lvl="1"/>
            <a:r>
              <a:rPr lang="en-US" dirty="0"/>
              <a:t>Hours used in Plant 2 =</a:t>
            </a:r>
            <a:r>
              <a:rPr lang="en-US" i="1" dirty="0"/>
              <a:t>2W</a:t>
            </a:r>
          </a:p>
          <a:p>
            <a:pPr eaLnBrk="0" fontAlgn="base" hangingPunct="0">
              <a:spcBef>
                <a:spcPct val="0"/>
              </a:spcBef>
              <a:spcAft>
                <a:spcPct val="0"/>
              </a:spcAft>
            </a:pPr>
            <a:endParaRPr lang="en-US" sz="2000" dirty="0">
              <a:latin typeface="Arial" charset="0"/>
              <a:ea typeface="ＭＳ Ｐゴシック" pitchFamily="16" charset="-128"/>
            </a:endParaRPr>
          </a:p>
        </p:txBody>
      </p:sp>
      <p:sp>
        <p:nvSpPr>
          <p:cNvPr id="12" name="Line Callout 1 11"/>
          <p:cNvSpPr/>
          <p:nvPr/>
        </p:nvSpPr>
        <p:spPr bwMode="auto">
          <a:xfrm>
            <a:off x="3992880" y="2423160"/>
            <a:ext cx="2971800" cy="381000"/>
          </a:xfrm>
          <a:prstGeom prst="borderCallout1">
            <a:avLst>
              <a:gd name="adj1" fmla="val 86044"/>
              <a:gd name="adj2" fmla="val 98974"/>
              <a:gd name="adj3" fmla="val 554618"/>
              <a:gd name="adj4" fmla="val 70642"/>
            </a:avLst>
          </a:prstGeom>
          <a:solidFill>
            <a:srgbClr val="FFC000">
              <a:alpha val="2000"/>
            </a:srgbClr>
          </a:solidFill>
          <a:ln w="44450" cap="flat" cmpd="sng" algn="ctr">
            <a:solidFill>
              <a:srgbClr val="92D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a:latin typeface="Arial" charset="0"/>
              <a:ea typeface="ＭＳ Ｐゴシック" pitchFamily="16" charset="-128"/>
            </a:endParaRPr>
          </a:p>
        </p:txBody>
      </p:sp>
    </p:spTree>
    <p:extLst>
      <p:ext uri="{BB962C8B-B14F-4D97-AF65-F5344CB8AC3E}">
        <p14:creationId xmlns:p14="http://schemas.microsoft.com/office/powerpoint/2010/main" val="355076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C:\Users\konurd\Desktop\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1645" y="2439096"/>
            <a:ext cx="7014155" cy="3733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Spreadsheet Modeling</a:t>
            </a:r>
          </a:p>
        </p:txBody>
      </p:sp>
      <p:sp>
        <p:nvSpPr>
          <p:cNvPr id="3" name="Content Placeholder 2"/>
          <p:cNvSpPr>
            <a:spLocks noGrp="1"/>
          </p:cNvSpPr>
          <p:nvPr>
            <p:ph idx="1"/>
          </p:nvPr>
        </p:nvSpPr>
        <p:spPr/>
        <p:txBody>
          <a:bodyPr/>
          <a:lstStyle/>
          <a:p>
            <a:r>
              <a:rPr lang="en-US" b="1" u="sng" dirty="0"/>
              <a:t>Case: </a:t>
            </a:r>
            <a:r>
              <a:rPr lang="en-US" b="1" u="sng" dirty="0" err="1"/>
              <a:t>Wyndor</a:t>
            </a:r>
            <a:r>
              <a:rPr lang="en-US" b="1" u="sng" dirty="0"/>
              <a:t> Glass Co. Product-Mix Problem in Excel</a:t>
            </a:r>
          </a:p>
          <a:p>
            <a:r>
              <a:rPr lang="en-US" b="1" dirty="0">
                <a:solidFill>
                  <a:srgbClr val="C00000"/>
                </a:solidFill>
              </a:rPr>
              <a:t>STEP 3: </a:t>
            </a:r>
            <a:r>
              <a:rPr lang="en-US" dirty="0"/>
              <a:t>Model the constraints</a:t>
            </a:r>
          </a:p>
        </p:txBody>
      </p:sp>
      <p:sp>
        <p:nvSpPr>
          <p:cNvPr id="11" name="Rectangular Callout 10"/>
          <p:cNvSpPr/>
          <p:nvPr/>
        </p:nvSpPr>
        <p:spPr bwMode="auto">
          <a:xfrm>
            <a:off x="7372126" y="3226538"/>
            <a:ext cx="3280634" cy="396240"/>
          </a:xfrm>
          <a:prstGeom prst="wedgeRectCallout">
            <a:avLst>
              <a:gd name="adj1" fmla="val -86401"/>
              <a:gd name="adj2" fmla="val 307529"/>
            </a:avLst>
          </a:prstGeom>
          <a:solidFill>
            <a:srgbClr val="92D050"/>
          </a:solidFill>
          <a:ln w="44450" cap="flat" cmpd="sng" algn="ctr">
            <a:solidFill>
              <a:srgbClr val="92D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lvl="1"/>
            <a:r>
              <a:rPr lang="en-US" dirty="0"/>
              <a:t>Hours used in Plant 3 =3D+</a:t>
            </a:r>
            <a:r>
              <a:rPr lang="en-US" i="1" dirty="0"/>
              <a:t>2W</a:t>
            </a:r>
          </a:p>
          <a:p>
            <a:pPr eaLnBrk="0" fontAlgn="base" hangingPunct="0">
              <a:spcBef>
                <a:spcPct val="0"/>
              </a:spcBef>
              <a:spcAft>
                <a:spcPct val="0"/>
              </a:spcAft>
            </a:pPr>
            <a:endParaRPr lang="en-US" sz="2000" dirty="0">
              <a:latin typeface="Arial" charset="0"/>
              <a:ea typeface="ＭＳ Ｐゴシック" pitchFamily="16" charset="-128"/>
            </a:endParaRPr>
          </a:p>
        </p:txBody>
      </p:sp>
      <p:sp>
        <p:nvSpPr>
          <p:cNvPr id="12" name="Line Callout 1 11"/>
          <p:cNvSpPr/>
          <p:nvPr/>
        </p:nvSpPr>
        <p:spPr bwMode="auto">
          <a:xfrm>
            <a:off x="4008120" y="2419789"/>
            <a:ext cx="2971800" cy="381000"/>
          </a:xfrm>
          <a:prstGeom prst="borderCallout1">
            <a:avLst>
              <a:gd name="adj1" fmla="val 86044"/>
              <a:gd name="adj2" fmla="val 98974"/>
              <a:gd name="adj3" fmla="val 606618"/>
              <a:gd name="adj4" fmla="val 70642"/>
            </a:avLst>
          </a:prstGeom>
          <a:solidFill>
            <a:srgbClr val="FFC000">
              <a:alpha val="2000"/>
            </a:srgbClr>
          </a:solidFill>
          <a:ln w="44450" cap="flat" cmpd="sng" algn="ctr">
            <a:solidFill>
              <a:srgbClr val="92D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a:latin typeface="Arial" charset="0"/>
              <a:ea typeface="ＭＳ Ｐゴシック" pitchFamily="16" charset="-128"/>
            </a:endParaRPr>
          </a:p>
        </p:txBody>
      </p:sp>
    </p:spTree>
    <p:extLst>
      <p:ext uri="{BB962C8B-B14F-4D97-AF65-F5344CB8AC3E}">
        <p14:creationId xmlns:p14="http://schemas.microsoft.com/office/powerpoint/2010/main" val="173637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Spreadsheet Modeling</a:t>
            </a:r>
          </a:p>
        </p:txBody>
      </p:sp>
      <p:sp>
        <p:nvSpPr>
          <p:cNvPr id="3" name="Content Placeholder 2"/>
          <p:cNvSpPr>
            <a:spLocks noGrp="1"/>
          </p:cNvSpPr>
          <p:nvPr>
            <p:ph idx="1"/>
          </p:nvPr>
        </p:nvSpPr>
        <p:spPr/>
        <p:txBody>
          <a:bodyPr/>
          <a:lstStyle/>
          <a:p>
            <a:r>
              <a:rPr lang="en-US" b="1" u="sng" dirty="0"/>
              <a:t>Case: </a:t>
            </a:r>
            <a:r>
              <a:rPr lang="en-US" b="1" u="sng" dirty="0" err="1"/>
              <a:t>Wyndor</a:t>
            </a:r>
            <a:r>
              <a:rPr lang="en-US" b="1" u="sng" dirty="0"/>
              <a:t> Glass Co. Product-Mix Problem in Excel</a:t>
            </a:r>
          </a:p>
          <a:p>
            <a:r>
              <a:rPr lang="en-US" dirty="0"/>
              <a:t>And the spreadsheet model is:</a:t>
            </a:r>
          </a:p>
        </p:txBody>
      </p:sp>
      <p:pic>
        <p:nvPicPr>
          <p:cNvPr id="6" name="Picture 2" descr="C:\Users\konurd\Desktop\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1645" y="2439096"/>
            <a:ext cx="7014155" cy="3733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70161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Spreadsheet Modeling</a:t>
            </a:r>
          </a:p>
        </p:txBody>
      </p:sp>
      <p:sp>
        <p:nvSpPr>
          <p:cNvPr id="3" name="Content Placeholder 2"/>
          <p:cNvSpPr>
            <a:spLocks noGrp="1"/>
          </p:cNvSpPr>
          <p:nvPr>
            <p:ph idx="1"/>
          </p:nvPr>
        </p:nvSpPr>
        <p:spPr/>
        <p:txBody>
          <a:bodyPr/>
          <a:lstStyle/>
          <a:p>
            <a:r>
              <a:rPr lang="en-US" b="1" u="sng" dirty="0"/>
              <a:t>Excel Modeling and Excel Solver:</a:t>
            </a:r>
          </a:p>
          <a:p>
            <a:pPr lvl="1"/>
            <a:r>
              <a:rPr lang="en-US" dirty="0"/>
              <a:t>After we have the Spreadsheet model, we can use Excel Solver Add-in to solver it</a:t>
            </a:r>
          </a:p>
          <a:p>
            <a:pPr lvl="1"/>
            <a:r>
              <a:rPr lang="en-US" dirty="0"/>
              <a:t>First, we need to add the Solver Add-in, if it is not already there</a:t>
            </a:r>
          </a:p>
          <a:p>
            <a:pPr lvl="1"/>
            <a:r>
              <a:rPr lang="en-US" dirty="0"/>
              <a:t>To do so:</a:t>
            </a:r>
          </a:p>
          <a:p>
            <a:pPr lvl="2"/>
            <a:r>
              <a:rPr lang="en-US" dirty="0"/>
              <a:t>Open an Excel file and go to ‘File’ tab, then click on ‘Options’</a:t>
            </a:r>
          </a:p>
          <a:p>
            <a:pPr lvl="2"/>
            <a:r>
              <a:rPr lang="en-US" dirty="0"/>
              <a:t>On the Options Window, select ‘Add-Ins’ on the left menu</a:t>
            </a:r>
          </a:p>
          <a:p>
            <a:pPr lvl="2"/>
            <a:r>
              <a:rPr lang="en-US" dirty="0"/>
              <a:t>After Add-Ins is selected, select ‘Excel Add-Ins’ from the ‘Manage’ menu at the bottom</a:t>
            </a:r>
          </a:p>
          <a:p>
            <a:pPr lvl="2"/>
            <a:r>
              <a:rPr lang="en-US" dirty="0"/>
              <a:t>Then, click ‘Go’ next to the Manage menu, and Add-Ins window will open</a:t>
            </a:r>
          </a:p>
          <a:p>
            <a:pPr lvl="2"/>
            <a:r>
              <a:rPr lang="en-US" dirty="0"/>
              <a:t>Check ‘Solver Add-In’ and click ‘ok’</a:t>
            </a:r>
          </a:p>
          <a:p>
            <a:pPr lvl="2"/>
            <a:r>
              <a:rPr lang="en-US" dirty="0"/>
              <a:t>Solver will be under Data tab on the right</a:t>
            </a:r>
          </a:p>
          <a:p>
            <a:pPr lvl="2"/>
            <a:endParaRPr lang="en-US" dirty="0"/>
          </a:p>
          <a:p>
            <a:pPr lvl="2"/>
            <a:r>
              <a:rPr lang="en-US" dirty="0"/>
              <a:t>See </a:t>
            </a:r>
            <a:r>
              <a:rPr lang="en-US" dirty="0">
                <a:hlinkClick r:id="rId3"/>
              </a:rPr>
              <a:t>https://www.solver.com/excel-solver-how-load-or-start-solver</a:t>
            </a:r>
            <a:r>
              <a:rPr lang="en-US" dirty="0"/>
              <a:t> for different setups</a:t>
            </a:r>
          </a:p>
        </p:txBody>
      </p:sp>
    </p:spTree>
    <p:extLst>
      <p:ext uri="{BB962C8B-B14F-4D97-AF65-F5344CB8AC3E}">
        <p14:creationId xmlns:p14="http://schemas.microsoft.com/office/powerpoint/2010/main" val="1862895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Spreadsheet Modeling</a:t>
            </a:r>
          </a:p>
        </p:txBody>
      </p:sp>
      <p:sp>
        <p:nvSpPr>
          <p:cNvPr id="3" name="Content Placeholder 2"/>
          <p:cNvSpPr>
            <a:spLocks noGrp="1"/>
          </p:cNvSpPr>
          <p:nvPr>
            <p:ph idx="1"/>
          </p:nvPr>
        </p:nvSpPr>
        <p:spPr/>
        <p:txBody>
          <a:bodyPr/>
          <a:lstStyle/>
          <a:p>
            <a:r>
              <a:rPr lang="en-US" b="1" u="sng" dirty="0"/>
              <a:t>Excel Modeling and Excel Solver:</a:t>
            </a:r>
          </a:p>
          <a:p>
            <a:pPr lvl="1"/>
            <a:r>
              <a:rPr lang="en-US" dirty="0"/>
              <a:t>Adding Solver Add-In:</a:t>
            </a:r>
          </a:p>
        </p:txBody>
      </p:sp>
      <p:pic>
        <p:nvPicPr>
          <p:cNvPr id="4" name="Picture 3"/>
          <p:cNvPicPr>
            <a:picLocks noChangeAspect="1"/>
          </p:cNvPicPr>
          <p:nvPr/>
        </p:nvPicPr>
        <p:blipFill>
          <a:blip r:embed="rId3"/>
          <a:stretch>
            <a:fillRect/>
          </a:stretch>
        </p:blipFill>
        <p:spPr>
          <a:xfrm>
            <a:off x="1235392" y="2202180"/>
            <a:ext cx="2330768" cy="2562740"/>
          </a:xfrm>
          <a:prstGeom prst="rect">
            <a:avLst/>
          </a:prstGeom>
        </p:spPr>
      </p:pic>
      <p:pic>
        <p:nvPicPr>
          <p:cNvPr id="7" name="Picture 6"/>
          <p:cNvPicPr>
            <a:picLocks noChangeAspect="1"/>
          </p:cNvPicPr>
          <p:nvPr/>
        </p:nvPicPr>
        <p:blipFill>
          <a:blip r:embed="rId4"/>
          <a:stretch>
            <a:fillRect/>
          </a:stretch>
        </p:blipFill>
        <p:spPr>
          <a:xfrm>
            <a:off x="4799647" y="2020252"/>
            <a:ext cx="1495425" cy="3305175"/>
          </a:xfrm>
          <a:prstGeom prst="rect">
            <a:avLst/>
          </a:prstGeom>
        </p:spPr>
      </p:pic>
      <p:pic>
        <p:nvPicPr>
          <p:cNvPr id="8" name="Picture 7"/>
          <p:cNvPicPr>
            <a:picLocks noChangeAspect="1"/>
          </p:cNvPicPr>
          <p:nvPr/>
        </p:nvPicPr>
        <p:blipFill>
          <a:blip r:embed="rId5"/>
          <a:stretch>
            <a:fillRect/>
          </a:stretch>
        </p:blipFill>
        <p:spPr>
          <a:xfrm>
            <a:off x="7750492" y="2360875"/>
            <a:ext cx="2085975" cy="2590800"/>
          </a:xfrm>
          <a:prstGeom prst="rect">
            <a:avLst/>
          </a:prstGeom>
        </p:spPr>
      </p:pic>
      <p:sp>
        <p:nvSpPr>
          <p:cNvPr id="9" name="Right Arrow 8"/>
          <p:cNvSpPr/>
          <p:nvPr/>
        </p:nvSpPr>
        <p:spPr>
          <a:xfrm>
            <a:off x="679622" y="2471351"/>
            <a:ext cx="654624" cy="358346"/>
          </a:xfrm>
          <a:prstGeom prst="rightArrow">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p:cNvSpPr/>
          <p:nvPr/>
        </p:nvSpPr>
        <p:spPr>
          <a:xfrm>
            <a:off x="4237320" y="4618043"/>
            <a:ext cx="654624" cy="358346"/>
          </a:xfrm>
          <a:prstGeom prst="rightArrow">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a:off x="7201247" y="4226747"/>
            <a:ext cx="654624" cy="358346"/>
          </a:xfrm>
          <a:prstGeom prst="rightArrow">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647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Spreadsheet Modeling</a:t>
            </a:r>
          </a:p>
        </p:txBody>
      </p:sp>
      <p:sp>
        <p:nvSpPr>
          <p:cNvPr id="3" name="Content Placeholder 2"/>
          <p:cNvSpPr>
            <a:spLocks noGrp="1"/>
          </p:cNvSpPr>
          <p:nvPr>
            <p:ph idx="1"/>
          </p:nvPr>
        </p:nvSpPr>
        <p:spPr/>
        <p:txBody>
          <a:bodyPr/>
          <a:lstStyle/>
          <a:p>
            <a:r>
              <a:rPr lang="en-US" b="1" u="sng" dirty="0"/>
              <a:t>Excel Modeling and Excel Solver:</a:t>
            </a:r>
          </a:p>
          <a:p>
            <a:pPr lvl="1"/>
            <a:r>
              <a:rPr lang="en-US" dirty="0"/>
              <a:t>Adding Solver Add-In:</a:t>
            </a:r>
          </a:p>
        </p:txBody>
      </p:sp>
      <p:pic>
        <p:nvPicPr>
          <p:cNvPr id="9" name="Picture 2" descr="C:\Users\konurd\Desktop\1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2494" y="2136165"/>
            <a:ext cx="4393098" cy="263754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C:\Users\konurd\Desktop\15.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42783" y="1773282"/>
            <a:ext cx="2359884" cy="3004221"/>
          </a:xfrm>
          <a:prstGeom prst="rect">
            <a:avLst/>
          </a:prstGeom>
          <a:noFill/>
          <a:extLst>
            <a:ext uri="{909E8E84-426E-40DD-AFC4-6F175D3DCCD1}">
              <a14:hiddenFill xmlns:a14="http://schemas.microsoft.com/office/drawing/2010/main">
                <a:solidFill>
                  <a:srgbClr val="FFFFFF"/>
                </a:solidFill>
              </a14:hiddenFill>
            </a:ext>
          </a:extLst>
        </p:spPr>
      </p:pic>
      <p:sp>
        <p:nvSpPr>
          <p:cNvPr id="12" name="Right Arrow 11"/>
          <p:cNvSpPr/>
          <p:nvPr/>
        </p:nvSpPr>
        <p:spPr>
          <a:xfrm>
            <a:off x="1297870" y="3014089"/>
            <a:ext cx="654624" cy="358346"/>
          </a:xfrm>
          <a:prstGeom prst="rightArrow">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p:cNvSpPr/>
          <p:nvPr/>
        </p:nvSpPr>
        <p:spPr>
          <a:xfrm rot="7366502">
            <a:off x="4025476" y="4011906"/>
            <a:ext cx="654624" cy="358346"/>
          </a:xfrm>
          <a:prstGeom prst="rightArrow">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p:cNvSpPr/>
          <p:nvPr/>
        </p:nvSpPr>
        <p:spPr>
          <a:xfrm>
            <a:off x="6988159" y="2437441"/>
            <a:ext cx="654624" cy="358346"/>
          </a:xfrm>
          <a:prstGeom prst="rightArrow">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p:cNvSpPr/>
          <p:nvPr/>
        </p:nvSpPr>
        <p:spPr>
          <a:xfrm rot="7366502">
            <a:off x="9675355" y="1754545"/>
            <a:ext cx="654624" cy="358346"/>
          </a:xfrm>
          <a:prstGeom prst="rightArrow">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5"/>
          <a:stretch>
            <a:fillRect/>
          </a:stretch>
        </p:blipFill>
        <p:spPr>
          <a:xfrm>
            <a:off x="2679494" y="5311775"/>
            <a:ext cx="6829425" cy="1409700"/>
          </a:xfrm>
          <a:prstGeom prst="rect">
            <a:avLst/>
          </a:prstGeom>
        </p:spPr>
      </p:pic>
      <p:sp>
        <p:nvSpPr>
          <p:cNvPr id="17" name="Double Wave 16"/>
          <p:cNvSpPr/>
          <p:nvPr/>
        </p:nvSpPr>
        <p:spPr>
          <a:xfrm>
            <a:off x="8822725" y="5261327"/>
            <a:ext cx="531596" cy="704850"/>
          </a:xfrm>
          <a:prstGeom prst="doubleWave">
            <a:avLst/>
          </a:prstGeom>
          <a:noFill/>
          <a:ln w="38100">
            <a:solidFill>
              <a:schemeClr val="accent4">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p:cNvSpPr/>
          <p:nvPr/>
        </p:nvSpPr>
        <p:spPr>
          <a:xfrm rot="7366502">
            <a:off x="9019680" y="5078106"/>
            <a:ext cx="654624" cy="358346"/>
          </a:xfrm>
          <a:prstGeom prst="rightArrow">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p:cNvSpPr/>
          <p:nvPr/>
        </p:nvSpPr>
        <p:spPr>
          <a:xfrm rot="5400000">
            <a:off x="3886009" y="5008674"/>
            <a:ext cx="327311" cy="358346"/>
          </a:xfrm>
          <a:prstGeom prst="rightArrow">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7979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7" grpId="0" animBg="1"/>
      <p:bldP spid="19" grpId="0" animBg="1"/>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Spreadsheet Modeling</a:t>
            </a:r>
          </a:p>
        </p:txBody>
      </p:sp>
      <p:sp>
        <p:nvSpPr>
          <p:cNvPr id="3" name="Content Placeholder 2"/>
          <p:cNvSpPr>
            <a:spLocks noGrp="1"/>
          </p:cNvSpPr>
          <p:nvPr>
            <p:ph idx="1"/>
          </p:nvPr>
        </p:nvSpPr>
        <p:spPr/>
        <p:txBody>
          <a:bodyPr>
            <a:normAutofit lnSpcReduction="10000"/>
          </a:bodyPr>
          <a:lstStyle/>
          <a:p>
            <a:r>
              <a:rPr lang="en-US" b="1" u="sng" dirty="0"/>
              <a:t>Excel Modeling and Excel Solver:</a:t>
            </a:r>
          </a:p>
          <a:p>
            <a:pPr lvl="1"/>
            <a:r>
              <a:rPr lang="en-US" dirty="0"/>
              <a:t>Using Solver Add-In:</a:t>
            </a:r>
          </a:p>
          <a:p>
            <a:pPr lvl="2"/>
            <a:r>
              <a:rPr lang="en-US" dirty="0"/>
              <a:t>Once you click on ‘Solver’ </a:t>
            </a:r>
          </a:p>
          <a:p>
            <a:pPr marL="914400" lvl="2" indent="0">
              <a:buNone/>
            </a:pPr>
            <a:r>
              <a:rPr lang="en-US" dirty="0"/>
              <a:t>    under the Data tab, </a:t>
            </a:r>
          </a:p>
          <a:p>
            <a:pPr marL="914400" lvl="2" indent="0">
              <a:buNone/>
            </a:pPr>
            <a:r>
              <a:rPr lang="en-US" dirty="0"/>
              <a:t>    Solver window will show</a:t>
            </a:r>
          </a:p>
          <a:p>
            <a:pPr marL="914400" lvl="2" indent="0">
              <a:buNone/>
            </a:pPr>
            <a:endParaRPr lang="en-US" dirty="0"/>
          </a:p>
          <a:p>
            <a:pPr lvl="2"/>
            <a:r>
              <a:rPr lang="en-US" dirty="0"/>
              <a:t>First, pick the objective function cell in</a:t>
            </a:r>
          </a:p>
          <a:p>
            <a:pPr marL="914400" lvl="2" indent="0">
              <a:buNone/>
            </a:pPr>
            <a:r>
              <a:rPr lang="en-US" dirty="0"/>
              <a:t>    ‘Set objective:’ row</a:t>
            </a:r>
          </a:p>
          <a:p>
            <a:pPr lvl="2"/>
            <a:r>
              <a:rPr lang="en-US" dirty="0"/>
              <a:t>Then, pick the objective ‘To:’</a:t>
            </a:r>
          </a:p>
          <a:p>
            <a:pPr lvl="3"/>
            <a:r>
              <a:rPr lang="en-US" dirty="0"/>
              <a:t>Either Max or Min</a:t>
            </a:r>
          </a:p>
          <a:p>
            <a:pPr lvl="2"/>
            <a:r>
              <a:rPr lang="en-US" dirty="0"/>
              <a:t>Then, enter the cells dedicated</a:t>
            </a:r>
          </a:p>
          <a:p>
            <a:pPr marL="914400" lvl="2" indent="0">
              <a:buNone/>
            </a:pPr>
            <a:r>
              <a:rPr lang="en-US" dirty="0"/>
              <a:t>    to your decision variables in </a:t>
            </a:r>
          </a:p>
          <a:p>
            <a:pPr marL="914400" lvl="2" indent="0">
              <a:buNone/>
            </a:pPr>
            <a:r>
              <a:rPr lang="en-US" dirty="0"/>
              <a:t>    ‘By Changing Variable Cells:’ row</a:t>
            </a:r>
          </a:p>
          <a:p>
            <a:pPr lvl="3"/>
            <a:r>
              <a:rPr lang="en-US" dirty="0"/>
              <a:t>You can enter each cell one by one separated with a</a:t>
            </a:r>
          </a:p>
          <a:p>
            <a:pPr marL="1371600" lvl="3" indent="0">
              <a:buNone/>
            </a:pPr>
            <a:r>
              <a:rPr lang="en-US" dirty="0"/>
              <a:t>     comma or select all decision cells at once</a:t>
            </a:r>
          </a:p>
          <a:p>
            <a:pPr lvl="2"/>
            <a:endParaRPr lang="en-US" dirty="0"/>
          </a:p>
        </p:txBody>
      </p:sp>
      <p:pic>
        <p:nvPicPr>
          <p:cNvPr id="18" name="Picture 2" descr="C:\Users\konurd\Desktop\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0211" y="1566447"/>
            <a:ext cx="4724400" cy="4789903"/>
          </a:xfrm>
          <a:prstGeom prst="rect">
            <a:avLst/>
          </a:prstGeom>
          <a:noFill/>
          <a:extLst>
            <a:ext uri="{909E8E84-426E-40DD-AFC4-6F175D3DCCD1}">
              <a14:hiddenFill xmlns:a14="http://schemas.microsoft.com/office/drawing/2010/main">
                <a:solidFill>
                  <a:srgbClr val="FFFFFF"/>
                </a:solidFill>
              </a14:hiddenFill>
            </a:ext>
          </a:extLst>
        </p:spPr>
      </p:pic>
      <p:sp>
        <p:nvSpPr>
          <p:cNvPr id="20" name="Rounded Rectangular Callout 19"/>
          <p:cNvSpPr/>
          <p:nvPr/>
        </p:nvSpPr>
        <p:spPr bwMode="auto">
          <a:xfrm>
            <a:off x="5429971" y="1745221"/>
            <a:ext cx="1767840" cy="914400"/>
          </a:xfrm>
          <a:prstGeom prst="wedgeRoundRectCallout">
            <a:avLst>
              <a:gd name="adj1" fmla="val 149354"/>
              <a:gd name="adj2" fmla="val -7453"/>
              <a:gd name="adj3" fmla="val 16667"/>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400" dirty="0"/>
              <a:t>Pick the cell where your objective function is defined</a:t>
            </a:r>
            <a:endParaRPr kumimoji="0" lang="en-US" sz="1400" b="0" i="0" u="none" strike="noStrike" cap="none" normalizeH="0" baseline="0" dirty="0">
              <a:ln>
                <a:noFill/>
              </a:ln>
              <a:solidFill>
                <a:schemeClr val="tx1"/>
              </a:solidFill>
              <a:effectLst/>
            </a:endParaRPr>
          </a:p>
        </p:txBody>
      </p:sp>
      <p:sp>
        <p:nvSpPr>
          <p:cNvPr id="21" name="Rounded Rectangular Callout 20"/>
          <p:cNvSpPr/>
          <p:nvPr/>
        </p:nvSpPr>
        <p:spPr bwMode="auto">
          <a:xfrm>
            <a:off x="5266141" y="4367530"/>
            <a:ext cx="1775460" cy="1066800"/>
          </a:xfrm>
          <a:prstGeom prst="wedgeRoundRectCallout">
            <a:avLst>
              <a:gd name="adj1" fmla="val 108439"/>
              <a:gd name="adj2" fmla="val -193500"/>
              <a:gd name="adj3" fmla="val 16667"/>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400" dirty="0"/>
              <a:t>Pick the cells where your decision variables are defined</a:t>
            </a:r>
            <a:endParaRPr kumimoji="0" lang="en-US" sz="1400" b="0" i="0" u="none" strike="noStrike" cap="none" normalizeH="0" baseline="0" dirty="0">
              <a:ln>
                <a:noFill/>
              </a:ln>
              <a:solidFill>
                <a:schemeClr val="tx1"/>
              </a:solidFill>
              <a:effectLst/>
            </a:endParaRPr>
          </a:p>
        </p:txBody>
      </p:sp>
      <p:sp>
        <p:nvSpPr>
          <p:cNvPr id="22" name="Rounded Rectangular Callout 21"/>
          <p:cNvSpPr/>
          <p:nvPr/>
        </p:nvSpPr>
        <p:spPr bwMode="auto">
          <a:xfrm>
            <a:off x="8264611" y="3304540"/>
            <a:ext cx="1775460" cy="1066800"/>
          </a:xfrm>
          <a:prstGeom prst="wedgeRoundRectCallout">
            <a:avLst>
              <a:gd name="adj1" fmla="val 110370"/>
              <a:gd name="adj2" fmla="val -41357"/>
              <a:gd name="adj3" fmla="val 16667"/>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400" dirty="0"/>
              <a:t>Click here to add a constraint..</a:t>
            </a:r>
          </a:p>
          <a:p>
            <a:pPr marL="0" marR="0" indent="0" algn="l"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rPr>
              <a:t>A new window will pop up</a:t>
            </a:r>
          </a:p>
        </p:txBody>
      </p:sp>
      <p:sp>
        <p:nvSpPr>
          <p:cNvPr id="23" name="Rounded Rectangular Callout 22"/>
          <p:cNvSpPr/>
          <p:nvPr/>
        </p:nvSpPr>
        <p:spPr bwMode="auto">
          <a:xfrm>
            <a:off x="5556869" y="2778760"/>
            <a:ext cx="1187551" cy="605790"/>
          </a:xfrm>
          <a:prstGeom prst="wedgeRoundRectCallout">
            <a:avLst>
              <a:gd name="adj1" fmla="val 135986"/>
              <a:gd name="adj2" fmla="val -102981"/>
              <a:gd name="adj3" fmla="val 16667"/>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400" dirty="0"/>
              <a:t>Pick your objective</a:t>
            </a:r>
            <a:endParaRPr kumimoji="0" lang="en-US" sz="1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705170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4" end="14"/>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Spreadsheet Modeling</a:t>
            </a:r>
          </a:p>
        </p:txBody>
      </p:sp>
      <p:sp>
        <p:nvSpPr>
          <p:cNvPr id="3" name="Content Placeholder 2"/>
          <p:cNvSpPr>
            <a:spLocks noGrp="1"/>
          </p:cNvSpPr>
          <p:nvPr>
            <p:ph idx="1"/>
          </p:nvPr>
        </p:nvSpPr>
        <p:spPr/>
        <p:txBody>
          <a:bodyPr/>
          <a:lstStyle/>
          <a:p>
            <a:r>
              <a:rPr lang="en-US" b="1" u="sng" dirty="0"/>
              <a:t>Excel Modeling and Excel Solver:</a:t>
            </a:r>
          </a:p>
          <a:p>
            <a:pPr lvl="1"/>
            <a:r>
              <a:rPr lang="en-US" dirty="0"/>
              <a:t>Using Solver Add-In:</a:t>
            </a:r>
          </a:p>
          <a:p>
            <a:pPr lvl="2"/>
            <a:r>
              <a:rPr lang="en-US" dirty="0"/>
              <a:t>Once you click on ‘Add’ </a:t>
            </a:r>
          </a:p>
          <a:p>
            <a:pPr marL="914400" lvl="2" indent="0">
              <a:buNone/>
            </a:pPr>
            <a:r>
              <a:rPr lang="en-US" dirty="0"/>
              <a:t>    to add a constraint, a new </a:t>
            </a:r>
          </a:p>
          <a:p>
            <a:pPr marL="914400" lvl="2" indent="0">
              <a:buNone/>
            </a:pPr>
            <a:r>
              <a:rPr lang="en-US" dirty="0"/>
              <a:t>    window will show</a:t>
            </a:r>
          </a:p>
          <a:p>
            <a:pPr lvl="2"/>
            <a:r>
              <a:rPr lang="en-US" dirty="0"/>
              <a:t>After entering, you can</a:t>
            </a:r>
          </a:p>
          <a:p>
            <a:pPr marL="914400" lvl="2" indent="0">
              <a:buNone/>
            </a:pPr>
            <a:r>
              <a:rPr lang="en-US" dirty="0"/>
              <a:t>    click ‘Ok’ to return to Solver window</a:t>
            </a:r>
          </a:p>
          <a:p>
            <a:pPr lvl="2"/>
            <a:r>
              <a:rPr lang="en-US" dirty="0"/>
              <a:t>Or, click ‘Add’ to add more constraints</a:t>
            </a:r>
          </a:p>
          <a:p>
            <a:pPr lvl="2"/>
            <a:endParaRPr lang="en-US" dirty="0"/>
          </a:p>
          <a:p>
            <a:pPr lvl="2"/>
            <a:r>
              <a:rPr lang="en-US" dirty="0"/>
              <a:t>If you have arrays of same type constraints, you can add them at once as well</a:t>
            </a:r>
          </a:p>
        </p:txBody>
      </p:sp>
      <p:pic>
        <p:nvPicPr>
          <p:cNvPr id="10" name="Picture 2" descr="C:\Users\konurd\Desktop\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4557" y="1608438"/>
            <a:ext cx="4086225" cy="1495425"/>
          </a:xfrm>
          <a:prstGeom prst="rect">
            <a:avLst/>
          </a:prstGeom>
          <a:noFill/>
          <a:extLst>
            <a:ext uri="{909E8E84-426E-40DD-AFC4-6F175D3DCCD1}">
              <a14:hiddenFill xmlns:a14="http://schemas.microsoft.com/office/drawing/2010/main">
                <a:solidFill>
                  <a:srgbClr val="FFFFFF"/>
                </a:solidFill>
              </a14:hiddenFill>
            </a:ext>
          </a:extLst>
        </p:spPr>
      </p:pic>
      <p:sp>
        <p:nvSpPr>
          <p:cNvPr id="11" name="Rounded Rectangular Callout 10"/>
          <p:cNvSpPr/>
          <p:nvPr/>
        </p:nvSpPr>
        <p:spPr bwMode="auto">
          <a:xfrm>
            <a:off x="4470957" y="2356150"/>
            <a:ext cx="2057400" cy="928688"/>
          </a:xfrm>
          <a:prstGeom prst="wedgeRoundRectCallout">
            <a:avLst>
              <a:gd name="adj1" fmla="val 99259"/>
              <a:gd name="adj2" fmla="val -45721"/>
              <a:gd name="adj3" fmla="val 16667"/>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400" dirty="0"/>
              <a:t>Enter the cell where left hand side of your constraint is defined</a:t>
            </a:r>
            <a:endParaRPr kumimoji="0" lang="en-US" sz="1400" b="0" i="0" u="none" strike="noStrike" cap="none" normalizeH="0" baseline="0" dirty="0">
              <a:ln>
                <a:noFill/>
              </a:ln>
              <a:solidFill>
                <a:schemeClr val="tx1"/>
              </a:solidFill>
              <a:effectLst/>
            </a:endParaRPr>
          </a:p>
        </p:txBody>
      </p:sp>
      <p:sp>
        <p:nvSpPr>
          <p:cNvPr id="12" name="Rounded Rectangular Callout 11"/>
          <p:cNvSpPr/>
          <p:nvPr/>
        </p:nvSpPr>
        <p:spPr bwMode="auto">
          <a:xfrm>
            <a:off x="7210038" y="3281829"/>
            <a:ext cx="2057400" cy="654844"/>
          </a:xfrm>
          <a:prstGeom prst="wedgeRoundRectCallout">
            <a:avLst>
              <a:gd name="adj1" fmla="val 19589"/>
              <a:gd name="adj2" fmla="val -183989"/>
              <a:gd name="adj3" fmla="val 16667"/>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400" dirty="0"/>
              <a:t>Choose the inequality type you have</a:t>
            </a:r>
            <a:endParaRPr kumimoji="0" lang="en-US" sz="1400" b="0" i="0" u="none" strike="noStrike" cap="none" normalizeH="0" baseline="0" dirty="0">
              <a:ln>
                <a:noFill/>
              </a:ln>
              <a:solidFill>
                <a:schemeClr val="tx1"/>
              </a:solidFill>
              <a:effectLst/>
            </a:endParaRPr>
          </a:p>
        </p:txBody>
      </p:sp>
      <p:sp>
        <p:nvSpPr>
          <p:cNvPr id="13" name="Rounded Rectangular Callout 12"/>
          <p:cNvSpPr/>
          <p:nvPr/>
        </p:nvSpPr>
        <p:spPr bwMode="auto">
          <a:xfrm>
            <a:off x="9814112" y="3211440"/>
            <a:ext cx="2057400" cy="829866"/>
          </a:xfrm>
          <a:prstGeom prst="wedgeRoundRectCallout">
            <a:avLst>
              <a:gd name="adj1" fmla="val -62949"/>
              <a:gd name="adj2" fmla="val -148512"/>
              <a:gd name="adj3" fmla="val 16667"/>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1400" dirty="0"/>
              <a:t>Enter the cell where right hand side of your constraint is defined</a:t>
            </a:r>
          </a:p>
        </p:txBody>
      </p:sp>
    </p:spTree>
    <p:extLst>
      <p:ext uri="{BB962C8B-B14F-4D97-AF65-F5344CB8AC3E}">
        <p14:creationId xmlns:p14="http://schemas.microsoft.com/office/powerpoint/2010/main" val="1672043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Spreadsheet Modeling</a:t>
            </a:r>
          </a:p>
        </p:txBody>
      </p:sp>
      <p:sp>
        <p:nvSpPr>
          <p:cNvPr id="3" name="Content Placeholder 2"/>
          <p:cNvSpPr>
            <a:spLocks noGrp="1"/>
          </p:cNvSpPr>
          <p:nvPr>
            <p:ph idx="1"/>
          </p:nvPr>
        </p:nvSpPr>
        <p:spPr/>
        <p:txBody>
          <a:bodyPr/>
          <a:lstStyle/>
          <a:p>
            <a:r>
              <a:rPr lang="en-US" b="1" u="sng" dirty="0"/>
              <a:t>Excel Modeling and Excel Solver:</a:t>
            </a:r>
          </a:p>
          <a:p>
            <a:pPr lvl="1"/>
            <a:r>
              <a:rPr lang="en-US" dirty="0"/>
              <a:t>Using Solver Add-In:</a:t>
            </a:r>
          </a:p>
          <a:p>
            <a:pPr lvl="2"/>
            <a:r>
              <a:rPr lang="en-US" dirty="0"/>
              <a:t>Check ‘Make Unconstrained Variables Non-Negative’</a:t>
            </a:r>
          </a:p>
          <a:p>
            <a:pPr marL="914400" lvl="2" indent="0">
              <a:buNone/>
            </a:pPr>
            <a:r>
              <a:rPr lang="en-US" dirty="0"/>
              <a:t>    box if your variables are non-negative;</a:t>
            </a:r>
          </a:p>
          <a:p>
            <a:pPr marL="914400" lvl="2" indent="0">
              <a:buNone/>
            </a:pPr>
            <a:r>
              <a:rPr lang="en-US" dirty="0"/>
              <a:t>    otherwise, uncheck the box</a:t>
            </a:r>
          </a:p>
          <a:p>
            <a:pPr lvl="2"/>
            <a:r>
              <a:rPr lang="en-US" dirty="0"/>
              <a:t>From ‘Select a Solving Method’, </a:t>
            </a:r>
          </a:p>
          <a:p>
            <a:pPr marL="914400" lvl="2" indent="0">
              <a:buNone/>
            </a:pPr>
            <a:r>
              <a:rPr lang="en-US" dirty="0"/>
              <a:t>    pick ‘Simplex LP’ if your model is linear</a:t>
            </a:r>
          </a:p>
          <a:p>
            <a:pPr lvl="3"/>
            <a:r>
              <a:rPr lang="en-US" dirty="0"/>
              <a:t>Later, we will see other methods too!</a:t>
            </a:r>
          </a:p>
        </p:txBody>
      </p:sp>
      <p:pic>
        <p:nvPicPr>
          <p:cNvPr id="14" name="Picture 2" descr="C:\Users\konurd\Desktop\1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2568" y="1384243"/>
            <a:ext cx="4648200" cy="4704396"/>
          </a:xfrm>
          <a:prstGeom prst="rect">
            <a:avLst/>
          </a:prstGeom>
          <a:noFill/>
          <a:extLst>
            <a:ext uri="{909E8E84-426E-40DD-AFC4-6F175D3DCCD1}">
              <a14:hiddenFill xmlns:a14="http://schemas.microsoft.com/office/drawing/2010/main">
                <a:solidFill>
                  <a:srgbClr val="FFFFFF"/>
                </a:solidFill>
              </a14:hiddenFill>
            </a:ext>
          </a:extLst>
        </p:spPr>
      </p:pic>
      <p:sp>
        <p:nvSpPr>
          <p:cNvPr id="15" name="Rounded Rectangular Callout 14"/>
          <p:cNvSpPr/>
          <p:nvPr/>
        </p:nvSpPr>
        <p:spPr bwMode="auto">
          <a:xfrm>
            <a:off x="5849107" y="2789770"/>
            <a:ext cx="1513461" cy="772121"/>
          </a:xfrm>
          <a:prstGeom prst="wedgeRoundRectCallout">
            <a:avLst>
              <a:gd name="adj1" fmla="val 81586"/>
              <a:gd name="adj2" fmla="val 167367"/>
              <a:gd name="adj3" fmla="val 16667"/>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400" dirty="0"/>
              <a:t>Non-negativity constraints by default</a:t>
            </a:r>
            <a:endParaRPr kumimoji="0" lang="en-US" sz="1400" b="0" i="0" u="none" strike="noStrike" cap="none" normalizeH="0" baseline="0" dirty="0">
              <a:ln>
                <a:noFill/>
              </a:ln>
              <a:solidFill>
                <a:schemeClr val="tx1"/>
              </a:solidFill>
              <a:effectLst/>
            </a:endParaRPr>
          </a:p>
        </p:txBody>
      </p:sp>
      <p:sp>
        <p:nvSpPr>
          <p:cNvPr id="16" name="Rounded Rectangular Callout 15"/>
          <p:cNvSpPr/>
          <p:nvPr/>
        </p:nvSpPr>
        <p:spPr bwMode="auto">
          <a:xfrm>
            <a:off x="6015439" y="4348975"/>
            <a:ext cx="1169773" cy="654844"/>
          </a:xfrm>
          <a:prstGeom prst="wedgeRoundRectCallout">
            <a:avLst>
              <a:gd name="adj1" fmla="val 87592"/>
              <a:gd name="adj2" fmla="val 13625"/>
              <a:gd name="adj3" fmla="val 16667"/>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400" dirty="0"/>
              <a:t>Pick Simplex LP method</a:t>
            </a:r>
            <a:endParaRPr kumimoji="0" lang="en-US" sz="1400" b="0" i="0" u="none" strike="noStrike" cap="none" normalizeH="0" baseline="0" dirty="0">
              <a:ln>
                <a:noFill/>
              </a:ln>
              <a:solidFill>
                <a:schemeClr val="tx1"/>
              </a:solidFill>
              <a:effectLst/>
            </a:endParaRPr>
          </a:p>
        </p:txBody>
      </p:sp>
      <p:sp>
        <p:nvSpPr>
          <p:cNvPr id="17" name="Rounded Rectangular Callout 16"/>
          <p:cNvSpPr/>
          <p:nvPr/>
        </p:nvSpPr>
        <p:spPr bwMode="auto">
          <a:xfrm>
            <a:off x="6015439" y="5393341"/>
            <a:ext cx="1037967" cy="394100"/>
          </a:xfrm>
          <a:prstGeom prst="wedgeRoundRectCallout">
            <a:avLst>
              <a:gd name="adj1" fmla="val 340877"/>
              <a:gd name="adj2" fmla="val 67832"/>
              <a:gd name="adj3" fmla="val 16667"/>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400" dirty="0"/>
              <a:t>Solve it!!!</a:t>
            </a:r>
            <a:endParaRPr kumimoji="0" lang="en-US" sz="1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060853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Spreadsheet Modeling</a:t>
            </a:r>
          </a:p>
        </p:txBody>
      </p:sp>
      <p:sp>
        <p:nvSpPr>
          <p:cNvPr id="3" name="Content Placeholder 2"/>
          <p:cNvSpPr>
            <a:spLocks noGrp="1"/>
          </p:cNvSpPr>
          <p:nvPr>
            <p:ph idx="1"/>
          </p:nvPr>
        </p:nvSpPr>
        <p:spPr/>
        <p:txBody>
          <a:bodyPr>
            <a:normAutofit lnSpcReduction="10000"/>
          </a:bodyPr>
          <a:lstStyle/>
          <a:p>
            <a:r>
              <a:rPr lang="en-US" b="1" u="sng" dirty="0"/>
              <a:t>Case: </a:t>
            </a:r>
            <a:r>
              <a:rPr lang="en-US" b="1" u="sng" dirty="0" err="1"/>
              <a:t>Wyndor</a:t>
            </a:r>
            <a:r>
              <a:rPr lang="en-US" b="1" u="sng" dirty="0"/>
              <a:t> Glass Co. Product-Mix Problem solution with Solver</a:t>
            </a:r>
          </a:p>
          <a:p>
            <a:r>
              <a:rPr lang="en-US" dirty="0"/>
              <a:t>We have the spreadsheet model put into Solver</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Click on ‘Solve’ on Solver window after putting the model into Solver</a:t>
            </a:r>
          </a:p>
          <a:p>
            <a:endParaRPr lang="en-US" dirty="0"/>
          </a:p>
          <a:p>
            <a:endParaRPr lang="en-US" dirty="0"/>
          </a:p>
          <a:p>
            <a:endParaRPr lang="en-US" dirty="0"/>
          </a:p>
          <a:p>
            <a:endParaRPr lang="en-US" dirty="0"/>
          </a:p>
          <a:p>
            <a:endParaRPr lang="en-US" dirty="0"/>
          </a:p>
          <a:p>
            <a:endParaRPr lang="en-US" dirty="0"/>
          </a:p>
          <a:p>
            <a:endParaRPr lang="en-US" dirty="0"/>
          </a:p>
        </p:txBody>
      </p:sp>
      <p:pic>
        <p:nvPicPr>
          <p:cNvPr id="6" name="Picture 2" descr="C:\Users\konurd\Desktop\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300" y="2619567"/>
            <a:ext cx="5615782" cy="298941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4"/>
          <a:stretch>
            <a:fillRect/>
          </a:stretch>
        </p:blipFill>
        <p:spPr>
          <a:xfrm>
            <a:off x="7871012" y="2020253"/>
            <a:ext cx="3962400" cy="3996500"/>
          </a:xfrm>
          <a:prstGeom prst="rect">
            <a:avLst/>
          </a:prstGeom>
        </p:spPr>
      </p:pic>
    </p:spTree>
    <p:extLst>
      <p:ext uri="{BB962C8B-B14F-4D97-AF65-F5344CB8AC3E}">
        <p14:creationId xmlns:p14="http://schemas.microsoft.com/office/powerpoint/2010/main" val="24483643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Spreadsheet Modeling</a:t>
            </a:r>
          </a:p>
        </p:txBody>
      </p:sp>
      <p:sp>
        <p:nvSpPr>
          <p:cNvPr id="3" name="Content Placeholder 2"/>
          <p:cNvSpPr>
            <a:spLocks noGrp="1"/>
          </p:cNvSpPr>
          <p:nvPr>
            <p:ph idx="1"/>
          </p:nvPr>
        </p:nvSpPr>
        <p:spPr/>
        <p:txBody>
          <a:bodyPr/>
          <a:lstStyle/>
          <a:p>
            <a:r>
              <a:rPr lang="en-US" b="1" u="sng" dirty="0"/>
              <a:t>Case: </a:t>
            </a:r>
            <a:r>
              <a:rPr lang="en-US" b="1" u="sng" dirty="0" err="1"/>
              <a:t>Wyndor</a:t>
            </a:r>
            <a:r>
              <a:rPr lang="en-US" b="1" u="sng" dirty="0"/>
              <a:t> Glass Co. Product-Mix Problem solution with Solver</a:t>
            </a:r>
          </a:p>
          <a:p>
            <a:r>
              <a:rPr lang="en-US" dirty="0"/>
              <a:t>‘Solver Results’ window will pop up! Click ‘OK’ to see the solved model!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5" name="Picture 4"/>
          <p:cNvPicPr>
            <a:picLocks noChangeAspect="1"/>
          </p:cNvPicPr>
          <p:nvPr/>
        </p:nvPicPr>
        <p:blipFill>
          <a:blip r:embed="rId3"/>
          <a:stretch>
            <a:fillRect/>
          </a:stretch>
        </p:blipFill>
        <p:spPr>
          <a:xfrm>
            <a:off x="907192" y="2401974"/>
            <a:ext cx="4495800" cy="3429000"/>
          </a:xfrm>
          <a:prstGeom prst="rect">
            <a:avLst/>
          </a:prstGeom>
        </p:spPr>
      </p:pic>
      <p:pic>
        <p:nvPicPr>
          <p:cNvPr id="7" name="Picture 6"/>
          <p:cNvPicPr>
            <a:picLocks noChangeAspect="1"/>
          </p:cNvPicPr>
          <p:nvPr/>
        </p:nvPicPr>
        <p:blipFill>
          <a:blip r:embed="rId4"/>
          <a:stretch>
            <a:fillRect/>
          </a:stretch>
        </p:blipFill>
        <p:spPr>
          <a:xfrm>
            <a:off x="6094207" y="2573123"/>
            <a:ext cx="4448175" cy="2343150"/>
          </a:xfrm>
          <a:prstGeom prst="rect">
            <a:avLst/>
          </a:prstGeom>
        </p:spPr>
      </p:pic>
      <p:sp>
        <p:nvSpPr>
          <p:cNvPr id="8" name="Oval 7"/>
          <p:cNvSpPr/>
          <p:nvPr/>
        </p:nvSpPr>
        <p:spPr>
          <a:xfrm>
            <a:off x="7030994" y="4238368"/>
            <a:ext cx="2384854" cy="568410"/>
          </a:xfrm>
          <a:prstGeom prst="ellipse">
            <a:avLst/>
          </a:prstGeom>
          <a:noFill/>
          <a:ln w="28575">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TextBox 8"/>
          <p:cNvSpPr txBox="1"/>
          <p:nvPr/>
        </p:nvSpPr>
        <p:spPr>
          <a:xfrm>
            <a:off x="6956854" y="5165124"/>
            <a:ext cx="3585528" cy="923330"/>
          </a:xfrm>
          <a:prstGeom prst="rect">
            <a:avLst/>
          </a:prstGeom>
          <a:noFill/>
        </p:spPr>
        <p:txBody>
          <a:bodyPr wrap="square" rtlCol="0">
            <a:spAutoFit/>
          </a:bodyPr>
          <a:lstStyle/>
          <a:p>
            <a:r>
              <a:rPr lang="en-US" dirty="0">
                <a:solidFill>
                  <a:srgbClr val="C00000"/>
                </a:solidFill>
              </a:rPr>
              <a:t>The values in the decision variable cells changed! This is the optimal solution!</a:t>
            </a:r>
          </a:p>
        </p:txBody>
      </p:sp>
    </p:spTree>
    <p:extLst>
      <p:ext uri="{BB962C8B-B14F-4D97-AF65-F5344CB8AC3E}">
        <p14:creationId xmlns:p14="http://schemas.microsoft.com/office/powerpoint/2010/main" val="4404956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C49A8-5FBF-8753-3E4E-1A6936AD37FF}"/>
              </a:ext>
            </a:extLst>
          </p:cNvPr>
          <p:cNvSpPr>
            <a:spLocks noGrp="1"/>
          </p:cNvSpPr>
          <p:nvPr>
            <p:ph type="title"/>
          </p:nvPr>
        </p:nvSpPr>
        <p:spPr/>
        <p:txBody>
          <a:bodyPr/>
          <a:lstStyle/>
          <a:p>
            <a:r>
              <a:rPr lang="en-US" dirty="0"/>
              <a:t>Excel Solver Outputs</a:t>
            </a:r>
          </a:p>
        </p:txBody>
      </p:sp>
      <p:sp>
        <p:nvSpPr>
          <p:cNvPr id="3" name="Text Placeholder 2">
            <a:extLst>
              <a:ext uri="{FF2B5EF4-FFF2-40B4-BE49-F238E27FC236}">
                <a16:creationId xmlns:a16="http://schemas.microsoft.com/office/drawing/2014/main" id="{8B36FD2A-981B-13AD-CA27-8D88BA42D54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526970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Excel Solver Outputs</a:t>
            </a:r>
          </a:p>
        </p:txBody>
      </p:sp>
      <p:sp>
        <p:nvSpPr>
          <p:cNvPr id="3" name="Content Placeholder 2"/>
          <p:cNvSpPr>
            <a:spLocks noGrp="1"/>
          </p:cNvSpPr>
          <p:nvPr>
            <p:ph idx="1"/>
          </p:nvPr>
        </p:nvSpPr>
        <p:spPr/>
        <p:txBody>
          <a:bodyPr/>
          <a:lstStyle/>
          <a:p>
            <a:r>
              <a:rPr lang="en-US" dirty="0"/>
              <a:t>Recall that a linear programming model may have four cases:</a:t>
            </a:r>
          </a:p>
          <a:p>
            <a:pPr lvl="1"/>
            <a:r>
              <a:rPr lang="en-US" dirty="0"/>
              <a:t>Unique optimum</a:t>
            </a:r>
          </a:p>
          <a:p>
            <a:pPr lvl="1"/>
            <a:r>
              <a:rPr lang="en-US" dirty="0"/>
              <a:t>Alternative optima</a:t>
            </a:r>
          </a:p>
          <a:p>
            <a:pPr lvl="1"/>
            <a:r>
              <a:rPr lang="en-US" dirty="0"/>
              <a:t>Infeasibility</a:t>
            </a:r>
          </a:p>
          <a:p>
            <a:pPr lvl="1"/>
            <a:r>
              <a:rPr lang="en-US" dirty="0"/>
              <a:t>Unboundedness</a:t>
            </a:r>
          </a:p>
          <a:p>
            <a:pPr lvl="1"/>
            <a:endParaRPr lang="en-US" dirty="0"/>
          </a:p>
          <a:p>
            <a:r>
              <a:rPr lang="en-US" dirty="0"/>
              <a:t>Next, we will discuss how Solver output changes for different cases</a:t>
            </a:r>
          </a:p>
          <a:p>
            <a:r>
              <a:rPr lang="en-US" dirty="0"/>
              <a:t>To do so, </a:t>
            </a:r>
            <a:r>
              <a:rPr lang="en-US" dirty="0" err="1"/>
              <a:t>Wyndor</a:t>
            </a:r>
            <a:r>
              <a:rPr lang="en-US" dirty="0"/>
              <a:t> Glass Co. Product Mix case will be modified to demonstrate different cases</a:t>
            </a:r>
            <a:br>
              <a:rPr lang="en-US" dirty="0"/>
            </a:b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2">
              <a:tabLst>
                <a:tab pos="1712913" algn="l"/>
              </a:tabLst>
            </a:pPr>
            <a:endParaRPr lang="en-US" dirty="0"/>
          </a:p>
        </p:txBody>
      </p:sp>
    </p:spTree>
    <p:extLst>
      <p:ext uri="{BB962C8B-B14F-4D97-AF65-F5344CB8AC3E}">
        <p14:creationId xmlns:p14="http://schemas.microsoft.com/office/powerpoint/2010/main" val="2888863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Excel Solver Outputs</a:t>
            </a:r>
          </a:p>
        </p:txBody>
      </p:sp>
      <p:sp>
        <p:nvSpPr>
          <p:cNvPr id="3" name="Content Placeholder 2"/>
          <p:cNvSpPr>
            <a:spLocks noGrp="1"/>
          </p:cNvSpPr>
          <p:nvPr>
            <p:ph idx="1"/>
          </p:nvPr>
        </p:nvSpPr>
        <p:spPr/>
        <p:txBody>
          <a:bodyPr/>
          <a:lstStyle/>
          <a:p>
            <a:r>
              <a:rPr lang="en-US" b="1" u="sng" dirty="0" err="1"/>
              <a:t>Wyndor</a:t>
            </a:r>
            <a:r>
              <a:rPr lang="en-US" b="1" u="sng" dirty="0"/>
              <a:t> Glass Co. problem with </a:t>
            </a:r>
            <a:r>
              <a:rPr lang="en-US" b="1" u="sng" dirty="0">
                <a:solidFill>
                  <a:srgbClr val="C00000"/>
                </a:solidFill>
              </a:rPr>
              <a:t>unique optimum:</a:t>
            </a:r>
          </a:p>
          <a:p>
            <a:r>
              <a:rPr lang="en-US" dirty="0"/>
              <a:t>Consider the original </a:t>
            </a:r>
            <a:r>
              <a:rPr lang="en-US" dirty="0" err="1"/>
              <a:t>Wyndor</a:t>
            </a:r>
            <a:r>
              <a:rPr lang="en-US" dirty="0"/>
              <a:t> model</a:t>
            </a:r>
          </a:p>
          <a:p>
            <a:r>
              <a:rPr lang="en-US" dirty="0"/>
              <a:t>We know from the graphical solution method that there exists a unique optimum</a:t>
            </a:r>
          </a:p>
          <a:p>
            <a:endParaRPr lang="en-US" dirty="0"/>
          </a:p>
          <a:p>
            <a:endParaRPr lang="en-US" dirty="0"/>
          </a:p>
          <a:p>
            <a:endParaRPr lang="en-US" dirty="0"/>
          </a:p>
          <a:p>
            <a:endParaRPr lang="en-US" dirty="0"/>
          </a:p>
          <a:p>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2">
              <a:tabLst>
                <a:tab pos="1712913" algn="l"/>
              </a:tabLst>
            </a:pPr>
            <a:endParaRPr lang="en-US" dirty="0"/>
          </a:p>
        </p:txBody>
      </p:sp>
      <mc:AlternateContent xmlns:mc="http://schemas.openxmlformats.org/markup-compatibility/2006" xmlns:a14="http://schemas.microsoft.com/office/drawing/2010/main">
        <mc:Choice Requires="a14">
          <p:sp>
            <p:nvSpPr>
              <p:cNvPr id="8" name="Rectangle 7"/>
              <p:cNvSpPr/>
              <p:nvPr/>
            </p:nvSpPr>
            <p:spPr>
              <a:xfrm>
                <a:off x="740699" y="3417742"/>
                <a:ext cx="4674870" cy="400110"/>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  </m:t>
                      </m:r>
                      <m:r>
                        <a:rPr lang="en-US" sz="2000" i="1" dirty="0">
                          <a:latin typeface="Cambria Math" panose="02040503050406030204" pitchFamily="18" charset="0"/>
                        </a:rPr>
                        <m:t>𝑀𝑎𝑥𝑖𝑚𝑖𝑧𝑒</m:t>
                      </m:r>
                      <m:r>
                        <a:rPr lang="en-US" sz="2000" i="1" dirty="0">
                          <a:latin typeface="Cambria Math" panose="02040503050406030204" pitchFamily="18" charset="0"/>
                        </a:rPr>
                        <m:t>       300</m:t>
                      </m:r>
                      <m:r>
                        <a:rPr lang="en-US" sz="2000" i="1" dirty="0">
                          <a:latin typeface="Cambria Math" panose="02040503050406030204" pitchFamily="18" charset="0"/>
                        </a:rPr>
                        <m:t>𝐷</m:t>
                      </m:r>
                      <m:r>
                        <a:rPr lang="en-US" sz="2000" i="1" dirty="0">
                          <a:latin typeface="Cambria Math" panose="02040503050406030204" pitchFamily="18" charset="0"/>
                        </a:rPr>
                        <m:t>+500</m:t>
                      </m:r>
                      <m:r>
                        <a:rPr lang="en-US" sz="2000" i="1" dirty="0">
                          <a:latin typeface="Cambria Math" panose="02040503050406030204" pitchFamily="18" charset="0"/>
                        </a:rPr>
                        <m:t>𝑊</m:t>
                      </m:r>
                    </m:oMath>
                  </m:oMathPara>
                </a14:m>
                <a:endParaRPr lang="en-US" sz="2000" i="1" dirty="0">
                  <a:latin typeface="Cambria Math" panose="02040503050406030204"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740699" y="3417742"/>
                <a:ext cx="4674870" cy="40011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156238" y="3747170"/>
                <a:ext cx="3722611"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𝑠𝑢𝑏𝑗𝑒𝑐𝑡</m:t>
                      </m:r>
                      <m:r>
                        <a:rPr lang="en-US" sz="2000" i="1" dirty="0" smtClean="0">
                          <a:latin typeface="Cambria Math" panose="02040503050406030204" pitchFamily="18" charset="0"/>
                        </a:rPr>
                        <m:t> </m:t>
                      </m:r>
                      <m:r>
                        <a:rPr lang="en-US" sz="2000" i="1" dirty="0" smtClean="0">
                          <a:latin typeface="Cambria Math" panose="02040503050406030204" pitchFamily="18" charset="0"/>
                        </a:rPr>
                        <m:t>𝑡𝑜</m:t>
                      </m:r>
                      <m:r>
                        <a:rPr lang="en-US" sz="2000" i="1" dirty="0" smtClean="0">
                          <a:latin typeface="Cambria Math" panose="02040503050406030204" pitchFamily="18" charset="0"/>
                        </a:rPr>
                        <m:t>         </m:t>
                      </m:r>
                      <m:r>
                        <a:rPr lang="en-US" sz="2000" i="1" dirty="0" smtClean="0">
                          <a:latin typeface="Cambria Math" panose="02040503050406030204" pitchFamily="18" charset="0"/>
                        </a:rPr>
                        <m:t>𝐷</m:t>
                      </m:r>
                      <m:r>
                        <a:rPr lang="en-US" sz="2000" b="0" i="1" dirty="0" smtClean="0">
                          <a:latin typeface="Cambria Math" panose="02040503050406030204" pitchFamily="18" charset="0"/>
                        </a:rPr>
                        <m:t>    </m:t>
                      </m:r>
                      <m:r>
                        <a:rPr lang="en-US" sz="2000" i="1" dirty="0" smtClean="0">
                          <a:latin typeface="Cambria Math" panose="02040503050406030204" pitchFamily="18" charset="0"/>
                        </a:rPr>
                        <m:t>      </m:t>
                      </m:r>
                      <m:r>
                        <a:rPr lang="en-US" sz="2000" b="0" i="1" dirty="0" smtClean="0">
                          <a:latin typeface="Cambria Math" panose="02040503050406030204" pitchFamily="18" charset="0"/>
                        </a:rPr>
                        <m:t>    </m:t>
                      </m:r>
                      <m:r>
                        <a:rPr lang="en-US" sz="2000" i="1" dirty="0" smtClean="0">
                          <a:latin typeface="Cambria Math" panose="02040503050406030204" pitchFamily="18" charset="0"/>
                        </a:rPr>
                        <m:t>≤ 4</m:t>
                      </m:r>
                    </m:oMath>
                  </m:oMathPara>
                </a14:m>
                <a:endParaRPr lang="en-US" sz="2000" dirty="0"/>
              </a:p>
            </p:txBody>
          </p:sp>
        </mc:Choice>
        <mc:Fallback xmlns="">
          <p:sp>
            <p:nvSpPr>
              <p:cNvPr id="9" name="Rectangle 8"/>
              <p:cNvSpPr>
                <a:spLocks noRot="1" noChangeAspect="1" noMove="1" noResize="1" noEditPoints="1" noAdjustHandles="1" noChangeArrowheads="1" noChangeShapeType="1" noTextEdit="1"/>
              </p:cNvSpPr>
              <p:nvPr/>
            </p:nvSpPr>
            <p:spPr>
              <a:xfrm>
                <a:off x="1156238" y="3747170"/>
                <a:ext cx="3722611" cy="400110"/>
              </a:xfrm>
              <a:prstGeom prst="rect">
                <a:avLst/>
              </a:prstGeom>
              <a:blipFill rotWithShape="0">
                <a:blip r:embed="rId4"/>
                <a:stretch>
                  <a:fillRect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2851884" y="4100283"/>
                <a:ext cx="198823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            </m:t>
                      </m:r>
                      <m:r>
                        <a:rPr lang="en-US" sz="2000" i="1" dirty="0" smtClean="0">
                          <a:latin typeface="Cambria Math" panose="02040503050406030204" pitchFamily="18" charset="0"/>
                        </a:rPr>
                        <m:t>2</m:t>
                      </m:r>
                      <m:r>
                        <a:rPr lang="en-US" sz="2000" i="1" dirty="0" smtClean="0">
                          <a:latin typeface="Cambria Math" panose="02040503050406030204" pitchFamily="18" charset="0"/>
                        </a:rPr>
                        <m:t>𝑊</m:t>
                      </m:r>
                      <m:r>
                        <a:rPr lang="en-US" sz="2000" i="1" dirty="0">
                          <a:latin typeface="Cambria Math" panose="02040503050406030204" pitchFamily="18" charset="0"/>
                        </a:rPr>
                        <m:t>≤ 12</m:t>
                      </m:r>
                    </m:oMath>
                  </m:oMathPara>
                </a14:m>
                <a:endParaRPr lang="en-US" sz="2000" dirty="0"/>
              </a:p>
            </p:txBody>
          </p:sp>
        </mc:Choice>
        <mc:Fallback xmlns="">
          <p:sp>
            <p:nvSpPr>
              <p:cNvPr id="10" name="Rectangle 9"/>
              <p:cNvSpPr>
                <a:spLocks noRot="1" noChangeAspect="1" noMove="1" noResize="1" noEditPoints="1" noAdjustHandles="1" noChangeArrowheads="1" noChangeShapeType="1" noTextEdit="1"/>
              </p:cNvSpPr>
              <p:nvPr/>
            </p:nvSpPr>
            <p:spPr>
              <a:xfrm>
                <a:off x="2851884" y="4100283"/>
                <a:ext cx="1988237" cy="40011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2065387" y="4406027"/>
                <a:ext cx="2813463" cy="400110"/>
              </a:xfrm>
              <a:prstGeom prst="rect">
                <a:avLst/>
              </a:prstGeom>
            </p:spPr>
            <p:txBody>
              <a:bodyPr wrap="none">
                <a:spAutoFit/>
              </a:bodyPr>
              <a:lstStyle/>
              <a:p>
                <a:pPr lvl="1"/>
                <a:r>
                  <a:rPr lang="en-US" sz="2000" dirty="0"/>
                  <a:t>       </a:t>
                </a:r>
                <a14:m>
                  <m:oMath xmlns:m="http://schemas.openxmlformats.org/officeDocument/2006/math">
                    <m:r>
                      <a:rPr lang="en-US" sz="2000" i="1" dirty="0">
                        <a:latin typeface="Cambria Math" panose="02040503050406030204" pitchFamily="18" charset="0"/>
                      </a:rPr>
                      <m:t>3</m:t>
                    </m:r>
                    <m:r>
                      <a:rPr lang="en-US" sz="2000" i="1" dirty="0">
                        <a:latin typeface="Cambria Math" panose="02040503050406030204" pitchFamily="18" charset="0"/>
                      </a:rPr>
                      <m:t>𝐷</m:t>
                    </m:r>
                    <m:r>
                      <a:rPr lang="en-US" sz="2000" i="1" dirty="0">
                        <a:latin typeface="Cambria Math" panose="02040503050406030204" pitchFamily="18" charset="0"/>
                      </a:rPr>
                      <m:t>+2</m:t>
                    </m:r>
                    <m:r>
                      <a:rPr lang="en-US" sz="2000" i="1" dirty="0">
                        <a:latin typeface="Cambria Math" panose="02040503050406030204" pitchFamily="18" charset="0"/>
                      </a:rPr>
                      <m:t>𝑊</m:t>
                    </m:r>
                    <m:r>
                      <a:rPr lang="en-US" sz="2000" i="1" dirty="0">
                        <a:latin typeface="Cambria Math" panose="02040503050406030204" pitchFamily="18" charset="0"/>
                      </a:rPr>
                      <m:t> ≤ 18</m:t>
                    </m:r>
                  </m:oMath>
                </a14:m>
                <a:endParaRPr lang="en-US" sz="2000" i="1" dirty="0"/>
              </a:p>
            </p:txBody>
          </p:sp>
        </mc:Choice>
        <mc:Fallback xmlns="">
          <p:sp>
            <p:nvSpPr>
              <p:cNvPr id="11" name="Rectangle 10"/>
              <p:cNvSpPr>
                <a:spLocks noRot="1" noChangeAspect="1" noMove="1" noResize="1" noEditPoints="1" noAdjustHandles="1" noChangeArrowheads="1" noChangeShapeType="1" noTextEdit="1"/>
              </p:cNvSpPr>
              <p:nvPr/>
            </p:nvSpPr>
            <p:spPr>
              <a:xfrm>
                <a:off x="2065387" y="4406027"/>
                <a:ext cx="2813463" cy="40011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2065387" y="4764222"/>
                <a:ext cx="2538452" cy="400110"/>
              </a:xfrm>
              <a:prstGeom prst="rect">
                <a:avLst/>
              </a:prstGeom>
            </p:spPr>
            <p:txBody>
              <a:bodyPr wrap="none">
                <a:spAutoFit/>
              </a:bodyPr>
              <a:lstStyle/>
              <a:p>
                <a:pPr lvl="1"/>
                <a:r>
                  <a:rPr lang="en-US" sz="2000" dirty="0"/>
                  <a:t>      </a:t>
                </a:r>
                <a14:m>
                  <m:oMath xmlns:m="http://schemas.openxmlformats.org/officeDocument/2006/math">
                    <m:r>
                      <a:rPr lang="en-US" sz="2000" i="1" dirty="0" smtClean="0">
                        <a:latin typeface="Cambria Math" panose="02040503050406030204" pitchFamily="18" charset="0"/>
                      </a:rPr>
                      <m:t>𝐷</m:t>
                    </m:r>
                    <m:r>
                      <a:rPr lang="en-US" sz="2000" i="1" dirty="0" smtClean="0">
                        <a:latin typeface="Cambria Math" panose="02040503050406030204" pitchFamily="18" charset="0"/>
                      </a:rPr>
                      <m:t>≥0, </m:t>
                    </m:r>
                    <m:r>
                      <a:rPr lang="en-US" sz="2000" i="1" dirty="0">
                        <a:latin typeface="Cambria Math" panose="02040503050406030204" pitchFamily="18" charset="0"/>
                      </a:rPr>
                      <m:t>𝑊</m:t>
                    </m:r>
                    <m:r>
                      <a:rPr lang="en-US" sz="2000" i="1" dirty="0">
                        <a:latin typeface="Cambria Math" panose="02040503050406030204" pitchFamily="18" charset="0"/>
                      </a:rPr>
                      <m:t> ≥0</m:t>
                    </m:r>
                  </m:oMath>
                </a14:m>
                <a:endParaRPr lang="en-US" sz="2000" i="1" dirty="0"/>
              </a:p>
            </p:txBody>
          </p:sp>
        </mc:Choice>
        <mc:Fallback xmlns="">
          <p:sp>
            <p:nvSpPr>
              <p:cNvPr id="12" name="Rectangle 11"/>
              <p:cNvSpPr>
                <a:spLocks noRot="1" noChangeAspect="1" noMove="1" noResize="1" noEditPoints="1" noAdjustHandles="1" noChangeArrowheads="1" noChangeShapeType="1" noTextEdit="1"/>
              </p:cNvSpPr>
              <p:nvPr/>
            </p:nvSpPr>
            <p:spPr>
              <a:xfrm>
                <a:off x="2065387" y="4764222"/>
                <a:ext cx="2538452" cy="400110"/>
              </a:xfrm>
              <a:prstGeom prst="rect">
                <a:avLst/>
              </a:prstGeom>
              <a:blipFill rotWithShape="0">
                <a:blip r:embed="rId7"/>
                <a:stretch>
                  <a:fillRect/>
                </a:stretch>
              </a:blipFill>
            </p:spPr>
            <p:txBody>
              <a:bodyPr/>
              <a:lstStyle/>
              <a:p>
                <a:r>
                  <a:rPr lang="en-US">
                    <a:noFill/>
                  </a:rPr>
                  <a:t> </a:t>
                </a:r>
              </a:p>
            </p:txBody>
          </p:sp>
        </mc:Fallback>
      </mc:AlternateContent>
      <p:sp>
        <p:nvSpPr>
          <p:cNvPr id="13" name="Rectangle 12"/>
          <p:cNvSpPr/>
          <p:nvPr/>
        </p:nvSpPr>
        <p:spPr>
          <a:xfrm>
            <a:off x="1156238" y="3406312"/>
            <a:ext cx="3869151" cy="175802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8"/>
          <a:stretch>
            <a:fillRect/>
          </a:stretch>
        </p:blipFill>
        <p:spPr>
          <a:xfrm>
            <a:off x="5680085" y="2764938"/>
            <a:ext cx="4732985" cy="3452848"/>
          </a:xfrm>
          <a:prstGeom prst="rect">
            <a:avLst/>
          </a:prstGeom>
        </p:spPr>
      </p:pic>
      <p:sp>
        <p:nvSpPr>
          <p:cNvPr id="14" name="Rounded Rectangular Callout 13"/>
          <p:cNvSpPr/>
          <p:nvPr/>
        </p:nvSpPr>
        <p:spPr>
          <a:xfrm>
            <a:off x="6553200" y="4491362"/>
            <a:ext cx="2057400" cy="794508"/>
          </a:xfrm>
          <a:prstGeom prst="wedgeRoundRectCallout">
            <a:avLst>
              <a:gd name="adj1" fmla="val -3796"/>
              <a:gd name="adj2" fmla="val -173435"/>
              <a:gd name="adj3" fmla="val 1666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(2,6) is the unique optimum</a:t>
            </a:r>
          </a:p>
        </p:txBody>
      </p:sp>
    </p:spTree>
    <p:extLst>
      <p:ext uri="{BB962C8B-B14F-4D97-AF65-F5344CB8AC3E}">
        <p14:creationId xmlns:p14="http://schemas.microsoft.com/office/powerpoint/2010/main" val="1896057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animBg="1"/>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Excel Solver Outputs</a:t>
            </a:r>
          </a:p>
        </p:txBody>
      </p:sp>
      <p:sp>
        <p:nvSpPr>
          <p:cNvPr id="3" name="Content Placeholder 2"/>
          <p:cNvSpPr>
            <a:spLocks noGrp="1"/>
          </p:cNvSpPr>
          <p:nvPr>
            <p:ph idx="1"/>
          </p:nvPr>
        </p:nvSpPr>
        <p:spPr/>
        <p:txBody>
          <a:bodyPr>
            <a:normAutofit lnSpcReduction="10000"/>
          </a:bodyPr>
          <a:lstStyle/>
          <a:p>
            <a:r>
              <a:rPr lang="en-US" b="1" u="sng" dirty="0" err="1"/>
              <a:t>Wyndor</a:t>
            </a:r>
            <a:r>
              <a:rPr lang="en-US" b="1" u="sng" dirty="0"/>
              <a:t> Glass Co. problem with </a:t>
            </a:r>
            <a:r>
              <a:rPr lang="en-US" b="1" u="sng" dirty="0">
                <a:solidFill>
                  <a:srgbClr val="C00000"/>
                </a:solidFill>
              </a:rPr>
              <a:t>unique optimum:</a:t>
            </a:r>
          </a:p>
          <a:p>
            <a:r>
              <a:rPr lang="en-US" dirty="0"/>
              <a:t>Consider the original </a:t>
            </a:r>
            <a:r>
              <a:rPr lang="en-US" dirty="0" err="1"/>
              <a:t>Wyndor</a:t>
            </a:r>
            <a:r>
              <a:rPr lang="en-US" dirty="0"/>
              <a:t> model in spreadsheet</a:t>
            </a:r>
          </a:p>
          <a:p>
            <a:endParaRPr lang="en-US" dirty="0"/>
          </a:p>
          <a:p>
            <a:endParaRPr lang="en-US" dirty="0"/>
          </a:p>
          <a:p>
            <a:endParaRPr lang="en-US" dirty="0"/>
          </a:p>
          <a:p>
            <a:endParaRPr lang="en-US" dirty="0"/>
          </a:p>
          <a:p>
            <a:endParaRPr lang="en-US" dirty="0"/>
          </a:p>
          <a:p>
            <a:pPr lvl="1"/>
            <a:r>
              <a:rPr lang="en-US" dirty="0"/>
              <a:t>The solver says </a:t>
            </a:r>
          </a:p>
          <a:p>
            <a:pPr lvl="2"/>
            <a:r>
              <a:rPr lang="en-US" dirty="0"/>
              <a:t>“Solver found a solution. All constraints and optimality conditions are satisfied”</a:t>
            </a:r>
          </a:p>
          <a:p>
            <a:pPr lvl="2"/>
            <a:r>
              <a:rPr lang="en-US" dirty="0"/>
              <a:t>This means that the returned solution is an optimum solution when Simplex LP is used</a:t>
            </a:r>
          </a:p>
          <a:p>
            <a:pPr lvl="2"/>
            <a:r>
              <a:rPr lang="en-US" dirty="0"/>
              <a:t>But, Solver did not tell us if this is the unique optimum or we have alternative optima</a:t>
            </a:r>
            <a:br>
              <a:rPr lang="en-US" dirty="0"/>
            </a:b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2">
              <a:tabLst>
                <a:tab pos="1712913" algn="l"/>
              </a:tabLst>
            </a:pPr>
            <a:endParaRPr lang="en-US" dirty="0"/>
          </a:p>
        </p:txBody>
      </p:sp>
      <p:pic>
        <p:nvPicPr>
          <p:cNvPr id="6" name="Picture 5"/>
          <p:cNvPicPr>
            <a:picLocks noChangeAspect="1"/>
          </p:cNvPicPr>
          <p:nvPr/>
        </p:nvPicPr>
        <p:blipFill>
          <a:blip r:embed="rId3"/>
          <a:stretch>
            <a:fillRect/>
          </a:stretch>
        </p:blipFill>
        <p:spPr>
          <a:xfrm>
            <a:off x="987125" y="2711665"/>
            <a:ext cx="4410075" cy="2114550"/>
          </a:xfrm>
          <a:prstGeom prst="rect">
            <a:avLst/>
          </a:prstGeom>
        </p:spPr>
      </p:pic>
      <p:pic>
        <p:nvPicPr>
          <p:cNvPr id="7" name="Picture 6"/>
          <p:cNvPicPr>
            <a:picLocks noChangeAspect="1"/>
          </p:cNvPicPr>
          <p:nvPr/>
        </p:nvPicPr>
        <p:blipFill>
          <a:blip r:embed="rId4"/>
          <a:stretch>
            <a:fillRect/>
          </a:stretch>
        </p:blipFill>
        <p:spPr>
          <a:xfrm>
            <a:off x="6286713" y="2475663"/>
            <a:ext cx="3136289" cy="2350552"/>
          </a:xfrm>
          <a:prstGeom prst="rect">
            <a:avLst/>
          </a:prstGeom>
        </p:spPr>
      </p:pic>
    </p:spTree>
    <p:extLst>
      <p:ext uri="{BB962C8B-B14F-4D97-AF65-F5344CB8AC3E}">
        <p14:creationId xmlns:p14="http://schemas.microsoft.com/office/powerpoint/2010/main" val="2690326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Excel Solver Outputs</a:t>
            </a:r>
          </a:p>
        </p:txBody>
      </p:sp>
      <p:sp>
        <p:nvSpPr>
          <p:cNvPr id="3" name="Content Placeholder 2"/>
          <p:cNvSpPr>
            <a:spLocks noGrp="1"/>
          </p:cNvSpPr>
          <p:nvPr>
            <p:ph idx="1"/>
          </p:nvPr>
        </p:nvSpPr>
        <p:spPr/>
        <p:txBody>
          <a:bodyPr/>
          <a:lstStyle/>
          <a:p>
            <a:r>
              <a:rPr lang="en-US" b="1" u="sng" dirty="0" err="1"/>
              <a:t>Wyndor</a:t>
            </a:r>
            <a:r>
              <a:rPr lang="en-US" b="1" u="sng" dirty="0"/>
              <a:t> Glass Co. problem with </a:t>
            </a:r>
            <a:r>
              <a:rPr lang="en-US" b="1" u="sng" dirty="0">
                <a:solidFill>
                  <a:srgbClr val="C00000"/>
                </a:solidFill>
              </a:rPr>
              <a:t>alternative optima:</a:t>
            </a:r>
          </a:p>
          <a:p>
            <a:r>
              <a:rPr lang="en-US" dirty="0"/>
              <a:t>Consider the </a:t>
            </a:r>
            <a:r>
              <a:rPr lang="en-US" dirty="0" err="1"/>
              <a:t>Wyndor</a:t>
            </a:r>
            <a:r>
              <a:rPr lang="en-US" dirty="0"/>
              <a:t> model such that the unit profit for windows is $200 instead of $500 (everything else in the model is the same)</a:t>
            </a:r>
          </a:p>
          <a:p>
            <a:pPr lvl="1"/>
            <a:r>
              <a:rPr lang="en-US" dirty="0"/>
              <a:t>In this case, we can show that (D=2, W=6) and (D=4, W=3) are the two corner point solutions which are both optimum, thus, we have alternative optima</a:t>
            </a:r>
          </a:p>
          <a:p>
            <a:endParaRPr lang="en-US" dirty="0"/>
          </a:p>
          <a:p>
            <a:endParaRPr lang="en-US" dirty="0"/>
          </a:p>
          <a:p>
            <a:endParaRPr lang="en-US" dirty="0"/>
          </a:p>
          <a:p>
            <a:endParaRPr lang="en-US" dirty="0"/>
          </a:p>
          <a:p>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2">
              <a:tabLst>
                <a:tab pos="1712913" algn="l"/>
              </a:tabLst>
            </a:pPr>
            <a:endParaRPr lang="en-US" dirty="0"/>
          </a:p>
        </p:txBody>
      </p:sp>
      <p:pic>
        <p:nvPicPr>
          <p:cNvPr id="6" name="Picture 5"/>
          <p:cNvPicPr>
            <a:picLocks noChangeAspect="1"/>
          </p:cNvPicPr>
          <p:nvPr/>
        </p:nvPicPr>
        <p:blipFill>
          <a:blip r:embed="rId3"/>
          <a:stretch>
            <a:fillRect/>
          </a:stretch>
        </p:blipFill>
        <p:spPr>
          <a:xfrm>
            <a:off x="6381627" y="3330142"/>
            <a:ext cx="4271133" cy="3208770"/>
          </a:xfrm>
          <a:prstGeom prst="rect">
            <a:avLst/>
          </a:prstGeom>
        </p:spPr>
      </p:pic>
      <mc:AlternateContent xmlns:mc="http://schemas.openxmlformats.org/markup-compatibility/2006" xmlns:a14="http://schemas.microsoft.com/office/drawing/2010/main">
        <mc:Choice Requires="a14">
          <p:sp>
            <p:nvSpPr>
              <p:cNvPr id="8" name="Rectangle 7"/>
              <p:cNvSpPr/>
              <p:nvPr/>
            </p:nvSpPr>
            <p:spPr>
              <a:xfrm>
                <a:off x="884011" y="3732338"/>
                <a:ext cx="4674870" cy="400110"/>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  </m:t>
                      </m:r>
                      <m:r>
                        <a:rPr lang="en-US" sz="2000" i="1" dirty="0">
                          <a:latin typeface="Cambria Math" panose="02040503050406030204" pitchFamily="18" charset="0"/>
                        </a:rPr>
                        <m:t>𝑀𝑎𝑥𝑖𝑚𝑖𝑧𝑒</m:t>
                      </m:r>
                      <m:r>
                        <a:rPr lang="en-US" sz="2000" i="1" dirty="0">
                          <a:latin typeface="Cambria Math" panose="02040503050406030204" pitchFamily="18" charset="0"/>
                        </a:rPr>
                        <m:t>       300</m:t>
                      </m:r>
                      <m:r>
                        <a:rPr lang="en-US" sz="2000" i="1" dirty="0">
                          <a:latin typeface="Cambria Math" panose="02040503050406030204" pitchFamily="18" charset="0"/>
                        </a:rPr>
                        <m:t>𝐷</m:t>
                      </m:r>
                      <m:r>
                        <a:rPr lang="en-US" sz="2000" i="1" dirty="0">
                          <a:latin typeface="Cambria Math" panose="02040503050406030204" pitchFamily="18" charset="0"/>
                        </a:rPr>
                        <m:t>+</m:t>
                      </m:r>
                      <m:r>
                        <a:rPr lang="en-US" sz="2000" b="1" i="1" dirty="0" smtClean="0">
                          <a:solidFill>
                            <a:srgbClr val="C00000"/>
                          </a:solidFill>
                          <a:latin typeface="Cambria Math" panose="02040503050406030204" pitchFamily="18" charset="0"/>
                        </a:rPr>
                        <m:t>𝟐</m:t>
                      </m:r>
                      <m:r>
                        <a:rPr lang="en-US" sz="2000" b="1" i="1" dirty="0">
                          <a:solidFill>
                            <a:srgbClr val="C00000"/>
                          </a:solidFill>
                          <a:latin typeface="Cambria Math" panose="02040503050406030204" pitchFamily="18" charset="0"/>
                        </a:rPr>
                        <m:t>𝟎𝟎</m:t>
                      </m:r>
                      <m:r>
                        <a:rPr lang="en-US" sz="2000" i="1" dirty="0">
                          <a:latin typeface="Cambria Math" panose="02040503050406030204" pitchFamily="18" charset="0"/>
                        </a:rPr>
                        <m:t>𝑊</m:t>
                      </m:r>
                    </m:oMath>
                  </m:oMathPara>
                </a14:m>
                <a:endParaRPr lang="en-US" sz="2000" i="1" dirty="0">
                  <a:latin typeface="Cambria Math" panose="02040503050406030204"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884011" y="3732338"/>
                <a:ext cx="4674870" cy="40011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299550" y="4061766"/>
                <a:ext cx="3722611"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𝑠𝑢𝑏𝑗𝑒𝑐𝑡</m:t>
                      </m:r>
                      <m:r>
                        <a:rPr lang="en-US" sz="2000" i="1" dirty="0" smtClean="0">
                          <a:latin typeface="Cambria Math" panose="02040503050406030204" pitchFamily="18" charset="0"/>
                        </a:rPr>
                        <m:t> </m:t>
                      </m:r>
                      <m:r>
                        <a:rPr lang="en-US" sz="2000" i="1" dirty="0" smtClean="0">
                          <a:latin typeface="Cambria Math" panose="02040503050406030204" pitchFamily="18" charset="0"/>
                        </a:rPr>
                        <m:t>𝑡𝑜</m:t>
                      </m:r>
                      <m:r>
                        <a:rPr lang="en-US" sz="2000" i="1" dirty="0" smtClean="0">
                          <a:latin typeface="Cambria Math" panose="02040503050406030204" pitchFamily="18" charset="0"/>
                        </a:rPr>
                        <m:t>         </m:t>
                      </m:r>
                      <m:r>
                        <a:rPr lang="en-US" sz="2000" i="1" dirty="0" smtClean="0">
                          <a:latin typeface="Cambria Math" panose="02040503050406030204" pitchFamily="18" charset="0"/>
                        </a:rPr>
                        <m:t>𝐷</m:t>
                      </m:r>
                      <m:r>
                        <a:rPr lang="en-US" sz="2000" b="0" i="1" dirty="0" smtClean="0">
                          <a:latin typeface="Cambria Math" panose="02040503050406030204" pitchFamily="18" charset="0"/>
                        </a:rPr>
                        <m:t>    </m:t>
                      </m:r>
                      <m:r>
                        <a:rPr lang="en-US" sz="2000" i="1" dirty="0" smtClean="0">
                          <a:latin typeface="Cambria Math" panose="02040503050406030204" pitchFamily="18" charset="0"/>
                        </a:rPr>
                        <m:t>      </m:t>
                      </m:r>
                      <m:r>
                        <a:rPr lang="en-US" sz="2000" b="0" i="1" dirty="0" smtClean="0">
                          <a:latin typeface="Cambria Math" panose="02040503050406030204" pitchFamily="18" charset="0"/>
                        </a:rPr>
                        <m:t>    </m:t>
                      </m:r>
                      <m:r>
                        <a:rPr lang="en-US" sz="2000" i="1" dirty="0" smtClean="0">
                          <a:latin typeface="Cambria Math" panose="02040503050406030204" pitchFamily="18" charset="0"/>
                        </a:rPr>
                        <m:t>≤ 4</m:t>
                      </m:r>
                    </m:oMath>
                  </m:oMathPara>
                </a14:m>
                <a:endParaRPr lang="en-US" sz="2000" dirty="0"/>
              </a:p>
            </p:txBody>
          </p:sp>
        </mc:Choice>
        <mc:Fallback xmlns="">
          <p:sp>
            <p:nvSpPr>
              <p:cNvPr id="9" name="Rectangle 8"/>
              <p:cNvSpPr>
                <a:spLocks noRot="1" noChangeAspect="1" noMove="1" noResize="1" noEditPoints="1" noAdjustHandles="1" noChangeArrowheads="1" noChangeShapeType="1" noTextEdit="1"/>
              </p:cNvSpPr>
              <p:nvPr/>
            </p:nvSpPr>
            <p:spPr>
              <a:xfrm>
                <a:off x="1299550" y="4061766"/>
                <a:ext cx="3722611" cy="400110"/>
              </a:xfrm>
              <a:prstGeom prst="rect">
                <a:avLst/>
              </a:prstGeom>
              <a:blipFill rotWithShape="0">
                <a:blip r:embed="rId5"/>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2995196" y="4414879"/>
                <a:ext cx="198823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            </m:t>
                      </m:r>
                      <m:r>
                        <a:rPr lang="en-US" sz="2000" i="1" dirty="0" smtClean="0">
                          <a:latin typeface="Cambria Math" panose="02040503050406030204" pitchFamily="18" charset="0"/>
                        </a:rPr>
                        <m:t>2</m:t>
                      </m:r>
                      <m:r>
                        <a:rPr lang="en-US" sz="2000" i="1" dirty="0" smtClean="0">
                          <a:latin typeface="Cambria Math" panose="02040503050406030204" pitchFamily="18" charset="0"/>
                        </a:rPr>
                        <m:t>𝑊</m:t>
                      </m:r>
                      <m:r>
                        <a:rPr lang="en-US" sz="2000" i="1" dirty="0">
                          <a:latin typeface="Cambria Math" panose="02040503050406030204" pitchFamily="18" charset="0"/>
                        </a:rPr>
                        <m:t>≤ 12</m:t>
                      </m:r>
                    </m:oMath>
                  </m:oMathPara>
                </a14:m>
                <a:endParaRPr lang="en-US" sz="2000" dirty="0"/>
              </a:p>
            </p:txBody>
          </p:sp>
        </mc:Choice>
        <mc:Fallback xmlns="">
          <p:sp>
            <p:nvSpPr>
              <p:cNvPr id="10" name="Rectangle 9"/>
              <p:cNvSpPr>
                <a:spLocks noRot="1" noChangeAspect="1" noMove="1" noResize="1" noEditPoints="1" noAdjustHandles="1" noChangeArrowheads="1" noChangeShapeType="1" noTextEdit="1"/>
              </p:cNvSpPr>
              <p:nvPr/>
            </p:nvSpPr>
            <p:spPr>
              <a:xfrm>
                <a:off x="2995196" y="4414879"/>
                <a:ext cx="1988237" cy="40011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2208699" y="4720623"/>
                <a:ext cx="2813463" cy="400110"/>
              </a:xfrm>
              <a:prstGeom prst="rect">
                <a:avLst/>
              </a:prstGeom>
            </p:spPr>
            <p:txBody>
              <a:bodyPr wrap="none">
                <a:spAutoFit/>
              </a:bodyPr>
              <a:lstStyle/>
              <a:p>
                <a:pPr lvl="1"/>
                <a:r>
                  <a:rPr lang="en-US" sz="2000" dirty="0"/>
                  <a:t>       </a:t>
                </a:r>
                <a14:m>
                  <m:oMath xmlns:m="http://schemas.openxmlformats.org/officeDocument/2006/math">
                    <m:r>
                      <a:rPr lang="en-US" sz="2000" i="1" dirty="0">
                        <a:latin typeface="Cambria Math" panose="02040503050406030204" pitchFamily="18" charset="0"/>
                      </a:rPr>
                      <m:t>3</m:t>
                    </m:r>
                    <m:r>
                      <a:rPr lang="en-US" sz="2000" i="1" dirty="0">
                        <a:latin typeface="Cambria Math" panose="02040503050406030204" pitchFamily="18" charset="0"/>
                      </a:rPr>
                      <m:t>𝐷</m:t>
                    </m:r>
                    <m:r>
                      <a:rPr lang="en-US" sz="2000" i="1" dirty="0">
                        <a:latin typeface="Cambria Math" panose="02040503050406030204" pitchFamily="18" charset="0"/>
                      </a:rPr>
                      <m:t>+2</m:t>
                    </m:r>
                    <m:r>
                      <a:rPr lang="en-US" sz="2000" i="1" dirty="0">
                        <a:latin typeface="Cambria Math" panose="02040503050406030204" pitchFamily="18" charset="0"/>
                      </a:rPr>
                      <m:t>𝑊</m:t>
                    </m:r>
                    <m:r>
                      <a:rPr lang="en-US" sz="2000" i="1" dirty="0">
                        <a:latin typeface="Cambria Math" panose="02040503050406030204" pitchFamily="18" charset="0"/>
                      </a:rPr>
                      <m:t> ≤ 18</m:t>
                    </m:r>
                  </m:oMath>
                </a14:m>
                <a:endParaRPr lang="en-US" sz="2000" i="1" dirty="0"/>
              </a:p>
            </p:txBody>
          </p:sp>
        </mc:Choice>
        <mc:Fallback xmlns="">
          <p:sp>
            <p:nvSpPr>
              <p:cNvPr id="11" name="Rectangle 10"/>
              <p:cNvSpPr>
                <a:spLocks noRot="1" noChangeAspect="1" noMove="1" noResize="1" noEditPoints="1" noAdjustHandles="1" noChangeArrowheads="1" noChangeShapeType="1" noTextEdit="1"/>
              </p:cNvSpPr>
              <p:nvPr/>
            </p:nvSpPr>
            <p:spPr>
              <a:xfrm>
                <a:off x="2208699" y="4720623"/>
                <a:ext cx="2813463" cy="40011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2208699" y="5078818"/>
                <a:ext cx="2538452" cy="400110"/>
              </a:xfrm>
              <a:prstGeom prst="rect">
                <a:avLst/>
              </a:prstGeom>
            </p:spPr>
            <p:txBody>
              <a:bodyPr wrap="none">
                <a:spAutoFit/>
              </a:bodyPr>
              <a:lstStyle/>
              <a:p>
                <a:pPr lvl="1"/>
                <a:r>
                  <a:rPr lang="en-US" sz="2000" dirty="0"/>
                  <a:t>      </a:t>
                </a:r>
                <a14:m>
                  <m:oMath xmlns:m="http://schemas.openxmlformats.org/officeDocument/2006/math">
                    <m:r>
                      <a:rPr lang="en-US" sz="2000" i="1" dirty="0" smtClean="0">
                        <a:latin typeface="Cambria Math" panose="02040503050406030204" pitchFamily="18" charset="0"/>
                      </a:rPr>
                      <m:t>𝐷</m:t>
                    </m:r>
                    <m:r>
                      <a:rPr lang="en-US" sz="2000" i="1" dirty="0" smtClean="0">
                        <a:latin typeface="Cambria Math" panose="02040503050406030204" pitchFamily="18" charset="0"/>
                      </a:rPr>
                      <m:t>≥0, </m:t>
                    </m:r>
                    <m:r>
                      <a:rPr lang="en-US" sz="2000" i="1" dirty="0">
                        <a:latin typeface="Cambria Math" panose="02040503050406030204" pitchFamily="18" charset="0"/>
                      </a:rPr>
                      <m:t>𝑊</m:t>
                    </m:r>
                    <m:r>
                      <a:rPr lang="en-US" sz="2000" i="1" dirty="0">
                        <a:latin typeface="Cambria Math" panose="02040503050406030204" pitchFamily="18" charset="0"/>
                      </a:rPr>
                      <m:t> ≥0</m:t>
                    </m:r>
                  </m:oMath>
                </a14:m>
                <a:endParaRPr lang="en-US" sz="2000" i="1" dirty="0"/>
              </a:p>
            </p:txBody>
          </p:sp>
        </mc:Choice>
        <mc:Fallback xmlns="">
          <p:sp>
            <p:nvSpPr>
              <p:cNvPr id="12" name="Rectangle 11"/>
              <p:cNvSpPr>
                <a:spLocks noRot="1" noChangeAspect="1" noMove="1" noResize="1" noEditPoints="1" noAdjustHandles="1" noChangeArrowheads="1" noChangeShapeType="1" noTextEdit="1"/>
              </p:cNvSpPr>
              <p:nvPr/>
            </p:nvSpPr>
            <p:spPr>
              <a:xfrm>
                <a:off x="2208699" y="5078818"/>
                <a:ext cx="2538452" cy="400110"/>
              </a:xfrm>
              <a:prstGeom prst="rect">
                <a:avLst/>
              </a:prstGeom>
              <a:blipFill rotWithShape="0">
                <a:blip r:embed="rId8"/>
                <a:stretch>
                  <a:fillRect/>
                </a:stretch>
              </a:blipFill>
            </p:spPr>
            <p:txBody>
              <a:bodyPr/>
              <a:lstStyle/>
              <a:p>
                <a:r>
                  <a:rPr lang="en-US">
                    <a:noFill/>
                  </a:rPr>
                  <a:t> </a:t>
                </a:r>
              </a:p>
            </p:txBody>
          </p:sp>
        </mc:Fallback>
      </mc:AlternateContent>
      <p:sp>
        <p:nvSpPr>
          <p:cNvPr id="13" name="Rectangle 12"/>
          <p:cNvSpPr/>
          <p:nvPr/>
        </p:nvSpPr>
        <p:spPr>
          <a:xfrm>
            <a:off x="1299550" y="3720908"/>
            <a:ext cx="3869151" cy="175802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ular Callout 13"/>
          <p:cNvSpPr/>
          <p:nvPr/>
        </p:nvSpPr>
        <p:spPr>
          <a:xfrm>
            <a:off x="6864347" y="4793288"/>
            <a:ext cx="1953962" cy="1223545"/>
          </a:xfrm>
          <a:prstGeom prst="wedgeRoundRectCallout">
            <a:avLst>
              <a:gd name="adj1" fmla="val -10814"/>
              <a:gd name="adj2" fmla="val -50672"/>
              <a:gd name="adj3" fmla="val 1666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(2,6) and (4,3) and everything in between are optimum</a:t>
            </a:r>
          </a:p>
        </p:txBody>
      </p:sp>
      <p:cxnSp>
        <p:nvCxnSpPr>
          <p:cNvPr id="16" name="Straight Arrow Connector 15"/>
          <p:cNvCxnSpPr>
            <a:stCxn id="14" idx="4"/>
          </p:cNvCxnSpPr>
          <p:nvPr/>
        </p:nvCxnSpPr>
        <p:spPr>
          <a:xfrm flipV="1">
            <a:off x="7630027" y="4061766"/>
            <a:ext cx="401453" cy="7233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4" idx="3"/>
          </p:cNvCxnSpPr>
          <p:nvPr/>
        </p:nvCxnSpPr>
        <p:spPr>
          <a:xfrm flipV="1">
            <a:off x="8818309" y="5120733"/>
            <a:ext cx="600011" cy="28432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8150860" y="3920519"/>
            <a:ext cx="1515096" cy="1146425"/>
          </a:xfrm>
          <a:prstGeom prst="line">
            <a:avLst/>
          </a:prstGeom>
          <a:ln w="101600">
            <a:solidFill>
              <a:srgbClr val="00B0F0"/>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000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animBg="1"/>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Excel Solver Outputs</a:t>
            </a:r>
          </a:p>
        </p:txBody>
      </p:sp>
      <p:sp>
        <p:nvSpPr>
          <p:cNvPr id="3" name="Content Placeholder 2"/>
          <p:cNvSpPr>
            <a:spLocks noGrp="1"/>
          </p:cNvSpPr>
          <p:nvPr>
            <p:ph idx="1"/>
          </p:nvPr>
        </p:nvSpPr>
        <p:spPr/>
        <p:txBody>
          <a:bodyPr>
            <a:normAutofit fontScale="92500" lnSpcReduction="10000"/>
          </a:bodyPr>
          <a:lstStyle/>
          <a:p>
            <a:r>
              <a:rPr lang="en-US" b="1" u="sng" dirty="0" err="1"/>
              <a:t>Wyndor</a:t>
            </a:r>
            <a:r>
              <a:rPr lang="en-US" b="1" u="sng" dirty="0"/>
              <a:t> Glass Co. problem with </a:t>
            </a:r>
            <a:r>
              <a:rPr lang="en-US" b="1" u="sng" dirty="0">
                <a:solidFill>
                  <a:srgbClr val="C00000"/>
                </a:solidFill>
              </a:rPr>
              <a:t>alternative optima:</a:t>
            </a:r>
          </a:p>
          <a:p>
            <a:r>
              <a:rPr lang="en-US" dirty="0"/>
              <a:t>Consider the </a:t>
            </a:r>
            <a:r>
              <a:rPr lang="en-US" dirty="0" err="1"/>
              <a:t>Wyndor</a:t>
            </a:r>
            <a:r>
              <a:rPr lang="en-US" dirty="0"/>
              <a:t> model such that the unit profit for windows is $200 instead of $500 (everything else in the model is the same)</a:t>
            </a:r>
          </a:p>
          <a:p>
            <a:pPr lvl="1"/>
            <a:r>
              <a:rPr lang="en-US" dirty="0"/>
              <a:t>In this case, we can show that (D=2, W=6) and (D=4, W=3) are the two corner point solutions which are both optimum, thus, we have alternative optima</a:t>
            </a:r>
          </a:p>
          <a:p>
            <a:endParaRPr lang="en-US" dirty="0"/>
          </a:p>
          <a:p>
            <a:endParaRPr lang="en-US" dirty="0"/>
          </a:p>
          <a:p>
            <a:endParaRPr lang="en-US" dirty="0"/>
          </a:p>
          <a:p>
            <a:endParaRPr lang="en-US" dirty="0"/>
          </a:p>
          <a:p>
            <a:endParaRPr lang="en-US" dirty="0"/>
          </a:p>
          <a:p>
            <a:pPr lvl="1"/>
            <a:r>
              <a:rPr lang="en-US" dirty="0"/>
              <a:t>The solver says the same thing!</a:t>
            </a:r>
          </a:p>
          <a:p>
            <a:pPr lvl="2"/>
            <a:r>
              <a:rPr lang="en-US" dirty="0"/>
              <a:t>“Solver found a solution. All constraints and optimality conditions are satisfied”</a:t>
            </a:r>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2">
              <a:tabLst>
                <a:tab pos="1712913" algn="l"/>
              </a:tabLst>
            </a:pPr>
            <a:endParaRPr lang="en-US" dirty="0"/>
          </a:p>
        </p:txBody>
      </p:sp>
      <p:pic>
        <p:nvPicPr>
          <p:cNvPr id="7" name="Picture 6"/>
          <p:cNvPicPr>
            <a:picLocks noChangeAspect="1"/>
          </p:cNvPicPr>
          <p:nvPr/>
        </p:nvPicPr>
        <p:blipFill>
          <a:blip r:embed="rId2"/>
          <a:stretch>
            <a:fillRect/>
          </a:stretch>
        </p:blipFill>
        <p:spPr>
          <a:xfrm>
            <a:off x="6738449" y="3129212"/>
            <a:ext cx="3136289" cy="2350552"/>
          </a:xfrm>
          <a:prstGeom prst="rect">
            <a:avLst/>
          </a:prstGeom>
        </p:spPr>
      </p:pic>
      <p:pic>
        <p:nvPicPr>
          <p:cNvPr id="5" name="Picture 4"/>
          <p:cNvPicPr>
            <a:picLocks noChangeAspect="1"/>
          </p:cNvPicPr>
          <p:nvPr/>
        </p:nvPicPr>
        <p:blipFill>
          <a:blip r:embed="rId3"/>
          <a:stretch>
            <a:fillRect/>
          </a:stretch>
        </p:blipFill>
        <p:spPr>
          <a:xfrm>
            <a:off x="1370263" y="3129212"/>
            <a:ext cx="4352925" cy="2095500"/>
          </a:xfrm>
          <a:prstGeom prst="rect">
            <a:avLst/>
          </a:prstGeom>
        </p:spPr>
      </p:pic>
    </p:spTree>
    <p:extLst>
      <p:ext uri="{BB962C8B-B14F-4D97-AF65-F5344CB8AC3E}">
        <p14:creationId xmlns:p14="http://schemas.microsoft.com/office/powerpoint/2010/main" val="4064486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Excel Solver Outputs</a:t>
            </a:r>
          </a:p>
        </p:txBody>
      </p:sp>
      <p:sp>
        <p:nvSpPr>
          <p:cNvPr id="3" name="Content Placeholder 2"/>
          <p:cNvSpPr>
            <a:spLocks noGrp="1"/>
          </p:cNvSpPr>
          <p:nvPr>
            <p:ph idx="1"/>
          </p:nvPr>
        </p:nvSpPr>
        <p:spPr/>
        <p:txBody>
          <a:bodyPr>
            <a:normAutofit fontScale="92500" lnSpcReduction="10000"/>
          </a:bodyPr>
          <a:lstStyle/>
          <a:p>
            <a:r>
              <a:rPr lang="en-US" dirty="0"/>
              <a:t>When the Solver says</a:t>
            </a:r>
          </a:p>
          <a:p>
            <a:pPr marL="0" indent="0">
              <a:buNone/>
            </a:pPr>
            <a:r>
              <a:rPr lang="en-US" dirty="0"/>
              <a:t>	</a:t>
            </a:r>
            <a:r>
              <a:rPr lang="en-US" sz="2400" dirty="0"/>
              <a:t>“Solver found a solution. All constraints and optimality conditions are satisfied”</a:t>
            </a:r>
          </a:p>
          <a:p>
            <a:pPr marL="0" indent="0">
              <a:buNone/>
            </a:pPr>
            <a:r>
              <a:rPr lang="en-US" dirty="0"/>
              <a:t>   it means that Solver found an optimum solution</a:t>
            </a:r>
          </a:p>
          <a:p>
            <a:r>
              <a:rPr lang="en-US" dirty="0"/>
              <a:t>Indeed, when our model is a linear programming </a:t>
            </a:r>
          </a:p>
          <a:p>
            <a:pPr marL="0" indent="0">
              <a:buNone/>
            </a:pPr>
            <a:r>
              <a:rPr lang="en-US" dirty="0"/>
              <a:t>   model and we use ‘Simplex LP’ to solve it: </a:t>
            </a:r>
          </a:p>
          <a:p>
            <a:pPr lvl="1"/>
            <a:r>
              <a:rPr lang="en-US" dirty="0"/>
              <a:t>Excel Solver will find an optimum solution </a:t>
            </a:r>
          </a:p>
          <a:p>
            <a:pPr marL="457200" lvl="1" indent="0">
              <a:buNone/>
            </a:pPr>
            <a:r>
              <a:rPr lang="en-US" dirty="0"/>
              <a:t>   if there exists one</a:t>
            </a:r>
          </a:p>
          <a:p>
            <a:pPr lvl="1"/>
            <a:r>
              <a:rPr lang="en-US" dirty="0"/>
              <a:t>However, it will not tell if it is the unique optimum </a:t>
            </a:r>
          </a:p>
          <a:p>
            <a:pPr marL="457200" lvl="1" indent="0">
              <a:buNone/>
            </a:pPr>
            <a:r>
              <a:rPr lang="en-US" dirty="0"/>
              <a:t>  solution or it is one of the alternative optimum </a:t>
            </a:r>
          </a:p>
          <a:p>
            <a:pPr marL="457200" lvl="1" indent="0">
              <a:buNone/>
            </a:pPr>
            <a:r>
              <a:rPr lang="en-US" dirty="0"/>
              <a:t>  solutions</a:t>
            </a:r>
          </a:p>
          <a:p>
            <a:pPr marL="0" indent="0">
              <a:buNone/>
            </a:pPr>
            <a:br>
              <a:rPr lang="en-US" dirty="0"/>
            </a:b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2">
              <a:tabLst>
                <a:tab pos="1712913" algn="l"/>
              </a:tabLst>
            </a:pPr>
            <a:endParaRPr lang="en-US" dirty="0"/>
          </a:p>
        </p:txBody>
      </p:sp>
      <p:pic>
        <p:nvPicPr>
          <p:cNvPr id="5" name="Picture 4"/>
          <p:cNvPicPr>
            <a:picLocks noChangeAspect="1"/>
          </p:cNvPicPr>
          <p:nvPr/>
        </p:nvPicPr>
        <p:blipFill>
          <a:blip r:embed="rId3"/>
          <a:stretch>
            <a:fillRect/>
          </a:stretch>
        </p:blipFill>
        <p:spPr>
          <a:xfrm>
            <a:off x="7816896" y="3166708"/>
            <a:ext cx="4016516" cy="3010255"/>
          </a:xfrm>
          <a:prstGeom prst="rect">
            <a:avLst/>
          </a:prstGeom>
        </p:spPr>
      </p:pic>
    </p:spTree>
    <p:extLst>
      <p:ext uri="{BB962C8B-B14F-4D97-AF65-F5344CB8AC3E}">
        <p14:creationId xmlns:p14="http://schemas.microsoft.com/office/powerpoint/2010/main" val="107561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Excel Solver Outputs</a:t>
            </a:r>
          </a:p>
        </p:txBody>
      </p:sp>
      <p:sp>
        <p:nvSpPr>
          <p:cNvPr id="3" name="Content Placeholder 2"/>
          <p:cNvSpPr>
            <a:spLocks noGrp="1"/>
          </p:cNvSpPr>
          <p:nvPr>
            <p:ph idx="1"/>
          </p:nvPr>
        </p:nvSpPr>
        <p:spPr/>
        <p:txBody>
          <a:bodyPr/>
          <a:lstStyle/>
          <a:p>
            <a:r>
              <a:rPr lang="en-US" b="1" u="sng" dirty="0" err="1"/>
              <a:t>Wyndor</a:t>
            </a:r>
            <a:r>
              <a:rPr lang="en-US" b="1" u="sng" dirty="0"/>
              <a:t> Glass Co. problem with </a:t>
            </a:r>
            <a:r>
              <a:rPr lang="en-US" b="1" u="sng" dirty="0">
                <a:solidFill>
                  <a:srgbClr val="C00000"/>
                </a:solidFill>
              </a:rPr>
              <a:t>infeasibility:</a:t>
            </a:r>
          </a:p>
          <a:p>
            <a:r>
              <a:rPr lang="en-US" dirty="0"/>
              <a:t>Consider the original </a:t>
            </a:r>
            <a:r>
              <a:rPr lang="en-US" dirty="0" err="1"/>
              <a:t>Wyndor</a:t>
            </a:r>
            <a:r>
              <a:rPr lang="en-US" dirty="0"/>
              <a:t> model with the additional restriction that we should produce at least 10 doors per week	</a:t>
            </a:r>
          </a:p>
          <a:p>
            <a:pPr lvl="1"/>
            <a:r>
              <a:rPr lang="en-US" dirty="0"/>
              <a:t>That is, we will add D&gt;=10 as a new constraint to the model</a:t>
            </a:r>
          </a:p>
          <a:p>
            <a:pPr lvl="1"/>
            <a:r>
              <a:rPr lang="en-US" dirty="0"/>
              <a:t>Originally, we had D&lt;=4, thus, the new constraint makes the model infeasible</a:t>
            </a:r>
          </a:p>
          <a:p>
            <a:endParaRPr lang="en-US" dirty="0"/>
          </a:p>
          <a:p>
            <a:endParaRPr lang="en-US" dirty="0"/>
          </a:p>
          <a:p>
            <a:endParaRPr lang="en-US" dirty="0"/>
          </a:p>
          <a:p>
            <a:endParaRPr lang="en-US" dirty="0"/>
          </a:p>
          <a:p>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2">
              <a:tabLst>
                <a:tab pos="1712913" algn="l"/>
              </a:tabLst>
            </a:pPr>
            <a:endParaRPr lang="en-US" dirty="0"/>
          </a:p>
        </p:txBody>
      </p:sp>
      <mc:AlternateContent xmlns:mc="http://schemas.openxmlformats.org/markup-compatibility/2006" xmlns:a14="http://schemas.microsoft.com/office/drawing/2010/main">
        <mc:Choice Requires="a14">
          <p:sp>
            <p:nvSpPr>
              <p:cNvPr id="7" name="Rectangle 6"/>
              <p:cNvSpPr/>
              <p:nvPr/>
            </p:nvSpPr>
            <p:spPr>
              <a:xfrm>
                <a:off x="640171" y="3839018"/>
                <a:ext cx="4674870" cy="400110"/>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  </m:t>
                      </m:r>
                      <m:r>
                        <a:rPr lang="en-US" sz="2000" i="1" dirty="0">
                          <a:latin typeface="Cambria Math" panose="02040503050406030204" pitchFamily="18" charset="0"/>
                        </a:rPr>
                        <m:t>𝑀𝑎𝑥𝑖𝑚𝑖𝑧𝑒</m:t>
                      </m:r>
                      <m:r>
                        <a:rPr lang="en-US" sz="2000" i="1" dirty="0">
                          <a:latin typeface="Cambria Math" panose="02040503050406030204" pitchFamily="18" charset="0"/>
                        </a:rPr>
                        <m:t>       300</m:t>
                      </m:r>
                      <m:r>
                        <a:rPr lang="en-US" sz="2000" i="1" dirty="0">
                          <a:latin typeface="Cambria Math" panose="02040503050406030204" pitchFamily="18" charset="0"/>
                        </a:rPr>
                        <m:t>𝐷</m:t>
                      </m:r>
                      <m:r>
                        <a:rPr lang="en-US" sz="2000" i="1" dirty="0">
                          <a:latin typeface="Cambria Math" panose="02040503050406030204" pitchFamily="18" charset="0"/>
                        </a:rPr>
                        <m:t>+500</m:t>
                      </m:r>
                      <m:r>
                        <a:rPr lang="en-US" sz="2000" i="1" dirty="0">
                          <a:latin typeface="Cambria Math" panose="02040503050406030204" pitchFamily="18" charset="0"/>
                        </a:rPr>
                        <m:t>𝑊</m:t>
                      </m:r>
                    </m:oMath>
                  </m:oMathPara>
                </a14:m>
                <a:endParaRPr lang="en-US" sz="2000" i="1" dirty="0">
                  <a:latin typeface="Cambria Math" panose="02040503050406030204"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640171" y="3839018"/>
                <a:ext cx="4674870" cy="40011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055710" y="4168446"/>
                <a:ext cx="3722611"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𝑠𝑢𝑏𝑗𝑒𝑐𝑡</m:t>
                      </m:r>
                      <m:r>
                        <a:rPr lang="en-US" sz="2000" i="1" dirty="0" smtClean="0">
                          <a:latin typeface="Cambria Math" panose="02040503050406030204" pitchFamily="18" charset="0"/>
                        </a:rPr>
                        <m:t> </m:t>
                      </m:r>
                      <m:r>
                        <a:rPr lang="en-US" sz="2000" i="1" dirty="0" smtClean="0">
                          <a:latin typeface="Cambria Math" panose="02040503050406030204" pitchFamily="18" charset="0"/>
                        </a:rPr>
                        <m:t>𝑡𝑜</m:t>
                      </m:r>
                      <m:r>
                        <a:rPr lang="en-US" sz="2000" i="1" dirty="0" smtClean="0">
                          <a:latin typeface="Cambria Math" panose="02040503050406030204" pitchFamily="18" charset="0"/>
                        </a:rPr>
                        <m:t>         </m:t>
                      </m:r>
                      <m:r>
                        <a:rPr lang="en-US" sz="2000" i="1" dirty="0" smtClean="0">
                          <a:latin typeface="Cambria Math" panose="02040503050406030204" pitchFamily="18" charset="0"/>
                        </a:rPr>
                        <m:t>𝐷</m:t>
                      </m:r>
                      <m:r>
                        <a:rPr lang="en-US" sz="2000" b="0" i="1" dirty="0" smtClean="0">
                          <a:latin typeface="Cambria Math" panose="02040503050406030204" pitchFamily="18" charset="0"/>
                        </a:rPr>
                        <m:t>    </m:t>
                      </m:r>
                      <m:r>
                        <a:rPr lang="en-US" sz="2000" i="1" dirty="0" smtClean="0">
                          <a:latin typeface="Cambria Math" panose="02040503050406030204" pitchFamily="18" charset="0"/>
                        </a:rPr>
                        <m:t>      </m:t>
                      </m:r>
                      <m:r>
                        <a:rPr lang="en-US" sz="2000" b="0" i="1" dirty="0" smtClean="0">
                          <a:latin typeface="Cambria Math" panose="02040503050406030204" pitchFamily="18" charset="0"/>
                        </a:rPr>
                        <m:t>    </m:t>
                      </m:r>
                      <m:r>
                        <a:rPr lang="en-US" sz="2000" i="1" dirty="0" smtClean="0">
                          <a:latin typeface="Cambria Math" panose="02040503050406030204" pitchFamily="18" charset="0"/>
                        </a:rPr>
                        <m:t>≤ 4</m:t>
                      </m:r>
                    </m:oMath>
                  </m:oMathPara>
                </a14:m>
                <a:endParaRPr lang="en-US" sz="2000" dirty="0"/>
              </a:p>
            </p:txBody>
          </p:sp>
        </mc:Choice>
        <mc:Fallback xmlns="">
          <p:sp>
            <p:nvSpPr>
              <p:cNvPr id="9" name="Rectangle 8"/>
              <p:cNvSpPr>
                <a:spLocks noRot="1" noChangeAspect="1" noMove="1" noResize="1" noEditPoints="1" noAdjustHandles="1" noChangeArrowheads="1" noChangeShapeType="1" noTextEdit="1"/>
              </p:cNvSpPr>
              <p:nvPr/>
            </p:nvSpPr>
            <p:spPr>
              <a:xfrm>
                <a:off x="1055710" y="4168446"/>
                <a:ext cx="3722611" cy="400110"/>
              </a:xfrm>
              <a:prstGeom prst="rect">
                <a:avLst/>
              </a:prstGeom>
              <a:blipFill rotWithShape="0">
                <a:blip r:embed="rId4"/>
                <a:stretch>
                  <a:fillRect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2751356" y="4521559"/>
                <a:ext cx="198823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            </m:t>
                      </m:r>
                      <m:r>
                        <a:rPr lang="en-US" sz="2000" i="1" dirty="0" smtClean="0">
                          <a:latin typeface="Cambria Math" panose="02040503050406030204" pitchFamily="18" charset="0"/>
                        </a:rPr>
                        <m:t>2</m:t>
                      </m:r>
                      <m:r>
                        <a:rPr lang="en-US" sz="2000" i="1" dirty="0" smtClean="0">
                          <a:latin typeface="Cambria Math" panose="02040503050406030204" pitchFamily="18" charset="0"/>
                        </a:rPr>
                        <m:t>𝑊</m:t>
                      </m:r>
                      <m:r>
                        <a:rPr lang="en-US" sz="2000" i="1" dirty="0">
                          <a:latin typeface="Cambria Math" panose="02040503050406030204" pitchFamily="18" charset="0"/>
                        </a:rPr>
                        <m:t>≤ 12</m:t>
                      </m:r>
                    </m:oMath>
                  </m:oMathPara>
                </a14:m>
                <a:endParaRPr lang="en-US" sz="2000" dirty="0"/>
              </a:p>
            </p:txBody>
          </p:sp>
        </mc:Choice>
        <mc:Fallback xmlns="">
          <p:sp>
            <p:nvSpPr>
              <p:cNvPr id="10" name="Rectangle 9"/>
              <p:cNvSpPr>
                <a:spLocks noRot="1" noChangeAspect="1" noMove="1" noResize="1" noEditPoints="1" noAdjustHandles="1" noChangeArrowheads="1" noChangeShapeType="1" noTextEdit="1"/>
              </p:cNvSpPr>
              <p:nvPr/>
            </p:nvSpPr>
            <p:spPr>
              <a:xfrm>
                <a:off x="2751356" y="4521559"/>
                <a:ext cx="1988237" cy="40011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1964859" y="4827303"/>
                <a:ext cx="2813463" cy="400110"/>
              </a:xfrm>
              <a:prstGeom prst="rect">
                <a:avLst/>
              </a:prstGeom>
            </p:spPr>
            <p:txBody>
              <a:bodyPr wrap="none">
                <a:spAutoFit/>
              </a:bodyPr>
              <a:lstStyle/>
              <a:p>
                <a:pPr lvl="1"/>
                <a:r>
                  <a:rPr lang="en-US" sz="2000" dirty="0"/>
                  <a:t>       </a:t>
                </a:r>
                <a14:m>
                  <m:oMath xmlns:m="http://schemas.openxmlformats.org/officeDocument/2006/math">
                    <m:r>
                      <a:rPr lang="en-US" sz="2000" i="1" dirty="0">
                        <a:latin typeface="Cambria Math" panose="02040503050406030204" pitchFamily="18" charset="0"/>
                      </a:rPr>
                      <m:t>3</m:t>
                    </m:r>
                    <m:r>
                      <a:rPr lang="en-US" sz="2000" i="1" dirty="0">
                        <a:latin typeface="Cambria Math" panose="02040503050406030204" pitchFamily="18" charset="0"/>
                      </a:rPr>
                      <m:t>𝐷</m:t>
                    </m:r>
                    <m:r>
                      <a:rPr lang="en-US" sz="2000" i="1" dirty="0">
                        <a:latin typeface="Cambria Math" panose="02040503050406030204" pitchFamily="18" charset="0"/>
                      </a:rPr>
                      <m:t>+2</m:t>
                    </m:r>
                    <m:r>
                      <a:rPr lang="en-US" sz="2000" i="1" dirty="0">
                        <a:latin typeface="Cambria Math" panose="02040503050406030204" pitchFamily="18" charset="0"/>
                      </a:rPr>
                      <m:t>𝑊</m:t>
                    </m:r>
                    <m:r>
                      <a:rPr lang="en-US" sz="2000" i="1" dirty="0">
                        <a:latin typeface="Cambria Math" panose="02040503050406030204" pitchFamily="18" charset="0"/>
                      </a:rPr>
                      <m:t> ≤ 18</m:t>
                    </m:r>
                  </m:oMath>
                </a14:m>
                <a:endParaRPr lang="en-US" sz="2000" i="1" dirty="0"/>
              </a:p>
            </p:txBody>
          </p:sp>
        </mc:Choice>
        <mc:Fallback xmlns="">
          <p:sp>
            <p:nvSpPr>
              <p:cNvPr id="11" name="Rectangle 10"/>
              <p:cNvSpPr>
                <a:spLocks noRot="1" noChangeAspect="1" noMove="1" noResize="1" noEditPoints="1" noAdjustHandles="1" noChangeArrowheads="1" noChangeShapeType="1" noTextEdit="1"/>
              </p:cNvSpPr>
              <p:nvPr/>
            </p:nvSpPr>
            <p:spPr>
              <a:xfrm>
                <a:off x="1964859" y="4827303"/>
                <a:ext cx="2813463" cy="40011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2060712" y="5135973"/>
                <a:ext cx="2801793" cy="461665"/>
              </a:xfrm>
              <a:prstGeom prst="rect">
                <a:avLst/>
              </a:prstGeom>
            </p:spPr>
            <p:txBody>
              <a:bodyPr wrap="none">
                <a:spAutoFit/>
              </a:bodyPr>
              <a:lstStyle/>
              <a:p>
                <a:pPr lvl="1"/>
                <a:r>
                  <a:rPr lang="en-US" sz="2000" dirty="0"/>
                  <a:t>      </a:t>
                </a:r>
                <a14:m>
                  <m:oMath xmlns:m="http://schemas.openxmlformats.org/officeDocument/2006/math">
                    <m:r>
                      <a:rPr lang="en-US" sz="2400" b="1" i="1" dirty="0" smtClean="0">
                        <a:solidFill>
                          <a:srgbClr val="C00000"/>
                        </a:solidFill>
                        <a:latin typeface="Cambria Math" panose="02040503050406030204" pitchFamily="18" charset="0"/>
                      </a:rPr>
                      <m:t>𝑫</m:t>
                    </m:r>
                    <m:r>
                      <a:rPr lang="en-US" sz="2400" b="1" i="1" dirty="0" smtClean="0">
                        <a:solidFill>
                          <a:srgbClr val="C00000"/>
                        </a:solidFill>
                        <a:latin typeface="Cambria Math" panose="02040503050406030204" pitchFamily="18" charset="0"/>
                      </a:rPr>
                      <m:t>            ≥</m:t>
                    </m:r>
                    <m:r>
                      <a:rPr lang="en-US" sz="2400" b="1" i="1" dirty="0" smtClean="0">
                        <a:solidFill>
                          <a:srgbClr val="C00000"/>
                        </a:solidFill>
                        <a:latin typeface="Cambria Math" panose="02040503050406030204" pitchFamily="18" charset="0"/>
                      </a:rPr>
                      <m:t>𝟏𝟎</m:t>
                    </m:r>
                  </m:oMath>
                </a14:m>
                <a:endParaRPr lang="en-US" sz="2400" b="1" i="1" dirty="0">
                  <a:solidFill>
                    <a:srgbClr val="C00000"/>
                  </a:solidFill>
                </a:endParaRPr>
              </a:p>
            </p:txBody>
          </p:sp>
        </mc:Choice>
        <mc:Fallback xmlns="">
          <p:sp>
            <p:nvSpPr>
              <p:cNvPr id="12" name="Rectangle 11"/>
              <p:cNvSpPr>
                <a:spLocks noRot="1" noChangeAspect="1" noMove="1" noResize="1" noEditPoints="1" noAdjustHandles="1" noChangeArrowheads="1" noChangeShapeType="1" noTextEdit="1"/>
              </p:cNvSpPr>
              <p:nvPr/>
            </p:nvSpPr>
            <p:spPr>
              <a:xfrm>
                <a:off x="2060712" y="5135973"/>
                <a:ext cx="2801793" cy="461665"/>
              </a:xfrm>
              <a:prstGeom prst="rect">
                <a:avLst/>
              </a:prstGeom>
              <a:blipFill rotWithShape="0">
                <a:blip r:embed="rId7"/>
                <a:stretch>
                  <a:fillRect/>
                </a:stretch>
              </a:blipFill>
            </p:spPr>
            <p:txBody>
              <a:bodyPr/>
              <a:lstStyle/>
              <a:p>
                <a:r>
                  <a:rPr lang="en-US">
                    <a:noFill/>
                  </a:rPr>
                  <a:t> </a:t>
                </a:r>
              </a:p>
            </p:txBody>
          </p:sp>
        </mc:Fallback>
      </mc:AlternateContent>
      <p:sp>
        <p:nvSpPr>
          <p:cNvPr id="13" name="Rectangle 12"/>
          <p:cNvSpPr/>
          <p:nvPr/>
        </p:nvSpPr>
        <p:spPr>
          <a:xfrm>
            <a:off x="1055710" y="3827588"/>
            <a:ext cx="3869151" cy="2055052"/>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4" name="Rectangle 13"/>
              <p:cNvSpPr/>
              <p:nvPr/>
            </p:nvSpPr>
            <p:spPr>
              <a:xfrm>
                <a:off x="1964859" y="5491398"/>
                <a:ext cx="2538452" cy="400110"/>
              </a:xfrm>
              <a:prstGeom prst="rect">
                <a:avLst/>
              </a:prstGeom>
            </p:spPr>
            <p:txBody>
              <a:bodyPr wrap="none">
                <a:spAutoFit/>
              </a:bodyPr>
              <a:lstStyle/>
              <a:p>
                <a:pPr lvl="1"/>
                <a:r>
                  <a:rPr lang="en-US" sz="2000" dirty="0"/>
                  <a:t>      </a:t>
                </a:r>
                <a14:m>
                  <m:oMath xmlns:m="http://schemas.openxmlformats.org/officeDocument/2006/math">
                    <m:r>
                      <a:rPr lang="en-US" sz="2000" i="1" dirty="0" smtClean="0">
                        <a:latin typeface="Cambria Math" panose="02040503050406030204" pitchFamily="18" charset="0"/>
                      </a:rPr>
                      <m:t>𝐷</m:t>
                    </m:r>
                    <m:r>
                      <a:rPr lang="en-US" sz="2000" i="1" dirty="0" smtClean="0">
                        <a:latin typeface="Cambria Math" panose="02040503050406030204" pitchFamily="18" charset="0"/>
                      </a:rPr>
                      <m:t>≥0, </m:t>
                    </m:r>
                    <m:r>
                      <a:rPr lang="en-US" sz="2000" i="1" dirty="0">
                        <a:latin typeface="Cambria Math" panose="02040503050406030204" pitchFamily="18" charset="0"/>
                      </a:rPr>
                      <m:t>𝑊</m:t>
                    </m:r>
                    <m:r>
                      <a:rPr lang="en-US" sz="2000" i="1" dirty="0">
                        <a:latin typeface="Cambria Math" panose="02040503050406030204" pitchFamily="18" charset="0"/>
                      </a:rPr>
                      <m:t> ≥0</m:t>
                    </m:r>
                  </m:oMath>
                </a14:m>
                <a:endParaRPr lang="en-US" sz="2000" i="1" dirty="0"/>
              </a:p>
            </p:txBody>
          </p:sp>
        </mc:Choice>
        <mc:Fallback xmlns="">
          <p:sp>
            <p:nvSpPr>
              <p:cNvPr id="14" name="Rectangle 13"/>
              <p:cNvSpPr>
                <a:spLocks noRot="1" noChangeAspect="1" noMove="1" noResize="1" noEditPoints="1" noAdjustHandles="1" noChangeArrowheads="1" noChangeShapeType="1" noTextEdit="1"/>
              </p:cNvSpPr>
              <p:nvPr/>
            </p:nvSpPr>
            <p:spPr>
              <a:xfrm>
                <a:off x="1964859" y="5491398"/>
                <a:ext cx="2538452" cy="400110"/>
              </a:xfrm>
              <a:prstGeom prst="rect">
                <a:avLst/>
              </a:prstGeom>
              <a:blipFill rotWithShape="0">
                <a:blip r:embed="rId8"/>
                <a:stretch>
                  <a:fillRect/>
                </a:stretch>
              </a:blipFill>
            </p:spPr>
            <p:txBody>
              <a:bodyPr/>
              <a:lstStyle/>
              <a:p>
                <a:r>
                  <a:rPr lang="en-US">
                    <a:noFill/>
                  </a:rPr>
                  <a:t> </a:t>
                </a:r>
              </a:p>
            </p:txBody>
          </p:sp>
        </mc:Fallback>
      </mc:AlternateContent>
      <p:pic>
        <p:nvPicPr>
          <p:cNvPr id="5" name="Picture 4"/>
          <p:cNvPicPr>
            <a:picLocks noChangeAspect="1"/>
          </p:cNvPicPr>
          <p:nvPr/>
        </p:nvPicPr>
        <p:blipFill>
          <a:blip r:embed="rId9"/>
          <a:stretch>
            <a:fillRect/>
          </a:stretch>
        </p:blipFill>
        <p:spPr>
          <a:xfrm>
            <a:off x="5687470" y="3478751"/>
            <a:ext cx="4386170" cy="3217267"/>
          </a:xfrm>
          <a:prstGeom prst="rect">
            <a:avLst/>
          </a:prstGeom>
        </p:spPr>
      </p:pic>
    </p:spTree>
    <p:extLst>
      <p:ext uri="{BB962C8B-B14F-4D97-AF65-F5344CB8AC3E}">
        <p14:creationId xmlns:p14="http://schemas.microsoft.com/office/powerpoint/2010/main" val="2492901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P spid="12" grpId="0"/>
      <p:bldP spid="13" grpId="0" animBg="1"/>
      <p:bldP spid="1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Excel Solver Outputs</a:t>
            </a:r>
          </a:p>
        </p:txBody>
      </p:sp>
      <p:sp>
        <p:nvSpPr>
          <p:cNvPr id="3" name="Content Placeholder 2"/>
          <p:cNvSpPr>
            <a:spLocks noGrp="1"/>
          </p:cNvSpPr>
          <p:nvPr>
            <p:ph idx="1"/>
          </p:nvPr>
        </p:nvSpPr>
        <p:spPr/>
        <p:txBody>
          <a:bodyPr>
            <a:normAutofit fontScale="92500" lnSpcReduction="10000"/>
          </a:bodyPr>
          <a:lstStyle/>
          <a:p>
            <a:r>
              <a:rPr lang="en-US" b="1" u="sng" dirty="0" err="1"/>
              <a:t>Wyndor</a:t>
            </a:r>
            <a:r>
              <a:rPr lang="en-US" b="1" u="sng" dirty="0"/>
              <a:t> Glass Co. problem with </a:t>
            </a:r>
            <a:r>
              <a:rPr lang="en-US" b="1" u="sng" dirty="0">
                <a:solidFill>
                  <a:srgbClr val="C00000"/>
                </a:solidFill>
              </a:rPr>
              <a:t>infeasibility:</a:t>
            </a:r>
          </a:p>
          <a:p>
            <a:r>
              <a:rPr lang="en-US" dirty="0"/>
              <a:t>Consider the original </a:t>
            </a:r>
            <a:r>
              <a:rPr lang="en-US" dirty="0" err="1"/>
              <a:t>Wyndor</a:t>
            </a:r>
            <a:r>
              <a:rPr lang="en-US" dirty="0"/>
              <a:t> model with the additional restriction that we should produce at least 10 doors per week	</a:t>
            </a:r>
          </a:p>
          <a:p>
            <a:pPr lvl="1"/>
            <a:r>
              <a:rPr lang="en-US" dirty="0"/>
              <a:t>That is, we will add D&gt;=10 as a new constraint to the model</a:t>
            </a:r>
          </a:p>
          <a:p>
            <a:pPr lvl="1"/>
            <a:r>
              <a:rPr lang="en-US" dirty="0"/>
              <a:t>Originally, we had D&lt;=4, thus, the new constraint makes the model infeasible</a:t>
            </a:r>
          </a:p>
          <a:p>
            <a:endParaRPr lang="en-US" dirty="0"/>
          </a:p>
          <a:p>
            <a:endParaRPr lang="en-US" dirty="0"/>
          </a:p>
          <a:p>
            <a:endParaRPr lang="en-US" dirty="0"/>
          </a:p>
          <a:p>
            <a:endParaRPr lang="en-US" dirty="0"/>
          </a:p>
          <a:p>
            <a:endParaRPr lang="en-US" dirty="0"/>
          </a:p>
          <a:p>
            <a:pPr lvl="1"/>
            <a:r>
              <a:rPr lang="en-US" dirty="0"/>
              <a:t>The solver says “Solver could not find a feasible solution”</a:t>
            </a:r>
          </a:p>
          <a:p>
            <a:pPr lvl="2"/>
            <a:r>
              <a:rPr lang="en-US" dirty="0"/>
              <a:t>This means that the model is infeasible, and the Solver returns a random infeasible solution!</a:t>
            </a:r>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2">
              <a:tabLst>
                <a:tab pos="1712913" algn="l"/>
              </a:tabLst>
            </a:pPr>
            <a:endParaRPr lang="en-US" dirty="0"/>
          </a:p>
        </p:txBody>
      </p:sp>
      <p:pic>
        <p:nvPicPr>
          <p:cNvPr id="6" name="Picture 5"/>
          <p:cNvPicPr>
            <a:picLocks noChangeAspect="1"/>
          </p:cNvPicPr>
          <p:nvPr/>
        </p:nvPicPr>
        <p:blipFill>
          <a:blip r:embed="rId2"/>
          <a:stretch>
            <a:fillRect/>
          </a:stretch>
        </p:blipFill>
        <p:spPr>
          <a:xfrm>
            <a:off x="1520890" y="3185596"/>
            <a:ext cx="3769737" cy="2112353"/>
          </a:xfrm>
          <a:prstGeom prst="rect">
            <a:avLst/>
          </a:prstGeom>
        </p:spPr>
      </p:pic>
      <p:pic>
        <p:nvPicPr>
          <p:cNvPr id="8" name="Picture 7"/>
          <p:cNvPicPr>
            <a:picLocks noChangeAspect="1"/>
          </p:cNvPicPr>
          <p:nvPr/>
        </p:nvPicPr>
        <p:blipFill>
          <a:blip r:embed="rId3"/>
          <a:stretch>
            <a:fillRect/>
          </a:stretch>
        </p:blipFill>
        <p:spPr>
          <a:xfrm>
            <a:off x="6901375" y="3185596"/>
            <a:ext cx="2804497" cy="2148126"/>
          </a:xfrm>
          <a:prstGeom prst="rect">
            <a:avLst/>
          </a:prstGeom>
        </p:spPr>
      </p:pic>
    </p:spTree>
    <p:extLst>
      <p:ext uri="{BB962C8B-B14F-4D97-AF65-F5344CB8AC3E}">
        <p14:creationId xmlns:p14="http://schemas.microsoft.com/office/powerpoint/2010/main" val="2969654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Excel Solver Outputs</a:t>
            </a:r>
          </a:p>
        </p:txBody>
      </p:sp>
      <p:sp>
        <p:nvSpPr>
          <p:cNvPr id="3" name="Content Placeholder 2"/>
          <p:cNvSpPr>
            <a:spLocks noGrp="1"/>
          </p:cNvSpPr>
          <p:nvPr>
            <p:ph idx="1"/>
          </p:nvPr>
        </p:nvSpPr>
        <p:spPr/>
        <p:txBody>
          <a:bodyPr/>
          <a:lstStyle/>
          <a:p>
            <a:r>
              <a:rPr lang="en-US" b="1" u="sng" dirty="0" err="1"/>
              <a:t>Wyndor</a:t>
            </a:r>
            <a:r>
              <a:rPr lang="en-US" b="1" u="sng" dirty="0"/>
              <a:t> Glass Co. problem with </a:t>
            </a:r>
            <a:r>
              <a:rPr lang="en-US" b="1" u="sng" dirty="0">
                <a:solidFill>
                  <a:srgbClr val="C00000"/>
                </a:solidFill>
              </a:rPr>
              <a:t>unboundedness:</a:t>
            </a:r>
          </a:p>
          <a:p>
            <a:r>
              <a:rPr lang="en-US" dirty="0"/>
              <a:t>Consider the original </a:t>
            </a:r>
            <a:r>
              <a:rPr lang="en-US" dirty="0" err="1"/>
              <a:t>Wyndor</a:t>
            </a:r>
            <a:r>
              <a:rPr lang="en-US" dirty="0"/>
              <a:t> model but suppose that we have unlimited hours available in the plants and we need to use at least 1 hour from each</a:t>
            </a:r>
          </a:p>
          <a:p>
            <a:pPr lvl="1"/>
            <a:r>
              <a:rPr lang="en-US" dirty="0"/>
              <a:t>This makes the model unbounded as we would always increase D and W to continuously increase the weekly profit	</a:t>
            </a:r>
          </a:p>
          <a:p>
            <a:endParaRPr lang="en-US" dirty="0"/>
          </a:p>
          <a:p>
            <a:endParaRPr lang="en-US" dirty="0"/>
          </a:p>
          <a:p>
            <a:endParaRPr lang="en-US" dirty="0"/>
          </a:p>
          <a:p>
            <a:endParaRPr lang="en-US" dirty="0"/>
          </a:p>
          <a:p>
            <a:pPr lvl="1"/>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2">
              <a:tabLst>
                <a:tab pos="1712913" algn="l"/>
              </a:tabLst>
            </a:pPr>
            <a:endParaRPr lang="en-US" dirty="0"/>
          </a:p>
        </p:txBody>
      </p:sp>
      <p:pic>
        <p:nvPicPr>
          <p:cNvPr id="6" name="Picture 5"/>
          <p:cNvPicPr>
            <a:picLocks noChangeAspect="1"/>
          </p:cNvPicPr>
          <p:nvPr/>
        </p:nvPicPr>
        <p:blipFill>
          <a:blip r:embed="rId3"/>
          <a:stretch>
            <a:fillRect/>
          </a:stretch>
        </p:blipFill>
        <p:spPr>
          <a:xfrm>
            <a:off x="6665935" y="3254112"/>
            <a:ext cx="4246857" cy="3102238"/>
          </a:xfrm>
          <a:prstGeom prst="rect">
            <a:avLst/>
          </a:prstGeom>
        </p:spPr>
      </p:pic>
      <mc:AlternateContent xmlns:mc="http://schemas.openxmlformats.org/markup-compatibility/2006" xmlns:a14="http://schemas.microsoft.com/office/drawing/2010/main">
        <mc:Choice Requires="a14">
          <p:sp>
            <p:nvSpPr>
              <p:cNvPr id="8" name="Rectangle 7"/>
              <p:cNvSpPr/>
              <p:nvPr/>
            </p:nvSpPr>
            <p:spPr>
              <a:xfrm>
                <a:off x="832139" y="3874942"/>
                <a:ext cx="4674870" cy="400110"/>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  </m:t>
                      </m:r>
                      <m:r>
                        <a:rPr lang="en-US" sz="2000" i="1" dirty="0">
                          <a:latin typeface="Cambria Math" panose="02040503050406030204" pitchFamily="18" charset="0"/>
                        </a:rPr>
                        <m:t>𝑀𝑎𝑥𝑖𝑚𝑖𝑧𝑒</m:t>
                      </m:r>
                      <m:r>
                        <a:rPr lang="en-US" sz="2000" i="1" dirty="0">
                          <a:latin typeface="Cambria Math" panose="02040503050406030204" pitchFamily="18" charset="0"/>
                        </a:rPr>
                        <m:t>       300</m:t>
                      </m:r>
                      <m:r>
                        <a:rPr lang="en-US" sz="2000" i="1" dirty="0">
                          <a:latin typeface="Cambria Math" panose="02040503050406030204" pitchFamily="18" charset="0"/>
                        </a:rPr>
                        <m:t>𝐷</m:t>
                      </m:r>
                      <m:r>
                        <a:rPr lang="en-US" sz="2000" i="1" dirty="0">
                          <a:latin typeface="Cambria Math" panose="02040503050406030204" pitchFamily="18" charset="0"/>
                        </a:rPr>
                        <m:t>+500</m:t>
                      </m:r>
                      <m:r>
                        <a:rPr lang="en-US" sz="2000" i="1" dirty="0">
                          <a:latin typeface="Cambria Math" panose="02040503050406030204" pitchFamily="18" charset="0"/>
                        </a:rPr>
                        <m:t>𝑊</m:t>
                      </m:r>
                    </m:oMath>
                  </m:oMathPara>
                </a14:m>
                <a:endParaRPr lang="en-US" sz="2000" i="1" dirty="0">
                  <a:latin typeface="Cambria Math" panose="02040503050406030204"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832139" y="3874942"/>
                <a:ext cx="4674870" cy="40011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247678" y="4204370"/>
                <a:ext cx="3722611"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𝑠𝑢𝑏𝑗𝑒𝑐𝑡</m:t>
                      </m:r>
                      <m:r>
                        <a:rPr lang="en-US" sz="2000" i="1" dirty="0" smtClean="0">
                          <a:latin typeface="Cambria Math" panose="02040503050406030204" pitchFamily="18" charset="0"/>
                        </a:rPr>
                        <m:t> </m:t>
                      </m:r>
                      <m:r>
                        <a:rPr lang="en-US" sz="2000" i="1" dirty="0" smtClean="0">
                          <a:latin typeface="Cambria Math" panose="02040503050406030204" pitchFamily="18" charset="0"/>
                        </a:rPr>
                        <m:t>𝑡𝑜</m:t>
                      </m:r>
                      <m:r>
                        <a:rPr lang="en-US" sz="2000" i="1" dirty="0" smtClean="0">
                          <a:latin typeface="Cambria Math" panose="02040503050406030204" pitchFamily="18" charset="0"/>
                        </a:rPr>
                        <m:t>         </m:t>
                      </m:r>
                      <m:r>
                        <a:rPr lang="en-US" sz="2000" i="1" dirty="0" smtClean="0">
                          <a:latin typeface="Cambria Math" panose="02040503050406030204" pitchFamily="18" charset="0"/>
                        </a:rPr>
                        <m:t>𝐷</m:t>
                      </m:r>
                      <m:r>
                        <a:rPr lang="en-US" sz="2000" b="0" i="1" dirty="0" smtClean="0">
                          <a:latin typeface="Cambria Math" panose="02040503050406030204" pitchFamily="18" charset="0"/>
                        </a:rPr>
                        <m:t>    </m:t>
                      </m:r>
                      <m:r>
                        <a:rPr lang="en-US" sz="2000" i="1" dirty="0" smtClean="0">
                          <a:latin typeface="Cambria Math" panose="02040503050406030204" pitchFamily="18" charset="0"/>
                        </a:rPr>
                        <m:t>      </m:t>
                      </m:r>
                      <m:r>
                        <a:rPr lang="en-US" sz="2000" b="0" i="1" dirty="0" smtClean="0">
                          <a:latin typeface="Cambria Math" panose="02040503050406030204" pitchFamily="18" charset="0"/>
                        </a:rPr>
                        <m:t>   ≥1</m:t>
                      </m:r>
                    </m:oMath>
                  </m:oMathPara>
                </a14:m>
                <a:endParaRPr lang="en-US" sz="2000" dirty="0"/>
              </a:p>
            </p:txBody>
          </p:sp>
        </mc:Choice>
        <mc:Fallback xmlns="">
          <p:sp>
            <p:nvSpPr>
              <p:cNvPr id="9" name="Rectangle 8"/>
              <p:cNvSpPr>
                <a:spLocks noRot="1" noChangeAspect="1" noMove="1" noResize="1" noEditPoints="1" noAdjustHandles="1" noChangeArrowheads="1" noChangeShapeType="1" noTextEdit="1"/>
              </p:cNvSpPr>
              <p:nvPr/>
            </p:nvSpPr>
            <p:spPr>
              <a:xfrm>
                <a:off x="1247678" y="4204370"/>
                <a:ext cx="3722611" cy="400110"/>
              </a:xfrm>
              <a:prstGeom prst="rect">
                <a:avLst/>
              </a:prstGeom>
              <a:blipFill rotWithShape="0">
                <a:blip r:embed="rId5"/>
                <a:stretch>
                  <a:fillRect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2943324" y="4557483"/>
                <a:ext cx="1845569"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            </m:t>
                      </m:r>
                      <m:r>
                        <a:rPr lang="en-US" sz="2000" i="1" dirty="0" smtClean="0">
                          <a:latin typeface="Cambria Math" panose="02040503050406030204" pitchFamily="18" charset="0"/>
                        </a:rPr>
                        <m:t>2</m:t>
                      </m:r>
                      <m:r>
                        <a:rPr lang="en-US" sz="2000" i="1" dirty="0" smtClean="0">
                          <a:latin typeface="Cambria Math" panose="02040503050406030204" pitchFamily="18" charset="0"/>
                        </a:rPr>
                        <m:t>𝑊</m:t>
                      </m:r>
                      <m:r>
                        <a:rPr lang="en-US" sz="2000" b="0" i="1" dirty="0" smtClean="0">
                          <a:latin typeface="Cambria Math" panose="02040503050406030204" pitchFamily="18" charset="0"/>
                        </a:rPr>
                        <m:t>≥</m:t>
                      </m:r>
                      <m:r>
                        <a:rPr lang="en-US" sz="2000" i="1" dirty="0">
                          <a:latin typeface="Cambria Math" panose="02040503050406030204" pitchFamily="18" charset="0"/>
                        </a:rPr>
                        <m:t> 1</m:t>
                      </m:r>
                    </m:oMath>
                  </m:oMathPara>
                </a14:m>
                <a:endParaRPr lang="en-US" sz="2000" dirty="0"/>
              </a:p>
            </p:txBody>
          </p:sp>
        </mc:Choice>
        <mc:Fallback xmlns="">
          <p:sp>
            <p:nvSpPr>
              <p:cNvPr id="10" name="Rectangle 9"/>
              <p:cNvSpPr>
                <a:spLocks noRot="1" noChangeAspect="1" noMove="1" noResize="1" noEditPoints="1" noAdjustHandles="1" noChangeArrowheads="1" noChangeShapeType="1" noTextEdit="1"/>
              </p:cNvSpPr>
              <p:nvPr/>
            </p:nvSpPr>
            <p:spPr>
              <a:xfrm>
                <a:off x="2943324" y="4557483"/>
                <a:ext cx="1845569" cy="40011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2156827" y="4863227"/>
                <a:ext cx="2614690" cy="400110"/>
              </a:xfrm>
              <a:prstGeom prst="rect">
                <a:avLst/>
              </a:prstGeom>
            </p:spPr>
            <p:txBody>
              <a:bodyPr wrap="none">
                <a:spAutoFit/>
              </a:bodyPr>
              <a:lstStyle/>
              <a:p>
                <a:pPr lvl="1"/>
                <a:r>
                  <a:rPr lang="en-US" sz="2000" dirty="0"/>
                  <a:t>       </a:t>
                </a:r>
                <a14:m>
                  <m:oMath xmlns:m="http://schemas.openxmlformats.org/officeDocument/2006/math">
                    <m:r>
                      <a:rPr lang="en-US" sz="2000" i="1" dirty="0">
                        <a:latin typeface="Cambria Math" panose="02040503050406030204" pitchFamily="18" charset="0"/>
                      </a:rPr>
                      <m:t>3</m:t>
                    </m:r>
                    <m:r>
                      <a:rPr lang="en-US" sz="2000" i="1" dirty="0">
                        <a:latin typeface="Cambria Math" panose="02040503050406030204" pitchFamily="18" charset="0"/>
                      </a:rPr>
                      <m:t>𝐷</m:t>
                    </m:r>
                    <m:r>
                      <a:rPr lang="en-US" sz="2000" i="1" dirty="0">
                        <a:latin typeface="Cambria Math" panose="02040503050406030204" pitchFamily="18" charset="0"/>
                      </a:rPr>
                      <m:t>+2</m:t>
                    </m:r>
                    <m:r>
                      <a:rPr lang="en-US" sz="2000" i="1" dirty="0">
                        <a:latin typeface="Cambria Math" panose="02040503050406030204" pitchFamily="18" charset="0"/>
                      </a:rPr>
                      <m:t>𝑊</m:t>
                    </m:r>
                    <m:r>
                      <a:rPr lang="en-US" sz="2000" b="0" i="1" dirty="0" smtClean="0">
                        <a:latin typeface="Cambria Math" panose="02040503050406030204" pitchFamily="18" charset="0"/>
                      </a:rPr>
                      <m:t>≥</m:t>
                    </m:r>
                    <m:r>
                      <a:rPr lang="en-US" sz="2000" i="1" dirty="0">
                        <a:latin typeface="Cambria Math" panose="02040503050406030204" pitchFamily="18" charset="0"/>
                      </a:rPr>
                      <m:t> 1</m:t>
                    </m:r>
                  </m:oMath>
                </a14:m>
                <a:endParaRPr lang="en-US" sz="2000" i="1" dirty="0"/>
              </a:p>
            </p:txBody>
          </p:sp>
        </mc:Choice>
        <mc:Fallback xmlns="">
          <p:sp>
            <p:nvSpPr>
              <p:cNvPr id="11" name="Rectangle 10"/>
              <p:cNvSpPr>
                <a:spLocks noRot="1" noChangeAspect="1" noMove="1" noResize="1" noEditPoints="1" noAdjustHandles="1" noChangeArrowheads="1" noChangeShapeType="1" noTextEdit="1"/>
              </p:cNvSpPr>
              <p:nvPr/>
            </p:nvSpPr>
            <p:spPr>
              <a:xfrm>
                <a:off x="2156827" y="4863227"/>
                <a:ext cx="2614690" cy="40011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2156827" y="5221422"/>
                <a:ext cx="2538452" cy="400110"/>
              </a:xfrm>
              <a:prstGeom prst="rect">
                <a:avLst/>
              </a:prstGeom>
            </p:spPr>
            <p:txBody>
              <a:bodyPr wrap="none">
                <a:spAutoFit/>
              </a:bodyPr>
              <a:lstStyle/>
              <a:p>
                <a:pPr lvl="1"/>
                <a:r>
                  <a:rPr lang="en-US" sz="2000" dirty="0"/>
                  <a:t>      </a:t>
                </a:r>
                <a14:m>
                  <m:oMath xmlns:m="http://schemas.openxmlformats.org/officeDocument/2006/math">
                    <m:r>
                      <a:rPr lang="en-US" sz="2000" i="1" dirty="0" smtClean="0">
                        <a:latin typeface="Cambria Math" panose="02040503050406030204" pitchFamily="18" charset="0"/>
                      </a:rPr>
                      <m:t>𝐷</m:t>
                    </m:r>
                    <m:r>
                      <a:rPr lang="en-US" sz="2000" i="1" dirty="0" smtClean="0">
                        <a:latin typeface="Cambria Math" panose="02040503050406030204" pitchFamily="18" charset="0"/>
                      </a:rPr>
                      <m:t>≥0, </m:t>
                    </m:r>
                    <m:r>
                      <a:rPr lang="en-US" sz="2000" i="1" dirty="0">
                        <a:latin typeface="Cambria Math" panose="02040503050406030204" pitchFamily="18" charset="0"/>
                      </a:rPr>
                      <m:t>𝑊</m:t>
                    </m:r>
                    <m:r>
                      <a:rPr lang="en-US" sz="2000" i="1" dirty="0">
                        <a:latin typeface="Cambria Math" panose="02040503050406030204" pitchFamily="18" charset="0"/>
                      </a:rPr>
                      <m:t> ≥0</m:t>
                    </m:r>
                  </m:oMath>
                </a14:m>
                <a:endParaRPr lang="en-US" sz="2000" i="1" dirty="0"/>
              </a:p>
            </p:txBody>
          </p:sp>
        </mc:Choice>
        <mc:Fallback xmlns="">
          <p:sp>
            <p:nvSpPr>
              <p:cNvPr id="12" name="Rectangle 11"/>
              <p:cNvSpPr>
                <a:spLocks noRot="1" noChangeAspect="1" noMove="1" noResize="1" noEditPoints="1" noAdjustHandles="1" noChangeArrowheads="1" noChangeShapeType="1" noTextEdit="1"/>
              </p:cNvSpPr>
              <p:nvPr/>
            </p:nvSpPr>
            <p:spPr>
              <a:xfrm>
                <a:off x="2156827" y="5221422"/>
                <a:ext cx="2538452" cy="400110"/>
              </a:xfrm>
              <a:prstGeom prst="rect">
                <a:avLst/>
              </a:prstGeom>
              <a:blipFill rotWithShape="0">
                <a:blip r:embed="rId8"/>
                <a:stretch>
                  <a:fillRect/>
                </a:stretch>
              </a:blipFill>
            </p:spPr>
            <p:txBody>
              <a:bodyPr/>
              <a:lstStyle/>
              <a:p>
                <a:r>
                  <a:rPr lang="en-US">
                    <a:noFill/>
                  </a:rPr>
                  <a:t> </a:t>
                </a:r>
              </a:p>
            </p:txBody>
          </p:sp>
        </mc:Fallback>
      </mc:AlternateContent>
      <p:sp>
        <p:nvSpPr>
          <p:cNvPr id="13" name="Rectangle 12"/>
          <p:cNvSpPr/>
          <p:nvPr/>
        </p:nvSpPr>
        <p:spPr>
          <a:xfrm>
            <a:off x="1247678" y="3863512"/>
            <a:ext cx="3869151" cy="175802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4355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Excel Solver Outputs</a:t>
            </a:r>
          </a:p>
        </p:txBody>
      </p:sp>
      <p:sp>
        <p:nvSpPr>
          <p:cNvPr id="3" name="Content Placeholder 2"/>
          <p:cNvSpPr>
            <a:spLocks noGrp="1"/>
          </p:cNvSpPr>
          <p:nvPr>
            <p:ph idx="1"/>
          </p:nvPr>
        </p:nvSpPr>
        <p:spPr/>
        <p:txBody>
          <a:bodyPr>
            <a:normAutofit lnSpcReduction="10000"/>
          </a:bodyPr>
          <a:lstStyle/>
          <a:p>
            <a:r>
              <a:rPr lang="en-US" b="1" u="sng" dirty="0" err="1"/>
              <a:t>Wyndor</a:t>
            </a:r>
            <a:r>
              <a:rPr lang="en-US" b="1" u="sng" dirty="0"/>
              <a:t> Glass Co. problem with </a:t>
            </a:r>
            <a:r>
              <a:rPr lang="en-US" b="1" u="sng" dirty="0">
                <a:solidFill>
                  <a:srgbClr val="C00000"/>
                </a:solidFill>
              </a:rPr>
              <a:t>unboundedness:</a:t>
            </a:r>
          </a:p>
          <a:p>
            <a:r>
              <a:rPr lang="en-US" dirty="0"/>
              <a:t>Consider the original </a:t>
            </a:r>
            <a:r>
              <a:rPr lang="en-US" dirty="0" err="1"/>
              <a:t>Wyndor</a:t>
            </a:r>
            <a:r>
              <a:rPr lang="en-US" dirty="0"/>
              <a:t> model but suppose that we have unlimited hours available in the plants and we need to use at least 1 hour from each</a:t>
            </a:r>
          </a:p>
          <a:p>
            <a:pPr lvl="1"/>
            <a:r>
              <a:rPr lang="en-US" dirty="0"/>
              <a:t>This makes the model unbounded as we would always increase D and W to continuously increase the weekly profit	</a:t>
            </a:r>
          </a:p>
          <a:p>
            <a:endParaRPr lang="en-US" dirty="0"/>
          </a:p>
          <a:p>
            <a:endParaRPr lang="en-US" dirty="0"/>
          </a:p>
          <a:p>
            <a:endParaRPr lang="en-US" dirty="0"/>
          </a:p>
          <a:p>
            <a:endParaRPr lang="en-US" dirty="0"/>
          </a:p>
          <a:p>
            <a:pPr lvl="1"/>
            <a:endParaRPr lang="en-US" dirty="0"/>
          </a:p>
          <a:p>
            <a:pPr lvl="1"/>
            <a:r>
              <a:rPr lang="en-US" dirty="0"/>
              <a:t>The solver says “The Objective Cell values do not converge”</a:t>
            </a:r>
          </a:p>
          <a:p>
            <a:pPr lvl="2"/>
            <a:r>
              <a:rPr lang="en-US" dirty="0"/>
              <a:t>This means that the model is unbounded, and the Solver returns a random feasible solution!</a:t>
            </a:r>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2">
              <a:tabLst>
                <a:tab pos="1712913" algn="l"/>
              </a:tabLst>
            </a:pPr>
            <a:endParaRPr lang="en-US" dirty="0"/>
          </a:p>
        </p:txBody>
      </p:sp>
      <p:pic>
        <p:nvPicPr>
          <p:cNvPr id="5" name="Picture 4"/>
          <p:cNvPicPr>
            <a:picLocks noChangeAspect="1"/>
          </p:cNvPicPr>
          <p:nvPr/>
        </p:nvPicPr>
        <p:blipFill>
          <a:blip r:embed="rId3"/>
          <a:stretch>
            <a:fillRect/>
          </a:stretch>
        </p:blipFill>
        <p:spPr>
          <a:xfrm>
            <a:off x="6773048" y="3275068"/>
            <a:ext cx="2694288" cy="2055258"/>
          </a:xfrm>
          <a:prstGeom prst="rect">
            <a:avLst/>
          </a:prstGeom>
        </p:spPr>
      </p:pic>
      <p:pic>
        <p:nvPicPr>
          <p:cNvPr id="7" name="Picture 6"/>
          <p:cNvPicPr>
            <a:picLocks noChangeAspect="1"/>
          </p:cNvPicPr>
          <p:nvPr/>
        </p:nvPicPr>
        <p:blipFill>
          <a:blip r:embed="rId4"/>
          <a:stretch>
            <a:fillRect/>
          </a:stretch>
        </p:blipFill>
        <p:spPr>
          <a:xfrm>
            <a:off x="1382800" y="3244351"/>
            <a:ext cx="4362450" cy="2085975"/>
          </a:xfrm>
          <a:prstGeom prst="rect">
            <a:avLst/>
          </a:prstGeom>
        </p:spPr>
      </p:pic>
    </p:spTree>
    <p:extLst>
      <p:ext uri="{BB962C8B-B14F-4D97-AF65-F5344CB8AC3E}">
        <p14:creationId xmlns:p14="http://schemas.microsoft.com/office/powerpoint/2010/main" val="2603152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Excel Solver Outputs</a:t>
            </a:r>
          </a:p>
        </p:txBody>
      </p:sp>
      <p:sp>
        <p:nvSpPr>
          <p:cNvPr id="3" name="Content Placeholder 2"/>
          <p:cNvSpPr>
            <a:spLocks noGrp="1"/>
          </p:cNvSpPr>
          <p:nvPr>
            <p:ph idx="1"/>
          </p:nvPr>
        </p:nvSpPr>
        <p:spPr/>
        <p:txBody>
          <a:bodyPr/>
          <a:lstStyle/>
          <a:p>
            <a:r>
              <a:rPr lang="en-US" b="1" u="sng" dirty="0"/>
              <a:t>Summary:</a:t>
            </a:r>
          </a:p>
          <a:p>
            <a:pPr lvl="1"/>
            <a:r>
              <a:rPr lang="en-US" dirty="0"/>
              <a:t>When the Solver says “Solver found a solution. All constraints and optimality conditions are satisfied”, </a:t>
            </a:r>
          </a:p>
          <a:p>
            <a:pPr lvl="2"/>
            <a:r>
              <a:rPr lang="en-US" dirty="0"/>
              <a:t>It means that the model either has a unique optimum solution or alternative optima</a:t>
            </a:r>
          </a:p>
          <a:p>
            <a:pPr lvl="2"/>
            <a:r>
              <a:rPr lang="en-US" dirty="0"/>
              <a:t>The solution returned by the Solver is an optimum solution</a:t>
            </a:r>
          </a:p>
          <a:p>
            <a:pPr lvl="1"/>
            <a:r>
              <a:rPr lang="en-US" dirty="0"/>
              <a:t>When the Solver says, “Solver could not find a feasible solution”, </a:t>
            </a:r>
          </a:p>
          <a:p>
            <a:pPr lvl="2"/>
            <a:r>
              <a:rPr lang="en-US" dirty="0"/>
              <a:t>It means that the model is infeasible, thus there is no optimal solution</a:t>
            </a:r>
          </a:p>
          <a:p>
            <a:pPr lvl="2"/>
            <a:r>
              <a:rPr lang="en-US" dirty="0"/>
              <a:t>The solution returned by the Solver is a random infeasible solution</a:t>
            </a:r>
          </a:p>
          <a:p>
            <a:pPr lvl="1"/>
            <a:r>
              <a:rPr lang="en-US" dirty="0"/>
              <a:t>When the Solver says, “The Objective Cell values do not converge”, </a:t>
            </a:r>
          </a:p>
          <a:p>
            <a:pPr lvl="2"/>
            <a:r>
              <a:rPr lang="en-US" dirty="0"/>
              <a:t>It means that the model is unbounded, thus there is no optimal solution</a:t>
            </a:r>
          </a:p>
          <a:p>
            <a:pPr lvl="2"/>
            <a:r>
              <a:rPr lang="en-US" dirty="0"/>
              <a:t>The solution returned by the Solver is a random feasible solution</a:t>
            </a:r>
          </a:p>
          <a:p>
            <a:pPr lvl="2"/>
            <a:endParaRPr lang="en-US" dirty="0"/>
          </a:p>
          <a:p>
            <a:pPr lvl="2"/>
            <a:endParaRPr lang="en-US" dirty="0"/>
          </a:p>
          <a:p>
            <a:pPr lvl="1"/>
            <a:endParaRPr lang="en-US" b="1" u="sng" dirty="0">
              <a:solidFill>
                <a:srgbClr val="C00000"/>
              </a:solidFill>
            </a:endParaRPr>
          </a:p>
          <a:p>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2">
              <a:tabLst>
                <a:tab pos="1712913" algn="l"/>
              </a:tabLst>
            </a:pPr>
            <a:endParaRPr lang="en-US" dirty="0"/>
          </a:p>
        </p:txBody>
      </p:sp>
      <p:pic>
        <p:nvPicPr>
          <p:cNvPr id="6" name="Picture 5"/>
          <p:cNvPicPr>
            <a:picLocks noChangeAspect="1"/>
          </p:cNvPicPr>
          <p:nvPr/>
        </p:nvPicPr>
        <p:blipFill>
          <a:blip r:embed="rId3"/>
          <a:stretch>
            <a:fillRect/>
          </a:stretch>
        </p:blipFill>
        <p:spPr>
          <a:xfrm>
            <a:off x="9257913" y="3125573"/>
            <a:ext cx="447675" cy="619125"/>
          </a:xfrm>
          <a:prstGeom prst="rect">
            <a:avLst/>
          </a:prstGeom>
        </p:spPr>
      </p:pic>
      <p:pic>
        <p:nvPicPr>
          <p:cNvPr id="8" name="Picture 7"/>
          <p:cNvPicPr>
            <a:picLocks noChangeAspect="1"/>
          </p:cNvPicPr>
          <p:nvPr/>
        </p:nvPicPr>
        <p:blipFill>
          <a:blip r:embed="rId3"/>
          <a:stretch>
            <a:fillRect/>
          </a:stretch>
        </p:blipFill>
        <p:spPr>
          <a:xfrm>
            <a:off x="9376073" y="4238324"/>
            <a:ext cx="447675" cy="619125"/>
          </a:xfrm>
          <a:prstGeom prst="rect">
            <a:avLst/>
          </a:prstGeom>
        </p:spPr>
      </p:pic>
    </p:spTree>
    <p:extLst>
      <p:ext uri="{BB962C8B-B14F-4D97-AF65-F5344CB8AC3E}">
        <p14:creationId xmlns:p14="http://schemas.microsoft.com/office/powerpoint/2010/main" val="367057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8D3C8-8955-DEE1-4F11-4A7F14D356F1}"/>
              </a:ext>
            </a:extLst>
          </p:cNvPr>
          <p:cNvSpPr>
            <a:spLocks noGrp="1"/>
          </p:cNvSpPr>
          <p:nvPr>
            <p:ph type="title"/>
          </p:nvPr>
        </p:nvSpPr>
        <p:spPr/>
        <p:txBody>
          <a:bodyPr/>
          <a:lstStyle/>
          <a:p>
            <a:r>
              <a:rPr lang="en-US" dirty="0"/>
              <a:t>Linear Programming Applications</a:t>
            </a:r>
          </a:p>
        </p:txBody>
      </p:sp>
      <p:sp>
        <p:nvSpPr>
          <p:cNvPr id="3" name="Text Placeholder 2">
            <a:extLst>
              <a:ext uri="{FF2B5EF4-FFF2-40B4-BE49-F238E27FC236}">
                <a16:creationId xmlns:a16="http://schemas.microsoft.com/office/drawing/2014/main" id="{DA31E648-CEC6-41FA-D798-09E1E92AB26D}"/>
              </a:ext>
            </a:extLst>
          </p:cNvPr>
          <p:cNvSpPr>
            <a:spLocks noGrp="1"/>
          </p:cNvSpPr>
          <p:nvPr>
            <p:ph type="body" idx="1"/>
          </p:nvPr>
        </p:nvSpPr>
        <p:spPr/>
        <p:txBody>
          <a:bodyPr/>
          <a:lstStyle/>
          <a:p>
            <a:r>
              <a:rPr lang="en-US" dirty="0"/>
              <a:t>Chapter 3</a:t>
            </a:r>
          </a:p>
        </p:txBody>
      </p:sp>
    </p:spTree>
    <p:extLst>
      <p:ext uri="{BB962C8B-B14F-4D97-AF65-F5344CB8AC3E}">
        <p14:creationId xmlns:p14="http://schemas.microsoft.com/office/powerpoint/2010/main" val="42716452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Applications</a:t>
            </a:r>
          </a:p>
        </p:txBody>
      </p:sp>
      <p:sp>
        <p:nvSpPr>
          <p:cNvPr id="3" name="Content Placeholder 2"/>
          <p:cNvSpPr>
            <a:spLocks noGrp="1"/>
          </p:cNvSpPr>
          <p:nvPr>
            <p:ph idx="1"/>
          </p:nvPr>
        </p:nvSpPr>
        <p:spPr/>
        <p:txBody>
          <a:bodyPr/>
          <a:lstStyle/>
          <a:p>
            <a:r>
              <a:rPr lang="en-US" dirty="0"/>
              <a:t>Linear programming has many applications in practice!</a:t>
            </a:r>
          </a:p>
          <a:p>
            <a:pPr lvl="1"/>
            <a:r>
              <a:rPr lang="en-US" dirty="0"/>
              <a:t>Read the ‘Application Vignette’s in the textbook</a:t>
            </a:r>
          </a:p>
          <a:p>
            <a:r>
              <a:rPr lang="en-US" dirty="0"/>
              <a:t>Though not needed, one can describe different problem categories</a:t>
            </a:r>
          </a:p>
          <a:p>
            <a:pPr lvl="1"/>
            <a:r>
              <a:rPr lang="en-US" dirty="0"/>
              <a:t>Transportation problems</a:t>
            </a:r>
          </a:p>
          <a:p>
            <a:pPr lvl="2"/>
            <a:r>
              <a:rPr lang="en-US" dirty="0"/>
              <a:t>Minimize cost (typically) while making sure shipments are made correctly</a:t>
            </a:r>
          </a:p>
          <a:p>
            <a:pPr lvl="1"/>
            <a:r>
              <a:rPr lang="en-US" dirty="0"/>
              <a:t>Assignment problems</a:t>
            </a:r>
          </a:p>
          <a:p>
            <a:pPr lvl="2"/>
            <a:r>
              <a:rPr lang="en-US" dirty="0"/>
              <a:t>Make assignments (people to jobs, machines to jobs, classes to courses, etc.)</a:t>
            </a:r>
          </a:p>
          <a:p>
            <a:pPr lvl="1"/>
            <a:r>
              <a:rPr lang="en-US" dirty="0"/>
              <a:t>Resource-allocation problems</a:t>
            </a:r>
          </a:p>
          <a:p>
            <a:pPr lvl="2"/>
            <a:r>
              <a:rPr lang="en-US" dirty="0"/>
              <a:t>Allocate resources to activities to achieve the best outcome</a:t>
            </a:r>
          </a:p>
          <a:p>
            <a:pPr lvl="1"/>
            <a:r>
              <a:rPr lang="en-US" dirty="0"/>
              <a:t>Cost-benefit-tradeoff problems</a:t>
            </a:r>
          </a:p>
          <a:p>
            <a:pPr lvl="2"/>
            <a:r>
              <a:rPr lang="en-US" dirty="0"/>
              <a:t>Minimize cost while assuring a certain level of benefits by decision on level of activities</a:t>
            </a:r>
          </a:p>
          <a:p>
            <a:pPr lvl="1"/>
            <a:r>
              <a:rPr lang="en-US" dirty="0"/>
              <a:t>And mixed problems</a:t>
            </a:r>
          </a:p>
        </p:txBody>
      </p:sp>
    </p:spTree>
    <p:extLst>
      <p:ext uri="{BB962C8B-B14F-4D97-AF65-F5344CB8AC3E}">
        <p14:creationId xmlns:p14="http://schemas.microsoft.com/office/powerpoint/2010/main" val="31063882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Applications</a:t>
            </a:r>
          </a:p>
        </p:txBody>
      </p:sp>
      <p:sp>
        <p:nvSpPr>
          <p:cNvPr id="3" name="Content Placeholder 2"/>
          <p:cNvSpPr>
            <a:spLocks noGrp="1"/>
          </p:cNvSpPr>
          <p:nvPr>
            <p:ph idx="1"/>
          </p:nvPr>
        </p:nvSpPr>
        <p:spPr/>
        <p:txBody>
          <a:bodyPr/>
          <a:lstStyle/>
          <a:p>
            <a:r>
              <a:rPr lang="en-US" b="1" u="sng" dirty="0"/>
              <a:t>Case: TBA Airlines Problem (Chapter 3.2)</a:t>
            </a:r>
          </a:p>
          <a:p>
            <a:pPr lvl="1"/>
            <a:r>
              <a:rPr lang="en-US" u="sng" dirty="0"/>
              <a:t>Case Description: </a:t>
            </a:r>
            <a:r>
              <a:rPr lang="en-US" dirty="0"/>
              <a:t>TBA Airlines is a small regional company that specializes in short flights in small airplanes.</a:t>
            </a:r>
          </a:p>
          <a:p>
            <a:pPr lvl="1"/>
            <a:r>
              <a:rPr lang="en-US" dirty="0"/>
              <a:t>The company has been doing well and has decided to expand its operations.</a:t>
            </a:r>
          </a:p>
          <a:p>
            <a:pPr lvl="1"/>
            <a:r>
              <a:rPr lang="en-US" dirty="0"/>
              <a:t>The basic issue facing management is whether to purchase more small airplanes to add some new short flights, or start moving into the national market by purchasing some large airplanes, or both.</a:t>
            </a:r>
          </a:p>
          <a:p>
            <a:pPr lvl="1"/>
            <a:r>
              <a:rPr lang="en-US" dirty="0"/>
              <a:t>Question: How many airplanes of each type should be purchased to maximize their total net annual profit?</a:t>
            </a:r>
          </a:p>
          <a:p>
            <a:r>
              <a:rPr lang="en-US" b="1" dirty="0">
                <a:solidFill>
                  <a:srgbClr val="C00000"/>
                </a:solidFill>
              </a:rPr>
              <a:t>STEP 0: </a:t>
            </a:r>
            <a:r>
              <a:rPr lang="en-US" dirty="0"/>
              <a:t>Know the problem and gather your data</a:t>
            </a:r>
          </a:p>
          <a:p>
            <a:pPr lvl="1"/>
            <a:endParaRPr lang="en-US" dirty="0"/>
          </a:p>
          <a:p>
            <a:endParaRPr lang="en-US" dirty="0"/>
          </a:p>
        </p:txBody>
      </p:sp>
      <p:pic>
        <p:nvPicPr>
          <p:cNvPr id="5" name="Picture 4"/>
          <p:cNvPicPr>
            <a:picLocks noChangeAspect="1"/>
          </p:cNvPicPr>
          <p:nvPr/>
        </p:nvPicPr>
        <p:blipFill>
          <a:blip r:embed="rId2"/>
          <a:stretch>
            <a:fillRect/>
          </a:stretch>
        </p:blipFill>
        <p:spPr>
          <a:xfrm>
            <a:off x="1099751" y="5395265"/>
            <a:ext cx="9770076" cy="1178828"/>
          </a:xfrm>
          <a:prstGeom prst="rect">
            <a:avLst/>
          </a:prstGeom>
        </p:spPr>
      </p:pic>
    </p:spTree>
    <p:extLst>
      <p:ext uri="{BB962C8B-B14F-4D97-AF65-F5344CB8AC3E}">
        <p14:creationId xmlns:p14="http://schemas.microsoft.com/office/powerpoint/2010/main" val="3339502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Applications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b="1" u="sng" dirty="0"/>
                  <a:t>Case: TBA Airlines Problem (Chapter 3.2)</a:t>
                </a:r>
              </a:p>
              <a:p>
                <a:r>
                  <a:rPr lang="en-US" b="1" dirty="0">
                    <a:solidFill>
                      <a:srgbClr val="C00000"/>
                    </a:solidFill>
                  </a:rPr>
                  <a:t>STEP 1: </a:t>
                </a:r>
                <a:r>
                  <a:rPr lang="en-US" dirty="0"/>
                  <a:t>Decision variables</a:t>
                </a:r>
              </a:p>
              <a:p>
                <a:pPr lvl="1"/>
                <a:r>
                  <a:rPr lang="en-US" dirty="0"/>
                  <a:t>We want to determine the number of small (</a:t>
                </a:r>
                <a14:m>
                  <m:oMath xmlns:m="http://schemas.openxmlformats.org/officeDocument/2006/math">
                    <m:r>
                      <a:rPr lang="en-US" i="1" dirty="0" smtClean="0">
                        <a:latin typeface="Cambria Math" panose="02040503050406030204" pitchFamily="18" charset="0"/>
                      </a:rPr>
                      <m:t>𝑆</m:t>
                    </m:r>
                  </m:oMath>
                </a14:m>
                <a:r>
                  <a:rPr lang="en-US" dirty="0"/>
                  <a:t>) and large (</a:t>
                </a:r>
                <a14:m>
                  <m:oMath xmlns:m="http://schemas.openxmlformats.org/officeDocument/2006/math">
                    <m:r>
                      <a:rPr lang="en-US" i="1" dirty="0" smtClean="0">
                        <a:latin typeface="Cambria Math" panose="02040503050406030204" pitchFamily="18" charset="0"/>
                      </a:rPr>
                      <m:t>𝐿</m:t>
                    </m:r>
                  </m:oMath>
                </a14:m>
                <a:r>
                  <a:rPr lang="en-US" dirty="0"/>
                  <a:t>) to buy</a:t>
                </a:r>
              </a:p>
              <a:p>
                <a:r>
                  <a:rPr lang="en-US" b="1" dirty="0">
                    <a:solidFill>
                      <a:srgbClr val="C00000"/>
                    </a:solidFill>
                  </a:rPr>
                  <a:t>STEP 2: </a:t>
                </a:r>
                <a:r>
                  <a:rPr lang="en-US" dirty="0"/>
                  <a:t>Objective and objective function</a:t>
                </a:r>
              </a:p>
              <a:p>
                <a:pPr lvl="1"/>
                <a:r>
                  <a:rPr lang="en-US" dirty="0"/>
                  <a:t>We want to maximize the total net annual profit, </a:t>
                </a:r>
                <a14:m>
                  <m:oMath xmlns:m="http://schemas.openxmlformats.org/officeDocument/2006/math">
                    <m:r>
                      <a:rPr lang="en-US" i="1" dirty="0" smtClean="0">
                        <a:latin typeface="Cambria Math" panose="02040503050406030204" pitchFamily="18" charset="0"/>
                      </a:rPr>
                      <m:t>𝑃𝑟𝑜𝑓𝑖𝑡</m:t>
                    </m:r>
                    <m:r>
                      <a:rPr lang="en-US" i="1" dirty="0" smtClean="0">
                        <a:latin typeface="Cambria Math" panose="02040503050406030204" pitchFamily="18" charset="0"/>
                      </a:rPr>
                      <m:t>=7</m:t>
                    </m:r>
                    <m:r>
                      <a:rPr lang="en-US" i="1" dirty="0" smtClean="0">
                        <a:latin typeface="Cambria Math" panose="02040503050406030204" pitchFamily="18" charset="0"/>
                      </a:rPr>
                      <m:t>𝑆</m:t>
                    </m:r>
                    <m:r>
                      <a:rPr lang="en-US" i="1" dirty="0" smtClean="0">
                        <a:latin typeface="Cambria Math" panose="02040503050406030204" pitchFamily="18" charset="0"/>
                      </a:rPr>
                      <m:t>+22</m:t>
                    </m:r>
                    <m:r>
                      <a:rPr lang="en-US" i="1" dirty="0" smtClean="0">
                        <a:latin typeface="Cambria Math" panose="02040503050406030204" pitchFamily="18" charset="0"/>
                      </a:rPr>
                      <m:t>𝐿</m:t>
                    </m:r>
                  </m:oMath>
                </a14:m>
                <a:endParaRPr lang="en-US" dirty="0"/>
              </a:p>
              <a:p>
                <a:r>
                  <a:rPr lang="en-US" b="1" dirty="0">
                    <a:solidFill>
                      <a:srgbClr val="C00000"/>
                    </a:solidFill>
                  </a:rPr>
                  <a:t>STEP 3: </a:t>
                </a:r>
                <a:r>
                  <a:rPr lang="en-US" dirty="0"/>
                  <a:t>Constraints</a:t>
                </a:r>
              </a:p>
              <a:p>
                <a:pPr lvl="1"/>
                <a:r>
                  <a:rPr lang="en-US" dirty="0"/>
                  <a:t>We cannot exceed the budget; thus, we have: </a:t>
                </a:r>
                <a14:m>
                  <m:oMath xmlns:m="http://schemas.openxmlformats.org/officeDocument/2006/math">
                    <m:r>
                      <a:rPr lang="en-US" i="1" dirty="0" smtClean="0">
                        <a:latin typeface="Cambria Math" panose="02040503050406030204" pitchFamily="18" charset="0"/>
                      </a:rPr>
                      <m:t>25</m:t>
                    </m:r>
                    <m:r>
                      <a:rPr lang="en-US" i="1" dirty="0" smtClean="0">
                        <a:latin typeface="Cambria Math" panose="02040503050406030204" pitchFamily="18" charset="0"/>
                      </a:rPr>
                      <m:t>𝑆</m:t>
                    </m:r>
                    <m:r>
                      <a:rPr lang="en-US" i="1" dirty="0" smtClean="0">
                        <a:latin typeface="Cambria Math" panose="02040503050406030204" pitchFamily="18" charset="0"/>
                      </a:rPr>
                      <m:t>+75</m:t>
                    </m:r>
                    <m:r>
                      <a:rPr lang="en-US" i="1" dirty="0" smtClean="0">
                        <a:latin typeface="Cambria Math" panose="02040503050406030204" pitchFamily="18" charset="0"/>
                      </a:rPr>
                      <m:t>𝐿</m:t>
                    </m:r>
                    <m:r>
                      <a:rPr lang="en-US" b="0" i="1" dirty="0" smtClean="0">
                        <a:latin typeface="Cambria Math" panose="02040503050406030204" pitchFamily="18" charset="0"/>
                      </a:rPr>
                      <m:t>≤</m:t>
                    </m:r>
                    <m:r>
                      <a:rPr lang="en-US" i="1" dirty="0" smtClean="0">
                        <a:latin typeface="Cambria Math" panose="02040503050406030204" pitchFamily="18" charset="0"/>
                      </a:rPr>
                      <m:t>250</m:t>
                    </m:r>
                  </m:oMath>
                </a14:m>
                <a:endParaRPr lang="en-US" dirty="0"/>
              </a:p>
              <a:p>
                <a:pPr lvl="1"/>
                <a:r>
                  <a:rPr lang="en-US" dirty="0"/>
                  <a:t>We cannot buy more than 5 small airplanes; thus, we have </a:t>
                </a:r>
                <a14:m>
                  <m:oMath xmlns:m="http://schemas.openxmlformats.org/officeDocument/2006/math">
                    <m:r>
                      <a:rPr lang="en-US" i="1" dirty="0" smtClean="0">
                        <a:latin typeface="Cambria Math" panose="02040503050406030204" pitchFamily="18" charset="0"/>
                      </a:rPr>
                      <m:t>𝑆</m:t>
                    </m:r>
                    <m:r>
                      <a:rPr lang="en-US" b="0" i="1" dirty="0" smtClean="0">
                        <a:latin typeface="Cambria Math" panose="02040503050406030204" pitchFamily="18" charset="0"/>
                      </a:rPr>
                      <m:t>≤</m:t>
                    </m:r>
                    <m:r>
                      <a:rPr lang="en-US" i="1" dirty="0" smtClean="0">
                        <a:latin typeface="Cambria Math" panose="02040503050406030204" pitchFamily="18" charset="0"/>
                      </a:rPr>
                      <m:t>5</m:t>
                    </m:r>
                  </m:oMath>
                </a14:m>
                <a:endParaRPr lang="en-US" dirty="0"/>
              </a:p>
              <a:p>
                <a:r>
                  <a:rPr lang="en-US" dirty="0"/>
                  <a:t>Combining everything (not forgetting non-negativity constraints), we have:</a:t>
                </a:r>
              </a:p>
              <a:p>
                <a:pPr lvl="1"/>
                <a:endParaRPr lang="en-US" dirty="0"/>
              </a:p>
              <a:p>
                <a:pPr lvl="2">
                  <a:tabLst>
                    <a:tab pos="1712913" algn="l"/>
                  </a:tabLst>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56" t="-20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137719" y="5449796"/>
                <a:ext cx="4102443" cy="1200329"/>
              </a:xfrm>
              <a:prstGeom prst="rect">
                <a:avLst/>
              </a:prstGeom>
              <a:noFill/>
              <a:ln w="28575">
                <a:solidFill>
                  <a:srgbClr val="C00000"/>
                </a:solidFill>
              </a:ln>
            </p:spPr>
            <p:txBody>
              <a:bodyPr wrap="square" rtlCol="0">
                <a:spAutoFit/>
              </a:bodyPr>
              <a:lstStyle/>
              <a:p>
                <a14:m>
                  <m:oMath xmlns:m="http://schemas.openxmlformats.org/officeDocument/2006/math">
                    <m:r>
                      <a:rPr lang="en-US" i="1" dirty="0" smtClean="0">
                        <a:latin typeface="Cambria Math" panose="02040503050406030204" pitchFamily="18" charset="0"/>
                      </a:rPr>
                      <m:t>𝑀𝑎𝑥𝑖𝑚𝑖𝑧𝑒</m:t>
                    </m:r>
                  </m:oMath>
                </a14:m>
                <a:r>
                  <a:rPr lang="en-US" dirty="0"/>
                  <a:t>	</a:t>
                </a:r>
                <a14:m>
                  <m:oMath xmlns:m="http://schemas.openxmlformats.org/officeDocument/2006/math">
                    <m:r>
                      <a:rPr lang="en-US" i="1" dirty="0" smtClean="0">
                        <a:latin typeface="Cambria Math" panose="02040503050406030204" pitchFamily="18" charset="0"/>
                      </a:rPr>
                      <m:t>7</m:t>
                    </m:r>
                    <m:r>
                      <a:rPr lang="en-US" i="1" dirty="0" smtClean="0">
                        <a:latin typeface="Cambria Math" panose="02040503050406030204" pitchFamily="18" charset="0"/>
                      </a:rPr>
                      <m:t>𝑆</m:t>
                    </m:r>
                    <m:r>
                      <a:rPr lang="en-US" i="1" dirty="0" smtClean="0">
                        <a:latin typeface="Cambria Math" panose="02040503050406030204" pitchFamily="18" charset="0"/>
                      </a:rPr>
                      <m:t>+22</m:t>
                    </m:r>
                    <m:r>
                      <a:rPr lang="en-US" i="1" dirty="0" smtClean="0">
                        <a:latin typeface="Cambria Math" panose="02040503050406030204" pitchFamily="18" charset="0"/>
                      </a:rPr>
                      <m:t>𝐿</m:t>
                    </m:r>
                  </m:oMath>
                </a14:m>
                <a:endParaRPr lang="en-US" dirty="0"/>
              </a:p>
              <a:p>
                <a14:m>
                  <m:oMath xmlns:m="http://schemas.openxmlformats.org/officeDocument/2006/math">
                    <m:r>
                      <a:rPr lang="en-US" i="1" dirty="0" smtClean="0">
                        <a:latin typeface="Cambria Math" panose="02040503050406030204" pitchFamily="18" charset="0"/>
                      </a:rPr>
                      <m:t>𝑆𝑢𝑏𝑗𝑒𝑐𝑡</m:t>
                    </m:r>
                    <m:r>
                      <a:rPr lang="en-US" i="1" dirty="0" smtClean="0">
                        <a:latin typeface="Cambria Math" panose="02040503050406030204" pitchFamily="18" charset="0"/>
                      </a:rPr>
                      <m:t> </m:t>
                    </m:r>
                    <m:r>
                      <a:rPr lang="en-US" i="1" dirty="0" smtClean="0">
                        <a:latin typeface="Cambria Math" panose="02040503050406030204" pitchFamily="18" charset="0"/>
                      </a:rPr>
                      <m:t>𝑡𝑜</m:t>
                    </m:r>
                  </m:oMath>
                </a14:m>
                <a:r>
                  <a:rPr lang="en-US" dirty="0"/>
                  <a:t>	</a:t>
                </a:r>
                <a14:m>
                  <m:oMath xmlns:m="http://schemas.openxmlformats.org/officeDocument/2006/math">
                    <m:r>
                      <a:rPr lang="en-US" i="1" dirty="0" smtClean="0">
                        <a:latin typeface="Cambria Math" panose="02040503050406030204" pitchFamily="18" charset="0"/>
                      </a:rPr>
                      <m:t>25</m:t>
                    </m:r>
                    <m:r>
                      <a:rPr lang="en-US" i="1" dirty="0" smtClean="0">
                        <a:latin typeface="Cambria Math" panose="02040503050406030204" pitchFamily="18" charset="0"/>
                      </a:rPr>
                      <m:t>𝑆</m:t>
                    </m:r>
                    <m:r>
                      <a:rPr lang="en-US" i="1" dirty="0" smtClean="0">
                        <a:latin typeface="Cambria Math" panose="02040503050406030204" pitchFamily="18" charset="0"/>
                      </a:rPr>
                      <m:t>+75</m:t>
                    </m:r>
                    <m:r>
                      <a:rPr lang="en-US" i="1" dirty="0" smtClean="0">
                        <a:latin typeface="Cambria Math" panose="02040503050406030204" pitchFamily="18" charset="0"/>
                      </a:rPr>
                      <m:t>𝐿</m:t>
                    </m:r>
                    <m:r>
                      <a:rPr lang="en-US" b="0" i="1" dirty="0" smtClean="0">
                        <a:latin typeface="Cambria Math" panose="02040503050406030204" pitchFamily="18" charset="0"/>
                      </a:rPr>
                      <m:t>≤</m:t>
                    </m:r>
                    <m:r>
                      <a:rPr lang="en-US" i="1" dirty="0" smtClean="0">
                        <a:latin typeface="Cambria Math" panose="02040503050406030204" pitchFamily="18" charset="0"/>
                      </a:rPr>
                      <m:t>250</m:t>
                    </m:r>
                  </m:oMath>
                </a14:m>
                <a:endParaRPr lang="en-US" dirty="0"/>
              </a:p>
              <a:p>
                <a:r>
                  <a:rPr lang="en-US" dirty="0"/>
                  <a:t>		</a:t>
                </a:r>
                <a14:m>
                  <m:oMath xmlns:m="http://schemas.openxmlformats.org/officeDocument/2006/math">
                    <m:r>
                      <a:rPr lang="en-US" i="1" dirty="0" smtClean="0">
                        <a:latin typeface="Cambria Math" panose="02040503050406030204" pitchFamily="18" charset="0"/>
                      </a:rPr>
                      <m:t>𝑆</m:t>
                    </m:r>
                    <m:r>
                      <a:rPr lang="en-US" b="0" i="1" dirty="0" smtClean="0">
                        <a:latin typeface="Cambria Math" panose="02040503050406030204" pitchFamily="18" charset="0"/>
                      </a:rPr>
                      <m:t>≤</m:t>
                    </m:r>
                    <m:r>
                      <a:rPr lang="en-US" i="1" dirty="0" smtClean="0">
                        <a:latin typeface="Cambria Math" panose="02040503050406030204" pitchFamily="18" charset="0"/>
                      </a:rPr>
                      <m:t>5</m:t>
                    </m:r>
                  </m:oMath>
                </a14:m>
                <a:endParaRPr lang="en-US" dirty="0"/>
              </a:p>
              <a:p>
                <a:r>
                  <a:rPr lang="en-US" dirty="0"/>
                  <a:t>		</a:t>
                </a:r>
                <a14:m>
                  <m:oMath xmlns:m="http://schemas.openxmlformats.org/officeDocument/2006/math">
                    <m:r>
                      <a:rPr lang="en-US" i="1" dirty="0" smtClean="0">
                        <a:latin typeface="Cambria Math" panose="02040503050406030204" pitchFamily="18" charset="0"/>
                      </a:rPr>
                      <m:t>𝑆</m:t>
                    </m:r>
                    <m:r>
                      <a:rPr lang="en-US" b="0" i="1" dirty="0" smtClean="0">
                        <a:latin typeface="Cambria Math" panose="02040503050406030204" pitchFamily="18" charset="0"/>
                      </a:rPr>
                      <m:t>≥</m:t>
                    </m:r>
                    <m:r>
                      <a:rPr lang="en-US" i="1" dirty="0" smtClean="0">
                        <a:latin typeface="Cambria Math" panose="02040503050406030204" pitchFamily="18" charset="0"/>
                      </a:rPr>
                      <m:t>0, </m:t>
                    </m:r>
                    <m:r>
                      <a:rPr lang="en-US" i="1" dirty="0" smtClean="0">
                        <a:latin typeface="Cambria Math" panose="02040503050406030204" pitchFamily="18" charset="0"/>
                      </a:rPr>
                      <m:t>𝐿</m:t>
                    </m:r>
                    <m:r>
                      <a:rPr lang="en-US" b="0" i="1" dirty="0" smtClean="0">
                        <a:latin typeface="Cambria Math" panose="02040503050406030204" pitchFamily="18" charset="0"/>
                      </a:rPr>
                      <m:t>≥</m:t>
                    </m:r>
                    <m:r>
                      <a:rPr lang="en-US" i="1" dirty="0" smtClean="0">
                        <a:latin typeface="Cambria Math" panose="02040503050406030204" pitchFamily="18" charset="0"/>
                      </a:rPr>
                      <m:t>0</m:t>
                    </m:r>
                  </m:oMath>
                </a14:m>
                <a:r>
                  <a:rPr lang="en-US" dirty="0"/>
                  <a:t>	</a:t>
                </a:r>
              </a:p>
            </p:txBody>
          </p:sp>
        </mc:Choice>
        <mc:Fallback xmlns="">
          <p:sp>
            <p:nvSpPr>
              <p:cNvPr id="6" name="TextBox 5"/>
              <p:cNvSpPr txBox="1">
                <a:spLocks noRot="1" noChangeAspect="1" noMove="1" noResize="1" noEditPoints="1" noAdjustHandles="1" noChangeArrowheads="1" noChangeShapeType="1" noTextEdit="1"/>
              </p:cNvSpPr>
              <p:nvPr/>
            </p:nvSpPr>
            <p:spPr>
              <a:xfrm>
                <a:off x="2137719" y="5449796"/>
                <a:ext cx="4102443" cy="1200329"/>
              </a:xfrm>
              <a:prstGeom prst="rect">
                <a:avLst/>
              </a:prstGeom>
              <a:blipFill rotWithShape="0">
                <a:blip r:embed="rId3"/>
                <a:stretch>
                  <a:fillRect l="-147"/>
                </a:stretch>
              </a:blipFill>
              <a:ln w="28575">
                <a:solidFill>
                  <a:srgbClr val="C00000"/>
                </a:solidFill>
              </a:ln>
            </p:spPr>
            <p:txBody>
              <a:bodyPr/>
              <a:lstStyle/>
              <a:p>
                <a:r>
                  <a:rPr lang="en-US">
                    <a:noFill/>
                  </a:rPr>
                  <a:t> </a:t>
                </a:r>
              </a:p>
            </p:txBody>
          </p:sp>
        </mc:Fallback>
      </mc:AlternateContent>
    </p:spTree>
    <p:extLst>
      <p:ext uri="{BB962C8B-B14F-4D97-AF65-F5344CB8AC3E}">
        <p14:creationId xmlns:p14="http://schemas.microsoft.com/office/powerpoint/2010/main" val="240207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Applications</a:t>
            </a:r>
          </a:p>
        </p:txBody>
      </p:sp>
      <p:sp>
        <p:nvSpPr>
          <p:cNvPr id="3" name="Content Placeholder 2"/>
          <p:cNvSpPr>
            <a:spLocks noGrp="1"/>
          </p:cNvSpPr>
          <p:nvPr>
            <p:ph idx="1"/>
          </p:nvPr>
        </p:nvSpPr>
        <p:spPr/>
        <p:txBody>
          <a:bodyPr>
            <a:normAutofit lnSpcReduction="10000"/>
          </a:bodyPr>
          <a:lstStyle/>
          <a:p>
            <a:r>
              <a:rPr lang="en-US" b="1" u="sng" dirty="0"/>
              <a:t>Case: TBA Airlines Problem (Chapter 3.2)</a:t>
            </a:r>
          </a:p>
          <a:p>
            <a:pPr>
              <a:tabLst>
                <a:tab pos="1712913" algn="l"/>
              </a:tabLst>
            </a:pPr>
            <a:r>
              <a:rPr lang="en-US" dirty="0"/>
              <a:t>Spreadsheet model and solution with Excel Solver</a:t>
            </a:r>
          </a:p>
          <a:p>
            <a:pPr>
              <a:tabLst>
                <a:tab pos="1712913" algn="l"/>
              </a:tabLst>
            </a:pPr>
            <a:endParaRPr lang="en-US" dirty="0"/>
          </a:p>
          <a:p>
            <a:pPr>
              <a:tabLst>
                <a:tab pos="1712913" algn="l"/>
              </a:tabLst>
            </a:pPr>
            <a:endParaRPr lang="en-US" dirty="0"/>
          </a:p>
          <a:p>
            <a:pPr>
              <a:tabLst>
                <a:tab pos="1712913" algn="l"/>
              </a:tabLst>
            </a:pPr>
            <a:endParaRPr lang="en-US" dirty="0"/>
          </a:p>
          <a:p>
            <a:pPr>
              <a:tabLst>
                <a:tab pos="1712913" algn="l"/>
              </a:tabLst>
            </a:pPr>
            <a:endParaRPr lang="en-US" dirty="0"/>
          </a:p>
          <a:p>
            <a:pPr>
              <a:tabLst>
                <a:tab pos="1712913" algn="l"/>
              </a:tabLst>
            </a:pPr>
            <a:endParaRPr lang="en-US" dirty="0"/>
          </a:p>
          <a:p>
            <a:pPr lvl="6">
              <a:tabLst>
                <a:tab pos="1712913" algn="l"/>
              </a:tabLst>
            </a:pPr>
            <a:endParaRPr lang="en-US" dirty="0"/>
          </a:p>
          <a:p>
            <a:pPr lvl="1">
              <a:tabLst>
                <a:tab pos="1712913" algn="l"/>
              </a:tabLst>
            </a:pPr>
            <a:r>
              <a:rPr lang="en-US" dirty="0"/>
              <a:t>Solver returned fractional values, which is possible because we did not tell it not to return fractional values</a:t>
            </a:r>
          </a:p>
          <a:p>
            <a:pPr lvl="2">
              <a:tabLst>
                <a:tab pos="1712913" algn="l"/>
              </a:tabLst>
            </a:pPr>
            <a:r>
              <a:rPr lang="en-US" dirty="0"/>
              <a:t>In practice, this solution would be problematic, and we would want the decision variables to take only integer values</a:t>
            </a:r>
          </a:p>
        </p:txBody>
      </p:sp>
      <p:pic>
        <p:nvPicPr>
          <p:cNvPr id="5" name="Picture 4"/>
          <p:cNvPicPr>
            <a:picLocks noChangeAspect="1"/>
          </p:cNvPicPr>
          <p:nvPr/>
        </p:nvPicPr>
        <p:blipFill>
          <a:blip r:embed="rId2"/>
          <a:stretch>
            <a:fillRect/>
          </a:stretch>
        </p:blipFill>
        <p:spPr>
          <a:xfrm>
            <a:off x="2313006" y="2085975"/>
            <a:ext cx="5124450" cy="2686050"/>
          </a:xfrm>
          <a:prstGeom prst="rect">
            <a:avLst/>
          </a:prstGeom>
        </p:spPr>
      </p:pic>
    </p:spTree>
    <p:extLst>
      <p:ext uri="{BB962C8B-B14F-4D97-AF65-F5344CB8AC3E}">
        <p14:creationId xmlns:p14="http://schemas.microsoft.com/office/powerpoint/2010/main" val="28385192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Applications</a:t>
            </a:r>
          </a:p>
        </p:txBody>
      </p:sp>
      <p:sp>
        <p:nvSpPr>
          <p:cNvPr id="3" name="Content Placeholder 2"/>
          <p:cNvSpPr>
            <a:spLocks noGrp="1"/>
          </p:cNvSpPr>
          <p:nvPr>
            <p:ph idx="1"/>
          </p:nvPr>
        </p:nvSpPr>
        <p:spPr/>
        <p:txBody>
          <a:bodyPr/>
          <a:lstStyle/>
          <a:p>
            <a:r>
              <a:rPr lang="en-US" b="1" u="sng" dirty="0"/>
              <a:t>Integer variables with Solver:</a:t>
            </a:r>
          </a:p>
          <a:p>
            <a:pPr>
              <a:tabLst>
                <a:tab pos="1712913" algn="l"/>
              </a:tabLst>
            </a:pPr>
            <a:r>
              <a:rPr lang="en-US" dirty="0"/>
              <a:t>You can force your decision variables to be integer</a:t>
            </a:r>
          </a:p>
          <a:p>
            <a:pPr lvl="1">
              <a:tabLst>
                <a:tab pos="1712913" algn="l"/>
              </a:tabLst>
            </a:pPr>
            <a:r>
              <a:rPr lang="en-US" dirty="0"/>
              <a:t>Since this is a restriction, this will be enforced </a:t>
            </a:r>
          </a:p>
          <a:p>
            <a:pPr marL="457200" lvl="1" indent="0">
              <a:buNone/>
              <a:tabLst>
                <a:tab pos="1712913" algn="l"/>
              </a:tabLst>
            </a:pPr>
            <a:r>
              <a:rPr lang="en-US" dirty="0"/>
              <a:t>   by adding constraints</a:t>
            </a:r>
          </a:p>
          <a:p>
            <a:pPr>
              <a:tabLst>
                <a:tab pos="1712913" algn="l"/>
              </a:tabLst>
            </a:pPr>
            <a:endParaRPr lang="en-US" dirty="0"/>
          </a:p>
          <a:p>
            <a:pPr>
              <a:tabLst>
                <a:tab pos="1712913" algn="l"/>
              </a:tabLst>
            </a:pPr>
            <a:endParaRPr lang="en-US" dirty="0"/>
          </a:p>
          <a:p>
            <a:pPr>
              <a:tabLst>
                <a:tab pos="1712913" algn="l"/>
              </a:tabLst>
            </a:pPr>
            <a:endParaRPr lang="en-US" dirty="0"/>
          </a:p>
          <a:p>
            <a:pPr>
              <a:tabLst>
                <a:tab pos="1712913" algn="l"/>
              </a:tabLst>
            </a:pPr>
            <a:endParaRPr lang="en-US" dirty="0"/>
          </a:p>
          <a:p>
            <a:pPr>
              <a:tabLst>
                <a:tab pos="1712913" algn="l"/>
              </a:tabLst>
            </a:pPr>
            <a:endParaRPr lang="en-US" dirty="0"/>
          </a:p>
          <a:p>
            <a:pPr marL="2743200" lvl="6" indent="0">
              <a:buNone/>
              <a:tabLst>
                <a:tab pos="1712913" algn="l"/>
              </a:tabLst>
            </a:pPr>
            <a:endParaRPr lang="en-US" dirty="0"/>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374" y="3154160"/>
            <a:ext cx="4086225" cy="168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descr="C:\Users\konurd\Desktop\1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27844" y="1588602"/>
            <a:ext cx="3100188" cy="4876800"/>
          </a:xfrm>
          <a:prstGeom prst="rect">
            <a:avLst/>
          </a:prstGeom>
          <a:noFill/>
          <a:extLst>
            <a:ext uri="{909E8E84-426E-40DD-AFC4-6F175D3DCCD1}">
              <a14:hiddenFill xmlns:a14="http://schemas.microsoft.com/office/drawing/2010/main">
                <a:solidFill>
                  <a:srgbClr val="FFFFFF"/>
                </a:solidFill>
              </a14:hiddenFill>
            </a:ext>
          </a:extLst>
        </p:spPr>
      </p:pic>
      <p:sp>
        <p:nvSpPr>
          <p:cNvPr id="8" name="Rounded Rectangular Callout 7"/>
          <p:cNvSpPr/>
          <p:nvPr/>
        </p:nvSpPr>
        <p:spPr bwMode="auto">
          <a:xfrm>
            <a:off x="2152525" y="5244513"/>
            <a:ext cx="1439561" cy="693420"/>
          </a:xfrm>
          <a:prstGeom prst="wedgeRoundRectCallout">
            <a:avLst>
              <a:gd name="adj1" fmla="val -16702"/>
              <a:gd name="adj2" fmla="val -154521"/>
              <a:gd name="adj3" fmla="val 16667"/>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400" dirty="0"/>
              <a:t>Pick ‘</a:t>
            </a:r>
            <a:r>
              <a:rPr lang="en-US" sz="1400" dirty="0" err="1"/>
              <a:t>int</a:t>
            </a:r>
            <a:r>
              <a:rPr lang="en-US" sz="1400" dirty="0"/>
              <a:t>’ and the constraint will be added</a:t>
            </a:r>
          </a:p>
        </p:txBody>
      </p:sp>
      <p:sp>
        <p:nvSpPr>
          <p:cNvPr id="9" name="Rounded Rectangular Callout 8"/>
          <p:cNvSpPr/>
          <p:nvPr/>
        </p:nvSpPr>
        <p:spPr bwMode="auto">
          <a:xfrm>
            <a:off x="160382" y="5244513"/>
            <a:ext cx="1602903" cy="693420"/>
          </a:xfrm>
          <a:prstGeom prst="wedgeRoundRectCallout">
            <a:avLst>
              <a:gd name="adj1" fmla="val 50955"/>
              <a:gd name="adj2" fmla="val -224641"/>
              <a:gd name="adj3" fmla="val 16667"/>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400" dirty="0"/>
              <a:t>Pick the decision variables that should be integer</a:t>
            </a:r>
          </a:p>
        </p:txBody>
      </p:sp>
      <p:sp>
        <p:nvSpPr>
          <p:cNvPr id="10" name="Rounded Rectangular Callout 9"/>
          <p:cNvSpPr/>
          <p:nvPr/>
        </p:nvSpPr>
        <p:spPr bwMode="auto">
          <a:xfrm>
            <a:off x="7849331" y="5189573"/>
            <a:ext cx="914400" cy="394100"/>
          </a:xfrm>
          <a:prstGeom prst="wedgeRoundRectCallout">
            <a:avLst>
              <a:gd name="adj1" fmla="val 108675"/>
              <a:gd name="adj2" fmla="val -493333"/>
              <a:gd name="adj3" fmla="val 16667"/>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400" dirty="0"/>
              <a:t>Uncheck</a:t>
            </a:r>
          </a:p>
        </p:txBody>
      </p:sp>
      <p:sp>
        <p:nvSpPr>
          <p:cNvPr id="11" name="Rounded Rectangular Callout 10"/>
          <p:cNvSpPr/>
          <p:nvPr/>
        </p:nvSpPr>
        <p:spPr bwMode="auto">
          <a:xfrm>
            <a:off x="7849331" y="5892879"/>
            <a:ext cx="914400" cy="394100"/>
          </a:xfrm>
          <a:prstGeom prst="wedgeRoundRectCallout">
            <a:avLst>
              <a:gd name="adj1" fmla="val 192425"/>
              <a:gd name="adj2" fmla="val 43219"/>
              <a:gd name="adj3" fmla="val 16667"/>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400" dirty="0"/>
              <a:t>Click OK</a:t>
            </a:r>
          </a:p>
        </p:txBody>
      </p:sp>
      <p:sp>
        <p:nvSpPr>
          <p:cNvPr id="12" name="Right Arrow 11"/>
          <p:cNvSpPr/>
          <p:nvPr/>
        </p:nvSpPr>
        <p:spPr>
          <a:xfrm rot="20664555">
            <a:off x="6093458" y="2752720"/>
            <a:ext cx="2656703" cy="1685925"/>
          </a:xfrm>
          <a:prstGeom prst="rightArrow">
            <a:avLst>
              <a:gd name="adj1" fmla="val 74920"/>
              <a:gd name="adj2" fmla="val 48534"/>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On Solver window, click on ‘Options’ and ‘Options’ window will show</a:t>
            </a:r>
          </a:p>
        </p:txBody>
      </p:sp>
    </p:spTree>
    <p:extLst>
      <p:ext uri="{BB962C8B-B14F-4D97-AF65-F5344CB8AC3E}">
        <p14:creationId xmlns:p14="http://schemas.microsoft.com/office/powerpoint/2010/main" val="26375246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Applications</a:t>
            </a:r>
          </a:p>
        </p:txBody>
      </p:sp>
      <p:sp>
        <p:nvSpPr>
          <p:cNvPr id="3" name="Content Placeholder 2"/>
          <p:cNvSpPr>
            <a:spLocks noGrp="1"/>
          </p:cNvSpPr>
          <p:nvPr>
            <p:ph idx="1"/>
          </p:nvPr>
        </p:nvSpPr>
        <p:spPr/>
        <p:txBody>
          <a:bodyPr/>
          <a:lstStyle/>
          <a:p>
            <a:r>
              <a:rPr lang="en-US" b="1" u="sng" dirty="0"/>
              <a:t>Case: TBA Airlines Problem (Chapter 3.2)</a:t>
            </a:r>
          </a:p>
          <a:p>
            <a:pPr>
              <a:tabLst>
                <a:tab pos="1712913" algn="l"/>
              </a:tabLst>
            </a:pPr>
            <a:r>
              <a:rPr lang="en-US" dirty="0"/>
              <a:t>Spreadsheet model and the integer solution with Excel Solver</a:t>
            </a:r>
          </a:p>
          <a:p>
            <a:pPr>
              <a:tabLst>
                <a:tab pos="1712913" algn="l"/>
              </a:tabLst>
            </a:pPr>
            <a:endParaRPr lang="en-US" dirty="0"/>
          </a:p>
          <a:p>
            <a:pPr>
              <a:tabLst>
                <a:tab pos="1712913" algn="l"/>
              </a:tabLst>
            </a:pPr>
            <a:endParaRPr lang="en-US" dirty="0"/>
          </a:p>
          <a:p>
            <a:pPr>
              <a:tabLst>
                <a:tab pos="1712913" algn="l"/>
              </a:tabLst>
            </a:pPr>
            <a:endParaRPr lang="en-US" dirty="0"/>
          </a:p>
          <a:p>
            <a:pPr>
              <a:tabLst>
                <a:tab pos="1712913" algn="l"/>
              </a:tabLst>
            </a:pPr>
            <a:endParaRPr lang="en-US" dirty="0"/>
          </a:p>
          <a:p>
            <a:pPr>
              <a:tabLst>
                <a:tab pos="1712913" algn="l"/>
              </a:tabLst>
            </a:pPr>
            <a:endParaRPr lang="en-US" dirty="0"/>
          </a:p>
          <a:p>
            <a:pPr lvl="6">
              <a:tabLst>
                <a:tab pos="1712913" algn="l"/>
              </a:tabLst>
            </a:pPr>
            <a:endParaRPr lang="en-US" dirty="0"/>
          </a:p>
        </p:txBody>
      </p:sp>
      <p:pic>
        <p:nvPicPr>
          <p:cNvPr id="6" name="Picture 5"/>
          <p:cNvPicPr>
            <a:picLocks noChangeAspect="1"/>
          </p:cNvPicPr>
          <p:nvPr/>
        </p:nvPicPr>
        <p:blipFill>
          <a:blip r:embed="rId2"/>
          <a:stretch>
            <a:fillRect/>
          </a:stretch>
        </p:blipFill>
        <p:spPr>
          <a:xfrm>
            <a:off x="1043374" y="2351882"/>
            <a:ext cx="5162550" cy="2609850"/>
          </a:xfrm>
          <a:prstGeom prst="rect">
            <a:avLst/>
          </a:prstGeom>
        </p:spPr>
      </p:pic>
    </p:spTree>
    <p:extLst>
      <p:ext uri="{BB962C8B-B14F-4D97-AF65-F5344CB8AC3E}">
        <p14:creationId xmlns:p14="http://schemas.microsoft.com/office/powerpoint/2010/main" val="10661296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Applications</a:t>
            </a:r>
          </a:p>
        </p:txBody>
      </p:sp>
      <p:sp>
        <p:nvSpPr>
          <p:cNvPr id="3" name="Content Placeholder 2"/>
          <p:cNvSpPr>
            <a:spLocks noGrp="1"/>
          </p:cNvSpPr>
          <p:nvPr>
            <p:ph idx="1"/>
          </p:nvPr>
        </p:nvSpPr>
        <p:spPr/>
        <p:txBody>
          <a:bodyPr>
            <a:normAutofit fontScale="92500" lnSpcReduction="10000"/>
          </a:bodyPr>
          <a:lstStyle/>
          <a:p>
            <a:r>
              <a:rPr lang="en-US" b="1" u="sng" dirty="0"/>
              <a:t>Resource Allocation Problems:</a:t>
            </a:r>
          </a:p>
          <a:p>
            <a:pPr lvl="1"/>
            <a:r>
              <a:rPr lang="en-US" dirty="0"/>
              <a:t>There is a set of activities under consideration with different contributions</a:t>
            </a:r>
          </a:p>
          <a:p>
            <a:pPr lvl="1"/>
            <a:r>
              <a:rPr lang="en-US" dirty="0"/>
              <a:t>There is a set of resources with limited availability</a:t>
            </a:r>
          </a:p>
          <a:p>
            <a:pPr lvl="2"/>
            <a:r>
              <a:rPr lang="en-US" dirty="0"/>
              <a:t>Each activity (variable) has a profit (contribution) and uses a specific amount of each resource</a:t>
            </a:r>
          </a:p>
          <a:p>
            <a:pPr lvl="2"/>
            <a:r>
              <a:rPr lang="en-US" dirty="0"/>
              <a:t>How much of each activity you should choose to maximize your profit?</a:t>
            </a:r>
          </a:p>
          <a:p>
            <a:pPr lvl="3"/>
            <a:r>
              <a:rPr lang="en-US" dirty="0"/>
              <a:t>Surviving in an island example and </a:t>
            </a:r>
            <a:r>
              <a:rPr lang="en-US" dirty="0" err="1"/>
              <a:t>Wyndor</a:t>
            </a:r>
            <a:r>
              <a:rPr lang="en-US" dirty="0"/>
              <a:t> Glass Co. product mix case</a:t>
            </a:r>
          </a:p>
          <a:p>
            <a:r>
              <a:rPr lang="en-US" b="1" u="sng" dirty="0"/>
              <a:t>Project for Tennessee Department Of Transportation</a:t>
            </a:r>
          </a:p>
          <a:p>
            <a:pPr lvl="1"/>
            <a:r>
              <a:rPr lang="en-US" dirty="0"/>
              <a:t>Upgrade railroad-highway crossings</a:t>
            </a:r>
          </a:p>
          <a:p>
            <a:pPr lvl="2"/>
            <a:r>
              <a:rPr lang="en-US" dirty="0"/>
              <a:t>Flashing lights or gates (more countermeasures)</a:t>
            </a:r>
          </a:p>
          <a:p>
            <a:pPr lvl="2"/>
            <a:r>
              <a:rPr lang="en-US" dirty="0"/>
              <a:t>Every crossing has different risk value and there is limited budget for upgrades</a:t>
            </a:r>
          </a:p>
          <a:p>
            <a:pPr lvl="2"/>
            <a:r>
              <a:rPr lang="en-US" dirty="0"/>
              <a:t>Which countermeasure should be implemented at which crossing so that maximum risk reduction is achieved under the given budget?</a:t>
            </a:r>
          </a:p>
          <a:p>
            <a:pPr lvl="1"/>
            <a:r>
              <a:rPr lang="en-US" dirty="0" err="1"/>
              <a:t>Konur</a:t>
            </a:r>
            <a:r>
              <a:rPr lang="en-US" dirty="0"/>
              <a:t>, D., </a:t>
            </a:r>
            <a:r>
              <a:rPr lang="en-US" dirty="0" err="1"/>
              <a:t>Golias</a:t>
            </a:r>
            <a:r>
              <a:rPr lang="en-US" dirty="0"/>
              <a:t>, M.M., Darks, B. 2013. A Mathematical Modeling Approach to Resource Allocation for Railroad-Highway Crossing Safety Upgrades. </a:t>
            </a:r>
            <a:r>
              <a:rPr lang="en-US" i="1" dirty="0"/>
              <a:t>Accident Analysis and Prevention 51, 192-201.</a:t>
            </a:r>
          </a:p>
          <a:p>
            <a:pPr>
              <a:tabLst>
                <a:tab pos="1712913" algn="l"/>
              </a:tabLst>
            </a:pPr>
            <a:endParaRPr lang="en-US" dirty="0"/>
          </a:p>
          <a:p>
            <a:pPr>
              <a:tabLst>
                <a:tab pos="1712913" algn="l"/>
              </a:tabLst>
            </a:pPr>
            <a:endParaRPr lang="en-US" dirty="0"/>
          </a:p>
          <a:p>
            <a:pPr>
              <a:tabLst>
                <a:tab pos="1712913" algn="l"/>
              </a:tabLst>
            </a:pPr>
            <a:endParaRPr lang="en-US" dirty="0"/>
          </a:p>
          <a:p>
            <a:pPr>
              <a:tabLst>
                <a:tab pos="1712913" algn="l"/>
              </a:tabLst>
            </a:pPr>
            <a:endParaRPr lang="en-US" dirty="0"/>
          </a:p>
          <a:p>
            <a:pPr>
              <a:tabLst>
                <a:tab pos="1712913" algn="l"/>
              </a:tabLst>
            </a:pPr>
            <a:endParaRPr lang="en-US" dirty="0"/>
          </a:p>
          <a:p>
            <a:pPr lvl="6">
              <a:tabLst>
                <a:tab pos="1712913" algn="l"/>
              </a:tabLst>
            </a:pPr>
            <a:endParaRPr lang="en-US" dirty="0"/>
          </a:p>
        </p:txBody>
      </p:sp>
      <p:pic>
        <p:nvPicPr>
          <p:cNvPr id="7" name="Picture 2" descr="https://encrypted-tbn0.google.com/images?q=tbn:ANd9GcQIi3uo2htVe2cD0udXb2Xs2tHA_tkP0rPH5slw0DxWsLKKJyq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55875" y="3842951"/>
            <a:ext cx="1000898" cy="1000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151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Applications</a:t>
            </a:r>
          </a:p>
        </p:txBody>
      </p:sp>
      <p:sp>
        <p:nvSpPr>
          <p:cNvPr id="3" name="Content Placeholder 2"/>
          <p:cNvSpPr>
            <a:spLocks noGrp="1"/>
          </p:cNvSpPr>
          <p:nvPr>
            <p:ph idx="1"/>
          </p:nvPr>
        </p:nvSpPr>
        <p:spPr/>
        <p:txBody>
          <a:bodyPr/>
          <a:lstStyle/>
          <a:p>
            <a:r>
              <a:rPr lang="en-US" b="1" u="sng" dirty="0"/>
              <a:t>Case: Think-Big Development Co. Capital Budgeting Problem (Chapter 3.2)</a:t>
            </a:r>
          </a:p>
          <a:p>
            <a:pPr lvl="1"/>
            <a:r>
              <a:rPr lang="en-US" u="sng" dirty="0"/>
              <a:t>Case Description: </a:t>
            </a:r>
            <a:r>
              <a:rPr lang="en-US" dirty="0"/>
              <a:t>Think-Big Development Co. is a major investor in commercial real-estate development projects. They are considering three large construction projects</a:t>
            </a:r>
          </a:p>
          <a:p>
            <a:pPr lvl="2"/>
            <a:r>
              <a:rPr lang="en-US" dirty="0"/>
              <a:t>Construct a high-rise office building.</a:t>
            </a:r>
          </a:p>
          <a:p>
            <a:pPr lvl="2"/>
            <a:r>
              <a:rPr lang="en-US" dirty="0"/>
              <a:t>Construct a hotel.</a:t>
            </a:r>
          </a:p>
          <a:p>
            <a:pPr lvl="2"/>
            <a:r>
              <a:rPr lang="en-US" dirty="0"/>
              <a:t>Construct a shopping center.</a:t>
            </a:r>
          </a:p>
          <a:p>
            <a:pPr lvl="1"/>
            <a:r>
              <a:rPr lang="en-US" dirty="0"/>
              <a:t>Each project requires each partner to make four investments: </a:t>
            </a:r>
          </a:p>
          <a:p>
            <a:pPr lvl="2"/>
            <a:r>
              <a:rPr lang="en-US" dirty="0"/>
              <a:t>a down payment now,  and additional capital after one, two, and three years.</a:t>
            </a:r>
          </a:p>
          <a:p>
            <a:pPr lvl="1"/>
            <a:endParaRPr lang="en-US" dirty="0"/>
          </a:p>
          <a:p>
            <a:pPr lvl="1"/>
            <a:r>
              <a:rPr lang="en-US" dirty="0"/>
              <a:t>Question: At what fraction should Think-Big invest in each of the three projects?</a:t>
            </a:r>
          </a:p>
          <a:p>
            <a:pPr lvl="1"/>
            <a:endParaRPr lang="en-US" dirty="0"/>
          </a:p>
          <a:p>
            <a:pPr>
              <a:tabLst>
                <a:tab pos="1712913" algn="l"/>
              </a:tabLst>
            </a:pPr>
            <a:endParaRPr lang="en-US" dirty="0"/>
          </a:p>
          <a:p>
            <a:pPr>
              <a:tabLst>
                <a:tab pos="1712913" algn="l"/>
              </a:tabLst>
            </a:pPr>
            <a:endParaRPr lang="en-US" dirty="0"/>
          </a:p>
          <a:p>
            <a:pPr>
              <a:tabLst>
                <a:tab pos="1712913" algn="l"/>
              </a:tabLst>
            </a:pPr>
            <a:endParaRPr lang="en-US" dirty="0"/>
          </a:p>
          <a:p>
            <a:pPr>
              <a:tabLst>
                <a:tab pos="1712913" algn="l"/>
              </a:tabLst>
            </a:pPr>
            <a:endParaRPr lang="en-US" dirty="0"/>
          </a:p>
          <a:p>
            <a:pPr lvl="6">
              <a:tabLst>
                <a:tab pos="1712913" algn="l"/>
              </a:tabLst>
            </a:pPr>
            <a:endParaRPr lang="en-US" dirty="0"/>
          </a:p>
        </p:txBody>
      </p:sp>
    </p:spTree>
    <p:extLst>
      <p:ext uri="{BB962C8B-B14F-4D97-AF65-F5344CB8AC3E}">
        <p14:creationId xmlns:p14="http://schemas.microsoft.com/office/powerpoint/2010/main" val="13420641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Applications</a:t>
            </a:r>
          </a:p>
        </p:txBody>
      </p:sp>
      <p:sp>
        <p:nvSpPr>
          <p:cNvPr id="3" name="Content Placeholder 2"/>
          <p:cNvSpPr>
            <a:spLocks noGrp="1"/>
          </p:cNvSpPr>
          <p:nvPr>
            <p:ph idx="1"/>
          </p:nvPr>
        </p:nvSpPr>
        <p:spPr/>
        <p:txBody>
          <a:bodyPr/>
          <a:lstStyle/>
          <a:p>
            <a:r>
              <a:rPr lang="en-US" b="1" u="sng" dirty="0"/>
              <a:t>Case: Think-Big Development Co. Capital Budgeting Problem (Chapter 3.2)</a:t>
            </a:r>
          </a:p>
          <a:p>
            <a:r>
              <a:rPr lang="en-US" b="1" dirty="0">
                <a:solidFill>
                  <a:srgbClr val="C00000"/>
                </a:solidFill>
              </a:rPr>
              <a:t>STEP 0: </a:t>
            </a:r>
            <a:r>
              <a:rPr lang="en-US" dirty="0"/>
              <a:t>Know the problem and gather your data</a:t>
            </a:r>
          </a:p>
          <a:p>
            <a:pPr lvl="1"/>
            <a:r>
              <a:rPr lang="en-US" dirty="0"/>
              <a:t>The company currently has $25M and $20M, $20M and $15M will become available after 1, 2, and 3 years, respectively.</a:t>
            </a:r>
          </a:p>
          <a:p>
            <a:pPr lvl="1"/>
            <a:r>
              <a:rPr lang="en-US" dirty="0"/>
              <a:t>Funds that are not used in a year will be available next year</a:t>
            </a:r>
          </a:p>
          <a:p>
            <a:pPr lvl="2"/>
            <a:r>
              <a:rPr lang="en-US" dirty="0"/>
              <a:t>Therefore, we should consider the cumulative availability at the end of each period!!</a:t>
            </a:r>
          </a:p>
          <a:p>
            <a:pPr lvl="1"/>
            <a:endParaRPr lang="en-US" dirty="0"/>
          </a:p>
          <a:p>
            <a:pPr>
              <a:tabLst>
                <a:tab pos="1712913" algn="l"/>
              </a:tabLst>
            </a:pPr>
            <a:endParaRPr lang="en-US" dirty="0"/>
          </a:p>
          <a:p>
            <a:pPr>
              <a:tabLst>
                <a:tab pos="1712913" algn="l"/>
              </a:tabLst>
            </a:pPr>
            <a:endParaRPr lang="en-US" dirty="0"/>
          </a:p>
          <a:p>
            <a:pPr>
              <a:tabLst>
                <a:tab pos="1712913" algn="l"/>
              </a:tabLst>
            </a:pPr>
            <a:endParaRPr lang="en-US" dirty="0"/>
          </a:p>
          <a:p>
            <a:pPr>
              <a:tabLst>
                <a:tab pos="1712913" algn="l"/>
              </a:tabLst>
            </a:pPr>
            <a:endParaRPr lang="en-US" dirty="0"/>
          </a:p>
          <a:p>
            <a:pPr lvl="6">
              <a:tabLst>
                <a:tab pos="1712913" algn="l"/>
              </a:tabLst>
            </a:pPr>
            <a:endParaRPr lang="en-US" dirty="0"/>
          </a:p>
        </p:txBody>
      </p:sp>
      <p:pic>
        <p:nvPicPr>
          <p:cNvPr id="5" name="Picture 4"/>
          <p:cNvPicPr>
            <a:picLocks noChangeAspect="1"/>
          </p:cNvPicPr>
          <p:nvPr/>
        </p:nvPicPr>
        <p:blipFill>
          <a:blip r:embed="rId2"/>
          <a:stretch>
            <a:fillRect/>
          </a:stretch>
        </p:blipFill>
        <p:spPr>
          <a:xfrm>
            <a:off x="914399" y="4102391"/>
            <a:ext cx="9943071" cy="2164265"/>
          </a:xfrm>
          <a:prstGeom prst="rect">
            <a:avLst/>
          </a:prstGeom>
        </p:spPr>
      </p:pic>
    </p:spTree>
    <p:extLst>
      <p:ext uri="{BB962C8B-B14F-4D97-AF65-F5344CB8AC3E}">
        <p14:creationId xmlns:p14="http://schemas.microsoft.com/office/powerpoint/2010/main" val="2937183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Applications</a:t>
            </a:r>
          </a:p>
        </p:txBody>
      </p:sp>
      <p:sp>
        <p:nvSpPr>
          <p:cNvPr id="3" name="Content Placeholder 2"/>
          <p:cNvSpPr>
            <a:spLocks noGrp="1"/>
          </p:cNvSpPr>
          <p:nvPr>
            <p:ph idx="1"/>
          </p:nvPr>
        </p:nvSpPr>
        <p:spPr/>
        <p:txBody>
          <a:bodyPr/>
          <a:lstStyle/>
          <a:p>
            <a:r>
              <a:rPr lang="en-US" b="1" u="sng" dirty="0"/>
              <a:t>Case: Think-Big Development Co. Capital Budgeting Problem (Chapter 3.2)</a:t>
            </a:r>
          </a:p>
          <a:p>
            <a:r>
              <a:rPr lang="en-US" b="1" dirty="0">
                <a:solidFill>
                  <a:srgbClr val="C00000"/>
                </a:solidFill>
              </a:rPr>
              <a:t>STEP 1: </a:t>
            </a:r>
            <a:r>
              <a:rPr lang="en-US" dirty="0"/>
              <a:t>Decision variables</a:t>
            </a:r>
          </a:p>
          <a:p>
            <a:pPr lvl="1"/>
            <a:r>
              <a:rPr lang="en-US" dirty="0"/>
              <a:t>We want to determine the fraction to invest in each project</a:t>
            </a:r>
          </a:p>
          <a:p>
            <a:pPr marL="457200" lvl="1" indent="0">
              <a:buNone/>
            </a:pPr>
            <a:r>
              <a:rPr lang="en-US" i="1" dirty="0"/>
              <a:t>		OB</a:t>
            </a:r>
            <a:r>
              <a:rPr lang="en-US" dirty="0"/>
              <a:t>: fraction invested in office buildings</a:t>
            </a:r>
          </a:p>
          <a:p>
            <a:pPr marL="457200" lvl="1" indent="0">
              <a:buNone/>
            </a:pPr>
            <a:r>
              <a:rPr lang="en-US" i="1" dirty="0"/>
              <a:t>		H</a:t>
            </a:r>
            <a:r>
              <a:rPr lang="en-US" dirty="0"/>
              <a:t>: fraction invested in hotels</a:t>
            </a:r>
          </a:p>
          <a:p>
            <a:pPr marL="457200" lvl="1" indent="0">
              <a:buNone/>
            </a:pPr>
            <a:r>
              <a:rPr lang="en-US" i="1" dirty="0"/>
              <a:t>		SC</a:t>
            </a:r>
            <a:r>
              <a:rPr lang="en-US" dirty="0"/>
              <a:t>: fraction invested in shopping center</a:t>
            </a:r>
            <a:endParaRPr lang="en-US" b="1" dirty="0">
              <a:solidFill>
                <a:srgbClr val="C00000"/>
              </a:solidFill>
            </a:endParaRPr>
          </a:p>
          <a:p>
            <a:r>
              <a:rPr lang="en-US" b="1" dirty="0">
                <a:solidFill>
                  <a:srgbClr val="C00000"/>
                </a:solidFill>
              </a:rPr>
              <a:t>STEP 2: </a:t>
            </a:r>
            <a:r>
              <a:rPr lang="en-US" dirty="0"/>
              <a:t>Objective and objective function</a:t>
            </a:r>
          </a:p>
          <a:p>
            <a:pPr lvl="1"/>
            <a:r>
              <a:rPr lang="en-US" dirty="0"/>
              <a:t>We want to maximize the total net present value</a:t>
            </a:r>
          </a:p>
          <a:p>
            <a:pPr marL="457200" lvl="1" indent="0">
              <a:buNone/>
              <a:tabLst>
                <a:tab pos="1712913" algn="l"/>
              </a:tabLst>
            </a:pPr>
            <a:r>
              <a:rPr lang="en-US" dirty="0"/>
              <a:t>	Maximize  	</a:t>
            </a:r>
            <a:r>
              <a:rPr lang="en-US" i="1" dirty="0"/>
              <a:t>NPV</a:t>
            </a:r>
            <a:r>
              <a:rPr lang="en-US" dirty="0"/>
              <a:t> = 45</a:t>
            </a:r>
            <a:r>
              <a:rPr lang="en-US" i="1" dirty="0"/>
              <a:t>OB</a:t>
            </a:r>
            <a:r>
              <a:rPr lang="en-US" dirty="0"/>
              <a:t> + 70</a:t>
            </a:r>
            <a:r>
              <a:rPr lang="en-US" i="1" dirty="0"/>
              <a:t>H</a:t>
            </a:r>
            <a:r>
              <a:rPr lang="en-US" dirty="0"/>
              <a:t> + 50</a:t>
            </a:r>
            <a:r>
              <a:rPr lang="en-US" i="1" dirty="0"/>
              <a:t>SC</a:t>
            </a:r>
            <a:br>
              <a:rPr lang="en-US" dirty="0"/>
            </a:br>
            <a:endParaRPr lang="en-US" dirty="0"/>
          </a:p>
          <a:p>
            <a:pPr>
              <a:tabLst>
                <a:tab pos="1712913" algn="l"/>
              </a:tabLst>
            </a:pPr>
            <a:endParaRPr lang="en-US" dirty="0"/>
          </a:p>
          <a:p>
            <a:pPr>
              <a:tabLst>
                <a:tab pos="1712913" algn="l"/>
              </a:tabLst>
            </a:pPr>
            <a:endParaRPr lang="en-US" dirty="0"/>
          </a:p>
          <a:p>
            <a:pPr lvl="6">
              <a:tabLst>
                <a:tab pos="1712913" algn="l"/>
              </a:tabLst>
            </a:pPr>
            <a:endParaRPr lang="en-US" dirty="0"/>
          </a:p>
        </p:txBody>
      </p:sp>
    </p:spTree>
    <p:extLst>
      <p:ext uri="{BB962C8B-B14F-4D97-AF65-F5344CB8AC3E}">
        <p14:creationId xmlns:p14="http://schemas.microsoft.com/office/powerpoint/2010/main" val="3213611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Applications</a:t>
            </a:r>
          </a:p>
        </p:txBody>
      </p:sp>
      <p:sp>
        <p:nvSpPr>
          <p:cNvPr id="3" name="Content Placeholder 2"/>
          <p:cNvSpPr>
            <a:spLocks noGrp="1"/>
          </p:cNvSpPr>
          <p:nvPr>
            <p:ph idx="1"/>
          </p:nvPr>
        </p:nvSpPr>
        <p:spPr/>
        <p:txBody>
          <a:bodyPr>
            <a:normAutofit lnSpcReduction="10000"/>
          </a:bodyPr>
          <a:lstStyle/>
          <a:p>
            <a:r>
              <a:rPr lang="en-US" b="1" u="sng" dirty="0"/>
              <a:t>Case: Think-Big Development Co. Capital Budgeting Problem (Chapter 3.2)</a:t>
            </a:r>
          </a:p>
          <a:p>
            <a:r>
              <a:rPr lang="en-US" b="1" dirty="0">
                <a:solidFill>
                  <a:srgbClr val="C00000"/>
                </a:solidFill>
              </a:rPr>
              <a:t>STEP 3: </a:t>
            </a:r>
            <a:r>
              <a:rPr lang="en-US" dirty="0"/>
              <a:t>Constraints</a:t>
            </a:r>
          </a:p>
          <a:p>
            <a:pPr lvl="1"/>
            <a:r>
              <a:rPr lang="en-US" dirty="0"/>
              <a:t>We have cash-flow requirements: available money by the end of a year should be at least as much as the required payment by the end of that year</a:t>
            </a:r>
          </a:p>
          <a:p>
            <a:pPr lvl="2"/>
            <a:r>
              <a:rPr lang="en-US" dirty="0"/>
              <a:t>That is, </a:t>
            </a:r>
            <a:r>
              <a:rPr lang="en-US" dirty="0" err="1"/>
              <a:t>cash_required</a:t>
            </a:r>
            <a:r>
              <a:rPr lang="en-US" dirty="0"/>
              <a:t> &lt;= </a:t>
            </a:r>
            <a:r>
              <a:rPr lang="en-US" dirty="0" err="1"/>
              <a:t>cash_available</a:t>
            </a:r>
            <a:r>
              <a:rPr lang="en-US" dirty="0"/>
              <a:t> for each year</a:t>
            </a:r>
          </a:p>
          <a:p>
            <a:pPr lvl="1"/>
            <a:r>
              <a:rPr lang="en-US" dirty="0"/>
              <a:t>For year 0 (</a:t>
            </a:r>
            <a:r>
              <a:rPr lang="en-US" dirty="0" err="1"/>
              <a:t>i.e</a:t>
            </a:r>
            <a:r>
              <a:rPr lang="en-US" dirty="0"/>
              <a:t>, now), we have $25 million available, and the total down payment we need to make is equal to 40</a:t>
            </a:r>
            <a:r>
              <a:rPr lang="en-US" i="1" dirty="0"/>
              <a:t>OB</a:t>
            </a:r>
            <a:r>
              <a:rPr lang="en-US" dirty="0"/>
              <a:t> + 80</a:t>
            </a:r>
            <a:r>
              <a:rPr lang="en-US" i="1" dirty="0"/>
              <a:t>H</a:t>
            </a:r>
            <a:r>
              <a:rPr lang="en-US" dirty="0"/>
              <a:t> + 90</a:t>
            </a:r>
            <a:r>
              <a:rPr lang="en-US" i="1" dirty="0"/>
              <a:t>SC, </a:t>
            </a:r>
            <a:r>
              <a:rPr lang="en-US" dirty="0"/>
              <a:t>thus we have </a:t>
            </a:r>
          </a:p>
          <a:p>
            <a:pPr marL="457200" lvl="1" indent="0">
              <a:buNone/>
            </a:pPr>
            <a:r>
              <a:rPr lang="en-US" dirty="0"/>
              <a:t>		</a:t>
            </a:r>
            <a:r>
              <a:rPr lang="en-US" b="1" dirty="0"/>
              <a:t>40</a:t>
            </a:r>
            <a:r>
              <a:rPr lang="en-US" b="1" i="1" dirty="0"/>
              <a:t>OB</a:t>
            </a:r>
            <a:r>
              <a:rPr lang="en-US" b="1" dirty="0"/>
              <a:t> + 80</a:t>
            </a:r>
            <a:r>
              <a:rPr lang="en-US" b="1" i="1" dirty="0"/>
              <a:t>H</a:t>
            </a:r>
            <a:r>
              <a:rPr lang="en-US" b="1" dirty="0"/>
              <a:t> + 90</a:t>
            </a:r>
            <a:r>
              <a:rPr lang="en-US" b="1" i="1" dirty="0"/>
              <a:t>SC</a:t>
            </a:r>
            <a:r>
              <a:rPr lang="en-US" b="1" dirty="0"/>
              <a:t> ≤ 25</a:t>
            </a:r>
          </a:p>
          <a:p>
            <a:pPr lvl="1"/>
            <a:r>
              <a:rPr lang="en-US" dirty="0"/>
              <a:t>For year 1, we will have $20 million coming in and any money left from year 0, and the payment we need to make is equal to 60</a:t>
            </a:r>
            <a:r>
              <a:rPr lang="en-US" i="1" dirty="0"/>
              <a:t>OB</a:t>
            </a:r>
            <a:r>
              <a:rPr lang="en-US" dirty="0"/>
              <a:t> + 80</a:t>
            </a:r>
            <a:r>
              <a:rPr lang="en-US" i="1" dirty="0"/>
              <a:t>H</a:t>
            </a:r>
            <a:r>
              <a:rPr lang="en-US" dirty="0"/>
              <a:t> + 50</a:t>
            </a:r>
            <a:r>
              <a:rPr lang="en-US" i="1" dirty="0"/>
              <a:t>SC</a:t>
            </a:r>
            <a:r>
              <a:rPr lang="en-US" dirty="0"/>
              <a:t>, thus we have</a:t>
            </a:r>
          </a:p>
          <a:p>
            <a:pPr marL="457200" lvl="1" indent="0">
              <a:buNone/>
            </a:pPr>
            <a:r>
              <a:rPr lang="en-US" dirty="0"/>
              <a:t>60</a:t>
            </a:r>
            <a:r>
              <a:rPr lang="en-US" i="1" dirty="0"/>
              <a:t>OB</a:t>
            </a:r>
            <a:r>
              <a:rPr lang="en-US" dirty="0"/>
              <a:t> + 80</a:t>
            </a:r>
            <a:r>
              <a:rPr lang="en-US" i="1" dirty="0"/>
              <a:t>H</a:t>
            </a:r>
            <a:r>
              <a:rPr lang="en-US" dirty="0"/>
              <a:t> + 50</a:t>
            </a:r>
            <a:r>
              <a:rPr lang="en-US" i="1" dirty="0"/>
              <a:t>SC </a:t>
            </a:r>
            <a:r>
              <a:rPr lang="en-US" dirty="0"/>
              <a:t>≤ 20+ [25 – (40</a:t>
            </a:r>
            <a:r>
              <a:rPr lang="en-US" i="1" dirty="0"/>
              <a:t>OB</a:t>
            </a:r>
            <a:r>
              <a:rPr lang="en-US" dirty="0"/>
              <a:t> + 80</a:t>
            </a:r>
            <a:r>
              <a:rPr lang="en-US" i="1" dirty="0"/>
              <a:t>H</a:t>
            </a:r>
            <a:r>
              <a:rPr lang="en-US" dirty="0"/>
              <a:t> + 90</a:t>
            </a:r>
            <a:r>
              <a:rPr lang="en-US" i="1" dirty="0"/>
              <a:t>SC</a:t>
            </a:r>
            <a:r>
              <a:rPr lang="en-US" dirty="0"/>
              <a:t> )]</a:t>
            </a:r>
          </a:p>
          <a:p>
            <a:pPr marL="457200" lvl="1" indent="0">
              <a:buNone/>
            </a:pPr>
            <a:br>
              <a:rPr lang="en-US" dirty="0"/>
            </a:br>
            <a:endParaRPr lang="en-US" dirty="0"/>
          </a:p>
          <a:p>
            <a:pPr>
              <a:tabLst>
                <a:tab pos="1712913" algn="l"/>
              </a:tabLst>
            </a:pPr>
            <a:endParaRPr lang="en-US" dirty="0"/>
          </a:p>
          <a:p>
            <a:pPr marL="0" indent="0">
              <a:buNone/>
              <a:tabLst>
                <a:tab pos="1712913" algn="l"/>
              </a:tabLst>
            </a:pPr>
            <a:endParaRPr lang="en-US" dirty="0"/>
          </a:p>
          <a:p>
            <a:pPr>
              <a:tabLst>
                <a:tab pos="1712913" algn="l"/>
              </a:tabLst>
            </a:pPr>
            <a:endParaRPr lang="en-US" dirty="0"/>
          </a:p>
          <a:p>
            <a:pPr lvl="6">
              <a:tabLst>
                <a:tab pos="1712913" algn="l"/>
              </a:tabLst>
            </a:pPr>
            <a:endParaRPr lang="en-US" dirty="0"/>
          </a:p>
        </p:txBody>
      </p:sp>
      <p:sp>
        <p:nvSpPr>
          <p:cNvPr id="5" name="Left Brace 4"/>
          <p:cNvSpPr/>
          <p:nvPr/>
        </p:nvSpPr>
        <p:spPr>
          <a:xfrm rot="16200000">
            <a:off x="1811127" y="4204381"/>
            <a:ext cx="506627" cy="2403392"/>
          </a:xfrm>
          <a:prstGeom prst="lef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 name="Left Brace 5"/>
          <p:cNvSpPr/>
          <p:nvPr/>
        </p:nvSpPr>
        <p:spPr>
          <a:xfrm rot="16200000">
            <a:off x="5576602" y="3699815"/>
            <a:ext cx="506627" cy="3412523"/>
          </a:xfrm>
          <a:prstGeom prst="lef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 name="Left Brace 6"/>
          <p:cNvSpPr/>
          <p:nvPr/>
        </p:nvSpPr>
        <p:spPr>
          <a:xfrm rot="16200000">
            <a:off x="3441582" y="5235209"/>
            <a:ext cx="506627" cy="306858"/>
          </a:xfrm>
          <a:prstGeom prst="lef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8" name="TextBox 7"/>
          <p:cNvSpPr txBox="1"/>
          <p:nvPr/>
        </p:nvSpPr>
        <p:spPr>
          <a:xfrm>
            <a:off x="1485894" y="5849141"/>
            <a:ext cx="1569308" cy="923330"/>
          </a:xfrm>
          <a:prstGeom prst="rect">
            <a:avLst/>
          </a:prstGeom>
          <a:noFill/>
        </p:spPr>
        <p:txBody>
          <a:bodyPr wrap="square" rtlCol="0">
            <a:spAutoFit/>
          </a:bodyPr>
          <a:lstStyle/>
          <a:p>
            <a:pPr algn="ctr"/>
            <a:r>
              <a:rPr lang="en-US" dirty="0"/>
              <a:t>Payment to make at the end of year 1</a:t>
            </a:r>
          </a:p>
        </p:txBody>
      </p:sp>
      <p:sp>
        <p:nvSpPr>
          <p:cNvPr id="9" name="TextBox 8"/>
          <p:cNvSpPr txBox="1"/>
          <p:nvPr/>
        </p:nvSpPr>
        <p:spPr>
          <a:xfrm>
            <a:off x="3389354" y="5849141"/>
            <a:ext cx="1049294" cy="923330"/>
          </a:xfrm>
          <a:prstGeom prst="rect">
            <a:avLst/>
          </a:prstGeom>
          <a:noFill/>
        </p:spPr>
        <p:txBody>
          <a:bodyPr wrap="square" rtlCol="0">
            <a:spAutoFit/>
          </a:bodyPr>
          <a:lstStyle/>
          <a:p>
            <a:pPr algn="ctr"/>
            <a:r>
              <a:rPr lang="en-US" dirty="0"/>
              <a:t>Money coming in year 1</a:t>
            </a:r>
          </a:p>
        </p:txBody>
      </p:sp>
      <p:sp>
        <p:nvSpPr>
          <p:cNvPr id="10" name="TextBox 9"/>
          <p:cNvSpPr txBox="1"/>
          <p:nvPr/>
        </p:nvSpPr>
        <p:spPr>
          <a:xfrm>
            <a:off x="5454986" y="5849141"/>
            <a:ext cx="1049294" cy="923330"/>
          </a:xfrm>
          <a:prstGeom prst="rect">
            <a:avLst/>
          </a:prstGeom>
          <a:noFill/>
        </p:spPr>
        <p:txBody>
          <a:bodyPr wrap="square" rtlCol="0">
            <a:spAutoFit/>
          </a:bodyPr>
          <a:lstStyle/>
          <a:p>
            <a:pPr algn="ctr"/>
            <a:r>
              <a:rPr lang="en-US" dirty="0"/>
              <a:t>Money left from year 0</a:t>
            </a:r>
          </a:p>
        </p:txBody>
      </p:sp>
      <p:sp>
        <p:nvSpPr>
          <p:cNvPr id="11" name="Rectangle 10"/>
          <p:cNvSpPr/>
          <p:nvPr/>
        </p:nvSpPr>
        <p:spPr>
          <a:xfrm>
            <a:off x="8058386" y="4771419"/>
            <a:ext cx="4240263" cy="461665"/>
          </a:xfrm>
          <a:prstGeom prst="rect">
            <a:avLst/>
          </a:prstGeom>
        </p:spPr>
        <p:txBody>
          <a:bodyPr wrap="none">
            <a:spAutoFit/>
          </a:bodyPr>
          <a:lstStyle/>
          <a:p>
            <a:pPr lvl="1"/>
            <a:r>
              <a:rPr lang="en-US" sz="2400" b="1" dirty="0"/>
              <a:t>100</a:t>
            </a:r>
            <a:r>
              <a:rPr lang="en-US" sz="2400" b="1" i="1" dirty="0"/>
              <a:t>OB</a:t>
            </a:r>
            <a:r>
              <a:rPr lang="en-US" sz="2400" b="1" dirty="0"/>
              <a:t> + 160</a:t>
            </a:r>
            <a:r>
              <a:rPr lang="en-US" sz="2400" b="1" i="1" dirty="0"/>
              <a:t>H</a:t>
            </a:r>
            <a:r>
              <a:rPr lang="en-US" sz="2400" b="1" dirty="0"/>
              <a:t> + 140</a:t>
            </a:r>
            <a:r>
              <a:rPr lang="en-US" sz="2400" b="1" i="1" dirty="0"/>
              <a:t>SC</a:t>
            </a:r>
            <a:r>
              <a:rPr lang="en-US" sz="2400" b="1" dirty="0"/>
              <a:t> ≤ 45</a:t>
            </a:r>
          </a:p>
        </p:txBody>
      </p:sp>
      <p:sp>
        <p:nvSpPr>
          <p:cNvPr id="12" name="Left-Right Arrow 11"/>
          <p:cNvSpPr/>
          <p:nvPr/>
        </p:nvSpPr>
        <p:spPr>
          <a:xfrm>
            <a:off x="7811506" y="4852402"/>
            <a:ext cx="664104" cy="345989"/>
          </a:xfrm>
          <a:prstGeom prst="leftRightArrow">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78917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9" grpId="0"/>
      <p:bldP spid="10" grpId="0"/>
      <p:bldP spid="11" grpId="0"/>
      <p:bldP spid="1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Applications</a:t>
            </a:r>
          </a:p>
        </p:txBody>
      </p:sp>
      <p:sp>
        <p:nvSpPr>
          <p:cNvPr id="3" name="Content Placeholder 2"/>
          <p:cNvSpPr>
            <a:spLocks noGrp="1"/>
          </p:cNvSpPr>
          <p:nvPr>
            <p:ph idx="1"/>
          </p:nvPr>
        </p:nvSpPr>
        <p:spPr/>
        <p:txBody>
          <a:bodyPr>
            <a:normAutofit lnSpcReduction="10000"/>
          </a:bodyPr>
          <a:lstStyle/>
          <a:p>
            <a:r>
              <a:rPr lang="en-US" b="1" u="sng" dirty="0"/>
              <a:t>Case: Think-Big Development Co. Capital Budgeting Problem (Chapter 3.2)</a:t>
            </a:r>
          </a:p>
          <a:p>
            <a:r>
              <a:rPr lang="en-US" b="1" dirty="0">
                <a:solidFill>
                  <a:srgbClr val="C00000"/>
                </a:solidFill>
              </a:rPr>
              <a:t>STEP 3: </a:t>
            </a:r>
            <a:r>
              <a:rPr lang="en-US" dirty="0"/>
              <a:t>Constraints</a:t>
            </a:r>
          </a:p>
          <a:p>
            <a:pPr lvl="1"/>
            <a:r>
              <a:rPr lang="en-US" dirty="0"/>
              <a:t>For year 2, we will have $20 million coming in and any money left from year 1, and the payment we need to make is equal to 90</a:t>
            </a:r>
            <a:r>
              <a:rPr lang="en-US" i="1" dirty="0"/>
              <a:t>OB</a:t>
            </a:r>
            <a:r>
              <a:rPr lang="en-US" dirty="0"/>
              <a:t> + 80</a:t>
            </a:r>
            <a:r>
              <a:rPr lang="en-US" i="1" dirty="0"/>
              <a:t>H</a:t>
            </a:r>
            <a:r>
              <a:rPr lang="en-US" dirty="0"/>
              <a:t> + 20</a:t>
            </a:r>
            <a:r>
              <a:rPr lang="en-US" i="1" dirty="0"/>
              <a:t>SC</a:t>
            </a:r>
            <a:r>
              <a:rPr lang="en-US" dirty="0"/>
              <a:t>, thus we have</a:t>
            </a:r>
          </a:p>
          <a:p>
            <a:pPr marL="457200" lvl="1" indent="0">
              <a:buNone/>
            </a:pPr>
            <a:r>
              <a:rPr lang="en-US" dirty="0"/>
              <a:t>   90</a:t>
            </a:r>
            <a:r>
              <a:rPr lang="en-US" i="1" dirty="0"/>
              <a:t>OB</a:t>
            </a:r>
            <a:r>
              <a:rPr lang="en-US" dirty="0"/>
              <a:t> + 80</a:t>
            </a:r>
            <a:r>
              <a:rPr lang="en-US" i="1" dirty="0"/>
              <a:t>H</a:t>
            </a:r>
            <a:r>
              <a:rPr lang="en-US" dirty="0"/>
              <a:t> + 20</a:t>
            </a:r>
            <a:r>
              <a:rPr lang="en-US" i="1" dirty="0"/>
              <a:t>SC </a:t>
            </a:r>
            <a:r>
              <a:rPr lang="en-US" dirty="0"/>
              <a:t>≤ 20+ [45 – (100</a:t>
            </a:r>
            <a:r>
              <a:rPr lang="en-US" i="1" dirty="0"/>
              <a:t>OB</a:t>
            </a:r>
            <a:r>
              <a:rPr lang="en-US" dirty="0"/>
              <a:t> + 160</a:t>
            </a:r>
            <a:r>
              <a:rPr lang="en-US" i="1" dirty="0"/>
              <a:t>H</a:t>
            </a:r>
            <a:r>
              <a:rPr lang="en-US" dirty="0"/>
              <a:t> + 140</a:t>
            </a:r>
            <a:r>
              <a:rPr lang="en-US" i="1" dirty="0"/>
              <a:t>SC</a:t>
            </a:r>
            <a:r>
              <a:rPr lang="en-US" dirty="0"/>
              <a:t> )]</a:t>
            </a:r>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a:p>
            <a:pPr lvl="1"/>
            <a:r>
              <a:rPr lang="en-US" dirty="0"/>
              <a:t>For year 3, we will have $15 million coming in and any money left from year 2, and the payment we need to make is equal to 10</a:t>
            </a:r>
            <a:r>
              <a:rPr lang="en-US" i="1" dirty="0"/>
              <a:t>OB</a:t>
            </a:r>
            <a:r>
              <a:rPr lang="en-US" dirty="0"/>
              <a:t> + 70</a:t>
            </a:r>
            <a:r>
              <a:rPr lang="en-US" i="1" dirty="0"/>
              <a:t>H</a:t>
            </a:r>
            <a:r>
              <a:rPr lang="en-US" dirty="0"/>
              <a:t> + 60</a:t>
            </a:r>
            <a:r>
              <a:rPr lang="en-US" i="1" dirty="0"/>
              <a:t>SC</a:t>
            </a:r>
            <a:r>
              <a:rPr lang="en-US" dirty="0"/>
              <a:t>, thus we have</a:t>
            </a:r>
          </a:p>
          <a:p>
            <a:pPr marL="457200" lvl="1" indent="0">
              <a:buNone/>
            </a:pPr>
            <a:r>
              <a:rPr lang="en-US" dirty="0"/>
              <a:t>   10</a:t>
            </a:r>
            <a:r>
              <a:rPr lang="en-US" i="1" dirty="0"/>
              <a:t>OB</a:t>
            </a:r>
            <a:r>
              <a:rPr lang="en-US" dirty="0"/>
              <a:t> + 70</a:t>
            </a:r>
            <a:r>
              <a:rPr lang="en-US" i="1" dirty="0"/>
              <a:t>H</a:t>
            </a:r>
            <a:r>
              <a:rPr lang="en-US" dirty="0"/>
              <a:t> + 60</a:t>
            </a:r>
            <a:r>
              <a:rPr lang="en-US" i="1" dirty="0"/>
              <a:t>SC </a:t>
            </a:r>
            <a:r>
              <a:rPr lang="en-US" dirty="0"/>
              <a:t>≤ 15+ [65 – (190</a:t>
            </a:r>
            <a:r>
              <a:rPr lang="en-US" i="1" dirty="0"/>
              <a:t>OB</a:t>
            </a:r>
            <a:r>
              <a:rPr lang="en-US" dirty="0"/>
              <a:t> + 240</a:t>
            </a:r>
            <a:r>
              <a:rPr lang="en-US" i="1" dirty="0"/>
              <a:t>H</a:t>
            </a:r>
            <a:r>
              <a:rPr lang="en-US" dirty="0"/>
              <a:t> + 160</a:t>
            </a:r>
            <a:r>
              <a:rPr lang="en-US" i="1" dirty="0"/>
              <a:t>SC</a:t>
            </a:r>
            <a:r>
              <a:rPr lang="en-US" dirty="0"/>
              <a:t> )]</a:t>
            </a:r>
            <a:br>
              <a:rPr lang="en-US" dirty="0"/>
            </a:br>
            <a:endParaRPr lang="en-US" dirty="0"/>
          </a:p>
          <a:p>
            <a:pPr>
              <a:tabLst>
                <a:tab pos="1712913" algn="l"/>
              </a:tabLst>
            </a:pPr>
            <a:endParaRPr lang="en-US" dirty="0"/>
          </a:p>
          <a:p>
            <a:pPr>
              <a:tabLst>
                <a:tab pos="1712913" algn="l"/>
              </a:tabLst>
            </a:pPr>
            <a:endParaRPr lang="en-US" dirty="0"/>
          </a:p>
          <a:p>
            <a:pPr lvl="6">
              <a:tabLst>
                <a:tab pos="1712913" algn="l"/>
              </a:tabLst>
            </a:pPr>
            <a:endParaRPr lang="en-US" dirty="0"/>
          </a:p>
        </p:txBody>
      </p:sp>
      <p:sp>
        <p:nvSpPr>
          <p:cNvPr id="5" name="Left Brace 4"/>
          <p:cNvSpPr/>
          <p:nvPr/>
        </p:nvSpPr>
        <p:spPr>
          <a:xfrm rot="16200000">
            <a:off x="2021351" y="2231698"/>
            <a:ext cx="506627" cy="2403392"/>
          </a:xfrm>
          <a:prstGeom prst="lef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 name="Left Brace 5"/>
          <p:cNvSpPr/>
          <p:nvPr/>
        </p:nvSpPr>
        <p:spPr>
          <a:xfrm rot="16200000">
            <a:off x="5991037" y="1464512"/>
            <a:ext cx="506627" cy="3933726"/>
          </a:xfrm>
          <a:prstGeom prst="lef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Left Brace 6"/>
          <p:cNvSpPr/>
          <p:nvPr/>
        </p:nvSpPr>
        <p:spPr>
          <a:xfrm rot="16200000">
            <a:off x="3623617" y="3279965"/>
            <a:ext cx="506627" cy="306858"/>
          </a:xfrm>
          <a:prstGeom prst="lef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1473537" y="3686708"/>
            <a:ext cx="1569308" cy="830997"/>
          </a:xfrm>
          <a:prstGeom prst="rect">
            <a:avLst/>
          </a:prstGeom>
          <a:noFill/>
        </p:spPr>
        <p:txBody>
          <a:bodyPr wrap="square" rtlCol="0">
            <a:spAutoFit/>
          </a:bodyPr>
          <a:lstStyle/>
          <a:p>
            <a:pPr algn="ctr"/>
            <a:r>
              <a:rPr lang="en-US" sz="1600" dirty="0"/>
              <a:t>Payment to make at the end of year 2</a:t>
            </a:r>
          </a:p>
        </p:txBody>
      </p:sp>
      <p:sp>
        <p:nvSpPr>
          <p:cNvPr id="9" name="TextBox 8"/>
          <p:cNvSpPr txBox="1"/>
          <p:nvPr/>
        </p:nvSpPr>
        <p:spPr>
          <a:xfrm>
            <a:off x="3376997" y="3686708"/>
            <a:ext cx="1049294" cy="830997"/>
          </a:xfrm>
          <a:prstGeom prst="rect">
            <a:avLst/>
          </a:prstGeom>
          <a:noFill/>
        </p:spPr>
        <p:txBody>
          <a:bodyPr wrap="square" rtlCol="0">
            <a:spAutoFit/>
          </a:bodyPr>
          <a:lstStyle/>
          <a:p>
            <a:pPr algn="ctr"/>
            <a:r>
              <a:rPr lang="en-US" sz="1600" dirty="0"/>
              <a:t>Money coming in year 2</a:t>
            </a:r>
          </a:p>
        </p:txBody>
      </p:sp>
      <p:sp>
        <p:nvSpPr>
          <p:cNvPr id="10" name="TextBox 9"/>
          <p:cNvSpPr txBox="1"/>
          <p:nvPr/>
        </p:nvSpPr>
        <p:spPr>
          <a:xfrm>
            <a:off x="5665050" y="3686708"/>
            <a:ext cx="1049294" cy="830997"/>
          </a:xfrm>
          <a:prstGeom prst="rect">
            <a:avLst/>
          </a:prstGeom>
          <a:noFill/>
        </p:spPr>
        <p:txBody>
          <a:bodyPr wrap="square" rtlCol="0">
            <a:spAutoFit/>
          </a:bodyPr>
          <a:lstStyle/>
          <a:p>
            <a:pPr algn="ctr"/>
            <a:r>
              <a:rPr lang="en-US" sz="1600" dirty="0"/>
              <a:t>Money left from year 1</a:t>
            </a:r>
          </a:p>
        </p:txBody>
      </p:sp>
      <p:sp>
        <p:nvSpPr>
          <p:cNvPr id="11" name="Rectangle 10"/>
          <p:cNvSpPr/>
          <p:nvPr/>
        </p:nvSpPr>
        <p:spPr>
          <a:xfrm>
            <a:off x="8161642" y="2802604"/>
            <a:ext cx="4107215" cy="461665"/>
          </a:xfrm>
          <a:prstGeom prst="rect">
            <a:avLst/>
          </a:prstGeom>
        </p:spPr>
        <p:txBody>
          <a:bodyPr wrap="none">
            <a:spAutoFit/>
          </a:bodyPr>
          <a:lstStyle/>
          <a:p>
            <a:pPr lvl="1"/>
            <a:r>
              <a:rPr lang="en-US" sz="2400" b="1" dirty="0"/>
              <a:t>190</a:t>
            </a:r>
            <a:r>
              <a:rPr lang="en-US" sz="2400" b="1" i="1" dirty="0"/>
              <a:t>OB</a:t>
            </a:r>
            <a:r>
              <a:rPr lang="en-US" sz="2400" b="1" dirty="0"/>
              <a:t> + 240</a:t>
            </a:r>
            <a:r>
              <a:rPr lang="en-US" sz="2400" b="1" i="1" dirty="0"/>
              <a:t>H</a:t>
            </a:r>
            <a:r>
              <a:rPr lang="en-US" sz="2400" b="1" dirty="0"/>
              <a:t> + 160</a:t>
            </a:r>
            <a:r>
              <a:rPr lang="en-US" sz="2400" b="1" i="1" dirty="0"/>
              <a:t>SC</a:t>
            </a:r>
            <a:r>
              <a:rPr lang="en-US" sz="2400" b="1" dirty="0"/>
              <a:t> ≤ 65</a:t>
            </a:r>
          </a:p>
        </p:txBody>
      </p:sp>
      <p:sp>
        <p:nvSpPr>
          <p:cNvPr id="12" name="Left-Right Arrow 11"/>
          <p:cNvSpPr/>
          <p:nvPr/>
        </p:nvSpPr>
        <p:spPr>
          <a:xfrm>
            <a:off x="8266191" y="2874647"/>
            <a:ext cx="390665" cy="280570"/>
          </a:xfrm>
          <a:prstGeom prst="leftRightArrow">
            <a:avLst>
              <a:gd name="adj1" fmla="val 28571"/>
              <a:gd name="adj2" fmla="val 50000"/>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8084785" y="5282437"/>
            <a:ext cx="4107215" cy="461665"/>
          </a:xfrm>
          <a:prstGeom prst="rect">
            <a:avLst/>
          </a:prstGeom>
        </p:spPr>
        <p:txBody>
          <a:bodyPr wrap="none">
            <a:spAutoFit/>
          </a:bodyPr>
          <a:lstStyle/>
          <a:p>
            <a:pPr lvl="1"/>
            <a:r>
              <a:rPr lang="en-US" sz="2400" b="1" dirty="0"/>
              <a:t>200</a:t>
            </a:r>
            <a:r>
              <a:rPr lang="en-US" sz="2400" b="1" i="1" dirty="0"/>
              <a:t>OB</a:t>
            </a:r>
            <a:r>
              <a:rPr lang="en-US" sz="2400" b="1" dirty="0"/>
              <a:t> + 310</a:t>
            </a:r>
            <a:r>
              <a:rPr lang="en-US" sz="2400" b="1" i="1" dirty="0"/>
              <a:t>H</a:t>
            </a:r>
            <a:r>
              <a:rPr lang="en-US" sz="2400" b="1" dirty="0"/>
              <a:t> + 220</a:t>
            </a:r>
            <a:r>
              <a:rPr lang="en-US" sz="2400" b="1" i="1" dirty="0"/>
              <a:t>SC</a:t>
            </a:r>
            <a:r>
              <a:rPr lang="en-US" sz="2400" b="1" dirty="0"/>
              <a:t> ≤ 80</a:t>
            </a:r>
          </a:p>
        </p:txBody>
      </p:sp>
      <p:sp>
        <p:nvSpPr>
          <p:cNvPr id="14" name="Left-Right Arrow 13"/>
          <p:cNvSpPr/>
          <p:nvPr/>
        </p:nvSpPr>
        <p:spPr>
          <a:xfrm>
            <a:off x="8208355" y="5368622"/>
            <a:ext cx="390665" cy="280570"/>
          </a:xfrm>
          <a:prstGeom prst="leftRightArrow">
            <a:avLst>
              <a:gd name="adj1" fmla="val 28571"/>
              <a:gd name="adj2" fmla="val 50000"/>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Left Brace 14"/>
          <p:cNvSpPr/>
          <p:nvPr/>
        </p:nvSpPr>
        <p:spPr>
          <a:xfrm rot="16200000">
            <a:off x="2021351" y="4511250"/>
            <a:ext cx="506627" cy="2403392"/>
          </a:xfrm>
          <a:prstGeom prst="lef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Left Brace 15"/>
          <p:cNvSpPr/>
          <p:nvPr/>
        </p:nvSpPr>
        <p:spPr>
          <a:xfrm rot="16200000">
            <a:off x="5984421" y="3838807"/>
            <a:ext cx="506627" cy="3933726"/>
          </a:xfrm>
          <a:prstGeom prst="lef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Left Brace 16"/>
          <p:cNvSpPr/>
          <p:nvPr/>
        </p:nvSpPr>
        <p:spPr>
          <a:xfrm rot="16200000">
            <a:off x="3741165" y="5672444"/>
            <a:ext cx="395085" cy="306858"/>
          </a:xfrm>
          <a:prstGeom prst="leftBrace">
            <a:avLst>
              <a:gd name="adj1" fmla="val 8333"/>
              <a:gd name="adj2" fmla="val 53041"/>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p:cNvSpPr txBox="1"/>
          <p:nvPr/>
        </p:nvSpPr>
        <p:spPr>
          <a:xfrm>
            <a:off x="1492574" y="5936127"/>
            <a:ext cx="1569308" cy="830997"/>
          </a:xfrm>
          <a:prstGeom prst="rect">
            <a:avLst/>
          </a:prstGeom>
          <a:noFill/>
        </p:spPr>
        <p:txBody>
          <a:bodyPr wrap="square" rtlCol="0">
            <a:spAutoFit/>
          </a:bodyPr>
          <a:lstStyle/>
          <a:p>
            <a:pPr algn="ctr"/>
            <a:r>
              <a:rPr lang="en-US" sz="1600" dirty="0"/>
              <a:t>Payment to make at the end of year 3</a:t>
            </a:r>
          </a:p>
        </p:txBody>
      </p:sp>
      <p:sp>
        <p:nvSpPr>
          <p:cNvPr id="19" name="TextBox 18"/>
          <p:cNvSpPr txBox="1"/>
          <p:nvPr/>
        </p:nvSpPr>
        <p:spPr>
          <a:xfrm>
            <a:off x="3414060" y="6023416"/>
            <a:ext cx="1049294" cy="830997"/>
          </a:xfrm>
          <a:prstGeom prst="rect">
            <a:avLst/>
          </a:prstGeom>
          <a:noFill/>
        </p:spPr>
        <p:txBody>
          <a:bodyPr wrap="square" rtlCol="0">
            <a:spAutoFit/>
          </a:bodyPr>
          <a:lstStyle/>
          <a:p>
            <a:pPr algn="ctr"/>
            <a:r>
              <a:rPr lang="en-US" sz="1600" dirty="0"/>
              <a:t>Money coming in year 3</a:t>
            </a:r>
          </a:p>
        </p:txBody>
      </p:sp>
      <p:sp>
        <p:nvSpPr>
          <p:cNvPr id="20" name="TextBox 19"/>
          <p:cNvSpPr txBox="1"/>
          <p:nvPr/>
        </p:nvSpPr>
        <p:spPr>
          <a:xfrm>
            <a:off x="5719703" y="5972776"/>
            <a:ext cx="1049294" cy="830997"/>
          </a:xfrm>
          <a:prstGeom prst="rect">
            <a:avLst/>
          </a:prstGeom>
          <a:noFill/>
        </p:spPr>
        <p:txBody>
          <a:bodyPr wrap="square" rtlCol="0">
            <a:spAutoFit/>
          </a:bodyPr>
          <a:lstStyle/>
          <a:p>
            <a:pPr algn="ctr"/>
            <a:r>
              <a:rPr lang="en-US" sz="1600" dirty="0"/>
              <a:t>Money left from year 2</a:t>
            </a:r>
          </a:p>
        </p:txBody>
      </p:sp>
    </p:spTree>
    <p:extLst>
      <p:ext uri="{BB962C8B-B14F-4D97-AF65-F5344CB8AC3E}">
        <p14:creationId xmlns:p14="http://schemas.microsoft.com/office/powerpoint/2010/main" val="3958735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9" grpId="0"/>
      <p:bldP spid="10" grpId="0"/>
      <p:bldP spid="11" grpId="0"/>
      <p:bldP spid="12" grpId="0" animBg="1"/>
      <p:bldP spid="13" grpId="0"/>
      <p:bldP spid="14" grpId="0" animBg="1"/>
      <p:bldP spid="15" grpId="0" animBg="1"/>
      <p:bldP spid="16" grpId="0" animBg="1"/>
      <p:bldP spid="17" grpId="0" animBg="1"/>
      <p:bldP spid="18" grpId="0"/>
      <p:bldP spid="19" grpId="0"/>
      <p:bldP spid="2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Applications</a:t>
            </a:r>
          </a:p>
        </p:txBody>
      </p:sp>
      <p:sp>
        <p:nvSpPr>
          <p:cNvPr id="3" name="Content Placeholder 2"/>
          <p:cNvSpPr>
            <a:spLocks noGrp="1"/>
          </p:cNvSpPr>
          <p:nvPr>
            <p:ph idx="1"/>
          </p:nvPr>
        </p:nvSpPr>
        <p:spPr/>
        <p:txBody>
          <a:bodyPr/>
          <a:lstStyle/>
          <a:p>
            <a:r>
              <a:rPr lang="en-US" b="1" u="sng" dirty="0"/>
              <a:t>Case: Think-Big Development Co. Capital Budgeting Problem (Chapter 3.2)</a:t>
            </a:r>
          </a:p>
          <a:p>
            <a:r>
              <a:rPr lang="en-US" dirty="0"/>
              <a:t>Combining everything (not forgetting non-negativity constraints), we have:</a:t>
            </a:r>
          </a:p>
          <a:p>
            <a:pPr marL="457200" lvl="1" indent="0">
              <a:buNone/>
              <a:tabLst>
                <a:tab pos="1712913" algn="l"/>
              </a:tabLst>
            </a:pPr>
            <a:br>
              <a:rPr lang="en-US" dirty="0"/>
            </a:br>
            <a:endParaRPr lang="en-US" dirty="0"/>
          </a:p>
          <a:p>
            <a:pPr>
              <a:tabLst>
                <a:tab pos="1712913" algn="l"/>
              </a:tabLst>
            </a:pPr>
            <a:endParaRPr lang="en-US" dirty="0"/>
          </a:p>
          <a:p>
            <a:pPr>
              <a:tabLst>
                <a:tab pos="1712913" algn="l"/>
              </a:tabLst>
            </a:pPr>
            <a:endParaRPr lang="en-US" dirty="0"/>
          </a:p>
          <a:p>
            <a:pPr lvl="6">
              <a:tabLst>
                <a:tab pos="1712913" algn="l"/>
              </a:tabLst>
            </a:pPr>
            <a:endParaRPr lang="en-US" dirty="0"/>
          </a:p>
        </p:txBody>
      </p:sp>
      <p:sp>
        <p:nvSpPr>
          <p:cNvPr id="5" name="Rectangle 4"/>
          <p:cNvSpPr/>
          <p:nvPr/>
        </p:nvSpPr>
        <p:spPr>
          <a:xfrm>
            <a:off x="3393988" y="2461075"/>
            <a:ext cx="5045677" cy="1938992"/>
          </a:xfrm>
          <a:prstGeom prst="rect">
            <a:avLst/>
          </a:prstGeom>
          <a:ln w="28575">
            <a:solidFill>
              <a:srgbClr val="C00000"/>
            </a:solidFill>
          </a:ln>
        </p:spPr>
        <p:txBody>
          <a:bodyPr wrap="square">
            <a:spAutoFit/>
          </a:bodyPr>
          <a:lstStyle/>
          <a:p>
            <a:r>
              <a:rPr lang="en-US" sz="2000" dirty="0"/>
              <a:t>Maximize  	45</a:t>
            </a:r>
            <a:r>
              <a:rPr lang="en-US" sz="2000" i="1" dirty="0"/>
              <a:t>OB</a:t>
            </a:r>
            <a:r>
              <a:rPr lang="en-US" sz="2000" dirty="0"/>
              <a:t> + 70</a:t>
            </a:r>
            <a:r>
              <a:rPr lang="en-US" sz="2000" i="1" dirty="0"/>
              <a:t>H</a:t>
            </a:r>
            <a:r>
              <a:rPr lang="en-US" sz="2000" dirty="0"/>
              <a:t> + 50</a:t>
            </a:r>
            <a:r>
              <a:rPr lang="en-US" sz="2000" i="1" dirty="0"/>
              <a:t>SC</a:t>
            </a:r>
            <a:br>
              <a:rPr lang="en-US" sz="2000" dirty="0"/>
            </a:br>
            <a:r>
              <a:rPr lang="en-US" sz="2000" dirty="0"/>
              <a:t>subject to  	40</a:t>
            </a:r>
            <a:r>
              <a:rPr lang="en-US" sz="2000" i="1" dirty="0"/>
              <a:t>OB</a:t>
            </a:r>
            <a:r>
              <a:rPr lang="en-US" sz="2000" dirty="0"/>
              <a:t> + 80</a:t>
            </a:r>
            <a:r>
              <a:rPr lang="en-US" sz="2000" i="1" dirty="0"/>
              <a:t>H</a:t>
            </a:r>
            <a:r>
              <a:rPr lang="en-US" sz="2000" dirty="0"/>
              <a:t> + 90</a:t>
            </a:r>
            <a:r>
              <a:rPr lang="en-US" sz="2000" i="1" dirty="0"/>
              <a:t>SC</a:t>
            </a:r>
            <a:r>
              <a:rPr lang="en-US" sz="2000" dirty="0"/>
              <a:t> ≤ 25 </a:t>
            </a:r>
          </a:p>
          <a:p>
            <a:r>
              <a:rPr lang="en-US" sz="2000" dirty="0"/>
              <a:t>	      	100</a:t>
            </a:r>
            <a:r>
              <a:rPr lang="en-US" sz="2000" i="1" dirty="0"/>
              <a:t>OB</a:t>
            </a:r>
            <a:r>
              <a:rPr lang="en-US" sz="2000" dirty="0"/>
              <a:t> + 160</a:t>
            </a:r>
            <a:r>
              <a:rPr lang="en-US" sz="2000" i="1" dirty="0"/>
              <a:t>H</a:t>
            </a:r>
            <a:r>
              <a:rPr lang="en-US" sz="2000" dirty="0"/>
              <a:t> + 140</a:t>
            </a:r>
            <a:r>
              <a:rPr lang="en-US" sz="2000" i="1" dirty="0"/>
              <a:t>SC</a:t>
            </a:r>
            <a:r>
              <a:rPr lang="en-US" sz="2000" dirty="0"/>
              <a:t> ≤ 45 </a:t>
            </a:r>
          </a:p>
          <a:p>
            <a:r>
              <a:rPr lang="en-US" sz="2000" dirty="0"/>
              <a:t>		190</a:t>
            </a:r>
            <a:r>
              <a:rPr lang="en-US" sz="2000" i="1" dirty="0"/>
              <a:t>OB</a:t>
            </a:r>
            <a:r>
              <a:rPr lang="en-US" sz="2000" dirty="0"/>
              <a:t> + 240</a:t>
            </a:r>
            <a:r>
              <a:rPr lang="en-US" sz="2000" i="1" dirty="0"/>
              <a:t>H</a:t>
            </a:r>
            <a:r>
              <a:rPr lang="en-US" sz="2000" dirty="0"/>
              <a:t> + 160</a:t>
            </a:r>
            <a:r>
              <a:rPr lang="en-US" sz="2000" i="1" dirty="0"/>
              <a:t>SC</a:t>
            </a:r>
            <a:r>
              <a:rPr lang="en-US" sz="2000" dirty="0"/>
              <a:t> ≤ 65 </a:t>
            </a:r>
          </a:p>
          <a:p>
            <a:r>
              <a:rPr lang="en-US" sz="2000" dirty="0"/>
              <a:t>		200</a:t>
            </a:r>
            <a:r>
              <a:rPr lang="en-US" sz="2000" i="1" dirty="0"/>
              <a:t>OB</a:t>
            </a:r>
            <a:r>
              <a:rPr lang="en-US" sz="2000" dirty="0"/>
              <a:t> + 310</a:t>
            </a:r>
            <a:r>
              <a:rPr lang="en-US" sz="2000" i="1" dirty="0"/>
              <a:t>H</a:t>
            </a:r>
            <a:r>
              <a:rPr lang="en-US" sz="2000" dirty="0"/>
              <a:t> + 220</a:t>
            </a:r>
            <a:r>
              <a:rPr lang="en-US" sz="2000" i="1" dirty="0"/>
              <a:t>SC</a:t>
            </a:r>
            <a:r>
              <a:rPr lang="en-US" sz="2000" dirty="0"/>
              <a:t> ≤ 80</a:t>
            </a:r>
          </a:p>
          <a:p>
            <a:r>
              <a:rPr lang="en-US" sz="2000" dirty="0"/>
              <a:t>		</a:t>
            </a:r>
            <a:r>
              <a:rPr lang="en-US" sz="2000" i="1" dirty="0"/>
              <a:t>OB</a:t>
            </a:r>
            <a:r>
              <a:rPr lang="en-US" sz="2000" dirty="0"/>
              <a:t> ≥ 0, </a:t>
            </a:r>
            <a:r>
              <a:rPr lang="en-US" sz="2000" i="1" dirty="0"/>
              <a:t>H</a:t>
            </a:r>
            <a:r>
              <a:rPr lang="en-US" sz="2000" dirty="0"/>
              <a:t> ≥ 0, </a:t>
            </a:r>
            <a:r>
              <a:rPr lang="en-US" sz="2000" i="1" dirty="0"/>
              <a:t>SC</a:t>
            </a:r>
            <a:r>
              <a:rPr lang="en-US" sz="2000" dirty="0"/>
              <a:t> ≥ 0.</a:t>
            </a:r>
          </a:p>
        </p:txBody>
      </p:sp>
      <p:pic>
        <p:nvPicPr>
          <p:cNvPr id="12" name="Picture 11"/>
          <p:cNvPicPr>
            <a:picLocks noChangeAspect="1"/>
          </p:cNvPicPr>
          <p:nvPr/>
        </p:nvPicPr>
        <p:blipFill>
          <a:blip r:embed="rId2"/>
          <a:stretch>
            <a:fillRect/>
          </a:stretch>
        </p:blipFill>
        <p:spPr>
          <a:xfrm>
            <a:off x="1567247" y="4762016"/>
            <a:ext cx="8699157" cy="1776896"/>
          </a:xfrm>
          <a:prstGeom prst="rect">
            <a:avLst/>
          </a:prstGeom>
        </p:spPr>
      </p:pic>
    </p:spTree>
    <p:extLst>
      <p:ext uri="{BB962C8B-B14F-4D97-AF65-F5344CB8AC3E}">
        <p14:creationId xmlns:p14="http://schemas.microsoft.com/office/powerpoint/2010/main" val="9476875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Applications</a:t>
            </a:r>
          </a:p>
        </p:txBody>
      </p:sp>
      <p:sp>
        <p:nvSpPr>
          <p:cNvPr id="3" name="Content Placeholder 2"/>
          <p:cNvSpPr>
            <a:spLocks noGrp="1"/>
          </p:cNvSpPr>
          <p:nvPr>
            <p:ph idx="1"/>
          </p:nvPr>
        </p:nvSpPr>
        <p:spPr/>
        <p:txBody>
          <a:bodyPr/>
          <a:lstStyle/>
          <a:p>
            <a:r>
              <a:rPr lang="en-US" b="1" u="sng" dirty="0"/>
              <a:t>Case: Think-Big Development Co. Capital Budgeting Problem (Chapter 3.2)</a:t>
            </a:r>
          </a:p>
          <a:p>
            <a:pPr>
              <a:tabLst>
                <a:tab pos="1712913" algn="l"/>
              </a:tabLst>
            </a:pPr>
            <a:r>
              <a:rPr lang="en-US" dirty="0"/>
              <a:t>Spreadsheet model and the solution with Excel Solver</a:t>
            </a:r>
          </a:p>
        </p:txBody>
      </p:sp>
      <p:pic>
        <p:nvPicPr>
          <p:cNvPr id="6" name="Picture 5"/>
          <p:cNvPicPr>
            <a:picLocks noChangeAspect="1"/>
          </p:cNvPicPr>
          <p:nvPr/>
        </p:nvPicPr>
        <p:blipFill>
          <a:blip r:embed="rId2"/>
          <a:stretch>
            <a:fillRect/>
          </a:stretch>
        </p:blipFill>
        <p:spPr>
          <a:xfrm>
            <a:off x="1053413" y="2488727"/>
            <a:ext cx="5875690" cy="3108884"/>
          </a:xfrm>
          <a:prstGeom prst="rect">
            <a:avLst/>
          </a:prstGeom>
        </p:spPr>
      </p:pic>
    </p:spTree>
    <p:extLst>
      <p:ext uri="{BB962C8B-B14F-4D97-AF65-F5344CB8AC3E}">
        <p14:creationId xmlns:p14="http://schemas.microsoft.com/office/powerpoint/2010/main" val="31419993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Applications</a:t>
            </a:r>
          </a:p>
        </p:txBody>
      </p:sp>
      <p:sp>
        <p:nvSpPr>
          <p:cNvPr id="3" name="Content Placeholder 2"/>
          <p:cNvSpPr>
            <a:spLocks noGrp="1"/>
          </p:cNvSpPr>
          <p:nvPr>
            <p:ph idx="1"/>
          </p:nvPr>
        </p:nvSpPr>
        <p:spPr/>
        <p:txBody>
          <a:bodyPr/>
          <a:lstStyle/>
          <a:p>
            <a:r>
              <a:rPr lang="en-US" b="1" u="sng" dirty="0"/>
              <a:t>Case: Union Airways Personnel Scheduling Problem (Chapter 3.3)</a:t>
            </a:r>
            <a:endParaRPr lang="en-US" dirty="0"/>
          </a:p>
          <a:p>
            <a:pPr lvl="1"/>
            <a:r>
              <a:rPr lang="en-US" u="sng" dirty="0"/>
              <a:t>Case Description:</a:t>
            </a:r>
            <a:r>
              <a:rPr lang="en-US" dirty="0"/>
              <a:t> Union Airways is adding more flights to and from its hub airport and so needs to hire additional customer service agents</a:t>
            </a:r>
          </a:p>
          <a:p>
            <a:pPr lvl="1">
              <a:tabLst>
                <a:tab pos="1712913" algn="l"/>
              </a:tabLst>
            </a:pPr>
            <a:r>
              <a:rPr lang="en-US" dirty="0"/>
              <a:t>The five authorized eight-hour shifts are</a:t>
            </a:r>
          </a:p>
          <a:p>
            <a:pPr lvl="2">
              <a:tabLst>
                <a:tab pos="1712913" algn="l"/>
              </a:tabLst>
            </a:pPr>
            <a:r>
              <a:rPr lang="en-US" dirty="0"/>
              <a:t>Shift 1:	6:00 AM to 2:00 PM</a:t>
            </a:r>
          </a:p>
          <a:p>
            <a:pPr lvl="2">
              <a:tabLst>
                <a:tab pos="1712913" algn="l"/>
              </a:tabLst>
            </a:pPr>
            <a:r>
              <a:rPr lang="en-US" dirty="0"/>
              <a:t>Shift 2:	8:00 AM to 4:00 PM</a:t>
            </a:r>
          </a:p>
          <a:p>
            <a:pPr lvl="2">
              <a:tabLst>
                <a:tab pos="1712913" algn="l"/>
              </a:tabLst>
            </a:pPr>
            <a:r>
              <a:rPr lang="en-US" dirty="0"/>
              <a:t>Shift 3:	Noon to 8:00 PM</a:t>
            </a:r>
          </a:p>
          <a:p>
            <a:pPr lvl="2">
              <a:tabLst>
                <a:tab pos="1712913" algn="l"/>
              </a:tabLst>
            </a:pPr>
            <a:r>
              <a:rPr lang="en-US" dirty="0"/>
              <a:t>Shift 4:	4:00 PM to midnight</a:t>
            </a:r>
          </a:p>
          <a:p>
            <a:pPr lvl="2">
              <a:tabLst>
                <a:tab pos="1712913" algn="l"/>
              </a:tabLst>
            </a:pPr>
            <a:r>
              <a:rPr lang="en-US" dirty="0"/>
              <a:t>Shift 5:	10:00 PM to 6:00 AM</a:t>
            </a:r>
          </a:p>
          <a:p>
            <a:pPr lvl="1">
              <a:tabLst>
                <a:tab pos="1712913" algn="l"/>
              </a:tabLst>
            </a:pPr>
            <a:endParaRPr lang="en-US" dirty="0"/>
          </a:p>
          <a:p>
            <a:pPr lvl="1">
              <a:tabLst>
                <a:tab pos="1712913" algn="l"/>
              </a:tabLst>
            </a:pPr>
            <a:r>
              <a:rPr lang="en-US" dirty="0"/>
              <a:t>Question: How many agents should be assigned to each shift so that the number of available agents during each time period is at least the minimum number required?</a:t>
            </a:r>
          </a:p>
          <a:p>
            <a:pPr lvl="2">
              <a:tabLst>
                <a:tab pos="1712913" algn="l"/>
              </a:tabLst>
            </a:pPr>
            <a:endParaRPr lang="en-US" dirty="0"/>
          </a:p>
        </p:txBody>
      </p:sp>
    </p:spTree>
    <p:extLst>
      <p:ext uri="{BB962C8B-B14F-4D97-AF65-F5344CB8AC3E}">
        <p14:creationId xmlns:p14="http://schemas.microsoft.com/office/powerpoint/2010/main" val="28039638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Applications</a:t>
            </a:r>
          </a:p>
        </p:txBody>
      </p:sp>
      <p:sp>
        <p:nvSpPr>
          <p:cNvPr id="3" name="Content Placeholder 2"/>
          <p:cNvSpPr>
            <a:spLocks noGrp="1"/>
          </p:cNvSpPr>
          <p:nvPr>
            <p:ph idx="1"/>
          </p:nvPr>
        </p:nvSpPr>
        <p:spPr/>
        <p:txBody>
          <a:bodyPr/>
          <a:lstStyle/>
          <a:p>
            <a:r>
              <a:rPr lang="en-US" b="1" u="sng" dirty="0"/>
              <a:t>Case: Union Airways Personnel Scheduling Problem (Chapter 3.3)</a:t>
            </a:r>
            <a:endParaRPr lang="en-US" dirty="0"/>
          </a:p>
          <a:p>
            <a:r>
              <a:rPr lang="en-US" b="1" dirty="0">
                <a:solidFill>
                  <a:srgbClr val="C00000"/>
                </a:solidFill>
              </a:rPr>
              <a:t>STEP 0: </a:t>
            </a:r>
            <a:r>
              <a:rPr lang="en-US" dirty="0"/>
              <a:t>Know the problem and gather your data</a:t>
            </a:r>
          </a:p>
          <a:p>
            <a:pPr lvl="1">
              <a:tabLst>
                <a:tab pos="1712913" algn="l"/>
              </a:tabLst>
            </a:pPr>
            <a:r>
              <a:rPr lang="en-US" dirty="0"/>
              <a:t>We know the shifts, and the time periods, minimum number of agents needed for each time period, and cost of an agent hired under each shift are given as:</a:t>
            </a:r>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2">
              <a:tabLst>
                <a:tab pos="1712913" algn="l"/>
              </a:tabLst>
            </a:pPr>
            <a:endParaRPr lang="en-US" dirty="0"/>
          </a:p>
        </p:txBody>
      </p:sp>
      <p:pic>
        <p:nvPicPr>
          <p:cNvPr id="5" name="Picture 4"/>
          <p:cNvPicPr>
            <a:picLocks noChangeAspect="1"/>
          </p:cNvPicPr>
          <p:nvPr/>
        </p:nvPicPr>
        <p:blipFill>
          <a:blip r:embed="rId2"/>
          <a:stretch>
            <a:fillRect/>
          </a:stretch>
        </p:blipFill>
        <p:spPr>
          <a:xfrm>
            <a:off x="2185730" y="3048502"/>
            <a:ext cx="7057124" cy="3307848"/>
          </a:xfrm>
          <a:prstGeom prst="rect">
            <a:avLst/>
          </a:prstGeom>
        </p:spPr>
      </p:pic>
      <p:pic>
        <p:nvPicPr>
          <p:cNvPr id="6" name="Picture 5"/>
          <p:cNvPicPr>
            <a:picLocks noChangeAspect="1"/>
          </p:cNvPicPr>
          <p:nvPr/>
        </p:nvPicPr>
        <p:blipFill>
          <a:blip r:embed="rId3"/>
          <a:stretch>
            <a:fillRect/>
          </a:stretch>
        </p:blipFill>
        <p:spPr>
          <a:xfrm>
            <a:off x="557473" y="3897033"/>
            <a:ext cx="1461441" cy="805393"/>
          </a:xfrm>
          <a:prstGeom prst="rect">
            <a:avLst/>
          </a:prstGeom>
        </p:spPr>
      </p:pic>
      <p:sp>
        <p:nvSpPr>
          <p:cNvPr id="7" name="TextBox 6"/>
          <p:cNvSpPr txBox="1"/>
          <p:nvPr/>
        </p:nvSpPr>
        <p:spPr>
          <a:xfrm>
            <a:off x="9576486" y="3447535"/>
            <a:ext cx="2615514" cy="2062103"/>
          </a:xfrm>
          <a:prstGeom prst="rect">
            <a:avLst/>
          </a:prstGeom>
          <a:noFill/>
        </p:spPr>
        <p:txBody>
          <a:bodyPr wrap="square" rtlCol="0">
            <a:spAutoFit/>
          </a:bodyPr>
          <a:lstStyle/>
          <a:p>
            <a:r>
              <a:rPr lang="en-US" sz="2000" b="1" dirty="0"/>
              <a:t>√ </a:t>
            </a:r>
            <a:r>
              <a:rPr lang="en-US" dirty="0">
                <a:solidFill>
                  <a:srgbClr val="C00000"/>
                </a:solidFill>
              </a:rPr>
              <a:t>mark in the table means that an agent working in the corresponding shift will be available during the corresponding time period.</a:t>
            </a:r>
          </a:p>
        </p:txBody>
      </p:sp>
    </p:spTree>
    <p:extLst>
      <p:ext uri="{BB962C8B-B14F-4D97-AF65-F5344CB8AC3E}">
        <p14:creationId xmlns:p14="http://schemas.microsoft.com/office/powerpoint/2010/main" val="2035082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Applications</a:t>
            </a:r>
          </a:p>
        </p:txBody>
      </p:sp>
      <p:sp>
        <p:nvSpPr>
          <p:cNvPr id="3" name="Content Placeholder 2"/>
          <p:cNvSpPr>
            <a:spLocks noGrp="1"/>
          </p:cNvSpPr>
          <p:nvPr>
            <p:ph idx="1"/>
          </p:nvPr>
        </p:nvSpPr>
        <p:spPr/>
        <p:txBody>
          <a:bodyPr>
            <a:normAutofit fontScale="92500" lnSpcReduction="10000"/>
          </a:bodyPr>
          <a:lstStyle/>
          <a:p>
            <a:r>
              <a:rPr lang="en-US" b="1" u="sng" dirty="0"/>
              <a:t>Case: Union Airways Personnel Scheduling Problem (Chapter 3.3)</a:t>
            </a:r>
            <a:endParaRPr lang="en-US" dirty="0"/>
          </a:p>
          <a:p>
            <a:r>
              <a:rPr lang="en-US" b="1" dirty="0">
                <a:solidFill>
                  <a:srgbClr val="C00000"/>
                </a:solidFill>
              </a:rPr>
              <a:t>STEP 1: </a:t>
            </a:r>
            <a:r>
              <a:rPr lang="en-US" dirty="0"/>
              <a:t>Decision variables</a:t>
            </a:r>
          </a:p>
          <a:p>
            <a:pPr lvl="1">
              <a:tabLst>
                <a:tab pos="1712913" algn="l"/>
              </a:tabLst>
            </a:pPr>
            <a:r>
              <a:rPr lang="en-US" dirty="0"/>
              <a:t>We want to determine the number of agents to hire for each shift</a:t>
            </a:r>
          </a:p>
          <a:p>
            <a:pPr marL="457200" lvl="1" indent="0">
              <a:buNone/>
              <a:tabLst>
                <a:tab pos="1712913" algn="l"/>
              </a:tabLst>
            </a:pPr>
            <a:r>
              <a:rPr lang="en-US" i="1" dirty="0"/>
              <a:t>	S</a:t>
            </a:r>
            <a:r>
              <a:rPr lang="en-US" baseline="-25000" dirty="0"/>
              <a:t>i</a:t>
            </a:r>
            <a:r>
              <a:rPr lang="en-US" dirty="0"/>
              <a:t> = Number  of agents to assign to shift </a:t>
            </a:r>
            <a:r>
              <a:rPr lang="en-US" i="1" dirty="0" err="1"/>
              <a:t>i</a:t>
            </a:r>
            <a:r>
              <a:rPr lang="en-US" dirty="0"/>
              <a:t> (for </a:t>
            </a:r>
            <a:r>
              <a:rPr lang="en-US" i="1" dirty="0" err="1"/>
              <a:t>i</a:t>
            </a:r>
            <a:r>
              <a:rPr lang="en-US" dirty="0"/>
              <a:t> = 1 to 5)</a:t>
            </a:r>
          </a:p>
          <a:p>
            <a:r>
              <a:rPr lang="en-US" b="1" dirty="0">
                <a:solidFill>
                  <a:srgbClr val="C00000"/>
                </a:solidFill>
              </a:rPr>
              <a:t>STEP 2: </a:t>
            </a:r>
            <a:r>
              <a:rPr lang="en-US" dirty="0"/>
              <a:t>Objective and objective function</a:t>
            </a:r>
          </a:p>
          <a:p>
            <a:pPr lvl="1"/>
            <a:r>
              <a:rPr lang="en-US" dirty="0"/>
              <a:t>We want to minimize the total cost of the agents</a:t>
            </a:r>
          </a:p>
          <a:p>
            <a:pPr marL="457200" lvl="1" indent="0">
              <a:buNone/>
            </a:pPr>
            <a:r>
              <a:rPr lang="en-US" dirty="0"/>
              <a:t>		Cost = $170</a:t>
            </a:r>
            <a:r>
              <a:rPr lang="en-US" i="1" dirty="0"/>
              <a:t>S</a:t>
            </a:r>
            <a:r>
              <a:rPr lang="en-US" baseline="-25000" dirty="0"/>
              <a:t>1</a:t>
            </a:r>
            <a:r>
              <a:rPr lang="en-US" dirty="0"/>
              <a:t> + $160</a:t>
            </a:r>
            <a:r>
              <a:rPr lang="en-US" i="1" dirty="0"/>
              <a:t>S</a:t>
            </a:r>
            <a:r>
              <a:rPr lang="en-US" baseline="-25000" dirty="0"/>
              <a:t>2</a:t>
            </a:r>
            <a:r>
              <a:rPr lang="en-US" dirty="0"/>
              <a:t> + $175</a:t>
            </a:r>
            <a:r>
              <a:rPr lang="en-US" i="1" dirty="0"/>
              <a:t>S</a:t>
            </a:r>
            <a:r>
              <a:rPr lang="en-US" baseline="-25000" dirty="0"/>
              <a:t>3</a:t>
            </a:r>
            <a:r>
              <a:rPr lang="en-US" dirty="0"/>
              <a:t> + $180</a:t>
            </a:r>
            <a:r>
              <a:rPr lang="en-US" i="1" dirty="0"/>
              <a:t>S</a:t>
            </a:r>
            <a:r>
              <a:rPr lang="en-US" baseline="-25000" dirty="0"/>
              <a:t>4</a:t>
            </a:r>
            <a:r>
              <a:rPr lang="en-US" dirty="0"/>
              <a:t> + $195</a:t>
            </a:r>
            <a:r>
              <a:rPr lang="en-US" i="1" dirty="0"/>
              <a:t>S</a:t>
            </a:r>
            <a:r>
              <a:rPr lang="en-US" baseline="-25000" dirty="0"/>
              <a:t>5</a:t>
            </a:r>
            <a:endParaRPr lang="en-US" dirty="0"/>
          </a:p>
          <a:p>
            <a:r>
              <a:rPr lang="en-US" b="1" dirty="0">
                <a:solidFill>
                  <a:srgbClr val="C00000"/>
                </a:solidFill>
              </a:rPr>
              <a:t>STEP 3: </a:t>
            </a:r>
            <a:r>
              <a:rPr lang="en-US" dirty="0"/>
              <a:t>Constraints</a:t>
            </a:r>
          </a:p>
          <a:p>
            <a:pPr lvl="1"/>
            <a:r>
              <a:rPr lang="en-US" dirty="0"/>
              <a:t>Total number of agents available during each time period should be &gt;= the minimum number of agents needed during that time period</a:t>
            </a:r>
          </a:p>
          <a:p>
            <a:pPr lvl="2"/>
            <a:r>
              <a:rPr lang="en-US" dirty="0"/>
              <a:t>One for each time period</a:t>
            </a:r>
          </a:p>
          <a:p>
            <a:pPr lvl="2"/>
            <a:r>
              <a:rPr lang="en-US" dirty="0"/>
              <a:t>For instance, for 12pm-2pm, at least 87 agents needed &amp; agents in shifts 1, 2, and 3 are available</a:t>
            </a:r>
          </a:p>
          <a:p>
            <a:pPr lvl="2"/>
            <a:r>
              <a:rPr lang="en-US" dirty="0"/>
              <a:t>Thus, we have </a:t>
            </a:r>
            <a:r>
              <a:rPr lang="en-US" i="1" dirty="0"/>
              <a:t>S</a:t>
            </a:r>
            <a:r>
              <a:rPr lang="en-US" baseline="-25000" dirty="0"/>
              <a:t>1</a:t>
            </a:r>
            <a:r>
              <a:rPr lang="en-US" dirty="0"/>
              <a:t> + </a:t>
            </a:r>
            <a:r>
              <a:rPr lang="en-US" i="1" dirty="0"/>
              <a:t>S</a:t>
            </a:r>
            <a:r>
              <a:rPr lang="en-US" baseline="-25000" dirty="0"/>
              <a:t>2</a:t>
            </a:r>
            <a:r>
              <a:rPr lang="en-US" dirty="0"/>
              <a:t> + </a:t>
            </a:r>
            <a:r>
              <a:rPr lang="en-US" i="1" dirty="0"/>
              <a:t>S</a:t>
            </a:r>
            <a:r>
              <a:rPr lang="en-US" baseline="-25000" dirty="0"/>
              <a:t>3</a:t>
            </a:r>
            <a:r>
              <a:rPr lang="en-US" dirty="0"/>
              <a:t> ≥ 87 as the constraint for time period 12pm-2pm</a:t>
            </a:r>
            <a:br>
              <a:rPr lang="en-US" dirty="0"/>
            </a:b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2">
              <a:tabLst>
                <a:tab pos="1712913" algn="l"/>
              </a:tabLst>
            </a:pPr>
            <a:endParaRPr lang="en-US" dirty="0"/>
          </a:p>
        </p:txBody>
      </p:sp>
    </p:spTree>
    <p:extLst>
      <p:ext uri="{BB962C8B-B14F-4D97-AF65-F5344CB8AC3E}">
        <p14:creationId xmlns:p14="http://schemas.microsoft.com/office/powerpoint/2010/main" val="1707649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Applications</a:t>
            </a:r>
          </a:p>
        </p:txBody>
      </p:sp>
      <p:sp>
        <p:nvSpPr>
          <p:cNvPr id="3" name="Content Placeholder 2"/>
          <p:cNvSpPr>
            <a:spLocks noGrp="1"/>
          </p:cNvSpPr>
          <p:nvPr>
            <p:ph idx="1"/>
          </p:nvPr>
        </p:nvSpPr>
        <p:spPr/>
        <p:txBody>
          <a:bodyPr/>
          <a:lstStyle/>
          <a:p>
            <a:r>
              <a:rPr lang="en-US" b="1" u="sng" dirty="0"/>
              <a:t>Case: Union Airways Personnel Scheduling Problem (Chapter 3.3)</a:t>
            </a:r>
            <a:endParaRPr lang="en-US" dirty="0"/>
          </a:p>
          <a:p>
            <a:r>
              <a:rPr lang="en-US" dirty="0"/>
              <a:t>Combining everything (and not forgetting non-negativity constraints), we have the algebraic model as follows:</a:t>
            </a:r>
            <a:br>
              <a:rPr lang="en-US" dirty="0"/>
            </a:b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2">
              <a:tabLst>
                <a:tab pos="1712913" algn="l"/>
              </a:tabLst>
            </a:pPr>
            <a:endParaRPr lang="en-US" dirty="0"/>
          </a:p>
        </p:txBody>
      </p:sp>
      <p:sp>
        <p:nvSpPr>
          <p:cNvPr id="5" name="Rectangle 4"/>
          <p:cNvSpPr/>
          <p:nvPr/>
        </p:nvSpPr>
        <p:spPr>
          <a:xfrm>
            <a:off x="889687" y="2874943"/>
            <a:ext cx="6351373" cy="3416320"/>
          </a:xfrm>
          <a:prstGeom prst="rect">
            <a:avLst/>
          </a:prstGeom>
          <a:ln w="28575">
            <a:solidFill>
              <a:srgbClr val="C00000"/>
            </a:solidFill>
          </a:ln>
        </p:spPr>
        <p:txBody>
          <a:bodyPr wrap="square">
            <a:spAutoFit/>
          </a:bodyPr>
          <a:lstStyle/>
          <a:p>
            <a:pPr lvl="1"/>
            <a:r>
              <a:rPr lang="en-US" dirty="0"/>
              <a:t>Minimize          $170</a:t>
            </a:r>
            <a:r>
              <a:rPr lang="en-US" i="1" dirty="0"/>
              <a:t>S</a:t>
            </a:r>
            <a:r>
              <a:rPr lang="en-US" baseline="-25000" dirty="0"/>
              <a:t>1</a:t>
            </a:r>
            <a:r>
              <a:rPr lang="en-US" dirty="0"/>
              <a:t> + $160</a:t>
            </a:r>
            <a:r>
              <a:rPr lang="en-US" i="1" dirty="0"/>
              <a:t>S</a:t>
            </a:r>
            <a:r>
              <a:rPr lang="en-US" baseline="-25000" dirty="0"/>
              <a:t>2</a:t>
            </a:r>
            <a:r>
              <a:rPr lang="en-US" dirty="0"/>
              <a:t> + $175</a:t>
            </a:r>
            <a:r>
              <a:rPr lang="en-US" i="1" dirty="0"/>
              <a:t>S</a:t>
            </a:r>
            <a:r>
              <a:rPr lang="en-US" baseline="-25000" dirty="0"/>
              <a:t>3</a:t>
            </a:r>
            <a:r>
              <a:rPr lang="en-US" dirty="0"/>
              <a:t> + $180</a:t>
            </a:r>
            <a:r>
              <a:rPr lang="en-US" i="1" dirty="0"/>
              <a:t>S</a:t>
            </a:r>
            <a:r>
              <a:rPr lang="en-US" baseline="-25000" dirty="0"/>
              <a:t>4</a:t>
            </a:r>
            <a:r>
              <a:rPr lang="en-US" dirty="0"/>
              <a:t> + $195</a:t>
            </a:r>
            <a:r>
              <a:rPr lang="en-US" i="1" dirty="0"/>
              <a:t>S</a:t>
            </a:r>
            <a:r>
              <a:rPr lang="en-US" baseline="-25000" dirty="0"/>
              <a:t>5</a:t>
            </a:r>
            <a:br>
              <a:rPr lang="en-US" dirty="0"/>
            </a:br>
            <a:r>
              <a:rPr lang="en-US" dirty="0"/>
              <a:t>subject to         </a:t>
            </a:r>
            <a:r>
              <a:rPr lang="en-US" i="1" dirty="0"/>
              <a:t>S</a:t>
            </a:r>
            <a:r>
              <a:rPr lang="en-US" baseline="-25000" dirty="0"/>
              <a:t>1</a:t>
            </a:r>
            <a:r>
              <a:rPr lang="en-US" dirty="0"/>
              <a:t> ≥ 48</a:t>
            </a:r>
            <a:br>
              <a:rPr lang="en-US" dirty="0"/>
            </a:br>
            <a:r>
              <a:rPr lang="en-US" dirty="0"/>
              <a:t>		</a:t>
            </a:r>
            <a:r>
              <a:rPr lang="en-US" i="1" dirty="0"/>
              <a:t>S</a:t>
            </a:r>
            <a:r>
              <a:rPr lang="en-US" baseline="-25000" dirty="0"/>
              <a:t>1</a:t>
            </a:r>
            <a:r>
              <a:rPr lang="en-US" dirty="0"/>
              <a:t> + </a:t>
            </a:r>
            <a:r>
              <a:rPr lang="en-US" i="1" dirty="0"/>
              <a:t>S</a:t>
            </a:r>
            <a:r>
              <a:rPr lang="en-US" baseline="-25000" dirty="0"/>
              <a:t>2</a:t>
            </a:r>
            <a:r>
              <a:rPr lang="en-US" dirty="0"/>
              <a:t> ≥ 79</a:t>
            </a:r>
            <a:br>
              <a:rPr lang="en-US" dirty="0"/>
            </a:br>
            <a:r>
              <a:rPr lang="en-US" dirty="0"/>
              <a:t>		</a:t>
            </a:r>
            <a:r>
              <a:rPr lang="en-US" i="1" dirty="0"/>
              <a:t>S</a:t>
            </a:r>
            <a:r>
              <a:rPr lang="en-US" baseline="-25000" dirty="0"/>
              <a:t>1</a:t>
            </a:r>
            <a:r>
              <a:rPr lang="en-US" dirty="0"/>
              <a:t> + </a:t>
            </a:r>
            <a:r>
              <a:rPr lang="en-US" i="1" dirty="0"/>
              <a:t>S</a:t>
            </a:r>
            <a:r>
              <a:rPr lang="en-US" baseline="-25000" dirty="0"/>
              <a:t>2</a:t>
            </a:r>
            <a:r>
              <a:rPr lang="en-US" dirty="0"/>
              <a:t> ≥ 65</a:t>
            </a:r>
            <a:br>
              <a:rPr lang="en-US" dirty="0"/>
            </a:br>
            <a:r>
              <a:rPr lang="en-US" dirty="0"/>
              <a:t>		</a:t>
            </a:r>
            <a:r>
              <a:rPr lang="en-US" i="1" dirty="0"/>
              <a:t>S</a:t>
            </a:r>
            <a:r>
              <a:rPr lang="en-US" baseline="-25000" dirty="0"/>
              <a:t>1</a:t>
            </a:r>
            <a:r>
              <a:rPr lang="en-US" dirty="0"/>
              <a:t> + </a:t>
            </a:r>
            <a:r>
              <a:rPr lang="en-US" i="1" dirty="0"/>
              <a:t>S</a:t>
            </a:r>
            <a:r>
              <a:rPr lang="en-US" baseline="-25000" dirty="0"/>
              <a:t>2</a:t>
            </a:r>
            <a:r>
              <a:rPr lang="en-US" dirty="0"/>
              <a:t> + </a:t>
            </a:r>
            <a:r>
              <a:rPr lang="en-US" i="1" dirty="0"/>
              <a:t>S</a:t>
            </a:r>
            <a:r>
              <a:rPr lang="en-US" baseline="-25000" dirty="0"/>
              <a:t>3</a:t>
            </a:r>
            <a:r>
              <a:rPr lang="en-US" dirty="0"/>
              <a:t> ≥ 87</a:t>
            </a:r>
            <a:br>
              <a:rPr lang="en-US" dirty="0"/>
            </a:br>
            <a:r>
              <a:rPr lang="en-US" dirty="0"/>
              <a:t>		</a:t>
            </a:r>
            <a:r>
              <a:rPr lang="en-US" i="1" dirty="0"/>
              <a:t>S</a:t>
            </a:r>
            <a:r>
              <a:rPr lang="en-US" baseline="-25000" dirty="0"/>
              <a:t>2</a:t>
            </a:r>
            <a:r>
              <a:rPr lang="en-US" dirty="0"/>
              <a:t> + </a:t>
            </a:r>
            <a:r>
              <a:rPr lang="en-US" i="1" dirty="0"/>
              <a:t>S</a:t>
            </a:r>
            <a:r>
              <a:rPr lang="en-US" baseline="-25000" dirty="0"/>
              <a:t>3</a:t>
            </a:r>
            <a:r>
              <a:rPr lang="en-US" dirty="0"/>
              <a:t> ≥ 64</a:t>
            </a:r>
            <a:br>
              <a:rPr lang="en-US" dirty="0"/>
            </a:br>
            <a:r>
              <a:rPr lang="en-US" dirty="0"/>
              <a:t>		</a:t>
            </a:r>
            <a:r>
              <a:rPr lang="en-US" i="1" dirty="0"/>
              <a:t>S</a:t>
            </a:r>
            <a:r>
              <a:rPr lang="en-US" baseline="-25000" dirty="0"/>
              <a:t>3</a:t>
            </a:r>
            <a:r>
              <a:rPr lang="en-US" dirty="0"/>
              <a:t> + </a:t>
            </a:r>
            <a:r>
              <a:rPr lang="en-US" i="1" dirty="0"/>
              <a:t>S</a:t>
            </a:r>
            <a:r>
              <a:rPr lang="en-US" baseline="-25000" dirty="0"/>
              <a:t>4</a:t>
            </a:r>
            <a:r>
              <a:rPr lang="en-US" dirty="0"/>
              <a:t> ≥ 73</a:t>
            </a:r>
            <a:br>
              <a:rPr lang="en-US" dirty="0"/>
            </a:br>
            <a:r>
              <a:rPr lang="en-US" dirty="0"/>
              <a:t>		</a:t>
            </a:r>
            <a:r>
              <a:rPr lang="en-US" i="1" dirty="0"/>
              <a:t>S</a:t>
            </a:r>
            <a:r>
              <a:rPr lang="en-US" baseline="-25000" dirty="0"/>
              <a:t>3</a:t>
            </a:r>
            <a:r>
              <a:rPr lang="en-US" dirty="0"/>
              <a:t> + </a:t>
            </a:r>
            <a:r>
              <a:rPr lang="en-US" i="1" dirty="0"/>
              <a:t>S</a:t>
            </a:r>
            <a:r>
              <a:rPr lang="en-US" baseline="-25000" dirty="0"/>
              <a:t>4</a:t>
            </a:r>
            <a:r>
              <a:rPr lang="en-US" dirty="0"/>
              <a:t> ≥ 82</a:t>
            </a:r>
            <a:br>
              <a:rPr lang="en-US" dirty="0"/>
            </a:br>
            <a:r>
              <a:rPr lang="en-US" dirty="0"/>
              <a:t>		</a:t>
            </a:r>
            <a:r>
              <a:rPr lang="en-US" i="1" dirty="0"/>
              <a:t>S</a:t>
            </a:r>
            <a:r>
              <a:rPr lang="en-US" baseline="-25000" dirty="0"/>
              <a:t>4</a:t>
            </a:r>
            <a:r>
              <a:rPr lang="en-US" dirty="0"/>
              <a:t> ≥ 43</a:t>
            </a:r>
            <a:br>
              <a:rPr lang="en-US" dirty="0"/>
            </a:br>
            <a:r>
              <a:rPr lang="en-US" dirty="0"/>
              <a:t>		</a:t>
            </a:r>
            <a:r>
              <a:rPr lang="en-US" i="1" dirty="0"/>
              <a:t>S</a:t>
            </a:r>
            <a:r>
              <a:rPr lang="en-US" baseline="-25000" dirty="0"/>
              <a:t>4</a:t>
            </a:r>
            <a:r>
              <a:rPr lang="en-US" dirty="0"/>
              <a:t> + </a:t>
            </a:r>
            <a:r>
              <a:rPr lang="en-US" i="1" dirty="0"/>
              <a:t>S</a:t>
            </a:r>
            <a:r>
              <a:rPr lang="en-US" baseline="-25000" dirty="0"/>
              <a:t>5</a:t>
            </a:r>
            <a:r>
              <a:rPr lang="en-US" dirty="0"/>
              <a:t> ≥ 52</a:t>
            </a:r>
            <a:br>
              <a:rPr lang="en-US" dirty="0"/>
            </a:br>
            <a:r>
              <a:rPr lang="en-US" dirty="0"/>
              <a:t>		</a:t>
            </a:r>
            <a:r>
              <a:rPr lang="en-US" i="1" dirty="0"/>
              <a:t>S</a:t>
            </a:r>
            <a:r>
              <a:rPr lang="en-US" baseline="-25000" dirty="0"/>
              <a:t>5</a:t>
            </a:r>
            <a:r>
              <a:rPr lang="en-US" dirty="0"/>
              <a:t> ≥ 15</a:t>
            </a:r>
            <a:br>
              <a:rPr lang="en-US" dirty="0"/>
            </a:br>
            <a:r>
              <a:rPr lang="en-US" dirty="0"/>
              <a:t>		</a:t>
            </a:r>
            <a:r>
              <a:rPr lang="en-US" i="1" dirty="0"/>
              <a:t>S</a:t>
            </a:r>
            <a:r>
              <a:rPr lang="en-US" baseline="-25000" dirty="0"/>
              <a:t>i</a:t>
            </a:r>
            <a:r>
              <a:rPr lang="en-US" dirty="0"/>
              <a:t> ≥ 0 (for </a:t>
            </a:r>
            <a:r>
              <a:rPr lang="en-US" i="1" dirty="0" err="1"/>
              <a:t>i</a:t>
            </a:r>
            <a:r>
              <a:rPr lang="en-US" dirty="0"/>
              <a:t> = 1 to 5)</a:t>
            </a:r>
          </a:p>
        </p:txBody>
      </p:sp>
      <p:pic>
        <p:nvPicPr>
          <p:cNvPr id="6" name="Picture 2" descr="C:\Users\dincer\Desktop\Captur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05107" y="3183876"/>
            <a:ext cx="2553190" cy="2788900"/>
          </a:xfrm>
          <a:prstGeom prst="rect">
            <a:avLst/>
          </a:prstGeom>
          <a:noFill/>
          <a:extLst>
            <a:ext uri="{909E8E84-426E-40DD-AFC4-6F175D3DCCD1}">
              <a14:hiddenFill xmlns:a14="http://schemas.microsoft.com/office/drawing/2010/main">
                <a:solidFill>
                  <a:srgbClr val="FFFFFF"/>
                </a:solidFill>
              </a14:hiddenFill>
            </a:ext>
          </a:extLst>
        </p:spPr>
      </p:pic>
      <p:sp>
        <p:nvSpPr>
          <p:cNvPr id="7" name="Right Brace 6"/>
          <p:cNvSpPr/>
          <p:nvPr/>
        </p:nvSpPr>
        <p:spPr>
          <a:xfrm>
            <a:off x="7357568" y="3257168"/>
            <a:ext cx="742950" cy="2664808"/>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Right Brace 7"/>
          <p:cNvSpPr/>
          <p:nvPr/>
        </p:nvSpPr>
        <p:spPr>
          <a:xfrm>
            <a:off x="7357568" y="2887881"/>
            <a:ext cx="742950" cy="288191"/>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Right Brace 8"/>
          <p:cNvSpPr/>
          <p:nvPr/>
        </p:nvSpPr>
        <p:spPr>
          <a:xfrm>
            <a:off x="7357568" y="6003072"/>
            <a:ext cx="742950" cy="288191"/>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8111309" y="2847310"/>
            <a:ext cx="2310931" cy="369332"/>
          </a:xfrm>
          <a:prstGeom prst="rect">
            <a:avLst/>
          </a:prstGeom>
          <a:noFill/>
        </p:spPr>
        <p:txBody>
          <a:bodyPr wrap="square" rtlCol="0">
            <a:spAutoFit/>
          </a:bodyPr>
          <a:lstStyle/>
          <a:p>
            <a:r>
              <a:rPr lang="en-US" dirty="0"/>
              <a:t>Objective function</a:t>
            </a:r>
          </a:p>
        </p:txBody>
      </p:sp>
      <p:sp>
        <p:nvSpPr>
          <p:cNvPr id="11" name="TextBox 10"/>
          <p:cNvSpPr txBox="1"/>
          <p:nvPr/>
        </p:nvSpPr>
        <p:spPr>
          <a:xfrm>
            <a:off x="8111309" y="5962457"/>
            <a:ext cx="2737923" cy="369332"/>
          </a:xfrm>
          <a:prstGeom prst="rect">
            <a:avLst/>
          </a:prstGeom>
          <a:noFill/>
        </p:spPr>
        <p:txBody>
          <a:bodyPr wrap="square" rtlCol="0">
            <a:spAutoFit/>
          </a:bodyPr>
          <a:lstStyle/>
          <a:p>
            <a:r>
              <a:rPr lang="en-US" dirty="0"/>
              <a:t>Non-negativity constraints</a:t>
            </a:r>
          </a:p>
        </p:txBody>
      </p:sp>
      <p:sp>
        <p:nvSpPr>
          <p:cNvPr id="12" name="TextBox 11"/>
          <p:cNvSpPr txBox="1"/>
          <p:nvPr/>
        </p:nvSpPr>
        <p:spPr>
          <a:xfrm>
            <a:off x="8221980" y="3603835"/>
            <a:ext cx="461665" cy="1526128"/>
          </a:xfrm>
          <a:prstGeom prst="rect">
            <a:avLst/>
          </a:prstGeom>
          <a:noFill/>
        </p:spPr>
        <p:txBody>
          <a:bodyPr vert="vert270" wrap="square" rtlCol="0">
            <a:spAutoFit/>
          </a:bodyPr>
          <a:lstStyle/>
          <a:p>
            <a:r>
              <a:rPr lang="en-US" dirty="0"/>
              <a:t>Constraints</a:t>
            </a:r>
          </a:p>
        </p:txBody>
      </p:sp>
    </p:spTree>
    <p:extLst>
      <p:ext uri="{BB962C8B-B14F-4D97-AF65-F5344CB8AC3E}">
        <p14:creationId xmlns:p14="http://schemas.microsoft.com/office/powerpoint/2010/main" val="26677218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Applications</a:t>
            </a:r>
          </a:p>
        </p:txBody>
      </p:sp>
      <p:sp>
        <p:nvSpPr>
          <p:cNvPr id="3" name="Content Placeholder 2"/>
          <p:cNvSpPr>
            <a:spLocks noGrp="1"/>
          </p:cNvSpPr>
          <p:nvPr>
            <p:ph idx="1"/>
          </p:nvPr>
        </p:nvSpPr>
        <p:spPr/>
        <p:txBody>
          <a:bodyPr/>
          <a:lstStyle/>
          <a:p>
            <a:r>
              <a:rPr lang="en-US" b="1" u="sng" dirty="0"/>
              <a:t>Case: Union Airways Personnel Scheduling Problem (Chapter 3.3)</a:t>
            </a:r>
            <a:endParaRPr lang="en-US" dirty="0"/>
          </a:p>
          <a:p>
            <a:r>
              <a:rPr lang="en-US" dirty="0"/>
              <a:t>Spreadsheet model and solution with Excel Solver</a:t>
            </a:r>
            <a:br>
              <a:rPr lang="en-US" dirty="0"/>
            </a:b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2">
              <a:tabLst>
                <a:tab pos="1712913" algn="l"/>
              </a:tabLst>
            </a:pPr>
            <a:endParaRPr lang="en-US" dirty="0"/>
          </a:p>
        </p:txBody>
      </p:sp>
      <p:pic>
        <p:nvPicPr>
          <p:cNvPr id="13" name="Picture 12"/>
          <p:cNvPicPr>
            <a:picLocks noChangeAspect="1"/>
          </p:cNvPicPr>
          <p:nvPr/>
        </p:nvPicPr>
        <p:blipFill>
          <a:blip r:embed="rId2"/>
          <a:stretch>
            <a:fillRect/>
          </a:stretch>
        </p:blipFill>
        <p:spPr>
          <a:xfrm>
            <a:off x="770031" y="2338388"/>
            <a:ext cx="8998793" cy="3946152"/>
          </a:xfrm>
          <a:prstGeom prst="rect">
            <a:avLst/>
          </a:prstGeom>
        </p:spPr>
      </p:pic>
      <p:sp>
        <p:nvSpPr>
          <p:cNvPr id="14" name="TextBox 13"/>
          <p:cNvSpPr txBox="1"/>
          <p:nvPr/>
        </p:nvSpPr>
        <p:spPr>
          <a:xfrm>
            <a:off x="9994667" y="3234346"/>
            <a:ext cx="1914026" cy="1785104"/>
          </a:xfrm>
          <a:prstGeom prst="rect">
            <a:avLst/>
          </a:prstGeom>
          <a:noFill/>
        </p:spPr>
        <p:txBody>
          <a:bodyPr wrap="square" rtlCol="0">
            <a:spAutoFit/>
          </a:bodyPr>
          <a:lstStyle/>
          <a:p>
            <a:r>
              <a:rPr lang="en-US" sz="2000" b="1" dirty="0"/>
              <a:t>√ </a:t>
            </a:r>
            <a:r>
              <a:rPr lang="en-US" dirty="0">
                <a:solidFill>
                  <a:srgbClr val="C00000"/>
                </a:solidFill>
              </a:rPr>
              <a:t>mark of Table 3.5 (see slide 26) is represented by 1 in the binary matrix in the Excel model</a:t>
            </a:r>
          </a:p>
        </p:txBody>
      </p:sp>
    </p:spTree>
    <p:extLst>
      <p:ext uri="{BB962C8B-B14F-4D97-AF65-F5344CB8AC3E}">
        <p14:creationId xmlns:p14="http://schemas.microsoft.com/office/powerpoint/2010/main" val="790973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Applications</a:t>
            </a:r>
          </a:p>
        </p:txBody>
      </p:sp>
      <p:sp>
        <p:nvSpPr>
          <p:cNvPr id="3" name="Content Placeholder 2"/>
          <p:cNvSpPr>
            <a:spLocks noGrp="1"/>
          </p:cNvSpPr>
          <p:nvPr>
            <p:ph idx="1"/>
          </p:nvPr>
        </p:nvSpPr>
        <p:spPr/>
        <p:txBody>
          <a:bodyPr/>
          <a:lstStyle/>
          <a:p>
            <a:r>
              <a:rPr lang="en-US" b="1" u="sng" dirty="0"/>
              <a:t>Redundant Constraints:</a:t>
            </a:r>
            <a:endParaRPr lang="en-US" dirty="0"/>
          </a:p>
          <a:p>
            <a:r>
              <a:rPr lang="en-US" dirty="0"/>
              <a:t>Recall the algebraic model for Union Airways (slide #28)</a:t>
            </a:r>
          </a:p>
          <a:p>
            <a:pPr lvl="1"/>
            <a:r>
              <a:rPr lang="en-US" dirty="0"/>
              <a:t>The 2</a:t>
            </a:r>
            <a:r>
              <a:rPr lang="en-US" baseline="30000" dirty="0"/>
              <a:t>nd</a:t>
            </a:r>
            <a:r>
              <a:rPr lang="en-US" dirty="0"/>
              <a:t> constraint is </a:t>
            </a:r>
            <a:r>
              <a:rPr lang="en-US" i="1" dirty="0"/>
              <a:t>S</a:t>
            </a:r>
            <a:r>
              <a:rPr lang="en-US" baseline="-25000" dirty="0"/>
              <a:t>1</a:t>
            </a:r>
            <a:r>
              <a:rPr lang="en-US" dirty="0"/>
              <a:t> + </a:t>
            </a:r>
            <a:r>
              <a:rPr lang="en-US" i="1" dirty="0"/>
              <a:t>S</a:t>
            </a:r>
            <a:r>
              <a:rPr lang="en-US" baseline="-25000" dirty="0"/>
              <a:t>2</a:t>
            </a:r>
            <a:r>
              <a:rPr lang="en-US" dirty="0"/>
              <a:t> ≥ 79</a:t>
            </a:r>
          </a:p>
          <a:p>
            <a:pPr lvl="1"/>
            <a:r>
              <a:rPr lang="en-US" dirty="0"/>
              <a:t>The 3</a:t>
            </a:r>
            <a:r>
              <a:rPr lang="en-US" baseline="30000" dirty="0"/>
              <a:t>rd</a:t>
            </a:r>
            <a:r>
              <a:rPr lang="en-US" dirty="0"/>
              <a:t> constraint is S</a:t>
            </a:r>
            <a:r>
              <a:rPr lang="en-US" baseline="-25000" dirty="0"/>
              <a:t>1</a:t>
            </a:r>
            <a:r>
              <a:rPr lang="en-US" dirty="0"/>
              <a:t> + </a:t>
            </a:r>
            <a:r>
              <a:rPr lang="en-US" i="1" dirty="0"/>
              <a:t>S</a:t>
            </a:r>
            <a:r>
              <a:rPr lang="en-US" baseline="-25000" dirty="0"/>
              <a:t>2</a:t>
            </a:r>
            <a:r>
              <a:rPr lang="en-US" dirty="0"/>
              <a:t> ≥ 65</a:t>
            </a:r>
          </a:p>
          <a:p>
            <a:pPr lvl="2"/>
            <a:r>
              <a:rPr lang="en-US" dirty="0"/>
              <a:t>The 3</a:t>
            </a:r>
            <a:r>
              <a:rPr lang="en-US" baseline="30000" dirty="0"/>
              <a:t>rd</a:t>
            </a:r>
            <a:r>
              <a:rPr lang="en-US" dirty="0"/>
              <a:t> constraint is already implied by the 2</a:t>
            </a:r>
            <a:r>
              <a:rPr lang="en-US" baseline="30000" dirty="0"/>
              <a:t>nd</a:t>
            </a:r>
            <a:r>
              <a:rPr lang="en-US" dirty="0"/>
              <a:t> constraint</a:t>
            </a:r>
          </a:p>
          <a:p>
            <a:pPr lvl="2"/>
            <a:r>
              <a:rPr lang="en-US" dirty="0"/>
              <a:t>The 3</a:t>
            </a:r>
            <a:r>
              <a:rPr lang="en-US" baseline="30000" dirty="0"/>
              <a:t>rd</a:t>
            </a:r>
            <a:r>
              <a:rPr lang="en-US" dirty="0"/>
              <a:t> constraint is a redundant constraint!</a:t>
            </a:r>
          </a:p>
          <a:p>
            <a:pPr lvl="1"/>
            <a:r>
              <a:rPr lang="en-US" dirty="0"/>
              <a:t>Adding or removing a redundant constraint </a:t>
            </a:r>
          </a:p>
          <a:p>
            <a:pPr marL="457200" lvl="1" indent="0">
              <a:buNone/>
            </a:pPr>
            <a:r>
              <a:rPr lang="en-US" dirty="0"/>
              <a:t>   does not change the feasible region, </a:t>
            </a:r>
          </a:p>
          <a:p>
            <a:pPr marL="457200" lvl="1" indent="0">
              <a:buNone/>
            </a:pPr>
            <a:r>
              <a:rPr lang="en-US" dirty="0"/>
              <a:t>   therefore, it will not change the optimal solution</a:t>
            </a:r>
            <a:br>
              <a:rPr lang="en-US" dirty="0"/>
            </a:b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2">
              <a:tabLst>
                <a:tab pos="1712913" algn="l"/>
              </a:tabLst>
            </a:pPr>
            <a:endParaRPr lang="en-US" dirty="0"/>
          </a:p>
        </p:txBody>
      </p:sp>
      <p:pic>
        <p:nvPicPr>
          <p:cNvPr id="14" name="Picture 13"/>
          <p:cNvPicPr>
            <a:picLocks noChangeAspect="1"/>
          </p:cNvPicPr>
          <p:nvPr/>
        </p:nvPicPr>
        <p:blipFill>
          <a:blip r:embed="rId2"/>
          <a:stretch>
            <a:fillRect/>
          </a:stretch>
        </p:blipFill>
        <p:spPr>
          <a:xfrm>
            <a:off x="7874425" y="2807685"/>
            <a:ext cx="3827424" cy="3498183"/>
          </a:xfrm>
          <a:prstGeom prst="rect">
            <a:avLst/>
          </a:prstGeom>
        </p:spPr>
      </p:pic>
    </p:spTree>
    <p:extLst>
      <p:ext uri="{BB962C8B-B14F-4D97-AF65-F5344CB8AC3E}">
        <p14:creationId xmlns:p14="http://schemas.microsoft.com/office/powerpoint/2010/main" val="3440451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Applications</a:t>
            </a:r>
          </a:p>
        </p:txBody>
      </p:sp>
      <p:sp>
        <p:nvSpPr>
          <p:cNvPr id="3" name="Content Placeholder 2"/>
          <p:cNvSpPr>
            <a:spLocks noGrp="1"/>
          </p:cNvSpPr>
          <p:nvPr>
            <p:ph idx="1"/>
          </p:nvPr>
        </p:nvSpPr>
        <p:spPr/>
        <p:txBody>
          <a:bodyPr>
            <a:normAutofit lnSpcReduction="10000"/>
          </a:bodyPr>
          <a:lstStyle/>
          <a:p>
            <a:r>
              <a:rPr lang="en-US" b="1" u="sng" dirty="0"/>
              <a:t>Case: Super Grain Advertising-Mix Problem (Chapter 3.4)</a:t>
            </a:r>
            <a:endParaRPr lang="en-US" dirty="0"/>
          </a:p>
          <a:p>
            <a:pPr lvl="1"/>
            <a:r>
              <a:rPr lang="en-US" u="sng" dirty="0"/>
              <a:t>Case Description: </a:t>
            </a:r>
            <a:r>
              <a:rPr lang="en-US" dirty="0"/>
              <a:t>Super Grain Corp. wants to design an advertising campaign to maximize exposure to their new product Crunchy Start. They are considering three advertising media</a:t>
            </a:r>
          </a:p>
          <a:p>
            <a:pPr lvl="2"/>
            <a:r>
              <a:rPr lang="en-US" dirty="0"/>
              <a:t>Television commercials on Saturday morning programs for children.</a:t>
            </a:r>
          </a:p>
          <a:p>
            <a:pPr lvl="2"/>
            <a:r>
              <a:rPr lang="en-US" dirty="0"/>
              <a:t>Advertisements in food and family-oriented magazines.</a:t>
            </a:r>
          </a:p>
          <a:p>
            <a:pPr lvl="2"/>
            <a:r>
              <a:rPr lang="en-US" dirty="0"/>
              <a:t>Advertisements in Sunday supplements of major newspapers.</a:t>
            </a:r>
          </a:p>
          <a:p>
            <a:pPr lvl="1"/>
            <a:r>
              <a:rPr lang="en-US" dirty="0"/>
              <a:t>Each unit of media: results in an exposure to children and parents, has an ad cost, and has a planning cost </a:t>
            </a:r>
          </a:p>
          <a:p>
            <a:pPr lvl="1"/>
            <a:r>
              <a:rPr lang="en-US" dirty="0"/>
              <a:t>Limited budget for ad spending, planning costs, limited television spots</a:t>
            </a:r>
          </a:p>
          <a:p>
            <a:pPr lvl="1"/>
            <a:r>
              <a:rPr lang="en-US" dirty="0"/>
              <a:t>Required minimum number of exposure young children and parents</a:t>
            </a:r>
          </a:p>
          <a:p>
            <a:pPr lvl="1"/>
            <a:r>
              <a:rPr lang="en-US" dirty="0"/>
              <a:t>Fixed amount to spend on coupons in the magazine and newspaper advertisements</a:t>
            </a:r>
          </a:p>
          <a:p>
            <a:pPr lvl="1"/>
            <a:endParaRPr lang="en-US" dirty="0"/>
          </a:p>
          <a:p>
            <a:pPr lvl="1"/>
            <a:r>
              <a:rPr lang="en-US" dirty="0"/>
              <a:t>Question: At what level should Super Grain advertise in each of the three media?</a:t>
            </a:r>
          </a:p>
          <a:p>
            <a:pPr lvl="1"/>
            <a:endParaRPr lang="en-US" dirty="0"/>
          </a:p>
          <a:p>
            <a:pPr>
              <a:tabLst>
                <a:tab pos="1712913" algn="l"/>
              </a:tabLst>
            </a:pPr>
            <a:endParaRPr lang="en-US" dirty="0"/>
          </a:p>
          <a:p>
            <a:pPr>
              <a:tabLst>
                <a:tab pos="1712913" algn="l"/>
              </a:tabLst>
            </a:pPr>
            <a:endParaRPr lang="en-US" dirty="0"/>
          </a:p>
          <a:p>
            <a:pPr>
              <a:tabLst>
                <a:tab pos="1712913" algn="l"/>
              </a:tabLst>
            </a:pPr>
            <a:endParaRPr lang="en-US" dirty="0"/>
          </a:p>
          <a:p>
            <a:pPr>
              <a:tabLst>
                <a:tab pos="1712913" algn="l"/>
              </a:tabLst>
            </a:pPr>
            <a:endParaRPr lang="en-US" dirty="0"/>
          </a:p>
          <a:p>
            <a:pPr lvl="6">
              <a:tabLst>
                <a:tab pos="1712913" algn="l"/>
              </a:tabLst>
            </a:pPr>
            <a:endParaRPr lang="en-US" dirty="0"/>
          </a:p>
        </p:txBody>
      </p:sp>
    </p:spTree>
    <p:extLst>
      <p:ext uri="{BB962C8B-B14F-4D97-AF65-F5344CB8AC3E}">
        <p14:creationId xmlns:p14="http://schemas.microsoft.com/office/powerpoint/2010/main" val="6760644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Applications</a:t>
            </a:r>
          </a:p>
        </p:txBody>
      </p:sp>
      <p:sp>
        <p:nvSpPr>
          <p:cNvPr id="3" name="Content Placeholder 2"/>
          <p:cNvSpPr>
            <a:spLocks noGrp="1"/>
          </p:cNvSpPr>
          <p:nvPr>
            <p:ph idx="1"/>
          </p:nvPr>
        </p:nvSpPr>
        <p:spPr/>
        <p:txBody>
          <a:bodyPr/>
          <a:lstStyle/>
          <a:p>
            <a:r>
              <a:rPr lang="en-US" b="1" u="sng" dirty="0"/>
              <a:t>Case: Super Grain Advertising-Mix Problem (Chapter 3.4)</a:t>
            </a:r>
            <a:endParaRPr lang="en-US" dirty="0"/>
          </a:p>
          <a:p>
            <a:r>
              <a:rPr lang="en-US" b="1" dirty="0">
                <a:solidFill>
                  <a:srgbClr val="C00000"/>
                </a:solidFill>
              </a:rPr>
              <a:t>STEP 0: </a:t>
            </a:r>
            <a:r>
              <a:rPr lang="en-US" dirty="0"/>
              <a:t>Know the problem and gather your data</a:t>
            </a:r>
          </a:p>
          <a:p>
            <a:pPr lvl="1"/>
            <a:endParaRPr lang="en-US" dirty="0"/>
          </a:p>
          <a:p>
            <a:pPr>
              <a:tabLst>
                <a:tab pos="1712913" algn="l"/>
              </a:tabLst>
            </a:pPr>
            <a:endParaRPr lang="en-US" dirty="0"/>
          </a:p>
          <a:p>
            <a:pPr>
              <a:tabLst>
                <a:tab pos="1712913" algn="l"/>
              </a:tabLst>
            </a:pPr>
            <a:endParaRPr lang="en-US" dirty="0"/>
          </a:p>
          <a:p>
            <a:pPr>
              <a:tabLst>
                <a:tab pos="1712913" algn="l"/>
              </a:tabLst>
            </a:pPr>
            <a:endParaRPr lang="en-US" dirty="0"/>
          </a:p>
          <a:p>
            <a:pPr>
              <a:tabLst>
                <a:tab pos="1712913" algn="l"/>
              </a:tabLst>
            </a:pPr>
            <a:endParaRPr lang="en-US" dirty="0"/>
          </a:p>
          <a:p>
            <a:pPr lvl="6">
              <a:tabLst>
                <a:tab pos="1712913" algn="l"/>
              </a:tabLst>
            </a:pPr>
            <a:endParaRPr lang="en-US" dirty="0"/>
          </a:p>
        </p:txBody>
      </p:sp>
      <p:graphicFrame>
        <p:nvGraphicFramePr>
          <p:cNvPr id="7" name="Group 227">
            <a:extLst>
              <a:ext uri="{FF2B5EF4-FFF2-40B4-BE49-F238E27FC236}">
                <a16:creationId xmlns:a16="http://schemas.microsoft.com/office/drawing/2014/main" id="{95F9CA09-66DC-4133-AA4D-9A19939CB793}"/>
              </a:ext>
            </a:extLst>
          </p:cNvPr>
          <p:cNvGraphicFramePr>
            <a:graphicFrameLocks/>
          </p:cNvGraphicFramePr>
          <p:nvPr>
            <p:extLst>
              <p:ext uri="{D42A27DB-BD31-4B8C-83A1-F6EECF244321}">
                <p14:modId xmlns:p14="http://schemas.microsoft.com/office/powerpoint/2010/main" val="906280967"/>
              </p:ext>
            </p:extLst>
          </p:nvPr>
        </p:nvGraphicFramePr>
        <p:xfrm>
          <a:off x="6395257" y="2301276"/>
          <a:ext cx="5702531" cy="3547184"/>
        </p:xfrm>
        <a:graphic>
          <a:graphicData uri="http://schemas.openxmlformats.org/drawingml/2006/table">
            <a:tbl>
              <a:tblPr/>
              <a:tblGrid>
                <a:gridCol w="1314231">
                  <a:extLst>
                    <a:ext uri="{9D8B030D-6E8A-4147-A177-3AD203B41FA5}">
                      <a16:colId xmlns:a16="http://schemas.microsoft.com/office/drawing/2014/main" val="20000"/>
                    </a:ext>
                  </a:extLst>
                </a:gridCol>
                <a:gridCol w="1302803">
                  <a:extLst>
                    <a:ext uri="{9D8B030D-6E8A-4147-A177-3AD203B41FA5}">
                      <a16:colId xmlns:a16="http://schemas.microsoft.com/office/drawing/2014/main" val="20001"/>
                    </a:ext>
                  </a:extLst>
                </a:gridCol>
                <a:gridCol w="290139">
                  <a:extLst>
                    <a:ext uri="{9D8B030D-6E8A-4147-A177-3AD203B41FA5}">
                      <a16:colId xmlns:a16="http://schemas.microsoft.com/office/drawing/2014/main" val="1080745331"/>
                    </a:ext>
                  </a:extLst>
                </a:gridCol>
                <a:gridCol w="1006332">
                  <a:extLst>
                    <a:ext uri="{9D8B030D-6E8A-4147-A177-3AD203B41FA5}">
                      <a16:colId xmlns:a16="http://schemas.microsoft.com/office/drawing/2014/main" val="20002"/>
                    </a:ext>
                  </a:extLst>
                </a:gridCol>
                <a:gridCol w="780416">
                  <a:extLst>
                    <a:ext uri="{9D8B030D-6E8A-4147-A177-3AD203B41FA5}">
                      <a16:colId xmlns:a16="http://schemas.microsoft.com/office/drawing/2014/main" val="20003"/>
                    </a:ext>
                  </a:extLst>
                </a:gridCol>
                <a:gridCol w="1008610">
                  <a:extLst>
                    <a:ext uri="{9D8B030D-6E8A-4147-A177-3AD203B41FA5}">
                      <a16:colId xmlns:a16="http://schemas.microsoft.com/office/drawing/2014/main" val="20004"/>
                    </a:ext>
                  </a:extLst>
                </a:gridCol>
              </a:tblGrid>
              <a:tr h="276202">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endParaRPr kumimoji="0" lang="en-US" sz="1200" b="0" i="0" u="none" strike="noStrike" cap="none" normalizeH="0" baseline="0" dirty="0">
                        <a:ln>
                          <a:noFill/>
                        </a:ln>
                        <a:solidFill>
                          <a:schemeClr val="tx1"/>
                        </a:solidFill>
                        <a:effectLst/>
                        <a:latin typeface="Times New Roman" pitchFamily="1" charset="0"/>
                      </a:endParaRPr>
                    </a:p>
                  </a:txBody>
                  <a:tcPr marT="45716" marB="45716" horzOverflow="overflow">
                    <a:lnL cap="flat">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1" i="0" u="none" strike="noStrike" cap="none" normalizeH="0" baseline="0" dirty="0">
                          <a:ln>
                            <a:noFill/>
                          </a:ln>
                          <a:solidFill>
                            <a:schemeClr val="tx1"/>
                          </a:solidFill>
                          <a:effectLst/>
                          <a:latin typeface="Times New Roman" pitchFamily="1" charset="0"/>
                        </a:rPr>
                        <a:t>Number Reached in Target Category (millions)</a:t>
                      </a:r>
                    </a:p>
                  </a:txBody>
                  <a:tcPr marT="45716" marB="45716" anchor="b" horzOverflow="overflow">
                    <a:lnL>
                      <a:noFill/>
                    </a:lnL>
                    <a:lnR>
                      <a:noFill/>
                    </a:lnR>
                    <a:lnT w="285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200" b="1" i="0" u="none" strike="noStrike" cap="none" normalizeH="0" baseline="0">
                        <a:ln>
                          <a:noFill/>
                        </a:ln>
                        <a:solidFill>
                          <a:schemeClr val="tx1"/>
                        </a:solidFill>
                        <a:effectLst/>
                        <a:latin typeface="Times New Roman" pitchFamily="1" charset="0"/>
                      </a:endParaRPr>
                    </a:p>
                  </a:txBody>
                  <a:tcPr marT="45716" marB="45716" anchor="ctr" horzOverflow="overflow">
                    <a:lnL>
                      <a:noFill/>
                    </a:lnL>
                    <a:lnR cap="flat">
                      <a:noFill/>
                    </a:lnR>
                    <a:lnT w="28575"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0"/>
                  </a:ext>
                </a:extLst>
              </a:tr>
              <a:tr h="538746">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endParaRPr kumimoji="0" lang="en-US" sz="1200" b="0" i="0" u="none" strike="noStrike" cap="none" normalizeH="0" baseline="0" dirty="0">
                        <a:ln>
                          <a:noFill/>
                        </a:ln>
                        <a:solidFill>
                          <a:schemeClr val="tx1"/>
                        </a:solidFill>
                        <a:effectLst/>
                        <a:latin typeface="Times New Roman" pitchFamily="1" charset="0"/>
                      </a:endParaRPr>
                    </a:p>
                  </a:txBody>
                  <a:tcPr marT="45716" marB="45716"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1" i="0" u="none" strike="noStrike" cap="none" normalizeH="0" baseline="0">
                          <a:ln>
                            <a:noFill/>
                          </a:ln>
                          <a:solidFill>
                            <a:schemeClr val="tx1"/>
                          </a:solidFill>
                          <a:effectLst/>
                          <a:latin typeface="Times New Roman" pitchFamily="1" charset="0"/>
                        </a:rPr>
                        <a:t>Each</a:t>
                      </a:r>
                      <a:br>
                        <a:rPr kumimoji="0" lang="en-US" sz="1200" b="1" i="0" u="none" strike="noStrike" cap="none" normalizeH="0" baseline="0">
                          <a:ln>
                            <a:noFill/>
                          </a:ln>
                          <a:solidFill>
                            <a:schemeClr val="tx1"/>
                          </a:solidFill>
                          <a:effectLst/>
                          <a:latin typeface="Times New Roman" pitchFamily="1" charset="0"/>
                        </a:rPr>
                      </a:br>
                      <a:r>
                        <a:rPr kumimoji="0" lang="en-US" sz="1200" b="1" i="0" u="none" strike="noStrike" cap="none" normalizeH="0" baseline="0">
                          <a:ln>
                            <a:noFill/>
                          </a:ln>
                          <a:solidFill>
                            <a:schemeClr val="tx1"/>
                          </a:solidFill>
                          <a:effectLst/>
                          <a:latin typeface="Times New Roman" pitchFamily="1" charset="0"/>
                        </a:rPr>
                        <a:t>TV Commercial</a:t>
                      </a:r>
                    </a:p>
                  </a:txBody>
                  <a:tcPr marT="45716" marB="45716" anchor="b" horzOverflow="overflow">
                    <a:lnL>
                      <a:noFill/>
                    </a:lnL>
                    <a:lnR>
                      <a:noFill/>
                    </a:lnR>
                    <a:lnT w="9525" cap="flat" cmpd="sng" algn="ctr">
                      <a:solidFill>
                        <a:schemeClr val="tx1"/>
                      </a:solidFill>
                      <a:prstDash val="solid"/>
                      <a:round/>
                      <a:headEnd type="none" w="med" len="med"/>
                      <a:tailEnd type="none" w="med" len="med"/>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1" i="0" u="none" strike="noStrike" cap="none" normalizeH="0" baseline="0" dirty="0">
                          <a:ln>
                            <a:noFill/>
                          </a:ln>
                          <a:solidFill>
                            <a:schemeClr val="tx1"/>
                          </a:solidFill>
                          <a:effectLst/>
                          <a:latin typeface="Times New Roman" pitchFamily="1" charset="0"/>
                        </a:rPr>
                        <a:t>Each</a:t>
                      </a:r>
                      <a:br>
                        <a:rPr kumimoji="0" lang="en-US" sz="1200" b="1" i="0" u="none" strike="noStrike" cap="none" normalizeH="0" baseline="0" dirty="0">
                          <a:ln>
                            <a:noFill/>
                          </a:ln>
                          <a:solidFill>
                            <a:schemeClr val="tx1"/>
                          </a:solidFill>
                          <a:effectLst/>
                          <a:latin typeface="Times New Roman" pitchFamily="1" charset="0"/>
                        </a:rPr>
                      </a:br>
                      <a:r>
                        <a:rPr kumimoji="0" lang="en-US" sz="1200" b="1" i="0" u="none" strike="noStrike" cap="none" normalizeH="0" baseline="0" dirty="0">
                          <a:ln>
                            <a:noFill/>
                          </a:ln>
                          <a:solidFill>
                            <a:schemeClr val="tx1"/>
                          </a:solidFill>
                          <a:effectLst/>
                          <a:latin typeface="Times New Roman" pitchFamily="1" charset="0"/>
                        </a:rPr>
                        <a:t>Magazine Ad</a:t>
                      </a:r>
                    </a:p>
                  </a:txBody>
                  <a:tcPr marT="45716" marB="45716" anchor="b" horzOverflow="overflow">
                    <a:lnL>
                      <a:noFill/>
                    </a:lnL>
                    <a:lnR>
                      <a:noFill/>
                    </a:lnR>
                    <a:lnT w="9525" cap="flat" cmpd="sng" algn="ctr">
                      <a:solidFill>
                        <a:schemeClr val="tx1"/>
                      </a:solidFill>
                      <a:prstDash val="solid"/>
                      <a:round/>
                      <a:headEnd type="none" w="med" len="med"/>
                      <a:tailEnd type="none" w="med" len="med"/>
                    </a:lnT>
                    <a:lnB>
                      <a:noFill/>
                    </a:lnB>
                    <a:lnTlToBr>
                      <a:noFill/>
                    </a:lnTlToBr>
                    <a:lnBlToTr>
                      <a:noFill/>
                    </a:lnBlToTr>
                    <a:noFill/>
                  </a:tcPr>
                </a:tc>
                <a:tc hMerge="1">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1" i="0" u="none" strike="noStrike" cap="none" normalizeH="0" baseline="0" dirty="0">
                          <a:ln>
                            <a:noFill/>
                          </a:ln>
                          <a:solidFill>
                            <a:schemeClr val="tx1"/>
                          </a:solidFill>
                          <a:effectLst/>
                          <a:latin typeface="Times New Roman" pitchFamily="1" charset="0"/>
                        </a:rPr>
                        <a:t>Each</a:t>
                      </a:r>
                      <a:br>
                        <a:rPr kumimoji="0" lang="en-US" sz="1200" b="1" i="0" u="none" strike="noStrike" cap="none" normalizeH="0" baseline="0" dirty="0">
                          <a:ln>
                            <a:noFill/>
                          </a:ln>
                          <a:solidFill>
                            <a:schemeClr val="tx1"/>
                          </a:solidFill>
                          <a:effectLst/>
                          <a:latin typeface="Times New Roman" pitchFamily="1" charset="0"/>
                        </a:rPr>
                      </a:br>
                      <a:r>
                        <a:rPr kumimoji="0" lang="en-US" sz="1200" b="1" i="0" u="none" strike="noStrike" cap="none" normalizeH="0" baseline="0" dirty="0">
                          <a:ln>
                            <a:noFill/>
                          </a:ln>
                          <a:solidFill>
                            <a:schemeClr val="tx1"/>
                          </a:solidFill>
                          <a:effectLst/>
                          <a:latin typeface="Times New Roman" pitchFamily="1" charset="0"/>
                        </a:rPr>
                        <a:t>Magazine Ad</a:t>
                      </a:r>
                    </a:p>
                  </a:txBody>
                  <a:tcPr marT="45716" marB="45716" anchor="b" horzOverflow="overflow">
                    <a:lnL>
                      <a:noFill/>
                    </a:lnL>
                    <a:lnR>
                      <a:noFill/>
                    </a:lnR>
                    <a:lnT w="952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1" i="0" u="none" strike="noStrike" cap="none" normalizeH="0" baseline="0">
                          <a:ln>
                            <a:noFill/>
                          </a:ln>
                          <a:solidFill>
                            <a:schemeClr val="tx1"/>
                          </a:solidFill>
                          <a:effectLst/>
                          <a:latin typeface="Times New Roman" pitchFamily="1" charset="0"/>
                        </a:rPr>
                        <a:t>Each</a:t>
                      </a:r>
                      <a:br>
                        <a:rPr kumimoji="0" lang="en-US" sz="1200" b="1" i="0" u="none" strike="noStrike" cap="none" normalizeH="0" baseline="0">
                          <a:ln>
                            <a:noFill/>
                          </a:ln>
                          <a:solidFill>
                            <a:schemeClr val="tx1"/>
                          </a:solidFill>
                          <a:effectLst/>
                          <a:latin typeface="Times New Roman" pitchFamily="1" charset="0"/>
                        </a:rPr>
                      </a:br>
                      <a:r>
                        <a:rPr kumimoji="0" lang="en-US" sz="1200" b="1" i="0" u="none" strike="noStrike" cap="none" normalizeH="0" baseline="0">
                          <a:ln>
                            <a:noFill/>
                          </a:ln>
                          <a:solidFill>
                            <a:schemeClr val="tx1"/>
                          </a:solidFill>
                          <a:effectLst/>
                          <a:latin typeface="Times New Roman" pitchFamily="1" charset="0"/>
                        </a:rPr>
                        <a:t>Sunday Ad</a:t>
                      </a:r>
                    </a:p>
                  </a:txBody>
                  <a:tcPr marT="45716" marB="45716" anchor="b" horzOverflow="overflow">
                    <a:lnL>
                      <a:noFill/>
                    </a:lnL>
                    <a:lnR>
                      <a:noFill/>
                    </a:lnR>
                    <a:lnT w="952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1" i="0" u="none" strike="noStrike" cap="none" normalizeH="0" baseline="0">
                          <a:ln>
                            <a:noFill/>
                          </a:ln>
                          <a:solidFill>
                            <a:schemeClr val="tx1"/>
                          </a:solidFill>
                          <a:effectLst/>
                          <a:latin typeface="Times New Roman" pitchFamily="1" charset="0"/>
                        </a:rPr>
                        <a:t>Minimum</a:t>
                      </a:r>
                      <a:br>
                        <a:rPr kumimoji="0" lang="en-US" sz="1200" b="1" i="0" u="none" strike="noStrike" cap="none" normalizeH="0" baseline="0">
                          <a:ln>
                            <a:noFill/>
                          </a:ln>
                          <a:solidFill>
                            <a:schemeClr val="tx1"/>
                          </a:solidFill>
                          <a:effectLst/>
                          <a:latin typeface="Times New Roman" pitchFamily="1" charset="0"/>
                        </a:rPr>
                      </a:br>
                      <a:r>
                        <a:rPr kumimoji="0" lang="en-US" sz="1200" b="1" i="0" u="none" strike="noStrike" cap="none" normalizeH="0" baseline="0">
                          <a:ln>
                            <a:noFill/>
                          </a:ln>
                          <a:solidFill>
                            <a:schemeClr val="tx1"/>
                          </a:solidFill>
                          <a:effectLst/>
                          <a:latin typeface="Times New Roman" pitchFamily="1" charset="0"/>
                        </a:rPr>
                        <a:t>Acceptable</a:t>
                      </a:r>
                      <a:br>
                        <a:rPr kumimoji="0" lang="en-US" sz="1200" b="1" i="0" u="none" strike="noStrike" cap="none" normalizeH="0" baseline="0">
                          <a:ln>
                            <a:noFill/>
                          </a:ln>
                          <a:solidFill>
                            <a:schemeClr val="tx1"/>
                          </a:solidFill>
                          <a:effectLst/>
                          <a:latin typeface="Times New Roman" pitchFamily="1" charset="0"/>
                        </a:rPr>
                      </a:br>
                      <a:r>
                        <a:rPr kumimoji="0" lang="en-US" sz="1200" b="1" i="0" u="none" strike="noStrike" cap="none" normalizeH="0" baseline="0">
                          <a:ln>
                            <a:noFill/>
                          </a:ln>
                          <a:solidFill>
                            <a:schemeClr val="tx1"/>
                          </a:solidFill>
                          <a:effectLst/>
                          <a:latin typeface="Times New Roman" pitchFamily="1" charset="0"/>
                        </a:rPr>
                        <a:t>Level</a:t>
                      </a:r>
                    </a:p>
                  </a:txBody>
                  <a:tcPr marT="45716" marB="45716"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275287">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 charset="0"/>
                        </a:rPr>
                        <a:t>Young children</a:t>
                      </a:r>
                    </a:p>
                  </a:txBody>
                  <a:tcPr marT="45716" marB="45716"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 charset="0"/>
                        </a:rPr>
                        <a:t>1.2</a:t>
                      </a:r>
                    </a:p>
                  </a:txBody>
                  <a:tcPr marT="45716" marB="45716" anchor="ctr" horzOverflow="overflow">
                    <a:lnL>
                      <a:noFill/>
                    </a:lnL>
                    <a:lnR>
                      <a:noFill/>
                    </a:lnR>
                    <a:ln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 charset="0"/>
                        </a:rPr>
                        <a:t>0.1</a:t>
                      </a:r>
                      <a:endParaRPr kumimoji="0" lang="en-US" sz="1200" b="0" i="0" u="none" strike="noStrike" cap="none" normalizeH="0" baseline="0" dirty="0">
                        <a:ln>
                          <a:noFill/>
                        </a:ln>
                        <a:solidFill>
                          <a:schemeClr val="tx1"/>
                        </a:solidFill>
                        <a:effectLst/>
                        <a:latin typeface="Times New Roman" pitchFamily="1" charset="0"/>
                      </a:endParaRPr>
                    </a:p>
                  </a:txBody>
                  <a:tcPr marT="45716" marB="45716" anchor="ctr" horzOverflow="overflow">
                    <a:lnL>
                      <a:noFill/>
                    </a:lnL>
                    <a:lnR>
                      <a:noFill/>
                    </a:lnR>
                    <a:lnT>
                      <a:noFill/>
                    </a:lnT>
                    <a:lnB>
                      <a:noFill/>
                    </a:lnB>
                    <a:lnTlToBr>
                      <a:noFill/>
                    </a:lnTlToBr>
                    <a:lnBlToTr>
                      <a:noFill/>
                    </a:lnBlToTr>
                    <a:noFill/>
                  </a:tcPr>
                </a:tc>
                <a:tc hMerge="1">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 charset="0"/>
                        </a:rPr>
                        <a:t>0.1</a:t>
                      </a:r>
                    </a:p>
                  </a:txBody>
                  <a:tcPr marT="45716" marB="45716"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 charset="0"/>
                        </a:rPr>
                        <a:t>0</a:t>
                      </a:r>
                    </a:p>
                  </a:txBody>
                  <a:tcPr marT="45716" marB="45716"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 charset="0"/>
                        </a:rPr>
                        <a:t>5</a:t>
                      </a:r>
                    </a:p>
                  </a:txBody>
                  <a:tcPr marT="45716" marB="45716"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275287">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 charset="0"/>
                        </a:rPr>
                        <a:t>Parents of young children</a:t>
                      </a:r>
                    </a:p>
                  </a:txBody>
                  <a:tcPr marT="45716" marB="45716" anchor="ctr" horzOverflow="overflow">
                    <a:lnL cap="flat">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 charset="0"/>
                        </a:rPr>
                        <a:t>0.5</a:t>
                      </a:r>
                    </a:p>
                  </a:txBody>
                  <a:tcPr marT="45716" marB="45716" anchor="ct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 charset="0"/>
                        </a:rPr>
                        <a:t>0.2</a:t>
                      </a:r>
                    </a:p>
                  </a:txBody>
                  <a:tcPr marT="45716" marB="45716" anchor="ct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 charset="0"/>
                        </a:rPr>
                        <a:t>0.2</a:t>
                      </a:r>
                    </a:p>
                  </a:txBody>
                  <a:tcPr marT="45716" marB="45716" anchor="ct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 charset="0"/>
                        </a:rPr>
                        <a:t>0.2</a:t>
                      </a:r>
                    </a:p>
                  </a:txBody>
                  <a:tcPr marT="45716" marB="45716" anchor="ct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 charset="0"/>
                        </a:rPr>
                        <a:t>5</a:t>
                      </a:r>
                    </a:p>
                  </a:txBody>
                  <a:tcPr marT="45716" marB="45716" anchor="ctr" horzOverflow="overflow">
                    <a:lnL>
                      <a:noFill/>
                    </a:lnL>
                    <a:lnR cap="flat">
                      <a:noFill/>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5880">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endParaRPr kumimoji="0" lang="en-US" sz="1200" b="0" i="0" u="none" strike="noStrike" cap="none" normalizeH="0" baseline="0" dirty="0">
                        <a:ln>
                          <a:noFill/>
                        </a:ln>
                        <a:solidFill>
                          <a:schemeClr val="tx1"/>
                        </a:solidFill>
                        <a:effectLst/>
                        <a:latin typeface="Times New Roman" pitchFamily="1" charset="0"/>
                      </a:endParaRPr>
                    </a:p>
                  </a:txBody>
                  <a:tcPr marT="45716" marB="45716" anchor="ctr" horzOverflow="overflow">
                    <a:lnL cap="flat">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200" b="0" i="0" u="none" strike="noStrike" cap="none" normalizeH="0" baseline="0">
                        <a:ln>
                          <a:noFill/>
                        </a:ln>
                        <a:solidFill>
                          <a:schemeClr val="tx1"/>
                        </a:solidFill>
                        <a:effectLst/>
                        <a:latin typeface="Times New Roman" pitchFamily="1" charset="0"/>
                      </a:endParaRPr>
                    </a:p>
                  </a:txBody>
                  <a:tcPr marT="45716" marB="45716" anchor="ctr"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200" b="0" i="0" u="none" strike="noStrike" cap="none" normalizeH="0" baseline="0" dirty="0">
                        <a:ln>
                          <a:noFill/>
                        </a:ln>
                        <a:solidFill>
                          <a:schemeClr val="tx1"/>
                        </a:solidFill>
                        <a:effectLst/>
                        <a:latin typeface="Times New Roman" pitchFamily="1" charset="0"/>
                      </a:endParaRPr>
                    </a:p>
                  </a:txBody>
                  <a:tcPr marT="45716" marB="45716" anchor="ctr"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200" b="0" i="0" u="none" strike="noStrike" cap="none" normalizeH="0" baseline="0" dirty="0">
                        <a:ln>
                          <a:noFill/>
                        </a:ln>
                        <a:solidFill>
                          <a:schemeClr val="tx1"/>
                        </a:solidFill>
                        <a:effectLst/>
                        <a:latin typeface="Times New Roman" pitchFamily="1" charset="0"/>
                      </a:endParaRPr>
                    </a:p>
                  </a:txBody>
                  <a:tcPr marT="45716" marB="45716" anchor="ctr"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200" b="0" i="0" u="none" strike="noStrike" cap="none" normalizeH="0" baseline="0" dirty="0">
                        <a:ln>
                          <a:noFill/>
                        </a:ln>
                        <a:solidFill>
                          <a:schemeClr val="tx1"/>
                        </a:solidFill>
                        <a:effectLst/>
                        <a:latin typeface="Times New Roman" pitchFamily="1" charset="0"/>
                      </a:endParaRPr>
                    </a:p>
                  </a:txBody>
                  <a:tcPr marT="45716" marB="45716" anchor="ctr"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200" b="0" i="0" u="none" strike="noStrike" cap="none" normalizeH="0" baseline="0" dirty="0">
                        <a:ln>
                          <a:noFill/>
                        </a:ln>
                        <a:solidFill>
                          <a:schemeClr val="tx1"/>
                        </a:solidFill>
                        <a:effectLst/>
                        <a:latin typeface="Times New Roman" pitchFamily="1" charset="0"/>
                      </a:endParaRPr>
                    </a:p>
                  </a:txBody>
                  <a:tcPr marT="45716" marB="45716" anchor="ctr" horzOverflow="overflow">
                    <a:lnL>
                      <a:noFill/>
                    </a:lnL>
                    <a:lnR cap="flat">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5287">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endParaRPr kumimoji="0" lang="en-US" sz="1200" b="0" i="0" u="none" strike="noStrike" cap="none" normalizeH="0" baseline="0">
                        <a:ln>
                          <a:noFill/>
                        </a:ln>
                        <a:solidFill>
                          <a:schemeClr val="tx1"/>
                        </a:solidFill>
                        <a:effectLst/>
                        <a:latin typeface="Times New Roman" pitchFamily="1" charset="0"/>
                      </a:endParaRPr>
                    </a:p>
                  </a:txBody>
                  <a:tcPr marT="45716" marB="45716" anchor="ctr" horzOverflow="overflow">
                    <a:lnL cap="flat">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1" i="0" u="none" strike="noStrike" cap="none" normalizeH="0" baseline="0">
                          <a:ln>
                            <a:noFill/>
                          </a:ln>
                          <a:solidFill>
                            <a:schemeClr val="tx1"/>
                          </a:solidFill>
                          <a:effectLst/>
                          <a:latin typeface="Times New Roman" pitchFamily="1" charset="0"/>
                        </a:rPr>
                        <a:t>Contribution Toward Required Amount</a:t>
                      </a:r>
                    </a:p>
                  </a:txBody>
                  <a:tcPr marT="45716" marB="45716" anchor="b" horzOverflow="overflow">
                    <a:lnL>
                      <a:noFill/>
                    </a:lnL>
                    <a:lnR>
                      <a:noFill/>
                    </a:lnR>
                    <a:lnT w="285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200" b="1" i="0" u="none" strike="noStrike" cap="none" normalizeH="0" baseline="0">
                        <a:ln>
                          <a:noFill/>
                        </a:ln>
                        <a:solidFill>
                          <a:schemeClr val="tx1"/>
                        </a:solidFill>
                        <a:effectLst/>
                        <a:latin typeface="Times New Roman" pitchFamily="1" charset="0"/>
                      </a:endParaRPr>
                    </a:p>
                  </a:txBody>
                  <a:tcPr marT="45716" marB="45716" anchor="ctr" horzOverflow="overflow">
                    <a:lnL>
                      <a:noFill/>
                    </a:lnL>
                    <a:lnR cap="flat">
                      <a:noFill/>
                    </a:lnR>
                    <a:lnT w="28575"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5"/>
                  </a:ext>
                </a:extLst>
              </a:tr>
              <a:tr h="384816">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endParaRPr kumimoji="0" lang="en-US" sz="1200" b="0" i="0" u="none" strike="noStrike" cap="none" normalizeH="0" baseline="0">
                        <a:ln>
                          <a:noFill/>
                        </a:ln>
                        <a:solidFill>
                          <a:schemeClr val="tx1"/>
                        </a:solidFill>
                        <a:effectLst/>
                        <a:latin typeface="Times New Roman" pitchFamily="1" charset="0"/>
                      </a:endParaRPr>
                    </a:p>
                  </a:txBody>
                  <a:tcPr marT="45716" marB="45716" anchor="ctr" horzOverflow="overflow">
                    <a:lnL cap="flat">
                      <a:noFill/>
                    </a:lnL>
                    <a:lnR>
                      <a:noFill/>
                    </a:lnR>
                    <a:ln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1" i="0" u="none" strike="noStrike" cap="none" normalizeH="0" baseline="0">
                          <a:ln>
                            <a:noFill/>
                          </a:ln>
                          <a:solidFill>
                            <a:schemeClr val="tx1"/>
                          </a:solidFill>
                          <a:effectLst/>
                          <a:latin typeface="Times New Roman" pitchFamily="1" charset="0"/>
                        </a:rPr>
                        <a:t>Each</a:t>
                      </a:r>
                      <a:br>
                        <a:rPr kumimoji="0" lang="en-US" sz="1200" b="1" i="0" u="none" strike="noStrike" cap="none" normalizeH="0" baseline="0">
                          <a:ln>
                            <a:noFill/>
                          </a:ln>
                          <a:solidFill>
                            <a:schemeClr val="tx1"/>
                          </a:solidFill>
                          <a:effectLst/>
                          <a:latin typeface="Times New Roman" pitchFamily="1" charset="0"/>
                        </a:rPr>
                      </a:br>
                      <a:r>
                        <a:rPr kumimoji="0" lang="en-US" sz="1200" b="1" i="0" u="none" strike="noStrike" cap="none" normalizeH="0" baseline="0">
                          <a:ln>
                            <a:noFill/>
                          </a:ln>
                          <a:solidFill>
                            <a:schemeClr val="tx1"/>
                          </a:solidFill>
                          <a:effectLst/>
                          <a:latin typeface="Times New Roman" pitchFamily="1" charset="0"/>
                        </a:rPr>
                        <a:t>TV Commercial</a:t>
                      </a:r>
                    </a:p>
                  </a:txBody>
                  <a:tcPr marT="45716" marB="45716" anchor="b" horzOverflow="overflow">
                    <a:lnL>
                      <a:noFill/>
                    </a:lnL>
                    <a:lnR>
                      <a:noFill/>
                    </a:lnR>
                    <a:lnT w="9525" cap="flat" cmpd="sng" algn="ctr">
                      <a:solidFill>
                        <a:schemeClr val="tx1"/>
                      </a:solidFill>
                      <a:prstDash val="solid"/>
                      <a:round/>
                      <a:headEnd type="none" w="med" len="med"/>
                      <a:tailEnd type="none" w="med" len="med"/>
                    </a:lnT>
                    <a:lnB>
                      <a:noFill/>
                    </a:lnB>
                    <a:lnTlToBr>
                      <a:noFill/>
                    </a:lnTlToBr>
                    <a:lnBlToTr>
                      <a:noFill/>
                    </a:lnBlToTr>
                    <a:noFill/>
                  </a:tcPr>
                </a:tc>
                <a:tc hMerge="1">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200" b="1" i="0" u="none" strike="noStrike" cap="none" normalizeH="0" baseline="0">
                        <a:ln>
                          <a:noFill/>
                        </a:ln>
                        <a:solidFill>
                          <a:schemeClr val="tx1"/>
                        </a:solidFill>
                        <a:effectLst/>
                        <a:latin typeface="Times New Roman" pitchFamily="1" charset="0"/>
                      </a:endParaRPr>
                    </a:p>
                  </a:txBody>
                  <a:tcPr marT="45716" marB="45716" anchor="b" horzOverflow="overflow">
                    <a:lnL>
                      <a:noFill/>
                    </a:lnL>
                    <a:lnR>
                      <a:noFill/>
                    </a:lnR>
                    <a:lnT w="952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1" i="0" u="none" strike="noStrike" cap="none" normalizeH="0" baseline="0">
                          <a:ln>
                            <a:noFill/>
                          </a:ln>
                          <a:solidFill>
                            <a:schemeClr val="tx1"/>
                          </a:solidFill>
                          <a:effectLst/>
                          <a:latin typeface="Times New Roman" pitchFamily="1" charset="0"/>
                        </a:rPr>
                        <a:t>Each</a:t>
                      </a:r>
                      <a:br>
                        <a:rPr kumimoji="0" lang="en-US" sz="1200" b="1" i="0" u="none" strike="noStrike" cap="none" normalizeH="0" baseline="0">
                          <a:ln>
                            <a:noFill/>
                          </a:ln>
                          <a:solidFill>
                            <a:schemeClr val="tx1"/>
                          </a:solidFill>
                          <a:effectLst/>
                          <a:latin typeface="Times New Roman" pitchFamily="1" charset="0"/>
                        </a:rPr>
                      </a:br>
                      <a:r>
                        <a:rPr kumimoji="0" lang="en-US" sz="1200" b="1" i="0" u="none" strike="noStrike" cap="none" normalizeH="0" baseline="0">
                          <a:ln>
                            <a:noFill/>
                          </a:ln>
                          <a:solidFill>
                            <a:schemeClr val="tx1"/>
                          </a:solidFill>
                          <a:effectLst/>
                          <a:latin typeface="Times New Roman" pitchFamily="1" charset="0"/>
                        </a:rPr>
                        <a:t>Magazine Ad</a:t>
                      </a:r>
                    </a:p>
                  </a:txBody>
                  <a:tcPr marT="45716" marB="45716" anchor="b" horzOverflow="overflow">
                    <a:lnL>
                      <a:noFill/>
                    </a:lnL>
                    <a:lnR>
                      <a:noFill/>
                    </a:lnR>
                    <a:lnT w="952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1" i="0" u="none" strike="noStrike" cap="none" normalizeH="0" baseline="0">
                          <a:ln>
                            <a:noFill/>
                          </a:ln>
                          <a:solidFill>
                            <a:schemeClr val="tx1"/>
                          </a:solidFill>
                          <a:effectLst/>
                          <a:latin typeface="Times New Roman" pitchFamily="1" charset="0"/>
                        </a:rPr>
                        <a:t>Each</a:t>
                      </a:r>
                      <a:br>
                        <a:rPr kumimoji="0" lang="en-US" sz="1200" b="1" i="0" u="none" strike="noStrike" cap="none" normalizeH="0" baseline="0">
                          <a:ln>
                            <a:noFill/>
                          </a:ln>
                          <a:solidFill>
                            <a:schemeClr val="tx1"/>
                          </a:solidFill>
                          <a:effectLst/>
                          <a:latin typeface="Times New Roman" pitchFamily="1" charset="0"/>
                        </a:rPr>
                      </a:br>
                      <a:r>
                        <a:rPr kumimoji="0" lang="en-US" sz="1200" b="1" i="0" u="none" strike="noStrike" cap="none" normalizeH="0" baseline="0">
                          <a:ln>
                            <a:noFill/>
                          </a:ln>
                          <a:solidFill>
                            <a:schemeClr val="tx1"/>
                          </a:solidFill>
                          <a:effectLst/>
                          <a:latin typeface="Times New Roman" pitchFamily="1" charset="0"/>
                        </a:rPr>
                        <a:t>Sunday Ad</a:t>
                      </a:r>
                    </a:p>
                  </a:txBody>
                  <a:tcPr marT="45716" marB="45716" anchor="b" horzOverflow="overflow">
                    <a:lnL>
                      <a:noFill/>
                    </a:lnL>
                    <a:lnR>
                      <a:noFill/>
                    </a:lnR>
                    <a:lnT w="952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1" i="0" u="none" strike="noStrike" cap="none" normalizeH="0" baseline="0">
                          <a:ln>
                            <a:noFill/>
                          </a:ln>
                          <a:solidFill>
                            <a:schemeClr val="tx1"/>
                          </a:solidFill>
                          <a:effectLst/>
                          <a:latin typeface="Times New Roman" pitchFamily="1" charset="0"/>
                        </a:rPr>
                        <a:t>Required</a:t>
                      </a:r>
                      <a:br>
                        <a:rPr kumimoji="0" lang="en-US" sz="1200" b="1" i="0" u="none" strike="noStrike" cap="none" normalizeH="0" baseline="0">
                          <a:ln>
                            <a:noFill/>
                          </a:ln>
                          <a:solidFill>
                            <a:schemeClr val="tx1"/>
                          </a:solidFill>
                          <a:effectLst/>
                          <a:latin typeface="Times New Roman" pitchFamily="1" charset="0"/>
                        </a:rPr>
                      </a:br>
                      <a:r>
                        <a:rPr kumimoji="0" lang="en-US" sz="1200" b="1" i="0" u="none" strike="noStrike" cap="none" normalizeH="0" baseline="0">
                          <a:ln>
                            <a:noFill/>
                          </a:ln>
                          <a:solidFill>
                            <a:schemeClr val="tx1"/>
                          </a:solidFill>
                          <a:effectLst/>
                          <a:latin typeface="Times New Roman" pitchFamily="1" charset="0"/>
                        </a:rPr>
                        <a:t>Amount</a:t>
                      </a:r>
                    </a:p>
                  </a:txBody>
                  <a:tcPr marT="45716" marB="45716"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276202">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 charset="0"/>
                        </a:rPr>
                        <a:t>Coupon redemption</a:t>
                      </a:r>
                    </a:p>
                  </a:txBody>
                  <a:tcPr marT="45716" marB="45716" anchor="ctr" horzOverflow="overflow">
                    <a:lnL cap="flat">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 charset="0"/>
                        </a:rPr>
                        <a:t>0</a:t>
                      </a:r>
                    </a:p>
                  </a:txBody>
                  <a:tcPr marT="45716" marB="45716" anchor="ct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200" b="0" i="0" u="none" strike="noStrike" cap="none" normalizeH="0" baseline="0">
                        <a:ln>
                          <a:noFill/>
                        </a:ln>
                        <a:solidFill>
                          <a:schemeClr val="tx1"/>
                        </a:solidFill>
                        <a:effectLst/>
                        <a:latin typeface="Times New Roman" pitchFamily="1" charset="0"/>
                      </a:endParaRPr>
                    </a:p>
                  </a:txBody>
                  <a:tcPr marT="45716" marB="45716" anchor="ct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 charset="0"/>
                        </a:rPr>
                        <a:t>$40,000</a:t>
                      </a:r>
                    </a:p>
                  </a:txBody>
                  <a:tcPr marT="45716" marB="45716" anchor="ct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 charset="0"/>
                        </a:rPr>
                        <a:t>$120,000</a:t>
                      </a:r>
                    </a:p>
                  </a:txBody>
                  <a:tcPr marT="45716" marB="45716" anchor="ct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 charset="0"/>
                        </a:rPr>
                        <a:t>$1,490,000</a:t>
                      </a:r>
                    </a:p>
                  </a:txBody>
                  <a:tcPr marT="45716" marB="45716" anchor="ctr" horzOverflow="overflow">
                    <a:lnL>
                      <a:noFill/>
                    </a:lnL>
                    <a:lnR cap="flat">
                      <a:noFill/>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6" name="Group 119">
            <a:extLst>
              <a:ext uri="{FF2B5EF4-FFF2-40B4-BE49-F238E27FC236}">
                <a16:creationId xmlns:a16="http://schemas.microsoft.com/office/drawing/2014/main" id="{177464FD-3867-4A15-96E3-747E419DEC3C}"/>
              </a:ext>
            </a:extLst>
          </p:cNvPr>
          <p:cNvGraphicFramePr>
            <a:graphicFrameLocks/>
          </p:cNvGraphicFramePr>
          <p:nvPr>
            <p:extLst>
              <p:ext uri="{D42A27DB-BD31-4B8C-83A1-F6EECF244321}">
                <p14:modId xmlns:p14="http://schemas.microsoft.com/office/powerpoint/2010/main" val="3169884891"/>
              </p:ext>
            </p:extLst>
          </p:nvPr>
        </p:nvGraphicFramePr>
        <p:xfrm>
          <a:off x="447500" y="2301276"/>
          <a:ext cx="5759336" cy="2255448"/>
        </p:xfrm>
        <a:graphic>
          <a:graphicData uri="http://schemas.openxmlformats.org/drawingml/2006/table">
            <a:tbl>
              <a:tblPr/>
              <a:tblGrid>
                <a:gridCol w="1439834">
                  <a:extLst>
                    <a:ext uri="{9D8B030D-6E8A-4147-A177-3AD203B41FA5}">
                      <a16:colId xmlns:a16="http://schemas.microsoft.com/office/drawing/2014/main" val="20000"/>
                    </a:ext>
                  </a:extLst>
                </a:gridCol>
                <a:gridCol w="1439834">
                  <a:extLst>
                    <a:ext uri="{9D8B030D-6E8A-4147-A177-3AD203B41FA5}">
                      <a16:colId xmlns:a16="http://schemas.microsoft.com/office/drawing/2014/main" val="20001"/>
                    </a:ext>
                  </a:extLst>
                </a:gridCol>
                <a:gridCol w="1439834">
                  <a:extLst>
                    <a:ext uri="{9D8B030D-6E8A-4147-A177-3AD203B41FA5}">
                      <a16:colId xmlns:a16="http://schemas.microsoft.com/office/drawing/2014/main" val="20002"/>
                    </a:ext>
                  </a:extLst>
                </a:gridCol>
                <a:gridCol w="1439834">
                  <a:extLst>
                    <a:ext uri="{9D8B030D-6E8A-4147-A177-3AD203B41FA5}">
                      <a16:colId xmlns:a16="http://schemas.microsoft.com/office/drawing/2014/main" val="20003"/>
                    </a:ext>
                  </a:extLst>
                </a:gridCol>
              </a:tblGrid>
              <a:tr h="26822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marT="45714" marB="45714" anchor="ctr" horzOverflow="overflow">
                    <a:lnL cap="flat">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marT="45714" marB="45714" anchor="ctr" horzOverflow="overflow">
                    <a:lnL>
                      <a:noFill/>
                    </a:lnL>
                    <a:lnR>
                      <a:noFill/>
                    </a:lnR>
                    <a:lnT w="285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Costs</a:t>
                      </a:r>
                      <a:endParaRPr kumimoji="0" lang="en-US" sz="1400" b="0" i="0" u="none" strike="noStrike" cap="none" normalizeH="0" baseline="0">
                        <a:ln>
                          <a:noFill/>
                        </a:ln>
                        <a:solidFill>
                          <a:schemeClr val="tx1"/>
                        </a:solidFill>
                        <a:effectLst/>
                        <a:latin typeface="Times New Roman" pitchFamily="1" charset="0"/>
                      </a:endParaRPr>
                    </a:p>
                  </a:txBody>
                  <a:tcPr marT="45714" marB="45714" anchor="ctr" horzOverflow="overflow">
                    <a:lnL>
                      <a:noFill/>
                    </a:lnL>
                    <a:lnR>
                      <a:noFill/>
                    </a:lnR>
                    <a:lnT w="285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marT="45714" marB="45714" anchor="ctr" horzOverflow="overflow">
                    <a:lnL>
                      <a:noFill/>
                    </a:lnL>
                    <a:lnR cap="flat">
                      <a:noFill/>
                    </a:lnR>
                    <a:lnT w="285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599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Cost Category</a:t>
                      </a:r>
                    </a:p>
                  </a:txBody>
                  <a:tcPr marT="45714" marB="45714" anchor="b" horzOverflow="overflow">
                    <a:lnL cap="flat">
                      <a:noFill/>
                    </a:lnL>
                    <a:lnR>
                      <a:noFill/>
                    </a:lnR>
                    <a:lnT>
                      <a:noFill/>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Each</a:t>
                      </a:r>
                      <a:br>
                        <a:rPr kumimoji="0" lang="en-US" sz="1400" b="1" i="0" u="none" strike="noStrike" cap="none" normalizeH="0" baseline="0">
                          <a:ln>
                            <a:noFill/>
                          </a:ln>
                          <a:solidFill>
                            <a:schemeClr val="tx1"/>
                          </a:solidFill>
                          <a:effectLst/>
                          <a:latin typeface="Times New Roman" pitchFamily="1" charset="0"/>
                        </a:rPr>
                      </a:br>
                      <a:r>
                        <a:rPr kumimoji="0" lang="en-US" sz="1400" b="1" i="0" u="none" strike="noStrike" cap="none" normalizeH="0" baseline="0">
                          <a:ln>
                            <a:noFill/>
                          </a:ln>
                          <a:solidFill>
                            <a:schemeClr val="tx1"/>
                          </a:solidFill>
                          <a:effectLst/>
                          <a:latin typeface="Times New Roman" pitchFamily="1" charset="0"/>
                        </a:rPr>
                        <a:t>TV Commercial</a:t>
                      </a:r>
                    </a:p>
                  </a:txBody>
                  <a:tcPr marT="45714" marB="45714" anchor="b" horzOverflow="overflow">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Each</a:t>
                      </a:r>
                      <a:br>
                        <a:rPr kumimoji="0" lang="en-US" sz="1400" b="1" i="0" u="none" strike="noStrike" cap="none" normalizeH="0" baseline="0">
                          <a:ln>
                            <a:noFill/>
                          </a:ln>
                          <a:solidFill>
                            <a:schemeClr val="tx1"/>
                          </a:solidFill>
                          <a:effectLst/>
                          <a:latin typeface="Times New Roman" pitchFamily="1" charset="0"/>
                        </a:rPr>
                      </a:br>
                      <a:r>
                        <a:rPr kumimoji="0" lang="en-US" sz="1400" b="1" i="0" u="none" strike="noStrike" cap="none" normalizeH="0" baseline="0">
                          <a:ln>
                            <a:noFill/>
                          </a:ln>
                          <a:solidFill>
                            <a:schemeClr val="tx1"/>
                          </a:solidFill>
                          <a:effectLst/>
                          <a:latin typeface="Times New Roman" pitchFamily="1" charset="0"/>
                        </a:rPr>
                        <a:t>Magazine Ad</a:t>
                      </a:r>
                    </a:p>
                  </a:txBody>
                  <a:tcPr marT="45714" marB="45714" anchor="b" horzOverflow="overflow">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Each</a:t>
                      </a:r>
                      <a:br>
                        <a:rPr kumimoji="0" lang="en-US" sz="1400" b="1" i="0" u="none" strike="noStrike" cap="none" normalizeH="0" baseline="0">
                          <a:ln>
                            <a:noFill/>
                          </a:ln>
                          <a:solidFill>
                            <a:schemeClr val="tx1"/>
                          </a:solidFill>
                          <a:effectLst/>
                          <a:latin typeface="Times New Roman" pitchFamily="1" charset="0"/>
                        </a:rPr>
                      </a:br>
                      <a:r>
                        <a:rPr kumimoji="0" lang="en-US" sz="1400" b="1" i="0" u="none" strike="noStrike" cap="none" normalizeH="0" baseline="0">
                          <a:ln>
                            <a:noFill/>
                          </a:ln>
                          <a:solidFill>
                            <a:schemeClr val="tx1"/>
                          </a:solidFill>
                          <a:effectLst/>
                          <a:latin typeface="Times New Roman" pitchFamily="1" charset="0"/>
                        </a:rPr>
                        <a:t>Sunday Ad</a:t>
                      </a:r>
                    </a:p>
                  </a:txBody>
                  <a:tcPr marT="45714" marB="45714" anchor="b" horzOverflow="overflow">
                    <a:lnL>
                      <a:noFill/>
                    </a:lnL>
                    <a:lnR cap="flat">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822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Ad Budget</a:t>
                      </a:r>
                    </a:p>
                  </a:txBody>
                  <a:tcPr marT="45714" marB="45714" anchor="ctr" horzOverflow="overflow">
                    <a:lnL cap="flat">
                      <a:noFill/>
                    </a:lnL>
                    <a:lnR>
                      <a:noFill/>
                    </a:lnR>
                    <a:lnT w="952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$300,000</a:t>
                      </a:r>
                    </a:p>
                  </a:txBody>
                  <a:tcPr marT="45714" marB="45714" anchor="ctr" horzOverflow="overflow">
                    <a:lnL>
                      <a:noFill/>
                    </a:lnL>
                    <a:lnR>
                      <a:noFill/>
                    </a:lnR>
                    <a:lnT w="952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$150,000</a:t>
                      </a:r>
                    </a:p>
                  </a:txBody>
                  <a:tcPr marT="45714" marB="45714" anchor="ctr" horzOverflow="overflow">
                    <a:lnL>
                      <a:noFill/>
                    </a:lnL>
                    <a:lnR>
                      <a:noFill/>
                    </a:lnR>
                    <a:lnT w="952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$100,000</a:t>
                      </a:r>
                    </a:p>
                  </a:txBody>
                  <a:tcPr marT="45714" marB="45714" anchor="ctr" horzOverflow="overflow">
                    <a:lnL>
                      <a:noFill/>
                    </a:lnL>
                    <a:lnR cap="flat">
                      <a:noFill/>
                    </a:lnR>
                    <a:lnT w="9525"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26822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Planning budget</a:t>
                      </a:r>
                    </a:p>
                  </a:txBody>
                  <a:tcPr marT="45714" marB="45714" anchor="ctr" horzOverflow="overflow">
                    <a:lnL cap="flat">
                      <a:noFill/>
                    </a:lnL>
                    <a:lnR>
                      <a:noFill/>
                    </a:lnR>
                    <a:lnT>
                      <a:noFill/>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90,000</a:t>
                      </a:r>
                    </a:p>
                  </a:txBody>
                  <a:tcPr marT="45714" marB="45714" anchor="ctr" horzOverflow="overflow">
                    <a:lnL>
                      <a:noFill/>
                    </a:lnL>
                    <a:lnR>
                      <a:noFill/>
                    </a:lnR>
                    <a:lnT>
                      <a:noFill/>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30,000</a:t>
                      </a:r>
                    </a:p>
                  </a:txBody>
                  <a:tcPr marT="45714" marB="45714" anchor="ctr" horzOverflow="overflow">
                    <a:lnL>
                      <a:noFill/>
                    </a:lnL>
                    <a:lnR>
                      <a:noFill/>
                    </a:lnR>
                    <a:lnT>
                      <a:noFill/>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40,000</a:t>
                      </a:r>
                    </a:p>
                  </a:txBody>
                  <a:tcPr marT="45714" marB="45714" anchor="ctr" horzOverflow="overflow">
                    <a:lnL>
                      <a:noFill/>
                    </a:lnL>
                    <a:lnR cap="flat">
                      <a:noFill/>
                    </a:lnR>
                    <a:lnT>
                      <a:noFill/>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599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Expected number of exposures</a:t>
                      </a:r>
                    </a:p>
                  </a:txBody>
                  <a:tcPr marT="45714" marB="45714" anchor="ctr" horzOverflow="overflow">
                    <a:lnL cap="flat">
                      <a:noFill/>
                    </a:lnL>
                    <a:lnR>
                      <a:noFill/>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1,300,000</a:t>
                      </a:r>
                    </a:p>
                  </a:txBody>
                  <a:tcPr marT="45714" marB="45714" anchor="ctr" horzOverflow="overflow">
                    <a:lnL>
                      <a:noFill/>
                    </a:lnL>
                    <a:lnR>
                      <a:noFill/>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pitchFamily="1" charset="0"/>
                        </a:rPr>
                        <a:t>600,000</a:t>
                      </a:r>
                    </a:p>
                  </a:txBody>
                  <a:tcPr marT="45714" marB="45714" anchor="ctr" horzOverflow="overflow">
                    <a:lnL>
                      <a:noFill/>
                    </a:lnL>
                    <a:lnR>
                      <a:noFill/>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500,000</a:t>
                      </a:r>
                    </a:p>
                  </a:txBody>
                  <a:tcPr marT="45714" marB="45714" anchor="ctr" horzOverflow="overflow">
                    <a:lnL>
                      <a:noFill/>
                    </a:lnL>
                    <a:lnR cap="flat">
                      <a:noFill/>
                    </a:lnR>
                    <a:lnT w="952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822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marT="45714" marB="45714" anchor="ctr" horzOverflow="overflow">
                    <a:lnL cap="flat">
                      <a:noFill/>
                    </a:lnL>
                    <a:lnR>
                      <a:noFill/>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marT="45714" marB="45714" anchor="ctr" horzOverflow="overflow">
                    <a:lnL>
                      <a:noFill/>
                    </a:lnL>
                    <a:lnR>
                      <a:noFill/>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Times New Roman" pitchFamily="1" charset="0"/>
                      </a:endParaRPr>
                    </a:p>
                  </a:txBody>
                  <a:tcPr marT="45714" marB="45714" anchor="ctr" horzOverflow="overflow">
                    <a:lnL>
                      <a:noFill/>
                    </a:lnL>
                    <a:lnR>
                      <a:noFill/>
                    </a:lnR>
                    <a:lnT w="28575"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a:ln>
                          <a:noFill/>
                        </a:ln>
                        <a:solidFill>
                          <a:schemeClr val="tx1"/>
                        </a:solidFill>
                        <a:effectLst/>
                        <a:latin typeface="Times New Roman" pitchFamily="1" charset="0"/>
                      </a:endParaRPr>
                    </a:p>
                  </a:txBody>
                  <a:tcPr marT="45714" marB="45714" anchor="ctr" horzOverflow="overflow">
                    <a:lnL>
                      <a:noFill/>
                    </a:lnL>
                    <a:lnR cap="flat">
                      <a:noFill/>
                    </a:lnR>
                    <a:lnT w="28575"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 name="TextBox 3">
            <a:extLst>
              <a:ext uri="{FF2B5EF4-FFF2-40B4-BE49-F238E27FC236}">
                <a16:creationId xmlns:a16="http://schemas.microsoft.com/office/drawing/2014/main" id="{ACD72018-4686-4417-822E-1DF020F1D7B5}"/>
              </a:ext>
            </a:extLst>
          </p:cNvPr>
          <p:cNvSpPr txBox="1"/>
          <p:nvPr/>
        </p:nvSpPr>
        <p:spPr>
          <a:xfrm>
            <a:off x="1529542" y="4799215"/>
            <a:ext cx="2953789" cy="646331"/>
          </a:xfrm>
          <a:prstGeom prst="rect">
            <a:avLst/>
          </a:prstGeom>
          <a:noFill/>
        </p:spPr>
        <p:txBody>
          <a:bodyPr wrap="square" rtlCol="0">
            <a:spAutoFit/>
          </a:bodyPr>
          <a:lstStyle/>
          <a:p>
            <a:pPr marL="285750" indent="-285750">
              <a:buFont typeface="Arial" panose="020B0604020202020204" pitchFamily="34" charset="0"/>
              <a:buChar char="•"/>
            </a:pPr>
            <a:r>
              <a:rPr lang="en-US" dirty="0"/>
              <a:t>At most 5 TV spots are available!</a:t>
            </a:r>
          </a:p>
        </p:txBody>
      </p:sp>
    </p:spTree>
    <p:extLst>
      <p:ext uri="{BB962C8B-B14F-4D97-AF65-F5344CB8AC3E}">
        <p14:creationId xmlns:p14="http://schemas.microsoft.com/office/powerpoint/2010/main" val="17615827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Applications</a:t>
            </a:r>
          </a:p>
        </p:txBody>
      </p:sp>
      <p:sp>
        <p:nvSpPr>
          <p:cNvPr id="3" name="Content Placeholder 2"/>
          <p:cNvSpPr>
            <a:spLocks noGrp="1"/>
          </p:cNvSpPr>
          <p:nvPr>
            <p:ph idx="1"/>
          </p:nvPr>
        </p:nvSpPr>
        <p:spPr/>
        <p:txBody>
          <a:bodyPr/>
          <a:lstStyle/>
          <a:p>
            <a:r>
              <a:rPr lang="en-US" b="1" u="sng" dirty="0"/>
              <a:t>Case: Super Grain Advertising-Mix Problem (Chapter 3.4)</a:t>
            </a:r>
            <a:endParaRPr lang="en-US" dirty="0"/>
          </a:p>
          <a:p>
            <a:r>
              <a:rPr lang="en-US" b="1" dirty="0">
                <a:solidFill>
                  <a:srgbClr val="C00000"/>
                </a:solidFill>
              </a:rPr>
              <a:t>STEP 1: </a:t>
            </a:r>
            <a:r>
              <a:rPr lang="en-US" dirty="0"/>
              <a:t>Decision variables</a:t>
            </a:r>
          </a:p>
          <a:p>
            <a:pPr lvl="1"/>
            <a:r>
              <a:rPr lang="en-US" dirty="0"/>
              <a:t>We want to determine the level to advertise in each of the three media</a:t>
            </a:r>
          </a:p>
          <a:p>
            <a:pPr marL="457200" lvl="1" indent="0">
              <a:buNone/>
            </a:pPr>
            <a:r>
              <a:rPr lang="en-US" i="1" dirty="0"/>
              <a:t>		TV</a:t>
            </a:r>
            <a:r>
              <a:rPr lang="en-US" dirty="0"/>
              <a:t> = Number of commercials for separate spots on television</a:t>
            </a:r>
            <a:br>
              <a:rPr lang="en-US" dirty="0"/>
            </a:br>
            <a:r>
              <a:rPr lang="en-US" dirty="0"/>
              <a:t>		</a:t>
            </a:r>
            <a:r>
              <a:rPr lang="en-US" i="1" dirty="0"/>
              <a:t>M</a:t>
            </a:r>
            <a:r>
              <a:rPr lang="en-US" dirty="0"/>
              <a:t> = Number of advertisements in magazines.</a:t>
            </a:r>
            <a:br>
              <a:rPr lang="en-US" dirty="0"/>
            </a:br>
            <a:r>
              <a:rPr lang="en-US" dirty="0"/>
              <a:t>		</a:t>
            </a:r>
            <a:r>
              <a:rPr lang="en-US" i="1" dirty="0"/>
              <a:t>SS</a:t>
            </a:r>
            <a:r>
              <a:rPr lang="en-US" dirty="0"/>
              <a:t> = Number of advertisements in Sunday supplements.</a:t>
            </a:r>
            <a:endParaRPr lang="en-US" b="1" dirty="0">
              <a:solidFill>
                <a:srgbClr val="C00000"/>
              </a:solidFill>
            </a:endParaRPr>
          </a:p>
          <a:p>
            <a:pPr marL="457200" lvl="1" indent="0">
              <a:buNone/>
            </a:pPr>
            <a:endParaRPr lang="en-US" b="1" dirty="0">
              <a:solidFill>
                <a:srgbClr val="C00000"/>
              </a:solidFill>
            </a:endParaRPr>
          </a:p>
          <a:p>
            <a:r>
              <a:rPr lang="en-US" b="1" dirty="0">
                <a:solidFill>
                  <a:srgbClr val="C00000"/>
                </a:solidFill>
              </a:rPr>
              <a:t>STEP 2: </a:t>
            </a:r>
            <a:r>
              <a:rPr lang="en-US" dirty="0"/>
              <a:t>Objective and objective function</a:t>
            </a:r>
          </a:p>
          <a:p>
            <a:pPr lvl="1"/>
            <a:r>
              <a:rPr lang="en-US" dirty="0"/>
              <a:t>We want to maximize the total exposure</a:t>
            </a:r>
            <a:br>
              <a:rPr lang="en-US" dirty="0"/>
            </a:br>
            <a:r>
              <a:rPr lang="en-US" dirty="0"/>
              <a:t>		Maximize 	Exposure = 1,300</a:t>
            </a:r>
            <a:r>
              <a:rPr lang="en-US" i="1" dirty="0"/>
              <a:t>TV</a:t>
            </a:r>
            <a:r>
              <a:rPr lang="en-US" dirty="0"/>
              <a:t> + 600</a:t>
            </a:r>
            <a:r>
              <a:rPr lang="en-US" i="1" dirty="0"/>
              <a:t>M</a:t>
            </a:r>
            <a:r>
              <a:rPr lang="en-US" dirty="0"/>
              <a:t> + 500</a:t>
            </a:r>
            <a:r>
              <a:rPr lang="en-US" i="1" dirty="0"/>
              <a:t>SS</a:t>
            </a:r>
            <a:endParaRPr lang="en-US" dirty="0"/>
          </a:p>
          <a:p>
            <a:pPr>
              <a:tabLst>
                <a:tab pos="1712913" algn="l"/>
              </a:tabLst>
            </a:pPr>
            <a:endParaRPr lang="en-US" dirty="0"/>
          </a:p>
          <a:p>
            <a:pPr>
              <a:tabLst>
                <a:tab pos="1712913" algn="l"/>
              </a:tabLst>
            </a:pPr>
            <a:endParaRPr lang="en-US" dirty="0"/>
          </a:p>
          <a:p>
            <a:pPr lvl="6">
              <a:tabLst>
                <a:tab pos="1712913" algn="l"/>
              </a:tabLst>
            </a:pPr>
            <a:endParaRPr lang="en-US" dirty="0"/>
          </a:p>
        </p:txBody>
      </p:sp>
    </p:spTree>
    <p:extLst>
      <p:ext uri="{BB962C8B-B14F-4D97-AF65-F5344CB8AC3E}">
        <p14:creationId xmlns:p14="http://schemas.microsoft.com/office/powerpoint/2010/main" val="2184697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Applications</a:t>
            </a:r>
          </a:p>
        </p:txBody>
      </p:sp>
      <p:sp>
        <p:nvSpPr>
          <p:cNvPr id="3" name="Content Placeholder 2"/>
          <p:cNvSpPr>
            <a:spLocks noGrp="1"/>
          </p:cNvSpPr>
          <p:nvPr>
            <p:ph idx="1"/>
          </p:nvPr>
        </p:nvSpPr>
        <p:spPr/>
        <p:txBody>
          <a:bodyPr/>
          <a:lstStyle/>
          <a:p>
            <a:r>
              <a:rPr lang="en-US" b="1" u="sng" dirty="0"/>
              <a:t>Case: Super Grain Advertising-Mix Problem (Chapter 3.4)</a:t>
            </a:r>
            <a:endParaRPr lang="en-US" dirty="0"/>
          </a:p>
          <a:p>
            <a:r>
              <a:rPr lang="en-US" b="1" dirty="0">
                <a:solidFill>
                  <a:srgbClr val="C00000"/>
                </a:solidFill>
              </a:rPr>
              <a:t>STEP 3: </a:t>
            </a:r>
            <a:r>
              <a:rPr lang="en-US" dirty="0"/>
              <a:t>Constraints</a:t>
            </a:r>
          </a:p>
          <a:p>
            <a:pPr lvl="1"/>
            <a:r>
              <a:rPr lang="en-US" dirty="0"/>
              <a:t>We have budget constraints</a:t>
            </a:r>
          </a:p>
          <a:p>
            <a:pPr lvl="2"/>
            <a:r>
              <a:rPr lang="en-US" dirty="0"/>
              <a:t>Ad Spending:	300</a:t>
            </a:r>
            <a:r>
              <a:rPr lang="en-US" i="1" dirty="0"/>
              <a:t>TV</a:t>
            </a:r>
            <a:r>
              <a:rPr lang="en-US" dirty="0"/>
              <a:t> + 150</a:t>
            </a:r>
            <a:r>
              <a:rPr lang="en-US" i="1" dirty="0"/>
              <a:t>M</a:t>
            </a:r>
            <a:r>
              <a:rPr lang="en-US" dirty="0"/>
              <a:t> + 100</a:t>
            </a:r>
            <a:r>
              <a:rPr lang="en-US" i="1" dirty="0"/>
              <a:t>SS</a:t>
            </a:r>
            <a:r>
              <a:rPr lang="en-US" dirty="0"/>
              <a:t> ≤ 4,000 ($thousand)</a:t>
            </a:r>
          </a:p>
          <a:p>
            <a:pPr lvl="2"/>
            <a:r>
              <a:rPr lang="en-US" dirty="0"/>
              <a:t>Planning Cost:	90</a:t>
            </a:r>
            <a:r>
              <a:rPr lang="en-US" i="1" dirty="0"/>
              <a:t>TV</a:t>
            </a:r>
            <a:r>
              <a:rPr lang="en-US" dirty="0"/>
              <a:t> + 30</a:t>
            </a:r>
            <a:r>
              <a:rPr lang="en-US" i="1" dirty="0"/>
              <a:t>M</a:t>
            </a:r>
            <a:r>
              <a:rPr lang="en-US" dirty="0"/>
              <a:t> + 30</a:t>
            </a:r>
            <a:r>
              <a:rPr lang="en-US" i="1" dirty="0"/>
              <a:t>SS</a:t>
            </a:r>
            <a:r>
              <a:rPr lang="en-US" dirty="0"/>
              <a:t> ≤ 1,000 ($thousand)</a:t>
            </a:r>
          </a:p>
          <a:p>
            <a:pPr lvl="1"/>
            <a:r>
              <a:rPr lang="en-US" dirty="0"/>
              <a:t>Limit on the number of TV spots:	</a:t>
            </a:r>
            <a:r>
              <a:rPr lang="en-US" i="1" dirty="0"/>
              <a:t>TV</a:t>
            </a:r>
            <a:r>
              <a:rPr lang="en-US" dirty="0"/>
              <a:t> ≤ 5</a:t>
            </a:r>
          </a:p>
          <a:p>
            <a:pPr lvl="1"/>
            <a:r>
              <a:rPr lang="en-US" dirty="0"/>
              <a:t>Required minimum level of exposure to children and families</a:t>
            </a:r>
          </a:p>
          <a:p>
            <a:pPr lvl="2"/>
            <a:r>
              <a:rPr lang="en-US" dirty="0"/>
              <a:t>Young children:	1.2</a:t>
            </a:r>
            <a:r>
              <a:rPr lang="en-US" i="1" dirty="0"/>
              <a:t>TV</a:t>
            </a:r>
            <a:r>
              <a:rPr lang="en-US" dirty="0"/>
              <a:t> + 0.1</a:t>
            </a:r>
            <a:r>
              <a:rPr lang="en-US" i="1" dirty="0"/>
              <a:t>M</a:t>
            </a:r>
            <a:r>
              <a:rPr lang="en-US" dirty="0"/>
              <a:t> ≥ 5 (millions)</a:t>
            </a:r>
          </a:p>
          <a:p>
            <a:pPr lvl="2"/>
            <a:r>
              <a:rPr lang="en-US" dirty="0"/>
              <a:t>Parents:	0.5</a:t>
            </a:r>
            <a:r>
              <a:rPr lang="en-US" i="1" dirty="0"/>
              <a:t>TV</a:t>
            </a:r>
            <a:r>
              <a:rPr lang="en-US" dirty="0"/>
              <a:t> + 0.2</a:t>
            </a:r>
            <a:r>
              <a:rPr lang="en-US" i="1" dirty="0"/>
              <a:t>M</a:t>
            </a:r>
            <a:r>
              <a:rPr lang="en-US" dirty="0"/>
              <a:t> + 0.2</a:t>
            </a:r>
            <a:r>
              <a:rPr lang="en-US" i="1" dirty="0"/>
              <a:t>SS</a:t>
            </a:r>
            <a:r>
              <a:rPr lang="en-US" dirty="0"/>
              <a:t> ≥ 5 (millions)</a:t>
            </a:r>
          </a:p>
          <a:p>
            <a:pPr lvl="1"/>
            <a:r>
              <a:rPr lang="en-US" dirty="0"/>
              <a:t>Coupons:	40</a:t>
            </a:r>
            <a:r>
              <a:rPr lang="en-US" i="1" dirty="0"/>
              <a:t>M</a:t>
            </a:r>
            <a:r>
              <a:rPr lang="en-US" dirty="0"/>
              <a:t> + 120</a:t>
            </a:r>
            <a:r>
              <a:rPr lang="en-US" i="1" dirty="0"/>
              <a:t>SS</a:t>
            </a:r>
            <a:r>
              <a:rPr lang="en-US" dirty="0"/>
              <a:t> = 1,490 ($thousand)</a:t>
            </a:r>
            <a:br>
              <a:rPr lang="en-US" dirty="0"/>
            </a:br>
            <a:endParaRPr lang="en-US" dirty="0"/>
          </a:p>
          <a:p>
            <a:pPr lvl="6">
              <a:tabLst>
                <a:tab pos="1712913" algn="l"/>
              </a:tabLst>
            </a:pPr>
            <a:endParaRPr lang="en-US" dirty="0"/>
          </a:p>
        </p:txBody>
      </p:sp>
    </p:spTree>
    <p:extLst>
      <p:ext uri="{BB962C8B-B14F-4D97-AF65-F5344CB8AC3E}">
        <p14:creationId xmlns:p14="http://schemas.microsoft.com/office/powerpoint/2010/main" val="2814933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Applications</a:t>
            </a:r>
          </a:p>
        </p:txBody>
      </p:sp>
      <p:sp>
        <p:nvSpPr>
          <p:cNvPr id="3" name="Content Placeholder 2"/>
          <p:cNvSpPr>
            <a:spLocks noGrp="1"/>
          </p:cNvSpPr>
          <p:nvPr>
            <p:ph idx="1"/>
          </p:nvPr>
        </p:nvSpPr>
        <p:spPr/>
        <p:txBody>
          <a:bodyPr/>
          <a:lstStyle/>
          <a:p>
            <a:r>
              <a:rPr lang="en-US" b="1" u="sng" dirty="0"/>
              <a:t>Case: Super Grain Advertising-Mix Problem (Chapter 3.4)</a:t>
            </a:r>
            <a:endParaRPr lang="en-US" dirty="0"/>
          </a:p>
          <a:p>
            <a:r>
              <a:rPr lang="en-US" dirty="0"/>
              <a:t>Combining everything (and not forgetting non-negativity constraints), we have the algebraic model as follows:</a:t>
            </a:r>
            <a:br>
              <a:rPr lang="en-US" dirty="0"/>
            </a:b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2">
              <a:tabLst>
                <a:tab pos="1712913" algn="l"/>
              </a:tabLst>
            </a:pPr>
            <a:endParaRPr lang="en-US" dirty="0"/>
          </a:p>
        </p:txBody>
      </p:sp>
      <p:sp>
        <p:nvSpPr>
          <p:cNvPr id="4" name="Rectangle 3">
            <a:extLst>
              <a:ext uri="{FF2B5EF4-FFF2-40B4-BE49-F238E27FC236}">
                <a16:creationId xmlns:a16="http://schemas.microsoft.com/office/drawing/2014/main" id="{670775B4-0B78-4883-8994-4474FB64FD40}"/>
              </a:ext>
            </a:extLst>
          </p:cNvPr>
          <p:cNvSpPr/>
          <p:nvPr/>
        </p:nvSpPr>
        <p:spPr>
          <a:xfrm>
            <a:off x="2233353" y="2949415"/>
            <a:ext cx="5248101" cy="2554545"/>
          </a:xfrm>
          <a:prstGeom prst="rect">
            <a:avLst/>
          </a:prstGeom>
        </p:spPr>
        <p:txBody>
          <a:bodyPr wrap="square">
            <a:spAutoFit/>
          </a:bodyPr>
          <a:lstStyle/>
          <a:p>
            <a:pPr>
              <a:spcBef>
                <a:spcPct val="50000"/>
              </a:spcBef>
            </a:pPr>
            <a:r>
              <a:rPr lang="en-US" sz="2000" dirty="0"/>
              <a:t>Maximize 	1,300</a:t>
            </a:r>
            <a:r>
              <a:rPr lang="en-US" sz="2000" i="1" dirty="0"/>
              <a:t>TV</a:t>
            </a:r>
            <a:r>
              <a:rPr lang="en-US" sz="2000" dirty="0"/>
              <a:t> + 600</a:t>
            </a:r>
            <a:r>
              <a:rPr lang="en-US" sz="2000" i="1" dirty="0"/>
              <a:t>M</a:t>
            </a:r>
            <a:r>
              <a:rPr lang="en-US" sz="2000" dirty="0"/>
              <a:t> + 500</a:t>
            </a:r>
            <a:r>
              <a:rPr lang="en-US" sz="2000" i="1" dirty="0"/>
              <a:t>SS</a:t>
            </a:r>
            <a:br>
              <a:rPr lang="en-US" sz="2000" dirty="0"/>
            </a:br>
            <a:r>
              <a:rPr lang="en-US" sz="2000" dirty="0"/>
              <a:t>subject to	300</a:t>
            </a:r>
            <a:r>
              <a:rPr lang="en-US" sz="2000" i="1" dirty="0"/>
              <a:t>TV</a:t>
            </a:r>
            <a:r>
              <a:rPr lang="en-US" sz="2000" dirty="0"/>
              <a:t> + 150</a:t>
            </a:r>
            <a:r>
              <a:rPr lang="en-US" sz="2000" i="1" dirty="0"/>
              <a:t>M</a:t>
            </a:r>
            <a:r>
              <a:rPr lang="en-US" sz="2000" dirty="0"/>
              <a:t> + 100</a:t>
            </a:r>
            <a:r>
              <a:rPr lang="en-US" sz="2000" i="1" dirty="0"/>
              <a:t>SS</a:t>
            </a:r>
            <a:r>
              <a:rPr lang="en-US" sz="2000" dirty="0"/>
              <a:t> ≤ 4,000</a:t>
            </a:r>
            <a:br>
              <a:rPr lang="en-US" sz="2000" dirty="0"/>
            </a:br>
            <a:r>
              <a:rPr lang="en-US" sz="2000" dirty="0"/>
              <a:t>		90</a:t>
            </a:r>
            <a:r>
              <a:rPr lang="en-US" sz="2000" i="1" dirty="0"/>
              <a:t>TV</a:t>
            </a:r>
            <a:r>
              <a:rPr lang="en-US" sz="2000" dirty="0"/>
              <a:t> + 30</a:t>
            </a:r>
            <a:r>
              <a:rPr lang="en-US" sz="2000" i="1" dirty="0"/>
              <a:t>M</a:t>
            </a:r>
            <a:r>
              <a:rPr lang="en-US" sz="2000" dirty="0"/>
              <a:t> + 40</a:t>
            </a:r>
            <a:r>
              <a:rPr lang="en-US" sz="2000" i="1" dirty="0"/>
              <a:t>SS</a:t>
            </a:r>
            <a:r>
              <a:rPr lang="en-US" sz="2000" dirty="0"/>
              <a:t> ≤ 1,000</a:t>
            </a:r>
            <a:br>
              <a:rPr lang="en-US" sz="2000" dirty="0"/>
            </a:br>
            <a:r>
              <a:rPr lang="en-US" sz="2000" dirty="0"/>
              <a:t>		</a:t>
            </a:r>
            <a:r>
              <a:rPr lang="en-US" sz="2000" i="1" dirty="0"/>
              <a:t>TV</a:t>
            </a:r>
            <a:r>
              <a:rPr lang="en-US" sz="2000" dirty="0"/>
              <a:t> ≤ 5</a:t>
            </a:r>
            <a:br>
              <a:rPr lang="en-US" sz="2000" dirty="0"/>
            </a:br>
            <a:r>
              <a:rPr lang="en-US" sz="2000" dirty="0"/>
              <a:t>		1.2</a:t>
            </a:r>
            <a:r>
              <a:rPr lang="en-US" sz="2000" i="1" dirty="0"/>
              <a:t>TV</a:t>
            </a:r>
            <a:r>
              <a:rPr lang="en-US" sz="2000" dirty="0"/>
              <a:t> + 0.1</a:t>
            </a:r>
            <a:r>
              <a:rPr lang="en-US" sz="2000" i="1" dirty="0"/>
              <a:t>M</a:t>
            </a:r>
            <a:r>
              <a:rPr lang="en-US" sz="2000" dirty="0"/>
              <a:t> ≥ 5</a:t>
            </a:r>
            <a:br>
              <a:rPr lang="en-US" sz="2000" dirty="0"/>
            </a:br>
            <a:r>
              <a:rPr lang="en-US" sz="2000" dirty="0"/>
              <a:t>		0.5</a:t>
            </a:r>
            <a:r>
              <a:rPr lang="en-US" sz="2000" i="1" dirty="0"/>
              <a:t>TV</a:t>
            </a:r>
            <a:r>
              <a:rPr lang="en-US" sz="2000" dirty="0"/>
              <a:t> + 0.2</a:t>
            </a:r>
            <a:r>
              <a:rPr lang="en-US" sz="2000" i="1" dirty="0"/>
              <a:t>M</a:t>
            </a:r>
            <a:r>
              <a:rPr lang="en-US" sz="2000" dirty="0"/>
              <a:t> + 0.2</a:t>
            </a:r>
            <a:r>
              <a:rPr lang="en-US" sz="2000" i="1" dirty="0"/>
              <a:t>SS</a:t>
            </a:r>
            <a:r>
              <a:rPr lang="en-US" sz="2000" dirty="0"/>
              <a:t> ≥ 5</a:t>
            </a:r>
            <a:br>
              <a:rPr lang="en-US" sz="2000" dirty="0"/>
            </a:br>
            <a:r>
              <a:rPr lang="en-US" sz="2000" dirty="0"/>
              <a:t>		40</a:t>
            </a:r>
            <a:r>
              <a:rPr lang="en-US" sz="2000" i="1" dirty="0"/>
              <a:t>M</a:t>
            </a:r>
            <a:r>
              <a:rPr lang="en-US" sz="2000" dirty="0"/>
              <a:t> + 120</a:t>
            </a:r>
            <a:r>
              <a:rPr lang="en-US" sz="2000" i="1" dirty="0"/>
              <a:t>SS</a:t>
            </a:r>
            <a:r>
              <a:rPr lang="en-US" sz="2000" dirty="0"/>
              <a:t> = 1,490</a:t>
            </a:r>
            <a:br>
              <a:rPr lang="en-US" sz="2000" dirty="0"/>
            </a:br>
            <a:r>
              <a:rPr lang="en-US" sz="2000" dirty="0"/>
              <a:t>		</a:t>
            </a:r>
            <a:r>
              <a:rPr lang="en-US" sz="2000" i="1" dirty="0"/>
              <a:t>TV</a:t>
            </a:r>
            <a:r>
              <a:rPr lang="en-US" sz="2000" dirty="0"/>
              <a:t> ≥ 0, </a:t>
            </a:r>
            <a:r>
              <a:rPr lang="en-US" sz="2000" i="1" dirty="0"/>
              <a:t>M</a:t>
            </a:r>
            <a:r>
              <a:rPr lang="en-US" sz="2000" dirty="0"/>
              <a:t> ≥ 0, </a:t>
            </a:r>
            <a:r>
              <a:rPr lang="en-US" sz="2000" i="1" dirty="0"/>
              <a:t>SS</a:t>
            </a:r>
            <a:r>
              <a:rPr lang="en-US" sz="2000" dirty="0"/>
              <a:t> ≥ 0.</a:t>
            </a:r>
          </a:p>
        </p:txBody>
      </p:sp>
    </p:spTree>
    <p:extLst>
      <p:ext uri="{BB962C8B-B14F-4D97-AF65-F5344CB8AC3E}">
        <p14:creationId xmlns:p14="http://schemas.microsoft.com/office/powerpoint/2010/main" val="17257501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Programming Applications</a:t>
            </a:r>
          </a:p>
        </p:txBody>
      </p:sp>
      <p:sp>
        <p:nvSpPr>
          <p:cNvPr id="3" name="Content Placeholder 2"/>
          <p:cNvSpPr>
            <a:spLocks noGrp="1"/>
          </p:cNvSpPr>
          <p:nvPr>
            <p:ph idx="1"/>
          </p:nvPr>
        </p:nvSpPr>
        <p:spPr/>
        <p:txBody>
          <a:bodyPr/>
          <a:lstStyle/>
          <a:p>
            <a:r>
              <a:rPr lang="en-US" b="1" u="sng" dirty="0"/>
              <a:t>Case: Super Grain Advertising-Mix Problem (Chapter 3.4)</a:t>
            </a:r>
            <a:endParaRPr lang="en-US" dirty="0"/>
          </a:p>
          <a:p>
            <a:r>
              <a:rPr lang="en-US" dirty="0"/>
              <a:t>Spreadsheet model and solution with Excel Solver</a:t>
            </a:r>
            <a:br>
              <a:rPr lang="en-US" dirty="0"/>
            </a:b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2">
              <a:tabLst>
                <a:tab pos="1712913" algn="l"/>
              </a:tabLst>
            </a:pPr>
            <a:endParaRPr lang="en-US" dirty="0"/>
          </a:p>
        </p:txBody>
      </p:sp>
      <p:pic>
        <p:nvPicPr>
          <p:cNvPr id="6" name="Picture 4">
            <a:extLst>
              <a:ext uri="{FF2B5EF4-FFF2-40B4-BE49-F238E27FC236}">
                <a16:creationId xmlns:a16="http://schemas.microsoft.com/office/drawing/2014/main" id="{80387EB9-AC0F-4EBA-80B4-9E03018A568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3851" y="2413462"/>
            <a:ext cx="7772400" cy="392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602015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71CAB-88F9-C038-328A-FCACFF20EC42}"/>
              </a:ext>
            </a:extLst>
          </p:cNvPr>
          <p:cNvSpPr>
            <a:spLocks noGrp="1"/>
          </p:cNvSpPr>
          <p:nvPr>
            <p:ph type="title"/>
          </p:nvPr>
        </p:nvSpPr>
        <p:spPr/>
        <p:txBody>
          <a:bodyPr/>
          <a:lstStyle/>
          <a:p>
            <a:r>
              <a:rPr lang="en-US" dirty="0"/>
              <a:t>Transportation and Assignment Models</a:t>
            </a:r>
          </a:p>
        </p:txBody>
      </p:sp>
      <p:sp>
        <p:nvSpPr>
          <p:cNvPr id="3" name="Text Placeholder 2">
            <a:extLst>
              <a:ext uri="{FF2B5EF4-FFF2-40B4-BE49-F238E27FC236}">
                <a16:creationId xmlns:a16="http://schemas.microsoft.com/office/drawing/2014/main" id="{EEC4B5F6-11CC-BA02-55DB-4145976E537A}"/>
              </a:ext>
            </a:extLst>
          </p:cNvPr>
          <p:cNvSpPr>
            <a:spLocks noGrp="1"/>
          </p:cNvSpPr>
          <p:nvPr>
            <p:ph type="body" idx="1"/>
          </p:nvPr>
        </p:nvSpPr>
        <p:spPr/>
        <p:txBody>
          <a:bodyPr/>
          <a:lstStyle/>
          <a:p>
            <a:r>
              <a:rPr lang="en-US" dirty="0"/>
              <a:t>Chapter 3&amp;15</a:t>
            </a:r>
          </a:p>
        </p:txBody>
      </p:sp>
    </p:spTree>
    <p:extLst>
      <p:ext uri="{BB962C8B-B14F-4D97-AF65-F5344CB8AC3E}">
        <p14:creationId xmlns:p14="http://schemas.microsoft.com/office/powerpoint/2010/main" val="33567678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Transportation Problems</a:t>
            </a:r>
          </a:p>
        </p:txBody>
      </p:sp>
      <p:sp>
        <p:nvSpPr>
          <p:cNvPr id="3" name="Content Placeholder 2"/>
          <p:cNvSpPr>
            <a:spLocks noGrp="1"/>
          </p:cNvSpPr>
          <p:nvPr>
            <p:ph idx="1"/>
          </p:nvPr>
        </p:nvSpPr>
        <p:spPr/>
        <p:txBody>
          <a:bodyPr/>
          <a:lstStyle/>
          <a:p>
            <a:r>
              <a:rPr lang="en-US" sz="2400" dirty="0"/>
              <a:t>Transportation problems are seen in many applications that deal with transporting goods optimally</a:t>
            </a:r>
          </a:p>
          <a:p>
            <a:pPr lvl="1"/>
            <a:r>
              <a:rPr lang="en-US" sz="2000" dirty="0"/>
              <a:t>However, many other problems that are not related to transportation can also be modeled as transportation problems</a:t>
            </a:r>
          </a:p>
          <a:p>
            <a:r>
              <a:rPr lang="en-US" sz="2400" dirty="0"/>
              <a:t>Typically:</a:t>
            </a:r>
          </a:p>
          <a:p>
            <a:pPr lvl="1"/>
            <a:r>
              <a:rPr lang="en-US" sz="2000" dirty="0">
                <a:ea typeface="ＭＳ Ｐゴシック"/>
              </a:rPr>
              <a:t>There are sources and destinations</a:t>
            </a:r>
          </a:p>
          <a:p>
            <a:pPr lvl="2"/>
            <a:r>
              <a:rPr lang="en-US" sz="1800" dirty="0">
                <a:ea typeface="ＭＳ Ｐゴシック"/>
              </a:rPr>
              <a:t>Each source has a fixed </a:t>
            </a:r>
            <a:r>
              <a:rPr lang="en-US" sz="1800" i="1" dirty="0">
                <a:ea typeface="ＭＳ Ｐゴシック"/>
              </a:rPr>
              <a:t>supply</a:t>
            </a:r>
            <a:r>
              <a:rPr lang="en-US" sz="1800" dirty="0">
                <a:ea typeface="ＭＳ Ｐゴシック"/>
              </a:rPr>
              <a:t> of units, where this supply is to be distributed to the destinations.</a:t>
            </a:r>
          </a:p>
          <a:p>
            <a:pPr lvl="2"/>
            <a:r>
              <a:rPr lang="en-US" sz="1800" dirty="0">
                <a:ea typeface="ＭＳ Ｐゴシック"/>
              </a:rPr>
              <a:t>Each destination has a fixed </a:t>
            </a:r>
            <a:r>
              <a:rPr lang="en-US" sz="1800" i="1" dirty="0">
                <a:ea typeface="ＭＳ Ｐゴシック"/>
              </a:rPr>
              <a:t>demand</a:t>
            </a:r>
            <a:r>
              <a:rPr lang="en-US" sz="1800" dirty="0">
                <a:ea typeface="ＭＳ Ｐゴシック"/>
              </a:rPr>
              <a:t> for units, where this demand must be received from the sources.</a:t>
            </a:r>
          </a:p>
          <a:p>
            <a:pPr lvl="1"/>
            <a:r>
              <a:rPr lang="en-US" sz="2000" dirty="0">
                <a:ea typeface="ＭＳ Ｐゴシック"/>
              </a:rPr>
              <a:t>It is assumed that there is a direct way of shipping from any source to any destination</a:t>
            </a:r>
          </a:p>
          <a:p>
            <a:pPr lvl="1"/>
            <a:r>
              <a:rPr lang="en-US" sz="2000" dirty="0">
                <a:ea typeface="ＭＳ Ｐゴシック"/>
              </a:rPr>
              <a:t>A transportation problem will have feasible solutions if and only if the </a:t>
            </a:r>
            <a:r>
              <a:rPr lang="en-US" sz="2000" i="1" dirty="0">
                <a:ea typeface="ＭＳ Ｐゴシック"/>
              </a:rPr>
              <a:t>sum</a:t>
            </a:r>
            <a:r>
              <a:rPr lang="en-US" sz="2000" dirty="0">
                <a:ea typeface="ＭＳ Ｐゴシック"/>
              </a:rPr>
              <a:t> of its supplies </a:t>
            </a:r>
            <a:r>
              <a:rPr lang="en-US" sz="2000" i="1" dirty="0">
                <a:ea typeface="ＭＳ Ｐゴシック"/>
              </a:rPr>
              <a:t>is greater than or equal to</a:t>
            </a:r>
            <a:r>
              <a:rPr lang="en-US" sz="2000" dirty="0">
                <a:ea typeface="ＭＳ Ｐゴシック"/>
              </a:rPr>
              <a:t> the </a:t>
            </a:r>
            <a:r>
              <a:rPr lang="en-US" sz="2000" i="1" dirty="0">
                <a:ea typeface="ＭＳ Ｐゴシック"/>
              </a:rPr>
              <a:t>sum</a:t>
            </a:r>
            <a:r>
              <a:rPr lang="en-US" sz="2000" dirty="0">
                <a:ea typeface="ＭＳ Ｐゴシック"/>
              </a:rPr>
              <a:t> of its demands. Traditionally, total supply = total demand, but not needed.</a:t>
            </a:r>
          </a:p>
          <a:p>
            <a:pPr lvl="1"/>
            <a:r>
              <a:rPr lang="en-US" sz="2000" dirty="0">
                <a:ea typeface="ＭＳ Ｐゴシック"/>
              </a:rPr>
              <a:t>The cost of distributing units from any particular source to any particular destination is </a:t>
            </a:r>
            <a:r>
              <a:rPr lang="en-US" sz="2000" i="1" dirty="0">
                <a:ea typeface="ＭＳ Ｐゴシック"/>
              </a:rPr>
              <a:t>directly proportional</a:t>
            </a:r>
            <a:r>
              <a:rPr lang="en-US" sz="2000" dirty="0">
                <a:ea typeface="ＭＳ Ｐゴシック"/>
              </a:rPr>
              <a:t> to the number of units distributed.</a:t>
            </a:r>
          </a:p>
          <a:p>
            <a:pPr lvl="2"/>
            <a:r>
              <a:rPr lang="en-US" sz="1800" dirty="0">
                <a:ea typeface="ＭＳ Ｐゴシック"/>
              </a:rPr>
              <a:t>This cost is just the </a:t>
            </a:r>
            <a:r>
              <a:rPr lang="en-US" sz="1800" i="1" dirty="0">
                <a:ea typeface="ＭＳ Ｐゴシック"/>
              </a:rPr>
              <a:t>unit cost</a:t>
            </a:r>
            <a:r>
              <a:rPr lang="en-US" sz="1800" dirty="0">
                <a:ea typeface="ＭＳ Ｐゴシック"/>
              </a:rPr>
              <a:t> of distribution </a:t>
            </a:r>
            <a:r>
              <a:rPr lang="en-US" sz="1800" i="1" dirty="0">
                <a:ea typeface="ＭＳ Ｐゴシック"/>
              </a:rPr>
              <a:t>times the number of units distributed</a:t>
            </a:r>
            <a:r>
              <a:rPr lang="en-US" sz="1800" dirty="0">
                <a:ea typeface="ＭＳ Ｐゴシック"/>
              </a:rPr>
              <a:t>.</a:t>
            </a:r>
          </a:p>
          <a:p>
            <a:pPr lvl="1"/>
            <a:endParaRPr lang="en-US" dirty="0">
              <a:ea typeface="ＭＳ Ｐゴシック"/>
            </a:endParaRPr>
          </a:p>
          <a:p>
            <a:pPr lvl="1"/>
            <a:endParaRPr lang="en-US" dirty="0"/>
          </a:p>
        </p:txBody>
      </p:sp>
    </p:spTree>
    <p:extLst>
      <p:ext uri="{BB962C8B-B14F-4D97-AF65-F5344CB8AC3E}">
        <p14:creationId xmlns:p14="http://schemas.microsoft.com/office/powerpoint/2010/main" val="3135609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Transportation Problems</a:t>
            </a:r>
          </a:p>
        </p:txBody>
      </p:sp>
      <p:sp>
        <p:nvSpPr>
          <p:cNvPr id="3" name="Content Placeholder 2"/>
          <p:cNvSpPr>
            <a:spLocks noGrp="1"/>
          </p:cNvSpPr>
          <p:nvPr>
            <p:ph idx="1"/>
          </p:nvPr>
        </p:nvSpPr>
        <p:spPr/>
        <p:txBody>
          <a:bodyPr/>
          <a:lstStyle/>
          <a:p>
            <a:r>
              <a:rPr lang="en-US" b="1" u="sng" dirty="0"/>
              <a:t>Case: Big M Company Transportation Problem (Chapter 3.5)</a:t>
            </a:r>
            <a:endParaRPr lang="en-US" dirty="0"/>
          </a:p>
          <a:p>
            <a:pPr lvl="1"/>
            <a:r>
              <a:rPr lang="en-US" u="sng" dirty="0"/>
              <a:t>Case Description: </a:t>
            </a:r>
            <a:r>
              <a:rPr lang="en-US" dirty="0"/>
              <a:t>The Big M Company produces a variety of heavy duty machinery at two factories. </a:t>
            </a:r>
          </a:p>
          <a:p>
            <a:pPr lvl="2"/>
            <a:r>
              <a:rPr lang="en-US" dirty="0"/>
              <a:t>One of its products is a large turret lathe.</a:t>
            </a:r>
          </a:p>
          <a:p>
            <a:pPr lvl="2"/>
            <a:r>
              <a:rPr lang="en-US" dirty="0"/>
              <a:t>Orders have been received from three customers for the turret lathe.</a:t>
            </a:r>
          </a:p>
          <a:p>
            <a:pPr lvl="1"/>
            <a:r>
              <a:rPr lang="en-US" dirty="0"/>
              <a:t>Question: How many lathes should be shipped from each factory to each customer?</a:t>
            </a:r>
          </a:p>
          <a:p>
            <a:r>
              <a:rPr lang="en-US" b="1" dirty="0">
                <a:solidFill>
                  <a:srgbClr val="C00000"/>
                </a:solidFill>
              </a:rPr>
              <a:t>STEP 0: </a:t>
            </a:r>
            <a:r>
              <a:rPr lang="en-US" dirty="0"/>
              <a:t>Know the problem and gather your data</a:t>
            </a:r>
          </a:p>
          <a:p>
            <a:pPr lvl="1"/>
            <a:endParaRPr lang="en-US" dirty="0"/>
          </a:p>
          <a:p>
            <a:pPr lvl="2">
              <a:tabLst>
                <a:tab pos="1712913" algn="l"/>
              </a:tabLst>
            </a:pPr>
            <a:endParaRPr lang="en-US" dirty="0"/>
          </a:p>
        </p:txBody>
      </p:sp>
      <p:pic>
        <p:nvPicPr>
          <p:cNvPr id="7" name="Picture 6"/>
          <p:cNvPicPr>
            <a:picLocks noChangeAspect="1"/>
          </p:cNvPicPr>
          <p:nvPr/>
        </p:nvPicPr>
        <p:blipFill>
          <a:blip r:embed="rId2"/>
          <a:stretch>
            <a:fillRect/>
          </a:stretch>
        </p:blipFill>
        <p:spPr>
          <a:xfrm>
            <a:off x="8377689" y="3881801"/>
            <a:ext cx="2693964" cy="2657111"/>
          </a:xfrm>
          <a:prstGeom prst="rect">
            <a:avLst/>
          </a:prstGeom>
        </p:spPr>
      </p:pic>
      <p:pic>
        <p:nvPicPr>
          <p:cNvPr id="8" name="Picture 7"/>
          <p:cNvPicPr>
            <a:picLocks noChangeAspect="1"/>
          </p:cNvPicPr>
          <p:nvPr/>
        </p:nvPicPr>
        <p:blipFill>
          <a:blip r:embed="rId3"/>
          <a:stretch>
            <a:fillRect/>
          </a:stretch>
        </p:blipFill>
        <p:spPr>
          <a:xfrm>
            <a:off x="247135" y="4503543"/>
            <a:ext cx="7784757" cy="1413626"/>
          </a:xfrm>
          <a:prstGeom prst="rect">
            <a:avLst/>
          </a:prstGeom>
        </p:spPr>
      </p:pic>
    </p:spTree>
    <p:extLst>
      <p:ext uri="{BB962C8B-B14F-4D97-AF65-F5344CB8AC3E}">
        <p14:creationId xmlns:p14="http://schemas.microsoft.com/office/powerpoint/2010/main" val="1883801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Transportation Problems</a:t>
            </a:r>
          </a:p>
        </p:txBody>
      </p:sp>
      <p:sp>
        <p:nvSpPr>
          <p:cNvPr id="3" name="Content Placeholder 2"/>
          <p:cNvSpPr>
            <a:spLocks noGrp="1"/>
          </p:cNvSpPr>
          <p:nvPr>
            <p:ph idx="1"/>
          </p:nvPr>
        </p:nvSpPr>
        <p:spPr/>
        <p:txBody>
          <a:bodyPr>
            <a:normAutofit lnSpcReduction="10000"/>
          </a:bodyPr>
          <a:lstStyle/>
          <a:p>
            <a:r>
              <a:rPr lang="en-US" b="1" u="sng" dirty="0"/>
              <a:t>Case: Big M Company Transportation Problem (Chapter 3.5)</a:t>
            </a:r>
            <a:endParaRPr lang="en-US" dirty="0"/>
          </a:p>
          <a:p>
            <a:r>
              <a:rPr lang="en-US" b="1" dirty="0">
                <a:solidFill>
                  <a:srgbClr val="C00000"/>
                </a:solidFill>
              </a:rPr>
              <a:t>STEP 1: </a:t>
            </a:r>
            <a:r>
              <a:rPr lang="en-US" dirty="0"/>
              <a:t>Decision variables</a:t>
            </a:r>
          </a:p>
          <a:p>
            <a:pPr lvl="1"/>
            <a:r>
              <a:rPr lang="en-US" dirty="0"/>
              <a:t>We want to determine the shipment quantity </a:t>
            </a:r>
          </a:p>
          <a:p>
            <a:pPr marL="457200" lvl="1" indent="0">
              <a:buNone/>
            </a:pPr>
            <a:r>
              <a:rPr lang="en-US" dirty="0"/>
              <a:t>   from each factory to each customer</a:t>
            </a:r>
          </a:p>
          <a:p>
            <a:pPr marL="457200" lvl="1" indent="0">
              <a:buNone/>
            </a:pPr>
            <a:r>
              <a:rPr lang="en-US" i="1" dirty="0"/>
              <a:t>	</a:t>
            </a:r>
            <a:r>
              <a:rPr lang="en-US" i="1" dirty="0" err="1"/>
              <a:t>S</a:t>
            </a:r>
            <a:r>
              <a:rPr lang="en-US" baseline="-25000" dirty="0" err="1"/>
              <a:t>ij</a:t>
            </a:r>
            <a:r>
              <a:rPr lang="en-US" dirty="0"/>
              <a:t> = Number of lathes to ship from factor </a:t>
            </a:r>
            <a:r>
              <a:rPr lang="en-US" i="1" dirty="0" err="1"/>
              <a:t>i</a:t>
            </a:r>
            <a:r>
              <a:rPr lang="en-US" i="1" dirty="0"/>
              <a:t> </a:t>
            </a:r>
            <a:r>
              <a:rPr lang="en-US" dirty="0"/>
              <a:t>to customer </a:t>
            </a:r>
            <a:r>
              <a:rPr lang="en-US" i="1" dirty="0"/>
              <a:t>j (</a:t>
            </a:r>
            <a:r>
              <a:rPr lang="en-US" i="1" dirty="0" err="1"/>
              <a:t>i</a:t>
            </a:r>
            <a:r>
              <a:rPr lang="en-US" i="1" dirty="0"/>
              <a:t>= F1,F2, j=C1, C2, C3)</a:t>
            </a:r>
            <a:endParaRPr lang="en-US" dirty="0"/>
          </a:p>
          <a:p>
            <a:r>
              <a:rPr lang="en-US" b="1" dirty="0">
                <a:solidFill>
                  <a:srgbClr val="C00000"/>
                </a:solidFill>
              </a:rPr>
              <a:t>STEP 2: </a:t>
            </a:r>
            <a:r>
              <a:rPr lang="en-US" dirty="0"/>
              <a:t>Objective and objective function</a:t>
            </a:r>
          </a:p>
          <a:p>
            <a:pPr lvl="1"/>
            <a:r>
              <a:rPr lang="en-US" dirty="0"/>
              <a:t>We want to minimize the total cost</a:t>
            </a:r>
          </a:p>
          <a:p>
            <a:pPr marL="457200" lvl="1" indent="0">
              <a:buNone/>
            </a:pPr>
            <a:r>
              <a:rPr lang="en-US" dirty="0"/>
              <a:t>	Cost = $700</a:t>
            </a:r>
            <a:r>
              <a:rPr lang="en-US" i="1" dirty="0"/>
              <a:t>S</a:t>
            </a:r>
            <a:r>
              <a:rPr lang="en-US" baseline="-25000" dirty="0"/>
              <a:t>F1-C1</a:t>
            </a:r>
            <a:r>
              <a:rPr lang="en-US" dirty="0"/>
              <a:t> + $900</a:t>
            </a:r>
            <a:r>
              <a:rPr lang="en-US" i="1" dirty="0"/>
              <a:t>S</a:t>
            </a:r>
            <a:r>
              <a:rPr lang="en-US" baseline="-25000" dirty="0"/>
              <a:t>F1-C2</a:t>
            </a:r>
            <a:r>
              <a:rPr lang="en-US" dirty="0"/>
              <a:t> + $800</a:t>
            </a:r>
            <a:r>
              <a:rPr lang="en-US" i="1" dirty="0"/>
              <a:t>S</a:t>
            </a:r>
            <a:r>
              <a:rPr lang="en-US" baseline="-25000" dirty="0"/>
              <a:t>F1-C3</a:t>
            </a:r>
            <a:r>
              <a:rPr lang="en-US" dirty="0"/>
              <a:t> + $800</a:t>
            </a:r>
            <a:r>
              <a:rPr lang="en-US" i="1" dirty="0"/>
              <a:t>S</a:t>
            </a:r>
            <a:r>
              <a:rPr lang="en-US" baseline="-25000" dirty="0"/>
              <a:t>F2-C1</a:t>
            </a:r>
            <a:r>
              <a:rPr lang="en-US" dirty="0"/>
              <a:t> + $900</a:t>
            </a:r>
            <a:r>
              <a:rPr lang="en-US" i="1" dirty="0"/>
              <a:t>S</a:t>
            </a:r>
            <a:r>
              <a:rPr lang="en-US" baseline="-25000" dirty="0"/>
              <a:t>F2-C2</a:t>
            </a:r>
            <a:r>
              <a:rPr lang="en-US" dirty="0"/>
              <a:t> + $700</a:t>
            </a:r>
            <a:r>
              <a:rPr lang="en-US" i="1" dirty="0"/>
              <a:t>S</a:t>
            </a:r>
            <a:r>
              <a:rPr lang="en-US" baseline="-25000" dirty="0"/>
              <a:t>F2-C3</a:t>
            </a:r>
            <a:endParaRPr lang="en-US" dirty="0"/>
          </a:p>
          <a:p>
            <a:r>
              <a:rPr lang="en-US" b="1" dirty="0">
                <a:solidFill>
                  <a:srgbClr val="C00000"/>
                </a:solidFill>
              </a:rPr>
              <a:t>STEP 3: </a:t>
            </a:r>
            <a:r>
              <a:rPr lang="en-US" dirty="0"/>
              <a:t>Constraints</a:t>
            </a:r>
          </a:p>
          <a:p>
            <a:pPr lvl="1"/>
            <a:r>
              <a:rPr lang="en-US" dirty="0"/>
              <a:t>Note that the total output is equal to the customer demand</a:t>
            </a:r>
          </a:p>
          <a:p>
            <a:pPr lvl="2"/>
            <a:r>
              <a:rPr lang="en-US" dirty="0"/>
              <a:t>So, we will ship out all the output from each factory (2 constraints)</a:t>
            </a:r>
          </a:p>
          <a:p>
            <a:pPr lvl="2"/>
            <a:r>
              <a:rPr lang="en-US" dirty="0"/>
              <a:t>And, we will ship exactly the demand to each customer (3 constraints)</a:t>
            </a:r>
          </a:p>
          <a:p>
            <a:pPr lvl="2"/>
            <a:endParaRPr lang="en-US" dirty="0"/>
          </a:p>
          <a:p>
            <a:pPr lvl="1"/>
            <a:endParaRPr lang="en-US" dirty="0"/>
          </a:p>
          <a:p>
            <a:pPr lvl="2">
              <a:tabLst>
                <a:tab pos="1712913" algn="l"/>
              </a:tabLst>
            </a:pPr>
            <a:endParaRPr lang="en-US" dirty="0"/>
          </a:p>
        </p:txBody>
      </p:sp>
      <p:sp>
        <p:nvSpPr>
          <p:cNvPr id="5" name="Rectangle 4"/>
          <p:cNvSpPr/>
          <p:nvPr/>
        </p:nvSpPr>
        <p:spPr>
          <a:xfrm>
            <a:off x="6600566" y="2236859"/>
            <a:ext cx="4483443" cy="646331"/>
          </a:xfrm>
          <a:prstGeom prst="rect">
            <a:avLst/>
          </a:prstGeom>
        </p:spPr>
        <p:txBody>
          <a:bodyPr wrap="square">
            <a:spAutoFit/>
          </a:bodyPr>
          <a:lstStyle/>
          <a:p>
            <a:pPr lvl="2"/>
            <a:r>
              <a:rPr lang="en-US" b="1" dirty="0">
                <a:solidFill>
                  <a:srgbClr val="C00000"/>
                </a:solidFill>
              </a:rPr>
              <a:t>Hint: </a:t>
            </a:r>
            <a:r>
              <a:rPr lang="en-US" dirty="0">
                <a:solidFill>
                  <a:srgbClr val="C00000"/>
                </a:solidFill>
              </a:rPr>
              <a:t>There are double ‘each’, so we might want to use double index</a:t>
            </a:r>
          </a:p>
        </p:txBody>
      </p:sp>
    </p:spTree>
    <p:extLst>
      <p:ext uri="{BB962C8B-B14F-4D97-AF65-F5344CB8AC3E}">
        <p14:creationId xmlns:p14="http://schemas.microsoft.com/office/powerpoint/2010/main" val="82730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Transportation Problems</a:t>
            </a:r>
          </a:p>
        </p:txBody>
      </p:sp>
      <p:sp>
        <p:nvSpPr>
          <p:cNvPr id="3" name="Content Placeholder 2"/>
          <p:cNvSpPr>
            <a:spLocks noGrp="1"/>
          </p:cNvSpPr>
          <p:nvPr>
            <p:ph idx="1"/>
          </p:nvPr>
        </p:nvSpPr>
        <p:spPr/>
        <p:txBody>
          <a:bodyPr/>
          <a:lstStyle/>
          <a:p>
            <a:r>
              <a:rPr lang="en-US" b="1" u="sng" dirty="0"/>
              <a:t>Case: Big M Company Transportation Problem (Chapter 3.5)</a:t>
            </a:r>
            <a:endParaRPr lang="en-US" dirty="0"/>
          </a:p>
          <a:p>
            <a:r>
              <a:rPr lang="en-US" dirty="0"/>
              <a:t>Combining everything (and not forgetting non-negativity constraints), we have the algebraic model as follows:</a:t>
            </a:r>
            <a:br>
              <a:rPr lang="en-US" dirty="0"/>
            </a:br>
            <a:endParaRPr lang="en-US" dirty="0"/>
          </a:p>
          <a:p>
            <a:pPr lvl="2"/>
            <a:endParaRPr lang="en-US" dirty="0"/>
          </a:p>
          <a:p>
            <a:pPr lvl="1"/>
            <a:endParaRPr lang="en-US" dirty="0"/>
          </a:p>
          <a:p>
            <a:pPr lvl="2">
              <a:tabLst>
                <a:tab pos="1712913" algn="l"/>
              </a:tabLst>
            </a:pPr>
            <a:endParaRPr lang="en-US" dirty="0"/>
          </a:p>
        </p:txBody>
      </p:sp>
      <p:sp>
        <p:nvSpPr>
          <p:cNvPr id="5" name="Rectangle 4"/>
          <p:cNvSpPr/>
          <p:nvPr/>
        </p:nvSpPr>
        <p:spPr>
          <a:xfrm>
            <a:off x="7603523" y="3572816"/>
            <a:ext cx="3764693" cy="1200329"/>
          </a:xfrm>
          <a:prstGeom prst="rect">
            <a:avLst/>
          </a:prstGeom>
        </p:spPr>
        <p:txBody>
          <a:bodyPr wrap="square">
            <a:spAutoFit/>
          </a:bodyPr>
          <a:lstStyle/>
          <a:p>
            <a:pPr lvl="2"/>
            <a:r>
              <a:rPr lang="en-US" b="1" dirty="0">
                <a:solidFill>
                  <a:srgbClr val="C00000"/>
                </a:solidFill>
              </a:rPr>
              <a:t>Note: </a:t>
            </a:r>
            <a:r>
              <a:rPr lang="en-US" dirty="0">
                <a:solidFill>
                  <a:srgbClr val="C00000"/>
                </a:solidFill>
              </a:rPr>
              <a:t>If the total output was greater than the total demand, factory constraints would be ‘&lt;=‘ instead of ‘=‘.</a:t>
            </a:r>
          </a:p>
        </p:txBody>
      </p:sp>
      <p:sp>
        <p:nvSpPr>
          <p:cNvPr id="6" name="Rectangle 5"/>
          <p:cNvSpPr/>
          <p:nvPr/>
        </p:nvSpPr>
        <p:spPr>
          <a:xfrm>
            <a:off x="947352" y="2880320"/>
            <a:ext cx="6944197" cy="2585323"/>
          </a:xfrm>
          <a:prstGeom prst="rect">
            <a:avLst/>
          </a:prstGeom>
          <a:ln w="28575">
            <a:solidFill>
              <a:srgbClr val="C00000"/>
            </a:solidFill>
          </a:ln>
        </p:spPr>
        <p:txBody>
          <a:bodyPr wrap="square">
            <a:spAutoFit/>
          </a:bodyPr>
          <a:lstStyle/>
          <a:p>
            <a:r>
              <a:rPr lang="en-US" dirty="0"/>
              <a:t>Minimize 		$700</a:t>
            </a:r>
            <a:r>
              <a:rPr lang="en-US" i="1" dirty="0"/>
              <a:t>S</a:t>
            </a:r>
            <a:r>
              <a:rPr lang="en-US" baseline="-25000" dirty="0"/>
              <a:t>F1-C1</a:t>
            </a:r>
            <a:r>
              <a:rPr lang="en-US" dirty="0"/>
              <a:t> + $900</a:t>
            </a:r>
            <a:r>
              <a:rPr lang="en-US" i="1" dirty="0"/>
              <a:t>S</a:t>
            </a:r>
            <a:r>
              <a:rPr lang="en-US" baseline="-25000" dirty="0"/>
              <a:t>F1-C2</a:t>
            </a:r>
            <a:r>
              <a:rPr lang="en-US" dirty="0"/>
              <a:t> + $800</a:t>
            </a:r>
            <a:r>
              <a:rPr lang="en-US" i="1" dirty="0"/>
              <a:t>S</a:t>
            </a:r>
            <a:r>
              <a:rPr lang="en-US" baseline="-25000" dirty="0"/>
              <a:t>F1-C3</a:t>
            </a:r>
            <a:r>
              <a:rPr lang="en-US" dirty="0"/>
              <a:t> </a:t>
            </a:r>
          </a:p>
          <a:p>
            <a:r>
              <a:rPr lang="en-US" dirty="0"/>
              <a:t>	                 + $800</a:t>
            </a:r>
            <a:r>
              <a:rPr lang="en-US" i="1" dirty="0"/>
              <a:t>S</a:t>
            </a:r>
            <a:r>
              <a:rPr lang="en-US" baseline="-25000" dirty="0"/>
              <a:t>F2-C1</a:t>
            </a:r>
            <a:r>
              <a:rPr lang="en-US" dirty="0"/>
              <a:t> + $900</a:t>
            </a:r>
            <a:r>
              <a:rPr lang="en-US" i="1" dirty="0"/>
              <a:t>S</a:t>
            </a:r>
            <a:r>
              <a:rPr lang="en-US" baseline="-25000" dirty="0"/>
              <a:t>F2-C2</a:t>
            </a:r>
            <a:r>
              <a:rPr lang="en-US" dirty="0"/>
              <a:t> + $700</a:t>
            </a:r>
            <a:r>
              <a:rPr lang="en-US" i="1" dirty="0"/>
              <a:t>S</a:t>
            </a:r>
            <a:r>
              <a:rPr lang="en-US" baseline="-25000" dirty="0"/>
              <a:t>F2-C3</a:t>
            </a:r>
            <a:br>
              <a:rPr lang="en-US" dirty="0"/>
            </a:br>
            <a:r>
              <a:rPr lang="en-US" dirty="0"/>
              <a:t>subject to</a:t>
            </a:r>
            <a:br>
              <a:rPr lang="en-US" dirty="0"/>
            </a:br>
            <a:r>
              <a:rPr lang="en-US" dirty="0"/>
              <a:t>		</a:t>
            </a:r>
            <a:r>
              <a:rPr lang="en-US" i="1" dirty="0"/>
              <a:t>S</a:t>
            </a:r>
            <a:r>
              <a:rPr lang="en-US" baseline="-25000" dirty="0"/>
              <a:t>F1-C1</a:t>
            </a:r>
            <a:r>
              <a:rPr lang="en-US" dirty="0"/>
              <a:t> + </a:t>
            </a:r>
            <a:r>
              <a:rPr lang="en-US" i="1" dirty="0"/>
              <a:t>S</a:t>
            </a:r>
            <a:r>
              <a:rPr lang="en-US" baseline="-25000" dirty="0"/>
              <a:t>F1-C2</a:t>
            </a:r>
            <a:r>
              <a:rPr lang="en-US" dirty="0"/>
              <a:t> + </a:t>
            </a:r>
            <a:r>
              <a:rPr lang="en-US" i="1" dirty="0"/>
              <a:t>S</a:t>
            </a:r>
            <a:r>
              <a:rPr lang="en-US" baseline="-25000" dirty="0"/>
              <a:t>F1-C3</a:t>
            </a:r>
            <a:r>
              <a:rPr lang="en-US" dirty="0"/>
              <a:t> = 12	(factory 1 output)</a:t>
            </a:r>
            <a:br>
              <a:rPr lang="en-US" dirty="0"/>
            </a:br>
            <a:r>
              <a:rPr lang="en-US" dirty="0"/>
              <a:t>		</a:t>
            </a:r>
            <a:r>
              <a:rPr lang="en-US" i="1" dirty="0"/>
              <a:t>S</a:t>
            </a:r>
            <a:r>
              <a:rPr lang="en-US" baseline="-25000" dirty="0"/>
              <a:t>F2-C1</a:t>
            </a:r>
            <a:r>
              <a:rPr lang="en-US" dirty="0"/>
              <a:t> + </a:t>
            </a:r>
            <a:r>
              <a:rPr lang="en-US" i="1" dirty="0"/>
              <a:t>S</a:t>
            </a:r>
            <a:r>
              <a:rPr lang="en-US" baseline="-25000" dirty="0"/>
              <a:t>F2-C2</a:t>
            </a:r>
            <a:r>
              <a:rPr lang="en-US" dirty="0"/>
              <a:t> + </a:t>
            </a:r>
            <a:r>
              <a:rPr lang="en-US" i="1" dirty="0"/>
              <a:t>S</a:t>
            </a:r>
            <a:r>
              <a:rPr lang="en-US" baseline="-25000" dirty="0"/>
              <a:t>F2-C3</a:t>
            </a:r>
            <a:r>
              <a:rPr lang="en-US" dirty="0"/>
              <a:t> = 15	(factory 2 output)</a:t>
            </a:r>
            <a:br>
              <a:rPr lang="en-US" dirty="0"/>
            </a:br>
            <a:r>
              <a:rPr lang="en-US" dirty="0"/>
              <a:t>		</a:t>
            </a:r>
            <a:r>
              <a:rPr lang="en-US" i="1" dirty="0"/>
              <a:t>S</a:t>
            </a:r>
            <a:r>
              <a:rPr lang="en-US" baseline="-25000" dirty="0"/>
              <a:t>F1-C1</a:t>
            </a:r>
            <a:r>
              <a:rPr lang="en-US" dirty="0"/>
              <a:t> + </a:t>
            </a:r>
            <a:r>
              <a:rPr lang="en-US" i="1" dirty="0"/>
              <a:t>S</a:t>
            </a:r>
            <a:r>
              <a:rPr lang="en-US" baseline="-25000" dirty="0"/>
              <a:t>F2-C1</a:t>
            </a:r>
            <a:r>
              <a:rPr lang="en-US" dirty="0"/>
              <a:t> = 10		(customer 1 demand)</a:t>
            </a:r>
            <a:br>
              <a:rPr lang="en-US" dirty="0"/>
            </a:br>
            <a:r>
              <a:rPr lang="en-US" dirty="0"/>
              <a:t>		</a:t>
            </a:r>
            <a:r>
              <a:rPr lang="en-US" i="1" dirty="0"/>
              <a:t>S</a:t>
            </a:r>
            <a:r>
              <a:rPr lang="en-US" baseline="-25000" dirty="0"/>
              <a:t>F1-C2</a:t>
            </a:r>
            <a:r>
              <a:rPr lang="en-US" dirty="0"/>
              <a:t> + </a:t>
            </a:r>
            <a:r>
              <a:rPr lang="en-US" i="1" dirty="0"/>
              <a:t>S</a:t>
            </a:r>
            <a:r>
              <a:rPr lang="en-US" baseline="-25000" dirty="0"/>
              <a:t>F2-C2</a:t>
            </a:r>
            <a:r>
              <a:rPr lang="en-US" dirty="0"/>
              <a:t> = 8		(customer 2 demand)</a:t>
            </a:r>
            <a:br>
              <a:rPr lang="en-US" dirty="0"/>
            </a:br>
            <a:r>
              <a:rPr lang="en-US" dirty="0"/>
              <a:t>		</a:t>
            </a:r>
            <a:r>
              <a:rPr lang="en-US" i="1" dirty="0"/>
              <a:t>S</a:t>
            </a:r>
            <a:r>
              <a:rPr lang="en-US" baseline="-25000" dirty="0"/>
              <a:t>F1-C3</a:t>
            </a:r>
            <a:r>
              <a:rPr lang="en-US" dirty="0"/>
              <a:t> + </a:t>
            </a:r>
            <a:r>
              <a:rPr lang="en-US" i="1" dirty="0"/>
              <a:t>S</a:t>
            </a:r>
            <a:r>
              <a:rPr lang="en-US" baseline="-25000" dirty="0"/>
              <a:t>F2-C3</a:t>
            </a:r>
            <a:r>
              <a:rPr lang="en-US" dirty="0"/>
              <a:t> = 9		(customer 3 demand)</a:t>
            </a:r>
          </a:p>
          <a:p>
            <a:r>
              <a:rPr lang="en-US" dirty="0"/>
              <a:t>		</a:t>
            </a:r>
            <a:r>
              <a:rPr lang="en-US" i="1" dirty="0"/>
              <a:t> </a:t>
            </a:r>
            <a:r>
              <a:rPr lang="en-US" i="1" dirty="0" err="1"/>
              <a:t>S</a:t>
            </a:r>
            <a:r>
              <a:rPr lang="en-US" baseline="-25000" dirty="0" err="1"/>
              <a:t>ij</a:t>
            </a:r>
            <a:r>
              <a:rPr lang="en-US" dirty="0"/>
              <a:t> &gt;= 0			(non-negativity)</a:t>
            </a:r>
          </a:p>
        </p:txBody>
      </p:sp>
    </p:spTree>
    <p:extLst>
      <p:ext uri="{BB962C8B-B14F-4D97-AF65-F5344CB8AC3E}">
        <p14:creationId xmlns:p14="http://schemas.microsoft.com/office/powerpoint/2010/main" val="2561599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Transportation Problems</a:t>
            </a:r>
          </a:p>
        </p:txBody>
      </p:sp>
      <p:sp>
        <p:nvSpPr>
          <p:cNvPr id="3" name="Content Placeholder 2"/>
          <p:cNvSpPr>
            <a:spLocks noGrp="1"/>
          </p:cNvSpPr>
          <p:nvPr>
            <p:ph idx="1"/>
          </p:nvPr>
        </p:nvSpPr>
        <p:spPr/>
        <p:txBody>
          <a:bodyPr/>
          <a:lstStyle/>
          <a:p>
            <a:r>
              <a:rPr lang="en-US" b="1" u="sng" dirty="0"/>
              <a:t>Case: Big M Company Transportation Problem (Chapter 3.5)</a:t>
            </a:r>
            <a:endParaRPr lang="en-US" dirty="0"/>
          </a:p>
          <a:p>
            <a:r>
              <a:rPr lang="en-US" dirty="0"/>
              <a:t>Spreadsheet model and solution with Excel Solver</a:t>
            </a:r>
            <a:br>
              <a:rPr lang="en-US" dirty="0"/>
            </a:b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1">
              <a:tabLst>
                <a:tab pos="1712913" algn="l"/>
              </a:tabLst>
            </a:pPr>
            <a:endParaRPr lang="en-US" dirty="0"/>
          </a:p>
          <a:p>
            <a:pPr lvl="2">
              <a:tabLst>
                <a:tab pos="1712913" algn="l"/>
              </a:tabLst>
            </a:pPr>
            <a:endParaRPr lang="en-US" dirty="0"/>
          </a:p>
        </p:txBody>
      </p:sp>
      <p:sp>
        <p:nvSpPr>
          <p:cNvPr id="14" name="TextBox 13"/>
          <p:cNvSpPr txBox="1"/>
          <p:nvPr/>
        </p:nvSpPr>
        <p:spPr>
          <a:xfrm>
            <a:off x="8760811" y="2867534"/>
            <a:ext cx="1914026" cy="1754326"/>
          </a:xfrm>
          <a:prstGeom prst="rect">
            <a:avLst/>
          </a:prstGeom>
          <a:noFill/>
        </p:spPr>
        <p:txBody>
          <a:bodyPr wrap="square" rtlCol="0">
            <a:spAutoFit/>
          </a:bodyPr>
          <a:lstStyle/>
          <a:p>
            <a:r>
              <a:rPr lang="en-US" dirty="0">
                <a:solidFill>
                  <a:srgbClr val="C00000"/>
                </a:solidFill>
              </a:rPr>
              <a:t>Note that decision variables can be put into an array with multiple rows and multiple columns!</a:t>
            </a:r>
          </a:p>
        </p:txBody>
      </p:sp>
      <p:pic>
        <p:nvPicPr>
          <p:cNvPr id="5" name="Picture 4"/>
          <p:cNvPicPr>
            <a:picLocks noChangeAspect="1"/>
          </p:cNvPicPr>
          <p:nvPr/>
        </p:nvPicPr>
        <p:blipFill>
          <a:blip r:embed="rId2"/>
          <a:stretch>
            <a:fillRect/>
          </a:stretch>
        </p:blipFill>
        <p:spPr>
          <a:xfrm>
            <a:off x="610887" y="2358810"/>
            <a:ext cx="6991350" cy="2771775"/>
          </a:xfrm>
          <a:prstGeom prst="rect">
            <a:avLst/>
          </a:prstGeom>
        </p:spPr>
      </p:pic>
    </p:spTree>
    <p:extLst>
      <p:ext uri="{BB962C8B-B14F-4D97-AF65-F5344CB8AC3E}">
        <p14:creationId xmlns:p14="http://schemas.microsoft.com/office/powerpoint/2010/main" val="23634594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Transportation Problems</a:t>
            </a:r>
          </a:p>
        </p:txBody>
      </p:sp>
      <p:sp>
        <p:nvSpPr>
          <p:cNvPr id="3" name="Content Placeholder 2"/>
          <p:cNvSpPr>
            <a:spLocks noGrp="1"/>
          </p:cNvSpPr>
          <p:nvPr>
            <p:ph idx="1"/>
          </p:nvPr>
        </p:nvSpPr>
        <p:spPr/>
        <p:txBody>
          <a:bodyPr/>
          <a:lstStyle/>
          <a:p>
            <a:pPr>
              <a:tabLst>
                <a:tab pos="1712913" algn="l"/>
              </a:tabLst>
            </a:pPr>
            <a:r>
              <a:rPr lang="en-US" sz="2000" b="1" dirty="0">
                <a:solidFill>
                  <a:srgbClr val="C00000"/>
                </a:solidFill>
              </a:rPr>
              <a:t>Integer Solutions Property: </a:t>
            </a:r>
            <a:r>
              <a:rPr lang="en-US" sz="2000" dirty="0"/>
              <a:t>As long as all its supplies and demands have integer values, any transportation problem with feasible solutions is guaranteed to have an optimal solution with integer values for all its decision variables. Therefore, it is not necessary to add constraints to the model that restrict these variables to only have integer values.</a:t>
            </a:r>
          </a:p>
          <a:p>
            <a:pPr>
              <a:tabLst>
                <a:tab pos="1712913" algn="l"/>
              </a:tabLst>
            </a:pPr>
            <a:r>
              <a:rPr lang="en-US" sz="2000" dirty="0"/>
              <a:t>Some variants of the transportation problems:</a:t>
            </a:r>
          </a:p>
          <a:p>
            <a:pPr lvl="1">
              <a:tabLst>
                <a:tab pos="1712913" algn="l"/>
              </a:tabLst>
            </a:pPr>
            <a:r>
              <a:rPr lang="en-US" sz="1800" dirty="0"/>
              <a:t>The sum of the supplies exceeds the sum of the demands, so each supply represents a maximum amount (not a fixed amount) to be distributed from that source (</a:t>
            </a:r>
            <a:r>
              <a:rPr lang="en-US" sz="1600" dirty="0"/>
              <a:t>We discussed how to use “&lt;=“ instead of “=“ in supply constraints)</a:t>
            </a:r>
          </a:p>
          <a:p>
            <a:pPr lvl="1">
              <a:tabLst>
                <a:tab pos="1712913" algn="l"/>
              </a:tabLst>
            </a:pPr>
            <a:r>
              <a:rPr lang="en-US" sz="1800" dirty="0"/>
              <a:t>The sum of the supplies is less than the sum of the demands, so each demand represents a maximum amount (not a fixed amount) to be received at that destination (</a:t>
            </a:r>
            <a:r>
              <a:rPr lang="en-US" sz="1600" dirty="0"/>
              <a:t>One can try to minimize to total amount of shortages)</a:t>
            </a:r>
          </a:p>
          <a:p>
            <a:pPr lvl="1">
              <a:tabLst>
                <a:tab pos="1712913" algn="l"/>
              </a:tabLst>
            </a:pPr>
            <a:r>
              <a:rPr lang="en-US" sz="1800" dirty="0"/>
              <a:t>Certain source–destination combinations cannot be used for distributing units (</a:t>
            </a:r>
            <a:r>
              <a:rPr lang="en-US" sz="1600" dirty="0"/>
              <a:t>Simply we can force the shipment quantity between those to be 0)</a:t>
            </a:r>
          </a:p>
          <a:p>
            <a:pPr lvl="1">
              <a:tabLst>
                <a:tab pos="1712913" algn="l"/>
              </a:tabLst>
            </a:pPr>
            <a:r>
              <a:rPr lang="en-US" sz="1800" dirty="0"/>
              <a:t>The objective is to maximize the total profit associated with distributing units rather than to minimize the total cost (</a:t>
            </a:r>
            <a:r>
              <a:rPr lang="en-US" sz="1600" dirty="0"/>
              <a:t>Simply change the objective!)</a:t>
            </a:r>
          </a:p>
          <a:p>
            <a:pPr lvl="1">
              <a:tabLst>
                <a:tab pos="1712913" algn="l"/>
              </a:tabLst>
            </a:pPr>
            <a:r>
              <a:rPr lang="en-US" sz="1800" dirty="0"/>
              <a:t>A destination has both a minimum demand and a maximum demand, so any amount between these two values can be received.</a:t>
            </a:r>
          </a:p>
          <a:p>
            <a:pPr lvl="2">
              <a:tabLst>
                <a:tab pos="1712913" algn="l"/>
              </a:tabLst>
            </a:pPr>
            <a:r>
              <a:rPr lang="en-US" sz="1400" dirty="0"/>
              <a:t>Let’s solve an example</a:t>
            </a:r>
          </a:p>
          <a:p>
            <a:pPr lvl="1">
              <a:tabLst>
                <a:tab pos="1712913" algn="l"/>
              </a:tabLst>
            </a:pPr>
            <a:endParaRPr lang="en-US" sz="2000" dirty="0"/>
          </a:p>
          <a:p>
            <a:pPr lvl="1">
              <a:tabLst>
                <a:tab pos="1712913" algn="l"/>
              </a:tabLst>
            </a:pPr>
            <a:endParaRPr lang="en-US" sz="2000" dirty="0"/>
          </a:p>
          <a:p>
            <a:pPr lvl="1">
              <a:tabLst>
                <a:tab pos="1712913" algn="l"/>
              </a:tabLst>
            </a:pPr>
            <a:endParaRPr lang="en-US" sz="2000" dirty="0"/>
          </a:p>
          <a:p>
            <a:pPr lvl="1">
              <a:tabLst>
                <a:tab pos="1712913" algn="l"/>
              </a:tabLst>
            </a:pPr>
            <a:endParaRPr lang="en-US" sz="2000" dirty="0"/>
          </a:p>
          <a:p>
            <a:pPr lvl="2">
              <a:tabLst>
                <a:tab pos="1712913" algn="l"/>
              </a:tabLst>
            </a:pPr>
            <a:endParaRPr lang="en-US" dirty="0"/>
          </a:p>
        </p:txBody>
      </p:sp>
    </p:spTree>
    <p:extLst>
      <p:ext uri="{BB962C8B-B14F-4D97-AF65-F5344CB8AC3E}">
        <p14:creationId xmlns:p14="http://schemas.microsoft.com/office/powerpoint/2010/main" val="2682653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Transportation Problems</a:t>
            </a:r>
          </a:p>
        </p:txBody>
      </p:sp>
      <p:sp>
        <p:nvSpPr>
          <p:cNvPr id="3" name="Content Placeholder 2"/>
          <p:cNvSpPr>
            <a:spLocks noGrp="1"/>
          </p:cNvSpPr>
          <p:nvPr>
            <p:ph idx="1"/>
          </p:nvPr>
        </p:nvSpPr>
        <p:spPr/>
        <p:txBody>
          <a:bodyPr/>
          <a:lstStyle/>
          <a:p>
            <a:r>
              <a:rPr lang="en-US" b="1" u="sng" dirty="0"/>
              <a:t>Case: Middletown School District Problem (Chapter 15.4)</a:t>
            </a:r>
            <a:endParaRPr lang="en-US" dirty="0"/>
          </a:p>
          <a:p>
            <a:pPr lvl="1"/>
            <a:r>
              <a:rPr lang="en-US" u="sng" dirty="0"/>
              <a:t>Case Description: </a:t>
            </a:r>
            <a:r>
              <a:rPr lang="en-US" dirty="0"/>
              <a:t>Middletown School District is opening a third high school and thus needs to redraw the boundaries for the area of the city that will be assigned to the respective schools.</a:t>
            </a:r>
          </a:p>
          <a:p>
            <a:pPr lvl="1"/>
            <a:r>
              <a:rPr lang="en-US" dirty="0"/>
              <a:t>The city has been divided into 9 tracts with approximately equal populations.</a:t>
            </a:r>
          </a:p>
          <a:p>
            <a:pPr lvl="1"/>
            <a:r>
              <a:rPr lang="en-US" dirty="0"/>
              <a:t>Each school has a minimum and maximum number of students that should be assigned.</a:t>
            </a:r>
          </a:p>
          <a:p>
            <a:pPr lvl="1"/>
            <a:r>
              <a:rPr lang="en-US" dirty="0"/>
              <a:t>The school district management has decided that the appropriate objective is to minimize the average distance that students must travel to school.</a:t>
            </a:r>
          </a:p>
          <a:p>
            <a:pPr lvl="1"/>
            <a:endParaRPr lang="en-US" dirty="0"/>
          </a:p>
          <a:p>
            <a:pPr lvl="1"/>
            <a:r>
              <a:rPr lang="en-US" dirty="0"/>
              <a:t>Question: How many students from each tract should be assigned to each school?</a:t>
            </a:r>
          </a:p>
          <a:p>
            <a:pPr marL="457200" lvl="1" indent="0">
              <a:buNone/>
            </a:pPr>
            <a:endParaRPr lang="en-US" dirty="0"/>
          </a:p>
          <a:p>
            <a:pPr lvl="2">
              <a:tabLst>
                <a:tab pos="1712913" algn="l"/>
              </a:tabLst>
            </a:pPr>
            <a:endParaRPr lang="en-US" dirty="0"/>
          </a:p>
        </p:txBody>
      </p:sp>
    </p:spTree>
    <p:extLst>
      <p:ext uri="{BB962C8B-B14F-4D97-AF65-F5344CB8AC3E}">
        <p14:creationId xmlns:p14="http://schemas.microsoft.com/office/powerpoint/2010/main" val="323894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Transportation Problems</a:t>
            </a:r>
          </a:p>
        </p:txBody>
      </p:sp>
      <p:sp>
        <p:nvSpPr>
          <p:cNvPr id="3" name="Content Placeholder 2"/>
          <p:cNvSpPr>
            <a:spLocks noGrp="1"/>
          </p:cNvSpPr>
          <p:nvPr>
            <p:ph idx="1"/>
          </p:nvPr>
        </p:nvSpPr>
        <p:spPr/>
        <p:txBody>
          <a:bodyPr/>
          <a:lstStyle/>
          <a:p>
            <a:r>
              <a:rPr lang="en-US" b="1" u="sng" dirty="0"/>
              <a:t>Case: Middletown School District Problem (Chapter 15.4)</a:t>
            </a:r>
            <a:endParaRPr lang="en-US" dirty="0"/>
          </a:p>
          <a:p>
            <a:r>
              <a:rPr lang="en-US" b="1" dirty="0">
                <a:solidFill>
                  <a:srgbClr val="C00000"/>
                </a:solidFill>
              </a:rPr>
              <a:t>STEP 0: </a:t>
            </a:r>
            <a:r>
              <a:rPr lang="en-US" dirty="0"/>
              <a:t>Know the problem and gather your data</a:t>
            </a:r>
          </a:p>
          <a:p>
            <a:pPr lvl="2"/>
            <a:endParaRPr lang="en-US" dirty="0"/>
          </a:p>
          <a:p>
            <a:pPr lvl="1"/>
            <a:endParaRPr lang="en-US" dirty="0"/>
          </a:p>
          <a:p>
            <a:pPr lvl="2">
              <a:tabLst>
                <a:tab pos="1712913" algn="l"/>
              </a:tabLst>
            </a:pPr>
            <a:endParaRPr lang="en-US" dirty="0"/>
          </a:p>
        </p:txBody>
      </p:sp>
      <p:graphicFrame>
        <p:nvGraphicFramePr>
          <p:cNvPr id="6" name="Group 251">
            <a:extLst>
              <a:ext uri="{FF2B5EF4-FFF2-40B4-BE49-F238E27FC236}">
                <a16:creationId xmlns:a16="http://schemas.microsoft.com/office/drawing/2014/main" id="{E2B222F5-E596-4C43-B003-5B48E79D45A4}"/>
              </a:ext>
            </a:extLst>
          </p:cNvPr>
          <p:cNvGraphicFramePr>
            <a:graphicFrameLocks noGrp="1"/>
          </p:cNvGraphicFramePr>
          <p:nvPr/>
        </p:nvGraphicFramePr>
        <p:xfrm>
          <a:off x="2467495" y="2317193"/>
          <a:ext cx="6299663" cy="4175682"/>
        </p:xfrm>
        <a:graphic>
          <a:graphicData uri="http://schemas.openxmlformats.org/drawingml/2006/table">
            <a:tbl>
              <a:tblPr/>
              <a:tblGrid>
                <a:gridCol w="1959895">
                  <a:extLst>
                    <a:ext uri="{9D8B030D-6E8A-4147-A177-3AD203B41FA5}">
                      <a16:colId xmlns:a16="http://schemas.microsoft.com/office/drawing/2014/main" val="20000"/>
                    </a:ext>
                  </a:extLst>
                </a:gridCol>
                <a:gridCol w="839955">
                  <a:extLst>
                    <a:ext uri="{9D8B030D-6E8A-4147-A177-3AD203B41FA5}">
                      <a16:colId xmlns:a16="http://schemas.microsoft.com/office/drawing/2014/main" val="20001"/>
                    </a:ext>
                  </a:extLst>
                </a:gridCol>
                <a:gridCol w="769959">
                  <a:extLst>
                    <a:ext uri="{9D8B030D-6E8A-4147-A177-3AD203B41FA5}">
                      <a16:colId xmlns:a16="http://schemas.microsoft.com/office/drawing/2014/main" val="20002"/>
                    </a:ext>
                  </a:extLst>
                </a:gridCol>
                <a:gridCol w="769959">
                  <a:extLst>
                    <a:ext uri="{9D8B030D-6E8A-4147-A177-3AD203B41FA5}">
                      <a16:colId xmlns:a16="http://schemas.microsoft.com/office/drawing/2014/main" val="20003"/>
                    </a:ext>
                  </a:extLst>
                </a:gridCol>
                <a:gridCol w="1959895">
                  <a:extLst>
                    <a:ext uri="{9D8B030D-6E8A-4147-A177-3AD203B41FA5}">
                      <a16:colId xmlns:a16="http://schemas.microsoft.com/office/drawing/2014/main" val="20004"/>
                    </a:ext>
                  </a:extLst>
                </a:gridCol>
              </a:tblGrid>
              <a:tr h="280947">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marT="45717" marB="45717" anchor="b" horzOverflow="overflow">
                    <a:lnL cap="flat">
                      <a:noFill/>
                    </a:lnL>
                    <a:lnR>
                      <a:noFill/>
                    </a:lnR>
                    <a:lnT cap="flat">
                      <a:noFill/>
                    </a:lnT>
                    <a:lnB>
                      <a:noFill/>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Distance (Miles) to School</a:t>
                      </a:r>
                    </a:p>
                  </a:txBody>
                  <a:tcPr marT="45717" marB="45717" anchor="b"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marT="45717" marB="45717" anchor="b"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85276">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Tract</a:t>
                      </a:r>
                      <a:endParaRPr kumimoji="0" lang="en-US" sz="1400" b="0" i="0" u="none" strike="noStrike" cap="none" normalizeH="0" baseline="0">
                        <a:ln>
                          <a:noFill/>
                        </a:ln>
                        <a:solidFill>
                          <a:schemeClr val="tx1"/>
                        </a:solidFill>
                        <a:effectLst/>
                        <a:latin typeface="Times New Roman" pitchFamily="1" charset="0"/>
                      </a:endParaRPr>
                    </a:p>
                  </a:txBody>
                  <a:tcPr marT="45717" marB="45717" anchor="b"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1</a:t>
                      </a:r>
                    </a:p>
                  </a:txBody>
                  <a:tcPr marT="45717" marB="45717"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2</a:t>
                      </a:r>
                    </a:p>
                  </a:txBody>
                  <a:tcPr marT="45717" marB="45717"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3</a:t>
                      </a:r>
                    </a:p>
                  </a:txBody>
                  <a:tcPr marT="45717" marB="45717"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Number of High School Students</a:t>
                      </a:r>
                    </a:p>
                  </a:txBody>
                  <a:tcPr marT="45717" marB="45717"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280947">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a:t>
                      </a:r>
                    </a:p>
                  </a:txBody>
                  <a:tcPr marT="45717" marB="45717"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2.2</a:t>
                      </a:r>
                    </a:p>
                  </a:txBody>
                  <a:tcPr marT="45717" marB="45717"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1.9</a:t>
                      </a:r>
                    </a:p>
                  </a:txBody>
                  <a:tcPr marT="45717" marB="45717"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2.5</a:t>
                      </a:r>
                    </a:p>
                  </a:txBody>
                  <a:tcPr marT="45717" marB="45717"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500</a:t>
                      </a:r>
                    </a:p>
                  </a:txBody>
                  <a:tcPr marT="45717" marB="45717"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280947">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a:t>
                      </a:r>
                    </a:p>
                  </a:txBody>
                  <a:tcPr marT="45717" marB="45717"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1.4</a:t>
                      </a:r>
                    </a:p>
                  </a:txBody>
                  <a:tcPr marT="45717" marB="45717"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1.3</a:t>
                      </a:r>
                    </a:p>
                  </a:txBody>
                  <a:tcPr marT="45717" marB="45717"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1.7</a:t>
                      </a:r>
                    </a:p>
                  </a:txBody>
                  <a:tcPr marT="45717" marB="45717"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400</a:t>
                      </a:r>
                    </a:p>
                  </a:txBody>
                  <a:tcPr marT="45717" marB="45717"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280947">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3</a:t>
                      </a:r>
                    </a:p>
                  </a:txBody>
                  <a:tcPr marT="45717" marB="45717"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0.5</a:t>
                      </a:r>
                    </a:p>
                  </a:txBody>
                  <a:tcPr marT="45717" marB="45717"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1.8</a:t>
                      </a:r>
                    </a:p>
                  </a:txBody>
                  <a:tcPr marT="45717" marB="45717"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1.1</a:t>
                      </a:r>
                    </a:p>
                  </a:txBody>
                  <a:tcPr marT="45717" marB="45717"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450</a:t>
                      </a:r>
                    </a:p>
                  </a:txBody>
                  <a:tcPr marT="45717" marB="45717"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280947">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a:t>
                      </a:r>
                    </a:p>
                  </a:txBody>
                  <a:tcPr marT="45717" marB="45717"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1.2</a:t>
                      </a:r>
                    </a:p>
                  </a:txBody>
                  <a:tcPr marT="45717" marB="45717"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0.3</a:t>
                      </a:r>
                    </a:p>
                  </a:txBody>
                  <a:tcPr marT="45717" marB="45717"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2.0</a:t>
                      </a:r>
                    </a:p>
                  </a:txBody>
                  <a:tcPr marT="45717" marB="45717"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400</a:t>
                      </a:r>
                    </a:p>
                  </a:txBody>
                  <a:tcPr marT="45717" marB="45717"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280947">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5</a:t>
                      </a:r>
                    </a:p>
                  </a:txBody>
                  <a:tcPr marT="45717" marB="45717"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0.9</a:t>
                      </a:r>
                    </a:p>
                  </a:txBody>
                  <a:tcPr marT="45717" marB="45717"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0.7</a:t>
                      </a:r>
                    </a:p>
                  </a:txBody>
                  <a:tcPr marT="45717" marB="45717"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1.0</a:t>
                      </a:r>
                    </a:p>
                  </a:txBody>
                  <a:tcPr marT="45717" marB="45717"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500</a:t>
                      </a:r>
                    </a:p>
                  </a:txBody>
                  <a:tcPr marT="45717" marB="45717"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280947">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6</a:t>
                      </a:r>
                    </a:p>
                  </a:txBody>
                  <a:tcPr marT="45717" marB="45717"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1.1</a:t>
                      </a:r>
                    </a:p>
                  </a:txBody>
                  <a:tcPr marT="45717" marB="45717"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1.6</a:t>
                      </a:r>
                    </a:p>
                  </a:txBody>
                  <a:tcPr marT="45717" marB="45717"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0.6</a:t>
                      </a:r>
                    </a:p>
                  </a:txBody>
                  <a:tcPr marT="45717" marB="45717"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450</a:t>
                      </a:r>
                    </a:p>
                  </a:txBody>
                  <a:tcPr marT="45717" marB="45717"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7"/>
                  </a:ext>
                </a:extLst>
              </a:tr>
              <a:tr h="280947">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7</a:t>
                      </a:r>
                    </a:p>
                  </a:txBody>
                  <a:tcPr marT="45717" marB="45717"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2.7</a:t>
                      </a:r>
                    </a:p>
                  </a:txBody>
                  <a:tcPr marT="45717" marB="45717"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0.7</a:t>
                      </a:r>
                    </a:p>
                  </a:txBody>
                  <a:tcPr marT="45717" marB="45717"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1.5</a:t>
                      </a:r>
                    </a:p>
                  </a:txBody>
                  <a:tcPr marT="45717" marB="45717"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450</a:t>
                      </a:r>
                    </a:p>
                  </a:txBody>
                  <a:tcPr marT="45717" marB="45717"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8"/>
                  </a:ext>
                </a:extLst>
              </a:tr>
              <a:tr h="280947">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8</a:t>
                      </a:r>
                    </a:p>
                  </a:txBody>
                  <a:tcPr marT="45717" marB="45717"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1.8</a:t>
                      </a:r>
                    </a:p>
                  </a:txBody>
                  <a:tcPr marT="45717" marB="45717"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1.2</a:t>
                      </a:r>
                    </a:p>
                  </a:txBody>
                  <a:tcPr marT="45717" marB="45717"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0.8</a:t>
                      </a:r>
                    </a:p>
                  </a:txBody>
                  <a:tcPr marT="45717" marB="45717"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400</a:t>
                      </a:r>
                    </a:p>
                  </a:txBody>
                  <a:tcPr marT="45717" marB="45717"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9"/>
                  </a:ext>
                </a:extLst>
              </a:tr>
              <a:tr h="280947">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9</a:t>
                      </a:r>
                    </a:p>
                  </a:txBody>
                  <a:tcPr marT="45717" marB="45717" anchor="ctr" horzOverflow="overflow">
                    <a:lnL cap="flat">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1.5</a:t>
                      </a:r>
                    </a:p>
                  </a:txBody>
                  <a:tcPr marT="45717" marB="45717"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1.7</a:t>
                      </a:r>
                    </a:p>
                  </a:txBody>
                  <a:tcPr marT="45717" marB="45717"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0.7</a:t>
                      </a:r>
                    </a:p>
                  </a:txBody>
                  <a:tcPr marT="45717" marB="45717"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500</a:t>
                      </a:r>
                    </a:p>
                  </a:txBody>
                  <a:tcPr marT="45717" marB="45717" anchor="ctr" horzOverflow="overflow">
                    <a:lnL>
                      <a:noFill/>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80947">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Minimum enrollment</a:t>
                      </a:r>
                    </a:p>
                  </a:txBody>
                  <a:tcPr marT="45717" marB="45717" anchor="ctr" horzOverflow="overflow">
                    <a:lnL cap="flat">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1,200</a:t>
                      </a:r>
                    </a:p>
                  </a:txBody>
                  <a:tcPr marT="45717" marB="45717"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1,100</a:t>
                      </a:r>
                    </a:p>
                  </a:txBody>
                  <a:tcPr marT="45717" marB="45717"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1,000</a:t>
                      </a:r>
                    </a:p>
                  </a:txBody>
                  <a:tcPr marT="45717" marB="45717"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marT="45717" marB="45717" anchor="ctr"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11"/>
                  </a:ext>
                </a:extLst>
              </a:tr>
              <a:tr h="280947">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Maximum enrollment</a:t>
                      </a:r>
                    </a:p>
                  </a:txBody>
                  <a:tcPr marT="45717" marB="45717" anchor="ct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1,800</a:t>
                      </a:r>
                    </a:p>
                  </a:txBody>
                  <a:tcPr marT="45717" marB="45717"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1,700</a:t>
                      </a:r>
                    </a:p>
                  </a:txBody>
                  <a:tcPr marT="45717" marB="45717"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1,500</a:t>
                      </a:r>
                    </a:p>
                  </a:txBody>
                  <a:tcPr marT="45717" marB="45717"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dirty="0">
                        <a:ln>
                          <a:noFill/>
                        </a:ln>
                        <a:solidFill>
                          <a:schemeClr val="tx1"/>
                        </a:solidFill>
                        <a:effectLst/>
                        <a:latin typeface="Times New Roman" pitchFamily="1" charset="0"/>
                      </a:endParaRPr>
                    </a:p>
                  </a:txBody>
                  <a:tcPr marT="45717" marB="45717" anchor="ct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237062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Transportation Problems</a:t>
            </a:r>
          </a:p>
        </p:txBody>
      </p:sp>
      <p:sp>
        <p:nvSpPr>
          <p:cNvPr id="3" name="Content Placeholder 2"/>
          <p:cNvSpPr>
            <a:spLocks noGrp="1"/>
          </p:cNvSpPr>
          <p:nvPr>
            <p:ph idx="1"/>
          </p:nvPr>
        </p:nvSpPr>
        <p:spPr/>
        <p:txBody>
          <a:bodyPr>
            <a:normAutofit lnSpcReduction="10000"/>
          </a:bodyPr>
          <a:lstStyle/>
          <a:p>
            <a:r>
              <a:rPr lang="en-US" b="1" u="sng" dirty="0"/>
              <a:t>Case: Middletown School District Problem (Chapter 15.4)</a:t>
            </a:r>
            <a:endParaRPr lang="en-US" dirty="0"/>
          </a:p>
          <a:p>
            <a:r>
              <a:rPr lang="en-US" sz="2400" b="1" dirty="0">
                <a:solidFill>
                  <a:srgbClr val="C00000"/>
                </a:solidFill>
              </a:rPr>
              <a:t>STEP 1: </a:t>
            </a:r>
            <a:r>
              <a:rPr lang="en-US" sz="2400" dirty="0"/>
              <a:t>Decision variables</a:t>
            </a:r>
          </a:p>
          <a:p>
            <a:pPr lvl="1"/>
            <a:r>
              <a:rPr lang="en-US" sz="2000" dirty="0"/>
              <a:t>We want to determine the number of students from each tract assigned to each school</a:t>
            </a:r>
          </a:p>
          <a:p>
            <a:pPr marL="457200" lvl="1" indent="0">
              <a:buNone/>
            </a:pPr>
            <a:r>
              <a:rPr lang="en-US" sz="2000" i="1" dirty="0"/>
              <a:t>	</a:t>
            </a:r>
            <a:r>
              <a:rPr lang="en-US" sz="2000" i="1" dirty="0" err="1"/>
              <a:t>S</a:t>
            </a:r>
            <a:r>
              <a:rPr lang="en-US" sz="2000" baseline="-25000" dirty="0" err="1"/>
              <a:t>ij</a:t>
            </a:r>
            <a:r>
              <a:rPr lang="en-US" sz="2000" dirty="0"/>
              <a:t> = Number of students from tract </a:t>
            </a:r>
            <a:r>
              <a:rPr lang="en-US" sz="2000" i="1" dirty="0"/>
              <a:t>i assigned to school</a:t>
            </a:r>
            <a:r>
              <a:rPr lang="en-US" sz="2000" dirty="0"/>
              <a:t> </a:t>
            </a:r>
            <a:r>
              <a:rPr lang="en-US" sz="2000" i="1" dirty="0"/>
              <a:t>j (i= 1,2…,9, j=1,2,3)</a:t>
            </a:r>
            <a:endParaRPr lang="en-US" sz="2000" dirty="0"/>
          </a:p>
          <a:p>
            <a:r>
              <a:rPr lang="en-US" sz="2400" b="1" dirty="0">
                <a:solidFill>
                  <a:srgbClr val="C00000"/>
                </a:solidFill>
              </a:rPr>
              <a:t>STEP 2: </a:t>
            </a:r>
            <a:r>
              <a:rPr lang="en-US" sz="2400" dirty="0"/>
              <a:t>Objective and objective function</a:t>
            </a:r>
          </a:p>
          <a:p>
            <a:pPr lvl="1"/>
            <a:r>
              <a:rPr lang="en-US" sz="2000" dirty="0"/>
              <a:t>We want to minimize the total distance travelled </a:t>
            </a:r>
          </a:p>
          <a:p>
            <a:pPr marL="457200" lvl="1" indent="0">
              <a:buNone/>
            </a:pPr>
            <a:r>
              <a:rPr lang="en-US" sz="2000" dirty="0"/>
              <a:t>	Total Distance = 2.2</a:t>
            </a:r>
            <a:r>
              <a:rPr lang="en-US" sz="2000" i="1" dirty="0"/>
              <a:t>S</a:t>
            </a:r>
            <a:r>
              <a:rPr lang="en-US" sz="2000" i="1" baseline="-25000" dirty="0"/>
              <a:t>11</a:t>
            </a:r>
            <a:r>
              <a:rPr lang="en-US" sz="2000" dirty="0"/>
              <a:t> + … + 0.7</a:t>
            </a:r>
            <a:r>
              <a:rPr lang="en-US" sz="2000" i="1" dirty="0"/>
              <a:t>S</a:t>
            </a:r>
            <a:r>
              <a:rPr lang="en-US" sz="2000" i="1" baseline="-25000" dirty="0"/>
              <a:t>9</a:t>
            </a:r>
            <a:r>
              <a:rPr lang="en-US" sz="2000" baseline="-25000" dirty="0"/>
              <a:t>3</a:t>
            </a:r>
            <a:endParaRPr lang="en-US" sz="2000" dirty="0"/>
          </a:p>
          <a:p>
            <a:r>
              <a:rPr lang="en-US" sz="2400" b="1" dirty="0">
                <a:solidFill>
                  <a:srgbClr val="C00000"/>
                </a:solidFill>
              </a:rPr>
              <a:t>STEP 3: </a:t>
            </a:r>
            <a:r>
              <a:rPr lang="en-US" sz="2400" dirty="0"/>
              <a:t>Constraints</a:t>
            </a:r>
          </a:p>
          <a:p>
            <a:pPr lvl="1"/>
            <a:r>
              <a:rPr lang="en-US" sz="2000" dirty="0"/>
              <a:t>Note that the total output is equal to the customer demand</a:t>
            </a:r>
          </a:p>
          <a:p>
            <a:pPr lvl="2"/>
            <a:r>
              <a:rPr lang="en-US" sz="1800" dirty="0"/>
              <a:t>The students in each tract should be assigned to a school </a:t>
            </a:r>
            <a:r>
              <a:rPr lang="en-US" sz="1800" dirty="0">
                <a:sym typeface="Wingdings" panose="05000000000000000000" pitchFamily="2" charset="2"/>
              </a:rPr>
              <a:t> 9 equality constraints</a:t>
            </a:r>
            <a:endParaRPr lang="en-US" sz="1800" dirty="0"/>
          </a:p>
          <a:p>
            <a:pPr lvl="2"/>
            <a:r>
              <a:rPr lang="en-US" sz="1800" dirty="0"/>
              <a:t>The number of students assigned to a school should be between the minimum and maximum students that can be assigned to that particular school </a:t>
            </a:r>
            <a:r>
              <a:rPr lang="en-US" sz="1800" dirty="0">
                <a:sym typeface="Wingdings" panose="05000000000000000000" pitchFamily="2" charset="2"/>
              </a:rPr>
              <a:t> 9 &lt;= and 9 &gt;= constraints</a:t>
            </a:r>
          </a:p>
          <a:p>
            <a:pPr lvl="2"/>
            <a:endParaRPr lang="en-US" sz="1800" dirty="0">
              <a:sym typeface="Wingdings" panose="05000000000000000000" pitchFamily="2" charset="2"/>
            </a:endParaRPr>
          </a:p>
          <a:p>
            <a:r>
              <a:rPr lang="en-US" sz="2600" dirty="0">
                <a:sym typeface="Wingdings" panose="05000000000000000000" pitchFamily="2" charset="2"/>
              </a:rPr>
              <a:t>Practice formulating the algebraic model!</a:t>
            </a:r>
            <a:endParaRPr lang="en-US" sz="2600" dirty="0"/>
          </a:p>
        </p:txBody>
      </p:sp>
    </p:spTree>
    <p:extLst>
      <p:ext uri="{BB962C8B-B14F-4D97-AF65-F5344CB8AC3E}">
        <p14:creationId xmlns:p14="http://schemas.microsoft.com/office/powerpoint/2010/main" val="1094253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Transportation Problems</a:t>
            </a:r>
          </a:p>
        </p:txBody>
      </p:sp>
      <p:sp>
        <p:nvSpPr>
          <p:cNvPr id="3" name="Content Placeholder 2"/>
          <p:cNvSpPr>
            <a:spLocks noGrp="1"/>
          </p:cNvSpPr>
          <p:nvPr>
            <p:ph idx="1"/>
          </p:nvPr>
        </p:nvSpPr>
        <p:spPr/>
        <p:txBody>
          <a:bodyPr/>
          <a:lstStyle/>
          <a:p>
            <a:r>
              <a:rPr lang="en-US" b="1" u="sng" dirty="0"/>
              <a:t>Case: Middletown School District Problem (Chapter 15.4)</a:t>
            </a:r>
            <a:endParaRPr lang="en-US" dirty="0"/>
          </a:p>
          <a:p>
            <a:r>
              <a:rPr lang="en-US" sz="2400" dirty="0"/>
              <a:t>Spreadsheet model and solution with Excel Solver</a:t>
            </a:r>
            <a:endParaRPr lang="en-US" sz="2600" dirty="0"/>
          </a:p>
        </p:txBody>
      </p:sp>
      <p:graphicFrame>
        <p:nvGraphicFramePr>
          <p:cNvPr id="4" name="Object 3">
            <a:extLst>
              <a:ext uri="{FF2B5EF4-FFF2-40B4-BE49-F238E27FC236}">
                <a16:creationId xmlns:a16="http://schemas.microsoft.com/office/drawing/2014/main" id="{6DD40638-127C-4968-A615-7CF934F71379}"/>
              </a:ext>
            </a:extLst>
          </p:cNvPr>
          <p:cNvGraphicFramePr>
            <a:graphicFrameLocks noChangeAspect="1"/>
          </p:cNvGraphicFramePr>
          <p:nvPr/>
        </p:nvGraphicFramePr>
        <p:xfrm>
          <a:off x="2051842" y="2388524"/>
          <a:ext cx="4971272" cy="4056610"/>
        </p:xfrm>
        <a:graphic>
          <a:graphicData uri="http://schemas.openxmlformats.org/presentationml/2006/ole">
            <mc:AlternateContent xmlns:mc="http://schemas.openxmlformats.org/markup-compatibility/2006">
              <mc:Choice xmlns:v="urn:schemas-microsoft-com:vml" Requires="v">
                <p:oleObj name="Worksheet" r:id="rId2" imgW="6047232" imgH="4934712" progId="Excel.Sheet.8">
                  <p:embed/>
                </p:oleObj>
              </mc:Choice>
              <mc:Fallback>
                <p:oleObj name="Worksheet" r:id="rId2" imgW="6047232" imgH="4934712" progId="Excel.Sheet.8">
                  <p:embed/>
                  <p:pic>
                    <p:nvPicPr>
                      <p:cNvPr id="4" name="Object 3">
                        <a:extLst>
                          <a:ext uri="{FF2B5EF4-FFF2-40B4-BE49-F238E27FC236}">
                            <a16:creationId xmlns:a16="http://schemas.microsoft.com/office/drawing/2014/main" id="{6DD40638-127C-4968-A615-7CF934F713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842" y="2388524"/>
                        <a:ext cx="4971272" cy="405661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43862250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 Problems</a:t>
            </a:r>
          </a:p>
        </p:txBody>
      </p:sp>
      <p:sp>
        <p:nvSpPr>
          <p:cNvPr id="3" name="Content Placeholder 2"/>
          <p:cNvSpPr>
            <a:spLocks noGrp="1"/>
          </p:cNvSpPr>
          <p:nvPr>
            <p:ph idx="1"/>
          </p:nvPr>
        </p:nvSpPr>
        <p:spPr/>
        <p:txBody>
          <a:bodyPr/>
          <a:lstStyle/>
          <a:p>
            <a:r>
              <a:rPr lang="en-US" dirty="0"/>
              <a:t>Typically, in an assignment problem:</a:t>
            </a:r>
            <a:endParaRPr lang="en-US" sz="2400" dirty="0"/>
          </a:p>
          <a:p>
            <a:pPr lvl="1"/>
            <a:r>
              <a:rPr lang="en-US" dirty="0"/>
              <a:t>Given a set of tasks to be performed and a set of assignees who are available to perform these tasks, the problem is to determine which assignee should be assigned to each task.</a:t>
            </a:r>
          </a:p>
          <a:p>
            <a:pPr lvl="1"/>
            <a:r>
              <a:rPr lang="en-US" dirty="0"/>
              <a:t>To fit the model for an assignment problem, the following assumptions typically need to be satisfied:</a:t>
            </a:r>
          </a:p>
          <a:p>
            <a:pPr lvl="2"/>
            <a:r>
              <a:rPr lang="en-US" dirty="0"/>
              <a:t>The number of assignees and the number of tasks are the same.</a:t>
            </a:r>
          </a:p>
          <a:p>
            <a:pPr lvl="2"/>
            <a:r>
              <a:rPr lang="en-US" dirty="0"/>
              <a:t>Each assignee is to be assigned to exactly one task.</a:t>
            </a:r>
          </a:p>
          <a:p>
            <a:pPr lvl="2"/>
            <a:r>
              <a:rPr lang="en-US" dirty="0"/>
              <a:t>Each task is to be performed by exactly one assignee.</a:t>
            </a:r>
          </a:p>
          <a:p>
            <a:pPr lvl="2"/>
            <a:r>
              <a:rPr lang="en-US" dirty="0"/>
              <a:t>There is a cost associated with each combination of an assignee performing a task.</a:t>
            </a:r>
          </a:p>
          <a:p>
            <a:pPr lvl="2"/>
            <a:r>
              <a:rPr lang="en-US" dirty="0"/>
              <a:t>The objective is to determine how all the assignments should be made to minimize the total cost.</a:t>
            </a:r>
          </a:p>
          <a:p>
            <a:endParaRPr lang="en-US" sz="2600" dirty="0"/>
          </a:p>
        </p:txBody>
      </p:sp>
    </p:spTree>
    <p:extLst>
      <p:ext uri="{BB962C8B-B14F-4D97-AF65-F5344CB8AC3E}">
        <p14:creationId xmlns:p14="http://schemas.microsoft.com/office/powerpoint/2010/main" val="4153516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 Problems</a:t>
            </a:r>
          </a:p>
        </p:txBody>
      </p:sp>
      <p:sp>
        <p:nvSpPr>
          <p:cNvPr id="3" name="Content Placeholder 2"/>
          <p:cNvSpPr>
            <a:spLocks noGrp="1"/>
          </p:cNvSpPr>
          <p:nvPr>
            <p:ph idx="1"/>
          </p:nvPr>
        </p:nvSpPr>
        <p:spPr/>
        <p:txBody>
          <a:bodyPr/>
          <a:lstStyle/>
          <a:p>
            <a:r>
              <a:rPr lang="en-US" b="1" u="sng" dirty="0"/>
              <a:t>Case: </a:t>
            </a:r>
            <a:r>
              <a:rPr lang="en-US" b="1" u="sng" dirty="0" err="1"/>
              <a:t>Sellmore</a:t>
            </a:r>
            <a:r>
              <a:rPr lang="en-US" b="1" u="sng" dirty="0"/>
              <a:t> Company Problem (Chapter 3.6)</a:t>
            </a:r>
            <a:endParaRPr lang="en-US" dirty="0"/>
          </a:p>
          <a:p>
            <a:pPr lvl="1"/>
            <a:r>
              <a:rPr lang="en-US" u="sng" dirty="0"/>
              <a:t>Case Description: </a:t>
            </a:r>
            <a:r>
              <a:rPr lang="en-US" dirty="0"/>
              <a:t>The marketing manager of </a:t>
            </a:r>
            <a:r>
              <a:rPr lang="en-US" dirty="0" err="1"/>
              <a:t>Sellmore</a:t>
            </a:r>
            <a:r>
              <a:rPr lang="en-US" dirty="0"/>
              <a:t> Company will be holding the company’s annual sales conference soon.</a:t>
            </a:r>
          </a:p>
          <a:p>
            <a:pPr lvl="1"/>
            <a:r>
              <a:rPr lang="en-US" dirty="0"/>
              <a:t>He is hiring four temporary employees:</a:t>
            </a:r>
          </a:p>
          <a:p>
            <a:pPr lvl="2"/>
            <a:r>
              <a:rPr lang="en-US" dirty="0"/>
              <a:t>Ann; Ian; Joan; Sean</a:t>
            </a:r>
          </a:p>
          <a:p>
            <a:pPr lvl="1"/>
            <a:r>
              <a:rPr lang="en-US" dirty="0"/>
              <a:t>Each will handle one of the following four tasks:</a:t>
            </a:r>
          </a:p>
          <a:p>
            <a:pPr lvl="2"/>
            <a:r>
              <a:rPr lang="en-US" dirty="0"/>
              <a:t>Word processing of written presentations</a:t>
            </a:r>
          </a:p>
          <a:p>
            <a:pPr lvl="2"/>
            <a:r>
              <a:rPr lang="en-US" dirty="0"/>
              <a:t>Computer graphics for both oral and written presentations</a:t>
            </a:r>
          </a:p>
          <a:p>
            <a:pPr lvl="2"/>
            <a:r>
              <a:rPr lang="en-US" dirty="0"/>
              <a:t>Preparation of conference packets, including copying and organizing materials</a:t>
            </a:r>
          </a:p>
          <a:p>
            <a:pPr lvl="2"/>
            <a:r>
              <a:rPr lang="en-US" dirty="0"/>
              <a:t>Handling of advance and on-site registration for the conference</a:t>
            </a:r>
          </a:p>
          <a:p>
            <a:pPr lvl="1"/>
            <a:endParaRPr lang="en-US" dirty="0"/>
          </a:p>
          <a:p>
            <a:pPr lvl="1"/>
            <a:r>
              <a:rPr lang="en-US" dirty="0"/>
              <a:t>Question: Which person should be assigned to which task?</a:t>
            </a:r>
          </a:p>
          <a:p>
            <a:pPr marL="457200" lvl="1" indent="0">
              <a:buNone/>
            </a:pPr>
            <a:endParaRPr lang="en-US" dirty="0"/>
          </a:p>
          <a:p>
            <a:pPr lvl="2">
              <a:tabLst>
                <a:tab pos="1712913" algn="l"/>
              </a:tabLst>
            </a:pPr>
            <a:endParaRPr lang="en-US" dirty="0"/>
          </a:p>
        </p:txBody>
      </p:sp>
    </p:spTree>
    <p:extLst>
      <p:ext uri="{BB962C8B-B14F-4D97-AF65-F5344CB8AC3E}">
        <p14:creationId xmlns:p14="http://schemas.microsoft.com/office/powerpoint/2010/main" val="943081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 Problems</a:t>
            </a:r>
          </a:p>
        </p:txBody>
      </p:sp>
      <p:sp>
        <p:nvSpPr>
          <p:cNvPr id="3" name="Content Placeholder 2"/>
          <p:cNvSpPr>
            <a:spLocks noGrp="1"/>
          </p:cNvSpPr>
          <p:nvPr>
            <p:ph idx="1"/>
          </p:nvPr>
        </p:nvSpPr>
        <p:spPr/>
        <p:txBody>
          <a:bodyPr/>
          <a:lstStyle/>
          <a:p>
            <a:r>
              <a:rPr lang="en-US" b="1" u="sng" dirty="0"/>
              <a:t>Case: </a:t>
            </a:r>
            <a:r>
              <a:rPr lang="en-US" b="1" u="sng" dirty="0" err="1"/>
              <a:t>Sellmore</a:t>
            </a:r>
            <a:r>
              <a:rPr lang="en-US" b="1" u="sng" dirty="0"/>
              <a:t> Company Problem (Chapter 3.6)</a:t>
            </a:r>
            <a:endParaRPr lang="en-US" dirty="0"/>
          </a:p>
          <a:p>
            <a:r>
              <a:rPr lang="en-US" b="1" dirty="0">
                <a:solidFill>
                  <a:srgbClr val="C00000"/>
                </a:solidFill>
              </a:rPr>
              <a:t>STEP 0: </a:t>
            </a:r>
            <a:r>
              <a:rPr lang="en-US" dirty="0"/>
              <a:t>Know the problem and gather your data</a:t>
            </a:r>
          </a:p>
          <a:p>
            <a:pPr lvl="2"/>
            <a:endParaRPr lang="en-US" dirty="0"/>
          </a:p>
          <a:p>
            <a:pPr lvl="1"/>
            <a:endParaRPr lang="en-US" dirty="0"/>
          </a:p>
          <a:p>
            <a:pPr lvl="2">
              <a:tabLst>
                <a:tab pos="1712913" algn="l"/>
              </a:tabLst>
            </a:pPr>
            <a:endParaRPr lang="en-US" dirty="0"/>
          </a:p>
        </p:txBody>
      </p:sp>
      <p:graphicFrame>
        <p:nvGraphicFramePr>
          <p:cNvPr id="5" name="Group 3">
            <a:extLst>
              <a:ext uri="{FF2B5EF4-FFF2-40B4-BE49-F238E27FC236}">
                <a16:creationId xmlns:a16="http://schemas.microsoft.com/office/drawing/2014/main" id="{CD63F68E-BEEA-40E6-A6E7-501041553770}"/>
              </a:ext>
            </a:extLst>
          </p:cNvPr>
          <p:cNvGraphicFramePr>
            <a:graphicFrameLocks/>
          </p:cNvGraphicFramePr>
          <p:nvPr/>
        </p:nvGraphicFramePr>
        <p:xfrm>
          <a:off x="962889" y="2382983"/>
          <a:ext cx="6324602" cy="2087895"/>
        </p:xfrm>
        <a:graphic>
          <a:graphicData uri="http://schemas.openxmlformats.org/drawingml/2006/table">
            <a:tbl>
              <a:tblPr/>
              <a:tblGrid>
                <a:gridCol w="1054101">
                  <a:extLst>
                    <a:ext uri="{9D8B030D-6E8A-4147-A177-3AD203B41FA5}">
                      <a16:colId xmlns:a16="http://schemas.microsoft.com/office/drawing/2014/main" val="20000"/>
                    </a:ext>
                  </a:extLst>
                </a:gridCol>
                <a:gridCol w="1054101">
                  <a:extLst>
                    <a:ext uri="{9D8B030D-6E8A-4147-A177-3AD203B41FA5}">
                      <a16:colId xmlns:a16="http://schemas.microsoft.com/office/drawing/2014/main" val="20001"/>
                    </a:ext>
                  </a:extLst>
                </a:gridCol>
                <a:gridCol w="992094">
                  <a:extLst>
                    <a:ext uri="{9D8B030D-6E8A-4147-A177-3AD203B41FA5}">
                      <a16:colId xmlns:a16="http://schemas.microsoft.com/office/drawing/2014/main" val="20002"/>
                    </a:ext>
                  </a:extLst>
                </a:gridCol>
                <a:gridCol w="992094">
                  <a:extLst>
                    <a:ext uri="{9D8B030D-6E8A-4147-A177-3AD203B41FA5}">
                      <a16:colId xmlns:a16="http://schemas.microsoft.com/office/drawing/2014/main" val="20003"/>
                    </a:ext>
                  </a:extLst>
                </a:gridCol>
                <a:gridCol w="1302124">
                  <a:extLst>
                    <a:ext uri="{9D8B030D-6E8A-4147-A177-3AD203B41FA5}">
                      <a16:colId xmlns:a16="http://schemas.microsoft.com/office/drawing/2014/main" val="20004"/>
                    </a:ext>
                  </a:extLst>
                </a:gridCol>
                <a:gridCol w="930088">
                  <a:extLst>
                    <a:ext uri="{9D8B030D-6E8A-4147-A177-3AD203B41FA5}">
                      <a16:colId xmlns:a16="http://schemas.microsoft.com/office/drawing/2014/main" val="20005"/>
                    </a:ext>
                  </a:extLst>
                </a:gridCol>
              </a:tblGrid>
              <a:tr h="257424">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marT="45725" marB="45725" horzOverflow="overflow">
                    <a:lnL cap="flat">
                      <a:noFill/>
                    </a:lnL>
                    <a:lnR>
                      <a:noFill/>
                    </a:lnR>
                    <a:lnT cap="flat">
                      <a:noFill/>
                    </a:lnT>
                    <a:lnB>
                      <a:noFill/>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Required Time per Task (Hours)</a:t>
                      </a:r>
                    </a:p>
                  </a:txBody>
                  <a:tcPr marT="45725" marB="45725"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marT="45725" marB="45725"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63845">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Temporary</a:t>
                      </a:r>
                      <a:br>
                        <a:rPr kumimoji="0" lang="en-US" sz="1400" b="1" i="0" u="none" strike="noStrike" cap="none" normalizeH="0" baseline="0">
                          <a:ln>
                            <a:noFill/>
                          </a:ln>
                          <a:solidFill>
                            <a:schemeClr val="tx1"/>
                          </a:solidFill>
                          <a:effectLst/>
                          <a:latin typeface="Times New Roman" pitchFamily="1" charset="0"/>
                        </a:rPr>
                      </a:br>
                      <a:r>
                        <a:rPr kumimoji="0" lang="en-US" sz="1400" b="1" i="0" u="none" strike="noStrike" cap="none" normalizeH="0" baseline="0">
                          <a:ln>
                            <a:noFill/>
                          </a:ln>
                          <a:solidFill>
                            <a:schemeClr val="tx1"/>
                          </a:solidFill>
                          <a:effectLst/>
                          <a:latin typeface="Times New Roman" pitchFamily="1" charset="0"/>
                        </a:rPr>
                        <a:t>Employee</a:t>
                      </a:r>
                    </a:p>
                  </a:txBody>
                  <a:tcPr marT="45725" marB="45725" anchor="b"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Word</a:t>
                      </a:r>
                      <a:br>
                        <a:rPr kumimoji="0" lang="en-US" sz="1400" b="1" i="0" u="none" strike="noStrike" cap="none" normalizeH="0" baseline="0">
                          <a:ln>
                            <a:noFill/>
                          </a:ln>
                          <a:solidFill>
                            <a:schemeClr val="tx1"/>
                          </a:solidFill>
                          <a:effectLst/>
                          <a:latin typeface="Times New Roman" pitchFamily="1" charset="0"/>
                        </a:rPr>
                      </a:br>
                      <a:r>
                        <a:rPr kumimoji="0" lang="en-US" sz="1400" b="1" i="0" u="none" strike="noStrike" cap="none" normalizeH="0" baseline="0">
                          <a:ln>
                            <a:noFill/>
                          </a:ln>
                          <a:solidFill>
                            <a:schemeClr val="tx1"/>
                          </a:solidFill>
                          <a:effectLst/>
                          <a:latin typeface="Times New Roman" pitchFamily="1" charset="0"/>
                        </a:rPr>
                        <a:t>Processing</a:t>
                      </a:r>
                    </a:p>
                  </a:txBody>
                  <a:tcPr marT="45725" marB="45725"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Graphics</a:t>
                      </a:r>
                    </a:p>
                  </a:txBody>
                  <a:tcPr marT="45725" marB="45725"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itchFamily="1" charset="0"/>
                        </a:rPr>
                        <a:t>Packets</a:t>
                      </a:r>
                    </a:p>
                  </a:txBody>
                  <a:tcPr marT="45725" marB="45725"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Registrations</a:t>
                      </a:r>
                    </a:p>
                  </a:txBody>
                  <a:tcPr marT="45725" marB="45725"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Hourly</a:t>
                      </a:r>
                      <a:br>
                        <a:rPr kumimoji="0" lang="en-US" sz="1400" b="1" i="0" u="none" strike="noStrike" cap="none" normalizeH="0" baseline="0">
                          <a:ln>
                            <a:noFill/>
                          </a:ln>
                          <a:solidFill>
                            <a:schemeClr val="tx1"/>
                          </a:solidFill>
                          <a:effectLst/>
                          <a:latin typeface="Times New Roman" pitchFamily="1" charset="0"/>
                        </a:rPr>
                      </a:br>
                      <a:r>
                        <a:rPr kumimoji="0" lang="en-US" sz="1400" b="1" i="0" u="none" strike="noStrike" cap="none" normalizeH="0" baseline="0">
                          <a:ln>
                            <a:noFill/>
                          </a:ln>
                          <a:solidFill>
                            <a:schemeClr val="tx1"/>
                          </a:solidFill>
                          <a:effectLst/>
                          <a:latin typeface="Times New Roman" pitchFamily="1" charset="0"/>
                        </a:rPr>
                        <a:t>Wage</a:t>
                      </a:r>
                    </a:p>
                  </a:txBody>
                  <a:tcPr marT="45725" marB="45725"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257424">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Ann</a:t>
                      </a:r>
                    </a:p>
                  </a:txBody>
                  <a:tcPr marT="45725" marB="45725"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35</a:t>
                      </a:r>
                    </a:p>
                  </a:txBody>
                  <a:tcPr marT="45725" marB="45725"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41</a:t>
                      </a:r>
                    </a:p>
                  </a:txBody>
                  <a:tcPr marT="45725" marB="45725"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27</a:t>
                      </a:r>
                    </a:p>
                  </a:txBody>
                  <a:tcPr marT="45725" marB="45725"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40</a:t>
                      </a:r>
                    </a:p>
                  </a:txBody>
                  <a:tcPr marT="45725" marB="45725"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$14</a:t>
                      </a:r>
                    </a:p>
                  </a:txBody>
                  <a:tcPr marT="45725" marB="45725"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257424">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Ian</a:t>
                      </a:r>
                    </a:p>
                  </a:txBody>
                  <a:tcPr marT="45725" marB="45725"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47</a:t>
                      </a:r>
                    </a:p>
                  </a:txBody>
                  <a:tcPr marT="45725" marB="45725"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45</a:t>
                      </a:r>
                    </a:p>
                  </a:txBody>
                  <a:tcPr marT="45725" marB="45725"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pitchFamily="1" charset="0"/>
                        </a:rPr>
                        <a:t>32</a:t>
                      </a:r>
                    </a:p>
                  </a:txBody>
                  <a:tcPr marT="45725" marB="45725"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51</a:t>
                      </a:r>
                    </a:p>
                  </a:txBody>
                  <a:tcPr marT="45725" marB="45725"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12</a:t>
                      </a:r>
                    </a:p>
                  </a:txBody>
                  <a:tcPr marT="45725" marB="45725"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257424">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Joan</a:t>
                      </a:r>
                    </a:p>
                  </a:txBody>
                  <a:tcPr marT="45725" marB="45725"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pitchFamily="1" charset="0"/>
                        </a:rPr>
                        <a:t>39</a:t>
                      </a:r>
                    </a:p>
                  </a:txBody>
                  <a:tcPr marT="45725" marB="45725"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56</a:t>
                      </a:r>
                    </a:p>
                  </a:txBody>
                  <a:tcPr marT="45725" marB="45725"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36</a:t>
                      </a:r>
                    </a:p>
                  </a:txBody>
                  <a:tcPr marT="45725" marB="45725"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43</a:t>
                      </a:r>
                    </a:p>
                  </a:txBody>
                  <a:tcPr marT="45725" marB="45725"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13</a:t>
                      </a:r>
                    </a:p>
                  </a:txBody>
                  <a:tcPr marT="45725" marB="45725"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257424">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Sean</a:t>
                      </a:r>
                    </a:p>
                  </a:txBody>
                  <a:tcPr marT="45725" marB="45725"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32</a:t>
                      </a:r>
                    </a:p>
                  </a:txBody>
                  <a:tcPr marT="45725" marB="45725"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51</a:t>
                      </a:r>
                    </a:p>
                  </a:txBody>
                  <a:tcPr marT="45725" marB="45725"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25</a:t>
                      </a:r>
                    </a:p>
                  </a:txBody>
                  <a:tcPr marT="45725" marB="45725"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46</a:t>
                      </a:r>
                    </a:p>
                  </a:txBody>
                  <a:tcPr marT="45725" marB="45725"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pitchFamily="1" charset="0"/>
                        </a:rPr>
                        <a:t>15</a:t>
                      </a:r>
                    </a:p>
                  </a:txBody>
                  <a:tcPr marT="45725" marB="45725"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5"/>
                  </a:ext>
                </a:extLst>
              </a:tr>
            </a:tbl>
          </a:graphicData>
        </a:graphic>
      </p:graphicFrame>
      <p:pic>
        <p:nvPicPr>
          <p:cNvPr id="4" name="Picture 3">
            <a:extLst>
              <a:ext uri="{FF2B5EF4-FFF2-40B4-BE49-F238E27FC236}">
                <a16:creationId xmlns:a16="http://schemas.microsoft.com/office/drawing/2014/main" id="{122CA0C2-A2CB-439F-9D6B-011CA6E42FF0}"/>
              </a:ext>
            </a:extLst>
          </p:cNvPr>
          <p:cNvPicPr>
            <a:picLocks noChangeAspect="1"/>
          </p:cNvPicPr>
          <p:nvPr/>
        </p:nvPicPr>
        <p:blipFill>
          <a:blip r:embed="rId2"/>
          <a:stretch>
            <a:fillRect/>
          </a:stretch>
        </p:blipFill>
        <p:spPr>
          <a:xfrm>
            <a:off x="7482590" y="2516356"/>
            <a:ext cx="4239743" cy="2981127"/>
          </a:xfrm>
          <a:prstGeom prst="rect">
            <a:avLst/>
          </a:prstGeom>
        </p:spPr>
      </p:pic>
    </p:spTree>
    <p:extLst>
      <p:ext uri="{BB962C8B-B14F-4D97-AF65-F5344CB8AC3E}">
        <p14:creationId xmlns:p14="http://schemas.microsoft.com/office/powerpoint/2010/main" val="2704148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 Problems</a:t>
            </a:r>
          </a:p>
        </p:txBody>
      </p:sp>
      <p:sp>
        <p:nvSpPr>
          <p:cNvPr id="3" name="Content Placeholder 2"/>
          <p:cNvSpPr>
            <a:spLocks noGrp="1"/>
          </p:cNvSpPr>
          <p:nvPr>
            <p:ph idx="1"/>
          </p:nvPr>
        </p:nvSpPr>
        <p:spPr/>
        <p:txBody>
          <a:bodyPr/>
          <a:lstStyle/>
          <a:p>
            <a:r>
              <a:rPr lang="en-US" b="1" u="sng" dirty="0"/>
              <a:t>Case: </a:t>
            </a:r>
            <a:r>
              <a:rPr lang="en-US" b="1" u="sng" dirty="0" err="1"/>
              <a:t>Sellmore</a:t>
            </a:r>
            <a:r>
              <a:rPr lang="en-US" b="1" u="sng" dirty="0"/>
              <a:t> Company Problem (Chapter 3.6)</a:t>
            </a:r>
            <a:endParaRPr lang="en-US" dirty="0"/>
          </a:p>
          <a:p>
            <a:r>
              <a:rPr lang="en-US" sz="2400" dirty="0"/>
              <a:t>Algebraic model:</a:t>
            </a:r>
          </a:p>
          <a:p>
            <a:r>
              <a:rPr lang="en-US" sz="2400" b="1" dirty="0">
                <a:solidFill>
                  <a:srgbClr val="C00000"/>
                </a:solidFill>
              </a:rPr>
              <a:t>STEP 1: </a:t>
            </a:r>
            <a:r>
              <a:rPr lang="en-US" sz="2400" dirty="0"/>
              <a:t>Decision variables</a:t>
            </a:r>
          </a:p>
          <a:p>
            <a:pPr lvl="1"/>
            <a:r>
              <a:rPr lang="en-US" sz="2000" dirty="0"/>
              <a:t>We want to determine the who does what </a:t>
            </a:r>
          </a:p>
          <a:p>
            <a:pPr marL="457200" lvl="1" indent="0">
              <a:buNone/>
            </a:pPr>
            <a:r>
              <a:rPr lang="en-US" sz="2000" i="1" dirty="0"/>
              <a:t>	</a:t>
            </a:r>
            <a:r>
              <a:rPr lang="en-US" sz="2000" i="1" dirty="0" err="1"/>
              <a:t>X</a:t>
            </a:r>
            <a:r>
              <a:rPr lang="en-US" sz="2000" baseline="-25000" dirty="0" err="1"/>
              <a:t>ij</a:t>
            </a:r>
            <a:r>
              <a:rPr lang="en-US" sz="2000" dirty="0"/>
              <a:t> = 1 if person i does job j</a:t>
            </a:r>
          </a:p>
          <a:p>
            <a:r>
              <a:rPr lang="en-US" sz="2400" b="1" dirty="0">
                <a:solidFill>
                  <a:srgbClr val="C00000"/>
                </a:solidFill>
              </a:rPr>
              <a:t>STEP 2: </a:t>
            </a:r>
            <a:r>
              <a:rPr lang="en-US" sz="2400" dirty="0"/>
              <a:t>Objective and objective function</a:t>
            </a:r>
          </a:p>
          <a:p>
            <a:pPr lvl="1"/>
            <a:r>
              <a:rPr lang="en-US" sz="2000" dirty="0"/>
              <a:t>We want to minimize the total cost</a:t>
            </a:r>
          </a:p>
          <a:p>
            <a:r>
              <a:rPr lang="en-US" sz="2400" b="1" dirty="0">
                <a:solidFill>
                  <a:srgbClr val="C00000"/>
                </a:solidFill>
              </a:rPr>
              <a:t>STEP 3: </a:t>
            </a:r>
            <a:r>
              <a:rPr lang="en-US" sz="2400" dirty="0"/>
              <a:t>Constraints</a:t>
            </a:r>
          </a:p>
          <a:p>
            <a:pPr lvl="1"/>
            <a:r>
              <a:rPr lang="en-US" sz="2000" dirty="0"/>
              <a:t>Each person does one task </a:t>
            </a:r>
            <a:r>
              <a:rPr lang="en-US" sz="2000" dirty="0">
                <a:sym typeface="Wingdings" panose="05000000000000000000" pitchFamily="2" charset="2"/>
              </a:rPr>
              <a:t> 4 constraints</a:t>
            </a:r>
            <a:endParaRPr lang="en-US" sz="2000" dirty="0"/>
          </a:p>
          <a:p>
            <a:pPr lvl="1"/>
            <a:r>
              <a:rPr lang="en-US" sz="2000" dirty="0">
                <a:sym typeface="Wingdings" panose="05000000000000000000" pitchFamily="2" charset="2"/>
              </a:rPr>
              <a:t>Each task is done by one person  4 constraints</a:t>
            </a:r>
          </a:p>
          <a:p>
            <a:pPr lvl="1"/>
            <a:endParaRPr lang="en-US" sz="2000" dirty="0">
              <a:sym typeface="Wingdings" panose="05000000000000000000" pitchFamily="2" charset="2"/>
            </a:endParaRPr>
          </a:p>
          <a:p>
            <a:pPr lvl="1"/>
            <a:r>
              <a:rPr lang="en-US" sz="2000" dirty="0">
                <a:sym typeface="Wingdings" panose="05000000000000000000" pitchFamily="2" charset="2"/>
              </a:rPr>
              <a:t>We will learn about binary variables later!</a:t>
            </a:r>
            <a:endParaRPr lang="en-US" sz="1800" dirty="0">
              <a:sym typeface="Wingdings" panose="05000000000000000000" pitchFamily="2" charset="2"/>
            </a:endParaRPr>
          </a:p>
          <a:p>
            <a:endParaRPr lang="en-US" sz="2600" dirty="0"/>
          </a:p>
        </p:txBody>
      </p:sp>
    </p:spTree>
    <p:extLst>
      <p:ext uri="{BB962C8B-B14F-4D97-AF65-F5344CB8AC3E}">
        <p14:creationId xmlns:p14="http://schemas.microsoft.com/office/powerpoint/2010/main" val="574999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 Problems</a:t>
            </a:r>
          </a:p>
        </p:txBody>
      </p:sp>
      <p:sp>
        <p:nvSpPr>
          <p:cNvPr id="3" name="Content Placeholder 2"/>
          <p:cNvSpPr>
            <a:spLocks noGrp="1"/>
          </p:cNvSpPr>
          <p:nvPr>
            <p:ph idx="1"/>
          </p:nvPr>
        </p:nvSpPr>
        <p:spPr/>
        <p:txBody>
          <a:bodyPr/>
          <a:lstStyle/>
          <a:p>
            <a:r>
              <a:rPr lang="en-US" b="1" u="sng" dirty="0"/>
              <a:t>Case: </a:t>
            </a:r>
            <a:r>
              <a:rPr lang="en-US" b="1" u="sng" dirty="0" err="1"/>
              <a:t>Sellmore</a:t>
            </a:r>
            <a:r>
              <a:rPr lang="en-US" b="1" u="sng" dirty="0"/>
              <a:t> Company Problem (Chapter 3.6)</a:t>
            </a:r>
            <a:endParaRPr lang="en-US" dirty="0"/>
          </a:p>
          <a:p>
            <a:r>
              <a:rPr lang="en-US" sz="2400" dirty="0"/>
              <a:t>Algebraic model:</a:t>
            </a:r>
          </a:p>
          <a:p>
            <a:pPr lvl="7"/>
            <a:endParaRPr lang="en-US" sz="1600" dirty="0"/>
          </a:p>
          <a:p>
            <a:pPr marL="914400" lvl="2" indent="0">
              <a:lnSpc>
                <a:spcPct val="100000"/>
              </a:lnSpc>
              <a:spcBef>
                <a:spcPts val="0"/>
              </a:spcBef>
              <a:buNone/>
            </a:pPr>
            <a:r>
              <a:rPr lang="en-US" sz="1800" dirty="0">
                <a:solidFill>
                  <a:prstClr val="black"/>
                </a:solidFill>
              </a:rPr>
              <a:t>Minimize		490X(A,1)+574X(A,2)+378X(A,3)+560X(A,4)</a:t>
            </a:r>
          </a:p>
          <a:p>
            <a:pPr marL="914400" lvl="2" indent="0">
              <a:lnSpc>
                <a:spcPct val="100000"/>
              </a:lnSpc>
              <a:spcBef>
                <a:spcPts val="0"/>
              </a:spcBef>
              <a:buNone/>
            </a:pPr>
            <a:r>
              <a:rPr lang="en-US" sz="1800" dirty="0">
                <a:solidFill>
                  <a:prstClr val="black"/>
                </a:solidFill>
              </a:rPr>
              <a:t>		+564X(I,1)+540X(I,2)+384X(I,3)+612X(I,4)</a:t>
            </a:r>
          </a:p>
          <a:p>
            <a:pPr marL="914400" lvl="2" indent="0">
              <a:lnSpc>
                <a:spcPct val="100000"/>
              </a:lnSpc>
              <a:spcBef>
                <a:spcPts val="0"/>
              </a:spcBef>
              <a:buNone/>
            </a:pPr>
            <a:r>
              <a:rPr lang="en-US" sz="1800" dirty="0">
                <a:solidFill>
                  <a:prstClr val="black"/>
                </a:solidFill>
              </a:rPr>
              <a:t>		+507X(J,1)+728X(J,2)+468X(J,3)+559X(J,4)</a:t>
            </a:r>
          </a:p>
          <a:p>
            <a:pPr marL="914400" lvl="2" indent="0">
              <a:lnSpc>
                <a:spcPct val="100000"/>
              </a:lnSpc>
              <a:spcBef>
                <a:spcPts val="0"/>
              </a:spcBef>
              <a:buNone/>
            </a:pPr>
            <a:r>
              <a:rPr lang="en-US" sz="1800" dirty="0">
                <a:solidFill>
                  <a:prstClr val="black"/>
                </a:solidFill>
              </a:rPr>
              <a:t>		+408X(S,1)+765X(S,2)+375X(S,3)+690X(S,4)</a:t>
            </a:r>
          </a:p>
          <a:p>
            <a:pPr marL="914400" lvl="2" indent="0">
              <a:lnSpc>
                <a:spcPct val="100000"/>
              </a:lnSpc>
              <a:spcBef>
                <a:spcPts val="0"/>
              </a:spcBef>
              <a:buNone/>
            </a:pPr>
            <a:r>
              <a:rPr lang="en-US" sz="1800" dirty="0">
                <a:solidFill>
                  <a:prstClr val="black"/>
                </a:solidFill>
              </a:rPr>
              <a:t>Subject to	X(A,1)+X(A,2)+X(A,3)+X(A,4)=1</a:t>
            </a:r>
          </a:p>
          <a:p>
            <a:pPr marL="914400" lvl="2" indent="0">
              <a:lnSpc>
                <a:spcPct val="100000"/>
              </a:lnSpc>
              <a:spcBef>
                <a:spcPts val="0"/>
              </a:spcBef>
              <a:buNone/>
            </a:pPr>
            <a:r>
              <a:rPr lang="en-US" sz="1800" dirty="0">
                <a:solidFill>
                  <a:prstClr val="black"/>
                </a:solidFill>
              </a:rPr>
              <a:t>		X(I,1)+X(I,2)+X(I,3)+X(I,4)=1</a:t>
            </a:r>
          </a:p>
          <a:p>
            <a:pPr marL="914400" lvl="2" indent="0">
              <a:lnSpc>
                <a:spcPct val="100000"/>
              </a:lnSpc>
              <a:spcBef>
                <a:spcPts val="0"/>
              </a:spcBef>
              <a:buNone/>
            </a:pPr>
            <a:r>
              <a:rPr lang="en-US" sz="1800" dirty="0">
                <a:solidFill>
                  <a:prstClr val="black"/>
                </a:solidFill>
              </a:rPr>
              <a:t>		X(J,1)+X(J,2)+X(J,3)+X(J,4)=1</a:t>
            </a:r>
          </a:p>
          <a:p>
            <a:pPr marL="914400" lvl="2" indent="0">
              <a:lnSpc>
                <a:spcPct val="100000"/>
              </a:lnSpc>
              <a:spcBef>
                <a:spcPts val="0"/>
              </a:spcBef>
              <a:buNone/>
            </a:pPr>
            <a:r>
              <a:rPr lang="en-US" sz="1800" dirty="0">
                <a:solidFill>
                  <a:prstClr val="black"/>
                </a:solidFill>
              </a:rPr>
              <a:t>		X(S,1)+X(S,2)+X(S,3)+X(S,4)=1</a:t>
            </a:r>
          </a:p>
          <a:p>
            <a:pPr marL="914400" lvl="2" indent="0">
              <a:lnSpc>
                <a:spcPct val="100000"/>
              </a:lnSpc>
              <a:spcBef>
                <a:spcPts val="0"/>
              </a:spcBef>
              <a:buNone/>
            </a:pPr>
            <a:r>
              <a:rPr lang="en-US" sz="1800" dirty="0">
                <a:solidFill>
                  <a:prstClr val="black"/>
                </a:solidFill>
              </a:rPr>
              <a:t>		X(A,1)+X(I,1)+X(J,1)+X(S,1)=1</a:t>
            </a:r>
          </a:p>
          <a:p>
            <a:pPr marL="914400" lvl="2" indent="0">
              <a:lnSpc>
                <a:spcPct val="100000"/>
              </a:lnSpc>
              <a:spcBef>
                <a:spcPts val="0"/>
              </a:spcBef>
              <a:buNone/>
            </a:pPr>
            <a:r>
              <a:rPr lang="en-US" sz="1800" dirty="0">
                <a:solidFill>
                  <a:prstClr val="black"/>
                </a:solidFill>
              </a:rPr>
              <a:t>		X(A,2)+X(I,2)+X(J,2)+X(S,2)=1</a:t>
            </a:r>
          </a:p>
          <a:p>
            <a:pPr marL="914400" lvl="2" indent="0">
              <a:lnSpc>
                <a:spcPct val="100000"/>
              </a:lnSpc>
              <a:spcBef>
                <a:spcPts val="0"/>
              </a:spcBef>
              <a:buNone/>
            </a:pPr>
            <a:r>
              <a:rPr lang="en-US" sz="1800" dirty="0">
                <a:solidFill>
                  <a:prstClr val="black"/>
                </a:solidFill>
              </a:rPr>
              <a:t>		X(A,3)+X(I,3)+X(J,3)+X(S,3)=1</a:t>
            </a:r>
          </a:p>
          <a:p>
            <a:pPr marL="914400" lvl="2" indent="0">
              <a:lnSpc>
                <a:spcPct val="100000"/>
              </a:lnSpc>
              <a:spcBef>
                <a:spcPts val="0"/>
              </a:spcBef>
              <a:buNone/>
            </a:pPr>
            <a:r>
              <a:rPr lang="en-US" sz="1800" dirty="0">
                <a:solidFill>
                  <a:prstClr val="black"/>
                </a:solidFill>
              </a:rPr>
              <a:t>		X(A,4)+X(I,4)+X(J,4)+X(S,4)=1</a:t>
            </a:r>
          </a:p>
          <a:p>
            <a:pPr marL="914400" lvl="2" indent="0">
              <a:lnSpc>
                <a:spcPct val="100000"/>
              </a:lnSpc>
              <a:spcBef>
                <a:spcPts val="0"/>
              </a:spcBef>
              <a:buNone/>
            </a:pPr>
            <a:r>
              <a:rPr lang="en-US" sz="1800" dirty="0">
                <a:solidFill>
                  <a:prstClr val="black"/>
                </a:solidFill>
              </a:rPr>
              <a:t>		X(</a:t>
            </a:r>
            <a:r>
              <a:rPr lang="en-US" sz="1800" dirty="0" err="1">
                <a:solidFill>
                  <a:prstClr val="black"/>
                </a:solidFill>
              </a:rPr>
              <a:t>i,j</a:t>
            </a:r>
            <a:r>
              <a:rPr lang="en-US" sz="1800" dirty="0">
                <a:solidFill>
                  <a:prstClr val="black"/>
                </a:solidFill>
              </a:rPr>
              <a:t>)&gt;=0</a:t>
            </a:r>
          </a:p>
          <a:p>
            <a:pPr marL="0" indent="0">
              <a:buNone/>
            </a:pPr>
            <a:endParaRPr lang="en-US" sz="2600" dirty="0"/>
          </a:p>
        </p:txBody>
      </p:sp>
      <p:sp>
        <p:nvSpPr>
          <p:cNvPr id="4" name="TextBox 3">
            <a:extLst>
              <a:ext uri="{FF2B5EF4-FFF2-40B4-BE49-F238E27FC236}">
                <a16:creationId xmlns:a16="http://schemas.microsoft.com/office/drawing/2014/main" id="{4DB283EE-A23C-4E1C-8129-A29E89439B99}"/>
              </a:ext>
            </a:extLst>
          </p:cNvPr>
          <p:cNvSpPr txBox="1"/>
          <p:nvPr/>
        </p:nvSpPr>
        <p:spPr>
          <a:xfrm>
            <a:off x="7869382" y="3580015"/>
            <a:ext cx="3253047" cy="1477328"/>
          </a:xfrm>
          <a:prstGeom prst="rect">
            <a:avLst/>
          </a:prstGeom>
          <a:noFill/>
        </p:spPr>
        <p:txBody>
          <a:bodyPr wrap="square" rtlCol="0">
            <a:spAutoFit/>
          </a:bodyPr>
          <a:lstStyle/>
          <a:p>
            <a:r>
              <a:rPr lang="en-US" dirty="0"/>
              <a:t>Transportation problem!!</a:t>
            </a:r>
          </a:p>
          <a:p>
            <a:r>
              <a:rPr lang="en-US" dirty="0"/>
              <a:t>No need to force </a:t>
            </a:r>
            <a:r>
              <a:rPr lang="en-US" dirty="0" err="1"/>
              <a:t>Xij’s</a:t>
            </a:r>
            <a:r>
              <a:rPr lang="en-US" dirty="0"/>
              <a:t> to be binary </a:t>
            </a:r>
            <a:r>
              <a:rPr lang="en-US" dirty="0">
                <a:sym typeface="Wingdings" panose="05000000000000000000" pitchFamily="2" charset="2"/>
              </a:rPr>
              <a:t> recall the integer solutions property of transportation problems!</a:t>
            </a:r>
            <a:endParaRPr lang="en-US" dirty="0"/>
          </a:p>
        </p:txBody>
      </p:sp>
    </p:spTree>
    <p:extLst>
      <p:ext uri="{BB962C8B-B14F-4D97-AF65-F5344CB8AC3E}">
        <p14:creationId xmlns:p14="http://schemas.microsoft.com/office/powerpoint/2010/main" val="1169466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500"/>
                                        <p:tgtEl>
                                          <p:spTgt spid="3">
                                            <p:txEl>
                                              <p:pRg st="7" end="7"/>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fade">
                                      <p:cBhvr>
                                        <p:cTn id="24" dur="500"/>
                                        <p:tgtEl>
                                          <p:spTgt spid="3">
                                            <p:txEl>
                                              <p:pRg st="8" end="8"/>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fade">
                                      <p:cBhvr>
                                        <p:cTn id="27" dur="500"/>
                                        <p:tgtEl>
                                          <p:spTgt spid="3">
                                            <p:txEl>
                                              <p:pRg st="9" end="9"/>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10" end="10"/>
                                            </p:txEl>
                                          </p:spTgt>
                                        </p:tgtEl>
                                        <p:attrNameLst>
                                          <p:attrName>style.visibility</p:attrName>
                                        </p:attrNameLst>
                                      </p:cBhvr>
                                      <p:to>
                                        <p:strVal val="visible"/>
                                      </p:to>
                                    </p:set>
                                    <p:animEffect transition="in" filter="fade">
                                      <p:cBhvr>
                                        <p:cTn id="30" dur="500"/>
                                        <p:tgtEl>
                                          <p:spTgt spid="3">
                                            <p:txEl>
                                              <p:pRg st="10" end="1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4" end="1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 Problems</a:t>
            </a:r>
          </a:p>
        </p:txBody>
      </p:sp>
      <p:sp>
        <p:nvSpPr>
          <p:cNvPr id="3" name="Content Placeholder 2"/>
          <p:cNvSpPr>
            <a:spLocks noGrp="1"/>
          </p:cNvSpPr>
          <p:nvPr>
            <p:ph idx="1"/>
          </p:nvPr>
        </p:nvSpPr>
        <p:spPr/>
        <p:txBody>
          <a:bodyPr/>
          <a:lstStyle/>
          <a:p>
            <a:r>
              <a:rPr lang="en-US" b="1" u="sng" dirty="0"/>
              <a:t>Case: </a:t>
            </a:r>
            <a:r>
              <a:rPr lang="en-US" b="1" u="sng" dirty="0" err="1"/>
              <a:t>Sellmore</a:t>
            </a:r>
            <a:r>
              <a:rPr lang="en-US" b="1" u="sng" dirty="0"/>
              <a:t> Company Problem (Chapter 3.6)</a:t>
            </a:r>
            <a:endParaRPr lang="en-US" dirty="0"/>
          </a:p>
          <a:p>
            <a:r>
              <a:rPr lang="en-US" sz="2400" dirty="0"/>
              <a:t>Spreadsheet model and solution with Excel Solver</a:t>
            </a:r>
            <a:endParaRPr lang="en-US" sz="2600" dirty="0"/>
          </a:p>
        </p:txBody>
      </p:sp>
      <p:pic>
        <p:nvPicPr>
          <p:cNvPr id="4" name="Picture 4">
            <a:extLst>
              <a:ext uri="{FF2B5EF4-FFF2-40B4-BE49-F238E27FC236}">
                <a16:creationId xmlns:a16="http://schemas.microsoft.com/office/drawing/2014/main" id="{EF0C0EA7-4F7C-4BDE-9275-24B8CD7A487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96581" y="2254712"/>
            <a:ext cx="5399520" cy="4352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200233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 Problems</a:t>
            </a:r>
          </a:p>
        </p:txBody>
      </p:sp>
      <p:sp>
        <p:nvSpPr>
          <p:cNvPr id="3" name="Content Placeholder 2"/>
          <p:cNvSpPr>
            <a:spLocks noGrp="1"/>
          </p:cNvSpPr>
          <p:nvPr>
            <p:ph idx="1"/>
          </p:nvPr>
        </p:nvSpPr>
        <p:spPr/>
        <p:txBody>
          <a:bodyPr/>
          <a:lstStyle/>
          <a:p>
            <a:r>
              <a:rPr lang="en-US" b="1" u="sng" dirty="0"/>
              <a:t>Case: Middletown School District Problem Revised (Chapter 15.7)</a:t>
            </a:r>
            <a:endParaRPr lang="en-US" dirty="0"/>
          </a:p>
          <a:p>
            <a:pPr lvl="1"/>
            <a:r>
              <a:rPr lang="en-US" u="sng" dirty="0"/>
              <a:t>Case Description: </a:t>
            </a:r>
            <a:r>
              <a:rPr lang="en-US" dirty="0"/>
              <a:t>Recall the case</a:t>
            </a:r>
          </a:p>
          <a:p>
            <a:pPr lvl="1"/>
            <a:r>
              <a:rPr lang="en-US" dirty="0"/>
              <a:t>Now, tract splitting is no longer allowed</a:t>
            </a:r>
          </a:p>
          <a:p>
            <a:pPr lvl="2"/>
            <a:r>
              <a:rPr lang="en-US" dirty="0"/>
              <a:t>That is, the students from the same tract should be assigned to the same school!</a:t>
            </a:r>
          </a:p>
          <a:p>
            <a:pPr lvl="1"/>
            <a:r>
              <a:rPr lang="en-US" dirty="0"/>
              <a:t>Also, each school should be assigned equal number of tracts</a:t>
            </a:r>
          </a:p>
          <a:p>
            <a:pPr lvl="2"/>
            <a:r>
              <a:rPr lang="en-US" dirty="0"/>
              <a:t>That is, each school will cover 3 tracts</a:t>
            </a:r>
          </a:p>
          <a:p>
            <a:pPr lvl="1"/>
            <a:r>
              <a:rPr lang="en-US" dirty="0"/>
              <a:t>So the Middletown School District problem becomes a variant of an assignment problem</a:t>
            </a:r>
          </a:p>
          <a:p>
            <a:pPr lvl="1"/>
            <a:endParaRPr lang="en-US" dirty="0"/>
          </a:p>
          <a:p>
            <a:pPr lvl="1"/>
            <a:r>
              <a:rPr lang="en-US" dirty="0"/>
              <a:t>Question: Which tract should be assigned to which school?</a:t>
            </a:r>
          </a:p>
          <a:p>
            <a:pPr marL="457200" lvl="1" indent="0">
              <a:buNone/>
            </a:pPr>
            <a:endParaRPr lang="en-US" dirty="0"/>
          </a:p>
          <a:p>
            <a:pPr lvl="2">
              <a:tabLst>
                <a:tab pos="1712913" algn="l"/>
              </a:tabLst>
            </a:pPr>
            <a:endParaRPr lang="en-US" dirty="0"/>
          </a:p>
        </p:txBody>
      </p:sp>
    </p:spTree>
    <p:extLst>
      <p:ext uri="{BB962C8B-B14F-4D97-AF65-F5344CB8AC3E}">
        <p14:creationId xmlns:p14="http://schemas.microsoft.com/office/powerpoint/2010/main" val="436408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 Problems</a:t>
            </a:r>
          </a:p>
        </p:txBody>
      </p:sp>
      <p:sp>
        <p:nvSpPr>
          <p:cNvPr id="3" name="Content Placeholder 2"/>
          <p:cNvSpPr>
            <a:spLocks noGrp="1"/>
          </p:cNvSpPr>
          <p:nvPr>
            <p:ph idx="1"/>
          </p:nvPr>
        </p:nvSpPr>
        <p:spPr/>
        <p:txBody>
          <a:bodyPr/>
          <a:lstStyle/>
          <a:p>
            <a:r>
              <a:rPr lang="en-US" b="1" u="sng" dirty="0"/>
              <a:t>Case: Middletown School District Problem Revised (Chapter 15.7)</a:t>
            </a:r>
            <a:endParaRPr lang="en-US" dirty="0"/>
          </a:p>
          <a:p>
            <a:r>
              <a:rPr lang="en-US" sz="2400" dirty="0"/>
              <a:t>Spreadsheet model and solution with Excel Solver</a:t>
            </a:r>
            <a:endParaRPr lang="en-US" sz="2600" dirty="0"/>
          </a:p>
          <a:p>
            <a:pPr lvl="2">
              <a:tabLst>
                <a:tab pos="1712913" algn="l"/>
              </a:tabLst>
            </a:pPr>
            <a:endParaRPr lang="en-US" dirty="0"/>
          </a:p>
        </p:txBody>
      </p:sp>
      <p:graphicFrame>
        <p:nvGraphicFramePr>
          <p:cNvPr id="4" name="Object 3">
            <a:extLst>
              <a:ext uri="{FF2B5EF4-FFF2-40B4-BE49-F238E27FC236}">
                <a16:creationId xmlns:a16="http://schemas.microsoft.com/office/drawing/2014/main" id="{60326FE8-1EE8-44AE-A7D5-8C513701CAFD}"/>
              </a:ext>
            </a:extLst>
          </p:cNvPr>
          <p:cNvGraphicFramePr>
            <a:graphicFrameLocks noChangeAspect="1"/>
          </p:cNvGraphicFramePr>
          <p:nvPr/>
        </p:nvGraphicFramePr>
        <p:xfrm>
          <a:off x="1396538" y="2394197"/>
          <a:ext cx="6375660" cy="3782766"/>
        </p:xfrm>
        <a:graphic>
          <a:graphicData uri="http://schemas.openxmlformats.org/presentationml/2006/ole">
            <mc:AlternateContent xmlns:mc="http://schemas.openxmlformats.org/markup-compatibility/2006">
              <mc:Choice xmlns:v="urn:schemas-microsoft-com:vml" Requires="v">
                <p:oleObj name="Worksheet" r:id="rId2" imgW="8071104" imgH="4788408" progId="Excel.Sheet.8">
                  <p:embed/>
                </p:oleObj>
              </mc:Choice>
              <mc:Fallback>
                <p:oleObj name="Worksheet" r:id="rId2" imgW="8071104" imgH="4788408" progId="Excel.Sheet.8">
                  <p:embed/>
                  <p:pic>
                    <p:nvPicPr>
                      <p:cNvPr id="4" name="Object 3">
                        <a:extLst>
                          <a:ext uri="{FF2B5EF4-FFF2-40B4-BE49-F238E27FC236}">
                            <a16:creationId xmlns:a16="http://schemas.microsoft.com/office/drawing/2014/main" id="{60326FE8-1EE8-44AE-A7D5-8C513701CA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6538" y="2394197"/>
                        <a:ext cx="6375660" cy="3782766"/>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0593974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3803</TotalTime>
  <Words>7203</Words>
  <Application>Microsoft Macintosh PowerPoint</Application>
  <PresentationFormat>Widescreen</PresentationFormat>
  <Paragraphs>1062</Paragraphs>
  <Slides>80</Slides>
  <Notes>33</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80</vt:i4>
      </vt:variant>
    </vt:vector>
  </HeadingPairs>
  <TitlesOfParts>
    <vt:vector size="89" baseType="lpstr">
      <vt:lpstr>ＭＳ Ｐゴシック</vt:lpstr>
      <vt:lpstr>Arial</vt:lpstr>
      <vt:lpstr>Calibri</vt:lpstr>
      <vt:lpstr>Calibri Light</vt:lpstr>
      <vt:lpstr>Cambria Math</vt:lpstr>
      <vt:lpstr>Times New Roman</vt:lpstr>
      <vt:lpstr>Wingdings</vt:lpstr>
      <vt:lpstr>Office Theme</vt:lpstr>
      <vt:lpstr>Worksheet</vt:lpstr>
      <vt:lpstr> ANLY 5332  Department of Information Systems and Analytics McCoy College of Business Administration Texas State University</vt:lpstr>
      <vt:lpstr>Outline</vt:lpstr>
      <vt:lpstr>Spreadsheet Modeling</vt:lpstr>
      <vt:lpstr>Spreadsheet Modeling</vt:lpstr>
      <vt:lpstr>Spreadsheet Modeling</vt:lpstr>
      <vt:lpstr>Spreadsheet Modeling</vt:lpstr>
      <vt:lpstr>Spreadsheet Modeling</vt:lpstr>
      <vt:lpstr>Spreadsheet Modeling</vt:lpstr>
      <vt:lpstr>Spreadsheet Modeling</vt:lpstr>
      <vt:lpstr>Spreadsheet Modeling</vt:lpstr>
      <vt:lpstr>Spreadsheet Modeling</vt:lpstr>
      <vt:lpstr>Spreadsheet Modeling</vt:lpstr>
      <vt:lpstr>Spreadsheet Modeling</vt:lpstr>
      <vt:lpstr>Spreadsheet Modeling</vt:lpstr>
      <vt:lpstr>Spreadsheet Modeling</vt:lpstr>
      <vt:lpstr>Spreadsheet Modeling</vt:lpstr>
      <vt:lpstr>Spreadsheet Modeling</vt:lpstr>
      <vt:lpstr>Spreadsheet Modeling</vt:lpstr>
      <vt:lpstr>Spreadsheet Modeling</vt:lpstr>
      <vt:lpstr>Spreadsheet Modeling</vt:lpstr>
      <vt:lpstr>Spreadsheet Modeling</vt:lpstr>
      <vt:lpstr>Spreadsheet Modeling</vt:lpstr>
      <vt:lpstr>Excel Solver Outputs</vt:lpstr>
      <vt:lpstr>Excel Solver Outputs</vt:lpstr>
      <vt:lpstr>Excel Solver Outputs</vt:lpstr>
      <vt:lpstr>Excel Solver Outputs</vt:lpstr>
      <vt:lpstr>Excel Solver Outputs</vt:lpstr>
      <vt:lpstr>Excel Solver Outputs</vt:lpstr>
      <vt:lpstr>Excel Solver Outputs</vt:lpstr>
      <vt:lpstr>Excel Solver Outputs</vt:lpstr>
      <vt:lpstr>Excel Solver Outputs</vt:lpstr>
      <vt:lpstr>Excel Solver Outputs</vt:lpstr>
      <vt:lpstr>Excel Solver Outputs</vt:lpstr>
      <vt:lpstr>Excel Solver Outputs</vt:lpstr>
      <vt:lpstr>Linear Programming Applications</vt:lpstr>
      <vt:lpstr>Linear Programming Applications</vt:lpstr>
      <vt:lpstr>Linear Programming Applications</vt:lpstr>
      <vt:lpstr>Linear Programming Applications</vt:lpstr>
      <vt:lpstr>Linear Programming Applications</vt:lpstr>
      <vt:lpstr>Linear Programming Applications</vt:lpstr>
      <vt:lpstr>Linear Programming Applications</vt:lpstr>
      <vt:lpstr>Linear Programming Applications</vt:lpstr>
      <vt:lpstr>Linear Programming Applications</vt:lpstr>
      <vt:lpstr>Linear Programming Applications</vt:lpstr>
      <vt:lpstr>Linear Programming Applications</vt:lpstr>
      <vt:lpstr>Linear Programming Applications</vt:lpstr>
      <vt:lpstr>Linear Programming Applications</vt:lpstr>
      <vt:lpstr>Linear Programming Applications</vt:lpstr>
      <vt:lpstr>Linear Programming Applications</vt:lpstr>
      <vt:lpstr>Linear Programming Applications</vt:lpstr>
      <vt:lpstr>Linear Programming Applications</vt:lpstr>
      <vt:lpstr>Linear Programming Applications</vt:lpstr>
      <vt:lpstr>Linear Programming Applications</vt:lpstr>
      <vt:lpstr>Linear Programming Applications</vt:lpstr>
      <vt:lpstr>Linear Programming Applications</vt:lpstr>
      <vt:lpstr>Linear Programming Applications</vt:lpstr>
      <vt:lpstr>Linear Programming Applications</vt:lpstr>
      <vt:lpstr>Linear Programming Applications</vt:lpstr>
      <vt:lpstr>Linear Programming Applications</vt:lpstr>
      <vt:lpstr>Linear Programming Applications</vt:lpstr>
      <vt:lpstr>Linear Programming Applications</vt:lpstr>
      <vt:lpstr>Transportation and Assignment Models</vt:lpstr>
      <vt:lpstr>Transportation Problems</vt:lpstr>
      <vt:lpstr>Transportation Problems</vt:lpstr>
      <vt:lpstr>Transportation Problems</vt:lpstr>
      <vt:lpstr>Transportation Problems</vt:lpstr>
      <vt:lpstr>Transportation Problems</vt:lpstr>
      <vt:lpstr>Transportation Problems</vt:lpstr>
      <vt:lpstr>Transportation Problems</vt:lpstr>
      <vt:lpstr>Transportation Problems</vt:lpstr>
      <vt:lpstr>Transportation Problems</vt:lpstr>
      <vt:lpstr>Transportation Problems</vt:lpstr>
      <vt:lpstr>Assignment Problems</vt:lpstr>
      <vt:lpstr>Assignment Problems</vt:lpstr>
      <vt:lpstr>Assignment Problems</vt:lpstr>
      <vt:lpstr>Assignment Problems</vt:lpstr>
      <vt:lpstr>Assignment Problems</vt:lpstr>
      <vt:lpstr>Assignment Problems</vt:lpstr>
      <vt:lpstr>Assignment Problems</vt:lpstr>
      <vt:lpstr>Assignment Problems</vt:lpstr>
    </vt:vector>
  </TitlesOfParts>
  <Company>Missouri University of Science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Konur, Dincer</dc:creator>
  <cp:lastModifiedBy>Lin, Zewei (linzw)</cp:lastModifiedBy>
  <cp:revision>214</cp:revision>
  <cp:lastPrinted>2023-09-11T13:59:21Z</cp:lastPrinted>
  <dcterms:created xsi:type="dcterms:W3CDTF">2018-08-17T02:14:39Z</dcterms:created>
  <dcterms:modified xsi:type="dcterms:W3CDTF">2024-09-15T16:45:56Z</dcterms:modified>
</cp:coreProperties>
</file>