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374" r:id="rId3"/>
    <p:sldId id="735" r:id="rId4"/>
    <p:sldId id="260" r:id="rId5"/>
    <p:sldId id="337" r:id="rId6"/>
    <p:sldId id="339" r:id="rId7"/>
    <p:sldId id="340" r:id="rId8"/>
    <p:sldId id="341" r:id="rId9"/>
    <p:sldId id="342" r:id="rId10"/>
    <p:sldId id="346" r:id="rId11"/>
    <p:sldId id="343" r:id="rId12"/>
    <p:sldId id="344" r:id="rId13"/>
    <p:sldId id="345" r:id="rId14"/>
    <p:sldId id="347" r:id="rId15"/>
    <p:sldId id="348" r:id="rId16"/>
    <p:sldId id="349" r:id="rId17"/>
    <p:sldId id="350" r:id="rId18"/>
    <p:sldId id="351" r:id="rId19"/>
    <p:sldId id="737" r:id="rId20"/>
    <p:sldId id="420" r:id="rId21"/>
    <p:sldId id="352" r:id="rId22"/>
    <p:sldId id="354" r:id="rId23"/>
    <p:sldId id="355" r:id="rId24"/>
    <p:sldId id="356" r:id="rId25"/>
    <p:sldId id="357" r:id="rId26"/>
    <p:sldId id="358" r:id="rId27"/>
    <p:sldId id="738" r:id="rId28"/>
    <p:sldId id="423" r:id="rId29"/>
    <p:sldId id="703" r:id="rId30"/>
    <p:sldId id="422" r:id="rId31"/>
    <p:sldId id="361" r:id="rId32"/>
    <p:sldId id="362" r:id="rId33"/>
    <p:sldId id="364" r:id="rId34"/>
    <p:sldId id="365" r:id="rId35"/>
    <p:sldId id="366" r:id="rId36"/>
    <p:sldId id="421" r:id="rId37"/>
    <p:sldId id="739" r:id="rId38"/>
    <p:sldId id="704" r:id="rId39"/>
    <p:sldId id="705" r:id="rId40"/>
    <p:sldId id="706" r:id="rId41"/>
    <p:sldId id="707" r:id="rId42"/>
    <p:sldId id="371" r:id="rId43"/>
    <p:sldId id="373" r:id="rId44"/>
    <p:sldId id="372" r:id="rId45"/>
    <p:sldId id="708" r:id="rId46"/>
    <p:sldId id="736" r:id="rId47"/>
    <p:sldId id="711" r:id="rId48"/>
    <p:sldId id="712" r:id="rId49"/>
    <p:sldId id="713" r:id="rId50"/>
    <p:sldId id="714" r:id="rId51"/>
    <p:sldId id="726" r:id="rId52"/>
    <p:sldId id="727" r:id="rId53"/>
    <p:sldId id="728" r:id="rId54"/>
    <p:sldId id="729" r:id="rId55"/>
    <p:sldId id="730" r:id="rId56"/>
    <p:sldId id="731" r:id="rId57"/>
    <p:sldId id="732" r:id="rId58"/>
    <p:sldId id="733" r:id="rId59"/>
    <p:sldId id="734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urdlocal" initials="k" lastIdx="0" clrIdx="0">
    <p:extLst>
      <p:ext uri="{19B8F6BF-5375-455C-9EA6-DF929625EA0E}">
        <p15:presenceInfo xmlns:p15="http://schemas.microsoft.com/office/powerpoint/2012/main" userId="konurdlo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88" autoAdjust="0"/>
  </p:normalViewPr>
  <p:slideViewPr>
    <p:cSldViewPr snapToGrid="0">
      <p:cViewPr varScale="1">
        <p:scale>
          <a:sx n="150" d="100"/>
          <a:sy n="150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A81C-13E0-402A-9BD9-36F3DFFB46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376B9-9838-4376-9895-3384D05A8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49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FD17-74E6-8E00-35E2-0398518B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A1323-242D-17DF-7D78-5EA3743F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7159C-489D-E69F-16C7-DC5203DAF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C55F4-C843-A9AB-139F-D7851F6B9A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13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81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73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BBA8-96E4-B49D-B0AA-80CAB5E4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E513E-3CAC-DFF0-C01E-925B7B97D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EF9B1-07DA-70E4-B218-EADB7535D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31150-21F3-0912-EB07-BBF0338AE1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50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548EB-8FCC-D3B9-DE3E-CD0E5A1C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87CE8-FC2E-1085-EE72-0FB83BD13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740BA-22E0-33CB-E75A-AF72D8773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53894-F46F-01AF-2413-217072C6B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93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5A2A-8A91-CBDB-55C3-0432D7DF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62318-3BC4-23BB-9300-D2550556D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9F466-FD77-F938-D2C6-531343B8E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6D8C1-6034-FC8F-F269-79BBB0176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20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645FC-F4BC-0F39-A985-D9CEA5A6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54216-DA98-1492-3CA3-610A72817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89AB0-26CE-7E28-FEA7-5DDC20BF5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8CD81-BB86-CF4F-AF65-CA5890774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80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24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099-EF0D-4B9A-BBFF-09FBE6BF6054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3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B1E3B061-4FCE-4A21-AC74-81FE2BC5CF3E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79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59F54-5CF2-4FD0-836E-B479A78D51A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2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33E6-EEC8-49F6-86B1-D403F7BCF2D7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4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FC5F4-FF8A-4310-ACDA-118E50908757}" type="datetime1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CC70-ED3C-42E3-B9D4-4CDAF46FBF6D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3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83FA-2A64-4953-B019-1B95DE5F0E9D}" type="datetime1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9A69-C0C1-4748-81A5-B3EAE2845645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0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0C7C-8B0D-4808-9EE9-6B3127DD99F3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8BD7-923F-4248-A98A-25295194946A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BBA94-316C-4F17-807F-67A425FEAD6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8F577-5F6A-4371-8B61-A5EB0D2162DC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book.simio.com/books/SASMAA6.ph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PxBKxU8GIQ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columbia.edu/~ks20/stochastic-I/stochastic-I-LL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wmf"/><Relationship Id="rId4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w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supositorio.com/rcalc/rcalclite.htm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5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" y="2144713"/>
            <a:ext cx="11487150" cy="23876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QMST 5335</a:t>
            </a:r>
            <a:br>
              <a:rPr lang="en-US" sz="3200" dirty="0"/>
            </a:br>
            <a:r>
              <a:rPr lang="en-US" sz="4900" dirty="0"/>
              <a:t>Module 2.1</a:t>
            </a:r>
            <a:br>
              <a:rPr lang="en-US" sz="5400" dirty="0"/>
            </a:br>
            <a:r>
              <a:rPr lang="en-US" sz="5400" b="1" dirty="0"/>
              <a:t>Basics of Queueing Theory</a:t>
            </a:r>
            <a:br>
              <a:rPr lang="en-US" sz="5400" dirty="0"/>
            </a:br>
            <a:endParaRPr 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94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Learning 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Textbook (SS): </a:t>
            </a:r>
            <a:r>
              <a:rPr lang="en-US" dirty="0">
                <a:hlinkClick r:id="rId3"/>
              </a:rPr>
              <a:t>https://textbook.simio.com/books/SASMAA6.php</a:t>
            </a:r>
            <a:endParaRPr lang="en-US" dirty="0"/>
          </a:p>
          <a:p>
            <a:r>
              <a:rPr lang="en-US" dirty="0"/>
              <a:t>Understanding basics of queueing systems (SS Chapter 2.1)</a:t>
            </a:r>
          </a:p>
          <a:p>
            <a:pPr lvl="1"/>
            <a:r>
              <a:rPr lang="en-US" dirty="0"/>
              <a:t>Elements, applications, processes</a:t>
            </a:r>
          </a:p>
          <a:p>
            <a:r>
              <a:rPr lang="en-US" dirty="0"/>
              <a:t>Understanding basic performance measures and relations (SS Chapter 2.2)</a:t>
            </a:r>
          </a:p>
          <a:p>
            <a:pPr lvl="1"/>
            <a:r>
              <a:rPr lang="en-US" dirty="0"/>
              <a:t>Key performance measures, Little’s Law</a:t>
            </a:r>
          </a:p>
          <a:p>
            <a:r>
              <a:rPr lang="en-US" dirty="0"/>
              <a:t>Learning some specific queueing systems and their analyses (SS Chapter 2.3)</a:t>
            </a:r>
          </a:p>
          <a:p>
            <a:pPr lvl="1"/>
            <a:r>
              <a:rPr lang="en-US" dirty="0"/>
              <a:t>M/M/s and others</a:t>
            </a:r>
          </a:p>
          <a:p>
            <a:r>
              <a:rPr lang="en-US" dirty="0"/>
              <a:t>Getting familiar with several practical queueing system concepts</a:t>
            </a:r>
          </a:p>
          <a:p>
            <a:pPr lvl="1"/>
            <a:r>
              <a:rPr lang="en-US" dirty="0"/>
              <a:t>Server utilization, pooling servers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9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64EF-843D-CFD7-1280-FDEF522A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3CE6-F2F8-F045-F1BD-81A04027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583A-EC15-F901-98F4-F453D43C7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2" y="1312433"/>
            <a:ext cx="9271219" cy="4864530"/>
          </a:xfrm>
        </p:spPr>
        <p:txBody>
          <a:bodyPr>
            <a:normAutofit/>
          </a:bodyPr>
          <a:lstStyle/>
          <a:p>
            <a:r>
              <a:rPr lang="en-US" dirty="0"/>
              <a:t>Queueing-System Structure and Terminology</a:t>
            </a:r>
          </a:p>
          <a:p>
            <a:r>
              <a:rPr lang="en-US" dirty="0"/>
              <a:t>Key Performance Measures, Little’s Law, and Other Relations</a:t>
            </a:r>
          </a:p>
          <a:p>
            <a:r>
              <a:rPr lang="en-US" dirty="0"/>
              <a:t>Some Queueing Systems </a:t>
            </a:r>
          </a:p>
          <a:p>
            <a:r>
              <a:rPr lang="en-US" dirty="0"/>
              <a:t>M/M/1 Derivations </a:t>
            </a:r>
          </a:p>
          <a:p>
            <a:endParaRPr lang="en-US" dirty="0"/>
          </a:p>
          <a:p>
            <a:r>
              <a:rPr lang="en-US" dirty="0"/>
              <a:t>Review of Queueing Basics</a:t>
            </a:r>
          </a:p>
          <a:p>
            <a:pPr lvl="1"/>
            <a:r>
              <a:rPr lang="en-US" dirty="0"/>
              <a:t>A Case Study and Key Insights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2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9271219" cy="4864530"/>
          </a:xfrm>
        </p:spPr>
        <p:txBody>
          <a:bodyPr>
            <a:normAutofit/>
          </a:bodyPr>
          <a:lstStyle/>
          <a:p>
            <a:r>
              <a:rPr lang="en-US" dirty="0"/>
              <a:t>Queueing-System Structure and Terminology</a:t>
            </a:r>
          </a:p>
          <a:p>
            <a:r>
              <a:rPr lang="en-US" dirty="0">
                <a:solidFill>
                  <a:schemeClr val="bg2"/>
                </a:solidFill>
              </a:rPr>
              <a:t>Key Performance Measures, Little’s Law, and Other Relations</a:t>
            </a:r>
          </a:p>
          <a:p>
            <a:r>
              <a:rPr lang="en-US" dirty="0">
                <a:solidFill>
                  <a:schemeClr val="bg2"/>
                </a:solidFill>
              </a:rPr>
              <a:t>Some Queueing Systems </a:t>
            </a:r>
          </a:p>
          <a:p>
            <a:r>
              <a:rPr lang="en-US" dirty="0">
                <a:solidFill>
                  <a:schemeClr val="bg2"/>
                </a:solidFill>
              </a:rPr>
              <a:t>M/M/1 Derivations </a:t>
            </a:r>
          </a:p>
          <a:p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Review of Queueing Basics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 Case Study and Key Insights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6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basic queuing system:</a:t>
            </a:r>
          </a:p>
          <a:p>
            <a:pPr lvl="1"/>
            <a:r>
              <a:rPr lang="en-US" dirty="0"/>
              <a:t>“Customers” show up, wait for “service,” get served, maybe go elsewhere, wait again, get served again, etc., maybe leave</a:t>
            </a:r>
          </a:p>
          <a:p>
            <a:pPr lvl="1"/>
            <a:r>
              <a:rPr lang="en-US" dirty="0"/>
              <a:t>A simple representation: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630" y="3245710"/>
            <a:ext cx="5247908" cy="303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739644" y="3985846"/>
            <a:ext cx="2977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funny video:</a:t>
            </a:r>
          </a:p>
          <a:p>
            <a:r>
              <a:rPr lang="en-US" dirty="0">
                <a:hlinkClick r:id="rId3"/>
              </a:rPr>
              <a:t>https://www.youtube.com/watch?v=IPxBKxU8GIQ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410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many practical applications of queueing systems</a:t>
            </a:r>
          </a:p>
          <a:p>
            <a:pPr lvl="1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847347"/>
              </p:ext>
            </p:extLst>
          </p:nvPr>
        </p:nvGraphicFramePr>
        <p:xfrm>
          <a:off x="668215" y="1893671"/>
          <a:ext cx="8839200" cy="3702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System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“Customers”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“Servers”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2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Manufacturing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Parts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Machines, people, transport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2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Urgent-care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clinic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Patients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Doctors, nurses,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other staff, rooms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2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Supply chain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Parcels, loads, trucks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Docks, warehouse space, trucks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2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Bank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Customers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Tellers, loan officers, drive-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throughs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2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Amusement park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Guests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Rides, food stands, urgent-care clinic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2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Computer lab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Students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Computers, printers, help staff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2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Telecommunications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Messages, packets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Terminals, relays, switches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221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Traffic intersection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Vehicles, pedestrians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Segments of space in the intersection</a:t>
                      </a:r>
                    </a:p>
                  </a:txBody>
                  <a:tcPr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02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many practical applications of queueing systems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Commercial Service Systems:</a:t>
            </a:r>
          </a:p>
          <a:p>
            <a:pPr lvl="1"/>
            <a:endParaRPr lang="en-US" dirty="0"/>
          </a:p>
        </p:txBody>
      </p:sp>
      <p:graphicFrame>
        <p:nvGraphicFramePr>
          <p:cNvPr id="5" name="Group 18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8227165"/>
              </p:ext>
            </p:extLst>
          </p:nvPr>
        </p:nvGraphicFramePr>
        <p:xfrm>
          <a:off x="2589007" y="2180758"/>
          <a:ext cx="7010400" cy="436169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Type of System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Server(s)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Barber shop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Barber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Bank teller services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Teller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ATM machine service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ATM machine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Checkout at a store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Checkout clerk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Plumbing services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Clogged pipes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Plumber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Ticket window at a movie theater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Cashier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Check-in counter at an airport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Airline agent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Brokerage service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Stock broker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Gas station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Cars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Pump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Call center for ordering goods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Telephone agent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Call center for technical assistance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Technical representative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Travel agency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Travel agent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Automobile repair shop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Car owners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Mechanic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Vending services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Vending machine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Dental services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Dentist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6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Roofing Services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Roofs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Roofer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828766" y="5380892"/>
            <a:ext cx="200464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Source: “Introduction to Management Science: A Modeling and Case Studies Approach with Spreadsheets”, 5</a:t>
            </a:r>
            <a:r>
              <a:rPr lang="en-US" sz="1050" baseline="30000" dirty="0"/>
              <a:t>th</a:t>
            </a:r>
            <a:r>
              <a:rPr lang="en-US" sz="1050" dirty="0"/>
              <a:t> edition, by F. S. Hillier and M. S. Hillier, McGraw-Hill Publication</a:t>
            </a:r>
          </a:p>
        </p:txBody>
      </p:sp>
    </p:spTree>
    <p:extLst>
      <p:ext uri="{BB962C8B-B14F-4D97-AF65-F5344CB8AC3E}">
        <p14:creationId xmlns:p14="http://schemas.microsoft.com/office/powerpoint/2010/main" val="184170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many practical applications of queueing systems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Internal Service Systems:</a:t>
            </a:r>
          </a:p>
          <a:p>
            <a:pPr lvl="1"/>
            <a:endParaRPr lang="en-US" dirty="0"/>
          </a:p>
        </p:txBody>
      </p:sp>
      <p:graphicFrame>
        <p:nvGraphicFramePr>
          <p:cNvPr id="6" name="Group 10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4622097"/>
              </p:ext>
            </p:extLst>
          </p:nvPr>
        </p:nvGraphicFramePr>
        <p:xfrm>
          <a:off x="2512807" y="2209801"/>
          <a:ext cx="7162800" cy="4359277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Type of System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Server(s)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Secretarial services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Secretary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Copying services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Copy machine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Computer programming services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Programmer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Mainframe computer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Computer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First-aid center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Nurse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Faxing services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Fax machine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Materials-handling system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Loads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Materials-handling unit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Maintenance system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Machines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Repair crew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Inspection station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Items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Inspector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Production system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Jobs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Machine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Semiautomatic machines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Machines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Operator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Tool crib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Machine operators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Clerk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28766" y="5380892"/>
            <a:ext cx="200464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Source: “Introduction to Management Science: A Modeling and Case Studies Approach with Spreadsheets”, 5</a:t>
            </a:r>
            <a:r>
              <a:rPr lang="en-US" sz="1050" baseline="30000" dirty="0"/>
              <a:t>th</a:t>
            </a:r>
            <a:r>
              <a:rPr lang="en-US" sz="1050" dirty="0"/>
              <a:t> edition, by F. S. Hillier and M. S. Hillier, McGraw-Hill Publication</a:t>
            </a:r>
          </a:p>
        </p:txBody>
      </p:sp>
    </p:spTree>
    <p:extLst>
      <p:ext uri="{BB962C8B-B14F-4D97-AF65-F5344CB8AC3E}">
        <p14:creationId xmlns:p14="http://schemas.microsoft.com/office/powerpoint/2010/main" val="174686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many practical applications of queueing systems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Transportation Service Systems:</a:t>
            </a:r>
          </a:p>
          <a:p>
            <a:pPr lvl="1"/>
            <a:endParaRPr lang="en-US" dirty="0"/>
          </a:p>
        </p:txBody>
      </p:sp>
      <p:graphicFrame>
        <p:nvGraphicFramePr>
          <p:cNvPr id="5" name="Group 7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786540"/>
              </p:ext>
            </p:extLst>
          </p:nvPr>
        </p:nvGraphicFramePr>
        <p:xfrm>
          <a:off x="2512807" y="2261816"/>
          <a:ext cx="7162800" cy="402272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Type of System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Customers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Server(s)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Highway tollbooth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Cars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Cashier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Truck loading dock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Trucks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Loading crew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Port unloading area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Ships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Unloading crew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Airplanes waiting to take off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Airplanes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Runway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Airplanes waiting to land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Airplanes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Runway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Airline service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Airplane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Taxicab service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Taxicab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Elevator service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Elevator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Fire department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Fires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Fire truck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Parking lot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Cars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Parking space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Ambulance service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People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Ambulance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28766" y="5380892"/>
            <a:ext cx="200464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Source: “Introduction to Management Science: A Modeling and Case Studies Approach with Spreadsheets”, 5</a:t>
            </a:r>
            <a:r>
              <a:rPr lang="en-US" sz="1050" baseline="30000" dirty="0"/>
              <a:t>th</a:t>
            </a:r>
            <a:r>
              <a:rPr lang="en-US" sz="1050" dirty="0"/>
              <a:t> edition, by F. S. Hillier and M. S. Hillier, McGraw-Hill Publication</a:t>
            </a:r>
          </a:p>
        </p:txBody>
      </p:sp>
    </p:spTree>
    <p:extLst>
      <p:ext uri="{BB962C8B-B14F-4D97-AF65-F5344CB8AC3E}">
        <p14:creationId xmlns:p14="http://schemas.microsoft.com/office/powerpoint/2010/main" val="206185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single-server queueing system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4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750278" y="1717432"/>
            <a:ext cx="4665784" cy="1670538"/>
            <a:chOff x="1256495" y="685800"/>
            <a:chExt cx="7055585" cy="2412291"/>
          </a:xfrm>
        </p:grpSpPr>
        <p:sp>
          <p:nvSpPr>
            <p:cNvPr id="6" name="TextBox 7"/>
            <p:cNvSpPr txBox="1">
              <a:spLocks noChangeArrowheads="1"/>
            </p:cNvSpPr>
            <p:nvPr/>
          </p:nvSpPr>
          <p:spPr bwMode="auto">
            <a:xfrm>
              <a:off x="2501503" y="685800"/>
              <a:ext cx="1914401" cy="495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600">
                  <a:latin typeface="Calibri" panose="020F0502020204030204" pitchFamily="34" charset="0"/>
                </a:rPr>
                <a:t>Registration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295964" y="1904715"/>
              <a:ext cx="1218881" cy="2321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2558958" y="1106036"/>
              <a:ext cx="3942212" cy="188525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416945" y="1505376"/>
              <a:ext cx="914742" cy="91476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530708" y="1619140"/>
              <a:ext cx="684895" cy="68491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557923" y="1619140"/>
              <a:ext cx="687217" cy="68491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759266" y="1619140"/>
              <a:ext cx="684896" cy="68491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958287" y="1619140"/>
              <a:ext cx="687217" cy="68491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5400000">
              <a:off x="3131248" y="2477025"/>
              <a:ext cx="227531" cy="232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243853" y="2591951"/>
              <a:ext cx="1657679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>
              <a:off x="4787766" y="2475864"/>
              <a:ext cx="229853" cy="232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9"/>
            <p:cNvSpPr txBox="1">
              <a:spLocks noChangeArrowheads="1"/>
            </p:cNvSpPr>
            <p:nvPr/>
          </p:nvSpPr>
          <p:spPr bwMode="auto">
            <a:xfrm>
              <a:off x="3758804" y="2647950"/>
              <a:ext cx="985150" cy="450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latin typeface="Calibri" panose="020F0502020204030204" pitchFamily="34" charset="0"/>
                </a:rPr>
                <a:t>Queue</a:t>
              </a:r>
            </a:p>
          </p:txBody>
        </p:sp>
        <p:sp>
          <p:nvSpPr>
            <p:cNvPr id="19" name="TextBox 21"/>
            <p:cNvSpPr txBox="1">
              <a:spLocks noChangeArrowheads="1"/>
            </p:cNvSpPr>
            <p:nvPr/>
          </p:nvSpPr>
          <p:spPr bwMode="auto">
            <a:xfrm>
              <a:off x="5284909" y="1129078"/>
              <a:ext cx="1304092" cy="450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latin typeface="Calibri" panose="020F0502020204030204" pitchFamily="34" charset="0"/>
                </a:rPr>
                <a:t>Reg. Desk</a:t>
              </a:r>
            </a:p>
          </p:txBody>
        </p:sp>
        <p:sp>
          <p:nvSpPr>
            <p:cNvPr id="20" name="TextBox 22"/>
            <p:cNvSpPr txBox="1">
              <a:spLocks noChangeArrowheads="1"/>
            </p:cNvSpPr>
            <p:nvPr/>
          </p:nvSpPr>
          <p:spPr bwMode="auto">
            <a:xfrm>
              <a:off x="1256495" y="1217735"/>
              <a:ext cx="1142043" cy="765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400">
                  <a:latin typeface="Calibri" panose="020F0502020204030204" pitchFamily="34" charset="0"/>
                </a:rPr>
                <a:t>Arriving</a:t>
              </a:r>
            </a:p>
            <a:p>
              <a:pPr algn="ctr" eaLnBrk="1" hangingPunct="1"/>
              <a:r>
                <a:rPr lang="en-US" sz="1400">
                  <a:latin typeface="Calibri" panose="020F0502020204030204" pitchFamily="34" charset="0"/>
                </a:rPr>
                <a:t>patients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6501170" y="1904715"/>
              <a:ext cx="1258350" cy="2321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6"/>
            <p:cNvSpPr txBox="1">
              <a:spLocks noChangeArrowheads="1"/>
            </p:cNvSpPr>
            <p:nvPr/>
          </p:nvSpPr>
          <p:spPr bwMode="auto">
            <a:xfrm>
              <a:off x="6452084" y="1219199"/>
              <a:ext cx="1332134" cy="765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400">
                  <a:latin typeface="Calibri" panose="020F0502020204030204" pitchFamily="34" charset="0"/>
                </a:rPr>
                <a:t>Departing</a:t>
              </a:r>
            </a:p>
            <a:p>
              <a:pPr algn="ctr" eaLnBrk="1" hangingPunct="1"/>
              <a:r>
                <a:rPr lang="en-US" sz="1400">
                  <a:latin typeface="Calibri" panose="020F0502020204030204" pitchFamily="34" charset="0"/>
                </a:rPr>
                <a:t>patients</a:t>
              </a:r>
            </a:p>
          </p:txBody>
        </p:sp>
        <p:sp>
          <p:nvSpPr>
            <p:cNvPr id="23" name="TextBox 27"/>
            <p:cNvSpPr txBox="1">
              <a:spLocks noChangeArrowheads="1"/>
            </p:cNvSpPr>
            <p:nvPr/>
          </p:nvSpPr>
          <p:spPr bwMode="auto">
            <a:xfrm>
              <a:off x="6629400" y="2286000"/>
              <a:ext cx="1682680" cy="765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latin typeface="Calibri" panose="020F0502020204030204" pitchFamily="34" charset="0"/>
                </a:rPr>
                <a:t>Patient being</a:t>
              </a:r>
            </a:p>
            <a:p>
              <a:pPr eaLnBrk="1" hangingPunct="1"/>
              <a:r>
                <a:rPr lang="en-US" sz="1400">
                  <a:latin typeface="Calibri" panose="020F0502020204030204" pitchFamily="34" charset="0"/>
                </a:rPr>
                <a:t>registered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rot="10800000">
              <a:off x="5874316" y="2018480"/>
              <a:ext cx="754545" cy="4202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02" y="4032033"/>
            <a:ext cx="4048721" cy="187065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059" y="3676706"/>
            <a:ext cx="5827340" cy="291782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85314" y="6019196"/>
            <a:ext cx="43609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See ‘Module 2.1 -</a:t>
            </a:r>
            <a:r>
              <a:rPr lang="en-US" i="1" dirty="0"/>
              <a:t>Simple Queue.xlsx</a:t>
            </a:r>
            <a:r>
              <a:rPr lang="en-US" dirty="0"/>
              <a:t>’ for details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7CFC44-E552-4A60-98C5-7C8EC6007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201" y="1729996"/>
            <a:ext cx="2777761" cy="1685307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52E22EA-B97D-4074-9929-ECBEB0180A94}"/>
              </a:ext>
            </a:extLst>
          </p:cNvPr>
          <p:cNvSpPr txBox="1">
            <a:spLocks/>
          </p:cNvSpPr>
          <p:nvPr/>
        </p:nvSpPr>
        <p:spPr bwMode="auto">
          <a:xfrm>
            <a:off x="5623161" y="1811486"/>
            <a:ext cx="2777761" cy="1576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4763" eaLnBrk="0" hangingPunct="0">
              <a:spcBef>
                <a:spcPct val="20000"/>
              </a:spcBef>
              <a:defRPr/>
            </a:pPr>
            <a:r>
              <a:rPr lang="en-US" sz="2000" kern="0" dirty="0" err="1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Interarrival</a:t>
            </a:r>
            <a:r>
              <a:rPr lang="en-US" sz="2000" kern="0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times and service times are typically random (need to specify probability distributions for them)</a:t>
            </a:r>
          </a:p>
        </p:txBody>
      </p:sp>
    </p:spTree>
    <p:extLst>
      <p:ext uri="{BB962C8B-B14F-4D97-AF65-F5344CB8AC3E}">
        <p14:creationId xmlns:p14="http://schemas.microsoft.com/office/powerpoint/2010/main" val="294141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single-server queueing system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Often interested in output performance measures (metrics), like</a:t>
            </a:r>
          </a:p>
          <a:p>
            <a:pPr lvl="1"/>
            <a:r>
              <a:rPr lang="en-US" dirty="0"/>
              <a:t>Total number of patients going from entry to exit over a fixed time period</a:t>
            </a:r>
          </a:p>
          <a:p>
            <a:pPr lvl="1"/>
            <a:r>
              <a:rPr lang="en-US" dirty="0"/>
              <a:t>Average time in queue (waiting time), not counting service time</a:t>
            </a:r>
          </a:p>
          <a:p>
            <a:pPr lvl="1"/>
            <a:r>
              <a:rPr lang="en-US" dirty="0"/>
              <a:t>Maximum time in queue, Time-average number of parts in queue </a:t>
            </a:r>
          </a:p>
          <a:p>
            <a:pPr lvl="1"/>
            <a:r>
              <a:rPr lang="en-US" dirty="0"/>
              <a:t>Maximum number of patients in queue over a fixed time period</a:t>
            </a:r>
          </a:p>
          <a:p>
            <a:pPr lvl="1"/>
            <a:r>
              <a:rPr lang="en-US" dirty="0"/>
              <a:t>Average patient time in system, Maximum patient time in system</a:t>
            </a:r>
          </a:p>
          <a:p>
            <a:pPr lvl="1"/>
            <a:r>
              <a:rPr lang="en-US" dirty="0"/>
              <a:t>Utilization of the server (proportion of time busy)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740802" y="1712694"/>
            <a:ext cx="4665784" cy="1670538"/>
            <a:chOff x="1256495" y="685800"/>
            <a:chExt cx="7055585" cy="2412291"/>
          </a:xfrm>
        </p:grpSpPr>
        <p:sp>
          <p:nvSpPr>
            <p:cNvPr id="6" name="TextBox 7"/>
            <p:cNvSpPr txBox="1">
              <a:spLocks noChangeArrowheads="1"/>
            </p:cNvSpPr>
            <p:nvPr/>
          </p:nvSpPr>
          <p:spPr bwMode="auto">
            <a:xfrm>
              <a:off x="2501503" y="685800"/>
              <a:ext cx="1914401" cy="495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600">
                  <a:latin typeface="Calibri" panose="020F0502020204030204" pitchFamily="34" charset="0"/>
                </a:rPr>
                <a:t>Registration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295964" y="1904715"/>
              <a:ext cx="1218881" cy="2321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2558958" y="1106036"/>
              <a:ext cx="3942212" cy="188525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416945" y="1505376"/>
              <a:ext cx="914742" cy="91476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530708" y="1619140"/>
              <a:ext cx="684895" cy="68491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557923" y="1619140"/>
              <a:ext cx="687217" cy="68491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759266" y="1619140"/>
              <a:ext cx="684896" cy="68491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958287" y="1619140"/>
              <a:ext cx="687217" cy="68491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5400000">
              <a:off x="3131248" y="2477025"/>
              <a:ext cx="227531" cy="232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243853" y="2591951"/>
              <a:ext cx="1657679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>
              <a:off x="4787766" y="2475864"/>
              <a:ext cx="229853" cy="232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9"/>
            <p:cNvSpPr txBox="1">
              <a:spLocks noChangeArrowheads="1"/>
            </p:cNvSpPr>
            <p:nvPr/>
          </p:nvSpPr>
          <p:spPr bwMode="auto">
            <a:xfrm>
              <a:off x="3758804" y="2647950"/>
              <a:ext cx="985150" cy="450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latin typeface="Calibri" panose="020F0502020204030204" pitchFamily="34" charset="0"/>
                </a:rPr>
                <a:t>Queue</a:t>
              </a:r>
            </a:p>
          </p:txBody>
        </p:sp>
        <p:sp>
          <p:nvSpPr>
            <p:cNvPr id="19" name="TextBox 21"/>
            <p:cNvSpPr txBox="1">
              <a:spLocks noChangeArrowheads="1"/>
            </p:cNvSpPr>
            <p:nvPr/>
          </p:nvSpPr>
          <p:spPr bwMode="auto">
            <a:xfrm>
              <a:off x="5284909" y="1129078"/>
              <a:ext cx="1304092" cy="450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latin typeface="Calibri" panose="020F0502020204030204" pitchFamily="34" charset="0"/>
                </a:rPr>
                <a:t>Reg. Desk</a:t>
              </a:r>
            </a:p>
          </p:txBody>
        </p:sp>
        <p:sp>
          <p:nvSpPr>
            <p:cNvPr id="20" name="TextBox 22"/>
            <p:cNvSpPr txBox="1">
              <a:spLocks noChangeArrowheads="1"/>
            </p:cNvSpPr>
            <p:nvPr/>
          </p:nvSpPr>
          <p:spPr bwMode="auto">
            <a:xfrm>
              <a:off x="1256495" y="1217735"/>
              <a:ext cx="1142043" cy="765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400">
                  <a:latin typeface="Calibri" panose="020F0502020204030204" pitchFamily="34" charset="0"/>
                </a:rPr>
                <a:t>Arriving</a:t>
              </a:r>
            </a:p>
            <a:p>
              <a:pPr algn="ctr" eaLnBrk="1" hangingPunct="1"/>
              <a:r>
                <a:rPr lang="en-US" sz="1400">
                  <a:latin typeface="Calibri" panose="020F0502020204030204" pitchFamily="34" charset="0"/>
                </a:rPr>
                <a:t>patients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6501170" y="1904715"/>
              <a:ext cx="1258350" cy="2321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6"/>
            <p:cNvSpPr txBox="1">
              <a:spLocks noChangeArrowheads="1"/>
            </p:cNvSpPr>
            <p:nvPr/>
          </p:nvSpPr>
          <p:spPr bwMode="auto">
            <a:xfrm>
              <a:off x="6452084" y="1219199"/>
              <a:ext cx="1332134" cy="765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1400">
                  <a:latin typeface="Calibri" panose="020F0502020204030204" pitchFamily="34" charset="0"/>
                </a:rPr>
                <a:t>Departing</a:t>
              </a:r>
            </a:p>
            <a:p>
              <a:pPr algn="ctr" eaLnBrk="1" hangingPunct="1"/>
              <a:r>
                <a:rPr lang="en-US" sz="1400">
                  <a:latin typeface="Calibri" panose="020F0502020204030204" pitchFamily="34" charset="0"/>
                </a:rPr>
                <a:t>patients</a:t>
              </a:r>
            </a:p>
          </p:txBody>
        </p:sp>
        <p:sp>
          <p:nvSpPr>
            <p:cNvPr id="23" name="TextBox 27"/>
            <p:cNvSpPr txBox="1">
              <a:spLocks noChangeArrowheads="1"/>
            </p:cNvSpPr>
            <p:nvPr/>
          </p:nvSpPr>
          <p:spPr bwMode="auto">
            <a:xfrm>
              <a:off x="6629400" y="2286000"/>
              <a:ext cx="1682680" cy="765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latin typeface="Calibri" panose="020F0502020204030204" pitchFamily="34" charset="0"/>
                </a:rPr>
                <a:t>Patient being</a:t>
              </a:r>
            </a:p>
            <a:p>
              <a:pPr eaLnBrk="1" hangingPunct="1"/>
              <a:r>
                <a:rPr lang="en-US" sz="1400">
                  <a:latin typeface="Calibri" panose="020F0502020204030204" pitchFamily="34" charset="0"/>
                </a:rPr>
                <a:t>registered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rot="10800000">
              <a:off x="5874316" y="2018480"/>
              <a:ext cx="754545" cy="4202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914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5647821" cy="4864530"/>
          </a:xfrm>
        </p:spPr>
        <p:txBody>
          <a:bodyPr>
            <a:normAutofit/>
          </a:bodyPr>
          <a:lstStyle/>
          <a:p>
            <a:r>
              <a:rPr lang="en-US" dirty="0"/>
              <a:t>A larger queueing system (network) example: Urgent-care clinic</a:t>
            </a:r>
          </a:p>
          <a:p>
            <a:pPr lvl="1"/>
            <a:r>
              <a:rPr lang="en-US" dirty="0"/>
              <a:t>5 service stations (each is a node of the network)</a:t>
            </a:r>
          </a:p>
          <a:p>
            <a:pPr lvl="2"/>
            <a:r>
              <a:rPr lang="en-US" dirty="0"/>
              <a:t>When there are multiple servers in a node, a single queue feeds them (rather than having separate queues for each individual server)</a:t>
            </a:r>
          </a:p>
          <a:p>
            <a:pPr lvl="2"/>
            <a:r>
              <a:rPr lang="en-US" dirty="0"/>
              <a:t>The arcs define the probabilities that a patient will follow them</a:t>
            </a:r>
          </a:p>
          <a:p>
            <a:pPr lvl="2"/>
            <a:r>
              <a:rPr lang="en-US" dirty="0"/>
              <a:t>An entity is waiting in queue if it is waiting in the line but not in service</a:t>
            </a:r>
          </a:p>
          <a:p>
            <a:pPr lvl="3"/>
            <a:r>
              <a:rPr lang="en-US" dirty="0"/>
              <a:t>In Exam-Rooms station: </a:t>
            </a:r>
          </a:p>
          <a:p>
            <a:pPr lvl="4"/>
            <a:r>
              <a:rPr lang="en-US" dirty="0"/>
              <a:t>There are 7 patients – 4 in queue, 3 in service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26" name="Content Placeholder 6" descr="open_queueing_syste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2131108"/>
            <a:ext cx="5899011" cy="355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8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5483090" cy="4864530"/>
          </a:xfrm>
        </p:spPr>
        <p:txBody>
          <a:bodyPr>
            <a:normAutofit/>
          </a:bodyPr>
          <a:lstStyle/>
          <a:p>
            <a:r>
              <a:rPr lang="en-US" dirty="0"/>
              <a:t>A larger queueing system example: Urgent-care clinic</a:t>
            </a:r>
          </a:p>
          <a:p>
            <a:pPr lvl="1"/>
            <a:r>
              <a:rPr lang="en-US" dirty="0"/>
              <a:t>Some questions:</a:t>
            </a:r>
          </a:p>
          <a:p>
            <a:pPr lvl="2"/>
            <a:r>
              <a:rPr lang="en-US" dirty="0"/>
              <a:t>How many staff of which type during which time periods?</a:t>
            </a:r>
          </a:p>
          <a:p>
            <a:pPr lvl="2"/>
            <a:r>
              <a:rPr lang="en-US" dirty="0"/>
              <a:t>How big should the waiting room(s) be?</a:t>
            </a:r>
          </a:p>
          <a:p>
            <a:pPr lvl="2"/>
            <a:r>
              <a:rPr lang="en-US" dirty="0"/>
              <a:t>What would be the effect on patient waits if doctors and nurses tended to decrease or increase the time they spend with patients?</a:t>
            </a:r>
          </a:p>
          <a:p>
            <a:pPr lvl="2"/>
            <a:r>
              <a:rPr lang="en-US" dirty="0"/>
              <a:t>What if 10% more patients arrived (arrival rate increased by 10%)?</a:t>
            </a:r>
          </a:p>
          <a:p>
            <a:pPr lvl="2"/>
            <a:r>
              <a:rPr lang="en-US" dirty="0"/>
              <a:t>Should we serve patients in order of their acuity, or just first-in-first-out (FIFO)?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26" name="Content Placeholder 6" descr="open_queueing_syste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4207" y="2145322"/>
            <a:ext cx="5899011" cy="355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4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 queueing system</a:t>
            </a:r>
          </a:p>
          <a:p>
            <a:pPr lvl="1"/>
            <a:r>
              <a:rPr lang="en-US" dirty="0"/>
              <a:t>Entities (like customers, patients, jobs) </a:t>
            </a:r>
            <a:r>
              <a:rPr lang="en-US" b="1" dirty="0">
                <a:solidFill>
                  <a:srgbClr val="C00000"/>
                </a:solidFill>
              </a:rPr>
              <a:t>arrive</a:t>
            </a:r>
            <a:r>
              <a:rPr lang="en-US" dirty="0"/>
              <a:t>, get served either at a single station or at several stations, may wait in queue(s), and may leave the system (if they do, it’s an open system, otherwise if they never leave it’s closed)</a:t>
            </a:r>
          </a:p>
          <a:p>
            <a:r>
              <a:rPr lang="en-US" u="sng" dirty="0">
                <a:solidFill>
                  <a:srgbClr val="C00000"/>
                </a:solidFill>
              </a:rPr>
              <a:t>Arrivals</a:t>
            </a:r>
          </a:p>
          <a:p>
            <a:pPr lvl="1"/>
            <a:r>
              <a:rPr lang="en-US" dirty="0"/>
              <a:t>The time between consecutive arrivals to a queueing system is called the </a:t>
            </a:r>
            <a:r>
              <a:rPr lang="en-US" b="1" dirty="0" err="1"/>
              <a:t>interarrival</a:t>
            </a:r>
            <a:r>
              <a:rPr lang="en-US" b="1" dirty="0"/>
              <a:t> time</a:t>
            </a:r>
          </a:p>
          <a:p>
            <a:pPr lvl="1"/>
            <a:r>
              <a:rPr lang="en-US" dirty="0"/>
              <a:t>The expected number of arrivals per unit time is referred to as the </a:t>
            </a:r>
            <a:r>
              <a:rPr lang="en-US" b="1" dirty="0"/>
              <a:t>mean arrival rate.</a:t>
            </a:r>
            <a:endParaRPr lang="en-US" dirty="0"/>
          </a:p>
          <a:p>
            <a:pPr lvl="2"/>
            <a:r>
              <a:rPr lang="en-US" dirty="0"/>
              <a:t>The symbol used for the mean arrival rate is</a:t>
            </a:r>
          </a:p>
          <a:p>
            <a:pPr marL="914400" lvl="2" indent="0">
              <a:buNone/>
            </a:pPr>
            <a:r>
              <a:rPr lang="en-US" dirty="0">
                <a:latin typeface="Symbol" pitchFamily="18" charset="2"/>
              </a:rPr>
              <a:t>	l</a:t>
            </a:r>
            <a:r>
              <a:rPr lang="en-US" dirty="0"/>
              <a:t> = Mean arrival rate for customers coming to the queueing system</a:t>
            </a:r>
            <a:r>
              <a:rPr lang="en-US" sz="1800" dirty="0"/>
              <a:t> (</a:t>
            </a:r>
            <a:r>
              <a:rPr lang="en-US" sz="1800" dirty="0">
                <a:latin typeface="Symbol" pitchFamily="18" charset="2"/>
              </a:rPr>
              <a:t>l</a:t>
            </a:r>
            <a:r>
              <a:rPr lang="en-US" sz="1800" dirty="0"/>
              <a:t> lambda)</a:t>
            </a:r>
          </a:p>
          <a:p>
            <a:pPr marL="914400" lvl="2" indent="0">
              <a:buNone/>
            </a:pPr>
            <a:r>
              <a:rPr lang="en-US" sz="1800" dirty="0"/>
              <a:t>	</a:t>
            </a:r>
            <a:r>
              <a:rPr lang="en-US" sz="1800" dirty="0">
                <a:sym typeface="Wingdings" panose="05000000000000000000" pitchFamily="2" charset="2"/>
              </a:rPr>
              <a:t>For instance, 5 customers per hour, 2 calls per minute, 12 cars per day…</a:t>
            </a:r>
            <a:endParaRPr lang="en-US" sz="1800" dirty="0"/>
          </a:p>
          <a:p>
            <a:pPr lvl="2"/>
            <a:r>
              <a:rPr lang="en-US" dirty="0"/>
              <a:t>The mean of the probability distribution of </a:t>
            </a:r>
            <a:r>
              <a:rPr lang="en-US" dirty="0" err="1"/>
              <a:t>interarrival</a:t>
            </a:r>
            <a:r>
              <a:rPr lang="en-US" dirty="0"/>
              <a:t> times is</a:t>
            </a:r>
          </a:p>
          <a:p>
            <a:pPr marL="914400" lvl="2" indent="0">
              <a:buNone/>
            </a:pPr>
            <a:r>
              <a:rPr lang="en-US" dirty="0"/>
              <a:t>	1 / </a:t>
            </a:r>
            <a:r>
              <a:rPr lang="en-US" dirty="0">
                <a:latin typeface="Symbol" pitchFamily="18" charset="2"/>
              </a:rPr>
              <a:t>l</a:t>
            </a:r>
            <a:r>
              <a:rPr lang="en-US" dirty="0"/>
              <a:t> = Expected interarrival time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For instance, 12 minutes, 30 seconds, 2 hours…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51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 a queueing system</a:t>
                </a:r>
              </a:p>
              <a:p>
                <a:pPr lvl="1"/>
                <a:r>
                  <a:rPr lang="en-US" dirty="0"/>
                  <a:t>Entities (like customers, patients, jobs) arrive, </a:t>
                </a:r>
                <a:r>
                  <a:rPr lang="en-US" b="1" dirty="0">
                    <a:solidFill>
                      <a:srgbClr val="C00000"/>
                    </a:solidFill>
                  </a:rPr>
                  <a:t>get served </a:t>
                </a:r>
                <a:r>
                  <a:rPr lang="en-US" dirty="0"/>
                  <a:t>either at a single station or at several stations, may wait in queue(s), and may leave the system (if they do, it’s an open system, otherwise if they never leave it’s closed)</a:t>
                </a:r>
              </a:p>
              <a:p>
                <a:r>
                  <a:rPr lang="en-US" u="sng" dirty="0">
                    <a:solidFill>
                      <a:srgbClr val="C00000"/>
                    </a:solidFill>
                  </a:rPr>
                  <a:t>Service</a:t>
                </a:r>
              </a:p>
              <a:p>
                <a:pPr lvl="1"/>
                <a:r>
                  <a:rPr lang="en-US" dirty="0"/>
                  <a:t>When a customer enters service, the elapsed time from the beginning to the end of the service is referred to as the </a:t>
                </a:r>
                <a:r>
                  <a:rPr lang="en-US" b="1" dirty="0"/>
                  <a:t>service time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Basic queueing models assume a particular probability distribution for service time.</a:t>
                </a:r>
              </a:p>
              <a:p>
                <a:pPr lvl="2"/>
                <a:r>
                  <a:rPr lang="en-US" dirty="0"/>
                  <a:t>The symbol used for the </a:t>
                </a:r>
                <a:r>
                  <a:rPr lang="en-US" i="1" dirty="0"/>
                  <a:t>mean</a:t>
                </a:r>
                <a:r>
                  <a:rPr lang="en-US" dirty="0"/>
                  <a:t> of the service time distribution is</a:t>
                </a:r>
                <a:br>
                  <a:rPr lang="en-US" dirty="0"/>
                </a:br>
                <a:r>
                  <a:rPr lang="en-US" dirty="0"/>
                  <a:t>	1 / </a:t>
                </a:r>
                <a:r>
                  <a:rPr lang="en-US" dirty="0">
                    <a:latin typeface="Symbol" pitchFamily="18" charset="2"/>
                  </a:rPr>
                  <a:t>m</a:t>
                </a:r>
                <a:r>
                  <a:rPr lang="en-US" dirty="0"/>
                  <a:t> = Expected service time (</a:t>
                </a:r>
                <a:r>
                  <a:rPr lang="en-US" dirty="0">
                    <a:latin typeface="Symbol" pitchFamily="18" charset="2"/>
                  </a:rPr>
                  <a:t>m</a:t>
                </a:r>
                <a:r>
                  <a:rPr lang="en-US" dirty="0"/>
                  <a:t> reads ‘mu’)</a:t>
                </a:r>
              </a:p>
              <a:p>
                <a:pPr marL="1371600" lvl="3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ym typeface="Wingdings" panose="05000000000000000000" pitchFamily="2" charset="2"/>
                  </a:rPr>
                  <a:t>For instance, 6 minutes, 1 minute (60 seconds), 4 hours…</a:t>
                </a:r>
                <a:endParaRPr lang="en-US" dirty="0"/>
              </a:p>
              <a:p>
                <a:pPr lvl="2"/>
                <a:r>
                  <a:rPr lang="en-US" dirty="0"/>
                  <a:t>The interpretation of </a:t>
                </a:r>
                <a:r>
                  <a:rPr lang="en-US" dirty="0">
                    <a:latin typeface="Symbol" pitchFamily="18" charset="2"/>
                  </a:rPr>
                  <a:t>m</a:t>
                </a:r>
                <a:r>
                  <a:rPr lang="en-US" dirty="0"/>
                  <a:t> itself is the </a:t>
                </a:r>
                <a:r>
                  <a:rPr lang="en-US" b="1" dirty="0"/>
                  <a:t>mean service rate</a:t>
                </a:r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	</a:t>
                </a:r>
                <a:r>
                  <a:rPr lang="en-US" dirty="0">
                    <a:latin typeface="Symbol" pitchFamily="18" charset="2"/>
                  </a:rPr>
                  <a:t>m</a:t>
                </a:r>
                <a:r>
                  <a:rPr lang="en-US" dirty="0"/>
                  <a:t> = Expected service completions per unit time for a single busy server</a:t>
                </a:r>
              </a:p>
              <a:p>
                <a:pPr marL="914400" lvl="2" indent="0">
                  <a:buNone/>
                </a:pPr>
                <a:r>
                  <a:rPr lang="en-US" dirty="0"/>
                  <a:t>	</a:t>
                </a:r>
                <a:r>
                  <a:rPr lang="en-US" sz="1800" dirty="0">
                    <a:sym typeface="Wingdings" panose="05000000000000000000" pitchFamily="2" charset="2"/>
                  </a:rPr>
                  <a:t>For instance, 10 per hour, 1 per minute, 6 per day…</a:t>
                </a:r>
                <a:endParaRPr lang="en-US" dirty="0"/>
              </a:p>
              <a:p>
                <a:pPr lvl="2"/>
                <a:r>
                  <a:rPr lang="en-US" b="1" dirty="0">
                    <a:solidFill>
                      <a:srgbClr val="C00000"/>
                    </a:solidFill>
                  </a:rPr>
                  <a:t>Note: </a:t>
                </a:r>
                <a:r>
                  <a:rPr lang="en-US" dirty="0">
                    <a:latin typeface="Symbol" pitchFamily="18" charset="2"/>
                  </a:rPr>
                  <a:t>m</a:t>
                </a:r>
                <a:r>
                  <a:rPr lang="en-US" dirty="0"/>
                  <a:t> is the expected number of customers a single continuously busy server can help</a:t>
                </a:r>
              </a:p>
              <a:p>
                <a:pPr lvl="3"/>
                <a:r>
                  <a:rPr lang="en-US" dirty="0"/>
                  <a:t>That is, if the server is continuously helping customers, s/he can help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of them per unit time</a:t>
                </a:r>
              </a:p>
              <a:p>
                <a:pPr lvl="3"/>
                <a:r>
                  <a:rPr lang="en-US" dirty="0"/>
                  <a:t>It is not how many customers the server will help (server might be idle!)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7" t="-3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96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a queueing system</a:t>
            </a:r>
          </a:p>
          <a:p>
            <a:pPr lvl="1"/>
            <a:r>
              <a:rPr lang="en-US" dirty="0"/>
              <a:t>Entities (like customers, patients, jobs) arrive, get served either at a single station or at several stations, may wait in </a:t>
            </a:r>
            <a:r>
              <a:rPr lang="en-US" b="1" dirty="0">
                <a:solidFill>
                  <a:srgbClr val="C00000"/>
                </a:solidFill>
              </a:rPr>
              <a:t>queue</a:t>
            </a:r>
            <a:r>
              <a:rPr lang="en-US" dirty="0"/>
              <a:t>(s), and may leave the system (if they do, it’s an open system, otherwise if they never leave it’s closed)</a:t>
            </a:r>
          </a:p>
          <a:p>
            <a:r>
              <a:rPr lang="en-US" u="sng" dirty="0">
                <a:solidFill>
                  <a:srgbClr val="C00000"/>
                </a:solidFill>
              </a:rPr>
              <a:t>Queue</a:t>
            </a:r>
          </a:p>
          <a:p>
            <a:pPr lvl="1"/>
            <a:r>
              <a:rPr lang="en-US" dirty="0"/>
              <a:t>Typically, </a:t>
            </a:r>
            <a:r>
              <a:rPr lang="en-US" u="sng" dirty="0"/>
              <a:t>a single queue defines a queuing system </a:t>
            </a:r>
            <a:r>
              <a:rPr lang="en-US" dirty="0"/>
              <a:t>(maybe a node of a network)</a:t>
            </a:r>
          </a:p>
          <a:p>
            <a:pPr lvl="2"/>
            <a:r>
              <a:rPr lang="en-US" dirty="0"/>
              <a:t>We might have multiple servers, but a single queue feeds them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So, we usually assume that a single queue “feeds” all the parallel servers, and that the servers are identical in their service speeds</a:t>
            </a:r>
          </a:p>
          <a:p>
            <a:pPr lvl="2"/>
            <a:r>
              <a:rPr lang="en-US" u="sng" dirty="0">
                <a:solidFill>
                  <a:srgbClr val="C00000"/>
                </a:solidFill>
              </a:rPr>
              <a:t>When a single queue feeds multiple services, do not multiply the service rate with the number of servers!!! Service rate is defined for a single server!!!</a:t>
            </a:r>
          </a:p>
          <a:p>
            <a:pPr lvl="1"/>
            <a:r>
              <a:rPr lang="en-US" u="sng" dirty="0"/>
              <a:t>Queue disciplines </a:t>
            </a:r>
            <a:r>
              <a:rPr lang="en-US" dirty="0"/>
              <a:t>– when an entity can leave the queue and start service, which entity gets to be the next one to be served?</a:t>
            </a:r>
          </a:p>
          <a:p>
            <a:pPr lvl="2"/>
            <a:r>
              <a:rPr lang="en-US" dirty="0"/>
              <a:t>First-in, first-out (FIFO), a.k.a. first-come, first-served (FCFS)</a:t>
            </a:r>
          </a:p>
          <a:p>
            <a:pPr lvl="2"/>
            <a:r>
              <a:rPr lang="en-US" dirty="0"/>
              <a:t>Last-in, first-out (LIFO) – a “stack” of physical or logical objects</a:t>
            </a:r>
          </a:p>
          <a:p>
            <a:pPr lvl="2"/>
            <a:r>
              <a:rPr lang="en-US" dirty="0"/>
              <a:t>Priority – Shortest Job First (SJF); or Maximum Value First (MVF)</a:t>
            </a:r>
          </a:p>
          <a:p>
            <a:pPr lvl="2"/>
            <a:r>
              <a:rPr lang="en-US" dirty="0"/>
              <a:t>Many others are possible…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074" y="5406364"/>
            <a:ext cx="3118338" cy="87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9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Common assumptions:</a:t>
            </a:r>
          </a:p>
          <a:p>
            <a:pPr lvl="1"/>
            <a:r>
              <a:rPr lang="en-US" i="1" dirty="0"/>
              <a:t>c</a:t>
            </a:r>
            <a:r>
              <a:rPr lang="en-US" dirty="0"/>
              <a:t> servers with a single queue with FIFO ordering</a:t>
            </a:r>
          </a:p>
          <a:p>
            <a:pPr lvl="1"/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 are IID random variables (</a:t>
            </a:r>
            <a:r>
              <a:rPr lang="en-US" b="1" i="1" dirty="0" err="1"/>
              <a:t>interarrival</a:t>
            </a:r>
            <a:r>
              <a:rPr lang="en-US" b="1" i="1" dirty="0"/>
              <a:t> times</a:t>
            </a:r>
            <a:r>
              <a:rPr lang="en-US" dirty="0"/>
              <a:t>)</a:t>
            </a:r>
          </a:p>
          <a:p>
            <a:pPr lvl="2"/>
            <a:r>
              <a:rPr lang="en-US" i="1" dirty="0"/>
              <a:t> 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/>
              <a:t> is the </a:t>
            </a:r>
            <a:r>
              <a:rPr lang="en-US" i="1" dirty="0"/>
              <a:t>arrival rate</a:t>
            </a:r>
          </a:p>
          <a:p>
            <a:pPr lvl="1"/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/>
              <a:t>S</a:t>
            </a:r>
            <a:r>
              <a:rPr lang="en-US" i="1" baseline="-25000" dirty="0"/>
              <a:t>n</a:t>
            </a:r>
            <a:r>
              <a:rPr lang="en-US" dirty="0"/>
              <a:t> are IID random variables (</a:t>
            </a:r>
            <a:r>
              <a:rPr lang="en-US" b="1" i="1" dirty="0"/>
              <a:t>service times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 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 is the </a:t>
            </a:r>
            <a:r>
              <a:rPr lang="en-US" i="1" dirty="0"/>
              <a:t>service rate</a:t>
            </a:r>
          </a:p>
          <a:p>
            <a:pPr lvl="2"/>
            <a:r>
              <a:rPr lang="en-US" i="1" dirty="0"/>
              <a:t>E(S)=1/</a:t>
            </a:r>
            <a:r>
              <a:rPr lang="en-US" i="1" dirty="0">
                <a:latin typeface="Symbol" panose="05050102010706020507" pitchFamily="18" charset="2"/>
              </a:rPr>
              <a:t> m </a:t>
            </a:r>
            <a:r>
              <a:rPr lang="en-US" i="1" dirty="0"/>
              <a:t>denotes expected service time</a:t>
            </a:r>
          </a:p>
          <a:p>
            <a:pPr lvl="1"/>
            <a:r>
              <a:rPr lang="en-US" i="1" dirty="0"/>
              <a:t>A</a:t>
            </a:r>
            <a:r>
              <a:rPr lang="en-US" dirty="0"/>
              <a:t>’s and </a:t>
            </a:r>
            <a:r>
              <a:rPr lang="en-US" i="1" dirty="0"/>
              <a:t>S</a:t>
            </a:r>
            <a:r>
              <a:rPr lang="en-US" dirty="0"/>
              <a:t>’s are independent</a:t>
            </a:r>
          </a:p>
          <a:p>
            <a:pPr lvl="1"/>
            <a:r>
              <a:rPr lang="en-US" i="1" dirty="0"/>
              <a:t> </a:t>
            </a:r>
            <a:r>
              <a:rPr lang="en-US" i="1" dirty="0">
                <a:latin typeface="Symbol" panose="05050102010706020507" pitchFamily="18" charset="2"/>
              </a:rPr>
              <a:t>r</a:t>
            </a:r>
            <a:r>
              <a:rPr lang="en-US" dirty="0"/>
              <a:t> = 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/>
              <a:t>/</a:t>
            </a:r>
            <a:r>
              <a:rPr lang="en-US" i="1" dirty="0"/>
              <a:t>c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 is the </a:t>
            </a:r>
            <a:r>
              <a:rPr lang="en-US" i="1" dirty="0"/>
              <a:t>utilization (of the server)</a:t>
            </a:r>
          </a:p>
          <a:p>
            <a:r>
              <a:rPr lang="en-US" dirty="0"/>
              <a:t>The system capacity (denoted by </a:t>
            </a:r>
            <a:r>
              <a:rPr lang="en-US" i="1" dirty="0"/>
              <a:t>k</a:t>
            </a:r>
            <a:r>
              <a:rPr lang="en-US" dirty="0"/>
              <a:t>) is the maximum number of customers that can be held in the system (those in queue plus in service).</a:t>
            </a:r>
          </a:p>
          <a:p>
            <a:pPr lvl="1"/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infinite queue </a:t>
            </a:r>
            <a:r>
              <a:rPr lang="en-US" dirty="0"/>
              <a:t>is one in which, for all practical purposes, an unlimited number of customers can be held there.</a:t>
            </a:r>
          </a:p>
          <a:p>
            <a:pPr lvl="1"/>
            <a:r>
              <a:rPr lang="en-US" dirty="0"/>
              <a:t>When the capacity is small enough that it needs to be taken into account, then the queue is called a </a:t>
            </a:r>
            <a:r>
              <a:rPr lang="en-US" dirty="0">
                <a:solidFill>
                  <a:srgbClr val="C00000"/>
                </a:solidFill>
              </a:rPr>
              <a:t>finite queue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58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Queueing-System Structure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Kendall’s notation</a:t>
            </a:r>
            <a:r>
              <a:rPr lang="en-US" i="1" dirty="0">
                <a:solidFill>
                  <a:srgbClr val="C00000"/>
                </a:solidFill>
              </a:rPr>
              <a:t>:</a:t>
            </a:r>
          </a:p>
          <a:p>
            <a:pPr lvl="1"/>
            <a:r>
              <a:rPr lang="en-US" i="1" dirty="0"/>
              <a:t>A/B/c/k</a:t>
            </a:r>
            <a:r>
              <a:rPr lang="en-US" dirty="0"/>
              <a:t> queuing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730633" y="4322044"/>
            <a:ext cx="231493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u="sng" dirty="0"/>
              <a:t>Some samples:</a:t>
            </a:r>
          </a:p>
          <a:p>
            <a:r>
              <a:rPr lang="en-US" sz="2000" i="1" dirty="0"/>
              <a:t>M</a:t>
            </a:r>
            <a:r>
              <a:rPr lang="en-US" sz="2000" dirty="0"/>
              <a:t>/</a:t>
            </a:r>
            <a:r>
              <a:rPr lang="en-US" sz="2000" i="1" dirty="0"/>
              <a:t>M</a:t>
            </a:r>
            <a:r>
              <a:rPr lang="en-US" sz="2000" dirty="0"/>
              <a:t>/1</a:t>
            </a:r>
            <a:endParaRPr lang="en-US" sz="2000" i="1" dirty="0"/>
          </a:p>
          <a:p>
            <a:r>
              <a:rPr lang="en-US" sz="2000" i="1" dirty="0"/>
              <a:t>M</a:t>
            </a:r>
            <a:r>
              <a:rPr lang="en-US" sz="2000" dirty="0"/>
              <a:t>/</a:t>
            </a:r>
            <a:r>
              <a:rPr lang="en-US" sz="2000" i="1" dirty="0"/>
              <a:t>M</a:t>
            </a:r>
            <a:r>
              <a:rPr lang="en-US" sz="2000" dirty="0"/>
              <a:t>/</a:t>
            </a:r>
            <a:r>
              <a:rPr lang="en-US" sz="2000" i="1" dirty="0"/>
              <a:t>c</a:t>
            </a:r>
            <a:endParaRPr lang="en-US" sz="2000" dirty="0"/>
          </a:p>
          <a:p>
            <a:r>
              <a:rPr lang="en-US" sz="2000" i="1" dirty="0"/>
              <a:t>M</a:t>
            </a:r>
            <a:r>
              <a:rPr lang="en-US" sz="2000" dirty="0"/>
              <a:t>/</a:t>
            </a:r>
            <a:r>
              <a:rPr lang="en-US" sz="2000" i="1" dirty="0"/>
              <a:t>G</a:t>
            </a:r>
            <a:r>
              <a:rPr lang="en-US" sz="2000" dirty="0"/>
              <a:t>/</a:t>
            </a:r>
            <a:r>
              <a:rPr lang="en-US" sz="2000" i="1" dirty="0"/>
              <a:t>c</a:t>
            </a:r>
          </a:p>
          <a:p>
            <a:r>
              <a:rPr lang="en-US" sz="2000" i="1" dirty="0"/>
              <a:t>GI</a:t>
            </a:r>
            <a:r>
              <a:rPr lang="en-US" sz="2000" dirty="0"/>
              <a:t>/</a:t>
            </a:r>
            <a:r>
              <a:rPr lang="en-US" sz="2000" i="1" dirty="0"/>
              <a:t>G</a:t>
            </a:r>
            <a:r>
              <a:rPr lang="en-US" sz="2000" dirty="0"/>
              <a:t>/</a:t>
            </a:r>
            <a:r>
              <a:rPr lang="en-US" sz="2000" i="1" dirty="0"/>
              <a:t>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41" y="2234802"/>
            <a:ext cx="6724650" cy="885825"/>
          </a:xfrm>
          <a:prstGeom prst="rect">
            <a:avLst/>
          </a:prstGeom>
        </p:spPr>
      </p:pic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5193324" y="3457697"/>
            <a:ext cx="2595563" cy="369332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>
                <a:latin typeface="Tahoma" pitchFamily="34" charset="0"/>
              </a:rPr>
              <a:t>Dropped if infinite</a:t>
            </a: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V="1">
            <a:off x="6793524" y="2998711"/>
            <a:ext cx="111369" cy="45898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03745" y="4322044"/>
            <a:ext cx="28986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u="sng" dirty="0"/>
              <a:t>Some notation:</a:t>
            </a:r>
          </a:p>
          <a:p>
            <a:r>
              <a:rPr lang="en-US" sz="2000" dirty="0"/>
              <a:t>M = Exponential</a:t>
            </a:r>
          </a:p>
          <a:p>
            <a:r>
              <a:rPr lang="en-US" sz="2000" dirty="0" err="1"/>
              <a:t>E</a:t>
            </a:r>
            <a:r>
              <a:rPr lang="en-US" sz="2000" baseline="-25000" dirty="0" err="1"/>
              <a:t>k</a:t>
            </a:r>
            <a:r>
              <a:rPr lang="en-US" sz="2000" dirty="0"/>
              <a:t> = </a:t>
            </a:r>
            <a:r>
              <a:rPr lang="en-US" sz="2000" dirty="0" err="1"/>
              <a:t>Erlang</a:t>
            </a:r>
            <a:r>
              <a:rPr lang="en-US" sz="2000" dirty="0"/>
              <a:t>-k</a:t>
            </a:r>
          </a:p>
          <a:p>
            <a:r>
              <a:rPr lang="en-US" sz="2000" dirty="0"/>
              <a:t>U = Uniform</a:t>
            </a:r>
          </a:p>
          <a:p>
            <a:r>
              <a:rPr lang="en-US" sz="2000" dirty="0"/>
              <a:t>G = General</a:t>
            </a:r>
          </a:p>
          <a:p>
            <a:r>
              <a:rPr lang="en-US" sz="2000" dirty="0"/>
              <a:t>D = Deterministic</a:t>
            </a:r>
          </a:p>
        </p:txBody>
      </p:sp>
    </p:spTree>
    <p:extLst>
      <p:ext uri="{BB962C8B-B14F-4D97-AF65-F5344CB8AC3E}">
        <p14:creationId xmlns:p14="http://schemas.microsoft.com/office/powerpoint/2010/main" val="311775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60CE-2BF3-667D-B012-CB03F0324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68CE-383E-4C78-1EAB-E2AD139A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BA1C-46A7-50F4-6349-A576D88A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2" y="1312433"/>
            <a:ext cx="9271219" cy="48645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Queueing-System Structure and Terminology</a:t>
            </a:r>
          </a:p>
          <a:p>
            <a:r>
              <a:rPr lang="en-US" dirty="0"/>
              <a:t>Key Performance Measures, Little’s Law, and Other Relations</a:t>
            </a:r>
          </a:p>
          <a:p>
            <a:r>
              <a:rPr lang="en-US" dirty="0">
                <a:solidFill>
                  <a:schemeClr val="bg2"/>
                </a:solidFill>
              </a:rPr>
              <a:t>Some Queueing Systems </a:t>
            </a:r>
          </a:p>
          <a:p>
            <a:r>
              <a:rPr lang="en-US" dirty="0">
                <a:solidFill>
                  <a:schemeClr val="bg2"/>
                </a:solidFill>
              </a:rPr>
              <a:t>M/M/1 Derivations </a:t>
            </a:r>
          </a:p>
          <a:p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Review of Queueing Basics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 Case Study and Key Insights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698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Choosing a performance measure</a:t>
            </a:r>
          </a:p>
          <a:p>
            <a:pPr lvl="1" eaLnBrk="1" hangingPunct="1"/>
            <a:r>
              <a:rPr lang="en-US" dirty="0"/>
              <a:t>Managers who oversee queueing systems are typically concerned with two measures of performance:</a:t>
            </a:r>
          </a:p>
          <a:p>
            <a:pPr marL="1619250" lvl="3" indent="-304800"/>
            <a:r>
              <a:rPr lang="en-US" dirty="0"/>
              <a:t>How many customers typically are waiting in the </a:t>
            </a:r>
            <a:r>
              <a:rPr lang="en-US" dirty="0" err="1"/>
              <a:t>queueing</a:t>
            </a:r>
            <a:r>
              <a:rPr lang="en-US" dirty="0"/>
              <a:t> system?</a:t>
            </a:r>
          </a:p>
          <a:p>
            <a:pPr marL="1619250" lvl="3" indent="-304800"/>
            <a:r>
              <a:rPr lang="en-US" dirty="0"/>
              <a:t>How long do these customers typically have to wait?</a:t>
            </a:r>
          </a:p>
          <a:p>
            <a:pPr lvl="1" eaLnBrk="1" hangingPunct="1"/>
            <a:r>
              <a:rPr lang="en-US" dirty="0"/>
              <a:t>When customers are internal to the organization,  the first measure tends to be more important.</a:t>
            </a:r>
          </a:p>
          <a:p>
            <a:pPr marL="1162050" lvl="2" indent="-304800"/>
            <a:r>
              <a:rPr lang="en-US" dirty="0"/>
              <a:t>Having such customers wait causes </a:t>
            </a:r>
            <a:r>
              <a:rPr lang="en-US" i="1" dirty="0"/>
              <a:t>lost productivity</a:t>
            </a:r>
            <a:r>
              <a:rPr lang="en-US" dirty="0"/>
              <a:t>.</a:t>
            </a:r>
          </a:p>
          <a:p>
            <a:pPr lvl="1" eaLnBrk="1" hangingPunct="1"/>
            <a:r>
              <a:rPr lang="en-US" dirty="0"/>
              <a:t>Commercial service systems tend to place greater importance on the second measure.</a:t>
            </a:r>
          </a:p>
          <a:p>
            <a:pPr marL="1162050" lvl="2" indent="-304800"/>
            <a:r>
              <a:rPr lang="en-US" dirty="0"/>
              <a:t>Outside customers are typically more concerned with how long </a:t>
            </a:r>
            <a:r>
              <a:rPr lang="en-US" i="1" dirty="0"/>
              <a:t>they</a:t>
            </a:r>
            <a:r>
              <a:rPr lang="en-US" dirty="0"/>
              <a:t> have to wait than with how many customers are there.</a:t>
            </a:r>
          </a:p>
          <a:p>
            <a:pPr marL="1162050" lvl="2" indent="-304800"/>
            <a:endParaRPr lang="en-US" dirty="0"/>
          </a:p>
          <a:p>
            <a:pPr marL="704850" lvl="1" indent="-304800"/>
            <a:r>
              <a:rPr lang="en-US" dirty="0"/>
              <a:t>Many other metrics can be used: cost, profit, safety, sustainability…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6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C00000"/>
                </a:solidFill>
              </a:rPr>
              <a:t>Key performance metrics:</a:t>
            </a:r>
          </a:p>
          <a:p>
            <a:pPr lvl="1"/>
            <a:r>
              <a:rPr lang="en-US" i="1" dirty="0"/>
              <a:t>L</a:t>
            </a:r>
            <a:r>
              <a:rPr lang="en-US" dirty="0"/>
              <a:t>	= Expected </a:t>
            </a:r>
            <a:r>
              <a:rPr lang="en-US" b="1" dirty="0"/>
              <a:t>number of customers in the system</a:t>
            </a:r>
            <a:r>
              <a:rPr lang="en-US" dirty="0"/>
              <a:t>, including those being served </a:t>
            </a:r>
          </a:p>
          <a:p>
            <a:pPr lvl="2"/>
            <a:r>
              <a:rPr lang="en-US" i="1" dirty="0"/>
              <a:t>L(t) </a:t>
            </a:r>
            <a:r>
              <a:rPr lang="en-US" dirty="0"/>
              <a:t>is the exact number of customers in the system at moment </a:t>
            </a:r>
            <a:r>
              <a:rPr lang="en-US" i="1" dirty="0"/>
              <a:t>t</a:t>
            </a:r>
          </a:p>
          <a:p>
            <a:pPr lvl="1"/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dirty="0"/>
              <a:t>= </a:t>
            </a:r>
            <a:r>
              <a:rPr lang="en-US" dirty="0"/>
              <a:t>Expected </a:t>
            </a:r>
            <a:r>
              <a:rPr lang="en-US" b="1" dirty="0"/>
              <a:t>number of customers in the queue</a:t>
            </a:r>
            <a:r>
              <a:rPr lang="en-US" dirty="0"/>
              <a:t>, excludes customers being served.</a:t>
            </a:r>
          </a:p>
          <a:p>
            <a:pPr lvl="2"/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dirty="0"/>
              <a:t>(t) </a:t>
            </a:r>
            <a:r>
              <a:rPr lang="en-US" dirty="0"/>
              <a:t>is the exact number of customers in the queue at moment </a:t>
            </a:r>
            <a:r>
              <a:rPr lang="en-US" i="1" dirty="0"/>
              <a:t>t</a:t>
            </a:r>
          </a:p>
          <a:p>
            <a:pPr lvl="1"/>
            <a:r>
              <a:rPr lang="en-US" i="1" dirty="0"/>
              <a:t>W </a:t>
            </a:r>
            <a:r>
              <a:rPr lang="en-US" dirty="0"/>
              <a:t>= Expected </a:t>
            </a:r>
            <a:r>
              <a:rPr lang="en-US" b="1" dirty="0"/>
              <a:t>waiting time in the system</a:t>
            </a:r>
            <a:r>
              <a:rPr lang="en-US" dirty="0"/>
              <a:t> (including service time) for an individual customer</a:t>
            </a:r>
          </a:p>
          <a:p>
            <a:pPr lvl="1"/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i="1" baseline="-25000" dirty="0"/>
              <a:t> </a:t>
            </a:r>
            <a:r>
              <a:rPr lang="en-US" dirty="0"/>
              <a:t>= Expected </a:t>
            </a:r>
            <a:r>
              <a:rPr lang="en-US" b="1" dirty="0"/>
              <a:t>waiting time in the queue</a:t>
            </a:r>
            <a:r>
              <a:rPr lang="en-US" dirty="0"/>
              <a:t> (excludes service time) for an individual customer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ρ = </a:t>
            </a:r>
            <a:r>
              <a:rPr lang="en-US" b="1" dirty="0"/>
              <a:t>Utilization of a server</a:t>
            </a:r>
            <a:r>
              <a:rPr lang="en-US" dirty="0"/>
              <a:t>, or of a group of parallel identical servers, the time-average number of individual servers in the group who are busy</a:t>
            </a:r>
          </a:p>
          <a:p>
            <a:pPr lvl="2"/>
            <a:r>
              <a:rPr lang="en-US" u="sng" dirty="0">
                <a:solidFill>
                  <a:srgbClr val="C00000"/>
                </a:solidFill>
              </a:rPr>
              <a:t>Note 1: </a:t>
            </a:r>
            <a:r>
              <a:rPr lang="en-US" dirty="0"/>
              <a:t>These definitions assume that the queueing system is in a steady-state condition (i.e., </a:t>
            </a:r>
            <a:r>
              <a:rPr lang="en-US" dirty="0">
                <a:ea typeface="ＭＳ Ｐゴシック" pitchFamily="16" charset="-128"/>
              </a:rPr>
              <a:t>not start-up, not temporary rush hour</a:t>
            </a:r>
            <a:r>
              <a:rPr lang="en-US" dirty="0"/>
              <a:t>)</a:t>
            </a:r>
          </a:p>
          <a:p>
            <a:pPr lvl="2"/>
            <a:r>
              <a:rPr lang="en-US" u="sng" dirty="0">
                <a:solidFill>
                  <a:srgbClr val="C00000"/>
                </a:solidFill>
              </a:rPr>
              <a:t>Note 2: </a:t>
            </a:r>
            <a:r>
              <a:rPr lang="en-US" dirty="0"/>
              <a:t>When we have a queueing network, these performance metrics can be defined for a node/station (a single queueing system by itself) or for the overall system</a:t>
            </a:r>
          </a:p>
        </p:txBody>
      </p:sp>
    </p:spTree>
    <p:extLst>
      <p:ext uri="{BB962C8B-B14F-4D97-AF65-F5344CB8AC3E}">
        <p14:creationId xmlns:p14="http://schemas.microsoft.com/office/powerpoint/2010/main" val="204206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and Other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The key performance metrics are related to each other:</a:t>
                </a:r>
              </a:p>
              <a:p>
                <a:pPr lvl="1"/>
                <a:r>
                  <a:rPr lang="en-US" dirty="0"/>
                  <a:t>Recall that</a:t>
                </a:r>
              </a:p>
              <a:p>
                <a:pPr lvl="2"/>
                <a:r>
                  <a:rPr lang="en-US" i="1" dirty="0">
                    <a:latin typeface="Symbol" panose="05050102010706020507" pitchFamily="18" charset="2"/>
                  </a:rPr>
                  <a:t>l</a:t>
                </a:r>
                <a:r>
                  <a:rPr lang="en-US" dirty="0"/>
                  <a:t> is the arrival rate</a:t>
                </a:r>
                <a:r>
                  <a:rPr lang="en-US" i="1" dirty="0"/>
                  <a:t>, </a:t>
                </a:r>
                <a:r>
                  <a:rPr lang="en-US" i="1" dirty="0">
                    <a:latin typeface="Symbol" panose="05050102010706020507" pitchFamily="18" charset="2"/>
                  </a:rPr>
                  <a:t>m</a:t>
                </a:r>
                <a:r>
                  <a:rPr lang="en-US" dirty="0"/>
                  <a:t> is the service rate, and </a:t>
                </a:r>
                <a:r>
                  <a:rPr lang="en-US" i="1" dirty="0"/>
                  <a:t>E(S)=1/</a:t>
                </a:r>
                <a:r>
                  <a:rPr lang="en-US" i="1" dirty="0">
                    <a:latin typeface="Symbol" panose="05050102010706020507" pitchFamily="18" charset="2"/>
                  </a:rPr>
                  <a:t> m </a:t>
                </a:r>
                <a:r>
                  <a:rPr lang="en-US" dirty="0"/>
                  <a:t>is the expected service time</a:t>
                </a:r>
              </a:p>
              <a:p>
                <a:pPr lvl="2"/>
                <a:r>
                  <a:rPr lang="en-US" i="1" dirty="0"/>
                  <a:t>L </a:t>
                </a:r>
                <a:r>
                  <a:rPr lang="en-US" dirty="0"/>
                  <a:t>= Expected </a:t>
                </a:r>
                <a:r>
                  <a:rPr lang="en-US" b="1" dirty="0"/>
                  <a:t>number of customers in the system</a:t>
                </a:r>
                <a:r>
                  <a:rPr lang="en-US" dirty="0"/>
                  <a:t>, including those being served </a:t>
                </a:r>
              </a:p>
              <a:p>
                <a:pPr lvl="2"/>
                <a:r>
                  <a:rPr lang="en-US" i="1" dirty="0" err="1"/>
                  <a:t>L</a:t>
                </a:r>
                <a:r>
                  <a:rPr lang="en-US" i="1" baseline="-25000" dirty="0" err="1"/>
                  <a:t>q</a:t>
                </a:r>
                <a:r>
                  <a:rPr lang="en-US" i="1" dirty="0"/>
                  <a:t>= </a:t>
                </a:r>
                <a:r>
                  <a:rPr lang="en-US" dirty="0"/>
                  <a:t>Expected </a:t>
                </a:r>
                <a:r>
                  <a:rPr lang="en-US" b="1" dirty="0"/>
                  <a:t>number of customers in the queue</a:t>
                </a:r>
                <a:r>
                  <a:rPr lang="en-US" dirty="0"/>
                  <a:t>, excludes customers being served.</a:t>
                </a:r>
              </a:p>
              <a:p>
                <a:pPr lvl="2"/>
                <a:r>
                  <a:rPr lang="en-US" i="1" dirty="0"/>
                  <a:t>W </a:t>
                </a:r>
                <a:r>
                  <a:rPr lang="en-US" dirty="0"/>
                  <a:t>= Expected </a:t>
                </a:r>
                <a:r>
                  <a:rPr lang="en-US" b="1" dirty="0"/>
                  <a:t>waiting time in the system</a:t>
                </a:r>
                <a:r>
                  <a:rPr lang="en-US" dirty="0"/>
                  <a:t> (including service time) for an individual customer</a:t>
                </a:r>
              </a:p>
              <a:p>
                <a:pPr lvl="2"/>
                <a:r>
                  <a:rPr lang="en-US" i="1" dirty="0" err="1"/>
                  <a:t>W</a:t>
                </a:r>
                <a:r>
                  <a:rPr lang="en-US" i="1" baseline="-25000" dirty="0" err="1"/>
                  <a:t>q</a:t>
                </a:r>
                <a:r>
                  <a:rPr lang="en-US" i="1" baseline="-25000" dirty="0"/>
                  <a:t> </a:t>
                </a:r>
                <a:r>
                  <a:rPr lang="en-US" dirty="0"/>
                  <a:t>= Expected </a:t>
                </a:r>
                <a:r>
                  <a:rPr lang="en-US" b="1" dirty="0"/>
                  <a:t>waiting time in the queue</a:t>
                </a:r>
                <a:r>
                  <a:rPr lang="en-US" dirty="0"/>
                  <a:t> (excludes service time) for an individual customer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First note that waiting time in the system includes waiting time in the queue plus the service time for an individual customer. Therefore, by definition: </a:t>
                </a:r>
                <a:r>
                  <a:rPr lang="en-US" i="1" dirty="0"/>
                  <a:t>W&gt; </a:t>
                </a:r>
                <a:r>
                  <a:rPr lang="en-US" i="1" dirty="0" err="1"/>
                  <a:t>W</a:t>
                </a:r>
                <a:r>
                  <a:rPr lang="en-US" i="1" baseline="-25000" dirty="0" err="1"/>
                  <a:t>q</a:t>
                </a:r>
                <a:r>
                  <a:rPr lang="en-US" i="1" baseline="-25000" dirty="0"/>
                  <a:t> </a:t>
                </a:r>
                <a:r>
                  <a:rPr lang="en-US" dirty="0"/>
                  <a:t>and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 r="-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71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and Other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34236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The key performance metrics are related to each other:</a:t>
                </a:r>
              </a:p>
              <a:p>
                <a:pPr lvl="1"/>
                <a:r>
                  <a:rPr lang="en-US" dirty="0"/>
                  <a:t>How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dirty="0"/>
                  <a:t>? By definition, we can note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Suppose that there is one server,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r>
                  <a:rPr lang="en-US" dirty="0"/>
                  <a:t>NO. It is not. Because L (expected number of customers in the system) is equal to </a:t>
                </a:r>
                <a:r>
                  <a:rPr lang="en-US" dirty="0" err="1"/>
                  <a:t>Lq</a:t>
                </a:r>
                <a:r>
                  <a:rPr lang="en-US" dirty="0"/>
                  <a:t> (expected number of customers in the queue) plus expected number of customers with the single server</a:t>
                </a:r>
              </a:p>
              <a:p>
                <a:pPr lvl="3"/>
                <a:r>
                  <a:rPr lang="en-US" dirty="0"/>
                  <a:t>The server is not 100% busy, so expected number of customers with the server cannot be 1</a:t>
                </a:r>
              </a:p>
              <a:p>
                <a:r>
                  <a:rPr lang="en-US" b="1" u="sng" dirty="0">
                    <a:solidFill>
                      <a:srgbClr val="C00000"/>
                    </a:solidFill>
                  </a:rPr>
                  <a:t>Little’s Law:</a:t>
                </a:r>
              </a:p>
              <a:p>
                <a:endParaRPr lang="en-US" dirty="0"/>
              </a:p>
              <a:p>
                <a:pPr lvl="2"/>
                <a:r>
                  <a:rPr lang="en-US" dirty="0">
                    <a:solidFill>
                      <a:srgbClr val="C00000"/>
                    </a:solidFill>
                  </a:rPr>
                  <a:t>Intuition: </a:t>
                </a:r>
                <a:r>
                  <a:rPr lang="en-US" dirty="0"/>
                  <a:t>Since L is the expected number customers in the queueing system at any time, a customer looking back at the system after completing service should see L customers on average</a:t>
                </a:r>
              </a:p>
              <a:p>
                <a:pPr lvl="2"/>
                <a:r>
                  <a:rPr lang="en-US" dirty="0"/>
                  <a:t>Under FIFO, all L customers would have arrived during this customer’s waiting time in the queueing system, this waiting time is W on average</a:t>
                </a:r>
              </a:p>
              <a:p>
                <a:pPr lvl="2"/>
                <a:r>
                  <a:rPr lang="en-US" dirty="0"/>
                  <a:t>Since </a:t>
                </a:r>
                <a:r>
                  <a:rPr lang="en-US" dirty="0">
                    <a:latin typeface="Symbol" pitchFamily="18" charset="2"/>
                  </a:rPr>
                  <a:t>l</a:t>
                </a:r>
                <a:r>
                  <a:rPr lang="en-US" dirty="0"/>
                  <a:t> is the expected number of arrivals per unit time, </a:t>
                </a:r>
                <a:r>
                  <a:rPr lang="en-US" dirty="0" err="1">
                    <a:latin typeface="Symbol" pitchFamily="18" charset="2"/>
                  </a:rPr>
                  <a:t>l</a:t>
                </a:r>
                <a:r>
                  <a:rPr lang="en-US" i="1" dirty="0" err="1"/>
                  <a:t>W</a:t>
                </a:r>
                <a:r>
                  <a:rPr lang="en-US" i="1" dirty="0"/>
                  <a:t> </a:t>
                </a:r>
                <a:r>
                  <a:rPr lang="en-US" dirty="0"/>
                  <a:t>customers arrive from the moment the customer enters the system until the moment s/he leaves the system</a:t>
                </a:r>
              </a:p>
              <a:p>
                <a:pPr lvl="2"/>
                <a:r>
                  <a:rPr lang="en-US" dirty="0"/>
                  <a:t>Thus</a:t>
                </a:r>
                <a:r>
                  <a:rPr lang="en-US" i="1" dirty="0"/>
                  <a:t> L</a:t>
                </a:r>
                <a:r>
                  <a:rPr lang="en-US" dirty="0"/>
                  <a:t> = </a:t>
                </a:r>
                <a:r>
                  <a:rPr lang="en-US" dirty="0" err="1">
                    <a:latin typeface="Symbol" pitchFamily="18" charset="2"/>
                  </a:rPr>
                  <a:t>l</a:t>
                </a:r>
                <a:r>
                  <a:rPr lang="en-US" i="1" dirty="0" err="1"/>
                  <a:t>W</a:t>
                </a:r>
                <a:r>
                  <a:rPr lang="en-US" i="1" dirty="0"/>
                  <a:t> </a:t>
                </a:r>
              </a:p>
              <a:p>
                <a:pPr lvl="2"/>
                <a:r>
                  <a:rPr lang="en-US" dirty="0"/>
                  <a:t>Similar argument holds for</a:t>
                </a:r>
                <a:r>
                  <a:rPr lang="en-US" i="1" dirty="0"/>
                  <a:t> </a:t>
                </a:r>
                <a:r>
                  <a:rPr lang="en-US" i="1" dirty="0" err="1"/>
                  <a:t>L</a:t>
                </a:r>
                <a:r>
                  <a:rPr lang="en-US" i="1" baseline="-25000" dirty="0" err="1"/>
                  <a:t>q</a:t>
                </a:r>
                <a:r>
                  <a:rPr lang="en-US" i="1" dirty="0"/>
                  <a:t> </a:t>
                </a:r>
                <a:r>
                  <a:rPr lang="en-US" dirty="0"/>
                  <a:t>= </a:t>
                </a:r>
                <a:r>
                  <a:rPr lang="en-US" i="1" dirty="0" err="1">
                    <a:latin typeface="Symbol" pitchFamily="18" charset="2"/>
                  </a:rPr>
                  <a:t>l</a:t>
                </a:r>
                <a:r>
                  <a:rPr lang="en-US" i="1" dirty="0" err="1"/>
                  <a:t>W</a:t>
                </a:r>
                <a:r>
                  <a:rPr lang="en-US" i="1" baseline="-25000" dirty="0" err="1"/>
                  <a:t>q</a:t>
                </a:r>
                <a:endParaRPr lang="en-US" dirty="0"/>
              </a:p>
              <a:p>
                <a:pPr lvl="2"/>
                <a:r>
                  <a:rPr lang="en-US" dirty="0"/>
                  <a:t>Mathematical proof? See, e.g., </a:t>
                </a:r>
                <a:r>
                  <a:rPr lang="en-US" dirty="0">
                    <a:hlinkClick r:id="rId2"/>
                  </a:rPr>
                  <a:t>http://www.columbia.edu/~ks20/stochastic-I/stochastic-I-LL.pdf</a:t>
                </a:r>
                <a:r>
                  <a:rPr lang="en-US" dirty="0"/>
                  <a:t> </a:t>
                </a: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342367"/>
              </a:xfrm>
              <a:blipFill>
                <a:blip r:embed="rId3"/>
                <a:stretch>
                  <a:fillRect l="-797" t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334146" y="3370248"/>
            <a:ext cx="3799245" cy="58477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sz="3200" i="1" dirty="0"/>
              <a:t>L</a:t>
            </a:r>
            <a:r>
              <a:rPr lang="en-US" sz="3200" dirty="0"/>
              <a:t> = </a:t>
            </a:r>
            <a:r>
              <a:rPr lang="en-US" sz="3200" dirty="0" err="1">
                <a:latin typeface="Symbol" pitchFamily="18" charset="2"/>
              </a:rPr>
              <a:t>l</a:t>
            </a:r>
            <a:r>
              <a:rPr lang="en-US" sz="3200" i="1" dirty="0" err="1"/>
              <a:t>W</a:t>
            </a:r>
            <a:r>
              <a:rPr lang="en-US" sz="3200" i="1" dirty="0"/>
              <a:t>   </a:t>
            </a:r>
            <a:r>
              <a:rPr lang="en-US" sz="2800" dirty="0"/>
              <a:t>and</a:t>
            </a:r>
            <a:r>
              <a:rPr lang="en-US" sz="2000" dirty="0"/>
              <a:t>  </a:t>
            </a:r>
            <a:r>
              <a:rPr lang="en-US" sz="3200" dirty="0"/>
              <a:t> </a:t>
            </a:r>
            <a:r>
              <a:rPr lang="en-US" sz="3200" i="1" dirty="0" err="1"/>
              <a:t>L</a:t>
            </a:r>
            <a:r>
              <a:rPr lang="en-US" sz="3200" i="1" baseline="-25000" dirty="0" err="1"/>
              <a:t>q</a:t>
            </a:r>
            <a:r>
              <a:rPr lang="en-US" sz="3200" i="1" dirty="0"/>
              <a:t> </a:t>
            </a:r>
            <a:r>
              <a:rPr lang="en-US" sz="3200" dirty="0"/>
              <a:t>= </a:t>
            </a:r>
            <a:r>
              <a:rPr lang="en-US" sz="3200" i="1" dirty="0" err="1">
                <a:latin typeface="Symbol" pitchFamily="18" charset="2"/>
              </a:rPr>
              <a:t>l</a:t>
            </a:r>
            <a:r>
              <a:rPr lang="en-US" sz="3200" i="1" dirty="0" err="1"/>
              <a:t>W</a:t>
            </a:r>
            <a:r>
              <a:rPr lang="en-US" sz="3200" i="1" baseline="-25000" dirty="0" err="1"/>
              <a:t>q</a:t>
            </a:r>
            <a:endParaRPr lang="en-US" sz="3200" dirty="0"/>
          </a:p>
        </p:txBody>
      </p:sp>
      <p:pic>
        <p:nvPicPr>
          <p:cNvPr id="5" name="Picture 2" descr="C:\Users\konurd\Desktop\back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02" y="4747848"/>
            <a:ext cx="1011494" cy="128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21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and Other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113767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The key performance metrics are related to each other:</a:t>
            </a:r>
          </a:p>
          <a:p>
            <a:pPr lvl="1"/>
            <a:r>
              <a:rPr lang="en-US" dirty="0"/>
              <a:t>Since 1/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 is the expected service time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Using Little’s law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These are important!!! </a:t>
            </a:r>
          </a:p>
          <a:p>
            <a:pPr lvl="2"/>
            <a:r>
              <a:rPr lang="en-US" dirty="0"/>
              <a:t>Once we know one value, we can determine the others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37034" y="2081967"/>
            <a:ext cx="2895600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W</a:t>
            </a:r>
            <a:r>
              <a:rPr lang="en-US" sz="2400" dirty="0"/>
              <a:t> =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q</a:t>
            </a:r>
            <a:r>
              <a:rPr lang="en-US" sz="2400" i="1" dirty="0"/>
              <a:t> </a:t>
            </a:r>
            <a:r>
              <a:rPr lang="en-US" sz="2400" dirty="0"/>
              <a:t>+ 1/</a:t>
            </a:r>
            <a:r>
              <a:rPr lang="en-US" sz="2400" dirty="0">
                <a:latin typeface="Symbol" pitchFamily="18" charset="2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7138" y="3313166"/>
            <a:ext cx="830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i="1" dirty="0"/>
              <a:t>L</a:t>
            </a:r>
            <a:r>
              <a:rPr lang="en-US" sz="2800" dirty="0"/>
              <a:t> = </a:t>
            </a:r>
            <a:r>
              <a:rPr lang="en-US" sz="2800" dirty="0" err="1">
                <a:latin typeface="Symbol" pitchFamily="18" charset="2"/>
              </a:rPr>
              <a:t>l</a:t>
            </a:r>
            <a:r>
              <a:rPr lang="en-US" sz="2800" i="1" dirty="0" err="1"/>
              <a:t>W</a:t>
            </a:r>
            <a:r>
              <a:rPr lang="en-US" sz="2800" i="1" dirty="0"/>
              <a:t> =</a:t>
            </a:r>
            <a:r>
              <a:rPr lang="en-US" sz="2800" dirty="0"/>
              <a:t> </a:t>
            </a:r>
            <a:r>
              <a:rPr lang="en-US" sz="2800" dirty="0">
                <a:latin typeface="Symbol" pitchFamily="18" charset="2"/>
              </a:rPr>
              <a:t>l(</a:t>
            </a:r>
            <a:r>
              <a:rPr lang="en-US" sz="2800" i="1" dirty="0" err="1"/>
              <a:t>W</a:t>
            </a:r>
            <a:r>
              <a:rPr lang="en-US" sz="2800" i="1" baseline="-25000" dirty="0" err="1"/>
              <a:t>q</a:t>
            </a:r>
            <a:r>
              <a:rPr lang="en-US" sz="2800" i="1" dirty="0"/>
              <a:t> </a:t>
            </a:r>
            <a:r>
              <a:rPr lang="en-US" sz="2800" dirty="0"/>
              <a:t>+ 1/</a:t>
            </a:r>
            <a:r>
              <a:rPr lang="en-US" sz="2800" dirty="0">
                <a:latin typeface="Symbol" pitchFamily="18" charset="2"/>
              </a:rPr>
              <a:t>m)</a:t>
            </a:r>
            <a:r>
              <a:rPr lang="en-US" sz="2800" i="1" dirty="0"/>
              <a:t> =</a:t>
            </a:r>
            <a:r>
              <a:rPr lang="en-US" sz="2800" dirty="0"/>
              <a:t> </a:t>
            </a:r>
            <a:r>
              <a:rPr lang="en-US" sz="2800" dirty="0">
                <a:latin typeface="Symbol" pitchFamily="18" charset="2"/>
              </a:rPr>
              <a:t>l(</a:t>
            </a:r>
            <a:r>
              <a:rPr lang="en-US" sz="2800" i="1" dirty="0" err="1"/>
              <a:t>L</a:t>
            </a:r>
            <a:r>
              <a:rPr lang="en-US" sz="2800" i="1" baseline="-25000" dirty="0" err="1"/>
              <a:t>q</a:t>
            </a:r>
            <a:r>
              <a:rPr lang="en-US" sz="2800" i="1" dirty="0"/>
              <a:t> / </a:t>
            </a:r>
            <a:r>
              <a:rPr lang="en-US" sz="2800" dirty="0">
                <a:latin typeface="Symbol" pitchFamily="18" charset="2"/>
              </a:rPr>
              <a:t>l</a:t>
            </a:r>
            <a:r>
              <a:rPr lang="en-US" sz="2800" dirty="0"/>
              <a:t>+ 1/</a:t>
            </a:r>
            <a:r>
              <a:rPr lang="en-US" sz="2800" dirty="0">
                <a:latin typeface="Symbol" pitchFamily="18" charset="2"/>
              </a:rPr>
              <a:t>m)=</a:t>
            </a:r>
            <a:r>
              <a:rPr lang="en-US" sz="2800" i="1" dirty="0" err="1"/>
              <a:t>L</a:t>
            </a:r>
            <a:r>
              <a:rPr lang="en-US" sz="2800" i="1" baseline="-25000" dirty="0" err="1"/>
              <a:t>q</a:t>
            </a:r>
            <a:r>
              <a:rPr lang="en-US" sz="2800" dirty="0"/>
              <a:t> + </a:t>
            </a:r>
            <a:r>
              <a:rPr lang="en-US" sz="2800" dirty="0">
                <a:latin typeface="Symbol" pitchFamily="18" charset="2"/>
              </a:rPr>
              <a:t>l </a:t>
            </a:r>
            <a:r>
              <a:rPr lang="en-US" sz="2800" dirty="0"/>
              <a:t>/</a:t>
            </a:r>
            <a:r>
              <a:rPr lang="en-US" sz="2800" dirty="0">
                <a:latin typeface="Symbol" pitchFamily="18" charset="2"/>
              </a:rPr>
              <a:t>m</a:t>
            </a:r>
          </a:p>
          <a:p>
            <a:pPr lvl="1"/>
            <a:endParaRPr lang="en-US" sz="3200" dirty="0">
              <a:latin typeface="Symbol" pitchFamily="18" charset="2"/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2910254" y="3984289"/>
            <a:ext cx="1087316" cy="457200"/>
          </a:xfrm>
          <a:prstGeom prst="wedgeRectCallout">
            <a:avLst>
              <a:gd name="adj1" fmla="val -3779"/>
              <a:gd name="adj2" fmla="val -99295"/>
            </a:avLst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 err="1">
                <a:latin typeface="Symbol" pitchFamily="18" charset="2"/>
              </a:rPr>
              <a:t>l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6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7034" y="4605005"/>
            <a:ext cx="2895600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L</a:t>
            </a:r>
            <a:r>
              <a:rPr lang="en-US" sz="2400" dirty="0"/>
              <a:t> = </a:t>
            </a:r>
            <a:r>
              <a:rPr lang="en-US" sz="2400" i="1" dirty="0" err="1"/>
              <a:t>L</a:t>
            </a:r>
            <a:r>
              <a:rPr lang="en-US" sz="2400" i="1" baseline="-25000" dirty="0" err="1"/>
              <a:t>q</a:t>
            </a:r>
            <a:r>
              <a:rPr lang="en-US" sz="2400" i="1" dirty="0"/>
              <a:t> </a:t>
            </a:r>
            <a:r>
              <a:rPr lang="en-US" sz="2400" dirty="0"/>
              <a:t>+ </a:t>
            </a:r>
            <a:r>
              <a:rPr lang="en-US" sz="2400" i="1" dirty="0">
                <a:latin typeface="Symbol" pitchFamily="18" charset="2"/>
              </a:rPr>
              <a:t>l</a:t>
            </a:r>
            <a:r>
              <a:rPr lang="en-US" sz="2400" dirty="0"/>
              <a:t>/</a:t>
            </a:r>
            <a:r>
              <a:rPr lang="en-US" sz="2400" dirty="0">
                <a:latin typeface="Symbol" pitchFamily="18" charset="2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69969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and Other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13408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The key performance metrics are related to each other:</a:t>
            </a:r>
          </a:p>
          <a:p>
            <a:pPr lvl="1"/>
            <a:r>
              <a:rPr lang="en-US" u="sng" dirty="0">
                <a:solidFill>
                  <a:srgbClr val="C00000"/>
                </a:solidFill>
              </a:rPr>
              <a:t>A small example (not in the book):</a:t>
            </a:r>
          </a:p>
          <a:p>
            <a:pPr lvl="2"/>
            <a:r>
              <a:rPr lang="en-US" dirty="0">
                <a:latin typeface="Symbol" pitchFamily="18" charset="2"/>
              </a:rPr>
              <a:t>l </a:t>
            </a:r>
            <a:r>
              <a:rPr lang="en-US" dirty="0"/>
              <a:t>= 3 customers per hour arrive on average</a:t>
            </a:r>
          </a:p>
          <a:p>
            <a:pPr lvl="2"/>
            <a:r>
              <a:rPr lang="en-US" dirty="0">
                <a:latin typeface="Symbol" pitchFamily="18" charset="2"/>
              </a:rPr>
              <a:t>m </a:t>
            </a:r>
            <a:r>
              <a:rPr lang="en-US" dirty="0"/>
              <a:t>= 4 customers per hour served (leave) on average</a:t>
            </a:r>
          </a:p>
          <a:p>
            <a:pPr lvl="2"/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i="1" dirty="0"/>
              <a:t> = </a:t>
            </a:r>
            <a:r>
              <a:rPr lang="en-US" dirty="0"/>
              <a:t>¾ hour waiting in the queue on average</a:t>
            </a:r>
            <a:endParaRPr lang="en-US" baseline="-25000" dirty="0"/>
          </a:p>
          <a:p>
            <a:pPr lvl="3"/>
            <a:r>
              <a:rPr lang="en-US" dirty="0"/>
              <a:t>1/</a:t>
            </a:r>
            <a:r>
              <a:rPr lang="en-US" dirty="0">
                <a:latin typeface="Symbol" pitchFamily="18" charset="2"/>
              </a:rPr>
              <a:t> m </a:t>
            </a:r>
            <a:r>
              <a:rPr lang="en-US" dirty="0"/>
              <a:t>= ¼ hour service time on average</a:t>
            </a:r>
          </a:p>
          <a:p>
            <a:pPr lvl="3"/>
            <a:r>
              <a:rPr lang="en-US" dirty="0"/>
              <a:t>W=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+ 1/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 = ¾ + ¼ = 1 hour </a:t>
            </a:r>
          </a:p>
          <a:p>
            <a:pPr lvl="4"/>
            <a:r>
              <a:rPr lang="en-US" dirty="0"/>
              <a:t>1 hour waiting in the queueing system on average</a:t>
            </a:r>
          </a:p>
          <a:p>
            <a:pPr lvl="3"/>
            <a:r>
              <a:rPr lang="en-US" dirty="0"/>
              <a:t>L=</a:t>
            </a:r>
            <a:r>
              <a:rPr lang="en-US" dirty="0" err="1">
                <a:latin typeface="Symbol" pitchFamily="18" charset="2"/>
              </a:rPr>
              <a:t>l</a:t>
            </a:r>
            <a:r>
              <a:rPr lang="en-US" i="1" dirty="0" err="1"/>
              <a:t>W</a:t>
            </a:r>
            <a:r>
              <a:rPr lang="en-US" i="1" dirty="0"/>
              <a:t> =</a:t>
            </a:r>
            <a:r>
              <a:rPr lang="en-US" dirty="0"/>
              <a:t>3 customers/hour * 1 hour/customer = 3 customers</a:t>
            </a:r>
          </a:p>
          <a:p>
            <a:pPr lvl="4"/>
            <a:r>
              <a:rPr lang="en-US" dirty="0"/>
              <a:t>3 customers in the queueing system on average</a:t>
            </a:r>
          </a:p>
          <a:p>
            <a:pPr lvl="3"/>
            <a:r>
              <a:rPr lang="en-US" i="1" dirty="0"/>
              <a:t>L</a:t>
            </a:r>
            <a:r>
              <a:rPr lang="en-US" dirty="0"/>
              <a:t> =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>
                <a:latin typeface="Symbol" pitchFamily="18" charset="2"/>
              </a:rPr>
              <a:t>l</a:t>
            </a:r>
            <a:r>
              <a:rPr lang="en-US" dirty="0"/>
              <a:t>/</a:t>
            </a:r>
            <a:r>
              <a:rPr lang="en-US" dirty="0">
                <a:latin typeface="Symbol" pitchFamily="18" charset="2"/>
              </a:rPr>
              <a:t>m </a:t>
            </a:r>
            <a:r>
              <a:rPr lang="en-US" dirty="0">
                <a:sym typeface="Wingdings" pitchFamily="2" charset="2"/>
              </a:rPr>
              <a:t> 3 =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baseline="-25000" dirty="0"/>
              <a:t> </a:t>
            </a:r>
            <a:r>
              <a:rPr lang="en-US" dirty="0"/>
              <a:t>+ ¾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dirty="0"/>
              <a:t> = 9/4 customers</a:t>
            </a:r>
            <a:endParaRPr lang="en-US" dirty="0">
              <a:latin typeface="Symbol" pitchFamily="18" charset="2"/>
            </a:endParaRPr>
          </a:p>
          <a:p>
            <a:pPr lvl="4"/>
            <a:r>
              <a:rPr lang="en-US" dirty="0"/>
              <a:t>9/4 customers in the queue on average</a:t>
            </a:r>
          </a:p>
          <a:p>
            <a:pPr lvl="1"/>
            <a:r>
              <a:rPr lang="en-US" dirty="0"/>
              <a:t>These relations hold for any queueing system (in steady state)!</a:t>
            </a:r>
          </a:p>
          <a:p>
            <a:pPr lvl="2"/>
            <a:r>
              <a:rPr lang="en-US" dirty="0"/>
              <a:t>Single server / Multiple servers  or single system / queuing network</a:t>
            </a:r>
          </a:p>
          <a:p>
            <a:pPr lvl="2"/>
            <a:r>
              <a:rPr lang="en-US" dirty="0"/>
              <a:t>Any </a:t>
            </a:r>
            <a:r>
              <a:rPr lang="en-US" dirty="0" err="1"/>
              <a:t>interarrival</a:t>
            </a:r>
            <a:r>
              <a:rPr lang="en-US" dirty="0"/>
              <a:t> time distribution, service time distribution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Only requirement </a:t>
            </a:r>
            <a:r>
              <a:rPr lang="en-US" dirty="0"/>
              <a:t>is that the system is non-preemptive (i.e., a customer’s service is not interrupted by arrival of another customer (say higher priority) or some other events)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337129" y="2003533"/>
            <a:ext cx="2543908" cy="5847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W</a:t>
            </a:r>
            <a:r>
              <a:rPr lang="en-US" sz="3200" dirty="0"/>
              <a:t> = </a:t>
            </a:r>
            <a:r>
              <a:rPr lang="en-US" sz="3200" i="1" dirty="0" err="1"/>
              <a:t>W</a:t>
            </a:r>
            <a:r>
              <a:rPr lang="en-US" sz="3200" i="1" baseline="-25000" dirty="0" err="1"/>
              <a:t>q</a:t>
            </a:r>
            <a:r>
              <a:rPr lang="en-US" sz="3200" i="1" dirty="0"/>
              <a:t> </a:t>
            </a:r>
            <a:r>
              <a:rPr lang="en-US" sz="3200" dirty="0"/>
              <a:t>+ 1/</a:t>
            </a:r>
            <a:r>
              <a:rPr lang="en-US" sz="3200" dirty="0">
                <a:latin typeface="Symbol" pitchFamily="18" charset="2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7129" y="4032919"/>
            <a:ext cx="2448659" cy="5847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L</a:t>
            </a:r>
            <a:r>
              <a:rPr lang="en-US" sz="3200" dirty="0"/>
              <a:t> = </a:t>
            </a:r>
            <a:r>
              <a:rPr lang="en-US" sz="3200" i="1" dirty="0" err="1"/>
              <a:t>L</a:t>
            </a:r>
            <a:r>
              <a:rPr lang="en-US" sz="3200" i="1" baseline="-25000" dirty="0" err="1"/>
              <a:t>q</a:t>
            </a:r>
            <a:r>
              <a:rPr lang="en-US" sz="3200" i="1" dirty="0"/>
              <a:t> </a:t>
            </a:r>
            <a:r>
              <a:rPr lang="en-US" sz="3200" dirty="0"/>
              <a:t>+ </a:t>
            </a:r>
            <a:r>
              <a:rPr lang="en-US" sz="3200" i="1" dirty="0">
                <a:latin typeface="Symbol" pitchFamily="18" charset="2"/>
              </a:rPr>
              <a:t>l</a:t>
            </a:r>
            <a:r>
              <a:rPr lang="en-US" sz="3200" dirty="0"/>
              <a:t>/</a:t>
            </a:r>
            <a:r>
              <a:rPr lang="en-US" sz="3200" dirty="0">
                <a:latin typeface="Symbol" pitchFamily="18" charset="2"/>
              </a:rPr>
              <a:t>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37129" y="2694419"/>
            <a:ext cx="1340432" cy="58477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sz="3200" i="1" dirty="0"/>
              <a:t>L</a:t>
            </a:r>
            <a:r>
              <a:rPr lang="en-US" sz="3200" dirty="0"/>
              <a:t> = </a:t>
            </a:r>
            <a:r>
              <a:rPr lang="en-US" sz="3200" dirty="0" err="1">
                <a:latin typeface="Symbol" pitchFamily="18" charset="2"/>
              </a:rPr>
              <a:t>l</a:t>
            </a:r>
            <a:r>
              <a:rPr lang="en-US" sz="3200" i="1" dirty="0" err="1"/>
              <a:t>W</a:t>
            </a:r>
            <a:endParaRPr lang="en-US" sz="3200" dirty="0"/>
          </a:p>
        </p:txBody>
      </p:sp>
      <p:sp>
        <p:nvSpPr>
          <p:cNvPr id="13" name="Rectangle 12"/>
          <p:cNvSpPr/>
          <p:nvPr/>
        </p:nvSpPr>
        <p:spPr>
          <a:xfrm>
            <a:off x="9337129" y="3342033"/>
            <a:ext cx="1606337" cy="58477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sz="3200" i="1" dirty="0" err="1"/>
              <a:t>L</a:t>
            </a:r>
            <a:r>
              <a:rPr lang="en-US" sz="3200" i="1" baseline="-25000" dirty="0" err="1"/>
              <a:t>q</a:t>
            </a:r>
            <a:r>
              <a:rPr lang="en-US" sz="3200" i="1" dirty="0"/>
              <a:t> </a:t>
            </a:r>
            <a:r>
              <a:rPr lang="en-US" sz="3200" dirty="0"/>
              <a:t>= </a:t>
            </a:r>
            <a:r>
              <a:rPr lang="en-US" sz="3200" i="1" dirty="0" err="1">
                <a:latin typeface="Symbol" pitchFamily="18" charset="2"/>
              </a:rPr>
              <a:t>l</a:t>
            </a:r>
            <a:r>
              <a:rPr lang="en-US" sz="3200" i="1" dirty="0" err="1"/>
              <a:t>W</a:t>
            </a:r>
            <a:r>
              <a:rPr lang="en-US" sz="3200" i="1" baseline="-25000" dirty="0" err="1"/>
              <a:t>q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7429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and Other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Other important points:</a:t>
            </a:r>
          </a:p>
          <a:p>
            <a:pPr lvl="1"/>
            <a:r>
              <a:rPr lang="en-US" dirty="0"/>
              <a:t>To have a feasible system, server utilization should be less than 1</a:t>
            </a:r>
          </a:p>
          <a:p>
            <a:pPr lvl="1"/>
            <a:r>
              <a:rPr lang="en-US" dirty="0"/>
              <a:t>Recall that ρ = Utilization of a server</a:t>
            </a:r>
          </a:p>
          <a:p>
            <a:pPr lvl="1"/>
            <a:r>
              <a:rPr lang="en-US" dirty="0"/>
              <a:t>So, for feasibility, we should have </a:t>
            </a:r>
            <a:r>
              <a:rPr lang="en-US" b="1" dirty="0">
                <a:solidFill>
                  <a:srgbClr val="C00000"/>
                </a:solidFill>
              </a:rPr>
              <a:t>ρ&lt;1 </a:t>
            </a:r>
            <a:r>
              <a:rPr lang="en-US" dirty="0"/>
              <a:t>(not that it is </a:t>
            </a:r>
            <a:r>
              <a:rPr lang="en-US" u="sng" dirty="0"/>
              <a:t>strictly less than </a:t>
            </a:r>
            <a:r>
              <a:rPr lang="en-US" dirty="0"/>
              <a:t>1)</a:t>
            </a:r>
          </a:p>
          <a:p>
            <a:pPr lvl="2"/>
            <a:r>
              <a:rPr lang="en-US" dirty="0"/>
              <a:t>In a single server queueing system (i.e., c=1), this means </a:t>
            </a:r>
            <a:r>
              <a:rPr lang="en-US" i="1" dirty="0">
                <a:latin typeface="Symbol" panose="05050102010706020507" pitchFamily="18" charset="2"/>
              </a:rPr>
              <a:t>r</a:t>
            </a:r>
            <a:r>
              <a:rPr lang="en-US" dirty="0"/>
              <a:t> = 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/>
              <a:t>/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 &lt;1</a:t>
            </a:r>
          </a:p>
          <a:p>
            <a:pPr lvl="3"/>
            <a:r>
              <a:rPr lang="en-US" dirty="0"/>
              <a:t>Makes sense! If customers arrive faster than what the server can help, the queue will build up to inf.</a:t>
            </a:r>
          </a:p>
          <a:p>
            <a:pPr lvl="2"/>
            <a:r>
              <a:rPr lang="en-US" dirty="0"/>
              <a:t>In a multiple server queuing system (i.e., c&gt;1), this means </a:t>
            </a:r>
            <a:r>
              <a:rPr lang="en-US" i="1" dirty="0">
                <a:latin typeface="Symbol" panose="05050102010706020507" pitchFamily="18" charset="2"/>
              </a:rPr>
              <a:t>r</a:t>
            </a:r>
            <a:r>
              <a:rPr lang="en-US" dirty="0"/>
              <a:t> = 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/>
              <a:t>/</a:t>
            </a:r>
            <a:r>
              <a:rPr lang="en-US" i="1" dirty="0"/>
              <a:t>c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 &lt;1</a:t>
            </a:r>
          </a:p>
          <a:p>
            <a:pPr lvl="3"/>
            <a:r>
              <a:rPr lang="en-US" dirty="0"/>
              <a:t>Using this, we can find the minimum number of servers needed to a queueing system</a:t>
            </a:r>
          </a:p>
          <a:p>
            <a:pPr lvl="4"/>
            <a:r>
              <a:rPr lang="en-US" dirty="0"/>
              <a:t>Suppose that customers arrive every 15 minutes; therefore, 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/>
              <a:t>= 4 per hour</a:t>
            </a:r>
          </a:p>
          <a:p>
            <a:pPr lvl="4"/>
            <a:r>
              <a:rPr lang="en-US" dirty="0"/>
              <a:t>Suppose that a customer’s service time takes 30 minutes on average; therefore, 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= 2 per hour</a:t>
            </a:r>
          </a:p>
          <a:p>
            <a:pPr lvl="4"/>
            <a:r>
              <a:rPr lang="en-US" dirty="0"/>
              <a:t>What is the minimum number of servers needed?</a:t>
            </a:r>
          </a:p>
          <a:p>
            <a:pPr lvl="5"/>
            <a:r>
              <a:rPr lang="en-US" dirty="0"/>
              <a:t>Since we should have </a:t>
            </a:r>
            <a:r>
              <a:rPr lang="en-US" i="1" dirty="0">
                <a:latin typeface="Symbol" panose="05050102010706020507" pitchFamily="18" charset="2"/>
              </a:rPr>
              <a:t>r</a:t>
            </a:r>
            <a:r>
              <a:rPr lang="en-US" dirty="0"/>
              <a:t> = 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/>
              <a:t>/</a:t>
            </a:r>
            <a:r>
              <a:rPr lang="en-US" i="1" dirty="0"/>
              <a:t>c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 &lt;1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>
                <a:latin typeface="Symbol" panose="05050102010706020507" pitchFamily="18" charset="2"/>
                <a:sym typeface="Wingdings" panose="05000000000000000000" pitchFamily="2" charset="2"/>
              </a:rPr>
              <a:t>4</a:t>
            </a:r>
            <a:r>
              <a:rPr lang="en-US" dirty="0"/>
              <a:t>/(2</a:t>
            </a:r>
            <a:r>
              <a:rPr lang="en-US" i="1" dirty="0"/>
              <a:t>c)</a:t>
            </a:r>
            <a:r>
              <a:rPr lang="en-US" dirty="0"/>
              <a:t> &lt;1 </a:t>
            </a:r>
            <a:r>
              <a:rPr lang="en-US" dirty="0">
                <a:sym typeface="Wingdings" panose="05000000000000000000" pitchFamily="2" charset="2"/>
              </a:rPr>
              <a:t> c&gt;2  minimum # of servers needed is 3</a:t>
            </a:r>
          </a:p>
          <a:p>
            <a:pPr lvl="1"/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Note: </a:t>
            </a:r>
            <a:r>
              <a:rPr lang="en-US" i="1" dirty="0">
                <a:latin typeface="Symbol" panose="05050102010706020507" pitchFamily="18" charset="2"/>
              </a:rPr>
              <a:t>l </a:t>
            </a:r>
            <a:r>
              <a:rPr lang="en-US" dirty="0"/>
              <a:t>and 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 do not need to be integers! They can have fractional values</a:t>
            </a:r>
          </a:p>
          <a:p>
            <a:pPr lvl="2"/>
            <a:r>
              <a:rPr lang="en-US" dirty="0"/>
              <a:t>They are just average (mean) rates, so can be any real number</a:t>
            </a:r>
          </a:p>
          <a:p>
            <a:pPr lvl="1"/>
            <a:r>
              <a:rPr lang="en-US" i="1" dirty="0">
                <a:solidFill>
                  <a:srgbClr val="C00000"/>
                </a:solidFill>
              </a:rPr>
              <a:t>Challenge: </a:t>
            </a:r>
            <a:r>
              <a:rPr lang="en-US" dirty="0"/>
              <a:t>In a single-server queueing system, the probability of seeing 0 customer in the system is equal to (1-</a:t>
            </a:r>
            <a:r>
              <a:rPr lang="en-US" i="1" dirty="0">
                <a:latin typeface="Symbol" panose="05050102010706020507" pitchFamily="18" charset="2"/>
              </a:rPr>
              <a:t> r</a:t>
            </a:r>
            <a:r>
              <a:rPr lang="en-US" dirty="0"/>
              <a:t>). Why? Intuition? </a:t>
            </a:r>
          </a:p>
        </p:txBody>
      </p:sp>
    </p:spTree>
    <p:extLst>
      <p:ext uri="{BB962C8B-B14F-4D97-AF65-F5344CB8AC3E}">
        <p14:creationId xmlns:p14="http://schemas.microsoft.com/office/powerpoint/2010/main" val="59211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3B62-40A9-7AB0-8BAF-A6DE9F77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64E7-9186-D5F4-0130-2BA6ACE6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C4A9-5782-3111-D079-D01FADD6E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2" y="1312433"/>
            <a:ext cx="9271219" cy="48645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Queueing-System Structure and Terminology</a:t>
            </a:r>
          </a:p>
          <a:p>
            <a:r>
              <a:rPr lang="en-US" dirty="0">
                <a:solidFill>
                  <a:schemeClr val="bg2"/>
                </a:solidFill>
              </a:rPr>
              <a:t>Key Performance Measures, Little’s Law, and Other Relations</a:t>
            </a:r>
          </a:p>
          <a:p>
            <a:r>
              <a:rPr lang="en-US" dirty="0"/>
              <a:t>Some Queueing Systems </a:t>
            </a:r>
          </a:p>
          <a:p>
            <a:r>
              <a:rPr lang="en-US" dirty="0">
                <a:solidFill>
                  <a:schemeClr val="bg2"/>
                </a:solidFill>
              </a:rPr>
              <a:t>M/M/1 Derivations </a:t>
            </a:r>
          </a:p>
          <a:p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Review of Queueing Basics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 Case Study and Key Insights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13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Little Law applies to queuing systems regardless of the number of servers!</a:t>
            </a:r>
          </a:p>
          <a:p>
            <a:r>
              <a:rPr lang="en-US" dirty="0"/>
              <a:t>Utilization calculation:</a:t>
            </a:r>
          </a:p>
          <a:p>
            <a:pPr lvl="1"/>
            <a:r>
              <a:rPr lang="en-US" dirty="0"/>
              <a:t>In a single server queuing system: </a:t>
            </a:r>
            <a:r>
              <a:rPr lang="en-US" i="1" dirty="0">
                <a:latin typeface="Symbol" panose="05050102010706020507" pitchFamily="18" charset="2"/>
              </a:rPr>
              <a:t>r</a:t>
            </a:r>
            <a:r>
              <a:rPr lang="en-US" dirty="0"/>
              <a:t> = 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/>
              <a:t>/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 a multiple server queuing system: </a:t>
            </a:r>
            <a:r>
              <a:rPr lang="en-US" i="1" dirty="0">
                <a:latin typeface="Symbol" panose="05050102010706020507" pitchFamily="18" charset="2"/>
              </a:rPr>
              <a:t>r</a:t>
            </a:r>
            <a:r>
              <a:rPr lang="en-US" dirty="0"/>
              <a:t> = </a:t>
            </a:r>
            <a:r>
              <a:rPr lang="en-US" i="1" dirty="0">
                <a:latin typeface="Symbol" panose="05050102010706020507" pitchFamily="18" charset="2"/>
              </a:rPr>
              <a:t>l</a:t>
            </a:r>
            <a:r>
              <a:rPr lang="en-US" dirty="0"/>
              <a:t>/</a:t>
            </a:r>
            <a:r>
              <a:rPr lang="en-US" i="1" dirty="0"/>
              <a:t>c</a:t>
            </a:r>
            <a:r>
              <a:rPr lang="en-US" i="1" dirty="0">
                <a:latin typeface="Symbol" panose="05050102010706020507" pitchFamily="18" charset="2"/>
              </a:rPr>
              <a:t>m</a:t>
            </a:r>
            <a:r>
              <a:rPr lang="en-US" dirty="0"/>
              <a:t>  (c is the number of servers)</a:t>
            </a:r>
            <a:endParaRPr lang="en-US" u="sng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dirty="0"/>
              <a:t>For some queueing systems (a station, not a queueing network), we have explicit characterization of the key performance measures and maybe more</a:t>
            </a:r>
          </a:p>
          <a:p>
            <a:pPr lvl="1"/>
            <a:r>
              <a:rPr lang="en-US" dirty="0"/>
              <a:t>These might be useful in observing some additional properties</a:t>
            </a:r>
          </a:p>
          <a:p>
            <a:pPr lvl="1"/>
            <a:r>
              <a:rPr lang="en-US" dirty="0"/>
              <a:t>When explicit formulae are not available, there might be approximations or we will need to use simulation (sometimes, even for a simple queueing system)</a:t>
            </a:r>
          </a:p>
          <a:p>
            <a:pPr lvl="1"/>
            <a:r>
              <a:rPr lang="en-US" dirty="0"/>
              <a:t>Typically, the arrival and service processes are modeled using probability distributions</a:t>
            </a:r>
          </a:p>
          <a:p>
            <a:pPr lvl="2"/>
            <a:r>
              <a:rPr lang="en-US" dirty="0"/>
              <a:t>The most commonly used queuing models are based on the assumption of exponentially distributed service times and interarrival times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14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Exponential Distribution for Interarrival Times</a:t>
            </a:r>
          </a:p>
          <a:p>
            <a:pPr lvl="1"/>
            <a:r>
              <a:rPr lang="en-US" dirty="0"/>
              <a:t>The most commonly used queuing models are based on the assumption of exponentially distributed service times and interarrival times</a:t>
            </a:r>
          </a:p>
          <a:p>
            <a:pPr lvl="1"/>
            <a:r>
              <a:rPr lang="en-US" dirty="0"/>
              <a:t>A random variable </a:t>
            </a:r>
            <a:r>
              <a:rPr lang="en-US" dirty="0" err="1"/>
              <a:t>T</a:t>
            </a:r>
            <a:r>
              <a:rPr lang="en-US" dirty="0" err="1">
                <a:sym typeface="Symbol" pitchFamily="18" charset="2"/>
              </a:rPr>
              <a:t>exp</a:t>
            </a:r>
            <a:r>
              <a:rPr lang="en-US" dirty="0">
                <a:sym typeface="Symbol" pitchFamily="18" charset="2"/>
              </a:rPr>
              <a:t>( ), i.e.,</a:t>
            </a:r>
            <a:r>
              <a:rPr lang="en-US" dirty="0"/>
              <a:t> is exponentially distributed with parameter </a:t>
            </a:r>
            <a:r>
              <a:rPr lang="en-US" dirty="0">
                <a:sym typeface="Symbol" pitchFamily="18" charset="2"/>
              </a:rPr>
              <a:t>, if its density function is: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6254CB-0868-4E86-AA9D-377EA6DB9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66" y="3186824"/>
            <a:ext cx="5269316" cy="849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86800B-5150-4E66-B9DE-0916056AC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63" y="4046601"/>
            <a:ext cx="2795288" cy="22656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CD634D-62A6-478B-A95C-AF6D35BD678A}"/>
              </a:ext>
            </a:extLst>
          </p:cNvPr>
          <p:cNvSpPr/>
          <p:nvPr/>
        </p:nvSpPr>
        <p:spPr>
          <a:xfrm>
            <a:off x="2019869" y="4672761"/>
            <a:ext cx="35484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>
                <a:sym typeface="Symbol" pitchFamily="18" charset="2"/>
              </a:rPr>
              <a:t>The mean = </a:t>
            </a:r>
            <a:r>
              <a:rPr lang="en-US" b="1" dirty="0">
                <a:sym typeface="Symbol" pitchFamily="18" charset="2"/>
              </a:rPr>
              <a:t>E[T] = 1/</a:t>
            </a:r>
          </a:p>
          <a:p>
            <a:pPr lvl="1"/>
            <a:r>
              <a:rPr lang="en-US" dirty="0">
                <a:sym typeface="Symbol" pitchFamily="18" charset="2"/>
              </a:rPr>
              <a:t>The Variance  = </a:t>
            </a:r>
            <a:r>
              <a:rPr lang="en-US" b="1" dirty="0">
                <a:sym typeface="Symbol" pitchFamily="18" charset="2"/>
              </a:rPr>
              <a:t>Var[T] = 1/ </a:t>
            </a:r>
            <a:r>
              <a:rPr lang="en-US" b="1" baseline="30000" dirty="0">
                <a:sym typeface="Symbol" pitchFamily="18" charset="2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A1AE27-4706-45BC-8C9A-84D33CF2E268}"/>
              </a:ext>
            </a:extLst>
          </p:cNvPr>
          <p:cNvSpPr/>
          <p:nvPr/>
        </p:nvSpPr>
        <p:spPr>
          <a:xfrm>
            <a:off x="963163" y="6312281"/>
            <a:ext cx="4376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Probability density function is decreasing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3DAF8B-FF31-4A42-B361-06D0C1775107}"/>
              </a:ext>
            </a:extLst>
          </p:cNvPr>
          <p:cNvSpPr/>
          <p:nvPr/>
        </p:nvSpPr>
        <p:spPr>
          <a:xfrm>
            <a:off x="7883857" y="3328747"/>
            <a:ext cx="37940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u="sng" dirty="0">
                <a:solidFill>
                  <a:srgbClr val="C00000"/>
                </a:solidFill>
              </a:rPr>
              <a:t>Memoryless property:</a:t>
            </a:r>
          </a:p>
          <a:p>
            <a:r>
              <a:rPr lang="en-US" dirty="0">
                <a:sym typeface="Symbol" pitchFamily="18" charset="2"/>
              </a:rPr>
              <a:t>	P(T&gt;t+t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| T&gt;t</a:t>
            </a:r>
            <a:r>
              <a:rPr lang="en-US" dirty="0">
                <a:sym typeface="Symbol" pitchFamily="18" charset="2"/>
              </a:rPr>
              <a:t>) = P(T &gt;t)</a:t>
            </a:r>
            <a:endParaRPr lang="en-US" dirty="0"/>
          </a:p>
        </p:txBody>
      </p:sp>
      <p:pic>
        <p:nvPicPr>
          <p:cNvPr id="12" name="Picture 2" descr="C:\Users\konurd\Desktop\dsf.jpg">
            <a:extLst>
              <a:ext uri="{FF2B5EF4-FFF2-40B4-BE49-F238E27FC236}">
                <a16:creationId xmlns:a16="http://schemas.microsoft.com/office/drawing/2014/main" id="{61101BF7-7C90-42EE-A5A1-E0B601A93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6661" y="4163859"/>
            <a:ext cx="932522" cy="74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8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Exponential Distribution for Interarrival Times: Properties </a:t>
            </a:r>
          </a:p>
          <a:p>
            <a:pPr lvl="1"/>
            <a:r>
              <a:rPr lang="en-US" dirty="0"/>
              <a:t>There is a high likelihood of small interarrival times, but a small chance of a very large interarrival time. This is characteristic of interarrival times in practice.</a:t>
            </a:r>
          </a:p>
          <a:p>
            <a:pPr lvl="2"/>
            <a:r>
              <a:rPr lang="en-US" dirty="0"/>
              <a:t>Probability density function is decreasing</a:t>
            </a:r>
          </a:p>
          <a:p>
            <a:pPr lvl="1"/>
            <a:r>
              <a:rPr lang="en-US" dirty="0"/>
              <a:t>For most queueing systems, the servers have no control over when customers will arrive. Customers generally arrive randomly.</a:t>
            </a:r>
          </a:p>
          <a:p>
            <a:pPr lvl="2"/>
            <a:r>
              <a:rPr lang="en-US" dirty="0"/>
              <a:t>Having random arrivals means that interarrival times are completely unpredictable, in the sense that the chance of an arrival in the next minute is always just the same.</a:t>
            </a:r>
          </a:p>
          <a:p>
            <a:pPr lvl="2"/>
            <a:r>
              <a:rPr lang="en-US" dirty="0"/>
              <a:t>The only probability distribution with this property of random arrivals is the exponential distribution.</a:t>
            </a:r>
          </a:p>
          <a:p>
            <a:pPr lvl="2"/>
            <a:r>
              <a:rPr lang="en-US" dirty="0"/>
              <a:t>The fact that the probability of an arrival in the next minute is completely uninfluenced by when the last arrival occurred is called the lack-of-memory property (memoryless property). </a:t>
            </a:r>
          </a:p>
          <a:p>
            <a:pPr lvl="2"/>
            <a:r>
              <a:rPr lang="en-US" dirty="0">
                <a:sym typeface="Symbol" pitchFamily="18" charset="2"/>
              </a:rPr>
              <a:t>Memoryless property: P(T&gt;t+t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| T&gt;t</a:t>
            </a:r>
            <a:r>
              <a:rPr lang="en-US" dirty="0">
                <a:sym typeface="Symbol" pitchFamily="18" charset="2"/>
              </a:rPr>
              <a:t>) = P(T &gt;t)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86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M/M/1:</a:t>
            </a:r>
          </a:p>
          <a:p>
            <a:pPr lvl="1"/>
            <a:r>
              <a:rPr lang="en-US" dirty="0"/>
              <a:t>Exponentially distributed </a:t>
            </a:r>
            <a:r>
              <a:rPr lang="en-US" dirty="0" err="1"/>
              <a:t>interarrival</a:t>
            </a:r>
            <a:r>
              <a:rPr lang="en-US" dirty="0"/>
              <a:t> times</a:t>
            </a:r>
          </a:p>
          <a:p>
            <a:pPr lvl="1"/>
            <a:r>
              <a:rPr lang="en-US" dirty="0"/>
              <a:t>Exponentially distributed service times</a:t>
            </a:r>
          </a:p>
          <a:p>
            <a:pPr lvl="1"/>
            <a:r>
              <a:rPr lang="en-US" dirty="0"/>
              <a:t>1 server, no system capacity</a:t>
            </a:r>
          </a:p>
          <a:p>
            <a:pPr lvl="1"/>
            <a:r>
              <a:rPr lang="en-US" dirty="0"/>
              <a:t>One of the simplest systems</a:t>
            </a:r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4699" y="1651119"/>
            <a:ext cx="2140083" cy="797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06305" y="3572496"/>
            <a:ext cx="1443073" cy="855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619476"/>
              </p:ext>
            </p:extLst>
          </p:nvPr>
        </p:nvGraphicFramePr>
        <p:xfrm>
          <a:off x="7733576" y="2609066"/>
          <a:ext cx="36925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600" imgH="444240" progId="Equation.3">
                  <p:embed/>
                </p:oleObj>
              </mc:Choice>
              <mc:Fallback>
                <p:oleObj name="Equation" r:id="rId4" imgW="1866600" imgH="4442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3576" y="2609066"/>
                        <a:ext cx="36925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424017"/>
              </p:ext>
            </p:extLst>
          </p:nvPr>
        </p:nvGraphicFramePr>
        <p:xfrm>
          <a:off x="8088759" y="4599153"/>
          <a:ext cx="30781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600" imgH="419100" progId="Equation.3">
                  <p:embed/>
                </p:oleObj>
              </mc:Choice>
              <mc:Fallback>
                <p:oleObj name="Equation" r:id="rId6" imgW="1625600" imgH="4191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8759" y="4599153"/>
                        <a:ext cx="3078163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ular Callout 8"/>
          <p:cNvSpPr/>
          <p:nvPr/>
        </p:nvSpPr>
        <p:spPr>
          <a:xfrm>
            <a:off x="7459579" y="1651119"/>
            <a:ext cx="4385858" cy="3920907"/>
          </a:xfrm>
          <a:prstGeom prst="wedgeRoundRectCallout">
            <a:avLst>
              <a:gd name="adj1" fmla="val -5892"/>
              <a:gd name="adj2" fmla="val 59091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446720" y="6029957"/>
            <a:ext cx="474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These are only for M/M/1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These will not hold true for other systems!!!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72615" y="3744698"/>
            <a:ext cx="5192090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tabLst>
                <a:tab pos="923925" algn="l"/>
                <a:tab pos="1366838" algn="l"/>
              </a:tabLst>
            </a:pPr>
            <a:r>
              <a:rPr lang="en-US" dirty="0"/>
              <a:t>Additionally (not in the book)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923925" algn="l"/>
                <a:tab pos="1366838" algn="l"/>
              </a:tabLst>
            </a:pPr>
            <a:r>
              <a:rPr lang="en-US" dirty="0"/>
              <a:t>The probability of seeing n customers in the system p(n)= (1 – </a:t>
            </a:r>
            <a:r>
              <a:rPr lang="en-US" i="1" dirty="0">
                <a:latin typeface="Symbol" pitchFamily="18" charset="2"/>
              </a:rPr>
              <a:t>r</a:t>
            </a:r>
            <a:r>
              <a:rPr lang="en-US" dirty="0"/>
              <a:t>)</a:t>
            </a:r>
            <a:r>
              <a:rPr lang="en-US" i="1" dirty="0" err="1">
                <a:latin typeface="Symbol" pitchFamily="18" charset="2"/>
              </a:rPr>
              <a:t>r</a:t>
            </a:r>
            <a:r>
              <a:rPr lang="en-US" baseline="30000" dirty="0" err="1"/>
              <a:t>n</a:t>
            </a:r>
            <a:endParaRPr lang="en-US" dirty="0"/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923925" algn="l"/>
                <a:tab pos="1366838" algn="l"/>
              </a:tabLst>
            </a:pPr>
            <a:r>
              <a:rPr lang="en-US" dirty="0"/>
              <a:t>The probability that the </a:t>
            </a:r>
            <a:r>
              <a:rPr lang="en-US" i="1" dirty="0"/>
              <a:t>waiting time in the system</a:t>
            </a:r>
            <a:r>
              <a:rPr lang="en-US" dirty="0"/>
              <a:t> exceeds </a:t>
            </a:r>
            <a:r>
              <a:rPr lang="en-US" i="1" dirty="0"/>
              <a:t>t</a:t>
            </a:r>
            <a:r>
              <a:rPr lang="en-US" dirty="0"/>
              <a:t> is </a:t>
            </a:r>
            <a:r>
              <a:rPr lang="en-US" i="1" dirty="0"/>
              <a:t> P</a:t>
            </a:r>
            <a:r>
              <a:rPr lang="en-US" dirty="0"/>
              <a:t>(</a:t>
            </a:r>
            <a:r>
              <a:rPr lang="en-US" i="1" dirty="0"/>
              <a:t>W</a:t>
            </a:r>
            <a:r>
              <a:rPr lang="en-US" dirty="0"/>
              <a:t> &gt; 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i="1" dirty="0"/>
              <a:t>e</a:t>
            </a:r>
            <a:r>
              <a:rPr lang="en-US" baseline="30000" dirty="0"/>
              <a:t>–</a:t>
            </a:r>
            <a:r>
              <a:rPr lang="en-US" i="1" baseline="30000" dirty="0">
                <a:latin typeface="Symbol" pitchFamily="18" charset="2"/>
              </a:rPr>
              <a:t>m</a:t>
            </a:r>
            <a:r>
              <a:rPr lang="en-US" baseline="30000" dirty="0"/>
              <a:t>(1–</a:t>
            </a:r>
            <a:r>
              <a:rPr lang="en-US" i="1" baseline="30000" dirty="0">
                <a:latin typeface="Symbol" pitchFamily="18" charset="2"/>
              </a:rPr>
              <a:t>r</a:t>
            </a:r>
            <a:r>
              <a:rPr lang="en-US" baseline="30000" dirty="0"/>
              <a:t>)</a:t>
            </a:r>
            <a:r>
              <a:rPr lang="en-US" i="1" baseline="30000" dirty="0"/>
              <a:t>t</a:t>
            </a:r>
            <a:r>
              <a:rPr lang="en-US" dirty="0"/>
              <a:t>   for </a:t>
            </a:r>
            <a:r>
              <a:rPr lang="en-US" i="1" dirty="0"/>
              <a:t>t</a:t>
            </a:r>
            <a:r>
              <a:rPr lang="en-US" dirty="0"/>
              <a:t> ≥ 0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923925" algn="l"/>
                <a:tab pos="1366838" algn="l"/>
              </a:tabLst>
            </a:pPr>
            <a:r>
              <a:rPr lang="en-US" dirty="0"/>
              <a:t>The probability that the </a:t>
            </a:r>
            <a:r>
              <a:rPr lang="en-US" i="1" dirty="0"/>
              <a:t>waiting time in the queue</a:t>
            </a:r>
            <a:r>
              <a:rPr lang="en-US" dirty="0"/>
              <a:t> exceeds </a:t>
            </a:r>
            <a:r>
              <a:rPr lang="en-US" i="1" dirty="0"/>
              <a:t>t</a:t>
            </a:r>
            <a:r>
              <a:rPr lang="en-US" dirty="0"/>
              <a:t> is 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dirty="0"/>
              <a:t> &gt; 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i="1" dirty="0">
                <a:latin typeface="Symbol" pitchFamily="18" charset="2"/>
              </a:rPr>
              <a:t>r</a:t>
            </a:r>
            <a:r>
              <a:rPr lang="en-US" i="1" dirty="0"/>
              <a:t>e</a:t>
            </a:r>
            <a:r>
              <a:rPr lang="en-US" i="1" baseline="30000" dirty="0"/>
              <a:t>–</a:t>
            </a:r>
            <a:r>
              <a:rPr lang="en-US" i="1" baseline="30000" dirty="0">
                <a:latin typeface="Symbol" pitchFamily="18" charset="2"/>
              </a:rPr>
              <a:t>m</a:t>
            </a:r>
            <a:r>
              <a:rPr lang="en-US" i="1" baseline="30000" dirty="0"/>
              <a:t>(1–</a:t>
            </a:r>
            <a:r>
              <a:rPr lang="en-US" i="1" baseline="30000" dirty="0">
                <a:latin typeface="Symbol" pitchFamily="18" charset="2"/>
              </a:rPr>
              <a:t>r</a:t>
            </a:r>
            <a:r>
              <a:rPr lang="en-US" i="1" baseline="30000" dirty="0"/>
              <a:t>)t</a:t>
            </a:r>
            <a:r>
              <a:rPr lang="en-US" dirty="0"/>
              <a:t>  for </a:t>
            </a:r>
            <a:r>
              <a:rPr lang="en-US" i="1" dirty="0"/>
              <a:t>t</a:t>
            </a:r>
            <a:r>
              <a:rPr lang="en-US" dirty="0"/>
              <a:t> ≥ 0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1051002" y="3515155"/>
            <a:ext cx="5313703" cy="2905909"/>
          </a:xfrm>
          <a:prstGeom prst="wedgeRoundRectCallout">
            <a:avLst>
              <a:gd name="adj1" fmla="val 82642"/>
              <a:gd name="adj2" fmla="val 41523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M/M/c:</a:t>
            </a:r>
          </a:p>
          <a:p>
            <a:pPr lvl="1"/>
            <a:r>
              <a:rPr lang="en-US" dirty="0"/>
              <a:t>Exponentially distributed </a:t>
            </a:r>
            <a:r>
              <a:rPr lang="en-US" dirty="0" err="1"/>
              <a:t>interarrival</a:t>
            </a:r>
            <a:r>
              <a:rPr lang="en-US" dirty="0"/>
              <a:t> times</a:t>
            </a:r>
          </a:p>
          <a:p>
            <a:pPr lvl="1"/>
            <a:r>
              <a:rPr lang="en-US" dirty="0"/>
              <a:t>Exponentially distributed service times</a:t>
            </a:r>
          </a:p>
          <a:p>
            <a:pPr lvl="1"/>
            <a:r>
              <a:rPr lang="en-US" dirty="0"/>
              <a:t>c&gt;1 servers, no system capacity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1708349" y="2849464"/>
            <a:ext cx="4385858" cy="3797522"/>
          </a:xfrm>
          <a:prstGeom prst="wedgeRoundRectCallout">
            <a:avLst>
              <a:gd name="adj1" fmla="val 63337"/>
              <a:gd name="adj2" fmla="val -8779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767015" y="3744698"/>
            <a:ext cx="24473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These are only for M/M/c such that c&gt;1 </a:t>
            </a:r>
          </a:p>
          <a:p>
            <a:pPr algn="ctr"/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These will not hold true for other systems!!!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612" y="2910620"/>
            <a:ext cx="3443639" cy="36439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767015" y="5442460"/>
            <a:ext cx="51920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tabLst>
                <a:tab pos="923925" algn="l"/>
                <a:tab pos="1366838" algn="l"/>
              </a:tabLst>
            </a:pPr>
            <a:r>
              <a:rPr lang="en-US" dirty="0"/>
              <a:t>There are additional formulae for calculating the probabilities for M/M/c (similar to M/M/1), but they are rather long and complicated</a:t>
            </a:r>
          </a:p>
        </p:txBody>
      </p:sp>
    </p:spTree>
    <p:extLst>
      <p:ext uri="{BB962C8B-B14F-4D97-AF65-F5344CB8AC3E}">
        <p14:creationId xmlns:p14="http://schemas.microsoft.com/office/powerpoint/2010/main" val="398362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M/G/1:</a:t>
            </a:r>
          </a:p>
          <a:p>
            <a:pPr lvl="1"/>
            <a:r>
              <a:rPr lang="en-US" dirty="0"/>
              <a:t>Exponentially distributed </a:t>
            </a:r>
            <a:r>
              <a:rPr lang="en-US" dirty="0" err="1"/>
              <a:t>interarrival</a:t>
            </a:r>
            <a:r>
              <a:rPr lang="en-US" dirty="0"/>
              <a:t> times</a:t>
            </a:r>
          </a:p>
          <a:p>
            <a:pPr lvl="1"/>
            <a:r>
              <a:rPr lang="en-US" dirty="0"/>
              <a:t>Generically distributed service times (general distribution with mean ES(S)=1/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 and standard deviation </a:t>
            </a:r>
            <a:r>
              <a:rPr lang="en-US" dirty="0">
                <a:latin typeface="Symbol" pitchFamily="18" charset="2"/>
              </a:rPr>
              <a:t>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 server, no system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9887" y="3475964"/>
            <a:ext cx="24473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These are only for M/G/1</a:t>
            </a:r>
          </a:p>
          <a:p>
            <a:pPr algn="ctr"/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These will not hold true for other systems!!!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9940" y="3209670"/>
            <a:ext cx="7739260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probability of zero customers in the system</a:t>
            </a:r>
            <a:r>
              <a:rPr lang="en-US" dirty="0"/>
              <a:t> is </a:t>
            </a:r>
            <a:r>
              <a:rPr lang="en-US" i="1" dirty="0"/>
              <a:t>p(0)</a:t>
            </a:r>
            <a:r>
              <a:rPr lang="en-US" dirty="0"/>
              <a:t> = 1 – </a:t>
            </a:r>
            <a:r>
              <a:rPr lang="en-US" dirty="0">
                <a:latin typeface="Symbol" pitchFamily="18" charset="2"/>
              </a:rPr>
              <a:t>r</a:t>
            </a: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expected number of customers in the queue</a:t>
            </a:r>
            <a:r>
              <a:rPr lang="en-US" dirty="0"/>
              <a:t> is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baseline="-25000" dirty="0"/>
              <a:t> </a:t>
            </a:r>
            <a:r>
              <a:rPr lang="en-US" dirty="0"/>
              <a:t>= </a:t>
            </a:r>
            <a:r>
              <a:rPr lang="en-US" dirty="0">
                <a:latin typeface="Symbol" pitchFamily="18" charset="2"/>
              </a:rPr>
              <a:t>[l</a:t>
            </a:r>
            <a:r>
              <a:rPr lang="en-US" baseline="30000" dirty="0"/>
              <a:t>2</a:t>
            </a:r>
            <a:r>
              <a:rPr lang="en-US" dirty="0">
                <a:latin typeface="Symbol" pitchFamily="18" charset="2"/>
              </a:rPr>
              <a:t>s</a:t>
            </a:r>
            <a:r>
              <a:rPr lang="en-US" baseline="30000" dirty="0"/>
              <a:t>2</a:t>
            </a:r>
            <a:r>
              <a:rPr lang="en-US" dirty="0"/>
              <a:t> + </a:t>
            </a:r>
            <a:r>
              <a:rPr lang="en-US" dirty="0">
                <a:latin typeface="Symbol" pitchFamily="18" charset="2"/>
              </a:rPr>
              <a:t>r</a:t>
            </a:r>
            <a:r>
              <a:rPr lang="en-US" baseline="30000" dirty="0"/>
              <a:t>2</a:t>
            </a:r>
            <a:r>
              <a:rPr lang="en-US" dirty="0"/>
              <a:t>] / [2(1 – </a:t>
            </a:r>
            <a:r>
              <a:rPr lang="en-US" dirty="0">
                <a:latin typeface="Symbol" pitchFamily="18" charset="2"/>
              </a:rPr>
              <a:t>r</a:t>
            </a:r>
            <a:r>
              <a:rPr lang="en-US" dirty="0"/>
              <a:t>)]</a:t>
            </a:r>
          </a:p>
          <a:p>
            <a:pPr>
              <a:spcBef>
                <a:spcPct val="50000"/>
              </a:spcBef>
              <a:buFont typeface="Times" charset="0"/>
              <a:buChar char="•"/>
            </a:pP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expected number of customers in the system</a:t>
            </a:r>
            <a:r>
              <a:rPr lang="en-US" dirty="0"/>
              <a:t> is </a:t>
            </a:r>
            <a:r>
              <a:rPr lang="en-US" i="1" dirty="0"/>
              <a:t>L</a:t>
            </a:r>
            <a:r>
              <a:rPr lang="en-US" dirty="0"/>
              <a:t> =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dirty="0"/>
              <a:t> + </a:t>
            </a:r>
            <a:r>
              <a:rPr lang="en-US" dirty="0">
                <a:latin typeface="Symbol" pitchFamily="18" charset="2"/>
              </a:rPr>
              <a:t>r </a:t>
            </a:r>
            <a:r>
              <a:rPr lang="en-US" dirty="0">
                <a:latin typeface="Symbol" pitchFamily="18" charset="2"/>
                <a:sym typeface="Wingdings" panose="05000000000000000000" pitchFamily="2" charset="2"/>
              </a:rPr>
              <a:t> </a:t>
            </a:r>
            <a:endParaRPr lang="en-US" dirty="0">
              <a:latin typeface="Symbol" pitchFamily="18" charset="2"/>
            </a:endParaRPr>
          </a:p>
          <a:p>
            <a:pPr>
              <a:spcBef>
                <a:spcPct val="50000"/>
              </a:spcBef>
              <a:buFont typeface="Times" charset="0"/>
              <a:buChar char="•"/>
            </a:pP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expected waiting time in the queue</a:t>
            </a:r>
            <a:r>
              <a:rPr lang="en-US" dirty="0"/>
              <a:t> is 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/ </a:t>
            </a:r>
            <a:r>
              <a:rPr lang="en-US" dirty="0">
                <a:latin typeface="Symbol" pitchFamily="18" charset="2"/>
              </a:rPr>
              <a:t>l </a:t>
            </a:r>
            <a:r>
              <a:rPr lang="en-US" dirty="0">
                <a:latin typeface="Symbol" pitchFamily="18" charset="2"/>
                <a:sym typeface="Wingdings" panose="05000000000000000000" pitchFamily="2" charset="2"/>
              </a:rPr>
              <a:t></a:t>
            </a: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expected waiting time in the system</a:t>
            </a:r>
            <a:r>
              <a:rPr lang="en-US" dirty="0"/>
              <a:t> is </a:t>
            </a:r>
            <a:r>
              <a:rPr lang="en-US" i="1" dirty="0"/>
              <a:t>W</a:t>
            </a:r>
            <a:r>
              <a:rPr lang="en-US" dirty="0"/>
              <a:t> = 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+ 1/</a:t>
            </a:r>
            <a:r>
              <a:rPr lang="en-US" dirty="0">
                <a:latin typeface="Symbol" pitchFamily="18" charset="2"/>
              </a:rPr>
              <a:t>m </a:t>
            </a:r>
            <a:r>
              <a:rPr lang="en-US" dirty="0">
                <a:latin typeface="Symbol" pitchFamily="18" charset="2"/>
                <a:sym typeface="Wingdings" panose="05000000000000000000" pitchFamily="2" charset="2"/>
              </a:rPr>
              <a:t></a:t>
            </a:r>
            <a:endParaRPr lang="en-US" dirty="0">
              <a:latin typeface="Symbol" pitchFamily="18" charset="2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974247" y="3106615"/>
            <a:ext cx="8411841" cy="3663755"/>
          </a:xfrm>
          <a:prstGeom prst="wedgeRoundRectCallout">
            <a:avLst>
              <a:gd name="adj1" fmla="val 55596"/>
              <a:gd name="adj2" fmla="val -25098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182195"/>
              </p:ext>
            </p:extLst>
          </p:nvPr>
        </p:nvGraphicFramePr>
        <p:xfrm>
          <a:off x="6897683" y="5837256"/>
          <a:ext cx="2067209" cy="74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200" imgH="1041400" progId="">
                  <p:embed/>
                </p:oleObj>
              </mc:Choice>
              <mc:Fallback>
                <p:oleObj name="Equation" r:id="rId2" imgW="2489200" imgH="1041400" progId="">
                  <p:embed/>
                  <p:pic>
                    <p:nvPicPr>
                      <p:cNvPr id="17415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3" y="5837256"/>
                        <a:ext cx="2067209" cy="742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372509"/>
              </p:ext>
            </p:extLst>
          </p:nvPr>
        </p:nvGraphicFramePr>
        <p:xfrm>
          <a:off x="7256072" y="4383105"/>
          <a:ext cx="1782420" cy="523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200" imgH="800100" progId="">
                  <p:embed/>
                </p:oleObj>
              </mc:Choice>
              <mc:Fallback>
                <p:oleObj name="Equation" r:id="rId4" imgW="2108200" imgH="800100" progId="">
                  <p:embed/>
                  <p:pic>
                    <p:nvPicPr>
                      <p:cNvPr id="17416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072" y="4383105"/>
                        <a:ext cx="1782420" cy="523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072" y="5090455"/>
            <a:ext cx="1759479" cy="65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5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M/G/1:</a:t>
            </a:r>
          </a:p>
          <a:p>
            <a:pPr lvl="1"/>
            <a:r>
              <a:rPr lang="en-US" dirty="0"/>
              <a:t>Exponentially distributed </a:t>
            </a:r>
            <a:r>
              <a:rPr lang="en-US" dirty="0" err="1"/>
              <a:t>interarrival</a:t>
            </a:r>
            <a:r>
              <a:rPr lang="en-US" dirty="0"/>
              <a:t> times</a:t>
            </a:r>
          </a:p>
          <a:p>
            <a:pPr lvl="1"/>
            <a:r>
              <a:rPr lang="en-US" dirty="0"/>
              <a:t>Generically distributed service times (general distribution with mean ES(S)=1/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 and standard deviation </a:t>
            </a:r>
            <a:r>
              <a:rPr lang="en-US" dirty="0">
                <a:latin typeface="Symbol" pitchFamily="18" charset="2"/>
              </a:rPr>
              <a:t>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 server, no system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9887" y="3475964"/>
            <a:ext cx="24473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These are only for M/G/1</a:t>
            </a:r>
          </a:p>
          <a:p>
            <a:pPr algn="ctr"/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These will not hold true for other systems!!!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9940" y="3209670"/>
            <a:ext cx="7739260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probability of zero customers in the system</a:t>
            </a:r>
            <a:r>
              <a:rPr lang="en-US" dirty="0"/>
              <a:t> is </a:t>
            </a:r>
            <a:r>
              <a:rPr lang="en-US" i="1" dirty="0"/>
              <a:t>p(0)</a:t>
            </a:r>
            <a:r>
              <a:rPr lang="en-US" dirty="0"/>
              <a:t> = 1 – </a:t>
            </a:r>
            <a:r>
              <a:rPr lang="en-US" dirty="0">
                <a:latin typeface="Symbol" pitchFamily="18" charset="2"/>
              </a:rPr>
              <a:t>r</a:t>
            </a: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expected number of customers in the queue</a:t>
            </a:r>
            <a:r>
              <a:rPr lang="en-US" dirty="0"/>
              <a:t> is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baseline="-25000" dirty="0"/>
              <a:t> </a:t>
            </a:r>
            <a:r>
              <a:rPr lang="en-US" dirty="0"/>
              <a:t>= </a:t>
            </a:r>
            <a:r>
              <a:rPr lang="en-US" dirty="0">
                <a:latin typeface="Symbol" pitchFamily="18" charset="2"/>
              </a:rPr>
              <a:t>[l</a:t>
            </a:r>
            <a:r>
              <a:rPr lang="en-US" baseline="30000" dirty="0"/>
              <a:t>2</a:t>
            </a:r>
            <a:r>
              <a:rPr lang="en-US" dirty="0">
                <a:latin typeface="Symbol" pitchFamily="18" charset="2"/>
              </a:rPr>
              <a:t>s</a:t>
            </a:r>
            <a:r>
              <a:rPr lang="en-US" baseline="30000" dirty="0"/>
              <a:t>2</a:t>
            </a:r>
            <a:r>
              <a:rPr lang="en-US" dirty="0"/>
              <a:t> + </a:t>
            </a:r>
            <a:r>
              <a:rPr lang="en-US" dirty="0">
                <a:latin typeface="Symbol" pitchFamily="18" charset="2"/>
              </a:rPr>
              <a:t>r</a:t>
            </a:r>
            <a:r>
              <a:rPr lang="en-US" baseline="30000" dirty="0"/>
              <a:t>2</a:t>
            </a:r>
            <a:r>
              <a:rPr lang="en-US" dirty="0"/>
              <a:t>] / [2(1 – </a:t>
            </a:r>
            <a:r>
              <a:rPr lang="en-US" dirty="0">
                <a:latin typeface="Symbol" pitchFamily="18" charset="2"/>
              </a:rPr>
              <a:t>r</a:t>
            </a:r>
            <a:r>
              <a:rPr lang="en-US" dirty="0"/>
              <a:t>)]</a:t>
            </a:r>
          </a:p>
          <a:p>
            <a:pPr>
              <a:spcBef>
                <a:spcPct val="50000"/>
              </a:spcBef>
              <a:buFont typeface="Times" charset="0"/>
              <a:buChar char="•"/>
            </a:pP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expected number of customers in the system</a:t>
            </a:r>
            <a:r>
              <a:rPr lang="en-US" dirty="0"/>
              <a:t> is </a:t>
            </a:r>
            <a:r>
              <a:rPr lang="en-US" i="1" dirty="0"/>
              <a:t>L</a:t>
            </a:r>
            <a:r>
              <a:rPr lang="en-US" dirty="0"/>
              <a:t> =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dirty="0"/>
              <a:t> + </a:t>
            </a:r>
            <a:r>
              <a:rPr lang="en-US" dirty="0">
                <a:latin typeface="Symbol" pitchFamily="18" charset="2"/>
              </a:rPr>
              <a:t>r </a:t>
            </a:r>
            <a:r>
              <a:rPr lang="en-US" dirty="0">
                <a:latin typeface="Symbol" pitchFamily="18" charset="2"/>
                <a:sym typeface="Wingdings" panose="05000000000000000000" pitchFamily="2" charset="2"/>
              </a:rPr>
              <a:t> </a:t>
            </a:r>
            <a:endParaRPr lang="en-US" dirty="0">
              <a:latin typeface="Symbol" pitchFamily="18" charset="2"/>
            </a:endParaRPr>
          </a:p>
          <a:p>
            <a:pPr>
              <a:spcBef>
                <a:spcPct val="50000"/>
              </a:spcBef>
              <a:buFont typeface="Times" charset="0"/>
              <a:buChar char="•"/>
            </a:pP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expected waiting time in the queue</a:t>
            </a:r>
            <a:r>
              <a:rPr lang="en-US" dirty="0"/>
              <a:t> is 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/ </a:t>
            </a:r>
            <a:r>
              <a:rPr lang="en-US" dirty="0">
                <a:latin typeface="Symbol" pitchFamily="18" charset="2"/>
              </a:rPr>
              <a:t>l </a:t>
            </a:r>
            <a:r>
              <a:rPr lang="en-US" dirty="0">
                <a:latin typeface="Symbol" pitchFamily="18" charset="2"/>
                <a:sym typeface="Wingdings" panose="05000000000000000000" pitchFamily="2" charset="2"/>
              </a:rPr>
              <a:t></a:t>
            </a: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endParaRPr lang="en-US" dirty="0"/>
          </a:p>
          <a:p>
            <a:pPr>
              <a:spcBef>
                <a:spcPct val="50000"/>
              </a:spcBef>
              <a:buFont typeface="Times" charset="0"/>
              <a:buChar char="•"/>
            </a:pPr>
            <a:r>
              <a:rPr lang="en-US" dirty="0"/>
              <a:t>The </a:t>
            </a:r>
            <a:r>
              <a:rPr lang="en-US" i="1" dirty="0"/>
              <a:t>expected waiting time in the system</a:t>
            </a:r>
            <a:r>
              <a:rPr lang="en-US" dirty="0"/>
              <a:t> is </a:t>
            </a:r>
            <a:r>
              <a:rPr lang="en-US" i="1" dirty="0"/>
              <a:t>W</a:t>
            </a:r>
            <a:r>
              <a:rPr lang="en-US" dirty="0"/>
              <a:t> = 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+ 1/</a:t>
            </a:r>
            <a:r>
              <a:rPr lang="en-US" dirty="0">
                <a:latin typeface="Symbol" pitchFamily="18" charset="2"/>
              </a:rPr>
              <a:t>m </a:t>
            </a:r>
            <a:r>
              <a:rPr lang="en-US" dirty="0">
                <a:latin typeface="Symbol" pitchFamily="18" charset="2"/>
                <a:sym typeface="Wingdings" panose="05000000000000000000" pitchFamily="2" charset="2"/>
              </a:rPr>
              <a:t></a:t>
            </a:r>
            <a:endParaRPr lang="en-US" dirty="0">
              <a:latin typeface="Symbol" pitchFamily="18" charset="2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974247" y="3106615"/>
            <a:ext cx="8411841" cy="3663755"/>
          </a:xfrm>
          <a:prstGeom prst="wedgeRoundRectCallout">
            <a:avLst>
              <a:gd name="adj1" fmla="val 55596"/>
              <a:gd name="adj2" fmla="val -25098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ct 5"/>
          <p:cNvGraphicFramePr>
            <a:graphicFrameLocks/>
          </p:cNvGraphicFramePr>
          <p:nvPr/>
        </p:nvGraphicFramePr>
        <p:xfrm>
          <a:off x="6897683" y="5837256"/>
          <a:ext cx="2067209" cy="742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200" imgH="1041400" progId="">
                  <p:embed/>
                </p:oleObj>
              </mc:Choice>
              <mc:Fallback>
                <p:oleObj name="Equation" r:id="rId2" imgW="2489200" imgH="1041400" progId="">
                  <p:embed/>
                  <p:pic>
                    <p:nvPicPr>
                      <p:cNvPr id="12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3" y="5837256"/>
                        <a:ext cx="2067209" cy="742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/>
          </p:cNvGraphicFramePr>
          <p:nvPr/>
        </p:nvGraphicFramePr>
        <p:xfrm>
          <a:off x="7256072" y="4383105"/>
          <a:ext cx="1782420" cy="523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200" imgH="800100" progId="">
                  <p:embed/>
                </p:oleObj>
              </mc:Choice>
              <mc:Fallback>
                <p:oleObj name="Equation" r:id="rId4" imgW="2108200" imgH="800100" progId="">
                  <p:embed/>
                  <p:pic>
                    <p:nvPicPr>
                      <p:cNvPr id="14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072" y="4383105"/>
                        <a:ext cx="1782420" cy="523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072" y="5090455"/>
            <a:ext cx="1759479" cy="65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31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Others: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Using M/G/1 results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No need to memorize these! They are available everywhere</a:t>
            </a:r>
          </a:p>
          <a:p>
            <a:pPr lvl="2"/>
            <a:r>
              <a:rPr lang="en-US" dirty="0"/>
              <a:t>There are other online tools:</a:t>
            </a:r>
          </a:p>
          <a:p>
            <a:pPr lvl="3"/>
            <a:r>
              <a:rPr lang="en-US" dirty="0">
                <a:hlinkClick r:id="rId2"/>
              </a:rPr>
              <a:t>https://www.supositorio.com/rcalc/rcalclite.htm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See ‘Module 2.1 - Queueing Templates.xlsx’ </a:t>
            </a:r>
          </a:p>
          <a:p>
            <a:pPr lvl="2"/>
            <a:r>
              <a:rPr lang="en-US" dirty="0"/>
              <a:t>Source: “Introduction to Management Science: A Modeling and Case Studies Approach with Spreadsheets”, 5</a:t>
            </a:r>
            <a:r>
              <a:rPr lang="en-US" baseline="30000" dirty="0"/>
              <a:t>th</a:t>
            </a:r>
            <a:r>
              <a:rPr lang="en-US" dirty="0"/>
              <a:t> edition, by F. S. Hillier and M. S. Hillier, McGraw-Hill Publication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232" y="1312434"/>
            <a:ext cx="3881400" cy="246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1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Queueing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‘Queueing Templates.xlsx’: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9B4E6-84C4-4003-88CA-BCA6FC85AFBA}"/>
              </a:ext>
            </a:extLst>
          </p:cNvPr>
          <p:cNvSpPr/>
          <p:nvPr/>
        </p:nvSpPr>
        <p:spPr>
          <a:xfrm>
            <a:off x="3460190" y="1312433"/>
            <a:ext cx="864495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It has different sheet, where each sheet has a specific queueing system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Blue cells are the input cells, i.e., the ones that you can modify, the other cells should not be changed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600" dirty="0"/>
              <a:t>Source: “Introduction to Management Science: A Modeling and Case Studies Approach with Spreadsheets”, 5</a:t>
            </a:r>
            <a:r>
              <a:rPr lang="en-US" sz="1600" baseline="30000" dirty="0"/>
              <a:t>th</a:t>
            </a:r>
            <a:r>
              <a:rPr lang="en-US" sz="1600" dirty="0"/>
              <a:t> edition, by F. S. Hillier and M. S. Hillier, McGraw-Hill Publication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B9B1A-2750-462E-A19A-D105B0B6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4" y="1921592"/>
            <a:ext cx="4608685" cy="1676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1D3938-8089-4A25-B958-D5EC68A09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14" y="3744698"/>
            <a:ext cx="2853422" cy="147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64B75B-F560-4C8D-A2B6-F53443710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01" y="5412712"/>
            <a:ext cx="3583435" cy="129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1A9D8A-78C0-4197-9431-E5FD5C5DD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136" y="3140192"/>
            <a:ext cx="3812288" cy="1302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368DDB-B282-4BD2-A656-B9360A3C7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2816" y="4796375"/>
            <a:ext cx="3812288" cy="16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5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B6BA-E1BA-E082-2F3F-65F86E74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8205-29F3-0D95-D436-526F3EDC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FC81D-0950-2201-A6AB-BE222C1B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2" y="1312433"/>
            <a:ext cx="9271219" cy="48645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Queueing-System Structure and Terminology</a:t>
            </a:r>
          </a:p>
          <a:p>
            <a:r>
              <a:rPr lang="en-US" dirty="0">
                <a:solidFill>
                  <a:schemeClr val="bg2"/>
                </a:solidFill>
              </a:rPr>
              <a:t>Key Performance Measures, Little’s Law, and Other Relations</a:t>
            </a:r>
          </a:p>
          <a:p>
            <a:r>
              <a:rPr lang="en-US" dirty="0">
                <a:solidFill>
                  <a:schemeClr val="bg2"/>
                </a:solidFill>
              </a:rPr>
              <a:t>Some Queueing Systems </a:t>
            </a:r>
          </a:p>
          <a:p>
            <a:r>
              <a:rPr lang="en-US" dirty="0"/>
              <a:t>M/M/1 Derivations </a:t>
            </a:r>
          </a:p>
          <a:p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Review of Queueing Basics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 Case Study and Key Insights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90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M/M/1 Derivations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Recall that:</a:t>
            </a:r>
          </a:p>
          <a:p>
            <a:pPr lvl="1">
              <a:tabLst>
                <a:tab pos="808038" algn="l"/>
              </a:tabLst>
            </a:pPr>
            <a:r>
              <a:rPr lang="en-US" i="1" dirty="0">
                <a:latin typeface="Symbol" pitchFamily="18" charset="2"/>
              </a:rPr>
              <a:t>l</a:t>
            </a:r>
            <a:r>
              <a:rPr lang="en-US" dirty="0"/>
              <a:t>	= </a:t>
            </a:r>
            <a:r>
              <a:rPr lang="en-US" b="1" dirty="0"/>
              <a:t>Mean arrival rate</a:t>
            </a:r>
            <a:r>
              <a:rPr lang="en-US" dirty="0"/>
              <a:t> for customers</a:t>
            </a:r>
            <a:br>
              <a:rPr lang="en-US" dirty="0"/>
            </a:br>
            <a:r>
              <a:rPr lang="en-US" dirty="0"/>
              <a:t>	  = Expected number of arrivals per unit time</a:t>
            </a:r>
          </a:p>
          <a:p>
            <a:pPr marL="457200" lvl="1" indent="0">
              <a:buNone/>
              <a:tabLst>
                <a:tab pos="808038" algn="l"/>
              </a:tabLst>
            </a:pPr>
            <a:r>
              <a:rPr lang="en-US" dirty="0"/>
              <a:t>    1/</a:t>
            </a:r>
            <a:r>
              <a:rPr lang="en-US" i="1" dirty="0">
                <a:latin typeface="Symbol" pitchFamily="18" charset="2"/>
              </a:rPr>
              <a:t>l</a:t>
            </a:r>
            <a:r>
              <a:rPr lang="en-US" dirty="0"/>
              <a:t> = expected interarrival time</a:t>
            </a:r>
          </a:p>
          <a:p>
            <a:pPr marL="457200" lvl="1" indent="0">
              <a:buNone/>
              <a:tabLst>
                <a:tab pos="808038" algn="l"/>
              </a:tabLst>
            </a:pPr>
            <a:endParaRPr lang="en-US" dirty="0"/>
          </a:p>
          <a:p>
            <a:pPr lvl="1">
              <a:tabLst>
                <a:tab pos="808038" algn="l"/>
              </a:tabLst>
            </a:pPr>
            <a:r>
              <a:rPr lang="en-US" i="1" dirty="0"/>
              <a:t> </a:t>
            </a:r>
            <a:r>
              <a:rPr lang="en-US" i="1" dirty="0">
                <a:latin typeface="Symbol" pitchFamily="18" charset="2"/>
              </a:rPr>
              <a:t>m</a:t>
            </a:r>
            <a:r>
              <a:rPr lang="en-US" dirty="0"/>
              <a:t> = </a:t>
            </a:r>
            <a:r>
              <a:rPr lang="en-US" b="1" dirty="0"/>
              <a:t>Mean service rate</a:t>
            </a:r>
            <a:r>
              <a:rPr lang="en-US" dirty="0"/>
              <a:t> (for a continuously busy server)</a:t>
            </a:r>
            <a:br>
              <a:rPr lang="en-US" dirty="0"/>
            </a:br>
            <a:r>
              <a:rPr lang="en-US" dirty="0"/>
              <a:t>	   = Expected number of service completions per unit time</a:t>
            </a:r>
            <a:br>
              <a:rPr lang="en-US" dirty="0"/>
            </a:br>
            <a:r>
              <a:rPr lang="en-US" dirty="0">
                <a:latin typeface="Symbol" pitchFamily="18" charset="2"/>
              </a:rPr>
              <a:t>1/</a:t>
            </a:r>
            <a:r>
              <a:rPr lang="en-US" i="1" dirty="0">
                <a:latin typeface="Symbol" pitchFamily="18" charset="2"/>
              </a:rPr>
              <a:t>m</a:t>
            </a:r>
            <a:r>
              <a:rPr lang="en-US" dirty="0"/>
              <a:t> = expected service time</a:t>
            </a:r>
          </a:p>
          <a:p>
            <a:pPr marL="457200" lvl="1" indent="0">
              <a:buNone/>
              <a:tabLst>
                <a:tab pos="808038" algn="l"/>
              </a:tabLst>
            </a:pPr>
            <a:endParaRPr lang="en-US" dirty="0"/>
          </a:p>
          <a:p>
            <a:pPr lvl="1">
              <a:tabLst>
                <a:tab pos="808038" algn="l"/>
              </a:tabLst>
            </a:pPr>
            <a:r>
              <a:rPr lang="en-US" i="1" dirty="0"/>
              <a:t> </a:t>
            </a:r>
            <a:r>
              <a:rPr lang="en-US" i="1" dirty="0">
                <a:latin typeface="Symbol" pitchFamily="18" charset="2"/>
              </a:rPr>
              <a:t>r</a:t>
            </a:r>
            <a:r>
              <a:rPr lang="en-US" dirty="0"/>
              <a:t> = the </a:t>
            </a:r>
            <a:r>
              <a:rPr lang="en-US" b="1" dirty="0"/>
              <a:t>utilization</a:t>
            </a:r>
            <a:r>
              <a:rPr lang="en-US" dirty="0"/>
              <a:t> </a:t>
            </a:r>
            <a:r>
              <a:rPr lang="en-US" b="1" dirty="0"/>
              <a:t>factor</a:t>
            </a:r>
            <a:br>
              <a:rPr lang="en-US" b="1" dirty="0"/>
            </a:br>
            <a:r>
              <a:rPr lang="en-US" b="1" dirty="0"/>
              <a:t>	   </a:t>
            </a:r>
            <a:r>
              <a:rPr lang="en-US" dirty="0"/>
              <a:t>= the average fraction of time that a server is busy serving customers</a:t>
            </a:r>
            <a:br>
              <a:rPr lang="en-US" dirty="0"/>
            </a:br>
            <a:r>
              <a:rPr lang="en-US" dirty="0"/>
              <a:t>	   = </a:t>
            </a:r>
            <a:r>
              <a:rPr lang="en-US" i="1" dirty="0">
                <a:latin typeface="Symbol" pitchFamily="18" charset="2"/>
              </a:rPr>
              <a:t>l</a:t>
            </a:r>
            <a:r>
              <a:rPr lang="en-US" dirty="0">
                <a:latin typeface="Symbol" pitchFamily="18" charset="2"/>
              </a:rPr>
              <a:t> / </a:t>
            </a:r>
            <a:r>
              <a:rPr lang="en-US" i="1" dirty="0">
                <a:latin typeface="Symbol" pitchFamily="18" charset="2"/>
              </a:rPr>
              <a:t>m</a:t>
            </a:r>
            <a:endParaRPr lang="en-US" dirty="0"/>
          </a:p>
          <a:p>
            <a:endParaRPr lang="en-US" sz="20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79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M/M/1 Derivations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Simplest model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That is a Markov Chain</a:t>
            </a:r>
          </a:p>
          <a:p>
            <a:pPr lvl="2"/>
            <a:r>
              <a:rPr lang="en-US" dirty="0"/>
              <a:t>Each state (the yellow nodes) is a possible number of customers in your queueing system</a:t>
            </a:r>
          </a:p>
          <a:p>
            <a:pPr lvl="2"/>
            <a:r>
              <a:rPr lang="en-US" dirty="0"/>
              <a:t>Since infinitely possible states, we have infinite Markov Chain</a:t>
            </a:r>
          </a:p>
          <a:p>
            <a:pPr lvl="1"/>
            <a:r>
              <a:rPr lang="en-US" dirty="0"/>
              <a:t>Transition rates</a:t>
            </a:r>
          </a:p>
          <a:p>
            <a:pPr lvl="2"/>
            <a:r>
              <a:rPr lang="en-US" dirty="0"/>
              <a:t>Transition rate is the rate which you leave from a state and the rate which you enter a state 			</a:t>
            </a:r>
            <a:r>
              <a:rPr lang="en-US" dirty="0">
                <a:latin typeface="Symbol" pitchFamily="18" charset="2"/>
              </a:rPr>
              <a:t>l 				        m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17097-D159-44F0-B6E9-16F91DE44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07" y="1648603"/>
            <a:ext cx="8534400" cy="1657350"/>
          </a:xfrm>
          <a:prstGeom prst="rect">
            <a:avLst/>
          </a:prstGeom>
        </p:spPr>
      </p:pic>
      <p:sp>
        <p:nvSpPr>
          <p:cNvPr id="5" name="Freeform 21">
            <a:extLst>
              <a:ext uri="{FF2B5EF4-FFF2-40B4-BE49-F238E27FC236}">
                <a16:creationId xmlns:a16="http://schemas.microsoft.com/office/drawing/2014/main" id="{525361F4-9A7E-4E72-A952-A9CC6CD56438}"/>
              </a:ext>
            </a:extLst>
          </p:cNvPr>
          <p:cNvSpPr>
            <a:spLocks/>
          </p:cNvSpPr>
          <p:nvPr/>
        </p:nvSpPr>
        <p:spPr bwMode="auto">
          <a:xfrm>
            <a:off x="2284445" y="5490992"/>
            <a:ext cx="1905000" cy="381000"/>
          </a:xfrm>
          <a:custGeom>
            <a:avLst/>
            <a:gdLst>
              <a:gd name="T0" fmla="*/ 0 w 1200"/>
              <a:gd name="T1" fmla="*/ 2147483647 h 240"/>
              <a:gd name="T2" fmla="*/ 2147483647 w 1200"/>
              <a:gd name="T3" fmla="*/ 0 h 240"/>
              <a:gd name="T4" fmla="*/ 2147483647 w 1200"/>
              <a:gd name="T5" fmla="*/ 2147483647 h 240"/>
              <a:gd name="T6" fmla="*/ 0 60000 65536"/>
              <a:gd name="T7" fmla="*/ 0 60000 65536"/>
              <a:gd name="T8" fmla="*/ 0 60000 65536"/>
              <a:gd name="T9" fmla="*/ 0 w 1200"/>
              <a:gd name="T10" fmla="*/ 0 h 240"/>
              <a:gd name="T11" fmla="*/ 1200 w 1200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0" h="240">
                <a:moveTo>
                  <a:pt x="0" y="240"/>
                </a:moveTo>
                <a:cubicBezTo>
                  <a:pt x="212" y="120"/>
                  <a:pt x="424" y="0"/>
                  <a:pt x="624" y="0"/>
                </a:cubicBezTo>
                <a:cubicBezTo>
                  <a:pt x="824" y="0"/>
                  <a:pt x="1104" y="200"/>
                  <a:pt x="1200" y="24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BC6A1A8A-306C-48CF-8B16-7BE63A8B4B25}"/>
              </a:ext>
            </a:extLst>
          </p:cNvPr>
          <p:cNvSpPr>
            <a:spLocks/>
          </p:cNvSpPr>
          <p:nvPr/>
        </p:nvSpPr>
        <p:spPr bwMode="auto">
          <a:xfrm rot="10800000">
            <a:off x="6532985" y="5552493"/>
            <a:ext cx="1905000" cy="381000"/>
          </a:xfrm>
          <a:custGeom>
            <a:avLst/>
            <a:gdLst>
              <a:gd name="T0" fmla="*/ 0 w 1200"/>
              <a:gd name="T1" fmla="*/ 2147483647 h 240"/>
              <a:gd name="T2" fmla="*/ 2147483647 w 1200"/>
              <a:gd name="T3" fmla="*/ 0 h 240"/>
              <a:gd name="T4" fmla="*/ 2147483647 w 1200"/>
              <a:gd name="T5" fmla="*/ 2147483647 h 240"/>
              <a:gd name="T6" fmla="*/ 0 60000 65536"/>
              <a:gd name="T7" fmla="*/ 0 60000 65536"/>
              <a:gd name="T8" fmla="*/ 0 60000 65536"/>
              <a:gd name="T9" fmla="*/ 0 w 1200"/>
              <a:gd name="T10" fmla="*/ 0 h 240"/>
              <a:gd name="T11" fmla="*/ 1200 w 1200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0" h="240">
                <a:moveTo>
                  <a:pt x="0" y="240"/>
                </a:moveTo>
                <a:cubicBezTo>
                  <a:pt x="212" y="120"/>
                  <a:pt x="424" y="0"/>
                  <a:pt x="624" y="0"/>
                </a:cubicBezTo>
                <a:cubicBezTo>
                  <a:pt x="824" y="0"/>
                  <a:pt x="1104" y="200"/>
                  <a:pt x="1200" y="24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0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M/M/1 Derivations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Continuous time Markov Chain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Conversation of Flow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Rate in = Rate out</a:t>
            </a:r>
          </a:p>
          <a:p>
            <a:r>
              <a:rPr lang="en-US" dirty="0"/>
              <a:t>System State:</a:t>
            </a:r>
          </a:p>
          <a:p>
            <a:pPr lvl="1"/>
            <a:r>
              <a:rPr lang="en-US" dirty="0"/>
              <a:t>n = # of customers in system</a:t>
            </a:r>
          </a:p>
          <a:p>
            <a:pPr lvl="1"/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dirty="0"/>
              <a:t> = P(n customers is the system)</a:t>
            </a:r>
          </a:p>
          <a:p>
            <a:r>
              <a:rPr lang="en-US" dirty="0"/>
              <a:t>Then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Rate in = Rate out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latin typeface="Symbol" pitchFamily="18" charset="2"/>
              </a:rPr>
              <a:t>l</a:t>
            </a:r>
            <a:r>
              <a:rPr lang="en-US" dirty="0"/>
              <a:t>p</a:t>
            </a:r>
            <a:r>
              <a:rPr lang="en-US" baseline="-25000" dirty="0"/>
              <a:t>n-1</a:t>
            </a:r>
            <a:r>
              <a:rPr lang="en-US" dirty="0"/>
              <a:t> + 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p</a:t>
            </a:r>
            <a:r>
              <a:rPr lang="en-US" baseline="-25000" dirty="0"/>
              <a:t>n+1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dirty="0"/>
              <a:t>(</a:t>
            </a:r>
            <a:r>
              <a:rPr lang="en-US" dirty="0">
                <a:latin typeface="Symbol" pitchFamily="18" charset="2"/>
              </a:rPr>
              <a:t>l</a:t>
            </a:r>
            <a:r>
              <a:rPr lang="en-US" dirty="0"/>
              <a:t> + 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)</a:t>
            </a:r>
          </a:p>
          <a:p>
            <a:r>
              <a:rPr lang="en-US" dirty="0"/>
              <a:t>Recursively, it can be shown that:</a:t>
            </a:r>
          </a:p>
          <a:p>
            <a:pPr lvl="4"/>
            <a:endParaRPr lang="en-US" dirty="0"/>
          </a:p>
          <a:p>
            <a:pPr algn="ctr">
              <a:buNone/>
            </a:pP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dirty="0"/>
              <a:t> = </a:t>
            </a:r>
            <a:r>
              <a:rPr lang="en-US" dirty="0" err="1">
                <a:latin typeface="Symbol" pitchFamily="18" charset="2"/>
              </a:rPr>
              <a:t>r</a:t>
            </a:r>
            <a:r>
              <a:rPr lang="en-US" baseline="30000" dirty="0" err="1"/>
              <a:t>n</a:t>
            </a:r>
            <a:r>
              <a:rPr lang="en-US" dirty="0"/>
              <a:t>(1-</a:t>
            </a:r>
            <a:r>
              <a:rPr lang="en-US" dirty="0">
                <a:latin typeface="Symbol" pitchFamily="18" charset="2"/>
              </a:rPr>
              <a:t>r</a:t>
            </a:r>
            <a:r>
              <a:rPr lang="en-US" dirty="0"/>
              <a:t>) for </a:t>
            </a:r>
            <a:r>
              <a:rPr lang="en-US" dirty="0">
                <a:latin typeface="Symbol" pitchFamily="18" charset="2"/>
              </a:rPr>
              <a:t>r</a:t>
            </a:r>
            <a:r>
              <a:rPr lang="en-US" dirty="0"/>
              <a:t> &lt; 1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2400" dirty="0"/>
              <a:t>where </a:t>
            </a:r>
            <a:r>
              <a:rPr lang="en-US" dirty="0">
                <a:latin typeface="Symbol" pitchFamily="18" charset="2"/>
              </a:rPr>
              <a:t>r</a:t>
            </a:r>
            <a:r>
              <a:rPr lang="en-US" dirty="0"/>
              <a:t> = </a:t>
            </a:r>
            <a:r>
              <a:rPr lang="en-US" dirty="0">
                <a:latin typeface="Symbol" pitchFamily="18" charset="2"/>
              </a:rPr>
              <a:t>l</a:t>
            </a:r>
            <a:r>
              <a:rPr lang="en-US" dirty="0"/>
              <a:t>/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 = </a:t>
            </a:r>
            <a:r>
              <a:rPr lang="en-US" sz="2400" dirty="0"/>
              <a:t>utilization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2" descr="C:\Users\konurd\Desktop\2000px-MM1_queue_state_space.svg.png">
            <a:extLst>
              <a:ext uri="{FF2B5EF4-FFF2-40B4-BE49-F238E27FC236}">
                <a16:creationId xmlns:a16="http://schemas.microsoft.com/office/drawing/2014/main" id="{4C887FE9-A1EF-4C03-B723-5FFF1D842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888" y="1958964"/>
            <a:ext cx="6886524" cy="73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03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M/M/1 Derivations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Recursive calculation using </a:t>
            </a:r>
            <a:r>
              <a:rPr lang="en-US" dirty="0">
                <a:latin typeface="Symbol" pitchFamily="18" charset="2"/>
              </a:rPr>
              <a:t>l</a:t>
            </a:r>
            <a:r>
              <a:rPr lang="en-US" dirty="0"/>
              <a:t>p</a:t>
            </a:r>
            <a:r>
              <a:rPr lang="en-US" baseline="-25000" dirty="0"/>
              <a:t>n-1</a:t>
            </a:r>
            <a:r>
              <a:rPr lang="en-US" dirty="0"/>
              <a:t> + 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p</a:t>
            </a:r>
            <a:r>
              <a:rPr lang="en-US" baseline="-25000" dirty="0"/>
              <a:t>n+1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baseline="-25000" dirty="0" err="1"/>
              <a:t>n</a:t>
            </a:r>
            <a:r>
              <a:rPr lang="en-US" dirty="0"/>
              <a:t>(</a:t>
            </a:r>
            <a:r>
              <a:rPr lang="en-US" dirty="0">
                <a:latin typeface="Symbol" pitchFamily="18" charset="2"/>
              </a:rPr>
              <a:t>l</a:t>
            </a:r>
            <a:r>
              <a:rPr lang="en-US" dirty="0"/>
              <a:t> + </a:t>
            </a:r>
            <a:r>
              <a:rPr lang="en-US" dirty="0">
                <a:latin typeface="Symbol" pitchFamily="18" charset="2"/>
              </a:rPr>
              <a:t>m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800" dirty="0"/>
              <a:t> </a:t>
            </a:r>
            <a:r>
              <a:rPr lang="en-US" sz="2800" dirty="0">
                <a:latin typeface="Symbol" pitchFamily="18" charset="2"/>
              </a:rPr>
              <a:t>l </a:t>
            </a:r>
            <a:r>
              <a:rPr lang="en-US" sz="2800" dirty="0"/>
              <a:t>P</a:t>
            </a:r>
            <a:r>
              <a:rPr lang="en-US" sz="2800" baseline="-25000" dirty="0"/>
              <a:t>0</a:t>
            </a:r>
            <a:r>
              <a:rPr lang="en-US" sz="2800" dirty="0"/>
              <a:t>= </a:t>
            </a:r>
            <a:r>
              <a:rPr lang="en-US" sz="2800" dirty="0">
                <a:latin typeface="Symbol" pitchFamily="18" charset="2"/>
              </a:rPr>
              <a:t>m </a:t>
            </a:r>
            <a:r>
              <a:rPr lang="en-US" sz="2800" dirty="0"/>
              <a:t>P</a:t>
            </a:r>
            <a:r>
              <a:rPr lang="en-US" sz="2800" baseline="-25000" dirty="0"/>
              <a:t>1 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/>
              <a:t>P</a:t>
            </a:r>
            <a:r>
              <a:rPr lang="en-US" sz="2800" baseline="-25000" dirty="0"/>
              <a:t>1</a:t>
            </a:r>
            <a:r>
              <a:rPr lang="en-US" sz="2800" dirty="0"/>
              <a:t> = </a:t>
            </a:r>
            <a:r>
              <a:rPr lang="en-US" sz="2800" dirty="0">
                <a:latin typeface="Symbol" pitchFamily="18" charset="2"/>
              </a:rPr>
              <a:t>l/ m</a:t>
            </a:r>
            <a:r>
              <a:rPr lang="en-US" sz="2800" dirty="0"/>
              <a:t> P</a:t>
            </a:r>
            <a:r>
              <a:rPr lang="en-US" sz="2800" baseline="-25000" dirty="0"/>
              <a:t>0 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baseline="-25000" dirty="0">
                <a:solidFill>
                  <a:srgbClr val="C00000"/>
                </a:solidFill>
              </a:rPr>
              <a:t>1</a:t>
            </a:r>
            <a:r>
              <a:rPr lang="en-US" sz="2800" dirty="0">
                <a:solidFill>
                  <a:srgbClr val="C00000"/>
                </a:solidFill>
              </a:rPr>
              <a:t> = </a:t>
            </a:r>
            <a:r>
              <a:rPr lang="en-US" sz="2800" dirty="0">
                <a:solidFill>
                  <a:srgbClr val="C00000"/>
                </a:solidFill>
                <a:latin typeface="Symbol" pitchFamily="18" charset="2"/>
              </a:rPr>
              <a:t>r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baseline="-25000" dirty="0">
                <a:solidFill>
                  <a:srgbClr val="C00000"/>
                </a:solidFill>
              </a:rPr>
              <a:t>0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</a:p>
          <a:p>
            <a:pPr marL="457200" lvl="1" indent="0">
              <a:buNone/>
            </a:pPr>
            <a:endParaRPr lang="en-US" sz="2800" dirty="0">
              <a:latin typeface="Symbol" pitchFamily="18" charset="2"/>
            </a:endParaRPr>
          </a:p>
          <a:p>
            <a:pPr marL="457200" lvl="1" indent="0">
              <a:buNone/>
            </a:pPr>
            <a:r>
              <a:rPr lang="en-US" sz="2800" dirty="0">
                <a:latin typeface="Symbol" pitchFamily="18" charset="2"/>
              </a:rPr>
              <a:t>		</a:t>
            </a:r>
          </a:p>
          <a:p>
            <a:pPr lvl="1"/>
            <a:r>
              <a:rPr lang="en-US" sz="2800" dirty="0"/>
              <a:t> </a:t>
            </a:r>
            <a:r>
              <a:rPr lang="en-US" sz="2800" dirty="0">
                <a:latin typeface="Symbol" pitchFamily="18" charset="2"/>
              </a:rPr>
              <a:t>l</a:t>
            </a:r>
            <a:r>
              <a:rPr lang="en-US" sz="2800" dirty="0"/>
              <a:t> P</a:t>
            </a:r>
            <a:r>
              <a:rPr lang="en-US" sz="2800" baseline="-25000" dirty="0"/>
              <a:t>0</a:t>
            </a:r>
            <a:r>
              <a:rPr lang="en-US" sz="2800" dirty="0"/>
              <a:t> + </a:t>
            </a:r>
            <a:r>
              <a:rPr lang="en-US" sz="2800" dirty="0">
                <a:latin typeface="Symbol" pitchFamily="18" charset="2"/>
              </a:rPr>
              <a:t>m</a:t>
            </a:r>
            <a:r>
              <a:rPr lang="en-US" sz="2800" dirty="0"/>
              <a:t> P</a:t>
            </a:r>
            <a:r>
              <a:rPr lang="en-US" sz="2800" baseline="-25000" dirty="0"/>
              <a:t>2</a:t>
            </a:r>
            <a:r>
              <a:rPr lang="en-US" sz="2800" dirty="0"/>
              <a:t> = P</a:t>
            </a:r>
            <a:r>
              <a:rPr lang="en-US" sz="2800" baseline="-25000" dirty="0"/>
              <a:t>1</a:t>
            </a:r>
            <a:r>
              <a:rPr lang="en-US" sz="2800" dirty="0"/>
              <a:t>(</a:t>
            </a:r>
            <a:r>
              <a:rPr lang="en-US" sz="2800" dirty="0">
                <a:latin typeface="Symbol" pitchFamily="18" charset="2"/>
              </a:rPr>
              <a:t>l</a:t>
            </a:r>
            <a:r>
              <a:rPr lang="en-US" sz="2800" dirty="0"/>
              <a:t> + </a:t>
            </a:r>
            <a:r>
              <a:rPr lang="en-US" sz="2800" dirty="0">
                <a:latin typeface="Symbol" pitchFamily="18" charset="2"/>
              </a:rPr>
              <a:t>m</a:t>
            </a:r>
            <a:r>
              <a:rPr lang="en-US" sz="2800" dirty="0"/>
              <a:t>) 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baseline="-25000" dirty="0">
                <a:solidFill>
                  <a:srgbClr val="C00000"/>
                </a:solidFill>
              </a:rPr>
              <a:t>2</a:t>
            </a:r>
            <a:r>
              <a:rPr lang="en-US" sz="2800" dirty="0">
                <a:solidFill>
                  <a:srgbClr val="C00000"/>
                </a:solidFill>
              </a:rPr>
              <a:t> = </a:t>
            </a:r>
            <a:r>
              <a:rPr lang="en-US" sz="2800" dirty="0">
                <a:solidFill>
                  <a:srgbClr val="C00000"/>
                </a:solidFill>
                <a:latin typeface="Symbol" pitchFamily="18" charset="2"/>
              </a:rPr>
              <a:t>r</a:t>
            </a:r>
            <a:r>
              <a:rPr lang="en-US" sz="2800" baseline="30000" dirty="0">
                <a:solidFill>
                  <a:srgbClr val="C00000"/>
                </a:solidFill>
                <a:latin typeface="Symbol" pitchFamily="18" charset="2"/>
              </a:rPr>
              <a:t>2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baseline="-25000" dirty="0">
                <a:solidFill>
                  <a:srgbClr val="C00000"/>
                </a:solidFill>
              </a:rPr>
              <a:t>0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 </a:t>
            </a:r>
            <a:r>
              <a:rPr lang="en-US" sz="2800" dirty="0">
                <a:latin typeface="Symbol" pitchFamily="18" charset="2"/>
              </a:rPr>
              <a:t>l</a:t>
            </a:r>
            <a:r>
              <a:rPr lang="en-US" sz="2800" dirty="0"/>
              <a:t> P</a:t>
            </a:r>
            <a:r>
              <a:rPr lang="en-US" sz="2800" baseline="-25000" dirty="0"/>
              <a:t>1</a:t>
            </a:r>
            <a:r>
              <a:rPr lang="en-US" sz="2800" dirty="0"/>
              <a:t> + </a:t>
            </a:r>
            <a:r>
              <a:rPr lang="en-US" sz="2800" dirty="0">
                <a:latin typeface="Symbol" pitchFamily="18" charset="2"/>
              </a:rPr>
              <a:t>m</a:t>
            </a:r>
            <a:r>
              <a:rPr lang="en-US" sz="2800" dirty="0"/>
              <a:t> P</a:t>
            </a:r>
            <a:r>
              <a:rPr lang="en-US" sz="2800" baseline="-25000" dirty="0"/>
              <a:t>3</a:t>
            </a:r>
            <a:r>
              <a:rPr lang="en-US" sz="2800" dirty="0"/>
              <a:t> = P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dirty="0">
                <a:latin typeface="Symbol" pitchFamily="18" charset="2"/>
              </a:rPr>
              <a:t>l</a:t>
            </a:r>
            <a:r>
              <a:rPr lang="en-US" sz="2800" dirty="0"/>
              <a:t> + </a:t>
            </a:r>
            <a:r>
              <a:rPr lang="en-US" sz="2800" dirty="0">
                <a:latin typeface="Symbol" pitchFamily="18" charset="2"/>
              </a:rPr>
              <a:t>m</a:t>
            </a:r>
            <a:r>
              <a:rPr lang="en-US" sz="2800" dirty="0"/>
              <a:t>) 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baseline="-25000" dirty="0">
                <a:solidFill>
                  <a:srgbClr val="C00000"/>
                </a:solidFill>
              </a:rPr>
              <a:t>3</a:t>
            </a:r>
            <a:r>
              <a:rPr lang="en-US" sz="2800" dirty="0">
                <a:solidFill>
                  <a:srgbClr val="C00000"/>
                </a:solidFill>
              </a:rPr>
              <a:t> = </a:t>
            </a:r>
            <a:r>
              <a:rPr lang="en-US" sz="2800" dirty="0">
                <a:solidFill>
                  <a:srgbClr val="C00000"/>
                </a:solidFill>
                <a:latin typeface="Symbol" pitchFamily="18" charset="2"/>
              </a:rPr>
              <a:t>r</a:t>
            </a:r>
            <a:r>
              <a:rPr lang="en-US" sz="2800" baseline="30000" dirty="0">
                <a:solidFill>
                  <a:srgbClr val="C00000"/>
                </a:solidFill>
                <a:latin typeface="Symbol" pitchFamily="18" charset="2"/>
              </a:rPr>
              <a:t>3</a:t>
            </a:r>
            <a:r>
              <a:rPr lang="en-US" sz="2800" dirty="0">
                <a:solidFill>
                  <a:srgbClr val="C00000"/>
                </a:solidFill>
              </a:rPr>
              <a:t>P</a:t>
            </a:r>
            <a:r>
              <a:rPr lang="en-US" sz="2800" baseline="-25000" dirty="0">
                <a:solidFill>
                  <a:srgbClr val="C00000"/>
                </a:solidFill>
              </a:rPr>
              <a:t>0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…………</a:t>
            </a:r>
          </a:p>
          <a:p>
            <a:pPr marL="400050" lvl="2" indent="0">
              <a:buNone/>
            </a:pPr>
            <a:r>
              <a:rPr lang="en-US" sz="2400" dirty="0"/>
              <a:t>			</a:t>
            </a:r>
            <a:r>
              <a:rPr lang="en-US" sz="2400" dirty="0" err="1">
                <a:solidFill>
                  <a:srgbClr val="C00000"/>
                </a:solidFill>
              </a:rPr>
              <a:t>P</a:t>
            </a:r>
            <a:r>
              <a:rPr lang="en-US" sz="2400" baseline="-25000" dirty="0" err="1">
                <a:solidFill>
                  <a:srgbClr val="C0000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 = </a:t>
            </a:r>
            <a:r>
              <a:rPr lang="en-US" sz="2400" dirty="0">
                <a:solidFill>
                  <a:srgbClr val="C00000"/>
                </a:solidFill>
                <a:latin typeface="Symbol" pitchFamily="18" charset="2"/>
              </a:rPr>
              <a:t>r</a:t>
            </a:r>
            <a:r>
              <a:rPr lang="en-US" sz="2400" baseline="30000" dirty="0">
                <a:solidFill>
                  <a:srgbClr val="C0000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P</a:t>
            </a:r>
            <a:r>
              <a:rPr lang="en-US" sz="2400" baseline="-25000" dirty="0">
                <a:solidFill>
                  <a:srgbClr val="C00000"/>
                </a:solidFill>
              </a:rPr>
              <a:t>0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65E0E4F7-EC85-4F41-991D-593F7BB5BC60}"/>
              </a:ext>
            </a:extLst>
          </p:cNvPr>
          <p:cNvSpPr/>
          <p:nvPr/>
        </p:nvSpPr>
        <p:spPr bwMode="auto">
          <a:xfrm rot="5400000">
            <a:off x="5707380" y="2008767"/>
            <a:ext cx="190500" cy="1295400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6" charset="-128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5D5740-CAF9-4BE0-B607-959B979BF389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3265714" y="2751717"/>
            <a:ext cx="2536916" cy="6772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" name="Right Brace 5">
            <a:extLst>
              <a:ext uri="{FF2B5EF4-FFF2-40B4-BE49-F238E27FC236}">
                <a16:creationId xmlns:a16="http://schemas.microsoft.com/office/drawing/2014/main" id="{DBC9099E-3E5D-4715-8BA6-82AD453F6FE9}"/>
              </a:ext>
            </a:extLst>
          </p:cNvPr>
          <p:cNvSpPr/>
          <p:nvPr/>
        </p:nvSpPr>
        <p:spPr bwMode="auto">
          <a:xfrm rot="5400000">
            <a:off x="5353050" y="3270428"/>
            <a:ext cx="190500" cy="1295400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6" charset="-128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04AE8B-476C-4982-B65C-33D0ADA6A8C2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 flipH="1">
            <a:off x="3265714" y="4013378"/>
            <a:ext cx="2182586" cy="6519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FE1726-7077-47DE-9D82-D9C1C2BF3442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1698171" y="2751717"/>
            <a:ext cx="4104459" cy="19135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4" name="Picture 2" descr="C:\Users\konurd\Desktop\2000px-MM1_queue_state_space.svg.png">
            <a:extLst>
              <a:ext uri="{FF2B5EF4-FFF2-40B4-BE49-F238E27FC236}">
                <a16:creationId xmlns:a16="http://schemas.microsoft.com/office/drawing/2014/main" id="{EF3955F9-A2D0-46F1-BB14-319ED16EF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477" y="1859572"/>
            <a:ext cx="4494523" cy="48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28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M/M/1 Derivations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Sum of probabilities is equal to 1</a:t>
                </a:r>
              </a:p>
              <a:p>
                <a:pPr lvl="1"/>
                <a:r>
                  <a:rPr lang="en-US" dirty="0"/>
                  <a:t>P</a:t>
                </a:r>
                <a:r>
                  <a:rPr lang="en-US" baseline="-25000" dirty="0"/>
                  <a:t>0</a:t>
                </a:r>
                <a:r>
                  <a:rPr lang="en-US" dirty="0"/>
                  <a:t>+ P</a:t>
                </a:r>
                <a:r>
                  <a:rPr lang="en-US" baseline="-25000" dirty="0"/>
                  <a:t>1</a:t>
                </a:r>
                <a:r>
                  <a:rPr lang="en-US" dirty="0"/>
                  <a:t>+ P</a:t>
                </a:r>
                <a:r>
                  <a:rPr lang="en-US" baseline="-25000" dirty="0"/>
                  <a:t>2</a:t>
                </a:r>
                <a:r>
                  <a:rPr lang="en-US" dirty="0"/>
                  <a:t>+ P</a:t>
                </a:r>
                <a:r>
                  <a:rPr lang="en-US" baseline="-25000" dirty="0"/>
                  <a:t>3</a:t>
                </a:r>
                <a:r>
                  <a:rPr lang="en-US" dirty="0"/>
                  <a:t>+ P</a:t>
                </a:r>
                <a:r>
                  <a:rPr lang="en-US" baseline="-25000" dirty="0"/>
                  <a:t>4</a:t>
                </a:r>
                <a:r>
                  <a:rPr lang="en-US" dirty="0"/>
                  <a:t>+…..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dirty="0">
                                  <a:latin typeface="Symbol" pitchFamily="18" charset="2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DF32F10D-83A8-4A77-9674-CA11843E4D1F}"/>
              </a:ext>
            </a:extLst>
          </p:cNvPr>
          <p:cNvSpPr/>
          <p:nvPr/>
        </p:nvSpPr>
        <p:spPr bwMode="auto">
          <a:xfrm>
            <a:off x="6858000" y="3276600"/>
            <a:ext cx="381000" cy="1143000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4CA160-3C86-4D93-83AC-12E5048FD73F}"/>
                  </a:ext>
                </a:extLst>
              </p:cNvPr>
              <p:cNvSpPr txBox="1"/>
              <p:nvPr/>
            </p:nvSpPr>
            <p:spPr>
              <a:xfrm>
                <a:off x="7470710" y="3519196"/>
                <a:ext cx="2514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Geometric sequence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Symbol" pitchFamily="18" charset="2"/>
                      </a:rPr>
                      <m:t>r</m:t>
                    </m:r>
                  </m:oMath>
                </a14:m>
                <a:r>
                  <a:rPr lang="en-US" dirty="0"/>
                  <a:t>&lt;1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4CA160-3C86-4D93-83AC-12E5048FD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710" y="3519196"/>
                <a:ext cx="2514600" cy="1200329"/>
              </a:xfrm>
              <a:prstGeom prst="rect">
                <a:avLst/>
              </a:prstGeom>
              <a:blipFill>
                <a:blip r:embed="rId3"/>
                <a:stretch>
                  <a:fillRect l="-2184" t="-2538" r="-3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FD9D1BC5-38E5-41FF-AD80-ADE78AE72858}"/>
              </a:ext>
            </a:extLst>
          </p:cNvPr>
          <p:cNvSpPr/>
          <p:nvPr/>
        </p:nvSpPr>
        <p:spPr bwMode="auto">
          <a:xfrm rot="5400000">
            <a:off x="5654040" y="3878580"/>
            <a:ext cx="304800" cy="1082040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6E57B-EE6A-4BC4-BFB0-6DA2AA3EAE4A}"/>
                  </a:ext>
                </a:extLst>
              </p:cNvPr>
              <p:cNvSpPr txBox="1"/>
              <p:nvPr/>
            </p:nvSpPr>
            <p:spPr>
              <a:xfrm>
                <a:off x="5400325" y="4572000"/>
                <a:ext cx="13030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1/(1-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Symbol" pitchFamily="18" charset="2"/>
                      </a:rPr>
                      <m:t>r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6E57B-EE6A-4BC4-BFB0-6DA2AA3EA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325" y="4572000"/>
                <a:ext cx="1303020" cy="461665"/>
              </a:xfrm>
              <a:prstGeom prst="rect">
                <a:avLst/>
              </a:prstGeom>
              <a:blipFill>
                <a:blip r:embed="rId4"/>
                <a:stretch>
                  <a:fillRect l="-4206" t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xplosion 2 7">
                <a:extLst>
                  <a:ext uri="{FF2B5EF4-FFF2-40B4-BE49-F238E27FC236}">
                    <a16:creationId xmlns:a16="http://schemas.microsoft.com/office/drawing/2014/main" id="{14300D81-017D-4737-B743-9A71A568C854}"/>
                  </a:ext>
                </a:extLst>
              </p:cNvPr>
              <p:cNvSpPr/>
              <p:nvPr/>
            </p:nvSpPr>
            <p:spPr bwMode="auto">
              <a:xfrm>
                <a:off x="111190" y="3429000"/>
                <a:ext cx="4191000" cy="2971800"/>
              </a:xfrm>
              <a:prstGeom prst="irregularSeal2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ＭＳ Ｐゴシック" pitchFamily="16" charset="-128"/>
                  </a:rPr>
                  <a:t>=1-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Symbol" pitchFamily="18" charset="2"/>
                      </a:rPr>
                      <m:t>r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p</a:t>
                </a:r>
                <a:r>
                  <a:rPr lang="en-US" baseline="-25000" dirty="0" err="1"/>
                  <a:t>n</a:t>
                </a:r>
                <a:r>
                  <a:rPr lang="en-US" dirty="0"/>
                  <a:t> = </a:t>
                </a:r>
                <a:r>
                  <a:rPr lang="en-US" dirty="0" err="1">
                    <a:latin typeface="Symbol" pitchFamily="18" charset="2"/>
                  </a:rPr>
                  <a:t>r</a:t>
                </a:r>
                <a:r>
                  <a:rPr lang="en-US" baseline="30000" dirty="0" err="1"/>
                  <a:t>n</a:t>
                </a:r>
                <a:r>
                  <a:rPr lang="en-US" dirty="0"/>
                  <a:t>(1-</a:t>
                </a:r>
                <a:r>
                  <a:rPr lang="en-US" dirty="0">
                    <a:latin typeface="Symbol" pitchFamily="18" charset="2"/>
                  </a:rPr>
                  <a:t>r</a:t>
                </a:r>
                <a:r>
                  <a:rPr lang="en-US" dirty="0"/>
                  <a:t>)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8" name="Explosion 2 7">
                <a:extLst>
                  <a:ext uri="{FF2B5EF4-FFF2-40B4-BE49-F238E27FC236}">
                    <a16:creationId xmlns:a16="http://schemas.microsoft.com/office/drawing/2014/main" id="{14300D81-017D-4737-B743-9A71A568C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190" y="3429000"/>
                <a:ext cx="4191000" cy="2971800"/>
              </a:xfrm>
              <a:prstGeom prst="irregularSeal2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57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M/M/1 Derivations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Recall the performance measures</a:t>
            </a:r>
          </a:p>
          <a:p>
            <a:pPr lvl="1"/>
            <a:r>
              <a:rPr lang="en-US" sz="2000" i="1" dirty="0"/>
              <a:t>L</a:t>
            </a:r>
            <a:r>
              <a:rPr lang="en-US" sz="2000" dirty="0"/>
              <a:t>	= Expected </a:t>
            </a:r>
            <a:r>
              <a:rPr lang="en-US" sz="2000" b="1" dirty="0"/>
              <a:t>number of customers in the system</a:t>
            </a:r>
            <a:r>
              <a:rPr lang="en-US" sz="2000" dirty="0"/>
              <a:t>, including those being served (the symbol </a:t>
            </a:r>
            <a:r>
              <a:rPr lang="en-US" sz="2000" i="1" dirty="0"/>
              <a:t>L</a:t>
            </a:r>
            <a:r>
              <a:rPr lang="en-US" sz="2000" dirty="0"/>
              <a:t> comes from </a:t>
            </a:r>
            <a:r>
              <a:rPr lang="en-US" sz="2000" i="1" dirty="0"/>
              <a:t>L</a:t>
            </a:r>
            <a:r>
              <a:rPr lang="en-US" sz="2000" dirty="0"/>
              <a:t>ine </a:t>
            </a:r>
            <a:r>
              <a:rPr lang="en-US" sz="2000" i="1" dirty="0"/>
              <a:t>L</a:t>
            </a:r>
            <a:r>
              <a:rPr lang="en-US" sz="2000" dirty="0"/>
              <a:t>ength).</a:t>
            </a:r>
          </a:p>
          <a:p>
            <a:pPr lvl="1"/>
            <a:r>
              <a:rPr lang="en-US" sz="2000" i="1" dirty="0" err="1"/>
              <a:t>L</a:t>
            </a:r>
            <a:r>
              <a:rPr lang="en-US" sz="2000" i="1" baseline="-25000" dirty="0" err="1"/>
              <a:t>q</a:t>
            </a:r>
            <a:r>
              <a:rPr lang="en-US" sz="2000" i="1" dirty="0"/>
              <a:t>= </a:t>
            </a:r>
            <a:r>
              <a:rPr lang="en-US" sz="2000" dirty="0"/>
              <a:t>Expected </a:t>
            </a:r>
            <a:r>
              <a:rPr lang="en-US" sz="2000" b="1" dirty="0"/>
              <a:t>number of customers in the queue</a:t>
            </a:r>
            <a:r>
              <a:rPr lang="en-US" sz="2000" dirty="0"/>
              <a:t>, which excludes customers being served.</a:t>
            </a:r>
          </a:p>
          <a:p>
            <a:pPr lvl="1"/>
            <a:r>
              <a:rPr lang="en-US" sz="2000" i="1" dirty="0"/>
              <a:t>W </a:t>
            </a:r>
            <a:r>
              <a:rPr lang="en-US" sz="2000" dirty="0"/>
              <a:t>= Expected </a:t>
            </a:r>
            <a:r>
              <a:rPr lang="en-US" sz="2000" b="1" dirty="0"/>
              <a:t>waiting time in the system</a:t>
            </a:r>
            <a:r>
              <a:rPr lang="en-US" sz="2000" dirty="0"/>
              <a:t> (including service time) for an individual customer (the symbol </a:t>
            </a:r>
            <a:r>
              <a:rPr lang="en-US" sz="2000" i="1" dirty="0"/>
              <a:t>W</a:t>
            </a:r>
            <a:r>
              <a:rPr lang="en-US" sz="2000" dirty="0"/>
              <a:t> comes from </a:t>
            </a:r>
            <a:r>
              <a:rPr lang="en-US" sz="2000" i="1" dirty="0"/>
              <a:t>W</a:t>
            </a:r>
            <a:r>
              <a:rPr lang="en-US" sz="2000" dirty="0"/>
              <a:t>aiting time).</a:t>
            </a:r>
          </a:p>
          <a:p>
            <a:pPr lvl="1"/>
            <a:r>
              <a:rPr lang="en-US" sz="2000" i="1" dirty="0" err="1"/>
              <a:t>W</a:t>
            </a:r>
            <a:r>
              <a:rPr lang="en-US" sz="2000" i="1" baseline="-25000" dirty="0" err="1"/>
              <a:t>q</a:t>
            </a:r>
            <a:r>
              <a:rPr lang="en-US" sz="2000" i="1" baseline="-25000" dirty="0"/>
              <a:t> </a:t>
            </a:r>
            <a:r>
              <a:rPr lang="en-US" sz="2000" dirty="0"/>
              <a:t>= Expected </a:t>
            </a:r>
            <a:r>
              <a:rPr lang="en-US" sz="2000" b="1" dirty="0"/>
              <a:t>waiting time in the queue</a:t>
            </a:r>
            <a:r>
              <a:rPr lang="en-US" sz="2000" dirty="0"/>
              <a:t> (excludes service time) for an individual customer</a:t>
            </a:r>
            <a:endParaRPr lang="en-US" dirty="0"/>
          </a:p>
          <a:p>
            <a:endParaRPr lang="en-US" dirty="0"/>
          </a:p>
          <a:p>
            <a:r>
              <a:rPr lang="en-US" dirty="0"/>
              <a:t>And the relations among these:</a:t>
            </a:r>
          </a:p>
          <a:p>
            <a:pPr lvl="1"/>
            <a:r>
              <a:rPr lang="en-US" i="1" dirty="0"/>
              <a:t>L</a:t>
            </a:r>
            <a:r>
              <a:rPr lang="en-US" dirty="0"/>
              <a:t> = </a:t>
            </a:r>
            <a:r>
              <a:rPr lang="en-US" dirty="0" err="1">
                <a:latin typeface="Symbol" pitchFamily="18" charset="2"/>
              </a:rPr>
              <a:t>l</a:t>
            </a:r>
            <a:r>
              <a:rPr lang="en-US" i="1" dirty="0" err="1"/>
              <a:t>W</a:t>
            </a:r>
            <a:endParaRPr lang="en-US" i="1" dirty="0"/>
          </a:p>
          <a:p>
            <a:pPr lvl="1"/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 err="1">
                <a:latin typeface="Symbol" pitchFamily="18" charset="2"/>
              </a:rPr>
              <a:t>l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endParaRPr lang="en-US" i="1" baseline="-25000" dirty="0"/>
          </a:p>
          <a:p>
            <a:pPr lvl="1"/>
            <a:r>
              <a:rPr lang="en-US" i="1" dirty="0"/>
              <a:t>W</a:t>
            </a:r>
            <a:r>
              <a:rPr lang="en-US" dirty="0"/>
              <a:t> = </a:t>
            </a:r>
            <a:r>
              <a:rPr lang="en-US" i="1" dirty="0" err="1"/>
              <a:t>W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+ 1/</a:t>
            </a:r>
            <a:r>
              <a:rPr lang="en-US" dirty="0">
                <a:latin typeface="Symbol" pitchFamily="18" charset="2"/>
              </a:rPr>
              <a:t>m</a:t>
            </a:r>
          </a:p>
          <a:p>
            <a:pPr lvl="1"/>
            <a:r>
              <a:rPr lang="en-US" i="1" dirty="0"/>
              <a:t>L</a:t>
            </a:r>
            <a:r>
              <a:rPr lang="en-US" dirty="0"/>
              <a:t> = </a:t>
            </a:r>
            <a:r>
              <a:rPr lang="en-US" i="1" dirty="0" err="1"/>
              <a:t>L</a:t>
            </a:r>
            <a:r>
              <a:rPr lang="en-US" i="1" baseline="-25000" dirty="0" err="1"/>
              <a:t>q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>
                <a:latin typeface="Symbol" pitchFamily="18" charset="2"/>
              </a:rPr>
              <a:t>l</a:t>
            </a:r>
            <a:r>
              <a:rPr lang="en-US" dirty="0"/>
              <a:t>/</a:t>
            </a:r>
            <a:r>
              <a:rPr lang="en-US" dirty="0">
                <a:latin typeface="Symbol" pitchFamily="18" charset="2"/>
              </a:rPr>
              <a:t>m</a:t>
            </a:r>
          </a:p>
          <a:p>
            <a:pPr lvl="1"/>
            <a:endParaRPr lang="en-US" dirty="0"/>
          </a:p>
          <a:p>
            <a:r>
              <a:rPr lang="en-US" dirty="0"/>
              <a:t>So, it is sufficient to find one of them</a:t>
            </a:r>
          </a:p>
        </p:txBody>
      </p:sp>
    </p:spTree>
    <p:extLst>
      <p:ext uri="{BB962C8B-B14F-4D97-AF65-F5344CB8AC3E}">
        <p14:creationId xmlns:p14="http://schemas.microsoft.com/office/powerpoint/2010/main" val="395385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M/M/1 Derivations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7171"/>
            <a:ext cx="11478410" cy="486453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 = E[# in system]</a:t>
            </a:r>
          </a:p>
          <a:p>
            <a:pPr lvl="1"/>
            <a:endParaRPr lang="en-US" dirty="0"/>
          </a:p>
        </p:txBody>
      </p:sp>
      <p:pic>
        <p:nvPicPr>
          <p:cNvPr id="9" name="Picture 2" descr="C:\Users\konurd\Desktop\2000px-MM1_queue_state_space.svg.png">
            <a:extLst>
              <a:ext uri="{FF2B5EF4-FFF2-40B4-BE49-F238E27FC236}">
                <a16:creationId xmlns:a16="http://schemas.microsoft.com/office/drawing/2014/main" id="{84D01E01-10CC-4749-B7FF-094C7DDC2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5" y="1445665"/>
            <a:ext cx="9074437" cy="970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824BAD-5D3E-4DAA-AAF7-BBA6A9D31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1743" y="3163434"/>
            <a:ext cx="4165600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AutoShape 8">
            <a:extLst>
              <a:ext uri="{FF2B5EF4-FFF2-40B4-BE49-F238E27FC236}">
                <a16:creationId xmlns:a16="http://schemas.microsoft.com/office/drawing/2014/main" id="{9A5A0A9D-DC7A-466A-BE70-F1317B43D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121242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11C084-7FF5-484D-B858-B67F78EB1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872798"/>
            <a:ext cx="2559050" cy="954088"/>
          </a:xfrm>
          <a:prstGeom prst="rect">
            <a:avLst/>
          </a:prstGeom>
          <a:solidFill>
            <a:schemeClr val="accent1">
              <a:alpha val="5098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3" name="Picture 10">
            <a:extLst>
              <a:ext uri="{FF2B5EF4-FFF2-40B4-BE49-F238E27FC236}">
                <a16:creationId xmlns:a16="http://schemas.microsoft.com/office/drawing/2014/main" id="{8527638F-C035-4080-B02F-54401B8CF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4845127"/>
            <a:ext cx="255905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177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M/M/1 Derivations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measures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DFF047E3-67E7-4D91-A5D8-1AE7D70F0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4575" y="1923661"/>
            <a:ext cx="255905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631DF75-C4FE-4845-B139-FF4B1CAE2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8227" y="2879337"/>
            <a:ext cx="1670051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B72FD3D-8CEA-4C8E-ADB5-1495F180F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2675" y="3869936"/>
          <a:ext cx="36925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600" imgH="444240" progId="Equation.3">
                  <p:embed/>
                </p:oleObj>
              </mc:Choice>
              <mc:Fallback>
                <p:oleObj name="Equation" r:id="rId4" imgW="1866600" imgH="444240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B72FD3D-8CEA-4C8E-ADB5-1495F180F7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675" y="3869936"/>
                        <a:ext cx="36925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B7128BA-1900-40B9-B48C-788EE7E58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5124450"/>
          <a:ext cx="30781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600" imgH="419100" progId="Equation.3">
                  <p:embed/>
                </p:oleObj>
              </mc:Choice>
              <mc:Fallback>
                <p:oleObj name="Equation" r:id="rId6" imgW="1625600" imgH="419100" progId="Equation.3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B7128BA-1900-40B9-B48C-788EE7E58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24450"/>
                        <a:ext cx="3078163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061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59EC4-F9ED-EFB0-744F-046D9859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ED03-4836-B851-B244-6067812D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65118-4A65-6EAE-D281-8D5B20896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2" y="1312433"/>
            <a:ext cx="9271219" cy="48645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Queueing-System Structure and Terminology</a:t>
            </a:r>
          </a:p>
          <a:p>
            <a:r>
              <a:rPr lang="en-US" dirty="0">
                <a:solidFill>
                  <a:schemeClr val="bg2"/>
                </a:solidFill>
              </a:rPr>
              <a:t>Key Performance Measures, Little’s Law, and Other Relations</a:t>
            </a:r>
          </a:p>
          <a:p>
            <a:r>
              <a:rPr lang="en-US" dirty="0">
                <a:solidFill>
                  <a:schemeClr val="bg2"/>
                </a:solidFill>
              </a:rPr>
              <a:t>Some Queueing Systems </a:t>
            </a:r>
          </a:p>
          <a:p>
            <a:r>
              <a:rPr lang="en-US" dirty="0">
                <a:solidFill>
                  <a:schemeClr val="bg2"/>
                </a:solidFill>
              </a:rPr>
              <a:t>M/M/1 Derivations </a:t>
            </a:r>
          </a:p>
          <a:p>
            <a:endParaRPr lang="en-US" dirty="0"/>
          </a:p>
          <a:p>
            <a:r>
              <a:rPr lang="en-US" dirty="0"/>
              <a:t>Review of Queueing Basics</a:t>
            </a:r>
          </a:p>
          <a:p>
            <a:pPr lvl="1"/>
            <a:r>
              <a:rPr lang="en-US" dirty="0"/>
              <a:t>A Case Study and Key Insights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895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Queueing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Elements:</a:t>
            </a:r>
          </a:p>
          <a:p>
            <a:pPr lvl="1">
              <a:tabLst>
                <a:tab pos="808038" algn="l"/>
              </a:tabLst>
            </a:pPr>
            <a:r>
              <a:rPr lang="en-US" sz="2000" i="1" dirty="0">
                <a:latin typeface="Symbol" pitchFamily="18" charset="2"/>
              </a:rPr>
              <a:t>l</a:t>
            </a:r>
            <a:r>
              <a:rPr lang="en-US" sz="2000" dirty="0"/>
              <a:t>	= </a:t>
            </a:r>
            <a:r>
              <a:rPr lang="en-US" sz="2000" b="1" dirty="0"/>
              <a:t>Mean arrival rate</a:t>
            </a:r>
            <a:r>
              <a:rPr lang="en-US" sz="2000" dirty="0"/>
              <a:t> for customers = Expected number of arrivals per unit time</a:t>
            </a:r>
          </a:p>
          <a:p>
            <a:pPr lvl="2">
              <a:tabLst>
                <a:tab pos="808038" algn="l"/>
              </a:tabLst>
            </a:pPr>
            <a:r>
              <a:rPr lang="en-US" sz="1800" dirty="0"/>
              <a:t>1/</a:t>
            </a:r>
            <a:r>
              <a:rPr lang="en-US" sz="1800" i="1" dirty="0">
                <a:latin typeface="Symbol" pitchFamily="18" charset="2"/>
              </a:rPr>
              <a:t>l</a:t>
            </a:r>
            <a:r>
              <a:rPr lang="en-US" sz="1800" dirty="0"/>
              <a:t> = expected interarrival time</a:t>
            </a:r>
          </a:p>
          <a:p>
            <a:pPr lvl="1">
              <a:tabLst>
                <a:tab pos="808038" algn="l"/>
              </a:tabLst>
            </a:pPr>
            <a:r>
              <a:rPr lang="en-US" sz="2000" i="1" dirty="0">
                <a:latin typeface="Symbol" pitchFamily="18" charset="2"/>
              </a:rPr>
              <a:t>m</a:t>
            </a:r>
            <a:r>
              <a:rPr lang="en-US" sz="2000" dirty="0"/>
              <a:t> = </a:t>
            </a:r>
            <a:r>
              <a:rPr lang="en-US" sz="2000" b="1" dirty="0"/>
              <a:t>Mean service rate</a:t>
            </a:r>
            <a:r>
              <a:rPr lang="en-US" sz="2000" dirty="0"/>
              <a:t> (for a continuously busy server) = Expected number of service completions per unit time</a:t>
            </a:r>
          </a:p>
          <a:p>
            <a:pPr lvl="2">
              <a:tabLst>
                <a:tab pos="808038" algn="l"/>
              </a:tabLst>
            </a:pPr>
            <a:r>
              <a:rPr lang="en-US" sz="1800" dirty="0">
                <a:latin typeface="Symbol" pitchFamily="18" charset="2"/>
              </a:rPr>
              <a:t>1/</a:t>
            </a:r>
            <a:r>
              <a:rPr lang="en-US" sz="1800" i="1" dirty="0">
                <a:latin typeface="Symbol" pitchFamily="18" charset="2"/>
              </a:rPr>
              <a:t>m</a:t>
            </a:r>
            <a:r>
              <a:rPr lang="en-US" sz="1800" dirty="0"/>
              <a:t> = expected service time</a:t>
            </a:r>
          </a:p>
          <a:p>
            <a:pPr lvl="1">
              <a:tabLst>
                <a:tab pos="808038" algn="l"/>
              </a:tabLst>
            </a:pPr>
            <a:r>
              <a:rPr lang="en-US" sz="2000" i="1" dirty="0"/>
              <a:t> </a:t>
            </a:r>
            <a:r>
              <a:rPr lang="en-US" sz="2000" i="1" dirty="0">
                <a:latin typeface="Symbol" pitchFamily="18" charset="2"/>
              </a:rPr>
              <a:t>r</a:t>
            </a:r>
            <a:r>
              <a:rPr lang="en-US" sz="2000" dirty="0"/>
              <a:t> = the </a:t>
            </a:r>
            <a:r>
              <a:rPr lang="en-US" sz="2000" b="1" dirty="0"/>
              <a:t>utilization</a:t>
            </a:r>
            <a:r>
              <a:rPr lang="en-US" sz="2000" dirty="0"/>
              <a:t> </a:t>
            </a:r>
            <a:r>
              <a:rPr lang="en-US" sz="2000" b="1" dirty="0"/>
              <a:t>factor </a:t>
            </a:r>
            <a:r>
              <a:rPr lang="en-US" sz="2000" dirty="0"/>
              <a:t>= the average fraction of time that a server is busy serving customers = </a:t>
            </a:r>
            <a:r>
              <a:rPr lang="en-US" sz="2000" i="1" dirty="0">
                <a:latin typeface="Symbol" pitchFamily="18" charset="2"/>
              </a:rPr>
              <a:t>l</a:t>
            </a:r>
            <a:r>
              <a:rPr lang="en-US" sz="2000" dirty="0">
                <a:latin typeface="Symbol" pitchFamily="18" charset="2"/>
              </a:rPr>
              <a:t> / </a:t>
            </a:r>
            <a:r>
              <a:rPr lang="en-US" sz="2000" i="1" dirty="0">
                <a:latin typeface="Symbol" pitchFamily="18" charset="2"/>
              </a:rPr>
              <a:t>m</a:t>
            </a:r>
            <a:endParaRPr lang="en-US" sz="2000" dirty="0"/>
          </a:p>
          <a:p>
            <a:r>
              <a:rPr lang="en-US" sz="2400" dirty="0">
                <a:solidFill>
                  <a:srgbClr val="C00000"/>
                </a:solidFill>
              </a:rPr>
              <a:t>Key performance metrics:</a:t>
            </a:r>
          </a:p>
          <a:p>
            <a:pPr lvl="1"/>
            <a:r>
              <a:rPr lang="en-US" sz="2000" i="1" dirty="0"/>
              <a:t>L</a:t>
            </a:r>
            <a:r>
              <a:rPr lang="en-US" sz="2000" dirty="0"/>
              <a:t>	= Expected </a:t>
            </a:r>
            <a:r>
              <a:rPr lang="en-US" sz="2000" b="1" dirty="0"/>
              <a:t>number of customers in the system</a:t>
            </a:r>
            <a:r>
              <a:rPr lang="en-US" sz="2000" dirty="0"/>
              <a:t>, including those being served </a:t>
            </a:r>
          </a:p>
          <a:p>
            <a:pPr lvl="1"/>
            <a:r>
              <a:rPr lang="en-US" sz="2000" i="1" dirty="0" err="1"/>
              <a:t>L</a:t>
            </a:r>
            <a:r>
              <a:rPr lang="en-US" sz="2000" i="1" baseline="-25000" dirty="0" err="1"/>
              <a:t>q</a:t>
            </a:r>
            <a:r>
              <a:rPr lang="en-US" sz="2000" i="1" dirty="0"/>
              <a:t>= </a:t>
            </a:r>
            <a:r>
              <a:rPr lang="en-US" sz="2000" dirty="0"/>
              <a:t>Expected </a:t>
            </a:r>
            <a:r>
              <a:rPr lang="en-US" sz="2000" b="1" dirty="0"/>
              <a:t>number of customers in the queue</a:t>
            </a:r>
            <a:r>
              <a:rPr lang="en-US" sz="2000" dirty="0"/>
              <a:t>, excludes customers being served.</a:t>
            </a:r>
          </a:p>
          <a:p>
            <a:pPr lvl="1"/>
            <a:r>
              <a:rPr lang="en-US" sz="2000" i="1" dirty="0"/>
              <a:t>W </a:t>
            </a:r>
            <a:r>
              <a:rPr lang="en-US" sz="2000" dirty="0"/>
              <a:t>= Expected </a:t>
            </a:r>
            <a:r>
              <a:rPr lang="en-US" sz="2000" b="1" dirty="0"/>
              <a:t>waiting time in the system</a:t>
            </a:r>
            <a:r>
              <a:rPr lang="en-US" sz="2000" dirty="0"/>
              <a:t> (including service time) for an individual customer</a:t>
            </a:r>
          </a:p>
          <a:p>
            <a:pPr lvl="1"/>
            <a:r>
              <a:rPr lang="en-US" sz="2000" i="1" dirty="0" err="1"/>
              <a:t>W</a:t>
            </a:r>
            <a:r>
              <a:rPr lang="en-US" sz="2000" i="1" baseline="-25000" dirty="0" err="1"/>
              <a:t>q</a:t>
            </a:r>
            <a:r>
              <a:rPr lang="en-US" sz="2000" i="1" baseline="-25000" dirty="0"/>
              <a:t> </a:t>
            </a:r>
            <a:r>
              <a:rPr lang="en-US" sz="2000" dirty="0"/>
              <a:t>= Expected </a:t>
            </a:r>
            <a:r>
              <a:rPr lang="en-US" sz="2000" b="1" dirty="0"/>
              <a:t>waiting time in the queue</a:t>
            </a:r>
            <a:r>
              <a:rPr lang="en-US" sz="2000" dirty="0"/>
              <a:t> (excludes service time) for an individual customer</a:t>
            </a:r>
          </a:p>
          <a:p>
            <a:r>
              <a:rPr lang="en-US" sz="2400" dirty="0">
                <a:solidFill>
                  <a:srgbClr val="C00000"/>
                </a:solidFill>
              </a:rPr>
              <a:t>And the relations among these:</a:t>
            </a:r>
          </a:p>
          <a:p>
            <a:pPr lvl="1"/>
            <a:r>
              <a:rPr lang="en-US" sz="2000" i="1" dirty="0"/>
              <a:t>L</a:t>
            </a:r>
            <a:r>
              <a:rPr lang="en-US" sz="2000" dirty="0"/>
              <a:t> = </a:t>
            </a:r>
            <a:r>
              <a:rPr lang="en-US" sz="2000" dirty="0" err="1">
                <a:latin typeface="Symbol" pitchFamily="18" charset="2"/>
              </a:rPr>
              <a:t>l</a:t>
            </a:r>
            <a:r>
              <a:rPr lang="en-US" sz="2000" i="1" dirty="0" err="1"/>
              <a:t>W</a:t>
            </a:r>
            <a:endParaRPr lang="en-US" sz="2000" i="1" dirty="0"/>
          </a:p>
          <a:p>
            <a:pPr lvl="1"/>
            <a:r>
              <a:rPr lang="en-US" sz="2000" i="1" dirty="0" err="1"/>
              <a:t>L</a:t>
            </a:r>
            <a:r>
              <a:rPr lang="en-US" sz="2000" i="1" baseline="-25000" dirty="0" err="1"/>
              <a:t>q</a:t>
            </a:r>
            <a:r>
              <a:rPr lang="en-US" sz="2000" i="1" dirty="0"/>
              <a:t> </a:t>
            </a:r>
            <a:r>
              <a:rPr lang="en-US" sz="2000" dirty="0"/>
              <a:t>= </a:t>
            </a:r>
            <a:r>
              <a:rPr lang="en-US" sz="2000" i="1" dirty="0" err="1">
                <a:latin typeface="Symbol" pitchFamily="18" charset="2"/>
              </a:rPr>
              <a:t>l</a:t>
            </a:r>
            <a:r>
              <a:rPr lang="en-US" sz="2000" i="1" dirty="0" err="1"/>
              <a:t>W</a:t>
            </a:r>
            <a:r>
              <a:rPr lang="en-US" sz="2000" i="1" baseline="-25000" dirty="0" err="1"/>
              <a:t>q</a:t>
            </a:r>
            <a:endParaRPr lang="en-US" sz="2000" i="1" baseline="-25000" dirty="0"/>
          </a:p>
          <a:p>
            <a:pPr lvl="1"/>
            <a:r>
              <a:rPr lang="en-US" sz="2000" i="1" dirty="0"/>
              <a:t>W</a:t>
            </a:r>
            <a:r>
              <a:rPr lang="en-US" sz="2000" dirty="0"/>
              <a:t> = </a:t>
            </a:r>
            <a:r>
              <a:rPr lang="en-US" sz="2000" i="1" dirty="0" err="1"/>
              <a:t>W</a:t>
            </a:r>
            <a:r>
              <a:rPr lang="en-US" sz="2000" i="1" baseline="-25000" dirty="0" err="1"/>
              <a:t>q</a:t>
            </a:r>
            <a:r>
              <a:rPr lang="en-US" sz="2000" i="1" dirty="0"/>
              <a:t> </a:t>
            </a:r>
            <a:r>
              <a:rPr lang="en-US" sz="2000" dirty="0"/>
              <a:t>+ 1/</a:t>
            </a:r>
            <a:r>
              <a:rPr lang="en-US" sz="2000" dirty="0">
                <a:latin typeface="Symbol" pitchFamily="18" charset="2"/>
              </a:rPr>
              <a:t>m</a:t>
            </a:r>
          </a:p>
          <a:p>
            <a:pPr lvl="1"/>
            <a:r>
              <a:rPr lang="en-US" sz="2000" i="1" dirty="0"/>
              <a:t>L</a:t>
            </a:r>
            <a:r>
              <a:rPr lang="en-US" sz="2000" dirty="0"/>
              <a:t> = </a:t>
            </a:r>
            <a:r>
              <a:rPr lang="en-US" sz="2000" i="1" dirty="0" err="1"/>
              <a:t>L</a:t>
            </a:r>
            <a:r>
              <a:rPr lang="en-US" sz="2000" i="1" baseline="-25000" dirty="0" err="1"/>
              <a:t>q</a:t>
            </a:r>
            <a:r>
              <a:rPr lang="en-US" sz="2000" i="1" dirty="0"/>
              <a:t> </a:t>
            </a:r>
            <a:r>
              <a:rPr lang="en-US" sz="2000" dirty="0"/>
              <a:t>+ </a:t>
            </a:r>
            <a:r>
              <a:rPr lang="en-US" sz="2000" i="1" dirty="0">
                <a:latin typeface="Symbol" pitchFamily="18" charset="2"/>
              </a:rPr>
              <a:t>l</a:t>
            </a:r>
            <a:r>
              <a:rPr lang="en-US" sz="2000" dirty="0"/>
              <a:t>/</a:t>
            </a:r>
            <a:r>
              <a:rPr lang="en-US" sz="2000" dirty="0">
                <a:latin typeface="Symbol" pitchFamily="18" charset="2"/>
              </a:rPr>
              <a:t>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1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Queueing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Kendall’s Notation: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Results for some systems:</a:t>
            </a:r>
          </a:p>
          <a:p>
            <a:pPr lvl="1"/>
            <a:r>
              <a:rPr lang="en-US" sz="2000" dirty="0"/>
              <a:t>M/M/1</a:t>
            </a:r>
          </a:p>
          <a:p>
            <a:pPr lvl="1"/>
            <a:r>
              <a:rPr lang="en-US" sz="2000" dirty="0"/>
              <a:t>M/M/c</a:t>
            </a:r>
          </a:p>
          <a:p>
            <a:pPr lvl="1"/>
            <a:r>
              <a:rPr lang="en-US" sz="2000" dirty="0"/>
              <a:t>M/G/1</a:t>
            </a:r>
          </a:p>
          <a:p>
            <a:pPr lvl="1"/>
            <a:r>
              <a:rPr lang="en-US" sz="2000" dirty="0"/>
              <a:t>Others and Queueing Templates.xlsx!</a:t>
            </a:r>
          </a:p>
          <a:p>
            <a:pPr lvl="1"/>
            <a:endParaRPr lang="en-US" sz="2000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A10092-63AF-48D4-AA9C-7696BD11D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08" y="1685216"/>
            <a:ext cx="5622491" cy="74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3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u="sng" dirty="0">
                <a:solidFill>
                  <a:srgbClr val="C00000"/>
                </a:solidFill>
              </a:rPr>
              <a:t>Case: Company FIX provides maintenance services</a:t>
            </a:r>
          </a:p>
          <a:p>
            <a:pPr>
              <a:lnSpc>
                <a:spcPct val="80000"/>
              </a:lnSpc>
            </a:pPr>
            <a:r>
              <a:rPr lang="en-US" u="sng" dirty="0"/>
              <a:t>Problem: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Company FIX provides maintenance to its customers in a small area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600 customers in total, each customer requests a maintenance service every 50 days on average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To do so, a customer calls the company and automatically assigned to a maintenance employee based on the location of the customer (zip code)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FIX employs 4 maintenance personnel</a:t>
            </a:r>
          </a:p>
          <a:p>
            <a:pPr lvl="1">
              <a:lnSpc>
                <a:spcPct val="80000"/>
              </a:lnSpc>
            </a:pPr>
            <a:r>
              <a:rPr lang="en-US" u="sng" dirty="0"/>
              <a:t>Current policy: </a:t>
            </a:r>
            <a:r>
              <a:rPr lang="en-US" dirty="0"/>
              <a:t>Each maintenance employee is assigned to a sub-area covering 150 customers. So, in total there are 4 independent sub-areas.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Handling of a service request by a maintenance employee (travelling to customer site, providing maintenance, and coming back to the local office) takes about 0.25 day on average</a:t>
            </a:r>
          </a:p>
          <a:p>
            <a:pPr lvl="1">
              <a:lnSpc>
                <a:spcPct val="80000"/>
              </a:lnSpc>
            </a:pPr>
            <a:r>
              <a:rPr lang="en-US" u="sng" dirty="0"/>
              <a:t>Complaints: </a:t>
            </a:r>
            <a:r>
              <a:rPr lang="en-US" dirty="0"/>
              <a:t>There have been some complaints from customers about how long they wait until the maintenance employee starts the travel to the site.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What can be done?</a:t>
            </a:r>
            <a:endParaRPr lang="en-US" b="1" baseline="300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5576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b="1" u="sng" dirty="0">
                <a:solidFill>
                  <a:srgbClr val="C00000"/>
                </a:solidFill>
              </a:rPr>
              <a:t>Case: Company FIX provides maintenance services</a:t>
            </a:r>
          </a:p>
          <a:p>
            <a:pPr>
              <a:lnSpc>
                <a:spcPct val="80000"/>
              </a:lnSpc>
            </a:pPr>
            <a:r>
              <a:rPr lang="en-US" u="sng" dirty="0"/>
              <a:t>Queueing Elements: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The customers: </a:t>
            </a:r>
            <a:r>
              <a:rPr lang="en-US" dirty="0"/>
              <a:t>The customers requesting maintenance service.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Customer arrivals: </a:t>
            </a:r>
            <a:r>
              <a:rPr lang="en-US" dirty="0"/>
              <a:t>The requests for service.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The queue: </a:t>
            </a:r>
            <a:r>
              <a:rPr lang="en-US" dirty="0"/>
              <a:t>The service requests waiting for a maintenance employee to start the travel to the site of the request.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The servers: </a:t>
            </a:r>
            <a:r>
              <a:rPr lang="en-US" dirty="0"/>
              <a:t>The maintenance employee.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Service time: </a:t>
            </a:r>
            <a:r>
              <a:rPr lang="en-US" dirty="0"/>
              <a:t>The total time a maintenance employee is tied up with a request, including travel to and back from request site and maintenance time</a:t>
            </a:r>
          </a:p>
          <a:p>
            <a:pPr>
              <a:lnSpc>
                <a:spcPct val="80000"/>
              </a:lnSpc>
            </a:pPr>
            <a:r>
              <a:rPr lang="en-US" u="sng" dirty="0"/>
              <a:t>Queueing systems: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There are 4 independent single-server queuing systems because requests are assigned to employees based on location, and </a:t>
            </a:r>
            <a:r>
              <a:rPr lang="en-US" u="sng" dirty="0"/>
              <a:t>each employee has its own queue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Arrival rates:  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Each employee is responsible for 150 customers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Each customer requests a service every 50 days on average</a:t>
            </a:r>
            <a:endParaRPr lang="en-US" b="1" baseline="30000" dirty="0">
              <a:sym typeface="Symbol" pitchFamily="18" charset="2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E2D7BD4-603A-4928-94A0-C82DAE6C94F7}"/>
              </a:ext>
            </a:extLst>
          </p:cNvPr>
          <p:cNvSpPr/>
          <p:nvPr/>
        </p:nvSpPr>
        <p:spPr>
          <a:xfrm>
            <a:off x="7692788" y="5916050"/>
            <a:ext cx="377588" cy="736979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3C6B2-4AE2-4881-8276-F31A098A0AD9}"/>
              </a:ext>
            </a:extLst>
          </p:cNvPr>
          <p:cNvSpPr txBox="1"/>
          <p:nvPr/>
        </p:nvSpPr>
        <p:spPr>
          <a:xfrm>
            <a:off x="8411570" y="5822874"/>
            <a:ext cx="2320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3 service requests per day on average (for each employee)</a:t>
            </a:r>
          </a:p>
        </p:txBody>
      </p:sp>
    </p:spTree>
    <p:extLst>
      <p:ext uri="{BB962C8B-B14F-4D97-AF65-F5344CB8AC3E}">
        <p14:creationId xmlns:p14="http://schemas.microsoft.com/office/powerpoint/2010/main" val="154511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Case: Company FIX provides maintenance services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u="sng" dirty="0"/>
                  <a:t>Current State: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b="1" dirty="0"/>
                  <a:t>Observations: </a:t>
                </a:r>
                <a:r>
                  <a:rPr lang="en-US" dirty="0"/>
                  <a:t>Service times and interarrival times are exponentially distribution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b="1" dirty="0"/>
                  <a:t>Systems: </a:t>
                </a:r>
                <a:r>
                  <a:rPr lang="en-US" dirty="0"/>
                  <a:t>There are 4 identical M/M/1 systems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b="1" dirty="0"/>
                  <a:t>Each M/M/1: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dirty="0"/>
                  <a:t>Mean arrival rate: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dirty="0"/>
              </a:p>
              <a:p>
                <a:pPr lvl="2">
                  <a:lnSpc>
                    <a:spcPct val="80000"/>
                  </a:lnSpc>
                </a:pPr>
                <a:r>
                  <a:rPr lang="en-US" dirty="0"/>
                  <a:t>Mean service time: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dirty="0"/>
              </a:p>
              <a:p>
                <a:pPr lvl="2">
                  <a:lnSpc>
                    <a:spcPct val="80000"/>
                  </a:lnSpc>
                </a:pPr>
                <a:r>
                  <a:rPr lang="en-US" dirty="0"/>
                  <a:t>Mean service rate: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6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55D2A75-C705-42A1-9969-7591F47CE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29" y="4471090"/>
            <a:ext cx="7090236" cy="1583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12AA5A-DC58-4D60-8CEC-6F59A669B349}"/>
              </a:ext>
            </a:extLst>
          </p:cNvPr>
          <p:cNvSpPr txBox="1"/>
          <p:nvPr/>
        </p:nvSpPr>
        <p:spPr>
          <a:xfrm>
            <a:off x="7791654" y="3429000"/>
            <a:ext cx="425041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rgbClr val="C00000"/>
                </a:solidFill>
              </a:rPr>
              <a:t>For a M/M/1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waiting time of a customer from the time request made until the maintenance employee starts to travel to the request site is </a:t>
            </a:r>
            <a:r>
              <a:rPr lang="en-US" sz="1400" dirty="0" err="1"/>
              <a:t>Wq</a:t>
            </a:r>
            <a:r>
              <a:rPr lang="en-US" sz="1400" dirty="0"/>
              <a:t>=0.75 days (6 hours assuming a day is a 8-hour work 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Note that, this is true for any customer from any sub-area because the M/M/1 systems for the sub-areas are identical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are L=3 people from each sub-area in the company’s system on average </a:t>
            </a:r>
            <a:r>
              <a:rPr lang="en-US" sz="1400" dirty="0">
                <a:sym typeface="Wingdings" panose="05000000000000000000" pitchFamily="2" charset="2"/>
              </a:rPr>
              <a:t> Therefore, there are 4*3=12 customers in the company’s system overall town on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Each employee is busy 75% of the day on average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7263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Case: Company FIX provides maintenance services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b="1" dirty="0"/>
                  <a:t>Issue: </a:t>
                </a:r>
                <a:r>
                  <a:rPr lang="en-US" sz="2400" dirty="0"/>
                  <a:t>Customers’ waiting time until handling starts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Goal: </a:t>
                </a:r>
                <a:r>
                  <a:rPr lang="en-US" sz="2000" dirty="0"/>
                  <a:t>Decrease </a:t>
                </a:r>
                <a:r>
                  <a:rPr lang="en-US" sz="2000" dirty="0" err="1"/>
                  <a:t>Wq</a:t>
                </a:r>
                <a:r>
                  <a:rPr lang="en-US" sz="2000" dirty="0"/>
                  <a:t>!!!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Plan: </a:t>
                </a:r>
                <a:r>
                  <a:rPr lang="en-US" sz="2000" dirty="0"/>
                  <a:t>Decrease how busy each employee is!! 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Currently, each employee is busy 75% of the time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How can we decrease that? Recall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US" sz="1600" dirty="0"/>
                  <a:t>, so we can try to change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/>
                  <a:t> 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1600" dirty="0"/>
              </a:p>
              <a:p>
                <a:pPr lvl="1">
                  <a:lnSpc>
                    <a:spcPct val="80000"/>
                  </a:lnSpc>
                </a:pPr>
                <a:r>
                  <a:rPr lang="en-US" sz="2000" b="1" u="sng" dirty="0">
                    <a:solidFill>
                      <a:srgbClr val="C00000"/>
                    </a:solidFill>
                  </a:rPr>
                  <a:t>Suggestion 1:</a:t>
                </a:r>
                <a:r>
                  <a:rPr lang="en-US" sz="2000" u="sng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Decrease how busy each employee is by decreasing # of customers in a sub-area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We know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2000" dirty="0"/>
                  <a:t>  </a:t>
                </a:r>
                <a:r>
                  <a:rPr lang="en-US" sz="2000" dirty="0">
                    <a:sym typeface="Wingdings" panose="05000000000000000000" pitchFamily="2" charset="2"/>
                  </a:rPr>
                  <a:t>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denotes the # of customers assigned to an employee’s sub-area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What is the maximum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value to achieve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≤0.25</m:t>
                    </m:r>
                  </m:oMath>
                </a14:m>
                <a:r>
                  <a:rPr lang="en-US" sz="2000" dirty="0"/>
                  <a:t>?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/>
                  <a:t> will not change!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Given that each employee sub-area will continue to be a M/M/1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We know that, for an M/M/1 system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𝑊𝑞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≤0.25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≤0.25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𝜆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≤2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Thus,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≤100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So, maximum number of customers that can be assigned to an employee’s sub-area is 100 to achieve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𝑊𝑞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≤0.25</m:t>
                    </m:r>
                  </m:oMath>
                </a14:m>
                <a:endParaRPr lang="en-US" sz="1600" dirty="0"/>
              </a:p>
              <a:p>
                <a:pPr marL="914400" lvl="2" indent="0">
                  <a:lnSpc>
                    <a:spcPct val="8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8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51000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Case: Company FIX provides maintenance services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b="1" u="sng" dirty="0">
                    <a:solidFill>
                      <a:srgbClr val="C00000"/>
                    </a:solidFill>
                  </a:rPr>
                  <a:t>Suggestion 1: </a:t>
                </a:r>
                <a:r>
                  <a:rPr lang="en-US" sz="2400" dirty="0"/>
                  <a:t>Decrease how busy each employee is by decreasing n to 100 from 150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Recall that we have 600 customers…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So, we will need 6 sub-areas, where each sub-area is handled by an employee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So, we will need to hire two additional maintenance employees!!!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We will have 6 independent and identical M/M/1 systems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Each M/M/1: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Mean arrival rate: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=2/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Mean service time: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=0.25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Mean service rate: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=4/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800" dirty="0"/>
                  <a:t>Of course, there will be cost implications of Suggestion 1 because we need to hire 2 new maintenance employees to be able to implement Suggestion 1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510008"/>
              </a:xfrm>
              <a:blipFill>
                <a:blip r:embed="rId2"/>
                <a:stretch>
                  <a:fillRect l="-956" t="-2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AA1C198-E81A-40AC-8A8B-A423AB2B8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66" y="4457445"/>
            <a:ext cx="6662593" cy="1488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C9E1A4-1A9F-4DC7-B704-02C5EED49099}"/>
              </a:ext>
            </a:extLst>
          </p:cNvPr>
          <p:cNvSpPr txBox="1"/>
          <p:nvPr/>
        </p:nvSpPr>
        <p:spPr>
          <a:xfrm>
            <a:off x="7664275" y="3049810"/>
            <a:ext cx="425041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rgbClr val="C00000"/>
                </a:solidFill>
              </a:rPr>
              <a:t>For a M/M/1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waiting time of a customer from the time request made until the maintenance employee starts to travel to the request site is </a:t>
            </a:r>
            <a:r>
              <a:rPr lang="en-US" sz="1400" dirty="0" err="1"/>
              <a:t>Wq</a:t>
            </a:r>
            <a:r>
              <a:rPr lang="en-US" sz="1400" dirty="0"/>
              <a:t>=0.25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Note that, this is true for any customer from any sub-area because the M/M/1 systems for the sub-areas are identical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are L=1 people from each sub-area in the company’s system on average </a:t>
            </a:r>
            <a:r>
              <a:rPr lang="en-US" sz="1400" dirty="0">
                <a:sym typeface="Wingdings" panose="05000000000000000000" pitchFamily="2" charset="2"/>
              </a:rPr>
              <a:t> Therefore, there are 6*1=6 customers in the company’s system overall town on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Each employee is busy 50% of the day on average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595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Case: Company FIX provides maintenance services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b="1" dirty="0"/>
                  <a:t>Issue: </a:t>
                </a:r>
                <a:r>
                  <a:rPr lang="en-US" sz="2400" dirty="0"/>
                  <a:t>Customers’ waiting time until handling starts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Goal: </a:t>
                </a:r>
                <a:r>
                  <a:rPr lang="en-US" sz="2000" dirty="0"/>
                  <a:t>Decrease </a:t>
                </a:r>
                <a:r>
                  <a:rPr lang="en-US" sz="2000" dirty="0" err="1"/>
                  <a:t>Wq</a:t>
                </a:r>
                <a:r>
                  <a:rPr lang="en-US" sz="2000" dirty="0"/>
                  <a:t>!!!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Plan: </a:t>
                </a:r>
                <a:r>
                  <a:rPr lang="en-US" sz="2000" dirty="0"/>
                  <a:t>Decrease how busy each employee is!! 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Currently, each employee is busy 75% of the time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How can we decrease that? Recall that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US" sz="1600" dirty="0"/>
                  <a:t>, so we can try to change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/>
                  <a:t> or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1600" dirty="0"/>
              </a:p>
              <a:p>
                <a:pPr lvl="1">
                  <a:lnSpc>
                    <a:spcPct val="80000"/>
                  </a:lnSpc>
                </a:pPr>
                <a:r>
                  <a:rPr lang="en-US" sz="2000" b="1" u="sng" dirty="0">
                    <a:solidFill>
                      <a:srgbClr val="C00000"/>
                    </a:solidFill>
                  </a:rPr>
                  <a:t>Suggestion 2:</a:t>
                </a:r>
                <a:r>
                  <a:rPr lang="en-US" sz="2000" u="sng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Decrease how busy each employee is by providing new equipment to the employee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We still have 4 sub-areas with 150 customers each, and each employee is responsible for a sub-area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So, we still have 4 identical single-server queueing systems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Arrival rate to each queueing system is still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=3/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r>
                  <a:rPr lang="en-US" sz="1600" dirty="0"/>
                  <a:t> and interarrival times are exponentially distributed</a:t>
                </a:r>
              </a:p>
              <a:p>
                <a:pPr lvl="1"/>
                <a:r>
                  <a:rPr lang="en-US" sz="2000" dirty="0"/>
                  <a:t>After gathering more information, it is estimated that the new equipment would have the following effect on the service-time distribution:</a:t>
                </a:r>
              </a:p>
              <a:p>
                <a:pPr lvl="3"/>
                <a:r>
                  <a:rPr lang="en-US" dirty="0"/>
                  <a:t>Mean service time </a:t>
                </a:r>
                <a:r>
                  <a:rPr lang="en-US" dirty="0">
                    <a:sym typeface="Wingdings" panose="05000000000000000000" pitchFamily="2" charset="2"/>
                  </a:rPr>
                  <a:t>decreases</a:t>
                </a:r>
                <a:r>
                  <a:rPr lang="en-US" dirty="0"/>
                  <a:t> from 0.25 day to 0.2 day</a:t>
                </a:r>
              </a:p>
              <a:p>
                <a:pPr lvl="4"/>
                <a:r>
                  <a:rPr lang="en-US" dirty="0"/>
                  <a:t>Therefore, service rate increases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standard deviation of the service time decreases from 0.25 day to 0.1 day </a:t>
                </a:r>
              </a:p>
              <a:p>
                <a:pPr lvl="4"/>
                <a:r>
                  <a:rPr lang="en-US" dirty="0"/>
                  <a:t>(in exponential service time case, mean=standard deviation)</a:t>
                </a:r>
              </a:p>
              <a:p>
                <a:pPr lvl="3"/>
                <a:r>
                  <a:rPr lang="en-US" dirty="0"/>
                  <a:t>But the service time distribution is not exponential with the new equipment</a:t>
                </a:r>
              </a:p>
              <a:p>
                <a:pPr lvl="1">
                  <a:lnSpc>
                    <a:spcPct val="8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7" t="-3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49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2"/>
                <a:ext cx="11478410" cy="538300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Case: Company FIX provides maintenance services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b="1" u="sng" dirty="0">
                    <a:solidFill>
                      <a:srgbClr val="C00000"/>
                    </a:solidFill>
                  </a:rPr>
                  <a:t>Suggestion 2: </a:t>
                </a:r>
                <a:r>
                  <a:rPr lang="en-US" sz="2400" dirty="0"/>
                  <a:t>Decrease how busy each employee with new equipment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We will have 4 independent and identical M/G/1 systems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Each M/G/1: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Mean arrival rate: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=3/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Mean service time: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=0.2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Mean service rate: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=5/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Std. of service time: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=0.1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endParaRPr lang="en-US" sz="1800" dirty="0"/>
              </a:p>
              <a:p>
                <a:pPr lvl="2">
                  <a:lnSpc>
                    <a:spcPct val="80000"/>
                  </a:lnSpc>
                </a:pPr>
                <a:r>
                  <a:rPr lang="en-US" sz="1800" dirty="0"/>
                  <a:t>Again, there might be cost implications of Suggestion 2 because we need new equipment, which might be more expensive to use</a:t>
                </a:r>
              </a:p>
              <a:p>
                <a:pPr lvl="1">
                  <a:lnSpc>
                    <a:spcPct val="8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2"/>
                <a:ext cx="11478410" cy="5383007"/>
              </a:xfrm>
              <a:blipFill>
                <a:blip r:embed="rId2"/>
                <a:stretch>
                  <a:fillRect l="-956" t="-2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7C9E1A4-1A9F-4DC7-B704-02C5EED49099}"/>
              </a:ext>
            </a:extLst>
          </p:cNvPr>
          <p:cNvSpPr txBox="1"/>
          <p:nvPr/>
        </p:nvSpPr>
        <p:spPr>
          <a:xfrm>
            <a:off x="7664275" y="3049810"/>
            <a:ext cx="425041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rgbClr val="C00000"/>
                </a:solidFill>
              </a:rPr>
              <a:t>For a M/G/1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waiting time of a customer from the time request made until the maintenance employee starts to travel to the request site is </a:t>
            </a:r>
            <a:r>
              <a:rPr lang="en-US" sz="1400" dirty="0" err="1"/>
              <a:t>Wq</a:t>
            </a:r>
            <a:r>
              <a:rPr lang="en-US" sz="1400" dirty="0"/>
              <a:t>=0.188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Note that, this is true for any customer from any sub-area because the M/G/1 systems for the sub-areas are identical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are L=1.163 people from each sub-area in the company’s system on average </a:t>
            </a:r>
            <a:r>
              <a:rPr lang="en-US" sz="1400" dirty="0">
                <a:sym typeface="Wingdings" panose="05000000000000000000" pitchFamily="2" charset="2"/>
              </a:rPr>
              <a:t> Therefore, there are 4*1.163=4.652 customers in the company’s system overall town on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Each employee is busy 60% of the day on average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3A4AA2-9266-4AF5-A5FF-6F285A2F7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11" y="4057927"/>
            <a:ext cx="4004361" cy="136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3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A Key Insight: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dirty="0"/>
                  <a:t>Both Suggestions 1 and 2 under the plan for reducing an employee’s utilization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) achieved better performance for W, </a:t>
                </a:r>
                <a:r>
                  <a:rPr lang="en-US" sz="2400" dirty="0" err="1"/>
                  <a:t>Wq</a:t>
                </a:r>
                <a:r>
                  <a:rPr lang="en-US" sz="2400" dirty="0"/>
                  <a:t>, overall L..</a:t>
                </a:r>
              </a:p>
              <a:p>
                <a:pPr lvl="1">
                  <a:lnSpc>
                    <a:spcPct val="8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7">
            <a:extLst>
              <a:ext uri="{FF2B5EF4-FFF2-40B4-BE49-F238E27FC236}">
                <a16:creationId xmlns:a16="http://schemas.microsoft.com/office/drawing/2014/main" id="{B1566B60-BA0F-40A2-958B-64F694B5C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64608" y="2728751"/>
            <a:ext cx="4680882" cy="2723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776F9AEA-570F-4AAC-94B3-F92CE1660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3634" y="5506443"/>
            <a:ext cx="15984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/>
              <a:t>Utilization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B69FAAF-944A-49D5-B04C-D4DF5B9B6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75" y="3382296"/>
            <a:ext cx="65313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L and 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64180B-B8D5-4E33-ACBE-2A22DF079F38}"/>
                  </a:ext>
                </a:extLst>
              </p:cNvPr>
              <p:cNvSpPr txBox="1"/>
              <p:nvPr/>
            </p:nvSpPr>
            <p:spPr>
              <a:xfrm>
                <a:off x="6467982" y="2563767"/>
                <a:ext cx="5400767" cy="4062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 utilization of the servers decrease, the system performs better!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many practical cases, managers try to keep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below a certain threshold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When designing a single-server queueing system, beware that giving a relatively high utilization factor (workload) to the server provides surprisingly poor performance for the system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/>
                  <a:t>Also, decreasing the variability of service times (without any change in the mean) substantially improves the performance of a queueing system.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64180B-B8D5-4E33-ACBE-2A22DF079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982" y="2563767"/>
                <a:ext cx="5400767" cy="4062651"/>
              </a:xfrm>
              <a:prstGeom prst="rect">
                <a:avLst/>
              </a:prstGeom>
              <a:blipFill>
                <a:blip r:embed="rId4"/>
                <a:stretch>
                  <a:fillRect l="-903" t="-901" r="-1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5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Case: Company FIX provides maintenance services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b="1" dirty="0"/>
                  <a:t>Issue: </a:t>
                </a:r>
                <a:r>
                  <a:rPr lang="en-US" sz="2400" dirty="0"/>
                  <a:t>Customers’ waiting time until handling starts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Goal: </a:t>
                </a:r>
                <a:r>
                  <a:rPr lang="en-US" sz="2000" dirty="0"/>
                  <a:t>Decrease </a:t>
                </a:r>
                <a:r>
                  <a:rPr lang="en-US" sz="2000" dirty="0" err="1"/>
                  <a:t>Wq</a:t>
                </a:r>
                <a:r>
                  <a:rPr lang="en-US" sz="2000" dirty="0"/>
                  <a:t>!!!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Plan: </a:t>
                </a:r>
                <a:r>
                  <a:rPr lang="en-US" sz="2000" dirty="0"/>
                  <a:t>Reshape the sub-area assignments 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Currently, each sub-area of 150 customers is handled by a single maintenance employee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Instead, we can create larger sub-areas handled by multiple maintenance employees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u="sng" dirty="0">
                    <a:solidFill>
                      <a:srgbClr val="C00000"/>
                    </a:solidFill>
                  </a:rPr>
                  <a:t>Suggestion 3:</a:t>
                </a:r>
                <a:r>
                  <a:rPr lang="en-US" sz="2000" u="sng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Sub-areas with 300 customers handled by 2 employees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We will have 2 sub-areas, </a:t>
                </a:r>
                <a:r>
                  <a:rPr lang="en-US" sz="1600" dirty="0">
                    <a:sym typeface="Wingdings" panose="05000000000000000000" pitchFamily="2" charset="2"/>
                  </a:rPr>
                  <a:t>Still exponential arrivals and exponential service times, and service rate is not changing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>
                    <a:sym typeface="Wingdings" panose="05000000000000000000" pitchFamily="2" charset="2"/>
                  </a:rPr>
                  <a:t>So, we will have two identical M/M/2 systems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>
                    <a:sym typeface="Wingdings" panose="05000000000000000000" pitchFamily="2" charset="2"/>
                  </a:rPr>
                  <a:t>Each M/M/2 has: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300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50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=6/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𝑑𝑎𝑦</m:t>
                    </m:r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=4/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𝑑𝑎𝑦</m:t>
                    </m:r>
                  </m:oMath>
                </a14:m>
                <a:endParaRPr lang="en-US" sz="2000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80000"/>
                  </a:lnSpc>
                </a:pPr>
                <a:endParaRPr lang="en-US" sz="2000" dirty="0"/>
              </a:p>
              <a:p>
                <a:pPr lvl="1">
                  <a:lnSpc>
                    <a:spcPct val="8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6928258-BB18-4AD3-8F88-B60799A46CCF}"/>
              </a:ext>
            </a:extLst>
          </p:cNvPr>
          <p:cNvSpPr txBox="1"/>
          <p:nvPr/>
        </p:nvSpPr>
        <p:spPr>
          <a:xfrm>
            <a:off x="7900836" y="4091589"/>
            <a:ext cx="425041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rgbClr val="C00000"/>
                </a:solidFill>
              </a:rPr>
              <a:t>For a M/M/2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waiting time of a customer from the time request made until the maintenance employee starts to travel to the request site is </a:t>
            </a:r>
            <a:r>
              <a:rPr lang="en-US" sz="1400" dirty="0" err="1"/>
              <a:t>Wq</a:t>
            </a:r>
            <a:r>
              <a:rPr lang="en-US" sz="1400" dirty="0"/>
              <a:t>=0.321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Note that, this is true for any customer from any sub-area because the M/M/2 systems for the sub-areas are identical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are L=3.43 people from each sub-area in the company’s system on average </a:t>
            </a:r>
            <a:r>
              <a:rPr lang="en-US" sz="1400" dirty="0">
                <a:sym typeface="Wingdings" panose="05000000000000000000" pitchFamily="2" charset="2"/>
              </a:rPr>
              <a:t> Therefore, there are 2*3.43=6.86 customers in the company’s system overall town on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Each employee is busy 75% of the day on average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EFDBFA-1B84-438B-82E1-0F97BD60D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03" y="4691473"/>
            <a:ext cx="7508824" cy="167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6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Case: Company FIX provides maintenance services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b="1" dirty="0"/>
                  <a:t>Issue: </a:t>
                </a:r>
                <a:r>
                  <a:rPr lang="en-US" sz="2400" dirty="0"/>
                  <a:t>Customers’ waiting time until handling starts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Goal: </a:t>
                </a:r>
                <a:r>
                  <a:rPr lang="en-US" sz="2000" dirty="0"/>
                  <a:t>Decrease </a:t>
                </a:r>
                <a:r>
                  <a:rPr lang="en-US" sz="2000" dirty="0" err="1"/>
                  <a:t>Wq</a:t>
                </a:r>
                <a:r>
                  <a:rPr lang="en-US" sz="2000" dirty="0"/>
                  <a:t>!!!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dirty="0"/>
                  <a:t>Plan: </a:t>
                </a:r>
                <a:r>
                  <a:rPr lang="en-US" sz="2000" dirty="0"/>
                  <a:t>Reshape the sub-area assignments 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Currently, each sub-area of 150 customers is handled by a single maintenance employee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1600" dirty="0"/>
                  <a:t>Instead, we can create larger sub-areas handled by multiple maintenance employees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b="1" u="sng" dirty="0">
                    <a:solidFill>
                      <a:srgbClr val="C00000"/>
                    </a:solidFill>
                  </a:rPr>
                  <a:t>Suggestion 4:</a:t>
                </a:r>
                <a:r>
                  <a:rPr lang="en-US" sz="2000" u="sng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A single area with 600 customers handled by 4 employees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We will have 1 sub-area, </a:t>
                </a:r>
                <a:r>
                  <a:rPr lang="en-US" sz="1600" dirty="0">
                    <a:sym typeface="Wingdings" panose="05000000000000000000" pitchFamily="2" charset="2"/>
                  </a:rPr>
                  <a:t>Still exponential arrivals and exponential service times, and service rate is not changing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>
                    <a:sym typeface="Wingdings" panose="05000000000000000000" pitchFamily="2" charset="2"/>
                  </a:rPr>
                  <a:t>So, we will have one M/M/4 system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>
                    <a:sym typeface="Wingdings" panose="05000000000000000000" pitchFamily="2" charset="2"/>
                  </a:rPr>
                  <a:t>M/M/4 has: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600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50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=12/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𝑑𝑎𝑦</m:t>
                    </m:r>
                  </m:oMath>
                </a14:m>
                <a:r>
                  <a:rPr lang="en-US" sz="2000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=4/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𝑑𝑎𝑦</m:t>
                    </m:r>
                  </m:oMath>
                </a14:m>
                <a:endParaRPr lang="en-US" sz="2000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80000"/>
                  </a:lnSpc>
                </a:pPr>
                <a:endParaRPr lang="en-US" sz="2000" dirty="0"/>
              </a:p>
              <a:p>
                <a:pPr lvl="1">
                  <a:lnSpc>
                    <a:spcPct val="8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6928258-BB18-4AD3-8F88-B60799A46CCF}"/>
              </a:ext>
            </a:extLst>
          </p:cNvPr>
          <p:cNvSpPr txBox="1"/>
          <p:nvPr/>
        </p:nvSpPr>
        <p:spPr>
          <a:xfrm>
            <a:off x="8023666" y="4391840"/>
            <a:ext cx="42504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rgbClr val="C00000"/>
                </a:solidFill>
              </a:rPr>
              <a:t>For the M/M/4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waiting time of a customer from the time request made until the maintenance employee starts to travel to the request site is </a:t>
            </a:r>
            <a:r>
              <a:rPr lang="en-US" sz="1400" dirty="0" err="1"/>
              <a:t>Wq</a:t>
            </a:r>
            <a:r>
              <a:rPr lang="en-US" sz="1400" dirty="0"/>
              <a:t>=0.127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are L=4.52 people from </a:t>
            </a:r>
            <a:r>
              <a:rPr lang="en-US" sz="1400" dirty="0">
                <a:sym typeface="Wingdings" panose="05000000000000000000" pitchFamily="2" charset="2"/>
              </a:rPr>
              <a:t>in the company’s system overall town on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Each employee is busy 75% of the day on average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175FA-6A91-43E8-9761-199E8BF4C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05" y="4753143"/>
            <a:ext cx="7558596" cy="168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5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Case Study and Key Insights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Key Insight: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/>
                  <a:t>Both Suggestions 3 and 4 under the plan for reshaping subareas imply the same utilization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) for the employees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b="1" u="sng" dirty="0">
                    <a:solidFill>
                      <a:srgbClr val="C00000"/>
                    </a:solidFill>
                  </a:rPr>
                  <a:t>Pooling Servers: </a:t>
                </a:r>
                <a:r>
                  <a:rPr lang="en-US" dirty="0"/>
                  <a:t>Multiple-server queueing systems can perform satisfactorily with somewhat higher utilization factors than can single-server queueing systems. For example, pooling servers by combining separate single-server queueing systems into one multiple-server queueing system greatly improves the measures of performance.</a:t>
                </a:r>
              </a:p>
              <a:p>
                <a:pPr>
                  <a:lnSpc>
                    <a:spcPct val="80000"/>
                  </a:lnSpc>
                </a:pPr>
                <a:endParaRPr lang="en-US" b="1" u="sng" dirty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8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757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>
            <a:extLst>
              <a:ext uri="{FF2B5EF4-FFF2-40B4-BE49-F238E27FC236}">
                <a16:creationId xmlns:a16="http://schemas.microsoft.com/office/drawing/2014/main" id="{ABD3FFD4-39ED-46B2-A888-92A2CBD8F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8416" y="4237725"/>
            <a:ext cx="4532313" cy="212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A77075B5-F0A0-4710-957D-40760F9D1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05117" y="4046538"/>
            <a:ext cx="4303712" cy="213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EDF37F89-9D30-498A-BA0F-E5F62D4FA997}"/>
              </a:ext>
            </a:extLst>
          </p:cNvPr>
          <p:cNvSpPr/>
          <p:nvPr/>
        </p:nvSpPr>
        <p:spPr>
          <a:xfrm>
            <a:off x="5872285" y="4592796"/>
            <a:ext cx="985520" cy="5994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8FD81-7609-47F3-B93F-F7D1FDE20B80}"/>
              </a:ext>
            </a:extLst>
          </p:cNvPr>
          <p:cNvSpPr/>
          <p:nvPr/>
        </p:nvSpPr>
        <p:spPr>
          <a:xfrm>
            <a:off x="2540000" y="6296990"/>
            <a:ext cx="7650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dirty="0" err="1">
                <a:solidFill>
                  <a:srgbClr val="C00000"/>
                </a:solidFill>
              </a:rPr>
              <a:t>Wq</a:t>
            </a:r>
            <a:r>
              <a:rPr lang="en-US" dirty="0">
                <a:solidFill>
                  <a:srgbClr val="C00000"/>
                </a:solidFill>
              </a:rPr>
              <a:t>(for combined system) &lt; </a:t>
            </a:r>
            <a:r>
              <a:rPr lang="en-US" dirty="0" err="1">
                <a:solidFill>
                  <a:srgbClr val="C00000"/>
                </a:solidFill>
              </a:rPr>
              <a:t>Wq</a:t>
            </a:r>
            <a:r>
              <a:rPr lang="en-US" dirty="0">
                <a:solidFill>
                  <a:srgbClr val="C00000"/>
                </a:solidFill>
              </a:rPr>
              <a:t>(for each single-server system)/n</a:t>
            </a:r>
          </a:p>
        </p:txBody>
      </p:sp>
    </p:spTree>
    <p:extLst>
      <p:ext uri="{BB962C8B-B14F-4D97-AF65-F5344CB8AC3E}">
        <p14:creationId xmlns:p14="http://schemas.microsoft.com/office/powerpoint/2010/main" val="168364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7349</TotalTime>
  <Words>6744</Words>
  <Application>Microsoft Office PowerPoint</Application>
  <PresentationFormat>Widescreen</PresentationFormat>
  <Paragraphs>863</Paragraphs>
  <Slides>59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QMST 5335 Module 2.1 Basics of Queueing Theory </vt:lpstr>
      <vt:lpstr>Learning Objectives:</vt:lpstr>
      <vt:lpstr>Outline</vt:lpstr>
      <vt:lpstr>Outline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Queueing-System Structure and Terminology</vt:lpstr>
      <vt:lpstr>Outline</vt:lpstr>
      <vt:lpstr>Key Performance Measures</vt:lpstr>
      <vt:lpstr>Key Performance Measures</vt:lpstr>
      <vt:lpstr>Little’s Law and Other Relations</vt:lpstr>
      <vt:lpstr>Little’s Law and Other Relations</vt:lpstr>
      <vt:lpstr>Little’s Law and Other Relations</vt:lpstr>
      <vt:lpstr>Little’s Law and Other Relations</vt:lpstr>
      <vt:lpstr>Little’s Law and Other Relations</vt:lpstr>
      <vt:lpstr>Outline</vt:lpstr>
      <vt:lpstr>Some Queueing Systems</vt:lpstr>
      <vt:lpstr>Some Queueing Systems</vt:lpstr>
      <vt:lpstr>Some Queueing Systems</vt:lpstr>
      <vt:lpstr>Some Queueing Systems</vt:lpstr>
      <vt:lpstr>Some Queueing Systems</vt:lpstr>
      <vt:lpstr>Some Queueing Systems</vt:lpstr>
      <vt:lpstr>Some Queueing Systems</vt:lpstr>
      <vt:lpstr>Some Queueing Systems</vt:lpstr>
      <vt:lpstr>Some Queueing Systems</vt:lpstr>
      <vt:lpstr>Outline</vt:lpstr>
      <vt:lpstr>M/M/1 Derivations</vt:lpstr>
      <vt:lpstr>M/M/1 Derivations</vt:lpstr>
      <vt:lpstr>M/M/1 Derivations</vt:lpstr>
      <vt:lpstr>M/M/1 Derivations</vt:lpstr>
      <vt:lpstr>M/M/1 Derivations</vt:lpstr>
      <vt:lpstr>M/M/1 Derivations</vt:lpstr>
      <vt:lpstr>M/M/1 Derivations</vt:lpstr>
      <vt:lpstr>M/M/1 Derivations</vt:lpstr>
      <vt:lpstr>Outline</vt:lpstr>
      <vt:lpstr>Review of Queueing Basics</vt:lpstr>
      <vt:lpstr>Review of Queueing Basics</vt:lpstr>
      <vt:lpstr>A Case Study and Key Insights</vt:lpstr>
      <vt:lpstr>A Case Study and Key Insights</vt:lpstr>
      <vt:lpstr>A Case Study and Key Insights</vt:lpstr>
      <vt:lpstr>A Case Study and Key Insights</vt:lpstr>
      <vt:lpstr>A Case Study and Key Insights</vt:lpstr>
      <vt:lpstr>A Case Study and Key Insights</vt:lpstr>
      <vt:lpstr>A Case Study and Key Insights</vt:lpstr>
      <vt:lpstr>A Case Study and Key Insights</vt:lpstr>
      <vt:lpstr>A Case Study and Key Insights</vt:lpstr>
      <vt:lpstr>A Case Study and Key Insights</vt:lpstr>
      <vt:lpstr>A Case Study and Key Insights</vt:lpstr>
    </vt:vector>
  </TitlesOfParts>
  <Company>Missouri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Konur, Dincer</dc:creator>
  <cp:lastModifiedBy>Sahika Sahan Konur</cp:lastModifiedBy>
  <cp:revision>407</cp:revision>
  <dcterms:created xsi:type="dcterms:W3CDTF">2018-08-17T02:14:39Z</dcterms:created>
  <dcterms:modified xsi:type="dcterms:W3CDTF">2024-10-28T21:44:07Z</dcterms:modified>
</cp:coreProperties>
</file>