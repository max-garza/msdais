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904" r:id="rId1"/>
    <p:sldMasterId id="2147483950" r:id="rId2"/>
  </p:sldMasterIdLst>
  <p:notesMasterIdLst>
    <p:notesMasterId r:id="rId17"/>
  </p:notesMasterIdLst>
  <p:handoutMasterIdLst>
    <p:handoutMasterId r:id="rId18"/>
  </p:handoutMasterIdLst>
  <p:sldIdLst>
    <p:sldId id="397" r:id="rId3"/>
    <p:sldId id="542" r:id="rId4"/>
    <p:sldId id="326" r:id="rId5"/>
    <p:sldId id="327" r:id="rId6"/>
    <p:sldId id="329" r:id="rId7"/>
    <p:sldId id="377" r:id="rId8"/>
    <p:sldId id="332" r:id="rId9"/>
    <p:sldId id="379" r:id="rId10"/>
    <p:sldId id="334" r:id="rId11"/>
    <p:sldId id="335" r:id="rId12"/>
    <p:sldId id="380" r:id="rId13"/>
    <p:sldId id="396" r:id="rId14"/>
    <p:sldId id="381" r:id="rId15"/>
    <p:sldId id="394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1" autoAdjust="0"/>
    <p:restoredTop sz="94660"/>
  </p:normalViewPr>
  <p:slideViewPr>
    <p:cSldViewPr>
      <p:cViewPr varScale="1">
        <p:scale>
          <a:sx n="67" d="100"/>
          <a:sy n="67" d="100"/>
        </p:scale>
        <p:origin x="112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C4228F4E-1473-40C2-A3BD-4D3B9747D03F}" type="slidenum">
              <a:rPr lang="en-US" altLang="en-US">
                <a:latin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0343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Calibri" panose="020F0502020204030204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983407C-7C6D-4691-8698-0E367DA85D6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91270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4781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1227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4601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6180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8684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4143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6604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8295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5603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65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2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23470"/>
            <a:ext cx="7747000" cy="366254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391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82340" y="223521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/>
        </p:blipFill>
        <p:spPr>
          <a:xfrm>
            <a:off x="1627124" y="481306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7" y="4885107"/>
            <a:ext cx="2080291" cy="1926128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21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4492" y="5121743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72" y="6393021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31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9373" y="5831841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71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0" y="6415637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33574"/>
            <a:ext cx="6172200" cy="366254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2"/>
            <a:ext cx="6172200" cy="263149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/>
        </p:blipFill>
        <p:spPr>
          <a:xfrm>
            <a:off x="1597686" y="6487631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1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649" y="2604922"/>
            <a:ext cx="1101550" cy="12210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7542" y="4804755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6" y="6578467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8724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516444"/>
            <a:ext cx="8026400" cy="28777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48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68" y="222265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/>
        </p:blipFill>
        <p:spPr>
          <a:xfrm>
            <a:off x="1597686" y="6487631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6" y="6578467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81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10493"/>
            <a:ext cx="8026400" cy="287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48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68" y="222265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/>
        </p:blipFill>
        <p:spPr>
          <a:xfrm>
            <a:off x="1597686" y="6487631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6" y="6578467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488" y="6305980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4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8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4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9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79787"/>
            <a:ext cx="8382000" cy="418576"/>
          </a:xfrm>
        </p:spPr>
        <p:txBody>
          <a:bodyPr/>
          <a:lstStyle>
            <a:lvl1pPr>
              <a:defRPr sz="3200" b="0" i="0" cap="none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1828800"/>
            <a:ext cx="4041648" cy="1526508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12" y="1828800"/>
            <a:ext cx="4041775" cy="1526508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207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6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8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6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91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anose="020F0502020204030204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2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anose="020F0502020204030204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7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2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2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anose="020F0502020204030204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7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F9D9-A124-4B6A-B5CF-719340D0A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3FF9D-7937-4425-944A-A9C6D83EF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59B77-285C-4B40-B395-119BC0B9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353A7-1BBF-427A-BFB6-8BC612FBA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68DE0-0693-4F3E-90BC-4ED53C0C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2CE207-2410-4414-9250-C15361C699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8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AE62-6FE0-445D-BD79-0407B50A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B0F90-39EE-4ED6-8B99-68D83AFAB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EDE2E-0BC1-4352-969A-F9537C9CE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D57CC-9A74-4B1B-9567-38BF5ED3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87857-C65D-4F4A-9DBE-05251915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A8058-C106-4FCC-BE8E-4C981CEB01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70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0EFD-023E-4CBC-8D9A-3BF7CC8E8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FE5E8-FA5D-421A-B9E4-0936E731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FDBB-C58E-4DC2-8FF1-75167DA9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1E322-19EA-41A7-9AC0-AFB7252F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4A09-D4FC-4806-9BC6-93FE7ECD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4E0DBB-63ED-47DF-90B6-6037FB34F8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46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7216-F927-42C9-B380-5300A62B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7381-FE9B-4AF2-84FA-62BCB157E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01A1A-CC45-4A03-B498-8B2403F21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32829-5D90-47CE-B3FF-57EE16B2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7038C-F197-4EBA-BD6C-07556D46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D389E-B7EF-4537-896C-3A6C2E26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5A0654-FB8A-44E0-8AFD-7F3C508447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71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122C-B860-4A35-A7A6-A01A6B50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579C4-DCED-4503-82CF-9F96E36B5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09922-5D29-4BF0-AA36-C0D58350A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0AAB1-C12E-4DDF-A401-CAF07457E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B73DC-EC75-4002-B331-527445B94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3FAA8-F498-445F-9FE7-BE04DED8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F208E-F289-4D21-AAB1-7AACD904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CB752-2DED-4F34-9A8E-7752F0E9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138EA2-3DB5-4265-BD97-697DFB819B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77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4F11-73D3-47FC-9866-A052A810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E5208-251A-4171-8E41-783B35E4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42AC9-5BA6-47CD-8610-57B67BF3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C29D6-18F0-475C-92D2-82907ECE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FF3E5-94A7-4463-BDBB-C8CE096605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57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4C6D5-FC91-4AFB-ABCA-62536AC1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C25C1-66DD-4325-8384-3B07A93D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63F3B-4BE4-4EC2-9283-FFC12DE2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9711A-2051-4C6E-BC51-8CB804490E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3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9A21-44CD-4738-BC36-40A916B4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DFE62-61FE-4723-9FD1-CE41AF173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96F94-6597-4F14-B391-46F6C5B25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3E652-60FB-4C7C-A1E4-2241B8C1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FF3EB-3983-49EC-9477-1F71609E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659B6-DB8E-42EB-BDE9-937DB4F8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E0F44F-117A-4B01-B2D5-B8032287A3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10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9EBD-4B65-4D6D-BDC1-AC6266F8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F9DDA-8699-44C4-B95D-EDE5127C6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B9225-762A-4F37-89B0-1EB25A1B8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6DECB-49AD-4F1E-80A1-31F94C8D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B5E29-2FB4-4574-824C-D8D1CE92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42CD8-1F4C-42E4-AB1A-0861275A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1CCB6-B856-4CBA-8C9B-8A7B11A00D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092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7689-B907-4D2B-A665-E0096BAD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A18DF-5DC7-4FA0-A01B-4BA95F8C9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DC189-ECD3-4A59-86CD-0332CB0B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C4B71-D843-478F-92DF-6B0F8E47E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149F-E916-416E-B8A9-CE2A4C3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326A4B-75AB-46D4-AFB2-EAA9AA3821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89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43DAEC-272A-439C-9551-DB1DF1B96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30686-8090-40BD-A594-1DDACBBA7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ED9C4-96AD-4072-A019-75BC5C92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781D4-AE46-4032-8231-7C53228A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BFDA4-1C88-4FB0-9F18-AC386309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CB300C-2A14-4AE0-A1AA-76D76F6944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2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9"/>
            <a:ext cx="8415338" cy="141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82578" y="6513744"/>
            <a:ext cx="306494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5019"/>
            <a:ext cx="8415338" cy="28777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30" y="6611009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941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8C3AB-5770-4DB9-B892-0BC9FDC7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F9135-4D7E-49D8-A4C9-EE5B06EB1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447DC-A948-498A-8E74-4E3397FD0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05541-10B9-40F1-851D-697412660952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44ACF-ED40-4BEF-99E1-1A627410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7FDB1-3F12-4406-A783-AD322AF33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B5ABD-1B8A-4783-8177-FA3C6AE4A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9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5</a:t>
            </a:r>
          </a:p>
          <a:p>
            <a:r>
              <a:rPr lang="en-US" altLang="en-US" dirty="0"/>
              <a:t>Advanced Data Modeling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5A62-80AE-4552-8FBB-3937E36E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Chapter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881F9-E44A-4EB2-8B68-730C8F165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/>
          <a:lstStyle/>
          <a:p>
            <a:r>
              <a:rPr lang="en-US" dirty="0"/>
              <a:t>Beginning – till page 180</a:t>
            </a:r>
          </a:p>
          <a:p>
            <a:r>
              <a:rPr lang="en-US" dirty="0"/>
              <a:t>Entity Clustering (pages 174-176)is not included in the course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61511-D21F-4EDB-8AD5-ADD38104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66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Extended Entity Relationship Model (EERM)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9"/>
            <a:ext cx="8415338" cy="1235723"/>
          </a:xfrm>
        </p:spPr>
        <p:txBody>
          <a:bodyPr/>
          <a:lstStyle/>
          <a:p>
            <a:r>
              <a:rPr lang="en-US" dirty="0"/>
              <a:t>Enhanced entity relationship model</a:t>
            </a:r>
          </a:p>
          <a:p>
            <a:pPr lvl="1"/>
            <a:r>
              <a:rPr lang="en-US" altLang="en-US" dirty="0"/>
              <a:t>Result of adding more semantic constructs to the original entity relationship (ER) model</a:t>
            </a:r>
          </a:p>
          <a:p>
            <a:pPr lvl="1"/>
            <a:r>
              <a:rPr lang="en-US" altLang="en-US" dirty="0"/>
              <a:t>EER diagrams (EERDs) use the EER model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Entity Supertypes and Subtypes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9"/>
            <a:ext cx="8415338" cy="3594830"/>
          </a:xfrm>
        </p:spPr>
        <p:txBody>
          <a:bodyPr/>
          <a:lstStyle/>
          <a:p>
            <a:r>
              <a:rPr lang="en-US" altLang="en-US" dirty="0"/>
              <a:t>Entity supertype</a:t>
            </a:r>
          </a:p>
          <a:p>
            <a:pPr lvl="1"/>
            <a:r>
              <a:rPr lang="en-US" altLang="en-US" dirty="0"/>
              <a:t>Generic entity type related to one or more entity subtypes</a:t>
            </a:r>
          </a:p>
          <a:p>
            <a:pPr lvl="1"/>
            <a:r>
              <a:rPr lang="en-US" altLang="en-US" dirty="0"/>
              <a:t>Contains common characteristics</a:t>
            </a:r>
          </a:p>
          <a:p>
            <a:r>
              <a:rPr lang="en-US" altLang="en-US" dirty="0"/>
              <a:t>Entity subtype</a:t>
            </a:r>
          </a:p>
          <a:p>
            <a:pPr lvl="1"/>
            <a:r>
              <a:rPr lang="en-US" altLang="en-US" dirty="0"/>
              <a:t>Contains unique characteristics of each entity subtype</a:t>
            </a:r>
          </a:p>
          <a:p>
            <a:r>
              <a:rPr lang="en-US" altLang="en-US" dirty="0"/>
              <a:t>Criteria to determine usage</a:t>
            </a:r>
          </a:p>
          <a:p>
            <a:pPr lvl="1"/>
            <a:r>
              <a:rPr lang="en-US" altLang="en-US" dirty="0"/>
              <a:t>There must be different, identifiable kinds of the entity in the user’s environment</a:t>
            </a:r>
          </a:p>
          <a:p>
            <a:pPr lvl="1"/>
            <a:r>
              <a:rPr lang="en-US" altLang="en-US" dirty="0"/>
              <a:t>The different kinds of instances should each have one or more attributes that are unique to that kind of instance</a:t>
            </a:r>
          </a:p>
          <a:p>
            <a:pPr lvl="1"/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Specialization Hierarchy (1 of 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9"/>
            <a:ext cx="8415338" cy="3799502"/>
          </a:xfrm>
        </p:spPr>
        <p:txBody>
          <a:bodyPr/>
          <a:lstStyle/>
          <a:p>
            <a:r>
              <a:rPr lang="en-US" dirty="0"/>
              <a:t>Entity supertypes and subtypes are organized in a specialization hierarchy</a:t>
            </a:r>
          </a:p>
          <a:p>
            <a:pPr lvl="1"/>
            <a:r>
              <a:rPr lang="en-US" altLang="en-US" dirty="0"/>
              <a:t>Depicts arrangement of higher-level entity supertypes and lower-level entity subtypes</a:t>
            </a:r>
          </a:p>
          <a:p>
            <a:pPr lvl="1"/>
            <a:r>
              <a:rPr lang="en-US" altLang="en-US" dirty="0"/>
              <a:t>Relationships are described in terms of “is-a” relationships</a:t>
            </a:r>
          </a:p>
          <a:p>
            <a:pPr lvl="1"/>
            <a:r>
              <a:rPr lang="en-US" altLang="en-US" dirty="0"/>
              <a:t>Subtype exists within the context of a supertype</a:t>
            </a:r>
          </a:p>
          <a:p>
            <a:pPr lvl="1"/>
            <a:r>
              <a:rPr lang="en-US" altLang="en-US" dirty="0"/>
              <a:t>Every subtype has one supertype to which it is directly related</a:t>
            </a:r>
          </a:p>
          <a:p>
            <a:pPr lvl="1"/>
            <a:r>
              <a:rPr lang="en-US" altLang="en-US" dirty="0"/>
              <a:t>Supertype can have many subtypes</a:t>
            </a:r>
          </a:p>
          <a:p>
            <a:r>
              <a:rPr lang="en-US" altLang="en-US" dirty="0"/>
              <a:t>A specialization hierarchy provides the means to:</a:t>
            </a:r>
          </a:p>
          <a:p>
            <a:pPr lvl="1"/>
            <a:r>
              <a:rPr lang="en-US" altLang="en-US" dirty="0"/>
              <a:t>Support attribute inheritance</a:t>
            </a:r>
          </a:p>
          <a:p>
            <a:pPr lvl="1"/>
            <a:r>
              <a:rPr lang="en-US" altLang="en-US" dirty="0"/>
              <a:t>Define a special supertype attribute known as the subtype discriminator</a:t>
            </a:r>
          </a:p>
          <a:p>
            <a:pPr lvl="1"/>
            <a:r>
              <a:rPr lang="en-US" altLang="en-US" dirty="0"/>
              <a:t>Define disjoint or overlapping constraints and complete or partial constraints</a:t>
            </a:r>
          </a:p>
          <a:p>
            <a:pPr lvl="1"/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Specialization Hierarchy (2 of 2)</a:t>
            </a:r>
          </a:p>
        </p:txBody>
      </p:sp>
      <p:pic>
        <p:nvPicPr>
          <p:cNvPr id="3" name="Picture 2" descr="Figure 5.2 depicts an arrangement of entity supertypes and subtypes in a specialization hierarchy of employee relationships. " title="Figure 5.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71600"/>
            <a:ext cx="7654610" cy="487680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Inheritance (1 of 2)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9"/>
            <a:ext cx="8415338" cy="2208297"/>
          </a:xfrm>
        </p:spPr>
        <p:txBody>
          <a:bodyPr/>
          <a:lstStyle/>
          <a:p>
            <a:r>
              <a:rPr lang="en-US" altLang="en-US" dirty="0"/>
              <a:t>Enables an entity subtype to inherit attributes and relationships of the supertype</a:t>
            </a:r>
          </a:p>
          <a:p>
            <a:pPr lvl="1"/>
            <a:r>
              <a:rPr lang="en-US" altLang="en-US" dirty="0"/>
              <a:t>All entity subtypes inherit their primary key attribute from their supertype</a:t>
            </a:r>
          </a:p>
          <a:p>
            <a:pPr lvl="1"/>
            <a:r>
              <a:rPr lang="en-US" altLang="en-US" dirty="0"/>
              <a:t>At the implementation level, supertype and its subtype(s) maintain a 1:1 relationship</a:t>
            </a:r>
          </a:p>
          <a:p>
            <a:pPr lvl="1"/>
            <a:r>
              <a:rPr lang="en-US" altLang="en-US" dirty="0"/>
              <a:t>Entity subtypes inherit all relationships in which supertype entity participates</a:t>
            </a:r>
          </a:p>
          <a:p>
            <a:pPr lvl="1"/>
            <a:r>
              <a:rPr lang="en-US" altLang="en-US" dirty="0"/>
              <a:t>Lower-level subtypes inherit all attributes and relationships from its upper-level supertypes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Inheritance (2 of 2)</a:t>
            </a:r>
          </a:p>
        </p:txBody>
      </p:sp>
      <p:pic>
        <p:nvPicPr>
          <p:cNvPr id="4" name="Picture 3" descr="In Figure 5.4, a specialization hierarchy with overlapping subtypes using a 1:M relationship between EMPLOYEE, a subtype of PERSON, and OFFICE, is illustrated." title="Figure 5.4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405341"/>
            <a:ext cx="5506987" cy="457200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Subtype Discriminator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9"/>
            <a:ext cx="8415338" cy="584775"/>
          </a:xfrm>
        </p:spPr>
        <p:txBody>
          <a:bodyPr/>
          <a:lstStyle/>
          <a:p>
            <a:r>
              <a:rPr lang="en-US" altLang="en-US" dirty="0"/>
              <a:t>Attribute in the supertype entity that determines to which entity subtype the supertype occurrence </a:t>
            </a:r>
            <a:r>
              <a:rPr lang="en-US" altLang="en-US"/>
              <a:t>is related</a:t>
            </a:r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Disjoint and Overlapping Constraints (1 of 2)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9"/>
            <a:ext cx="8415338" cy="2285241"/>
          </a:xfrm>
        </p:spPr>
        <p:txBody>
          <a:bodyPr/>
          <a:lstStyle/>
          <a:p>
            <a:r>
              <a:rPr lang="en-US" altLang="en-US" dirty="0"/>
              <a:t>Disjoint subtypes: contain a unique subset of the supertype entity set</a:t>
            </a:r>
          </a:p>
          <a:p>
            <a:pPr lvl="1"/>
            <a:r>
              <a:rPr lang="en-US" altLang="en-US" dirty="0"/>
              <a:t>Known as nonoverlapping subtypes</a:t>
            </a:r>
          </a:p>
          <a:p>
            <a:pPr lvl="1"/>
            <a:r>
              <a:rPr lang="en-US" altLang="en-US" dirty="0"/>
              <a:t>Implementation is based on the value of the subtype discriminator attribute in the supertype</a:t>
            </a:r>
          </a:p>
          <a:p>
            <a:r>
              <a:rPr lang="en-US" altLang="en-US" dirty="0"/>
              <a:t>Overlapping subtypes: contain nonunique subsets of the supertype entity set</a:t>
            </a:r>
          </a:p>
          <a:p>
            <a:pPr lvl="1"/>
            <a:r>
              <a:rPr lang="en-US" altLang="en-US" dirty="0"/>
              <a:t>Implementation requires the use of one discriminator attribute for each subtype (the values are true or false).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Disjoint and Overlapping Constraints (2 of 2)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110406"/>
              </p:ext>
            </p:extLst>
          </p:nvPr>
        </p:nvGraphicFramePr>
        <p:xfrm>
          <a:off x="395639" y="2133600"/>
          <a:ext cx="8415339" cy="25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761">
                  <a:extLst>
                    <a:ext uri="{9D8B030D-6E8A-4147-A177-3AD203B41FA5}">
                      <a16:colId xmlns:a16="http://schemas.microsoft.com/office/drawing/2014/main" val="269164948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92281069"/>
                    </a:ext>
                  </a:extLst>
                </a:gridCol>
                <a:gridCol w="4238978">
                  <a:extLst>
                    <a:ext uri="{9D8B030D-6E8A-4147-A177-3AD203B41FA5}">
                      <a16:colId xmlns:a16="http://schemas.microsoft.com/office/drawing/2014/main" val="725502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TABLE 5.1: Discriminator Attributes with Overlapping Subtypes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34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Discriminator Attributes: Professor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Discriminator Attributes: Administrator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Comment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26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Employee is a member of the Professor subtype.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62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Employee is a member of the Administrator subtype.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700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Employee is both a Professor and an Administrator.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242702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Completeness Constraint (1 of 2)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1528111"/>
          </a:xfrm>
        </p:spPr>
        <p:txBody>
          <a:bodyPr/>
          <a:lstStyle/>
          <a:p>
            <a:r>
              <a:rPr lang="en-US" altLang="en-US" dirty="0"/>
              <a:t>Specifies whether each supertype occurrence must also be a member of at least one subtype</a:t>
            </a:r>
          </a:p>
          <a:p>
            <a:pPr lvl="1"/>
            <a:r>
              <a:rPr lang="en-US" altLang="en-US" dirty="0"/>
              <a:t>Partial completeness: not every supertype occurrence is a member of a subtype</a:t>
            </a:r>
          </a:p>
          <a:p>
            <a:pPr lvl="1"/>
            <a:r>
              <a:rPr lang="en-US" altLang="en-US" dirty="0"/>
              <a:t>Total completeness: every supertype occurrence must be a member of at least one subtypes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Completeness Constraint (2 of 2)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35921"/>
              </p:ext>
            </p:extLst>
          </p:nvPr>
        </p:nvGraphicFramePr>
        <p:xfrm>
          <a:off x="365125" y="1538288"/>
          <a:ext cx="8245475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145">
                  <a:extLst>
                    <a:ext uri="{9D8B030D-6E8A-4147-A177-3AD203B41FA5}">
                      <a16:colId xmlns:a16="http://schemas.microsoft.com/office/drawing/2014/main" val="819849271"/>
                    </a:ext>
                  </a:extLst>
                </a:gridCol>
                <a:gridCol w="3359785">
                  <a:extLst>
                    <a:ext uri="{9D8B030D-6E8A-4147-A177-3AD203B41FA5}">
                      <a16:colId xmlns:a16="http://schemas.microsoft.com/office/drawing/2014/main" val="3215280136"/>
                    </a:ext>
                  </a:extLst>
                </a:gridCol>
                <a:gridCol w="3675545">
                  <a:extLst>
                    <a:ext uri="{9D8B030D-6E8A-4147-A177-3AD203B41FA5}">
                      <a16:colId xmlns:a16="http://schemas.microsoft.com/office/drawing/2014/main" val="1614843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Table 5.2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Specialization Hierarchy Constraint Scenarios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8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Disjoint Constraint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Overlapping Constraint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40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Supertype has optional subtypes.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discriminator can be null.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sets are unique.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Supertype has optional subtypes.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discriminators can be null.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sets are not unique.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1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supertype occurrence is a member of only one subtype.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discriminator cannot be null.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sets are unique.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supertype occurrence is a member of at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least one subtype.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discriminators cannot be null.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Subtype sets are not unique.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109546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Specialization and Generalization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4984441"/>
          </a:xfrm>
        </p:spPr>
        <p:txBody>
          <a:bodyPr/>
          <a:lstStyle/>
          <a:p>
            <a:r>
              <a:rPr lang="en-US" dirty="0"/>
              <a:t>Specialization</a:t>
            </a:r>
          </a:p>
          <a:p>
            <a:pPr lvl="1"/>
            <a:r>
              <a:rPr lang="en-US" dirty="0"/>
              <a:t>Top-down process</a:t>
            </a:r>
          </a:p>
          <a:p>
            <a:pPr lvl="1"/>
            <a:r>
              <a:rPr lang="en-US" dirty="0"/>
              <a:t>Identifies lower-level, more specific entity subtypes from a higher-level entity supertype</a:t>
            </a:r>
          </a:p>
          <a:p>
            <a:pPr lvl="1"/>
            <a:r>
              <a:rPr lang="en-US" dirty="0"/>
              <a:t>Based on grouping unique characteristics and relationships of the subtypes</a:t>
            </a:r>
          </a:p>
          <a:p>
            <a:r>
              <a:rPr lang="en-US" dirty="0"/>
              <a:t>Generalization</a:t>
            </a:r>
          </a:p>
          <a:p>
            <a:pPr lvl="1"/>
            <a:r>
              <a:rPr lang="en-US" dirty="0"/>
              <a:t>Bottom-up process</a:t>
            </a:r>
          </a:p>
          <a:p>
            <a:pPr lvl="1"/>
            <a:r>
              <a:rPr lang="en-US" dirty="0"/>
              <a:t>Identifies a higher-level, more generic entity supertype from lower-level entity subtypes</a:t>
            </a:r>
          </a:p>
          <a:p>
            <a:pPr lvl="1"/>
            <a:r>
              <a:rPr lang="en-US" dirty="0"/>
              <a:t>Based on grouping common characteristics and relationships of the subtypes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1188</Words>
  <Application>Microsoft Office PowerPoint</Application>
  <PresentationFormat>On-screen Show (4:3)</PresentationFormat>
  <Paragraphs>107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Word 2016 Med Module  1_PPT_2019</vt:lpstr>
      <vt:lpstr>1_Office Theme</vt:lpstr>
      <vt:lpstr>PowerPoint Presentation</vt:lpstr>
      <vt:lpstr>Chapter 5</vt:lpstr>
      <vt:lpstr>The Extended Entity Relationship Model (EERM)</vt:lpstr>
      <vt:lpstr>Entity Supertypes and Subtypes</vt:lpstr>
      <vt:lpstr>Specialization Hierarchy (1 of 2)</vt:lpstr>
      <vt:lpstr>Specialization Hierarchy (2 of 2)</vt:lpstr>
      <vt:lpstr>Inheritance (1 of 2)</vt:lpstr>
      <vt:lpstr>Inheritance (2 of 2)</vt:lpstr>
      <vt:lpstr>Subtype Discriminator</vt:lpstr>
      <vt:lpstr>Disjoint and Overlapping Constraints (1 of 2)</vt:lpstr>
      <vt:lpstr>Disjoint and Overlapping Constraints (2 of 2)</vt:lpstr>
      <vt:lpstr>Completeness Constraint (1 of 2)</vt:lpstr>
      <vt:lpstr>Completeness Constraint (2 of 2)</vt:lpstr>
      <vt:lpstr>Specialization and Generalization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2017-08-19T15:38:06Z</dcterms:created>
  <dcterms:modified xsi:type="dcterms:W3CDTF">2023-09-17T21:49:46Z</dcterms:modified>
</cp:coreProperties>
</file>