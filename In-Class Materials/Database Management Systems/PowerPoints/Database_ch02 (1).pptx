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748" r:id="rId1"/>
  </p:sldMasterIdLst>
  <p:notesMasterIdLst>
    <p:notesMasterId r:id="rId17"/>
  </p:notesMasterIdLst>
  <p:handoutMasterIdLst>
    <p:handoutMasterId r:id="rId18"/>
  </p:handoutMasterIdLst>
  <p:sldIdLst>
    <p:sldId id="385" r:id="rId2"/>
    <p:sldId id="258" r:id="rId3"/>
    <p:sldId id="418" r:id="rId4"/>
    <p:sldId id="419" r:id="rId5"/>
    <p:sldId id="420" r:id="rId6"/>
    <p:sldId id="424" r:id="rId7"/>
    <p:sldId id="263" r:id="rId8"/>
    <p:sldId id="425" r:id="rId9"/>
    <p:sldId id="421" r:id="rId10"/>
    <p:sldId id="426" r:id="rId11"/>
    <p:sldId id="352" r:id="rId12"/>
    <p:sldId id="422" r:id="rId13"/>
    <p:sldId id="427" r:id="rId14"/>
    <p:sldId id="428" r:id="rId15"/>
    <p:sldId id="429" r:id="rId16"/>
  </p:sldIdLst>
  <p:sldSz cx="9144000" cy="6858000" type="screen4x3"/>
  <p:notesSz cx="7102475" cy="93884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ＭＳ Ｐゴシック" charset="-128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ＭＳ Ｐゴシック" charset="-128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ＭＳ Ｐゴシック" charset="-128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ＭＳ Ｐゴシック" charset="-128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ＭＳ Ｐゴシック" charset="-128"/>
        <a:cs typeface="Arial" panose="020B0604020202020204" pitchFamily="34" charset="0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ＭＳ Ｐゴシック" charset="-128"/>
        <a:cs typeface="Arial" panose="020B0604020202020204" pitchFamily="34" charset="0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ＭＳ Ｐゴシック" charset="-128"/>
        <a:cs typeface="Arial" panose="020B0604020202020204" pitchFamily="34" charset="0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ＭＳ Ｐゴシック" charset="-128"/>
        <a:cs typeface="Arial" panose="020B0604020202020204" pitchFamily="34" charset="0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ＭＳ Ｐゴシック" charset="-128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7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56" autoAdjust="0"/>
    <p:restoredTop sz="94722" autoAdjust="0"/>
  </p:normalViewPr>
  <p:slideViewPr>
    <p:cSldViewPr>
      <p:cViewPr>
        <p:scale>
          <a:sx n="60" d="100"/>
          <a:sy n="60" d="100"/>
        </p:scale>
        <p:origin x="60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0" d="100"/>
          <a:sy n="50" d="100"/>
        </p:scale>
        <p:origin x="-2722" y="-91"/>
      </p:cViewPr>
      <p:guideLst>
        <p:guide orient="horz" pos="2957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76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76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16988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76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8916988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CD1B7D0-991B-4CD2-A9B1-3FEC9971576A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340424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9" tIns="47114" rIns="94229" bIns="47114" numCol="1" anchor="t" anchorCtr="0" compatLnSpc="1">
            <a:prstTxWarp prst="textNoShape">
              <a:avLst/>
            </a:prstTxWarp>
          </a:bodyPr>
          <a:lstStyle>
            <a:lvl1pPr defTabSz="942975" eaLnBrk="1" hangingPunct="1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9" tIns="47114" rIns="94229" bIns="47114" numCol="1" anchor="t" anchorCtr="0" compatLnSpc="1">
            <a:prstTxWarp prst="textNoShape">
              <a:avLst/>
            </a:prstTxWarp>
          </a:bodyPr>
          <a:lstStyle>
            <a:lvl1pPr algn="r" defTabSz="942975" eaLnBrk="1" hangingPunct="1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93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4913" y="704850"/>
            <a:ext cx="4692650" cy="35194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459288"/>
            <a:ext cx="5683250" cy="4224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9" tIns="47114" rIns="94229" bIns="471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16988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9" tIns="47114" rIns="94229" bIns="47114" numCol="1" anchor="b" anchorCtr="0" compatLnSpc="1">
            <a:prstTxWarp prst="textNoShape">
              <a:avLst/>
            </a:prstTxWarp>
          </a:bodyPr>
          <a:lstStyle>
            <a:lvl1pPr defTabSz="942975" eaLnBrk="1" hangingPunct="1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8916988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9" tIns="47114" rIns="94229" bIns="47114" numCol="1" anchor="b" anchorCtr="0" compatLnSpc="1">
            <a:prstTxWarp prst="textNoShape">
              <a:avLst/>
            </a:prstTxWarp>
          </a:bodyPr>
          <a:lstStyle>
            <a:lvl1pPr algn="r" defTabSz="942975">
              <a:defRPr sz="1200"/>
            </a:lvl1pPr>
          </a:lstStyle>
          <a:p>
            <a:fld id="{467908CA-D2B0-480F-B577-26BC250CBB52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6678164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7908CA-D2B0-480F-B577-26BC250CBB52}" type="slidenum">
              <a:rPr lang="en-US" altLang="en-US" smtClean="0"/>
              <a:pPr/>
              <a:t>1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1pPr>
            <a:lvl2pPr marL="742950" indent="-285750" defTabSz="94297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2pPr>
            <a:lvl3pPr marL="1143000" indent="-228600" defTabSz="94297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3pPr>
            <a:lvl4pPr marL="1600200" indent="-228600" defTabSz="94297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4pPr>
            <a:lvl5pPr marL="2057400" indent="-228600" defTabSz="94297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5pPr>
            <a:lvl6pPr marL="2514600" indent="-228600" defTabSz="9429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6pPr>
            <a:lvl7pPr marL="2971800" indent="-228600" defTabSz="9429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7pPr>
            <a:lvl8pPr marL="3429000" indent="-228600" defTabSz="9429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8pPr>
            <a:lvl9pPr marL="3886200" indent="-228600" defTabSz="9429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6F009C7A-6F0A-43D9-A4AC-44334AD24705}" type="slidenum">
              <a:rPr lang="en-US" altLang="en-US"/>
              <a:pPr eaLnBrk="1" hangingPunct="1">
                <a:spcBef>
                  <a:spcPct val="0"/>
                </a:spcBef>
              </a:pPr>
              <a:t>2</a:t>
            </a:fld>
            <a:endParaRPr lang="en-US" altLang="en-US" dirty="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921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1pPr>
            <a:lvl2pPr marL="742950" indent="-285750" defTabSz="94297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2pPr>
            <a:lvl3pPr marL="1143000" indent="-228600" defTabSz="94297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3pPr>
            <a:lvl4pPr marL="1600200" indent="-228600" defTabSz="94297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4pPr>
            <a:lvl5pPr marL="2057400" indent="-228600" defTabSz="94297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5pPr>
            <a:lvl6pPr marL="2514600" indent="-228600" defTabSz="9429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6pPr>
            <a:lvl7pPr marL="2971800" indent="-228600" defTabSz="9429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7pPr>
            <a:lvl8pPr marL="3429000" indent="-228600" defTabSz="9429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8pPr>
            <a:lvl9pPr marL="3886200" indent="-228600" defTabSz="9429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6F009C7A-6F0A-43D9-A4AC-44334AD24705}" type="slidenum">
              <a:rPr lang="en-US" altLang="en-US"/>
              <a:pPr eaLnBrk="1" hangingPunct="1">
                <a:spcBef>
                  <a:spcPct val="0"/>
                </a:spcBef>
              </a:pPr>
              <a:t>6</a:t>
            </a:fld>
            <a:endParaRPr lang="en-US" altLang="en-US" dirty="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14515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1pPr>
            <a:lvl2pPr marL="742950" indent="-285750" defTabSz="94297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2pPr>
            <a:lvl3pPr marL="1143000" indent="-228600" defTabSz="94297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3pPr>
            <a:lvl4pPr marL="1600200" indent="-228600" defTabSz="94297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4pPr>
            <a:lvl5pPr marL="2057400" indent="-228600" defTabSz="94297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5pPr>
            <a:lvl6pPr marL="2514600" indent="-228600" defTabSz="9429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6pPr>
            <a:lvl7pPr marL="2971800" indent="-228600" defTabSz="9429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7pPr>
            <a:lvl8pPr marL="3429000" indent="-228600" defTabSz="9429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8pPr>
            <a:lvl9pPr marL="3886200" indent="-228600" defTabSz="9429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C957DA46-1A35-4F87-8B50-CF182658A46C}" type="slidenum">
              <a:rPr lang="en-US" altLang="en-US"/>
              <a:pPr eaLnBrk="1" hangingPunct="1">
                <a:spcBef>
                  <a:spcPct val="0"/>
                </a:spcBef>
              </a:pPr>
              <a:t>7</a:t>
            </a:fld>
            <a:endParaRPr lang="en-US" altLang="en-US" dirty="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9398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1pPr>
            <a:lvl2pPr marL="742950" indent="-285750" defTabSz="94297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2pPr>
            <a:lvl3pPr marL="1143000" indent="-228600" defTabSz="94297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3pPr>
            <a:lvl4pPr marL="1600200" indent="-228600" defTabSz="94297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4pPr>
            <a:lvl5pPr marL="2057400" indent="-228600" defTabSz="94297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5pPr>
            <a:lvl6pPr marL="2514600" indent="-228600" defTabSz="9429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6pPr>
            <a:lvl7pPr marL="2971800" indent="-228600" defTabSz="9429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7pPr>
            <a:lvl8pPr marL="3429000" indent="-228600" defTabSz="9429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8pPr>
            <a:lvl9pPr marL="3886200" indent="-228600" defTabSz="9429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6F009C7A-6F0A-43D9-A4AC-44334AD24705}" type="slidenum">
              <a:rPr lang="en-US" altLang="en-US"/>
              <a:pPr eaLnBrk="1" hangingPunct="1">
                <a:spcBef>
                  <a:spcPct val="0"/>
                </a:spcBef>
              </a:pPr>
              <a:t>8</a:t>
            </a:fld>
            <a:endParaRPr lang="en-US" altLang="en-US" dirty="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25396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1pPr>
            <a:lvl2pPr marL="742950" indent="-285750" defTabSz="94297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2pPr>
            <a:lvl3pPr marL="1143000" indent="-228600" defTabSz="94297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3pPr>
            <a:lvl4pPr marL="1600200" indent="-228600" defTabSz="94297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4pPr>
            <a:lvl5pPr marL="2057400" indent="-228600" defTabSz="94297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5pPr>
            <a:lvl6pPr marL="2514600" indent="-228600" defTabSz="9429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6pPr>
            <a:lvl7pPr marL="2971800" indent="-228600" defTabSz="9429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7pPr>
            <a:lvl8pPr marL="3429000" indent="-228600" defTabSz="9429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8pPr>
            <a:lvl9pPr marL="3886200" indent="-228600" defTabSz="9429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5E96DA60-8F0C-414F-B391-8687947CDA55}" type="slidenum">
              <a:rPr lang="en-US" altLang="en-US"/>
              <a:pPr eaLnBrk="1" hangingPunct="1">
                <a:spcBef>
                  <a:spcPct val="0"/>
                </a:spcBef>
              </a:pPr>
              <a:t>10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76703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7908CA-D2B0-480F-B577-26BC250CBB52}" type="slidenum">
              <a:rPr lang="en-US" altLang="en-US" smtClean="0"/>
              <a:pPr/>
              <a:t>11</a:t>
            </a:fld>
            <a:endParaRPr lang="en-US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itle_Slide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4" y="254000"/>
            <a:ext cx="8713465" cy="65267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8500" y="2712698"/>
            <a:ext cx="7747000" cy="377026"/>
          </a:xfrm>
        </p:spPr>
        <p:txBody>
          <a:bodyPr anchor="b"/>
          <a:lstStyle>
            <a:lvl1pPr algn="ctr">
              <a:defRPr sz="28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8500" y="3352800"/>
            <a:ext cx="7747000" cy="235962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482340" y="223520"/>
            <a:ext cx="2125980" cy="985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Rules_Single_A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627124" y="481304"/>
            <a:ext cx="10034016" cy="9911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12283" y="4885106"/>
            <a:ext cx="2080291" cy="1926127"/>
          </a:xfrm>
          <a:custGeom>
            <a:avLst/>
            <a:gdLst>
              <a:gd name="connsiteX0" fmla="*/ 0 w 1973580"/>
              <a:gd name="connsiteY0" fmla="*/ 0 h 1389864"/>
              <a:gd name="connsiteX1" fmla="*/ 1973580 w 1973580"/>
              <a:gd name="connsiteY1" fmla="*/ 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0 h 1389864"/>
              <a:gd name="connsiteX1" fmla="*/ 1935480 w 1973580"/>
              <a:gd name="connsiteY1" fmla="*/ 6096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54731 h 1444595"/>
              <a:gd name="connsiteX1" fmla="*/ 1577340 w 1973580"/>
              <a:gd name="connsiteY1" fmla="*/ 1391 h 1444595"/>
              <a:gd name="connsiteX2" fmla="*/ 1935480 w 1973580"/>
              <a:gd name="connsiteY2" fmla="*/ 115691 h 1444595"/>
              <a:gd name="connsiteX3" fmla="*/ 1973580 w 1973580"/>
              <a:gd name="connsiteY3" fmla="*/ 1444595 h 1444595"/>
              <a:gd name="connsiteX4" fmla="*/ 0 w 1973580"/>
              <a:gd name="connsiteY4" fmla="*/ 1444595 h 1444595"/>
              <a:gd name="connsiteX5" fmla="*/ 0 w 1973580"/>
              <a:gd name="connsiteY5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0 w 2080291"/>
              <a:gd name="connsiteY6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60960 w 2080291"/>
              <a:gd name="connsiteY6" fmla="*/ 103009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99060 w 2080291"/>
              <a:gd name="connsiteY6" fmla="*/ 991992 h 1444595"/>
              <a:gd name="connsiteX7" fmla="*/ 0 w 2080291"/>
              <a:gd name="connsiteY7" fmla="*/ 54731 h 1444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0291" h="1444595">
                <a:moveTo>
                  <a:pt x="0" y="54731"/>
                </a:moveTo>
                <a:cubicBezTo>
                  <a:pt x="520700" y="67431"/>
                  <a:pt x="1056640" y="-11309"/>
                  <a:pt x="1577340" y="1391"/>
                </a:cubicBezTo>
                <a:lnTo>
                  <a:pt x="1935480" y="115691"/>
                </a:lnTo>
                <a:cubicBezTo>
                  <a:pt x="1932940" y="209671"/>
                  <a:pt x="2082800" y="334132"/>
                  <a:pt x="2080260" y="428112"/>
                </a:cubicBezTo>
                <a:lnTo>
                  <a:pt x="1973580" y="1444595"/>
                </a:lnTo>
                <a:lnTo>
                  <a:pt x="0" y="1444595"/>
                </a:lnTo>
                <a:cubicBezTo>
                  <a:pt x="0" y="1319127"/>
                  <a:pt x="99060" y="1117460"/>
                  <a:pt x="99060" y="991992"/>
                </a:cubicBezTo>
                <a:lnTo>
                  <a:pt x="0" y="547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udio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5369" y="5389519"/>
            <a:ext cx="987056" cy="104094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8674488" y="5121741"/>
            <a:ext cx="275507" cy="710099"/>
          </a:xfrm>
          <a:prstGeom prst="rect">
            <a:avLst/>
          </a:prstGeom>
        </p:spPr>
      </p:pic>
      <p:pic>
        <p:nvPicPr>
          <p:cNvPr id="13" name="Picture 12" descr="Swirl_3.pn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688654">
            <a:off x="7441068" y="6393019"/>
            <a:ext cx="386047" cy="285072"/>
          </a:xfrm>
          <a:prstGeom prst="rect">
            <a:avLst/>
          </a:prstGeom>
        </p:spPr>
      </p:pic>
      <p:pic>
        <p:nvPicPr>
          <p:cNvPr id="14" name="Picture 13" descr="Swirl_3.png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73124">
            <a:off x="7908376" y="5449329"/>
            <a:ext cx="591497" cy="24569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39373" y="5831840"/>
            <a:ext cx="672857" cy="745880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1204120" y="6363869"/>
            <a:ext cx="6201666" cy="366183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0" y="6415635"/>
            <a:ext cx="1151034" cy="354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084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600" y="2228188"/>
            <a:ext cx="6172200" cy="377026"/>
          </a:xfrm>
        </p:spPr>
        <p:txBody>
          <a:bodyPr anchor="ctr"/>
          <a:lstStyle>
            <a:lvl1pPr algn="l">
              <a:defRPr sz="2800" b="0" cap="none" baseline="0">
                <a:solidFill>
                  <a:srgbClr val="055C9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1600" y="2942670"/>
            <a:ext cx="6172200" cy="265457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 descr="Rules_Single_A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pic>
        <p:nvPicPr>
          <p:cNvPr id="4" name="Picture 3" descr="Audio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7" y="361953"/>
            <a:ext cx="1840495" cy="1940983"/>
          </a:xfrm>
          <a:prstGeom prst="rect">
            <a:avLst/>
          </a:prstGeom>
        </p:spPr>
      </p:pic>
      <p:pic>
        <p:nvPicPr>
          <p:cNvPr id="11" name="Picture 10" descr="Swirl_3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9126">
            <a:off x="1431691" y="1916271"/>
            <a:ext cx="908570" cy="670924"/>
          </a:xfrm>
          <a:prstGeom prst="rect">
            <a:avLst/>
          </a:prstGeom>
        </p:spPr>
      </p:pic>
      <p:pic>
        <p:nvPicPr>
          <p:cNvPr id="12" name="Picture 11" descr="Swirl_2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73741" flipH="1">
            <a:off x="218018" y="3551101"/>
            <a:ext cx="795867" cy="83325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879649" y="2604920"/>
            <a:ext cx="1101550" cy="122109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4" y="4534755"/>
            <a:ext cx="596838" cy="79578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737542" y="4804753"/>
            <a:ext cx="252342" cy="650393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18720" y="6363035"/>
            <a:ext cx="1400289" cy="430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73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50814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7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610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22" name="Picture 21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0488" y="6305978"/>
            <a:ext cx="1403024" cy="43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393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033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 flipV="1">
            <a:off x="0" y="4137025"/>
            <a:ext cx="9144000" cy="4603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 useBgFill="1">
        <p:nvSpPr>
          <p:cNvPr id="4" name="Rounded Rectangle 3"/>
          <p:cNvSpPr/>
          <p:nvPr/>
        </p:nvSpPr>
        <p:spPr bwMode="white">
          <a:xfrm>
            <a:off x="5410202" y="3962402"/>
            <a:ext cx="3063875" cy="2698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 useBgFill="1">
        <p:nvSpPr>
          <p:cNvPr id="5" name="Rounded Rectangle 4"/>
          <p:cNvSpPr/>
          <p:nvPr/>
        </p:nvSpPr>
        <p:spPr bwMode="white">
          <a:xfrm>
            <a:off x="7377113" y="4060827"/>
            <a:ext cx="16002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3962402"/>
            <a:ext cx="9144000" cy="244475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3970338"/>
            <a:ext cx="9144000" cy="141287"/>
          </a:xfrm>
          <a:prstGeom prst="rect">
            <a:avLst/>
          </a:prstGeom>
          <a:solidFill>
            <a:srgbClr val="00206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2"/>
            <a:ext cx="9144000" cy="3970338"/>
          </a:xfrm>
          <a:prstGeom prst="rect">
            <a:avLst/>
          </a:prstGeom>
          <a:solidFill>
            <a:schemeClr val="accent4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584293" y="4724400"/>
            <a:ext cx="6324600" cy="1295400"/>
          </a:xfrm>
        </p:spPr>
        <p:txBody>
          <a:bodyPr>
            <a:noAutofit/>
          </a:bodyPr>
          <a:lstStyle>
            <a:lvl1pPr marL="59739" indent="0" algn="ctr">
              <a:buNone/>
              <a:defRPr sz="3200">
                <a:solidFill>
                  <a:schemeClr val="accent3">
                    <a:lumMod val="75000"/>
                  </a:schemeClr>
                </a:solidFill>
              </a:defRPr>
            </a:lvl1pPr>
            <a:lvl2pPr marL="426705" indent="0" algn="ctr">
              <a:buNone/>
            </a:lvl2pPr>
            <a:lvl3pPr marL="853410" indent="0" algn="ctr">
              <a:buNone/>
            </a:lvl3pPr>
            <a:lvl4pPr marL="1280114" indent="0" algn="ctr">
              <a:buNone/>
            </a:lvl4pPr>
            <a:lvl5pPr marL="1706819" indent="0" algn="ctr">
              <a:buNone/>
            </a:lvl5pPr>
            <a:lvl6pPr marL="2133524" indent="0" algn="ctr">
              <a:buNone/>
            </a:lvl6pPr>
            <a:lvl7pPr marL="2560229" indent="0" algn="ctr">
              <a:buNone/>
            </a:lvl7pPr>
            <a:lvl8pPr marL="2986933" indent="0" algn="ctr">
              <a:buNone/>
            </a:lvl8pPr>
            <a:lvl9pPr marL="341363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163287"/>
            <a:ext cx="2667000" cy="3688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60804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54152"/>
            <a:ext cx="8382000" cy="1069848"/>
          </a:xfrm>
        </p:spPr>
        <p:txBody>
          <a:bodyPr/>
          <a:lstStyle>
            <a:lvl1pPr>
              <a:defRPr sz="3200" b="0" i="0" cap="none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1828800"/>
            <a:ext cx="4041648" cy="4495800"/>
          </a:xfrm>
        </p:spPr>
        <p:txBody>
          <a:bodyPr/>
          <a:lstStyle>
            <a:lvl1pPr>
              <a:defRPr sz="2400"/>
            </a:lvl1pPr>
            <a:lvl2pPr>
              <a:defRPr sz="1867"/>
            </a:lvl2pPr>
            <a:lvl3pPr>
              <a:defRPr sz="1680"/>
            </a:lvl3pPr>
            <a:lvl4pPr>
              <a:defRPr sz="1493"/>
            </a:lvl4pPr>
            <a:lvl5pPr>
              <a:defRPr sz="149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8" y="1828800"/>
            <a:ext cx="4041775" cy="4495800"/>
          </a:xfrm>
        </p:spPr>
        <p:txBody>
          <a:bodyPr/>
          <a:lstStyle>
            <a:lvl1pPr>
              <a:defRPr sz="2400"/>
            </a:lvl1pPr>
            <a:lvl2pPr>
              <a:defRPr sz="1867"/>
            </a:lvl2pPr>
            <a:lvl3pPr>
              <a:defRPr sz="1680"/>
            </a:lvl3pPr>
            <a:lvl4pPr>
              <a:defRPr sz="1493"/>
            </a:lvl4pPr>
            <a:lvl5pPr>
              <a:defRPr sz="149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12076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125" y="1538818"/>
            <a:ext cx="8415338" cy="14129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 txBox="1">
            <a:spLocks/>
          </p:cNvSpPr>
          <p:nvPr/>
        </p:nvSpPr>
        <p:spPr>
          <a:xfrm>
            <a:off x="8376166" y="6513743"/>
            <a:ext cx="312906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B40067-BD2A-418A-98BB-08A98047DC4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5125" y="480785"/>
            <a:ext cx="8415338" cy="29623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65126" y="6611007"/>
            <a:ext cx="8014247" cy="2119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381000"/>
          </a:xfrm>
          <a:prstGeom prst="rect">
            <a:avLst/>
          </a:prstGeom>
          <a:solidFill>
            <a:srgbClr val="0070C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7939"/>
            <a:ext cx="9144000" cy="220662"/>
          </a:xfrm>
          <a:prstGeom prst="rect">
            <a:avLst/>
          </a:prstGeom>
          <a:solidFill>
            <a:srgbClr val="00206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381000"/>
            <a:ext cx="9144000" cy="58738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216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2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95000"/>
        </a:lnSpc>
        <a:spcBef>
          <a:spcPts val="12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0050" indent="-171450" algn="l" defTabSz="914400" rtl="0" eaLnBrk="1" latinLnBrk="0" hangingPunct="1">
        <a:lnSpc>
          <a:spcPct val="95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71500" indent="-114300" algn="l" defTabSz="914400" rtl="0" eaLnBrk="1" latinLnBrk="0" hangingPunct="1">
        <a:lnSpc>
          <a:spcPct val="95000"/>
        </a:lnSpc>
        <a:spcBef>
          <a:spcPct val="200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-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295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1440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-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63500" eaLnBrk="1" hangingPunct="1"/>
            <a:r>
              <a:rPr lang="en-US" altLang="en-US" dirty="0">
                <a:cs typeface="Arial" pitchFamily="34" charset="0"/>
              </a:rPr>
              <a:t>Chapter 2</a:t>
            </a:r>
          </a:p>
          <a:p>
            <a:pPr marL="63500" eaLnBrk="1" hangingPunct="1"/>
            <a:r>
              <a:rPr lang="en-US" altLang="en-US" dirty="0">
                <a:cs typeface="Arial" pitchFamily="34" charset="0"/>
              </a:rPr>
              <a:t>Data Models</a:t>
            </a:r>
          </a:p>
          <a:p>
            <a:pPr marL="63500"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5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3134704"/>
          </a:xfrm>
        </p:spPr>
        <p:txBody>
          <a:bodyPr/>
          <a:lstStyle/>
          <a:p>
            <a:r>
              <a:rPr lang="en-US" altLang="en-US" dirty="0"/>
              <a:t>Data modeling: c</a:t>
            </a:r>
            <a:r>
              <a:rPr lang="en-US" dirty="0"/>
              <a:t>reating a specific data model for a determined problem domain </a:t>
            </a:r>
            <a:endParaRPr lang="en-US" altLang="en-US" dirty="0"/>
          </a:p>
          <a:p>
            <a:pPr lvl="1"/>
            <a:r>
              <a:rPr lang="en-US" altLang="en-US" dirty="0"/>
              <a:t>Data model: simple representation of complex real-world data structures</a:t>
            </a:r>
          </a:p>
          <a:p>
            <a:pPr lvl="2"/>
            <a:r>
              <a:rPr lang="en-US" altLang="en-US" dirty="0"/>
              <a:t>Useful for supporting a specific problem domain</a:t>
            </a:r>
          </a:p>
          <a:p>
            <a:pPr lvl="1"/>
            <a:r>
              <a:rPr lang="en-US" altLang="en-US" dirty="0"/>
              <a:t>Model: abstraction of a more complex real-world object or event</a:t>
            </a:r>
          </a:p>
          <a:p>
            <a:pPr lvl="1"/>
            <a:endParaRPr lang="en-US" altLang="en-US" dirty="0"/>
          </a:p>
          <a:p>
            <a:pPr lvl="1"/>
            <a:r>
              <a:rPr lang="en-US" sz="2000" dirty="0">
                <a:effectLst/>
                <a:ea typeface="Times New Roman" panose="02020603050405020304" pitchFamily="18" charset="0"/>
              </a:rPr>
              <a:t>The data model’s main function is to help us understand the complexities of the real-world environment. The database designer uses data models to facilitate the interaction among designers, application programmers, and end users. </a:t>
            </a:r>
            <a:endParaRPr lang="en-US" altLang="en-US" sz="2000" dirty="0"/>
          </a:p>
        </p:txBody>
      </p:sp>
      <p:sp>
        <p:nvSpPr>
          <p:cNvPr id="1536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Data Modeling and Data Models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841836-C176-6948-997B-CDACBA3E4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664831"/>
            <a:ext cx="8415338" cy="3437864"/>
          </a:xfrm>
        </p:spPr>
        <p:txBody>
          <a:bodyPr/>
          <a:lstStyle/>
          <a:p>
            <a:r>
              <a:rPr lang="en-US" dirty="0"/>
              <a:t>At the heart of any database design is a DATA MODEL</a:t>
            </a:r>
          </a:p>
          <a:p>
            <a:r>
              <a:rPr lang="en-US" dirty="0"/>
              <a:t>Will focus on the Relational Data Model in this course.</a:t>
            </a:r>
          </a:p>
          <a:p>
            <a:r>
              <a:rPr lang="en-US" dirty="0"/>
              <a:t>Databases based on Relation Model is known as Relational Databases </a:t>
            </a:r>
          </a:p>
          <a:p>
            <a:r>
              <a:rPr lang="en-US" dirty="0"/>
              <a:t>DBMS that manages relational database is known as Relational DBMS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MS - SQL Server</a:t>
            </a:r>
          </a:p>
          <a:p>
            <a:pPr lvl="1"/>
            <a:r>
              <a:rPr lang="en-US" dirty="0"/>
              <a:t>Oracle</a:t>
            </a:r>
          </a:p>
          <a:p>
            <a:pPr lvl="1"/>
            <a:r>
              <a:rPr lang="en-US" dirty="0"/>
              <a:t>DB/2</a:t>
            </a:r>
          </a:p>
          <a:p>
            <a:pPr lvl="1"/>
            <a:r>
              <a:rPr lang="en-US" dirty="0"/>
              <a:t>MySQL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579B86-A2A4-1148-B7FB-9B7990FB6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161"/>
            <a:ext cx="8026400" cy="290336"/>
          </a:xfrm>
        </p:spPr>
        <p:txBody>
          <a:bodyPr/>
          <a:lstStyle/>
          <a:p>
            <a:r>
              <a:rPr lang="en-US" dirty="0"/>
              <a:t>The Relational Data Model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54D1AD-0828-4341-927E-CD8DCEC962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135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BA4F39-9844-284F-85FE-F689B4799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664832"/>
            <a:ext cx="8415338" cy="4168834"/>
          </a:xfrm>
        </p:spPr>
        <p:txBody>
          <a:bodyPr/>
          <a:lstStyle/>
          <a:p>
            <a:r>
              <a:rPr lang="en-US" dirty="0"/>
              <a:t>The basic structure in a Relational model is a RELATION (or table)</a:t>
            </a:r>
          </a:p>
          <a:p>
            <a:r>
              <a:rPr lang="en-US" dirty="0"/>
              <a:t>Relation</a:t>
            </a:r>
          </a:p>
          <a:p>
            <a:pPr lvl="1"/>
            <a:r>
              <a:rPr lang="en-US" dirty="0"/>
              <a:t>A 2-D structure composed of rows and columns.</a:t>
            </a:r>
          </a:p>
          <a:p>
            <a:pPr lvl="1"/>
            <a:r>
              <a:rPr lang="en-US" dirty="0"/>
              <a:t>Each row is called a Tuple or a record</a:t>
            </a:r>
          </a:p>
          <a:p>
            <a:pPr lvl="1"/>
            <a:r>
              <a:rPr lang="en-US" dirty="0"/>
              <a:t>Each column represents an attribute. </a:t>
            </a:r>
          </a:p>
          <a:p>
            <a:pPr lvl="1"/>
            <a:r>
              <a:rPr lang="en-US" dirty="0"/>
              <a:t>Provides a logical view of data. </a:t>
            </a:r>
          </a:p>
          <a:p>
            <a:r>
              <a:rPr lang="en-US" dirty="0"/>
              <a:t>Relational Database is composed of a collection of relations.</a:t>
            </a:r>
          </a:p>
          <a:p>
            <a:pPr lvl="1"/>
            <a:r>
              <a:rPr lang="en-US" dirty="0"/>
              <a:t>The relations are related with one another.</a:t>
            </a:r>
          </a:p>
          <a:p>
            <a:pPr lvl="1"/>
            <a:r>
              <a:rPr lang="en-US" dirty="0"/>
              <a:t>These relationships are implemented by incorporating a column that is common to tables in the relationship. </a:t>
            </a:r>
          </a:p>
          <a:p>
            <a:pPr lvl="1"/>
            <a:r>
              <a:rPr lang="en-US" dirty="0"/>
              <a:t>Relation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CC463C-B490-9342-A9B3-4FB82C399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161"/>
            <a:ext cx="8026400" cy="290336"/>
          </a:xfrm>
        </p:spPr>
        <p:txBody>
          <a:bodyPr/>
          <a:lstStyle/>
          <a:p>
            <a:r>
              <a:rPr lang="en-US" dirty="0"/>
              <a:t>The Relational Model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B2BAF6-1D04-A14C-9D51-69EF90B8A2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979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A318901-E2F9-FD4A-9DBF-9D880CCC2B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24000"/>
            <a:ext cx="5486400" cy="2357438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A4D11C4-6E5C-BC48-98A2-8A7A79268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161"/>
            <a:ext cx="8026400" cy="290336"/>
          </a:xfrm>
        </p:spPr>
        <p:txBody>
          <a:bodyPr/>
          <a:lstStyle/>
          <a:p>
            <a:r>
              <a:rPr lang="en-US" dirty="0"/>
              <a:t>Relation - Example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EB45F7-54F9-6942-82B1-09C5D25202F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9ABF78-FF3E-664A-9978-AC2F2DFA25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4114800"/>
            <a:ext cx="6502400" cy="18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200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5"/>
          <p:cNvSpPr>
            <a:spLocks noGrp="1" noChangeArrowheads="1"/>
          </p:cNvSpPr>
          <p:nvPr>
            <p:ph idx="1"/>
          </p:nvPr>
        </p:nvSpPr>
        <p:spPr>
          <a:xfrm>
            <a:off x="365125" y="1295400"/>
            <a:ext cx="8415338" cy="1403461"/>
          </a:xfrm>
        </p:spPr>
        <p:txBody>
          <a:bodyPr/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ea typeface="Times New Roman" panose="02020603050405020304" pitchFamily="18" charset="0"/>
              </a:rPr>
              <a:t>Business rules form the basis of the data modeling process</a:t>
            </a:r>
            <a:endParaRPr lang="en-US" sz="24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Business rules are precisely written and unambiguous statements that are derived from a detailed description of an organization's operations. </a:t>
            </a:r>
          </a:p>
        </p:txBody>
      </p:sp>
      <p:sp>
        <p:nvSpPr>
          <p:cNvPr id="15362" name="Rectangle 4"/>
          <p:cNvSpPr>
            <a:spLocks noGrp="1" noChangeArrowheads="1"/>
          </p:cNvSpPr>
          <p:nvPr>
            <p:ph type="title"/>
          </p:nvPr>
        </p:nvSpPr>
        <p:spPr>
          <a:xfrm>
            <a:off x="762000" y="515161"/>
            <a:ext cx="8026400" cy="290336"/>
          </a:xfrm>
        </p:spPr>
        <p:txBody>
          <a:bodyPr/>
          <a:lstStyle/>
          <a:p>
            <a:r>
              <a:rPr lang="en-US" altLang="en-US" dirty="0"/>
              <a:t>Business Rules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171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Sources of business rules</a:t>
            </a:r>
          </a:p>
          <a:p>
            <a:pPr lvl="1"/>
            <a:r>
              <a:rPr lang="en-US" dirty="0"/>
              <a:t>Company managers</a:t>
            </a:r>
          </a:p>
          <a:p>
            <a:pPr lvl="1"/>
            <a:r>
              <a:rPr lang="en-US" dirty="0"/>
              <a:t>Policy makers</a:t>
            </a:r>
          </a:p>
          <a:p>
            <a:pPr lvl="1"/>
            <a:r>
              <a:rPr lang="en-US" dirty="0"/>
              <a:t>Department managers</a:t>
            </a:r>
          </a:p>
          <a:p>
            <a:pPr lvl="1"/>
            <a:r>
              <a:rPr lang="en-US" dirty="0"/>
              <a:t>Written documentation</a:t>
            </a:r>
          </a:p>
          <a:p>
            <a:pPr lvl="1"/>
            <a:r>
              <a:rPr lang="en-US" dirty="0"/>
              <a:t>Direct interviews with end users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19458" name="Rectangle 6"/>
          <p:cNvSpPr>
            <a:spLocks noGrp="1" noChangeArrowheads="1"/>
          </p:cNvSpPr>
          <p:nvPr>
            <p:ph type="title"/>
          </p:nvPr>
        </p:nvSpPr>
        <p:spPr>
          <a:xfrm>
            <a:off x="762000" y="515161"/>
            <a:ext cx="8026400" cy="290336"/>
          </a:xfrm>
        </p:spPr>
        <p:txBody>
          <a:bodyPr/>
          <a:lstStyle/>
          <a:p>
            <a:r>
              <a:rPr lang="en-US" dirty="0"/>
              <a:t>Discovering Business Rules</a:t>
            </a:r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5"/>
          <p:cNvSpPr>
            <a:spLocks noGrp="1" noChangeArrowheads="1"/>
          </p:cNvSpPr>
          <p:nvPr>
            <p:ph idx="1"/>
          </p:nvPr>
        </p:nvSpPr>
        <p:spPr>
          <a:xfrm>
            <a:off x="365125" y="1295400"/>
            <a:ext cx="8415338" cy="3859518"/>
          </a:xfrm>
        </p:spPr>
        <p:txBody>
          <a:bodyPr/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Examples of business rules are: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 store employs many employees.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24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Each employee is employed by only one store.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24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 college has many departments.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24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Each department belongs to a single college. (This business rule reflects a university that has multiple colleges such as Business, Liberal Arts, Education, Engineering, etc.)</a:t>
            </a:r>
          </a:p>
        </p:txBody>
      </p:sp>
      <p:sp>
        <p:nvSpPr>
          <p:cNvPr id="15362" name="Rectangle 4"/>
          <p:cNvSpPr>
            <a:spLocks noGrp="1" noChangeArrowheads="1"/>
          </p:cNvSpPr>
          <p:nvPr>
            <p:ph type="title"/>
          </p:nvPr>
        </p:nvSpPr>
        <p:spPr>
          <a:xfrm>
            <a:off x="762000" y="515161"/>
            <a:ext cx="8026400" cy="290336"/>
          </a:xfrm>
        </p:spPr>
        <p:txBody>
          <a:bodyPr/>
          <a:lstStyle/>
          <a:p>
            <a:r>
              <a:rPr lang="en-US" altLang="en-US" dirty="0"/>
              <a:t>Examples of Business Rules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520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E8F423D-4E13-3041-B374-A1263E628A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447800"/>
            <a:ext cx="5867400" cy="4542504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60CC644-C3B0-A145-8981-69ED2D7A2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161"/>
            <a:ext cx="8026400" cy="290336"/>
          </a:xfrm>
        </p:spPr>
        <p:txBody>
          <a:bodyPr/>
          <a:lstStyle/>
          <a:p>
            <a:r>
              <a:rPr lang="en-US" dirty="0"/>
              <a:t>Relational Model - Representation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EFD6DD-D9B1-B748-B6E7-B0A8E644AD2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256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2309863"/>
          </a:xfrm>
        </p:spPr>
        <p:txBody>
          <a:bodyPr/>
          <a:lstStyle/>
          <a:p>
            <a:pPr marL="228600" marR="457200" algn="just">
              <a:spcBef>
                <a:spcPts val="0"/>
              </a:spcBef>
              <a:spcAft>
                <a:spcPts val="0"/>
              </a:spcAft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457200" algn="just">
              <a:spcBef>
                <a:spcPts val="0"/>
              </a:spcBef>
            </a:pPr>
            <a:r>
              <a:rPr lang="en-US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Relational models cannot always reflect all of the business rules. For example, examine the following business rule:</a:t>
            </a:r>
          </a:p>
          <a:p>
            <a:pPr marL="228600" marR="457200" algn="just">
              <a:spcBef>
                <a:spcPts val="0"/>
              </a:spcBef>
              <a:spcAft>
                <a:spcPts val="0"/>
              </a:spcAft>
            </a:pPr>
            <a:endParaRPr lang="en-US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457200" algn="just"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457200" algn="just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 customer cannot be given a credit line over $10,000 unless that customer has maintained a satisfactory credit history (as determined by the credit manager) during the past two years.</a:t>
            </a:r>
          </a:p>
        </p:txBody>
      </p:sp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762000" y="515161"/>
            <a:ext cx="8026400" cy="290336"/>
          </a:xfrm>
        </p:spPr>
        <p:txBody>
          <a:bodyPr/>
          <a:lstStyle/>
          <a:p>
            <a:r>
              <a:rPr lang="en-US" altLang="en-US" dirty="0"/>
              <a:t>Constraints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508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Relational database management system (RDBMS)</a:t>
            </a:r>
          </a:p>
          <a:p>
            <a:pPr lvl="1"/>
            <a:r>
              <a:rPr lang="en-US" altLang="en-US" dirty="0"/>
              <a:t>Performs basic functions provided by the hierarchical and network DBMS systems</a:t>
            </a:r>
          </a:p>
          <a:p>
            <a:pPr lvl="1"/>
            <a:r>
              <a:rPr lang="en-US" altLang="en-US" dirty="0"/>
              <a:t>Makes the relational data model easier to understand and implement</a:t>
            </a:r>
          </a:p>
          <a:p>
            <a:pPr lvl="1"/>
            <a:r>
              <a:rPr lang="en-US" altLang="en-US" dirty="0"/>
              <a:t>Hides the complexities of the relational model from the user</a:t>
            </a:r>
          </a:p>
        </p:txBody>
      </p:sp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762000" y="371276"/>
            <a:ext cx="8026400" cy="578107"/>
          </a:xfrm>
        </p:spPr>
        <p:txBody>
          <a:bodyPr/>
          <a:lstStyle/>
          <a:p>
            <a:r>
              <a:rPr lang="en-US" altLang="en-US" dirty="0"/>
              <a:t>Relational database management system (RDBMS)</a:t>
            </a:r>
            <a:br>
              <a:rPr lang="en-US" altLang="en-US" dirty="0"/>
            </a:br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02A723-0C68-0C4E-AC76-EB1408051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664832"/>
            <a:ext cx="8415338" cy="3847207"/>
          </a:xfrm>
        </p:spPr>
        <p:txBody>
          <a:bodyPr/>
          <a:lstStyle/>
          <a:p>
            <a:r>
              <a:rPr lang="en-US" dirty="0"/>
              <a:t>The primary means is the Structured Query Language (SQL)</a:t>
            </a:r>
          </a:p>
          <a:p>
            <a:r>
              <a:rPr lang="en-US" dirty="0"/>
              <a:t>Types of SQL Statements:</a:t>
            </a:r>
          </a:p>
          <a:p>
            <a:pPr lvl="1"/>
            <a:r>
              <a:rPr lang="en-US" dirty="0"/>
              <a:t>Data Definition Language (DDL)</a:t>
            </a:r>
          </a:p>
          <a:p>
            <a:pPr lvl="2"/>
            <a:r>
              <a:rPr lang="en-US" dirty="0"/>
              <a:t>Statements that define and manage the structure of the database</a:t>
            </a:r>
          </a:p>
          <a:p>
            <a:pPr lvl="2"/>
            <a:r>
              <a:rPr lang="en-US" dirty="0"/>
              <a:t>Create statement – to create any database object – database, table, view, procedure</a:t>
            </a:r>
          </a:p>
          <a:p>
            <a:pPr lvl="1"/>
            <a:r>
              <a:rPr lang="en-US" dirty="0"/>
              <a:t>Data Manipulation Language (DML)</a:t>
            </a:r>
          </a:p>
          <a:p>
            <a:pPr lvl="2"/>
            <a:r>
              <a:rPr lang="en-US" dirty="0"/>
              <a:t>Statements that retrieve and manipulate data</a:t>
            </a:r>
          </a:p>
          <a:p>
            <a:pPr lvl="2"/>
            <a:r>
              <a:rPr lang="en-US" dirty="0"/>
              <a:t>Select statement for retrieving data</a:t>
            </a:r>
          </a:p>
          <a:p>
            <a:pPr lvl="2"/>
            <a:r>
              <a:rPr lang="en-US" dirty="0"/>
              <a:t>Insert statement for storing data </a:t>
            </a:r>
          </a:p>
          <a:p>
            <a:pPr lvl="2"/>
            <a:r>
              <a:rPr lang="en-US" dirty="0"/>
              <a:t>Delete statement for deleting data</a:t>
            </a:r>
          </a:p>
          <a:p>
            <a:pPr lvl="2"/>
            <a:r>
              <a:rPr lang="en-US" dirty="0"/>
              <a:t>Update statement for updating current data</a:t>
            </a:r>
          </a:p>
          <a:p>
            <a:r>
              <a:rPr lang="en-US" dirty="0"/>
              <a:t>Together, DDL and DML perform CRUD operations on databases.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C4FE89F-41EE-E644-8998-38EF5F2E1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161"/>
            <a:ext cx="8026400" cy="290336"/>
          </a:xfrm>
        </p:spPr>
        <p:txBody>
          <a:bodyPr/>
          <a:lstStyle/>
          <a:p>
            <a:r>
              <a:rPr lang="en-US" dirty="0"/>
              <a:t>How to Store, Manage, and Retrieve Data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F7B21C-4687-374E-A753-25800742B62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172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5A799A-15F3-4A47-A843-5BB7B260F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161"/>
            <a:ext cx="8026400" cy="290336"/>
          </a:xfrm>
        </p:spPr>
        <p:txBody>
          <a:bodyPr/>
          <a:lstStyle/>
          <a:p>
            <a:r>
              <a:rPr lang="en-US" dirty="0"/>
              <a:t>Business Rules Exercise 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FC1AD4-7BB7-8F4F-A076-F0C7F827D6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05C942-1F0B-4A29-B147-A79697B16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600200"/>
            <a:ext cx="6477000" cy="40386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5097867-CBE3-4334-9651-C53419AFD264}"/>
              </a:ext>
            </a:extLst>
          </p:cNvPr>
          <p:cNvSpPr/>
          <p:nvPr/>
        </p:nvSpPr>
        <p:spPr>
          <a:xfrm>
            <a:off x="2590800" y="2209800"/>
            <a:ext cx="1524000" cy="2903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9D521E-B690-4190-800E-BEF5CC14C5D0}"/>
              </a:ext>
            </a:extLst>
          </p:cNvPr>
          <p:cNvSpPr/>
          <p:nvPr/>
        </p:nvSpPr>
        <p:spPr>
          <a:xfrm>
            <a:off x="5257800" y="2209800"/>
            <a:ext cx="1600200" cy="2903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6CC336-6AC2-42AB-A601-015DC06B45B3}"/>
              </a:ext>
            </a:extLst>
          </p:cNvPr>
          <p:cNvSpPr/>
          <p:nvPr/>
        </p:nvSpPr>
        <p:spPr>
          <a:xfrm>
            <a:off x="4572000" y="3048000"/>
            <a:ext cx="228600" cy="1143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566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5A799A-15F3-4A47-A843-5BB7B260F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161"/>
            <a:ext cx="8026400" cy="290336"/>
          </a:xfrm>
        </p:spPr>
        <p:txBody>
          <a:bodyPr/>
          <a:lstStyle/>
          <a:p>
            <a:r>
              <a:rPr lang="en-US" dirty="0"/>
              <a:t>Business Rules Exercise 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FC1AD4-7BB7-8F4F-A076-F0C7F827D6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E302BCC-3EBD-4A9C-8C3F-AEC6C33C7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038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C0C7CD5A-8AEA-413B-BA6C-7D3FBD6924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9082810"/>
              </p:ext>
            </p:extLst>
          </p:nvPr>
        </p:nvGraphicFramePr>
        <p:xfrm>
          <a:off x="1981200" y="1676467"/>
          <a:ext cx="5715000" cy="3581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2" imgW="4572180" imgH="3429054" progId="PowerPoint.Show.8">
                  <p:embed/>
                </p:oleObj>
              </mc:Choice>
              <mc:Fallback>
                <p:oleObj name="Presentation" r:id="rId2" imgW="4572180" imgH="3429054" progId="PowerPoint.Show.8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2500" t="22223" r="17500" b="32222"/>
                      <a:stretch>
                        <a:fillRect/>
                      </a:stretch>
                    </p:blipFill>
                    <p:spPr bwMode="auto">
                      <a:xfrm>
                        <a:off x="1981200" y="1676467"/>
                        <a:ext cx="5715000" cy="35813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2FBD9824-77B6-411C-AF24-2A4E06454E94}"/>
              </a:ext>
            </a:extLst>
          </p:cNvPr>
          <p:cNvSpPr/>
          <p:nvPr/>
        </p:nvSpPr>
        <p:spPr>
          <a:xfrm>
            <a:off x="3657600" y="1981203"/>
            <a:ext cx="2438400" cy="4571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7E7E15-00B7-47DA-8F50-8F8484D45F64}"/>
              </a:ext>
            </a:extLst>
          </p:cNvPr>
          <p:cNvSpPr/>
          <p:nvPr/>
        </p:nvSpPr>
        <p:spPr>
          <a:xfrm>
            <a:off x="6553200" y="2514601"/>
            <a:ext cx="533400" cy="18287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0C6EDE-C3D9-4430-83CB-50C7328ACE96}"/>
              </a:ext>
            </a:extLst>
          </p:cNvPr>
          <p:cNvSpPr/>
          <p:nvPr/>
        </p:nvSpPr>
        <p:spPr>
          <a:xfrm>
            <a:off x="3581400" y="4419605"/>
            <a:ext cx="2590800" cy="3809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947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5A799A-15F3-4A47-A843-5BB7B260F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161"/>
            <a:ext cx="8026400" cy="290336"/>
          </a:xfrm>
        </p:spPr>
        <p:txBody>
          <a:bodyPr/>
          <a:lstStyle/>
          <a:p>
            <a:r>
              <a:rPr lang="en-US" dirty="0"/>
              <a:t>Business Rules Exercise 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FC1AD4-7BB7-8F4F-A076-F0C7F827D6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E302BCC-3EBD-4A9C-8C3F-AEC6C33C7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038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074" name="Picture 43" descr="L:\MISC\Coronel-Rob-Morris-Edition9\InstructorManual\Figures\Ch02-Data-Models\FigP2-10b-The-UBA-ERD.tif">
            <a:extLst>
              <a:ext uri="{FF2B5EF4-FFF2-40B4-BE49-F238E27FC236}">
                <a16:creationId xmlns:a16="http://schemas.microsoft.com/office/drawing/2014/main" id="{3B632E38-81BD-4B69-832F-97278953B8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997392"/>
            <a:ext cx="6248400" cy="2727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1236E72-9E21-4F00-B4D4-20196A08BBA4}"/>
              </a:ext>
            </a:extLst>
          </p:cNvPr>
          <p:cNvSpPr/>
          <p:nvPr/>
        </p:nvSpPr>
        <p:spPr>
          <a:xfrm>
            <a:off x="2667000" y="3124200"/>
            <a:ext cx="1371600" cy="4571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12BDFF-D8A3-48B4-AC9A-05A3C88A2E25}"/>
              </a:ext>
            </a:extLst>
          </p:cNvPr>
          <p:cNvSpPr/>
          <p:nvPr/>
        </p:nvSpPr>
        <p:spPr>
          <a:xfrm>
            <a:off x="5181600" y="3200400"/>
            <a:ext cx="1371600" cy="3809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27494"/>
      </p:ext>
    </p:extLst>
  </p:cSld>
  <p:clrMapOvr>
    <a:masterClrMapping/>
  </p:clrMapOvr>
</p:sld>
</file>

<file path=ppt/theme/theme1.xml><?xml version="1.0" encoding="utf-8"?>
<a:theme xmlns:a="http://schemas.openxmlformats.org/drawingml/2006/main" name="Word 2016 Med Module  1_PPT_2019">
  <a:themeElements>
    <a:clrScheme name="Cengage">
      <a:dk1>
        <a:srgbClr val="000000"/>
      </a:dk1>
      <a:lt1>
        <a:srgbClr val="FFFFFF"/>
      </a:lt1>
      <a:dk2>
        <a:srgbClr val="000000"/>
      </a:dk2>
      <a:lt2>
        <a:srgbClr val="AAAEB4"/>
      </a:lt2>
      <a:accent1>
        <a:srgbClr val="0D3857"/>
      </a:accent1>
      <a:accent2>
        <a:srgbClr val="055C91"/>
      </a:accent2>
      <a:accent3>
        <a:srgbClr val="81C0DA"/>
      </a:accent3>
      <a:accent4>
        <a:srgbClr val="B0D3DF"/>
      </a:accent4>
      <a:accent5>
        <a:srgbClr val="E0DCCD"/>
      </a:accent5>
      <a:accent6>
        <a:srgbClr val="7C7666"/>
      </a:accent6>
      <a:hlink>
        <a:srgbClr val="055C91"/>
      </a:hlink>
      <a:folHlink>
        <a:srgbClr val="81C0DA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1202</Words>
  <Application>Microsoft Office PowerPoint</Application>
  <PresentationFormat>On-screen Show (4:3)</PresentationFormat>
  <Paragraphs>106</Paragraphs>
  <Slides>15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Symbol</vt:lpstr>
      <vt:lpstr>Times New Roman</vt:lpstr>
      <vt:lpstr>Word 2016 Med Module  1_PPT_2019</vt:lpstr>
      <vt:lpstr>Presentation</vt:lpstr>
      <vt:lpstr>PowerPoint Presentation</vt:lpstr>
      <vt:lpstr>Data Modeling and Data Models</vt:lpstr>
      <vt:lpstr>The Relational Data Model</vt:lpstr>
      <vt:lpstr>The Relational Model</vt:lpstr>
      <vt:lpstr>Relation - Example</vt:lpstr>
      <vt:lpstr>Business Rules</vt:lpstr>
      <vt:lpstr>Discovering Business Rules</vt:lpstr>
      <vt:lpstr>Examples of Business Rules</vt:lpstr>
      <vt:lpstr>Relational Model - Representation</vt:lpstr>
      <vt:lpstr>Constraints</vt:lpstr>
      <vt:lpstr>Relational database management system (RDBMS) </vt:lpstr>
      <vt:lpstr>How to Store, Manage, and Retrieve Data</vt:lpstr>
      <vt:lpstr>Business Rules Exercise 1</vt:lpstr>
      <vt:lpstr>Business Rules Exercise 2</vt:lpstr>
      <vt:lpstr>Business Rules Exercise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2017-08-04T19:17:24Z</dcterms:created>
  <dcterms:modified xsi:type="dcterms:W3CDTF">2022-08-21T20:45:35Z</dcterms:modified>
</cp:coreProperties>
</file>