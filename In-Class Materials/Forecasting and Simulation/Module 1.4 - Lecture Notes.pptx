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358" r:id="rId3"/>
    <p:sldId id="257" r:id="rId4"/>
    <p:sldId id="384" r:id="rId5"/>
    <p:sldId id="309" r:id="rId6"/>
    <p:sldId id="312" r:id="rId7"/>
    <p:sldId id="311" r:id="rId8"/>
    <p:sldId id="314" r:id="rId9"/>
    <p:sldId id="317" r:id="rId10"/>
    <p:sldId id="359" r:id="rId11"/>
    <p:sldId id="360" r:id="rId12"/>
    <p:sldId id="361" r:id="rId13"/>
    <p:sldId id="362" r:id="rId14"/>
    <p:sldId id="363" r:id="rId15"/>
    <p:sldId id="331" r:id="rId16"/>
    <p:sldId id="332" r:id="rId17"/>
    <p:sldId id="333" r:id="rId18"/>
    <p:sldId id="334" r:id="rId19"/>
    <p:sldId id="335" r:id="rId20"/>
    <p:sldId id="372" r:id="rId21"/>
    <p:sldId id="373" r:id="rId22"/>
    <p:sldId id="374" r:id="rId23"/>
    <p:sldId id="375" r:id="rId24"/>
    <p:sldId id="378" r:id="rId25"/>
    <p:sldId id="347" r:id="rId26"/>
    <p:sldId id="370" r:id="rId27"/>
    <p:sldId id="376" r:id="rId28"/>
    <p:sldId id="385" r:id="rId29"/>
    <p:sldId id="276" r:id="rId30"/>
    <p:sldId id="380" r:id="rId31"/>
    <p:sldId id="381" r:id="rId32"/>
    <p:sldId id="275" r:id="rId33"/>
    <p:sldId id="273" r:id="rId34"/>
    <p:sldId id="286" r:id="rId35"/>
    <p:sldId id="382" r:id="rId36"/>
    <p:sldId id="289" r:id="rId37"/>
    <p:sldId id="290" r:id="rId38"/>
    <p:sldId id="291" r:id="rId39"/>
    <p:sldId id="383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 Konur, Sahika" userId="739a6e03-9a4a-49c6-a350-571b31db94be" providerId="ADAL" clId="{EE86F93A-09EA-4620-A6C1-5F9DEA573727}"/>
    <pc:docChg chg="modSld">
      <pc:chgData name="Sahan Konur, Sahika" userId="739a6e03-9a4a-49c6-a350-571b31db94be" providerId="ADAL" clId="{EE86F93A-09EA-4620-A6C1-5F9DEA573727}" dt="2024-01-26T16:37:21.138" v="0" actId="113"/>
      <pc:docMkLst>
        <pc:docMk/>
      </pc:docMkLst>
      <pc:sldChg chg="modSp mod">
        <pc:chgData name="Sahan Konur, Sahika" userId="739a6e03-9a4a-49c6-a350-571b31db94be" providerId="ADAL" clId="{EE86F93A-09EA-4620-A6C1-5F9DEA573727}" dt="2024-01-26T16:37:21.138" v="0" actId="113"/>
        <pc:sldMkLst>
          <pc:docMk/>
          <pc:sldMk cId="698425873" sldId="266"/>
        </pc:sldMkLst>
        <pc:spChg chg="mod">
          <ac:chgData name="Sahan Konur, Sahika" userId="739a6e03-9a4a-49c6-a350-571b31db94be" providerId="ADAL" clId="{EE86F93A-09EA-4620-A6C1-5F9DEA573727}" dt="2024-01-26T16:37:21.138" v="0" actId="113"/>
          <ac:spMkLst>
            <pc:docMk/>
            <pc:sldMk cId="698425873" sldId="26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3099-EF0D-4B9A-BBFF-09FBE6BF6054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1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002" y="365125"/>
            <a:ext cx="11478410" cy="839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2" y="1312433"/>
            <a:ext cx="11478410" cy="48645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5002" y="6356350"/>
            <a:ext cx="3226398" cy="365125"/>
          </a:xfrm>
        </p:spPr>
        <p:txBody>
          <a:bodyPr/>
          <a:lstStyle/>
          <a:p>
            <a:fld id="{B1E3B061-4FCE-4A21-AC74-81FE2BC5CF3E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22812" cy="365125"/>
          </a:xfrm>
        </p:spPr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55002" y="1193795"/>
            <a:ext cx="1147841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81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59F54-5CF2-4FD0-836E-B479A78D51A3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1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33E6-EEC8-49F6-86B1-D403F7BCF2D7}" type="datetime1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FC5F4-FF8A-4310-ACDA-118E50908757}" type="datetime1">
              <a:rPr lang="en-US" smtClean="0"/>
              <a:t>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7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CC70-ED3C-42E3-B9D4-4CDAF46FBF6D}" type="datetime1">
              <a:rPr lang="en-US" smtClean="0"/>
              <a:t>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6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83FA-2A64-4953-B019-1B95DE5F0E9D}" type="datetime1">
              <a:rPr lang="en-US" smtClean="0"/>
              <a:t>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5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9A69-C0C1-4748-81A5-B3EAE2845645}" type="datetime1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4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0C7C-8B0D-4808-9EE9-6B3127DD99F3}" type="datetime1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3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08BD7-923F-4248-A98A-25295194946A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5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BBA94-316C-4F17-807F-67A425FEAD68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3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8F577-5F6A-4371-8B61-A5EB0D2162DC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BF737-9C2B-4B9F-9835-28D7237A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1.png"/><Relationship Id="rId7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682433"/>
            <a:ext cx="11487150" cy="23876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QMST 5335</a:t>
            </a:r>
            <a:br>
              <a:rPr lang="en-US" sz="5400" dirty="0"/>
            </a:br>
            <a:r>
              <a:rPr lang="en-US" sz="5400" b="1" dirty="0"/>
              <a:t>ARIMA Overview and Hierarchical Time Series</a:t>
            </a:r>
            <a:br>
              <a:rPr lang="en-US" sz="5400" dirty="0"/>
            </a:b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6D8F2F0-9F34-E6E3-80DD-EB3A31E41F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2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F9A2C-3D53-CD9D-044D-97401372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Learning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D41C9-0B92-95F3-E7AD-C8F387519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ARIMA overview</a:t>
            </a:r>
          </a:p>
          <a:p>
            <a:pPr lvl="1"/>
            <a:r>
              <a:rPr lang="en-US" dirty="0"/>
              <a:t>Learning the basics of ARIMA models</a:t>
            </a:r>
          </a:p>
          <a:p>
            <a:pPr lvl="1"/>
            <a:r>
              <a:rPr lang="en-US" dirty="0"/>
              <a:t>ARIMA Modeling basics</a:t>
            </a:r>
          </a:p>
          <a:p>
            <a:pPr lvl="1"/>
            <a:r>
              <a:rPr lang="en-US" dirty="0"/>
              <a:t>Forecasting with ARIMA models</a:t>
            </a:r>
          </a:p>
          <a:p>
            <a:r>
              <a:rPr lang="en-US" dirty="0"/>
              <a:t>Hierarchical/Grouped time series forecasting</a:t>
            </a:r>
          </a:p>
          <a:p>
            <a:pPr lvl="1"/>
            <a:r>
              <a:rPr lang="en-US" dirty="0"/>
              <a:t>What is a hierarchical/grouped time series?</a:t>
            </a:r>
          </a:p>
          <a:p>
            <a:pPr lvl="1"/>
            <a:r>
              <a:rPr lang="en-US" dirty="0"/>
              <a:t>Single level approaches for forecasting hierarchical/grouped time series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04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ARIMA Overview</a:t>
            </a:r>
          </a:p>
          <a:p>
            <a:pPr lvl="1"/>
            <a:r>
              <a:rPr lang="en-US" dirty="0"/>
              <a:t>Introduction to ARIMA, Transformation and Differencing</a:t>
            </a:r>
          </a:p>
          <a:p>
            <a:pPr lvl="1"/>
            <a:r>
              <a:rPr lang="en-US" dirty="0"/>
              <a:t>Autoregressive models, Moving Average models</a:t>
            </a:r>
          </a:p>
          <a:p>
            <a:pPr lvl="1"/>
            <a:r>
              <a:rPr lang="en-US" dirty="0"/>
              <a:t>Non-seasonal ARIMA model, Order Selection and Parameter Estimation</a:t>
            </a:r>
          </a:p>
          <a:p>
            <a:pPr lvl="1"/>
            <a:r>
              <a:rPr lang="en-US" dirty="0"/>
              <a:t>ARIMA Modeling and Forecasting with ARIMA, ARIMA vs. ETS</a:t>
            </a:r>
          </a:p>
          <a:p>
            <a:endParaRPr lang="en-US" dirty="0"/>
          </a:p>
          <a:p>
            <a:r>
              <a:rPr lang="en-US" dirty="0"/>
              <a:t>Hierarchical/Group Time Series Forecasting</a:t>
            </a:r>
          </a:p>
          <a:p>
            <a:pPr lvl="1"/>
            <a:r>
              <a:rPr lang="en-US" dirty="0"/>
              <a:t>Hierarchical/Group Time Series, Single Level Forecasting Approaches</a:t>
            </a:r>
          </a:p>
          <a:p>
            <a:pPr lvl="1"/>
            <a:r>
              <a:rPr lang="en-US" dirty="0"/>
              <a:t>Bottom-up, Top-down, and Middle-out Approaches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3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ARIMA Overview</a:t>
            </a:r>
          </a:p>
          <a:p>
            <a:pPr lvl="1"/>
            <a:r>
              <a:rPr lang="en-US" dirty="0"/>
              <a:t>Introduction to ARIMA, Transformation and Differencing</a:t>
            </a:r>
          </a:p>
          <a:p>
            <a:pPr lvl="1"/>
            <a:r>
              <a:rPr lang="en-US" dirty="0"/>
              <a:t>Autoregressive models, Moving Average models</a:t>
            </a:r>
          </a:p>
          <a:p>
            <a:pPr lvl="1"/>
            <a:r>
              <a:rPr lang="en-US" dirty="0"/>
              <a:t>Non-seasonal ARIMA model, Order Selection and Parameter Estimation</a:t>
            </a:r>
          </a:p>
          <a:p>
            <a:pPr lvl="1"/>
            <a:r>
              <a:rPr lang="en-US" dirty="0"/>
              <a:t>ARIMA Modeling and Forecasting with ARIMA, ARIMA vs. ETS</a:t>
            </a:r>
          </a:p>
          <a:p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Hierarchical/Group Time Series Forecasting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Hierarchical/Group Time Series, Single Level Forecasting Approaches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Bottom-up, Top-down, and Middle-out Approaches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39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ARIMA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Autoregressive Integrated Moving Average (ARIMA) models are alternative approaches for time series forecasting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ETS and ARIMA models are the most common approaches for forecasting time series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ETS methods describe and use trend and seasonality in the data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ARIMA models aim to describe autocorrelations in the data</a:t>
            </a:r>
          </a:p>
          <a:p>
            <a:r>
              <a:rPr lang="en-US" dirty="0">
                <a:sym typeface="Wingdings" panose="05000000000000000000" pitchFamily="2" charset="2"/>
              </a:rPr>
              <a:t>ARIMA models combine two models: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Autoregressive models: regression of the variable against itself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Moving average models: regression of the variable against past forecast errors</a:t>
            </a:r>
          </a:p>
          <a:p>
            <a:r>
              <a:rPr lang="en-US" dirty="0">
                <a:sym typeface="Wingdings" panose="05000000000000000000" pitchFamily="2" charset="2"/>
              </a:rPr>
              <a:t>Basic ARIMA models work on stationary time series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What if a time series is not stationary?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Transformations can be used to stabilize the variance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Differencing is used to represent a time series as a stationary one</a:t>
            </a:r>
          </a:p>
          <a:p>
            <a:pPr marL="457200" lvl="1" indent="0">
              <a:buNone/>
            </a:pPr>
            <a:endParaRPr lang="en-US" dirty="0">
              <a:solidFill>
                <a:schemeClr val="bg2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1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Transformations such as logarithms can help stabilize the variance of a time series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3"/>
            <a:endParaRPr lang="en-US" dirty="0"/>
          </a:p>
          <a:p>
            <a:pPr lvl="1"/>
            <a:r>
              <a:rPr lang="en-US" dirty="0"/>
              <a:t>Typically, transformation is applied before differencing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786A38-0C83-BE73-FC65-52471F426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75" y="2001169"/>
            <a:ext cx="6270938" cy="31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3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way to make a non-stationary time series stationary is to compute the differences between consecutive observations</a:t>
            </a:r>
          </a:p>
          <a:p>
            <a:pPr lvl="1"/>
            <a:r>
              <a:rPr lang="en-US" dirty="0"/>
              <a:t>This is known as </a:t>
            </a:r>
            <a:r>
              <a:rPr lang="en-US" b="1" dirty="0">
                <a:solidFill>
                  <a:srgbClr val="C00000"/>
                </a:solidFill>
              </a:rPr>
              <a:t>differencing</a:t>
            </a:r>
          </a:p>
          <a:p>
            <a:pPr lvl="1"/>
            <a:r>
              <a:rPr lang="en-US" dirty="0"/>
              <a:t>Illustration: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Differencing can help stabilize the mean of a time series by removing changes in the level of a time series</a:t>
            </a:r>
          </a:p>
          <a:p>
            <a:pPr lvl="1"/>
            <a:r>
              <a:rPr lang="en-US" dirty="0"/>
              <a:t>Therefore eliminating (or reducing) trend and seasonality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64353-011F-47B8-A389-01E01C31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080" y="2640844"/>
            <a:ext cx="4952636" cy="188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differenced series is the change between consecutive observations in the original series: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series is the first differences</a:t>
                </a:r>
              </a:p>
              <a:p>
                <a:pPr lvl="2"/>
                <a:r>
                  <a:rPr lang="en-US" dirty="0"/>
                  <a:t>For the first observation, there is no difference</a:t>
                </a:r>
              </a:p>
              <a:p>
                <a:pPr lvl="2"/>
                <a:r>
                  <a:rPr lang="en-US" dirty="0"/>
                  <a:t>The difference series will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values</a:t>
                </a:r>
              </a:p>
              <a:p>
                <a:r>
                  <a:rPr lang="en-US" dirty="0"/>
                  <a:t>When the differenced series is white noise, original model reads as: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Rearranging terms, we have: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the </a:t>
                </a:r>
                <a:r>
                  <a:rPr lang="en-US" b="1" dirty="0">
                    <a:solidFill>
                      <a:srgbClr val="C00000"/>
                    </a:solidFill>
                  </a:rPr>
                  <a:t>random walk model</a:t>
                </a:r>
              </a:p>
              <a:p>
                <a:pPr lvl="2"/>
                <a:r>
                  <a:rPr lang="en-US" dirty="0"/>
                  <a:t>Forecasts from random walk model are equal to the last observation</a:t>
                </a:r>
              </a:p>
              <a:p>
                <a:pPr lvl="2"/>
                <a:r>
                  <a:rPr lang="en-US" dirty="0"/>
                  <a:t>Random walk model underpins the naïve method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61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differenced data may appear to be non-stationary</a:t>
                </a:r>
              </a:p>
              <a:p>
                <a:pPr lvl="1"/>
                <a:r>
                  <a:rPr lang="en-US" dirty="0"/>
                  <a:t>It may be necessary to difference the data a second time to obtain a stationary series: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This is </a:t>
                </a:r>
                <a:r>
                  <a:rPr lang="en-US" b="1" dirty="0">
                    <a:solidFill>
                      <a:srgbClr val="C00000"/>
                    </a:solidFill>
                  </a:rPr>
                  <a:t>second-order differencing</a:t>
                </a:r>
              </a:p>
              <a:p>
                <a:pPr lvl="1"/>
                <a:r>
                  <a:rPr lang="en-US" dirty="0"/>
                  <a:t>Second-order differenced series will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 values</a:t>
                </a:r>
              </a:p>
              <a:p>
                <a:pPr lvl="1"/>
                <a:r>
                  <a:rPr lang="en-US" dirty="0"/>
                  <a:t>In practice, it is almost never necessary to go beyond second-order differences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 r="-1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189AF6B-664B-2FDE-A6EF-2873D2FFB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079" y="2379131"/>
            <a:ext cx="4570383" cy="139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6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Differencing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seasonal difference is the difference between an observation and the previous observation from the same season</a:t>
                </a:r>
              </a:p>
              <a:p>
                <a:pPr lvl="1"/>
                <a:r>
                  <a:rPr lang="en-US" dirty="0"/>
                  <a:t>Given we have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seasons: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instance, when we have monthly data and yearly repeating pattern, i.e.,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, we take the difference between consecutive January months</a:t>
                </a:r>
              </a:p>
              <a:p>
                <a:r>
                  <a:rPr lang="en-US" dirty="0"/>
                  <a:t>If the seasonally differenced data appears to be white noise, we have: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Forecasts from this model are equal to the last observation from the relevant season</a:t>
                </a:r>
              </a:p>
              <a:p>
                <a:pPr lvl="1"/>
                <a:r>
                  <a:rPr lang="en-US" dirty="0"/>
                  <a:t>This model gives seasonal naïve forecasts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 r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19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Differencing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2" y="1312433"/>
            <a:ext cx="4912642" cy="4864530"/>
          </a:xfrm>
        </p:spPr>
        <p:txBody>
          <a:bodyPr/>
          <a:lstStyle/>
          <a:p>
            <a:r>
              <a:rPr lang="en-US" dirty="0"/>
              <a:t>Illustration:</a:t>
            </a:r>
          </a:p>
          <a:p>
            <a:pPr lvl="1"/>
            <a:r>
              <a:rPr lang="en-US" dirty="0"/>
              <a:t>The logarithms stabilize the variance</a:t>
            </a:r>
          </a:p>
          <a:p>
            <a:pPr lvl="1"/>
            <a:r>
              <a:rPr lang="en-US" dirty="0"/>
              <a:t>The seasonal differences remove the seasonality and trend</a:t>
            </a:r>
          </a:p>
          <a:p>
            <a:pPr lvl="1"/>
            <a:r>
              <a:rPr lang="en-US" dirty="0"/>
              <a:t>Relatively stationary</a:t>
            </a:r>
          </a:p>
          <a:p>
            <a:pPr lvl="1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8F469A-BF35-7131-6A1D-4409232EC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018" y="1382263"/>
            <a:ext cx="6387674" cy="472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03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Differencing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02" y="1312433"/>
            <a:ext cx="4912642" cy="4864530"/>
          </a:xfrm>
        </p:spPr>
        <p:txBody>
          <a:bodyPr/>
          <a:lstStyle/>
          <a:p>
            <a:r>
              <a:rPr lang="en-US" dirty="0"/>
              <a:t>Sometimes it is necessary to take both a seasonal difference and a first difference to obtain stationary data</a:t>
            </a:r>
          </a:p>
          <a:p>
            <a:pPr lvl="1"/>
            <a:r>
              <a:rPr lang="en-US" dirty="0"/>
              <a:t>Sales</a:t>
            </a:r>
          </a:p>
          <a:p>
            <a:pPr lvl="1"/>
            <a:r>
              <a:rPr lang="en-US" dirty="0"/>
              <a:t>Log Sales</a:t>
            </a:r>
          </a:p>
          <a:p>
            <a:pPr lvl="1"/>
            <a:r>
              <a:rPr lang="en-US" dirty="0"/>
              <a:t>Seasonal differencing</a:t>
            </a:r>
          </a:p>
          <a:p>
            <a:pPr lvl="1"/>
            <a:r>
              <a:rPr lang="en-US" dirty="0"/>
              <a:t>First differencing</a:t>
            </a:r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53FE2-80C9-C5E7-BEFC-61E95738C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307" y="1388609"/>
            <a:ext cx="5545589" cy="506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85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Differencing Remarks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There is subjectivity in selecting which differences to apply</a:t>
            </a:r>
          </a:p>
          <a:p>
            <a:pPr lvl="1"/>
            <a:r>
              <a:rPr lang="en-US" sz="2000" dirty="0"/>
              <a:t>When both seasonal and first differences are applied, it makes no difference which is done first—the result will be the same</a:t>
            </a:r>
          </a:p>
          <a:p>
            <a:pPr lvl="2"/>
            <a:r>
              <a:rPr lang="en-US" sz="1600" dirty="0"/>
              <a:t>If data have a strong seasonality, it is recommended that seasonal differencing be done first because the resulting series will sometimes be stationary and there will be no need for a further first difference</a:t>
            </a:r>
          </a:p>
          <a:p>
            <a:pPr lvl="2"/>
            <a:r>
              <a:rPr lang="en-US" sz="1600" dirty="0"/>
              <a:t>If first differencing is done first, there will still be seasonality present</a:t>
            </a:r>
          </a:p>
          <a:p>
            <a:r>
              <a:rPr lang="en-US" sz="2400" dirty="0"/>
              <a:t>Some remarks:</a:t>
            </a:r>
          </a:p>
          <a:p>
            <a:pPr lvl="1"/>
            <a:r>
              <a:rPr lang="en-US" sz="2000" dirty="0"/>
              <a:t>Applying more differences than required will induce false dynamics or autocorrelations that do not really exist in the time series</a:t>
            </a:r>
          </a:p>
          <a:p>
            <a:pPr lvl="2"/>
            <a:r>
              <a:rPr lang="en-US" sz="1800" dirty="0"/>
              <a:t>Therefore, do as few differences as necessary to get stationary series</a:t>
            </a:r>
          </a:p>
          <a:p>
            <a:pPr lvl="1"/>
            <a:r>
              <a:rPr lang="en-US" sz="2000" dirty="0"/>
              <a:t>It is important that if differencing is used, the differences are interpretable</a:t>
            </a:r>
          </a:p>
          <a:p>
            <a:pPr lvl="2"/>
            <a:r>
              <a:rPr lang="en-US" sz="1800" dirty="0"/>
              <a:t>First differences are the change between one observation and the next</a:t>
            </a:r>
          </a:p>
          <a:p>
            <a:pPr lvl="2"/>
            <a:r>
              <a:rPr lang="en-US" sz="1800" dirty="0"/>
              <a:t>Seasonal differences are the change between one year to the next</a:t>
            </a:r>
          </a:p>
          <a:p>
            <a:pPr lvl="2"/>
            <a:r>
              <a:rPr lang="en-US" sz="1800" dirty="0"/>
              <a:t>Other lags are unlikely to be much interpretable and should be avoided</a:t>
            </a:r>
          </a:p>
          <a:p>
            <a:pPr lvl="1"/>
            <a:r>
              <a:rPr lang="en-US" sz="2000" dirty="0"/>
              <a:t>We can use unit root tests to decide if differencing is needed</a:t>
            </a:r>
          </a:p>
          <a:p>
            <a:pPr lvl="2"/>
            <a:r>
              <a:rPr lang="en-US" sz="1600" dirty="0"/>
              <a:t>Apply unit root test to see if first-differencing needed</a:t>
            </a:r>
          </a:p>
          <a:p>
            <a:pPr lvl="2"/>
            <a:r>
              <a:rPr lang="en-US" sz="1600" dirty="0"/>
              <a:t>Apply unit root test to the differenced series to see if further differencing needed</a:t>
            </a:r>
          </a:p>
        </p:txBody>
      </p:sp>
    </p:spTree>
    <p:extLst>
      <p:ext uri="{BB962C8B-B14F-4D97-AF65-F5344CB8AC3E}">
        <p14:creationId xmlns:p14="http://schemas.microsoft.com/office/powerpoint/2010/main" val="39292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One main component of ARIMA models is autoregression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In an </a:t>
                </a:r>
                <a:r>
                  <a:rPr lang="en-US" b="1" dirty="0">
                    <a:solidFill>
                      <a:srgbClr val="C00000"/>
                    </a:solidFill>
                  </a:rPr>
                  <a:t>autoregression model</a:t>
                </a:r>
                <a:r>
                  <a:rPr lang="en-US" dirty="0">
                    <a:solidFill>
                      <a:schemeClr val="tx1"/>
                    </a:solidFill>
                  </a:rPr>
                  <a:t>, we forecast the variable of interest using a linear combination of past values of the variable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The term </a:t>
                </a:r>
                <a:r>
                  <a:rPr lang="en-US" b="1" dirty="0">
                    <a:solidFill>
                      <a:srgbClr val="C00000"/>
                    </a:solidFill>
                  </a:rPr>
                  <a:t>autoregression</a:t>
                </a:r>
                <a:r>
                  <a:rPr lang="en-US" dirty="0">
                    <a:solidFill>
                      <a:schemeClr val="tx1"/>
                    </a:solidFill>
                  </a:rPr>
                  <a:t> indicates that it is a regression of the variable against itself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An autoregressive model of order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be written as: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the white noise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is similar to multiple regression, but predictors are the lagged values of the dependent variable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9552032-8827-B553-7963-508FA5F77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431" y="3491482"/>
            <a:ext cx="6822178" cy="375041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6339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Autoregressive models are remarkably flexible at handling a wide range of different time series patterns</a:t>
                </a: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pPr marL="457200" lvl="1" indent="0">
                  <a:buNone/>
                </a:pPr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bg2"/>
                    </a:solidFill>
                    <a:sym typeface="Wingdings" panose="05000000000000000000" pitchFamily="2" charset="2"/>
                  </a:rPr>
                  <a:t>  </a:t>
                </a:r>
                <a:r>
                  <a:rPr 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AR(1)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=18−0.8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−1+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    AR(2)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=8+1.3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−1−0.7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−2+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4167B84-4A54-DE65-AC25-CA64BD5E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030" y="2105728"/>
            <a:ext cx="6820811" cy="303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53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𝜙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is equivalent to white noise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is equivalent to a random walk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is equivalent to a random walk with drift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&lt;0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tends to oscillate around the mean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Normally, autoregressive models are restricted to stationary data, in which case some constraints on the values of the parameters are required.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For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𝐴𝑅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model: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−1&lt;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&lt;1</m:t>
                    </m:r>
                  </m:oMath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For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𝐴𝑅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(2)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model: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−1&lt;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&lt;1,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&lt;1,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&lt;1</m:t>
                    </m:r>
                  </m:oMath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≥3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the restrictions are much more complicated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25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bg2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Another main component of ARIMA models is moving average models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A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moving average model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uses past forecast errors in a regression-like model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 moving average model of order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MA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be written as: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the white noise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not observed, so it is not really a regression in the usual sense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Moving average model used for forecasting future values is different than moving average smoothing method used for estimating the trend-cycle of past values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E21B03A-6E53-9877-8648-420EA4DA3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47" y="2688511"/>
            <a:ext cx="7029450" cy="45720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4643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Changing 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results in different time series patterns</a:t>
                </a:r>
              </a:p>
              <a:p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MA(1)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</a:rPr>
                      <m:t>=20+</m:t>
                    </m:r>
                    <m:sSub>
                      <m:sSubPr>
                        <m:ctrlP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 smtClean="0">
                            <a:effectLst/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i="1" dirty="0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</a:rPr>
                      <m:t>+0.8</m:t>
                    </m:r>
                    <m:sSub>
                      <m:sSubPr>
                        <m:ctrlP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 smtClean="0">
                            <a:effectLst/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dirty="0">
                    <a:effectLst/>
                  </a:rPr>
                  <a:t> and </a:t>
                </a:r>
                <a:r>
                  <a:rPr lang="en-US" sz="2000" dirty="0"/>
                  <a:t>MA(2)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dirty="0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 smtClean="0">
                            <a:effectLst/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i="1" dirty="0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 smtClean="0">
                            <a:effectLst/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</a:rPr>
                      <m:t>+0.8</m:t>
                    </m:r>
                    <m:sSub>
                      <m:sSubPr>
                        <m:ctrlP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 smtClean="0">
                            <a:effectLst/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dirty="0" smtClean="0">
                            <a:effectLst/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endParaRPr lang="en-US" sz="2000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B4FAE18-0DC7-C22C-CD4E-F482DB0B1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97" y="1891838"/>
            <a:ext cx="6982691" cy="30743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 Models</a:t>
            </a:r>
          </a:p>
        </p:txBody>
      </p:sp>
    </p:spTree>
    <p:extLst>
      <p:ext uri="{BB962C8B-B14F-4D97-AF65-F5344CB8AC3E}">
        <p14:creationId xmlns:p14="http://schemas.microsoft.com/office/powerpoint/2010/main" val="341450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Any stationary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model can be written as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(∞)</m:t>
                    </m:r>
                  </m:oMath>
                </a14:m>
                <a:r>
                  <a:rPr lang="en-US" dirty="0"/>
                  <a:t> model using repeated substitution</a:t>
                </a:r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The reverse holds true under some conditions for MA parameters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𝑀𝐴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can be written as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(∞)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model, then the MA model is invertible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Invertibility conditions are defined similar to the stationarity conditions</a:t>
                </a:r>
                <a:endParaRPr lang="en-US" dirty="0">
                  <a:solidFill>
                    <a:schemeClr val="bg2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E1637F-AE0D-1685-3CDF-B702A374C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256" y="2358282"/>
            <a:ext cx="3865806" cy="170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7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 non-seasonal ARIMA model is obtained by combining differencing, autoregressive model, and moving average model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ARIMA  </a:t>
                </a:r>
                <a:r>
                  <a:rPr lang="en-US" b="1" dirty="0" err="1">
                    <a:solidFill>
                      <a:srgbClr val="C00000"/>
                    </a:solidFill>
                    <a:sym typeface="Wingdings" panose="05000000000000000000" pitchFamily="2" charset="2"/>
                  </a:rPr>
                  <a:t>A</a:t>
                </a:r>
                <a:r>
                  <a:rPr lang="en-US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uto</a:t>
                </a:r>
                <a:r>
                  <a:rPr lang="en-US" b="1" dirty="0" err="1">
                    <a:solidFill>
                      <a:srgbClr val="C00000"/>
                    </a:solidFill>
                    <a:sym typeface="Wingdings" panose="05000000000000000000" pitchFamily="2" charset="2"/>
                  </a:rPr>
                  <a:t>R</a:t>
                </a:r>
                <a:r>
                  <a:rPr lang="en-US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egressive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ntegrated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M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oving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A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verage model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“Integration” is the reverse of differencing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The full model can be written as:</a:t>
                </a:r>
              </a:p>
              <a:p>
                <a:pPr lvl="1"/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3"/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is the differenced series; may have been differenced more than once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The same stationarity and invertibility conditions that are used for autoregressive and moving average models also apply to an ARIMA model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 r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Non-seasonal ARIMA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4689D4-5DA7-86F2-E02D-9C966946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553" y="3493780"/>
            <a:ext cx="9477375" cy="581025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85102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𝐴𝑅𝐼𝑀𝐴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model:</a:t>
                </a:r>
              </a:p>
              <a:p>
                <a:pPr lvl="3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order of the autoregressive part;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degree of first differencing involved;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order of the moving average part.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Special cases: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Non-seasonal ARIMA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4689D4-5DA7-86F2-E02D-9C966946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51" y="1822485"/>
            <a:ext cx="9477375" cy="581025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3A73DB-0485-275E-912C-9930DA6ED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950" y="4247831"/>
            <a:ext cx="7573036" cy="169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6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Understanding the basics of ARIMA model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Effect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: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If c=0 and d=0, the long-term forecasts will go to zero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If c=0 and d=1, the long-term forecasts will go to a non-zero constant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If c=0 and d=2, the long-term forecasts will follow a straight line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If c≠0 and d=0, the long-term forecasts will go to the mean of the data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If c≠0 and d=1, the long-term forecasts will follow a straight line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If c≠0 and d=2, the long-term forecasts will follow a quadratic trend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Effect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: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It has an effect on the prediction intervals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the long-term forecast standard deviation will go to the standard deviation of the data, so the prediction intervals will all be essentially the same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The higher the value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the more rapidly the prediction intervals increase in size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Effect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: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</a:rPr>
                  <a:t>Important if the data show cycles</a:t>
                </a:r>
              </a:p>
              <a:p>
                <a:pPr lvl="2"/>
                <a:r>
                  <a:rPr lang="en-US" sz="1800" dirty="0">
                    <a:solidFill>
                      <a:schemeClr val="tx1"/>
                    </a:solidFill>
                  </a:rPr>
                  <a:t>To obtain cyclic forecasts, it is necessary to have </a:t>
                </a:r>
                <a:r>
                  <a:rPr lang="en-US" sz="1800" dirty="0">
                    <a:solidFill>
                      <a:schemeClr val="tx1"/>
                    </a:solidFill>
                    <a:effectLst/>
                  </a:rPr>
                  <a:t>p≥2</a:t>
                </a:r>
                <a:r>
                  <a:rPr lang="en-US" sz="1800" dirty="0">
                    <a:solidFill>
                      <a:schemeClr val="tx1"/>
                    </a:solidFill>
                  </a:rPr>
                  <a:t>, along with some additional conditions on the parameters</a:t>
                </a:r>
                <a:endParaRPr lang="en-US" sz="180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0" t="-1754" b="-1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Non-seasonal ARIMA Model</a:t>
            </a:r>
          </a:p>
        </p:txBody>
      </p:sp>
    </p:spTree>
    <p:extLst>
      <p:ext uri="{BB962C8B-B14F-4D97-AF65-F5344CB8AC3E}">
        <p14:creationId xmlns:p14="http://schemas.microsoft.com/office/powerpoint/2010/main" val="198488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To use an ARIMA model, we need: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Order Selection: Values for the model: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Recall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is determined using unit root tests</a:t>
                </a:r>
              </a:p>
              <a:p>
                <a:pPr lvl="2"/>
                <a:r>
                  <a:rPr lang="en-US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𝑞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different tools can be used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ACF and PACF plots; Information Criteria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Estimation: Values of the coefficients (parameters) for the Autoregressive and Moving Average models: </a:t>
                </a:r>
              </a:p>
              <a:p>
                <a:pPr lvl="2"/>
                <a:r>
                  <a:rPr lang="en-US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Autoregressive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Moving average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𝑞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Maximum likelihood estimation can be used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 r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Selection and Estimation</a:t>
            </a:r>
          </a:p>
        </p:txBody>
      </p:sp>
    </p:spTree>
    <p:extLst>
      <p:ext uri="{BB962C8B-B14F-4D97-AF65-F5344CB8AC3E}">
        <p14:creationId xmlns:p14="http://schemas.microsoft.com/office/powerpoint/2010/main" val="98092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A general approach to ARIMA modeling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Plot the data and identify any unusual observations.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necessary, transform the data to stabilize the variance.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If the data are non-stationary, take first differences of the data until the data are stationary.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Examine the ACF/PACF: Is an ARIMA(p,d,0) or ARIMA(0,d,q) model appropriate?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Try your chosen model(s) and use the information criteria to search for a better model.</a:t>
                </a:r>
              </a:p>
              <a:p>
                <a:pPr lvl="2"/>
                <a:r>
                  <a:rPr lang="en-US" dirty="0"/>
                  <a:t>You can try different models using a neighboring approach</a:t>
                </a:r>
              </a:p>
              <a:p>
                <a:pPr lvl="2"/>
                <a:r>
                  <a:rPr lang="en-US" dirty="0"/>
                  <a:t>Neighbor models differ in their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and/or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values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Check the residuals from your chosen model. If they do not look like white noise, try a modified model.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Once the residuals look like white noise, calculate forecasts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 r="-1434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Modeling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FB796B-DFEA-6CC4-BBFC-F0EAA80B6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094" y="4048154"/>
            <a:ext cx="1158533" cy="10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71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with ARIMA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Point forecasts can be calculated using the following three steps.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Expand the ARIMA equation so that </a:t>
            </a:r>
            <a:r>
              <a:rPr lang="en-US" i="1" dirty="0"/>
              <a:t>y</a:t>
            </a:r>
            <a:r>
              <a:rPr lang="en-US" i="1" baseline="-25000" dirty="0"/>
              <a:t>t</a:t>
            </a:r>
            <a:r>
              <a:rPr lang="en-US" dirty="0"/>
              <a:t> is on the left-hand side and all other terms are on the right.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Rewrite the equation by replacing </a:t>
            </a:r>
            <a:r>
              <a:rPr lang="en-US" i="1" dirty="0"/>
              <a:t>t</a:t>
            </a:r>
            <a:r>
              <a:rPr lang="en-US" dirty="0"/>
              <a:t> with </a:t>
            </a:r>
            <a:r>
              <a:rPr lang="en-US" i="1" dirty="0" err="1"/>
              <a:t>T+h</a:t>
            </a:r>
            <a:endParaRPr lang="en-US" i="1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On the right-hand side of the equation, replace future observations with their forecasts, future errors with zero, and past errors with the corresponding residuals.</a:t>
            </a:r>
          </a:p>
          <a:p>
            <a:r>
              <a:rPr lang="en-US" dirty="0"/>
              <a:t>Beginning with </a:t>
            </a:r>
            <a:r>
              <a:rPr lang="en-US" i="1" dirty="0"/>
              <a:t>h=1</a:t>
            </a:r>
            <a:r>
              <a:rPr lang="en-US" dirty="0"/>
              <a:t>, these steps are then repeated for </a:t>
            </a:r>
            <a:r>
              <a:rPr lang="en-US" i="1" dirty="0"/>
              <a:t>h=2,3,… </a:t>
            </a:r>
            <a:r>
              <a:rPr lang="en-US" dirty="0"/>
              <a:t>until all forecasts have been calculated.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  <a:p>
            <a:endParaRPr lang="en-US" sz="2400" kern="0" dirty="0"/>
          </a:p>
          <a:p>
            <a:endParaRPr lang="en-US" sz="2400" kern="0" dirty="0"/>
          </a:p>
          <a:p>
            <a:pPr lvl="2"/>
            <a:endParaRPr lang="en-US" sz="1600" kern="0" dirty="0"/>
          </a:p>
          <a:p>
            <a:pPr lvl="1"/>
            <a:endParaRPr lang="en-US" sz="2000" kern="0" dirty="0">
              <a:solidFill>
                <a:srgbClr val="000000"/>
              </a:solidFill>
            </a:endParaRPr>
          </a:p>
          <a:p>
            <a:pPr lvl="1"/>
            <a:endParaRPr lang="en-US" sz="2000" kern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53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D5CBCA-2ECE-9098-8F0A-7B5274DDB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ARIMA models can model a wide range of seasonal data</a:t>
            </a:r>
          </a:p>
          <a:p>
            <a:r>
              <a:rPr lang="en-US" dirty="0"/>
              <a:t>A seasonal ARIMA model is formed by including additional seasonal terms in the ARIMA models we have seen so far</a:t>
            </a:r>
          </a:p>
          <a:p>
            <a:r>
              <a:rPr lang="en-US" dirty="0"/>
              <a:t>It is written as follows: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3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The seasonal part of the model consists of terms that are similar to the non-seasonal components of the model, but involve backshifts of the seasonal period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32B5041-EDC7-196E-3F6B-4C4373DB29DF}"/>
              </a:ext>
            </a:extLst>
          </p:cNvPr>
          <p:cNvSpPr txBox="1">
            <a:spLocks/>
          </p:cNvSpPr>
          <p:nvPr/>
        </p:nvSpPr>
        <p:spPr>
          <a:xfrm>
            <a:off x="2525061" y="1324852"/>
            <a:ext cx="11633799" cy="486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ARIMA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6B704-2393-1834-F0BA-E22CA1930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825" y="2801944"/>
            <a:ext cx="4478289" cy="168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65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D5CBCA-2ECE-9098-8F0A-7B5274DDB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Linear ETS models are special cases of ARIMA models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Nonlinear ETS models do not have corresponding ARIMA models</a:t>
            </a:r>
          </a:p>
          <a:p>
            <a:r>
              <a:rPr lang="en-US" dirty="0">
                <a:sym typeface="Wingdings" panose="05000000000000000000" pitchFamily="2" charset="2"/>
              </a:rPr>
              <a:t>ETS models are non-stationary, ARIMA models are stationary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32B5041-EDC7-196E-3F6B-4C4373DB29DF}"/>
              </a:ext>
            </a:extLst>
          </p:cNvPr>
          <p:cNvSpPr txBox="1">
            <a:spLocks/>
          </p:cNvSpPr>
          <p:nvPr/>
        </p:nvSpPr>
        <p:spPr>
          <a:xfrm>
            <a:off x="2525061" y="1324852"/>
            <a:ext cx="11633799" cy="486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vs. 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A87FB9-5B25-72F6-3D35-AF7A4E1C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194" y="2944266"/>
            <a:ext cx="4987735" cy="349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60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01" y="1312433"/>
            <a:ext cx="11633799" cy="486453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2"/>
                </a:solidFill>
              </a:rPr>
              <a:t>ARIMA Overview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Introduction to ARIMA, Transformation and Differencing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Autoregressive models, Moving Average models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Non-seasonal ARIMA model, Order Selection and Parameter Estimation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ARIMA Modeling and Forecasting with ARIMA, ARIMA vs. ETS</a:t>
            </a:r>
          </a:p>
          <a:p>
            <a:endParaRPr lang="en-US" dirty="0"/>
          </a:p>
          <a:p>
            <a:r>
              <a:rPr lang="en-US" dirty="0"/>
              <a:t>Hierarchical/Group Time Series Forecasting</a:t>
            </a:r>
          </a:p>
          <a:p>
            <a:pPr lvl="1"/>
            <a:r>
              <a:rPr lang="en-US" dirty="0"/>
              <a:t>Hierarchical/Group Time Series, Single Level Forecasting Approaches</a:t>
            </a:r>
          </a:p>
          <a:p>
            <a:pPr lvl="1"/>
            <a:r>
              <a:rPr lang="en-US" dirty="0"/>
              <a:t>Bottom-up, Top-down, and Middle-out Approaches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474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and Grouped Time Series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series can be naturally disaggregated by various attributes of interest</a:t>
            </a:r>
          </a:p>
          <a:p>
            <a:r>
              <a:rPr lang="en-US" dirty="0">
                <a:sym typeface="Wingdings" panose="05000000000000000000" pitchFamily="2" charset="2"/>
              </a:rPr>
              <a:t>When these attributes are nested and follow a hierarchical aggregation structure, the time series is referred to as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hierarchical time series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Total sales of bikes </a:t>
            </a:r>
            <a:r>
              <a:rPr lang="en-US" dirty="0">
                <a:sym typeface="Wingdings" panose="05000000000000000000" pitchFamily="2" charset="2"/>
              </a:rPr>
              <a:t> Road bikes, mountain bikes, hybrids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Hybrid bikes  City bikes, commuting bikes, comfort bikes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Usually arise due to geographical divisions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Total sales in country, in state, in region, then city, then outlet, etc.</a:t>
            </a:r>
          </a:p>
          <a:p>
            <a:r>
              <a:rPr lang="en-US" dirty="0">
                <a:sym typeface="Wingdings" panose="05000000000000000000" pitchFamily="2" charset="2"/>
              </a:rPr>
              <a:t>When these attributes are crossed rather than nested, the time series is referred to as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grouped time series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Total sales of bikes </a:t>
            </a:r>
            <a:r>
              <a:rPr lang="en-US" dirty="0">
                <a:sym typeface="Wingdings" panose="05000000000000000000" pitchFamily="2" charset="2"/>
              </a:rPr>
              <a:t>by frame size, gender, price range etc.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These attributes do not disaggregate in a hierarchical manner</a:t>
            </a:r>
          </a:p>
        </p:txBody>
      </p:sp>
    </p:spTree>
    <p:extLst>
      <p:ext uri="{BB962C8B-B14F-4D97-AF65-F5344CB8AC3E}">
        <p14:creationId xmlns:p14="http://schemas.microsoft.com/office/powerpoint/2010/main" val="365788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3"/>
                <a:ext cx="8325235" cy="4864530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 simple example of hierarchical time series:</a:t>
                </a:r>
              </a:p>
              <a:p>
                <a:pPr marL="742950" lvl="1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observation of the “Total” series</a:t>
                </a:r>
              </a:p>
              <a:p>
                <a:pPr marL="742950" lvl="1" indent="-285750"/>
                <a:r>
                  <a:rPr lang="en-US" dirty="0">
                    <a:solidFill>
                      <a:schemeClr val="tx1"/>
                    </a:solidFill>
                  </a:rPr>
                  <a:t>“Total” series are disaggregated into two series, “A” and “B”</a:t>
                </a:r>
              </a:p>
              <a:p>
                <a:pPr marL="742950" lvl="1" indent="-285750"/>
                <a:r>
                  <a:rPr lang="en-US" dirty="0">
                    <a:solidFill>
                      <a:schemeClr val="tx1"/>
                    </a:solidFill>
                  </a:rPr>
                  <a:t>“A” series is disaggregated into three series</a:t>
                </a:r>
              </a:p>
              <a:p>
                <a:pPr marL="742950" lvl="1" indent="-285750"/>
                <a:r>
                  <a:rPr lang="en-US" dirty="0">
                    <a:solidFill>
                      <a:schemeClr val="tx1"/>
                    </a:solidFill>
                  </a:rPr>
                  <a:t>“B” series is disaggregated into two series</a:t>
                </a:r>
              </a:p>
              <a:p>
                <a:pPr marL="742950" lvl="1" indent="-285750"/>
                <a:r>
                  <a:rPr lang="en-US" dirty="0">
                    <a:solidFill>
                      <a:schemeClr val="tx1"/>
                    </a:solidFill>
                  </a:rPr>
                  <a:t>In total, we have 8 series in this hierarchy</a:t>
                </a:r>
              </a:p>
              <a:p>
                <a:pPr marL="742950" lvl="1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observation in series corresponding to node</a:t>
                </a:r>
              </a:p>
              <a:p>
                <a:pPr marL="742950" lvl="1" indent="-285750"/>
                <a:r>
                  <a:rPr lang="en-US" dirty="0"/>
                  <a:t>For any time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observations at the bottom level of the hierarchy will sum to the observations of the series above</a:t>
                </a:r>
                <a:endParaRPr lang="en-US" dirty="0">
                  <a:solidFill>
                    <a:schemeClr val="bg2"/>
                  </a:solidFill>
                </a:endParaRPr>
              </a:p>
              <a:p>
                <a:pPr marL="742950" lvl="1" indent="-285750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3"/>
                <a:ext cx="8325235" cy="4864530"/>
              </a:xfrm>
              <a:blipFill>
                <a:blip r:embed="rId2"/>
                <a:stretch>
                  <a:fillRect l="-1318" t="-2005" r="-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57A430BA-29F6-E156-A84D-08E27F6E2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476" y="1854558"/>
            <a:ext cx="3352742" cy="2707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247F77-8BEF-534E-E5A3-53E9205EF974}"/>
              </a:ext>
            </a:extLst>
          </p:cNvPr>
          <p:cNvSpPr txBox="1"/>
          <p:nvPr/>
        </p:nvSpPr>
        <p:spPr>
          <a:xfrm>
            <a:off x="9090212" y="4888591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Two-Level hierarchical tree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FF928-31FD-A13F-7D1B-CCB1CC18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046" y="6101700"/>
            <a:ext cx="5215144" cy="407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98A95C-77EC-CEBB-8143-87052115B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615" y="5263773"/>
            <a:ext cx="3511333" cy="400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AD6A15-A6C5-DD82-67E4-6B4D01E26C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615" y="5693848"/>
            <a:ext cx="2459415" cy="377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DF413F-DE4E-D63C-15FB-DE72D398DE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802" y="4888591"/>
            <a:ext cx="1955679" cy="32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3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Time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001" y="1312433"/>
                <a:ext cx="9195885" cy="4864530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 simple example of grouped time series:</a:t>
                </a:r>
              </a:p>
              <a:p>
                <a:pPr marL="742950" lvl="1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observation of the “Total” series</a:t>
                </a:r>
              </a:p>
              <a:p>
                <a:pPr marL="742950" lvl="1" indent="-285750"/>
                <a:r>
                  <a:rPr lang="en-US" dirty="0">
                    <a:solidFill>
                      <a:schemeClr val="tx1"/>
                    </a:solidFill>
                  </a:rPr>
                  <a:t>“Total” series can be disaggregated by attributes “A” and “B”        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742950" lvl="1" indent="-285750"/>
                <a:r>
                  <a:rPr lang="en-US" dirty="0">
                    <a:solidFill>
                      <a:schemeClr val="tx1"/>
                    </a:solidFill>
                  </a:rPr>
                  <a:t>“Total” series can also be disaggregated by attributes “X” and “Y”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742950" lvl="1" indent="-285750"/>
                <a:r>
                  <a:rPr lang="en-US" dirty="0">
                    <a:solidFill>
                      <a:schemeClr val="tx1"/>
                    </a:solidFill>
                  </a:rPr>
                  <a:t>At the bottom level, the data are disaggregated by both attributes</a:t>
                </a:r>
              </a:p>
              <a:p>
                <a:pPr marL="1200150" lvl="2" indent="-285750"/>
                <a:r>
                  <a:rPr lang="en-US" dirty="0">
                    <a:solidFill>
                      <a:schemeClr val="tx1"/>
                    </a:solidFill>
                  </a:rPr>
                  <a:t>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𝐵𝑌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742950" lvl="1" indent="-285750"/>
                <a:r>
                  <a:rPr lang="en-US" dirty="0">
                    <a:solidFill>
                      <a:schemeClr val="tx1"/>
                    </a:solidFill>
                  </a:rPr>
                  <a:t>For grouped time series, there are alternative aggregation paths</a:t>
                </a:r>
              </a:p>
              <a:p>
                <a:pPr marL="742950" lvl="1" indent="-285750"/>
                <a:r>
                  <a:rPr lang="en-US" dirty="0"/>
                  <a:t>For any time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observations at the bottom level of the hierarchy will sum to the observations of the series above</a:t>
                </a:r>
              </a:p>
              <a:p>
                <a:pPr marL="742950" lvl="1" indent="-285750"/>
                <a:endParaRPr lang="en-US" dirty="0">
                  <a:solidFill>
                    <a:schemeClr val="tx1"/>
                  </a:solidFill>
                </a:endParaRPr>
              </a:p>
              <a:p>
                <a:pPr marL="742950" lvl="1" indent="-285750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1" y="1312433"/>
                <a:ext cx="9195885" cy="4864530"/>
              </a:xfrm>
              <a:blipFill>
                <a:blip r:embed="rId2"/>
                <a:stretch>
                  <a:fillRect l="-1193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E51859F-1079-9D8C-3AA4-31E93E483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681" y="1224717"/>
            <a:ext cx="2121731" cy="21555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4F436E-5FB5-82A5-A6BA-8B2876164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324" y="3477696"/>
            <a:ext cx="2133017" cy="21330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1E2AAE-4E35-5386-34DC-8A19EDDAC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990" y="5465108"/>
            <a:ext cx="4602444" cy="3808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580AAE-7BA6-296B-3A4A-162F4E92C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7737" y="5845944"/>
            <a:ext cx="6117685" cy="4942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1C3894-E45C-2A3E-50D8-0404541A85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5325" y="6229531"/>
            <a:ext cx="6150097" cy="5266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D78205-70C6-2996-26E0-12D0C4E14024}"/>
              </a:ext>
            </a:extLst>
          </p:cNvPr>
          <p:cNvSpPr txBox="1"/>
          <p:nvPr/>
        </p:nvSpPr>
        <p:spPr>
          <a:xfrm>
            <a:off x="8238492" y="5610713"/>
            <a:ext cx="379933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100" dirty="0"/>
              <a:t>Grouped time series can sometimes be thought of as hierarchical time series that do not impose a unique hierarchical structure, in the sense that the order by which the series can be grouped is not unique.</a:t>
            </a:r>
          </a:p>
        </p:txBody>
      </p:sp>
    </p:spTree>
    <p:extLst>
      <p:ext uri="{BB962C8B-B14F-4D97-AF65-F5344CB8AC3E}">
        <p14:creationId xmlns:p14="http://schemas.microsoft.com/office/powerpoint/2010/main" val="331569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Level Forecasting Approaches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Typically, forecasts would be required for all disaggregate and aggregate series</a:t>
            </a:r>
          </a:p>
          <a:p>
            <a:pPr lvl="1"/>
            <a:r>
              <a:rPr lang="en-US" dirty="0"/>
              <a:t>The forecasts should add up similar to the data</a:t>
            </a:r>
          </a:p>
          <a:p>
            <a:pPr lvl="2"/>
            <a:r>
              <a:rPr lang="en-US" dirty="0"/>
              <a:t>Forecasts of state-level sales should add up to forecast of country-level sales</a:t>
            </a:r>
          </a:p>
          <a:p>
            <a:r>
              <a:rPr lang="en-US" dirty="0"/>
              <a:t>Forecasting approach should be coherent across the entire aggregation structure</a:t>
            </a:r>
          </a:p>
          <a:p>
            <a:pPr lvl="1"/>
            <a:r>
              <a:rPr lang="en-US" dirty="0"/>
              <a:t>Forecasts will add up in a manner consistent with the structure of hierarchy and groups</a:t>
            </a:r>
          </a:p>
          <a:p>
            <a:r>
              <a:rPr lang="en-US" dirty="0">
                <a:sym typeface="Wingdings" panose="05000000000000000000" pitchFamily="2" charset="2"/>
              </a:rPr>
              <a:t>More complex structures arise when attributes of interest are both nested and crossed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Mixed hierarchical and grouped time series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Sales by product type and geographic region</a:t>
            </a:r>
          </a:p>
          <a:p>
            <a:pPr lvl="1"/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99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Level Forecasting Approaches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Traditionally, forecasts of hierarchical or grouped time series involves selecting one level of aggregation and generating forecasts for that level. </a:t>
            </a:r>
          </a:p>
          <a:p>
            <a:r>
              <a:rPr lang="en-US" dirty="0"/>
              <a:t>These are then either aggregated for higher levels, or disaggregated for lower levels, to obtain a set of coherent forecasts for the rest of the structure.</a:t>
            </a:r>
          </a:p>
          <a:p>
            <a:r>
              <a:rPr lang="en-US" dirty="0"/>
              <a:t>Basic single-level approaches:</a:t>
            </a:r>
          </a:p>
          <a:p>
            <a:pPr lvl="1"/>
            <a:r>
              <a:rPr lang="en-US" dirty="0"/>
              <a:t>Bottom-up</a:t>
            </a:r>
          </a:p>
          <a:p>
            <a:pPr lvl="1"/>
            <a:r>
              <a:rPr lang="en-US" dirty="0"/>
              <a:t>Top-down</a:t>
            </a:r>
          </a:p>
          <a:p>
            <a:pPr lvl="1"/>
            <a:r>
              <a:rPr lang="en-US" dirty="0"/>
              <a:t>Middle-out</a:t>
            </a:r>
          </a:p>
          <a:p>
            <a:pPr lvl="1"/>
            <a:endParaRPr lang="en-US" dirty="0">
              <a:solidFill>
                <a:schemeClr val="bg2"/>
              </a:solidFill>
            </a:endParaRPr>
          </a:p>
          <a:p>
            <a:pPr lvl="1"/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74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Approach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method for generating coherent forecasts</a:t>
            </a:r>
          </a:p>
          <a:p>
            <a:r>
              <a:rPr lang="en-US" dirty="0"/>
              <a:t>How it works?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First, generate forecasts for each series at the bottom level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Then, sum bottom level forecasts to produce forecasts for all the series in the structure</a:t>
            </a:r>
          </a:p>
          <a:p>
            <a:r>
              <a:rPr lang="en-US" dirty="0">
                <a:solidFill>
                  <a:srgbClr val="C00000"/>
                </a:solidFill>
              </a:rPr>
              <a:t>Advantage: </a:t>
            </a:r>
            <a:r>
              <a:rPr lang="en-US" dirty="0"/>
              <a:t>Forecasting at the bottom level of the structure, so no information is lost due to aggregation</a:t>
            </a:r>
          </a:p>
          <a:p>
            <a:r>
              <a:rPr lang="en-US" dirty="0">
                <a:solidFill>
                  <a:srgbClr val="C00000"/>
                </a:solidFill>
              </a:rPr>
              <a:t>Disadvantage: </a:t>
            </a:r>
            <a:r>
              <a:rPr lang="en-US" dirty="0"/>
              <a:t>Bottom-level data can be quite noisy, hence, might be challenging to model and forecast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lvl="1"/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55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002" y="1312433"/>
                <a:ext cx="8255233" cy="4864530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Example: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Simplified notation: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Generate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-step-ahead forecasts for each of the bottom-level series</a:t>
                </a:r>
              </a:p>
              <a:p>
                <a:pPr lvl="1"/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Summing these, we get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-step-ahead coherent forecasts for the rest of the series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002" y="1312433"/>
                <a:ext cx="8255233" cy="4864530"/>
              </a:xfrm>
              <a:blipFill>
                <a:blip r:embed="rId2"/>
                <a:stretch>
                  <a:fillRect l="-1329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FD433F3-FA54-1F70-A20F-1A04CBF3E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969" y="2908725"/>
            <a:ext cx="5008076" cy="4797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A3E86F-458E-06EE-9715-00A3BD2A8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39" y="4533364"/>
            <a:ext cx="6075515" cy="13526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746A8A-54CC-8D0A-C958-60EA04BB3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235" y="2158027"/>
            <a:ext cx="3147736" cy="254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7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Approach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Relies on proportions for generating coherent forecasts</a:t>
            </a:r>
          </a:p>
          <a:p>
            <a:pPr lvl="1"/>
            <a:r>
              <a:rPr lang="en-US" dirty="0"/>
              <a:t>Proportions determine how the forecasts of the “total” series will be distributed to calculate the forecasts at the bottom level</a:t>
            </a:r>
          </a:p>
          <a:p>
            <a:r>
              <a:rPr lang="en-US" dirty="0"/>
              <a:t>How it works?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First, generate forecasts for the top level “total” series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Then, disaggregate top-level forecast down the hierarchy using proportions</a:t>
            </a:r>
          </a:p>
          <a:p>
            <a:r>
              <a:rPr lang="en-US" dirty="0"/>
              <a:t>There are alternative top-down methods</a:t>
            </a:r>
          </a:p>
          <a:p>
            <a:pPr lvl="1"/>
            <a:r>
              <a:rPr lang="en-US" dirty="0"/>
              <a:t>These differ in how proportions are calculated</a:t>
            </a:r>
          </a:p>
          <a:p>
            <a:pPr lvl="1"/>
            <a:r>
              <a:rPr lang="en-US" dirty="0"/>
              <a:t>Most common methods use historical proportions</a:t>
            </a:r>
          </a:p>
          <a:p>
            <a:pPr lvl="1"/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54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denote the disaggregation proportions to calculate the forecasts of the bottom level series from the total series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Example: </a:t>
                </a:r>
              </a:p>
              <a:p>
                <a:pPr lvl="1"/>
                <a:r>
                  <a:rPr lang="en-US" b="0" dirty="0">
                    <a:solidFill>
                      <a:schemeClr val="tx1"/>
                    </a:solidFill>
                  </a:rPr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for proportions of AA, AB, AC, BA, and BB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C1030BC-7D0C-1FA2-5648-08013F677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437" y="2637767"/>
            <a:ext cx="3270670" cy="26412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6946C0-E107-6CB6-3923-A75F16BAC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167" y="3283772"/>
            <a:ext cx="1597277" cy="343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E39C62-A374-27BD-FB73-DC3FD9FD5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667" y="3699027"/>
            <a:ext cx="1564275" cy="3960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EF7279-9BA8-64CA-F546-4A127A016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7753" y="4167084"/>
            <a:ext cx="1564275" cy="3894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990D4C-0DEF-AC0B-D2A7-1D3B01848C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7753" y="4622381"/>
            <a:ext cx="1518073" cy="3828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C3309C-2E23-667A-B78C-DFA1167B03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7753" y="5071077"/>
            <a:ext cx="1478471" cy="415820"/>
          </a:xfrm>
          <a:prstGeom prst="rect">
            <a:avLst/>
          </a:prstGeom>
        </p:spPr>
      </p:pic>
      <p:sp>
        <p:nvSpPr>
          <p:cNvPr id="15" name="Right Brace 14">
            <a:extLst>
              <a:ext uri="{FF2B5EF4-FFF2-40B4-BE49-F238E27FC236}">
                <a16:creationId xmlns:a16="http://schemas.microsoft.com/office/drawing/2014/main" id="{28E1E1F8-5678-A774-F6ED-F2CA152273A5}"/>
              </a:ext>
            </a:extLst>
          </p:cNvPr>
          <p:cNvSpPr/>
          <p:nvPr/>
        </p:nvSpPr>
        <p:spPr>
          <a:xfrm>
            <a:off x="3410919" y="3283772"/>
            <a:ext cx="463763" cy="2231857"/>
          </a:xfrm>
          <a:prstGeom prst="rightBrace">
            <a:avLst>
              <a:gd name="adj1" fmla="val 128741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9B2ED4-0962-FDED-E410-0DFEA81947F0}"/>
                  </a:ext>
                </a:extLst>
              </p:cNvPr>
              <p:cNvSpPr txBox="1"/>
              <p:nvPr/>
            </p:nvSpPr>
            <p:spPr>
              <a:xfrm>
                <a:off x="4116163" y="3317402"/>
                <a:ext cx="3270670" cy="226017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</a:rPr>
                  <a:t>Using these bottom-level forecasts, we can calculate the coherent forecasts of the other series in the structure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</a:rPr>
                  <a:t>For instance: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9B2ED4-0962-FDED-E410-0DFEA8194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163" y="3317402"/>
                <a:ext cx="3270670" cy="2260171"/>
              </a:xfrm>
              <a:prstGeom prst="rect">
                <a:avLst/>
              </a:prstGeom>
              <a:blipFill>
                <a:blip r:embed="rId9"/>
                <a:stretch>
                  <a:fillRect l="-1481" t="-1070" r="-1667" b="-2139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58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Proportions:</a:t>
                </a:r>
              </a:p>
              <a:p>
                <a:pPr lvl="1"/>
                <a:r>
                  <a:rPr lang="en-US" b="1" dirty="0">
                    <a:solidFill>
                      <a:schemeClr val="tx1"/>
                    </a:solidFill>
                  </a:rPr>
                  <a:t>Average historical proportions: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Takes the average of the proportions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Each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reflects the average of the historical proportions of the bottom-level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𝑗𝑡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over the period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relative to the total aggregate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pPr lvl="1"/>
                <a:r>
                  <a:rPr lang="en-US" b="1" dirty="0"/>
                  <a:t>Proportions of historical averages: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Takes the ratio of the average value at the bottom-level series to the average of the top-level “total” series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Each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captures the average historical value of the bottom-level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relative to the average value of the total aggregate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2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BE70BD8-BBD2-CF25-B920-DDB4C993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CAC73B3-E3BD-9E7C-90FF-08EA05C35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977" y="1548179"/>
            <a:ext cx="1845479" cy="7992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90817D-D9A7-629E-3BBA-577CD2870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068" y="3503032"/>
            <a:ext cx="2148276" cy="77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9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Approach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Proportions:</a:t>
            </a:r>
          </a:p>
          <a:p>
            <a:pPr lvl="1"/>
            <a:r>
              <a:rPr lang="en-US" b="1" dirty="0"/>
              <a:t>Forecast proportions:</a:t>
            </a:r>
          </a:p>
          <a:p>
            <a:pPr lvl="2"/>
            <a:r>
              <a:rPr lang="en-US" dirty="0"/>
              <a:t>The other approaches do not account for changes in proportions</a:t>
            </a:r>
          </a:p>
          <a:p>
            <a:pPr lvl="2"/>
            <a:r>
              <a:rPr lang="en-US" dirty="0"/>
              <a:t>To this end, proportions based on forecasts can be used</a:t>
            </a:r>
          </a:p>
          <a:p>
            <a:pPr lvl="3"/>
            <a:r>
              <a:rPr lang="en-US" dirty="0"/>
              <a:t>Generate the forecasts for all of the series </a:t>
            </a:r>
            <a:r>
              <a:rPr lang="en-US" dirty="0">
                <a:sym typeface="Wingdings" panose="05000000000000000000" pitchFamily="2" charset="2"/>
              </a:rPr>
              <a:t> initial forecasts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Then, calculate the proportion of a node to the aggregate forecasts of all nodes at the same level</a:t>
            </a:r>
            <a:endParaRPr lang="en-US" dirty="0"/>
          </a:p>
          <a:p>
            <a:pPr lvl="3"/>
            <a:r>
              <a:rPr lang="en-US" dirty="0"/>
              <a:t>These are the forecast proportions</a:t>
            </a:r>
          </a:p>
          <a:p>
            <a:pPr lvl="3"/>
            <a:r>
              <a:rPr lang="en-US" dirty="0"/>
              <a:t>Use the forecast proportions to disaggregate the upper-level forecast to generate coherent forecasts</a:t>
            </a:r>
          </a:p>
          <a:p>
            <a:pPr lvl="2"/>
            <a:r>
              <a:rPr lang="en-US" dirty="0"/>
              <a:t>This is repeated for each node, going from top to the bottom level</a:t>
            </a:r>
          </a:p>
          <a:p>
            <a:pPr lvl="2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0210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DF5C-B312-64F1-BB68-D5BDA85D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Middle-out Approach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E70BD8-BBD2-CF25-B920-DDB4C993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bottom-up and top-down approaches</a:t>
            </a:r>
          </a:p>
          <a:p>
            <a:r>
              <a:rPr lang="en-US" dirty="0"/>
              <a:t>How it works?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‘middle’ level is chosen, and forecasts are generated for all the series at this level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For the series above the middle level, coherent forecasts are generated using the bottom-up approach by aggregating the “middle-level” forecasts upwards.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 the series below the “middle level”, coherent forecasts are generated using a top-down approach by disaggregating the “middle level” forecasts downwards.</a:t>
            </a:r>
          </a:p>
        </p:txBody>
      </p:sp>
    </p:spTree>
    <p:extLst>
      <p:ext uri="{BB962C8B-B14F-4D97-AF65-F5344CB8AC3E}">
        <p14:creationId xmlns:p14="http://schemas.microsoft.com/office/powerpoint/2010/main" val="336462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6413</TotalTime>
  <Words>3201</Words>
  <Application>Microsoft Office PowerPoint</Application>
  <PresentationFormat>Widescreen</PresentationFormat>
  <Paragraphs>406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Wingdings</vt:lpstr>
      <vt:lpstr>1_Office Theme</vt:lpstr>
      <vt:lpstr>QMST 5335 ARIMA Overview and Hierarchical Time Series </vt:lpstr>
      <vt:lpstr>Learning Objectives:</vt:lpstr>
      <vt:lpstr>Outline</vt:lpstr>
      <vt:lpstr>Outline</vt:lpstr>
      <vt:lpstr>Introduction to ARIMA</vt:lpstr>
      <vt:lpstr>Transformations</vt:lpstr>
      <vt:lpstr>Differencing</vt:lpstr>
      <vt:lpstr>Differencing</vt:lpstr>
      <vt:lpstr>Differencing</vt:lpstr>
      <vt:lpstr>Seasonal Differencing</vt:lpstr>
      <vt:lpstr>Seasonal Differencing</vt:lpstr>
      <vt:lpstr>Seasonal Differencing</vt:lpstr>
      <vt:lpstr>Differencing Remarks</vt:lpstr>
      <vt:lpstr>Autoregressive Models</vt:lpstr>
      <vt:lpstr>Autoregressive Models</vt:lpstr>
      <vt:lpstr>Autoregressive Models</vt:lpstr>
      <vt:lpstr>Moving Average Models</vt:lpstr>
      <vt:lpstr>Moving Average Models</vt:lpstr>
      <vt:lpstr>Moving Average Models</vt:lpstr>
      <vt:lpstr>Non-seasonal ARIMA Model</vt:lpstr>
      <vt:lpstr>Non-seasonal ARIMA Model</vt:lpstr>
      <vt:lpstr>Non-seasonal ARIMA Model</vt:lpstr>
      <vt:lpstr>Order Selection and Estimation</vt:lpstr>
      <vt:lpstr>ARIMA Modeling</vt:lpstr>
      <vt:lpstr>Forecasting with ARIMA</vt:lpstr>
      <vt:lpstr>Seasonal ARIMA</vt:lpstr>
      <vt:lpstr>ARIMA vs. ETS</vt:lpstr>
      <vt:lpstr>Outline</vt:lpstr>
      <vt:lpstr>Hierarchical and Grouped Time Series</vt:lpstr>
      <vt:lpstr>Hierarchical Time Series</vt:lpstr>
      <vt:lpstr>Grouped Time Series</vt:lpstr>
      <vt:lpstr>Single Level Forecasting Approaches</vt:lpstr>
      <vt:lpstr>Single Level Forecasting Approaches</vt:lpstr>
      <vt:lpstr>Bottom-up Approach</vt:lpstr>
      <vt:lpstr>Bottom-up Approach</vt:lpstr>
      <vt:lpstr>Top-down Approach</vt:lpstr>
      <vt:lpstr>Top-down Approach</vt:lpstr>
      <vt:lpstr>Top-down Approach</vt:lpstr>
      <vt:lpstr>Top-down Approach</vt:lpstr>
      <vt:lpstr>Middle-out Approach</vt:lpstr>
    </vt:vector>
  </TitlesOfParts>
  <Company>Missouri S&amp;T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konurdlocal</dc:creator>
  <cp:lastModifiedBy>Sahan Konur, Sahika</cp:lastModifiedBy>
  <cp:revision>54</cp:revision>
  <dcterms:created xsi:type="dcterms:W3CDTF">2019-01-16T01:46:19Z</dcterms:created>
  <dcterms:modified xsi:type="dcterms:W3CDTF">2024-01-26T16:37:23Z</dcterms:modified>
</cp:coreProperties>
</file>