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367" r:id="rId2"/>
    <p:sldId id="385" r:id="rId3"/>
    <p:sldId id="373" r:id="rId4"/>
    <p:sldId id="374" r:id="rId5"/>
    <p:sldId id="375" r:id="rId6"/>
    <p:sldId id="386" r:id="rId7"/>
    <p:sldId id="337" r:id="rId8"/>
    <p:sldId id="339" r:id="rId9"/>
    <p:sldId id="340" r:id="rId10"/>
    <p:sldId id="341" r:id="rId11"/>
    <p:sldId id="343" r:id="rId12"/>
    <p:sldId id="342" r:id="rId13"/>
    <p:sldId id="344" r:id="rId14"/>
    <p:sldId id="349" r:id="rId15"/>
    <p:sldId id="345" r:id="rId16"/>
    <p:sldId id="347" r:id="rId17"/>
    <p:sldId id="346" r:id="rId18"/>
    <p:sldId id="350" r:id="rId19"/>
    <p:sldId id="355" r:id="rId20"/>
    <p:sldId id="351" r:id="rId21"/>
    <p:sldId id="352" r:id="rId22"/>
    <p:sldId id="353" r:id="rId23"/>
    <p:sldId id="354" r:id="rId24"/>
    <p:sldId id="387" r:id="rId25"/>
    <p:sldId id="357" r:id="rId26"/>
    <p:sldId id="360" r:id="rId27"/>
    <p:sldId id="358" r:id="rId28"/>
    <p:sldId id="361" r:id="rId29"/>
    <p:sldId id="362" r:id="rId30"/>
    <p:sldId id="363" r:id="rId31"/>
    <p:sldId id="365" r:id="rId32"/>
    <p:sldId id="364" r:id="rId33"/>
    <p:sldId id="366" r:id="rId34"/>
    <p:sldId id="388" r:id="rId35"/>
    <p:sldId id="384" r:id="rId36"/>
    <p:sldId id="382" r:id="rId37"/>
    <p:sldId id="368" r:id="rId38"/>
    <p:sldId id="369" r:id="rId39"/>
    <p:sldId id="383" r:id="rId40"/>
    <p:sldId id="370" r:id="rId41"/>
    <p:sldId id="372" r:id="rId42"/>
    <p:sldId id="371"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onurdlocal" initials="k" lastIdx="0" clrIdx="0">
    <p:extLst>
      <p:ext uri="{19B8F6BF-5375-455C-9EA6-DF929625EA0E}">
        <p15:presenceInfo xmlns:p15="http://schemas.microsoft.com/office/powerpoint/2012/main" userId="konurdloca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588" autoAdjust="0"/>
  </p:normalViewPr>
  <p:slideViewPr>
    <p:cSldViewPr snapToGrid="0">
      <p:cViewPr varScale="1">
        <p:scale>
          <a:sx n="148" d="100"/>
          <a:sy n="148" d="100"/>
        </p:scale>
        <p:origin x="73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68A81C-13E0-402A-9BD9-36F3DFFB46F8}" type="datetimeFigureOut">
              <a:rPr lang="en-US" smtClean="0"/>
              <a:t>2/27/2024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376B9-9838-4376-9895-3384D05A8DF5}" type="slidenum">
              <a:rPr lang="en-US" smtClean="0"/>
              <a:t>‹#›</a:t>
            </a:fld>
            <a:endParaRPr lang="en-US"/>
          </a:p>
        </p:txBody>
      </p:sp>
    </p:spTree>
    <p:extLst>
      <p:ext uri="{BB962C8B-B14F-4D97-AF65-F5344CB8AC3E}">
        <p14:creationId xmlns:p14="http://schemas.microsoft.com/office/powerpoint/2010/main" val="3997369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a:t>
            </a:fld>
            <a:endParaRPr lang="en-US"/>
          </a:p>
        </p:txBody>
      </p:sp>
    </p:spTree>
    <p:extLst>
      <p:ext uri="{BB962C8B-B14F-4D97-AF65-F5344CB8AC3E}">
        <p14:creationId xmlns:p14="http://schemas.microsoft.com/office/powerpoint/2010/main" val="1020249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5</a:t>
            </a:fld>
            <a:endParaRPr lang="en-US"/>
          </a:p>
        </p:txBody>
      </p:sp>
    </p:spTree>
    <p:extLst>
      <p:ext uri="{BB962C8B-B14F-4D97-AF65-F5344CB8AC3E}">
        <p14:creationId xmlns:p14="http://schemas.microsoft.com/office/powerpoint/2010/main" val="11683819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6</a:t>
            </a:fld>
            <a:endParaRPr lang="en-US"/>
          </a:p>
        </p:txBody>
      </p:sp>
    </p:spTree>
    <p:extLst>
      <p:ext uri="{BB962C8B-B14F-4D97-AF65-F5344CB8AC3E}">
        <p14:creationId xmlns:p14="http://schemas.microsoft.com/office/powerpoint/2010/main" val="22911126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14</a:t>
            </a:fld>
            <a:endParaRPr lang="en-US"/>
          </a:p>
        </p:txBody>
      </p:sp>
    </p:spTree>
    <p:extLst>
      <p:ext uri="{BB962C8B-B14F-4D97-AF65-F5344CB8AC3E}">
        <p14:creationId xmlns:p14="http://schemas.microsoft.com/office/powerpoint/2010/main" val="30340441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24</a:t>
            </a:fld>
            <a:endParaRPr lang="en-US"/>
          </a:p>
        </p:txBody>
      </p:sp>
    </p:spTree>
    <p:extLst>
      <p:ext uri="{BB962C8B-B14F-4D97-AF65-F5344CB8AC3E}">
        <p14:creationId xmlns:p14="http://schemas.microsoft.com/office/powerpoint/2010/main" val="1072658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34</a:t>
            </a:fld>
            <a:endParaRPr lang="en-US"/>
          </a:p>
        </p:txBody>
      </p:sp>
    </p:spTree>
    <p:extLst>
      <p:ext uri="{BB962C8B-B14F-4D97-AF65-F5344CB8AC3E}">
        <p14:creationId xmlns:p14="http://schemas.microsoft.com/office/powerpoint/2010/main" val="216466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4DD3099-EF0D-4B9A-BBFF-09FBE6BF6054}" type="datetime1">
              <a:rPr lang="en-US" smtClean="0"/>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132637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002" y="365125"/>
            <a:ext cx="11478410" cy="839731"/>
          </a:xfrm>
        </p:spPr>
        <p:txBody>
          <a:bodyPr/>
          <a:lstStyle/>
          <a:p>
            <a:r>
              <a:rPr lang="en-US"/>
              <a:t>Click to edit Master title style</a:t>
            </a:r>
          </a:p>
        </p:txBody>
      </p:sp>
      <p:sp>
        <p:nvSpPr>
          <p:cNvPr id="3" name="Content Placeholder 2"/>
          <p:cNvSpPr>
            <a:spLocks noGrp="1"/>
          </p:cNvSpPr>
          <p:nvPr>
            <p:ph idx="1"/>
          </p:nvPr>
        </p:nvSpPr>
        <p:spPr>
          <a:xfrm>
            <a:off x="355002" y="1312433"/>
            <a:ext cx="11478410" cy="48645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55002" y="6356350"/>
            <a:ext cx="3226398" cy="365125"/>
          </a:xfrm>
        </p:spPr>
        <p:txBody>
          <a:bodyPr/>
          <a:lstStyle/>
          <a:p>
            <a:fld id="{B1E3B061-4FCE-4A21-AC74-81FE2BC5CF3E}" type="datetime1">
              <a:rPr lang="en-US" smtClean="0"/>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3222812" cy="365125"/>
          </a:xfrm>
        </p:spPr>
        <p:txBody>
          <a:bodyPr/>
          <a:lstStyle/>
          <a:p>
            <a:fld id="{1F4BF737-9C2B-4B9F-9835-28D7237AA9BE}" type="slidenum">
              <a:rPr lang="en-US" smtClean="0"/>
              <a:t>‹#›</a:t>
            </a:fld>
            <a:endParaRPr lang="en-US"/>
          </a:p>
        </p:txBody>
      </p:sp>
      <p:cxnSp>
        <p:nvCxnSpPr>
          <p:cNvPr id="8" name="Straight Connector 7"/>
          <p:cNvCxnSpPr/>
          <p:nvPr userDrawn="1"/>
        </p:nvCxnSpPr>
        <p:spPr>
          <a:xfrm>
            <a:off x="355002" y="1193795"/>
            <a:ext cx="1147841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4795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759F54-5CF2-4FD0-836E-B479A78D51A3}" type="datetime1">
              <a:rPr lang="en-US" smtClean="0"/>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54182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3933E6-EEC8-49F6-86B1-D403F7BCF2D7}" type="datetime1">
              <a:rPr lang="en-US" smtClean="0"/>
              <a:t>2/27/2024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123447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77FC5F4-FF8A-4310-ACDA-118E50908757}" type="datetime1">
              <a:rPr lang="en-US" smtClean="0"/>
              <a:t>2/27/2024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459018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1ECC70-ED3C-42E3-B9D4-4CDAF46FBF6D}" type="datetime1">
              <a:rPr lang="en-US" smtClean="0"/>
              <a:t>2/27/2024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37032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CC83FA-2A64-4953-B019-1B95DE5F0E9D}" type="datetime1">
              <a:rPr lang="en-US" smtClean="0"/>
              <a:t>2/27/2024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61555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5949A69-C0C1-4748-81A5-B3EAE2845645}" type="datetime1">
              <a:rPr lang="en-US" smtClean="0"/>
              <a:t>2/27/2024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267901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AE0C7C-8B0D-4808-9EE9-6B3127DD99F3}" type="datetime1">
              <a:rPr lang="en-US" smtClean="0"/>
              <a:t>2/27/2024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607142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B08BD7-923F-4248-A98A-25295194946A}" type="datetime1">
              <a:rPr lang="en-US" smtClean="0"/>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493167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5BBA94-316C-4F17-807F-67A425FEAD68}" type="datetime1">
              <a:rPr lang="en-US" smtClean="0"/>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72868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98F577-5F6A-4371-8B61-A5EB0D2162DC}" type="datetime1">
              <a:rPr lang="en-US" smtClean="0"/>
              <a:t>2/27/2024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BF737-9C2B-4B9F-9835-28D7237AA9BE}" type="slidenum">
              <a:rPr lang="en-US" smtClean="0"/>
              <a:t>‹#›</a:t>
            </a:fld>
            <a:endParaRPr lang="en-US"/>
          </a:p>
        </p:txBody>
      </p:sp>
    </p:spTree>
    <p:extLst>
      <p:ext uri="{BB962C8B-B14F-4D97-AF65-F5344CB8AC3E}">
        <p14:creationId xmlns:p14="http://schemas.microsoft.com/office/powerpoint/2010/main" val="3431302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jpe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682433"/>
            <a:ext cx="11487150" cy="3494874"/>
          </a:xfrm>
        </p:spPr>
        <p:txBody>
          <a:bodyPr>
            <a:normAutofit/>
          </a:bodyPr>
          <a:lstStyle/>
          <a:p>
            <a:r>
              <a:rPr lang="en-US" sz="3200" dirty="0"/>
              <a:t>QMST </a:t>
            </a:r>
            <a:r>
              <a:rPr lang="en-US" sz="3200" dirty="0" smtClean="0"/>
              <a:t>5335</a:t>
            </a:r>
            <a:br>
              <a:rPr lang="en-US" sz="3200" dirty="0" smtClean="0"/>
            </a:br>
            <a:r>
              <a:rPr lang="en-US" sz="4000" b="1" dirty="0" smtClean="0"/>
              <a:t>Module 2.3</a:t>
            </a:r>
            <a:r>
              <a:rPr lang="en-US" sz="5400" dirty="0"/>
              <a:t/>
            </a:r>
            <a:br>
              <a:rPr lang="en-US" sz="5400" dirty="0"/>
            </a:br>
            <a:r>
              <a:rPr lang="en-US" sz="5400" b="1" dirty="0">
                <a:solidFill>
                  <a:prstClr val="black"/>
                </a:solidFill>
              </a:rPr>
              <a:t>Introduction to Simulation</a:t>
            </a:r>
            <a:r>
              <a:rPr lang="en-US" sz="3200" dirty="0"/>
              <a:t/>
            </a:r>
            <a:br>
              <a:rPr lang="en-US" sz="3200" dirty="0"/>
            </a:br>
            <a:r>
              <a:rPr lang="en-US" sz="3200" dirty="0"/>
              <a:t/>
            </a:r>
            <a:br>
              <a:rPr lang="en-US" sz="3200" dirty="0"/>
            </a:br>
            <a:endParaRPr lang="en-US" sz="4400" b="1" dirty="0">
              <a:solidFill>
                <a:srgbClr val="C00000"/>
              </a:solidFill>
            </a:endParaRPr>
          </a:p>
        </p:txBody>
      </p:sp>
    </p:spTree>
    <p:extLst>
      <p:ext uri="{BB962C8B-B14F-4D97-AF65-F5344CB8AC3E}">
        <p14:creationId xmlns:p14="http://schemas.microsoft.com/office/powerpoint/2010/main" val="3522021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Queueing Theory vs. Simulation</a:t>
            </a:r>
          </a:p>
        </p:txBody>
      </p:sp>
      <p:sp>
        <p:nvSpPr>
          <p:cNvPr id="3" name="Content Placeholder 2"/>
          <p:cNvSpPr>
            <a:spLocks noGrp="1"/>
          </p:cNvSpPr>
          <p:nvPr>
            <p:ph idx="1"/>
          </p:nvPr>
        </p:nvSpPr>
        <p:spPr>
          <a:xfrm>
            <a:off x="355002" y="1312433"/>
            <a:ext cx="11478410" cy="4864530"/>
          </a:xfrm>
        </p:spPr>
        <p:txBody>
          <a:bodyPr>
            <a:normAutofit fontScale="92500" lnSpcReduction="10000"/>
          </a:bodyPr>
          <a:lstStyle/>
          <a:p>
            <a:r>
              <a:rPr lang="en-US" dirty="0"/>
              <a:t>For complex queueing systems, we do not have much results</a:t>
            </a:r>
          </a:p>
          <a:p>
            <a:pPr lvl="1"/>
            <a:r>
              <a:rPr lang="en-US" dirty="0"/>
              <a:t>So, what can be done?</a:t>
            </a:r>
          </a:p>
          <a:p>
            <a:pPr lvl="1"/>
            <a:r>
              <a:rPr lang="en-US" dirty="0">
                <a:sym typeface="Wingdings" panose="05000000000000000000" pitchFamily="2" charset="2"/>
              </a:rPr>
              <a:t>Approximation characterizations…Simulation can be used!</a:t>
            </a:r>
            <a:endParaRPr lang="en-US" dirty="0"/>
          </a:p>
          <a:p>
            <a:r>
              <a:rPr lang="en-US" dirty="0"/>
              <a:t>Why study Queueing Theory with Simulation?</a:t>
            </a:r>
          </a:p>
          <a:p>
            <a:pPr lvl="1"/>
            <a:r>
              <a:rPr lang="en-US" dirty="0"/>
              <a:t>Terminology, logic similar to many simulation models</a:t>
            </a:r>
          </a:p>
          <a:p>
            <a:pPr lvl="1"/>
            <a:r>
              <a:rPr lang="en-US" dirty="0"/>
              <a:t>In some cases, can derive exact closed-form formulas for output performance metrics, use to </a:t>
            </a:r>
            <a:r>
              <a:rPr lang="en-US" i="1" dirty="0"/>
              <a:t>verify</a:t>
            </a:r>
            <a:r>
              <a:rPr lang="en-US" dirty="0"/>
              <a:t> (debug) simulation models:</a:t>
            </a:r>
          </a:p>
          <a:p>
            <a:pPr lvl="2"/>
            <a:r>
              <a:rPr lang="en-US" dirty="0"/>
              <a:t>Have simulation model of complex system that does not meet queueing-theory assumptions … but it would </a:t>
            </a:r>
            <a:r>
              <a:rPr lang="en-US" i="1" dirty="0"/>
              <a:t>if</a:t>
            </a:r>
            <a:r>
              <a:rPr lang="en-US" dirty="0"/>
              <a:t> we made some (over-)simplifying extra assumptions like exponential distributions for inter-arrival and service times</a:t>
            </a:r>
          </a:p>
          <a:p>
            <a:pPr lvl="2"/>
            <a:r>
              <a:rPr lang="en-US" dirty="0"/>
              <a:t>Modify the simulation model so that it meets these extra assumptions, run it for a very long time … queueing-theoretic results are typically available only for steady state (a.k.a. long run, infinite horizon)</a:t>
            </a:r>
          </a:p>
          <a:p>
            <a:pPr lvl="2"/>
            <a:r>
              <a:rPr lang="en-US" dirty="0"/>
              <a:t>Compare simulation output with queueing-theoretic results … if they (approximately) agree, then confidence in the simulation is improved.</a:t>
            </a:r>
          </a:p>
          <a:p>
            <a:pPr lvl="2"/>
            <a:r>
              <a:rPr lang="en-US" dirty="0"/>
              <a:t>Restore your simulation model back the way it should be!</a:t>
            </a:r>
          </a:p>
          <a:p>
            <a:endParaRPr lang="en-US" dirty="0"/>
          </a:p>
        </p:txBody>
      </p:sp>
    </p:spTree>
    <p:extLst>
      <p:ext uri="{BB962C8B-B14F-4D97-AF65-F5344CB8AC3E}">
        <p14:creationId xmlns:p14="http://schemas.microsoft.com/office/powerpoint/2010/main" val="1447898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Queueing Theory vs. Simulation</a:t>
            </a:r>
          </a:p>
        </p:txBody>
      </p:sp>
      <p:sp>
        <p:nvSpPr>
          <p:cNvPr id="3" name="Content Placeholder 2"/>
          <p:cNvSpPr>
            <a:spLocks noGrp="1"/>
          </p:cNvSpPr>
          <p:nvPr>
            <p:ph idx="1"/>
          </p:nvPr>
        </p:nvSpPr>
        <p:spPr>
          <a:xfrm>
            <a:off x="355002" y="1312433"/>
            <a:ext cx="11478410" cy="4864530"/>
          </a:xfrm>
        </p:spPr>
        <p:txBody>
          <a:bodyPr>
            <a:normAutofit fontScale="92500" lnSpcReduction="10000"/>
          </a:bodyPr>
          <a:lstStyle/>
          <a:p>
            <a:r>
              <a:rPr lang="en-US" dirty="0"/>
              <a:t>Queueing Theory vs. Simulation</a:t>
            </a:r>
          </a:p>
          <a:p>
            <a:pPr lvl="1"/>
            <a:r>
              <a:rPr lang="en-US" dirty="0"/>
              <a:t>Queueing-theoretic results have the advantage of being exact, i.e., no statistical uncertainty/variation</a:t>
            </a:r>
          </a:p>
          <a:p>
            <a:pPr lvl="2"/>
            <a:r>
              <a:rPr lang="en-US" dirty="0"/>
              <a:t>Simulation results have statistical uncertainty/variation, which needs to be acknowledged and appropriately addressed</a:t>
            </a:r>
          </a:p>
          <a:p>
            <a:pPr lvl="1"/>
            <a:r>
              <a:rPr lang="en-US" dirty="0"/>
              <a:t>But queueing theory has its own shortcomings:</a:t>
            </a:r>
          </a:p>
          <a:p>
            <a:pPr lvl="2"/>
            <a:r>
              <a:rPr lang="en-US" dirty="0"/>
              <a:t>Strong assumptions that may be unrealistic, like exponential service times (mode = 0?), making model validity questionable</a:t>
            </a:r>
          </a:p>
          <a:p>
            <a:pPr lvl="2"/>
            <a:r>
              <a:rPr lang="en-US" dirty="0"/>
              <a:t>Nearly always only for steady-state long-run behavior, so don’t address what happens in the short run</a:t>
            </a:r>
          </a:p>
          <a:p>
            <a:pPr lvl="2"/>
            <a:r>
              <a:rPr lang="en-US" dirty="0"/>
              <a:t>Not available for all inter-arrival/service distributions, or (more importantly) for complex systems (Jackson network is simple, restrictive)</a:t>
            </a:r>
          </a:p>
          <a:p>
            <a:pPr lvl="1"/>
            <a:r>
              <a:rPr lang="en-US" dirty="0"/>
              <a:t>Despite output uncertainty, simulation has major advantages:</a:t>
            </a:r>
          </a:p>
          <a:p>
            <a:pPr lvl="2"/>
            <a:r>
              <a:rPr lang="en-US" dirty="0"/>
              <a:t>No restrictions on input distributions, model form, or complexity … so model validity is facilitated</a:t>
            </a:r>
          </a:p>
          <a:p>
            <a:pPr lvl="2"/>
            <a:r>
              <a:rPr lang="en-US" dirty="0"/>
              <a:t>Can address short-term time frames … in fact, steady-state is harder for simulation (long runs, initialization bias) than for queueing theory</a:t>
            </a:r>
          </a:p>
          <a:p>
            <a:pPr lvl="2"/>
            <a:r>
              <a:rPr lang="en-US" dirty="0"/>
              <a:t>Just have to be mindful of proper statistical design/analysis</a:t>
            </a:r>
          </a:p>
          <a:p>
            <a:endParaRPr lang="en-US" dirty="0"/>
          </a:p>
        </p:txBody>
      </p:sp>
    </p:spTree>
    <p:extLst>
      <p:ext uri="{BB962C8B-B14F-4D97-AF65-F5344CB8AC3E}">
        <p14:creationId xmlns:p14="http://schemas.microsoft.com/office/powerpoint/2010/main" val="1392081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Learning Objectives:</a:t>
            </a:r>
          </a:p>
        </p:txBody>
      </p:sp>
      <p:sp>
        <p:nvSpPr>
          <p:cNvPr id="3" name="Content Placeholder 2"/>
          <p:cNvSpPr>
            <a:spLocks noGrp="1"/>
          </p:cNvSpPr>
          <p:nvPr>
            <p:ph idx="1"/>
          </p:nvPr>
        </p:nvSpPr>
        <p:spPr/>
        <p:txBody>
          <a:bodyPr>
            <a:normAutofit/>
          </a:bodyPr>
          <a:lstStyle/>
          <a:p>
            <a:r>
              <a:rPr lang="en-US" dirty="0"/>
              <a:t>Understanding systems/models and how simulation works </a:t>
            </a:r>
          </a:p>
          <a:p>
            <a:r>
              <a:rPr lang="en-US" dirty="0"/>
              <a:t>Learning the basic components of simulation </a:t>
            </a:r>
          </a:p>
          <a:p>
            <a:r>
              <a:rPr lang="en-US" dirty="0"/>
              <a:t>Learning when simulation can be used </a:t>
            </a:r>
          </a:p>
          <a:p>
            <a:r>
              <a:rPr lang="en-US" dirty="0"/>
              <a:t>Understanding the key factors in using simulation effectively</a:t>
            </a:r>
          </a:p>
        </p:txBody>
      </p:sp>
    </p:spTree>
    <p:extLst>
      <p:ext uri="{BB962C8B-B14F-4D97-AF65-F5344CB8AC3E}">
        <p14:creationId xmlns:p14="http://schemas.microsoft.com/office/powerpoint/2010/main" val="193492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355002" y="1312433"/>
            <a:ext cx="9271219" cy="4864530"/>
          </a:xfrm>
        </p:spPr>
        <p:txBody>
          <a:bodyPr>
            <a:normAutofit/>
          </a:bodyPr>
          <a:lstStyle/>
          <a:p>
            <a:r>
              <a:rPr lang="en-US" dirty="0"/>
              <a:t>Simulation Process</a:t>
            </a:r>
          </a:p>
          <a:p>
            <a:pPr lvl="1"/>
            <a:r>
              <a:rPr lang="en-US" dirty="0"/>
              <a:t>Simulation, Systems and Models </a:t>
            </a:r>
          </a:p>
          <a:p>
            <a:pPr lvl="1"/>
            <a:r>
              <a:rPr lang="en-US" dirty="0"/>
              <a:t>Randomness and the Simulation Process </a:t>
            </a:r>
          </a:p>
          <a:p>
            <a:endParaRPr lang="en-US" dirty="0"/>
          </a:p>
          <a:p>
            <a:r>
              <a:rPr lang="en-US" dirty="0"/>
              <a:t>Simulation Approach</a:t>
            </a:r>
          </a:p>
          <a:p>
            <a:pPr lvl="1"/>
            <a:r>
              <a:rPr lang="en-US" dirty="0"/>
              <a:t>When to Simulate (and When Not to) </a:t>
            </a:r>
          </a:p>
          <a:p>
            <a:pPr lvl="1"/>
            <a:r>
              <a:rPr lang="en-US" dirty="0"/>
              <a:t>Simulation Success Skills</a:t>
            </a:r>
          </a:p>
          <a:p>
            <a:endParaRPr lang="en-US" dirty="0"/>
          </a:p>
          <a:p>
            <a:r>
              <a:rPr lang="en-US" dirty="0"/>
              <a:t>Review and System Examples</a:t>
            </a:r>
          </a:p>
          <a:p>
            <a:pPr marL="0" indent="0">
              <a:buNone/>
            </a:pPr>
            <a:endParaRPr lang="en-US" dirty="0"/>
          </a:p>
          <a:p>
            <a:pPr lvl="1"/>
            <a:endParaRPr lang="en-US" dirty="0"/>
          </a:p>
        </p:txBody>
      </p:sp>
    </p:spTree>
    <p:extLst>
      <p:ext uri="{BB962C8B-B14F-4D97-AF65-F5344CB8AC3E}">
        <p14:creationId xmlns:p14="http://schemas.microsoft.com/office/powerpoint/2010/main" val="1863947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355002" y="1312433"/>
            <a:ext cx="9271219" cy="4864530"/>
          </a:xfrm>
        </p:spPr>
        <p:txBody>
          <a:bodyPr>
            <a:normAutofit/>
          </a:bodyPr>
          <a:lstStyle/>
          <a:p>
            <a:r>
              <a:rPr lang="en-US" dirty="0"/>
              <a:t>Simulation Process</a:t>
            </a:r>
          </a:p>
          <a:p>
            <a:pPr lvl="1"/>
            <a:r>
              <a:rPr lang="en-US" dirty="0"/>
              <a:t>Simulation, Systems and Models </a:t>
            </a:r>
          </a:p>
          <a:p>
            <a:pPr lvl="1"/>
            <a:r>
              <a:rPr lang="en-US" dirty="0"/>
              <a:t>Randomness and the Simulation Process </a:t>
            </a:r>
          </a:p>
          <a:p>
            <a:endParaRPr lang="en-US" dirty="0"/>
          </a:p>
          <a:p>
            <a:r>
              <a:rPr lang="en-US" dirty="0">
                <a:solidFill>
                  <a:schemeClr val="bg2"/>
                </a:solidFill>
              </a:rPr>
              <a:t>Simulation Approach</a:t>
            </a:r>
          </a:p>
          <a:p>
            <a:pPr lvl="1"/>
            <a:r>
              <a:rPr lang="en-US" dirty="0">
                <a:solidFill>
                  <a:schemeClr val="bg2"/>
                </a:solidFill>
              </a:rPr>
              <a:t>When to Simulate (and When Not to) </a:t>
            </a:r>
          </a:p>
          <a:p>
            <a:pPr lvl="1"/>
            <a:r>
              <a:rPr lang="en-US" dirty="0">
                <a:solidFill>
                  <a:schemeClr val="bg2"/>
                </a:solidFill>
              </a:rPr>
              <a:t>Simulation Success Skills</a:t>
            </a:r>
          </a:p>
          <a:p>
            <a:endParaRPr lang="en-US" dirty="0">
              <a:solidFill>
                <a:schemeClr val="bg2"/>
              </a:solidFill>
            </a:endParaRPr>
          </a:p>
          <a:p>
            <a:r>
              <a:rPr lang="en-US" dirty="0">
                <a:solidFill>
                  <a:schemeClr val="bg2"/>
                </a:solidFill>
              </a:rPr>
              <a:t>Review and System Examples</a:t>
            </a:r>
          </a:p>
          <a:p>
            <a:pPr marL="0" indent="0">
              <a:buNone/>
            </a:pPr>
            <a:endParaRPr lang="en-US" dirty="0"/>
          </a:p>
          <a:p>
            <a:pPr lvl="1"/>
            <a:endParaRPr lang="en-US" dirty="0"/>
          </a:p>
        </p:txBody>
      </p:sp>
    </p:spTree>
    <p:extLst>
      <p:ext uri="{BB962C8B-B14F-4D97-AF65-F5344CB8AC3E}">
        <p14:creationId xmlns:p14="http://schemas.microsoft.com/office/powerpoint/2010/main" val="2450945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Simulation</a:t>
            </a:r>
          </a:p>
        </p:txBody>
      </p:sp>
      <p:sp>
        <p:nvSpPr>
          <p:cNvPr id="3" name="Content Placeholder 2"/>
          <p:cNvSpPr>
            <a:spLocks noGrp="1"/>
          </p:cNvSpPr>
          <p:nvPr>
            <p:ph idx="1"/>
          </p:nvPr>
        </p:nvSpPr>
        <p:spPr/>
        <p:txBody>
          <a:bodyPr>
            <a:normAutofit fontScale="92500" lnSpcReduction="20000"/>
          </a:bodyPr>
          <a:lstStyle/>
          <a:p>
            <a:r>
              <a:rPr lang="en-US" dirty="0"/>
              <a:t>Some definitions:</a:t>
            </a:r>
          </a:p>
          <a:p>
            <a:pPr lvl="1"/>
            <a:r>
              <a:rPr lang="en-US" dirty="0"/>
              <a:t>From dictionary.com </a:t>
            </a:r>
          </a:p>
          <a:p>
            <a:pPr lvl="2"/>
            <a:r>
              <a:rPr lang="en-US" dirty="0"/>
              <a:t>imitation or enactment, as of something anticipated or in testing.</a:t>
            </a:r>
          </a:p>
          <a:p>
            <a:pPr lvl="2"/>
            <a:r>
              <a:rPr lang="en-US" dirty="0"/>
              <a:t>the act or process of pretending; feigning.</a:t>
            </a:r>
          </a:p>
          <a:p>
            <a:pPr lvl="1"/>
            <a:r>
              <a:rPr lang="en-US" dirty="0"/>
              <a:t>From Wikipedia.com</a:t>
            </a:r>
          </a:p>
          <a:p>
            <a:pPr lvl="2"/>
            <a:r>
              <a:rPr lang="en-US" dirty="0"/>
              <a:t>A simulation is an approximate imitation of the operation of a process or system</a:t>
            </a:r>
          </a:p>
          <a:p>
            <a:r>
              <a:rPr lang="en-US" dirty="0"/>
              <a:t>Some history:</a:t>
            </a:r>
          </a:p>
          <a:p>
            <a:pPr lvl="1"/>
            <a:r>
              <a:rPr lang="en-US" dirty="0"/>
              <a:t>In use since 1960s, continues to grow, strengthen</a:t>
            </a:r>
          </a:p>
          <a:p>
            <a:pPr lvl="1"/>
            <a:r>
              <a:rPr lang="en-US" dirty="0"/>
              <a:t>During WW2, it is used to study random neutron diffusion in connection with the development of atom bomb</a:t>
            </a:r>
          </a:p>
          <a:p>
            <a:pPr lvl="1"/>
            <a:r>
              <a:rPr lang="en-US" dirty="0"/>
              <a:t>The basics lie in statistical sampling, random numbers, random sampling</a:t>
            </a:r>
          </a:p>
          <a:p>
            <a:r>
              <a:rPr lang="en-US" dirty="0"/>
              <a:t>A very useful tool:</a:t>
            </a:r>
          </a:p>
          <a:p>
            <a:pPr lvl="1"/>
            <a:r>
              <a:rPr lang="en-US" dirty="0"/>
              <a:t>It is used very widely in many manufacturing and service industries</a:t>
            </a:r>
          </a:p>
          <a:p>
            <a:pPr lvl="2"/>
            <a:r>
              <a:rPr lang="en-US" dirty="0"/>
              <a:t>Manufacturing systems, transportation analyses, healthcare, almost any service industry!</a:t>
            </a:r>
          </a:p>
          <a:p>
            <a:pPr lvl="1"/>
            <a:r>
              <a:rPr lang="en-US" dirty="0"/>
              <a:t>A crucial and relatively easy to use </a:t>
            </a:r>
            <a:r>
              <a:rPr lang="en-US" b="1" dirty="0">
                <a:solidFill>
                  <a:srgbClr val="C00000"/>
                </a:solidFill>
              </a:rPr>
              <a:t>modeling tool to analyze a system</a:t>
            </a:r>
          </a:p>
          <a:p>
            <a:pPr lvl="1"/>
            <a:endParaRPr lang="en-US" dirty="0"/>
          </a:p>
        </p:txBody>
      </p:sp>
    </p:spTree>
    <p:extLst>
      <p:ext uri="{BB962C8B-B14F-4D97-AF65-F5344CB8AC3E}">
        <p14:creationId xmlns:p14="http://schemas.microsoft.com/office/powerpoint/2010/main" val="914106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and Models</a:t>
            </a:r>
          </a:p>
        </p:txBody>
      </p:sp>
      <p:sp>
        <p:nvSpPr>
          <p:cNvPr id="3" name="Content Placeholder 2"/>
          <p:cNvSpPr>
            <a:spLocks noGrp="1"/>
          </p:cNvSpPr>
          <p:nvPr>
            <p:ph idx="1"/>
          </p:nvPr>
        </p:nvSpPr>
        <p:spPr/>
        <p:txBody>
          <a:bodyPr>
            <a:normAutofit fontScale="92500" lnSpcReduction="10000"/>
          </a:bodyPr>
          <a:lstStyle/>
          <a:p>
            <a:r>
              <a:rPr lang="en-US" b="1" dirty="0">
                <a:solidFill>
                  <a:srgbClr val="C00000"/>
                </a:solidFill>
              </a:rPr>
              <a:t>System</a:t>
            </a:r>
            <a:r>
              <a:rPr lang="en-US" dirty="0"/>
              <a:t> – broad term, set of related components working together toward some purpose, usually over time</a:t>
            </a:r>
          </a:p>
          <a:p>
            <a:pPr lvl="1"/>
            <a:r>
              <a:rPr lang="en-US" dirty="0"/>
              <a:t>Simple ATM; complex airport; very complex global distribution network</a:t>
            </a:r>
          </a:p>
          <a:p>
            <a:pPr lvl="1"/>
            <a:r>
              <a:rPr lang="en-US" dirty="0"/>
              <a:t>For any system, it is necessary and sometimes essential to understand how it will behave and perform under various configurations and circumstances</a:t>
            </a:r>
          </a:p>
          <a:p>
            <a:pPr lvl="2"/>
            <a:r>
              <a:rPr lang="en-US" dirty="0"/>
              <a:t>You can carefully observe the system over time</a:t>
            </a:r>
          </a:p>
          <a:p>
            <a:pPr lvl="3"/>
            <a:r>
              <a:rPr lang="en-US" dirty="0"/>
              <a:t>But it will take long time and, sometimes, it might be impossible to observe the system under each possible configuration</a:t>
            </a:r>
          </a:p>
          <a:p>
            <a:pPr lvl="2"/>
            <a:r>
              <a:rPr lang="en-US" dirty="0"/>
              <a:t>Also, how about when you want to make changes in the system and see what happens?</a:t>
            </a:r>
          </a:p>
          <a:p>
            <a:pPr lvl="3"/>
            <a:r>
              <a:rPr lang="en-US" dirty="0"/>
              <a:t>Do the change and observe? </a:t>
            </a:r>
          </a:p>
          <a:p>
            <a:pPr lvl="3"/>
            <a:r>
              <a:rPr lang="en-US" dirty="0"/>
              <a:t>Timely and might be costly (for instance, trying out a new high-tech machine in the manufacturing shop?) </a:t>
            </a:r>
            <a:r>
              <a:rPr lang="en-US" dirty="0">
                <a:sym typeface="Wingdings" panose="05000000000000000000" pitchFamily="2" charset="2"/>
              </a:rPr>
              <a:t> Not very practical</a:t>
            </a:r>
          </a:p>
          <a:p>
            <a:pPr lvl="2"/>
            <a:r>
              <a:rPr lang="en-US" dirty="0">
                <a:sym typeface="Wingdings" panose="05000000000000000000" pitchFamily="2" charset="2"/>
              </a:rPr>
              <a:t>Or, how about if the system does not exist yet? </a:t>
            </a:r>
          </a:p>
          <a:p>
            <a:pPr lvl="3"/>
            <a:r>
              <a:rPr lang="en-US" dirty="0">
                <a:sym typeface="Wingdings" panose="05000000000000000000" pitchFamily="2" charset="2"/>
              </a:rPr>
              <a:t>No observation is possible!</a:t>
            </a:r>
          </a:p>
          <a:p>
            <a:pPr lvl="3"/>
            <a:r>
              <a:rPr lang="en-US" dirty="0">
                <a:sym typeface="Wingdings" panose="05000000000000000000" pitchFamily="2" charset="2"/>
              </a:rPr>
              <a:t>Build the system and observe?  not practical</a:t>
            </a:r>
          </a:p>
          <a:p>
            <a:r>
              <a:rPr lang="en-US" dirty="0">
                <a:sym typeface="Wingdings" panose="05000000000000000000" pitchFamily="2" charset="2"/>
              </a:rPr>
              <a:t>As systems can be complicated, we use </a:t>
            </a:r>
            <a:r>
              <a:rPr lang="en-US" dirty="0">
                <a:solidFill>
                  <a:srgbClr val="C00000"/>
                </a:solidFill>
                <a:sym typeface="Wingdings" panose="05000000000000000000" pitchFamily="2" charset="2"/>
              </a:rPr>
              <a:t>models to understand the systems</a:t>
            </a:r>
            <a:endParaRPr lang="en-US" dirty="0">
              <a:solidFill>
                <a:srgbClr val="C00000"/>
              </a:solidFill>
            </a:endParaRPr>
          </a:p>
        </p:txBody>
      </p:sp>
    </p:spTree>
    <p:extLst>
      <p:ext uri="{BB962C8B-B14F-4D97-AF65-F5344CB8AC3E}">
        <p14:creationId xmlns:p14="http://schemas.microsoft.com/office/powerpoint/2010/main" val="2868525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and Models</a:t>
            </a:r>
          </a:p>
        </p:txBody>
      </p:sp>
      <p:sp>
        <p:nvSpPr>
          <p:cNvPr id="3" name="Content Placeholder 2"/>
          <p:cNvSpPr>
            <a:spLocks noGrp="1"/>
          </p:cNvSpPr>
          <p:nvPr>
            <p:ph idx="1"/>
          </p:nvPr>
        </p:nvSpPr>
        <p:spPr/>
        <p:txBody>
          <a:bodyPr>
            <a:normAutofit lnSpcReduction="10000"/>
          </a:bodyPr>
          <a:lstStyle/>
          <a:p>
            <a:r>
              <a:rPr lang="en-US" u="sng" dirty="0"/>
              <a:t>Model of a system: a representation of a system</a:t>
            </a:r>
          </a:p>
          <a:p>
            <a:pPr lvl="1"/>
            <a:r>
              <a:rPr lang="en-US" dirty="0">
                <a:solidFill>
                  <a:srgbClr val="C00000"/>
                </a:solidFill>
              </a:rPr>
              <a:t>Physical model </a:t>
            </a:r>
            <a:r>
              <a:rPr lang="en-US" dirty="0"/>
              <a:t>– airplane cockpit for training, wind tunnels, a model car</a:t>
            </a:r>
          </a:p>
          <a:p>
            <a:pPr lvl="2"/>
            <a:r>
              <a:rPr lang="en-US" dirty="0"/>
              <a:t>These can be used to collect information about the system</a:t>
            </a:r>
          </a:p>
          <a:p>
            <a:pPr lvl="2"/>
            <a:r>
              <a:rPr lang="en-US" dirty="0"/>
              <a:t>For instance, car prototypes (physical model of the car) are used in safety testing</a:t>
            </a:r>
          </a:p>
          <a:p>
            <a:pPr lvl="1"/>
            <a:r>
              <a:rPr lang="en-US" dirty="0">
                <a:solidFill>
                  <a:srgbClr val="C00000"/>
                </a:solidFill>
              </a:rPr>
              <a:t>Analytical model </a:t>
            </a:r>
            <a:r>
              <a:rPr lang="en-US" dirty="0"/>
              <a:t>– exact mathematical analysis, limited domain/flexibility</a:t>
            </a:r>
          </a:p>
          <a:p>
            <a:pPr lvl="2"/>
            <a:r>
              <a:rPr lang="en-US" dirty="0"/>
              <a:t>Sometimes it is possible to explain the relations within a system mathematically!</a:t>
            </a:r>
          </a:p>
          <a:p>
            <a:pPr lvl="2"/>
            <a:r>
              <a:rPr lang="en-US" dirty="0"/>
              <a:t>For instance, the amount of materials required by a specific product design can be related to the volume, which can be expressed mathematically using the design specifications</a:t>
            </a:r>
          </a:p>
          <a:p>
            <a:pPr lvl="2"/>
            <a:r>
              <a:rPr lang="en-US" dirty="0"/>
              <a:t>For complex systems, generating analytical models can be impossible, especially considering the uncertain environmental factors</a:t>
            </a:r>
          </a:p>
          <a:p>
            <a:pPr lvl="1"/>
            <a:r>
              <a:rPr lang="en-US" dirty="0">
                <a:solidFill>
                  <a:srgbClr val="C00000"/>
                </a:solidFill>
              </a:rPr>
              <a:t>Simulation model </a:t>
            </a:r>
            <a:r>
              <a:rPr lang="en-US" dirty="0"/>
              <a:t>– Imitation of  a system’s operation over time (dynamic)</a:t>
            </a:r>
          </a:p>
          <a:p>
            <a:pPr lvl="2"/>
            <a:r>
              <a:rPr lang="en-US" dirty="0"/>
              <a:t>Appropriate level of detail, draw conclusions about system behavior</a:t>
            </a:r>
          </a:p>
          <a:p>
            <a:pPr lvl="2"/>
            <a:r>
              <a:rPr lang="en-US" dirty="0"/>
              <a:t>Software to represent system components, behavior, interactions</a:t>
            </a:r>
          </a:p>
          <a:p>
            <a:pPr lvl="2"/>
            <a:r>
              <a:rPr lang="en-US" dirty="0"/>
              <a:t>Record artificial “history” of model, summarize characteristics</a:t>
            </a:r>
          </a:p>
          <a:p>
            <a:pPr lvl="2"/>
            <a:r>
              <a:rPr lang="en-US" dirty="0"/>
              <a:t>Used to predict effect of changes to existing system, or performance of new systems</a:t>
            </a:r>
          </a:p>
          <a:p>
            <a:pPr lvl="1"/>
            <a:endParaRPr lang="en-US" dirty="0"/>
          </a:p>
        </p:txBody>
      </p:sp>
    </p:spTree>
    <p:extLst>
      <p:ext uri="{BB962C8B-B14F-4D97-AF65-F5344CB8AC3E}">
        <p14:creationId xmlns:p14="http://schemas.microsoft.com/office/powerpoint/2010/main" val="1802998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and Models</a:t>
            </a:r>
          </a:p>
        </p:txBody>
      </p:sp>
      <p:sp>
        <p:nvSpPr>
          <p:cNvPr id="3" name="Content Placeholder 2"/>
          <p:cNvSpPr>
            <a:spLocks noGrp="1"/>
          </p:cNvSpPr>
          <p:nvPr>
            <p:ph idx="1"/>
          </p:nvPr>
        </p:nvSpPr>
        <p:spPr/>
        <p:txBody>
          <a:bodyPr>
            <a:normAutofit fontScale="92500" lnSpcReduction="20000"/>
          </a:bodyPr>
          <a:lstStyle/>
          <a:p>
            <a:r>
              <a:rPr lang="en-US" dirty="0"/>
              <a:t>Types of simulation: follow types of systems</a:t>
            </a:r>
          </a:p>
          <a:p>
            <a:r>
              <a:rPr lang="en-US" u="sng" dirty="0"/>
              <a:t>Stochastic vs. Deterministic</a:t>
            </a:r>
          </a:p>
          <a:p>
            <a:pPr lvl="1"/>
            <a:r>
              <a:rPr lang="en-US" dirty="0">
                <a:solidFill>
                  <a:srgbClr val="C00000"/>
                </a:solidFill>
              </a:rPr>
              <a:t>Deterministic</a:t>
            </a:r>
            <a:r>
              <a:rPr lang="en-US" dirty="0"/>
              <a:t> – no random inputs to model, so outputs are always the same (unless you change something in the model)</a:t>
            </a:r>
          </a:p>
          <a:p>
            <a:pPr lvl="1"/>
            <a:r>
              <a:rPr lang="en-US" dirty="0">
                <a:solidFill>
                  <a:srgbClr val="C00000"/>
                </a:solidFill>
              </a:rPr>
              <a:t>Stochastic</a:t>
            </a:r>
            <a:r>
              <a:rPr lang="en-US" dirty="0"/>
              <a:t> – random inputs to model to represent the realistic variation found in most systems  (time to complete a task, time between successive arrivals of customers, machine uptimes and downtimes, branching probabilities)</a:t>
            </a:r>
          </a:p>
          <a:p>
            <a:pPr lvl="2"/>
            <a:r>
              <a:rPr lang="en-US" dirty="0"/>
              <a:t>Outputs random too, subject to proper statistical analysis</a:t>
            </a:r>
          </a:p>
          <a:p>
            <a:r>
              <a:rPr lang="en-US" u="sng" dirty="0"/>
              <a:t>Static vs. Dynamic</a:t>
            </a:r>
          </a:p>
          <a:p>
            <a:pPr lvl="1"/>
            <a:r>
              <a:rPr lang="en-US" dirty="0">
                <a:solidFill>
                  <a:srgbClr val="C00000"/>
                </a:solidFill>
              </a:rPr>
              <a:t>Static</a:t>
            </a:r>
            <a:r>
              <a:rPr lang="en-US" dirty="0"/>
              <a:t> – the time does not affect the system and its operation</a:t>
            </a:r>
          </a:p>
          <a:p>
            <a:pPr lvl="2"/>
            <a:r>
              <a:rPr lang="en-US" dirty="0"/>
              <a:t>Analyzing how much you can win in a gambling game </a:t>
            </a:r>
            <a:r>
              <a:rPr lang="en-US" dirty="0">
                <a:sym typeface="Wingdings" panose="05000000000000000000" pitchFamily="2" charset="2"/>
              </a:rPr>
              <a:t> can generate outcomes randomly and see what happens</a:t>
            </a:r>
            <a:endParaRPr lang="en-US" dirty="0"/>
          </a:p>
          <a:p>
            <a:pPr lvl="1"/>
            <a:r>
              <a:rPr lang="en-US" dirty="0">
                <a:solidFill>
                  <a:srgbClr val="C00000"/>
                </a:solidFill>
              </a:rPr>
              <a:t>Dynamic</a:t>
            </a:r>
            <a:r>
              <a:rPr lang="en-US" dirty="0"/>
              <a:t> – the operations are depending on the time</a:t>
            </a:r>
          </a:p>
          <a:p>
            <a:pPr lvl="2"/>
            <a:r>
              <a:rPr lang="en-US" dirty="0"/>
              <a:t>It is impossible to model the system without time dimension</a:t>
            </a:r>
          </a:p>
          <a:p>
            <a:pPr lvl="2"/>
            <a:r>
              <a:rPr lang="en-US" dirty="0"/>
              <a:t>Operations/processes are related to each other over time</a:t>
            </a:r>
          </a:p>
          <a:p>
            <a:pPr lvl="2"/>
            <a:r>
              <a:rPr lang="en-US" dirty="0"/>
              <a:t>A queueing system: customer’s </a:t>
            </a:r>
            <a:r>
              <a:rPr lang="en-US" dirty="0" err="1"/>
              <a:t>interarrival</a:t>
            </a:r>
            <a:r>
              <a:rPr lang="en-US" dirty="0"/>
              <a:t> times, customer service times, etc.</a:t>
            </a:r>
          </a:p>
          <a:p>
            <a:pPr lvl="1"/>
            <a:endParaRPr lang="en-US" dirty="0"/>
          </a:p>
        </p:txBody>
      </p:sp>
    </p:spTree>
    <p:extLst>
      <p:ext uri="{BB962C8B-B14F-4D97-AF65-F5344CB8AC3E}">
        <p14:creationId xmlns:p14="http://schemas.microsoft.com/office/powerpoint/2010/main" val="2811795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and Models</a:t>
            </a:r>
          </a:p>
        </p:txBody>
      </p:sp>
      <p:sp>
        <p:nvSpPr>
          <p:cNvPr id="3" name="Content Placeholder 2"/>
          <p:cNvSpPr>
            <a:spLocks noGrp="1"/>
          </p:cNvSpPr>
          <p:nvPr>
            <p:ph idx="1"/>
          </p:nvPr>
        </p:nvSpPr>
        <p:spPr/>
        <p:txBody>
          <a:bodyPr>
            <a:normAutofit/>
          </a:bodyPr>
          <a:lstStyle/>
          <a:p>
            <a:r>
              <a:rPr lang="en-US" dirty="0"/>
              <a:t>Types of simulation: follow types of systems</a:t>
            </a:r>
          </a:p>
          <a:p>
            <a:r>
              <a:rPr lang="en-US" u="sng" dirty="0"/>
              <a:t>Discrete vs. Continuous</a:t>
            </a:r>
          </a:p>
          <a:p>
            <a:pPr lvl="1"/>
            <a:r>
              <a:rPr lang="en-US" dirty="0">
                <a:solidFill>
                  <a:srgbClr val="C00000"/>
                </a:solidFill>
              </a:rPr>
              <a:t>Discrete</a:t>
            </a:r>
            <a:r>
              <a:rPr lang="en-US" dirty="0"/>
              <a:t> – state variables describing the model change only at instantaneous discrete points in time (event times)</a:t>
            </a:r>
          </a:p>
          <a:p>
            <a:pPr lvl="2"/>
            <a:r>
              <a:rPr lang="en-US" dirty="0"/>
              <a:t>Number of customers in queue, server status (busy, idle, down)</a:t>
            </a:r>
          </a:p>
          <a:p>
            <a:pPr lvl="1"/>
            <a:r>
              <a:rPr lang="en-US" dirty="0">
                <a:solidFill>
                  <a:srgbClr val="C00000"/>
                </a:solidFill>
              </a:rPr>
              <a:t>Continuous</a:t>
            </a:r>
            <a:r>
              <a:rPr lang="en-US" dirty="0"/>
              <a:t> – state variables can change continuously over time, described by differential equations that are solved numerically</a:t>
            </a:r>
          </a:p>
          <a:p>
            <a:pPr lvl="2"/>
            <a:r>
              <a:rPr lang="en-US" dirty="0"/>
              <a:t>Pressure in a tank, temperature in an oven, fluid flow</a:t>
            </a:r>
          </a:p>
          <a:p>
            <a:pPr lvl="1"/>
            <a:endParaRPr lang="en-US" dirty="0"/>
          </a:p>
          <a:p>
            <a:pPr lvl="1"/>
            <a:r>
              <a:rPr lang="en-US" dirty="0"/>
              <a:t>Mixed discrete/continuous models</a:t>
            </a:r>
          </a:p>
          <a:p>
            <a:endParaRPr lang="en-US" dirty="0"/>
          </a:p>
          <a:p>
            <a:pPr lvl="1"/>
            <a:endParaRPr lang="en-US" dirty="0"/>
          </a:p>
        </p:txBody>
      </p:sp>
    </p:spTree>
    <p:extLst>
      <p:ext uri="{BB962C8B-B14F-4D97-AF65-F5344CB8AC3E}">
        <p14:creationId xmlns:p14="http://schemas.microsoft.com/office/powerpoint/2010/main" val="2654332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and Models</a:t>
            </a:r>
          </a:p>
        </p:txBody>
      </p:sp>
      <p:sp>
        <p:nvSpPr>
          <p:cNvPr id="3" name="Content Placeholder 2"/>
          <p:cNvSpPr>
            <a:spLocks noGrp="1"/>
          </p:cNvSpPr>
          <p:nvPr>
            <p:ph idx="1"/>
          </p:nvPr>
        </p:nvSpPr>
        <p:spPr/>
        <p:txBody>
          <a:bodyPr>
            <a:normAutofit fontScale="92500" lnSpcReduction="10000"/>
          </a:bodyPr>
          <a:lstStyle/>
          <a:p>
            <a:r>
              <a:rPr lang="en-US" dirty="0"/>
              <a:t>Discrete simulation paradigms: approaches to create simulation models</a:t>
            </a:r>
          </a:p>
          <a:p>
            <a:pPr lvl="1"/>
            <a:r>
              <a:rPr lang="en-US" dirty="0">
                <a:solidFill>
                  <a:srgbClr val="C00000"/>
                </a:solidFill>
              </a:rPr>
              <a:t>Events (events-based simulation)</a:t>
            </a:r>
          </a:p>
          <a:p>
            <a:pPr lvl="2"/>
            <a:r>
              <a:rPr lang="en-US" dirty="0"/>
              <a:t>Model the points in time when the system state can change</a:t>
            </a:r>
          </a:p>
          <a:p>
            <a:pPr lvl="2"/>
            <a:r>
              <a:rPr lang="en-US" dirty="0"/>
              <a:t>Program to carry out instantaneous event logic, scheduling of future events, observing output and summaries</a:t>
            </a:r>
          </a:p>
          <a:p>
            <a:pPr lvl="1"/>
            <a:r>
              <a:rPr lang="en-US" dirty="0">
                <a:solidFill>
                  <a:srgbClr val="C00000"/>
                </a:solidFill>
              </a:rPr>
              <a:t>Processes (process-based simulation)</a:t>
            </a:r>
          </a:p>
          <a:p>
            <a:pPr lvl="2"/>
            <a:r>
              <a:rPr lang="en-US" dirty="0"/>
              <a:t>Model a sequence of actions taking place over time (part in a manufacturing system seizes a worker, delays for service, releases worker)</a:t>
            </a:r>
          </a:p>
          <a:p>
            <a:pPr lvl="1"/>
            <a:r>
              <a:rPr lang="en-US" dirty="0">
                <a:solidFill>
                  <a:srgbClr val="C00000"/>
                </a:solidFill>
              </a:rPr>
              <a:t>Objects (object-oriented simulation)</a:t>
            </a:r>
          </a:p>
          <a:p>
            <a:pPr lvl="2"/>
            <a:r>
              <a:rPr lang="en-US" dirty="0"/>
              <a:t>Describe model from the point of view of the facility</a:t>
            </a:r>
          </a:p>
          <a:p>
            <a:pPr lvl="2"/>
            <a:r>
              <a:rPr lang="en-US" dirty="0">
                <a:solidFill>
                  <a:srgbClr val="C00000"/>
                </a:solidFill>
              </a:rPr>
              <a:t>Agent-based (agent-based simulation)</a:t>
            </a:r>
          </a:p>
          <a:p>
            <a:pPr lvl="3"/>
            <a:r>
              <a:rPr lang="en-US" dirty="0"/>
              <a:t>Agents are a special case of objects</a:t>
            </a:r>
          </a:p>
          <a:p>
            <a:pPr lvl="3"/>
            <a:r>
              <a:rPr lang="en-US" dirty="0"/>
              <a:t>Give intelligence to objects to make them into agents</a:t>
            </a:r>
          </a:p>
          <a:p>
            <a:pPr lvl="3"/>
            <a:r>
              <a:rPr lang="en-US" dirty="0"/>
              <a:t>System behavior emerges from interaction of many autonomous agents</a:t>
            </a:r>
          </a:p>
          <a:p>
            <a:pPr lvl="1"/>
            <a:endParaRPr lang="en-US" dirty="0"/>
          </a:p>
          <a:p>
            <a:pPr lvl="1"/>
            <a:r>
              <a:rPr lang="en-US" dirty="0"/>
              <a:t>No strict distinction: many software combine these paradigms</a:t>
            </a:r>
          </a:p>
          <a:p>
            <a:pPr lvl="1"/>
            <a:endParaRPr lang="en-US" dirty="0"/>
          </a:p>
          <a:p>
            <a:pPr lvl="1"/>
            <a:endParaRPr lang="en-US" dirty="0"/>
          </a:p>
        </p:txBody>
      </p:sp>
    </p:spTree>
    <p:extLst>
      <p:ext uri="{BB962C8B-B14F-4D97-AF65-F5344CB8AC3E}">
        <p14:creationId xmlns:p14="http://schemas.microsoft.com/office/powerpoint/2010/main" val="2401559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and Models</a:t>
            </a:r>
          </a:p>
        </p:txBody>
      </p:sp>
      <p:sp>
        <p:nvSpPr>
          <p:cNvPr id="3" name="Content Placeholder 2"/>
          <p:cNvSpPr>
            <a:spLocks noGrp="1"/>
          </p:cNvSpPr>
          <p:nvPr>
            <p:ph idx="1"/>
          </p:nvPr>
        </p:nvSpPr>
        <p:spPr>
          <a:xfrm>
            <a:off x="355002" y="1312433"/>
            <a:ext cx="8613152" cy="4864530"/>
          </a:xfrm>
        </p:spPr>
        <p:txBody>
          <a:bodyPr>
            <a:normAutofit fontScale="92500" lnSpcReduction="10000"/>
          </a:bodyPr>
          <a:lstStyle/>
          <a:p>
            <a:r>
              <a:rPr lang="en-US" dirty="0"/>
              <a:t>Some (only some) examples of use of simulation</a:t>
            </a:r>
          </a:p>
          <a:p>
            <a:pPr marL="800100" lvl="1" indent="-342900">
              <a:spcBef>
                <a:spcPct val="20000"/>
              </a:spcBef>
              <a:buFontTx/>
              <a:buChar char="•"/>
              <a:defRPr/>
            </a:pPr>
            <a:r>
              <a:rPr lang="en-US" kern="0" dirty="0">
                <a:solidFill>
                  <a:srgbClr val="C00000"/>
                </a:solidFill>
                <a:latin typeface="Calibri" pitchFamily="34" charset="0"/>
                <a:ea typeface="Calibri" pitchFamily="34" charset="0"/>
                <a:cs typeface="Calibri" pitchFamily="34" charset="0"/>
              </a:rPr>
              <a:t>Some service industry examples: </a:t>
            </a:r>
            <a:r>
              <a:rPr lang="en-US" kern="0" dirty="0">
                <a:latin typeface="Calibri" pitchFamily="34" charset="0"/>
                <a:ea typeface="Calibri" pitchFamily="34" charset="0"/>
                <a:cs typeface="Calibri" pitchFamily="34" charset="0"/>
              </a:rPr>
              <a:t>Restaurants, Drive-through, Amusement Parks, Call Centers, Banks, Customer Service</a:t>
            </a:r>
          </a:p>
          <a:p>
            <a:pPr marL="800100" lvl="1" indent="-342900">
              <a:spcBef>
                <a:spcPct val="20000"/>
              </a:spcBef>
              <a:buFontTx/>
              <a:buChar char="•"/>
              <a:defRPr/>
            </a:pPr>
            <a:r>
              <a:rPr lang="en-US" kern="0" dirty="0">
                <a:solidFill>
                  <a:srgbClr val="C00000"/>
                </a:solidFill>
                <a:latin typeface="Calibri" pitchFamily="34" charset="0"/>
                <a:ea typeface="Calibri" pitchFamily="34" charset="0"/>
                <a:cs typeface="Calibri" pitchFamily="34" charset="0"/>
              </a:rPr>
              <a:t>Healthcare industry examples: </a:t>
            </a:r>
            <a:r>
              <a:rPr lang="en-US" kern="0" dirty="0">
                <a:latin typeface="Calibri" pitchFamily="34" charset="0"/>
                <a:ea typeface="Calibri" pitchFamily="34" charset="0"/>
                <a:cs typeface="Calibri" pitchFamily="34" charset="0"/>
              </a:rPr>
              <a:t>surgery scheduling, hospital staffing, resource management, capacity planning</a:t>
            </a:r>
          </a:p>
          <a:p>
            <a:pPr marL="800100" lvl="1" indent="-342900">
              <a:spcBef>
                <a:spcPct val="20000"/>
              </a:spcBef>
              <a:buFontTx/>
              <a:buChar char="•"/>
              <a:defRPr/>
            </a:pPr>
            <a:r>
              <a:rPr lang="en-US" kern="0" dirty="0">
                <a:solidFill>
                  <a:srgbClr val="C00000"/>
                </a:solidFill>
                <a:latin typeface="Calibri" pitchFamily="34" charset="0"/>
                <a:ea typeface="Calibri" pitchFamily="34" charset="0"/>
                <a:cs typeface="Calibri" pitchFamily="34" charset="0"/>
              </a:rPr>
              <a:t>Supply chain examples: </a:t>
            </a:r>
            <a:r>
              <a:rPr lang="en-US" kern="0" dirty="0">
                <a:latin typeface="Calibri" pitchFamily="34" charset="0"/>
                <a:ea typeface="Calibri" pitchFamily="34" charset="0"/>
                <a:cs typeface="Calibri" pitchFamily="34" charset="0"/>
              </a:rPr>
              <a:t>inventory control, deliveries and shipments, demand management, marketing</a:t>
            </a:r>
          </a:p>
          <a:p>
            <a:pPr marL="800100" lvl="1" indent="-342900">
              <a:spcBef>
                <a:spcPct val="20000"/>
              </a:spcBef>
              <a:buFontTx/>
              <a:buChar char="•"/>
              <a:defRPr/>
            </a:pPr>
            <a:r>
              <a:rPr lang="en-US" kern="0" dirty="0">
                <a:solidFill>
                  <a:srgbClr val="C00000"/>
                </a:solidFill>
                <a:latin typeface="Calibri" pitchFamily="34" charset="0"/>
                <a:ea typeface="Calibri" pitchFamily="34" charset="0"/>
                <a:cs typeface="Calibri" pitchFamily="34" charset="0"/>
              </a:rPr>
              <a:t>Transportation examples: </a:t>
            </a:r>
            <a:r>
              <a:rPr lang="en-US" kern="0" dirty="0">
                <a:latin typeface="Calibri" pitchFamily="34" charset="0"/>
                <a:ea typeface="Calibri" pitchFamily="34" charset="0"/>
                <a:cs typeface="Calibri" pitchFamily="34" charset="0"/>
              </a:rPr>
              <a:t>Ports, Airports, Flight schedules, traffic planning, signalization, speed control</a:t>
            </a:r>
          </a:p>
          <a:p>
            <a:pPr marL="800100" lvl="1" indent="-342900">
              <a:spcBef>
                <a:spcPct val="20000"/>
              </a:spcBef>
              <a:buFontTx/>
              <a:buChar char="•"/>
              <a:defRPr/>
            </a:pPr>
            <a:r>
              <a:rPr lang="en-US" kern="0" dirty="0">
                <a:solidFill>
                  <a:srgbClr val="C00000"/>
                </a:solidFill>
                <a:latin typeface="Calibri" pitchFamily="34" charset="0"/>
                <a:ea typeface="Calibri" pitchFamily="34" charset="0"/>
                <a:cs typeface="Calibri" pitchFamily="34" charset="0"/>
              </a:rPr>
              <a:t>Manufacturing examples:</a:t>
            </a:r>
            <a:r>
              <a:rPr lang="en-US" kern="0" dirty="0">
                <a:latin typeface="Calibri" pitchFamily="34" charset="0"/>
                <a:ea typeface="Calibri" pitchFamily="34" charset="0"/>
                <a:cs typeface="Calibri" pitchFamily="34" charset="0"/>
              </a:rPr>
              <a:t> assembly lines, production systems, quality control</a:t>
            </a:r>
          </a:p>
          <a:p>
            <a:pPr marL="800100" lvl="1" indent="-342900">
              <a:spcBef>
                <a:spcPct val="20000"/>
              </a:spcBef>
              <a:buFontTx/>
              <a:buChar char="•"/>
              <a:defRPr/>
            </a:pPr>
            <a:r>
              <a:rPr lang="en-US" kern="0" dirty="0">
                <a:solidFill>
                  <a:srgbClr val="C00000"/>
                </a:solidFill>
                <a:latin typeface="Calibri" pitchFamily="34" charset="0"/>
                <a:ea typeface="Calibri" pitchFamily="34" charset="0"/>
                <a:cs typeface="Calibri" pitchFamily="34" charset="0"/>
              </a:rPr>
              <a:t>Physics/Chemistry: </a:t>
            </a:r>
            <a:r>
              <a:rPr lang="en-US" kern="0" dirty="0">
                <a:latin typeface="Calibri" pitchFamily="34" charset="0"/>
                <a:ea typeface="Calibri" pitchFamily="34" charset="0"/>
                <a:cs typeface="Calibri" pitchFamily="34" charset="0"/>
              </a:rPr>
              <a:t>fluid mechanics, chemical reactions, physical systems</a:t>
            </a:r>
          </a:p>
          <a:p>
            <a:pPr marL="800100" lvl="1" indent="-342900">
              <a:spcBef>
                <a:spcPct val="20000"/>
              </a:spcBef>
              <a:buFontTx/>
              <a:buChar char="•"/>
              <a:defRPr/>
            </a:pPr>
            <a:r>
              <a:rPr lang="en-US" kern="0" dirty="0">
                <a:latin typeface="Calibri" pitchFamily="34" charset="0"/>
                <a:ea typeface="Calibri" pitchFamily="34" charset="0"/>
                <a:cs typeface="Calibri" pitchFamily="34" charset="0"/>
              </a:rPr>
              <a:t>Many other examples: mining, public sector, telecommunications, emergency response…</a:t>
            </a:r>
            <a:endParaRPr lang="en-US" dirty="0"/>
          </a:p>
        </p:txBody>
      </p:sp>
      <p:pic>
        <p:nvPicPr>
          <p:cNvPr id="4" name="Picture 3"/>
          <p:cNvPicPr>
            <a:picLocks noChangeAspect="1"/>
          </p:cNvPicPr>
          <p:nvPr/>
        </p:nvPicPr>
        <p:blipFill>
          <a:blip r:embed="rId2"/>
          <a:stretch>
            <a:fillRect/>
          </a:stretch>
        </p:blipFill>
        <p:spPr>
          <a:xfrm>
            <a:off x="9952892" y="4104606"/>
            <a:ext cx="1580825" cy="1144401"/>
          </a:xfrm>
          <a:prstGeom prst="rect">
            <a:avLst/>
          </a:prstGeom>
        </p:spPr>
      </p:pic>
      <p:pic>
        <p:nvPicPr>
          <p:cNvPr id="5" name="Picture 4"/>
          <p:cNvPicPr>
            <a:picLocks noChangeAspect="1"/>
          </p:cNvPicPr>
          <p:nvPr/>
        </p:nvPicPr>
        <p:blipFill>
          <a:blip r:embed="rId3"/>
          <a:stretch>
            <a:fillRect/>
          </a:stretch>
        </p:blipFill>
        <p:spPr>
          <a:xfrm>
            <a:off x="8777417" y="3461553"/>
            <a:ext cx="1321794" cy="1087001"/>
          </a:xfrm>
          <a:prstGeom prst="rect">
            <a:avLst/>
          </a:prstGeom>
        </p:spPr>
      </p:pic>
      <p:pic>
        <p:nvPicPr>
          <p:cNvPr id="6" name="Picture 5"/>
          <p:cNvPicPr>
            <a:picLocks noChangeAspect="1"/>
          </p:cNvPicPr>
          <p:nvPr/>
        </p:nvPicPr>
        <p:blipFill>
          <a:blip r:embed="rId4"/>
          <a:stretch>
            <a:fillRect/>
          </a:stretch>
        </p:blipFill>
        <p:spPr>
          <a:xfrm>
            <a:off x="10264573" y="3050236"/>
            <a:ext cx="1568839" cy="966715"/>
          </a:xfrm>
          <a:prstGeom prst="rect">
            <a:avLst/>
          </a:prstGeom>
        </p:spPr>
      </p:pic>
      <p:pic>
        <p:nvPicPr>
          <p:cNvPr id="7" name="Picture 6"/>
          <p:cNvPicPr>
            <a:picLocks noChangeAspect="1"/>
          </p:cNvPicPr>
          <p:nvPr/>
        </p:nvPicPr>
        <p:blipFill>
          <a:blip r:embed="rId5"/>
          <a:stretch>
            <a:fillRect/>
          </a:stretch>
        </p:blipFill>
        <p:spPr>
          <a:xfrm>
            <a:off x="8903306" y="1992924"/>
            <a:ext cx="1807342" cy="1049424"/>
          </a:xfrm>
          <a:prstGeom prst="rect">
            <a:avLst/>
          </a:prstGeom>
        </p:spPr>
      </p:pic>
      <p:pic>
        <p:nvPicPr>
          <p:cNvPr id="8" name="Picture 7"/>
          <p:cNvPicPr>
            <a:picLocks noChangeAspect="1"/>
          </p:cNvPicPr>
          <p:nvPr/>
        </p:nvPicPr>
        <p:blipFill>
          <a:blip r:embed="rId6"/>
          <a:stretch>
            <a:fillRect/>
          </a:stretch>
        </p:blipFill>
        <p:spPr>
          <a:xfrm>
            <a:off x="8903306" y="4896010"/>
            <a:ext cx="1519756" cy="1145022"/>
          </a:xfrm>
          <a:prstGeom prst="rect">
            <a:avLst/>
          </a:prstGeom>
        </p:spPr>
      </p:pic>
      <p:pic>
        <p:nvPicPr>
          <p:cNvPr id="9" name="Picture 8"/>
          <p:cNvPicPr>
            <a:picLocks noChangeAspect="1"/>
          </p:cNvPicPr>
          <p:nvPr/>
        </p:nvPicPr>
        <p:blipFill>
          <a:blip r:embed="rId7"/>
          <a:stretch>
            <a:fillRect/>
          </a:stretch>
        </p:blipFill>
        <p:spPr>
          <a:xfrm>
            <a:off x="10423062" y="1813127"/>
            <a:ext cx="1427884" cy="781660"/>
          </a:xfrm>
          <a:prstGeom prst="rect">
            <a:avLst/>
          </a:prstGeom>
        </p:spPr>
      </p:pic>
    </p:spTree>
    <p:extLst>
      <p:ext uri="{BB962C8B-B14F-4D97-AF65-F5344CB8AC3E}">
        <p14:creationId xmlns:p14="http://schemas.microsoft.com/office/powerpoint/2010/main" val="1413665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and Models</a:t>
            </a:r>
          </a:p>
        </p:txBody>
      </p:sp>
      <p:sp>
        <p:nvSpPr>
          <p:cNvPr id="3" name="Content Placeholder 2"/>
          <p:cNvSpPr>
            <a:spLocks noGrp="1"/>
          </p:cNvSpPr>
          <p:nvPr>
            <p:ph idx="1"/>
          </p:nvPr>
        </p:nvSpPr>
        <p:spPr>
          <a:xfrm>
            <a:off x="355002" y="1312433"/>
            <a:ext cx="11478410" cy="4864530"/>
          </a:xfrm>
        </p:spPr>
        <p:txBody>
          <a:bodyPr>
            <a:normAutofit lnSpcReduction="10000"/>
          </a:bodyPr>
          <a:lstStyle/>
          <a:p>
            <a:r>
              <a:rPr lang="en-US" dirty="0"/>
              <a:t>Why simulation?</a:t>
            </a:r>
          </a:p>
          <a:p>
            <a:pPr lvl="1"/>
            <a:r>
              <a:rPr lang="en-US" dirty="0"/>
              <a:t>We need to study systems</a:t>
            </a:r>
          </a:p>
          <a:p>
            <a:pPr lvl="2"/>
            <a:r>
              <a:rPr lang="en-US" dirty="0"/>
              <a:t>To design new systems, improve system performance, solve problems affecting the system</a:t>
            </a:r>
          </a:p>
          <a:p>
            <a:pPr lvl="1"/>
            <a:r>
              <a:rPr lang="en-US" dirty="0"/>
              <a:t>We use models to study systems</a:t>
            </a:r>
          </a:p>
          <a:p>
            <a:pPr lvl="2"/>
            <a:r>
              <a:rPr lang="en-US" dirty="0"/>
              <a:t>Physical models (not suitable for large complex systems), analytical models (if we can analytically model the exact system, we will use the analytical model), simulation models (when the analytical models are not exact or do not exist at all)</a:t>
            </a:r>
          </a:p>
          <a:p>
            <a:pPr lvl="2"/>
            <a:r>
              <a:rPr lang="en-US" dirty="0"/>
              <a:t>So, in many cases, we need simulation models to study the (typically complex) systems</a:t>
            </a:r>
          </a:p>
          <a:p>
            <a:pPr lvl="3"/>
            <a:r>
              <a:rPr lang="en-US" dirty="0"/>
              <a:t>The objects and process are related</a:t>
            </a:r>
          </a:p>
          <a:p>
            <a:pPr lvl="3"/>
            <a:endParaRPr lang="en-US" dirty="0"/>
          </a:p>
          <a:p>
            <a:pPr lvl="3"/>
            <a:r>
              <a:rPr lang="en-US" dirty="0"/>
              <a:t>There is randomness (breaks, failures, environmental changes, etc.)</a:t>
            </a:r>
          </a:p>
          <a:p>
            <a:pPr lvl="3"/>
            <a:endParaRPr lang="en-US" dirty="0"/>
          </a:p>
          <a:p>
            <a:pPr lvl="3"/>
            <a:r>
              <a:rPr lang="en-US" dirty="0"/>
              <a:t>Combined relations and randomness make analyses complex</a:t>
            </a:r>
          </a:p>
          <a:p>
            <a:pPr lvl="3"/>
            <a:endParaRPr lang="en-US" dirty="0"/>
          </a:p>
          <a:p>
            <a:pPr lvl="3"/>
            <a:endParaRPr lang="en-US" dirty="0"/>
          </a:p>
          <a:p>
            <a:pPr lvl="3"/>
            <a:r>
              <a:rPr lang="en-US" dirty="0"/>
              <a:t>Simulation is uniquely capable of managing this complexity.</a:t>
            </a:r>
          </a:p>
          <a:p>
            <a:pPr lvl="3"/>
            <a:endParaRPr lang="en-US" dirty="0"/>
          </a:p>
          <a:p>
            <a:pPr lvl="2"/>
            <a:endParaRPr lang="en-US" dirty="0"/>
          </a:p>
        </p:txBody>
      </p:sp>
      <p:pic>
        <p:nvPicPr>
          <p:cNvPr id="4" name="Picture 6" descr="Dominosteine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2448" y="3874476"/>
            <a:ext cx="940045" cy="571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Wuerfe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90999" y="4067618"/>
            <a:ext cx="1123096" cy="87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p:cNvPicPr>
          <p:nvPr/>
        </p:nvPicPr>
        <p:blipFill>
          <a:blip r:embed="rId5"/>
          <a:stretch>
            <a:fillRect/>
          </a:stretch>
        </p:blipFill>
        <p:spPr>
          <a:xfrm>
            <a:off x="8054487" y="5002836"/>
            <a:ext cx="3176221" cy="703965"/>
          </a:xfrm>
          <a:prstGeom prst="rect">
            <a:avLst/>
          </a:prstGeom>
        </p:spPr>
      </p:pic>
    </p:spTree>
    <p:extLst>
      <p:ext uri="{BB962C8B-B14F-4D97-AF65-F5344CB8AC3E}">
        <p14:creationId xmlns:p14="http://schemas.microsoft.com/office/powerpoint/2010/main" val="242906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and Models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55002" y="1312433"/>
                <a:ext cx="11478410" cy="4864530"/>
              </a:xfrm>
            </p:spPr>
            <p:txBody>
              <a:bodyPr>
                <a:normAutofit/>
              </a:bodyPr>
              <a:lstStyle/>
              <a:p>
                <a:r>
                  <a:rPr lang="en-US" dirty="0"/>
                  <a:t>An example from a research study (not in the book):</a:t>
                </a:r>
              </a:p>
              <a:p>
                <a:pPr lvl="1"/>
                <a:r>
                  <a:rPr lang="en-US" dirty="0"/>
                  <a:t>Stochastic inventory system: </a:t>
                </a:r>
                <a14:m>
                  <m:oMath xmlns:m="http://schemas.openxmlformats.org/officeDocument/2006/math">
                    <m:r>
                      <a:rPr lang="en-US" i="1" dirty="0" smtClean="0">
                        <a:latin typeface="Cambria Math" panose="02040503050406030204" pitchFamily="18" charset="0"/>
                      </a:rPr>
                      <m:t>(</m:t>
                    </m:r>
                    <m:r>
                      <a:rPr lang="en-US" i="1" dirty="0" err="1" smtClean="0">
                        <a:latin typeface="Cambria Math" panose="02040503050406030204" pitchFamily="18" charset="0"/>
                      </a:rPr>
                      <m:t>𝑄</m:t>
                    </m:r>
                    <m:r>
                      <a:rPr lang="en-US" i="1" dirty="0" err="1" smtClean="0">
                        <a:latin typeface="Cambria Math" panose="02040503050406030204" pitchFamily="18" charset="0"/>
                      </a:rPr>
                      <m:t>,</m:t>
                    </m:r>
                    <m:r>
                      <a:rPr lang="en-US" b="0" i="1" dirty="0" smtClean="0">
                        <a:latin typeface="Cambria Math" panose="02040503050406030204" pitchFamily="18" charset="0"/>
                      </a:rPr>
                      <m:t>𝑅</m:t>
                    </m:r>
                    <m:r>
                      <a:rPr lang="en-US" i="1" dirty="0" smtClean="0">
                        <a:latin typeface="Cambria Math" panose="02040503050406030204" pitchFamily="18" charset="0"/>
                      </a:rPr>
                      <m:t>) </m:t>
                    </m:r>
                  </m:oMath>
                </a14:m>
                <a:r>
                  <a:rPr lang="en-US" dirty="0"/>
                  <a:t>policy</a:t>
                </a:r>
              </a:p>
              <a:p>
                <a:pPr lvl="2"/>
                <a:r>
                  <a:rPr lang="en-US" dirty="0"/>
                  <a:t>Continuous review system: Inventory is continuously reviewed (we know inventory at any time)</a:t>
                </a:r>
              </a:p>
              <a:p>
                <a:pPr lvl="2"/>
                <a:r>
                  <a:rPr lang="en-US" dirty="0"/>
                  <a:t>Order </a:t>
                </a:r>
                <a14:m>
                  <m:oMath xmlns:m="http://schemas.openxmlformats.org/officeDocument/2006/math">
                    <m:r>
                      <a:rPr lang="en-US" i="1" dirty="0" smtClean="0">
                        <a:latin typeface="Cambria Math" panose="02040503050406030204" pitchFamily="18" charset="0"/>
                      </a:rPr>
                      <m:t>𝑄</m:t>
                    </m:r>
                  </m:oMath>
                </a14:m>
                <a:r>
                  <a:rPr lang="en-US" dirty="0"/>
                  <a:t> units when the inventory level drops to </a:t>
                </a:r>
                <a14:m>
                  <m:oMath xmlns:m="http://schemas.openxmlformats.org/officeDocument/2006/math">
                    <m:r>
                      <a:rPr lang="en-US" b="0" i="1" dirty="0" smtClean="0">
                        <a:latin typeface="Cambria Math" panose="02040503050406030204" pitchFamily="18" charset="0"/>
                      </a:rPr>
                      <m:t>𝑅</m:t>
                    </m:r>
                  </m:oMath>
                </a14:m>
                <a:r>
                  <a:rPr lang="en-US" dirty="0"/>
                  <a:t> units</a:t>
                </a:r>
              </a:p>
              <a:p>
                <a:pPr lvl="2"/>
                <a:r>
                  <a:rPr lang="en-US" dirty="0"/>
                  <a:t>It takes some time to receive the order (delivery lead time, say </a:t>
                </a:r>
                <a14:m>
                  <m:oMath xmlns:m="http://schemas.openxmlformats.org/officeDocument/2006/math">
                    <m:r>
                      <a:rPr lang="en-US" b="0" i="1" smtClean="0">
                        <a:latin typeface="Cambria Math" panose="02040503050406030204" pitchFamily="18" charset="0"/>
                      </a:rPr>
                      <m:t>ℓ</m:t>
                    </m:r>
                  </m:oMath>
                </a14:m>
                <a:r>
                  <a:rPr lang="en-US" dirty="0"/>
                  <a:t> time units)</a:t>
                </a:r>
              </a:p>
              <a:p>
                <a:pPr lvl="2"/>
                <a:r>
                  <a:rPr lang="en-US" dirty="0"/>
                  <a:t>During the lead time, </a:t>
                </a:r>
              </a:p>
              <a:p>
                <a:pPr lvl="3"/>
                <a:r>
                  <a:rPr lang="en-US" dirty="0"/>
                  <a:t>The (lead-time) demand can be less than </a:t>
                </a:r>
                <a14:m>
                  <m:oMath xmlns:m="http://schemas.openxmlformats.org/officeDocument/2006/math">
                    <m:r>
                      <a:rPr lang="en-US" b="0" i="1" dirty="0" smtClean="0">
                        <a:latin typeface="Cambria Math" panose="02040503050406030204" pitchFamily="18" charset="0"/>
                      </a:rPr>
                      <m:t>𝑅</m:t>
                    </m:r>
                  </m:oMath>
                </a14:m>
                <a:r>
                  <a:rPr lang="en-US" dirty="0"/>
                  <a:t> </a:t>
                </a:r>
                <a:r>
                  <a:rPr lang="en-US" dirty="0">
                    <a:sym typeface="Wingdings" panose="05000000000000000000" pitchFamily="2" charset="2"/>
                  </a:rPr>
                  <a:t> So no backorders but unnecessary inventory is carried</a:t>
                </a:r>
              </a:p>
              <a:p>
                <a:pPr lvl="3"/>
                <a:r>
                  <a:rPr lang="en-US" dirty="0">
                    <a:sym typeface="Wingdings" panose="05000000000000000000" pitchFamily="2" charset="2"/>
                  </a:rPr>
                  <a:t>The (lead-time) demand can be more than </a:t>
                </a:r>
                <a14:m>
                  <m:oMath xmlns:m="http://schemas.openxmlformats.org/officeDocument/2006/math">
                    <m:r>
                      <a:rPr lang="en-US" b="0" i="1" dirty="0" smtClean="0">
                        <a:latin typeface="Cambria Math" panose="02040503050406030204" pitchFamily="18" charset="0"/>
                        <a:sym typeface="Wingdings" panose="05000000000000000000" pitchFamily="2" charset="2"/>
                      </a:rPr>
                      <m:t>𝑅</m:t>
                    </m:r>
                  </m:oMath>
                </a14:m>
                <a:r>
                  <a:rPr lang="en-US" dirty="0">
                    <a:sym typeface="Wingdings" panose="05000000000000000000" pitchFamily="2" charset="2"/>
                  </a:rPr>
                  <a:t>  No unnecessary inventory but there are backorders</a:t>
                </a: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4864530"/>
              </a:xfrm>
              <a:blipFill>
                <a:blip r:embed="rId2"/>
                <a:stretch>
                  <a:fillRect l="-956" t="-2005"/>
                </a:stretch>
              </a:blipFill>
            </p:spPr>
            <p:txBody>
              <a:bodyPr/>
              <a:lstStyle/>
              <a:p>
                <a:r>
                  <a:rPr lang="en-US">
                    <a:noFill/>
                  </a:rPr>
                  <a:t> </a:t>
                </a:r>
              </a:p>
            </p:txBody>
          </p:sp>
        </mc:Fallback>
      </mc:AlternateContent>
      <p:pic>
        <p:nvPicPr>
          <p:cNvPr id="8" name="Picture 7"/>
          <p:cNvPicPr>
            <a:picLocks noChangeAspect="1"/>
          </p:cNvPicPr>
          <p:nvPr/>
        </p:nvPicPr>
        <p:blipFill>
          <a:blip r:embed="rId3"/>
          <a:stretch>
            <a:fillRect/>
          </a:stretch>
        </p:blipFill>
        <p:spPr>
          <a:xfrm>
            <a:off x="2900729" y="4208090"/>
            <a:ext cx="6512902" cy="2076450"/>
          </a:xfrm>
          <a:prstGeom prst="rect">
            <a:avLst/>
          </a:prstGeom>
        </p:spPr>
      </p:pic>
      <p:sp>
        <p:nvSpPr>
          <p:cNvPr id="9" name="TextBox 8"/>
          <p:cNvSpPr txBox="1"/>
          <p:nvPr/>
        </p:nvSpPr>
        <p:spPr>
          <a:xfrm>
            <a:off x="9577754" y="4830816"/>
            <a:ext cx="1910861" cy="830997"/>
          </a:xfrm>
          <a:prstGeom prst="rect">
            <a:avLst/>
          </a:prstGeom>
          <a:noFill/>
        </p:spPr>
        <p:txBody>
          <a:bodyPr wrap="square" rtlCol="0">
            <a:spAutoFit/>
          </a:bodyPr>
          <a:lstStyle/>
          <a:p>
            <a:r>
              <a:rPr lang="en-US" sz="1600" i="1" dirty="0"/>
              <a:t>D</a:t>
            </a:r>
            <a:r>
              <a:rPr lang="en-US" sz="1600" dirty="0"/>
              <a:t> is the random demand during the lead time</a:t>
            </a:r>
          </a:p>
        </p:txBody>
      </p:sp>
    </p:spTree>
    <p:extLst>
      <p:ext uri="{BB962C8B-B14F-4D97-AF65-F5344CB8AC3E}">
        <p14:creationId xmlns:p14="http://schemas.microsoft.com/office/powerpoint/2010/main" val="3246177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3331764" y="5015594"/>
            <a:ext cx="5230479" cy="911851"/>
          </a:xfrm>
          <a:prstGeom prst="rect">
            <a:avLst/>
          </a:prstGeom>
        </p:spPr>
      </p:pic>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55002" y="1312433"/>
                <a:ext cx="11478410" cy="4522588"/>
              </a:xfrm>
            </p:spPr>
            <p:txBody>
              <a:bodyPr>
                <a:normAutofit/>
              </a:bodyPr>
              <a:lstStyle/>
              <a:p>
                <a:r>
                  <a:rPr lang="en-US" dirty="0"/>
                  <a:t>An example from a research study (not in the book):</a:t>
                </a:r>
              </a:p>
              <a:p>
                <a:pPr lvl="1"/>
                <a:r>
                  <a:rPr lang="en-US" dirty="0"/>
                  <a:t>Stochastic inventory control: </a:t>
                </a:r>
                <a14:m>
                  <m:oMath xmlns:m="http://schemas.openxmlformats.org/officeDocument/2006/math">
                    <m:r>
                      <a:rPr lang="en-US" i="1" dirty="0" smtClean="0">
                        <a:latin typeface="Cambria Math" panose="02040503050406030204" pitchFamily="18" charset="0"/>
                      </a:rPr>
                      <m:t>(</m:t>
                    </m:r>
                    <m:r>
                      <a:rPr lang="en-US" i="1" dirty="0" err="1" smtClean="0">
                        <a:latin typeface="Cambria Math" panose="02040503050406030204" pitchFamily="18" charset="0"/>
                      </a:rPr>
                      <m:t>𝑄</m:t>
                    </m:r>
                    <m:r>
                      <a:rPr lang="en-US" i="1" dirty="0" err="1" smtClean="0">
                        <a:latin typeface="Cambria Math" panose="02040503050406030204" pitchFamily="18" charset="0"/>
                      </a:rPr>
                      <m:t>,</m:t>
                    </m:r>
                    <m:r>
                      <a:rPr lang="en-US" b="0" i="1" dirty="0" smtClean="0">
                        <a:latin typeface="Cambria Math" panose="02040503050406030204" pitchFamily="18" charset="0"/>
                      </a:rPr>
                      <m:t>𝑅</m:t>
                    </m:r>
                    <m:r>
                      <a:rPr lang="en-US" i="1" dirty="0" smtClean="0">
                        <a:latin typeface="Cambria Math" panose="02040503050406030204" pitchFamily="18" charset="0"/>
                      </a:rPr>
                      <m:t>) </m:t>
                    </m:r>
                  </m:oMath>
                </a14:m>
                <a:r>
                  <a:rPr lang="en-US" dirty="0"/>
                  <a:t>policy</a:t>
                </a:r>
              </a:p>
              <a:p>
                <a:pPr lvl="2"/>
                <a:r>
                  <a:rPr lang="en-US" dirty="0"/>
                  <a:t>The objective is to find Q and R values to minimize expected costs per unit time</a:t>
                </a:r>
              </a:p>
              <a:p>
                <a:pPr lvl="2"/>
                <a:endParaRPr lang="en-US" dirty="0"/>
              </a:p>
              <a:p>
                <a:pPr lvl="2"/>
                <a:endParaRPr lang="en-US" dirty="0"/>
              </a:p>
              <a:p>
                <a:pPr lvl="2"/>
                <a:endParaRPr lang="en-US" dirty="0"/>
              </a:p>
              <a:p>
                <a:pPr lvl="2"/>
                <a:endParaRPr lang="en-US" dirty="0"/>
              </a:p>
              <a:p>
                <a:pPr lvl="2"/>
                <a:endParaRPr lang="en-US" dirty="0"/>
              </a:p>
              <a:p>
                <a:pPr lvl="2"/>
                <a:endParaRPr lang="en-US" dirty="0" smtClean="0"/>
              </a:p>
              <a:p>
                <a:pPr marL="914400" lvl="2" indent="0">
                  <a:buNone/>
                </a:pPr>
                <a:endParaRPr lang="en-US" dirty="0"/>
              </a:p>
              <a:p>
                <a:pPr lvl="2"/>
                <a:r>
                  <a:rPr lang="en-US" dirty="0"/>
                  <a:t>There is an analytical model to minimize the (approximated) expected costs per unit time</a:t>
                </a:r>
              </a:p>
              <a:p>
                <a:pPr lvl="2"/>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4522588"/>
              </a:xfrm>
              <a:blipFill>
                <a:blip r:embed="rId3"/>
                <a:stretch>
                  <a:fillRect l="-956" t="-2156"/>
                </a:stretch>
              </a:blipFill>
            </p:spPr>
            <p:txBody>
              <a:bodyPr/>
              <a:lstStyle/>
              <a:p>
                <a:r>
                  <a:rPr lang="en-US">
                    <a:noFill/>
                  </a:rPr>
                  <a:t> </a:t>
                </a:r>
              </a:p>
            </p:txBody>
          </p:sp>
        </mc:Fallback>
      </mc:AlternateContent>
      <p:pic>
        <p:nvPicPr>
          <p:cNvPr id="8" name="Picture 7"/>
          <p:cNvPicPr>
            <a:picLocks noChangeAspect="1"/>
          </p:cNvPicPr>
          <p:nvPr/>
        </p:nvPicPr>
        <p:blipFill>
          <a:blip r:embed="rId4"/>
          <a:stretch>
            <a:fillRect/>
          </a:stretch>
        </p:blipFill>
        <p:spPr>
          <a:xfrm>
            <a:off x="1316625" y="2717764"/>
            <a:ext cx="4119772" cy="2106813"/>
          </a:xfrm>
          <a:prstGeom prst="rect">
            <a:avLst/>
          </a:prstGeom>
        </p:spPr>
      </p:pic>
      <p:sp>
        <p:nvSpPr>
          <p:cNvPr id="2" name="Title 1"/>
          <p:cNvSpPr>
            <a:spLocks noGrp="1"/>
          </p:cNvSpPr>
          <p:nvPr>
            <p:ph type="title"/>
          </p:nvPr>
        </p:nvSpPr>
        <p:spPr/>
        <p:txBody>
          <a:bodyPr/>
          <a:lstStyle/>
          <a:p>
            <a:r>
              <a:rPr lang="en-US" dirty="0"/>
              <a:t>Systems and Models</a:t>
            </a:r>
          </a:p>
        </p:txBody>
      </p:sp>
      <p:sp>
        <p:nvSpPr>
          <p:cNvPr id="5" name="Oval Callout 4"/>
          <p:cNvSpPr/>
          <p:nvPr/>
        </p:nvSpPr>
        <p:spPr>
          <a:xfrm>
            <a:off x="5774472" y="2689072"/>
            <a:ext cx="2860432" cy="656493"/>
          </a:xfrm>
          <a:prstGeom prst="wedgeEllipseCallout">
            <a:avLst>
              <a:gd name="adj1" fmla="val -160730"/>
              <a:gd name="adj2" fmla="val 142669"/>
            </a:avLst>
          </a:prstGeom>
          <a:noFill/>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No backorder but excess inventory</a:t>
            </a:r>
          </a:p>
        </p:txBody>
      </p:sp>
      <p:sp>
        <p:nvSpPr>
          <p:cNvPr id="6" name="Oval Callout 5"/>
          <p:cNvSpPr/>
          <p:nvPr/>
        </p:nvSpPr>
        <p:spPr>
          <a:xfrm>
            <a:off x="8176592" y="3238150"/>
            <a:ext cx="2860432" cy="656493"/>
          </a:xfrm>
          <a:prstGeom prst="wedgeEllipseCallout">
            <a:avLst>
              <a:gd name="adj1" fmla="val -206222"/>
              <a:gd name="adj2" fmla="val 73027"/>
            </a:avLst>
          </a:prstGeom>
          <a:noFill/>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No backorder but excess inventory</a:t>
            </a:r>
          </a:p>
        </p:txBody>
      </p:sp>
      <p:sp>
        <p:nvSpPr>
          <p:cNvPr id="7" name="Oval Callout 6"/>
          <p:cNvSpPr/>
          <p:nvPr/>
        </p:nvSpPr>
        <p:spPr>
          <a:xfrm>
            <a:off x="7285621" y="3917438"/>
            <a:ext cx="3043066" cy="656493"/>
          </a:xfrm>
          <a:prstGeom prst="wedgeEllipseCallout">
            <a:avLst>
              <a:gd name="adj1" fmla="val -126984"/>
              <a:gd name="adj2" fmla="val 28384"/>
            </a:avLst>
          </a:prstGeom>
          <a:noFill/>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No excess inventory but backorders</a:t>
            </a:r>
          </a:p>
        </p:txBody>
      </p:sp>
      <p:sp>
        <p:nvSpPr>
          <p:cNvPr id="10" name="Right Brace 9"/>
          <p:cNvSpPr/>
          <p:nvPr/>
        </p:nvSpPr>
        <p:spPr>
          <a:xfrm rot="5400000">
            <a:off x="5509845" y="4895814"/>
            <a:ext cx="351693" cy="1711569"/>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Right Brace 10"/>
          <p:cNvSpPr/>
          <p:nvPr/>
        </p:nvSpPr>
        <p:spPr>
          <a:xfrm rot="5400000">
            <a:off x="6863082" y="5394423"/>
            <a:ext cx="399742" cy="762401"/>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e 11"/>
          <p:cNvSpPr/>
          <p:nvPr/>
        </p:nvSpPr>
        <p:spPr>
          <a:xfrm rot="5400000">
            <a:off x="7796187" y="5407040"/>
            <a:ext cx="385379" cy="722803"/>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5085300" y="6013401"/>
            <a:ext cx="1271059" cy="830997"/>
          </a:xfrm>
          <a:prstGeom prst="rect">
            <a:avLst/>
          </a:prstGeom>
          <a:noFill/>
        </p:spPr>
        <p:txBody>
          <a:bodyPr wrap="square" rtlCol="0">
            <a:spAutoFit/>
          </a:bodyPr>
          <a:lstStyle/>
          <a:p>
            <a:pPr algn="ctr"/>
            <a:r>
              <a:rPr lang="en-US" sz="1600" dirty="0"/>
              <a:t>Exp. Inventory holding cost</a:t>
            </a:r>
          </a:p>
        </p:txBody>
      </p:sp>
      <p:sp>
        <p:nvSpPr>
          <p:cNvPr id="14" name="TextBox 13"/>
          <p:cNvSpPr txBox="1"/>
          <p:nvPr/>
        </p:nvSpPr>
        <p:spPr>
          <a:xfrm>
            <a:off x="6382317" y="6026038"/>
            <a:ext cx="1245158" cy="830997"/>
          </a:xfrm>
          <a:prstGeom prst="rect">
            <a:avLst/>
          </a:prstGeom>
          <a:noFill/>
        </p:spPr>
        <p:txBody>
          <a:bodyPr wrap="square" rtlCol="0">
            <a:spAutoFit/>
          </a:bodyPr>
          <a:lstStyle/>
          <a:p>
            <a:pPr algn="ctr"/>
            <a:r>
              <a:rPr lang="en-US" sz="1600" dirty="0"/>
              <a:t>Exp. Ordering cost</a:t>
            </a:r>
          </a:p>
        </p:txBody>
      </p:sp>
      <p:sp>
        <p:nvSpPr>
          <p:cNvPr id="15" name="TextBox 14"/>
          <p:cNvSpPr txBox="1"/>
          <p:nvPr/>
        </p:nvSpPr>
        <p:spPr>
          <a:xfrm>
            <a:off x="7422894" y="6026038"/>
            <a:ext cx="1334243" cy="830997"/>
          </a:xfrm>
          <a:prstGeom prst="rect">
            <a:avLst/>
          </a:prstGeom>
          <a:noFill/>
        </p:spPr>
        <p:txBody>
          <a:bodyPr wrap="square" rtlCol="0">
            <a:spAutoFit/>
          </a:bodyPr>
          <a:lstStyle/>
          <a:p>
            <a:pPr algn="ctr"/>
            <a:r>
              <a:rPr lang="en-US" sz="1600" dirty="0"/>
              <a:t>Exp. Backorder-Penalty cost</a:t>
            </a:r>
          </a:p>
        </p:txBody>
      </p:sp>
    </p:spTree>
    <p:extLst>
      <p:ext uri="{BB962C8B-B14F-4D97-AF65-F5344CB8AC3E}">
        <p14:creationId xmlns:p14="http://schemas.microsoft.com/office/powerpoint/2010/main" val="56384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0" grpId="0" animBg="1"/>
      <p:bldP spid="11" grpId="0" animBg="1"/>
      <p:bldP spid="12" grpId="0" animBg="1"/>
      <p:bldP spid="13" grpId="0"/>
      <p:bldP spid="14" grpId="0"/>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and Models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4864530"/>
              </a:xfrm>
            </p:spPr>
            <p:txBody>
              <a:bodyPr>
                <a:normAutofit lnSpcReduction="10000"/>
              </a:bodyPr>
              <a:lstStyle/>
              <a:p>
                <a:r>
                  <a:rPr lang="en-US" dirty="0"/>
                  <a:t>An example from a research study (not in the book):</a:t>
                </a:r>
              </a:p>
              <a:p>
                <a:pPr lvl="1"/>
                <a:r>
                  <a:rPr lang="en-US" dirty="0"/>
                  <a:t>Stochastic inventory control: </a:t>
                </a:r>
                <a14:m>
                  <m:oMath xmlns:m="http://schemas.openxmlformats.org/officeDocument/2006/math">
                    <m:r>
                      <a:rPr lang="en-US" i="1" dirty="0" smtClean="0">
                        <a:latin typeface="Cambria Math" panose="02040503050406030204" pitchFamily="18" charset="0"/>
                      </a:rPr>
                      <m:t>(</m:t>
                    </m:r>
                    <m:r>
                      <a:rPr lang="en-US" i="1" dirty="0" err="1" smtClean="0">
                        <a:latin typeface="Cambria Math" panose="02040503050406030204" pitchFamily="18" charset="0"/>
                      </a:rPr>
                      <m:t>𝑄</m:t>
                    </m:r>
                    <m:r>
                      <a:rPr lang="en-US" i="1" dirty="0" err="1" smtClean="0">
                        <a:latin typeface="Cambria Math" panose="02040503050406030204" pitchFamily="18" charset="0"/>
                      </a:rPr>
                      <m:t>,</m:t>
                    </m:r>
                    <m:r>
                      <a:rPr lang="en-US" b="0" i="1" dirty="0" smtClean="0">
                        <a:latin typeface="Cambria Math" panose="02040503050406030204" pitchFamily="18" charset="0"/>
                      </a:rPr>
                      <m:t>𝑅</m:t>
                    </m:r>
                    <m:r>
                      <a:rPr lang="en-US" i="1" dirty="0" smtClean="0">
                        <a:latin typeface="Cambria Math" panose="02040503050406030204" pitchFamily="18" charset="0"/>
                      </a:rPr>
                      <m:t>) </m:t>
                    </m:r>
                  </m:oMath>
                </a14:m>
                <a:r>
                  <a:rPr lang="en-US" dirty="0"/>
                  <a:t>policy</a:t>
                </a:r>
              </a:p>
              <a:p>
                <a:pPr lvl="2"/>
                <a:r>
                  <a:rPr lang="en-US" dirty="0"/>
                  <a:t>One use of simulation: is the approximate analytical model accurate?</a:t>
                </a:r>
              </a:p>
              <a:p>
                <a:pPr lvl="3"/>
                <a:r>
                  <a:rPr lang="en-US" dirty="0"/>
                  <a:t>Simulate the system over time </a:t>
                </a:r>
                <a:r>
                  <a:rPr lang="en-US" dirty="0">
                    <a:sym typeface="Wingdings" panose="05000000000000000000" pitchFamily="2" charset="2"/>
                  </a:rPr>
                  <a:t> Get the costs  Compare to the analytical costs</a:t>
                </a:r>
              </a:p>
              <a:p>
                <a:pPr lvl="3"/>
                <a:r>
                  <a:rPr lang="en-US" dirty="0">
                    <a:sym typeface="Wingdings" panose="05000000000000000000" pitchFamily="2" charset="2"/>
                  </a:rPr>
                  <a:t>The analytical model is accurate in most cases!</a:t>
                </a:r>
              </a:p>
              <a:p>
                <a:pPr lvl="2"/>
                <a:r>
                  <a:rPr lang="en-US" dirty="0">
                    <a:sym typeface="Wingdings" panose="05000000000000000000" pitchFamily="2" charset="2"/>
                  </a:rPr>
                  <a:t>The research focus:</a:t>
                </a:r>
              </a:p>
              <a:p>
                <a:pPr lvl="3"/>
                <a:r>
                  <a:rPr lang="en-US" dirty="0">
                    <a:sym typeface="Wingdings" panose="05000000000000000000" pitchFamily="2" charset="2"/>
                  </a:rPr>
                  <a:t>The cost from one cycle to the next changes</a:t>
                </a:r>
              </a:p>
              <a:p>
                <a:pPr lvl="3"/>
                <a:r>
                  <a:rPr lang="en-US" dirty="0">
                    <a:sym typeface="Wingdings" panose="05000000000000000000" pitchFamily="2" charset="2"/>
                  </a:rPr>
                  <a:t>Minimizing expected cost per unit time gives a good policy that minimizes the average costs over time</a:t>
                </a:r>
              </a:p>
              <a:p>
                <a:pPr lvl="3"/>
                <a:r>
                  <a:rPr lang="en-US" dirty="0">
                    <a:sym typeface="Wingdings" panose="05000000000000000000" pitchFamily="2" charset="2"/>
                  </a:rPr>
                  <a:t>But ignores the cost variations between cycles</a:t>
                </a:r>
              </a:p>
              <a:p>
                <a:pPr lvl="4"/>
                <a:r>
                  <a:rPr lang="en-US" dirty="0">
                    <a:sym typeface="Wingdings" panose="05000000000000000000" pitchFamily="2" charset="2"/>
                  </a:rPr>
                  <a:t>In one cycle, your cost can be $1,000 and in the next cycle it is $10,000</a:t>
                </a:r>
              </a:p>
              <a:p>
                <a:pPr lvl="4"/>
                <a:r>
                  <a:rPr lang="en-US" dirty="0">
                    <a:sym typeface="Wingdings" panose="05000000000000000000" pitchFamily="2" charset="2"/>
                  </a:rPr>
                  <a:t>Low cost variation is desirable!</a:t>
                </a:r>
              </a:p>
              <a:p>
                <a:pPr lvl="3"/>
                <a:r>
                  <a:rPr lang="en-US" dirty="0">
                    <a:sym typeface="Wingdings" panose="05000000000000000000" pitchFamily="2" charset="2"/>
                  </a:rPr>
                  <a:t>Try to model the cost variation analytically (only approximate modeling)</a:t>
                </a:r>
              </a:p>
              <a:p>
                <a:pPr lvl="3"/>
                <a:r>
                  <a:rPr lang="en-US" dirty="0">
                    <a:sym typeface="Wingdings" panose="05000000000000000000" pitchFamily="2" charset="2"/>
                  </a:rPr>
                  <a:t>Using approximate analytical modeling, find a policy that will minimize cost variation as well</a:t>
                </a:r>
              </a:p>
              <a:p>
                <a:pPr lvl="3"/>
                <a:r>
                  <a:rPr lang="en-US" dirty="0">
                    <a:sym typeface="Wingdings" panose="05000000000000000000" pitchFamily="2" charset="2"/>
                  </a:rPr>
                  <a:t>But is the analytical model accurate? Is the new policy really reducing the cost variation?</a:t>
                </a:r>
              </a:p>
              <a:p>
                <a:pPr lvl="4"/>
                <a:r>
                  <a:rPr lang="en-US" sz="2800" b="1" dirty="0">
                    <a:solidFill>
                      <a:srgbClr val="C00000"/>
                    </a:solidFill>
                    <a:sym typeface="Wingdings" panose="05000000000000000000" pitchFamily="2" charset="2"/>
                  </a:rPr>
                  <a:t>Simulation</a:t>
                </a:r>
              </a:p>
              <a:p>
                <a:pPr lvl="4"/>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4864530"/>
              </a:xfrm>
              <a:blipFill>
                <a:blip r:embed="rId2"/>
                <a:stretch>
                  <a:fillRect l="-956" t="-2757"/>
                </a:stretch>
              </a:blipFill>
            </p:spPr>
            <p:txBody>
              <a:bodyPr/>
              <a:lstStyle/>
              <a:p>
                <a:r>
                  <a:rPr lang="en-US">
                    <a:noFill/>
                  </a:rPr>
                  <a:t> </a:t>
                </a:r>
              </a:p>
            </p:txBody>
          </p:sp>
        </mc:Fallback>
      </mc:AlternateContent>
    </p:spTree>
    <p:extLst>
      <p:ext uri="{BB962C8B-B14F-4D97-AF65-F5344CB8AC3E}">
        <p14:creationId xmlns:p14="http://schemas.microsoft.com/office/powerpoint/2010/main" val="3444069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768862" y="3906214"/>
            <a:ext cx="3252120" cy="1183024"/>
          </a:xfrm>
          <a:prstGeom prst="rect">
            <a:avLst/>
          </a:prstGeom>
        </p:spPr>
      </p:pic>
      <p:sp>
        <p:nvSpPr>
          <p:cNvPr id="2" name="Title 1"/>
          <p:cNvSpPr>
            <a:spLocks noGrp="1"/>
          </p:cNvSpPr>
          <p:nvPr>
            <p:ph type="title"/>
          </p:nvPr>
        </p:nvSpPr>
        <p:spPr/>
        <p:txBody>
          <a:bodyPr/>
          <a:lstStyle/>
          <a:p>
            <a:r>
              <a:rPr lang="en-US" dirty="0"/>
              <a:t>Randomness and Simulation Process</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t>Randomness is present in most of the systems</a:t>
            </a:r>
          </a:p>
          <a:p>
            <a:pPr lvl="1"/>
            <a:r>
              <a:rPr lang="en-US" dirty="0"/>
              <a:t>Demand by customers, parts</a:t>
            </a:r>
          </a:p>
          <a:p>
            <a:pPr lvl="1"/>
            <a:r>
              <a:rPr lang="en-US" dirty="0"/>
              <a:t>Equipment/personnel failures</a:t>
            </a:r>
          </a:p>
          <a:p>
            <a:pPr lvl="1"/>
            <a:r>
              <a:rPr lang="en-US" dirty="0"/>
              <a:t>Shortages of materials/supplies.</a:t>
            </a:r>
          </a:p>
          <a:p>
            <a:r>
              <a:rPr lang="en-US" dirty="0"/>
              <a:t>Randomness is an important aspect of most systems.</a:t>
            </a:r>
          </a:p>
          <a:p>
            <a:pPr lvl="1"/>
            <a:r>
              <a:rPr lang="en-US" dirty="0"/>
              <a:t>Process times, entity arrivals, service times</a:t>
            </a:r>
          </a:p>
          <a:p>
            <a:r>
              <a:rPr lang="en-US" dirty="0"/>
              <a:t>We cannot know the outcomes with certainty</a:t>
            </a:r>
          </a:p>
          <a:p>
            <a:pPr lvl="1"/>
            <a:r>
              <a:rPr lang="en-US" dirty="0"/>
              <a:t>Using estimates can be invalid</a:t>
            </a:r>
          </a:p>
          <a:p>
            <a:pPr lvl="1"/>
            <a:r>
              <a:rPr lang="en-US" dirty="0"/>
              <a:t>We can model probabilities associated with random outcomes</a:t>
            </a:r>
          </a:p>
          <a:p>
            <a:pPr lvl="1"/>
            <a:r>
              <a:rPr lang="en-US" dirty="0"/>
              <a:t>Makes creating analytical models difficult or impossible</a:t>
            </a:r>
          </a:p>
          <a:p>
            <a:r>
              <a:rPr lang="en-US" dirty="0"/>
              <a:t>Simulation models can handle randomness!</a:t>
            </a:r>
          </a:p>
          <a:p>
            <a:pPr lvl="1"/>
            <a:endParaRPr lang="en-US" dirty="0"/>
          </a:p>
          <a:p>
            <a:endParaRPr lang="en-US" sz="2800" b="1" dirty="0">
              <a:solidFill>
                <a:srgbClr val="C00000"/>
              </a:solidFill>
              <a:sym typeface="Wingdings" panose="05000000000000000000" pitchFamily="2" charset="2"/>
            </a:endParaRPr>
          </a:p>
          <a:p>
            <a:pPr lvl="4"/>
            <a:endParaRPr lang="en-US" dirty="0"/>
          </a:p>
        </p:txBody>
      </p:sp>
      <p:pic>
        <p:nvPicPr>
          <p:cNvPr id="5" name="Picture 4"/>
          <p:cNvPicPr>
            <a:picLocks noChangeAspect="1"/>
          </p:cNvPicPr>
          <p:nvPr/>
        </p:nvPicPr>
        <p:blipFill>
          <a:blip r:embed="rId3"/>
          <a:stretch>
            <a:fillRect/>
          </a:stretch>
        </p:blipFill>
        <p:spPr>
          <a:xfrm>
            <a:off x="9155724" y="1555013"/>
            <a:ext cx="1617784" cy="1263476"/>
          </a:xfrm>
          <a:prstGeom prst="rect">
            <a:avLst/>
          </a:prstGeom>
        </p:spPr>
      </p:pic>
    </p:spTree>
    <p:extLst>
      <p:ext uri="{BB962C8B-B14F-4D97-AF65-F5344CB8AC3E}">
        <p14:creationId xmlns:p14="http://schemas.microsoft.com/office/powerpoint/2010/main" val="1071667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Randomness</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solidFill>
                  <a:srgbClr val="C00000"/>
                </a:solidFill>
              </a:rPr>
              <a:t>Random variables: </a:t>
            </a:r>
            <a:r>
              <a:rPr lang="en-US" dirty="0"/>
              <a:t>a random variable’s outcome depends on chance</a:t>
            </a:r>
          </a:p>
          <a:p>
            <a:pPr lvl="1"/>
            <a:r>
              <a:rPr lang="en-US" dirty="0"/>
              <a:t>Discrete random variables: probability mass function</a:t>
            </a:r>
          </a:p>
          <a:p>
            <a:pPr lvl="1"/>
            <a:r>
              <a:rPr lang="en-US" dirty="0"/>
              <a:t>Continuous random variables: probability density function</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marL="457200" lvl="1" indent="0">
              <a:buNone/>
            </a:pPr>
            <a:endParaRPr lang="en-US" dirty="0"/>
          </a:p>
          <a:p>
            <a:endParaRPr lang="en-US" sz="2800" b="1" dirty="0">
              <a:solidFill>
                <a:srgbClr val="C00000"/>
              </a:solidFill>
              <a:sym typeface="Wingdings" panose="05000000000000000000" pitchFamily="2" charset="2"/>
            </a:endParaRPr>
          </a:p>
          <a:p>
            <a:pPr lvl="4"/>
            <a:endParaRPr lang="en-US" dirty="0"/>
          </a:p>
        </p:txBody>
      </p:sp>
      <p:pic>
        <p:nvPicPr>
          <p:cNvPr id="4" name="Picture 3"/>
          <p:cNvPicPr>
            <a:picLocks noChangeAspect="1"/>
          </p:cNvPicPr>
          <p:nvPr/>
        </p:nvPicPr>
        <p:blipFill>
          <a:blip r:embed="rId2"/>
          <a:stretch>
            <a:fillRect/>
          </a:stretch>
        </p:blipFill>
        <p:spPr>
          <a:xfrm>
            <a:off x="1609396" y="2610454"/>
            <a:ext cx="8003527" cy="2751842"/>
          </a:xfrm>
          <a:prstGeom prst="rect">
            <a:avLst/>
          </a:prstGeom>
        </p:spPr>
      </p:pic>
    </p:spTree>
    <p:extLst>
      <p:ext uri="{BB962C8B-B14F-4D97-AF65-F5344CB8AC3E}">
        <p14:creationId xmlns:p14="http://schemas.microsoft.com/office/powerpoint/2010/main" val="4045377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Randomness</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t>Randomness in simulation:</a:t>
            </a:r>
          </a:p>
          <a:p>
            <a:pPr lvl="1"/>
            <a:r>
              <a:rPr lang="en-US" dirty="0"/>
              <a:t>A simulation model takes input and generates output</a:t>
            </a:r>
          </a:p>
          <a:p>
            <a:pPr lvl="2"/>
            <a:r>
              <a:rPr lang="en-US" dirty="0"/>
              <a:t>Input can be any information about the entities, processes, performance</a:t>
            </a:r>
          </a:p>
          <a:p>
            <a:pPr lvl="2"/>
            <a:r>
              <a:rPr lang="en-US" dirty="0"/>
              <a:t>Output also can be any information related to the entities, processes, performance within the system</a:t>
            </a:r>
          </a:p>
          <a:p>
            <a:pPr lvl="1"/>
            <a:r>
              <a:rPr lang="en-US" dirty="0"/>
              <a:t>When input is random, output will be random as well</a:t>
            </a:r>
          </a:p>
          <a:p>
            <a:pPr lvl="2"/>
            <a:r>
              <a:rPr lang="en-US" dirty="0"/>
              <a:t>Suppose there is a single server single line</a:t>
            </a:r>
          </a:p>
          <a:p>
            <a:pPr lvl="2"/>
            <a:r>
              <a:rPr lang="en-US" dirty="0"/>
              <a:t>We want to find how much customers wait in line?</a:t>
            </a:r>
          </a:p>
          <a:p>
            <a:pPr lvl="2"/>
            <a:r>
              <a:rPr lang="en-US" dirty="0"/>
              <a:t>Customer </a:t>
            </a:r>
            <a:r>
              <a:rPr lang="en-US" dirty="0" err="1"/>
              <a:t>interarrival</a:t>
            </a:r>
            <a:r>
              <a:rPr lang="en-US" dirty="0"/>
              <a:t> time is a random variable (input </a:t>
            </a:r>
            <a:r>
              <a:rPr lang="en-US" dirty="0">
                <a:sym typeface="Wingdings" panose="05000000000000000000" pitchFamily="2" charset="2"/>
              </a:rPr>
              <a:t> generated from past data)</a:t>
            </a:r>
          </a:p>
          <a:p>
            <a:pPr lvl="2"/>
            <a:r>
              <a:rPr lang="en-US" dirty="0">
                <a:sym typeface="Wingdings" panose="05000000000000000000" pitchFamily="2" charset="2"/>
              </a:rPr>
              <a:t>Customer service time is a random variable (input  generated from past data)</a:t>
            </a:r>
            <a:endParaRPr lang="en-US" dirty="0"/>
          </a:p>
          <a:p>
            <a:pPr lvl="2"/>
            <a:r>
              <a:rPr lang="en-US" dirty="0"/>
              <a:t>The amount of time a customer waits will be a random variable (output </a:t>
            </a:r>
            <a:r>
              <a:rPr lang="en-US" dirty="0">
                <a:sym typeface="Wingdings" panose="05000000000000000000" pitchFamily="2" charset="2"/>
              </a:rPr>
              <a:t> simulation generates observations for waiting times of the customers</a:t>
            </a:r>
            <a:r>
              <a:rPr lang="en-US" dirty="0"/>
              <a:t>)</a:t>
            </a:r>
          </a:p>
          <a:p>
            <a:pPr lvl="3"/>
            <a:r>
              <a:rPr lang="en-US" dirty="0"/>
              <a:t>Then we can analyze how customer waiting time behaves!</a:t>
            </a:r>
          </a:p>
          <a:p>
            <a:pPr lvl="1"/>
            <a:endParaRPr lang="en-US" dirty="0"/>
          </a:p>
          <a:p>
            <a:endParaRPr lang="en-US" sz="2800" b="1" dirty="0">
              <a:solidFill>
                <a:srgbClr val="C00000"/>
              </a:solidFill>
              <a:sym typeface="Wingdings" panose="05000000000000000000" pitchFamily="2" charset="2"/>
            </a:endParaRPr>
          </a:p>
          <a:p>
            <a:pPr lvl="4"/>
            <a:endParaRPr lang="en-US" dirty="0"/>
          </a:p>
        </p:txBody>
      </p:sp>
    </p:spTree>
    <p:extLst>
      <p:ext uri="{BB962C8B-B14F-4D97-AF65-F5344CB8AC3E}">
        <p14:creationId xmlns:p14="http://schemas.microsoft.com/office/powerpoint/2010/main" val="1504970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Randomness</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t>Randomness in simulation:</a:t>
            </a:r>
          </a:p>
          <a:p>
            <a:endParaRPr lang="en-US" dirty="0"/>
          </a:p>
          <a:p>
            <a:endParaRPr lang="en-US" dirty="0"/>
          </a:p>
          <a:p>
            <a:endParaRPr lang="en-US" dirty="0"/>
          </a:p>
          <a:p>
            <a:endParaRPr lang="en-US" dirty="0"/>
          </a:p>
          <a:p>
            <a:pPr marL="0" indent="0">
              <a:buNone/>
            </a:pPr>
            <a:endParaRPr lang="en-US" dirty="0"/>
          </a:p>
          <a:p>
            <a:pPr lvl="1"/>
            <a:r>
              <a:rPr lang="en-US" dirty="0"/>
              <a:t>What is the average time a customer spends in the system? (from the moment she enters the system until she completes her process and leaves the system)</a:t>
            </a:r>
          </a:p>
          <a:p>
            <a:pPr lvl="1"/>
            <a:endParaRPr lang="en-US" dirty="0"/>
          </a:p>
          <a:p>
            <a:endParaRPr lang="en-US" sz="2800" b="1" dirty="0">
              <a:solidFill>
                <a:srgbClr val="C00000"/>
              </a:solidFill>
              <a:sym typeface="Wingdings" panose="05000000000000000000" pitchFamily="2" charset="2"/>
            </a:endParaRPr>
          </a:p>
          <a:p>
            <a:pPr lvl="4"/>
            <a:endParaRPr lang="en-US" dirty="0"/>
          </a:p>
        </p:txBody>
      </p:sp>
      <p:sp>
        <p:nvSpPr>
          <p:cNvPr id="4" name="Rectangle 3"/>
          <p:cNvSpPr>
            <a:spLocks noChangeArrowheads="1"/>
          </p:cNvSpPr>
          <p:nvPr/>
        </p:nvSpPr>
        <p:spPr bwMode="auto">
          <a:xfrm>
            <a:off x="5926015" y="3182815"/>
            <a:ext cx="1066800" cy="914400"/>
          </a:xfrm>
          <a:prstGeom prst="rect">
            <a:avLst/>
          </a:prstGeom>
          <a:solidFill>
            <a:schemeClr val="bg2"/>
          </a:solidFill>
          <a:ln w="12700">
            <a:solidFill>
              <a:srgbClr val="000066"/>
            </a:solidFill>
            <a:miter lim="800000"/>
            <a:headEnd/>
            <a:tailEnd/>
          </a:ln>
          <a:effectLst/>
        </p:spPr>
        <p:txBody>
          <a:bodyPr wrap="none" anchor="ctr"/>
          <a:lstStyle/>
          <a:p>
            <a:pPr algn="ctr"/>
            <a:r>
              <a:rPr lang="en-US" dirty="0">
                <a:solidFill>
                  <a:srgbClr val="000066"/>
                </a:solidFill>
              </a:rPr>
              <a:t>Photo</a:t>
            </a:r>
          </a:p>
          <a:p>
            <a:pPr algn="ctr"/>
            <a:r>
              <a:rPr lang="en-US" dirty="0">
                <a:solidFill>
                  <a:srgbClr val="000066"/>
                </a:solidFill>
              </a:rPr>
              <a:t>Processing</a:t>
            </a:r>
          </a:p>
        </p:txBody>
      </p:sp>
      <p:grpSp>
        <p:nvGrpSpPr>
          <p:cNvPr id="5" name="Group 4"/>
          <p:cNvGrpSpPr>
            <a:grpSpLocks/>
          </p:cNvGrpSpPr>
          <p:nvPr/>
        </p:nvGrpSpPr>
        <p:grpSpPr bwMode="auto">
          <a:xfrm>
            <a:off x="2039815" y="3487615"/>
            <a:ext cx="3581400" cy="533400"/>
            <a:chOff x="1152" y="2064"/>
            <a:chExt cx="2256" cy="336"/>
          </a:xfrm>
        </p:grpSpPr>
        <p:sp>
          <p:nvSpPr>
            <p:cNvPr id="6" name="Line 5"/>
            <p:cNvSpPr>
              <a:spLocks noChangeShapeType="1"/>
            </p:cNvSpPr>
            <p:nvPr/>
          </p:nvSpPr>
          <p:spPr bwMode="auto">
            <a:xfrm>
              <a:off x="3408" y="2064"/>
              <a:ext cx="0" cy="336"/>
            </a:xfrm>
            <a:prstGeom prst="line">
              <a:avLst/>
            </a:prstGeom>
            <a:noFill/>
            <a:ln w="12700">
              <a:solidFill>
                <a:schemeClr val="tx1"/>
              </a:solidFill>
              <a:round/>
              <a:headEnd/>
              <a:tailEnd/>
            </a:ln>
            <a:effectLst/>
          </p:spPr>
          <p:txBody>
            <a:bodyPr wrap="none" anchor="ctr"/>
            <a:lstStyle/>
            <a:p>
              <a:endParaRPr lang="en-US"/>
            </a:p>
          </p:txBody>
        </p:sp>
        <p:sp>
          <p:nvSpPr>
            <p:cNvPr id="7" name="Line 6"/>
            <p:cNvSpPr>
              <a:spLocks noChangeShapeType="1"/>
            </p:cNvSpPr>
            <p:nvPr/>
          </p:nvSpPr>
          <p:spPr bwMode="auto">
            <a:xfrm flipH="1">
              <a:off x="1152" y="2400"/>
              <a:ext cx="2256" cy="0"/>
            </a:xfrm>
            <a:prstGeom prst="line">
              <a:avLst/>
            </a:prstGeom>
            <a:noFill/>
            <a:ln w="12700">
              <a:solidFill>
                <a:schemeClr val="tx1"/>
              </a:solidFill>
              <a:round/>
              <a:headEnd/>
              <a:tailEnd/>
            </a:ln>
            <a:effectLst/>
          </p:spPr>
          <p:txBody>
            <a:bodyPr wrap="none" anchor="ctr"/>
            <a:lstStyle/>
            <a:p>
              <a:endParaRPr lang="en-US"/>
            </a:p>
          </p:txBody>
        </p:sp>
      </p:grpSp>
      <p:sp>
        <p:nvSpPr>
          <p:cNvPr id="8" name="Text Box 7"/>
          <p:cNvSpPr txBox="1">
            <a:spLocks noChangeArrowheads="1"/>
          </p:cNvSpPr>
          <p:nvPr/>
        </p:nvSpPr>
        <p:spPr bwMode="auto">
          <a:xfrm>
            <a:off x="1879798" y="1758738"/>
            <a:ext cx="1542410" cy="1200329"/>
          </a:xfrm>
          <a:prstGeom prst="rect">
            <a:avLst/>
          </a:prstGeom>
          <a:noFill/>
          <a:ln w="12700">
            <a:noFill/>
            <a:miter lim="800000"/>
            <a:headEnd/>
            <a:tailEnd/>
          </a:ln>
          <a:effectLst/>
        </p:spPr>
        <p:txBody>
          <a:bodyPr wrap="none" anchor="ctr">
            <a:spAutoFit/>
          </a:bodyPr>
          <a:lstStyle/>
          <a:p>
            <a:pPr algn="ctr"/>
            <a:r>
              <a:rPr lang="en-US" dirty="0"/>
              <a:t>Average time</a:t>
            </a:r>
          </a:p>
          <a:p>
            <a:pPr algn="ctr"/>
            <a:r>
              <a:rPr lang="en-US" dirty="0"/>
              <a:t>between </a:t>
            </a:r>
          </a:p>
          <a:p>
            <a:pPr algn="ctr"/>
            <a:r>
              <a:rPr lang="en-US" dirty="0"/>
              <a:t>arrivals </a:t>
            </a:r>
          </a:p>
          <a:p>
            <a:pPr algn="ctr"/>
            <a:r>
              <a:rPr lang="en-US" dirty="0"/>
              <a:t>is 60 minutes</a:t>
            </a:r>
          </a:p>
        </p:txBody>
      </p:sp>
      <p:sp>
        <p:nvSpPr>
          <p:cNvPr id="9" name="Text Box 8"/>
          <p:cNvSpPr txBox="1">
            <a:spLocks noChangeArrowheads="1"/>
          </p:cNvSpPr>
          <p:nvPr/>
        </p:nvSpPr>
        <p:spPr bwMode="auto">
          <a:xfrm>
            <a:off x="5656860" y="1897237"/>
            <a:ext cx="1705915" cy="923330"/>
          </a:xfrm>
          <a:prstGeom prst="rect">
            <a:avLst/>
          </a:prstGeom>
          <a:noFill/>
          <a:ln w="12700">
            <a:noFill/>
            <a:miter lim="800000"/>
            <a:headEnd/>
            <a:tailEnd/>
          </a:ln>
          <a:effectLst/>
        </p:spPr>
        <p:txBody>
          <a:bodyPr wrap="none" anchor="ctr">
            <a:spAutoFit/>
          </a:bodyPr>
          <a:lstStyle/>
          <a:p>
            <a:pPr algn="ctr"/>
            <a:r>
              <a:rPr lang="en-US" dirty="0"/>
              <a:t>Average </a:t>
            </a:r>
          </a:p>
          <a:p>
            <a:pPr algn="ctr"/>
            <a:r>
              <a:rPr lang="en-US" dirty="0"/>
              <a:t>service time is </a:t>
            </a:r>
          </a:p>
          <a:p>
            <a:pPr algn="ctr"/>
            <a:r>
              <a:rPr lang="en-US" dirty="0"/>
              <a:t>55 minutes</a:t>
            </a:r>
          </a:p>
        </p:txBody>
      </p:sp>
      <p:sp>
        <p:nvSpPr>
          <p:cNvPr id="10" name="AutoShape 11"/>
          <p:cNvSpPr>
            <a:spLocks noChangeArrowheads="1"/>
          </p:cNvSpPr>
          <p:nvPr/>
        </p:nvSpPr>
        <p:spPr bwMode="auto">
          <a:xfrm>
            <a:off x="1735015" y="3335215"/>
            <a:ext cx="1219200" cy="53340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12700">
            <a:solidFill>
              <a:schemeClr val="tx1"/>
            </a:solidFill>
            <a:miter lim="800000"/>
            <a:headEnd/>
            <a:tailEnd/>
          </a:ln>
          <a:effectLst/>
        </p:spPr>
        <p:txBody>
          <a:bodyPr wrap="none" anchor="ctr"/>
          <a:lstStyle/>
          <a:p>
            <a:pPr algn="ctr"/>
            <a:endParaRPr lang="en-US"/>
          </a:p>
        </p:txBody>
      </p:sp>
      <p:sp>
        <p:nvSpPr>
          <p:cNvPr id="11" name="AutoShape 12"/>
          <p:cNvSpPr>
            <a:spLocks noChangeArrowheads="1"/>
          </p:cNvSpPr>
          <p:nvPr/>
        </p:nvSpPr>
        <p:spPr bwMode="auto">
          <a:xfrm>
            <a:off x="7450015" y="3411415"/>
            <a:ext cx="1219200" cy="53340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12700">
            <a:solidFill>
              <a:schemeClr val="tx1"/>
            </a:solidFill>
            <a:miter lim="800000"/>
            <a:headEnd/>
            <a:tailEnd/>
          </a:ln>
          <a:effectLst/>
        </p:spPr>
        <p:txBody>
          <a:bodyPr wrap="none" anchor="ctr"/>
          <a:lstStyle/>
          <a:p>
            <a:endParaRPr lang="en-US"/>
          </a:p>
        </p:txBody>
      </p:sp>
      <p:pic>
        <p:nvPicPr>
          <p:cNvPr id="12" name="Picture 14" descr="C:\WINDOWS\Application Data\Microsoft\Media Catalog\Downloaded Clips\cl0\ag00317_.gif"/>
          <p:cNvPicPr>
            <a:picLocks noChangeAspect="1" noChangeArrowheads="1" noCrop="1"/>
          </p:cNvPicPr>
          <p:nvPr/>
        </p:nvPicPr>
        <p:blipFill>
          <a:blip r:embed="rId2" cstate="print"/>
          <a:srcRect/>
          <a:stretch>
            <a:fillRect/>
          </a:stretch>
        </p:blipFill>
        <p:spPr bwMode="auto">
          <a:xfrm>
            <a:off x="4367090" y="2573215"/>
            <a:ext cx="1128713" cy="1447800"/>
          </a:xfrm>
          <a:prstGeom prst="rect">
            <a:avLst/>
          </a:prstGeom>
          <a:noFill/>
        </p:spPr>
      </p:pic>
      <p:pic>
        <p:nvPicPr>
          <p:cNvPr id="13" name="Picture 16" descr="C:\WINDOWS\Application Data\Microsoft\Media Catalog\Downloaded Clips\cl0\ag00316_.gif"/>
          <p:cNvPicPr>
            <a:picLocks noChangeAspect="1" noChangeArrowheads="1" noCrop="1"/>
          </p:cNvPicPr>
          <p:nvPr/>
        </p:nvPicPr>
        <p:blipFill>
          <a:blip r:embed="rId3" cstate="print"/>
          <a:srcRect/>
          <a:stretch>
            <a:fillRect/>
          </a:stretch>
        </p:blipFill>
        <p:spPr bwMode="auto">
          <a:xfrm>
            <a:off x="3182815" y="2420815"/>
            <a:ext cx="1246188" cy="1524000"/>
          </a:xfrm>
          <a:prstGeom prst="rect">
            <a:avLst/>
          </a:prstGeom>
          <a:noFill/>
        </p:spPr>
      </p:pic>
      <p:grpSp>
        <p:nvGrpSpPr>
          <p:cNvPr id="15" name="Group 24"/>
          <p:cNvGrpSpPr>
            <a:grpSpLocks/>
          </p:cNvGrpSpPr>
          <p:nvPr/>
        </p:nvGrpSpPr>
        <p:grpSpPr bwMode="auto">
          <a:xfrm>
            <a:off x="3182815" y="5273737"/>
            <a:ext cx="3398838" cy="1295400"/>
            <a:chOff x="2971800" y="4572000"/>
            <a:chExt cx="3398393" cy="1295400"/>
          </a:xfrm>
        </p:grpSpPr>
        <p:sp>
          <p:nvSpPr>
            <p:cNvPr id="16" name="TextBox 15"/>
            <p:cNvSpPr txBox="1">
              <a:spLocks noChangeArrowheads="1"/>
            </p:cNvSpPr>
            <p:nvPr/>
          </p:nvSpPr>
          <p:spPr bwMode="auto">
            <a:xfrm>
              <a:off x="2971800" y="5498068"/>
              <a:ext cx="2031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B050"/>
                </a:buClr>
                <a:buSzPct val="75000"/>
                <a:buFont typeface="Wingdings 3" panose="05040102010807070707" pitchFamily="18" charset="2"/>
                <a:buChar char="u"/>
                <a:defRPr sz="3200">
                  <a:solidFill>
                    <a:schemeClr val="tx1"/>
                  </a:solidFill>
                  <a:latin typeface="Tahoma" panose="020B0604030504040204" pitchFamily="34" charset="0"/>
                </a:defRPr>
              </a:lvl1pPr>
              <a:lvl2pPr marL="742950" indent="-285750">
                <a:spcBef>
                  <a:spcPct val="20000"/>
                </a:spcBef>
                <a:buClr>
                  <a:srgbClr val="00B050"/>
                </a:buClr>
                <a:buFont typeface="Wingdings" panose="05000000000000000000" pitchFamily="2" charset="2"/>
                <a:buChar char="§"/>
                <a:defRPr sz="2800">
                  <a:solidFill>
                    <a:schemeClr val="tx1"/>
                  </a:solidFill>
                  <a:latin typeface="Tahoma" panose="020B0604030504040204" pitchFamily="34" charset="0"/>
                </a:defRPr>
              </a:lvl2pPr>
              <a:lvl3pPr marL="1143000" indent="-228600">
                <a:spcBef>
                  <a:spcPct val="20000"/>
                </a:spcBef>
                <a:buClr>
                  <a:srgbClr val="00B050"/>
                </a:buClr>
                <a:buFont typeface="Arial" panose="020B0604020202020204" pitchFamily="34" charset="0"/>
                <a:buChar char="•"/>
                <a:defRPr sz="2400">
                  <a:solidFill>
                    <a:schemeClr val="tx1"/>
                  </a:solidFill>
                  <a:latin typeface="Tahoma" panose="020B0604030504040204" pitchFamily="34" charset="0"/>
                </a:defRPr>
              </a:lvl3pPr>
              <a:lvl4pPr marL="1600200" indent="-228600">
                <a:spcBef>
                  <a:spcPct val="20000"/>
                </a:spcBef>
                <a:buClr>
                  <a:srgbClr val="00B050"/>
                </a:buClr>
                <a:buFont typeface="Arial" panose="020B0604020202020204" pitchFamily="34" charset="0"/>
                <a:buChar char="–"/>
                <a:defRPr sz="2000">
                  <a:solidFill>
                    <a:schemeClr val="tx1"/>
                  </a:solidFill>
                  <a:latin typeface="Tahoma" panose="020B0604030504040204" pitchFamily="34" charset="0"/>
                </a:defRPr>
              </a:lvl4pPr>
              <a:lvl5pPr marL="2057400" indent="-228600">
                <a:spcBef>
                  <a:spcPct val="20000"/>
                </a:spcBef>
                <a:buClr>
                  <a:srgbClr val="00B050"/>
                </a:buClr>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00B050"/>
                </a:buClr>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00B050"/>
                </a:buClr>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00B050"/>
                </a:buClr>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00B050"/>
                </a:buClr>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1800" dirty="0">
                  <a:latin typeface="Garamond" panose="02020404030301010803" pitchFamily="18" charset="0"/>
                </a:rPr>
                <a:t>Random*/Random*</a:t>
              </a:r>
            </a:p>
          </p:txBody>
        </p:sp>
        <p:sp>
          <p:nvSpPr>
            <p:cNvPr id="17" name="TextBox 16"/>
            <p:cNvSpPr txBox="1">
              <a:spLocks noChangeArrowheads="1"/>
            </p:cNvSpPr>
            <p:nvPr/>
          </p:nvSpPr>
          <p:spPr bwMode="auto">
            <a:xfrm>
              <a:off x="2971800" y="4876800"/>
              <a:ext cx="2031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B050"/>
                </a:buClr>
                <a:buSzPct val="75000"/>
                <a:buFont typeface="Wingdings 3" panose="05040102010807070707" pitchFamily="18" charset="2"/>
                <a:buChar char="u"/>
                <a:defRPr sz="3200">
                  <a:solidFill>
                    <a:schemeClr val="tx1"/>
                  </a:solidFill>
                  <a:latin typeface="Tahoma" panose="020B0604030504040204" pitchFamily="34" charset="0"/>
                </a:defRPr>
              </a:lvl1pPr>
              <a:lvl2pPr marL="742950" indent="-285750">
                <a:spcBef>
                  <a:spcPct val="20000"/>
                </a:spcBef>
                <a:buClr>
                  <a:srgbClr val="00B050"/>
                </a:buClr>
                <a:buFont typeface="Wingdings" panose="05000000000000000000" pitchFamily="2" charset="2"/>
                <a:buChar char="§"/>
                <a:defRPr sz="2800">
                  <a:solidFill>
                    <a:schemeClr val="tx1"/>
                  </a:solidFill>
                  <a:latin typeface="Tahoma" panose="020B0604030504040204" pitchFamily="34" charset="0"/>
                </a:defRPr>
              </a:lvl2pPr>
              <a:lvl3pPr marL="1143000" indent="-228600">
                <a:spcBef>
                  <a:spcPct val="20000"/>
                </a:spcBef>
                <a:buClr>
                  <a:srgbClr val="00B050"/>
                </a:buClr>
                <a:buFont typeface="Arial" panose="020B0604020202020204" pitchFamily="34" charset="0"/>
                <a:buChar char="•"/>
                <a:defRPr sz="2400">
                  <a:solidFill>
                    <a:schemeClr val="tx1"/>
                  </a:solidFill>
                  <a:latin typeface="Tahoma" panose="020B0604030504040204" pitchFamily="34" charset="0"/>
                </a:defRPr>
              </a:lvl3pPr>
              <a:lvl4pPr marL="1600200" indent="-228600">
                <a:spcBef>
                  <a:spcPct val="20000"/>
                </a:spcBef>
                <a:buClr>
                  <a:srgbClr val="00B050"/>
                </a:buClr>
                <a:buFont typeface="Arial" panose="020B0604020202020204" pitchFamily="34" charset="0"/>
                <a:buChar char="–"/>
                <a:defRPr sz="2000">
                  <a:solidFill>
                    <a:schemeClr val="tx1"/>
                  </a:solidFill>
                  <a:latin typeface="Tahoma" panose="020B0604030504040204" pitchFamily="34" charset="0"/>
                </a:defRPr>
              </a:lvl4pPr>
              <a:lvl5pPr marL="2057400" indent="-228600">
                <a:spcBef>
                  <a:spcPct val="20000"/>
                </a:spcBef>
                <a:buClr>
                  <a:srgbClr val="00B050"/>
                </a:buClr>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00B050"/>
                </a:buClr>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00B050"/>
                </a:buClr>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00B050"/>
                </a:buClr>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00B050"/>
                </a:buClr>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1800" dirty="0">
                  <a:latin typeface="Garamond" panose="02020404030301010803" pitchFamily="18" charset="0"/>
                </a:rPr>
                <a:t>Constant/Constant	</a:t>
              </a:r>
            </a:p>
          </p:txBody>
        </p:sp>
        <p:sp>
          <p:nvSpPr>
            <p:cNvPr id="18" name="TextBox 17"/>
            <p:cNvSpPr txBox="1">
              <a:spLocks noChangeArrowheads="1"/>
            </p:cNvSpPr>
            <p:nvPr/>
          </p:nvSpPr>
          <p:spPr bwMode="auto">
            <a:xfrm>
              <a:off x="2971800" y="5181600"/>
              <a:ext cx="19765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B050"/>
                </a:buClr>
                <a:buSzPct val="75000"/>
                <a:buFont typeface="Wingdings 3" panose="05040102010807070707" pitchFamily="18" charset="2"/>
                <a:buChar char="u"/>
                <a:defRPr sz="3200">
                  <a:solidFill>
                    <a:schemeClr val="tx1"/>
                  </a:solidFill>
                  <a:latin typeface="Tahoma" panose="020B0604030504040204" pitchFamily="34" charset="0"/>
                </a:defRPr>
              </a:lvl1pPr>
              <a:lvl2pPr marL="742950" indent="-285750">
                <a:spcBef>
                  <a:spcPct val="20000"/>
                </a:spcBef>
                <a:buClr>
                  <a:srgbClr val="00B050"/>
                </a:buClr>
                <a:buFont typeface="Wingdings" panose="05000000000000000000" pitchFamily="2" charset="2"/>
                <a:buChar char="§"/>
                <a:defRPr sz="2800">
                  <a:solidFill>
                    <a:schemeClr val="tx1"/>
                  </a:solidFill>
                  <a:latin typeface="Tahoma" panose="020B0604030504040204" pitchFamily="34" charset="0"/>
                </a:defRPr>
              </a:lvl2pPr>
              <a:lvl3pPr marL="1143000" indent="-228600">
                <a:spcBef>
                  <a:spcPct val="20000"/>
                </a:spcBef>
                <a:buClr>
                  <a:srgbClr val="00B050"/>
                </a:buClr>
                <a:buFont typeface="Arial" panose="020B0604020202020204" pitchFamily="34" charset="0"/>
                <a:buChar char="•"/>
                <a:defRPr sz="2400">
                  <a:solidFill>
                    <a:schemeClr val="tx1"/>
                  </a:solidFill>
                  <a:latin typeface="Tahoma" panose="020B0604030504040204" pitchFamily="34" charset="0"/>
                </a:defRPr>
              </a:lvl3pPr>
              <a:lvl4pPr marL="1600200" indent="-228600">
                <a:spcBef>
                  <a:spcPct val="20000"/>
                </a:spcBef>
                <a:buClr>
                  <a:srgbClr val="00B050"/>
                </a:buClr>
                <a:buFont typeface="Arial" panose="020B0604020202020204" pitchFamily="34" charset="0"/>
                <a:buChar char="–"/>
                <a:defRPr sz="2000">
                  <a:solidFill>
                    <a:schemeClr val="tx1"/>
                  </a:solidFill>
                  <a:latin typeface="Tahoma" panose="020B0604030504040204" pitchFamily="34" charset="0"/>
                </a:defRPr>
              </a:lvl4pPr>
              <a:lvl5pPr marL="2057400" indent="-228600">
                <a:spcBef>
                  <a:spcPct val="20000"/>
                </a:spcBef>
                <a:buClr>
                  <a:srgbClr val="00B050"/>
                </a:buClr>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00B050"/>
                </a:buClr>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00B050"/>
                </a:buClr>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00B050"/>
                </a:buClr>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00B050"/>
                </a:buClr>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1800" dirty="0">
                  <a:latin typeface="Garamond" panose="02020404030301010803" pitchFamily="18" charset="0"/>
                </a:rPr>
                <a:t>Random*/Constant</a:t>
              </a:r>
            </a:p>
          </p:txBody>
        </p:sp>
        <p:sp>
          <p:nvSpPr>
            <p:cNvPr id="19" name="TextBox 22"/>
            <p:cNvSpPr txBox="1">
              <a:spLocks noChangeArrowheads="1"/>
            </p:cNvSpPr>
            <p:nvPr/>
          </p:nvSpPr>
          <p:spPr bwMode="auto">
            <a:xfrm>
              <a:off x="5562600" y="4572000"/>
              <a:ext cx="8075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B050"/>
                </a:buClr>
                <a:buSzPct val="75000"/>
                <a:buFont typeface="Wingdings 3" panose="05040102010807070707" pitchFamily="18" charset="2"/>
                <a:buChar char="u"/>
                <a:defRPr sz="3200">
                  <a:solidFill>
                    <a:schemeClr val="tx1"/>
                  </a:solidFill>
                  <a:latin typeface="Tahoma" panose="020B0604030504040204" pitchFamily="34" charset="0"/>
                </a:defRPr>
              </a:lvl1pPr>
              <a:lvl2pPr marL="742950" indent="-285750">
                <a:spcBef>
                  <a:spcPct val="20000"/>
                </a:spcBef>
                <a:buClr>
                  <a:srgbClr val="00B050"/>
                </a:buClr>
                <a:buFont typeface="Wingdings" panose="05000000000000000000" pitchFamily="2" charset="2"/>
                <a:buChar char="§"/>
                <a:defRPr sz="2800">
                  <a:solidFill>
                    <a:schemeClr val="tx1"/>
                  </a:solidFill>
                  <a:latin typeface="Tahoma" panose="020B0604030504040204" pitchFamily="34" charset="0"/>
                </a:defRPr>
              </a:lvl2pPr>
              <a:lvl3pPr marL="1143000" indent="-228600">
                <a:spcBef>
                  <a:spcPct val="20000"/>
                </a:spcBef>
                <a:buClr>
                  <a:srgbClr val="00B050"/>
                </a:buClr>
                <a:buFont typeface="Arial" panose="020B0604020202020204" pitchFamily="34" charset="0"/>
                <a:buChar char="•"/>
                <a:defRPr sz="2400">
                  <a:solidFill>
                    <a:schemeClr val="tx1"/>
                  </a:solidFill>
                  <a:latin typeface="Tahoma" panose="020B0604030504040204" pitchFamily="34" charset="0"/>
                </a:defRPr>
              </a:lvl3pPr>
              <a:lvl4pPr marL="1600200" indent="-228600">
                <a:spcBef>
                  <a:spcPct val="20000"/>
                </a:spcBef>
                <a:buClr>
                  <a:srgbClr val="00B050"/>
                </a:buClr>
                <a:buFont typeface="Arial" panose="020B0604020202020204" pitchFamily="34" charset="0"/>
                <a:buChar char="–"/>
                <a:defRPr sz="2000">
                  <a:solidFill>
                    <a:schemeClr val="tx1"/>
                  </a:solidFill>
                  <a:latin typeface="Tahoma" panose="020B0604030504040204" pitchFamily="34" charset="0"/>
                </a:defRPr>
              </a:lvl4pPr>
              <a:lvl5pPr marL="2057400" indent="-228600">
                <a:spcBef>
                  <a:spcPct val="20000"/>
                </a:spcBef>
                <a:buClr>
                  <a:srgbClr val="00B050"/>
                </a:buClr>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00B050"/>
                </a:buClr>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00B050"/>
                </a:buClr>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00B050"/>
                </a:buClr>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00B050"/>
                </a:buClr>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1800" b="1" u="sng">
                  <a:latin typeface="Garamond" panose="02020404030301010803" pitchFamily="18" charset="0"/>
                </a:rPr>
                <a:t>Result</a:t>
              </a:r>
            </a:p>
          </p:txBody>
        </p:sp>
        <p:sp>
          <p:nvSpPr>
            <p:cNvPr id="20" name="TextBox 23"/>
            <p:cNvSpPr txBox="1">
              <a:spLocks noChangeArrowheads="1"/>
            </p:cNvSpPr>
            <p:nvPr/>
          </p:nvSpPr>
          <p:spPr bwMode="auto">
            <a:xfrm>
              <a:off x="2971800" y="4572000"/>
              <a:ext cx="24834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B050"/>
                </a:buClr>
                <a:buSzPct val="75000"/>
                <a:buFont typeface="Wingdings 3" panose="05040102010807070707" pitchFamily="18" charset="2"/>
                <a:buChar char="u"/>
                <a:defRPr sz="3200">
                  <a:solidFill>
                    <a:schemeClr val="tx1"/>
                  </a:solidFill>
                  <a:latin typeface="Tahoma" panose="020B0604030504040204" pitchFamily="34" charset="0"/>
                </a:defRPr>
              </a:lvl1pPr>
              <a:lvl2pPr marL="742950" indent="-285750">
                <a:spcBef>
                  <a:spcPct val="20000"/>
                </a:spcBef>
                <a:buClr>
                  <a:srgbClr val="00B050"/>
                </a:buClr>
                <a:buFont typeface="Wingdings" panose="05000000000000000000" pitchFamily="2" charset="2"/>
                <a:buChar char="§"/>
                <a:defRPr sz="2800">
                  <a:solidFill>
                    <a:schemeClr val="tx1"/>
                  </a:solidFill>
                  <a:latin typeface="Tahoma" panose="020B0604030504040204" pitchFamily="34" charset="0"/>
                </a:defRPr>
              </a:lvl2pPr>
              <a:lvl3pPr marL="1143000" indent="-228600">
                <a:spcBef>
                  <a:spcPct val="20000"/>
                </a:spcBef>
                <a:buClr>
                  <a:srgbClr val="00B050"/>
                </a:buClr>
                <a:buFont typeface="Arial" panose="020B0604020202020204" pitchFamily="34" charset="0"/>
                <a:buChar char="•"/>
                <a:defRPr sz="2400">
                  <a:solidFill>
                    <a:schemeClr val="tx1"/>
                  </a:solidFill>
                  <a:latin typeface="Tahoma" panose="020B0604030504040204" pitchFamily="34" charset="0"/>
                </a:defRPr>
              </a:lvl3pPr>
              <a:lvl4pPr marL="1600200" indent="-228600">
                <a:spcBef>
                  <a:spcPct val="20000"/>
                </a:spcBef>
                <a:buClr>
                  <a:srgbClr val="00B050"/>
                </a:buClr>
                <a:buFont typeface="Arial" panose="020B0604020202020204" pitchFamily="34" charset="0"/>
                <a:buChar char="–"/>
                <a:defRPr sz="2000">
                  <a:solidFill>
                    <a:schemeClr val="tx1"/>
                  </a:solidFill>
                  <a:latin typeface="Tahoma" panose="020B0604030504040204" pitchFamily="34" charset="0"/>
                </a:defRPr>
              </a:lvl4pPr>
              <a:lvl5pPr marL="2057400" indent="-228600">
                <a:spcBef>
                  <a:spcPct val="20000"/>
                </a:spcBef>
                <a:buClr>
                  <a:srgbClr val="00B050"/>
                </a:buClr>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00B050"/>
                </a:buClr>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00B050"/>
                </a:buClr>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00B050"/>
                </a:buClr>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00B050"/>
                </a:buClr>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1800" b="1" u="sng" dirty="0">
                  <a:latin typeface="Garamond" panose="02020404030301010803" pitchFamily="18" charset="0"/>
                </a:rPr>
                <a:t>Arrival/Service Process</a:t>
              </a:r>
            </a:p>
          </p:txBody>
        </p:sp>
      </p:grpSp>
      <p:sp>
        <p:nvSpPr>
          <p:cNvPr id="22" name="Rectangular Callout 21"/>
          <p:cNvSpPr/>
          <p:nvPr/>
        </p:nvSpPr>
        <p:spPr>
          <a:xfrm>
            <a:off x="7644056" y="5215120"/>
            <a:ext cx="3656989" cy="1465498"/>
          </a:xfrm>
          <a:prstGeom prst="wedgeRectCallout">
            <a:avLst>
              <a:gd name="adj1" fmla="val -89932"/>
              <a:gd name="adj2" fmla="val 15227"/>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Some queueing systems have analytical models! But not every system (even some simple systems) can be analytically modeled!</a:t>
            </a:r>
          </a:p>
        </p:txBody>
      </p:sp>
    </p:spTree>
    <p:extLst>
      <p:ext uri="{BB962C8B-B14F-4D97-AF65-F5344CB8AC3E}">
        <p14:creationId xmlns:p14="http://schemas.microsoft.com/office/powerpoint/2010/main" val="140180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p:bldP spid="9" grpId="0"/>
      <p:bldP spid="10" grpId="0" animBg="1"/>
      <p:bldP spid="11" grpId="0" animBg="1"/>
      <p:bldP spid="2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Simulation Process</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t>Simulation process not strictly sequential</a:t>
            </a:r>
          </a:p>
          <a:p>
            <a:pPr lvl="1"/>
            <a:r>
              <a:rPr lang="en-US" dirty="0"/>
              <a:t>More iterative process</a:t>
            </a:r>
          </a:p>
          <a:p>
            <a:pPr lvl="1"/>
            <a:endParaRPr lang="en-US" dirty="0"/>
          </a:p>
          <a:p>
            <a:endParaRPr lang="en-US" sz="2800" b="1" dirty="0">
              <a:solidFill>
                <a:srgbClr val="C00000"/>
              </a:solidFill>
              <a:sym typeface="Wingdings" panose="05000000000000000000" pitchFamily="2" charset="2"/>
            </a:endParaRPr>
          </a:p>
          <a:p>
            <a:pPr lvl="4"/>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91353" y="2174996"/>
            <a:ext cx="4583723" cy="4109544"/>
          </a:xfrm>
          <a:prstGeom prst="rect">
            <a:avLst/>
          </a:prstGeom>
        </p:spPr>
      </p:pic>
    </p:spTree>
    <p:extLst>
      <p:ext uri="{BB962C8B-B14F-4D97-AF65-F5344CB8AC3E}">
        <p14:creationId xmlns:p14="http://schemas.microsoft.com/office/powerpoint/2010/main" val="3342440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Simulation Process</a:t>
            </a:r>
          </a:p>
        </p:txBody>
      </p:sp>
      <p:sp>
        <p:nvSpPr>
          <p:cNvPr id="3" name="Content Placeholder 2"/>
          <p:cNvSpPr>
            <a:spLocks noGrp="1"/>
          </p:cNvSpPr>
          <p:nvPr>
            <p:ph idx="1"/>
          </p:nvPr>
        </p:nvSpPr>
        <p:spPr>
          <a:xfrm>
            <a:off x="355002" y="1312433"/>
            <a:ext cx="11478410" cy="4864530"/>
          </a:xfrm>
        </p:spPr>
        <p:txBody>
          <a:bodyPr>
            <a:normAutofit fontScale="92500" lnSpcReduction="20000"/>
          </a:bodyPr>
          <a:lstStyle/>
          <a:p>
            <a:r>
              <a:rPr lang="en-US" sz="2400" dirty="0">
                <a:solidFill>
                  <a:srgbClr val="C00000"/>
                </a:solidFill>
              </a:rPr>
              <a:t>Conceptual Design: </a:t>
            </a:r>
            <a:r>
              <a:rPr lang="en-US" sz="2400" dirty="0"/>
              <a:t>Understand the system details</a:t>
            </a:r>
          </a:p>
          <a:p>
            <a:pPr lvl="1"/>
            <a:r>
              <a:rPr lang="en-US" sz="2000" dirty="0"/>
              <a:t>Discuss the details of the problem and modeling approaches, outline the system and plans and models, know the simulation software and its capabilities (whether it can do what you need)</a:t>
            </a:r>
          </a:p>
          <a:p>
            <a:r>
              <a:rPr lang="en-US" sz="2400" dirty="0">
                <a:solidFill>
                  <a:srgbClr val="C00000"/>
                </a:solidFill>
              </a:rPr>
              <a:t>Input Analysis:</a:t>
            </a:r>
            <a:r>
              <a:rPr lang="en-US" sz="2400" dirty="0"/>
              <a:t> characterize the system inputs</a:t>
            </a:r>
          </a:p>
          <a:p>
            <a:pPr lvl="1"/>
            <a:r>
              <a:rPr lang="en-US" sz="2000" dirty="0"/>
              <a:t>Characterize random input variables: their distributions and processes</a:t>
            </a:r>
          </a:p>
          <a:p>
            <a:pPr lvl="2"/>
            <a:r>
              <a:rPr lang="en-US" sz="1800" dirty="0"/>
              <a:t>Usually done via analyzing the past data on the variable/process</a:t>
            </a:r>
          </a:p>
          <a:p>
            <a:pPr lvl="1"/>
            <a:r>
              <a:rPr lang="en-US" sz="2000" dirty="0"/>
              <a:t>Develop methodology to generate random observations using these characterizations</a:t>
            </a:r>
          </a:p>
          <a:p>
            <a:pPr lvl="2"/>
            <a:r>
              <a:rPr lang="en-US" sz="1800" dirty="0"/>
              <a:t>Typically, most simulation software will have features to generate random observations</a:t>
            </a:r>
          </a:p>
          <a:p>
            <a:r>
              <a:rPr lang="en-US" sz="2400" dirty="0">
                <a:solidFill>
                  <a:srgbClr val="C00000"/>
                </a:solidFill>
              </a:rPr>
              <a:t>Model Development, Verification, and Validation: </a:t>
            </a:r>
            <a:r>
              <a:rPr lang="en-US" sz="2400" dirty="0"/>
              <a:t>convert the conceptual model into an executable simulation model</a:t>
            </a:r>
          </a:p>
          <a:p>
            <a:pPr lvl="1"/>
            <a:r>
              <a:rPr lang="en-US" sz="2000" dirty="0"/>
              <a:t>Requires carefully building the model using the software</a:t>
            </a:r>
          </a:p>
          <a:p>
            <a:pPr lvl="1"/>
            <a:r>
              <a:rPr lang="en-US" sz="2000" dirty="0"/>
              <a:t>Verify that the model is working (nothing crazy going on, some expectations are met)</a:t>
            </a:r>
          </a:p>
          <a:p>
            <a:pPr lvl="1"/>
            <a:r>
              <a:rPr lang="en-US" sz="2000" dirty="0"/>
              <a:t>Validation ensures the accuracy of the system</a:t>
            </a:r>
          </a:p>
          <a:p>
            <a:r>
              <a:rPr lang="en-US" sz="2400" dirty="0">
                <a:solidFill>
                  <a:srgbClr val="C00000"/>
                </a:solidFill>
              </a:rPr>
              <a:t>Output Analysis and Experimentation: </a:t>
            </a:r>
            <a:r>
              <a:rPr lang="en-US" sz="2400" dirty="0"/>
              <a:t>collect information and analyze</a:t>
            </a:r>
          </a:p>
          <a:p>
            <a:pPr lvl="1"/>
            <a:r>
              <a:rPr lang="en-US" sz="2000" dirty="0"/>
              <a:t>Know what metrics are important and collect data accordingly</a:t>
            </a:r>
          </a:p>
          <a:p>
            <a:pPr lvl="1"/>
            <a:r>
              <a:rPr lang="en-US" sz="2000" dirty="0"/>
              <a:t>Characterize the collected data (recall that output will be random too)</a:t>
            </a:r>
          </a:p>
          <a:p>
            <a:pPr lvl="1"/>
            <a:r>
              <a:rPr lang="en-US" sz="2000" dirty="0"/>
              <a:t>Set up experiments to investigate different settings</a:t>
            </a:r>
          </a:p>
          <a:p>
            <a:pPr lvl="1"/>
            <a:endParaRPr lang="en-US" dirty="0"/>
          </a:p>
          <a:p>
            <a:endParaRPr lang="en-US" sz="2800" b="1" dirty="0">
              <a:solidFill>
                <a:srgbClr val="C00000"/>
              </a:solidFill>
              <a:sym typeface="Wingdings" panose="05000000000000000000" pitchFamily="2" charset="2"/>
            </a:endParaRPr>
          </a:p>
          <a:p>
            <a:pPr lvl="4"/>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53718" y="5065339"/>
            <a:ext cx="1581083" cy="1417523"/>
          </a:xfrm>
          <a:prstGeom prst="rect">
            <a:avLst/>
          </a:prstGeom>
        </p:spPr>
      </p:pic>
    </p:spTree>
    <p:extLst>
      <p:ext uri="{BB962C8B-B14F-4D97-AF65-F5344CB8AC3E}">
        <p14:creationId xmlns:p14="http://schemas.microsoft.com/office/powerpoint/2010/main" val="3236919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355002" y="1312433"/>
            <a:ext cx="9271219" cy="4864530"/>
          </a:xfrm>
        </p:spPr>
        <p:txBody>
          <a:bodyPr>
            <a:normAutofit/>
          </a:bodyPr>
          <a:lstStyle/>
          <a:p>
            <a:r>
              <a:rPr lang="en-US" dirty="0">
                <a:solidFill>
                  <a:schemeClr val="bg2"/>
                </a:solidFill>
              </a:rPr>
              <a:t>Simulation Process</a:t>
            </a:r>
          </a:p>
          <a:p>
            <a:pPr lvl="1"/>
            <a:r>
              <a:rPr lang="en-US" dirty="0">
                <a:solidFill>
                  <a:schemeClr val="bg2"/>
                </a:solidFill>
              </a:rPr>
              <a:t>Simulation, Systems and Models </a:t>
            </a:r>
          </a:p>
          <a:p>
            <a:pPr lvl="1"/>
            <a:r>
              <a:rPr lang="en-US" dirty="0">
                <a:solidFill>
                  <a:schemeClr val="bg2"/>
                </a:solidFill>
              </a:rPr>
              <a:t>Randomness and the Simulation Process </a:t>
            </a:r>
          </a:p>
          <a:p>
            <a:endParaRPr lang="en-US" dirty="0"/>
          </a:p>
          <a:p>
            <a:r>
              <a:rPr lang="en-US" dirty="0"/>
              <a:t>Simulation Approach</a:t>
            </a:r>
          </a:p>
          <a:p>
            <a:pPr lvl="1"/>
            <a:r>
              <a:rPr lang="en-US" dirty="0"/>
              <a:t>When to Simulate (and When Not to) </a:t>
            </a:r>
          </a:p>
          <a:p>
            <a:pPr lvl="1"/>
            <a:r>
              <a:rPr lang="en-US" dirty="0"/>
              <a:t>Simulation Success Skills</a:t>
            </a:r>
          </a:p>
          <a:p>
            <a:endParaRPr lang="en-US" dirty="0"/>
          </a:p>
          <a:p>
            <a:r>
              <a:rPr lang="en-US" dirty="0">
                <a:solidFill>
                  <a:schemeClr val="bg2"/>
                </a:solidFill>
              </a:rPr>
              <a:t>Review and System Examples</a:t>
            </a:r>
          </a:p>
          <a:p>
            <a:pPr marL="0" indent="0">
              <a:buNone/>
            </a:pPr>
            <a:endParaRPr lang="en-US" dirty="0"/>
          </a:p>
          <a:p>
            <a:pPr lvl="1"/>
            <a:endParaRPr lang="en-US" dirty="0"/>
          </a:p>
        </p:txBody>
      </p:sp>
    </p:spTree>
    <p:extLst>
      <p:ext uri="{BB962C8B-B14F-4D97-AF65-F5344CB8AC3E}">
        <p14:creationId xmlns:p14="http://schemas.microsoft.com/office/powerpoint/2010/main" val="34317318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to Simulate</a:t>
            </a:r>
          </a:p>
        </p:txBody>
      </p:sp>
      <p:sp>
        <p:nvSpPr>
          <p:cNvPr id="3" name="Content Placeholder 2"/>
          <p:cNvSpPr>
            <a:spLocks noGrp="1"/>
          </p:cNvSpPr>
          <p:nvPr>
            <p:ph idx="1"/>
          </p:nvPr>
        </p:nvSpPr>
        <p:spPr>
          <a:xfrm>
            <a:off x="355002" y="1312433"/>
            <a:ext cx="11478410" cy="4864530"/>
          </a:xfrm>
        </p:spPr>
        <p:txBody>
          <a:bodyPr>
            <a:normAutofit fontScale="92500" lnSpcReduction="20000"/>
          </a:bodyPr>
          <a:lstStyle/>
          <a:p>
            <a:pPr>
              <a:spcBef>
                <a:spcPts val="600"/>
              </a:spcBef>
            </a:pPr>
            <a:r>
              <a:rPr lang="en-US" dirty="0"/>
              <a:t>If a valid model of the system is simple enough to model analytically and get exact results, then </a:t>
            </a:r>
            <a:r>
              <a:rPr lang="en-US" u="sng" dirty="0">
                <a:solidFill>
                  <a:srgbClr val="C00000"/>
                </a:solidFill>
              </a:rPr>
              <a:t>don’t simulate</a:t>
            </a:r>
          </a:p>
          <a:p>
            <a:pPr lvl="1">
              <a:spcBef>
                <a:spcPts val="600"/>
              </a:spcBef>
            </a:pPr>
            <a:r>
              <a:rPr lang="en-US" dirty="0"/>
              <a:t>Key word:  </a:t>
            </a:r>
            <a:r>
              <a:rPr lang="en-US" i="1" dirty="0"/>
              <a:t>valid</a:t>
            </a:r>
            <a:r>
              <a:rPr lang="en-US" dirty="0"/>
              <a:t> … probably possible for only the very simplest of systems</a:t>
            </a:r>
          </a:p>
          <a:p>
            <a:pPr>
              <a:spcBef>
                <a:spcPts val="600"/>
              </a:spcBef>
            </a:pPr>
            <a:r>
              <a:rPr lang="en-US" dirty="0"/>
              <a:t>If system becomes complicated, it’s tempting to </a:t>
            </a:r>
            <a:r>
              <a:rPr lang="en-US" i="1" dirty="0"/>
              <a:t>over</a:t>
            </a:r>
            <a:r>
              <a:rPr lang="en-US" dirty="0"/>
              <a:t>-simplify the assumptions to get to an analytically tractable model</a:t>
            </a:r>
          </a:p>
          <a:p>
            <a:pPr lvl="1">
              <a:spcBef>
                <a:spcPts val="600"/>
              </a:spcBef>
            </a:pPr>
            <a:r>
              <a:rPr lang="en-US" dirty="0"/>
              <a:t>Advantage is that you get exact answers, no uncertainty or noise</a:t>
            </a:r>
          </a:p>
          <a:p>
            <a:pPr lvl="1">
              <a:spcBef>
                <a:spcPts val="600"/>
              </a:spcBef>
            </a:pPr>
            <a:r>
              <a:rPr lang="en-US" dirty="0"/>
              <a:t>But what good is an exact answer to the wrong model?  </a:t>
            </a:r>
          </a:p>
          <a:p>
            <a:pPr lvl="1">
              <a:spcBef>
                <a:spcPts val="600"/>
              </a:spcBef>
            </a:pPr>
            <a:r>
              <a:rPr lang="en-US" dirty="0"/>
              <a:t>Solving the (perhaps-unrealistic) </a:t>
            </a:r>
            <a:r>
              <a:rPr lang="en-US" i="1" dirty="0"/>
              <a:t>model</a:t>
            </a:r>
            <a:r>
              <a:rPr lang="en-US" dirty="0"/>
              <a:t> vs. solving the </a:t>
            </a:r>
            <a:r>
              <a:rPr lang="en-US" i="1" dirty="0"/>
              <a:t>real problem</a:t>
            </a:r>
          </a:p>
          <a:p>
            <a:r>
              <a:rPr lang="en-US" u="sng" dirty="0">
                <a:solidFill>
                  <a:srgbClr val="C00000"/>
                </a:solidFill>
              </a:rPr>
              <a:t>Use simulation when</a:t>
            </a:r>
          </a:p>
          <a:p>
            <a:pPr lvl="1"/>
            <a:r>
              <a:rPr lang="en-US" dirty="0"/>
              <a:t>complete mathematical formulation does not exist or an analytical solution can not be developed.</a:t>
            </a:r>
          </a:p>
          <a:p>
            <a:pPr lvl="1"/>
            <a:r>
              <a:rPr lang="en-US" dirty="0"/>
              <a:t>analytical methods are available, but mathematical procedures are so complex such that simulation provides a simpler solution.</a:t>
            </a:r>
          </a:p>
          <a:p>
            <a:pPr lvl="1"/>
            <a:r>
              <a:rPr lang="en-US" dirty="0"/>
              <a:t>it is desired to observe a simulated history of the process over a period of time in addition to estimating certain system performances</a:t>
            </a:r>
          </a:p>
          <a:p>
            <a:endParaRPr lang="en-US" sz="2800" b="1" dirty="0">
              <a:solidFill>
                <a:srgbClr val="C00000"/>
              </a:solidFill>
              <a:sym typeface="Wingdings" panose="05000000000000000000" pitchFamily="2" charset="2"/>
            </a:endParaRPr>
          </a:p>
          <a:p>
            <a:pPr lvl="4"/>
            <a:endParaRPr lang="en-US" dirty="0"/>
          </a:p>
        </p:txBody>
      </p:sp>
    </p:spTree>
    <p:extLst>
      <p:ext uri="{BB962C8B-B14F-4D97-AF65-F5344CB8AC3E}">
        <p14:creationId xmlns:p14="http://schemas.microsoft.com/office/powerpoint/2010/main" val="1736103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to Simulate</a:t>
            </a:r>
          </a:p>
        </p:txBody>
      </p:sp>
      <p:sp>
        <p:nvSpPr>
          <p:cNvPr id="3" name="Content Placeholder 2"/>
          <p:cNvSpPr>
            <a:spLocks noGrp="1"/>
          </p:cNvSpPr>
          <p:nvPr>
            <p:ph idx="1"/>
          </p:nvPr>
        </p:nvSpPr>
        <p:spPr>
          <a:xfrm>
            <a:off x="355002" y="1312433"/>
            <a:ext cx="11478410" cy="4864530"/>
          </a:xfrm>
        </p:spPr>
        <p:txBody>
          <a:bodyPr>
            <a:normAutofit/>
          </a:bodyPr>
          <a:lstStyle/>
          <a:p>
            <a:pPr>
              <a:spcBef>
                <a:spcPts val="100"/>
              </a:spcBef>
            </a:pPr>
            <a:r>
              <a:rPr lang="en-US" u="sng" dirty="0">
                <a:solidFill>
                  <a:srgbClr val="C00000"/>
                </a:solidFill>
              </a:rPr>
              <a:t>Do not simulate when </a:t>
            </a:r>
            <a:r>
              <a:rPr lang="en-US" dirty="0"/>
              <a:t>(not from the book)</a:t>
            </a:r>
          </a:p>
          <a:p>
            <a:pPr lvl="1"/>
            <a:r>
              <a:rPr lang="en-US" dirty="0"/>
              <a:t>the problem can be solved using a common sense</a:t>
            </a:r>
          </a:p>
          <a:p>
            <a:pPr lvl="1"/>
            <a:r>
              <a:rPr lang="en-US" dirty="0"/>
              <a:t>the problem can be solved analytically</a:t>
            </a:r>
          </a:p>
          <a:p>
            <a:pPr lvl="1"/>
            <a:r>
              <a:rPr lang="en-US" dirty="0"/>
              <a:t>it is easier to perform direct experiments</a:t>
            </a:r>
          </a:p>
          <a:p>
            <a:pPr lvl="1"/>
            <a:r>
              <a:rPr lang="en-US" dirty="0"/>
              <a:t>cost exceeds savings</a:t>
            </a:r>
          </a:p>
          <a:p>
            <a:pPr lvl="1"/>
            <a:r>
              <a:rPr lang="en-US" dirty="0"/>
              <a:t>proper resources are not available</a:t>
            </a:r>
          </a:p>
          <a:p>
            <a:pPr lvl="1"/>
            <a:r>
              <a:rPr lang="en-US" dirty="0"/>
              <a:t>there is not enough time for the results to be useful</a:t>
            </a:r>
          </a:p>
          <a:p>
            <a:pPr lvl="1"/>
            <a:r>
              <a:rPr lang="en-US" dirty="0"/>
              <a:t>there is no data – not even estimates</a:t>
            </a:r>
          </a:p>
          <a:p>
            <a:pPr lvl="1"/>
            <a:r>
              <a:rPr lang="en-US" dirty="0"/>
              <a:t>can not do verification and validation</a:t>
            </a:r>
          </a:p>
          <a:p>
            <a:pPr lvl="1"/>
            <a:r>
              <a:rPr lang="en-US" dirty="0"/>
              <a:t>project expectations can not be met</a:t>
            </a:r>
          </a:p>
          <a:p>
            <a:pPr lvl="1"/>
            <a:r>
              <a:rPr lang="en-US" dirty="0"/>
              <a:t>system behavior is too complex or can not be defined</a:t>
            </a:r>
          </a:p>
          <a:p>
            <a:pPr lvl="4"/>
            <a:endParaRPr lang="en-US" dirty="0"/>
          </a:p>
        </p:txBody>
      </p:sp>
    </p:spTree>
    <p:extLst>
      <p:ext uri="{BB962C8B-B14F-4D97-AF65-F5344CB8AC3E}">
        <p14:creationId xmlns:p14="http://schemas.microsoft.com/office/powerpoint/2010/main" val="1422857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to Simulate</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t>Disadvantage of (stochastic) simulation – answers are just statistical </a:t>
            </a:r>
            <a:r>
              <a:rPr lang="en-US" i="1" dirty="0"/>
              <a:t>estimates</a:t>
            </a:r>
            <a:r>
              <a:rPr lang="en-US" dirty="0"/>
              <a:t> with uncertainty and noise</a:t>
            </a:r>
          </a:p>
          <a:p>
            <a:pPr lvl="1"/>
            <a:r>
              <a:rPr lang="en-US" dirty="0"/>
              <a:t>Need to design, statistically analyze simulation experiments</a:t>
            </a:r>
          </a:p>
          <a:p>
            <a:pPr lvl="1"/>
            <a:r>
              <a:rPr lang="en-US" dirty="0"/>
              <a:t>Can measure uncertainty/noise, take steps to reduce to tolerable level</a:t>
            </a:r>
          </a:p>
          <a:p>
            <a:pPr lvl="2"/>
            <a:r>
              <a:rPr lang="en-US" dirty="0"/>
              <a:t>But you must be aware of this and consider it</a:t>
            </a:r>
          </a:p>
          <a:p>
            <a:r>
              <a:rPr lang="en-US" dirty="0"/>
              <a:t>It’s better to get a sufficiently precise estimated answer to the right model, than an exact answer to the wrong model</a:t>
            </a:r>
          </a:p>
          <a:p>
            <a:pPr lvl="1"/>
            <a:r>
              <a:rPr lang="en-US" dirty="0"/>
              <a:t>Some statistical variation in the answers can be expected when using different versions of the same software on the same model</a:t>
            </a:r>
          </a:p>
          <a:p>
            <a:pPr lvl="2"/>
            <a:r>
              <a:rPr lang="en-US" dirty="0"/>
              <a:t>e.g., Change in order of processing simultaneous events</a:t>
            </a:r>
          </a:p>
          <a:p>
            <a:pPr lvl="2"/>
            <a:r>
              <a:rPr lang="en-US" dirty="0"/>
              <a:t>But even for a stochastic model, should get the same results from multiple executions of the same model in the same software version</a:t>
            </a:r>
          </a:p>
          <a:p>
            <a:pPr lvl="3"/>
            <a:r>
              <a:rPr lang="en-US" dirty="0"/>
              <a:t>Random-number generators aren’t really random … desirable </a:t>
            </a:r>
          </a:p>
          <a:p>
            <a:pPr lvl="1">
              <a:spcBef>
                <a:spcPts val="100"/>
              </a:spcBef>
            </a:pPr>
            <a:endParaRPr lang="en-US" dirty="0"/>
          </a:p>
          <a:p>
            <a:pPr lvl="4"/>
            <a:endParaRPr lang="en-US" dirty="0"/>
          </a:p>
        </p:txBody>
      </p:sp>
    </p:spTree>
    <p:extLst>
      <p:ext uri="{BB962C8B-B14F-4D97-AF65-F5344CB8AC3E}">
        <p14:creationId xmlns:p14="http://schemas.microsoft.com/office/powerpoint/2010/main" val="99040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to Simulate</a:t>
            </a:r>
          </a:p>
        </p:txBody>
      </p:sp>
      <p:sp>
        <p:nvSpPr>
          <p:cNvPr id="3" name="Content Placeholder 2"/>
          <p:cNvSpPr>
            <a:spLocks noGrp="1"/>
          </p:cNvSpPr>
          <p:nvPr>
            <p:ph idx="1"/>
          </p:nvPr>
        </p:nvSpPr>
        <p:spPr>
          <a:xfrm>
            <a:off x="355002" y="1312433"/>
            <a:ext cx="11478410" cy="4864530"/>
          </a:xfrm>
        </p:spPr>
        <p:txBody>
          <a:bodyPr>
            <a:normAutofit lnSpcReduction="10000"/>
          </a:bodyPr>
          <a:lstStyle/>
          <a:p>
            <a:r>
              <a:rPr lang="en-US" u="sng" dirty="0">
                <a:solidFill>
                  <a:srgbClr val="C00000"/>
                </a:solidFill>
              </a:rPr>
              <a:t>Capabilities and advantages of simulation (not from the book):</a:t>
            </a:r>
          </a:p>
          <a:p>
            <a:pPr lvl="1"/>
            <a:r>
              <a:rPr lang="en-US" dirty="0"/>
              <a:t>can identify bottlenecks in the system</a:t>
            </a:r>
          </a:p>
          <a:p>
            <a:pPr lvl="1"/>
            <a:r>
              <a:rPr lang="en-US" dirty="0"/>
              <a:t>can provide: insight into the system’s behavior, detailed output, understanding how the system really operates</a:t>
            </a:r>
          </a:p>
          <a:p>
            <a:pPr lvl="1"/>
            <a:r>
              <a:rPr lang="en-US" dirty="0"/>
              <a:t>time compression and expansion</a:t>
            </a:r>
          </a:p>
          <a:p>
            <a:pPr lvl="1"/>
            <a:r>
              <a:rPr lang="en-US" dirty="0"/>
              <a:t>explore possibilities (what if questions)</a:t>
            </a:r>
          </a:p>
          <a:p>
            <a:pPr lvl="1"/>
            <a:r>
              <a:rPr lang="en-US" dirty="0"/>
              <a:t>diagnose problems and identify constraints</a:t>
            </a:r>
          </a:p>
          <a:p>
            <a:pPr lvl="1"/>
            <a:r>
              <a:rPr lang="en-US" dirty="0"/>
              <a:t>requires fewer assumptions</a:t>
            </a:r>
          </a:p>
          <a:p>
            <a:pPr lvl="1"/>
            <a:r>
              <a:rPr lang="en-US" dirty="0"/>
              <a:t>handles randomness and uncertainty</a:t>
            </a:r>
          </a:p>
          <a:p>
            <a:pPr lvl="1"/>
            <a:r>
              <a:rPr lang="en-US" dirty="0"/>
              <a:t>display dynamic behavior</a:t>
            </a:r>
          </a:p>
          <a:p>
            <a:pPr lvl="1"/>
            <a:r>
              <a:rPr lang="en-US" dirty="0"/>
              <a:t>flexible and easy to change</a:t>
            </a:r>
          </a:p>
          <a:p>
            <a:pPr lvl="1"/>
            <a:r>
              <a:rPr lang="en-US" dirty="0"/>
              <a:t>credible and results are easier to explain</a:t>
            </a:r>
          </a:p>
          <a:p>
            <a:pPr lvl="1"/>
            <a:r>
              <a:rPr lang="en-US" dirty="0"/>
              <a:t>can be used to verify and reinforce analytical methods and solutions</a:t>
            </a:r>
          </a:p>
          <a:p>
            <a:pPr lvl="1">
              <a:spcBef>
                <a:spcPts val="100"/>
              </a:spcBef>
            </a:pPr>
            <a:endParaRPr lang="en-US" dirty="0"/>
          </a:p>
          <a:p>
            <a:pPr lvl="4"/>
            <a:endParaRPr lang="en-US" dirty="0"/>
          </a:p>
        </p:txBody>
      </p:sp>
    </p:spTree>
    <p:extLst>
      <p:ext uri="{BB962C8B-B14F-4D97-AF65-F5344CB8AC3E}">
        <p14:creationId xmlns:p14="http://schemas.microsoft.com/office/powerpoint/2010/main" val="3537639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to Simulate</a:t>
            </a:r>
          </a:p>
        </p:txBody>
      </p:sp>
      <p:sp>
        <p:nvSpPr>
          <p:cNvPr id="3" name="Content Placeholder 2"/>
          <p:cNvSpPr>
            <a:spLocks noGrp="1"/>
          </p:cNvSpPr>
          <p:nvPr>
            <p:ph idx="1"/>
          </p:nvPr>
        </p:nvSpPr>
        <p:spPr>
          <a:xfrm>
            <a:off x="355002" y="1312433"/>
            <a:ext cx="11478410" cy="4864530"/>
          </a:xfrm>
        </p:spPr>
        <p:txBody>
          <a:bodyPr>
            <a:normAutofit/>
          </a:bodyPr>
          <a:lstStyle/>
          <a:p>
            <a:r>
              <a:rPr lang="en-US" u="sng" dirty="0">
                <a:solidFill>
                  <a:srgbClr val="C00000"/>
                </a:solidFill>
              </a:rPr>
              <a:t>Limitations and disadvantages(?) of simulation (not from the book):</a:t>
            </a:r>
          </a:p>
          <a:p>
            <a:pPr lvl="1"/>
            <a:r>
              <a:rPr lang="en-US" dirty="0"/>
              <a:t>“RUN” rather than “SOLVED”</a:t>
            </a:r>
          </a:p>
          <a:p>
            <a:pPr lvl="1"/>
            <a:r>
              <a:rPr lang="en-US" dirty="0"/>
              <a:t>can not generate an optimal solution on their own whereas analytical models can</a:t>
            </a:r>
          </a:p>
          <a:p>
            <a:pPr lvl="1"/>
            <a:r>
              <a:rPr lang="en-US" dirty="0"/>
              <a:t>random output obtained from stochastic simulations (i.e., statistical analysis of output is required)</a:t>
            </a:r>
          </a:p>
          <a:p>
            <a:pPr lvl="1"/>
            <a:r>
              <a:rPr lang="en-US" dirty="0"/>
              <a:t>requires specialized training in</a:t>
            </a:r>
          </a:p>
          <a:p>
            <a:pPr lvl="2"/>
            <a:r>
              <a:rPr lang="en-US" dirty="0"/>
              <a:t>probability and statistics</a:t>
            </a:r>
          </a:p>
          <a:p>
            <a:pPr lvl="2"/>
            <a:r>
              <a:rPr lang="en-US" dirty="0"/>
              <a:t>computer programming</a:t>
            </a:r>
          </a:p>
          <a:p>
            <a:pPr lvl="2"/>
            <a:r>
              <a:rPr lang="en-US" dirty="0"/>
              <a:t>system analysis</a:t>
            </a:r>
          </a:p>
          <a:p>
            <a:pPr lvl="2"/>
            <a:r>
              <a:rPr lang="en-US" dirty="0"/>
              <a:t>simulation methodology</a:t>
            </a:r>
          </a:p>
          <a:p>
            <a:pPr lvl="1"/>
            <a:r>
              <a:rPr lang="en-US" dirty="0"/>
              <a:t>Costly? (software and hardware)</a:t>
            </a:r>
          </a:p>
          <a:p>
            <a:pPr lvl="4"/>
            <a:endParaRPr lang="en-US" dirty="0"/>
          </a:p>
        </p:txBody>
      </p:sp>
    </p:spTree>
    <p:extLst>
      <p:ext uri="{BB962C8B-B14F-4D97-AF65-F5344CB8AC3E}">
        <p14:creationId xmlns:p14="http://schemas.microsoft.com/office/powerpoint/2010/main" val="1743594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Simulation Success Skills</a:t>
            </a:r>
          </a:p>
        </p:txBody>
      </p:sp>
      <p:sp>
        <p:nvSpPr>
          <p:cNvPr id="3" name="Content Placeholder 2"/>
          <p:cNvSpPr>
            <a:spLocks noGrp="1"/>
          </p:cNvSpPr>
          <p:nvPr>
            <p:ph idx="1"/>
          </p:nvPr>
        </p:nvSpPr>
        <p:spPr>
          <a:xfrm>
            <a:off x="355002" y="1312433"/>
            <a:ext cx="11478410" cy="4864530"/>
          </a:xfrm>
        </p:spPr>
        <p:txBody>
          <a:bodyPr>
            <a:normAutofit/>
          </a:bodyPr>
          <a:lstStyle/>
          <a:p>
            <a:pPr>
              <a:spcBef>
                <a:spcPts val="800"/>
              </a:spcBef>
              <a:spcAft>
                <a:spcPts val="600"/>
              </a:spcAft>
            </a:pPr>
            <a:r>
              <a:rPr lang="en-US" dirty="0"/>
              <a:t>To successfully use simulation, the following should be considered</a:t>
            </a:r>
          </a:p>
          <a:p>
            <a:pPr lvl="1">
              <a:spcBef>
                <a:spcPts val="0"/>
              </a:spcBef>
            </a:pPr>
            <a:r>
              <a:rPr lang="en-US" dirty="0">
                <a:solidFill>
                  <a:srgbClr val="C00000"/>
                </a:solidFill>
              </a:rPr>
              <a:t>Project Objectives:</a:t>
            </a:r>
          </a:p>
          <a:p>
            <a:pPr lvl="2"/>
            <a:r>
              <a:rPr lang="en-US" i="1" dirty="0"/>
              <a:t>Stakeholder</a:t>
            </a:r>
            <a:r>
              <a:rPr lang="en-US" dirty="0"/>
              <a:t> – Someone who commissions, funds, uses, or is affected by a simulation project</a:t>
            </a:r>
          </a:p>
          <a:p>
            <a:pPr lvl="2"/>
            <a:r>
              <a:rPr lang="en-US" dirty="0"/>
              <a:t>Conflicting objectives between different stakeholders are not uncommon</a:t>
            </a:r>
          </a:p>
          <a:p>
            <a:pPr lvl="2"/>
            <a:r>
              <a:rPr lang="en-US" dirty="0"/>
              <a:t>There is no “single simulation model” for a system – the “right” model depends on a combination of the system and the </a:t>
            </a:r>
            <a:r>
              <a:rPr lang="en-US" i="1" dirty="0"/>
              <a:t>study objectives</a:t>
            </a:r>
            <a:r>
              <a:rPr lang="en-US" dirty="0"/>
              <a:t>:</a:t>
            </a:r>
          </a:p>
          <a:p>
            <a:pPr lvl="3"/>
            <a:r>
              <a:rPr lang="en-US" dirty="0"/>
              <a:t>What do you want to evaluate, learn, or hope to prove?</a:t>
            </a:r>
          </a:p>
          <a:p>
            <a:pPr lvl="3"/>
            <a:r>
              <a:rPr lang="en-US" dirty="0"/>
              <a:t>What’s the scope of the project? How much detail is anticipated for each component of the system?</a:t>
            </a:r>
          </a:p>
          <a:p>
            <a:pPr lvl="3"/>
            <a:r>
              <a:rPr lang="en-US" dirty="0"/>
              <a:t>What components are critical? Which less-important components can be approximated?</a:t>
            </a:r>
          </a:p>
          <a:p>
            <a:pPr lvl="3"/>
            <a:r>
              <a:rPr lang="en-US" dirty="0"/>
              <a:t>What data are available or can be collected? How good is it? Who will provide them and when?</a:t>
            </a:r>
          </a:p>
          <a:p>
            <a:pPr lvl="3"/>
            <a:r>
              <a:rPr lang="en-US" dirty="0"/>
              <a:t>How much experimentation will be required?</a:t>
            </a:r>
          </a:p>
          <a:p>
            <a:pPr lvl="3"/>
            <a:r>
              <a:rPr lang="en-US" dirty="0"/>
              <a:t>Are animations needed? To what extent?</a:t>
            </a:r>
          </a:p>
          <a:p>
            <a:pPr lvl="3"/>
            <a:r>
              <a:rPr lang="en-US" dirty="0"/>
              <a:t>In what form do you want the results?</a:t>
            </a:r>
          </a:p>
          <a:p>
            <a:pPr lvl="2"/>
            <a:endParaRPr lang="en-US" dirty="0"/>
          </a:p>
        </p:txBody>
      </p:sp>
    </p:spTree>
    <p:extLst>
      <p:ext uri="{BB962C8B-B14F-4D97-AF65-F5344CB8AC3E}">
        <p14:creationId xmlns:p14="http://schemas.microsoft.com/office/powerpoint/2010/main" val="832317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Simulation Success Skills</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t>To successfully use simulation, the following should be considered</a:t>
            </a:r>
          </a:p>
          <a:p>
            <a:pPr lvl="1"/>
            <a:r>
              <a:rPr lang="en-US" dirty="0">
                <a:solidFill>
                  <a:srgbClr val="C00000"/>
                </a:solidFill>
              </a:rPr>
              <a:t>Functional Specification:</a:t>
            </a:r>
          </a:p>
          <a:p>
            <a:pPr lvl="2"/>
            <a:r>
              <a:rPr lang="en-US" dirty="0"/>
              <a:t>F</a:t>
            </a:r>
            <a:r>
              <a:rPr lang="en-US" i="1" dirty="0"/>
              <a:t>unctional specification</a:t>
            </a:r>
            <a:r>
              <a:rPr lang="en-US" dirty="0"/>
              <a:t> – a document describing exactly what will be delivered, when, how, and by whom</a:t>
            </a:r>
          </a:p>
          <a:p>
            <a:pPr lvl="1"/>
            <a:r>
              <a:rPr lang="en-US" dirty="0"/>
              <a:t>For most models, typical components in a functional specification are:</a:t>
            </a:r>
          </a:p>
          <a:p>
            <a:pPr lvl="2"/>
            <a:r>
              <a:rPr lang="en-US" dirty="0"/>
              <a:t>Objectives, System description and modeling approach, Input data required, Expected experimentation, Output Data, Deliverables, Project Phases…</a:t>
            </a:r>
          </a:p>
          <a:p>
            <a:pPr lvl="1"/>
            <a:r>
              <a:rPr lang="en-US" dirty="0"/>
              <a:t>From practical experience, approximately </a:t>
            </a:r>
            <a:r>
              <a:rPr lang="en-US" b="1" dirty="0"/>
              <a:t>5-10%</a:t>
            </a:r>
            <a:r>
              <a:rPr lang="en-US" dirty="0"/>
              <a:t> of a project’s total time should be spent on developing the objectives and functional specification.</a:t>
            </a:r>
          </a:p>
          <a:p>
            <a:pPr lvl="1"/>
            <a:r>
              <a:rPr lang="en-US" dirty="0"/>
              <a:t>This is NOT extra time, but rather moving selected important work to the beginning of the project where it can be used for planning and estimating the work.</a:t>
            </a:r>
          </a:p>
          <a:p>
            <a:pPr marL="914400" lvl="2" indent="0">
              <a:buNone/>
              <a:defRPr/>
            </a:pPr>
            <a:r>
              <a:rPr lang="en-US" dirty="0"/>
              <a:t>	</a:t>
            </a:r>
          </a:p>
          <a:p>
            <a:pPr lvl="2"/>
            <a:endParaRPr lang="en-US" dirty="0"/>
          </a:p>
        </p:txBody>
      </p:sp>
      <p:pic>
        <p:nvPicPr>
          <p:cNvPr id="4" name="Content Placeholder 4">
            <a:extLst>
              <a:ext uri="{FF2B5EF4-FFF2-40B4-BE49-F238E27FC236}">
                <a16:creationId xmlns:a16="http://schemas.microsoft.com/office/drawing/2014/main" id="{E04BFA09-BA30-499E-A9DE-4841C0F27B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3473664" y="5234253"/>
            <a:ext cx="4911969" cy="151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5504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Simulation Success Skills</a:t>
            </a:r>
          </a:p>
        </p:txBody>
      </p:sp>
      <p:sp>
        <p:nvSpPr>
          <p:cNvPr id="3" name="Content Placeholder 2"/>
          <p:cNvSpPr>
            <a:spLocks noGrp="1"/>
          </p:cNvSpPr>
          <p:nvPr>
            <p:ph idx="1"/>
          </p:nvPr>
        </p:nvSpPr>
        <p:spPr>
          <a:xfrm>
            <a:off x="355002" y="1312433"/>
            <a:ext cx="11478410" cy="4864530"/>
          </a:xfrm>
        </p:spPr>
        <p:txBody>
          <a:bodyPr>
            <a:normAutofit lnSpcReduction="10000"/>
          </a:bodyPr>
          <a:lstStyle/>
          <a:p>
            <a:r>
              <a:rPr lang="en-US" dirty="0"/>
              <a:t>To successfully use simulation, the following should be considered</a:t>
            </a:r>
          </a:p>
          <a:p>
            <a:pPr lvl="1"/>
            <a:r>
              <a:rPr lang="en-US" dirty="0">
                <a:solidFill>
                  <a:srgbClr val="C00000"/>
                </a:solidFill>
              </a:rPr>
              <a:t>Project Iterations:</a:t>
            </a:r>
          </a:p>
          <a:p>
            <a:pPr lvl="2"/>
            <a:r>
              <a:rPr lang="en-US" u="sng" dirty="0"/>
              <a:t>Do not do: </a:t>
            </a:r>
            <a:r>
              <a:rPr lang="en-US" dirty="0"/>
              <a:t>start modeling and keep adding to the model until it’s “complete,” and only then run the model.</a:t>
            </a:r>
          </a:p>
          <a:p>
            <a:pPr lvl="2"/>
            <a:r>
              <a:rPr lang="en-US" u="sng" dirty="0"/>
              <a:t>Do: </a:t>
            </a:r>
            <a:r>
              <a:rPr lang="en-US" dirty="0"/>
              <a:t>Use an iterative model-building process</a:t>
            </a:r>
          </a:p>
          <a:p>
            <a:pPr lvl="3"/>
            <a:r>
              <a:rPr lang="en-US" dirty="0"/>
              <a:t>Add features/model components</a:t>
            </a:r>
          </a:p>
          <a:p>
            <a:pPr lvl="3"/>
            <a:r>
              <a:rPr lang="en-US" dirty="0"/>
              <a:t>Run/Test</a:t>
            </a:r>
          </a:p>
          <a:p>
            <a:pPr lvl="3"/>
            <a:r>
              <a:rPr lang="en-US" dirty="0"/>
              <a:t>Repeat</a:t>
            </a:r>
          </a:p>
          <a:p>
            <a:pPr lvl="2"/>
            <a:r>
              <a:rPr lang="en-US" dirty="0"/>
              <a:t>“Save early, save often!”</a:t>
            </a:r>
          </a:p>
          <a:p>
            <a:pPr lvl="1"/>
            <a:endParaRPr lang="en-US" dirty="0">
              <a:solidFill>
                <a:srgbClr val="C00000"/>
              </a:solidFill>
            </a:endParaRPr>
          </a:p>
          <a:p>
            <a:pPr lvl="1"/>
            <a:r>
              <a:rPr lang="en-US" dirty="0">
                <a:solidFill>
                  <a:srgbClr val="C00000"/>
                </a:solidFill>
              </a:rPr>
              <a:t>Project Management and Agility:</a:t>
            </a:r>
          </a:p>
          <a:p>
            <a:pPr lvl="2"/>
            <a:r>
              <a:rPr lang="en-US" dirty="0"/>
              <a:t>Pay attention to timeline and budget!</a:t>
            </a:r>
          </a:p>
          <a:p>
            <a:pPr lvl="2"/>
            <a:r>
              <a:rPr lang="en-US" dirty="0"/>
              <a:t>Plan activities accordingly</a:t>
            </a:r>
          </a:p>
          <a:p>
            <a:pPr lvl="3"/>
            <a:r>
              <a:rPr lang="en-US" dirty="0"/>
              <a:t>Time allocation</a:t>
            </a:r>
          </a:p>
          <a:p>
            <a:pPr lvl="3"/>
            <a:r>
              <a:rPr lang="en-US" dirty="0"/>
              <a:t>Budget allocation</a:t>
            </a:r>
          </a:p>
          <a:p>
            <a:pPr lvl="2"/>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65041" y="2580047"/>
            <a:ext cx="2120344" cy="1417523"/>
          </a:xfrm>
          <a:prstGeom prst="rect">
            <a:avLst/>
          </a:prstGeom>
        </p:spPr>
      </p:pic>
      <p:pic>
        <p:nvPicPr>
          <p:cNvPr id="5" name="Picture 4"/>
          <p:cNvPicPr>
            <a:picLocks noChangeAspect="1"/>
          </p:cNvPicPr>
          <p:nvPr/>
        </p:nvPicPr>
        <p:blipFill>
          <a:blip r:embed="rId3"/>
          <a:stretch>
            <a:fillRect/>
          </a:stretch>
        </p:blipFill>
        <p:spPr>
          <a:xfrm>
            <a:off x="6740769" y="4381219"/>
            <a:ext cx="3099720" cy="1412095"/>
          </a:xfrm>
          <a:prstGeom prst="rect">
            <a:avLst/>
          </a:prstGeom>
        </p:spPr>
      </p:pic>
    </p:spTree>
    <p:extLst>
      <p:ext uri="{BB962C8B-B14F-4D97-AF65-F5344CB8AC3E}">
        <p14:creationId xmlns:p14="http://schemas.microsoft.com/office/powerpoint/2010/main" val="1628981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3" end="1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Simulation Success Skills</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t>To successfully use simulation, the following should be considered</a:t>
            </a:r>
          </a:p>
          <a:p>
            <a:pPr lvl="1"/>
            <a:r>
              <a:rPr lang="en-US" dirty="0">
                <a:solidFill>
                  <a:srgbClr val="C00000"/>
                </a:solidFill>
              </a:rPr>
              <a:t>Bill of Rights</a:t>
            </a:r>
          </a:p>
        </p:txBody>
      </p:sp>
      <p:pic>
        <p:nvPicPr>
          <p:cNvPr id="6" name="Picture 5"/>
          <p:cNvPicPr>
            <a:picLocks noChangeAspect="1"/>
          </p:cNvPicPr>
          <p:nvPr/>
        </p:nvPicPr>
        <p:blipFill>
          <a:blip r:embed="rId2"/>
          <a:stretch>
            <a:fillRect/>
          </a:stretch>
        </p:blipFill>
        <p:spPr>
          <a:xfrm>
            <a:off x="5060209" y="2091709"/>
            <a:ext cx="3265994" cy="4192831"/>
          </a:xfrm>
          <a:prstGeom prst="rect">
            <a:avLst/>
          </a:prstGeom>
        </p:spPr>
      </p:pic>
      <p:pic>
        <p:nvPicPr>
          <p:cNvPr id="7" name="Picture 6"/>
          <p:cNvPicPr>
            <a:picLocks noChangeAspect="1"/>
          </p:cNvPicPr>
          <p:nvPr/>
        </p:nvPicPr>
        <p:blipFill>
          <a:blip r:embed="rId3"/>
          <a:stretch>
            <a:fillRect/>
          </a:stretch>
        </p:blipFill>
        <p:spPr>
          <a:xfrm>
            <a:off x="8567417" y="2091709"/>
            <a:ext cx="3265995" cy="4192831"/>
          </a:xfrm>
          <a:prstGeom prst="rect">
            <a:avLst/>
          </a:prstGeom>
        </p:spPr>
      </p:pic>
      <p:sp>
        <p:nvSpPr>
          <p:cNvPr id="8" name="TextBox 7"/>
          <p:cNvSpPr txBox="1"/>
          <p:nvPr/>
        </p:nvSpPr>
        <p:spPr>
          <a:xfrm>
            <a:off x="355002" y="2051537"/>
            <a:ext cx="4267200" cy="2308324"/>
          </a:xfrm>
          <a:prstGeom prst="rect">
            <a:avLst/>
          </a:prstGeom>
          <a:noFill/>
        </p:spPr>
        <p:txBody>
          <a:bodyPr wrap="square" rtlCol="0">
            <a:spAutoFit/>
          </a:bodyPr>
          <a:lstStyle/>
          <a:p>
            <a:pPr marL="1200150" lvl="2" indent="-285750">
              <a:buFont typeface="Arial" panose="020B0604020202020204" pitchFamily="34" charset="0"/>
              <a:buChar char="•"/>
            </a:pPr>
            <a:r>
              <a:rPr lang="en-US" dirty="0"/>
              <a:t>For </a:t>
            </a:r>
            <a:r>
              <a:rPr lang="en-US" b="1" dirty="0"/>
              <a:t>Simulation Stakeholder </a:t>
            </a:r>
            <a:r>
              <a:rPr lang="en-US" dirty="0"/>
              <a:t>– What your stakeholder can expect from you.</a:t>
            </a:r>
          </a:p>
          <a:p>
            <a:pPr marL="1200150" lvl="2" indent="-285750">
              <a:buFont typeface="Arial" panose="020B0604020202020204" pitchFamily="34" charset="0"/>
              <a:buChar char="•"/>
            </a:pPr>
            <a:r>
              <a:rPr lang="en-US" dirty="0"/>
              <a:t>For </a:t>
            </a:r>
            <a:r>
              <a:rPr lang="en-US" b="1" i="1" dirty="0" err="1"/>
              <a:t>Simulationist</a:t>
            </a:r>
            <a:r>
              <a:rPr lang="en-US" dirty="0"/>
              <a:t> – What </a:t>
            </a:r>
            <a:r>
              <a:rPr lang="en-US" u="sng" dirty="0"/>
              <a:t>you</a:t>
            </a:r>
            <a:r>
              <a:rPr lang="en-US" dirty="0"/>
              <a:t> can expect from your stakeholders.</a:t>
            </a:r>
          </a:p>
          <a:p>
            <a:pPr marL="1200150" lvl="2" indent="-285750">
              <a:buFont typeface="Arial" panose="020B0604020202020204" pitchFamily="34" charset="0"/>
              <a:buChar char="•"/>
            </a:pPr>
            <a:r>
              <a:rPr lang="en-US" dirty="0"/>
              <a:t>Read SS Chapter 1.5.5</a:t>
            </a:r>
          </a:p>
          <a:p>
            <a:pPr lvl="2"/>
            <a:endParaRPr lang="en-US" dirty="0"/>
          </a:p>
        </p:txBody>
      </p:sp>
    </p:spTree>
    <p:extLst>
      <p:ext uri="{BB962C8B-B14F-4D97-AF65-F5344CB8AC3E}">
        <p14:creationId xmlns:p14="http://schemas.microsoft.com/office/powerpoint/2010/main" val="4077988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355002" y="1312433"/>
            <a:ext cx="9271219" cy="4864530"/>
          </a:xfrm>
        </p:spPr>
        <p:txBody>
          <a:bodyPr>
            <a:normAutofit/>
          </a:bodyPr>
          <a:lstStyle/>
          <a:p>
            <a:r>
              <a:rPr lang="en-US" dirty="0">
                <a:solidFill>
                  <a:schemeClr val="bg2"/>
                </a:solidFill>
              </a:rPr>
              <a:t>Simulation Process</a:t>
            </a:r>
          </a:p>
          <a:p>
            <a:pPr lvl="1"/>
            <a:r>
              <a:rPr lang="en-US" dirty="0">
                <a:solidFill>
                  <a:schemeClr val="bg2"/>
                </a:solidFill>
              </a:rPr>
              <a:t>Simulation, Systems and Models </a:t>
            </a:r>
          </a:p>
          <a:p>
            <a:pPr lvl="1"/>
            <a:r>
              <a:rPr lang="en-US" dirty="0">
                <a:solidFill>
                  <a:schemeClr val="bg2"/>
                </a:solidFill>
              </a:rPr>
              <a:t>Randomness and the Simulation Process </a:t>
            </a:r>
          </a:p>
          <a:p>
            <a:endParaRPr lang="en-US" dirty="0">
              <a:solidFill>
                <a:schemeClr val="bg2"/>
              </a:solidFill>
            </a:endParaRPr>
          </a:p>
          <a:p>
            <a:r>
              <a:rPr lang="en-US" dirty="0">
                <a:solidFill>
                  <a:schemeClr val="bg2"/>
                </a:solidFill>
              </a:rPr>
              <a:t>Simulation Approach</a:t>
            </a:r>
          </a:p>
          <a:p>
            <a:pPr lvl="1"/>
            <a:r>
              <a:rPr lang="en-US" dirty="0">
                <a:solidFill>
                  <a:schemeClr val="bg2"/>
                </a:solidFill>
              </a:rPr>
              <a:t>When to Simulate (and When Not to) </a:t>
            </a:r>
          </a:p>
          <a:p>
            <a:pPr lvl="1"/>
            <a:r>
              <a:rPr lang="en-US" dirty="0">
                <a:solidFill>
                  <a:schemeClr val="bg2"/>
                </a:solidFill>
              </a:rPr>
              <a:t>Simulation Success Skills</a:t>
            </a:r>
          </a:p>
          <a:p>
            <a:endParaRPr lang="en-US" dirty="0"/>
          </a:p>
          <a:p>
            <a:r>
              <a:rPr lang="en-US" dirty="0"/>
              <a:t>Review and System Examples</a:t>
            </a:r>
          </a:p>
          <a:p>
            <a:pPr marL="0" indent="0">
              <a:buNone/>
            </a:pPr>
            <a:endParaRPr lang="en-US" dirty="0"/>
          </a:p>
          <a:p>
            <a:pPr lvl="1"/>
            <a:endParaRPr lang="en-US" dirty="0"/>
          </a:p>
        </p:txBody>
      </p:sp>
    </p:spTree>
    <p:extLst>
      <p:ext uri="{BB962C8B-B14F-4D97-AF65-F5344CB8AC3E}">
        <p14:creationId xmlns:p14="http://schemas.microsoft.com/office/powerpoint/2010/main" val="29595000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a:t>
            </a:r>
          </a:p>
        </p:txBody>
      </p:sp>
      <p:sp>
        <p:nvSpPr>
          <p:cNvPr id="3" name="Content Placeholder 2"/>
          <p:cNvSpPr>
            <a:spLocks noGrp="1"/>
          </p:cNvSpPr>
          <p:nvPr>
            <p:ph idx="1"/>
          </p:nvPr>
        </p:nvSpPr>
        <p:spPr/>
        <p:txBody>
          <a:bodyPr>
            <a:normAutofit lnSpcReduction="10000"/>
          </a:bodyPr>
          <a:lstStyle/>
          <a:p>
            <a:r>
              <a:rPr lang="en-US" dirty="0"/>
              <a:t>A simulation is an approximate imitation of the operation of a process or system</a:t>
            </a:r>
          </a:p>
          <a:p>
            <a:r>
              <a:rPr lang="en-US" dirty="0"/>
              <a:t>Simulation types:</a:t>
            </a:r>
          </a:p>
          <a:p>
            <a:pPr lvl="1"/>
            <a:r>
              <a:rPr lang="en-US" dirty="0"/>
              <a:t>Stochastic vs. Deterministic</a:t>
            </a:r>
          </a:p>
          <a:p>
            <a:pPr lvl="1"/>
            <a:r>
              <a:rPr lang="en-US" dirty="0"/>
              <a:t>Static vs. Dynamic</a:t>
            </a:r>
          </a:p>
          <a:p>
            <a:pPr lvl="1"/>
            <a:r>
              <a:rPr lang="en-US" dirty="0"/>
              <a:t>Discrete vs. Continuous</a:t>
            </a:r>
          </a:p>
          <a:p>
            <a:r>
              <a:rPr lang="en-US" dirty="0"/>
              <a:t>Input can be random </a:t>
            </a:r>
            <a:r>
              <a:rPr lang="en-US" dirty="0">
                <a:sym typeface="Wingdings" panose="05000000000000000000" pitchFamily="2" charset="2"/>
              </a:rPr>
              <a:t> Then, output will be random</a:t>
            </a:r>
          </a:p>
          <a:p>
            <a:pPr lvl="1"/>
            <a:r>
              <a:rPr lang="en-US" dirty="0">
                <a:sym typeface="Wingdings" panose="05000000000000000000" pitchFamily="2" charset="2"/>
              </a:rPr>
              <a:t>Be mindful of the uncertainty of the output</a:t>
            </a:r>
          </a:p>
          <a:p>
            <a:r>
              <a:rPr lang="en-US" dirty="0"/>
              <a:t>Simulation process is iterative</a:t>
            </a:r>
          </a:p>
          <a:p>
            <a:r>
              <a:rPr lang="en-US" dirty="0"/>
              <a:t>Know when to and not to simulate</a:t>
            </a:r>
          </a:p>
          <a:p>
            <a:r>
              <a:rPr lang="en-US" dirty="0"/>
              <a:t>Manage the simulation project carefully</a:t>
            </a:r>
          </a:p>
          <a:p>
            <a:endParaRPr lang="en-US" dirty="0"/>
          </a:p>
          <a:p>
            <a:pPr lvl="1"/>
            <a:endParaRPr lang="en-US" dirty="0"/>
          </a:p>
        </p:txBody>
      </p:sp>
      <p:pic>
        <p:nvPicPr>
          <p:cNvPr id="4" name="Picture 3">
            <a:extLst>
              <a:ext uri="{FF2B5EF4-FFF2-40B4-BE49-F238E27FC236}">
                <a16:creationId xmlns:a16="http://schemas.microsoft.com/office/drawing/2014/main" id="{114004EE-C1F8-43BB-831F-1B1B921EFF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08193" y="2795315"/>
            <a:ext cx="2428022" cy="2176847"/>
          </a:xfrm>
          <a:prstGeom prst="rect">
            <a:avLst/>
          </a:prstGeom>
        </p:spPr>
      </p:pic>
    </p:spTree>
    <p:extLst>
      <p:ext uri="{BB962C8B-B14F-4D97-AF65-F5344CB8AC3E}">
        <p14:creationId xmlns:p14="http://schemas.microsoft.com/office/powerpoint/2010/main" val="29681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Examples</a:t>
            </a:r>
          </a:p>
        </p:txBody>
      </p:sp>
      <p:sp>
        <p:nvSpPr>
          <p:cNvPr id="3" name="Content Placeholder 2"/>
          <p:cNvSpPr>
            <a:spLocks noGrp="1"/>
          </p:cNvSpPr>
          <p:nvPr>
            <p:ph idx="1"/>
          </p:nvPr>
        </p:nvSpPr>
        <p:spPr/>
        <p:txBody>
          <a:bodyPr>
            <a:normAutofit/>
          </a:bodyPr>
          <a:lstStyle/>
          <a:p>
            <a:r>
              <a:rPr lang="en-US" dirty="0"/>
              <a:t>Types of simulation: follow types of systems</a:t>
            </a:r>
          </a:p>
          <a:p>
            <a:r>
              <a:rPr lang="en-US" u="sng" dirty="0"/>
              <a:t>Stochastic vs. Deterministic</a:t>
            </a:r>
          </a:p>
          <a:p>
            <a:r>
              <a:rPr lang="en-US" sz="2400" dirty="0">
                <a:solidFill>
                  <a:srgbClr val="C00000"/>
                </a:solidFill>
              </a:rPr>
              <a:t>Deterministic</a:t>
            </a:r>
            <a:r>
              <a:rPr lang="en-US" sz="2400" dirty="0"/>
              <a:t> – no random inputs to model, so outputs are always the same (unless you change something in the model)</a:t>
            </a:r>
          </a:p>
          <a:p>
            <a:pPr lvl="1"/>
            <a:r>
              <a:rPr lang="en-US" sz="2000" dirty="0"/>
              <a:t>Example 1: Suppose that you are controlling the inventory of a non-perishable product</a:t>
            </a:r>
          </a:p>
          <a:p>
            <a:pPr lvl="2"/>
            <a:r>
              <a:rPr lang="en-US" sz="1600" dirty="0"/>
              <a:t>You count inventory at each day</a:t>
            </a:r>
          </a:p>
          <a:p>
            <a:pPr lvl="2"/>
            <a:r>
              <a:rPr lang="en-US" sz="1600" dirty="0"/>
              <a:t>You know how many you sell each day</a:t>
            </a:r>
          </a:p>
          <a:p>
            <a:pPr lvl="2"/>
            <a:r>
              <a:rPr lang="en-US" sz="1600" dirty="0"/>
              <a:t>Given your beginning inventory, you can calculate your ending inventory</a:t>
            </a:r>
          </a:p>
          <a:p>
            <a:pPr lvl="2"/>
            <a:r>
              <a:rPr lang="en-US" sz="1600" dirty="0"/>
              <a:t>The system is deterministic</a:t>
            </a:r>
          </a:p>
          <a:p>
            <a:pPr lvl="3"/>
            <a:r>
              <a:rPr lang="en-US" sz="1400" dirty="0"/>
              <a:t>No randomness in the input </a:t>
            </a:r>
            <a:r>
              <a:rPr lang="en-US" sz="1400" dirty="0">
                <a:sym typeface="Wingdings" panose="05000000000000000000" pitchFamily="2" charset="2"/>
              </a:rPr>
              <a:t> demand is known, beginning inventory is known  ending inventory is known</a:t>
            </a:r>
          </a:p>
          <a:p>
            <a:pPr lvl="1"/>
            <a:r>
              <a:rPr lang="en-US" sz="2000" dirty="0">
                <a:sym typeface="Wingdings" panose="05000000000000000000" pitchFamily="2" charset="2"/>
              </a:rPr>
              <a:t>Example 2: Some physics laws</a:t>
            </a:r>
            <a:endParaRPr lang="en-US" sz="2000" dirty="0"/>
          </a:p>
          <a:p>
            <a:pPr lvl="1"/>
            <a:endParaRPr lang="en-US" dirty="0"/>
          </a:p>
        </p:txBody>
      </p:sp>
    </p:spTree>
    <p:extLst>
      <p:ext uri="{BB962C8B-B14F-4D97-AF65-F5344CB8AC3E}">
        <p14:creationId xmlns:p14="http://schemas.microsoft.com/office/powerpoint/2010/main" val="1368704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Examples</a:t>
            </a:r>
          </a:p>
        </p:txBody>
      </p:sp>
      <p:sp>
        <p:nvSpPr>
          <p:cNvPr id="3" name="Content Placeholder 2"/>
          <p:cNvSpPr>
            <a:spLocks noGrp="1"/>
          </p:cNvSpPr>
          <p:nvPr>
            <p:ph idx="1"/>
          </p:nvPr>
        </p:nvSpPr>
        <p:spPr/>
        <p:txBody>
          <a:bodyPr>
            <a:normAutofit fontScale="92500" lnSpcReduction="20000"/>
          </a:bodyPr>
          <a:lstStyle/>
          <a:p>
            <a:r>
              <a:rPr lang="en-US" dirty="0"/>
              <a:t>Types of simulation: follow types of systems</a:t>
            </a:r>
          </a:p>
          <a:p>
            <a:r>
              <a:rPr lang="en-US" u="sng" dirty="0"/>
              <a:t>Stochastic vs. Deterministic</a:t>
            </a:r>
          </a:p>
          <a:p>
            <a:r>
              <a:rPr lang="en-US" sz="2400" dirty="0">
                <a:solidFill>
                  <a:srgbClr val="C00000"/>
                </a:solidFill>
              </a:rPr>
              <a:t>Stochastic</a:t>
            </a:r>
            <a:r>
              <a:rPr lang="en-US" sz="2400" dirty="0"/>
              <a:t> – random inputs to model to represent the realistic variation found in most systems  (time to complete a task, time between successive arrivals of customers, machine uptimes and downtimes, branching probabilities)</a:t>
            </a:r>
          </a:p>
          <a:p>
            <a:pPr lvl="1"/>
            <a:r>
              <a:rPr lang="en-US" sz="2000" dirty="0"/>
              <a:t>Example 1: Suppose that you are controlling the inventory of a perishable product</a:t>
            </a:r>
          </a:p>
          <a:p>
            <a:pPr lvl="2"/>
            <a:r>
              <a:rPr lang="en-US" sz="1600" dirty="0"/>
              <a:t>Your inventory level changes as customers come to your store for buying the product</a:t>
            </a:r>
          </a:p>
          <a:p>
            <a:pPr lvl="2"/>
            <a:r>
              <a:rPr lang="en-US" sz="1600" dirty="0"/>
              <a:t>Also, your inventory level changes as some products become obsolete</a:t>
            </a:r>
          </a:p>
          <a:p>
            <a:pPr lvl="2"/>
            <a:r>
              <a:rPr lang="en-US" sz="1600" dirty="0"/>
              <a:t>You count the number of items remaining in your inventory at the end of the day</a:t>
            </a:r>
          </a:p>
          <a:p>
            <a:pPr lvl="2"/>
            <a:r>
              <a:rPr lang="en-US" sz="1600" dirty="0"/>
              <a:t>You are interested in the how the ending inventory behaves</a:t>
            </a:r>
          </a:p>
          <a:p>
            <a:pPr lvl="2"/>
            <a:r>
              <a:rPr lang="en-US" sz="1600" dirty="0"/>
              <a:t>The simulation model: </a:t>
            </a:r>
          </a:p>
          <a:p>
            <a:pPr lvl="3"/>
            <a:r>
              <a:rPr lang="en-US" sz="1400" dirty="0"/>
              <a:t>Daily sales and probability of going obsolete will be input!</a:t>
            </a:r>
          </a:p>
          <a:p>
            <a:pPr lvl="3"/>
            <a:r>
              <a:rPr lang="en-US" sz="1400" dirty="0"/>
              <a:t>Input Randomness: </a:t>
            </a:r>
          </a:p>
          <a:p>
            <a:pPr lvl="4"/>
            <a:r>
              <a:rPr lang="en-US" sz="1400" dirty="0"/>
              <a:t>You do not know how many customers will come to your store to buy the product, so demand is random</a:t>
            </a:r>
          </a:p>
          <a:p>
            <a:pPr lvl="4"/>
            <a:r>
              <a:rPr lang="en-US" sz="1400" dirty="0"/>
              <a:t>You do not know how many products will become obsolete as time to perish is not exactly known</a:t>
            </a:r>
          </a:p>
          <a:p>
            <a:pPr lvl="3"/>
            <a:r>
              <a:rPr lang="en-US" sz="1400" dirty="0"/>
              <a:t>As you are interested in the inventory at the end of the day, the output data will be the ending inventory</a:t>
            </a:r>
          </a:p>
          <a:p>
            <a:pPr lvl="3"/>
            <a:r>
              <a:rPr lang="en-US" sz="1400" dirty="0"/>
              <a:t>Output Randomness:</a:t>
            </a:r>
          </a:p>
          <a:p>
            <a:pPr lvl="4"/>
            <a:r>
              <a:rPr lang="en-US" sz="1400" dirty="0"/>
              <a:t>Since, you do not know sales and you do not know # of products going obsolete, the output will change from day to day</a:t>
            </a:r>
          </a:p>
          <a:p>
            <a:pPr lvl="4"/>
            <a:endParaRPr lang="en-US" sz="1400" dirty="0"/>
          </a:p>
          <a:p>
            <a:pPr lvl="3"/>
            <a:endParaRPr lang="en-US" sz="1400" dirty="0"/>
          </a:p>
          <a:p>
            <a:pPr lvl="1"/>
            <a:endParaRPr lang="en-US" dirty="0"/>
          </a:p>
        </p:txBody>
      </p:sp>
    </p:spTree>
    <p:extLst>
      <p:ext uri="{BB962C8B-B14F-4D97-AF65-F5344CB8AC3E}">
        <p14:creationId xmlns:p14="http://schemas.microsoft.com/office/powerpoint/2010/main" val="3197001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4" end="1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Examples</a:t>
            </a:r>
          </a:p>
        </p:txBody>
      </p:sp>
      <p:sp>
        <p:nvSpPr>
          <p:cNvPr id="3" name="Content Placeholder 2"/>
          <p:cNvSpPr>
            <a:spLocks noGrp="1"/>
          </p:cNvSpPr>
          <p:nvPr>
            <p:ph idx="1"/>
          </p:nvPr>
        </p:nvSpPr>
        <p:spPr/>
        <p:txBody>
          <a:bodyPr>
            <a:normAutofit lnSpcReduction="10000"/>
          </a:bodyPr>
          <a:lstStyle/>
          <a:p>
            <a:r>
              <a:rPr lang="en-US" dirty="0"/>
              <a:t>Types of simulation: follow types of systems</a:t>
            </a:r>
          </a:p>
          <a:p>
            <a:r>
              <a:rPr lang="en-US" u="sng" dirty="0"/>
              <a:t>Stochastic vs. Deterministic</a:t>
            </a:r>
          </a:p>
          <a:p>
            <a:r>
              <a:rPr lang="en-US" sz="2400" dirty="0">
                <a:solidFill>
                  <a:srgbClr val="C00000"/>
                </a:solidFill>
              </a:rPr>
              <a:t>Stochastic</a:t>
            </a:r>
            <a:r>
              <a:rPr lang="en-US" sz="2400" dirty="0"/>
              <a:t> – random inputs to model to represent the realistic variation found in most systems  (time to complete a task, time between successive arrivals of customers, machine uptimes and downtimes, branching probabilities)</a:t>
            </a:r>
          </a:p>
          <a:p>
            <a:pPr lvl="1"/>
            <a:r>
              <a:rPr lang="en-US" sz="2000" dirty="0"/>
              <a:t>Example 2: Battery level of an electric car</a:t>
            </a:r>
          </a:p>
          <a:p>
            <a:pPr lvl="2"/>
            <a:r>
              <a:rPr lang="en-US" sz="1600" dirty="0"/>
              <a:t>Suppose that you drive an electric car</a:t>
            </a:r>
          </a:p>
          <a:p>
            <a:pPr lvl="2"/>
            <a:r>
              <a:rPr lang="en-US" sz="1600" dirty="0"/>
              <a:t>The battery will continuously deplete as you drive</a:t>
            </a:r>
          </a:p>
          <a:p>
            <a:pPr lvl="2"/>
            <a:r>
              <a:rPr lang="en-US" sz="1600" dirty="0"/>
              <a:t>The depletion rate depends on speed, the load in the car, the weather conditions, route-driving pattern (grade), as well as the age of battery</a:t>
            </a:r>
          </a:p>
          <a:p>
            <a:pPr lvl="2"/>
            <a:r>
              <a:rPr lang="en-US" sz="1600" dirty="0"/>
              <a:t>You are interested in how the battery level changes over time</a:t>
            </a:r>
          </a:p>
          <a:p>
            <a:pPr lvl="2"/>
            <a:r>
              <a:rPr lang="en-US" sz="1600" dirty="0"/>
              <a:t>The simulation model:</a:t>
            </a:r>
          </a:p>
          <a:p>
            <a:pPr lvl="3"/>
            <a:r>
              <a:rPr lang="en-US" sz="1400" dirty="0"/>
              <a:t>Load, speed over time, weather conditions, the route, the equations to define energy consumption rate</a:t>
            </a:r>
          </a:p>
          <a:p>
            <a:pPr lvl="3"/>
            <a:r>
              <a:rPr lang="en-US" sz="1400" dirty="0"/>
              <a:t>Input randomness: weather conditions, the speed might be random too (you do not know your exact speed at each moment)</a:t>
            </a:r>
          </a:p>
          <a:p>
            <a:pPr lvl="3"/>
            <a:r>
              <a:rPr lang="en-US" sz="1400" dirty="0"/>
              <a:t>You are interested in the battery level trajectory</a:t>
            </a:r>
          </a:p>
          <a:p>
            <a:pPr lvl="3"/>
            <a:r>
              <a:rPr lang="en-US" sz="1400" dirty="0"/>
              <a:t>Battery level at moment t will be random, as affected by the random input</a:t>
            </a:r>
          </a:p>
          <a:p>
            <a:pPr lvl="3"/>
            <a:endParaRPr lang="en-US" sz="1400" dirty="0"/>
          </a:p>
          <a:p>
            <a:pPr lvl="3"/>
            <a:endParaRPr lang="en-US" sz="1400" dirty="0"/>
          </a:p>
          <a:p>
            <a:pPr lvl="2"/>
            <a:endParaRPr lang="en-US" sz="200" dirty="0"/>
          </a:p>
          <a:p>
            <a:pPr lvl="3"/>
            <a:endParaRPr lang="en-US" sz="1400" dirty="0"/>
          </a:p>
          <a:p>
            <a:pPr lvl="1"/>
            <a:endParaRPr lang="en-US" dirty="0"/>
          </a:p>
        </p:txBody>
      </p:sp>
    </p:spTree>
    <p:extLst>
      <p:ext uri="{BB962C8B-B14F-4D97-AF65-F5344CB8AC3E}">
        <p14:creationId xmlns:p14="http://schemas.microsoft.com/office/powerpoint/2010/main" val="2046655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Examples</a:t>
            </a:r>
          </a:p>
        </p:txBody>
      </p:sp>
      <p:sp>
        <p:nvSpPr>
          <p:cNvPr id="3" name="Content Placeholder 2"/>
          <p:cNvSpPr>
            <a:spLocks noGrp="1"/>
          </p:cNvSpPr>
          <p:nvPr>
            <p:ph idx="1"/>
          </p:nvPr>
        </p:nvSpPr>
        <p:spPr/>
        <p:txBody>
          <a:bodyPr>
            <a:normAutofit/>
          </a:bodyPr>
          <a:lstStyle/>
          <a:p>
            <a:r>
              <a:rPr lang="en-US" dirty="0"/>
              <a:t>Types of simulation: follow types of systems</a:t>
            </a:r>
          </a:p>
          <a:p>
            <a:r>
              <a:rPr lang="en-US" u="sng" dirty="0"/>
              <a:t>Static vs. Dynamic</a:t>
            </a:r>
          </a:p>
          <a:p>
            <a:r>
              <a:rPr lang="en-US" sz="2400" dirty="0">
                <a:solidFill>
                  <a:srgbClr val="C00000"/>
                </a:solidFill>
              </a:rPr>
              <a:t>Static</a:t>
            </a:r>
            <a:r>
              <a:rPr lang="en-US" sz="2400" dirty="0"/>
              <a:t> – the time does not affect the system and its operation</a:t>
            </a:r>
          </a:p>
          <a:p>
            <a:pPr lvl="1"/>
            <a:r>
              <a:rPr lang="en-US" sz="2000" dirty="0"/>
              <a:t>The output of the system does not depend on time, it just depends on the input</a:t>
            </a:r>
          </a:p>
          <a:p>
            <a:pPr lvl="2"/>
            <a:r>
              <a:rPr lang="en-US" sz="1600" dirty="0"/>
              <a:t>If you have the same input at different times, you should have the same output at each of those times</a:t>
            </a:r>
          </a:p>
          <a:p>
            <a:pPr lvl="1"/>
            <a:r>
              <a:rPr lang="en-US" sz="2000" dirty="0"/>
              <a:t>Example 1: Analyzing how much you can win in a gambling game </a:t>
            </a:r>
            <a:r>
              <a:rPr lang="en-US" sz="2000" dirty="0">
                <a:sym typeface="Wingdings" panose="05000000000000000000" pitchFamily="2" charset="2"/>
              </a:rPr>
              <a:t> can generate outcomes randomly and see what happens  probability of winning a certain value does not change over time</a:t>
            </a:r>
          </a:p>
          <a:p>
            <a:pPr lvl="1"/>
            <a:r>
              <a:rPr lang="en-US" sz="2000" dirty="0">
                <a:sym typeface="Wingdings" panose="05000000000000000000" pitchFamily="2" charset="2"/>
              </a:rPr>
              <a:t>Example 2: The number seen after rolling the die</a:t>
            </a:r>
          </a:p>
          <a:p>
            <a:pPr lvl="2"/>
            <a:r>
              <a:rPr lang="en-US" sz="1600" dirty="0">
                <a:sym typeface="Wingdings" panose="05000000000000000000" pitchFamily="2" charset="2"/>
              </a:rPr>
              <a:t>The number you will see is random, however, it does not depend on time</a:t>
            </a:r>
          </a:p>
          <a:p>
            <a:pPr lvl="1"/>
            <a:r>
              <a:rPr lang="en-US" sz="2000" dirty="0">
                <a:sym typeface="Wingdings" panose="05000000000000000000" pitchFamily="2" charset="2"/>
              </a:rPr>
              <a:t>A static mathematical system</a:t>
            </a:r>
          </a:p>
          <a:p>
            <a:pPr lvl="2"/>
            <a:r>
              <a:rPr lang="en-US" sz="1600" dirty="0">
                <a:sym typeface="Wingdings" panose="05000000000000000000" pitchFamily="2" charset="2"/>
              </a:rPr>
              <a:t>F(x)=a*y(x), where a is a random variable</a:t>
            </a:r>
          </a:p>
          <a:p>
            <a:pPr lvl="2"/>
            <a:r>
              <a:rPr lang="en-US" sz="1600" dirty="0">
                <a:sym typeface="Wingdings" panose="05000000000000000000" pitchFamily="2" charset="2"/>
              </a:rPr>
              <a:t>The value of F(x) only depends on input x and the random a </a:t>
            </a:r>
          </a:p>
          <a:p>
            <a:pPr lvl="2"/>
            <a:r>
              <a:rPr lang="en-US" sz="1600" dirty="0">
                <a:sym typeface="Wingdings" panose="05000000000000000000" pitchFamily="2" charset="2"/>
              </a:rPr>
              <a:t>Input is random  a is random, so this is a stochastic system</a:t>
            </a:r>
          </a:p>
          <a:p>
            <a:pPr lvl="1"/>
            <a:endParaRPr lang="en-US" sz="2000" dirty="0"/>
          </a:p>
          <a:p>
            <a:pPr lvl="1"/>
            <a:endParaRPr lang="en-US" dirty="0"/>
          </a:p>
        </p:txBody>
      </p:sp>
    </p:spTree>
    <p:extLst>
      <p:ext uri="{BB962C8B-B14F-4D97-AF65-F5344CB8AC3E}">
        <p14:creationId xmlns:p14="http://schemas.microsoft.com/office/powerpoint/2010/main" val="897757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Examples</a:t>
            </a:r>
          </a:p>
        </p:txBody>
      </p:sp>
      <p:sp>
        <p:nvSpPr>
          <p:cNvPr id="3" name="Content Placeholder 2"/>
          <p:cNvSpPr>
            <a:spLocks noGrp="1"/>
          </p:cNvSpPr>
          <p:nvPr>
            <p:ph idx="1"/>
          </p:nvPr>
        </p:nvSpPr>
        <p:spPr/>
        <p:txBody>
          <a:bodyPr>
            <a:normAutofit/>
          </a:bodyPr>
          <a:lstStyle/>
          <a:p>
            <a:r>
              <a:rPr lang="en-US" dirty="0"/>
              <a:t>Types of simulation: follow types of systems</a:t>
            </a:r>
          </a:p>
          <a:p>
            <a:r>
              <a:rPr lang="en-US" u="sng" dirty="0"/>
              <a:t>Static vs. Dynamic</a:t>
            </a:r>
          </a:p>
          <a:p>
            <a:r>
              <a:rPr lang="en-US" sz="2400" dirty="0">
                <a:solidFill>
                  <a:srgbClr val="C00000"/>
                </a:solidFill>
              </a:rPr>
              <a:t>Dynamic</a:t>
            </a:r>
            <a:r>
              <a:rPr lang="en-US" sz="2400" dirty="0"/>
              <a:t> – the operations are depending on the time</a:t>
            </a:r>
          </a:p>
          <a:p>
            <a:pPr lvl="1"/>
            <a:r>
              <a:rPr lang="en-US" sz="2000" dirty="0"/>
              <a:t>It is impossible to model the system without time dimension</a:t>
            </a:r>
          </a:p>
          <a:p>
            <a:pPr lvl="1"/>
            <a:r>
              <a:rPr lang="en-US" sz="2000" dirty="0"/>
              <a:t>Operations/processes are related to each other over time</a:t>
            </a:r>
          </a:p>
          <a:p>
            <a:pPr lvl="1"/>
            <a:r>
              <a:rPr lang="en-US" sz="2000" dirty="0"/>
              <a:t>A queueing system: customer’s interarrival times, customer service times, etc.</a:t>
            </a:r>
            <a:endParaRPr lang="en-US" dirty="0"/>
          </a:p>
          <a:p>
            <a:pPr lvl="1"/>
            <a:r>
              <a:rPr lang="en-US" sz="2000" dirty="0"/>
              <a:t>Example 1: The number of customers adopting to a new product</a:t>
            </a:r>
          </a:p>
          <a:p>
            <a:pPr lvl="2"/>
            <a:r>
              <a:rPr lang="en-US" sz="1600" dirty="0"/>
              <a:t>The adoption rate at a moment will depend on the exact moment, how many customers adopted up to that moment as well</a:t>
            </a:r>
          </a:p>
          <a:p>
            <a:pPr lvl="1"/>
            <a:r>
              <a:rPr lang="en-US" sz="2000" dirty="0"/>
              <a:t>Example 2: The growth rate of a population</a:t>
            </a:r>
          </a:p>
          <a:p>
            <a:pPr lvl="2"/>
            <a:r>
              <a:rPr lang="en-US" sz="1600" dirty="0"/>
              <a:t>It depends on the population size, as well as the ages of the individuals at the moment</a:t>
            </a:r>
          </a:p>
        </p:txBody>
      </p:sp>
    </p:spTree>
    <p:extLst>
      <p:ext uri="{BB962C8B-B14F-4D97-AF65-F5344CB8AC3E}">
        <p14:creationId xmlns:p14="http://schemas.microsoft.com/office/powerpoint/2010/main" val="2503982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Examples</a:t>
            </a:r>
          </a:p>
        </p:txBody>
      </p:sp>
      <p:sp>
        <p:nvSpPr>
          <p:cNvPr id="3" name="Content Placeholder 2"/>
          <p:cNvSpPr>
            <a:spLocks noGrp="1"/>
          </p:cNvSpPr>
          <p:nvPr>
            <p:ph idx="1"/>
          </p:nvPr>
        </p:nvSpPr>
        <p:spPr/>
        <p:txBody>
          <a:bodyPr>
            <a:normAutofit/>
          </a:bodyPr>
          <a:lstStyle/>
          <a:p>
            <a:r>
              <a:rPr lang="en-US" dirty="0"/>
              <a:t>Types of simulation: follow types of systems</a:t>
            </a:r>
          </a:p>
          <a:p>
            <a:r>
              <a:rPr lang="en-US" u="sng" dirty="0"/>
              <a:t>Discrete vs. Continuous (for dynamic systems)</a:t>
            </a:r>
          </a:p>
          <a:p>
            <a:r>
              <a:rPr lang="en-US" sz="2400" dirty="0">
                <a:solidFill>
                  <a:srgbClr val="C00000"/>
                </a:solidFill>
              </a:rPr>
              <a:t>Discrete</a:t>
            </a:r>
            <a:r>
              <a:rPr lang="en-US" sz="2400" dirty="0"/>
              <a:t> – state variables describing the model change only at instantaneous discrete points in time (event times)</a:t>
            </a:r>
          </a:p>
          <a:p>
            <a:pPr lvl="1"/>
            <a:r>
              <a:rPr lang="en-US" sz="2000" dirty="0"/>
              <a:t>Number of customers in queue, server status (busy, idle, down)</a:t>
            </a:r>
            <a:endParaRPr lang="en-US" dirty="0"/>
          </a:p>
          <a:p>
            <a:pPr lvl="1"/>
            <a:r>
              <a:rPr lang="en-US" sz="2000" dirty="0"/>
              <a:t>Example 1: Consider the population of a species</a:t>
            </a:r>
          </a:p>
          <a:p>
            <a:pPr lvl="2"/>
            <a:r>
              <a:rPr lang="en-US" sz="1600" dirty="0"/>
              <a:t>The population changes when there is a death or a birth</a:t>
            </a:r>
          </a:p>
          <a:p>
            <a:pPr lvl="2"/>
            <a:r>
              <a:rPr lang="en-US" sz="1600" dirty="0"/>
              <a:t>So, the population changes at discrete time points</a:t>
            </a:r>
          </a:p>
          <a:p>
            <a:pPr lvl="1"/>
            <a:r>
              <a:rPr lang="en-US" sz="2000" dirty="0"/>
              <a:t>Example 2: the inventory level</a:t>
            </a:r>
          </a:p>
          <a:p>
            <a:pPr lvl="2"/>
            <a:r>
              <a:rPr lang="en-US" sz="1600" dirty="0"/>
              <a:t>The inventory level changes when there is a sale or when there is a new delivery</a:t>
            </a:r>
          </a:p>
          <a:p>
            <a:pPr lvl="2"/>
            <a:r>
              <a:rPr lang="en-US" sz="1600" dirty="0"/>
              <a:t>So, the inventory level changes at discrete time points</a:t>
            </a:r>
          </a:p>
        </p:txBody>
      </p:sp>
    </p:spTree>
    <p:extLst>
      <p:ext uri="{BB962C8B-B14F-4D97-AF65-F5344CB8AC3E}">
        <p14:creationId xmlns:p14="http://schemas.microsoft.com/office/powerpoint/2010/main" val="152400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Examples</a:t>
            </a:r>
          </a:p>
        </p:txBody>
      </p:sp>
      <p:sp>
        <p:nvSpPr>
          <p:cNvPr id="3" name="Content Placeholder 2"/>
          <p:cNvSpPr>
            <a:spLocks noGrp="1"/>
          </p:cNvSpPr>
          <p:nvPr>
            <p:ph idx="1"/>
          </p:nvPr>
        </p:nvSpPr>
        <p:spPr/>
        <p:txBody>
          <a:bodyPr>
            <a:normAutofit/>
          </a:bodyPr>
          <a:lstStyle/>
          <a:p>
            <a:r>
              <a:rPr lang="en-US" dirty="0"/>
              <a:t>Types of simulation: follow types of systems</a:t>
            </a:r>
          </a:p>
          <a:p>
            <a:r>
              <a:rPr lang="en-US" u="sng" dirty="0"/>
              <a:t>Discrete vs. Continuous (for dynamic systems)</a:t>
            </a:r>
          </a:p>
          <a:p>
            <a:r>
              <a:rPr lang="en-US" sz="2400" dirty="0">
                <a:solidFill>
                  <a:srgbClr val="C00000"/>
                </a:solidFill>
              </a:rPr>
              <a:t>Continuous</a:t>
            </a:r>
            <a:r>
              <a:rPr lang="en-US" sz="2400" dirty="0"/>
              <a:t> – state variables can change continuously over time, described by differential equations that are solved numerically</a:t>
            </a:r>
          </a:p>
          <a:p>
            <a:pPr lvl="1"/>
            <a:r>
              <a:rPr lang="en-US" sz="2000" dirty="0"/>
              <a:t>Pressure in a tank, temperature in an oven, fluid flow</a:t>
            </a:r>
          </a:p>
          <a:p>
            <a:pPr lvl="1"/>
            <a:r>
              <a:rPr lang="en-US" sz="2000" dirty="0"/>
              <a:t>Example 1: Back to our battery example</a:t>
            </a:r>
          </a:p>
          <a:p>
            <a:pPr lvl="1"/>
            <a:endParaRPr lang="en-US" dirty="0"/>
          </a:p>
        </p:txBody>
      </p:sp>
    </p:spTree>
    <p:extLst>
      <p:ext uri="{BB962C8B-B14F-4D97-AF65-F5344CB8AC3E}">
        <p14:creationId xmlns:p14="http://schemas.microsoft.com/office/powerpoint/2010/main" val="229571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5507</TotalTime>
  <Words>4448</Words>
  <Application>Microsoft Office PowerPoint</Application>
  <PresentationFormat>Widescreen</PresentationFormat>
  <Paragraphs>505</Paragraphs>
  <Slides>42</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Calibri</vt:lpstr>
      <vt:lpstr>Calibri Light</vt:lpstr>
      <vt:lpstr>Cambria Math</vt:lpstr>
      <vt:lpstr>Garamond</vt:lpstr>
      <vt:lpstr>Wingdings</vt:lpstr>
      <vt:lpstr>Office Theme</vt:lpstr>
      <vt:lpstr>QMST 5335 Module 2.3 Introduction to Simulation  </vt:lpstr>
      <vt:lpstr>Queueing Theory vs. Simulation</vt:lpstr>
      <vt:lpstr>Queueing Theory vs. Simulation</vt:lpstr>
      <vt:lpstr>Learning Objectives:</vt:lpstr>
      <vt:lpstr>Outline</vt:lpstr>
      <vt:lpstr>Outline</vt:lpstr>
      <vt:lpstr>Simulation</vt:lpstr>
      <vt:lpstr>Systems and Models</vt:lpstr>
      <vt:lpstr>Systems and Models</vt:lpstr>
      <vt:lpstr>Systems and Models</vt:lpstr>
      <vt:lpstr>Systems and Models</vt:lpstr>
      <vt:lpstr>Systems and Models</vt:lpstr>
      <vt:lpstr>Systems and Models</vt:lpstr>
      <vt:lpstr>Systems and Models</vt:lpstr>
      <vt:lpstr>Systems and Models</vt:lpstr>
      <vt:lpstr>Systems and Models</vt:lpstr>
      <vt:lpstr>Systems and Models</vt:lpstr>
      <vt:lpstr>Randomness and Simulation Process</vt:lpstr>
      <vt:lpstr>Randomness</vt:lpstr>
      <vt:lpstr>Randomness</vt:lpstr>
      <vt:lpstr>Randomness</vt:lpstr>
      <vt:lpstr>Simulation Process</vt:lpstr>
      <vt:lpstr>Simulation Process</vt:lpstr>
      <vt:lpstr>Outline</vt:lpstr>
      <vt:lpstr>When to Simulate</vt:lpstr>
      <vt:lpstr>When to Simulate</vt:lpstr>
      <vt:lpstr>When to Simulate</vt:lpstr>
      <vt:lpstr>When to Simulate</vt:lpstr>
      <vt:lpstr>When to Simulate</vt:lpstr>
      <vt:lpstr>Simulation Success Skills</vt:lpstr>
      <vt:lpstr>Simulation Success Skills</vt:lpstr>
      <vt:lpstr>Simulation Success Skills</vt:lpstr>
      <vt:lpstr>Simulation Success Skills</vt:lpstr>
      <vt:lpstr>Outline</vt:lpstr>
      <vt:lpstr>Review</vt:lpstr>
      <vt:lpstr>System Examples</vt:lpstr>
      <vt:lpstr>System Examples</vt:lpstr>
      <vt:lpstr>System Examples</vt:lpstr>
      <vt:lpstr>System Examples</vt:lpstr>
      <vt:lpstr>System Examples</vt:lpstr>
      <vt:lpstr>System Examples</vt:lpstr>
      <vt:lpstr>System Examples</vt:lpstr>
    </vt:vector>
  </TitlesOfParts>
  <Company>Missouri University of Science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Konur, Dincer</dc:creator>
  <cp:lastModifiedBy>Sahika Sahan Konur</cp:lastModifiedBy>
  <cp:revision>306</cp:revision>
  <dcterms:created xsi:type="dcterms:W3CDTF">2018-08-17T02:14:39Z</dcterms:created>
  <dcterms:modified xsi:type="dcterms:W3CDTF">2024-02-27T14:11:26Z</dcterms:modified>
</cp:coreProperties>
</file>