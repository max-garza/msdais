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56"/>
  </p:notesMasterIdLst>
  <p:sldIdLst>
    <p:sldId id="480" r:id="rId2"/>
    <p:sldId id="260" r:id="rId3"/>
    <p:sldId id="481" r:id="rId4"/>
    <p:sldId id="433" r:id="rId5"/>
    <p:sldId id="434" r:id="rId6"/>
    <p:sldId id="435" r:id="rId7"/>
    <p:sldId id="436" r:id="rId8"/>
    <p:sldId id="437" r:id="rId9"/>
    <p:sldId id="482" r:id="rId10"/>
    <p:sldId id="442" r:id="rId11"/>
    <p:sldId id="444" r:id="rId12"/>
    <p:sldId id="443" r:id="rId13"/>
    <p:sldId id="445" r:id="rId14"/>
    <p:sldId id="446" r:id="rId15"/>
    <p:sldId id="447" r:id="rId16"/>
    <p:sldId id="450" r:id="rId17"/>
    <p:sldId id="448" r:id="rId18"/>
    <p:sldId id="449" r:id="rId19"/>
    <p:sldId id="452" r:id="rId20"/>
    <p:sldId id="453" r:id="rId21"/>
    <p:sldId id="454" r:id="rId22"/>
    <p:sldId id="455" r:id="rId23"/>
    <p:sldId id="456" r:id="rId24"/>
    <p:sldId id="457" r:id="rId25"/>
    <p:sldId id="458" r:id="rId26"/>
    <p:sldId id="459" r:id="rId27"/>
    <p:sldId id="460" r:id="rId28"/>
    <p:sldId id="483" r:id="rId29"/>
    <p:sldId id="576" r:id="rId30"/>
    <p:sldId id="578" r:id="rId31"/>
    <p:sldId id="579" r:id="rId32"/>
    <p:sldId id="580" r:id="rId33"/>
    <p:sldId id="581" r:id="rId34"/>
    <p:sldId id="468" r:id="rId35"/>
    <p:sldId id="469" r:id="rId36"/>
    <p:sldId id="470" r:id="rId37"/>
    <p:sldId id="471" r:id="rId38"/>
    <p:sldId id="583" r:id="rId39"/>
    <p:sldId id="486" r:id="rId40"/>
    <p:sldId id="488" r:id="rId41"/>
    <p:sldId id="489" r:id="rId42"/>
    <p:sldId id="490" r:id="rId43"/>
    <p:sldId id="487" r:id="rId44"/>
    <p:sldId id="491" r:id="rId45"/>
    <p:sldId id="492" r:id="rId46"/>
    <p:sldId id="493" r:id="rId47"/>
    <p:sldId id="495" r:id="rId48"/>
    <p:sldId id="497" r:id="rId49"/>
    <p:sldId id="498" r:id="rId50"/>
    <p:sldId id="496" r:id="rId51"/>
    <p:sldId id="499" r:id="rId52"/>
    <p:sldId id="500" r:id="rId53"/>
    <p:sldId id="501" r:id="rId54"/>
    <p:sldId id="502" r:id="rId5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77D6B"/>
    <a:srgbClr val="FF99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5F7AD7F-38DD-4B2F-A4A0-8D1126453A3C}" v="49" dt="2023-10-03T13:42:56.261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332" autoAdjust="0"/>
    <p:restoredTop sz="76208" autoAdjust="0"/>
  </p:normalViewPr>
  <p:slideViewPr>
    <p:cSldViewPr snapToGrid="0">
      <p:cViewPr varScale="1">
        <p:scale>
          <a:sx n="106" d="100"/>
          <a:sy n="106" d="100"/>
        </p:scale>
        <p:origin x="1288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viewProps" Target="viewProps.xml"/><Relationship Id="rId5" Type="http://schemas.openxmlformats.org/officeDocument/2006/relationships/slide" Target="slides/slide4.xml"/><Relationship Id="rId61" Type="http://schemas.microsoft.com/office/2016/11/relationships/changesInfo" Target="changesInfos/changesInfo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theme" Target="theme/theme1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presProps" Target="presProps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ahan Konur, Sahika" userId="739a6e03-9a4a-49c6-a350-571b31db94be" providerId="ADAL" clId="{B5F7AD7F-38DD-4B2F-A4A0-8D1126453A3C}"/>
    <pc:docChg chg="undo custSel delSld modSld">
      <pc:chgData name="Sahan Konur, Sahika" userId="739a6e03-9a4a-49c6-a350-571b31db94be" providerId="ADAL" clId="{B5F7AD7F-38DD-4B2F-A4A0-8D1126453A3C}" dt="2023-10-03T13:43:07.094" v="109" actId="1076"/>
      <pc:docMkLst>
        <pc:docMk/>
      </pc:docMkLst>
      <pc:sldChg chg="modSp mod">
        <pc:chgData name="Sahan Konur, Sahika" userId="739a6e03-9a4a-49c6-a350-571b31db94be" providerId="ADAL" clId="{B5F7AD7F-38DD-4B2F-A4A0-8D1126453A3C}" dt="2023-09-28T13:43:12.407" v="37" actId="27636"/>
        <pc:sldMkLst>
          <pc:docMk/>
          <pc:sldMk cId="3905814259" sldId="433"/>
        </pc:sldMkLst>
        <pc:spChg chg="mod">
          <ac:chgData name="Sahan Konur, Sahika" userId="739a6e03-9a4a-49c6-a350-571b31db94be" providerId="ADAL" clId="{B5F7AD7F-38DD-4B2F-A4A0-8D1126453A3C}" dt="2023-09-28T13:43:12.407" v="37" actId="27636"/>
          <ac:spMkLst>
            <pc:docMk/>
            <pc:sldMk cId="3905814259" sldId="433"/>
            <ac:spMk id="3" creationId="{00000000-0000-0000-0000-000000000000}"/>
          </ac:spMkLst>
        </pc:spChg>
      </pc:sldChg>
      <pc:sldChg chg="modSp mod modAnim">
        <pc:chgData name="Sahan Konur, Sahika" userId="739a6e03-9a4a-49c6-a350-571b31db94be" providerId="ADAL" clId="{B5F7AD7F-38DD-4B2F-A4A0-8D1126453A3C}" dt="2023-10-03T13:38:03.664" v="75" actId="20577"/>
        <pc:sldMkLst>
          <pc:docMk/>
          <pc:sldMk cId="3306214669" sldId="443"/>
        </pc:sldMkLst>
        <pc:spChg chg="mod">
          <ac:chgData name="Sahan Konur, Sahika" userId="739a6e03-9a4a-49c6-a350-571b31db94be" providerId="ADAL" clId="{B5F7AD7F-38DD-4B2F-A4A0-8D1126453A3C}" dt="2023-10-03T13:38:03.664" v="75" actId="20577"/>
          <ac:spMkLst>
            <pc:docMk/>
            <pc:sldMk cId="3306214669" sldId="443"/>
            <ac:spMk id="3" creationId="{00000000-0000-0000-0000-000000000000}"/>
          </ac:spMkLst>
        </pc:spChg>
      </pc:sldChg>
      <pc:sldChg chg="modSp mod">
        <pc:chgData name="Sahan Konur, Sahika" userId="739a6e03-9a4a-49c6-a350-571b31db94be" providerId="ADAL" clId="{B5F7AD7F-38DD-4B2F-A4A0-8D1126453A3C}" dt="2023-10-03T13:37:09.683" v="62" actId="1076"/>
        <pc:sldMkLst>
          <pc:docMk/>
          <pc:sldMk cId="4240178554" sldId="444"/>
        </pc:sldMkLst>
        <pc:spChg chg="mod">
          <ac:chgData name="Sahan Konur, Sahika" userId="739a6e03-9a4a-49c6-a350-571b31db94be" providerId="ADAL" clId="{B5F7AD7F-38DD-4B2F-A4A0-8D1126453A3C}" dt="2023-10-03T13:37:05.948" v="61" actId="27636"/>
          <ac:spMkLst>
            <pc:docMk/>
            <pc:sldMk cId="4240178554" sldId="444"/>
            <ac:spMk id="3" creationId="{00000000-0000-0000-0000-000000000000}"/>
          </ac:spMkLst>
        </pc:spChg>
        <pc:picChg chg="mod">
          <ac:chgData name="Sahan Konur, Sahika" userId="739a6e03-9a4a-49c6-a350-571b31db94be" providerId="ADAL" clId="{B5F7AD7F-38DD-4B2F-A4A0-8D1126453A3C}" dt="2023-10-03T13:37:09.683" v="62" actId="1076"/>
          <ac:picMkLst>
            <pc:docMk/>
            <pc:sldMk cId="4240178554" sldId="444"/>
            <ac:picMk id="6" creationId="{71597895-957D-445B-A7F9-2FB9DD731AFB}"/>
          </ac:picMkLst>
        </pc:picChg>
      </pc:sldChg>
      <pc:sldChg chg="modSp mod">
        <pc:chgData name="Sahan Konur, Sahika" userId="739a6e03-9a4a-49c6-a350-571b31db94be" providerId="ADAL" clId="{B5F7AD7F-38DD-4B2F-A4A0-8D1126453A3C}" dt="2023-09-28T13:43:12.901" v="40" actId="27636"/>
        <pc:sldMkLst>
          <pc:docMk/>
          <pc:sldMk cId="1534486827" sldId="445"/>
        </pc:sldMkLst>
        <pc:spChg chg="mod">
          <ac:chgData name="Sahan Konur, Sahika" userId="739a6e03-9a4a-49c6-a350-571b31db94be" providerId="ADAL" clId="{B5F7AD7F-38DD-4B2F-A4A0-8D1126453A3C}" dt="2023-09-28T13:43:12.901" v="40" actId="27636"/>
          <ac:spMkLst>
            <pc:docMk/>
            <pc:sldMk cId="1534486827" sldId="445"/>
            <ac:spMk id="3" creationId="{00000000-0000-0000-0000-000000000000}"/>
          </ac:spMkLst>
        </pc:spChg>
      </pc:sldChg>
      <pc:sldChg chg="modSp mod">
        <pc:chgData name="Sahan Konur, Sahika" userId="739a6e03-9a4a-49c6-a350-571b31db94be" providerId="ADAL" clId="{B5F7AD7F-38DD-4B2F-A4A0-8D1126453A3C}" dt="2023-09-28T13:43:12.910" v="41" actId="27636"/>
        <pc:sldMkLst>
          <pc:docMk/>
          <pc:sldMk cId="294325588" sldId="447"/>
        </pc:sldMkLst>
        <pc:spChg chg="mod">
          <ac:chgData name="Sahan Konur, Sahika" userId="739a6e03-9a4a-49c6-a350-571b31db94be" providerId="ADAL" clId="{B5F7AD7F-38DD-4B2F-A4A0-8D1126453A3C}" dt="2023-09-28T13:43:12.910" v="41" actId="27636"/>
          <ac:spMkLst>
            <pc:docMk/>
            <pc:sldMk cId="294325588" sldId="447"/>
            <ac:spMk id="3" creationId="{00000000-0000-0000-0000-000000000000}"/>
          </ac:spMkLst>
        </pc:spChg>
      </pc:sldChg>
      <pc:sldChg chg="modSp mod">
        <pc:chgData name="Sahan Konur, Sahika" userId="739a6e03-9a4a-49c6-a350-571b31db94be" providerId="ADAL" clId="{B5F7AD7F-38DD-4B2F-A4A0-8D1126453A3C}" dt="2023-09-28T13:43:13.035" v="42" actId="27636"/>
        <pc:sldMkLst>
          <pc:docMk/>
          <pc:sldMk cId="304783911" sldId="450"/>
        </pc:sldMkLst>
        <pc:spChg chg="mod">
          <ac:chgData name="Sahan Konur, Sahika" userId="739a6e03-9a4a-49c6-a350-571b31db94be" providerId="ADAL" clId="{B5F7AD7F-38DD-4B2F-A4A0-8D1126453A3C}" dt="2023-09-28T13:43:13.035" v="42" actId="27636"/>
          <ac:spMkLst>
            <pc:docMk/>
            <pc:sldMk cId="304783911" sldId="450"/>
            <ac:spMk id="3" creationId="{00000000-0000-0000-0000-000000000000}"/>
          </ac:spMkLst>
        </pc:spChg>
      </pc:sldChg>
      <pc:sldChg chg="modSp mod">
        <pc:chgData name="Sahan Konur, Sahika" userId="739a6e03-9a4a-49c6-a350-571b31db94be" providerId="ADAL" clId="{B5F7AD7F-38DD-4B2F-A4A0-8D1126453A3C}" dt="2023-09-28T13:43:13.145" v="43" actId="27636"/>
        <pc:sldMkLst>
          <pc:docMk/>
          <pc:sldMk cId="2749133394" sldId="454"/>
        </pc:sldMkLst>
        <pc:spChg chg="mod">
          <ac:chgData name="Sahan Konur, Sahika" userId="739a6e03-9a4a-49c6-a350-571b31db94be" providerId="ADAL" clId="{B5F7AD7F-38DD-4B2F-A4A0-8D1126453A3C}" dt="2023-09-28T13:43:13.145" v="43" actId="27636"/>
          <ac:spMkLst>
            <pc:docMk/>
            <pc:sldMk cId="2749133394" sldId="454"/>
            <ac:spMk id="3" creationId="{00000000-0000-0000-0000-000000000000}"/>
          </ac:spMkLst>
        </pc:spChg>
      </pc:sldChg>
      <pc:sldChg chg="modSp mod">
        <pc:chgData name="Sahan Konur, Sahika" userId="739a6e03-9a4a-49c6-a350-571b31db94be" providerId="ADAL" clId="{B5F7AD7F-38DD-4B2F-A4A0-8D1126453A3C}" dt="2023-09-28T13:43:13.192" v="44" actId="27636"/>
        <pc:sldMkLst>
          <pc:docMk/>
          <pc:sldMk cId="2022482673" sldId="455"/>
        </pc:sldMkLst>
        <pc:spChg chg="mod">
          <ac:chgData name="Sahan Konur, Sahika" userId="739a6e03-9a4a-49c6-a350-571b31db94be" providerId="ADAL" clId="{B5F7AD7F-38DD-4B2F-A4A0-8D1126453A3C}" dt="2023-09-28T13:43:13.192" v="44" actId="27636"/>
          <ac:spMkLst>
            <pc:docMk/>
            <pc:sldMk cId="2022482673" sldId="455"/>
            <ac:spMk id="3" creationId="{00000000-0000-0000-0000-000000000000}"/>
          </ac:spMkLst>
        </pc:spChg>
      </pc:sldChg>
      <pc:sldChg chg="modSp mod">
        <pc:chgData name="Sahan Konur, Sahika" userId="739a6e03-9a4a-49c6-a350-571b31db94be" providerId="ADAL" clId="{B5F7AD7F-38DD-4B2F-A4A0-8D1126453A3C}" dt="2023-10-03T13:39:11.149" v="77" actId="27636"/>
        <pc:sldMkLst>
          <pc:docMk/>
          <pc:sldMk cId="3733598767" sldId="459"/>
        </pc:sldMkLst>
        <pc:spChg chg="mod">
          <ac:chgData name="Sahan Konur, Sahika" userId="739a6e03-9a4a-49c6-a350-571b31db94be" providerId="ADAL" clId="{B5F7AD7F-38DD-4B2F-A4A0-8D1126453A3C}" dt="2023-10-03T13:39:11.149" v="77" actId="27636"/>
          <ac:spMkLst>
            <pc:docMk/>
            <pc:sldMk cId="3733598767" sldId="459"/>
            <ac:spMk id="3" creationId="{00000000-0000-0000-0000-000000000000}"/>
          </ac:spMkLst>
        </pc:spChg>
      </pc:sldChg>
      <pc:sldChg chg="modSp mod">
        <pc:chgData name="Sahan Konur, Sahika" userId="739a6e03-9a4a-49c6-a350-571b31db94be" providerId="ADAL" clId="{B5F7AD7F-38DD-4B2F-A4A0-8D1126453A3C}" dt="2023-10-03T13:41:17.307" v="97" actId="20577"/>
        <pc:sldMkLst>
          <pc:docMk/>
          <pc:sldMk cId="1411247834" sldId="468"/>
        </pc:sldMkLst>
        <pc:spChg chg="mod">
          <ac:chgData name="Sahan Konur, Sahika" userId="739a6e03-9a4a-49c6-a350-571b31db94be" providerId="ADAL" clId="{B5F7AD7F-38DD-4B2F-A4A0-8D1126453A3C}" dt="2023-10-03T13:41:17.307" v="97" actId="20577"/>
          <ac:spMkLst>
            <pc:docMk/>
            <pc:sldMk cId="1411247834" sldId="468"/>
            <ac:spMk id="2" creationId="{00000000-0000-0000-0000-000000000000}"/>
          </ac:spMkLst>
        </pc:spChg>
        <pc:spChg chg="mod">
          <ac:chgData name="Sahan Konur, Sahika" userId="739a6e03-9a4a-49c6-a350-571b31db94be" providerId="ADAL" clId="{B5F7AD7F-38DD-4B2F-A4A0-8D1126453A3C}" dt="2023-10-03T13:39:55.399" v="85" actId="20577"/>
          <ac:spMkLst>
            <pc:docMk/>
            <pc:sldMk cId="1411247834" sldId="468"/>
            <ac:spMk id="9" creationId="{D1BC390D-0B34-4C49-81F8-4344B6CC9208}"/>
          </ac:spMkLst>
        </pc:spChg>
        <pc:spChg chg="mod">
          <ac:chgData name="Sahan Konur, Sahika" userId="739a6e03-9a4a-49c6-a350-571b31db94be" providerId="ADAL" clId="{B5F7AD7F-38DD-4B2F-A4A0-8D1126453A3C}" dt="2023-10-03T13:40:02.930" v="90" actId="20577"/>
          <ac:spMkLst>
            <pc:docMk/>
            <pc:sldMk cId="1411247834" sldId="468"/>
            <ac:spMk id="10" creationId="{79462F2B-AA29-4F49-9573-F82593C5962E}"/>
          </ac:spMkLst>
        </pc:spChg>
        <pc:spChg chg="mod">
          <ac:chgData name="Sahan Konur, Sahika" userId="739a6e03-9a4a-49c6-a350-571b31db94be" providerId="ADAL" clId="{B5F7AD7F-38DD-4B2F-A4A0-8D1126453A3C}" dt="2023-10-03T13:39:59.172" v="87" actId="20577"/>
          <ac:spMkLst>
            <pc:docMk/>
            <pc:sldMk cId="1411247834" sldId="468"/>
            <ac:spMk id="11" creationId="{B09DE1AB-FAA6-4377-B664-4C9AF76AC46C}"/>
          </ac:spMkLst>
        </pc:spChg>
        <pc:spChg chg="mod">
          <ac:chgData name="Sahan Konur, Sahika" userId="739a6e03-9a4a-49c6-a350-571b31db94be" providerId="ADAL" clId="{B5F7AD7F-38DD-4B2F-A4A0-8D1126453A3C}" dt="2023-10-03T13:40:11.402" v="94" actId="20577"/>
          <ac:spMkLst>
            <pc:docMk/>
            <pc:sldMk cId="1411247834" sldId="468"/>
            <ac:spMk id="14" creationId="{ED3321D7-6B9B-464E-A25D-93B37F3E6C19}"/>
          </ac:spMkLst>
        </pc:spChg>
      </pc:sldChg>
      <pc:sldChg chg="modSp mod">
        <pc:chgData name="Sahan Konur, Sahika" userId="739a6e03-9a4a-49c6-a350-571b31db94be" providerId="ADAL" clId="{B5F7AD7F-38DD-4B2F-A4A0-8D1126453A3C}" dt="2023-10-03T13:41:14.669" v="96" actId="20577"/>
        <pc:sldMkLst>
          <pc:docMk/>
          <pc:sldMk cId="2075008771" sldId="469"/>
        </pc:sldMkLst>
        <pc:spChg chg="mod">
          <ac:chgData name="Sahan Konur, Sahika" userId="739a6e03-9a4a-49c6-a350-571b31db94be" providerId="ADAL" clId="{B5F7AD7F-38DD-4B2F-A4A0-8D1126453A3C}" dt="2023-10-03T13:41:14.669" v="96" actId="20577"/>
          <ac:spMkLst>
            <pc:docMk/>
            <pc:sldMk cId="2075008771" sldId="469"/>
            <ac:spMk id="2" creationId="{00000000-0000-0000-0000-000000000000}"/>
          </ac:spMkLst>
        </pc:spChg>
      </pc:sldChg>
      <pc:sldChg chg="del">
        <pc:chgData name="Sahan Konur, Sahika" userId="739a6e03-9a4a-49c6-a350-571b31db94be" providerId="ADAL" clId="{B5F7AD7F-38DD-4B2F-A4A0-8D1126453A3C}" dt="2023-09-28T13:38:31.100" v="15" actId="47"/>
        <pc:sldMkLst>
          <pc:docMk/>
          <pc:sldMk cId="4133845958" sldId="470"/>
        </pc:sldMkLst>
      </pc:sldChg>
      <pc:sldChg chg="del">
        <pc:chgData name="Sahan Konur, Sahika" userId="739a6e03-9a4a-49c6-a350-571b31db94be" providerId="ADAL" clId="{B5F7AD7F-38DD-4B2F-A4A0-8D1126453A3C}" dt="2023-09-28T13:38:33.393" v="16" actId="47"/>
        <pc:sldMkLst>
          <pc:docMk/>
          <pc:sldMk cId="3578113126" sldId="471"/>
        </pc:sldMkLst>
      </pc:sldChg>
      <pc:sldChg chg="modSp mod">
        <pc:chgData name="Sahan Konur, Sahika" userId="739a6e03-9a4a-49c6-a350-571b31db94be" providerId="ADAL" clId="{B5F7AD7F-38DD-4B2F-A4A0-8D1126453A3C}" dt="2023-09-28T13:43:46.738" v="54" actId="20577"/>
        <pc:sldMkLst>
          <pc:docMk/>
          <pc:sldMk cId="3134105533" sldId="480"/>
        </pc:sldMkLst>
        <pc:spChg chg="mod">
          <ac:chgData name="Sahan Konur, Sahika" userId="739a6e03-9a4a-49c6-a350-571b31db94be" providerId="ADAL" clId="{B5F7AD7F-38DD-4B2F-A4A0-8D1126453A3C}" dt="2023-09-28T13:43:46.738" v="54" actId="20577"/>
          <ac:spMkLst>
            <pc:docMk/>
            <pc:sldMk cId="3134105533" sldId="480"/>
            <ac:spMk id="2" creationId="{00000000-0000-0000-0000-000000000000}"/>
          </ac:spMkLst>
        </pc:spChg>
        <pc:spChg chg="mod">
          <ac:chgData name="Sahan Konur, Sahika" userId="739a6e03-9a4a-49c6-a350-571b31db94be" providerId="ADAL" clId="{B5F7AD7F-38DD-4B2F-A4A0-8D1126453A3C}" dt="2023-09-28T13:43:12.329" v="36" actId="27636"/>
          <ac:spMkLst>
            <pc:docMk/>
            <pc:sldMk cId="3134105533" sldId="480"/>
            <ac:spMk id="3" creationId="{00000000-0000-0000-0000-000000000000}"/>
          </ac:spMkLst>
        </pc:spChg>
      </pc:sldChg>
      <pc:sldChg chg="modSp mod">
        <pc:chgData name="Sahan Konur, Sahika" userId="739a6e03-9a4a-49c6-a350-571b31db94be" providerId="ADAL" clId="{B5F7AD7F-38DD-4B2F-A4A0-8D1126453A3C}" dt="2023-09-28T13:39:09.889" v="18" actId="33524"/>
        <pc:sldMkLst>
          <pc:docMk/>
          <pc:sldMk cId="1138012444" sldId="490"/>
        </pc:sldMkLst>
        <pc:spChg chg="mod">
          <ac:chgData name="Sahan Konur, Sahika" userId="739a6e03-9a4a-49c6-a350-571b31db94be" providerId="ADAL" clId="{B5F7AD7F-38DD-4B2F-A4A0-8D1126453A3C}" dt="2023-09-28T13:39:09.889" v="18" actId="33524"/>
          <ac:spMkLst>
            <pc:docMk/>
            <pc:sldMk cId="1138012444" sldId="490"/>
            <ac:spMk id="3" creationId="{00000000-0000-0000-0000-000000000000}"/>
          </ac:spMkLst>
        </pc:spChg>
      </pc:sldChg>
      <pc:sldChg chg="modAnim">
        <pc:chgData name="Sahan Konur, Sahika" userId="739a6e03-9a4a-49c6-a350-571b31db94be" providerId="ADAL" clId="{B5F7AD7F-38DD-4B2F-A4A0-8D1126453A3C}" dt="2023-09-28T13:42:39.999" v="29"/>
        <pc:sldMkLst>
          <pc:docMk/>
          <pc:sldMk cId="3463519250" sldId="491"/>
        </pc:sldMkLst>
      </pc:sldChg>
      <pc:sldChg chg="modAnim">
        <pc:chgData name="Sahan Konur, Sahika" userId="739a6e03-9a4a-49c6-a350-571b31db94be" providerId="ADAL" clId="{B5F7AD7F-38DD-4B2F-A4A0-8D1126453A3C}" dt="2023-09-28T13:42:45.993" v="30"/>
        <pc:sldMkLst>
          <pc:docMk/>
          <pc:sldMk cId="802822268" sldId="492"/>
        </pc:sldMkLst>
      </pc:sldChg>
      <pc:sldChg chg="addSp modSp modAnim">
        <pc:chgData name="Sahan Konur, Sahika" userId="739a6e03-9a4a-49c6-a350-571b31db94be" providerId="ADAL" clId="{B5F7AD7F-38DD-4B2F-A4A0-8D1126453A3C}" dt="2023-09-28T13:43:21.464" v="48" actId="571"/>
        <pc:sldMkLst>
          <pc:docMk/>
          <pc:sldMk cId="3146158702" sldId="495"/>
        </pc:sldMkLst>
        <pc:spChg chg="add mod">
          <ac:chgData name="Sahan Konur, Sahika" userId="739a6e03-9a4a-49c6-a350-571b31db94be" providerId="ADAL" clId="{B5F7AD7F-38DD-4B2F-A4A0-8D1126453A3C}" dt="2023-09-28T13:43:12.313" v="35" actId="571"/>
          <ac:spMkLst>
            <pc:docMk/>
            <pc:sldMk cId="3146158702" sldId="495"/>
            <ac:spMk id="10" creationId="{3E365B13-0C42-F9C4-DF88-A4219C2B4257}"/>
          </ac:spMkLst>
        </pc:spChg>
        <pc:spChg chg="add mod">
          <ac:chgData name="Sahan Konur, Sahika" userId="739a6e03-9a4a-49c6-a350-571b31db94be" providerId="ADAL" clId="{B5F7AD7F-38DD-4B2F-A4A0-8D1126453A3C}" dt="2023-09-28T13:43:12.313" v="35" actId="571"/>
          <ac:spMkLst>
            <pc:docMk/>
            <pc:sldMk cId="3146158702" sldId="495"/>
            <ac:spMk id="11" creationId="{50D107C4-692C-CEDA-F3D0-95683EC1D0E7}"/>
          </ac:spMkLst>
        </pc:spChg>
        <pc:spChg chg="add mod">
          <ac:chgData name="Sahan Konur, Sahika" userId="739a6e03-9a4a-49c6-a350-571b31db94be" providerId="ADAL" clId="{B5F7AD7F-38DD-4B2F-A4A0-8D1126453A3C}" dt="2023-09-28T13:43:12.313" v="35" actId="571"/>
          <ac:spMkLst>
            <pc:docMk/>
            <pc:sldMk cId="3146158702" sldId="495"/>
            <ac:spMk id="12" creationId="{CE4C6940-6BAF-A8E6-4D17-8F33487AB4B8}"/>
          </ac:spMkLst>
        </pc:spChg>
        <pc:spChg chg="add mod">
          <ac:chgData name="Sahan Konur, Sahika" userId="739a6e03-9a4a-49c6-a350-571b31db94be" providerId="ADAL" clId="{B5F7AD7F-38DD-4B2F-A4A0-8D1126453A3C}" dt="2023-09-28T13:43:21.464" v="48" actId="571"/>
          <ac:spMkLst>
            <pc:docMk/>
            <pc:sldMk cId="3146158702" sldId="495"/>
            <ac:spMk id="13" creationId="{49EAC360-F6C9-3932-7AF6-F7DAED70EB97}"/>
          </ac:spMkLst>
        </pc:spChg>
        <pc:spChg chg="add mod">
          <ac:chgData name="Sahan Konur, Sahika" userId="739a6e03-9a4a-49c6-a350-571b31db94be" providerId="ADAL" clId="{B5F7AD7F-38DD-4B2F-A4A0-8D1126453A3C}" dt="2023-09-28T13:43:21.464" v="48" actId="571"/>
          <ac:spMkLst>
            <pc:docMk/>
            <pc:sldMk cId="3146158702" sldId="495"/>
            <ac:spMk id="14" creationId="{23C1E2A5-4595-1560-7F9D-D16FADB7763C}"/>
          </ac:spMkLst>
        </pc:spChg>
        <pc:spChg chg="add mod">
          <ac:chgData name="Sahan Konur, Sahika" userId="739a6e03-9a4a-49c6-a350-571b31db94be" providerId="ADAL" clId="{B5F7AD7F-38DD-4B2F-A4A0-8D1126453A3C}" dt="2023-09-28T13:43:21.464" v="48" actId="571"/>
          <ac:spMkLst>
            <pc:docMk/>
            <pc:sldMk cId="3146158702" sldId="495"/>
            <ac:spMk id="15" creationId="{CE17039E-7683-0628-54A7-79DF0399257F}"/>
          </ac:spMkLst>
        </pc:spChg>
      </pc:sldChg>
      <pc:sldChg chg="modSp mod modAnim">
        <pc:chgData name="Sahan Konur, Sahika" userId="739a6e03-9a4a-49c6-a350-571b31db94be" providerId="ADAL" clId="{B5F7AD7F-38DD-4B2F-A4A0-8D1126453A3C}" dt="2023-10-03T13:43:07.094" v="109" actId="1076"/>
        <pc:sldMkLst>
          <pc:docMk/>
          <pc:sldMk cId="4077784373" sldId="579"/>
        </pc:sldMkLst>
        <pc:spChg chg="mod">
          <ac:chgData name="Sahan Konur, Sahika" userId="739a6e03-9a4a-49c6-a350-571b31db94be" providerId="ADAL" clId="{B5F7AD7F-38DD-4B2F-A4A0-8D1126453A3C}" dt="2023-10-03T13:42:56.260" v="108" actId="20577"/>
          <ac:spMkLst>
            <pc:docMk/>
            <pc:sldMk cId="4077784373" sldId="579"/>
            <ac:spMk id="3" creationId="{00000000-0000-0000-0000-000000000000}"/>
          </ac:spMkLst>
        </pc:spChg>
        <pc:graphicFrameChg chg="mod">
          <ac:chgData name="Sahan Konur, Sahika" userId="739a6e03-9a4a-49c6-a350-571b31db94be" providerId="ADAL" clId="{B5F7AD7F-38DD-4B2F-A4A0-8D1126453A3C}" dt="2023-10-03T13:43:07.094" v="109" actId="1076"/>
          <ac:graphicFrameMkLst>
            <pc:docMk/>
            <pc:sldMk cId="4077784373" sldId="579"/>
            <ac:graphicFrameMk id="7" creationId="{81836B20-4F2A-4C5E-A658-B6785CAC6517}"/>
          </ac:graphicFrameMkLst>
        </pc:graphicFrameChg>
      </pc:sldChg>
      <pc:sldChg chg="modSp mod">
        <pc:chgData name="Sahan Konur, Sahika" userId="739a6e03-9a4a-49c6-a350-571b31db94be" providerId="ADAL" clId="{B5F7AD7F-38DD-4B2F-A4A0-8D1126453A3C}" dt="2023-10-03T13:41:21.740" v="98" actId="20577"/>
        <pc:sldMkLst>
          <pc:docMk/>
          <pc:sldMk cId="2219241052" sldId="581"/>
        </pc:sldMkLst>
        <pc:spChg chg="mod">
          <ac:chgData name="Sahan Konur, Sahika" userId="739a6e03-9a4a-49c6-a350-571b31db94be" providerId="ADAL" clId="{B5F7AD7F-38DD-4B2F-A4A0-8D1126453A3C}" dt="2023-10-03T13:41:21.740" v="98" actId="20577"/>
          <ac:spMkLst>
            <pc:docMk/>
            <pc:sldMk cId="2219241052" sldId="581"/>
            <ac:spMk id="3" creationId="{00000000-0000-0000-0000-000000000000}"/>
          </ac:spMkLst>
        </pc:spChg>
      </pc:sldChg>
      <pc:sldChg chg="del">
        <pc:chgData name="Sahan Konur, Sahika" userId="739a6e03-9a4a-49c6-a350-571b31db94be" providerId="ADAL" clId="{B5F7AD7F-38DD-4B2F-A4A0-8D1126453A3C}" dt="2023-10-03T13:40:58.915" v="95" actId="47"/>
        <pc:sldMkLst>
          <pc:docMk/>
          <pc:sldMk cId="705364686" sldId="584"/>
        </pc:sldMkLst>
      </pc:sldChg>
    </pc:docChg>
  </pc:docChgLst>
  <pc:docChgLst>
    <pc:chgData name="Dincer Konur" userId="0cb337efb386619d" providerId="LiveId" clId="{E440FEF1-B75B-4D57-99AB-42BD66C8D82F}"/>
    <pc:docChg chg="undo modSld">
      <pc:chgData name="Dincer Konur" userId="0cb337efb386619d" providerId="LiveId" clId="{E440FEF1-B75B-4D57-99AB-42BD66C8D82F}" dt="2019-08-01T21:21:41.192" v="36"/>
      <pc:docMkLst>
        <pc:docMk/>
      </pc:docMkLst>
      <pc:sldChg chg="delSp">
        <pc:chgData name="Dincer Konur" userId="0cb337efb386619d" providerId="LiveId" clId="{E440FEF1-B75B-4D57-99AB-42BD66C8D82F}" dt="2019-07-25T00:13:38.309" v="6" actId="478"/>
        <pc:sldMkLst>
          <pc:docMk/>
          <pc:sldMk cId="0" sldId="398"/>
        </pc:sldMkLst>
        <pc:spChg chg="del">
          <ac:chgData name="Dincer Konur" userId="0cb337efb386619d" providerId="LiveId" clId="{E440FEF1-B75B-4D57-99AB-42BD66C8D82F}" dt="2019-07-25T00:13:38.309" v="6" actId="478"/>
          <ac:spMkLst>
            <pc:docMk/>
            <pc:sldMk cId="0" sldId="398"/>
            <ac:spMk id="26626" creationId="{00000000-0000-0000-0000-000000000000}"/>
          </ac:spMkLst>
        </pc:spChg>
        <pc:spChg chg="del">
          <ac:chgData name="Dincer Konur" userId="0cb337efb386619d" providerId="LiveId" clId="{E440FEF1-B75B-4D57-99AB-42BD66C8D82F}" dt="2019-07-25T00:13:34.969" v="5" actId="478"/>
          <ac:spMkLst>
            <pc:docMk/>
            <pc:sldMk cId="0" sldId="398"/>
            <ac:spMk id="26627" creationId="{00000000-0000-0000-0000-000000000000}"/>
          </ac:spMkLst>
        </pc:spChg>
      </pc:sldChg>
      <pc:sldChg chg="modAnim">
        <pc:chgData name="Dincer Konur" userId="0cb337efb386619d" providerId="LiveId" clId="{E440FEF1-B75B-4D57-99AB-42BD66C8D82F}" dt="2019-08-01T21:11:01.198" v="13"/>
        <pc:sldMkLst>
          <pc:docMk/>
          <pc:sldMk cId="3306214669" sldId="443"/>
        </pc:sldMkLst>
      </pc:sldChg>
      <pc:sldChg chg="modAnim">
        <pc:chgData name="Dincer Konur" userId="0cb337efb386619d" providerId="LiveId" clId="{E440FEF1-B75B-4D57-99AB-42BD66C8D82F}" dt="2019-08-01T21:12:02.646" v="14"/>
        <pc:sldMkLst>
          <pc:docMk/>
          <pc:sldMk cId="1534486827" sldId="445"/>
        </pc:sldMkLst>
      </pc:sldChg>
      <pc:sldChg chg="modSp">
        <pc:chgData name="Dincer Konur" userId="0cb337efb386619d" providerId="LiveId" clId="{E440FEF1-B75B-4D57-99AB-42BD66C8D82F}" dt="2019-08-01T21:14:46.982" v="18" actId="20577"/>
        <pc:sldMkLst>
          <pc:docMk/>
          <pc:sldMk cId="1175170991" sldId="448"/>
        </pc:sldMkLst>
        <pc:spChg chg="mod">
          <ac:chgData name="Dincer Konur" userId="0cb337efb386619d" providerId="LiveId" clId="{E440FEF1-B75B-4D57-99AB-42BD66C8D82F}" dt="2019-08-01T21:14:46.982" v="18" actId="20577"/>
          <ac:spMkLst>
            <pc:docMk/>
            <pc:sldMk cId="1175170991" sldId="448"/>
            <ac:spMk id="3" creationId="{00000000-0000-0000-0000-000000000000}"/>
          </ac:spMkLst>
        </pc:spChg>
      </pc:sldChg>
      <pc:sldChg chg="modAnim">
        <pc:chgData name="Dincer Konur" userId="0cb337efb386619d" providerId="LiveId" clId="{E440FEF1-B75B-4D57-99AB-42BD66C8D82F}" dt="2019-08-01T21:15:11.752" v="19"/>
        <pc:sldMkLst>
          <pc:docMk/>
          <pc:sldMk cId="3417279906" sldId="449"/>
        </pc:sldMkLst>
      </pc:sldChg>
      <pc:sldChg chg="modSp modAnim">
        <pc:chgData name="Dincer Konur" userId="0cb337efb386619d" providerId="LiveId" clId="{E440FEF1-B75B-4D57-99AB-42BD66C8D82F}" dt="2019-08-01T21:16:48.510" v="28"/>
        <pc:sldMkLst>
          <pc:docMk/>
          <pc:sldMk cId="1747895579" sldId="452"/>
        </pc:sldMkLst>
        <pc:spChg chg="mod">
          <ac:chgData name="Dincer Konur" userId="0cb337efb386619d" providerId="LiveId" clId="{E440FEF1-B75B-4D57-99AB-42BD66C8D82F}" dt="2019-08-01T21:16:37.503" v="25" actId="1076"/>
          <ac:spMkLst>
            <pc:docMk/>
            <pc:sldMk cId="1747895579" sldId="452"/>
            <ac:spMk id="6" creationId="{6635F16F-A6F1-43A0-A3EE-4D4A26486E8C}"/>
          </ac:spMkLst>
        </pc:spChg>
      </pc:sldChg>
      <pc:sldChg chg="modAnim">
        <pc:chgData name="Dincer Konur" userId="0cb337efb386619d" providerId="LiveId" clId="{E440FEF1-B75B-4D57-99AB-42BD66C8D82F}" dt="2019-08-01T21:17:59.045" v="30"/>
        <pc:sldMkLst>
          <pc:docMk/>
          <pc:sldMk cId="3448416443" sldId="453"/>
        </pc:sldMkLst>
      </pc:sldChg>
      <pc:sldChg chg="modAnim">
        <pc:chgData name="Dincer Konur" userId="0cb337efb386619d" providerId="LiveId" clId="{E440FEF1-B75B-4D57-99AB-42BD66C8D82F}" dt="2019-08-01T21:20:06.511" v="32"/>
        <pc:sldMkLst>
          <pc:docMk/>
          <pc:sldMk cId="2399350520" sldId="457"/>
        </pc:sldMkLst>
      </pc:sldChg>
      <pc:sldChg chg="modAnim">
        <pc:chgData name="Dincer Konur" userId="0cb337efb386619d" providerId="LiveId" clId="{E440FEF1-B75B-4D57-99AB-42BD66C8D82F}" dt="2019-08-01T21:21:04.360" v="35"/>
        <pc:sldMkLst>
          <pc:docMk/>
          <pc:sldMk cId="2526785911" sldId="458"/>
        </pc:sldMkLst>
      </pc:sldChg>
      <pc:sldChg chg="modAnim">
        <pc:chgData name="Dincer Konur" userId="0cb337efb386619d" providerId="LiveId" clId="{E440FEF1-B75B-4D57-99AB-42BD66C8D82F}" dt="2019-08-01T21:21:41.192" v="36"/>
        <pc:sldMkLst>
          <pc:docMk/>
          <pc:sldMk cId="3733598767" sldId="459"/>
        </pc:sldMkLst>
      </pc:sldChg>
      <pc:sldChg chg="modAnim">
        <pc:chgData name="Dincer Konur" userId="0cb337efb386619d" providerId="LiveId" clId="{E440FEF1-B75B-4D57-99AB-42BD66C8D82F}" dt="2019-07-25T00:12:48.394" v="1"/>
        <pc:sldMkLst>
          <pc:docMk/>
          <pc:sldMk cId="4133845958" sldId="470"/>
        </pc:sldMkLst>
      </pc:sldChg>
      <pc:sldChg chg="modAnim">
        <pc:chgData name="Dincer Konur" userId="0cb337efb386619d" providerId="LiveId" clId="{E440FEF1-B75B-4D57-99AB-42BD66C8D82F}" dt="2019-07-25T00:13:16.083" v="4"/>
        <pc:sldMkLst>
          <pc:docMk/>
          <pc:sldMk cId="1357514283" sldId="472"/>
        </pc:sldMkLst>
      </pc:sldChg>
      <pc:sldChg chg="delSp">
        <pc:chgData name="Dincer Konur" userId="0cb337efb386619d" providerId="LiveId" clId="{E440FEF1-B75B-4D57-99AB-42BD66C8D82F}" dt="2019-07-25T00:13:45.356" v="8" actId="478"/>
        <pc:sldMkLst>
          <pc:docMk/>
          <pc:sldMk cId="862623416" sldId="475"/>
        </pc:sldMkLst>
        <pc:spChg chg="del">
          <ac:chgData name="Dincer Konur" userId="0cb337efb386619d" providerId="LiveId" clId="{E440FEF1-B75B-4D57-99AB-42BD66C8D82F}" dt="2019-07-25T00:13:42.663" v="7" actId="478"/>
          <ac:spMkLst>
            <pc:docMk/>
            <pc:sldMk cId="862623416" sldId="475"/>
            <ac:spMk id="26626" creationId="{00000000-0000-0000-0000-000000000000}"/>
          </ac:spMkLst>
        </pc:spChg>
        <pc:spChg chg="del">
          <ac:chgData name="Dincer Konur" userId="0cb337efb386619d" providerId="LiveId" clId="{E440FEF1-B75B-4D57-99AB-42BD66C8D82F}" dt="2019-07-25T00:13:45.356" v="8" actId="478"/>
          <ac:spMkLst>
            <pc:docMk/>
            <pc:sldMk cId="862623416" sldId="475"/>
            <ac:spMk id="26627" creationId="{00000000-0000-0000-0000-000000000000}"/>
          </ac:spMkLst>
        </pc:spChg>
      </pc:sldChg>
      <pc:sldChg chg="delSp">
        <pc:chgData name="Dincer Konur" userId="0cb337efb386619d" providerId="LiveId" clId="{E440FEF1-B75B-4D57-99AB-42BD66C8D82F}" dt="2019-07-25T00:13:53.034" v="10" actId="478"/>
        <pc:sldMkLst>
          <pc:docMk/>
          <pc:sldMk cId="1195906596" sldId="476"/>
        </pc:sldMkLst>
        <pc:spChg chg="del">
          <ac:chgData name="Dincer Konur" userId="0cb337efb386619d" providerId="LiveId" clId="{E440FEF1-B75B-4D57-99AB-42BD66C8D82F}" dt="2019-07-25T00:13:50.532" v="9" actId="478"/>
          <ac:spMkLst>
            <pc:docMk/>
            <pc:sldMk cId="1195906596" sldId="476"/>
            <ac:spMk id="26626" creationId="{00000000-0000-0000-0000-000000000000}"/>
          </ac:spMkLst>
        </pc:spChg>
        <pc:spChg chg="del">
          <ac:chgData name="Dincer Konur" userId="0cb337efb386619d" providerId="LiveId" clId="{E440FEF1-B75B-4D57-99AB-42BD66C8D82F}" dt="2019-07-25T00:13:53.034" v="10" actId="478"/>
          <ac:spMkLst>
            <pc:docMk/>
            <pc:sldMk cId="1195906596" sldId="476"/>
            <ac:spMk id="26627" creationId="{00000000-0000-0000-0000-000000000000}"/>
          </ac:spMkLst>
        </pc:spChg>
      </pc:sldChg>
      <pc:sldChg chg="delSp">
        <pc:chgData name="Dincer Konur" userId="0cb337efb386619d" providerId="LiveId" clId="{E440FEF1-B75B-4D57-99AB-42BD66C8D82F}" dt="2019-07-25T00:13:58.280" v="12" actId="478"/>
        <pc:sldMkLst>
          <pc:docMk/>
          <pc:sldMk cId="4175929558" sldId="477"/>
        </pc:sldMkLst>
        <pc:spChg chg="del">
          <ac:chgData name="Dincer Konur" userId="0cb337efb386619d" providerId="LiveId" clId="{E440FEF1-B75B-4D57-99AB-42BD66C8D82F}" dt="2019-07-25T00:13:56.370" v="11" actId="478"/>
          <ac:spMkLst>
            <pc:docMk/>
            <pc:sldMk cId="4175929558" sldId="477"/>
            <ac:spMk id="26626" creationId="{00000000-0000-0000-0000-000000000000}"/>
          </ac:spMkLst>
        </pc:spChg>
        <pc:spChg chg="del">
          <ac:chgData name="Dincer Konur" userId="0cb337efb386619d" providerId="LiveId" clId="{E440FEF1-B75B-4D57-99AB-42BD66C8D82F}" dt="2019-07-25T00:13:58.280" v="12" actId="478"/>
          <ac:spMkLst>
            <pc:docMk/>
            <pc:sldMk cId="4175929558" sldId="477"/>
            <ac:spMk id="26627" creationId="{00000000-0000-0000-0000-000000000000}"/>
          </ac:spMkLst>
        </pc:spChg>
      </pc:sldChg>
    </pc:docChg>
  </pc:docChgLst>
  <pc:docChgLst>
    <pc:chgData name="Dincer Konur" userId="0cb337efb386619d" providerId="LiveId" clId="{B34D072B-B2F1-4495-943B-55657A0A264B}"/>
    <pc:docChg chg="undo custSel addSld delSld modSld">
      <pc:chgData name="Dincer Konur" userId="0cb337efb386619d" providerId="LiveId" clId="{B34D072B-B2F1-4495-943B-55657A0A264B}" dt="2019-07-23T15:51:39.762" v="1677" actId="207"/>
      <pc:docMkLst>
        <pc:docMk/>
      </pc:docMkLst>
      <pc:sldChg chg="modSp add">
        <pc:chgData name="Dincer Konur" userId="0cb337efb386619d" providerId="LiveId" clId="{B34D072B-B2F1-4495-943B-55657A0A264B}" dt="2019-07-18T21:02:53.028" v="1597" actId="207"/>
        <pc:sldMkLst>
          <pc:docMk/>
          <pc:sldMk cId="0" sldId="398"/>
        </pc:sldMkLst>
        <pc:spChg chg="mod">
          <ac:chgData name="Dincer Konur" userId="0cb337efb386619d" providerId="LiveId" clId="{B34D072B-B2F1-4495-943B-55657A0A264B}" dt="2019-07-18T21:02:26.148" v="1558"/>
          <ac:spMkLst>
            <pc:docMk/>
            <pc:sldMk cId="0" sldId="398"/>
            <ac:spMk id="26628" creationId="{00000000-0000-0000-0000-000000000000}"/>
          </ac:spMkLst>
        </pc:spChg>
        <pc:spChg chg="mod">
          <ac:chgData name="Dincer Konur" userId="0cb337efb386619d" providerId="LiveId" clId="{B34D072B-B2F1-4495-943B-55657A0A264B}" dt="2019-07-18T21:02:53.028" v="1597" actId="207"/>
          <ac:spMkLst>
            <pc:docMk/>
            <pc:sldMk cId="0" sldId="398"/>
            <ac:spMk id="26629" creationId="{00000000-0000-0000-0000-000000000000}"/>
          </ac:spMkLst>
        </pc:spChg>
      </pc:sldChg>
      <pc:sldChg chg="delSp modSp add">
        <pc:chgData name="Dincer Konur" userId="0cb337efb386619d" providerId="LiveId" clId="{B34D072B-B2F1-4495-943B-55657A0A264B}" dt="2019-07-18T18:26:56.332" v="52" actId="20577"/>
        <pc:sldMkLst>
          <pc:docMk/>
          <pc:sldMk cId="264733505" sldId="467"/>
        </pc:sldMkLst>
        <pc:spChg chg="mod">
          <ac:chgData name="Dincer Konur" userId="0cb337efb386619d" providerId="LiveId" clId="{B34D072B-B2F1-4495-943B-55657A0A264B}" dt="2019-07-18T18:26:56.332" v="52" actId="20577"/>
          <ac:spMkLst>
            <pc:docMk/>
            <pc:sldMk cId="264733505" sldId="467"/>
            <ac:spMk id="2" creationId="{00000000-0000-0000-0000-000000000000}"/>
          </ac:spMkLst>
        </pc:spChg>
        <pc:spChg chg="mod">
          <ac:chgData name="Dincer Konur" userId="0cb337efb386619d" providerId="LiveId" clId="{B34D072B-B2F1-4495-943B-55657A0A264B}" dt="2019-07-18T18:26:18.446" v="35" actId="20577"/>
          <ac:spMkLst>
            <pc:docMk/>
            <pc:sldMk cId="264733505" sldId="467"/>
            <ac:spMk id="3" creationId="{00000000-0000-0000-0000-000000000000}"/>
          </ac:spMkLst>
        </pc:spChg>
        <pc:spChg chg="del">
          <ac:chgData name="Dincer Konur" userId="0cb337efb386619d" providerId="LiveId" clId="{B34D072B-B2F1-4495-943B-55657A0A264B}" dt="2019-07-18T18:26:27.505" v="36" actId="478"/>
          <ac:spMkLst>
            <pc:docMk/>
            <pc:sldMk cId="264733505" sldId="467"/>
            <ac:spMk id="5" creationId="{00000000-0000-0000-0000-000000000000}"/>
          </ac:spMkLst>
        </pc:spChg>
        <pc:spChg chg="del">
          <ac:chgData name="Dincer Konur" userId="0cb337efb386619d" providerId="LiveId" clId="{B34D072B-B2F1-4495-943B-55657A0A264B}" dt="2019-07-18T18:26:30.364" v="37" actId="478"/>
          <ac:spMkLst>
            <pc:docMk/>
            <pc:sldMk cId="264733505" sldId="467"/>
            <ac:spMk id="7" creationId="{00000000-0000-0000-0000-000000000000}"/>
          </ac:spMkLst>
        </pc:spChg>
      </pc:sldChg>
      <pc:sldChg chg="addSp delSp modSp add modAnim">
        <pc:chgData name="Dincer Konur" userId="0cb337efb386619d" providerId="LiveId" clId="{B34D072B-B2F1-4495-943B-55657A0A264B}" dt="2019-07-18T19:36:10.535" v="1211" actId="1076"/>
        <pc:sldMkLst>
          <pc:docMk/>
          <pc:sldMk cId="1411247834" sldId="468"/>
        </pc:sldMkLst>
        <pc:spChg chg="mod">
          <ac:chgData name="Dincer Konur" userId="0cb337efb386619d" providerId="LiveId" clId="{B34D072B-B2F1-4495-943B-55657A0A264B}" dt="2019-07-18T18:30:36.612" v="61" actId="20577"/>
          <ac:spMkLst>
            <pc:docMk/>
            <pc:sldMk cId="1411247834" sldId="468"/>
            <ac:spMk id="2" creationId="{00000000-0000-0000-0000-000000000000}"/>
          </ac:spMkLst>
        </pc:spChg>
        <pc:spChg chg="mod">
          <ac:chgData name="Dincer Konur" userId="0cb337efb386619d" providerId="LiveId" clId="{B34D072B-B2F1-4495-943B-55657A0A264B}" dt="2019-07-18T18:53:37.827" v="534"/>
          <ac:spMkLst>
            <pc:docMk/>
            <pc:sldMk cId="1411247834" sldId="468"/>
            <ac:spMk id="3" creationId="{00000000-0000-0000-0000-000000000000}"/>
          </ac:spMkLst>
        </pc:spChg>
        <pc:spChg chg="add mod">
          <ac:chgData name="Dincer Konur" userId="0cb337efb386619d" providerId="LiveId" clId="{B34D072B-B2F1-4495-943B-55657A0A264B}" dt="2019-07-18T18:37:35.964" v="346" actId="14100"/>
          <ac:spMkLst>
            <pc:docMk/>
            <pc:sldMk cId="1411247834" sldId="468"/>
            <ac:spMk id="6" creationId="{33D85590-F11A-43A4-992A-FBE58EDBBC13}"/>
          </ac:spMkLst>
        </pc:spChg>
        <pc:spChg chg="add mod">
          <ac:chgData name="Dincer Konur" userId="0cb337efb386619d" providerId="LiveId" clId="{B34D072B-B2F1-4495-943B-55657A0A264B}" dt="2019-07-18T18:37:46.648" v="358" actId="20577"/>
          <ac:spMkLst>
            <pc:docMk/>
            <pc:sldMk cId="1411247834" sldId="468"/>
            <ac:spMk id="7" creationId="{3C0AD6DD-39C3-4CDE-B414-336DBC64C799}"/>
          </ac:spMkLst>
        </pc:spChg>
        <pc:spChg chg="add del mod">
          <ac:chgData name="Dincer Konur" userId="0cb337efb386619d" providerId="LiveId" clId="{B34D072B-B2F1-4495-943B-55657A0A264B}" dt="2019-07-18T18:53:33.886" v="533" actId="47"/>
          <ac:spMkLst>
            <pc:docMk/>
            <pc:sldMk cId="1411247834" sldId="468"/>
            <ac:spMk id="8" creationId="{B563CD51-766D-4552-AF31-0023344950C6}"/>
          </ac:spMkLst>
        </pc:spChg>
        <pc:spChg chg="add mod">
          <ac:chgData name="Dincer Konur" userId="0cb337efb386619d" providerId="LiveId" clId="{B34D072B-B2F1-4495-943B-55657A0A264B}" dt="2019-07-18T18:56:40.970" v="625" actId="404"/>
          <ac:spMkLst>
            <pc:docMk/>
            <pc:sldMk cId="1411247834" sldId="468"/>
            <ac:spMk id="9" creationId="{D1BC390D-0B34-4C49-81F8-4344B6CC9208}"/>
          </ac:spMkLst>
        </pc:spChg>
        <pc:spChg chg="add mod">
          <ac:chgData name="Dincer Konur" userId="0cb337efb386619d" providerId="LiveId" clId="{B34D072B-B2F1-4495-943B-55657A0A264B}" dt="2019-07-18T18:57:04.011" v="639" actId="1076"/>
          <ac:spMkLst>
            <pc:docMk/>
            <pc:sldMk cId="1411247834" sldId="468"/>
            <ac:spMk id="10" creationId="{79462F2B-AA29-4F49-9573-F82593C5962E}"/>
          </ac:spMkLst>
        </pc:spChg>
        <pc:spChg chg="add mod">
          <ac:chgData name="Dincer Konur" userId="0cb337efb386619d" providerId="LiveId" clId="{B34D072B-B2F1-4495-943B-55657A0A264B}" dt="2019-07-18T18:56:37.872" v="624" actId="404"/>
          <ac:spMkLst>
            <pc:docMk/>
            <pc:sldMk cId="1411247834" sldId="468"/>
            <ac:spMk id="11" creationId="{B09DE1AB-FAA6-4377-B664-4C9AF76AC46C}"/>
          </ac:spMkLst>
        </pc:spChg>
        <pc:spChg chg="add mod">
          <ac:chgData name="Dincer Konur" userId="0cb337efb386619d" providerId="LiveId" clId="{B34D072B-B2F1-4495-943B-55657A0A264B}" dt="2019-07-18T18:56:25.129" v="620" actId="1076"/>
          <ac:spMkLst>
            <pc:docMk/>
            <pc:sldMk cId="1411247834" sldId="468"/>
            <ac:spMk id="12" creationId="{8AF21AA4-5454-49C7-913F-3F8F270C89A6}"/>
          </ac:spMkLst>
        </pc:spChg>
        <pc:spChg chg="add mod">
          <ac:chgData name="Dincer Konur" userId="0cb337efb386619d" providerId="LiveId" clId="{B34D072B-B2F1-4495-943B-55657A0A264B}" dt="2019-07-18T18:56:57.325" v="638" actId="20577"/>
          <ac:spMkLst>
            <pc:docMk/>
            <pc:sldMk cId="1411247834" sldId="468"/>
            <ac:spMk id="13" creationId="{398F6A2B-0EE1-44D4-80B1-791BD2CB5E05}"/>
          </ac:spMkLst>
        </pc:spChg>
        <pc:spChg chg="add mod">
          <ac:chgData name="Dincer Konur" userId="0cb337efb386619d" providerId="LiveId" clId="{B34D072B-B2F1-4495-943B-55657A0A264B}" dt="2019-07-18T18:57:44.340" v="676" actId="1076"/>
          <ac:spMkLst>
            <pc:docMk/>
            <pc:sldMk cId="1411247834" sldId="468"/>
            <ac:spMk id="14" creationId="{ED3321D7-6B9B-464E-A25D-93B37F3E6C19}"/>
          </ac:spMkLst>
        </pc:spChg>
        <pc:spChg chg="add mod">
          <ac:chgData name="Dincer Konur" userId="0cb337efb386619d" providerId="LiveId" clId="{B34D072B-B2F1-4495-943B-55657A0A264B}" dt="2019-07-18T18:58:11.803" v="693" actId="1076"/>
          <ac:spMkLst>
            <pc:docMk/>
            <pc:sldMk cId="1411247834" sldId="468"/>
            <ac:spMk id="15" creationId="{96793A1A-FC5E-4826-BA77-58D48BADAF5C}"/>
          </ac:spMkLst>
        </pc:spChg>
        <pc:spChg chg="add mod">
          <ac:chgData name="Dincer Konur" userId="0cb337efb386619d" providerId="LiveId" clId="{B34D072B-B2F1-4495-943B-55657A0A264B}" dt="2019-07-18T18:58:14.410" v="694" actId="1076"/>
          <ac:spMkLst>
            <pc:docMk/>
            <pc:sldMk cId="1411247834" sldId="468"/>
            <ac:spMk id="16" creationId="{F58068FD-DF34-43F3-8F6E-4A926EF29EE3}"/>
          </ac:spMkLst>
        </pc:spChg>
        <pc:spChg chg="add mod">
          <ac:chgData name="Dincer Konur" userId="0cb337efb386619d" providerId="LiveId" clId="{B34D072B-B2F1-4495-943B-55657A0A264B}" dt="2019-07-18T19:35:54.609" v="1190" actId="14100"/>
          <ac:spMkLst>
            <pc:docMk/>
            <pc:sldMk cId="1411247834" sldId="468"/>
            <ac:spMk id="17" creationId="{A362C5E9-D23E-49FA-9E12-8936A0AB41E4}"/>
          </ac:spMkLst>
        </pc:spChg>
        <pc:spChg chg="add mod">
          <ac:chgData name="Dincer Konur" userId="0cb337efb386619d" providerId="LiveId" clId="{B34D072B-B2F1-4495-943B-55657A0A264B}" dt="2019-07-18T19:36:10.535" v="1211" actId="1076"/>
          <ac:spMkLst>
            <pc:docMk/>
            <pc:sldMk cId="1411247834" sldId="468"/>
            <ac:spMk id="18" creationId="{7F32ADCD-A7A7-4416-AA9D-C0AB229D909E}"/>
          </ac:spMkLst>
        </pc:spChg>
        <pc:picChg chg="add mod">
          <ac:chgData name="Dincer Konur" userId="0cb337efb386619d" providerId="LiveId" clId="{B34D072B-B2F1-4495-943B-55657A0A264B}" dt="2019-07-18T18:34:48.040" v="103" actId="1076"/>
          <ac:picMkLst>
            <pc:docMk/>
            <pc:sldMk cId="1411247834" sldId="468"/>
            <ac:picMk id="4" creationId="{131C1AA7-37D8-4C10-8A5B-53D8D300FBE6}"/>
          </ac:picMkLst>
        </pc:picChg>
        <pc:picChg chg="add mod">
          <ac:chgData name="Dincer Konur" userId="0cb337efb386619d" providerId="LiveId" clId="{B34D072B-B2F1-4495-943B-55657A0A264B}" dt="2019-07-18T18:34:58.882" v="104" actId="1076"/>
          <ac:picMkLst>
            <pc:docMk/>
            <pc:sldMk cId="1411247834" sldId="468"/>
            <ac:picMk id="5" creationId="{4A9E1B46-6C1F-4B4F-979B-E72C77BDE240}"/>
          </ac:picMkLst>
        </pc:picChg>
      </pc:sldChg>
      <pc:sldChg chg="addSp delSp modSp add delAnim modAnim">
        <pc:chgData name="Dincer Konur" userId="0cb337efb386619d" providerId="LiveId" clId="{B34D072B-B2F1-4495-943B-55657A0A264B}" dt="2019-07-18T19:30:26.704" v="914" actId="1076"/>
        <pc:sldMkLst>
          <pc:docMk/>
          <pc:sldMk cId="2075008771" sldId="469"/>
        </pc:sldMkLst>
        <pc:spChg chg="mod">
          <ac:chgData name="Dincer Konur" userId="0cb337efb386619d" providerId="LiveId" clId="{B34D072B-B2F1-4495-943B-55657A0A264B}" dt="2019-07-18T19:12:25.697" v="902" actId="404"/>
          <ac:spMkLst>
            <pc:docMk/>
            <pc:sldMk cId="2075008771" sldId="469"/>
            <ac:spMk id="3" creationId="{00000000-0000-0000-0000-000000000000}"/>
          </ac:spMkLst>
        </pc:spChg>
        <pc:spChg chg="del">
          <ac:chgData name="Dincer Konur" userId="0cb337efb386619d" providerId="LiveId" clId="{B34D072B-B2F1-4495-943B-55657A0A264B}" dt="2019-07-18T19:00:55.897" v="750" actId="478"/>
          <ac:spMkLst>
            <pc:docMk/>
            <pc:sldMk cId="2075008771" sldId="469"/>
            <ac:spMk id="6" creationId="{33D85590-F11A-43A4-992A-FBE58EDBBC13}"/>
          </ac:spMkLst>
        </pc:spChg>
        <pc:spChg chg="del">
          <ac:chgData name="Dincer Konur" userId="0cb337efb386619d" providerId="LiveId" clId="{B34D072B-B2F1-4495-943B-55657A0A264B}" dt="2019-07-18T19:00:59.410" v="751" actId="478"/>
          <ac:spMkLst>
            <pc:docMk/>
            <pc:sldMk cId="2075008771" sldId="469"/>
            <ac:spMk id="7" creationId="{3C0AD6DD-39C3-4CDE-B414-336DBC64C799}"/>
          </ac:spMkLst>
        </pc:spChg>
        <pc:spChg chg="del">
          <ac:chgData name="Dincer Konur" userId="0cb337efb386619d" providerId="LiveId" clId="{B34D072B-B2F1-4495-943B-55657A0A264B}" dt="2019-07-18T19:01:07.662" v="752" actId="478"/>
          <ac:spMkLst>
            <pc:docMk/>
            <pc:sldMk cId="2075008771" sldId="469"/>
            <ac:spMk id="9" creationId="{D1BC390D-0B34-4C49-81F8-4344B6CC9208}"/>
          </ac:spMkLst>
        </pc:spChg>
        <pc:spChg chg="del">
          <ac:chgData name="Dincer Konur" userId="0cb337efb386619d" providerId="LiveId" clId="{B34D072B-B2F1-4495-943B-55657A0A264B}" dt="2019-07-18T19:01:07.662" v="752" actId="478"/>
          <ac:spMkLst>
            <pc:docMk/>
            <pc:sldMk cId="2075008771" sldId="469"/>
            <ac:spMk id="10" creationId="{79462F2B-AA29-4F49-9573-F82593C5962E}"/>
          </ac:spMkLst>
        </pc:spChg>
        <pc:spChg chg="del">
          <ac:chgData name="Dincer Konur" userId="0cb337efb386619d" providerId="LiveId" clId="{B34D072B-B2F1-4495-943B-55657A0A264B}" dt="2019-07-18T19:01:07.662" v="752" actId="478"/>
          <ac:spMkLst>
            <pc:docMk/>
            <pc:sldMk cId="2075008771" sldId="469"/>
            <ac:spMk id="11" creationId="{B09DE1AB-FAA6-4377-B664-4C9AF76AC46C}"/>
          </ac:spMkLst>
        </pc:spChg>
        <pc:spChg chg="del">
          <ac:chgData name="Dincer Konur" userId="0cb337efb386619d" providerId="LiveId" clId="{B34D072B-B2F1-4495-943B-55657A0A264B}" dt="2019-07-18T19:01:07.662" v="752" actId="478"/>
          <ac:spMkLst>
            <pc:docMk/>
            <pc:sldMk cId="2075008771" sldId="469"/>
            <ac:spMk id="12" creationId="{8AF21AA4-5454-49C7-913F-3F8F270C89A6}"/>
          </ac:spMkLst>
        </pc:spChg>
        <pc:spChg chg="del">
          <ac:chgData name="Dincer Konur" userId="0cb337efb386619d" providerId="LiveId" clId="{B34D072B-B2F1-4495-943B-55657A0A264B}" dt="2019-07-18T19:01:07.662" v="752" actId="478"/>
          <ac:spMkLst>
            <pc:docMk/>
            <pc:sldMk cId="2075008771" sldId="469"/>
            <ac:spMk id="13" creationId="{398F6A2B-0EE1-44D4-80B1-791BD2CB5E05}"/>
          </ac:spMkLst>
        </pc:spChg>
        <pc:spChg chg="del">
          <ac:chgData name="Dincer Konur" userId="0cb337efb386619d" providerId="LiveId" clId="{B34D072B-B2F1-4495-943B-55657A0A264B}" dt="2019-07-18T19:01:07.662" v="752" actId="478"/>
          <ac:spMkLst>
            <pc:docMk/>
            <pc:sldMk cId="2075008771" sldId="469"/>
            <ac:spMk id="14" creationId="{ED3321D7-6B9B-464E-A25D-93B37F3E6C19}"/>
          </ac:spMkLst>
        </pc:spChg>
        <pc:spChg chg="del">
          <ac:chgData name="Dincer Konur" userId="0cb337efb386619d" providerId="LiveId" clId="{B34D072B-B2F1-4495-943B-55657A0A264B}" dt="2019-07-18T19:01:10.601" v="753" actId="478"/>
          <ac:spMkLst>
            <pc:docMk/>
            <pc:sldMk cId="2075008771" sldId="469"/>
            <ac:spMk id="15" creationId="{96793A1A-FC5E-4826-BA77-58D48BADAF5C}"/>
          </ac:spMkLst>
        </pc:spChg>
        <pc:spChg chg="del">
          <ac:chgData name="Dincer Konur" userId="0cb337efb386619d" providerId="LiveId" clId="{B34D072B-B2F1-4495-943B-55657A0A264B}" dt="2019-07-18T19:01:14.441" v="754" actId="478"/>
          <ac:spMkLst>
            <pc:docMk/>
            <pc:sldMk cId="2075008771" sldId="469"/>
            <ac:spMk id="16" creationId="{F58068FD-DF34-43F3-8F6E-4A926EF29EE3}"/>
          </ac:spMkLst>
        </pc:spChg>
        <pc:picChg chg="del">
          <ac:chgData name="Dincer Konur" userId="0cb337efb386619d" providerId="LiveId" clId="{B34D072B-B2F1-4495-943B-55657A0A264B}" dt="2019-07-18T19:06:39.454" v="888" actId="478"/>
          <ac:picMkLst>
            <pc:docMk/>
            <pc:sldMk cId="2075008771" sldId="469"/>
            <ac:picMk id="4" creationId="{131C1AA7-37D8-4C10-8A5B-53D8D300FBE6}"/>
          </ac:picMkLst>
        </pc:picChg>
        <pc:picChg chg="del">
          <ac:chgData name="Dincer Konur" userId="0cb337efb386619d" providerId="LiveId" clId="{B34D072B-B2F1-4495-943B-55657A0A264B}" dt="2019-07-18T18:59:13.880" v="696" actId="478"/>
          <ac:picMkLst>
            <pc:docMk/>
            <pc:sldMk cId="2075008771" sldId="469"/>
            <ac:picMk id="5" creationId="{4A9E1B46-6C1F-4B4F-979B-E72C77BDE240}"/>
          </ac:picMkLst>
        </pc:picChg>
        <pc:picChg chg="add mod">
          <ac:chgData name="Dincer Konur" userId="0cb337efb386619d" providerId="LiveId" clId="{B34D072B-B2F1-4495-943B-55657A0A264B}" dt="2019-07-18T19:30:26.704" v="914" actId="1076"/>
          <ac:picMkLst>
            <pc:docMk/>
            <pc:sldMk cId="2075008771" sldId="469"/>
            <ac:picMk id="17" creationId="{209A9C6D-1454-4110-B1F8-738644D291AD}"/>
          </ac:picMkLst>
        </pc:picChg>
        <pc:picChg chg="add mod">
          <ac:chgData name="Dincer Konur" userId="0cb337efb386619d" providerId="LiveId" clId="{B34D072B-B2F1-4495-943B-55657A0A264B}" dt="2019-07-18T19:12:46.583" v="909" actId="14100"/>
          <ac:picMkLst>
            <pc:docMk/>
            <pc:sldMk cId="2075008771" sldId="469"/>
            <ac:picMk id="18" creationId="{8367FA72-BC91-4D51-8DA0-147CC50B436A}"/>
          </ac:picMkLst>
        </pc:picChg>
        <pc:picChg chg="add mod">
          <ac:chgData name="Dincer Konur" userId="0cb337efb386619d" providerId="LiveId" clId="{B34D072B-B2F1-4495-943B-55657A0A264B}" dt="2019-07-18T19:14:18.007" v="912" actId="1076"/>
          <ac:picMkLst>
            <pc:docMk/>
            <pc:sldMk cId="2075008771" sldId="469"/>
            <ac:picMk id="19" creationId="{A61DAE18-C983-48FF-AAB4-AC13247051C8}"/>
          </ac:picMkLst>
        </pc:picChg>
      </pc:sldChg>
      <pc:sldChg chg="addSp delSp modSp add delAnim modAnim">
        <pc:chgData name="Dincer Konur" userId="0cb337efb386619d" providerId="LiveId" clId="{B34D072B-B2F1-4495-943B-55657A0A264B}" dt="2019-07-18T19:57:08.061" v="1466" actId="5793"/>
        <pc:sldMkLst>
          <pc:docMk/>
          <pc:sldMk cId="4133845958" sldId="470"/>
        </pc:sldMkLst>
        <pc:spChg chg="mod">
          <ac:chgData name="Dincer Konur" userId="0cb337efb386619d" providerId="LiveId" clId="{B34D072B-B2F1-4495-943B-55657A0A264B}" dt="2019-07-18T19:57:08.061" v="1466" actId="5793"/>
          <ac:spMkLst>
            <pc:docMk/>
            <pc:sldMk cId="4133845958" sldId="470"/>
            <ac:spMk id="3" creationId="{00000000-0000-0000-0000-000000000000}"/>
          </ac:spMkLst>
        </pc:spChg>
        <pc:spChg chg="mod">
          <ac:chgData name="Dincer Konur" userId="0cb337efb386619d" providerId="LiveId" clId="{B34D072B-B2F1-4495-943B-55657A0A264B}" dt="2019-07-18T19:38:06.449" v="1273" actId="20577"/>
          <ac:spMkLst>
            <pc:docMk/>
            <pc:sldMk cId="4133845958" sldId="470"/>
            <ac:spMk id="9" creationId="{D1BC390D-0B34-4C49-81F8-4344B6CC9208}"/>
          </ac:spMkLst>
        </pc:spChg>
        <pc:spChg chg="del">
          <ac:chgData name="Dincer Konur" userId="0cb337efb386619d" providerId="LiveId" clId="{B34D072B-B2F1-4495-943B-55657A0A264B}" dt="2019-07-18T19:38:53.639" v="1293" actId="478"/>
          <ac:spMkLst>
            <pc:docMk/>
            <pc:sldMk cId="4133845958" sldId="470"/>
            <ac:spMk id="10" creationId="{79462F2B-AA29-4F49-9573-F82593C5962E}"/>
          </ac:spMkLst>
        </pc:spChg>
        <pc:spChg chg="mod">
          <ac:chgData name="Dincer Konur" userId="0cb337efb386619d" providerId="LiveId" clId="{B34D072B-B2F1-4495-943B-55657A0A264B}" dt="2019-07-18T19:39:12.592" v="1302" actId="20577"/>
          <ac:spMkLst>
            <pc:docMk/>
            <pc:sldMk cId="4133845958" sldId="470"/>
            <ac:spMk id="11" creationId="{B09DE1AB-FAA6-4377-B664-4C9AF76AC46C}"/>
          </ac:spMkLst>
        </pc:spChg>
        <pc:spChg chg="mod">
          <ac:chgData name="Dincer Konur" userId="0cb337efb386619d" providerId="LiveId" clId="{B34D072B-B2F1-4495-943B-55657A0A264B}" dt="2019-07-18T19:39:18.271" v="1303" actId="1076"/>
          <ac:spMkLst>
            <pc:docMk/>
            <pc:sldMk cId="4133845958" sldId="470"/>
            <ac:spMk id="14" creationId="{ED3321D7-6B9B-464E-A25D-93B37F3E6C19}"/>
          </ac:spMkLst>
        </pc:spChg>
        <pc:spChg chg="mod">
          <ac:chgData name="Dincer Konur" userId="0cb337efb386619d" providerId="LiveId" clId="{B34D072B-B2F1-4495-943B-55657A0A264B}" dt="2019-07-18T19:39:21.935" v="1304" actId="14100"/>
          <ac:spMkLst>
            <pc:docMk/>
            <pc:sldMk cId="4133845958" sldId="470"/>
            <ac:spMk id="15" creationId="{96793A1A-FC5E-4826-BA77-58D48BADAF5C}"/>
          </ac:spMkLst>
        </pc:spChg>
        <pc:spChg chg="mod">
          <ac:chgData name="Dincer Konur" userId="0cb337efb386619d" providerId="LiveId" clId="{B34D072B-B2F1-4495-943B-55657A0A264B}" dt="2019-07-18T19:39:24.941" v="1305" actId="1076"/>
          <ac:spMkLst>
            <pc:docMk/>
            <pc:sldMk cId="4133845958" sldId="470"/>
            <ac:spMk id="16" creationId="{F58068FD-DF34-43F3-8F6E-4A926EF29EE3}"/>
          </ac:spMkLst>
        </pc:spChg>
        <pc:spChg chg="add mod">
          <ac:chgData name="Dincer Konur" userId="0cb337efb386619d" providerId="LiveId" clId="{B34D072B-B2F1-4495-943B-55657A0A264B}" dt="2019-07-18T19:37:19.543" v="1259" actId="14100"/>
          <ac:spMkLst>
            <pc:docMk/>
            <pc:sldMk cId="4133845958" sldId="470"/>
            <ac:spMk id="19" creationId="{BFAC2BFE-8188-493E-B164-03EE0CC736E3}"/>
          </ac:spMkLst>
        </pc:spChg>
        <pc:spChg chg="add mod">
          <ac:chgData name="Dincer Konur" userId="0cb337efb386619d" providerId="LiveId" clId="{B34D072B-B2F1-4495-943B-55657A0A264B}" dt="2019-07-18T19:37:23.873" v="1260" actId="1076"/>
          <ac:spMkLst>
            <pc:docMk/>
            <pc:sldMk cId="4133845958" sldId="470"/>
            <ac:spMk id="20" creationId="{25ACB531-3607-4720-AE5E-7F2B64433C56}"/>
          </ac:spMkLst>
        </pc:spChg>
        <pc:picChg chg="del">
          <ac:chgData name="Dincer Konur" userId="0cb337efb386619d" providerId="LiveId" clId="{B34D072B-B2F1-4495-943B-55657A0A264B}" dt="2019-07-18T19:32:29.388" v="921" actId="478"/>
          <ac:picMkLst>
            <pc:docMk/>
            <pc:sldMk cId="4133845958" sldId="470"/>
            <ac:picMk id="4" creationId="{131C1AA7-37D8-4C10-8A5B-53D8D300FBE6}"/>
          </ac:picMkLst>
        </pc:picChg>
        <pc:picChg chg="del">
          <ac:chgData name="Dincer Konur" userId="0cb337efb386619d" providerId="LiveId" clId="{B34D072B-B2F1-4495-943B-55657A0A264B}" dt="2019-07-18T19:32:19.377" v="917" actId="478"/>
          <ac:picMkLst>
            <pc:docMk/>
            <pc:sldMk cId="4133845958" sldId="470"/>
            <ac:picMk id="5" creationId="{4A9E1B46-6C1F-4B4F-979B-E72C77BDE240}"/>
          </ac:picMkLst>
        </pc:picChg>
        <pc:picChg chg="add mod">
          <ac:chgData name="Dincer Konur" userId="0cb337efb386619d" providerId="LiveId" clId="{B34D072B-B2F1-4495-943B-55657A0A264B}" dt="2019-07-18T19:32:27.922" v="920" actId="1076"/>
          <ac:picMkLst>
            <pc:docMk/>
            <pc:sldMk cId="4133845958" sldId="470"/>
            <ac:picMk id="17" creationId="{E79C0EE6-E379-40AE-BFAD-3FF76E82B1EB}"/>
          </ac:picMkLst>
        </pc:picChg>
        <pc:picChg chg="add mod">
          <ac:chgData name="Dincer Konur" userId="0cb337efb386619d" providerId="LiveId" clId="{B34D072B-B2F1-4495-943B-55657A0A264B}" dt="2019-07-18T19:32:59.029" v="926" actId="1076"/>
          <ac:picMkLst>
            <pc:docMk/>
            <pc:sldMk cId="4133845958" sldId="470"/>
            <ac:picMk id="18" creationId="{5F2F034D-24F8-45BF-B6B9-7CB1CBD3A040}"/>
          </ac:picMkLst>
        </pc:picChg>
      </pc:sldChg>
      <pc:sldChg chg="addSp delSp modSp add modAnim">
        <pc:chgData name="Dincer Konur" userId="0cb337efb386619d" providerId="LiveId" clId="{B34D072B-B2F1-4495-943B-55657A0A264B}" dt="2019-07-18T19:56:05.156" v="1464" actId="1076"/>
        <pc:sldMkLst>
          <pc:docMk/>
          <pc:sldMk cId="3578113126" sldId="471"/>
        </pc:sldMkLst>
        <pc:spChg chg="mod">
          <ac:chgData name="Dincer Konur" userId="0cb337efb386619d" providerId="LiveId" clId="{B34D072B-B2F1-4495-943B-55657A0A264B}" dt="2019-07-18T19:46:52.758" v="1442" actId="20577"/>
          <ac:spMkLst>
            <pc:docMk/>
            <pc:sldMk cId="3578113126" sldId="471"/>
            <ac:spMk id="3" creationId="{00000000-0000-0000-0000-000000000000}"/>
          </ac:spMkLst>
        </pc:spChg>
        <pc:spChg chg="add del mod">
          <ac:chgData name="Dincer Konur" userId="0cb337efb386619d" providerId="LiveId" clId="{B34D072B-B2F1-4495-943B-55657A0A264B}" dt="2019-07-18T19:55:05.897" v="1455" actId="478"/>
          <ac:spMkLst>
            <pc:docMk/>
            <pc:sldMk cId="3578113126" sldId="471"/>
            <ac:spMk id="4" creationId="{1211F617-2BD5-4007-B5B9-6C2BFE575C1C}"/>
          </ac:spMkLst>
        </pc:spChg>
        <pc:picChg chg="add mod">
          <ac:chgData name="Dincer Konur" userId="0cb337efb386619d" providerId="LiveId" clId="{B34D072B-B2F1-4495-943B-55657A0A264B}" dt="2019-07-18T19:55:15.687" v="1458" actId="1076"/>
          <ac:picMkLst>
            <pc:docMk/>
            <pc:sldMk cId="3578113126" sldId="471"/>
            <ac:picMk id="5" creationId="{27B43CEA-8ADD-44D0-A39A-AC04E245C97B}"/>
          </ac:picMkLst>
        </pc:picChg>
        <pc:picChg chg="add mod">
          <ac:chgData name="Dincer Konur" userId="0cb337efb386619d" providerId="LiveId" clId="{B34D072B-B2F1-4495-943B-55657A0A264B}" dt="2019-07-18T19:55:39.504" v="1461" actId="1076"/>
          <ac:picMkLst>
            <pc:docMk/>
            <pc:sldMk cId="3578113126" sldId="471"/>
            <ac:picMk id="6" creationId="{4264C518-BE42-41E7-9270-873A0563D2E8}"/>
          </ac:picMkLst>
        </pc:picChg>
        <pc:picChg chg="add mod">
          <ac:chgData name="Dincer Konur" userId="0cb337efb386619d" providerId="LiveId" clId="{B34D072B-B2F1-4495-943B-55657A0A264B}" dt="2019-07-18T19:56:05.156" v="1464" actId="1076"/>
          <ac:picMkLst>
            <pc:docMk/>
            <pc:sldMk cId="3578113126" sldId="471"/>
            <ac:picMk id="7" creationId="{FFE9376F-8333-4A27-8D5B-5216FC9A1741}"/>
          </ac:picMkLst>
        </pc:picChg>
        <pc:picChg chg="add del mod">
          <ac:chgData name="Dincer Konur" userId="0cb337efb386619d" providerId="LiveId" clId="{B34D072B-B2F1-4495-943B-55657A0A264B}" dt="2019-07-18T19:46:57.718" v="1443" actId="478"/>
          <ac:picMkLst>
            <pc:docMk/>
            <pc:sldMk cId="3578113126" sldId="471"/>
            <ac:picMk id="9" creationId="{59432152-F81D-45D7-B43D-A8C661BC5EBE}"/>
          </ac:picMkLst>
        </pc:picChg>
        <pc:picChg chg="del mod">
          <ac:chgData name="Dincer Konur" userId="0cb337efb386619d" providerId="LiveId" clId="{B34D072B-B2F1-4495-943B-55657A0A264B}" dt="2019-07-18T19:54:55.897" v="1453" actId="478"/>
          <ac:picMkLst>
            <pc:docMk/>
            <pc:sldMk cId="3578113126" sldId="471"/>
            <ac:picMk id="17" creationId="{209A9C6D-1454-4110-B1F8-738644D291AD}"/>
          </ac:picMkLst>
        </pc:picChg>
        <pc:picChg chg="del">
          <ac:chgData name="Dincer Konur" userId="0cb337efb386619d" providerId="LiveId" clId="{B34D072B-B2F1-4495-943B-55657A0A264B}" dt="2019-07-18T19:54:39.209" v="1451" actId="478"/>
          <ac:picMkLst>
            <pc:docMk/>
            <pc:sldMk cId="3578113126" sldId="471"/>
            <ac:picMk id="18" creationId="{8367FA72-BC91-4D51-8DA0-147CC50B436A}"/>
          </ac:picMkLst>
        </pc:picChg>
        <pc:picChg chg="del">
          <ac:chgData name="Dincer Konur" userId="0cb337efb386619d" providerId="LiveId" clId="{B34D072B-B2F1-4495-943B-55657A0A264B}" dt="2019-07-18T19:54:41.865" v="1452" actId="478"/>
          <ac:picMkLst>
            <pc:docMk/>
            <pc:sldMk cId="3578113126" sldId="471"/>
            <ac:picMk id="19" creationId="{A61DAE18-C983-48FF-AAB4-AC13247051C8}"/>
          </ac:picMkLst>
        </pc:picChg>
      </pc:sldChg>
      <pc:sldChg chg="addSp modSp add modAnim">
        <pc:chgData name="Dincer Konur" userId="0cb337efb386619d" providerId="LiveId" clId="{B34D072B-B2F1-4495-943B-55657A0A264B}" dt="2019-07-18T21:00:25.903" v="1536" actId="20577"/>
        <pc:sldMkLst>
          <pc:docMk/>
          <pc:sldMk cId="1357514283" sldId="472"/>
        </pc:sldMkLst>
        <pc:spChg chg="mod">
          <ac:chgData name="Dincer Konur" userId="0cb337efb386619d" providerId="LiveId" clId="{B34D072B-B2F1-4495-943B-55657A0A264B}" dt="2019-07-18T20:53:03.546" v="1483" actId="20577"/>
          <ac:spMkLst>
            <pc:docMk/>
            <pc:sldMk cId="1357514283" sldId="472"/>
            <ac:spMk id="2" creationId="{00000000-0000-0000-0000-000000000000}"/>
          </ac:spMkLst>
        </pc:spChg>
        <pc:spChg chg="mod">
          <ac:chgData name="Dincer Konur" userId="0cb337efb386619d" providerId="LiveId" clId="{B34D072B-B2F1-4495-943B-55657A0A264B}" dt="2019-07-18T21:00:25.903" v="1536" actId="20577"/>
          <ac:spMkLst>
            <pc:docMk/>
            <pc:sldMk cId="1357514283" sldId="472"/>
            <ac:spMk id="3" creationId="{00000000-0000-0000-0000-000000000000}"/>
          </ac:spMkLst>
        </pc:spChg>
        <pc:picChg chg="add mod">
          <ac:chgData name="Dincer Konur" userId="0cb337efb386619d" providerId="LiveId" clId="{B34D072B-B2F1-4495-943B-55657A0A264B}" dt="2019-07-18T20:58:48.870" v="1501" actId="1076"/>
          <ac:picMkLst>
            <pc:docMk/>
            <pc:sldMk cId="1357514283" sldId="472"/>
            <ac:picMk id="4" creationId="{20A547B3-CEFF-4253-960F-B2533CCD0DC1}"/>
          </ac:picMkLst>
        </pc:picChg>
      </pc:sldChg>
      <pc:sldChg chg="modSp add modAnim">
        <pc:chgData name="Dincer Konur" userId="0cb337efb386619d" providerId="LiveId" clId="{B34D072B-B2F1-4495-943B-55657A0A264B}" dt="2019-07-18T21:00:44.558" v="1539" actId="20577"/>
        <pc:sldMkLst>
          <pc:docMk/>
          <pc:sldMk cId="1142682630" sldId="473"/>
        </pc:sldMkLst>
        <pc:spChg chg="mod">
          <ac:chgData name="Dincer Konur" userId="0cb337efb386619d" providerId="LiveId" clId="{B34D072B-B2F1-4495-943B-55657A0A264B}" dt="2019-07-18T20:59:21.393" v="1506"/>
          <ac:spMkLst>
            <pc:docMk/>
            <pc:sldMk cId="1142682630" sldId="473"/>
            <ac:spMk id="2" creationId="{00000000-0000-0000-0000-000000000000}"/>
          </ac:spMkLst>
        </pc:spChg>
        <pc:spChg chg="mod">
          <ac:chgData name="Dincer Konur" userId="0cb337efb386619d" providerId="LiveId" clId="{B34D072B-B2F1-4495-943B-55657A0A264B}" dt="2019-07-18T21:00:44.558" v="1539" actId="20577"/>
          <ac:spMkLst>
            <pc:docMk/>
            <pc:sldMk cId="1142682630" sldId="473"/>
            <ac:spMk id="3" creationId="{00000000-0000-0000-0000-000000000000}"/>
          </ac:spMkLst>
        </pc:spChg>
      </pc:sldChg>
      <pc:sldChg chg="addSp modSp add">
        <pc:chgData name="Dincer Konur" userId="0cb337efb386619d" providerId="LiveId" clId="{B34D072B-B2F1-4495-943B-55657A0A264B}" dt="2019-07-18T21:01:44.549" v="1554" actId="1076"/>
        <pc:sldMkLst>
          <pc:docMk/>
          <pc:sldMk cId="4286089026" sldId="474"/>
        </pc:sldMkLst>
        <pc:spChg chg="mod">
          <ac:chgData name="Dincer Konur" userId="0cb337efb386619d" providerId="LiveId" clId="{B34D072B-B2F1-4495-943B-55657A0A264B}" dt="2019-07-18T21:01:24.498" v="1549" actId="15"/>
          <ac:spMkLst>
            <pc:docMk/>
            <pc:sldMk cId="4286089026" sldId="474"/>
            <ac:spMk id="3" creationId="{00000000-0000-0000-0000-000000000000}"/>
          </ac:spMkLst>
        </pc:spChg>
        <pc:graphicFrameChg chg="add mod">
          <ac:chgData name="Dincer Konur" userId="0cb337efb386619d" providerId="LiveId" clId="{B34D072B-B2F1-4495-943B-55657A0A264B}" dt="2019-07-18T21:01:44.549" v="1554" actId="1076"/>
          <ac:graphicFrameMkLst>
            <pc:docMk/>
            <pc:sldMk cId="4286089026" sldId="474"/>
            <ac:graphicFrameMk id="4" creationId="{BECAC2DD-76BA-4FA7-BDB0-2F9D1ABA9EB1}"/>
          </ac:graphicFrameMkLst>
        </pc:graphicFrameChg>
        <pc:picChg chg="add mod">
          <ac:chgData name="Dincer Konur" userId="0cb337efb386619d" providerId="LiveId" clId="{B34D072B-B2F1-4495-943B-55657A0A264B}" dt="2019-07-18T21:01:39.829" v="1553" actId="1076"/>
          <ac:picMkLst>
            <pc:docMk/>
            <pc:sldMk cId="4286089026" sldId="474"/>
            <ac:picMk id="5" creationId="{8E00A393-6DB1-4EE3-AC8A-02E72622BD67}"/>
          </ac:picMkLst>
        </pc:picChg>
      </pc:sldChg>
      <pc:sldChg chg="addSp modSp add">
        <pc:chgData name="Dincer Konur" userId="0cb337efb386619d" providerId="LiveId" clId="{B34D072B-B2F1-4495-943B-55657A0A264B}" dt="2019-07-18T21:04:08.445" v="1612" actId="20577"/>
        <pc:sldMkLst>
          <pc:docMk/>
          <pc:sldMk cId="862623416" sldId="475"/>
        </pc:sldMkLst>
        <pc:spChg chg="mod">
          <ac:chgData name="Dincer Konur" userId="0cb337efb386619d" providerId="LiveId" clId="{B34D072B-B2F1-4495-943B-55657A0A264B}" dt="2019-07-18T21:04:08.445" v="1612" actId="20577"/>
          <ac:spMkLst>
            <pc:docMk/>
            <pc:sldMk cId="862623416" sldId="475"/>
            <ac:spMk id="26629" creationId="{00000000-0000-0000-0000-000000000000}"/>
          </ac:spMkLst>
        </pc:spChg>
        <pc:picChg chg="add mod">
          <ac:chgData name="Dincer Konur" userId="0cb337efb386619d" providerId="LiveId" clId="{B34D072B-B2F1-4495-943B-55657A0A264B}" dt="2019-07-18T21:03:22.515" v="1602" actId="1076"/>
          <ac:picMkLst>
            <pc:docMk/>
            <pc:sldMk cId="862623416" sldId="475"/>
            <ac:picMk id="6" creationId="{FF0031A8-DDB2-4503-A9A4-847A93FAFFE1}"/>
          </ac:picMkLst>
        </pc:picChg>
      </pc:sldChg>
      <pc:sldChg chg="addSp delSp modSp add">
        <pc:chgData name="Dincer Konur" userId="0cb337efb386619d" providerId="LiveId" clId="{B34D072B-B2F1-4495-943B-55657A0A264B}" dt="2019-07-18T21:04:45.437" v="1619" actId="1076"/>
        <pc:sldMkLst>
          <pc:docMk/>
          <pc:sldMk cId="1195906596" sldId="476"/>
        </pc:sldMkLst>
        <pc:spChg chg="mod">
          <ac:chgData name="Dincer Konur" userId="0cb337efb386619d" providerId="LiveId" clId="{B34D072B-B2F1-4495-943B-55657A0A264B}" dt="2019-07-18T21:04:38.704" v="1616" actId="20577"/>
          <ac:spMkLst>
            <pc:docMk/>
            <pc:sldMk cId="1195906596" sldId="476"/>
            <ac:spMk id="26629" creationId="{00000000-0000-0000-0000-000000000000}"/>
          </ac:spMkLst>
        </pc:spChg>
        <pc:picChg chg="del">
          <ac:chgData name="Dincer Konur" userId="0cb337efb386619d" providerId="LiveId" clId="{B34D072B-B2F1-4495-943B-55657A0A264B}" dt="2019-07-18T21:04:39.530" v="1617" actId="478"/>
          <ac:picMkLst>
            <pc:docMk/>
            <pc:sldMk cId="1195906596" sldId="476"/>
            <ac:picMk id="6" creationId="{FF0031A8-DDB2-4503-A9A4-847A93FAFFE1}"/>
          </ac:picMkLst>
        </pc:picChg>
        <pc:picChg chg="add mod">
          <ac:chgData name="Dincer Konur" userId="0cb337efb386619d" providerId="LiveId" clId="{B34D072B-B2F1-4495-943B-55657A0A264B}" dt="2019-07-18T21:04:45.437" v="1619" actId="1076"/>
          <ac:picMkLst>
            <pc:docMk/>
            <pc:sldMk cId="1195906596" sldId="476"/>
            <ac:picMk id="7" creationId="{75DAF202-4ACA-4DC7-BE48-B9FF11C007C7}"/>
          </ac:picMkLst>
        </pc:picChg>
      </pc:sldChg>
      <pc:sldChg chg="addSp delSp modSp add">
        <pc:chgData name="Dincer Konur" userId="0cb337efb386619d" providerId="LiveId" clId="{B34D072B-B2F1-4495-943B-55657A0A264B}" dt="2019-07-18T21:07:45.608" v="1670" actId="1076"/>
        <pc:sldMkLst>
          <pc:docMk/>
          <pc:sldMk cId="4175929558" sldId="477"/>
        </pc:sldMkLst>
        <pc:spChg chg="add mod">
          <ac:chgData name="Dincer Konur" userId="0cb337efb386619d" providerId="LiveId" clId="{B34D072B-B2F1-4495-943B-55657A0A264B}" dt="2019-07-18T21:07:45.608" v="1670" actId="1076"/>
          <ac:spMkLst>
            <pc:docMk/>
            <pc:sldMk cId="4175929558" sldId="477"/>
            <ac:spMk id="2" creationId="{25316C00-2597-4147-B808-5393CBEEA685}"/>
          </ac:spMkLst>
        </pc:spChg>
        <pc:spChg chg="mod">
          <ac:chgData name="Dincer Konur" userId="0cb337efb386619d" providerId="LiveId" clId="{B34D072B-B2F1-4495-943B-55657A0A264B}" dt="2019-07-18T21:07:15.475" v="1665" actId="20577"/>
          <ac:spMkLst>
            <pc:docMk/>
            <pc:sldMk cId="4175929558" sldId="477"/>
            <ac:spMk id="26629" creationId="{00000000-0000-0000-0000-000000000000}"/>
          </ac:spMkLst>
        </pc:spChg>
        <pc:picChg chg="del">
          <ac:chgData name="Dincer Konur" userId="0cb337efb386619d" providerId="LiveId" clId="{B34D072B-B2F1-4495-943B-55657A0A264B}" dt="2019-07-18T21:06:42.623" v="1622" actId="478"/>
          <ac:picMkLst>
            <pc:docMk/>
            <pc:sldMk cId="4175929558" sldId="477"/>
            <ac:picMk id="7" creationId="{75DAF202-4ACA-4DC7-BE48-B9FF11C007C7}"/>
          </ac:picMkLst>
        </pc:picChg>
        <pc:picChg chg="add mod">
          <ac:chgData name="Dincer Konur" userId="0cb337efb386619d" providerId="LiveId" clId="{B34D072B-B2F1-4495-943B-55657A0A264B}" dt="2019-07-18T21:07:32.355" v="1668" actId="1076"/>
          <ac:picMkLst>
            <pc:docMk/>
            <pc:sldMk cId="4175929558" sldId="477"/>
            <ac:picMk id="8" creationId="{9DE89F27-8240-4D09-8054-D15051044A09}"/>
          </ac:picMkLst>
        </pc:picChg>
      </pc:sldChg>
      <pc:sldChg chg="delSp modSp add">
        <pc:chgData name="Dincer Konur" userId="0cb337efb386619d" providerId="LiveId" clId="{B34D072B-B2F1-4495-943B-55657A0A264B}" dt="2019-07-23T15:51:25.790" v="1674" actId="207"/>
        <pc:sldMkLst>
          <pc:docMk/>
          <pc:sldMk cId="60126319" sldId="478"/>
        </pc:sldMkLst>
        <pc:spChg chg="mod">
          <ac:chgData name="Dincer Konur" userId="0cb337efb386619d" providerId="LiveId" clId="{B34D072B-B2F1-4495-943B-55657A0A264B}" dt="2019-07-23T15:51:25.790" v="1674" actId="207"/>
          <ac:spMkLst>
            <pc:docMk/>
            <pc:sldMk cId="60126319" sldId="478"/>
            <ac:spMk id="3" creationId="{00000000-0000-0000-0000-000000000000}"/>
          </ac:spMkLst>
        </pc:spChg>
        <pc:spChg chg="del">
          <ac:chgData name="Dincer Konur" userId="0cb337efb386619d" providerId="LiveId" clId="{B34D072B-B2F1-4495-943B-55657A0A264B}" dt="2019-07-23T15:51:20.010" v="1673" actId="478"/>
          <ac:spMkLst>
            <pc:docMk/>
            <pc:sldMk cId="60126319" sldId="478"/>
            <ac:spMk id="6" creationId="{00000000-0000-0000-0000-000000000000}"/>
          </ac:spMkLst>
        </pc:spChg>
        <pc:spChg chg="del">
          <ac:chgData name="Dincer Konur" userId="0cb337efb386619d" providerId="LiveId" clId="{B34D072B-B2F1-4495-943B-55657A0A264B}" dt="2019-07-23T15:51:18.928" v="1672" actId="478"/>
          <ac:spMkLst>
            <pc:docMk/>
            <pc:sldMk cId="60126319" sldId="478"/>
            <ac:spMk id="8" creationId="{00000000-0000-0000-0000-000000000000}"/>
          </ac:spMkLst>
        </pc:spChg>
      </pc:sldChg>
      <pc:sldChg chg="modSp add">
        <pc:chgData name="Dincer Konur" userId="0cb337efb386619d" providerId="LiveId" clId="{B34D072B-B2F1-4495-943B-55657A0A264B}" dt="2019-07-23T15:51:39.762" v="1677" actId="207"/>
        <pc:sldMkLst>
          <pc:docMk/>
          <pc:sldMk cId="625536194" sldId="479"/>
        </pc:sldMkLst>
        <pc:spChg chg="mod">
          <ac:chgData name="Dincer Konur" userId="0cb337efb386619d" providerId="LiveId" clId="{B34D072B-B2F1-4495-943B-55657A0A264B}" dt="2019-07-23T15:51:39.762" v="1677" actId="207"/>
          <ac:spMkLst>
            <pc:docMk/>
            <pc:sldMk cId="625536194" sldId="479"/>
            <ac:spMk id="3" creationId="{00000000-0000-0000-0000-000000000000}"/>
          </ac:spMkLst>
        </pc:spChg>
      </pc:sldChg>
      <pc:sldMasterChg chg="delSldLayout">
        <pc:chgData name="Dincer Konur" userId="0cb337efb386619d" providerId="LiveId" clId="{B34D072B-B2F1-4495-943B-55657A0A264B}" dt="2019-07-18T21:01:46.780" v="1556" actId="2696"/>
        <pc:sldMasterMkLst>
          <pc:docMk/>
          <pc:sldMasterMk cId="3431302202" sldId="2147483648"/>
        </pc:sldMasterMkLst>
      </pc:sldMasterChg>
    </pc:docChg>
  </pc:docChgLst>
  <pc:docChgLst>
    <pc:chgData name="Dincer Konur" userId="0cb337efb386619d" providerId="LiveId" clId="{F16F28CC-4522-4C41-8BA4-FA6C8554850F}"/>
    <pc:docChg chg="custSel modSld">
      <pc:chgData name="Dincer Konur" userId="0cb337efb386619d" providerId="LiveId" clId="{F16F28CC-4522-4C41-8BA4-FA6C8554850F}" dt="2019-08-01T23:17:15.432" v="53"/>
      <pc:docMkLst>
        <pc:docMk/>
      </pc:docMkLst>
      <pc:sldChg chg="addSp delSp modSp modAnim">
        <pc:chgData name="Dincer Konur" userId="0cb337efb386619d" providerId="LiveId" clId="{F16F28CC-4522-4C41-8BA4-FA6C8554850F}" dt="2019-08-01T22:16:50.040" v="37"/>
        <pc:sldMkLst>
          <pc:docMk/>
          <pc:sldMk cId="2749133394" sldId="454"/>
        </pc:sldMkLst>
        <pc:picChg chg="add del mod">
          <ac:chgData name="Dincer Konur" userId="0cb337efb386619d" providerId="LiveId" clId="{F16F28CC-4522-4C41-8BA4-FA6C8554850F}" dt="2019-08-01T22:16:50.040" v="37"/>
          <ac:picMkLst>
            <pc:docMk/>
            <pc:sldMk cId="2749133394" sldId="454"/>
            <ac:picMk id="14" creationId="{72948C36-B6DD-42C5-8871-E6A912D664C6}"/>
          </ac:picMkLst>
        </pc:picChg>
      </pc:sldChg>
      <pc:sldChg chg="modSp">
        <pc:chgData name="Dincer Konur" userId="0cb337efb386619d" providerId="LiveId" clId="{F16F28CC-4522-4C41-8BA4-FA6C8554850F}" dt="2019-08-01T22:06:45.514" v="4" actId="20577"/>
        <pc:sldMkLst>
          <pc:docMk/>
          <pc:sldMk cId="2399350520" sldId="457"/>
        </pc:sldMkLst>
        <pc:spChg chg="mod">
          <ac:chgData name="Dincer Konur" userId="0cb337efb386619d" providerId="LiveId" clId="{F16F28CC-4522-4C41-8BA4-FA6C8554850F}" dt="2019-08-01T22:06:45.514" v="4" actId="20577"/>
          <ac:spMkLst>
            <pc:docMk/>
            <pc:sldMk cId="2399350520" sldId="457"/>
            <ac:spMk id="6" creationId="{6635F16F-A6F1-43A0-A3EE-4D4A26486E8C}"/>
          </ac:spMkLst>
        </pc:spChg>
      </pc:sldChg>
      <pc:sldChg chg="modSp">
        <pc:chgData name="Dincer Konur" userId="0cb337efb386619d" providerId="LiveId" clId="{F16F28CC-4522-4C41-8BA4-FA6C8554850F}" dt="2019-08-01T22:07:47.299" v="19" actId="6549"/>
        <pc:sldMkLst>
          <pc:docMk/>
          <pc:sldMk cId="2526785911" sldId="458"/>
        </pc:sldMkLst>
        <pc:spChg chg="mod">
          <ac:chgData name="Dincer Konur" userId="0cb337efb386619d" providerId="LiveId" clId="{F16F28CC-4522-4C41-8BA4-FA6C8554850F}" dt="2019-08-01T22:07:47.299" v="19" actId="6549"/>
          <ac:spMkLst>
            <pc:docMk/>
            <pc:sldMk cId="2526785911" sldId="458"/>
            <ac:spMk id="11" creationId="{BE46365D-B998-41FA-AF4C-D13E59BA1E40}"/>
          </ac:spMkLst>
        </pc:spChg>
        <pc:spChg chg="mod">
          <ac:chgData name="Dincer Konur" userId="0cb337efb386619d" providerId="LiveId" clId="{F16F28CC-4522-4C41-8BA4-FA6C8554850F}" dt="2019-08-01T22:07:05.624" v="9" actId="20577"/>
          <ac:spMkLst>
            <pc:docMk/>
            <pc:sldMk cId="2526785911" sldId="458"/>
            <ac:spMk id="14" creationId="{E807CD56-8155-4D44-8296-92A71AFA4DB5}"/>
          </ac:spMkLst>
        </pc:spChg>
      </pc:sldChg>
      <pc:sldChg chg="addSp delSp modSp delAnim modAnim">
        <pc:chgData name="Dincer Konur" userId="0cb337efb386619d" providerId="LiveId" clId="{F16F28CC-4522-4C41-8BA4-FA6C8554850F}" dt="2019-08-01T22:17:14.984" v="43" actId="1076"/>
        <pc:sldMkLst>
          <pc:docMk/>
          <pc:sldMk cId="3733598767" sldId="459"/>
        </pc:sldMkLst>
        <pc:spChg chg="mod">
          <ac:chgData name="Dincer Konur" userId="0cb337efb386619d" providerId="LiveId" clId="{F16F28CC-4522-4C41-8BA4-FA6C8554850F}" dt="2019-08-01T22:08:10.462" v="20" actId="1076"/>
          <ac:spMkLst>
            <pc:docMk/>
            <pc:sldMk cId="3733598767" sldId="459"/>
            <ac:spMk id="3" creationId="{00000000-0000-0000-0000-000000000000}"/>
          </ac:spMkLst>
        </pc:spChg>
        <pc:spChg chg="mod">
          <ac:chgData name="Dincer Konur" userId="0cb337efb386619d" providerId="LiveId" clId="{F16F28CC-4522-4C41-8BA4-FA6C8554850F}" dt="2019-08-01T22:09:52.609" v="33" actId="20577"/>
          <ac:spMkLst>
            <pc:docMk/>
            <pc:sldMk cId="3733598767" sldId="459"/>
            <ac:spMk id="11" creationId="{5FA63E91-786C-4526-BC28-366605CC31D4}"/>
          </ac:spMkLst>
        </pc:spChg>
        <pc:spChg chg="mod">
          <ac:chgData name="Dincer Konur" userId="0cb337efb386619d" providerId="LiveId" clId="{F16F28CC-4522-4C41-8BA4-FA6C8554850F}" dt="2019-08-01T22:08:41.659" v="29" actId="6549"/>
          <ac:spMkLst>
            <pc:docMk/>
            <pc:sldMk cId="3733598767" sldId="459"/>
            <ac:spMk id="14" creationId="{482C1023-3E32-40B6-B2F8-A10315870A34}"/>
          </ac:spMkLst>
        </pc:spChg>
        <pc:picChg chg="add mod">
          <ac:chgData name="Dincer Konur" userId="0cb337efb386619d" providerId="LiveId" clId="{F16F28CC-4522-4C41-8BA4-FA6C8554850F}" dt="2019-08-01T22:17:14.984" v="43" actId="1076"/>
          <ac:picMkLst>
            <pc:docMk/>
            <pc:sldMk cId="3733598767" sldId="459"/>
            <ac:picMk id="10" creationId="{F19CE52F-FCE7-4D9D-8D0C-AE309A024B80}"/>
          </ac:picMkLst>
        </pc:picChg>
        <pc:picChg chg="del">
          <ac:chgData name="Dincer Konur" userId="0cb337efb386619d" providerId="LiveId" clId="{F16F28CC-4522-4C41-8BA4-FA6C8554850F}" dt="2019-08-01T22:17:12.704" v="42" actId="478"/>
          <ac:picMkLst>
            <pc:docMk/>
            <pc:sldMk cId="3733598767" sldId="459"/>
            <ac:picMk id="15" creationId="{E7BAFBA3-2AD6-4629-A952-AFC71AC94FE4}"/>
          </ac:picMkLst>
        </pc:picChg>
      </pc:sldChg>
      <pc:sldChg chg="modAnim">
        <pc:chgData name="Dincer Konur" userId="0cb337efb386619d" providerId="LiveId" clId="{F16F28CC-4522-4C41-8BA4-FA6C8554850F}" dt="2019-08-01T23:16:26.587" v="52"/>
        <pc:sldMkLst>
          <pc:docMk/>
          <pc:sldMk cId="1348353769" sldId="463"/>
        </pc:sldMkLst>
      </pc:sldChg>
      <pc:sldChg chg="modAnim">
        <pc:chgData name="Dincer Konur" userId="0cb337efb386619d" providerId="LiveId" clId="{F16F28CC-4522-4C41-8BA4-FA6C8554850F}" dt="2019-08-01T23:17:15.432" v="53"/>
        <pc:sldMkLst>
          <pc:docMk/>
          <pc:sldMk cId="3141049304" sldId="465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768A81C-13E0-402A-9BD9-36F3DFFB46F8}" type="datetimeFigureOut">
              <a:rPr lang="en-US" smtClean="0"/>
              <a:t>10/6/24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09376B9-9838-4376-9895-3384D05A8D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736949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09376B9-9838-4376-9895-3384D05A8DF5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975968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09376B9-9838-4376-9895-3384D05A8DF5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682200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09376B9-9838-4376-9895-3384D05A8DF5}" type="slidenum">
              <a:rPr lang="en-US" smtClean="0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60976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09376B9-9838-4376-9895-3384D05A8DF5}" type="slidenum">
              <a:rPr lang="en-US" smtClean="0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234453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09376B9-9838-4376-9895-3384D05A8DF5}" type="slidenum">
              <a:rPr lang="en-US" smtClean="0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088350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09376B9-9838-4376-9895-3384D05A8DF5}" type="slidenum">
              <a:rPr lang="en-US" smtClean="0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576415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059504-2B37-4FB4-B40F-1187F3C72860}" type="datetime1">
              <a:rPr lang="en-US" smtClean="0"/>
              <a:t>10/6/24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4BF737-9C2B-4B9F-9835-28D7237AA9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263714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5002" y="365125"/>
            <a:ext cx="11478410" cy="839731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5002" y="1312433"/>
            <a:ext cx="11478410" cy="486453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355002" y="6356350"/>
            <a:ext cx="3226398" cy="365125"/>
          </a:xfrm>
        </p:spPr>
        <p:txBody>
          <a:bodyPr/>
          <a:lstStyle/>
          <a:p>
            <a:fld id="{40018CA5-E803-4BD7-88F2-CB649F62D600}" type="datetime1">
              <a:rPr lang="en-US" smtClean="0"/>
              <a:t>10/6/24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3222812" cy="365125"/>
          </a:xfrm>
        </p:spPr>
        <p:txBody>
          <a:bodyPr/>
          <a:lstStyle/>
          <a:p>
            <a:fld id="{1F4BF737-9C2B-4B9F-9835-28D7237AA9BE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Straight Connector 7"/>
          <p:cNvCxnSpPr/>
          <p:nvPr userDrawn="1"/>
        </p:nvCxnSpPr>
        <p:spPr>
          <a:xfrm>
            <a:off x="355002" y="1193795"/>
            <a:ext cx="11478410" cy="0"/>
          </a:xfrm>
          <a:prstGeom prst="line">
            <a:avLst/>
          </a:prstGeom>
          <a:ln w="28575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5479512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885A11-D22C-4C67-88CA-C863B107841B}" type="datetime1">
              <a:rPr lang="en-US" smtClean="0"/>
              <a:t>10/6/24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4BF737-9C2B-4B9F-9835-28D7237AA9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18213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EA3F0B-6540-43F0-9715-23F8ED9B3643}" type="datetime1">
              <a:rPr lang="en-US" smtClean="0"/>
              <a:t>10/6/24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4BF737-9C2B-4B9F-9835-28D7237AA9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344789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7556BD-94CA-4BE2-A697-C93F5EB75719}" type="datetime1">
              <a:rPr lang="en-US" smtClean="0"/>
              <a:t>10/6/24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4BF737-9C2B-4B9F-9835-28D7237AA9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901826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02C7A7-16E5-4BEA-B03A-3798F7035DAB}" type="datetime1">
              <a:rPr lang="en-US" smtClean="0"/>
              <a:t>10/6/24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4BF737-9C2B-4B9F-9835-28D7237AA9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703207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FB30C5-548F-4EE3-8FEB-83ECC30B6808}" type="datetime1">
              <a:rPr lang="en-US" smtClean="0"/>
              <a:t>10/6/24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4BF737-9C2B-4B9F-9835-28D7237AA9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555331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52F757-2B9D-4E47-9600-5D984427E3AD}" type="datetime1">
              <a:rPr lang="en-US" smtClean="0"/>
              <a:t>10/6/24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4BF737-9C2B-4B9F-9835-28D7237AA9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790189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17EDFE-96E9-4597-97A5-0CC53D84E5BF}" type="datetime1">
              <a:rPr lang="en-US" smtClean="0"/>
              <a:t>10/6/24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4BF737-9C2B-4B9F-9835-28D7237AA9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714231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6F16FE-44EC-4FCB-8D90-80BAA6A47C18}" type="datetime1">
              <a:rPr lang="en-US" smtClean="0"/>
              <a:t>10/6/24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4BF737-9C2B-4B9F-9835-28D7237AA9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316738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70CCAE-7D79-4918-A366-A172C78608D5}" type="datetime1">
              <a:rPr lang="en-US" smtClean="0"/>
              <a:t>10/6/24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4BF737-9C2B-4B9F-9835-28D7237AA9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286881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693F9B6-A545-46A5-8813-0807E8BE6AFC}" type="datetime1">
              <a:rPr lang="en-US" smtClean="0"/>
              <a:t>10/6/24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F4BF737-9C2B-4B9F-9835-28D7237AA9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130220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NUL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hyperlink" Target="https://en.wikipedia.org/wiki/Matrix_(mathematics)" TargetMode="Externa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3" Type="http://schemas.openxmlformats.org/officeDocument/2006/relationships/image" Target="../media/image11.png"/><Relationship Id="rId7" Type="http://schemas.openxmlformats.org/officeDocument/2006/relationships/image" Target="../media/image17.png"/><Relationship Id="rId2" Type="http://schemas.openxmlformats.org/officeDocument/2006/relationships/image" Target="../media/image13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1.png"/><Relationship Id="rId4" Type="http://schemas.openxmlformats.org/officeDocument/2006/relationships/image" Target="../media/image30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0.png"/><Relationship Id="rId5" Type="http://schemas.openxmlformats.org/officeDocument/2006/relationships/image" Target="../media/image35.png"/><Relationship Id="rId4" Type="http://schemas.openxmlformats.org/officeDocument/2006/relationships/image" Target="../media/image34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8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2.png"/><Relationship Id="rId4" Type="http://schemas.openxmlformats.org/officeDocument/2006/relationships/image" Target="../media/image41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2.png"/><Relationship Id="rId5" Type="http://schemas.openxmlformats.org/officeDocument/2006/relationships/image" Target="../media/image45.png"/><Relationship Id="rId4" Type="http://schemas.openxmlformats.org/officeDocument/2006/relationships/image" Target="../media/image33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4.jpeg"/><Relationship Id="rId4" Type="http://schemas.openxmlformats.org/officeDocument/2006/relationships/image" Target="../media/image23.emf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3.emf"/><Relationship Id="rId5" Type="http://schemas.openxmlformats.org/officeDocument/2006/relationships/package" Target="../embeddings/Microsoft_Excel_Worksheet1.xlsx"/><Relationship Id="rId4" Type="http://schemas.openxmlformats.org/officeDocument/2006/relationships/image" Target="../media/image24.jpe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emf"/><Relationship Id="rId2" Type="http://schemas.openxmlformats.org/officeDocument/2006/relationships/image" Target="../media/image220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8" Type="http://schemas.openxmlformats.org/officeDocument/2006/relationships/image" Target="../media/image62.png"/><Relationship Id="rId3" Type="http://schemas.openxmlformats.org/officeDocument/2006/relationships/image" Target="../media/image47.png"/><Relationship Id="rId7" Type="http://schemas.openxmlformats.org/officeDocument/2006/relationships/image" Target="../media/image61.png"/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6.png"/><Relationship Id="rId5" Type="http://schemas.openxmlformats.org/officeDocument/2006/relationships/image" Target="../media/image55.png"/><Relationship Id="rId4" Type="http://schemas.openxmlformats.org/officeDocument/2006/relationships/image" Target="../media/image54.png"/><Relationship Id="rId9" Type="http://schemas.openxmlformats.org/officeDocument/2006/relationships/image" Target="../media/image57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64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8" Type="http://schemas.openxmlformats.org/officeDocument/2006/relationships/image" Target="../media/image49.png"/><Relationship Id="rId3" Type="http://schemas.openxmlformats.org/officeDocument/2006/relationships/image" Target="../media/image68.png"/><Relationship Id="rId7" Type="http://schemas.openxmlformats.org/officeDocument/2006/relationships/image" Target="../media/image48.png"/><Relationship Id="rId2" Type="http://schemas.openxmlformats.org/officeDocument/2006/relationships/image" Target="../media/image6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9.png"/><Relationship Id="rId5" Type="http://schemas.openxmlformats.org/officeDocument/2006/relationships/image" Target="../media/image620.png"/><Relationship Id="rId4" Type="http://schemas.openxmlformats.org/officeDocument/2006/relationships/image" Target="../media/image610.pn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1.png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hyperlink" Target="https://coin-or.github.io/pulp/" TargetMode="External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hyperlink" Target="https://pypi.org/project/PuLP/" TargetMode="Externa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2.png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wmf"/><Relationship Id="rId2" Type="http://schemas.openxmlformats.org/officeDocument/2006/relationships/oleObject" Target="../embeddings/oleObject1.bin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wmf"/><Relationship Id="rId2" Type="http://schemas.openxmlformats.org/officeDocument/2006/relationships/oleObject" Target="../embeddings/oleObject2.bin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4.png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6.png"/><Relationship Id="rId2" Type="http://schemas.openxmlformats.org/officeDocument/2006/relationships/image" Target="../media/image7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9.png"/><Relationship Id="rId5" Type="http://schemas.openxmlformats.org/officeDocument/2006/relationships/image" Target="../media/image78.png"/><Relationship Id="rId4" Type="http://schemas.openxmlformats.org/officeDocument/2006/relationships/image" Target="../media/image77.png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9.png"/><Relationship Id="rId2" Type="http://schemas.openxmlformats.org/officeDocument/2006/relationships/image" Target="../media/image5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0.png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3.png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5.png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6.png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0.png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42900" y="1682433"/>
            <a:ext cx="11487150" cy="2387600"/>
          </a:xfrm>
        </p:spPr>
        <p:txBody>
          <a:bodyPr>
            <a:normAutofit fontScale="90000"/>
          </a:bodyPr>
          <a:lstStyle/>
          <a:p>
            <a:br>
              <a:rPr lang="en-US" sz="5400" dirty="0"/>
            </a:br>
            <a:r>
              <a:rPr lang="en-US" sz="5400" dirty="0"/>
              <a:t>ANLY 5332</a:t>
            </a:r>
            <a:br>
              <a:rPr lang="en-US" sz="5400" dirty="0"/>
            </a:br>
            <a:br>
              <a:rPr lang="en-US" sz="3200" dirty="0"/>
            </a:br>
            <a:br>
              <a:rPr lang="en-US" sz="3200" dirty="0"/>
            </a:br>
            <a:r>
              <a:rPr lang="en-US" sz="2400" b="1" dirty="0">
                <a:solidFill>
                  <a:srgbClr val="C00000"/>
                </a:solidFill>
              </a:rPr>
              <a:t>Department of Information Systems and Analytics</a:t>
            </a:r>
            <a:br>
              <a:rPr lang="en-US" sz="2400" b="1" dirty="0">
                <a:solidFill>
                  <a:srgbClr val="C00000"/>
                </a:solidFill>
              </a:rPr>
            </a:br>
            <a:r>
              <a:rPr lang="en-US" sz="2400" b="1" dirty="0">
                <a:solidFill>
                  <a:srgbClr val="C00000"/>
                </a:solidFill>
              </a:rPr>
              <a:t>McCoy College of Business Administration</a:t>
            </a:r>
            <a:br>
              <a:rPr lang="en-US" sz="2400" b="1" dirty="0">
                <a:solidFill>
                  <a:srgbClr val="C00000"/>
                </a:solidFill>
              </a:rPr>
            </a:br>
            <a:r>
              <a:rPr lang="en-US" sz="2400" b="1" dirty="0">
                <a:solidFill>
                  <a:srgbClr val="C00000"/>
                </a:solidFill>
              </a:rPr>
              <a:t>Texas State University</a:t>
            </a:r>
            <a:endParaRPr lang="en-US" sz="4400" b="1" dirty="0">
              <a:solidFill>
                <a:srgbClr val="C00000"/>
              </a:solidFill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 lnSpcReduction="10000"/>
          </a:bodyPr>
          <a:lstStyle/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Formulations and more</a:t>
            </a:r>
          </a:p>
        </p:txBody>
      </p:sp>
    </p:spTree>
    <p:extLst>
      <p:ext uri="{BB962C8B-B14F-4D97-AF65-F5344CB8AC3E}">
        <p14:creationId xmlns:p14="http://schemas.microsoft.com/office/powerpoint/2010/main" val="313410553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Outline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Compact Formulation (not in the textbook)</a:t>
            </a:r>
          </a:p>
          <a:p>
            <a:r>
              <a:rPr lang="en-US" dirty="0"/>
              <a:t>Matrix Notation (not in the textbook)</a:t>
            </a:r>
          </a:p>
          <a:p>
            <a:r>
              <a:rPr lang="en-US" dirty="0"/>
              <a:t>Matrix Notation for Network Optimization (not in the textbook)</a:t>
            </a:r>
          </a:p>
          <a:p>
            <a:r>
              <a:rPr lang="en-US" dirty="0"/>
              <a:t>Examples (not in the textbook)</a:t>
            </a:r>
          </a:p>
          <a:p>
            <a:r>
              <a:rPr lang="en-US" dirty="0"/>
              <a:t>Phyton Introduction</a:t>
            </a:r>
          </a:p>
          <a:p>
            <a:pPr marL="0" indent="0">
              <a:buNone/>
            </a:pPr>
            <a:endParaRPr lang="en-US" dirty="0"/>
          </a:p>
          <a:p>
            <a:endParaRPr lang="en-US" dirty="0"/>
          </a:p>
          <a:p>
            <a:pPr lvl="5"/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7456920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Outline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Compact Formulation (not in the textbook)</a:t>
            </a:r>
          </a:p>
          <a:p>
            <a:r>
              <a:rPr lang="en-US" dirty="0">
                <a:solidFill>
                  <a:schemeClr val="bg2"/>
                </a:solidFill>
              </a:rPr>
              <a:t>Matrix Notation (not in the textbook)</a:t>
            </a:r>
          </a:p>
          <a:p>
            <a:r>
              <a:rPr lang="en-US" dirty="0">
                <a:solidFill>
                  <a:schemeClr val="bg2"/>
                </a:solidFill>
              </a:rPr>
              <a:t>Matrix Notation for Network Optimization (not in the textbook)</a:t>
            </a:r>
          </a:p>
          <a:p>
            <a:r>
              <a:rPr lang="en-US" dirty="0">
                <a:solidFill>
                  <a:schemeClr val="bg2"/>
                </a:solidFill>
              </a:rPr>
              <a:t>Examples (not in the textbook)</a:t>
            </a:r>
          </a:p>
          <a:p>
            <a:r>
              <a:rPr lang="en-US" dirty="0">
                <a:solidFill>
                  <a:schemeClr val="bg2"/>
                </a:solidFill>
              </a:rPr>
              <a:t>Phyton Introduction</a:t>
            </a:r>
          </a:p>
          <a:p>
            <a:pPr marL="0" indent="0">
              <a:buNone/>
            </a:pPr>
            <a:endParaRPr lang="en-US" dirty="0"/>
          </a:p>
          <a:p>
            <a:endParaRPr lang="en-US" dirty="0"/>
          </a:p>
          <a:p>
            <a:pPr lvl="5"/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9699411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Compact Algebraic Modeling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lnSpcReduction="10000"/>
              </a:bodyPr>
              <a:lstStyle/>
              <a:p>
                <a:r>
                  <a:rPr lang="en-US" dirty="0"/>
                  <a:t>So far, in our algebraic models, we explicitly stated all the functions</a:t>
                </a:r>
              </a:p>
              <a:p>
                <a:pPr lvl="1"/>
                <a:r>
                  <a:rPr lang="en-US" dirty="0"/>
                  <a:t>This is not a reasonable approach when there are too many decision variables</a:t>
                </a:r>
              </a:p>
              <a:p>
                <a:pPr lvl="1"/>
                <a:r>
                  <a:rPr lang="en-US" dirty="0"/>
                  <a:t>In such cases, we can use a compact formulation approach</a:t>
                </a:r>
              </a:p>
              <a:p>
                <a:r>
                  <a:rPr lang="en-US" b="1" u="sng" dirty="0"/>
                  <a:t>An Example: Walmart’s Distribution (Transportation) Problem: </a:t>
                </a:r>
              </a:p>
              <a:p>
                <a:r>
                  <a:rPr lang="en-US" dirty="0"/>
                  <a:t>Suppose you are the manager of Walmart in TX</a:t>
                </a:r>
              </a:p>
              <a:p>
                <a:pPr lvl="1"/>
                <a:r>
                  <a:rPr lang="en-US" dirty="0"/>
                  <a:t>You want to minimize the transportation costs associated with a single product among distributors and stores</a:t>
                </a:r>
              </a:p>
              <a:p>
                <a:pPr lvl="2"/>
                <a:r>
                  <a:rPr lang="en-US" dirty="0"/>
                  <a:t>There are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lang="en-US" dirty="0"/>
                  <a:t> distributors</a:t>
                </a:r>
              </a:p>
              <a:p>
                <a:pPr lvl="3"/>
                <a:r>
                  <a:rPr lang="en-US" dirty="0"/>
                  <a:t>Each distributor has an amount of inventory of the product</a:t>
                </a:r>
              </a:p>
              <a:p>
                <a:pPr lvl="2"/>
                <a:r>
                  <a:rPr lang="en-US" dirty="0"/>
                  <a:t>There are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dirty="0"/>
                  <a:t> stores</a:t>
                </a:r>
              </a:p>
              <a:p>
                <a:pPr lvl="3"/>
                <a:r>
                  <a:rPr lang="en-US" dirty="0"/>
                  <a:t>Each stores requires an amount of the product</a:t>
                </a:r>
              </a:p>
              <a:p>
                <a:pPr lvl="2"/>
                <a:r>
                  <a:rPr lang="en-US" dirty="0"/>
                  <a:t>There is a per unit transportation cost from any distributor to any store</a:t>
                </a:r>
              </a:p>
              <a:p>
                <a:pPr lvl="1"/>
                <a:r>
                  <a:rPr lang="en-US" dirty="0"/>
                  <a:t>Question: What is the cost-minimum shipment plan?</a:t>
                </a: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956" t="-275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9058142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Compact Algebraic Modeling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u="sng" dirty="0"/>
              <a:t>An Example: Walmart’s Distribution (Transportation) Problem: </a:t>
            </a:r>
          </a:p>
          <a:p>
            <a:r>
              <a:rPr lang="en-US" b="1" dirty="0">
                <a:solidFill>
                  <a:srgbClr val="C00000"/>
                </a:solidFill>
              </a:rPr>
              <a:t>STEP 0: </a:t>
            </a:r>
            <a:r>
              <a:rPr lang="en-US" dirty="0"/>
              <a:t>Know the problem and gather your data</a:t>
            </a:r>
          </a:p>
        </p:txBody>
      </p:sp>
      <p:sp>
        <p:nvSpPr>
          <p:cNvPr id="5" name="Rounded Rectangle 4"/>
          <p:cNvSpPr/>
          <p:nvPr/>
        </p:nvSpPr>
        <p:spPr bwMode="auto">
          <a:xfrm>
            <a:off x="2623074" y="4300165"/>
            <a:ext cx="394854" cy="381000"/>
          </a:xfrm>
          <a:prstGeom prst="roundRect">
            <a:avLst/>
          </a:prstGeom>
          <a:gradFill>
            <a:gsLst>
              <a:gs pos="0">
                <a:srgbClr val="FF0000"/>
              </a:gs>
              <a:gs pos="80000">
                <a:schemeClr val="accent5">
                  <a:shade val="93000"/>
                  <a:satMod val="130000"/>
                </a:schemeClr>
              </a:gs>
              <a:gs pos="100000">
                <a:schemeClr val="accent5">
                  <a:shade val="94000"/>
                  <a:satMod val="135000"/>
                </a:schemeClr>
              </a:gs>
            </a:gsLst>
          </a:gradFill>
          <a:ln>
            <a:headEnd type="none" w="med" len="med"/>
            <a:tailEnd type="none" w="med" len="med"/>
          </a:ln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sz="2400">
              <a:solidFill>
                <a:schemeClr val="tx1"/>
              </a:solidFill>
              <a:latin typeface="Arial" charset="0"/>
              <a:ea typeface="ＭＳ Ｐゴシック" pitchFamily="16" charset="-128"/>
            </a:endParaRPr>
          </a:p>
        </p:txBody>
      </p:sp>
      <p:sp>
        <p:nvSpPr>
          <p:cNvPr id="6" name="Rounded Rectangle 5"/>
          <p:cNvSpPr/>
          <p:nvPr/>
        </p:nvSpPr>
        <p:spPr bwMode="auto">
          <a:xfrm>
            <a:off x="3294028" y="4300165"/>
            <a:ext cx="394854" cy="381000"/>
          </a:xfrm>
          <a:prstGeom prst="roundRect">
            <a:avLst/>
          </a:prstGeom>
          <a:gradFill>
            <a:gsLst>
              <a:gs pos="0">
                <a:srgbClr val="FF0000"/>
              </a:gs>
              <a:gs pos="80000">
                <a:schemeClr val="accent5">
                  <a:shade val="93000"/>
                  <a:satMod val="130000"/>
                </a:schemeClr>
              </a:gs>
              <a:gs pos="100000">
                <a:schemeClr val="accent5">
                  <a:shade val="94000"/>
                  <a:satMod val="135000"/>
                </a:schemeClr>
              </a:gs>
            </a:gsLst>
          </a:gradFill>
          <a:ln>
            <a:headEnd type="none" w="med" len="med"/>
            <a:tailEnd type="none" w="med" len="med"/>
          </a:ln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sz="2400">
              <a:solidFill>
                <a:schemeClr val="tx1"/>
              </a:solidFill>
              <a:latin typeface="Arial" charset="0"/>
              <a:ea typeface="ＭＳ Ｐゴシック" pitchFamily="16" charset="-128"/>
            </a:endParaRPr>
          </a:p>
        </p:txBody>
      </p:sp>
      <p:sp>
        <p:nvSpPr>
          <p:cNvPr id="7" name="Rounded Rectangle 6"/>
          <p:cNvSpPr/>
          <p:nvPr/>
        </p:nvSpPr>
        <p:spPr bwMode="auto">
          <a:xfrm>
            <a:off x="4189131" y="4300165"/>
            <a:ext cx="394854" cy="381000"/>
          </a:xfrm>
          <a:prstGeom prst="roundRect">
            <a:avLst/>
          </a:prstGeom>
          <a:gradFill>
            <a:gsLst>
              <a:gs pos="0">
                <a:srgbClr val="FF0000"/>
              </a:gs>
              <a:gs pos="80000">
                <a:schemeClr val="accent5">
                  <a:shade val="93000"/>
                  <a:satMod val="130000"/>
                </a:schemeClr>
              </a:gs>
              <a:gs pos="100000">
                <a:schemeClr val="accent5">
                  <a:shade val="94000"/>
                  <a:satMod val="135000"/>
                </a:schemeClr>
              </a:gs>
            </a:gsLst>
          </a:gradFill>
          <a:ln>
            <a:headEnd type="none" w="med" len="med"/>
            <a:tailEnd type="none" w="med" len="med"/>
          </a:ln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sz="2400">
              <a:solidFill>
                <a:schemeClr val="tx1"/>
              </a:solidFill>
              <a:latin typeface="Arial" charset="0"/>
              <a:ea typeface="ＭＳ Ｐゴシック" pitchFamily="16" charset="-128"/>
            </a:endParaRPr>
          </a:p>
        </p:txBody>
      </p:sp>
      <p:sp>
        <p:nvSpPr>
          <p:cNvPr id="8" name="Rounded Rectangle 7"/>
          <p:cNvSpPr/>
          <p:nvPr/>
        </p:nvSpPr>
        <p:spPr bwMode="auto">
          <a:xfrm>
            <a:off x="4810110" y="4304618"/>
            <a:ext cx="394854" cy="381000"/>
          </a:xfrm>
          <a:prstGeom prst="roundRect">
            <a:avLst/>
          </a:prstGeom>
          <a:gradFill>
            <a:gsLst>
              <a:gs pos="0">
                <a:srgbClr val="FF0000"/>
              </a:gs>
              <a:gs pos="80000">
                <a:schemeClr val="accent5">
                  <a:shade val="93000"/>
                  <a:satMod val="130000"/>
                </a:schemeClr>
              </a:gs>
              <a:gs pos="100000">
                <a:schemeClr val="accent5">
                  <a:shade val="94000"/>
                  <a:satMod val="135000"/>
                </a:schemeClr>
              </a:gs>
            </a:gsLst>
          </a:gradFill>
          <a:ln>
            <a:headEnd type="none" w="med" len="med"/>
            <a:tailEnd type="none" w="med" len="med"/>
          </a:ln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sz="2400">
              <a:solidFill>
                <a:schemeClr val="tx1"/>
              </a:solidFill>
              <a:latin typeface="Arial" charset="0"/>
              <a:ea typeface="ＭＳ Ｐゴシック" pitchFamily="16" charset="-128"/>
            </a:endParaRPr>
          </a:p>
        </p:txBody>
      </p:sp>
      <p:sp>
        <p:nvSpPr>
          <p:cNvPr id="9" name="Rounded Rectangle 8"/>
          <p:cNvSpPr/>
          <p:nvPr/>
        </p:nvSpPr>
        <p:spPr bwMode="auto">
          <a:xfrm>
            <a:off x="1892248" y="4300165"/>
            <a:ext cx="394854" cy="381000"/>
          </a:xfrm>
          <a:prstGeom prst="roundRect">
            <a:avLst/>
          </a:prstGeom>
          <a:gradFill>
            <a:gsLst>
              <a:gs pos="0">
                <a:srgbClr val="FF0000"/>
              </a:gs>
              <a:gs pos="80000">
                <a:schemeClr val="accent5">
                  <a:shade val="93000"/>
                  <a:satMod val="130000"/>
                </a:schemeClr>
              </a:gs>
              <a:gs pos="100000">
                <a:schemeClr val="accent5">
                  <a:shade val="94000"/>
                  <a:satMod val="135000"/>
                </a:schemeClr>
              </a:gs>
            </a:gsLst>
          </a:gradFill>
          <a:ln>
            <a:headEnd type="none" w="med" len="med"/>
            <a:tailEnd type="none" w="med" len="med"/>
          </a:ln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sz="2400">
              <a:solidFill>
                <a:schemeClr val="tx1"/>
              </a:solidFill>
              <a:latin typeface="Arial" charset="0"/>
              <a:ea typeface="ＭＳ Ｐゴシック" pitchFamily="16" charset="-128"/>
            </a:endParaRPr>
          </a:p>
        </p:txBody>
      </p:sp>
      <p:sp>
        <p:nvSpPr>
          <p:cNvPr id="10" name="Rounded Rectangle 9"/>
          <p:cNvSpPr/>
          <p:nvPr/>
        </p:nvSpPr>
        <p:spPr bwMode="auto">
          <a:xfrm>
            <a:off x="5463748" y="4304618"/>
            <a:ext cx="394854" cy="381000"/>
          </a:xfrm>
          <a:prstGeom prst="roundRect">
            <a:avLst/>
          </a:prstGeom>
          <a:gradFill>
            <a:gsLst>
              <a:gs pos="0">
                <a:srgbClr val="FF0000"/>
              </a:gs>
              <a:gs pos="80000">
                <a:schemeClr val="accent5">
                  <a:shade val="93000"/>
                  <a:satMod val="130000"/>
                </a:schemeClr>
              </a:gs>
              <a:gs pos="100000">
                <a:schemeClr val="accent5">
                  <a:shade val="94000"/>
                  <a:satMod val="135000"/>
                </a:schemeClr>
              </a:gs>
            </a:gsLst>
          </a:gradFill>
          <a:ln>
            <a:headEnd type="none" w="med" len="med"/>
            <a:tailEnd type="none" w="med" len="med"/>
          </a:ln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sz="2400">
              <a:solidFill>
                <a:schemeClr val="tx1"/>
              </a:solidFill>
              <a:latin typeface="Arial" charset="0"/>
              <a:ea typeface="ＭＳ Ｐゴシック" pitchFamily="16" charset="-128"/>
            </a:endParaRPr>
          </a:p>
        </p:txBody>
      </p:sp>
      <p:sp>
        <p:nvSpPr>
          <p:cNvPr id="11" name="Oval 10"/>
          <p:cNvSpPr/>
          <p:nvPr/>
        </p:nvSpPr>
        <p:spPr bwMode="auto">
          <a:xfrm>
            <a:off x="2020402" y="2535196"/>
            <a:ext cx="533400" cy="550223"/>
          </a:xfrm>
          <a:prstGeom prst="ellipse">
            <a:avLst/>
          </a:prstGeom>
          <a:gradFill>
            <a:gsLst>
              <a:gs pos="0">
                <a:srgbClr val="00B050"/>
              </a:gs>
              <a:gs pos="80000">
                <a:schemeClr val="accent5">
                  <a:shade val="93000"/>
                  <a:satMod val="130000"/>
                </a:schemeClr>
              </a:gs>
              <a:gs pos="100000">
                <a:schemeClr val="accent5">
                  <a:shade val="94000"/>
                  <a:satMod val="135000"/>
                </a:schemeClr>
              </a:gs>
            </a:gsLst>
          </a:gradFill>
          <a:ln>
            <a:headEnd type="none" w="med" len="med"/>
            <a:tailEnd type="none" w="med" len="med"/>
          </a:ln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sz="2400">
              <a:solidFill>
                <a:schemeClr val="tx1"/>
              </a:solidFill>
              <a:latin typeface="Arial" charset="0"/>
              <a:ea typeface="ＭＳ Ｐゴシック" pitchFamily="16" charset="-128"/>
            </a:endParaRPr>
          </a:p>
        </p:txBody>
      </p:sp>
      <p:sp>
        <p:nvSpPr>
          <p:cNvPr id="12" name="Oval 11"/>
          <p:cNvSpPr/>
          <p:nvPr/>
        </p:nvSpPr>
        <p:spPr bwMode="auto">
          <a:xfrm>
            <a:off x="4810110" y="2547566"/>
            <a:ext cx="533400" cy="550223"/>
          </a:xfrm>
          <a:prstGeom prst="ellipse">
            <a:avLst/>
          </a:prstGeom>
          <a:gradFill>
            <a:gsLst>
              <a:gs pos="0">
                <a:srgbClr val="00B050"/>
              </a:gs>
              <a:gs pos="80000">
                <a:schemeClr val="accent5">
                  <a:shade val="93000"/>
                  <a:satMod val="130000"/>
                </a:schemeClr>
              </a:gs>
              <a:gs pos="100000">
                <a:schemeClr val="accent5">
                  <a:shade val="94000"/>
                  <a:satMod val="135000"/>
                </a:schemeClr>
              </a:gs>
            </a:gsLst>
          </a:gradFill>
          <a:ln>
            <a:headEnd type="none" w="med" len="med"/>
            <a:tailEnd type="none" w="med" len="med"/>
          </a:ln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sz="2400">
              <a:solidFill>
                <a:schemeClr val="tx1"/>
              </a:solidFill>
              <a:latin typeface="Arial" charset="0"/>
              <a:ea typeface="ＭＳ Ｐゴシック" pitchFamily="16" charset="-128"/>
            </a:endParaRPr>
          </a:p>
        </p:txBody>
      </p:sp>
      <p:sp>
        <p:nvSpPr>
          <p:cNvPr id="13" name="Oval 12"/>
          <p:cNvSpPr/>
          <p:nvPr/>
        </p:nvSpPr>
        <p:spPr bwMode="auto">
          <a:xfrm>
            <a:off x="4148556" y="2547566"/>
            <a:ext cx="533400" cy="550223"/>
          </a:xfrm>
          <a:prstGeom prst="ellipse">
            <a:avLst/>
          </a:prstGeom>
          <a:gradFill>
            <a:gsLst>
              <a:gs pos="0">
                <a:srgbClr val="00B050"/>
              </a:gs>
              <a:gs pos="80000">
                <a:schemeClr val="accent5">
                  <a:shade val="93000"/>
                  <a:satMod val="130000"/>
                </a:schemeClr>
              </a:gs>
              <a:gs pos="100000">
                <a:schemeClr val="accent5">
                  <a:shade val="94000"/>
                  <a:satMod val="135000"/>
                </a:schemeClr>
              </a:gs>
            </a:gsLst>
          </a:gradFill>
          <a:ln>
            <a:headEnd type="none" w="med" len="med"/>
            <a:tailEnd type="none" w="med" len="med"/>
          </a:ln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sz="2400">
              <a:solidFill>
                <a:schemeClr val="tx1"/>
              </a:solidFill>
              <a:latin typeface="Arial" charset="0"/>
              <a:ea typeface="ＭＳ Ｐゴシック" pitchFamily="16" charset="-128"/>
            </a:endParaRPr>
          </a:p>
        </p:txBody>
      </p:sp>
      <p:sp>
        <p:nvSpPr>
          <p:cNvPr id="14" name="Oval 13"/>
          <p:cNvSpPr/>
          <p:nvPr/>
        </p:nvSpPr>
        <p:spPr bwMode="auto">
          <a:xfrm>
            <a:off x="2760628" y="2535196"/>
            <a:ext cx="533400" cy="550223"/>
          </a:xfrm>
          <a:prstGeom prst="ellipse">
            <a:avLst/>
          </a:prstGeom>
          <a:gradFill>
            <a:gsLst>
              <a:gs pos="0">
                <a:srgbClr val="00B050"/>
              </a:gs>
              <a:gs pos="80000">
                <a:schemeClr val="accent5">
                  <a:shade val="93000"/>
                  <a:satMod val="130000"/>
                </a:schemeClr>
              </a:gs>
              <a:gs pos="100000">
                <a:schemeClr val="accent5">
                  <a:shade val="94000"/>
                  <a:satMod val="135000"/>
                </a:schemeClr>
              </a:gs>
            </a:gsLst>
          </a:gradFill>
          <a:ln>
            <a:headEnd type="none" w="med" len="med"/>
            <a:tailEnd type="none" w="med" len="med"/>
          </a:ln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sz="2400">
              <a:solidFill>
                <a:schemeClr val="tx1"/>
              </a:solidFill>
              <a:latin typeface="Arial" charset="0"/>
              <a:ea typeface="ＭＳ Ｐゴシック" pitchFamily="16" charset="-128"/>
            </a:endParaRPr>
          </a:p>
        </p:txBody>
      </p:sp>
      <p:cxnSp>
        <p:nvCxnSpPr>
          <p:cNvPr id="15" name="Straight Arrow Connector 14"/>
          <p:cNvCxnSpPr>
            <a:endCxn id="9" idx="0"/>
          </p:cNvCxnSpPr>
          <p:nvPr/>
        </p:nvCxnSpPr>
        <p:spPr bwMode="auto">
          <a:xfrm flipH="1">
            <a:off x="2089676" y="3085419"/>
            <a:ext cx="197427" cy="1214747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cxnSp>
        <p:nvCxnSpPr>
          <p:cNvPr id="16" name="Straight Arrow Connector 15"/>
          <p:cNvCxnSpPr>
            <a:endCxn id="5" idx="0"/>
          </p:cNvCxnSpPr>
          <p:nvPr/>
        </p:nvCxnSpPr>
        <p:spPr bwMode="auto">
          <a:xfrm>
            <a:off x="2287103" y="3097789"/>
            <a:ext cx="533399" cy="1202377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cxnSp>
        <p:nvCxnSpPr>
          <p:cNvPr id="17" name="Straight Arrow Connector 16"/>
          <p:cNvCxnSpPr>
            <a:endCxn id="6" idx="0"/>
          </p:cNvCxnSpPr>
          <p:nvPr/>
        </p:nvCxnSpPr>
        <p:spPr bwMode="auto">
          <a:xfrm>
            <a:off x="2287103" y="3097789"/>
            <a:ext cx="1204353" cy="1202377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cxnSp>
        <p:nvCxnSpPr>
          <p:cNvPr id="18" name="Straight Arrow Connector 17"/>
          <p:cNvCxnSpPr>
            <a:stCxn id="11" idx="4"/>
            <a:endCxn id="7" idx="0"/>
          </p:cNvCxnSpPr>
          <p:nvPr/>
        </p:nvCxnSpPr>
        <p:spPr bwMode="auto">
          <a:xfrm>
            <a:off x="2287102" y="3085419"/>
            <a:ext cx="2099456" cy="1214747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cxnSp>
        <p:nvCxnSpPr>
          <p:cNvPr id="19" name="Straight Arrow Connector 18"/>
          <p:cNvCxnSpPr>
            <a:endCxn id="8" idx="0"/>
          </p:cNvCxnSpPr>
          <p:nvPr/>
        </p:nvCxnSpPr>
        <p:spPr bwMode="auto">
          <a:xfrm>
            <a:off x="2287103" y="3097788"/>
            <a:ext cx="2720435" cy="1206830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cxnSp>
        <p:nvCxnSpPr>
          <p:cNvPr id="20" name="Straight Arrow Connector 19"/>
          <p:cNvCxnSpPr>
            <a:stCxn id="11" idx="4"/>
            <a:endCxn id="10" idx="0"/>
          </p:cNvCxnSpPr>
          <p:nvPr/>
        </p:nvCxnSpPr>
        <p:spPr bwMode="auto">
          <a:xfrm>
            <a:off x="2287103" y="3085418"/>
            <a:ext cx="3374073" cy="1219200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cxnSp>
        <p:nvCxnSpPr>
          <p:cNvPr id="21" name="Straight Arrow Connector 20"/>
          <p:cNvCxnSpPr/>
          <p:nvPr/>
        </p:nvCxnSpPr>
        <p:spPr bwMode="auto">
          <a:xfrm flipH="1">
            <a:off x="2089676" y="3085419"/>
            <a:ext cx="937653" cy="1214747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cxnSp>
        <p:nvCxnSpPr>
          <p:cNvPr id="22" name="Straight Arrow Connector 21"/>
          <p:cNvCxnSpPr/>
          <p:nvPr/>
        </p:nvCxnSpPr>
        <p:spPr bwMode="auto">
          <a:xfrm flipH="1">
            <a:off x="2820502" y="3097789"/>
            <a:ext cx="206827" cy="1202377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cxnSp>
        <p:nvCxnSpPr>
          <p:cNvPr id="23" name="Straight Arrow Connector 22"/>
          <p:cNvCxnSpPr>
            <a:endCxn id="6" idx="0"/>
          </p:cNvCxnSpPr>
          <p:nvPr/>
        </p:nvCxnSpPr>
        <p:spPr bwMode="auto">
          <a:xfrm>
            <a:off x="3027329" y="3097789"/>
            <a:ext cx="464127" cy="1202377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cxnSp>
        <p:nvCxnSpPr>
          <p:cNvPr id="24" name="Straight Arrow Connector 23"/>
          <p:cNvCxnSpPr/>
          <p:nvPr/>
        </p:nvCxnSpPr>
        <p:spPr bwMode="auto">
          <a:xfrm>
            <a:off x="3027328" y="3085419"/>
            <a:ext cx="1359230" cy="1214747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cxnSp>
        <p:nvCxnSpPr>
          <p:cNvPr id="25" name="Straight Arrow Connector 24"/>
          <p:cNvCxnSpPr>
            <a:stCxn id="14" idx="4"/>
          </p:cNvCxnSpPr>
          <p:nvPr/>
        </p:nvCxnSpPr>
        <p:spPr bwMode="auto">
          <a:xfrm>
            <a:off x="3027329" y="3085419"/>
            <a:ext cx="1980209" cy="1214747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cxnSp>
        <p:nvCxnSpPr>
          <p:cNvPr id="26" name="Straight Arrow Connector 25"/>
          <p:cNvCxnSpPr/>
          <p:nvPr/>
        </p:nvCxnSpPr>
        <p:spPr bwMode="auto">
          <a:xfrm>
            <a:off x="3027329" y="3097789"/>
            <a:ext cx="2633847" cy="1202377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cxnSp>
        <p:nvCxnSpPr>
          <p:cNvPr id="27" name="Straight Arrow Connector 26"/>
          <p:cNvCxnSpPr/>
          <p:nvPr/>
        </p:nvCxnSpPr>
        <p:spPr bwMode="auto">
          <a:xfrm flipH="1">
            <a:off x="2188388" y="3097789"/>
            <a:ext cx="2226868" cy="1202377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cxnSp>
        <p:nvCxnSpPr>
          <p:cNvPr id="28" name="Straight Arrow Connector 27"/>
          <p:cNvCxnSpPr/>
          <p:nvPr/>
        </p:nvCxnSpPr>
        <p:spPr bwMode="auto">
          <a:xfrm flipH="1">
            <a:off x="2820502" y="3097789"/>
            <a:ext cx="1594755" cy="1202377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cxnSp>
        <p:nvCxnSpPr>
          <p:cNvPr id="29" name="Straight Arrow Connector 28"/>
          <p:cNvCxnSpPr/>
          <p:nvPr/>
        </p:nvCxnSpPr>
        <p:spPr bwMode="auto">
          <a:xfrm flipH="1">
            <a:off x="3491456" y="3097789"/>
            <a:ext cx="923801" cy="1202377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cxnSp>
        <p:nvCxnSpPr>
          <p:cNvPr id="30" name="Straight Arrow Connector 29"/>
          <p:cNvCxnSpPr>
            <a:endCxn id="7" idx="0"/>
          </p:cNvCxnSpPr>
          <p:nvPr/>
        </p:nvCxnSpPr>
        <p:spPr bwMode="auto">
          <a:xfrm flipH="1">
            <a:off x="4386558" y="3097789"/>
            <a:ext cx="28698" cy="1202377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cxnSp>
        <p:nvCxnSpPr>
          <p:cNvPr id="31" name="Straight Arrow Connector 30"/>
          <p:cNvCxnSpPr/>
          <p:nvPr/>
        </p:nvCxnSpPr>
        <p:spPr bwMode="auto">
          <a:xfrm>
            <a:off x="4415257" y="3097789"/>
            <a:ext cx="592281" cy="1202377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cxnSp>
        <p:nvCxnSpPr>
          <p:cNvPr id="32" name="Straight Arrow Connector 31"/>
          <p:cNvCxnSpPr/>
          <p:nvPr/>
        </p:nvCxnSpPr>
        <p:spPr bwMode="auto">
          <a:xfrm>
            <a:off x="4415257" y="3097789"/>
            <a:ext cx="1245919" cy="1202377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cxnSp>
        <p:nvCxnSpPr>
          <p:cNvPr id="33" name="Straight Arrow Connector 32"/>
          <p:cNvCxnSpPr>
            <a:stCxn id="12" idx="4"/>
          </p:cNvCxnSpPr>
          <p:nvPr/>
        </p:nvCxnSpPr>
        <p:spPr bwMode="auto">
          <a:xfrm flipH="1">
            <a:off x="2188388" y="3097789"/>
            <a:ext cx="2888422" cy="1126177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cxnSp>
        <p:nvCxnSpPr>
          <p:cNvPr id="34" name="Straight Arrow Connector 33"/>
          <p:cNvCxnSpPr/>
          <p:nvPr/>
        </p:nvCxnSpPr>
        <p:spPr bwMode="auto">
          <a:xfrm flipH="1">
            <a:off x="2889278" y="3097789"/>
            <a:ext cx="2187532" cy="1202377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cxnSp>
        <p:nvCxnSpPr>
          <p:cNvPr id="35" name="Straight Arrow Connector 34"/>
          <p:cNvCxnSpPr/>
          <p:nvPr/>
        </p:nvCxnSpPr>
        <p:spPr bwMode="auto">
          <a:xfrm flipH="1">
            <a:off x="3491456" y="3097789"/>
            <a:ext cx="1585355" cy="1202377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cxnSp>
        <p:nvCxnSpPr>
          <p:cNvPr id="36" name="Straight Arrow Connector 35"/>
          <p:cNvCxnSpPr/>
          <p:nvPr/>
        </p:nvCxnSpPr>
        <p:spPr bwMode="auto">
          <a:xfrm flipH="1">
            <a:off x="4415256" y="3097789"/>
            <a:ext cx="661554" cy="1126177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cxnSp>
        <p:nvCxnSpPr>
          <p:cNvPr id="37" name="Straight Arrow Connector 36"/>
          <p:cNvCxnSpPr/>
          <p:nvPr/>
        </p:nvCxnSpPr>
        <p:spPr bwMode="auto">
          <a:xfrm flipH="1">
            <a:off x="5007538" y="3097789"/>
            <a:ext cx="69273" cy="1126177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cxnSp>
        <p:nvCxnSpPr>
          <p:cNvPr id="38" name="Straight Arrow Connector 37"/>
          <p:cNvCxnSpPr/>
          <p:nvPr/>
        </p:nvCxnSpPr>
        <p:spPr bwMode="auto">
          <a:xfrm>
            <a:off x="5076811" y="3097789"/>
            <a:ext cx="584365" cy="1202377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sp>
        <p:nvSpPr>
          <p:cNvPr id="39" name="Right Brace 38"/>
          <p:cNvSpPr/>
          <p:nvPr/>
        </p:nvSpPr>
        <p:spPr bwMode="auto">
          <a:xfrm>
            <a:off x="5661176" y="2535196"/>
            <a:ext cx="335973" cy="562593"/>
          </a:xfrm>
          <a:prstGeom prst="rightBrace">
            <a:avLst/>
          </a:prstGeom>
          <a:ln>
            <a:solidFill>
              <a:srgbClr val="00B050"/>
            </a:solidFill>
            <a:headEnd type="none" w="med" len="med"/>
            <a:tailEnd type="none" w="med" len="med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sz="2400">
              <a:latin typeface="Arial" charset="0"/>
              <a:ea typeface="ＭＳ Ｐゴシック" pitchFamily="16" charset="-128"/>
            </a:endParaRPr>
          </a:p>
        </p:txBody>
      </p:sp>
      <p:sp>
        <p:nvSpPr>
          <p:cNvPr id="40" name="Right Brace 39"/>
          <p:cNvSpPr/>
          <p:nvPr/>
        </p:nvSpPr>
        <p:spPr bwMode="auto">
          <a:xfrm>
            <a:off x="5997149" y="4207637"/>
            <a:ext cx="335973" cy="562593"/>
          </a:xfrm>
          <a:prstGeom prst="rightBrace">
            <a:avLst/>
          </a:prstGeom>
          <a:ln>
            <a:solidFill>
              <a:srgbClr val="FF0000"/>
            </a:solidFill>
            <a:headEnd type="none" w="med" len="med"/>
            <a:tailEnd type="none" w="med" len="med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sz="2400">
              <a:latin typeface="Arial" charset="0"/>
              <a:ea typeface="ＭＳ Ｐゴシック" pitchFamily="16" charset="-128"/>
            </a:endParaRPr>
          </a:p>
        </p:txBody>
      </p:sp>
      <p:sp>
        <p:nvSpPr>
          <p:cNvPr id="41" name="TextBox 40"/>
          <p:cNvSpPr txBox="1"/>
          <p:nvPr/>
        </p:nvSpPr>
        <p:spPr>
          <a:xfrm>
            <a:off x="6118598" y="2446958"/>
            <a:ext cx="499012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Let the distributors be indexed by </a:t>
            </a:r>
            <a:r>
              <a:rPr lang="en-US" sz="2000" i="1" dirty="0" err="1"/>
              <a:t>i</a:t>
            </a:r>
            <a:r>
              <a:rPr lang="en-US" sz="2000" i="1" dirty="0"/>
              <a:t>, </a:t>
            </a:r>
            <a:r>
              <a:rPr lang="en-US" sz="2000" i="1" dirty="0" err="1"/>
              <a:t>i</a:t>
            </a:r>
            <a:r>
              <a:rPr lang="en-US" sz="2000" i="1" dirty="0"/>
              <a:t>=1,2,…,m</a:t>
            </a:r>
          </a:p>
          <a:p>
            <a:r>
              <a:rPr lang="en-US" sz="2000" dirty="0">
                <a:sym typeface="Wingdings" panose="05000000000000000000" pitchFamily="2" charset="2"/>
              </a:rPr>
              <a:t></a:t>
            </a:r>
            <a:r>
              <a:rPr lang="en-US" sz="2000" dirty="0"/>
              <a:t>Supply limit of distributor </a:t>
            </a:r>
            <a:r>
              <a:rPr lang="en-US" sz="2000" i="1" dirty="0" err="1"/>
              <a:t>i</a:t>
            </a:r>
            <a:r>
              <a:rPr lang="en-US" sz="2000" dirty="0"/>
              <a:t> is </a:t>
            </a:r>
            <a:r>
              <a:rPr lang="en-US" sz="2000" i="1" dirty="0"/>
              <a:t>Si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485520" y="4027267"/>
            <a:ext cx="436159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Let the stores be indexed by </a:t>
            </a:r>
            <a:r>
              <a:rPr lang="en-US" sz="2000" i="1" dirty="0"/>
              <a:t>j, j=1,2,…,n</a:t>
            </a:r>
          </a:p>
          <a:p>
            <a:r>
              <a:rPr lang="en-US" sz="2000" dirty="0">
                <a:sym typeface="Wingdings" panose="05000000000000000000" pitchFamily="2" charset="2"/>
              </a:rPr>
              <a:t></a:t>
            </a:r>
            <a:r>
              <a:rPr lang="en-US" sz="2000" dirty="0"/>
              <a:t>Demand at store </a:t>
            </a:r>
            <a:r>
              <a:rPr lang="en-US" sz="2000" i="1" dirty="0"/>
              <a:t>j</a:t>
            </a:r>
            <a:r>
              <a:rPr lang="en-US" sz="2000" dirty="0"/>
              <a:t> is </a:t>
            </a:r>
            <a:r>
              <a:rPr lang="en-US" sz="2000" i="1" dirty="0" err="1"/>
              <a:t>Dj</a:t>
            </a:r>
            <a:endParaRPr lang="en-US" sz="2000" i="1" dirty="0"/>
          </a:p>
        </p:txBody>
      </p:sp>
      <p:sp>
        <p:nvSpPr>
          <p:cNvPr id="43" name="Rectangle 42"/>
          <p:cNvSpPr/>
          <p:nvPr/>
        </p:nvSpPr>
        <p:spPr>
          <a:xfrm>
            <a:off x="1764436" y="5209959"/>
            <a:ext cx="6091348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000" b="1" i="1" dirty="0"/>
              <a:t>C</a:t>
            </a:r>
            <a:r>
              <a:rPr lang="en-US" sz="2000" b="1" i="1" baseline="-25000" dirty="0"/>
              <a:t>ij</a:t>
            </a:r>
            <a:r>
              <a:rPr lang="en-US" sz="2000" b="1" dirty="0"/>
              <a:t>:</a:t>
            </a:r>
            <a:r>
              <a:rPr lang="en-US" sz="2000" dirty="0"/>
              <a:t> unit transportation cost from distributor </a:t>
            </a:r>
            <a:r>
              <a:rPr lang="en-US" sz="2000" i="1" dirty="0" err="1"/>
              <a:t>i</a:t>
            </a:r>
            <a:r>
              <a:rPr lang="en-US" sz="2000" dirty="0"/>
              <a:t> to retailer </a:t>
            </a:r>
            <a:r>
              <a:rPr lang="en-US" sz="2000" i="1" dirty="0"/>
              <a:t>j</a:t>
            </a:r>
          </a:p>
        </p:txBody>
      </p:sp>
    </p:spTree>
    <p:extLst>
      <p:ext uri="{BB962C8B-B14F-4D97-AF65-F5344CB8AC3E}">
        <p14:creationId xmlns:p14="http://schemas.microsoft.com/office/powerpoint/2010/main" val="31672935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9" grpId="0" animBg="1"/>
      <p:bldP spid="40" grpId="0" animBg="1"/>
      <p:bldP spid="41" grpId="0"/>
      <p:bldP spid="42" grpId="0"/>
      <p:bldP spid="43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Compact Algebraic Modeling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b="1" u="sng" dirty="0"/>
                  <a:t>An Example: Walmart’s Distribution (Transportation) Problem: </a:t>
                </a:r>
              </a:p>
              <a:p>
                <a:r>
                  <a:rPr lang="en-US" b="1" dirty="0">
                    <a:solidFill>
                      <a:srgbClr val="C00000"/>
                    </a:solidFill>
                  </a:rPr>
                  <a:t>STEP 1: </a:t>
                </a:r>
                <a:r>
                  <a:rPr lang="en-US" dirty="0"/>
                  <a:t>Decision variables</a:t>
                </a:r>
              </a:p>
              <a:p>
                <a:pPr lvl="1"/>
                <a:r>
                  <a:rPr lang="en-US" dirty="0"/>
                  <a:t>We want to determine the shipment plan, i.e., how much to ship from each distributor to each retail store</a:t>
                </a:r>
              </a:p>
              <a:p>
                <a:pPr lvl="2"/>
                <a:r>
                  <a:rPr lang="en-US" dirty="0"/>
                  <a:t>We have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lang="en-US" dirty="0"/>
                  <a:t> distributors and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dirty="0"/>
                  <a:t> stores, thus, we will have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US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dirty="0"/>
                  <a:t> decision variables </a:t>
                </a:r>
              </a:p>
              <a:p>
                <a:pPr marL="914400" lvl="2" indent="0">
                  <a:buNone/>
                </a:pPr>
                <a:endParaRPr lang="en-US" dirty="0"/>
              </a:p>
              <a:p>
                <a:r>
                  <a:rPr lang="en-US" b="1" dirty="0">
                    <a:solidFill>
                      <a:srgbClr val="C00000"/>
                    </a:solidFill>
                  </a:rPr>
                  <a:t>STEP 2: </a:t>
                </a:r>
                <a:r>
                  <a:rPr lang="en-US" dirty="0"/>
                  <a:t>Objective and objective function</a:t>
                </a:r>
              </a:p>
              <a:p>
                <a:pPr lvl="1"/>
                <a:r>
                  <a:rPr lang="en-US" dirty="0"/>
                  <a:t>We want to minimize the total shipment cost</a:t>
                </a:r>
              </a:p>
              <a:p>
                <a:pPr lvl="2"/>
                <a:endParaRPr lang="en-US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0">
                <a:blip r:embed="rId2"/>
                <a:stretch>
                  <a:fillRect l="-956" t="-200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4" name="Rectangle 43"/>
          <p:cNvSpPr/>
          <p:nvPr/>
        </p:nvSpPr>
        <p:spPr>
          <a:xfrm>
            <a:off x="2892372" y="3248076"/>
            <a:ext cx="6335837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b="1" i="1" dirty="0"/>
              <a:t>Q</a:t>
            </a:r>
            <a:r>
              <a:rPr lang="en-US" sz="2400" b="1" i="1" baseline="-25000" dirty="0"/>
              <a:t>ij</a:t>
            </a:r>
            <a:r>
              <a:rPr lang="en-US" sz="2400" i="1" dirty="0"/>
              <a:t>: </a:t>
            </a:r>
            <a:r>
              <a:rPr lang="en-US" sz="2400" dirty="0"/>
              <a:t>amount shipped from distributor </a:t>
            </a:r>
            <a:r>
              <a:rPr lang="en-US" sz="2400" i="1" dirty="0" err="1"/>
              <a:t>i</a:t>
            </a:r>
            <a:r>
              <a:rPr lang="en-US" sz="2400" dirty="0"/>
              <a:t> to retailer </a:t>
            </a:r>
            <a:r>
              <a:rPr lang="en-US" sz="2400" i="1" dirty="0"/>
              <a:t>j</a:t>
            </a:r>
            <a:endParaRPr lang="en-US" sz="2400" dirty="0"/>
          </a:p>
        </p:txBody>
      </p:sp>
      <p:pic>
        <p:nvPicPr>
          <p:cNvPr id="45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54398" y="4714752"/>
            <a:ext cx="62484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46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54398" y="5205413"/>
            <a:ext cx="2933700" cy="971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7" name="Curved Right Arrow 46"/>
          <p:cNvSpPr/>
          <p:nvPr/>
        </p:nvSpPr>
        <p:spPr bwMode="auto">
          <a:xfrm>
            <a:off x="1478692" y="4976814"/>
            <a:ext cx="381000" cy="714375"/>
          </a:xfrm>
          <a:prstGeom prst="curvedRightArrow">
            <a:avLst/>
          </a:prstGeom>
          <a:solidFill>
            <a:srgbClr val="C00000"/>
          </a:solidFill>
          <a:ln w="9525" cap="flat" cmpd="sng" algn="ctr">
            <a:solidFill>
              <a:srgbClr val="C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sz="2400">
              <a:latin typeface="Arial" charset="0"/>
              <a:ea typeface="ＭＳ Ｐゴシック" pitchFamily="16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3487009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4" grpId="0"/>
      <p:bldP spid="47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Compact Algebraic Modeling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u="sng" dirty="0"/>
              <a:t>An Example: Walmart’s Distribution (Transportation) Problem: </a:t>
            </a:r>
          </a:p>
          <a:p>
            <a:r>
              <a:rPr lang="en-US" b="1" dirty="0">
                <a:solidFill>
                  <a:srgbClr val="C00000"/>
                </a:solidFill>
              </a:rPr>
              <a:t>STEP 3: </a:t>
            </a:r>
            <a:r>
              <a:rPr lang="en-US" dirty="0"/>
              <a:t>Constraints</a:t>
            </a:r>
          </a:p>
          <a:p>
            <a:pPr lvl="1"/>
            <a:r>
              <a:rPr lang="en-US" dirty="0"/>
              <a:t>We need to ship the demand to the retailer stores</a:t>
            </a:r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5"/>
            <a:endParaRPr lang="en-US" dirty="0"/>
          </a:p>
          <a:p>
            <a:pPr lvl="1"/>
            <a:r>
              <a:rPr lang="en-US" dirty="0"/>
              <a:t>We cannot exceed the supply limit at the distributors</a:t>
            </a:r>
          </a:p>
        </p:txBody>
      </p:sp>
      <p:pic>
        <p:nvPicPr>
          <p:cNvPr id="9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19517" y="2605439"/>
            <a:ext cx="3598777" cy="9904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" name="Picture 5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19516" y="4217306"/>
            <a:ext cx="3675815" cy="9354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0903800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Compact Algebraic Modeling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u="sng" dirty="0"/>
              <a:t>An Example: Walmart’s Distribution (Transportation) Problem: </a:t>
            </a:r>
          </a:p>
          <a:p>
            <a:r>
              <a:rPr lang="en-US" dirty="0"/>
              <a:t>Combining everything, we have the compact formulation as follows:</a:t>
            </a:r>
          </a:p>
        </p:txBody>
      </p:sp>
      <p:pic>
        <p:nvPicPr>
          <p:cNvPr id="7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09800" y="2362200"/>
            <a:ext cx="6896100" cy="3848100"/>
          </a:xfrm>
          <a:prstGeom prst="rect">
            <a:avLst/>
          </a:prstGeom>
          <a:noFill/>
          <a:ln w="28575">
            <a:solidFill>
              <a:srgbClr val="C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09955660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Outline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solidFill>
                  <a:schemeClr val="bg2"/>
                </a:solidFill>
              </a:rPr>
              <a:t>Compact Formulation (not in the textbook)</a:t>
            </a:r>
          </a:p>
          <a:p>
            <a:r>
              <a:rPr lang="en-US" dirty="0"/>
              <a:t>Matrix Notation (not in the textbook)</a:t>
            </a:r>
          </a:p>
          <a:p>
            <a:r>
              <a:rPr lang="en-US" dirty="0">
                <a:solidFill>
                  <a:schemeClr val="bg2"/>
                </a:solidFill>
              </a:rPr>
              <a:t>Matrix Notation for Network Optimization (not in the textbook)</a:t>
            </a:r>
          </a:p>
          <a:p>
            <a:r>
              <a:rPr lang="en-US" dirty="0">
                <a:solidFill>
                  <a:schemeClr val="bg2"/>
                </a:solidFill>
              </a:rPr>
              <a:t>Examples (not in the textbook)</a:t>
            </a:r>
          </a:p>
          <a:p>
            <a:r>
              <a:rPr lang="en-US" dirty="0">
                <a:solidFill>
                  <a:schemeClr val="bg2"/>
                </a:solidFill>
              </a:rPr>
              <a:t>Phyton Introduction</a:t>
            </a:r>
          </a:p>
          <a:p>
            <a:pPr marL="0" indent="0">
              <a:buNone/>
            </a:pPr>
            <a:endParaRPr lang="en-US" dirty="0"/>
          </a:p>
          <a:p>
            <a:endParaRPr lang="en-US" dirty="0"/>
          </a:p>
          <a:p>
            <a:pPr lvl="5"/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99405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Matrix Notation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So far, we discussed two approaches for algebraic modeling</a:t>
            </a:r>
          </a:p>
          <a:p>
            <a:pPr lvl="1"/>
            <a:r>
              <a:rPr lang="en-US" dirty="0"/>
              <a:t>Explicit formulation </a:t>
            </a:r>
            <a:r>
              <a:rPr lang="en-US" dirty="0">
                <a:sym typeface="Wingdings" panose="05000000000000000000" pitchFamily="2" charset="2"/>
              </a:rPr>
              <a:t> which has all the functions explicitly written</a:t>
            </a:r>
          </a:p>
          <a:p>
            <a:pPr lvl="1"/>
            <a:r>
              <a:rPr lang="en-US" dirty="0">
                <a:sym typeface="Wingdings" panose="05000000000000000000" pitchFamily="2" charset="2"/>
              </a:rPr>
              <a:t>Compact formulation  which uses notation and summation-notation to express the functions in a compact form</a:t>
            </a:r>
          </a:p>
          <a:p>
            <a:r>
              <a:rPr lang="en-US" dirty="0">
                <a:sym typeface="Wingdings" panose="05000000000000000000" pitchFamily="2" charset="2"/>
              </a:rPr>
              <a:t>Different software asks for different forms of input</a:t>
            </a:r>
          </a:p>
          <a:p>
            <a:pPr lvl="1"/>
            <a:r>
              <a:rPr lang="en-US" dirty="0">
                <a:sym typeface="Wingdings" panose="05000000000000000000" pitchFamily="2" charset="2"/>
              </a:rPr>
              <a:t>GAMS, LINGO work with compact formulation</a:t>
            </a:r>
          </a:p>
          <a:p>
            <a:pPr lvl="1"/>
            <a:r>
              <a:rPr lang="en-US" dirty="0">
                <a:sym typeface="Wingdings" panose="05000000000000000000" pitchFamily="2" charset="2"/>
              </a:rPr>
              <a:t>Excel solver can be considered as explicit formulation</a:t>
            </a:r>
          </a:p>
          <a:p>
            <a:r>
              <a:rPr lang="en-US" dirty="0">
                <a:sym typeface="Wingdings" panose="05000000000000000000" pitchFamily="2" charset="2"/>
              </a:rPr>
              <a:t>Another approach is the Matrix notation</a:t>
            </a:r>
          </a:p>
          <a:p>
            <a:pPr lvl="1"/>
            <a:r>
              <a:rPr lang="en-US" dirty="0">
                <a:sym typeface="Wingdings" panose="05000000000000000000" pitchFamily="2" charset="2"/>
              </a:rPr>
              <a:t>Even more compact than ‘compact formulation’ approach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565267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Matrix Notation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355002" y="1312432"/>
                <a:ext cx="11478410" cy="5374117"/>
              </a:xfrm>
            </p:spPr>
            <p:txBody>
              <a:bodyPr>
                <a:normAutofit fontScale="92500" lnSpcReduction="10000"/>
              </a:bodyPr>
              <a:lstStyle/>
              <a:p>
                <a:pPr>
                  <a:lnSpc>
                    <a:spcPct val="110000"/>
                  </a:lnSpc>
                </a:pPr>
                <a:r>
                  <a:rPr lang="en-US" dirty="0"/>
                  <a:t>Refreshing our memory about matrix algebra basics:</a:t>
                </a:r>
              </a:p>
              <a:p>
                <a:pPr lvl="1">
                  <a:lnSpc>
                    <a:spcPct val="110000"/>
                  </a:lnSpc>
                </a:pPr>
                <a:r>
                  <a:rPr lang="en-US" b="1" dirty="0"/>
                  <a:t>A</a:t>
                </a:r>
                <a:r>
                  <a:rPr lang="en-US" dirty="0"/>
                  <a:t> is a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×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dirty="0"/>
                  <a:t> matrix </a:t>
                </a:r>
                <a:r>
                  <a:rPr lang="en-US" dirty="0">
                    <a:sym typeface="Wingdings" panose="05000000000000000000" pitchFamily="2" charset="2"/>
                  </a:rPr>
                  <a:t> </a:t>
                </a:r>
                <a:r>
                  <a:rPr lang="en-US" b="1" dirty="0">
                    <a:sym typeface="Wingdings" panose="05000000000000000000" pitchFamily="2" charset="2"/>
                  </a:rPr>
                  <a:t>A</a:t>
                </a:r>
                <a:r>
                  <a:rPr lang="en-US" dirty="0">
                    <a:sym typeface="Wingdings" panose="05000000000000000000" pitchFamily="2" charset="2"/>
                  </a:rPr>
                  <a:t> has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𝑚</m:t>
                    </m:r>
                  </m:oMath>
                </a14:m>
                <a:r>
                  <a:rPr lang="en-US" dirty="0">
                    <a:sym typeface="Wingdings" panose="05000000000000000000" pitchFamily="2" charset="2"/>
                  </a:rPr>
                  <a:t> rows and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𝑛</m:t>
                    </m:r>
                  </m:oMath>
                </a14:m>
                <a:r>
                  <a:rPr lang="en-US" dirty="0">
                    <a:sym typeface="Wingdings" panose="05000000000000000000" pitchFamily="2" charset="2"/>
                  </a:rPr>
                  <a:t> columns</a:t>
                </a:r>
              </a:p>
              <a:p>
                <a:pPr lvl="1">
                  <a:lnSpc>
                    <a:spcPct val="110000"/>
                  </a:lnSpc>
                </a:pPr>
                <a:r>
                  <a:rPr lang="en-US" dirty="0">
                    <a:sym typeface="Wingdings" panose="05000000000000000000" pitchFamily="2" charset="2"/>
                  </a:rPr>
                  <a:t>Typically denoted with a capital letter in bold</a:t>
                </a:r>
              </a:p>
              <a:p>
                <a:pPr lvl="1">
                  <a:lnSpc>
                    <a:spcPct val="110000"/>
                  </a:lnSpc>
                </a:pPr>
                <a:r>
                  <a:rPr lang="en-US" dirty="0">
                    <a:sym typeface="Wingdings" panose="05000000000000000000" pitchFamily="2" charset="2"/>
                  </a:rPr>
                  <a:t>Review the basic matrix operations – </a:t>
                </a:r>
                <a:r>
                  <a:rPr lang="en-US" i="1" dirty="0">
                    <a:solidFill>
                      <a:srgbClr val="C00000"/>
                    </a:solidFill>
                    <a:sym typeface="Wingdings" panose="05000000000000000000" pitchFamily="2" charset="2"/>
                  </a:rPr>
                  <a:t>summation, scalar multiplication, transposition, matrix multiplication</a:t>
                </a:r>
                <a:r>
                  <a:rPr lang="en-US" dirty="0">
                    <a:sym typeface="Wingdings" panose="05000000000000000000" pitchFamily="2" charset="2"/>
                  </a:rPr>
                  <a:t> – at: </a:t>
                </a:r>
                <a:r>
                  <a:rPr lang="en-US" dirty="0">
                    <a:sym typeface="Wingdings" panose="05000000000000000000" pitchFamily="2" charset="2"/>
                    <a:hlinkClick r:id="rId2"/>
                  </a:rPr>
                  <a:t>https://en.wikipedia.org/wiki/Matrix_(mathematics)</a:t>
                </a:r>
                <a:r>
                  <a:rPr lang="en-US" dirty="0">
                    <a:sym typeface="Wingdings" panose="05000000000000000000" pitchFamily="2" charset="2"/>
                  </a:rPr>
                  <a:t> </a:t>
                </a:r>
              </a:p>
              <a:p>
                <a:pPr lvl="1">
                  <a:lnSpc>
                    <a:spcPct val="110000"/>
                  </a:lnSpc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sSupPr>
                      <m:e>
                        <m:r>
                          <a:rPr lang="en-US" b="1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𝑨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𝑇</m:t>
                        </m:r>
                      </m:sup>
                    </m:sSup>
                  </m:oMath>
                </a14:m>
                <a:r>
                  <a:rPr lang="en-US" dirty="0">
                    <a:sym typeface="Wingdings" panose="05000000000000000000" pitchFamily="2" charset="2"/>
                  </a:rPr>
                  <a:t>  transpose of matrix </a:t>
                </a:r>
                <a14:m>
                  <m:oMath xmlns:m="http://schemas.openxmlformats.org/officeDocument/2006/math">
                    <m:r>
                      <a:rPr lang="en-US" b="1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𝑨</m:t>
                    </m:r>
                  </m:oMath>
                </a14:m>
                <a:endParaRPr lang="en-US" b="1" dirty="0">
                  <a:sym typeface="Wingdings" panose="05000000000000000000" pitchFamily="2" charset="2"/>
                </a:endParaRPr>
              </a:p>
              <a:p>
                <a:pPr lvl="1">
                  <a:lnSpc>
                    <a:spcPct val="110000"/>
                  </a:lnSpc>
                </a:pPr>
                <a:endParaRPr lang="en-US" dirty="0">
                  <a:sym typeface="Wingdings" panose="05000000000000000000" pitchFamily="2" charset="2"/>
                </a:endParaRPr>
              </a:p>
              <a:p>
                <a:pPr lvl="6">
                  <a:lnSpc>
                    <a:spcPct val="110000"/>
                  </a:lnSpc>
                </a:pPr>
                <a:endParaRPr lang="en-US" dirty="0">
                  <a:sym typeface="Wingdings" panose="05000000000000000000" pitchFamily="2" charset="2"/>
                </a:endParaRPr>
              </a:p>
              <a:p>
                <a:pPr lvl="1">
                  <a:lnSpc>
                    <a:spcPct val="110000"/>
                  </a:lnSpc>
                </a:pPr>
                <a:r>
                  <a:rPr lang="en-US" dirty="0">
                    <a:sym typeface="Wingdings" panose="05000000000000000000" pitchFamily="2" charset="2"/>
                  </a:rPr>
                  <a:t>A matrix with one column or one row is a vector</a:t>
                </a:r>
              </a:p>
              <a:p>
                <a:pPr lvl="2">
                  <a:lnSpc>
                    <a:spcPct val="110000"/>
                  </a:lnSpc>
                </a:pPr>
                <a:r>
                  <a:rPr lang="en-US" dirty="0">
                    <a:sym typeface="Wingdings" panose="05000000000000000000" pitchFamily="2" charset="2"/>
                  </a:rPr>
                  <a:t>Column-vector  it has 1 column, and some rows</a:t>
                </a:r>
              </a:p>
              <a:p>
                <a:pPr lvl="2">
                  <a:lnSpc>
                    <a:spcPct val="110000"/>
                  </a:lnSpc>
                </a:pPr>
                <a:r>
                  <a:rPr lang="en-US" dirty="0">
                    <a:sym typeface="Wingdings" panose="05000000000000000000" pitchFamily="2" charset="2"/>
                  </a:rPr>
                  <a:t>Row-vector  it has 1 row, and some columns</a:t>
                </a:r>
              </a:p>
              <a:p>
                <a:pPr lvl="1">
                  <a:lnSpc>
                    <a:spcPct val="110000"/>
                  </a:lnSpc>
                </a:pPr>
                <a:r>
                  <a:rPr lang="en-US" i="1" dirty="0"/>
                  <a:t>Multiplication</a:t>
                </a:r>
                <a:r>
                  <a:rPr lang="en-US" dirty="0"/>
                  <a:t> of two matrices is defined if and only if the number of columns of the left matrix is the same as the number of rows of the right matrix. </a:t>
                </a:r>
              </a:p>
              <a:p>
                <a:pPr lvl="2">
                  <a:lnSpc>
                    <a:spcPct val="110000"/>
                  </a:lnSpc>
                </a:pPr>
                <a:r>
                  <a:rPr lang="en-US" dirty="0"/>
                  <a:t>If </a:t>
                </a:r>
                <a:r>
                  <a:rPr lang="en-US" b="1" dirty="0"/>
                  <a:t>A</a:t>
                </a:r>
                <a:r>
                  <a:rPr lang="en-US" dirty="0"/>
                  <a:t> is an </a:t>
                </a:r>
                <a:r>
                  <a:rPr lang="en-US" i="1" dirty="0"/>
                  <a:t>m</a:t>
                </a:r>
                <a:r>
                  <a:rPr lang="en-US" dirty="0"/>
                  <a:t>-by-</a:t>
                </a:r>
                <a:r>
                  <a:rPr lang="en-US" i="1" dirty="0"/>
                  <a:t>n</a:t>
                </a:r>
                <a:r>
                  <a:rPr lang="en-US" dirty="0"/>
                  <a:t> matrix and </a:t>
                </a:r>
                <a:r>
                  <a:rPr lang="en-US" b="1" dirty="0"/>
                  <a:t>B</a:t>
                </a:r>
                <a:r>
                  <a:rPr lang="en-US" dirty="0"/>
                  <a:t> is an </a:t>
                </a:r>
                <a:r>
                  <a:rPr lang="en-US" i="1" dirty="0"/>
                  <a:t>n</a:t>
                </a:r>
                <a:r>
                  <a:rPr lang="en-US" dirty="0"/>
                  <a:t>-by-</a:t>
                </a:r>
                <a:r>
                  <a:rPr lang="en-US" i="1" dirty="0"/>
                  <a:t>p</a:t>
                </a:r>
                <a:r>
                  <a:rPr lang="en-US" dirty="0"/>
                  <a:t> matrix, then their </a:t>
                </a:r>
                <a:r>
                  <a:rPr lang="en-US" i="1" dirty="0"/>
                  <a:t>matrix product</a:t>
                </a:r>
                <a:r>
                  <a:rPr lang="en-US" dirty="0"/>
                  <a:t> </a:t>
                </a:r>
                <a:r>
                  <a:rPr lang="en-US" b="1" dirty="0"/>
                  <a:t>AB</a:t>
                </a:r>
                <a:r>
                  <a:rPr lang="en-US" dirty="0"/>
                  <a:t> is the </a:t>
                </a:r>
                <a:r>
                  <a:rPr lang="en-US" i="1" dirty="0"/>
                  <a:t>m</a:t>
                </a:r>
                <a:r>
                  <a:rPr lang="en-US" dirty="0"/>
                  <a:t>-by-</a:t>
                </a:r>
                <a:r>
                  <a:rPr lang="en-US" i="1" dirty="0"/>
                  <a:t>p</a:t>
                </a:r>
                <a:r>
                  <a:rPr lang="en-US" dirty="0"/>
                  <a:t> matrix </a:t>
                </a:r>
                <a:endParaRPr lang="en-US" b="1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55002" y="1312432"/>
                <a:ext cx="11478410" cy="5374117"/>
              </a:xfrm>
              <a:blipFill>
                <a:blip r:embed="rId3"/>
                <a:stretch>
                  <a:fillRect l="-797" t="-907" b="-113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Picture 3">
            <a:extLst>
              <a:ext uri="{FF2B5EF4-FFF2-40B4-BE49-F238E27FC236}">
                <a16:creationId xmlns:a16="http://schemas.microsoft.com/office/drawing/2014/main" id="{04ED2D99-451D-4D9B-8405-41ABB3DE11C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66974" y="1736643"/>
            <a:ext cx="1852440" cy="815073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940C4B2B-81F5-4DF0-9849-D48FDB556CD9}"/>
              </a:ext>
            </a:extLst>
          </p:cNvPr>
          <p:cNvSpPr/>
          <p:nvPr/>
        </p:nvSpPr>
        <p:spPr>
          <a:xfrm>
            <a:off x="8493814" y="1367311"/>
            <a:ext cx="242560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2"/>
            <a:r>
              <a:rPr lang="en-US" u="sng" dirty="0">
                <a:sym typeface="Wingdings" panose="05000000000000000000" pitchFamily="2" charset="2"/>
              </a:rPr>
              <a:t>3-by-2 matrix: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1597895-957D-445B-A7F9-2FB9DD731AF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99950" y="3429000"/>
            <a:ext cx="2439873" cy="8731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401785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Matrix Notation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355002" y="1312432"/>
                <a:ext cx="11478410" cy="5419837"/>
              </a:xfrm>
            </p:spPr>
            <p:txBody>
              <a:bodyPr>
                <a:normAutofit fontScale="92500" lnSpcReduction="10000"/>
              </a:bodyPr>
              <a:lstStyle/>
              <a:p>
                <a:pPr>
                  <a:lnSpc>
                    <a:spcPct val="100000"/>
                  </a:lnSpc>
                </a:pPr>
                <a:r>
                  <a:rPr lang="en-US" sz="2400" dirty="0"/>
                  <a:t>Recall the </a:t>
                </a:r>
                <a:r>
                  <a:rPr lang="en-US" sz="2400" dirty="0" err="1"/>
                  <a:t>Wyndor</a:t>
                </a:r>
                <a:r>
                  <a:rPr lang="en-US" sz="2400" dirty="0"/>
                  <a:t> example in explicit form:</a:t>
                </a:r>
              </a:p>
              <a:p>
                <a:pPr>
                  <a:lnSpc>
                    <a:spcPct val="100000"/>
                  </a:lnSpc>
                </a:pPr>
                <a:endParaRPr lang="en-US" dirty="0"/>
              </a:p>
              <a:p>
                <a:pPr>
                  <a:lnSpc>
                    <a:spcPct val="100000"/>
                  </a:lnSpc>
                </a:pPr>
                <a:endParaRPr lang="en-US" dirty="0"/>
              </a:p>
              <a:p>
                <a:pPr>
                  <a:lnSpc>
                    <a:spcPct val="100000"/>
                  </a:lnSpc>
                </a:pPr>
                <a:r>
                  <a:rPr lang="en-US" sz="2400" dirty="0"/>
                  <a:t>To use Matrix notation, we define some matrices and vectors</a:t>
                </a:r>
              </a:p>
              <a:p>
                <a:pPr lvl="1">
                  <a:lnSpc>
                    <a:spcPct val="100000"/>
                  </a:lnSpc>
                </a:pPr>
                <a:r>
                  <a:rPr lang="en-US" sz="2000" b="1" i="1" dirty="0">
                    <a:solidFill>
                      <a:srgbClr val="C00000"/>
                    </a:solidFill>
                  </a:rPr>
                  <a:t>Decision variables: </a:t>
                </a:r>
                <a:r>
                  <a:rPr lang="en-US" sz="2000" dirty="0"/>
                  <a:t>decision variables can be expressed as a column-vector </a:t>
                </a:r>
                <a:endParaRPr lang="en-US" dirty="0"/>
              </a:p>
              <a:p>
                <a:pPr lvl="2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US" sz="1800" dirty="0"/>
                  <a:t>Say there are </a:t>
                </a:r>
                <a14:m>
                  <m:oMath xmlns:m="http://schemas.openxmlformats.org/officeDocument/2006/math">
                    <m:r>
                      <a:rPr lang="en-US" sz="1800" i="1" dirty="0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sz="1800" dirty="0"/>
                  <a:t> decision variables, then we can define </a:t>
                </a:r>
                <a14:m>
                  <m:oMath xmlns:m="http://schemas.openxmlformats.org/officeDocument/2006/math">
                    <m:r>
                      <a:rPr lang="en-US" sz="1800" b="1" i="1" dirty="0" smtClean="0">
                        <a:latin typeface="Cambria Math" panose="02040503050406030204" pitchFamily="18" charset="0"/>
                      </a:rPr>
                      <m:t>𝒙</m:t>
                    </m:r>
                  </m:oMath>
                </a14:m>
                <a:r>
                  <a:rPr lang="en-US" sz="1800" dirty="0"/>
                  <a:t> as the </a:t>
                </a:r>
                <a14:m>
                  <m:oMath xmlns:m="http://schemas.openxmlformats.org/officeDocument/2006/math">
                    <m:r>
                      <a:rPr lang="en-US" sz="1800" i="1" dirty="0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sz="1800" dirty="0"/>
                  <a:t> - column-vector of the decision variables</a:t>
                </a:r>
              </a:p>
              <a:p>
                <a:pPr lvl="2">
                  <a:lnSpc>
                    <a:spcPct val="100000"/>
                  </a:lnSpc>
                  <a:spcBef>
                    <a:spcPts val="0"/>
                  </a:spcBef>
                </a:pPr>
                <a:endParaRPr lang="en-US" sz="1800" dirty="0"/>
              </a:p>
              <a:p>
                <a:pPr lvl="2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US" sz="1800" dirty="0"/>
                  <a:t>For </a:t>
                </a:r>
                <a:r>
                  <a:rPr lang="en-US" sz="1800" dirty="0" err="1"/>
                  <a:t>Wyndor</a:t>
                </a:r>
                <a:r>
                  <a:rPr lang="en-US" sz="1800" dirty="0"/>
                  <a:t> example, we can say </a:t>
                </a:r>
                <a14:m>
                  <m:oMath xmlns:m="http://schemas.openxmlformats.org/officeDocument/2006/math">
                    <m:r>
                      <a:rPr lang="en-US" sz="1800" b="1" i="1" dirty="0" smtClean="0">
                        <a:latin typeface="Cambria Math" panose="02040503050406030204" pitchFamily="18" charset="0"/>
                      </a:rPr>
                      <m:t>𝒙</m:t>
                    </m:r>
                    <m:r>
                      <a:rPr lang="en-US" sz="1800" i="1" dirty="0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US" sz="1800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eqArr>
                          <m:eqArrPr>
                            <m:ctrlPr>
                              <a:rPr lang="en-US" sz="1800" b="0" i="1" dirty="0" smtClean="0">
                                <a:latin typeface="Cambria Math" panose="02040503050406030204" pitchFamily="18" charset="0"/>
                              </a:rPr>
                            </m:ctrlPr>
                          </m:eqArrPr>
                          <m:e>
                            <m:r>
                              <a:rPr lang="en-US" sz="1800" b="0" i="1" dirty="0" smtClean="0">
                                <a:latin typeface="Cambria Math" panose="02040503050406030204" pitchFamily="18" charset="0"/>
                              </a:rPr>
                              <m:t>𝐷</m:t>
                            </m:r>
                          </m:e>
                          <m:e>
                            <m:r>
                              <a:rPr lang="en-US" sz="1800" b="0" i="1" dirty="0" smtClean="0">
                                <a:latin typeface="Cambria Math" panose="02040503050406030204" pitchFamily="18" charset="0"/>
                              </a:rPr>
                              <m:t>𝑊</m:t>
                            </m:r>
                          </m:e>
                        </m:eqArr>
                      </m:e>
                    </m:d>
                  </m:oMath>
                </a14:m>
                <a:r>
                  <a:rPr lang="en-US" sz="1800" dirty="0"/>
                  <a:t>is the 2 – column-vector of decision variables</a:t>
                </a:r>
              </a:p>
              <a:p>
                <a:pPr lvl="1">
                  <a:lnSpc>
                    <a:spcPct val="100000"/>
                  </a:lnSpc>
                </a:pPr>
                <a:r>
                  <a:rPr lang="en-US" sz="2000" b="1" i="1" dirty="0">
                    <a:solidFill>
                      <a:srgbClr val="C00000"/>
                    </a:solidFill>
                  </a:rPr>
                  <a:t>Objective function coefficients: </a:t>
                </a:r>
                <a:r>
                  <a:rPr lang="en-US" sz="2000" dirty="0"/>
                  <a:t>these can be expressed as a column-vector</a:t>
                </a:r>
              </a:p>
              <a:p>
                <a:pPr lvl="2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US" sz="1800" dirty="0"/>
                  <a:t>Say there are </a:t>
                </a:r>
                <a14:m>
                  <m:oMath xmlns:m="http://schemas.openxmlformats.org/officeDocument/2006/math">
                    <m:r>
                      <a:rPr lang="en-US" sz="1800" i="1" dirty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sz="1800" dirty="0"/>
                  <a:t> decision variables, then we can define </a:t>
                </a:r>
                <a14:m>
                  <m:oMath xmlns:m="http://schemas.openxmlformats.org/officeDocument/2006/math">
                    <m:r>
                      <a:rPr lang="en-US" sz="1800" b="1" i="1" smtClean="0">
                        <a:latin typeface="Cambria Math" panose="02040503050406030204" pitchFamily="18" charset="0"/>
                      </a:rPr>
                      <m:t>𝒇</m:t>
                    </m:r>
                  </m:oMath>
                </a14:m>
                <a:r>
                  <a:rPr lang="en-US" sz="1800" dirty="0"/>
                  <a:t> as the </a:t>
                </a:r>
                <a14:m>
                  <m:oMath xmlns:m="http://schemas.openxmlformats.org/officeDocument/2006/math">
                    <m:r>
                      <a:rPr lang="en-US" sz="1800" i="1" dirty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sz="1800" dirty="0"/>
                  <a:t> - column-vector of the obj. fun. coefficients</a:t>
                </a:r>
              </a:p>
              <a:p>
                <a:pPr lvl="2">
                  <a:lnSpc>
                    <a:spcPct val="100000"/>
                  </a:lnSpc>
                  <a:spcBef>
                    <a:spcPts val="0"/>
                  </a:spcBef>
                </a:pPr>
                <a:endParaRPr lang="en-US" sz="1800" dirty="0"/>
              </a:p>
              <a:p>
                <a:pPr lvl="2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US" sz="1800" dirty="0"/>
                  <a:t>For </a:t>
                </a:r>
                <a:r>
                  <a:rPr lang="en-US" sz="1800" dirty="0" err="1"/>
                  <a:t>Wyndor</a:t>
                </a:r>
                <a:r>
                  <a:rPr lang="en-US" sz="1800" dirty="0"/>
                  <a:t> example, we can say </a:t>
                </a:r>
                <a14:m>
                  <m:oMath xmlns:m="http://schemas.openxmlformats.org/officeDocument/2006/math">
                    <m:r>
                      <a:rPr lang="en-US" sz="1800" b="1" i="1" dirty="0" smtClean="0">
                        <a:latin typeface="Cambria Math" panose="02040503050406030204" pitchFamily="18" charset="0"/>
                      </a:rPr>
                      <m:t>𝒇</m:t>
                    </m:r>
                    <m:r>
                      <a:rPr lang="en-US" sz="1800" i="1" dirty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US" sz="1800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eqArr>
                          <m:eqArrPr>
                            <m:ctrlPr>
                              <a:rPr lang="en-US" sz="1800" i="1" dirty="0">
                                <a:latin typeface="Cambria Math" panose="02040503050406030204" pitchFamily="18" charset="0"/>
                              </a:rPr>
                            </m:ctrlPr>
                          </m:eqArrPr>
                          <m:e>
                            <m:r>
                              <a:rPr lang="en-US" sz="1800" b="0" i="1" dirty="0" smtClean="0">
                                <a:latin typeface="Cambria Math" panose="02040503050406030204" pitchFamily="18" charset="0"/>
                              </a:rPr>
                              <m:t>300</m:t>
                            </m:r>
                          </m:e>
                          <m:e>
                            <m:r>
                              <a:rPr lang="en-US" sz="1800" b="0" i="1" dirty="0" smtClean="0">
                                <a:latin typeface="Cambria Math" panose="02040503050406030204" pitchFamily="18" charset="0"/>
                              </a:rPr>
                              <m:t>500</m:t>
                            </m:r>
                          </m:e>
                        </m:eqArr>
                      </m:e>
                    </m:d>
                  </m:oMath>
                </a14:m>
                <a:r>
                  <a:rPr lang="en-US" sz="1800" dirty="0"/>
                  <a:t>is the 2 – column-vector of objective function coefficients</a:t>
                </a:r>
                <a:endParaRPr lang="en-US" dirty="0"/>
              </a:p>
              <a:p>
                <a:pPr lvl="3">
                  <a:lnSpc>
                    <a:spcPct val="100000"/>
                  </a:lnSpc>
                  <a:spcBef>
                    <a:spcPts val="0"/>
                  </a:spcBef>
                </a:pPr>
                <a:endParaRPr lang="en-US" dirty="0"/>
              </a:p>
              <a:p>
                <a:pPr lvl="3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US" dirty="0"/>
                  <a:t>Note that not every decision variable has to be in the objective function</a:t>
                </a:r>
              </a:p>
              <a:p>
                <a:pPr lvl="3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US" dirty="0"/>
                  <a:t>If a decision variable is not in the objective function, its coefficient is simply zero!</a:t>
                </a:r>
              </a:p>
              <a:p>
                <a:pPr lvl="1">
                  <a:lnSpc>
                    <a:spcPct val="100000"/>
                  </a:lnSpc>
                </a:pPr>
                <a:r>
                  <a:rPr lang="en-US" dirty="0"/>
                  <a:t>Objective function is then: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000" b="1" i="1" smtClean="0">
                            <a:latin typeface="Cambria Math" panose="02040503050406030204" pitchFamily="18" charset="0"/>
                          </a:rPr>
                          <m:t>𝒇</m:t>
                        </m:r>
                      </m:e>
                      <m:sup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  <m:r>
                      <a:rPr lang="en-US" sz="2000" b="1" i="1" smtClean="0">
                        <a:latin typeface="Cambria Math" panose="02040503050406030204" pitchFamily="18" charset="0"/>
                      </a:rPr>
                      <m:t>𝒙</m:t>
                    </m:r>
                  </m:oMath>
                </a14:m>
                <a:r>
                  <a:rPr lang="en-US" sz="2000" b="1" dirty="0"/>
                  <a:t> </a:t>
                </a:r>
                <a:r>
                  <a:rPr lang="en-US" sz="2000" dirty="0">
                    <a:sym typeface="Wingdings" panose="05000000000000000000" pitchFamily="2" charset="2"/>
                  </a:rPr>
                  <a:t>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000" b="0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begChr m:val="["/>
                            <m:endChr m:val="]"/>
                            <m:ctrlPr>
                              <a:rPr lang="en-US" sz="2000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eqArr>
                              <m:eqArrPr>
                                <m:ctrlPr>
                                  <a:rPr lang="en-US" sz="2000" i="1" dirty="0">
                                    <a:latin typeface="Cambria Math" panose="02040503050406030204" pitchFamily="18" charset="0"/>
                                  </a:rPr>
                                </m:ctrlPr>
                              </m:eqArrPr>
                              <m:e>
                                <m:r>
                                  <a:rPr lang="en-US" sz="2000" i="1" dirty="0">
                                    <a:latin typeface="Cambria Math" panose="02040503050406030204" pitchFamily="18" charset="0"/>
                                  </a:rPr>
                                  <m:t>300</m:t>
                                </m:r>
                              </m:e>
                              <m:e>
                                <m:r>
                                  <a:rPr lang="en-US" sz="2000" i="1" dirty="0">
                                    <a:latin typeface="Cambria Math" panose="02040503050406030204" pitchFamily="18" charset="0"/>
                                  </a:rPr>
                                  <m:t>500</m:t>
                                </m:r>
                              </m:e>
                            </m:eqArr>
                          </m:e>
                        </m:d>
                      </m:e>
                      <m:sup>
                        <m:r>
                          <a:rPr lang="en-US" sz="2000" b="0" i="1" dirty="0" smtClean="0"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  <m:d>
                      <m:dPr>
                        <m:begChr m:val="["/>
                        <m:endChr m:val="]"/>
                        <m:ctrlPr>
                          <a:rPr lang="en-US" sz="2000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eqArr>
                          <m:eqArrPr>
                            <m:ctrlPr>
                              <a:rPr lang="en-US" sz="2000" i="1" dirty="0">
                                <a:latin typeface="Cambria Math" panose="02040503050406030204" pitchFamily="18" charset="0"/>
                              </a:rPr>
                            </m:ctrlPr>
                          </m:eqArrPr>
                          <m:e>
                            <m:r>
                              <a:rPr lang="en-US" sz="2000" i="1" dirty="0">
                                <a:latin typeface="Cambria Math" panose="02040503050406030204" pitchFamily="18" charset="0"/>
                              </a:rPr>
                              <m:t>𝐷</m:t>
                            </m:r>
                          </m:e>
                          <m:e>
                            <m:r>
                              <a:rPr lang="en-US" sz="2000" i="1" dirty="0">
                                <a:latin typeface="Cambria Math" panose="02040503050406030204" pitchFamily="18" charset="0"/>
                              </a:rPr>
                              <m:t>𝑊</m:t>
                            </m:r>
                          </m:e>
                        </m:eqArr>
                      </m:e>
                    </m:d>
                    <m:r>
                      <a:rPr lang="en-US" sz="2000" b="0" i="1" dirty="0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US" sz="2000" b="0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b="0" i="1" dirty="0" smtClean="0">
                            <a:latin typeface="Cambria Math" panose="02040503050406030204" pitchFamily="18" charset="0"/>
                          </a:rPr>
                          <m:t>300 500</m:t>
                        </m:r>
                      </m:e>
                    </m:d>
                    <m:d>
                      <m:dPr>
                        <m:begChr m:val="["/>
                        <m:endChr m:val="]"/>
                        <m:ctrlPr>
                          <a:rPr lang="en-US" sz="2000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eqArr>
                          <m:eqArrPr>
                            <m:ctrlPr>
                              <a:rPr lang="en-US" sz="2000" i="1" dirty="0">
                                <a:latin typeface="Cambria Math" panose="02040503050406030204" pitchFamily="18" charset="0"/>
                              </a:rPr>
                            </m:ctrlPr>
                          </m:eqArrPr>
                          <m:e>
                            <m:r>
                              <a:rPr lang="en-US" sz="2000" i="1" dirty="0">
                                <a:latin typeface="Cambria Math" panose="02040503050406030204" pitchFamily="18" charset="0"/>
                              </a:rPr>
                              <m:t>𝐷</m:t>
                            </m:r>
                          </m:e>
                          <m:e>
                            <m:r>
                              <a:rPr lang="en-US" sz="2000" i="1" dirty="0">
                                <a:latin typeface="Cambria Math" panose="02040503050406030204" pitchFamily="18" charset="0"/>
                              </a:rPr>
                              <m:t>𝑊</m:t>
                            </m:r>
                          </m:e>
                        </m:eqArr>
                      </m:e>
                    </m:d>
                    <m:r>
                      <a:rPr lang="en-US" sz="2000" b="0" i="1" dirty="0" smtClean="0">
                        <a:latin typeface="Cambria Math" panose="02040503050406030204" pitchFamily="18" charset="0"/>
                      </a:rPr>
                      <m:t>=300</m:t>
                    </m:r>
                    <m:r>
                      <a:rPr lang="en-US" sz="2000" b="0" i="1" dirty="0" smtClean="0">
                        <a:latin typeface="Cambria Math" panose="02040503050406030204" pitchFamily="18" charset="0"/>
                      </a:rPr>
                      <m:t>𝐷</m:t>
                    </m:r>
                    <m:r>
                      <a:rPr lang="en-US" sz="2000" b="0" i="1" dirty="0" smtClean="0">
                        <a:latin typeface="Cambria Math" panose="02040503050406030204" pitchFamily="18" charset="0"/>
                      </a:rPr>
                      <m:t>+500</m:t>
                    </m:r>
                    <m:r>
                      <a:rPr lang="en-US" sz="2000" b="0" i="1" dirty="0" smtClean="0">
                        <a:latin typeface="Cambria Math" panose="02040503050406030204" pitchFamily="18" charset="0"/>
                      </a:rPr>
                      <m:t>𝑊</m:t>
                    </m:r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55002" y="1312432"/>
                <a:ext cx="11478410" cy="5419837"/>
              </a:xfrm>
              <a:blipFill>
                <a:blip r:embed="rId2"/>
                <a:stretch>
                  <a:fillRect l="-584" t="-1350" b="-67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Picture 3">
            <a:extLst>
              <a:ext uri="{FF2B5EF4-FFF2-40B4-BE49-F238E27FC236}">
                <a16:creationId xmlns:a16="http://schemas.microsoft.com/office/drawing/2014/main" id="{70FCD20D-5E60-499A-86AA-04156057426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0495" y="1312433"/>
            <a:ext cx="2993134" cy="13859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062146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Matrix Notation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lnSpcReduction="10000"/>
              </a:bodyPr>
              <a:lstStyle/>
              <a:p>
                <a:r>
                  <a:rPr lang="en-US" sz="2400" dirty="0"/>
                  <a:t>Recall the </a:t>
                </a:r>
                <a:r>
                  <a:rPr lang="en-US" sz="2400" dirty="0" err="1"/>
                  <a:t>Wyndor</a:t>
                </a:r>
                <a:r>
                  <a:rPr lang="en-US" sz="2400" dirty="0"/>
                  <a:t> example in explicit form:</a:t>
                </a:r>
              </a:p>
              <a:p>
                <a:endParaRPr lang="en-US" dirty="0"/>
              </a:p>
              <a:p>
                <a:endParaRPr lang="en-US" dirty="0"/>
              </a:p>
              <a:p>
                <a:r>
                  <a:rPr lang="en-US" sz="2400" dirty="0"/>
                  <a:t>To use Matrix notation, we define some matrices and vectors</a:t>
                </a:r>
              </a:p>
              <a:p>
                <a:pPr lvl="1"/>
                <a:r>
                  <a:rPr lang="en-US" sz="2000" b="1" i="1" dirty="0">
                    <a:solidFill>
                      <a:srgbClr val="C00000"/>
                    </a:solidFill>
                  </a:rPr>
                  <a:t>Constraints: </a:t>
                </a:r>
                <a:r>
                  <a:rPr lang="en-US" sz="2000" dirty="0"/>
                  <a:t>We need to make all constraint right-hand-sides constants</a:t>
                </a:r>
              </a:p>
              <a:p>
                <a:pPr lvl="2"/>
                <a:r>
                  <a:rPr lang="en-US" sz="1600" dirty="0"/>
                  <a:t>If there is a variable on the right </a:t>
                </a:r>
                <a:r>
                  <a:rPr lang="en-US" sz="1600" dirty="0">
                    <a:sym typeface="Wingdings" panose="05000000000000000000" pitchFamily="2" charset="2"/>
                  </a:rPr>
                  <a:t> move it to the left</a:t>
                </a:r>
              </a:p>
              <a:p>
                <a:pPr lvl="2"/>
                <a:r>
                  <a:rPr lang="en-US" sz="1600" dirty="0">
                    <a:sym typeface="Wingdings" panose="05000000000000000000" pitchFamily="2" charset="2"/>
                  </a:rPr>
                  <a:t>If there is a constant on the left  move it to the right</a:t>
                </a:r>
              </a:p>
              <a:p>
                <a:pPr lvl="3"/>
                <a14:m>
                  <m:oMath xmlns:m="http://schemas.openxmlformats.org/officeDocument/2006/math">
                    <m:sSub>
                      <m:sSubPr>
                        <m:ctrlPr>
                          <a:rPr lang="en-US" sz="1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14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1400" b="0" i="1" smtClean="0">
                        <a:latin typeface="Cambria Math" panose="02040503050406030204" pitchFamily="18" charset="0"/>
                      </a:rPr>
                      <m:t>+2</m:t>
                    </m:r>
                    <m:sSub>
                      <m:sSubPr>
                        <m:ctrlPr>
                          <a:rPr lang="en-US" sz="1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1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sz="1400" b="0" i="1" smtClean="0">
                        <a:latin typeface="Cambria Math" panose="02040503050406030204" pitchFamily="18" charset="0"/>
                      </a:rPr>
                      <m:t>+5≤5</m:t>
                    </m:r>
                    <m:sSub>
                      <m:sSubPr>
                        <m:ctrlPr>
                          <a:rPr lang="en-US" sz="1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1400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a:rPr lang="en-US" sz="1400" b="0" i="1" smtClean="0">
                        <a:latin typeface="Cambria Math" panose="02040503050406030204" pitchFamily="18" charset="0"/>
                      </a:rPr>
                      <m:t>−2</m:t>
                    </m:r>
                  </m:oMath>
                </a14:m>
                <a:r>
                  <a:rPr lang="en-US" sz="1400" dirty="0"/>
                  <a:t> </a:t>
                </a:r>
                <a:r>
                  <a:rPr lang="en-US" sz="1400" dirty="0">
                    <a:sym typeface="Wingdings" panose="05000000000000000000" pitchFamily="2" charset="2"/>
                  </a:rPr>
                  <a:t>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400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sSubPr>
                      <m:e>
                        <m:r>
                          <a:rPr lang="en-US" sz="1400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𝑥</m:t>
                        </m:r>
                      </m:e>
                      <m:sub>
                        <m:r>
                          <a:rPr lang="en-US" sz="1400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1</m:t>
                        </m:r>
                      </m:sub>
                    </m:sSub>
                    <m:r>
                      <a:rPr lang="en-US" sz="14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+2</m:t>
                    </m:r>
                    <m:sSub>
                      <m:sSubPr>
                        <m:ctrlPr>
                          <a:rPr lang="en-US" sz="1400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sSubPr>
                      <m:e>
                        <m:r>
                          <a:rPr lang="en-US" sz="1400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𝑥</m:t>
                        </m:r>
                      </m:e>
                      <m:sub>
                        <m:r>
                          <a:rPr lang="en-US" sz="1400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2</m:t>
                        </m:r>
                      </m:sub>
                    </m:sSub>
                    <m:r>
                      <a:rPr lang="en-US" sz="14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−5</m:t>
                    </m:r>
                    <m:sSub>
                      <m:sSubPr>
                        <m:ctrlPr>
                          <a:rPr lang="en-US" sz="1400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sSubPr>
                      <m:e>
                        <m:r>
                          <a:rPr lang="en-US" sz="1400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𝑥</m:t>
                        </m:r>
                      </m:e>
                      <m:sub>
                        <m:r>
                          <a:rPr lang="en-US" sz="1400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3</m:t>
                        </m:r>
                      </m:sub>
                    </m:sSub>
                    <m:r>
                      <a:rPr lang="en-US" sz="14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≤−7</m:t>
                    </m:r>
                  </m:oMath>
                </a14:m>
                <a:endParaRPr lang="en-US" sz="1400" dirty="0"/>
              </a:p>
              <a:p>
                <a:pPr lvl="1"/>
                <a:r>
                  <a:rPr lang="en-US" sz="2000" dirty="0" err="1"/>
                  <a:t>Wyndor</a:t>
                </a:r>
                <a:r>
                  <a:rPr lang="en-US" sz="2000" dirty="0"/>
                  <a:t> problem has 3 constraints and 2 variables</a:t>
                </a:r>
              </a:p>
              <a:p>
                <a:pPr lvl="2"/>
                <a:r>
                  <a:rPr lang="en-US" dirty="0"/>
                  <a:t>All constraints are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≤</m:t>
                    </m:r>
                  </m:oMath>
                </a14:m>
                <a:r>
                  <a:rPr lang="en-US" dirty="0"/>
                  <a:t> and right-hand-sides are constants already!</a:t>
                </a:r>
              </a:p>
              <a:p>
                <a:pPr lvl="2"/>
                <a:r>
                  <a:rPr lang="en-US" dirty="0"/>
                  <a:t>Let </a:t>
                </a:r>
                <a14:m>
                  <m:oMath xmlns:m="http://schemas.openxmlformats.org/officeDocument/2006/math">
                    <m:r>
                      <a:rPr lang="en-US" b="1" i="0" smtClean="0">
                        <a:latin typeface="Cambria Math" panose="02040503050406030204" pitchFamily="18" charset="0"/>
                      </a:rPr>
                      <m:t>𝐀</m:t>
                    </m:r>
                    <m:r>
                      <a:rPr lang="en-US" b="0" i="0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2"/>
                                  <m:mcJc m:val="center"/>
                                </m:mcPr>
                              </m:mc>
                            </m:mcs>
                            <m:ctrlPr>
                              <a:rPr lang="en-US" i="1" smtClean="0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  <m:mr>
                            <m:e>
                              <m:eqArr>
                                <m:eqArr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eqArr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e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e>
                              </m:eqArr>
                            </m:e>
                            <m:e>
                              <m:eqArr>
                                <m:eqArr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eqArr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e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e>
                              </m:eqArr>
                            </m:e>
                          </m:mr>
                        </m:m>
                      </m:e>
                    </m:d>
                  </m:oMath>
                </a14:m>
                <a:r>
                  <a:rPr lang="en-US" dirty="0"/>
                  <a:t> and </a:t>
                </a:r>
                <a14:m>
                  <m:oMath xmlns:m="http://schemas.openxmlformats.org/officeDocument/2006/math">
                    <m:r>
                      <a:rPr lang="en-US" b="1" i="1" smtClean="0">
                        <a:latin typeface="Cambria Math" panose="02040503050406030204" pitchFamily="18" charset="0"/>
                      </a:rPr>
                      <m:t>𝒃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eqArr>
                          <m:eqArr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eqArr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4</m:t>
                            </m:r>
                          </m:e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12</m:t>
                            </m:r>
                          </m:e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18</m:t>
                            </m:r>
                          </m:e>
                        </m:eqArr>
                      </m:e>
                    </m:d>
                  </m:oMath>
                </a14:m>
                <a:endParaRPr lang="en-US" dirty="0"/>
              </a:p>
              <a:p>
                <a:pPr lvl="2"/>
                <a:endParaRPr lang="en-US" b="1" i="1" dirty="0">
                  <a:latin typeface="Cambria Math" panose="02040503050406030204" pitchFamily="18" charset="0"/>
                </a:endParaRPr>
              </a:p>
              <a:p>
                <a:pPr lvl="5"/>
                <a14:m>
                  <m:oMath xmlns:m="http://schemas.openxmlformats.org/officeDocument/2006/math">
                    <m:r>
                      <a:rPr lang="en-US" sz="2400" b="1" i="1" smtClean="0">
                        <a:latin typeface="Cambria Math" panose="02040503050406030204" pitchFamily="18" charset="0"/>
                      </a:rPr>
                      <m:t>𝑨𝒙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≤</m:t>
                    </m:r>
                    <m:r>
                      <a:rPr lang="en-US" sz="2400" b="1" i="1" smtClean="0">
                        <a:latin typeface="Cambria Math" panose="02040503050406030204" pitchFamily="18" charset="0"/>
                      </a:rPr>
                      <m:t>𝒃</m:t>
                    </m:r>
                  </m:oMath>
                </a14:m>
                <a:r>
                  <a:rPr lang="en-US" sz="2400" b="1" dirty="0"/>
                  <a:t>    </a:t>
                </a:r>
                <a:r>
                  <a:rPr lang="en-US" sz="2400" dirty="0">
                    <a:sym typeface="Wingdings" panose="05000000000000000000" pitchFamily="2" charset="2"/>
                  </a:rPr>
                  <a:t></a:t>
                </a:r>
                <a:endParaRPr lang="en-US" sz="2400" b="1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690" t="-2381" b="-125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Picture 3">
            <a:extLst>
              <a:ext uri="{FF2B5EF4-FFF2-40B4-BE49-F238E27FC236}">
                <a16:creationId xmlns:a16="http://schemas.microsoft.com/office/drawing/2014/main" id="{70FCD20D-5E60-499A-86AA-04156057426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0495" y="1312433"/>
            <a:ext cx="2993134" cy="1385961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7A512555-62FE-4FA3-AACE-34043EBBA9B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44044" y="5988673"/>
            <a:ext cx="1335578" cy="7156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344868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Matrix Notation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sz="2400" dirty="0"/>
                  <a:t>Recall the </a:t>
                </a:r>
                <a:r>
                  <a:rPr lang="en-US" sz="2400" dirty="0" err="1"/>
                  <a:t>Wyndor</a:t>
                </a:r>
                <a:r>
                  <a:rPr lang="en-US" sz="2400" dirty="0"/>
                  <a:t> example in explicit form:</a:t>
                </a:r>
              </a:p>
              <a:p>
                <a:endParaRPr lang="en-US" dirty="0"/>
              </a:p>
              <a:p>
                <a:endParaRPr lang="en-US" dirty="0"/>
              </a:p>
              <a:p>
                <a:r>
                  <a:rPr lang="en-US" sz="2400" dirty="0"/>
                  <a:t>The matrix notation of </a:t>
                </a:r>
                <a:r>
                  <a:rPr lang="en-US" sz="2400" dirty="0" err="1"/>
                  <a:t>Wyndor</a:t>
                </a:r>
                <a:r>
                  <a:rPr lang="en-US" sz="2400" dirty="0"/>
                  <a:t> problem:</a:t>
                </a:r>
              </a:p>
              <a:p>
                <a:pPr marL="0" indent="0">
                  <a:buNone/>
                </a:pPr>
                <a:endParaRPr lang="en-US" sz="2400" b="1" dirty="0"/>
              </a:p>
              <a:p>
                <a:endParaRPr lang="en-US" sz="2400" dirty="0"/>
              </a:p>
              <a:p>
                <a:pPr lvl="2"/>
                <a:endParaRPr lang="en-US" dirty="0"/>
              </a:p>
              <a:p>
                <a:pPr lvl="2"/>
                <a:endParaRPr lang="en-US" dirty="0"/>
              </a:p>
              <a:p>
                <a:pPr lvl="2"/>
                <a:r>
                  <a:rPr lang="en-US" dirty="0"/>
                  <a:t>Where </a:t>
                </a:r>
                <a14:m>
                  <m:oMath xmlns:m="http://schemas.openxmlformats.org/officeDocument/2006/math">
                    <m:r>
                      <a:rPr lang="en-US" b="1" i="1" dirty="0">
                        <a:latin typeface="Cambria Math" panose="02040503050406030204" pitchFamily="18" charset="0"/>
                      </a:rPr>
                      <m:t>𝒙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eqArr>
                          <m:eqArrPr>
                            <m:ctrlPr>
                              <a:rPr lang="en-US" i="1" dirty="0">
                                <a:latin typeface="Cambria Math" panose="02040503050406030204" pitchFamily="18" charset="0"/>
                              </a:rPr>
                            </m:ctrlPr>
                          </m:eqArrPr>
                          <m:e>
                            <m:r>
                              <a:rPr lang="en-US" i="1" dirty="0">
                                <a:latin typeface="Cambria Math" panose="02040503050406030204" pitchFamily="18" charset="0"/>
                              </a:rPr>
                              <m:t>𝐷</m:t>
                            </m:r>
                          </m:e>
                          <m:e>
                            <m:r>
                              <a:rPr lang="en-US" i="1" dirty="0">
                                <a:latin typeface="Cambria Math" panose="02040503050406030204" pitchFamily="18" charset="0"/>
                              </a:rPr>
                              <m:t>𝑊</m:t>
                            </m:r>
                          </m:e>
                        </m:eqArr>
                      </m:e>
                    </m:d>
                  </m:oMath>
                </a14:m>
                <a:r>
                  <a:rPr lang="en-US" dirty="0"/>
                  <a:t>, </a:t>
                </a:r>
                <a14:m>
                  <m:oMath xmlns:m="http://schemas.openxmlformats.org/officeDocument/2006/math">
                    <m:r>
                      <a:rPr lang="en-US" b="1" i="1" dirty="0">
                        <a:latin typeface="Cambria Math" panose="02040503050406030204" pitchFamily="18" charset="0"/>
                      </a:rPr>
                      <m:t>𝒇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eqArr>
                          <m:eqArrPr>
                            <m:ctrlPr>
                              <a:rPr lang="en-US" i="1" dirty="0">
                                <a:latin typeface="Cambria Math" panose="02040503050406030204" pitchFamily="18" charset="0"/>
                              </a:rPr>
                            </m:ctrlPr>
                          </m:eqArrPr>
                          <m:e>
                            <m:r>
                              <a:rPr lang="en-US" i="1" dirty="0">
                                <a:latin typeface="Cambria Math" panose="02040503050406030204" pitchFamily="18" charset="0"/>
                              </a:rPr>
                              <m:t>300</m:t>
                            </m:r>
                          </m:e>
                          <m:e>
                            <m:r>
                              <a:rPr lang="en-US" i="1" dirty="0">
                                <a:latin typeface="Cambria Math" panose="02040503050406030204" pitchFamily="18" charset="0"/>
                              </a:rPr>
                              <m:t>500</m:t>
                            </m:r>
                          </m:e>
                        </m:eqArr>
                      </m:e>
                    </m:d>
                  </m:oMath>
                </a14:m>
                <a:r>
                  <a:rPr lang="en-US" dirty="0"/>
                  <a:t>, </a:t>
                </a:r>
                <a14:m>
                  <m:oMath xmlns:m="http://schemas.openxmlformats.org/officeDocument/2006/math">
                    <m:r>
                      <a:rPr lang="en-US" b="1" i="0" smtClean="0">
                        <a:latin typeface="Cambria Math" panose="02040503050406030204" pitchFamily="18" charset="0"/>
                      </a:rPr>
                      <m:t>𝐀</m:t>
                    </m:r>
                    <m:r>
                      <a:rPr lang="en-US" b="0" i="0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2"/>
                                  <m:mcJc m:val="center"/>
                                </m:mcPr>
                              </m:mc>
                            </m:mcs>
                            <m:ctrlPr>
                              <a:rPr lang="en-US" i="1" smtClean="0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  <m:mr>
                            <m:e>
                              <m:eqArr>
                                <m:eqArr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eqArr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e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e>
                              </m:eqArr>
                            </m:e>
                            <m:e>
                              <m:eqArr>
                                <m:eqArr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eqArr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e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e>
                              </m:eqArr>
                            </m:e>
                          </m:mr>
                        </m:m>
                      </m:e>
                    </m:d>
                  </m:oMath>
                </a14:m>
                <a:r>
                  <a:rPr lang="en-US" dirty="0"/>
                  <a:t> and </a:t>
                </a:r>
                <a14:m>
                  <m:oMath xmlns:m="http://schemas.openxmlformats.org/officeDocument/2006/math">
                    <m:r>
                      <a:rPr lang="en-US" b="1" i="1" smtClean="0">
                        <a:latin typeface="Cambria Math" panose="02040503050406030204" pitchFamily="18" charset="0"/>
                      </a:rPr>
                      <m:t>𝒃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eqArr>
                          <m:eqArr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eqArr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4</m:t>
                            </m:r>
                          </m:e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12</m:t>
                            </m:r>
                          </m:e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18</m:t>
                            </m:r>
                          </m:e>
                        </m:eqArr>
                      </m:e>
                    </m:d>
                  </m:oMath>
                </a14:m>
                <a:r>
                  <a:rPr lang="en-US" dirty="0"/>
                  <a:t>, and </a:t>
                </a:r>
                <a14:m>
                  <m:oMath xmlns:m="http://schemas.openxmlformats.org/officeDocument/2006/math">
                    <m:r>
                      <a:rPr lang="en-US" b="1" i="0" smtClean="0">
                        <a:latin typeface="Cambria Math" panose="02040503050406030204" pitchFamily="18" charset="0"/>
                      </a:rPr>
                      <m:t>𝟎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eqArr>
                          <m:eqArr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eqArr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e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e>
                        </m:eqArr>
                      </m:e>
                    </m:d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690" t="-175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Picture 3">
            <a:extLst>
              <a:ext uri="{FF2B5EF4-FFF2-40B4-BE49-F238E27FC236}">
                <a16:creationId xmlns:a16="http://schemas.microsoft.com/office/drawing/2014/main" id="{70FCD20D-5E60-499A-86AA-04156057426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0495" y="1312433"/>
            <a:ext cx="2993134" cy="1385961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>
                <a:extLst>
                  <a:ext uri="{FF2B5EF4-FFF2-40B4-BE49-F238E27FC236}">
                    <a16:creationId xmlns:a16="http://schemas.microsoft.com/office/drawing/2014/main" id="{9C9F630E-BA71-4D45-9BB3-D7544DB96847}"/>
                  </a:ext>
                </a:extLst>
              </p:cNvPr>
              <p:cNvSpPr/>
              <p:nvPr/>
            </p:nvSpPr>
            <p:spPr>
              <a:xfrm>
                <a:off x="3183305" y="3692696"/>
                <a:ext cx="1631985" cy="46166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i="1">
                          <a:latin typeface="Cambria Math" panose="02040503050406030204" pitchFamily="18" charset="0"/>
                        </a:rPr>
                        <m:t>𝑠𝑢𝑏𝑗𝑒𝑐𝑡</m:t>
                      </m:r>
                      <m:r>
                        <a:rPr lang="en-US" sz="2400" i="1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400" i="1">
                          <a:latin typeface="Cambria Math" panose="02040503050406030204" pitchFamily="18" charset="0"/>
                        </a:rPr>
                        <m:t>𝑡𝑜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6" name="Rectangle 5">
                <a:extLst>
                  <a:ext uri="{FF2B5EF4-FFF2-40B4-BE49-F238E27FC236}">
                    <a16:creationId xmlns:a16="http://schemas.microsoft.com/office/drawing/2014/main" id="{9C9F630E-BA71-4D45-9BB3-D7544DB9684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83305" y="3692696"/>
                <a:ext cx="1631985" cy="461665"/>
              </a:xfrm>
              <a:prstGeom prst="rect">
                <a:avLst/>
              </a:prstGeom>
              <a:blipFill>
                <a:blip r:embed="rId4"/>
                <a:stretch>
                  <a:fillRect l="-373" b="-18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42919509-6203-4181-9B4D-E792F9723E72}"/>
                  </a:ext>
                </a:extLst>
              </p:cNvPr>
              <p:cNvSpPr/>
              <p:nvPr/>
            </p:nvSpPr>
            <p:spPr>
              <a:xfrm>
                <a:off x="3183305" y="3304409"/>
                <a:ext cx="1550746" cy="46166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𝑀𝑖𝑛𝑖𝑚𝑖𝑧𝑒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42919509-6203-4181-9B4D-E792F9723E7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83305" y="3304409"/>
                <a:ext cx="1550746" cy="461665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A940A052-02A2-4622-ABA6-D69F198298C6}"/>
                  </a:ext>
                </a:extLst>
              </p:cNvPr>
              <p:cNvSpPr/>
              <p:nvPr/>
            </p:nvSpPr>
            <p:spPr>
              <a:xfrm>
                <a:off x="4978921" y="3351766"/>
                <a:ext cx="762068" cy="46166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b="1" i="1">
                              <a:latin typeface="Cambria Math" panose="02040503050406030204" pitchFamily="18" charset="0"/>
                            </a:rPr>
                            <m:t>𝒇</m:t>
                          </m:r>
                        </m:e>
                        <m:sup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</m:sSup>
                      <m:r>
                        <a:rPr lang="en-US" sz="2400" b="1" i="1">
                          <a:latin typeface="Cambria Math" panose="02040503050406030204" pitchFamily="18" charset="0"/>
                        </a:rPr>
                        <m:t>𝒙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A940A052-02A2-4622-ABA6-D69F198298C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78921" y="3351766"/>
                <a:ext cx="762068" cy="461665"/>
              </a:xfrm>
              <a:prstGeom prst="rect">
                <a:avLst/>
              </a:prstGeom>
              <a:blipFill>
                <a:blip r:embed="rId6"/>
                <a:stretch>
                  <a:fillRect l="-2400" b="-1710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D3DB3A44-3044-40B3-9DDF-EEB131885AF2}"/>
                  </a:ext>
                </a:extLst>
              </p:cNvPr>
              <p:cNvSpPr/>
              <p:nvPr/>
            </p:nvSpPr>
            <p:spPr>
              <a:xfrm>
                <a:off x="4913834" y="3692696"/>
                <a:ext cx="1224438" cy="46166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1" i="1" smtClean="0">
                          <a:latin typeface="Cambria Math" panose="02040503050406030204" pitchFamily="18" charset="0"/>
                        </a:rPr>
                        <m:t>𝑨𝒙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≤</m:t>
                      </m:r>
                      <m:r>
                        <a:rPr lang="en-US" sz="2400" b="1" i="1">
                          <a:latin typeface="Cambria Math" panose="02040503050406030204" pitchFamily="18" charset="0"/>
                        </a:rPr>
                        <m:t>𝒃</m:t>
                      </m:r>
                    </m:oMath>
                  </m:oMathPara>
                </a14:m>
                <a:endParaRPr lang="en-US" sz="2400" b="1" dirty="0"/>
              </a:p>
            </p:txBody>
          </p:sp>
        </mc:Choice>
        <mc:Fallback xmlns=""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D3DB3A44-3044-40B3-9DDF-EEB131885AF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13834" y="3692696"/>
                <a:ext cx="1224438" cy="461665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Rectangle 9">
                <a:extLst>
                  <a:ext uri="{FF2B5EF4-FFF2-40B4-BE49-F238E27FC236}">
                    <a16:creationId xmlns:a16="http://schemas.microsoft.com/office/drawing/2014/main" id="{8BD4E32B-A82A-4D72-A155-C7C87DFD30C1}"/>
                  </a:ext>
                </a:extLst>
              </p:cNvPr>
              <p:cNvSpPr/>
              <p:nvPr/>
            </p:nvSpPr>
            <p:spPr>
              <a:xfrm>
                <a:off x="5090984" y="4031105"/>
                <a:ext cx="1017651" cy="46166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1" i="1" smtClean="0">
                          <a:latin typeface="Cambria Math" panose="02040503050406030204" pitchFamily="18" charset="0"/>
                        </a:rPr>
                        <m:t>𝒙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≥</m:t>
                      </m:r>
                      <m:r>
                        <a:rPr lang="en-US" sz="2400" b="1" i="1" smtClean="0">
                          <a:latin typeface="Cambria Math" panose="02040503050406030204" pitchFamily="18" charset="0"/>
                        </a:rPr>
                        <m:t>𝟎</m:t>
                      </m:r>
                    </m:oMath>
                  </m:oMathPara>
                </a14:m>
                <a:endParaRPr lang="en-US" sz="2400" b="1" dirty="0"/>
              </a:p>
            </p:txBody>
          </p:sp>
        </mc:Choice>
        <mc:Fallback xmlns="">
          <p:sp>
            <p:nvSpPr>
              <p:cNvPr id="10" name="Rectangle 9">
                <a:extLst>
                  <a:ext uri="{FF2B5EF4-FFF2-40B4-BE49-F238E27FC236}">
                    <a16:creationId xmlns:a16="http://schemas.microsoft.com/office/drawing/2014/main" id="{8BD4E32B-A82A-4D72-A155-C7C87DFD30C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90984" y="4031105"/>
                <a:ext cx="1017651" cy="461665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Rectangle 10">
            <a:extLst>
              <a:ext uri="{FF2B5EF4-FFF2-40B4-BE49-F238E27FC236}">
                <a16:creationId xmlns:a16="http://schemas.microsoft.com/office/drawing/2014/main" id="{5C8D362C-32F6-4649-AA3D-D3411B814D2C}"/>
              </a:ext>
            </a:extLst>
          </p:cNvPr>
          <p:cNvSpPr/>
          <p:nvPr/>
        </p:nvSpPr>
        <p:spPr>
          <a:xfrm>
            <a:off x="3183305" y="3225338"/>
            <a:ext cx="2995822" cy="1330037"/>
          </a:xfrm>
          <a:prstGeom prst="rect">
            <a:avLst/>
          </a:prstGeom>
          <a:noFill/>
          <a:ln w="285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052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/>
      <p:bldP spid="8" grpId="0"/>
      <p:bldP spid="9" grpId="0"/>
      <p:bldP spid="10" grpId="0"/>
      <p:bldP spid="11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Matrix Notation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Any model can be converted into: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dirty="0"/>
              <a:t>					      OR</a:t>
            </a:r>
          </a:p>
          <a:p>
            <a:endParaRPr lang="en-US" dirty="0"/>
          </a:p>
          <a:p>
            <a:r>
              <a:rPr lang="en-US" dirty="0"/>
              <a:t>Any model can be converted into: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dirty="0"/>
              <a:t>					      OR</a:t>
            </a:r>
          </a:p>
          <a:p>
            <a:pPr lvl="2"/>
            <a:endParaRPr lang="en-US" dirty="0"/>
          </a:p>
          <a:p>
            <a:pPr lvl="2"/>
            <a:endParaRPr lang="en-US" dirty="0"/>
          </a:p>
          <a:p>
            <a:pPr lvl="2"/>
            <a:endParaRPr lang="en-US" dirty="0"/>
          </a:p>
          <a:p>
            <a:r>
              <a:rPr lang="en-US" dirty="0">
                <a:solidFill>
                  <a:srgbClr val="C00000"/>
                </a:solidFill>
              </a:rPr>
              <a:t>We can modify the constraints and decision variables as needed</a:t>
            </a:r>
            <a:endParaRPr lang="en-US" dirty="0"/>
          </a:p>
          <a:p>
            <a:pPr lvl="2"/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7C18313-E127-4D65-9413-28AB44A1B33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953" y="1808600"/>
            <a:ext cx="3274261" cy="1453935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2A8619BA-B984-45CC-8BF0-6DF4FCD3C4A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63579" y="1807727"/>
            <a:ext cx="3190268" cy="1454808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810B67D0-F92D-49C3-A584-1030B04C0CD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69288" y="3968529"/>
            <a:ext cx="3279643" cy="1502439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A89C445C-6C20-4192-B73D-30B164ABF9C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21161" y="3963863"/>
            <a:ext cx="3274261" cy="15071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43255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Matrix Notation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92500" lnSpcReduction="10000"/>
              </a:bodyPr>
              <a:lstStyle/>
              <a:p>
                <a:r>
                  <a:rPr lang="en-US" dirty="0"/>
                  <a:t>Any model can be converted into:</a:t>
                </a:r>
              </a:p>
              <a:p>
                <a:endParaRPr lang="en-US" dirty="0"/>
              </a:p>
              <a:p>
                <a:endParaRPr lang="en-US" dirty="0"/>
              </a:p>
              <a:p>
                <a:r>
                  <a:rPr lang="en-US" sz="2400" dirty="0"/>
                  <a:t>First, make sure that constraint right-hand-sides are constants and left-hand-sides have just variables and no constants</a:t>
                </a:r>
              </a:p>
              <a:p>
                <a:r>
                  <a:rPr lang="en-US" dirty="0">
                    <a:solidFill>
                      <a:srgbClr val="C00000"/>
                    </a:solidFill>
                  </a:rPr>
                  <a:t>The constraints: </a:t>
                </a:r>
                <a:r>
                  <a:rPr lang="en-US" dirty="0"/>
                  <a:t>there are three types of constraints</a:t>
                </a:r>
              </a:p>
              <a:p>
                <a:pPr lvl="1"/>
                <a:r>
                  <a:rPr lang="en-US" dirty="0"/>
                  <a:t>If you have &lt;= constraint, that is fine!</a:t>
                </a:r>
              </a:p>
              <a:p>
                <a:pPr lvl="1"/>
                <a:r>
                  <a:rPr lang="en-US" dirty="0"/>
                  <a:t>If you have &gt;= constraint, multiply both sides with -1</a:t>
                </a:r>
              </a:p>
              <a:p>
                <a:pPr lvl="2"/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+3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≥6</m:t>
                    </m:r>
                  </m:oMath>
                </a14:m>
                <a:r>
                  <a:rPr lang="en-US" dirty="0"/>
                  <a:t> </a:t>
                </a:r>
                <a:r>
                  <a:rPr lang="en-US" dirty="0">
                    <a:sym typeface="Wingdings" panose="05000000000000000000" pitchFamily="2" charset="2"/>
                  </a:rPr>
                  <a:t>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3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≤−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6</m:t>
                    </m:r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If you have = constraint:</a:t>
                </a:r>
              </a:p>
              <a:p>
                <a:pPr lvl="2"/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=3</m:t>
                    </m:r>
                  </m:oMath>
                </a14:m>
                <a:r>
                  <a:rPr lang="en-US" dirty="0"/>
                  <a:t> </a:t>
                </a:r>
                <a:r>
                  <a:rPr lang="en-US" dirty="0">
                    <a:sym typeface="Wingdings" panose="05000000000000000000" pitchFamily="2" charset="2"/>
                  </a:rPr>
                  <a:t>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≤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lang="en-US" dirty="0"/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≥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lang="en-US" dirty="0"/>
                  <a:t>,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≥3</m:t>
                    </m:r>
                  </m:oMath>
                </a14:m>
                <a:r>
                  <a:rPr lang="en-US" dirty="0"/>
                  <a:t> </a:t>
                </a:r>
                <a:r>
                  <a:rPr lang="en-US" dirty="0">
                    <a:sym typeface="Wingdings" panose="05000000000000000000" pitchFamily="2" charset="2"/>
                  </a:rPr>
                  <a:t>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≤−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endParaRPr lang="en-US" dirty="0"/>
              </a:p>
              <a:p>
                <a:pPr lvl="2"/>
                <a:r>
                  <a:rPr lang="en-US" dirty="0"/>
                  <a:t>So, instead of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=3</m:t>
                    </m:r>
                  </m:oMath>
                </a14:m>
                <a:r>
                  <a:rPr lang="en-US" dirty="0"/>
                  <a:t>, we can say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≤3</m:t>
                    </m:r>
                  </m:oMath>
                </a14:m>
                <a:r>
                  <a:rPr lang="en-US" dirty="0"/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≤−3</m:t>
                    </m:r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That is, we can express the constraints as </a:t>
                </a:r>
                <a14:m>
                  <m:oMath xmlns:m="http://schemas.openxmlformats.org/officeDocument/2006/math">
                    <m:r>
                      <a:rPr lang="en-US" b="1" i="1">
                        <a:latin typeface="Cambria Math" panose="02040503050406030204" pitchFamily="18" charset="0"/>
                      </a:rPr>
                      <m:t>𝑨𝒙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≤</m:t>
                    </m:r>
                    <m:r>
                      <a:rPr lang="en-US" b="1" i="1">
                        <a:latin typeface="Cambria Math" panose="02040503050406030204" pitchFamily="18" charset="0"/>
                      </a:rPr>
                      <m:t>𝒃</m:t>
                    </m:r>
                  </m:oMath>
                </a14:m>
                <a:r>
                  <a:rPr lang="en-US" b="1" dirty="0"/>
                  <a:t> </a:t>
                </a:r>
                <a:endParaRPr lang="en-US" dirty="0"/>
              </a:p>
              <a:p>
                <a:pPr lvl="2"/>
                <a:endParaRPr lang="en-US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797" t="-250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Picture 3">
            <a:extLst>
              <a:ext uri="{FF2B5EF4-FFF2-40B4-BE49-F238E27FC236}">
                <a16:creationId xmlns:a16="http://schemas.microsoft.com/office/drawing/2014/main" id="{97C18313-E127-4D65-9413-28AB44A1B33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92402" y="1364382"/>
            <a:ext cx="2675744" cy="11881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47839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Matrix Notation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Any model can be converted into:</a:t>
                </a:r>
              </a:p>
              <a:p>
                <a:endParaRPr lang="en-US" dirty="0"/>
              </a:p>
              <a:p>
                <a:endParaRPr lang="en-US" dirty="0"/>
              </a:p>
              <a:p>
                <a:r>
                  <a:rPr lang="en-US" dirty="0">
                    <a:solidFill>
                      <a:srgbClr val="C00000"/>
                    </a:solidFill>
                  </a:rPr>
                  <a:t>The variables: </a:t>
                </a:r>
                <a:r>
                  <a:rPr lang="en-US" dirty="0"/>
                  <a:t>there are three types of variables</a:t>
                </a:r>
              </a:p>
              <a:p>
                <a:pPr lvl="1"/>
                <a:r>
                  <a:rPr lang="en-US" dirty="0"/>
                  <a:t>Non-negative variable: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≥0</m:t>
                    </m:r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Non-positive variable: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≤0</m:t>
                    </m:r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Unrestricted variable: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dirty="0"/>
                  <a:t> unrestricted </a:t>
                </a:r>
                <a:r>
                  <a:rPr lang="en-US" dirty="0">
                    <a:sym typeface="Wingdings" panose="05000000000000000000" pitchFamily="2" charset="2"/>
                  </a:rPr>
                  <a:t> can be negative, positive, 0</a:t>
                </a:r>
              </a:p>
              <a:p>
                <a:r>
                  <a:rPr lang="en-US" dirty="0">
                    <a:sym typeface="Wingdings" panose="05000000000000000000" pitchFamily="2" charset="2"/>
                  </a:rPr>
                  <a:t>If all variables are non-negative already, we have </a:t>
                </a:r>
                <a14:m>
                  <m:oMath xmlns:m="http://schemas.openxmlformats.org/officeDocument/2006/math">
                    <m:r>
                      <a:rPr lang="en-US" b="1" i="1">
                        <a:latin typeface="Cambria Math" panose="02040503050406030204" pitchFamily="18" charset="0"/>
                      </a:rPr>
                      <m:t>𝒙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≥</m:t>
                    </m:r>
                    <m:r>
                      <a:rPr lang="en-US" b="1" i="1">
                        <a:latin typeface="Cambria Math" panose="02040503050406030204" pitchFamily="18" charset="0"/>
                      </a:rPr>
                      <m:t>𝟎</m:t>
                    </m:r>
                  </m:oMath>
                </a14:m>
                <a:endParaRPr lang="en-US" b="1" dirty="0"/>
              </a:p>
              <a:p>
                <a:pPr lvl="1"/>
                <a:r>
                  <a:rPr lang="en-US" dirty="0">
                    <a:sym typeface="Wingdings" panose="05000000000000000000" pitchFamily="2" charset="2"/>
                  </a:rPr>
                  <a:t>But if some variables are not non-negative, then we will need to modify those</a:t>
                </a:r>
                <a:r>
                  <a:rPr lang="en-US" dirty="0"/>
                  <a:t> </a:t>
                </a: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956" t="-200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Picture 4">
            <a:extLst>
              <a:ext uri="{FF2B5EF4-FFF2-40B4-BE49-F238E27FC236}">
                <a16:creationId xmlns:a16="http://schemas.microsoft.com/office/drawing/2014/main" id="{E0A1890A-A3EE-42A6-94DD-14AF9573130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92402" y="1364382"/>
            <a:ext cx="2675744" cy="11881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751709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Matrix Notation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Any model can be converted into:</a:t>
                </a:r>
              </a:p>
              <a:p>
                <a:endParaRPr lang="en-US" dirty="0"/>
              </a:p>
              <a:p>
                <a:endParaRPr lang="en-US" dirty="0"/>
              </a:p>
              <a:p>
                <a:r>
                  <a:rPr lang="en-US" dirty="0">
                    <a:solidFill>
                      <a:srgbClr val="C00000"/>
                    </a:solidFill>
                  </a:rPr>
                  <a:t>The variables: </a:t>
                </a:r>
                <a:r>
                  <a:rPr lang="en-US" dirty="0"/>
                  <a:t>converting non-positive and unrestricted variables</a:t>
                </a:r>
              </a:p>
              <a:p>
                <a:pPr lvl="1"/>
                <a:r>
                  <a:rPr lang="en-US" dirty="0"/>
                  <a:t>For negative variables, define a new variable instead, which will be negative of the original variable and replace it in the model</a:t>
                </a:r>
              </a:p>
              <a:p>
                <a:pPr lvl="2"/>
                <a:r>
                  <a:rPr lang="en-US" dirty="0"/>
                  <a:t>Say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≤0</m:t>
                    </m:r>
                  </m:oMath>
                </a14:m>
                <a:r>
                  <a:rPr lang="en-US" dirty="0"/>
                  <a:t> </a:t>
                </a:r>
                <a:r>
                  <a:rPr lang="en-US" dirty="0">
                    <a:sym typeface="Wingdings" panose="05000000000000000000" pitchFamily="2" charset="2"/>
                  </a:rPr>
                  <a:t> define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bSup>
                    <m:r>
                      <a:rPr lang="en-US" i="1">
                        <a:latin typeface="Cambria Math" panose="02040503050406030204" pitchFamily="18" charset="0"/>
                      </a:rPr>
                      <m:t>=−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dirty="0">
                    <a:sym typeface="Wingdings" panose="05000000000000000000" pitchFamily="2" charset="2"/>
                  </a:rPr>
                  <a:t> so we have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bSup>
                    <m:r>
                      <a:rPr lang="en-US" i="1">
                        <a:latin typeface="Cambria Math" panose="02040503050406030204" pitchFamily="18" charset="0"/>
                      </a:rPr>
                      <m:t>≥0</m:t>
                    </m:r>
                  </m:oMath>
                </a14:m>
                <a:endParaRPr lang="en-US" dirty="0"/>
              </a:p>
              <a:p>
                <a:pPr lvl="2"/>
                <a:r>
                  <a:rPr lang="en-US" dirty="0">
                    <a:sym typeface="Wingdings" panose="05000000000000000000" pitchFamily="2" charset="2"/>
                  </a:rPr>
                  <a:t>Replace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dirty="0">
                    <a:sym typeface="Wingdings" panose="05000000000000000000" pitchFamily="2" charset="2"/>
                  </a:rPr>
                  <a:t> in the model with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bSup>
                  </m:oMath>
                </a14:m>
                <a:endParaRPr lang="en-US" sz="2400" dirty="0"/>
              </a:p>
              <a:p>
                <a:pPr lvl="1"/>
                <a:r>
                  <a:rPr lang="en-US" dirty="0"/>
                  <a:t>For unrestricted variable, define it as a difference of two non-negative variables and replace it in the model</a:t>
                </a:r>
              </a:p>
              <a:p>
                <a:pPr lvl="2"/>
                <a:r>
                  <a:rPr lang="en-US" dirty="0"/>
                  <a:t>Say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𝑢𝑛𝑟𝑒𝑠𝑡𝑟𝑖𝑐𝑡𝑒𝑑</m:t>
                    </m:r>
                  </m:oMath>
                </a14:m>
                <a:r>
                  <a:rPr lang="en-US" dirty="0"/>
                  <a:t> </a:t>
                </a:r>
                <a:r>
                  <a:rPr lang="en-US" dirty="0">
                    <a:sym typeface="Wingdings" panose="05000000000000000000" pitchFamily="2" charset="2"/>
                  </a:rPr>
                  <a:t> let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sSubSup>
                      <m:sSub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bSup>
                    <m:r>
                      <a:rPr lang="en-US" i="1">
                        <a:latin typeface="Cambria Math" panose="02040503050406030204" pitchFamily="18" charset="0"/>
                      </a:rPr>
                      <m:t>−</m:t>
                    </m:r>
                    <m:sSubSup>
                      <m:sSub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′′</m:t>
                        </m:r>
                      </m:sup>
                    </m:sSubSup>
                  </m:oMath>
                </a14:m>
                <a:r>
                  <a:rPr lang="en-US" dirty="0">
                    <a:sym typeface="Wingdings" panose="05000000000000000000" pitchFamily="2" charset="2"/>
                  </a:rPr>
                  <a:t> and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bSup>
                    <m:r>
                      <a:rPr lang="en-US" i="1">
                        <a:latin typeface="Cambria Math" panose="02040503050406030204" pitchFamily="18" charset="0"/>
                      </a:rPr>
                      <m:t>≥0,</m:t>
                    </m:r>
                    <m:sSubSup>
                      <m:sSub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′′</m:t>
                        </m:r>
                      </m:sup>
                    </m:sSubSup>
                    <m:r>
                      <a:rPr lang="en-US" i="1">
                        <a:latin typeface="Cambria Math" panose="02040503050406030204" pitchFamily="18" charset="0"/>
                      </a:rPr>
                      <m:t>≥0</m:t>
                    </m:r>
                  </m:oMath>
                </a14:m>
                <a:r>
                  <a:rPr lang="en-US" dirty="0">
                    <a:sym typeface="Wingdings" panose="05000000000000000000" pitchFamily="2" charset="2"/>
                  </a:rPr>
                  <a:t> </a:t>
                </a:r>
              </a:p>
              <a:p>
                <a:pPr lvl="2"/>
                <a:r>
                  <a:rPr lang="en-US" dirty="0">
                    <a:sym typeface="Wingdings" panose="05000000000000000000" pitchFamily="2" charset="2"/>
                  </a:rPr>
                  <a:t>Replace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dirty="0">
                    <a:sym typeface="Wingdings" panose="05000000000000000000" pitchFamily="2" charset="2"/>
                  </a:rPr>
                  <a:t> in the model with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bSup>
                    <m:r>
                      <a:rPr lang="en-US" i="1">
                        <a:latin typeface="Cambria Math" panose="02040503050406030204" pitchFamily="18" charset="0"/>
                      </a:rPr>
                      <m:t>−</m:t>
                    </m:r>
                    <m:sSubSup>
                      <m:sSub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′′</m:t>
                        </m:r>
                      </m:sup>
                    </m:sSubSup>
                  </m:oMath>
                </a14:m>
                <a:endParaRPr lang="en-US" sz="2800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956" t="-2005" b="-100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Picture 4">
            <a:extLst>
              <a:ext uri="{FF2B5EF4-FFF2-40B4-BE49-F238E27FC236}">
                <a16:creationId xmlns:a16="http://schemas.microsoft.com/office/drawing/2014/main" id="{AF678DA6-6018-44DD-9852-84C86E6F96E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92402" y="1364382"/>
            <a:ext cx="2675744" cy="11881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172799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Matrix Notation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800" dirty="0"/>
              <a:t>A small example:</a:t>
            </a:r>
          </a:p>
          <a:p>
            <a:endParaRPr lang="en-US" dirty="0"/>
          </a:p>
          <a:p>
            <a:endParaRPr lang="en-US" sz="2800" dirty="0"/>
          </a:p>
          <a:p>
            <a:endParaRPr lang="en-US" dirty="0"/>
          </a:p>
          <a:p>
            <a:endParaRPr lang="en-US" sz="2800" dirty="0"/>
          </a:p>
          <a:p>
            <a:endParaRPr lang="en-US" dirty="0"/>
          </a:p>
          <a:p>
            <a:pPr lvl="1"/>
            <a:r>
              <a:rPr lang="en-US" dirty="0"/>
              <a:t>So the constraints are handled easily</a:t>
            </a:r>
          </a:p>
          <a:p>
            <a:pPr lvl="2"/>
            <a:r>
              <a:rPr lang="en-US" dirty="0"/>
              <a:t>1</a:t>
            </a:r>
            <a:r>
              <a:rPr lang="en-US" baseline="30000" dirty="0"/>
              <a:t>st</a:t>
            </a:r>
            <a:r>
              <a:rPr lang="en-US" dirty="0"/>
              <a:t> constraint </a:t>
            </a:r>
            <a:r>
              <a:rPr lang="en-US" dirty="0">
                <a:sym typeface="Wingdings" panose="05000000000000000000" pitchFamily="2" charset="2"/>
              </a:rPr>
              <a:t> multiply both sides with -1</a:t>
            </a:r>
          </a:p>
          <a:p>
            <a:pPr lvl="2"/>
            <a:r>
              <a:rPr lang="en-US" dirty="0">
                <a:sym typeface="Wingdings" panose="05000000000000000000" pitchFamily="2" charset="2"/>
              </a:rPr>
              <a:t>2</a:t>
            </a:r>
            <a:r>
              <a:rPr lang="en-US" baseline="30000" dirty="0">
                <a:sym typeface="Wingdings" panose="05000000000000000000" pitchFamily="2" charset="2"/>
              </a:rPr>
              <a:t>nd</a:t>
            </a:r>
            <a:r>
              <a:rPr lang="en-US" dirty="0">
                <a:sym typeface="Wingdings" panose="05000000000000000000" pitchFamily="2" charset="2"/>
              </a:rPr>
              <a:t> constraint  replace it with &gt;= and &lt;=, and then multiply the &gt;=‘s both sides with -1</a:t>
            </a:r>
          </a:p>
          <a:p>
            <a:pPr lvl="2"/>
            <a:r>
              <a:rPr lang="en-US" dirty="0">
                <a:sym typeface="Wingdings" panose="05000000000000000000" pitchFamily="2" charset="2"/>
              </a:rPr>
              <a:t>The last constraint is &lt;= already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>
                <a:extLst>
                  <a:ext uri="{FF2B5EF4-FFF2-40B4-BE49-F238E27FC236}">
                    <a16:creationId xmlns:a16="http://schemas.microsoft.com/office/drawing/2014/main" id="{B926818C-B7F3-4A19-9908-DDE9FD9DB969}"/>
                  </a:ext>
                </a:extLst>
              </p:cNvPr>
              <p:cNvSpPr/>
              <p:nvPr/>
            </p:nvSpPr>
            <p:spPr>
              <a:xfrm>
                <a:off x="243840" y="1849582"/>
                <a:ext cx="6096000" cy="2246769"/>
              </a:xfrm>
              <a:prstGeom prst="rect">
                <a:avLst/>
              </a:prstGeom>
            </p:spPr>
            <p:txBody>
              <a:bodyPr>
                <a:spAutoFit/>
              </a:bodyPr>
              <a:lstStyle/>
              <a:p>
                <a:pPr lvl="1"/>
                <a:r>
                  <a:rPr lang="en-US" sz="2000" i="1" dirty="0"/>
                  <a:t>Minimize	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sSub>
                          <m:sSubPr>
                            <m:ctrlPr>
                              <a:rPr lang="en-US" sz="2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sz="2000" i="1">
                        <a:latin typeface="Cambria Math" panose="02040503050406030204" pitchFamily="18" charset="0"/>
                      </a:rPr>
                      <m:t>−2</m:t>
                    </m:r>
                    <m:sSub>
                      <m:sSub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</m:oMath>
                </a14:m>
                <a:endParaRPr lang="en-US" sz="2000" dirty="0"/>
              </a:p>
              <a:p>
                <a:pPr lvl="1"/>
                <a:r>
                  <a:rPr lang="en-US" sz="2000" i="1" dirty="0"/>
                  <a:t>subject to	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sSub>
                          <m:sSubPr>
                            <m:ctrlPr>
                              <a:rPr lang="en-US" sz="2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−2</m:t>
                        </m:r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sz="2000" i="1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a:rPr lang="en-US" sz="2000" i="1">
                        <a:latin typeface="Cambria Math" panose="02040503050406030204" pitchFamily="18" charset="0"/>
                      </a:rPr>
                      <m:t>≥13</m:t>
                    </m:r>
                  </m:oMath>
                </a14:m>
                <a:r>
                  <a:rPr lang="en-US" sz="2000" dirty="0"/>
                  <a:t>	</a:t>
                </a:r>
              </a:p>
              <a:p>
                <a:pPr lvl="1"/>
                <a:r>
                  <a:rPr lang="en-US" sz="2000" dirty="0"/>
                  <a:t>		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2000" i="1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   </m:t>
                        </m:r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sSub>
                      <m:sSub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+ 5</m:t>
                        </m:r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a:rPr lang="en-US" sz="2000" i="1">
                        <a:latin typeface="Cambria Math" panose="02040503050406030204" pitchFamily="18" charset="0"/>
                      </a:rPr>
                      <m:t> =17</m:t>
                    </m:r>
                  </m:oMath>
                </a14:m>
                <a:endParaRPr lang="en-US" sz="2000" dirty="0"/>
              </a:p>
              <a:p>
                <a:pPr lvl="1"/>
                <a:r>
                  <a:rPr lang="en-US" sz="2000" dirty="0"/>
                  <a:t>		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a:rPr lang="en-US" sz="2000" i="1">
                        <a:latin typeface="Cambria Math" panose="02040503050406030204" pitchFamily="18" charset="0"/>
                      </a:rPr>
                      <m:t>≤4</m:t>
                    </m:r>
                  </m:oMath>
                </a14:m>
                <a:endParaRPr lang="en-US" sz="2000" i="1" dirty="0">
                  <a:latin typeface="Cambria Math" panose="02040503050406030204" pitchFamily="18" charset="0"/>
                </a:endParaRPr>
              </a:p>
              <a:p>
                <a:pPr lvl="1"/>
                <a:r>
                  <a:rPr lang="en-US" sz="2000" dirty="0"/>
                  <a:t>		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2000" i="1">
                        <a:latin typeface="Cambria Math" panose="02040503050406030204" pitchFamily="18" charset="0"/>
                      </a:rPr>
                      <m:t>≤0, </m:t>
                    </m:r>
                  </m:oMath>
                </a14:m>
                <a:endParaRPr lang="en-US" sz="2000" i="1" dirty="0">
                  <a:latin typeface="Cambria Math" panose="02040503050406030204" pitchFamily="18" charset="0"/>
                </a:endParaRPr>
              </a:p>
              <a:p>
                <a:pPr lvl="1"/>
                <a:r>
                  <a:rPr lang="en-US" sz="2000" dirty="0"/>
                  <a:t>		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sz="2000" i="1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𝑢𝑛𝑟𝑒𝑠𝑡𝑟𝑖𝑐𝑡𝑒𝑑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,</m:t>
                    </m:r>
                  </m:oMath>
                </a14:m>
                <a:endParaRPr lang="en-US" sz="2000" i="1" dirty="0">
                  <a:latin typeface="Cambria Math" panose="02040503050406030204" pitchFamily="18" charset="0"/>
                </a:endParaRPr>
              </a:p>
              <a:p>
                <a:pPr lvl="1"/>
                <a:r>
                  <a:rPr lang="en-US" sz="2000" dirty="0"/>
                  <a:t>		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a:rPr lang="en-US" sz="2000" i="1">
                        <a:latin typeface="Cambria Math" panose="02040503050406030204" pitchFamily="18" charset="0"/>
                      </a:rPr>
                      <m:t>≥0,</m:t>
                    </m:r>
                  </m:oMath>
                </a14:m>
                <a:endParaRPr lang="en-US" sz="2000" i="1" dirty="0"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4" name="Rectangle 3">
                <a:extLst>
                  <a:ext uri="{FF2B5EF4-FFF2-40B4-BE49-F238E27FC236}">
                    <a16:creationId xmlns:a16="http://schemas.microsoft.com/office/drawing/2014/main" id="{B926818C-B7F3-4A19-9908-DDE9FD9DB96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3840" y="1849582"/>
                <a:ext cx="6096000" cy="2246769"/>
              </a:xfrm>
              <a:prstGeom prst="rect">
                <a:avLst/>
              </a:prstGeom>
              <a:blipFill>
                <a:blip r:embed="rId2"/>
                <a:stretch>
                  <a:fillRect t="-135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>
                <a:extLst>
                  <a:ext uri="{FF2B5EF4-FFF2-40B4-BE49-F238E27FC236}">
                    <a16:creationId xmlns:a16="http://schemas.microsoft.com/office/drawing/2014/main" id="{6635F16F-A6F1-43A0-A3EE-4D4A26486E8C}"/>
                  </a:ext>
                </a:extLst>
              </p:cNvPr>
              <p:cNvSpPr/>
              <p:nvPr/>
            </p:nvSpPr>
            <p:spPr>
              <a:xfrm>
                <a:off x="6094207" y="1766504"/>
                <a:ext cx="6096000" cy="2554545"/>
              </a:xfrm>
              <a:prstGeom prst="rect">
                <a:avLst/>
              </a:prstGeom>
            </p:spPr>
            <p:txBody>
              <a:bodyPr>
                <a:spAutoFit/>
              </a:bodyPr>
              <a:lstStyle/>
              <a:p>
                <a:pPr lvl="1"/>
                <a:r>
                  <a:rPr lang="en-US" sz="2000" i="1" dirty="0"/>
                  <a:t>Minimize	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sSub>
                          <m:sSubPr>
                            <m:ctrlPr>
                              <a:rPr lang="en-US" sz="2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sz="2000" i="1">
                        <a:latin typeface="Cambria Math" panose="02040503050406030204" pitchFamily="18" charset="0"/>
                      </a:rPr>
                      <m:t>−2</m:t>
                    </m:r>
                    <m:sSub>
                      <m:sSub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</m:oMath>
                </a14:m>
                <a:endParaRPr lang="en-US" sz="2000" dirty="0"/>
              </a:p>
              <a:p>
                <a:pPr lvl="1"/>
                <a:r>
                  <a:rPr lang="en-US" sz="2000" i="1" dirty="0"/>
                  <a:t>subject to	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sSub>
                          <m:sSubPr>
                            <m:ctrlPr>
                              <a:rPr lang="en-US" sz="2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≤−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13</m:t>
                    </m:r>
                  </m:oMath>
                </a14:m>
                <a:r>
                  <a:rPr lang="en-US" sz="2000" dirty="0"/>
                  <a:t>	</a:t>
                </a:r>
              </a:p>
              <a:p>
                <a:pPr lvl="1"/>
                <a:r>
                  <a:rPr lang="en-US" sz="2000" dirty="0"/>
                  <a:t>		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2000" i="1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   </m:t>
                        </m:r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sSub>
                      <m:sSub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+ 5</m:t>
                        </m:r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≤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17</m:t>
                    </m:r>
                  </m:oMath>
                </a14:m>
                <a:endParaRPr lang="en-US" sz="2000" dirty="0"/>
              </a:p>
              <a:p>
                <a:pPr lvl="1"/>
                <a:r>
                  <a:rPr lang="en-US" sz="2000" dirty="0"/>
                  <a:t>		</a:t>
                </a:r>
                <a14:m>
                  <m:oMath xmlns:m="http://schemas.openxmlformats.org/officeDocument/2006/math">
                    <m:r>
                      <a:rPr lang="en-US" sz="2000" b="0" i="0" smtClean="0">
                        <a:latin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sSub>
                      <m:sSub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 5</m:t>
                        </m:r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≤−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17</m:t>
                    </m:r>
                  </m:oMath>
                </a14:m>
                <a:endParaRPr lang="en-US" sz="2000" dirty="0"/>
              </a:p>
              <a:p>
                <a:pPr lvl="1"/>
                <a:r>
                  <a:rPr lang="en-US" sz="2000" dirty="0"/>
                  <a:t>		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a:rPr lang="en-US" sz="2000" i="1">
                        <a:latin typeface="Cambria Math" panose="02040503050406030204" pitchFamily="18" charset="0"/>
                      </a:rPr>
                      <m:t>≤4</m:t>
                    </m:r>
                  </m:oMath>
                </a14:m>
                <a:endParaRPr lang="en-US" sz="2000" i="1" dirty="0">
                  <a:latin typeface="Cambria Math" panose="02040503050406030204" pitchFamily="18" charset="0"/>
                </a:endParaRPr>
              </a:p>
              <a:p>
                <a:pPr lvl="1"/>
                <a:r>
                  <a:rPr lang="en-US" sz="2000" dirty="0"/>
                  <a:t>		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2000" i="1">
                        <a:latin typeface="Cambria Math" panose="02040503050406030204" pitchFamily="18" charset="0"/>
                      </a:rPr>
                      <m:t>≤0, </m:t>
                    </m:r>
                  </m:oMath>
                </a14:m>
                <a:endParaRPr lang="en-US" sz="2000" i="1" dirty="0">
                  <a:latin typeface="Cambria Math" panose="02040503050406030204" pitchFamily="18" charset="0"/>
                </a:endParaRPr>
              </a:p>
              <a:p>
                <a:pPr lvl="1"/>
                <a:r>
                  <a:rPr lang="en-US" sz="2000" dirty="0"/>
                  <a:t>		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sz="2000" i="1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𝑢𝑛𝑟𝑒𝑠𝑡𝑟𝑖𝑐𝑡𝑒𝑑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,</m:t>
                    </m:r>
                  </m:oMath>
                </a14:m>
                <a:endParaRPr lang="en-US" sz="2000" i="1" dirty="0">
                  <a:latin typeface="Cambria Math" panose="02040503050406030204" pitchFamily="18" charset="0"/>
                </a:endParaRPr>
              </a:p>
              <a:p>
                <a:pPr lvl="1"/>
                <a:r>
                  <a:rPr lang="en-US" sz="2000" dirty="0"/>
                  <a:t>		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a:rPr lang="en-US" sz="2000" i="1">
                        <a:latin typeface="Cambria Math" panose="02040503050406030204" pitchFamily="18" charset="0"/>
                      </a:rPr>
                      <m:t>≥0,</m:t>
                    </m:r>
                  </m:oMath>
                </a14:m>
                <a:endParaRPr lang="en-US" sz="2000" i="1" dirty="0"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6" name="Rectangle 5">
                <a:extLst>
                  <a:ext uri="{FF2B5EF4-FFF2-40B4-BE49-F238E27FC236}">
                    <a16:creationId xmlns:a16="http://schemas.microsoft.com/office/drawing/2014/main" id="{6635F16F-A6F1-43A0-A3EE-4D4A26486E8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94207" y="1766504"/>
                <a:ext cx="6096000" cy="2554545"/>
              </a:xfrm>
              <a:prstGeom prst="rect">
                <a:avLst/>
              </a:prstGeom>
              <a:blipFill>
                <a:blip r:embed="rId3"/>
                <a:stretch>
                  <a:fillRect t="-143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Arrow: Right 6">
            <a:extLst>
              <a:ext uri="{FF2B5EF4-FFF2-40B4-BE49-F238E27FC236}">
                <a16:creationId xmlns:a16="http://schemas.microsoft.com/office/drawing/2014/main" id="{83886AA1-E962-4075-A882-5E297E697B1C}"/>
              </a:ext>
            </a:extLst>
          </p:cNvPr>
          <p:cNvSpPr/>
          <p:nvPr/>
        </p:nvSpPr>
        <p:spPr>
          <a:xfrm>
            <a:off x="5373770" y="3043776"/>
            <a:ext cx="1440873" cy="519613"/>
          </a:xfrm>
          <a:prstGeom prst="rightArrow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10FC67E-5757-46FD-B83F-66B2DF65BC4F}"/>
              </a:ext>
            </a:extLst>
          </p:cNvPr>
          <p:cNvSpPr/>
          <p:nvPr/>
        </p:nvSpPr>
        <p:spPr>
          <a:xfrm>
            <a:off x="2044931" y="2194560"/>
            <a:ext cx="2671156" cy="925484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F682CD8D-3AA1-43E8-B4E1-97EC40D3A602}"/>
              </a:ext>
            </a:extLst>
          </p:cNvPr>
          <p:cNvSpPr/>
          <p:nvPr/>
        </p:nvSpPr>
        <p:spPr>
          <a:xfrm>
            <a:off x="7861070" y="2136234"/>
            <a:ext cx="2867890" cy="1211023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78955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 animBg="1"/>
      <p:bldP spid="8" grpId="0" animBg="1"/>
      <p:bldP spid="9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Matrix Notation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800" dirty="0"/>
              <a:t>A small example:</a:t>
            </a:r>
          </a:p>
          <a:p>
            <a:endParaRPr lang="en-US" dirty="0"/>
          </a:p>
          <a:p>
            <a:endParaRPr lang="en-US" sz="2800" dirty="0"/>
          </a:p>
          <a:p>
            <a:endParaRPr lang="en-US" dirty="0"/>
          </a:p>
          <a:p>
            <a:endParaRPr lang="en-US" sz="2800" dirty="0"/>
          </a:p>
          <a:p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>
                <a:extLst>
                  <a:ext uri="{FF2B5EF4-FFF2-40B4-BE49-F238E27FC236}">
                    <a16:creationId xmlns:a16="http://schemas.microsoft.com/office/drawing/2014/main" id="{6635F16F-A6F1-43A0-A3EE-4D4A26486E8C}"/>
                  </a:ext>
                </a:extLst>
              </p:cNvPr>
              <p:cNvSpPr/>
              <p:nvPr/>
            </p:nvSpPr>
            <p:spPr>
              <a:xfrm>
                <a:off x="180028" y="1766503"/>
                <a:ext cx="6096000" cy="2554545"/>
              </a:xfrm>
              <a:prstGeom prst="rect">
                <a:avLst/>
              </a:prstGeom>
            </p:spPr>
            <p:txBody>
              <a:bodyPr>
                <a:spAutoFit/>
              </a:bodyPr>
              <a:lstStyle/>
              <a:p>
                <a:pPr lvl="1"/>
                <a:r>
                  <a:rPr lang="en-US" sz="2000" i="1" dirty="0"/>
                  <a:t>Minimize	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sSub>
                          <m:sSubPr>
                            <m:ctrlPr>
                              <a:rPr lang="en-US" sz="2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sz="2000" i="1">
                        <a:latin typeface="Cambria Math" panose="02040503050406030204" pitchFamily="18" charset="0"/>
                      </a:rPr>
                      <m:t>−2</m:t>
                    </m:r>
                    <m:sSub>
                      <m:sSub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</m:oMath>
                </a14:m>
                <a:endParaRPr lang="en-US" sz="2000" dirty="0"/>
              </a:p>
              <a:p>
                <a:pPr lvl="1"/>
                <a:r>
                  <a:rPr lang="en-US" sz="2000" i="1" dirty="0"/>
                  <a:t>subject to	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sSub>
                          <m:sSubPr>
                            <m:ctrlPr>
                              <a:rPr lang="en-US" sz="2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≤−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13</m:t>
                    </m:r>
                  </m:oMath>
                </a14:m>
                <a:r>
                  <a:rPr lang="en-US" sz="2000" dirty="0"/>
                  <a:t>	</a:t>
                </a:r>
              </a:p>
              <a:p>
                <a:pPr lvl="1"/>
                <a:r>
                  <a:rPr lang="en-US" sz="2000" dirty="0"/>
                  <a:t>		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2000" i="1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   </m:t>
                        </m:r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sSub>
                      <m:sSub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+ 5</m:t>
                        </m:r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≤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17</m:t>
                    </m:r>
                  </m:oMath>
                </a14:m>
                <a:endParaRPr lang="en-US" sz="2000" dirty="0"/>
              </a:p>
              <a:p>
                <a:pPr lvl="1"/>
                <a:r>
                  <a:rPr lang="en-US" sz="2000" dirty="0"/>
                  <a:t>		</a:t>
                </a:r>
                <a14:m>
                  <m:oMath xmlns:m="http://schemas.openxmlformats.org/officeDocument/2006/math">
                    <m:r>
                      <a:rPr lang="en-US" sz="2000" b="0" i="0" smtClean="0">
                        <a:latin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sSub>
                      <m:sSub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 5</m:t>
                        </m:r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≤−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17</m:t>
                    </m:r>
                  </m:oMath>
                </a14:m>
                <a:endParaRPr lang="en-US" sz="2000" dirty="0"/>
              </a:p>
              <a:p>
                <a:pPr lvl="1"/>
                <a:r>
                  <a:rPr lang="en-US" sz="2000" dirty="0"/>
                  <a:t>		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a:rPr lang="en-US" sz="2000" i="1">
                        <a:latin typeface="Cambria Math" panose="02040503050406030204" pitchFamily="18" charset="0"/>
                      </a:rPr>
                      <m:t>≤4</m:t>
                    </m:r>
                  </m:oMath>
                </a14:m>
                <a:endParaRPr lang="en-US" sz="2000" i="1" dirty="0">
                  <a:latin typeface="Cambria Math" panose="02040503050406030204" pitchFamily="18" charset="0"/>
                </a:endParaRPr>
              </a:p>
              <a:p>
                <a:pPr lvl="1"/>
                <a:r>
                  <a:rPr lang="en-US" sz="2000" dirty="0"/>
                  <a:t>		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2000" i="1">
                        <a:latin typeface="Cambria Math" panose="02040503050406030204" pitchFamily="18" charset="0"/>
                      </a:rPr>
                      <m:t>≤0, </m:t>
                    </m:r>
                  </m:oMath>
                </a14:m>
                <a:endParaRPr lang="en-US" sz="2000" i="1" dirty="0">
                  <a:latin typeface="Cambria Math" panose="02040503050406030204" pitchFamily="18" charset="0"/>
                </a:endParaRPr>
              </a:p>
              <a:p>
                <a:pPr lvl="1"/>
                <a:r>
                  <a:rPr lang="en-US" sz="2000" dirty="0"/>
                  <a:t>		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sz="2000" i="1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𝑢𝑛𝑟𝑒𝑠𝑡𝑟𝑖𝑐𝑡𝑒𝑑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,</m:t>
                    </m:r>
                  </m:oMath>
                </a14:m>
                <a:endParaRPr lang="en-US" sz="2000" i="1" dirty="0">
                  <a:latin typeface="Cambria Math" panose="02040503050406030204" pitchFamily="18" charset="0"/>
                </a:endParaRPr>
              </a:p>
              <a:p>
                <a:pPr lvl="1"/>
                <a:r>
                  <a:rPr lang="en-US" sz="2000" dirty="0"/>
                  <a:t>		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a:rPr lang="en-US" sz="2000" i="1">
                        <a:latin typeface="Cambria Math" panose="02040503050406030204" pitchFamily="18" charset="0"/>
                      </a:rPr>
                      <m:t>≥0,</m:t>
                    </m:r>
                  </m:oMath>
                </a14:m>
                <a:endParaRPr lang="en-US" sz="2000" i="1" dirty="0"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6" name="Rectangle 5">
                <a:extLst>
                  <a:ext uri="{FF2B5EF4-FFF2-40B4-BE49-F238E27FC236}">
                    <a16:creationId xmlns:a16="http://schemas.microsoft.com/office/drawing/2014/main" id="{6635F16F-A6F1-43A0-A3EE-4D4A26486E8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0028" y="1766503"/>
                <a:ext cx="6096000" cy="2554545"/>
              </a:xfrm>
              <a:prstGeom prst="rect">
                <a:avLst/>
              </a:prstGeom>
              <a:blipFill>
                <a:blip r:embed="rId2"/>
                <a:stretch>
                  <a:fillRect t="-143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Rectangle 7">
            <a:extLst>
              <a:ext uri="{FF2B5EF4-FFF2-40B4-BE49-F238E27FC236}">
                <a16:creationId xmlns:a16="http://schemas.microsoft.com/office/drawing/2014/main" id="{274DA774-61E4-4CC1-8999-99748281E9E3}"/>
              </a:ext>
            </a:extLst>
          </p:cNvPr>
          <p:cNvSpPr/>
          <p:nvPr/>
        </p:nvSpPr>
        <p:spPr>
          <a:xfrm>
            <a:off x="1892450" y="3352800"/>
            <a:ext cx="2125368" cy="968248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Rectangular Callout 4">
                <a:extLst>
                  <a:ext uri="{FF2B5EF4-FFF2-40B4-BE49-F238E27FC236}">
                    <a16:creationId xmlns:a16="http://schemas.microsoft.com/office/drawing/2014/main" id="{038311EA-E945-4BB4-B159-1C1722DCF039}"/>
                  </a:ext>
                </a:extLst>
              </p:cNvPr>
              <p:cNvSpPr/>
              <p:nvPr/>
            </p:nvSpPr>
            <p:spPr bwMode="auto">
              <a:xfrm>
                <a:off x="180028" y="4775118"/>
                <a:ext cx="1983645" cy="1132227"/>
              </a:xfrm>
              <a:prstGeom prst="wedgeRectCallout">
                <a:avLst>
                  <a:gd name="adj1" fmla="val 41946"/>
                  <a:gd name="adj2" fmla="val -160250"/>
                </a:avLst>
              </a:prstGeom>
              <a:noFill/>
              <a:ln w="34925" cap="flat" cmpd="dbl" algn="ctr">
                <a:solidFill>
                  <a:srgbClr val="FF0000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91440" rIns="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r>
                  <a:rPr lang="en-US" dirty="0"/>
                  <a:t>Define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sz="1600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bSup>
                    <m:r>
                      <a:rPr lang="en-US" sz="1600" i="1">
                        <a:latin typeface="Cambria Math" panose="02040503050406030204" pitchFamily="18" charset="0"/>
                      </a:rPr>
                      <m:t>=−</m:t>
                    </m:r>
                    <m:sSub>
                      <m:sSubPr>
                        <m:ctrlPr>
                          <a:rPr lang="en-US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sz="1600" dirty="0"/>
                  <a:t> note that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1600" i="1">
                        <a:latin typeface="Cambria Math" panose="02040503050406030204" pitchFamily="18" charset="0"/>
                      </a:rPr>
                      <m:t>=−</m:t>
                    </m:r>
                    <m:sSubSup>
                      <m:sSubSupPr>
                        <m:ctrlPr>
                          <a:rPr lang="en-US" sz="1600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bSup>
                  </m:oMath>
                </a14:m>
                <a:endParaRPr lang="en-US" sz="1600" dirty="0"/>
              </a:p>
              <a:p>
                <a:r>
                  <a:rPr lang="en-US" sz="1600" dirty="0"/>
                  <a:t>Replace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6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sz="1600" dirty="0"/>
                  <a:t> with </a:t>
                </a:r>
                <a14:m>
                  <m:oMath xmlns:m="http://schemas.openxmlformats.org/officeDocument/2006/math">
                    <m:r>
                      <a:rPr lang="en-US" sz="1600" i="1">
                        <a:latin typeface="Cambria Math" panose="02040503050406030204" pitchFamily="18" charset="0"/>
                      </a:rPr>
                      <m:t>−</m:t>
                    </m:r>
                    <m:sSubSup>
                      <m:sSubSupPr>
                        <m:ctrlPr>
                          <a:rPr lang="en-US" sz="1600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bSup>
                  </m:oMath>
                </a14:m>
                <a:r>
                  <a:rPr lang="en-US" sz="1600" dirty="0"/>
                  <a:t> in the model</a:t>
                </a:r>
              </a:p>
            </p:txBody>
          </p:sp>
        </mc:Choice>
        <mc:Fallback xmlns="">
          <p:sp>
            <p:nvSpPr>
              <p:cNvPr id="9" name="Rectangular Callout 4">
                <a:extLst>
                  <a:ext uri="{FF2B5EF4-FFF2-40B4-BE49-F238E27FC236}">
                    <a16:creationId xmlns:a16="http://schemas.microsoft.com/office/drawing/2014/main" id="{038311EA-E945-4BB4-B159-1C1722DCF03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80028" y="4775118"/>
                <a:ext cx="1983645" cy="1132227"/>
              </a:xfrm>
              <a:prstGeom prst="wedgeRectCallout">
                <a:avLst>
                  <a:gd name="adj1" fmla="val 41946"/>
                  <a:gd name="adj2" fmla="val -160250"/>
                </a:avLst>
              </a:prstGeom>
              <a:blipFill>
                <a:blip r:embed="rId3"/>
                <a:stretch>
                  <a:fillRect l="-1813" b="-3015"/>
                </a:stretch>
              </a:blipFill>
              <a:ln w="34925" cap="flat" cmpd="dbl" algn="ctr">
                <a:solidFill>
                  <a:srgbClr val="FF0000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Rectangular Callout 5">
                <a:extLst>
                  <a:ext uri="{FF2B5EF4-FFF2-40B4-BE49-F238E27FC236}">
                    <a16:creationId xmlns:a16="http://schemas.microsoft.com/office/drawing/2014/main" id="{DD9A5C3E-8423-4FEE-A257-D2875FE5605E}"/>
                  </a:ext>
                </a:extLst>
              </p:cNvPr>
              <p:cNvSpPr/>
              <p:nvPr/>
            </p:nvSpPr>
            <p:spPr bwMode="auto">
              <a:xfrm>
                <a:off x="2852700" y="4907590"/>
                <a:ext cx="2330235" cy="831273"/>
              </a:xfrm>
              <a:prstGeom prst="wedgeRectCallout">
                <a:avLst>
                  <a:gd name="adj1" fmla="val -31356"/>
                  <a:gd name="adj2" fmla="val -178537"/>
                </a:avLst>
              </a:prstGeom>
              <a:noFill/>
              <a:ln w="34925" cap="flat" cmpd="dbl" algn="ctr">
                <a:solidFill>
                  <a:srgbClr val="FF0000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r>
                  <a:rPr lang="en-US" dirty="0"/>
                  <a:t>Define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sz="1600" i="1">
                        <a:latin typeface="Cambria Math" panose="02040503050406030204" pitchFamily="18" charset="0"/>
                      </a:rPr>
                      <m:t>=</m:t>
                    </m:r>
                    <m:sSubSup>
                      <m:sSubSupPr>
                        <m:ctrlPr>
                          <a:rPr lang="en-US" sz="1600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  <m:sup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bSup>
                    <m:r>
                      <a:rPr lang="en-US" sz="1600" i="1">
                        <a:latin typeface="Cambria Math" panose="02040503050406030204" pitchFamily="18" charset="0"/>
                      </a:rPr>
                      <m:t>−</m:t>
                    </m:r>
                    <m:sSubSup>
                      <m:sSubSupPr>
                        <m:ctrlPr>
                          <a:rPr lang="en-US" sz="1600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  <m:sup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′′</m:t>
                        </m:r>
                      </m:sup>
                    </m:sSubSup>
                  </m:oMath>
                </a14:m>
                <a:endParaRPr lang="en-US" sz="1600" dirty="0"/>
              </a:p>
              <a:p>
                <a:r>
                  <a:rPr lang="en-US" sz="1600" dirty="0"/>
                  <a:t>Replace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sz="1600" dirty="0"/>
                  <a:t> with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sz="1600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  <m:sup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bSup>
                    <m:r>
                      <a:rPr lang="en-US" sz="1600" i="1">
                        <a:latin typeface="Cambria Math" panose="02040503050406030204" pitchFamily="18" charset="0"/>
                      </a:rPr>
                      <m:t>−</m:t>
                    </m:r>
                    <m:sSubSup>
                      <m:sSubSupPr>
                        <m:ctrlPr>
                          <a:rPr lang="en-US" sz="1600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  <m:sup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′′</m:t>
                        </m:r>
                      </m:sup>
                    </m:sSubSup>
                  </m:oMath>
                </a14:m>
                <a:r>
                  <a:rPr lang="en-US" sz="1600" dirty="0"/>
                  <a:t> in the model</a:t>
                </a:r>
              </a:p>
            </p:txBody>
          </p:sp>
        </mc:Choice>
        <mc:Fallback xmlns="">
          <p:sp>
            <p:nvSpPr>
              <p:cNvPr id="10" name="Rectangular Callout 5">
                <a:extLst>
                  <a:ext uri="{FF2B5EF4-FFF2-40B4-BE49-F238E27FC236}">
                    <a16:creationId xmlns:a16="http://schemas.microsoft.com/office/drawing/2014/main" id="{DD9A5C3E-8423-4FEE-A257-D2875FE5605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852700" y="4907590"/>
                <a:ext cx="2330235" cy="831273"/>
              </a:xfrm>
              <a:prstGeom prst="wedgeRectCallout">
                <a:avLst>
                  <a:gd name="adj1" fmla="val -31356"/>
                  <a:gd name="adj2" fmla="val -178537"/>
                </a:avLst>
              </a:prstGeom>
              <a:blipFill>
                <a:blip r:embed="rId4"/>
                <a:stretch>
                  <a:fillRect l="-1546" b="-4416"/>
                </a:stretch>
              </a:blipFill>
              <a:ln w="34925" cap="flat" cmpd="dbl" algn="ctr">
                <a:solidFill>
                  <a:srgbClr val="FF0000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Rectangle 10">
                <a:extLst>
                  <a:ext uri="{FF2B5EF4-FFF2-40B4-BE49-F238E27FC236}">
                    <a16:creationId xmlns:a16="http://schemas.microsoft.com/office/drawing/2014/main" id="{BE46365D-B998-41FA-AF4C-D13E59BA1E40}"/>
                  </a:ext>
                </a:extLst>
              </p:cNvPr>
              <p:cNvSpPr/>
              <p:nvPr/>
            </p:nvSpPr>
            <p:spPr>
              <a:xfrm>
                <a:off x="5648443" y="1658926"/>
                <a:ext cx="6096000" cy="2862322"/>
              </a:xfrm>
              <a:prstGeom prst="rect">
                <a:avLst/>
              </a:prstGeom>
            </p:spPr>
            <p:txBody>
              <a:bodyPr>
                <a:spAutoFit/>
              </a:bodyPr>
              <a:lstStyle/>
              <a:p>
                <a:pPr lvl="1"/>
                <a:r>
                  <a:rPr lang="en-US" sz="2000" i="1" dirty="0"/>
                  <a:t>Minimize	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−</m:t>
                    </m:r>
                    <m:sSubSup>
                      <m:sSubSup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sSubSup>
                          <m:sSubSupPr>
                            <m:ctrlPr>
                              <a:rPr lang="en-US" sz="2000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  <m:sup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bSup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  <m:sup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bSup>
                    <m:r>
                      <a:rPr lang="en-US" sz="2000" i="1">
                        <a:latin typeface="Cambria Math" panose="02040503050406030204" pitchFamily="18" charset="0"/>
                      </a:rPr>
                      <m:t>−</m:t>
                    </m:r>
                    <m:sSubSup>
                      <m:sSubSup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  <m:sup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′′</m:t>
                        </m:r>
                      </m:sup>
                    </m:sSubSup>
                    <m:r>
                      <a:rPr lang="en-US" sz="2000" i="1">
                        <a:latin typeface="Cambria Math" panose="02040503050406030204" pitchFamily="18" charset="0"/>
                      </a:rPr>
                      <m:t>−2</m:t>
                    </m:r>
                    <m:sSub>
                      <m:sSub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</m:oMath>
                </a14:m>
                <a:endParaRPr lang="en-US" sz="2000" dirty="0"/>
              </a:p>
              <a:p>
                <a:pPr lvl="1"/>
                <a:r>
                  <a:rPr lang="en-US" sz="2000" i="1" dirty="0"/>
                  <a:t>subject to	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sSub>
                          <m:sSubPr>
                            <m:ctrlPr>
                              <a:rPr lang="en-US" sz="2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′</m:t>
                            </m:r>
                          </m:e>
                          <m:sub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′</m:t>
                        </m:r>
                      </m:e>
                      <m:sub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−2</m:t>
                    </m:r>
                    <m:sSubSup>
                      <m:sSubSup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  <m:sup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′′</m:t>
                        </m:r>
                      </m:sup>
                    </m:sSubSup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≤−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13</m:t>
                    </m:r>
                  </m:oMath>
                </a14:m>
                <a:r>
                  <a:rPr lang="en-US" sz="2000" dirty="0"/>
                  <a:t>	</a:t>
                </a:r>
              </a:p>
              <a:p>
                <a:pPr lvl="1"/>
                <a:r>
                  <a:rPr lang="en-US" sz="2000" dirty="0"/>
                  <a:t>		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′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2000" i="1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   </m:t>
                        </m:r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′</m:t>
                        </m:r>
                      </m:e>
                      <m:sub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−</m:t>
                    </m:r>
                    <m:sSubSup>
                      <m:sSubSup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  <m:sup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′′</m:t>
                        </m:r>
                      </m:sup>
                    </m:sSubSup>
                    <m:sSub>
                      <m:sSub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+ 5</m:t>
                        </m:r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≤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17</m:t>
                    </m:r>
                  </m:oMath>
                </a14:m>
                <a:endParaRPr lang="en-US" sz="2000" dirty="0"/>
              </a:p>
              <a:p>
                <a:pPr lvl="1"/>
                <a:r>
                  <a:rPr lang="en-US" sz="2000" dirty="0"/>
                  <a:t>		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′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sSup>
                          <m:sSupPr>
                            <m:ctrlP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</m:e>
                      <m:sub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+</m:t>
                    </m:r>
                    <m:sSubSup>
                      <m:sSubSup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  <m:sup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′′</m:t>
                        </m:r>
                      </m:sup>
                    </m:sSubSup>
                    <m:sSub>
                      <m:sSub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 5</m:t>
                        </m:r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≤−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17</m:t>
                    </m:r>
                  </m:oMath>
                </a14:m>
                <a:endParaRPr lang="en-US" sz="2000" dirty="0"/>
              </a:p>
              <a:p>
                <a:pPr lvl="1"/>
                <a:r>
                  <a:rPr lang="en-US" sz="2000" dirty="0"/>
                  <a:t>		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a:rPr lang="en-US" sz="2000" i="1">
                        <a:latin typeface="Cambria Math" panose="02040503050406030204" pitchFamily="18" charset="0"/>
                      </a:rPr>
                      <m:t>≤4</m:t>
                    </m:r>
                  </m:oMath>
                </a14:m>
                <a:endParaRPr lang="en-US" sz="2000" i="1" dirty="0">
                  <a:latin typeface="Cambria Math" panose="02040503050406030204" pitchFamily="18" charset="0"/>
                </a:endParaRPr>
              </a:p>
              <a:p>
                <a:pPr lvl="1"/>
                <a:r>
                  <a:rPr lang="en-US" sz="2000" dirty="0"/>
                  <a:t>		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′</m:t>
                        </m:r>
                      </m:e>
                      <m:sub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≥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0, </m:t>
                    </m:r>
                  </m:oMath>
                </a14:m>
                <a:endParaRPr lang="en-US" sz="2000" i="1" dirty="0">
                  <a:latin typeface="Cambria Math" panose="02040503050406030204" pitchFamily="18" charset="0"/>
                </a:endParaRPr>
              </a:p>
              <a:p>
                <a:pPr lvl="1"/>
                <a:r>
                  <a:rPr lang="en-US" sz="2000" dirty="0"/>
                  <a:t>		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′</m:t>
                        </m:r>
                      </m:e>
                      <m:sub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≥0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,</m:t>
                    </m:r>
                  </m:oMath>
                </a14:m>
                <a:endParaRPr lang="en-US" sz="2000" i="1" dirty="0">
                  <a:latin typeface="Cambria Math" panose="02040503050406030204" pitchFamily="18" charset="0"/>
                </a:endParaRPr>
              </a:p>
              <a:p>
                <a:pPr lvl="1"/>
                <a:r>
                  <a:rPr lang="en-US" sz="2000" i="1" dirty="0">
                    <a:latin typeface="Cambria Math" panose="02040503050406030204" pitchFamily="18" charset="0"/>
                  </a:rPr>
                  <a:t>		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′′</m:t>
                        </m:r>
                      </m:e>
                      <m:sub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sz="2000" i="1">
                        <a:latin typeface="Cambria Math" panose="02040503050406030204" pitchFamily="18" charset="0"/>
                      </a:rPr>
                      <m:t>≥0,</m:t>
                    </m:r>
                  </m:oMath>
                </a14:m>
                <a:endParaRPr lang="en-US" sz="2000" i="1" dirty="0">
                  <a:latin typeface="Cambria Math" panose="02040503050406030204" pitchFamily="18" charset="0"/>
                </a:endParaRPr>
              </a:p>
              <a:p>
                <a:pPr lvl="1"/>
                <a:r>
                  <a:rPr lang="en-US" sz="2000" dirty="0"/>
                  <a:t>		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a:rPr lang="en-US" sz="2000" i="1">
                        <a:latin typeface="Cambria Math" panose="02040503050406030204" pitchFamily="18" charset="0"/>
                      </a:rPr>
                      <m:t>≥0,</m:t>
                    </m:r>
                  </m:oMath>
                </a14:m>
                <a:endParaRPr lang="en-US" sz="2000" i="1" dirty="0"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11" name="Rectangle 10">
                <a:extLst>
                  <a:ext uri="{FF2B5EF4-FFF2-40B4-BE49-F238E27FC236}">
                    <a16:creationId xmlns:a16="http://schemas.microsoft.com/office/drawing/2014/main" id="{BE46365D-B998-41FA-AF4C-D13E59BA1E4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48443" y="1658926"/>
                <a:ext cx="6096000" cy="2862322"/>
              </a:xfrm>
              <a:prstGeom prst="rect">
                <a:avLst/>
              </a:prstGeom>
              <a:blipFill>
                <a:blip r:embed="rId5"/>
                <a:stretch>
                  <a:fillRect t="-106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Rectangle 11">
            <a:extLst>
              <a:ext uri="{FF2B5EF4-FFF2-40B4-BE49-F238E27FC236}">
                <a16:creationId xmlns:a16="http://schemas.microsoft.com/office/drawing/2014/main" id="{83842A61-CC6E-4F47-94C9-8B8D9E2F5997}"/>
              </a:ext>
            </a:extLst>
          </p:cNvPr>
          <p:cNvSpPr/>
          <p:nvPr/>
        </p:nvSpPr>
        <p:spPr>
          <a:xfrm>
            <a:off x="7391942" y="3260574"/>
            <a:ext cx="1618293" cy="1260674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Arrow: Right 12">
            <a:extLst>
              <a:ext uri="{FF2B5EF4-FFF2-40B4-BE49-F238E27FC236}">
                <a16:creationId xmlns:a16="http://schemas.microsoft.com/office/drawing/2014/main" id="{E7C6C78E-FE4A-4604-A604-BD2FDC2E5684}"/>
              </a:ext>
            </a:extLst>
          </p:cNvPr>
          <p:cNvSpPr/>
          <p:nvPr/>
        </p:nvSpPr>
        <p:spPr>
          <a:xfrm>
            <a:off x="5182935" y="3169193"/>
            <a:ext cx="1440873" cy="519613"/>
          </a:xfrm>
          <a:prstGeom prst="rightArrow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1C0D817-D3CE-4910-A0AA-107FF209F858}"/>
              </a:ext>
            </a:extLst>
          </p:cNvPr>
          <p:cNvSpPr txBox="1"/>
          <p:nvPr/>
        </p:nvSpPr>
        <p:spPr>
          <a:xfrm>
            <a:off x="6483927" y="5292436"/>
            <a:ext cx="534948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If you want objective to be “maximization”, then multiply the objective function with -1…</a:t>
            </a:r>
          </a:p>
        </p:txBody>
      </p:sp>
    </p:spTree>
    <p:extLst>
      <p:ext uri="{BB962C8B-B14F-4D97-AF65-F5344CB8AC3E}">
        <p14:creationId xmlns:p14="http://schemas.microsoft.com/office/powerpoint/2010/main" val="34484164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  <p:bldP spid="10" grpId="0" animBg="1"/>
      <p:bldP spid="11" grpId="0"/>
      <p:bldP spid="12" grpId="0" animBg="1"/>
      <p:bldP spid="13" grpId="0" animBg="1"/>
      <p:bldP spid="5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Matrix Notation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lnSpcReduction="10000"/>
              </a:bodyPr>
              <a:lstStyle/>
              <a:p>
                <a:r>
                  <a:rPr lang="en-US" sz="2800" dirty="0"/>
                  <a:t>A small example:</a:t>
                </a:r>
              </a:p>
              <a:p>
                <a:endParaRPr lang="en-US" dirty="0"/>
              </a:p>
              <a:p>
                <a:endParaRPr lang="en-US" sz="2800" dirty="0"/>
              </a:p>
              <a:p>
                <a:endParaRPr lang="en-US" dirty="0"/>
              </a:p>
              <a:p>
                <a:endParaRPr lang="en-US" sz="2800" dirty="0"/>
              </a:p>
              <a:p>
                <a:pPr lvl="1"/>
                <a:r>
                  <a:rPr lang="en-US" dirty="0"/>
                  <a:t>Furthermore, let</a:t>
                </a:r>
              </a:p>
              <a:p>
                <a:pPr lvl="1"/>
                <a:endParaRPr lang="en-US" dirty="0"/>
              </a:p>
              <a:p>
                <a:pPr lvl="1"/>
                <a:endParaRPr lang="en-US" dirty="0"/>
              </a:p>
              <a:p>
                <a:pPr lvl="1"/>
                <a:endParaRPr lang="en-US" dirty="0"/>
              </a:p>
              <a:p>
                <a:pPr lvl="1"/>
                <a:endParaRPr lang="en-US" dirty="0"/>
              </a:p>
              <a:p>
                <a:pPr lvl="1"/>
                <a:r>
                  <a:rPr lang="en-US" dirty="0"/>
                  <a:t>Note that when you solve the new model, do not forget</a:t>
                </a:r>
              </a:p>
              <a:p>
                <a:pPr lvl="2"/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=−</m:t>
                    </m:r>
                    <m:sSubSup>
                      <m:sSub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bSup>
                  </m:oMath>
                </a14:m>
                <a:r>
                  <a:rPr lang="en-US" dirty="0"/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sSubSup>
                      <m:sSub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bSup>
                    <m:r>
                      <a:rPr lang="en-US" i="1">
                        <a:latin typeface="Cambria Math" panose="02040503050406030204" pitchFamily="18" charset="0"/>
                      </a:rPr>
                      <m:t>−</m:t>
                    </m:r>
                    <m:sSubSup>
                      <m:sSub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′′</m:t>
                        </m:r>
                      </m:sup>
                    </m:sSubSup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956" t="-275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>
                <a:extLst>
                  <a:ext uri="{FF2B5EF4-FFF2-40B4-BE49-F238E27FC236}">
                    <a16:creationId xmlns:a16="http://schemas.microsoft.com/office/drawing/2014/main" id="{B926818C-B7F3-4A19-9908-DDE9FD9DB969}"/>
                  </a:ext>
                </a:extLst>
              </p:cNvPr>
              <p:cNvSpPr/>
              <p:nvPr/>
            </p:nvSpPr>
            <p:spPr>
              <a:xfrm>
                <a:off x="216130" y="1727662"/>
                <a:ext cx="6096000" cy="2031325"/>
              </a:xfrm>
              <a:prstGeom prst="rect">
                <a:avLst/>
              </a:prstGeom>
            </p:spPr>
            <p:txBody>
              <a:bodyPr>
                <a:spAutoFit/>
              </a:bodyPr>
              <a:lstStyle/>
              <a:p>
                <a:pPr lvl="1"/>
                <a:r>
                  <a:rPr lang="en-US" i="1" dirty="0"/>
                  <a:t>Minimize	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i="1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−2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</m:oMath>
                </a14:m>
                <a:endParaRPr lang="en-US" dirty="0"/>
              </a:p>
              <a:p>
                <a:pPr lvl="1"/>
                <a:r>
                  <a:rPr lang="en-US" i="1" dirty="0"/>
                  <a:t>subject to	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i="1">
                            <a:latin typeface="Cambria Math" panose="02040503050406030204" pitchFamily="18" charset="0"/>
                          </a:rPr>
                          <m:t>−2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≥13</m:t>
                    </m:r>
                  </m:oMath>
                </a14:m>
                <a:r>
                  <a:rPr lang="en-US" dirty="0"/>
                  <a:t>	</a:t>
                </a:r>
              </a:p>
              <a:p>
                <a:pPr lvl="1"/>
                <a:r>
                  <a:rPr lang="en-US" dirty="0"/>
                  <a:t>		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   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+ 5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 =17</m:t>
                    </m:r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		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≤4</m:t>
                    </m:r>
                  </m:oMath>
                </a14:m>
                <a:endParaRPr lang="en-US" i="1" dirty="0">
                  <a:latin typeface="Cambria Math" panose="02040503050406030204" pitchFamily="18" charset="0"/>
                </a:endParaRPr>
              </a:p>
              <a:p>
                <a:pPr lvl="1"/>
                <a:r>
                  <a:rPr lang="en-US" dirty="0"/>
                  <a:t>		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≤0, </m:t>
                    </m:r>
                  </m:oMath>
                </a14:m>
                <a:endParaRPr lang="en-US" i="1" dirty="0">
                  <a:latin typeface="Cambria Math" panose="02040503050406030204" pitchFamily="18" charset="0"/>
                </a:endParaRPr>
              </a:p>
              <a:p>
                <a:pPr lvl="1"/>
                <a:r>
                  <a:rPr lang="en-US" dirty="0"/>
                  <a:t>		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𝑢𝑛𝑟𝑒𝑠𝑡𝑟𝑖𝑐𝑡𝑒𝑑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,</m:t>
                    </m:r>
                  </m:oMath>
                </a14:m>
                <a:endParaRPr lang="en-US" i="1" dirty="0">
                  <a:latin typeface="Cambria Math" panose="02040503050406030204" pitchFamily="18" charset="0"/>
                </a:endParaRPr>
              </a:p>
              <a:p>
                <a:pPr lvl="1"/>
                <a:r>
                  <a:rPr lang="en-US" dirty="0"/>
                  <a:t>		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≥0,</m:t>
                    </m:r>
                  </m:oMath>
                </a14:m>
                <a:endParaRPr lang="en-US" i="1" dirty="0"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4" name="Rectangle 3">
                <a:extLst>
                  <a:ext uri="{FF2B5EF4-FFF2-40B4-BE49-F238E27FC236}">
                    <a16:creationId xmlns:a16="http://schemas.microsoft.com/office/drawing/2014/main" id="{B926818C-B7F3-4A19-9908-DDE9FD9DB96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6130" y="1727662"/>
                <a:ext cx="6096000" cy="2031325"/>
              </a:xfrm>
              <a:prstGeom prst="rect">
                <a:avLst/>
              </a:prstGeom>
              <a:blipFill>
                <a:blip r:embed="rId3"/>
                <a:stretch>
                  <a:fillRect t="-149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Rectangle 9">
                <a:extLst>
                  <a:ext uri="{FF2B5EF4-FFF2-40B4-BE49-F238E27FC236}">
                    <a16:creationId xmlns:a16="http://schemas.microsoft.com/office/drawing/2014/main" id="{39DB796F-C427-4345-83DE-69F82B5F557E}"/>
                  </a:ext>
                </a:extLst>
              </p:cNvPr>
              <p:cNvSpPr/>
              <p:nvPr/>
            </p:nvSpPr>
            <p:spPr>
              <a:xfrm>
                <a:off x="5565316" y="1312433"/>
                <a:ext cx="6096000" cy="2585323"/>
              </a:xfrm>
              <a:prstGeom prst="rect">
                <a:avLst/>
              </a:prstGeom>
            </p:spPr>
            <p:txBody>
              <a:bodyPr>
                <a:spAutoFit/>
              </a:bodyPr>
              <a:lstStyle/>
              <a:p>
                <a:pPr lvl="1"/>
                <a:r>
                  <a:rPr lang="en-US" i="1" dirty="0"/>
                  <a:t>Minimize	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−</m:t>
                    </m:r>
                    <m:sSubSup>
                      <m:sSub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sSubSup>
                          <m:sSubSup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  <m:sup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b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bSup>
                    <m:r>
                      <a:rPr lang="en-US" i="1">
                        <a:latin typeface="Cambria Math" panose="02040503050406030204" pitchFamily="18" charset="0"/>
                      </a:rPr>
                      <m:t>−</m:t>
                    </m:r>
                    <m:sSubSup>
                      <m:sSub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′′</m:t>
                        </m:r>
                      </m:sup>
                    </m:sSubSup>
                    <m:r>
                      <a:rPr lang="en-US" i="1">
                        <a:latin typeface="Cambria Math" panose="02040503050406030204" pitchFamily="18" charset="0"/>
                      </a:rPr>
                      <m:t>−2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</m:oMath>
                </a14:m>
                <a:endParaRPr lang="en-US" dirty="0"/>
              </a:p>
              <a:p>
                <a:pPr lvl="1"/>
                <a:r>
                  <a:rPr lang="en-US" i="1" dirty="0"/>
                  <a:t>subject to	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′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′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−2</m:t>
                    </m:r>
                    <m:sSubSup>
                      <m:sSub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′′</m:t>
                        </m:r>
                      </m:sup>
                    </m:sSubSup>
                    <m:r>
                      <a:rPr lang="en-US" b="0" i="1" smtClean="0">
                        <a:latin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≤−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13</m:t>
                    </m:r>
                  </m:oMath>
                </a14:m>
                <a:r>
                  <a:rPr lang="en-US" dirty="0"/>
                  <a:t>	</a:t>
                </a:r>
              </a:p>
              <a:p>
                <a:pPr lvl="1"/>
                <a:r>
                  <a:rPr lang="en-US" dirty="0"/>
                  <a:t>		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′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   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′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−</m:t>
                    </m:r>
                    <m:sSubSup>
                      <m:sSub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′′</m:t>
                        </m:r>
                      </m:sup>
                    </m:sSubSup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+ 5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≤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17</m:t>
                    </m:r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		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′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sSup>
                          <m:sSup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+</m:t>
                    </m:r>
                    <m:sSubSup>
                      <m:sSub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′′</m:t>
                        </m:r>
                      </m:sup>
                    </m:sSubSup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 5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≤−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17</m:t>
                    </m:r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		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≤4</m:t>
                    </m:r>
                  </m:oMath>
                </a14:m>
                <a:endParaRPr lang="en-US" i="1" dirty="0">
                  <a:latin typeface="Cambria Math" panose="02040503050406030204" pitchFamily="18" charset="0"/>
                </a:endParaRPr>
              </a:p>
              <a:p>
                <a:pPr lvl="1"/>
                <a:r>
                  <a:rPr lang="en-US" dirty="0"/>
                  <a:t>		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′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≥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0, </m:t>
                    </m:r>
                  </m:oMath>
                </a14:m>
                <a:endParaRPr lang="en-US" i="1" dirty="0">
                  <a:latin typeface="Cambria Math" panose="02040503050406030204" pitchFamily="18" charset="0"/>
                </a:endParaRPr>
              </a:p>
              <a:p>
                <a:pPr lvl="1"/>
                <a:r>
                  <a:rPr lang="en-US" dirty="0"/>
                  <a:t>		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′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≥0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,</m:t>
                    </m:r>
                  </m:oMath>
                </a14:m>
                <a:endParaRPr lang="en-US" i="1" dirty="0">
                  <a:latin typeface="Cambria Math" panose="02040503050406030204" pitchFamily="18" charset="0"/>
                </a:endParaRPr>
              </a:p>
              <a:p>
                <a:pPr lvl="1"/>
                <a:r>
                  <a:rPr lang="en-US" i="1" dirty="0">
                    <a:latin typeface="Cambria Math" panose="02040503050406030204" pitchFamily="18" charset="0"/>
                  </a:rPr>
                  <a:t>		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′′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≥0,</m:t>
                    </m:r>
                  </m:oMath>
                </a14:m>
                <a:endParaRPr lang="en-US" i="1" dirty="0">
                  <a:latin typeface="Cambria Math" panose="02040503050406030204" pitchFamily="18" charset="0"/>
                </a:endParaRPr>
              </a:p>
              <a:p>
                <a:pPr lvl="1"/>
                <a:r>
                  <a:rPr lang="en-US" dirty="0"/>
                  <a:t>		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≥0,</m:t>
                    </m:r>
                  </m:oMath>
                </a14:m>
                <a:endParaRPr lang="en-US" i="1" dirty="0"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10" name="Rectangle 9">
                <a:extLst>
                  <a:ext uri="{FF2B5EF4-FFF2-40B4-BE49-F238E27FC236}">
                    <a16:creationId xmlns:a16="http://schemas.microsoft.com/office/drawing/2014/main" id="{39DB796F-C427-4345-83DE-69F82B5F557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65316" y="1312433"/>
                <a:ext cx="6096000" cy="2585323"/>
              </a:xfrm>
              <a:prstGeom prst="rect">
                <a:avLst/>
              </a:prstGeom>
              <a:blipFill>
                <a:blip r:embed="rId4"/>
                <a:stretch>
                  <a:fillRect t="-117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Equals 4">
            <a:extLst>
              <a:ext uri="{FF2B5EF4-FFF2-40B4-BE49-F238E27FC236}">
                <a16:creationId xmlns:a16="http://schemas.microsoft.com/office/drawing/2014/main" id="{627DA4B8-B00E-462E-8BEA-22E812E2E02E}"/>
              </a:ext>
            </a:extLst>
          </p:cNvPr>
          <p:cNvSpPr/>
          <p:nvPr/>
        </p:nvSpPr>
        <p:spPr>
          <a:xfrm>
            <a:off x="4965469" y="2405149"/>
            <a:ext cx="1130531" cy="648393"/>
          </a:xfrm>
          <a:prstGeom prst="mathEqual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Rectangle 10">
                <a:extLst>
                  <a:ext uri="{FF2B5EF4-FFF2-40B4-BE49-F238E27FC236}">
                    <a16:creationId xmlns:a16="http://schemas.microsoft.com/office/drawing/2014/main" id="{5FA63E91-786C-4526-BC28-366605CC31D4}"/>
                  </a:ext>
                </a:extLst>
              </p:cNvPr>
              <p:cNvSpPr/>
              <p:nvPr/>
            </p:nvSpPr>
            <p:spPr>
              <a:xfrm>
                <a:off x="399011" y="4266218"/>
                <a:ext cx="7620000" cy="1223155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lvl="2"/>
                <a14:m>
                  <m:oMath xmlns:m="http://schemas.openxmlformats.org/officeDocument/2006/math">
                    <m:r>
                      <a:rPr lang="en-US" b="1" i="1" dirty="0" smtClean="0">
                        <a:latin typeface="Cambria Math" panose="02040503050406030204" pitchFamily="18" charset="0"/>
                      </a:rPr>
                      <m:t>𝒙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eqArr>
                          <m:eqArrPr>
                            <m:ctrlPr>
                              <a:rPr lang="en-US" b="0" i="1" dirty="0">
                                <a:latin typeface="Cambria Math" panose="02040503050406030204" pitchFamily="18" charset="0"/>
                              </a:rPr>
                            </m:ctrlPr>
                          </m:eqArrPr>
                          <m:e>
                            <m:sSubSup>
                              <m:sSubSupPr>
                                <m:ctrlPr>
                                  <a:rPr lang="en-US" b="0" i="1" dirty="0" smtClean="0">
                                    <a:latin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en-US" b="0" i="1" dirty="0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b="0" i="1" dirty="0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  <m:sup>
                                <m:r>
                                  <a:rPr lang="en-US" b="0" i="1" dirty="0" smtClean="0">
                                    <a:latin typeface="Cambria Math" panose="02040503050406030204" pitchFamily="18" charset="0"/>
                                  </a:rPr>
                                  <m:t>′</m:t>
                                </m:r>
                              </m:sup>
                            </m:sSubSup>
                          </m:e>
                          <m:e>
                            <m:sSubSup>
                              <m:sSubSupPr>
                                <m:ctrlPr>
                                  <a:rPr lang="en-US" b="0" i="1" dirty="0" smtClean="0">
                                    <a:latin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en-US" b="0" i="1" dirty="0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b="0" i="1" dirty="0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  <m:sup>
                                <m:r>
                                  <a:rPr lang="en-US" b="0" i="1" dirty="0" smtClean="0">
                                    <a:latin typeface="Cambria Math" panose="02040503050406030204" pitchFamily="18" charset="0"/>
                                  </a:rPr>
                                  <m:t>′</m:t>
                                </m:r>
                              </m:sup>
                            </m:sSubSup>
                          </m:e>
                          <m:e>
                            <m:sSubSup>
                              <m:sSubSupPr>
                                <m:ctrlPr>
                                  <a:rPr lang="en-US" b="0" i="1" dirty="0" smtClean="0">
                                    <a:latin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en-US" b="0" i="1" dirty="0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b="0" i="1" dirty="0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  <m:sup>
                                <m:r>
                                  <a:rPr lang="en-US" b="0" i="1" dirty="0" smtClean="0">
                                    <a:latin typeface="Cambria Math" panose="02040503050406030204" pitchFamily="18" charset="0"/>
                                  </a:rPr>
                                  <m:t>′′</m:t>
                                </m:r>
                              </m:sup>
                            </m:sSubSup>
                          </m:e>
                          <m:e>
                            <m:sSub>
                              <m:sSubPr>
                                <m:ctrlPr>
                                  <a:rPr lang="en-US" b="0" i="1" dirty="0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0" i="1" dirty="0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b="0" i="1" dirty="0" smtClean="0"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sub>
                            </m:sSub>
                          </m:e>
                        </m:eqArr>
                      </m:e>
                    </m:d>
                  </m:oMath>
                </a14:m>
                <a:r>
                  <a:rPr lang="en-US" dirty="0"/>
                  <a:t>, </a:t>
                </a:r>
                <a14:m>
                  <m:oMath xmlns:m="http://schemas.openxmlformats.org/officeDocument/2006/math">
                    <m:r>
                      <a:rPr lang="en-US" b="1" i="1" dirty="0">
                        <a:latin typeface="Cambria Math" panose="02040503050406030204" pitchFamily="18" charset="0"/>
                      </a:rPr>
                      <m:t>𝒇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eqArr>
                          <m:eqArrPr>
                            <m:ctrlPr>
                              <a:rPr lang="en-US" b="0" i="1" dirty="0">
                                <a:latin typeface="Cambria Math" panose="02040503050406030204" pitchFamily="18" charset="0"/>
                              </a:rPr>
                            </m:ctrlPr>
                          </m:eqArrPr>
                          <m:e>
                            <m: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  <m:t>−1</m:t>
                            </m:r>
                          </m:e>
                          <m:e>
                            <m: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e>
                          <m:e>
                            <m: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  <m:t>−1</m:t>
                            </m:r>
                          </m:e>
                          <m:e>
                            <m: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  <m:t>−2</m:t>
                            </m:r>
                          </m:e>
                        </m:eqArr>
                      </m:e>
                    </m:d>
                  </m:oMath>
                </a14:m>
                <a:r>
                  <a:rPr lang="en-US" dirty="0"/>
                  <a:t>, </a:t>
                </a:r>
                <a14:m>
                  <m:oMath xmlns:m="http://schemas.openxmlformats.org/officeDocument/2006/math">
                    <m:r>
                      <a:rPr lang="en-US" b="1">
                        <a:latin typeface="Cambria Math" panose="02040503050406030204" pitchFamily="18" charset="0"/>
                      </a:rPr>
                      <m:t>𝐀</m:t>
                    </m:r>
                    <m:r>
                      <a:rPr lang="en-US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4"/>
                                  <m:mcJc m:val="center"/>
                                </m:mcPr>
                              </m:mc>
                            </m:mcs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US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−2</m:t>
                              </m:r>
                            </m:e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−4</m:t>
                              </m:r>
                            </m:e>
                          </m:mr>
                          <m:mr>
                            <m:e>
                              <m:eqArr>
                                <m:eqArr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eqArr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−1</m:t>
                                  </m:r>
                                </m:e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e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e>
                              </m:eqArr>
                            </m:e>
                            <m:e>
                              <m:eqArr>
                                <m:eqArr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eqArr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e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−1</m:t>
                                  </m:r>
                                </m:e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e>
                              </m:eqArr>
                            </m:e>
                            <m:e>
                              <m:eqArr>
                                <m:eqArr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eqArr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−1</m:t>
                                  </m:r>
                                </m:e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e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e>
                              </m:eqArr>
                            </m:e>
                            <m:e>
                              <m:eqArr>
                                <m:eqArr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eqArr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5</m:t>
                                  </m:r>
                                </m:e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−5</m:t>
                                  </m:r>
                                </m:e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e>
                              </m:eqArr>
                            </m:e>
                          </m:mr>
                        </m:m>
                      </m:e>
                    </m:d>
                  </m:oMath>
                </a14:m>
                <a:r>
                  <a:rPr lang="en-US" dirty="0"/>
                  <a:t> and </a:t>
                </a:r>
                <a14:m>
                  <m:oMath xmlns:m="http://schemas.openxmlformats.org/officeDocument/2006/math">
                    <m:r>
                      <a:rPr lang="en-US" b="1" i="1">
                        <a:latin typeface="Cambria Math" panose="02040503050406030204" pitchFamily="18" charset="0"/>
                      </a:rPr>
                      <m:t>𝒃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eqArr>
                          <m:eqArr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eqArr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−13</m:t>
                            </m:r>
                          </m:e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7</m:t>
                            </m:r>
                          </m:e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−17</m:t>
                            </m:r>
                          </m:e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4</m:t>
                            </m:r>
                          </m:e>
                        </m:eqArr>
                      </m:e>
                    </m:d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11" name="Rectangle 10">
                <a:extLst>
                  <a:ext uri="{FF2B5EF4-FFF2-40B4-BE49-F238E27FC236}">
                    <a16:creationId xmlns:a16="http://schemas.microsoft.com/office/drawing/2014/main" id="{5FA63E91-786C-4526-BC28-366605CC31D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9011" y="4266218"/>
                <a:ext cx="7620000" cy="1223155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2" name="Picture 11">
            <a:extLst>
              <a:ext uri="{FF2B5EF4-FFF2-40B4-BE49-F238E27FC236}">
                <a16:creationId xmlns:a16="http://schemas.microsoft.com/office/drawing/2014/main" id="{8BF12137-9286-4FE2-8787-CF8074DE47A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687153" y="4539744"/>
            <a:ext cx="3190268" cy="1454808"/>
          </a:xfrm>
          <a:prstGeom prst="rect">
            <a:avLst/>
          </a:prstGeom>
        </p:spPr>
      </p:pic>
      <p:sp>
        <p:nvSpPr>
          <p:cNvPr id="13" name="Arrow: Down 12">
            <a:extLst>
              <a:ext uri="{FF2B5EF4-FFF2-40B4-BE49-F238E27FC236}">
                <a16:creationId xmlns:a16="http://schemas.microsoft.com/office/drawing/2014/main" id="{5CE85A21-E8AA-47C0-8451-6D4DEE1C3A48}"/>
              </a:ext>
            </a:extLst>
          </p:cNvPr>
          <p:cNvSpPr/>
          <p:nvPr/>
        </p:nvSpPr>
        <p:spPr>
          <a:xfrm rot="19236747">
            <a:off x="9147342" y="2879427"/>
            <a:ext cx="611289" cy="1730540"/>
          </a:xfrm>
          <a:prstGeom prst="downArrow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91333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13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Matrix Notation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lnSpcReduction="10000"/>
              </a:bodyPr>
              <a:lstStyle/>
              <a:p>
                <a:r>
                  <a:rPr lang="en-US" dirty="0"/>
                  <a:t>Any model can be converted into:</a:t>
                </a:r>
              </a:p>
              <a:p>
                <a:endParaRPr lang="en-US" dirty="0"/>
              </a:p>
              <a:p>
                <a:endParaRPr lang="en-US" dirty="0"/>
              </a:p>
              <a:p>
                <a:r>
                  <a:rPr lang="en-US" sz="2400" dirty="0"/>
                  <a:t>First, make sure that constraint right-hand-sides are constants and left-hand-sides have just variables and no constants</a:t>
                </a:r>
              </a:p>
              <a:p>
                <a:r>
                  <a:rPr lang="en-US" dirty="0">
                    <a:solidFill>
                      <a:srgbClr val="C00000"/>
                    </a:solidFill>
                  </a:rPr>
                  <a:t>The constraints: </a:t>
                </a:r>
                <a:r>
                  <a:rPr lang="en-US" dirty="0"/>
                  <a:t>there are three types of constraints</a:t>
                </a:r>
              </a:p>
              <a:p>
                <a:pPr lvl="1"/>
                <a:r>
                  <a:rPr lang="en-US" dirty="0"/>
                  <a:t>If you have = constraint, that is fine</a:t>
                </a:r>
              </a:p>
              <a:p>
                <a:pPr lvl="1"/>
                <a:r>
                  <a:rPr lang="en-US" dirty="0"/>
                  <a:t>If you have &lt;= constraint, add a non-negative slack variable to the left-side</a:t>
                </a:r>
              </a:p>
              <a:p>
                <a:pPr lvl="2"/>
                <a14:m>
                  <m:oMath xmlns:m="http://schemas.openxmlformats.org/officeDocument/2006/math">
                    <m:sSub>
                      <m:sSub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i="1" dirty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i="1" dirty="0">
                        <a:latin typeface="Cambria Math" panose="02040503050406030204" pitchFamily="18" charset="0"/>
                      </a:rPr>
                      <m:t>≤4 </m:t>
                    </m:r>
                  </m:oMath>
                </a14:m>
                <a:r>
                  <a:rPr lang="en-US" dirty="0"/>
                  <a:t> </a:t>
                </a:r>
                <a:r>
                  <a:rPr lang="en-US" dirty="0">
                    <a:sym typeface="Wingdings" panose="05000000000000000000" pitchFamily="2" charset="2"/>
                  </a:rPr>
                  <a:t> </a:t>
                </a:r>
                <a:r>
                  <a:rPr lang="en-US" dirty="0"/>
                  <a:t>Add slack variable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i="1" dirty="0">
                        <a:latin typeface="Cambria Math" panose="02040503050406030204" pitchFamily="18" charset="0"/>
                      </a:rPr>
                      <m:t>≥0</m:t>
                    </m:r>
                  </m:oMath>
                </a14:m>
                <a:r>
                  <a:rPr lang="en-US" dirty="0"/>
                  <a:t>, and you will have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i="1" dirty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i="1" dirty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i="1" dirty="0">
                        <a:latin typeface="Cambria Math" panose="02040503050406030204" pitchFamily="18" charset="0"/>
                      </a:rPr>
                      <m:t>=4 </m:t>
                    </m:r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If you have &gt;= constraint, subtract a non-negative slack variable from the left-side</a:t>
                </a:r>
              </a:p>
              <a:p>
                <a:pPr lvl="2"/>
                <a14:m>
                  <m:oMath xmlns:m="http://schemas.openxmlformats.org/officeDocument/2006/math">
                    <m:sSub>
                      <m:sSub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i="1" dirty="0">
                        <a:latin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i="1" dirty="0">
                        <a:latin typeface="Cambria Math" panose="02040503050406030204" pitchFamily="18" charset="0"/>
                      </a:rPr>
                      <m:t>≥8 </m:t>
                    </m:r>
                  </m:oMath>
                </a14:m>
                <a:r>
                  <a:rPr lang="en-US" dirty="0">
                    <a:sym typeface="Wingdings" panose="05000000000000000000" pitchFamily="2" charset="2"/>
                  </a:rPr>
                  <a:t> </a:t>
                </a:r>
                <a:r>
                  <a:rPr lang="en-US" dirty="0"/>
                  <a:t>Subtract slack variable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i="1" dirty="0">
                        <a:latin typeface="Cambria Math" panose="02040503050406030204" pitchFamily="18" charset="0"/>
                      </a:rPr>
                      <m:t>≥0</m:t>
                    </m:r>
                  </m:oMath>
                </a14:m>
                <a:r>
                  <a:rPr lang="en-US" dirty="0"/>
                  <a:t>, and you will have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i="1" dirty="0">
                        <a:latin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i="1" dirty="0">
                        <a:latin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i="1" dirty="0">
                        <a:latin typeface="Cambria Math" panose="02040503050406030204" pitchFamily="18" charset="0"/>
                      </a:rPr>
                      <m:t>=8 </m:t>
                    </m:r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That is, we can express the constraints as </a:t>
                </a:r>
                <a14:m>
                  <m:oMath xmlns:m="http://schemas.openxmlformats.org/officeDocument/2006/math">
                    <m:r>
                      <a:rPr lang="en-US" b="1" i="1">
                        <a:latin typeface="Cambria Math" panose="02040503050406030204" pitchFamily="18" charset="0"/>
                      </a:rPr>
                      <m:t>𝑨𝒙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1" i="1">
                        <a:latin typeface="Cambria Math" panose="02040503050406030204" pitchFamily="18" charset="0"/>
                      </a:rPr>
                      <m:t>𝒃</m:t>
                    </m:r>
                  </m:oMath>
                </a14:m>
                <a:r>
                  <a:rPr lang="en-US" b="1" dirty="0"/>
                  <a:t> </a:t>
                </a:r>
                <a:endParaRPr lang="en-US" dirty="0"/>
              </a:p>
              <a:p>
                <a:pPr lvl="2"/>
                <a:endParaRPr lang="en-US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956" t="-275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" name="Picture 5">
            <a:extLst>
              <a:ext uri="{FF2B5EF4-FFF2-40B4-BE49-F238E27FC236}">
                <a16:creationId xmlns:a16="http://schemas.microsoft.com/office/drawing/2014/main" id="{1818769F-41B7-447A-9052-2D9C2980FE3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31193" y="1345570"/>
            <a:ext cx="2675744" cy="12257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224826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Matrix Notation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Any model can be converted into:</a:t>
                </a:r>
              </a:p>
              <a:p>
                <a:endParaRPr lang="en-US" dirty="0"/>
              </a:p>
              <a:p>
                <a:endParaRPr lang="en-US" dirty="0"/>
              </a:p>
              <a:p>
                <a:r>
                  <a:rPr lang="en-US" dirty="0">
                    <a:solidFill>
                      <a:srgbClr val="C00000"/>
                    </a:solidFill>
                  </a:rPr>
                  <a:t>The variables: </a:t>
                </a:r>
                <a:r>
                  <a:rPr lang="en-US" dirty="0"/>
                  <a:t>converting non-positive and unrestricted variables</a:t>
                </a:r>
              </a:p>
              <a:p>
                <a:pPr lvl="1"/>
                <a:r>
                  <a:rPr lang="en-US" dirty="0"/>
                  <a:t>For negative variables, define a new variable instead, which will be negative of the original variable and replace it in the model</a:t>
                </a:r>
              </a:p>
              <a:p>
                <a:pPr lvl="2"/>
                <a:r>
                  <a:rPr lang="en-US" dirty="0"/>
                  <a:t>Say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≤0</m:t>
                    </m:r>
                  </m:oMath>
                </a14:m>
                <a:r>
                  <a:rPr lang="en-US" dirty="0"/>
                  <a:t> </a:t>
                </a:r>
                <a:r>
                  <a:rPr lang="en-US" dirty="0">
                    <a:sym typeface="Wingdings" panose="05000000000000000000" pitchFamily="2" charset="2"/>
                  </a:rPr>
                  <a:t> define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bSup>
                    <m:r>
                      <a:rPr lang="en-US" i="1">
                        <a:latin typeface="Cambria Math" panose="02040503050406030204" pitchFamily="18" charset="0"/>
                      </a:rPr>
                      <m:t>=−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dirty="0">
                    <a:sym typeface="Wingdings" panose="05000000000000000000" pitchFamily="2" charset="2"/>
                  </a:rPr>
                  <a:t> so we have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bSup>
                    <m:r>
                      <a:rPr lang="en-US" i="1">
                        <a:latin typeface="Cambria Math" panose="02040503050406030204" pitchFamily="18" charset="0"/>
                      </a:rPr>
                      <m:t>≥0</m:t>
                    </m:r>
                  </m:oMath>
                </a14:m>
                <a:endParaRPr lang="en-US" dirty="0"/>
              </a:p>
              <a:p>
                <a:pPr lvl="2"/>
                <a:r>
                  <a:rPr lang="en-US" dirty="0">
                    <a:sym typeface="Wingdings" panose="05000000000000000000" pitchFamily="2" charset="2"/>
                  </a:rPr>
                  <a:t>Replace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dirty="0">
                    <a:sym typeface="Wingdings" panose="05000000000000000000" pitchFamily="2" charset="2"/>
                  </a:rPr>
                  <a:t> in the model with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bSup>
                  </m:oMath>
                </a14:m>
                <a:endParaRPr lang="en-US" sz="2400" dirty="0"/>
              </a:p>
              <a:p>
                <a:pPr lvl="1"/>
                <a:r>
                  <a:rPr lang="en-US" dirty="0"/>
                  <a:t>For unrestricted variable, define it as a difference of two non-negative variables and replace it in the model</a:t>
                </a:r>
              </a:p>
              <a:p>
                <a:pPr lvl="2"/>
                <a:r>
                  <a:rPr lang="en-US" dirty="0"/>
                  <a:t>Say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𝑢𝑛𝑟𝑒𝑠𝑡𝑟𝑖𝑐𝑡𝑒𝑑</m:t>
                    </m:r>
                  </m:oMath>
                </a14:m>
                <a:r>
                  <a:rPr lang="en-US" dirty="0"/>
                  <a:t> </a:t>
                </a:r>
                <a:r>
                  <a:rPr lang="en-US" dirty="0">
                    <a:sym typeface="Wingdings" panose="05000000000000000000" pitchFamily="2" charset="2"/>
                  </a:rPr>
                  <a:t> let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sSubSup>
                      <m:sSub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bSup>
                    <m:r>
                      <a:rPr lang="en-US" i="1">
                        <a:latin typeface="Cambria Math" panose="02040503050406030204" pitchFamily="18" charset="0"/>
                      </a:rPr>
                      <m:t>−</m:t>
                    </m:r>
                    <m:sSubSup>
                      <m:sSub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′′</m:t>
                        </m:r>
                      </m:sup>
                    </m:sSubSup>
                  </m:oMath>
                </a14:m>
                <a:r>
                  <a:rPr lang="en-US" dirty="0">
                    <a:sym typeface="Wingdings" panose="05000000000000000000" pitchFamily="2" charset="2"/>
                  </a:rPr>
                  <a:t> and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bSup>
                    <m:r>
                      <a:rPr lang="en-US" i="1">
                        <a:latin typeface="Cambria Math" panose="02040503050406030204" pitchFamily="18" charset="0"/>
                      </a:rPr>
                      <m:t>≥0,</m:t>
                    </m:r>
                    <m:sSubSup>
                      <m:sSub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′′</m:t>
                        </m:r>
                      </m:sup>
                    </m:sSubSup>
                    <m:r>
                      <a:rPr lang="en-US" i="1">
                        <a:latin typeface="Cambria Math" panose="02040503050406030204" pitchFamily="18" charset="0"/>
                      </a:rPr>
                      <m:t>≥0</m:t>
                    </m:r>
                  </m:oMath>
                </a14:m>
                <a:r>
                  <a:rPr lang="en-US" dirty="0">
                    <a:sym typeface="Wingdings" panose="05000000000000000000" pitchFamily="2" charset="2"/>
                  </a:rPr>
                  <a:t> </a:t>
                </a:r>
              </a:p>
              <a:p>
                <a:pPr lvl="2"/>
                <a:r>
                  <a:rPr lang="en-US" dirty="0">
                    <a:sym typeface="Wingdings" panose="05000000000000000000" pitchFamily="2" charset="2"/>
                  </a:rPr>
                  <a:t>Replace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dirty="0">
                    <a:sym typeface="Wingdings" panose="05000000000000000000" pitchFamily="2" charset="2"/>
                  </a:rPr>
                  <a:t> in the model with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bSup>
                    <m:r>
                      <a:rPr lang="en-US" i="1">
                        <a:latin typeface="Cambria Math" panose="02040503050406030204" pitchFamily="18" charset="0"/>
                      </a:rPr>
                      <m:t>−</m:t>
                    </m:r>
                    <m:sSubSup>
                      <m:sSub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′′</m:t>
                        </m:r>
                      </m:sup>
                    </m:sSubSup>
                  </m:oMath>
                </a14:m>
                <a:endParaRPr lang="en-US" sz="2800" dirty="0"/>
              </a:p>
              <a:p>
                <a:pPr lvl="2"/>
                <a:endParaRPr lang="en-US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956" t="-2005" b="-100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" name="Picture 5">
            <a:extLst>
              <a:ext uri="{FF2B5EF4-FFF2-40B4-BE49-F238E27FC236}">
                <a16:creationId xmlns:a16="http://schemas.microsoft.com/office/drawing/2014/main" id="{1818769F-41B7-447A-9052-2D9C2980FE3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31193" y="1345570"/>
            <a:ext cx="2675744" cy="12257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771335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Matrix Notation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sz="2800" dirty="0"/>
                  <a:t>A small example:</a:t>
                </a:r>
              </a:p>
              <a:p>
                <a:endParaRPr lang="en-US" dirty="0"/>
              </a:p>
              <a:p>
                <a:endParaRPr lang="en-US" sz="2800" dirty="0"/>
              </a:p>
              <a:p>
                <a:endParaRPr lang="en-US" dirty="0"/>
              </a:p>
              <a:p>
                <a:endParaRPr lang="en-US" sz="2800" dirty="0"/>
              </a:p>
              <a:p>
                <a:endParaRPr lang="en-US" dirty="0"/>
              </a:p>
              <a:p>
                <a:pPr lvl="1"/>
                <a:r>
                  <a:rPr lang="en-US" dirty="0"/>
                  <a:t>So the constraints are handled easily</a:t>
                </a:r>
              </a:p>
              <a:p>
                <a:pPr lvl="2"/>
                <a:r>
                  <a:rPr lang="en-US" dirty="0"/>
                  <a:t>1</a:t>
                </a:r>
                <a:r>
                  <a:rPr lang="en-US" baseline="30000" dirty="0"/>
                  <a:t>st</a:t>
                </a:r>
                <a:r>
                  <a:rPr lang="en-US" dirty="0"/>
                  <a:t> constraint </a:t>
                </a:r>
                <a:r>
                  <a:rPr lang="en-US" dirty="0">
                    <a:sym typeface="Wingdings" panose="05000000000000000000" pitchFamily="2" charset="2"/>
                  </a:rPr>
                  <a:t> subtract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𝑠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1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≥0</m:t>
                    </m:r>
                  </m:oMath>
                </a14:m>
                <a:r>
                  <a:rPr lang="en-US" dirty="0">
                    <a:sym typeface="Wingdings" panose="05000000000000000000" pitchFamily="2" charset="2"/>
                  </a:rPr>
                  <a:t> from the left side</a:t>
                </a:r>
              </a:p>
              <a:p>
                <a:pPr lvl="2"/>
                <a:r>
                  <a:rPr lang="en-US" dirty="0">
                    <a:sym typeface="Wingdings" panose="05000000000000000000" pitchFamily="2" charset="2"/>
                  </a:rPr>
                  <a:t>2</a:t>
                </a:r>
                <a:r>
                  <a:rPr lang="en-US" baseline="30000" dirty="0">
                    <a:sym typeface="Wingdings" panose="05000000000000000000" pitchFamily="2" charset="2"/>
                  </a:rPr>
                  <a:t>nd</a:t>
                </a:r>
                <a:r>
                  <a:rPr lang="en-US" dirty="0">
                    <a:sym typeface="Wingdings" panose="05000000000000000000" pitchFamily="2" charset="2"/>
                  </a:rPr>
                  <a:t> constraint is = already</a:t>
                </a:r>
              </a:p>
              <a:p>
                <a:pPr lvl="2"/>
                <a:r>
                  <a:rPr lang="en-US" dirty="0">
                    <a:sym typeface="Wingdings" panose="05000000000000000000" pitchFamily="2" charset="2"/>
                  </a:rPr>
                  <a:t>3</a:t>
                </a:r>
                <a:r>
                  <a:rPr lang="en-US" baseline="30000" dirty="0">
                    <a:sym typeface="Wingdings" panose="05000000000000000000" pitchFamily="2" charset="2"/>
                  </a:rPr>
                  <a:t>rd</a:t>
                </a:r>
                <a:r>
                  <a:rPr lang="en-US" dirty="0">
                    <a:sym typeface="Wingdings" panose="05000000000000000000" pitchFamily="2" charset="2"/>
                  </a:rPr>
                  <a:t> constraint  add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𝑠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2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≥0</m:t>
                    </m:r>
                  </m:oMath>
                </a14:m>
                <a:r>
                  <a:rPr lang="en-US" dirty="0"/>
                  <a:t> to the left side</a:t>
                </a: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956" t="-200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>
                <a:extLst>
                  <a:ext uri="{FF2B5EF4-FFF2-40B4-BE49-F238E27FC236}">
                    <a16:creationId xmlns:a16="http://schemas.microsoft.com/office/drawing/2014/main" id="{B926818C-B7F3-4A19-9908-DDE9FD9DB969}"/>
                  </a:ext>
                </a:extLst>
              </p:cNvPr>
              <p:cNvSpPr/>
              <p:nvPr/>
            </p:nvSpPr>
            <p:spPr>
              <a:xfrm>
                <a:off x="243840" y="1849582"/>
                <a:ext cx="6096000" cy="2246769"/>
              </a:xfrm>
              <a:prstGeom prst="rect">
                <a:avLst/>
              </a:prstGeom>
            </p:spPr>
            <p:txBody>
              <a:bodyPr>
                <a:spAutoFit/>
              </a:bodyPr>
              <a:lstStyle/>
              <a:p>
                <a:pPr lvl="1"/>
                <a:r>
                  <a:rPr lang="en-US" sz="2000" i="1" dirty="0"/>
                  <a:t>Minimize	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sSub>
                          <m:sSubPr>
                            <m:ctrlPr>
                              <a:rPr lang="en-US" sz="2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sz="2000" i="1">
                        <a:latin typeface="Cambria Math" panose="02040503050406030204" pitchFamily="18" charset="0"/>
                      </a:rPr>
                      <m:t>−2</m:t>
                    </m:r>
                    <m:sSub>
                      <m:sSub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</m:oMath>
                </a14:m>
                <a:endParaRPr lang="en-US" sz="2000" dirty="0"/>
              </a:p>
              <a:p>
                <a:pPr lvl="1"/>
                <a:r>
                  <a:rPr lang="en-US" sz="2000" i="1" dirty="0"/>
                  <a:t>subject to	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sSub>
                          <m:sSubPr>
                            <m:ctrlPr>
                              <a:rPr lang="en-US" sz="2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−2</m:t>
                        </m:r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sz="2000" i="1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a:rPr lang="en-US" sz="2000" i="1">
                        <a:latin typeface="Cambria Math" panose="02040503050406030204" pitchFamily="18" charset="0"/>
                      </a:rPr>
                      <m:t>≥13</m:t>
                    </m:r>
                  </m:oMath>
                </a14:m>
                <a:r>
                  <a:rPr lang="en-US" sz="2000" dirty="0"/>
                  <a:t>	</a:t>
                </a:r>
              </a:p>
              <a:p>
                <a:pPr lvl="1"/>
                <a:r>
                  <a:rPr lang="en-US" sz="2000" dirty="0"/>
                  <a:t>		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2000" i="1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   </m:t>
                        </m:r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sSub>
                      <m:sSub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+ 5</m:t>
                        </m:r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a:rPr lang="en-US" sz="2000" i="1">
                        <a:latin typeface="Cambria Math" panose="02040503050406030204" pitchFamily="18" charset="0"/>
                      </a:rPr>
                      <m:t> =17</m:t>
                    </m:r>
                  </m:oMath>
                </a14:m>
                <a:endParaRPr lang="en-US" sz="2000" dirty="0"/>
              </a:p>
              <a:p>
                <a:pPr lvl="1"/>
                <a:r>
                  <a:rPr lang="en-US" sz="2000" dirty="0"/>
                  <a:t>		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a:rPr lang="en-US" sz="2000" i="1">
                        <a:latin typeface="Cambria Math" panose="02040503050406030204" pitchFamily="18" charset="0"/>
                      </a:rPr>
                      <m:t>≤4</m:t>
                    </m:r>
                  </m:oMath>
                </a14:m>
                <a:endParaRPr lang="en-US" sz="2000" i="1" dirty="0">
                  <a:latin typeface="Cambria Math" panose="02040503050406030204" pitchFamily="18" charset="0"/>
                </a:endParaRPr>
              </a:p>
              <a:p>
                <a:pPr lvl="1"/>
                <a:r>
                  <a:rPr lang="en-US" sz="2000" dirty="0"/>
                  <a:t>		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2000" i="1">
                        <a:latin typeface="Cambria Math" panose="02040503050406030204" pitchFamily="18" charset="0"/>
                      </a:rPr>
                      <m:t>≤0, </m:t>
                    </m:r>
                  </m:oMath>
                </a14:m>
                <a:endParaRPr lang="en-US" sz="2000" i="1" dirty="0">
                  <a:latin typeface="Cambria Math" panose="02040503050406030204" pitchFamily="18" charset="0"/>
                </a:endParaRPr>
              </a:p>
              <a:p>
                <a:pPr lvl="1"/>
                <a:r>
                  <a:rPr lang="en-US" sz="2000" dirty="0"/>
                  <a:t>		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sz="2000" i="1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𝑢𝑛𝑟𝑒𝑠𝑡𝑟𝑖𝑐𝑡𝑒𝑑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,</m:t>
                    </m:r>
                  </m:oMath>
                </a14:m>
                <a:endParaRPr lang="en-US" sz="2000" i="1" dirty="0">
                  <a:latin typeface="Cambria Math" panose="02040503050406030204" pitchFamily="18" charset="0"/>
                </a:endParaRPr>
              </a:p>
              <a:p>
                <a:pPr lvl="1"/>
                <a:r>
                  <a:rPr lang="en-US" sz="2000" dirty="0"/>
                  <a:t>		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a:rPr lang="en-US" sz="2000" i="1">
                        <a:latin typeface="Cambria Math" panose="02040503050406030204" pitchFamily="18" charset="0"/>
                      </a:rPr>
                      <m:t>≥0,</m:t>
                    </m:r>
                  </m:oMath>
                </a14:m>
                <a:endParaRPr lang="en-US" sz="2000" i="1" dirty="0"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4" name="Rectangle 3">
                <a:extLst>
                  <a:ext uri="{FF2B5EF4-FFF2-40B4-BE49-F238E27FC236}">
                    <a16:creationId xmlns:a16="http://schemas.microsoft.com/office/drawing/2014/main" id="{B926818C-B7F3-4A19-9908-DDE9FD9DB96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3840" y="1849582"/>
                <a:ext cx="6096000" cy="2246769"/>
              </a:xfrm>
              <a:prstGeom prst="rect">
                <a:avLst/>
              </a:prstGeom>
              <a:blipFill>
                <a:blip r:embed="rId3"/>
                <a:stretch>
                  <a:fillRect t="-135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>
                <a:extLst>
                  <a:ext uri="{FF2B5EF4-FFF2-40B4-BE49-F238E27FC236}">
                    <a16:creationId xmlns:a16="http://schemas.microsoft.com/office/drawing/2014/main" id="{6635F16F-A6F1-43A0-A3EE-4D4A26486E8C}"/>
                  </a:ext>
                </a:extLst>
              </p:cNvPr>
              <p:cNvSpPr/>
              <p:nvPr/>
            </p:nvSpPr>
            <p:spPr>
              <a:xfrm>
                <a:off x="6094207" y="1766504"/>
                <a:ext cx="6096000" cy="2862322"/>
              </a:xfrm>
              <a:prstGeom prst="rect">
                <a:avLst/>
              </a:prstGeom>
            </p:spPr>
            <p:txBody>
              <a:bodyPr>
                <a:spAutoFit/>
              </a:bodyPr>
              <a:lstStyle/>
              <a:p>
                <a:pPr lvl="1"/>
                <a:r>
                  <a:rPr lang="en-US" sz="2000" i="1" dirty="0"/>
                  <a:t>Minimize	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sSub>
                          <m:sSubPr>
                            <m:ctrlPr>
                              <a:rPr lang="en-US" sz="2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sz="2000" i="1">
                        <a:latin typeface="Cambria Math" panose="02040503050406030204" pitchFamily="18" charset="0"/>
                      </a:rPr>
                      <m:t>−2</m:t>
                    </m:r>
                    <m:sSub>
                      <m:sSub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</m:oMath>
                </a14:m>
                <a:endParaRPr lang="en-US" sz="2000" dirty="0"/>
              </a:p>
              <a:p>
                <a:pPr lvl="1"/>
                <a:r>
                  <a:rPr lang="en-US" sz="2000" i="1" dirty="0"/>
                  <a:t>subject to	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sSub>
                          <m:sSubPr>
                            <m:ctrlPr>
                              <a:rPr lang="en-US" sz="2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13</m:t>
                    </m:r>
                  </m:oMath>
                </a14:m>
                <a:r>
                  <a:rPr lang="en-US" sz="2000" dirty="0"/>
                  <a:t>	</a:t>
                </a:r>
              </a:p>
              <a:p>
                <a:pPr lvl="1"/>
                <a:r>
                  <a:rPr lang="en-US" sz="2000" dirty="0"/>
                  <a:t>		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2000" i="1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   </m:t>
                        </m:r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sSub>
                      <m:sSub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+ 5</m:t>
                        </m:r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17</m:t>
                    </m:r>
                  </m:oMath>
                </a14:m>
                <a:endParaRPr lang="en-US" sz="2000" dirty="0"/>
              </a:p>
              <a:p>
                <a:pPr lvl="1"/>
                <a:r>
                  <a:rPr lang="en-US" sz="2000" dirty="0"/>
                  <a:t>		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endParaRPr lang="en-US" sz="2000" i="1" dirty="0">
                  <a:latin typeface="Cambria Math" panose="02040503050406030204" pitchFamily="18" charset="0"/>
                </a:endParaRPr>
              </a:p>
              <a:p>
                <a:pPr lvl="1"/>
                <a:r>
                  <a:rPr lang="en-US" sz="2000" dirty="0"/>
                  <a:t>		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2000" i="1">
                        <a:latin typeface="Cambria Math" panose="02040503050406030204" pitchFamily="18" charset="0"/>
                      </a:rPr>
                      <m:t>≤0, </m:t>
                    </m:r>
                  </m:oMath>
                </a14:m>
                <a:endParaRPr lang="en-US" sz="2000" i="1" dirty="0">
                  <a:latin typeface="Cambria Math" panose="02040503050406030204" pitchFamily="18" charset="0"/>
                </a:endParaRPr>
              </a:p>
              <a:p>
                <a:pPr lvl="1"/>
                <a:r>
                  <a:rPr lang="en-US" sz="2000" dirty="0"/>
                  <a:t>		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sz="2000" i="1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𝑢𝑛𝑟𝑒𝑠𝑡𝑟𝑖𝑐𝑡𝑒𝑑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,</m:t>
                    </m:r>
                  </m:oMath>
                </a14:m>
                <a:endParaRPr lang="en-US" sz="2000" i="1" dirty="0">
                  <a:latin typeface="Cambria Math" panose="02040503050406030204" pitchFamily="18" charset="0"/>
                </a:endParaRPr>
              </a:p>
              <a:p>
                <a:pPr lvl="1"/>
                <a:r>
                  <a:rPr lang="en-US" sz="2000" dirty="0"/>
                  <a:t>		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a:rPr lang="en-US" sz="2000" i="1">
                        <a:latin typeface="Cambria Math" panose="02040503050406030204" pitchFamily="18" charset="0"/>
                      </a:rPr>
                      <m:t>≥0,</m:t>
                    </m:r>
                  </m:oMath>
                </a14:m>
                <a:endParaRPr lang="en-US" sz="2000" i="1" dirty="0">
                  <a:latin typeface="Cambria Math" panose="02040503050406030204" pitchFamily="18" charset="0"/>
                </a:endParaRPr>
              </a:p>
              <a:p>
                <a:r>
                  <a:rPr lang="en-US" sz="2000" dirty="0"/>
                  <a:t>		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2000" i="1">
                        <a:latin typeface="Cambria Math" panose="02040503050406030204" pitchFamily="18" charset="0"/>
                      </a:rPr>
                      <m:t>≥0</m:t>
                    </m:r>
                  </m:oMath>
                </a14:m>
                <a:endParaRPr lang="en-US" sz="2000" i="1" dirty="0">
                  <a:latin typeface="Cambria Math" panose="02040503050406030204" pitchFamily="18" charset="0"/>
                </a:endParaRPr>
              </a:p>
              <a:p>
                <a:pPr lvl="1"/>
                <a:r>
                  <a:rPr lang="en-US" sz="2000" dirty="0"/>
                  <a:t>		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sz="2000" b="0" i="0" smtClean="0">
                            <a:latin typeface="Cambria Math" panose="02040503050406030204" pitchFamily="18" charset="0"/>
                          </a:rPr>
                          <m:t>s</m:t>
                        </m:r>
                      </m:e>
                      <m:sub>
                        <m:r>
                          <a:rPr lang="en-US" sz="2000" b="0" i="0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sz="2000" i="1">
                        <a:latin typeface="Cambria Math" panose="02040503050406030204" pitchFamily="18" charset="0"/>
                      </a:rPr>
                      <m:t>≥0</m:t>
                    </m:r>
                  </m:oMath>
                </a14:m>
                <a:endParaRPr lang="en-US" sz="2000" i="1" dirty="0"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6" name="Rectangle 5">
                <a:extLst>
                  <a:ext uri="{FF2B5EF4-FFF2-40B4-BE49-F238E27FC236}">
                    <a16:creationId xmlns:a16="http://schemas.microsoft.com/office/drawing/2014/main" id="{6635F16F-A6F1-43A0-A3EE-4D4A26486E8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94207" y="1766504"/>
                <a:ext cx="6096000" cy="2862322"/>
              </a:xfrm>
              <a:prstGeom prst="rect">
                <a:avLst/>
              </a:prstGeom>
              <a:blipFill>
                <a:blip r:embed="rId4"/>
                <a:stretch>
                  <a:fillRect t="-127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Arrow: Right 6">
            <a:extLst>
              <a:ext uri="{FF2B5EF4-FFF2-40B4-BE49-F238E27FC236}">
                <a16:creationId xmlns:a16="http://schemas.microsoft.com/office/drawing/2014/main" id="{83886AA1-E962-4075-A882-5E297E697B1C}"/>
              </a:ext>
            </a:extLst>
          </p:cNvPr>
          <p:cNvSpPr/>
          <p:nvPr/>
        </p:nvSpPr>
        <p:spPr>
          <a:xfrm>
            <a:off x="5373770" y="3043776"/>
            <a:ext cx="1440873" cy="519613"/>
          </a:xfrm>
          <a:prstGeom prst="rightArrow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10FC67E-5757-46FD-B83F-66B2DF65BC4F}"/>
              </a:ext>
            </a:extLst>
          </p:cNvPr>
          <p:cNvSpPr/>
          <p:nvPr/>
        </p:nvSpPr>
        <p:spPr>
          <a:xfrm>
            <a:off x="2044931" y="2194560"/>
            <a:ext cx="2671156" cy="925484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F682CD8D-3AA1-43E8-B4E1-97EC40D3A602}"/>
              </a:ext>
            </a:extLst>
          </p:cNvPr>
          <p:cNvSpPr/>
          <p:nvPr/>
        </p:nvSpPr>
        <p:spPr>
          <a:xfrm>
            <a:off x="7861069" y="2136235"/>
            <a:ext cx="3211483" cy="907542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9F4100C-C276-467A-9929-DFC8C099B161}"/>
              </a:ext>
            </a:extLst>
          </p:cNvPr>
          <p:cNvSpPr/>
          <p:nvPr/>
        </p:nvSpPr>
        <p:spPr>
          <a:xfrm>
            <a:off x="7924800" y="3940097"/>
            <a:ext cx="997527" cy="748281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93505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 animBg="1"/>
      <p:bldP spid="8" grpId="0" animBg="1"/>
      <p:bldP spid="9" grpId="0" animBg="1"/>
      <p:bldP spid="10" grpId="0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800" dirty="0"/>
              <a:t>A small example:</a:t>
            </a:r>
          </a:p>
          <a:p>
            <a:endParaRPr lang="en-US" dirty="0"/>
          </a:p>
          <a:p>
            <a:endParaRPr lang="en-US" sz="2800" dirty="0"/>
          </a:p>
          <a:p>
            <a:endParaRPr lang="en-US" dirty="0"/>
          </a:p>
          <a:p>
            <a:endParaRPr lang="en-US" sz="2800" dirty="0"/>
          </a:p>
          <a:p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Rectangle 13">
                <a:extLst>
                  <a:ext uri="{FF2B5EF4-FFF2-40B4-BE49-F238E27FC236}">
                    <a16:creationId xmlns:a16="http://schemas.microsoft.com/office/drawing/2014/main" id="{E807CD56-8155-4D44-8296-92A71AFA4DB5}"/>
                  </a:ext>
                </a:extLst>
              </p:cNvPr>
              <p:cNvSpPr/>
              <p:nvPr/>
            </p:nvSpPr>
            <p:spPr>
              <a:xfrm>
                <a:off x="527808" y="1738032"/>
                <a:ext cx="6096000" cy="2862322"/>
              </a:xfrm>
              <a:prstGeom prst="rect">
                <a:avLst/>
              </a:prstGeom>
            </p:spPr>
            <p:txBody>
              <a:bodyPr>
                <a:spAutoFit/>
              </a:bodyPr>
              <a:lstStyle/>
              <a:p>
                <a:pPr lvl="1"/>
                <a:r>
                  <a:rPr lang="en-US" sz="2000" i="1" dirty="0"/>
                  <a:t>Minimize	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sSub>
                          <m:sSubPr>
                            <m:ctrlPr>
                              <a:rPr lang="en-US" sz="2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sz="2000" i="1">
                        <a:latin typeface="Cambria Math" panose="02040503050406030204" pitchFamily="18" charset="0"/>
                      </a:rPr>
                      <m:t>−2</m:t>
                    </m:r>
                    <m:sSub>
                      <m:sSub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</m:oMath>
                </a14:m>
                <a:endParaRPr lang="en-US" sz="2000" dirty="0"/>
              </a:p>
              <a:p>
                <a:pPr lvl="1"/>
                <a:r>
                  <a:rPr lang="en-US" sz="2000" i="1" dirty="0"/>
                  <a:t>subject to	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sSub>
                          <m:sSubPr>
                            <m:ctrlPr>
                              <a:rPr lang="en-US" sz="2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13</m:t>
                    </m:r>
                  </m:oMath>
                </a14:m>
                <a:r>
                  <a:rPr lang="en-US" sz="2000" dirty="0"/>
                  <a:t>	</a:t>
                </a:r>
              </a:p>
              <a:p>
                <a:pPr lvl="1"/>
                <a:r>
                  <a:rPr lang="en-US" sz="2000" dirty="0"/>
                  <a:t>		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2000" i="1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   </m:t>
                        </m:r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sSub>
                      <m:sSub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+ 5</m:t>
                        </m:r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17</m:t>
                    </m:r>
                  </m:oMath>
                </a14:m>
                <a:endParaRPr lang="en-US" sz="2000" dirty="0"/>
              </a:p>
              <a:p>
                <a:pPr lvl="1"/>
                <a:r>
                  <a:rPr lang="en-US" sz="2000" dirty="0"/>
                  <a:t>		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endParaRPr lang="en-US" sz="2000" i="1" dirty="0">
                  <a:latin typeface="Cambria Math" panose="02040503050406030204" pitchFamily="18" charset="0"/>
                </a:endParaRPr>
              </a:p>
              <a:p>
                <a:pPr lvl="1"/>
                <a:r>
                  <a:rPr lang="en-US" sz="2000" dirty="0"/>
                  <a:t>		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2000" i="1">
                        <a:latin typeface="Cambria Math" panose="02040503050406030204" pitchFamily="18" charset="0"/>
                      </a:rPr>
                      <m:t>≤0, </m:t>
                    </m:r>
                  </m:oMath>
                </a14:m>
                <a:endParaRPr lang="en-US" sz="2000" i="1" dirty="0">
                  <a:latin typeface="Cambria Math" panose="02040503050406030204" pitchFamily="18" charset="0"/>
                </a:endParaRPr>
              </a:p>
              <a:p>
                <a:pPr lvl="1"/>
                <a:r>
                  <a:rPr lang="en-US" sz="2000" dirty="0"/>
                  <a:t>		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sz="2000" i="1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𝑢𝑛𝑟𝑒𝑠𝑡𝑟𝑖𝑐𝑡𝑒𝑑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,</m:t>
                    </m:r>
                  </m:oMath>
                </a14:m>
                <a:endParaRPr lang="en-US" sz="2000" i="1" dirty="0">
                  <a:latin typeface="Cambria Math" panose="02040503050406030204" pitchFamily="18" charset="0"/>
                </a:endParaRPr>
              </a:p>
              <a:p>
                <a:pPr lvl="1"/>
                <a:r>
                  <a:rPr lang="en-US" sz="2000" dirty="0"/>
                  <a:t>		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a:rPr lang="en-US" sz="2000" i="1">
                        <a:latin typeface="Cambria Math" panose="02040503050406030204" pitchFamily="18" charset="0"/>
                      </a:rPr>
                      <m:t>≥0,</m:t>
                    </m:r>
                  </m:oMath>
                </a14:m>
                <a:endParaRPr lang="en-US" sz="2000" i="1" dirty="0">
                  <a:latin typeface="Cambria Math" panose="02040503050406030204" pitchFamily="18" charset="0"/>
                </a:endParaRPr>
              </a:p>
              <a:p>
                <a:r>
                  <a:rPr lang="en-US" sz="2000" dirty="0"/>
                  <a:t>		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2000" i="1">
                        <a:latin typeface="Cambria Math" panose="02040503050406030204" pitchFamily="18" charset="0"/>
                      </a:rPr>
                      <m:t>≥0</m:t>
                    </m:r>
                  </m:oMath>
                </a14:m>
                <a:endParaRPr lang="en-US" sz="2000" i="1" dirty="0">
                  <a:latin typeface="Cambria Math" panose="02040503050406030204" pitchFamily="18" charset="0"/>
                </a:endParaRPr>
              </a:p>
              <a:p>
                <a:pPr lvl="1"/>
                <a:r>
                  <a:rPr lang="en-US" sz="2000" dirty="0"/>
                  <a:t>		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sz="2000" b="0" i="0" smtClean="0">
                            <a:latin typeface="Cambria Math" panose="02040503050406030204" pitchFamily="18" charset="0"/>
                          </a:rPr>
                          <m:t>s</m:t>
                        </m:r>
                      </m:e>
                      <m:sub>
                        <m:r>
                          <a:rPr lang="en-US" sz="2000" b="0" i="0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sz="2000" i="1">
                        <a:latin typeface="Cambria Math" panose="02040503050406030204" pitchFamily="18" charset="0"/>
                      </a:rPr>
                      <m:t>≥0</m:t>
                    </m:r>
                  </m:oMath>
                </a14:m>
                <a:endParaRPr lang="en-US" sz="2000" i="1" dirty="0"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14" name="Rectangle 13">
                <a:extLst>
                  <a:ext uri="{FF2B5EF4-FFF2-40B4-BE49-F238E27FC236}">
                    <a16:creationId xmlns:a16="http://schemas.microsoft.com/office/drawing/2014/main" id="{E807CD56-8155-4D44-8296-92A71AFA4DB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7808" y="1738032"/>
                <a:ext cx="6096000" cy="2862322"/>
              </a:xfrm>
              <a:prstGeom prst="rect">
                <a:avLst/>
              </a:prstGeom>
              <a:blipFill>
                <a:blip r:embed="rId2"/>
                <a:stretch>
                  <a:fillRect t="-106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Matrix Notation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274DA774-61E4-4CC1-8999-99748281E9E3}"/>
              </a:ext>
            </a:extLst>
          </p:cNvPr>
          <p:cNvSpPr/>
          <p:nvPr/>
        </p:nvSpPr>
        <p:spPr>
          <a:xfrm>
            <a:off x="2294974" y="3009206"/>
            <a:ext cx="2125368" cy="1591147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Rectangular Callout 4">
                <a:extLst>
                  <a:ext uri="{FF2B5EF4-FFF2-40B4-BE49-F238E27FC236}">
                    <a16:creationId xmlns:a16="http://schemas.microsoft.com/office/drawing/2014/main" id="{038311EA-E945-4BB4-B159-1C1722DCF039}"/>
                  </a:ext>
                </a:extLst>
              </p:cNvPr>
              <p:cNvSpPr/>
              <p:nvPr/>
            </p:nvSpPr>
            <p:spPr bwMode="auto">
              <a:xfrm>
                <a:off x="180028" y="4775118"/>
                <a:ext cx="1983645" cy="1132227"/>
              </a:xfrm>
              <a:prstGeom prst="wedgeRectCallout">
                <a:avLst>
                  <a:gd name="adj1" fmla="val 61782"/>
                  <a:gd name="adj2" fmla="val -188639"/>
                </a:avLst>
              </a:prstGeom>
              <a:noFill/>
              <a:ln w="34925" cap="flat" cmpd="dbl" algn="ctr">
                <a:solidFill>
                  <a:srgbClr val="FF0000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91440" rIns="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r>
                  <a:rPr lang="en-US" dirty="0"/>
                  <a:t>Define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sz="1600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bSup>
                    <m:r>
                      <a:rPr lang="en-US" sz="1600" i="1">
                        <a:latin typeface="Cambria Math" panose="02040503050406030204" pitchFamily="18" charset="0"/>
                      </a:rPr>
                      <m:t>=−</m:t>
                    </m:r>
                    <m:sSub>
                      <m:sSubPr>
                        <m:ctrlPr>
                          <a:rPr lang="en-US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sz="1600" dirty="0"/>
                  <a:t> note that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1600" i="1">
                        <a:latin typeface="Cambria Math" panose="02040503050406030204" pitchFamily="18" charset="0"/>
                      </a:rPr>
                      <m:t>=−</m:t>
                    </m:r>
                    <m:sSubSup>
                      <m:sSubSupPr>
                        <m:ctrlPr>
                          <a:rPr lang="en-US" sz="1600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bSup>
                  </m:oMath>
                </a14:m>
                <a:endParaRPr lang="en-US" sz="1600" dirty="0"/>
              </a:p>
              <a:p>
                <a:r>
                  <a:rPr lang="en-US" sz="1600" dirty="0"/>
                  <a:t>Replace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6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sz="1600" dirty="0"/>
                  <a:t> with </a:t>
                </a:r>
                <a14:m>
                  <m:oMath xmlns:m="http://schemas.openxmlformats.org/officeDocument/2006/math">
                    <m:r>
                      <a:rPr lang="en-US" sz="1600" i="1">
                        <a:latin typeface="Cambria Math" panose="02040503050406030204" pitchFamily="18" charset="0"/>
                      </a:rPr>
                      <m:t>−</m:t>
                    </m:r>
                    <m:sSubSup>
                      <m:sSubSupPr>
                        <m:ctrlPr>
                          <a:rPr lang="en-US" sz="1600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bSup>
                  </m:oMath>
                </a14:m>
                <a:r>
                  <a:rPr lang="en-US" sz="1600" dirty="0"/>
                  <a:t> in the model</a:t>
                </a:r>
              </a:p>
            </p:txBody>
          </p:sp>
        </mc:Choice>
        <mc:Fallback xmlns="">
          <p:sp>
            <p:nvSpPr>
              <p:cNvPr id="9" name="Rectangular Callout 4">
                <a:extLst>
                  <a:ext uri="{FF2B5EF4-FFF2-40B4-BE49-F238E27FC236}">
                    <a16:creationId xmlns:a16="http://schemas.microsoft.com/office/drawing/2014/main" id="{038311EA-E945-4BB4-B159-1C1722DCF03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80028" y="4775118"/>
                <a:ext cx="1983645" cy="1132227"/>
              </a:xfrm>
              <a:prstGeom prst="wedgeRectCallout">
                <a:avLst>
                  <a:gd name="adj1" fmla="val 61782"/>
                  <a:gd name="adj2" fmla="val -188639"/>
                </a:avLst>
              </a:prstGeom>
              <a:blipFill>
                <a:blip r:embed="rId3"/>
                <a:stretch>
                  <a:fillRect l="-1622" b="-2667"/>
                </a:stretch>
              </a:blipFill>
              <a:ln w="34925" cap="flat" cmpd="dbl" algn="ctr">
                <a:solidFill>
                  <a:srgbClr val="FF0000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Rectangular Callout 5">
                <a:extLst>
                  <a:ext uri="{FF2B5EF4-FFF2-40B4-BE49-F238E27FC236}">
                    <a16:creationId xmlns:a16="http://schemas.microsoft.com/office/drawing/2014/main" id="{DD9A5C3E-8423-4FEE-A257-D2875FE5605E}"/>
                  </a:ext>
                </a:extLst>
              </p:cNvPr>
              <p:cNvSpPr/>
              <p:nvPr/>
            </p:nvSpPr>
            <p:spPr bwMode="auto">
              <a:xfrm>
                <a:off x="3007871" y="4925594"/>
                <a:ext cx="2330235" cy="831273"/>
              </a:xfrm>
              <a:prstGeom prst="wedgeRectCallout">
                <a:avLst>
                  <a:gd name="adj1" fmla="val -31594"/>
                  <a:gd name="adj2" fmla="val -211870"/>
                </a:avLst>
              </a:prstGeom>
              <a:noFill/>
              <a:ln w="34925" cap="flat" cmpd="dbl" algn="ctr">
                <a:solidFill>
                  <a:srgbClr val="FF0000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r>
                  <a:rPr lang="en-US" dirty="0"/>
                  <a:t>Define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sz="1600" i="1">
                        <a:latin typeface="Cambria Math" panose="02040503050406030204" pitchFamily="18" charset="0"/>
                      </a:rPr>
                      <m:t>=</m:t>
                    </m:r>
                    <m:sSubSup>
                      <m:sSubSupPr>
                        <m:ctrlPr>
                          <a:rPr lang="en-US" sz="1600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  <m:sup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bSup>
                    <m:r>
                      <a:rPr lang="en-US" sz="1600" i="1">
                        <a:latin typeface="Cambria Math" panose="02040503050406030204" pitchFamily="18" charset="0"/>
                      </a:rPr>
                      <m:t>−</m:t>
                    </m:r>
                    <m:sSubSup>
                      <m:sSubSupPr>
                        <m:ctrlPr>
                          <a:rPr lang="en-US" sz="1600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  <m:sup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′′</m:t>
                        </m:r>
                      </m:sup>
                    </m:sSubSup>
                  </m:oMath>
                </a14:m>
                <a:endParaRPr lang="en-US" sz="1600" dirty="0"/>
              </a:p>
              <a:p>
                <a:r>
                  <a:rPr lang="en-US" sz="1600" dirty="0"/>
                  <a:t>Replace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sz="1600" dirty="0"/>
                  <a:t> with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sz="1600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  <m:sup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bSup>
                    <m:r>
                      <a:rPr lang="en-US" sz="1600" i="1">
                        <a:latin typeface="Cambria Math" panose="02040503050406030204" pitchFamily="18" charset="0"/>
                      </a:rPr>
                      <m:t>−</m:t>
                    </m:r>
                    <m:sSubSup>
                      <m:sSubSupPr>
                        <m:ctrlPr>
                          <a:rPr lang="en-US" sz="1600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  <m:sup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′′</m:t>
                        </m:r>
                      </m:sup>
                    </m:sSubSup>
                  </m:oMath>
                </a14:m>
                <a:r>
                  <a:rPr lang="en-US" sz="1600" dirty="0"/>
                  <a:t> in the model</a:t>
                </a:r>
              </a:p>
            </p:txBody>
          </p:sp>
        </mc:Choice>
        <mc:Fallback xmlns="">
          <p:sp>
            <p:nvSpPr>
              <p:cNvPr id="10" name="Rectangular Callout 5">
                <a:extLst>
                  <a:ext uri="{FF2B5EF4-FFF2-40B4-BE49-F238E27FC236}">
                    <a16:creationId xmlns:a16="http://schemas.microsoft.com/office/drawing/2014/main" id="{DD9A5C3E-8423-4FEE-A257-D2875FE5605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007871" y="4925594"/>
                <a:ext cx="2330235" cy="831273"/>
              </a:xfrm>
              <a:prstGeom prst="wedgeRectCallout">
                <a:avLst>
                  <a:gd name="adj1" fmla="val -31594"/>
                  <a:gd name="adj2" fmla="val -211870"/>
                </a:avLst>
              </a:prstGeom>
              <a:blipFill>
                <a:blip r:embed="rId4"/>
                <a:stretch>
                  <a:fillRect l="-1285" b="-3857"/>
                </a:stretch>
              </a:blipFill>
              <a:ln w="34925" cap="flat" cmpd="dbl" algn="ctr">
                <a:solidFill>
                  <a:srgbClr val="FF0000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Rectangle 10">
                <a:extLst>
                  <a:ext uri="{FF2B5EF4-FFF2-40B4-BE49-F238E27FC236}">
                    <a16:creationId xmlns:a16="http://schemas.microsoft.com/office/drawing/2014/main" id="{BE46365D-B998-41FA-AF4C-D13E59BA1E40}"/>
                  </a:ext>
                </a:extLst>
              </p:cNvPr>
              <p:cNvSpPr/>
              <p:nvPr/>
            </p:nvSpPr>
            <p:spPr>
              <a:xfrm>
                <a:off x="5648442" y="1658926"/>
                <a:ext cx="6543557" cy="3477875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lvl="1"/>
                <a:r>
                  <a:rPr lang="en-US" sz="2000" i="1" dirty="0"/>
                  <a:t>Minimize	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−</m:t>
                    </m:r>
                    <m:sSubSup>
                      <m:sSubSup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sSubSup>
                          <m:sSubSupPr>
                            <m:ctrlPr>
                              <a:rPr lang="en-US" sz="2000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  <m:sup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bSup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  <m:sup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bSup>
                    <m:r>
                      <a:rPr lang="en-US" sz="2000" i="1">
                        <a:latin typeface="Cambria Math" panose="02040503050406030204" pitchFamily="18" charset="0"/>
                      </a:rPr>
                      <m:t>−</m:t>
                    </m:r>
                    <m:sSubSup>
                      <m:sSubSup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  <m:sup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′′</m:t>
                        </m:r>
                      </m:sup>
                    </m:sSubSup>
                    <m:r>
                      <a:rPr lang="en-US" sz="2000" i="1">
                        <a:latin typeface="Cambria Math" panose="02040503050406030204" pitchFamily="18" charset="0"/>
                      </a:rPr>
                      <m:t>−2</m:t>
                    </m:r>
                    <m:sSub>
                      <m:sSub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</m:oMath>
                </a14:m>
                <a:endParaRPr lang="en-US" sz="2000" dirty="0"/>
              </a:p>
              <a:p>
                <a:pPr lvl="1"/>
                <a:r>
                  <a:rPr lang="en-US" sz="2000" i="1" dirty="0"/>
                  <a:t>subject to	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sSub>
                          <m:sSubPr>
                            <m:ctrlPr>
                              <a:rPr lang="en-US" sz="2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′</m:t>
                            </m:r>
                          </m:e>
                          <m:sub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′</m:t>
                        </m:r>
                      </m:e>
                      <m:sub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+2</m:t>
                    </m:r>
                    <m:sSubSup>
                      <m:sSubSup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  <m:sup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′′</m:t>
                        </m:r>
                      </m:sup>
                    </m:sSubSup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13</m:t>
                    </m:r>
                  </m:oMath>
                </a14:m>
                <a:r>
                  <a:rPr lang="en-US" sz="2000" dirty="0"/>
                  <a:t>		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′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2000" i="1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   </m:t>
                        </m:r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′</m:t>
                        </m:r>
                      </m:e>
                      <m:sub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−</m:t>
                    </m:r>
                    <m:sSubSup>
                      <m:sSubSup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  <m:sup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′′</m:t>
                        </m:r>
                      </m:sup>
                    </m:sSubSup>
                    <m:sSub>
                      <m:sSub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+ 5</m:t>
                        </m:r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17</m:t>
                    </m:r>
                  </m:oMath>
                </a14:m>
                <a:endParaRPr lang="en-US" sz="2000" dirty="0"/>
              </a:p>
              <a:p>
                <a:pPr lvl="1"/>
                <a:r>
                  <a:rPr lang="en-US" sz="2000" dirty="0"/>
                  <a:t>		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a:rPr lang="en-US" sz="2000" i="1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sz="2000" i="1">
                        <a:latin typeface="Cambria Math" panose="02040503050406030204" pitchFamily="18" charset="0"/>
                      </a:rPr>
                      <m:t>=4</m:t>
                    </m:r>
                  </m:oMath>
                </a14:m>
                <a:endParaRPr lang="en-US" sz="2000" i="1" dirty="0">
                  <a:latin typeface="Cambria Math" panose="02040503050406030204" pitchFamily="18" charset="0"/>
                </a:endParaRPr>
              </a:p>
              <a:p>
                <a:pPr lvl="1"/>
                <a:r>
                  <a:rPr lang="en-US" sz="2000" dirty="0"/>
                  <a:t>		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′</m:t>
                        </m:r>
                      </m:e>
                      <m:sub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≥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0, </m:t>
                    </m:r>
                  </m:oMath>
                </a14:m>
                <a:endParaRPr lang="en-US" sz="2000" i="1" dirty="0">
                  <a:latin typeface="Cambria Math" panose="02040503050406030204" pitchFamily="18" charset="0"/>
                </a:endParaRPr>
              </a:p>
              <a:p>
                <a:pPr lvl="1"/>
                <a:r>
                  <a:rPr lang="en-US" sz="2000" dirty="0"/>
                  <a:t>		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′</m:t>
                        </m:r>
                      </m:e>
                      <m:sub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≥0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,</m:t>
                    </m:r>
                  </m:oMath>
                </a14:m>
                <a:endParaRPr lang="en-US" sz="2000" i="1" dirty="0">
                  <a:latin typeface="Cambria Math" panose="02040503050406030204" pitchFamily="18" charset="0"/>
                </a:endParaRPr>
              </a:p>
              <a:p>
                <a:pPr lvl="1"/>
                <a:r>
                  <a:rPr lang="en-US" sz="2000" i="1" dirty="0">
                    <a:latin typeface="Cambria Math" panose="02040503050406030204" pitchFamily="18" charset="0"/>
                  </a:rPr>
                  <a:t>		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′′</m:t>
                        </m:r>
                      </m:e>
                      <m:sub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sz="2000" i="1">
                        <a:latin typeface="Cambria Math" panose="02040503050406030204" pitchFamily="18" charset="0"/>
                      </a:rPr>
                      <m:t>≥0,</m:t>
                    </m:r>
                  </m:oMath>
                </a14:m>
                <a:endParaRPr lang="en-US" sz="2000" i="1" dirty="0">
                  <a:latin typeface="Cambria Math" panose="02040503050406030204" pitchFamily="18" charset="0"/>
                </a:endParaRPr>
              </a:p>
              <a:p>
                <a:pPr lvl="1"/>
                <a:r>
                  <a:rPr lang="en-US" sz="2000" dirty="0"/>
                  <a:t>		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a:rPr lang="en-US" sz="2000" i="1">
                        <a:latin typeface="Cambria Math" panose="02040503050406030204" pitchFamily="18" charset="0"/>
                      </a:rPr>
                      <m:t>≥0,</m:t>
                    </m:r>
                  </m:oMath>
                </a14:m>
                <a:endParaRPr lang="en-US" sz="2000" i="1" dirty="0">
                  <a:latin typeface="Cambria Math" panose="02040503050406030204" pitchFamily="18" charset="0"/>
                </a:endParaRPr>
              </a:p>
              <a:p>
                <a:r>
                  <a:rPr lang="en-US" sz="2000" dirty="0"/>
                  <a:t>		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2000" i="1">
                        <a:latin typeface="Cambria Math" panose="02040503050406030204" pitchFamily="18" charset="0"/>
                      </a:rPr>
                      <m:t>≥0</m:t>
                    </m:r>
                  </m:oMath>
                </a14:m>
                <a:endParaRPr lang="en-US" sz="2000" i="1" dirty="0">
                  <a:latin typeface="Cambria Math" panose="02040503050406030204" pitchFamily="18" charset="0"/>
                </a:endParaRPr>
              </a:p>
              <a:p>
                <a:pPr lvl="1"/>
                <a:r>
                  <a:rPr lang="en-US" sz="2000" dirty="0"/>
                  <a:t>		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sz="2000">
                            <a:latin typeface="Cambria Math" panose="02040503050406030204" pitchFamily="18" charset="0"/>
                          </a:rPr>
                          <m:t>s</m:t>
                        </m:r>
                      </m:e>
                      <m:sub>
                        <m:r>
                          <a:rPr lang="en-US" sz="200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sz="2000" i="1">
                        <a:latin typeface="Cambria Math" panose="02040503050406030204" pitchFamily="18" charset="0"/>
                      </a:rPr>
                      <m:t>≥0</m:t>
                    </m:r>
                  </m:oMath>
                </a14:m>
                <a:endParaRPr lang="en-US" sz="2000" i="1" dirty="0">
                  <a:latin typeface="Cambria Math" panose="02040503050406030204" pitchFamily="18" charset="0"/>
                </a:endParaRPr>
              </a:p>
              <a:p>
                <a:pPr lvl="1"/>
                <a:endParaRPr lang="en-US" sz="2000" i="1" dirty="0"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11" name="Rectangle 10">
                <a:extLst>
                  <a:ext uri="{FF2B5EF4-FFF2-40B4-BE49-F238E27FC236}">
                    <a16:creationId xmlns:a16="http://schemas.microsoft.com/office/drawing/2014/main" id="{BE46365D-B998-41FA-AF4C-D13E59BA1E4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48442" y="1658926"/>
                <a:ext cx="6543557" cy="3477875"/>
              </a:xfrm>
              <a:prstGeom prst="rect">
                <a:avLst/>
              </a:prstGeom>
              <a:blipFill>
                <a:blip r:embed="rId5"/>
                <a:stretch>
                  <a:fillRect t="-87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Rectangle 11">
            <a:extLst>
              <a:ext uri="{FF2B5EF4-FFF2-40B4-BE49-F238E27FC236}">
                <a16:creationId xmlns:a16="http://schemas.microsoft.com/office/drawing/2014/main" id="{83842A61-CC6E-4F47-94C9-8B8D9E2F5997}"/>
              </a:ext>
            </a:extLst>
          </p:cNvPr>
          <p:cNvSpPr/>
          <p:nvPr/>
        </p:nvSpPr>
        <p:spPr>
          <a:xfrm>
            <a:off x="7391942" y="2942705"/>
            <a:ext cx="1618293" cy="1832413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Arrow: Right 12">
            <a:extLst>
              <a:ext uri="{FF2B5EF4-FFF2-40B4-BE49-F238E27FC236}">
                <a16:creationId xmlns:a16="http://schemas.microsoft.com/office/drawing/2014/main" id="{E7C6C78E-FE4A-4604-A604-BD2FDC2E5684}"/>
              </a:ext>
            </a:extLst>
          </p:cNvPr>
          <p:cNvSpPr/>
          <p:nvPr/>
        </p:nvSpPr>
        <p:spPr>
          <a:xfrm>
            <a:off x="5182935" y="3169193"/>
            <a:ext cx="1440873" cy="519613"/>
          </a:xfrm>
          <a:prstGeom prst="rightArrow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1C0D817-D3CE-4910-A0AA-107FF209F858}"/>
              </a:ext>
            </a:extLst>
          </p:cNvPr>
          <p:cNvSpPr txBox="1"/>
          <p:nvPr/>
        </p:nvSpPr>
        <p:spPr>
          <a:xfrm>
            <a:off x="6483927" y="5292436"/>
            <a:ext cx="534948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If you want objective to be “maximization”, then multiply the objective function with -1…</a:t>
            </a:r>
          </a:p>
        </p:txBody>
      </p:sp>
    </p:spTree>
    <p:extLst>
      <p:ext uri="{BB962C8B-B14F-4D97-AF65-F5344CB8AC3E}">
        <p14:creationId xmlns:p14="http://schemas.microsoft.com/office/powerpoint/2010/main" val="25267859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  <p:bldP spid="10" grpId="0" animBg="1"/>
      <p:bldP spid="11" grpId="0"/>
      <p:bldP spid="12" grpId="0" animBg="1"/>
      <p:bldP spid="13" grpId="0" animBg="1"/>
      <p:bldP spid="5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14" name="Rectangle 13">
                <a:extLst>
                  <a:ext uri="{FF2B5EF4-FFF2-40B4-BE49-F238E27FC236}">
                    <a16:creationId xmlns:a16="http://schemas.microsoft.com/office/drawing/2014/main" id="{482C1023-3E32-40B6-B2F8-A10315870A34}"/>
                  </a:ext>
                </a:extLst>
              </p:cNvPr>
              <p:cNvSpPr/>
              <p:nvPr/>
            </p:nvSpPr>
            <p:spPr>
              <a:xfrm>
                <a:off x="5953243" y="1314604"/>
                <a:ext cx="6096000" cy="3477875"/>
              </a:xfrm>
              <a:prstGeom prst="rect">
                <a:avLst/>
              </a:prstGeom>
            </p:spPr>
            <p:txBody>
              <a:bodyPr>
                <a:spAutoFit/>
              </a:bodyPr>
              <a:lstStyle/>
              <a:p>
                <a:pPr lvl="1"/>
                <a:r>
                  <a:rPr lang="en-US" sz="2000" i="1" dirty="0"/>
                  <a:t>Minimize	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−</m:t>
                    </m:r>
                    <m:sSubSup>
                      <m:sSubSup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sSubSup>
                          <m:sSubSupPr>
                            <m:ctrlPr>
                              <a:rPr lang="en-US" sz="2000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  <m:sup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bSup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  <m:sup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bSup>
                    <m:r>
                      <a:rPr lang="en-US" sz="2000" i="1">
                        <a:latin typeface="Cambria Math" panose="02040503050406030204" pitchFamily="18" charset="0"/>
                      </a:rPr>
                      <m:t>−</m:t>
                    </m:r>
                    <m:sSubSup>
                      <m:sSubSup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  <m:sup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′′</m:t>
                        </m:r>
                      </m:sup>
                    </m:sSubSup>
                    <m:r>
                      <a:rPr lang="en-US" sz="2000" i="1">
                        <a:latin typeface="Cambria Math" panose="02040503050406030204" pitchFamily="18" charset="0"/>
                      </a:rPr>
                      <m:t>−2</m:t>
                    </m:r>
                    <m:sSub>
                      <m:sSub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</m:oMath>
                </a14:m>
                <a:endParaRPr lang="en-US" sz="2000" dirty="0"/>
              </a:p>
              <a:p>
                <a:pPr lvl="1"/>
                <a:r>
                  <a:rPr lang="en-US" sz="2000" i="1" dirty="0"/>
                  <a:t>subject to	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sSub>
                          <m:sSubPr>
                            <m:ctrlPr>
                              <a:rPr lang="en-US" sz="2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′</m:t>
                            </m:r>
                          </m:e>
                          <m:sub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′</m:t>
                        </m:r>
                      </m:e>
                      <m:sub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+2</m:t>
                    </m:r>
                    <m:sSubSup>
                      <m:sSubSup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  <m:sup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′′</m:t>
                        </m:r>
                      </m:sup>
                    </m:sSubSup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13</m:t>
                    </m:r>
                  </m:oMath>
                </a14:m>
                <a:r>
                  <a:rPr lang="en-US" sz="2000" dirty="0"/>
                  <a:t>		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′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2000" i="1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   </m:t>
                        </m:r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′</m:t>
                        </m:r>
                      </m:e>
                      <m:sub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−</m:t>
                    </m:r>
                    <m:sSubSup>
                      <m:sSubSup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  <m:sup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′′</m:t>
                        </m:r>
                      </m:sup>
                    </m:sSubSup>
                    <m:sSub>
                      <m:sSub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+ 5</m:t>
                        </m:r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17</m:t>
                    </m:r>
                  </m:oMath>
                </a14:m>
                <a:endParaRPr lang="en-US" sz="2000" dirty="0"/>
              </a:p>
              <a:p>
                <a:pPr lvl="1"/>
                <a:r>
                  <a:rPr lang="en-US" sz="2000" dirty="0"/>
                  <a:t>		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a:rPr lang="en-US" sz="2000" i="1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sz="2000" i="1">
                        <a:latin typeface="Cambria Math" panose="02040503050406030204" pitchFamily="18" charset="0"/>
                      </a:rPr>
                      <m:t>=4</m:t>
                    </m:r>
                  </m:oMath>
                </a14:m>
                <a:endParaRPr lang="en-US" sz="2000" i="1" dirty="0">
                  <a:latin typeface="Cambria Math" panose="02040503050406030204" pitchFamily="18" charset="0"/>
                </a:endParaRPr>
              </a:p>
              <a:p>
                <a:pPr lvl="1"/>
                <a:r>
                  <a:rPr lang="en-US" sz="2000" dirty="0"/>
                  <a:t>		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′</m:t>
                        </m:r>
                      </m:e>
                      <m:sub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≥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0, </m:t>
                    </m:r>
                  </m:oMath>
                </a14:m>
                <a:endParaRPr lang="en-US" sz="2000" i="1" dirty="0">
                  <a:latin typeface="Cambria Math" panose="02040503050406030204" pitchFamily="18" charset="0"/>
                </a:endParaRPr>
              </a:p>
              <a:p>
                <a:pPr lvl="1"/>
                <a:r>
                  <a:rPr lang="en-US" sz="2000" dirty="0"/>
                  <a:t>		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′</m:t>
                        </m:r>
                      </m:e>
                      <m:sub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≥0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,</m:t>
                    </m:r>
                  </m:oMath>
                </a14:m>
                <a:endParaRPr lang="en-US" sz="2000" i="1" dirty="0">
                  <a:latin typeface="Cambria Math" panose="02040503050406030204" pitchFamily="18" charset="0"/>
                </a:endParaRPr>
              </a:p>
              <a:p>
                <a:pPr lvl="1"/>
                <a:r>
                  <a:rPr lang="en-US" sz="2000" i="1" dirty="0">
                    <a:latin typeface="Cambria Math" panose="02040503050406030204" pitchFamily="18" charset="0"/>
                  </a:rPr>
                  <a:t>		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′′</m:t>
                        </m:r>
                      </m:e>
                      <m:sub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sz="2000" i="1">
                        <a:latin typeface="Cambria Math" panose="02040503050406030204" pitchFamily="18" charset="0"/>
                      </a:rPr>
                      <m:t>≥0,</m:t>
                    </m:r>
                  </m:oMath>
                </a14:m>
                <a:endParaRPr lang="en-US" sz="2000" i="1" dirty="0">
                  <a:latin typeface="Cambria Math" panose="02040503050406030204" pitchFamily="18" charset="0"/>
                </a:endParaRPr>
              </a:p>
              <a:p>
                <a:pPr lvl="1"/>
                <a:r>
                  <a:rPr lang="en-US" sz="2000" dirty="0"/>
                  <a:t>		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a:rPr lang="en-US" sz="2000" i="1">
                        <a:latin typeface="Cambria Math" panose="02040503050406030204" pitchFamily="18" charset="0"/>
                      </a:rPr>
                      <m:t>≥0,</m:t>
                    </m:r>
                  </m:oMath>
                </a14:m>
                <a:endParaRPr lang="en-US" sz="2000" i="1" dirty="0">
                  <a:latin typeface="Cambria Math" panose="02040503050406030204" pitchFamily="18" charset="0"/>
                </a:endParaRPr>
              </a:p>
              <a:p>
                <a:r>
                  <a:rPr lang="en-US" sz="2000" dirty="0"/>
                  <a:t>		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2000" i="1">
                        <a:latin typeface="Cambria Math" panose="02040503050406030204" pitchFamily="18" charset="0"/>
                      </a:rPr>
                      <m:t>≥0</m:t>
                    </m:r>
                  </m:oMath>
                </a14:m>
                <a:endParaRPr lang="en-US" sz="2000" i="1" dirty="0">
                  <a:latin typeface="Cambria Math" panose="02040503050406030204" pitchFamily="18" charset="0"/>
                </a:endParaRPr>
              </a:p>
              <a:p>
                <a:pPr lvl="1"/>
                <a:r>
                  <a:rPr lang="en-US" sz="2000" dirty="0"/>
                  <a:t>		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sz="2000">
                            <a:latin typeface="Cambria Math" panose="02040503050406030204" pitchFamily="18" charset="0"/>
                          </a:rPr>
                          <m:t>s</m:t>
                        </m:r>
                      </m:e>
                      <m:sub>
                        <m:r>
                          <a:rPr lang="en-US" sz="200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sz="2000" i="1">
                        <a:latin typeface="Cambria Math" panose="02040503050406030204" pitchFamily="18" charset="0"/>
                      </a:rPr>
                      <m:t>≥0</m:t>
                    </m:r>
                  </m:oMath>
                </a14:m>
                <a:endParaRPr lang="en-US" sz="2000" i="1" dirty="0">
                  <a:latin typeface="Cambria Math" panose="02040503050406030204" pitchFamily="18" charset="0"/>
                </a:endParaRPr>
              </a:p>
              <a:p>
                <a:pPr lvl="1"/>
                <a:endParaRPr lang="en-US" sz="2000" i="1" dirty="0"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14" name="Rectangle 13">
                <a:extLst>
                  <a:ext uri="{FF2B5EF4-FFF2-40B4-BE49-F238E27FC236}">
                    <a16:creationId xmlns:a16="http://schemas.microsoft.com/office/drawing/2014/main" id="{482C1023-3E32-40B6-B2F8-A10315870A3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53243" y="1314604"/>
                <a:ext cx="6096000" cy="3477875"/>
              </a:xfrm>
              <a:prstGeom prst="rect">
                <a:avLst/>
              </a:prstGeom>
              <a:blipFill>
                <a:blip r:embed="rId2"/>
                <a:stretch>
                  <a:fillRect t="-105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Matrix Notation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356795" y="1314604"/>
                <a:ext cx="11478410" cy="5383376"/>
              </a:xfrm>
            </p:spPr>
            <p:txBody>
              <a:bodyPr>
                <a:normAutofit/>
              </a:bodyPr>
              <a:lstStyle/>
              <a:p>
                <a:r>
                  <a:rPr lang="en-US" sz="2800" dirty="0"/>
                  <a:t>A small example:</a:t>
                </a:r>
              </a:p>
              <a:p>
                <a:endParaRPr lang="en-US" dirty="0"/>
              </a:p>
              <a:p>
                <a:endParaRPr lang="en-US" sz="2800" dirty="0"/>
              </a:p>
              <a:p>
                <a:endParaRPr lang="en-US" dirty="0"/>
              </a:p>
              <a:p>
                <a:endParaRPr lang="en-US" sz="2800" dirty="0"/>
              </a:p>
              <a:p>
                <a:pPr lvl="1"/>
                <a:r>
                  <a:rPr lang="en-US" dirty="0"/>
                  <a:t>Furthermore, let</a:t>
                </a:r>
              </a:p>
              <a:p>
                <a:pPr lvl="1"/>
                <a:endParaRPr lang="en-US" dirty="0"/>
              </a:p>
              <a:p>
                <a:pPr lvl="1"/>
                <a:endParaRPr lang="en-US" dirty="0"/>
              </a:p>
              <a:p>
                <a:pPr lvl="1"/>
                <a:endParaRPr lang="en-US" dirty="0"/>
              </a:p>
              <a:p>
                <a:pPr lvl="1"/>
                <a:endParaRPr lang="en-US" dirty="0"/>
              </a:p>
              <a:p>
                <a:pPr lvl="1"/>
                <a:r>
                  <a:rPr lang="en-US" dirty="0"/>
                  <a:t>Note that when you solve the new model, do not forget</a:t>
                </a:r>
              </a:p>
              <a:p>
                <a:pPr lvl="2"/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=−</m:t>
                    </m:r>
                    <m:sSubSup>
                      <m:sSub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bSup>
                  </m:oMath>
                </a14:m>
                <a:r>
                  <a:rPr lang="en-US" dirty="0"/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sSubSup>
                      <m:sSub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bSup>
                    <m:r>
                      <a:rPr lang="en-US" i="1">
                        <a:latin typeface="Cambria Math" panose="02040503050406030204" pitchFamily="18" charset="0"/>
                      </a:rPr>
                      <m:t>−</m:t>
                    </m:r>
                    <m:sSubSup>
                      <m:sSub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′′</m:t>
                        </m:r>
                      </m:sup>
                    </m:sSubSup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56795" y="1314604"/>
                <a:ext cx="11478410" cy="5383376"/>
              </a:xfrm>
              <a:blipFill>
                <a:blip r:embed="rId3"/>
                <a:stretch>
                  <a:fillRect l="-956" t="-192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>
                <a:extLst>
                  <a:ext uri="{FF2B5EF4-FFF2-40B4-BE49-F238E27FC236}">
                    <a16:creationId xmlns:a16="http://schemas.microsoft.com/office/drawing/2014/main" id="{B926818C-B7F3-4A19-9908-DDE9FD9DB969}"/>
                  </a:ext>
                </a:extLst>
              </p:cNvPr>
              <p:cNvSpPr/>
              <p:nvPr/>
            </p:nvSpPr>
            <p:spPr>
              <a:xfrm>
                <a:off x="216130" y="1727662"/>
                <a:ext cx="6096000" cy="2031325"/>
              </a:xfrm>
              <a:prstGeom prst="rect">
                <a:avLst/>
              </a:prstGeom>
            </p:spPr>
            <p:txBody>
              <a:bodyPr>
                <a:spAutoFit/>
              </a:bodyPr>
              <a:lstStyle/>
              <a:p>
                <a:pPr lvl="1"/>
                <a:r>
                  <a:rPr lang="en-US" i="1" dirty="0"/>
                  <a:t>Minimize	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i="1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−2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</m:oMath>
                </a14:m>
                <a:endParaRPr lang="en-US" dirty="0"/>
              </a:p>
              <a:p>
                <a:pPr lvl="1"/>
                <a:r>
                  <a:rPr lang="en-US" i="1" dirty="0"/>
                  <a:t>subject to	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i="1">
                            <a:latin typeface="Cambria Math" panose="02040503050406030204" pitchFamily="18" charset="0"/>
                          </a:rPr>
                          <m:t>−2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≥13</m:t>
                    </m:r>
                  </m:oMath>
                </a14:m>
                <a:r>
                  <a:rPr lang="en-US" dirty="0"/>
                  <a:t>	</a:t>
                </a:r>
              </a:p>
              <a:p>
                <a:pPr lvl="1"/>
                <a:r>
                  <a:rPr lang="en-US" dirty="0"/>
                  <a:t>		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   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+ 5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 =17</m:t>
                    </m:r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		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≤4</m:t>
                    </m:r>
                  </m:oMath>
                </a14:m>
                <a:endParaRPr lang="en-US" i="1" dirty="0">
                  <a:latin typeface="Cambria Math" panose="02040503050406030204" pitchFamily="18" charset="0"/>
                </a:endParaRPr>
              </a:p>
              <a:p>
                <a:pPr lvl="1"/>
                <a:r>
                  <a:rPr lang="en-US" dirty="0"/>
                  <a:t>		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≤0, </m:t>
                    </m:r>
                  </m:oMath>
                </a14:m>
                <a:endParaRPr lang="en-US" i="1" dirty="0">
                  <a:latin typeface="Cambria Math" panose="02040503050406030204" pitchFamily="18" charset="0"/>
                </a:endParaRPr>
              </a:p>
              <a:p>
                <a:pPr lvl="1"/>
                <a:r>
                  <a:rPr lang="en-US" dirty="0"/>
                  <a:t>		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𝑢𝑛𝑟𝑒𝑠𝑡𝑟𝑖𝑐𝑡𝑒𝑑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,</m:t>
                    </m:r>
                  </m:oMath>
                </a14:m>
                <a:endParaRPr lang="en-US" i="1" dirty="0">
                  <a:latin typeface="Cambria Math" panose="02040503050406030204" pitchFamily="18" charset="0"/>
                </a:endParaRPr>
              </a:p>
              <a:p>
                <a:pPr lvl="1"/>
                <a:r>
                  <a:rPr lang="en-US" dirty="0"/>
                  <a:t>		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≥0,</m:t>
                    </m:r>
                  </m:oMath>
                </a14:m>
                <a:endParaRPr lang="en-US" i="1" dirty="0"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4" name="Rectangle 3">
                <a:extLst>
                  <a:ext uri="{FF2B5EF4-FFF2-40B4-BE49-F238E27FC236}">
                    <a16:creationId xmlns:a16="http://schemas.microsoft.com/office/drawing/2014/main" id="{B926818C-B7F3-4A19-9908-DDE9FD9DB96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6130" y="1727662"/>
                <a:ext cx="6096000" cy="2031325"/>
              </a:xfrm>
              <a:prstGeom prst="rect">
                <a:avLst/>
              </a:prstGeom>
              <a:blipFill>
                <a:blip r:embed="rId4"/>
                <a:stretch>
                  <a:fillRect t="-149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Equals 4">
            <a:extLst>
              <a:ext uri="{FF2B5EF4-FFF2-40B4-BE49-F238E27FC236}">
                <a16:creationId xmlns:a16="http://schemas.microsoft.com/office/drawing/2014/main" id="{627DA4B8-B00E-462E-8BEA-22E812E2E02E}"/>
              </a:ext>
            </a:extLst>
          </p:cNvPr>
          <p:cNvSpPr/>
          <p:nvPr/>
        </p:nvSpPr>
        <p:spPr>
          <a:xfrm>
            <a:off x="4965469" y="2405149"/>
            <a:ext cx="1130531" cy="648393"/>
          </a:xfrm>
          <a:prstGeom prst="mathEqual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Rectangle 10">
                <a:extLst>
                  <a:ext uri="{FF2B5EF4-FFF2-40B4-BE49-F238E27FC236}">
                    <a16:creationId xmlns:a16="http://schemas.microsoft.com/office/drawing/2014/main" id="{5FA63E91-786C-4526-BC28-366605CC31D4}"/>
                  </a:ext>
                </a:extLst>
              </p:cNvPr>
              <p:cNvSpPr/>
              <p:nvPr/>
            </p:nvSpPr>
            <p:spPr>
              <a:xfrm>
                <a:off x="425416" y="4129907"/>
                <a:ext cx="8585579" cy="1763047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lvl="2"/>
                <a14:m>
                  <m:oMath xmlns:m="http://schemas.openxmlformats.org/officeDocument/2006/math">
                    <m:r>
                      <a:rPr lang="en-US" b="1" i="1" dirty="0" smtClean="0">
                        <a:latin typeface="Cambria Math" panose="02040503050406030204" pitchFamily="18" charset="0"/>
                      </a:rPr>
                      <m:t>𝒙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eqArr>
                          <m:eqArrPr>
                            <m:ctrlPr>
                              <a:rPr lang="en-US" b="0" i="1" dirty="0">
                                <a:latin typeface="Cambria Math" panose="02040503050406030204" pitchFamily="18" charset="0"/>
                              </a:rPr>
                            </m:ctrlPr>
                          </m:eqArrPr>
                          <m:e>
                            <m:sSubSup>
                              <m:sSubSupPr>
                                <m:ctrlPr>
                                  <a:rPr lang="en-US" b="0" i="1" dirty="0" smtClean="0">
                                    <a:latin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en-US" b="0" i="1" dirty="0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b="0" i="1" dirty="0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  <m:sup>
                                <m:r>
                                  <a:rPr lang="en-US" b="0" i="1" dirty="0" smtClean="0">
                                    <a:latin typeface="Cambria Math" panose="02040503050406030204" pitchFamily="18" charset="0"/>
                                  </a:rPr>
                                  <m:t>′</m:t>
                                </m:r>
                              </m:sup>
                            </m:sSubSup>
                          </m:e>
                          <m:e>
                            <m:sSubSup>
                              <m:sSubSupPr>
                                <m:ctrlPr>
                                  <a:rPr lang="en-US" b="0" i="1" dirty="0" smtClean="0">
                                    <a:latin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en-US" b="0" i="1" dirty="0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b="0" i="1" dirty="0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  <m:sup>
                                <m:r>
                                  <a:rPr lang="en-US" b="0" i="1" dirty="0" smtClean="0">
                                    <a:latin typeface="Cambria Math" panose="02040503050406030204" pitchFamily="18" charset="0"/>
                                  </a:rPr>
                                  <m:t>′</m:t>
                                </m:r>
                              </m:sup>
                            </m:sSubSup>
                          </m:e>
                          <m:e>
                            <m:sSubSup>
                              <m:sSubSupPr>
                                <m:ctrlPr>
                                  <a:rPr lang="en-US" b="0" i="1" dirty="0" smtClean="0">
                                    <a:latin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en-US" b="0" i="1" dirty="0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b="0" i="1" dirty="0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  <m:sup>
                                <m:r>
                                  <a:rPr lang="en-US" b="0" i="1" dirty="0" smtClean="0">
                                    <a:latin typeface="Cambria Math" panose="02040503050406030204" pitchFamily="18" charset="0"/>
                                  </a:rPr>
                                  <m:t>′′</m:t>
                                </m:r>
                              </m:sup>
                            </m:sSubSup>
                          </m:e>
                          <m:e>
                            <m:sSub>
                              <m:sSubPr>
                                <m:ctrlPr>
                                  <a:rPr lang="en-US" b="0" i="1" dirty="0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0" i="1" dirty="0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b="0" i="1" dirty="0" smtClean="0"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sub>
                            </m:sSub>
                          </m:e>
                          <m:e>
                            <m:sSub>
                              <m:sSubPr>
                                <m:ctrlPr>
                                  <a:rPr lang="en-US" b="0" i="1" dirty="0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0" i="1" dirty="0" smtClean="0">
                                    <a:latin typeface="Cambria Math" panose="02040503050406030204" pitchFamily="18" charset="0"/>
                                  </a:rPr>
                                  <m:t>𝑠</m:t>
                                </m:r>
                              </m:e>
                              <m:sub>
                                <m:r>
                                  <a:rPr lang="en-US" b="0" i="1" dirty="0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</m:e>
                          <m:e>
                            <m:sSub>
                              <m:sSubPr>
                                <m:ctrlPr>
                                  <a:rPr lang="en-US" b="0" i="1" dirty="0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0" i="1" dirty="0" smtClean="0">
                                    <a:latin typeface="Cambria Math" panose="02040503050406030204" pitchFamily="18" charset="0"/>
                                  </a:rPr>
                                  <m:t>𝑠</m:t>
                                </m:r>
                              </m:e>
                              <m:sub>
                                <m:r>
                                  <a:rPr lang="en-US" b="0" i="1" dirty="0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</m:e>
                        </m:eqArr>
                      </m:e>
                    </m:d>
                  </m:oMath>
                </a14:m>
                <a:r>
                  <a:rPr lang="en-US" dirty="0"/>
                  <a:t>, </a:t>
                </a:r>
                <a14:m>
                  <m:oMath xmlns:m="http://schemas.openxmlformats.org/officeDocument/2006/math">
                    <m:r>
                      <a:rPr lang="en-US" b="1" i="1" dirty="0">
                        <a:latin typeface="Cambria Math" panose="02040503050406030204" pitchFamily="18" charset="0"/>
                      </a:rPr>
                      <m:t>𝒇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eqArr>
                          <m:eqArrPr>
                            <m:ctrlPr>
                              <a:rPr lang="en-US" b="0" i="1" dirty="0">
                                <a:latin typeface="Cambria Math" panose="02040503050406030204" pitchFamily="18" charset="0"/>
                              </a:rPr>
                            </m:ctrlPr>
                          </m:eqArrPr>
                          <m:e>
                            <m: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  <m:t>−1</m:t>
                            </m:r>
                          </m:e>
                          <m:e>
                            <m: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e>
                          <m:e>
                            <m: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  <m:t>−1</m:t>
                            </m:r>
                          </m:e>
                          <m:e>
                            <m: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  <m:t>−2</m:t>
                            </m:r>
                          </m:e>
                          <m:e>
                            <m: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e>
                          <m:e>
                            <m: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e>
                        </m:eqArr>
                      </m:e>
                    </m:d>
                  </m:oMath>
                </a14:m>
                <a:r>
                  <a:rPr lang="en-US" dirty="0"/>
                  <a:t>, </a:t>
                </a:r>
                <a14:m>
                  <m:oMath xmlns:m="http://schemas.openxmlformats.org/officeDocument/2006/math">
                    <m:r>
                      <a:rPr lang="en-US" b="1">
                        <a:latin typeface="Cambria Math" panose="02040503050406030204" pitchFamily="18" charset="0"/>
                      </a:rPr>
                      <m:t>𝐀</m:t>
                    </m:r>
                    <m:r>
                      <a:rPr lang="en-US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6"/>
                                  <m:mcJc m:val="center"/>
                                </m:mcPr>
                              </m:mc>
                            </m:mcs>
                            <m:ctrlPr>
                              <a:rPr lang="en-US" i="1" smtClean="0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−2</m:t>
                              </m:r>
                            </m:e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e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e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  <m:m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e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e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5</m:t>
                              </m:r>
                            </m:e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  <m:m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lang="en-US" dirty="0"/>
                  <a:t> and </a:t>
                </a:r>
                <a14:m>
                  <m:oMath xmlns:m="http://schemas.openxmlformats.org/officeDocument/2006/math">
                    <m:r>
                      <a:rPr lang="en-US" b="1" i="1">
                        <a:latin typeface="Cambria Math" panose="02040503050406030204" pitchFamily="18" charset="0"/>
                      </a:rPr>
                      <m:t>𝒃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eqArr>
                          <m:eqArr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eqArr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13</m:t>
                            </m:r>
                          </m:e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17</m:t>
                            </m:r>
                          </m:e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4</m:t>
                            </m:r>
                          </m:e>
                        </m:eqArr>
                      </m:e>
                    </m:d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11" name="Rectangle 10">
                <a:extLst>
                  <a:ext uri="{FF2B5EF4-FFF2-40B4-BE49-F238E27FC236}">
                    <a16:creationId xmlns:a16="http://schemas.microsoft.com/office/drawing/2014/main" id="{5FA63E91-786C-4526-BC28-366605CC31D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5416" y="4129907"/>
                <a:ext cx="8585579" cy="1763047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Arrow: Down 12">
            <a:extLst>
              <a:ext uri="{FF2B5EF4-FFF2-40B4-BE49-F238E27FC236}">
                <a16:creationId xmlns:a16="http://schemas.microsoft.com/office/drawing/2014/main" id="{5CE85A21-E8AA-47C0-8451-6D4DEE1C3A48}"/>
              </a:ext>
            </a:extLst>
          </p:cNvPr>
          <p:cNvSpPr/>
          <p:nvPr/>
        </p:nvSpPr>
        <p:spPr>
          <a:xfrm rot="19236747">
            <a:off x="9831661" y="2810695"/>
            <a:ext cx="611289" cy="1730540"/>
          </a:xfrm>
          <a:prstGeom prst="downArrow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F19CE52F-FCE7-4D9D-8D0C-AE309A024B8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352013" y="4730288"/>
            <a:ext cx="2542415" cy="11702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335987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11" grpId="0"/>
      <p:bldP spid="13" grpId="0" animBg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Matrix Notation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Matrix notation is commonly used for linear models!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0FB0A15-6868-4FEB-9554-EB3350E76E7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5002" y="2766333"/>
            <a:ext cx="5599982" cy="2486672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8E7F90BD-1B17-4126-B5B0-EC39B4E4FD3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88147" y="2766333"/>
            <a:ext cx="5428106" cy="24866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47914652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Outline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solidFill>
                  <a:schemeClr val="bg2"/>
                </a:solidFill>
              </a:rPr>
              <a:t>Compact Formulation (not in the textbook)</a:t>
            </a:r>
          </a:p>
          <a:p>
            <a:r>
              <a:rPr lang="en-US" dirty="0">
                <a:solidFill>
                  <a:schemeClr val="bg2"/>
                </a:solidFill>
              </a:rPr>
              <a:t>Matrix Notation (not in the textbook)</a:t>
            </a:r>
          </a:p>
          <a:p>
            <a:r>
              <a:rPr lang="en-US" dirty="0"/>
              <a:t>Matrix Notation for Network Optimization (not in the textbook)</a:t>
            </a:r>
          </a:p>
          <a:p>
            <a:r>
              <a:rPr lang="en-US" dirty="0">
                <a:solidFill>
                  <a:schemeClr val="bg2"/>
                </a:solidFill>
              </a:rPr>
              <a:t>Examples (not in the textbook)</a:t>
            </a:r>
          </a:p>
          <a:p>
            <a:r>
              <a:rPr lang="en-US" dirty="0">
                <a:solidFill>
                  <a:schemeClr val="bg2"/>
                </a:solidFill>
              </a:rPr>
              <a:t>Phyton Introduction</a:t>
            </a:r>
          </a:p>
          <a:p>
            <a:pPr marL="0" indent="0">
              <a:buNone/>
            </a:pPr>
            <a:endParaRPr lang="en-US" dirty="0"/>
          </a:p>
          <a:p>
            <a:endParaRPr lang="en-US" dirty="0"/>
          </a:p>
          <a:p>
            <a:pPr lvl="5"/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11671248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Matrix Notation for Networks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u="sng" dirty="0">
                <a:ea typeface="ＭＳ Ｐゴシック"/>
              </a:rPr>
              <a:t>Matrix Notation:</a:t>
            </a:r>
          </a:p>
          <a:p>
            <a:r>
              <a:rPr lang="en-US" dirty="0">
                <a:ea typeface="ＭＳ Ｐゴシック"/>
              </a:rPr>
              <a:t>The network optimization problems we discussed are linear programming models, so we can effectively use matrix notation for them</a:t>
            </a:r>
          </a:p>
          <a:p>
            <a:r>
              <a:rPr lang="en-US" dirty="0">
                <a:ea typeface="ＭＳ Ｐゴシック"/>
              </a:rPr>
              <a:t>Same as representing any other LP problem in matrix notation</a:t>
            </a:r>
          </a:p>
          <a:p>
            <a:pPr lvl="1"/>
            <a:r>
              <a:rPr lang="en-US" dirty="0">
                <a:ea typeface="ＭＳ Ｐゴシック"/>
              </a:rPr>
              <a:t>Create the objective function vector, constraint matrix, and right-hand-sides vector</a:t>
            </a:r>
          </a:p>
          <a:p>
            <a:r>
              <a:rPr lang="en-US" dirty="0">
                <a:ea typeface="ＭＳ Ｐゴシック"/>
              </a:rPr>
              <a:t>Constraints</a:t>
            </a:r>
          </a:p>
          <a:p>
            <a:pPr lvl="1"/>
            <a:r>
              <a:rPr lang="en-US" dirty="0">
                <a:ea typeface="ＭＳ Ｐゴシック"/>
              </a:rPr>
              <a:t>Flow balance constraints are modeled using node-arc incidence matrix</a:t>
            </a:r>
          </a:p>
          <a:p>
            <a:pPr lvl="1"/>
            <a:r>
              <a:rPr lang="en-US" b="1" dirty="0">
                <a:solidFill>
                  <a:srgbClr val="C00000"/>
                </a:solidFill>
                <a:ea typeface="ＭＳ Ｐゴシック"/>
              </a:rPr>
              <a:t>Node-arc incidence matrix:</a:t>
            </a:r>
          </a:p>
          <a:p>
            <a:pPr lvl="2"/>
            <a:r>
              <a:rPr lang="en-US" dirty="0">
                <a:ea typeface="ＭＳ Ｐゴシック"/>
              </a:rPr>
              <a:t>Rows correspond to nodes</a:t>
            </a:r>
          </a:p>
          <a:p>
            <a:pPr lvl="2"/>
            <a:r>
              <a:rPr lang="en-US" dirty="0">
                <a:ea typeface="ＭＳ Ｐゴシック"/>
              </a:rPr>
              <a:t>Columns correspond to arcs</a:t>
            </a:r>
          </a:p>
        </p:txBody>
      </p:sp>
    </p:spTree>
    <p:extLst>
      <p:ext uri="{BB962C8B-B14F-4D97-AF65-F5344CB8AC3E}">
        <p14:creationId xmlns:p14="http://schemas.microsoft.com/office/powerpoint/2010/main" val="15395288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Matrix Notation for Networks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5002" y="1312433"/>
            <a:ext cx="5513535" cy="4864530"/>
          </a:xfrm>
        </p:spPr>
        <p:txBody>
          <a:bodyPr/>
          <a:lstStyle/>
          <a:p>
            <a:r>
              <a:rPr lang="en-US" b="1" u="sng" dirty="0">
                <a:ea typeface="ＭＳ Ｐゴシック"/>
              </a:rPr>
              <a:t>Matrix Notation:</a:t>
            </a:r>
          </a:p>
          <a:p>
            <a:r>
              <a:rPr lang="en-US" b="1" dirty="0">
                <a:solidFill>
                  <a:srgbClr val="C00000"/>
                </a:solidFill>
                <a:ea typeface="ＭＳ Ｐゴシック"/>
              </a:rPr>
              <a:t>Node-arc incidence matrix:</a:t>
            </a:r>
          </a:p>
          <a:p>
            <a:r>
              <a:rPr lang="en-US" dirty="0">
                <a:ea typeface="ＭＳ Ｐゴシック"/>
              </a:rPr>
              <a:t>The column for arc (</a:t>
            </a:r>
            <a:r>
              <a:rPr lang="en-US" dirty="0" err="1">
                <a:ea typeface="ＭＳ Ｐゴシック"/>
              </a:rPr>
              <a:t>i,j</a:t>
            </a:r>
            <a:r>
              <a:rPr lang="en-US" dirty="0">
                <a:ea typeface="ＭＳ Ｐゴシック"/>
              </a:rPr>
              <a:t>) has two non-zero values:</a:t>
            </a:r>
          </a:p>
          <a:p>
            <a:pPr lvl="1"/>
            <a:r>
              <a:rPr lang="en-US" dirty="0">
                <a:ea typeface="ＭＳ Ｐゴシック"/>
              </a:rPr>
              <a:t>+1 in the row for node i</a:t>
            </a:r>
          </a:p>
          <a:p>
            <a:pPr lvl="1"/>
            <a:r>
              <a:rPr lang="en-US" dirty="0">
                <a:ea typeface="ＭＳ Ｐゴシック"/>
              </a:rPr>
              <a:t>-1 in the row for node j</a:t>
            </a:r>
          </a:p>
          <a:p>
            <a:pPr lvl="1"/>
            <a:r>
              <a:rPr lang="en-US" dirty="0">
                <a:ea typeface="ＭＳ Ｐゴシック"/>
              </a:rPr>
              <a:t>In other rows, 0</a:t>
            </a:r>
          </a:p>
          <a:p>
            <a:pPr lvl="1"/>
            <a:endParaRPr lang="en-US" dirty="0">
              <a:ea typeface="ＭＳ Ｐゴシック"/>
            </a:endParaRPr>
          </a:p>
          <a:p>
            <a:r>
              <a:rPr lang="en-US" dirty="0">
                <a:ea typeface="ＭＳ Ｐゴシック"/>
              </a:rPr>
              <a:t>If you do not have flow-balance constraint for a node, just do not include a row for it!</a:t>
            </a:r>
          </a:p>
          <a:p>
            <a:pPr lvl="1"/>
            <a:endParaRPr lang="en-US" dirty="0">
              <a:ea typeface="ＭＳ Ｐゴシック"/>
            </a:endParaRPr>
          </a:p>
          <a:p>
            <a:endParaRPr lang="en-US" b="1" dirty="0">
              <a:solidFill>
                <a:srgbClr val="C00000"/>
              </a:solidFill>
              <a:ea typeface="ＭＳ Ｐゴシック"/>
            </a:endParaRPr>
          </a:p>
          <a:p>
            <a:endParaRPr lang="en-US" b="1" dirty="0">
              <a:solidFill>
                <a:srgbClr val="C00000"/>
              </a:solidFill>
              <a:ea typeface="ＭＳ Ｐゴシック"/>
            </a:endParaRPr>
          </a:p>
          <a:p>
            <a:endParaRPr lang="en-US" b="1" dirty="0">
              <a:solidFill>
                <a:srgbClr val="C00000"/>
              </a:solidFill>
              <a:ea typeface="ＭＳ Ｐゴシック"/>
            </a:endParaRPr>
          </a:p>
          <a:p>
            <a:endParaRPr lang="en-US" b="1" dirty="0">
              <a:solidFill>
                <a:srgbClr val="C00000"/>
              </a:solidFill>
              <a:ea typeface="ＭＳ Ｐゴシック"/>
            </a:endParaRPr>
          </a:p>
        </p:txBody>
      </p:sp>
      <p:graphicFrame>
        <p:nvGraphicFramePr>
          <p:cNvPr id="7" name="Object 6">
            <a:extLst>
              <a:ext uri="{FF2B5EF4-FFF2-40B4-BE49-F238E27FC236}">
                <a16:creationId xmlns:a16="http://schemas.microsoft.com/office/drawing/2014/main" id="{E09E0F04-F072-42BD-9235-E7169577C725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944082" y="4138778"/>
          <a:ext cx="5772151" cy="18662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r:id="rId3" imgW="3962400" imgH="1281145" progId="Excel.Sheet.12">
                  <p:embed/>
                </p:oleObj>
              </mc:Choice>
              <mc:Fallback>
                <p:oleObj name="Worksheet" r:id="rId3" imgW="3962400" imgH="1281145" progId="Excel.Sheet.12">
                  <p:embed/>
                  <p:pic>
                    <p:nvPicPr>
                      <p:cNvPr id="7" name="Object 6">
                        <a:extLst>
                          <a:ext uri="{FF2B5EF4-FFF2-40B4-BE49-F238E27FC236}">
                            <a16:creationId xmlns:a16="http://schemas.microsoft.com/office/drawing/2014/main" id="{E09E0F04-F072-42BD-9235-E7169577C72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5944082" y="4138778"/>
                        <a:ext cx="5772151" cy="186623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6" name="Picture 256" descr="Image2">
            <a:extLst>
              <a:ext uri="{FF2B5EF4-FFF2-40B4-BE49-F238E27FC236}">
                <a16:creationId xmlns:a16="http://schemas.microsoft.com/office/drawing/2014/main" id="{7B8FD809-CA4F-4D44-886D-393CDAB3900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54541" y="1312433"/>
            <a:ext cx="4361692" cy="285501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AC6F9E4F-103A-4564-82ED-57EE2C0B88ED}"/>
              </a:ext>
            </a:extLst>
          </p:cNvPr>
          <p:cNvSpPr/>
          <p:nvPr/>
        </p:nvSpPr>
        <p:spPr>
          <a:xfrm>
            <a:off x="6953534" y="4688006"/>
            <a:ext cx="4762699" cy="1317009"/>
          </a:xfrm>
          <a:prstGeom prst="roundRect">
            <a:avLst/>
          </a:prstGeom>
          <a:noFill/>
          <a:ln w="1905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B4D6135-5B08-4A7D-991E-82D76CC04E3D}"/>
              </a:ext>
            </a:extLst>
          </p:cNvPr>
          <p:cNvSpPr txBox="1"/>
          <p:nvPr/>
        </p:nvSpPr>
        <p:spPr>
          <a:xfrm>
            <a:off x="9205415" y="6176963"/>
            <a:ext cx="89392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A</a:t>
            </a:r>
          </a:p>
        </p:txBody>
      </p:sp>
    </p:spTree>
    <p:extLst>
      <p:ext uri="{BB962C8B-B14F-4D97-AF65-F5344CB8AC3E}">
        <p14:creationId xmlns:p14="http://schemas.microsoft.com/office/powerpoint/2010/main" val="31488703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8" grpId="0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Matrix Notation for Networks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355002" y="1312432"/>
                <a:ext cx="10972640" cy="5328397"/>
              </a:xfrm>
            </p:spPr>
            <p:txBody>
              <a:bodyPr>
                <a:normAutofit/>
              </a:bodyPr>
              <a:lstStyle/>
              <a:p>
                <a:r>
                  <a:rPr lang="en-US" b="1" u="sng" dirty="0">
                    <a:ea typeface="ＭＳ Ｐゴシック"/>
                  </a:rPr>
                  <a:t>Matrix Notation:</a:t>
                </a:r>
              </a:p>
              <a:p>
                <a:pPr>
                  <a:lnSpc>
                    <a:spcPct val="100000"/>
                  </a:lnSpc>
                </a:pPr>
                <a:r>
                  <a:rPr lang="en-US" sz="2400" dirty="0">
                    <a:ea typeface="ＭＳ Ｐゴシック"/>
                  </a:rPr>
                  <a:t>Constraints</a:t>
                </a:r>
              </a:p>
              <a:p>
                <a:pPr lvl="1">
                  <a:lnSpc>
                    <a:spcPct val="100000"/>
                  </a:lnSpc>
                </a:pPr>
                <a:r>
                  <a:rPr lang="en-US" sz="2000" dirty="0">
                    <a:ea typeface="ＭＳ Ｐゴシック"/>
                  </a:rPr>
                  <a:t>For flow balance constraints, the right-hand-sides are the node values!</a:t>
                </a:r>
              </a:p>
              <a:p>
                <a:pPr lvl="1">
                  <a:lnSpc>
                    <a:spcPct val="100000"/>
                  </a:lnSpc>
                </a:pPr>
                <a:r>
                  <a:rPr lang="en-US" sz="2000" dirty="0">
                    <a:ea typeface="ＭＳ Ｐゴシック"/>
                    <a:sym typeface="Wingdings" panose="05000000000000000000" pitchFamily="2" charset="2"/>
                  </a:rPr>
                  <a:t>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  <a:ea typeface="ＭＳ Ｐゴシック"/>
                        <a:sym typeface="Wingdings" panose="05000000000000000000" pitchFamily="2" charset="2"/>
                      </a:rPr>
                      <m:t>𝑏</m:t>
                    </m:r>
                    <m:r>
                      <a:rPr lang="en-US" sz="2000" b="0" i="1" smtClean="0">
                        <a:latin typeface="Cambria Math" panose="02040503050406030204" pitchFamily="18" charset="0"/>
                        <a:ea typeface="ＭＳ Ｐゴシック"/>
                        <a:sym typeface="Wingdings" panose="05000000000000000000" pitchFamily="2" charset="2"/>
                      </a:rPr>
                      <m:t>=</m:t>
                    </m:r>
                    <m:sSup>
                      <m:sSupPr>
                        <m:ctrlPr>
                          <a:rPr lang="en-US" sz="2000" b="0" i="1" smtClean="0">
                            <a:latin typeface="Cambria Math" panose="02040503050406030204" pitchFamily="18" charset="0"/>
                            <a:ea typeface="ＭＳ Ｐゴシック"/>
                            <a:sym typeface="Wingdings" panose="05000000000000000000" pitchFamily="2" charset="2"/>
                          </a:rPr>
                        </m:ctrlPr>
                      </m:sSupPr>
                      <m:e>
                        <m:d>
                          <m:dPr>
                            <m:begChr m:val="["/>
                            <m:endChr m:val="]"/>
                            <m:ctrlPr>
                              <a:rPr lang="en-US" sz="2000" b="0" i="1" smtClean="0">
                                <a:latin typeface="Cambria Math" panose="02040503050406030204" pitchFamily="18" charset="0"/>
                                <a:ea typeface="ＭＳ Ｐゴシック"/>
                                <a:sym typeface="Wingdings" panose="05000000000000000000" pitchFamily="2" charset="2"/>
                              </a:rPr>
                            </m:ctrlPr>
                          </m:dPr>
                          <m:e>
                            <m:r>
                              <a:rPr lang="en-US" sz="2000" b="0" i="1" smtClean="0">
                                <a:latin typeface="Cambria Math" panose="02040503050406030204" pitchFamily="18" charset="0"/>
                                <a:ea typeface="ＭＳ Ｐゴシック"/>
                                <a:sym typeface="Wingdings" panose="05000000000000000000" pitchFamily="2" charset="2"/>
                              </a:rPr>
                              <m:t>80 −60  0  −90  70</m:t>
                            </m:r>
                          </m:e>
                        </m:d>
                      </m:e>
                      <m:sup>
                        <m:r>
                          <a:rPr lang="en-US" sz="2000" b="0" i="1" smtClean="0">
                            <a:latin typeface="Cambria Math" panose="02040503050406030204" pitchFamily="18" charset="0"/>
                            <a:ea typeface="ＭＳ Ｐゴシック"/>
                            <a:sym typeface="Wingdings" panose="05000000000000000000" pitchFamily="2" charset="2"/>
                          </a:rPr>
                          <m:t>𝑇</m:t>
                        </m:r>
                      </m:sup>
                    </m:sSup>
                  </m:oMath>
                </a14:m>
                <a:r>
                  <a:rPr lang="en-US" sz="2000" dirty="0">
                    <a:ea typeface="ＭＳ Ｐゴシック"/>
                  </a:rPr>
                  <a:t> (be careful with the order, it should match the order of nodes in the node-arc incidence matrix)</a:t>
                </a:r>
              </a:p>
              <a:p>
                <a:pPr lvl="1">
                  <a:lnSpc>
                    <a:spcPct val="100000"/>
                  </a:lnSpc>
                </a:pPr>
                <a:r>
                  <a:rPr lang="en-US" sz="2000" dirty="0">
                    <a:ea typeface="ＭＳ Ｐゴシック"/>
                  </a:rPr>
                  <a:t>Arc capacities? </a:t>
                </a:r>
                <a:r>
                  <a:rPr lang="en-US" sz="2000" dirty="0">
                    <a:ea typeface="ＭＳ Ｐゴシック"/>
                    <a:sym typeface="Wingdings" panose="05000000000000000000" pitchFamily="2" charset="2"/>
                  </a:rPr>
                  <a:t> define them as upper bounds on the variables (be careful with the order, it should match the order of arcs in the node-arc incidence matrix)</a:t>
                </a:r>
              </a:p>
              <a:p>
                <a:pPr lvl="1">
                  <a:lnSpc>
                    <a:spcPct val="100000"/>
                  </a:lnSpc>
                </a:pPr>
                <a:r>
                  <a:rPr lang="en-US" sz="2000" dirty="0">
                    <a:ea typeface="ＭＳ Ｐゴシック"/>
                    <a:sym typeface="Wingdings" panose="05000000000000000000" pitchFamily="2" charset="2"/>
                  </a:rPr>
                  <a:t>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  <a:ea typeface="ＭＳ Ｐゴシック"/>
                        <a:sym typeface="Wingdings" panose="05000000000000000000" pitchFamily="2" charset="2"/>
                      </a:rPr>
                      <m:t>𝑢𝑏</m:t>
                    </m:r>
                    <m:r>
                      <a:rPr lang="en-US" sz="2000" b="0" i="1" smtClean="0">
                        <a:latin typeface="Cambria Math" panose="02040503050406030204" pitchFamily="18" charset="0"/>
                        <a:ea typeface="ＭＳ Ｐゴシック"/>
                        <a:sym typeface="Wingdings" panose="05000000000000000000" pitchFamily="2" charset="2"/>
                      </a:rPr>
                      <m:t>=</m:t>
                    </m:r>
                    <m:sSup>
                      <m:sSupPr>
                        <m:ctrlPr>
                          <a:rPr lang="en-US" sz="2000" b="0" i="1" smtClean="0">
                            <a:latin typeface="Cambria Math" panose="02040503050406030204" pitchFamily="18" charset="0"/>
                            <a:ea typeface="ＭＳ Ｐゴシック"/>
                            <a:sym typeface="Wingdings" panose="05000000000000000000" pitchFamily="2" charset="2"/>
                          </a:rPr>
                        </m:ctrlPr>
                      </m:sSupPr>
                      <m:e>
                        <m:d>
                          <m:dPr>
                            <m:begChr m:val="["/>
                            <m:endChr m:val="]"/>
                            <m:ctrlPr>
                              <a:rPr lang="en-US" sz="2000" b="0" i="1" smtClean="0">
                                <a:latin typeface="Cambria Math" panose="02040503050406030204" pitchFamily="18" charset="0"/>
                                <a:ea typeface="ＭＳ Ｐゴシック"/>
                                <a:sym typeface="Wingdings" panose="05000000000000000000" pitchFamily="2" charset="2"/>
                              </a:rPr>
                            </m:ctrlPr>
                          </m:dPr>
                          <m:e>
                            <m:r>
                              <a:rPr lang="en-US" sz="2000" b="0" i="1" smtClean="0">
                                <a:latin typeface="Cambria Math" panose="02040503050406030204" pitchFamily="18" charset="0"/>
                                <a:ea typeface="ＭＳ Ｐゴシック"/>
                                <a:sym typeface="Wingdings" panose="05000000000000000000" pitchFamily="2" charset="2"/>
                              </a:rPr>
                              <m:t>𝐼𝑛𝑓</m:t>
                            </m:r>
                            <m:r>
                              <a:rPr lang="en-US" sz="2000" b="0" i="1" smtClean="0">
                                <a:latin typeface="Cambria Math" panose="02040503050406030204" pitchFamily="18" charset="0"/>
                                <a:ea typeface="ＭＳ Ｐゴシック"/>
                                <a:sym typeface="Wingdings" panose="05000000000000000000" pitchFamily="2" charset="2"/>
                              </a:rPr>
                              <m:t> 50 50 50 50 </m:t>
                            </m:r>
                            <m:r>
                              <a:rPr lang="en-US" sz="2000" b="0" i="1" smtClean="0">
                                <a:latin typeface="Cambria Math" panose="02040503050406030204" pitchFamily="18" charset="0"/>
                                <a:ea typeface="ＭＳ Ｐゴシック"/>
                                <a:sym typeface="Wingdings" panose="05000000000000000000" pitchFamily="2" charset="2"/>
                              </a:rPr>
                              <m:t>𝐼𝑛𝑓</m:t>
                            </m:r>
                          </m:e>
                        </m:d>
                      </m:e>
                      <m:sup>
                        <m:r>
                          <a:rPr lang="en-US" sz="2000" b="0" i="1" smtClean="0">
                            <a:latin typeface="Cambria Math" panose="02040503050406030204" pitchFamily="18" charset="0"/>
                            <a:ea typeface="ＭＳ Ｐゴシック"/>
                            <a:sym typeface="Wingdings" panose="05000000000000000000" pitchFamily="2" charset="2"/>
                          </a:rPr>
                          <m:t>𝑇</m:t>
                        </m:r>
                      </m:sup>
                    </m:sSup>
                  </m:oMath>
                </a14:m>
                <a:endParaRPr lang="en-US" sz="2000" dirty="0">
                  <a:ea typeface="ＭＳ Ｐゴシック"/>
                </a:endParaRPr>
              </a:p>
              <a:p>
                <a:pPr lvl="1">
                  <a:lnSpc>
                    <a:spcPct val="100000"/>
                  </a:lnSpc>
                </a:pPr>
                <a:r>
                  <a:rPr lang="en-US" sz="2000" dirty="0">
                    <a:ea typeface="ＭＳ Ｐゴシック"/>
                  </a:rPr>
                  <a:t>Non-negativities </a:t>
                </a:r>
                <a:r>
                  <a:rPr lang="en-US" sz="2000" dirty="0">
                    <a:ea typeface="ＭＳ Ｐゴシック"/>
                    <a:sym typeface="Wingdings" panose="05000000000000000000" pitchFamily="2" charset="2"/>
                  </a:rPr>
                  <a:t> easy!</a:t>
                </a:r>
              </a:p>
              <a:p>
                <a:pPr lvl="1">
                  <a:lnSpc>
                    <a:spcPct val="100000"/>
                  </a:lnSpc>
                </a:pPr>
                <a:r>
                  <a:rPr lang="en-US" sz="2000" dirty="0">
                    <a:ea typeface="ＭＳ Ｐゴシック"/>
                    <a:sym typeface="Wingdings" panose="05000000000000000000" pitchFamily="2" charset="2"/>
                  </a:rPr>
                  <a:t>l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ＭＳ Ｐゴシック"/>
                        <a:sym typeface="Wingdings" panose="05000000000000000000" pitchFamily="2" charset="2"/>
                      </a:rPr>
                      <m:t>𝑏</m:t>
                    </m:r>
                    <m:r>
                      <a:rPr lang="en-US" sz="2000" i="1">
                        <a:latin typeface="Cambria Math" panose="02040503050406030204" pitchFamily="18" charset="0"/>
                        <a:ea typeface="ＭＳ Ｐゴシック"/>
                        <a:sym typeface="Wingdings" panose="05000000000000000000" pitchFamily="2" charset="2"/>
                      </a:rPr>
                      <m:t>=</m:t>
                    </m:r>
                    <m:sSup>
                      <m:sSupPr>
                        <m:ctrlPr>
                          <a:rPr lang="en-US" sz="2000" i="1">
                            <a:latin typeface="Cambria Math" panose="02040503050406030204" pitchFamily="18" charset="0"/>
                            <a:ea typeface="ＭＳ Ｐゴシック"/>
                            <a:sym typeface="Wingdings" panose="05000000000000000000" pitchFamily="2" charset="2"/>
                          </a:rPr>
                        </m:ctrlPr>
                      </m:sSupPr>
                      <m:e>
                        <m:d>
                          <m:dPr>
                            <m:begChr m:val="["/>
                            <m:endChr m:val="]"/>
                            <m:ctrlPr>
                              <a:rPr lang="en-US" sz="2000" i="1">
                                <a:latin typeface="Cambria Math" panose="02040503050406030204" pitchFamily="18" charset="0"/>
                                <a:ea typeface="ＭＳ Ｐゴシック"/>
                                <a:sym typeface="Wingdings" panose="05000000000000000000" pitchFamily="2" charset="2"/>
                              </a:rPr>
                            </m:ctrlPr>
                          </m:dPr>
                          <m:e>
                            <m:r>
                              <a:rPr lang="en-US" sz="2000" i="1">
                                <a:latin typeface="Cambria Math" panose="02040503050406030204" pitchFamily="18" charset="0"/>
                                <a:ea typeface="ＭＳ Ｐゴシック"/>
                                <a:sym typeface="Wingdings" panose="05000000000000000000" pitchFamily="2" charset="2"/>
                              </a:rPr>
                              <m:t>0 0</m:t>
                            </m:r>
                            <m:r>
                              <a:rPr lang="en-US" sz="2000" b="0" i="1" smtClean="0">
                                <a:latin typeface="Cambria Math" panose="02040503050406030204" pitchFamily="18" charset="0"/>
                                <a:ea typeface="ＭＳ Ｐゴシック"/>
                                <a:sym typeface="Wingdings" panose="05000000000000000000" pitchFamily="2" charset="2"/>
                              </a:rPr>
                              <m:t> </m:t>
                            </m:r>
                            <m:r>
                              <a:rPr lang="en-US" sz="2000" i="1">
                                <a:latin typeface="Cambria Math" panose="02040503050406030204" pitchFamily="18" charset="0"/>
                                <a:ea typeface="ＭＳ Ｐゴシック"/>
                                <a:sym typeface="Wingdings" panose="05000000000000000000" pitchFamily="2" charset="2"/>
                              </a:rPr>
                              <m:t>0 0 0 0</m:t>
                            </m:r>
                          </m:e>
                        </m:d>
                      </m:e>
                      <m:sup>
                        <m:r>
                          <a:rPr lang="en-US" sz="2000" i="1">
                            <a:latin typeface="Cambria Math" panose="02040503050406030204" pitchFamily="18" charset="0"/>
                            <a:ea typeface="ＭＳ Ｐゴシック"/>
                            <a:sym typeface="Wingdings" panose="05000000000000000000" pitchFamily="2" charset="2"/>
                          </a:rPr>
                          <m:t>𝑇</m:t>
                        </m:r>
                      </m:sup>
                    </m:sSup>
                  </m:oMath>
                </a14:m>
                <a:endParaRPr lang="en-US" sz="2000" dirty="0">
                  <a:ea typeface="ＭＳ Ｐゴシック"/>
                </a:endParaRPr>
              </a:p>
              <a:p>
                <a:pPr>
                  <a:lnSpc>
                    <a:spcPct val="100000"/>
                  </a:lnSpc>
                </a:pPr>
                <a:r>
                  <a:rPr lang="en-US" sz="2400" dirty="0">
                    <a:ea typeface="ＭＳ Ｐゴシック"/>
                  </a:rPr>
                  <a:t>Objective function (</a:t>
                </a:r>
                <a:r>
                  <a:rPr lang="en-US" sz="2400" u="sng" dirty="0">
                    <a:ea typeface="ＭＳ Ｐゴシック"/>
                  </a:rPr>
                  <a:t>for min-cost flow</a:t>
                </a:r>
                <a:r>
                  <a:rPr lang="en-US" sz="2400" dirty="0">
                    <a:ea typeface="ＭＳ Ｐゴシック"/>
                  </a:rPr>
                  <a:t>)</a:t>
                </a:r>
              </a:p>
              <a:p>
                <a:pPr lvl="1">
                  <a:lnSpc>
                    <a:spcPct val="100000"/>
                  </a:lnSpc>
                </a:pPr>
                <a:r>
                  <a:rPr lang="en-US" sz="2000" dirty="0">
                    <a:ea typeface="ＭＳ Ｐゴシック"/>
                  </a:rPr>
                  <a:t>The arc costs as a vector</a:t>
                </a:r>
              </a:p>
              <a:p>
                <a:pPr lvl="1">
                  <a:lnSpc>
                    <a:spcPct val="100000"/>
                  </a:lnSpc>
                </a:pPr>
                <a:r>
                  <a:rPr lang="en-US" sz="2000" dirty="0">
                    <a:ea typeface="ＭＳ Ｐゴシック"/>
                    <a:sym typeface="Wingdings" panose="05000000000000000000" pitchFamily="2" charset="2"/>
                  </a:rPr>
                  <a:t>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  <a:ea typeface="ＭＳ Ｐゴシック"/>
                        <a:sym typeface="Wingdings" panose="05000000000000000000" pitchFamily="2" charset="2"/>
                      </a:rPr>
                      <m:t>𝑐</m:t>
                    </m:r>
                    <m:r>
                      <a:rPr lang="en-US" sz="2000" b="0" i="1" smtClean="0">
                        <a:latin typeface="Cambria Math" panose="02040503050406030204" pitchFamily="18" charset="0"/>
                        <a:ea typeface="ＭＳ Ｐゴシック"/>
                        <a:sym typeface="Wingdings" panose="05000000000000000000" pitchFamily="2" charset="2"/>
                      </a:rPr>
                      <m:t>=</m:t>
                    </m:r>
                    <m:sSup>
                      <m:sSupPr>
                        <m:ctrlPr>
                          <a:rPr lang="en-US" sz="2000" b="0" i="1" smtClean="0">
                            <a:latin typeface="Cambria Math" panose="02040503050406030204" pitchFamily="18" charset="0"/>
                            <a:ea typeface="ＭＳ Ｐゴシック"/>
                            <a:sym typeface="Wingdings" panose="05000000000000000000" pitchFamily="2" charset="2"/>
                          </a:rPr>
                        </m:ctrlPr>
                      </m:sSupPr>
                      <m:e>
                        <m:d>
                          <m:dPr>
                            <m:begChr m:val="["/>
                            <m:endChr m:val="]"/>
                            <m:ctrlPr>
                              <a:rPr lang="en-US" sz="2000" b="0" i="1" smtClean="0">
                                <a:latin typeface="Cambria Math" panose="02040503050406030204" pitchFamily="18" charset="0"/>
                                <a:ea typeface="ＭＳ Ｐゴシック"/>
                                <a:sym typeface="Wingdings" panose="05000000000000000000" pitchFamily="2" charset="2"/>
                              </a:rPr>
                            </m:ctrlPr>
                          </m:dPr>
                          <m:e>
                            <m:r>
                              <a:rPr lang="en-US" sz="2000" b="0" i="1" smtClean="0">
                                <a:latin typeface="Cambria Math" panose="02040503050406030204" pitchFamily="18" charset="0"/>
                                <a:ea typeface="ＭＳ Ｐゴシック"/>
                                <a:sym typeface="Wingdings" panose="05000000000000000000" pitchFamily="2" charset="2"/>
                              </a:rPr>
                              <m:t>700 300 200 400 500 1000</m:t>
                            </m:r>
                          </m:e>
                        </m:d>
                      </m:e>
                      <m:sup>
                        <m:r>
                          <a:rPr lang="en-US" sz="2000" b="0" i="1" smtClean="0">
                            <a:latin typeface="Cambria Math" panose="02040503050406030204" pitchFamily="18" charset="0"/>
                            <a:ea typeface="ＭＳ Ｐゴシック"/>
                            <a:sym typeface="Wingdings" panose="05000000000000000000" pitchFamily="2" charset="2"/>
                          </a:rPr>
                          <m:t>𝑇</m:t>
                        </m:r>
                      </m:sup>
                    </m:sSup>
                  </m:oMath>
                </a14:m>
                <a:endParaRPr lang="en-US" sz="2000" dirty="0">
                  <a:ea typeface="ＭＳ Ｐゴシック"/>
                </a:endParaRP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55002" y="1312432"/>
                <a:ext cx="10972640" cy="5328397"/>
              </a:xfrm>
              <a:blipFill>
                <a:blip r:embed="rId3"/>
                <a:stretch>
                  <a:fillRect l="-1000" t="-1831" r="-11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Picture 256" descr="Image2">
            <a:extLst>
              <a:ext uri="{FF2B5EF4-FFF2-40B4-BE49-F238E27FC236}">
                <a16:creationId xmlns:a16="http://schemas.microsoft.com/office/drawing/2014/main" id="{4E57CF0A-26D2-4233-9A21-64385E14326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96586" y="1238721"/>
            <a:ext cx="2139524" cy="14004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7" name="Object 6">
            <a:extLst>
              <a:ext uri="{FF2B5EF4-FFF2-40B4-BE49-F238E27FC236}">
                <a16:creationId xmlns:a16="http://schemas.microsoft.com/office/drawing/2014/main" id="{81836B20-4F2A-4C5E-A658-B6785CAC651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08340626"/>
              </p:ext>
            </p:extLst>
          </p:nvPr>
        </p:nvGraphicFramePr>
        <p:xfrm>
          <a:off x="6564032" y="4595987"/>
          <a:ext cx="5117844" cy="16546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r:id="rId5" imgW="3962400" imgH="1281145" progId="Excel.Sheet.12">
                  <p:embed/>
                </p:oleObj>
              </mc:Choice>
              <mc:Fallback>
                <p:oleObj name="Worksheet" r:id="rId5" imgW="3962400" imgH="1281145" progId="Excel.Sheet.12">
                  <p:embed/>
                  <p:pic>
                    <p:nvPicPr>
                      <p:cNvPr id="7" name="Object 6">
                        <a:extLst>
                          <a:ext uri="{FF2B5EF4-FFF2-40B4-BE49-F238E27FC236}">
                            <a16:creationId xmlns:a16="http://schemas.microsoft.com/office/drawing/2014/main" id="{81836B20-4F2A-4C5E-A658-B6785CAC651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6564032" y="4595987"/>
                        <a:ext cx="5117844" cy="16546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40777843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Matrix Notation for Networks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u="sng" dirty="0">
                <a:ea typeface="ＭＳ Ｐゴシック"/>
              </a:rPr>
              <a:t>Matrix Notation:</a:t>
            </a:r>
          </a:p>
          <a:p>
            <a:r>
              <a:rPr lang="en-US" b="1" u="sng" dirty="0">
                <a:ea typeface="ＭＳ Ｐゴシック"/>
              </a:rPr>
              <a:t>For Distribution Unlimited case: 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F6A4D5D-586C-4532-B7CC-E038B0C65AF0}"/>
              </a:ext>
            </a:extLst>
          </p:cNvPr>
          <p:cNvSpPr/>
          <p:nvPr/>
        </p:nvSpPr>
        <p:spPr>
          <a:xfrm>
            <a:off x="325272" y="2498579"/>
            <a:ext cx="6334836" cy="3046988"/>
          </a:xfrm>
          <a:prstGeom prst="rect">
            <a:avLst/>
          </a:prstGeom>
          <a:ln>
            <a:solidFill>
              <a:srgbClr val="C00000"/>
            </a:solidFill>
          </a:ln>
        </p:spPr>
        <p:txBody>
          <a:bodyPr wrap="square">
            <a:spAutoFit/>
          </a:bodyPr>
          <a:lstStyle/>
          <a:p>
            <a:r>
              <a:rPr lang="en-US" sz="1600" dirty="0"/>
              <a:t>Minimize		700X(F1,W1) + 300X(F1,DC) + 200X(DC,W1) 			+400X(DC,W2) + 500X(F2,DC) + 1000X(F2,W2)</a:t>
            </a:r>
          </a:p>
          <a:p>
            <a:r>
              <a:rPr lang="en-US" sz="1600" dirty="0"/>
              <a:t>Subject to		X(F1,DC) + X(F1,W1) = 80 </a:t>
            </a:r>
          </a:p>
          <a:p>
            <a:r>
              <a:rPr lang="en-US" sz="1600" dirty="0"/>
              <a:t>		X(F2,DC) + X(F2,W2) = 70 </a:t>
            </a:r>
          </a:p>
          <a:p>
            <a:r>
              <a:rPr lang="en-US" sz="1600" dirty="0"/>
              <a:t>		[X(DC,W1) + X(DC,W2)] - [X(F1,DC) + X(F2,DC) ]=0</a:t>
            </a:r>
            <a:endParaRPr lang="en-US" sz="1600" dirty="0">
              <a:sym typeface="Wingdings" pitchFamily="2" charset="2"/>
            </a:endParaRPr>
          </a:p>
          <a:p>
            <a:r>
              <a:rPr lang="en-US" sz="1600" dirty="0"/>
              <a:t>		-[X(F1,W1) + X(DC,W1)] = -60 </a:t>
            </a:r>
          </a:p>
          <a:p>
            <a:r>
              <a:rPr lang="en-US" sz="1600" dirty="0"/>
              <a:t>		-[X(F2,W2) + X(DC,W2)]= -90 </a:t>
            </a:r>
          </a:p>
          <a:p>
            <a:pPr lvl="2"/>
            <a:r>
              <a:rPr lang="en-US" sz="1600" dirty="0"/>
              <a:t>	X(F1,DC)&lt;=50</a:t>
            </a:r>
          </a:p>
          <a:p>
            <a:pPr lvl="2"/>
            <a:r>
              <a:rPr lang="en-US" sz="1600" dirty="0"/>
              <a:t>	X(F2,DC)&lt;=50</a:t>
            </a:r>
          </a:p>
          <a:p>
            <a:pPr lvl="2"/>
            <a:r>
              <a:rPr lang="en-US" sz="1600" dirty="0"/>
              <a:t>	X(DC,W1)&lt;=50</a:t>
            </a:r>
          </a:p>
          <a:p>
            <a:pPr lvl="2"/>
            <a:r>
              <a:rPr lang="en-US" sz="1600" dirty="0"/>
              <a:t>	X(DC,W2)&lt;=50</a:t>
            </a:r>
          </a:p>
          <a:p>
            <a:pPr lvl="2"/>
            <a:r>
              <a:rPr lang="en-US" sz="1600" dirty="0"/>
              <a:t>	X(</a:t>
            </a:r>
            <a:r>
              <a:rPr lang="en-US" sz="1600" dirty="0" err="1"/>
              <a:t>i,j</a:t>
            </a:r>
            <a:r>
              <a:rPr lang="en-US" sz="1600" dirty="0"/>
              <a:t>)&gt;=0 for all arcs (</a:t>
            </a:r>
            <a:r>
              <a:rPr lang="en-US" sz="1600" dirty="0" err="1"/>
              <a:t>i,j</a:t>
            </a:r>
            <a:r>
              <a:rPr lang="en-US" sz="1600" dirty="0"/>
              <a:t>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2915F77A-E6ED-4A8E-80DF-0C2E7E719BA9}"/>
                  </a:ext>
                </a:extLst>
              </p:cNvPr>
              <p:cNvSpPr txBox="1"/>
              <p:nvPr/>
            </p:nvSpPr>
            <p:spPr>
              <a:xfrm>
                <a:off x="7601802" y="2606474"/>
                <a:ext cx="4167358" cy="1384995"/>
              </a:xfrm>
              <a:prstGeom prst="rect">
                <a:avLst/>
              </a:prstGeom>
              <a:noFill/>
              <a:ln>
                <a:solidFill>
                  <a:srgbClr val="C00000"/>
                </a:solidFill>
              </a:ln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𝑀𝑖𝑛𝑖𝑚𝑖𝑧𝑒</m:t>
                    </m:r>
                  </m:oMath>
                </a14:m>
                <a:r>
                  <a:rPr lang="en-US" sz="2800" dirty="0"/>
                  <a:t>	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8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800" b="1" i="1" smtClean="0">
                            <a:latin typeface="Cambria Math" panose="02040503050406030204" pitchFamily="18" charset="0"/>
                          </a:rPr>
                          <m:t>𝒄</m:t>
                        </m:r>
                      </m:e>
                      <m:sup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  <m:r>
                      <a:rPr lang="en-US" sz="2800" b="1" i="1" smtClean="0">
                        <a:latin typeface="Cambria Math" panose="02040503050406030204" pitchFamily="18" charset="0"/>
                      </a:rPr>
                      <m:t>𝒙</m:t>
                    </m:r>
                  </m:oMath>
                </a14:m>
                <a:endParaRPr lang="en-US" sz="2800" b="1" dirty="0"/>
              </a:p>
              <a:p>
                <a14:m>
                  <m:oMath xmlns:m="http://schemas.openxmlformats.org/officeDocument/2006/math">
                    <m:r>
                      <a:rPr lang="en-US" sz="2800" i="1" dirty="0" smtClean="0">
                        <a:latin typeface="Cambria Math" panose="02040503050406030204" pitchFamily="18" charset="0"/>
                      </a:rPr>
                      <m:t>𝑆𝑢𝑏𝑗𝑒𝑐𝑡</m:t>
                    </m:r>
                    <m:r>
                      <a:rPr lang="en-US" sz="2800" i="1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2800" i="1" dirty="0" smtClean="0">
                        <a:latin typeface="Cambria Math" panose="02040503050406030204" pitchFamily="18" charset="0"/>
                      </a:rPr>
                      <m:t>𝑡𝑜</m:t>
                    </m:r>
                  </m:oMath>
                </a14:m>
                <a:r>
                  <a:rPr lang="en-US" sz="2800" b="1" dirty="0"/>
                  <a:t>	</a:t>
                </a:r>
                <a14:m>
                  <m:oMath xmlns:m="http://schemas.openxmlformats.org/officeDocument/2006/math">
                    <m:r>
                      <a:rPr lang="en-US" sz="2800" b="1" i="1" smtClean="0">
                        <a:latin typeface="Cambria Math" panose="02040503050406030204" pitchFamily="18" charset="0"/>
                      </a:rPr>
                      <m:t>𝑨𝒙</m:t>
                    </m:r>
                    <m:r>
                      <a:rPr lang="en-US" sz="2800" b="1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800" b="1" i="1" smtClean="0">
                        <a:latin typeface="Cambria Math" panose="02040503050406030204" pitchFamily="18" charset="0"/>
                      </a:rPr>
                      <m:t>𝒃</m:t>
                    </m:r>
                  </m:oMath>
                </a14:m>
                <a:endParaRPr lang="en-US" sz="2800" b="1" dirty="0"/>
              </a:p>
              <a:p>
                <a:r>
                  <a:rPr lang="en-US" sz="2800" b="1" dirty="0"/>
                  <a:t>		</a:t>
                </a:r>
                <a14:m>
                  <m:oMath xmlns:m="http://schemas.openxmlformats.org/officeDocument/2006/math">
                    <m:r>
                      <a:rPr lang="en-US" sz="2800" b="1" i="1" smtClean="0">
                        <a:latin typeface="Cambria Math" panose="02040503050406030204" pitchFamily="18" charset="0"/>
                      </a:rPr>
                      <m:t>𝒍𝒃</m:t>
                    </m:r>
                    <m:r>
                      <a:rPr lang="en-US" sz="2800" b="1" i="1" smtClean="0">
                        <a:latin typeface="Cambria Math" panose="02040503050406030204" pitchFamily="18" charset="0"/>
                      </a:rPr>
                      <m:t>≤</m:t>
                    </m:r>
                    <m:r>
                      <a:rPr lang="en-US" sz="2800" b="1" i="1" smtClean="0">
                        <a:latin typeface="Cambria Math" panose="02040503050406030204" pitchFamily="18" charset="0"/>
                      </a:rPr>
                      <m:t>𝒙</m:t>
                    </m:r>
                    <m:r>
                      <a:rPr lang="en-US" sz="2800" b="1" i="1" smtClean="0">
                        <a:latin typeface="Cambria Math" panose="02040503050406030204" pitchFamily="18" charset="0"/>
                      </a:rPr>
                      <m:t>≤</m:t>
                    </m:r>
                    <m:r>
                      <a:rPr lang="en-US" sz="2800" b="1" i="1" smtClean="0">
                        <a:latin typeface="Cambria Math" panose="02040503050406030204" pitchFamily="18" charset="0"/>
                      </a:rPr>
                      <m:t>𝒖𝒃</m:t>
                    </m:r>
                  </m:oMath>
                </a14:m>
                <a:endParaRPr lang="en-US" sz="2800" b="1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2915F77A-E6ED-4A8E-80DF-0C2E7E719BA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01802" y="2606474"/>
                <a:ext cx="4167358" cy="1384995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  <a:ln>
                <a:solidFill>
                  <a:srgbClr val="C00000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Equals 5">
            <a:extLst>
              <a:ext uri="{FF2B5EF4-FFF2-40B4-BE49-F238E27FC236}">
                <a16:creationId xmlns:a16="http://schemas.microsoft.com/office/drawing/2014/main" id="{02C43D0B-A0AC-487D-B00D-2C99D5CB4958}"/>
              </a:ext>
            </a:extLst>
          </p:cNvPr>
          <p:cNvSpPr/>
          <p:nvPr/>
        </p:nvSpPr>
        <p:spPr>
          <a:xfrm>
            <a:off x="6796585" y="3534770"/>
            <a:ext cx="532263" cy="382137"/>
          </a:xfrm>
          <a:prstGeom prst="mathEqual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A53394C5-6F78-4E61-85DA-4D782FF4321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15330" y="4334774"/>
            <a:ext cx="1723100" cy="21774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593130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Outline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solidFill>
                  <a:schemeClr val="bg2"/>
                </a:solidFill>
              </a:rPr>
              <a:t>Compact Formulation (not in the textbook)</a:t>
            </a:r>
          </a:p>
          <a:p>
            <a:r>
              <a:rPr lang="en-US" dirty="0">
                <a:solidFill>
                  <a:schemeClr val="bg2"/>
                </a:solidFill>
              </a:rPr>
              <a:t>Matrix Notation (not in the textbook)</a:t>
            </a:r>
          </a:p>
          <a:p>
            <a:r>
              <a:rPr lang="en-US" dirty="0">
                <a:solidFill>
                  <a:schemeClr val="bg2"/>
                </a:solidFill>
              </a:rPr>
              <a:t>Matrix Notation for Network Optimization (not in the textbook)</a:t>
            </a:r>
          </a:p>
          <a:p>
            <a:r>
              <a:rPr lang="en-US" dirty="0"/>
              <a:t>Examples (not in the textbook)</a:t>
            </a:r>
          </a:p>
          <a:p>
            <a:r>
              <a:rPr lang="en-US" dirty="0">
                <a:solidFill>
                  <a:schemeClr val="bg2"/>
                </a:solidFill>
              </a:rPr>
              <a:t>Phyton Introduction</a:t>
            </a:r>
          </a:p>
          <a:p>
            <a:pPr marL="0" indent="0">
              <a:buNone/>
            </a:pPr>
            <a:endParaRPr lang="en-US" dirty="0"/>
          </a:p>
          <a:p>
            <a:endParaRPr lang="en-US" dirty="0"/>
          </a:p>
          <a:p>
            <a:pPr lvl="5"/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19241052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u="sng" dirty="0"/>
              <a:t>Big M Company Transportation Problem (Chapter 3.5)</a:t>
            </a:r>
          </a:p>
          <a:p>
            <a:pPr lvl="8"/>
            <a:r>
              <a:rPr lang="en-US" dirty="0"/>
              <a:t>Let factories be indexed by i, i=1,2 and customers be indexed by j, j=1,2,3 </a:t>
            </a:r>
          </a:p>
          <a:p>
            <a:pPr lvl="8"/>
            <a:r>
              <a:rPr lang="en-US" dirty="0"/>
              <a:t>Let </a:t>
            </a:r>
            <a:r>
              <a:rPr lang="en-US" dirty="0" err="1"/>
              <a:t>Cij</a:t>
            </a:r>
            <a:r>
              <a:rPr lang="en-US" dirty="0"/>
              <a:t> : cost of shipping one unit from factory i to customer j</a:t>
            </a:r>
          </a:p>
          <a:p>
            <a:pPr lvl="8"/>
            <a:r>
              <a:rPr lang="en-US" dirty="0"/>
              <a:t>Let Si: supply amount in factory i</a:t>
            </a:r>
          </a:p>
          <a:p>
            <a:pPr lvl="8"/>
            <a:r>
              <a:rPr lang="en-US" dirty="0"/>
              <a:t>Let </a:t>
            </a:r>
            <a:r>
              <a:rPr lang="en-US" dirty="0" err="1"/>
              <a:t>Dj</a:t>
            </a:r>
            <a:r>
              <a:rPr lang="en-US" dirty="0"/>
              <a:t>: demand of customer j</a:t>
            </a:r>
          </a:p>
          <a:p>
            <a:pPr lvl="8"/>
            <a:r>
              <a:rPr lang="en-US" dirty="0"/>
              <a:t>Define </a:t>
            </a:r>
            <a:r>
              <a:rPr lang="en-US" dirty="0" err="1"/>
              <a:t>Qij</a:t>
            </a:r>
            <a:r>
              <a:rPr lang="en-US" dirty="0"/>
              <a:t>: quantity shipped from factory i to customer j </a:t>
            </a:r>
          </a:p>
          <a:p>
            <a:pPr lvl="8"/>
            <a:r>
              <a:rPr lang="en-US" dirty="0"/>
              <a:t> 	</a:t>
            </a:r>
            <a:r>
              <a:rPr lang="en-US" dirty="0">
                <a:sym typeface="Wingdings" panose="05000000000000000000" pitchFamily="2" charset="2"/>
              </a:rPr>
              <a:t> Recall that there are 6 decision variables</a:t>
            </a:r>
          </a:p>
          <a:p>
            <a:pPr lvl="8"/>
            <a:r>
              <a:rPr lang="en-US" dirty="0">
                <a:sym typeface="Wingdings" panose="05000000000000000000" pitchFamily="2" charset="2"/>
              </a:rPr>
              <a:t> 	 And total supply is equal to total demand</a:t>
            </a:r>
            <a:endParaRPr lang="en-US" dirty="0"/>
          </a:p>
          <a:p>
            <a:pPr lvl="2"/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31C1AA7-37D8-4C10-8A5B-53D8D300FBE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9478" y="4676556"/>
            <a:ext cx="4535373" cy="1738021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4A9E1B46-6C1F-4B4F-979B-E72C77BDE24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9980" y="1825786"/>
            <a:ext cx="2693964" cy="2657111"/>
          </a:xfrm>
          <a:prstGeom prst="rect">
            <a:avLst/>
          </a:prstGeom>
        </p:spPr>
      </p:pic>
      <p:sp>
        <p:nvSpPr>
          <p:cNvPr id="6" name="Right Brace 5">
            <a:extLst>
              <a:ext uri="{FF2B5EF4-FFF2-40B4-BE49-F238E27FC236}">
                <a16:creationId xmlns:a16="http://schemas.microsoft.com/office/drawing/2014/main" id="{33D85590-F11A-43A4-992A-FBE58EDBBC13}"/>
              </a:ext>
            </a:extLst>
          </p:cNvPr>
          <p:cNvSpPr/>
          <p:nvPr/>
        </p:nvSpPr>
        <p:spPr>
          <a:xfrm>
            <a:off x="9953798" y="2122516"/>
            <a:ext cx="470362" cy="942109"/>
          </a:xfrm>
          <a:prstGeom prst="rightBrace">
            <a:avLst>
              <a:gd name="adj1" fmla="val 46035"/>
              <a:gd name="adj2" fmla="val 50000"/>
            </a:avLst>
          </a:prstGeom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C0AD6DD-39C3-4CDE-B414-336DBC64C799}"/>
              </a:ext>
            </a:extLst>
          </p:cNvPr>
          <p:cNvSpPr txBox="1"/>
          <p:nvPr/>
        </p:nvSpPr>
        <p:spPr>
          <a:xfrm>
            <a:off x="10640291" y="2327564"/>
            <a:ext cx="119312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Input data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563CD51-766D-4552-AF31-0023344950C6}"/>
              </a:ext>
            </a:extLst>
          </p:cNvPr>
          <p:cNvSpPr txBox="1"/>
          <p:nvPr/>
        </p:nvSpPr>
        <p:spPr>
          <a:xfrm>
            <a:off x="5638800" y="2973185"/>
            <a:ext cx="65" cy="2769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D1BC390D-0B34-4C49-81F8-4344B6CC9208}"/>
                  </a:ext>
                </a:extLst>
              </p:cNvPr>
              <p:cNvSpPr/>
              <p:nvPr/>
            </p:nvSpPr>
            <p:spPr>
              <a:xfrm>
                <a:off x="7783544" y="4017453"/>
                <a:ext cx="1340175" cy="81240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ctrlPr>
                            <a:rPr lang="en-US" sz="160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  <m:e>
                          <m:nary>
                            <m:naryPr>
                              <m:chr m:val="∑"/>
                              <m:ctrlPr>
                                <a:rPr lang="en-US" sz="1600" i="1" smtClean="0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3"/>
                                </m:rP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  <m:t>=1</m:t>
                              </m:r>
                            </m:sub>
                            <m:sup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p>
                            <m:e>
                              <m:sSub>
                                <m:sSubPr>
                                  <m:ctrlPr>
                                    <a:rPr lang="en-US" sz="160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600" b="0" i="1" smtClean="0">
                                      <a:latin typeface="Cambria Math" panose="02040503050406030204" pitchFamily="18" charset="0"/>
                                    </a:rPr>
                                    <m:t>𝑐</m:t>
                                  </m:r>
                                </m:e>
                                <m:sub>
                                  <m:r>
                                    <a:rPr lang="en-US" sz="1600" b="0" i="1" smtClean="0">
                                      <a:latin typeface="Cambria Math" panose="02040503050406030204" pitchFamily="18" charset="0"/>
                                    </a:rPr>
                                    <m:t>𝑖𝑗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lang="en-US" sz="160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600" b="0" i="1" smtClean="0">
                                      <a:latin typeface="Cambria Math" panose="02040503050406030204" pitchFamily="18" charset="0"/>
                                    </a:rPr>
                                    <m:t>𝑄</m:t>
                                  </m:r>
                                </m:e>
                                <m:sub>
                                  <m:r>
                                    <a:rPr lang="en-US" sz="1600" b="0" i="1" smtClean="0">
                                      <a:latin typeface="Cambria Math" panose="02040503050406030204" pitchFamily="18" charset="0"/>
                                    </a:rPr>
                                    <m:t>𝑖𝑗</m:t>
                                  </m:r>
                                </m:sub>
                              </m:sSub>
                            </m:e>
                          </m:nary>
                        </m:e>
                      </m:nary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D1BC390D-0B34-4C49-81F8-4344B6CC920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83544" y="4017453"/>
                <a:ext cx="1340175" cy="81240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Rectangle 9">
                <a:extLst>
                  <a:ext uri="{FF2B5EF4-FFF2-40B4-BE49-F238E27FC236}">
                    <a16:creationId xmlns:a16="http://schemas.microsoft.com/office/drawing/2014/main" id="{79462F2B-AA29-4F49-9573-F82593C5962E}"/>
                  </a:ext>
                </a:extLst>
              </p:cNvPr>
              <p:cNvSpPr/>
              <p:nvPr/>
            </p:nvSpPr>
            <p:spPr>
              <a:xfrm>
                <a:off x="7698997" y="5509485"/>
                <a:ext cx="2294026" cy="78451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ctrlPr>
                            <a:rPr lang="en-US" sz="160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p>
                        <m:e>
                          <m:sSub>
                            <m:sSubPr>
                              <m:ctrlPr>
                                <a:rPr lang="en-US" sz="16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600" i="1">
                                  <a:latin typeface="Cambria Math" panose="02040503050406030204" pitchFamily="18" charset="0"/>
                                </a:rPr>
                                <m:t>𝑄</m:t>
                              </m:r>
                            </m:e>
                            <m:sub>
                              <m:r>
                                <a:rPr lang="en-US" sz="1600" i="1">
                                  <a:latin typeface="Cambria Math" panose="02040503050406030204" pitchFamily="18" charset="0"/>
                                </a:rPr>
                                <m:t>𝑖𝑗</m:t>
                              </m:r>
                            </m:sub>
                          </m:sSub>
                        </m:e>
                      </m:nary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𝐷</m:t>
                          </m:r>
                        </m:e>
                        <m:sub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</m:sSub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  ∀</m:t>
                      </m:r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𝑗</m:t>
                      </m:r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=1,2, 3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0" name="Rectangle 9">
                <a:extLst>
                  <a:ext uri="{FF2B5EF4-FFF2-40B4-BE49-F238E27FC236}">
                    <a16:creationId xmlns:a16="http://schemas.microsoft.com/office/drawing/2014/main" id="{79462F2B-AA29-4F49-9573-F82593C5962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98997" y="5509485"/>
                <a:ext cx="2294026" cy="78451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Rectangle 10">
                <a:extLst>
                  <a:ext uri="{FF2B5EF4-FFF2-40B4-BE49-F238E27FC236}">
                    <a16:creationId xmlns:a16="http://schemas.microsoft.com/office/drawing/2014/main" id="{B09DE1AB-FAA6-4377-B664-4C9AF76AC46C}"/>
                  </a:ext>
                </a:extLst>
              </p:cNvPr>
              <p:cNvSpPr/>
              <p:nvPr/>
            </p:nvSpPr>
            <p:spPr>
              <a:xfrm>
                <a:off x="7707722" y="4764802"/>
                <a:ext cx="2110898" cy="81240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ctrlPr>
                            <a:rPr lang="en-US" sz="160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  <m:e>
                          <m:sSub>
                            <m:sSubPr>
                              <m:ctrlPr>
                                <a:rPr lang="en-US" sz="16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600" i="1">
                                  <a:latin typeface="Cambria Math" panose="02040503050406030204" pitchFamily="18" charset="0"/>
                                </a:rPr>
                                <m:t>𝑄</m:t>
                              </m:r>
                            </m:e>
                            <m:sub>
                              <m:r>
                                <a:rPr lang="en-US" sz="1600" i="1">
                                  <a:latin typeface="Cambria Math" panose="02040503050406030204" pitchFamily="18" charset="0"/>
                                </a:rPr>
                                <m:t>𝑖𝑗</m:t>
                              </m:r>
                            </m:sub>
                          </m:sSub>
                        </m:e>
                      </m:nary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  ∀</m:t>
                      </m:r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𝑖</m:t>
                      </m:r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=1,2</m:t>
                      </m:r>
                    </m:oMath>
                  </m:oMathPara>
                </a14:m>
                <a:endParaRPr lang="en-US" sz="1600" dirty="0"/>
              </a:p>
            </p:txBody>
          </p:sp>
        </mc:Choice>
        <mc:Fallback xmlns="">
          <p:sp>
            <p:nvSpPr>
              <p:cNvPr id="11" name="Rectangle 10">
                <a:extLst>
                  <a:ext uri="{FF2B5EF4-FFF2-40B4-BE49-F238E27FC236}">
                    <a16:creationId xmlns:a16="http://schemas.microsoft.com/office/drawing/2014/main" id="{B09DE1AB-FAA6-4377-B664-4C9AF76AC46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07722" y="4764802"/>
                <a:ext cx="2110898" cy="812402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8AF21AA4-5454-49C7-913F-3F8F270C89A6}"/>
                  </a:ext>
                </a:extLst>
              </p:cNvPr>
              <p:cNvSpPr/>
              <p:nvPr/>
            </p:nvSpPr>
            <p:spPr>
              <a:xfrm>
                <a:off x="6237341" y="4284001"/>
                <a:ext cx="1214050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>
                          <a:latin typeface="Cambria Math" panose="02040503050406030204" pitchFamily="18" charset="0"/>
                        </a:rPr>
                        <m:t>𝑀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𝑖𝑛𝑖𝑚𝑖𝑧𝑒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8AF21AA4-5454-49C7-913F-3F8F270C89A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37341" y="4284001"/>
                <a:ext cx="1214050" cy="369332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Rectangle 12">
                <a:extLst>
                  <a:ext uri="{FF2B5EF4-FFF2-40B4-BE49-F238E27FC236}">
                    <a16:creationId xmlns:a16="http://schemas.microsoft.com/office/drawing/2014/main" id="{398F6A2B-0EE1-44D4-80B1-791BD2CB5E05}"/>
                  </a:ext>
                </a:extLst>
              </p:cNvPr>
              <p:cNvSpPr/>
              <p:nvPr/>
            </p:nvSpPr>
            <p:spPr>
              <a:xfrm>
                <a:off x="6237341" y="5045816"/>
                <a:ext cx="1274195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>
                          <a:latin typeface="Cambria Math" panose="02040503050406030204" pitchFamily="18" charset="0"/>
                        </a:rPr>
                        <m:t>𝑠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𝑢𝑏𝑗𝑒𝑐𝑡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𝑡𝑜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3" name="Rectangle 12">
                <a:extLst>
                  <a:ext uri="{FF2B5EF4-FFF2-40B4-BE49-F238E27FC236}">
                    <a16:creationId xmlns:a16="http://schemas.microsoft.com/office/drawing/2014/main" id="{398F6A2B-0EE1-44D4-80B1-791BD2CB5E0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37341" y="5045816"/>
                <a:ext cx="1274195" cy="369332"/>
              </a:xfrm>
              <a:prstGeom prst="rect">
                <a:avLst/>
              </a:prstGeom>
              <a:blipFill>
                <a:blip r:embed="rId8"/>
                <a:stretch>
                  <a:fillRect b="-13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Rectangle 13">
                <a:extLst>
                  <a:ext uri="{FF2B5EF4-FFF2-40B4-BE49-F238E27FC236}">
                    <a16:creationId xmlns:a16="http://schemas.microsoft.com/office/drawing/2014/main" id="{ED3321D7-6B9B-464E-A25D-93B37F3E6C19}"/>
                  </a:ext>
                </a:extLst>
              </p:cNvPr>
              <p:cNvSpPr/>
              <p:nvPr/>
            </p:nvSpPr>
            <p:spPr>
              <a:xfrm>
                <a:off x="7707722" y="6337810"/>
                <a:ext cx="3060581" cy="358368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6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𝑄</m:t>
                          </m:r>
                        </m:e>
                        <m:sub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𝑖𝑗</m:t>
                          </m:r>
                        </m:sub>
                      </m:sSub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≥0  ∀</m:t>
                      </m:r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𝑖</m:t>
                      </m:r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=1,2,  ∀</m:t>
                      </m:r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𝑗</m:t>
                      </m:r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=1,2,3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4" name="Rectangle 13">
                <a:extLst>
                  <a:ext uri="{FF2B5EF4-FFF2-40B4-BE49-F238E27FC236}">
                    <a16:creationId xmlns:a16="http://schemas.microsoft.com/office/drawing/2014/main" id="{ED3321D7-6B9B-464E-A25D-93B37F3E6C1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07722" y="6337810"/>
                <a:ext cx="3060581" cy="358368"/>
              </a:xfrm>
              <a:prstGeom prst="rect">
                <a:avLst/>
              </a:prstGeom>
              <a:blipFill>
                <a:blip r:embed="rId9"/>
                <a:stretch>
                  <a:fillRect b="-862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" name="Right Brace 14">
            <a:extLst>
              <a:ext uri="{FF2B5EF4-FFF2-40B4-BE49-F238E27FC236}">
                <a16:creationId xmlns:a16="http://schemas.microsoft.com/office/drawing/2014/main" id="{96793A1A-FC5E-4826-BA77-58D48BADAF5C}"/>
              </a:ext>
            </a:extLst>
          </p:cNvPr>
          <p:cNvSpPr/>
          <p:nvPr/>
        </p:nvSpPr>
        <p:spPr>
          <a:xfrm>
            <a:off x="10630094" y="4276824"/>
            <a:ext cx="470362" cy="2395418"/>
          </a:xfrm>
          <a:prstGeom prst="rightBrace">
            <a:avLst>
              <a:gd name="adj1" fmla="val 46035"/>
              <a:gd name="adj2" fmla="val 50000"/>
            </a:avLst>
          </a:prstGeom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F58068FD-DF34-43F3-8F6E-4A926EF29EE3}"/>
              </a:ext>
            </a:extLst>
          </p:cNvPr>
          <p:cNvSpPr txBox="1"/>
          <p:nvPr/>
        </p:nvSpPr>
        <p:spPr>
          <a:xfrm>
            <a:off x="11092518" y="5186319"/>
            <a:ext cx="119312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Compact model</a:t>
            </a:r>
          </a:p>
        </p:txBody>
      </p:sp>
      <p:sp>
        <p:nvSpPr>
          <p:cNvPr id="17" name="Right Brace 16">
            <a:extLst>
              <a:ext uri="{FF2B5EF4-FFF2-40B4-BE49-F238E27FC236}">
                <a16:creationId xmlns:a16="http://schemas.microsoft.com/office/drawing/2014/main" id="{A362C5E9-D23E-49FA-9E12-8936A0AB41E4}"/>
              </a:ext>
            </a:extLst>
          </p:cNvPr>
          <p:cNvSpPr/>
          <p:nvPr/>
        </p:nvSpPr>
        <p:spPr>
          <a:xfrm>
            <a:off x="9953798" y="3064626"/>
            <a:ext cx="470362" cy="509848"/>
          </a:xfrm>
          <a:prstGeom prst="rightBrace">
            <a:avLst>
              <a:gd name="adj1" fmla="val 46035"/>
              <a:gd name="adj2" fmla="val 50000"/>
            </a:avLst>
          </a:prstGeom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7F32ADCD-A7A7-4416-AA9D-C0AB229D909E}"/>
              </a:ext>
            </a:extLst>
          </p:cNvPr>
          <p:cNvSpPr txBox="1"/>
          <p:nvPr/>
        </p:nvSpPr>
        <p:spPr>
          <a:xfrm>
            <a:off x="10630094" y="2996384"/>
            <a:ext cx="119312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Decision variables</a:t>
            </a:r>
          </a:p>
        </p:txBody>
      </p:sp>
    </p:spTree>
    <p:extLst>
      <p:ext uri="{BB962C8B-B14F-4D97-AF65-F5344CB8AC3E}">
        <p14:creationId xmlns:p14="http://schemas.microsoft.com/office/powerpoint/2010/main" val="14112478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/>
      <p:bldP spid="9" grpId="0"/>
      <p:bldP spid="10" grpId="0"/>
      <p:bldP spid="11" grpId="0"/>
      <p:bldP spid="12" grpId="0"/>
      <p:bldP spid="13" grpId="0"/>
      <p:bldP spid="14" grpId="0"/>
      <p:bldP spid="15" grpId="0" animBg="1"/>
      <p:bldP spid="16" grpId="0"/>
      <p:bldP spid="17" grpId="0" animBg="1"/>
      <p:bldP spid="18" grpId="0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b="1" u="sng" dirty="0"/>
                  <a:t>Big M Company Transportation Problem (Chapter 3.5)</a:t>
                </a:r>
              </a:p>
              <a:p>
                <a:pPr lvl="1"/>
                <a:r>
                  <a:rPr lang="en-US" sz="2000" dirty="0"/>
                  <a:t>Let </a:t>
                </a:r>
                <a14:m>
                  <m:oMath xmlns:m="http://schemas.openxmlformats.org/officeDocument/2006/math">
                    <m:r>
                      <a:rPr lang="en-US" sz="2000" b="1" i="1" smtClean="0">
                        <a:latin typeface="Cambria Math" panose="02040503050406030204" pitchFamily="18" charset="0"/>
                      </a:rPr>
                      <m:t>𝒙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begChr m:val="["/>
                            <m:endChr m:val="]"/>
                            <m:ctrlP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  <m:t>𝑄</m:t>
                                </m:r>
                              </m:e>
                              <m:sub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  <m:t>11</m:t>
                                </m:r>
                              </m:sub>
                            </m:sSub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,</m:t>
                            </m:r>
                            <m:sSub>
                              <m:sSubPr>
                                <m:ctrlPr>
                                  <a:rPr lang="en-US" sz="20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000" i="1">
                                    <a:latin typeface="Cambria Math" panose="02040503050406030204" pitchFamily="18" charset="0"/>
                                  </a:rPr>
                                  <m:t>𝑄</m:t>
                                </m:r>
                              </m:e>
                              <m:sub>
                                <m:r>
                                  <a:rPr lang="en-US" sz="2000" i="1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,</m:t>
                            </m:r>
                            <m:sSub>
                              <m:sSubPr>
                                <m:ctrlPr>
                                  <a:rPr lang="en-US" sz="20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000" i="1">
                                    <a:latin typeface="Cambria Math" panose="02040503050406030204" pitchFamily="18" charset="0"/>
                                  </a:rPr>
                                  <m:t>𝑄</m:t>
                                </m:r>
                              </m:e>
                              <m:sub>
                                <m:r>
                                  <a:rPr lang="en-US" sz="2000" i="1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sub>
                            </m:sSub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,</m:t>
                            </m:r>
                            <m:sSub>
                              <m:sSubPr>
                                <m:ctrlPr>
                                  <a:rPr lang="en-US" sz="20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000" i="1">
                                    <a:latin typeface="Cambria Math" panose="02040503050406030204" pitchFamily="18" charset="0"/>
                                  </a:rPr>
                                  <m:t>𝑄</m:t>
                                </m:r>
                              </m:e>
                              <m:sub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  <m:r>
                                  <a:rPr lang="en-US" sz="2000" i="1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,</m:t>
                            </m:r>
                            <m:sSub>
                              <m:sSubPr>
                                <m:ctrlPr>
                                  <a:rPr lang="en-US" sz="20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000" i="1">
                                    <a:latin typeface="Cambria Math" panose="02040503050406030204" pitchFamily="18" charset="0"/>
                                  </a:rPr>
                                  <m:t>𝑄</m:t>
                                </m:r>
                              </m:e>
                              <m:sub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  <m:t>22</m:t>
                                </m:r>
                              </m:sub>
                            </m:sSub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,</m:t>
                            </m:r>
                            <m:sSub>
                              <m:sSubPr>
                                <m:ctrlPr>
                                  <a:rPr lang="en-US" sz="20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000" i="1">
                                    <a:latin typeface="Cambria Math" panose="02040503050406030204" pitchFamily="18" charset="0"/>
                                  </a:rPr>
                                  <m:t>𝑄</m:t>
                                </m:r>
                              </m:e>
                              <m:sub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  <m:t>23</m:t>
                                </m:r>
                              </m:sub>
                            </m:sSub>
                          </m:e>
                        </m:d>
                      </m:e>
                      <m:sup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</m:oMath>
                </a14:m>
                <a:r>
                  <a:rPr lang="en-US" sz="2000" dirty="0"/>
                  <a:t> and </a:t>
                </a:r>
                <a14:m>
                  <m:oMath xmlns:m="http://schemas.openxmlformats.org/officeDocument/2006/math">
                    <m:r>
                      <a:rPr lang="en-US" sz="2000" b="1" i="1" smtClean="0">
                        <a:latin typeface="Cambria Math" panose="02040503050406030204" pitchFamily="18" charset="0"/>
                      </a:rPr>
                      <m:t>𝒇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begChr m:val="["/>
                            <m:endChr m:val="]"/>
                            <m:ctrlPr>
                              <a:rPr lang="en-US" sz="20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700, 900, 800, 800, 900, 700</m:t>
                            </m:r>
                          </m:e>
                        </m:d>
                      </m:e>
                      <m:sup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</m:oMath>
                </a14:m>
                <a:endParaRPr lang="en-US" sz="2000" dirty="0"/>
              </a:p>
              <a:p>
                <a:pPr lvl="6"/>
                <a:endParaRPr lang="en-US" sz="1400" dirty="0"/>
              </a:p>
              <a:p>
                <a:pPr lvl="1"/>
                <a14:m>
                  <m:oMath xmlns:m="http://schemas.openxmlformats.org/officeDocument/2006/math">
                    <m:r>
                      <a:rPr lang="en-US" sz="1800" b="1" i="1" smtClean="0">
                        <a:latin typeface="Cambria Math" panose="02040503050406030204" pitchFamily="18" charset="0"/>
                      </a:rPr>
                      <m:t>𝑨</m:t>
                    </m:r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US" sz="18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6"/>
                                  <m:mcJc m:val="center"/>
                                </m:mcPr>
                              </m:mc>
                            </m:mcs>
                            <m:ctrlPr>
                              <a:rPr lang="en-US" sz="1800" b="0" i="1" smtClean="0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US" sz="18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US" sz="18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US" sz="18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US" sz="1800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sz="1800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sz="1800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  <m:mr>
                            <m:e>
                              <m:r>
                                <a:rPr lang="en-US" sz="1800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sz="1800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sz="1800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sz="18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US" sz="18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US" sz="18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  <m:mr>
                            <m:e>
                              <m:r>
                                <a:rPr lang="en-US" sz="18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US" sz="1800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sz="1800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sz="18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US" sz="1800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sz="1800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  <m:mr>
                            <m:e>
                              <m:r>
                                <a:rPr lang="en-US" sz="1800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sz="18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US" sz="1800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sz="1800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sz="18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US" sz="1800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  <m:mr>
                            <m:e>
                              <m:r>
                                <a:rPr lang="en-US" sz="1800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sz="1800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sz="18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US" sz="1800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sz="1800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sz="18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lang="en-US" sz="1800" dirty="0"/>
                  <a:t> and </a:t>
                </a:r>
                <a14:m>
                  <m:oMath xmlns:m="http://schemas.openxmlformats.org/officeDocument/2006/math">
                    <m:r>
                      <a:rPr lang="en-US" sz="1800" b="1" i="1" smtClean="0">
                        <a:latin typeface="Cambria Math" panose="02040503050406030204" pitchFamily="18" charset="0"/>
                      </a:rPr>
                      <m:t>𝒃</m:t>
                    </m:r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US" sz="18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US" sz="1800" b="0" i="1" smtClean="0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US" sz="18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  <m:r>
                                <a:rPr lang="en-US" sz="18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</m:mr>
                          <m:mr>
                            <m:e>
                              <m:eqArr>
                                <m:eqArrPr>
                                  <m:ctrlPr>
                                    <a:rPr lang="en-US" sz="18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eqArrPr>
                                <m:e>
                                  <m:r>
                                    <a:rPr lang="en-US" sz="1800" b="0" i="1" smtClean="0">
                                      <a:latin typeface="Cambria Math" panose="02040503050406030204" pitchFamily="18" charset="0"/>
                                    </a:rPr>
                                    <m:t>15</m:t>
                                  </m:r>
                                </m:e>
                                <m:e>
                                  <m:r>
                                    <a:rPr lang="en-US" sz="1800" b="0" i="1" smtClean="0">
                                      <a:latin typeface="Cambria Math" panose="02040503050406030204" pitchFamily="18" charset="0"/>
                                    </a:rPr>
                                    <m:t>10</m:t>
                                  </m:r>
                                </m:e>
                                <m:e>
                                  <m:r>
                                    <a:rPr lang="en-US" sz="1800" b="0" i="1" smtClean="0">
                                      <a:latin typeface="Cambria Math" panose="02040503050406030204" pitchFamily="18" charset="0"/>
                                    </a:rPr>
                                    <m:t>8</m:t>
                                  </m:r>
                                </m:e>
                                <m:e>
                                  <m:r>
                                    <a:rPr lang="en-US" sz="1800" b="0" i="1" smtClean="0">
                                      <a:latin typeface="Cambria Math" panose="02040503050406030204" pitchFamily="18" charset="0"/>
                                    </a:rPr>
                                    <m:t>9</m:t>
                                  </m:r>
                                </m:e>
                              </m:eqArr>
                            </m:e>
                          </m:mr>
                        </m:m>
                      </m:e>
                    </m:d>
                  </m:oMath>
                </a14:m>
                <a:endParaRPr lang="en-US" sz="1800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956" t="-200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TextBox 7">
            <a:extLst>
              <a:ext uri="{FF2B5EF4-FFF2-40B4-BE49-F238E27FC236}">
                <a16:creationId xmlns:a16="http://schemas.microsoft.com/office/drawing/2014/main" id="{B563CD51-766D-4552-AF31-0023344950C6}"/>
              </a:ext>
            </a:extLst>
          </p:cNvPr>
          <p:cNvSpPr txBox="1"/>
          <p:nvPr/>
        </p:nvSpPr>
        <p:spPr>
          <a:xfrm>
            <a:off x="5638800" y="2973185"/>
            <a:ext cx="65" cy="2769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endParaRPr lang="en-US" dirty="0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209A9C6D-1454-4110-B1F8-738644D291A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58432" y="4000447"/>
            <a:ext cx="2803226" cy="12902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750087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5002" y="1312433"/>
            <a:ext cx="11709536" cy="4864530"/>
          </a:xfrm>
        </p:spPr>
        <p:txBody>
          <a:bodyPr/>
          <a:lstStyle/>
          <a:p>
            <a:r>
              <a:rPr lang="en-US" b="1" u="sng" dirty="0"/>
              <a:t>Union Airways Personnel Scheduling Problem (Chapter 3.3)</a:t>
            </a:r>
            <a:endParaRPr lang="en-US" dirty="0"/>
          </a:p>
          <a:p>
            <a:pPr lvl="8"/>
            <a:r>
              <a:rPr lang="en-US" dirty="0"/>
              <a:t>Let shifts be indexed by i, i=1,2,…,5 and time-periods be indexed by j, j=1,2,…,10 </a:t>
            </a:r>
          </a:p>
          <a:p>
            <a:pPr lvl="8"/>
            <a:r>
              <a:rPr lang="en-US" dirty="0"/>
              <a:t>Let Ci : cost of one agent hired for shift i </a:t>
            </a:r>
          </a:p>
          <a:p>
            <a:pPr lvl="8"/>
            <a:r>
              <a:rPr lang="en-US" dirty="0"/>
              <a:t>Let </a:t>
            </a:r>
            <a:r>
              <a:rPr lang="en-US" dirty="0" err="1"/>
              <a:t>Mj</a:t>
            </a:r>
            <a:r>
              <a:rPr lang="en-US" dirty="0"/>
              <a:t>: the min number of agents required for time-period j</a:t>
            </a:r>
          </a:p>
          <a:p>
            <a:pPr lvl="8"/>
            <a:r>
              <a:rPr lang="en-US" dirty="0"/>
              <a:t>Let </a:t>
            </a:r>
            <a:r>
              <a:rPr lang="en-US" dirty="0" err="1"/>
              <a:t>Aij</a:t>
            </a:r>
            <a:r>
              <a:rPr lang="en-US" dirty="0"/>
              <a:t>: 1 if shift i covers time-period j, 0 otherwise</a:t>
            </a:r>
          </a:p>
          <a:p>
            <a:pPr lvl="8"/>
            <a:r>
              <a:rPr lang="en-US" dirty="0"/>
              <a:t>Define Si: number of agents hired for shift i  </a:t>
            </a:r>
          </a:p>
          <a:p>
            <a:pPr marL="3657600" lvl="8" indent="0">
              <a:buNone/>
            </a:pPr>
            <a:r>
              <a:rPr lang="en-US" dirty="0"/>
              <a:t>	</a:t>
            </a:r>
          </a:p>
        </p:txBody>
      </p:sp>
      <p:sp>
        <p:nvSpPr>
          <p:cNvPr id="6" name="Right Brace 5">
            <a:extLst>
              <a:ext uri="{FF2B5EF4-FFF2-40B4-BE49-F238E27FC236}">
                <a16:creationId xmlns:a16="http://schemas.microsoft.com/office/drawing/2014/main" id="{33D85590-F11A-43A4-992A-FBE58EDBBC13}"/>
              </a:ext>
            </a:extLst>
          </p:cNvPr>
          <p:cNvSpPr/>
          <p:nvPr/>
        </p:nvSpPr>
        <p:spPr>
          <a:xfrm>
            <a:off x="9953798" y="2122516"/>
            <a:ext cx="470362" cy="942109"/>
          </a:xfrm>
          <a:prstGeom prst="rightBrace">
            <a:avLst>
              <a:gd name="adj1" fmla="val 46035"/>
              <a:gd name="adj2" fmla="val 50000"/>
            </a:avLst>
          </a:prstGeom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C0AD6DD-39C3-4CDE-B414-336DBC64C799}"/>
              </a:ext>
            </a:extLst>
          </p:cNvPr>
          <p:cNvSpPr txBox="1"/>
          <p:nvPr/>
        </p:nvSpPr>
        <p:spPr>
          <a:xfrm>
            <a:off x="10640291" y="2327564"/>
            <a:ext cx="119312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Input data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563CD51-766D-4552-AF31-0023344950C6}"/>
              </a:ext>
            </a:extLst>
          </p:cNvPr>
          <p:cNvSpPr txBox="1"/>
          <p:nvPr/>
        </p:nvSpPr>
        <p:spPr>
          <a:xfrm>
            <a:off x="5638800" y="2973185"/>
            <a:ext cx="65" cy="2769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D1BC390D-0B34-4C49-81F8-4344B6CC9208}"/>
                  </a:ext>
                </a:extLst>
              </p:cNvPr>
              <p:cNvSpPr/>
              <p:nvPr/>
            </p:nvSpPr>
            <p:spPr>
              <a:xfrm>
                <a:off x="7783544" y="4017453"/>
                <a:ext cx="880241" cy="806311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ctrlPr>
                            <a:rPr lang="en-US" sz="160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5</m:t>
                          </m:r>
                        </m:sup>
                        <m:e>
                          <m:sSub>
                            <m:sSubPr>
                              <m:ctrlPr>
                                <a:rPr lang="en-US" sz="160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</m:e>
                            <m:sub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sz="160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  <m:t>𝑆</m:t>
                              </m:r>
                            </m:e>
                            <m:sub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nary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D1BC390D-0B34-4C49-81F8-4344B6CC920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83544" y="4017453"/>
                <a:ext cx="880241" cy="806311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Rectangle 10">
                <a:extLst>
                  <a:ext uri="{FF2B5EF4-FFF2-40B4-BE49-F238E27FC236}">
                    <a16:creationId xmlns:a16="http://schemas.microsoft.com/office/drawing/2014/main" id="{B09DE1AB-FAA6-4377-B664-4C9AF76AC46C}"/>
                  </a:ext>
                </a:extLst>
              </p:cNvPr>
              <p:cNvSpPr/>
              <p:nvPr/>
            </p:nvSpPr>
            <p:spPr>
              <a:xfrm>
                <a:off x="7707722" y="4764802"/>
                <a:ext cx="3022751" cy="788036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ctrlPr>
                            <a:rPr lang="en-US" sz="160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5</m:t>
                          </m:r>
                        </m:sup>
                        <m:e>
                          <m:sSub>
                            <m:sSubPr>
                              <m:ctrlPr>
                                <a:rPr lang="en-US" sz="16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e>
                            <m:sub>
                              <m:r>
                                <a:rPr lang="en-US" sz="1600" i="1">
                                  <a:latin typeface="Cambria Math" panose="02040503050406030204" pitchFamily="18" charset="0"/>
                                </a:rPr>
                                <m:t>𝑖𝑗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sz="160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  <m:t>𝑆</m:t>
                              </m:r>
                            </m:e>
                            <m:sub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nary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≥</m:t>
                      </m:r>
                      <m:sSub>
                        <m:sSubPr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𝑀</m:t>
                          </m:r>
                        </m:e>
                        <m:sub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</m:sSub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  ∀</m:t>
                      </m:r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𝑗</m:t>
                      </m:r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=1,2,3,…,10</m:t>
                      </m:r>
                    </m:oMath>
                  </m:oMathPara>
                </a14:m>
                <a:endParaRPr lang="en-US" sz="1600" dirty="0"/>
              </a:p>
            </p:txBody>
          </p:sp>
        </mc:Choice>
        <mc:Fallback xmlns="">
          <p:sp>
            <p:nvSpPr>
              <p:cNvPr id="11" name="Rectangle 10">
                <a:extLst>
                  <a:ext uri="{FF2B5EF4-FFF2-40B4-BE49-F238E27FC236}">
                    <a16:creationId xmlns:a16="http://schemas.microsoft.com/office/drawing/2014/main" id="{B09DE1AB-FAA6-4377-B664-4C9AF76AC46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07722" y="4764802"/>
                <a:ext cx="3022751" cy="788036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8AF21AA4-5454-49C7-913F-3F8F270C89A6}"/>
                  </a:ext>
                </a:extLst>
              </p:cNvPr>
              <p:cNvSpPr/>
              <p:nvPr/>
            </p:nvSpPr>
            <p:spPr>
              <a:xfrm>
                <a:off x="6237341" y="4284001"/>
                <a:ext cx="1214050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>
                          <a:latin typeface="Cambria Math" panose="02040503050406030204" pitchFamily="18" charset="0"/>
                        </a:rPr>
                        <m:t>𝑀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𝑖𝑛𝑖𝑚𝑖𝑧𝑒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8AF21AA4-5454-49C7-913F-3F8F270C89A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37341" y="4284001"/>
                <a:ext cx="1214050" cy="36933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Rectangle 12">
                <a:extLst>
                  <a:ext uri="{FF2B5EF4-FFF2-40B4-BE49-F238E27FC236}">
                    <a16:creationId xmlns:a16="http://schemas.microsoft.com/office/drawing/2014/main" id="{398F6A2B-0EE1-44D4-80B1-791BD2CB5E05}"/>
                  </a:ext>
                </a:extLst>
              </p:cNvPr>
              <p:cNvSpPr/>
              <p:nvPr/>
            </p:nvSpPr>
            <p:spPr>
              <a:xfrm>
                <a:off x="6237341" y="5045816"/>
                <a:ext cx="1274195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>
                          <a:latin typeface="Cambria Math" panose="02040503050406030204" pitchFamily="18" charset="0"/>
                        </a:rPr>
                        <m:t>𝑠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𝑢𝑏𝑗𝑒𝑐𝑡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𝑡𝑜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3" name="Rectangle 12">
                <a:extLst>
                  <a:ext uri="{FF2B5EF4-FFF2-40B4-BE49-F238E27FC236}">
                    <a16:creationId xmlns:a16="http://schemas.microsoft.com/office/drawing/2014/main" id="{398F6A2B-0EE1-44D4-80B1-791BD2CB5E0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37341" y="5045816"/>
                <a:ext cx="1274195" cy="369332"/>
              </a:xfrm>
              <a:prstGeom prst="rect">
                <a:avLst/>
              </a:prstGeom>
              <a:blipFill>
                <a:blip r:embed="rId5"/>
                <a:stretch>
                  <a:fillRect b="-13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Rectangle 13">
                <a:extLst>
                  <a:ext uri="{FF2B5EF4-FFF2-40B4-BE49-F238E27FC236}">
                    <a16:creationId xmlns:a16="http://schemas.microsoft.com/office/drawing/2014/main" id="{ED3321D7-6B9B-464E-A25D-93B37F3E6C19}"/>
                  </a:ext>
                </a:extLst>
              </p:cNvPr>
              <p:cNvSpPr/>
              <p:nvPr/>
            </p:nvSpPr>
            <p:spPr>
              <a:xfrm>
                <a:off x="7751320" y="5631200"/>
                <a:ext cx="2073324" cy="338554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6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≥0  ∀</m:t>
                      </m:r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𝑖</m:t>
                      </m:r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=1,2,3,4,5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4" name="Rectangle 13">
                <a:extLst>
                  <a:ext uri="{FF2B5EF4-FFF2-40B4-BE49-F238E27FC236}">
                    <a16:creationId xmlns:a16="http://schemas.microsoft.com/office/drawing/2014/main" id="{ED3321D7-6B9B-464E-A25D-93B37F3E6C1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51320" y="5631200"/>
                <a:ext cx="2073324" cy="338554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" name="Right Brace 14">
            <a:extLst>
              <a:ext uri="{FF2B5EF4-FFF2-40B4-BE49-F238E27FC236}">
                <a16:creationId xmlns:a16="http://schemas.microsoft.com/office/drawing/2014/main" id="{96793A1A-FC5E-4826-BA77-58D48BADAF5C}"/>
              </a:ext>
            </a:extLst>
          </p:cNvPr>
          <p:cNvSpPr/>
          <p:nvPr/>
        </p:nvSpPr>
        <p:spPr>
          <a:xfrm>
            <a:off x="10630094" y="4276824"/>
            <a:ext cx="470362" cy="1692930"/>
          </a:xfrm>
          <a:prstGeom prst="rightBrace">
            <a:avLst>
              <a:gd name="adj1" fmla="val 46035"/>
              <a:gd name="adj2" fmla="val 50000"/>
            </a:avLst>
          </a:prstGeom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F58068FD-DF34-43F3-8F6E-4A926EF29EE3}"/>
              </a:ext>
            </a:extLst>
          </p:cNvPr>
          <p:cNvSpPr txBox="1"/>
          <p:nvPr/>
        </p:nvSpPr>
        <p:spPr>
          <a:xfrm>
            <a:off x="11149985" y="4835654"/>
            <a:ext cx="119312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Compact model</a:t>
            </a: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E79C0EE6-E379-40AE-BFAD-3FF76E82B1EB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3213" y="1836864"/>
            <a:ext cx="4015487" cy="1882158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5F2F034D-24F8-45BF-B6B9-7CB1CBD3A040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95112" y="4044924"/>
            <a:ext cx="3674161" cy="2001784"/>
          </a:xfrm>
          <a:prstGeom prst="rect">
            <a:avLst/>
          </a:prstGeom>
        </p:spPr>
      </p:pic>
      <p:sp>
        <p:nvSpPr>
          <p:cNvPr id="19" name="Right Brace 18">
            <a:extLst>
              <a:ext uri="{FF2B5EF4-FFF2-40B4-BE49-F238E27FC236}">
                <a16:creationId xmlns:a16="http://schemas.microsoft.com/office/drawing/2014/main" id="{BFAC2BFE-8188-493E-B164-03EE0CC736E3}"/>
              </a:ext>
            </a:extLst>
          </p:cNvPr>
          <p:cNvSpPr/>
          <p:nvPr/>
        </p:nvSpPr>
        <p:spPr>
          <a:xfrm>
            <a:off x="9953798" y="3064626"/>
            <a:ext cx="470362" cy="276999"/>
          </a:xfrm>
          <a:prstGeom prst="rightBrace">
            <a:avLst>
              <a:gd name="adj1" fmla="val 46035"/>
              <a:gd name="adj2" fmla="val 50000"/>
            </a:avLst>
          </a:prstGeom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25ACB531-3607-4720-AE5E-7F2B64433C56}"/>
              </a:ext>
            </a:extLst>
          </p:cNvPr>
          <p:cNvSpPr txBox="1"/>
          <p:nvPr/>
        </p:nvSpPr>
        <p:spPr>
          <a:xfrm>
            <a:off x="10627762" y="2939035"/>
            <a:ext cx="119312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Decision variables</a:t>
            </a:r>
          </a:p>
        </p:txBody>
      </p:sp>
    </p:spTree>
    <p:extLst>
      <p:ext uri="{BB962C8B-B14F-4D97-AF65-F5344CB8AC3E}">
        <p14:creationId xmlns:p14="http://schemas.microsoft.com/office/powerpoint/2010/main" val="41338459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/>
      <p:bldP spid="9" grpId="0"/>
      <p:bldP spid="11" grpId="0"/>
      <p:bldP spid="12" grpId="0"/>
      <p:bldP spid="13" grpId="0"/>
      <p:bldP spid="14" grpId="0"/>
      <p:bldP spid="15" grpId="0" animBg="1"/>
      <p:bldP spid="16" grpId="0"/>
      <p:bldP spid="19" grpId="0" animBg="1"/>
      <p:bldP spid="20" grpId="0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b="1" u="sng" dirty="0"/>
                  <a:t>Union Airways Personnel Scheduling Problem (Chapter 3.3)</a:t>
                </a:r>
                <a:endParaRPr lang="en-US" dirty="0"/>
              </a:p>
              <a:p>
                <a:pPr lvl="1"/>
                <a:r>
                  <a:rPr lang="en-US" sz="2000" dirty="0"/>
                  <a:t>Let </a:t>
                </a:r>
                <a14:m>
                  <m:oMath xmlns:m="http://schemas.openxmlformats.org/officeDocument/2006/math">
                    <m:r>
                      <a:rPr lang="en-US" sz="2000" b="1" i="1" smtClean="0">
                        <a:latin typeface="Cambria Math" panose="02040503050406030204" pitchFamily="18" charset="0"/>
                      </a:rPr>
                      <m:t>𝒙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begChr m:val="["/>
                            <m:endChr m:val="]"/>
                            <m:ctrlP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  <m:t>𝑆</m:t>
                                </m:r>
                              </m:e>
                              <m:sub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,</m:t>
                            </m:r>
                            <m:sSub>
                              <m:sSubPr>
                                <m:ctrlPr>
                                  <a:rPr lang="en-US" sz="20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  <m:t>𝑆</m:t>
                                </m:r>
                              </m:e>
                              <m:sub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,</m:t>
                            </m:r>
                            <m:sSub>
                              <m:sSubPr>
                                <m:ctrlPr>
                                  <a:rPr lang="en-US" sz="20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  <m:t>𝑆</m:t>
                                </m:r>
                              </m:e>
                              <m:sub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sub>
                            </m:sSub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,</m:t>
                            </m:r>
                            <m:sSub>
                              <m:sSubPr>
                                <m:ctrlPr>
                                  <a:rPr lang="en-US" sz="200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  <m:t>𝑆</m:t>
                                </m:r>
                              </m:e>
                              <m:sub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sub>
                            </m:sSub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,</m:t>
                            </m:r>
                            <m:sSub>
                              <m:sSubPr>
                                <m:ctrlPr>
                                  <a:rPr lang="en-US" sz="20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  <m:t>𝑆</m:t>
                                </m:r>
                              </m:e>
                              <m:sub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  <m:t>5</m:t>
                                </m:r>
                              </m:sub>
                            </m:sSub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sz="2000" i="1" smtClean="0">
                                <a:latin typeface="Cambria Math" panose="02040503050406030204" pitchFamily="18" charset="0"/>
                              </a:rPr>
                              <m:t> </m:t>
                            </m:r>
                          </m:e>
                        </m:d>
                      </m:e>
                      <m:sup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</m:oMath>
                </a14:m>
                <a:r>
                  <a:rPr lang="en-US" sz="2000" dirty="0"/>
                  <a:t> and </a:t>
                </a:r>
                <a14:m>
                  <m:oMath xmlns:m="http://schemas.openxmlformats.org/officeDocument/2006/math">
                    <m:r>
                      <a:rPr lang="en-US" sz="2000" b="1" i="1" smtClean="0">
                        <a:latin typeface="Cambria Math" panose="02040503050406030204" pitchFamily="18" charset="0"/>
                      </a:rPr>
                      <m:t>𝒇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begChr m:val="["/>
                            <m:endChr m:val="]"/>
                            <m:ctrlPr>
                              <a:rPr lang="en-US" sz="20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170, 160, 175, 180, 195</m:t>
                            </m:r>
                          </m:e>
                        </m:d>
                      </m:e>
                      <m:sup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</m:oMath>
                </a14:m>
                <a:endParaRPr lang="en-US" sz="2000" dirty="0"/>
              </a:p>
              <a:p>
                <a:pPr lvl="6"/>
                <a:endParaRPr lang="en-US" sz="1400" dirty="0"/>
              </a:p>
              <a:p>
                <a:pPr lvl="1"/>
                <a14:m>
                  <m:oMath xmlns:m="http://schemas.openxmlformats.org/officeDocument/2006/math">
                    <m:r>
                      <a:rPr lang="en-US" sz="1800" b="1" i="1" smtClean="0">
                        <a:latin typeface="Cambria Math" panose="02040503050406030204" pitchFamily="18" charset="0"/>
                      </a:rPr>
                      <m:t>𝑨</m:t>
                    </m:r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US" sz="18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5"/>
                                  <m:mcJc m:val="center"/>
                                </m:mcPr>
                              </m:mc>
                            </m:mcs>
                            <m:ctrlPr>
                              <a:rPr lang="en-US" sz="1800" b="0" i="1" smtClean="0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US" sz="18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US" sz="1800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sz="1800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sz="1800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sz="1800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  <m:mr>
                            <m:e>
                              <m:r>
                                <a:rPr lang="en-US" sz="18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US" sz="18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US" sz="1800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sz="1800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sz="1800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  <m:mr>
                            <m:e>
                              <m:r>
                                <a:rPr lang="en-US" sz="18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US" sz="18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US" sz="1800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sz="1800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sz="1800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  <m:mr>
                            <m:e>
                              <m:r>
                                <a:rPr lang="en-US" sz="18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US" sz="18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US" sz="18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US" sz="1800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sz="1800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  <m:mr>
                            <m:e>
                              <m:r>
                                <a:rPr lang="en-US" sz="1800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sz="18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US" sz="18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US" sz="1800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sz="1800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  <m:mr>
                            <m:e>
                              <m:r>
                                <a:rPr lang="en-US" sz="1800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sz="1800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sz="18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US" sz="18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US" sz="1800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  <m:mr>
                            <m:e>
                              <m:r>
                                <a:rPr lang="en-US" sz="1800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sz="1800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sz="18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US" sz="18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US" sz="1800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  <m:mr>
                            <m:e>
                              <m:r>
                                <a:rPr lang="en-US" sz="1800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sz="1800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sz="1800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sz="18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US" sz="1800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  <m:mr>
                            <m:e>
                              <m:r>
                                <a:rPr lang="en-US" sz="1800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sz="1800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sz="1800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sz="18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US" sz="18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  <m:mr>
                            <m:e>
                              <m:r>
                                <a:rPr lang="en-US" sz="1800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sz="1800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sz="1800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sz="1800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sz="18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lang="en-US" sz="1800" dirty="0"/>
                  <a:t> and </a:t>
                </a:r>
                <a14:m>
                  <m:oMath xmlns:m="http://schemas.openxmlformats.org/officeDocument/2006/math">
                    <m:r>
                      <a:rPr lang="en-US" sz="1800" b="1" i="1" smtClean="0">
                        <a:latin typeface="Cambria Math" panose="02040503050406030204" pitchFamily="18" charset="0"/>
                      </a:rPr>
                      <m:t>𝒃</m:t>
                    </m:r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US" sz="18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US" sz="1800" b="0" i="1" smtClean="0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US" sz="1800" b="0" i="1" smtClean="0">
                                  <a:latin typeface="Cambria Math" panose="02040503050406030204" pitchFamily="18" charset="0"/>
                                </a:rPr>
                                <m:t>48</m:t>
                              </m:r>
                            </m:e>
                          </m:mr>
                          <m:mr>
                            <m:e>
                              <m:eqArr>
                                <m:eqArrPr>
                                  <m:ctrlPr>
                                    <a:rPr lang="en-US" sz="18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eqArrPr>
                                <m:e>
                                  <m:r>
                                    <a:rPr lang="en-US" sz="1800" b="0" i="1" smtClean="0">
                                      <a:latin typeface="Cambria Math" panose="02040503050406030204" pitchFamily="18" charset="0"/>
                                    </a:rPr>
                                    <m:t>79</m:t>
                                  </m:r>
                                </m:e>
                                <m:e>
                                  <m:r>
                                    <a:rPr lang="en-US" sz="1800" b="0" i="1" smtClean="0">
                                      <a:latin typeface="Cambria Math" panose="02040503050406030204" pitchFamily="18" charset="0"/>
                                    </a:rPr>
                                    <m:t>65</m:t>
                                  </m:r>
                                </m:e>
                                <m:e>
                                  <m:r>
                                    <a:rPr lang="en-US" sz="1800" b="0" i="1" smtClean="0">
                                      <a:latin typeface="Cambria Math" panose="02040503050406030204" pitchFamily="18" charset="0"/>
                                    </a:rPr>
                                    <m:t>87</m:t>
                                  </m:r>
                                </m:e>
                                <m:e>
                                  <m:r>
                                    <a:rPr lang="en-US" sz="1800" b="0" i="1" smtClean="0">
                                      <a:latin typeface="Cambria Math" panose="02040503050406030204" pitchFamily="18" charset="0"/>
                                    </a:rPr>
                                    <m:t>64</m:t>
                                  </m:r>
                                </m:e>
                                <m:e>
                                  <m:r>
                                    <a:rPr lang="en-US" sz="1800" b="0" i="1" smtClean="0">
                                      <a:latin typeface="Cambria Math" panose="02040503050406030204" pitchFamily="18" charset="0"/>
                                    </a:rPr>
                                    <m:t>73</m:t>
                                  </m:r>
                                </m:e>
                                <m:e>
                                  <m:r>
                                    <a:rPr lang="en-US" sz="1800" b="0" i="1" smtClean="0">
                                      <a:latin typeface="Cambria Math" panose="02040503050406030204" pitchFamily="18" charset="0"/>
                                    </a:rPr>
                                    <m:t>82</m:t>
                                  </m:r>
                                </m:e>
                                <m:e>
                                  <m:r>
                                    <a:rPr lang="en-US" sz="1800" b="0" i="1" smtClean="0">
                                      <a:latin typeface="Cambria Math" panose="02040503050406030204" pitchFamily="18" charset="0"/>
                                    </a:rPr>
                                    <m:t>43</m:t>
                                  </m:r>
                                </m:e>
                                <m:e>
                                  <m:r>
                                    <a:rPr lang="en-US" sz="1800" b="0" i="1" smtClean="0">
                                      <a:latin typeface="Cambria Math" panose="02040503050406030204" pitchFamily="18" charset="0"/>
                                    </a:rPr>
                                    <m:t>52</m:t>
                                  </m:r>
                                </m:e>
                                <m:e>
                                  <m:r>
                                    <a:rPr lang="en-US" sz="1800" b="0" i="1" smtClean="0">
                                      <a:latin typeface="Cambria Math" panose="02040503050406030204" pitchFamily="18" charset="0"/>
                                    </a:rPr>
                                    <m:t>15</m:t>
                                  </m:r>
                                </m:e>
                              </m:eqArr>
                            </m:e>
                          </m:mr>
                        </m:m>
                      </m:e>
                    </m:d>
                  </m:oMath>
                </a14:m>
                <a:endParaRPr lang="en-US" sz="1800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956" t="-200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TextBox 7">
            <a:extLst>
              <a:ext uri="{FF2B5EF4-FFF2-40B4-BE49-F238E27FC236}">
                <a16:creationId xmlns:a16="http://schemas.microsoft.com/office/drawing/2014/main" id="{B563CD51-766D-4552-AF31-0023344950C6}"/>
              </a:ext>
            </a:extLst>
          </p:cNvPr>
          <p:cNvSpPr txBox="1"/>
          <p:nvPr/>
        </p:nvSpPr>
        <p:spPr>
          <a:xfrm>
            <a:off x="5638800" y="2973185"/>
            <a:ext cx="65" cy="2769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7B43CEA-8ADD-44D0-A39A-AC04E245C97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95302" y="5160590"/>
            <a:ext cx="2438400" cy="11239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781131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Outline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solidFill>
                  <a:schemeClr val="bg2"/>
                </a:solidFill>
              </a:rPr>
              <a:t>Compact Formulation (not in the textbook)</a:t>
            </a:r>
          </a:p>
          <a:p>
            <a:r>
              <a:rPr lang="en-US" dirty="0">
                <a:solidFill>
                  <a:schemeClr val="bg2"/>
                </a:solidFill>
              </a:rPr>
              <a:t>Matrix Notation (not in the textbook)</a:t>
            </a:r>
          </a:p>
          <a:p>
            <a:r>
              <a:rPr lang="en-US" dirty="0">
                <a:solidFill>
                  <a:schemeClr val="bg2"/>
                </a:solidFill>
              </a:rPr>
              <a:t>Matrix Notation for Network Optimization (not in the textbook)</a:t>
            </a:r>
          </a:p>
          <a:p>
            <a:r>
              <a:rPr lang="en-US" dirty="0">
                <a:solidFill>
                  <a:schemeClr val="bg2"/>
                </a:solidFill>
              </a:rPr>
              <a:t>Examples (not in the textbook)</a:t>
            </a:r>
          </a:p>
          <a:p>
            <a:r>
              <a:rPr lang="en-US" dirty="0"/>
              <a:t>Phyton Introduction</a:t>
            </a:r>
          </a:p>
          <a:p>
            <a:pPr marL="0" indent="0">
              <a:buNone/>
            </a:pPr>
            <a:endParaRPr lang="en-US" dirty="0"/>
          </a:p>
          <a:p>
            <a:endParaRPr lang="en-US" dirty="0"/>
          </a:p>
          <a:p>
            <a:pPr lvl="5"/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51870146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Limitations of Excel Solver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Excel solver capacity is limited.</a:t>
            </a:r>
          </a:p>
          <a:p>
            <a:pPr lvl="1"/>
            <a:r>
              <a:rPr lang="en-US" dirty="0"/>
              <a:t>200 decision variables</a:t>
            </a:r>
          </a:p>
          <a:p>
            <a:pPr lvl="1"/>
            <a:r>
              <a:rPr lang="en-US" dirty="0"/>
              <a:t>100 cell constraints on nonlinear problems.</a:t>
            </a:r>
          </a:p>
          <a:p>
            <a:r>
              <a:rPr lang="en-US" dirty="0"/>
              <a:t>Excel models cannot be easily scaled.</a:t>
            </a:r>
          </a:p>
          <a:p>
            <a:r>
              <a:rPr lang="en-US" dirty="0"/>
              <a:t>The choice of algorithms to use is limited.</a:t>
            </a:r>
          </a:p>
          <a:p>
            <a:pPr lvl="1"/>
            <a:r>
              <a:rPr lang="en-US" dirty="0"/>
              <a:t>Simplex method for linear and GRG for nonlinear optimization</a:t>
            </a:r>
          </a:p>
          <a:p>
            <a:r>
              <a:rPr lang="en-US" dirty="0"/>
              <a:t>Solver cannot easily handle large-scaled data.</a:t>
            </a:r>
          </a:p>
          <a:p>
            <a:endParaRPr lang="en-US" dirty="0"/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47081087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Various Optimization Platforms</a:t>
            </a:r>
          </a:p>
        </p:txBody>
      </p:sp>
      <p:graphicFrame>
        <p:nvGraphicFramePr>
          <p:cNvPr id="7" name="Content Placeholder 6"/>
          <p:cNvGraphicFramePr>
            <a:graphicFrameLocks noGrp="1"/>
          </p:cNvGraphicFramePr>
          <p:nvPr>
            <p:ph idx="1"/>
          </p:nvPr>
        </p:nvGraphicFramePr>
        <p:xfrm>
          <a:off x="1337734" y="1473200"/>
          <a:ext cx="4470400" cy="4998264"/>
        </p:xfrm>
        <a:graphic>
          <a:graphicData uri="http://schemas.openxmlformats.org/drawingml/2006/table">
            <a:tbl>
              <a:tblPr firstRow="1" bandRow="1">
                <a:tableStyleId>{793D81CF-94F2-401A-BA57-92F5A7B2D0C5}</a:tableStyleId>
              </a:tblPr>
              <a:tblGrid>
                <a:gridCol w="4470400">
                  <a:extLst>
                    <a:ext uri="{9D8B030D-6E8A-4147-A177-3AD203B41FA5}">
                      <a16:colId xmlns:a16="http://schemas.microsoft.com/office/drawing/2014/main" val="1379634506"/>
                    </a:ext>
                  </a:extLst>
                </a:gridCol>
              </a:tblGrid>
              <a:tr h="559253">
                <a:tc>
                  <a:txBody>
                    <a:bodyPr/>
                    <a:lstStyle/>
                    <a:p>
                      <a:pPr algn="ctr"/>
                      <a:r>
                        <a:rPr lang="en-US" sz="3200" dirty="0" err="1"/>
                        <a:t>Enviroments</a:t>
                      </a:r>
                      <a:endParaRPr lang="en-US" sz="3200" dirty="0">
                        <a:solidFill>
                          <a:schemeClr val="bg2">
                            <a:lumMod val="50000"/>
                          </a:schemeClr>
                        </a:solidFill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63724248"/>
                  </a:ext>
                </a:extLst>
              </a:tr>
              <a:tr h="736524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MS Excel</a:t>
                      </a:r>
                      <a:r>
                        <a:rPr lang="en-US" sz="2400" baseline="0" dirty="0"/>
                        <a:t> Solver</a:t>
                      </a:r>
                      <a:endParaRPr lang="en-US" sz="2400" baseline="0" dirty="0">
                        <a:solidFill>
                          <a:schemeClr val="bg2">
                            <a:lumMod val="50000"/>
                          </a:schemeClr>
                        </a:solidFill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42530814"/>
                  </a:ext>
                </a:extLst>
              </a:tr>
              <a:tr h="736524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MATLAB</a:t>
                      </a:r>
                      <a:endParaRPr lang="en-US" sz="2400" dirty="0">
                        <a:solidFill>
                          <a:schemeClr val="bg2">
                            <a:lumMod val="50000"/>
                          </a:schemeClr>
                        </a:solidFill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6754423"/>
                  </a:ext>
                </a:extLst>
              </a:tr>
              <a:tr h="736524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Python(</a:t>
                      </a:r>
                      <a:r>
                        <a:rPr lang="en-US" sz="2400" dirty="0" err="1"/>
                        <a:t>SciPy</a:t>
                      </a:r>
                      <a:r>
                        <a:rPr lang="en-US" sz="2400" dirty="0"/>
                        <a:t>)</a:t>
                      </a:r>
                      <a:endParaRPr lang="en-US" sz="2400" dirty="0">
                        <a:solidFill>
                          <a:schemeClr val="bg2">
                            <a:lumMod val="50000"/>
                          </a:schemeClr>
                        </a:solidFill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09849202"/>
                  </a:ext>
                </a:extLst>
              </a:tr>
              <a:tr h="736524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 err="1"/>
                        <a:t>Gurobi</a:t>
                      </a:r>
                      <a:endParaRPr lang="en-US" sz="2400" dirty="0">
                        <a:solidFill>
                          <a:schemeClr val="bg2">
                            <a:lumMod val="50000"/>
                          </a:schemeClr>
                        </a:solidFill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91008478"/>
                  </a:ext>
                </a:extLst>
              </a:tr>
              <a:tr h="736524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C++</a:t>
                      </a:r>
                      <a:endParaRPr lang="en-US" sz="2400" dirty="0">
                        <a:solidFill>
                          <a:schemeClr val="bg2">
                            <a:lumMod val="50000"/>
                          </a:schemeClr>
                        </a:solidFill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5003285"/>
                  </a:ext>
                </a:extLst>
              </a:tr>
              <a:tr h="736524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Python</a:t>
                      </a:r>
                      <a:r>
                        <a:rPr lang="en-US" sz="2400" baseline="0" dirty="0"/>
                        <a:t>(</a:t>
                      </a:r>
                      <a:r>
                        <a:rPr lang="en-US" sz="2400" baseline="0" dirty="0" err="1"/>
                        <a:t>PuLP</a:t>
                      </a:r>
                      <a:r>
                        <a:rPr lang="en-US" sz="2400" baseline="0" dirty="0"/>
                        <a:t>)</a:t>
                      </a:r>
                      <a:endParaRPr lang="en-US" sz="2400" dirty="0">
                        <a:solidFill>
                          <a:schemeClr val="bg2">
                            <a:lumMod val="50000"/>
                          </a:schemeClr>
                        </a:solidFill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8948193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67790838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Overview of </a:t>
            </a:r>
            <a:r>
              <a:rPr lang="en-US" dirty="0" err="1"/>
              <a:t>PuLP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 err="1"/>
              <a:t>PuLP</a:t>
            </a:r>
            <a:r>
              <a:rPr lang="en-US" dirty="0"/>
              <a:t> is a Python scripting language that allows users to leverage the power and flexibility of Python to describe optimization models.</a:t>
            </a:r>
          </a:p>
          <a:p>
            <a:r>
              <a:rPr lang="en-US" dirty="0" err="1"/>
              <a:t>PuLP</a:t>
            </a:r>
            <a:r>
              <a:rPr lang="en-US" dirty="0"/>
              <a:t> is designed for modeling both linear programming (LP) and mixed-integer programming (MIP) problems.</a:t>
            </a:r>
          </a:p>
          <a:p>
            <a:r>
              <a:rPr lang="en-US" dirty="0"/>
              <a:t>With </a:t>
            </a:r>
            <a:r>
              <a:rPr lang="en-US" dirty="0" err="1"/>
              <a:t>PuLP</a:t>
            </a:r>
            <a:r>
              <a:rPr lang="en-US" dirty="0"/>
              <a:t>, you can write optimization problems in a clear and concise manner using standard mathematical notation very compactly.</a:t>
            </a:r>
          </a:p>
          <a:p>
            <a:r>
              <a:rPr lang="en-US" dirty="0" err="1"/>
              <a:t>PuLP</a:t>
            </a:r>
            <a:r>
              <a:rPr lang="en-US" dirty="0"/>
              <a:t> is open-source and freely available, and can interface with various optimization solvers, including both open-source solvers (e.g., CBC, GLPK) and commercial solvers (e.g., </a:t>
            </a:r>
            <a:r>
              <a:rPr lang="en-US" dirty="0" err="1"/>
              <a:t>Gurobi</a:t>
            </a:r>
            <a:r>
              <a:rPr lang="en-US" dirty="0"/>
              <a:t>, IBM CPLEX).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51625071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Overview of </a:t>
            </a:r>
            <a:r>
              <a:rPr lang="en-US" dirty="0" err="1"/>
              <a:t>PuLP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Python has rich data processing capabilities; thus, </a:t>
            </a:r>
            <a:r>
              <a:rPr lang="en-US" dirty="0" err="1"/>
              <a:t>PuLP</a:t>
            </a:r>
            <a:r>
              <a:rPr lang="en-US" dirty="0"/>
              <a:t> can serve as a natural interface between predictive analytics and optimization. </a:t>
            </a:r>
          </a:p>
          <a:p>
            <a:r>
              <a:rPr lang="en-US" dirty="0" err="1"/>
              <a:t>PuLP</a:t>
            </a:r>
            <a:r>
              <a:rPr lang="en-US" dirty="0"/>
              <a:t> can easily be deployed on any system that has a Python interpreter, as it has no dependencies on any other software packages.</a:t>
            </a:r>
          </a:p>
          <a:p>
            <a:r>
              <a:rPr lang="en-US" dirty="0" err="1"/>
              <a:t>PuLP</a:t>
            </a:r>
            <a:r>
              <a:rPr lang="en-US" dirty="0"/>
              <a:t> provides tools for performing sensitivity analysis to understand how changes in problem parameters affect the solution.</a:t>
            </a:r>
          </a:p>
          <a:p>
            <a:r>
              <a:rPr lang="en-US" dirty="0" err="1"/>
              <a:t>PuLP</a:t>
            </a:r>
            <a:r>
              <a:rPr lang="en-US" dirty="0"/>
              <a:t> tutorial and various case studies are available online at:</a:t>
            </a:r>
          </a:p>
          <a:p>
            <a:pPr marL="0" indent="0" algn="ctr">
              <a:buNone/>
            </a:pPr>
            <a:r>
              <a:rPr lang="en-US" dirty="0">
                <a:hlinkClick r:id="rId2"/>
              </a:rPr>
              <a:t>https://coin-or.github.io/pulp/</a:t>
            </a:r>
            <a:endParaRPr lang="en-US" dirty="0"/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38012444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Installing </a:t>
            </a:r>
            <a:r>
              <a:rPr lang="en-US" dirty="0" err="1"/>
              <a:t>PuLP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To install on Anaconda:</a:t>
            </a:r>
          </a:p>
          <a:p>
            <a:pPr lvl="1"/>
            <a:r>
              <a:rPr lang="en-US" dirty="0"/>
              <a:t>See the various installation methods provided at:</a:t>
            </a:r>
          </a:p>
          <a:p>
            <a:pPr marL="2743200" lvl="6" indent="0">
              <a:buNone/>
            </a:pPr>
            <a:r>
              <a:rPr lang="en-US" sz="2400" dirty="0">
                <a:hlinkClick r:id="rId3"/>
              </a:rPr>
              <a:t>https://pypi.org/project/PuLP/</a:t>
            </a:r>
            <a:endParaRPr lang="en-US" sz="2400" dirty="0"/>
          </a:p>
          <a:p>
            <a:r>
              <a:rPr lang="en-US" dirty="0"/>
              <a:t>To check if </a:t>
            </a:r>
            <a:r>
              <a:rPr lang="en-US" dirty="0" err="1"/>
              <a:t>PuLP</a:t>
            </a:r>
            <a:r>
              <a:rPr lang="en-US" dirty="0"/>
              <a:t> has been properly installed for Anaconda:</a:t>
            </a:r>
          </a:p>
          <a:p>
            <a:pPr lvl="1"/>
            <a:r>
              <a:rPr lang="en-US" dirty="0"/>
              <a:t>Go to Anaconda Navigator</a:t>
            </a:r>
          </a:p>
          <a:p>
            <a:pPr lvl="1"/>
            <a:r>
              <a:rPr lang="en-US" dirty="0"/>
              <a:t>Choose ‘</a:t>
            </a:r>
            <a:r>
              <a:rPr lang="en-US" dirty="0" err="1"/>
              <a:t>Enviroments</a:t>
            </a:r>
            <a:r>
              <a:rPr lang="en-US" dirty="0"/>
              <a:t>’</a:t>
            </a:r>
          </a:p>
          <a:p>
            <a:pPr lvl="1"/>
            <a:r>
              <a:rPr lang="en-US" dirty="0"/>
              <a:t>Type pulp in the box in the top right corner.</a:t>
            </a:r>
          </a:p>
          <a:p>
            <a:pPr lvl="1"/>
            <a:r>
              <a:rPr lang="en-US" dirty="0"/>
              <a:t>If pulp appears in the list, it means the </a:t>
            </a:r>
            <a:r>
              <a:rPr lang="en-US" dirty="0" err="1"/>
              <a:t>PuLP</a:t>
            </a:r>
            <a:r>
              <a:rPr lang="en-US" dirty="0"/>
              <a:t> has been installed.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27185" y="4633435"/>
            <a:ext cx="5606016" cy="20557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828365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Formulating LP Problems using </a:t>
            </a:r>
            <a:r>
              <a:rPr lang="en-US" dirty="0" err="1"/>
              <a:t>PuLP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5002" y="1312433"/>
            <a:ext cx="4334985" cy="5115990"/>
          </a:xfrm>
        </p:spPr>
        <p:txBody>
          <a:bodyPr numCol="2"/>
          <a:lstStyle/>
          <a:p>
            <a:pPr marL="0" indent="0">
              <a:buNone/>
            </a:pPr>
            <a:r>
              <a:rPr lang="en-US" dirty="0"/>
              <a:t>LP Model</a:t>
            </a:r>
          </a:p>
        </p:txBody>
      </p:sp>
      <p:graphicFrame>
        <p:nvGraphicFramePr>
          <p:cNvPr id="4" name="Object 3">
            <a:extLst>
              <a:ext uri="{FF2B5EF4-FFF2-40B4-BE49-F238E27FC236}">
                <a16:creationId xmlns:a16="http://schemas.microsoft.com/office/drawing/2014/main" id="{4DF7E030-6637-DD41-85B1-B2180406FA6A}"/>
              </a:ext>
            </a:extLst>
          </p:cNvPr>
          <p:cNvGraphicFramePr>
            <a:graphicFrameLocks noChangeAspect="1"/>
          </p:cNvGraphicFramePr>
          <p:nvPr/>
        </p:nvGraphicFramePr>
        <p:xfrm>
          <a:off x="880580" y="2100727"/>
          <a:ext cx="3485680" cy="41767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663560" imgH="1993680" progId="Equation.3">
                  <p:embed/>
                </p:oleObj>
              </mc:Choice>
              <mc:Fallback>
                <p:oleObj name="Equation" r:id="rId2" imgW="1663560" imgH="1993680" progId="Equation.3">
                  <p:embed/>
                  <p:pic>
                    <p:nvPicPr>
                      <p:cNvPr id="4" name="Object 3">
                        <a:extLst>
                          <a:ext uri="{FF2B5EF4-FFF2-40B4-BE49-F238E27FC236}">
                            <a16:creationId xmlns:a16="http://schemas.microsoft.com/office/drawing/2014/main" id="{4DF7E030-6637-DD41-85B1-B2180406FA6A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80580" y="2100727"/>
                        <a:ext cx="3485680" cy="41767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8" name="Straight Connector 7"/>
          <p:cNvCxnSpPr/>
          <p:nvPr/>
        </p:nvCxnSpPr>
        <p:spPr>
          <a:xfrm>
            <a:off x="4689987" y="1312433"/>
            <a:ext cx="0" cy="4864530"/>
          </a:xfrm>
          <a:prstGeom prst="line">
            <a:avLst/>
          </a:prstGeom>
          <a:ln w="3175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Content Placeholder 2"/>
          <p:cNvSpPr txBox="1">
            <a:spLocks/>
          </p:cNvSpPr>
          <p:nvPr/>
        </p:nvSpPr>
        <p:spPr>
          <a:xfrm>
            <a:off x="5889523" y="1312433"/>
            <a:ext cx="5943889" cy="5265348"/>
          </a:xfrm>
          <a:prstGeom prst="rect">
            <a:avLst/>
          </a:prstGeom>
        </p:spPr>
        <p:txBody>
          <a:bodyPr vert="horz" lIns="91440" tIns="45720" rIns="91440" bIns="45720" numCol="1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dirty="0" err="1"/>
              <a:t>PuLP</a:t>
            </a:r>
            <a:endParaRPr lang="en-US" dirty="0"/>
          </a:p>
          <a:p>
            <a:pPr marL="752475" lvl="1" indent="-295275">
              <a:lnSpc>
                <a:spcPct val="110000"/>
              </a:lnSpc>
              <a:buFont typeface="+mj-lt"/>
              <a:buAutoNum type="arabicPeriod"/>
            </a:pPr>
            <a:r>
              <a:rPr lang="en-US" sz="1700" b="1" dirty="0">
                <a:solidFill>
                  <a:prstClr val="black"/>
                </a:solidFill>
                <a:ea typeface="Source Sans Pro" panose="020B0503030403020204" pitchFamily="34" charset="0"/>
              </a:rPr>
              <a:t>Define the LP problem: </a:t>
            </a:r>
          </a:p>
          <a:p>
            <a:pPr marL="457200" lvl="1" indent="0" algn="ctr">
              <a:lnSpc>
                <a:spcPct val="110000"/>
              </a:lnSpc>
              <a:buNone/>
            </a:pPr>
            <a:r>
              <a:rPr lang="en-US" sz="1700" dirty="0">
                <a:solidFill>
                  <a:srgbClr val="0432FF"/>
                </a:solidFill>
                <a:ea typeface="Source Sans Pro" panose="020B0503030403020204" pitchFamily="34" charset="0"/>
                <a:cs typeface="Calibri" panose="020F0502020204030204" pitchFamily="34" charset="0"/>
              </a:rPr>
              <a:t>    </a:t>
            </a:r>
            <a:r>
              <a:rPr lang="en-US" sz="1700" dirty="0" err="1">
                <a:solidFill>
                  <a:srgbClr val="C00000"/>
                </a:solidFill>
                <a:ea typeface="Source Sans Pro" panose="020B0503030403020204" pitchFamily="34" charset="0"/>
                <a:cs typeface="Calibri" panose="020F0502020204030204" pitchFamily="34" charset="0"/>
              </a:rPr>
              <a:t>prob</a:t>
            </a:r>
            <a:r>
              <a:rPr lang="en-US" sz="1700" dirty="0">
                <a:solidFill>
                  <a:srgbClr val="C00000"/>
                </a:solidFill>
                <a:ea typeface="Source Sans Pro" panose="020B0503030403020204" pitchFamily="34" charset="0"/>
                <a:cs typeface="Calibri" panose="020F0502020204030204" pitchFamily="34" charset="0"/>
              </a:rPr>
              <a:t> =</a:t>
            </a:r>
            <a:r>
              <a:rPr lang="en-US" sz="1700" dirty="0" err="1">
                <a:solidFill>
                  <a:srgbClr val="C00000"/>
                </a:solidFill>
                <a:ea typeface="Source Sans Pro" panose="020B0503030403020204" pitchFamily="34" charset="0"/>
                <a:cs typeface="Calibri" panose="020F0502020204030204" pitchFamily="34" charset="0"/>
              </a:rPr>
              <a:t>LpProblem</a:t>
            </a:r>
            <a:r>
              <a:rPr lang="en-US" sz="1700" dirty="0">
                <a:solidFill>
                  <a:srgbClr val="C00000"/>
                </a:solidFill>
                <a:ea typeface="Source Sans Pro" panose="020B0503030403020204" pitchFamily="34" charset="0"/>
                <a:cs typeface="Calibri" panose="020F0502020204030204" pitchFamily="34" charset="0"/>
              </a:rPr>
              <a:t>(“name”,</a:t>
            </a:r>
            <a:r>
              <a:rPr lang="en-US" sz="1700" dirty="0" err="1">
                <a:solidFill>
                  <a:srgbClr val="C00000"/>
                </a:solidFill>
                <a:ea typeface="Source Sans Pro" panose="020B0503030403020204" pitchFamily="34" charset="0"/>
                <a:cs typeface="Calibri" panose="020F0502020204030204" pitchFamily="34" charset="0"/>
              </a:rPr>
              <a:t>LpMaximize</a:t>
            </a:r>
            <a:r>
              <a:rPr lang="en-US" sz="1700" dirty="0">
                <a:solidFill>
                  <a:srgbClr val="C00000"/>
                </a:solidFill>
                <a:ea typeface="Source Sans Pro" panose="020B0503030403020204" pitchFamily="34" charset="0"/>
                <a:cs typeface="Calibri" panose="020F0502020204030204" pitchFamily="34" charset="0"/>
              </a:rPr>
              <a:t>)</a:t>
            </a:r>
          </a:p>
          <a:p>
            <a:pPr marL="752475" lvl="1" indent="-295275">
              <a:lnSpc>
                <a:spcPct val="110000"/>
              </a:lnSpc>
              <a:buFont typeface="+mj-lt"/>
              <a:buAutoNum type="arabicPeriod" startAt="2"/>
            </a:pPr>
            <a:r>
              <a:rPr lang="en-US" sz="1700" b="1" dirty="0">
                <a:solidFill>
                  <a:prstClr val="black"/>
                </a:solidFill>
                <a:ea typeface="Source Sans Pro" panose="020B0503030403020204" pitchFamily="34" charset="0"/>
              </a:rPr>
              <a:t>Define parameter lists/matrices and index sets:</a:t>
            </a:r>
          </a:p>
          <a:p>
            <a:pPr marL="1039812" lvl="2" indent="-342900">
              <a:lnSpc>
                <a:spcPct val="110000"/>
              </a:lnSpc>
            </a:pPr>
            <a:r>
              <a:rPr lang="en-US" sz="1700" dirty="0">
                <a:solidFill>
                  <a:prstClr val="black"/>
                </a:solidFill>
                <a:ea typeface="Source Sans Pro" panose="020B0503030403020204" pitchFamily="34" charset="0"/>
              </a:rPr>
              <a:t>Define/Import parameter lists/matrices: </a:t>
            </a:r>
            <a:r>
              <a:rPr lang="en-US" sz="1700" b="1" dirty="0">
                <a:solidFill>
                  <a:srgbClr val="C00000"/>
                </a:solidFill>
                <a:ea typeface="Source Sans Pro" panose="020B0503030403020204" pitchFamily="34" charset="0"/>
              </a:rPr>
              <a:t>c, a, b</a:t>
            </a:r>
          </a:p>
          <a:p>
            <a:pPr marL="1039812" lvl="2" indent="-342900">
              <a:lnSpc>
                <a:spcPct val="110000"/>
              </a:lnSpc>
            </a:pPr>
            <a:r>
              <a:rPr lang="en-US" sz="1700" dirty="0">
                <a:solidFill>
                  <a:prstClr val="black"/>
                </a:solidFill>
                <a:ea typeface="Source Sans Pro" panose="020B0503030403020204" pitchFamily="34" charset="0"/>
              </a:rPr>
              <a:t>Define </a:t>
            </a:r>
            <a:r>
              <a:rPr lang="en-US" sz="1700" b="1" dirty="0">
                <a:solidFill>
                  <a:prstClr val="black"/>
                </a:solidFill>
                <a:ea typeface="Source Sans Pro" panose="020B0503030403020204" pitchFamily="34" charset="0"/>
              </a:rPr>
              <a:t>index set </a:t>
            </a:r>
            <a:r>
              <a:rPr lang="en-US" sz="1700" dirty="0">
                <a:solidFill>
                  <a:prstClr val="black"/>
                </a:solidFill>
                <a:ea typeface="Source Sans Pro" panose="020B0503030403020204" pitchFamily="34" charset="0"/>
              </a:rPr>
              <a:t>for </a:t>
            </a:r>
            <a:r>
              <a:rPr lang="en-US" sz="1700" b="1" dirty="0">
                <a:solidFill>
                  <a:prstClr val="black"/>
                </a:solidFill>
                <a:ea typeface="Source Sans Pro" panose="020B0503030403020204" pitchFamily="34" charset="0"/>
              </a:rPr>
              <a:t>decision variables</a:t>
            </a:r>
            <a:r>
              <a:rPr lang="en-US" sz="1700" dirty="0">
                <a:solidFill>
                  <a:prstClr val="black"/>
                </a:solidFill>
                <a:ea typeface="Source Sans Pro" panose="020B0503030403020204" pitchFamily="34" charset="0"/>
              </a:rPr>
              <a:t>, using a </a:t>
            </a:r>
            <a:r>
              <a:rPr lang="en-US" sz="1700" b="1" dirty="0">
                <a:solidFill>
                  <a:srgbClr val="C00000"/>
                </a:solidFill>
                <a:ea typeface="Source Sans Pro" panose="020B0503030403020204" pitchFamily="34" charset="0"/>
              </a:rPr>
              <a:t>list</a:t>
            </a:r>
            <a:r>
              <a:rPr lang="en-US" sz="1700" dirty="0">
                <a:solidFill>
                  <a:prstClr val="black"/>
                </a:solidFill>
                <a:ea typeface="Source Sans Pro" panose="020B0503030403020204" pitchFamily="34" charset="0"/>
              </a:rPr>
              <a:t>, say, </a:t>
            </a:r>
            <a:r>
              <a:rPr lang="en-US" sz="1700" b="1" dirty="0">
                <a:solidFill>
                  <a:srgbClr val="C00000"/>
                </a:solidFill>
                <a:ea typeface="Source Sans Pro" panose="020B0503030403020204" pitchFamily="34" charset="0"/>
              </a:rPr>
              <a:t>N</a:t>
            </a:r>
          </a:p>
          <a:p>
            <a:pPr marL="1039812" lvl="2" indent="-342900">
              <a:lnSpc>
                <a:spcPct val="110000"/>
              </a:lnSpc>
            </a:pPr>
            <a:r>
              <a:rPr lang="en-US" sz="1700" dirty="0">
                <a:solidFill>
                  <a:prstClr val="black"/>
                </a:solidFill>
                <a:ea typeface="Source Sans Pro" panose="020B0503030403020204" pitchFamily="34" charset="0"/>
              </a:rPr>
              <a:t>Define </a:t>
            </a:r>
            <a:r>
              <a:rPr lang="en-US" sz="1700" b="1" dirty="0">
                <a:solidFill>
                  <a:prstClr val="black"/>
                </a:solidFill>
                <a:ea typeface="Source Sans Pro" panose="020B0503030403020204" pitchFamily="34" charset="0"/>
              </a:rPr>
              <a:t>index sets </a:t>
            </a:r>
            <a:r>
              <a:rPr lang="en-US" sz="1700" dirty="0">
                <a:solidFill>
                  <a:prstClr val="black"/>
                </a:solidFill>
                <a:ea typeface="Source Sans Pro" panose="020B0503030403020204" pitchFamily="34" charset="0"/>
              </a:rPr>
              <a:t>for </a:t>
            </a:r>
            <a:r>
              <a:rPr lang="en-US" sz="1700" b="1" dirty="0">
                <a:solidFill>
                  <a:prstClr val="black"/>
                </a:solidFill>
                <a:ea typeface="Source Sans Pro" panose="020B0503030403020204" pitchFamily="34" charset="0"/>
              </a:rPr>
              <a:t>constraints</a:t>
            </a:r>
            <a:r>
              <a:rPr lang="en-US" sz="1700" dirty="0">
                <a:solidFill>
                  <a:prstClr val="black"/>
                </a:solidFill>
                <a:ea typeface="Source Sans Pro" panose="020B0503030403020204" pitchFamily="34" charset="0"/>
              </a:rPr>
              <a:t> , using</a:t>
            </a:r>
            <a:r>
              <a:rPr lang="en-US" sz="1700" dirty="0">
                <a:solidFill>
                  <a:srgbClr val="C00000"/>
                </a:solidFill>
                <a:ea typeface="Source Sans Pro" panose="020B0503030403020204" pitchFamily="34" charset="0"/>
              </a:rPr>
              <a:t> </a:t>
            </a:r>
            <a:r>
              <a:rPr lang="en-US" sz="1700" b="1" dirty="0">
                <a:solidFill>
                  <a:srgbClr val="C00000"/>
                </a:solidFill>
                <a:ea typeface="Source Sans Pro" panose="020B0503030403020204" pitchFamily="34" charset="0"/>
              </a:rPr>
              <a:t>lists</a:t>
            </a:r>
            <a:r>
              <a:rPr lang="en-US" sz="1700" dirty="0">
                <a:solidFill>
                  <a:prstClr val="black"/>
                </a:solidFill>
                <a:ea typeface="Source Sans Pro" panose="020B0503030403020204" pitchFamily="34" charset="0"/>
              </a:rPr>
              <a:t>, say, </a:t>
            </a:r>
            <a:r>
              <a:rPr lang="en-US" sz="1700" b="1" dirty="0">
                <a:solidFill>
                  <a:srgbClr val="C00000"/>
                </a:solidFill>
                <a:ea typeface="Source Sans Pro" panose="020B0503030403020204" pitchFamily="34" charset="0"/>
              </a:rPr>
              <a:t>M</a:t>
            </a:r>
            <a:r>
              <a:rPr lang="en-US" sz="1700" i="1" dirty="0">
                <a:solidFill>
                  <a:srgbClr val="C00000"/>
                </a:solidFill>
                <a:ea typeface="Source Sans Pro" panose="020B0503030403020204" pitchFamily="34" charset="0"/>
              </a:rPr>
              <a:t>, </a:t>
            </a:r>
            <a:r>
              <a:rPr lang="en-US" sz="1700" b="1" dirty="0">
                <a:solidFill>
                  <a:srgbClr val="C00000"/>
                </a:solidFill>
                <a:ea typeface="Source Sans Pro" panose="020B0503030403020204" pitchFamily="34" charset="0"/>
              </a:rPr>
              <a:t>J1, J2, J3</a:t>
            </a:r>
          </a:p>
          <a:p>
            <a:pPr marL="752475" lvl="1" indent="-295275">
              <a:lnSpc>
                <a:spcPct val="110000"/>
              </a:lnSpc>
              <a:buFont typeface="+mj-lt"/>
              <a:buAutoNum type="arabicPeriod" startAt="2"/>
            </a:pPr>
            <a:r>
              <a:rPr lang="en-US" sz="1700" b="1" dirty="0">
                <a:solidFill>
                  <a:prstClr val="black"/>
                </a:solidFill>
                <a:ea typeface="Source Sans Pro" panose="020B0503030403020204" pitchFamily="34" charset="0"/>
              </a:rPr>
              <a:t>Create parameter dictionaries</a:t>
            </a:r>
            <a:r>
              <a:rPr lang="en-US" sz="1700" dirty="0">
                <a:solidFill>
                  <a:prstClr val="black"/>
                </a:solidFill>
                <a:ea typeface="Source Sans Pro" panose="020B0503030403020204" pitchFamily="34" charset="0"/>
              </a:rPr>
              <a:t> using index set as </a:t>
            </a:r>
            <a:r>
              <a:rPr lang="en-US" sz="1700" dirty="0">
                <a:solidFill>
                  <a:srgbClr val="C00000"/>
                </a:solidFill>
                <a:ea typeface="Source Sans Pro" panose="020B0503030403020204" pitchFamily="34" charset="0"/>
              </a:rPr>
              <a:t>keys </a:t>
            </a:r>
            <a:r>
              <a:rPr lang="en-US" sz="1700" dirty="0">
                <a:solidFill>
                  <a:prstClr val="black"/>
                </a:solidFill>
                <a:ea typeface="Source Sans Pro" panose="020B0503030403020204" pitchFamily="34" charset="0"/>
              </a:rPr>
              <a:t>and parameter list as </a:t>
            </a:r>
            <a:r>
              <a:rPr lang="en-US" sz="1700" dirty="0">
                <a:solidFill>
                  <a:srgbClr val="C00000"/>
                </a:solidFill>
                <a:ea typeface="Source Sans Pro" panose="020B0503030403020204" pitchFamily="34" charset="0"/>
              </a:rPr>
              <a:t>values:</a:t>
            </a:r>
          </a:p>
          <a:p>
            <a:pPr marL="1039812" lvl="2" indent="-342900">
              <a:lnSpc>
                <a:spcPct val="110000"/>
              </a:lnSpc>
            </a:pPr>
            <a:r>
              <a:rPr lang="en-US" sz="1700" dirty="0">
                <a:solidFill>
                  <a:prstClr val="black"/>
                </a:solidFill>
                <a:ea typeface="Source Sans Pro" panose="020B0503030403020204" pitchFamily="34" charset="0"/>
              </a:rPr>
              <a:t>e.g., objective function coefficients </a:t>
            </a:r>
            <a:r>
              <a:rPr lang="en-US" sz="1700" dirty="0">
                <a:solidFill>
                  <a:srgbClr val="C00000"/>
                </a:solidFill>
                <a:ea typeface="Source Sans Pro" panose="020B0503030403020204" pitchFamily="34" charset="0"/>
              </a:rPr>
              <a:t>c = </a:t>
            </a:r>
            <a:r>
              <a:rPr lang="en-US" sz="1700" dirty="0" err="1">
                <a:solidFill>
                  <a:srgbClr val="C00000"/>
                </a:solidFill>
                <a:ea typeface="Source Sans Pro" panose="020B0503030403020204" pitchFamily="34" charset="0"/>
              </a:rPr>
              <a:t>dict</a:t>
            </a:r>
            <a:r>
              <a:rPr lang="en-US" sz="1700" dirty="0">
                <a:solidFill>
                  <a:srgbClr val="C00000"/>
                </a:solidFill>
                <a:ea typeface="Source Sans Pro" panose="020B0503030403020204" pitchFamily="34" charset="0"/>
              </a:rPr>
              <a:t>(zip(</a:t>
            </a:r>
            <a:r>
              <a:rPr lang="en-US" sz="1700" dirty="0" err="1">
                <a:solidFill>
                  <a:srgbClr val="C00000"/>
                </a:solidFill>
                <a:ea typeface="Source Sans Pro" panose="020B0503030403020204" pitchFamily="34" charset="0"/>
              </a:rPr>
              <a:t>N,c</a:t>
            </a:r>
            <a:r>
              <a:rPr lang="en-US" sz="1700" dirty="0">
                <a:solidFill>
                  <a:srgbClr val="C00000"/>
                </a:solidFill>
                <a:ea typeface="Source Sans Pro" panose="020B0503030403020204" pitchFamily="34" charset="0"/>
              </a:rPr>
              <a:t>))</a:t>
            </a:r>
          </a:p>
          <a:p>
            <a:pPr marL="1039812" lvl="2" indent="-342900">
              <a:lnSpc>
                <a:spcPct val="110000"/>
              </a:lnSpc>
            </a:pPr>
            <a:r>
              <a:rPr lang="en-US" sz="1700" dirty="0">
                <a:solidFill>
                  <a:prstClr val="black"/>
                </a:solidFill>
                <a:ea typeface="Source Sans Pro" panose="020B0503030403020204" pitchFamily="34" charset="0"/>
              </a:rPr>
              <a:t>e.g., RHS constants, </a:t>
            </a:r>
            <a:r>
              <a:rPr lang="en-US" sz="1700" dirty="0">
                <a:solidFill>
                  <a:srgbClr val="C00000"/>
                </a:solidFill>
                <a:ea typeface="Source Sans Pro" panose="020B0503030403020204" pitchFamily="34" charset="0"/>
              </a:rPr>
              <a:t>b=</a:t>
            </a:r>
            <a:r>
              <a:rPr lang="en-US" sz="1700" dirty="0" err="1">
                <a:solidFill>
                  <a:srgbClr val="C00000"/>
                </a:solidFill>
                <a:ea typeface="Source Sans Pro" panose="020B0503030403020204" pitchFamily="34" charset="0"/>
              </a:rPr>
              <a:t>dict</a:t>
            </a:r>
            <a:r>
              <a:rPr lang="en-US" sz="1700" dirty="0">
                <a:solidFill>
                  <a:srgbClr val="C00000"/>
                </a:solidFill>
                <a:ea typeface="Source Sans Pro" panose="020B0503030403020204" pitchFamily="34" charset="0"/>
              </a:rPr>
              <a:t>(zip(</a:t>
            </a:r>
            <a:r>
              <a:rPr lang="en-US" sz="1700" dirty="0" err="1">
                <a:solidFill>
                  <a:srgbClr val="C00000"/>
                </a:solidFill>
                <a:ea typeface="Source Sans Pro" panose="020B0503030403020204" pitchFamily="34" charset="0"/>
              </a:rPr>
              <a:t>M,b</a:t>
            </a:r>
            <a:r>
              <a:rPr lang="en-US" sz="1700" dirty="0">
                <a:solidFill>
                  <a:srgbClr val="C00000"/>
                </a:solidFill>
                <a:ea typeface="Source Sans Pro" panose="020B0503030403020204" pitchFamily="34" charset="0"/>
              </a:rPr>
              <a:t>))</a:t>
            </a:r>
          </a:p>
          <a:p>
            <a:pPr marL="1039812" lvl="2" indent="-342900">
              <a:lnSpc>
                <a:spcPct val="110000"/>
              </a:lnSpc>
            </a:pPr>
            <a:r>
              <a:rPr lang="en-US" sz="1700" dirty="0">
                <a:solidFill>
                  <a:prstClr val="black"/>
                </a:solidFill>
                <a:ea typeface="Source Sans Pro" panose="020B0503030403020204" pitchFamily="34" charset="0"/>
              </a:rPr>
              <a:t>e.g., Constraint matrix, </a:t>
            </a:r>
            <a:r>
              <a:rPr lang="en-US" sz="1700" dirty="0">
                <a:solidFill>
                  <a:srgbClr val="C00000"/>
                </a:solidFill>
                <a:ea typeface="Source Sans Pro" panose="020B0503030403020204" pitchFamily="34" charset="0"/>
                <a:cs typeface="Calibri" panose="020F0502020204030204" pitchFamily="34" charset="0"/>
              </a:rPr>
              <a:t>a = </a:t>
            </a:r>
            <a:r>
              <a:rPr lang="en-US" sz="1700" dirty="0" err="1">
                <a:solidFill>
                  <a:srgbClr val="C00000"/>
                </a:solidFill>
                <a:ea typeface="Source Sans Pro" panose="020B0503030403020204" pitchFamily="34" charset="0"/>
                <a:cs typeface="Calibri" panose="020F0502020204030204" pitchFamily="34" charset="0"/>
              </a:rPr>
              <a:t>MakeDict</a:t>
            </a:r>
            <a:r>
              <a:rPr lang="en-US" sz="1700" dirty="0">
                <a:solidFill>
                  <a:srgbClr val="C00000"/>
                </a:solidFill>
                <a:ea typeface="Source Sans Pro" panose="020B0503030403020204" pitchFamily="34" charset="0"/>
                <a:cs typeface="Calibri" panose="020F0502020204030204" pitchFamily="34" charset="0"/>
              </a:rPr>
              <a:t>([N,M], a)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 dirty="0"/>
          </a:p>
        </p:txBody>
      </p:sp>
      <p:sp>
        <p:nvSpPr>
          <p:cNvPr id="12" name="Left Brace 11"/>
          <p:cNvSpPr/>
          <p:nvPr/>
        </p:nvSpPr>
        <p:spPr>
          <a:xfrm>
            <a:off x="6075352" y="1828511"/>
            <a:ext cx="348308" cy="4169166"/>
          </a:xfrm>
          <a:prstGeom prst="leftBrace">
            <a:avLst>
              <a:gd name="adj1" fmla="val 76082"/>
              <a:gd name="adj2" fmla="val 50000"/>
            </a:avLst>
          </a:prstGeom>
          <a:ln w="22225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TextBox 14"/>
          <p:cNvSpPr txBox="1"/>
          <p:nvPr/>
        </p:nvSpPr>
        <p:spPr>
          <a:xfrm flipH="1">
            <a:off x="4788309" y="3312929"/>
            <a:ext cx="130589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C00000"/>
                </a:solidFill>
              </a:rPr>
              <a:t>Parameter and data structure preparation</a:t>
            </a:r>
          </a:p>
        </p:txBody>
      </p:sp>
    </p:spTree>
    <p:extLst>
      <p:ext uri="{BB962C8B-B14F-4D97-AF65-F5344CB8AC3E}">
        <p14:creationId xmlns:p14="http://schemas.microsoft.com/office/powerpoint/2010/main" val="34635192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5" grpId="0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Formulating LP Problems using </a:t>
            </a:r>
            <a:r>
              <a:rPr lang="en-US" dirty="0" err="1"/>
              <a:t>PuLP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5002" y="1312433"/>
            <a:ext cx="4334985" cy="5115990"/>
          </a:xfrm>
        </p:spPr>
        <p:txBody>
          <a:bodyPr numCol="2"/>
          <a:lstStyle/>
          <a:p>
            <a:pPr marL="0" indent="0">
              <a:buNone/>
            </a:pPr>
            <a:r>
              <a:rPr lang="en-US" dirty="0"/>
              <a:t>LP Model</a:t>
            </a:r>
          </a:p>
        </p:txBody>
      </p:sp>
      <p:graphicFrame>
        <p:nvGraphicFramePr>
          <p:cNvPr id="4" name="Object 3">
            <a:extLst>
              <a:ext uri="{FF2B5EF4-FFF2-40B4-BE49-F238E27FC236}">
                <a16:creationId xmlns:a16="http://schemas.microsoft.com/office/drawing/2014/main" id="{4DF7E030-6637-DD41-85B1-B2180406FA6A}"/>
              </a:ext>
            </a:extLst>
          </p:cNvPr>
          <p:cNvGraphicFramePr>
            <a:graphicFrameLocks noChangeAspect="1"/>
          </p:cNvGraphicFramePr>
          <p:nvPr/>
        </p:nvGraphicFramePr>
        <p:xfrm>
          <a:off x="880580" y="2100727"/>
          <a:ext cx="3485680" cy="41767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663560" imgH="1993680" progId="Equation.3">
                  <p:embed/>
                </p:oleObj>
              </mc:Choice>
              <mc:Fallback>
                <p:oleObj name="Equation" r:id="rId2" imgW="1663560" imgH="1993680" progId="Equation.3">
                  <p:embed/>
                  <p:pic>
                    <p:nvPicPr>
                      <p:cNvPr id="4" name="Object 3">
                        <a:extLst>
                          <a:ext uri="{FF2B5EF4-FFF2-40B4-BE49-F238E27FC236}">
                            <a16:creationId xmlns:a16="http://schemas.microsoft.com/office/drawing/2014/main" id="{4DF7E030-6637-DD41-85B1-B2180406FA6A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80580" y="2100727"/>
                        <a:ext cx="3485680" cy="41767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8" name="Straight Connector 7"/>
          <p:cNvCxnSpPr/>
          <p:nvPr/>
        </p:nvCxnSpPr>
        <p:spPr>
          <a:xfrm>
            <a:off x="4689987" y="1312433"/>
            <a:ext cx="0" cy="4864530"/>
          </a:xfrm>
          <a:prstGeom prst="line">
            <a:avLst/>
          </a:prstGeom>
          <a:ln w="3175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Content Placeholder 2"/>
          <p:cNvSpPr txBox="1">
            <a:spLocks/>
          </p:cNvSpPr>
          <p:nvPr/>
        </p:nvSpPr>
        <p:spPr>
          <a:xfrm>
            <a:off x="5889523" y="1312433"/>
            <a:ext cx="5943889" cy="5265348"/>
          </a:xfrm>
          <a:prstGeom prst="rect">
            <a:avLst/>
          </a:prstGeom>
        </p:spPr>
        <p:txBody>
          <a:bodyPr vert="horz" lIns="91440" tIns="45720" rIns="91440" bIns="45720" numCol="1" rtlCol="0">
            <a:normAutofit fontScale="92500"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sz="3000" dirty="0" err="1"/>
              <a:t>PuLP</a:t>
            </a:r>
            <a:endParaRPr lang="en-US" sz="3000" dirty="0"/>
          </a:p>
          <a:p>
            <a:pPr marL="800100" lvl="1" indent="-342900">
              <a:lnSpc>
                <a:spcPct val="110000"/>
              </a:lnSpc>
              <a:buFont typeface="+mj-lt"/>
              <a:buAutoNum type="arabicPeriod" startAt="4"/>
            </a:pPr>
            <a:r>
              <a:rPr lang="en-US" sz="1800" b="1" dirty="0">
                <a:solidFill>
                  <a:prstClr val="black"/>
                </a:solidFill>
                <a:ea typeface="Source Sans Pro" panose="020B0503030403020204" pitchFamily="34" charset="0"/>
              </a:rPr>
              <a:t>Define decision variable dictionary </a:t>
            </a:r>
            <a:r>
              <a:rPr lang="en-US" sz="1800" dirty="0">
                <a:solidFill>
                  <a:prstClr val="black"/>
                </a:solidFill>
                <a:ea typeface="Source Sans Pro" panose="020B0503030403020204" pitchFamily="34" charset="0"/>
              </a:rPr>
              <a:t>using index set as keys</a:t>
            </a:r>
          </a:p>
          <a:p>
            <a:pPr marL="696912" lvl="2" indent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C00000"/>
                </a:solidFill>
                <a:ea typeface="Source Sans Pro" panose="020B0503030403020204" pitchFamily="34" charset="0"/>
                <a:cs typeface="Calibri" panose="020F0502020204030204" pitchFamily="34" charset="0"/>
              </a:rPr>
              <a:t>x=</a:t>
            </a:r>
            <a:r>
              <a:rPr lang="en-US" sz="1800" dirty="0" err="1">
                <a:solidFill>
                  <a:srgbClr val="C00000"/>
                </a:solidFill>
                <a:ea typeface="Source Sans Pro" panose="020B0503030403020204" pitchFamily="34" charset="0"/>
                <a:cs typeface="Calibri" panose="020F0502020204030204" pitchFamily="34" charset="0"/>
              </a:rPr>
              <a:t>LpVariable.dicts</a:t>
            </a:r>
            <a:r>
              <a:rPr lang="en-US" sz="1800" dirty="0">
                <a:solidFill>
                  <a:srgbClr val="C00000"/>
                </a:solidFill>
                <a:ea typeface="Source Sans Pro" panose="020B0503030403020204" pitchFamily="34" charset="0"/>
                <a:cs typeface="Calibri" panose="020F0502020204030204" pitchFamily="34" charset="0"/>
              </a:rPr>
              <a:t>(”</a:t>
            </a:r>
            <a:r>
              <a:rPr lang="en-US" sz="1800" dirty="0" err="1">
                <a:solidFill>
                  <a:srgbClr val="C00000"/>
                </a:solidFill>
                <a:ea typeface="Source Sans Pro" panose="020B0503030403020204" pitchFamily="34" charset="0"/>
                <a:cs typeface="Calibri" panose="020F0502020204030204" pitchFamily="34" charset="0"/>
              </a:rPr>
              <a:t>x”,N</a:t>
            </a:r>
            <a:r>
              <a:rPr lang="en-US" sz="1800" dirty="0">
                <a:solidFill>
                  <a:srgbClr val="C00000"/>
                </a:solidFill>
                <a:ea typeface="Source Sans Pro" panose="020B0503030403020204" pitchFamily="34" charset="0"/>
                <a:cs typeface="Calibri" panose="020F0502020204030204" pitchFamily="34" charset="0"/>
              </a:rPr>
              <a:t>, </a:t>
            </a:r>
            <a:r>
              <a:rPr lang="en-US" sz="1800" dirty="0" err="1">
                <a:solidFill>
                  <a:srgbClr val="C00000"/>
                </a:solidFill>
                <a:ea typeface="Source Sans Pro" panose="020B0503030403020204" pitchFamily="34" charset="0"/>
                <a:cs typeface="Calibri" panose="020F0502020204030204" pitchFamily="34" charset="0"/>
              </a:rPr>
              <a:t>lowBound</a:t>
            </a:r>
            <a:r>
              <a:rPr lang="en-US" sz="1800" dirty="0">
                <a:solidFill>
                  <a:srgbClr val="C00000"/>
                </a:solidFill>
                <a:ea typeface="Source Sans Pro" panose="020B0503030403020204" pitchFamily="34" charset="0"/>
                <a:cs typeface="Calibri" panose="020F0502020204030204" pitchFamily="34" charset="0"/>
              </a:rPr>
              <a:t>=0, cat=“Continuous”)</a:t>
            </a:r>
          </a:p>
          <a:p>
            <a:pPr marL="752475" lvl="1" indent="-295275">
              <a:lnSpc>
                <a:spcPct val="110000"/>
              </a:lnSpc>
              <a:buFont typeface="+mj-lt"/>
              <a:buAutoNum type="arabicPeriod" startAt="4"/>
            </a:pPr>
            <a:r>
              <a:rPr lang="en-US" sz="1800" b="1" dirty="0">
                <a:solidFill>
                  <a:prstClr val="black"/>
                </a:solidFill>
                <a:ea typeface="Source Sans Pro" panose="020B0503030403020204" pitchFamily="34" charset="0"/>
              </a:rPr>
              <a:t>Define Objective function</a:t>
            </a:r>
          </a:p>
          <a:p>
            <a:pPr marL="457200" lvl="1" indent="0" algn="ctr">
              <a:lnSpc>
                <a:spcPct val="110000"/>
              </a:lnSpc>
              <a:buNone/>
            </a:pPr>
            <a:r>
              <a:rPr lang="en-US" sz="1800" dirty="0" err="1">
                <a:solidFill>
                  <a:srgbClr val="C00000"/>
                </a:solidFill>
                <a:cs typeface="Calibri" panose="020F0502020204030204" pitchFamily="34" charset="0"/>
              </a:rPr>
              <a:t>prob</a:t>
            </a:r>
            <a:r>
              <a:rPr lang="en-US" sz="1800" dirty="0">
                <a:solidFill>
                  <a:srgbClr val="C00000"/>
                </a:solidFill>
                <a:cs typeface="Calibri" panose="020F0502020204030204" pitchFamily="34" charset="0"/>
              </a:rPr>
              <a:t> +=</a:t>
            </a:r>
            <a:r>
              <a:rPr lang="en-US" sz="1800" dirty="0" err="1">
                <a:solidFill>
                  <a:srgbClr val="C00000"/>
                </a:solidFill>
                <a:cs typeface="Calibri" panose="020F0502020204030204" pitchFamily="34" charset="0"/>
              </a:rPr>
              <a:t>lpSum</a:t>
            </a:r>
            <a:r>
              <a:rPr lang="en-US" sz="1800" dirty="0">
                <a:solidFill>
                  <a:srgbClr val="C00000"/>
                </a:solidFill>
                <a:cs typeface="Calibri" panose="020F0502020204030204" pitchFamily="34" charset="0"/>
              </a:rPr>
              <a:t>(</a:t>
            </a:r>
            <a:r>
              <a:rPr lang="en-US" sz="1800" b="1" dirty="0">
                <a:solidFill>
                  <a:srgbClr val="00B050"/>
                </a:solidFill>
                <a:cs typeface="Calibri" panose="020F0502020204030204" pitchFamily="34" charset="0"/>
              </a:rPr>
              <a:t>[</a:t>
            </a:r>
            <a:r>
              <a:rPr lang="en-US" sz="1800" dirty="0">
                <a:solidFill>
                  <a:srgbClr val="C00000"/>
                </a:solidFill>
                <a:cs typeface="Calibri" panose="020F0502020204030204" pitchFamily="34" charset="0"/>
              </a:rPr>
              <a:t>c[i]*x[i] for i in N</a:t>
            </a:r>
            <a:r>
              <a:rPr lang="en-US" sz="1800" b="1" dirty="0">
                <a:solidFill>
                  <a:srgbClr val="00B050"/>
                </a:solidFill>
                <a:cs typeface="Calibri" panose="020F0502020204030204" pitchFamily="34" charset="0"/>
              </a:rPr>
              <a:t>]</a:t>
            </a:r>
            <a:r>
              <a:rPr lang="en-US" sz="1800" dirty="0">
                <a:solidFill>
                  <a:srgbClr val="C00000"/>
                </a:solidFill>
                <a:cs typeface="Calibri" panose="020F0502020204030204" pitchFamily="34" charset="0"/>
              </a:rPr>
              <a:t>)</a:t>
            </a:r>
            <a:endParaRPr lang="en-US" sz="1800" b="1" dirty="0">
              <a:solidFill>
                <a:prstClr val="black"/>
              </a:solidFill>
              <a:ea typeface="Source Sans Pro" panose="020B0503030403020204" pitchFamily="34" charset="0"/>
            </a:endParaRPr>
          </a:p>
          <a:p>
            <a:pPr marL="696913" lvl="1" indent="-239713">
              <a:lnSpc>
                <a:spcPct val="110000"/>
              </a:lnSpc>
              <a:spcBef>
                <a:spcPts val="0"/>
              </a:spcBef>
              <a:buFont typeface="+mj-lt"/>
              <a:buAutoNum type="arabicPeriod" startAt="6"/>
            </a:pPr>
            <a:r>
              <a:rPr lang="en-US" sz="1900" b="1" dirty="0">
                <a:solidFill>
                  <a:prstClr val="black"/>
                </a:solidFill>
                <a:ea typeface="Source Sans Pro" panose="020B0503030403020204" pitchFamily="34" charset="0"/>
              </a:rPr>
              <a:t>Define Constraints</a:t>
            </a:r>
          </a:p>
          <a:p>
            <a:pPr marL="1039812" lvl="2" indent="-342900">
              <a:lnSpc>
                <a:spcPct val="110000"/>
              </a:lnSpc>
              <a:spcBef>
                <a:spcPts val="0"/>
              </a:spcBef>
              <a:buNone/>
            </a:pPr>
            <a:r>
              <a:rPr lang="en-US" sz="1900" dirty="0">
                <a:solidFill>
                  <a:prstClr val="black"/>
                </a:solidFill>
                <a:ea typeface="Source Sans Pro" panose="020B0503030403020204" pitchFamily="34" charset="0"/>
              </a:rPr>
              <a:t>Use for loop to add constraints in “groups”</a:t>
            </a:r>
          </a:p>
          <a:p>
            <a:pPr marL="696912" lvl="2" indent="0">
              <a:lnSpc>
                <a:spcPct val="110000"/>
              </a:lnSpc>
              <a:spcBef>
                <a:spcPts val="0"/>
              </a:spcBef>
              <a:buNone/>
            </a:pPr>
            <a:r>
              <a:rPr lang="en-US" sz="1900" dirty="0">
                <a:solidFill>
                  <a:srgbClr val="C00000"/>
                </a:solidFill>
                <a:ea typeface="Source Sans Pro" panose="020B0503030403020204" pitchFamily="34" charset="0"/>
              </a:rPr>
              <a:t>for j in J1: </a:t>
            </a:r>
          </a:p>
          <a:p>
            <a:pPr marL="696912" lvl="2" indent="0">
              <a:lnSpc>
                <a:spcPct val="110000"/>
              </a:lnSpc>
              <a:spcBef>
                <a:spcPts val="0"/>
              </a:spcBef>
              <a:buNone/>
            </a:pPr>
            <a:r>
              <a:rPr lang="en-US" sz="1900" dirty="0">
                <a:solidFill>
                  <a:srgbClr val="C00000"/>
                </a:solidFill>
                <a:ea typeface="Source Sans Pro" panose="020B0503030403020204" pitchFamily="34" charset="0"/>
              </a:rPr>
              <a:t>	</a:t>
            </a:r>
            <a:r>
              <a:rPr lang="en-US" sz="1900" dirty="0" err="1">
                <a:solidFill>
                  <a:srgbClr val="C00000"/>
                </a:solidFill>
                <a:ea typeface="Source Sans Pro" panose="020B0503030403020204" pitchFamily="34" charset="0"/>
              </a:rPr>
              <a:t>prob</a:t>
            </a:r>
            <a:r>
              <a:rPr lang="en-US" sz="1900" dirty="0">
                <a:solidFill>
                  <a:srgbClr val="C00000"/>
                </a:solidFill>
                <a:ea typeface="Source Sans Pro" panose="020B0503030403020204" pitchFamily="34" charset="0"/>
              </a:rPr>
              <a:t> +=</a:t>
            </a:r>
            <a:r>
              <a:rPr lang="en-US" sz="1900" dirty="0" err="1">
                <a:solidFill>
                  <a:srgbClr val="C00000"/>
                </a:solidFill>
                <a:ea typeface="Source Sans Pro" panose="020B0503030403020204" pitchFamily="34" charset="0"/>
              </a:rPr>
              <a:t>lpSum</a:t>
            </a:r>
            <a:r>
              <a:rPr lang="en-US" sz="1900" dirty="0">
                <a:solidFill>
                  <a:srgbClr val="C00000"/>
                </a:solidFill>
                <a:ea typeface="Source Sans Pro" panose="020B0503030403020204" pitchFamily="34" charset="0"/>
              </a:rPr>
              <a:t>(</a:t>
            </a:r>
            <a:r>
              <a:rPr lang="en-US" sz="1900" b="1" dirty="0">
                <a:solidFill>
                  <a:srgbClr val="00B050"/>
                </a:solidFill>
                <a:ea typeface="Source Sans Pro" panose="020B0503030403020204" pitchFamily="34" charset="0"/>
              </a:rPr>
              <a:t>[</a:t>
            </a:r>
            <a:r>
              <a:rPr lang="en-US" sz="1900" dirty="0">
                <a:solidFill>
                  <a:srgbClr val="C00000"/>
                </a:solidFill>
                <a:ea typeface="Source Sans Pro" panose="020B0503030403020204" pitchFamily="34" charset="0"/>
              </a:rPr>
              <a:t>a[i][j]*x[i] for i in N</a:t>
            </a:r>
            <a:r>
              <a:rPr lang="en-US" sz="1900" b="1" dirty="0">
                <a:solidFill>
                  <a:srgbClr val="00B050"/>
                </a:solidFill>
                <a:ea typeface="Source Sans Pro" panose="020B0503030403020204" pitchFamily="34" charset="0"/>
              </a:rPr>
              <a:t>]</a:t>
            </a:r>
            <a:r>
              <a:rPr lang="en-US" sz="1900" dirty="0">
                <a:solidFill>
                  <a:srgbClr val="C00000"/>
                </a:solidFill>
                <a:ea typeface="Source Sans Pro" panose="020B0503030403020204" pitchFamily="34" charset="0"/>
              </a:rPr>
              <a:t>) </a:t>
            </a:r>
            <a:r>
              <a:rPr lang="en-US" sz="1900" dirty="0">
                <a:solidFill>
                  <a:srgbClr val="00B050"/>
                </a:solidFill>
                <a:ea typeface="Source Sans Pro" panose="020B0503030403020204" pitchFamily="34" charset="0"/>
              </a:rPr>
              <a:t>==</a:t>
            </a:r>
            <a:r>
              <a:rPr lang="en-US" sz="1900" dirty="0">
                <a:solidFill>
                  <a:srgbClr val="0432FF"/>
                </a:solidFill>
                <a:ea typeface="Source Sans Pro" panose="020B0503030403020204" pitchFamily="34" charset="0"/>
              </a:rPr>
              <a:t> </a:t>
            </a:r>
            <a:r>
              <a:rPr lang="en-US" sz="1900" dirty="0">
                <a:solidFill>
                  <a:srgbClr val="C00000"/>
                </a:solidFill>
                <a:ea typeface="Source Sans Pro" panose="020B0503030403020204" pitchFamily="34" charset="0"/>
              </a:rPr>
              <a:t>b[j]</a:t>
            </a:r>
          </a:p>
          <a:p>
            <a:pPr marL="696912" lvl="2" indent="0">
              <a:lnSpc>
                <a:spcPct val="110000"/>
              </a:lnSpc>
              <a:spcBef>
                <a:spcPts val="0"/>
              </a:spcBef>
              <a:buNone/>
            </a:pPr>
            <a:r>
              <a:rPr lang="en-US" sz="1900" dirty="0">
                <a:solidFill>
                  <a:srgbClr val="C00000"/>
                </a:solidFill>
                <a:ea typeface="Source Sans Pro" panose="020B0503030403020204" pitchFamily="34" charset="0"/>
              </a:rPr>
              <a:t>for j in J2: </a:t>
            </a:r>
          </a:p>
          <a:p>
            <a:pPr marL="696912" lvl="2" indent="0">
              <a:lnSpc>
                <a:spcPct val="110000"/>
              </a:lnSpc>
              <a:spcBef>
                <a:spcPts val="0"/>
              </a:spcBef>
              <a:buNone/>
            </a:pPr>
            <a:r>
              <a:rPr lang="en-US" sz="1900" dirty="0">
                <a:solidFill>
                  <a:srgbClr val="C00000"/>
                </a:solidFill>
                <a:ea typeface="Source Sans Pro" panose="020B0503030403020204" pitchFamily="34" charset="0"/>
              </a:rPr>
              <a:t>	</a:t>
            </a:r>
            <a:r>
              <a:rPr lang="en-US" sz="1900" dirty="0" err="1">
                <a:solidFill>
                  <a:srgbClr val="C00000"/>
                </a:solidFill>
                <a:ea typeface="Source Sans Pro" panose="020B0503030403020204" pitchFamily="34" charset="0"/>
              </a:rPr>
              <a:t>prob</a:t>
            </a:r>
            <a:r>
              <a:rPr lang="en-US" sz="1900" dirty="0">
                <a:solidFill>
                  <a:srgbClr val="C00000"/>
                </a:solidFill>
                <a:ea typeface="Source Sans Pro" panose="020B0503030403020204" pitchFamily="34" charset="0"/>
              </a:rPr>
              <a:t> +=</a:t>
            </a:r>
            <a:r>
              <a:rPr lang="en-US" sz="1900" dirty="0" err="1">
                <a:solidFill>
                  <a:srgbClr val="C00000"/>
                </a:solidFill>
                <a:ea typeface="Source Sans Pro" panose="020B0503030403020204" pitchFamily="34" charset="0"/>
              </a:rPr>
              <a:t>lpSum</a:t>
            </a:r>
            <a:r>
              <a:rPr lang="en-US" sz="1900" dirty="0">
                <a:solidFill>
                  <a:srgbClr val="C00000"/>
                </a:solidFill>
                <a:ea typeface="Source Sans Pro" panose="020B0503030403020204" pitchFamily="34" charset="0"/>
              </a:rPr>
              <a:t>(</a:t>
            </a:r>
            <a:r>
              <a:rPr lang="en-US" sz="1900" b="1" dirty="0">
                <a:solidFill>
                  <a:srgbClr val="00B050"/>
                </a:solidFill>
                <a:ea typeface="Source Sans Pro" panose="020B0503030403020204" pitchFamily="34" charset="0"/>
              </a:rPr>
              <a:t>[</a:t>
            </a:r>
            <a:r>
              <a:rPr lang="en-US" sz="1900" dirty="0">
                <a:solidFill>
                  <a:srgbClr val="C00000"/>
                </a:solidFill>
                <a:ea typeface="Source Sans Pro" panose="020B0503030403020204" pitchFamily="34" charset="0"/>
              </a:rPr>
              <a:t>a[i][j]*x[i] for i in N</a:t>
            </a:r>
            <a:r>
              <a:rPr lang="en-US" sz="1900" b="1" dirty="0">
                <a:solidFill>
                  <a:srgbClr val="00B050"/>
                </a:solidFill>
                <a:ea typeface="Source Sans Pro" panose="020B0503030403020204" pitchFamily="34" charset="0"/>
              </a:rPr>
              <a:t>]</a:t>
            </a:r>
            <a:r>
              <a:rPr lang="en-US" sz="1900" dirty="0">
                <a:solidFill>
                  <a:srgbClr val="C00000"/>
                </a:solidFill>
                <a:ea typeface="Source Sans Pro" panose="020B0503030403020204" pitchFamily="34" charset="0"/>
              </a:rPr>
              <a:t>) </a:t>
            </a:r>
            <a:r>
              <a:rPr lang="en-US" sz="1900" dirty="0">
                <a:solidFill>
                  <a:srgbClr val="00B050"/>
                </a:solidFill>
                <a:ea typeface="Source Sans Pro" panose="020B0503030403020204" pitchFamily="34" charset="0"/>
              </a:rPr>
              <a:t>&lt;=</a:t>
            </a:r>
            <a:r>
              <a:rPr lang="en-US" sz="1900" dirty="0">
                <a:solidFill>
                  <a:srgbClr val="C00000"/>
                </a:solidFill>
                <a:ea typeface="Source Sans Pro" panose="020B0503030403020204" pitchFamily="34" charset="0"/>
              </a:rPr>
              <a:t> b[j]</a:t>
            </a:r>
          </a:p>
          <a:p>
            <a:pPr marL="696912" lvl="2" indent="0">
              <a:lnSpc>
                <a:spcPct val="110000"/>
              </a:lnSpc>
              <a:spcBef>
                <a:spcPts val="0"/>
              </a:spcBef>
              <a:buNone/>
            </a:pPr>
            <a:r>
              <a:rPr lang="en-US" sz="1900" dirty="0">
                <a:solidFill>
                  <a:srgbClr val="C00000"/>
                </a:solidFill>
                <a:ea typeface="Source Sans Pro" panose="020B0503030403020204" pitchFamily="34" charset="0"/>
              </a:rPr>
              <a:t>for j in J3:</a:t>
            </a:r>
          </a:p>
          <a:p>
            <a:pPr marL="696912" lvl="2" indent="0">
              <a:lnSpc>
                <a:spcPct val="110000"/>
              </a:lnSpc>
              <a:spcBef>
                <a:spcPts val="0"/>
              </a:spcBef>
              <a:buNone/>
            </a:pPr>
            <a:r>
              <a:rPr lang="en-US" sz="1900" dirty="0">
                <a:solidFill>
                  <a:srgbClr val="C00000"/>
                </a:solidFill>
                <a:ea typeface="Source Sans Pro" panose="020B0503030403020204" pitchFamily="34" charset="0"/>
              </a:rPr>
              <a:t>	</a:t>
            </a:r>
            <a:r>
              <a:rPr lang="en-US" sz="1900" dirty="0" err="1">
                <a:solidFill>
                  <a:srgbClr val="C00000"/>
                </a:solidFill>
                <a:ea typeface="Source Sans Pro" panose="020B0503030403020204" pitchFamily="34" charset="0"/>
              </a:rPr>
              <a:t>prob</a:t>
            </a:r>
            <a:r>
              <a:rPr lang="en-US" sz="1900" dirty="0">
                <a:solidFill>
                  <a:srgbClr val="C00000"/>
                </a:solidFill>
                <a:ea typeface="Source Sans Pro" panose="020B0503030403020204" pitchFamily="34" charset="0"/>
              </a:rPr>
              <a:t> +=</a:t>
            </a:r>
            <a:r>
              <a:rPr lang="en-US" sz="1900" dirty="0" err="1">
                <a:solidFill>
                  <a:srgbClr val="C00000"/>
                </a:solidFill>
                <a:ea typeface="Source Sans Pro" panose="020B0503030403020204" pitchFamily="34" charset="0"/>
              </a:rPr>
              <a:t>lpSum</a:t>
            </a:r>
            <a:r>
              <a:rPr lang="en-US" sz="1900" dirty="0">
                <a:solidFill>
                  <a:srgbClr val="C00000"/>
                </a:solidFill>
                <a:ea typeface="Source Sans Pro" panose="020B0503030403020204" pitchFamily="34" charset="0"/>
              </a:rPr>
              <a:t>(</a:t>
            </a:r>
            <a:r>
              <a:rPr lang="en-US" sz="1900" b="1" dirty="0">
                <a:solidFill>
                  <a:srgbClr val="00B050"/>
                </a:solidFill>
                <a:ea typeface="Source Sans Pro" panose="020B0503030403020204" pitchFamily="34" charset="0"/>
              </a:rPr>
              <a:t>[</a:t>
            </a:r>
            <a:r>
              <a:rPr lang="en-US" sz="1900" dirty="0">
                <a:solidFill>
                  <a:srgbClr val="C00000"/>
                </a:solidFill>
                <a:ea typeface="Source Sans Pro" panose="020B0503030403020204" pitchFamily="34" charset="0"/>
              </a:rPr>
              <a:t>a[i][j]*x[i] for i in N</a:t>
            </a:r>
            <a:r>
              <a:rPr lang="en-US" sz="1900" b="1" dirty="0">
                <a:solidFill>
                  <a:srgbClr val="C00000"/>
                </a:solidFill>
                <a:ea typeface="Source Sans Pro" panose="020B0503030403020204" pitchFamily="34" charset="0"/>
              </a:rPr>
              <a:t>]</a:t>
            </a:r>
            <a:r>
              <a:rPr lang="en-US" sz="1900" dirty="0">
                <a:solidFill>
                  <a:srgbClr val="C00000"/>
                </a:solidFill>
                <a:ea typeface="Source Sans Pro" panose="020B0503030403020204" pitchFamily="34" charset="0"/>
              </a:rPr>
              <a:t>) </a:t>
            </a:r>
            <a:r>
              <a:rPr lang="en-US" sz="1900" dirty="0">
                <a:solidFill>
                  <a:srgbClr val="00B050"/>
                </a:solidFill>
                <a:ea typeface="Source Sans Pro" panose="020B0503030403020204" pitchFamily="34" charset="0"/>
              </a:rPr>
              <a:t>&gt;=</a:t>
            </a:r>
            <a:r>
              <a:rPr lang="en-US" sz="1900" dirty="0">
                <a:solidFill>
                  <a:srgbClr val="0432FF"/>
                </a:solidFill>
                <a:ea typeface="Source Sans Pro" panose="020B0503030403020204" pitchFamily="34" charset="0"/>
              </a:rPr>
              <a:t> </a:t>
            </a:r>
            <a:r>
              <a:rPr lang="en-US" sz="1900" dirty="0">
                <a:solidFill>
                  <a:srgbClr val="C00000"/>
                </a:solidFill>
                <a:ea typeface="Source Sans Pro" panose="020B0503030403020204" pitchFamily="34" charset="0"/>
              </a:rPr>
              <a:t>b[j]</a:t>
            </a:r>
            <a:endParaRPr lang="en-US" sz="1900" b="1" dirty="0">
              <a:solidFill>
                <a:srgbClr val="C00000"/>
              </a:solidFill>
              <a:ea typeface="Source Sans Pro" panose="020B0503030403020204" pitchFamily="34" charset="0"/>
            </a:endParaRPr>
          </a:p>
          <a:p>
            <a:pPr marL="457200" lvl="1" indent="0">
              <a:lnSpc>
                <a:spcPct val="110000"/>
              </a:lnSpc>
              <a:spcBef>
                <a:spcPts val="0"/>
              </a:spcBef>
              <a:buNone/>
            </a:pPr>
            <a:endParaRPr lang="en-US" sz="2000" b="1" dirty="0">
              <a:solidFill>
                <a:prstClr val="black"/>
              </a:solidFill>
              <a:ea typeface="Source Sans Pro" panose="020B0503030403020204" pitchFamily="34" charset="0"/>
            </a:endParaRPr>
          </a:p>
          <a:p>
            <a:pPr marL="457200" lvl="1" indent="0">
              <a:lnSpc>
                <a:spcPct val="110000"/>
              </a:lnSpc>
              <a:spcBef>
                <a:spcPts val="0"/>
              </a:spcBef>
              <a:buNone/>
            </a:pPr>
            <a:r>
              <a:rPr lang="en-US" sz="2000" b="1" dirty="0">
                <a:solidFill>
                  <a:prstClr val="black"/>
                </a:solidFill>
                <a:ea typeface="Source Sans Pro" panose="020B0503030403020204" pitchFamily="34" charset="0"/>
              </a:rPr>
              <a:t>7</a:t>
            </a:r>
            <a:r>
              <a:rPr lang="en-US" sz="1900" b="1" dirty="0">
                <a:solidFill>
                  <a:prstClr val="black"/>
                </a:solidFill>
                <a:ea typeface="Source Sans Pro" panose="020B0503030403020204" pitchFamily="34" charset="0"/>
              </a:rPr>
              <a:t>. Solve</a:t>
            </a:r>
          </a:p>
          <a:p>
            <a:pPr marL="457200" lvl="1" indent="0">
              <a:lnSpc>
                <a:spcPct val="110000"/>
              </a:lnSpc>
              <a:spcBef>
                <a:spcPts val="0"/>
              </a:spcBef>
              <a:buNone/>
            </a:pPr>
            <a:r>
              <a:rPr lang="en-US" sz="1900" dirty="0">
                <a:solidFill>
                  <a:srgbClr val="0432FF"/>
                </a:solidFill>
              </a:rPr>
              <a:t>	</a:t>
            </a:r>
            <a:r>
              <a:rPr lang="en-US" sz="1900" dirty="0" err="1">
                <a:solidFill>
                  <a:srgbClr val="C00000"/>
                </a:solidFill>
              </a:rPr>
              <a:t>prob.solve</a:t>
            </a:r>
            <a:r>
              <a:rPr lang="en-US" sz="1900" dirty="0">
                <a:solidFill>
                  <a:srgbClr val="C00000"/>
                </a:solidFill>
              </a:rPr>
              <a:t>()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 dirty="0"/>
          </a:p>
        </p:txBody>
      </p:sp>
      <p:sp>
        <p:nvSpPr>
          <p:cNvPr id="12" name="Left Brace 11"/>
          <p:cNvSpPr/>
          <p:nvPr/>
        </p:nvSpPr>
        <p:spPr>
          <a:xfrm>
            <a:off x="6075352" y="1828511"/>
            <a:ext cx="348308" cy="3766043"/>
          </a:xfrm>
          <a:prstGeom prst="leftBrace">
            <a:avLst>
              <a:gd name="adj1" fmla="val 76082"/>
              <a:gd name="adj2" fmla="val 50000"/>
            </a:avLst>
          </a:prstGeom>
          <a:ln w="22225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TextBox 13"/>
          <p:cNvSpPr txBox="1"/>
          <p:nvPr/>
        </p:nvSpPr>
        <p:spPr>
          <a:xfrm>
            <a:off x="4782902" y="3388366"/>
            <a:ext cx="138536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C00000"/>
                </a:solidFill>
              </a:rPr>
              <a:t>Problem formulation</a:t>
            </a:r>
          </a:p>
        </p:txBody>
      </p:sp>
    </p:spTree>
    <p:extLst>
      <p:ext uri="{BB962C8B-B14F-4D97-AF65-F5344CB8AC3E}">
        <p14:creationId xmlns:p14="http://schemas.microsoft.com/office/powerpoint/2010/main" val="8028222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4" grpId="0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 Blending Problem – Riverside Oil Company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5001" y="1312432"/>
            <a:ext cx="11630521" cy="5019541"/>
          </a:xfrm>
        </p:spPr>
        <p:txBody>
          <a:bodyPr>
            <a:norm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en-US" sz="2400" dirty="0"/>
              <a:t>Riverside Oil Company in eastern Kentucky produces </a:t>
            </a:r>
            <a:r>
              <a:rPr lang="en-US" sz="2400" b="1" dirty="0"/>
              <a:t>regular </a:t>
            </a:r>
            <a:r>
              <a:rPr lang="en-US" sz="2400" dirty="0"/>
              <a:t>and </a:t>
            </a:r>
            <a:r>
              <a:rPr lang="en-US" sz="2400" b="1" dirty="0"/>
              <a:t>supreme</a:t>
            </a:r>
            <a:r>
              <a:rPr lang="en-US" sz="2400" dirty="0"/>
              <a:t> gasoline. Each barrel of </a:t>
            </a:r>
            <a:r>
              <a:rPr lang="en-US" sz="2400" b="1" dirty="0"/>
              <a:t>regular sells for $21 </a:t>
            </a:r>
            <a:r>
              <a:rPr lang="en-US" sz="2400" dirty="0"/>
              <a:t>and must have an octane rating of </a:t>
            </a:r>
            <a:r>
              <a:rPr lang="en-US" sz="2400" b="1" dirty="0"/>
              <a:t>at least 90</a:t>
            </a:r>
            <a:r>
              <a:rPr lang="en-US" sz="2400" dirty="0"/>
              <a:t>. Each barrel of </a:t>
            </a:r>
            <a:r>
              <a:rPr lang="en-US" sz="2400" b="1" dirty="0"/>
              <a:t>supreme sells for $25 </a:t>
            </a:r>
            <a:r>
              <a:rPr lang="en-US" sz="2400" dirty="0"/>
              <a:t>and must have an octane rating of </a:t>
            </a:r>
            <a:r>
              <a:rPr lang="en-US" sz="2400" b="1" dirty="0"/>
              <a:t>at least 97</a:t>
            </a:r>
            <a:r>
              <a:rPr lang="en-US" sz="2400" dirty="0"/>
              <a:t>. Each of these types of gasoline are manufactured by mixing different quantities of the following </a:t>
            </a:r>
            <a:r>
              <a:rPr lang="en-US" sz="2400" b="1" dirty="0"/>
              <a:t>three inputs</a:t>
            </a:r>
            <a:r>
              <a:rPr lang="en-US" sz="2400" dirty="0"/>
              <a:t>: </a:t>
            </a:r>
          </a:p>
          <a:p>
            <a:pPr marL="0" indent="0">
              <a:lnSpc>
                <a:spcPct val="100000"/>
              </a:lnSpc>
              <a:buNone/>
            </a:pPr>
            <a:endParaRPr lang="en-US" sz="2400" dirty="0"/>
          </a:p>
          <a:p>
            <a:pPr marL="0" indent="0">
              <a:lnSpc>
                <a:spcPct val="100000"/>
              </a:lnSpc>
              <a:buNone/>
            </a:pPr>
            <a:endParaRPr lang="en-US" sz="2400" dirty="0"/>
          </a:p>
          <a:p>
            <a:pPr marL="0" indent="0">
              <a:lnSpc>
                <a:spcPct val="100000"/>
              </a:lnSpc>
              <a:buNone/>
            </a:pPr>
            <a:endParaRPr lang="en-US" sz="2400" dirty="0"/>
          </a:p>
          <a:p>
            <a:pPr marL="0" indent="0">
              <a:lnSpc>
                <a:spcPct val="100000"/>
              </a:lnSpc>
              <a:buNone/>
            </a:pPr>
            <a:endParaRPr lang="en-US" sz="24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2400" dirty="0"/>
              <a:t>Riverside has orders for </a:t>
            </a:r>
            <a:r>
              <a:rPr lang="en-US" sz="2400" b="1" dirty="0"/>
              <a:t>300,000 barrels of regular </a:t>
            </a:r>
            <a:r>
              <a:rPr lang="en-US" sz="2400" dirty="0"/>
              <a:t>and </a:t>
            </a:r>
            <a:r>
              <a:rPr lang="en-US" sz="2400" b="1" dirty="0"/>
              <a:t>450,000 barrels of supreme</a:t>
            </a:r>
            <a:r>
              <a:rPr lang="en-US" sz="2400" dirty="0"/>
              <a:t>. How should the company allocate the available inputs to the production of regular and supreme gasoline if it wants to maximize proﬁts?</a:t>
            </a:r>
          </a:p>
          <a:p>
            <a:pPr marL="0" indent="0">
              <a:lnSpc>
                <a:spcPct val="100000"/>
              </a:lnSpc>
              <a:buNone/>
            </a:pPr>
            <a:endParaRPr lang="en-US" sz="2400" dirty="0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F559D510-50D3-BC4B-A1A5-6A19D9759D26}"/>
              </a:ext>
            </a:extLst>
          </p:cNvPr>
          <p:cNvGraphicFramePr>
            <a:graphicFrameLocks noGrp="1"/>
          </p:cNvGraphicFramePr>
          <p:nvPr/>
        </p:nvGraphicFramePr>
        <p:xfrm>
          <a:off x="1205220" y="3079464"/>
          <a:ext cx="8958264" cy="1463040"/>
        </p:xfrm>
        <a:graphic>
          <a:graphicData uri="http://schemas.openxmlformats.org/drawingml/2006/table">
            <a:tbl>
              <a:tblPr firstRow="1" firstCol="1" lastRow="1" lastCol="1" bandRow="1" bandCol="1">
                <a:tableStyleId>{5940675A-B579-460E-94D1-54222C63F5DA}</a:tableStyleId>
              </a:tblPr>
              <a:tblGrid>
                <a:gridCol w="1055025">
                  <a:extLst>
                    <a:ext uri="{9D8B030D-6E8A-4147-A177-3AD203B41FA5}">
                      <a16:colId xmlns:a16="http://schemas.microsoft.com/office/drawing/2014/main" val="2708281345"/>
                    </a:ext>
                  </a:extLst>
                </a:gridCol>
                <a:gridCol w="2708422">
                  <a:extLst>
                    <a:ext uri="{9D8B030D-6E8A-4147-A177-3AD203B41FA5}">
                      <a16:colId xmlns:a16="http://schemas.microsoft.com/office/drawing/2014/main" val="3934007166"/>
                    </a:ext>
                  </a:extLst>
                </a:gridCol>
                <a:gridCol w="2818650">
                  <a:extLst>
                    <a:ext uri="{9D8B030D-6E8A-4147-A177-3AD203B41FA5}">
                      <a16:colId xmlns:a16="http://schemas.microsoft.com/office/drawing/2014/main" val="2943783058"/>
                    </a:ext>
                  </a:extLst>
                </a:gridCol>
                <a:gridCol w="2376167">
                  <a:extLst>
                    <a:ext uri="{9D8B030D-6E8A-4147-A177-3AD203B41FA5}">
                      <a16:colId xmlns:a16="http://schemas.microsoft.com/office/drawing/2014/main" val="3488813148"/>
                    </a:ext>
                  </a:extLst>
                </a:gridCol>
              </a:tblGrid>
              <a:tr h="529405">
                <a:tc>
                  <a:txBody>
                    <a:bodyPr/>
                    <a:lstStyle/>
                    <a:p>
                      <a:pPr marL="0" marR="15113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</a:rPr>
                        <a:t>Input</a:t>
                      </a:r>
                      <a:endParaRPr lang="en-US" sz="1800" dirty="0">
                        <a:effectLst/>
                        <a:latin typeface="Source Sans Pro" panose="020B0503030403020204" pitchFamily="34" charset="0"/>
                        <a:ea typeface="Source Sans Pro" panose="020B0503030403020204" pitchFamily="34" charset="0"/>
                        <a:cs typeface="Book Antiqua" panose="02040602050305030304" pitchFamily="18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132080" marR="12700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</a:rPr>
                        <a:t>Cost per Barrel</a:t>
                      </a:r>
                      <a:endParaRPr lang="en-US" sz="1800" dirty="0">
                        <a:effectLst/>
                        <a:latin typeface="Source Sans Pro" panose="020B0503030403020204" pitchFamily="34" charset="0"/>
                        <a:ea typeface="Source Sans Pro" panose="020B0503030403020204" pitchFamily="34" charset="0"/>
                        <a:cs typeface="Book Antiqua" panose="02040602050305030304" pitchFamily="18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14605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</a:rPr>
                        <a:t>Octane Rating</a:t>
                      </a:r>
                      <a:endParaRPr lang="en-US" sz="1800" dirty="0">
                        <a:effectLst/>
                        <a:latin typeface="Source Sans Pro" panose="020B0503030403020204" pitchFamily="34" charset="0"/>
                        <a:ea typeface="Source Sans Pro" panose="020B0503030403020204" pitchFamily="34" charset="0"/>
                        <a:cs typeface="Book Antiqua" panose="02040602050305030304" pitchFamily="18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222885" marR="170815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</a:rPr>
                        <a:t>Barrels Available (in 1000s)</a:t>
                      </a:r>
                      <a:endParaRPr lang="en-US" sz="1800" dirty="0">
                        <a:effectLst/>
                        <a:latin typeface="Source Sans Pro" panose="020B0503030403020204" pitchFamily="34" charset="0"/>
                        <a:ea typeface="Source Sans Pro" panose="020B0503030403020204" pitchFamily="34" charset="0"/>
                        <a:cs typeface="Book Antiqua" panose="02040602050305030304" pitchFamily="18" charset="0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3899883798"/>
                  </a:ext>
                </a:extLst>
              </a:tr>
              <a:tr h="279408">
                <a:tc>
                  <a:txBody>
                    <a:bodyPr/>
                    <a:lstStyle/>
                    <a:p>
                      <a:pPr marL="0" marR="151130" algn="ctr">
                        <a:lnSpc>
                          <a:spcPct val="100000"/>
                        </a:lnSpc>
                        <a:spcBef>
                          <a:spcPts val="6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</a:rPr>
                        <a:t>1</a:t>
                      </a:r>
                      <a:endParaRPr lang="en-US" sz="2000" dirty="0">
                        <a:effectLst/>
                        <a:latin typeface="Source Sans Pro" panose="020B0503030403020204" pitchFamily="34" charset="0"/>
                        <a:ea typeface="Source Sans Pro" panose="020B0503030403020204" pitchFamily="34" charset="0"/>
                        <a:cs typeface="Book Antiqua" panose="02040602050305030304" pitchFamily="18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131445" marR="127000" algn="ctr">
                        <a:lnSpc>
                          <a:spcPct val="100000"/>
                        </a:lnSpc>
                        <a:spcBef>
                          <a:spcPts val="6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</a:rPr>
                        <a:t>$17.25</a:t>
                      </a:r>
                      <a:endParaRPr lang="en-US" sz="2000" dirty="0">
                        <a:effectLst/>
                        <a:latin typeface="Source Sans Pro" panose="020B0503030403020204" pitchFamily="34" charset="0"/>
                        <a:ea typeface="Source Sans Pro" panose="020B0503030403020204" pitchFamily="34" charset="0"/>
                        <a:cs typeface="Book Antiqua" panose="02040602050305030304" pitchFamily="18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410210" marR="502920" algn="ctr">
                        <a:lnSpc>
                          <a:spcPct val="100000"/>
                        </a:lnSpc>
                        <a:spcBef>
                          <a:spcPts val="6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</a:rPr>
                        <a:t>100</a:t>
                      </a:r>
                      <a:endParaRPr lang="en-US" sz="2000" dirty="0">
                        <a:effectLst/>
                        <a:latin typeface="Source Sans Pro" panose="020B0503030403020204" pitchFamily="34" charset="0"/>
                        <a:ea typeface="Source Sans Pro" panose="020B0503030403020204" pitchFamily="34" charset="0"/>
                        <a:cs typeface="Book Antiqua" panose="02040602050305030304" pitchFamily="18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221615" marR="170815" algn="ctr">
                        <a:lnSpc>
                          <a:spcPct val="100000"/>
                        </a:lnSpc>
                        <a:spcBef>
                          <a:spcPts val="60"/>
                        </a:spcBef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</a:rPr>
                        <a:t>150</a:t>
                      </a:r>
                      <a:endParaRPr lang="en-US" sz="2000">
                        <a:effectLst/>
                        <a:latin typeface="Source Sans Pro" panose="020B0503030403020204" pitchFamily="34" charset="0"/>
                        <a:ea typeface="Source Sans Pro" panose="020B0503030403020204" pitchFamily="34" charset="0"/>
                        <a:cs typeface="Book Antiqua" panose="02040602050305030304" pitchFamily="18" charset="0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834494334"/>
                  </a:ext>
                </a:extLst>
              </a:tr>
              <a:tr h="234310">
                <a:tc>
                  <a:txBody>
                    <a:bodyPr/>
                    <a:lstStyle/>
                    <a:p>
                      <a:pPr marL="0" marR="15113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</a:rPr>
                        <a:t>2</a:t>
                      </a:r>
                      <a:endParaRPr lang="en-US" sz="2000">
                        <a:effectLst/>
                        <a:latin typeface="Source Sans Pro" panose="020B0503030403020204" pitchFamily="34" charset="0"/>
                        <a:ea typeface="Source Sans Pro" panose="020B0503030403020204" pitchFamily="34" charset="0"/>
                        <a:cs typeface="Book Antiqua" panose="02040602050305030304" pitchFamily="18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131445" marR="12700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</a:rPr>
                        <a:t>$15.75</a:t>
                      </a:r>
                      <a:endParaRPr lang="en-US" sz="2000" dirty="0">
                        <a:effectLst/>
                        <a:latin typeface="Source Sans Pro" panose="020B0503030403020204" pitchFamily="34" charset="0"/>
                        <a:ea typeface="Source Sans Pro" panose="020B0503030403020204" pitchFamily="34" charset="0"/>
                        <a:cs typeface="Book Antiqua" panose="02040602050305030304" pitchFamily="18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414020" marR="44323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</a:rPr>
                        <a:t>87</a:t>
                      </a:r>
                      <a:endParaRPr lang="en-US" sz="2000" dirty="0">
                        <a:effectLst/>
                        <a:latin typeface="Source Sans Pro" panose="020B0503030403020204" pitchFamily="34" charset="0"/>
                        <a:ea typeface="Source Sans Pro" panose="020B0503030403020204" pitchFamily="34" charset="0"/>
                        <a:cs typeface="Book Antiqua" panose="02040602050305030304" pitchFamily="18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221615" marR="170815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</a:rPr>
                        <a:t>350</a:t>
                      </a:r>
                      <a:endParaRPr lang="en-US" sz="2000">
                        <a:effectLst/>
                        <a:latin typeface="Source Sans Pro" panose="020B0503030403020204" pitchFamily="34" charset="0"/>
                        <a:ea typeface="Source Sans Pro" panose="020B0503030403020204" pitchFamily="34" charset="0"/>
                        <a:cs typeface="Book Antiqua" panose="02040602050305030304" pitchFamily="18" charset="0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3457149791"/>
                  </a:ext>
                </a:extLst>
              </a:tr>
              <a:tr h="293581">
                <a:tc>
                  <a:txBody>
                    <a:bodyPr/>
                    <a:lstStyle/>
                    <a:p>
                      <a:pPr marL="0" marR="15113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</a:rPr>
                        <a:t>3</a:t>
                      </a:r>
                      <a:endParaRPr lang="en-US" sz="2000">
                        <a:effectLst/>
                        <a:latin typeface="Source Sans Pro" panose="020B0503030403020204" pitchFamily="34" charset="0"/>
                        <a:ea typeface="Source Sans Pro" panose="020B0503030403020204" pitchFamily="34" charset="0"/>
                        <a:cs typeface="Book Antiqua" panose="02040602050305030304" pitchFamily="18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131445" marR="12700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</a:rPr>
                        <a:t>$17.75</a:t>
                      </a:r>
                      <a:endParaRPr lang="en-US" sz="2000">
                        <a:effectLst/>
                        <a:latin typeface="Source Sans Pro" panose="020B0503030403020204" pitchFamily="34" charset="0"/>
                        <a:ea typeface="Source Sans Pro" panose="020B0503030403020204" pitchFamily="34" charset="0"/>
                        <a:cs typeface="Book Antiqua" panose="02040602050305030304" pitchFamily="18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414020" marR="499745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</a:rPr>
                        <a:t>110</a:t>
                      </a:r>
                      <a:endParaRPr lang="en-US" sz="2000" dirty="0">
                        <a:effectLst/>
                        <a:latin typeface="Source Sans Pro" panose="020B0503030403020204" pitchFamily="34" charset="0"/>
                        <a:ea typeface="Source Sans Pro" panose="020B0503030403020204" pitchFamily="34" charset="0"/>
                        <a:cs typeface="Book Antiqua" panose="02040602050305030304" pitchFamily="18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221615" marR="170815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</a:rPr>
                        <a:t>300</a:t>
                      </a:r>
                      <a:endParaRPr lang="en-US" sz="2000" dirty="0">
                        <a:effectLst/>
                        <a:latin typeface="Source Sans Pro" panose="020B0503030403020204" pitchFamily="34" charset="0"/>
                        <a:ea typeface="Source Sans Pro" panose="020B0503030403020204" pitchFamily="34" charset="0"/>
                        <a:cs typeface="Book Antiqua" panose="02040602050305030304" pitchFamily="18" charset="0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372898952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99792506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 Blending Problem – Riverside Oil Company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355001" y="1312432"/>
                <a:ext cx="11630521" cy="5019541"/>
              </a:xfrm>
            </p:spPr>
            <p:txBody>
              <a:bodyPr>
                <a:normAutofit/>
              </a:bodyPr>
              <a:lstStyle/>
              <a:p>
                <a:pPr marL="0" indent="0">
                  <a:lnSpc>
                    <a:spcPct val="100000"/>
                  </a:lnSpc>
                  <a:buNone/>
                </a:pPr>
                <a:r>
                  <a:rPr lang="en-US" sz="2400" b="1" dirty="0"/>
                  <a:t>Problem Formulation</a:t>
                </a:r>
              </a:p>
              <a:p>
                <a:pPr marL="0" indent="0">
                  <a:lnSpc>
                    <a:spcPct val="10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1800" b="0" i="1" smtClean="0">
                          <a:latin typeface="Cambria Math" panose="02040503050406030204" pitchFamily="18" charset="0"/>
                        </a:rPr>
                        <m:t>𝑚𝑎𝑥𝑖𝑚𝑖𝑧𝑒</m:t>
                      </m:r>
                      <m:r>
                        <a:rPr lang="en-US" sz="1800" b="0" i="1" smtClean="0">
                          <a:latin typeface="Cambria Math" panose="02040503050406030204" pitchFamily="18" charset="0"/>
                        </a:rPr>
                        <m:t>   21</m:t>
                      </m:r>
                      <m:d>
                        <m:dPr>
                          <m:ctrlPr>
                            <a:rPr lang="en-US" sz="18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180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8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sz="18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  <m:r>
                                <a:rPr lang="en-US" sz="1800" b="0" i="1" smtClean="0"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</m:sub>
                          </m:sSub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sz="180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8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sz="18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>
                                <a:rPr lang="en-US" sz="1800" b="0" i="1" smtClean="0"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</m:sub>
                          </m:sSub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sz="180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8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sz="1800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  <m:r>
                                <a:rPr lang="en-US" sz="1800" b="0" i="1" smtClean="0"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</m:sub>
                          </m:sSub>
                        </m:e>
                      </m:d>
                      <m:r>
                        <a:rPr lang="en-US" sz="1800" b="0" i="1" smtClean="0">
                          <a:latin typeface="Cambria Math" panose="02040503050406030204" pitchFamily="18" charset="0"/>
                        </a:rPr>
                        <m:t>+25</m:t>
                      </m:r>
                      <m:d>
                        <m:dPr>
                          <m:ctrlPr>
                            <a:rPr lang="en-US" sz="18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180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8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sz="18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  <m:r>
                                <a:rPr lang="en-US" sz="1800" b="0" i="1" smtClean="0">
                                  <a:latin typeface="Cambria Math" panose="02040503050406030204" pitchFamily="18" charset="0"/>
                                </a:rPr>
                                <m:t>𝑆</m:t>
                              </m:r>
                            </m:sub>
                          </m:sSub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sz="180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8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sz="18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>
                                <a:rPr lang="en-US" sz="1800" b="0" i="1" smtClean="0">
                                  <a:latin typeface="Cambria Math" panose="02040503050406030204" pitchFamily="18" charset="0"/>
                                </a:rPr>
                                <m:t>𝑆</m:t>
                              </m:r>
                            </m:sub>
                          </m:sSub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sz="180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8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sz="1800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  <m:r>
                                <a:rPr lang="en-US" sz="1800" b="0" i="1" smtClean="0">
                                  <a:latin typeface="Cambria Math" panose="02040503050406030204" pitchFamily="18" charset="0"/>
                                </a:rPr>
                                <m:t>𝑆</m:t>
                              </m:r>
                            </m:sub>
                          </m:sSub>
                        </m:e>
                      </m:d>
                      <m:r>
                        <a:rPr lang="en-US" sz="1800" b="0" i="1" smtClean="0">
                          <a:latin typeface="Cambria Math" panose="02040503050406030204" pitchFamily="18" charset="0"/>
                        </a:rPr>
                        <m:t>−17.25</m:t>
                      </m:r>
                      <m:d>
                        <m:dPr>
                          <m:ctrlPr>
                            <a:rPr lang="en-US" sz="18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180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8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sz="18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  <m:r>
                                <a:rPr lang="en-US" sz="1800" b="0" i="1" smtClean="0"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</m:sub>
                          </m:sSub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sz="180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8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sz="18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  <m:r>
                                <a:rPr lang="en-US" sz="1800" b="0" i="1" smtClean="0">
                                  <a:latin typeface="Cambria Math" panose="02040503050406030204" pitchFamily="18" charset="0"/>
                                </a:rPr>
                                <m:t>𝑆</m:t>
                              </m:r>
                            </m:sub>
                          </m:sSub>
                        </m:e>
                      </m:d>
                      <m:r>
                        <a:rPr lang="en-US" sz="1800" b="0" i="1" smtClean="0">
                          <a:latin typeface="Cambria Math" panose="02040503050406030204" pitchFamily="18" charset="0"/>
                        </a:rPr>
                        <m:t>−15.75</m:t>
                      </m:r>
                      <m:d>
                        <m:dPr>
                          <m:ctrlPr>
                            <a:rPr lang="en-US" sz="18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180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8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sz="18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>
                                <a:rPr lang="en-US" sz="1800" b="0" i="1" smtClean="0"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</m:sub>
                          </m:sSub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sz="180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8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sz="18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>
                                <a:rPr lang="en-US" sz="1800" b="0" i="1" smtClean="0">
                                  <a:latin typeface="Cambria Math" panose="02040503050406030204" pitchFamily="18" charset="0"/>
                                </a:rPr>
                                <m:t>𝑆</m:t>
                              </m:r>
                            </m:sub>
                          </m:sSub>
                        </m:e>
                      </m:d>
                      <m:r>
                        <a:rPr lang="en-US" sz="1800" b="0" i="1" smtClean="0">
                          <a:latin typeface="Cambria Math" panose="02040503050406030204" pitchFamily="18" charset="0"/>
                        </a:rPr>
                        <m:t>−17.75(</m:t>
                      </m:r>
                      <m:sSub>
                        <m:sSubPr>
                          <m:ctrlPr>
                            <a:rPr lang="en-US" sz="18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𝑅</m:t>
                          </m:r>
                        </m:sub>
                      </m:sSub>
                      <m:r>
                        <a:rPr lang="en-US" sz="1800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18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𝑆</m:t>
                          </m:r>
                        </m:sub>
                      </m:sSub>
                      <m:r>
                        <a:rPr lang="en-US" sz="1800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1800" dirty="0"/>
              </a:p>
              <a:p>
                <a:pPr marL="0" indent="0">
                  <a:lnSpc>
                    <a:spcPct val="100000"/>
                  </a:lnSpc>
                  <a:buNone/>
                </a:pPr>
                <a:endParaRPr lang="en-US" sz="180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1800" b="0" i="1" smtClean="0">
                          <a:latin typeface="Cambria Math" panose="02040503050406030204" pitchFamily="18" charset="0"/>
                        </a:rPr>
                        <m:t>𝑠𝑢𝑏𝑗𝑒𝑐𝑡</m:t>
                      </m:r>
                      <m:r>
                        <a:rPr lang="en-US" sz="18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1800" b="0" i="1" smtClean="0">
                          <a:latin typeface="Cambria Math" panose="02040503050406030204" pitchFamily="18" charset="0"/>
                        </a:rPr>
                        <m:t>𝑡𝑜</m:t>
                      </m:r>
                      <m:r>
                        <a:rPr lang="en-US" sz="1800" b="0" i="1" smtClean="0">
                          <a:latin typeface="Cambria Math" panose="02040503050406030204" pitchFamily="18" charset="0"/>
                        </a:rPr>
                        <m:t> </m:t>
                      </m:r>
                      <m:sSub>
                        <m:sSubPr>
                          <m:ctrlPr>
                            <a:rPr lang="en-US" sz="18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  </m:t>
                          </m:r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𝑅</m:t>
                          </m:r>
                        </m:sub>
                      </m:sSub>
                      <m:r>
                        <a:rPr lang="en-US" sz="1800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18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𝑆</m:t>
                          </m:r>
                        </m:sub>
                      </m:sSub>
                      <m:r>
                        <a:rPr lang="en-US" sz="1800" b="0" i="1" smtClean="0">
                          <a:latin typeface="Cambria Math" panose="02040503050406030204" pitchFamily="18" charset="0"/>
                        </a:rPr>
                        <m:t>≤150 </m:t>
                      </m:r>
                    </m:oMath>
                  </m:oMathPara>
                </a14:m>
                <a:endParaRPr lang="en-US" sz="1800" b="0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:r>
                  <a:rPr lang="en-US" sz="1800" b="0" dirty="0"/>
                  <a:t>                    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𝑅</m:t>
                        </m:r>
                      </m:sub>
                    </m:sSub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sz="1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𝑆</m:t>
                        </m:r>
                      </m:sub>
                    </m:sSub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≤350</m:t>
                    </m:r>
                  </m:oMath>
                </a14:m>
                <a:endParaRPr lang="en-US" sz="1800" b="0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:r>
                  <a:rPr lang="en-US" sz="1800" b="0" dirty="0"/>
                  <a:t>                    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𝑅</m:t>
                        </m:r>
                      </m:sub>
                    </m:sSub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sz="1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𝑆</m:t>
                        </m:r>
                      </m:sub>
                    </m:sSub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≤300</m:t>
                    </m:r>
                  </m:oMath>
                </a14:m>
                <a:endParaRPr lang="en-US" sz="1800" b="0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:r>
                  <a:rPr lang="en-US" sz="1800" b="0" dirty="0"/>
                  <a:t>                    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𝑅</m:t>
                        </m:r>
                      </m:sub>
                    </m:sSub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sz="1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𝑅</m:t>
                        </m:r>
                      </m:sub>
                    </m:sSub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sz="1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𝑅</m:t>
                        </m:r>
                      </m:sub>
                    </m:sSub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≤300</m:t>
                    </m:r>
                  </m:oMath>
                </a14:m>
                <a:endParaRPr lang="en-US" sz="1800" b="0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:r>
                  <a:rPr lang="en-US" sz="1800" b="0" dirty="0"/>
                  <a:t>                    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𝑆</m:t>
                        </m:r>
                      </m:sub>
                    </m:sSub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sz="1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𝑆</m:t>
                        </m:r>
                      </m:sub>
                    </m:sSub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sz="1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𝑆</m:t>
                        </m:r>
                      </m:sub>
                    </m:sSub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≤450</m:t>
                    </m:r>
                  </m:oMath>
                </a14:m>
                <a:endParaRPr lang="en-US" sz="1800" b="0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:r>
                  <a:rPr lang="en-US" sz="1800" b="0" dirty="0"/>
                  <a:t>                    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sz="18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100 </m:t>
                        </m:r>
                        <m:sSub>
                          <m:sSubPr>
                            <m:ctrlPr>
                              <a:rPr lang="en-US" sz="18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8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sz="18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a:rPr lang="en-US" sz="1800" b="0" i="1" smtClean="0">
                                <a:latin typeface="Cambria Math" panose="02040503050406030204" pitchFamily="18" charset="0"/>
                              </a:rPr>
                              <m:t>𝑅</m:t>
                            </m:r>
                          </m:sub>
                        </m:sSub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+87 </m:t>
                        </m:r>
                        <m:sSub>
                          <m:sSubPr>
                            <m:ctrlPr>
                              <a:rPr lang="en-US" sz="18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8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sz="18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en-US" sz="1800" b="0" i="1" smtClean="0">
                                <a:latin typeface="Cambria Math" panose="02040503050406030204" pitchFamily="18" charset="0"/>
                              </a:rPr>
                              <m:t>𝑅</m:t>
                            </m:r>
                          </m:sub>
                        </m:sSub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+110 </m:t>
                        </m:r>
                        <m:sSub>
                          <m:sSubPr>
                            <m:ctrlPr>
                              <a:rPr lang="en-US" sz="18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8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sz="1800" b="0" i="1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  <m:r>
                              <a:rPr lang="en-US" sz="1800" b="0" i="1" smtClean="0">
                                <a:latin typeface="Cambria Math" panose="02040503050406030204" pitchFamily="18" charset="0"/>
                              </a:rPr>
                              <m:t>𝑅</m:t>
                            </m:r>
                          </m:sub>
                        </m:sSub>
                      </m:e>
                    </m:d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≥90(</m:t>
                    </m:r>
                    <m:sSub>
                      <m:sSubPr>
                        <m:ctrlPr>
                          <a:rPr lang="en-US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1800" i="1"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a:rPr lang="en-US" sz="1800" i="1">
                            <a:latin typeface="Cambria Math" panose="02040503050406030204" pitchFamily="18" charset="0"/>
                          </a:rPr>
                          <m:t>𝑅</m:t>
                        </m:r>
                      </m:sub>
                    </m:sSub>
                    <m:r>
                      <a:rPr lang="en-US" sz="1800" i="1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1800" i="1"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US" sz="1800" i="1">
                            <a:latin typeface="Cambria Math" panose="02040503050406030204" pitchFamily="18" charset="0"/>
                          </a:rPr>
                          <m:t>𝑅</m:t>
                        </m:r>
                      </m:sub>
                    </m:sSub>
                    <m:r>
                      <a:rPr lang="en-US" sz="1800" i="1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1800" i="1"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n-US" sz="1800" i="1">
                            <a:latin typeface="Cambria Math" panose="02040503050406030204" pitchFamily="18" charset="0"/>
                          </a:rPr>
                          <m:t>𝑅</m:t>
                        </m:r>
                      </m:sub>
                    </m:sSub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sz="1800" b="0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:r>
                  <a:rPr lang="en-US" sz="1800" dirty="0"/>
                  <a:t>                    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sz="1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800" i="1">
                            <a:latin typeface="Cambria Math" panose="02040503050406030204" pitchFamily="18" charset="0"/>
                          </a:rPr>
                          <m:t>100 </m:t>
                        </m:r>
                        <m:sSub>
                          <m:sSubPr>
                            <m:ctrlPr>
                              <a:rPr lang="en-US" sz="18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8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sz="1800" i="1"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a:rPr lang="en-US" sz="1800" b="0" i="1" smtClean="0">
                                <a:latin typeface="Cambria Math" panose="02040503050406030204" pitchFamily="18" charset="0"/>
                              </a:rPr>
                              <m:t>𝑆</m:t>
                            </m:r>
                          </m:sub>
                        </m:sSub>
                        <m:r>
                          <a:rPr lang="en-US" sz="1800" i="1">
                            <a:latin typeface="Cambria Math" panose="02040503050406030204" pitchFamily="18" charset="0"/>
                          </a:rPr>
                          <m:t>+87 </m:t>
                        </m:r>
                        <m:sSub>
                          <m:sSubPr>
                            <m:ctrlPr>
                              <a:rPr lang="en-US" sz="18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8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sz="18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en-US" sz="1800" b="0" i="1" smtClean="0">
                                <a:latin typeface="Cambria Math" panose="02040503050406030204" pitchFamily="18" charset="0"/>
                              </a:rPr>
                              <m:t>𝑆</m:t>
                            </m:r>
                          </m:sub>
                        </m:sSub>
                        <m:r>
                          <a:rPr lang="en-US" sz="1800" i="1">
                            <a:latin typeface="Cambria Math" panose="02040503050406030204" pitchFamily="18" charset="0"/>
                          </a:rPr>
                          <m:t>+110 </m:t>
                        </m:r>
                        <m:sSub>
                          <m:sSubPr>
                            <m:ctrlPr>
                              <a:rPr lang="en-US" sz="18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8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sz="1800" i="1">
                                <a:latin typeface="Cambria Math" panose="02040503050406030204" pitchFamily="18" charset="0"/>
                              </a:rPr>
                              <m:t>3</m:t>
                            </m:r>
                            <m:r>
                              <a:rPr lang="en-US" sz="1800" b="0" i="1" smtClean="0">
                                <a:latin typeface="Cambria Math" panose="02040503050406030204" pitchFamily="18" charset="0"/>
                              </a:rPr>
                              <m:t>𝑆</m:t>
                            </m:r>
                          </m:sub>
                        </m:sSub>
                      </m:e>
                    </m:d>
                    <m:r>
                      <a:rPr lang="en-US" sz="1800" i="1">
                        <a:latin typeface="Cambria Math" panose="02040503050406030204" pitchFamily="18" charset="0"/>
                      </a:rPr>
                      <m:t>≥9</m:t>
                    </m:r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7</m:t>
                    </m:r>
                    <m:r>
                      <a:rPr lang="en-US" sz="1800" i="1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1800" i="1"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a:rPr lang="en-US" sz="1800" i="1">
                            <a:latin typeface="Cambria Math" panose="02040503050406030204" pitchFamily="18" charset="0"/>
                          </a:rPr>
                          <m:t>𝑆</m:t>
                        </m:r>
                      </m:sub>
                    </m:sSub>
                    <m:r>
                      <a:rPr lang="en-US" sz="1800" i="1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1800" i="1"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US" sz="1800" i="1">
                            <a:latin typeface="Cambria Math" panose="02040503050406030204" pitchFamily="18" charset="0"/>
                          </a:rPr>
                          <m:t>𝑆</m:t>
                        </m:r>
                      </m:sub>
                    </m:sSub>
                    <m:r>
                      <a:rPr lang="en-US" sz="1800" i="1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1800" i="1"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n-US" sz="1800" i="1">
                            <a:latin typeface="Cambria Math" panose="02040503050406030204" pitchFamily="18" charset="0"/>
                          </a:rPr>
                          <m:t>𝑆</m:t>
                        </m:r>
                      </m:sub>
                    </m:sSub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sz="1800" b="0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:endParaRPr lang="en-US" sz="1800" i="1" dirty="0">
                  <a:latin typeface="Cambria Math" panose="02040503050406030204" pitchFamily="18" charset="0"/>
                </a:endParaRPr>
              </a:p>
              <a:p>
                <a:pPr marL="0" indent="0">
                  <a:lnSpc>
                    <a:spcPct val="100000"/>
                  </a:lnSpc>
                  <a:buNone/>
                </a:pPr>
                <a:endParaRPr lang="en-US" sz="2400" b="1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55001" y="1312432"/>
                <a:ext cx="11630521" cy="5019541"/>
              </a:xfrm>
              <a:blipFill>
                <a:blip r:embed="rId2"/>
                <a:stretch>
                  <a:fillRect l="-786" t="-97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Right Brace 3"/>
          <p:cNvSpPr/>
          <p:nvPr/>
        </p:nvSpPr>
        <p:spPr>
          <a:xfrm>
            <a:off x="3466011" y="2377440"/>
            <a:ext cx="278675" cy="992777"/>
          </a:xfrm>
          <a:prstGeom prst="rightBrace">
            <a:avLst>
              <a:gd name="adj1" fmla="val 85954"/>
              <a:gd name="adj2" fmla="val 50000"/>
            </a:avLst>
          </a:prstGeom>
          <a:ln w="254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ight Brace 4"/>
          <p:cNvSpPr/>
          <p:nvPr/>
        </p:nvSpPr>
        <p:spPr>
          <a:xfrm>
            <a:off x="3821659" y="3467126"/>
            <a:ext cx="229232" cy="710151"/>
          </a:xfrm>
          <a:prstGeom prst="rightBrace">
            <a:avLst>
              <a:gd name="adj1" fmla="val 85954"/>
              <a:gd name="adj2" fmla="val 50000"/>
            </a:avLst>
          </a:prstGeom>
          <a:ln w="254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ight Brace 5"/>
          <p:cNvSpPr/>
          <p:nvPr/>
        </p:nvSpPr>
        <p:spPr>
          <a:xfrm>
            <a:off x="6825414" y="4177277"/>
            <a:ext cx="229232" cy="710151"/>
          </a:xfrm>
          <a:prstGeom prst="rightBrace">
            <a:avLst>
              <a:gd name="adj1" fmla="val 85954"/>
              <a:gd name="adj2" fmla="val 50000"/>
            </a:avLst>
          </a:prstGeom>
          <a:ln w="254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/>
          <p:cNvSpPr txBox="1"/>
          <p:nvPr/>
        </p:nvSpPr>
        <p:spPr>
          <a:xfrm>
            <a:off x="3936275" y="2762865"/>
            <a:ext cx="344775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Supply Constraints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36159" y="3637535"/>
            <a:ext cx="344775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Demand Constraints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84026" y="4347686"/>
            <a:ext cx="344775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Octane Requirement Constraints</a:t>
            </a:r>
          </a:p>
        </p:txBody>
      </p:sp>
    </p:spTree>
    <p:extLst>
      <p:ext uri="{BB962C8B-B14F-4D97-AF65-F5344CB8AC3E}">
        <p14:creationId xmlns:p14="http://schemas.microsoft.com/office/powerpoint/2010/main" val="31461587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Rounded Rectangle 42"/>
          <p:cNvSpPr/>
          <p:nvPr/>
        </p:nvSpPr>
        <p:spPr>
          <a:xfrm>
            <a:off x="8101781" y="4551223"/>
            <a:ext cx="4090219" cy="785728"/>
          </a:xfrm>
          <a:prstGeom prst="roundRect">
            <a:avLst/>
          </a:prstGeom>
          <a:solidFill>
            <a:schemeClr val="bg2">
              <a:lumMod val="75000"/>
            </a:schemeClr>
          </a:solidFill>
          <a:ln>
            <a:solidFill>
              <a:schemeClr val="bg2">
                <a:lumMod val="1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42" name="Rounded Rectangle 41"/>
          <p:cNvSpPr/>
          <p:nvPr/>
        </p:nvSpPr>
        <p:spPr>
          <a:xfrm>
            <a:off x="1423363" y="4639713"/>
            <a:ext cx="5515898" cy="707943"/>
          </a:xfrm>
          <a:prstGeom prst="roundRect">
            <a:avLst/>
          </a:prstGeom>
          <a:solidFill>
            <a:schemeClr val="bg2">
              <a:lumMod val="75000"/>
            </a:schemeClr>
          </a:solidFill>
          <a:ln>
            <a:solidFill>
              <a:schemeClr val="bg2">
                <a:lumMod val="1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38" name="Rounded Rectangle 37"/>
          <p:cNvSpPr/>
          <p:nvPr/>
        </p:nvSpPr>
        <p:spPr>
          <a:xfrm>
            <a:off x="8386916" y="3647768"/>
            <a:ext cx="2920181" cy="715794"/>
          </a:xfrm>
          <a:prstGeom prst="roundRect">
            <a:avLst/>
          </a:prstGeom>
          <a:solidFill>
            <a:schemeClr val="accent5">
              <a:lumMod val="40000"/>
              <a:lumOff val="60000"/>
            </a:schemeClr>
          </a:solidFill>
          <a:ln>
            <a:solidFill>
              <a:schemeClr val="accent5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37" name="Rounded Rectangle 36"/>
          <p:cNvSpPr/>
          <p:nvPr/>
        </p:nvSpPr>
        <p:spPr>
          <a:xfrm>
            <a:off x="1477442" y="3930256"/>
            <a:ext cx="2816942" cy="620967"/>
          </a:xfrm>
          <a:prstGeom prst="roundRect">
            <a:avLst/>
          </a:prstGeom>
          <a:solidFill>
            <a:schemeClr val="accent5">
              <a:lumMod val="40000"/>
              <a:lumOff val="60000"/>
            </a:schemeClr>
          </a:solidFill>
          <a:ln>
            <a:solidFill>
              <a:schemeClr val="accent5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33" name="Rounded Rectangle 32"/>
          <p:cNvSpPr/>
          <p:nvPr/>
        </p:nvSpPr>
        <p:spPr>
          <a:xfrm>
            <a:off x="8101781" y="2635045"/>
            <a:ext cx="3205316" cy="795859"/>
          </a:xfrm>
          <a:prstGeom prst="roundRect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32" name="Rounded Rectangle 31"/>
          <p:cNvSpPr/>
          <p:nvPr/>
        </p:nvSpPr>
        <p:spPr>
          <a:xfrm>
            <a:off x="1553496" y="2785922"/>
            <a:ext cx="1868130" cy="1036280"/>
          </a:xfrm>
          <a:prstGeom prst="roundRect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26" name="Rounded Rectangle 25"/>
          <p:cNvSpPr/>
          <p:nvPr/>
        </p:nvSpPr>
        <p:spPr>
          <a:xfrm>
            <a:off x="10262565" y="1223942"/>
            <a:ext cx="1612490" cy="814945"/>
          </a:xfrm>
          <a:prstGeom prst="roundRect">
            <a:avLst/>
          </a:prstGeom>
          <a:solidFill>
            <a:schemeClr val="accent4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25" name="Rounded Rectangle 24"/>
          <p:cNvSpPr/>
          <p:nvPr/>
        </p:nvSpPr>
        <p:spPr>
          <a:xfrm>
            <a:off x="8264303" y="1223942"/>
            <a:ext cx="1696355" cy="814945"/>
          </a:xfrm>
          <a:prstGeom prst="roundRect">
            <a:avLst/>
          </a:prstGeom>
          <a:solidFill>
            <a:srgbClr val="D77D6B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22" name="Rounded Rectangle 21"/>
          <p:cNvSpPr/>
          <p:nvPr/>
        </p:nvSpPr>
        <p:spPr>
          <a:xfrm>
            <a:off x="3655142" y="2514782"/>
            <a:ext cx="968478" cy="271140"/>
          </a:xfrm>
          <a:prstGeom prst="roundRect">
            <a:avLst/>
          </a:prstGeom>
          <a:solidFill>
            <a:schemeClr val="accent4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ounded Rectangle 19"/>
          <p:cNvSpPr/>
          <p:nvPr/>
        </p:nvSpPr>
        <p:spPr>
          <a:xfrm>
            <a:off x="4139381" y="1293346"/>
            <a:ext cx="1474838" cy="328977"/>
          </a:xfrm>
          <a:prstGeom prst="roundRect">
            <a:avLst/>
          </a:prstGeom>
          <a:solidFill>
            <a:srgbClr val="D77D6B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ounded Rectangle 13"/>
          <p:cNvSpPr/>
          <p:nvPr/>
        </p:nvSpPr>
        <p:spPr>
          <a:xfrm>
            <a:off x="1455174" y="2113935"/>
            <a:ext cx="5830529" cy="334297"/>
          </a:xfrm>
          <a:prstGeom prst="roundRect">
            <a:avLst/>
          </a:prstGeom>
          <a:solidFill>
            <a:schemeClr val="accent4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ounded Rectangle 9"/>
          <p:cNvSpPr/>
          <p:nvPr/>
        </p:nvSpPr>
        <p:spPr>
          <a:xfrm>
            <a:off x="1553496" y="1730478"/>
            <a:ext cx="4414684" cy="294967"/>
          </a:xfrm>
          <a:prstGeom prst="roundRect">
            <a:avLst/>
          </a:prstGeom>
          <a:solidFill>
            <a:srgbClr val="D77D6B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 Blending Problem – Riverside Oil Company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355001" y="1312432"/>
                <a:ext cx="11630521" cy="5019541"/>
              </a:xfrm>
            </p:spPr>
            <p:txBody>
              <a:bodyPr>
                <a:normAutofit/>
              </a:bodyPr>
              <a:lstStyle/>
              <a:p>
                <a:pPr marL="0" indent="0">
                  <a:lnSpc>
                    <a:spcPct val="100000"/>
                  </a:lnSpc>
                  <a:buNone/>
                </a:pPr>
                <a:r>
                  <a:rPr lang="en-US" sz="2400" b="1" dirty="0"/>
                  <a:t>Problem Formulation</a:t>
                </a:r>
              </a:p>
              <a:p>
                <a:pPr marL="0" indent="0">
                  <a:lnSpc>
                    <a:spcPct val="10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1800" b="0" i="1" smtClean="0">
                          <a:latin typeface="Cambria Math" panose="02040503050406030204" pitchFamily="18" charset="0"/>
                        </a:rPr>
                        <m:t>𝑚𝑎𝑥𝑖𝑚𝑖𝑧𝑒</m:t>
                      </m:r>
                      <m:r>
                        <a:rPr lang="en-US" sz="1800" b="0" i="1" smtClean="0">
                          <a:latin typeface="Cambria Math" panose="02040503050406030204" pitchFamily="18" charset="0"/>
                        </a:rPr>
                        <m:t>   21</m:t>
                      </m:r>
                      <m:d>
                        <m:dPr>
                          <m:ctrlPr>
                            <a:rPr lang="en-US" sz="18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180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8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sz="18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  <m:r>
                                <a:rPr lang="en-US" sz="1800" b="0" i="1" smtClean="0"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</m:sub>
                          </m:sSub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sz="180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8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sz="18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>
                                <a:rPr lang="en-US" sz="1800" b="0" i="1" smtClean="0"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</m:sub>
                          </m:sSub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sz="180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8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sz="1800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  <m:r>
                                <a:rPr lang="en-US" sz="1800" b="0" i="1" smtClean="0"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</m:sub>
                          </m:sSub>
                        </m:e>
                      </m:d>
                      <m:r>
                        <a:rPr lang="en-US" sz="1800" b="0" i="1" smtClean="0">
                          <a:latin typeface="Cambria Math" panose="02040503050406030204" pitchFamily="18" charset="0"/>
                        </a:rPr>
                        <m:t>+25</m:t>
                      </m:r>
                      <m:d>
                        <m:dPr>
                          <m:ctrlPr>
                            <a:rPr lang="en-US" sz="18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180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8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sz="18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  <m:r>
                                <a:rPr lang="en-US" sz="1800" b="0" i="1" smtClean="0">
                                  <a:latin typeface="Cambria Math" panose="02040503050406030204" pitchFamily="18" charset="0"/>
                                </a:rPr>
                                <m:t>𝑆</m:t>
                              </m:r>
                            </m:sub>
                          </m:sSub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sz="180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8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sz="18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>
                                <a:rPr lang="en-US" sz="1800" b="0" i="1" smtClean="0">
                                  <a:latin typeface="Cambria Math" panose="02040503050406030204" pitchFamily="18" charset="0"/>
                                </a:rPr>
                                <m:t>𝑆</m:t>
                              </m:r>
                            </m:sub>
                          </m:sSub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sz="180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8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sz="1800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  <m:r>
                                <a:rPr lang="en-US" sz="1800" b="0" i="1" smtClean="0">
                                  <a:latin typeface="Cambria Math" panose="02040503050406030204" pitchFamily="18" charset="0"/>
                                </a:rPr>
                                <m:t>𝑆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US" sz="1800" b="0" i="1" dirty="0">
                  <a:latin typeface="Cambria Math" panose="02040503050406030204" pitchFamily="18" charset="0"/>
                </a:endParaRPr>
              </a:p>
              <a:p>
                <a:pPr marL="0" indent="0">
                  <a:lnSpc>
                    <a:spcPct val="100000"/>
                  </a:lnSpc>
                  <a:buNone/>
                </a:pPr>
                <a:r>
                  <a:rPr lang="en-US" sz="1800" b="0" dirty="0"/>
                  <a:t>                    </a:t>
                </a:r>
                <a14:m>
                  <m:oMath xmlns:m="http://schemas.openxmlformats.org/officeDocument/2006/math"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−17.25</m:t>
                    </m:r>
                    <m:d>
                      <m:dPr>
                        <m:ctrlPr>
                          <a:rPr lang="en-US" sz="180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18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8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sz="18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a:rPr lang="en-US" sz="1800" b="0" i="1" smtClean="0">
                                <a:latin typeface="Cambria Math" panose="02040503050406030204" pitchFamily="18" charset="0"/>
                              </a:rPr>
                              <m:t>𝑅</m:t>
                            </m:r>
                          </m:sub>
                        </m:sSub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en-US" sz="18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8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sz="18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a:rPr lang="en-US" sz="1800" b="0" i="1" smtClean="0">
                                <a:latin typeface="Cambria Math" panose="02040503050406030204" pitchFamily="18" charset="0"/>
                              </a:rPr>
                              <m:t>𝑆</m:t>
                            </m:r>
                          </m:sub>
                        </m:sSub>
                      </m:e>
                    </m:d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−15.75</m:t>
                    </m:r>
                    <m:d>
                      <m:dPr>
                        <m:ctrlPr>
                          <a:rPr lang="en-US" sz="180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18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8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sz="18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en-US" sz="1800" b="0" i="1" smtClean="0">
                                <a:latin typeface="Cambria Math" panose="02040503050406030204" pitchFamily="18" charset="0"/>
                              </a:rPr>
                              <m:t>𝑅</m:t>
                            </m:r>
                          </m:sub>
                        </m:sSub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en-US" sz="18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8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sz="18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en-US" sz="1800" b="0" i="1" smtClean="0">
                                <a:latin typeface="Cambria Math" panose="02040503050406030204" pitchFamily="18" charset="0"/>
                              </a:rPr>
                              <m:t>𝑆</m:t>
                            </m:r>
                          </m:sub>
                        </m:sSub>
                      </m:e>
                    </m:d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−17.75(</m:t>
                    </m:r>
                    <m:sSub>
                      <m:sSubPr>
                        <m:ctrlPr>
                          <a:rPr lang="en-US" sz="18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𝑅</m:t>
                        </m:r>
                      </m:sub>
                    </m:sSub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sz="18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𝑆</m:t>
                        </m:r>
                      </m:sub>
                    </m:sSub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sz="1800" dirty="0"/>
              </a:p>
              <a:p>
                <a:pPr marL="0" indent="0">
                  <a:lnSpc>
                    <a:spcPct val="100000"/>
                  </a:lnSpc>
                  <a:buNone/>
                </a:pPr>
                <a:endParaRPr lang="en-US" sz="180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1800" b="0" i="1" smtClean="0">
                          <a:latin typeface="Cambria Math" panose="02040503050406030204" pitchFamily="18" charset="0"/>
                        </a:rPr>
                        <m:t>𝑠𝑢𝑏𝑗𝑒𝑐𝑡</m:t>
                      </m:r>
                      <m:r>
                        <a:rPr lang="en-US" sz="18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1800" b="0" i="1" smtClean="0">
                          <a:latin typeface="Cambria Math" panose="02040503050406030204" pitchFamily="18" charset="0"/>
                        </a:rPr>
                        <m:t>𝑡𝑜</m:t>
                      </m:r>
                      <m:r>
                        <a:rPr lang="en-US" sz="1800" b="0" i="1" smtClean="0">
                          <a:latin typeface="Cambria Math" panose="02040503050406030204" pitchFamily="18" charset="0"/>
                        </a:rPr>
                        <m:t> </m:t>
                      </m:r>
                      <m:sSub>
                        <m:sSubPr>
                          <m:ctrlPr>
                            <a:rPr lang="en-US" sz="18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  </m:t>
                          </m:r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𝑅</m:t>
                          </m:r>
                        </m:sub>
                      </m:sSub>
                      <m:r>
                        <a:rPr lang="en-US" sz="1800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18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𝑆</m:t>
                          </m:r>
                        </m:sub>
                      </m:sSub>
                      <m:r>
                        <a:rPr lang="en-US" sz="1800" b="0" i="1" smtClean="0">
                          <a:latin typeface="Cambria Math" panose="02040503050406030204" pitchFamily="18" charset="0"/>
                        </a:rPr>
                        <m:t>≤150 </m:t>
                      </m:r>
                    </m:oMath>
                  </m:oMathPara>
                </a14:m>
                <a:endParaRPr lang="en-US" sz="1800" b="0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:r>
                  <a:rPr lang="en-US" sz="1800" b="0" dirty="0"/>
                  <a:t>                    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𝑅</m:t>
                        </m:r>
                      </m:sub>
                    </m:sSub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sz="1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𝑆</m:t>
                        </m:r>
                      </m:sub>
                    </m:sSub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≤350</m:t>
                    </m:r>
                  </m:oMath>
                </a14:m>
                <a:endParaRPr lang="en-US" sz="1800" b="0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:r>
                  <a:rPr lang="en-US" sz="1800" b="0" dirty="0"/>
                  <a:t>                    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𝑅</m:t>
                        </m:r>
                      </m:sub>
                    </m:sSub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sz="1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𝑆</m:t>
                        </m:r>
                      </m:sub>
                    </m:sSub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≤300</m:t>
                    </m:r>
                  </m:oMath>
                </a14:m>
                <a:endParaRPr lang="en-US" sz="1800" b="0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:r>
                  <a:rPr lang="en-US" sz="1800" b="0" dirty="0"/>
                  <a:t>                    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𝑅</m:t>
                        </m:r>
                      </m:sub>
                    </m:sSub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sz="1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𝑅</m:t>
                        </m:r>
                      </m:sub>
                    </m:sSub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sz="1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𝑅</m:t>
                        </m:r>
                      </m:sub>
                    </m:sSub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≤300</m:t>
                    </m:r>
                  </m:oMath>
                </a14:m>
                <a:endParaRPr lang="en-US" sz="1800" b="0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:r>
                  <a:rPr lang="en-US" sz="1800" b="0" dirty="0"/>
                  <a:t>                    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𝑆</m:t>
                        </m:r>
                      </m:sub>
                    </m:sSub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sz="1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𝑆</m:t>
                        </m:r>
                      </m:sub>
                    </m:sSub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sz="1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𝑆</m:t>
                        </m:r>
                      </m:sub>
                    </m:sSub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≤450</m:t>
                    </m:r>
                  </m:oMath>
                </a14:m>
                <a:endParaRPr lang="en-US" sz="1800" b="0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:r>
                  <a:rPr lang="en-US" sz="1800" b="0" dirty="0"/>
                  <a:t>                    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sz="18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100 </m:t>
                        </m:r>
                        <m:sSub>
                          <m:sSubPr>
                            <m:ctrlPr>
                              <a:rPr lang="en-US" sz="18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8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sz="18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a:rPr lang="en-US" sz="1800" b="0" i="1" smtClean="0">
                                <a:latin typeface="Cambria Math" panose="02040503050406030204" pitchFamily="18" charset="0"/>
                              </a:rPr>
                              <m:t>𝑅</m:t>
                            </m:r>
                          </m:sub>
                        </m:sSub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+87 </m:t>
                        </m:r>
                        <m:sSub>
                          <m:sSubPr>
                            <m:ctrlPr>
                              <a:rPr lang="en-US" sz="18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8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sz="18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en-US" sz="1800" b="0" i="1" smtClean="0">
                                <a:latin typeface="Cambria Math" panose="02040503050406030204" pitchFamily="18" charset="0"/>
                              </a:rPr>
                              <m:t>𝑅</m:t>
                            </m:r>
                          </m:sub>
                        </m:sSub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+110 </m:t>
                        </m:r>
                        <m:sSub>
                          <m:sSubPr>
                            <m:ctrlPr>
                              <a:rPr lang="en-US" sz="18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8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sz="1800" b="0" i="1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  <m:r>
                              <a:rPr lang="en-US" sz="1800" b="0" i="1" smtClean="0">
                                <a:latin typeface="Cambria Math" panose="02040503050406030204" pitchFamily="18" charset="0"/>
                              </a:rPr>
                              <m:t>𝑅</m:t>
                            </m:r>
                          </m:sub>
                        </m:sSub>
                      </m:e>
                    </m:d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≥90(</m:t>
                    </m:r>
                    <m:sSub>
                      <m:sSubPr>
                        <m:ctrlPr>
                          <a:rPr lang="en-US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1800" i="1"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a:rPr lang="en-US" sz="1800" i="1">
                            <a:latin typeface="Cambria Math" panose="02040503050406030204" pitchFamily="18" charset="0"/>
                          </a:rPr>
                          <m:t>𝑅</m:t>
                        </m:r>
                      </m:sub>
                    </m:sSub>
                    <m:r>
                      <a:rPr lang="en-US" sz="1800" i="1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1800" i="1"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US" sz="1800" i="1">
                            <a:latin typeface="Cambria Math" panose="02040503050406030204" pitchFamily="18" charset="0"/>
                          </a:rPr>
                          <m:t>𝑅</m:t>
                        </m:r>
                      </m:sub>
                    </m:sSub>
                    <m:r>
                      <a:rPr lang="en-US" sz="1800" i="1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1800" i="1"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n-US" sz="1800" i="1">
                            <a:latin typeface="Cambria Math" panose="02040503050406030204" pitchFamily="18" charset="0"/>
                          </a:rPr>
                          <m:t>𝑅</m:t>
                        </m:r>
                      </m:sub>
                    </m:sSub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sz="1800" b="0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:r>
                  <a:rPr lang="en-US" sz="1800" dirty="0"/>
                  <a:t>                    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sz="1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800" i="1">
                            <a:latin typeface="Cambria Math" panose="02040503050406030204" pitchFamily="18" charset="0"/>
                          </a:rPr>
                          <m:t>100 </m:t>
                        </m:r>
                        <m:sSub>
                          <m:sSubPr>
                            <m:ctrlPr>
                              <a:rPr lang="en-US" sz="18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8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sz="1800" i="1"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a:rPr lang="en-US" sz="1800" b="0" i="1" smtClean="0">
                                <a:latin typeface="Cambria Math" panose="02040503050406030204" pitchFamily="18" charset="0"/>
                              </a:rPr>
                              <m:t>𝑆</m:t>
                            </m:r>
                          </m:sub>
                        </m:sSub>
                        <m:r>
                          <a:rPr lang="en-US" sz="1800" i="1">
                            <a:latin typeface="Cambria Math" panose="02040503050406030204" pitchFamily="18" charset="0"/>
                          </a:rPr>
                          <m:t>+87 </m:t>
                        </m:r>
                        <m:sSub>
                          <m:sSubPr>
                            <m:ctrlPr>
                              <a:rPr lang="en-US" sz="18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8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sz="18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en-US" sz="1800" b="0" i="1" smtClean="0">
                                <a:latin typeface="Cambria Math" panose="02040503050406030204" pitchFamily="18" charset="0"/>
                              </a:rPr>
                              <m:t>𝑆</m:t>
                            </m:r>
                          </m:sub>
                        </m:sSub>
                        <m:r>
                          <a:rPr lang="en-US" sz="1800" i="1">
                            <a:latin typeface="Cambria Math" panose="02040503050406030204" pitchFamily="18" charset="0"/>
                          </a:rPr>
                          <m:t>+110 </m:t>
                        </m:r>
                        <m:sSub>
                          <m:sSubPr>
                            <m:ctrlPr>
                              <a:rPr lang="en-US" sz="18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8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sz="1800" i="1">
                                <a:latin typeface="Cambria Math" panose="02040503050406030204" pitchFamily="18" charset="0"/>
                              </a:rPr>
                              <m:t>3</m:t>
                            </m:r>
                            <m:r>
                              <a:rPr lang="en-US" sz="1800" b="0" i="1" smtClean="0">
                                <a:latin typeface="Cambria Math" panose="02040503050406030204" pitchFamily="18" charset="0"/>
                              </a:rPr>
                              <m:t>𝑆</m:t>
                            </m:r>
                          </m:sub>
                        </m:sSub>
                      </m:e>
                    </m:d>
                    <m:r>
                      <a:rPr lang="en-US" sz="1800" i="1">
                        <a:latin typeface="Cambria Math" panose="02040503050406030204" pitchFamily="18" charset="0"/>
                      </a:rPr>
                      <m:t>≥9</m:t>
                    </m:r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7</m:t>
                    </m:r>
                    <m:r>
                      <a:rPr lang="en-US" sz="1800" i="1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1800" i="1"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a:rPr lang="en-US" sz="1800" i="1">
                            <a:latin typeface="Cambria Math" panose="02040503050406030204" pitchFamily="18" charset="0"/>
                          </a:rPr>
                          <m:t>𝑆</m:t>
                        </m:r>
                      </m:sub>
                    </m:sSub>
                    <m:r>
                      <a:rPr lang="en-US" sz="1800" i="1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1800" i="1"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US" sz="1800" i="1">
                            <a:latin typeface="Cambria Math" panose="02040503050406030204" pitchFamily="18" charset="0"/>
                          </a:rPr>
                          <m:t>𝑆</m:t>
                        </m:r>
                      </m:sub>
                    </m:sSub>
                    <m:r>
                      <a:rPr lang="en-US" sz="1800" i="1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1800" i="1"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n-US" sz="1800" i="1">
                            <a:latin typeface="Cambria Math" panose="02040503050406030204" pitchFamily="18" charset="0"/>
                          </a:rPr>
                          <m:t>𝑆</m:t>
                        </m:r>
                      </m:sub>
                    </m:sSub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sz="1800" b="0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:endParaRPr lang="en-US" sz="1800" i="1" dirty="0">
                  <a:latin typeface="Cambria Math" panose="02040503050406030204" pitchFamily="18" charset="0"/>
                </a:endParaRPr>
              </a:p>
              <a:p>
                <a:pPr marL="0" indent="0">
                  <a:lnSpc>
                    <a:spcPct val="100000"/>
                  </a:lnSpc>
                  <a:buNone/>
                </a:pPr>
                <a:endParaRPr lang="en-US" sz="2400" b="1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55001" y="1312432"/>
                <a:ext cx="11630521" cy="5019541"/>
              </a:xfrm>
              <a:blipFill>
                <a:blip r:embed="rId2"/>
                <a:stretch>
                  <a:fillRect l="-786" t="-97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6" name="Straight Arrow Connector 15"/>
          <p:cNvCxnSpPr/>
          <p:nvPr/>
        </p:nvCxnSpPr>
        <p:spPr>
          <a:xfrm flipV="1">
            <a:off x="3844413" y="1514168"/>
            <a:ext cx="294968" cy="216310"/>
          </a:xfrm>
          <a:prstGeom prst="straightConnector1">
            <a:avLst/>
          </a:prstGeom>
          <a:ln w="25400">
            <a:solidFill>
              <a:srgbClr val="D77D6B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/>
          <p:cNvCxnSpPr/>
          <p:nvPr/>
        </p:nvCxnSpPr>
        <p:spPr>
          <a:xfrm>
            <a:off x="3195484" y="2448232"/>
            <a:ext cx="452284" cy="186813"/>
          </a:xfrm>
          <a:prstGeom prst="straightConnector1">
            <a:avLst/>
          </a:prstGeom>
          <a:ln w="25400">
            <a:solidFill>
              <a:schemeClr val="accent4">
                <a:lumMod val="40000"/>
                <a:lumOff val="6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4139381" y="1293346"/>
            <a:ext cx="22122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Total Revenue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598606" y="2481617"/>
            <a:ext cx="186812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Total Cost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/>
              <p:cNvSpPr txBox="1"/>
              <p:nvPr/>
            </p:nvSpPr>
            <p:spPr>
              <a:xfrm>
                <a:off x="7743194" y="1223942"/>
                <a:ext cx="3942735" cy="79585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b="0" i="0" smtClean="0">
                              <a:latin typeface="Cambria Math" panose="02040503050406030204" pitchFamily="18" charset="0"/>
                            </a:rPr>
                            <m:t>max</m:t>
                          </m:r>
                        </m:fName>
                        <m:e>
                          <m:nary>
                            <m:naryPr>
                              <m:chr m:val="∑"/>
                              <m:supHide m:val="on"/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7"/>
                                </m:r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, 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𝑆</m:t>
                              </m:r>
                            </m:sub>
                            <m:sup/>
                            <m:e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𝑝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 </m:t>
                                  </m:r>
                                </m:sub>
                              </m:s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nary>
                                <m:naryPr>
                                  <m:chr m:val="∑"/>
                                  <m:supHide m:val="on"/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naryPr>
                                <m:sub>
                                  <m:r>
                                    <m:rPr>
                                      <m:brk m:alnAt="7"/>
                                    </m:r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=1, 2, 3</m:t>
                                  </m:r>
                                </m:sub>
                                <m:sup/>
                                <m:e>
                                  <m:sSub>
                                    <m:sSub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𝑖𝑗</m:t>
                                      </m:r>
                                    </m:sub>
                                  </m:sSub>
                                </m:e>
                              </m:nary>
                            </m:e>
                          </m:nary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− </m:t>
                          </m:r>
                          <m:nary>
                            <m:naryPr>
                              <m:chr m:val="∑"/>
                              <m:supHide m:val="on"/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7"/>
                                </m:r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=1, 2, 3</m:t>
                              </m:r>
                            </m:sub>
                            <m:sup/>
                            <m:e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𝑐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nary>
                                <m:naryPr>
                                  <m:chr m:val="∑"/>
                                  <m:supHide m:val="on"/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naryPr>
                                <m:sub>
                                  <m:r>
                                    <m:rPr>
                                      <m:brk m:alnAt="7"/>
                                    </m:r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=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𝑅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, 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𝑆</m:t>
                                  </m:r>
                                </m:sub>
                                <m:sup/>
                                <m:e>
                                  <m:sSub>
                                    <m:sSub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𝑖𝑗</m:t>
                                      </m:r>
                                    </m:sub>
                                  </m:sSub>
                                </m:e>
                              </m:nary>
                            </m:e>
                          </m:nary>
                        </m:e>
                      </m:func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3" name="TextBox 2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43194" y="1223942"/>
                <a:ext cx="3942735" cy="795859"/>
              </a:xfrm>
              <a:prstGeom prst="rect">
                <a:avLst/>
              </a:prstGeom>
              <a:blipFill>
                <a:blip r:embed="rId3"/>
                <a:stretch>
                  <a:fillRect r="-370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8" name="Straight Arrow Connector 27"/>
          <p:cNvCxnSpPr/>
          <p:nvPr/>
        </p:nvCxnSpPr>
        <p:spPr>
          <a:xfrm flipV="1">
            <a:off x="4623620" y="2113935"/>
            <a:ext cx="6683477" cy="552348"/>
          </a:xfrm>
          <a:prstGeom prst="straightConnector1">
            <a:avLst/>
          </a:prstGeom>
          <a:ln w="25400">
            <a:solidFill>
              <a:schemeClr val="accent4">
                <a:lumMod val="40000"/>
                <a:lumOff val="6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Arrow Connector 29"/>
          <p:cNvCxnSpPr/>
          <p:nvPr/>
        </p:nvCxnSpPr>
        <p:spPr>
          <a:xfrm>
            <a:off x="5614219" y="1457834"/>
            <a:ext cx="2650084" cy="0"/>
          </a:xfrm>
          <a:prstGeom prst="straightConnector1">
            <a:avLst/>
          </a:prstGeom>
          <a:ln w="25400">
            <a:solidFill>
              <a:srgbClr val="D77D6B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1" name="TextBox 30"/>
              <p:cNvSpPr txBox="1"/>
              <p:nvPr/>
            </p:nvSpPr>
            <p:spPr>
              <a:xfrm>
                <a:off x="7984083" y="2635045"/>
                <a:ext cx="3460955" cy="79585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𝑠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.</m:t>
                      </m:r>
                      <m:nary>
                        <m:naryPr>
                          <m:chr m:val="∑"/>
                          <m:supHide m:val="on"/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7"/>
                            </m:rPr>
                            <a:rPr lang="en-US" b="0" i="1" smtClean="0"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𝑅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𝑆</m:t>
                          </m:r>
                        </m:sub>
                        <m:sup/>
                        <m:e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𝑖𝑗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≤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𝑆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nary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𝑓𝑜𝑟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𝑖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=1, 2, 3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1" name="TextBox 3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84083" y="2635045"/>
                <a:ext cx="3460955" cy="795859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5" name="Straight Arrow Connector 34"/>
          <p:cNvCxnSpPr/>
          <p:nvPr/>
        </p:nvCxnSpPr>
        <p:spPr>
          <a:xfrm flipV="1">
            <a:off x="3442520" y="3032974"/>
            <a:ext cx="4659261" cy="271088"/>
          </a:xfrm>
          <a:prstGeom prst="straightConnector1">
            <a:avLst/>
          </a:prstGeom>
          <a:ln w="25400">
            <a:solidFill>
              <a:schemeClr val="accent6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6" name="TextBox 35"/>
              <p:cNvSpPr txBox="1"/>
              <p:nvPr/>
            </p:nvSpPr>
            <p:spPr>
              <a:xfrm>
                <a:off x="7984083" y="3577834"/>
                <a:ext cx="3598317" cy="78572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supHide m:val="on"/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7"/>
                            </m:rPr>
                            <a:rPr lang="en-US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=1, 2, 3</m:t>
                          </m:r>
                        </m:sub>
                        <m:sup/>
                        <m:e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𝑖𝑗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≤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𝐷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</m:sSub>
                        </m:e>
                      </m:nary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𝑓𝑜𝑟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𝑗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𝑅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𝑆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6" name="TextBox 3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84083" y="3577834"/>
                <a:ext cx="3598317" cy="785728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0" name="Straight Arrow Connector 39"/>
          <p:cNvCxnSpPr/>
          <p:nvPr/>
        </p:nvCxnSpPr>
        <p:spPr>
          <a:xfrm flipV="1">
            <a:off x="4301613" y="4027062"/>
            <a:ext cx="4095135" cy="213677"/>
          </a:xfrm>
          <a:prstGeom prst="straightConnector1">
            <a:avLst/>
          </a:prstGeom>
          <a:ln w="25400">
            <a:solidFill>
              <a:schemeClr val="accent5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1" name="TextBox 40"/>
              <p:cNvSpPr txBox="1"/>
              <p:nvPr/>
            </p:nvSpPr>
            <p:spPr>
              <a:xfrm>
                <a:off x="8003458" y="4551223"/>
                <a:ext cx="4188542" cy="78572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supHide m:val="on"/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7"/>
                            </m:rPr>
                            <a:rPr lang="en-US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=1, 2, 3</m:t>
                          </m:r>
                        </m:sub>
                        <m:sup/>
                        <m:e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𝑖𝑗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nary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</m:sSub>
                      <m:nary>
                        <m:naryPr>
                          <m:chr m:val="∑"/>
                          <m:supHide m:val="on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7"/>
                            </m:rPr>
                            <a:rPr lang="en-US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=1, 2, 3</m:t>
                          </m:r>
                        </m:sub>
                        <m:sup/>
                        <m:e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𝑖𝑗</m:t>
                              </m:r>
                            </m:sub>
                          </m:sSub>
                        </m:e>
                      </m:nary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𝑓𝑜𝑟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𝑗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𝑅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𝑆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41" name="TextBox 4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03458" y="4551223"/>
                <a:ext cx="4188542" cy="785728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5" name="Straight Arrow Connector 44"/>
          <p:cNvCxnSpPr/>
          <p:nvPr/>
        </p:nvCxnSpPr>
        <p:spPr>
          <a:xfrm>
            <a:off x="6939261" y="4944087"/>
            <a:ext cx="1162520" cy="0"/>
          </a:xfrm>
          <a:prstGeom prst="straightConnector1">
            <a:avLst/>
          </a:prstGeom>
          <a:ln w="25400">
            <a:solidFill>
              <a:schemeClr val="bg2">
                <a:lumMod val="1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21262105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 Blending Problem – </a:t>
            </a:r>
            <a:r>
              <a:rPr lang="en-US" dirty="0" err="1"/>
              <a:t>PuLP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5002" y="1204856"/>
            <a:ext cx="11478410" cy="4864530"/>
          </a:xfrm>
        </p:spPr>
        <p:txBody>
          <a:bodyPr/>
          <a:lstStyle/>
          <a:p>
            <a:r>
              <a:rPr lang="en-US" dirty="0"/>
              <a:t>Import </a:t>
            </a:r>
            <a:r>
              <a:rPr lang="en-US" dirty="0" err="1"/>
              <a:t>PuLP</a:t>
            </a:r>
            <a:r>
              <a:rPr lang="en-US" dirty="0"/>
              <a:t> modeler functions: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Define an LP problem:</a:t>
            </a:r>
          </a:p>
          <a:p>
            <a:endParaRPr lang="en-US" dirty="0"/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Define the parameters and the decision variables:</a:t>
            </a:r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2"/>
          <a:srcRect b="36141"/>
          <a:stretch/>
        </p:blipFill>
        <p:spPr>
          <a:xfrm>
            <a:off x="5049683" y="1764400"/>
            <a:ext cx="1990725" cy="328459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32068" y="2638412"/>
            <a:ext cx="3724275" cy="41910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4232068" y="2658077"/>
            <a:ext cx="536577" cy="317188"/>
          </a:xfrm>
          <a:prstGeom prst="rect">
            <a:avLst/>
          </a:prstGeom>
          <a:noFill/>
          <a:ln w="9525" cap="flat" cmpd="sng" algn="ctr">
            <a:solidFill>
              <a:srgbClr val="C0000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cxnSp>
        <p:nvCxnSpPr>
          <p:cNvPr id="9" name="Straight Arrow Connector 8"/>
          <p:cNvCxnSpPr/>
          <p:nvPr/>
        </p:nvCxnSpPr>
        <p:spPr>
          <a:xfrm flipH="1">
            <a:off x="4001010" y="2975265"/>
            <a:ext cx="462116" cy="299118"/>
          </a:xfrm>
          <a:prstGeom prst="straightConnector1">
            <a:avLst/>
          </a:prstGeom>
          <a:ln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Rectangle 9"/>
          <p:cNvSpPr/>
          <p:nvPr/>
        </p:nvSpPr>
        <p:spPr>
          <a:xfrm>
            <a:off x="5771535" y="2658077"/>
            <a:ext cx="1002891" cy="317188"/>
          </a:xfrm>
          <a:prstGeom prst="rect">
            <a:avLst/>
          </a:prstGeom>
          <a:noFill/>
          <a:ln w="9525" cap="flat" cmpd="sng" algn="ctr">
            <a:solidFill>
              <a:srgbClr val="C0000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11" name="Rectangle 10"/>
          <p:cNvSpPr/>
          <p:nvPr/>
        </p:nvSpPr>
        <p:spPr>
          <a:xfrm>
            <a:off x="6843252" y="2658077"/>
            <a:ext cx="934064" cy="336853"/>
          </a:xfrm>
          <a:prstGeom prst="rect">
            <a:avLst/>
          </a:prstGeom>
          <a:noFill/>
          <a:ln w="9525" cap="flat" cmpd="sng" algn="ctr">
            <a:solidFill>
              <a:srgbClr val="C0000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cxnSp>
        <p:nvCxnSpPr>
          <p:cNvPr id="13" name="Straight Arrow Connector 12"/>
          <p:cNvCxnSpPr/>
          <p:nvPr/>
        </p:nvCxnSpPr>
        <p:spPr>
          <a:xfrm>
            <a:off x="6272980" y="2994930"/>
            <a:ext cx="0" cy="279453"/>
          </a:xfrm>
          <a:prstGeom prst="straightConnector1">
            <a:avLst/>
          </a:prstGeom>
          <a:ln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/>
          <p:cNvCxnSpPr>
            <a:stCxn id="11" idx="2"/>
          </p:cNvCxnSpPr>
          <p:nvPr/>
        </p:nvCxnSpPr>
        <p:spPr>
          <a:xfrm>
            <a:off x="7310284" y="2994930"/>
            <a:ext cx="467032" cy="279453"/>
          </a:xfrm>
          <a:prstGeom prst="straightConnector1">
            <a:avLst/>
          </a:prstGeom>
          <a:ln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3093625" y="3222239"/>
            <a:ext cx="16061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variable name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12657" y="3224796"/>
            <a:ext cx="172064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problem name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234063" y="3188330"/>
            <a:ext cx="241138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LP problem objective</a:t>
            </a:r>
          </a:p>
        </p:txBody>
      </p:sp>
      <p:pic>
        <p:nvPicPr>
          <p:cNvPr id="19" name="Picture 1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7077" y="4318627"/>
            <a:ext cx="7058025" cy="1590675"/>
          </a:xfrm>
          <a:prstGeom prst="rect">
            <a:avLst/>
          </a:prstGeom>
        </p:spPr>
      </p:pic>
      <p:sp>
        <p:nvSpPr>
          <p:cNvPr id="20" name="Rectangle 19"/>
          <p:cNvSpPr/>
          <p:nvPr/>
        </p:nvSpPr>
        <p:spPr>
          <a:xfrm>
            <a:off x="1061884" y="5472310"/>
            <a:ext cx="1022555" cy="250064"/>
          </a:xfrm>
          <a:prstGeom prst="rect">
            <a:avLst/>
          </a:prstGeom>
          <a:noFill/>
          <a:ln w="9525" cap="flat" cmpd="sng" algn="ctr">
            <a:solidFill>
              <a:srgbClr val="C0000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cxnSp>
        <p:nvCxnSpPr>
          <p:cNvPr id="25" name="Elbow Connector 24"/>
          <p:cNvCxnSpPr>
            <a:stCxn id="20" idx="2"/>
          </p:cNvCxnSpPr>
          <p:nvPr/>
        </p:nvCxnSpPr>
        <p:spPr>
          <a:xfrm rot="16200000" flipH="1">
            <a:off x="4319588" y="2975947"/>
            <a:ext cx="347014" cy="5839867"/>
          </a:xfrm>
          <a:prstGeom prst="bentConnector2">
            <a:avLst/>
          </a:prstGeom>
          <a:ln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Rectangle 25"/>
          <p:cNvSpPr/>
          <p:nvPr/>
        </p:nvSpPr>
        <p:spPr>
          <a:xfrm>
            <a:off x="7413027" y="4352536"/>
            <a:ext cx="4710148" cy="2477815"/>
          </a:xfrm>
          <a:prstGeom prst="rect">
            <a:avLst/>
          </a:prstGeom>
          <a:noFill/>
          <a:ln w="9525" cap="flat" cmpd="sng" algn="ctr">
            <a:solidFill>
              <a:srgbClr val="C0000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27" name="TextBox 26"/>
          <p:cNvSpPr txBox="1"/>
          <p:nvPr/>
        </p:nvSpPr>
        <p:spPr>
          <a:xfrm>
            <a:off x="7467105" y="4295703"/>
            <a:ext cx="4601992" cy="25914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indent="-112713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5F5F5F"/>
              </a:buClr>
              <a:buSzPct val="65000"/>
            </a:pPr>
            <a:r>
              <a:rPr lang="en-US" sz="1400" b="1" kern="0" dirty="0" err="1">
                <a:cs typeface="Calibri" pitchFamily="34" charset="0"/>
              </a:rPr>
              <a:t>LpVariable</a:t>
            </a:r>
            <a:r>
              <a:rPr lang="en-US" sz="1400" kern="0" dirty="0">
                <a:cs typeface="Calibri" pitchFamily="34" charset="0"/>
              </a:rPr>
              <a:t> class: </a:t>
            </a:r>
            <a:r>
              <a:rPr lang="en-US" sz="1400" b="1" kern="0" dirty="0" err="1">
                <a:cs typeface="Calibri" pitchFamily="34" charset="0"/>
              </a:rPr>
              <a:t>LpVariable</a:t>
            </a:r>
            <a:r>
              <a:rPr lang="en-US" sz="1400" b="1" kern="0" dirty="0">
                <a:cs typeface="Calibri" pitchFamily="34" charset="0"/>
              </a:rPr>
              <a:t>(name, </a:t>
            </a:r>
            <a:r>
              <a:rPr lang="en-US" sz="1400" b="1" kern="0" dirty="0" err="1">
                <a:cs typeface="Calibri" pitchFamily="34" charset="0"/>
              </a:rPr>
              <a:t>lowBound</a:t>
            </a:r>
            <a:r>
              <a:rPr lang="en-US" sz="1400" b="1" kern="0" dirty="0">
                <a:cs typeface="Calibri" pitchFamily="34" charset="0"/>
              </a:rPr>
              <a:t>=None, </a:t>
            </a:r>
            <a:r>
              <a:rPr lang="en-US" sz="1400" b="1" kern="0" dirty="0" err="1">
                <a:cs typeface="Calibri" pitchFamily="34" charset="0"/>
              </a:rPr>
              <a:t>upBound</a:t>
            </a:r>
            <a:r>
              <a:rPr lang="en-US" sz="1400" b="1" kern="0" dirty="0">
                <a:cs typeface="Calibri" pitchFamily="34" charset="0"/>
              </a:rPr>
              <a:t>=None, cat='Continuous')</a:t>
            </a:r>
            <a:r>
              <a:rPr lang="en-US" sz="1400" kern="0" dirty="0">
                <a:cs typeface="Calibri" pitchFamily="34" charset="0"/>
              </a:rPr>
              <a:t>. </a:t>
            </a:r>
          </a:p>
          <a:p>
            <a:pPr indent="-112713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5F5F5F"/>
              </a:buClr>
              <a:buSzPct val="65000"/>
            </a:pPr>
            <a:r>
              <a:rPr lang="en-US" sz="1400" b="1" kern="0" dirty="0">
                <a:latin typeface="Calibri" pitchFamily="34" charset="0"/>
                <a:cs typeface="Calibri" pitchFamily="34" charset="0"/>
              </a:rPr>
              <a:t>name</a:t>
            </a:r>
            <a:r>
              <a:rPr lang="en-US" sz="1400" kern="0" dirty="0">
                <a:latin typeface="Calibri" pitchFamily="34" charset="0"/>
                <a:cs typeface="Calibri" pitchFamily="34" charset="0"/>
              </a:rPr>
              <a:t>: The name of the variable used in the </a:t>
            </a:r>
            <a:r>
              <a:rPr lang="en-US" sz="1400" kern="0" dirty="0" err="1">
                <a:latin typeface="Calibri" pitchFamily="34" charset="0"/>
                <a:cs typeface="Calibri" pitchFamily="34" charset="0"/>
              </a:rPr>
              <a:t>output.lp</a:t>
            </a:r>
            <a:r>
              <a:rPr lang="en-US" sz="1400" kern="0" dirty="0">
                <a:latin typeface="Calibri" pitchFamily="34" charset="0"/>
                <a:cs typeface="Calibri" pitchFamily="34" charset="0"/>
              </a:rPr>
              <a:t> file</a:t>
            </a:r>
          </a:p>
          <a:p>
            <a:pPr indent="-112713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5F5F5F"/>
              </a:buClr>
              <a:buSzPct val="65000"/>
            </a:pPr>
            <a:r>
              <a:rPr lang="en-US" sz="1400" b="1" kern="0" dirty="0" err="1">
                <a:latin typeface="Calibri" pitchFamily="34" charset="0"/>
                <a:cs typeface="Calibri" pitchFamily="34" charset="0"/>
              </a:rPr>
              <a:t>lowBound</a:t>
            </a:r>
            <a:r>
              <a:rPr lang="en-US" sz="1400" kern="0" dirty="0">
                <a:latin typeface="Calibri" pitchFamily="34" charset="0"/>
                <a:cs typeface="Calibri" pitchFamily="34" charset="0"/>
              </a:rPr>
              <a:t>: The lower bound on this variable’s range. Default is negative infinity</a:t>
            </a:r>
          </a:p>
          <a:p>
            <a:pPr indent="-112713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5F5F5F"/>
              </a:buClr>
              <a:buSzPct val="65000"/>
            </a:pPr>
            <a:r>
              <a:rPr lang="en-US" sz="1400" b="1" kern="0" dirty="0" err="1">
                <a:latin typeface="Calibri" pitchFamily="34" charset="0"/>
                <a:cs typeface="Calibri" pitchFamily="34" charset="0"/>
              </a:rPr>
              <a:t>upBound</a:t>
            </a:r>
            <a:r>
              <a:rPr lang="en-US" sz="1400" kern="0" dirty="0">
                <a:latin typeface="Calibri" pitchFamily="34" charset="0"/>
                <a:cs typeface="Calibri" pitchFamily="34" charset="0"/>
              </a:rPr>
              <a:t>: The upper bound on this variable’s range. Default is positive infinity</a:t>
            </a:r>
          </a:p>
          <a:p>
            <a:pPr indent="-112713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5F5F5F"/>
              </a:buClr>
              <a:buSzPct val="65000"/>
            </a:pPr>
            <a:r>
              <a:rPr lang="en-US" sz="1400" b="1" kern="0" dirty="0">
                <a:latin typeface="Calibri" pitchFamily="34" charset="0"/>
                <a:cs typeface="Calibri" pitchFamily="34" charset="0"/>
              </a:rPr>
              <a:t>cat</a:t>
            </a:r>
            <a:r>
              <a:rPr lang="en-US" sz="1400" kern="0" dirty="0">
                <a:latin typeface="Calibri" pitchFamily="34" charset="0"/>
                <a:cs typeface="Calibri" pitchFamily="34" charset="0"/>
              </a:rPr>
              <a:t>: The category this variable is in, </a:t>
            </a:r>
            <a:r>
              <a:rPr lang="en-US" sz="1400" b="1" i="1" kern="0" dirty="0">
                <a:latin typeface="Calibri" pitchFamily="34" charset="0"/>
                <a:cs typeface="Calibri" pitchFamily="34" charset="0"/>
              </a:rPr>
              <a:t>Integer, Binary, or Continuous </a:t>
            </a:r>
            <a:r>
              <a:rPr lang="en-US" sz="1400" i="1" kern="0" dirty="0">
                <a:latin typeface="Calibri" pitchFamily="34" charset="0"/>
                <a:cs typeface="Calibri" pitchFamily="34" charset="0"/>
              </a:rPr>
              <a:t>(default)</a:t>
            </a:r>
          </a:p>
        </p:txBody>
      </p:sp>
    </p:spTree>
    <p:extLst>
      <p:ext uri="{BB962C8B-B14F-4D97-AF65-F5344CB8AC3E}">
        <p14:creationId xmlns:p14="http://schemas.microsoft.com/office/powerpoint/2010/main" val="2033913570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 Blending Problem - </a:t>
            </a:r>
            <a:r>
              <a:rPr lang="en-US" dirty="0" err="1"/>
              <a:t>PuLP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Generate data:</a:t>
            </a:r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35747" y="1930185"/>
            <a:ext cx="4733925" cy="36290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6345455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 Blending Problem - </a:t>
            </a:r>
            <a:r>
              <a:rPr lang="en-US" dirty="0" err="1"/>
              <a:t>PuLP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Add the objective function and constraints to the LP problem using “</a:t>
            </a:r>
            <a:r>
              <a:rPr lang="en-US" b="1" dirty="0"/>
              <a:t>+=” </a:t>
            </a:r>
            <a:r>
              <a:rPr lang="en-US" dirty="0"/>
              <a:t>operator: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4322" y="2119684"/>
            <a:ext cx="11919770" cy="32500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56198974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 Blending Problem - </a:t>
            </a:r>
            <a:r>
              <a:rPr lang="en-US" dirty="0" err="1"/>
              <a:t>PuLP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8138" y="1452959"/>
            <a:ext cx="9759592" cy="48192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60305800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 Blending Problem - </a:t>
            </a:r>
            <a:r>
              <a:rPr lang="en-US" dirty="0" err="1"/>
              <a:t>PuLP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Run the solver :</a:t>
            </a:r>
          </a:p>
          <a:p>
            <a:endParaRPr lang="en-US" dirty="0"/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There are 5 status that can be returned from a solver in </a:t>
            </a:r>
            <a:r>
              <a:rPr lang="en-US" dirty="0" err="1"/>
              <a:t>PuLP</a:t>
            </a:r>
            <a:r>
              <a:rPr lang="en-US" dirty="0"/>
              <a:t>: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lvl="2"/>
            <a:r>
              <a:rPr lang="en-US" b="1" dirty="0"/>
              <a:t>Optimal:</a:t>
            </a:r>
            <a:r>
              <a:rPr lang="en-US" dirty="0"/>
              <a:t> Optimal solution exists and is found. </a:t>
            </a:r>
          </a:p>
          <a:p>
            <a:pPr lvl="2"/>
            <a:r>
              <a:rPr lang="en-US" b="1" dirty="0"/>
              <a:t>Not Solved: </a:t>
            </a:r>
            <a:r>
              <a:rPr lang="en-US" dirty="0"/>
              <a:t>Is the default setting before a problem has been solved.</a:t>
            </a:r>
          </a:p>
          <a:p>
            <a:pPr lvl="2"/>
            <a:r>
              <a:rPr lang="en-US" b="1" dirty="0"/>
              <a:t>Infeasible:</a:t>
            </a:r>
            <a:r>
              <a:rPr lang="en-US" dirty="0"/>
              <a:t> The problem has no feasible solution.</a:t>
            </a:r>
          </a:p>
          <a:p>
            <a:pPr lvl="2"/>
            <a:r>
              <a:rPr lang="en-US" b="1" dirty="0"/>
              <a:t>Unbounded:</a:t>
            </a:r>
            <a:r>
              <a:rPr lang="en-US" dirty="0"/>
              <a:t> The objective function is unbounded. </a:t>
            </a:r>
          </a:p>
          <a:p>
            <a:pPr lvl="2"/>
            <a:r>
              <a:rPr lang="en-US" b="1" dirty="0"/>
              <a:t>Undefined:</a:t>
            </a:r>
            <a:r>
              <a:rPr lang="en-US" dirty="0"/>
              <a:t> Feasible solution hasn't been found (but may exist). </a:t>
            </a:r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03482" y="1724160"/>
            <a:ext cx="3981450" cy="866775"/>
          </a:xfrm>
          <a:prstGeom prst="rect">
            <a:avLst/>
          </a:prstGeom>
        </p:spPr>
      </p:pic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2030207" y="3376398"/>
          <a:ext cx="8128000" cy="736600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1625600">
                  <a:extLst>
                    <a:ext uri="{9D8B030D-6E8A-4147-A177-3AD203B41FA5}">
                      <a16:colId xmlns:a16="http://schemas.microsoft.com/office/drawing/2014/main" val="622921042"/>
                    </a:ext>
                  </a:extLst>
                </a:gridCol>
                <a:gridCol w="1625600">
                  <a:extLst>
                    <a:ext uri="{9D8B030D-6E8A-4147-A177-3AD203B41FA5}">
                      <a16:colId xmlns:a16="http://schemas.microsoft.com/office/drawing/2014/main" val="3783158915"/>
                    </a:ext>
                  </a:extLst>
                </a:gridCol>
                <a:gridCol w="1625600">
                  <a:extLst>
                    <a:ext uri="{9D8B030D-6E8A-4147-A177-3AD203B41FA5}">
                      <a16:colId xmlns:a16="http://schemas.microsoft.com/office/drawing/2014/main" val="1502804734"/>
                    </a:ext>
                  </a:extLst>
                </a:gridCol>
                <a:gridCol w="1625600">
                  <a:extLst>
                    <a:ext uri="{9D8B030D-6E8A-4147-A177-3AD203B41FA5}">
                      <a16:colId xmlns:a16="http://schemas.microsoft.com/office/drawing/2014/main" val="4261901750"/>
                    </a:ext>
                  </a:extLst>
                </a:gridCol>
                <a:gridCol w="1625600">
                  <a:extLst>
                    <a:ext uri="{9D8B030D-6E8A-4147-A177-3AD203B41FA5}">
                      <a16:colId xmlns:a16="http://schemas.microsoft.com/office/drawing/2014/main" val="3927629945"/>
                    </a:ext>
                  </a:extLst>
                </a:gridCol>
              </a:tblGrid>
              <a:tr h="323072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5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1235602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Optimal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Not Solved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Infeasi</a:t>
                      </a:r>
                      <a:r>
                        <a:rPr lang="en-US" baseline="0" dirty="0"/>
                        <a:t>ble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Unbounded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Undefined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547769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643765361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 Blending Problem - </a:t>
            </a:r>
            <a:r>
              <a:rPr lang="en-US" dirty="0" err="1"/>
              <a:t>PuLP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Print the solution</a:t>
            </a:r>
          </a:p>
          <a:p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51417" y="1662113"/>
            <a:ext cx="6315075" cy="45148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0525119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7517</TotalTime>
  <Words>4763</Words>
  <Application>Microsoft Macintosh PowerPoint</Application>
  <PresentationFormat>Widescreen</PresentationFormat>
  <Paragraphs>673</Paragraphs>
  <Slides>54</Slides>
  <Notes>6</Notes>
  <HiddenSlides>0</HiddenSlides>
  <MMClips>0</MMClips>
  <ScaleCrop>false</ScaleCrop>
  <HeadingPairs>
    <vt:vector size="8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2</vt:i4>
      </vt:variant>
      <vt:variant>
        <vt:lpstr>Slide Titles</vt:lpstr>
      </vt:variant>
      <vt:variant>
        <vt:i4>54</vt:i4>
      </vt:variant>
    </vt:vector>
  </HeadingPairs>
  <TitlesOfParts>
    <vt:vector size="64" baseType="lpstr">
      <vt:lpstr>ＭＳ Ｐゴシック</vt:lpstr>
      <vt:lpstr>Arial</vt:lpstr>
      <vt:lpstr>Calibri</vt:lpstr>
      <vt:lpstr>Calibri Light</vt:lpstr>
      <vt:lpstr>Cambria Math</vt:lpstr>
      <vt:lpstr>Source Sans Pro</vt:lpstr>
      <vt:lpstr>Wingdings</vt:lpstr>
      <vt:lpstr>Office Theme</vt:lpstr>
      <vt:lpstr>Worksheet</vt:lpstr>
      <vt:lpstr>Equation</vt:lpstr>
      <vt:lpstr> ANLY 5332   Department of Information Systems and Analytics McCoy College of Business Administration Texas State University</vt:lpstr>
      <vt:lpstr>Outline</vt:lpstr>
      <vt:lpstr>Outline</vt:lpstr>
      <vt:lpstr>Compact Algebraic Modeling</vt:lpstr>
      <vt:lpstr>Compact Algebraic Modeling</vt:lpstr>
      <vt:lpstr>Compact Algebraic Modeling</vt:lpstr>
      <vt:lpstr>Compact Algebraic Modeling</vt:lpstr>
      <vt:lpstr>Compact Algebraic Modeling</vt:lpstr>
      <vt:lpstr>Outline</vt:lpstr>
      <vt:lpstr>Matrix Notation</vt:lpstr>
      <vt:lpstr>Matrix Notation</vt:lpstr>
      <vt:lpstr>Matrix Notation</vt:lpstr>
      <vt:lpstr>Matrix Notation</vt:lpstr>
      <vt:lpstr>Matrix Notation</vt:lpstr>
      <vt:lpstr>Matrix Notation</vt:lpstr>
      <vt:lpstr>Matrix Notation</vt:lpstr>
      <vt:lpstr>Matrix Notation</vt:lpstr>
      <vt:lpstr>Matrix Notation</vt:lpstr>
      <vt:lpstr>Matrix Notation</vt:lpstr>
      <vt:lpstr>Matrix Notation</vt:lpstr>
      <vt:lpstr>Matrix Notation</vt:lpstr>
      <vt:lpstr>Matrix Notation</vt:lpstr>
      <vt:lpstr>Matrix Notation</vt:lpstr>
      <vt:lpstr>Matrix Notation</vt:lpstr>
      <vt:lpstr>Matrix Notation</vt:lpstr>
      <vt:lpstr>Matrix Notation</vt:lpstr>
      <vt:lpstr>Matrix Notation</vt:lpstr>
      <vt:lpstr>Outline</vt:lpstr>
      <vt:lpstr>Matrix Notation for Networks</vt:lpstr>
      <vt:lpstr>Matrix Notation for Networks</vt:lpstr>
      <vt:lpstr>Matrix Notation for Networks</vt:lpstr>
      <vt:lpstr>Matrix Notation for Networks</vt:lpstr>
      <vt:lpstr>Outline</vt:lpstr>
      <vt:lpstr>Examples</vt:lpstr>
      <vt:lpstr>Examples</vt:lpstr>
      <vt:lpstr>Examples</vt:lpstr>
      <vt:lpstr>Examples</vt:lpstr>
      <vt:lpstr>Outline</vt:lpstr>
      <vt:lpstr>Limitations of Excel Solver</vt:lpstr>
      <vt:lpstr>Various Optimization Platforms</vt:lpstr>
      <vt:lpstr>Overview of PuLP</vt:lpstr>
      <vt:lpstr>Overview of PuLP</vt:lpstr>
      <vt:lpstr>Installing PuLP</vt:lpstr>
      <vt:lpstr>Formulating LP Problems using PuLP</vt:lpstr>
      <vt:lpstr>Formulating LP Problems using PuLP</vt:lpstr>
      <vt:lpstr>A Blending Problem – Riverside Oil Company</vt:lpstr>
      <vt:lpstr>A Blending Problem – Riverside Oil Company</vt:lpstr>
      <vt:lpstr>A Blending Problem – Riverside Oil Company</vt:lpstr>
      <vt:lpstr>A Blending Problem – PuLP</vt:lpstr>
      <vt:lpstr>A Blending Problem - PuLP</vt:lpstr>
      <vt:lpstr>A Blending Problem - PuLP</vt:lpstr>
      <vt:lpstr>A Blending Problem - PuLP</vt:lpstr>
      <vt:lpstr>A Blending Problem - PuLP</vt:lpstr>
      <vt:lpstr>A Blending Problem - PuLP</vt:lpstr>
    </vt:vector>
  </TitlesOfParts>
  <Company>Missouri University of Science and Technology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Konur, Dincer</dc:creator>
  <cp:lastModifiedBy>Lin, Zewei (linzw)</cp:lastModifiedBy>
  <cp:revision>336</cp:revision>
  <dcterms:created xsi:type="dcterms:W3CDTF">2018-08-17T02:14:39Z</dcterms:created>
  <dcterms:modified xsi:type="dcterms:W3CDTF">2024-10-07T04:27:47Z</dcterms:modified>
</cp:coreProperties>
</file>