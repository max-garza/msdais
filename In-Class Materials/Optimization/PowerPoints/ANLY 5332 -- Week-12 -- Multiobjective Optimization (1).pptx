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701" r:id="rId2"/>
    <p:sldId id="260" r:id="rId3"/>
    <p:sldId id="759" r:id="rId4"/>
    <p:sldId id="709" r:id="rId5"/>
    <p:sldId id="710" r:id="rId6"/>
    <p:sldId id="713" r:id="rId7"/>
    <p:sldId id="711" r:id="rId8"/>
    <p:sldId id="712" r:id="rId9"/>
    <p:sldId id="714" r:id="rId10"/>
    <p:sldId id="715" r:id="rId11"/>
    <p:sldId id="716" r:id="rId12"/>
    <p:sldId id="717" r:id="rId13"/>
    <p:sldId id="718" r:id="rId14"/>
    <p:sldId id="719" r:id="rId15"/>
    <p:sldId id="760" r:id="rId16"/>
    <p:sldId id="720" r:id="rId17"/>
    <p:sldId id="725" r:id="rId18"/>
    <p:sldId id="722" r:id="rId19"/>
    <p:sldId id="724" r:id="rId20"/>
    <p:sldId id="726" r:id="rId21"/>
    <p:sldId id="727" r:id="rId22"/>
    <p:sldId id="728" r:id="rId23"/>
    <p:sldId id="729" r:id="rId24"/>
    <p:sldId id="730" r:id="rId25"/>
    <p:sldId id="731" r:id="rId26"/>
    <p:sldId id="761" r:id="rId27"/>
    <p:sldId id="732" r:id="rId28"/>
    <p:sldId id="735" r:id="rId29"/>
    <p:sldId id="736" r:id="rId30"/>
    <p:sldId id="737" r:id="rId31"/>
    <p:sldId id="738" r:id="rId32"/>
    <p:sldId id="762" r:id="rId33"/>
    <p:sldId id="750" r:id="rId34"/>
    <p:sldId id="751" r:id="rId35"/>
    <p:sldId id="752" r:id="rId36"/>
    <p:sldId id="753" r:id="rId37"/>
    <p:sldId id="754" r:id="rId38"/>
    <p:sldId id="763" r:id="rId39"/>
    <p:sldId id="584" r:id="rId40"/>
    <p:sldId id="739" r:id="rId41"/>
    <p:sldId id="740" r:id="rId42"/>
    <p:sldId id="741" r:id="rId43"/>
    <p:sldId id="742" r:id="rId44"/>
    <p:sldId id="743" r:id="rId45"/>
    <p:sldId id="744" r:id="rId46"/>
    <p:sldId id="745" r:id="rId47"/>
    <p:sldId id="746" r:id="rId48"/>
    <p:sldId id="747" r:id="rId49"/>
    <p:sldId id="748" r:id="rId50"/>
    <p:sldId id="749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7D6B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6" autoAdjust="0"/>
    <p:restoredTop sz="84342" autoAdjust="0"/>
  </p:normalViewPr>
  <p:slideViewPr>
    <p:cSldViewPr snapToGrid="0">
      <p:cViewPr varScale="1">
        <p:scale>
          <a:sx n="126" d="100"/>
          <a:sy n="126" d="100"/>
        </p:scale>
        <p:origin x="14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cer Konur" userId="0cb337efb386619d" providerId="LiveId" clId="{1BE7F59B-223B-433C-B97B-A4CDF73A1E02}"/>
    <pc:docChg chg="undo custSel delSld modSld">
      <pc:chgData name="Dincer Konur" userId="0cb337efb386619d" providerId="LiveId" clId="{1BE7F59B-223B-433C-B97B-A4CDF73A1E02}" dt="2019-07-26T20:15:02.734" v="90" actId="20577"/>
      <pc:docMkLst>
        <pc:docMk/>
      </pc:docMkLst>
      <pc:sldChg chg="modSp">
        <pc:chgData name="Dincer Konur" userId="0cb337efb386619d" providerId="LiveId" clId="{1BE7F59B-223B-433C-B97B-A4CDF73A1E02}" dt="2019-07-26T20:15:02.734" v="90" actId="20577"/>
        <pc:sldMkLst>
          <pc:docMk/>
          <pc:sldMk cId="2474569206" sldId="260"/>
        </pc:sldMkLst>
        <pc:spChg chg="mod">
          <ac:chgData name="Dincer Konur" userId="0cb337efb386619d" providerId="LiveId" clId="{1BE7F59B-223B-433C-B97B-A4CDF73A1E02}" dt="2019-07-26T20:15:02.734" v="90" actId="20577"/>
          <ac:spMkLst>
            <pc:docMk/>
            <pc:sldMk cId="2474569206" sldId="260"/>
            <ac:spMk id="3" creationId="{00000000-0000-0000-0000-000000000000}"/>
          </ac:spMkLst>
        </pc:spChg>
      </pc:sldChg>
    </pc:docChg>
  </pc:docChgLst>
  <pc:docChgLst>
    <pc:chgData name="Sahan Konur, Sahika" userId="739a6e03-9a4a-49c6-a350-571b31db94be" providerId="ADAL" clId="{2A88C615-53B2-4ECB-911E-D86B284D2130}"/>
    <pc:docChg chg="undo custSel addSld delSld modSld">
      <pc:chgData name="Sahan Konur, Sahika" userId="739a6e03-9a4a-49c6-a350-571b31db94be" providerId="ADAL" clId="{2A88C615-53B2-4ECB-911E-D86B284D2130}" dt="2023-11-27T18:11:36.475" v="5" actId="27636"/>
      <pc:docMkLst>
        <pc:docMk/>
      </pc:docMkLst>
      <pc:sldChg chg="add del">
        <pc:chgData name="Sahan Konur, Sahika" userId="739a6e03-9a4a-49c6-a350-571b31db94be" providerId="ADAL" clId="{2A88C615-53B2-4ECB-911E-D86B284D2130}" dt="2023-11-27T18:11:36.459" v="4" actId="47"/>
        <pc:sldMkLst>
          <pc:docMk/>
          <pc:sldMk cId="2344556210" sldId="740"/>
        </pc:sldMkLst>
      </pc:sldChg>
      <pc:sldChg chg="modSp add del mod">
        <pc:chgData name="Sahan Konur, Sahika" userId="739a6e03-9a4a-49c6-a350-571b31db94be" providerId="ADAL" clId="{2A88C615-53B2-4ECB-911E-D86B284D2130}" dt="2023-11-27T18:11:36.475" v="5" actId="27636"/>
        <pc:sldMkLst>
          <pc:docMk/>
          <pc:sldMk cId="167245018" sldId="741"/>
        </pc:sldMkLst>
        <pc:spChg chg="mod">
          <ac:chgData name="Sahan Konur, Sahika" userId="739a6e03-9a4a-49c6-a350-571b31db94be" providerId="ADAL" clId="{2A88C615-53B2-4ECB-911E-D86B284D2130}" dt="2023-11-27T18:11:36.475" v="5" actId="27636"/>
          <ac:spMkLst>
            <pc:docMk/>
            <pc:sldMk cId="167245018" sldId="741"/>
            <ac:spMk id="3" creationId="{00000000-0000-0000-0000-000000000000}"/>
          </ac:spMkLst>
        </pc:spChg>
      </pc:sldChg>
    </pc:docChg>
  </pc:docChgLst>
  <pc:docChgLst>
    <pc:chgData name="Sahan Konur, Sahika" userId="739a6e03-9a4a-49c6-a350-571b31db94be" providerId="ADAL" clId="{7A254F57-621C-4C27-87AE-7EB931424748}"/>
    <pc:docChg chg="modSld">
      <pc:chgData name="Sahan Konur, Sahika" userId="739a6e03-9a4a-49c6-a350-571b31db94be" providerId="ADAL" clId="{7A254F57-621C-4C27-87AE-7EB931424748}" dt="2023-11-01T21:32:01.097" v="19" actId="20577"/>
      <pc:docMkLst>
        <pc:docMk/>
      </pc:docMkLst>
      <pc:sldChg chg="modSp mod">
        <pc:chgData name="Sahan Konur, Sahika" userId="739a6e03-9a4a-49c6-a350-571b31db94be" providerId="ADAL" clId="{7A254F57-621C-4C27-87AE-7EB931424748}" dt="2023-11-01T21:32:01.097" v="19" actId="20577"/>
        <pc:sldMkLst>
          <pc:docMk/>
          <pc:sldMk cId="1735545120" sldId="701"/>
        </pc:sldMkLst>
        <pc:spChg chg="mod">
          <ac:chgData name="Sahan Konur, Sahika" userId="739a6e03-9a4a-49c6-a350-571b31db94be" providerId="ADAL" clId="{7A254F57-621C-4C27-87AE-7EB931424748}" dt="2023-11-01T21:32:01.097" v="19" actId="20577"/>
          <ac:spMkLst>
            <pc:docMk/>
            <pc:sldMk cId="1735545120" sldId="701"/>
            <ac:spMk id="2" creationId="{00000000-0000-0000-0000-000000000000}"/>
          </ac:spMkLst>
        </pc:spChg>
      </pc:sldChg>
    </pc:docChg>
  </pc:docChgLst>
  <pc:docChgLst>
    <pc:chgData name="Dincer Konur" userId="0cb337efb386619d" providerId="LiveId" clId="{5BD569B1-74C3-4593-9EC2-60C3C8760E52}"/>
    <pc:docChg chg="undo custSel addSld delSld modSld sldOrd">
      <pc:chgData name="Dincer Konur" userId="0cb337efb386619d" providerId="LiveId" clId="{5BD569B1-74C3-4593-9EC2-60C3C8760E52}" dt="2019-08-03T01:23:53.883" v="4460"/>
      <pc:docMkLst>
        <pc:docMk/>
      </pc:docMkLst>
      <pc:sldChg chg="addSp modSp">
        <pc:chgData name="Dincer Konur" userId="0cb337efb386619d" providerId="LiveId" clId="{5BD569B1-74C3-4593-9EC2-60C3C8760E52}" dt="2019-07-30T16:29:09.011" v="128" actId="20577"/>
        <pc:sldMkLst>
          <pc:docMk/>
          <pc:sldMk cId="2474569206" sldId="260"/>
        </pc:sldMkLst>
        <pc:spChg chg="mod">
          <ac:chgData name="Dincer Konur" userId="0cb337efb386619d" providerId="LiveId" clId="{5BD569B1-74C3-4593-9EC2-60C3C8760E52}" dt="2019-07-30T16:21:59.619" v="8" actId="20577"/>
          <ac:spMkLst>
            <pc:docMk/>
            <pc:sldMk cId="2474569206" sldId="260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4:11.744" v="27" actId="14100"/>
          <ac:spMkLst>
            <pc:docMk/>
            <pc:sldMk cId="2474569206" sldId="260"/>
            <ac:spMk id="5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4:21.835" v="30" actId="14100"/>
          <ac:spMkLst>
            <pc:docMk/>
            <pc:sldMk cId="2474569206" sldId="260"/>
            <ac:spMk id="6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9:03.326" v="117" actId="20577"/>
          <ac:spMkLst>
            <pc:docMk/>
            <pc:sldMk cId="2474569206" sldId="260"/>
            <ac:spMk id="7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9:09.011" v="128" actId="20577"/>
          <ac:spMkLst>
            <pc:docMk/>
            <pc:sldMk cId="2474569206" sldId="260"/>
            <ac:spMk id="8" creationId="{00000000-0000-0000-0000-000000000000}"/>
          </ac:spMkLst>
        </pc:spChg>
        <pc:spChg chg="add mod">
          <ac:chgData name="Dincer Konur" userId="0cb337efb386619d" providerId="LiveId" clId="{5BD569B1-74C3-4593-9EC2-60C3C8760E52}" dt="2019-07-30T16:24:48.302" v="34" actId="14100"/>
          <ac:spMkLst>
            <pc:docMk/>
            <pc:sldMk cId="2474569206" sldId="260"/>
            <ac:spMk id="9" creationId="{3162BF6F-75FF-4673-A9CB-0DA9F6BB1552}"/>
          </ac:spMkLst>
        </pc:spChg>
        <pc:spChg chg="add mod">
          <ac:chgData name="Dincer Konur" userId="0cb337efb386619d" providerId="LiveId" clId="{5BD569B1-74C3-4593-9EC2-60C3C8760E52}" dt="2019-07-30T16:24:51.355" v="35" actId="1076"/>
          <ac:spMkLst>
            <pc:docMk/>
            <pc:sldMk cId="2474569206" sldId="260"/>
            <ac:spMk id="10" creationId="{F19FBB87-98B6-499F-8329-DAEE1513B32D}"/>
          </ac:spMkLst>
        </pc:spChg>
      </pc:sldChg>
      <pc:sldChg chg="modSp">
        <pc:chgData name="Dincer Konur" userId="0cb337efb386619d" providerId="LiveId" clId="{5BD569B1-74C3-4593-9EC2-60C3C8760E52}" dt="2019-07-31T19:17:34.385" v="669" actId="20577"/>
        <pc:sldMkLst>
          <pc:docMk/>
          <pc:sldMk cId="3790253861" sldId="660"/>
        </pc:sldMkLst>
        <pc:spChg chg="mod">
          <ac:chgData name="Dincer Konur" userId="0cb337efb386619d" providerId="LiveId" clId="{5BD569B1-74C3-4593-9EC2-60C3C8760E52}" dt="2019-07-31T19:17:34.385" v="669" actId="20577"/>
          <ac:spMkLst>
            <pc:docMk/>
            <pc:sldMk cId="3790253861" sldId="660"/>
            <ac:spMk id="3" creationId="{00000000-0000-0000-0000-000000000000}"/>
          </ac:spMkLst>
        </pc:spChg>
      </pc:sldChg>
      <pc:sldChg chg="modSp">
        <pc:chgData name="Dincer Konur" userId="0cb337efb386619d" providerId="LiveId" clId="{5BD569B1-74C3-4593-9EC2-60C3C8760E52}" dt="2019-07-31T19:17:17.978" v="655" actId="20577"/>
        <pc:sldMkLst>
          <pc:docMk/>
          <pc:sldMk cId="3899922744" sldId="665"/>
        </pc:sldMkLst>
        <pc:spChg chg="mod">
          <ac:chgData name="Dincer Konur" userId="0cb337efb386619d" providerId="LiveId" clId="{5BD569B1-74C3-4593-9EC2-60C3C8760E52}" dt="2019-07-31T19:17:17.978" v="655" actId="20577"/>
          <ac:spMkLst>
            <pc:docMk/>
            <pc:sldMk cId="3899922744" sldId="665"/>
            <ac:spMk id="3" creationId="{00000000-0000-0000-0000-000000000000}"/>
          </ac:spMkLst>
        </pc:spChg>
      </pc:sldChg>
      <pc:sldChg chg="modSp">
        <pc:chgData name="Dincer Konur" userId="0cb337efb386619d" providerId="LiveId" clId="{5BD569B1-74C3-4593-9EC2-60C3C8760E52}" dt="2019-07-31T19:18:36.750" v="683" actId="20577"/>
        <pc:sldMkLst>
          <pc:docMk/>
          <pc:sldMk cId="143377859" sldId="671"/>
        </pc:sldMkLst>
        <pc:spChg chg="mod">
          <ac:chgData name="Dincer Konur" userId="0cb337efb386619d" providerId="LiveId" clId="{5BD569B1-74C3-4593-9EC2-60C3C8760E52}" dt="2019-07-31T19:18:36.750" v="683" actId="20577"/>
          <ac:spMkLst>
            <pc:docMk/>
            <pc:sldMk cId="143377859" sldId="671"/>
            <ac:spMk id="3" creationId="{00000000-0000-0000-0000-000000000000}"/>
          </ac:spMkLst>
        </pc:spChg>
      </pc:sldChg>
      <pc:sldChg chg="modSp">
        <pc:chgData name="Dincer Konur" userId="0cb337efb386619d" providerId="LiveId" clId="{5BD569B1-74C3-4593-9EC2-60C3C8760E52}" dt="2019-07-31T19:18:50.026" v="697" actId="20577"/>
        <pc:sldMkLst>
          <pc:docMk/>
          <pc:sldMk cId="3613807806" sldId="678"/>
        </pc:sldMkLst>
        <pc:spChg chg="mod">
          <ac:chgData name="Dincer Konur" userId="0cb337efb386619d" providerId="LiveId" clId="{5BD569B1-74C3-4593-9EC2-60C3C8760E52}" dt="2019-07-31T19:18:50.026" v="697" actId="20577"/>
          <ac:spMkLst>
            <pc:docMk/>
            <pc:sldMk cId="3613807806" sldId="678"/>
            <ac:spMk id="3" creationId="{00000000-0000-0000-0000-000000000000}"/>
          </ac:spMkLst>
        </pc:spChg>
      </pc:sldChg>
      <pc:sldChg chg="delSp modSp add">
        <pc:chgData name="Dincer Konur" userId="0cb337efb386619d" providerId="LiveId" clId="{5BD569B1-74C3-4593-9EC2-60C3C8760E52}" dt="2019-07-30T16:29:17.122" v="134" actId="20577"/>
        <pc:sldMkLst>
          <pc:docMk/>
          <pc:sldMk cId="1134060834" sldId="702"/>
        </pc:sldMkLst>
        <pc:spChg chg="mod">
          <ac:chgData name="Dincer Konur" userId="0cb337efb386619d" providerId="LiveId" clId="{5BD569B1-74C3-4593-9EC2-60C3C8760E52}" dt="2019-07-30T16:25:25.072" v="55" actId="20577"/>
          <ac:spMkLst>
            <pc:docMk/>
            <pc:sldMk cId="1134060834" sldId="702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5:34.896" v="57" actId="20577"/>
          <ac:spMkLst>
            <pc:docMk/>
            <pc:sldMk cId="1134060834" sldId="702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5:32.567" v="56" actId="478"/>
          <ac:spMkLst>
            <pc:docMk/>
            <pc:sldMk cId="1134060834" sldId="702"/>
            <ac:spMk id="6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9:17.122" v="134" actId="20577"/>
          <ac:spMkLst>
            <pc:docMk/>
            <pc:sldMk cId="1134060834" sldId="702"/>
            <ac:spMk id="7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5:32.567" v="56" actId="478"/>
          <ac:spMkLst>
            <pc:docMk/>
            <pc:sldMk cId="1134060834" sldId="702"/>
            <ac:spMk id="8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5:32.567" v="56" actId="478"/>
          <ac:spMkLst>
            <pc:docMk/>
            <pc:sldMk cId="1134060834" sldId="702"/>
            <ac:spMk id="9" creationId="{3162BF6F-75FF-4673-A9CB-0DA9F6BB1552}"/>
          </ac:spMkLst>
        </pc:spChg>
        <pc:spChg chg="del">
          <ac:chgData name="Dincer Konur" userId="0cb337efb386619d" providerId="LiveId" clId="{5BD569B1-74C3-4593-9EC2-60C3C8760E52}" dt="2019-07-30T16:25:32.567" v="56" actId="478"/>
          <ac:spMkLst>
            <pc:docMk/>
            <pc:sldMk cId="1134060834" sldId="702"/>
            <ac:spMk id="10" creationId="{F19FBB87-98B6-499F-8329-DAEE1513B32D}"/>
          </ac:spMkLst>
        </pc:spChg>
      </pc:sldChg>
      <pc:sldChg chg="delSp modSp add">
        <pc:chgData name="Dincer Konur" userId="0cb337efb386619d" providerId="LiveId" clId="{5BD569B1-74C3-4593-9EC2-60C3C8760E52}" dt="2019-07-30T16:26:35.770" v="77" actId="207"/>
        <pc:sldMkLst>
          <pc:docMk/>
          <pc:sldMk cId="3879332444" sldId="703"/>
        </pc:sldMkLst>
        <pc:spChg chg="mod">
          <ac:chgData name="Dincer Konur" userId="0cb337efb386619d" providerId="LiveId" clId="{5BD569B1-74C3-4593-9EC2-60C3C8760E52}" dt="2019-07-30T16:26:02.214" v="65" actId="20577"/>
          <ac:spMkLst>
            <pc:docMk/>
            <pc:sldMk cId="3879332444" sldId="703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6:35.770" v="77" actId="207"/>
          <ac:spMkLst>
            <pc:docMk/>
            <pc:sldMk cId="3879332444" sldId="703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6:07.166" v="67" actId="478"/>
          <ac:spMkLst>
            <pc:docMk/>
            <pc:sldMk cId="3879332444" sldId="703"/>
            <ac:spMk id="5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6:05.975" v="66" actId="478"/>
          <ac:spMkLst>
            <pc:docMk/>
            <pc:sldMk cId="3879332444" sldId="703"/>
            <ac:spMk id="7" creationId="{00000000-0000-0000-0000-000000000000}"/>
          </ac:spMkLst>
        </pc:spChg>
      </pc:sldChg>
      <pc:sldChg chg="modSp add ord">
        <pc:chgData name="Dincer Konur" userId="0cb337efb386619d" providerId="LiveId" clId="{5BD569B1-74C3-4593-9EC2-60C3C8760E52}" dt="2019-07-30T16:27:36.037" v="84"/>
        <pc:sldMkLst>
          <pc:docMk/>
          <pc:sldMk cId="4272088725" sldId="704"/>
        </pc:sldMkLst>
        <pc:spChg chg="mod">
          <ac:chgData name="Dincer Konur" userId="0cb337efb386619d" providerId="LiveId" clId="{5BD569B1-74C3-4593-9EC2-60C3C8760E52}" dt="2019-07-30T16:26:14.712" v="72" actId="20577"/>
          <ac:spMkLst>
            <pc:docMk/>
            <pc:sldMk cId="4272088725" sldId="704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6:45.752" v="79" actId="207"/>
          <ac:spMkLst>
            <pc:docMk/>
            <pc:sldMk cId="4272088725" sldId="704"/>
            <ac:spMk id="3" creationId="{00000000-0000-0000-0000-000000000000}"/>
          </ac:spMkLst>
        </pc:spChg>
      </pc:sldChg>
      <pc:sldChg chg="modSp add ord">
        <pc:chgData name="Dincer Konur" userId="0cb337efb386619d" providerId="LiveId" clId="{5BD569B1-74C3-4593-9EC2-60C3C8760E52}" dt="2019-07-30T16:27:50.897" v="86"/>
        <pc:sldMkLst>
          <pc:docMk/>
          <pc:sldMk cId="555784850" sldId="705"/>
        </pc:sldMkLst>
        <pc:spChg chg="mod">
          <ac:chgData name="Dincer Konur" userId="0cb337efb386619d" providerId="LiveId" clId="{5BD569B1-74C3-4593-9EC2-60C3C8760E52}" dt="2019-07-30T16:26:18.652" v="74" actId="20577"/>
          <ac:spMkLst>
            <pc:docMk/>
            <pc:sldMk cId="555784850" sldId="705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6:53.880" v="81" actId="207"/>
          <ac:spMkLst>
            <pc:docMk/>
            <pc:sldMk cId="555784850" sldId="705"/>
            <ac:spMk id="3" creationId="{00000000-0000-0000-0000-000000000000}"/>
          </ac:spMkLst>
        </pc:spChg>
      </pc:sldChg>
      <pc:sldChg chg="modSp add ord">
        <pc:chgData name="Dincer Konur" userId="0cb337efb386619d" providerId="LiveId" clId="{5BD569B1-74C3-4593-9EC2-60C3C8760E52}" dt="2019-07-30T16:27:58.381" v="88"/>
        <pc:sldMkLst>
          <pc:docMk/>
          <pc:sldMk cId="1955152198" sldId="706"/>
        </pc:sldMkLst>
        <pc:spChg chg="mod">
          <ac:chgData name="Dincer Konur" userId="0cb337efb386619d" providerId="LiveId" clId="{5BD569B1-74C3-4593-9EC2-60C3C8760E52}" dt="2019-07-30T16:26:22.624" v="76" actId="20577"/>
          <ac:spMkLst>
            <pc:docMk/>
            <pc:sldMk cId="1955152198" sldId="706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26:58.216" v="82" actId="207"/>
          <ac:spMkLst>
            <pc:docMk/>
            <pc:sldMk cId="1955152198" sldId="706"/>
            <ac:spMk id="3" creationId="{00000000-0000-0000-0000-000000000000}"/>
          </ac:spMkLst>
        </pc:spChg>
      </pc:sldChg>
      <pc:sldChg chg="addSp delSp modSp add modAnim">
        <pc:chgData name="Dincer Konur" userId="0cb337efb386619d" providerId="LiveId" clId="{5BD569B1-74C3-4593-9EC2-60C3C8760E52}" dt="2019-08-03T00:40:30.366" v="4370"/>
        <pc:sldMkLst>
          <pc:docMk/>
          <pc:sldMk cId="1519410439" sldId="707"/>
        </pc:sldMkLst>
        <pc:spChg chg="mod">
          <ac:chgData name="Dincer Konur" userId="0cb337efb386619d" providerId="LiveId" clId="{5BD569B1-74C3-4593-9EC2-60C3C8760E52}" dt="2019-07-31T19:11:57.722" v="435" actId="20577"/>
          <ac:spMkLst>
            <pc:docMk/>
            <pc:sldMk cId="1519410439" sldId="707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1T19:11:32.696" v="419" actId="14"/>
          <ac:spMkLst>
            <pc:docMk/>
            <pc:sldMk cId="1519410439" sldId="707"/>
            <ac:spMk id="3" creationId="{00000000-0000-0000-0000-000000000000}"/>
          </ac:spMkLst>
        </pc:spChg>
        <pc:spChg chg="add mod">
          <ac:chgData name="Dincer Konur" userId="0cb337efb386619d" providerId="LiveId" clId="{5BD569B1-74C3-4593-9EC2-60C3C8760E52}" dt="2019-07-31T19:12:36.208" v="441" actId="113"/>
          <ac:spMkLst>
            <pc:docMk/>
            <pc:sldMk cId="1519410439" sldId="707"/>
            <ac:spMk id="6" creationId="{E72266EF-1900-4A02-9104-925BF84B6A87}"/>
          </ac:spMkLst>
        </pc:spChg>
        <pc:picChg chg="del">
          <ac:chgData name="Dincer Konur" userId="0cb337efb386619d" providerId="LiveId" clId="{5BD569B1-74C3-4593-9EC2-60C3C8760E52}" dt="2019-07-31T19:06:47.357" v="217" actId="478"/>
          <ac:picMkLst>
            <pc:docMk/>
            <pc:sldMk cId="1519410439" sldId="707"/>
            <ac:picMk id="4" creationId="{00000000-0000-0000-0000-000000000000}"/>
          </ac:picMkLst>
        </pc:picChg>
        <pc:picChg chg="add mod">
          <ac:chgData name="Dincer Konur" userId="0cb337efb386619d" providerId="LiveId" clId="{5BD569B1-74C3-4593-9EC2-60C3C8760E52}" dt="2019-07-31T19:11:40.925" v="421" actId="1076"/>
          <ac:picMkLst>
            <pc:docMk/>
            <pc:sldMk cId="1519410439" sldId="707"/>
            <ac:picMk id="5" creationId="{D4433F63-473F-4520-A908-59DF0BAD8F55}"/>
          </ac:picMkLst>
        </pc:picChg>
      </pc:sldChg>
      <pc:sldChg chg="delSp modSp add">
        <pc:chgData name="Dincer Konur" userId="0cb337efb386619d" providerId="LiveId" clId="{5BD569B1-74C3-4593-9EC2-60C3C8760E52}" dt="2019-07-30T16:31:15.942" v="177" actId="20577"/>
        <pc:sldMkLst>
          <pc:docMk/>
          <pc:sldMk cId="2366715501" sldId="708"/>
        </pc:sldMkLst>
        <pc:spChg chg="mod">
          <ac:chgData name="Dincer Konur" userId="0cb337efb386619d" providerId="LiveId" clId="{5BD569B1-74C3-4593-9EC2-60C3C8760E52}" dt="2019-07-30T16:31:15.942" v="177" actId="20577"/>
          <ac:spMkLst>
            <pc:docMk/>
            <pc:sldMk cId="2366715501" sldId="708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30:13.825" v="150" actId="20577"/>
          <ac:spMkLst>
            <pc:docMk/>
            <pc:sldMk cId="2366715501" sldId="708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9:53.288" v="136" actId="478"/>
          <ac:spMkLst>
            <pc:docMk/>
            <pc:sldMk cId="2366715501" sldId="708"/>
            <ac:spMk id="5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9:52.006" v="135" actId="478"/>
          <ac:spMkLst>
            <pc:docMk/>
            <pc:sldMk cId="2366715501" sldId="708"/>
            <ac:spMk id="7" creationId="{00000000-0000-0000-0000-000000000000}"/>
          </ac:spMkLst>
        </pc:spChg>
        <pc:spChg chg="mod">
          <ac:chgData name="Dincer Konur" userId="0cb337efb386619d" providerId="LiveId" clId="{5BD569B1-74C3-4593-9EC2-60C3C8760E52}" dt="2019-07-30T16:30:34.734" v="160" actId="20577"/>
          <ac:spMkLst>
            <pc:docMk/>
            <pc:sldMk cId="2366715501" sldId="708"/>
            <ac:spMk id="8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29:56.117" v="138" actId="478"/>
          <ac:spMkLst>
            <pc:docMk/>
            <pc:sldMk cId="2366715501" sldId="708"/>
            <ac:spMk id="9" creationId="{3162BF6F-75FF-4673-A9CB-0DA9F6BB1552}"/>
          </ac:spMkLst>
        </pc:spChg>
        <pc:spChg chg="del">
          <ac:chgData name="Dincer Konur" userId="0cb337efb386619d" providerId="LiveId" clId="{5BD569B1-74C3-4593-9EC2-60C3C8760E52}" dt="2019-07-30T16:29:54.750" v="137" actId="478"/>
          <ac:spMkLst>
            <pc:docMk/>
            <pc:sldMk cId="2366715501" sldId="708"/>
            <ac:spMk id="10" creationId="{F19FBB87-98B6-499F-8329-DAEE1513B32D}"/>
          </ac:spMkLst>
        </pc:spChg>
      </pc:sldChg>
      <pc:sldChg chg="delSp modSp add">
        <pc:chgData name="Dincer Konur" userId="0cb337efb386619d" providerId="LiveId" clId="{5BD569B1-74C3-4593-9EC2-60C3C8760E52}" dt="2019-07-30T16:31:30.868" v="182" actId="207"/>
        <pc:sldMkLst>
          <pc:docMk/>
          <pc:sldMk cId="231179015" sldId="709"/>
        </pc:sldMkLst>
        <pc:spChg chg="mod">
          <ac:chgData name="Dincer Konur" userId="0cb337efb386619d" providerId="LiveId" clId="{5BD569B1-74C3-4593-9EC2-60C3C8760E52}" dt="2019-07-30T16:31:30.868" v="182" actId="207"/>
          <ac:spMkLst>
            <pc:docMk/>
            <pc:sldMk cId="231179015" sldId="709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1:28.114" v="181" actId="478"/>
          <ac:spMkLst>
            <pc:docMk/>
            <pc:sldMk cId="231179015" sldId="709"/>
            <ac:spMk id="6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1:27.096" v="180" actId="478"/>
          <ac:spMkLst>
            <pc:docMk/>
            <pc:sldMk cId="231179015" sldId="709"/>
            <ac:spMk id="8" creationId="{00000000-0000-0000-0000-000000000000}"/>
          </ac:spMkLst>
        </pc:spChg>
      </pc:sldChg>
      <pc:sldChg chg="modSp add">
        <pc:chgData name="Dincer Konur" userId="0cb337efb386619d" providerId="LiveId" clId="{5BD569B1-74C3-4593-9EC2-60C3C8760E52}" dt="2019-07-30T16:31:50.711" v="185" actId="207"/>
        <pc:sldMkLst>
          <pc:docMk/>
          <pc:sldMk cId="2129707818" sldId="710"/>
        </pc:sldMkLst>
        <pc:spChg chg="mod">
          <ac:chgData name="Dincer Konur" userId="0cb337efb386619d" providerId="LiveId" clId="{5BD569B1-74C3-4593-9EC2-60C3C8760E52}" dt="2019-07-30T16:31:50.711" v="185" actId="207"/>
          <ac:spMkLst>
            <pc:docMk/>
            <pc:sldMk cId="2129707818" sldId="710"/>
            <ac:spMk id="3" creationId="{00000000-0000-0000-0000-000000000000}"/>
          </ac:spMkLst>
        </pc:spChg>
      </pc:sldChg>
      <pc:sldChg chg="delSp modSp add">
        <pc:chgData name="Dincer Konur" userId="0cb337efb386619d" providerId="LiveId" clId="{5BD569B1-74C3-4593-9EC2-60C3C8760E52}" dt="2019-07-30T16:32:47.618" v="215" actId="14"/>
        <pc:sldMkLst>
          <pc:docMk/>
          <pc:sldMk cId="992934062" sldId="711"/>
        </pc:sldMkLst>
        <pc:spChg chg="mod">
          <ac:chgData name="Dincer Konur" userId="0cb337efb386619d" providerId="LiveId" clId="{5BD569B1-74C3-4593-9EC2-60C3C8760E52}" dt="2019-07-30T16:32:47.618" v="215" actId="14"/>
          <ac:spMkLst>
            <pc:docMk/>
            <pc:sldMk cId="992934062" sldId="711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2:34.894" v="200" actId="478"/>
          <ac:spMkLst>
            <pc:docMk/>
            <pc:sldMk cId="992934062" sldId="711"/>
            <ac:spMk id="5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2:34.894" v="200" actId="478"/>
          <ac:spMkLst>
            <pc:docMk/>
            <pc:sldMk cId="992934062" sldId="711"/>
            <ac:spMk id="6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2:34.894" v="200" actId="478"/>
          <ac:spMkLst>
            <pc:docMk/>
            <pc:sldMk cId="992934062" sldId="711"/>
            <ac:spMk id="7" creationId="{00000000-0000-0000-0000-000000000000}"/>
          </ac:spMkLst>
        </pc:spChg>
        <pc:spChg chg="del">
          <ac:chgData name="Dincer Konur" userId="0cb337efb386619d" providerId="LiveId" clId="{5BD569B1-74C3-4593-9EC2-60C3C8760E52}" dt="2019-07-30T16:32:34.894" v="200" actId="478"/>
          <ac:spMkLst>
            <pc:docMk/>
            <pc:sldMk cId="992934062" sldId="711"/>
            <ac:spMk id="8" creationId="{00000000-0000-0000-0000-000000000000}"/>
          </ac:spMkLst>
        </pc:spChg>
      </pc:sldChg>
      <pc:sldChg chg="addSp delSp modSp add modAnim">
        <pc:chgData name="Dincer Konur" userId="0cb337efb386619d" providerId="LiveId" clId="{5BD569B1-74C3-4593-9EC2-60C3C8760E52}" dt="2019-07-31T20:54:16.057" v="2921"/>
        <pc:sldMkLst>
          <pc:docMk/>
          <pc:sldMk cId="517848383" sldId="712"/>
        </pc:sldMkLst>
        <pc:spChg chg="mod">
          <ac:chgData name="Dincer Konur" userId="0cb337efb386619d" providerId="LiveId" clId="{5BD569B1-74C3-4593-9EC2-60C3C8760E52}" dt="2019-07-30T16:32:27.670" v="199" actId="20577"/>
          <ac:spMkLst>
            <pc:docMk/>
            <pc:sldMk cId="517848383" sldId="712"/>
            <ac:spMk id="2" creationId="{00000000-0000-0000-0000-000000000000}"/>
          </ac:spMkLst>
        </pc:spChg>
        <pc:spChg chg="mod">
          <ac:chgData name="Dincer Konur" userId="0cb337efb386619d" providerId="LiveId" clId="{5BD569B1-74C3-4593-9EC2-60C3C8760E52}" dt="2019-07-31T20:54:16.057" v="2921"/>
          <ac:spMkLst>
            <pc:docMk/>
            <pc:sldMk cId="517848383" sldId="712"/>
            <ac:spMk id="3" creationId="{00000000-0000-0000-0000-000000000000}"/>
          </ac:spMkLst>
        </pc:spChg>
        <pc:spChg chg="add del mod">
          <ac:chgData name="Dincer Konur" userId="0cb337efb386619d" providerId="LiveId" clId="{5BD569B1-74C3-4593-9EC2-60C3C8760E52}" dt="2019-07-31T20:52:31.234" v="2815"/>
          <ac:spMkLst>
            <pc:docMk/>
            <pc:sldMk cId="517848383" sldId="712"/>
            <ac:spMk id="4" creationId="{9C187AFC-5013-4D8B-8996-FF634417804D}"/>
          </ac:spMkLst>
        </pc:spChg>
        <pc:picChg chg="del">
          <ac:chgData name="Dincer Konur" userId="0cb337efb386619d" providerId="LiveId" clId="{5BD569B1-74C3-4593-9EC2-60C3C8760E52}" dt="2019-07-31T20:42:05.298" v="2413" actId="478"/>
          <ac:picMkLst>
            <pc:docMk/>
            <pc:sldMk cId="517848383" sldId="712"/>
            <ac:picMk id="13314" creationId="{00000000-0000-0000-0000-000000000000}"/>
          </ac:picMkLst>
        </pc:picChg>
        <pc:picChg chg="del">
          <ac:chgData name="Dincer Konur" userId="0cb337efb386619d" providerId="LiveId" clId="{5BD569B1-74C3-4593-9EC2-60C3C8760E52}" dt="2019-07-31T20:42:07.826" v="2415" actId="478"/>
          <ac:picMkLst>
            <pc:docMk/>
            <pc:sldMk cId="517848383" sldId="712"/>
            <ac:picMk id="13315" creationId="{00000000-0000-0000-0000-000000000000}"/>
          </ac:picMkLst>
        </pc:picChg>
      </pc:sldChg>
      <pc:sldChg chg="addSp delSp modSp add delAnim modAnim">
        <pc:chgData name="Dincer Konur" userId="0cb337efb386619d" providerId="LiveId" clId="{5BD569B1-74C3-4593-9EC2-60C3C8760E52}" dt="2019-08-03T00:45:30.927" v="4377"/>
        <pc:sldMkLst>
          <pc:docMk/>
          <pc:sldMk cId="3667583221" sldId="713"/>
        </pc:sldMkLst>
        <pc:spChg chg="mod">
          <ac:chgData name="Dincer Konur" userId="0cb337efb386619d" providerId="LiveId" clId="{5BD569B1-74C3-4593-9EC2-60C3C8760E52}" dt="2019-07-31T19:15:05.996" v="631" actId="20577"/>
          <ac:spMkLst>
            <pc:docMk/>
            <pc:sldMk cId="3667583221" sldId="713"/>
            <ac:spMk id="3" creationId="{00000000-0000-0000-0000-000000000000}"/>
          </ac:spMkLst>
        </pc:spChg>
        <pc:spChg chg="add del">
          <ac:chgData name="Dincer Konur" userId="0cb337efb386619d" providerId="LiveId" clId="{5BD569B1-74C3-4593-9EC2-60C3C8760E52}" dt="2019-07-31T19:13:07.423" v="444"/>
          <ac:spMkLst>
            <pc:docMk/>
            <pc:sldMk cId="3667583221" sldId="713"/>
            <ac:spMk id="4" creationId="{796C2C22-772A-463C-8CCF-C023F3EC311C}"/>
          </ac:spMkLst>
        </pc:spChg>
        <pc:spChg chg="del">
          <ac:chgData name="Dincer Konur" userId="0cb337efb386619d" providerId="LiveId" clId="{5BD569B1-74C3-4593-9EC2-60C3C8760E52}" dt="2019-07-31T19:12:29.523" v="439" actId="478"/>
          <ac:spMkLst>
            <pc:docMk/>
            <pc:sldMk cId="3667583221" sldId="713"/>
            <ac:spMk id="6" creationId="{E72266EF-1900-4A02-9104-925BF84B6A87}"/>
          </ac:spMkLst>
        </pc:spChg>
        <pc:spChg chg="add del">
          <ac:chgData name="Dincer Konur" userId="0cb337efb386619d" providerId="LiveId" clId="{5BD569B1-74C3-4593-9EC2-60C3C8760E52}" dt="2019-07-31T19:13:10.942" v="446"/>
          <ac:spMkLst>
            <pc:docMk/>
            <pc:sldMk cId="3667583221" sldId="713"/>
            <ac:spMk id="7" creationId="{836368E8-5B44-4367-8361-444130835885}"/>
          </ac:spMkLst>
        </pc:spChg>
        <pc:spChg chg="add del">
          <ac:chgData name="Dincer Konur" userId="0cb337efb386619d" providerId="LiveId" clId="{5BD569B1-74C3-4593-9EC2-60C3C8760E52}" dt="2019-07-31T19:13:14.704" v="449"/>
          <ac:spMkLst>
            <pc:docMk/>
            <pc:sldMk cId="3667583221" sldId="713"/>
            <ac:spMk id="8" creationId="{6629281E-7DB6-400C-98BF-32097C0781CF}"/>
          </ac:spMkLst>
        </pc:spChg>
        <pc:picChg chg="del">
          <ac:chgData name="Dincer Konur" userId="0cb337efb386619d" providerId="LiveId" clId="{5BD569B1-74C3-4593-9EC2-60C3C8760E52}" dt="2019-07-31T19:12:26.281" v="438" actId="478"/>
          <ac:picMkLst>
            <pc:docMk/>
            <pc:sldMk cId="3667583221" sldId="713"/>
            <ac:picMk id="5" creationId="{D4433F63-473F-4520-A908-59DF0BAD8F55}"/>
          </ac:picMkLst>
        </pc:picChg>
      </pc:sldChg>
      <pc:sldChg chg="addSp modSp add modAnim">
        <pc:chgData name="Dincer Konur" userId="0cb337efb386619d" providerId="LiveId" clId="{5BD569B1-74C3-4593-9EC2-60C3C8760E52}" dt="2019-08-03T00:46:35.146" v="4413"/>
        <pc:sldMkLst>
          <pc:docMk/>
          <pc:sldMk cId="2531153111" sldId="714"/>
        </pc:sldMkLst>
        <pc:spChg chg="mod">
          <ac:chgData name="Dincer Konur" userId="0cb337efb386619d" providerId="LiveId" clId="{5BD569B1-74C3-4593-9EC2-60C3C8760E52}" dt="2019-08-03T00:45:52.410" v="4405" actId="20577"/>
          <ac:spMkLst>
            <pc:docMk/>
            <pc:sldMk cId="2531153111" sldId="714"/>
            <ac:spMk id="3" creationId="{00000000-0000-0000-0000-000000000000}"/>
          </ac:spMkLst>
        </pc:spChg>
        <pc:spChg chg="add mod">
          <ac:chgData name="Dincer Konur" userId="0cb337efb386619d" providerId="LiveId" clId="{5BD569B1-74C3-4593-9EC2-60C3C8760E52}" dt="2019-07-31T19:19:40.886" v="706" actId="1076"/>
          <ac:spMkLst>
            <pc:docMk/>
            <pc:sldMk cId="2531153111" sldId="714"/>
            <ac:spMk id="4" creationId="{6344BBD3-DC45-4B00-8B9D-2941D29A07E5}"/>
          </ac:spMkLst>
        </pc:spChg>
      </pc:sldChg>
      <pc:sldChg chg="addSp delSp modSp add delAnim modAnim">
        <pc:chgData name="Dincer Konur" userId="0cb337efb386619d" providerId="LiveId" clId="{5BD569B1-74C3-4593-9EC2-60C3C8760E52}" dt="2019-08-03T00:47:32.023" v="4416"/>
        <pc:sldMkLst>
          <pc:docMk/>
          <pc:sldMk cId="1006973075" sldId="715"/>
        </pc:sldMkLst>
        <pc:spChg chg="mod">
          <ac:chgData name="Dincer Konur" userId="0cb337efb386619d" providerId="LiveId" clId="{5BD569B1-74C3-4593-9EC2-60C3C8760E52}" dt="2019-07-31T19:41:52.237" v="1247" actId="20577"/>
          <ac:spMkLst>
            <pc:docMk/>
            <pc:sldMk cId="1006973075" sldId="715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1T19:42:00.427" v="1248" actId="478"/>
          <ac:spMkLst>
            <pc:docMk/>
            <pc:sldMk cId="1006973075" sldId="715"/>
            <ac:spMk id="4" creationId="{6344BBD3-DC45-4B00-8B9D-2941D29A07E5}"/>
          </ac:spMkLst>
        </pc:spChg>
        <pc:spChg chg="add mod">
          <ac:chgData name="Dincer Konur" userId="0cb337efb386619d" providerId="LiveId" clId="{5BD569B1-74C3-4593-9EC2-60C3C8760E52}" dt="2019-07-31T19:49:12.356" v="1466" actId="207"/>
          <ac:spMkLst>
            <pc:docMk/>
            <pc:sldMk cId="1006973075" sldId="715"/>
            <ac:spMk id="7" creationId="{A26A413F-749B-4980-A382-6B7F3964FFE0}"/>
          </ac:spMkLst>
        </pc:spChg>
        <pc:spChg chg="add mod">
          <ac:chgData name="Dincer Konur" userId="0cb337efb386619d" providerId="LiveId" clId="{5BD569B1-74C3-4593-9EC2-60C3C8760E52}" dt="2019-07-31T19:49:07.001" v="1465" actId="207"/>
          <ac:spMkLst>
            <pc:docMk/>
            <pc:sldMk cId="1006973075" sldId="715"/>
            <ac:spMk id="8" creationId="{DD3D35B1-540A-4906-A032-2EEB413F4F89}"/>
          </ac:spMkLst>
        </pc:spChg>
        <pc:picChg chg="add del mod">
          <ac:chgData name="Dincer Konur" userId="0cb337efb386619d" providerId="LiveId" clId="{5BD569B1-74C3-4593-9EC2-60C3C8760E52}" dt="2019-07-31T19:46:10.002" v="1252" actId="478"/>
          <ac:picMkLst>
            <pc:docMk/>
            <pc:sldMk cId="1006973075" sldId="715"/>
            <ac:picMk id="5" creationId="{6199A70F-02E9-4789-8987-AA9D9BFE9D53}"/>
          </ac:picMkLst>
        </pc:picChg>
        <pc:picChg chg="add mod">
          <ac:chgData name="Dincer Konur" userId="0cb337efb386619d" providerId="LiveId" clId="{5BD569B1-74C3-4593-9EC2-60C3C8760E52}" dt="2019-07-31T19:46:20.704" v="1255" actId="1076"/>
          <ac:picMkLst>
            <pc:docMk/>
            <pc:sldMk cId="1006973075" sldId="715"/>
            <ac:picMk id="6" creationId="{2BB5F1C3-AE77-482F-B408-0DFC3B06504A}"/>
          </ac:picMkLst>
        </pc:picChg>
        <pc:picChg chg="add del">
          <ac:chgData name="Dincer Konur" userId="0cb337efb386619d" providerId="LiveId" clId="{5BD569B1-74C3-4593-9EC2-60C3C8760E52}" dt="2019-07-31T20:02:27.080" v="1469" actId="478"/>
          <ac:picMkLst>
            <pc:docMk/>
            <pc:sldMk cId="1006973075" sldId="715"/>
            <ac:picMk id="9" creationId="{CC135DC8-8F82-4E3F-9187-5C883AFF1B6F}"/>
          </ac:picMkLst>
        </pc:picChg>
      </pc:sldChg>
      <pc:sldChg chg="addSp delSp modSp add modAnim">
        <pc:chgData name="Dincer Konur" userId="0cb337efb386619d" providerId="LiveId" clId="{5BD569B1-74C3-4593-9EC2-60C3C8760E52}" dt="2019-08-03T00:49:19.840" v="4449" actId="20577"/>
        <pc:sldMkLst>
          <pc:docMk/>
          <pc:sldMk cId="2936801509" sldId="716"/>
        </pc:sldMkLst>
        <pc:spChg chg="mod">
          <ac:chgData name="Dincer Konur" userId="0cb337efb386619d" providerId="LiveId" clId="{5BD569B1-74C3-4593-9EC2-60C3C8760E52}" dt="2019-08-03T00:49:19.840" v="4449" actId="20577"/>
          <ac:spMkLst>
            <pc:docMk/>
            <pc:sldMk cId="2936801509" sldId="716"/>
            <ac:spMk id="3" creationId="{00000000-0000-0000-0000-000000000000}"/>
          </ac:spMkLst>
        </pc:spChg>
        <pc:spChg chg="mod ord">
          <ac:chgData name="Dincer Konur" userId="0cb337efb386619d" providerId="LiveId" clId="{5BD569B1-74C3-4593-9EC2-60C3C8760E52}" dt="2019-07-31T20:03:25.099" v="1540" actId="14100"/>
          <ac:spMkLst>
            <pc:docMk/>
            <pc:sldMk cId="2936801509" sldId="716"/>
            <ac:spMk id="7" creationId="{A26A413F-749B-4980-A382-6B7F3964FFE0}"/>
          </ac:spMkLst>
        </pc:spChg>
        <pc:spChg chg="del">
          <ac:chgData name="Dincer Konur" userId="0cb337efb386619d" providerId="LiveId" clId="{5BD569B1-74C3-4593-9EC2-60C3C8760E52}" dt="2019-07-31T20:02:39.713" v="1473" actId="478"/>
          <ac:spMkLst>
            <pc:docMk/>
            <pc:sldMk cId="2936801509" sldId="716"/>
            <ac:spMk id="8" creationId="{DD3D35B1-540A-4906-A032-2EEB413F4F89}"/>
          </ac:spMkLst>
        </pc:spChg>
        <pc:spChg chg="add mod">
          <ac:chgData name="Dincer Konur" userId="0cb337efb386619d" providerId="LiveId" clId="{5BD569B1-74C3-4593-9EC2-60C3C8760E52}" dt="2019-07-31T20:05:28.356" v="1596" actId="20577"/>
          <ac:spMkLst>
            <pc:docMk/>
            <pc:sldMk cId="2936801509" sldId="716"/>
            <ac:spMk id="10" creationId="{875BA862-8CF2-4614-BCF4-F29C6E740C08}"/>
          </ac:spMkLst>
        </pc:spChg>
        <pc:spChg chg="add mod">
          <ac:chgData name="Dincer Konur" userId="0cb337efb386619d" providerId="LiveId" clId="{5BD569B1-74C3-4593-9EC2-60C3C8760E52}" dt="2019-07-31T20:06:59.298" v="1688" actId="5793"/>
          <ac:spMkLst>
            <pc:docMk/>
            <pc:sldMk cId="2936801509" sldId="716"/>
            <ac:spMk id="11" creationId="{289B0ACC-0493-40F3-8A89-05D45FB31E8A}"/>
          </ac:spMkLst>
        </pc:spChg>
        <pc:picChg chg="add mod">
          <ac:chgData name="Dincer Konur" userId="0cb337efb386619d" providerId="LiveId" clId="{5BD569B1-74C3-4593-9EC2-60C3C8760E52}" dt="2019-07-31T20:05:32.676" v="1597" actId="1076"/>
          <ac:picMkLst>
            <pc:docMk/>
            <pc:sldMk cId="2936801509" sldId="716"/>
            <ac:picMk id="4" creationId="{B586BFE6-C30D-4892-907E-2D5728281B9E}"/>
          </ac:picMkLst>
        </pc:picChg>
        <pc:picChg chg="del">
          <ac:chgData name="Dincer Konur" userId="0cb337efb386619d" providerId="LiveId" clId="{5BD569B1-74C3-4593-9EC2-60C3C8760E52}" dt="2019-07-31T20:02:31.578" v="1470" actId="478"/>
          <ac:picMkLst>
            <pc:docMk/>
            <pc:sldMk cId="2936801509" sldId="716"/>
            <ac:picMk id="6" creationId="{2BB5F1C3-AE77-482F-B408-0DFC3B06504A}"/>
          </ac:picMkLst>
        </pc:picChg>
        <pc:picChg chg="mod">
          <ac:chgData name="Dincer Konur" userId="0cb337efb386619d" providerId="LiveId" clId="{5BD569B1-74C3-4593-9EC2-60C3C8760E52}" dt="2019-07-31T20:02:36.115" v="1472" actId="1076"/>
          <ac:picMkLst>
            <pc:docMk/>
            <pc:sldMk cId="2936801509" sldId="716"/>
            <ac:picMk id="9" creationId="{CC135DC8-8F82-4E3F-9187-5C883AFF1B6F}"/>
          </ac:picMkLst>
        </pc:picChg>
      </pc:sldChg>
      <pc:sldChg chg="addSp delSp modSp add modAnim">
        <pc:chgData name="Dincer Konur" userId="0cb337efb386619d" providerId="LiveId" clId="{5BD569B1-74C3-4593-9EC2-60C3C8760E52}" dt="2019-08-03T01:23:41.359" v="4459"/>
        <pc:sldMkLst>
          <pc:docMk/>
          <pc:sldMk cId="2127903492" sldId="717"/>
        </pc:sldMkLst>
        <pc:spChg chg="mod">
          <ac:chgData name="Dincer Konur" userId="0cb337efb386619d" providerId="LiveId" clId="{5BD569B1-74C3-4593-9EC2-60C3C8760E52}" dt="2019-07-31T20:12:32.563" v="1736" actId="20577"/>
          <ac:spMkLst>
            <pc:docMk/>
            <pc:sldMk cId="2127903492" sldId="717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1T20:07:11.079" v="1690" actId="478"/>
          <ac:spMkLst>
            <pc:docMk/>
            <pc:sldMk cId="2127903492" sldId="717"/>
            <ac:spMk id="7" creationId="{A26A413F-749B-4980-A382-6B7F3964FFE0}"/>
          </ac:spMkLst>
        </pc:spChg>
        <pc:spChg chg="add mod">
          <ac:chgData name="Dincer Konur" userId="0cb337efb386619d" providerId="LiveId" clId="{5BD569B1-74C3-4593-9EC2-60C3C8760E52}" dt="2019-08-03T01:23:41.359" v="4459"/>
          <ac:spMkLst>
            <pc:docMk/>
            <pc:sldMk cId="2127903492" sldId="717"/>
            <ac:spMk id="8" creationId="{B0C8FA4F-C62F-4EB3-A207-6F45BBEAF4DA}"/>
          </ac:spMkLst>
        </pc:spChg>
        <pc:spChg chg="del">
          <ac:chgData name="Dincer Konur" userId="0cb337efb386619d" providerId="LiveId" clId="{5BD569B1-74C3-4593-9EC2-60C3C8760E52}" dt="2019-07-31T20:07:09.666" v="1689" actId="478"/>
          <ac:spMkLst>
            <pc:docMk/>
            <pc:sldMk cId="2127903492" sldId="717"/>
            <ac:spMk id="10" creationId="{875BA862-8CF2-4614-BCF4-F29C6E740C08}"/>
          </ac:spMkLst>
        </pc:spChg>
        <pc:spChg chg="add mod">
          <ac:chgData name="Dincer Konur" userId="0cb337efb386619d" providerId="LiveId" clId="{5BD569B1-74C3-4593-9EC2-60C3C8760E52}" dt="2019-07-31T20:13:47.832" v="1909" actId="14100"/>
          <ac:spMkLst>
            <pc:docMk/>
            <pc:sldMk cId="2127903492" sldId="717"/>
            <ac:spMk id="11" creationId="{E4438268-F3FB-46F9-8448-E093499EF902}"/>
          </ac:spMkLst>
        </pc:spChg>
        <pc:spChg chg="add mod">
          <ac:chgData name="Dincer Konur" userId="0cb337efb386619d" providerId="LiveId" clId="{5BD569B1-74C3-4593-9EC2-60C3C8760E52}" dt="2019-07-31T20:14:32.137" v="2045" actId="313"/>
          <ac:spMkLst>
            <pc:docMk/>
            <pc:sldMk cId="2127903492" sldId="717"/>
            <ac:spMk id="12" creationId="{2AE77DAB-3FE9-4876-B324-D455DA29ED82}"/>
          </ac:spMkLst>
        </pc:spChg>
        <pc:spChg chg="add mod">
          <ac:chgData name="Dincer Konur" userId="0cb337efb386619d" providerId="LiveId" clId="{5BD569B1-74C3-4593-9EC2-60C3C8760E52}" dt="2019-07-31T20:15:00.358" v="2076" actId="14100"/>
          <ac:spMkLst>
            <pc:docMk/>
            <pc:sldMk cId="2127903492" sldId="717"/>
            <ac:spMk id="13" creationId="{1C0F6416-27BF-401E-883E-F83208E986F1}"/>
          </ac:spMkLst>
        </pc:spChg>
        <pc:spChg chg="add mod">
          <ac:chgData name="Dincer Konur" userId="0cb337efb386619d" providerId="LiveId" clId="{5BD569B1-74C3-4593-9EC2-60C3C8760E52}" dt="2019-07-31T20:15:43.480" v="2182" actId="1076"/>
          <ac:spMkLst>
            <pc:docMk/>
            <pc:sldMk cId="2127903492" sldId="717"/>
            <ac:spMk id="14" creationId="{1B39E296-815C-4528-AB7C-4E2CFF96C863}"/>
          </ac:spMkLst>
        </pc:spChg>
        <pc:picChg chg="del">
          <ac:chgData name="Dincer Konur" userId="0cb337efb386619d" providerId="LiveId" clId="{5BD569B1-74C3-4593-9EC2-60C3C8760E52}" dt="2019-07-31T20:07:13.753" v="1692" actId="478"/>
          <ac:picMkLst>
            <pc:docMk/>
            <pc:sldMk cId="2127903492" sldId="717"/>
            <ac:picMk id="4" creationId="{B586BFE6-C30D-4892-907E-2D5728281B9E}"/>
          </ac:picMkLst>
        </pc:picChg>
        <pc:picChg chg="add mod">
          <ac:chgData name="Dincer Konur" userId="0cb337efb386619d" providerId="LiveId" clId="{5BD569B1-74C3-4593-9EC2-60C3C8760E52}" dt="2019-07-31T20:12:40.900" v="1739" actId="1076"/>
          <ac:picMkLst>
            <pc:docMk/>
            <pc:sldMk cId="2127903492" sldId="717"/>
            <ac:picMk id="5" creationId="{A5EB1580-8815-4B6A-A676-1D06CD3B2D24}"/>
          </ac:picMkLst>
        </pc:picChg>
        <pc:picChg chg="del">
          <ac:chgData name="Dincer Konur" userId="0cb337efb386619d" providerId="LiveId" clId="{5BD569B1-74C3-4593-9EC2-60C3C8760E52}" dt="2019-07-31T20:07:12.263" v="1691" actId="478"/>
          <ac:picMkLst>
            <pc:docMk/>
            <pc:sldMk cId="2127903492" sldId="717"/>
            <ac:picMk id="9" creationId="{CC135DC8-8F82-4E3F-9187-5C883AFF1B6F}"/>
          </ac:picMkLst>
        </pc:picChg>
      </pc:sldChg>
      <pc:sldChg chg="addSp delSp modSp add delAnim modAnim">
        <pc:chgData name="Dincer Konur" userId="0cb337efb386619d" providerId="LiveId" clId="{5BD569B1-74C3-4593-9EC2-60C3C8760E52}" dt="2019-08-03T01:23:53.883" v="4460"/>
        <pc:sldMkLst>
          <pc:docMk/>
          <pc:sldMk cId="4285146431" sldId="718"/>
        </pc:sldMkLst>
        <pc:spChg chg="mod">
          <ac:chgData name="Dincer Konur" userId="0cb337efb386619d" providerId="LiveId" clId="{5BD569B1-74C3-4593-9EC2-60C3C8760E52}" dt="2019-08-03T01:23:53.883" v="4460"/>
          <ac:spMkLst>
            <pc:docMk/>
            <pc:sldMk cId="4285146431" sldId="718"/>
            <ac:spMk id="8" creationId="{B0C8FA4F-C62F-4EB3-A207-6F45BBEAF4DA}"/>
          </ac:spMkLst>
        </pc:spChg>
        <pc:spChg chg="mod">
          <ac:chgData name="Dincer Konur" userId="0cb337efb386619d" providerId="LiveId" clId="{5BD569B1-74C3-4593-9EC2-60C3C8760E52}" dt="2019-07-31T20:18:13.915" v="2275" actId="5793"/>
          <ac:spMkLst>
            <pc:docMk/>
            <pc:sldMk cId="4285146431" sldId="718"/>
            <ac:spMk id="11" creationId="{E4438268-F3FB-46F9-8448-E093499EF902}"/>
          </ac:spMkLst>
        </pc:spChg>
        <pc:spChg chg="mod">
          <ac:chgData name="Dincer Konur" userId="0cb337efb386619d" providerId="LiveId" clId="{5BD569B1-74C3-4593-9EC2-60C3C8760E52}" dt="2019-07-31T20:18:53.660" v="2412" actId="14100"/>
          <ac:spMkLst>
            <pc:docMk/>
            <pc:sldMk cId="4285146431" sldId="718"/>
            <ac:spMk id="12" creationId="{2AE77DAB-3FE9-4876-B324-D455DA29ED82}"/>
          </ac:spMkLst>
        </pc:spChg>
        <pc:spChg chg="del">
          <ac:chgData name="Dincer Konur" userId="0cb337efb386619d" providerId="LiveId" clId="{5BD569B1-74C3-4593-9EC2-60C3C8760E52}" dt="2019-07-31T20:17:09.328" v="2186" actId="478"/>
          <ac:spMkLst>
            <pc:docMk/>
            <pc:sldMk cId="4285146431" sldId="718"/>
            <ac:spMk id="13" creationId="{1C0F6416-27BF-401E-883E-F83208E986F1}"/>
          </ac:spMkLst>
        </pc:spChg>
        <pc:spChg chg="del">
          <ac:chgData name="Dincer Konur" userId="0cb337efb386619d" providerId="LiveId" clId="{5BD569B1-74C3-4593-9EC2-60C3C8760E52}" dt="2019-07-31T20:17:04.886" v="2184" actId="478"/>
          <ac:spMkLst>
            <pc:docMk/>
            <pc:sldMk cId="4285146431" sldId="718"/>
            <ac:spMk id="14" creationId="{1B39E296-815C-4528-AB7C-4E2CFF96C863}"/>
          </ac:spMkLst>
        </pc:spChg>
        <pc:picChg chg="add mod ord">
          <ac:chgData name="Dincer Konur" userId="0cb337efb386619d" providerId="LiveId" clId="{5BD569B1-74C3-4593-9EC2-60C3C8760E52}" dt="2019-07-31T20:17:37.423" v="2190" actId="167"/>
          <ac:picMkLst>
            <pc:docMk/>
            <pc:sldMk cId="4285146431" sldId="718"/>
            <ac:picMk id="4" creationId="{964635C9-58C4-43C2-AA52-1D89FCE6C43A}"/>
          </ac:picMkLst>
        </pc:picChg>
        <pc:picChg chg="del">
          <ac:chgData name="Dincer Konur" userId="0cb337efb386619d" providerId="LiveId" clId="{5BD569B1-74C3-4593-9EC2-60C3C8760E52}" dt="2019-07-31T20:17:05.698" v="2185" actId="478"/>
          <ac:picMkLst>
            <pc:docMk/>
            <pc:sldMk cId="4285146431" sldId="718"/>
            <ac:picMk id="5" creationId="{A5EB1580-8815-4B6A-A676-1D06CD3B2D24}"/>
          </ac:picMkLst>
        </pc:picChg>
      </pc:sldChg>
      <pc:sldChg chg="addSp modSp add">
        <pc:chgData name="Dincer Konur" userId="0cb337efb386619d" providerId="LiveId" clId="{5BD569B1-74C3-4593-9EC2-60C3C8760E52}" dt="2019-07-31T21:08:29.172" v="3294" actId="1076"/>
        <pc:sldMkLst>
          <pc:docMk/>
          <pc:sldMk cId="4283292556" sldId="719"/>
        </pc:sldMkLst>
        <pc:spChg chg="mod">
          <ac:chgData name="Dincer Konur" userId="0cb337efb386619d" providerId="LiveId" clId="{5BD569B1-74C3-4593-9EC2-60C3C8760E52}" dt="2019-07-31T20:58:14.007" v="3199" actId="20577"/>
          <ac:spMkLst>
            <pc:docMk/>
            <pc:sldMk cId="4283292556" sldId="719"/>
            <ac:spMk id="3" creationId="{00000000-0000-0000-0000-000000000000}"/>
          </ac:spMkLst>
        </pc:spChg>
        <pc:spChg chg="add mod">
          <ac:chgData name="Dincer Konur" userId="0cb337efb386619d" providerId="LiveId" clId="{5BD569B1-74C3-4593-9EC2-60C3C8760E52}" dt="2019-07-31T20:57:16.879" v="3152" actId="14100"/>
          <ac:spMkLst>
            <pc:docMk/>
            <pc:sldMk cId="4283292556" sldId="719"/>
            <ac:spMk id="5" creationId="{F49275B2-11C7-49A2-B006-20B45ECCDDCA}"/>
          </ac:spMkLst>
        </pc:spChg>
        <pc:spChg chg="add mod">
          <ac:chgData name="Dincer Konur" userId="0cb337efb386619d" providerId="LiveId" clId="{5BD569B1-74C3-4593-9EC2-60C3C8760E52}" dt="2019-07-31T20:57:24.239" v="3167" actId="20577"/>
          <ac:spMkLst>
            <pc:docMk/>
            <pc:sldMk cId="4283292556" sldId="719"/>
            <ac:spMk id="6" creationId="{A524E390-1654-4F49-B7E4-34B1A1055BF9}"/>
          </ac:spMkLst>
        </pc:spChg>
        <pc:spChg chg="add mod">
          <ac:chgData name="Dincer Konur" userId="0cb337efb386619d" providerId="LiveId" clId="{5BD569B1-74C3-4593-9EC2-60C3C8760E52}" dt="2019-07-31T20:58:41.604" v="3282" actId="114"/>
          <ac:spMkLst>
            <pc:docMk/>
            <pc:sldMk cId="4283292556" sldId="719"/>
            <ac:spMk id="7" creationId="{B0D69140-36E3-434F-B1AC-EDFC4470CC12}"/>
          </ac:spMkLst>
        </pc:spChg>
        <pc:spChg chg="add mod">
          <ac:chgData name="Dincer Konur" userId="0cb337efb386619d" providerId="LiveId" clId="{5BD569B1-74C3-4593-9EC2-60C3C8760E52}" dt="2019-07-31T21:08:29.172" v="3294" actId="1076"/>
          <ac:spMkLst>
            <pc:docMk/>
            <pc:sldMk cId="4283292556" sldId="719"/>
            <ac:spMk id="8" creationId="{E1085079-F1BF-4759-BA6D-841AFEA22A41}"/>
          </ac:spMkLst>
        </pc:spChg>
        <pc:picChg chg="add mod">
          <ac:chgData name="Dincer Konur" userId="0cb337efb386619d" providerId="LiveId" clId="{5BD569B1-74C3-4593-9EC2-60C3C8760E52}" dt="2019-07-31T20:57:00.234" v="3149" actId="1076"/>
          <ac:picMkLst>
            <pc:docMk/>
            <pc:sldMk cId="4283292556" sldId="719"/>
            <ac:picMk id="4" creationId="{5E66AED2-1D09-45E4-BC92-93953F09E50B}"/>
          </ac:picMkLst>
        </pc:picChg>
      </pc:sldChg>
      <pc:sldChg chg="addSp delSp modSp add modAnim">
        <pc:chgData name="Dincer Konur" userId="0cb337efb386619d" providerId="LiveId" clId="{5BD569B1-74C3-4593-9EC2-60C3C8760E52}" dt="2019-07-31T21:25:28.027" v="4052" actId="14100"/>
        <pc:sldMkLst>
          <pc:docMk/>
          <pc:sldMk cId="584262458" sldId="720"/>
        </pc:sldMkLst>
        <pc:spChg chg="mod">
          <ac:chgData name="Dincer Konur" userId="0cb337efb386619d" providerId="LiveId" clId="{5BD569B1-74C3-4593-9EC2-60C3C8760E52}" dt="2019-07-31T21:23:04.805" v="3914" actId="20577"/>
          <ac:spMkLst>
            <pc:docMk/>
            <pc:sldMk cId="584262458" sldId="720"/>
            <ac:spMk id="3" creationId="{00000000-0000-0000-0000-000000000000}"/>
          </ac:spMkLst>
        </pc:spChg>
        <pc:spChg chg="del">
          <ac:chgData name="Dincer Konur" userId="0cb337efb386619d" providerId="LiveId" clId="{5BD569B1-74C3-4593-9EC2-60C3C8760E52}" dt="2019-07-31T21:09:33.374" v="3296" actId="478"/>
          <ac:spMkLst>
            <pc:docMk/>
            <pc:sldMk cId="584262458" sldId="720"/>
            <ac:spMk id="5" creationId="{F49275B2-11C7-49A2-B006-20B45ECCDDCA}"/>
          </ac:spMkLst>
        </pc:spChg>
        <pc:spChg chg="del">
          <ac:chgData name="Dincer Konur" userId="0cb337efb386619d" providerId="LiveId" clId="{5BD569B1-74C3-4593-9EC2-60C3C8760E52}" dt="2019-07-31T21:09:33.374" v="3296" actId="478"/>
          <ac:spMkLst>
            <pc:docMk/>
            <pc:sldMk cId="584262458" sldId="720"/>
            <ac:spMk id="6" creationId="{A524E390-1654-4F49-B7E4-34B1A1055BF9}"/>
          </ac:spMkLst>
        </pc:spChg>
        <pc:spChg chg="del">
          <ac:chgData name="Dincer Konur" userId="0cb337efb386619d" providerId="LiveId" clId="{5BD569B1-74C3-4593-9EC2-60C3C8760E52}" dt="2019-07-31T21:09:33.374" v="3296" actId="478"/>
          <ac:spMkLst>
            <pc:docMk/>
            <pc:sldMk cId="584262458" sldId="720"/>
            <ac:spMk id="7" creationId="{B0D69140-36E3-434F-B1AC-EDFC4470CC12}"/>
          </ac:spMkLst>
        </pc:spChg>
        <pc:spChg chg="del">
          <ac:chgData name="Dincer Konur" userId="0cb337efb386619d" providerId="LiveId" clId="{5BD569B1-74C3-4593-9EC2-60C3C8760E52}" dt="2019-07-31T21:09:33.374" v="3296" actId="478"/>
          <ac:spMkLst>
            <pc:docMk/>
            <pc:sldMk cId="584262458" sldId="720"/>
            <ac:spMk id="8" creationId="{E1085079-F1BF-4759-BA6D-841AFEA22A41}"/>
          </ac:spMkLst>
        </pc:spChg>
        <pc:spChg chg="add mod">
          <ac:chgData name="Dincer Konur" userId="0cb337efb386619d" providerId="LiveId" clId="{5BD569B1-74C3-4593-9EC2-60C3C8760E52}" dt="2019-07-31T21:11:38.455" v="3498" actId="1076"/>
          <ac:spMkLst>
            <pc:docMk/>
            <pc:sldMk cId="584262458" sldId="720"/>
            <ac:spMk id="9" creationId="{A821F5A1-A3D5-46CA-9570-929EFC07F7CE}"/>
          </ac:spMkLst>
        </pc:spChg>
        <pc:spChg chg="add mod">
          <ac:chgData name="Dincer Konur" userId="0cb337efb386619d" providerId="LiveId" clId="{5BD569B1-74C3-4593-9EC2-60C3C8760E52}" dt="2019-07-31T21:13:11.831" v="3586" actId="1076"/>
          <ac:spMkLst>
            <pc:docMk/>
            <pc:sldMk cId="584262458" sldId="720"/>
            <ac:spMk id="10" creationId="{EB4E423F-C75C-4265-AF27-A346F75185ED}"/>
          </ac:spMkLst>
        </pc:spChg>
        <pc:spChg chg="add mod">
          <ac:chgData name="Dincer Konur" userId="0cb337efb386619d" providerId="LiveId" clId="{5BD569B1-74C3-4593-9EC2-60C3C8760E52}" dt="2019-07-31T21:24:56.154" v="4046" actId="1076"/>
          <ac:spMkLst>
            <pc:docMk/>
            <pc:sldMk cId="584262458" sldId="720"/>
            <ac:spMk id="11" creationId="{790183BA-E1B5-4928-9B5A-77AD5180C465}"/>
          </ac:spMkLst>
        </pc:spChg>
        <pc:spChg chg="add mod">
          <ac:chgData name="Dincer Konur" userId="0cb337efb386619d" providerId="LiveId" clId="{5BD569B1-74C3-4593-9EC2-60C3C8760E52}" dt="2019-07-31T21:22:44.687" v="3868" actId="20577"/>
          <ac:spMkLst>
            <pc:docMk/>
            <pc:sldMk cId="584262458" sldId="720"/>
            <ac:spMk id="12" creationId="{31B98D73-4CBA-47A8-8F0F-2218DEE1FA38}"/>
          </ac:spMkLst>
        </pc:spChg>
        <pc:spChg chg="add mod">
          <ac:chgData name="Dincer Konur" userId="0cb337efb386619d" providerId="LiveId" clId="{5BD569B1-74C3-4593-9EC2-60C3C8760E52}" dt="2019-07-31T21:24:53.996" v="4045" actId="1076"/>
          <ac:spMkLst>
            <pc:docMk/>
            <pc:sldMk cId="584262458" sldId="720"/>
            <ac:spMk id="13" creationId="{4386E23F-92F4-4AEF-BED6-666A78704EF1}"/>
          </ac:spMkLst>
        </pc:spChg>
        <pc:spChg chg="add mod">
          <ac:chgData name="Dincer Konur" userId="0cb337efb386619d" providerId="LiveId" clId="{5BD569B1-74C3-4593-9EC2-60C3C8760E52}" dt="2019-07-31T21:24:49.197" v="4044" actId="1076"/>
          <ac:spMkLst>
            <pc:docMk/>
            <pc:sldMk cId="584262458" sldId="720"/>
            <ac:spMk id="14" creationId="{56B51B2F-55AA-4321-92B4-0080DCA77A13}"/>
          </ac:spMkLst>
        </pc:spChg>
        <pc:spChg chg="add mod">
          <ac:chgData name="Dincer Konur" userId="0cb337efb386619d" providerId="LiveId" clId="{5BD569B1-74C3-4593-9EC2-60C3C8760E52}" dt="2019-07-31T21:25:08.478" v="4049" actId="1076"/>
          <ac:spMkLst>
            <pc:docMk/>
            <pc:sldMk cId="584262458" sldId="720"/>
            <ac:spMk id="15" creationId="{13D2F5C7-6683-4D85-ACB8-496BC692DAC9}"/>
          </ac:spMkLst>
        </pc:spChg>
        <pc:picChg chg="del">
          <ac:chgData name="Dincer Konur" userId="0cb337efb386619d" providerId="LiveId" clId="{5BD569B1-74C3-4593-9EC2-60C3C8760E52}" dt="2019-07-31T21:09:33.374" v="3296" actId="478"/>
          <ac:picMkLst>
            <pc:docMk/>
            <pc:sldMk cId="584262458" sldId="720"/>
            <ac:picMk id="4" creationId="{5E66AED2-1D09-45E4-BC92-93953F09E50B}"/>
          </ac:picMkLst>
        </pc:picChg>
        <pc:cxnChg chg="add mod">
          <ac:chgData name="Dincer Konur" userId="0cb337efb386619d" providerId="LiveId" clId="{5BD569B1-74C3-4593-9EC2-60C3C8760E52}" dt="2019-07-31T21:25:28.027" v="4052" actId="14100"/>
          <ac:cxnSpMkLst>
            <pc:docMk/>
            <pc:sldMk cId="584262458" sldId="720"/>
            <ac:cxnSpMk id="17" creationId="{72634699-50F3-4201-B8F1-D1D15DA11705}"/>
          </ac:cxnSpMkLst>
        </pc:cxnChg>
        <pc:cxnChg chg="add mod">
          <ac:chgData name="Dincer Konur" userId="0cb337efb386619d" providerId="LiveId" clId="{5BD569B1-74C3-4593-9EC2-60C3C8760E52}" dt="2019-07-31T21:25:20.699" v="4051" actId="11529"/>
          <ac:cxnSpMkLst>
            <pc:docMk/>
            <pc:sldMk cId="584262458" sldId="720"/>
            <ac:cxnSpMk id="19" creationId="{2C4A8223-6E4A-49BA-85B0-B9E9DDDAA41D}"/>
          </ac:cxnSpMkLst>
        </pc:cxnChg>
      </pc:sldChg>
      <pc:sldChg chg="addSp delSp modSp add delAnim">
        <pc:chgData name="Dincer Konur" userId="0cb337efb386619d" providerId="LiveId" clId="{5BD569B1-74C3-4593-9EC2-60C3C8760E52}" dt="2019-07-31T21:29:02.259" v="4363" actId="20577"/>
        <pc:sldMkLst>
          <pc:docMk/>
          <pc:sldMk cId="382502865" sldId="721"/>
        </pc:sldMkLst>
        <pc:spChg chg="mod">
          <ac:chgData name="Dincer Konur" userId="0cb337efb386619d" providerId="LiveId" clId="{5BD569B1-74C3-4593-9EC2-60C3C8760E52}" dt="2019-07-31T21:29:02.259" v="4363" actId="20577"/>
          <ac:spMkLst>
            <pc:docMk/>
            <pc:sldMk cId="382502865" sldId="721"/>
            <ac:spMk id="3" creationId="{00000000-0000-0000-0000-000000000000}"/>
          </ac:spMkLst>
        </pc:spChg>
        <pc:spChg chg="add mod">
          <ac:chgData name="Dincer Konur" userId="0cb337efb386619d" providerId="LiveId" clId="{5BD569B1-74C3-4593-9EC2-60C3C8760E52}" dt="2019-07-31T21:26:35.583" v="4094" actId="1076"/>
          <ac:spMkLst>
            <pc:docMk/>
            <pc:sldMk cId="382502865" sldId="721"/>
            <ac:spMk id="4" creationId="{3DCE8981-4860-4120-A224-0844D71E8D5C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9" creationId="{A821F5A1-A3D5-46CA-9570-929EFC07F7CE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0" creationId="{EB4E423F-C75C-4265-AF27-A346F75185ED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1" creationId="{790183BA-E1B5-4928-9B5A-77AD5180C465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2" creationId="{31B98D73-4CBA-47A8-8F0F-2218DEE1FA38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3" creationId="{4386E23F-92F4-4AEF-BED6-666A78704EF1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4" creationId="{56B51B2F-55AA-4321-92B4-0080DCA77A13}"/>
          </ac:spMkLst>
        </pc:spChg>
        <pc:spChg chg="del">
          <ac:chgData name="Dincer Konur" userId="0cb337efb386619d" providerId="LiveId" clId="{5BD569B1-74C3-4593-9EC2-60C3C8760E52}" dt="2019-07-31T21:25:39.086" v="4054" actId="478"/>
          <ac:spMkLst>
            <pc:docMk/>
            <pc:sldMk cId="382502865" sldId="721"/>
            <ac:spMk id="15" creationId="{13D2F5C7-6683-4D85-ACB8-496BC692DAC9}"/>
          </ac:spMkLst>
        </pc:spChg>
        <pc:cxnChg chg="del">
          <ac:chgData name="Dincer Konur" userId="0cb337efb386619d" providerId="LiveId" clId="{5BD569B1-74C3-4593-9EC2-60C3C8760E52}" dt="2019-07-31T21:25:39.086" v="4054" actId="478"/>
          <ac:cxnSpMkLst>
            <pc:docMk/>
            <pc:sldMk cId="382502865" sldId="721"/>
            <ac:cxnSpMk id="17" creationId="{72634699-50F3-4201-B8F1-D1D15DA11705}"/>
          </ac:cxnSpMkLst>
        </pc:cxnChg>
        <pc:cxnChg chg="del mod">
          <ac:chgData name="Dincer Konur" userId="0cb337efb386619d" providerId="LiveId" clId="{5BD569B1-74C3-4593-9EC2-60C3C8760E52}" dt="2019-07-31T21:25:39.086" v="4054" actId="478"/>
          <ac:cxnSpMkLst>
            <pc:docMk/>
            <pc:sldMk cId="382502865" sldId="721"/>
            <ac:cxnSpMk id="19" creationId="{2C4A8223-6E4A-49BA-85B0-B9E9DDDAA41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8A81C-13E0-402A-9BD9-36F3DFFB46F8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376B9-9838-4376-9895-3384D05A8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34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06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46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20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26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52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05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975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24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10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36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05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50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6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11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35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06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842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79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60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476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512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588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340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974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68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90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405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674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6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53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420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508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178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403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887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430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380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88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482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051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467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590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61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2B67-1FE0-4470-B55B-3CC11D24CADD}" type="datetime1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3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02" y="365125"/>
            <a:ext cx="11478410" cy="839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002" y="6356350"/>
            <a:ext cx="3226398" cy="365125"/>
          </a:xfrm>
        </p:spPr>
        <p:txBody>
          <a:bodyPr/>
          <a:lstStyle/>
          <a:p>
            <a:fld id="{1353BFE4-7670-4C28-92F7-8FCF0FD57118}" type="datetime1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22812" cy="365125"/>
          </a:xfrm>
        </p:spPr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55002" y="1193795"/>
            <a:ext cx="1147841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79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1F0A-5054-4219-9A96-DB543FB4EFD5}" type="datetime1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2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AD19-473A-4066-B1E0-68343C5132D6}" type="datetime1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4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E0FC2-52DB-4282-89B9-05C3BBBBC7B9}" type="datetime1">
              <a:rPr lang="en-US" smtClean="0"/>
              <a:t>11/10/24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1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5194-1803-4C82-8079-F4C50D2E86E0}" type="datetime1">
              <a:rPr lang="en-US" smtClean="0"/>
              <a:t>11/10/24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3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B8836-251C-4B0D-A69F-3D40347DD622}" type="datetime1">
              <a:rPr lang="en-US" smtClean="0"/>
              <a:t>11/10/24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5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5A95-0B6A-4566-A8AE-17A99E17AA43}" type="datetime1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01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09B7-F020-41E3-BB39-6A5B3AE8FEC4}" type="datetime1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4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F8F7-4165-4684-A498-E5E8E09A9509}" type="datetime1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6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46EA-4182-4A67-B641-818480444DAC}" type="datetime1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C6168-8311-497C-A3AF-702D84FBDFB2}" type="datetime1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682433"/>
            <a:ext cx="11487150" cy="2387600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prstClr val="black"/>
                </a:solidFill>
              </a:rPr>
              <a:t>ANLY 5332</a:t>
            </a:r>
            <a:br>
              <a:rPr lang="en-US" sz="5400" dirty="0">
                <a:solidFill>
                  <a:prstClr val="black"/>
                </a:solidFill>
              </a:rPr>
            </a:br>
            <a:br>
              <a:rPr lang="en-US" sz="3200" dirty="0">
                <a:solidFill>
                  <a:prstClr val="black"/>
                </a:solidFill>
              </a:rPr>
            </a:br>
            <a:br>
              <a:rPr lang="en-US" sz="3200" dirty="0">
                <a:solidFill>
                  <a:prstClr val="black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Department of Information Systems and Analytics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McCoy College of Business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Texas State University</a:t>
            </a: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Multi-objective Optimization and Goal Programming</a:t>
            </a:r>
          </a:p>
        </p:txBody>
      </p:sp>
    </p:spTree>
    <p:extLst>
      <p:ext uri="{BB962C8B-B14F-4D97-AF65-F5344CB8AC3E}">
        <p14:creationId xmlns:p14="http://schemas.microsoft.com/office/powerpoint/2010/main" val="1735545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and Solution Concepts</a:t>
            </a:r>
          </a:p>
          <a:p>
            <a:r>
              <a:rPr lang="en-US" dirty="0"/>
              <a:t>Single-objective Reduction</a:t>
            </a:r>
          </a:p>
          <a:p>
            <a:r>
              <a:rPr lang="en-US" dirty="0"/>
              <a:t>Pareto Front Generation</a:t>
            </a:r>
          </a:p>
          <a:p>
            <a:r>
              <a:rPr lang="en-US" dirty="0"/>
              <a:t>Epsilon-constraint Method Example</a:t>
            </a:r>
          </a:p>
          <a:p>
            <a:r>
              <a:rPr lang="en-US" dirty="0"/>
              <a:t>Goal Programming</a:t>
            </a:r>
          </a:p>
          <a:p>
            <a:pPr lvl="1"/>
            <a:r>
              <a:rPr lang="en-US" dirty="0"/>
              <a:t>Weighted Goal Programming</a:t>
            </a:r>
          </a:p>
          <a:p>
            <a:pPr lvl="1"/>
            <a:r>
              <a:rPr lang="en-US" dirty="0"/>
              <a:t>Preemptive Goal Programming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6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and Solution Concepts</a:t>
            </a:r>
          </a:p>
          <a:p>
            <a:r>
              <a:rPr lang="en-US" dirty="0">
                <a:solidFill>
                  <a:schemeClr val="bg2"/>
                </a:solidFill>
              </a:rPr>
              <a:t>Single-objective Reduction</a:t>
            </a:r>
          </a:p>
          <a:p>
            <a:r>
              <a:rPr lang="en-US" dirty="0">
                <a:solidFill>
                  <a:schemeClr val="bg2"/>
                </a:solidFill>
              </a:rPr>
              <a:t>Pareto Front Generation</a:t>
            </a:r>
          </a:p>
          <a:p>
            <a:r>
              <a:rPr lang="en-US" dirty="0">
                <a:solidFill>
                  <a:schemeClr val="bg2"/>
                </a:solidFill>
              </a:rPr>
              <a:t>Epsilon-constraint Method Example</a:t>
            </a:r>
          </a:p>
          <a:p>
            <a:r>
              <a:rPr lang="en-US" dirty="0">
                <a:solidFill>
                  <a:schemeClr val="bg2"/>
                </a:solidFill>
              </a:rPr>
              <a:t>Goal Programming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Weighted Goal Programming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Preemptive Goal Programming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469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Multi-objective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Many problems have multiple objectives:</a:t>
            </a:r>
          </a:p>
          <a:p>
            <a:pPr lvl="1"/>
            <a:r>
              <a:rPr lang="en-US" dirty="0"/>
              <a:t>Planning the national budget</a:t>
            </a:r>
          </a:p>
          <a:p>
            <a:pPr lvl="3"/>
            <a:r>
              <a:rPr lang="en-US" dirty="0"/>
              <a:t>save social security, reduce debt, cut taxes, build national defense</a:t>
            </a:r>
          </a:p>
          <a:p>
            <a:pPr lvl="1"/>
            <a:r>
              <a:rPr lang="en-US" dirty="0"/>
              <a:t>Admitting students to college</a:t>
            </a:r>
          </a:p>
          <a:p>
            <a:pPr lvl="3"/>
            <a:r>
              <a:rPr lang="en-US" dirty="0"/>
              <a:t>high SAT or GMAT, high GPA, diversity</a:t>
            </a:r>
          </a:p>
          <a:p>
            <a:pPr lvl="1"/>
            <a:r>
              <a:rPr lang="en-US" dirty="0"/>
              <a:t>Planning an advertising campaign</a:t>
            </a:r>
          </a:p>
          <a:p>
            <a:pPr lvl="3"/>
            <a:r>
              <a:rPr lang="en-US" dirty="0"/>
              <a:t>budget, reach, expenses, target groups</a:t>
            </a:r>
          </a:p>
          <a:p>
            <a:pPr lvl="1"/>
            <a:r>
              <a:rPr lang="en-US" dirty="0"/>
              <a:t>Choosing taxation levels</a:t>
            </a:r>
          </a:p>
          <a:p>
            <a:pPr lvl="3"/>
            <a:r>
              <a:rPr lang="en-US" dirty="0"/>
              <a:t>raise money, minimize tax burden on low-income, minimize flight of business</a:t>
            </a:r>
          </a:p>
          <a:p>
            <a:pPr lvl="1"/>
            <a:r>
              <a:rPr lang="en-US" dirty="0"/>
              <a:t>Planning an investment portfolio</a:t>
            </a:r>
          </a:p>
          <a:p>
            <a:pPr lvl="3"/>
            <a:r>
              <a:rPr lang="en-US" dirty="0"/>
              <a:t>maximize expected earnings, minimize risk</a:t>
            </a:r>
          </a:p>
          <a:p>
            <a:r>
              <a:rPr lang="en-US" dirty="0"/>
              <a:t>Optimization problems that involve multiple objectives</a:t>
            </a:r>
          </a:p>
          <a:p>
            <a:pPr lvl="1"/>
            <a:r>
              <a:rPr lang="en-US" dirty="0"/>
              <a:t>Typically, conflicting objectives</a:t>
            </a:r>
          </a:p>
          <a:p>
            <a:pPr lvl="1"/>
            <a:r>
              <a:rPr lang="en-US" dirty="0"/>
              <a:t>Formulation is just the same as regular models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48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Multi-objective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 lnSpcReduction="10000"/>
          </a:bodyPr>
          <a:lstStyle/>
          <a:p>
            <a:r>
              <a:rPr lang="en-US" b="1" u="sng" dirty="0"/>
              <a:t>Case: A multi-objective shortest path problem (not in the textbook):</a:t>
            </a:r>
          </a:p>
          <a:p>
            <a:r>
              <a:rPr lang="en-US" sz="2400" dirty="0"/>
              <a:t>Suppose that you want to go from node 1 to node 4. </a:t>
            </a:r>
          </a:p>
          <a:p>
            <a:pPr lvl="1"/>
            <a:r>
              <a:rPr lang="en-US" sz="2000" dirty="0"/>
              <a:t>You want to minimize the total distance travelled</a:t>
            </a:r>
          </a:p>
          <a:p>
            <a:pPr lvl="1"/>
            <a:r>
              <a:rPr lang="en-US" sz="2000" dirty="0"/>
              <a:t>You want to minimize the total travel time</a:t>
            </a:r>
          </a:p>
          <a:p>
            <a:pPr marL="1200150" lvl="2" indent="-285750"/>
            <a:endParaRPr lang="en-US" dirty="0"/>
          </a:p>
          <a:p>
            <a:pPr marL="1200150" lvl="2" indent="-285750"/>
            <a:endParaRPr lang="en-US" dirty="0"/>
          </a:p>
          <a:p>
            <a:pPr marL="1200150" lvl="2" indent="-285750"/>
            <a:endParaRPr lang="en-US" dirty="0"/>
          </a:p>
          <a:p>
            <a:pPr marL="1200150" lvl="2" indent="-285750"/>
            <a:endParaRPr lang="en-US" dirty="0"/>
          </a:p>
          <a:p>
            <a:pPr marL="1200150" lvl="2" indent="-285750"/>
            <a:endParaRPr lang="en-US" dirty="0"/>
          </a:p>
          <a:p>
            <a:pPr marL="1200150" lvl="2" indent="-285750"/>
            <a:endParaRPr lang="en-US" dirty="0"/>
          </a:p>
          <a:p>
            <a:pPr marL="1200150" lvl="2" indent="-285750"/>
            <a:endParaRPr lang="en-US" dirty="0"/>
          </a:p>
          <a:p>
            <a:pPr marL="1200150" lvl="2" indent="-285750"/>
            <a:r>
              <a:rPr lang="en-US" dirty="0"/>
              <a:t>We already know how to formulate a single-objective shortest path problem</a:t>
            </a:r>
          </a:p>
          <a:p>
            <a:pPr marL="1200150" lvl="2" indent="-285750"/>
            <a:r>
              <a:rPr lang="en-US" dirty="0"/>
              <a:t>Multi-objective (bi-objective in this case) formulation is similar</a:t>
            </a:r>
          </a:p>
          <a:p>
            <a:pPr marL="1200150" lvl="2" indent="-285750"/>
            <a:r>
              <a:rPr lang="en-US" dirty="0"/>
              <a:t>We just need to include both objectives</a:t>
            </a:r>
          </a:p>
          <a:p>
            <a:pPr lvl="1"/>
            <a:endParaRPr lang="en-US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B42A5B-2EBD-4578-88F0-96EC7C6DB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376" y="3076632"/>
            <a:ext cx="2480054" cy="19304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A0BC0B-7883-40F5-B0D5-7878B1147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023" y="3076632"/>
            <a:ext cx="2565928" cy="192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8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Multi-objective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/>
          <a:lstStyle/>
          <a:p>
            <a:r>
              <a:rPr lang="en-US" b="1" u="sng" dirty="0"/>
              <a:t>Case: A multi-objective shortest path problem (not in the textbook):</a:t>
            </a:r>
          </a:p>
          <a:p>
            <a:r>
              <a:rPr lang="en-US" sz="2400" dirty="0"/>
              <a:t>Suppose that you want to go from node 1 to node 4. </a:t>
            </a:r>
          </a:p>
          <a:p>
            <a:pPr lvl="1"/>
            <a:r>
              <a:rPr lang="en-US" sz="2000" dirty="0"/>
              <a:t>You want to minimize the total distance travelled</a:t>
            </a:r>
          </a:p>
          <a:p>
            <a:pPr lvl="1"/>
            <a:r>
              <a:rPr lang="en-US" sz="2000" dirty="0"/>
              <a:t>You want to minimize the total travel time</a:t>
            </a:r>
          </a:p>
          <a:p>
            <a:pPr marL="1200150" lvl="2" indent="-285750"/>
            <a:r>
              <a:rPr lang="en-US" dirty="0"/>
              <a:t>Let X(</a:t>
            </a:r>
            <a:r>
              <a:rPr lang="en-US" dirty="0" err="1"/>
              <a:t>i,j</a:t>
            </a:r>
            <a:r>
              <a:rPr lang="en-US" dirty="0"/>
              <a:t>) denote the flow on arc (</a:t>
            </a:r>
            <a:r>
              <a:rPr lang="en-US" dirty="0" err="1"/>
              <a:t>i,j</a:t>
            </a:r>
            <a:r>
              <a:rPr lang="en-US" dirty="0"/>
              <a:t>). Then:</a:t>
            </a:r>
          </a:p>
          <a:p>
            <a:pPr lvl="1"/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27DEF-7C12-446D-8B3A-96495CE6622F}"/>
              </a:ext>
            </a:extLst>
          </p:cNvPr>
          <p:cNvSpPr txBox="1"/>
          <p:nvPr/>
        </p:nvSpPr>
        <p:spPr>
          <a:xfrm>
            <a:off x="1133054" y="3575509"/>
            <a:ext cx="7284720" cy="25545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/>
              <a:t>Minimize	7X</a:t>
            </a:r>
            <a:r>
              <a:rPr lang="en-US" sz="2000" baseline="-25000" dirty="0"/>
              <a:t>(1,2) </a:t>
            </a:r>
            <a:r>
              <a:rPr lang="en-US" sz="2000" dirty="0"/>
              <a:t>+ 9X</a:t>
            </a:r>
            <a:r>
              <a:rPr lang="en-US" sz="2000" baseline="-25000" dirty="0"/>
              <a:t>(1,3) </a:t>
            </a:r>
            <a:r>
              <a:rPr lang="en-US" sz="2000" dirty="0"/>
              <a:t>+14X</a:t>
            </a:r>
            <a:r>
              <a:rPr lang="en-US" sz="2000" baseline="-25000" dirty="0"/>
              <a:t>(1,4) </a:t>
            </a:r>
            <a:r>
              <a:rPr lang="en-US" sz="2000" dirty="0"/>
              <a:t>+ 5X</a:t>
            </a:r>
            <a:r>
              <a:rPr lang="en-US" sz="2000" baseline="-25000" dirty="0"/>
              <a:t>(2,3)</a:t>
            </a:r>
            <a:r>
              <a:rPr lang="en-US" sz="2000" dirty="0"/>
              <a:t> + 6X</a:t>
            </a:r>
            <a:r>
              <a:rPr lang="en-US" sz="2000" baseline="-25000" dirty="0"/>
              <a:t>(2,4) </a:t>
            </a:r>
            <a:r>
              <a:rPr lang="en-US" sz="2000" dirty="0"/>
              <a:t>+ 3X</a:t>
            </a:r>
            <a:r>
              <a:rPr lang="en-US" sz="2000" baseline="-25000" dirty="0"/>
              <a:t>(3,4)</a:t>
            </a:r>
            <a:r>
              <a:rPr lang="en-US" sz="2000" dirty="0"/>
              <a:t> 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Minimize	10X</a:t>
            </a:r>
            <a:r>
              <a:rPr lang="en-US" sz="2000" baseline="-25000" dirty="0"/>
              <a:t>(1,2) </a:t>
            </a:r>
            <a:r>
              <a:rPr lang="en-US" sz="2000" dirty="0"/>
              <a:t>+ 30X</a:t>
            </a:r>
            <a:r>
              <a:rPr lang="en-US" sz="2000" baseline="-25000" dirty="0"/>
              <a:t>(1,3) </a:t>
            </a:r>
            <a:r>
              <a:rPr lang="en-US" sz="2000" dirty="0"/>
              <a:t>+30X</a:t>
            </a:r>
            <a:r>
              <a:rPr lang="en-US" sz="2000" baseline="-25000" dirty="0"/>
              <a:t>(1,4) </a:t>
            </a:r>
            <a:r>
              <a:rPr lang="en-US" sz="2000" dirty="0"/>
              <a:t>+ 5X</a:t>
            </a:r>
            <a:r>
              <a:rPr lang="en-US" sz="2000" baseline="-25000" dirty="0"/>
              <a:t>(2,3)</a:t>
            </a:r>
            <a:r>
              <a:rPr lang="en-US" sz="2000" dirty="0"/>
              <a:t> + 15X</a:t>
            </a:r>
            <a:r>
              <a:rPr lang="en-US" sz="2000" baseline="-25000" dirty="0"/>
              <a:t>(2,4) </a:t>
            </a:r>
            <a:r>
              <a:rPr lang="en-US" sz="2000" dirty="0"/>
              <a:t>+ 5X</a:t>
            </a:r>
            <a:r>
              <a:rPr lang="en-US" sz="2000" baseline="-25000" dirty="0"/>
              <a:t>(3,4)</a:t>
            </a:r>
            <a:r>
              <a:rPr lang="en-US" sz="2000" dirty="0"/>
              <a:t> </a:t>
            </a:r>
          </a:p>
          <a:p>
            <a:r>
              <a:rPr lang="en-US" sz="2000" dirty="0"/>
              <a:t>Subject to	X</a:t>
            </a:r>
            <a:r>
              <a:rPr lang="en-US" sz="2000" baseline="-25000" dirty="0"/>
              <a:t>(1,2) </a:t>
            </a:r>
            <a:r>
              <a:rPr lang="en-US" sz="2000" dirty="0"/>
              <a:t>+ X</a:t>
            </a:r>
            <a:r>
              <a:rPr lang="en-US" sz="2000" baseline="-25000" dirty="0"/>
              <a:t>(1,3) </a:t>
            </a:r>
            <a:r>
              <a:rPr lang="en-US" sz="2000" dirty="0"/>
              <a:t>+ X</a:t>
            </a:r>
            <a:r>
              <a:rPr lang="en-US" sz="2000" baseline="-25000" dirty="0"/>
              <a:t>(1,4) </a:t>
            </a:r>
            <a:r>
              <a:rPr lang="en-US" sz="2000" dirty="0"/>
              <a:t> =1</a:t>
            </a:r>
          </a:p>
          <a:p>
            <a:r>
              <a:rPr lang="en-US" sz="2000" dirty="0"/>
              <a:t>		X</a:t>
            </a:r>
            <a:r>
              <a:rPr lang="en-US" sz="2000" baseline="-25000" dirty="0"/>
              <a:t>(2,3)</a:t>
            </a:r>
            <a:r>
              <a:rPr lang="en-US" sz="2000" dirty="0"/>
              <a:t> + X</a:t>
            </a:r>
            <a:r>
              <a:rPr lang="en-US" sz="2000" baseline="-25000" dirty="0"/>
              <a:t>(2,4)  </a:t>
            </a:r>
            <a:r>
              <a:rPr lang="en-US" sz="2000" dirty="0"/>
              <a:t>- X</a:t>
            </a:r>
            <a:r>
              <a:rPr lang="en-US" sz="2000" baseline="-25000" dirty="0"/>
              <a:t>(1,2)  </a:t>
            </a:r>
            <a:r>
              <a:rPr lang="en-US" sz="2000" dirty="0"/>
              <a:t>=0 </a:t>
            </a:r>
          </a:p>
          <a:p>
            <a:r>
              <a:rPr lang="en-US" sz="2000" dirty="0"/>
              <a:t>		X</a:t>
            </a:r>
            <a:r>
              <a:rPr lang="en-US" sz="2000" baseline="-25000" dirty="0"/>
              <a:t>(3,4)</a:t>
            </a:r>
            <a:r>
              <a:rPr lang="en-US" sz="2000" dirty="0"/>
              <a:t> - X</a:t>
            </a:r>
            <a:r>
              <a:rPr lang="en-US" sz="2000" baseline="-25000" dirty="0"/>
              <a:t>(1,3) </a:t>
            </a:r>
            <a:r>
              <a:rPr lang="en-US" sz="2000" dirty="0"/>
              <a:t>- X</a:t>
            </a:r>
            <a:r>
              <a:rPr lang="en-US" sz="2000" baseline="-25000" dirty="0"/>
              <a:t>(2,3)</a:t>
            </a:r>
            <a:r>
              <a:rPr lang="en-US" sz="2000" dirty="0"/>
              <a:t> =0</a:t>
            </a:r>
          </a:p>
          <a:p>
            <a:r>
              <a:rPr lang="en-US" sz="2000" dirty="0"/>
              <a:t>		- X</a:t>
            </a:r>
            <a:r>
              <a:rPr lang="en-US" sz="2000" baseline="-25000" dirty="0"/>
              <a:t>(1,4) </a:t>
            </a:r>
            <a:r>
              <a:rPr lang="en-US" sz="2000" dirty="0"/>
              <a:t> - X</a:t>
            </a:r>
            <a:r>
              <a:rPr lang="en-US" sz="2000" baseline="-25000" dirty="0"/>
              <a:t>(2,4) </a:t>
            </a:r>
            <a:r>
              <a:rPr lang="en-US" sz="2000" dirty="0"/>
              <a:t>- X</a:t>
            </a:r>
            <a:r>
              <a:rPr lang="en-US" sz="2000" baseline="-25000" dirty="0"/>
              <a:t>(3,4)</a:t>
            </a:r>
            <a:r>
              <a:rPr lang="en-US" sz="2000" dirty="0"/>
              <a:t> =-1</a:t>
            </a:r>
          </a:p>
          <a:p>
            <a:r>
              <a:rPr lang="en-US" sz="2000" dirty="0"/>
              <a:t>		X(</a:t>
            </a:r>
            <a:r>
              <a:rPr lang="en-US" sz="2000" dirty="0" err="1"/>
              <a:t>ij</a:t>
            </a:r>
            <a:r>
              <a:rPr lang="en-US" sz="2000" dirty="0"/>
              <a:t>)&gt;=0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CE5DA4F8-4F2D-46F2-9FAA-2C4E5AEDFDCF}"/>
              </a:ext>
            </a:extLst>
          </p:cNvPr>
          <p:cNvSpPr/>
          <p:nvPr/>
        </p:nvSpPr>
        <p:spPr>
          <a:xfrm>
            <a:off x="8518628" y="3687646"/>
            <a:ext cx="239422" cy="287424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6506ECE6-BCAD-4176-873F-EA7054F33904}"/>
              </a:ext>
            </a:extLst>
          </p:cNvPr>
          <p:cNvSpPr/>
          <p:nvPr/>
        </p:nvSpPr>
        <p:spPr>
          <a:xfrm>
            <a:off x="8518628" y="4183855"/>
            <a:ext cx="239422" cy="287424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CB4ED9D-60BA-4DC7-A53B-F0EFED3352DD}"/>
              </a:ext>
            </a:extLst>
          </p:cNvPr>
          <p:cNvSpPr/>
          <p:nvPr/>
        </p:nvSpPr>
        <p:spPr>
          <a:xfrm>
            <a:off x="8518628" y="4591076"/>
            <a:ext cx="239422" cy="132963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3F12FEC2-3798-42B4-AE99-70B382FB29CD}"/>
              </a:ext>
            </a:extLst>
          </p:cNvPr>
          <p:cNvSpPr/>
          <p:nvPr/>
        </p:nvSpPr>
        <p:spPr>
          <a:xfrm>
            <a:off x="477129" y="2342693"/>
            <a:ext cx="538480" cy="1634948"/>
          </a:xfrm>
          <a:prstGeom prst="curvedRightArrow">
            <a:avLst>
              <a:gd name="adj1" fmla="val 0"/>
              <a:gd name="adj2" fmla="val 63313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8314843B-7787-47FE-9BA7-FD243E5E3F8A}"/>
              </a:ext>
            </a:extLst>
          </p:cNvPr>
          <p:cNvSpPr/>
          <p:nvPr/>
        </p:nvSpPr>
        <p:spPr>
          <a:xfrm>
            <a:off x="449878" y="2718612"/>
            <a:ext cx="538480" cy="1713795"/>
          </a:xfrm>
          <a:prstGeom prst="curvedRightArrow">
            <a:avLst>
              <a:gd name="adj1" fmla="val 0"/>
              <a:gd name="adj2" fmla="val 63313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F66CEA-D61B-4068-A762-4579D6C1DEB9}"/>
              </a:ext>
            </a:extLst>
          </p:cNvPr>
          <p:cNvSpPr txBox="1"/>
          <p:nvPr/>
        </p:nvSpPr>
        <p:spPr>
          <a:xfrm>
            <a:off x="8878853" y="3646692"/>
            <a:ext cx="1587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objective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56B589-176B-456A-91D5-C8764E4C1AF6}"/>
              </a:ext>
            </a:extLst>
          </p:cNvPr>
          <p:cNvSpPr txBox="1"/>
          <p:nvPr/>
        </p:nvSpPr>
        <p:spPr>
          <a:xfrm>
            <a:off x="8920610" y="4142901"/>
            <a:ext cx="1587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objective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811F61-5F04-444B-8D42-232D9E215B4A}"/>
              </a:ext>
            </a:extLst>
          </p:cNvPr>
          <p:cNvSpPr txBox="1"/>
          <p:nvPr/>
        </p:nvSpPr>
        <p:spPr>
          <a:xfrm>
            <a:off x="8920610" y="4834341"/>
            <a:ext cx="2010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Flow-balance constraints         (and nonnegativity)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B437DD-697D-4256-A6F8-768111CB6446}"/>
              </a:ext>
            </a:extLst>
          </p:cNvPr>
          <p:cNvSpPr txBox="1"/>
          <p:nvPr/>
        </p:nvSpPr>
        <p:spPr>
          <a:xfrm>
            <a:off x="2815630" y="6308209"/>
            <a:ext cx="4433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Order of the objectives does not matter!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B42A5B-2EBD-4578-88F0-96EC7C6DB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39" y="2124936"/>
            <a:ext cx="1487109" cy="11575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A0BC0B-7883-40F5-B0D5-7878B1147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533" y="2124936"/>
            <a:ext cx="1538601" cy="115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7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Multi-objective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single-objective optimization models, we seek an optimum solution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Optimum solution: </a:t>
            </a:r>
            <a:r>
              <a:rPr lang="en-US" dirty="0"/>
              <a:t>A feasible solution such that there does not exist another feasible solution which is better in terms of the single objective function value!</a:t>
            </a:r>
          </a:p>
          <a:p>
            <a:r>
              <a:rPr lang="en-US" dirty="0"/>
              <a:t>For multi-objective optimization models, the optimum cannot be defined because of multiple objectives</a:t>
            </a:r>
          </a:p>
          <a:p>
            <a:pPr lvl="1"/>
            <a:r>
              <a:rPr lang="en-US" dirty="0"/>
              <a:t>Based on each objective, we have an optimum solution</a:t>
            </a:r>
          </a:p>
          <a:p>
            <a:pPr lvl="1"/>
            <a:r>
              <a:rPr lang="en-US" dirty="0"/>
              <a:t>An optimum solution for one objective is not necessarily optimum for the other objective(s)</a:t>
            </a:r>
          </a:p>
          <a:p>
            <a:r>
              <a:rPr lang="en-US" b="1" u="sng" dirty="0"/>
              <a:t>Recall: A multi-objective shortest path problem (not in the textbook):</a:t>
            </a:r>
          </a:p>
          <a:p>
            <a:r>
              <a:rPr lang="en-US" sz="2400" dirty="0"/>
              <a:t>Shortest-distance path: </a:t>
            </a:r>
            <a:r>
              <a:rPr lang="en-US" sz="2400" dirty="0">
                <a:sym typeface="Wingdings" panose="05000000000000000000" pitchFamily="2" charset="2"/>
              </a:rPr>
              <a:t>134 with 12 kms in total</a:t>
            </a:r>
          </a:p>
          <a:p>
            <a:r>
              <a:rPr lang="en-US" sz="2400" dirty="0">
                <a:sym typeface="Wingdings" panose="05000000000000000000" pitchFamily="2" charset="2"/>
              </a:rPr>
              <a:t>Shortest-time path: 1234 with 20 mins in total</a:t>
            </a:r>
            <a:endParaRPr lang="en-US" sz="2400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4CFCA-9D37-4881-B574-DEC29F413351}"/>
              </a:ext>
            </a:extLst>
          </p:cNvPr>
          <p:cNvSpPr txBox="1"/>
          <p:nvPr/>
        </p:nvSpPr>
        <p:spPr>
          <a:xfrm>
            <a:off x="8041640" y="5308600"/>
            <a:ext cx="3672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</a:t>
            </a:r>
            <a:r>
              <a:rPr lang="en-US" i="1" dirty="0"/>
              <a:t>Bi-objective Shortest Path.xlsx</a:t>
            </a:r>
          </a:p>
        </p:txBody>
      </p:sp>
    </p:spTree>
    <p:extLst>
      <p:ext uri="{BB962C8B-B14F-4D97-AF65-F5344CB8AC3E}">
        <p14:creationId xmlns:p14="http://schemas.microsoft.com/office/powerpoint/2010/main" val="193174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Multi-objective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Recall: A multi-objective shortest path problem (not in the textbook):</a:t>
            </a:r>
          </a:p>
          <a:p>
            <a:r>
              <a:rPr lang="en-US" sz="2400" dirty="0"/>
              <a:t>Closer look at the paths: we have 4 paths in total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Path 1: </a:t>
            </a:r>
            <a:r>
              <a:rPr lang="en-US" sz="2000" dirty="0"/>
              <a:t>1</a:t>
            </a:r>
            <a:r>
              <a:rPr lang="en-US" sz="2000" dirty="0">
                <a:sym typeface="Wingdings" panose="05000000000000000000" pitchFamily="2" charset="2"/>
              </a:rPr>
              <a:t>24</a:t>
            </a:r>
            <a:r>
              <a:rPr lang="en-US" sz="2000" dirty="0"/>
              <a:t> has 13 kms, takes 25 mins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Path 2: </a:t>
            </a:r>
            <a:r>
              <a:rPr lang="en-US" sz="2000" dirty="0"/>
              <a:t>1</a:t>
            </a:r>
            <a:r>
              <a:rPr lang="en-US" sz="2000" dirty="0">
                <a:sym typeface="Wingdings" panose="05000000000000000000" pitchFamily="2" charset="2"/>
              </a:rPr>
              <a:t>234 has 15 kms, takes 20 mins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Path 3: </a:t>
            </a:r>
            <a:r>
              <a:rPr lang="en-US" sz="2000" dirty="0"/>
              <a:t>1</a:t>
            </a:r>
            <a:r>
              <a:rPr lang="en-US" sz="2000" dirty="0">
                <a:sym typeface="Wingdings" panose="05000000000000000000" pitchFamily="2" charset="2"/>
              </a:rPr>
              <a:t>34 has 12 kms, takes 35 mins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Path 4: </a:t>
            </a:r>
            <a:r>
              <a:rPr lang="en-US" sz="2000" dirty="0"/>
              <a:t>1</a:t>
            </a:r>
            <a:r>
              <a:rPr lang="en-US" sz="2000" dirty="0">
                <a:sym typeface="Wingdings" panose="05000000000000000000" pitchFamily="2" charset="2"/>
              </a:rPr>
              <a:t>4 has 14 kms, takes 30 mins</a:t>
            </a:r>
          </a:p>
          <a:p>
            <a:r>
              <a:rPr lang="en-US" sz="2400" dirty="0">
                <a:sym typeface="Wingdings" panose="05000000000000000000" pitchFamily="2" charset="2"/>
              </a:rPr>
              <a:t>Which path to select?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Based on distance, select Path 3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Based on time, select Path 2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How about Path 1?</a:t>
            </a:r>
          </a:p>
          <a:p>
            <a:pPr lvl="2"/>
            <a:r>
              <a:rPr lang="en-US" sz="1600" dirty="0">
                <a:sym typeface="Wingdings" panose="05000000000000000000" pitchFamily="2" charset="2"/>
              </a:rPr>
              <a:t>It has more distance than Path 3, but it takes less time than Path 3</a:t>
            </a:r>
          </a:p>
          <a:p>
            <a:pPr lvl="2"/>
            <a:r>
              <a:rPr lang="en-US" sz="1600" dirty="0">
                <a:sym typeface="Wingdings" panose="05000000000000000000" pitchFamily="2" charset="2"/>
              </a:rPr>
              <a:t>It takes more time than Path 2, but it has less distance than Path 2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How about Path 4?</a:t>
            </a:r>
          </a:p>
          <a:p>
            <a:pPr lvl="2"/>
            <a:r>
              <a:rPr lang="en-US" sz="1600" dirty="0">
                <a:sym typeface="Wingdings" panose="05000000000000000000" pitchFamily="2" charset="2"/>
              </a:rPr>
              <a:t>Well, Path 1 has less distance as well as less time than Path 4 does</a:t>
            </a:r>
            <a:endParaRPr lang="en-US" sz="1600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695AE1-D982-40A1-8E6D-538B2EA6D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671" y="2124936"/>
            <a:ext cx="2137650" cy="1663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56FE4D-50CA-40ED-B7C9-CD48BD4A2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773" y="2124936"/>
            <a:ext cx="2211667" cy="1658010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559EB4FD-BCB2-49FE-8FC7-B821D7496174}"/>
              </a:ext>
            </a:extLst>
          </p:cNvPr>
          <p:cNvSpPr/>
          <p:nvPr/>
        </p:nvSpPr>
        <p:spPr>
          <a:xfrm>
            <a:off x="7284720" y="5006814"/>
            <a:ext cx="233810" cy="63706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04F8A-BD77-4435-A2B6-1663C7BCA59A}"/>
              </a:ext>
            </a:extLst>
          </p:cNvPr>
          <p:cNvSpPr txBox="1"/>
          <p:nvPr/>
        </p:nvSpPr>
        <p:spPr>
          <a:xfrm>
            <a:off x="7904480" y="5085080"/>
            <a:ext cx="200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not bad?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14675BE-9197-4B43-BB08-F18BC6814536}"/>
              </a:ext>
            </a:extLst>
          </p:cNvPr>
          <p:cNvSpPr/>
          <p:nvPr/>
        </p:nvSpPr>
        <p:spPr>
          <a:xfrm>
            <a:off x="7284720" y="5869473"/>
            <a:ext cx="233810" cy="47036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CA7754-4CB0-4815-8546-1318155C7FD7}"/>
              </a:ext>
            </a:extLst>
          </p:cNvPr>
          <p:cNvSpPr txBox="1"/>
          <p:nvPr/>
        </p:nvSpPr>
        <p:spPr>
          <a:xfrm>
            <a:off x="7858760" y="5857805"/>
            <a:ext cx="200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NO</a:t>
            </a:r>
          </a:p>
        </p:txBody>
      </p:sp>
    </p:spTree>
    <p:extLst>
      <p:ext uri="{BB962C8B-B14F-4D97-AF65-F5344CB8AC3E}">
        <p14:creationId xmlns:p14="http://schemas.microsoft.com/office/powerpoint/2010/main" val="49254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generic formulation:</a:t>
            </a:r>
          </a:p>
          <a:p>
            <a:pPr lvl="1"/>
            <a:r>
              <a:rPr lang="en-US" dirty="0"/>
              <a:t>𝒙: decision variables vector</a:t>
            </a:r>
          </a:p>
          <a:p>
            <a:pPr lvl="1"/>
            <a:r>
              <a:rPr lang="en-US" dirty="0"/>
              <a:t>𝑓</a:t>
            </a:r>
            <a:r>
              <a:rPr lang="en-US" baseline="-25000" dirty="0"/>
              <a:t>i</a:t>
            </a:r>
            <a:r>
              <a:rPr lang="en-US" dirty="0"/>
              <a:t>(𝒙): </a:t>
            </a:r>
            <a:r>
              <a:rPr lang="en-US" dirty="0" err="1"/>
              <a:t>ith</a:t>
            </a:r>
            <a:r>
              <a:rPr lang="en-US" dirty="0"/>
              <a:t> objective function, i=1,2,…,n</a:t>
            </a:r>
          </a:p>
          <a:p>
            <a:pPr lvl="1"/>
            <a:r>
              <a:rPr lang="en-US" dirty="0"/>
              <a:t>X is the set of feasible solutions</a:t>
            </a:r>
          </a:p>
          <a:p>
            <a:pPr lvl="2"/>
            <a:r>
              <a:rPr lang="en-US" dirty="0"/>
              <a:t>For linear programming model, for instance, X={</a:t>
            </a:r>
            <a:r>
              <a:rPr lang="en-US" b="1" dirty="0"/>
              <a:t>x</a:t>
            </a:r>
            <a:r>
              <a:rPr lang="en-US" dirty="0"/>
              <a:t>: A</a:t>
            </a:r>
            <a:r>
              <a:rPr lang="en-US" b="1" dirty="0"/>
              <a:t>x</a:t>
            </a:r>
            <a:r>
              <a:rPr lang="en-US" dirty="0"/>
              <a:t>&lt;=b, </a:t>
            </a:r>
            <a:r>
              <a:rPr lang="en-US" b="1" dirty="0"/>
              <a:t>x</a:t>
            </a:r>
            <a:r>
              <a:rPr lang="en-US" dirty="0"/>
              <a:t>&gt;=0}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F006463-8F9A-4082-8CF6-5724FAE27E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161497"/>
                  </p:ext>
                </p:extLst>
              </p:nvPr>
            </p:nvGraphicFramePr>
            <p:xfrm>
              <a:off x="1398270" y="3591560"/>
              <a:ext cx="6096000" cy="18338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3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03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F006463-8F9A-4082-8CF6-5724FAE27E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161497"/>
                  </p:ext>
                </p:extLst>
              </p:nvPr>
            </p:nvGraphicFramePr>
            <p:xfrm>
              <a:off x="1398270" y="3591560"/>
              <a:ext cx="6096000" cy="18338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998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00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1667" r="-99800" b="-3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00" t="-101667" b="-3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1667" r="-99800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00" t="-301667" b="-1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01667" r="-99800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00" t="-401667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534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multi-objective optimization models, we define Pareto efficient solutions</a:t>
            </a:r>
          </a:p>
          <a:p>
            <a:r>
              <a:rPr lang="en-US" b="1" dirty="0">
                <a:solidFill>
                  <a:srgbClr val="C00000"/>
                </a:solidFill>
              </a:rPr>
              <a:t>Pareto efficient solution: </a:t>
            </a:r>
            <a:r>
              <a:rPr lang="en-US" dirty="0"/>
              <a:t>A feasible solution is Pareto efficient (Pareto optimum) if there does not exist another feasible solution that is better in terms of all objectives</a:t>
            </a:r>
          </a:p>
          <a:p>
            <a:pPr lvl="1"/>
            <a:r>
              <a:rPr lang="en-US" dirty="0"/>
              <a:t>𝒙</a:t>
            </a:r>
            <a:r>
              <a:rPr lang="en-US" baseline="30000" dirty="0"/>
              <a:t>𝑎</a:t>
            </a:r>
            <a:r>
              <a:rPr lang="en-US" dirty="0"/>
              <a:t> is Pareto efficient if and only if ∄𝒙</a:t>
            </a:r>
            <a:r>
              <a:rPr lang="en-US" baseline="30000" dirty="0"/>
              <a:t>𝑏</a:t>
            </a:r>
            <a:r>
              <a:rPr lang="en-US" dirty="0"/>
              <a:t>∈𝑋 such that 𝑓𝑖 (𝒙</a:t>
            </a:r>
            <a:r>
              <a:rPr lang="en-US" baseline="30000" dirty="0"/>
              <a:t>𝑏</a:t>
            </a:r>
            <a:r>
              <a:rPr lang="en-US" dirty="0"/>
              <a:t> )≤𝑓𝑖 (𝒙</a:t>
            </a:r>
            <a:r>
              <a:rPr lang="en-US" baseline="30000" dirty="0"/>
              <a:t>𝑎</a:t>
            </a:r>
            <a:r>
              <a:rPr lang="en-US" dirty="0"/>
              <a:t> ) for all i=1,2,…,n and 𝑓𝑖 (𝒙</a:t>
            </a:r>
            <a:r>
              <a:rPr lang="en-US" baseline="30000" dirty="0"/>
              <a:t>𝑏</a:t>
            </a:r>
            <a:r>
              <a:rPr lang="en-US" dirty="0"/>
              <a:t> )&lt;𝑓𝑖 (𝒙</a:t>
            </a:r>
            <a:r>
              <a:rPr lang="en-US" baseline="30000" dirty="0"/>
              <a:t>𝑎</a:t>
            </a:r>
            <a:r>
              <a:rPr lang="en-US" dirty="0"/>
              <a:t> ) for at least one i. </a:t>
            </a:r>
          </a:p>
          <a:p>
            <a:pPr lvl="1"/>
            <a:r>
              <a:rPr lang="en-US" dirty="0"/>
              <a:t>This is also referred to as weak-Pareto efficiency</a:t>
            </a:r>
          </a:p>
          <a:p>
            <a:pPr lvl="1"/>
            <a:r>
              <a:rPr lang="en-US" dirty="0"/>
              <a:t>If all “&lt;=“ are replaced with “&lt;“, then we have strong-Pareto efficiency</a:t>
            </a:r>
          </a:p>
          <a:p>
            <a:r>
              <a:rPr lang="en-US" dirty="0">
                <a:solidFill>
                  <a:srgbClr val="C00000"/>
                </a:solidFill>
              </a:rPr>
              <a:t>Property: </a:t>
            </a:r>
            <a:r>
              <a:rPr lang="en-US" dirty="0"/>
              <a:t>Let 𝒙</a:t>
            </a:r>
            <a:r>
              <a:rPr lang="en-US" baseline="30000" dirty="0"/>
              <a:t>𝑖</a:t>
            </a:r>
            <a:r>
              <a:rPr lang="en-US" dirty="0"/>
              <a:t> be the unique optimum solution for the </a:t>
            </a:r>
            <a:r>
              <a:rPr lang="en-US" dirty="0" err="1"/>
              <a:t>ith</a:t>
            </a:r>
            <a:r>
              <a:rPr lang="en-US" dirty="0"/>
              <a:t> objective function, i.e., 𝒙</a:t>
            </a:r>
            <a:r>
              <a:rPr lang="en-US" baseline="30000" dirty="0"/>
              <a:t>𝑖 </a:t>
            </a:r>
            <a:r>
              <a:rPr lang="en-US" dirty="0"/>
              <a:t>=𝑎𝑟𝑔𝑚𝑖𝑛{𝑓𝑖 (𝒙):𝒙∈𝑋}, then 𝒙</a:t>
            </a:r>
            <a:r>
              <a:rPr lang="en-US" baseline="30000" dirty="0"/>
              <a:t>𝑖</a:t>
            </a:r>
            <a:r>
              <a:rPr lang="en-US" dirty="0"/>
              <a:t> is Pareto efficient</a:t>
            </a:r>
          </a:p>
          <a:p>
            <a:pPr lvl="1"/>
            <a:r>
              <a:rPr lang="en-US" dirty="0"/>
              <a:t>This is by definition… Since 𝒙</a:t>
            </a:r>
            <a:r>
              <a:rPr lang="en-US" baseline="30000" dirty="0"/>
              <a:t>𝑖</a:t>
            </a:r>
            <a:r>
              <a:rPr lang="en-US" dirty="0"/>
              <a:t> is the unique optimum solution for the </a:t>
            </a:r>
            <a:r>
              <a:rPr lang="en-US" dirty="0" err="1"/>
              <a:t>ith</a:t>
            </a:r>
            <a:r>
              <a:rPr lang="en-US" dirty="0"/>
              <a:t> objective function, there cannot be some other feasible solution that will be better than 𝒙</a:t>
            </a:r>
            <a:r>
              <a:rPr lang="en-US" baseline="30000" dirty="0"/>
              <a:t>𝑖</a:t>
            </a:r>
            <a:r>
              <a:rPr lang="en-US" dirty="0"/>
              <a:t> for the </a:t>
            </a:r>
            <a:r>
              <a:rPr lang="en-US" dirty="0" err="1"/>
              <a:t>ith</a:t>
            </a:r>
            <a:r>
              <a:rPr lang="en-US" dirty="0"/>
              <a:t> objective function. Thus, 𝒙</a:t>
            </a:r>
            <a:r>
              <a:rPr lang="en-US" baseline="30000" dirty="0"/>
              <a:t>𝑖</a:t>
            </a:r>
            <a:r>
              <a:rPr lang="en-US" dirty="0"/>
              <a:t> is a Pareto efficient 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4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Recall: A multi-objective shortest path problem (not in the textbook):</a:t>
            </a:r>
          </a:p>
          <a:p>
            <a:r>
              <a:rPr lang="en-US" sz="2400" dirty="0"/>
              <a:t>Closer look at the paths: we have 4 paths in total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Path 1: </a:t>
            </a:r>
            <a:r>
              <a:rPr lang="en-US" sz="2000" dirty="0"/>
              <a:t>1</a:t>
            </a:r>
            <a:r>
              <a:rPr lang="en-US" sz="2000" dirty="0">
                <a:sym typeface="Wingdings" panose="05000000000000000000" pitchFamily="2" charset="2"/>
              </a:rPr>
              <a:t>24</a:t>
            </a:r>
            <a:r>
              <a:rPr lang="en-US" sz="2000" dirty="0"/>
              <a:t> has 13 kms, takes 25 mins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Path 2: </a:t>
            </a:r>
            <a:r>
              <a:rPr lang="en-US" sz="2000" dirty="0"/>
              <a:t>1</a:t>
            </a:r>
            <a:r>
              <a:rPr lang="en-US" sz="2000" dirty="0">
                <a:sym typeface="Wingdings" panose="05000000000000000000" pitchFamily="2" charset="2"/>
              </a:rPr>
              <a:t>234 has 15 kms, takes 20 mins Shortest-time path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Path 3: </a:t>
            </a:r>
            <a:r>
              <a:rPr lang="en-US" sz="2000" dirty="0"/>
              <a:t>1</a:t>
            </a:r>
            <a:r>
              <a:rPr lang="en-US" sz="2000" dirty="0">
                <a:sym typeface="Wingdings" panose="05000000000000000000" pitchFamily="2" charset="2"/>
              </a:rPr>
              <a:t>34 has 12 kms, takes 35 mins  Shortest-distance path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Path 4: </a:t>
            </a:r>
            <a:r>
              <a:rPr lang="en-US" sz="2000" dirty="0"/>
              <a:t>1</a:t>
            </a:r>
            <a:r>
              <a:rPr lang="en-US" sz="2000" dirty="0">
                <a:sym typeface="Wingdings" panose="05000000000000000000" pitchFamily="2" charset="2"/>
              </a:rPr>
              <a:t>4 has 14 kms, takes 30 mins</a:t>
            </a:r>
          </a:p>
          <a:p>
            <a:r>
              <a:rPr lang="en-US" sz="2400" dirty="0">
                <a:sym typeface="Wingdings" panose="05000000000000000000" pitchFamily="2" charset="2"/>
              </a:rPr>
              <a:t>Path 3 is Pareto efficient as it is the unique optimum for 1</a:t>
            </a:r>
            <a:r>
              <a:rPr lang="en-US" sz="2400" baseline="30000" dirty="0">
                <a:sym typeface="Wingdings" panose="05000000000000000000" pitchFamily="2" charset="2"/>
              </a:rPr>
              <a:t>st</a:t>
            </a:r>
            <a:r>
              <a:rPr lang="en-US" sz="2400" dirty="0">
                <a:sym typeface="Wingdings" panose="05000000000000000000" pitchFamily="2" charset="2"/>
              </a:rPr>
              <a:t> objective function (distance)</a:t>
            </a:r>
          </a:p>
          <a:p>
            <a:r>
              <a:rPr lang="en-US" sz="2400" dirty="0">
                <a:sym typeface="Wingdings" panose="05000000000000000000" pitchFamily="2" charset="2"/>
              </a:rPr>
              <a:t>Path 2 is Pareto efficient as it is the unique optimum for 2</a:t>
            </a:r>
            <a:r>
              <a:rPr lang="en-US" sz="2400" baseline="30000" dirty="0">
                <a:sym typeface="Wingdings" panose="05000000000000000000" pitchFamily="2" charset="2"/>
              </a:rPr>
              <a:t>nd</a:t>
            </a:r>
            <a:r>
              <a:rPr lang="en-US" sz="2400" dirty="0">
                <a:sym typeface="Wingdings" panose="05000000000000000000" pitchFamily="2" charset="2"/>
              </a:rPr>
              <a:t> objective function (time)</a:t>
            </a:r>
          </a:p>
          <a:p>
            <a:r>
              <a:rPr lang="en-US" sz="2400" dirty="0">
                <a:sym typeface="Wingdings" panose="05000000000000000000" pitchFamily="2" charset="2"/>
              </a:rPr>
              <a:t>Path 1 is Pareto efficient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There is no other path that has both less time and less distance than Path 1</a:t>
            </a:r>
          </a:p>
          <a:p>
            <a:r>
              <a:rPr lang="en-US" sz="2400" dirty="0">
                <a:sym typeface="Wingdings" panose="05000000000000000000" pitchFamily="2" charset="2"/>
              </a:rPr>
              <a:t>Path 4 is not Pareto efficient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Path 1 has less time and less distance than Path 4 does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Path 1 </a:t>
            </a:r>
            <a:r>
              <a:rPr lang="en-US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Pareto dominates </a:t>
            </a:r>
            <a:r>
              <a:rPr lang="en-US" sz="2000" dirty="0">
                <a:sym typeface="Wingdings" panose="05000000000000000000" pitchFamily="2" charset="2"/>
              </a:rPr>
              <a:t>Path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39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Non-dominated Point vs. Pareto efficient solution</a:t>
            </a:r>
          </a:p>
          <a:p>
            <a:pPr lvl="1"/>
            <a:r>
              <a:rPr lang="en-US" dirty="0"/>
              <a:t>A non-dominated point is the point defined by the objective function values of a Pareto efficient solution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It is possible that several Pareto efficient solutions correspond to the same non-dominated point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Pareto Front </a:t>
            </a:r>
            <a:r>
              <a:rPr lang="en-US" dirty="0"/>
              <a:t>is the set of non-dominated points</a:t>
            </a:r>
          </a:p>
          <a:p>
            <a:endParaRPr lang="en-US" dirty="0"/>
          </a:p>
        </p:txBody>
      </p:sp>
      <p:pic>
        <p:nvPicPr>
          <p:cNvPr id="4" name="Picture 2" descr="https://www.researchgate.net/profile/Francisco_Toro2/publication/258108308/figure/fig1/AS:297560603414540@1447955384541/Fig-1-Decision-space-Objective-space-and-Pareto-front-in-a-multiobjective-optimization.png">
            <a:extLst>
              <a:ext uri="{FF2B5EF4-FFF2-40B4-BE49-F238E27FC236}">
                <a16:creationId xmlns:a16="http://schemas.microsoft.com/office/drawing/2014/main" id="{C10ACA01-4EB3-48F4-9850-E311B52F6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2612655"/>
            <a:ext cx="4831080" cy="212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743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Concepts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u="sng" dirty="0"/>
                  <a:t>Recall: A multi-objective shortest path problem (not in the textbook):</a:t>
                </a:r>
              </a:p>
              <a:p>
                <a:r>
                  <a:rPr lang="en-US" dirty="0"/>
                  <a:t>Paths in the objective space!</a:t>
                </a:r>
              </a:p>
              <a:p>
                <a:pPr lvl="1"/>
                <a:r>
                  <a:rPr lang="en-US" dirty="0"/>
                  <a:t>Paths 1, 2, and 3 is in the Pareto Front</a:t>
                </a:r>
              </a:p>
              <a:p>
                <a:pPr lvl="2"/>
                <a:r>
                  <a:rPr lang="en-US" dirty="0"/>
                  <a:t>Paths 1, 2, and 3 are non-dominated</a:t>
                </a:r>
              </a:p>
              <a:p>
                <a:pPr lvl="2"/>
                <a:r>
                  <a:rPr lang="en-US" dirty="0"/>
                  <a:t>Paths 1, 2, and 3 are Pareto efficient</a:t>
                </a:r>
              </a:p>
              <a:p>
                <a:pPr lvl="1"/>
                <a:r>
                  <a:rPr lang="en-US" dirty="0"/>
                  <a:t>Path 4 is not in the Pareto Front</a:t>
                </a:r>
              </a:p>
              <a:p>
                <a:pPr lvl="2"/>
                <a:r>
                  <a:rPr lang="en-US" dirty="0"/>
                  <a:t>Path 4 is dominated (by Path 1)</a:t>
                </a:r>
              </a:p>
              <a:p>
                <a:pPr lvl="2"/>
                <a:r>
                  <a:rPr lang="en-US" dirty="0"/>
                  <a:t>Path 4 is not Pareto efficient</a:t>
                </a:r>
              </a:p>
              <a:p>
                <a:pPr lvl="1"/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Ideal Point: </a:t>
                </a:r>
                <a:r>
                  <a:rPr lang="en-US" dirty="0"/>
                  <a:t>A point on the objective space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 where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Generally, there is no feasible solution corresponding to the ideal point! </a:t>
                </a:r>
                <a:r>
                  <a:rPr lang="en-US" dirty="0">
                    <a:sym typeface="Wingdings" panose="05000000000000000000" pitchFamily="2" charset="2"/>
                  </a:rPr>
                  <a:t>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Because, most of the times, objective functions are conflicting!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4" t="-2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6535338-87D7-4808-971A-835FEB5F0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320" y="1799058"/>
            <a:ext cx="4119964" cy="295843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25351D9-1C9F-4817-91D3-FDE29A039A99}"/>
              </a:ext>
            </a:extLst>
          </p:cNvPr>
          <p:cNvSpPr/>
          <p:nvPr/>
        </p:nvSpPr>
        <p:spPr>
          <a:xfrm>
            <a:off x="8061960" y="3876040"/>
            <a:ext cx="269240" cy="2743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5F58F52A-1DDC-493B-9746-181D6AE6BE31}"/>
              </a:ext>
            </a:extLst>
          </p:cNvPr>
          <p:cNvSpPr/>
          <p:nvPr/>
        </p:nvSpPr>
        <p:spPr>
          <a:xfrm>
            <a:off x="5806440" y="4206240"/>
            <a:ext cx="1513840" cy="670560"/>
          </a:xfrm>
          <a:prstGeom prst="wedgeEllipseCallout">
            <a:avLst>
              <a:gd name="adj1" fmla="val 105271"/>
              <a:gd name="adj2" fmla="val -74637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Ideal Point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118737-9076-4BEE-B2ED-A699C0557B36}"/>
              </a:ext>
            </a:extLst>
          </p:cNvPr>
          <p:cNvSpPr/>
          <p:nvPr/>
        </p:nvSpPr>
        <p:spPr>
          <a:xfrm>
            <a:off x="7980680" y="2352040"/>
            <a:ext cx="375920" cy="3962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46772F-7F22-449C-B5F2-434843A79FBF}"/>
              </a:ext>
            </a:extLst>
          </p:cNvPr>
          <p:cNvSpPr/>
          <p:nvPr/>
        </p:nvSpPr>
        <p:spPr>
          <a:xfrm>
            <a:off x="8610600" y="3326903"/>
            <a:ext cx="375920" cy="3962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C9F00C-7998-48E7-B6B5-6331919DDB89}"/>
              </a:ext>
            </a:extLst>
          </p:cNvPr>
          <p:cNvSpPr/>
          <p:nvPr/>
        </p:nvSpPr>
        <p:spPr>
          <a:xfrm>
            <a:off x="9804400" y="3810000"/>
            <a:ext cx="375920" cy="3962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4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solution concepts for multi-objective optimization problems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Reduction to Single-Objective Model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Represent the problem as a single objective model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Find the optimum solution for the resulting single-objective optimization problem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How to get the single objective function?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Pareto front Generation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Generate all (or most) of the Pareto efficient solutions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Might be challenging!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Also, returns multiple solutions, and the decision maker might still need to select one solution!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54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Introduction and Solution Concepts</a:t>
            </a:r>
          </a:p>
          <a:p>
            <a:r>
              <a:rPr lang="en-US" dirty="0"/>
              <a:t>Single-objective Reduction</a:t>
            </a:r>
          </a:p>
          <a:p>
            <a:r>
              <a:rPr lang="en-US" dirty="0">
                <a:solidFill>
                  <a:schemeClr val="bg2"/>
                </a:solidFill>
              </a:rPr>
              <a:t>Pareto Front Generation</a:t>
            </a:r>
          </a:p>
          <a:p>
            <a:r>
              <a:rPr lang="en-US" dirty="0">
                <a:solidFill>
                  <a:schemeClr val="bg2"/>
                </a:solidFill>
              </a:rPr>
              <a:t>Epsilon-constraint Method Example</a:t>
            </a:r>
          </a:p>
          <a:p>
            <a:r>
              <a:rPr lang="en-US" dirty="0">
                <a:solidFill>
                  <a:schemeClr val="bg2"/>
                </a:solidFill>
              </a:rPr>
              <a:t>Goal Programming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Weighted Goal Programming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Preemptive Goal Programming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31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to Single-Objective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idea is to convert the multi-objective model into a single-objective model, and find the optimum solution for this single-objective model</a:t>
            </a:r>
          </a:p>
          <a:p>
            <a:pPr lvl="1"/>
            <a:r>
              <a:rPr lang="en-US" dirty="0"/>
              <a:t>Ultimately, the decision maker might seek to get one solution to implement</a:t>
            </a:r>
          </a:p>
          <a:p>
            <a:r>
              <a:rPr lang="en-US" dirty="0"/>
              <a:t>There are different ways to reduce a multi-objective model to a single-objective model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Supervised methods: </a:t>
            </a:r>
            <a:r>
              <a:rPr lang="en-US" dirty="0"/>
              <a:t>The decision maker plays an active role in how the different objectives are combined into a single objective function</a:t>
            </a:r>
          </a:p>
          <a:p>
            <a:pPr lvl="2"/>
            <a:r>
              <a:rPr lang="en-US" dirty="0"/>
              <a:t>Typically, ranking (weighting) methods are supervised methods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Unsupervised methods: </a:t>
            </a:r>
            <a:r>
              <a:rPr lang="en-US" dirty="0"/>
              <a:t>The decision maker does not directly intervene in reducing the multi-objective model into a single-objective 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Supervised methods: </a:t>
            </a:r>
            <a:r>
              <a:rPr lang="en-US" dirty="0"/>
              <a:t>The decision maker plays an active role in how the different objectives are combined into a single objective function</a:t>
            </a:r>
          </a:p>
          <a:p>
            <a:pPr lvl="1"/>
            <a:r>
              <a:rPr lang="en-US" b="1" dirty="0"/>
              <a:t>Goal programming: </a:t>
            </a:r>
            <a:r>
              <a:rPr lang="en-US" dirty="0"/>
              <a:t>focus deviations of the objectives from defined goals (weighted or preemptive)</a:t>
            </a:r>
          </a:p>
          <a:p>
            <a:pPr lvl="1"/>
            <a:r>
              <a:rPr lang="en-US" b="1" dirty="0"/>
              <a:t>Ranking/weighting approach: </a:t>
            </a:r>
            <a:r>
              <a:rPr lang="en-US" dirty="0"/>
              <a:t>The decision maker ranks the objectives based on expertise, needs, importance…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u="sng" dirty="0"/>
              <a:t>Points to be careful: </a:t>
            </a:r>
            <a:r>
              <a:rPr lang="en-US" dirty="0"/>
              <a:t>When the objective functions have different units (say time vs. distance), you cannot just get a meaningful single-objective function as the weighted sum of the objective functions (e.g., </a:t>
            </a:r>
            <a:r>
              <a:rPr lang="en-US" dirty="0" err="1"/>
              <a:t>time+cost</a:t>
            </a:r>
            <a:r>
              <a:rPr lang="en-US" dirty="0"/>
              <a:t> is not meaningful)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ABDD65A-C8FF-4B61-B930-41771D9CEA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7496771"/>
                  </p:ext>
                </p:extLst>
              </p:nvPr>
            </p:nvGraphicFramePr>
            <p:xfrm>
              <a:off x="1609538" y="3662680"/>
              <a:ext cx="4067810" cy="18338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339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39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3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03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ABDD65A-C8FF-4B61-B930-41771D9CEA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7496771"/>
                  </p:ext>
                </p:extLst>
              </p:nvPr>
            </p:nvGraphicFramePr>
            <p:xfrm>
              <a:off x="1609538" y="3662680"/>
              <a:ext cx="4067810" cy="18338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339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39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100000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b="-4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1667" r="-100000" b="-3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01667" b="-3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3333" r="-100000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303333" b="-1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03333" r="-100000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403333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8796FE2-AA61-40A1-96FD-AC8ED8EE7B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3883419"/>
                  </p:ext>
                </p:extLst>
              </p:nvPr>
            </p:nvGraphicFramePr>
            <p:xfrm>
              <a:off x="5032562" y="4140200"/>
              <a:ext cx="6741160" cy="736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629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7823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8796FE2-AA61-40A1-96FD-AC8ED8EE7B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3883419"/>
                  </p:ext>
                </p:extLst>
              </p:nvPr>
            </p:nvGraphicFramePr>
            <p:xfrm>
              <a:off x="5032562" y="4140200"/>
              <a:ext cx="6741160" cy="736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629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7823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22654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4141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1667" r="-226549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4141" t="-101667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B42814FC-5D9F-4A8D-9514-EA0EAC8FFC5A}"/>
              </a:ext>
            </a:extLst>
          </p:cNvPr>
          <p:cNvSpPr/>
          <p:nvPr/>
        </p:nvSpPr>
        <p:spPr>
          <a:xfrm>
            <a:off x="4724400" y="3759200"/>
            <a:ext cx="563880" cy="160020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6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Supervised methods: </a:t>
                </a:r>
                <a:r>
                  <a:rPr lang="en-US" dirty="0"/>
                  <a:t>The decision maker plays an active role in how the different objectives are combined into a single objective function</a:t>
                </a:r>
              </a:p>
              <a:p>
                <a:pPr lvl="1"/>
                <a:r>
                  <a:rPr lang="en-US" dirty="0"/>
                  <a:t>Use normalized weighting approach!</a:t>
                </a:r>
              </a:p>
              <a:p>
                <a:pPr lvl="2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is the optimum objective function value objective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648CBEF-10CB-486B-9922-D07C28A90C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6205043"/>
                  </p:ext>
                </p:extLst>
              </p:nvPr>
            </p:nvGraphicFramePr>
            <p:xfrm>
              <a:off x="1025338" y="3505200"/>
              <a:ext cx="2799902" cy="152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999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9995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1521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521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2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521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1521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648CBEF-10CB-486B-9922-D07C28A90C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6205043"/>
                  </p:ext>
                </p:extLst>
              </p:nvPr>
            </p:nvGraphicFramePr>
            <p:xfrm>
              <a:off x="1025338" y="3505200"/>
              <a:ext cx="2799902" cy="152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999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9995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100000" b="-4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b="-40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r="-100000" b="-3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100000" b="-30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00000" r="-100000" b="-1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300000" b="-10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00000" r="-100000" b="-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400000" b="-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BD41169-6DB4-4CCE-AE41-421F1749FA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6485037"/>
                  </p:ext>
                </p:extLst>
              </p:nvPr>
            </p:nvGraphicFramePr>
            <p:xfrm>
              <a:off x="3522868" y="3511177"/>
              <a:ext cx="3216462" cy="152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082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82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1521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)/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521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)/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2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521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)/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1521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BD41169-6DB4-4CCE-AE41-421F1749FA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6485037"/>
                  </p:ext>
                </p:extLst>
              </p:nvPr>
            </p:nvGraphicFramePr>
            <p:xfrm>
              <a:off x="3522868" y="3511177"/>
              <a:ext cx="3216462" cy="152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082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82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99623" b="-4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379" b="-4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0000" r="-99623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379" t="-100000" b="-3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02000" r="-99623" b="-10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379" t="-302000" b="-10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02000" r="-99623" b="-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379" t="-402000" b="-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563CB509-3060-46FA-A852-483C322936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2661868"/>
                  </p:ext>
                </p:extLst>
              </p:nvPr>
            </p:nvGraphicFramePr>
            <p:xfrm>
              <a:off x="6696150" y="3826859"/>
              <a:ext cx="5376022" cy="88068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451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308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f>
                                      <m:fPr>
                                        <m:ctrlPr>
                                          <a:rPr lang="en-US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+…+</m:t>
                                </m:r>
                                <m:f>
                                  <m:f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563CB509-3060-46FA-A852-483C322936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2661868"/>
                  </p:ext>
                </p:extLst>
              </p:nvPr>
            </p:nvGraphicFramePr>
            <p:xfrm>
              <a:off x="6696150" y="3826859"/>
              <a:ext cx="5376022" cy="88068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451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308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3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227037" b="-9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4046" b="-9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05634" r="-22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4046" t="-105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4847C380-BC81-424A-959B-AB20B5DCE9D7}"/>
              </a:ext>
            </a:extLst>
          </p:cNvPr>
          <p:cNvSpPr/>
          <p:nvPr/>
        </p:nvSpPr>
        <p:spPr>
          <a:xfrm>
            <a:off x="3169752" y="3467100"/>
            <a:ext cx="563880" cy="160020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DA8EC7F0-2C2D-4A27-A99A-22BB8DE31DC5}"/>
              </a:ext>
            </a:extLst>
          </p:cNvPr>
          <p:cNvSpPr/>
          <p:nvPr/>
        </p:nvSpPr>
        <p:spPr>
          <a:xfrm>
            <a:off x="6175450" y="3429000"/>
            <a:ext cx="563880" cy="160020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B0155F5-45B7-43B0-A0EA-16F2537290CE}"/>
              </a:ext>
            </a:extLst>
          </p:cNvPr>
          <p:cNvSpPr/>
          <p:nvPr/>
        </p:nvSpPr>
        <p:spPr>
          <a:xfrm>
            <a:off x="2494112" y="5339080"/>
            <a:ext cx="1915160" cy="92006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Normalization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14D25BE-A483-4FD1-80FE-5C38253C2A13}"/>
              </a:ext>
            </a:extLst>
          </p:cNvPr>
          <p:cNvSpPr/>
          <p:nvPr/>
        </p:nvSpPr>
        <p:spPr>
          <a:xfrm>
            <a:off x="5499810" y="5328964"/>
            <a:ext cx="1915160" cy="92006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Weighting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Flowchart: Alternate Process 13">
                <a:extLst>
                  <a:ext uri="{FF2B5EF4-FFF2-40B4-BE49-F238E27FC236}">
                    <a16:creationId xmlns:a16="http://schemas.microsoft.com/office/drawing/2014/main" id="{29909E23-AE97-4177-9765-CEA643F6D9E9}"/>
                  </a:ext>
                </a:extLst>
              </p:cNvPr>
              <p:cNvSpPr/>
              <p:nvPr/>
            </p:nvSpPr>
            <p:spPr>
              <a:xfrm>
                <a:off x="8505508" y="5105400"/>
                <a:ext cx="3093720" cy="1056596"/>
              </a:xfrm>
              <a:prstGeom prst="flowChartAlternateProcess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Typically,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4" name="Flowchart: Alternate Process 13">
                <a:extLst>
                  <a:ext uri="{FF2B5EF4-FFF2-40B4-BE49-F238E27FC236}">
                    <a16:creationId xmlns:a16="http://schemas.microsoft.com/office/drawing/2014/main" id="{29909E23-AE97-4177-9765-CEA643F6D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5508" y="5105400"/>
                <a:ext cx="3093720" cy="1056596"/>
              </a:xfrm>
              <a:prstGeom prst="flowChartAlternateProcess">
                <a:avLst/>
              </a:prstGeom>
              <a:blipFill>
                <a:blip r:embed="rId7"/>
                <a:stretch>
                  <a:fillRect b="-44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278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/>
                  <a:t>Recall: A multi-objective shortest path problem (not in the textbook):</a:t>
                </a:r>
              </a:p>
              <a:p>
                <a:endParaRPr lang="en-US" b="1" u="sng" dirty="0"/>
              </a:p>
              <a:p>
                <a:endParaRPr lang="en-US" b="1" u="sng" dirty="0"/>
              </a:p>
              <a:p>
                <a:endParaRPr lang="en-US" b="1" u="sng" dirty="0"/>
              </a:p>
              <a:p>
                <a:endParaRPr lang="en-US" b="1" u="sng" dirty="0"/>
              </a:p>
              <a:p>
                <a:pPr lvl="1"/>
                <a:r>
                  <a:rPr lang="en-US" sz="2000" dirty="0"/>
                  <a:t>Say, distance is more important than time (but we are not totally ignoring time), therefore, let’s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en-US" sz="2000" dirty="0"/>
                  <a:t> (weight for distance)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US" sz="2000" dirty="0"/>
                  <a:t> (weight for time)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A53A88C-EC9D-4AA6-AFE2-6CD23E9AA36F}"/>
              </a:ext>
            </a:extLst>
          </p:cNvPr>
          <p:cNvSpPr txBox="1"/>
          <p:nvPr/>
        </p:nvSpPr>
        <p:spPr>
          <a:xfrm>
            <a:off x="670774" y="1760567"/>
            <a:ext cx="514074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Minimize	 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r>
              <a:rPr lang="en-US" sz="1400" dirty="0"/>
              <a:t>Subject to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)&gt;=0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5F76D2D-EB02-4CEC-B96E-902268EF6672}"/>
                  </a:ext>
                </a:extLst>
              </p:cNvPr>
              <p:cNvSpPr/>
              <p:nvPr/>
            </p:nvSpPr>
            <p:spPr>
              <a:xfrm>
                <a:off x="6094207" y="1878471"/>
                <a:ext cx="4743908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Recall that: </a:t>
                </a:r>
                <a:r>
                  <a:rPr lang="en-US" u="sng" dirty="0"/>
                  <a:t>distance</a:t>
                </a:r>
                <a:r>
                  <a:rPr lang="en-US" dirty="0"/>
                  <a:t> is the 1</a:t>
                </a:r>
                <a:r>
                  <a:rPr lang="en-US" baseline="30000" dirty="0"/>
                  <a:t>st</a:t>
                </a:r>
                <a:r>
                  <a:rPr lang="en-US" dirty="0"/>
                  <a:t> objective function and </a:t>
                </a:r>
                <a:r>
                  <a:rPr lang="en-US" u="sng" dirty="0"/>
                  <a:t>time</a:t>
                </a:r>
                <a:r>
                  <a:rPr lang="en-US" dirty="0"/>
                  <a:t> is the 2</a:t>
                </a:r>
                <a:r>
                  <a:rPr lang="en-US" baseline="30000" dirty="0"/>
                  <a:t>nd</a:t>
                </a:r>
                <a:r>
                  <a:rPr lang="en-US" dirty="0"/>
                  <a:t> objective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Shortest-distance path: </a:t>
                </a:r>
                <a:r>
                  <a:rPr lang="en-US" dirty="0">
                    <a:sym typeface="Wingdings" panose="05000000000000000000" pitchFamily="2" charset="2"/>
                  </a:rPr>
                  <a:t>134 with 12 kms in total,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=12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ym typeface="Wingdings" panose="05000000000000000000" pitchFamily="2" charset="2"/>
                  </a:rPr>
                  <a:t>Shortest-time path: 1234 with 20 mins in total,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=20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5F76D2D-EB02-4CEC-B96E-902268EF66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207" y="1878471"/>
                <a:ext cx="4743908" cy="1754326"/>
              </a:xfrm>
              <a:prstGeom prst="rect">
                <a:avLst/>
              </a:prstGeom>
              <a:blipFill>
                <a:blip r:embed="rId4"/>
                <a:stretch>
                  <a:fillRect l="-1157" t="-1736" r="-1542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DF0EE1-40C4-4E3F-9816-9986AB93CF92}"/>
                  </a:ext>
                </a:extLst>
              </p:cNvPr>
              <p:cNvSpPr txBox="1"/>
              <p:nvPr/>
            </p:nvSpPr>
            <p:spPr>
              <a:xfrm>
                <a:off x="741894" y="4563748"/>
                <a:ext cx="10901466" cy="1720792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1400" dirty="0"/>
                  <a:t>Minimize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dirty="0"/>
                  <a:t>(</a:t>
                </a:r>
                <a:r>
                  <a:rPr lang="en-US" sz="1400" dirty="0"/>
                  <a:t>7X</a:t>
                </a:r>
                <a:r>
                  <a:rPr lang="en-US" sz="1400" baseline="-25000" dirty="0"/>
                  <a:t>(1,2) </a:t>
                </a:r>
                <a:r>
                  <a:rPr lang="en-US" sz="1400" dirty="0"/>
                  <a:t>+ 9X</a:t>
                </a:r>
                <a:r>
                  <a:rPr lang="en-US" sz="1400" baseline="-25000" dirty="0"/>
                  <a:t>(1,3) </a:t>
                </a:r>
                <a:r>
                  <a:rPr lang="en-US" sz="1400" dirty="0"/>
                  <a:t>+14X</a:t>
                </a:r>
                <a:r>
                  <a:rPr lang="en-US" sz="1400" baseline="-25000" dirty="0"/>
                  <a:t>(1,4) </a:t>
                </a:r>
                <a:r>
                  <a:rPr lang="en-US" sz="1400" dirty="0"/>
                  <a:t>+ 5X</a:t>
                </a:r>
                <a:r>
                  <a:rPr lang="en-US" sz="1400" baseline="-25000" dirty="0"/>
                  <a:t>(2,3)</a:t>
                </a:r>
                <a:r>
                  <a:rPr lang="en-US" sz="1400" dirty="0"/>
                  <a:t> + 6X</a:t>
                </a:r>
                <a:r>
                  <a:rPr lang="en-US" sz="1400" baseline="-25000" dirty="0"/>
                  <a:t>(2,4) </a:t>
                </a:r>
                <a:r>
                  <a:rPr lang="en-US" sz="1400" dirty="0"/>
                  <a:t>+ 3X</a:t>
                </a:r>
                <a:r>
                  <a:rPr lang="en-US" sz="1400" baseline="-25000" dirty="0"/>
                  <a:t>(3,4)</a:t>
                </a:r>
                <a:r>
                  <a:rPr lang="en-US" sz="1400" dirty="0"/>
                  <a:t> </a:t>
                </a:r>
                <a:r>
                  <a:rPr lang="en-US" dirty="0"/>
                  <a:t>)</a:t>
                </a:r>
                <a:r>
                  <a:rPr lang="en-US" sz="1400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</a:t>
                </a:r>
                <a:r>
                  <a:rPr lang="en-US" sz="1400" dirty="0"/>
                  <a:t>10X</a:t>
                </a:r>
                <a:r>
                  <a:rPr lang="en-US" sz="1400" baseline="-25000" dirty="0"/>
                  <a:t>(1,2) </a:t>
                </a:r>
                <a:r>
                  <a:rPr lang="en-US" sz="1400" dirty="0"/>
                  <a:t>+ 30X</a:t>
                </a:r>
                <a:r>
                  <a:rPr lang="en-US" sz="1400" baseline="-25000" dirty="0"/>
                  <a:t>(1,3) </a:t>
                </a:r>
                <a:r>
                  <a:rPr lang="en-US" sz="1400" dirty="0"/>
                  <a:t>+30X</a:t>
                </a:r>
                <a:r>
                  <a:rPr lang="en-US" sz="1400" baseline="-25000" dirty="0"/>
                  <a:t>(1,4) </a:t>
                </a:r>
                <a:r>
                  <a:rPr lang="en-US" sz="1400" dirty="0"/>
                  <a:t>+ 5X</a:t>
                </a:r>
                <a:r>
                  <a:rPr lang="en-US" sz="1400" baseline="-25000" dirty="0"/>
                  <a:t>(2,3)</a:t>
                </a:r>
                <a:r>
                  <a:rPr lang="en-US" sz="1400" dirty="0"/>
                  <a:t> + 15X</a:t>
                </a:r>
                <a:r>
                  <a:rPr lang="en-US" sz="1400" baseline="-25000" dirty="0"/>
                  <a:t>(2,4) </a:t>
                </a:r>
                <a:r>
                  <a:rPr lang="en-US" sz="1400" dirty="0"/>
                  <a:t>+ 5X</a:t>
                </a:r>
                <a:r>
                  <a:rPr lang="en-US" sz="1400" baseline="-25000" dirty="0"/>
                  <a:t>(3,4)</a:t>
                </a:r>
                <a:r>
                  <a:rPr lang="en-US" sz="1400" dirty="0"/>
                  <a:t> </a:t>
                </a:r>
                <a:r>
                  <a:rPr lang="en-US" dirty="0"/>
                  <a:t>)</a:t>
                </a:r>
                <a:endParaRPr lang="en-US" sz="1400" dirty="0"/>
              </a:p>
              <a:p>
                <a:r>
                  <a:rPr lang="en-US" sz="1400" dirty="0"/>
                  <a:t>Subject to	X</a:t>
                </a:r>
                <a:r>
                  <a:rPr lang="en-US" sz="1400" baseline="-25000" dirty="0"/>
                  <a:t>(1,2) </a:t>
                </a:r>
                <a:r>
                  <a:rPr lang="en-US" sz="1400" dirty="0"/>
                  <a:t>+ X</a:t>
                </a:r>
                <a:r>
                  <a:rPr lang="en-US" sz="1400" baseline="-25000" dirty="0"/>
                  <a:t>(1,3) </a:t>
                </a:r>
                <a:r>
                  <a:rPr lang="en-US" sz="1400" dirty="0"/>
                  <a:t>+ X</a:t>
                </a:r>
                <a:r>
                  <a:rPr lang="en-US" sz="1400" baseline="-25000" dirty="0"/>
                  <a:t>(1,4) </a:t>
                </a:r>
                <a:r>
                  <a:rPr lang="en-US" sz="1400" dirty="0"/>
                  <a:t> =1</a:t>
                </a:r>
              </a:p>
              <a:p>
                <a:r>
                  <a:rPr lang="en-US" sz="1400" dirty="0"/>
                  <a:t>	X</a:t>
                </a:r>
                <a:r>
                  <a:rPr lang="en-US" sz="1400" baseline="-25000" dirty="0"/>
                  <a:t>(2,3)</a:t>
                </a:r>
                <a:r>
                  <a:rPr lang="en-US" sz="1400" dirty="0"/>
                  <a:t> + X</a:t>
                </a:r>
                <a:r>
                  <a:rPr lang="en-US" sz="1400" baseline="-25000" dirty="0"/>
                  <a:t>(2,4)  </a:t>
                </a:r>
                <a:r>
                  <a:rPr lang="en-US" sz="1400" dirty="0"/>
                  <a:t>- X</a:t>
                </a:r>
                <a:r>
                  <a:rPr lang="en-US" sz="1400" baseline="-25000" dirty="0"/>
                  <a:t>(1,2)  </a:t>
                </a:r>
                <a:r>
                  <a:rPr lang="en-US" sz="1400" dirty="0"/>
                  <a:t>=0 </a:t>
                </a:r>
              </a:p>
              <a:p>
                <a:r>
                  <a:rPr lang="en-US" sz="1400" dirty="0"/>
                  <a:t>	X</a:t>
                </a:r>
                <a:r>
                  <a:rPr lang="en-US" sz="1400" baseline="-25000" dirty="0"/>
                  <a:t>(3,4)</a:t>
                </a:r>
                <a:r>
                  <a:rPr lang="en-US" sz="1400" dirty="0"/>
                  <a:t> - X</a:t>
                </a:r>
                <a:r>
                  <a:rPr lang="en-US" sz="1400" baseline="-25000" dirty="0"/>
                  <a:t>(1,3) </a:t>
                </a:r>
                <a:r>
                  <a:rPr lang="en-US" sz="1400" dirty="0"/>
                  <a:t>- X</a:t>
                </a:r>
                <a:r>
                  <a:rPr lang="en-US" sz="1400" baseline="-25000" dirty="0"/>
                  <a:t>(2,3)</a:t>
                </a:r>
                <a:r>
                  <a:rPr lang="en-US" sz="1400" dirty="0"/>
                  <a:t> =0</a:t>
                </a:r>
              </a:p>
              <a:p>
                <a:r>
                  <a:rPr lang="en-US" sz="1400" dirty="0"/>
                  <a:t>	- X</a:t>
                </a:r>
                <a:r>
                  <a:rPr lang="en-US" sz="1400" baseline="-25000" dirty="0"/>
                  <a:t>(1,4) </a:t>
                </a:r>
                <a:r>
                  <a:rPr lang="en-US" sz="1400" dirty="0"/>
                  <a:t> - X</a:t>
                </a:r>
                <a:r>
                  <a:rPr lang="en-US" sz="1400" baseline="-25000" dirty="0"/>
                  <a:t>(2,4) </a:t>
                </a:r>
                <a:r>
                  <a:rPr lang="en-US" sz="1400" dirty="0"/>
                  <a:t>- X</a:t>
                </a:r>
                <a:r>
                  <a:rPr lang="en-US" sz="1400" baseline="-25000" dirty="0"/>
                  <a:t>(3,4)</a:t>
                </a:r>
                <a:r>
                  <a:rPr lang="en-US" sz="1400" dirty="0"/>
                  <a:t> =-1</a:t>
                </a:r>
              </a:p>
              <a:p>
                <a:r>
                  <a:rPr lang="en-US" sz="1400" dirty="0"/>
                  <a:t>	X(</a:t>
                </a:r>
                <a:r>
                  <a:rPr lang="en-US" sz="1400" dirty="0" err="1"/>
                  <a:t>ij</a:t>
                </a:r>
                <a:r>
                  <a:rPr lang="en-US" sz="1400" dirty="0"/>
                  <a:t>)&gt;=0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DF0EE1-40C4-4E3F-9816-9986AB93C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4" y="4563748"/>
                <a:ext cx="10901466" cy="1720792"/>
              </a:xfrm>
              <a:prstGeom prst="rect">
                <a:avLst/>
              </a:prstGeom>
              <a:blipFill>
                <a:blip r:embed="rId5"/>
                <a:stretch>
                  <a:fillRect l="-56" b="-1742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AC3944A-D18D-4C5D-8D2D-3D5BF64257CB}"/>
              </a:ext>
            </a:extLst>
          </p:cNvPr>
          <p:cNvSpPr txBox="1"/>
          <p:nvPr/>
        </p:nvSpPr>
        <p:spPr>
          <a:xfrm>
            <a:off x="4934665" y="5239451"/>
            <a:ext cx="36898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optimum solution for this single-objective shortest-path problem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Path 1: 1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24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3BFBB2-3564-4ECC-9C13-52F233694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7470" y="5087329"/>
            <a:ext cx="2291570" cy="164551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035F9AE-6779-4AEA-AADD-02CBEE4F19BB}"/>
              </a:ext>
            </a:extLst>
          </p:cNvPr>
          <p:cNvSpPr/>
          <p:nvPr/>
        </p:nvSpPr>
        <p:spPr>
          <a:xfrm>
            <a:off x="9733280" y="5920246"/>
            <a:ext cx="254000" cy="25671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DBD55-8050-4476-A10C-0EE5403A1968}"/>
              </a:ext>
            </a:extLst>
          </p:cNvPr>
          <p:cNvSpPr txBox="1"/>
          <p:nvPr/>
        </p:nvSpPr>
        <p:spPr>
          <a:xfrm>
            <a:off x="3586480" y="6363509"/>
            <a:ext cx="3672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</a:t>
            </a:r>
            <a:r>
              <a:rPr lang="en-US" i="1" dirty="0"/>
              <a:t>Bi-objective Shortest Path.xlsx</a:t>
            </a:r>
          </a:p>
        </p:txBody>
      </p:sp>
    </p:spTree>
    <p:extLst>
      <p:ext uri="{BB962C8B-B14F-4D97-AF65-F5344CB8AC3E}">
        <p14:creationId xmlns:p14="http://schemas.microsoft.com/office/powerpoint/2010/main" val="48888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5" grpId="0"/>
      <p:bldP spid="6" grpId="0" animBg="1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3"/>
                <a:ext cx="11478410" cy="486453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Unsupervised methods: </a:t>
                </a:r>
                <a:r>
                  <a:rPr lang="en-US" dirty="0"/>
                  <a:t>The decision maker does not directly intervene in reducing the multi-objective model into a single-objective one</a:t>
                </a:r>
              </a:p>
              <a:p>
                <a:r>
                  <a:rPr lang="en-US" dirty="0"/>
                  <a:t>There are several unsupervised methods that can be used</a:t>
                </a:r>
              </a:p>
              <a:p>
                <a:pPr lvl="1"/>
                <a:r>
                  <a:rPr lang="en-US" dirty="0"/>
                  <a:t>Equal Weighting (normalized) Approach</a:t>
                </a:r>
              </a:p>
              <a:p>
                <a:pPr lvl="1"/>
                <a:r>
                  <a:rPr lang="en-US" dirty="0"/>
                  <a:t>Min-Max % Deviation Approach</a:t>
                </a:r>
              </a:p>
              <a:p>
                <a:pPr lvl="1"/>
                <a:r>
                  <a:rPr lang="en-US" dirty="0"/>
                  <a:t>Distance (normalized) to Ideal-point Approach</a:t>
                </a:r>
              </a:p>
              <a:p>
                <a:pPr lvl="1"/>
                <a:endParaRPr lang="en-US" b="1" dirty="0"/>
              </a:p>
              <a:p>
                <a:pPr lvl="1"/>
                <a:r>
                  <a:rPr lang="en-US" b="1" u="sng" dirty="0">
                    <a:solidFill>
                      <a:srgbClr val="C00000"/>
                    </a:solidFill>
                  </a:rPr>
                  <a:t>Equal Weighting (normalized) Approach</a:t>
                </a:r>
              </a:p>
              <a:p>
                <a:pPr lvl="2"/>
                <a:r>
                  <a:rPr lang="en-US" dirty="0"/>
                  <a:t>Objectives are individually weighted and placed within a single objective function</a:t>
                </a:r>
              </a:p>
              <a:p>
                <a:pPr lvl="2"/>
                <a:r>
                  <a:rPr lang="en-US" dirty="0"/>
                  <a:t>Weights are equal so no input from the decision maker is sought</a:t>
                </a:r>
              </a:p>
              <a:p>
                <a:pPr marL="0" indent="0">
                  <a:buNone/>
                </a:pPr>
                <a:r>
                  <a:rPr lang="en-US" sz="2400" b="0" dirty="0"/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   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func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When applied to the bi-objective shortest-path model, we have 1</a:t>
                </a:r>
                <a:r>
                  <a:rPr lang="en-US" dirty="0">
                    <a:sym typeface="Wingdings" panose="05000000000000000000" pitchFamily="2" charset="2"/>
                  </a:rPr>
                  <a:t>234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3"/>
                <a:ext cx="11478410" cy="4864530"/>
              </a:xfrm>
              <a:blipFill>
                <a:blip r:embed="rId3"/>
                <a:stretch>
                  <a:fillRect l="-884" t="-2865" b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1B79DF4-E662-456E-881B-93F20A8E4E1A}"/>
              </a:ext>
            </a:extLst>
          </p:cNvPr>
          <p:cNvSpPr/>
          <p:nvPr/>
        </p:nvSpPr>
        <p:spPr>
          <a:xfrm>
            <a:off x="2072640" y="5344795"/>
            <a:ext cx="6741160" cy="7105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F424E3-F1FE-4808-8E86-9D25F398C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179" y="5044849"/>
            <a:ext cx="2291570" cy="164551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78A09F6-3ABC-46A2-9C57-2069F93999D6}"/>
              </a:ext>
            </a:extLst>
          </p:cNvPr>
          <p:cNvSpPr/>
          <p:nvPr/>
        </p:nvSpPr>
        <p:spPr>
          <a:xfrm>
            <a:off x="10960549" y="6156848"/>
            <a:ext cx="254000" cy="25671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6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Unsupervised methods:</a:t>
                </a:r>
                <a:endParaRPr lang="en-US" b="1" dirty="0"/>
              </a:p>
              <a:p>
                <a:pPr lvl="1"/>
                <a:r>
                  <a:rPr lang="en-US" b="1" u="sng" dirty="0">
                    <a:solidFill>
                      <a:srgbClr val="C00000"/>
                    </a:solidFill>
                  </a:rPr>
                  <a:t>Min-max % Deviation Approach:</a:t>
                </a:r>
              </a:p>
              <a:p>
                <a:pPr lvl="2"/>
                <a:r>
                  <a:rPr lang="en-US" dirty="0"/>
                  <a:t>Selects the solution with the least maximum potential loss across all objectives</a:t>
                </a:r>
              </a:p>
              <a:p>
                <a:pPr lvl="2"/>
                <a:r>
                  <a:rPr lang="en-US" dirty="0"/>
                  <a:t>A solution’s max % deviation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2286000" lvl="5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2286000" lvl="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𝑀𝑖𝑛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=1,2,…,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400" dirty="0"/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dirty="0"/>
                  <a:t>, then we have:</a:t>
                </a:r>
              </a:p>
              <a:p>
                <a:pPr lvl="2"/>
                <a:endParaRPr lang="en-US" dirty="0"/>
              </a:p>
              <a:p>
                <a:pPr marL="2743200" lvl="6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sz="2400" dirty="0"/>
              </a:p>
              <a:p>
                <a:pPr marL="2743200" lvl="6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2743200" lvl="6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2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33607B-E7F6-4827-8C14-A0976EE0AC2C}"/>
              </a:ext>
            </a:extLst>
          </p:cNvPr>
          <p:cNvSpPr/>
          <p:nvPr/>
        </p:nvSpPr>
        <p:spPr>
          <a:xfrm>
            <a:off x="2606040" y="3083560"/>
            <a:ext cx="5715000" cy="11480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D16935-85AF-4001-BDB3-80311A0AA9B9}"/>
              </a:ext>
            </a:extLst>
          </p:cNvPr>
          <p:cNvSpPr/>
          <p:nvPr/>
        </p:nvSpPr>
        <p:spPr>
          <a:xfrm>
            <a:off x="2819400" y="5237480"/>
            <a:ext cx="5313680" cy="15036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4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Unsupervised methods:</a:t>
            </a:r>
            <a:endParaRPr lang="en-US" b="1" dirty="0"/>
          </a:p>
          <a:p>
            <a:pPr lvl="1"/>
            <a:r>
              <a:rPr lang="en-US" b="1" u="sng" dirty="0">
                <a:solidFill>
                  <a:srgbClr val="C00000"/>
                </a:solidFill>
              </a:rPr>
              <a:t>Min-max % Deviation Approach:</a:t>
            </a:r>
          </a:p>
          <a:p>
            <a:pPr lvl="1"/>
            <a:r>
              <a:rPr lang="en-US" b="1" u="sng" dirty="0"/>
              <a:t>Recall: A multi-objective shortest path problem (not in the textbook):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822025-6700-4768-B7DA-F7B92450AE39}"/>
              </a:ext>
            </a:extLst>
          </p:cNvPr>
          <p:cNvSpPr txBox="1"/>
          <p:nvPr/>
        </p:nvSpPr>
        <p:spPr>
          <a:xfrm>
            <a:off x="355002" y="2674967"/>
            <a:ext cx="514074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Minimize	 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r>
              <a:rPr lang="en-US" sz="1400" dirty="0"/>
              <a:t>Subject to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)&gt;=0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F0C99-6931-4AD1-BF0A-07803ED3FB50}"/>
              </a:ext>
            </a:extLst>
          </p:cNvPr>
          <p:cNvSpPr txBox="1"/>
          <p:nvPr/>
        </p:nvSpPr>
        <p:spPr>
          <a:xfrm>
            <a:off x="3392842" y="3629074"/>
            <a:ext cx="5695278" cy="2400657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 Z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Subject to	 Z&gt;=</a:t>
            </a:r>
            <a:r>
              <a:rPr lang="en-US" dirty="0"/>
              <a:t>(</a:t>
            </a:r>
            <a:r>
              <a:rPr lang="en-US" sz="1400" dirty="0"/>
              <a:t>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-12</a:t>
            </a:r>
            <a:r>
              <a:rPr lang="en-US" dirty="0"/>
              <a:t>)</a:t>
            </a:r>
            <a:r>
              <a:rPr lang="en-US" sz="1400" dirty="0"/>
              <a:t>/12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	 Z&gt;=</a:t>
            </a:r>
            <a:r>
              <a:rPr lang="en-US" dirty="0"/>
              <a:t>(</a:t>
            </a:r>
            <a:r>
              <a:rPr lang="en-US" sz="1400" dirty="0"/>
              <a:t>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r>
              <a:rPr lang="en-US" sz="1400" dirty="0"/>
              <a:t> -20</a:t>
            </a:r>
            <a:r>
              <a:rPr lang="en-US" dirty="0"/>
              <a:t>)</a:t>
            </a:r>
            <a:r>
              <a:rPr lang="en-US" sz="1400" dirty="0"/>
              <a:t>/20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 binary!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CEB13BE-9E8A-4D3D-9CB4-7EF3B40E986C}"/>
              </a:ext>
            </a:extLst>
          </p:cNvPr>
          <p:cNvSpPr/>
          <p:nvPr/>
        </p:nvSpPr>
        <p:spPr>
          <a:xfrm>
            <a:off x="9128760" y="3957596"/>
            <a:ext cx="543560" cy="871806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4FB025-8FCC-472C-85E3-FF2C13757F8A}"/>
                  </a:ext>
                </a:extLst>
              </p:cNvPr>
              <p:cNvSpPr txBox="1"/>
              <p:nvPr/>
            </p:nvSpPr>
            <p:spPr>
              <a:xfrm>
                <a:off x="9636760" y="3744698"/>
                <a:ext cx="2631440" cy="1091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These are the max deviation definition, i.e.,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constraints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4FB025-8FCC-472C-85E3-FF2C13757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6760" y="3744698"/>
                <a:ext cx="2631440" cy="1091581"/>
              </a:xfrm>
              <a:prstGeom prst="rect">
                <a:avLst/>
              </a:prstGeom>
              <a:blipFill>
                <a:blip r:embed="rId3"/>
                <a:stretch>
                  <a:fillRect l="-2083" t="-2793" b="-2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62E42F9D-2132-487D-84C6-84810C97DFE0}"/>
              </a:ext>
            </a:extLst>
          </p:cNvPr>
          <p:cNvSpPr/>
          <p:nvPr/>
        </p:nvSpPr>
        <p:spPr>
          <a:xfrm>
            <a:off x="9128760" y="4936979"/>
            <a:ext cx="543560" cy="965981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60AB7B-B742-430A-9E20-619E95DFC5AB}"/>
                  </a:ext>
                </a:extLst>
              </p:cNvPr>
              <p:cNvSpPr txBox="1"/>
              <p:nvPr/>
            </p:nvSpPr>
            <p:spPr>
              <a:xfrm>
                <a:off x="9809480" y="4958304"/>
                <a:ext cx="23825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These are the original constraints we have, i.e.,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60AB7B-B742-430A-9E20-619E95DFC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9480" y="4958304"/>
                <a:ext cx="2382520" cy="923330"/>
              </a:xfrm>
              <a:prstGeom prst="rect">
                <a:avLst/>
              </a:prstGeom>
              <a:blipFill>
                <a:blip r:embed="rId4"/>
                <a:stretch>
                  <a:fillRect l="-2046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E121B6D-0BE7-4182-9426-9E4F04940697}"/>
              </a:ext>
            </a:extLst>
          </p:cNvPr>
          <p:cNvSpPr txBox="1"/>
          <p:nvPr/>
        </p:nvSpPr>
        <p:spPr>
          <a:xfrm>
            <a:off x="3323326" y="6092997"/>
            <a:ext cx="859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optimum solution for this min-max % deviation problem is: Path 1: 1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24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D365EF-3DC6-4516-AA7B-D60127C57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9" y="5080204"/>
            <a:ext cx="2291570" cy="1645512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25F8A94-44BF-49EE-B60E-A7CA35AC41A6}"/>
              </a:ext>
            </a:extLst>
          </p:cNvPr>
          <p:cNvSpPr/>
          <p:nvPr/>
        </p:nvSpPr>
        <p:spPr>
          <a:xfrm>
            <a:off x="1349189" y="5913121"/>
            <a:ext cx="254000" cy="25671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323AE9-D661-4AAE-9D2B-8870A4C57AF5}"/>
              </a:ext>
            </a:extLst>
          </p:cNvPr>
          <p:cNvSpPr txBox="1"/>
          <p:nvPr/>
        </p:nvSpPr>
        <p:spPr>
          <a:xfrm>
            <a:off x="5003800" y="6465168"/>
            <a:ext cx="3672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</a:t>
            </a:r>
            <a:r>
              <a:rPr lang="en-US" i="1" dirty="0"/>
              <a:t>Bi-objective Shortest Path.xlsx</a:t>
            </a:r>
          </a:p>
        </p:txBody>
      </p:sp>
    </p:spTree>
    <p:extLst>
      <p:ext uri="{BB962C8B-B14F-4D97-AF65-F5344CB8AC3E}">
        <p14:creationId xmlns:p14="http://schemas.microsoft.com/office/powerpoint/2010/main" val="194343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 animBg="1"/>
      <p:bldP spid="11" grpId="0"/>
      <p:bldP spid="12" grpId="0"/>
      <p:bldP spid="14" grpId="0" animBg="1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Unsupervised methods:</a:t>
                </a:r>
                <a:endParaRPr lang="en-US" b="1" dirty="0"/>
              </a:p>
              <a:p>
                <a:pPr lvl="1"/>
                <a:r>
                  <a:rPr lang="en-US" b="1" u="sng" dirty="0">
                    <a:solidFill>
                      <a:srgbClr val="C00000"/>
                    </a:solidFill>
                  </a:rPr>
                  <a:t>Distance to the Ideal Point:</a:t>
                </a:r>
              </a:p>
              <a:p>
                <a:pPr lvl="2"/>
                <a:r>
                  <a:rPr lang="en-US" dirty="0"/>
                  <a:t>Find the solution closest to the ideal point</a:t>
                </a:r>
              </a:p>
              <a:p>
                <a:pPr lvl="2"/>
                <a:r>
                  <a:rPr lang="en-US" b="1" dirty="0">
                    <a:solidFill>
                      <a:srgbClr val="C00000"/>
                    </a:solidFill>
                  </a:rPr>
                  <a:t>Recall: </a:t>
                </a:r>
                <a:r>
                  <a:rPr lang="en-US" dirty="0"/>
                  <a:t>Ideal Point is the point on the objective space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 where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Ideal point: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(Euclidian) Distance (normalized) of a 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the ideal point: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dirty="0"/>
              </a:p>
              <a:p>
                <a:pPr lvl="6"/>
                <a:endParaRPr lang="en-US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b="1" dirty="0">
                  <a:solidFill>
                    <a:srgbClr val="C00000"/>
                  </a:solidFill>
                </a:endParaRPr>
              </a:p>
              <a:p>
                <a:pPr lvl="1"/>
                <a:endParaRPr lang="en-US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060D1D49-3A6C-483B-91FD-5C92BCF93EF3}"/>
              </a:ext>
            </a:extLst>
          </p:cNvPr>
          <p:cNvSpPr/>
          <p:nvPr/>
        </p:nvSpPr>
        <p:spPr>
          <a:xfrm>
            <a:off x="2631440" y="4163807"/>
            <a:ext cx="5897880" cy="15036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6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Unsupervised methods:</a:t>
            </a:r>
            <a:endParaRPr lang="en-US" b="1" dirty="0"/>
          </a:p>
          <a:p>
            <a:pPr lvl="1"/>
            <a:r>
              <a:rPr lang="en-US" b="1" u="sng" dirty="0">
                <a:solidFill>
                  <a:srgbClr val="C00000"/>
                </a:solidFill>
              </a:rPr>
              <a:t>Distance to the Ideal Point :</a:t>
            </a:r>
          </a:p>
          <a:p>
            <a:pPr lvl="1"/>
            <a:r>
              <a:rPr lang="en-US" b="1" u="sng" dirty="0"/>
              <a:t>Recall: A multi-objective shortest path problem (not in the textbook):</a:t>
            </a:r>
          </a:p>
          <a:p>
            <a:pPr lvl="1"/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822025-6700-4768-B7DA-F7B92450AE39}"/>
              </a:ext>
            </a:extLst>
          </p:cNvPr>
          <p:cNvSpPr txBox="1"/>
          <p:nvPr/>
        </p:nvSpPr>
        <p:spPr>
          <a:xfrm>
            <a:off x="355002" y="2674967"/>
            <a:ext cx="514074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Minimize	 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r>
              <a:rPr lang="en-US" sz="1400" dirty="0"/>
              <a:t>Subject to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)&gt;=0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F0C99-6931-4AD1-BF0A-07803ED3FB50}"/>
              </a:ext>
            </a:extLst>
          </p:cNvPr>
          <p:cNvSpPr txBox="1"/>
          <p:nvPr/>
        </p:nvSpPr>
        <p:spPr>
          <a:xfrm>
            <a:off x="3392842" y="3629074"/>
            <a:ext cx="6106758" cy="2062103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 d(X)=</a:t>
            </a:r>
            <a:r>
              <a:rPr lang="en-US" sz="2400" dirty="0"/>
              <a:t>{</a:t>
            </a:r>
            <a:r>
              <a:rPr lang="en-US" dirty="0"/>
              <a:t>[</a:t>
            </a:r>
            <a:r>
              <a:rPr lang="en-US" sz="1400" dirty="0"/>
              <a:t>(7X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-12</a:t>
            </a:r>
            <a:r>
              <a:rPr lang="en-US" dirty="0"/>
              <a:t>)</a:t>
            </a:r>
            <a:r>
              <a:rPr lang="en-US" sz="1400" dirty="0"/>
              <a:t>/12</a:t>
            </a:r>
            <a:r>
              <a:rPr lang="en-US" dirty="0"/>
              <a:t>]</a:t>
            </a:r>
            <a:r>
              <a:rPr lang="en-US" sz="1400" baseline="30000" dirty="0"/>
              <a:t>2                	</a:t>
            </a:r>
            <a:r>
              <a:rPr lang="en-US" sz="1400" dirty="0"/>
              <a:t>+</a:t>
            </a:r>
            <a:r>
              <a:rPr lang="en-US" dirty="0"/>
              <a:t>[(</a:t>
            </a:r>
            <a:r>
              <a:rPr lang="en-US" sz="1400" dirty="0"/>
              <a:t>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r>
              <a:rPr lang="en-US" sz="1400" dirty="0"/>
              <a:t> -20</a:t>
            </a:r>
            <a:r>
              <a:rPr lang="en-US" dirty="0"/>
              <a:t>)</a:t>
            </a:r>
            <a:r>
              <a:rPr lang="en-US" sz="1400" dirty="0"/>
              <a:t>/ 20</a:t>
            </a:r>
            <a:r>
              <a:rPr lang="en-US" dirty="0"/>
              <a:t>]</a:t>
            </a:r>
            <a:r>
              <a:rPr lang="en-US" sz="1400" baseline="30000" dirty="0"/>
              <a:t>2</a:t>
            </a:r>
            <a:r>
              <a:rPr lang="en-US" sz="2400" dirty="0"/>
              <a:t>}</a:t>
            </a:r>
            <a:r>
              <a:rPr lang="en-US" sz="2400" baseline="30000" dirty="0"/>
              <a:t>0.5 </a:t>
            </a:r>
          </a:p>
          <a:p>
            <a:r>
              <a:rPr lang="en-US" sz="1400" dirty="0"/>
              <a:t>Subject to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 binary!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62E42F9D-2132-487D-84C6-84810C97DFE0}"/>
              </a:ext>
            </a:extLst>
          </p:cNvPr>
          <p:cNvSpPr/>
          <p:nvPr/>
        </p:nvSpPr>
        <p:spPr>
          <a:xfrm>
            <a:off x="9542032" y="4660125"/>
            <a:ext cx="543560" cy="965981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60AB7B-B742-430A-9E20-619E95DFC5AB}"/>
                  </a:ext>
                </a:extLst>
              </p:cNvPr>
              <p:cNvSpPr txBox="1"/>
              <p:nvPr/>
            </p:nvSpPr>
            <p:spPr>
              <a:xfrm>
                <a:off x="9972936" y="4752953"/>
                <a:ext cx="23825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These are the original constraints we have, i.e.,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60AB7B-B742-430A-9E20-619E95DFC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2936" y="4752953"/>
                <a:ext cx="2382520" cy="923330"/>
              </a:xfrm>
              <a:prstGeom prst="rect">
                <a:avLst/>
              </a:prstGeom>
              <a:blipFill>
                <a:blip r:embed="rId3"/>
                <a:stretch>
                  <a:fillRect l="-2302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E121B6D-0BE7-4182-9426-9E4F04940697}"/>
              </a:ext>
            </a:extLst>
          </p:cNvPr>
          <p:cNvSpPr txBox="1"/>
          <p:nvPr/>
        </p:nvSpPr>
        <p:spPr>
          <a:xfrm>
            <a:off x="3236557" y="5853825"/>
            <a:ext cx="859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optimum solution for this distance-to-ideal point problem is: Path 2: 1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234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D365EF-3DC6-4516-AA7B-D60127C57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79" y="5080204"/>
            <a:ext cx="2291570" cy="1645512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25F8A94-44BF-49EE-B60E-A7CA35AC41A6}"/>
              </a:ext>
            </a:extLst>
          </p:cNvPr>
          <p:cNvSpPr/>
          <p:nvPr/>
        </p:nvSpPr>
        <p:spPr>
          <a:xfrm>
            <a:off x="2009589" y="6176963"/>
            <a:ext cx="254000" cy="25671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364C58E8-58D0-4AD0-A3F9-58AE24AE1160}"/>
              </a:ext>
            </a:extLst>
          </p:cNvPr>
          <p:cNvSpPr/>
          <p:nvPr/>
        </p:nvSpPr>
        <p:spPr>
          <a:xfrm>
            <a:off x="9542032" y="3795053"/>
            <a:ext cx="543560" cy="610586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591993-9F43-4617-8E66-20D2FADDFFC5}"/>
              </a:ext>
            </a:extLst>
          </p:cNvPr>
          <p:cNvSpPr txBox="1"/>
          <p:nvPr/>
        </p:nvSpPr>
        <p:spPr>
          <a:xfrm>
            <a:off x="10202432" y="3795053"/>
            <a:ext cx="1923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 to the ideal point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19C9E-040D-48C2-B334-E4CA1BFBA18D}"/>
              </a:ext>
            </a:extLst>
          </p:cNvPr>
          <p:cNvSpPr txBox="1"/>
          <p:nvPr/>
        </p:nvSpPr>
        <p:spPr>
          <a:xfrm>
            <a:off x="3586480" y="6363509"/>
            <a:ext cx="3672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</a:t>
            </a:r>
            <a:r>
              <a:rPr lang="en-US" i="1" dirty="0"/>
              <a:t>Bi-objective Shortest Path.xlsx</a:t>
            </a:r>
          </a:p>
        </p:txBody>
      </p:sp>
    </p:spTree>
    <p:extLst>
      <p:ext uri="{BB962C8B-B14F-4D97-AF65-F5344CB8AC3E}">
        <p14:creationId xmlns:p14="http://schemas.microsoft.com/office/powerpoint/2010/main" val="338805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/>
      <p:bldP spid="12" grpId="0"/>
      <p:bldP spid="14" grpId="0" animBg="1"/>
      <p:bldP spid="15" grpId="0" animBg="1"/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to Single-Objective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Reduction to single-objective has advantages</a:t>
                </a:r>
              </a:p>
              <a:p>
                <a:pPr lvl="1"/>
                <a:r>
                  <a:rPr lang="en-US" dirty="0"/>
                  <a:t>We can find a single optimum solution</a:t>
                </a:r>
              </a:p>
              <a:p>
                <a:pPr lvl="1"/>
                <a:r>
                  <a:rPr lang="en-US" dirty="0"/>
                  <a:t>Convenient and can take input from the decision maker</a:t>
                </a:r>
              </a:p>
              <a:p>
                <a:pPr lvl="2"/>
                <a:r>
                  <a:rPr lang="en-US" dirty="0"/>
                  <a:t>Supervised methods vs. unsupervised methods</a:t>
                </a:r>
              </a:p>
              <a:p>
                <a:r>
                  <a:rPr lang="en-US" dirty="0"/>
                  <a:t>Reduction to single-objective has drawbacks</a:t>
                </a:r>
              </a:p>
              <a:p>
                <a:pPr lvl="1"/>
                <a:r>
                  <a:rPr lang="en-US" dirty="0"/>
                  <a:t>It focuses on a specific measurement based on the single-objective function definition</a:t>
                </a:r>
              </a:p>
              <a:p>
                <a:pPr lvl="2"/>
                <a:r>
                  <a:rPr lang="en-US" dirty="0"/>
                  <a:t>Weighting </a:t>
                </a:r>
                <a:r>
                  <a:rPr lang="en-US" dirty="0">
                    <a:sym typeface="Wingdings" panose="05000000000000000000" pitchFamily="2" charset="2"/>
                  </a:rPr>
                  <a:t> a single set of weights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Unsupervised methods  might change depending on the single-objective function used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Also, it depends on normalization!</a:t>
                </a:r>
              </a:p>
              <a:p>
                <a:pPr lvl="3"/>
                <a:r>
                  <a:rPr lang="en-US" dirty="0">
                    <a:sym typeface="Wingdings" panose="05000000000000000000" pitchFamily="2" charset="2"/>
                  </a:rPr>
                  <a:t>We used division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as the normalization, i.e., we said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𝐹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3"/>
                <a:r>
                  <a:rPr lang="en-US" dirty="0">
                    <a:sym typeface="Wingdings" panose="05000000000000000000" pitchFamily="2" charset="2"/>
                  </a:rPr>
                  <a:t>But other normalization ways might be used as well and result in different solutions</a:t>
                </a:r>
              </a:p>
              <a:p>
                <a:pPr lvl="3"/>
                <a:r>
                  <a:rPr lang="en-US" dirty="0">
                    <a:sym typeface="Wingdings" panose="05000000000000000000" pitchFamily="2" charset="2"/>
                  </a:rPr>
                  <a:t>Range based normalized: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𝐹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𝐹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is the minimum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is the maximum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4" t="-2865" b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48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Introduction and Solution Concepts</a:t>
            </a:r>
          </a:p>
          <a:p>
            <a:r>
              <a:rPr lang="en-US" dirty="0">
                <a:solidFill>
                  <a:schemeClr val="bg2"/>
                </a:solidFill>
              </a:rPr>
              <a:t>Single-objective Reduction</a:t>
            </a:r>
          </a:p>
          <a:p>
            <a:r>
              <a:rPr lang="en-US" dirty="0"/>
              <a:t>Pareto Front Generation</a:t>
            </a:r>
          </a:p>
          <a:p>
            <a:r>
              <a:rPr lang="en-US" dirty="0">
                <a:solidFill>
                  <a:schemeClr val="bg2"/>
                </a:solidFill>
              </a:rPr>
              <a:t>Epsilon-constraint Method Example</a:t>
            </a:r>
          </a:p>
          <a:p>
            <a:r>
              <a:rPr lang="en-US" dirty="0">
                <a:solidFill>
                  <a:schemeClr val="bg2"/>
                </a:solidFill>
              </a:rPr>
              <a:t>Goal Programming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Weighted Goal Programming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Preemptive Goal Programming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951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 Front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Pareto Front generation </a:t>
            </a:r>
            <a:r>
              <a:rPr lang="en-US" dirty="0"/>
              <a:t>aims to generate all of the Pareto efficient solutions</a:t>
            </a:r>
          </a:p>
          <a:p>
            <a:pPr lvl="1"/>
            <a:r>
              <a:rPr lang="en-US" dirty="0"/>
              <a:t>Recall that: A feasible solution is </a:t>
            </a:r>
            <a:r>
              <a:rPr lang="en-US" dirty="0">
                <a:solidFill>
                  <a:srgbClr val="C00000"/>
                </a:solidFill>
              </a:rPr>
              <a:t>Pareto efficient</a:t>
            </a:r>
            <a:r>
              <a:rPr lang="en-US" dirty="0"/>
              <a:t> (Pareto optimum) if there does not exist another feasible solution that is better in terms of all objectives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Pareto Front approximation:</a:t>
            </a:r>
            <a:r>
              <a:rPr lang="en-US" dirty="0"/>
              <a:t> Instead of generating all Pareto efficient solutions, generate some of them, or generate solutions close to Pareto efficient solutions</a:t>
            </a:r>
          </a:p>
          <a:p>
            <a:r>
              <a:rPr lang="en-US" dirty="0"/>
              <a:t>Pareto Front typically includes multiple solutions</a:t>
            </a:r>
          </a:p>
          <a:p>
            <a:pPr lvl="1"/>
            <a:r>
              <a:rPr lang="en-US" dirty="0"/>
              <a:t>The decision maker can select one of them to implement</a:t>
            </a:r>
          </a:p>
          <a:p>
            <a:pPr lvl="1"/>
            <a:r>
              <a:rPr lang="en-US" dirty="0"/>
              <a:t>Demonstrates the trade-offs, i.e., the Pareto front</a:t>
            </a:r>
          </a:p>
          <a:p>
            <a:r>
              <a:rPr lang="en-US" dirty="0"/>
              <a:t>The issues:</a:t>
            </a:r>
          </a:p>
          <a:p>
            <a:pPr lvl="1"/>
            <a:r>
              <a:rPr lang="en-US" dirty="0"/>
              <a:t>How to determine the Pareto efficient solutions effectively</a:t>
            </a:r>
          </a:p>
          <a:p>
            <a:pPr lvl="1"/>
            <a:r>
              <a:rPr lang="en-US" dirty="0"/>
              <a:t>How to generate (or approximate) the Pareto front</a:t>
            </a:r>
          </a:p>
          <a:p>
            <a:pPr lvl="1"/>
            <a:r>
              <a:rPr lang="en-US" dirty="0"/>
              <a:t>How good an approximation is compared to the exact Pareto front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18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 Front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 simplest case: </a:t>
            </a:r>
            <a:r>
              <a:rPr lang="en-US" dirty="0"/>
              <a:t>two objectives</a:t>
            </a:r>
          </a:p>
          <a:p>
            <a:pPr lvl="1"/>
            <a:r>
              <a:rPr lang="en-US" dirty="0"/>
              <a:t>When we have two objectives, we have a bi-objective optimization problem</a:t>
            </a:r>
          </a:p>
          <a:p>
            <a:pPr lvl="1"/>
            <a:r>
              <a:rPr lang="en-US" dirty="0"/>
              <a:t>Depending on the type of the model, Pareto Front can be continuous or discrete</a:t>
            </a:r>
          </a:p>
          <a:p>
            <a:pPr lvl="2"/>
            <a:r>
              <a:rPr lang="en-US" dirty="0"/>
              <a:t>For a continuous model, the Pareto Front can be a continuous curve</a:t>
            </a:r>
          </a:p>
          <a:p>
            <a:pPr lvl="2"/>
            <a:r>
              <a:rPr lang="en-US" dirty="0"/>
              <a:t>For a discrete (pure integer/binary variables), the Pareto front can be a discrete set</a:t>
            </a:r>
          </a:p>
          <a:p>
            <a:r>
              <a:rPr lang="en-US" dirty="0">
                <a:solidFill>
                  <a:srgbClr val="C00000"/>
                </a:solidFill>
              </a:rPr>
              <a:t>Epsilon-constraint method: </a:t>
            </a:r>
            <a:r>
              <a:rPr lang="en-US" dirty="0"/>
              <a:t>It is the most well-known and most straight-forward method to generate Pareto efficient solutions</a:t>
            </a:r>
          </a:p>
          <a:p>
            <a:pPr lvl="1"/>
            <a:r>
              <a:rPr lang="en-US" dirty="0"/>
              <a:t>It is an approximation method for continuous models</a:t>
            </a:r>
          </a:p>
          <a:p>
            <a:pPr lvl="2"/>
            <a:r>
              <a:rPr lang="en-US" dirty="0"/>
              <a:t>For continuous models, the Pareto front can be a continuous set (or combination of continuous sets), so, it is not possible to generate all of them</a:t>
            </a:r>
          </a:p>
          <a:p>
            <a:pPr lvl="1"/>
            <a:r>
              <a:rPr lang="en-US" dirty="0"/>
              <a:t>It can be an exact method for integer models</a:t>
            </a:r>
          </a:p>
          <a:p>
            <a:pPr lvl="2"/>
            <a:r>
              <a:rPr lang="en-US" dirty="0"/>
              <a:t>Just might need to make all parameters of the objective function integer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32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Epsilon-Constraint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Some basic properties:</a:t>
                </a:r>
                <a:endParaRPr lang="en-US" dirty="0"/>
              </a:p>
              <a:p>
                <a:pPr lvl="1"/>
                <a:r>
                  <a:rPr lang="en-US" dirty="0"/>
                  <a:t>Consider a bi-objective optimization problem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3543300" lvl="8" indent="-342900">
                  <a:buFontTx/>
                  <a:buChar char="•"/>
                </a:pPr>
                <a:endParaRPr lang="en-US" sz="1100" dirty="0"/>
              </a:p>
              <a:p>
                <a:pPr marL="800100" lvl="2" indent="-342900">
                  <a:buFontTx/>
                  <a:buChar char="•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:r>
                  <a:rPr lang="en-US" b="1" dirty="0">
                    <a:solidFill>
                      <a:srgbClr val="FF0000"/>
                    </a:solidFill>
                  </a:rPr>
                  <a:t>Property (box):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is Pareto efficient then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2"/>
                <a:endParaRPr lang="en-US" sz="700" dirty="0"/>
              </a:p>
              <a:p>
                <a:pPr lvl="2"/>
                <a:r>
                  <a:rPr lang="en-US" dirty="0"/>
                  <a:t>Proof (sketch): Let’s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is Pareto efficient</a:t>
                </a:r>
              </a:p>
              <a:p>
                <a:pPr lvl="3"/>
                <a:r>
                  <a:rPr lang="en-US" dirty="0"/>
                  <a:t>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 minimizes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by definition</a:t>
                </a:r>
              </a:p>
              <a:p>
                <a:pPr lvl="3"/>
                <a:r>
                  <a:rPr lang="en-US" dirty="0"/>
                  <a:t>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minimizes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by definition</a:t>
                </a:r>
              </a:p>
              <a:p>
                <a:pPr lvl="3"/>
                <a:r>
                  <a:rPr lang="en-US" dirty="0"/>
                  <a:t>Now,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 it then follows that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These mean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Pareto dominates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4" t="-2865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EF53E3E-E91A-44AB-90F5-9E3CE7E7C8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0846208"/>
                  </p:ext>
                </p:extLst>
              </p:nvPr>
            </p:nvGraphicFramePr>
            <p:xfrm>
              <a:off x="1889760" y="2164080"/>
              <a:ext cx="6096000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564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1597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1597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EF53E3E-E91A-44AB-90F5-9E3CE7E7C8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0846208"/>
                  </p:ext>
                </p:extLst>
              </p:nvPr>
            </p:nvGraphicFramePr>
            <p:xfrm>
              <a:off x="1889760" y="2164080"/>
              <a:ext cx="6096000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100000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r="-100000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100000" b="-1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0000" r="-100000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200000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4C84B3E-B8A5-46D1-BA76-BEA02B1F6251}"/>
              </a:ext>
            </a:extLst>
          </p:cNvPr>
          <p:cNvSpPr/>
          <p:nvPr/>
        </p:nvSpPr>
        <p:spPr>
          <a:xfrm>
            <a:off x="792480" y="3361167"/>
            <a:ext cx="7193280" cy="15036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6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Epsilon-Constraint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Some basic properties:</a:t>
                </a:r>
                <a:endParaRPr lang="en-US" dirty="0"/>
              </a:p>
              <a:p>
                <a:pPr lvl="1"/>
                <a:r>
                  <a:rPr lang="en-US" dirty="0"/>
                  <a:t>Consider a bi-objective optimization problem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3543300" lvl="8" indent="-342900">
                  <a:buFontTx/>
                  <a:buChar char="•"/>
                </a:pPr>
                <a:endParaRPr lang="en-US" sz="1100" dirty="0"/>
              </a:p>
              <a:p>
                <a:pPr marL="800100" lvl="2" indent="-342900">
                  <a:buFontTx/>
                  <a:buChar char="•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uniquely, </a:t>
                </a:r>
                <a:r>
                  <a:rPr lang="en-US" sz="2400" dirty="0"/>
                  <a:t>where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b="1" dirty="0">
                    <a:solidFill>
                      <a:srgbClr val="FF0000"/>
                    </a:solidFill>
                  </a:rPr>
                  <a:t>Property: </a:t>
                </a:r>
                <a:r>
                  <a:rPr lang="en-US" dirty="0"/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Pareto efficient</a:t>
                </a:r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Proof (sketch):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not Pareto efficient. Then, there exists another solution,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such that</a:t>
                </a:r>
              </a:p>
              <a:p>
                <a:pPr lvl="3"/>
                <a:r>
                  <a:rPr lang="en-US" dirty="0"/>
                  <a:t>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dirty="0"/>
                  <a:t>. But this is not possible because, by definition,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unique</a:t>
                </a:r>
              </a:p>
              <a:p>
                <a:pPr lvl="3"/>
                <a:r>
                  <a:rPr lang="en-US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dirty="0"/>
                  <a:t>. 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𝑎𝑟𝑔𝑚𝑖𝑛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it 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and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dirty="0"/>
                  <a:t>, it means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is also an optimum solution, contradicting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unique.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4" t="-2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EF53E3E-E91A-44AB-90F5-9E3CE7E7C8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89760" y="2164080"/>
              <a:ext cx="6096000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564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1597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1597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EF53E3E-E91A-44AB-90F5-9E3CE7E7C81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89760" y="2164080"/>
              <a:ext cx="6096000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100000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r="-100000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100000" b="-1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0000" r="-100000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200000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1E948C2-F064-4AF6-8EFB-4A7B8A8A74C9}"/>
              </a:ext>
            </a:extLst>
          </p:cNvPr>
          <p:cNvSpPr/>
          <p:nvPr/>
        </p:nvSpPr>
        <p:spPr>
          <a:xfrm>
            <a:off x="792480" y="3361167"/>
            <a:ext cx="9301480" cy="88063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7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Epsilon-Constraint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Epsilon-constraint algorithm for bi-objective optimization model</a:t>
                </a:r>
              </a:p>
              <a:p>
                <a:pPr lvl="1"/>
                <a:r>
                  <a:rPr lang="en-US" b="1" dirty="0">
                    <a:solidFill>
                      <a:srgbClr val="C00000"/>
                    </a:solidFill>
                  </a:rPr>
                  <a:t>Step 0: </a:t>
                </a:r>
                <a:r>
                  <a:rPr lang="en-US" dirty="0"/>
                  <a:t>Initialization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Pick one of the objective functions, 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very large number). 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𝑃𝐸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C00000"/>
                    </a:solidFill>
                  </a:rPr>
                  <a:t>Step 1: </a:t>
                </a:r>
                <a:r>
                  <a:rPr lang="en-US" dirty="0"/>
                  <a:t>While feasible</a:t>
                </a:r>
              </a:p>
              <a:p>
                <a:pPr lvl="2"/>
                <a:r>
                  <a:rPr lang="en-US" dirty="0"/>
                  <a:t>Solve the single-objective model </a:t>
                </a:r>
                <a:r>
                  <a:rPr lang="en-US" b="1" u="sng" dirty="0"/>
                  <a:t>Model-P1</a:t>
                </a:r>
                <a:r>
                  <a:rPr lang="en-US" dirty="0"/>
                  <a:t>:</a:t>
                </a:r>
              </a:p>
              <a:p>
                <a:pPr lvl="3"/>
                <a:r>
                  <a:rPr lang="en-US" dirty="0"/>
                  <a:t>If Model-P1, is infeasible, go to Step 2.</a:t>
                </a:r>
              </a:p>
              <a:p>
                <a:pPr lvl="3"/>
                <a:r>
                  <a:rPr lang="en-US" dirty="0"/>
                  <a:t>Else,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be the optimum solution of the </a:t>
                </a:r>
                <a:r>
                  <a:rPr lang="en-US" b="1" u="sng" dirty="0"/>
                  <a:t>Model-P1</a:t>
                </a:r>
              </a:p>
              <a:p>
                <a:pPr lvl="4"/>
                <a:r>
                  <a:rPr lang="en-US" dirty="0"/>
                  <a:t>Then, solve the single-objective model </a:t>
                </a:r>
                <a:r>
                  <a:rPr lang="en-US" b="1" u="sng" dirty="0"/>
                  <a:t>Model-P2:</a:t>
                </a:r>
              </a:p>
              <a:p>
                <a:pPr lvl="4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be the optimum solution of Model P2</a:t>
                </a:r>
              </a:p>
              <a:p>
                <a:pPr lvl="2"/>
                <a:endParaRPr lang="en-US" dirty="0"/>
              </a:p>
              <a:p>
                <a:pPr lvl="4"/>
                <a:r>
                  <a:rPr lang="en-US" dirty="0">
                    <a:solidFill>
                      <a:schemeClr val="tx1"/>
                    </a:solidFill>
                  </a:rPr>
                  <a:t>Then,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Pareto efficient solution, thus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𝑃𝐸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=: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𝑃𝐸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∪{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4"/>
                <a:r>
                  <a:rPr lang="en-US" dirty="0">
                    <a:solidFill>
                      <a:schemeClr val="tx1"/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small number. Go to Step 1.</a:t>
                </a:r>
              </a:p>
              <a:p>
                <a:pPr lvl="1"/>
                <a:r>
                  <a:rPr lang="en-US" b="1" dirty="0">
                    <a:solidFill>
                      <a:srgbClr val="C00000"/>
                    </a:solidFill>
                  </a:rPr>
                  <a:t>Step 2: </a:t>
                </a:r>
                <a:r>
                  <a:rPr lang="en-US" dirty="0"/>
                  <a:t>Return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𝑃𝐸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as the set of Pareto efficient solutions</a:t>
                </a:r>
              </a:p>
              <a:p>
                <a:pPr lvl="2"/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D9139BB-3877-4D55-ADA0-5F539C13FE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7898550"/>
                  </p:ext>
                </p:extLst>
              </p:nvPr>
            </p:nvGraphicFramePr>
            <p:xfrm>
              <a:off x="7381240" y="2672818"/>
              <a:ext cx="2936240" cy="1005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8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564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1597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D9139BB-3877-4D55-ADA0-5F539C13FE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7898550"/>
                  </p:ext>
                </p:extLst>
              </p:nvPr>
            </p:nvGraphicFramePr>
            <p:xfrm>
              <a:off x="7381240" y="2672818"/>
              <a:ext cx="2936240" cy="1005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8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13" t="-1667" r="-100413" b="-1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830" t="-1667" r="-830" b="-1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13" t="-57547" r="-100413" b="-75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830" t="-57547" r="-830" b="-75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11454C6-6574-4229-9756-D57802B2D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5544168"/>
                  </p:ext>
                </p:extLst>
              </p:nvPr>
            </p:nvGraphicFramePr>
            <p:xfrm>
              <a:off x="7381240" y="3744698"/>
              <a:ext cx="3495040" cy="1005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47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475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564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5987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11454C6-6574-4229-9756-D57802B2D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5544168"/>
                  </p:ext>
                </p:extLst>
              </p:nvPr>
            </p:nvGraphicFramePr>
            <p:xfrm>
              <a:off x="7381240" y="3744698"/>
              <a:ext cx="3495040" cy="1005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47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475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47" t="-1667" r="-100347" b="-1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697" t="-1667" r="-697" b="-1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47" t="-57547" r="-100347" b="-75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697" t="-57547" r="-697" b="-75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A85E2B3-438A-4E57-A986-25A35039E7A4}"/>
              </a:ext>
            </a:extLst>
          </p:cNvPr>
          <p:cNvSpPr txBox="1"/>
          <p:nvPr/>
        </p:nvSpPr>
        <p:spPr>
          <a:xfrm>
            <a:off x="8887012" y="5344160"/>
            <a:ext cx="294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Solving </a:t>
            </a:r>
            <a:r>
              <a:rPr lang="en-US" b="1" u="sng" dirty="0"/>
              <a:t>Model-P2</a:t>
            </a:r>
            <a:r>
              <a:rPr lang="en-US" dirty="0"/>
              <a:t> is not needed if you know that </a:t>
            </a:r>
            <a:r>
              <a:rPr lang="en-US" b="1" u="sng" dirty="0"/>
              <a:t>Model-P1</a:t>
            </a:r>
            <a:r>
              <a:rPr lang="en-US" dirty="0"/>
              <a:t> has unique optimum solution!</a:t>
            </a:r>
          </a:p>
        </p:txBody>
      </p:sp>
    </p:spTree>
    <p:extLst>
      <p:ext uri="{BB962C8B-B14F-4D97-AF65-F5344CB8AC3E}">
        <p14:creationId xmlns:p14="http://schemas.microsoft.com/office/powerpoint/2010/main" val="180122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Introduction and Solution Concepts</a:t>
            </a:r>
          </a:p>
          <a:p>
            <a:r>
              <a:rPr lang="en-US" dirty="0">
                <a:solidFill>
                  <a:schemeClr val="bg2"/>
                </a:solidFill>
              </a:rPr>
              <a:t>Single-objective Reduction</a:t>
            </a:r>
          </a:p>
          <a:p>
            <a:r>
              <a:rPr lang="en-US" dirty="0">
                <a:solidFill>
                  <a:schemeClr val="bg2"/>
                </a:solidFill>
              </a:rPr>
              <a:t>Pareto Front Generation</a:t>
            </a:r>
          </a:p>
          <a:p>
            <a:r>
              <a:rPr lang="en-US" dirty="0"/>
              <a:t>Epsilon-constraint Method Example</a:t>
            </a:r>
          </a:p>
          <a:p>
            <a:r>
              <a:rPr lang="en-US" dirty="0">
                <a:solidFill>
                  <a:schemeClr val="bg2"/>
                </a:solidFill>
              </a:rPr>
              <a:t>Goal Programming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Weighted Goal Programming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Preemptive Goal Programming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006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Epsilon-Constraint Method: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/>
                  <a:t>Recall: A multi-objective shortest path problem (not in the textbook):</a:t>
                </a:r>
              </a:p>
              <a:p>
                <a:endParaRPr lang="en-US" b="1" u="sng" dirty="0"/>
              </a:p>
              <a:p>
                <a:endParaRPr lang="en-US" b="1" u="sng" dirty="0"/>
              </a:p>
              <a:p>
                <a:endParaRPr lang="en-US" b="1" u="sng" dirty="0"/>
              </a:p>
              <a:p>
                <a:endParaRPr lang="en-US" b="1" u="sng" dirty="0"/>
              </a:p>
              <a:p>
                <a:endParaRPr lang="en-US" b="1" u="sng" dirty="0"/>
              </a:p>
              <a:p>
                <a:pPr lvl="1"/>
                <a:r>
                  <a:rPr lang="en-US" b="1" dirty="0">
                    <a:solidFill>
                      <a:srgbClr val="C00000"/>
                    </a:solidFill>
                  </a:rPr>
                  <a:t>Step 0: </a:t>
                </a:r>
                <a:r>
                  <a:rPr lang="en-US" dirty="0"/>
                  <a:t>Initialization</a:t>
                </a:r>
              </a:p>
              <a:p>
                <a:pPr lvl="2"/>
                <a:r>
                  <a:rPr lang="en-US" dirty="0"/>
                  <a:t>Pick one of the objective functions, 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is a very large number). </a:t>
                </a:r>
              </a:p>
              <a:p>
                <a:pPr lvl="2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US" dirty="0"/>
              </a:p>
              <a:p>
                <a:pPr lvl="1"/>
                <a:endParaRPr lang="en-US" b="1" u="sng" dirty="0"/>
              </a:p>
              <a:p>
                <a:pPr lvl="2"/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B97CF86-F391-4756-BCBC-51F15C6A8D92}"/>
              </a:ext>
            </a:extLst>
          </p:cNvPr>
          <p:cNvSpPr txBox="1"/>
          <p:nvPr/>
        </p:nvSpPr>
        <p:spPr>
          <a:xfrm>
            <a:off x="701254" y="1836483"/>
            <a:ext cx="514074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Minimize	 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r>
              <a:rPr lang="en-US" sz="1400" dirty="0"/>
              <a:t>Subject to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)&gt;=0</a:t>
            </a:r>
          </a:p>
        </p:txBody>
      </p:sp>
    </p:spTree>
    <p:extLst>
      <p:ext uri="{BB962C8B-B14F-4D97-AF65-F5344CB8AC3E}">
        <p14:creationId xmlns:p14="http://schemas.microsoft.com/office/powerpoint/2010/main" val="93483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Epsilon-Constraint Method: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Recall: A multi-objective shortest path problem (not in the textbook):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Step 1: </a:t>
            </a:r>
            <a:r>
              <a:rPr lang="en-US" dirty="0"/>
              <a:t>While feasible</a:t>
            </a:r>
          </a:p>
          <a:p>
            <a:pPr lvl="1"/>
            <a:endParaRPr lang="en-US" b="1" u="sng" dirty="0"/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06D3C-0FE3-45FF-8579-9C50BF9BAA8D}"/>
              </a:ext>
            </a:extLst>
          </p:cNvPr>
          <p:cNvSpPr txBox="1"/>
          <p:nvPr/>
        </p:nvSpPr>
        <p:spPr>
          <a:xfrm>
            <a:off x="513294" y="2190412"/>
            <a:ext cx="588242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Subject to	 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r>
              <a:rPr lang="en-US" sz="1400" dirty="0"/>
              <a:t> &lt;=</a:t>
            </a:r>
            <a:r>
              <a:rPr lang="en-US" sz="1400" dirty="0">
                <a:highlight>
                  <a:srgbClr val="FFFF00"/>
                </a:highlight>
              </a:rPr>
              <a:t>1000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 binary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0D623-DEF2-4729-B38A-9850E71C0356}"/>
              </a:ext>
            </a:extLst>
          </p:cNvPr>
          <p:cNvSpPr txBox="1"/>
          <p:nvPr/>
        </p:nvSpPr>
        <p:spPr>
          <a:xfrm>
            <a:off x="513294" y="4214415"/>
            <a:ext cx="588242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/>
              <a:t>Subject to	 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=</a:t>
            </a:r>
            <a:r>
              <a:rPr lang="en-US" sz="1400" dirty="0">
                <a:highlight>
                  <a:srgbClr val="FFFF00"/>
                </a:highlight>
              </a:rPr>
              <a:t>12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 binary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D4EA6-4754-494B-8EA3-244F2C38344A}"/>
              </a:ext>
            </a:extLst>
          </p:cNvPr>
          <p:cNvSpPr txBox="1"/>
          <p:nvPr/>
        </p:nvSpPr>
        <p:spPr>
          <a:xfrm>
            <a:off x="6639560" y="2514352"/>
            <a:ext cx="186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Model P1: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X* is Path 3 with f</a:t>
            </a:r>
            <a:r>
              <a:rPr lang="en-US" baseline="-25000" dirty="0"/>
              <a:t>1</a:t>
            </a:r>
            <a:r>
              <a:rPr lang="en-US" dirty="0"/>
              <a:t>(X*)=12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41BCE7-7349-4DD5-8444-B8BDF444E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208" y="3043212"/>
            <a:ext cx="2764844" cy="19853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CB0062-2CF4-4E2D-B1B5-78698511674A}"/>
              </a:ext>
            </a:extLst>
          </p:cNvPr>
          <p:cNvSpPr txBox="1"/>
          <p:nvPr/>
        </p:nvSpPr>
        <p:spPr>
          <a:xfrm>
            <a:off x="6554012" y="4261872"/>
            <a:ext cx="2168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Model P2: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X** is Path 3 with f</a:t>
            </a:r>
            <a:r>
              <a:rPr lang="en-US" baseline="-25000" dirty="0"/>
              <a:t>1</a:t>
            </a:r>
            <a:r>
              <a:rPr lang="en-US" dirty="0"/>
              <a:t>(X**)=12 and f</a:t>
            </a:r>
            <a:r>
              <a:rPr lang="en-US" baseline="-25000" dirty="0"/>
              <a:t>2</a:t>
            </a:r>
            <a:r>
              <a:rPr lang="en-US" dirty="0"/>
              <a:t>(X**)=35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AC212F-BB2D-4207-A2AD-A7EE364F46DA}"/>
              </a:ext>
            </a:extLst>
          </p:cNvPr>
          <p:cNvSpPr/>
          <p:nvPr/>
        </p:nvSpPr>
        <p:spPr>
          <a:xfrm>
            <a:off x="9479280" y="3332480"/>
            <a:ext cx="345440" cy="3911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81E61-BEB0-49B7-9A7C-39F57D43C42B}"/>
              </a:ext>
            </a:extLst>
          </p:cNvPr>
          <p:cNvSpPr txBox="1"/>
          <p:nvPr/>
        </p:nvSpPr>
        <p:spPr>
          <a:xfrm>
            <a:off x="9203466" y="5222401"/>
            <a:ext cx="2148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PE=PE U {X**} or</a:t>
            </a:r>
          </a:p>
          <a:p>
            <a:r>
              <a:rPr lang="en-US" dirty="0"/>
              <a:t>PE={Path-3}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B35695-93F7-4CF9-AEBB-E0B2FC5E7AB6}"/>
              </a:ext>
            </a:extLst>
          </p:cNvPr>
          <p:cNvSpPr txBox="1"/>
          <p:nvPr/>
        </p:nvSpPr>
        <p:spPr>
          <a:xfrm>
            <a:off x="9203466" y="6032418"/>
            <a:ext cx="214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Make U=35-1=34</a:t>
            </a:r>
          </a:p>
        </p:txBody>
      </p:sp>
    </p:spTree>
    <p:extLst>
      <p:ext uri="{BB962C8B-B14F-4D97-AF65-F5344CB8AC3E}">
        <p14:creationId xmlns:p14="http://schemas.microsoft.com/office/powerpoint/2010/main" val="362215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/>
      <p:bldP spid="10" grpId="0"/>
      <p:bldP spid="7" grpId="0" animBg="1"/>
      <p:bldP spid="12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Epsilon-Constraint Method: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Recall: A multi-objective shortest path problem (not in the textbook):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Step 1: </a:t>
            </a:r>
            <a:r>
              <a:rPr lang="en-US" dirty="0"/>
              <a:t>While feasible</a:t>
            </a:r>
          </a:p>
          <a:p>
            <a:pPr lvl="1"/>
            <a:endParaRPr lang="en-US" b="1" u="sng" dirty="0"/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06D3C-0FE3-45FF-8579-9C50BF9BAA8D}"/>
              </a:ext>
            </a:extLst>
          </p:cNvPr>
          <p:cNvSpPr txBox="1"/>
          <p:nvPr/>
        </p:nvSpPr>
        <p:spPr>
          <a:xfrm>
            <a:off x="513294" y="2190412"/>
            <a:ext cx="588242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Subject to	 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r>
              <a:rPr lang="en-US" sz="1400" dirty="0"/>
              <a:t> &lt;=</a:t>
            </a:r>
            <a:r>
              <a:rPr lang="en-US" sz="1400" dirty="0">
                <a:highlight>
                  <a:srgbClr val="FFFF00"/>
                </a:highlight>
              </a:rPr>
              <a:t>34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 binary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0D623-DEF2-4729-B38A-9850E71C0356}"/>
              </a:ext>
            </a:extLst>
          </p:cNvPr>
          <p:cNvSpPr txBox="1"/>
          <p:nvPr/>
        </p:nvSpPr>
        <p:spPr>
          <a:xfrm>
            <a:off x="513294" y="4214415"/>
            <a:ext cx="588242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/>
              <a:t>Subject to	 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=</a:t>
            </a:r>
            <a:r>
              <a:rPr lang="en-US" sz="1400" dirty="0">
                <a:highlight>
                  <a:srgbClr val="FFFF00"/>
                </a:highlight>
              </a:rPr>
              <a:t>13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 binary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D4EA6-4754-494B-8EA3-244F2C38344A}"/>
              </a:ext>
            </a:extLst>
          </p:cNvPr>
          <p:cNvSpPr txBox="1"/>
          <p:nvPr/>
        </p:nvSpPr>
        <p:spPr>
          <a:xfrm>
            <a:off x="6639560" y="2514352"/>
            <a:ext cx="186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Model P1: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X* is Path 1 with f</a:t>
            </a:r>
            <a:r>
              <a:rPr lang="en-US" baseline="-25000" dirty="0"/>
              <a:t>1</a:t>
            </a:r>
            <a:r>
              <a:rPr lang="en-US" dirty="0"/>
              <a:t>(X*)=13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41BCE7-7349-4DD5-8444-B8BDF444E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208" y="3043212"/>
            <a:ext cx="2764844" cy="19853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CB0062-2CF4-4E2D-B1B5-78698511674A}"/>
              </a:ext>
            </a:extLst>
          </p:cNvPr>
          <p:cNvSpPr txBox="1"/>
          <p:nvPr/>
        </p:nvSpPr>
        <p:spPr>
          <a:xfrm>
            <a:off x="6554012" y="4261872"/>
            <a:ext cx="2168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Model P2: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X** is Path 1 with f</a:t>
            </a:r>
            <a:r>
              <a:rPr lang="en-US" baseline="-25000" dirty="0"/>
              <a:t>1</a:t>
            </a:r>
            <a:r>
              <a:rPr lang="en-US" dirty="0"/>
              <a:t>(X**)=13 and f</a:t>
            </a:r>
            <a:r>
              <a:rPr lang="en-US" baseline="-25000" dirty="0"/>
              <a:t>2</a:t>
            </a:r>
            <a:r>
              <a:rPr lang="en-US" dirty="0"/>
              <a:t>(X**)=25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AC212F-BB2D-4207-A2AD-A7EE364F46DA}"/>
              </a:ext>
            </a:extLst>
          </p:cNvPr>
          <p:cNvSpPr/>
          <p:nvPr/>
        </p:nvSpPr>
        <p:spPr>
          <a:xfrm>
            <a:off x="9479280" y="3332480"/>
            <a:ext cx="345440" cy="3911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DC2B39-0D81-4701-BC5F-32829D9DA953}"/>
              </a:ext>
            </a:extLst>
          </p:cNvPr>
          <p:cNvSpPr txBox="1"/>
          <p:nvPr/>
        </p:nvSpPr>
        <p:spPr>
          <a:xfrm>
            <a:off x="9203466" y="5222401"/>
            <a:ext cx="2148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PE=PE U {X**} or</a:t>
            </a:r>
          </a:p>
          <a:p>
            <a:r>
              <a:rPr lang="en-US" dirty="0"/>
              <a:t>PE={Path-3, Path-1}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137159-E88A-49E1-8A8C-C354CB375DAA}"/>
              </a:ext>
            </a:extLst>
          </p:cNvPr>
          <p:cNvSpPr/>
          <p:nvPr/>
        </p:nvSpPr>
        <p:spPr>
          <a:xfrm>
            <a:off x="9875520" y="4018835"/>
            <a:ext cx="345440" cy="3911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840238-2C78-446F-A4E7-0D67BA2C60CA}"/>
              </a:ext>
            </a:extLst>
          </p:cNvPr>
          <p:cNvSpPr txBox="1"/>
          <p:nvPr/>
        </p:nvSpPr>
        <p:spPr>
          <a:xfrm>
            <a:off x="9203466" y="6032418"/>
            <a:ext cx="214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Make U=25-1=24</a:t>
            </a:r>
          </a:p>
        </p:txBody>
      </p:sp>
    </p:spTree>
    <p:extLst>
      <p:ext uri="{BB962C8B-B14F-4D97-AF65-F5344CB8AC3E}">
        <p14:creationId xmlns:p14="http://schemas.microsoft.com/office/powerpoint/2010/main" val="92976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/>
      <p:bldP spid="10" grpId="0"/>
      <p:bldP spid="11" grpId="0"/>
      <p:bldP spid="13" grpId="0" animBg="1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Epsilon-Constraint Method: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Recall: A multi-objective shortest path problem (not in the textbook):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Step 1: </a:t>
            </a:r>
            <a:r>
              <a:rPr lang="en-US" dirty="0"/>
              <a:t>While feasible</a:t>
            </a:r>
          </a:p>
          <a:p>
            <a:pPr lvl="1"/>
            <a:endParaRPr lang="en-US" b="1" u="sng" dirty="0"/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06D3C-0FE3-45FF-8579-9C50BF9BAA8D}"/>
              </a:ext>
            </a:extLst>
          </p:cNvPr>
          <p:cNvSpPr txBox="1"/>
          <p:nvPr/>
        </p:nvSpPr>
        <p:spPr>
          <a:xfrm>
            <a:off x="513294" y="2190412"/>
            <a:ext cx="588242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Subject to	 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r>
              <a:rPr lang="en-US" sz="1400" dirty="0"/>
              <a:t> &lt;=</a:t>
            </a:r>
            <a:r>
              <a:rPr lang="en-US" sz="1400" dirty="0">
                <a:highlight>
                  <a:srgbClr val="FFFF00"/>
                </a:highlight>
              </a:rPr>
              <a:t>24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 binary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0D623-DEF2-4729-B38A-9850E71C0356}"/>
              </a:ext>
            </a:extLst>
          </p:cNvPr>
          <p:cNvSpPr txBox="1"/>
          <p:nvPr/>
        </p:nvSpPr>
        <p:spPr>
          <a:xfrm>
            <a:off x="513294" y="4214415"/>
            <a:ext cx="588242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/>
              <a:t>Subject to	 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=</a:t>
            </a:r>
            <a:r>
              <a:rPr lang="en-US" sz="1400" dirty="0">
                <a:highlight>
                  <a:srgbClr val="FFFF00"/>
                </a:highlight>
              </a:rPr>
              <a:t>15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 binary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D4EA6-4754-494B-8EA3-244F2C38344A}"/>
              </a:ext>
            </a:extLst>
          </p:cNvPr>
          <p:cNvSpPr txBox="1"/>
          <p:nvPr/>
        </p:nvSpPr>
        <p:spPr>
          <a:xfrm>
            <a:off x="6639560" y="2514352"/>
            <a:ext cx="186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Model P1: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X* is Path 2 with f</a:t>
            </a:r>
            <a:r>
              <a:rPr lang="en-US" baseline="-25000" dirty="0"/>
              <a:t>1</a:t>
            </a:r>
            <a:r>
              <a:rPr lang="en-US" dirty="0"/>
              <a:t>(X*)=15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41BCE7-7349-4DD5-8444-B8BDF444E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208" y="3043212"/>
            <a:ext cx="2764844" cy="19853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CB0062-2CF4-4E2D-B1B5-78698511674A}"/>
              </a:ext>
            </a:extLst>
          </p:cNvPr>
          <p:cNvSpPr txBox="1"/>
          <p:nvPr/>
        </p:nvSpPr>
        <p:spPr>
          <a:xfrm>
            <a:off x="6554012" y="4261872"/>
            <a:ext cx="2168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Model P2: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X** is Path 2 with f</a:t>
            </a:r>
            <a:r>
              <a:rPr lang="en-US" baseline="-25000" dirty="0"/>
              <a:t>1</a:t>
            </a:r>
            <a:r>
              <a:rPr lang="en-US" dirty="0"/>
              <a:t>(X**)=15 and f</a:t>
            </a:r>
            <a:r>
              <a:rPr lang="en-US" baseline="-25000" dirty="0"/>
              <a:t>2</a:t>
            </a:r>
            <a:r>
              <a:rPr lang="en-US" dirty="0"/>
              <a:t>(X**)=20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AC212F-BB2D-4207-A2AD-A7EE364F46DA}"/>
              </a:ext>
            </a:extLst>
          </p:cNvPr>
          <p:cNvSpPr/>
          <p:nvPr/>
        </p:nvSpPr>
        <p:spPr>
          <a:xfrm>
            <a:off x="9479280" y="3332480"/>
            <a:ext cx="345440" cy="3911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DC2B39-0D81-4701-BC5F-32829D9DA953}"/>
              </a:ext>
            </a:extLst>
          </p:cNvPr>
          <p:cNvSpPr txBox="1"/>
          <p:nvPr/>
        </p:nvSpPr>
        <p:spPr>
          <a:xfrm>
            <a:off x="9203466" y="5222401"/>
            <a:ext cx="2788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PE=PE U {X**} or</a:t>
            </a:r>
          </a:p>
          <a:p>
            <a:r>
              <a:rPr lang="en-US" dirty="0"/>
              <a:t>PE={Path-3, Path-1, Path 2}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137159-E88A-49E1-8A8C-C354CB375DAA}"/>
              </a:ext>
            </a:extLst>
          </p:cNvPr>
          <p:cNvSpPr/>
          <p:nvPr/>
        </p:nvSpPr>
        <p:spPr>
          <a:xfrm>
            <a:off x="9875520" y="4018835"/>
            <a:ext cx="345440" cy="3911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531975-5901-4CCC-B478-C0B777C3F083}"/>
              </a:ext>
            </a:extLst>
          </p:cNvPr>
          <p:cNvSpPr/>
          <p:nvPr/>
        </p:nvSpPr>
        <p:spPr>
          <a:xfrm>
            <a:off x="10681746" y="4343955"/>
            <a:ext cx="345440" cy="3911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A7544C-932F-4797-BB0B-E7B185E05E8D}"/>
              </a:ext>
            </a:extLst>
          </p:cNvPr>
          <p:cNvSpPr txBox="1"/>
          <p:nvPr/>
        </p:nvSpPr>
        <p:spPr>
          <a:xfrm>
            <a:off x="9203466" y="6032418"/>
            <a:ext cx="214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Make U=20-1=19</a:t>
            </a:r>
          </a:p>
        </p:txBody>
      </p:sp>
    </p:spTree>
    <p:extLst>
      <p:ext uri="{BB962C8B-B14F-4D97-AF65-F5344CB8AC3E}">
        <p14:creationId xmlns:p14="http://schemas.microsoft.com/office/powerpoint/2010/main" val="425554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/>
      <p:bldP spid="10" grpId="0"/>
      <p:bldP spid="11" grpId="0"/>
      <p:bldP spid="12" grpId="0" animBg="1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Epsilon-Constraint Method: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Recall: A multi-objective shortest path problem (not in the textbook):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Step 1: </a:t>
            </a:r>
            <a:r>
              <a:rPr lang="en-US" dirty="0"/>
              <a:t>While feasible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Step 2: </a:t>
            </a:r>
            <a:r>
              <a:rPr lang="en-US" dirty="0"/>
              <a:t>Stop and return PE</a:t>
            </a:r>
          </a:p>
          <a:p>
            <a:pPr lvl="2"/>
            <a:r>
              <a:rPr lang="en-US" dirty="0"/>
              <a:t>PE={Path-3, Path-1, Path 2}</a:t>
            </a:r>
          </a:p>
          <a:p>
            <a:pPr lvl="2"/>
            <a:r>
              <a:rPr lang="en-US" dirty="0"/>
              <a:t>Pareto Front is</a:t>
            </a:r>
          </a:p>
          <a:p>
            <a:pPr lvl="1"/>
            <a:endParaRPr lang="en-US" b="1" u="sng" dirty="0"/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06D3C-0FE3-45FF-8579-9C50BF9BAA8D}"/>
              </a:ext>
            </a:extLst>
          </p:cNvPr>
          <p:cNvSpPr txBox="1"/>
          <p:nvPr/>
        </p:nvSpPr>
        <p:spPr>
          <a:xfrm>
            <a:off x="513294" y="2190412"/>
            <a:ext cx="5882426" cy="19082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Minimize	f</a:t>
            </a:r>
            <a:r>
              <a:rPr lang="en-US" sz="1400" baseline="-25000" dirty="0"/>
              <a:t>1</a:t>
            </a:r>
            <a:r>
              <a:rPr lang="en-US" sz="1400" dirty="0"/>
              <a:t>(X)=7X</a:t>
            </a:r>
            <a:r>
              <a:rPr lang="en-US" sz="1400" baseline="-25000" dirty="0"/>
              <a:t>(1,2) </a:t>
            </a:r>
            <a:r>
              <a:rPr lang="en-US" sz="1400" dirty="0"/>
              <a:t>+ 9X</a:t>
            </a:r>
            <a:r>
              <a:rPr lang="en-US" sz="1400" baseline="-25000" dirty="0"/>
              <a:t>(1,3) </a:t>
            </a:r>
            <a:r>
              <a:rPr lang="en-US" sz="1400" dirty="0"/>
              <a:t>+14X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+ 6X</a:t>
            </a:r>
            <a:r>
              <a:rPr lang="en-US" sz="1400" baseline="-25000" dirty="0"/>
              <a:t>(2,4) </a:t>
            </a:r>
            <a:r>
              <a:rPr lang="en-US" sz="1400" dirty="0"/>
              <a:t>+ 3X</a:t>
            </a:r>
            <a:r>
              <a:rPr lang="en-US" sz="1400" baseline="-25000" dirty="0"/>
              <a:t>(3,4)</a:t>
            </a:r>
            <a:r>
              <a:rPr lang="en-US" sz="1400" dirty="0"/>
              <a:t> 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Subject to	 f</a:t>
            </a:r>
            <a:r>
              <a:rPr lang="en-US" sz="1400" baseline="-25000" dirty="0"/>
              <a:t>2</a:t>
            </a:r>
            <a:r>
              <a:rPr lang="en-US" sz="1400" dirty="0"/>
              <a:t>(X)= 10X</a:t>
            </a:r>
            <a:r>
              <a:rPr lang="en-US" sz="1400" baseline="-25000" dirty="0"/>
              <a:t>(1,2) </a:t>
            </a:r>
            <a:r>
              <a:rPr lang="en-US" sz="1400" dirty="0"/>
              <a:t>+ 30X</a:t>
            </a:r>
            <a:r>
              <a:rPr lang="en-US" sz="1400" baseline="-25000" dirty="0"/>
              <a:t>(1,3) </a:t>
            </a:r>
            <a:r>
              <a:rPr lang="en-US" sz="1400" dirty="0"/>
              <a:t>+30X</a:t>
            </a:r>
            <a:r>
              <a:rPr lang="en-US" sz="1400" baseline="-25000" dirty="0"/>
              <a:t>(1,4) </a:t>
            </a:r>
            <a:r>
              <a:rPr lang="en-US" sz="1400" dirty="0"/>
              <a:t>+ 5X</a:t>
            </a:r>
            <a:r>
              <a:rPr lang="en-US" sz="1400" baseline="-25000" dirty="0"/>
              <a:t>(2,3)</a:t>
            </a:r>
            <a:r>
              <a:rPr lang="en-US" sz="1400" dirty="0"/>
              <a:t> + 15X</a:t>
            </a:r>
            <a:r>
              <a:rPr lang="en-US" sz="1400" baseline="-25000" dirty="0"/>
              <a:t>(2,4) </a:t>
            </a:r>
            <a:r>
              <a:rPr lang="en-US" sz="1400" dirty="0"/>
              <a:t>+ 5X</a:t>
            </a:r>
            <a:r>
              <a:rPr lang="en-US" sz="1400" baseline="-25000" dirty="0"/>
              <a:t>(3,4)</a:t>
            </a:r>
            <a:r>
              <a:rPr lang="en-US" sz="1400" dirty="0"/>
              <a:t> &lt;=</a:t>
            </a:r>
            <a:r>
              <a:rPr lang="en-US" sz="1400" dirty="0">
                <a:highlight>
                  <a:srgbClr val="FFFF00"/>
                </a:highlight>
              </a:rPr>
              <a:t>19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(1,2) </a:t>
            </a:r>
            <a:r>
              <a:rPr lang="en-US" sz="1400" dirty="0"/>
              <a:t>+ X</a:t>
            </a:r>
            <a:r>
              <a:rPr lang="en-US" sz="1400" baseline="-25000" dirty="0"/>
              <a:t>(1,3) </a:t>
            </a:r>
            <a:r>
              <a:rPr lang="en-US" sz="1400" dirty="0"/>
              <a:t>+ X</a:t>
            </a:r>
            <a:r>
              <a:rPr lang="en-US" sz="1400" baseline="-25000" dirty="0"/>
              <a:t>(1,4) </a:t>
            </a:r>
            <a:r>
              <a:rPr lang="en-US" sz="1400" dirty="0"/>
              <a:t> =1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(2,3)</a:t>
            </a:r>
            <a:r>
              <a:rPr lang="en-US" sz="1400" dirty="0"/>
              <a:t> + X</a:t>
            </a:r>
            <a:r>
              <a:rPr lang="en-US" sz="1400" baseline="-25000" dirty="0"/>
              <a:t>(2,4)  </a:t>
            </a:r>
            <a:r>
              <a:rPr lang="en-US" sz="1400" dirty="0"/>
              <a:t>- X</a:t>
            </a:r>
            <a:r>
              <a:rPr lang="en-US" sz="1400" baseline="-25000" dirty="0"/>
              <a:t>(1,2)  </a:t>
            </a:r>
            <a:r>
              <a:rPr lang="en-US" sz="1400" dirty="0"/>
              <a:t>=0 </a:t>
            </a:r>
          </a:p>
          <a:p>
            <a:r>
              <a:rPr lang="en-US" sz="1400" dirty="0"/>
              <a:t>	X</a:t>
            </a:r>
            <a:r>
              <a:rPr lang="en-US" sz="1400" baseline="-25000" dirty="0"/>
              <a:t>(3,4)</a:t>
            </a:r>
            <a:r>
              <a:rPr lang="en-US" sz="1400" dirty="0"/>
              <a:t> - X</a:t>
            </a:r>
            <a:r>
              <a:rPr lang="en-US" sz="1400" baseline="-25000" dirty="0"/>
              <a:t>(1,3) </a:t>
            </a:r>
            <a:r>
              <a:rPr lang="en-US" sz="1400" dirty="0"/>
              <a:t>- X</a:t>
            </a:r>
            <a:r>
              <a:rPr lang="en-US" sz="1400" baseline="-25000" dirty="0"/>
              <a:t>(2,3)</a:t>
            </a:r>
            <a:r>
              <a:rPr lang="en-US" sz="1400" dirty="0"/>
              <a:t> =0</a:t>
            </a:r>
          </a:p>
          <a:p>
            <a:r>
              <a:rPr lang="en-US" sz="1400" dirty="0"/>
              <a:t>	- X</a:t>
            </a:r>
            <a:r>
              <a:rPr lang="en-US" sz="1400" baseline="-25000" dirty="0"/>
              <a:t>(1,4) </a:t>
            </a:r>
            <a:r>
              <a:rPr lang="en-US" sz="1400" dirty="0"/>
              <a:t> - X</a:t>
            </a:r>
            <a:r>
              <a:rPr lang="en-US" sz="1400" baseline="-25000" dirty="0"/>
              <a:t>(2,4) </a:t>
            </a:r>
            <a:r>
              <a:rPr lang="en-US" sz="1400" dirty="0"/>
              <a:t>- X</a:t>
            </a:r>
            <a:r>
              <a:rPr lang="en-US" sz="1400" baseline="-25000" dirty="0"/>
              <a:t>(3,4)</a:t>
            </a:r>
            <a:r>
              <a:rPr lang="en-US" sz="1400" dirty="0"/>
              <a:t> =-1</a:t>
            </a:r>
          </a:p>
          <a:p>
            <a:r>
              <a:rPr lang="en-US" sz="1400" dirty="0"/>
              <a:t>	X(</a:t>
            </a:r>
            <a:r>
              <a:rPr lang="en-US" sz="1400" dirty="0" err="1"/>
              <a:t>ij</a:t>
            </a:r>
            <a:r>
              <a:rPr lang="en-US" sz="1400" dirty="0"/>
              <a:t>) binary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D4EA6-4754-494B-8EA3-244F2C38344A}"/>
              </a:ext>
            </a:extLst>
          </p:cNvPr>
          <p:cNvSpPr txBox="1"/>
          <p:nvPr/>
        </p:nvSpPr>
        <p:spPr>
          <a:xfrm>
            <a:off x="6639560" y="2514352"/>
            <a:ext cx="1864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Model P1: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Infeasible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045217-0C25-403E-8AF0-503502CED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208" y="3043212"/>
            <a:ext cx="2764844" cy="198535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1A36EC86-7486-44F0-B20F-4C9247055E9A}"/>
              </a:ext>
            </a:extLst>
          </p:cNvPr>
          <p:cNvSpPr/>
          <p:nvPr/>
        </p:nvSpPr>
        <p:spPr>
          <a:xfrm>
            <a:off x="9479280" y="3332480"/>
            <a:ext cx="345440" cy="3911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2DDEE6-56B2-4827-9F38-7CBA3E74FF13}"/>
              </a:ext>
            </a:extLst>
          </p:cNvPr>
          <p:cNvSpPr/>
          <p:nvPr/>
        </p:nvSpPr>
        <p:spPr>
          <a:xfrm>
            <a:off x="9875520" y="4018835"/>
            <a:ext cx="345440" cy="3911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B963BA-A466-4C8B-BFE7-5949DE304E46}"/>
              </a:ext>
            </a:extLst>
          </p:cNvPr>
          <p:cNvSpPr/>
          <p:nvPr/>
        </p:nvSpPr>
        <p:spPr>
          <a:xfrm>
            <a:off x="10681746" y="4343955"/>
            <a:ext cx="345440" cy="3911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9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16" grpId="0" animBg="1"/>
      <p:bldP spid="17" grpId="0" animBg="1"/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Introduction and Solution Concepts</a:t>
            </a:r>
          </a:p>
          <a:p>
            <a:r>
              <a:rPr lang="en-US" dirty="0">
                <a:solidFill>
                  <a:schemeClr val="bg2"/>
                </a:solidFill>
              </a:rPr>
              <a:t>Single-objective Reduction</a:t>
            </a:r>
          </a:p>
          <a:p>
            <a:r>
              <a:rPr lang="en-US" dirty="0">
                <a:solidFill>
                  <a:schemeClr val="bg2"/>
                </a:solidFill>
              </a:rPr>
              <a:t>Pareto Front Generation</a:t>
            </a:r>
          </a:p>
          <a:p>
            <a:r>
              <a:rPr lang="en-US" dirty="0">
                <a:solidFill>
                  <a:schemeClr val="bg2"/>
                </a:solidFill>
              </a:rPr>
              <a:t>Epsilon-constraint Method Example</a:t>
            </a:r>
          </a:p>
          <a:p>
            <a:r>
              <a:rPr lang="en-US" dirty="0"/>
              <a:t>Goal Programming</a:t>
            </a:r>
          </a:p>
          <a:p>
            <a:pPr lvl="1"/>
            <a:r>
              <a:rPr lang="en-US" dirty="0"/>
              <a:t>Weighted Goal Programming</a:t>
            </a:r>
          </a:p>
          <a:p>
            <a:pPr lvl="1"/>
            <a:r>
              <a:rPr lang="en-US" dirty="0"/>
              <a:t>Preemptive Goal Programming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7336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 programming is another approach for multi-objective decision-making problems</a:t>
            </a:r>
          </a:p>
          <a:p>
            <a:pPr lvl="1"/>
            <a:r>
              <a:rPr lang="en-US" dirty="0"/>
              <a:t>Set goals (target values) for each of the objectives</a:t>
            </a:r>
          </a:p>
          <a:p>
            <a:pPr lvl="1"/>
            <a:r>
              <a:rPr lang="en-US" dirty="0"/>
              <a:t>Try to achieve these goals as much as possible</a:t>
            </a:r>
          </a:p>
          <a:p>
            <a:r>
              <a:rPr lang="en-US" dirty="0"/>
              <a:t>It will generate compromise solutions</a:t>
            </a:r>
          </a:p>
          <a:p>
            <a:r>
              <a:rPr lang="en-US" dirty="0"/>
              <a:t>Two main methods:</a:t>
            </a:r>
          </a:p>
          <a:p>
            <a:pPr lvl="1"/>
            <a:r>
              <a:rPr lang="en-US" dirty="0"/>
              <a:t>Weighted Goal Programming</a:t>
            </a:r>
          </a:p>
          <a:p>
            <a:pPr lvl="1"/>
            <a:r>
              <a:rPr lang="en-US" dirty="0"/>
              <a:t>Preemptive (sequential) Goal Programming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5867E-DD7B-44B8-BAF4-5DFA373D6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327" y="2254763"/>
            <a:ext cx="3277184" cy="131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42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Weighted goal programming </a:t>
            </a:r>
            <a:r>
              <a:rPr lang="en-US" dirty="0"/>
              <a:t>provides a way of striving toward several objectives simultaneously.</a:t>
            </a:r>
          </a:p>
          <a:p>
            <a:r>
              <a:rPr lang="en-US" dirty="0"/>
              <a:t>With weighted goal programming, the objective is to</a:t>
            </a:r>
          </a:p>
          <a:p>
            <a:pPr lvl="1"/>
            <a:r>
              <a:rPr lang="en-US" dirty="0"/>
              <a:t>Minimize W = weighted sum of deviations from the goals.</a:t>
            </a:r>
          </a:p>
          <a:p>
            <a:pPr lvl="1"/>
            <a:r>
              <a:rPr lang="en-US" dirty="0"/>
              <a:t>The weights are the penalty weights for missing the goal.</a:t>
            </a:r>
          </a:p>
          <a:p>
            <a:r>
              <a:rPr lang="en-US" dirty="0"/>
              <a:t>The </a:t>
            </a:r>
            <a:r>
              <a:rPr lang="en-US" u="sng" dirty="0"/>
              <a:t>Amount Over </a:t>
            </a:r>
            <a:r>
              <a:rPr lang="en-US" dirty="0"/>
              <a:t>and </a:t>
            </a:r>
            <a:r>
              <a:rPr lang="en-US" u="sng" dirty="0"/>
              <a:t>Amount Under</a:t>
            </a:r>
            <a:r>
              <a:rPr lang="en-US" dirty="0"/>
              <a:t> define the deviations from the individual goals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C00000"/>
                </a:solidFill>
              </a:rPr>
              <a:t>Level Achieved – Amount Over + Amount Under = Goal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Amount Over or Amount Under or Both can be penalized</a:t>
            </a:r>
          </a:p>
        </p:txBody>
      </p:sp>
    </p:spTree>
    <p:extLst>
      <p:ext uri="{BB962C8B-B14F-4D97-AF65-F5344CB8AC3E}">
        <p14:creationId xmlns:p14="http://schemas.microsoft.com/office/powerpoint/2010/main" val="118481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The </a:t>
            </a:r>
            <a:r>
              <a:rPr lang="en-US" b="1" u="sng" dirty="0" err="1"/>
              <a:t>Dewright</a:t>
            </a:r>
            <a:r>
              <a:rPr lang="en-US" b="1" u="sng" dirty="0"/>
              <a:t> Company (Chapter 17)</a:t>
            </a:r>
          </a:p>
          <a:p>
            <a:r>
              <a:rPr lang="en-US" dirty="0"/>
              <a:t>The </a:t>
            </a:r>
            <a:r>
              <a:rPr lang="en-US" dirty="0" err="1"/>
              <a:t>Dewright</a:t>
            </a:r>
            <a:r>
              <a:rPr lang="en-US" dirty="0"/>
              <a:t> Company is one of the largest producers of power tools in the United States.</a:t>
            </a:r>
          </a:p>
          <a:p>
            <a:pPr lvl="1"/>
            <a:r>
              <a:rPr lang="en-US" dirty="0"/>
              <a:t>The company is preparing to replace its current product line with the next generation of products—three new power tools.</a:t>
            </a:r>
          </a:p>
          <a:p>
            <a:pPr lvl="1"/>
            <a:r>
              <a:rPr lang="en-US" dirty="0"/>
              <a:t>Management needs to determine the mix of the company’s three new products to best meet the following three goals:</a:t>
            </a:r>
          </a:p>
          <a:p>
            <a:pPr lvl="2"/>
            <a:r>
              <a:rPr lang="en-US" dirty="0"/>
              <a:t>Achieve a total profit (net present value) of at least $125 million.</a:t>
            </a:r>
          </a:p>
          <a:p>
            <a:pPr lvl="2"/>
            <a:r>
              <a:rPr lang="en-US" dirty="0"/>
              <a:t>Maintain the current employment level of 4,000 employees.</a:t>
            </a:r>
          </a:p>
          <a:p>
            <a:pPr lvl="2"/>
            <a:r>
              <a:rPr lang="en-US" dirty="0"/>
              <a:t>Hold the capital investment down to no more than $55 million.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C408ADF-D16D-4185-BF22-58991D4F2305}"/>
              </a:ext>
            </a:extLst>
          </p:cNvPr>
          <p:cNvSpPr/>
          <p:nvPr/>
        </p:nvSpPr>
        <p:spPr>
          <a:xfrm>
            <a:off x="8418776" y="4090131"/>
            <a:ext cx="742950" cy="1050829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3D07D-064A-4739-9316-9FCA123C130B}"/>
              </a:ext>
            </a:extLst>
          </p:cNvPr>
          <p:cNvSpPr txBox="1"/>
          <p:nvPr/>
        </p:nvSpPr>
        <p:spPr>
          <a:xfrm>
            <a:off x="9324788" y="4446786"/>
            <a:ext cx="170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234455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Case: The </a:t>
            </a:r>
            <a:r>
              <a:rPr lang="en-US" b="1" u="sng" dirty="0" err="1"/>
              <a:t>Dewright</a:t>
            </a:r>
            <a:r>
              <a:rPr lang="en-US" b="1" u="sng" dirty="0"/>
              <a:t> Company (Chapter 17)</a:t>
            </a:r>
          </a:p>
          <a:p>
            <a:r>
              <a:rPr lang="en-US" dirty="0"/>
              <a:t>We have the following information: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Decision variables: </a:t>
            </a:r>
            <a:r>
              <a:rPr lang="en-US" dirty="0"/>
              <a:t>number of products of each type to produce per day</a:t>
            </a:r>
          </a:p>
          <a:p>
            <a:pPr lvl="1"/>
            <a:r>
              <a:rPr lang="en-US" i="1" dirty="0"/>
              <a:t>P</a:t>
            </a:r>
            <a:r>
              <a:rPr lang="en-US" i="1" baseline="-25000" dirty="0"/>
              <a:t>i</a:t>
            </a:r>
            <a:r>
              <a:rPr lang="en-US" dirty="0"/>
              <a:t> = Number of units of product </a:t>
            </a:r>
            <a:r>
              <a:rPr lang="en-US" i="1" dirty="0"/>
              <a:t>i</a:t>
            </a:r>
            <a:r>
              <a:rPr lang="en-US" dirty="0"/>
              <a:t> to produce per day  (</a:t>
            </a:r>
            <a:r>
              <a:rPr lang="en-US" i="1" dirty="0"/>
              <a:t>i</a:t>
            </a:r>
            <a:r>
              <a:rPr lang="en-US" dirty="0"/>
              <a:t> = 1, 2, 3)</a:t>
            </a:r>
          </a:p>
          <a:p>
            <a:pPr lvl="2"/>
            <a:r>
              <a:rPr lang="en-US" dirty="0"/>
              <a:t>We can formulate many functional constraints about production requirements, resource constraints, etc.</a:t>
            </a:r>
          </a:p>
          <a:p>
            <a:pPr lvl="2"/>
            <a:r>
              <a:rPr lang="en-US" dirty="0"/>
              <a:t>Here, we will consider that there is no functional constraint</a:t>
            </a:r>
          </a:p>
          <a:p>
            <a:endParaRPr lang="en-US" dirty="0"/>
          </a:p>
        </p:txBody>
      </p:sp>
      <p:graphicFrame>
        <p:nvGraphicFramePr>
          <p:cNvPr id="6" name="Group 110">
            <a:extLst>
              <a:ext uri="{FF2B5EF4-FFF2-40B4-BE49-F238E27FC236}">
                <a16:creationId xmlns:a16="http://schemas.microsoft.com/office/drawing/2014/main" id="{C433277D-FD13-40CF-B8BC-217853A2F3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0104637"/>
              </p:ext>
            </p:extLst>
          </p:nvPr>
        </p:nvGraphicFramePr>
        <p:xfrm>
          <a:off x="716280" y="2336800"/>
          <a:ext cx="7696518" cy="1676490"/>
        </p:xfrm>
        <a:graphic>
          <a:graphicData uri="http://schemas.openxmlformats.org/drawingml/2006/table">
            <a:tbl>
              <a:tblPr/>
              <a:tblGrid>
                <a:gridCol w="3810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6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" charset="0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Unit Contribution of Product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Factor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1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2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3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Goal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5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Total profit (millions of dollars)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12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9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15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≥ 125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Employment level (hundreds of employees)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3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4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= 40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Capital investment (millions of dollars)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7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8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≤ 55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4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The </a:t>
            </a:r>
            <a:r>
              <a:rPr lang="en-US" b="1" u="sng" dirty="0" err="1"/>
              <a:t>Dewright</a:t>
            </a:r>
            <a:r>
              <a:rPr lang="en-US" b="1" u="sng" dirty="0"/>
              <a:t> Company (Chapter 17)</a:t>
            </a:r>
          </a:p>
          <a:p>
            <a:r>
              <a:rPr lang="en-US" dirty="0">
                <a:solidFill>
                  <a:srgbClr val="C00000"/>
                </a:solidFill>
              </a:rPr>
              <a:t>Additional variables: </a:t>
            </a:r>
            <a:r>
              <a:rPr lang="en-US" dirty="0"/>
              <a:t>Deviations from the goals</a:t>
            </a:r>
          </a:p>
          <a:p>
            <a:pPr lvl="1"/>
            <a:r>
              <a:rPr lang="en-US" dirty="0"/>
              <a:t>Under Goal </a:t>
            </a:r>
            <a:r>
              <a:rPr lang="en-US" i="1" dirty="0"/>
              <a:t>j</a:t>
            </a:r>
            <a:r>
              <a:rPr lang="en-US" dirty="0"/>
              <a:t> = Amount under goal </a:t>
            </a:r>
            <a:r>
              <a:rPr lang="en-US" i="1" dirty="0"/>
              <a:t>j</a:t>
            </a:r>
            <a:r>
              <a:rPr lang="en-US" dirty="0"/>
              <a:t>  (</a:t>
            </a:r>
            <a:r>
              <a:rPr lang="en-US" i="1" dirty="0"/>
              <a:t>j</a:t>
            </a:r>
            <a:r>
              <a:rPr lang="en-US" dirty="0"/>
              <a:t> = 1, 2, 3),</a:t>
            </a:r>
          </a:p>
          <a:p>
            <a:pPr lvl="1"/>
            <a:r>
              <a:rPr lang="en-US" dirty="0"/>
              <a:t>Over Goal </a:t>
            </a:r>
            <a:r>
              <a:rPr lang="en-US" i="1" dirty="0"/>
              <a:t>j</a:t>
            </a:r>
            <a:r>
              <a:rPr lang="en-US" dirty="0"/>
              <a:t> = Amount over goal </a:t>
            </a:r>
            <a:r>
              <a:rPr lang="en-US" i="1" dirty="0"/>
              <a:t>j </a:t>
            </a:r>
            <a:r>
              <a:rPr lang="en-US" dirty="0"/>
              <a:t> (</a:t>
            </a:r>
            <a:r>
              <a:rPr lang="en-US" i="1" dirty="0"/>
              <a:t>j</a:t>
            </a:r>
            <a:r>
              <a:rPr lang="en-US" dirty="0"/>
              <a:t> = 1, 2, 3),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Penalties: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D40CBC-2D89-4F67-BA36-7EF4F6AB3C01}"/>
              </a:ext>
            </a:extLst>
          </p:cNvPr>
          <p:cNvSpPr/>
          <p:nvPr/>
        </p:nvSpPr>
        <p:spPr>
          <a:xfrm>
            <a:off x="965200" y="3093800"/>
            <a:ext cx="9672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		</a:t>
            </a:r>
            <a:r>
              <a:rPr lang="en-US" u="sng" dirty="0"/>
              <a:t>Level Achieved</a:t>
            </a:r>
            <a:r>
              <a:rPr lang="en-US" dirty="0"/>
              <a:t>           </a:t>
            </a:r>
            <a:r>
              <a:rPr lang="en-US" u="sng" dirty="0"/>
              <a:t>                 Deviations                    </a:t>
            </a:r>
            <a:r>
              <a:rPr lang="en-US" dirty="0"/>
              <a:t>	</a:t>
            </a:r>
            <a:r>
              <a:rPr lang="en-US" u="sng" dirty="0"/>
              <a:t>Goal</a:t>
            </a:r>
            <a:br>
              <a:rPr lang="en-US" dirty="0"/>
            </a:br>
            <a:r>
              <a:rPr lang="en-US" dirty="0"/>
              <a:t>	Goal 1: 	12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+ 9</a:t>
            </a: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 + 15</a:t>
            </a:r>
            <a:r>
              <a:rPr lang="en-US" i="1" dirty="0"/>
              <a:t>P</a:t>
            </a:r>
            <a:r>
              <a:rPr lang="en-US" baseline="-25000" dirty="0"/>
              <a:t>3 	</a:t>
            </a:r>
            <a:r>
              <a:rPr lang="en-US" dirty="0"/>
              <a:t>– (Over Goal 1) + (Under Goal 1)   =	125</a:t>
            </a:r>
            <a:br>
              <a:rPr lang="en-US" dirty="0"/>
            </a:br>
            <a:r>
              <a:rPr lang="en-US" dirty="0"/>
              <a:t>	Goal 2:	5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+ 3</a:t>
            </a: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 + 4</a:t>
            </a:r>
            <a:r>
              <a:rPr lang="en-US" i="1" dirty="0"/>
              <a:t>P</a:t>
            </a:r>
            <a:r>
              <a:rPr lang="en-US" baseline="-25000" dirty="0"/>
              <a:t>3</a:t>
            </a:r>
            <a:r>
              <a:rPr lang="en-US" dirty="0"/>
              <a:t>	– (Over Goal 2) + (Under Goal 2)   = 	40</a:t>
            </a:r>
            <a:br>
              <a:rPr lang="en-US" dirty="0"/>
            </a:br>
            <a:r>
              <a:rPr lang="en-US" dirty="0"/>
              <a:t>	Goal 3:	5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+ 7</a:t>
            </a: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 + 8</a:t>
            </a:r>
            <a:r>
              <a:rPr lang="en-US" i="1" dirty="0"/>
              <a:t>P</a:t>
            </a:r>
            <a:r>
              <a:rPr lang="en-US" baseline="-25000" dirty="0"/>
              <a:t>3</a:t>
            </a:r>
            <a:r>
              <a:rPr lang="en-US" dirty="0"/>
              <a:t>	– (Over Goal 3) + (Under Goal 3)   =	55</a:t>
            </a:r>
          </a:p>
        </p:txBody>
      </p:sp>
      <p:graphicFrame>
        <p:nvGraphicFramePr>
          <p:cNvPr id="7" name="Group 60">
            <a:extLst>
              <a:ext uri="{FF2B5EF4-FFF2-40B4-BE49-F238E27FC236}">
                <a16:creationId xmlns:a16="http://schemas.microsoft.com/office/drawing/2014/main" id="{D1423798-7AC1-407A-BAE8-FC1E29FF2D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1783704"/>
              </p:ext>
            </p:extLst>
          </p:nvPr>
        </p:nvGraphicFramePr>
        <p:xfrm>
          <a:off x="2509520" y="4908059"/>
          <a:ext cx="6248400" cy="1584816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Goal</a:t>
                      </a:r>
                    </a:p>
                  </a:txBody>
                  <a:tcPr marT="45702" marB="4570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Factor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Penalty Weight for Missing Goal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1</a:t>
                      </a:r>
                    </a:p>
                  </a:txBody>
                  <a:tcPr marT="45702" marB="45702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Total profit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5 (per $1 million under the goal)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2</a:t>
                      </a:r>
                    </a:p>
                  </a:txBody>
                  <a:tcPr marT="45702" marB="4570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Employment level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4 (per 100 employees under the goal)</a:t>
                      </a:r>
                      <a:b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</a:b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2 (per 100 employees over the goal)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3</a:t>
                      </a:r>
                    </a:p>
                  </a:txBody>
                  <a:tcPr marT="45702" marB="4570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Capital investment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" charset="0"/>
                        </a:rPr>
                        <a:t>3 (per $1 million over the goal)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08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The </a:t>
            </a:r>
            <a:r>
              <a:rPr lang="en-US" b="1" u="sng" dirty="0" err="1"/>
              <a:t>Dewright</a:t>
            </a:r>
            <a:r>
              <a:rPr lang="en-US" b="1" u="sng" dirty="0"/>
              <a:t> Company (Chapter 17)</a:t>
            </a:r>
          </a:p>
          <a:p>
            <a:r>
              <a:rPr lang="en-US" dirty="0">
                <a:solidFill>
                  <a:srgbClr val="C00000"/>
                </a:solidFill>
              </a:rPr>
              <a:t>The model: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Spreadsheet:</a:t>
            </a:r>
            <a:endParaRPr lang="en-US" dirty="0"/>
          </a:p>
          <a:p>
            <a:pPr marL="457200" lvl="1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50D21-CEAD-45ED-A49F-2BE0D1FF394D}"/>
              </a:ext>
            </a:extLst>
          </p:cNvPr>
          <p:cNvSpPr/>
          <p:nvPr/>
        </p:nvSpPr>
        <p:spPr>
          <a:xfrm>
            <a:off x="2560320" y="1844655"/>
            <a:ext cx="8869680" cy="147732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Minimize		</a:t>
            </a:r>
            <a:r>
              <a:rPr lang="en-US" i="1" dirty="0"/>
              <a:t>W</a:t>
            </a:r>
            <a:r>
              <a:rPr lang="en-US" dirty="0"/>
              <a:t> = 5(Under Goal 1) + 2(Over Goal 2) + 4 (Under Goal 2) + 3 (Over Goal 3)</a:t>
            </a:r>
            <a:br>
              <a:rPr lang="en-US" dirty="0"/>
            </a:br>
            <a:r>
              <a:rPr lang="en-US" dirty="0"/>
              <a:t>subject to	12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+ 9</a:t>
            </a: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 + 15</a:t>
            </a:r>
            <a:r>
              <a:rPr lang="en-US" i="1" dirty="0"/>
              <a:t>P</a:t>
            </a:r>
            <a:r>
              <a:rPr lang="en-US" baseline="-25000" dirty="0"/>
              <a:t>3 	</a:t>
            </a:r>
            <a:r>
              <a:rPr lang="en-US" dirty="0"/>
              <a:t>– (Over Goal 1) + (Under Goal 1)   = 125</a:t>
            </a:r>
          </a:p>
          <a:p>
            <a:r>
              <a:rPr lang="en-US" dirty="0"/>
              <a:t>		5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+ 3</a:t>
            </a: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 + 4</a:t>
            </a:r>
            <a:r>
              <a:rPr lang="en-US" i="1" dirty="0"/>
              <a:t>P</a:t>
            </a:r>
            <a:r>
              <a:rPr lang="en-US" baseline="-25000" dirty="0"/>
              <a:t>3</a:t>
            </a:r>
            <a:r>
              <a:rPr lang="en-US" dirty="0"/>
              <a:t>	– (Over Goal 2) + (Under Goal 2)   = 40</a:t>
            </a:r>
          </a:p>
          <a:p>
            <a:r>
              <a:rPr lang="en-US" dirty="0"/>
              <a:t>		5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+ 7</a:t>
            </a: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 + 8</a:t>
            </a:r>
            <a:r>
              <a:rPr lang="en-US" i="1" dirty="0"/>
              <a:t>P</a:t>
            </a:r>
            <a:r>
              <a:rPr lang="en-US" baseline="-25000" dirty="0"/>
              <a:t>3</a:t>
            </a:r>
            <a:r>
              <a:rPr lang="en-US" dirty="0"/>
              <a:t>	– (Over Goal 3) + (Under Goal 3)   = 55</a:t>
            </a:r>
          </a:p>
          <a:p>
            <a:r>
              <a:rPr lang="en-US" i="1" dirty="0"/>
              <a:t>		P</a:t>
            </a:r>
            <a:r>
              <a:rPr lang="en-US" i="1" baseline="-25000" dirty="0"/>
              <a:t>i</a:t>
            </a:r>
            <a:r>
              <a:rPr lang="en-US" dirty="0"/>
              <a:t> ≥ 0,  Under Goal </a:t>
            </a:r>
            <a:r>
              <a:rPr lang="en-US" i="1" dirty="0"/>
              <a:t>j</a:t>
            </a:r>
            <a:r>
              <a:rPr lang="en-US" dirty="0"/>
              <a:t> ≥ 0,  Over Goal </a:t>
            </a:r>
            <a:r>
              <a:rPr lang="en-US" i="1" dirty="0"/>
              <a:t>j</a:t>
            </a:r>
            <a:r>
              <a:rPr lang="en-US" dirty="0"/>
              <a:t> ≥ 0  (</a:t>
            </a:r>
            <a:r>
              <a:rPr lang="en-US" i="1" dirty="0" err="1"/>
              <a:t>i,j</a:t>
            </a:r>
            <a:r>
              <a:rPr lang="en-US" dirty="0"/>
              <a:t> = 1, 2, 3)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D55070-447B-47D9-A926-E972D9CD8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400" y="3812697"/>
            <a:ext cx="8829040" cy="268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46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Preemptive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Weighted goal programming is designed for problems where all the goals are quite important, with only modest differences in importance that can be measured by assigning weights to the goals.</a:t>
            </a:r>
          </a:p>
          <a:p>
            <a:r>
              <a:rPr lang="en-US" dirty="0">
                <a:solidFill>
                  <a:srgbClr val="C00000"/>
                </a:solidFill>
              </a:rPr>
              <a:t>Preemptive goal programming </a:t>
            </a:r>
            <a:r>
              <a:rPr lang="en-US" dirty="0"/>
              <a:t>is used when there are major differences in the importance of the goals.</a:t>
            </a:r>
          </a:p>
          <a:p>
            <a:pPr lvl="1"/>
            <a:r>
              <a:rPr lang="en-US" dirty="0"/>
              <a:t>The goals are listed in the order of their importance.</a:t>
            </a:r>
          </a:p>
          <a:p>
            <a:pPr lvl="1"/>
            <a:r>
              <a:rPr lang="en-US" dirty="0"/>
              <a:t>It begins by focusing solely on the most important goal.</a:t>
            </a:r>
          </a:p>
          <a:p>
            <a:pPr lvl="1"/>
            <a:r>
              <a:rPr lang="en-US" dirty="0"/>
              <a:t>It next does the same for the second most important goal (as is possible without hurting the first goal).</a:t>
            </a:r>
          </a:p>
          <a:p>
            <a:pPr lvl="1"/>
            <a:r>
              <a:rPr lang="en-US" dirty="0"/>
              <a:t>It continues with the following goals (as is possible without hurting the previous more important goals).</a:t>
            </a:r>
          </a:p>
        </p:txBody>
      </p:sp>
    </p:spTree>
    <p:extLst>
      <p:ext uri="{BB962C8B-B14F-4D97-AF65-F5344CB8AC3E}">
        <p14:creationId xmlns:p14="http://schemas.microsoft.com/office/powerpoint/2010/main" val="27613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Preemptive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 process: </a:t>
            </a:r>
            <a:r>
              <a:rPr lang="en-US" dirty="0"/>
              <a:t>The Amount Over and Amount Under are defined to maintain the correct value with the following constraints:</a:t>
            </a:r>
            <a:br>
              <a:rPr lang="en-US" dirty="0"/>
            </a:br>
            <a:r>
              <a:rPr lang="en-US" dirty="0"/>
              <a:t>	Level Achieved – Amount Over + Amount Under = Goal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Start with the objective of achieving the first goal (or coming as close as possible):</a:t>
            </a:r>
          </a:p>
          <a:p>
            <a:pPr lvl="1"/>
            <a:r>
              <a:rPr lang="en-US" dirty="0"/>
              <a:t>Minimize (Amount Over/Under Goal 1)</a:t>
            </a:r>
          </a:p>
          <a:p>
            <a:pPr lvl="2"/>
            <a:r>
              <a:rPr lang="en-US" dirty="0"/>
              <a:t>Continue with the next goal, but constrain the previous goals to not get any worse:</a:t>
            </a:r>
          </a:p>
          <a:p>
            <a:pPr lvl="2"/>
            <a:r>
              <a:rPr lang="en-US" dirty="0"/>
              <a:t>Minimize (Amount Over/Under Goal 2)</a:t>
            </a:r>
            <a:br>
              <a:rPr lang="en-US" dirty="0"/>
            </a:br>
            <a:r>
              <a:rPr lang="en-US" dirty="0"/>
              <a:t>subject to</a:t>
            </a:r>
            <a:br>
              <a:rPr lang="en-US" dirty="0"/>
            </a:br>
            <a:r>
              <a:rPr lang="en-US" dirty="0"/>
              <a:t>	Amount Over/Under Goal 1 = (amount achieved in previous step)</a:t>
            </a:r>
          </a:p>
          <a:p>
            <a:pPr lvl="1"/>
            <a:r>
              <a:rPr lang="en-US" dirty="0"/>
              <a:t>Repeat the previous step for all succeeding goals.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62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Preemptive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u="sng" dirty="0"/>
              <a:t>Case: The </a:t>
            </a:r>
            <a:r>
              <a:rPr lang="en-US" b="1" u="sng" dirty="0" err="1"/>
              <a:t>Dewright</a:t>
            </a:r>
            <a:r>
              <a:rPr lang="en-US" b="1" u="sng" dirty="0"/>
              <a:t> Company (Chapter 17)</a:t>
            </a:r>
          </a:p>
          <a:p>
            <a:r>
              <a:rPr lang="en-US" sz="2400" dirty="0"/>
              <a:t>The goals in the order of importance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Achieve a total profit (net present value) of at least $125 million. </a:t>
            </a:r>
            <a:r>
              <a:rPr lang="en-US" sz="2000" dirty="0">
                <a:sym typeface="Wingdings" panose="05000000000000000000" pitchFamily="2" charset="2"/>
              </a:rPr>
              <a:t> minimize Under Goal 1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Avoid decreasing the employment level below 4,000 employees. </a:t>
            </a:r>
            <a:r>
              <a:rPr lang="en-US" sz="2000" dirty="0">
                <a:sym typeface="Wingdings" panose="05000000000000000000" pitchFamily="2" charset="2"/>
              </a:rPr>
              <a:t> minimize Under Goal 2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Hold the capital investment down to no more than $55 million. </a:t>
            </a:r>
            <a:r>
              <a:rPr lang="en-US" sz="2000" dirty="0">
                <a:sym typeface="Wingdings" panose="05000000000000000000" pitchFamily="2" charset="2"/>
              </a:rPr>
              <a:t> minimize Over Goal 3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Avoid increasing the employment level above 4,000 employees. </a:t>
            </a:r>
            <a:r>
              <a:rPr lang="en-US" sz="2000" dirty="0">
                <a:sym typeface="Wingdings" panose="05000000000000000000" pitchFamily="2" charset="2"/>
              </a:rPr>
              <a:t> minimize Over Goal 2</a:t>
            </a:r>
            <a:endParaRPr lang="en-US" sz="2000" dirty="0"/>
          </a:p>
          <a:p>
            <a:r>
              <a:rPr lang="en-US" sz="2400" dirty="0"/>
              <a:t>Start with the objective of achieving the first most important goal (or coming as close as possible):</a:t>
            </a:r>
          </a:p>
          <a:p>
            <a:pPr lvl="1"/>
            <a:r>
              <a:rPr lang="en-US" sz="2000" dirty="0"/>
              <a:t>Minimize (Under Goal 1)</a:t>
            </a:r>
          </a:p>
          <a:p>
            <a:r>
              <a:rPr lang="en-US" sz="2400" dirty="0"/>
              <a:t>Then, if for example goal 1 is achieved (i.e., Under Goal 1 = 0), then</a:t>
            </a:r>
          </a:p>
          <a:p>
            <a:pPr lvl="1"/>
            <a:r>
              <a:rPr lang="en-US" sz="2000" dirty="0"/>
              <a:t>Minimize 	(Over Goal 3)</a:t>
            </a:r>
            <a:br>
              <a:rPr lang="en-US" sz="2000" dirty="0"/>
            </a:br>
            <a:r>
              <a:rPr lang="en-US" sz="2000" dirty="0"/>
              <a:t>subject to	(Under Goal 1) = 0</a:t>
            </a:r>
          </a:p>
          <a:p>
            <a:r>
              <a:rPr lang="en-US" sz="2400" dirty="0"/>
              <a:t>Let	</a:t>
            </a:r>
            <a:r>
              <a:rPr lang="en-US" sz="2400" i="1" dirty="0"/>
              <a:t>P</a:t>
            </a:r>
            <a:r>
              <a:rPr lang="en-US" sz="2400" i="1" baseline="-25000" dirty="0"/>
              <a:t>i</a:t>
            </a:r>
            <a:r>
              <a:rPr lang="en-US" sz="2400" dirty="0"/>
              <a:t> = Number of units of product </a:t>
            </a:r>
            <a:r>
              <a:rPr lang="en-US" sz="2400" i="1" dirty="0"/>
              <a:t>i</a:t>
            </a:r>
            <a:r>
              <a:rPr lang="en-US" sz="2400" dirty="0"/>
              <a:t> to produce per day  (</a:t>
            </a:r>
            <a:r>
              <a:rPr lang="en-US" sz="2400" i="1" dirty="0"/>
              <a:t>i</a:t>
            </a:r>
            <a:r>
              <a:rPr lang="en-US" sz="2400" dirty="0"/>
              <a:t> = 1, 2, 3),</a:t>
            </a:r>
            <a:br>
              <a:rPr lang="en-US" sz="2400" dirty="0"/>
            </a:br>
            <a:r>
              <a:rPr lang="en-US" sz="2400" dirty="0"/>
              <a:t>	Under Goal </a:t>
            </a:r>
            <a:r>
              <a:rPr lang="en-US" sz="2400" i="1" dirty="0"/>
              <a:t>j</a:t>
            </a:r>
            <a:r>
              <a:rPr lang="en-US" sz="2400" dirty="0"/>
              <a:t> = Amount under goal </a:t>
            </a:r>
            <a:r>
              <a:rPr lang="en-US" sz="2400" i="1" dirty="0"/>
              <a:t>j</a:t>
            </a:r>
            <a:r>
              <a:rPr lang="en-US" sz="2400" dirty="0"/>
              <a:t>  (</a:t>
            </a:r>
            <a:r>
              <a:rPr lang="en-US" sz="2400" i="1" dirty="0"/>
              <a:t>j</a:t>
            </a:r>
            <a:r>
              <a:rPr lang="en-US" sz="2400" dirty="0"/>
              <a:t> = 1, 2, 3),</a:t>
            </a:r>
            <a:br>
              <a:rPr lang="en-US" sz="2400" dirty="0"/>
            </a:br>
            <a:r>
              <a:rPr lang="en-US" sz="2400" dirty="0"/>
              <a:t>	Over Goal </a:t>
            </a:r>
            <a:r>
              <a:rPr lang="en-US" sz="2400" i="1" dirty="0"/>
              <a:t>j</a:t>
            </a:r>
            <a:r>
              <a:rPr lang="en-US" sz="2400" dirty="0"/>
              <a:t> = Amount over goal </a:t>
            </a:r>
            <a:r>
              <a:rPr lang="en-US" sz="2400" i="1" dirty="0"/>
              <a:t>j </a:t>
            </a:r>
            <a:r>
              <a:rPr lang="en-US" sz="2400" dirty="0"/>
              <a:t> (</a:t>
            </a:r>
            <a:r>
              <a:rPr lang="en-US" sz="2400" i="1" dirty="0"/>
              <a:t>j</a:t>
            </a:r>
            <a:r>
              <a:rPr lang="en-US" sz="2400" dirty="0"/>
              <a:t> = 1, 2, 3),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59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Preemptive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The </a:t>
            </a:r>
            <a:r>
              <a:rPr lang="en-US" b="1" u="sng" dirty="0" err="1"/>
              <a:t>Dewright</a:t>
            </a:r>
            <a:r>
              <a:rPr lang="en-US" b="1" u="sng" dirty="0"/>
              <a:t> Company (Chapter 17)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88CE58-298B-44CE-A39D-0C6860C1660D}"/>
              </a:ext>
            </a:extLst>
          </p:cNvPr>
          <p:cNvSpPr/>
          <p:nvPr/>
        </p:nvSpPr>
        <p:spPr>
          <a:xfrm>
            <a:off x="675640" y="1765508"/>
            <a:ext cx="7249160" cy="181588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Minimize 		(Under Goal 1)</a:t>
            </a:r>
            <a:br>
              <a:rPr lang="en-US" sz="1600" dirty="0"/>
            </a:br>
            <a:r>
              <a:rPr lang="en-US" sz="1600" dirty="0"/>
              <a:t>subject to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u="sng" dirty="0"/>
              <a:t>Level Achieved	</a:t>
            </a:r>
            <a:r>
              <a:rPr lang="en-US" sz="1600" dirty="0"/>
              <a:t>                  </a:t>
            </a:r>
            <a:r>
              <a:rPr lang="en-US" sz="1600" u="sng" dirty="0"/>
              <a:t>Deviations</a:t>
            </a:r>
            <a:r>
              <a:rPr lang="en-US" sz="1600" dirty="0"/>
              <a:t>		</a:t>
            </a:r>
            <a:r>
              <a:rPr lang="en-US" sz="1600" u="sng" dirty="0"/>
              <a:t>Goal</a:t>
            </a:r>
            <a:br>
              <a:rPr lang="en-US" sz="1600" dirty="0"/>
            </a:br>
            <a:r>
              <a:rPr lang="en-US" sz="1600" dirty="0"/>
              <a:t>	Goal 1: 	12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+ 9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+ 15</a:t>
            </a:r>
            <a:r>
              <a:rPr lang="en-US" sz="1600" i="1" dirty="0"/>
              <a:t>P</a:t>
            </a:r>
            <a:r>
              <a:rPr lang="en-US" sz="1600" baseline="-25000" dirty="0"/>
              <a:t>3 	</a:t>
            </a:r>
            <a:r>
              <a:rPr lang="en-US" sz="1600" dirty="0"/>
              <a:t>– (Over Goal 1) + (Under Goal 1)   = 125</a:t>
            </a:r>
            <a:br>
              <a:rPr lang="en-US" sz="1600" dirty="0"/>
            </a:br>
            <a:r>
              <a:rPr lang="en-US" sz="1600" dirty="0"/>
              <a:t>	Goal 2:	5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+ 3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+ 4</a:t>
            </a:r>
            <a:r>
              <a:rPr lang="en-US" sz="1600" i="1" dirty="0"/>
              <a:t>P</a:t>
            </a:r>
            <a:r>
              <a:rPr lang="en-US" sz="1600" baseline="-25000" dirty="0"/>
              <a:t>3</a:t>
            </a:r>
            <a:r>
              <a:rPr lang="en-US" sz="1600" dirty="0"/>
              <a:t>	– (Over Goal 2) + (Under Goal 2)   = 40</a:t>
            </a:r>
            <a:br>
              <a:rPr lang="en-US" sz="1600" dirty="0"/>
            </a:br>
            <a:r>
              <a:rPr lang="en-US" sz="1600" dirty="0"/>
              <a:t>	Goal 3:	5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+ 7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+ 8</a:t>
            </a:r>
            <a:r>
              <a:rPr lang="en-US" sz="1600" i="1" dirty="0"/>
              <a:t>P</a:t>
            </a:r>
            <a:r>
              <a:rPr lang="en-US" sz="1600" baseline="-25000" dirty="0"/>
              <a:t>3</a:t>
            </a:r>
            <a:r>
              <a:rPr lang="en-US" sz="1600" dirty="0"/>
              <a:t>	– (Over Goal 3) + (Under Goal 3)   = 55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i="1" dirty="0"/>
              <a:t>P</a:t>
            </a:r>
            <a:r>
              <a:rPr lang="en-US" sz="1600" i="1" baseline="-25000" dirty="0"/>
              <a:t>i</a:t>
            </a:r>
            <a:r>
              <a:rPr lang="en-US" sz="1600" dirty="0"/>
              <a:t> ≥ 0,  Under Goal </a:t>
            </a:r>
            <a:r>
              <a:rPr lang="en-US" sz="1600" i="1" dirty="0"/>
              <a:t>j</a:t>
            </a:r>
            <a:r>
              <a:rPr lang="en-US" sz="1600" dirty="0"/>
              <a:t> ≥ 0,  Over Goal </a:t>
            </a:r>
            <a:r>
              <a:rPr lang="en-US" sz="1600" i="1" dirty="0"/>
              <a:t>j</a:t>
            </a:r>
            <a:r>
              <a:rPr lang="en-US" sz="1600" dirty="0"/>
              <a:t> ≥ 0  (</a:t>
            </a:r>
            <a:r>
              <a:rPr lang="en-US" sz="1600" i="1" dirty="0" err="1"/>
              <a:t>i,j</a:t>
            </a:r>
            <a:r>
              <a:rPr lang="en-US" sz="1600" dirty="0"/>
              <a:t> = 1, 2, 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D33B9-C68D-4A57-B315-BD867DCD2A4F}"/>
              </a:ext>
            </a:extLst>
          </p:cNvPr>
          <p:cNvSpPr/>
          <p:nvPr/>
        </p:nvSpPr>
        <p:spPr>
          <a:xfrm>
            <a:off x="2230120" y="3744698"/>
            <a:ext cx="7188200" cy="206210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Minimize 		(Under Goal 2)</a:t>
            </a:r>
            <a:br>
              <a:rPr lang="en-US" sz="1600" dirty="0"/>
            </a:br>
            <a:r>
              <a:rPr lang="en-US" sz="1600" dirty="0"/>
              <a:t>subject to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u="sng" dirty="0"/>
              <a:t>Level Achieved	</a:t>
            </a:r>
            <a:r>
              <a:rPr lang="en-US" sz="1600" dirty="0"/>
              <a:t>                  </a:t>
            </a:r>
            <a:r>
              <a:rPr lang="en-US" sz="1600" u="sng" dirty="0"/>
              <a:t>Deviations</a:t>
            </a:r>
            <a:r>
              <a:rPr lang="en-US" sz="1600" dirty="0"/>
              <a:t>		</a:t>
            </a:r>
            <a:r>
              <a:rPr lang="en-US" sz="1600" u="sng" dirty="0"/>
              <a:t>Goal</a:t>
            </a:r>
            <a:br>
              <a:rPr lang="en-US" sz="1600" dirty="0"/>
            </a:br>
            <a:r>
              <a:rPr lang="en-US" sz="1600" dirty="0"/>
              <a:t>	Goal 1: 	12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+ 9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+ 15</a:t>
            </a:r>
            <a:r>
              <a:rPr lang="en-US" sz="1600" i="1" dirty="0"/>
              <a:t>P</a:t>
            </a:r>
            <a:r>
              <a:rPr lang="en-US" sz="1600" baseline="-25000" dirty="0"/>
              <a:t>3 	</a:t>
            </a:r>
            <a:r>
              <a:rPr lang="en-US" sz="1600" dirty="0"/>
              <a:t>– (Over Goal 1) + (Under Goal 1)   = 125</a:t>
            </a:r>
            <a:br>
              <a:rPr lang="en-US" sz="1600" dirty="0"/>
            </a:br>
            <a:r>
              <a:rPr lang="en-US" sz="1600" dirty="0"/>
              <a:t>	Goal 2:	5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+ 3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+ 4</a:t>
            </a:r>
            <a:r>
              <a:rPr lang="en-US" sz="1600" i="1" dirty="0"/>
              <a:t>P</a:t>
            </a:r>
            <a:r>
              <a:rPr lang="en-US" sz="1600" baseline="-25000" dirty="0"/>
              <a:t>3</a:t>
            </a:r>
            <a:r>
              <a:rPr lang="en-US" sz="1600" dirty="0"/>
              <a:t>	– (Over Goal 2) + (Under Goal 2)   = 40</a:t>
            </a:r>
            <a:br>
              <a:rPr lang="en-US" sz="1600" dirty="0"/>
            </a:br>
            <a:r>
              <a:rPr lang="en-US" sz="1600" dirty="0"/>
              <a:t>	Goal 3:	5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+ 7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+ 8</a:t>
            </a:r>
            <a:r>
              <a:rPr lang="en-US" sz="1600" i="1" dirty="0"/>
              <a:t>P</a:t>
            </a:r>
            <a:r>
              <a:rPr lang="en-US" sz="1600" baseline="-25000" dirty="0"/>
              <a:t>3</a:t>
            </a:r>
            <a:r>
              <a:rPr lang="en-US" sz="1600" dirty="0"/>
              <a:t>	– (Over Goal 3) + (Under Goal 3)   = 55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b="1" dirty="0">
                <a:solidFill>
                  <a:srgbClr val="C00000"/>
                </a:solidFill>
              </a:rPr>
              <a:t>(Under Goal 1) = (Level Achieved in Step 1)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i="1" dirty="0"/>
              <a:t>P</a:t>
            </a:r>
            <a:r>
              <a:rPr lang="en-US" sz="1600" i="1" baseline="-25000" dirty="0"/>
              <a:t>i</a:t>
            </a:r>
            <a:r>
              <a:rPr lang="en-US" sz="1600" dirty="0"/>
              <a:t> ≥ 0,  Under Goal </a:t>
            </a:r>
            <a:r>
              <a:rPr lang="en-US" sz="1600" i="1" dirty="0"/>
              <a:t>j</a:t>
            </a:r>
            <a:r>
              <a:rPr lang="en-US" sz="1600" dirty="0"/>
              <a:t> ≥ 0,  Over Goal </a:t>
            </a:r>
            <a:r>
              <a:rPr lang="en-US" sz="1600" i="1" dirty="0"/>
              <a:t>j</a:t>
            </a:r>
            <a:r>
              <a:rPr lang="en-US" sz="1600" dirty="0"/>
              <a:t> ≥ 0  (</a:t>
            </a:r>
            <a:r>
              <a:rPr lang="en-US" sz="1600" i="1" dirty="0" err="1"/>
              <a:t>i,j</a:t>
            </a:r>
            <a:r>
              <a:rPr lang="en-US" sz="1600" dirty="0"/>
              <a:t> = 1, 2, 3)</a:t>
            </a: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F2FE4C68-E470-4B4D-BEDA-82F1286DF1F3}"/>
              </a:ext>
            </a:extLst>
          </p:cNvPr>
          <p:cNvSpPr/>
          <p:nvPr/>
        </p:nvSpPr>
        <p:spPr>
          <a:xfrm flipV="1">
            <a:off x="675640" y="3744698"/>
            <a:ext cx="1127760" cy="1447800"/>
          </a:xfrm>
          <a:prstGeom prst="bentArrow">
            <a:avLst>
              <a:gd name="adj1" fmla="val 13288"/>
              <a:gd name="adj2" fmla="val 29955"/>
              <a:gd name="adj3" fmla="val 25000"/>
              <a:gd name="adj4" fmla="val 4375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A35372-F151-4A87-BB6F-CF50DC9496D1}"/>
              </a:ext>
            </a:extLst>
          </p:cNvPr>
          <p:cNvSpPr txBox="1"/>
          <p:nvPr/>
        </p:nvSpPr>
        <p:spPr>
          <a:xfrm>
            <a:off x="8692926" y="2255520"/>
            <a:ext cx="174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E2A42C-93BB-46B4-9644-8A28D9CA1454}"/>
              </a:ext>
            </a:extLst>
          </p:cNvPr>
          <p:cNvSpPr txBox="1"/>
          <p:nvPr/>
        </p:nvSpPr>
        <p:spPr>
          <a:xfrm>
            <a:off x="10090972" y="4531360"/>
            <a:ext cx="174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70822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0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Preemptive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The </a:t>
            </a:r>
            <a:r>
              <a:rPr lang="en-US" b="1" u="sng" dirty="0" err="1"/>
              <a:t>Dewright</a:t>
            </a:r>
            <a:r>
              <a:rPr lang="en-US" b="1" u="sng" dirty="0"/>
              <a:t> Company (Chapter 17)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23FBE-E66D-469F-AC2F-27EDFA95AABB}"/>
              </a:ext>
            </a:extLst>
          </p:cNvPr>
          <p:cNvSpPr/>
          <p:nvPr/>
        </p:nvSpPr>
        <p:spPr>
          <a:xfrm>
            <a:off x="680720" y="1774389"/>
            <a:ext cx="7157720" cy="230832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Minimize 		(Over Goal 3)</a:t>
            </a:r>
            <a:br>
              <a:rPr lang="en-US" sz="1600" dirty="0"/>
            </a:br>
            <a:r>
              <a:rPr lang="en-US" sz="1600" dirty="0"/>
              <a:t>subject to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u="sng" dirty="0"/>
              <a:t>Level Achieved	</a:t>
            </a:r>
            <a:r>
              <a:rPr lang="en-US" sz="1600" dirty="0"/>
              <a:t>                  </a:t>
            </a:r>
            <a:r>
              <a:rPr lang="en-US" sz="1600" u="sng" dirty="0"/>
              <a:t>Deviations</a:t>
            </a:r>
            <a:r>
              <a:rPr lang="en-US" sz="1600" dirty="0"/>
              <a:t>		</a:t>
            </a:r>
            <a:r>
              <a:rPr lang="en-US" sz="1600" u="sng" dirty="0"/>
              <a:t>Goal</a:t>
            </a:r>
            <a:br>
              <a:rPr lang="en-US" sz="1600" dirty="0"/>
            </a:br>
            <a:r>
              <a:rPr lang="en-US" sz="1600" dirty="0"/>
              <a:t>	Goal 1: 	12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+ 9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+ 15</a:t>
            </a:r>
            <a:r>
              <a:rPr lang="en-US" sz="1600" i="1" dirty="0"/>
              <a:t>P</a:t>
            </a:r>
            <a:r>
              <a:rPr lang="en-US" sz="1600" baseline="-25000" dirty="0"/>
              <a:t>3 	</a:t>
            </a:r>
            <a:r>
              <a:rPr lang="en-US" sz="1600" dirty="0"/>
              <a:t>– (Over Goal 1) + (Under Goal 1)   = 125</a:t>
            </a:r>
            <a:br>
              <a:rPr lang="en-US" sz="1600" dirty="0"/>
            </a:br>
            <a:r>
              <a:rPr lang="en-US" sz="1600" dirty="0"/>
              <a:t>	Goal 2:	5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+ 3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+ 4</a:t>
            </a:r>
            <a:r>
              <a:rPr lang="en-US" sz="1600" i="1" dirty="0"/>
              <a:t>P</a:t>
            </a:r>
            <a:r>
              <a:rPr lang="en-US" sz="1600" baseline="-25000" dirty="0"/>
              <a:t>3</a:t>
            </a:r>
            <a:r>
              <a:rPr lang="en-US" sz="1600" dirty="0"/>
              <a:t>	– (Over Goal 2) + (Under Goal 2)   = 40</a:t>
            </a:r>
            <a:br>
              <a:rPr lang="en-US" sz="1600" dirty="0"/>
            </a:br>
            <a:r>
              <a:rPr lang="en-US" sz="1600" dirty="0"/>
              <a:t>	Goal 3:	5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+ 7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+ 8</a:t>
            </a:r>
            <a:r>
              <a:rPr lang="en-US" sz="1600" i="1" dirty="0"/>
              <a:t>P</a:t>
            </a:r>
            <a:r>
              <a:rPr lang="en-US" sz="1600" baseline="-25000" dirty="0"/>
              <a:t>3</a:t>
            </a:r>
            <a:r>
              <a:rPr lang="en-US" sz="1600" dirty="0"/>
              <a:t>	– (Over Goal 3) + (Under Goal 3)   = 55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b="1" dirty="0">
                <a:solidFill>
                  <a:srgbClr val="C00000"/>
                </a:solidFill>
              </a:rPr>
              <a:t>(Under Goal 1) = (Level Achieved in Step 1)</a:t>
            </a:r>
            <a:br>
              <a:rPr lang="en-US" sz="1600" b="1" dirty="0">
                <a:solidFill>
                  <a:srgbClr val="C00000"/>
                </a:solidFill>
              </a:rPr>
            </a:br>
            <a:r>
              <a:rPr lang="en-US" sz="1600" b="1" dirty="0">
                <a:solidFill>
                  <a:srgbClr val="C00000"/>
                </a:solidFill>
              </a:rPr>
              <a:t>		(Under Goal 2) = (Level Achieved in Step 2)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i="1" dirty="0"/>
              <a:t>P</a:t>
            </a:r>
            <a:r>
              <a:rPr lang="en-US" sz="1600" i="1" baseline="-25000" dirty="0"/>
              <a:t>i</a:t>
            </a:r>
            <a:r>
              <a:rPr lang="en-US" sz="1600" dirty="0"/>
              <a:t> ≥ 0,  Under Goal </a:t>
            </a:r>
            <a:r>
              <a:rPr lang="en-US" sz="1600" i="1" dirty="0"/>
              <a:t>j</a:t>
            </a:r>
            <a:r>
              <a:rPr lang="en-US" sz="1600" dirty="0"/>
              <a:t> ≥ 0,  Over Goal </a:t>
            </a:r>
            <a:r>
              <a:rPr lang="en-US" sz="1600" i="1" dirty="0"/>
              <a:t>j</a:t>
            </a:r>
            <a:r>
              <a:rPr lang="en-US" sz="1600" dirty="0"/>
              <a:t> ≥ 0  (</a:t>
            </a:r>
            <a:r>
              <a:rPr lang="en-US" sz="1600" i="1" dirty="0" err="1"/>
              <a:t>i,j</a:t>
            </a:r>
            <a:r>
              <a:rPr lang="en-US" sz="1600" dirty="0"/>
              <a:t> = 1, 2, 3)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10EB43-9F9D-42C1-B8AC-91F15C000A29}"/>
              </a:ext>
            </a:extLst>
          </p:cNvPr>
          <p:cNvSpPr/>
          <p:nvPr/>
        </p:nvSpPr>
        <p:spPr>
          <a:xfrm>
            <a:off x="2270760" y="4149827"/>
            <a:ext cx="7157720" cy="255454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Minimize 		(Over Goal 2)</a:t>
            </a:r>
            <a:br>
              <a:rPr lang="en-US" sz="1600" dirty="0"/>
            </a:br>
            <a:r>
              <a:rPr lang="en-US" sz="1600" dirty="0"/>
              <a:t>subject to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u="sng" dirty="0"/>
              <a:t>Level Achieved	</a:t>
            </a:r>
            <a:r>
              <a:rPr lang="en-US" sz="1600" dirty="0"/>
              <a:t>                  </a:t>
            </a:r>
            <a:r>
              <a:rPr lang="en-US" sz="1600" u="sng" dirty="0"/>
              <a:t>Deviations</a:t>
            </a:r>
            <a:r>
              <a:rPr lang="en-US" sz="1600" dirty="0"/>
              <a:t>		</a:t>
            </a:r>
            <a:r>
              <a:rPr lang="en-US" sz="1600" u="sng" dirty="0"/>
              <a:t>Goal</a:t>
            </a:r>
            <a:br>
              <a:rPr lang="en-US" sz="1600" dirty="0"/>
            </a:br>
            <a:r>
              <a:rPr lang="en-US" sz="1600" dirty="0"/>
              <a:t>	Goal 1: 	12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+ 9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+ 15</a:t>
            </a:r>
            <a:r>
              <a:rPr lang="en-US" sz="1600" i="1" dirty="0"/>
              <a:t>P</a:t>
            </a:r>
            <a:r>
              <a:rPr lang="en-US" sz="1600" baseline="-25000" dirty="0"/>
              <a:t>3 	</a:t>
            </a:r>
            <a:r>
              <a:rPr lang="en-US" sz="1600" dirty="0"/>
              <a:t>– (Over Goal 1) + (Under Goal 1)   = 125</a:t>
            </a:r>
            <a:br>
              <a:rPr lang="en-US" sz="1600" dirty="0"/>
            </a:br>
            <a:r>
              <a:rPr lang="en-US" sz="1600" dirty="0"/>
              <a:t>	Goal 2:	5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+ 3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+ 4</a:t>
            </a:r>
            <a:r>
              <a:rPr lang="en-US" sz="1600" i="1" dirty="0"/>
              <a:t>P</a:t>
            </a:r>
            <a:r>
              <a:rPr lang="en-US" sz="1600" baseline="-25000" dirty="0"/>
              <a:t>3</a:t>
            </a:r>
            <a:r>
              <a:rPr lang="en-US" sz="1600" dirty="0"/>
              <a:t>	– (Over Goal 2) + (Under Goal 2)   = 40</a:t>
            </a:r>
            <a:br>
              <a:rPr lang="en-US" sz="1600" dirty="0"/>
            </a:br>
            <a:r>
              <a:rPr lang="en-US" sz="1600" dirty="0"/>
              <a:t>	Goal 3:	5</a:t>
            </a:r>
            <a:r>
              <a:rPr lang="en-US" sz="1600" i="1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 + 7</a:t>
            </a:r>
            <a:r>
              <a:rPr lang="en-US" sz="1600" i="1" dirty="0"/>
              <a:t>P</a:t>
            </a:r>
            <a:r>
              <a:rPr lang="en-US" sz="1600" baseline="-25000" dirty="0"/>
              <a:t>2</a:t>
            </a:r>
            <a:r>
              <a:rPr lang="en-US" sz="1600" dirty="0"/>
              <a:t> + 8</a:t>
            </a:r>
            <a:r>
              <a:rPr lang="en-US" sz="1600" i="1" dirty="0"/>
              <a:t>P</a:t>
            </a:r>
            <a:r>
              <a:rPr lang="en-US" sz="1600" baseline="-25000" dirty="0"/>
              <a:t>3</a:t>
            </a:r>
            <a:r>
              <a:rPr lang="en-US" sz="1600" dirty="0"/>
              <a:t>	– (Over Goal 3) + (Under Goal 3)   = 55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b="1" dirty="0">
                <a:solidFill>
                  <a:srgbClr val="C00000"/>
                </a:solidFill>
              </a:rPr>
              <a:t>(Under Goal 1) = (Level Achieved in Step 1)</a:t>
            </a:r>
            <a:br>
              <a:rPr lang="en-US" sz="1600" b="1" dirty="0">
                <a:solidFill>
                  <a:srgbClr val="C00000"/>
                </a:solidFill>
              </a:rPr>
            </a:br>
            <a:r>
              <a:rPr lang="en-US" sz="1600" b="1" dirty="0">
                <a:solidFill>
                  <a:srgbClr val="C00000"/>
                </a:solidFill>
              </a:rPr>
              <a:t>		(Under Goal 2) = (Level Achieved in Step 2)</a:t>
            </a:r>
            <a:br>
              <a:rPr lang="en-US" sz="1600" b="1" dirty="0">
                <a:solidFill>
                  <a:srgbClr val="C00000"/>
                </a:solidFill>
              </a:rPr>
            </a:br>
            <a:r>
              <a:rPr lang="en-US" sz="1600" b="1" dirty="0">
                <a:solidFill>
                  <a:srgbClr val="C00000"/>
                </a:solidFill>
              </a:rPr>
              <a:t>		(Over Goal 3) = (Level Achieved in Step 3)</a:t>
            </a:r>
            <a:br>
              <a:rPr lang="en-US" sz="1600" dirty="0"/>
            </a:br>
            <a:r>
              <a:rPr lang="en-US" sz="1600" dirty="0"/>
              <a:t>		</a:t>
            </a:r>
            <a:r>
              <a:rPr lang="en-US" sz="1600" i="1" dirty="0"/>
              <a:t>P</a:t>
            </a:r>
            <a:r>
              <a:rPr lang="en-US" sz="1600" i="1" baseline="-25000" dirty="0"/>
              <a:t>i</a:t>
            </a:r>
            <a:r>
              <a:rPr lang="en-US" sz="1600" dirty="0"/>
              <a:t> ≥ 0,  Under Goal </a:t>
            </a:r>
            <a:r>
              <a:rPr lang="en-US" sz="1600" i="1" dirty="0"/>
              <a:t>j</a:t>
            </a:r>
            <a:r>
              <a:rPr lang="en-US" sz="1600" dirty="0"/>
              <a:t> ≥ 0,  Over Goal </a:t>
            </a:r>
            <a:r>
              <a:rPr lang="en-US" sz="1600" i="1" dirty="0"/>
              <a:t>j</a:t>
            </a:r>
            <a:r>
              <a:rPr lang="en-US" sz="1600" dirty="0"/>
              <a:t> ≥ 0  (</a:t>
            </a:r>
            <a:r>
              <a:rPr lang="en-US" sz="1600" i="1" dirty="0" err="1"/>
              <a:t>i,j</a:t>
            </a:r>
            <a:r>
              <a:rPr lang="en-US" sz="1600" dirty="0"/>
              <a:t> = 1, 2, 3)</a:t>
            </a: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49CC6B08-6B09-4880-893B-C999B12FCAD9}"/>
              </a:ext>
            </a:extLst>
          </p:cNvPr>
          <p:cNvSpPr/>
          <p:nvPr/>
        </p:nvSpPr>
        <p:spPr>
          <a:xfrm flipV="1">
            <a:off x="675640" y="4298418"/>
            <a:ext cx="1127760" cy="1447800"/>
          </a:xfrm>
          <a:prstGeom prst="bentArrow">
            <a:avLst>
              <a:gd name="adj1" fmla="val 13288"/>
              <a:gd name="adj2" fmla="val 29955"/>
              <a:gd name="adj3" fmla="val 25000"/>
              <a:gd name="adj4" fmla="val 4375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E73BCD-7AAA-49F7-B556-79025B142C48}"/>
              </a:ext>
            </a:extLst>
          </p:cNvPr>
          <p:cNvSpPr txBox="1"/>
          <p:nvPr/>
        </p:nvSpPr>
        <p:spPr>
          <a:xfrm>
            <a:off x="8557260" y="2708173"/>
            <a:ext cx="174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80F2B2-3991-41A7-B10B-13473FAE85D7}"/>
              </a:ext>
            </a:extLst>
          </p:cNvPr>
          <p:cNvSpPr txBox="1"/>
          <p:nvPr/>
        </p:nvSpPr>
        <p:spPr>
          <a:xfrm>
            <a:off x="9895840" y="5176235"/>
            <a:ext cx="174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14227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4" grpId="0"/>
      <p:bldP spid="1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Preemptive Goal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Case: The </a:t>
            </a:r>
            <a:r>
              <a:rPr lang="en-US" b="1" u="sng" dirty="0" err="1"/>
              <a:t>Dewright</a:t>
            </a:r>
            <a:r>
              <a:rPr lang="en-US" b="1" u="sng" dirty="0"/>
              <a:t> Company (Chapter 17)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F389FA-FF4C-BE63-2D5F-21364467B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05" y="1864442"/>
            <a:ext cx="3974844" cy="10136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33CBA8-A864-42C0-3AEA-11AE2267D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901" y="2878098"/>
            <a:ext cx="4166574" cy="10576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36CAE1-1857-A581-E273-9763E1A35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582" y="4044084"/>
            <a:ext cx="4777786" cy="1210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9AFCD9-202F-4202-5E4E-01A070F0AE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055" y="5351138"/>
            <a:ext cx="4567853" cy="123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95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10921</TotalTime>
  <Words>7680</Words>
  <Application>Microsoft Macintosh PowerPoint</Application>
  <PresentationFormat>Widescreen</PresentationFormat>
  <Paragraphs>777</Paragraphs>
  <Slides>50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ANLY 5332   Department of Information Systems and Analytics McCoy College of Business  Texas State University</vt:lpstr>
      <vt:lpstr>Outline</vt:lpstr>
      <vt:lpstr>Outline</vt:lpstr>
      <vt:lpstr>Multi-objective Optimization</vt:lpstr>
      <vt:lpstr>Multi-objective Optimization</vt:lpstr>
      <vt:lpstr>Multi-objective Optimization</vt:lpstr>
      <vt:lpstr>Multi-objective Optimization</vt:lpstr>
      <vt:lpstr>Multi-objective Optimization</vt:lpstr>
      <vt:lpstr>Solution Concepts</vt:lpstr>
      <vt:lpstr>Solution Concepts</vt:lpstr>
      <vt:lpstr>Solution Concepts</vt:lpstr>
      <vt:lpstr>Solution Concepts</vt:lpstr>
      <vt:lpstr>Solution Concepts</vt:lpstr>
      <vt:lpstr>Solution Concepts</vt:lpstr>
      <vt:lpstr>Outline</vt:lpstr>
      <vt:lpstr>Reduction to Single-Objective</vt:lpstr>
      <vt:lpstr>Supervised Methods</vt:lpstr>
      <vt:lpstr>Supervised Methods</vt:lpstr>
      <vt:lpstr>Supervised Methods</vt:lpstr>
      <vt:lpstr>Unsupervised Methods</vt:lpstr>
      <vt:lpstr>Unsupervised Methods</vt:lpstr>
      <vt:lpstr>Unsupervised Methods</vt:lpstr>
      <vt:lpstr>Unsupervised Methods</vt:lpstr>
      <vt:lpstr>Unsupervised Methods</vt:lpstr>
      <vt:lpstr>Reduction to Single-Objective</vt:lpstr>
      <vt:lpstr>Outline</vt:lpstr>
      <vt:lpstr>Pareto Front Generation</vt:lpstr>
      <vt:lpstr>Pareto Front Generation</vt:lpstr>
      <vt:lpstr>Epsilon-Constraint Method</vt:lpstr>
      <vt:lpstr>Epsilon-Constraint Method</vt:lpstr>
      <vt:lpstr>Epsilon-Constraint Method</vt:lpstr>
      <vt:lpstr>Outline</vt:lpstr>
      <vt:lpstr>Epsilon-Constraint Method: Example</vt:lpstr>
      <vt:lpstr>Epsilon-Constraint Method: Example</vt:lpstr>
      <vt:lpstr>Epsilon-Constraint Method: Example</vt:lpstr>
      <vt:lpstr>Epsilon-Constraint Method: Example</vt:lpstr>
      <vt:lpstr>Epsilon-Constraint Method: Example</vt:lpstr>
      <vt:lpstr>Outline</vt:lpstr>
      <vt:lpstr>Goal Programming</vt:lpstr>
      <vt:lpstr>Weighted Goal Programming</vt:lpstr>
      <vt:lpstr>Weighted Goal Programming</vt:lpstr>
      <vt:lpstr>Weighted Goal Programming</vt:lpstr>
      <vt:lpstr>Weighted Goal Programming</vt:lpstr>
      <vt:lpstr>Weighted Goal Programming</vt:lpstr>
      <vt:lpstr>Preemptive Goal Programming</vt:lpstr>
      <vt:lpstr>Preemptive Goal Programming</vt:lpstr>
      <vt:lpstr>Preemptive Goal Programming</vt:lpstr>
      <vt:lpstr>Preemptive Goal Programming</vt:lpstr>
      <vt:lpstr>Preemptive Goal Programming</vt:lpstr>
      <vt:lpstr>Preemptive Goal Programming</vt:lpstr>
    </vt:vector>
  </TitlesOfParts>
  <Company>Missouri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Konur, Dincer</dc:creator>
  <cp:lastModifiedBy>Lin, Zewei (linzw)</cp:lastModifiedBy>
  <cp:revision>540</cp:revision>
  <dcterms:created xsi:type="dcterms:W3CDTF">2018-08-17T02:14:39Z</dcterms:created>
  <dcterms:modified xsi:type="dcterms:W3CDTF">2024-11-11T16:02:54Z</dcterms:modified>
</cp:coreProperties>
</file>