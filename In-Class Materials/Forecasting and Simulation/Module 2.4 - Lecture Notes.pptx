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diagrams/data2.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1"/>
  </p:notesMasterIdLst>
  <p:sldIdLst>
    <p:sldId id="256" r:id="rId2"/>
    <p:sldId id="382" r:id="rId3"/>
    <p:sldId id="383" r:id="rId4"/>
    <p:sldId id="393" r:id="rId5"/>
    <p:sldId id="374" r:id="rId6"/>
    <p:sldId id="375" r:id="rId7"/>
    <p:sldId id="376" r:id="rId8"/>
    <p:sldId id="377" r:id="rId9"/>
    <p:sldId id="378" r:id="rId10"/>
    <p:sldId id="379" r:id="rId11"/>
    <p:sldId id="380" r:id="rId12"/>
    <p:sldId id="394" r:id="rId13"/>
    <p:sldId id="337" r:id="rId14"/>
    <p:sldId id="339" r:id="rId15"/>
    <p:sldId id="341" r:id="rId16"/>
    <p:sldId id="340" r:id="rId17"/>
    <p:sldId id="395" r:id="rId18"/>
    <p:sldId id="343" r:id="rId19"/>
    <p:sldId id="344" r:id="rId20"/>
    <p:sldId id="345" r:id="rId21"/>
    <p:sldId id="346" r:id="rId22"/>
    <p:sldId id="347" r:id="rId23"/>
    <p:sldId id="348" r:id="rId24"/>
    <p:sldId id="349" r:id="rId25"/>
    <p:sldId id="350" r:id="rId26"/>
    <p:sldId id="351" r:id="rId27"/>
    <p:sldId id="353" r:id="rId28"/>
    <p:sldId id="360" r:id="rId29"/>
    <p:sldId id="362" r:id="rId30"/>
    <p:sldId id="352" r:id="rId31"/>
    <p:sldId id="354" r:id="rId32"/>
    <p:sldId id="355" r:id="rId33"/>
    <p:sldId id="356" r:id="rId34"/>
    <p:sldId id="357" r:id="rId35"/>
    <p:sldId id="358" r:id="rId36"/>
    <p:sldId id="359" r:id="rId37"/>
    <p:sldId id="364" r:id="rId38"/>
    <p:sldId id="365" r:id="rId39"/>
    <p:sldId id="366" r:id="rId40"/>
    <p:sldId id="369" r:id="rId41"/>
    <p:sldId id="367" r:id="rId42"/>
    <p:sldId id="368" r:id="rId43"/>
    <p:sldId id="370" r:id="rId44"/>
    <p:sldId id="371" r:id="rId45"/>
    <p:sldId id="372" r:id="rId46"/>
    <p:sldId id="396" r:id="rId47"/>
    <p:sldId id="392" r:id="rId48"/>
    <p:sldId id="405" r:id="rId49"/>
    <p:sldId id="406" r:id="rId50"/>
    <p:sldId id="407" r:id="rId51"/>
    <p:sldId id="408" r:id="rId52"/>
    <p:sldId id="409" r:id="rId53"/>
    <p:sldId id="399" r:id="rId54"/>
    <p:sldId id="400" r:id="rId55"/>
    <p:sldId id="401" r:id="rId56"/>
    <p:sldId id="402" r:id="rId57"/>
    <p:sldId id="403" r:id="rId58"/>
    <p:sldId id="404" r:id="rId59"/>
    <p:sldId id="410"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onurdlocal" initials="k" lastIdx="0" clrIdx="0">
    <p:extLst>
      <p:ext uri="{19B8F6BF-5375-455C-9EA6-DF929625EA0E}">
        <p15:presenceInfo xmlns:p15="http://schemas.microsoft.com/office/powerpoint/2012/main" userId="konurdloc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53563C-B991-4555-B078-153EAB81EA07}" v="48" dt="2024-03-21T18:27:16.5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652" autoAdjust="0"/>
    <p:restoredTop sz="90588" autoAdjust="0"/>
  </p:normalViewPr>
  <p:slideViewPr>
    <p:cSldViewPr snapToGrid="0">
      <p:cViewPr varScale="1">
        <p:scale>
          <a:sx n="75" d="100"/>
          <a:sy n="75" d="100"/>
        </p:scale>
        <p:origin x="60" y="16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n Konur, Sahika" userId="739a6e03-9a4a-49c6-a350-571b31db94be" providerId="ADAL" clId="{BA53563C-B991-4555-B078-153EAB81EA07}"/>
    <pc:docChg chg="undo custSel addSld delSld modSld">
      <pc:chgData name="Sahan Konur, Sahika" userId="739a6e03-9a4a-49c6-a350-571b31db94be" providerId="ADAL" clId="{BA53563C-B991-4555-B078-153EAB81EA07}" dt="2024-03-21T18:27:27.027" v="476" actId="27636"/>
      <pc:docMkLst>
        <pc:docMk/>
      </pc:docMkLst>
      <pc:sldChg chg="delSp modSp mod">
        <pc:chgData name="Sahan Konur, Sahika" userId="739a6e03-9a4a-49c6-a350-571b31db94be" providerId="ADAL" clId="{BA53563C-B991-4555-B078-153EAB81EA07}" dt="2024-03-17T21:33:57.984" v="24" actId="403"/>
        <pc:sldMkLst>
          <pc:docMk/>
          <pc:sldMk cId="2541942282" sldId="256"/>
        </pc:sldMkLst>
        <pc:spChg chg="mod">
          <ac:chgData name="Sahan Konur, Sahika" userId="739a6e03-9a4a-49c6-a350-571b31db94be" providerId="ADAL" clId="{BA53563C-B991-4555-B078-153EAB81EA07}" dt="2024-03-17T21:33:57.984" v="24" actId="403"/>
          <ac:spMkLst>
            <pc:docMk/>
            <pc:sldMk cId="2541942282" sldId="256"/>
            <ac:spMk id="2" creationId="{00000000-0000-0000-0000-000000000000}"/>
          </ac:spMkLst>
        </pc:spChg>
        <pc:spChg chg="del">
          <ac:chgData name="Sahan Konur, Sahika" userId="739a6e03-9a4a-49c6-a350-571b31db94be" providerId="ADAL" clId="{BA53563C-B991-4555-B078-153EAB81EA07}" dt="2024-03-17T21:33:00.132" v="0" actId="478"/>
          <ac:spMkLst>
            <pc:docMk/>
            <pc:sldMk cId="2541942282" sldId="256"/>
            <ac:spMk id="3" creationId="{00000000-0000-0000-0000-000000000000}"/>
          </ac:spMkLst>
        </pc:spChg>
      </pc:sldChg>
      <pc:sldChg chg="modSp mod">
        <pc:chgData name="Sahan Konur, Sahika" userId="739a6e03-9a4a-49c6-a350-571b31db94be" providerId="ADAL" clId="{BA53563C-B991-4555-B078-153EAB81EA07}" dt="2024-03-17T21:37:03.882" v="77" actId="27636"/>
        <pc:sldMkLst>
          <pc:docMk/>
          <pc:sldMk cId="914106071" sldId="337"/>
        </pc:sldMkLst>
        <pc:spChg chg="mod">
          <ac:chgData name="Sahan Konur, Sahika" userId="739a6e03-9a4a-49c6-a350-571b31db94be" providerId="ADAL" clId="{BA53563C-B991-4555-B078-153EAB81EA07}" dt="2024-03-17T21:37:03.882" v="77" actId="27636"/>
          <ac:spMkLst>
            <pc:docMk/>
            <pc:sldMk cId="914106071" sldId="337"/>
            <ac:spMk id="3" creationId="{00000000-0000-0000-0000-000000000000}"/>
          </ac:spMkLst>
        </pc:spChg>
      </pc:sldChg>
      <pc:sldChg chg="modSp">
        <pc:chgData name="Sahan Konur, Sahika" userId="739a6e03-9a4a-49c6-a350-571b31db94be" providerId="ADAL" clId="{BA53563C-B991-4555-B078-153EAB81EA07}" dt="2024-03-21T13:51:07.431" v="170" actId="33524"/>
        <pc:sldMkLst>
          <pc:docMk/>
          <pc:sldMk cId="3849369058" sldId="340"/>
        </pc:sldMkLst>
        <pc:spChg chg="mod">
          <ac:chgData name="Sahan Konur, Sahika" userId="739a6e03-9a4a-49c6-a350-571b31db94be" providerId="ADAL" clId="{BA53563C-B991-4555-B078-153EAB81EA07}" dt="2024-03-21T13:51:07.431" v="170" actId="33524"/>
          <ac:spMkLst>
            <pc:docMk/>
            <pc:sldMk cId="3849369058" sldId="340"/>
            <ac:spMk id="3" creationId="{00000000-0000-0000-0000-000000000000}"/>
          </ac:spMkLst>
        </pc:spChg>
      </pc:sldChg>
      <pc:sldChg chg="modSp mod">
        <pc:chgData name="Sahan Konur, Sahika" userId="739a6e03-9a4a-49c6-a350-571b31db94be" providerId="ADAL" clId="{BA53563C-B991-4555-B078-153EAB81EA07}" dt="2024-03-17T21:37:03.891" v="78" actId="27636"/>
        <pc:sldMkLst>
          <pc:docMk/>
          <pc:sldMk cId="2802108178" sldId="341"/>
        </pc:sldMkLst>
        <pc:spChg chg="mod">
          <ac:chgData name="Sahan Konur, Sahika" userId="739a6e03-9a4a-49c6-a350-571b31db94be" providerId="ADAL" clId="{BA53563C-B991-4555-B078-153EAB81EA07}" dt="2024-03-17T21:37:03.891" v="78" actId="27636"/>
          <ac:spMkLst>
            <pc:docMk/>
            <pc:sldMk cId="2802108178" sldId="341"/>
            <ac:spMk id="3" creationId="{00000000-0000-0000-0000-000000000000}"/>
          </ac:spMkLst>
        </pc:spChg>
      </pc:sldChg>
      <pc:sldChg chg="modSp mod">
        <pc:chgData name="Sahan Konur, Sahika" userId="739a6e03-9a4a-49c6-a350-571b31db94be" providerId="ADAL" clId="{BA53563C-B991-4555-B078-153EAB81EA07}" dt="2024-03-17T21:37:03.899" v="80" actId="27636"/>
        <pc:sldMkLst>
          <pc:docMk/>
          <pc:sldMk cId="167543108" sldId="343"/>
        </pc:sldMkLst>
        <pc:spChg chg="mod">
          <ac:chgData name="Sahan Konur, Sahika" userId="739a6e03-9a4a-49c6-a350-571b31db94be" providerId="ADAL" clId="{BA53563C-B991-4555-B078-153EAB81EA07}" dt="2024-03-17T21:37:03.899" v="80" actId="27636"/>
          <ac:spMkLst>
            <pc:docMk/>
            <pc:sldMk cId="167543108" sldId="343"/>
            <ac:spMk id="3" creationId="{00000000-0000-0000-0000-000000000000}"/>
          </ac:spMkLst>
        </pc:spChg>
      </pc:sldChg>
      <pc:sldChg chg="modSp mod">
        <pc:chgData name="Sahan Konur, Sahika" userId="739a6e03-9a4a-49c6-a350-571b31db94be" providerId="ADAL" clId="{BA53563C-B991-4555-B078-153EAB81EA07}" dt="2024-03-17T21:37:03.902" v="81" actId="27636"/>
        <pc:sldMkLst>
          <pc:docMk/>
          <pc:sldMk cId="2270899028" sldId="344"/>
        </pc:sldMkLst>
        <pc:spChg chg="mod">
          <ac:chgData name="Sahan Konur, Sahika" userId="739a6e03-9a4a-49c6-a350-571b31db94be" providerId="ADAL" clId="{BA53563C-B991-4555-B078-153EAB81EA07}" dt="2024-03-17T21:37:03.902" v="81" actId="27636"/>
          <ac:spMkLst>
            <pc:docMk/>
            <pc:sldMk cId="2270899028" sldId="344"/>
            <ac:spMk id="3" creationId="{00000000-0000-0000-0000-000000000000}"/>
          </ac:spMkLst>
        </pc:spChg>
      </pc:sldChg>
      <pc:sldChg chg="modSp mod">
        <pc:chgData name="Sahan Konur, Sahika" userId="739a6e03-9a4a-49c6-a350-571b31db94be" providerId="ADAL" clId="{BA53563C-B991-4555-B078-153EAB81EA07}" dt="2024-03-21T13:51:27.673" v="171" actId="1076"/>
        <pc:sldMkLst>
          <pc:docMk/>
          <pc:sldMk cId="890416936" sldId="345"/>
        </pc:sldMkLst>
        <pc:spChg chg="mod">
          <ac:chgData name="Sahan Konur, Sahika" userId="739a6e03-9a4a-49c6-a350-571b31db94be" providerId="ADAL" clId="{BA53563C-B991-4555-B078-153EAB81EA07}" dt="2024-03-17T21:37:03.909" v="82" actId="27636"/>
          <ac:spMkLst>
            <pc:docMk/>
            <pc:sldMk cId="890416936" sldId="345"/>
            <ac:spMk id="3" creationId="{00000000-0000-0000-0000-000000000000}"/>
          </ac:spMkLst>
        </pc:spChg>
        <pc:graphicFrameChg chg="mod">
          <ac:chgData name="Sahan Konur, Sahika" userId="739a6e03-9a4a-49c6-a350-571b31db94be" providerId="ADAL" clId="{BA53563C-B991-4555-B078-153EAB81EA07}" dt="2024-03-21T13:51:27.673" v="171" actId="1076"/>
          <ac:graphicFrameMkLst>
            <pc:docMk/>
            <pc:sldMk cId="890416936" sldId="345"/>
            <ac:graphicFrameMk id="6" creationId="{00000000-0000-0000-0000-000000000000}"/>
          </ac:graphicFrameMkLst>
        </pc:graphicFrameChg>
      </pc:sldChg>
      <pc:sldChg chg="modSp mod">
        <pc:chgData name="Sahan Konur, Sahika" userId="739a6e03-9a4a-49c6-a350-571b31db94be" providerId="ADAL" clId="{BA53563C-B991-4555-B078-153EAB81EA07}" dt="2024-03-21T13:51:35.307" v="172" actId="14100"/>
        <pc:sldMkLst>
          <pc:docMk/>
          <pc:sldMk cId="2957480722" sldId="347"/>
        </pc:sldMkLst>
        <pc:spChg chg="mod">
          <ac:chgData name="Sahan Konur, Sahika" userId="739a6e03-9a4a-49c6-a350-571b31db94be" providerId="ADAL" clId="{BA53563C-B991-4555-B078-153EAB81EA07}" dt="2024-03-21T13:51:35.307" v="172" actId="14100"/>
          <ac:spMkLst>
            <pc:docMk/>
            <pc:sldMk cId="2957480722" sldId="347"/>
            <ac:spMk id="3" creationId="{00000000-0000-0000-0000-000000000000}"/>
          </ac:spMkLst>
        </pc:spChg>
      </pc:sldChg>
      <pc:sldChg chg="modSp mod">
        <pc:chgData name="Sahan Konur, Sahika" userId="739a6e03-9a4a-49c6-a350-571b31db94be" providerId="ADAL" clId="{BA53563C-B991-4555-B078-153EAB81EA07}" dt="2024-03-17T21:37:03.919" v="84" actId="27636"/>
        <pc:sldMkLst>
          <pc:docMk/>
          <pc:sldMk cId="2937093908" sldId="348"/>
        </pc:sldMkLst>
        <pc:spChg chg="mod">
          <ac:chgData name="Sahan Konur, Sahika" userId="739a6e03-9a4a-49c6-a350-571b31db94be" providerId="ADAL" clId="{BA53563C-B991-4555-B078-153EAB81EA07}" dt="2024-03-17T21:37:03.919" v="84" actId="27636"/>
          <ac:spMkLst>
            <pc:docMk/>
            <pc:sldMk cId="2937093908" sldId="348"/>
            <ac:spMk id="3" creationId="{00000000-0000-0000-0000-000000000000}"/>
          </ac:spMkLst>
        </pc:spChg>
      </pc:sldChg>
      <pc:sldChg chg="modSp mod">
        <pc:chgData name="Sahan Konur, Sahika" userId="739a6e03-9a4a-49c6-a350-571b31db94be" providerId="ADAL" clId="{BA53563C-B991-4555-B078-153EAB81EA07}" dt="2024-03-17T21:37:03.924" v="85" actId="27636"/>
        <pc:sldMkLst>
          <pc:docMk/>
          <pc:sldMk cId="396117074" sldId="349"/>
        </pc:sldMkLst>
        <pc:spChg chg="mod">
          <ac:chgData name="Sahan Konur, Sahika" userId="739a6e03-9a4a-49c6-a350-571b31db94be" providerId="ADAL" clId="{BA53563C-B991-4555-B078-153EAB81EA07}" dt="2024-03-17T21:37:03.924" v="85" actId="27636"/>
          <ac:spMkLst>
            <pc:docMk/>
            <pc:sldMk cId="396117074" sldId="349"/>
            <ac:spMk id="3" creationId="{00000000-0000-0000-0000-000000000000}"/>
          </ac:spMkLst>
        </pc:spChg>
      </pc:sldChg>
      <pc:sldChg chg="modSp mod">
        <pc:chgData name="Sahan Konur, Sahika" userId="739a6e03-9a4a-49c6-a350-571b31db94be" providerId="ADAL" clId="{BA53563C-B991-4555-B078-153EAB81EA07}" dt="2024-03-21T13:51:59.522" v="174" actId="1076"/>
        <pc:sldMkLst>
          <pc:docMk/>
          <pc:sldMk cId="1792149869" sldId="350"/>
        </pc:sldMkLst>
        <pc:spChg chg="mod">
          <ac:chgData name="Sahan Konur, Sahika" userId="739a6e03-9a4a-49c6-a350-571b31db94be" providerId="ADAL" clId="{BA53563C-B991-4555-B078-153EAB81EA07}" dt="2024-03-17T21:37:03.928" v="86" actId="27636"/>
          <ac:spMkLst>
            <pc:docMk/>
            <pc:sldMk cId="1792149869" sldId="350"/>
            <ac:spMk id="3" creationId="{00000000-0000-0000-0000-000000000000}"/>
          </ac:spMkLst>
        </pc:spChg>
        <pc:picChg chg="mod">
          <ac:chgData name="Sahan Konur, Sahika" userId="739a6e03-9a4a-49c6-a350-571b31db94be" providerId="ADAL" clId="{BA53563C-B991-4555-B078-153EAB81EA07}" dt="2024-03-21T13:51:59.522" v="174" actId="1076"/>
          <ac:picMkLst>
            <pc:docMk/>
            <pc:sldMk cId="1792149869" sldId="350"/>
            <ac:picMk id="5" creationId="{00000000-0000-0000-0000-000000000000}"/>
          </ac:picMkLst>
        </pc:picChg>
        <pc:picChg chg="mod">
          <ac:chgData name="Sahan Konur, Sahika" userId="739a6e03-9a4a-49c6-a350-571b31db94be" providerId="ADAL" clId="{BA53563C-B991-4555-B078-153EAB81EA07}" dt="2024-03-21T13:51:54.850" v="173" actId="1076"/>
          <ac:picMkLst>
            <pc:docMk/>
            <pc:sldMk cId="1792149869" sldId="350"/>
            <ac:picMk id="6" creationId="{00000000-0000-0000-0000-000000000000}"/>
          </ac:picMkLst>
        </pc:picChg>
      </pc:sldChg>
      <pc:sldChg chg="modSp mod">
        <pc:chgData name="Sahan Konur, Sahika" userId="739a6e03-9a4a-49c6-a350-571b31db94be" providerId="ADAL" clId="{BA53563C-B991-4555-B078-153EAB81EA07}" dt="2024-03-17T21:37:03.932" v="87" actId="27636"/>
        <pc:sldMkLst>
          <pc:docMk/>
          <pc:sldMk cId="3308329749" sldId="351"/>
        </pc:sldMkLst>
        <pc:spChg chg="mod">
          <ac:chgData name="Sahan Konur, Sahika" userId="739a6e03-9a4a-49c6-a350-571b31db94be" providerId="ADAL" clId="{BA53563C-B991-4555-B078-153EAB81EA07}" dt="2024-03-17T21:37:03.932" v="87" actId="27636"/>
          <ac:spMkLst>
            <pc:docMk/>
            <pc:sldMk cId="3308329749" sldId="351"/>
            <ac:spMk id="3" creationId="{00000000-0000-0000-0000-000000000000}"/>
          </ac:spMkLst>
        </pc:spChg>
      </pc:sldChg>
      <pc:sldChg chg="modSp mod">
        <pc:chgData name="Sahan Konur, Sahika" userId="739a6e03-9a4a-49c6-a350-571b31db94be" providerId="ADAL" clId="{BA53563C-B991-4555-B078-153EAB81EA07}" dt="2024-03-17T21:37:03.962" v="91" actId="27636"/>
        <pc:sldMkLst>
          <pc:docMk/>
          <pc:sldMk cId="852127324" sldId="352"/>
        </pc:sldMkLst>
        <pc:spChg chg="mod">
          <ac:chgData name="Sahan Konur, Sahika" userId="739a6e03-9a4a-49c6-a350-571b31db94be" providerId="ADAL" clId="{BA53563C-B991-4555-B078-153EAB81EA07}" dt="2024-03-17T21:37:03.962" v="91" actId="27636"/>
          <ac:spMkLst>
            <pc:docMk/>
            <pc:sldMk cId="852127324" sldId="352"/>
            <ac:spMk id="3" creationId="{00000000-0000-0000-0000-000000000000}"/>
          </ac:spMkLst>
        </pc:spChg>
      </pc:sldChg>
      <pc:sldChg chg="modSp mod">
        <pc:chgData name="Sahan Konur, Sahika" userId="739a6e03-9a4a-49c6-a350-571b31db94be" providerId="ADAL" clId="{BA53563C-B991-4555-B078-153EAB81EA07}" dt="2024-03-17T21:37:03.936" v="88" actId="27636"/>
        <pc:sldMkLst>
          <pc:docMk/>
          <pc:sldMk cId="2609318800" sldId="353"/>
        </pc:sldMkLst>
        <pc:spChg chg="mod">
          <ac:chgData name="Sahan Konur, Sahika" userId="739a6e03-9a4a-49c6-a350-571b31db94be" providerId="ADAL" clId="{BA53563C-B991-4555-B078-153EAB81EA07}" dt="2024-03-17T21:37:03.936" v="88" actId="27636"/>
          <ac:spMkLst>
            <pc:docMk/>
            <pc:sldMk cId="2609318800" sldId="353"/>
            <ac:spMk id="3" creationId="{00000000-0000-0000-0000-000000000000}"/>
          </ac:spMkLst>
        </pc:spChg>
      </pc:sldChg>
      <pc:sldChg chg="modSp mod">
        <pc:chgData name="Sahan Konur, Sahika" userId="739a6e03-9a4a-49c6-a350-571b31db94be" providerId="ADAL" clId="{BA53563C-B991-4555-B078-153EAB81EA07}" dt="2024-03-21T13:52:20.627" v="175" actId="1076"/>
        <pc:sldMkLst>
          <pc:docMk/>
          <pc:sldMk cId="2717786865" sldId="354"/>
        </pc:sldMkLst>
        <pc:spChg chg="mod">
          <ac:chgData name="Sahan Konur, Sahika" userId="739a6e03-9a4a-49c6-a350-571b31db94be" providerId="ADAL" clId="{BA53563C-B991-4555-B078-153EAB81EA07}" dt="2024-03-17T21:37:03.975" v="92" actId="27636"/>
          <ac:spMkLst>
            <pc:docMk/>
            <pc:sldMk cId="2717786865" sldId="354"/>
            <ac:spMk id="3" creationId="{00000000-0000-0000-0000-000000000000}"/>
          </ac:spMkLst>
        </pc:spChg>
        <pc:spChg chg="mod">
          <ac:chgData name="Sahan Konur, Sahika" userId="739a6e03-9a4a-49c6-a350-571b31db94be" providerId="ADAL" clId="{BA53563C-B991-4555-B078-153EAB81EA07}" dt="2024-03-21T13:52:20.627" v="175" actId="1076"/>
          <ac:spMkLst>
            <pc:docMk/>
            <pc:sldMk cId="2717786865" sldId="354"/>
            <ac:spMk id="6" creationId="{00000000-0000-0000-0000-000000000000}"/>
          </ac:spMkLst>
        </pc:spChg>
      </pc:sldChg>
      <pc:sldChg chg="modSp mod">
        <pc:chgData name="Sahan Konur, Sahika" userId="739a6e03-9a4a-49c6-a350-571b31db94be" providerId="ADAL" clId="{BA53563C-B991-4555-B078-153EAB81EA07}" dt="2024-03-21T13:52:34.413" v="177" actId="1076"/>
        <pc:sldMkLst>
          <pc:docMk/>
          <pc:sldMk cId="856382606" sldId="355"/>
        </pc:sldMkLst>
        <pc:spChg chg="mod">
          <ac:chgData name="Sahan Konur, Sahika" userId="739a6e03-9a4a-49c6-a350-571b31db94be" providerId="ADAL" clId="{BA53563C-B991-4555-B078-153EAB81EA07}" dt="2024-03-21T13:52:27.384" v="176" actId="14100"/>
          <ac:spMkLst>
            <pc:docMk/>
            <pc:sldMk cId="856382606" sldId="355"/>
            <ac:spMk id="3" creationId="{00000000-0000-0000-0000-000000000000}"/>
          </ac:spMkLst>
        </pc:spChg>
        <pc:spChg chg="mod">
          <ac:chgData name="Sahan Konur, Sahika" userId="739a6e03-9a4a-49c6-a350-571b31db94be" providerId="ADAL" clId="{BA53563C-B991-4555-B078-153EAB81EA07}" dt="2024-03-21T13:52:34.413" v="177" actId="1076"/>
          <ac:spMkLst>
            <pc:docMk/>
            <pc:sldMk cId="856382606" sldId="355"/>
            <ac:spMk id="5" creationId="{00000000-0000-0000-0000-000000000000}"/>
          </ac:spMkLst>
        </pc:spChg>
      </pc:sldChg>
      <pc:sldChg chg="modSp mod">
        <pc:chgData name="Sahan Konur, Sahika" userId="739a6e03-9a4a-49c6-a350-571b31db94be" providerId="ADAL" clId="{BA53563C-B991-4555-B078-153EAB81EA07}" dt="2024-03-17T21:37:03.992" v="94" actId="27636"/>
        <pc:sldMkLst>
          <pc:docMk/>
          <pc:sldMk cId="660139706" sldId="357"/>
        </pc:sldMkLst>
        <pc:spChg chg="mod">
          <ac:chgData name="Sahan Konur, Sahika" userId="739a6e03-9a4a-49c6-a350-571b31db94be" providerId="ADAL" clId="{BA53563C-B991-4555-B078-153EAB81EA07}" dt="2024-03-17T21:37:03.992" v="94" actId="27636"/>
          <ac:spMkLst>
            <pc:docMk/>
            <pc:sldMk cId="660139706" sldId="357"/>
            <ac:spMk id="3" creationId="{00000000-0000-0000-0000-000000000000}"/>
          </ac:spMkLst>
        </pc:spChg>
      </pc:sldChg>
      <pc:sldChg chg="modSp mod">
        <pc:chgData name="Sahan Konur, Sahika" userId="739a6e03-9a4a-49c6-a350-571b31db94be" providerId="ADAL" clId="{BA53563C-B991-4555-B078-153EAB81EA07}" dt="2024-03-17T21:37:03.995" v="95" actId="27636"/>
        <pc:sldMkLst>
          <pc:docMk/>
          <pc:sldMk cId="3039316323" sldId="358"/>
        </pc:sldMkLst>
        <pc:spChg chg="mod">
          <ac:chgData name="Sahan Konur, Sahika" userId="739a6e03-9a4a-49c6-a350-571b31db94be" providerId="ADAL" clId="{BA53563C-B991-4555-B078-153EAB81EA07}" dt="2024-03-17T21:37:03.995" v="95" actId="27636"/>
          <ac:spMkLst>
            <pc:docMk/>
            <pc:sldMk cId="3039316323" sldId="358"/>
            <ac:spMk id="3" creationId="{00000000-0000-0000-0000-000000000000}"/>
          </ac:spMkLst>
        </pc:spChg>
      </pc:sldChg>
      <pc:sldChg chg="modSp mod">
        <pc:chgData name="Sahan Konur, Sahika" userId="739a6e03-9a4a-49c6-a350-571b31db94be" providerId="ADAL" clId="{BA53563C-B991-4555-B078-153EAB81EA07}" dt="2024-03-17T21:37:04.005" v="96" actId="27636"/>
        <pc:sldMkLst>
          <pc:docMk/>
          <pc:sldMk cId="3845544466" sldId="359"/>
        </pc:sldMkLst>
        <pc:spChg chg="mod">
          <ac:chgData name="Sahan Konur, Sahika" userId="739a6e03-9a4a-49c6-a350-571b31db94be" providerId="ADAL" clId="{BA53563C-B991-4555-B078-153EAB81EA07}" dt="2024-03-17T21:37:04.005" v="96" actId="27636"/>
          <ac:spMkLst>
            <pc:docMk/>
            <pc:sldMk cId="3845544466" sldId="359"/>
            <ac:spMk id="3" creationId="{00000000-0000-0000-0000-000000000000}"/>
          </ac:spMkLst>
        </pc:spChg>
      </pc:sldChg>
      <pc:sldChg chg="modSp mod">
        <pc:chgData name="Sahan Konur, Sahika" userId="739a6e03-9a4a-49c6-a350-571b31db94be" providerId="ADAL" clId="{BA53563C-B991-4555-B078-153EAB81EA07}" dt="2024-03-17T21:37:03.940" v="89" actId="27636"/>
        <pc:sldMkLst>
          <pc:docMk/>
          <pc:sldMk cId="4251257771" sldId="360"/>
        </pc:sldMkLst>
        <pc:spChg chg="mod">
          <ac:chgData name="Sahan Konur, Sahika" userId="739a6e03-9a4a-49c6-a350-571b31db94be" providerId="ADAL" clId="{BA53563C-B991-4555-B078-153EAB81EA07}" dt="2024-03-17T21:37:03.940" v="89" actId="27636"/>
          <ac:spMkLst>
            <pc:docMk/>
            <pc:sldMk cId="4251257771" sldId="360"/>
            <ac:spMk id="3" creationId="{00000000-0000-0000-0000-000000000000}"/>
          </ac:spMkLst>
        </pc:spChg>
      </pc:sldChg>
      <pc:sldChg chg="modSp mod">
        <pc:chgData name="Sahan Konur, Sahika" userId="739a6e03-9a4a-49c6-a350-571b31db94be" providerId="ADAL" clId="{BA53563C-B991-4555-B078-153EAB81EA07}" dt="2024-03-17T21:37:03.944" v="90" actId="27636"/>
        <pc:sldMkLst>
          <pc:docMk/>
          <pc:sldMk cId="1759524657" sldId="362"/>
        </pc:sldMkLst>
        <pc:spChg chg="mod">
          <ac:chgData name="Sahan Konur, Sahika" userId="739a6e03-9a4a-49c6-a350-571b31db94be" providerId="ADAL" clId="{BA53563C-B991-4555-B078-153EAB81EA07}" dt="2024-03-17T21:37:03.944" v="90" actId="27636"/>
          <ac:spMkLst>
            <pc:docMk/>
            <pc:sldMk cId="1759524657" sldId="362"/>
            <ac:spMk id="3" creationId="{00000000-0000-0000-0000-000000000000}"/>
          </ac:spMkLst>
        </pc:spChg>
      </pc:sldChg>
      <pc:sldChg chg="modSp mod">
        <pc:chgData name="Sahan Konur, Sahika" userId="739a6e03-9a4a-49c6-a350-571b31db94be" providerId="ADAL" clId="{BA53563C-B991-4555-B078-153EAB81EA07}" dt="2024-03-17T21:37:04.011" v="97" actId="27636"/>
        <pc:sldMkLst>
          <pc:docMk/>
          <pc:sldMk cId="2682825833" sldId="364"/>
        </pc:sldMkLst>
        <pc:spChg chg="mod">
          <ac:chgData name="Sahan Konur, Sahika" userId="739a6e03-9a4a-49c6-a350-571b31db94be" providerId="ADAL" clId="{BA53563C-B991-4555-B078-153EAB81EA07}" dt="2024-03-17T21:37:04.011" v="97" actId="27636"/>
          <ac:spMkLst>
            <pc:docMk/>
            <pc:sldMk cId="2682825833" sldId="364"/>
            <ac:spMk id="3" creationId="{00000000-0000-0000-0000-000000000000}"/>
          </ac:spMkLst>
        </pc:spChg>
      </pc:sldChg>
      <pc:sldChg chg="modSp mod">
        <pc:chgData name="Sahan Konur, Sahika" userId="739a6e03-9a4a-49c6-a350-571b31db94be" providerId="ADAL" clId="{BA53563C-B991-4555-B078-153EAB81EA07}" dt="2024-03-17T21:37:04.018" v="98" actId="27636"/>
        <pc:sldMkLst>
          <pc:docMk/>
          <pc:sldMk cId="2027594997" sldId="365"/>
        </pc:sldMkLst>
        <pc:spChg chg="mod">
          <ac:chgData name="Sahan Konur, Sahika" userId="739a6e03-9a4a-49c6-a350-571b31db94be" providerId="ADAL" clId="{BA53563C-B991-4555-B078-153EAB81EA07}" dt="2024-03-17T21:37:04.018" v="98" actId="27636"/>
          <ac:spMkLst>
            <pc:docMk/>
            <pc:sldMk cId="2027594997" sldId="365"/>
            <ac:spMk id="3" creationId="{00000000-0000-0000-0000-000000000000}"/>
          </ac:spMkLst>
        </pc:spChg>
      </pc:sldChg>
      <pc:sldChg chg="modSp mod">
        <pc:chgData name="Sahan Konur, Sahika" userId="739a6e03-9a4a-49c6-a350-571b31db94be" providerId="ADAL" clId="{BA53563C-B991-4555-B078-153EAB81EA07}" dt="2024-03-17T21:37:04.025" v="100" actId="27636"/>
        <pc:sldMkLst>
          <pc:docMk/>
          <pc:sldMk cId="1748787117" sldId="367"/>
        </pc:sldMkLst>
        <pc:spChg chg="mod">
          <ac:chgData name="Sahan Konur, Sahika" userId="739a6e03-9a4a-49c6-a350-571b31db94be" providerId="ADAL" clId="{BA53563C-B991-4555-B078-153EAB81EA07}" dt="2024-03-17T21:37:04.025" v="100" actId="27636"/>
          <ac:spMkLst>
            <pc:docMk/>
            <pc:sldMk cId="1748787117" sldId="367"/>
            <ac:spMk id="3" creationId="{00000000-0000-0000-0000-000000000000}"/>
          </ac:spMkLst>
        </pc:spChg>
      </pc:sldChg>
      <pc:sldChg chg="modSp mod">
        <pc:chgData name="Sahan Konur, Sahika" userId="739a6e03-9a4a-49c6-a350-571b31db94be" providerId="ADAL" clId="{BA53563C-B991-4555-B078-153EAB81EA07}" dt="2024-03-21T18:27:27.027" v="476" actId="27636"/>
        <pc:sldMkLst>
          <pc:docMk/>
          <pc:sldMk cId="3634186058" sldId="368"/>
        </pc:sldMkLst>
        <pc:spChg chg="mod">
          <ac:chgData name="Sahan Konur, Sahika" userId="739a6e03-9a4a-49c6-a350-571b31db94be" providerId="ADAL" clId="{BA53563C-B991-4555-B078-153EAB81EA07}" dt="2024-03-21T18:27:27.027" v="476" actId="27636"/>
          <ac:spMkLst>
            <pc:docMk/>
            <pc:sldMk cId="3634186058" sldId="368"/>
            <ac:spMk id="3" creationId="{00000000-0000-0000-0000-000000000000}"/>
          </ac:spMkLst>
        </pc:spChg>
        <pc:picChg chg="mod">
          <ac:chgData name="Sahan Konur, Sahika" userId="739a6e03-9a4a-49c6-a350-571b31db94be" providerId="ADAL" clId="{BA53563C-B991-4555-B078-153EAB81EA07}" dt="2024-03-21T18:27:10.391" v="471" actId="1076"/>
          <ac:picMkLst>
            <pc:docMk/>
            <pc:sldMk cId="3634186058" sldId="368"/>
            <ac:picMk id="11" creationId="{00000000-0000-0000-0000-000000000000}"/>
          </ac:picMkLst>
        </pc:picChg>
      </pc:sldChg>
      <pc:sldChg chg="modSp mod">
        <pc:chgData name="Sahan Konur, Sahika" userId="739a6e03-9a4a-49c6-a350-571b31db94be" providerId="ADAL" clId="{BA53563C-B991-4555-B078-153EAB81EA07}" dt="2024-03-21T13:52:58.242" v="178" actId="1076"/>
        <pc:sldMkLst>
          <pc:docMk/>
          <pc:sldMk cId="3225196992" sldId="369"/>
        </pc:sldMkLst>
        <pc:spChg chg="mod">
          <ac:chgData name="Sahan Konur, Sahika" userId="739a6e03-9a4a-49c6-a350-571b31db94be" providerId="ADAL" clId="{BA53563C-B991-4555-B078-153EAB81EA07}" dt="2024-03-17T21:37:04.022" v="99" actId="27636"/>
          <ac:spMkLst>
            <pc:docMk/>
            <pc:sldMk cId="3225196992" sldId="369"/>
            <ac:spMk id="3" creationId="{00000000-0000-0000-0000-000000000000}"/>
          </ac:spMkLst>
        </pc:spChg>
        <pc:picChg chg="mod">
          <ac:chgData name="Sahan Konur, Sahika" userId="739a6e03-9a4a-49c6-a350-571b31db94be" providerId="ADAL" clId="{BA53563C-B991-4555-B078-153EAB81EA07}" dt="2024-03-21T13:52:58.242" v="178" actId="1076"/>
          <ac:picMkLst>
            <pc:docMk/>
            <pc:sldMk cId="3225196992" sldId="369"/>
            <ac:picMk id="6" creationId="{00000000-0000-0000-0000-000000000000}"/>
          </ac:picMkLst>
        </pc:picChg>
      </pc:sldChg>
      <pc:sldChg chg="modSp mod">
        <pc:chgData name="Sahan Konur, Sahika" userId="739a6e03-9a4a-49c6-a350-571b31db94be" providerId="ADAL" clId="{BA53563C-B991-4555-B078-153EAB81EA07}" dt="2024-03-21T13:49:28.857" v="132" actId="1076"/>
        <pc:sldMkLst>
          <pc:docMk/>
          <pc:sldMk cId="3251463295" sldId="374"/>
        </pc:sldMkLst>
        <pc:spChg chg="mod">
          <ac:chgData name="Sahan Konur, Sahika" userId="739a6e03-9a4a-49c6-a350-571b31db94be" providerId="ADAL" clId="{BA53563C-B991-4555-B078-153EAB81EA07}" dt="2024-03-21T13:49:24.137" v="131" actId="14100"/>
          <ac:spMkLst>
            <pc:docMk/>
            <pc:sldMk cId="3251463295" sldId="374"/>
            <ac:spMk id="3" creationId="{00000000-0000-0000-0000-000000000000}"/>
          </ac:spMkLst>
        </pc:spChg>
        <pc:picChg chg="mod">
          <ac:chgData name="Sahan Konur, Sahika" userId="739a6e03-9a4a-49c6-a350-571b31db94be" providerId="ADAL" clId="{BA53563C-B991-4555-B078-153EAB81EA07}" dt="2024-03-21T13:49:28.857" v="132" actId="1076"/>
          <ac:picMkLst>
            <pc:docMk/>
            <pc:sldMk cId="3251463295" sldId="374"/>
            <ac:picMk id="4" creationId="{00000000-0000-0000-0000-000000000000}"/>
          </ac:picMkLst>
        </pc:picChg>
      </pc:sldChg>
      <pc:sldChg chg="modSp mod">
        <pc:chgData name="Sahan Konur, Sahika" userId="739a6e03-9a4a-49c6-a350-571b31db94be" providerId="ADAL" clId="{BA53563C-B991-4555-B078-153EAB81EA07}" dt="2024-03-17T21:37:04.126" v="114" actId="27636"/>
        <pc:sldMkLst>
          <pc:docMk/>
          <pc:sldMk cId="2715487301" sldId="375"/>
        </pc:sldMkLst>
        <pc:spChg chg="mod">
          <ac:chgData name="Sahan Konur, Sahika" userId="739a6e03-9a4a-49c6-a350-571b31db94be" providerId="ADAL" clId="{BA53563C-B991-4555-B078-153EAB81EA07}" dt="2024-03-17T21:37:04.126" v="114" actId="27636"/>
          <ac:spMkLst>
            <pc:docMk/>
            <pc:sldMk cId="2715487301" sldId="375"/>
            <ac:spMk id="3" creationId="{00000000-0000-0000-0000-000000000000}"/>
          </ac:spMkLst>
        </pc:spChg>
      </pc:sldChg>
      <pc:sldChg chg="modSp mod">
        <pc:chgData name="Sahan Konur, Sahika" userId="739a6e03-9a4a-49c6-a350-571b31db94be" providerId="ADAL" clId="{BA53563C-B991-4555-B078-153EAB81EA07}" dt="2024-03-17T21:37:04.129" v="115" actId="27636"/>
        <pc:sldMkLst>
          <pc:docMk/>
          <pc:sldMk cId="702206220" sldId="376"/>
        </pc:sldMkLst>
        <pc:spChg chg="mod">
          <ac:chgData name="Sahan Konur, Sahika" userId="739a6e03-9a4a-49c6-a350-571b31db94be" providerId="ADAL" clId="{BA53563C-B991-4555-B078-153EAB81EA07}" dt="2024-03-17T21:37:04.129" v="115" actId="27636"/>
          <ac:spMkLst>
            <pc:docMk/>
            <pc:sldMk cId="702206220" sldId="376"/>
            <ac:spMk id="3" creationId="{00000000-0000-0000-0000-000000000000}"/>
          </ac:spMkLst>
        </pc:spChg>
      </pc:sldChg>
      <pc:sldChg chg="modSp mod modAnim">
        <pc:chgData name="Sahan Konur, Sahika" userId="739a6e03-9a4a-49c6-a350-571b31db94be" providerId="ADAL" clId="{BA53563C-B991-4555-B078-153EAB81EA07}" dt="2024-03-17T21:37:10.163" v="116" actId="33524"/>
        <pc:sldMkLst>
          <pc:docMk/>
          <pc:sldMk cId="267067560" sldId="377"/>
        </pc:sldMkLst>
        <pc:spChg chg="mod">
          <ac:chgData name="Sahan Konur, Sahika" userId="739a6e03-9a4a-49c6-a350-571b31db94be" providerId="ADAL" clId="{BA53563C-B991-4555-B078-153EAB81EA07}" dt="2024-03-17T21:37:10.163" v="116" actId="33524"/>
          <ac:spMkLst>
            <pc:docMk/>
            <pc:sldMk cId="267067560" sldId="377"/>
            <ac:spMk id="3" creationId="{00000000-0000-0000-0000-000000000000}"/>
          </ac:spMkLst>
        </pc:spChg>
      </pc:sldChg>
      <pc:sldChg chg="modSp mod">
        <pc:chgData name="Sahan Konur, Sahika" userId="739a6e03-9a4a-49c6-a350-571b31db94be" providerId="ADAL" clId="{BA53563C-B991-4555-B078-153EAB81EA07}" dt="2024-03-21T13:50:11.554" v="134" actId="113"/>
        <pc:sldMkLst>
          <pc:docMk/>
          <pc:sldMk cId="1015724329" sldId="378"/>
        </pc:sldMkLst>
        <pc:spChg chg="mod">
          <ac:chgData name="Sahan Konur, Sahika" userId="739a6e03-9a4a-49c6-a350-571b31db94be" providerId="ADAL" clId="{BA53563C-B991-4555-B078-153EAB81EA07}" dt="2024-03-17T21:37:23.721" v="119" actId="14100"/>
          <ac:spMkLst>
            <pc:docMk/>
            <pc:sldMk cId="1015724329" sldId="378"/>
            <ac:spMk id="3" creationId="{00000000-0000-0000-0000-000000000000}"/>
          </ac:spMkLst>
        </pc:spChg>
        <pc:spChg chg="mod">
          <ac:chgData name="Sahan Konur, Sahika" userId="739a6e03-9a4a-49c6-a350-571b31db94be" providerId="ADAL" clId="{BA53563C-B991-4555-B078-153EAB81EA07}" dt="2024-03-21T13:50:07.772" v="133" actId="113"/>
          <ac:spMkLst>
            <pc:docMk/>
            <pc:sldMk cId="1015724329" sldId="378"/>
            <ac:spMk id="4" creationId="{C0A2E0D5-D2C8-4421-A0E3-9421F9D6AD3D}"/>
          </ac:spMkLst>
        </pc:spChg>
        <pc:spChg chg="mod">
          <ac:chgData name="Sahan Konur, Sahika" userId="739a6e03-9a4a-49c6-a350-571b31db94be" providerId="ADAL" clId="{BA53563C-B991-4555-B078-153EAB81EA07}" dt="2024-03-21T13:50:11.554" v="134" actId="113"/>
          <ac:spMkLst>
            <pc:docMk/>
            <pc:sldMk cId="1015724329" sldId="378"/>
            <ac:spMk id="5" creationId="{F4750526-5CA4-4998-9A2E-5E213FD4B502}"/>
          </ac:spMkLst>
        </pc:spChg>
      </pc:sldChg>
      <pc:sldChg chg="modSp mod">
        <pc:chgData name="Sahan Konur, Sahika" userId="739a6e03-9a4a-49c6-a350-571b31db94be" providerId="ADAL" clId="{BA53563C-B991-4555-B078-153EAB81EA07}" dt="2024-03-21T13:50:38.381" v="169" actId="20577"/>
        <pc:sldMkLst>
          <pc:docMk/>
          <pc:sldMk cId="1223385270" sldId="379"/>
        </pc:sldMkLst>
        <pc:spChg chg="mod">
          <ac:chgData name="Sahan Konur, Sahika" userId="739a6e03-9a4a-49c6-a350-571b31db94be" providerId="ADAL" clId="{BA53563C-B991-4555-B078-153EAB81EA07}" dt="2024-03-21T13:50:38.381" v="169" actId="20577"/>
          <ac:spMkLst>
            <pc:docMk/>
            <pc:sldMk cId="1223385270" sldId="379"/>
            <ac:spMk id="3" creationId="{00000000-0000-0000-0000-000000000000}"/>
          </ac:spMkLst>
        </pc:spChg>
        <pc:picChg chg="mod">
          <ac:chgData name="Sahan Konur, Sahika" userId="739a6e03-9a4a-49c6-a350-571b31db94be" providerId="ADAL" clId="{BA53563C-B991-4555-B078-153EAB81EA07}" dt="2024-03-17T21:38:06.163" v="124" actId="1076"/>
          <ac:picMkLst>
            <pc:docMk/>
            <pc:sldMk cId="1223385270" sldId="379"/>
            <ac:picMk id="7" creationId="{00000000-0000-0000-0000-000000000000}"/>
          </ac:picMkLst>
        </pc:picChg>
        <pc:picChg chg="mod">
          <ac:chgData name="Sahan Konur, Sahika" userId="739a6e03-9a4a-49c6-a350-571b31db94be" providerId="ADAL" clId="{BA53563C-B991-4555-B078-153EAB81EA07}" dt="2024-03-17T21:38:14.319" v="125" actId="1076"/>
          <ac:picMkLst>
            <pc:docMk/>
            <pc:sldMk cId="1223385270" sldId="379"/>
            <ac:picMk id="8" creationId="{00000000-0000-0000-0000-000000000000}"/>
          </ac:picMkLst>
        </pc:picChg>
        <pc:picChg chg="mod">
          <ac:chgData name="Sahan Konur, Sahika" userId="739a6e03-9a4a-49c6-a350-571b31db94be" providerId="ADAL" clId="{BA53563C-B991-4555-B078-153EAB81EA07}" dt="2024-03-17T21:38:21.393" v="126" actId="1076"/>
          <ac:picMkLst>
            <pc:docMk/>
            <pc:sldMk cId="1223385270" sldId="379"/>
            <ac:picMk id="9" creationId="{00000000-0000-0000-0000-000000000000}"/>
          </ac:picMkLst>
        </pc:picChg>
      </pc:sldChg>
      <pc:sldChg chg="modSp mod">
        <pc:chgData name="Sahan Konur, Sahika" userId="739a6e03-9a4a-49c6-a350-571b31db94be" providerId="ADAL" clId="{BA53563C-B991-4555-B078-153EAB81EA07}" dt="2024-03-17T21:38:34.629" v="128" actId="27636"/>
        <pc:sldMkLst>
          <pc:docMk/>
          <pc:sldMk cId="2738380344" sldId="380"/>
        </pc:sldMkLst>
        <pc:spChg chg="mod">
          <ac:chgData name="Sahan Konur, Sahika" userId="739a6e03-9a4a-49c6-a350-571b31db94be" providerId="ADAL" clId="{BA53563C-B991-4555-B078-153EAB81EA07}" dt="2024-03-17T21:38:34.629" v="128" actId="27636"/>
          <ac:spMkLst>
            <pc:docMk/>
            <pc:sldMk cId="2738380344" sldId="380"/>
            <ac:spMk id="3" creationId="{00000000-0000-0000-0000-000000000000}"/>
          </ac:spMkLst>
        </pc:spChg>
      </pc:sldChg>
      <pc:sldChg chg="modSp mod">
        <pc:chgData name="Sahan Konur, Sahika" userId="739a6e03-9a4a-49c6-a350-571b31db94be" providerId="ADAL" clId="{BA53563C-B991-4555-B078-153EAB81EA07}" dt="2024-03-17T21:37:04.093" v="110" actId="27636"/>
        <pc:sldMkLst>
          <pc:docMk/>
          <pc:sldMk cId="193492978" sldId="382"/>
        </pc:sldMkLst>
        <pc:spChg chg="mod">
          <ac:chgData name="Sahan Konur, Sahika" userId="739a6e03-9a4a-49c6-a350-571b31db94be" providerId="ADAL" clId="{BA53563C-B991-4555-B078-153EAB81EA07}" dt="2024-03-17T21:37:04.093" v="110" actId="27636"/>
          <ac:spMkLst>
            <pc:docMk/>
            <pc:sldMk cId="193492978" sldId="382"/>
            <ac:spMk id="3" creationId="{00000000-0000-0000-0000-000000000000}"/>
          </ac:spMkLst>
        </pc:spChg>
      </pc:sldChg>
      <pc:sldChg chg="modSp mod">
        <pc:chgData name="Sahan Konur, Sahika" userId="739a6e03-9a4a-49c6-a350-571b31db94be" providerId="ADAL" clId="{BA53563C-B991-4555-B078-153EAB81EA07}" dt="2024-03-17T21:37:04.111" v="111" actId="27636"/>
        <pc:sldMkLst>
          <pc:docMk/>
          <pc:sldMk cId="1863947100" sldId="383"/>
        </pc:sldMkLst>
        <pc:spChg chg="mod">
          <ac:chgData name="Sahan Konur, Sahika" userId="739a6e03-9a4a-49c6-a350-571b31db94be" providerId="ADAL" clId="{BA53563C-B991-4555-B078-153EAB81EA07}" dt="2024-03-17T21:37:04.111" v="111" actId="27636"/>
          <ac:spMkLst>
            <pc:docMk/>
            <pc:sldMk cId="1863947100" sldId="383"/>
            <ac:spMk id="3" creationId="{00000000-0000-0000-0000-000000000000}"/>
          </ac:spMkLst>
        </pc:spChg>
      </pc:sldChg>
      <pc:sldChg chg="modSp mod">
        <pc:chgData name="Sahan Konur, Sahika" userId="739a6e03-9a4a-49c6-a350-571b31db94be" providerId="ADAL" clId="{BA53563C-B991-4555-B078-153EAB81EA07}" dt="2024-03-21T13:59:27.035" v="257" actId="114"/>
        <pc:sldMkLst>
          <pc:docMk/>
          <pc:sldMk cId="2799981257" sldId="392"/>
        </pc:sldMkLst>
        <pc:spChg chg="mod">
          <ac:chgData name="Sahan Konur, Sahika" userId="739a6e03-9a4a-49c6-a350-571b31db94be" providerId="ADAL" clId="{BA53563C-B991-4555-B078-153EAB81EA07}" dt="2024-03-21T13:59:27.035" v="257" actId="114"/>
          <ac:spMkLst>
            <pc:docMk/>
            <pc:sldMk cId="2799981257" sldId="392"/>
            <ac:spMk id="3" creationId="{00000000-0000-0000-0000-000000000000}"/>
          </ac:spMkLst>
        </pc:spChg>
      </pc:sldChg>
      <pc:sldChg chg="modSp mod">
        <pc:chgData name="Sahan Konur, Sahika" userId="739a6e03-9a4a-49c6-a350-571b31db94be" providerId="ADAL" clId="{BA53563C-B991-4555-B078-153EAB81EA07}" dt="2024-03-17T21:37:04.114" v="112" actId="27636"/>
        <pc:sldMkLst>
          <pc:docMk/>
          <pc:sldMk cId="959303564" sldId="393"/>
        </pc:sldMkLst>
        <pc:spChg chg="mod">
          <ac:chgData name="Sahan Konur, Sahika" userId="739a6e03-9a4a-49c6-a350-571b31db94be" providerId="ADAL" clId="{BA53563C-B991-4555-B078-153EAB81EA07}" dt="2024-03-17T21:37:04.114" v="112" actId="27636"/>
          <ac:spMkLst>
            <pc:docMk/>
            <pc:sldMk cId="959303564" sldId="393"/>
            <ac:spMk id="3" creationId="{00000000-0000-0000-0000-000000000000}"/>
          </ac:spMkLst>
        </pc:spChg>
      </pc:sldChg>
      <pc:sldChg chg="modSp mod">
        <pc:chgData name="Sahan Konur, Sahika" userId="739a6e03-9a4a-49c6-a350-571b31db94be" providerId="ADAL" clId="{BA53563C-B991-4555-B078-153EAB81EA07}" dt="2024-03-17T21:37:03.879" v="76" actId="27636"/>
        <pc:sldMkLst>
          <pc:docMk/>
          <pc:sldMk cId="4143482325" sldId="394"/>
        </pc:sldMkLst>
        <pc:spChg chg="mod">
          <ac:chgData name="Sahan Konur, Sahika" userId="739a6e03-9a4a-49c6-a350-571b31db94be" providerId="ADAL" clId="{BA53563C-B991-4555-B078-153EAB81EA07}" dt="2024-03-17T21:37:03.879" v="76" actId="27636"/>
          <ac:spMkLst>
            <pc:docMk/>
            <pc:sldMk cId="4143482325" sldId="394"/>
            <ac:spMk id="3" creationId="{00000000-0000-0000-0000-000000000000}"/>
          </ac:spMkLst>
        </pc:spChg>
      </pc:sldChg>
      <pc:sldChg chg="modSp mod">
        <pc:chgData name="Sahan Konur, Sahika" userId="739a6e03-9a4a-49c6-a350-571b31db94be" providerId="ADAL" clId="{BA53563C-B991-4555-B078-153EAB81EA07}" dt="2024-03-17T21:37:03.895" v="79" actId="27636"/>
        <pc:sldMkLst>
          <pc:docMk/>
          <pc:sldMk cId="1124346756" sldId="395"/>
        </pc:sldMkLst>
        <pc:spChg chg="mod">
          <ac:chgData name="Sahan Konur, Sahika" userId="739a6e03-9a4a-49c6-a350-571b31db94be" providerId="ADAL" clId="{BA53563C-B991-4555-B078-153EAB81EA07}" dt="2024-03-17T21:37:03.895" v="79" actId="27636"/>
          <ac:spMkLst>
            <pc:docMk/>
            <pc:sldMk cId="1124346756" sldId="395"/>
            <ac:spMk id="3" creationId="{00000000-0000-0000-0000-000000000000}"/>
          </ac:spMkLst>
        </pc:spChg>
      </pc:sldChg>
      <pc:sldChg chg="modSp mod">
        <pc:chgData name="Sahan Konur, Sahika" userId="739a6e03-9a4a-49c6-a350-571b31db94be" providerId="ADAL" clId="{BA53563C-B991-4555-B078-153EAB81EA07}" dt="2024-03-17T21:37:04.038" v="102" actId="27636"/>
        <pc:sldMkLst>
          <pc:docMk/>
          <pc:sldMk cId="2196323712" sldId="396"/>
        </pc:sldMkLst>
        <pc:spChg chg="mod">
          <ac:chgData name="Sahan Konur, Sahika" userId="739a6e03-9a4a-49c6-a350-571b31db94be" providerId="ADAL" clId="{BA53563C-B991-4555-B078-153EAB81EA07}" dt="2024-03-17T21:37:04.038" v="102" actId="27636"/>
          <ac:spMkLst>
            <pc:docMk/>
            <pc:sldMk cId="2196323712" sldId="396"/>
            <ac:spMk id="3" creationId="{00000000-0000-0000-0000-000000000000}"/>
          </ac:spMkLst>
        </pc:spChg>
      </pc:sldChg>
      <pc:sldChg chg="modSp del mod">
        <pc:chgData name="Sahan Konur, Sahika" userId="739a6e03-9a4a-49c6-a350-571b31db94be" providerId="ADAL" clId="{BA53563C-B991-4555-B078-153EAB81EA07}" dt="2024-03-21T18:08:44.079" v="291" actId="47"/>
        <pc:sldMkLst>
          <pc:docMk/>
          <pc:sldMk cId="896094225" sldId="397"/>
        </pc:sldMkLst>
        <pc:spChg chg="mod">
          <ac:chgData name="Sahan Konur, Sahika" userId="739a6e03-9a4a-49c6-a350-571b31db94be" providerId="ADAL" clId="{BA53563C-B991-4555-B078-153EAB81EA07}" dt="2024-03-21T18:05:06.295" v="262" actId="113"/>
          <ac:spMkLst>
            <pc:docMk/>
            <pc:sldMk cId="896094225" sldId="397"/>
            <ac:spMk id="3" creationId="{00000000-0000-0000-0000-000000000000}"/>
          </ac:spMkLst>
        </pc:spChg>
      </pc:sldChg>
      <pc:sldChg chg="del">
        <pc:chgData name="Sahan Konur, Sahika" userId="739a6e03-9a4a-49c6-a350-571b31db94be" providerId="ADAL" clId="{BA53563C-B991-4555-B078-153EAB81EA07}" dt="2024-03-21T18:11:36.360" v="321" actId="47"/>
        <pc:sldMkLst>
          <pc:docMk/>
          <pc:sldMk cId="1633942198" sldId="398"/>
        </pc:sldMkLst>
      </pc:sldChg>
      <pc:sldChg chg="modSp mod">
        <pc:chgData name="Sahan Konur, Sahika" userId="739a6e03-9a4a-49c6-a350-571b31db94be" providerId="ADAL" clId="{BA53563C-B991-4555-B078-153EAB81EA07}" dt="2024-03-17T21:37:04.051" v="104" actId="27636"/>
        <pc:sldMkLst>
          <pc:docMk/>
          <pc:sldMk cId="291922947" sldId="399"/>
        </pc:sldMkLst>
        <pc:spChg chg="mod">
          <ac:chgData name="Sahan Konur, Sahika" userId="739a6e03-9a4a-49c6-a350-571b31db94be" providerId="ADAL" clId="{BA53563C-B991-4555-B078-153EAB81EA07}" dt="2024-03-17T21:37:04.051" v="104" actId="27636"/>
          <ac:spMkLst>
            <pc:docMk/>
            <pc:sldMk cId="291922947" sldId="399"/>
            <ac:spMk id="3" creationId="{00000000-0000-0000-0000-000000000000}"/>
          </ac:spMkLst>
        </pc:spChg>
      </pc:sldChg>
      <pc:sldChg chg="modSp mod">
        <pc:chgData name="Sahan Konur, Sahika" userId="739a6e03-9a4a-49c6-a350-571b31db94be" providerId="ADAL" clId="{BA53563C-B991-4555-B078-153EAB81EA07}" dt="2024-03-17T21:37:04.057" v="105" actId="27636"/>
        <pc:sldMkLst>
          <pc:docMk/>
          <pc:sldMk cId="224096370" sldId="400"/>
        </pc:sldMkLst>
        <pc:spChg chg="mod">
          <ac:chgData name="Sahan Konur, Sahika" userId="739a6e03-9a4a-49c6-a350-571b31db94be" providerId="ADAL" clId="{BA53563C-B991-4555-B078-153EAB81EA07}" dt="2024-03-17T21:37:04.057" v="105" actId="27636"/>
          <ac:spMkLst>
            <pc:docMk/>
            <pc:sldMk cId="224096370" sldId="400"/>
            <ac:spMk id="3" creationId="{00000000-0000-0000-0000-000000000000}"/>
          </ac:spMkLst>
        </pc:spChg>
      </pc:sldChg>
      <pc:sldChg chg="modSp mod">
        <pc:chgData name="Sahan Konur, Sahika" userId="739a6e03-9a4a-49c6-a350-571b31db94be" providerId="ADAL" clId="{BA53563C-B991-4555-B078-153EAB81EA07}" dt="2024-03-17T21:37:04.070" v="106" actId="27636"/>
        <pc:sldMkLst>
          <pc:docMk/>
          <pc:sldMk cId="3259377386" sldId="401"/>
        </pc:sldMkLst>
        <pc:spChg chg="mod">
          <ac:chgData name="Sahan Konur, Sahika" userId="739a6e03-9a4a-49c6-a350-571b31db94be" providerId="ADAL" clId="{BA53563C-B991-4555-B078-153EAB81EA07}" dt="2024-03-17T21:37:04.070" v="106" actId="27636"/>
          <ac:spMkLst>
            <pc:docMk/>
            <pc:sldMk cId="3259377386" sldId="401"/>
            <ac:spMk id="3" creationId="{00000000-0000-0000-0000-000000000000}"/>
          </ac:spMkLst>
        </pc:spChg>
      </pc:sldChg>
      <pc:sldChg chg="modSp mod">
        <pc:chgData name="Sahan Konur, Sahika" userId="739a6e03-9a4a-49c6-a350-571b31db94be" providerId="ADAL" clId="{BA53563C-B991-4555-B078-153EAB81EA07}" dt="2024-03-21T18:24:38.416" v="466" actId="115"/>
        <pc:sldMkLst>
          <pc:docMk/>
          <pc:sldMk cId="1720695539" sldId="402"/>
        </pc:sldMkLst>
        <pc:spChg chg="mod">
          <ac:chgData name="Sahan Konur, Sahika" userId="739a6e03-9a4a-49c6-a350-571b31db94be" providerId="ADAL" clId="{BA53563C-B991-4555-B078-153EAB81EA07}" dt="2024-03-21T18:24:38.416" v="466" actId="115"/>
          <ac:spMkLst>
            <pc:docMk/>
            <pc:sldMk cId="1720695539" sldId="402"/>
            <ac:spMk id="3" creationId="{00000000-0000-0000-0000-000000000000}"/>
          </ac:spMkLst>
        </pc:spChg>
      </pc:sldChg>
      <pc:sldChg chg="modSp mod">
        <pc:chgData name="Sahan Konur, Sahika" userId="739a6e03-9a4a-49c6-a350-571b31db94be" providerId="ADAL" clId="{BA53563C-B991-4555-B078-153EAB81EA07}" dt="2024-03-21T18:18:58.115" v="412" actId="113"/>
        <pc:sldMkLst>
          <pc:docMk/>
          <pc:sldMk cId="917869469" sldId="403"/>
        </pc:sldMkLst>
        <pc:spChg chg="mod">
          <ac:chgData name="Sahan Konur, Sahika" userId="739a6e03-9a4a-49c6-a350-571b31db94be" providerId="ADAL" clId="{BA53563C-B991-4555-B078-153EAB81EA07}" dt="2024-03-21T18:18:58.115" v="412" actId="113"/>
          <ac:spMkLst>
            <pc:docMk/>
            <pc:sldMk cId="917869469" sldId="403"/>
            <ac:spMk id="3" creationId="{00000000-0000-0000-0000-000000000000}"/>
          </ac:spMkLst>
        </pc:spChg>
        <pc:picChg chg="mod">
          <ac:chgData name="Sahan Konur, Sahika" userId="739a6e03-9a4a-49c6-a350-571b31db94be" providerId="ADAL" clId="{BA53563C-B991-4555-B078-153EAB81EA07}" dt="2024-03-21T18:15:50.572" v="387" actId="1076"/>
          <ac:picMkLst>
            <pc:docMk/>
            <pc:sldMk cId="917869469" sldId="403"/>
            <ac:picMk id="5" creationId="{E4BEA4F4-306D-2158-ACC2-71F7CC6BE9FA}"/>
          </ac:picMkLst>
        </pc:picChg>
      </pc:sldChg>
      <pc:sldChg chg="modSp mod">
        <pc:chgData name="Sahan Konur, Sahika" userId="739a6e03-9a4a-49c6-a350-571b31db94be" providerId="ADAL" clId="{BA53563C-B991-4555-B078-153EAB81EA07}" dt="2024-03-21T18:18:53.977" v="411" actId="113"/>
        <pc:sldMkLst>
          <pc:docMk/>
          <pc:sldMk cId="3186744615" sldId="404"/>
        </pc:sldMkLst>
        <pc:spChg chg="mod">
          <ac:chgData name="Sahan Konur, Sahika" userId="739a6e03-9a4a-49c6-a350-571b31db94be" providerId="ADAL" clId="{BA53563C-B991-4555-B078-153EAB81EA07}" dt="2024-03-21T18:18:53.977" v="411" actId="113"/>
          <ac:spMkLst>
            <pc:docMk/>
            <pc:sldMk cId="3186744615" sldId="404"/>
            <ac:spMk id="3" creationId="{00000000-0000-0000-0000-000000000000}"/>
          </ac:spMkLst>
        </pc:spChg>
        <pc:picChg chg="mod">
          <ac:chgData name="Sahan Konur, Sahika" userId="739a6e03-9a4a-49c6-a350-571b31db94be" providerId="ADAL" clId="{BA53563C-B991-4555-B078-153EAB81EA07}" dt="2024-03-21T18:15:57.233" v="388" actId="1076"/>
          <ac:picMkLst>
            <pc:docMk/>
            <pc:sldMk cId="3186744615" sldId="404"/>
            <ac:picMk id="6" creationId="{514C7C37-4EFC-94B4-EA71-B5016F73F689}"/>
          </ac:picMkLst>
        </pc:picChg>
      </pc:sldChg>
      <pc:sldChg chg="modSp add mod">
        <pc:chgData name="Sahan Konur, Sahika" userId="739a6e03-9a4a-49c6-a350-571b31db94be" providerId="ADAL" clId="{BA53563C-B991-4555-B078-153EAB81EA07}" dt="2024-03-21T13:58:14.054" v="251" actId="404"/>
        <pc:sldMkLst>
          <pc:docMk/>
          <pc:sldMk cId="682091298" sldId="405"/>
        </pc:sldMkLst>
        <pc:spChg chg="mod">
          <ac:chgData name="Sahan Konur, Sahika" userId="739a6e03-9a4a-49c6-a350-571b31db94be" providerId="ADAL" clId="{BA53563C-B991-4555-B078-153EAB81EA07}" dt="2024-03-21T13:58:14.054" v="251" actId="404"/>
          <ac:spMkLst>
            <pc:docMk/>
            <pc:sldMk cId="682091298" sldId="405"/>
            <ac:spMk id="3" creationId="{00000000-0000-0000-0000-000000000000}"/>
          </ac:spMkLst>
        </pc:spChg>
      </pc:sldChg>
      <pc:sldChg chg="modSp add mod">
        <pc:chgData name="Sahan Konur, Sahika" userId="739a6e03-9a4a-49c6-a350-571b31db94be" providerId="ADAL" clId="{BA53563C-B991-4555-B078-153EAB81EA07}" dt="2024-03-21T18:25:44.052" v="468" actId="20577"/>
        <pc:sldMkLst>
          <pc:docMk/>
          <pc:sldMk cId="4205091814" sldId="406"/>
        </pc:sldMkLst>
        <pc:spChg chg="mod">
          <ac:chgData name="Sahan Konur, Sahika" userId="739a6e03-9a4a-49c6-a350-571b31db94be" providerId="ADAL" clId="{BA53563C-B991-4555-B078-153EAB81EA07}" dt="2024-03-21T18:25:44.052" v="468" actId="20577"/>
          <ac:spMkLst>
            <pc:docMk/>
            <pc:sldMk cId="4205091814" sldId="406"/>
            <ac:spMk id="3" creationId="{00000000-0000-0000-0000-000000000000}"/>
          </ac:spMkLst>
        </pc:spChg>
      </pc:sldChg>
      <pc:sldChg chg="modSp add mod">
        <pc:chgData name="Sahan Konur, Sahika" userId="739a6e03-9a4a-49c6-a350-571b31db94be" providerId="ADAL" clId="{BA53563C-B991-4555-B078-153EAB81EA07}" dt="2024-03-21T18:11:17.191" v="319" actId="27636"/>
        <pc:sldMkLst>
          <pc:docMk/>
          <pc:sldMk cId="4161763540" sldId="407"/>
        </pc:sldMkLst>
        <pc:spChg chg="mod">
          <ac:chgData name="Sahan Konur, Sahika" userId="739a6e03-9a4a-49c6-a350-571b31db94be" providerId="ADAL" clId="{BA53563C-B991-4555-B078-153EAB81EA07}" dt="2024-03-21T18:11:17.191" v="319" actId="27636"/>
          <ac:spMkLst>
            <pc:docMk/>
            <pc:sldMk cId="4161763540" sldId="407"/>
            <ac:spMk id="3" creationId="{00000000-0000-0000-0000-000000000000}"/>
          </ac:spMkLst>
        </pc:spChg>
      </pc:sldChg>
      <pc:sldChg chg="modSp add mod">
        <pc:chgData name="Sahan Konur, Sahika" userId="739a6e03-9a4a-49c6-a350-571b31db94be" providerId="ADAL" clId="{BA53563C-B991-4555-B078-153EAB81EA07}" dt="2024-03-21T18:13:11.552" v="348" actId="20577"/>
        <pc:sldMkLst>
          <pc:docMk/>
          <pc:sldMk cId="3066396259" sldId="408"/>
        </pc:sldMkLst>
        <pc:spChg chg="mod">
          <ac:chgData name="Sahan Konur, Sahika" userId="739a6e03-9a4a-49c6-a350-571b31db94be" providerId="ADAL" clId="{BA53563C-B991-4555-B078-153EAB81EA07}" dt="2024-03-21T18:13:11.552" v="348" actId="20577"/>
          <ac:spMkLst>
            <pc:docMk/>
            <pc:sldMk cId="3066396259" sldId="408"/>
            <ac:spMk id="3" creationId="{00000000-0000-0000-0000-000000000000}"/>
          </ac:spMkLst>
        </pc:spChg>
      </pc:sldChg>
      <pc:sldChg chg="modSp add mod">
        <pc:chgData name="Sahan Konur, Sahika" userId="739a6e03-9a4a-49c6-a350-571b31db94be" providerId="ADAL" clId="{BA53563C-B991-4555-B078-153EAB81EA07}" dt="2024-03-21T18:14:58.459" v="383" actId="20577"/>
        <pc:sldMkLst>
          <pc:docMk/>
          <pc:sldMk cId="3486772144" sldId="409"/>
        </pc:sldMkLst>
        <pc:spChg chg="mod">
          <ac:chgData name="Sahan Konur, Sahika" userId="739a6e03-9a4a-49c6-a350-571b31db94be" providerId="ADAL" clId="{BA53563C-B991-4555-B078-153EAB81EA07}" dt="2024-03-21T18:14:58.459" v="383" actId="20577"/>
          <ac:spMkLst>
            <pc:docMk/>
            <pc:sldMk cId="3486772144" sldId="409"/>
            <ac:spMk id="3" creationId="{00000000-0000-0000-0000-000000000000}"/>
          </ac:spMkLst>
        </pc:spChg>
      </pc:sldChg>
      <pc:sldChg chg="delSp modSp add mod">
        <pc:chgData name="Sahan Konur, Sahika" userId="739a6e03-9a4a-49c6-a350-571b31db94be" providerId="ADAL" clId="{BA53563C-B991-4555-B078-153EAB81EA07}" dt="2024-03-21T18:18:47.118" v="410" actId="15"/>
        <pc:sldMkLst>
          <pc:docMk/>
          <pc:sldMk cId="4185946283" sldId="410"/>
        </pc:sldMkLst>
        <pc:spChg chg="mod">
          <ac:chgData name="Sahan Konur, Sahika" userId="739a6e03-9a4a-49c6-a350-571b31db94be" providerId="ADAL" clId="{BA53563C-B991-4555-B078-153EAB81EA07}" dt="2024-03-21T18:18:47.118" v="410" actId="15"/>
          <ac:spMkLst>
            <pc:docMk/>
            <pc:sldMk cId="4185946283" sldId="410"/>
            <ac:spMk id="3" creationId="{00000000-0000-0000-0000-000000000000}"/>
          </ac:spMkLst>
        </pc:spChg>
        <pc:picChg chg="del">
          <ac:chgData name="Sahan Konur, Sahika" userId="739a6e03-9a4a-49c6-a350-571b31db94be" providerId="ADAL" clId="{BA53563C-B991-4555-B078-153EAB81EA07}" dt="2024-03-21T18:17:34.226" v="390" actId="478"/>
          <ac:picMkLst>
            <pc:docMk/>
            <pc:sldMk cId="4185946283" sldId="410"/>
            <ac:picMk id="6" creationId="{514C7C37-4EFC-94B4-EA71-B5016F73F689}"/>
          </ac:picMkLst>
        </pc:picChg>
      </pc:sldChg>
      <pc:sldChg chg="add del">
        <pc:chgData name="Sahan Konur, Sahika" userId="739a6e03-9a4a-49c6-a350-571b31db94be" providerId="ADAL" clId="{BA53563C-B991-4555-B078-153EAB81EA07}" dt="2024-03-21T18:24:49.829" v="467" actId="2696"/>
        <pc:sldMkLst>
          <pc:docMk/>
          <pc:sldMk cId="478581944" sldId="411"/>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image" Target="../media/image45.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1C09B8-CF6A-4E6C-A268-D6B8047F86B4}" type="doc">
      <dgm:prSet loTypeId="urn:microsoft.com/office/officeart/2005/8/layout/equation1" loCatId="process" qsTypeId="urn:microsoft.com/office/officeart/2005/8/quickstyle/simple1" qsCatId="simple" csTypeId="urn:microsoft.com/office/officeart/2005/8/colors/colorful2" csCatId="colorful" phldr="1"/>
      <dgm:spPr/>
    </dgm:pt>
    <mc:AlternateContent xmlns:mc="http://schemas.openxmlformats.org/markup-compatibility/2006" xmlns:a14="http://schemas.microsoft.com/office/drawing/2010/main">
      <mc:Choice Requires="a14">
        <dgm:pt modelId="{000E8F62-AD8B-4413-A677-2A8A3923089A}">
          <dgm:prSet phldrT="[Text]"/>
          <dgm:spPr/>
          <dgm:t>
            <a:bodyPr/>
            <a:lstStyle/>
            <a:p>
              <a:r>
                <a:rPr lang="en-US" dirty="0"/>
                <a:t>Die 1’s result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1</m:t>
                      </m:r>
                    </m:sub>
                  </m:sSub>
                </m:oMath>
              </a14:m>
              <a:r>
                <a:rPr lang="en-US" dirty="0"/>
                <a:t>)</a:t>
              </a:r>
            </a:p>
          </dgm:t>
        </dgm:pt>
      </mc:Choice>
      <mc:Fallback xmlns="">
        <dgm:pt modelId="{000E8F62-AD8B-4413-A677-2A8A3923089A}">
          <dgm:prSet phldrT="[Text]"/>
          <dgm:spPr/>
          <dgm:t>
            <a:bodyPr/>
            <a:lstStyle/>
            <a:p>
              <a:r>
                <a:rPr lang="en-US" dirty="0" smtClean="0"/>
                <a:t>Die 1’s result (</a:t>
              </a:r>
              <a:r>
                <a:rPr lang="en-US" b="0" i="0" dirty="0" smtClean="0">
                  <a:latin typeface="Cambria Math" panose="02040503050406030204" pitchFamily="18" charset="0"/>
                </a:rPr>
                <a:t>𝑋_1</a:t>
              </a:r>
              <a:r>
                <a:rPr lang="en-US" dirty="0" smtClean="0"/>
                <a:t>)</a:t>
              </a:r>
              <a:endParaRPr lang="en-US" dirty="0"/>
            </a:p>
          </dgm:t>
        </dgm:pt>
      </mc:Fallback>
    </mc:AlternateContent>
    <dgm:pt modelId="{3DD31DAD-B447-475A-BD22-5E45438D0C91}" type="parTrans" cxnId="{D34999F5-4A97-4EC0-9DB6-C43BDDC8D8A4}">
      <dgm:prSet/>
      <dgm:spPr/>
      <dgm:t>
        <a:bodyPr/>
        <a:lstStyle/>
        <a:p>
          <a:endParaRPr lang="en-US"/>
        </a:p>
      </dgm:t>
    </dgm:pt>
    <dgm:pt modelId="{D61CA970-1D47-48A5-A67D-5D42361AEE63}" type="sibTrans" cxnId="{D34999F5-4A97-4EC0-9DB6-C43BDDC8D8A4}">
      <dgm:prSet/>
      <dgm:spPr/>
      <dgm:t>
        <a:bodyPr/>
        <a:lstStyle/>
        <a:p>
          <a:endParaRPr lang="en-US"/>
        </a:p>
      </dgm:t>
    </dgm:pt>
    <mc:AlternateContent xmlns:mc="http://schemas.openxmlformats.org/markup-compatibility/2006" xmlns:a14="http://schemas.microsoft.com/office/drawing/2010/main">
      <mc:Choice Requires="a14">
        <dgm:pt modelId="{841D9681-2585-469C-9411-07CDD9DCA8A6}">
          <dgm:prSet phldrT="[Text]"/>
          <dgm:spPr/>
          <dgm:t>
            <a:bodyPr/>
            <a:lstStyle/>
            <a:p>
              <a:r>
                <a:rPr lang="en-US" dirty="0"/>
                <a:t>Die 2’s result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2</m:t>
                      </m:r>
                    </m:sub>
                  </m:sSub>
                </m:oMath>
              </a14:m>
              <a:r>
                <a:rPr lang="en-US" dirty="0"/>
                <a:t>)</a:t>
              </a:r>
            </a:p>
          </dgm:t>
        </dgm:pt>
      </mc:Choice>
      <mc:Fallback xmlns="">
        <dgm:pt modelId="{841D9681-2585-469C-9411-07CDD9DCA8A6}">
          <dgm:prSet phldrT="[Text]"/>
          <dgm:spPr/>
          <dgm:t>
            <a:bodyPr/>
            <a:lstStyle/>
            <a:p>
              <a:r>
                <a:rPr lang="en-US" dirty="0" smtClean="0"/>
                <a:t>Die 2’s result (</a:t>
              </a:r>
              <a:r>
                <a:rPr lang="en-US" b="0" i="0" dirty="0" smtClean="0">
                  <a:latin typeface="Cambria Math" panose="02040503050406030204" pitchFamily="18" charset="0"/>
                </a:rPr>
                <a:t>𝑋</a:t>
              </a:r>
              <a:r>
                <a:rPr lang="en-US" b="0" i="0" dirty="0" smtClean="0">
                  <a:latin typeface="Cambria Math" panose="02040503050406030204" pitchFamily="18" charset="0"/>
                </a:rPr>
                <a:t>_2</a:t>
              </a:r>
              <a:r>
                <a:rPr lang="en-US" dirty="0" smtClean="0"/>
                <a:t>)</a:t>
              </a:r>
              <a:endParaRPr lang="en-US" dirty="0"/>
            </a:p>
          </dgm:t>
        </dgm:pt>
      </mc:Fallback>
    </mc:AlternateContent>
    <dgm:pt modelId="{C1B21B50-5187-49CA-B5DA-3B5033E32102}" type="parTrans" cxnId="{ABCADB41-ACA2-48B8-B271-7D29D0006784}">
      <dgm:prSet/>
      <dgm:spPr/>
      <dgm:t>
        <a:bodyPr/>
        <a:lstStyle/>
        <a:p>
          <a:endParaRPr lang="en-US"/>
        </a:p>
      </dgm:t>
    </dgm:pt>
    <dgm:pt modelId="{D614EF4D-C8EE-4FA9-800D-32E5E428E1DB}" type="sibTrans" cxnId="{ABCADB41-ACA2-48B8-B271-7D29D0006784}">
      <dgm:prSet/>
      <dgm:spPr/>
      <dgm:t>
        <a:bodyPr/>
        <a:lstStyle/>
        <a:p>
          <a:endParaRPr lang="en-US"/>
        </a:p>
      </dgm:t>
    </dgm:pt>
    <mc:AlternateContent xmlns:mc="http://schemas.openxmlformats.org/markup-compatibility/2006" xmlns:a14="http://schemas.microsoft.com/office/drawing/2010/main">
      <mc:Choice Requires="a14">
        <dgm:pt modelId="{A48D484C-0A32-4262-9082-96C4DDA31AF6}">
          <dgm:prSet phldrT="[Text]"/>
          <dgm:spPr/>
          <dgm:t>
            <a:bodyPr/>
            <a:lstStyle/>
            <a:p>
              <a:r>
                <a:rPr lang="en-US" dirty="0"/>
                <a:t>Result of Interest (</a:t>
              </a:r>
              <a14:m>
                <m:oMath xmlns:m="http://schemas.openxmlformats.org/officeDocument/2006/math">
                  <m:r>
                    <a:rPr lang="en-US" i="1" dirty="0" smtClean="0">
                      <a:latin typeface="Cambria Math" panose="02040503050406030204" pitchFamily="18" charset="0"/>
                    </a:rPr>
                    <m:t>𝑌</m:t>
                  </m:r>
                </m:oMath>
              </a14:m>
              <a:r>
                <a:rPr lang="en-US" dirty="0"/>
                <a:t>)</a:t>
              </a:r>
            </a:p>
          </dgm:t>
        </dgm:pt>
      </mc:Choice>
      <mc:Fallback xmlns="">
        <dgm:pt modelId="{A48D484C-0A32-4262-9082-96C4DDA31AF6}">
          <dgm:prSet phldrT="[Text]"/>
          <dgm:spPr/>
          <dgm:t>
            <a:bodyPr/>
            <a:lstStyle/>
            <a:p>
              <a:r>
                <a:rPr lang="en-US" dirty="0" smtClean="0"/>
                <a:t>Result of Interest (</a:t>
              </a:r>
              <a:r>
                <a:rPr lang="en-US" i="0" dirty="0" smtClean="0">
                  <a:latin typeface="Cambria Math" panose="02040503050406030204" pitchFamily="18" charset="0"/>
                </a:rPr>
                <a:t>𝑌</a:t>
              </a:r>
              <a:r>
                <a:rPr lang="en-US" dirty="0" smtClean="0"/>
                <a:t>)</a:t>
              </a:r>
              <a:endParaRPr lang="en-US" dirty="0"/>
            </a:p>
          </dgm:t>
        </dgm:pt>
      </mc:Fallback>
    </mc:AlternateContent>
    <dgm:pt modelId="{16EB1616-E518-4578-8325-C340D68F990F}" type="parTrans" cxnId="{106AAE1E-D2E5-4394-8F00-E217549C6FF9}">
      <dgm:prSet/>
      <dgm:spPr/>
      <dgm:t>
        <a:bodyPr/>
        <a:lstStyle/>
        <a:p>
          <a:endParaRPr lang="en-US"/>
        </a:p>
      </dgm:t>
    </dgm:pt>
    <dgm:pt modelId="{9A6EBB8A-8C08-46B6-888C-7B4692866AB2}" type="sibTrans" cxnId="{106AAE1E-D2E5-4394-8F00-E217549C6FF9}">
      <dgm:prSet/>
      <dgm:spPr/>
      <dgm:t>
        <a:bodyPr/>
        <a:lstStyle/>
        <a:p>
          <a:endParaRPr lang="en-US"/>
        </a:p>
      </dgm:t>
    </dgm:pt>
    <dgm:pt modelId="{19D2CA44-7188-43EB-B3EC-AE8D85EF4195}" type="pres">
      <dgm:prSet presAssocID="{791C09B8-CF6A-4E6C-A268-D6B8047F86B4}" presName="linearFlow" presStyleCnt="0">
        <dgm:presLayoutVars>
          <dgm:dir/>
          <dgm:resizeHandles val="exact"/>
        </dgm:presLayoutVars>
      </dgm:prSet>
      <dgm:spPr/>
    </dgm:pt>
    <dgm:pt modelId="{0107F5C0-FCF7-4EBF-ADC8-EC6B3DEF3C51}" type="pres">
      <dgm:prSet presAssocID="{000E8F62-AD8B-4413-A677-2A8A3923089A}" presName="node" presStyleLbl="node1" presStyleIdx="0" presStyleCnt="3">
        <dgm:presLayoutVars>
          <dgm:bulletEnabled val="1"/>
        </dgm:presLayoutVars>
      </dgm:prSet>
      <dgm:spPr/>
    </dgm:pt>
    <dgm:pt modelId="{E599C7F9-73F9-4050-978C-52C6E5B114AB}" type="pres">
      <dgm:prSet presAssocID="{D61CA970-1D47-48A5-A67D-5D42361AEE63}" presName="spacerL" presStyleCnt="0"/>
      <dgm:spPr/>
    </dgm:pt>
    <dgm:pt modelId="{AD08E7D5-EDFC-482B-A60A-D9DFF5DB675A}" type="pres">
      <dgm:prSet presAssocID="{D61CA970-1D47-48A5-A67D-5D42361AEE63}" presName="sibTrans" presStyleLbl="sibTrans2D1" presStyleIdx="0" presStyleCnt="2"/>
      <dgm:spPr/>
    </dgm:pt>
    <dgm:pt modelId="{85994903-8DBA-4527-9959-DA0C7B685B13}" type="pres">
      <dgm:prSet presAssocID="{D61CA970-1D47-48A5-A67D-5D42361AEE63}" presName="spacerR" presStyleCnt="0"/>
      <dgm:spPr/>
    </dgm:pt>
    <dgm:pt modelId="{D0919ED0-52FB-4410-9E6A-240823DF93CB}" type="pres">
      <dgm:prSet presAssocID="{841D9681-2585-469C-9411-07CDD9DCA8A6}" presName="node" presStyleLbl="node1" presStyleIdx="1" presStyleCnt="3">
        <dgm:presLayoutVars>
          <dgm:bulletEnabled val="1"/>
        </dgm:presLayoutVars>
      </dgm:prSet>
      <dgm:spPr/>
    </dgm:pt>
    <dgm:pt modelId="{11E84E5C-EE63-4CBF-B949-48179E1058BC}" type="pres">
      <dgm:prSet presAssocID="{D614EF4D-C8EE-4FA9-800D-32E5E428E1DB}" presName="spacerL" presStyleCnt="0"/>
      <dgm:spPr/>
    </dgm:pt>
    <dgm:pt modelId="{BBB6D97D-4A74-49D9-8F86-B15256F86647}" type="pres">
      <dgm:prSet presAssocID="{D614EF4D-C8EE-4FA9-800D-32E5E428E1DB}" presName="sibTrans" presStyleLbl="sibTrans2D1" presStyleIdx="1" presStyleCnt="2"/>
      <dgm:spPr/>
    </dgm:pt>
    <dgm:pt modelId="{FBF73BF1-C095-4463-B051-A1B905F2AC39}" type="pres">
      <dgm:prSet presAssocID="{D614EF4D-C8EE-4FA9-800D-32E5E428E1DB}" presName="spacerR" presStyleCnt="0"/>
      <dgm:spPr/>
    </dgm:pt>
    <dgm:pt modelId="{F8C63CAC-1E70-4605-AE82-C8B428CB9F5F}" type="pres">
      <dgm:prSet presAssocID="{A48D484C-0A32-4262-9082-96C4DDA31AF6}" presName="node" presStyleLbl="node1" presStyleIdx="2" presStyleCnt="3">
        <dgm:presLayoutVars>
          <dgm:bulletEnabled val="1"/>
        </dgm:presLayoutVars>
      </dgm:prSet>
      <dgm:spPr/>
    </dgm:pt>
  </dgm:ptLst>
  <dgm:cxnLst>
    <dgm:cxn modelId="{3B326513-AB91-4BBF-A564-8EFF23D94DE7}" type="presOf" srcId="{791C09B8-CF6A-4E6C-A268-D6B8047F86B4}" destId="{19D2CA44-7188-43EB-B3EC-AE8D85EF4195}" srcOrd="0" destOrd="0" presId="urn:microsoft.com/office/officeart/2005/8/layout/equation1"/>
    <dgm:cxn modelId="{2901AE18-5BA6-4380-84F8-FE8A0A7A2ACC}" type="presOf" srcId="{000E8F62-AD8B-4413-A677-2A8A3923089A}" destId="{0107F5C0-FCF7-4EBF-ADC8-EC6B3DEF3C51}" srcOrd="0" destOrd="0" presId="urn:microsoft.com/office/officeart/2005/8/layout/equation1"/>
    <dgm:cxn modelId="{106AAE1E-D2E5-4394-8F00-E217549C6FF9}" srcId="{791C09B8-CF6A-4E6C-A268-D6B8047F86B4}" destId="{A48D484C-0A32-4262-9082-96C4DDA31AF6}" srcOrd="2" destOrd="0" parTransId="{16EB1616-E518-4578-8325-C340D68F990F}" sibTransId="{9A6EBB8A-8C08-46B6-888C-7B4692866AB2}"/>
    <dgm:cxn modelId="{2A526F29-8DEC-4776-B18F-D47CFCCEEA43}" type="presOf" srcId="{A48D484C-0A32-4262-9082-96C4DDA31AF6}" destId="{F8C63CAC-1E70-4605-AE82-C8B428CB9F5F}" srcOrd="0" destOrd="0" presId="urn:microsoft.com/office/officeart/2005/8/layout/equation1"/>
    <dgm:cxn modelId="{ABCADB41-ACA2-48B8-B271-7D29D0006784}" srcId="{791C09B8-CF6A-4E6C-A268-D6B8047F86B4}" destId="{841D9681-2585-469C-9411-07CDD9DCA8A6}" srcOrd="1" destOrd="0" parTransId="{C1B21B50-5187-49CA-B5DA-3B5033E32102}" sibTransId="{D614EF4D-C8EE-4FA9-800D-32E5E428E1DB}"/>
    <dgm:cxn modelId="{62800174-E517-44CF-BB49-9287E9A626FF}" type="presOf" srcId="{D614EF4D-C8EE-4FA9-800D-32E5E428E1DB}" destId="{BBB6D97D-4A74-49D9-8F86-B15256F86647}" srcOrd="0" destOrd="0" presId="urn:microsoft.com/office/officeart/2005/8/layout/equation1"/>
    <dgm:cxn modelId="{9D1589C6-B7BF-42A9-90B1-A0689EE5BF68}" type="presOf" srcId="{841D9681-2585-469C-9411-07CDD9DCA8A6}" destId="{D0919ED0-52FB-4410-9E6A-240823DF93CB}" srcOrd="0" destOrd="0" presId="urn:microsoft.com/office/officeart/2005/8/layout/equation1"/>
    <dgm:cxn modelId="{3BD668DB-C81B-4430-839A-75A4384E82C0}" type="presOf" srcId="{D61CA970-1D47-48A5-A67D-5D42361AEE63}" destId="{AD08E7D5-EDFC-482B-A60A-D9DFF5DB675A}" srcOrd="0" destOrd="0" presId="urn:microsoft.com/office/officeart/2005/8/layout/equation1"/>
    <dgm:cxn modelId="{D34999F5-4A97-4EC0-9DB6-C43BDDC8D8A4}" srcId="{791C09B8-CF6A-4E6C-A268-D6B8047F86B4}" destId="{000E8F62-AD8B-4413-A677-2A8A3923089A}" srcOrd="0" destOrd="0" parTransId="{3DD31DAD-B447-475A-BD22-5E45438D0C91}" sibTransId="{D61CA970-1D47-48A5-A67D-5D42361AEE63}"/>
    <dgm:cxn modelId="{DB0B5AAC-997B-4A6A-BE00-5CC2BC2B9065}" type="presParOf" srcId="{19D2CA44-7188-43EB-B3EC-AE8D85EF4195}" destId="{0107F5C0-FCF7-4EBF-ADC8-EC6B3DEF3C51}" srcOrd="0" destOrd="0" presId="urn:microsoft.com/office/officeart/2005/8/layout/equation1"/>
    <dgm:cxn modelId="{3637717F-A910-4647-BF66-703878378FCA}" type="presParOf" srcId="{19D2CA44-7188-43EB-B3EC-AE8D85EF4195}" destId="{E599C7F9-73F9-4050-978C-52C6E5B114AB}" srcOrd="1" destOrd="0" presId="urn:microsoft.com/office/officeart/2005/8/layout/equation1"/>
    <dgm:cxn modelId="{A115E8D7-263D-41EE-A13D-A996651F2004}" type="presParOf" srcId="{19D2CA44-7188-43EB-B3EC-AE8D85EF4195}" destId="{AD08E7D5-EDFC-482B-A60A-D9DFF5DB675A}" srcOrd="2" destOrd="0" presId="urn:microsoft.com/office/officeart/2005/8/layout/equation1"/>
    <dgm:cxn modelId="{0FFFA6E7-F7D5-48D2-910C-77870D6CE388}" type="presParOf" srcId="{19D2CA44-7188-43EB-B3EC-AE8D85EF4195}" destId="{85994903-8DBA-4527-9959-DA0C7B685B13}" srcOrd="3" destOrd="0" presId="urn:microsoft.com/office/officeart/2005/8/layout/equation1"/>
    <dgm:cxn modelId="{158CB26F-AF10-4596-AB8D-99DCABBF5A35}" type="presParOf" srcId="{19D2CA44-7188-43EB-B3EC-AE8D85EF4195}" destId="{D0919ED0-52FB-4410-9E6A-240823DF93CB}" srcOrd="4" destOrd="0" presId="urn:microsoft.com/office/officeart/2005/8/layout/equation1"/>
    <dgm:cxn modelId="{7437984C-5C80-40B5-8629-266745E0AB9B}" type="presParOf" srcId="{19D2CA44-7188-43EB-B3EC-AE8D85EF4195}" destId="{11E84E5C-EE63-4CBF-B949-48179E1058BC}" srcOrd="5" destOrd="0" presId="urn:microsoft.com/office/officeart/2005/8/layout/equation1"/>
    <dgm:cxn modelId="{CA7D413F-0B00-4FC9-ABA7-23A218758090}" type="presParOf" srcId="{19D2CA44-7188-43EB-B3EC-AE8D85EF4195}" destId="{BBB6D97D-4A74-49D9-8F86-B15256F86647}" srcOrd="6" destOrd="0" presId="urn:microsoft.com/office/officeart/2005/8/layout/equation1"/>
    <dgm:cxn modelId="{26D26AA6-CD79-443B-9F3A-8141E2887BFE}" type="presParOf" srcId="{19D2CA44-7188-43EB-B3EC-AE8D85EF4195}" destId="{FBF73BF1-C095-4463-B051-A1B905F2AC39}" srcOrd="7" destOrd="0" presId="urn:microsoft.com/office/officeart/2005/8/layout/equation1"/>
    <dgm:cxn modelId="{851DF939-2194-41B8-8463-274FEDA3FAA1}" type="presParOf" srcId="{19D2CA44-7188-43EB-B3EC-AE8D85EF4195}" destId="{F8C63CAC-1E70-4605-AE82-C8B428CB9F5F}"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1C09B8-CF6A-4E6C-A268-D6B8047F86B4}" type="doc">
      <dgm:prSet loTypeId="urn:microsoft.com/office/officeart/2005/8/layout/equation1" loCatId="process" qsTypeId="urn:microsoft.com/office/officeart/2005/8/quickstyle/simple1" qsCatId="simple" csTypeId="urn:microsoft.com/office/officeart/2005/8/colors/colorful2" csCatId="colorful" phldr="1"/>
      <dgm:spPr/>
    </dgm:pt>
    <dgm:pt modelId="{000E8F62-AD8B-4413-A677-2A8A3923089A}">
      <dgm:prSet phldrT="[Text]"/>
      <dgm:spPr>
        <a:blipFill>
          <a:blip xmlns:r="http://schemas.openxmlformats.org/officeDocument/2006/relationships" r:embed="rId1"/>
          <a:stretch>
            <a:fillRect/>
          </a:stretch>
        </a:blipFill>
      </dgm:spPr>
      <dgm:t>
        <a:bodyPr/>
        <a:lstStyle/>
        <a:p>
          <a:r>
            <a:rPr lang="en-US">
              <a:noFill/>
            </a:rPr>
            <a:t> </a:t>
          </a:r>
        </a:p>
      </dgm:t>
    </dgm:pt>
    <dgm:pt modelId="{3DD31DAD-B447-475A-BD22-5E45438D0C91}" type="parTrans" cxnId="{D34999F5-4A97-4EC0-9DB6-C43BDDC8D8A4}">
      <dgm:prSet/>
      <dgm:spPr/>
      <dgm:t>
        <a:bodyPr/>
        <a:lstStyle/>
        <a:p>
          <a:endParaRPr lang="en-US"/>
        </a:p>
      </dgm:t>
    </dgm:pt>
    <dgm:pt modelId="{D61CA970-1D47-48A5-A67D-5D42361AEE63}" type="sibTrans" cxnId="{D34999F5-4A97-4EC0-9DB6-C43BDDC8D8A4}">
      <dgm:prSet/>
      <dgm:spPr/>
      <dgm:t>
        <a:bodyPr/>
        <a:lstStyle/>
        <a:p>
          <a:endParaRPr lang="en-US"/>
        </a:p>
      </dgm:t>
    </dgm:pt>
    <dgm:pt modelId="{841D9681-2585-469C-9411-07CDD9DCA8A6}">
      <dgm:prSet phldrT="[Text]"/>
      <dgm:spPr>
        <a:blipFill>
          <a:blip xmlns:r="http://schemas.openxmlformats.org/officeDocument/2006/relationships" r:embed="rId2"/>
          <a:stretch>
            <a:fillRect/>
          </a:stretch>
        </a:blipFill>
      </dgm:spPr>
      <dgm:t>
        <a:bodyPr/>
        <a:lstStyle/>
        <a:p>
          <a:r>
            <a:rPr lang="en-US">
              <a:noFill/>
            </a:rPr>
            <a:t> </a:t>
          </a:r>
        </a:p>
      </dgm:t>
    </dgm:pt>
    <dgm:pt modelId="{C1B21B50-5187-49CA-B5DA-3B5033E32102}" type="parTrans" cxnId="{ABCADB41-ACA2-48B8-B271-7D29D0006784}">
      <dgm:prSet/>
      <dgm:spPr/>
      <dgm:t>
        <a:bodyPr/>
        <a:lstStyle/>
        <a:p>
          <a:endParaRPr lang="en-US"/>
        </a:p>
      </dgm:t>
    </dgm:pt>
    <dgm:pt modelId="{D614EF4D-C8EE-4FA9-800D-32E5E428E1DB}" type="sibTrans" cxnId="{ABCADB41-ACA2-48B8-B271-7D29D0006784}">
      <dgm:prSet/>
      <dgm:spPr/>
      <dgm:t>
        <a:bodyPr/>
        <a:lstStyle/>
        <a:p>
          <a:endParaRPr lang="en-US"/>
        </a:p>
      </dgm:t>
    </dgm:pt>
    <dgm:pt modelId="{A48D484C-0A32-4262-9082-96C4DDA31AF6}">
      <dgm:prSet phldrT="[Text]"/>
      <dgm:spPr>
        <a:blipFill>
          <a:blip xmlns:r="http://schemas.openxmlformats.org/officeDocument/2006/relationships" r:embed="rId3"/>
          <a:stretch>
            <a:fillRect/>
          </a:stretch>
        </a:blipFill>
      </dgm:spPr>
      <dgm:t>
        <a:bodyPr/>
        <a:lstStyle/>
        <a:p>
          <a:r>
            <a:rPr lang="en-US">
              <a:noFill/>
            </a:rPr>
            <a:t> </a:t>
          </a:r>
        </a:p>
      </dgm:t>
    </dgm:pt>
    <dgm:pt modelId="{16EB1616-E518-4578-8325-C340D68F990F}" type="parTrans" cxnId="{106AAE1E-D2E5-4394-8F00-E217549C6FF9}">
      <dgm:prSet/>
      <dgm:spPr/>
      <dgm:t>
        <a:bodyPr/>
        <a:lstStyle/>
        <a:p>
          <a:endParaRPr lang="en-US"/>
        </a:p>
      </dgm:t>
    </dgm:pt>
    <dgm:pt modelId="{9A6EBB8A-8C08-46B6-888C-7B4692866AB2}" type="sibTrans" cxnId="{106AAE1E-D2E5-4394-8F00-E217549C6FF9}">
      <dgm:prSet/>
      <dgm:spPr/>
      <dgm:t>
        <a:bodyPr/>
        <a:lstStyle/>
        <a:p>
          <a:endParaRPr lang="en-US"/>
        </a:p>
      </dgm:t>
    </dgm:pt>
    <dgm:pt modelId="{19D2CA44-7188-43EB-B3EC-AE8D85EF4195}" type="pres">
      <dgm:prSet presAssocID="{791C09B8-CF6A-4E6C-A268-D6B8047F86B4}" presName="linearFlow" presStyleCnt="0">
        <dgm:presLayoutVars>
          <dgm:dir/>
          <dgm:resizeHandles val="exact"/>
        </dgm:presLayoutVars>
      </dgm:prSet>
      <dgm:spPr/>
    </dgm:pt>
    <dgm:pt modelId="{0107F5C0-FCF7-4EBF-ADC8-EC6B3DEF3C51}" type="pres">
      <dgm:prSet presAssocID="{000E8F62-AD8B-4413-A677-2A8A3923089A}" presName="node" presStyleLbl="node1" presStyleIdx="0" presStyleCnt="3">
        <dgm:presLayoutVars>
          <dgm:bulletEnabled val="1"/>
        </dgm:presLayoutVars>
      </dgm:prSet>
      <dgm:spPr/>
      <dgm:t>
        <a:bodyPr/>
        <a:lstStyle/>
        <a:p>
          <a:endParaRPr lang="en-US"/>
        </a:p>
      </dgm:t>
    </dgm:pt>
    <dgm:pt modelId="{E599C7F9-73F9-4050-978C-52C6E5B114AB}" type="pres">
      <dgm:prSet presAssocID="{D61CA970-1D47-48A5-A67D-5D42361AEE63}" presName="spacerL" presStyleCnt="0"/>
      <dgm:spPr/>
    </dgm:pt>
    <dgm:pt modelId="{AD08E7D5-EDFC-482B-A60A-D9DFF5DB675A}" type="pres">
      <dgm:prSet presAssocID="{D61CA970-1D47-48A5-A67D-5D42361AEE63}" presName="sibTrans" presStyleLbl="sibTrans2D1" presStyleIdx="0" presStyleCnt="2"/>
      <dgm:spPr/>
    </dgm:pt>
    <dgm:pt modelId="{85994903-8DBA-4527-9959-DA0C7B685B13}" type="pres">
      <dgm:prSet presAssocID="{D61CA970-1D47-48A5-A67D-5D42361AEE63}" presName="spacerR" presStyleCnt="0"/>
      <dgm:spPr/>
    </dgm:pt>
    <dgm:pt modelId="{D0919ED0-52FB-4410-9E6A-240823DF93CB}" type="pres">
      <dgm:prSet presAssocID="{841D9681-2585-469C-9411-07CDD9DCA8A6}" presName="node" presStyleLbl="node1" presStyleIdx="1" presStyleCnt="3">
        <dgm:presLayoutVars>
          <dgm:bulletEnabled val="1"/>
        </dgm:presLayoutVars>
      </dgm:prSet>
      <dgm:spPr/>
      <dgm:t>
        <a:bodyPr/>
        <a:lstStyle/>
        <a:p>
          <a:endParaRPr lang="en-US"/>
        </a:p>
      </dgm:t>
    </dgm:pt>
    <dgm:pt modelId="{11E84E5C-EE63-4CBF-B949-48179E1058BC}" type="pres">
      <dgm:prSet presAssocID="{D614EF4D-C8EE-4FA9-800D-32E5E428E1DB}" presName="spacerL" presStyleCnt="0"/>
      <dgm:spPr/>
    </dgm:pt>
    <dgm:pt modelId="{BBB6D97D-4A74-49D9-8F86-B15256F86647}" type="pres">
      <dgm:prSet presAssocID="{D614EF4D-C8EE-4FA9-800D-32E5E428E1DB}" presName="sibTrans" presStyleLbl="sibTrans2D1" presStyleIdx="1" presStyleCnt="2"/>
      <dgm:spPr/>
    </dgm:pt>
    <dgm:pt modelId="{FBF73BF1-C095-4463-B051-A1B905F2AC39}" type="pres">
      <dgm:prSet presAssocID="{D614EF4D-C8EE-4FA9-800D-32E5E428E1DB}" presName="spacerR" presStyleCnt="0"/>
      <dgm:spPr/>
    </dgm:pt>
    <dgm:pt modelId="{F8C63CAC-1E70-4605-AE82-C8B428CB9F5F}" type="pres">
      <dgm:prSet presAssocID="{A48D484C-0A32-4262-9082-96C4DDA31AF6}" presName="node" presStyleLbl="node1" presStyleIdx="2" presStyleCnt="3">
        <dgm:presLayoutVars>
          <dgm:bulletEnabled val="1"/>
        </dgm:presLayoutVars>
      </dgm:prSet>
      <dgm:spPr/>
    </dgm:pt>
  </dgm:ptLst>
  <dgm:cxnLst>
    <dgm:cxn modelId="{3B326513-AB91-4BBF-A564-8EFF23D94DE7}" type="presOf" srcId="{791C09B8-CF6A-4E6C-A268-D6B8047F86B4}" destId="{19D2CA44-7188-43EB-B3EC-AE8D85EF4195}" srcOrd="0" destOrd="0" presId="urn:microsoft.com/office/officeart/2005/8/layout/equation1"/>
    <dgm:cxn modelId="{106AAE1E-D2E5-4394-8F00-E217549C6FF9}" srcId="{791C09B8-CF6A-4E6C-A268-D6B8047F86B4}" destId="{A48D484C-0A32-4262-9082-96C4DDA31AF6}" srcOrd="2" destOrd="0" parTransId="{16EB1616-E518-4578-8325-C340D68F990F}" sibTransId="{9A6EBB8A-8C08-46B6-888C-7B4692866AB2}"/>
    <dgm:cxn modelId="{D34999F5-4A97-4EC0-9DB6-C43BDDC8D8A4}" srcId="{791C09B8-CF6A-4E6C-A268-D6B8047F86B4}" destId="{000E8F62-AD8B-4413-A677-2A8A3923089A}" srcOrd="0" destOrd="0" parTransId="{3DD31DAD-B447-475A-BD22-5E45438D0C91}" sibTransId="{D61CA970-1D47-48A5-A67D-5D42361AEE63}"/>
    <dgm:cxn modelId="{ABCADB41-ACA2-48B8-B271-7D29D0006784}" srcId="{791C09B8-CF6A-4E6C-A268-D6B8047F86B4}" destId="{841D9681-2585-469C-9411-07CDD9DCA8A6}" srcOrd="1" destOrd="0" parTransId="{C1B21B50-5187-49CA-B5DA-3B5033E32102}" sibTransId="{D614EF4D-C8EE-4FA9-800D-32E5E428E1DB}"/>
    <dgm:cxn modelId="{9D1589C6-B7BF-42A9-90B1-A0689EE5BF68}" type="presOf" srcId="{841D9681-2585-469C-9411-07CDD9DCA8A6}" destId="{D0919ED0-52FB-4410-9E6A-240823DF93CB}" srcOrd="0" destOrd="0" presId="urn:microsoft.com/office/officeart/2005/8/layout/equation1"/>
    <dgm:cxn modelId="{62800174-E517-44CF-BB49-9287E9A626FF}" type="presOf" srcId="{D614EF4D-C8EE-4FA9-800D-32E5E428E1DB}" destId="{BBB6D97D-4A74-49D9-8F86-B15256F86647}" srcOrd="0" destOrd="0" presId="urn:microsoft.com/office/officeart/2005/8/layout/equation1"/>
    <dgm:cxn modelId="{3BD668DB-C81B-4430-839A-75A4384E82C0}" type="presOf" srcId="{D61CA970-1D47-48A5-A67D-5D42361AEE63}" destId="{AD08E7D5-EDFC-482B-A60A-D9DFF5DB675A}" srcOrd="0" destOrd="0" presId="urn:microsoft.com/office/officeart/2005/8/layout/equation1"/>
    <dgm:cxn modelId="{2A526F29-8DEC-4776-B18F-D47CFCCEEA43}" type="presOf" srcId="{A48D484C-0A32-4262-9082-96C4DDA31AF6}" destId="{F8C63CAC-1E70-4605-AE82-C8B428CB9F5F}" srcOrd="0" destOrd="0" presId="urn:microsoft.com/office/officeart/2005/8/layout/equation1"/>
    <dgm:cxn modelId="{2901AE18-5BA6-4380-84F8-FE8A0A7A2ACC}" type="presOf" srcId="{000E8F62-AD8B-4413-A677-2A8A3923089A}" destId="{0107F5C0-FCF7-4EBF-ADC8-EC6B3DEF3C51}" srcOrd="0" destOrd="0" presId="urn:microsoft.com/office/officeart/2005/8/layout/equation1"/>
    <dgm:cxn modelId="{DB0B5AAC-997B-4A6A-BE00-5CC2BC2B9065}" type="presParOf" srcId="{19D2CA44-7188-43EB-B3EC-AE8D85EF4195}" destId="{0107F5C0-FCF7-4EBF-ADC8-EC6B3DEF3C51}" srcOrd="0" destOrd="0" presId="urn:microsoft.com/office/officeart/2005/8/layout/equation1"/>
    <dgm:cxn modelId="{3637717F-A910-4647-BF66-703878378FCA}" type="presParOf" srcId="{19D2CA44-7188-43EB-B3EC-AE8D85EF4195}" destId="{E599C7F9-73F9-4050-978C-52C6E5B114AB}" srcOrd="1" destOrd="0" presId="urn:microsoft.com/office/officeart/2005/8/layout/equation1"/>
    <dgm:cxn modelId="{A115E8D7-263D-41EE-A13D-A996651F2004}" type="presParOf" srcId="{19D2CA44-7188-43EB-B3EC-AE8D85EF4195}" destId="{AD08E7D5-EDFC-482B-A60A-D9DFF5DB675A}" srcOrd="2" destOrd="0" presId="urn:microsoft.com/office/officeart/2005/8/layout/equation1"/>
    <dgm:cxn modelId="{0FFFA6E7-F7D5-48D2-910C-77870D6CE388}" type="presParOf" srcId="{19D2CA44-7188-43EB-B3EC-AE8D85EF4195}" destId="{85994903-8DBA-4527-9959-DA0C7B685B13}" srcOrd="3" destOrd="0" presId="urn:microsoft.com/office/officeart/2005/8/layout/equation1"/>
    <dgm:cxn modelId="{158CB26F-AF10-4596-AB8D-99DCABBF5A35}" type="presParOf" srcId="{19D2CA44-7188-43EB-B3EC-AE8D85EF4195}" destId="{D0919ED0-52FB-4410-9E6A-240823DF93CB}" srcOrd="4" destOrd="0" presId="urn:microsoft.com/office/officeart/2005/8/layout/equation1"/>
    <dgm:cxn modelId="{7437984C-5C80-40B5-8629-266745E0AB9B}" type="presParOf" srcId="{19D2CA44-7188-43EB-B3EC-AE8D85EF4195}" destId="{11E84E5C-EE63-4CBF-B949-48179E1058BC}" srcOrd="5" destOrd="0" presId="urn:microsoft.com/office/officeart/2005/8/layout/equation1"/>
    <dgm:cxn modelId="{CA7D413F-0B00-4FC9-ABA7-23A218758090}" type="presParOf" srcId="{19D2CA44-7188-43EB-B3EC-AE8D85EF4195}" destId="{BBB6D97D-4A74-49D9-8F86-B15256F86647}" srcOrd="6" destOrd="0" presId="urn:microsoft.com/office/officeart/2005/8/layout/equation1"/>
    <dgm:cxn modelId="{26D26AA6-CD79-443B-9F3A-8141E2887BFE}" type="presParOf" srcId="{19D2CA44-7188-43EB-B3EC-AE8D85EF4195}" destId="{FBF73BF1-C095-4463-B051-A1B905F2AC39}" srcOrd="7" destOrd="0" presId="urn:microsoft.com/office/officeart/2005/8/layout/equation1"/>
    <dgm:cxn modelId="{851DF939-2194-41B8-8463-274FEDA3FAA1}" type="presParOf" srcId="{19D2CA44-7188-43EB-B3EC-AE8D85EF4195}" destId="{F8C63CAC-1E70-4605-AE82-C8B428CB9F5F}" srcOrd="8"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07F5C0-FCF7-4EBF-ADC8-EC6B3DEF3C51}">
      <dsp:nvSpPr>
        <dsp:cNvPr id="0" name=""/>
        <dsp:cNvSpPr/>
      </dsp:nvSpPr>
      <dsp:spPr>
        <a:xfrm>
          <a:off x="1105" y="820774"/>
          <a:ext cx="1465065" cy="1465065"/>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Die 1’s result (</a:t>
          </a:r>
          <a14:m xmlns:a14="http://schemas.microsoft.com/office/drawing/2010/main">
            <m:oMath xmlns:m="http://schemas.openxmlformats.org/officeDocument/2006/math">
              <m:sSub>
                <m:sSubPr>
                  <m:ctrlPr>
                    <a:rPr lang="en-US" sz="2100" i="1" kern="1200" dirty="0" smtClean="0">
                      <a:latin typeface="Cambria Math" panose="02040503050406030204" pitchFamily="18" charset="0"/>
                    </a:rPr>
                  </m:ctrlPr>
                </m:sSubPr>
                <m:e>
                  <m:r>
                    <a:rPr lang="en-US" sz="2100" b="0" i="1" kern="1200" dirty="0" smtClean="0">
                      <a:latin typeface="Cambria Math" panose="02040503050406030204" pitchFamily="18" charset="0"/>
                    </a:rPr>
                    <m:t>𝑋</m:t>
                  </m:r>
                </m:e>
                <m:sub>
                  <m:r>
                    <a:rPr lang="en-US" sz="2100" b="0" i="1" kern="1200" dirty="0" smtClean="0">
                      <a:latin typeface="Cambria Math" panose="02040503050406030204" pitchFamily="18" charset="0"/>
                    </a:rPr>
                    <m:t>1</m:t>
                  </m:r>
                </m:sub>
              </m:sSub>
            </m:oMath>
          </a14:m>
          <a:r>
            <a:rPr lang="en-US" sz="2100" kern="1200" dirty="0"/>
            <a:t>)</a:t>
          </a:r>
        </a:p>
      </dsp:txBody>
      <dsp:txXfrm>
        <a:off x="215659" y="1035328"/>
        <a:ext cx="1035957" cy="1035957"/>
      </dsp:txXfrm>
    </dsp:sp>
    <dsp:sp modelId="{AD08E7D5-EDFC-482B-A60A-D9DFF5DB675A}">
      <dsp:nvSpPr>
        <dsp:cNvPr id="0" name=""/>
        <dsp:cNvSpPr/>
      </dsp:nvSpPr>
      <dsp:spPr>
        <a:xfrm>
          <a:off x="1585134" y="1128438"/>
          <a:ext cx="849738" cy="849738"/>
        </a:xfrm>
        <a:prstGeom prst="mathPlus">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1697767" y="1453378"/>
        <a:ext cx="624472" cy="199858"/>
      </dsp:txXfrm>
    </dsp:sp>
    <dsp:sp modelId="{D0919ED0-52FB-4410-9E6A-240823DF93CB}">
      <dsp:nvSpPr>
        <dsp:cNvPr id="0" name=""/>
        <dsp:cNvSpPr/>
      </dsp:nvSpPr>
      <dsp:spPr>
        <a:xfrm>
          <a:off x="2553836" y="820774"/>
          <a:ext cx="1465065" cy="1465065"/>
        </a:xfrm>
        <a:prstGeom prst="ellipse">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Die 2’s result (</a:t>
          </a:r>
          <a14:m xmlns:a14="http://schemas.microsoft.com/office/drawing/2010/main">
            <m:oMath xmlns:m="http://schemas.openxmlformats.org/officeDocument/2006/math">
              <m:sSub>
                <m:sSubPr>
                  <m:ctrlPr>
                    <a:rPr lang="en-US" sz="2100" i="1" kern="1200" dirty="0" smtClean="0">
                      <a:latin typeface="Cambria Math" panose="02040503050406030204" pitchFamily="18" charset="0"/>
                    </a:rPr>
                  </m:ctrlPr>
                </m:sSubPr>
                <m:e>
                  <m:r>
                    <a:rPr lang="en-US" sz="2100" b="0" i="1" kern="1200" dirty="0" smtClean="0">
                      <a:latin typeface="Cambria Math" panose="02040503050406030204" pitchFamily="18" charset="0"/>
                    </a:rPr>
                    <m:t>𝑋</m:t>
                  </m:r>
                </m:e>
                <m:sub>
                  <m:r>
                    <a:rPr lang="en-US" sz="2100" b="0" i="1" kern="1200" dirty="0" smtClean="0">
                      <a:latin typeface="Cambria Math" panose="02040503050406030204" pitchFamily="18" charset="0"/>
                    </a:rPr>
                    <m:t>2</m:t>
                  </m:r>
                </m:sub>
              </m:sSub>
            </m:oMath>
          </a14:m>
          <a:r>
            <a:rPr lang="en-US" sz="2100" kern="1200" dirty="0"/>
            <a:t>)</a:t>
          </a:r>
        </a:p>
      </dsp:txBody>
      <dsp:txXfrm>
        <a:off x="2768390" y="1035328"/>
        <a:ext cx="1035957" cy="1035957"/>
      </dsp:txXfrm>
    </dsp:sp>
    <dsp:sp modelId="{BBB6D97D-4A74-49D9-8F86-B15256F86647}">
      <dsp:nvSpPr>
        <dsp:cNvPr id="0" name=""/>
        <dsp:cNvSpPr/>
      </dsp:nvSpPr>
      <dsp:spPr>
        <a:xfrm>
          <a:off x="4137865" y="1128438"/>
          <a:ext cx="849738" cy="849738"/>
        </a:xfrm>
        <a:prstGeom prst="mathEqual">
          <a:avLst/>
        </a:prstGeom>
        <a:solidFill>
          <a:schemeClr val="accent2">
            <a:hueOff val="-1455363"/>
            <a:satOff val="-83928"/>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4250498" y="1303484"/>
        <a:ext cx="624472" cy="499646"/>
      </dsp:txXfrm>
    </dsp:sp>
    <dsp:sp modelId="{F8C63CAC-1E70-4605-AE82-C8B428CB9F5F}">
      <dsp:nvSpPr>
        <dsp:cNvPr id="0" name=""/>
        <dsp:cNvSpPr/>
      </dsp:nvSpPr>
      <dsp:spPr>
        <a:xfrm>
          <a:off x="5106566" y="820774"/>
          <a:ext cx="1465065" cy="1465065"/>
        </a:xfrm>
        <a:prstGeom prst="ellipse">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dirty="0"/>
            <a:t>Result of Interest (</a:t>
          </a:r>
          <a14:m xmlns:a14="http://schemas.microsoft.com/office/drawing/2010/main">
            <m:oMath xmlns:m="http://schemas.openxmlformats.org/officeDocument/2006/math">
              <m:r>
                <a:rPr lang="en-US" sz="2100" i="1" kern="1200" dirty="0" smtClean="0">
                  <a:latin typeface="Cambria Math" panose="02040503050406030204" pitchFamily="18" charset="0"/>
                </a:rPr>
                <m:t>𝑌</m:t>
              </m:r>
            </m:oMath>
          </a14:m>
          <a:r>
            <a:rPr lang="en-US" sz="2100" kern="1200" dirty="0"/>
            <a:t>)</a:t>
          </a:r>
        </a:p>
      </dsp:txBody>
      <dsp:txXfrm>
        <a:off x="5321120" y="1035328"/>
        <a:ext cx="1035957" cy="1035957"/>
      </dsp:txXfrm>
    </dsp:sp>
  </dsp:spTree>
</dsp:drawing>
</file>

<file path=ppt/diagrams/layout1.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68A81C-13E0-402A-9BD9-36F3DFFB46F8}" type="datetimeFigureOut">
              <a:rPr lang="en-US" smtClean="0"/>
              <a:t>3/21/2024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76B9-9838-4376-9895-3384D05A8DF5}" type="slidenum">
              <a:rPr lang="en-US" smtClean="0"/>
              <a:t>‹#›</a:t>
            </a:fld>
            <a:endParaRPr lang="en-US"/>
          </a:p>
        </p:txBody>
      </p:sp>
    </p:spTree>
    <p:extLst>
      <p:ext uri="{BB962C8B-B14F-4D97-AF65-F5344CB8AC3E}">
        <p14:creationId xmlns:p14="http://schemas.microsoft.com/office/powerpoint/2010/main" val="3997369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2</a:t>
            </a:fld>
            <a:endParaRPr lang="en-US"/>
          </a:p>
        </p:txBody>
      </p:sp>
    </p:spTree>
    <p:extLst>
      <p:ext uri="{BB962C8B-B14F-4D97-AF65-F5344CB8AC3E}">
        <p14:creationId xmlns:p14="http://schemas.microsoft.com/office/powerpoint/2010/main" val="10202498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3</a:t>
            </a:fld>
            <a:endParaRPr lang="en-US"/>
          </a:p>
        </p:txBody>
      </p:sp>
    </p:spTree>
    <p:extLst>
      <p:ext uri="{BB962C8B-B14F-4D97-AF65-F5344CB8AC3E}">
        <p14:creationId xmlns:p14="http://schemas.microsoft.com/office/powerpoint/2010/main" val="11683819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a:t>
            </a:fld>
            <a:endParaRPr lang="en-US"/>
          </a:p>
        </p:txBody>
      </p:sp>
    </p:spTree>
    <p:extLst>
      <p:ext uri="{BB962C8B-B14F-4D97-AF65-F5344CB8AC3E}">
        <p14:creationId xmlns:p14="http://schemas.microsoft.com/office/powerpoint/2010/main" val="880373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7</a:t>
            </a:fld>
            <a:endParaRPr lang="en-US"/>
          </a:p>
        </p:txBody>
      </p:sp>
    </p:spTree>
    <p:extLst>
      <p:ext uri="{BB962C8B-B14F-4D97-AF65-F5344CB8AC3E}">
        <p14:creationId xmlns:p14="http://schemas.microsoft.com/office/powerpoint/2010/main" val="10109757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12</a:t>
            </a:fld>
            <a:endParaRPr lang="en-US"/>
          </a:p>
        </p:txBody>
      </p:sp>
    </p:spTree>
    <p:extLst>
      <p:ext uri="{BB962C8B-B14F-4D97-AF65-F5344CB8AC3E}">
        <p14:creationId xmlns:p14="http://schemas.microsoft.com/office/powerpoint/2010/main" val="20795039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17</a:t>
            </a:fld>
            <a:endParaRPr lang="en-US"/>
          </a:p>
        </p:txBody>
      </p:sp>
    </p:spTree>
    <p:extLst>
      <p:ext uri="{BB962C8B-B14F-4D97-AF65-F5344CB8AC3E}">
        <p14:creationId xmlns:p14="http://schemas.microsoft.com/office/powerpoint/2010/main" val="1096802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9376B9-9838-4376-9895-3384D05A8DF5}" type="slidenum">
              <a:rPr lang="en-US" smtClean="0"/>
              <a:t>21</a:t>
            </a:fld>
            <a:endParaRPr lang="en-US"/>
          </a:p>
        </p:txBody>
      </p:sp>
    </p:spTree>
    <p:extLst>
      <p:ext uri="{BB962C8B-B14F-4D97-AF65-F5344CB8AC3E}">
        <p14:creationId xmlns:p14="http://schemas.microsoft.com/office/powerpoint/2010/main" val="1482284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9376B9-9838-4376-9895-3384D05A8DF5}" type="slidenum">
              <a:rPr lang="en-US" smtClean="0"/>
              <a:t>46</a:t>
            </a:fld>
            <a:endParaRPr lang="en-US"/>
          </a:p>
        </p:txBody>
      </p:sp>
    </p:spTree>
    <p:extLst>
      <p:ext uri="{BB962C8B-B14F-4D97-AF65-F5344CB8AC3E}">
        <p14:creationId xmlns:p14="http://schemas.microsoft.com/office/powerpoint/2010/main" val="40160133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4DD3099-EF0D-4B9A-BBFF-09FBE6BF6054}" type="datetime1">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132637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002" y="365125"/>
            <a:ext cx="11478410" cy="839731"/>
          </a:xfrm>
        </p:spPr>
        <p:txBody>
          <a:bodyPr/>
          <a:lstStyle/>
          <a:p>
            <a:r>
              <a:rPr lang="en-US"/>
              <a:t>Click to edit Master title style</a:t>
            </a:r>
          </a:p>
        </p:txBody>
      </p:sp>
      <p:sp>
        <p:nvSpPr>
          <p:cNvPr id="3" name="Content Placeholder 2"/>
          <p:cNvSpPr>
            <a:spLocks noGrp="1"/>
          </p:cNvSpPr>
          <p:nvPr>
            <p:ph idx="1"/>
          </p:nvPr>
        </p:nvSpPr>
        <p:spPr>
          <a:xfrm>
            <a:off x="355002" y="1312433"/>
            <a:ext cx="11478410" cy="48645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55002" y="6356350"/>
            <a:ext cx="3226398" cy="365125"/>
          </a:xfrm>
        </p:spPr>
        <p:txBody>
          <a:bodyPr/>
          <a:lstStyle/>
          <a:p>
            <a:fld id="{B1E3B061-4FCE-4A21-AC74-81FE2BC5CF3E}" type="datetime1">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0"/>
            <a:ext cx="3222812" cy="365125"/>
          </a:xfrm>
        </p:spPr>
        <p:txBody>
          <a:bodyPr/>
          <a:lstStyle/>
          <a:p>
            <a:fld id="{1F4BF737-9C2B-4B9F-9835-28D7237AA9BE}" type="slidenum">
              <a:rPr lang="en-US" smtClean="0"/>
              <a:t>‹#›</a:t>
            </a:fld>
            <a:endParaRPr lang="en-US"/>
          </a:p>
        </p:txBody>
      </p:sp>
      <p:cxnSp>
        <p:nvCxnSpPr>
          <p:cNvPr id="8" name="Straight Connector 7"/>
          <p:cNvCxnSpPr/>
          <p:nvPr userDrawn="1"/>
        </p:nvCxnSpPr>
        <p:spPr>
          <a:xfrm>
            <a:off x="355002" y="1193795"/>
            <a:ext cx="11478410"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4795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759F54-5CF2-4FD0-836E-B479A78D51A3}" type="datetime1">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54182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3933E6-EEC8-49F6-86B1-D403F7BCF2D7}" type="datetime1">
              <a:rPr lang="en-US" smtClean="0"/>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123447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7FC5F4-FF8A-4310-ACDA-118E50908757}" type="datetime1">
              <a:rPr lang="en-US" smtClean="0"/>
              <a:t>3/21/2024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459018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21ECC70-ED3C-42E3-B9D4-4CDAF46FBF6D}" type="datetime1">
              <a:rPr lang="en-US" smtClean="0"/>
              <a:t>3/21/2024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37032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CC83FA-2A64-4953-B019-1B95DE5F0E9D}" type="datetime1">
              <a:rPr lang="en-US" smtClean="0"/>
              <a:t>3/21/2024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615553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949A69-C0C1-4748-81A5-B3EAE2845645}" type="datetime1">
              <a:rPr lang="en-US" smtClean="0"/>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2267901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AE0C7C-8B0D-4808-9EE9-6B3127DD99F3}" type="datetime1">
              <a:rPr lang="en-US" smtClean="0"/>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3607142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6B08BD7-923F-4248-A98A-25295194946A}" type="datetime1">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493167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35BBA94-316C-4F17-807F-67A425FEAD68}" type="datetime1">
              <a:rPr lang="en-US" smtClean="0"/>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4BF737-9C2B-4B9F-9835-28D7237AA9BE}" type="slidenum">
              <a:rPr lang="en-US" smtClean="0"/>
              <a:t>‹#›</a:t>
            </a:fld>
            <a:endParaRPr lang="en-US"/>
          </a:p>
        </p:txBody>
      </p:sp>
    </p:spTree>
    <p:extLst>
      <p:ext uri="{BB962C8B-B14F-4D97-AF65-F5344CB8AC3E}">
        <p14:creationId xmlns:p14="http://schemas.microsoft.com/office/powerpoint/2010/main" val="127286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98F577-5F6A-4371-8B61-A5EB0D2162DC}" type="datetime1">
              <a:rPr lang="en-US" smtClean="0"/>
              <a:t>3/21/2024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4BF737-9C2B-4B9F-9835-28D7237AA9BE}" type="slidenum">
              <a:rPr lang="en-US" smtClean="0"/>
              <a:t>‹#›</a:t>
            </a:fld>
            <a:endParaRPr lang="en-US"/>
          </a:p>
        </p:txBody>
      </p:sp>
    </p:spTree>
    <p:extLst>
      <p:ext uri="{BB962C8B-B14F-4D97-AF65-F5344CB8AC3E}">
        <p14:creationId xmlns:p14="http://schemas.microsoft.com/office/powerpoint/2010/main" val="3431302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n.wikipedia.org/wiki/List_of_probability_distribution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hyperlink" Target="https://en.wikipedia.org/wiki/List_of_probability_distributions" TargetMode="External"/><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10.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diagramColors" Target="../diagrams/colors10.xml"/><Relationship Id="rId4" Type="http://schemas.openxmlformats.org/officeDocument/2006/relationships/diagramQuickStyle" Target="../diagrams/quickStyle1.xml"/><Relationship Id="rId9" Type="http://schemas.openxmlformats.org/officeDocument/2006/relationships/diagramQuickStyle" Target="../diagrams/quickStyle10.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hyperlink" Target="https://support.office.com/en-us/article/vlookup-function-0bbc8083-26fe-4963-8ab8-93a18ad188a1"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emf"/><Relationship Id="rId1" Type="http://schemas.openxmlformats.org/officeDocument/2006/relationships/slideLayout" Target="../slideLayouts/slideLayout2.xml"/><Relationship Id="rId4" Type="http://schemas.openxmlformats.org/officeDocument/2006/relationships/hyperlink" Target="https://www.youtube.com/watch?v=Giewd9yH4q0"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support.office.com/en-us/article/norminv-function-87981ab8-2de0-4cb0-b1aa-e21d4cb879b8" TargetMode="External"/><Relationship Id="rId2" Type="http://schemas.openxmlformats.org/officeDocument/2006/relationships/hyperlink" Target="https://support.office.com/en-us/article/normdist-function-126db625-c53e-4591-9a22-c9ff422d6d58" TargetMode="External"/><Relationship Id="rId1" Type="http://schemas.openxmlformats.org/officeDocument/2006/relationships/slideLayout" Target="../slideLayouts/slideLayout2.xml"/><Relationship Id="rId4" Type="http://schemas.openxmlformats.org/officeDocument/2006/relationships/hyperlink" Target="https://smallbusiness.chron.com/generate-random-variable-normal-distribution-excel-74203.html"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hyperlink" Target="https://support.office.com/en-us/article/randbetween-function-4cc7f0d1-87dc-4eb7-987f-a469ab381685"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52425" y="2404676"/>
            <a:ext cx="11487150" cy="2387600"/>
          </a:xfrm>
        </p:spPr>
        <p:txBody>
          <a:bodyPr>
            <a:normAutofit/>
          </a:bodyPr>
          <a:lstStyle/>
          <a:p>
            <a:r>
              <a:rPr lang="en-US" sz="3200" dirty="0"/>
              <a:t>QMST 5335</a:t>
            </a:r>
            <a:br>
              <a:rPr lang="en-US" sz="3200" dirty="0"/>
            </a:br>
            <a:r>
              <a:rPr lang="en-US" sz="3600" b="1" dirty="0"/>
              <a:t>Module 4.2</a:t>
            </a:r>
            <a:br>
              <a:rPr lang="en-US" sz="5400" dirty="0"/>
            </a:br>
            <a:r>
              <a:rPr lang="en-US" sz="5400" b="1" dirty="0"/>
              <a:t>Kinds of Simulation and Excel Examples</a:t>
            </a:r>
            <a:br>
              <a:rPr lang="en-US" sz="5400" dirty="0"/>
            </a:br>
            <a:endParaRPr lang="en-US" sz="4400" b="1" dirty="0">
              <a:solidFill>
                <a:srgbClr val="C00000"/>
              </a:solidFill>
            </a:endParaRPr>
          </a:p>
        </p:txBody>
      </p:sp>
    </p:spTree>
    <p:extLst>
      <p:ext uri="{BB962C8B-B14F-4D97-AF65-F5344CB8AC3E}">
        <p14:creationId xmlns:p14="http://schemas.microsoft.com/office/powerpoint/2010/main" val="25419422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Learning Objectives:</a:t>
            </a:r>
          </a:p>
        </p:txBody>
      </p:sp>
      <p:sp>
        <p:nvSpPr>
          <p:cNvPr id="3" name="Content Placeholder 2"/>
          <p:cNvSpPr>
            <a:spLocks noGrp="1"/>
          </p:cNvSpPr>
          <p:nvPr>
            <p:ph idx="1"/>
          </p:nvPr>
        </p:nvSpPr>
        <p:spPr/>
        <p:txBody>
          <a:bodyPr>
            <a:normAutofit/>
          </a:bodyPr>
          <a:lstStyle/>
          <a:p>
            <a:r>
              <a:rPr lang="en-US" dirty="0"/>
              <a:t>Understanding different simulation environments </a:t>
            </a:r>
          </a:p>
          <a:p>
            <a:r>
              <a:rPr lang="en-US" dirty="0"/>
              <a:t>Understanding the basics of Static Stochastic Monte Carlo Simulation</a:t>
            </a:r>
          </a:p>
          <a:p>
            <a:r>
              <a:rPr lang="en-US" dirty="0"/>
              <a:t>Learning how to use spreadsheet (Excel) for Static Monte Carlo</a:t>
            </a:r>
          </a:p>
          <a:p>
            <a:r>
              <a:rPr lang="en-US" dirty="0"/>
              <a:t>Understanding the basic working principles of Dynamic Simulation and learning about the software options </a:t>
            </a:r>
          </a:p>
          <a:p>
            <a:r>
              <a:rPr lang="en-US" dirty="0"/>
              <a:t>Refreshing knowledge of basic probability theory</a:t>
            </a:r>
          </a:p>
        </p:txBody>
      </p:sp>
    </p:spTree>
    <p:extLst>
      <p:ext uri="{BB962C8B-B14F-4D97-AF65-F5344CB8AC3E}">
        <p14:creationId xmlns:p14="http://schemas.microsoft.com/office/powerpoint/2010/main" val="193492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2" y="1312433"/>
            <a:ext cx="9521428" cy="4864530"/>
          </a:xfrm>
        </p:spPr>
        <p:txBody>
          <a:bodyPr>
            <a:normAutofit/>
          </a:bodyPr>
          <a:lstStyle/>
          <a:p>
            <a:r>
              <a:rPr lang="en-US" dirty="0"/>
              <a:t>Probability Theory Review</a:t>
            </a:r>
          </a:p>
          <a:p>
            <a:endParaRPr lang="en-US" dirty="0"/>
          </a:p>
          <a:p>
            <a:r>
              <a:rPr lang="en-US" dirty="0"/>
              <a:t>Classifying Simulations (SS Chapter 3.1)</a:t>
            </a:r>
          </a:p>
          <a:p>
            <a:endParaRPr lang="en-US" dirty="0"/>
          </a:p>
          <a:p>
            <a:r>
              <a:rPr lang="en-US" dirty="0"/>
              <a:t>Monte Carlo Simulation</a:t>
            </a:r>
          </a:p>
          <a:p>
            <a:pPr lvl="1"/>
            <a:r>
              <a:rPr lang="en-US" dirty="0"/>
              <a:t>Static Stochastic Monte Carlo and Excel </a:t>
            </a:r>
          </a:p>
          <a:p>
            <a:pPr lvl="1"/>
            <a:r>
              <a:rPr lang="en-US" dirty="0"/>
              <a:t>Monte Carlo Simulation Example </a:t>
            </a:r>
          </a:p>
          <a:p>
            <a:pPr lvl="1"/>
            <a:r>
              <a:rPr lang="en-US" dirty="0"/>
              <a:t>Dynamic Simulation and Software Options</a:t>
            </a:r>
          </a:p>
          <a:p>
            <a:endParaRPr lang="en-US" dirty="0"/>
          </a:p>
          <a:p>
            <a:r>
              <a:rPr lang="en-US" dirty="0"/>
              <a:t>Monte Carlo Simulation Project Overview</a:t>
            </a:r>
          </a:p>
          <a:p>
            <a:pPr marL="0" indent="0">
              <a:buNone/>
            </a:pPr>
            <a:endParaRPr lang="en-US" dirty="0"/>
          </a:p>
          <a:p>
            <a:pPr marL="0" indent="0">
              <a:buNone/>
            </a:pPr>
            <a:endParaRPr lang="en-US" dirty="0"/>
          </a:p>
          <a:p>
            <a:pPr lvl="1"/>
            <a:endParaRPr lang="en-US" dirty="0"/>
          </a:p>
        </p:txBody>
      </p:sp>
    </p:spTree>
    <p:extLst>
      <p:ext uri="{BB962C8B-B14F-4D97-AF65-F5344CB8AC3E}">
        <p14:creationId xmlns:p14="http://schemas.microsoft.com/office/powerpoint/2010/main" val="18639471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2" y="1312433"/>
            <a:ext cx="9521428" cy="4864530"/>
          </a:xfrm>
        </p:spPr>
        <p:txBody>
          <a:bodyPr>
            <a:normAutofit/>
          </a:bodyPr>
          <a:lstStyle/>
          <a:p>
            <a:r>
              <a:rPr lang="en-US" dirty="0"/>
              <a:t>Probability Theory Review</a:t>
            </a:r>
          </a:p>
          <a:p>
            <a:endParaRPr lang="en-US" dirty="0"/>
          </a:p>
          <a:p>
            <a:r>
              <a:rPr lang="en-US" dirty="0">
                <a:solidFill>
                  <a:schemeClr val="bg2"/>
                </a:solidFill>
              </a:rPr>
              <a:t>Classifying Simulations (SS Chapter 3.1)</a:t>
            </a:r>
          </a:p>
          <a:p>
            <a:endParaRPr lang="en-US" dirty="0">
              <a:solidFill>
                <a:schemeClr val="bg2"/>
              </a:solidFill>
            </a:endParaRPr>
          </a:p>
          <a:p>
            <a:r>
              <a:rPr lang="en-US" dirty="0">
                <a:solidFill>
                  <a:schemeClr val="bg2"/>
                </a:solidFill>
              </a:rPr>
              <a:t>Monte Carlo Simulation</a:t>
            </a:r>
          </a:p>
          <a:p>
            <a:pPr lvl="1"/>
            <a:r>
              <a:rPr lang="en-US" dirty="0">
                <a:solidFill>
                  <a:schemeClr val="bg2"/>
                </a:solidFill>
              </a:rPr>
              <a:t>Static Stochastic Monte Carlo and Excel </a:t>
            </a:r>
          </a:p>
          <a:p>
            <a:pPr lvl="1"/>
            <a:r>
              <a:rPr lang="en-US" dirty="0">
                <a:solidFill>
                  <a:schemeClr val="bg2"/>
                </a:solidFill>
              </a:rPr>
              <a:t>Monte Carlo Simulation Example </a:t>
            </a:r>
          </a:p>
          <a:p>
            <a:pPr lvl="1"/>
            <a:r>
              <a:rPr lang="en-US" dirty="0">
                <a:solidFill>
                  <a:schemeClr val="bg2"/>
                </a:solidFill>
              </a:rPr>
              <a:t>Dynamic Simulation and Software Options</a:t>
            </a:r>
          </a:p>
          <a:p>
            <a:endParaRPr lang="en-US" dirty="0">
              <a:solidFill>
                <a:schemeClr val="bg2"/>
              </a:solidFill>
            </a:endParaRPr>
          </a:p>
          <a:p>
            <a:r>
              <a:rPr lang="en-US" dirty="0">
                <a:solidFill>
                  <a:schemeClr val="bg2"/>
                </a:solidFill>
              </a:rPr>
              <a:t>Monte Carlo Simulation Project Overview</a:t>
            </a:r>
          </a:p>
          <a:p>
            <a:pPr marL="0" indent="0">
              <a:buNone/>
            </a:pPr>
            <a:endParaRPr lang="en-US" dirty="0"/>
          </a:p>
          <a:p>
            <a:pPr marL="0" indent="0">
              <a:buNone/>
            </a:pPr>
            <a:endParaRPr lang="en-US" dirty="0"/>
          </a:p>
          <a:p>
            <a:pPr lvl="1"/>
            <a:endParaRPr lang="en-US" dirty="0"/>
          </a:p>
        </p:txBody>
      </p:sp>
    </p:spTree>
    <p:extLst>
      <p:ext uri="{BB962C8B-B14F-4D97-AF65-F5344CB8AC3E}">
        <p14:creationId xmlns:p14="http://schemas.microsoft.com/office/powerpoint/2010/main" val="959303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Theory Review</a:t>
            </a:r>
          </a:p>
        </p:txBody>
      </p:sp>
      <p:sp>
        <p:nvSpPr>
          <p:cNvPr id="3" name="Content Placeholder 2"/>
          <p:cNvSpPr>
            <a:spLocks noGrp="1"/>
          </p:cNvSpPr>
          <p:nvPr>
            <p:ph idx="1"/>
          </p:nvPr>
        </p:nvSpPr>
        <p:spPr>
          <a:xfrm>
            <a:off x="355002" y="1312432"/>
            <a:ext cx="11478410" cy="5459429"/>
          </a:xfrm>
        </p:spPr>
        <p:txBody>
          <a:bodyPr>
            <a:normAutofit fontScale="92500" lnSpcReduction="10000"/>
          </a:bodyPr>
          <a:lstStyle/>
          <a:p>
            <a:r>
              <a:rPr lang="en-US" dirty="0">
                <a:solidFill>
                  <a:srgbClr val="C00000"/>
                </a:solidFill>
              </a:rPr>
              <a:t>Discrete random variables:</a:t>
            </a:r>
          </a:p>
          <a:p>
            <a:pPr lvl="1"/>
            <a:r>
              <a:rPr lang="en-US" dirty="0">
                <a:sym typeface="Wingdings" panose="05000000000000000000" pitchFamily="2" charset="2"/>
              </a:rPr>
              <a:t>Suppose we have an experiment whose outcome depends on chance</a:t>
            </a:r>
          </a:p>
          <a:p>
            <a:pPr lvl="2"/>
            <a:r>
              <a:rPr lang="en-US" dirty="0">
                <a:sym typeface="Wingdings" panose="05000000000000000000" pitchFamily="2" charset="2"/>
              </a:rPr>
              <a:t>The outcome of the experiment is called random variable</a:t>
            </a:r>
          </a:p>
          <a:p>
            <a:pPr lvl="2"/>
            <a:r>
              <a:rPr lang="en-US" dirty="0">
                <a:sym typeface="Wingdings" panose="05000000000000000000" pitchFamily="2" charset="2"/>
              </a:rPr>
              <a:t>The sample space of the experiment is the set of all possible outcomes.</a:t>
            </a:r>
          </a:p>
          <a:p>
            <a:pPr lvl="2"/>
            <a:r>
              <a:rPr lang="en-US" dirty="0">
                <a:sym typeface="Wingdings" panose="05000000000000000000" pitchFamily="2" charset="2"/>
              </a:rPr>
              <a:t>A Random Variable, X, is said to be discrete if it can take on at most a countable (finite) number of values</a:t>
            </a:r>
          </a:p>
          <a:p>
            <a:pPr lvl="2"/>
            <a:r>
              <a:rPr lang="en-US" dirty="0">
                <a:sym typeface="Wingdings" panose="05000000000000000000" pitchFamily="2" charset="2"/>
              </a:rPr>
              <a:t>That is, the sample space is finite</a:t>
            </a:r>
          </a:p>
          <a:p>
            <a:pPr lvl="2"/>
            <a:r>
              <a:rPr lang="en-US" dirty="0">
                <a:sym typeface="Wingdings" panose="05000000000000000000" pitchFamily="2" charset="2"/>
              </a:rPr>
              <a:t>A subset of the sample space is called event</a:t>
            </a:r>
          </a:p>
          <a:p>
            <a:pPr lvl="1"/>
            <a:r>
              <a:rPr lang="en-US" dirty="0"/>
              <a:t>Rolling a standard six-sided die</a:t>
            </a:r>
          </a:p>
          <a:p>
            <a:pPr lvl="2"/>
            <a:r>
              <a:rPr lang="en-US" dirty="0"/>
              <a:t>6 possible outcomes</a:t>
            </a:r>
          </a:p>
          <a:p>
            <a:pPr lvl="3"/>
            <a:r>
              <a:rPr lang="en-US" dirty="0"/>
              <a:t>Sample space, S={1,2,3,4,5,6}</a:t>
            </a:r>
          </a:p>
          <a:p>
            <a:pPr lvl="2"/>
            <a:r>
              <a:rPr lang="en-US" dirty="0"/>
              <a:t>X is the outcome we get</a:t>
            </a:r>
          </a:p>
          <a:p>
            <a:pPr lvl="3"/>
            <a:r>
              <a:rPr lang="en-US" dirty="0"/>
              <a:t>X is a random variable</a:t>
            </a:r>
          </a:p>
          <a:p>
            <a:pPr lvl="1"/>
            <a:r>
              <a:rPr lang="en-US" dirty="0"/>
              <a:t>Rolling a standard six-sided die</a:t>
            </a:r>
          </a:p>
          <a:p>
            <a:pPr lvl="2"/>
            <a:r>
              <a:rPr lang="en-US" dirty="0"/>
              <a:t>What is the probability of having an even number?</a:t>
            </a:r>
          </a:p>
          <a:p>
            <a:pPr lvl="2"/>
            <a:r>
              <a:rPr lang="en-US" dirty="0"/>
              <a:t>6 possible outcomes after we roll</a:t>
            </a:r>
          </a:p>
          <a:p>
            <a:pPr lvl="2"/>
            <a:r>
              <a:rPr lang="en-US" dirty="0"/>
              <a:t>Our event E={2,4,6} </a:t>
            </a:r>
            <a:r>
              <a:rPr lang="en-US" dirty="0">
                <a:sym typeface="Wingdings" pitchFamily="2" charset="2"/>
              </a:rPr>
              <a:t> </a:t>
            </a:r>
            <a:r>
              <a:rPr lang="en-US" dirty="0"/>
              <a:t>P(E)=1/6+1/6+1/6=1/2</a:t>
            </a:r>
          </a:p>
          <a:p>
            <a:pPr lvl="1"/>
            <a:endParaRPr lang="en-US" dirty="0">
              <a:sym typeface="Wingdings" panose="05000000000000000000" pitchFamily="2" charset="2"/>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78599" y="3796512"/>
            <a:ext cx="1600200" cy="1749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ounded Rectangular Callout 4"/>
          <p:cNvSpPr/>
          <p:nvPr/>
        </p:nvSpPr>
        <p:spPr bwMode="auto">
          <a:xfrm>
            <a:off x="9777046" y="4178998"/>
            <a:ext cx="1725844" cy="1371600"/>
          </a:xfrm>
          <a:prstGeom prst="wedgeRoundRectCallout">
            <a:avLst>
              <a:gd name="adj1" fmla="val -101344"/>
              <a:gd name="adj2" fmla="val 45106"/>
              <a:gd name="adj3" fmla="val 16667"/>
            </a:avLst>
          </a:prstGeom>
          <a:ln>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6"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6"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6"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6"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6" charset="-128"/>
                <a:cs typeface="+mn-cs"/>
              </a:defRPr>
            </a:lvl5pPr>
            <a:lvl6pPr marL="2286000" algn="l" defTabSz="914400" rtl="0" eaLnBrk="1" latinLnBrk="0" hangingPunct="1">
              <a:defRPr sz="2400" kern="1200">
                <a:solidFill>
                  <a:schemeClr val="tx1"/>
                </a:solidFill>
                <a:latin typeface="Arial" charset="0"/>
                <a:ea typeface="ＭＳ Ｐゴシック" pitchFamily="16" charset="-128"/>
                <a:cs typeface="+mn-cs"/>
              </a:defRPr>
            </a:lvl6pPr>
            <a:lvl7pPr marL="2743200" algn="l" defTabSz="914400" rtl="0" eaLnBrk="1" latinLnBrk="0" hangingPunct="1">
              <a:defRPr sz="2400" kern="1200">
                <a:solidFill>
                  <a:schemeClr val="tx1"/>
                </a:solidFill>
                <a:latin typeface="Arial" charset="0"/>
                <a:ea typeface="ＭＳ Ｐゴシック" pitchFamily="16" charset="-128"/>
                <a:cs typeface="+mn-cs"/>
              </a:defRPr>
            </a:lvl7pPr>
            <a:lvl8pPr marL="3200400" algn="l" defTabSz="914400" rtl="0" eaLnBrk="1" latinLnBrk="0" hangingPunct="1">
              <a:defRPr sz="2400" kern="1200">
                <a:solidFill>
                  <a:schemeClr val="tx1"/>
                </a:solidFill>
                <a:latin typeface="Arial" charset="0"/>
                <a:ea typeface="ＭＳ Ｐゴシック" pitchFamily="16" charset="-128"/>
                <a:cs typeface="+mn-cs"/>
              </a:defRPr>
            </a:lvl8pPr>
            <a:lvl9pPr marL="3657600" algn="l" defTabSz="914400" rtl="0" eaLnBrk="1" latinLnBrk="0" hangingPunct="1">
              <a:defRPr sz="2400" kern="1200">
                <a:solidFill>
                  <a:schemeClr val="tx1"/>
                </a:solidFill>
                <a:latin typeface="Arial" charset="0"/>
                <a:ea typeface="ＭＳ Ｐゴシック" pitchFamily="16" charset="-128"/>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pitchFamily="16" charset="-128"/>
              </a:rPr>
              <a:t>Probability</a:t>
            </a:r>
            <a:r>
              <a:rPr kumimoji="0" lang="en-US" sz="1800" b="0" i="0" u="none" strike="noStrike" cap="none" normalizeH="0" dirty="0">
                <a:ln>
                  <a:noFill/>
                </a:ln>
                <a:solidFill>
                  <a:schemeClr val="tx1"/>
                </a:solidFill>
                <a:effectLst/>
                <a:latin typeface="Arial" charset="0"/>
                <a:ea typeface="ＭＳ Ｐゴシック" pitchFamily="16" charset="-128"/>
              </a:rPr>
              <a:t> of </a:t>
            </a:r>
            <a:r>
              <a:rPr kumimoji="0" lang="en-US" sz="1800" b="1" i="0" u="sng" strike="noStrike" cap="none" normalizeH="0" dirty="0">
                <a:ln>
                  <a:noFill/>
                </a:ln>
                <a:solidFill>
                  <a:srgbClr val="C00000"/>
                </a:solidFill>
                <a:effectLst/>
                <a:latin typeface="Arial" charset="0"/>
                <a:ea typeface="ＭＳ Ｐゴシック" pitchFamily="16" charset="-128"/>
              </a:rPr>
              <a:t>having 4 </a:t>
            </a:r>
            <a:r>
              <a:rPr kumimoji="0" lang="en-US" sz="1800" b="0" i="0" u="none" strike="noStrike" cap="none" normalizeH="0" dirty="0">
                <a:ln>
                  <a:noFill/>
                </a:ln>
                <a:solidFill>
                  <a:schemeClr val="tx1"/>
                </a:solidFill>
                <a:effectLst/>
                <a:latin typeface="Arial" charset="0"/>
                <a:ea typeface="ＭＳ Ｐゴシック" pitchFamily="16" charset="-128"/>
              </a:rPr>
              <a:t>after we roll is 1/6</a:t>
            </a:r>
            <a:endParaRPr kumimoji="0" lang="en-US" sz="1800" b="0" i="0" u="none" strike="noStrike" cap="none" normalizeH="0" baseline="0" dirty="0">
              <a:ln>
                <a:noFill/>
              </a:ln>
              <a:solidFill>
                <a:schemeClr val="tx1"/>
              </a:solidFill>
              <a:effectLst/>
              <a:latin typeface="Arial" charset="0"/>
              <a:ea typeface="ＭＳ Ｐゴシック" pitchFamily="16" charset="-128"/>
            </a:endParaRPr>
          </a:p>
        </p:txBody>
      </p:sp>
      <p:pic>
        <p:nvPicPr>
          <p:cNvPr id="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86246" y="4175188"/>
            <a:ext cx="1828800" cy="2282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ounded Rectangular Callout 6"/>
          <p:cNvSpPr/>
          <p:nvPr/>
        </p:nvSpPr>
        <p:spPr bwMode="auto">
          <a:xfrm>
            <a:off x="10639968" y="5877001"/>
            <a:ext cx="1143000" cy="613144"/>
          </a:xfrm>
          <a:prstGeom prst="wedgeRoundRectCallout">
            <a:avLst>
              <a:gd name="adj1" fmla="val -65833"/>
              <a:gd name="adj2" fmla="val -226445"/>
              <a:gd name="adj3" fmla="val 16667"/>
            </a:avLst>
          </a:prstGeom>
          <a:ln>
            <a:solidFill>
              <a:srgbClr val="C00000"/>
            </a:solid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pitchFamily="16" charset="-128"/>
                <a:cs typeface="+mn-cs"/>
              </a:defRPr>
            </a:lvl1pPr>
            <a:lvl2pPr marL="457200" algn="l" rtl="0" eaLnBrk="0" fontAlgn="base" hangingPunct="0">
              <a:spcBef>
                <a:spcPct val="0"/>
              </a:spcBef>
              <a:spcAft>
                <a:spcPct val="0"/>
              </a:spcAft>
              <a:defRPr sz="2400" kern="1200">
                <a:solidFill>
                  <a:schemeClr val="tx1"/>
                </a:solidFill>
                <a:latin typeface="Arial" charset="0"/>
                <a:ea typeface="ＭＳ Ｐゴシック" pitchFamily="16" charset="-128"/>
                <a:cs typeface="+mn-cs"/>
              </a:defRPr>
            </a:lvl2pPr>
            <a:lvl3pPr marL="914400" algn="l" rtl="0" eaLnBrk="0" fontAlgn="base" hangingPunct="0">
              <a:spcBef>
                <a:spcPct val="0"/>
              </a:spcBef>
              <a:spcAft>
                <a:spcPct val="0"/>
              </a:spcAft>
              <a:defRPr sz="2400" kern="1200">
                <a:solidFill>
                  <a:schemeClr val="tx1"/>
                </a:solidFill>
                <a:latin typeface="Arial" charset="0"/>
                <a:ea typeface="ＭＳ Ｐゴシック" pitchFamily="16" charset="-128"/>
                <a:cs typeface="+mn-cs"/>
              </a:defRPr>
            </a:lvl3pPr>
            <a:lvl4pPr marL="1371600" algn="l" rtl="0" eaLnBrk="0" fontAlgn="base" hangingPunct="0">
              <a:spcBef>
                <a:spcPct val="0"/>
              </a:spcBef>
              <a:spcAft>
                <a:spcPct val="0"/>
              </a:spcAft>
              <a:defRPr sz="2400" kern="1200">
                <a:solidFill>
                  <a:schemeClr val="tx1"/>
                </a:solidFill>
                <a:latin typeface="Arial" charset="0"/>
                <a:ea typeface="ＭＳ Ｐゴシック" pitchFamily="16" charset="-128"/>
                <a:cs typeface="+mn-cs"/>
              </a:defRPr>
            </a:lvl4pPr>
            <a:lvl5pPr marL="1828800" algn="l" rtl="0" eaLnBrk="0" fontAlgn="base" hangingPunct="0">
              <a:spcBef>
                <a:spcPct val="0"/>
              </a:spcBef>
              <a:spcAft>
                <a:spcPct val="0"/>
              </a:spcAft>
              <a:defRPr sz="2400" kern="1200">
                <a:solidFill>
                  <a:schemeClr val="tx1"/>
                </a:solidFill>
                <a:latin typeface="Arial" charset="0"/>
                <a:ea typeface="ＭＳ Ｐゴシック" pitchFamily="16" charset="-128"/>
                <a:cs typeface="+mn-cs"/>
              </a:defRPr>
            </a:lvl5pPr>
            <a:lvl6pPr marL="2286000" algn="l" defTabSz="914400" rtl="0" eaLnBrk="1" latinLnBrk="0" hangingPunct="1">
              <a:defRPr sz="2400" kern="1200">
                <a:solidFill>
                  <a:schemeClr val="tx1"/>
                </a:solidFill>
                <a:latin typeface="Arial" charset="0"/>
                <a:ea typeface="ＭＳ Ｐゴシック" pitchFamily="16" charset="-128"/>
                <a:cs typeface="+mn-cs"/>
              </a:defRPr>
            </a:lvl6pPr>
            <a:lvl7pPr marL="2743200" algn="l" defTabSz="914400" rtl="0" eaLnBrk="1" latinLnBrk="0" hangingPunct="1">
              <a:defRPr sz="2400" kern="1200">
                <a:solidFill>
                  <a:schemeClr val="tx1"/>
                </a:solidFill>
                <a:latin typeface="Arial" charset="0"/>
                <a:ea typeface="ＭＳ Ｐゴシック" pitchFamily="16" charset="-128"/>
                <a:cs typeface="+mn-cs"/>
              </a:defRPr>
            </a:lvl7pPr>
            <a:lvl8pPr marL="3200400" algn="l" defTabSz="914400" rtl="0" eaLnBrk="1" latinLnBrk="0" hangingPunct="1">
              <a:defRPr sz="2400" kern="1200">
                <a:solidFill>
                  <a:schemeClr val="tx1"/>
                </a:solidFill>
                <a:latin typeface="Arial" charset="0"/>
                <a:ea typeface="ＭＳ Ｐゴシック" pitchFamily="16" charset="-128"/>
                <a:cs typeface="+mn-cs"/>
              </a:defRPr>
            </a:lvl8pPr>
            <a:lvl9pPr marL="3657600" algn="l" defTabSz="914400" rtl="0" eaLnBrk="1" latinLnBrk="0" hangingPunct="1">
              <a:defRPr sz="2400" kern="1200">
                <a:solidFill>
                  <a:schemeClr val="tx1"/>
                </a:solidFill>
                <a:latin typeface="Arial" charset="0"/>
                <a:ea typeface="ＭＳ Ｐゴシック" pitchFamily="16" charset="-128"/>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C00000"/>
                </a:solidFill>
                <a:effectLst/>
                <a:latin typeface="Arial" charset="0"/>
                <a:ea typeface="ＭＳ Ｐゴシック" pitchFamily="16" charset="-128"/>
              </a:rPr>
              <a:t>event</a:t>
            </a:r>
          </a:p>
        </p:txBody>
      </p:sp>
    </p:spTree>
    <p:extLst>
      <p:ext uri="{BB962C8B-B14F-4D97-AF65-F5344CB8AC3E}">
        <p14:creationId xmlns:p14="http://schemas.microsoft.com/office/powerpoint/2010/main" val="3251463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
                                            <p:txEl>
                                              <p:pRg st="12" end="1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4" end="14"/>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Theory Review</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Discrete random variables:</a:t>
            </a:r>
          </a:p>
          <a:p>
            <a:pPr lvl="1"/>
            <a:r>
              <a:rPr lang="en-US" dirty="0"/>
              <a:t>P(X=x) = </a:t>
            </a:r>
            <a:r>
              <a:rPr lang="en-US" sz="2000" dirty="0"/>
              <a:t>“Probability that X takes on the value x”</a:t>
            </a:r>
          </a:p>
          <a:p>
            <a:pPr lvl="2"/>
            <a:r>
              <a:rPr lang="en-US" dirty="0"/>
              <a:t>0 </a:t>
            </a:r>
            <a:r>
              <a:rPr lang="en-US" dirty="0">
                <a:cs typeface="Arial" charset="0"/>
              </a:rPr>
              <a:t>≤ P(X=x) ≤ 1 </a:t>
            </a:r>
          </a:p>
          <a:p>
            <a:pPr lvl="2"/>
            <a:r>
              <a:rPr lang="en-US" sz="2400" dirty="0">
                <a:latin typeface="Symbol" pitchFamily="18" charset="2"/>
              </a:rPr>
              <a:t>S</a:t>
            </a:r>
            <a:r>
              <a:rPr lang="en-US" sz="2400" dirty="0"/>
              <a:t> P(X=x) =1</a:t>
            </a:r>
          </a:p>
          <a:p>
            <a:pPr lvl="1"/>
            <a:r>
              <a:rPr lang="en-US" dirty="0"/>
              <a:t>E[X] = “expected value of the X”</a:t>
            </a:r>
          </a:p>
          <a:p>
            <a:pPr lvl="2"/>
            <a:r>
              <a:rPr lang="en-US" dirty="0"/>
              <a:t>E[X] = </a:t>
            </a:r>
            <a:r>
              <a:rPr lang="en-US" dirty="0">
                <a:latin typeface="Symbol" pitchFamily="18" charset="2"/>
              </a:rPr>
              <a:t>S</a:t>
            </a:r>
            <a:r>
              <a:rPr lang="en-US" dirty="0"/>
              <a:t> x P(X=x)</a:t>
            </a:r>
          </a:p>
          <a:p>
            <a:pPr lvl="1"/>
            <a:r>
              <a:rPr lang="en-US" dirty="0"/>
              <a:t>V[X] = “variance of the X”</a:t>
            </a:r>
          </a:p>
          <a:p>
            <a:pPr lvl="2"/>
            <a:r>
              <a:rPr lang="en-US" dirty="0"/>
              <a:t>V[X] =</a:t>
            </a:r>
            <a:r>
              <a:rPr lang="en-US" dirty="0">
                <a:latin typeface="Symbol" pitchFamily="18" charset="2"/>
              </a:rPr>
              <a:t>S</a:t>
            </a:r>
            <a:r>
              <a:rPr lang="en-US" dirty="0"/>
              <a:t> x</a:t>
            </a:r>
            <a:r>
              <a:rPr lang="en-US" baseline="30000" dirty="0"/>
              <a:t>2</a:t>
            </a:r>
            <a:r>
              <a:rPr lang="en-US" dirty="0"/>
              <a:t> P(X=x) – E[X]</a:t>
            </a:r>
            <a:r>
              <a:rPr lang="en-US" baseline="30000" dirty="0"/>
              <a:t>2</a:t>
            </a:r>
          </a:p>
          <a:p>
            <a:pPr lvl="2"/>
            <a:r>
              <a:rPr lang="en-US" dirty="0"/>
              <a:t>V[X]=</a:t>
            </a:r>
            <a:r>
              <a:rPr lang="en-US" dirty="0">
                <a:latin typeface="Symbol" pitchFamily="18" charset="2"/>
              </a:rPr>
              <a:t> S</a:t>
            </a:r>
            <a:r>
              <a:rPr lang="en-US" dirty="0"/>
              <a:t> P(X=x)(x – E[X])</a:t>
            </a:r>
            <a:r>
              <a:rPr lang="en-US" baseline="30000" dirty="0"/>
              <a:t>2</a:t>
            </a:r>
          </a:p>
          <a:p>
            <a:pPr lvl="1"/>
            <a:r>
              <a:rPr lang="en-US" dirty="0"/>
              <a:t>SD[X] = “standard deviation of X”</a:t>
            </a:r>
          </a:p>
          <a:p>
            <a:pPr lvl="2"/>
            <a:r>
              <a:rPr lang="en-US" dirty="0"/>
              <a:t>SD[X] = </a:t>
            </a:r>
            <a:r>
              <a:rPr lang="en-US" dirty="0">
                <a:cs typeface="Arial" charset="0"/>
              </a:rPr>
              <a:t>√V[X]</a:t>
            </a:r>
          </a:p>
          <a:p>
            <a:pPr lvl="1"/>
            <a:r>
              <a:rPr lang="en-US" dirty="0">
                <a:cs typeface="Arial" charset="0"/>
              </a:rPr>
              <a:t>Rolling a die:</a:t>
            </a:r>
          </a:p>
          <a:p>
            <a:pPr lvl="2"/>
            <a:endParaRPr lang="en-US" sz="2400" dirty="0"/>
          </a:p>
        </p:txBody>
      </p:sp>
      <p:pic>
        <p:nvPicPr>
          <p:cNvPr id="8" name="Picture 4" descr="C:\Users\konurd\Desktop\200px-Discrete_probability_distrib.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65946" y="1744182"/>
            <a:ext cx="2438400" cy="11460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C:\Users\konurd\Desktop\600px-Discrete_probability_distribution.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9863" y="4213380"/>
            <a:ext cx="3456214" cy="120967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8465946" y="2997807"/>
            <a:ext cx="2362200" cy="646331"/>
          </a:xfrm>
          <a:prstGeom prst="rect">
            <a:avLst/>
          </a:prstGeom>
          <a:noFill/>
        </p:spPr>
        <p:txBody>
          <a:bodyPr wrap="square" rtlCol="0">
            <a:spAutoFit/>
          </a:bodyPr>
          <a:lstStyle/>
          <a:p>
            <a:pPr algn="ctr"/>
            <a:r>
              <a:rPr lang="en-US" sz="1800" dirty="0"/>
              <a:t>Probability mass function (pdf) = f(X)</a:t>
            </a:r>
          </a:p>
        </p:txBody>
      </p:sp>
      <p:sp>
        <p:nvSpPr>
          <p:cNvPr id="11" name="TextBox 10"/>
          <p:cNvSpPr txBox="1"/>
          <p:nvPr/>
        </p:nvSpPr>
        <p:spPr>
          <a:xfrm>
            <a:off x="8108391" y="5530632"/>
            <a:ext cx="3474008" cy="646331"/>
          </a:xfrm>
          <a:prstGeom prst="rect">
            <a:avLst/>
          </a:prstGeom>
          <a:noFill/>
        </p:spPr>
        <p:txBody>
          <a:bodyPr wrap="square" rtlCol="0">
            <a:spAutoFit/>
          </a:bodyPr>
          <a:lstStyle/>
          <a:p>
            <a:pPr algn="ctr"/>
            <a:r>
              <a:rPr lang="en-US" sz="1800" dirty="0"/>
              <a:t>Cumulative distribution function (</a:t>
            </a:r>
            <a:r>
              <a:rPr lang="en-US" sz="1800" dirty="0" err="1"/>
              <a:t>cdf</a:t>
            </a:r>
            <a:r>
              <a:rPr lang="en-US" sz="1800" dirty="0"/>
              <a:t>) = F(X)</a:t>
            </a:r>
          </a:p>
        </p:txBody>
      </p:sp>
      <p:pic>
        <p:nvPicPr>
          <p:cNvPr id="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1" y="5033101"/>
            <a:ext cx="2983523" cy="1641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548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Theory Review</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Expectation and Variance:</a:t>
            </a:r>
          </a:p>
          <a:p>
            <a:pPr lvl="1"/>
            <a:endParaRPr lang="en-US" dirty="0"/>
          </a:p>
          <a:p>
            <a:pPr lvl="2"/>
            <a:endParaRPr lang="en-US" dirty="0"/>
          </a:p>
          <a:p>
            <a:pPr lvl="2"/>
            <a:endParaRPr lang="en-US" sz="2400" dirty="0"/>
          </a:p>
        </p:txBody>
      </p:sp>
      <mc:AlternateContent xmlns:mc="http://schemas.openxmlformats.org/markup-compatibility/2006" xmlns:a14="http://schemas.microsoft.com/office/drawing/2010/main">
        <mc:Choice Requires="a14">
          <p:sp>
            <p:nvSpPr>
              <p:cNvPr id="4" name="Rectangle 3"/>
              <p:cNvSpPr/>
              <p:nvPr/>
            </p:nvSpPr>
            <p:spPr>
              <a:xfrm>
                <a:off x="785446" y="4253215"/>
                <a:ext cx="6096000" cy="2031325"/>
              </a:xfrm>
              <a:prstGeom prst="rect">
                <a:avLst/>
              </a:prstGeom>
            </p:spPr>
            <p:txBody>
              <a:bodyPr>
                <a:spAutoFit/>
              </a:bodyPr>
              <a:lstStyle/>
              <a:p>
                <a:r>
                  <a:rPr lang="en-US" dirty="0"/>
                  <a:t>Multiplication of two random variables</a:t>
                </a:r>
              </a:p>
              <a:p>
                <a:pPr lvl="1"/>
                <a:r>
                  <a:rPr lang="en-US" dirty="0"/>
                  <a:t>Suppose Z = XY,</a:t>
                </a:r>
              </a:p>
              <a:p>
                <a:pPr lvl="1"/>
                <a:r>
                  <a:rPr lang="en-US" dirty="0"/>
                  <a:t>X and Y are </a:t>
                </a:r>
                <a:r>
                  <a:rPr lang="en-US" i="1" dirty="0"/>
                  <a:t>independent</a:t>
                </a:r>
                <a:r>
                  <a:rPr lang="en-US" dirty="0"/>
                  <a:t> random variables</a:t>
                </a:r>
              </a:p>
              <a:p>
                <a:pPr lvl="2"/>
                <a:r>
                  <a:rPr lang="en-US" dirty="0"/>
                  <a:t>That is, if P(X</a:t>
                </a:r>
                <a:r>
                  <a:rPr lang="en-US" dirty="0">
                    <a:ea typeface="Cambria Math"/>
                  </a:rPr>
                  <a:t> </a:t>
                </a:r>
                <a14:m>
                  <m:oMath xmlns:m="http://schemas.openxmlformats.org/officeDocument/2006/math">
                    <m:r>
                      <a:rPr lang="en-US" i="1">
                        <a:latin typeface="Cambria Math"/>
                        <a:ea typeface="Cambria Math"/>
                      </a:rPr>
                      <m:t>∩</m:t>
                    </m:r>
                  </m:oMath>
                </a14:m>
                <a:r>
                  <a:rPr lang="en-US" dirty="0"/>
                  <a:t>Y) = P(X)P(Y)</a:t>
                </a:r>
              </a:p>
              <a:p>
                <a:pPr lvl="1"/>
                <a:r>
                  <a:rPr lang="en-US" dirty="0"/>
                  <a:t>THEN Z is a random variable with</a:t>
                </a:r>
              </a:p>
              <a:p>
                <a:pPr lvl="2"/>
                <a:r>
                  <a:rPr lang="en-US" dirty="0"/>
                  <a:t>E[Z] = E[X]E[Y]</a:t>
                </a:r>
              </a:p>
              <a:p>
                <a:pPr lvl="2"/>
                <a:r>
                  <a:rPr lang="en-US" dirty="0"/>
                  <a:t>V[Z] = V[X]E[Y]</a:t>
                </a:r>
                <a:r>
                  <a:rPr lang="en-US" baseline="30000" dirty="0"/>
                  <a:t>2</a:t>
                </a:r>
                <a:r>
                  <a:rPr lang="en-US" dirty="0"/>
                  <a:t> + V[Y]E[X]</a:t>
                </a:r>
                <a:r>
                  <a:rPr lang="en-US" baseline="30000" dirty="0"/>
                  <a:t>2</a:t>
                </a:r>
                <a:r>
                  <a:rPr lang="en-US" dirty="0"/>
                  <a:t> + V[X]V[Y]</a:t>
                </a:r>
              </a:p>
            </p:txBody>
          </p:sp>
        </mc:Choice>
        <mc:Fallback xmlns="">
          <p:sp>
            <p:nvSpPr>
              <p:cNvPr id="4" name="Rectangle 3"/>
              <p:cNvSpPr>
                <a:spLocks noRot="1" noChangeAspect="1" noMove="1" noResize="1" noEditPoints="1" noAdjustHandles="1" noChangeArrowheads="1" noChangeShapeType="1" noTextEdit="1"/>
              </p:cNvSpPr>
              <p:nvPr/>
            </p:nvSpPr>
            <p:spPr>
              <a:xfrm>
                <a:off x="785446" y="4253215"/>
                <a:ext cx="6096000" cy="2031325"/>
              </a:xfrm>
              <a:prstGeom prst="rect">
                <a:avLst/>
              </a:prstGeom>
              <a:blipFill>
                <a:blip r:embed="rId3"/>
                <a:stretch>
                  <a:fillRect l="-900" t="-1802" b="-3904"/>
                </a:stretch>
              </a:blipFill>
            </p:spPr>
            <p:txBody>
              <a:bodyPr/>
              <a:lstStyle/>
              <a:p>
                <a:r>
                  <a:rPr lang="en-US">
                    <a:noFill/>
                  </a:rPr>
                  <a:t> </a:t>
                </a:r>
              </a:p>
            </p:txBody>
          </p:sp>
        </mc:Fallback>
      </mc:AlternateContent>
      <p:sp>
        <p:nvSpPr>
          <p:cNvPr id="5" name="Rectangle 4"/>
          <p:cNvSpPr/>
          <p:nvPr/>
        </p:nvSpPr>
        <p:spPr>
          <a:xfrm>
            <a:off x="246185" y="1791499"/>
            <a:ext cx="6096000" cy="2031325"/>
          </a:xfrm>
          <a:prstGeom prst="rect">
            <a:avLst/>
          </a:prstGeom>
        </p:spPr>
        <p:txBody>
          <a:bodyPr>
            <a:spAutoFit/>
          </a:bodyPr>
          <a:lstStyle/>
          <a:p>
            <a:pPr lvl="1"/>
            <a:r>
              <a:rPr lang="en-US" dirty="0"/>
              <a:t>Recall that</a:t>
            </a:r>
          </a:p>
          <a:p>
            <a:pPr lvl="2"/>
            <a:r>
              <a:rPr lang="en-US" dirty="0"/>
              <a:t>E[X] = </a:t>
            </a:r>
            <a:r>
              <a:rPr lang="en-US" dirty="0">
                <a:latin typeface="Symbol" pitchFamily="18" charset="2"/>
              </a:rPr>
              <a:t>S</a:t>
            </a:r>
            <a:r>
              <a:rPr lang="en-US" dirty="0"/>
              <a:t> x P(X=x)</a:t>
            </a:r>
          </a:p>
          <a:p>
            <a:pPr lvl="1"/>
            <a:r>
              <a:rPr lang="en-US" dirty="0"/>
              <a:t>We have the following properties</a:t>
            </a:r>
          </a:p>
          <a:p>
            <a:pPr lvl="2"/>
            <a:r>
              <a:rPr lang="en-US" dirty="0"/>
              <a:t>E[</a:t>
            </a:r>
            <a:r>
              <a:rPr lang="en-US" dirty="0" err="1"/>
              <a:t>X+c</a:t>
            </a:r>
            <a:r>
              <a:rPr lang="en-US" dirty="0"/>
              <a:t>]=E[X]+c where </a:t>
            </a:r>
            <a:r>
              <a:rPr lang="en-US" i="1" dirty="0"/>
              <a:t>c</a:t>
            </a:r>
            <a:r>
              <a:rPr lang="en-US" dirty="0"/>
              <a:t> is a constant</a:t>
            </a:r>
          </a:p>
          <a:p>
            <a:pPr lvl="2"/>
            <a:r>
              <a:rPr lang="en-US" dirty="0"/>
              <a:t>E[</a:t>
            </a:r>
            <a:r>
              <a:rPr lang="en-US" dirty="0" err="1"/>
              <a:t>aX</a:t>
            </a:r>
            <a:r>
              <a:rPr lang="en-US" dirty="0"/>
              <a:t>]=</a:t>
            </a:r>
            <a:r>
              <a:rPr lang="en-US" dirty="0" err="1"/>
              <a:t>aE</a:t>
            </a:r>
            <a:r>
              <a:rPr lang="en-US" dirty="0"/>
              <a:t>[X] where </a:t>
            </a:r>
            <a:r>
              <a:rPr lang="en-US" i="1" dirty="0"/>
              <a:t>a</a:t>
            </a:r>
            <a:r>
              <a:rPr lang="en-US" dirty="0"/>
              <a:t> is a constant</a:t>
            </a:r>
          </a:p>
          <a:p>
            <a:pPr lvl="2"/>
            <a:r>
              <a:rPr lang="en-US" dirty="0"/>
              <a:t>E[</a:t>
            </a:r>
            <a:r>
              <a:rPr lang="en-US" dirty="0" err="1"/>
              <a:t>aX+bY</a:t>
            </a:r>
            <a:r>
              <a:rPr lang="en-US" dirty="0"/>
              <a:t>]=</a:t>
            </a:r>
            <a:r>
              <a:rPr lang="en-US" dirty="0" err="1"/>
              <a:t>aE</a:t>
            </a:r>
            <a:r>
              <a:rPr lang="en-US" dirty="0"/>
              <a:t>[X]+</a:t>
            </a:r>
            <a:r>
              <a:rPr lang="en-US" dirty="0" err="1"/>
              <a:t>bE</a:t>
            </a:r>
            <a:r>
              <a:rPr lang="en-US" dirty="0"/>
              <a:t>[Y] where Y is also a random variable</a:t>
            </a:r>
          </a:p>
        </p:txBody>
      </p:sp>
      <p:sp>
        <p:nvSpPr>
          <p:cNvPr id="6" name="Rectangle 5"/>
          <p:cNvSpPr/>
          <p:nvPr/>
        </p:nvSpPr>
        <p:spPr>
          <a:xfrm>
            <a:off x="5846229" y="1791499"/>
            <a:ext cx="6096000" cy="2031325"/>
          </a:xfrm>
          <a:prstGeom prst="rect">
            <a:avLst/>
          </a:prstGeom>
        </p:spPr>
        <p:txBody>
          <a:bodyPr>
            <a:spAutoFit/>
          </a:bodyPr>
          <a:lstStyle/>
          <a:p>
            <a:pPr lvl="1"/>
            <a:r>
              <a:rPr lang="en-US" dirty="0"/>
              <a:t>Recall that</a:t>
            </a:r>
          </a:p>
          <a:p>
            <a:pPr lvl="2"/>
            <a:r>
              <a:rPr lang="en-US" dirty="0"/>
              <a:t>V[X] =</a:t>
            </a:r>
            <a:r>
              <a:rPr lang="en-US" dirty="0">
                <a:latin typeface="Symbol" pitchFamily="18" charset="2"/>
              </a:rPr>
              <a:t>S</a:t>
            </a:r>
            <a:r>
              <a:rPr lang="en-US" dirty="0"/>
              <a:t> x</a:t>
            </a:r>
            <a:r>
              <a:rPr lang="en-US" baseline="30000" dirty="0"/>
              <a:t>2</a:t>
            </a:r>
            <a:r>
              <a:rPr lang="en-US" dirty="0"/>
              <a:t> P(X=x) – E[X]</a:t>
            </a:r>
            <a:r>
              <a:rPr lang="en-US" baseline="30000" dirty="0"/>
              <a:t>2</a:t>
            </a:r>
          </a:p>
          <a:p>
            <a:pPr lvl="1"/>
            <a:r>
              <a:rPr lang="en-US" dirty="0"/>
              <a:t>We have the following properties</a:t>
            </a:r>
          </a:p>
          <a:p>
            <a:pPr lvl="2"/>
            <a:r>
              <a:rPr lang="en-US" dirty="0"/>
              <a:t>V[</a:t>
            </a:r>
            <a:r>
              <a:rPr lang="en-US" dirty="0" err="1"/>
              <a:t>X+c</a:t>
            </a:r>
            <a:r>
              <a:rPr lang="en-US" dirty="0"/>
              <a:t>]=V[X] where </a:t>
            </a:r>
            <a:r>
              <a:rPr lang="en-US" i="1" dirty="0"/>
              <a:t>c</a:t>
            </a:r>
            <a:r>
              <a:rPr lang="en-US" dirty="0"/>
              <a:t> is a constant</a:t>
            </a:r>
          </a:p>
          <a:p>
            <a:pPr lvl="2"/>
            <a:r>
              <a:rPr lang="en-US" dirty="0"/>
              <a:t>V[</a:t>
            </a:r>
            <a:r>
              <a:rPr lang="en-US" dirty="0" err="1"/>
              <a:t>aX</a:t>
            </a:r>
            <a:r>
              <a:rPr lang="en-US" dirty="0"/>
              <a:t>]=a</a:t>
            </a:r>
            <a:r>
              <a:rPr lang="en-US" baseline="30000" dirty="0"/>
              <a:t>2</a:t>
            </a:r>
            <a:r>
              <a:rPr lang="en-US" dirty="0"/>
              <a:t>V[X] where </a:t>
            </a:r>
            <a:r>
              <a:rPr lang="en-US" i="1" dirty="0"/>
              <a:t>a</a:t>
            </a:r>
            <a:r>
              <a:rPr lang="en-US" dirty="0"/>
              <a:t> is a constant</a:t>
            </a:r>
          </a:p>
          <a:p>
            <a:pPr lvl="2"/>
            <a:r>
              <a:rPr lang="en-US" dirty="0"/>
              <a:t>V[</a:t>
            </a:r>
            <a:r>
              <a:rPr lang="en-US" dirty="0" err="1"/>
              <a:t>aX+bY</a:t>
            </a:r>
            <a:r>
              <a:rPr lang="en-US" dirty="0"/>
              <a:t>]= a</a:t>
            </a:r>
            <a:r>
              <a:rPr lang="en-US" baseline="30000" dirty="0"/>
              <a:t>2</a:t>
            </a:r>
            <a:r>
              <a:rPr lang="en-US" dirty="0"/>
              <a:t>V[X]+ b</a:t>
            </a:r>
            <a:r>
              <a:rPr lang="en-US" baseline="30000" dirty="0"/>
              <a:t>2</a:t>
            </a:r>
            <a:r>
              <a:rPr lang="en-US" dirty="0"/>
              <a:t>V[Y] if X and Y are independent variables</a:t>
            </a:r>
          </a:p>
        </p:txBody>
      </p:sp>
    </p:spTree>
    <p:extLst>
      <p:ext uri="{BB962C8B-B14F-4D97-AF65-F5344CB8AC3E}">
        <p14:creationId xmlns:p14="http://schemas.microsoft.com/office/powerpoint/2010/main" val="702206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Theory Review</a:t>
            </a:r>
          </a:p>
        </p:txBody>
      </p:sp>
      <p:sp>
        <p:nvSpPr>
          <p:cNvPr id="3" name="Content Placeholder 2"/>
          <p:cNvSpPr>
            <a:spLocks noGrp="1"/>
          </p:cNvSpPr>
          <p:nvPr>
            <p:ph idx="1"/>
          </p:nvPr>
        </p:nvSpPr>
        <p:spPr>
          <a:xfrm>
            <a:off x="355002" y="1312433"/>
            <a:ext cx="11478410" cy="4864530"/>
          </a:xfrm>
        </p:spPr>
        <p:txBody>
          <a:bodyPr>
            <a:normAutofit fontScale="92500" lnSpcReduction="10000"/>
          </a:bodyPr>
          <a:lstStyle/>
          <a:p>
            <a:r>
              <a:rPr lang="en-US" dirty="0">
                <a:solidFill>
                  <a:srgbClr val="C00000"/>
                </a:solidFill>
              </a:rPr>
              <a:t>Some famous discrete probability distributions:</a:t>
            </a:r>
          </a:p>
          <a:p>
            <a:pPr lvl="1"/>
            <a:r>
              <a:rPr lang="en-US" sz="1800" u="sng" dirty="0"/>
              <a:t>Bernoulli (yes-no) distribution:</a:t>
            </a:r>
          </a:p>
          <a:p>
            <a:pPr lvl="2"/>
            <a:r>
              <a:rPr lang="en-US" sz="1600" dirty="0"/>
              <a:t>Two outcomes: whether an event occurs or not</a:t>
            </a:r>
          </a:p>
          <a:p>
            <a:pPr lvl="1"/>
            <a:r>
              <a:rPr lang="en-US" sz="1800" u="sng" dirty="0"/>
              <a:t>Binomial Distribution:</a:t>
            </a:r>
          </a:p>
          <a:p>
            <a:pPr lvl="2"/>
            <a:r>
              <a:rPr lang="en-US" sz="1600" dirty="0"/>
              <a:t>Describes the number of times an event occurs in a fixed number of trials (e.g., number of heads in 10 flips of a coin)</a:t>
            </a:r>
          </a:p>
          <a:p>
            <a:pPr lvl="2"/>
            <a:r>
              <a:rPr lang="en-US" sz="1600" dirty="0"/>
              <a:t>For each trial, only two outcomes possible and Trials are independent, and Probability remains the same for each trial </a:t>
            </a:r>
          </a:p>
          <a:p>
            <a:pPr lvl="1"/>
            <a:r>
              <a:rPr lang="en-US" sz="1800" u="sng" dirty="0"/>
              <a:t>Geometric Distribution:</a:t>
            </a:r>
          </a:p>
          <a:p>
            <a:pPr lvl="2"/>
            <a:r>
              <a:rPr lang="en-US" sz="1600" dirty="0"/>
              <a:t>Describes the number of trials until an event occurs (e.g., number of times to roll a die until a 6)</a:t>
            </a:r>
          </a:p>
          <a:p>
            <a:pPr lvl="2"/>
            <a:r>
              <a:rPr lang="en-US" sz="1600" dirty="0"/>
              <a:t>Same probability for each trial and Continue until succeed, unlimited trials</a:t>
            </a:r>
          </a:p>
          <a:p>
            <a:pPr lvl="1"/>
            <a:r>
              <a:rPr lang="en-US" sz="1800" u="sng" dirty="0"/>
              <a:t>Negative Binomial Distribution:</a:t>
            </a:r>
          </a:p>
          <a:p>
            <a:pPr lvl="2"/>
            <a:r>
              <a:rPr lang="en-US" sz="1600" dirty="0"/>
              <a:t>Describes the number of trials until an event occurs n times</a:t>
            </a:r>
          </a:p>
          <a:p>
            <a:pPr lvl="2"/>
            <a:r>
              <a:rPr lang="en-US" sz="1600" dirty="0"/>
              <a:t>Similar to geometric (when n=1, you have geometric distribution)</a:t>
            </a:r>
          </a:p>
          <a:p>
            <a:pPr lvl="1"/>
            <a:r>
              <a:rPr lang="en-US" sz="1800" u="sng" dirty="0"/>
              <a:t>Poisson Distribution:</a:t>
            </a:r>
          </a:p>
          <a:p>
            <a:pPr lvl="2"/>
            <a:r>
              <a:rPr lang="en-US" sz="1600" dirty="0"/>
              <a:t>Describes the number of times an event occurs during a given period of time or space</a:t>
            </a:r>
          </a:p>
          <a:p>
            <a:pPr lvl="2"/>
            <a:r>
              <a:rPr lang="en-US" sz="1600" dirty="0"/>
              <a:t>Occurrences are independent and Any number of events is possible</a:t>
            </a:r>
          </a:p>
          <a:p>
            <a:pPr lvl="1"/>
            <a:r>
              <a:rPr lang="en-US" sz="1800" u="sng" dirty="0"/>
              <a:t>Discrete Uniform Distribution:</a:t>
            </a:r>
          </a:p>
          <a:p>
            <a:pPr lvl="2"/>
            <a:r>
              <a:rPr lang="en-US" sz="1600" dirty="0"/>
              <a:t>Each outcome is equally likely (e.g., rolling a die, each outcome is 1/6 probability)</a:t>
            </a:r>
          </a:p>
          <a:p>
            <a:pPr lvl="1"/>
            <a:r>
              <a:rPr lang="en-US" sz="2000" dirty="0"/>
              <a:t>More distributions: Wikipedia gives the basics!</a:t>
            </a:r>
          </a:p>
          <a:p>
            <a:pPr lvl="2"/>
            <a:endParaRPr lang="en-US" dirty="0"/>
          </a:p>
          <a:p>
            <a:pPr lvl="2"/>
            <a:endParaRPr lang="en-US" sz="2400" dirty="0"/>
          </a:p>
        </p:txBody>
      </p:sp>
      <p:sp>
        <p:nvSpPr>
          <p:cNvPr id="4" name="Rectangle 3"/>
          <p:cNvSpPr/>
          <p:nvPr/>
        </p:nvSpPr>
        <p:spPr>
          <a:xfrm>
            <a:off x="1096190" y="6304429"/>
            <a:ext cx="6063135" cy="369332"/>
          </a:xfrm>
          <a:prstGeom prst="rect">
            <a:avLst/>
          </a:prstGeom>
        </p:spPr>
        <p:txBody>
          <a:bodyPr wrap="none">
            <a:spAutoFit/>
          </a:bodyPr>
          <a:lstStyle/>
          <a:p>
            <a:r>
              <a:rPr lang="en-US" dirty="0">
                <a:hlinkClick r:id="rId2"/>
              </a:rPr>
              <a:t>https://en.wikipedia.org/wiki/List_of_probability_distributions</a:t>
            </a:r>
            <a:r>
              <a:rPr lang="en-US" dirty="0"/>
              <a:t> </a:t>
            </a:r>
          </a:p>
        </p:txBody>
      </p:sp>
    </p:spTree>
    <p:extLst>
      <p:ext uri="{BB962C8B-B14F-4D97-AF65-F5344CB8AC3E}">
        <p14:creationId xmlns:p14="http://schemas.microsoft.com/office/powerpoint/2010/main" val="267067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4" end="1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5" end="1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7" end="17"/>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Theory Review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292904"/>
              </a:xfrm>
            </p:spPr>
            <p:txBody>
              <a:bodyPr>
                <a:normAutofit/>
              </a:bodyPr>
              <a:lstStyle/>
              <a:p>
                <a:r>
                  <a:rPr lang="en-US" dirty="0">
                    <a:solidFill>
                      <a:srgbClr val="C00000"/>
                    </a:solidFill>
                  </a:rPr>
                  <a:t>Continuous random variables:</a:t>
                </a:r>
              </a:p>
              <a:p>
                <a:pPr lvl="1"/>
                <a:r>
                  <a:rPr lang="en-US" dirty="0"/>
                  <a:t>A random variable is called continuous if it can assume all possible values in the possible range of the random variable.</a:t>
                </a:r>
              </a:p>
              <a:p>
                <a:pPr lvl="2"/>
                <a:r>
                  <a:rPr lang="en-US" dirty="0"/>
                  <a:t>The </a:t>
                </a:r>
                <a:r>
                  <a:rPr lang="en-US" dirty="0" err="1"/>
                  <a:t>interarrival</a:t>
                </a:r>
                <a:r>
                  <a:rPr lang="en-US" dirty="0"/>
                  <a:t> times, the weight of a fish caught, the heat in a day</a:t>
                </a:r>
              </a:p>
              <a:p>
                <a:pPr lvl="1"/>
                <a:r>
                  <a:rPr lang="en-US" dirty="0"/>
                  <a:t>Let X be a continuous random variable between </a:t>
                </a:r>
                <a:r>
                  <a:rPr lang="en-US" i="1" dirty="0"/>
                  <a:t>a</a:t>
                </a:r>
                <a:r>
                  <a:rPr lang="en-US" dirty="0"/>
                  <a:t> and </a:t>
                </a:r>
                <a:r>
                  <a:rPr lang="en-US" i="1" dirty="0"/>
                  <a:t>b ([</a:t>
                </a:r>
                <a:r>
                  <a:rPr lang="en-US" i="1" dirty="0" err="1"/>
                  <a:t>a,b</a:t>
                </a:r>
                <a:r>
                  <a:rPr lang="en-US" i="1" dirty="0"/>
                  <a:t>] is the support/range)</a:t>
                </a:r>
                <a:endParaRPr lang="en-US" dirty="0"/>
              </a:p>
              <a:p>
                <a:pPr lvl="2"/>
                <a:r>
                  <a:rPr lang="en-US" dirty="0"/>
                  <a:t>It has a probability density function, f(X)</a:t>
                </a:r>
              </a:p>
              <a:p>
                <a:pPr lvl="2"/>
                <a14:m>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𝑎</m:t>
                        </m:r>
                        <m:r>
                          <a:rPr lang="en-US" i="1">
                            <a:latin typeface="Cambria Math"/>
                          </a:rPr>
                          <m:t>≤</m:t>
                        </m:r>
                        <m:r>
                          <a:rPr lang="en-US" i="1">
                            <a:latin typeface="Cambria Math"/>
                          </a:rPr>
                          <m:t>𝑋</m:t>
                        </m:r>
                        <m:r>
                          <a:rPr lang="en-US" i="1">
                            <a:latin typeface="Cambria Math"/>
                          </a:rPr>
                          <m:t>≤</m:t>
                        </m:r>
                        <m:r>
                          <a:rPr lang="en-US" i="1">
                            <a:latin typeface="Cambria Math"/>
                          </a:rPr>
                          <m:t>𝑏</m:t>
                        </m:r>
                      </m:e>
                    </m:d>
                    <m:r>
                      <a:rPr lang="en-US" i="1">
                        <a:latin typeface="Cambria Math"/>
                      </a:rPr>
                      <m:t>=</m:t>
                    </m:r>
                    <m:nary>
                      <m:naryPr>
                        <m:ctrlPr>
                          <a:rPr lang="en-US" i="1">
                            <a:latin typeface="Cambria Math" panose="02040503050406030204" pitchFamily="18" charset="0"/>
                          </a:rPr>
                        </m:ctrlPr>
                      </m:naryPr>
                      <m:sub>
                        <m:r>
                          <m:rPr>
                            <m:brk m:alnAt="23"/>
                          </m:rPr>
                          <a:rPr lang="en-US" i="1">
                            <a:latin typeface="Cambria Math"/>
                          </a:rPr>
                          <m:t>𝑎</m:t>
                        </m:r>
                      </m:sub>
                      <m:sup>
                        <m:r>
                          <a:rPr lang="en-US" i="1">
                            <a:latin typeface="Cambria Math"/>
                          </a:rPr>
                          <m:t>𝑏</m:t>
                        </m:r>
                      </m:sup>
                      <m:e>
                        <m:r>
                          <a:rPr lang="en-US" i="1">
                            <a:latin typeface="Cambria Math"/>
                          </a:rPr>
                          <m:t>𝑓</m:t>
                        </m:r>
                        <m:d>
                          <m:dPr>
                            <m:ctrlPr>
                              <a:rPr lang="en-US" i="1">
                                <a:latin typeface="Cambria Math" panose="02040503050406030204" pitchFamily="18" charset="0"/>
                              </a:rPr>
                            </m:ctrlPr>
                          </m:dPr>
                          <m:e>
                            <m:r>
                              <a:rPr lang="en-US" i="1">
                                <a:latin typeface="Cambria Math"/>
                              </a:rPr>
                              <m:t>𝑥</m:t>
                            </m:r>
                          </m:e>
                        </m:d>
                        <m:r>
                          <a:rPr lang="en-US" i="1">
                            <a:latin typeface="Cambria Math"/>
                          </a:rPr>
                          <m:t>𝑑𝑥</m:t>
                        </m:r>
                      </m:e>
                    </m:nary>
                  </m:oMath>
                </a14:m>
                <a:endParaRPr lang="en-US" dirty="0"/>
              </a:p>
              <a:p>
                <a:pPr lvl="2"/>
                <a14:m>
                  <m:oMath xmlns:m="http://schemas.openxmlformats.org/officeDocument/2006/math">
                    <m:r>
                      <a:rPr lang="en-US" i="1">
                        <a:latin typeface="Cambria Math"/>
                      </a:rPr>
                      <m:t>𝐸</m:t>
                    </m:r>
                    <m:r>
                      <a:rPr lang="en-US" i="1">
                        <a:latin typeface="Cambria Math"/>
                      </a:rPr>
                      <m:t>[</m:t>
                    </m:r>
                    <m:r>
                      <a:rPr lang="en-US" i="1">
                        <a:latin typeface="Cambria Math"/>
                      </a:rPr>
                      <m:t>𝑋</m:t>
                    </m:r>
                    <m:r>
                      <a:rPr lang="en-US" i="1">
                        <a:latin typeface="Cambria Math"/>
                      </a:rPr>
                      <m:t>]=</m:t>
                    </m:r>
                    <m:nary>
                      <m:naryPr>
                        <m:ctrlPr>
                          <a:rPr lang="en-US" i="1">
                            <a:latin typeface="Cambria Math" panose="02040503050406030204" pitchFamily="18" charset="0"/>
                          </a:rPr>
                        </m:ctrlPr>
                      </m:naryPr>
                      <m:sub>
                        <m:r>
                          <m:rPr>
                            <m:brk m:alnAt="23"/>
                          </m:rPr>
                          <a:rPr lang="en-US" i="1">
                            <a:latin typeface="Cambria Math"/>
                          </a:rPr>
                          <m:t>𝑎</m:t>
                        </m:r>
                      </m:sub>
                      <m:sup>
                        <m:r>
                          <a:rPr lang="en-US" i="1">
                            <a:latin typeface="Cambria Math"/>
                          </a:rPr>
                          <m:t>𝑏</m:t>
                        </m:r>
                      </m:sup>
                      <m:e>
                        <m:r>
                          <a:rPr lang="en-US" i="1">
                            <a:latin typeface="Cambria Math"/>
                          </a:rPr>
                          <m:t>𝑥𝑓</m:t>
                        </m:r>
                        <m:d>
                          <m:dPr>
                            <m:ctrlPr>
                              <a:rPr lang="en-US" i="1">
                                <a:latin typeface="Cambria Math" panose="02040503050406030204" pitchFamily="18" charset="0"/>
                              </a:rPr>
                            </m:ctrlPr>
                          </m:dPr>
                          <m:e>
                            <m:r>
                              <a:rPr lang="en-US" i="1">
                                <a:latin typeface="Cambria Math"/>
                              </a:rPr>
                              <m:t>𝑥</m:t>
                            </m:r>
                          </m:e>
                        </m:d>
                        <m:r>
                          <a:rPr lang="en-US" i="1">
                            <a:latin typeface="Cambria Math"/>
                          </a:rPr>
                          <m:t>𝑑𝑥</m:t>
                        </m:r>
                      </m:e>
                    </m:nary>
                  </m:oMath>
                </a14:m>
                <a:endParaRPr lang="en-US" i="1" dirty="0"/>
              </a:p>
              <a:p>
                <a:pPr lvl="2"/>
                <a:r>
                  <a:rPr lang="en-US" dirty="0"/>
                  <a:t>V</a:t>
                </a:r>
                <a14:m>
                  <m:oMath xmlns:m="http://schemas.openxmlformats.org/officeDocument/2006/math">
                    <m:r>
                      <a:rPr lang="en-US" i="1">
                        <a:latin typeface="Cambria Math"/>
                      </a:rPr>
                      <m:t>[</m:t>
                    </m:r>
                    <m:r>
                      <a:rPr lang="en-US" i="1">
                        <a:latin typeface="Cambria Math"/>
                      </a:rPr>
                      <m:t>𝑋</m:t>
                    </m:r>
                    <m:r>
                      <a:rPr lang="en-US" i="1">
                        <a:latin typeface="Cambria Math"/>
                      </a:rPr>
                      <m:t>]=</m:t>
                    </m:r>
                    <m:nary>
                      <m:naryPr>
                        <m:ctrlPr>
                          <a:rPr lang="en-US" i="1">
                            <a:latin typeface="Cambria Math" panose="02040503050406030204" pitchFamily="18" charset="0"/>
                          </a:rPr>
                        </m:ctrlPr>
                      </m:naryPr>
                      <m:sub>
                        <m:r>
                          <m:rPr>
                            <m:brk m:alnAt="23"/>
                          </m:rPr>
                          <a:rPr lang="en-US" i="1">
                            <a:latin typeface="Cambria Math"/>
                          </a:rPr>
                          <m:t>𝑎</m:t>
                        </m:r>
                      </m:sub>
                      <m:sup>
                        <m:r>
                          <a:rPr lang="en-US" i="1">
                            <a:latin typeface="Cambria Math"/>
                          </a:rPr>
                          <m:t>𝑏</m:t>
                        </m:r>
                      </m:sup>
                      <m:e>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𝐸</m:t>
                                </m:r>
                                <m:d>
                                  <m:dPr>
                                    <m:begChr m:val="["/>
                                    <m:endChr m:val="]"/>
                                    <m:ctrlPr>
                                      <a:rPr lang="en-US" i="1">
                                        <a:latin typeface="Cambria Math" panose="02040503050406030204" pitchFamily="18" charset="0"/>
                                      </a:rPr>
                                    </m:ctrlPr>
                                  </m:dPr>
                                  <m:e>
                                    <m:r>
                                      <a:rPr lang="en-US" i="1">
                                        <a:latin typeface="Cambria Math"/>
                                      </a:rPr>
                                      <m:t>𝑋</m:t>
                                    </m:r>
                                  </m:e>
                                </m:d>
                              </m:e>
                            </m:d>
                          </m:e>
                          <m:sup>
                            <m:r>
                              <a:rPr lang="en-US" i="1">
                                <a:latin typeface="Cambria Math"/>
                              </a:rPr>
                              <m:t>2</m:t>
                            </m:r>
                          </m:sup>
                        </m:sSup>
                        <m:r>
                          <a:rPr lang="en-US" i="1">
                            <a:latin typeface="Cambria Math"/>
                          </a:rPr>
                          <m:t>𝑓</m:t>
                        </m:r>
                        <m:d>
                          <m:dPr>
                            <m:ctrlPr>
                              <a:rPr lang="en-US" i="1">
                                <a:latin typeface="Cambria Math" panose="02040503050406030204" pitchFamily="18" charset="0"/>
                              </a:rPr>
                            </m:ctrlPr>
                          </m:dPr>
                          <m:e>
                            <m:r>
                              <a:rPr lang="en-US" i="1">
                                <a:latin typeface="Cambria Math"/>
                              </a:rPr>
                              <m:t>𝑥</m:t>
                            </m:r>
                          </m:e>
                        </m:d>
                        <m:r>
                          <a:rPr lang="en-US" i="1">
                            <a:latin typeface="Cambria Math"/>
                          </a:rPr>
                          <m:t>𝑑𝑥</m:t>
                        </m:r>
                      </m:e>
                    </m:nary>
                  </m:oMath>
                </a14:m>
                <a:endParaRPr lang="en-US" i="1" dirty="0"/>
              </a:p>
              <a:p>
                <a:pPr lvl="2"/>
                <a14:m>
                  <m:oMath xmlns:m="http://schemas.openxmlformats.org/officeDocument/2006/math">
                    <m:r>
                      <a:rPr lang="en-US" i="1">
                        <a:latin typeface="Cambria Math"/>
                      </a:rPr>
                      <m:t>𝐹</m:t>
                    </m:r>
                    <m:d>
                      <m:dPr>
                        <m:ctrlPr>
                          <a:rPr lang="en-US" i="1">
                            <a:latin typeface="Cambria Math" panose="02040503050406030204" pitchFamily="18" charset="0"/>
                          </a:rPr>
                        </m:ctrlPr>
                      </m:dPr>
                      <m:e>
                        <m:r>
                          <a:rPr lang="en-US" i="1">
                            <a:latin typeface="Cambria Math"/>
                          </a:rPr>
                          <m:t>𝑐</m:t>
                        </m:r>
                      </m:e>
                    </m:d>
                    <m:r>
                      <a:rPr lang="en-US" i="1">
                        <a:latin typeface="Cambria Math"/>
                      </a:rPr>
                      <m:t>=</m:t>
                    </m:r>
                    <m:r>
                      <a:rPr lang="en-US" i="1">
                        <a:latin typeface="Cambria Math"/>
                      </a:rPr>
                      <m:t>𝑃</m:t>
                    </m:r>
                    <m:r>
                      <a:rPr lang="en-US" i="1">
                        <a:latin typeface="Cambria Math"/>
                      </a:rPr>
                      <m:t>(</m:t>
                    </m:r>
                    <m:r>
                      <a:rPr lang="en-US" i="1">
                        <a:latin typeface="Cambria Math"/>
                      </a:rPr>
                      <m:t>𝑋</m:t>
                    </m:r>
                    <m:r>
                      <a:rPr lang="en-US" i="1">
                        <a:latin typeface="Cambria Math"/>
                      </a:rPr>
                      <m:t>≤</m:t>
                    </m:r>
                    <m:r>
                      <a:rPr lang="en-US" i="1">
                        <a:latin typeface="Cambria Math"/>
                      </a:rPr>
                      <m:t>𝑐</m:t>
                    </m:r>
                    <m:r>
                      <a:rPr lang="en-US" i="1">
                        <a:latin typeface="Cambria Math"/>
                      </a:rPr>
                      <m:t>)=</m:t>
                    </m:r>
                    <m:nary>
                      <m:naryPr>
                        <m:ctrlPr>
                          <a:rPr lang="en-US" i="1">
                            <a:latin typeface="Cambria Math" panose="02040503050406030204" pitchFamily="18" charset="0"/>
                          </a:rPr>
                        </m:ctrlPr>
                      </m:naryPr>
                      <m:sub>
                        <m:r>
                          <m:rPr>
                            <m:brk m:alnAt="23"/>
                          </m:rPr>
                          <a:rPr lang="en-US" i="1">
                            <a:latin typeface="Cambria Math"/>
                          </a:rPr>
                          <m:t>𝑎</m:t>
                        </m:r>
                      </m:sub>
                      <m:sup>
                        <m:r>
                          <a:rPr lang="en-US" i="1">
                            <a:latin typeface="Cambria Math"/>
                          </a:rPr>
                          <m:t>𝑐</m:t>
                        </m:r>
                      </m:sup>
                      <m:e>
                        <m:r>
                          <a:rPr lang="en-US" i="1">
                            <a:latin typeface="Cambria Math"/>
                          </a:rPr>
                          <m:t>𝑓</m:t>
                        </m:r>
                        <m:d>
                          <m:dPr>
                            <m:ctrlPr>
                              <a:rPr lang="en-US" i="1">
                                <a:latin typeface="Cambria Math" panose="02040503050406030204" pitchFamily="18" charset="0"/>
                              </a:rPr>
                            </m:ctrlPr>
                          </m:dPr>
                          <m:e>
                            <m:r>
                              <a:rPr lang="en-US" i="1">
                                <a:latin typeface="Cambria Math"/>
                              </a:rPr>
                              <m:t>𝑥</m:t>
                            </m:r>
                          </m:e>
                        </m:d>
                        <m:r>
                          <a:rPr lang="en-US" i="1">
                            <a:latin typeface="Cambria Math"/>
                          </a:rPr>
                          <m:t>𝑑𝑥</m:t>
                        </m:r>
                      </m:e>
                    </m:nary>
                  </m:oMath>
                </a14:m>
                <a:r>
                  <a:rPr lang="en-US" i="1" dirty="0"/>
                  <a:t> where </a:t>
                </a:r>
                <a14:m>
                  <m:oMath xmlns:m="http://schemas.openxmlformats.org/officeDocument/2006/math">
                    <m:r>
                      <a:rPr lang="en-US" i="1">
                        <a:latin typeface="Cambria Math"/>
                      </a:rPr>
                      <m:t>𝑎</m:t>
                    </m:r>
                    <m:r>
                      <a:rPr lang="en-US" i="1">
                        <a:latin typeface="Cambria Math"/>
                      </a:rPr>
                      <m:t>≤</m:t>
                    </m:r>
                    <m:r>
                      <a:rPr lang="en-US" i="1">
                        <a:latin typeface="Cambria Math"/>
                      </a:rPr>
                      <m:t>𝑐</m:t>
                    </m:r>
                    <m:r>
                      <a:rPr lang="en-US" i="1">
                        <a:latin typeface="Cambria Math"/>
                      </a:rPr>
                      <m:t>≤</m:t>
                    </m:r>
                    <m:r>
                      <a:rPr lang="en-US" i="1">
                        <a:latin typeface="Cambria Math"/>
                      </a:rPr>
                      <m:t>𝑏</m:t>
                    </m:r>
                  </m:oMath>
                </a14:m>
                <a:endParaRPr lang="en-US" i="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292904"/>
              </a:xfrm>
              <a:blipFill>
                <a:blip r:embed="rId2"/>
                <a:stretch>
                  <a:fillRect l="-956" t="-18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0A2E0D5-D2C8-4421-A0E3-9421F9D6AD3D}"/>
              </a:ext>
            </a:extLst>
          </p:cNvPr>
          <p:cNvSpPr txBox="1"/>
          <p:nvPr/>
        </p:nvSpPr>
        <p:spPr>
          <a:xfrm>
            <a:off x="8465946" y="3312554"/>
            <a:ext cx="2362200" cy="646331"/>
          </a:xfrm>
          <a:prstGeom prst="rect">
            <a:avLst/>
          </a:prstGeom>
          <a:noFill/>
        </p:spPr>
        <p:txBody>
          <a:bodyPr wrap="square" rtlCol="0">
            <a:spAutoFit/>
          </a:bodyPr>
          <a:lstStyle/>
          <a:p>
            <a:pPr algn="ctr"/>
            <a:r>
              <a:rPr lang="en-US" sz="1800" b="1" dirty="0"/>
              <a:t>f(X) is the probability density function</a:t>
            </a:r>
          </a:p>
        </p:txBody>
      </p:sp>
      <p:sp>
        <p:nvSpPr>
          <p:cNvPr id="5" name="TextBox 4">
            <a:extLst>
              <a:ext uri="{FF2B5EF4-FFF2-40B4-BE49-F238E27FC236}">
                <a16:creationId xmlns:a16="http://schemas.microsoft.com/office/drawing/2014/main" id="{F4750526-5CA4-4998-9A2E-5E213FD4B502}"/>
              </a:ext>
            </a:extLst>
          </p:cNvPr>
          <p:cNvSpPr txBox="1"/>
          <p:nvPr/>
        </p:nvSpPr>
        <p:spPr>
          <a:xfrm>
            <a:off x="8465946" y="4821386"/>
            <a:ext cx="2362200" cy="646331"/>
          </a:xfrm>
          <a:prstGeom prst="rect">
            <a:avLst/>
          </a:prstGeom>
          <a:noFill/>
        </p:spPr>
        <p:txBody>
          <a:bodyPr wrap="square" rtlCol="0">
            <a:spAutoFit/>
          </a:bodyPr>
          <a:lstStyle/>
          <a:p>
            <a:pPr algn="ctr"/>
            <a:r>
              <a:rPr lang="en-US" b="1" dirty="0"/>
              <a:t>F</a:t>
            </a:r>
            <a:r>
              <a:rPr lang="en-US" sz="1800" b="1" dirty="0"/>
              <a:t>(X) is the cumulative probability function</a:t>
            </a:r>
          </a:p>
        </p:txBody>
      </p:sp>
    </p:spTree>
    <p:extLst>
      <p:ext uri="{BB962C8B-B14F-4D97-AF65-F5344CB8AC3E}">
        <p14:creationId xmlns:p14="http://schemas.microsoft.com/office/powerpoint/2010/main" val="101572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Theory Review</a:t>
            </a:r>
          </a:p>
        </p:txBody>
      </p:sp>
      <p:sp>
        <p:nvSpPr>
          <p:cNvPr id="3" name="Content Placeholder 2"/>
          <p:cNvSpPr>
            <a:spLocks noGrp="1"/>
          </p:cNvSpPr>
          <p:nvPr>
            <p:ph idx="1"/>
          </p:nvPr>
        </p:nvSpPr>
        <p:spPr>
          <a:xfrm>
            <a:off x="355002" y="1312433"/>
            <a:ext cx="11478410" cy="4991996"/>
          </a:xfrm>
        </p:spPr>
        <p:txBody>
          <a:bodyPr>
            <a:normAutofit fontScale="92500" lnSpcReduction="10000"/>
          </a:bodyPr>
          <a:lstStyle/>
          <a:p>
            <a:r>
              <a:rPr lang="en-US" dirty="0">
                <a:solidFill>
                  <a:srgbClr val="C00000"/>
                </a:solidFill>
              </a:rPr>
              <a:t>Some famous continuous probability distributions:</a:t>
            </a:r>
          </a:p>
          <a:p>
            <a:pPr marL="457200" lvl="1" indent="0">
              <a:buNone/>
            </a:pPr>
            <a:r>
              <a:rPr lang="en-US" dirty="0"/>
              <a:t>Uniform Distribution	Triangular Distribution	                 Normal Distribution</a:t>
            </a:r>
          </a:p>
          <a:p>
            <a:pPr lvl="1"/>
            <a:endParaRPr lang="en-US" dirty="0"/>
          </a:p>
          <a:p>
            <a:pPr lvl="1"/>
            <a:endParaRPr lang="en-US" dirty="0"/>
          </a:p>
          <a:p>
            <a:pPr lvl="1"/>
            <a:endParaRPr lang="en-US" dirty="0"/>
          </a:p>
          <a:p>
            <a:pPr lvl="1"/>
            <a:endParaRPr lang="en-US" dirty="0"/>
          </a:p>
          <a:p>
            <a:pPr lvl="1"/>
            <a:endParaRPr lang="en-US" dirty="0"/>
          </a:p>
          <a:p>
            <a:pPr marL="457200" lvl="1" indent="0">
              <a:buNone/>
            </a:pPr>
            <a:r>
              <a:rPr lang="en-US" dirty="0"/>
              <a:t>Exponential Distribution	     Gamma Distribution	                  Erlang Distribution</a:t>
            </a:r>
          </a:p>
          <a:p>
            <a:pPr lvl="1"/>
            <a:endParaRPr lang="en-US" dirty="0"/>
          </a:p>
          <a:p>
            <a:pPr lvl="1"/>
            <a:endParaRPr lang="en-US" dirty="0"/>
          </a:p>
          <a:p>
            <a:pPr lvl="1"/>
            <a:endParaRPr lang="en-US" dirty="0"/>
          </a:p>
          <a:p>
            <a:pPr lvl="1"/>
            <a:endParaRPr lang="en-US" dirty="0"/>
          </a:p>
          <a:p>
            <a:pPr lvl="1"/>
            <a:endParaRPr lang="en-US" dirty="0"/>
          </a:p>
          <a:p>
            <a:pPr lvl="1"/>
            <a:r>
              <a:rPr lang="en-US" dirty="0"/>
              <a:t>More distributions: Wikipedia gives the basics!</a:t>
            </a:r>
          </a:p>
          <a:p>
            <a:pPr lvl="1"/>
            <a:endParaRPr lang="en-US" dirty="0">
              <a:sym typeface="Wingdings" panose="05000000000000000000" pitchFamily="2" charset="2"/>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1267" y="2056058"/>
            <a:ext cx="2004819" cy="1431775"/>
          </a:xfrm>
          <a:prstGeom prst="rect">
            <a:avLst/>
          </a:prstGeom>
        </p:spPr>
      </p:pic>
      <p:pic>
        <p:nvPicPr>
          <p:cNvPr id="5" name="Picture 4"/>
          <p:cNvPicPr>
            <a:picLocks noChangeAspect="1"/>
          </p:cNvPicPr>
          <p:nvPr/>
        </p:nvPicPr>
        <p:blipFill>
          <a:blip r:embed="rId3"/>
          <a:stretch>
            <a:fillRect/>
          </a:stretch>
        </p:blipFill>
        <p:spPr>
          <a:xfrm>
            <a:off x="4490702" y="2167568"/>
            <a:ext cx="1946031" cy="1453819"/>
          </a:xfrm>
          <a:prstGeom prst="rect">
            <a:avLst/>
          </a:prstGeom>
        </p:spPr>
      </p:pic>
      <p:pic>
        <p:nvPicPr>
          <p:cNvPr id="6" name="Picture 5"/>
          <p:cNvPicPr>
            <a:picLocks noChangeAspect="1"/>
          </p:cNvPicPr>
          <p:nvPr/>
        </p:nvPicPr>
        <p:blipFill>
          <a:blip r:embed="rId4"/>
          <a:stretch>
            <a:fillRect/>
          </a:stretch>
        </p:blipFill>
        <p:spPr>
          <a:xfrm>
            <a:off x="8134397" y="2105671"/>
            <a:ext cx="2001350" cy="1395482"/>
          </a:xfrm>
          <a:prstGeom prst="rect">
            <a:avLst/>
          </a:prstGeom>
        </p:spPr>
      </p:pic>
      <p:pic>
        <p:nvPicPr>
          <p:cNvPr id="7" name="Picture 6"/>
          <p:cNvPicPr>
            <a:picLocks noChangeAspect="1"/>
          </p:cNvPicPr>
          <p:nvPr/>
        </p:nvPicPr>
        <p:blipFill>
          <a:blip r:embed="rId5"/>
          <a:stretch>
            <a:fillRect/>
          </a:stretch>
        </p:blipFill>
        <p:spPr>
          <a:xfrm>
            <a:off x="1162327" y="4245652"/>
            <a:ext cx="2575059" cy="1478803"/>
          </a:xfrm>
          <a:prstGeom prst="rect">
            <a:avLst/>
          </a:prstGeom>
        </p:spPr>
      </p:pic>
      <p:pic>
        <p:nvPicPr>
          <p:cNvPr id="8" name="Picture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90702" y="4023273"/>
            <a:ext cx="2279978" cy="1709984"/>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873086" y="4023273"/>
            <a:ext cx="2254739" cy="1691054"/>
          </a:xfrm>
          <a:prstGeom prst="rect">
            <a:avLst/>
          </a:prstGeom>
        </p:spPr>
      </p:pic>
      <p:sp>
        <p:nvSpPr>
          <p:cNvPr id="10" name="Rectangle 9"/>
          <p:cNvSpPr/>
          <p:nvPr/>
        </p:nvSpPr>
        <p:spPr>
          <a:xfrm>
            <a:off x="1096190" y="6304429"/>
            <a:ext cx="6063135" cy="369332"/>
          </a:xfrm>
          <a:prstGeom prst="rect">
            <a:avLst/>
          </a:prstGeom>
        </p:spPr>
        <p:txBody>
          <a:bodyPr wrap="none">
            <a:spAutoFit/>
          </a:bodyPr>
          <a:lstStyle/>
          <a:p>
            <a:r>
              <a:rPr lang="en-US" dirty="0">
                <a:hlinkClick r:id="rId8"/>
              </a:rPr>
              <a:t>https://en.wikipedia.org/wiki/List_of_probability_distributions</a:t>
            </a:r>
            <a:r>
              <a:rPr lang="en-US" dirty="0"/>
              <a:t> </a:t>
            </a:r>
          </a:p>
        </p:txBody>
      </p:sp>
    </p:spTree>
    <p:extLst>
      <p:ext uri="{BB962C8B-B14F-4D97-AF65-F5344CB8AC3E}">
        <p14:creationId xmlns:p14="http://schemas.microsoft.com/office/powerpoint/2010/main" val="1223385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Probability Theory Review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180442"/>
              </a:xfrm>
            </p:spPr>
            <p:txBody>
              <a:bodyPr>
                <a:normAutofit lnSpcReduction="10000"/>
              </a:bodyPr>
              <a:lstStyle/>
              <a:p>
                <a:r>
                  <a:rPr lang="en-US" dirty="0">
                    <a:solidFill>
                      <a:srgbClr val="C00000"/>
                    </a:solidFill>
                  </a:rPr>
                  <a:t>Conditional probability:</a:t>
                </a:r>
              </a:p>
              <a:p>
                <a:pPr lvl="1"/>
                <a:r>
                  <a:rPr lang="en-US" dirty="0"/>
                  <a:t>The </a:t>
                </a:r>
                <a:r>
                  <a:rPr lang="en-US" b="1" i="1" dirty="0"/>
                  <a:t>conditional probability</a:t>
                </a:r>
                <a:r>
                  <a:rPr lang="en-US" dirty="0"/>
                  <a:t> of an event </a:t>
                </a:r>
                <a:r>
                  <a:rPr lang="en-US" i="1" dirty="0"/>
                  <a:t>A</a:t>
                </a:r>
                <a:r>
                  <a:rPr lang="en-US" dirty="0"/>
                  <a:t> is the probability that the event will occur given the knowledge that an event </a:t>
                </a:r>
                <a:r>
                  <a:rPr lang="en-US" i="1" dirty="0"/>
                  <a:t>B</a:t>
                </a:r>
                <a:r>
                  <a:rPr lang="en-US" dirty="0"/>
                  <a:t> has already occurred</a:t>
                </a:r>
              </a:p>
              <a:p>
                <a:pPr lvl="2"/>
                <a:r>
                  <a:rPr lang="en-US" i="1" dirty="0"/>
                  <a:t>P(A|B)</a:t>
                </a:r>
                <a:r>
                  <a:rPr lang="en-US" dirty="0"/>
                  <a:t>, notation for the </a:t>
                </a:r>
                <a:r>
                  <a:rPr lang="en-US" i="1" dirty="0"/>
                  <a:t>probability of A given B</a:t>
                </a:r>
              </a:p>
              <a:p>
                <a:pPr lvl="2"/>
                <a:r>
                  <a:rPr lang="en-US" i="1" dirty="0"/>
                  <a:t>What is the probability of having a 4 after you roll a die and you know that you have an even number?</a:t>
                </a:r>
              </a:p>
              <a:p>
                <a:pPr lvl="2"/>
                <a:r>
                  <a:rPr lang="en-US" i="1" dirty="0"/>
                  <a:t>P(X=4| even number)=1/3</a:t>
                </a:r>
                <a:endParaRPr lang="en-US" dirty="0"/>
              </a:p>
              <a:p>
                <a:pPr lvl="1"/>
                <a14:m>
                  <m:oMath xmlns:m="http://schemas.openxmlformats.org/officeDocument/2006/math">
                    <m:r>
                      <a:rPr lang="en-US" i="1">
                        <a:latin typeface="Cambria Math"/>
                      </a:rPr>
                      <m:t>𝑃</m:t>
                    </m:r>
                    <m:r>
                      <a:rPr lang="en-US" i="1">
                        <a:latin typeface="Cambria Math"/>
                      </a:rPr>
                      <m:t>(</m:t>
                    </m:r>
                    <m:r>
                      <a:rPr lang="en-US" i="1">
                        <a:latin typeface="Cambria Math"/>
                      </a:rPr>
                      <m:t>𝐴</m:t>
                    </m:r>
                    <m:r>
                      <a:rPr lang="en-US" i="1">
                        <a:latin typeface="Cambria Math"/>
                      </a:rPr>
                      <m:t>|</m:t>
                    </m:r>
                    <m:r>
                      <a:rPr lang="en-US" i="1">
                        <a:latin typeface="Cambria Math"/>
                      </a:rPr>
                      <m:t>𝐵</m:t>
                    </m:r>
                    <m:r>
                      <a:rPr lang="en-US" i="1">
                        <a:latin typeface="Cambria Math"/>
                      </a:rPr>
                      <m:t>)=</m:t>
                    </m:r>
                    <m:f>
                      <m:fPr>
                        <m:ctrlPr>
                          <a:rPr lang="en-US" i="1">
                            <a:latin typeface="Cambria Math" panose="02040503050406030204" pitchFamily="18" charset="0"/>
                          </a:rPr>
                        </m:ctrlPr>
                      </m:fPr>
                      <m:num>
                        <m:r>
                          <a:rPr lang="en-US" i="1">
                            <a:latin typeface="Cambria Math"/>
                          </a:rPr>
                          <m:t>𝑃</m:t>
                        </m:r>
                        <m:r>
                          <a:rPr lang="en-US" i="1">
                            <a:latin typeface="Cambria Math"/>
                          </a:rPr>
                          <m:t>(</m:t>
                        </m:r>
                        <m:r>
                          <a:rPr lang="en-US" i="1">
                            <a:latin typeface="Cambria Math"/>
                          </a:rPr>
                          <m:t>𝐴</m:t>
                        </m:r>
                        <m:r>
                          <a:rPr lang="en-US" i="1">
                            <a:latin typeface="Cambria Math"/>
                            <a:ea typeface="Cambria Math"/>
                          </a:rPr>
                          <m:t>∩</m:t>
                        </m:r>
                        <m:r>
                          <a:rPr lang="en-US" i="1">
                            <a:latin typeface="Cambria Math"/>
                            <a:ea typeface="Cambria Math"/>
                          </a:rPr>
                          <m:t>𝐵</m:t>
                        </m:r>
                        <m:r>
                          <a:rPr lang="en-US" i="1">
                            <a:latin typeface="Cambria Math"/>
                          </a:rPr>
                          <m:t>)</m:t>
                        </m:r>
                      </m:num>
                      <m:den>
                        <m:r>
                          <a:rPr lang="en-US" i="1">
                            <a:latin typeface="Cambria Math"/>
                          </a:rPr>
                          <m:t>𝑃</m:t>
                        </m:r>
                        <m:r>
                          <a:rPr lang="en-US" i="1">
                            <a:latin typeface="Cambria Math"/>
                          </a:rPr>
                          <m:t>(</m:t>
                        </m:r>
                        <m:r>
                          <a:rPr lang="en-US" i="1">
                            <a:latin typeface="Cambria Math"/>
                          </a:rPr>
                          <m:t>𝐵</m:t>
                        </m:r>
                        <m:r>
                          <a:rPr lang="en-US" i="1">
                            <a:latin typeface="Cambria Math"/>
                          </a:rPr>
                          <m:t>)</m:t>
                        </m:r>
                      </m:den>
                    </m:f>
                  </m:oMath>
                </a14:m>
                <a:r>
                  <a:rPr lang="en-US" dirty="0"/>
                  <a:t> </a:t>
                </a:r>
              </a:p>
              <a:p>
                <a:pPr lvl="2"/>
                <a14:m>
                  <m:oMath xmlns:m="http://schemas.openxmlformats.org/officeDocument/2006/math">
                    <m:r>
                      <a:rPr lang="en-US" i="1">
                        <a:latin typeface="Cambria Math"/>
                      </a:rPr>
                      <m:t>𝑃</m:t>
                    </m:r>
                    <m:r>
                      <a:rPr lang="en-US" i="1">
                        <a:latin typeface="Cambria Math"/>
                      </a:rPr>
                      <m:t>(</m:t>
                    </m:r>
                    <m:r>
                      <a:rPr lang="en-US" i="1">
                        <a:latin typeface="Cambria Math"/>
                      </a:rPr>
                      <m:t>𝐴</m:t>
                    </m:r>
                    <m:r>
                      <a:rPr lang="en-US" i="1">
                        <a:latin typeface="Cambria Math"/>
                        <a:ea typeface="Cambria Math"/>
                      </a:rPr>
                      <m:t>∩</m:t>
                    </m:r>
                    <m:r>
                      <a:rPr lang="en-US" i="1">
                        <a:latin typeface="Cambria Math"/>
                        <a:ea typeface="Cambria Math"/>
                      </a:rPr>
                      <m:t>𝐵</m:t>
                    </m:r>
                  </m:oMath>
                </a14:m>
                <a:r>
                  <a:rPr lang="en-US" dirty="0"/>
                  <a:t>) is the probability of A and B</a:t>
                </a:r>
              </a:p>
              <a:p>
                <a:pPr lvl="2"/>
                <a:r>
                  <a:rPr lang="en-US" dirty="0"/>
                  <a:t>E</a:t>
                </a:r>
                <a:r>
                  <a:rPr lang="en-US" baseline="-25000" dirty="0"/>
                  <a:t>A</a:t>
                </a:r>
                <a:r>
                  <a:rPr lang="en-US" dirty="0"/>
                  <a:t>={4}, E</a:t>
                </a:r>
                <a:r>
                  <a:rPr lang="en-US" baseline="-25000" dirty="0"/>
                  <a:t>B</a:t>
                </a:r>
                <a:r>
                  <a:rPr lang="en-US" dirty="0"/>
                  <a:t>={2,4,6} then </a:t>
                </a:r>
                <a:r>
                  <a:rPr lang="en-US" dirty="0" err="1"/>
                  <a:t>E</a:t>
                </a:r>
                <a:r>
                  <a:rPr lang="en-US" baseline="-25000" dirty="0" err="1"/>
                  <a:t>AnB</a:t>
                </a:r>
                <a:r>
                  <a:rPr lang="en-US" dirty="0"/>
                  <a:t>={4}</a:t>
                </a:r>
              </a:p>
              <a:p>
                <a:pPr lvl="2"/>
                <a14:m>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𝐴</m:t>
                        </m:r>
                        <m:r>
                          <a:rPr lang="en-US" i="1">
                            <a:latin typeface="Cambria Math"/>
                            <a:ea typeface="Cambria Math"/>
                          </a:rPr>
                          <m:t>∩</m:t>
                        </m:r>
                        <m:r>
                          <a:rPr lang="en-US" i="1">
                            <a:latin typeface="Cambria Math"/>
                            <a:ea typeface="Cambria Math"/>
                          </a:rPr>
                          <m:t>𝐵</m:t>
                        </m:r>
                      </m:e>
                    </m:d>
                    <m:r>
                      <a:rPr lang="en-US">
                        <a:latin typeface="Cambria Math"/>
                        <a:ea typeface="Cambria Math"/>
                      </a:rPr>
                      <m:t>=</m:t>
                    </m:r>
                    <m:f>
                      <m:fPr>
                        <m:ctrlPr>
                          <a:rPr lang="en-US" i="1">
                            <a:latin typeface="Cambria Math" panose="02040503050406030204" pitchFamily="18" charset="0"/>
                            <a:ea typeface="Cambria Math"/>
                          </a:rPr>
                        </m:ctrlPr>
                      </m:fPr>
                      <m:num>
                        <m:r>
                          <a:rPr lang="en-US">
                            <a:latin typeface="Cambria Math"/>
                            <a:ea typeface="Cambria Math"/>
                          </a:rPr>
                          <m:t>1</m:t>
                        </m:r>
                      </m:num>
                      <m:den>
                        <m:r>
                          <a:rPr lang="en-US">
                            <a:latin typeface="Cambria Math"/>
                            <a:ea typeface="Cambria Math"/>
                          </a:rPr>
                          <m:t>6</m:t>
                        </m:r>
                      </m:den>
                    </m:f>
                  </m:oMath>
                </a14:m>
                <a:endParaRPr lang="en-US" dirty="0">
                  <a:ea typeface="Cambria Math"/>
                </a:endParaRPr>
              </a:p>
              <a:p>
                <a:pPr lvl="2"/>
                <a14:m>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𝐵</m:t>
                        </m:r>
                      </m:e>
                    </m:d>
                    <m:r>
                      <a:rPr lang="en-US" i="1">
                        <a:latin typeface="Cambria Math"/>
                      </a:rPr>
                      <m:t>=</m:t>
                    </m:r>
                    <m:f>
                      <m:fPr>
                        <m:ctrlPr>
                          <a:rPr lang="en-US" i="1">
                            <a:latin typeface="Cambria Math" panose="02040503050406030204" pitchFamily="18" charset="0"/>
                          </a:rPr>
                        </m:ctrlPr>
                      </m:fPr>
                      <m:num>
                        <m:r>
                          <a:rPr lang="en-US" i="1">
                            <a:latin typeface="Cambria Math"/>
                          </a:rPr>
                          <m:t>1</m:t>
                        </m:r>
                      </m:num>
                      <m:den>
                        <m:r>
                          <a:rPr lang="en-US" i="1">
                            <a:latin typeface="Cambria Math"/>
                          </a:rPr>
                          <m:t>2</m:t>
                        </m:r>
                      </m:den>
                    </m:f>
                  </m:oMath>
                </a14:m>
                <a:endParaRPr lang="en-US" dirty="0"/>
              </a:p>
              <a:p>
                <a:pPr lvl="2"/>
                <a14:m>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𝐴</m:t>
                        </m:r>
                      </m:e>
                      <m:e>
                        <m:r>
                          <a:rPr lang="en-US" i="1">
                            <a:latin typeface="Cambria Math"/>
                          </a:rPr>
                          <m:t>𝐵</m:t>
                        </m:r>
                      </m:e>
                    </m:d>
                    <m:r>
                      <a:rPr lang="en-US" i="1">
                        <a:latin typeface="Cambria Math"/>
                      </a:rPr>
                      <m:t>=</m:t>
                    </m:r>
                    <m:f>
                      <m:fPr>
                        <m:ctrlPr>
                          <a:rPr lang="en-US" i="1">
                            <a:latin typeface="Cambria Math" panose="02040503050406030204" pitchFamily="18" charset="0"/>
                          </a:rPr>
                        </m:ctrlPr>
                      </m:fPr>
                      <m:num>
                        <m:r>
                          <a:rPr lang="en-US" i="1">
                            <a:latin typeface="Cambria Math"/>
                          </a:rPr>
                          <m:t>𝑃</m:t>
                        </m:r>
                        <m:d>
                          <m:dPr>
                            <m:ctrlPr>
                              <a:rPr lang="en-US" i="1">
                                <a:latin typeface="Cambria Math" panose="02040503050406030204" pitchFamily="18" charset="0"/>
                              </a:rPr>
                            </m:ctrlPr>
                          </m:dPr>
                          <m:e>
                            <m:r>
                              <a:rPr lang="en-US" i="1">
                                <a:latin typeface="Cambria Math"/>
                              </a:rPr>
                              <m:t>𝐴</m:t>
                            </m:r>
                            <m:r>
                              <a:rPr lang="en-US" i="1">
                                <a:latin typeface="Cambria Math"/>
                                <a:ea typeface="Cambria Math"/>
                              </a:rPr>
                              <m:t>∩</m:t>
                            </m:r>
                            <m:r>
                              <a:rPr lang="en-US" i="1">
                                <a:latin typeface="Cambria Math"/>
                                <a:ea typeface="Cambria Math"/>
                              </a:rPr>
                              <m:t>𝐵</m:t>
                            </m:r>
                          </m:e>
                        </m:d>
                      </m:num>
                      <m:den>
                        <m:r>
                          <a:rPr lang="en-US" i="1">
                            <a:latin typeface="Cambria Math"/>
                          </a:rPr>
                          <m:t>𝑃</m:t>
                        </m:r>
                        <m:d>
                          <m:dPr>
                            <m:ctrlPr>
                              <a:rPr lang="en-US" i="1">
                                <a:latin typeface="Cambria Math" panose="02040503050406030204" pitchFamily="18" charset="0"/>
                              </a:rPr>
                            </m:ctrlPr>
                          </m:dPr>
                          <m:e>
                            <m:r>
                              <a:rPr lang="en-US" i="1">
                                <a:latin typeface="Cambria Math"/>
                              </a:rPr>
                              <m:t>𝐵</m:t>
                            </m:r>
                          </m:e>
                        </m:d>
                      </m:den>
                    </m:f>
                    <m:r>
                      <a:rPr lang="en-US">
                        <a:latin typeface="Cambria Math"/>
                      </a:rPr>
                      <m:t>=</m:t>
                    </m:r>
                    <m:f>
                      <m:fPr>
                        <m:ctrlPr>
                          <a:rPr lang="en-US" i="1">
                            <a:latin typeface="Cambria Math" panose="02040503050406030204" pitchFamily="18" charset="0"/>
                          </a:rPr>
                        </m:ctrlPr>
                      </m:fPr>
                      <m:num>
                        <m:f>
                          <m:fPr>
                            <m:ctrlPr>
                              <a:rPr lang="en-US" i="1">
                                <a:latin typeface="Cambria Math" panose="02040503050406030204" pitchFamily="18" charset="0"/>
                              </a:rPr>
                            </m:ctrlPr>
                          </m:fPr>
                          <m:num>
                            <m:r>
                              <a:rPr lang="en-US">
                                <a:latin typeface="Cambria Math"/>
                              </a:rPr>
                              <m:t>1</m:t>
                            </m:r>
                          </m:num>
                          <m:den>
                            <m:r>
                              <a:rPr lang="en-US">
                                <a:latin typeface="Cambria Math"/>
                              </a:rPr>
                              <m:t>6</m:t>
                            </m:r>
                          </m:den>
                        </m:f>
                      </m:num>
                      <m:den>
                        <m:f>
                          <m:fPr>
                            <m:ctrlPr>
                              <a:rPr lang="en-US" i="1">
                                <a:latin typeface="Cambria Math" panose="02040503050406030204" pitchFamily="18" charset="0"/>
                              </a:rPr>
                            </m:ctrlPr>
                          </m:fPr>
                          <m:num>
                            <m:r>
                              <a:rPr lang="en-US">
                                <a:latin typeface="Cambria Math"/>
                              </a:rPr>
                              <m:t>1</m:t>
                            </m:r>
                          </m:num>
                          <m:den>
                            <m:r>
                              <a:rPr lang="en-US">
                                <a:latin typeface="Cambria Math"/>
                              </a:rPr>
                              <m:t>2</m:t>
                            </m:r>
                          </m:den>
                        </m:f>
                      </m:den>
                    </m:f>
                    <m:r>
                      <a:rPr lang="en-US">
                        <a:latin typeface="Cambria Math"/>
                      </a:rPr>
                      <m:t>=</m:t>
                    </m:r>
                    <m:f>
                      <m:fPr>
                        <m:ctrlPr>
                          <a:rPr lang="en-US" i="1">
                            <a:latin typeface="Cambria Math" panose="02040503050406030204" pitchFamily="18" charset="0"/>
                          </a:rPr>
                        </m:ctrlPr>
                      </m:fPr>
                      <m:num>
                        <m:r>
                          <a:rPr lang="en-US">
                            <a:latin typeface="Cambria Math"/>
                          </a:rPr>
                          <m:t>1</m:t>
                        </m:r>
                      </m:num>
                      <m:den>
                        <m:r>
                          <a:rPr lang="en-US">
                            <a:latin typeface="Cambria Math"/>
                          </a:rPr>
                          <m:t>3</m:t>
                        </m:r>
                      </m:den>
                    </m:f>
                  </m:oMath>
                </a14:m>
                <a:endParaRPr lang="en-US" dirty="0">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180442"/>
              </a:xfrm>
              <a:blipFill>
                <a:blip r:embed="rId2"/>
                <a:stretch>
                  <a:fillRect l="-956" t="-2588"/>
                </a:stretch>
              </a:blipFill>
            </p:spPr>
            <p:txBody>
              <a:bodyPr/>
              <a:lstStyle/>
              <a:p>
                <a:r>
                  <a:rPr lang="en-US">
                    <a:noFill/>
                  </a:rPr>
                  <a:t> </a:t>
                </a:r>
              </a:p>
            </p:txBody>
          </p:sp>
        </mc:Fallback>
      </mc:AlternateContent>
    </p:spTree>
    <p:extLst>
      <p:ext uri="{BB962C8B-B14F-4D97-AF65-F5344CB8AC3E}">
        <p14:creationId xmlns:p14="http://schemas.microsoft.com/office/powerpoint/2010/main" val="273838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2" y="1312433"/>
            <a:ext cx="9521428" cy="4864530"/>
          </a:xfrm>
        </p:spPr>
        <p:txBody>
          <a:bodyPr>
            <a:normAutofit/>
          </a:bodyPr>
          <a:lstStyle/>
          <a:p>
            <a:r>
              <a:rPr lang="en-US" dirty="0">
                <a:solidFill>
                  <a:schemeClr val="bg2"/>
                </a:solidFill>
              </a:rPr>
              <a:t>Probability Theory Review</a:t>
            </a:r>
          </a:p>
          <a:p>
            <a:endParaRPr lang="en-US" dirty="0"/>
          </a:p>
          <a:p>
            <a:r>
              <a:rPr lang="en-US" dirty="0"/>
              <a:t>Classifying Simulations (SS Chapter 3.1)</a:t>
            </a:r>
          </a:p>
          <a:p>
            <a:endParaRPr lang="en-US" dirty="0"/>
          </a:p>
          <a:p>
            <a:r>
              <a:rPr lang="en-US" dirty="0">
                <a:solidFill>
                  <a:schemeClr val="bg2"/>
                </a:solidFill>
              </a:rPr>
              <a:t>Monte Carlo Simulation</a:t>
            </a:r>
          </a:p>
          <a:p>
            <a:pPr lvl="1"/>
            <a:r>
              <a:rPr lang="en-US" dirty="0">
                <a:solidFill>
                  <a:schemeClr val="bg2"/>
                </a:solidFill>
              </a:rPr>
              <a:t>Static Stochastic Monte Carlo and Excel </a:t>
            </a:r>
          </a:p>
          <a:p>
            <a:pPr lvl="1"/>
            <a:r>
              <a:rPr lang="en-US" dirty="0">
                <a:solidFill>
                  <a:schemeClr val="bg2"/>
                </a:solidFill>
              </a:rPr>
              <a:t>Monte Carlo Simulation Example </a:t>
            </a:r>
          </a:p>
          <a:p>
            <a:pPr lvl="1"/>
            <a:r>
              <a:rPr lang="en-US" dirty="0">
                <a:solidFill>
                  <a:schemeClr val="bg2"/>
                </a:solidFill>
              </a:rPr>
              <a:t>Dynamic Simulation and Software Options</a:t>
            </a:r>
          </a:p>
          <a:p>
            <a:endParaRPr lang="en-US" dirty="0">
              <a:solidFill>
                <a:schemeClr val="bg2"/>
              </a:solidFill>
            </a:endParaRPr>
          </a:p>
          <a:p>
            <a:r>
              <a:rPr lang="en-US" dirty="0">
                <a:solidFill>
                  <a:schemeClr val="bg2"/>
                </a:solidFill>
              </a:rPr>
              <a:t>Monte Carlo Simulation Project Overview</a:t>
            </a:r>
          </a:p>
          <a:p>
            <a:pPr marL="0" indent="0">
              <a:buNone/>
            </a:pPr>
            <a:endParaRPr lang="en-US" dirty="0"/>
          </a:p>
          <a:p>
            <a:pPr marL="0" indent="0">
              <a:buNone/>
            </a:pPr>
            <a:endParaRPr lang="en-US" dirty="0"/>
          </a:p>
          <a:p>
            <a:pPr lvl="1"/>
            <a:endParaRPr lang="en-US" dirty="0"/>
          </a:p>
        </p:txBody>
      </p:sp>
    </p:spTree>
    <p:extLst>
      <p:ext uri="{BB962C8B-B14F-4D97-AF65-F5344CB8AC3E}">
        <p14:creationId xmlns:p14="http://schemas.microsoft.com/office/powerpoint/2010/main" val="4143482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Classifying Simulations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It is a powerful modeling approach (physical vs. analytical vs. simulation)</a:t>
            </a:r>
          </a:p>
          <a:p>
            <a:pPr lvl="1"/>
            <a:r>
              <a:rPr lang="en-US" dirty="0"/>
              <a:t>Enables analyzing systems in a practical manner</a:t>
            </a:r>
          </a:p>
          <a:p>
            <a:endParaRPr lang="en-US" dirty="0"/>
          </a:p>
          <a:p>
            <a:r>
              <a:rPr lang="en-US" dirty="0"/>
              <a:t>“Simulation” is a very broad term – </a:t>
            </a:r>
            <a:r>
              <a:rPr lang="en-US" i="1" dirty="0"/>
              <a:t>too</a:t>
            </a:r>
            <a:r>
              <a:rPr lang="en-US" dirty="0"/>
              <a:t> broad, so need to qualify, and classify different kinds of simulation</a:t>
            </a:r>
          </a:p>
          <a:p>
            <a:pPr lvl="1">
              <a:spcBef>
                <a:spcPts val="600"/>
              </a:spcBef>
            </a:pPr>
            <a:r>
              <a:rPr lang="en-US" dirty="0"/>
              <a:t>Static vs. dynamic</a:t>
            </a:r>
          </a:p>
          <a:p>
            <a:pPr lvl="1">
              <a:spcBef>
                <a:spcPts val="600"/>
              </a:spcBef>
            </a:pPr>
            <a:r>
              <a:rPr lang="en-US" dirty="0"/>
              <a:t>Continuous-change vs. discrete-change for dynamic models</a:t>
            </a:r>
          </a:p>
          <a:p>
            <a:pPr lvl="1">
              <a:spcBef>
                <a:spcPts val="600"/>
              </a:spcBef>
            </a:pPr>
            <a:r>
              <a:rPr lang="en-US" dirty="0"/>
              <a:t>Deterministic vs. stochastic</a:t>
            </a:r>
          </a:p>
          <a:p>
            <a:pPr lvl="1"/>
            <a:endParaRPr lang="en-US" dirty="0"/>
          </a:p>
        </p:txBody>
      </p:sp>
    </p:spTree>
    <p:extLst>
      <p:ext uri="{BB962C8B-B14F-4D97-AF65-F5344CB8AC3E}">
        <p14:creationId xmlns:p14="http://schemas.microsoft.com/office/powerpoint/2010/main" val="91410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Classifying Simulations</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solidFill>
                  <a:srgbClr val="C00000"/>
                </a:solidFill>
              </a:rPr>
              <a:t>Static</a:t>
            </a:r>
            <a:r>
              <a:rPr lang="en-US" dirty="0"/>
              <a:t> vs. </a:t>
            </a:r>
            <a:r>
              <a:rPr lang="en-US" dirty="0">
                <a:solidFill>
                  <a:srgbClr val="C00000"/>
                </a:solidFill>
              </a:rPr>
              <a:t>Dynamic</a:t>
            </a:r>
          </a:p>
          <a:p>
            <a:pPr lvl="1"/>
            <a:r>
              <a:rPr lang="en-US" i="1" dirty="0">
                <a:solidFill>
                  <a:srgbClr val="C00000"/>
                </a:solidFill>
              </a:rPr>
              <a:t>Static</a:t>
            </a:r>
            <a:r>
              <a:rPr lang="en-US" dirty="0">
                <a:solidFill>
                  <a:srgbClr val="C00000"/>
                </a:solidFill>
              </a:rPr>
              <a:t>: </a:t>
            </a:r>
            <a:r>
              <a:rPr lang="en-US" dirty="0"/>
              <a:t>Passage of time plays no active or meaningful role in model execution; can often be done in spreadsheets</a:t>
            </a:r>
          </a:p>
          <a:p>
            <a:pPr lvl="2"/>
            <a:r>
              <a:rPr lang="en-US" dirty="0"/>
              <a:t>Random numbers to simulate gambling games or lottery, or to estimate the value of an integral or inverse of a matrix</a:t>
            </a:r>
          </a:p>
          <a:p>
            <a:pPr lvl="2"/>
            <a:r>
              <a:rPr lang="en-US" dirty="0"/>
              <a:t>Evaluate financial profit &amp; loss statement subject to uncertainties in demand, interest rates, etc. … get distribution/histogram of possible profits &amp; losses to display risk, rather than just a single “projection”</a:t>
            </a:r>
          </a:p>
          <a:p>
            <a:pPr lvl="1">
              <a:spcBef>
                <a:spcPts val="1000"/>
              </a:spcBef>
            </a:pPr>
            <a:r>
              <a:rPr lang="en-US" i="1" dirty="0">
                <a:solidFill>
                  <a:srgbClr val="C00000"/>
                </a:solidFill>
              </a:rPr>
              <a:t>Dynamic</a:t>
            </a:r>
            <a:r>
              <a:rPr lang="en-US" dirty="0">
                <a:solidFill>
                  <a:srgbClr val="C00000"/>
                </a:solidFill>
              </a:rPr>
              <a:t>: </a:t>
            </a:r>
            <a:r>
              <a:rPr lang="en-US" dirty="0"/>
              <a:t>Passage of time is essential and explicit in model execution; can almost never be done in spreadsheets except for </a:t>
            </a:r>
            <a:r>
              <a:rPr lang="en-US" i="1" dirty="0"/>
              <a:t>very</a:t>
            </a:r>
            <a:r>
              <a:rPr lang="en-US" dirty="0"/>
              <a:t> simple models</a:t>
            </a:r>
          </a:p>
          <a:p>
            <a:pPr lvl="2"/>
            <a:r>
              <a:rPr lang="en-US" dirty="0"/>
              <a:t>Queueing systems, dynamic inventory systems, supply chains</a:t>
            </a:r>
          </a:p>
          <a:p>
            <a:pPr lvl="2"/>
            <a:r>
              <a:rPr lang="en-US" dirty="0"/>
              <a:t>Key variable: simulation </a:t>
            </a:r>
            <a:r>
              <a:rPr lang="en-US" i="1" dirty="0"/>
              <a:t>clock</a:t>
            </a:r>
            <a:r>
              <a:rPr lang="en-US" dirty="0"/>
              <a:t> = current value of (simulated) time</a:t>
            </a:r>
          </a:p>
          <a:p>
            <a:pPr lvl="3"/>
            <a:r>
              <a:rPr lang="en-US" dirty="0"/>
              <a:t>Should be real-valued, not integer-valued since simulated time is continuous</a:t>
            </a:r>
          </a:p>
          <a:p>
            <a:pPr lvl="3"/>
            <a:r>
              <a:rPr lang="en-US" dirty="0"/>
              <a:t>Should jump between (exact) event times in continuous time, not be time-stepped or time-sliced … wasted computer effort, model distortion since event times are rounded to nearest time-step boundary</a:t>
            </a:r>
          </a:p>
        </p:txBody>
      </p:sp>
    </p:spTree>
    <p:extLst>
      <p:ext uri="{BB962C8B-B14F-4D97-AF65-F5344CB8AC3E}">
        <p14:creationId xmlns:p14="http://schemas.microsoft.com/office/powerpoint/2010/main" val="134828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Classifying Simulations</a:t>
            </a:r>
          </a:p>
        </p:txBody>
      </p:sp>
      <p:sp>
        <p:nvSpPr>
          <p:cNvPr id="3" name="Content Placeholder 2"/>
          <p:cNvSpPr>
            <a:spLocks noGrp="1"/>
          </p:cNvSpPr>
          <p:nvPr>
            <p:ph idx="1"/>
          </p:nvPr>
        </p:nvSpPr>
        <p:spPr>
          <a:xfrm>
            <a:off x="355002" y="1312433"/>
            <a:ext cx="11478410" cy="4864530"/>
          </a:xfrm>
        </p:spPr>
        <p:txBody>
          <a:bodyPr>
            <a:normAutofit fontScale="92500" lnSpcReduction="20000"/>
          </a:bodyPr>
          <a:lstStyle/>
          <a:p>
            <a:r>
              <a:rPr lang="en-US" dirty="0">
                <a:solidFill>
                  <a:srgbClr val="C00000"/>
                </a:solidFill>
              </a:rPr>
              <a:t>Continuous-change</a:t>
            </a:r>
            <a:r>
              <a:rPr lang="en-US" dirty="0"/>
              <a:t> vs. </a:t>
            </a:r>
            <a:r>
              <a:rPr lang="en-US" dirty="0">
                <a:solidFill>
                  <a:srgbClr val="C00000"/>
                </a:solidFill>
              </a:rPr>
              <a:t>discrete-change</a:t>
            </a:r>
            <a:r>
              <a:rPr lang="en-US" dirty="0"/>
              <a:t> (for dynamic models)</a:t>
            </a:r>
          </a:p>
          <a:p>
            <a:pPr lvl="1"/>
            <a:r>
              <a:rPr lang="en-US" dirty="0"/>
              <a:t>Dynamic models are described by </a:t>
            </a:r>
            <a:r>
              <a:rPr lang="en-US" i="1" dirty="0"/>
              <a:t>state variables</a:t>
            </a:r>
            <a:r>
              <a:rPr lang="en-US" dirty="0"/>
              <a:t> that describe the state as it changes over time (queue length, inventory level)</a:t>
            </a:r>
          </a:p>
          <a:p>
            <a:pPr lvl="1"/>
            <a:r>
              <a:rPr lang="en-US" i="1" dirty="0">
                <a:solidFill>
                  <a:srgbClr val="C00000"/>
                </a:solidFill>
              </a:rPr>
              <a:t>Continuous-change</a:t>
            </a:r>
            <a:r>
              <a:rPr lang="en-US" dirty="0">
                <a:solidFill>
                  <a:srgbClr val="C00000"/>
                </a:solidFill>
              </a:rPr>
              <a:t>: </a:t>
            </a:r>
            <a:r>
              <a:rPr lang="en-US" dirty="0"/>
              <a:t>State variables can change continuously over time, at any point in continuous time</a:t>
            </a:r>
          </a:p>
          <a:p>
            <a:pPr lvl="2"/>
            <a:r>
              <a:rPr lang="en-US" dirty="0"/>
              <a:t>Fluid in a tank, pressure, strength level of a combat force</a:t>
            </a:r>
          </a:p>
          <a:p>
            <a:pPr lvl="2"/>
            <a:r>
              <a:rPr lang="en-US" dirty="0"/>
              <a:t>Often described by differential equations, solved numerically</a:t>
            </a:r>
          </a:p>
          <a:p>
            <a:pPr lvl="2"/>
            <a:r>
              <a:rPr lang="en-US" dirty="0" err="1"/>
              <a:t>Lanchester</a:t>
            </a:r>
            <a:r>
              <a:rPr lang="en-US" dirty="0"/>
              <a:t> combat equations:  </a:t>
            </a:r>
            <a:r>
              <a:rPr lang="en-US" i="1" dirty="0"/>
              <a:t>x</a:t>
            </a:r>
            <a:r>
              <a:rPr lang="en-US" dirty="0"/>
              <a:t>(</a:t>
            </a:r>
            <a:r>
              <a:rPr lang="en-US" i="1" dirty="0"/>
              <a:t>t</a:t>
            </a:r>
            <a:r>
              <a:rPr lang="en-US" dirty="0"/>
              <a:t>), </a:t>
            </a:r>
            <a:r>
              <a:rPr lang="en-US" i="1" dirty="0"/>
              <a:t>y</a:t>
            </a:r>
            <a:r>
              <a:rPr lang="en-US" dirty="0"/>
              <a:t>(</a:t>
            </a:r>
            <a:r>
              <a:rPr lang="en-US" i="1" dirty="0"/>
              <a:t>t</a:t>
            </a:r>
            <a:r>
              <a:rPr lang="en-US" dirty="0"/>
              <a:t>) strengths of opposing forces at time </a:t>
            </a:r>
            <a:r>
              <a:rPr lang="en-US" i="1" dirty="0"/>
              <a:t>t</a:t>
            </a:r>
            <a:r>
              <a:rPr lang="en-US" dirty="0"/>
              <a:t>, </a:t>
            </a:r>
            <a:r>
              <a:rPr lang="en-US" i="1" dirty="0"/>
              <a:t>dx</a:t>
            </a:r>
            <a:r>
              <a:rPr lang="en-US" dirty="0"/>
              <a:t>/</a:t>
            </a:r>
            <a:r>
              <a:rPr lang="en-US" i="1" dirty="0" err="1"/>
              <a:t>dt</a:t>
            </a:r>
            <a:r>
              <a:rPr lang="en-US" dirty="0"/>
              <a:t> = –</a:t>
            </a:r>
            <a:r>
              <a:rPr lang="en-US" i="1" dirty="0"/>
              <a:t>a</a:t>
            </a:r>
            <a:r>
              <a:rPr lang="en-US" dirty="0"/>
              <a:t> </a:t>
            </a:r>
            <a:r>
              <a:rPr lang="en-US" i="1" dirty="0"/>
              <a:t>y</a:t>
            </a:r>
            <a:r>
              <a:rPr lang="en-US" dirty="0"/>
              <a:t>(</a:t>
            </a:r>
            <a:r>
              <a:rPr lang="en-US" i="1" dirty="0"/>
              <a:t>t</a:t>
            </a:r>
            <a:r>
              <a:rPr lang="en-US" dirty="0"/>
              <a:t>), </a:t>
            </a:r>
            <a:r>
              <a:rPr lang="en-US" i="1" dirty="0" err="1"/>
              <a:t>dy</a:t>
            </a:r>
            <a:r>
              <a:rPr lang="en-US" dirty="0"/>
              <a:t>/</a:t>
            </a:r>
            <a:r>
              <a:rPr lang="en-US" i="1" dirty="0" err="1"/>
              <a:t>dt</a:t>
            </a:r>
            <a:r>
              <a:rPr lang="en-US" dirty="0"/>
              <a:t> = – </a:t>
            </a:r>
            <a:r>
              <a:rPr lang="en-US" i="1" dirty="0"/>
              <a:t>b</a:t>
            </a:r>
            <a:r>
              <a:rPr lang="en-US" dirty="0"/>
              <a:t> </a:t>
            </a:r>
            <a:r>
              <a:rPr lang="en-US" i="1" dirty="0"/>
              <a:t>x</a:t>
            </a:r>
            <a:r>
              <a:rPr lang="en-US" dirty="0"/>
              <a:t>(</a:t>
            </a:r>
            <a:r>
              <a:rPr lang="en-US" i="1" dirty="0"/>
              <a:t>t</a:t>
            </a:r>
            <a:r>
              <a:rPr lang="en-US" dirty="0"/>
              <a:t>), </a:t>
            </a:r>
            <a:r>
              <a:rPr lang="en-US" i="1" dirty="0"/>
              <a:t>a</a:t>
            </a:r>
            <a:r>
              <a:rPr lang="en-US" dirty="0"/>
              <a:t> and </a:t>
            </a:r>
            <a:r>
              <a:rPr lang="en-US" i="1" dirty="0"/>
              <a:t>b</a:t>
            </a:r>
            <a:r>
              <a:rPr lang="en-US" dirty="0"/>
              <a:t> positive constants</a:t>
            </a:r>
          </a:p>
          <a:p>
            <a:pPr lvl="1"/>
            <a:r>
              <a:rPr lang="en-US" i="1" dirty="0">
                <a:solidFill>
                  <a:srgbClr val="C00000"/>
                </a:solidFill>
              </a:rPr>
              <a:t>Discrete-change</a:t>
            </a:r>
            <a:r>
              <a:rPr lang="en-US" dirty="0">
                <a:solidFill>
                  <a:srgbClr val="C00000"/>
                </a:solidFill>
              </a:rPr>
              <a:t>: </a:t>
            </a:r>
            <a:r>
              <a:rPr lang="en-US" dirty="0"/>
              <a:t>State variables can change only at instantaneous, separated, discrete points in time</a:t>
            </a:r>
          </a:p>
          <a:p>
            <a:pPr lvl="2"/>
            <a:r>
              <a:rPr lang="en-US" dirty="0"/>
              <a:t>Most queueing models, many inventory models</a:t>
            </a:r>
          </a:p>
          <a:p>
            <a:pPr lvl="2"/>
            <a:r>
              <a:rPr lang="en-US" dirty="0"/>
              <a:t>Simulation clock takes on only values corresponding to the time of occurrence of these discrete events, so jumps from the time of one event to the time of the next event.. nothing in between</a:t>
            </a:r>
          </a:p>
          <a:p>
            <a:pPr lvl="2"/>
            <a:r>
              <a:rPr lang="en-US" dirty="0"/>
              <a:t>At time of each event, simulation logic alters state variables, other things (event calendar, statistical-tracking variables …)</a:t>
            </a:r>
          </a:p>
          <a:p>
            <a:pPr lvl="3"/>
            <a:r>
              <a:rPr lang="en-US" dirty="0"/>
              <a:t>Customers arrive at discrete time points</a:t>
            </a:r>
          </a:p>
          <a:p>
            <a:pPr lvl="3"/>
            <a:r>
              <a:rPr lang="en-US" dirty="0"/>
              <a:t>The number of customers in the system changes when a customer arrives</a:t>
            </a:r>
          </a:p>
        </p:txBody>
      </p:sp>
    </p:spTree>
    <p:extLst>
      <p:ext uri="{BB962C8B-B14F-4D97-AF65-F5344CB8AC3E}">
        <p14:creationId xmlns:p14="http://schemas.microsoft.com/office/powerpoint/2010/main" val="280210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Classifying Simulations</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solidFill>
                  <a:srgbClr val="C00000"/>
                </a:solidFill>
              </a:rPr>
              <a:t>Deterministic</a:t>
            </a:r>
            <a:r>
              <a:rPr lang="en-US" dirty="0"/>
              <a:t> vs. </a:t>
            </a:r>
            <a:r>
              <a:rPr lang="en-US" dirty="0">
                <a:solidFill>
                  <a:srgbClr val="C00000"/>
                </a:solidFill>
              </a:rPr>
              <a:t>stochastic</a:t>
            </a:r>
          </a:p>
          <a:p>
            <a:pPr lvl="1"/>
            <a:r>
              <a:rPr lang="en-US" i="1" dirty="0">
                <a:solidFill>
                  <a:srgbClr val="C00000"/>
                </a:solidFill>
              </a:rPr>
              <a:t>Deterministic</a:t>
            </a:r>
            <a:r>
              <a:rPr lang="en-US" dirty="0">
                <a:solidFill>
                  <a:srgbClr val="C00000"/>
                </a:solidFill>
              </a:rPr>
              <a:t>: </a:t>
            </a:r>
            <a:r>
              <a:rPr lang="en-US" dirty="0"/>
              <a:t>All input values are fixed, non-random constants</a:t>
            </a:r>
          </a:p>
          <a:p>
            <a:pPr lvl="2"/>
            <a:r>
              <a:rPr lang="en-US" dirty="0"/>
              <a:t>Manufacturing system with constant </a:t>
            </a:r>
            <a:r>
              <a:rPr lang="en-US" dirty="0" err="1"/>
              <a:t>interarrival</a:t>
            </a:r>
            <a:r>
              <a:rPr lang="en-US" dirty="0"/>
              <a:t>, service times</a:t>
            </a:r>
          </a:p>
          <a:p>
            <a:pPr lvl="2"/>
            <a:r>
              <a:rPr lang="en-US" dirty="0"/>
              <a:t>Get same results from multiple runs, unless your change input(s)</a:t>
            </a:r>
          </a:p>
          <a:p>
            <a:pPr lvl="1"/>
            <a:r>
              <a:rPr lang="en-US" i="1" dirty="0">
                <a:solidFill>
                  <a:srgbClr val="C00000"/>
                </a:solidFill>
              </a:rPr>
              <a:t>Stochastic</a:t>
            </a:r>
            <a:r>
              <a:rPr lang="en-US" dirty="0">
                <a:solidFill>
                  <a:srgbClr val="C00000"/>
                </a:solidFill>
              </a:rPr>
              <a:t>: </a:t>
            </a:r>
            <a:r>
              <a:rPr lang="en-US" dirty="0"/>
              <a:t>Some inputs are random </a:t>
            </a:r>
            <a:r>
              <a:rPr lang="en-US" i="1" dirty="0"/>
              <a:t>draws</a:t>
            </a:r>
            <a:r>
              <a:rPr lang="en-US" dirty="0"/>
              <a:t> (or </a:t>
            </a:r>
            <a:r>
              <a:rPr lang="en-US" i="1" dirty="0"/>
              <a:t>samples</a:t>
            </a:r>
            <a:r>
              <a:rPr lang="en-US" dirty="0"/>
              <a:t> or </a:t>
            </a:r>
            <a:r>
              <a:rPr lang="en-US" i="1" dirty="0"/>
              <a:t>realizations</a:t>
            </a:r>
            <a:r>
              <a:rPr lang="en-US" dirty="0"/>
              <a:t>) from probability distributions</a:t>
            </a:r>
          </a:p>
          <a:p>
            <a:pPr lvl="2"/>
            <a:r>
              <a:rPr lang="en-US" dirty="0"/>
              <a:t>Manufacturing system with </a:t>
            </a:r>
            <a:r>
              <a:rPr lang="en-US" dirty="0" err="1"/>
              <a:t>interarrival</a:t>
            </a:r>
            <a:r>
              <a:rPr lang="en-US" dirty="0"/>
              <a:t>, service times that vary according to probability distributions … must specify these input distributions from observed data</a:t>
            </a:r>
          </a:p>
          <a:p>
            <a:pPr lvl="2"/>
            <a:r>
              <a:rPr lang="en-US" dirty="0"/>
              <a:t>The random draws start with a random-number generator, so running model once provides only a sample (of size 1, not worth much) of what </a:t>
            </a:r>
            <a:r>
              <a:rPr lang="en-US" i="1" dirty="0"/>
              <a:t>could</a:t>
            </a:r>
            <a:r>
              <a:rPr lang="en-US" dirty="0"/>
              <a:t> happen</a:t>
            </a:r>
          </a:p>
          <a:p>
            <a:pPr lvl="2"/>
            <a:r>
              <a:rPr lang="en-US" dirty="0"/>
              <a:t>So, need to run it many times (or for a long time) to judge statistical behavior of output (precision of estimates, spread/risk or results)</a:t>
            </a:r>
          </a:p>
          <a:p>
            <a:pPr lvl="2"/>
            <a:r>
              <a:rPr lang="en-US" dirty="0"/>
              <a:t>Usually, subsequent </a:t>
            </a:r>
            <a:r>
              <a:rPr lang="en-US" i="1" dirty="0"/>
              <a:t>executions</a:t>
            </a:r>
            <a:r>
              <a:rPr lang="en-US" dirty="0"/>
              <a:t> of same model yield same results … instead, must </a:t>
            </a:r>
            <a:r>
              <a:rPr lang="en-US" i="1" dirty="0"/>
              <a:t>replicate</a:t>
            </a:r>
            <a:r>
              <a:rPr lang="en-US" dirty="0"/>
              <a:t> within </a:t>
            </a:r>
            <a:r>
              <a:rPr lang="en-US" i="1" dirty="0"/>
              <a:t>same</a:t>
            </a:r>
            <a:r>
              <a:rPr lang="en-US" dirty="0"/>
              <a:t> execution to keep going in fixed “random”-number sequence … it’s actually good that it’s fixed (debugging, variance reduction)</a:t>
            </a:r>
          </a:p>
        </p:txBody>
      </p:sp>
    </p:spTree>
    <p:extLst>
      <p:ext uri="{BB962C8B-B14F-4D97-AF65-F5344CB8AC3E}">
        <p14:creationId xmlns:p14="http://schemas.microsoft.com/office/powerpoint/2010/main" val="3849369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2" y="1312433"/>
            <a:ext cx="9521428" cy="4864530"/>
          </a:xfrm>
        </p:spPr>
        <p:txBody>
          <a:bodyPr>
            <a:normAutofit/>
          </a:bodyPr>
          <a:lstStyle/>
          <a:p>
            <a:r>
              <a:rPr lang="en-US" dirty="0">
                <a:solidFill>
                  <a:schemeClr val="bg2"/>
                </a:solidFill>
              </a:rPr>
              <a:t>Probability Theory Review</a:t>
            </a:r>
          </a:p>
          <a:p>
            <a:endParaRPr lang="en-US" dirty="0">
              <a:solidFill>
                <a:schemeClr val="bg2"/>
              </a:solidFill>
            </a:endParaRPr>
          </a:p>
          <a:p>
            <a:r>
              <a:rPr lang="en-US" dirty="0">
                <a:solidFill>
                  <a:schemeClr val="bg2"/>
                </a:solidFill>
              </a:rPr>
              <a:t>Classifying Simulations (SS Chapter 3.1)</a:t>
            </a:r>
          </a:p>
          <a:p>
            <a:endParaRPr lang="en-US" dirty="0"/>
          </a:p>
          <a:p>
            <a:r>
              <a:rPr lang="en-US" dirty="0"/>
              <a:t>Monte Carlo Simulation</a:t>
            </a:r>
          </a:p>
          <a:p>
            <a:pPr lvl="1"/>
            <a:r>
              <a:rPr lang="en-US" dirty="0"/>
              <a:t>Static Stochastic Monte Carlo and Excel </a:t>
            </a:r>
          </a:p>
          <a:p>
            <a:pPr lvl="1"/>
            <a:r>
              <a:rPr lang="en-US" dirty="0"/>
              <a:t>Monte Carlo Simulation Example </a:t>
            </a:r>
          </a:p>
          <a:p>
            <a:pPr lvl="1"/>
            <a:r>
              <a:rPr lang="en-US" dirty="0"/>
              <a:t>Dynamic Simulation and Software Options</a:t>
            </a:r>
          </a:p>
          <a:p>
            <a:endParaRPr lang="en-US" dirty="0"/>
          </a:p>
          <a:p>
            <a:r>
              <a:rPr lang="en-US" dirty="0">
                <a:solidFill>
                  <a:schemeClr val="bg2"/>
                </a:solidFill>
              </a:rPr>
              <a:t>Monte Carlo Simulation Project Overview</a:t>
            </a:r>
          </a:p>
          <a:p>
            <a:pPr marL="0" indent="0">
              <a:buNone/>
            </a:pPr>
            <a:endParaRPr lang="en-US" dirty="0"/>
          </a:p>
          <a:p>
            <a:pPr marL="0" indent="0">
              <a:buNone/>
            </a:pPr>
            <a:endParaRPr lang="en-US" dirty="0"/>
          </a:p>
          <a:p>
            <a:pPr lvl="1"/>
            <a:endParaRPr lang="en-US" dirty="0"/>
          </a:p>
        </p:txBody>
      </p:sp>
    </p:spTree>
    <p:extLst>
      <p:ext uri="{BB962C8B-B14F-4D97-AF65-F5344CB8AC3E}">
        <p14:creationId xmlns:p14="http://schemas.microsoft.com/office/powerpoint/2010/main" val="1124346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p:sp>
        <p:nvSpPr>
          <p:cNvPr id="3" name="Content Placeholder 2"/>
          <p:cNvSpPr>
            <a:spLocks noGrp="1"/>
          </p:cNvSpPr>
          <p:nvPr>
            <p:ph idx="1"/>
          </p:nvPr>
        </p:nvSpPr>
        <p:spPr>
          <a:xfrm>
            <a:off x="355002" y="1312433"/>
            <a:ext cx="11478410" cy="4864530"/>
          </a:xfrm>
        </p:spPr>
        <p:txBody>
          <a:bodyPr>
            <a:normAutofit fontScale="92500" lnSpcReduction="10000"/>
          </a:bodyPr>
          <a:lstStyle/>
          <a:p>
            <a:r>
              <a:rPr lang="en-US" dirty="0">
                <a:solidFill>
                  <a:srgbClr val="C00000"/>
                </a:solidFill>
              </a:rPr>
              <a:t>Monte Carlo Simulation:</a:t>
            </a:r>
          </a:p>
          <a:p>
            <a:pPr lvl="1"/>
            <a:r>
              <a:rPr lang="en-US" dirty="0"/>
              <a:t>Name comes from the Mediterranean gambling center.</a:t>
            </a:r>
          </a:p>
          <a:p>
            <a:pPr lvl="1"/>
            <a:r>
              <a:rPr lang="en-US" dirty="0"/>
              <a:t>Simplest form of stochastic simulation.</a:t>
            </a:r>
          </a:p>
          <a:p>
            <a:pPr lvl="1"/>
            <a:r>
              <a:rPr lang="en-US" dirty="0"/>
              <a:t>Sometimes used in spreadsheets and applications where the dynamic nature of most systems is not an issue</a:t>
            </a:r>
          </a:p>
          <a:p>
            <a:pPr lvl="1"/>
            <a:r>
              <a:rPr lang="en-US" dirty="0"/>
              <a:t>It can also be used for some dynamic systems (when the process relations are relatively easier to model)</a:t>
            </a:r>
          </a:p>
          <a:p>
            <a:r>
              <a:rPr lang="en-US" dirty="0"/>
              <a:t>Some examples with Excel</a:t>
            </a:r>
          </a:p>
          <a:p>
            <a:pPr lvl="1"/>
            <a:r>
              <a:rPr lang="en-US" dirty="0"/>
              <a:t>Throwing two dice</a:t>
            </a:r>
          </a:p>
          <a:p>
            <a:pPr lvl="2"/>
            <a:r>
              <a:rPr lang="en-US" i="1" dirty="0"/>
              <a:t>Module 2 - Two Dice.xlsx </a:t>
            </a:r>
            <a:r>
              <a:rPr lang="en-US" dirty="0"/>
              <a:t>uses RAND and VLOOKUP functions to estimate the outcome of dice rolls</a:t>
            </a:r>
          </a:p>
          <a:p>
            <a:pPr lvl="1"/>
            <a:r>
              <a:rPr lang="en-US" dirty="0"/>
              <a:t>Newsvendor: Single Period Inventory Profits</a:t>
            </a:r>
          </a:p>
          <a:p>
            <a:pPr lvl="2"/>
            <a:r>
              <a:rPr lang="en-US" i="1" dirty="0"/>
              <a:t>Module 2 - Newsvendor.xlsx </a:t>
            </a:r>
            <a:r>
              <a:rPr lang="en-US" dirty="0"/>
              <a:t>uses RAND to generate data from Uniform distribution.</a:t>
            </a:r>
          </a:p>
          <a:p>
            <a:pPr lvl="1"/>
            <a:r>
              <a:rPr lang="en-US" dirty="0"/>
              <a:t>Monte Carlo integration</a:t>
            </a:r>
          </a:p>
          <a:p>
            <a:pPr lvl="2"/>
            <a:r>
              <a:rPr lang="en-US" i="1" dirty="0"/>
              <a:t>Module 2 - Integration.xlsx </a:t>
            </a:r>
            <a:r>
              <a:rPr lang="en-US" dirty="0"/>
              <a:t>uses RAND and NORMDIST functions to estimate the area under a curve.</a:t>
            </a:r>
          </a:p>
        </p:txBody>
      </p:sp>
    </p:spTree>
    <p:extLst>
      <p:ext uri="{BB962C8B-B14F-4D97-AF65-F5344CB8AC3E}">
        <p14:creationId xmlns:p14="http://schemas.microsoft.com/office/powerpoint/2010/main" val="167543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Throwing two dice</a:t>
            </a:r>
          </a:p>
          <a:p>
            <a:pPr lvl="1"/>
            <a:r>
              <a:rPr lang="en-US" dirty="0"/>
              <a:t>Throw 2 fair (six-sided) dice and take the result as the sum of the faces that come up</a:t>
            </a:r>
          </a:p>
          <a:p>
            <a:pPr lvl="1"/>
            <a:r>
              <a:rPr lang="en-US" dirty="0"/>
              <a:t>We want to see how the result is distributed and find average result</a:t>
            </a:r>
          </a:p>
          <a:p>
            <a:pPr lvl="2"/>
            <a:r>
              <a:rPr lang="en-US" dirty="0"/>
              <a:t>Average = Mean of the results over the repeated experiments</a:t>
            </a:r>
          </a:p>
          <a:p>
            <a:pPr lvl="2"/>
            <a:r>
              <a:rPr lang="en-US" dirty="0"/>
              <a:t>Mean is different than expected value: Mean </a:t>
            </a:r>
            <a:r>
              <a:rPr lang="en-US" dirty="0">
                <a:sym typeface="Wingdings" panose="05000000000000000000" pitchFamily="2" charset="2"/>
              </a:rPr>
              <a:t> Expected Value if we repeat the experiment infinitely many times</a:t>
            </a:r>
          </a:p>
        </p:txBody>
      </p:sp>
      <mc:AlternateContent xmlns:mc="http://schemas.openxmlformats.org/markup-compatibility/2006" xmlns:a14="http://schemas.microsoft.com/office/drawing/2010/main">
        <mc:Choice Requires="a14">
          <p:graphicFrame>
            <p:nvGraphicFramePr>
              <p:cNvPr id="4" name="Diagram 3"/>
              <p:cNvGraphicFramePr/>
              <p:nvPr>
                <p:extLst>
                  <p:ext uri="{D42A27DB-BD31-4B8C-83A1-F6EECF244321}">
                    <p14:modId xmlns:p14="http://schemas.microsoft.com/office/powerpoint/2010/main" val="200769140"/>
                  </p:ext>
                </p:extLst>
              </p:nvPr>
            </p:nvGraphicFramePr>
            <p:xfrm>
              <a:off x="2430585" y="2649415"/>
              <a:ext cx="6572738" cy="31066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4" name="Diagram 3"/>
              <p:cNvGraphicFramePr/>
              <p:nvPr>
                <p:extLst>
                  <p:ext uri="{D42A27DB-BD31-4B8C-83A1-F6EECF244321}">
                    <p14:modId xmlns:p14="http://schemas.microsoft.com/office/powerpoint/2010/main" val="200769140"/>
                  </p:ext>
                </p:extLst>
              </p:nvPr>
            </p:nvGraphicFramePr>
            <p:xfrm>
              <a:off x="2430585" y="2649415"/>
              <a:ext cx="6572738" cy="310661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
        <p:nvSpPr>
          <p:cNvPr id="5" name="TextBox 4"/>
          <p:cNvSpPr txBox="1"/>
          <p:nvPr/>
        </p:nvSpPr>
        <p:spPr>
          <a:xfrm>
            <a:off x="2250831" y="5228492"/>
            <a:ext cx="1922584" cy="369332"/>
          </a:xfrm>
          <a:prstGeom prst="rect">
            <a:avLst/>
          </a:prstGeom>
          <a:noFill/>
        </p:spPr>
        <p:txBody>
          <a:bodyPr wrap="square" rtlCol="0">
            <a:spAutoFit/>
          </a:bodyPr>
          <a:lstStyle/>
          <a:p>
            <a:r>
              <a:rPr lang="en-US" dirty="0"/>
              <a:t>A random variable</a:t>
            </a:r>
          </a:p>
        </p:txBody>
      </p:sp>
      <p:sp>
        <p:nvSpPr>
          <p:cNvPr id="6" name="TextBox 5"/>
          <p:cNvSpPr txBox="1"/>
          <p:nvPr/>
        </p:nvSpPr>
        <p:spPr>
          <a:xfrm>
            <a:off x="4865077" y="5228492"/>
            <a:ext cx="1922584" cy="369332"/>
          </a:xfrm>
          <a:prstGeom prst="rect">
            <a:avLst/>
          </a:prstGeom>
          <a:noFill/>
        </p:spPr>
        <p:txBody>
          <a:bodyPr wrap="square" rtlCol="0">
            <a:spAutoFit/>
          </a:bodyPr>
          <a:lstStyle/>
          <a:p>
            <a:r>
              <a:rPr lang="en-US" dirty="0"/>
              <a:t>A random variable</a:t>
            </a:r>
          </a:p>
        </p:txBody>
      </p:sp>
      <p:sp>
        <p:nvSpPr>
          <p:cNvPr id="7" name="TextBox 6"/>
          <p:cNvSpPr txBox="1"/>
          <p:nvPr/>
        </p:nvSpPr>
        <p:spPr>
          <a:xfrm>
            <a:off x="7479323" y="5228492"/>
            <a:ext cx="1922584" cy="369332"/>
          </a:xfrm>
          <a:prstGeom prst="rect">
            <a:avLst/>
          </a:prstGeom>
          <a:noFill/>
        </p:spPr>
        <p:txBody>
          <a:bodyPr wrap="square" rtlCol="0">
            <a:spAutoFit/>
          </a:bodyPr>
          <a:lstStyle/>
          <a:p>
            <a:r>
              <a:rPr lang="en-US" dirty="0"/>
              <a:t>A random variable</a:t>
            </a:r>
          </a:p>
        </p:txBody>
      </p:sp>
      <p:sp>
        <p:nvSpPr>
          <p:cNvPr id="8" name="Right Brace 7"/>
          <p:cNvSpPr/>
          <p:nvPr/>
        </p:nvSpPr>
        <p:spPr>
          <a:xfrm rot="5400000">
            <a:off x="4231755" y="3563541"/>
            <a:ext cx="481199" cy="444304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2250831" y="6108144"/>
            <a:ext cx="4443048" cy="369332"/>
          </a:xfrm>
          <a:prstGeom prst="rect">
            <a:avLst/>
          </a:prstGeom>
          <a:noFill/>
        </p:spPr>
        <p:txBody>
          <a:bodyPr wrap="square" rtlCol="0">
            <a:spAutoFit/>
          </a:bodyPr>
          <a:lstStyle/>
          <a:p>
            <a:pPr algn="ctr"/>
            <a:r>
              <a:rPr lang="en-US" dirty="0"/>
              <a:t>We know about their distributions</a:t>
            </a:r>
          </a:p>
        </p:txBody>
      </p:sp>
      <p:sp>
        <p:nvSpPr>
          <p:cNvPr id="10" name="Right Brace 9"/>
          <p:cNvSpPr/>
          <p:nvPr/>
        </p:nvSpPr>
        <p:spPr>
          <a:xfrm rot="5400000">
            <a:off x="8155535" y="4832652"/>
            <a:ext cx="481199" cy="201154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7244863" y="6161502"/>
            <a:ext cx="2344614" cy="369332"/>
          </a:xfrm>
          <a:prstGeom prst="rect">
            <a:avLst/>
          </a:prstGeom>
          <a:noFill/>
        </p:spPr>
        <p:txBody>
          <a:bodyPr wrap="square" rtlCol="0">
            <a:spAutoFit/>
          </a:bodyPr>
          <a:lstStyle/>
          <a:p>
            <a:pPr algn="ctr"/>
            <a:r>
              <a:rPr lang="en-US" dirty="0"/>
              <a:t>We want to simulate</a:t>
            </a:r>
          </a:p>
        </p:txBody>
      </p:sp>
    </p:spTree>
    <p:extLst>
      <p:ext uri="{BB962C8B-B14F-4D97-AF65-F5344CB8AC3E}">
        <p14:creationId xmlns:p14="http://schemas.microsoft.com/office/powerpoint/2010/main" val="227089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p:bldP spid="6" grpId="0"/>
      <p:bldP spid="7" grpId="0"/>
      <p:bldP spid="8" grpId="0" animBg="1"/>
      <p:bldP spid="9" grpId="0"/>
      <p:bldP spid="10" grpId="0" animBg="1"/>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Throwing two dice</a:t>
                </a:r>
              </a:p>
              <a:p>
                <a:pPr lvl="1"/>
                <a:r>
                  <a:rPr lang="en-US" dirty="0">
                    <a:sym typeface="Wingdings" panose="05000000000000000000" pitchFamily="2" charset="2"/>
                  </a:rPr>
                  <a:t>What we know? These will be input to the simulation model</a:t>
                </a:r>
              </a:p>
              <a:p>
                <a:pPr lvl="1"/>
                <a:r>
                  <a:rPr lang="en-US" dirty="0">
                    <a:sym typeface="Wingdings" panose="05000000000000000000" pitchFamily="2" charset="2"/>
                  </a:rPr>
                  <a:t>We know the probability distribution of the result of each single die</a:t>
                </a:r>
              </a:p>
              <a:p>
                <a:pPr lvl="2"/>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1</m:t>
                        </m:r>
                      </m:sub>
                    </m:sSub>
                    <m:r>
                      <a:rPr lang="en-US" b="0" i="1" dirty="0" smtClean="0">
                        <a:latin typeface="Cambria Math" panose="02040503050406030204" pitchFamily="18" charset="0"/>
                      </a:rPr>
                      <m:t>∈{1,2,3,4,5,6}</m:t>
                    </m:r>
                  </m:oMath>
                </a14:m>
                <a:r>
                  <a:rPr lang="en-US" dirty="0"/>
                  <a:t> and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b="0" i="1" dirty="0" smtClean="0">
                            <a:latin typeface="Cambria Math" panose="02040503050406030204" pitchFamily="18" charset="0"/>
                          </a:rPr>
                          <m:t>2</m:t>
                        </m:r>
                      </m:sub>
                    </m:sSub>
                    <m:r>
                      <a:rPr lang="en-US" i="1" dirty="0">
                        <a:latin typeface="Cambria Math" panose="02040503050406030204" pitchFamily="18" charset="0"/>
                      </a:rPr>
                      <m:t>∈{1,2,3,4,5,6}</m:t>
                    </m:r>
                  </m:oMath>
                </a14:m>
                <a:r>
                  <a:rPr lang="en-US" dirty="0"/>
                  <a:t> </a:t>
                </a:r>
              </a:p>
              <a:p>
                <a:pPr lvl="3"/>
                <a:endParaRPr lang="en-US" dirty="0">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2"/>
                <a:stretch>
                  <a:fillRect l="-956" t="-2005"/>
                </a:stretch>
              </a:blipFill>
            </p:spPr>
            <p:txBody>
              <a:bodyPr/>
              <a:lstStyle/>
              <a:p>
                <a:r>
                  <a:rPr lang="en-US">
                    <a:noFill/>
                  </a:rPr>
                  <a:t> </a:t>
                </a:r>
              </a:p>
            </p:txBody>
          </p:sp>
        </mc:Fallback>
      </mc:AlternateContent>
      <p:graphicFrame>
        <p:nvGraphicFramePr>
          <p:cNvPr id="6" name="Table 5"/>
          <p:cNvGraphicFramePr>
            <a:graphicFrameLocks noGrp="1"/>
          </p:cNvGraphicFramePr>
          <p:nvPr>
            <p:extLst>
              <p:ext uri="{D42A27DB-BD31-4B8C-83A1-F6EECF244321}">
                <p14:modId xmlns:p14="http://schemas.microsoft.com/office/powerpoint/2010/main" val="2555479340"/>
              </p:ext>
            </p:extLst>
          </p:nvPr>
        </p:nvGraphicFramePr>
        <p:xfrm>
          <a:off x="2215661" y="2956884"/>
          <a:ext cx="3505200" cy="2034627"/>
        </p:xfrm>
        <a:graphic>
          <a:graphicData uri="http://schemas.openxmlformats.org/drawingml/2006/table">
            <a:tbl>
              <a:tblPr/>
              <a:tblGrid>
                <a:gridCol w="1168400">
                  <a:extLst>
                    <a:ext uri="{9D8B030D-6E8A-4147-A177-3AD203B41FA5}">
                      <a16:colId xmlns:a16="http://schemas.microsoft.com/office/drawing/2014/main" val="2536607788"/>
                    </a:ext>
                  </a:extLst>
                </a:gridCol>
                <a:gridCol w="1168400">
                  <a:extLst>
                    <a:ext uri="{9D8B030D-6E8A-4147-A177-3AD203B41FA5}">
                      <a16:colId xmlns:a16="http://schemas.microsoft.com/office/drawing/2014/main" val="3997957838"/>
                    </a:ext>
                  </a:extLst>
                </a:gridCol>
                <a:gridCol w="1168400">
                  <a:extLst>
                    <a:ext uri="{9D8B030D-6E8A-4147-A177-3AD203B41FA5}">
                      <a16:colId xmlns:a16="http://schemas.microsoft.com/office/drawing/2014/main" val="605488386"/>
                    </a:ext>
                  </a:extLst>
                </a:gridCol>
              </a:tblGrid>
              <a:tr h="290661">
                <a:tc>
                  <a:txBody>
                    <a:bodyPr/>
                    <a:lstStyle/>
                    <a:p>
                      <a:pPr algn="ctr" fontAlgn="b"/>
                      <a:r>
                        <a:rPr lang="en-US" sz="1600" b="1" i="1" u="none" strike="noStrike" dirty="0" err="1">
                          <a:solidFill>
                            <a:srgbClr val="000000"/>
                          </a:solidFill>
                          <a:effectLst/>
                          <a:latin typeface="Calibri" panose="020F0502020204030204" pitchFamily="34" charset="0"/>
                        </a:rPr>
                        <a:t>i</a:t>
                      </a:r>
                      <a:endParaRPr lang="en-US" sz="1600" b="1" i="1"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fontAlgn="b"/>
                      <a:r>
                        <a:rPr lang="en-US" sz="1600" b="1" i="0" u="none" strike="noStrike" dirty="0">
                          <a:solidFill>
                            <a:srgbClr val="000000"/>
                          </a:solidFill>
                          <a:effectLst/>
                          <a:latin typeface="Calibri" panose="020F0502020204030204" pitchFamily="34" charset="0"/>
                        </a:rPr>
                        <a:t>P(Face = </a:t>
                      </a:r>
                      <a:r>
                        <a:rPr lang="en-US" sz="1600" b="1" i="0" u="none" strike="noStrike" dirty="0" err="1">
                          <a:solidFill>
                            <a:srgbClr val="000000"/>
                          </a:solidFill>
                          <a:effectLst/>
                          <a:latin typeface="Calibri" panose="020F0502020204030204" pitchFamily="34" charset="0"/>
                        </a:rPr>
                        <a:t>i</a:t>
                      </a:r>
                      <a:r>
                        <a:rPr lang="en-US" sz="1600" b="1" i="0" u="none" strike="noStrike" dirty="0">
                          <a:solidFill>
                            <a:srgbClr val="000000"/>
                          </a:solidFill>
                          <a:effectLst/>
                          <a:latin typeface="Calibri" panose="020F050202020403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fontAlgn="b"/>
                      <a:r>
                        <a:rPr lang="en-US" sz="1600" b="1" i="0" u="none" strike="noStrike" dirty="0">
                          <a:solidFill>
                            <a:srgbClr val="000000"/>
                          </a:solidFill>
                          <a:effectLst/>
                          <a:latin typeface="Calibri" panose="020F0502020204030204" pitchFamily="34" charset="0"/>
                        </a:rPr>
                        <a:t>P(Face &lt; </a:t>
                      </a:r>
                      <a:r>
                        <a:rPr lang="en-US" sz="1600" b="1" i="0" u="none" strike="noStrike" dirty="0" err="1">
                          <a:solidFill>
                            <a:srgbClr val="000000"/>
                          </a:solidFill>
                          <a:effectLst/>
                          <a:latin typeface="Calibri" panose="020F0502020204030204" pitchFamily="34" charset="0"/>
                        </a:rPr>
                        <a:t>i</a:t>
                      </a:r>
                      <a:r>
                        <a:rPr lang="en-US" sz="1600" b="1" i="0" u="none" strike="noStrike" dirty="0">
                          <a:solidFill>
                            <a:srgbClr val="000000"/>
                          </a:solidFill>
                          <a:effectLst/>
                          <a:latin typeface="Calibri" panose="020F050202020403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extLst>
                  <a:ext uri="{0D108BD9-81ED-4DB2-BD59-A6C34878D82A}">
                    <a16:rowId xmlns:a16="http://schemas.microsoft.com/office/drawing/2014/main" val="1148225043"/>
                  </a:ext>
                </a:extLst>
              </a:tr>
              <a:tr h="290661">
                <a:tc>
                  <a:txBody>
                    <a:bodyPr/>
                    <a:lstStyle/>
                    <a:p>
                      <a:pPr algn="ctr" fontAlgn="b"/>
                      <a:r>
                        <a:rPr lang="en-US" sz="1600" b="0" i="0" u="none" strike="noStrike" dirty="0">
                          <a:solidFill>
                            <a:srgbClr val="000000"/>
                          </a:solidFill>
                          <a:effectLst/>
                          <a:latin typeface="Calibri" panose="020F0502020204030204" pitchFamily="34" charset="0"/>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dirty="0">
                          <a:solidFill>
                            <a:srgbClr val="000000"/>
                          </a:solidFill>
                          <a:effectLst/>
                          <a:latin typeface="Calibri" panose="020F0502020204030204" pitchFamily="34" charset="0"/>
                        </a:rPr>
                        <a:t>0.1667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a:solidFill>
                            <a:srgbClr val="000000"/>
                          </a:solidFill>
                          <a:effectLst/>
                          <a:latin typeface="Calibri" panose="020F0502020204030204" pitchFamily="34" charset="0"/>
                        </a:rPr>
                        <a:t>0.0000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9208419"/>
                  </a:ext>
                </a:extLst>
              </a:tr>
              <a:tr h="290661">
                <a:tc>
                  <a:txBody>
                    <a:bodyPr/>
                    <a:lstStyle/>
                    <a:p>
                      <a:pPr algn="ctr" fontAlgn="b"/>
                      <a:r>
                        <a:rPr lang="en-US" sz="1600" b="0" i="0" u="none" strike="noStrike">
                          <a:solidFill>
                            <a:srgbClr val="000000"/>
                          </a:solidFill>
                          <a:effectLst/>
                          <a:latin typeface="Calibri" panose="020F0502020204030204" pitchFamily="34" charset="0"/>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dirty="0">
                          <a:solidFill>
                            <a:srgbClr val="000000"/>
                          </a:solidFill>
                          <a:effectLst/>
                          <a:latin typeface="Calibri" panose="020F0502020204030204" pitchFamily="34" charset="0"/>
                        </a:rPr>
                        <a:t>0.1667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a:solidFill>
                            <a:srgbClr val="000000"/>
                          </a:solidFill>
                          <a:effectLst/>
                          <a:latin typeface="Calibri" panose="020F0502020204030204" pitchFamily="34" charset="0"/>
                        </a:rPr>
                        <a:t>0.1667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2369903"/>
                  </a:ext>
                </a:extLst>
              </a:tr>
              <a:tr h="290661">
                <a:tc>
                  <a:txBody>
                    <a:bodyPr/>
                    <a:lstStyle/>
                    <a:p>
                      <a:pPr algn="ctr" fontAlgn="b"/>
                      <a:r>
                        <a:rPr lang="en-US" sz="1600" b="0" i="0" u="none" strike="noStrike">
                          <a:solidFill>
                            <a:srgbClr val="000000"/>
                          </a:solidFill>
                          <a:effectLst/>
                          <a:latin typeface="Calibri" panose="020F0502020204030204" pitchFamily="34" charset="0"/>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dirty="0">
                          <a:solidFill>
                            <a:srgbClr val="000000"/>
                          </a:solidFill>
                          <a:effectLst/>
                          <a:latin typeface="Calibri" panose="020F0502020204030204" pitchFamily="34" charset="0"/>
                        </a:rPr>
                        <a:t>0.1667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dirty="0">
                          <a:solidFill>
                            <a:srgbClr val="000000"/>
                          </a:solidFill>
                          <a:effectLst/>
                          <a:latin typeface="Calibri" panose="020F0502020204030204" pitchFamily="34" charset="0"/>
                        </a:rPr>
                        <a:t>0.3333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9637897"/>
                  </a:ext>
                </a:extLst>
              </a:tr>
              <a:tr h="290661">
                <a:tc>
                  <a:txBody>
                    <a:bodyPr/>
                    <a:lstStyle/>
                    <a:p>
                      <a:pPr algn="ctr" fontAlgn="b"/>
                      <a:r>
                        <a:rPr lang="en-US" sz="1600" b="0" i="0" u="none" strike="noStrike">
                          <a:solidFill>
                            <a:srgbClr val="000000"/>
                          </a:solidFill>
                          <a:effectLst/>
                          <a:latin typeface="Calibri" panose="020F0502020204030204" pitchFamily="34" charset="0"/>
                        </a:rPr>
                        <a:t>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dirty="0">
                          <a:solidFill>
                            <a:srgbClr val="000000"/>
                          </a:solidFill>
                          <a:effectLst/>
                          <a:latin typeface="Calibri" panose="020F0502020204030204" pitchFamily="34" charset="0"/>
                        </a:rPr>
                        <a:t>0.1667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dirty="0">
                          <a:solidFill>
                            <a:srgbClr val="000000"/>
                          </a:solidFill>
                          <a:effectLst/>
                          <a:latin typeface="Calibri" panose="020F0502020204030204" pitchFamily="34" charset="0"/>
                        </a:rPr>
                        <a:t>0.5000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0251323"/>
                  </a:ext>
                </a:extLst>
              </a:tr>
              <a:tr h="290661">
                <a:tc>
                  <a:txBody>
                    <a:bodyPr/>
                    <a:lstStyle/>
                    <a:p>
                      <a:pPr algn="ctr" fontAlgn="b"/>
                      <a:r>
                        <a:rPr lang="en-US" sz="1600" b="0" i="0" u="none" strike="noStrike">
                          <a:solidFill>
                            <a:srgbClr val="000000"/>
                          </a:solidFill>
                          <a:effectLst/>
                          <a:latin typeface="Calibri" panose="020F0502020204030204" pitchFamily="34" charset="0"/>
                        </a:rPr>
                        <a:t>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a:solidFill>
                            <a:srgbClr val="000000"/>
                          </a:solidFill>
                          <a:effectLst/>
                          <a:latin typeface="Calibri" panose="020F0502020204030204" pitchFamily="34" charset="0"/>
                        </a:rPr>
                        <a:t>0.1667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dirty="0">
                          <a:solidFill>
                            <a:srgbClr val="000000"/>
                          </a:solidFill>
                          <a:effectLst/>
                          <a:latin typeface="Calibri" panose="020F0502020204030204" pitchFamily="34" charset="0"/>
                        </a:rPr>
                        <a:t>0.6667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0992009"/>
                  </a:ext>
                </a:extLst>
              </a:tr>
              <a:tr h="290661">
                <a:tc>
                  <a:txBody>
                    <a:bodyPr/>
                    <a:lstStyle/>
                    <a:p>
                      <a:pPr algn="ctr" fontAlgn="b"/>
                      <a:r>
                        <a:rPr lang="en-US" sz="1600" b="0" i="0" u="none" strike="noStrike">
                          <a:solidFill>
                            <a:srgbClr val="000000"/>
                          </a:solidFill>
                          <a:effectLst/>
                          <a:latin typeface="Calibri" panose="020F0502020204030204" pitchFamily="34" charset="0"/>
                        </a:rPr>
                        <a:t>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a:solidFill>
                            <a:srgbClr val="000000"/>
                          </a:solidFill>
                          <a:effectLst/>
                          <a:latin typeface="Calibri" panose="020F0502020204030204" pitchFamily="34" charset="0"/>
                        </a:rPr>
                        <a:t>0.1667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600" b="0" i="0" u="none" strike="noStrike" dirty="0">
                          <a:solidFill>
                            <a:srgbClr val="000000"/>
                          </a:solidFill>
                          <a:effectLst/>
                          <a:latin typeface="Calibri" panose="020F0502020204030204" pitchFamily="34" charset="0"/>
                        </a:rPr>
                        <a:t>0.8333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2240944"/>
                  </a:ext>
                </a:extLst>
              </a:tr>
            </a:tbl>
          </a:graphicData>
        </a:graphic>
      </p:graphicFrame>
      <p:cxnSp>
        <p:nvCxnSpPr>
          <p:cNvPr id="8" name="Straight Arrow Connector 7"/>
          <p:cNvCxnSpPr>
            <a:stCxn id="15" idx="0"/>
          </p:cNvCxnSpPr>
          <p:nvPr/>
        </p:nvCxnSpPr>
        <p:spPr>
          <a:xfrm flipV="1">
            <a:off x="4050325" y="4996099"/>
            <a:ext cx="17583" cy="3696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16" idx="0"/>
          </p:cNvCxnSpPr>
          <p:nvPr/>
        </p:nvCxnSpPr>
        <p:spPr>
          <a:xfrm flipH="1" flipV="1">
            <a:off x="5093677" y="4945589"/>
            <a:ext cx="627185" cy="415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6295293" y="3224877"/>
            <a:ext cx="4091354" cy="646331"/>
          </a:xfrm>
          <a:prstGeom prst="rect">
            <a:avLst/>
          </a:prstGeom>
          <a:noFill/>
        </p:spPr>
        <p:txBody>
          <a:bodyPr wrap="square" rtlCol="0">
            <a:spAutoFit/>
          </a:bodyPr>
          <a:lstStyle/>
          <a:p>
            <a:r>
              <a:rPr lang="en-US" dirty="0"/>
              <a:t>Note that both X1 and X2 (i.e., the face) have discrete uniform distributions</a:t>
            </a:r>
          </a:p>
        </p:txBody>
      </p:sp>
      <p:sp>
        <p:nvSpPr>
          <p:cNvPr id="15" name="TextBox 14"/>
          <p:cNvSpPr txBox="1"/>
          <p:nvPr/>
        </p:nvSpPr>
        <p:spPr>
          <a:xfrm>
            <a:off x="3247294" y="5365798"/>
            <a:ext cx="1606061" cy="923330"/>
          </a:xfrm>
          <a:prstGeom prst="rect">
            <a:avLst/>
          </a:prstGeom>
          <a:noFill/>
        </p:spPr>
        <p:txBody>
          <a:bodyPr wrap="square" rtlCol="0">
            <a:spAutoFit/>
          </a:bodyPr>
          <a:lstStyle/>
          <a:p>
            <a:pPr algn="ctr"/>
            <a:r>
              <a:rPr lang="en-US" dirty="0"/>
              <a:t>Probability mass </a:t>
            </a:r>
          </a:p>
          <a:p>
            <a:pPr algn="ctr"/>
            <a:r>
              <a:rPr lang="en-US" dirty="0"/>
              <a:t>function</a:t>
            </a:r>
          </a:p>
        </p:txBody>
      </p:sp>
      <p:sp>
        <p:nvSpPr>
          <p:cNvPr id="16" name="TextBox 15"/>
          <p:cNvSpPr txBox="1"/>
          <p:nvPr/>
        </p:nvSpPr>
        <p:spPr>
          <a:xfrm>
            <a:off x="4741985" y="5361210"/>
            <a:ext cx="1957753" cy="923330"/>
          </a:xfrm>
          <a:prstGeom prst="rect">
            <a:avLst/>
          </a:prstGeom>
          <a:noFill/>
        </p:spPr>
        <p:txBody>
          <a:bodyPr wrap="square" rtlCol="0">
            <a:spAutoFit/>
          </a:bodyPr>
          <a:lstStyle/>
          <a:p>
            <a:pPr algn="ctr"/>
            <a:r>
              <a:rPr lang="en-US" dirty="0"/>
              <a:t>Cumulative distribution function</a:t>
            </a:r>
          </a:p>
        </p:txBody>
      </p:sp>
      <p:sp>
        <p:nvSpPr>
          <p:cNvPr id="20" name="TextBox 19"/>
          <p:cNvSpPr txBox="1"/>
          <p:nvPr/>
        </p:nvSpPr>
        <p:spPr>
          <a:xfrm>
            <a:off x="1400911" y="5361210"/>
            <a:ext cx="1957753" cy="923330"/>
          </a:xfrm>
          <a:prstGeom prst="rect">
            <a:avLst/>
          </a:prstGeom>
          <a:noFill/>
        </p:spPr>
        <p:txBody>
          <a:bodyPr wrap="square" rtlCol="0">
            <a:spAutoFit/>
          </a:bodyPr>
          <a:lstStyle/>
          <a:p>
            <a:pPr algn="ctr"/>
            <a:r>
              <a:rPr lang="en-US" dirty="0"/>
              <a:t>Outcome space (set of possible values)</a:t>
            </a:r>
          </a:p>
        </p:txBody>
      </p:sp>
      <p:cxnSp>
        <p:nvCxnSpPr>
          <p:cNvPr id="21" name="Straight Arrow Connector 20"/>
          <p:cNvCxnSpPr>
            <a:stCxn id="20" idx="0"/>
          </p:cNvCxnSpPr>
          <p:nvPr/>
        </p:nvCxnSpPr>
        <p:spPr>
          <a:xfrm flipV="1">
            <a:off x="2379788" y="4996099"/>
            <a:ext cx="391256" cy="365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416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P spid="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solidFill>
                      <a:srgbClr val="C00000"/>
                    </a:solidFill>
                  </a:rPr>
                  <a:t>Throwing two dice</a:t>
                </a:r>
              </a:p>
              <a:p>
                <a:pPr lvl="1"/>
                <a:r>
                  <a:rPr lang="en-US" dirty="0">
                    <a:sym typeface="Wingdings" panose="05000000000000000000" pitchFamily="2" charset="2"/>
                  </a:rPr>
                  <a:t>We know the model, we have our input</a:t>
                </a:r>
              </a:p>
              <a:p>
                <a:pPr lvl="1"/>
                <a:r>
                  <a:rPr lang="en-US" dirty="0">
                    <a:sym typeface="Wingdings" panose="05000000000000000000" pitchFamily="2" charset="2"/>
                  </a:rPr>
                  <a:t>What else do we need?</a:t>
                </a:r>
              </a:p>
              <a:p>
                <a:pPr lvl="2"/>
                <a:r>
                  <a:rPr lang="en-US" dirty="0">
                    <a:sym typeface="Wingdings" panose="05000000000000000000" pitchFamily="2" charset="2"/>
                  </a:rPr>
                  <a:t>We need to generate random observations </a:t>
                </a:r>
              </a:p>
              <a:p>
                <a:pPr lvl="2"/>
                <a:r>
                  <a:rPr lang="en-US" dirty="0">
                    <a:sym typeface="Wingdings" panose="05000000000000000000" pitchFamily="2" charset="2"/>
                  </a:rPr>
                  <a:t>How many throws to simulate?</a:t>
                </a:r>
              </a:p>
              <a:p>
                <a:pPr lvl="1"/>
                <a:r>
                  <a:rPr lang="en-US" dirty="0">
                    <a:sym typeface="Wingdings" panose="05000000000000000000" pitchFamily="2" charset="2"/>
                  </a:rPr>
                  <a:t>For this model</a:t>
                </a:r>
              </a:p>
              <a:p>
                <a:pPr lvl="2"/>
                <a:r>
                  <a:rPr lang="en-US" dirty="0">
                    <a:sym typeface="Wingdings" panose="05000000000000000000" pitchFamily="2" charset="2"/>
                  </a:rPr>
                  <a:t>We will generate 50 throws of the pair of the dice</a:t>
                </a:r>
              </a:p>
              <a:p>
                <a:pPr lvl="2"/>
                <a:r>
                  <a:rPr lang="en-US" dirty="0">
                    <a:sym typeface="Wingdings" panose="05000000000000000000" pitchFamily="2" charset="2"/>
                  </a:rPr>
                  <a:t>Excel’s random number generators</a:t>
                </a:r>
              </a:p>
              <a:p>
                <a:pPr lvl="1"/>
                <a:r>
                  <a:rPr lang="en-US" dirty="0">
                    <a:sym typeface="Wingdings" panose="05000000000000000000" pitchFamily="2" charset="2"/>
                  </a:rPr>
                  <a:t>RAND()  generates random observations from a continuous uniform distribution between 0 and 1</a:t>
                </a:r>
              </a:p>
              <a:p>
                <a:pPr lvl="2"/>
                <a:r>
                  <a:rPr lang="en-US" dirty="0">
                    <a:sym typeface="Wingdings" panose="05000000000000000000" pitchFamily="2" charset="2"/>
                  </a:rPr>
                  <a:t>Parentheses are needed and nothing included in them</a:t>
                </a:r>
              </a:p>
              <a:p>
                <a:pPr lvl="2"/>
                <a:r>
                  <a:rPr lang="en-US" dirty="0">
                    <a:sym typeface="Wingdings" panose="05000000000000000000" pitchFamily="2" charset="2"/>
                  </a:rPr>
                  <a:t>We can use RAND() function to generate other numbers</a:t>
                </a:r>
              </a:p>
              <a:p>
                <a:pPr lvl="2"/>
                <a:r>
                  <a:rPr lang="en-US" dirty="0">
                    <a:sym typeface="Wingdings" panose="05000000000000000000" pitchFamily="2" charset="2"/>
                  </a:rPr>
                  <a:t>We need to generate random draws from </a:t>
                </a:r>
                <a14:m>
                  <m:oMath xmlns:m="http://schemas.openxmlformats.org/officeDocument/2006/math">
                    <m:r>
                      <a:rPr lang="en-US" i="1" dirty="0">
                        <a:latin typeface="Cambria Math" panose="02040503050406030204" pitchFamily="18" charset="0"/>
                      </a:rPr>
                      <m:t>{1,2,3,4,5,6}</m:t>
                    </m:r>
                  </m:oMath>
                </a14:m>
                <a:r>
                  <a:rPr lang="en-US" dirty="0"/>
                  <a:t> for both dice</a:t>
                </a:r>
              </a:p>
              <a:p>
                <a:pPr lvl="3"/>
                <a:r>
                  <a:rPr lang="en-US" dirty="0"/>
                  <a:t>One for each die for each throw</a:t>
                </a:r>
                <a:endParaRPr lang="en-US" dirty="0">
                  <a:sym typeface="Wingdings" panose="05000000000000000000" pitchFamily="2" charset="2"/>
                </a:endParaRPr>
              </a:p>
              <a:p>
                <a:pPr lvl="3"/>
                <a:endParaRPr lang="en-US" dirty="0">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3"/>
                <a:stretch>
                  <a:fillRect l="-956" t="-2757"/>
                </a:stretch>
              </a:blipFill>
            </p:spPr>
            <p:txBody>
              <a:bodyPr/>
              <a:lstStyle/>
              <a:p>
                <a:r>
                  <a:rPr lang="en-US">
                    <a:noFill/>
                  </a:rPr>
                  <a:t> </a:t>
                </a:r>
              </a:p>
            </p:txBody>
          </p:sp>
        </mc:Fallback>
      </mc:AlternateContent>
    </p:spTree>
    <p:extLst>
      <p:ext uri="{BB962C8B-B14F-4D97-AF65-F5344CB8AC3E}">
        <p14:creationId xmlns:p14="http://schemas.microsoft.com/office/powerpoint/2010/main" val="622929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180442"/>
              </a:xfrm>
            </p:spPr>
            <p:txBody>
              <a:bodyPr>
                <a:normAutofit/>
              </a:bodyPr>
              <a:lstStyle/>
              <a:p>
                <a:r>
                  <a:rPr lang="en-US" dirty="0">
                    <a:solidFill>
                      <a:srgbClr val="C00000"/>
                    </a:solidFill>
                  </a:rPr>
                  <a:t>Throwing two dice</a:t>
                </a:r>
              </a:p>
              <a:p>
                <a:pPr lvl="1"/>
                <a:r>
                  <a:rPr lang="en-US" dirty="0">
                    <a:sym typeface="Wingdings" panose="05000000000000000000" pitchFamily="2" charset="2"/>
                  </a:rPr>
                  <a:t>Using RAND() generate from </a:t>
                </a:r>
                <a14:m>
                  <m:oMath xmlns:m="http://schemas.openxmlformats.org/officeDocument/2006/math">
                    <m:r>
                      <a:rPr lang="en-US" i="1" dirty="0">
                        <a:latin typeface="Cambria Math" panose="02040503050406030204" pitchFamily="18" charset="0"/>
                      </a:rPr>
                      <m:t>{1,2,3,4,5,6}</m:t>
                    </m:r>
                  </m:oMath>
                </a14:m>
                <a:r>
                  <a:rPr lang="en-US" dirty="0"/>
                  <a:t> with equal probabilities</a:t>
                </a:r>
              </a:p>
              <a:p>
                <a:pPr lvl="2"/>
                <a:r>
                  <a:rPr lang="en-US" dirty="0"/>
                  <a:t>If RAND() value is less than 1/6 </a:t>
                </a:r>
                <a:r>
                  <a:rPr lang="en-US" dirty="0">
                    <a:sym typeface="Wingdings" panose="05000000000000000000" pitchFamily="2" charset="2"/>
                  </a:rPr>
                  <a:t> face is 1</a:t>
                </a:r>
              </a:p>
              <a:p>
                <a:pPr lvl="2"/>
                <a:r>
                  <a:rPr lang="en-US" dirty="0"/>
                  <a:t>If RAND() value is between 1/6 and 2/6 </a:t>
                </a:r>
                <a:r>
                  <a:rPr lang="en-US" dirty="0">
                    <a:sym typeface="Wingdings" panose="05000000000000000000" pitchFamily="2" charset="2"/>
                  </a:rPr>
                  <a:t> face is 2</a:t>
                </a:r>
              </a:p>
              <a:p>
                <a:pPr lvl="2"/>
                <a:r>
                  <a:rPr lang="en-US" dirty="0"/>
                  <a:t>If RAND() value is between 2/6 and 3/6 </a:t>
                </a:r>
                <a:r>
                  <a:rPr lang="en-US" dirty="0">
                    <a:sym typeface="Wingdings" panose="05000000000000000000" pitchFamily="2" charset="2"/>
                  </a:rPr>
                  <a:t> face is 3</a:t>
                </a:r>
              </a:p>
              <a:p>
                <a:pPr lvl="2"/>
                <a:r>
                  <a:rPr lang="en-US" dirty="0"/>
                  <a:t>If RAND() value is between 3/6 and 4/6 </a:t>
                </a:r>
                <a:r>
                  <a:rPr lang="en-US" dirty="0">
                    <a:sym typeface="Wingdings" panose="05000000000000000000" pitchFamily="2" charset="2"/>
                  </a:rPr>
                  <a:t> face is 4</a:t>
                </a:r>
              </a:p>
              <a:p>
                <a:pPr lvl="2"/>
                <a:r>
                  <a:rPr lang="en-US" dirty="0"/>
                  <a:t>If RAND() value is between 4/6 and 5/6 </a:t>
                </a:r>
                <a:r>
                  <a:rPr lang="en-US" dirty="0">
                    <a:sym typeface="Wingdings" panose="05000000000000000000" pitchFamily="2" charset="2"/>
                  </a:rPr>
                  <a:t> face is 5</a:t>
                </a:r>
              </a:p>
              <a:p>
                <a:pPr lvl="2"/>
                <a:r>
                  <a:rPr lang="en-US" dirty="0"/>
                  <a:t>If RAND() value is  more than 5/6 </a:t>
                </a:r>
                <a:r>
                  <a:rPr lang="en-US" dirty="0">
                    <a:sym typeface="Wingdings" panose="05000000000000000000" pitchFamily="2" charset="2"/>
                  </a:rPr>
                  <a:t> face is 6</a:t>
                </a:r>
              </a:p>
              <a:p>
                <a:pPr lvl="1"/>
                <a:r>
                  <a:rPr lang="en-US" dirty="0">
                    <a:sym typeface="Wingdings" panose="05000000000000000000" pitchFamily="2" charset="2"/>
                  </a:rPr>
                  <a:t>Can use Excel’s IF(…) function, it would be several IFs embedded</a:t>
                </a:r>
              </a:p>
              <a:p>
                <a:pPr lvl="2"/>
                <a:r>
                  <a:rPr lang="en-US" dirty="0">
                    <a:sym typeface="Wingdings" panose="05000000000000000000" pitchFamily="2" charset="2"/>
                  </a:rPr>
                  <a:t>IF(a&lt;1/6,1,IF(a&lt;2/6,2,IF(a&lt;3/6,3,IF(a&lt;4/6,4,IF(a&lt;5/6,5,6))))</a:t>
                </a:r>
              </a:p>
              <a:p>
                <a:pPr lvl="2"/>
                <a:r>
                  <a:rPr lang="en-US" dirty="0">
                    <a:sym typeface="Wingdings" panose="05000000000000000000" pitchFamily="2" charset="2"/>
                  </a:rPr>
                  <a:t>We will use VLOOKUP function in Excel</a:t>
                </a:r>
              </a:p>
              <a:p>
                <a:pPr lvl="3"/>
                <a:r>
                  <a:rPr lang="en-US" dirty="0">
                    <a:sym typeface="Wingdings" panose="05000000000000000000" pitchFamily="2" charset="2"/>
                  </a:rPr>
                  <a:t>It will avoid using embedded IFs</a:t>
                </a:r>
              </a:p>
              <a:p>
                <a:pPr lvl="3"/>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3"/>
                <a:endParaRPr lang="en-US" dirty="0">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180442"/>
              </a:xfrm>
              <a:blipFill>
                <a:blip r:embed="rId2"/>
                <a:stretch>
                  <a:fillRect l="-956" t="-1882"/>
                </a:stretch>
              </a:blipFill>
            </p:spPr>
            <p:txBody>
              <a:bodyPr/>
              <a:lstStyle/>
              <a:p>
                <a:r>
                  <a:rPr lang="en-US">
                    <a:noFill/>
                  </a:rPr>
                  <a:t> </a:t>
                </a:r>
              </a:p>
            </p:txBody>
          </p:sp>
        </mc:Fallback>
      </mc:AlternateContent>
    </p:spTree>
    <p:extLst>
      <p:ext uri="{BB962C8B-B14F-4D97-AF65-F5344CB8AC3E}">
        <p14:creationId xmlns:p14="http://schemas.microsoft.com/office/powerpoint/2010/main" val="2957480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Throwing two dice</a:t>
            </a:r>
          </a:p>
          <a:p>
            <a:pPr lvl="1"/>
            <a:r>
              <a:rPr lang="en-US" dirty="0">
                <a:sym typeface="Wingdings" panose="05000000000000000000" pitchFamily="2" charset="2"/>
              </a:rPr>
              <a:t>We will use VLOOKUP function in Excel</a:t>
            </a:r>
          </a:p>
          <a:p>
            <a:pPr lvl="3"/>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3"/>
            <a:endParaRPr lang="en-US" dirty="0">
              <a:sym typeface="Wingdings" panose="05000000000000000000" pitchFamily="2" charset="2"/>
            </a:endParaRPr>
          </a:p>
        </p:txBody>
      </p:sp>
      <p:pic>
        <p:nvPicPr>
          <p:cNvPr id="4" name="Picture 3"/>
          <p:cNvPicPr>
            <a:picLocks noChangeAspect="1"/>
          </p:cNvPicPr>
          <p:nvPr/>
        </p:nvPicPr>
        <p:blipFill>
          <a:blip r:embed="rId2"/>
          <a:stretch>
            <a:fillRect/>
          </a:stretch>
        </p:blipFill>
        <p:spPr>
          <a:xfrm>
            <a:off x="992431" y="2217127"/>
            <a:ext cx="6315075" cy="3314700"/>
          </a:xfrm>
          <a:prstGeom prst="rect">
            <a:avLst/>
          </a:prstGeom>
        </p:spPr>
      </p:pic>
      <p:sp>
        <p:nvSpPr>
          <p:cNvPr id="5" name="Oval Callout 4"/>
          <p:cNvSpPr/>
          <p:nvPr/>
        </p:nvSpPr>
        <p:spPr>
          <a:xfrm>
            <a:off x="767527" y="5802504"/>
            <a:ext cx="1917058" cy="809311"/>
          </a:xfrm>
          <a:prstGeom prst="wedgeEllipseCallout">
            <a:avLst>
              <a:gd name="adj1" fmla="val 113695"/>
              <a:gd name="adj2" fmla="val -1353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Input (B and C cells)</a:t>
            </a:r>
          </a:p>
        </p:txBody>
      </p:sp>
      <p:sp>
        <p:nvSpPr>
          <p:cNvPr id="6" name="Oval Callout 5"/>
          <p:cNvSpPr/>
          <p:nvPr/>
        </p:nvSpPr>
        <p:spPr>
          <a:xfrm>
            <a:off x="2684585" y="5802504"/>
            <a:ext cx="2018386" cy="809311"/>
          </a:xfrm>
          <a:prstGeom prst="wedgeEllipseCallout">
            <a:avLst>
              <a:gd name="adj1" fmla="val 56949"/>
              <a:gd name="adj2" fmla="val -1033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Toss # (we’ll have 50)</a:t>
            </a:r>
          </a:p>
        </p:txBody>
      </p:sp>
      <p:sp>
        <p:nvSpPr>
          <p:cNvPr id="7" name="Oval Callout 6"/>
          <p:cNvSpPr/>
          <p:nvPr/>
        </p:nvSpPr>
        <p:spPr>
          <a:xfrm>
            <a:off x="4491956" y="6001796"/>
            <a:ext cx="2108136" cy="809311"/>
          </a:xfrm>
          <a:prstGeom prst="wedgeEllipseCallout">
            <a:avLst>
              <a:gd name="adj1" fmla="val -6428"/>
              <a:gd name="adj2" fmla="val -1337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Random values for die 1 (column F)</a:t>
            </a:r>
          </a:p>
        </p:txBody>
      </p:sp>
      <p:sp>
        <p:nvSpPr>
          <p:cNvPr id="9" name="Oval Callout 8"/>
          <p:cNvSpPr/>
          <p:nvPr/>
        </p:nvSpPr>
        <p:spPr>
          <a:xfrm>
            <a:off x="6160055" y="6001796"/>
            <a:ext cx="2108136" cy="809311"/>
          </a:xfrm>
          <a:prstGeom prst="wedgeEllipseCallout">
            <a:avLst>
              <a:gd name="adj1" fmla="val -50359"/>
              <a:gd name="adj2" fmla="val -1410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Random values for die 2 (column G)</a:t>
            </a:r>
          </a:p>
        </p:txBody>
      </p:sp>
      <p:sp>
        <p:nvSpPr>
          <p:cNvPr id="10" name="Oval Callout 9"/>
          <p:cNvSpPr/>
          <p:nvPr/>
        </p:nvSpPr>
        <p:spPr>
          <a:xfrm>
            <a:off x="8060598" y="5872790"/>
            <a:ext cx="2108136" cy="809311"/>
          </a:xfrm>
          <a:prstGeom prst="wedgeEllipseCallout">
            <a:avLst>
              <a:gd name="adj1" fmla="val -107636"/>
              <a:gd name="adj2" fmla="val -1178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Sum : We are looking for this (column H)</a:t>
            </a:r>
          </a:p>
        </p:txBody>
      </p:sp>
      <p:pic>
        <p:nvPicPr>
          <p:cNvPr id="11" name="Picture 10"/>
          <p:cNvPicPr>
            <a:picLocks noChangeAspect="1"/>
          </p:cNvPicPr>
          <p:nvPr/>
        </p:nvPicPr>
        <p:blipFill>
          <a:blip r:embed="rId3"/>
          <a:stretch>
            <a:fillRect/>
          </a:stretch>
        </p:blipFill>
        <p:spPr>
          <a:xfrm>
            <a:off x="7425443" y="1312433"/>
            <a:ext cx="4189005" cy="556473"/>
          </a:xfrm>
          <a:prstGeom prst="rect">
            <a:avLst/>
          </a:prstGeom>
        </p:spPr>
      </p:pic>
      <p:cxnSp>
        <p:nvCxnSpPr>
          <p:cNvPr id="13" name="Straight Arrow Connector 12"/>
          <p:cNvCxnSpPr>
            <a:endCxn id="11" idx="1"/>
          </p:cNvCxnSpPr>
          <p:nvPr/>
        </p:nvCxnSpPr>
        <p:spPr>
          <a:xfrm flipV="1">
            <a:off x="5546024" y="1590670"/>
            <a:ext cx="1879419" cy="1914530"/>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673581" y="2652183"/>
            <a:ext cx="4033138" cy="2308324"/>
          </a:xfrm>
          <a:prstGeom prst="rect">
            <a:avLst/>
          </a:prstGeom>
          <a:noFill/>
        </p:spPr>
        <p:txBody>
          <a:bodyPr wrap="square" rtlCol="0">
            <a:spAutoFit/>
          </a:bodyPr>
          <a:lstStyle/>
          <a:p>
            <a:r>
              <a:rPr lang="en-US" b="1" dirty="0">
                <a:solidFill>
                  <a:srgbClr val="C00000"/>
                </a:solidFill>
              </a:rPr>
              <a:t>VLOOKUP</a:t>
            </a:r>
            <a:r>
              <a:rPr lang="en-US" dirty="0"/>
              <a:t>, with its fourth argument set to </a:t>
            </a:r>
            <a:r>
              <a:rPr lang="en-US" i="1" dirty="0">
                <a:solidFill>
                  <a:srgbClr val="C00000"/>
                </a:solidFill>
              </a:rPr>
              <a:t>TRUE</a:t>
            </a:r>
            <a:r>
              <a:rPr lang="en-US" dirty="0"/>
              <a:t>, returns the value in the second column (that’s what the </a:t>
            </a:r>
            <a:r>
              <a:rPr lang="en-US" i="1" dirty="0">
                <a:solidFill>
                  <a:srgbClr val="C00000"/>
                </a:solidFill>
              </a:rPr>
              <a:t>2</a:t>
            </a:r>
            <a:r>
              <a:rPr lang="en-US" dirty="0"/>
              <a:t> is for in the third argument) of the cell range B4:C9 (the second argument) in the row corresponding to the values between which RAND() (the first argument) falls in the first column of B4:C9.</a:t>
            </a:r>
          </a:p>
        </p:txBody>
      </p:sp>
      <p:cxnSp>
        <p:nvCxnSpPr>
          <p:cNvPr id="16" name="Straight Arrow Connector 15"/>
          <p:cNvCxnSpPr/>
          <p:nvPr/>
        </p:nvCxnSpPr>
        <p:spPr>
          <a:xfrm flipV="1">
            <a:off x="6065516" y="1831313"/>
            <a:ext cx="1359927" cy="1778135"/>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7093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a:picLocks noChangeAspect="1"/>
          </p:cNvPicPr>
          <p:nvPr/>
        </p:nvPicPr>
        <p:blipFill>
          <a:blip r:embed="rId2"/>
          <a:stretch>
            <a:fillRect/>
          </a:stretch>
        </p:blipFill>
        <p:spPr>
          <a:xfrm>
            <a:off x="808892" y="2190889"/>
            <a:ext cx="4413117" cy="2406528"/>
          </a:xfrm>
          <a:prstGeom prst="rect">
            <a:avLst/>
          </a:prstGeom>
        </p:spPr>
      </p:pic>
      <p:sp>
        <p:nvSpPr>
          <p:cNvPr id="2" name="Title 1"/>
          <p:cNvSpPr>
            <a:spLocks noGrp="1"/>
          </p:cNvSpPr>
          <p:nvPr>
            <p:ph type="title"/>
          </p:nvPr>
        </p:nvSpPr>
        <p:spPr/>
        <p:txBody>
          <a:bodyPr/>
          <a:lstStyle/>
          <a:p>
            <a:r>
              <a:rPr lang="en-US" dirty="0"/>
              <a:t>Monte Carlo Simulation and Excel</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Throwing two dice</a:t>
            </a:r>
          </a:p>
          <a:p>
            <a:pPr lvl="1"/>
            <a:r>
              <a:rPr lang="en-US" dirty="0">
                <a:sym typeface="Wingdings" panose="05000000000000000000" pitchFamily="2" charset="2"/>
              </a:rPr>
              <a:t>We will use VLOOKUP function in Excel</a:t>
            </a:r>
          </a:p>
          <a:p>
            <a:pPr lvl="3"/>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3"/>
            <a:endParaRPr lang="en-US" dirty="0">
              <a:sym typeface="Wingdings" panose="05000000000000000000" pitchFamily="2" charset="2"/>
            </a:endParaRPr>
          </a:p>
        </p:txBody>
      </p:sp>
      <p:pic>
        <p:nvPicPr>
          <p:cNvPr id="11" name="Picture 10"/>
          <p:cNvPicPr>
            <a:picLocks noChangeAspect="1"/>
          </p:cNvPicPr>
          <p:nvPr/>
        </p:nvPicPr>
        <p:blipFill>
          <a:blip r:embed="rId3"/>
          <a:stretch>
            <a:fillRect/>
          </a:stretch>
        </p:blipFill>
        <p:spPr>
          <a:xfrm>
            <a:off x="7425443" y="1590669"/>
            <a:ext cx="4189005" cy="556473"/>
          </a:xfrm>
          <a:prstGeom prst="rect">
            <a:avLst/>
          </a:prstGeom>
        </p:spPr>
      </p:pic>
      <p:cxnSp>
        <p:nvCxnSpPr>
          <p:cNvPr id="13" name="Straight Arrow Connector 12"/>
          <p:cNvCxnSpPr>
            <a:endCxn id="11" idx="1"/>
          </p:cNvCxnSpPr>
          <p:nvPr/>
        </p:nvCxnSpPr>
        <p:spPr>
          <a:xfrm flipV="1">
            <a:off x="4103077" y="1868906"/>
            <a:ext cx="3322366" cy="1284602"/>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731640" y="2652183"/>
            <a:ext cx="5975079" cy="3416320"/>
          </a:xfrm>
          <a:prstGeom prst="rect">
            <a:avLst/>
          </a:prstGeom>
          <a:noFill/>
        </p:spPr>
        <p:txBody>
          <a:bodyPr wrap="square" rtlCol="0">
            <a:spAutoFit/>
          </a:bodyPr>
          <a:lstStyle/>
          <a:p>
            <a:r>
              <a:rPr lang="en-US" b="1" dirty="0">
                <a:solidFill>
                  <a:srgbClr val="C00000"/>
                </a:solidFill>
              </a:rPr>
              <a:t>VLOOKUP</a:t>
            </a:r>
            <a:r>
              <a:rPr lang="en-US" dirty="0"/>
              <a:t>: how it works?</a:t>
            </a:r>
          </a:p>
          <a:p>
            <a:pPr marL="285750" indent="-285750">
              <a:buFont typeface="Arial" panose="020B0604020202020204" pitchFamily="34" charset="0"/>
              <a:buChar char="•"/>
            </a:pPr>
            <a:r>
              <a:rPr lang="en-US" dirty="0"/>
              <a:t>We’ll get C4 (which is 1) if RAND() is between B4 and B5, i.e., between 0 and 1.667, which is our first subinterval of width of length 1/6 as desired</a:t>
            </a:r>
          </a:p>
          <a:p>
            <a:pPr marL="285750" indent="-285750">
              <a:buFont typeface="Arial" panose="020B0604020202020204" pitchFamily="34" charset="0"/>
              <a:buChar char="•"/>
            </a:pPr>
            <a:r>
              <a:rPr lang="en-US" dirty="0"/>
              <a:t>If RAND() is not in the first subinterval, VLOOKUP moves on to the second interval, between B5 and B6, so between 0.1667 and 0.3333, and returns C5 (which is 2) if RAND() is between these two values, which will occur with probability 1/6</a:t>
            </a:r>
          </a:p>
          <a:p>
            <a:pPr marL="285750" indent="-285750">
              <a:buFont typeface="Arial" panose="020B0604020202020204" pitchFamily="34" charset="0"/>
              <a:buChar char="•"/>
            </a:pPr>
            <a:r>
              <a:rPr lang="en-US" dirty="0"/>
              <a:t>This continues up to last subinterval as needed</a:t>
            </a:r>
          </a:p>
          <a:p>
            <a:pPr marL="285750" indent="-285750">
              <a:buFont typeface="Arial" panose="020B0604020202020204" pitchFamily="34" charset="0"/>
              <a:buChar char="•"/>
            </a:pPr>
            <a:r>
              <a:rPr lang="en-US" dirty="0">
                <a:hlinkClick r:id="rId4"/>
              </a:rPr>
              <a:t>https://support.office.com/en-us/article/vlookup-function-0bbc8083-26fe-4963-8ab8-93a18ad188a1</a:t>
            </a:r>
            <a:r>
              <a:rPr lang="en-US" dirty="0"/>
              <a:t> </a:t>
            </a:r>
          </a:p>
        </p:txBody>
      </p:sp>
      <p:cxnSp>
        <p:nvCxnSpPr>
          <p:cNvPr id="16" name="Straight Arrow Connector 15"/>
          <p:cNvCxnSpPr/>
          <p:nvPr/>
        </p:nvCxnSpPr>
        <p:spPr>
          <a:xfrm flipV="1">
            <a:off x="4536831" y="1831314"/>
            <a:ext cx="2888612" cy="1322194"/>
          </a:xfrm>
          <a:prstGeom prst="straightConnector1">
            <a:avLst/>
          </a:prstGeom>
          <a:ln w="38100">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p:nvPicPr>
        <p:blipFill>
          <a:blip r:embed="rId5"/>
          <a:stretch>
            <a:fillRect/>
          </a:stretch>
        </p:blipFill>
        <p:spPr>
          <a:xfrm>
            <a:off x="1761759" y="4919400"/>
            <a:ext cx="3228975" cy="609600"/>
          </a:xfrm>
          <a:prstGeom prst="rect">
            <a:avLst/>
          </a:prstGeom>
        </p:spPr>
      </p:pic>
      <p:sp>
        <p:nvSpPr>
          <p:cNvPr id="20" name="TextBox 19"/>
          <p:cNvSpPr txBox="1"/>
          <p:nvPr/>
        </p:nvSpPr>
        <p:spPr>
          <a:xfrm>
            <a:off x="1062121" y="5771277"/>
            <a:ext cx="3962400" cy="646331"/>
          </a:xfrm>
          <a:prstGeom prst="rect">
            <a:avLst/>
          </a:prstGeom>
          <a:noFill/>
        </p:spPr>
        <p:txBody>
          <a:bodyPr wrap="square" rtlCol="0">
            <a:spAutoFit/>
          </a:bodyPr>
          <a:lstStyle/>
          <a:p>
            <a:r>
              <a:rPr lang="en-US" dirty="0">
                <a:sym typeface="Wingdings" panose="05000000000000000000" pitchFamily="2" charset="2"/>
              </a:rPr>
              <a:t> </a:t>
            </a:r>
            <a:r>
              <a:rPr lang="en-US" dirty="0"/>
              <a:t>Every time, excel will generate fresh random numbers!</a:t>
            </a:r>
          </a:p>
        </p:txBody>
      </p:sp>
    </p:spTree>
    <p:extLst>
      <p:ext uri="{BB962C8B-B14F-4D97-AF65-F5344CB8AC3E}">
        <p14:creationId xmlns:p14="http://schemas.microsoft.com/office/powerpoint/2010/main" val="396117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5">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Throwing two dice</a:t>
            </a:r>
          </a:p>
          <a:p>
            <a:pPr lvl="1"/>
            <a:r>
              <a:rPr lang="en-US" dirty="0">
                <a:sym typeface="Wingdings" panose="05000000000000000000" pitchFamily="2" charset="2"/>
              </a:rPr>
              <a:t>Looking at the results!</a:t>
            </a:r>
          </a:p>
          <a:p>
            <a:pPr lvl="1"/>
            <a:r>
              <a:rPr lang="en-US" dirty="0">
                <a:sym typeface="Wingdings" panose="05000000000000000000" pitchFamily="2" charset="2"/>
              </a:rPr>
              <a:t>See </a:t>
            </a:r>
            <a:r>
              <a:rPr lang="en-US" i="1" dirty="0">
                <a:sym typeface="Wingdings" panose="05000000000000000000" pitchFamily="2" charset="2"/>
              </a:rPr>
              <a:t>‘Module 2 - Two Dice.xlsx’ </a:t>
            </a:r>
            <a:r>
              <a:rPr lang="en-US" dirty="0">
                <a:sym typeface="Wingdings" panose="05000000000000000000" pitchFamily="2" charset="2"/>
              </a:rPr>
              <a:t>file</a:t>
            </a:r>
          </a:p>
          <a:p>
            <a:pPr lvl="1"/>
            <a:endParaRPr lang="en-US" dirty="0">
              <a:sym typeface="Wingdings" panose="05000000000000000000" pitchFamily="2" charset="2"/>
            </a:endParaRPr>
          </a:p>
          <a:p>
            <a:pPr lvl="3"/>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3"/>
            <a:endParaRPr lang="en-US" dirty="0">
              <a:sym typeface="Wingdings" panose="05000000000000000000" pitchFamily="2" charset="2"/>
            </a:endParaRPr>
          </a:p>
        </p:txBody>
      </p:sp>
      <p:pic>
        <p:nvPicPr>
          <p:cNvPr id="5" name="Picture 4"/>
          <p:cNvPicPr>
            <a:picLocks noChangeAspect="1"/>
          </p:cNvPicPr>
          <p:nvPr/>
        </p:nvPicPr>
        <p:blipFill>
          <a:blip r:embed="rId2"/>
          <a:stretch>
            <a:fillRect/>
          </a:stretch>
        </p:blipFill>
        <p:spPr>
          <a:xfrm>
            <a:off x="1033983" y="2511196"/>
            <a:ext cx="3196519" cy="4152106"/>
          </a:xfrm>
          <a:prstGeom prst="rect">
            <a:avLst/>
          </a:prstGeom>
        </p:spPr>
      </p:pic>
      <p:pic>
        <p:nvPicPr>
          <p:cNvPr id="6" name="Picture 5"/>
          <p:cNvPicPr>
            <a:picLocks noChangeAspect="1"/>
          </p:cNvPicPr>
          <p:nvPr/>
        </p:nvPicPr>
        <p:blipFill>
          <a:blip r:embed="rId3"/>
          <a:stretch>
            <a:fillRect/>
          </a:stretch>
        </p:blipFill>
        <p:spPr>
          <a:xfrm>
            <a:off x="4565379" y="2560563"/>
            <a:ext cx="4747274" cy="3178670"/>
          </a:xfrm>
          <a:prstGeom prst="rect">
            <a:avLst/>
          </a:prstGeom>
        </p:spPr>
      </p:pic>
      <p:sp>
        <p:nvSpPr>
          <p:cNvPr id="7" name="TextBox 6"/>
          <p:cNvSpPr txBox="1"/>
          <p:nvPr/>
        </p:nvSpPr>
        <p:spPr>
          <a:xfrm>
            <a:off x="4565379" y="5793021"/>
            <a:ext cx="5720862" cy="923330"/>
          </a:xfrm>
          <a:prstGeom prst="rect">
            <a:avLst/>
          </a:prstGeom>
          <a:noFill/>
        </p:spPr>
        <p:txBody>
          <a:bodyPr wrap="square" rtlCol="0">
            <a:spAutoFit/>
          </a:bodyPr>
          <a:lstStyle/>
          <a:p>
            <a:r>
              <a:rPr lang="en-US" dirty="0"/>
              <a:t>Use: Data Analysis </a:t>
            </a:r>
            <a:r>
              <a:rPr lang="en-US" dirty="0">
                <a:sym typeface="Wingdings" panose="05000000000000000000" pitchFamily="2" charset="2"/>
              </a:rPr>
              <a:t> Histogram tool of Excel</a:t>
            </a:r>
          </a:p>
          <a:p>
            <a:r>
              <a:rPr lang="en-US" dirty="0">
                <a:hlinkClick r:id="rId4"/>
              </a:rPr>
              <a:t>https://www.youtube.com/watch?v=Giewd9yH4q0</a:t>
            </a:r>
            <a:endParaRPr lang="en-US" dirty="0"/>
          </a:p>
          <a:p>
            <a:r>
              <a:rPr lang="en-US" dirty="0"/>
              <a:t>There are more </a:t>
            </a:r>
            <a:r>
              <a:rPr lang="en-US" dirty="0" err="1"/>
              <a:t>youtube</a:t>
            </a:r>
            <a:r>
              <a:rPr lang="en-US" dirty="0"/>
              <a:t> videos! </a:t>
            </a:r>
          </a:p>
        </p:txBody>
      </p:sp>
    </p:spTree>
    <p:extLst>
      <p:ext uri="{BB962C8B-B14F-4D97-AF65-F5344CB8AC3E}">
        <p14:creationId xmlns:p14="http://schemas.microsoft.com/office/powerpoint/2010/main" val="1792149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Throwing two dice</a:t>
            </a:r>
          </a:p>
          <a:p>
            <a:pPr lvl="1"/>
            <a:r>
              <a:rPr lang="en-US" dirty="0">
                <a:sym typeface="Wingdings" panose="05000000000000000000" pitchFamily="2" charset="2"/>
              </a:rPr>
              <a:t>Analytical model!</a:t>
            </a:r>
          </a:p>
          <a:p>
            <a:pPr lvl="2"/>
            <a:r>
              <a:rPr lang="en-US" dirty="0">
                <a:sym typeface="Wingdings" panose="05000000000000000000" pitchFamily="2" charset="2"/>
              </a:rPr>
              <a:t>See </a:t>
            </a:r>
            <a:r>
              <a:rPr lang="en-US" i="1" dirty="0">
                <a:sym typeface="Wingdings" panose="05000000000000000000" pitchFamily="2" charset="2"/>
              </a:rPr>
              <a:t>‘Module 2 - Two Dice.xlsx’ </a:t>
            </a:r>
            <a:r>
              <a:rPr lang="en-US" dirty="0">
                <a:sym typeface="Wingdings" panose="05000000000000000000" pitchFamily="2" charset="2"/>
              </a:rPr>
              <a:t>file</a:t>
            </a: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3"/>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3"/>
            <a:endParaRPr lang="en-US" dirty="0">
              <a:sym typeface="Wingdings" panose="05000000000000000000" pitchFamily="2" charset="2"/>
            </a:endParaRPr>
          </a:p>
        </p:txBody>
      </p:sp>
      <p:pic>
        <p:nvPicPr>
          <p:cNvPr id="4" name="Picture 3"/>
          <p:cNvPicPr>
            <a:picLocks noChangeAspect="1"/>
          </p:cNvPicPr>
          <p:nvPr/>
        </p:nvPicPr>
        <p:blipFill>
          <a:blip r:embed="rId2"/>
          <a:stretch>
            <a:fillRect/>
          </a:stretch>
        </p:blipFill>
        <p:spPr>
          <a:xfrm>
            <a:off x="850425" y="2568057"/>
            <a:ext cx="2954037" cy="2870803"/>
          </a:xfrm>
          <a:prstGeom prst="rect">
            <a:avLst/>
          </a:prstGeom>
        </p:spPr>
      </p:pic>
      <p:pic>
        <p:nvPicPr>
          <p:cNvPr id="7" name="Picture 6"/>
          <p:cNvPicPr>
            <a:picLocks noChangeAspect="1"/>
          </p:cNvPicPr>
          <p:nvPr/>
        </p:nvPicPr>
        <p:blipFill>
          <a:blip r:embed="rId3"/>
          <a:stretch>
            <a:fillRect/>
          </a:stretch>
        </p:blipFill>
        <p:spPr>
          <a:xfrm>
            <a:off x="4305423" y="2591989"/>
            <a:ext cx="3910529" cy="2852317"/>
          </a:xfrm>
          <a:prstGeom prst="rect">
            <a:avLst/>
          </a:prstGeom>
        </p:spPr>
      </p:pic>
      <p:sp>
        <p:nvSpPr>
          <p:cNvPr id="8" name="TextBox 7"/>
          <p:cNvSpPr txBox="1"/>
          <p:nvPr/>
        </p:nvSpPr>
        <p:spPr>
          <a:xfrm>
            <a:off x="8968154" y="3012830"/>
            <a:ext cx="2637692" cy="1200329"/>
          </a:xfrm>
          <a:prstGeom prst="rect">
            <a:avLst/>
          </a:prstGeom>
          <a:noFill/>
        </p:spPr>
        <p:txBody>
          <a:bodyPr wrap="square" rtlCol="0">
            <a:spAutoFit/>
          </a:bodyPr>
          <a:lstStyle/>
          <a:p>
            <a:r>
              <a:rPr lang="en-US" sz="2400" dirty="0"/>
              <a:t>So, maybe we needed more than 50 tosses!</a:t>
            </a:r>
          </a:p>
        </p:txBody>
      </p:sp>
    </p:spTree>
    <p:extLst>
      <p:ext uri="{BB962C8B-B14F-4D97-AF65-F5344CB8AC3E}">
        <p14:creationId xmlns:p14="http://schemas.microsoft.com/office/powerpoint/2010/main" val="3308329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More Excel Tools:</a:t>
            </a:r>
          </a:p>
          <a:p>
            <a:r>
              <a:rPr lang="en-US" dirty="0"/>
              <a:t>Several Excel functions can be used to generate random numbers from a normal distribution</a:t>
            </a:r>
          </a:p>
          <a:p>
            <a:pPr lvl="1"/>
            <a:r>
              <a:rPr lang="en-US" dirty="0"/>
              <a:t>Check, NORMDIST function of excel</a:t>
            </a:r>
          </a:p>
          <a:p>
            <a:pPr lvl="2"/>
            <a:r>
              <a:rPr lang="en-US" dirty="0">
                <a:hlinkClick r:id="rId2"/>
              </a:rPr>
              <a:t>https://support.office.com/en-us/article/normdist-function-126db625-c53e-4591-9a22-c9ff422d6d58</a:t>
            </a:r>
            <a:r>
              <a:rPr lang="en-US" dirty="0"/>
              <a:t> </a:t>
            </a:r>
          </a:p>
          <a:p>
            <a:pPr lvl="1"/>
            <a:r>
              <a:rPr lang="en-US" dirty="0"/>
              <a:t>Also check, NORMINV function of excel</a:t>
            </a:r>
          </a:p>
          <a:p>
            <a:pPr lvl="2"/>
            <a:r>
              <a:rPr lang="en-US" dirty="0">
                <a:hlinkClick r:id="rId3"/>
              </a:rPr>
              <a:t>https://support.office.com/en-us/article/norminv-function-87981ab8-2de0-4cb0-b1aa-e21d4cb879b8</a:t>
            </a:r>
            <a:endParaRPr lang="en-US" dirty="0"/>
          </a:p>
          <a:p>
            <a:pPr lvl="1"/>
            <a:r>
              <a:rPr lang="en-US" dirty="0"/>
              <a:t>Use the formula "=NORMINV(RAND(),B2,C2)", where the RAND() function creates your probability, B2 provides your mean and C2 references your standard deviation.</a:t>
            </a:r>
          </a:p>
          <a:p>
            <a:pPr lvl="2"/>
            <a:r>
              <a:rPr lang="en-US" dirty="0">
                <a:hlinkClick r:id="rId4"/>
              </a:rPr>
              <a:t>https://smallbusiness.chron.com/generate-random-variable-normal-distribution-excel-74203.html</a:t>
            </a:r>
            <a:r>
              <a:rPr lang="en-US" dirty="0"/>
              <a:t> </a:t>
            </a:r>
          </a:p>
          <a:p>
            <a:pPr lvl="1"/>
            <a:endParaRPr lang="en-US" dirty="0">
              <a:sym typeface="Wingdings" panose="05000000000000000000" pitchFamily="2" charset="2"/>
            </a:endParaRPr>
          </a:p>
          <a:p>
            <a:pPr lvl="1"/>
            <a:endParaRPr lang="en-US" dirty="0">
              <a:sym typeface="Wingdings" panose="05000000000000000000" pitchFamily="2" charset="2"/>
            </a:endParaRPr>
          </a:p>
          <a:p>
            <a:pPr lvl="3"/>
            <a:endParaRPr lang="en-US" dirty="0">
              <a:sym typeface="Wingdings" panose="05000000000000000000" pitchFamily="2" charset="2"/>
            </a:endParaRPr>
          </a:p>
        </p:txBody>
      </p:sp>
    </p:spTree>
    <p:extLst>
      <p:ext uri="{BB962C8B-B14F-4D97-AF65-F5344CB8AC3E}">
        <p14:creationId xmlns:p14="http://schemas.microsoft.com/office/powerpoint/2010/main" val="260931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More Excel Tools:</a:t>
            </a:r>
          </a:p>
          <a:p>
            <a:r>
              <a:rPr lang="en-US" dirty="0"/>
              <a:t>Data Analysis </a:t>
            </a:r>
            <a:r>
              <a:rPr lang="en-US" dirty="0">
                <a:sym typeface="Wingdings" panose="05000000000000000000" pitchFamily="2" charset="2"/>
              </a:rPr>
              <a:t> Random Number Generation </a:t>
            </a:r>
            <a:endParaRPr lang="en-US" dirty="0"/>
          </a:p>
          <a:p>
            <a:pPr lvl="1"/>
            <a:endParaRPr lang="en-US" dirty="0">
              <a:sym typeface="Wingdings" panose="05000000000000000000" pitchFamily="2" charset="2"/>
            </a:endParaRPr>
          </a:p>
          <a:p>
            <a:pPr lvl="1"/>
            <a:endParaRPr lang="en-US" dirty="0">
              <a:sym typeface="Wingdings" panose="05000000000000000000" pitchFamily="2" charset="2"/>
            </a:endParaRPr>
          </a:p>
          <a:p>
            <a:pPr lvl="3"/>
            <a:endParaRPr lang="en-US" dirty="0">
              <a:sym typeface="Wingdings" panose="05000000000000000000" pitchFamily="2" charset="2"/>
            </a:endParaRPr>
          </a:p>
        </p:txBody>
      </p:sp>
      <p:pic>
        <p:nvPicPr>
          <p:cNvPr id="4" name="Picture 3"/>
          <p:cNvPicPr>
            <a:picLocks noChangeAspect="1"/>
          </p:cNvPicPr>
          <p:nvPr/>
        </p:nvPicPr>
        <p:blipFill>
          <a:blip r:embed="rId2"/>
          <a:stretch>
            <a:fillRect/>
          </a:stretch>
        </p:blipFill>
        <p:spPr>
          <a:xfrm>
            <a:off x="536697" y="2378686"/>
            <a:ext cx="3686175" cy="1819275"/>
          </a:xfrm>
          <a:prstGeom prst="rect">
            <a:avLst/>
          </a:prstGeom>
        </p:spPr>
      </p:pic>
      <p:pic>
        <p:nvPicPr>
          <p:cNvPr id="6" name="Picture 5"/>
          <p:cNvPicPr>
            <a:picLocks noChangeAspect="1"/>
          </p:cNvPicPr>
          <p:nvPr/>
        </p:nvPicPr>
        <p:blipFill>
          <a:blip r:embed="rId3"/>
          <a:stretch>
            <a:fillRect/>
          </a:stretch>
        </p:blipFill>
        <p:spPr>
          <a:xfrm>
            <a:off x="4404567" y="2348553"/>
            <a:ext cx="3648075" cy="3324225"/>
          </a:xfrm>
          <a:prstGeom prst="rect">
            <a:avLst/>
          </a:prstGeom>
        </p:spPr>
      </p:pic>
      <p:sp>
        <p:nvSpPr>
          <p:cNvPr id="7" name="Rectangular Callout 6"/>
          <p:cNvSpPr/>
          <p:nvPr/>
        </p:nvSpPr>
        <p:spPr>
          <a:xfrm>
            <a:off x="8544008" y="1312433"/>
            <a:ext cx="3380251" cy="1535723"/>
          </a:xfrm>
          <a:prstGeom prst="wedgeRectCallout">
            <a:avLst>
              <a:gd name="adj1" fmla="val -106643"/>
              <a:gd name="adj2" fmla="val 47733"/>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The number of variables for which we want to generate random draws. Note that the variables should have identical probability distributions</a:t>
            </a:r>
          </a:p>
        </p:txBody>
      </p:sp>
      <p:sp>
        <p:nvSpPr>
          <p:cNvPr id="8" name="Rectangular Callout 7"/>
          <p:cNvSpPr/>
          <p:nvPr/>
        </p:nvSpPr>
        <p:spPr>
          <a:xfrm>
            <a:off x="8498584" y="2976836"/>
            <a:ext cx="3380251" cy="1817902"/>
          </a:xfrm>
          <a:prstGeom prst="wedgeRectCallout">
            <a:avLst>
              <a:gd name="adj1" fmla="val -97626"/>
              <a:gd name="adj2" fmla="val -45128"/>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How many random numbers (draws) we want to generate for each variable. Again, for each identically distributed </a:t>
            </a:r>
            <a:r>
              <a:rPr lang="en-US" dirty="0" err="1"/>
              <a:t>r.v.</a:t>
            </a:r>
            <a:r>
              <a:rPr lang="en-US" dirty="0"/>
              <a:t>, we will generate the same number of draws</a:t>
            </a:r>
          </a:p>
        </p:txBody>
      </p:sp>
      <p:sp>
        <p:nvSpPr>
          <p:cNvPr id="9" name="Rectangular Callout 8"/>
          <p:cNvSpPr/>
          <p:nvPr/>
        </p:nvSpPr>
        <p:spPr>
          <a:xfrm>
            <a:off x="8498584" y="4899698"/>
            <a:ext cx="3380251" cy="1653502"/>
          </a:xfrm>
          <a:prstGeom prst="wedgeRectCallout">
            <a:avLst>
              <a:gd name="adj1" fmla="val -104562"/>
              <a:gd name="adj2" fmla="val -142692"/>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From the drop-down menu, select the distribution of the random variable. Depending on the selected distribution, different input parameters will be asked</a:t>
            </a:r>
          </a:p>
        </p:txBody>
      </p:sp>
      <p:sp>
        <p:nvSpPr>
          <p:cNvPr id="10" name="Rectangular Callout 9"/>
          <p:cNvSpPr/>
          <p:nvPr/>
        </p:nvSpPr>
        <p:spPr>
          <a:xfrm>
            <a:off x="578374" y="4711580"/>
            <a:ext cx="3380251" cy="1290635"/>
          </a:xfrm>
          <a:prstGeom prst="wedgeRectCallout">
            <a:avLst>
              <a:gd name="adj1" fmla="val 78901"/>
              <a:gd name="adj2" fmla="val -107397"/>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For instance, if discrete distribution is selected, the probability mass function should be put here</a:t>
            </a:r>
          </a:p>
        </p:txBody>
      </p:sp>
      <p:sp>
        <p:nvSpPr>
          <p:cNvPr id="11" name="Rectangular Callout 10"/>
          <p:cNvSpPr/>
          <p:nvPr/>
        </p:nvSpPr>
        <p:spPr>
          <a:xfrm>
            <a:off x="3913201" y="5639223"/>
            <a:ext cx="2112461" cy="913978"/>
          </a:xfrm>
          <a:prstGeom prst="wedgeRectCallout">
            <a:avLst>
              <a:gd name="adj1" fmla="val 53928"/>
              <a:gd name="adj2" fmla="val -161268"/>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Is about the generation process, can leave empty</a:t>
            </a:r>
          </a:p>
        </p:txBody>
      </p:sp>
      <p:sp>
        <p:nvSpPr>
          <p:cNvPr id="12" name="Rectangular Callout 11"/>
          <p:cNvSpPr/>
          <p:nvPr/>
        </p:nvSpPr>
        <p:spPr>
          <a:xfrm>
            <a:off x="6205892" y="5794920"/>
            <a:ext cx="2112461" cy="913978"/>
          </a:xfrm>
          <a:prstGeom prst="wedgeRectCallout">
            <a:avLst>
              <a:gd name="adj1" fmla="val -42078"/>
              <a:gd name="adj2" fmla="val -118941"/>
            </a:avLst>
          </a:prstGeom>
          <a:noFill/>
        </p:spPr>
        <p:style>
          <a:lnRef idx="2">
            <a:schemeClr val="dk1"/>
          </a:lnRef>
          <a:fillRef idx="1">
            <a:schemeClr val="lt1"/>
          </a:fillRef>
          <a:effectRef idx="0">
            <a:schemeClr val="dk1"/>
          </a:effectRef>
          <a:fontRef idx="minor">
            <a:schemeClr val="dk1"/>
          </a:fontRef>
        </p:style>
        <p:txBody>
          <a:bodyPr rtlCol="0" anchor="ctr"/>
          <a:lstStyle/>
          <a:p>
            <a:pPr algn="ctr"/>
            <a:r>
              <a:rPr lang="en-US" dirty="0"/>
              <a:t>Where we want to have the random draws</a:t>
            </a:r>
          </a:p>
        </p:txBody>
      </p:sp>
    </p:spTree>
    <p:extLst>
      <p:ext uri="{BB962C8B-B14F-4D97-AF65-F5344CB8AC3E}">
        <p14:creationId xmlns:p14="http://schemas.microsoft.com/office/powerpoint/2010/main" val="4251257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and Excel</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More Excel Tools:</a:t>
            </a:r>
          </a:p>
          <a:p>
            <a:r>
              <a:rPr lang="en-US" dirty="0"/>
              <a:t>Data Analysis </a:t>
            </a:r>
            <a:r>
              <a:rPr lang="en-US" dirty="0">
                <a:sym typeface="Wingdings" panose="05000000000000000000" pitchFamily="2" charset="2"/>
              </a:rPr>
              <a:t> Random Number Generation</a:t>
            </a:r>
          </a:p>
          <a:p>
            <a:pPr lvl="1"/>
            <a:r>
              <a:rPr lang="en-US" dirty="0">
                <a:sym typeface="Wingdings" panose="05000000000000000000" pitchFamily="2" charset="2"/>
              </a:rPr>
              <a:t>Can be used to generate from</a:t>
            </a:r>
          </a:p>
          <a:p>
            <a:pPr lvl="2"/>
            <a:r>
              <a:rPr lang="en-US" dirty="0">
                <a:sym typeface="Wingdings" panose="05000000000000000000" pitchFamily="2" charset="2"/>
              </a:rPr>
              <a:t>Uniform (continuous between a and b)</a:t>
            </a:r>
          </a:p>
          <a:p>
            <a:pPr lvl="2"/>
            <a:r>
              <a:rPr lang="en-US" dirty="0">
                <a:sym typeface="Wingdings" panose="05000000000000000000" pitchFamily="2" charset="2"/>
              </a:rPr>
              <a:t>Normal Distribution (with mean and std. dev.)</a:t>
            </a:r>
          </a:p>
          <a:p>
            <a:pPr lvl="2"/>
            <a:r>
              <a:rPr lang="en-US" dirty="0">
                <a:sym typeface="Wingdings" panose="05000000000000000000" pitchFamily="2" charset="2"/>
              </a:rPr>
              <a:t>Bernoulli (with probability of failure)</a:t>
            </a:r>
          </a:p>
          <a:p>
            <a:pPr lvl="2"/>
            <a:r>
              <a:rPr lang="en-US" dirty="0">
                <a:sym typeface="Wingdings" panose="05000000000000000000" pitchFamily="2" charset="2"/>
              </a:rPr>
              <a:t>Binomial (with probability of failure and # of trials)</a:t>
            </a:r>
          </a:p>
          <a:p>
            <a:pPr lvl="2"/>
            <a:r>
              <a:rPr lang="en-US" dirty="0">
                <a:sym typeface="Wingdings" panose="05000000000000000000" pitchFamily="2" charset="2"/>
              </a:rPr>
              <a:t>Poisson (with rate lambda)</a:t>
            </a:r>
          </a:p>
          <a:p>
            <a:pPr lvl="2"/>
            <a:r>
              <a:rPr lang="en-US" dirty="0">
                <a:sym typeface="Wingdings" panose="05000000000000000000" pitchFamily="2" charset="2"/>
              </a:rPr>
              <a:t>Patterned (an empirical distribution with specifics)</a:t>
            </a:r>
          </a:p>
          <a:p>
            <a:pPr lvl="2"/>
            <a:r>
              <a:rPr lang="en-US" dirty="0">
                <a:sym typeface="Wingdings" panose="05000000000000000000" pitchFamily="2" charset="2"/>
              </a:rPr>
              <a:t>Discrete (with probability mass function) </a:t>
            </a:r>
            <a:endParaRPr lang="en-US" dirty="0"/>
          </a:p>
          <a:p>
            <a:pPr marL="457200" lvl="1" indent="0">
              <a:buNone/>
            </a:pPr>
            <a:endParaRPr lang="en-US" dirty="0">
              <a:sym typeface="Wingdings" panose="05000000000000000000" pitchFamily="2" charset="2"/>
            </a:endParaRPr>
          </a:p>
        </p:txBody>
      </p:sp>
      <p:pic>
        <p:nvPicPr>
          <p:cNvPr id="4" name="Picture 3"/>
          <p:cNvPicPr>
            <a:picLocks noChangeAspect="1"/>
          </p:cNvPicPr>
          <p:nvPr/>
        </p:nvPicPr>
        <p:blipFill>
          <a:blip r:embed="rId2"/>
          <a:stretch>
            <a:fillRect/>
          </a:stretch>
        </p:blipFill>
        <p:spPr>
          <a:xfrm>
            <a:off x="7383707" y="2271986"/>
            <a:ext cx="3518755" cy="3282672"/>
          </a:xfrm>
          <a:prstGeom prst="rect">
            <a:avLst/>
          </a:prstGeom>
        </p:spPr>
      </p:pic>
    </p:spTree>
    <p:extLst>
      <p:ext uri="{BB962C8B-B14F-4D97-AF65-F5344CB8AC3E}">
        <p14:creationId xmlns:p14="http://schemas.microsoft.com/office/powerpoint/2010/main" val="1759524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Newsvendor: Single Period Inventory Profits</a:t>
                </a:r>
              </a:p>
              <a:p>
                <a:pPr lvl="1"/>
                <a:r>
                  <a:rPr lang="en-US" dirty="0">
                    <a:sym typeface="Wingdings" panose="05000000000000000000" pitchFamily="2" charset="2"/>
                  </a:rPr>
                  <a:t>How many championship-logo team hats (denoted by </a:t>
                </a:r>
                <a14:m>
                  <m:oMath xmlns:m="http://schemas.openxmlformats.org/officeDocument/2006/math">
                    <m:r>
                      <a:rPr lang="en-US" i="1" dirty="0" smtClean="0">
                        <a:latin typeface="Cambria Math" panose="02040503050406030204" pitchFamily="18" charset="0"/>
                        <a:sym typeface="Wingdings" panose="05000000000000000000" pitchFamily="2" charset="2"/>
                      </a:rPr>
                      <m:t>h</m:t>
                    </m:r>
                  </m:oMath>
                </a14:m>
                <a:r>
                  <a:rPr lang="en-US" dirty="0">
                    <a:sym typeface="Wingdings" panose="05000000000000000000" pitchFamily="2" charset="2"/>
                  </a:rPr>
                  <a:t>) to stock?</a:t>
                </a:r>
              </a:p>
              <a:p>
                <a:pPr lvl="1"/>
                <a:r>
                  <a:rPr lang="en-US" dirty="0">
                    <a:sym typeface="Wingdings" panose="05000000000000000000" pitchFamily="2" charset="2"/>
                  </a:rPr>
                  <a:t>Must decide on </a:t>
                </a:r>
                <a14:m>
                  <m:oMath xmlns:m="http://schemas.openxmlformats.org/officeDocument/2006/math">
                    <m:r>
                      <a:rPr lang="en-US" i="1" dirty="0" smtClean="0">
                        <a:latin typeface="Cambria Math" panose="02040503050406030204" pitchFamily="18" charset="0"/>
                        <a:sym typeface="Wingdings" panose="05000000000000000000" pitchFamily="2" charset="2"/>
                      </a:rPr>
                      <m:t>h</m:t>
                    </m:r>
                  </m:oMath>
                </a14:m>
                <a:r>
                  <a:rPr lang="en-US" dirty="0">
                    <a:sym typeface="Wingdings" panose="05000000000000000000" pitchFamily="2" charset="2"/>
                  </a:rPr>
                  <a:t> now, can’t reduce/increase order, or re-order</a:t>
                </a:r>
              </a:p>
              <a:p>
                <a:pPr lvl="1"/>
                <a:r>
                  <a:rPr lang="en-US" dirty="0">
                    <a:sym typeface="Wingdings" panose="05000000000000000000" pitchFamily="2" charset="2"/>
                  </a:rPr>
                  <a:t>Over the next month is peak-period demand, assume </a:t>
                </a:r>
                <a14:m>
                  <m:oMath xmlns:m="http://schemas.openxmlformats.org/officeDocument/2006/math">
                    <m:r>
                      <a:rPr lang="en-US" i="1" dirty="0" smtClean="0">
                        <a:latin typeface="Cambria Math" panose="02040503050406030204" pitchFamily="18" charset="0"/>
                        <a:sym typeface="Wingdings" panose="05000000000000000000" pitchFamily="2" charset="2"/>
                      </a:rPr>
                      <m:t>𝐷</m:t>
                    </m:r>
                    <m:r>
                      <a:rPr lang="en-US" i="1" dirty="0" smtClean="0">
                        <a:latin typeface="Cambria Math" panose="02040503050406030204" pitchFamily="18" charset="0"/>
                        <a:sym typeface="Wingdings" panose="05000000000000000000" pitchFamily="2" charset="2"/>
                      </a:rPr>
                      <m:t> ~ </m:t>
                    </m:r>
                    <m:r>
                      <a:rPr lang="en-US" i="1" dirty="0" smtClean="0">
                        <a:latin typeface="Cambria Math" panose="02040503050406030204" pitchFamily="18" charset="0"/>
                        <a:sym typeface="Wingdings" panose="05000000000000000000" pitchFamily="2" charset="2"/>
                      </a:rPr>
                      <m:t>𝐷𝑈</m:t>
                    </m:r>
                    <m:r>
                      <a:rPr lang="en-US" i="1" dirty="0" smtClean="0">
                        <a:latin typeface="Cambria Math" panose="02040503050406030204" pitchFamily="18" charset="0"/>
                        <a:sym typeface="Wingdings" panose="05000000000000000000" pitchFamily="2" charset="2"/>
                      </a:rPr>
                      <m:t>[1000, 5000]</m:t>
                    </m:r>
                  </m:oMath>
                </a14:m>
                <a:endParaRPr lang="en-US" dirty="0">
                  <a:sym typeface="Wingdings" panose="05000000000000000000" pitchFamily="2" charset="2"/>
                </a:endParaRPr>
              </a:p>
              <a:p>
                <a:pPr lvl="2"/>
                <a:r>
                  <a:rPr lang="en-US" dirty="0">
                    <a:sym typeface="Wingdings" panose="05000000000000000000" pitchFamily="2" charset="2"/>
                  </a:rPr>
                  <a:t>For </a:t>
                </a:r>
                <a:r>
                  <a:rPr lang="en-US" dirty="0" err="1">
                    <a:sym typeface="Wingdings" panose="05000000000000000000" pitchFamily="2" charset="2"/>
                  </a:rPr>
                  <a:t>i</a:t>
                </a:r>
                <a:r>
                  <a:rPr lang="en-US" dirty="0">
                    <a:sym typeface="Wingdings" panose="05000000000000000000" pitchFamily="2" charset="2"/>
                  </a:rPr>
                  <a:t> = 1000, 1001, …, 5000, </a:t>
                </a:r>
                <a14:m>
                  <m:oMath xmlns:m="http://schemas.openxmlformats.org/officeDocument/2006/math">
                    <m:r>
                      <a:rPr lang="en-US" i="1" dirty="0" smtClean="0">
                        <a:latin typeface="Cambria Math" panose="02040503050406030204" pitchFamily="18" charset="0"/>
                        <a:sym typeface="Wingdings" panose="05000000000000000000" pitchFamily="2" charset="2"/>
                      </a:rPr>
                      <m:t>𝑃</m:t>
                    </m:r>
                    <m:r>
                      <a:rPr lang="en-US"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𝐷</m:t>
                    </m:r>
                    <m:r>
                      <a:rPr lang="en-US" i="1" dirty="0" smtClean="0">
                        <a:latin typeface="Cambria Math" panose="02040503050406030204" pitchFamily="18" charset="0"/>
                        <a:sym typeface="Wingdings" panose="05000000000000000000" pitchFamily="2" charset="2"/>
                      </a:rPr>
                      <m:t> = </m:t>
                    </m:r>
                    <m:r>
                      <a:rPr lang="en-US" i="1" dirty="0" err="1">
                        <a:latin typeface="Cambria Math" panose="02040503050406030204" pitchFamily="18" charset="0"/>
                        <a:sym typeface="Wingdings" panose="05000000000000000000" pitchFamily="2" charset="2"/>
                      </a:rPr>
                      <m:t>𝑖</m:t>
                    </m:r>
                    <m:r>
                      <a:rPr lang="en-US" i="1" dirty="0">
                        <a:latin typeface="Cambria Math" panose="02040503050406030204" pitchFamily="18" charset="0"/>
                        <a:sym typeface="Wingdings" panose="05000000000000000000" pitchFamily="2" charset="2"/>
                      </a:rPr>
                      <m:t>) = 1/(5000 + 1 – 1000)</m:t>
                    </m:r>
                    <m:r>
                      <a:rPr lang="en-US" i="1" dirty="0" smtClean="0">
                        <a:latin typeface="Cambria Math" panose="02040503050406030204" pitchFamily="18" charset="0"/>
                        <a:ea typeface="Cambria Math" panose="02040503050406030204" pitchFamily="18" charset="0"/>
                        <a:sym typeface="Wingdings" panose="05000000000000000000" pitchFamily="2" charset="2"/>
                      </a:rPr>
                      <m:t>≈</m:t>
                    </m:r>
                    <m:r>
                      <a:rPr lang="en-US" i="1" dirty="0">
                        <a:latin typeface="Cambria Math" panose="02040503050406030204" pitchFamily="18" charset="0"/>
                        <a:sym typeface="Wingdings" panose="05000000000000000000" pitchFamily="2" charset="2"/>
                      </a:rPr>
                      <m:t> </m:t>
                    </m:r>
                    <m:r>
                      <a:rPr lang="en-US" i="1" dirty="0" smtClean="0">
                        <a:latin typeface="Cambria Math" panose="02040503050406030204" pitchFamily="18" charset="0"/>
                        <a:sym typeface="Wingdings" panose="05000000000000000000" pitchFamily="2" charset="2"/>
                      </a:rPr>
                      <m:t>0.000249938</m:t>
                    </m:r>
                  </m:oMath>
                </a14:m>
                <a:endParaRPr lang="en-US" dirty="0">
                  <a:sym typeface="Wingdings" panose="05000000000000000000" pitchFamily="2" charset="2"/>
                </a:endParaRPr>
              </a:p>
              <a:p>
                <a:pPr lvl="1"/>
                <a:r>
                  <a:rPr lang="en-US" dirty="0">
                    <a:sym typeface="Wingdings" panose="05000000000000000000" pitchFamily="2" charset="2"/>
                  </a:rPr>
                  <a:t>Buy at </a:t>
                </a:r>
                <a14:m>
                  <m:oMath xmlns:m="http://schemas.openxmlformats.org/officeDocument/2006/math">
                    <m:r>
                      <a:rPr lang="en-US" i="1" dirty="0" smtClean="0">
                        <a:latin typeface="Cambria Math" panose="02040503050406030204" pitchFamily="18" charset="0"/>
                        <a:sym typeface="Wingdings" panose="05000000000000000000" pitchFamily="2" charset="2"/>
                      </a:rPr>
                      <m:t>𝑤</m:t>
                    </m:r>
                    <m:r>
                      <a:rPr lang="en-US" i="1" dirty="0" smtClean="0">
                        <a:latin typeface="Cambria Math" panose="02040503050406030204" pitchFamily="18" charset="0"/>
                        <a:sym typeface="Wingdings" panose="05000000000000000000" pitchFamily="2" charset="2"/>
                      </a:rPr>
                      <m:t> = $11.00</m:t>
                    </m:r>
                  </m:oMath>
                </a14:m>
                <a:r>
                  <a:rPr lang="en-US" dirty="0">
                    <a:sym typeface="Wingdings" panose="05000000000000000000" pitchFamily="2" charset="2"/>
                  </a:rPr>
                  <a:t>; sell for </a:t>
                </a:r>
                <a14:m>
                  <m:oMath xmlns:m="http://schemas.openxmlformats.org/officeDocument/2006/math">
                    <m:r>
                      <a:rPr lang="en-US" i="1" dirty="0" smtClean="0">
                        <a:latin typeface="Cambria Math" panose="02040503050406030204" pitchFamily="18" charset="0"/>
                        <a:sym typeface="Wingdings" panose="05000000000000000000" pitchFamily="2" charset="2"/>
                      </a:rPr>
                      <m:t>𝑟</m:t>
                    </m:r>
                    <m:r>
                      <a:rPr lang="en-US" i="1" dirty="0" smtClean="0">
                        <a:latin typeface="Cambria Math" panose="02040503050406030204" pitchFamily="18" charset="0"/>
                        <a:sym typeface="Wingdings" panose="05000000000000000000" pitchFamily="2" charset="2"/>
                      </a:rPr>
                      <m:t> = $16.95 </m:t>
                    </m:r>
                  </m:oMath>
                </a14:m>
                <a:r>
                  <a:rPr lang="en-US" dirty="0">
                    <a:sym typeface="Wingdings" panose="05000000000000000000" pitchFamily="2" charset="2"/>
                  </a:rPr>
                  <a:t>in peak period, </a:t>
                </a:r>
                <a14:m>
                  <m:oMath xmlns:m="http://schemas.openxmlformats.org/officeDocument/2006/math">
                    <m:r>
                      <a:rPr lang="en-US" i="1" dirty="0" smtClean="0">
                        <a:latin typeface="Cambria Math" panose="02040503050406030204" pitchFamily="18" charset="0"/>
                        <a:sym typeface="Wingdings" panose="05000000000000000000" pitchFamily="2" charset="2"/>
                      </a:rPr>
                      <m:t>𝑐</m:t>
                    </m:r>
                    <m:r>
                      <a:rPr lang="en-US" i="1" dirty="0" smtClean="0">
                        <a:latin typeface="Cambria Math" panose="02040503050406030204" pitchFamily="18" charset="0"/>
                        <a:sym typeface="Wingdings" panose="05000000000000000000" pitchFamily="2" charset="2"/>
                      </a:rPr>
                      <m:t> = $6.95 </m:t>
                    </m:r>
                  </m:oMath>
                </a14:m>
                <a:r>
                  <a:rPr lang="en-US" dirty="0">
                    <a:sym typeface="Wingdings" panose="05000000000000000000" pitchFamily="2" charset="2"/>
                  </a:rPr>
                  <a:t>in “clearance”</a:t>
                </a:r>
              </a:p>
              <a:p>
                <a:pPr lvl="2"/>
                <a:r>
                  <a:rPr lang="en-US" dirty="0">
                    <a:sym typeface="Wingdings" panose="05000000000000000000" pitchFamily="2" charset="2"/>
                  </a:rPr>
                  <a:t>Can eventually sell all in any post-peak “clearance” period at price </a:t>
                </a:r>
                <a14:m>
                  <m:oMath xmlns:m="http://schemas.openxmlformats.org/officeDocument/2006/math">
                    <m:r>
                      <a:rPr lang="en-US" i="1" dirty="0" smtClean="0">
                        <a:latin typeface="Cambria Math" panose="02040503050406030204" pitchFamily="18" charset="0"/>
                        <a:sym typeface="Wingdings" panose="05000000000000000000" pitchFamily="2" charset="2"/>
                      </a:rPr>
                      <m:t>𝑐</m:t>
                    </m:r>
                  </m:oMath>
                </a14:m>
                <a:endParaRPr lang="en-US" dirty="0">
                  <a:sym typeface="Wingdings" panose="05000000000000000000" pitchFamily="2" charset="2"/>
                </a:endParaRPr>
              </a:p>
              <a:p>
                <a:pPr lvl="1"/>
                <a:r>
                  <a:rPr lang="en-US" dirty="0">
                    <a:sym typeface="Wingdings" panose="05000000000000000000" pitchFamily="2" charset="2"/>
                  </a:rPr>
                  <a:t>Number sold during peak period at </a:t>
                </a:r>
                <a14:m>
                  <m:oMath xmlns:m="http://schemas.openxmlformats.org/officeDocument/2006/math">
                    <m:r>
                      <a:rPr lang="en-US" i="1" dirty="0" smtClean="0">
                        <a:latin typeface="Cambria Math" panose="02040503050406030204" pitchFamily="18" charset="0"/>
                        <a:sym typeface="Wingdings" panose="05000000000000000000" pitchFamily="2" charset="2"/>
                      </a:rPr>
                      <m:t>𝑟</m:t>
                    </m:r>
                  </m:oMath>
                </a14:m>
                <a:r>
                  <a:rPr lang="en-US" dirty="0">
                    <a:sym typeface="Wingdings" panose="05000000000000000000" pitchFamily="2" charset="2"/>
                  </a:rPr>
                  <a:t> (profit: </a:t>
                </a:r>
                <a14:m>
                  <m:oMath xmlns:m="http://schemas.openxmlformats.org/officeDocument/2006/math">
                    <m:r>
                      <a:rPr lang="en-US" b="0" i="0"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𝑟</m:t>
                    </m:r>
                    <m:r>
                      <a:rPr lang="en-US" i="1" dirty="0" smtClean="0">
                        <a:latin typeface="Cambria Math" panose="02040503050406030204" pitchFamily="18" charset="0"/>
                        <a:sym typeface="Wingdings" panose="05000000000000000000" pitchFamily="2" charset="2"/>
                      </a:rPr>
                      <m:t> – </m:t>
                    </m:r>
                    <m:r>
                      <a:rPr lang="en-US" i="1" dirty="0" smtClean="0">
                        <a:latin typeface="Cambria Math" panose="02040503050406030204" pitchFamily="18" charset="0"/>
                        <a:sym typeface="Wingdings" panose="05000000000000000000" pitchFamily="2" charset="2"/>
                      </a:rPr>
                      <m:t>𝑤</m:t>
                    </m:r>
                    <m:r>
                      <a:rPr lang="en-US" b="0" i="1" dirty="0" smtClean="0">
                        <a:latin typeface="Cambria Math" panose="02040503050406030204" pitchFamily="18" charset="0"/>
                        <a:sym typeface="Wingdings" panose="05000000000000000000" pitchFamily="2" charset="2"/>
                      </a:rPr>
                      <m:t>)</m:t>
                    </m:r>
                  </m:oMath>
                </a14:m>
                <a:r>
                  <a:rPr lang="en-US" dirty="0">
                    <a:sym typeface="Wingdings" panose="05000000000000000000" pitchFamily="2" charset="2"/>
                  </a:rPr>
                  <a:t>)  </a:t>
                </a:r>
                <a14:m>
                  <m:oMath xmlns:m="http://schemas.openxmlformats.org/officeDocument/2006/math">
                    <m:r>
                      <m:rPr>
                        <m:sty m:val="p"/>
                      </m:rPr>
                      <a:rPr lang="en-US" i="1" dirty="0" smtClean="0">
                        <a:latin typeface="Cambria Math" panose="02040503050406030204" pitchFamily="18" charset="0"/>
                        <a:sym typeface="Wingdings" panose="05000000000000000000" pitchFamily="2" charset="2"/>
                      </a:rPr>
                      <m:t>min</m:t>
                    </m:r>
                    <m:r>
                      <a:rPr lang="en-US"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𝐷</m:t>
                    </m:r>
                    <m:r>
                      <a:rPr lang="en-US" i="1" dirty="0" smtClean="0">
                        <a:latin typeface="Cambria Math" panose="02040503050406030204" pitchFamily="18" charset="0"/>
                        <a:sym typeface="Wingdings" panose="05000000000000000000" pitchFamily="2" charset="2"/>
                      </a:rPr>
                      <m:t>, </m:t>
                    </m:r>
                    <m:r>
                      <a:rPr lang="en-US" i="1" dirty="0" smtClean="0">
                        <a:latin typeface="Cambria Math" panose="02040503050406030204" pitchFamily="18" charset="0"/>
                        <a:sym typeface="Wingdings" panose="05000000000000000000" pitchFamily="2" charset="2"/>
                      </a:rPr>
                      <m:t>h</m:t>
                    </m:r>
                    <m:r>
                      <a:rPr lang="en-US" i="1" dirty="0" smtClean="0">
                        <a:latin typeface="Cambria Math" panose="02040503050406030204" pitchFamily="18" charset="0"/>
                        <a:sym typeface="Wingdings" panose="05000000000000000000" pitchFamily="2" charset="2"/>
                      </a:rPr>
                      <m:t>)</m:t>
                    </m:r>
                  </m:oMath>
                </a14:m>
                <a:endParaRPr lang="en-US" dirty="0">
                  <a:sym typeface="Wingdings" panose="05000000000000000000" pitchFamily="2" charset="2"/>
                </a:endParaRPr>
              </a:p>
              <a:p>
                <a:pPr lvl="1"/>
                <a:r>
                  <a:rPr lang="en-US" dirty="0">
                    <a:sym typeface="Wingdings" panose="05000000000000000000" pitchFamily="2" charset="2"/>
                  </a:rPr>
                  <a:t>Number sold during clearance period at </a:t>
                </a:r>
                <a14:m>
                  <m:oMath xmlns:m="http://schemas.openxmlformats.org/officeDocument/2006/math">
                    <m:r>
                      <a:rPr lang="en-US" i="1" dirty="0" smtClean="0">
                        <a:latin typeface="Cambria Math" panose="02040503050406030204" pitchFamily="18" charset="0"/>
                        <a:sym typeface="Wingdings" panose="05000000000000000000" pitchFamily="2" charset="2"/>
                      </a:rPr>
                      <m:t>𝑐</m:t>
                    </m:r>
                  </m:oMath>
                </a14:m>
                <a:r>
                  <a:rPr lang="en-US" dirty="0">
                    <a:sym typeface="Wingdings" panose="05000000000000000000" pitchFamily="2" charset="2"/>
                  </a:rPr>
                  <a:t> (loss: </a:t>
                </a:r>
                <a14:m>
                  <m:oMath xmlns:m="http://schemas.openxmlformats.org/officeDocument/2006/math">
                    <m:r>
                      <a:rPr lang="en-US" b="0" i="0"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𝑤</m:t>
                    </m:r>
                    <m:r>
                      <a:rPr lang="en-US" i="1" dirty="0" smtClean="0">
                        <a:latin typeface="Cambria Math" panose="02040503050406030204" pitchFamily="18" charset="0"/>
                        <a:sym typeface="Wingdings" panose="05000000000000000000" pitchFamily="2" charset="2"/>
                      </a:rPr>
                      <m:t> – </m:t>
                    </m:r>
                    <m:r>
                      <a:rPr lang="en-US" i="1" dirty="0" smtClean="0">
                        <a:latin typeface="Cambria Math" panose="02040503050406030204" pitchFamily="18" charset="0"/>
                        <a:sym typeface="Wingdings" panose="05000000000000000000" pitchFamily="2" charset="2"/>
                      </a:rPr>
                      <m:t>𝑐</m:t>
                    </m:r>
                    <m:r>
                      <a:rPr lang="en-US" b="0" i="1" dirty="0" smtClean="0">
                        <a:latin typeface="Cambria Math" panose="02040503050406030204" pitchFamily="18" charset="0"/>
                        <a:sym typeface="Wingdings" panose="05000000000000000000" pitchFamily="2" charset="2"/>
                      </a:rPr>
                      <m:t>)</m:t>
                    </m:r>
                  </m:oMath>
                </a14:m>
                <a:r>
                  <a:rPr lang="en-US" dirty="0">
                    <a:sym typeface="Wingdings" panose="05000000000000000000" pitchFamily="2" charset="2"/>
                  </a:rPr>
                  <a:t>)  </a:t>
                </a:r>
                <a14:m>
                  <m:oMath xmlns:m="http://schemas.openxmlformats.org/officeDocument/2006/math">
                    <m:r>
                      <m:rPr>
                        <m:sty m:val="p"/>
                      </m:rPr>
                      <a:rPr lang="en-US" i="1" dirty="0" smtClean="0">
                        <a:latin typeface="Cambria Math" panose="02040503050406030204" pitchFamily="18" charset="0"/>
                        <a:sym typeface="Wingdings" panose="05000000000000000000" pitchFamily="2" charset="2"/>
                      </a:rPr>
                      <m:t>max</m:t>
                    </m:r>
                    <m:r>
                      <a:rPr lang="en-US" i="1" dirty="0" smtClean="0">
                        <a:latin typeface="Cambria Math" panose="02040503050406030204" pitchFamily="18" charset="0"/>
                        <a:sym typeface="Wingdings" panose="05000000000000000000" pitchFamily="2" charset="2"/>
                      </a:rPr>
                      <m:t>⁡(</m:t>
                    </m:r>
                    <m:r>
                      <a:rPr lang="en-US" i="1" dirty="0" smtClean="0">
                        <a:latin typeface="Cambria Math" panose="02040503050406030204" pitchFamily="18" charset="0"/>
                        <a:sym typeface="Wingdings" panose="05000000000000000000" pitchFamily="2" charset="2"/>
                      </a:rPr>
                      <m:t>h</m:t>
                    </m:r>
                    <m:r>
                      <a:rPr lang="en-US" i="1" dirty="0" smtClean="0">
                        <a:latin typeface="Cambria Math" panose="02040503050406030204" pitchFamily="18" charset="0"/>
                        <a:sym typeface="Wingdings" panose="05000000000000000000" pitchFamily="2" charset="2"/>
                      </a:rPr>
                      <m:t> – </m:t>
                    </m:r>
                    <m:r>
                      <a:rPr lang="en-US" i="1" dirty="0" smtClean="0">
                        <a:latin typeface="Cambria Math" panose="02040503050406030204" pitchFamily="18" charset="0"/>
                        <a:sym typeface="Wingdings" panose="05000000000000000000" pitchFamily="2" charset="2"/>
                      </a:rPr>
                      <m:t>𝐷</m:t>
                    </m:r>
                    <m:r>
                      <a:rPr lang="en-US" i="1" dirty="0" smtClean="0">
                        <a:latin typeface="Cambria Math" panose="02040503050406030204" pitchFamily="18" charset="0"/>
                        <a:sym typeface="Wingdings" panose="05000000000000000000" pitchFamily="2" charset="2"/>
                      </a:rPr>
                      <m:t>, 0)</m:t>
                    </m:r>
                  </m:oMath>
                </a14:m>
                <a:endParaRPr lang="en-US" dirty="0">
                  <a:sym typeface="Wingdings" panose="05000000000000000000" pitchFamily="2" charset="2"/>
                </a:endParaRPr>
              </a:p>
              <a:p>
                <a:endParaRPr lang="en-US" dirty="0">
                  <a:solidFill>
                    <a:srgbClr val="C00000"/>
                  </a:solidFill>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2"/>
                <a:stretch>
                  <a:fillRect l="-956" t="-20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637426" y="4891864"/>
                <a:ext cx="8120877" cy="461665"/>
              </a:xfrm>
              <a:prstGeom prst="rect">
                <a:avLst/>
              </a:prstGeom>
            </p:spPr>
            <p:txBody>
              <a:bodyPr wrap="none">
                <a:spAutoFit/>
              </a:bodyPr>
              <a:lstStyle/>
              <a:p>
                <a:pPr lvl="1">
                  <a:defRPr/>
                </a:pPr>
                <a:r>
                  <a:rPr lang="en-US" sz="2400" dirty="0"/>
                  <a:t>Total profit: </a:t>
                </a:r>
                <a14:m>
                  <m:oMath xmlns:m="http://schemas.openxmlformats.org/officeDocument/2006/math">
                    <m:r>
                      <a:rPr lang="en-US" sz="2400" i="1" dirty="0" smtClean="0">
                        <a:latin typeface="Cambria Math" panose="02040503050406030204" pitchFamily="18" charset="0"/>
                      </a:rPr>
                      <m:t>𝑍</m:t>
                    </m:r>
                    <m:r>
                      <a:rPr lang="en-US" sz="2400" i="1" dirty="0" smtClean="0">
                        <a:latin typeface="Cambria Math" panose="02040503050406030204" pitchFamily="18" charset="0"/>
                      </a:rPr>
                      <m:t>(</m:t>
                    </m:r>
                    <m:r>
                      <a:rPr lang="en-US" sz="2400" i="1" dirty="0" smtClean="0">
                        <a:latin typeface="Cambria Math" panose="02040503050406030204" pitchFamily="18" charset="0"/>
                      </a:rPr>
                      <m:t>h</m:t>
                    </m:r>
                    <m:r>
                      <a:rPr lang="en-US" sz="2400" i="1" dirty="0" smtClean="0">
                        <a:latin typeface="Cambria Math" panose="02040503050406030204" pitchFamily="18" charset="0"/>
                      </a:rPr>
                      <m:t>) = </m:t>
                    </m:r>
                    <m:r>
                      <a:rPr lang="en-US" sz="2400" i="1" dirty="0" smtClean="0">
                        <a:latin typeface="Cambria Math" panose="02040503050406030204" pitchFamily="18" charset="0"/>
                      </a:rPr>
                      <m:t>𝑟</m:t>
                    </m:r>
                    <m:r>
                      <a:rPr lang="en-US" sz="2400" i="1" dirty="0" smtClean="0">
                        <a:latin typeface="Cambria Math" panose="02040503050406030204" pitchFamily="18" charset="0"/>
                      </a:rPr>
                      <m:t> </m:t>
                    </m:r>
                    <m:r>
                      <m:rPr>
                        <m:sty m:val="p"/>
                      </m:rPr>
                      <a:rPr lang="en-US" sz="2400" i="1" dirty="0" smtClean="0">
                        <a:latin typeface="Cambria Math" panose="02040503050406030204" pitchFamily="18" charset="0"/>
                      </a:rPr>
                      <m:t>min</m:t>
                    </m:r>
                    <m:r>
                      <a:rPr lang="en-US" sz="2400" i="1" dirty="0" smtClean="0">
                        <a:latin typeface="Cambria Math" panose="02040503050406030204" pitchFamily="18" charset="0"/>
                      </a:rPr>
                      <m:t>⁡(</m:t>
                    </m:r>
                    <m:r>
                      <a:rPr lang="en-US" sz="2400" i="1" dirty="0" smtClean="0">
                        <a:latin typeface="Cambria Math" panose="02040503050406030204" pitchFamily="18" charset="0"/>
                      </a:rPr>
                      <m:t>𝐷</m:t>
                    </m:r>
                    <m:r>
                      <a:rPr lang="en-US" sz="2400" i="1" dirty="0" smtClean="0">
                        <a:latin typeface="Cambria Math" panose="02040503050406030204" pitchFamily="18" charset="0"/>
                      </a:rPr>
                      <m:t>, </m:t>
                    </m:r>
                    <m:r>
                      <a:rPr lang="en-US" sz="2400" i="1" dirty="0" smtClean="0">
                        <a:latin typeface="Cambria Math" panose="02040503050406030204" pitchFamily="18" charset="0"/>
                      </a:rPr>
                      <m:t>h</m:t>
                    </m:r>
                    <m:r>
                      <a:rPr lang="en-US" sz="2400" i="1" dirty="0" smtClean="0">
                        <a:latin typeface="Cambria Math" panose="02040503050406030204" pitchFamily="18" charset="0"/>
                      </a:rPr>
                      <m:t>) + </m:t>
                    </m:r>
                    <m:r>
                      <a:rPr lang="en-US" sz="2400" i="1" dirty="0" smtClean="0">
                        <a:latin typeface="Cambria Math" panose="02040503050406030204" pitchFamily="18" charset="0"/>
                      </a:rPr>
                      <m:t>𝑐</m:t>
                    </m:r>
                    <m:r>
                      <a:rPr lang="en-US" sz="2400" i="1" dirty="0" smtClean="0">
                        <a:latin typeface="Cambria Math" panose="02040503050406030204" pitchFamily="18" charset="0"/>
                      </a:rPr>
                      <m:t> </m:t>
                    </m:r>
                    <m:r>
                      <m:rPr>
                        <m:sty m:val="p"/>
                      </m:rPr>
                      <a:rPr lang="en-US" sz="2400" i="1" dirty="0" smtClean="0">
                        <a:latin typeface="Cambria Math" panose="02040503050406030204" pitchFamily="18" charset="0"/>
                      </a:rPr>
                      <m:t>max</m:t>
                    </m:r>
                    <m:r>
                      <a:rPr lang="en-US" sz="2400" i="1" dirty="0" smtClean="0">
                        <a:latin typeface="Cambria Math" panose="02040503050406030204" pitchFamily="18" charset="0"/>
                      </a:rPr>
                      <m:t>⁡(</m:t>
                    </m:r>
                    <m:r>
                      <a:rPr lang="en-US" sz="2400" i="1" dirty="0" smtClean="0">
                        <a:latin typeface="Cambria Math" panose="02040503050406030204" pitchFamily="18" charset="0"/>
                      </a:rPr>
                      <m:t>h</m:t>
                    </m:r>
                    <m:r>
                      <a:rPr lang="en-US" sz="2400" i="1" dirty="0" smtClean="0">
                        <a:latin typeface="Cambria Math" panose="02040503050406030204" pitchFamily="18" charset="0"/>
                      </a:rPr>
                      <m:t> – </m:t>
                    </m:r>
                    <m:r>
                      <a:rPr lang="en-US" sz="2400" i="1" dirty="0" smtClean="0">
                        <a:latin typeface="Cambria Math" panose="02040503050406030204" pitchFamily="18" charset="0"/>
                      </a:rPr>
                      <m:t>𝐷</m:t>
                    </m:r>
                    <m:r>
                      <a:rPr lang="en-US" sz="2400" i="1" dirty="0" smtClean="0">
                        <a:latin typeface="Cambria Math" panose="02040503050406030204" pitchFamily="18" charset="0"/>
                      </a:rPr>
                      <m:t>, 0) – </m:t>
                    </m:r>
                    <m:r>
                      <a:rPr lang="en-US" sz="2400" i="1" dirty="0" err="1">
                        <a:latin typeface="Cambria Math" panose="02040503050406030204" pitchFamily="18" charset="0"/>
                      </a:rPr>
                      <m:t>𝑤h</m:t>
                    </m:r>
                  </m:oMath>
                </a14:m>
                <a:endParaRPr lang="en-US" sz="2400" i="1" dirty="0"/>
              </a:p>
            </p:txBody>
          </p:sp>
        </mc:Choice>
        <mc:Fallback xmlns="">
          <p:sp>
            <p:nvSpPr>
              <p:cNvPr id="6" name="Rectangle 5"/>
              <p:cNvSpPr>
                <a:spLocks noRot="1" noChangeAspect="1" noMove="1" noResize="1" noEditPoints="1" noAdjustHandles="1" noChangeArrowheads="1" noChangeShapeType="1" noTextEdit="1"/>
              </p:cNvSpPr>
              <p:nvPr/>
            </p:nvSpPr>
            <p:spPr>
              <a:xfrm>
                <a:off x="1637426" y="4891864"/>
                <a:ext cx="8120877" cy="461665"/>
              </a:xfrm>
              <a:prstGeom prst="rect">
                <a:avLst/>
              </a:prstGeom>
              <a:blipFill>
                <a:blip r:embed="rId3"/>
                <a:stretch>
                  <a:fillRect t="-10526" b="-28947"/>
                </a:stretch>
              </a:blipFill>
            </p:spPr>
            <p:txBody>
              <a:bodyPr/>
              <a:lstStyle/>
              <a:p>
                <a:r>
                  <a:rPr lang="en-US">
                    <a:noFill/>
                  </a:rPr>
                  <a:t> </a:t>
                </a:r>
              </a:p>
            </p:txBody>
          </p:sp>
        </mc:Fallback>
      </mc:AlternateContent>
      <p:sp>
        <p:nvSpPr>
          <p:cNvPr id="9" name="TextBox 8"/>
          <p:cNvSpPr txBox="1"/>
          <p:nvPr/>
        </p:nvSpPr>
        <p:spPr>
          <a:xfrm>
            <a:off x="4855087" y="5605146"/>
            <a:ext cx="1444625" cy="276999"/>
          </a:xfrm>
          <a:prstGeom prst="rect">
            <a:avLst/>
          </a:prstGeom>
          <a:noFill/>
        </p:spPr>
        <p:txBody>
          <a:bodyPr wrap="square">
            <a:spAutoFit/>
          </a:bodyPr>
          <a:lstStyle/>
          <a:p>
            <a:pPr algn="ctr">
              <a:defRPr/>
            </a:pPr>
            <a:r>
              <a:rPr lang="en-US" sz="1200" dirty="0">
                <a:latin typeface="+mn-lt"/>
                <a:cs typeface="Arial" charset="0"/>
              </a:rPr>
              <a:t>Peak revenue</a:t>
            </a:r>
          </a:p>
        </p:txBody>
      </p:sp>
      <p:sp>
        <p:nvSpPr>
          <p:cNvPr id="10" name="TextBox 9"/>
          <p:cNvSpPr txBox="1"/>
          <p:nvPr/>
        </p:nvSpPr>
        <p:spPr>
          <a:xfrm>
            <a:off x="6768023" y="5579965"/>
            <a:ext cx="2035175" cy="276999"/>
          </a:xfrm>
          <a:prstGeom prst="rect">
            <a:avLst/>
          </a:prstGeom>
          <a:noFill/>
        </p:spPr>
        <p:txBody>
          <a:bodyPr wrap="square">
            <a:spAutoFit/>
          </a:bodyPr>
          <a:lstStyle/>
          <a:p>
            <a:pPr algn="ctr">
              <a:defRPr/>
            </a:pPr>
            <a:r>
              <a:rPr lang="en-US" sz="1200" dirty="0">
                <a:latin typeface="+mn-lt"/>
                <a:cs typeface="Arial" charset="0"/>
              </a:rPr>
              <a:t>Clearance revenue</a:t>
            </a:r>
          </a:p>
        </p:txBody>
      </p:sp>
      <p:sp>
        <p:nvSpPr>
          <p:cNvPr id="11" name="TextBox 10"/>
          <p:cNvSpPr txBox="1"/>
          <p:nvPr/>
        </p:nvSpPr>
        <p:spPr>
          <a:xfrm>
            <a:off x="8923278" y="6141736"/>
            <a:ext cx="835025" cy="276225"/>
          </a:xfrm>
          <a:prstGeom prst="rect">
            <a:avLst/>
          </a:prstGeom>
          <a:noFill/>
        </p:spPr>
        <p:txBody>
          <a:bodyPr wrap="none">
            <a:spAutoFit/>
          </a:bodyPr>
          <a:lstStyle/>
          <a:p>
            <a:pPr algn="ctr">
              <a:defRPr/>
            </a:pPr>
            <a:r>
              <a:rPr lang="en-US" sz="1200" dirty="0">
                <a:latin typeface="+mn-lt"/>
                <a:cs typeface="Arial" charset="0"/>
              </a:rPr>
              <a:t>Total cost</a:t>
            </a:r>
          </a:p>
        </p:txBody>
      </p:sp>
      <p:sp>
        <p:nvSpPr>
          <p:cNvPr id="12" name="TextBox 11"/>
          <p:cNvSpPr txBox="1"/>
          <p:nvPr/>
        </p:nvSpPr>
        <p:spPr>
          <a:xfrm>
            <a:off x="6215573" y="6132205"/>
            <a:ext cx="1104900" cy="276225"/>
          </a:xfrm>
          <a:prstGeom prst="rect">
            <a:avLst/>
          </a:prstGeom>
          <a:noFill/>
        </p:spPr>
        <p:txBody>
          <a:bodyPr wrap="none">
            <a:spAutoFit/>
          </a:bodyPr>
          <a:lstStyle/>
          <a:p>
            <a:pPr algn="ctr">
              <a:defRPr/>
            </a:pPr>
            <a:r>
              <a:rPr lang="en-US" sz="1200" dirty="0">
                <a:latin typeface="+mn-lt"/>
                <a:cs typeface="Arial" charset="0"/>
              </a:rPr>
              <a:t>Total revenue</a:t>
            </a:r>
          </a:p>
        </p:txBody>
      </p:sp>
      <p:sp>
        <p:nvSpPr>
          <p:cNvPr id="13" name="Left Brace 12"/>
          <p:cNvSpPr/>
          <p:nvPr/>
        </p:nvSpPr>
        <p:spPr>
          <a:xfrm rot="16200000">
            <a:off x="5445840" y="4726093"/>
            <a:ext cx="237718" cy="1470025"/>
          </a:xfrm>
          <a:prstGeom prst="leftBrace">
            <a:avLst>
              <a:gd name="adj1" fmla="val 28333"/>
              <a:gd name="adj2"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4" name="Left Brace 13"/>
          <p:cNvSpPr/>
          <p:nvPr/>
        </p:nvSpPr>
        <p:spPr>
          <a:xfrm rot="16200000">
            <a:off x="7731939" y="4501915"/>
            <a:ext cx="195265" cy="1916723"/>
          </a:xfrm>
          <a:prstGeom prst="leftBrace">
            <a:avLst>
              <a:gd name="adj1" fmla="val 28333"/>
              <a:gd name="adj2"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5" name="Left Brace 14"/>
          <p:cNvSpPr/>
          <p:nvPr/>
        </p:nvSpPr>
        <p:spPr>
          <a:xfrm rot="16200000">
            <a:off x="9016274" y="5487549"/>
            <a:ext cx="791431" cy="393119"/>
          </a:xfrm>
          <a:prstGeom prst="leftBrace">
            <a:avLst>
              <a:gd name="adj1" fmla="val 28333"/>
              <a:gd name="adj2"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6" name="Left Brace 15"/>
          <p:cNvSpPr/>
          <p:nvPr/>
        </p:nvSpPr>
        <p:spPr>
          <a:xfrm rot="16200000">
            <a:off x="6691114" y="3995536"/>
            <a:ext cx="250656" cy="3973512"/>
          </a:xfrm>
          <a:prstGeom prst="leftBrace">
            <a:avLst>
              <a:gd name="adj1" fmla="val 28333"/>
              <a:gd name="adj2" fmla="val 50000"/>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extLst>
      <p:ext uri="{BB962C8B-B14F-4D97-AF65-F5344CB8AC3E}">
        <p14:creationId xmlns:p14="http://schemas.microsoft.com/office/powerpoint/2010/main" val="852127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p:bldP spid="11" grpId="0"/>
      <p:bldP spid="12" grpId="0"/>
      <p:bldP spid="13" grpId="0" animBg="1"/>
      <p:bldP spid="14" grpId="0" animBg="1"/>
      <p:bldP spid="15"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fontScale="92500" lnSpcReduction="20000"/>
              </a:bodyPr>
              <a:lstStyle/>
              <a:p>
                <a:r>
                  <a:rPr lang="en-US" dirty="0">
                    <a:solidFill>
                      <a:srgbClr val="C00000"/>
                    </a:solidFill>
                  </a:rPr>
                  <a:t>Newsvendor: Single Period Inventory Profits</a:t>
                </a:r>
              </a:p>
              <a:p>
                <a:endParaRPr lang="en-US" dirty="0">
                  <a:solidFill>
                    <a:srgbClr val="C00000"/>
                  </a:solidFill>
                </a:endParaRPr>
              </a:p>
              <a:p>
                <a:pPr lvl="3"/>
                <a:endParaRPr lang="en-US" dirty="0">
                  <a:solidFill>
                    <a:srgbClr val="C00000"/>
                  </a:solidFill>
                </a:endParaRPr>
              </a:p>
              <a:p>
                <a:pPr lvl="1"/>
                <a:r>
                  <a:rPr lang="en-US" dirty="0"/>
                  <a:t>Note that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m:t>
                    </m:r>
                  </m:oMath>
                </a14:m>
                <a:r>
                  <a:rPr lang="en-US" dirty="0"/>
                  <a:t> is a random variable, since it depends on the </a:t>
                </a:r>
                <a:r>
                  <a:rPr lang="en-US" dirty="0" err="1"/>
                  <a:t>r.v</a:t>
                </a:r>
                <a:r>
                  <a:rPr lang="en-US" dirty="0"/>
                  <a:t>. </a:t>
                </a:r>
                <a14:m>
                  <m:oMath xmlns:m="http://schemas.openxmlformats.org/officeDocument/2006/math">
                    <m:r>
                      <a:rPr lang="en-US" i="1" dirty="0" smtClean="0">
                        <a:latin typeface="Cambria Math" panose="02040503050406030204" pitchFamily="18" charset="0"/>
                      </a:rPr>
                      <m:t>𝐷</m:t>
                    </m:r>
                  </m:oMath>
                </a14:m>
                <a:endParaRPr lang="en-US" dirty="0"/>
              </a:p>
              <a:p>
                <a:pPr lvl="1"/>
                <a:r>
                  <a:rPr lang="en-US" dirty="0"/>
                  <a:t>What </a:t>
                </a:r>
                <a14:m>
                  <m:oMath xmlns:m="http://schemas.openxmlformats.org/officeDocument/2006/math">
                    <m:r>
                      <a:rPr lang="en-US" i="1" dirty="0" smtClean="0">
                        <a:latin typeface="Cambria Math" panose="02040503050406030204" pitchFamily="18" charset="0"/>
                      </a:rPr>
                      <m:t>h</m:t>
                    </m:r>
                  </m:oMath>
                </a14:m>
                <a:r>
                  <a:rPr lang="en-US" dirty="0"/>
                  <a:t> maximizes expected value of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m:t>
                    </m:r>
                  </m:oMath>
                </a14:m>
                <a:r>
                  <a:rPr lang="en-US" dirty="0"/>
                  <a:t>?  </a:t>
                </a:r>
              </a:p>
              <a:p>
                <a:pPr lvl="2"/>
                <a:r>
                  <a:rPr lang="en-US" dirty="0"/>
                  <a:t>What about standard deviation (risk) of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m:t>
                    </m:r>
                  </m:oMath>
                </a14:m>
                <a:r>
                  <a:rPr lang="en-US" dirty="0"/>
                  <a:t>?  Shape of distribution of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m:t>
                    </m:r>
                  </m:oMath>
                </a14:m>
                <a:r>
                  <a:rPr lang="en-US" dirty="0"/>
                  <a:t>?</a:t>
                </a:r>
              </a:p>
              <a:p>
                <a:pPr lvl="1"/>
                <a:endParaRPr lang="en-US" dirty="0"/>
              </a:p>
              <a:p>
                <a:pPr lvl="1"/>
                <a:r>
                  <a:rPr lang="en-US" dirty="0"/>
                  <a:t>This is a well-known inventory problem</a:t>
                </a:r>
              </a:p>
              <a:p>
                <a:pPr lvl="2"/>
                <a:r>
                  <a:rPr lang="en-US" dirty="0"/>
                  <a:t>Newsvendor problem (daily newspapers): how many to order at the beginning of a single period?</a:t>
                </a:r>
              </a:p>
              <a:p>
                <a:pPr lvl="3"/>
                <a:r>
                  <a:rPr lang="en-US" dirty="0"/>
                  <a:t>If ordered too few </a:t>
                </a:r>
                <a:r>
                  <a:rPr lang="en-US" dirty="0">
                    <a:sym typeface="Wingdings" panose="05000000000000000000" pitchFamily="2" charset="2"/>
                  </a:rPr>
                  <a:t> then, there might be unsatisfied customers and loss of opportunity </a:t>
                </a:r>
              </a:p>
              <a:p>
                <a:pPr lvl="4"/>
                <a:r>
                  <a:rPr lang="en-US" dirty="0">
                    <a:sym typeface="Wingdings" panose="05000000000000000000" pitchFamily="2" charset="2"/>
                  </a:rPr>
                  <a:t>This is the cost of underage</a:t>
                </a:r>
              </a:p>
              <a:p>
                <a:pPr lvl="3"/>
                <a:r>
                  <a:rPr lang="en-US" dirty="0">
                    <a:sym typeface="Wingdings" panose="05000000000000000000" pitchFamily="2" charset="2"/>
                  </a:rPr>
                  <a:t>If ordered too many  then, there might be leftovers, which will lose value</a:t>
                </a:r>
              </a:p>
              <a:p>
                <a:pPr lvl="4"/>
                <a:r>
                  <a:rPr lang="en-US" dirty="0"/>
                  <a:t>This is the cost of overage</a:t>
                </a:r>
              </a:p>
              <a:p>
                <a:pPr lvl="3"/>
                <a:r>
                  <a:rPr lang="en-US" dirty="0"/>
                  <a:t>How to balance overage and underage?</a:t>
                </a:r>
              </a:p>
              <a:p>
                <a:pPr lvl="2"/>
                <a:r>
                  <a:rPr lang="en-US" dirty="0"/>
                  <a:t>Much-studied, some analytical solutions</a:t>
                </a:r>
              </a:p>
              <a:p>
                <a:pPr lvl="2"/>
                <a:r>
                  <a:rPr lang="en-US" dirty="0"/>
                  <a:t>Applications – fresh food, blood banks, technology products, fashion products</a:t>
                </a:r>
              </a:p>
              <a:p>
                <a:pPr lvl="1"/>
                <a:endParaRPr lang="en-US" dirty="0"/>
              </a:p>
              <a:p>
                <a:pPr lvl="2"/>
                <a:endParaRPr lang="en-US" dirty="0"/>
              </a:p>
              <a:p>
                <a:endParaRPr lang="en-US" dirty="0">
                  <a:solidFill>
                    <a:srgbClr val="C00000"/>
                  </a:solidFill>
                </a:endParaRPr>
              </a:p>
              <a:p>
                <a:endParaRPr lang="en-US" dirty="0">
                  <a:solidFill>
                    <a:srgbClr val="C00000"/>
                  </a:solidFill>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2"/>
                <a:stretch>
                  <a:fillRect l="-797" t="-31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884972" y="1726451"/>
                <a:ext cx="7659213" cy="461665"/>
              </a:xfrm>
              <a:prstGeom prst="rect">
                <a:avLst/>
              </a:prstGeom>
              <a:ln>
                <a:solidFill>
                  <a:srgbClr val="C00000"/>
                </a:solidFill>
              </a:ln>
            </p:spPr>
            <p:txBody>
              <a:bodyPr wrap="none">
                <a:spAutoFit/>
              </a:bodyPr>
              <a:lstStyle/>
              <a:p>
                <a:pPr>
                  <a:defRPr/>
                </a:pPr>
                <a:r>
                  <a:rPr lang="en-US" sz="2400" dirty="0"/>
                  <a:t>Total profit: </a:t>
                </a:r>
                <a14:m>
                  <m:oMath xmlns:m="http://schemas.openxmlformats.org/officeDocument/2006/math">
                    <m:r>
                      <a:rPr lang="en-US" sz="2400" i="1" dirty="0" smtClean="0">
                        <a:latin typeface="Cambria Math" panose="02040503050406030204" pitchFamily="18" charset="0"/>
                      </a:rPr>
                      <m:t>𝑍</m:t>
                    </m:r>
                    <m:r>
                      <a:rPr lang="en-US" sz="2400" i="1" dirty="0" smtClean="0">
                        <a:latin typeface="Cambria Math" panose="02040503050406030204" pitchFamily="18" charset="0"/>
                      </a:rPr>
                      <m:t>(</m:t>
                    </m:r>
                    <m:r>
                      <a:rPr lang="en-US" sz="2400" i="1" dirty="0" smtClean="0">
                        <a:latin typeface="Cambria Math" panose="02040503050406030204" pitchFamily="18" charset="0"/>
                      </a:rPr>
                      <m:t>h</m:t>
                    </m:r>
                    <m:r>
                      <a:rPr lang="en-US" sz="2400" i="1" dirty="0" smtClean="0">
                        <a:latin typeface="Cambria Math" panose="02040503050406030204" pitchFamily="18" charset="0"/>
                      </a:rPr>
                      <m:t>) = </m:t>
                    </m:r>
                    <m:r>
                      <a:rPr lang="en-US" sz="2400" i="1" dirty="0" smtClean="0">
                        <a:latin typeface="Cambria Math" panose="02040503050406030204" pitchFamily="18" charset="0"/>
                      </a:rPr>
                      <m:t>𝑟</m:t>
                    </m:r>
                    <m:r>
                      <a:rPr lang="en-US" sz="2400" i="1" dirty="0" smtClean="0">
                        <a:latin typeface="Cambria Math" panose="02040503050406030204" pitchFamily="18" charset="0"/>
                      </a:rPr>
                      <m:t> </m:t>
                    </m:r>
                    <m:r>
                      <m:rPr>
                        <m:sty m:val="p"/>
                      </m:rPr>
                      <a:rPr lang="en-US" sz="2400" i="1" dirty="0" smtClean="0">
                        <a:latin typeface="Cambria Math" panose="02040503050406030204" pitchFamily="18" charset="0"/>
                      </a:rPr>
                      <m:t>min</m:t>
                    </m:r>
                    <m:r>
                      <a:rPr lang="en-US" sz="2400" i="1" dirty="0" smtClean="0">
                        <a:latin typeface="Cambria Math" panose="02040503050406030204" pitchFamily="18" charset="0"/>
                      </a:rPr>
                      <m:t>⁡(</m:t>
                    </m:r>
                    <m:r>
                      <a:rPr lang="en-US" sz="2400" i="1" dirty="0" smtClean="0">
                        <a:latin typeface="Cambria Math" panose="02040503050406030204" pitchFamily="18" charset="0"/>
                      </a:rPr>
                      <m:t>𝐷</m:t>
                    </m:r>
                    <m:r>
                      <a:rPr lang="en-US" sz="2400" i="1" dirty="0" smtClean="0">
                        <a:latin typeface="Cambria Math" panose="02040503050406030204" pitchFamily="18" charset="0"/>
                      </a:rPr>
                      <m:t>, </m:t>
                    </m:r>
                    <m:r>
                      <a:rPr lang="en-US" sz="2400" i="1" dirty="0" smtClean="0">
                        <a:latin typeface="Cambria Math" panose="02040503050406030204" pitchFamily="18" charset="0"/>
                      </a:rPr>
                      <m:t>h</m:t>
                    </m:r>
                    <m:r>
                      <a:rPr lang="en-US" sz="2400" i="1" dirty="0" smtClean="0">
                        <a:latin typeface="Cambria Math" panose="02040503050406030204" pitchFamily="18" charset="0"/>
                      </a:rPr>
                      <m:t>) + </m:t>
                    </m:r>
                    <m:r>
                      <a:rPr lang="en-US" sz="2400" i="1" dirty="0" smtClean="0">
                        <a:latin typeface="Cambria Math" panose="02040503050406030204" pitchFamily="18" charset="0"/>
                      </a:rPr>
                      <m:t>𝑐</m:t>
                    </m:r>
                    <m:r>
                      <a:rPr lang="en-US" sz="2400" i="1" dirty="0" smtClean="0">
                        <a:latin typeface="Cambria Math" panose="02040503050406030204" pitchFamily="18" charset="0"/>
                      </a:rPr>
                      <m:t> </m:t>
                    </m:r>
                    <m:r>
                      <m:rPr>
                        <m:sty m:val="p"/>
                      </m:rPr>
                      <a:rPr lang="en-US" sz="2400" i="1" dirty="0" smtClean="0">
                        <a:latin typeface="Cambria Math" panose="02040503050406030204" pitchFamily="18" charset="0"/>
                      </a:rPr>
                      <m:t>max</m:t>
                    </m:r>
                    <m:r>
                      <a:rPr lang="en-US" sz="2400" i="1" dirty="0" smtClean="0">
                        <a:latin typeface="Cambria Math" panose="02040503050406030204" pitchFamily="18" charset="0"/>
                      </a:rPr>
                      <m:t>⁡(</m:t>
                    </m:r>
                    <m:r>
                      <a:rPr lang="en-US" sz="2400" i="1" dirty="0" smtClean="0">
                        <a:latin typeface="Cambria Math" panose="02040503050406030204" pitchFamily="18" charset="0"/>
                      </a:rPr>
                      <m:t>h</m:t>
                    </m:r>
                    <m:r>
                      <a:rPr lang="en-US" sz="2400" i="1" dirty="0" smtClean="0">
                        <a:latin typeface="Cambria Math" panose="02040503050406030204" pitchFamily="18" charset="0"/>
                      </a:rPr>
                      <m:t> – </m:t>
                    </m:r>
                    <m:r>
                      <a:rPr lang="en-US" sz="2400" i="1" dirty="0" smtClean="0">
                        <a:latin typeface="Cambria Math" panose="02040503050406030204" pitchFamily="18" charset="0"/>
                      </a:rPr>
                      <m:t>𝐷</m:t>
                    </m:r>
                    <m:r>
                      <a:rPr lang="en-US" sz="2400" i="1" dirty="0" smtClean="0">
                        <a:latin typeface="Cambria Math" panose="02040503050406030204" pitchFamily="18" charset="0"/>
                      </a:rPr>
                      <m:t>, 0) – </m:t>
                    </m:r>
                    <m:r>
                      <a:rPr lang="en-US" sz="2400" i="1" dirty="0" err="1">
                        <a:latin typeface="Cambria Math" panose="02040503050406030204" pitchFamily="18" charset="0"/>
                      </a:rPr>
                      <m:t>𝑤h</m:t>
                    </m:r>
                  </m:oMath>
                </a14:m>
                <a:endParaRPr lang="en-US" sz="2400" i="1" dirty="0"/>
              </a:p>
            </p:txBody>
          </p:sp>
        </mc:Choice>
        <mc:Fallback xmlns="">
          <p:sp>
            <p:nvSpPr>
              <p:cNvPr id="6" name="Rectangle 5"/>
              <p:cNvSpPr>
                <a:spLocks noRot="1" noChangeAspect="1" noMove="1" noResize="1" noEditPoints="1" noAdjustHandles="1" noChangeArrowheads="1" noChangeShapeType="1" noTextEdit="1"/>
              </p:cNvSpPr>
              <p:nvPr/>
            </p:nvSpPr>
            <p:spPr>
              <a:xfrm>
                <a:off x="1884972" y="1726451"/>
                <a:ext cx="7659213" cy="461665"/>
              </a:xfrm>
              <a:prstGeom prst="rect">
                <a:avLst/>
              </a:prstGeom>
              <a:blipFill>
                <a:blip r:embed="rId3"/>
                <a:stretch>
                  <a:fillRect l="-1112" t="-8974" b="-26923"/>
                </a:stretch>
              </a:blipFill>
              <a:ln>
                <a:solidFill>
                  <a:srgbClr val="C00000"/>
                </a:solidFill>
              </a:ln>
            </p:spPr>
            <p:txBody>
              <a:bodyPr/>
              <a:lstStyle/>
              <a:p>
                <a:r>
                  <a:rPr lang="en-US">
                    <a:noFill/>
                  </a:rPr>
                  <a:t> </a:t>
                </a:r>
              </a:p>
            </p:txBody>
          </p:sp>
        </mc:Fallback>
      </mc:AlternateContent>
      <p:pic>
        <p:nvPicPr>
          <p:cNvPr id="4" name="Picture 3"/>
          <p:cNvPicPr>
            <a:picLocks noChangeAspect="1"/>
          </p:cNvPicPr>
          <p:nvPr/>
        </p:nvPicPr>
        <p:blipFill>
          <a:blip r:embed="rId4"/>
          <a:stretch>
            <a:fillRect/>
          </a:stretch>
        </p:blipFill>
        <p:spPr>
          <a:xfrm>
            <a:off x="10299887" y="4846394"/>
            <a:ext cx="1533525" cy="1600200"/>
          </a:xfrm>
          <a:prstGeom prst="rect">
            <a:avLst/>
          </a:prstGeom>
        </p:spPr>
      </p:pic>
    </p:spTree>
    <p:extLst>
      <p:ext uri="{BB962C8B-B14F-4D97-AF65-F5344CB8AC3E}">
        <p14:creationId xmlns:p14="http://schemas.microsoft.com/office/powerpoint/2010/main" val="2717786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4" end="14"/>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5180442"/>
              </a:xfrm>
            </p:spPr>
            <p:txBody>
              <a:bodyPr>
                <a:normAutofit/>
              </a:bodyPr>
              <a:lstStyle/>
              <a:p>
                <a:r>
                  <a:rPr lang="en-US" dirty="0">
                    <a:solidFill>
                      <a:srgbClr val="C00000"/>
                    </a:solidFill>
                  </a:rPr>
                  <a:t>Newsvendor: Single Period Inventory Profits</a:t>
                </a:r>
              </a:p>
              <a:p>
                <a:pPr lvl="1"/>
                <a:r>
                  <a:rPr lang="en-US" dirty="0"/>
                  <a:t>We want to simulate values for </a:t>
                </a:r>
                <a14:m>
                  <m:oMath xmlns:m="http://schemas.openxmlformats.org/officeDocument/2006/math">
                    <m:r>
                      <a:rPr lang="en-US" i="1" dirty="0" smtClean="0">
                        <a:latin typeface="Cambria Math" panose="02040503050406030204" pitchFamily="18" charset="0"/>
                      </a:rPr>
                      <m:t>𝑍</m:t>
                    </m:r>
                    <m:r>
                      <a:rPr lang="en-US" i="1" dirty="0" smtClean="0">
                        <a:latin typeface="Cambria Math" panose="02040503050406030204" pitchFamily="18" charset="0"/>
                      </a:rPr>
                      <m:t>(</m:t>
                    </m:r>
                    <m:r>
                      <a:rPr lang="en-US" i="1" dirty="0" smtClean="0">
                        <a:latin typeface="Cambria Math" panose="02040503050406030204" pitchFamily="18" charset="0"/>
                      </a:rPr>
                      <m:t>h</m:t>
                    </m:r>
                    <m:r>
                      <a:rPr lang="en-US" i="1" dirty="0" smtClean="0">
                        <a:latin typeface="Cambria Math" panose="02040503050406030204" pitchFamily="18" charset="0"/>
                      </a:rPr>
                      <m:t>)</m:t>
                    </m:r>
                  </m:oMath>
                </a14:m>
                <a:r>
                  <a:rPr lang="en-US" dirty="0"/>
                  <a:t> with different h values </a:t>
                </a:r>
              </a:p>
              <a:p>
                <a:pPr lvl="2"/>
                <a:r>
                  <a:rPr lang="en-US" dirty="0"/>
                  <a:t>So that we can select the best one</a:t>
                </a:r>
              </a:p>
              <a:p>
                <a:pPr lvl="1"/>
                <a:r>
                  <a:rPr lang="en-US" dirty="0"/>
                  <a:t>We know the model </a:t>
                </a:r>
                <a:r>
                  <a:rPr lang="en-US" dirty="0">
                    <a:sym typeface="Wingdings" panose="05000000000000000000" pitchFamily="2" charset="2"/>
                  </a:rPr>
                  <a:t> The profit function, what we want to do/evaluate</a:t>
                </a:r>
              </a:p>
              <a:p>
                <a:pPr lvl="1"/>
                <a:r>
                  <a:rPr lang="en-US" dirty="0">
                    <a:sym typeface="Wingdings" panose="05000000000000000000" pitchFamily="2" charset="2"/>
                  </a:rPr>
                  <a:t>We know the input</a:t>
                </a:r>
              </a:p>
              <a:p>
                <a:pPr lvl="2"/>
                <a:r>
                  <a:rPr lang="en-US" dirty="0">
                    <a:sym typeface="Wingdings" panose="05000000000000000000" pitchFamily="2" charset="2"/>
                  </a:rPr>
                  <a:t>Problem parameters (deterministic): </a:t>
                </a:r>
                <a14:m>
                  <m:oMath xmlns:m="http://schemas.openxmlformats.org/officeDocument/2006/math">
                    <m:r>
                      <a:rPr lang="en-US" i="1" dirty="0">
                        <a:latin typeface="Cambria Math" panose="02040503050406030204" pitchFamily="18" charset="0"/>
                        <a:sym typeface="Wingdings" panose="05000000000000000000" pitchFamily="2" charset="2"/>
                      </a:rPr>
                      <m:t>𝑤</m:t>
                    </m:r>
                    <m:r>
                      <a:rPr lang="en-US" i="1" dirty="0">
                        <a:latin typeface="Cambria Math" panose="02040503050406030204" pitchFamily="18" charset="0"/>
                        <a:sym typeface="Wingdings" panose="05000000000000000000" pitchFamily="2" charset="2"/>
                      </a:rPr>
                      <m:t> = $11.00</m:t>
                    </m:r>
                  </m:oMath>
                </a14:m>
                <a:r>
                  <a:rPr lang="en-US" dirty="0">
                    <a:sym typeface="Wingdings" panose="05000000000000000000" pitchFamily="2" charset="2"/>
                  </a:rPr>
                  <a:t>; </a:t>
                </a:r>
                <a14:m>
                  <m:oMath xmlns:m="http://schemas.openxmlformats.org/officeDocument/2006/math">
                    <m:r>
                      <a:rPr lang="en-US" i="1" dirty="0">
                        <a:latin typeface="Cambria Math" panose="02040503050406030204" pitchFamily="18" charset="0"/>
                        <a:sym typeface="Wingdings" panose="05000000000000000000" pitchFamily="2" charset="2"/>
                      </a:rPr>
                      <m:t>𝑟</m:t>
                    </m:r>
                    <m:r>
                      <a:rPr lang="en-US" i="1" dirty="0">
                        <a:latin typeface="Cambria Math" panose="02040503050406030204" pitchFamily="18" charset="0"/>
                        <a:sym typeface="Wingdings" panose="05000000000000000000" pitchFamily="2" charset="2"/>
                      </a:rPr>
                      <m:t> = $16.95 </m:t>
                    </m:r>
                    <m:r>
                      <a:rPr lang="en-US" i="1" dirty="0">
                        <a:latin typeface="Cambria Math" panose="02040503050406030204" pitchFamily="18" charset="0"/>
                        <a:sym typeface="Wingdings" panose="05000000000000000000" pitchFamily="2" charset="2"/>
                      </a:rPr>
                      <m:t>𝑐</m:t>
                    </m:r>
                    <m:r>
                      <a:rPr lang="en-US" i="1" dirty="0">
                        <a:latin typeface="Cambria Math" panose="02040503050406030204" pitchFamily="18" charset="0"/>
                        <a:sym typeface="Wingdings" panose="05000000000000000000" pitchFamily="2" charset="2"/>
                      </a:rPr>
                      <m:t> = $6.95 </m:t>
                    </m:r>
                  </m:oMath>
                </a14:m>
                <a:endParaRPr lang="en-US" dirty="0"/>
              </a:p>
              <a:p>
                <a:pPr lvl="2"/>
                <a:r>
                  <a:rPr lang="en-US" dirty="0"/>
                  <a:t>Random input: demand during the period </a:t>
                </a:r>
                <a14:m>
                  <m:oMath xmlns:m="http://schemas.openxmlformats.org/officeDocument/2006/math">
                    <m:r>
                      <a:rPr lang="en-US" i="1" dirty="0" smtClean="0">
                        <a:latin typeface="Cambria Math" panose="02040503050406030204" pitchFamily="18" charset="0"/>
                      </a:rPr>
                      <m:t>𝐷</m:t>
                    </m:r>
                  </m:oMath>
                </a14:m>
                <a:r>
                  <a:rPr lang="en-US" dirty="0"/>
                  <a:t>, we know it is distributed with discrete uniform (DU) distribution </a:t>
                </a:r>
                <a14:m>
                  <m:oMath xmlns:m="http://schemas.openxmlformats.org/officeDocument/2006/math">
                    <m:r>
                      <a:rPr lang="en-US" i="1" dirty="0">
                        <a:latin typeface="Cambria Math" panose="02040503050406030204" pitchFamily="18" charset="0"/>
                        <a:sym typeface="Wingdings" panose="05000000000000000000" pitchFamily="2" charset="2"/>
                      </a:rPr>
                      <m:t>𝐷</m:t>
                    </m:r>
                    <m:r>
                      <a:rPr lang="en-US" i="1" dirty="0">
                        <a:latin typeface="Cambria Math" panose="02040503050406030204" pitchFamily="18" charset="0"/>
                        <a:sym typeface="Wingdings" panose="05000000000000000000" pitchFamily="2" charset="2"/>
                      </a:rPr>
                      <m:t> ~ </m:t>
                    </m:r>
                    <m:r>
                      <a:rPr lang="en-US" i="1" dirty="0">
                        <a:latin typeface="Cambria Math" panose="02040503050406030204" pitchFamily="18" charset="0"/>
                        <a:sym typeface="Wingdings" panose="05000000000000000000" pitchFamily="2" charset="2"/>
                      </a:rPr>
                      <m:t>𝐷𝑈</m:t>
                    </m:r>
                    <m:r>
                      <a:rPr lang="en-US" i="1" dirty="0">
                        <a:latin typeface="Cambria Math" panose="02040503050406030204" pitchFamily="18" charset="0"/>
                        <a:sym typeface="Wingdings" panose="05000000000000000000" pitchFamily="2" charset="2"/>
                      </a:rPr>
                      <m:t>[1000, 5000]</m:t>
                    </m:r>
                  </m:oMath>
                </a14:m>
                <a:endParaRPr lang="en-US" dirty="0">
                  <a:sym typeface="Wingdings" panose="05000000000000000000" pitchFamily="2" charset="2"/>
                </a:endParaRPr>
              </a:p>
              <a:p>
                <a:pPr lvl="1"/>
                <a:r>
                  <a:rPr lang="en-US" dirty="0">
                    <a:sym typeface="Wingdings" panose="05000000000000000000" pitchFamily="2" charset="2"/>
                  </a:rPr>
                  <a:t>What need to generate random demand observations</a:t>
                </a:r>
              </a:p>
              <a:p>
                <a:pPr lvl="2"/>
                <a:r>
                  <a:rPr lang="en-US" dirty="0">
                    <a:sym typeface="Wingdings" panose="05000000000000000000" pitchFamily="2" charset="2"/>
                  </a:rPr>
                  <a:t>We can use RAND()</a:t>
                </a:r>
              </a:p>
              <a:p>
                <a:pPr marL="1371600" lvl="3" indent="0">
                  <a:buNone/>
                </a:pPr>
                <a:endParaRPr lang="en-US" dirty="0"/>
              </a:p>
              <a:p>
                <a:pPr lvl="1"/>
                <a:endParaRPr lang="en-US" dirty="0"/>
              </a:p>
              <a:p>
                <a:pPr lvl="2"/>
                <a:endParaRPr lang="en-US" dirty="0"/>
              </a:p>
              <a:p>
                <a:endParaRPr lang="en-US" dirty="0">
                  <a:solidFill>
                    <a:srgbClr val="C00000"/>
                  </a:solidFill>
                </a:endParaRPr>
              </a:p>
              <a:p>
                <a:endParaRPr lang="en-US" dirty="0">
                  <a:solidFill>
                    <a:srgbClr val="C00000"/>
                  </a:solidFill>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5180442"/>
              </a:xfrm>
              <a:blipFill>
                <a:blip r:embed="rId2"/>
                <a:stretch>
                  <a:fillRect l="-956" t="-18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805412" y="5083902"/>
                <a:ext cx="60358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𝐷</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1000+</m:t>
                          </m:r>
                          <m:d>
                            <m:dPr>
                              <m:ctrlPr>
                                <a:rPr lang="en-US" sz="2400" i="1">
                                  <a:latin typeface="Cambria Math" panose="02040503050406030204" pitchFamily="18" charset="0"/>
                                </a:rPr>
                              </m:ctrlPr>
                            </m:dPr>
                            <m:e>
                              <m:r>
                                <a:rPr lang="en-US" sz="2400" i="1">
                                  <a:latin typeface="Cambria Math" panose="02040503050406030204" pitchFamily="18" charset="0"/>
                                </a:rPr>
                                <m:t>5000−1000+1</m:t>
                              </m:r>
                            </m:e>
                          </m:d>
                          <m:r>
                            <a:rPr lang="en-US" sz="2400" i="1">
                              <a:latin typeface="Cambria Math" panose="02040503050406030204" pitchFamily="18" charset="0"/>
                            </a:rPr>
                            <m:t>∗</m:t>
                          </m:r>
                          <m:r>
                            <a:rPr lang="en-US" sz="2400" i="1">
                              <a:latin typeface="Cambria Math" panose="02040503050406030204" pitchFamily="18" charset="0"/>
                            </a:rPr>
                            <m:t>𝑅𝐴𝑁𝐷</m:t>
                          </m:r>
                          <m:r>
                            <a:rPr lang="en-US" sz="2400" i="1">
                              <a:latin typeface="Cambria Math" panose="02040503050406030204" pitchFamily="18" charset="0"/>
                            </a:rPr>
                            <m:t>()</m:t>
                          </m:r>
                        </m:e>
                      </m:d>
                    </m:oMath>
                  </m:oMathPara>
                </a14:m>
                <a:endParaRPr lang="en-US" sz="2400" dirty="0"/>
              </a:p>
            </p:txBody>
          </p:sp>
        </mc:Choice>
        <mc:Fallback xmlns="">
          <p:sp>
            <p:nvSpPr>
              <p:cNvPr id="5" name="Rectangle 4"/>
              <p:cNvSpPr>
                <a:spLocks noRot="1" noChangeAspect="1" noMove="1" noResize="1" noEditPoints="1" noAdjustHandles="1" noChangeArrowheads="1" noChangeShapeType="1" noTextEdit="1"/>
              </p:cNvSpPr>
              <p:nvPr/>
            </p:nvSpPr>
            <p:spPr>
              <a:xfrm>
                <a:off x="2805412" y="5083902"/>
                <a:ext cx="6035819" cy="461665"/>
              </a:xfrm>
              <a:prstGeom prst="rect">
                <a:avLst/>
              </a:prstGeom>
              <a:blipFill>
                <a:blip r:embed="rId3"/>
                <a:stretch>
                  <a:fillRect b="-17105"/>
                </a:stretch>
              </a:blipFill>
            </p:spPr>
            <p:txBody>
              <a:bodyPr/>
              <a:lstStyle/>
              <a:p>
                <a:r>
                  <a:rPr lang="en-US">
                    <a:noFill/>
                  </a:rPr>
                  <a:t> </a:t>
                </a:r>
              </a:p>
            </p:txBody>
          </p:sp>
        </mc:Fallback>
      </mc:AlternateContent>
    </p:spTree>
    <p:extLst>
      <p:ext uri="{BB962C8B-B14F-4D97-AF65-F5344CB8AC3E}">
        <p14:creationId xmlns:p14="http://schemas.microsoft.com/office/powerpoint/2010/main" val="85638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solidFill>
                      <a:srgbClr val="C00000"/>
                    </a:solidFill>
                  </a:rPr>
                  <a:t>Newsvendor: Single Period Inventory Profits</a:t>
                </a:r>
              </a:p>
              <a:p>
                <a:pPr lvl="1"/>
                <a:r>
                  <a:rPr lang="en-US" dirty="0">
                    <a:sym typeface="Wingdings" panose="05000000000000000000" pitchFamily="2" charset="2"/>
                  </a:rPr>
                  <a:t>What need to generate random demand observations</a:t>
                </a:r>
              </a:p>
              <a:p>
                <a:pPr lvl="2"/>
                <a:r>
                  <a:rPr lang="en-US" dirty="0">
                    <a:sym typeface="Wingdings" panose="05000000000000000000" pitchFamily="2" charset="2"/>
                  </a:rPr>
                  <a:t>We can use RAND(): </a:t>
                </a:r>
                <a14:m>
                  <m:oMath xmlns:m="http://schemas.openxmlformats.org/officeDocument/2006/math">
                    <m:r>
                      <a:rPr lang="en-US" i="1">
                        <a:latin typeface="Cambria Math" panose="02040503050406030204" pitchFamily="18" charset="0"/>
                      </a:rPr>
                      <m:t>𝐷</m:t>
                    </m:r>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1000+</m:t>
                        </m:r>
                        <m:d>
                          <m:dPr>
                            <m:ctrlPr>
                              <a:rPr lang="en-US" i="1">
                                <a:latin typeface="Cambria Math" panose="02040503050406030204" pitchFamily="18" charset="0"/>
                              </a:rPr>
                            </m:ctrlPr>
                          </m:dPr>
                          <m:e>
                            <m:r>
                              <a:rPr lang="en-US" i="1">
                                <a:latin typeface="Cambria Math" panose="02040503050406030204" pitchFamily="18" charset="0"/>
                              </a:rPr>
                              <m:t>5000−1000+1</m:t>
                            </m:r>
                          </m:e>
                        </m:d>
                        <m:r>
                          <a:rPr lang="en-US" i="1">
                            <a:latin typeface="Cambria Math" panose="02040503050406030204" pitchFamily="18" charset="0"/>
                          </a:rPr>
                          <m:t>∗</m:t>
                        </m:r>
                        <m:r>
                          <a:rPr lang="en-US" i="1">
                            <a:latin typeface="Cambria Math" panose="02040503050406030204" pitchFamily="18" charset="0"/>
                          </a:rPr>
                          <m:t>𝑅𝐴𝑁𝐷</m:t>
                        </m:r>
                        <m:r>
                          <a:rPr lang="en-US" i="1">
                            <a:latin typeface="Cambria Math" panose="02040503050406030204" pitchFamily="18" charset="0"/>
                          </a:rPr>
                          <m:t>()</m:t>
                        </m:r>
                      </m:e>
                    </m:d>
                  </m:oMath>
                </a14:m>
                <a:endParaRPr lang="en-US" dirty="0">
                  <a:sym typeface="Wingdings" panose="05000000000000000000" pitchFamily="2" charset="2"/>
                </a:endParaRPr>
              </a:p>
              <a:p>
                <a:pPr lvl="3"/>
                <a:r>
                  <a:rPr lang="en-US" dirty="0">
                    <a:sym typeface="Wingdings" panose="05000000000000000000" pitchFamily="2" charset="2"/>
                  </a:rPr>
                  <a:t>D </a:t>
                </a:r>
                <a:r>
                  <a:rPr lang="en-US" dirty="0"/>
                  <a:t>will be indeed </a:t>
                </a:r>
                <a:r>
                  <a:rPr lang="en-US" dirty="0">
                    <a:solidFill>
                      <a:srgbClr val="C00000"/>
                    </a:solidFill>
                  </a:rPr>
                  <a:t>discretely</a:t>
                </a:r>
                <a:r>
                  <a:rPr lang="en-US" dirty="0"/>
                  <a:t> uniformly distributed on </a:t>
                </a:r>
                <a:r>
                  <a:rPr lang="en-US" i="1" dirty="0"/>
                  <a:t>a=1000</a:t>
                </a:r>
                <a:r>
                  <a:rPr lang="en-US" dirty="0"/>
                  <a:t>, </a:t>
                </a:r>
                <a:r>
                  <a:rPr lang="en-US" i="1" dirty="0"/>
                  <a:t>a</a:t>
                </a:r>
                <a:r>
                  <a:rPr lang="en-US" dirty="0"/>
                  <a:t> + 1, …, </a:t>
                </a:r>
                <a:r>
                  <a:rPr lang="en-US" i="1" dirty="0"/>
                  <a:t>b=5000</a:t>
                </a:r>
              </a:p>
              <a:p>
                <a:pPr lvl="4"/>
                <a:r>
                  <a:rPr lang="en-US" i="1" dirty="0"/>
                  <a:t>Note that probability of RAND() being 1 is 0</a:t>
                </a:r>
                <a:endParaRPr lang="en-US" dirty="0">
                  <a:sym typeface="Wingdings" panose="05000000000000000000" pitchFamily="2" charset="2"/>
                </a:endParaRPr>
              </a:p>
              <a:p>
                <a:pPr lvl="2"/>
                <a:r>
                  <a:rPr lang="en-US" dirty="0">
                    <a:sym typeface="Wingdings" panose="05000000000000000000" pitchFamily="2" charset="2"/>
                  </a:rPr>
                  <a:t>Confirmation: </a:t>
                </a:r>
                <a:r>
                  <a:rPr lang="en-US" dirty="0"/>
                  <a:t>for </a:t>
                </a:r>
                <a:r>
                  <a:rPr lang="en-US" i="1" dirty="0" err="1"/>
                  <a:t>i</a:t>
                </a:r>
                <a:r>
                  <a:rPr lang="en-US" dirty="0"/>
                  <a:t> = </a:t>
                </a:r>
                <a:r>
                  <a:rPr lang="en-US" i="1" dirty="0"/>
                  <a:t>a=1000</a:t>
                </a:r>
                <a:r>
                  <a:rPr lang="en-US" dirty="0"/>
                  <a:t>, </a:t>
                </a:r>
                <a:r>
                  <a:rPr lang="en-US" i="1" dirty="0"/>
                  <a:t>a </a:t>
                </a:r>
                <a:r>
                  <a:rPr lang="en-US" dirty="0"/>
                  <a:t>+ 1, …, </a:t>
                </a:r>
                <a:r>
                  <a:rPr lang="en-US" i="1" dirty="0"/>
                  <a:t>b=5000</a:t>
                </a:r>
                <a:endParaRPr lang="en-US" dirty="0">
                  <a:sym typeface="Wingdings" panose="05000000000000000000" pitchFamily="2" charset="2"/>
                </a:endParaRPr>
              </a:p>
              <a:p>
                <a:pPr lvl="3"/>
                <a:r>
                  <a:rPr lang="en-US" dirty="0"/>
                  <a:t>Recall that RAND() has continuous uniform distribution between 0 and 1</a:t>
                </a:r>
              </a:p>
              <a:p>
                <a:pPr lvl="3"/>
                <a:r>
                  <a:rPr lang="en-US" dirty="0"/>
                  <a:t>P(</a:t>
                </a:r>
                <a:r>
                  <a:rPr lang="en-US" i="1" dirty="0"/>
                  <a:t>D</a:t>
                </a:r>
                <a:r>
                  <a:rPr lang="en-US" dirty="0"/>
                  <a:t> = </a:t>
                </a:r>
                <a:r>
                  <a:rPr lang="en-US" i="1" dirty="0" err="1"/>
                  <a:t>i</a:t>
                </a:r>
                <a:r>
                  <a:rPr lang="en-US" dirty="0"/>
                  <a:t>) = P(</a:t>
                </a:r>
                <a:r>
                  <a:rPr lang="en-US" i="1" dirty="0" err="1"/>
                  <a:t>i</a:t>
                </a:r>
                <a:r>
                  <a:rPr lang="en-US" dirty="0"/>
                  <a:t> ≤ (</a:t>
                </a:r>
                <a:r>
                  <a:rPr lang="en-US" i="1" dirty="0"/>
                  <a:t>b</a:t>
                </a:r>
                <a:r>
                  <a:rPr lang="en-US" dirty="0"/>
                  <a:t> + 1 – </a:t>
                </a:r>
                <a:r>
                  <a:rPr lang="en-US" i="1" dirty="0"/>
                  <a:t>a</a:t>
                </a:r>
                <a:r>
                  <a:rPr lang="en-US" dirty="0"/>
                  <a:t>)</a:t>
                </a:r>
                <a:r>
                  <a:rPr lang="en-US" i="1" dirty="0"/>
                  <a:t>RAND()</a:t>
                </a:r>
                <a:r>
                  <a:rPr lang="en-US" dirty="0"/>
                  <a:t> &lt; </a:t>
                </a:r>
                <a:r>
                  <a:rPr lang="en-US" i="1" dirty="0" err="1"/>
                  <a:t>i</a:t>
                </a:r>
                <a:r>
                  <a:rPr lang="en-US" dirty="0"/>
                  <a:t> + 1) = 1/(</a:t>
                </a:r>
                <a:r>
                  <a:rPr lang="en-US" i="1" dirty="0"/>
                  <a:t>b</a:t>
                </a:r>
                <a:r>
                  <a:rPr lang="en-US" dirty="0"/>
                  <a:t> + 1 – </a:t>
                </a:r>
                <a:r>
                  <a:rPr lang="en-US" i="1" dirty="0"/>
                  <a:t>a</a:t>
                </a:r>
                <a:r>
                  <a:rPr lang="en-US" dirty="0"/>
                  <a:t>) = 1/(5000 + 1 – 1000) </a:t>
                </a:r>
                <a:r>
                  <a:rPr lang="en-US" dirty="0">
                    <a:sym typeface="Symbol" panose="05050102010706020507" pitchFamily="18" charset="2"/>
                  </a:rPr>
                  <a:t></a:t>
                </a:r>
                <a:r>
                  <a:rPr lang="en-US" dirty="0"/>
                  <a:t> 0.000249938</a:t>
                </a:r>
              </a:p>
              <a:p>
                <a:pPr lvl="2"/>
                <a:r>
                  <a:rPr lang="en-US" dirty="0">
                    <a:sym typeface="Wingdings" panose="05000000000000000000" pitchFamily="2" charset="2"/>
                  </a:rPr>
                  <a:t>So, a random demand is ‘=INT(</a:t>
                </a:r>
                <a14:m>
                  <m:oMath xmlns:m="http://schemas.openxmlformats.org/officeDocument/2006/math">
                    <m:r>
                      <a:rPr lang="en-US" i="1">
                        <a:latin typeface="Cambria Math" panose="02040503050406030204" pitchFamily="18" charset="0"/>
                      </a:rPr>
                      <m:t>1000+</m:t>
                    </m:r>
                    <m:d>
                      <m:dPr>
                        <m:ctrlPr>
                          <a:rPr lang="en-US" i="1">
                            <a:latin typeface="Cambria Math" panose="02040503050406030204" pitchFamily="18" charset="0"/>
                          </a:rPr>
                        </m:ctrlPr>
                      </m:dPr>
                      <m:e>
                        <m:r>
                          <a:rPr lang="en-US" i="1">
                            <a:latin typeface="Cambria Math" panose="02040503050406030204" pitchFamily="18" charset="0"/>
                          </a:rPr>
                          <m:t>5000−1000+1</m:t>
                        </m:r>
                      </m:e>
                    </m:d>
                    <m:r>
                      <a:rPr lang="en-US" i="1">
                        <a:latin typeface="Cambria Math" panose="02040503050406030204" pitchFamily="18" charset="0"/>
                      </a:rPr>
                      <m:t>∗</m:t>
                    </m:r>
                    <m:r>
                      <a:rPr lang="en-US" i="1">
                        <a:latin typeface="Cambria Math" panose="02040503050406030204" pitchFamily="18" charset="0"/>
                      </a:rPr>
                      <m:t>𝑅𝐴𝑁𝐷</m:t>
                    </m:r>
                    <m:r>
                      <a:rPr lang="en-US" i="1">
                        <a:latin typeface="Cambria Math" panose="02040503050406030204" pitchFamily="18" charset="0"/>
                      </a:rPr>
                      <m:t>()</m:t>
                    </m:r>
                  </m:oMath>
                </a14:m>
                <a:r>
                  <a:rPr lang="en-US" dirty="0">
                    <a:sym typeface="Wingdings" panose="05000000000000000000" pitchFamily="2" charset="2"/>
                  </a:rPr>
                  <a:t>)’</a:t>
                </a:r>
              </a:p>
              <a:p>
                <a:pPr lvl="3"/>
                <a:r>
                  <a:rPr lang="en-US" dirty="0">
                    <a:sym typeface="Wingdings" panose="05000000000000000000" pitchFamily="2" charset="2"/>
                  </a:rPr>
                  <a:t>Excel function INT(.) </a:t>
                </a:r>
                <a:r>
                  <a:rPr lang="en-US" u="sng" dirty="0">
                    <a:sym typeface="Wingdings" panose="05000000000000000000" pitchFamily="2" charset="2"/>
                  </a:rPr>
                  <a:t>rounds down to nearest integer</a:t>
                </a:r>
              </a:p>
              <a:p>
                <a:pPr lvl="3"/>
                <a:endParaRPr lang="en-US" dirty="0"/>
              </a:p>
              <a:p>
                <a:pPr lvl="2"/>
                <a:r>
                  <a:rPr lang="en-US" dirty="0">
                    <a:sym typeface="Wingdings" panose="05000000000000000000" pitchFamily="2" charset="2"/>
                  </a:rPr>
                  <a:t>Also check, RANDBETWEEN(</a:t>
                </a:r>
                <a:r>
                  <a:rPr lang="en-US" dirty="0" err="1">
                    <a:sym typeface="Wingdings" panose="05000000000000000000" pitchFamily="2" charset="2"/>
                  </a:rPr>
                  <a:t>a,b</a:t>
                </a:r>
                <a:r>
                  <a:rPr lang="en-US" dirty="0">
                    <a:sym typeface="Wingdings" panose="05000000000000000000" pitchFamily="2" charset="2"/>
                  </a:rPr>
                  <a:t>)</a:t>
                </a:r>
              </a:p>
              <a:p>
                <a:pPr lvl="3"/>
                <a:r>
                  <a:rPr lang="en-US" dirty="0">
                    <a:sym typeface="Wingdings" panose="05000000000000000000" pitchFamily="2" charset="2"/>
                    <a:hlinkClick r:id="rId2"/>
                  </a:rPr>
                  <a:t>https://support.office.com/en-us/article/randbetween-function-4cc7f0d1-87dc-4eb7-987f-a469ab381685</a:t>
                </a:r>
                <a:r>
                  <a:rPr lang="en-US" dirty="0">
                    <a:sym typeface="Wingdings" panose="05000000000000000000" pitchFamily="2" charset="2"/>
                  </a:rPr>
                  <a:t> </a:t>
                </a:r>
              </a:p>
              <a:p>
                <a:pPr lvl="3"/>
                <a:r>
                  <a:rPr lang="en-US" dirty="0"/>
                  <a:t>It generates random draws from a discrete uniform distribution between a and b</a:t>
                </a:r>
              </a:p>
              <a:p>
                <a:pPr lvl="2"/>
                <a:endParaRPr lang="en-US" dirty="0"/>
              </a:p>
              <a:p>
                <a:endParaRPr lang="en-US" dirty="0">
                  <a:solidFill>
                    <a:srgbClr val="C00000"/>
                  </a:solidFill>
                </a:endParaRPr>
              </a:p>
              <a:p>
                <a:endParaRPr lang="en-US" dirty="0">
                  <a:solidFill>
                    <a:srgbClr val="C00000"/>
                  </a:solidFill>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3"/>
                <a:stretch>
                  <a:fillRect l="-956" t="-2757"/>
                </a:stretch>
              </a:blipFill>
            </p:spPr>
            <p:txBody>
              <a:bodyPr/>
              <a:lstStyle/>
              <a:p>
                <a:r>
                  <a:rPr lang="en-US">
                    <a:noFill/>
                  </a:rPr>
                  <a:t> </a:t>
                </a:r>
              </a:p>
            </p:txBody>
          </p:sp>
        </mc:Fallback>
      </mc:AlternateContent>
    </p:spTree>
    <p:extLst>
      <p:ext uri="{BB962C8B-B14F-4D97-AF65-F5344CB8AC3E}">
        <p14:creationId xmlns:p14="http://schemas.microsoft.com/office/powerpoint/2010/main" val="346023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Newsvendor: Single Period Inventory Profits</a:t>
                </a:r>
              </a:p>
              <a:p>
                <a:pPr lvl="1"/>
                <a:r>
                  <a:rPr lang="en-US" dirty="0"/>
                  <a:t>Simulation strategy:</a:t>
                </a:r>
              </a:p>
              <a:p>
                <a:pPr lvl="2"/>
                <a:r>
                  <a:rPr lang="en-US" dirty="0"/>
                  <a:t>Generate 50 </a:t>
                </a:r>
                <a14:m>
                  <m:oMath xmlns:m="http://schemas.openxmlformats.org/officeDocument/2006/math">
                    <m:r>
                      <a:rPr lang="en-US" i="1" dirty="0" smtClean="0">
                        <a:latin typeface="Cambria Math" panose="02040503050406030204" pitchFamily="18" charset="0"/>
                      </a:rPr>
                      <m:t>𝐷</m:t>
                    </m:r>
                  </m:oMath>
                </a14:m>
                <a:r>
                  <a:rPr lang="en-US" dirty="0"/>
                  <a:t> values (50 is chosen arbitrarily)</a:t>
                </a:r>
              </a:p>
              <a:p>
                <a:pPr lvl="2"/>
                <a:r>
                  <a:rPr lang="en-US" dirty="0"/>
                  <a:t>Using the same D values, calculate the profits of different h values under these D values</a:t>
                </a:r>
              </a:p>
              <a:p>
                <a:pPr lvl="3"/>
                <a:r>
                  <a:rPr lang="en-US" dirty="0"/>
                  <a:t>Could use independent demands D across different values of h, but using the same D’s is better since differences across h will be more likely due to h, and not just getting different D’s (since you’re not)</a:t>
                </a:r>
              </a:p>
              <a:p>
                <a:pPr lvl="2"/>
                <a:r>
                  <a:rPr lang="en-US" dirty="0"/>
                  <a:t>Suppose that we can order in batches of 1000</a:t>
                </a:r>
              </a:p>
              <a:p>
                <a:pPr lvl="3"/>
                <a:r>
                  <a:rPr lang="en-US" dirty="0"/>
                  <a:t>So we will either order 1 batch (i.e., 1000 hats), 2 batches (i.e., 2000 batches), 3 batches (i.e., 3000 batches), 4 batches (i.e., 4000 batches),  or 5 batches (i.e., 5000 batches)</a:t>
                </a:r>
              </a:p>
              <a:p>
                <a:pPr lvl="4"/>
                <a:r>
                  <a:rPr lang="en-US" dirty="0"/>
                  <a:t>Would not order more than 5 batches as the max demand is 5000 units</a:t>
                </a:r>
              </a:p>
              <a:p>
                <a:pPr lvl="4"/>
                <a:r>
                  <a:rPr lang="en-US" dirty="0"/>
                  <a:t>Would not order less than 1 batch as the min demand is 1000 units</a:t>
                </a:r>
              </a:p>
              <a:p>
                <a:pPr lvl="2"/>
                <a:r>
                  <a:rPr lang="en-US" dirty="0"/>
                  <a:t>So, for each h, we will calculate the profit 50 times (one for each D realization) </a:t>
                </a:r>
              </a:p>
              <a:p>
                <a:pPr lvl="3"/>
                <a:endParaRPr lang="en-US" dirty="0"/>
              </a:p>
              <a:p>
                <a:pPr lvl="2"/>
                <a:endParaRPr lang="en-US" dirty="0"/>
              </a:p>
              <a:p>
                <a:endParaRPr lang="en-US" dirty="0">
                  <a:solidFill>
                    <a:srgbClr val="C00000"/>
                  </a:solidFill>
                </a:endParaRPr>
              </a:p>
              <a:p>
                <a:endParaRPr lang="en-US" dirty="0">
                  <a:solidFill>
                    <a:srgbClr val="C00000"/>
                  </a:solidFill>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2"/>
                <a:stretch>
                  <a:fillRect l="-956" t="-2005"/>
                </a:stretch>
              </a:blipFill>
            </p:spPr>
            <p:txBody>
              <a:bodyPr/>
              <a:lstStyle/>
              <a:p>
                <a:r>
                  <a:rPr lang="en-US">
                    <a:noFill/>
                  </a:rPr>
                  <a:t> </a:t>
                </a:r>
              </a:p>
            </p:txBody>
          </p:sp>
        </mc:Fallback>
      </mc:AlternateContent>
    </p:spTree>
    <p:extLst>
      <p:ext uri="{BB962C8B-B14F-4D97-AF65-F5344CB8AC3E}">
        <p14:creationId xmlns:p14="http://schemas.microsoft.com/office/powerpoint/2010/main" val="660139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Example</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Newsvendor: Single Period Inventory Profits</a:t>
            </a:r>
          </a:p>
          <a:p>
            <a:pPr lvl="3"/>
            <a:endParaRPr lang="en-US" dirty="0"/>
          </a:p>
          <a:p>
            <a:pPr lvl="2"/>
            <a:endParaRPr lang="en-US" dirty="0"/>
          </a:p>
          <a:p>
            <a:endParaRPr lang="en-US" dirty="0">
              <a:solidFill>
                <a:srgbClr val="C00000"/>
              </a:solidFill>
            </a:endParaRPr>
          </a:p>
          <a:p>
            <a:endParaRPr lang="en-US" dirty="0">
              <a:solidFill>
                <a:srgbClr val="C00000"/>
              </a:solidFill>
              <a:sym typeface="Wingdings" panose="05000000000000000000" pitchFamily="2" charset="2"/>
            </a:endParaRPr>
          </a:p>
        </p:txBody>
      </p:sp>
      <p:pic>
        <p:nvPicPr>
          <p:cNvPr id="4" name="Picture 3"/>
          <p:cNvPicPr>
            <a:picLocks noChangeAspect="1"/>
          </p:cNvPicPr>
          <p:nvPr/>
        </p:nvPicPr>
        <p:blipFill>
          <a:blip r:embed="rId2"/>
          <a:stretch>
            <a:fillRect/>
          </a:stretch>
        </p:blipFill>
        <p:spPr>
          <a:xfrm>
            <a:off x="715107" y="1679057"/>
            <a:ext cx="6518031" cy="4793035"/>
          </a:xfrm>
          <a:prstGeom prst="rect">
            <a:avLst/>
          </a:prstGeom>
        </p:spPr>
      </p:pic>
      <p:sp>
        <p:nvSpPr>
          <p:cNvPr id="5" name="Rectangle 4"/>
          <p:cNvSpPr/>
          <p:nvPr/>
        </p:nvSpPr>
        <p:spPr>
          <a:xfrm>
            <a:off x="7413190" y="1767250"/>
            <a:ext cx="4240169" cy="1938992"/>
          </a:xfrm>
          <a:prstGeom prst="rect">
            <a:avLst/>
          </a:prstGeom>
        </p:spPr>
        <p:txBody>
          <a:bodyPr wrap="square">
            <a:spAutoFit/>
          </a:bodyPr>
          <a:lstStyle/>
          <a:p>
            <a:r>
              <a:rPr lang="en-US" sz="2400" dirty="0">
                <a:sym typeface="Wingdings" panose="05000000000000000000" pitchFamily="2" charset="2"/>
              </a:rPr>
              <a:t>See </a:t>
            </a:r>
            <a:r>
              <a:rPr lang="en-US" sz="2400" i="1" dirty="0">
                <a:sym typeface="Wingdings" panose="05000000000000000000" pitchFamily="2" charset="2"/>
              </a:rPr>
              <a:t>‘Module 2 - Newsvendor.xlsx’ </a:t>
            </a:r>
            <a:r>
              <a:rPr lang="en-US" sz="2400" dirty="0">
                <a:sym typeface="Wingdings" panose="05000000000000000000" pitchFamily="2" charset="2"/>
              </a:rPr>
              <a:t>file</a:t>
            </a:r>
          </a:p>
          <a:p>
            <a:r>
              <a:rPr lang="en-US" sz="2400" dirty="0">
                <a:sym typeface="Wingdings" panose="05000000000000000000" pitchFamily="2" charset="2"/>
              </a:rPr>
              <a:t> Familiarize yourself with the Excel tools/functions used for graphics and other calculations</a:t>
            </a:r>
          </a:p>
        </p:txBody>
      </p:sp>
    </p:spTree>
    <p:extLst>
      <p:ext uri="{BB962C8B-B14F-4D97-AF65-F5344CB8AC3E}">
        <p14:creationId xmlns:p14="http://schemas.microsoft.com/office/powerpoint/2010/main" val="303931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Example</a:t>
            </a:r>
          </a:p>
        </p:txBody>
      </p:sp>
      <p:sp>
        <p:nvSpPr>
          <p:cNvPr id="3" name="Content Placeholder 2"/>
          <p:cNvSpPr>
            <a:spLocks noGrp="1"/>
          </p:cNvSpPr>
          <p:nvPr>
            <p:ph idx="1"/>
          </p:nvPr>
        </p:nvSpPr>
        <p:spPr>
          <a:xfrm>
            <a:off x="355002" y="1312433"/>
            <a:ext cx="11478410" cy="4864530"/>
          </a:xfrm>
        </p:spPr>
        <p:txBody>
          <a:bodyPr>
            <a:normAutofit fontScale="92500" lnSpcReduction="20000"/>
          </a:bodyPr>
          <a:lstStyle/>
          <a:p>
            <a:r>
              <a:rPr lang="en-US" dirty="0">
                <a:solidFill>
                  <a:srgbClr val="C00000"/>
                </a:solidFill>
              </a:rPr>
              <a:t>Newsvendor: Single Period Inventory Profits</a:t>
            </a:r>
          </a:p>
          <a:p>
            <a:r>
              <a:rPr lang="en-US" sz="2000" dirty="0"/>
              <a:t>For each </a:t>
            </a:r>
            <a:r>
              <a:rPr lang="en-US" sz="2000" i="1" dirty="0"/>
              <a:t>h</a:t>
            </a:r>
            <a:r>
              <a:rPr lang="en-US" sz="2000" dirty="0"/>
              <a:t>, we can get statistics on the 50 observed (simulated) </a:t>
            </a:r>
            <a:r>
              <a:rPr lang="en-US" sz="2000" i="1" dirty="0"/>
              <a:t>Z</a:t>
            </a:r>
            <a:r>
              <a:rPr lang="en-US" sz="2000" dirty="0"/>
              <a:t>(</a:t>
            </a:r>
            <a:r>
              <a:rPr lang="en-US" sz="2000" i="1" dirty="0"/>
              <a:t>h</a:t>
            </a:r>
            <a:r>
              <a:rPr lang="en-US" sz="2000" dirty="0"/>
              <a:t>)’s – average, standard deviation, 95% confidence interval on E(</a:t>
            </a:r>
            <a:r>
              <a:rPr lang="en-US" sz="2000" i="1" dirty="0"/>
              <a:t>Z</a:t>
            </a:r>
            <a:r>
              <a:rPr lang="en-US" sz="2000" dirty="0"/>
              <a:t>(</a:t>
            </a:r>
            <a:r>
              <a:rPr lang="en-US" sz="2000" i="1" dirty="0"/>
              <a:t>h</a:t>
            </a:r>
            <a:r>
              <a:rPr lang="en-US" sz="2000" dirty="0"/>
              <a:t>)), min, max, and proportion &lt; 0 (estimates probability of </a:t>
            </a:r>
            <a:r>
              <a:rPr lang="en-US" sz="2000" i="1" dirty="0"/>
              <a:t>losing</a:t>
            </a:r>
            <a:r>
              <a:rPr lang="en-US" sz="2000" dirty="0"/>
              <a:t> money)</a:t>
            </a:r>
          </a:p>
          <a:p>
            <a:r>
              <a:rPr lang="en-US" sz="2000" dirty="0"/>
              <a:t>Also make histogram of the 50 independently identically distributed (IID) values of the </a:t>
            </a:r>
            <a:r>
              <a:rPr lang="en-US" sz="2000" i="1" dirty="0"/>
              <a:t>Z</a:t>
            </a:r>
            <a:r>
              <a:rPr lang="en-US" sz="2000" dirty="0"/>
              <a:t>(</a:t>
            </a:r>
            <a:r>
              <a:rPr lang="en-US" sz="2000" i="1" dirty="0"/>
              <a:t>h</a:t>
            </a:r>
            <a:r>
              <a:rPr lang="en-US" sz="2000" dirty="0"/>
              <a:t>)’s for each </a:t>
            </a:r>
            <a:r>
              <a:rPr lang="en-US" sz="2000" i="1" dirty="0"/>
              <a:t>h</a:t>
            </a:r>
            <a:r>
              <a:rPr lang="en-US" sz="2000" dirty="0"/>
              <a:t>, </a:t>
            </a:r>
            <a:r>
              <a:rPr lang="en-US" sz="2000" b="1" dirty="0">
                <a:latin typeface="Courier New" panose="02070309020205020404" pitchFamily="49" charset="0"/>
                <a:cs typeface="Courier New" panose="02070309020205020404" pitchFamily="49" charset="0"/>
              </a:rPr>
              <a:t>I</a:t>
            </a:r>
            <a:r>
              <a:rPr lang="en-US" sz="2000" dirty="0"/>
              <a:t>-beam confidence-interval plot vs. </a:t>
            </a:r>
            <a:r>
              <a:rPr lang="en-US" sz="2000" i="1" dirty="0"/>
              <a:t>h</a:t>
            </a:r>
            <a:r>
              <a:rPr lang="en-US" sz="2000" dirty="0"/>
              <a:t> to estimate expected-profit-maximizing </a:t>
            </a:r>
            <a:r>
              <a:rPr lang="en-US" sz="2000" i="1" dirty="0"/>
              <a:t>h</a:t>
            </a:r>
          </a:p>
          <a:p>
            <a:pPr lvl="1"/>
            <a:r>
              <a:rPr lang="en-US" sz="1800" dirty="0"/>
              <a:t>Will not get into the Excel graphics details for these graphs</a:t>
            </a:r>
          </a:p>
          <a:p>
            <a:r>
              <a:rPr lang="en-US" sz="2000" dirty="0"/>
              <a:t>Choosing </a:t>
            </a:r>
            <a:r>
              <a:rPr lang="en-US" sz="2000" i="1" dirty="0"/>
              <a:t>h</a:t>
            </a:r>
            <a:r>
              <a:rPr lang="en-US" sz="2000" dirty="0"/>
              <a:t> = 1000 is riskless</a:t>
            </a:r>
          </a:p>
          <a:p>
            <a:pPr lvl="1"/>
            <a:r>
              <a:rPr lang="en-US" sz="1800" dirty="0"/>
              <a:t>You know that peak-period demand will be at least 1000</a:t>
            </a:r>
          </a:p>
          <a:p>
            <a:pPr lvl="1"/>
            <a:r>
              <a:rPr lang="en-US" sz="1800" dirty="0"/>
              <a:t>So you know you sell out every time, get profit $5950 every time, no variation, no risk</a:t>
            </a:r>
          </a:p>
          <a:p>
            <a:r>
              <a:rPr lang="en-US" sz="2000" dirty="0"/>
              <a:t>At the other extreme, choosing </a:t>
            </a:r>
            <a:r>
              <a:rPr lang="en-US" sz="2000" i="1" dirty="0"/>
              <a:t>h</a:t>
            </a:r>
            <a:r>
              <a:rPr lang="en-US" sz="2000" dirty="0"/>
              <a:t> = 5000 is very risky</a:t>
            </a:r>
          </a:p>
          <a:p>
            <a:pPr lvl="1"/>
            <a:r>
              <a:rPr lang="en-US" sz="1800" dirty="0"/>
              <a:t>Will always be stuck with inventory to dump at clearance (downside)</a:t>
            </a:r>
          </a:p>
          <a:p>
            <a:pPr lvl="1"/>
            <a:r>
              <a:rPr lang="en-US" sz="1800" dirty="0"/>
              <a:t>But will never lose any peak-period sales (upside)</a:t>
            </a:r>
          </a:p>
          <a:p>
            <a:r>
              <a:rPr lang="en-US" sz="2000" dirty="0"/>
              <a:t>Rows 5-6 show best possible, worst possible profit for each </a:t>
            </a:r>
            <a:r>
              <a:rPr lang="en-US" sz="2000" i="1" dirty="0"/>
              <a:t>h</a:t>
            </a:r>
          </a:p>
          <a:p>
            <a:pPr lvl="1"/>
            <a:r>
              <a:rPr lang="en-US" sz="1800" dirty="0"/>
              <a:t>Intermediate values of </a:t>
            </a:r>
            <a:r>
              <a:rPr lang="en-US" sz="1800" i="1" dirty="0"/>
              <a:t>h</a:t>
            </a:r>
            <a:r>
              <a:rPr lang="en-US" sz="1800" dirty="0"/>
              <a:t> appear better than either extreme</a:t>
            </a:r>
          </a:p>
          <a:p>
            <a:pPr lvl="1"/>
            <a:r>
              <a:rPr lang="en-US" sz="1800" dirty="0"/>
              <a:t>Higher </a:t>
            </a:r>
            <a:r>
              <a:rPr lang="en-US" sz="1800" i="1" dirty="0"/>
              <a:t>h</a:t>
            </a:r>
            <a:r>
              <a:rPr lang="en-US" sz="1800" dirty="0"/>
              <a:t> implies higher risk (histogram spreads, probability of loss, width of confidence interval on expected profit), both downside and upside</a:t>
            </a:r>
          </a:p>
          <a:p>
            <a:pPr lvl="1"/>
            <a:r>
              <a:rPr lang="en-US" sz="1800" dirty="0"/>
              <a:t>Choosing </a:t>
            </a:r>
            <a:r>
              <a:rPr lang="en-US" sz="1800" i="1" dirty="0"/>
              <a:t>h</a:t>
            </a:r>
            <a:r>
              <a:rPr lang="en-US" sz="1800" dirty="0"/>
              <a:t> around 3000 or 4000 appears to maximize expected profit … tap F9 and watch </a:t>
            </a:r>
            <a:r>
              <a:rPr lang="en-US" sz="1400" b="1" dirty="0">
                <a:latin typeface="Courier New" panose="02070309020205020404" pitchFamily="49" charset="0"/>
                <a:cs typeface="Courier New" panose="02070309020205020404" pitchFamily="49" charset="0"/>
              </a:rPr>
              <a:t>I</a:t>
            </a:r>
            <a:r>
              <a:rPr lang="en-US" sz="1800" dirty="0"/>
              <a:t>-beam plot on the left as a function of </a:t>
            </a:r>
            <a:r>
              <a:rPr lang="en-US" sz="1800" i="1" dirty="0"/>
              <a:t>h</a:t>
            </a:r>
          </a:p>
          <a:p>
            <a:pPr lvl="3"/>
            <a:endParaRPr lang="en-US" dirty="0">
              <a:solidFill>
                <a:srgbClr val="C00000"/>
              </a:solidFill>
            </a:endParaRPr>
          </a:p>
          <a:p>
            <a:pPr lvl="3"/>
            <a:endParaRPr lang="en-US" dirty="0"/>
          </a:p>
          <a:p>
            <a:pPr lvl="2"/>
            <a:endParaRPr lang="en-US" dirty="0"/>
          </a:p>
          <a:p>
            <a:endParaRPr lang="en-US" dirty="0">
              <a:solidFill>
                <a:srgbClr val="C00000"/>
              </a:solidFill>
            </a:endParaRPr>
          </a:p>
          <a:p>
            <a:endParaRPr lang="en-US" dirty="0">
              <a:solidFill>
                <a:srgbClr val="C00000"/>
              </a:solidFill>
              <a:sym typeface="Wingdings" panose="05000000000000000000" pitchFamily="2" charset="2"/>
            </a:endParaRPr>
          </a:p>
        </p:txBody>
      </p:sp>
    </p:spTree>
    <p:extLst>
      <p:ext uri="{BB962C8B-B14F-4D97-AF65-F5344CB8AC3E}">
        <p14:creationId xmlns:p14="http://schemas.microsoft.com/office/powerpoint/2010/main" val="3845544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Simulation and Software Options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solidFill>
                  <a:srgbClr val="C00000"/>
                </a:solidFill>
              </a:rPr>
              <a:t>Dynamic Simulation: </a:t>
            </a:r>
            <a:r>
              <a:rPr lang="en-US" dirty="0"/>
              <a:t>Passage of time is essential and explicit in model execution; can almost never be done in spreadsheets except for </a:t>
            </a:r>
            <a:r>
              <a:rPr lang="en-US" i="1" dirty="0"/>
              <a:t>very</a:t>
            </a:r>
            <a:r>
              <a:rPr lang="en-US" dirty="0"/>
              <a:t> simple models</a:t>
            </a:r>
          </a:p>
          <a:p>
            <a:pPr lvl="1"/>
            <a:r>
              <a:rPr lang="en-US" dirty="0"/>
              <a:t>Queueing systems, dynamic inventory systems, supply chains</a:t>
            </a:r>
          </a:p>
          <a:p>
            <a:pPr lvl="1"/>
            <a:r>
              <a:rPr lang="en-US" dirty="0"/>
              <a:t>Key variable: simulation </a:t>
            </a:r>
            <a:r>
              <a:rPr lang="en-US" i="1" dirty="0"/>
              <a:t>clock</a:t>
            </a:r>
            <a:r>
              <a:rPr lang="en-US" dirty="0"/>
              <a:t> = current value of (simulated) time</a:t>
            </a:r>
          </a:p>
          <a:p>
            <a:pPr lvl="2"/>
            <a:r>
              <a:rPr lang="en-US" dirty="0"/>
              <a:t>Should be real-valued, not necessarily integer-valued, since simulated time is continuous</a:t>
            </a:r>
          </a:p>
          <a:p>
            <a:pPr lvl="1"/>
            <a:r>
              <a:rPr lang="en-US" dirty="0"/>
              <a:t>Should jump between (exact) event times in continuous time, not be time-stepped or time-sliced … wasted computer effort, model distortion since event times are rounded to nearest time-step boundary …</a:t>
            </a:r>
          </a:p>
          <a:p>
            <a:pPr lvl="1"/>
            <a:r>
              <a:rPr lang="en-US" dirty="0"/>
              <a:t>All dynamic simulations operate via the same logic underneath, though high-level simulation software spares you from this</a:t>
            </a:r>
          </a:p>
          <a:p>
            <a:pPr lvl="2"/>
            <a:r>
              <a:rPr lang="en-US" dirty="0"/>
              <a:t>But it’s important to see how it works, e.g. for debugging</a:t>
            </a:r>
          </a:p>
          <a:p>
            <a:pPr lvl="2"/>
            <a:r>
              <a:rPr lang="en-US" dirty="0"/>
              <a:t>Also, it’s the logic used if coding a dynamic simulation in C++, Java, etc.</a:t>
            </a:r>
          </a:p>
          <a:p>
            <a:pPr marL="457200" lvl="1" indent="0">
              <a:buNone/>
            </a:pPr>
            <a:endParaRPr lang="en-US" dirty="0">
              <a:sym typeface="Wingdings" panose="05000000000000000000" pitchFamily="2" charset="2"/>
            </a:endParaRPr>
          </a:p>
        </p:txBody>
      </p:sp>
    </p:spTree>
    <p:extLst>
      <p:ext uri="{BB962C8B-B14F-4D97-AF65-F5344CB8AC3E}">
        <p14:creationId xmlns:p14="http://schemas.microsoft.com/office/powerpoint/2010/main" val="2682825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Simulation and Software Options</a:t>
            </a:r>
          </a:p>
        </p:txBody>
      </p:sp>
      <p:sp>
        <p:nvSpPr>
          <p:cNvPr id="3" name="Content Placeholder 2"/>
          <p:cNvSpPr>
            <a:spLocks noGrp="1"/>
          </p:cNvSpPr>
          <p:nvPr>
            <p:ph idx="1"/>
          </p:nvPr>
        </p:nvSpPr>
        <p:spPr>
          <a:xfrm>
            <a:off x="355002" y="1312433"/>
            <a:ext cx="11478410" cy="4864530"/>
          </a:xfrm>
        </p:spPr>
        <p:txBody>
          <a:bodyPr>
            <a:normAutofit fontScale="92500" lnSpcReduction="20000"/>
          </a:bodyPr>
          <a:lstStyle/>
          <a:p>
            <a:r>
              <a:rPr lang="en-US" dirty="0"/>
              <a:t>An Illustration with Spreadsheet:</a:t>
            </a:r>
          </a:p>
          <a:p>
            <a:pPr lvl="1"/>
            <a:r>
              <a:rPr lang="en-US" dirty="0">
                <a:solidFill>
                  <a:srgbClr val="C00000"/>
                </a:solidFill>
              </a:rPr>
              <a:t>Manual Dynamic Simulation</a:t>
            </a:r>
          </a:p>
          <a:p>
            <a:pPr lvl="2"/>
            <a:r>
              <a:rPr lang="en-US" dirty="0"/>
              <a:t>A single-server queue, a registration desk in urgent-care clinic</a:t>
            </a: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r>
              <a:rPr lang="en-US" dirty="0">
                <a:sym typeface="Wingdings" panose="05000000000000000000" pitchFamily="2" charset="2"/>
              </a:rPr>
              <a:t>Input randomness</a:t>
            </a:r>
          </a:p>
          <a:p>
            <a:pPr lvl="3"/>
            <a:r>
              <a:rPr lang="en-US" dirty="0">
                <a:sym typeface="Wingdings" panose="05000000000000000000" pitchFamily="2" charset="2"/>
              </a:rPr>
              <a:t>Time between arrivals of consecutive customers: inter-arrival times</a:t>
            </a:r>
          </a:p>
          <a:p>
            <a:pPr lvl="3"/>
            <a:r>
              <a:rPr lang="en-US" dirty="0">
                <a:sym typeface="Wingdings" panose="05000000000000000000" pitchFamily="2" charset="2"/>
              </a:rPr>
              <a:t>Service times: how long a customer takes to be served</a:t>
            </a:r>
          </a:p>
          <a:p>
            <a:pPr lvl="2"/>
            <a:r>
              <a:rPr lang="en-US" dirty="0">
                <a:sym typeface="Wingdings" panose="05000000000000000000" pitchFamily="2" charset="2"/>
              </a:rPr>
              <a:t>What do we want? Analyze:</a:t>
            </a:r>
          </a:p>
          <a:p>
            <a:pPr lvl="3"/>
            <a:r>
              <a:rPr lang="en-US" dirty="0">
                <a:sym typeface="Wingdings" panose="05000000000000000000" pitchFamily="2" charset="2"/>
              </a:rPr>
              <a:t>How much a customer waits in line on average?</a:t>
            </a:r>
          </a:p>
          <a:p>
            <a:pPr lvl="3"/>
            <a:r>
              <a:rPr lang="en-US" dirty="0">
                <a:sym typeface="Wingdings" panose="05000000000000000000" pitchFamily="2" charset="2"/>
              </a:rPr>
              <a:t>How much a customer stays in the system?</a:t>
            </a:r>
          </a:p>
          <a:p>
            <a:pPr lvl="3"/>
            <a:r>
              <a:rPr lang="en-US" dirty="0">
                <a:sym typeface="Wingdings" panose="05000000000000000000" pitchFamily="2" charset="2"/>
              </a:rPr>
              <a:t>How many customers wait in line on average?</a:t>
            </a:r>
          </a:p>
        </p:txBody>
      </p:sp>
      <p:grpSp>
        <p:nvGrpSpPr>
          <p:cNvPr id="4" name="Group 34"/>
          <p:cNvGrpSpPr>
            <a:grpSpLocks/>
          </p:cNvGrpSpPr>
          <p:nvPr/>
        </p:nvGrpSpPr>
        <p:grpSpPr bwMode="auto">
          <a:xfrm>
            <a:off x="2708030" y="2567354"/>
            <a:ext cx="4824413" cy="1649413"/>
            <a:chOff x="1256495" y="685800"/>
            <a:chExt cx="7055585" cy="2412291"/>
          </a:xfrm>
        </p:grpSpPr>
        <p:sp>
          <p:nvSpPr>
            <p:cNvPr id="5" name="TextBox 7"/>
            <p:cNvSpPr txBox="1">
              <a:spLocks noChangeArrowheads="1"/>
            </p:cNvSpPr>
            <p:nvPr/>
          </p:nvSpPr>
          <p:spPr bwMode="auto">
            <a:xfrm>
              <a:off x="2501503" y="685800"/>
              <a:ext cx="1914401" cy="495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a:latin typeface="Calibri" panose="020F0502020204030204" pitchFamily="34" charset="0"/>
                </a:rPr>
                <a:t>Registration</a:t>
              </a:r>
            </a:p>
          </p:txBody>
        </p:sp>
        <p:cxnSp>
          <p:nvCxnSpPr>
            <p:cNvPr id="6" name="Straight Arrow Connector 5"/>
            <p:cNvCxnSpPr/>
            <p:nvPr/>
          </p:nvCxnSpPr>
          <p:spPr>
            <a:xfrm>
              <a:off x="1295964" y="1904715"/>
              <a:ext cx="1218881" cy="2321"/>
            </a:xfrm>
            <a:prstGeom prst="straightConnector1">
              <a:avLst/>
            </a:prstGeom>
            <a:ln w="31750">
              <a:tailEnd type="arrow"/>
            </a:ln>
          </p:spPr>
          <p:style>
            <a:lnRef idx="1">
              <a:schemeClr val="dk1"/>
            </a:lnRef>
            <a:fillRef idx="0">
              <a:schemeClr val="dk1"/>
            </a:fillRef>
            <a:effectRef idx="0">
              <a:schemeClr val="dk1"/>
            </a:effectRef>
            <a:fontRef idx="minor">
              <a:schemeClr val="tx1"/>
            </a:fontRef>
          </p:style>
        </p:cxnSp>
        <p:sp>
          <p:nvSpPr>
            <p:cNvPr id="7" name="Rectangle 6"/>
            <p:cNvSpPr/>
            <p:nvPr/>
          </p:nvSpPr>
          <p:spPr>
            <a:xfrm>
              <a:off x="2558958" y="1106036"/>
              <a:ext cx="3942212" cy="1885255"/>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p:cNvSpPr/>
            <p:nvPr/>
          </p:nvSpPr>
          <p:spPr>
            <a:xfrm>
              <a:off x="5416945" y="1505376"/>
              <a:ext cx="914742" cy="914766"/>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Oval 8"/>
            <p:cNvSpPr/>
            <p:nvPr/>
          </p:nvSpPr>
          <p:spPr>
            <a:xfrm>
              <a:off x="5530708" y="1619140"/>
              <a:ext cx="684895" cy="684915"/>
            </a:xfrm>
            <a:prstGeom prst="ellipse">
              <a:avLst/>
            </a:prstGeom>
            <a:solidFill>
              <a:srgbClr val="FFC000"/>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Oval 9"/>
            <p:cNvSpPr/>
            <p:nvPr/>
          </p:nvSpPr>
          <p:spPr>
            <a:xfrm>
              <a:off x="4557923" y="1619140"/>
              <a:ext cx="687217" cy="684915"/>
            </a:xfrm>
            <a:prstGeom prst="ellipse">
              <a:avLst/>
            </a:prstGeom>
            <a:solidFill>
              <a:srgbClr val="FFC000"/>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Oval 10"/>
            <p:cNvSpPr/>
            <p:nvPr/>
          </p:nvSpPr>
          <p:spPr>
            <a:xfrm>
              <a:off x="3759266" y="1619140"/>
              <a:ext cx="684896" cy="684915"/>
            </a:xfrm>
            <a:prstGeom prst="ellipse">
              <a:avLst/>
            </a:prstGeom>
            <a:solidFill>
              <a:srgbClr val="FFC000"/>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Oval 11"/>
            <p:cNvSpPr/>
            <p:nvPr/>
          </p:nvSpPr>
          <p:spPr>
            <a:xfrm>
              <a:off x="2958287" y="1619140"/>
              <a:ext cx="687217" cy="684915"/>
            </a:xfrm>
            <a:prstGeom prst="ellipse">
              <a:avLst/>
            </a:prstGeom>
            <a:solidFill>
              <a:srgbClr val="FFC000"/>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13" name="Straight Connector 12"/>
            <p:cNvCxnSpPr/>
            <p:nvPr/>
          </p:nvCxnSpPr>
          <p:spPr>
            <a:xfrm rot="5400000">
              <a:off x="3131248" y="2477025"/>
              <a:ext cx="227531" cy="2322"/>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3243853" y="2591951"/>
              <a:ext cx="165767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rot="5400000">
              <a:off x="4787766" y="2475864"/>
              <a:ext cx="229853" cy="2322"/>
            </a:xfrm>
            <a:prstGeom prst="line">
              <a:avLst/>
            </a:prstGeom>
            <a:ln w="25400"/>
          </p:spPr>
          <p:style>
            <a:lnRef idx="1">
              <a:schemeClr val="dk1"/>
            </a:lnRef>
            <a:fillRef idx="0">
              <a:schemeClr val="dk1"/>
            </a:fillRef>
            <a:effectRef idx="0">
              <a:schemeClr val="dk1"/>
            </a:effectRef>
            <a:fontRef idx="minor">
              <a:schemeClr val="tx1"/>
            </a:fontRef>
          </p:style>
        </p:cxnSp>
        <p:sp>
          <p:nvSpPr>
            <p:cNvPr id="16" name="TextBox 19"/>
            <p:cNvSpPr txBox="1">
              <a:spLocks noChangeArrowheads="1"/>
            </p:cNvSpPr>
            <p:nvPr/>
          </p:nvSpPr>
          <p:spPr bwMode="auto">
            <a:xfrm>
              <a:off x="3758804" y="2647950"/>
              <a:ext cx="985150" cy="450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400">
                  <a:latin typeface="Calibri" panose="020F0502020204030204" pitchFamily="34" charset="0"/>
                </a:rPr>
                <a:t>Queue</a:t>
              </a:r>
            </a:p>
          </p:txBody>
        </p:sp>
        <p:sp>
          <p:nvSpPr>
            <p:cNvPr id="17" name="TextBox 21"/>
            <p:cNvSpPr txBox="1">
              <a:spLocks noChangeArrowheads="1"/>
            </p:cNvSpPr>
            <p:nvPr/>
          </p:nvSpPr>
          <p:spPr bwMode="auto">
            <a:xfrm>
              <a:off x="5284909" y="1129078"/>
              <a:ext cx="1304092" cy="450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400">
                  <a:latin typeface="Calibri" panose="020F0502020204030204" pitchFamily="34" charset="0"/>
                </a:rPr>
                <a:t>Reg. Desk</a:t>
              </a:r>
            </a:p>
          </p:txBody>
        </p:sp>
        <p:sp>
          <p:nvSpPr>
            <p:cNvPr id="18" name="TextBox 22"/>
            <p:cNvSpPr txBox="1">
              <a:spLocks noChangeArrowheads="1"/>
            </p:cNvSpPr>
            <p:nvPr/>
          </p:nvSpPr>
          <p:spPr bwMode="auto">
            <a:xfrm>
              <a:off x="1256495" y="1217735"/>
              <a:ext cx="1142043" cy="76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sz="1400">
                  <a:latin typeface="Calibri" panose="020F0502020204030204" pitchFamily="34" charset="0"/>
                </a:rPr>
                <a:t>Arriving</a:t>
              </a:r>
            </a:p>
            <a:p>
              <a:pPr algn="ctr" eaLnBrk="1" hangingPunct="1"/>
              <a:r>
                <a:rPr lang="en-US" sz="1400">
                  <a:latin typeface="Calibri" panose="020F0502020204030204" pitchFamily="34" charset="0"/>
                </a:rPr>
                <a:t>patients</a:t>
              </a:r>
            </a:p>
          </p:txBody>
        </p:sp>
        <p:cxnSp>
          <p:nvCxnSpPr>
            <p:cNvPr id="19" name="Straight Arrow Connector 18"/>
            <p:cNvCxnSpPr/>
            <p:nvPr/>
          </p:nvCxnSpPr>
          <p:spPr>
            <a:xfrm>
              <a:off x="6501170" y="1904715"/>
              <a:ext cx="1258350" cy="2321"/>
            </a:xfrm>
            <a:prstGeom prst="straightConnector1">
              <a:avLst/>
            </a:prstGeom>
            <a:ln w="31750">
              <a:tailEnd type="arrow"/>
            </a:ln>
          </p:spPr>
          <p:style>
            <a:lnRef idx="1">
              <a:schemeClr val="dk1"/>
            </a:lnRef>
            <a:fillRef idx="0">
              <a:schemeClr val="dk1"/>
            </a:fillRef>
            <a:effectRef idx="0">
              <a:schemeClr val="dk1"/>
            </a:effectRef>
            <a:fontRef idx="minor">
              <a:schemeClr val="tx1"/>
            </a:fontRef>
          </p:style>
        </p:cxnSp>
        <p:sp>
          <p:nvSpPr>
            <p:cNvPr id="20" name="TextBox 26"/>
            <p:cNvSpPr txBox="1">
              <a:spLocks noChangeArrowheads="1"/>
            </p:cNvSpPr>
            <p:nvPr/>
          </p:nvSpPr>
          <p:spPr bwMode="auto">
            <a:xfrm>
              <a:off x="6452084" y="1219199"/>
              <a:ext cx="1332134" cy="76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sz="1400">
                  <a:latin typeface="Calibri" panose="020F0502020204030204" pitchFamily="34" charset="0"/>
                </a:rPr>
                <a:t>Departing</a:t>
              </a:r>
            </a:p>
            <a:p>
              <a:pPr algn="ctr" eaLnBrk="1" hangingPunct="1"/>
              <a:r>
                <a:rPr lang="en-US" sz="1400">
                  <a:latin typeface="Calibri" panose="020F0502020204030204" pitchFamily="34" charset="0"/>
                </a:rPr>
                <a:t>patients</a:t>
              </a:r>
            </a:p>
          </p:txBody>
        </p:sp>
        <p:sp>
          <p:nvSpPr>
            <p:cNvPr id="21" name="TextBox 27"/>
            <p:cNvSpPr txBox="1">
              <a:spLocks noChangeArrowheads="1"/>
            </p:cNvSpPr>
            <p:nvPr/>
          </p:nvSpPr>
          <p:spPr bwMode="auto">
            <a:xfrm>
              <a:off x="6629400" y="2286000"/>
              <a:ext cx="1682680" cy="76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400">
                  <a:latin typeface="Calibri" panose="020F0502020204030204" pitchFamily="34" charset="0"/>
                </a:rPr>
                <a:t>Patient being</a:t>
              </a:r>
            </a:p>
            <a:p>
              <a:pPr eaLnBrk="1" hangingPunct="1"/>
              <a:r>
                <a:rPr lang="en-US" sz="1400">
                  <a:latin typeface="Calibri" panose="020F0502020204030204" pitchFamily="34" charset="0"/>
                </a:rPr>
                <a:t>registered</a:t>
              </a:r>
            </a:p>
          </p:txBody>
        </p:sp>
        <p:cxnSp>
          <p:nvCxnSpPr>
            <p:cNvPr id="22" name="Straight Arrow Connector 21"/>
            <p:cNvCxnSpPr/>
            <p:nvPr/>
          </p:nvCxnSpPr>
          <p:spPr>
            <a:xfrm rot="10800000">
              <a:off x="5874316" y="2018480"/>
              <a:ext cx="754545" cy="420236"/>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27594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3" end="1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4" end="1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5" end="15"/>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Simulation and Software Options</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t>An Illustration with Spreadsheet:</a:t>
            </a:r>
          </a:p>
          <a:p>
            <a:pPr lvl="1"/>
            <a:r>
              <a:rPr lang="en-US" dirty="0">
                <a:solidFill>
                  <a:srgbClr val="C00000"/>
                </a:solidFill>
              </a:rPr>
              <a:t>Manual Dynamic Simulation</a:t>
            </a:r>
          </a:p>
          <a:p>
            <a:pPr lvl="2"/>
            <a:r>
              <a:rPr lang="en-US" dirty="0"/>
              <a:t>Assuming first-come first-served, customers get in the queue if the server is busy, and the server next helps the customer in front of the queue, and server is idle if there is no-one in the </a:t>
            </a:r>
            <a:r>
              <a:rPr lang="en-US" dirty="0" err="1"/>
              <a:t>sytem</a:t>
            </a:r>
            <a:endParaRPr lang="en-US" dirty="0"/>
          </a:p>
          <a:p>
            <a:pPr lvl="1"/>
            <a:r>
              <a:rPr lang="en-US" dirty="0"/>
              <a:t>Strategy:</a:t>
            </a:r>
          </a:p>
          <a:p>
            <a:pPr lvl="2"/>
            <a:r>
              <a:rPr lang="en-US" dirty="0"/>
              <a:t>We can generate random numbers for the </a:t>
            </a:r>
            <a:r>
              <a:rPr lang="en-US" dirty="0" err="1"/>
              <a:t>interarrival</a:t>
            </a:r>
            <a:r>
              <a:rPr lang="en-US" dirty="0"/>
              <a:t> times and service times</a:t>
            </a:r>
          </a:p>
          <a:p>
            <a:pPr lvl="2"/>
            <a:r>
              <a:rPr lang="en-US" dirty="0"/>
              <a:t>Then use those to identify events that occur at instants of simulated time, may change the system state variables</a:t>
            </a:r>
          </a:p>
          <a:p>
            <a:pPr lvl="3"/>
            <a:r>
              <a:rPr lang="en-US" dirty="0"/>
              <a:t>Arrival of a patient entity</a:t>
            </a:r>
          </a:p>
          <a:p>
            <a:pPr lvl="3"/>
            <a:r>
              <a:rPr lang="en-US" dirty="0"/>
              <a:t>Departure of a patient entity, after completing registration service</a:t>
            </a:r>
          </a:p>
          <a:p>
            <a:pPr lvl="2"/>
            <a:r>
              <a:rPr lang="en-US" dirty="0"/>
              <a:t>We can also calculate</a:t>
            </a:r>
          </a:p>
          <a:p>
            <a:pPr lvl="3"/>
            <a:r>
              <a:rPr lang="en-US" dirty="0"/>
              <a:t>How many customers in the system at any point selected during the simulation time</a:t>
            </a:r>
          </a:p>
          <a:p>
            <a:pPr lvl="3"/>
            <a:r>
              <a:rPr lang="en-US" dirty="0"/>
              <a:t>How much each customer spends in the queue (time spent from the moment s/he enters the system until the moment s/he starts getting help from the server)</a:t>
            </a:r>
          </a:p>
          <a:p>
            <a:pPr lvl="3"/>
            <a:r>
              <a:rPr lang="en-US" dirty="0"/>
              <a:t>What percentage of time the server is busy vs. idle (server utilization)</a:t>
            </a:r>
          </a:p>
          <a:p>
            <a:pPr lvl="3"/>
            <a:r>
              <a:rPr lang="en-US" dirty="0"/>
              <a:t>And so on…</a:t>
            </a: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p:txBody>
      </p:sp>
    </p:spTree>
    <p:extLst>
      <p:ext uri="{BB962C8B-B14F-4D97-AF65-F5344CB8AC3E}">
        <p14:creationId xmlns:p14="http://schemas.microsoft.com/office/powerpoint/2010/main" val="217577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Simulation and Software Options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An Illustration with Spreadsheet:</a:t>
            </a:r>
          </a:p>
          <a:p>
            <a:pPr lvl="1"/>
            <a:r>
              <a:rPr lang="en-US" dirty="0">
                <a:solidFill>
                  <a:srgbClr val="C00000"/>
                </a:solidFill>
              </a:rPr>
              <a:t>Manual Dynamic Simulation</a:t>
            </a: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p:txBody>
      </p:sp>
      <p:pic>
        <p:nvPicPr>
          <p:cNvPr id="4" name="Picture 3"/>
          <p:cNvPicPr>
            <a:picLocks noChangeAspect="1"/>
          </p:cNvPicPr>
          <p:nvPr/>
        </p:nvPicPr>
        <p:blipFill>
          <a:blip r:embed="rId2"/>
          <a:stretch>
            <a:fillRect/>
          </a:stretch>
        </p:blipFill>
        <p:spPr>
          <a:xfrm>
            <a:off x="1162991" y="2214166"/>
            <a:ext cx="3981033" cy="2054530"/>
          </a:xfrm>
          <a:prstGeom prst="rect">
            <a:avLst/>
          </a:prstGeom>
        </p:spPr>
      </p:pic>
      <p:pic>
        <p:nvPicPr>
          <p:cNvPr id="6" name="Picture 5"/>
          <p:cNvPicPr>
            <a:picLocks noChangeAspect="1"/>
          </p:cNvPicPr>
          <p:nvPr/>
        </p:nvPicPr>
        <p:blipFill>
          <a:blip r:embed="rId3"/>
          <a:stretch>
            <a:fillRect/>
          </a:stretch>
        </p:blipFill>
        <p:spPr>
          <a:xfrm>
            <a:off x="4409476" y="4223591"/>
            <a:ext cx="7314030" cy="2519520"/>
          </a:xfrm>
          <a:prstGeom prst="rect">
            <a:avLst/>
          </a:prstGeom>
        </p:spPr>
      </p:pic>
      <p:sp>
        <p:nvSpPr>
          <p:cNvPr id="7" name="Bent-Up Arrow 6"/>
          <p:cNvSpPr/>
          <p:nvPr/>
        </p:nvSpPr>
        <p:spPr>
          <a:xfrm flipV="1">
            <a:off x="4291231" y="2649259"/>
            <a:ext cx="1441938" cy="1008184"/>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254558" y="2649259"/>
            <a:ext cx="5450672" cy="830997"/>
          </a:xfrm>
          <a:prstGeom prst="rect">
            <a:avLst/>
          </a:prstGeom>
        </p:spPr>
        <p:txBody>
          <a:bodyPr wrap="square">
            <a:spAutoFit/>
          </a:bodyPr>
          <a:lstStyle/>
          <a:p>
            <a:r>
              <a:rPr lang="en-US" sz="2400" dirty="0">
                <a:sym typeface="Wingdings" panose="05000000000000000000" pitchFamily="2" charset="2"/>
              </a:rPr>
              <a:t>See </a:t>
            </a:r>
            <a:r>
              <a:rPr lang="en-US" sz="2400" i="1" dirty="0">
                <a:sym typeface="Wingdings" panose="05000000000000000000" pitchFamily="2" charset="2"/>
              </a:rPr>
              <a:t>‘Module 2 - Manual Dynamic Smiulation.xlsx’ </a:t>
            </a:r>
            <a:r>
              <a:rPr lang="en-US" sz="2400" dirty="0">
                <a:sym typeface="Wingdings" panose="05000000000000000000" pitchFamily="2" charset="2"/>
              </a:rPr>
              <a:t>file</a:t>
            </a:r>
          </a:p>
        </p:txBody>
      </p:sp>
    </p:spTree>
    <p:extLst>
      <p:ext uri="{BB962C8B-B14F-4D97-AF65-F5344CB8AC3E}">
        <p14:creationId xmlns:p14="http://schemas.microsoft.com/office/powerpoint/2010/main" val="322519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Simulation and Software Options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An Illustration with Spreadsheet:</a:t>
            </a:r>
          </a:p>
          <a:p>
            <a:pPr lvl="1"/>
            <a:r>
              <a:rPr lang="en-US" dirty="0">
                <a:solidFill>
                  <a:srgbClr val="C00000"/>
                </a:solidFill>
              </a:rPr>
              <a:t>Manual Dynamic Simulation</a:t>
            </a: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p:txBody>
      </p:sp>
      <p:pic>
        <p:nvPicPr>
          <p:cNvPr id="6" name="Content Placeholder 9" descr="manual_simulation_plots.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36430" y="2250831"/>
            <a:ext cx="4962929" cy="437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878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Simulation and Software Options</a:t>
            </a:r>
          </a:p>
        </p:txBody>
      </p:sp>
      <p:sp>
        <p:nvSpPr>
          <p:cNvPr id="3" name="Content Placeholder 2"/>
          <p:cNvSpPr>
            <a:spLocks noGrp="1"/>
          </p:cNvSpPr>
          <p:nvPr>
            <p:ph idx="1"/>
          </p:nvPr>
        </p:nvSpPr>
        <p:spPr>
          <a:xfrm>
            <a:off x="355002" y="1312432"/>
            <a:ext cx="11478410" cy="5545567"/>
          </a:xfrm>
        </p:spPr>
        <p:txBody>
          <a:bodyPr>
            <a:normAutofit lnSpcReduction="10000"/>
          </a:bodyPr>
          <a:lstStyle/>
          <a:p>
            <a:r>
              <a:rPr lang="en-US" dirty="0"/>
              <a:t>An Illustration with Spreadsheet:</a:t>
            </a:r>
          </a:p>
          <a:p>
            <a:pPr lvl="1"/>
            <a:r>
              <a:rPr lang="en-US" dirty="0">
                <a:solidFill>
                  <a:srgbClr val="C00000"/>
                </a:solidFill>
              </a:rPr>
              <a:t>Manual Dynamic Simulation</a:t>
            </a:r>
          </a:p>
          <a:p>
            <a:pPr lvl="2"/>
            <a:r>
              <a:rPr lang="en-US" dirty="0"/>
              <a:t>Utilization of server (proportion or percent of time busy)</a:t>
            </a:r>
          </a:p>
          <a:p>
            <a:pPr lvl="2"/>
            <a:r>
              <a:rPr lang="en-US" dirty="0"/>
              <a:t>Average, minimum, maximum of:</a:t>
            </a:r>
          </a:p>
          <a:p>
            <a:pPr lvl="3"/>
            <a:r>
              <a:rPr lang="en-US" dirty="0">
                <a:solidFill>
                  <a:srgbClr val="C00000"/>
                </a:solidFill>
              </a:rPr>
              <a:t>Total entity (patient) time in system (entry-exit)</a:t>
            </a:r>
          </a:p>
          <a:p>
            <a:pPr lvl="3"/>
            <a:r>
              <a:rPr lang="en-US" dirty="0">
                <a:solidFill>
                  <a:srgbClr val="C00000"/>
                </a:solidFill>
              </a:rPr>
              <a:t>Entity time in queue</a:t>
            </a:r>
          </a:p>
          <a:p>
            <a:pPr lvl="3"/>
            <a:r>
              <a:rPr lang="en-US" dirty="0">
                <a:solidFill>
                  <a:schemeClr val="accent5"/>
                </a:solidFill>
              </a:rPr>
              <a:t>Number of entities in system (WIP)</a:t>
            </a:r>
          </a:p>
          <a:p>
            <a:pPr lvl="3"/>
            <a:r>
              <a:rPr lang="en-US" dirty="0">
                <a:solidFill>
                  <a:schemeClr val="accent5"/>
                </a:solidFill>
              </a:rPr>
              <a:t>Number of entities in queue (queue length)</a:t>
            </a:r>
          </a:p>
          <a:p>
            <a:pPr lvl="2"/>
            <a:r>
              <a:rPr lang="en-US" dirty="0"/>
              <a:t>Averages of discrete-time processes are just simple averages</a:t>
            </a:r>
          </a:p>
          <a:p>
            <a:pPr lvl="2"/>
            <a:r>
              <a:rPr lang="en-US" dirty="0"/>
              <a:t>(Continuous) time averages:</a:t>
            </a:r>
          </a:p>
          <a:p>
            <a:pPr lvl="3"/>
            <a:r>
              <a:rPr lang="en-US" dirty="0"/>
              <a:t>Let:	</a:t>
            </a:r>
            <a:r>
              <a:rPr lang="en-US" i="1" dirty="0"/>
              <a:t>L</a:t>
            </a:r>
            <a:r>
              <a:rPr lang="en-US" dirty="0"/>
              <a:t>(</a:t>
            </a:r>
            <a:r>
              <a:rPr lang="en-US" i="1" dirty="0"/>
              <a:t>t</a:t>
            </a:r>
            <a:r>
              <a:rPr lang="en-US" dirty="0"/>
              <a:t>)	= number in system (WIP) at time </a:t>
            </a:r>
            <a:r>
              <a:rPr lang="en-US" i="1" dirty="0"/>
              <a:t>t</a:t>
            </a:r>
          </a:p>
          <a:p>
            <a:pPr marL="1371600" lvl="3" indent="0">
              <a:buNone/>
            </a:pPr>
            <a:r>
              <a:rPr lang="en-US" i="1" dirty="0"/>
              <a:t>		</a:t>
            </a:r>
            <a:r>
              <a:rPr lang="en-US" i="1" dirty="0" err="1"/>
              <a:t>L</a:t>
            </a:r>
            <a:r>
              <a:rPr lang="en-US" i="1" baseline="-25000" dirty="0" err="1"/>
              <a:t>q</a:t>
            </a:r>
            <a:r>
              <a:rPr lang="en-US" dirty="0"/>
              <a:t>(</a:t>
            </a:r>
            <a:r>
              <a:rPr lang="en-US" i="1" dirty="0"/>
              <a:t>t</a:t>
            </a:r>
            <a:r>
              <a:rPr lang="en-US" dirty="0"/>
              <a:t>)	= number in queue at time </a:t>
            </a:r>
            <a:r>
              <a:rPr lang="en-US" i="1" dirty="0"/>
              <a:t>t</a:t>
            </a:r>
          </a:p>
          <a:p>
            <a:pPr marL="914400" lvl="2" indent="0">
              <a:buNone/>
            </a:pPr>
            <a:r>
              <a:rPr lang="en-US" sz="1800" i="1" dirty="0"/>
              <a:t>		B</a:t>
            </a:r>
            <a:r>
              <a:rPr lang="en-US" sz="1800" dirty="0"/>
              <a:t>(</a:t>
            </a:r>
            <a:r>
              <a:rPr lang="en-US" sz="1800" i="1" dirty="0"/>
              <a:t>t</a:t>
            </a:r>
            <a:r>
              <a:rPr lang="en-US" sz="1800" dirty="0"/>
              <a:t>)	= 1 if server is busy at time </a:t>
            </a:r>
            <a:r>
              <a:rPr lang="en-US" sz="1800" i="1" dirty="0"/>
              <a:t>t</a:t>
            </a:r>
            <a:r>
              <a:rPr lang="en-US" sz="1800" dirty="0"/>
              <a:t>, 0 if idle at time </a:t>
            </a:r>
            <a:r>
              <a:rPr lang="en-US" sz="1800" i="1" dirty="0"/>
              <a:t>t</a:t>
            </a:r>
          </a:p>
          <a:p>
            <a:pPr lvl="3"/>
            <a:r>
              <a:rPr lang="en-US" dirty="0"/>
              <a:t>Time-averages (</a:t>
            </a:r>
            <a:r>
              <a:rPr lang="en-US" i="1" dirty="0"/>
              <a:t>T</a:t>
            </a:r>
            <a:r>
              <a:rPr lang="en-US" dirty="0"/>
              <a:t> = simulation run length = 8 minutes):</a:t>
            </a:r>
          </a:p>
          <a:p>
            <a:pPr lvl="3"/>
            <a:r>
              <a:rPr lang="en-US" dirty="0"/>
              <a:t>Time-average number in system (WIP) = </a:t>
            </a:r>
            <a:r>
              <a:rPr lang="en-US" dirty="0">
                <a:sym typeface="Symbol"/>
              </a:rPr>
              <a:t></a:t>
            </a:r>
            <a:r>
              <a:rPr lang="en-US" baseline="-25000" dirty="0">
                <a:sym typeface="Symbol"/>
              </a:rPr>
              <a:t>0</a:t>
            </a:r>
            <a:r>
              <a:rPr lang="en-US" dirty="0">
                <a:sym typeface="Symbol"/>
              </a:rPr>
              <a:t> </a:t>
            </a:r>
            <a:r>
              <a:rPr lang="en-US" i="1" dirty="0"/>
              <a:t>L</a:t>
            </a:r>
            <a:r>
              <a:rPr lang="en-US" dirty="0"/>
              <a:t>(</a:t>
            </a:r>
            <a:r>
              <a:rPr lang="en-US" i="1" dirty="0"/>
              <a:t>t</a:t>
            </a:r>
            <a:r>
              <a:rPr lang="en-US" dirty="0"/>
              <a:t>)</a:t>
            </a:r>
            <a:r>
              <a:rPr lang="en-US" i="1" dirty="0" err="1"/>
              <a:t>dt</a:t>
            </a:r>
            <a:r>
              <a:rPr lang="en-US" dirty="0"/>
              <a:t>/</a:t>
            </a:r>
            <a:r>
              <a:rPr lang="en-US" i="1" dirty="0"/>
              <a:t>T</a:t>
            </a:r>
          </a:p>
          <a:p>
            <a:pPr lvl="3"/>
            <a:r>
              <a:rPr lang="en-US" dirty="0"/>
              <a:t>Time-average number in queue	= </a:t>
            </a:r>
            <a:r>
              <a:rPr lang="en-US" dirty="0">
                <a:sym typeface="Symbol"/>
              </a:rPr>
              <a:t></a:t>
            </a:r>
            <a:r>
              <a:rPr lang="en-US" baseline="-25000" dirty="0">
                <a:sym typeface="Symbol"/>
              </a:rPr>
              <a:t>0</a:t>
            </a:r>
            <a:r>
              <a:rPr lang="en-US" dirty="0">
                <a:sym typeface="Symbol"/>
              </a:rPr>
              <a:t> </a:t>
            </a:r>
            <a:r>
              <a:rPr lang="en-US" i="1" dirty="0" err="1"/>
              <a:t>L</a:t>
            </a:r>
            <a:r>
              <a:rPr lang="en-US" i="1" baseline="-25000" dirty="0" err="1"/>
              <a:t>q</a:t>
            </a:r>
            <a:r>
              <a:rPr lang="en-US" dirty="0"/>
              <a:t>(</a:t>
            </a:r>
            <a:r>
              <a:rPr lang="en-US" i="1" dirty="0"/>
              <a:t>t</a:t>
            </a:r>
            <a:r>
              <a:rPr lang="en-US" dirty="0"/>
              <a:t>)</a:t>
            </a:r>
            <a:r>
              <a:rPr lang="en-US" i="1" dirty="0"/>
              <a:t> </a:t>
            </a:r>
            <a:r>
              <a:rPr lang="en-US" i="1" dirty="0" err="1"/>
              <a:t>dt</a:t>
            </a:r>
            <a:r>
              <a:rPr lang="en-US" dirty="0"/>
              <a:t>/</a:t>
            </a:r>
            <a:r>
              <a:rPr lang="en-US" i="1" dirty="0"/>
              <a:t>T</a:t>
            </a:r>
          </a:p>
          <a:p>
            <a:pPr lvl="3"/>
            <a:r>
              <a:rPr lang="en-US" dirty="0"/>
              <a:t>Server utilization (proportion)	= </a:t>
            </a:r>
            <a:r>
              <a:rPr lang="en-US" dirty="0">
                <a:sym typeface="Symbol"/>
              </a:rPr>
              <a:t></a:t>
            </a:r>
            <a:r>
              <a:rPr lang="en-US" baseline="-25000" dirty="0">
                <a:sym typeface="Symbol"/>
              </a:rPr>
              <a:t>0</a:t>
            </a:r>
            <a:r>
              <a:rPr lang="en-US" dirty="0">
                <a:sym typeface="Symbol"/>
              </a:rPr>
              <a:t> </a:t>
            </a:r>
            <a:r>
              <a:rPr lang="en-US" i="1" dirty="0"/>
              <a:t>B</a:t>
            </a:r>
            <a:r>
              <a:rPr lang="en-US" dirty="0"/>
              <a:t>(</a:t>
            </a:r>
            <a:r>
              <a:rPr lang="en-US" i="1" dirty="0"/>
              <a:t>t</a:t>
            </a:r>
            <a:r>
              <a:rPr lang="en-US" dirty="0"/>
              <a:t>)</a:t>
            </a:r>
            <a:r>
              <a:rPr lang="en-US" i="1" dirty="0"/>
              <a:t> </a:t>
            </a:r>
            <a:r>
              <a:rPr lang="en-US" i="1" dirty="0" err="1"/>
              <a:t>dt</a:t>
            </a:r>
            <a:r>
              <a:rPr lang="en-US" dirty="0"/>
              <a:t>/</a:t>
            </a:r>
            <a:r>
              <a:rPr lang="en-US" i="1" dirty="0"/>
              <a:t>T</a:t>
            </a:r>
          </a:p>
          <a:p>
            <a:pPr marL="914400" lvl="2" indent="0">
              <a:buNone/>
            </a:pPr>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sym typeface="Wingdings" panose="05000000000000000000" pitchFamily="2" charset="2"/>
            </a:endParaRPr>
          </a:p>
        </p:txBody>
      </p:sp>
      <p:sp>
        <p:nvSpPr>
          <p:cNvPr id="7" name="Right Brace 6"/>
          <p:cNvSpPr/>
          <p:nvPr/>
        </p:nvSpPr>
        <p:spPr>
          <a:xfrm>
            <a:off x="6928338" y="2603075"/>
            <a:ext cx="228600" cy="609600"/>
          </a:xfrm>
          <a:prstGeom prst="rightBrace">
            <a:avLst>
              <a:gd name="adj1" fmla="val 27273"/>
              <a:gd name="adj2" fmla="val 50000"/>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solidFill>
                <a:srgbClr val="C00000"/>
              </a:solidFill>
            </a:endParaRPr>
          </a:p>
        </p:txBody>
      </p:sp>
      <p:sp>
        <p:nvSpPr>
          <p:cNvPr id="8" name="TextBox 9"/>
          <p:cNvSpPr txBox="1">
            <a:spLocks noChangeArrowheads="1"/>
          </p:cNvSpPr>
          <p:nvPr/>
        </p:nvSpPr>
        <p:spPr bwMode="auto">
          <a:xfrm>
            <a:off x="7320084" y="2591904"/>
            <a:ext cx="22653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i="1" dirty="0">
                <a:solidFill>
                  <a:srgbClr val="C00000"/>
                </a:solidFill>
                <a:latin typeface="Calibri" panose="020F0502020204030204" pitchFamily="34" charset="0"/>
              </a:rPr>
              <a:t>Discrete-time</a:t>
            </a:r>
            <a:r>
              <a:rPr lang="en-US" sz="1600" dirty="0">
                <a:solidFill>
                  <a:srgbClr val="C00000"/>
                </a:solidFill>
                <a:latin typeface="Calibri" panose="020F0502020204030204" pitchFamily="34" charset="0"/>
              </a:rPr>
              <a:t> processes</a:t>
            </a:r>
          </a:p>
          <a:p>
            <a:pPr eaLnBrk="1" hangingPunct="1"/>
            <a:r>
              <a:rPr lang="en-US" sz="1600" dirty="0">
                <a:solidFill>
                  <a:srgbClr val="C00000"/>
                </a:solidFill>
                <a:latin typeface="Calibri" panose="020F0502020204030204" pitchFamily="34" charset="0"/>
              </a:rPr>
              <a:t>a.k.a. </a:t>
            </a:r>
            <a:r>
              <a:rPr lang="en-US" sz="1600" i="1" dirty="0">
                <a:solidFill>
                  <a:srgbClr val="C00000"/>
                </a:solidFill>
                <a:latin typeface="Calibri" panose="020F0502020204030204" pitchFamily="34" charset="0"/>
              </a:rPr>
              <a:t>observational</a:t>
            </a:r>
            <a:r>
              <a:rPr lang="en-US" sz="1600" dirty="0">
                <a:solidFill>
                  <a:srgbClr val="C00000"/>
                </a:solidFill>
                <a:latin typeface="Calibri" panose="020F0502020204030204" pitchFamily="34" charset="0"/>
              </a:rPr>
              <a:t>, </a:t>
            </a:r>
            <a:r>
              <a:rPr lang="en-US" sz="1600" i="1" dirty="0">
                <a:solidFill>
                  <a:srgbClr val="C00000"/>
                </a:solidFill>
                <a:latin typeface="Calibri" panose="020F0502020204030204" pitchFamily="34" charset="0"/>
              </a:rPr>
              <a:t>tally</a:t>
            </a:r>
          </a:p>
        </p:txBody>
      </p:sp>
      <p:sp>
        <p:nvSpPr>
          <p:cNvPr id="9" name="TextBox 10"/>
          <p:cNvSpPr txBox="1">
            <a:spLocks noChangeArrowheads="1"/>
          </p:cNvSpPr>
          <p:nvPr/>
        </p:nvSpPr>
        <p:spPr bwMode="auto">
          <a:xfrm>
            <a:off x="7320084" y="3212675"/>
            <a:ext cx="42044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8600" indent="-228600"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sz="1600" i="1" dirty="0">
                <a:solidFill>
                  <a:schemeClr val="accent5"/>
                </a:solidFill>
                <a:latin typeface="Calibri" panose="020F0502020204030204" pitchFamily="34" charset="0"/>
              </a:rPr>
              <a:t>Continuous-time</a:t>
            </a:r>
            <a:r>
              <a:rPr lang="en-US" sz="1600" dirty="0">
                <a:solidFill>
                  <a:schemeClr val="accent5"/>
                </a:solidFill>
                <a:latin typeface="Calibri" panose="020F0502020204030204" pitchFamily="34" charset="0"/>
              </a:rPr>
              <a:t> processes</a:t>
            </a:r>
          </a:p>
          <a:p>
            <a:pPr eaLnBrk="1" hangingPunct="1"/>
            <a:r>
              <a:rPr lang="en-US" sz="1600" dirty="0">
                <a:solidFill>
                  <a:schemeClr val="accent5"/>
                </a:solidFill>
                <a:latin typeface="Calibri" panose="020F0502020204030204" pitchFamily="34" charset="0"/>
              </a:rPr>
              <a:t>a.k.a. </a:t>
            </a:r>
            <a:r>
              <a:rPr lang="en-US" sz="1600" i="1" dirty="0">
                <a:solidFill>
                  <a:schemeClr val="accent5"/>
                </a:solidFill>
                <a:latin typeface="Calibri" panose="020F0502020204030204" pitchFamily="34" charset="0"/>
              </a:rPr>
              <a:t>time-persistent</a:t>
            </a:r>
            <a:r>
              <a:rPr lang="en-US" sz="1600" dirty="0">
                <a:solidFill>
                  <a:schemeClr val="accent5"/>
                </a:solidFill>
                <a:latin typeface="Calibri" panose="020F0502020204030204" pitchFamily="34" charset="0"/>
              </a:rPr>
              <a:t>, </a:t>
            </a:r>
            <a:r>
              <a:rPr lang="en-US" sz="1600" i="1" dirty="0">
                <a:solidFill>
                  <a:schemeClr val="accent5"/>
                </a:solidFill>
                <a:latin typeface="Calibri" panose="020F0502020204030204" pitchFamily="34" charset="0"/>
              </a:rPr>
              <a:t>discrete-change</a:t>
            </a:r>
          </a:p>
        </p:txBody>
      </p:sp>
      <p:sp>
        <p:nvSpPr>
          <p:cNvPr id="10" name="Right Brace 9"/>
          <p:cNvSpPr/>
          <p:nvPr/>
        </p:nvSpPr>
        <p:spPr>
          <a:xfrm>
            <a:off x="6928338" y="3296933"/>
            <a:ext cx="228600" cy="609600"/>
          </a:xfrm>
          <a:prstGeom prst="rightBrace">
            <a:avLst>
              <a:gd name="adj1" fmla="val 27273"/>
              <a:gd name="adj2" fmla="val 50000"/>
            </a:avLst>
          </a:prstGeom>
          <a:ln w="19050">
            <a:solidFill>
              <a:schemeClr val="accent5"/>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pic>
        <p:nvPicPr>
          <p:cNvPr id="11" name="Content Placeholder 9" descr="manual_simulation_plots.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28338" y="5076346"/>
            <a:ext cx="1844590" cy="1625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9031216" y="5510215"/>
            <a:ext cx="2543908" cy="923330"/>
          </a:xfrm>
          <a:prstGeom prst="rect">
            <a:avLst/>
          </a:prstGeom>
          <a:noFill/>
        </p:spPr>
        <p:txBody>
          <a:bodyPr wrap="square" rtlCol="0">
            <a:spAutoFit/>
          </a:bodyPr>
          <a:lstStyle/>
          <a:p>
            <a:r>
              <a:rPr lang="en-US" dirty="0"/>
              <a:t>Need to calculate the areas under the rectangles</a:t>
            </a:r>
          </a:p>
        </p:txBody>
      </p:sp>
    </p:spTree>
    <p:extLst>
      <p:ext uri="{BB962C8B-B14F-4D97-AF65-F5344CB8AC3E}">
        <p14:creationId xmlns:p14="http://schemas.microsoft.com/office/powerpoint/2010/main" val="3634186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15" end="15"/>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animBg="1"/>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Simulation and Software Options</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t>Static simulations can often be done effectively in spreadsheets</a:t>
            </a:r>
          </a:p>
          <a:p>
            <a:pPr lvl="1"/>
            <a:r>
              <a:rPr lang="en-US" dirty="0"/>
              <a:t>With, without special simulation add-ins (@RISK, Crystal Ball, Risk Solver)</a:t>
            </a:r>
          </a:p>
          <a:p>
            <a:pPr lvl="1"/>
            <a:r>
              <a:rPr lang="en-US" dirty="0"/>
              <a:t>Make many replications of a given spreadsheet’s logic, record results as histograms, summary measures … much better than just “running” the spreadsheet once to get a single-number “projection”</a:t>
            </a:r>
          </a:p>
          <a:p>
            <a:pPr lvl="1"/>
            <a:r>
              <a:rPr lang="en-US" dirty="0"/>
              <a:t>Can measure </a:t>
            </a:r>
            <a:r>
              <a:rPr lang="en-US" i="1" dirty="0"/>
              <a:t>risk</a:t>
            </a:r>
            <a:r>
              <a:rPr lang="en-US" dirty="0"/>
              <a:t>, often very important, missed in “projections”</a:t>
            </a:r>
          </a:p>
          <a:p>
            <a:r>
              <a:rPr lang="en-US" dirty="0"/>
              <a:t>Dynamic simulations are nearly impossible to do in spreadsheets</a:t>
            </a:r>
          </a:p>
          <a:p>
            <a:pPr lvl="1"/>
            <a:r>
              <a:rPr lang="en-US" dirty="0"/>
              <a:t>Except for the most extremely simple (trivial?) cases, due to complex logic that doesn’t fit well in two-dimensional thinking/modeling</a:t>
            </a:r>
          </a:p>
          <a:p>
            <a:endParaRPr lang="en-US" dirty="0"/>
          </a:p>
          <a:p>
            <a:r>
              <a:rPr lang="en-US" dirty="0"/>
              <a:t>But we are not hopeless!</a:t>
            </a:r>
          </a:p>
          <a:p>
            <a:pPr lvl="1"/>
            <a:r>
              <a:rPr lang="en-US" dirty="0"/>
              <a:t>There are software options for simulation!</a:t>
            </a:r>
          </a:p>
          <a:p>
            <a:pPr lvl="1"/>
            <a:endParaRPr lang="en-US" dirty="0"/>
          </a:p>
        </p:txBody>
      </p:sp>
    </p:spTree>
    <p:extLst>
      <p:ext uri="{BB962C8B-B14F-4D97-AF65-F5344CB8AC3E}">
        <p14:creationId xmlns:p14="http://schemas.microsoft.com/office/powerpoint/2010/main" val="298243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Simulation and Software Options</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solidFill>
                  <a:srgbClr val="C00000"/>
                </a:solidFill>
              </a:rPr>
              <a:t>Software Options</a:t>
            </a:r>
          </a:p>
          <a:p>
            <a:pPr lvl="1"/>
            <a:r>
              <a:rPr lang="en-US" dirty="0">
                <a:sym typeface="Wingdings" panose="05000000000000000000" pitchFamily="2" charset="2"/>
              </a:rPr>
              <a:t>General-purpose programming languages: Could code up logic in manual simulation in C++, Java, </a:t>
            </a:r>
            <a:r>
              <a:rPr lang="en-US" dirty="0" err="1">
                <a:sym typeface="Wingdings" panose="05000000000000000000" pitchFamily="2" charset="2"/>
              </a:rPr>
              <a:t>Matlab</a:t>
            </a:r>
            <a:r>
              <a:rPr lang="en-US" dirty="0">
                <a:sym typeface="Wingdings" panose="05000000000000000000" pitchFamily="2" charset="2"/>
              </a:rPr>
              <a:t>, …</a:t>
            </a:r>
          </a:p>
          <a:p>
            <a:pPr lvl="2"/>
            <a:r>
              <a:rPr lang="en-US" dirty="0">
                <a:sym typeface="Wingdings" panose="05000000000000000000" pitchFamily="2" charset="2"/>
              </a:rPr>
              <a:t>In fact, even the formatting of the slides for arrival-event logic, departure-event logic, resembles procedural code structure</a:t>
            </a:r>
          </a:p>
          <a:p>
            <a:pPr lvl="2"/>
            <a:r>
              <a:rPr lang="en-US" dirty="0">
                <a:sym typeface="Wingdings" panose="05000000000000000000" pitchFamily="2" charset="2"/>
              </a:rPr>
              <a:t>Historically has been done a lot, sometimes still is due to execution speed, better flexibility</a:t>
            </a:r>
          </a:p>
          <a:p>
            <a:pPr lvl="2"/>
            <a:r>
              <a:rPr lang="en-US" dirty="0">
                <a:sym typeface="Wingdings" panose="05000000000000000000" pitchFamily="2" charset="2"/>
              </a:rPr>
              <a:t>Painstaking to write, (analyst-)time-consuming, error-prone</a:t>
            </a:r>
          </a:p>
          <a:p>
            <a:pPr lvl="2"/>
            <a:r>
              <a:rPr lang="en-US" dirty="0">
                <a:sym typeface="Wingdings" panose="05000000000000000000" pitchFamily="2" charset="2"/>
              </a:rPr>
              <a:t>Still need to identify events, define their logic, lots more work:</a:t>
            </a:r>
          </a:p>
          <a:p>
            <a:pPr lvl="3"/>
            <a:r>
              <a:rPr lang="en-US" dirty="0">
                <a:sym typeface="Wingdings" panose="05000000000000000000" pitchFamily="2" charset="2"/>
              </a:rPr>
              <a:t>Also data structures for state variables, statistical-tracking variables, clock, event calendar</a:t>
            </a:r>
          </a:p>
          <a:p>
            <a:pPr lvl="3"/>
            <a:r>
              <a:rPr lang="en-US" dirty="0">
                <a:sym typeface="Wingdings" panose="05000000000000000000" pitchFamily="2" charset="2"/>
              </a:rPr>
              <a:t>Tie event programs together with logic to execute the next event</a:t>
            </a:r>
          </a:p>
          <a:p>
            <a:pPr lvl="3"/>
            <a:r>
              <a:rPr lang="en-US" dirty="0">
                <a:sym typeface="Wingdings" panose="05000000000000000000" pitchFamily="2" charset="2"/>
              </a:rPr>
              <a:t>Program ending conditions, summarization of results</a:t>
            </a:r>
          </a:p>
          <a:p>
            <a:pPr lvl="2"/>
            <a:r>
              <a:rPr lang="en-US" dirty="0">
                <a:sym typeface="Wingdings" panose="05000000000000000000" pitchFamily="2" charset="2"/>
              </a:rPr>
              <a:t>Random-number generator, generating random “variates” from desired input distributions</a:t>
            </a:r>
          </a:p>
          <a:p>
            <a:pPr lvl="3"/>
            <a:r>
              <a:rPr lang="en-US" dirty="0">
                <a:sym typeface="Wingdings" panose="05000000000000000000" pitchFamily="2" charset="2"/>
              </a:rPr>
              <a:t>Can sometimes link such code as modules to larger model</a:t>
            </a:r>
          </a:p>
          <a:p>
            <a:pPr lvl="3"/>
            <a:endParaRPr lang="en-US" dirty="0">
              <a:sym typeface="Wingdings" panose="05000000000000000000" pitchFamily="2" charset="2"/>
            </a:endParaRPr>
          </a:p>
          <a:p>
            <a:pPr lvl="3"/>
            <a:r>
              <a:rPr lang="en-US" dirty="0">
                <a:sym typeface="Wingdings" panose="05000000000000000000" pitchFamily="2" charset="2"/>
              </a:rPr>
              <a:t>Overall: Better flexibility and faster execution but Complex and long modeling</a:t>
            </a:r>
          </a:p>
          <a:p>
            <a:pPr lvl="1"/>
            <a:endParaRPr lang="en-US" dirty="0">
              <a:sym typeface="Wingdings" panose="05000000000000000000" pitchFamily="2" charset="2"/>
            </a:endParaRPr>
          </a:p>
        </p:txBody>
      </p:sp>
    </p:spTree>
    <p:extLst>
      <p:ext uri="{BB962C8B-B14F-4D97-AF65-F5344CB8AC3E}">
        <p14:creationId xmlns:p14="http://schemas.microsoft.com/office/powerpoint/2010/main" val="2631476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Dynamic Simulation and Software Options</a:t>
            </a:r>
          </a:p>
        </p:txBody>
      </p:sp>
      <p:sp>
        <p:nvSpPr>
          <p:cNvPr id="3" name="Content Placeholder 2"/>
          <p:cNvSpPr>
            <a:spLocks noGrp="1"/>
          </p:cNvSpPr>
          <p:nvPr>
            <p:ph idx="1"/>
          </p:nvPr>
        </p:nvSpPr>
        <p:spPr>
          <a:xfrm>
            <a:off x="355002" y="1312433"/>
            <a:ext cx="11478410" cy="4864530"/>
          </a:xfrm>
        </p:spPr>
        <p:txBody>
          <a:bodyPr>
            <a:normAutofit lnSpcReduction="10000"/>
          </a:bodyPr>
          <a:lstStyle/>
          <a:p>
            <a:r>
              <a:rPr lang="en-US" dirty="0">
                <a:solidFill>
                  <a:srgbClr val="C00000"/>
                </a:solidFill>
              </a:rPr>
              <a:t>Software Options</a:t>
            </a:r>
          </a:p>
          <a:p>
            <a:pPr lvl="1"/>
            <a:r>
              <a:rPr lang="en-US" dirty="0">
                <a:sym typeface="Wingdings" panose="05000000000000000000" pitchFamily="2" charset="2"/>
              </a:rPr>
              <a:t>Special-purpose simulation software:</a:t>
            </a:r>
          </a:p>
          <a:p>
            <a:pPr lvl="2"/>
            <a:r>
              <a:rPr lang="en-US" dirty="0">
                <a:sym typeface="Wingdings" panose="05000000000000000000" pitchFamily="2" charset="2"/>
              </a:rPr>
              <a:t>We saw several approaches to doing simulations </a:t>
            </a:r>
          </a:p>
          <a:p>
            <a:pPr lvl="3"/>
            <a:r>
              <a:rPr lang="en-US" dirty="0">
                <a:sym typeface="Wingdings" panose="05000000000000000000" pitchFamily="2" charset="2"/>
              </a:rPr>
              <a:t>Manual – OK for learning principles, obviously completely impractical for any real applications</a:t>
            </a:r>
          </a:p>
          <a:p>
            <a:pPr lvl="3"/>
            <a:r>
              <a:rPr lang="en-US" dirty="0">
                <a:sym typeface="Wingdings" panose="05000000000000000000" pitchFamily="2" charset="2"/>
              </a:rPr>
              <a:t>General-purpose programming languages –complete flexibility and speed, but too time-consuming, error-prone for models of complex systems</a:t>
            </a:r>
          </a:p>
          <a:p>
            <a:pPr lvl="3"/>
            <a:r>
              <a:rPr lang="en-US" dirty="0">
                <a:sym typeface="Wingdings" panose="05000000000000000000" pitchFamily="2" charset="2"/>
              </a:rPr>
              <a:t>Spreadsheets – work well for static “risk” simulations (especially with an appropriate add-in), but just can’t handle the logic and data-structure complexity of general dynamic simulations</a:t>
            </a:r>
          </a:p>
          <a:p>
            <a:pPr lvl="1"/>
            <a:r>
              <a:rPr lang="en-US" dirty="0">
                <a:sym typeface="Wingdings" panose="05000000000000000000" pitchFamily="2" charset="2"/>
              </a:rPr>
              <a:t>Specialized dynamic simulation software has actually been around since the 1960s</a:t>
            </a:r>
          </a:p>
          <a:p>
            <a:pPr lvl="2"/>
            <a:r>
              <a:rPr lang="en-US" dirty="0" err="1">
                <a:sym typeface="Wingdings" panose="05000000000000000000" pitchFamily="2" charset="2"/>
              </a:rPr>
              <a:t>Simio</a:t>
            </a:r>
            <a:r>
              <a:rPr lang="en-US" dirty="0">
                <a:sym typeface="Wingdings" panose="05000000000000000000" pitchFamily="2" charset="2"/>
              </a:rPr>
              <a:t> is a relatively new entry, but developed by the same people who earlier developed several other packages, so lots of experience behind it</a:t>
            </a:r>
          </a:p>
          <a:p>
            <a:pPr lvl="3"/>
            <a:r>
              <a:rPr lang="en-US" dirty="0" err="1">
                <a:sym typeface="Wingdings" panose="05000000000000000000" pitchFamily="2" charset="2"/>
              </a:rPr>
              <a:t>Simio</a:t>
            </a:r>
            <a:r>
              <a:rPr lang="en-US" dirty="0">
                <a:sym typeface="Wingdings" panose="05000000000000000000" pitchFamily="2" charset="2"/>
              </a:rPr>
              <a:t> uses an object-oriented graphical approach to simplify modeling</a:t>
            </a:r>
          </a:p>
          <a:p>
            <a:pPr lvl="3"/>
            <a:r>
              <a:rPr lang="en-US" dirty="0">
                <a:sym typeface="Wingdings" panose="05000000000000000000" pitchFamily="2" charset="2"/>
              </a:rPr>
              <a:t>There are many other software options!</a:t>
            </a:r>
          </a:p>
          <a:p>
            <a:pPr lvl="4"/>
            <a:r>
              <a:rPr lang="en-US" dirty="0">
                <a:sym typeface="Wingdings" panose="05000000000000000000" pitchFamily="2" charset="2"/>
              </a:rPr>
              <a:t>They all look similar and work similar</a:t>
            </a:r>
          </a:p>
          <a:p>
            <a:pPr lvl="4"/>
            <a:r>
              <a:rPr lang="en-US" dirty="0">
                <a:sym typeface="Wingdings" panose="05000000000000000000" pitchFamily="2" charset="2"/>
              </a:rPr>
              <a:t>Arena is another one, for instance, and very similar to </a:t>
            </a:r>
            <a:r>
              <a:rPr lang="en-US" dirty="0" err="1">
                <a:sym typeface="Wingdings" panose="05000000000000000000" pitchFamily="2" charset="2"/>
              </a:rPr>
              <a:t>Simio</a:t>
            </a:r>
            <a:endParaRPr lang="en-US" dirty="0">
              <a:sym typeface="Wingdings" panose="05000000000000000000" pitchFamily="2" charset="2"/>
            </a:endParaRPr>
          </a:p>
          <a:p>
            <a:pPr lvl="1"/>
            <a:endParaRPr lang="en-US" dirty="0">
              <a:sym typeface="Wingdings" panose="05000000000000000000" pitchFamily="2" charset="2"/>
            </a:endParaRPr>
          </a:p>
        </p:txBody>
      </p:sp>
    </p:spTree>
    <p:extLst>
      <p:ext uri="{BB962C8B-B14F-4D97-AF65-F5344CB8AC3E}">
        <p14:creationId xmlns:p14="http://schemas.microsoft.com/office/powerpoint/2010/main" val="3879995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355002" y="1312433"/>
            <a:ext cx="9521428" cy="4864530"/>
          </a:xfrm>
        </p:spPr>
        <p:txBody>
          <a:bodyPr>
            <a:normAutofit/>
          </a:bodyPr>
          <a:lstStyle/>
          <a:p>
            <a:r>
              <a:rPr lang="en-US" dirty="0">
                <a:solidFill>
                  <a:schemeClr val="bg2"/>
                </a:solidFill>
              </a:rPr>
              <a:t>Probability Theory Review</a:t>
            </a:r>
          </a:p>
          <a:p>
            <a:r>
              <a:rPr lang="en-US" dirty="0">
                <a:solidFill>
                  <a:schemeClr val="bg2"/>
                </a:solidFill>
              </a:rPr>
              <a:t>Classifying Simulations (SS Chapter 3.1)</a:t>
            </a:r>
          </a:p>
          <a:p>
            <a:endParaRPr lang="en-US" dirty="0">
              <a:solidFill>
                <a:schemeClr val="bg2"/>
              </a:solidFill>
            </a:endParaRPr>
          </a:p>
          <a:p>
            <a:r>
              <a:rPr lang="en-US" dirty="0">
                <a:solidFill>
                  <a:schemeClr val="bg2"/>
                </a:solidFill>
              </a:rPr>
              <a:t>Monte Carlo Simulation</a:t>
            </a:r>
          </a:p>
          <a:p>
            <a:pPr lvl="1"/>
            <a:r>
              <a:rPr lang="en-US" dirty="0">
                <a:solidFill>
                  <a:schemeClr val="bg2"/>
                </a:solidFill>
              </a:rPr>
              <a:t>Static Stochastic Monte Carlo and Excel </a:t>
            </a:r>
          </a:p>
          <a:p>
            <a:pPr lvl="1"/>
            <a:r>
              <a:rPr lang="en-US" dirty="0">
                <a:solidFill>
                  <a:schemeClr val="bg2"/>
                </a:solidFill>
              </a:rPr>
              <a:t>Monte Carlo Simulation Example </a:t>
            </a:r>
          </a:p>
          <a:p>
            <a:pPr lvl="1"/>
            <a:r>
              <a:rPr lang="en-US" dirty="0">
                <a:solidFill>
                  <a:schemeClr val="bg2"/>
                </a:solidFill>
              </a:rPr>
              <a:t>Dynamic Simulation and Software Options</a:t>
            </a:r>
          </a:p>
          <a:p>
            <a:endParaRPr lang="en-US" dirty="0"/>
          </a:p>
          <a:p>
            <a:r>
              <a:rPr lang="en-US" dirty="0"/>
              <a:t>Monte Carlo Simulation Project Overview</a:t>
            </a:r>
          </a:p>
          <a:p>
            <a:pPr marL="0" indent="0">
              <a:buNone/>
            </a:pPr>
            <a:endParaRPr lang="en-US" dirty="0"/>
          </a:p>
          <a:p>
            <a:pPr marL="0" indent="0">
              <a:buNone/>
            </a:pPr>
            <a:endParaRPr lang="en-US" dirty="0"/>
          </a:p>
          <a:p>
            <a:pPr lvl="1"/>
            <a:endParaRPr lang="en-US" dirty="0"/>
          </a:p>
        </p:txBody>
      </p:sp>
    </p:spTree>
    <p:extLst>
      <p:ext uri="{BB962C8B-B14F-4D97-AF65-F5344CB8AC3E}">
        <p14:creationId xmlns:p14="http://schemas.microsoft.com/office/powerpoint/2010/main" val="21963237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Project</a:t>
            </a:r>
          </a:p>
        </p:txBody>
      </p:sp>
      <p:sp>
        <p:nvSpPr>
          <p:cNvPr id="3" name="Content Placeholder 2"/>
          <p:cNvSpPr>
            <a:spLocks noGrp="1"/>
          </p:cNvSpPr>
          <p:nvPr>
            <p:ph idx="1"/>
          </p:nvPr>
        </p:nvSpPr>
        <p:spPr>
          <a:xfrm>
            <a:off x="355002" y="1342047"/>
            <a:ext cx="11478410" cy="5431731"/>
          </a:xfrm>
        </p:spPr>
        <p:txBody>
          <a:bodyPr>
            <a:normAutofit/>
          </a:bodyPr>
          <a:lstStyle/>
          <a:p>
            <a:pPr marL="0" indent="0">
              <a:buNone/>
            </a:pPr>
            <a:r>
              <a:rPr lang="en-US" b="1" i="1" dirty="0"/>
              <a:t>Case Study: Analyzing Free Shipping Strategies</a:t>
            </a:r>
          </a:p>
          <a:p>
            <a:pPr marL="0" indent="0">
              <a:buNone/>
            </a:pPr>
            <a:r>
              <a:rPr lang="en-US" dirty="0"/>
              <a:t>Suppose that you are the promotion manager of your company.</a:t>
            </a:r>
          </a:p>
          <a:p>
            <a:pPr marL="0" indent="0">
              <a:buNone/>
            </a:pPr>
            <a:r>
              <a:rPr lang="en-US" dirty="0"/>
              <a:t>You company sells one item</a:t>
            </a:r>
          </a:p>
          <a:p>
            <a:pPr lvl="1"/>
            <a:r>
              <a:rPr lang="en-US" sz="2800" dirty="0"/>
              <a:t>It is </a:t>
            </a:r>
            <a:r>
              <a:rPr lang="en-US" sz="2800" b="1" dirty="0"/>
              <a:t>bought</a:t>
            </a:r>
            <a:r>
              <a:rPr lang="en-US" sz="2800" dirty="0"/>
              <a:t> from the supplier for </a:t>
            </a:r>
            <a:r>
              <a:rPr lang="en-US" sz="2800" b="1" dirty="0"/>
              <a:t>$20 per unit</a:t>
            </a:r>
          </a:p>
          <a:p>
            <a:pPr lvl="1"/>
            <a:r>
              <a:rPr lang="en-US" sz="2800" dirty="0"/>
              <a:t>It is </a:t>
            </a:r>
            <a:r>
              <a:rPr lang="en-US" sz="2800" b="1" dirty="0"/>
              <a:t>sold</a:t>
            </a:r>
            <a:r>
              <a:rPr lang="en-US" sz="2800" dirty="0"/>
              <a:t> to the customers for </a:t>
            </a:r>
            <a:r>
              <a:rPr lang="en-US" sz="2800" b="1" dirty="0"/>
              <a:t>$50 per unit</a:t>
            </a:r>
          </a:p>
          <a:p>
            <a:pPr lvl="1"/>
            <a:r>
              <a:rPr lang="en-US" sz="2800" dirty="0"/>
              <a:t>Customers want to buy as many as possible within their budget</a:t>
            </a:r>
            <a:r>
              <a:rPr lang="en-US" sz="2800" dirty="0">
                <a:sym typeface="Wingdings" panose="05000000000000000000" pitchFamily="2" charset="2"/>
              </a:rPr>
              <a:t> </a:t>
            </a:r>
            <a:r>
              <a:rPr lang="en-US" sz="2800" b="1" dirty="0">
                <a:sym typeface="Wingdings" panose="05000000000000000000" pitchFamily="2" charset="2"/>
              </a:rPr>
              <a:t>but not more than 3</a:t>
            </a:r>
          </a:p>
          <a:p>
            <a:pPr lvl="1"/>
            <a:r>
              <a:rPr lang="en-US" sz="2800" b="1" dirty="0">
                <a:sym typeface="Wingdings" panose="05000000000000000000" pitchFamily="2" charset="2"/>
              </a:rPr>
              <a:t>Shipping cost is $25</a:t>
            </a:r>
            <a:r>
              <a:rPr lang="en-US" sz="2800" dirty="0">
                <a:sym typeface="Wingdings" panose="05000000000000000000" pitchFamily="2" charset="2"/>
              </a:rPr>
              <a:t> </a:t>
            </a:r>
            <a:r>
              <a:rPr lang="en-US" sz="2800" u="sng" dirty="0">
                <a:sym typeface="Wingdings" panose="05000000000000000000" pitchFamily="2" charset="2"/>
              </a:rPr>
              <a:t>regardless of how many items are purchased </a:t>
            </a:r>
            <a:r>
              <a:rPr lang="en-US" sz="2800" dirty="0">
                <a:sym typeface="Wingdings" panose="05000000000000000000" pitchFamily="2" charset="2"/>
              </a:rPr>
              <a:t>by the customer</a:t>
            </a:r>
            <a:endParaRPr lang="en-US" sz="2800" b="0" i="0" u="none" strike="noStrike" baseline="0" dirty="0">
              <a:solidFill>
                <a:srgbClr val="000000"/>
              </a:solidFill>
              <a:latin typeface="Aptos" panose="020B0004020202020204" pitchFamily="34" charset="0"/>
            </a:endParaRPr>
          </a:p>
        </p:txBody>
      </p:sp>
    </p:spTree>
    <p:extLst>
      <p:ext uri="{BB962C8B-B14F-4D97-AF65-F5344CB8AC3E}">
        <p14:creationId xmlns:p14="http://schemas.microsoft.com/office/powerpoint/2010/main" val="27999812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Monte Carlo Simulation Project</a:t>
            </a:r>
          </a:p>
        </p:txBody>
      </p:sp>
      <p:sp>
        <p:nvSpPr>
          <p:cNvPr id="3" name="Content Placeholder 2"/>
          <p:cNvSpPr>
            <a:spLocks noGrp="1"/>
          </p:cNvSpPr>
          <p:nvPr>
            <p:ph idx="1"/>
          </p:nvPr>
        </p:nvSpPr>
        <p:spPr>
          <a:xfrm>
            <a:off x="355002" y="1342047"/>
            <a:ext cx="11478410" cy="5431731"/>
          </a:xfrm>
        </p:spPr>
        <p:txBody>
          <a:bodyPr>
            <a:normAutofit/>
          </a:bodyPr>
          <a:lstStyle/>
          <a:p>
            <a:pPr marL="0" indent="0">
              <a:buNone/>
            </a:pPr>
            <a:r>
              <a:rPr lang="en-US" b="1" i="0" u="none" strike="noStrike" baseline="0" dirty="0">
                <a:solidFill>
                  <a:srgbClr val="000000"/>
                </a:solidFill>
              </a:rPr>
              <a:t>Free Shipping Strategies</a:t>
            </a:r>
            <a:endParaRPr lang="en-US" b="0" i="0" u="none" strike="noStrike" baseline="0" dirty="0">
              <a:solidFill>
                <a:srgbClr val="000000"/>
              </a:solidFill>
            </a:endParaRPr>
          </a:p>
          <a:p>
            <a:pPr marL="0" indent="0">
              <a:buNone/>
            </a:pPr>
            <a:r>
              <a:rPr lang="en-US" b="0" i="0" u="none" strike="noStrike" baseline="0" dirty="0">
                <a:solidFill>
                  <a:srgbClr val="000000"/>
                </a:solidFill>
              </a:rPr>
              <a:t>The company is considering four free shipping strategies: </a:t>
            </a:r>
          </a:p>
          <a:p>
            <a:r>
              <a:rPr lang="en-US" b="0" i="0" u="none" strike="noStrike" baseline="0" dirty="0">
                <a:solidFill>
                  <a:srgbClr val="000000"/>
                </a:solidFill>
              </a:rPr>
              <a:t>Offering free shipping for purchases of 4 or more items, which effectively means no free shipping since customers do not buy more than 3 items. </a:t>
            </a:r>
          </a:p>
          <a:p>
            <a:r>
              <a:rPr lang="en-US" b="0" i="0" u="none" strike="noStrike" baseline="0" dirty="0">
                <a:solidFill>
                  <a:srgbClr val="000000"/>
                </a:solidFill>
              </a:rPr>
              <a:t>Offering free shipping for purchases of 3 or more items. </a:t>
            </a:r>
          </a:p>
          <a:p>
            <a:r>
              <a:rPr lang="en-US" b="0" i="0" u="none" strike="noStrike" baseline="0" dirty="0">
                <a:solidFill>
                  <a:srgbClr val="000000"/>
                </a:solidFill>
              </a:rPr>
              <a:t>Offering free shipping for purchases of 2 or more items. </a:t>
            </a:r>
          </a:p>
          <a:p>
            <a:r>
              <a:rPr lang="en-US" b="0" i="0" u="none" strike="noStrike" baseline="0" dirty="0">
                <a:solidFill>
                  <a:srgbClr val="000000"/>
                </a:solidFill>
              </a:rPr>
              <a:t>Offering free shipping for any purchase, including just 1 item. </a:t>
            </a:r>
          </a:p>
          <a:p>
            <a:pPr marL="0" indent="0">
              <a:buNone/>
            </a:pPr>
            <a:endParaRPr lang="en-US" dirty="0">
              <a:sym typeface="Wingdings" panose="05000000000000000000" pitchFamily="2" charset="2"/>
            </a:endParaRPr>
          </a:p>
        </p:txBody>
      </p:sp>
    </p:spTree>
    <p:extLst>
      <p:ext uri="{BB962C8B-B14F-4D97-AF65-F5344CB8AC3E}">
        <p14:creationId xmlns:p14="http://schemas.microsoft.com/office/powerpoint/2010/main" val="6820912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Customer’s Purchase Decisions</a:t>
            </a:r>
          </a:p>
        </p:txBody>
      </p:sp>
      <p:sp>
        <p:nvSpPr>
          <p:cNvPr id="3" name="Content Placeholder 2"/>
          <p:cNvSpPr>
            <a:spLocks noGrp="1"/>
          </p:cNvSpPr>
          <p:nvPr>
            <p:ph idx="1"/>
          </p:nvPr>
        </p:nvSpPr>
        <p:spPr>
          <a:xfrm>
            <a:off x="355002" y="1312433"/>
            <a:ext cx="11478410" cy="4864530"/>
          </a:xfrm>
        </p:spPr>
        <p:txBody>
          <a:bodyPr>
            <a:normAutofit/>
          </a:bodyPr>
          <a:lstStyle/>
          <a:p>
            <a:r>
              <a:rPr lang="en-US" dirty="0"/>
              <a:t>Customers want to buy as many items as possible (the more the better)</a:t>
            </a:r>
          </a:p>
          <a:p>
            <a:r>
              <a:rPr lang="en-US" dirty="0"/>
              <a:t>A customer can buy </a:t>
            </a:r>
            <a:r>
              <a:rPr lang="en-US" b="1" dirty="0"/>
              <a:t>at most three items</a:t>
            </a:r>
          </a:p>
          <a:p>
            <a:r>
              <a:rPr lang="en-US" dirty="0"/>
              <a:t>Recall that each item is </a:t>
            </a:r>
            <a:r>
              <a:rPr lang="en-US" b="1" dirty="0"/>
              <a:t>sold for 50 dollars</a:t>
            </a:r>
            <a:r>
              <a:rPr lang="en-US" dirty="0"/>
              <a:t> and </a:t>
            </a:r>
            <a:r>
              <a:rPr lang="en-US" b="1" dirty="0"/>
              <a:t>shipping cost is $25 </a:t>
            </a:r>
            <a:r>
              <a:rPr lang="en-US" dirty="0"/>
              <a:t>(regardless of how many items purchased by the customer)</a:t>
            </a:r>
          </a:p>
          <a:p>
            <a:r>
              <a:rPr lang="en-US" dirty="0"/>
              <a:t>Let’s say, customer’s budget is $120</a:t>
            </a:r>
          </a:p>
          <a:p>
            <a:r>
              <a:rPr lang="en-US" b="1" i="1" dirty="0"/>
              <a:t>Under Strategy-1: </a:t>
            </a:r>
            <a:r>
              <a:rPr lang="en-US" dirty="0"/>
              <a:t>Without any free shipping offer:</a:t>
            </a:r>
          </a:p>
          <a:p>
            <a:pPr lvl="1"/>
            <a:r>
              <a:rPr lang="en-US" dirty="0"/>
              <a:t>The customer would only buy 1 item.</a:t>
            </a:r>
          </a:p>
          <a:p>
            <a:pPr lvl="1"/>
            <a:r>
              <a:rPr lang="en-US" dirty="0"/>
              <a:t>The remaining budget after shipping costs, which is equal to $120-$25 = $95, would not allow for the purchase of a second item.</a:t>
            </a:r>
          </a:p>
          <a:p>
            <a:pPr lvl="1"/>
            <a:r>
              <a:rPr lang="en-US" dirty="0"/>
              <a:t>The company’s net profit would be 1x$30=$30 since the company does not incur any shipping cost.</a:t>
            </a:r>
          </a:p>
          <a:p>
            <a:pPr marL="914400" lvl="2" indent="0">
              <a:buNone/>
            </a:pPr>
            <a:endParaRPr lang="en-US" dirty="0"/>
          </a:p>
          <a:p>
            <a:pPr lvl="1"/>
            <a:endParaRPr lang="en-US" dirty="0">
              <a:sym typeface="Wingdings" panose="05000000000000000000" pitchFamily="2" charset="2"/>
            </a:endParaRPr>
          </a:p>
        </p:txBody>
      </p:sp>
    </p:spTree>
    <p:extLst>
      <p:ext uri="{BB962C8B-B14F-4D97-AF65-F5344CB8AC3E}">
        <p14:creationId xmlns:p14="http://schemas.microsoft.com/office/powerpoint/2010/main" val="42050918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Customer’s Purchase Decisions</a:t>
            </a:r>
          </a:p>
        </p:txBody>
      </p:sp>
      <p:sp>
        <p:nvSpPr>
          <p:cNvPr id="3" name="Content Placeholder 2"/>
          <p:cNvSpPr>
            <a:spLocks noGrp="1"/>
          </p:cNvSpPr>
          <p:nvPr>
            <p:ph idx="1"/>
          </p:nvPr>
        </p:nvSpPr>
        <p:spPr>
          <a:xfrm>
            <a:off x="355002" y="1312433"/>
            <a:ext cx="11478410" cy="5180442"/>
          </a:xfrm>
        </p:spPr>
        <p:txBody>
          <a:bodyPr>
            <a:normAutofit/>
          </a:bodyPr>
          <a:lstStyle/>
          <a:p>
            <a:r>
              <a:rPr lang="en-US" dirty="0"/>
              <a:t>Customers want to buy as many items as possible (the more the better)</a:t>
            </a:r>
          </a:p>
          <a:p>
            <a:r>
              <a:rPr lang="en-US" dirty="0"/>
              <a:t>A customer can buy </a:t>
            </a:r>
            <a:r>
              <a:rPr lang="en-US" b="1" dirty="0"/>
              <a:t>at most three items</a:t>
            </a:r>
          </a:p>
          <a:p>
            <a:r>
              <a:rPr lang="en-US" dirty="0"/>
              <a:t>Recall that each item is </a:t>
            </a:r>
            <a:r>
              <a:rPr lang="en-US" b="1" dirty="0"/>
              <a:t>sold for 50 dollars</a:t>
            </a:r>
            <a:r>
              <a:rPr lang="en-US" dirty="0"/>
              <a:t> and </a:t>
            </a:r>
            <a:r>
              <a:rPr lang="en-US" b="1" dirty="0"/>
              <a:t>shipping cost is $25 </a:t>
            </a:r>
            <a:r>
              <a:rPr lang="en-US" dirty="0"/>
              <a:t>(regardless of how many items purchased by the customer)</a:t>
            </a:r>
          </a:p>
          <a:p>
            <a:r>
              <a:rPr lang="en-US" dirty="0"/>
              <a:t>Let’s say, customer’s budget is $120</a:t>
            </a:r>
          </a:p>
          <a:p>
            <a:r>
              <a:rPr lang="en-US" b="1" i="1" dirty="0"/>
              <a:t>Under Strategy-2: </a:t>
            </a:r>
            <a:r>
              <a:rPr lang="en-US" dirty="0"/>
              <a:t>If a free shipping is offered for buying 3 or more items:</a:t>
            </a:r>
          </a:p>
          <a:p>
            <a:pPr lvl="1"/>
            <a:r>
              <a:rPr lang="en-US" dirty="0"/>
              <a:t>The customer would only be able to buy 1 item, since buying 3 products is out of her budget. That is, 3x$50 = $150 &gt; $ 120.</a:t>
            </a:r>
          </a:p>
          <a:p>
            <a:pPr lvl="1"/>
            <a:r>
              <a:rPr lang="en-US" dirty="0"/>
              <a:t>The customer needs to pay for $25 shipping cost, and her remaining budget, $120-$25 = $95, would allow her to buy at most 1 item.</a:t>
            </a:r>
          </a:p>
          <a:p>
            <a:pPr lvl="1"/>
            <a:r>
              <a:rPr lang="en-US" dirty="0"/>
              <a:t>The company’s net profit would be 1x$30=$30 since the company does not incur any shipping cost.</a:t>
            </a:r>
          </a:p>
          <a:p>
            <a:pPr lvl="1"/>
            <a:endParaRPr lang="en-US" dirty="0">
              <a:sym typeface="Wingdings" panose="05000000000000000000" pitchFamily="2" charset="2"/>
            </a:endParaRPr>
          </a:p>
        </p:txBody>
      </p:sp>
    </p:spTree>
    <p:extLst>
      <p:ext uri="{BB962C8B-B14F-4D97-AF65-F5344CB8AC3E}">
        <p14:creationId xmlns:p14="http://schemas.microsoft.com/office/powerpoint/2010/main" val="41617635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Customer’s Purchase Decisions</a:t>
            </a:r>
          </a:p>
        </p:txBody>
      </p:sp>
      <p:sp>
        <p:nvSpPr>
          <p:cNvPr id="3" name="Content Placeholder 2"/>
          <p:cNvSpPr>
            <a:spLocks noGrp="1"/>
          </p:cNvSpPr>
          <p:nvPr>
            <p:ph idx="1"/>
          </p:nvPr>
        </p:nvSpPr>
        <p:spPr>
          <a:xfrm>
            <a:off x="355002" y="1312433"/>
            <a:ext cx="11478410" cy="5180442"/>
          </a:xfrm>
        </p:spPr>
        <p:txBody>
          <a:bodyPr>
            <a:normAutofit/>
          </a:bodyPr>
          <a:lstStyle/>
          <a:p>
            <a:r>
              <a:rPr lang="en-US" dirty="0"/>
              <a:t>Customers want to buy as many items as possible (the more the better)</a:t>
            </a:r>
          </a:p>
          <a:p>
            <a:r>
              <a:rPr lang="en-US" dirty="0"/>
              <a:t>A customer can buy </a:t>
            </a:r>
            <a:r>
              <a:rPr lang="en-US" b="1" dirty="0"/>
              <a:t>at most three items</a:t>
            </a:r>
          </a:p>
          <a:p>
            <a:r>
              <a:rPr lang="en-US" dirty="0"/>
              <a:t>Recall that each item is </a:t>
            </a:r>
            <a:r>
              <a:rPr lang="en-US" b="1" dirty="0"/>
              <a:t>sold for 50 dollars</a:t>
            </a:r>
            <a:r>
              <a:rPr lang="en-US" dirty="0"/>
              <a:t> and </a:t>
            </a:r>
            <a:r>
              <a:rPr lang="en-US" b="1" dirty="0"/>
              <a:t>shipping cost is $25 </a:t>
            </a:r>
            <a:r>
              <a:rPr lang="en-US" dirty="0"/>
              <a:t>(regardless of how many items purchased by the customer)</a:t>
            </a:r>
          </a:p>
          <a:p>
            <a:r>
              <a:rPr lang="en-US" dirty="0"/>
              <a:t>Let’s say, customer’s budget is $120</a:t>
            </a:r>
          </a:p>
          <a:p>
            <a:r>
              <a:rPr lang="en-US" b="1" i="1" dirty="0"/>
              <a:t>Under Strategy-3: </a:t>
            </a:r>
            <a:r>
              <a:rPr lang="en-US" dirty="0"/>
              <a:t>If a free shipping is offered for buying 2 or more items:</a:t>
            </a:r>
          </a:p>
          <a:p>
            <a:pPr lvl="1"/>
            <a:r>
              <a:rPr lang="en-US" dirty="0">
                <a:sym typeface="Wingdings" panose="05000000000000000000" pitchFamily="2" charset="2"/>
              </a:rPr>
              <a:t>The customer would opt to buy 2 items, because the cost of buying 2 items is within the budget of the customer as her order qualifies for free shipping. That is 2x$50 = $100 &lt; $120.</a:t>
            </a:r>
          </a:p>
          <a:p>
            <a:pPr lvl="1"/>
            <a:r>
              <a:rPr lang="en-US" dirty="0">
                <a:sym typeface="Wingdings" panose="05000000000000000000" pitchFamily="2" charset="2"/>
              </a:rPr>
              <a:t>The company’s net profit would be 2x$30 - $ 25 =$35 since the company would pay for the shipping.</a:t>
            </a:r>
          </a:p>
        </p:txBody>
      </p:sp>
    </p:spTree>
    <p:extLst>
      <p:ext uri="{BB962C8B-B14F-4D97-AF65-F5344CB8AC3E}">
        <p14:creationId xmlns:p14="http://schemas.microsoft.com/office/powerpoint/2010/main" val="30663962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Customer’s Purchase Decisions</a:t>
            </a:r>
          </a:p>
        </p:txBody>
      </p:sp>
      <p:sp>
        <p:nvSpPr>
          <p:cNvPr id="3" name="Content Placeholder 2"/>
          <p:cNvSpPr>
            <a:spLocks noGrp="1"/>
          </p:cNvSpPr>
          <p:nvPr>
            <p:ph idx="1"/>
          </p:nvPr>
        </p:nvSpPr>
        <p:spPr>
          <a:xfrm>
            <a:off x="355002" y="1312433"/>
            <a:ext cx="11478410" cy="5180442"/>
          </a:xfrm>
        </p:spPr>
        <p:txBody>
          <a:bodyPr>
            <a:normAutofit/>
          </a:bodyPr>
          <a:lstStyle/>
          <a:p>
            <a:r>
              <a:rPr lang="en-US" dirty="0"/>
              <a:t>Customers want to buy as many items as possible (the more the better)</a:t>
            </a:r>
          </a:p>
          <a:p>
            <a:r>
              <a:rPr lang="en-US" dirty="0"/>
              <a:t>A customer can buy </a:t>
            </a:r>
            <a:r>
              <a:rPr lang="en-US" b="1" dirty="0"/>
              <a:t>at most three items</a:t>
            </a:r>
          </a:p>
          <a:p>
            <a:r>
              <a:rPr lang="en-US" dirty="0"/>
              <a:t>Recall that each item is </a:t>
            </a:r>
            <a:r>
              <a:rPr lang="en-US" b="1" dirty="0"/>
              <a:t>sold for 50 dollars</a:t>
            </a:r>
            <a:r>
              <a:rPr lang="en-US" dirty="0"/>
              <a:t> and </a:t>
            </a:r>
            <a:r>
              <a:rPr lang="en-US" b="1" dirty="0"/>
              <a:t>shipping cost is $25 </a:t>
            </a:r>
            <a:r>
              <a:rPr lang="en-US" dirty="0"/>
              <a:t>(regardless of how many items purchased by the customer)</a:t>
            </a:r>
          </a:p>
          <a:p>
            <a:r>
              <a:rPr lang="en-US" dirty="0"/>
              <a:t>Let’s say, customer’s budget is $120</a:t>
            </a:r>
          </a:p>
          <a:p>
            <a:r>
              <a:rPr lang="en-US" b="1" i="1" dirty="0"/>
              <a:t>Under Strategy-4: </a:t>
            </a:r>
            <a:r>
              <a:rPr lang="en-US" dirty="0"/>
              <a:t>If a free shipping is available for any purchase:</a:t>
            </a:r>
          </a:p>
          <a:p>
            <a:pPr lvl="1"/>
            <a:r>
              <a:rPr lang="en-US" dirty="0">
                <a:sym typeface="Wingdings" panose="05000000000000000000" pitchFamily="2" charset="2"/>
              </a:rPr>
              <a:t>The customer would still buy 2 items, would not pay for shipping.</a:t>
            </a:r>
          </a:p>
          <a:p>
            <a:pPr lvl="1"/>
            <a:r>
              <a:rPr lang="en-US" dirty="0">
                <a:sym typeface="Wingdings" panose="05000000000000000000" pitchFamily="2" charset="2"/>
              </a:rPr>
              <a:t>The company’s net profit would be 2x$30 - $ 25 =$35 since the company would pay for the shipping.</a:t>
            </a:r>
          </a:p>
        </p:txBody>
      </p:sp>
    </p:spTree>
    <p:extLst>
      <p:ext uri="{BB962C8B-B14F-4D97-AF65-F5344CB8AC3E}">
        <p14:creationId xmlns:p14="http://schemas.microsoft.com/office/powerpoint/2010/main" val="34867721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Customer’s Purchase Decisions</a:t>
            </a:r>
          </a:p>
        </p:txBody>
      </p:sp>
      <p:sp>
        <p:nvSpPr>
          <p:cNvPr id="3" name="Content Placeholder 2"/>
          <p:cNvSpPr>
            <a:spLocks noGrp="1"/>
          </p:cNvSpPr>
          <p:nvPr>
            <p:ph idx="1"/>
          </p:nvPr>
        </p:nvSpPr>
        <p:spPr>
          <a:xfrm>
            <a:off x="355002" y="1312433"/>
            <a:ext cx="11478410" cy="4864530"/>
          </a:xfrm>
        </p:spPr>
        <p:txBody>
          <a:bodyPr>
            <a:normAutofit fontScale="92500" lnSpcReduction="20000"/>
          </a:bodyPr>
          <a:lstStyle/>
          <a:p>
            <a:r>
              <a:rPr lang="en-US" dirty="0"/>
              <a:t>Let </a:t>
            </a:r>
          </a:p>
          <a:p>
            <a:pPr lvl="1"/>
            <a:r>
              <a:rPr lang="en-US" dirty="0"/>
              <a:t>B= customer’s budget</a:t>
            </a:r>
          </a:p>
          <a:p>
            <a:pPr lvl="1"/>
            <a:r>
              <a:rPr lang="en-US" dirty="0"/>
              <a:t>NB = # of items bought by the customer</a:t>
            </a:r>
          </a:p>
          <a:p>
            <a:pPr lvl="1"/>
            <a:r>
              <a:rPr lang="en-US" dirty="0"/>
              <a:t>CSP=Company’s Sales Profit, </a:t>
            </a:r>
          </a:p>
          <a:p>
            <a:pPr lvl="1"/>
            <a:r>
              <a:rPr lang="en-US" dirty="0"/>
              <a:t>CSC=Company’s Shipping Cost from one customer</a:t>
            </a:r>
          </a:p>
          <a:p>
            <a:r>
              <a:rPr lang="en-US" dirty="0"/>
              <a:t>Other examples:</a:t>
            </a:r>
          </a:p>
          <a:p>
            <a:pPr lvl="1"/>
            <a:r>
              <a:rPr lang="en-US" dirty="0"/>
              <a:t>B=$160</a:t>
            </a:r>
          </a:p>
          <a:p>
            <a:pPr lvl="2"/>
            <a:r>
              <a:rPr lang="en-US" dirty="0"/>
              <a:t>No free shipping </a:t>
            </a:r>
            <a:r>
              <a:rPr lang="en-US" dirty="0">
                <a:sym typeface="Wingdings" panose="05000000000000000000" pitchFamily="2" charset="2"/>
              </a:rPr>
              <a:t>NB=2 CSP = 60, CSC=0</a:t>
            </a:r>
          </a:p>
          <a:p>
            <a:pPr lvl="2"/>
            <a:r>
              <a:rPr lang="en-US" dirty="0">
                <a:sym typeface="Wingdings" panose="05000000000000000000" pitchFamily="2" charset="2"/>
              </a:rPr>
              <a:t>Free shipping for 3 items  NB=3 CSP=90, CSC=25</a:t>
            </a:r>
          </a:p>
          <a:p>
            <a:pPr lvl="2"/>
            <a:r>
              <a:rPr lang="en-US" dirty="0">
                <a:sym typeface="Wingdings" panose="05000000000000000000" pitchFamily="2" charset="2"/>
              </a:rPr>
              <a:t>Free shipping for 2 or more items  NB=3 CSP=90, CSC=25</a:t>
            </a:r>
          </a:p>
          <a:p>
            <a:pPr lvl="2"/>
            <a:r>
              <a:rPr lang="en-US" dirty="0">
                <a:sym typeface="Wingdings" panose="05000000000000000000" pitchFamily="2" charset="2"/>
              </a:rPr>
              <a:t>Free shipping for 2 or more items  NB=3 CSP=90, CSC=25</a:t>
            </a:r>
          </a:p>
          <a:p>
            <a:pPr lvl="1"/>
            <a:r>
              <a:rPr lang="en-US" dirty="0"/>
              <a:t>Customer’s budget is $100</a:t>
            </a:r>
          </a:p>
          <a:p>
            <a:pPr lvl="2"/>
            <a:r>
              <a:rPr lang="en-US" dirty="0"/>
              <a:t>No free shipping </a:t>
            </a:r>
            <a:r>
              <a:rPr lang="en-US" dirty="0">
                <a:sym typeface="Wingdings" panose="05000000000000000000" pitchFamily="2" charset="2"/>
              </a:rPr>
              <a:t> NB=1 CSP = 30, CSC=0</a:t>
            </a:r>
          </a:p>
          <a:p>
            <a:pPr lvl="2"/>
            <a:r>
              <a:rPr lang="en-US" dirty="0">
                <a:sym typeface="Wingdings" panose="05000000000000000000" pitchFamily="2" charset="2"/>
              </a:rPr>
              <a:t>Free shipping for 3 items  NB=1 CSP=30, CSC=0</a:t>
            </a:r>
          </a:p>
          <a:p>
            <a:pPr lvl="2"/>
            <a:r>
              <a:rPr lang="en-US" dirty="0">
                <a:sym typeface="Wingdings" panose="05000000000000000000" pitchFamily="2" charset="2"/>
              </a:rPr>
              <a:t>Free shipping for 2 or more items  NB=2 CSB=60, CSC=25</a:t>
            </a:r>
          </a:p>
          <a:p>
            <a:pPr lvl="2"/>
            <a:r>
              <a:rPr lang="en-US" dirty="0">
                <a:sym typeface="Wingdings" panose="05000000000000000000" pitchFamily="2" charset="2"/>
              </a:rPr>
              <a:t>Free shipping for 1 or more items  NB=2 CSB=60, CSC=25</a:t>
            </a:r>
          </a:p>
          <a:p>
            <a:pPr lvl="2"/>
            <a:endParaRPr lang="en-US" dirty="0">
              <a:sym typeface="Wingdings" panose="05000000000000000000" pitchFamily="2" charset="2"/>
            </a:endParaRPr>
          </a:p>
          <a:p>
            <a:pPr lvl="2"/>
            <a:endParaRPr lang="en-US" dirty="0">
              <a:sym typeface="Wingdings" panose="05000000000000000000" pitchFamily="2" charset="2"/>
            </a:endParaRPr>
          </a:p>
          <a:p>
            <a:pPr lvl="2"/>
            <a:endParaRPr lang="en-US" dirty="0"/>
          </a:p>
          <a:p>
            <a:pPr marL="914400" lvl="2" indent="0">
              <a:buNone/>
            </a:pPr>
            <a:endParaRPr lang="en-US" dirty="0"/>
          </a:p>
          <a:p>
            <a:pPr lvl="1"/>
            <a:endParaRPr lang="en-US" dirty="0">
              <a:sym typeface="Wingdings" panose="05000000000000000000" pitchFamily="2" charset="2"/>
            </a:endParaRPr>
          </a:p>
        </p:txBody>
      </p:sp>
    </p:spTree>
    <p:extLst>
      <p:ext uri="{BB962C8B-B14F-4D97-AF65-F5344CB8AC3E}">
        <p14:creationId xmlns:p14="http://schemas.microsoft.com/office/powerpoint/2010/main" val="2919229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Company’s Net Profit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a:bodyPr>
              <a:lstStyle/>
              <a:p>
                <a:r>
                  <a:rPr lang="en-US" dirty="0"/>
                  <a:t>Let </a:t>
                </a:r>
              </a:p>
              <a:p>
                <a:pPr lvl="1"/>
                <a:r>
                  <a:rPr lang="en-US" dirty="0"/>
                  <a:t>B= customer’s budget</a:t>
                </a:r>
              </a:p>
              <a:p>
                <a:pPr lvl="1"/>
                <a:r>
                  <a:rPr lang="en-US" dirty="0"/>
                  <a:t>NB = # of items bought by the customer</a:t>
                </a:r>
              </a:p>
              <a:p>
                <a:pPr lvl="1"/>
                <a:r>
                  <a:rPr lang="en-US" dirty="0"/>
                  <a:t>CSP=Company’s Sales Profit, </a:t>
                </a:r>
              </a:p>
              <a:p>
                <a:pPr lvl="1"/>
                <a:r>
                  <a:rPr lang="en-US" dirty="0"/>
                  <a:t>CSC=Company’s Shipping Cost from one customer</a:t>
                </a:r>
              </a:p>
              <a:p>
                <a:r>
                  <a:rPr lang="en-US" dirty="0">
                    <a:sym typeface="Wingdings" panose="05000000000000000000" pitchFamily="2" charset="2"/>
                  </a:rPr>
                  <a:t>Company’s net profit from a customer, NPC, will be</a:t>
                </a:r>
              </a:p>
              <a:p>
                <a:pPr lvl="1"/>
                <a14:m>
                  <m:oMath xmlns:m="http://schemas.openxmlformats.org/officeDocument/2006/math">
                    <m:r>
                      <a:rPr lang="en-US" b="0" i="1" smtClean="0">
                        <a:latin typeface="Cambria Math" panose="02040503050406030204" pitchFamily="18" charset="0"/>
                        <a:sym typeface="Wingdings" panose="05000000000000000000" pitchFamily="2" charset="2"/>
                      </a:rPr>
                      <m:t>𝑁𝑃𝐶</m:t>
                    </m:r>
                    <m:r>
                      <a:rPr lang="en-US" b="0" i="1" smtClean="0">
                        <a:latin typeface="Cambria Math" panose="02040503050406030204" pitchFamily="18" charset="0"/>
                        <a:sym typeface="Wingdings" panose="05000000000000000000" pitchFamily="2" charset="2"/>
                      </a:rPr>
                      <m:t>=</m:t>
                    </m:r>
                    <m:r>
                      <a:rPr lang="en-US" b="0" i="1" smtClean="0">
                        <a:latin typeface="Cambria Math" panose="02040503050406030204" pitchFamily="18" charset="0"/>
                        <a:sym typeface="Wingdings" panose="05000000000000000000" pitchFamily="2" charset="2"/>
                      </a:rPr>
                      <m:t>𝐶𝑆𝑃</m:t>
                    </m:r>
                    <m:r>
                      <a:rPr lang="en-US" b="0" i="1" smtClean="0">
                        <a:latin typeface="Cambria Math" panose="02040503050406030204" pitchFamily="18" charset="0"/>
                        <a:sym typeface="Wingdings" panose="05000000000000000000" pitchFamily="2" charset="2"/>
                      </a:rPr>
                      <m:t>−</m:t>
                    </m:r>
                    <m:r>
                      <a:rPr lang="en-US" b="0" i="1" smtClean="0">
                        <a:latin typeface="Cambria Math" panose="02040503050406030204" pitchFamily="18" charset="0"/>
                        <a:sym typeface="Wingdings" panose="05000000000000000000" pitchFamily="2" charset="2"/>
                      </a:rPr>
                      <m:t>𝐶𝑆𝐶</m:t>
                    </m:r>
                  </m:oMath>
                </a14:m>
                <a:endParaRPr lang="en-US" b="0" dirty="0">
                  <a:sym typeface="Wingdings" panose="05000000000000000000" pitchFamily="2" charset="2"/>
                </a:endParaRPr>
              </a:p>
              <a:p>
                <a:pPr lvl="1"/>
                <a14:m>
                  <m:oMath xmlns:m="http://schemas.openxmlformats.org/officeDocument/2006/math">
                    <m:r>
                      <a:rPr lang="en-US" b="0" i="1" smtClean="0">
                        <a:latin typeface="Cambria Math" panose="02040503050406030204" pitchFamily="18" charset="0"/>
                        <a:sym typeface="Wingdings" panose="05000000000000000000" pitchFamily="2" charset="2"/>
                      </a:rPr>
                      <m:t>𝐶𝑆𝑃</m:t>
                    </m:r>
                    <m:r>
                      <a:rPr lang="en-US" b="0" i="1" smtClean="0">
                        <a:latin typeface="Cambria Math" panose="02040503050406030204" pitchFamily="18" charset="0"/>
                        <a:sym typeface="Wingdings" panose="05000000000000000000" pitchFamily="2" charset="2"/>
                      </a:rPr>
                      <m:t>=</m:t>
                    </m:r>
                    <m:r>
                      <a:rPr lang="en-US" b="0" i="1" smtClean="0">
                        <a:latin typeface="Cambria Math" panose="02040503050406030204" pitchFamily="18" charset="0"/>
                        <a:sym typeface="Wingdings" panose="05000000000000000000" pitchFamily="2" charset="2"/>
                      </a:rPr>
                      <m:t>𝑁𝐵</m:t>
                    </m:r>
                    <m:r>
                      <a:rPr lang="en-US" b="0" i="1" smtClean="0">
                        <a:latin typeface="Cambria Math" panose="02040503050406030204" pitchFamily="18" charset="0"/>
                        <a:sym typeface="Wingdings" panose="05000000000000000000" pitchFamily="2" charset="2"/>
                      </a:rPr>
                      <m:t>×30</m:t>
                    </m:r>
                  </m:oMath>
                </a14:m>
                <a:endParaRPr lang="en-US" dirty="0">
                  <a:sym typeface="Wingdings" panose="05000000000000000000" pitchFamily="2" charset="2"/>
                </a:endParaRPr>
              </a:p>
              <a:p>
                <a:pPr lvl="1"/>
                <a14:m>
                  <m:oMath xmlns:m="http://schemas.openxmlformats.org/officeDocument/2006/math">
                    <m:r>
                      <a:rPr lang="en-US" b="0" i="1" smtClean="0">
                        <a:latin typeface="Cambria Math" panose="02040503050406030204" pitchFamily="18" charset="0"/>
                        <a:sym typeface="Wingdings" panose="05000000000000000000" pitchFamily="2" charset="2"/>
                      </a:rPr>
                      <m:t>𝐶𝑆𝐶</m:t>
                    </m:r>
                  </m:oMath>
                </a14:m>
                <a:r>
                  <a:rPr lang="en-US" dirty="0">
                    <a:sym typeface="Wingdings" panose="05000000000000000000" pitchFamily="2" charset="2"/>
                  </a:rPr>
                  <a:t> will be either 0 or 25, depending on the policy</a:t>
                </a:r>
              </a:p>
              <a:p>
                <a:pPr lvl="1"/>
                <a14:m>
                  <m:oMath xmlns:m="http://schemas.openxmlformats.org/officeDocument/2006/math">
                    <m:r>
                      <a:rPr lang="en-US" b="0" i="1" smtClean="0">
                        <a:latin typeface="Cambria Math" panose="02040503050406030204" pitchFamily="18" charset="0"/>
                        <a:sym typeface="Wingdings" panose="05000000000000000000" pitchFamily="2" charset="2"/>
                      </a:rPr>
                      <m:t>𝑁𝐵</m:t>
                    </m:r>
                  </m:oMath>
                </a14:m>
                <a:r>
                  <a:rPr lang="en-US" dirty="0">
                    <a:sym typeface="Wingdings" panose="05000000000000000000" pitchFamily="2" charset="2"/>
                  </a:rPr>
                  <a:t> will depend on the policy and customer budget</a:t>
                </a:r>
              </a:p>
              <a:p>
                <a:endParaRPr lang="en-US" dirty="0">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2"/>
                <a:stretch>
                  <a:fillRect l="-956" t="-2005"/>
                </a:stretch>
              </a:blipFill>
            </p:spPr>
            <p:txBody>
              <a:bodyPr/>
              <a:lstStyle/>
              <a:p>
                <a:r>
                  <a:rPr lang="en-US">
                    <a:noFill/>
                  </a:rPr>
                  <a:t> </a:t>
                </a:r>
              </a:p>
            </p:txBody>
          </p:sp>
        </mc:Fallback>
      </mc:AlternateContent>
    </p:spTree>
    <p:extLst>
      <p:ext uri="{BB962C8B-B14F-4D97-AF65-F5344CB8AC3E}">
        <p14:creationId xmlns:p14="http://schemas.microsoft.com/office/powerpoint/2010/main" val="2240963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Budget and Monte Carlo</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55002" y="1312433"/>
                <a:ext cx="11478410" cy="4864530"/>
              </a:xfrm>
            </p:spPr>
            <p:txBody>
              <a:bodyPr>
                <a:normAutofit fontScale="92500" lnSpcReduction="10000"/>
              </a:bodyPr>
              <a:lstStyle/>
              <a:p>
                <a:r>
                  <a:rPr lang="en-US" dirty="0">
                    <a:sym typeface="Wingdings" panose="05000000000000000000" pitchFamily="2" charset="2"/>
                  </a:rPr>
                  <a:t>Customer budget is a random variable</a:t>
                </a:r>
              </a:p>
              <a:p>
                <a:pPr lvl="1"/>
                <a:r>
                  <a:rPr lang="en-US" dirty="0">
                    <a:sym typeface="Wingdings" panose="05000000000000000000" pitchFamily="2" charset="2"/>
                  </a:rPr>
                  <a:t>Normally distributed</a:t>
                </a:r>
              </a:p>
              <a:p>
                <a:pPr lvl="1"/>
                <a:r>
                  <a:rPr lang="en-US" dirty="0">
                    <a:sym typeface="Wingdings" panose="05000000000000000000" pitchFamily="2" charset="2"/>
                  </a:rPr>
                  <a:t>Mean = </a:t>
                </a:r>
                <a14:m>
                  <m:oMath xmlns:m="http://schemas.openxmlformats.org/officeDocument/2006/math">
                    <m:r>
                      <a:rPr lang="en-US" b="0" i="1" smtClean="0">
                        <a:latin typeface="Cambria Math" panose="02040503050406030204" pitchFamily="18" charset="0"/>
                        <a:sym typeface="Wingdings" panose="05000000000000000000" pitchFamily="2" charset="2"/>
                      </a:rPr>
                      <m:t>2×(</m:t>
                    </m:r>
                    <m:r>
                      <a:rPr lang="en-US" b="0" i="1" smtClean="0">
                        <a:latin typeface="Cambria Math" panose="02040503050406030204" pitchFamily="18" charset="0"/>
                        <a:sym typeface="Wingdings" panose="05000000000000000000" pitchFamily="2" charset="2"/>
                      </a:rPr>
                      <m:t>𝑠𝑢𝑚</m:t>
                    </m:r>
                    <m:r>
                      <a:rPr lang="en-US" b="0" i="1"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𝑜𝑓</m:t>
                    </m:r>
                    <m:r>
                      <a:rPr lang="en-US" b="0" i="1"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𝑡h𝑒</m:t>
                    </m:r>
                    <m:r>
                      <a:rPr lang="en-US" b="0" i="1"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𝑑𝑖𝑔𝑖𝑡𝑠</m:t>
                    </m:r>
                    <m:r>
                      <a:rPr lang="en-US" b="0" i="1"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𝑖𝑛</m:t>
                    </m:r>
                    <m:r>
                      <a:rPr lang="en-US" b="0" i="1"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𝑦𝑜𝑢𝑟</m:t>
                    </m:r>
                    <m:r>
                      <a:rPr lang="en-US" b="0" i="1"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𝑠𝑡𝑢𝑑𝑒𝑛𝑡</m:t>
                    </m:r>
                    <m:r>
                      <a:rPr lang="en-US" b="0" i="1" smtClean="0">
                        <a:latin typeface="Cambria Math" panose="02040503050406030204" pitchFamily="18" charset="0"/>
                        <a:sym typeface="Wingdings" panose="05000000000000000000" pitchFamily="2" charset="2"/>
                      </a:rPr>
                      <m:t> </m:t>
                    </m:r>
                    <m:r>
                      <a:rPr lang="en-US" b="0" i="1" smtClean="0">
                        <a:latin typeface="Cambria Math" panose="02040503050406030204" pitchFamily="18" charset="0"/>
                        <a:sym typeface="Wingdings" panose="05000000000000000000" pitchFamily="2" charset="2"/>
                      </a:rPr>
                      <m:t>𝐼𝐷</m:t>
                    </m:r>
                  </m:oMath>
                </a14:m>
                <a:r>
                  <a:rPr lang="en-US" dirty="0">
                    <a:sym typeface="Wingdings" panose="05000000000000000000" pitchFamily="2" charset="2"/>
                  </a:rPr>
                  <a:t>)</a:t>
                </a:r>
              </a:p>
              <a:p>
                <a:pPr lvl="1"/>
                <a:r>
                  <a:rPr lang="en-US" dirty="0">
                    <a:sym typeface="Wingdings" panose="05000000000000000000" pitchFamily="2" charset="2"/>
                  </a:rPr>
                  <a:t>Std ={</a:t>
                </a:r>
                <a14:m>
                  <m:oMath xmlns:m="http://schemas.openxmlformats.org/officeDocument/2006/math">
                    <m:r>
                      <a:rPr lang="en-US" i="1">
                        <a:latin typeface="Cambria Math" panose="02040503050406030204" pitchFamily="18" charset="0"/>
                        <a:sym typeface="Wingdings" panose="05000000000000000000" pitchFamily="2" charset="2"/>
                      </a:rPr>
                      <m:t>𝑠𝑢𝑚</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𝑜𝑓</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𝑡h𝑒</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𝑑𝑖𝑔𝑖𝑡𝑠</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𝑖𝑛</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𝑦𝑜𝑢𝑟</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𝑠𝑡𝑢𝑑𝑒𝑛𝑡</m:t>
                    </m:r>
                    <m:r>
                      <a:rPr lang="en-US" i="1">
                        <a:latin typeface="Cambria Math" panose="02040503050406030204" pitchFamily="18" charset="0"/>
                        <a:sym typeface="Wingdings" panose="05000000000000000000" pitchFamily="2" charset="2"/>
                      </a:rPr>
                      <m:t> </m:t>
                    </m:r>
                    <m:r>
                      <a:rPr lang="en-US" i="1">
                        <a:latin typeface="Cambria Math" panose="02040503050406030204" pitchFamily="18" charset="0"/>
                        <a:sym typeface="Wingdings" panose="05000000000000000000" pitchFamily="2" charset="2"/>
                      </a:rPr>
                      <m:t>𝐼𝐷</m:t>
                    </m:r>
                    <m:r>
                      <a:rPr lang="en-US" i="1">
                        <a:latin typeface="Cambria Math" panose="02040503050406030204" pitchFamily="18" charset="0"/>
                        <a:sym typeface="Wingdings" panose="05000000000000000000" pitchFamily="2" charset="2"/>
                      </a:rPr>
                      <m:t>}</m:t>
                    </m:r>
                  </m:oMath>
                </a14:m>
                <a:endParaRPr lang="en-US" dirty="0">
                  <a:sym typeface="Wingdings" panose="05000000000000000000" pitchFamily="2" charset="2"/>
                </a:endParaRPr>
              </a:p>
              <a:p>
                <a:r>
                  <a:rPr lang="en-US" dirty="0">
                    <a:sym typeface="Wingdings" panose="05000000000000000000" pitchFamily="2" charset="2"/>
                  </a:rPr>
                  <a:t>Goal is to determine which free shipping strategy to implement</a:t>
                </a:r>
              </a:p>
              <a:p>
                <a:r>
                  <a:rPr lang="en-US" dirty="0">
                    <a:sym typeface="Wingdings" panose="05000000000000000000" pitchFamily="2" charset="2"/>
                  </a:rPr>
                  <a:t>Simulate 500 customers and, for each strategy, calculate:</a:t>
                </a:r>
              </a:p>
              <a:p>
                <a:pPr lvl="1"/>
                <a:r>
                  <a:rPr lang="en-US" dirty="0">
                    <a:sym typeface="Wingdings" panose="05000000000000000000" pitchFamily="2" charset="2"/>
                  </a:rPr>
                  <a:t>The total number of items sold</a:t>
                </a:r>
              </a:p>
              <a:p>
                <a:pPr lvl="1"/>
                <a:r>
                  <a:rPr lang="en-US" dirty="0">
                    <a:sym typeface="Wingdings" panose="05000000000000000000" pitchFamily="2" charset="2"/>
                  </a:rPr>
                  <a:t>Total sales profit</a:t>
                </a:r>
              </a:p>
              <a:p>
                <a:pPr lvl="1"/>
                <a:r>
                  <a:rPr lang="en-US" dirty="0">
                    <a:sym typeface="Wingdings" panose="05000000000000000000" pitchFamily="2" charset="2"/>
                  </a:rPr>
                  <a:t>Total shipping cost paid by the company</a:t>
                </a:r>
              </a:p>
              <a:p>
                <a:pPr lvl="1"/>
                <a:r>
                  <a:rPr lang="en-US" dirty="0">
                    <a:sym typeface="Wingdings" panose="05000000000000000000" pitchFamily="2" charset="2"/>
                  </a:rPr>
                  <a:t>Total net profit</a:t>
                </a:r>
              </a:p>
              <a:p>
                <a:r>
                  <a:rPr lang="en-US" dirty="0">
                    <a:sym typeface="Wingdings" panose="05000000000000000000" pitchFamily="2" charset="2"/>
                  </a:rPr>
                  <a:t>Discuss how the strategies compare in terms of each of the above calculations</a:t>
                </a:r>
              </a:p>
              <a:p>
                <a:r>
                  <a:rPr lang="en-US" dirty="0">
                    <a:sym typeface="Wingdings" panose="05000000000000000000" pitchFamily="2" charset="2"/>
                  </a:rPr>
                  <a:t>Make a final recommendation and explain why</a:t>
                </a:r>
              </a:p>
              <a:p>
                <a:pPr lvl="1"/>
                <a:endParaRPr lang="en-US" dirty="0">
                  <a:sym typeface="Wingdings" panose="05000000000000000000" pitchFamily="2" charset="2"/>
                </a:endParaRPr>
              </a:p>
              <a:p>
                <a:pPr lvl="1"/>
                <a:endParaRPr lang="en-US" dirty="0">
                  <a:sym typeface="Wingdings" panose="05000000000000000000" pitchFamily="2" charset="2"/>
                </a:endParaRPr>
              </a:p>
              <a:p>
                <a:endParaRPr lang="en-US" dirty="0">
                  <a:sym typeface="Wingdings" panose="05000000000000000000" pitchFamily="2" charset="2"/>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55002" y="1312433"/>
                <a:ext cx="11478410" cy="4864530"/>
              </a:xfrm>
              <a:blipFill>
                <a:blip r:embed="rId2"/>
                <a:stretch>
                  <a:fillRect l="-797" t="-2506"/>
                </a:stretch>
              </a:blipFill>
            </p:spPr>
            <p:txBody>
              <a:bodyPr/>
              <a:lstStyle/>
              <a:p>
                <a:r>
                  <a:rPr lang="en-US">
                    <a:noFill/>
                  </a:rPr>
                  <a:t> </a:t>
                </a:r>
              </a:p>
            </p:txBody>
          </p:sp>
        </mc:Fallback>
      </mc:AlternateContent>
    </p:spTree>
    <p:extLst>
      <p:ext uri="{BB962C8B-B14F-4D97-AF65-F5344CB8AC3E}">
        <p14:creationId xmlns:p14="http://schemas.microsoft.com/office/powerpoint/2010/main" val="3259377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Submission</a:t>
            </a:r>
          </a:p>
        </p:txBody>
      </p:sp>
      <p:sp>
        <p:nvSpPr>
          <p:cNvPr id="3" name="Content Placeholder 2"/>
          <p:cNvSpPr>
            <a:spLocks noGrp="1"/>
          </p:cNvSpPr>
          <p:nvPr>
            <p:ph idx="1"/>
          </p:nvPr>
        </p:nvSpPr>
        <p:spPr>
          <a:xfrm>
            <a:off x="355002" y="1312432"/>
            <a:ext cx="11478410" cy="5418567"/>
          </a:xfrm>
        </p:spPr>
        <p:txBody>
          <a:bodyPr>
            <a:normAutofit fontScale="77500" lnSpcReduction="20000"/>
          </a:bodyPr>
          <a:lstStyle/>
          <a:p>
            <a:r>
              <a:rPr lang="en-US" b="1" dirty="0">
                <a:sym typeface="Wingdings" panose="05000000000000000000" pitchFamily="2" charset="2"/>
              </a:rPr>
              <a:t>Submit one excel file with two sheets</a:t>
            </a:r>
          </a:p>
          <a:p>
            <a:pPr lvl="1">
              <a:lnSpc>
                <a:spcPct val="120000"/>
              </a:lnSpc>
            </a:pPr>
            <a:r>
              <a:rPr lang="en-US" u="sng" dirty="0">
                <a:sym typeface="Wingdings" panose="05000000000000000000" pitchFamily="2" charset="2"/>
              </a:rPr>
              <a:t>Sheet 1 is for the Monte Carlo Simulation and calculations:</a:t>
            </a:r>
          </a:p>
          <a:p>
            <a:pPr lvl="2">
              <a:lnSpc>
                <a:spcPct val="120000"/>
              </a:lnSpc>
            </a:pPr>
            <a:r>
              <a:rPr lang="en-US" dirty="0">
                <a:sym typeface="Wingdings" panose="05000000000000000000" pitchFamily="2" charset="2"/>
              </a:rPr>
              <a:t>One column for customer number and one column for randomly generated budgets</a:t>
            </a:r>
          </a:p>
          <a:p>
            <a:pPr lvl="2">
              <a:lnSpc>
                <a:spcPct val="120000"/>
              </a:lnSpc>
            </a:pPr>
            <a:r>
              <a:rPr lang="en-US" dirty="0">
                <a:sym typeface="Wingdings" panose="05000000000000000000" pitchFamily="2" charset="2"/>
              </a:rPr>
              <a:t>4 strategies, and 4 columns for each strategy</a:t>
            </a:r>
          </a:p>
          <a:p>
            <a:pPr lvl="3">
              <a:lnSpc>
                <a:spcPct val="120000"/>
              </a:lnSpc>
            </a:pPr>
            <a:r>
              <a:rPr lang="en-US" dirty="0">
                <a:sym typeface="Wingdings" panose="05000000000000000000" pitchFamily="2" charset="2"/>
              </a:rPr>
              <a:t>4 columns for the strategy calculate NB, CSP, CSC, and NPC, respectively, from each customer</a:t>
            </a:r>
          </a:p>
          <a:p>
            <a:pPr lvl="2">
              <a:lnSpc>
                <a:spcPct val="120000"/>
              </a:lnSpc>
            </a:pPr>
            <a:r>
              <a:rPr lang="en-US" dirty="0">
                <a:sym typeface="Wingdings" panose="05000000000000000000" pitchFamily="2" charset="2"/>
              </a:rPr>
              <a:t>See example template on the next slides</a:t>
            </a:r>
          </a:p>
          <a:p>
            <a:pPr lvl="1">
              <a:lnSpc>
                <a:spcPct val="120000"/>
              </a:lnSpc>
            </a:pPr>
            <a:r>
              <a:rPr lang="en-US" u="sng" dirty="0">
                <a:sym typeface="Wingdings" panose="05000000000000000000" pitchFamily="2" charset="2"/>
              </a:rPr>
              <a:t>Sheet 2 answers the following questions:</a:t>
            </a:r>
          </a:p>
          <a:p>
            <a:pPr marL="1371600" lvl="2" indent="-457200">
              <a:lnSpc>
                <a:spcPct val="120000"/>
              </a:lnSpc>
              <a:buFont typeface="+mj-lt"/>
              <a:buAutoNum type="arabicPeriod"/>
            </a:pPr>
            <a:r>
              <a:rPr lang="en-US" dirty="0">
                <a:sym typeface="Wingdings" panose="05000000000000000000" pitchFamily="2" charset="2"/>
              </a:rPr>
              <a:t>How do different strategies compare in terms of the total number of items sold? Are the results in line with your expectations? Explain the relationships observed.</a:t>
            </a:r>
          </a:p>
          <a:p>
            <a:pPr marL="1371600" lvl="2" indent="-457200">
              <a:lnSpc>
                <a:spcPct val="120000"/>
              </a:lnSpc>
              <a:buFont typeface="+mj-lt"/>
              <a:buAutoNum type="arabicPeriod"/>
            </a:pPr>
            <a:r>
              <a:rPr lang="en-US" dirty="0">
                <a:sym typeface="Wingdings" panose="05000000000000000000" pitchFamily="2" charset="2"/>
              </a:rPr>
              <a:t>How do different strategies compare in terms of total shipping cost incurred by the company? Are the results in line with your expectations? Explain the relationships observed.</a:t>
            </a:r>
          </a:p>
          <a:p>
            <a:pPr marL="1371600" lvl="2" indent="-457200">
              <a:lnSpc>
                <a:spcPct val="120000"/>
              </a:lnSpc>
              <a:buFont typeface="+mj-lt"/>
              <a:buAutoNum type="arabicPeriod"/>
            </a:pPr>
            <a:r>
              <a:rPr lang="en-US" dirty="0">
                <a:sym typeface="Wingdings" panose="05000000000000000000" pitchFamily="2" charset="2"/>
              </a:rPr>
              <a:t>How do different strategies compare in terms of total net profit of the company? Are the results in line with your expectations? Explain the relationships observed.</a:t>
            </a:r>
          </a:p>
          <a:p>
            <a:pPr marL="1371600" lvl="2" indent="-457200">
              <a:lnSpc>
                <a:spcPct val="120000"/>
              </a:lnSpc>
              <a:buFont typeface="+mj-lt"/>
              <a:buAutoNum type="arabicPeriod"/>
            </a:pPr>
            <a:r>
              <a:rPr lang="en-US" dirty="0">
                <a:sym typeface="Wingdings" panose="05000000000000000000" pitchFamily="2" charset="2"/>
              </a:rPr>
              <a:t>Based on your analysis and discussions, which free shipping strategy should be selected? Provide a detailed explanation for your choice.</a:t>
            </a:r>
          </a:p>
          <a:p>
            <a:pPr marL="1371600" lvl="2" indent="-457200">
              <a:lnSpc>
                <a:spcPct val="120000"/>
              </a:lnSpc>
              <a:buFont typeface="+mj-lt"/>
              <a:buAutoNum type="arabicPeriod"/>
            </a:pPr>
            <a:r>
              <a:rPr lang="en-US" dirty="0">
                <a:sym typeface="Wingdings" panose="05000000000000000000" pitchFamily="2" charset="2"/>
              </a:rPr>
              <a:t>How could the simulation process be improved for this problem? Discuss any potential enhancements or adjustments that could be made to obtain more accurate or insightful results. (2-3 sentences will be enough).</a:t>
            </a:r>
          </a:p>
          <a:p>
            <a:pPr marL="457200" lvl="1" indent="0">
              <a:lnSpc>
                <a:spcPct val="120000"/>
              </a:lnSpc>
              <a:buNone/>
            </a:pPr>
            <a:r>
              <a:rPr lang="en-US" dirty="0">
                <a:sym typeface="Wingdings" panose="05000000000000000000" pitchFamily="2" charset="2"/>
              </a:rPr>
              <a:t>See example template on the next slides</a:t>
            </a:r>
          </a:p>
          <a:p>
            <a:pPr lvl="1"/>
            <a:endParaRPr lang="en-US" dirty="0">
              <a:sym typeface="Wingdings" panose="05000000000000000000" pitchFamily="2" charset="2"/>
            </a:endParaRPr>
          </a:p>
          <a:p>
            <a:endParaRPr lang="en-US" dirty="0">
              <a:sym typeface="Wingdings" panose="05000000000000000000" pitchFamily="2" charset="2"/>
            </a:endParaRPr>
          </a:p>
        </p:txBody>
      </p:sp>
    </p:spTree>
    <p:extLst>
      <p:ext uri="{BB962C8B-B14F-4D97-AF65-F5344CB8AC3E}">
        <p14:creationId xmlns:p14="http://schemas.microsoft.com/office/powerpoint/2010/main" val="17206955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Submission</a:t>
            </a:r>
          </a:p>
        </p:txBody>
      </p:sp>
      <p:sp>
        <p:nvSpPr>
          <p:cNvPr id="3" name="Content Placeholder 2"/>
          <p:cNvSpPr>
            <a:spLocks noGrp="1"/>
          </p:cNvSpPr>
          <p:nvPr>
            <p:ph idx="1"/>
          </p:nvPr>
        </p:nvSpPr>
        <p:spPr>
          <a:xfrm>
            <a:off x="355002" y="1312432"/>
            <a:ext cx="11478410" cy="5342367"/>
          </a:xfrm>
        </p:spPr>
        <p:txBody>
          <a:bodyPr>
            <a:normAutofit fontScale="92500" lnSpcReduction="10000"/>
          </a:bodyPr>
          <a:lstStyle/>
          <a:p>
            <a:r>
              <a:rPr lang="en-US" b="1" dirty="0">
                <a:sym typeface="Wingdings" panose="05000000000000000000" pitchFamily="2" charset="2"/>
              </a:rPr>
              <a:t>Sheet 1:</a:t>
            </a: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pPr lvl="1"/>
            <a:r>
              <a:rPr lang="en-US" dirty="0">
                <a:sym typeface="Wingdings" panose="05000000000000000000" pitchFamily="2" charset="2"/>
              </a:rPr>
              <a:t>Random number generation is 1 point</a:t>
            </a:r>
          </a:p>
          <a:p>
            <a:pPr lvl="1"/>
            <a:r>
              <a:rPr lang="en-US" dirty="0">
                <a:sym typeface="Wingdings" panose="05000000000000000000" pitchFamily="2" charset="2"/>
              </a:rPr>
              <a:t>Correct calculations for each strategy is 2 points</a:t>
            </a:r>
          </a:p>
          <a:p>
            <a:pPr lvl="1"/>
            <a:r>
              <a:rPr lang="en-US" dirty="0">
                <a:sym typeface="Wingdings" panose="05000000000000000000" pitchFamily="2" charset="2"/>
              </a:rPr>
              <a:t>Columns D-S will have formulae </a:t>
            </a:r>
          </a:p>
          <a:p>
            <a:endParaRPr lang="en-US" dirty="0">
              <a:sym typeface="Wingdings" panose="05000000000000000000" pitchFamily="2" charset="2"/>
            </a:endParaRPr>
          </a:p>
          <a:p>
            <a:pPr lvl="1"/>
            <a:endParaRPr lang="en-US" dirty="0">
              <a:sym typeface="Wingdings" panose="05000000000000000000" pitchFamily="2" charset="2"/>
            </a:endParaRPr>
          </a:p>
          <a:p>
            <a:endParaRPr lang="en-US" dirty="0">
              <a:sym typeface="Wingdings" panose="05000000000000000000" pitchFamily="2" charset="2"/>
            </a:endParaRPr>
          </a:p>
        </p:txBody>
      </p:sp>
      <p:pic>
        <p:nvPicPr>
          <p:cNvPr id="5" name="Picture 4">
            <a:extLst>
              <a:ext uri="{FF2B5EF4-FFF2-40B4-BE49-F238E27FC236}">
                <a16:creationId xmlns:a16="http://schemas.microsoft.com/office/drawing/2014/main" id="{E4BEA4F4-306D-2158-ACC2-71F7CC6BE9FA}"/>
              </a:ext>
            </a:extLst>
          </p:cNvPr>
          <p:cNvPicPr>
            <a:picLocks noChangeAspect="1"/>
          </p:cNvPicPr>
          <p:nvPr/>
        </p:nvPicPr>
        <p:blipFill>
          <a:blip r:embed="rId2"/>
          <a:stretch>
            <a:fillRect/>
          </a:stretch>
        </p:blipFill>
        <p:spPr>
          <a:xfrm>
            <a:off x="266102" y="1766298"/>
            <a:ext cx="11018750" cy="3325404"/>
          </a:xfrm>
          <a:prstGeom prst="rect">
            <a:avLst/>
          </a:prstGeom>
        </p:spPr>
      </p:pic>
    </p:spTree>
    <p:extLst>
      <p:ext uri="{BB962C8B-B14F-4D97-AF65-F5344CB8AC3E}">
        <p14:creationId xmlns:p14="http://schemas.microsoft.com/office/powerpoint/2010/main" val="9178694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Submission</a:t>
            </a:r>
          </a:p>
        </p:txBody>
      </p:sp>
      <p:sp>
        <p:nvSpPr>
          <p:cNvPr id="3" name="Content Placeholder 2"/>
          <p:cNvSpPr>
            <a:spLocks noGrp="1"/>
          </p:cNvSpPr>
          <p:nvPr>
            <p:ph idx="1"/>
          </p:nvPr>
        </p:nvSpPr>
        <p:spPr>
          <a:xfrm>
            <a:off x="355002" y="1312433"/>
            <a:ext cx="11478410" cy="4864530"/>
          </a:xfrm>
        </p:spPr>
        <p:txBody>
          <a:bodyPr>
            <a:normAutofit/>
          </a:bodyPr>
          <a:lstStyle/>
          <a:p>
            <a:r>
              <a:rPr lang="en-US" b="1" dirty="0">
                <a:sym typeface="Wingdings" panose="05000000000000000000" pitchFamily="2" charset="2"/>
              </a:rPr>
              <a:t>Sheet 2:</a:t>
            </a: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endParaRPr lang="en-US" dirty="0">
              <a:sym typeface="Wingdings" panose="05000000000000000000" pitchFamily="2" charset="2"/>
            </a:endParaRPr>
          </a:p>
          <a:p>
            <a:pPr lvl="1"/>
            <a:r>
              <a:rPr lang="en-US" dirty="0">
                <a:sym typeface="Wingdings" panose="05000000000000000000" pitchFamily="2" charset="2"/>
              </a:rPr>
              <a:t>Questions 1, 2, 3, and 5 are 1 point each</a:t>
            </a:r>
          </a:p>
          <a:p>
            <a:pPr lvl="1"/>
            <a:r>
              <a:rPr lang="en-US" dirty="0">
                <a:sym typeface="Wingdings" panose="05000000000000000000" pitchFamily="2" charset="2"/>
              </a:rPr>
              <a:t>Question 4 is 2 points</a:t>
            </a:r>
          </a:p>
          <a:p>
            <a:endParaRPr lang="en-US" dirty="0">
              <a:sym typeface="Wingdings" panose="05000000000000000000" pitchFamily="2" charset="2"/>
            </a:endParaRPr>
          </a:p>
          <a:p>
            <a:pPr lvl="1"/>
            <a:endParaRPr lang="en-US" dirty="0">
              <a:sym typeface="Wingdings" panose="05000000000000000000" pitchFamily="2" charset="2"/>
            </a:endParaRPr>
          </a:p>
          <a:p>
            <a:endParaRPr lang="en-US" dirty="0">
              <a:sym typeface="Wingdings" panose="05000000000000000000" pitchFamily="2" charset="2"/>
            </a:endParaRPr>
          </a:p>
        </p:txBody>
      </p:sp>
      <p:pic>
        <p:nvPicPr>
          <p:cNvPr id="6" name="Picture 5">
            <a:extLst>
              <a:ext uri="{FF2B5EF4-FFF2-40B4-BE49-F238E27FC236}">
                <a16:creationId xmlns:a16="http://schemas.microsoft.com/office/drawing/2014/main" id="{514C7C37-4EFC-94B4-EA71-B5016F73F689}"/>
              </a:ext>
            </a:extLst>
          </p:cNvPr>
          <p:cNvPicPr>
            <a:picLocks noChangeAspect="1"/>
          </p:cNvPicPr>
          <p:nvPr/>
        </p:nvPicPr>
        <p:blipFill>
          <a:blip r:embed="rId2"/>
          <a:stretch>
            <a:fillRect/>
          </a:stretch>
        </p:blipFill>
        <p:spPr>
          <a:xfrm>
            <a:off x="1413082" y="1961895"/>
            <a:ext cx="6887867" cy="2934209"/>
          </a:xfrm>
          <a:prstGeom prst="rect">
            <a:avLst/>
          </a:prstGeom>
        </p:spPr>
      </p:pic>
    </p:spTree>
    <p:extLst>
      <p:ext uri="{BB962C8B-B14F-4D97-AF65-F5344CB8AC3E}">
        <p14:creationId xmlns:p14="http://schemas.microsoft.com/office/powerpoint/2010/main" val="31867446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Submission</a:t>
            </a:r>
          </a:p>
        </p:txBody>
      </p:sp>
      <p:sp>
        <p:nvSpPr>
          <p:cNvPr id="3" name="Content Placeholder 2"/>
          <p:cNvSpPr>
            <a:spLocks noGrp="1"/>
          </p:cNvSpPr>
          <p:nvPr>
            <p:ph idx="1"/>
          </p:nvPr>
        </p:nvSpPr>
        <p:spPr>
          <a:xfrm>
            <a:off x="355002" y="1312433"/>
            <a:ext cx="11478410" cy="4864530"/>
          </a:xfrm>
        </p:spPr>
        <p:txBody>
          <a:bodyPr>
            <a:normAutofit/>
          </a:bodyPr>
          <a:lstStyle/>
          <a:p>
            <a:r>
              <a:rPr lang="en-US" sz="3000" b="1" dirty="0">
                <a:sym typeface="Wingdings" panose="05000000000000000000" pitchFamily="2" charset="2"/>
              </a:rPr>
              <a:t>Additional Instructions</a:t>
            </a:r>
          </a:p>
          <a:p>
            <a:pPr lvl="1"/>
            <a:r>
              <a:rPr lang="en-US" dirty="0">
                <a:sym typeface="Wingdings" panose="05000000000000000000" pitchFamily="2" charset="2"/>
              </a:rPr>
              <a:t>Name your file as ‘Module 2 – Project – Your Name.xlsx’. Ensure that your name is correctly spelled and that the file extension is .xlsx.</a:t>
            </a:r>
          </a:p>
          <a:p>
            <a:pPr lvl="1"/>
            <a:r>
              <a:rPr lang="en-US" dirty="0">
                <a:sym typeface="Wingdings" panose="05000000000000000000" pitchFamily="2" charset="2"/>
              </a:rPr>
              <a:t>Ensure that your Excel file is neatly organized and clearly labeled, with appropriate headings for each section and column.</a:t>
            </a:r>
          </a:p>
          <a:p>
            <a:pPr lvl="1"/>
            <a:r>
              <a:rPr lang="en-US" dirty="0">
                <a:sym typeface="Wingdings" panose="05000000000000000000" pitchFamily="2" charset="2"/>
              </a:rPr>
              <a:t>Double-check your formulas and calculations for accuracy.</a:t>
            </a:r>
          </a:p>
          <a:p>
            <a:pPr lvl="1"/>
            <a:r>
              <a:rPr lang="en-US" dirty="0">
                <a:sym typeface="Wingdings" panose="05000000000000000000" pitchFamily="2" charset="2"/>
              </a:rPr>
              <a:t>Provide clear and concise explanations in your analysis, supported by data from the simulation.</a:t>
            </a:r>
          </a:p>
          <a:p>
            <a:pPr lvl="1"/>
            <a:endParaRPr lang="en-US" dirty="0">
              <a:sym typeface="Wingdings" panose="05000000000000000000" pitchFamily="2" charset="2"/>
            </a:endParaRPr>
          </a:p>
          <a:p>
            <a:endParaRPr lang="en-US" dirty="0">
              <a:sym typeface="Wingdings" panose="05000000000000000000" pitchFamily="2" charset="2"/>
            </a:endParaRPr>
          </a:p>
        </p:txBody>
      </p:sp>
    </p:spTree>
    <p:extLst>
      <p:ext uri="{BB962C8B-B14F-4D97-AF65-F5344CB8AC3E}">
        <p14:creationId xmlns:p14="http://schemas.microsoft.com/office/powerpoint/2010/main" val="41859462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6869</TotalTime>
  <Words>6905</Words>
  <Application>Microsoft Office PowerPoint</Application>
  <PresentationFormat>Widescreen</PresentationFormat>
  <Paragraphs>776</Paragraphs>
  <Slides>59</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59</vt:i4>
      </vt:variant>
    </vt:vector>
  </HeadingPairs>
  <TitlesOfParts>
    <vt:vector size="68" baseType="lpstr">
      <vt:lpstr>Aptos</vt:lpstr>
      <vt:lpstr>Arial</vt:lpstr>
      <vt:lpstr>Calibri</vt:lpstr>
      <vt:lpstr>Calibri Light</vt:lpstr>
      <vt:lpstr>Cambria Math</vt:lpstr>
      <vt:lpstr>Courier New</vt:lpstr>
      <vt:lpstr>Symbol</vt:lpstr>
      <vt:lpstr>Wingdings</vt:lpstr>
      <vt:lpstr>Office Theme</vt:lpstr>
      <vt:lpstr>QMST 5335 Module 4.2 Kinds of Simulation and Excel Examples </vt:lpstr>
      <vt:lpstr>Learning Objectives:</vt:lpstr>
      <vt:lpstr>Outline</vt:lpstr>
      <vt:lpstr>Outline</vt:lpstr>
      <vt:lpstr>Probability Theory Review</vt:lpstr>
      <vt:lpstr>Probability Theory Review</vt:lpstr>
      <vt:lpstr>Probability Theory Review</vt:lpstr>
      <vt:lpstr>Probability Theory Review</vt:lpstr>
      <vt:lpstr>Probability Theory Review</vt:lpstr>
      <vt:lpstr>Probability Theory Review</vt:lpstr>
      <vt:lpstr>Probability Theory Review</vt:lpstr>
      <vt:lpstr>Outline</vt:lpstr>
      <vt:lpstr>Classifying Simulations</vt:lpstr>
      <vt:lpstr>Classifying Simulations</vt:lpstr>
      <vt:lpstr>Classifying Simulations</vt:lpstr>
      <vt:lpstr>Classifying Simulations</vt:lpstr>
      <vt:lpstr>Outline</vt:lpstr>
      <vt:lpstr>Monte Carlo Simulation and Excel</vt:lpstr>
      <vt:lpstr>Monte Carlo Simulation and Excel</vt:lpstr>
      <vt:lpstr>Monte Carlo Simulation and Excel</vt:lpstr>
      <vt:lpstr>Monte Carlo Simulation and Excel</vt:lpstr>
      <vt:lpstr>Monte Carlo Simulation and Excel</vt:lpstr>
      <vt:lpstr>Monte Carlo Simulation and Excel</vt:lpstr>
      <vt:lpstr>Monte Carlo Simulation and Excel</vt:lpstr>
      <vt:lpstr>Monte Carlo Simulation and Excel</vt:lpstr>
      <vt:lpstr>Monte Carlo Simulation and Excel</vt:lpstr>
      <vt:lpstr>Monte Carlo Simulation and Excel</vt:lpstr>
      <vt:lpstr>Monte Carlo Simulation and Excel</vt:lpstr>
      <vt:lpstr>Monte Carlo Simulation and Excel</vt:lpstr>
      <vt:lpstr>Monte Carlo Simulation Example</vt:lpstr>
      <vt:lpstr>Monte Carlo Simulation Example</vt:lpstr>
      <vt:lpstr>Monte Carlo Simulation Example</vt:lpstr>
      <vt:lpstr>Monte Carlo Simulation Example</vt:lpstr>
      <vt:lpstr>Monte Carlo Simulation Example</vt:lpstr>
      <vt:lpstr>Monte Carlo Simulation Example</vt:lpstr>
      <vt:lpstr>Monte Carlo Simulation Example</vt:lpstr>
      <vt:lpstr>Dynamic Simulation and Software Options</vt:lpstr>
      <vt:lpstr>Dynamic Simulation and Software Options</vt:lpstr>
      <vt:lpstr>Dynamic Simulation and Software Options</vt:lpstr>
      <vt:lpstr>Dynamic Simulation and Software Options</vt:lpstr>
      <vt:lpstr>Dynamic Simulation and Software Options</vt:lpstr>
      <vt:lpstr>Dynamic Simulation and Software Options</vt:lpstr>
      <vt:lpstr>Dynamic Simulation and Software Options</vt:lpstr>
      <vt:lpstr>Dynamic Simulation and Software Options</vt:lpstr>
      <vt:lpstr>Dynamic Simulation and Software Options</vt:lpstr>
      <vt:lpstr>Outline</vt:lpstr>
      <vt:lpstr>Monte Carlo Simulation Project</vt:lpstr>
      <vt:lpstr>Monte Carlo Simulation Project</vt:lpstr>
      <vt:lpstr>Customer’s Purchase Decisions</vt:lpstr>
      <vt:lpstr>Customer’s Purchase Decisions</vt:lpstr>
      <vt:lpstr>Customer’s Purchase Decisions</vt:lpstr>
      <vt:lpstr>Customer’s Purchase Decisions</vt:lpstr>
      <vt:lpstr>Customer’s Purchase Decisions</vt:lpstr>
      <vt:lpstr>Company’s Net Profit</vt:lpstr>
      <vt:lpstr>Customer Budget and Monte Carlo</vt:lpstr>
      <vt:lpstr>Submission</vt:lpstr>
      <vt:lpstr>Submission</vt:lpstr>
      <vt:lpstr>Submission</vt:lpstr>
      <vt:lpstr>Submission</vt:lpstr>
    </vt:vector>
  </TitlesOfParts>
  <Company>Missouri University of Science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Konur, Dincer</dc:creator>
  <cp:lastModifiedBy>Sahan Konur, Sahika</cp:lastModifiedBy>
  <cp:revision>376</cp:revision>
  <dcterms:created xsi:type="dcterms:W3CDTF">2018-08-17T02:14:39Z</dcterms:created>
  <dcterms:modified xsi:type="dcterms:W3CDTF">2024-03-21T18:27:36Z</dcterms:modified>
</cp:coreProperties>
</file>